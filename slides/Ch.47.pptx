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Masters/slideMaster13.xml" ContentType="application/vnd.openxmlformats-officedocument.presentationml.slideMaster+xml"/>
  <Override PartName="/ppt/slideMasters/slideMaster14.xml" ContentType="application/vnd.openxmlformats-officedocument.presentationml.slideMaster+xml"/>
  <Override PartName="/ppt/slideMasters/slideMaster15.xml" ContentType="application/vnd.openxmlformats-officedocument.presentationml.slideMaster+xml"/>
  <Override PartName="/ppt/slideMasters/slideMaster16.xml" ContentType="application/vnd.openxmlformats-officedocument.presentationml.slideMaster+xml"/>
  <Override PartName="/ppt/slideMasters/slideMaster17.xml" ContentType="application/vnd.openxmlformats-officedocument.presentationml.slideMaster+xml"/>
  <Override PartName="/ppt/slideMasters/slideMaster18.xml" ContentType="application/vnd.openxmlformats-officedocument.presentationml.slideMaster+xml"/>
  <Override PartName="/ppt/slideMasters/slideMaster19.xml" ContentType="application/vnd.openxmlformats-officedocument.presentationml.slideMaster+xml"/>
  <Override PartName="/ppt/slideMasters/slideMaster20.xml" ContentType="application/vnd.openxmlformats-officedocument.presentationml.slideMaster+xml"/>
  <Override PartName="/ppt/slideMasters/slideMaster21.xml" ContentType="application/vnd.openxmlformats-officedocument.presentationml.slideMaster+xml"/>
  <Override PartName="/ppt/slideMasters/slideMaster22.xml" ContentType="application/vnd.openxmlformats-officedocument.presentationml.slideMaster+xml"/>
  <Override PartName="/ppt/slideMasters/slideMaster23.xml" ContentType="application/vnd.openxmlformats-officedocument.presentationml.slideMaster+xml"/>
  <Override PartName="/ppt/slideMasters/slideMaster24.xml" ContentType="application/vnd.openxmlformats-officedocument.presentationml.slideMaster+xml"/>
  <Override PartName="/ppt/slideMasters/slideMaster25.xml" ContentType="application/vnd.openxmlformats-officedocument.presentationml.slideMaster+xml"/>
  <Override PartName="/ppt/slideMasters/slideMaster26.xml" ContentType="application/vnd.openxmlformats-officedocument.presentationml.slideMaster+xml"/>
  <Override PartName="/ppt/slideMasters/slideMaster27.xml" ContentType="application/vnd.openxmlformats-officedocument.presentationml.slideMaster+xml"/>
  <Override PartName="/ppt/slideMasters/slideMaster28.xml" ContentType="application/vnd.openxmlformats-officedocument.presentationml.slideMaster+xml"/>
  <Override PartName="/ppt/slideMasters/slideMaster29.xml" ContentType="application/vnd.openxmlformats-officedocument.presentationml.slideMaster+xml"/>
  <Override PartName="/ppt/slideMasters/slideMaster30.xml" ContentType="application/vnd.openxmlformats-officedocument.presentationml.slideMaster+xml"/>
  <Override PartName="/ppt/slideMasters/slideMaster31.xml" ContentType="application/vnd.openxmlformats-officedocument.presentationml.slideMaster+xml"/>
  <Override PartName="/ppt/slideMasters/slideMaster3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theme/theme3.xml" ContentType="application/vnd.openxmlformats-officedocument.theme+xml"/>
  <Override PartName="/ppt/slideLayouts/slideLayout10.xml" ContentType="application/vnd.openxmlformats-officedocument.presentationml.slideLayout+xml"/>
  <Override PartName="/ppt/theme/theme4.xml" ContentType="application/vnd.openxmlformats-officedocument.theme+xml"/>
  <Override PartName="/ppt/slideLayouts/slideLayout11.xml" ContentType="application/vnd.openxmlformats-officedocument.presentationml.slideLayout+xml"/>
  <Override PartName="/ppt/theme/theme5.xml" ContentType="application/vnd.openxmlformats-officedocument.theme+xml"/>
  <Override PartName="/ppt/slideLayouts/slideLayout12.xml" ContentType="application/vnd.openxmlformats-officedocument.presentationml.slideLayout+xml"/>
  <Override PartName="/ppt/theme/theme6.xml" ContentType="application/vnd.openxmlformats-officedocument.theme+xml"/>
  <Override PartName="/ppt/slideLayouts/slideLayout13.xml" ContentType="application/vnd.openxmlformats-officedocument.presentationml.slideLayout+xml"/>
  <Override PartName="/ppt/theme/theme7.xml" ContentType="application/vnd.openxmlformats-officedocument.theme+xml"/>
  <Override PartName="/ppt/slideLayouts/slideLayout14.xml" ContentType="application/vnd.openxmlformats-officedocument.presentationml.slideLayout+xml"/>
  <Override PartName="/ppt/theme/theme8.xml" ContentType="application/vnd.openxmlformats-officedocument.theme+xml"/>
  <Override PartName="/ppt/slideLayouts/slideLayout15.xml" ContentType="application/vnd.openxmlformats-officedocument.presentationml.slideLayout+xml"/>
  <Override PartName="/ppt/theme/theme9.xml" ContentType="application/vnd.openxmlformats-officedocument.theme+xml"/>
  <Override PartName="/ppt/slideLayouts/slideLayout16.xml" ContentType="application/vnd.openxmlformats-officedocument.presentationml.slideLayout+xml"/>
  <Override PartName="/ppt/theme/theme10.xml" ContentType="application/vnd.openxmlformats-officedocument.theme+xml"/>
  <Override PartName="/ppt/slideLayouts/slideLayout17.xml" ContentType="application/vnd.openxmlformats-officedocument.presentationml.slideLayout+xml"/>
  <Override PartName="/ppt/theme/theme11.xml" ContentType="application/vnd.openxmlformats-officedocument.theme+xml"/>
  <Override PartName="/ppt/slideLayouts/slideLayout18.xml" ContentType="application/vnd.openxmlformats-officedocument.presentationml.slideLayout+xml"/>
  <Override PartName="/ppt/theme/theme12.xml" ContentType="application/vnd.openxmlformats-officedocument.theme+xml"/>
  <Override PartName="/ppt/slideLayouts/slideLayout19.xml" ContentType="application/vnd.openxmlformats-officedocument.presentationml.slideLayout+xml"/>
  <Override PartName="/ppt/theme/theme13.xml" ContentType="application/vnd.openxmlformats-officedocument.theme+xml"/>
  <Override PartName="/ppt/slideLayouts/slideLayout20.xml" ContentType="application/vnd.openxmlformats-officedocument.presentationml.slideLayout+xml"/>
  <Override PartName="/ppt/theme/theme14.xml" ContentType="application/vnd.openxmlformats-officedocument.theme+xml"/>
  <Override PartName="/ppt/slideLayouts/slideLayout21.xml" ContentType="application/vnd.openxmlformats-officedocument.presentationml.slideLayout+xml"/>
  <Override PartName="/ppt/theme/theme15.xml" ContentType="application/vnd.openxmlformats-officedocument.theme+xml"/>
  <Override PartName="/ppt/slideLayouts/slideLayout22.xml" ContentType="application/vnd.openxmlformats-officedocument.presentationml.slideLayout+xml"/>
  <Override PartName="/ppt/theme/theme16.xml" ContentType="application/vnd.openxmlformats-officedocument.theme+xml"/>
  <Override PartName="/ppt/slideLayouts/slideLayout23.xml" ContentType="application/vnd.openxmlformats-officedocument.presentationml.slideLayout+xml"/>
  <Override PartName="/ppt/theme/theme17.xml" ContentType="application/vnd.openxmlformats-officedocument.theme+xml"/>
  <Override PartName="/ppt/slideLayouts/slideLayout24.xml" ContentType="application/vnd.openxmlformats-officedocument.presentationml.slideLayout+xml"/>
  <Override PartName="/ppt/theme/theme18.xml" ContentType="application/vnd.openxmlformats-officedocument.theme+xml"/>
  <Override PartName="/ppt/slideLayouts/slideLayout25.xml" ContentType="application/vnd.openxmlformats-officedocument.presentationml.slideLayout+xml"/>
  <Override PartName="/ppt/theme/theme19.xml" ContentType="application/vnd.openxmlformats-officedocument.theme+xml"/>
  <Override PartName="/ppt/slideLayouts/slideLayout26.xml" ContentType="application/vnd.openxmlformats-officedocument.presentationml.slideLayout+xml"/>
  <Override PartName="/ppt/theme/theme20.xml" ContentType="application/vnd.openxmlformats-officedocument.theme+xml"/>
  <Override PartName="/ppt/slideLayouts/slideLayout27.xml" ContentType="application/vnd.openxmlformats-officedocument.presentationml.slideLayout+xml"/>
  <Override PartName="/ppt/theme/theme21.xml" ContentType="application/vnd.openxmlformats-officedocument.theme+xml"/>
  <Override PartName="/ppt/slideLayouts/slideLayout28.xml" ContentType="application/vnd.openxmlformats-officedocument.presentationml.slideLayout+xml"/>
  <Override PartName="/ppt/theme/theme22.xml" ContentType="application/vnd.openxmlformats-officedocument.theme+xml"/>
  <Override PartName="/ppt/slideLayouts/slideLayout29.xml" ContentType="application/vnd.openxmlformats-officedocument.presentationml.slideLayout+xml"/>
  <Override PartName="/ppt/theme/theme23.xml" ContentType="application/vnd.openxmlformats-officedocument.theme+xml"/>
  <Override PartName="/ppt/slideLayouts/slideLayout30.xml" ContentType="application/vnd.openxmlformats-officedocument.presentationml.slideLayout+xml"/>
  <Override PartName="/ppt/theme/theme24.xml" ContentType="application/vnd.openxmlformats-officedocument.theme+xml"/>
  <Override PartName="/ppt/slideLayouts/slideLayout31.xml" ContentType="application/vnd.openxmlformats-officedocument.presentationml.slideLayout+xml"/>
  <Override PartName="/ppt/theme/theme25.xml" ContentType="application/vnd.openxmlformats-officedocument.theme+xml"/>
  <Override PartName="/ppt/slideLayouts/slideLayout32.xml" ContentType="application/vnd.openxmlformats-officedocument.presentationml.slideLayout+xml"/>
  <Override PartName="/ppt/theme/theme26.xml" ContentType="application/vnd.openxmlformats-officedocument.theme+xml"/>
  <Override PartName="/ppt/slideLayouts/slideLayout33.xml" ContentType="application/vnd.openxmlformats-officedocument.presentationml.slideLayout+xml"/>
  <Override PartName="/ppt/theme/theme27.xml" ContentType="application/vnd.openxmlformats-officedocument.theme+xml"/>
  <Override PartName="/ppt/slideLayouts/slideLayout34.xml" ContentType="application/vnd.openxmlformats-officedocument.presentationml.slideLayout+xml"/>
  <Override PartName="/ppt/theme/theme28.xml" ContentType="application/vnd.openxmlformats-officedocument.theme+xml"/>
  <Override PartName="/ppt/slideLayouts/slideLayout35.xml" ContentType="application/vnd.openxmlformats-officedocument.presentationml.slideLayout+xml"/>
  <Override PartName="/ppt/theme/theme29.xml" ContentType="application/vnd.openxmlformats-officedocument.theme+xml"/>
  <Override PartName="/ppt/slideLayouts/slideLayout36.xml" ContentType="application/vnd.openxmlformats-officedocument.presentationml.slideLayout+xml"/>
  <Override PartName="/ppt/theme/theme30.xml" ContentType="application/vnd.openxmlformats-officedocument.theme+xml"/>
  <Override PartName="/ppt/slideLayouts/slideLayout37.xml" ContentType="application/vnd.openxmlformats-officedocument.presentationml.slideLayout+xml"/>
  <Override PartName="/ppt/theme/theme31.xml" ContentType="application/vnd.openxmlformats-officedocument.theme+xml"/>
  <Override PartName="/ppt/slideLayouts/slideLayout38.xml" ContentType="application/vnd.openxmlformats-officedocument.presentationml.slideLayout+xml"/>
  <Override PartName="/ppt/theme/theme32.xml" ContentType="application/vnd.openxmlformats-officedocument.theme+xml"/>
  <Override PartName="/ppt/theme/theme33.xml" ContentType="application/vnd.openxmlformats-officedocument.theme+xml"/>
  <Override PartName="/ppt/theme/theme3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900" r:id="rId1"/>
    <p:sldMasterId id="2147483910" r:id="rId2"/>
    <p:sldMasterId id="2147483912" r:id="rId3"/>
    <p:sldMasterId id="2147483914" r:id="rId4"/>
    <p:sldMasterId id="2147483916" r:id="rId5"/>
    <p:sldMasterId id="2147483918" r:id="rId6"/>
    <p:sldMasterId id="2147483920" r:id="rId7"/>
    <p:sldMasterId id="2147483922" r:id="rId8"/>
    <p:sldMasterId id="2147483928" r:id="rId9"/>
    <p:sldMasterId id="2147483938" r:id="rId10"/>
    <p:sldMasterId id="2147483940" r:id="rId11"/>
    <p:sldMasterId id="2147483946" r:id="rId12"/>
    <p:sldMasterId id="2147483948" r:id="rId13"/>
    <p:sldMasterId id="2147483950" r:id="rId14"/>
    <p:sldMasterId id="2147483962" r:id="rId15"/>
    <p:sldMasterId id="2147483964" r:id="rId16"/>
    <p:sldMasterId id="2147483966" r:id="rId17"/>
    <p:sldMasterId id="2147483968" r:id="rId18"/>
    <p:sldMasterId id="2147483970" r:id="rId19"/>
    <p:sldMasterId id="2147483972" r:id="rId20"/>
    <p:sldMasterId id="2147483974" r:id="rId21"/>
    <p:sldMasterId id="2147483976" r:id="rId22"/>
    <p:sldMasterId id="2147483978" r:id="rId23"/>
    <p:sldMasterId id="2147483980" r:id="rId24"/>
    <p:sldMasterId id="2147483982" r:id="rId25"/>
    <p:sldMasterId id="2147483984" r:id="rId26"/>
    <p:sldMasterId id="2147483986" r:id="rId27"/>
    <p:sldMasterId id="2147483988" r:id="rId28"/>
    <p:sldMasterId id="2147483990" r:id="rId29"/>
    <p:sldMasterId id="2147483992" r:id="rId30"/>
    <p:sldMasterId id="2147483996" r:id="rId31"/>
    <p:sldMasterId id="2147484016" r:id="rId32"/>
  </p:sldMasterIdLst>
  <p:notesMasterIdLst>
    <p:notesMasterId r:id="rId120"/>
  </p:notesMasterIdLst>
  <p:handoutMasterIdLst>
    <p:handoutMasterId r:id="rId121"/>
  </p:handoutMasterIdLst>
  <p:sldIdLst>
    <p:sldId id="504" r:id="rId33"/>
    <p:sldId id="505" r:id="rId34"/>
    <p:sldId id="606" r:id="rId35"/>
    <p:sldId id="607" r:id="rId36"/>
    <p:sldId id="507" r:id="rId37"/>
    <p:sldId id="608" r:id="rId38"/>
    <p:sldId id="510" r:id="rId39"/>
    <p:sldId id="511" r:id="rId40"/>
    <p:sldId id="609" r:id="rId41"/>
    <p:sldId id="513" r:id="rId42"/>
    <p:sldId id="610" r:id="rId43"/>
    <p:sldId id="515" r:id="rId44"/>
    <p:sldId id="516" r:id="rId45"/>
    <p:sldId id="517" r:id="rId46"/>
    <p:sldId id="611" r:id="rId47"/>
    <p:sldId id="519" r:id="rId48"/>
    <p:sldId id="520" r:id="rId49"/>
    <p:sldId id="612" r:id="rId50"/>
    <p:sldId id="522" r:id="rId51"/>
    <p:sldId id="523" r:id="rId52"/>
    <p:sldId id="524" r:id="rId53"/>
    <p:sldId id="615" r:id="rId54"/>
    <p:sldId id="528" r:id="rId55"/>
    <p:sldId id="529" r:id="rId56"/>
    <p:sldId id="530" r:id="rId57"/>
    <p:sldId id="541" r:id="rId58"/>
    <p:sldId id="542" r:id="rId59"/>
    <p:sldId id="620" r:id="rId60"/>
    <p:sldId id="545" r:id="rId61"/>
    <p:sldId id="546" r:id="rId62"/>
    <p:sldId id="547" r:id="rId63"/>
    <p:sldId id="621" r:id="rId64"/>
    <p:sldId id="549" r:id="rId65"/>
    <p:sldId id="550" r:id="rId66"/>
    <p:sldId id="551" r:id="rId67"/>
    <p:sldId id="624" r:id="rId68"/>
    <p:sldId id="554" r:id="rId69"/>
    <p:sldId id="625" r:id="rId70"/>
    <p:sldId id="556" r:id="rId71"/>
    <p:sldId id="557" r:id="rId72"/>
    <p:sldId id="558" r:id="rId73"/>
    <p:sldId id="626" r:id="rId74"/>
    <p:sldId id="561" r:id="rId75"/>
    <p:sldId id="562" r:id="rId76"/>
    <p:sldId id="563" r:id="rId77"/>
    <p:sldId id="632" r:id="rId78"/>
    <p:sldId id="633" r:id="rId79"/>
    <p:sldId id="566" r:id="rId80"/>
    <p:sldId id="634" r:id="rId81"/>
    <p:sldId id="568" r:id="rId82"/>
    <p:sldId id="635" r:id="rId83"/>
    <p:sldId id="636" r:id="rId84"/>
    <p:sldId id="573" r:id="rId85"/>
    <p:sldId id="574" r:id="rId86"/>
    <p:sldId id="659" r:id="rId87"/>
    <p:sldId id="576" r:id="rId88"/>
    <p:sldId id="637" r:id="rId89"/>
    <p:sldId id="638" r:id="rId90"/>
    <p:sldId id="639" r:id="rId91"/>
    <p:sldId id="580" r:id="rId92"/>
    <p:sldId id="640" r:id="rId93"/>
    <p:sldId id="641" r:id="rId94"/>
    <p:sldId id="642" r:id="rId95"/>
    <p:sldId id="582" r:id="rId96"/>
    <p:sldId id="583" r:id="rId97"/>
    <p:sldId id="584" r:id="rId98"/>
    <p:sldId id="643" r:id="rId99"/>
    <p:sldId id="644" r:id="rId100"/>
    <p:sldId id="645" r:id="rId101"/>
    <p:sldId id="646" r:id="rId102"/>
    <p:sldId id="586" r:id="rId103"/>
    <p:sldId id="587" r:id="rId104"/>
    <p:sldId id="588" r:id="rId105"/>
    <p:sldId id="589" r:id="rId106"/>
    <p:sldId id="590" r:id="rId107"/>
    <p:sldId id="591" r:id="rId108"/>
    <p:sldId id="647" r:id="rId109"/>
    <p:sldId id="593" r:id="rId110"/>
    <p:sldId id="595" r:id="rId111"/>
    <p:sldId id="596" r:id="rId112"/>
    <p:sldId id="597" r:id="rId113"/>
    <p:sldId id="598" r:id="rId114"/>
    <p:sldId id="599" r:id="rId115"/>
    <p:sldId id="600" r:id="rId116"/>
    <p:sldId id="649" r:id="rId117"/>
    <p:sldId id="603" r:id="rId118"/>
    <p:sldId id="604" r:id="rId119"/>
  </p:sldIdLst>
  <p:sldSz cx="9144000" cy="6858000" type="screen4x3"/>
  <p:notesSz cx="6858000" cy="9144000"/>
  <p:custDataLst>
    <p:tags r:id="rId122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panose="020B0604020202020204" pitchFamily="34" charset="0"/>
        <a:ea typeface="ヒラギノ角ゴ Pro W3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orient="horz" pos="2160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athleen Fitzpatrick" initials="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1887E"/>
    <a:srgbClr val="D1300D"/>
    <a:srgbClr val="B9B9B9"/>
    <a:srgbClr val="AA2B15"/>
    <a:srgbClr val="AEB9B1"/>
    <a:srgbClr val="4F6F92"/>
    <a:srgbClr val="F7F7F7"/>
    <a:srgbClr val="00478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8" d="100"/>
          <a:sy n="68" d="100"/>
        </p:scale>
        <p:origin x="1446" y="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30444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 varScale="1">
      <p:scale>
        <a:sx n="1" d="1"/>
        <a:sy n="1" d="1"/>
      </p:scale>
      <p:origin x="0" y="-4194"/>
    </p:cViewPr>
  </p:sorterViewPr>
  <p:notesViewPr>
    <p:cSldViewPr>
      <p:cViewPr varScale="1">
        <p:scale>
          <a:sx n="70" d="100"/>
          <a:sy n="70" d="100"/>
        </p:scale>
        <p:origin x="-3294" y="-108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Master" Target="slideMasters/slideMaster26.xml"/><Relationship Id="rId117" Type="http://schemas.openxmlformats.org/officeDocument/2006/relationships/slide" Target="slides/slide85.xml"/><Relationship Id="rId21" Type="http://schemas.openxmlformats.org/officeDocument/2006/relationships/slideMaster" Target="slideMasters/slideMaster21.xml"/><Relationship Id="rId42" Type="http://schemas.openxmlformats.org/officeDocument/2006/relationships/slide" Target="slides/slide10.xml"/><Relationship Id="rId47" Type="http://schemas.openxmlformats.org/officeDocument/2006/relationships/slide" Target="slides/slide15.xml"/><Relationship Id="rId63" Type="http://schemas.openxmlformats.org/officeDocument/2006/relationships/slide" Target="slides/slide31.xml"/><Relationship Id="rId68" Type="http://schemas.openxmlformats.org/officeDocument/2006/relationships/slide" Target="slides/slide36.xml"/><Relationship Id="rId84" Type="http://schemas.openxmlformats.org/officeDocument/2006/relationships/slide" Target="slides/slide52.xml"/><Relationship Id="rId89" Type="http://schemas.openxmlformats.org/officeDocument/2006/relationships/slide" Target="slides/slide57.xml"/><Relationship Id="rId112" Type="http://schemas.openxmlformats.org/officeDocument/2006/relationships/slide" Target="slides/slide80.xml"/><Relationship Id="rId16" Type="http://schemas.openxmlformats.org/officeDocument/2006/relationships/slideMaster" Target="slideMasters/slideMaster16.xml"/><Relationship Id="rId107" Type="http://schemas.openxmlformats.org/officeDocument/2006/relationships/slide" Target="slides/slide75.xml"/><Relationship Id="rId11" Type="http://schemas.openxmlformats.org/officeDocument/2006/relationships/slideMaster" Target="slideMasters/slideMaster11.xml"/><Relationship Id="rId32" Type="http://schemas.openxmlformats.org/officeDocument/2006/relationships/slideMaster" Target="slideMasters/slideMaster32.xml"/><Relationship Id="rId37" Type="http://schemas.openxmlformats.org/officeDocument/2006/relationships/slide" Target="slides/slide5.xml"/><Relationship Id="rId53" Type="http://schemas.openxmlformats.org/officeDocument/2006/relationships/slide" Target="slides/slide21.xml"/><Relationship Id="rId58" Type="http://schemas.openxmlformats.org/officeDocument/2006/relationships/slide" Target="slides/slide26.xml"/><Relationship Id="rId74" Type="http://schemas.openxmlformats.org/officeDocument/2006/relationships/slide" Target="slides/slide42.xml"/><Relationship Id="rId79" Type="http://schemas.openxmlformats.org/officeDocument/2006/relationships/slide" Target="slides/slide47.xml"/><Relationship Id="rId102" Type="http://schemas.openxmlformats.org/officeDocument/2006/relationships/slide" Target="slides/slide70.xml"/><Relationship Id="rId123" Type="http://schemas.openxmlformats.org/officeDocument/2006/relationships/commentAuthors" Target="commentAuthors.xml"/><Relationship Id="rId5" Type="http://schemas.openxmlformats.org/officeDocument/2006/relationships/slideMaster" Target="slideMasters/slideMaster5.xml"/><Relationship Id="rId90" Type="http://schemas.openxmlformats.org/officeDocument/2006/relationships/slide" Target="slides/slide58.xml"/><Relationship Id="rId95" Type="http://schemas.openxmlformats.org/officeDocument/2006/relationships/slide" Target="slides/slide63.xml"/><Relationship Id="rId19" Type="http://schemas.openxmlformats.org/officeDocument/2006/relationships/slideMaster" Target="slideMasters/slideMaster19.xml"/><Relationship Id="rId14" Type="http://schemas.openxmlformats.org/officeDocument/2006/relationships/slideMaster" Target="slideMasters/slideMaster14.xml"/><Relationship Id="rId22" Type="http://schemas.openxmlformats.org/officeDocument/2006/relationships/slideMaster" Target="slideMasters/slideMaster22.xml"/><Relationship Id="rId27" Type="http://schemas.openxmlformats.org/officeDocument/2006/relationships/slideMaster" Target="slideMasters/slideMaster27.xml"/><Relationship Id="rId30" Type="http://schemas.openxmlformats.org/officeDocument/2006/relationships/slideMaster" Target="slideMasters/slideMaster30.xml"/><Relationship Id="rId35" Type="http://schemas.openxmlformats.org/officeDocument/2006/relationships/slide" Target="slides/slide3.xml"/><Relationship Id="rId43" Type="http://schemas.openxmlformats.org/officeDocument/2006/relationships/slide" Target="slides/slide11.xml"/><Relationship Id="rId48" Type="http://schemas.openxmlformats.org/officeDocument/2006/relationships/slide" Target="slides/slide16.xml"/><Relationship Id="rId56" Type="http://schemas.openxmlformats.org/officeDocument/2006/relationships/slide" Target="slides/slide24.xml"/><Relationship Id="rId64" Type="http://schemas.openxmlformats.org/officeDocument/2006/relationships/slide" Target="slides/slide32.xml"/><Relationship Id="rId69" Type="http://schemas.openxmlformats.org/officeDocument/2006/relationships/slide" Target="slides/slide37.xml"/><Relationship Id="rId77" Type="http://schemas.openxmlformats.org/officeDocument/2006/relationships/slide" Target="slides/slide45.xml"/><Relationship Id="rId100" Type="http://schemas.openxmlformats.org/officeDocument/2006/relationships/slide" Target="slides/slide68.xml"/><Relationship Id="rId105" Type="http://schemas.openxmlformats.org/officeDocument/2006/relationships/slide" Target="slides/slide73.xml"/><Relationship Id="rId113" Type="http://schemas.openxmlformats.org/officeDocument/2006/relationships/slide" Target="slides/slide81.xml"/><Relationship Id="rId118" Type="http://schemas.openxmlformats.org/officeDocument/2006/relationships/slide" Target="slides/slide86.xml"/><Relationship Id="rId126" Type="http://schemas.openxmlformats.org/officeDocument/2006/relationships/theme" Target="theme/theme1.xml"/><Relationship Id="rId8" Type="http://schemas.openxmlformats.org/officeDocument/2006/relationships/slideMaster" Target="slideMasters/slideMaster8.xml"/><Relationship Id="rId51" Type="http://schemas.openxmlformats.org/officeDocument/2006/relationships/slide" Target="slides/slide19.xml"/><Relationship Id="rId72" Type="http://schemas.openxmlformats.org/officeDocument/2006/relationships/slide" Target="slides/slide40.xml"/><Relationship Id="rId80" Type="http://schemas.openxmlformats.org/officeDocument/2006/relationships/slide" Target="slides/slide48.xml"/><Relationship Id="rId85" Type="http://schemas.openxmlformats.org/officeDocument/2006/relationships/slide" Target="slides/slide53.xml"/><Relationship Id="rId93" Type="http://schemas.openxmlformats.org/officeDocument/2006/relationships/slide" Target="slides/slide61.xml"/><Relationship Id="rId98" Type="http://schemas.openxmlformats.org/officeDocument/2006/relationships/slide" Target="slides/slide66.xml"/><Relationship Id="rId121" Type="http://schemas.openxmlformats.org/officeDocument/2006/relationships/handoutMaster" Target="handoutMasters/handoutMaster1.xml"/><Relationship Id="rId3" Type="http://schemas.openxmlformats.org/officeDocument/2006/relationships/slideMaster" Target="slideMasters/slideMaster3.xml"/><Relationship Id="rId12" Type="http://schemas.openxmlformats.org/officeDocument/2006/relationships/slideMaster" Target="slideMasters/slideMaster12.xml"/><Relationship Id="rId17" Type="http://schemas.openxmlformats.org/officeDocument/2006/relationships/slideMaster" Target="slideMasters/slideMaster17.xml"/><Relationship Id="rId25" Type="http://schemas.openxmlformats.org/officeDocument/2006/relationships/slideMaster" Target="slideMasters/slideMaster25.xml"/><Relationship Id="rId33" Type="http://schemas.openxmlformats.org/officeDocument/2006/relationships/slide" Target="slides/slide1.xml"/><Relationship Id="rId38" Type="http://schemas.openxmlformats.org/officeDocument/2006/relationships/slide" Target="slides/slide6.xml"/><Relationship Id="rId46" Type="http://schemas.openxmlformats.org/officeDocument/2006/relationships/slide" Target="slides/slide14.xml"/><Relationship Id="rId59" Type="http://schemas.openxmlformats.org/officeDocument/2006/relationships/slide" Target="slides/slide27.xml"/><Relationship Id="rId67" Type="http://schemas.openxmlformats.org/officeDocument/2006/relationships/slide" Target="slides/slide35.xml"/><Relationship Id="rId103" Type="http://schemas.openxmlformats.org/officeDocument/2006/relationships/slide" Target="slides/slide71.xml"/><Relationship Id="rId108" Type="http://schemas.openxmlformats.org/officeDocument/2006/relationships/slide" Target="slides/slide76.xml"/><Relationship Id="rId116" Type="http://schemas.openxmlformats.org/officeDocument/2006/relationships/slide" Target="slides/slide84.xml"/><Relationship Id="rId124" Type="http://schemas.openxmlformats.org/officeDocument/2006/relationships/presProps" Target="presProps.xml"/><Relationship Id="rId20" Type="http://schemas.openxmlformats.org/officeDocument/2006/relationships/slideMaster" Target="slideMasters/slideMaster20.xml"/><Relationship Id="rId41" Type="http://schemas.openxmlformats.org/officeDocument/2006/relationships/slide" Target="slides/slide9.xml"/><Relationship Id="rId54" Type="http://schemas.openxmlformats.org/officeDocument/2006/relationships/slide" Target="slides/slide22.xml"/><Relationship Id="rId62" Type="http://schemas.openxmlformats.org/officeDocument/2006/relationships/slide" Target="slides/slide30.xml"/><Relationship Id="rId70" Type="http://schemas.openxmlformats.org/officeDocument/2006/relationships/slide" Target="slides/slide38.xml"/><Relationship Id="rId75" Type="http://schemas.openxmlformats.org/officeDocument/2006/relationships/slide" Target="slides/slide43.xml"/><Relationship Id="rId83" Type="http://schemas.openxmlformats.org/officeDocument/2006/relationships/slide" Target="slides/slide51.xml"/><Relationship Id="rId88" Type="http://schemas.openxmlformats.org/officeDocument/2006/relationships/slide" Target="slides/slide56.xml"/><Relationship Id="rId91" Type="http://schemas.openxmlformats.org/officeDocument/2006/relationships/slide" Target="slides/slide59.xml"/><Relationship Id="rId96" Type="http://schemas.openxmlformats.org/officeDocument/2006/relationships/slide" Target="slides/slide64.xml"/><Relationship Id="rId111" Type="http://schemas.openxmlformats.org/officeDocument/2006/relationships/slide" Target="slides/slide79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5" Type="http://schemas.openxmlformats.org/officeDocument/2006/relationships/slideMaster" Target="slideMasters/slideMaster15.xml"/><Relationship Id="rId23" Type="http://schemas.openxmlformats.org/officeDocument/2006/relationships/slideMaster" Target="slideMasters/slideMaster23.xml"/><Relationship Id="rId28" Type="http://schemas.openxmlformats.org/officeDocument/2006/relationships/slideMaster" Target="slideMasters/slideMaster28.xml"/><Relationship Id="rId36" Type="http://schemas.openxmlformats.org/officeDocument/2006/relationships/slide" Target="slides/slide4.xml"/><Relationship Id="rId49" Type="http://schemas.openxmlformats.org/officeDocument/2006/relationships/slide" Target="slides/slide17.xml"/><Relationship Id="rId57" Type="http://schemas.openxmlformats.org/officeDocument/2006/relationships/slide" Target="slides/slide25.xml"/><Relationship Id="rId106" Type="http://schemas.openxmlformats.org/officeDocument/2006/relationships/slide" Target="slides/slide74.xml"/><Relationship Id="rId114" Type="http://schemas.openxmlformats.org/officeDocument/2006/relationships/slide" Target="slides/slide82.xml"/><Relationship Id="rId119" Type="http://schemas.openxmlformats.org/officeDocument/2006/relationships/slide" Target="slides/slide87.xml"/><Relationship Id="rId127" Type="http://schemas.openxmlformats.org/officeDocument/2006/relationships/tableStyles" Target="tableStyles.xml"/><Relationship Id="rId10" Type="http://schemas.openxmlformats.org/officeDocument/2006/relationships/slideMaster" Target="slideMasters/slideMaster10.xml"/><Relationship Id="rId31" Type="http://schemas.openxmlformats.org/officeDocument/2006/relationships/slideMaster" Target="slideMasters/slideMaster31.xml"/><Relationship Id="rId44" Type="http://schemas.openxmlformats.org/officeDocument/2006/relationships/slide" Target="slides/slide12.xml"/><Relationship Id="rId52" Type="http://schemas.openxmlformats.org/officeDocument/2006/relationships/slide" Target="slides/slide20.xml"/><Relationship Id="rId60" Type="http://schemas.openxmlformats.org/officeDocument/2006/relationships/slide" Target="slides/slide28.xml"/><Relationship Id="rId65" Type="http://schemas.openxmlformats.org/officeDocument/2006/relationships/slide" Target="slides/slide33.xml"/><Relationship Id="rId73" Type="http://schemas.openxmlformats.org/officeDocument/2006/relationships/slide" Target="slides/slide41.xml"/><Relationship Id="rId78" Type="http://schemas.openxmlformats.org/officeDocument/2006/relationships/slide" Target="slides/slide46.xml"/><Relationship Id="rId81" Type="http://schemas.openxmlformats.org/officeDocument/2006/relationships/slide" Target="slides/slide49.xml"/><Relationship Id="rId86" Type="http://schemas.openxmlformats.org/officeDocument/2006/relationships/slide" Target="slides/slide54.xml"/><Relationship Id="rId94" Type="http://schemas.openxmlformats.org/officeDocument/2006/relationships/slide" Target="slides/slide62.xml"/><Relationship Id="rId99" Type="http://schemas.openxmlformats.org/officeDocument/2006/relationships/slide" Target="slides/slide67.xml"/><Relationship Id="rId101" Type="http://schemas.openxmlformats.org/officeDocument/2006/relationships/slide" Target="slides/slide69.xml"/><Relationship Id="rId122" Type="http://schemas.openxmlformats.org/officeDocument/2006/relationships/tags" Target="tags/tag1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3" Type="http://schemas.openxmlformats.org/officeDocument/2006/relationships/slideMaster" Target="slideMasters/slideMaster13.xml"/><Relationship Id="rId18" Type="http://schemas.openxmlformats.org/officeDocument/2006/relationships/slideMaster" Target="slideMasters/slideMaster18.xml"/><Relationship Id="rId39" Type="http://schemas.openxmlformats.org/officeDocument/2006/relationships/slide" Target="slides/slide7.xml"/><Relationship Id="rId109" Type="http://schemas.openxmlformats.org/officeDocument/2006/relationships/slide" Target="slides/slide77.xml"/><Relationship Id="rId34" Type="http://schemas.openxmlformats.org/officeDocument/2006/relationships/slide" Target="slides/slide2.xml"/><Relationship Id="rId50" Type="http://schemas.openxmlformats.org/officeDocument/2006/relationships/slide" Target="slides/slide18.xml"/><Relationship Id="rId55" Type="http://schemas.openxmlformats.org/officeDocument/2006/relationships/slide" Target="slides/slide23.xml"/><Relationship Id="rId76" Type="http://schemas.openxmlformats.org/officeDocument/2006/relationships/slide" Target="slides/slide44.xml"/><Relationship Id="rId97" Type="http://schemas.openxmlformats.org/officeDocument/2006/relationships/slide" Target="slides/slide65.xml"/><Relationship Id="rId104" Type="http://schemas.openxmlformats.org/officeDocument/2006/relationships/slide" Target="slides/slide72.xml"/><Relationship Id="rId120" Type="http://schemas.openxmlformats.org/officeDocument/2006/relationships/notesMaster" Target="notesMasters/notesMaster1.xml"/><Relationship Id="rId125" Type="http://schemas.openxmlformats.org/officeDocument/2006/relationships/viewProps" Target="viewProps.xml"/><Relationship Id="rId7" Type="http://schemas.openxmlformats.org/officeDocument/2006/relationships/slideMaster" Target="slideMasters/slideMaster7.xml"/><Relationship Id="rId71" Type="http://schemas.openxmlformats.org/officeDocument/2006/relationships/slide" Target="slides/slide39.xml"/><Relationship Id="rId92" Type="http://schemas.openxmlformats.org/officeDocument/2006/relationships/slide" Target="slides/slide60.xml"/><Relationship Id="rId2" Type="http://schemas.openxmlformats.org/officeDocument/2006/relationships/slideMaster" Target="slideMasters/slideMaster2.xml"/><Relationship Id="rId29" Type="http://schemas.openxmlformats.org/officeDocument/2006/relationships/slideMaster" Target="slideMasters/slideMaster29.xml"/><Relationship Id="rId24" Type="http://schemas.openxmlformats.org/officeDocument/2006/relationships/slideMaster" Target="slideMasters/slideMaster24.xml"/><Relationship Id="rId40" Type="http://schemas.openxmlformats.org/officeDocument/2006/relationships/slide" Target="slides/slide8.xml"/><Relationship Id="rId45" Type="http://schemas.openxmlformats.org/officeDocument/2006/relationships/slide" Target="slides/slide13.xml"/><Relationship Id="rId66" Type="http://schemas.openxmlformats.org/officeDocument/2006/relationships/slide" Target="slides/slide34.xml"/><Relationship Id="rId87" Type="http://schemas.openxmlformats.org/officeDocument/2006/relationships/slide" Target="slides/slide55.xml"/><Relationship Id="rId110" Type="http://schemas.openxmlformats.org/officeDocument/2006/relationships/slide" Target="slides/slide78.xml"/><Relationship Id="rId115" Type="http://schemas.openxmlformats.org/officeDocument/2006/relationships/slide" Target="slides/slide83.xml"/><Relationship Id="rId61" Type="http://schemas.openxmlformats.org/officeDocument/2006/relationships/slide" Target="slides/slide29.xml"/><Relationship Id="rId82" Type="http://schemas.openxmlformats.org/officeDocument/2006/relationships/slide" Target="slides/slide50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0" hangingPunct="0">
              <a:defRPr sz="1200">
                <a:ea typeface="ヒラギノ角ゴ Pro W3" pitchFamily="12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/>
            </a:lvl1pPr>
          </a:lstStyle>
          <a:p>
            <a:pPr>
              <a:defRPr/>
            </a:pPr>
            <a:fld id="{2FDBCFE6-7A80-4E41-8712-1C12F7B6050B}" type="datetimeFigureOut">
              <a:rPr lang="en-US" altLang="en-US"/>
              <a:pPr>
                <a:defRPr/>
              </a:pPr>
              <a:t>1/10/2023</a:t>
            </a:fld>
            <a:endParaRPr lang="en-US" alt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0" hangingPunct="0">
              <a:defRPr sz="1200">
                <a:ea typeface="ヒラギノ角ゴ Pro W3" pitchFamily="123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71A23EEE-2F46-4732-8626-99218F3EFA8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350279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latin typeface="Arial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421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12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512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latin typeface="Arial" charset="0"/>
                <a:ea typeface="ヒラギノ角ゴ Pro W3" pitchFamily="84" charset="-128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12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D957CC8-6916-4659-8D61-C81A523E194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47500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84" charset="0"/>
        <a:ea typeface="ヒラギノ角ゴ Pro W3" pitchFamily="84" charset="-128"/>
        <a:cs typeface="ヒラギノ角ゴ Pro W3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7"/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Times New Roman" panose="02020603050405020304" pitchFamily="18" charset="0"/>
                <a:ea typeface="ヒラギノ角ゴ Pro W3" charset="-128"/>
              </a:defRPr>
            </a:lvl9pPr>
          </a:lstStyle>
          <a:p>
            <a:pPr algn="r">
              <a:spcBef>
                <a:spcPct val="0"/>
              </a:spcBef>
            </a:pPr>
            <a:fld id="{0B24C727-5A10-43AF-A0C5-2F9849EF097E}" type="slidenum">
              <a:rPr lang="en-US" altLang="en-US">
                <a:latin typeface="Arial" panose="020B0604020202020204" pitchFamily="34" charset="0"/>
                <a:cs typeface="Arial" panose="020B0604020202020204" pitchFamily="34" charset="0"/>
              </a:rPr>
              <a:pPr algn="r">
                <a:spcBef>
                  <a:spcPct val="0"/>
                </a:spcBef>
              </a:pPr>
              <a:t>1</a:t>
            </a:fld>
            <a:endParaRPr lang="en-US" alt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0" y="0"/>
            <a:ext cx="0" cy="0"/>
          </a:xfrm>
          <a:solidFill>
            <a:srgbClr val="FFFFFF"/>
          </a:solidFill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solidFill>
            <a:srgbClr val="FFFFFF"/>
          </a:solidFill>
          <a:ln>
            <a:solidFill>
              <a:srgbClr val="000000"/>
            </a:solidFill>
          </a:ln>
        </p:spPr>
        <p:txBody>
          <a:bodyPr/>
          <a:lstStyle/>
          <a:p>
            <a:pPr eaLnBrk="1" hangingPunct="1"/>
            <a:endParaRPr lang="en-US" altLang="en-US">
              <a:latin typeface="Times New Roman" panose="02020603050405020304" pitchFamily="18" charset="0"/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3857844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fld id="{57ACBCF2-3D6E-4072-95C5-4998E06CDCF1}" type="slidenum">
              <a:rPr lang="en-US" altLang="en-US" sz="1200"/>
              <a:pPr/>
              <a:t>2</a:t>
            </a:fld>
            <a:endParaRPr lang="en-US" altLang="en-US" sz="1200" dirty="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CA" altLang="en-US" dirty="0">
              <a:ea typeface="ヒラギノ角ゴ Pro W3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39108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47.1 What triggered this attack by an immune cell on a clump of bacteria?</a:t>
            </a:r>
          </a:p>
        </p:txBody>
      </p:sp>
    </p:spTree>
    <p:extLst>
      <p:ext uri="{BB962C8B-B14F-4D97-AF65-F5344CB8AC3E}">
        <p14:creationId xmlns:p14="http://schemas.microsoft.com/office/powerpoint/2010/main" val="16941406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47.1a What triggered this attack by an immune cell on a clump of bacteria? (part 1: lymphocyte)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6750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fld id="{57ACBCF2-3D6E-4072-95C5-4998E06CDCF1}" type="slidenum">
              <a:rPr lang="en-US" altLang="en-US" sz="1200"/>
              <a:pPr/>
              <a:t>5</a:t>
            </a:fld>
            <a:endParaRPr lang="en-US" altLang="en-US" sz="1200" dirty="0"/>
          </a:p>
        </p:txBody>
      </p:sp>
      <p:sp>
        <p:nvSpPr>
          <p:cNvPr id="1208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CA" altLang="en-US" dirty="0">
              <a:ea typeface="ヒラギノ角ゴ Pro W3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883910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47.2 Overview of animal immunity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44442399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fld id="{59B5C13D-4F42-4410-8199-B18C96003291}" type="slidenum">
              <a:rPr lang="en-US" altLang="en-US" sz="1200"/>
              <a:pPr/>
              <a:t>7</a:t>
            </a:fld>
            <a:endParaRPr lang="en-US" altLang="en-US" sz="1200" dirty="0"/>
          </a:p>
        </p:txBody>
      </p:sp>
      <p:sp>
        <p:nvSpPr>
          <p:cNvPr id="1259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CA" altLang="en-US" dirty="0">
              <a:ea typeface="ヒラギノ角ゴ Pro W3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525708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fld id="{55E3C7CC-C4D4-487C-94B4-6AC3689C1EC2}" type="slidenum">
              <a:rPr lang="en-US" altLang="en-US" sz="1200"/>
              <a:pPr/>
              <a:t>8</a:t>
            </a:fld>
            <a:endParaRPr lang="en-US" altLang="en-US" sz="1200" dirty="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CA" altLang="en-US" dirty="0">
              <a:ea typeface="ヒラギノ角ゴ Pro W3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36409693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47.3 Phagocytosis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419488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ヒラギノ角ゴ Pro W3" pitchFamily="124" charset="-128"/>
              </a:defRPr>
            </a:lvl9pPr>
          </a:lstStyle>
          <a:p>
            <a:fld id="{F7E6D9CD-4840-4F2D-A370-ACD5A6473F01}" type="slidenum">
              <a:rPr lang="en-US" altLang="en-US" sz="1200"/>
              <a:pPr/>
              <a:t>10</a:t>
            </a:fld>
            <a:endParaRPr lang="en-US" altLang="en-US" sz="1200" dirty="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en-CA" altLang="en-US" dirty="0">
              <a:ea typeface="ヒラギノ角ゴ Pro W3" pitchFamily="12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83873341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47.4 Antiviral defense in insects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5153073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47.5 TLR signaling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23692439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47.6 The human lymphatic system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31166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47.7_3 Major events in a local inflammatory response (step 3)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8503804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47.12 Antigen recognition by T cells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632221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47.13 Immunoglobulin (antibody) gene rearrangement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3498332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47.14 Clonal selection of B cells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7388488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47.15 The specificity of immunological memory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591551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47.16 The central role of helper T cells in </a:t>
            </a:r>
            <a:r>
              <a:rPr lang="en-US" dirty="0" err="1">
                <a:latin typeface="Arial"/>
              </a:rPr>
              <a:t>humoral</a:t>
            </a:r>
            <a:r>
              <a:rPr lang="en-US" dirty="0">
                <a:latin typeface="Arial"/>
              </a:rPr>
              <a:t> and cell-mediated immune responses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836536634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47.17_3 Activation of a B cell in the </a:t>
            </a:r>
            <a:r>
              <a:rPr lang="en-US" dirty="0" err="1">
                <a:latin typeface="Arial"/>
              </a:rPr>
              <a:t>humoral</a:t>
            </a:r>
            <a:r>
              <a:rPr lang="en-US" dirty="0">
                <a:latin typeface="Arial"/>
              </a:rPr>
              <a:t> immune response (step 3)</a:t>
            </a:r>
          </a:p>
        </p:txBody>
      </p:sp>
    </p:spTree>
    <p:extLst>
      <p:ext uri="{BB962C8B-B14F-4D97-AF65-F5344CB8AC3E}">
        <p14:creationId xmlns:p14="http://schemas.microsoft.com/office/powerpoint/2010/main" val="2157441678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latin typeface="Arial"/>
              </a:rPr>
              <a:t>Figure 47.17a Activation of a B cell in the </a:t>
            </a:r>
            <a:r>
              <a:rPr lang="en-US" dirty="0" err="1">
                <a:latin typeface="Arial"/>
              </a:rPr>
              <a:t>humoral</a:t>
            </a:r>
            <a:r>
              <a:rPr lang="en-US" dirty="0">
                <a:latin typeface="Arial"/>
              </a:rPr>
              <a:t> immune response (part 1: plasma cell, TEM)</a:t>
            </a:r>
          </a:p>
        </p:txBody>
      </p:sp>
    </p:spTree>
    <p:extLst>
      <p:ext uri="{BB962C8B-B14F-4D97-AF65-F5344CB8AC3E}">
        <p14:creationId xmlns:p14="http://schemas.microsoft.com/office/powerpoint/2010/main" val="2106322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47.18 Neutralization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01695483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47.19 </a:t>
            </a:r>
            <a:r>
              <a:rPr lang="en-US" dirty="0" err="1">
                <a:latin typeface="Arial"/>
              </a:rPr>
              <a:t>Opsonization</a:t>
            </a:r>
            <a:endParaRPr lang="en-US" dirty="0">
              <a:latin typeface="Arial"/>
            </a:endParaRP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7606926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47.20 Activation of complement system and pore formation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1467202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47.21_3 The killing action of cytotoxic T cells on an infected host cell (step 3)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33694600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47.22 An overview of the adaptive immune response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9323116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47.22a An overview of the adaptive immune response (part 1: 1st exposure)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9434055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47.22b An overview of the adaptive immune response (part 2: 2nd exposure)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36138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47.23 Vaccine-based protection against two life-threatening communicable diseases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7331938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47.23a Vaccine-based protection against two life-threatening communicable diseases (part 1: polio)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7836875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47.23b Vaccine-based protection against two life-threatening communicable diseases (part 2: measles)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2271275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47.24 A comprehensive test for past viral encounters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3321979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47.24a A comprehensive test for past viral encounters (part 1: generation of bacteriophages)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1459294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47.24b A comprehensive test for past viral encounters (part 2: antibody binding)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891918384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47.24c A comprehensive test for past viral encounters (part 3: DNA sequencing)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25442058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47.25 Mast cells, </a:t>
            </a:r>
            <a:r>
              <a:rPr lang="en-US" dirty="0" err="1">
                <a:latin typeface="Arial"/>
              </a:rPr>
              <a:t>IgE</a:t>
            </a:r>
            <a:r>
              <a:rPr lang="en-US" dirty="0">
                <a:latin typeface="Arial"/>
              </a:rPr>
              <a:t>, and the allergic response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996933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latin typeface="Arial"/>
              </a:rPr>
              <a:t>Figure 47.27 The progress of an untreated HIV infection</a:t>
            </a:r>
          </a:p>
          <a:p>
            <a:endParaRPr lang="en-US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390243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7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8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9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0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4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5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6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7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8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9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0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F2B3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645588"/>
            <a:ext cx="4495800" cy="536998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827225" y="6019800"/>
            <a:ext cx="2164375" cy="7386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1400" dirty="0"/>
              <a:t>Lecture</a:t>
            </a:r>
            <a:r>
              <a:rPr lang="en-US" sz="1400" baseline="0" dirty="0"/>
              <a:t> Presentations by</a:t>
            </a:r>
            <a:br>
              <a:rPr lang="en-US" sz="1400" baseline="0" dirty="0"/>
            </a:br>
            <a:r>
              <a:rPr lang="en-US" sz="1400" baseline="0" dirty="0"/>
              <a:t>Nicole </a:t>
            </a:r>
            <a:r>
              <a:rPr lang="en-US" sz="1400" baseline="0" dirty="0" err="1"/>
              <a:t>Tunbridge</a:t>
            </a:r>
            <a:r>
              <a:rPr lang="en-US" sz="1400" baseline="0" dirty="0"/>
              <a:t> and</a:t>
            </a:r>
            <a:endParaRPr lang="en-US" sz="1400" dirty="0"/>
          </a:p>
          <a:p>
            <a:pPr algn="r"/>
            <a:r>
              <a:rPr lang="en-US" sz="1400" baseline="0" dirty="0"/>
              <a:t>Kathleen Fitzpatrick</a:t>
            </a:r>
          </a:p>
        </p:txBody>
      </p:sp>
      <p:sp>
        <p:nvSpPr>
          <p:cNvPr id="7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0" y="6490096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2018 Pearson Education Ltd.</a:t>
            </a:r>
          </a:p>
        </p:txBody>
      </p:sp>
      <p:sp>
        <p:nvSpPr>
          <p:cNvPr id="6" name="Rectangle 5"/>
          <p:cNvSpPr/>
          <p:nvPr userDrawn="1"/>
        </p:nvSpPr>
        <p:spPr>
          <a:xfrm>
            <a:off x="4876800" y="645587"/>
            <a:ext cx="4114800" cy="5369983"/>
          </a:xfrm>
          <a:prstGeom prst="rect">
            <a:avLst/>
          </a:prstGeom>
        </p:spPr>
        <p:txBody>
          <a:bodyPr wrap="square" anchor="ctr">
            <a:noAutofit/>
          </a:bodyPr>
          <a:lstStyle/>
          <a:p>
            <a:pPr marL="0" marR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en-US" sz="4000" b="1" dirty="0">
                <a:solidFill>
                  <a:srgbClr val="DF4A2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Chapter 47</a:t>
            </a:r>
            <a:br>
              <a:rPr lang="en-US" sz="3200" b="1" dirty="0">
                <a:solidFill>
                  <a:srgbClr val="DF4A20"/>
                </a:solidFill>
              </a:rPr>
            </a:br>
            <a:br>
              <a:rPr lang="en-US" sz="3600" dirty="0"/>
            </a:br>
            <a:r>
              <a:rPr lang="en-US" sz="4000" b="1" kern="1200" dirty="0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  <a:ea typeface="ヒラギノ角ゴ Pro W3" charset="-128"/>
                <a:cs typeface="+mn-cs"/>
              </a:rPr>
              <a:t>Animal Defenses Against Infection</a:t>
            </a:r>
            <a:endParaRPr 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8082879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 and 2 line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472" indent="-347472">
              <a:buClr>
                <a:srgbClr val="DF4A20"/>
              </a:buClr>
              <a:defRPr/>
            </a:lvl1pPr>
            <a:lvl2pPr marL="740664" indent="-283464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9108079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3 line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400" y="1752600"/>
            <a:ext cx="8839199" cy="4737496"/>
          </a:xfrm>
        </p:spPr>
        <p:txBody>
          <a:bodyPr/>
          <a:lstStyle>
            <a:lvl1pPr marL="347472" indent="-347472">
              <a:buClr>
                <a:srgbClr val="DF4A20"/>
              </a:buClr>
              <a:defRPr/>
            </a:lvl1pPr>
            <a:lvl2pPr marL="740664" indent="-283464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1050320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No Title with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347472" indent="-347472">
              <a:buClr>
                <a:srgbClr val="DF4A20"/>
              </a:buClr>
              <a:defRPr/>
            </a:lvl1pPr>
            <a:lvl2pPr marL="740664" indent="-283464">
              <a:buClr>
                <a:srgbClr val="DF4A20"/>
              </a:buClr>
              <a:defRPr/>
            </a:lvl2pPr>
            <a:lvl3pPr marL="1143000" indent="-228600">
              <a:buClr>
                <a:srgbClr val="DF4A20"/>
              </a:buClr>
              <a:defRPr/>
            </a:lvl3pPr>
            <a:lvl4pPr marL="1600200" indent="-228600">
              <a:buClr>
                <a:srgbClr val="DF4A20"/>
              </a:buClr>
              <a:defRPr/>
            </a:lvl4pPr>
            <a:lvl5pPr marL="2057400" indent="-228600">
              <a:buClr>
                <a:srgbClr val="DF4A20"/>
              </a:buCl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8512323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36181052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403173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633410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96193997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3612316" cy="343551"/>
          </a:xfrm>
          <a:prstGeom prst="rect">
            <a:avLst/>
          </a:prstGeom>
        </p:spPr>
        <p:txBody>
          <a:bodyPr/>
          <a:lstStyle>
            <a:lvl1pPr algn="l">
              <a:defRPr sz="1200">
                <a:latin typeface="Arial"/>
                <a:cs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5281529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8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1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11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12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3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4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5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6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7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18.xml"/></Relationships>
</file>

<file path=ppt/slideMasters/_rels/slideMaster13.xml.rels><?xml version="1.0" encoding="UTF-8" standalone="yes"?>
<Relationships xmlns="http://schemas.openxmlformats.org/package/2006/relationships"><Relationship Id="rId2" Type="http://schemas.openxmlformats.org/officeDocument/2006/relationships/theme" Target="../theme/theme13.xml"/><Relationship Id="rId1" Type="http://schemas.openxmlformats.org/officeDocument/2006/relationships/slideLayout" Target="../slideLayouts/slideLayout19.xml"/></Relationships>
</file>

<file path=ppt/slideMasters/_rels/slideMaster14.xml.rels><?xml version="1.0" encoding="UTF-8" standalone="yes"?>
<Relationships xmlns="http://schemas.openxmlformats.org/package/2006/relationships"><Relationship Id="rId2" Type="http://schemas.openxmlformats.org/officeDocument/2006/relationships/theme" Target="../theme/theme14.xml"/><Relationship Id="rId1" Type="http://schemas.openxmlformats.org/officeDocument/2006/relationships/slideLayout" Target="../slideLayouts/slideLayout20.xml"/></Relationships>
</file>

<file path=ppt/slideMasters/_rels/slideMaster15.xml.rels><?xml version="1.0" encoding="UTF-8" standalone="yes"?>
<Relationships xmlns="http://schemas.openxmlformats.org/package/2006/relationships"><Relationship Id="rId2" Type="http://schemas.openxmlformats.org/officeDocument/2006/relationships/theme" Target="../theme/theme15.xml"/><Relationship Id="rId1" Type="http://schemas.openxmlformats.org/officeDocument/2006/relationships/slideLayout" Target="../slideLayouts/slideLayout21.xml"/></Relationships>
</file>

<file path=ppt/slideMasters/_rels/slideMaster16.xml.rels><?xml version="1.0" encoding="UTF-8" standalone="yes"?>
<Relationships xmlns="http://schemas.openxmlformats.org/package/2006/relationships"><Relationship Id="rId2" Type="http://schemas.openxmlformats.org/officeDocument/2006/relationships/theme" Target="../theme/theme16.xml"/><Relationship Id="rId1" Type="http://schemas.openxmlformats.org/officeDocument/2006/relationships/slideLayout" Target="../slideLayouts/slideLayout22.xml"/></Relationships>
</file>

<file path=ppt/slideMasters/_rels/slideMaster17.xml.rels><?xml version="1.0" encoding="UTF-8" standalone="yes"?>
<Relationships xmlns="http://schemas.openxmlformats.org/package/2006/relationships"><Relationship Id="rId2" Type="http://schemas.openxmlformats.org/officeDocument/2006/relationships/theme" Target="../theme/theme17.xml"/><Relationship Id="rId1" Type="http://schemas.openxmlformats.org/officeDocument/2006/relationships/slideLayout" Target="../slideLayouts/slideLayout23.xml"/></Relationships>
</file>

<file path=ppt/slideMasters/_rels/slideMaster18.xml.rels><?xml version="1.0" encoding="UTF-8" standalone="yes"?>
<Relationships xmlns="http://schemas.openxmlformats.org/package/2006/relationships"><Relationship Id="rId2" Type="http://schemas.openxmlformats.org/officeDocument/2006/relationships/theme" Target="../theme/theme18.xml"/><Relationship Id="rId1" Type="http://schemas.openxmlformats.org/officeDocument/2006/relationships/slideLayout" Target="../slideLayouts/slideLayout24.xml"/></Relationships>
</file>

<file path=ppt/slideMasters/_rels/slideMaster19.xml.rels><?xml version="1.0" encoding="UTF-8" standalone="yes"?>
<Relationships xmlns="http://schemas.openxmlformats.org/package/2006/relationships"><Relationship Id="rId2" Type="http://schemas.openxmlformats.org/officeDocument/2006/relationships/theme" Target="../theme/theme19.xml"/><Relationship Id="rId1" Type="http://schemas.openxmlformats.org/officeDocument/2006/relationships/slideLayout" Target="../slideLayouts/slideLayout25.xml"/></Relationships>
</file>

<file path=ppt/slideMasters/_rels/slideMaster20.xml.rels><?xml version="1.0" encoding="UTF-8" standalone="yes"?>
<Relationships xmlns="http://schemas.openxmlformats.org/package/2006/relationships"><Relationship Id="rId2" Type="http://schemas.openxmlformats.org/officeDocument/2006/relationships/theme" Target="../theme/theme20.xml"/><Relationship Id="rId1" Type="http://schemas.openxmlformats.org/officeDocument/2006/relationships/slideLayout" Target="../slideLayouts/slideLayout26.xml"/></Relationships>
</file>

<file path=ppt/slideMasters/_rels/slideMaster21.xml.rels><?xml version="1.0" encoding="UTF-8" standalone="yes"?>
<Relationships xmlns="http://schemas.openxmlformats.org/package/2006/relationships"><Relationship Id="rId2" Type="http://schemas.openxmlformats.org/officeDocument/2006/relationships/theme" Target="../theme/theme21.xml"/><Relationship Id="rId1" Type="http://schemas.openxmlformats.org/officeDocument/2006/relationships/slideLayout" Target="../slideLayouts/slideLayout27.xml"/></Relationships>
</file>

<file path=ppt/slideMasters/_rels/slideMaster2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2.xml"/><Relationship Id="rId1" Type="http://schemas.openxmlformats.org/officeDocument/2006/relationships/slideLayout" Target="../slideLayouts/slideLayout28.xml"/></Relationships>
</file>

<file path=ppt/slideMasters/_rels/slideMaster23.xml.rels><?xml version="1.0" encoding="UTF-8" standalone="yes"?>
<Relationships xmlns="http://schemas.openxmlformats.org/package/2006/relationships"><Relationship Id="rId2" Type="http://schemas.openxmlformats.org/officeDocument/2006/relationships/theme" Target="../theme/theme23.xml"/><Relationship Id="rId1" Type="http://schemas.openxmlformats.org/officeDocument/2006/relationships/slideLayout" Target="../slideLayouts/slideLayout29.xml"/></Relationships>
</file>

<file path=ppt/slideMasters/_rels/slideMaster24.xml.rels><?xml version="1.0" encoding="UTF-8" standalone="yes"?>
<Relationships xmlns="http://schemas.openxmlformats.org/package/2006/relationships"><Relationship Id="rId2" Type="http://schemas.openxmlformats.org/officeDocument/2006/relationships/theme" Target="../theme/theme24.xml"/><Relationship Id="rId1" Type="http://schemas.openxmlformats.org/officeDocument/2006/relationships/slideLayout" Target="../slideLayouts/slideLayout30.xml"/></Relationships>
</file>

<file path=ppt/slideMasters/_rels/slideMaster25.xml.rels><?xml version="1.0" encoding="UTF-8" standalone="yes"?>
<Relationships xmlns="http://schemas.openxmlformats.org/package/2006/relationships"><Relationship Id="rId2" Type="http://schemas.openxmlformats.org/officeDocument/2006/relationships/theme" Target="../theme/theme25.xml"/><Relationship Id="rId1" Type="http://schemas.openxmlformats.org/officeDocument/2006/relationships/slideLayout" Target="../slideLayouts/slideLayout31.xml"/></Relationships>
</file>

<file path=ppt/slideMasters/_rels/slideMaster26.xml.rels><?xml version="1.0" encoding="UTF-8" standalone="yes"?>
<Relationships xmlns="http://schemas.openxmlformats.org/package/2006/relationships"><Relationship Id="rId2" Type="http://schemas.openxmlformats.org/officeDocument/2006/relationships/theme" Target="../theme/theme26.xml"/><Relationship Id="rId1" Type="http://schemas.openxmlformats.org/officeDocument/2006/relationships/slideLayout" Target="../slideLayouts/slideLayout32.xml"/></Relationships>
</file>

<file path=ppt/slideMasters/_rels/slideMaster27.xml.rels><?xml version="1.0" encoding="UTF-8" standalone="yes"?>
<Relationships xmlns="http://schemas.openxmlformats.org/package/2006/relationships"><Relationship Id="rId2" Type="http://schemas.openxmlformats.org/officeDocument/2006/relationships/theme" Target="../theme/theme27.xml"/><Relationship Id="rId1" Type="http://schemas.openxmlformats.org/officeDocument/2006/relationships/slideLayout" Target="../slideLayouts/slideLayout33.xml"/></Relationships>
</file>

<file path=ppt/slideMasters/_rels/slideMaster28.xml.rels><?xml version="1.0" encoding="UTF-8" standalone="yes"?>
<Relationships xmlns="http://schemas.openxmlformats.org/package/2006/relationships"><Relationship Id="rId2" Type="http://schemas.openxmlformats.org/officeDocument/2006/relationships/theme" Target="../theme/theme28.xml"/><Relationship Id="rId1" Type="http://schemas.openxmlformats.org/officeDocument/2006/relationships/slideLayout" Target="../slideLayouts/slideLayout34.xml"/></Relationships>
</file>

<file path=ppt/slideMasters/_rels/slideMaster29.xml.rels><?xml version="1.0" encoding="UTF-8" standalone="yes"?>
<Relationships xmlns="http://schemas.openxmlformats.org/package/2006/relationships"><Relationship Id="rId2" Type="http://schemas.openxmlformats.org/officeDocument/2006/relationships/theme" Target="../theme/theme29.xml"/><Relationship Id="rId1" Type="http://schemas.openxmlformats.org/officeDocument/2006/relationships/slideLayout" Target="../slideLayouts/slideLayout35.xml"/></Relationships>
</file>

<file path=ppt/slideMasters/_rels/slideMaster30.xml.rels><?xml version="1.0" encoding="UTF-8" standalone="yes"?>
<Relationships xmlns="http://schemas.openxmlformats.org/package/2006/relationships"><Relationship Id="rId2" Type="http://schemas.openxmlformats.org/officeDocument/2006/relationships/theme" Target="../theme/theme30.xml"/><Relationship Id="rId1" Type="http://schemas.openxmlformats.org/officeDocument/2006/relationships/slideLayout" Target="../slideLayouts/slideLayout36.xml"/></Relationships>
</file>

<file path=ppt/slideMasters/_rels/slideMaster31.xml.rels><?xml version="1.0" encoding="UTF-8" standalone="yes"?>
<Relationships xmlns="http://schemas.openxmlformats.org/package/2006/relationships"><Relationship Id="rId2" Type="http://schemas.openxmlformats.org/officeDocument/2006/relationships/theme" Target="../theme/theme31.xml"/><Relationship Id="rId1" Type="http://schemas.openxmlformats.org/officeDocument/2006/relationships/slideLayout" Target="../slideLayouts/slideLayout37.xml"/></Relationships>
</file>

<file path=ppt/slideMasters/_rels/slideMaster32.xml.rels><?xml version="1.0" encoding="UTF-8" standalone="yes"?>
<Relationships xmlns="http://schemas.openxmlformats.org/package/2006/relationships"><Relationship Id="rId2" Type="http://schemas.openxmlformats.org/officeDocument/2006/relationships/theme" Target="../theme/theme32.xml"/><Relationship Id="rId1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7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52400" y="1272910"/>
            <a:ext cx="8839199" cy="52171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0" tIns="0" rIns="137160" bIns="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26" name="Rectangle 7"/>
          <p:cNvSpPr>
            <a:spLocks noGrp="1" noChangeArrowheads="1"/>
          </p:cNvSpPr>
          <p:nvPr>
            <p:ph type="title"/>
          </p:nvPr>
        </p:nvSpPr>
        <p:spPr bwMode="auto">
          <a:xfrm>
            <a:off x="0" y="0"/>
            <a:ext cx="9144000" cy="6001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182880" tIns="91440" rIns="228600" bIns="91440" numCol="1" anchor="t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3933218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01" r:id="rId1"/>
    <p:sldLayoutId id="2147483902" r:id="rId2"/>
    <p:sldLayoutId id="2147483908" r:id="rId3"/>
    <p:sldLayoutId id="2147483907" r:id="rId4"/>
    <p:sldLayoutId id="2147483903" r:id="rId5"/>
    <p:sldLayoutId id="2147483904" r:id="rId6"/>
    <p:sldLayoutId id="2147483909" r:id="rId7"/>
  </p:sldLayoutIdLst>
  <p:hf sldNum="0" hdr="0" dt="0"/>
  <p:txStyles>
    <p:titleStyle>
      <a:lvl1pPr marL="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1"/>
          </a:solidFill>
          <a:latin typeface="Arial"/>
          <a:ea typeface="Arial" panose="020B0604020202020204" pitchFamily="34" charset="0"/>
          <a:cs typeface="Arial"/>
        </a:defRPr>
      </a:lvl1pPr>
      <a:lvl2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2pPr>
      <a:lvl3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3pPr>
      <a:lvl4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4pPr>
      <a:lvl5pPr marL="4508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rgbClr val="9D002D"/>
          </a:solidFill>
          <a:latin typeface="Times New Roman" charset="0"/>
          <a:ea typeface="Geneva" charset="0"/>
          <a:cs typeface="Arial" charset="0"/>
        </a:defRPr>
      </a:lvl5pPr>
      <a:lvl6pPr marL="9080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6pPr>
      <a:lvl7pPr marL="13652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7pPr>
      <a:lvl8pPr marL="18224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8pPr>
      <a:lvl9pPr marL="2279650" indent="-45085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3000" b="1">
          <a:solidFill>
            <a:schemeClr val="tx2"/>
          </a:solidFill>
          <a:latin typeface="Times New Roman" charset="0"/>
          <a:ea typeface="Arial" charset="0"/>
          <a:cs typeface="Arial" charset="0"/>
        </a:defRPr>
      </a:lvl9pPr>
    </p:titleStyle>
    <p:bodyStyle>
      <a:lvl1pPr marL="347472" indent="-347472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800">
          <a:solidFill>
            <a:schemeClr val="tx1"/>
          </a:solidFill>
          <a:latin typeface="Arial" charset="0"/>
          <a:ea typeface="Arial" panose="020B0604020202020204" pitchFamily="34" charset="0"/>
          <a:cs typeface="+mn-cs"/>
        </a:defRPr>
      </a:lvl1pPr>
      <a:lvl2pPr marL="740664" indent="-283464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600">
          <a:solidFill>
            <a:schemeClr val="tx1"/>
          </a:solidFill>
          <a:latin typeface="Arial" charset="0"/>
          <a:ea typeface="+mn-ea"/>
          <a:cs typeface="+mn-cs"/>
        </a:defRPr>
      </a:lvl2pPr>
      <a:lvl3pPr marL="11430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400">
          <a:solidFill>
            <a:schemeClr val="tx1"/>
          </a:solidFill>
          <a:latin typeface="Arial" charset="0"/>
          <a:ea typeface="+mn-ea"/>
          <a:cs typeface="+mn-cs"/>
        </a:defRPr>
      </a:lvl3pPr>
      <a:lvl4pPr marL="16002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200">
          <a:solidFill>
            <a:schemeClr val="tx1"/>
          </a:solidFill>
          <a:latin typeface="Arial" charset="0"/>
          <a:ea typeface="+mn-ea"/>
          <a:cs typeface="+mn-cs"/>
        </a:defRPr>
      </a:lvl4pPr>
      <a:lvl5pPr marL="2057400" indent="-228600" algn="l" rtl="0" eaLnBrk="1" fontAlgn="base" hangingPunct="1">
        <a:spcBef>
          <a:spcPts val="600"/>
        </a:spcBef>
        <a:spcAft>
          <a:spcPts val="600"/>
        </a:spcAft>
        <a:buClr>
          <a:srgbClr val="DF4A20"/>
        </a:buClr>
        <a:buFont typeface="Wingdings" charset="2"/>
        <a:buChar char="§"/>
        <a:defRPr sz="2200">
          <a:solidFill>
            <a:schemeClr val="tx1"/>
          </a:solidFill>
          <a:latin typeface="Arial" charset="0"/>
          <a:ea typeface="+mn-ea"/>
          <a:cs typeface="+mn-cs"/>
        </a:defRPr>
      </a:lvl5pPr>
      <a:lvl6pPr marL="33162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6pPr>
      <a:lvl7pPr marL="37734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7pPr>
      <a:lvl8pPr marL="42306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8pPr>
      <a:lvl9pPr marL="4687888" indent="-347663" algn="l" rtl="0" eaLnBrk="1" fontAlgn="base" hangingPunct="1">
        <a:spcBef>
          <a:spcPct val="45000"/>
        </a:spcBef>
        <a:spcAft>
          <a:spcPct val="20000"/>
        </a:spcAft>
        <a:buClr>
          <a:schemeClr val="tx2"/>
        </a:buClr>
        <a:buFont typeface="Wingdings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1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3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4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5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6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7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5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89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1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3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9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3"/>
          <p:cNvSpPr>
            <a:spLocks noChangeArrowheads="1"/>
          </p:cNvSpPr>
          <p:nvPr userDrawn="1"/>
        </p:nvSpPr>
        <p:spPr bwMode="auto">
          <a:xfrm>
            <a:off x="66973" y="6582040"/>
            <a:ext cx="2895600" cy="169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1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sz="900" dirty="0">
                <a:solidFill>
                  <a:srgbClr val="000000"/>
                </a:solidFill>
                <a:latin typeface="Arial" charset="0"/>
                <a:ea typeface="ＭＳ Ｐゴシック" charset="0"/>
              </a:rPr>
              <a:t>© 2018 Pearson Education Ltd.</a:t>
            </a:r>
          </a:p>
        </p:txBody>
      </p:sp>
      <p:sp>
        <p:nvSpPr>
          <p:cNvPr id="2" name="Text Placeholder 1"/>
          <p:cNvSpPr>
            <a:spLocks noGrp="1"/>
          </p:cNvSpPr>
          <p:nvPr>
            <p:ph type="body" idx="1"/>
          </p:nvPr>
        </p:nvSpPr>
        <p:spPr>
          <a:xfrm>
            <a:off x="0" y="0"/>
            <a:ext cx="5757649" cy="3569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95598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7" r:id="rId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ＭＳ Ｐゴシック" charset="0"/>
          <a:cs typeface="ＭＳ Ｐゴシック" charset="0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  <a:ea typeface="ＭＳ Ｐゴシック" charset="0"/>
          <a:cs typeface="ＭＳ Ｐゴシック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" pitchFamily="84" charset="0"/>
        </a:defRPr>
      </a:lvl9pPr>
    </p:titleStyle>
    <p:bodyStyle>
      <a:lvl1pPr marL="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0"/>
          <a:cs typeface="Arial"/>
        </a:defRPr>
      </a:lvl1pPr>
      <a:lvl2pPr marL="4572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2pPr>
      <a:lvl3pPr marL="9144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3pPr>
      <a:lvl4pPr marL="13716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4pPr>
      <a:lvl5pPr marL="1828800" indent="0" algn="l" rtl="0" eaLnBrk="0" fontAlgn="base" hangingPunct="0">
        <a:spcBef>
          <a:spcPct val="20000"/>
        </a:spcBef>
        <a:spcAft>
          <a:spcPct val="0"/>
        </a:spcAft>
        <a:buNone/>
        <a:defRPr sz="1200">
          <a:solidFill>
            <a:schemeClr val="tx1"/>
          </a:solidFill>
          <a:latin typeface="Arial"/>
          <a:ea typeface="ＭＳ Ｐゴシック" charset="-128"/>
          <a:cs typeface="Arial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8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9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0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1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4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5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8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6.xml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7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9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30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31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32.xml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33.xml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34.xml"/></Relationships>
</file>

<file path=ppt/slides/_rels/slide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35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36.xml"/></Relationships>
</file>

<file path=ppt/slides/_rels/slide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37.xml"/></Relationships>
</file>

<file path=ppt/slides/_rels/slide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Layout" Target="../slideLayouts/slideLayout4.xml"/></Relationships>
</file>

<file path=ppt/slides/_rels/slide8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11"/>
          <p:cNvSpPr>
            <a:spLocks noGrp="1"/>
          </p:cNvSpPr>
          <p:nvPr>
            <p:ph type="ftr" sz="quarter" idx="3"/>
          </p:nvPr>
        </p:nvSpPr>
        <p:spPr>
          <a:xfrm>
            <a:off x="66575" y="6586347"/>
            <a:ext cx="3086100" cy="232932"/>
          </a:xfrm>
        </p:spPr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Recognition and Response</a:t>
            </a:r>
            <a:endParaRPr lang="en-US" altLang="en-US" dirty="0"/>
          </a:p>
        </p:txBody>
      </p:sp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Pathogens</a:t>
            </a:r>
            <a:r>
              <a:rPr lang="en-US" altLang="en-US" dirty="0"/>
              <a:t>, agents that cause disease, infect a wide range of animals, including humans</a:t>
            </a:r>
          </a:p>
          <a:p>
            <a:r>
              <a:rPr lang="en-US" altLang="en-US" dirty="0"/>
              <a:t>Dedicated cells of the </a:t>
            </a:r>
            <a:r>
              <a:rPr lang="en-US" altLang="en-US" b="1" dirty="0"/>
              <a:t>immune system </a:t>
            </a:r>
            <a:r>
              <a:rPr lang="en-US" altLang="en-US" dirty="0"/>
              <a:t>interact with and destroy pathogens</a:t>
            </a:r>
          </a:p>
          <a:p>
            <a:r>
              <a:rPr lang="en-US" altLang="en-US" dirty="0"/>
              <a:t>First lines of defense help prevent pathogens from gaining entry to the body</a:t>
            </a:r>
          </a:p>
          <a:p>
            <a:r>
              <a:rPr lang="en-US" altLang="en-US" dirty="0"/>
              <a:t>Within the body, two types of molecular recognition allow detection of </a:t>
            </a:r>
            <a:r>
              <a:rPr lang="en-US" altLang="en-US" dirty="0" err="1"/>
              <a:t>nonself</a:t>
            </a:r>
            <a:r>
              <a:rPr lang="en-US" altLang="en-US" dirty="0"/>
              <a:t> molecules, particles, and cells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3032000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47.1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8704" y="947928"/>
            <a:ext cx="8546592" cy="4962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20602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47.1a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02280" y="1859280"/>
            <a:ext cx="3139440" cy="3139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181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All animals have </a:t>
            </a:r>
            <a:r>
              <a:rPr lang="en-US" altLang="en-US" b="1" dirty="0"/>
              <a:t>innate immunity</a:t>
            </a:r>
            <a:r>
              <a:rPr lang="en-US" altLang="en-US" dirty="0"/>
              <a:t>, a defense active immediately upon infection</a:t>
            </a:r>
          </a:p>
          <a:p>
            <a:r>
              <a:rPr lang="en-US" altLang="en-US" dirty="0"/>
              <a:t>Innate immunity includes barrier defenses</a:t>
            </a:r>
          </a:p>
          <a:p>
            <a:r>
              <a:rPr lang="en-US" altLang="en-US" dirty="0"/>
              <a:t>Vertebrates also have </a:t>
            </a:r>
            <a:r>
              <a:rPr lang="en-US" altLang="en-US" b="1" dirty="0"/>
              <a:t>adaptive immunity</a:t>
            </a:r>
          </a:p>
          <a:p>
            <a:r>
              <a:rPr lang="en-US" altLang="en-US" dirty="0"/>
              <a:t>The adaptive immune response is activated after the innate response and develops more slowly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449564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996696" y="152400"/>
            <a:ext cx="7150608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47.2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5788187" y="253998"/>
            <a:ext cx="205184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Pathogens</a:t>
            </a:r>
          </a:p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(such as bacteria,</a:t>
            </a:r>
          </a:p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fungi, and viruses)</a:t>
            </a: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1197137" y="1735135"/>
            <a:ext cx="2047548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INNATE IMMUNITY</a:t>
            </a:r>
          </a:p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(all animals)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182849" y="2395535"/>
            <a:ext cx="3036729" cy="1025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37160" indent="-137160">
              <a:lnSpc>
                <a:spcPts val="2000"/>
              </a:lnSpc>
              <a:buFont typeface="Arial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Recognition of traits</a:t>
            </a:r>
            <a:b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</a:b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shared by broad ranges of</a:t>
            </a:r>
            <a:b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</a:b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pathogens, using a small</a:t>
            </a:r>
            <a:b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</a:b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set of receptors</a:t>
            </a:r>
          </a:p>
        </p:txBody>
      </p:sp>
      <p:sp>
        <p:nvSpPr>
          <p:cNvPr id="9" name="TextBox 11"/>
          <p:cNvSpPr txBox="1">
            <a:spLocks noChangeArrowheads="1"/>
          </p:cNvSpPr>
          <p:nvPr/>
        </p:nvSpPr>
        <p:spPr bwMode="auto">
          <a:xfrm>
            <a:off x="1182849" y="3555998"/>
            <a:ext cx="191590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37160" indent="-137160">
              <a:lnSpc>
                <a:spcPts val="2000"/>
              </a:lnSpc>
              <a:buFont typeface="Arial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Rapid response</a:t>
            </a:r>
          </a:p>
        </p:txBody>
      </p:sp>
      <p:sp>
        <p:nvSpPr>
          <p:cNvPr id="10" name="TextBox 12"/>
          <p:cNvSpPr txBox="1">
            <a:spLocks noChangeArrowheads="1"/>
          </p:cNvSpPr>
          <p:nvPr/>
        </p:nvSpPr>
        <p:spPr bwMode="auto">
          <a:xfrm>
            <a:off x="4461831" y="1747040"/>
            <a:ext cx="2231380" cy="9746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00"/>
              </a:lnSpc>
            </a:pPr>
            <a:r>
              <a:rPr lang="fr-FR" sz="1800" b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Barrier</a:t>
            </a:r>
            <a:r>
              <a:rPr lang="fr-FR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</a:t>
            </a:r>
            <a:r>
              <a:rPr lang="fr-FR" sz="1800" b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defenses</a:t>
            </a:r>
            <a:r>
              <a:rPr lang="fr-FR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:</a:t>
            </a:r>
          </a:p>
          <a:p>
            <a:pPr>
              <a:lnSpc>
                <a:spcPts val="1900"/>
              </a:lnSpc>
            </a:pPr>
            <a:r>
              <a:rPr lang="fr-FR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Skin</a:t>
            </a:r>
          </a:p>
          <a:p>
            <a:pPr>
              <a:lnSpc>
                <a:spcPts val="1900"/>
              </a:lnSpc>
            </a:pPr>
            <a:r>
              <a:rPr lang="fr-FR" sz="1800" b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Mucous</a:t>
            </a:r>
            <a:r>
              <a:rPr lang="fr-FR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membranes</a:t>
            </a:r>
          </a:p>
          <a:p>
            <a:pPr>
              <a:lnSpc>
                <a:spcPts val="1900"/>
              </a:lnSpc>
            </a:pPr>
            <a:r>
              <a:rPr lang="fr-FR" sz="1800" b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Secretions</a:t>
            </a:r>
            <a:endParaRPr lang="en-US" sz="18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</p:txBody>
      </p:sp>
      <p:sp>
        <p:nvSpPr>
          <p:cNvPr id="11" name="TextBox 16"/>
          <p:cNvSpPr txBox="1">
            <a:spLocks noChangeArrowheads="1"/>
          </p:cNvSpPr>
          <p:nvPr/>
        </p:nvSpPr>
        <p:spPr bwMode="auto">
          <a:xfrm>
            <a:off x="4453893" y="2924967"/>
            <a:ext cx="2539157" cy="128240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Internal defenses: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Phagocytic cells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Natural killer cells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Antimicrobial proteins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Inflammatory response</a:t>
            </a:r>
          </a:p>
        </p:txBody>
      </p:sp>
      <p:sp>
        <p:nvSpPr>
          <p:cNvPr id="12" name="TextBox 21"/>
          <p:cNvSpPr txBox="1">
            <a:spLocks noChangeArrowheads="1"/>
          </p:cNvSpPr>
          <p:nvPr/>
        </p:nvSpPr>
        <p:spPr bwMode="auto">
          <a:xfrm>
            <a:off x="4464212" y="4484685"/>
            <a:ext cx="288540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Humoral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response: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Antibodies defend against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infection in body fluids.</a:t>
            </a:r>
          </a:p>
        </p:txBody>
      </p:sp>
      <p:sp>
        <p:nvSpPr>
          <p:cNvPr id="13" name="TextBox 24"/>
          <p:cNvSpPr txBox="1">
            <a:spLocks noChangeArrowheads="1"/>
          </p:cNvSpPr>
          <p:nvPr/>
        </p:nvSpPr>
        <p:spPr bwMode="auto">
          <a:xfrm>
            <a:off x="4467387" y="5537198"/>
            <a:ext cx="335989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Cell-mediated response: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Cytotoxic cells defend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against infection in body cells.</a:t>
            </a:r>
          </a:p>
        </p:txBody>
      </p:sp>
      <p:sp>
        <p:nvSpPr>
          <p:cNvPr id="14" name="TextBox 28"/>
          <p:cNvSpPr txBox="1">
            <a:spLocks noChangeArrowheads="1"/>
          </p:cNvSpPr>
          <p:nvPr/>
        </p:nvSpPr>
        <p:spPr bwMode="auto">
          <a:xfrm>
            <a:off x="1189199" y="4484685"/>
            <a:ext cx="237244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ADAPTIVE IMMUNITY</a:t>
            </a:r>
          </a:p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(vertebrates only)</a:t>
            </a:r>
          </a:p>
        </p:txBody>
      </p:sp>
      <p:sp>
        <p:nvSpPr>
          <p:cNvPr id="15" name="TextBox 30"/>
          <p:cNvSpPr txBox="1">
            <a:spLocks noChangeArrowheads="1"/>
          </p:cNvSpPr>
          <p:nvPr/>
        </p:nvSpPr>
        <p:spPr bwMode="auto">
          <a:xfrm>
            <a:off x="1182849" y="5091110"/>
            <a:ext cx="2767424" cy="1025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37160" indent="-137160">
              <a:lnSpc>
                <a:spcPts val="2000"/>
              </a:lnSpc>
              <a:buFont typeface="Arial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Recognition of traits</a:t>
            </a:r>
            <a:b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</a:b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specific to particular</a:t>
            </a:r>
            <a:b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</a:b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pathogens, using a vast</a:t>
            </a:r>
            <a:b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</a:b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array of receptors</a:t>
            </a:r>
          </a:p>
        </p:txBody>
      </p:sp>
      <p:sp>
        <p:nvSpPr>
          <p:cNvPr id="16" name="TextBox 34"/>
          <p:cNvSpPr txBox="1">
            <a:spLocks noChangeArrowheads="1"/>
          </p:cNvSpPr>
          <p:nvPr/>
        </p:nvSpPr>
        <p:spPr bwMode="auto">
          <a:xfrm>
            <a:off x="1182849" y="6213473"/>
            <a:ext cx="203132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marL="137160" indent="-137160">
              <a:lnSpc>
                <a:spcPts val="2000"/>
              </a:lnSpc>
              <a:buFont typeface="Arial" pitchFamily="34" charset="0"/>
              <a:buChar char="•"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Slower response</a:t>
            </a:r>
          </a:p>
        </p:txBody>
      </p:sp>
    </p:spTree>
    <p:extLst>
      <p:ext uri="{BB962C8B-B14F-4D97-AF65-F5344CB8AC3E}">
        <p14:creationId xmlns:p14="http://schemas.microsoft.com/office/powerpoint/2010/main" val="112414003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569660"/>
          </a:xfrm>
        </p:spPr>
        <p:txBody>
          <a:bodyPr/>
          <a:lstStyle/>
          <a:p>
            <a:r>
              <a:rPr lang="en-US" altLang="en-US" dirty="0"/>
              <a:t>Concept 47.1: In innate immunity, recognition and response rely on traits common to groups of pathogens</a:t>
            </a:r>
          </a:p>
        </p:txBody>
      </p:sp>
      <p:sp>
        <p:nvSpPr>
          <p:cNvPr id="245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Innate immunity is found in all animals and plants</a:t>
            </a:r>
          </a:p>
          <a:p>
            <a:r>
              <a:rPr lang="en-US" altLang="en-US" dirty="0"/>
              <a:t>In vertebrates, innate immunity is a first response to infections and the foundation of adaptive immunity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7325894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Innate Immunity of Invertebrates</a:t>
            </a:r>
            <a:endParaRPr lang="en-US" altLang="en-US" dirty="0"/>
          </a:p>
        </p:txBody>
      </p:sp>
      <p:sp>
        <p:nvSpPr>
          <p:cNvPr id="266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insects, an exoskeleton made of chitin forms the first barrier to pathogens</a:t>
            </a:r>
          </a:p>
          <a:p>
            <a:r>
              <a:rPr lang="en-US" altLang="en-US" dirty="0"/>
              <a:t>The digestive system is protected by a chitin-based barrier and </a:t>
            </a:r>
            <a:r>
              <a:rPr lang="en-US" altLang="en-US" b="1" dirty="0"/>
              <a:t>lysozyme</a:t>
            </a:r>
            <a:r>
              <a:rPr lang="en-US" altLang="en-US" dirty="0"/>
              <a:t>, an enzyme that breaks down bacterial cell walls</a:t>
            </a:r>
          </a:p>
          <a:p>
            <a:r>
              <a:rPr lang="en-US" altLang="en-US" dirty="0" err="1"/>
              <a:t>Hemocytes</a:t>
            </a:r>
            <a:r>
              <a:rPr lang="en-US" altLang="en-US" dirty="0"/>
              <a:t> circulate within </a:t>
            </a:r>
            <a:r>
              <a:rPr lang="en-US" altLang="en-US" dirty="0" err="1"/>
              <a:t>hemolymph</a:t>
            </a:r>
            <a:r>
              <a:rPr lang="en-US" altLang="en-US" dirty="0"/>
              <a:t> and carry out </a:t>
            </a:r>
            <a:r>
              <a:rPr lang="en-US" altLang="en-US" b="1" dirty="0"/>
              <a:t>phagocytosis</a:t>
            </a:r>
            <a:r>
              <a:rPr lang="en-US" altLang="en-US" dirty="0"/>
              <a:t>, the ingestion and digestion of foreign substances including bacteria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7819700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402336" y="213360"/>
            <a:ext cx="8339328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47.3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3114170" y="254637"/>
            <a:ext cx="382155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Pseudopodia surround pathogens.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457515" y="644369"/>
            <a:ext cx="105157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Pathogen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4342445" y="1217139"/>
            <a:ext cx="442428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Pathogens are engulfed by endocytosis.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516252" y="1868332"/>
            <a:ext cx="1538883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PHAGOCYTIC</a:t>
            </a:r>
          </a:p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CELL</a:t>
            </a: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4788189" y="2545401"/>
            <a:ext cx="170566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Vacuole forms.</a:t>
            </a: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492440" y="3189132"/>
            <a:ext cx="87209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Vacuole</a:t>
            </a:r>
          </a:p>
        </p:txBody>
      </p:sp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2521265" y="2890682"/>
            <a:ext cx="1166986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Lysosome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containing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enzymes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701671" y="3424082"/>
            <a:ext cx="314195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Vacuole and lysosome fuse.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4356389" y="4439287"/>
            <a:ext cx="2410916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Pathogens destroyed.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3392776" y="5759294"/>
            <a:ext cx="359072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Debris from pathogens released.</a:t>
            </a:r>
          </a:p>
        </p:txBody>
      </p:sp>
      <p:grpSp>
        <p:nvGrpSpPr>
          <p:cNvPr id="19" name="Group 18"/>
          <p:cNvGrpSpPr/>
          <p:nvPr/>
        </p:nvGrpSpPr>
        <p:grpSpPr>
          <a:xfrm>
            <a:off x="2800350" y="254637"/>
            <a:ext cx="246888" cy="256480"/>
            <a:chOff x="2800350" y="254637"/>
            <a:chExt cx="246888" cy="256480"/>
          </a:xfrm>
        </p:grpSpPr>
        <p:sp>
          <p:nvSpPr>
            <p:cNvPr id="17" name="Oval 16"/>
            <p:cNvSpPr/>
            <p:nvPr/>
          </p:nvSpPr>
          <p:spPr bwMode="auto">
            <a:xfrm>
              <a:off x="2800350" y="259433"/>
              <a:ext cx="246888" cy="246888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18" name="TextBox 2"/>
            <p:cNvSpPr txBox="1">
              <a:spLocks noChangeArrowheads="1"/>
            </p:cNvSpPr>
            <p:nvPr/>
          </p:nvSpPr>
          <p:spPr bwMode="auto">
            <a:xfrm>
              <a:off x="2859674" y="254637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1</a:t>
              </a:r>
            </a:p>
          </p:txBody>
        </p:sp>
      </p:grpSp>
      <p:grpSp>
        <p:nvGrpSpPr>
          <p:cNvPr id="20" name="Group 19"/>
          <p:cNvGrpSpPr/>
          <p:nvPr/>
        </p:nvGrpSpPr>
        <p:grpSpPr>
          <a:xfrm>
            <a:off x="4024789" y="1208562"/>
            <a:ext cx="246888" cy="256480"/>
            <a:chOff x="2800350" y="254637"/>
            <a:chExt cx="246888" cy="256480"/>
          </a:xfrm>
        </p:grpSpPr>
        <p:sp>
          <p:nvSpPr>
            <p:cNvPr id="21" name="Oval 20"/>
            <p:cNvSpPr/>
            <p:nvPr/>
          </p:nvSpPr>
          <p:spPr bwMode="auto">
            <a:xfrm>
              <a:off x="2800350" y="259433"/>
              <a:ext cx="246888" cy="246888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22" name="TextBox 2"/>
            <p:cNvSpPr txBox="1">
              <a:spLocks noChangeArrowheads="1"/>
            </p:cNvSpPr>
            <p:nvPr/>
          </p:nvSpPr>
          <p:spPr bwMode="auto">
            <a:xfrm>
              <a:off x="2859674" y="254637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2</a:t>
              </a:r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4481512" y="2543015"/>
            <a:ext cx="246888" cy="256480"/>
            <a:chOff x="2800350" y="254637"/>
            <a:chExt cx="246888" cy="256480"/>
          </a:xfrm>
        </p:grpSpPr>
        <p:sp>
          <p:nvSpPr>
            <p:cNvPr id="24" name="Oval 23"/>
            <p:cNvSpPr/>
            <p:nvPr/>
          </p:nvSpPr>
          <p:spPr bwMode="auto">
            <a:xfrm>
              <a:off x="2800350" y="259433"/>
              <a:ext cx="246888" cy="246888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25" name="TextBox 2"/>
            <p:cNvSpPr txBox="1">
              <a:spLocks noChangeArrowheads="1"/>
            </p:cNvSpPr>
            <p:nvPr/>
          </p:nvSpPr>
          <p:spPr bwMode="auto">
            <a:xfrm>
              <a:off x="2859674" y="254637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3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4400549" y="3419320"/>
            <a:ext cx="246888" cy="256480"/>
            <a:chOff x="2800350" y="254637"/>
            <a:chExt cx="246888" cy="256480"/>
          </a:xfrm>
        </p:grpSpPr>
        <p:sp>
          <p:nvSpPr>
            <p:cNvPr id="27" name="Oval 26"/>
            <p:cNvSpPr/>
            <p:nvPr/>
          </p:nvSpPr>
          <p:spPr bwMode="auto">
            <a:xfrm>
              <a:off x="2800350" y="259433"/>
              <a:ext cx="246888" cy="246888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28" name="TextBox 2"/>
            <p:cNvSpPr txBox="1">
              <a:spLocks noChangeArrowheads="1"/>
            </p:cNvSpPr>
            <p:nvPr/>
          </p:nvSpPr>
          <p:spPr bwMode="auto">
            <a:xfrm>
              <a:off x="2859674" y="254637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4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4046222" y="4422777"/>
            <a:ext cx="246888" cy="256480"/>
            <a:chOff x="2800350" y="254637"/>
            <a:chExt cx="246888" cy="256480"/>
          </a:xfrm>
        </p:grpSpPr>
        <p:sp>
          <p:nvSpPr>
            <p:cNvPr id="30" name="Oval 29"/>
            <p:cNvSpPr/>
            <p:nvPr/>
          </p:nvSpPr>
          <p:spPr bwMode="auto">
            <a:xfrm>
              <a:off x="2800350" y="259433"/>
              <a:ext cx="246888" cy="246888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31" name="TextBox 2"/>
            <p:cNvSpPr txBox="1">
              <a:spLocks noChangeArrowheads="1"/>
            </p:cNvSpPr>
            <p:nvPr/>
          </p:nvSpPr>
          <p:spPr bwMode="auto">
            <a:xfrm>
              <a:off x="2859674" y="254637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5</a:t>
              </a:r>
            </a:p>
          </p:txBody>
        </p:sp>
      </p:grpSp>
      <p:grpSp>
        <p:nvGrpSpPr>
          <p:cNvPr id="32" name="Group 31"/>
          <p:cNvGrpSpPr/>
          <p:nvPr/>
        </p:nvGrpSpPr>
        <p:grpSpPr>
          <a:xfrm>
            <a:off x="3085988" y="5753741"/>
            <a:ext cx="246888" cy="256480"/>
            <a:chOff x="2800350" y="254637"/>
            <a:chExt cx="246888" cy="256480"/>
          </a:xfrm>
        </p:grpSpPr>
        <p:sp>
          <p:nvSpPr>
            <p:cNvPr id="33" name="Oval 32"/>
            <p:cNvSpPr/>
            <p:nvPr/>
          </p:nvSpPr>
          <p:spPr bwMode="auto">
            <a:xfrm>
              <a:off x="2800350" y="259433"/>
              <a:ext cx="246888" cy="246888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34" name="TextBox 2"/>
            <p:cNvSpPr txBox="1">
              <a:spLocks noChangeArrowheads="1"/>
            </p:cNvSpPr>
            <p:nvPr/>
          </p:nvSpPr>
          <p:spPr bwMode="auto">
            <a:xfrm>
              <a:off x="2859674" y="254637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6</a:t>
              </a:r>
            </a:p>
          </p:txBody>
        </p:sp>
      </p:grpSp>
      <p:sp>
        <p:nvSpPr>
          <p:cNvPr id="35" name="Freeform 34"/>
          <p:cNvSpPr/>
          <p:nvPr/>
        </p:nvSpPr>
        <p:spPr>
          <a:xfrm>
            <a:off x="923925" y="897731"/>
            <a:ext cx="138113" cy="452438"/>
          </a:xfrm>
          <a:custGeom>
            <a:avLst/>
            <a:gdLst>
              <a:gd name="connsiteX0" fmla="*/ 138113 w 138113"/>
              <a:gd name="connsiteY0" fmla="*/ 452438 h 452438"/>
              <a:gd name="connsiteX1" fmla="*/ 0 w 138113"/>
              <a:gd name="connsiteY1" fmla="*/ 0 h 452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8113" h="452438">
                <a:moveTo>
                  <a:pt x="138113" y="452438"/>
                </a:moveTo>
                <a:lnTo>
                  <a:pt x="0" y="0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1040606" y="426244"/>
            <a:ext cx="1728788" cy="847725"/>
          </a:xfrm>
          <a:custGeom>
            <a:avLst/>
            <a:gdLst>
              <a:gd name="connsiteX0" fmla="*/ 0 w 1728788"/>
              <a:gd name="connsiteY0" fmla="*/ 671512 h 847725"/>
              <a:gd name="connsiteX1" fmla="*/ 1728788 w 1728788"/>
              <a:gd name="connsiteY1" fmla="*/ 0 h 847725"/>
              <a:gd name="connsiteX2" fmla="*/ 423863 w 1728788"/>
              <a:gd name="connsiteY2" fmla="*/ 847725 h 84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28788" h="847725">
                <a:moveTo>
                  <a:pt x="0" y="671512"/>
                </a:moveTo>
                <a:lnTo>
                  <a:pt x="1728788" y="0"/>
                </a:lnTo>
                <a:lnTo>
                  <a:pt x="423863" y="847725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7" name="Freeform 36"/>
          <p:cNvSpPr/>
          <p:nvPr/>
        </p:nvSpPr>
        <p:spPr>
          <a:xfrm>
            <a:off x="2919413" y="1369219"/>
            <a:ext cx="1076325" cy="723900"/>
          </a:xfrm>
          <a:custGeom>
            <a:avLst/>
            <a:gdLst>
              <a:gd name="connsiteX0" fmla="*/ 0 w 1076325"/>
              <a:gd name="connsiteY0" fmla="*/ 723900 h 723900"/>
              <a:gd name="connsiteX1" fmla="*/ 1076325 w 1076325"/>
              <a:gd name="connsiteY1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6325" h="723900">
                <a:moveTo>
                  <a:pt x="0" y="723900"/>
                </a:moveTo>
                <a:lnTo>
                  <a:pt x="1076325" y="0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1492250" y="2670175"/>
            <a:ext cx="2936875" cy="69850"/>
          </a:xfrm>
          <a:custGeom>
            <a:avLst/>
            <a:gdLst>
              <a:gd name="connsiteX0" fmla="*/ 0 w 2936875"/>
              <a:gd name="connsiteY0" fmla="*/ 69850 h 69850"/>
              <a:gd name="connsiteX1" fmla="*/ 2936875 w 2936875"/>
              <a:gd name="connsiteY1" fmla="*/ 0 h 6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875" h="69850">
                <a:moveTo>
                  <a:pt x="0" y="69850"/>
                </a:moveTo>
                <a:lnTo>
                  <a:pt x="2936875" y="0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0" name="Freeform 39"/>
          <p:cNvSpPr/>
          <p:nvPr/>
        </p:nvSpPr>
        <p:spPr>
          <a:xfrm>
            <a:off x="1993900" y="3552825"/>
            <a:ext cx="2355850" cy="434975"/>
          </a:xfrm>
          <a:custGeom>
            <a:avLst/>
            <a:gdLst>
              <a:gd name="connsiteX0" fmla="*/ 0 w 2355850"/>
              <a:gd name="connsiteY0" fmla="*/ 434975 h 434975"/>
              <a:gd name="connsiteX1" fmla="*/ 2355850 w 2355850"/>
              <a:gd name="connsiteY1" fmla="*/ 0 h 43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55850" h="434975">
                <a:moveTo>
                  <a:pt x="0" y="434975"/>
                </a:moveTo>
                <a:lnTo>
                  <a:pt x="2355850" y="0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1" name="Freeform 40"/>
          <p:cNvSpPr/>
          <p:nvPr/>
        </p:nvSpPr>
        <p:spPr>
          <a:xfrm>
            <a:off x="1905000" y="4552950"/>
            <a:ext cx="2092325" cy="155575"/>
          </a:xfrm>
          <a:custGeom>
            <a:avLst/>
            <a:gdLst>
              <a:gd name="connsiteX0" fmla="*/ 0 w 2092325"/>
              <a:gd name="connsiteY0" fmla="*/ 155575 h 155575"/>
              <a:gd name="connsiteX1" fmla="*/ 2092325 w 2092325"/>
              <a:gd name="connsiteY1" fmla="*/ 0 h 155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92325" h="155575">
                <a:moveTo>
                  <a:pt x="0" y="155575"/>
                </a:moveTo>
                <a:lnTo>
                  <a:pt x="2092325" y="0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2381250" y="5822950"/>
            <a:ext cx="660400" cy="60325"/>
          </a:xfrm>
          <a:custGeom>
            <a:avLst/>
            <a:gdLst>
              <a:gd name="connsiteX0" fmla="*/ 0 w 660400"/>
              <a:gd name="connsiteY0" fmla="*/ 0 h 60325"/>
              <a:gd name="connsiteX1" fmla="*/ 660400 w 660400"/>
              <a:gd name="connsiteY1" fmla="*/ 60325 h 6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60400" h="60325">
                <a:moveTo>
                  <a:pt x="0" y="0"/>
                </a:moveTo>
                <a:lnTo>
                  <a:pt x="660400" y="60325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3" name="Freeform 42"/>
          <p:cNvSpPr/>
          <p:nvPr/>
        </p:nvSpPr>
        <p:spPr>
          <a:xfrm>
            <a:off x="2350294" y="3017044"/>
            <a:ext cx="142875" cy="57150"/>
          </a:xfrm>
          <a:custGeom>
            <a:avLst/>
            <a:gdLst>
              <a:gd name="connsiteX0" fmla="*/ 0 w 142875"/>
              <a:gd name="connsiteY0" fmla="*/ 57150 h 57150"/>
              <a:gd name="connsiteX1" fmla="*/ 142875 w 142875"/>
              <a:gd name="connsiteY1" fmla="*/ 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2875" h="57150">
                <a:moveTo>
                  <a:pt x="0" y="57150"/>
                </a:moveTo>
                <a:lnTo>
                  <a:pt x="142875" y="0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921544" y="3019425"/>
            <a:ext cx="54769" cy="169069"/>
          </a:xfrm>
          <a:custGeom>
            <a:avLst/>
            <a:gdLst>
              <a:gd name="connsiteX0" fmla="*/ 0 w 54769"/>
              <a:gd name="connsiteY0" fmla="*/ 169069 h 169069"/>
              <a:gd name="connsiteX1" fmla="*/ 54769 w 54769"/>
              <a:gd name="connsiteY1" fmla="*/ 0 h 169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4769" h="169069">
                <a:moveTo>
                  <a:pt x="0" y="169069"/>
                </a:moveTo>
                <a:lnTo>
                  <a:pt x="54769" y="0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5" name="Freeform 44"/>
          <p:cNvSpPr/>
          <p:nvPr/>
        </p:nvSpPr>
        <p:spPr>
          <a:xfrm>
            <a:off x="923941" y="897747"/>
            <a:ext cx="138113" cy="452438"/>
          </a:xfrm>
          <a:custGeom>
            <a:avLst/>
            <a:gdLst>
              <a:gd name="connsiteX0" fmla="*/ 138113 w 138113"/>
              <a:gd name="connsiteY0" fmla="*/ 452438 h 452438"/>
              <a:gd name="connsiteX1" fmla="*/ 0 w 138113"/>
              <a:gd name="connsiteY1" fmla="*/ 0 h 4524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8113" h="452438">
                <a:moveTo>
                  <a:pt x="138113" y="452438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6" name="Freeform 45"/>
          <p:cNvSpPr/>
          <p:nvPr/>
        </p:nvSpPr>
        <p:spPr>
          <a:xfrm>
            <a:off x="1040622" y="426260"/>
            <a:ext cx="1728788" cy="847725"/>
          </a:xfrm>
          <a:custGeom>
            <a:avLst/>
            <a:gdLst>
              <a:gd name="connsiteX0" fmla="*/ 0 w 1728788"/>
              <a:gd name="connsiteY0" fmla="*/ 671512 h 847725"/>
              <a:gd name="connsiteX1" fmla="*/ 1728788 w 1728788"/>
              <a:gd name="connsiteY1" fmla="*/ 0 h 847725"/>
              <a:gd name="connsiteX2" fmla="*/ 423863 w 1728788"/>
              <a:gd name="connsiteY2" fmla="*/ 847725 h 847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728788" h="847725">
                <a:moveTo>
                  <a:pt x="0" y="671512"/>
                </a:moveTo>
                <a:lnTo>
                  <a:pt x="1728788" y="0"/>
                </a:lnTo>
                <a:lnTo>
                  <a:pt x="423863" y="847725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7" name="Freeform 46"/>
          <p:cNvSpPr/>
          <p:nvPr/>
        </p:nvSpPr>
        <p:spPr>
          <a:xfrm>
            <a:off x="2919429" y="1369235"/>
            <a:ext cx="1076325" cy="723900"/>
          </a:xfrm>
          <a:custGeom>
            <a:avLst/>
            <a:gdLst>
              <a:gd name="connsiteX0" fmla="*/ 0 w 1076325"/>
              <a:gd name="connsiteY0" fmla="*/ 723900 h 723900"/>
              <a:gd name="connsiteX1" fmla="*/ 1076325 w 1076325"/>
              <a:gd name="connsiteY1" fmla="*/ 0 h 723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76325" h="723900">
                <a:moveTo>
                  <a:pt x="0" y="723900"/>
                </a:moveTo>
                <a:lnTo>
                  <a:pt x="107632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8" name="Freeform 47"/>
          <p:cNvSpPr/>
          <p:nvPr/>
        </p:nvSpPr>
        <p:spPr>
          <a:xfrm>
            <a:off x="1492266" y="2670191"/>
            <a:ext cx="2936875" cy="69850"/>
          </a:xfrm>
          <a:custGeom>
            <a:avLst/>
            <a:gdLst>
              <a:gd name="connsiteX0" fmla="*/ 0 w 2936875"/>
              <a:gd name="connsiteY0" fmla="*/ 69850 h 69850"/>
              <a:gd name="connsiteX1" fmla="*/ 2936875 w 2936875"/>
              <a:gd name="connsiteY1" fmla="*/ 0 h 698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36875" h="69850">
                <a:moveTo>
                  <a:pt x="0" y="69850"/>
                </a:moveTo>
                <a:lnTo>
                  <a:pt x="293687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9" name="Freeform 48"/>
          <p:cNvSpPr/>
          <p:nvPr/>
        </p:nvSpPr>
        <p:spPr>
          <a:xfrm>
            <a:off x="1993916" y="3552841"/>
            <a:ext cx="2355850" cy="434975"/>
          </a:xfrm>
          <a:custGeom>
            <a:avLst/>
            <a:gdLst>
              <a:gd name="connsiteX0" fmla="*/ 0 w 2355850"/>
              <a:gd name="connsiteY0" fmla="*/ 434975 h 434975"/>
              <a:gd name="connsiteX1" fmla="*/ 2355850 w 2355850"/>
              <a:gd name="connsiteY1" fmla="*/ 0 h 434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355850" h="434975">
                <a:moveTo>
                  <a:pt x="0" y="434975"/>
                </a:moveTo>
                <a:lnTo>
                  <a:pt x="235585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50" name="Freeform 49"/>
          <p:cNvSpPr/>
          <p:nvPr/>
        </p:nvSpPr>
        <p:spPr>
          <a:xfrm>
            <a:off x="1905016" y="4552966"/>
            <a:ext cx="2092325" cy="155575"/>
          </a:xfrm>
          <a:custGeom>
            <a:avLst/>
            <a:gdLst>
              <a:gd name="connsiteX0" fmla="*/ 0 w 2092325"/>
              <a:gd name="connsiteY0" fmla="*/ 155575 h 155575"/>
              <a:gd name="connsiteX1" fmla="*/ 2092325 w 2092325"/>
              <a:gd name="connsiteY1" fmla="*/ 0 h 155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92325" h="155575">
                <a:moveTo>
                  <a:pt x="0" y="155575"/>
                </a:moveTo>
                <a:lnTo>
                  <a:pt x="209232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51" name="Freeform 50"/>
          <p:cNvSpPr/>
          <p:nvPr/>
        </p:nvSpPr>
        <p:spPr>
          <a:xfrm>
            <a:off x="2381266" y="5822966"/>
            <a:ext cx="660400" cy="60325"/>
          </a:xfrm>
          <a:custGeom>
            <a:avLst/>
            <a:gdLst>
              <a:gd name="connsiteX0" fmla="*/ 0 w 660400"/>
              <a:gd name="connsiteY0" fmla="*/ 0 h 60325"/>
              <a:gd name="connsiteX1" fmla="*/ 660400 w 660400"/>
              <a:gd name="connsiteY1" fmla="*/ 60325 h 603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60400" h="60325">
                <a:moveTo>
                  <a:pt x="0" y="0"/>
                </a:moveTo>
                <a:lnTo>
                  <a:pt x="660400" y="60325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52" name="Freeform 51"/>
          <p:cNvSpPr/>
          <p:nvPr/>
        </p:nvSpPr>
        <p:spPr>
          <a:xfrm>
            <a:off x="2350310" y="3017060"/>
            <a:ext cx="142875" cy="57150"/>
          </a:xfrm>
          <a:custGeom>
            <a:avLst/>
            <a:gdLst>
              <a:gd name="connsiteX0" fmla="*/ 0 w 142875"/>
              <a:gd name="connsiteY0" fmla="*/ 57150 h 57150"/>
              <a:gd name="connsiteX1" fmla="*/ 142875 w 142875"/>
              <a:gd name="connsiteY1" fmla="*/ 0 h 57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2875" h="57150">
                <a:moveTo>
                  <a:pt x="0" y="57150"/>
                </a:moveTo>
                <a:lnTo>
                  <a:pt x="14287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53" name="Freeform 52"/>
          <p:cNvSpPr/>
          <p:nvPr/>
        </p:nvSpPr>
        <p:spPr>
          <a:xfrm>
            <a:off x="921560" y="3019441"/>
            <a:ext cx="54769" cy="169069"/>
          </a:xfrm>
          <a:custGeom>
            <a:avLst/>
            <a:gdLst>
              <a:gd name="connsiteX0" fmla="*/ 0 w 54769"/>
              <a:gd name="connsiteY0" fmla="*/ 169069 h 169069"/>
              <a:gd name="connsiteX1" fmla="*/ 54769 w 54769"/>
              <a:gd name="connsiteY1" fmla="*/ 0 h 1690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4769" h="169069">
                <a:moveTo>
                  <a:pt x="0" y="169069"/>
                </a:moveTo>
                <a:lnTo>
                  <a:pt x="54769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328534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 err="1"/>
              <a:t>Hemocytes</a:t>
            </a:r>
            <a:r>
              <a:rPr lang="en-US" altLang="en-US" dirty="0"/>
              <a:t> also secrete antimicrobial peptides that disrupt the plasma membranes of fungi and bacteria</a:t>
            </a:r>
          </a:p>
          <a:p>
            <a:r>
              <a:rPr lang="en-US" altLang="en-US" dirty="0"/>
              <a:t>The immune system recognizes bacteria and fungi by structures on their cell walls</a:t>
            </a:r>
          </a:p>
          <a:p>
            <a:r>
              <a:rPr lang="en-US" altLang="en-US" dirty="0"/>
              <a:t>Insects also have defenses against viruses, based on recognition of double-stranded RNA</a:t>
            </a:r>
          </a:p>
          <a:p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3883170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94"/>
          <a:stretch>
            <a:fillRect/>
          </a:stretch>
        </p:blipFill>
        <p:spPr>
          <a:xfrm>
            <a:off x="298704" y="871728"/>
            <a:ext cx="8546592" cy="511454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47.4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5314954" y="958055"/>
            <a:ext cx="293670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Double-stranded viral RNA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756029" y="1540667"/>
            <a:ext cx="144911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Host defense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322266" y="1629567"/>
            <a:ext cx="152189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Viral infection</a:t>
            </a: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958854" y="2035967"/>
            <a:ext cx="110709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RNA virus</a:t>
            </a:r>
          </a:p>
        </p:txBody>
      </p:sp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1892304" y="2378867"/>
            <a:ext cx="130805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HOST CELL</a:t>
            </a:r>
          </a:p>
        </p:txBody>
      </p:sp>
      <p:sp>
        <p:nvSpPr>
          <p:cNvPr id="12" name="TextBox 8"/>
          <p:cNvSpPr txBox="1">
            <a:spLocks noChangeArrowheads="1"/>
          </p:cNvSpPr>
          <p:nvPr/>
        </p:nvSpPr>
        <p:spPr bwMode="auto">
          <a:xfrm>
            <a:off x="7599366" y="1677192"/>
            <a:ext cx="846386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Dicer-2</a:t>
            </a:r>
          </a:p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enzyme</a:t>
            </a:r>
          </a:p>
        </p:txBody>
      </p:sp>
      <p:sp>
        <p:nvSpPr>
          <p:cNvPr id="13" name="TextBox 10"/>
          <p:cNvSpPr txBox="1">
            <a:spLocks noChangeArrowheads="1"/>
          </p:cNvSpPr>
          <p:nvPr/>
        </p:nvSpPr>
        <p:spPr bwMode="auto">
          <a:xfrm>
            <a:off x="1517654" y="3164680"/>
            <a:ext cx="1060227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Viral RNA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genome</a:t>
            </a:r>
          </a:p>
        </p:txBody>
      </p:sp>
      <p:sp>
        <p:nvSpPr>
          <p:cNvPr id="14" name="TextBox 12"/>
          <p:cNvSpPr txBox="1">
            <a:spLocks noChangeArrowheads="1"/>
          </p:cNvSpPr>
          <p:nvPr/>
        </p:nvSpPr>
        <p:spPr bwMode="auto">
          <a:xfrm>
            <a:off x="4297366" y="2969417"/>
            <a:ext cx="1744067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Single-stranded</a:t>
            </a:r>
          </a:p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viral mRNA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7821616" y="2940842"/>
            <a:ext cx="936154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Argo</a:t>
            </a:r>
          </a:p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protein</a:t>
            </a:r>
          </a:p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complex</a:t>
            </a:r>
          </a:p>
        </p:txBody>
      </p:sp>
      <p:sp>
        <p:nvSpPr>
          <p:cNvPr id="18" name="TextBox 19"/>
          <p:cNvSpPr txBox="1">
            <a:spLocks noChangeArrowheads="1"/>
          </p:cNvSpPr>
          <p:nvPr/>
        </p:nvSpPr>
        <p:spPr bwMode="auto">
          <a:xfrm>
            <a:off x="3746504" y="5496717"/>
            <a:ext cx="130805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HOST CELL</a:t>
            </a:r>
          </a:p>
        </p:txBody>
      </p:sp>
      <p:grpSp>
        <p:nvGrpSpPr>
          <p:cNvPr id="25" name="Group 24"/>
          <p:cNvGrpSpPr/>
          <p:nvPr/>
        </p:nvGrpSpPr>
        <p:grpSpPr>
          <a:xfrm>
            <a:off x="6888955" y="3108326"/>
            <a:ext cx="192024" cy="230832"/>
            <a:chOff x="6888955" y="3108326"/>
            <a:chExt cx="192024" cy="230832"/>
          </a:xfrm>
        </p:grpSpPr>
        <p:sp>
          <p:nvSpPr>
            <p:cNvPr id="19" name="Oval 18"/>
            <p:cNvSpPr/>
            <p:nvPr/>
          </p:nvSpPr>
          <p:spPr bwMode="auto">
            <a:xfrm>
              <a:off x="6888955" y="3127730"/>
              <a:ext cx="192024" cy="192024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20" name="TextBox 19"/>
            <p:cNvSpPr txBox="1">
              <a:spLocks noChangeArrowheads="1"/>
            </p:cNvSpPr>
            <p:nvPr/>
          </p:nvSpPr>
          <p:spPr bwMode="auto">
            <a:xfrm>
              <a:off x="6928060" y="3108326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182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2</a:t>
              </a:r>
            </a:p>
          </p:txBody>
        </p:sp>
      </p:grpSp>
      <p:grpSp>
        <p:nvGrpSpPr>
          <p:cNvPr id="26" name="Group 25"/>
          <p:cNvGrpSpPr/>
          <p:nvPr/>
        </p:nvGrpSpPr>
        <p:grpSpPr>
          <a:xfrm>
            <a:off x="6499858" y="4582798"/>
            <a:ext cx="192024" cy="230832"/>
            <a:chOff x="6888955" y="3108326"/>
            <a:chExt cx="192024" cy="230832"/>
          </a:xfrm>
        </p:grpSpPr>
        <p:sp>
          <p:nvSpPr>
            <p:cNvPr id="27" name="Oval 26"/>
            <p:cNvSpPr/>
            <p:nvPr/>
          </p:nvSpPr>
          <p:spPr bwMode="auto">
            <a:xfrm>
              <a:off x="6888955" y="3127730"/>
              <a:ext cx="192024" cy="192024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28" name="TextBox 27"/>
            <p:cNvSpPr txBox="1">
              <a:spLocks noChangeArrowheads="1"/>
            </p:cNvSpPr>
            <p:nvPr/>
          </p:nvSpPr>
          <p:spPr bwMode="auto">
            <a:xfrm>
              <a:off x="6928060" y="3108326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182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3</a:t>
              </a:r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6896097" y="1662914"/>
            <a:ext cx="192024" cy="230832"/>
            <a:chOff x="6888955" y="3108326"/>
            <a:chExt cx="192024" cy="230832"/>
          </a:xfrm>
        </p:grpSpPr>
        <p:sp>
          <p:nvSpPr>
            <p:cNvPr id="30" name="Oval 29"/>
            <p:cNvSpPr/>
            <p:nvPr/>
          </p:nvSpPr>
          <p:spPr bwMode="auto">
            <a:xfrm>
              <a:off x="6888955" y="3127730"/>
              <a:ext cx="192024" cy="192024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31" name="TextBox 30"/>
            <p:cNvSpPr txBox="1">
              <a:spLocks noChangeArrowheads="1"/>
            </p:cNvSpPr>
            <p:nvPr/>
          </p:nvSpPr>
          <p:spPr bwMode="auto">
            <a:xfrm>
              <a:off x="6928060" y="3108326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182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1</a:t>
              </a:r>
            </a:p>
          </p:txBody>
        </p:sp>
      </p:grpSp>
      <p:sp>
        <p:nvSpPr>
          <p:cNvPr id="32" name="Freeform 31"/>
          <p:cNvSpPr/>
          <p:nvPr/>
        </p:nvSpPr>
        <p:spPr>
          <a:xfrm>
            <a:off x="2433638" y="3115151"/>
            <a:ext cx="147637" cy="52388"/>
          </a:xfrm>
          <a:custGeom>
            <a:avLst/>
            <a:gdLst>
              <a:gd name="connsiteX0" fmla="*/ 0 w 147637"/>
              <a:gd name="connsiteY0" fmla="*/ 52388 h 52388"/>
              <a:gd name="connsiteX1" fmla="*/ 147637 w 147637"/>
              <a:gd name="connsiteY1" fmla="*/ 0 h 52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7637" h="52388">
                <a:moveTo>
                  <a:pt x="0" y="52388"/>
                </a:moveTo>
                <a:lnTo>
                  <a:pt x="147637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3619429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Innate Immunity of Vertebrates</a:t>
            </a:r>
            <a:endParaRPr lang="en-US" altLang="en-US" dirty="0"/>
          </a:p>
        </p:txBody>
      </p:sp>
      <p:sp>
        <p:nvSpPr>
          <p:cNvPr id="389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Innate defenses of mammals are similar to those of invertebrates</a:t>
            </a:r>
          </a:p>
          <a:p>
            <a:r>
              <a:rPr lang="en-US" altLang="en-US" dirty="0"/>
              <a:t>These include barrier defenses, phagocytosis, and antimicrobial peptides</a:t>
            </a:r>
          </a:p>
          <a:p>
            <a:r>
              <a:rPr lang="en-US" altLang="en-US" dirty="0"/>
              <a:t>Additional defenses unique to vertebrates are natural killer cells, </a:t>
            </a:r>
            <a:r>
              <a:rPr lang="en-US" altLang="en-US" dirty="0" err="1"/>
              <a:t>interferons</a:t>
            </a:r>
            <a:r>
              <a:rPr lang="en-US" altLang="en-US" dirty="0"/>
              <a:t>, and the inflammatory response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86100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Barrier Defenses</a:t>
            </a:r>
            <a:endParaRPr lang="en-US" altLang="en-US" dirty="0"/>
          </a:p>
        </p:txBody>
      </p:sp>
      <p:sp>
        <p:nvSpPr>
          <p:cNvPr id="399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Barrier defenses include the skin and mucous membranes of the respiratory, urinary, and reproductive tracts</a:t>
            </a:r>
          </a:p>
          <a:p>
            <a:r>
              <a:rPr lang="en-US" altLang="en-US"/>
              <a:t>Mucus traps and allows for the removal of microbes</a:t>
            </a:r>
          </a:p>
          <a:p>
            <a:r>
              <a:rPr lang="en-US" altLang="en-US"/>
              <a:t>Many body fluids including saliva, mucus, and tears are hostile to many microbes</a:t>
            </a:r>
          </a:p>
          <a:p>
            <a:r>
              <a:rPr lang="en-US" altLang="en-US"/>
              <a:t>The low pH of skin and the digestive system prevents growth of many bacteria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10053592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Cellular Innate Defenses</a:t>
            </a:r>
            <a:endParaRPr lang="en-US" altLang="en-US" dirty="0"/>
          </a:p>
        </p:txBody>
      </p:sp>
      <p:sp>
        <p:nvSpPr>
          <p:cNvPr id="409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Innate immune cells in mammals detect, devour, and destroy invading pathogens</a:t>
            </a:r>
          </a:p>
          <a:p>
            <a:r>
              <a:rPr lang="en-US" altLang="en-US" dirty="0"/>
              <a:t>These cells recognize groups of pathogens using </a:t>
            </a:r>
            <a:r>
              <a:rPr lang="en-US" altLang="en-US" b="1" dirty="0"/>
              <a:t>TLRs</a:t>
            </a:r>
            <a:r>
              <a:rPr lang="en-US" altLang="en-US" dirty="0"/>
              <a:t>, or </a:t>
            </a:r>
            <a:r>
              <a:rPr lang="en-US" altLang="en-US" b="1" dirty="0"/>
              <a:t>Toll-like receptors</a:t>
            </a:r>
          </a:p>
          <a:p>
            <a:r>
              <a:rPr lang="en-US" altLang="en-US" dirty="0"/>
              <a:t>TLRs recognize fragments of molecules characteristic of a set of pathogens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3591856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1798320" y="213360"/>
            <a:ext cx="5547360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47.5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880389" y="280193"/>
            <a:ext cx="2026196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EXTRACELLULAR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FLUID</a:t>
            </a: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3301201" y="577849"/>
            <a:ext cx="216726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Lipopolysaccharide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3454396" y="976312"/>
            <a:ext cx="782265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Helper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protein</a:t>
            </a: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6069008" y="1165224"/>
            <a:ext cx="93615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Flagellin</a:t>
            </a:r>
            <a:endParaRPr lang="en-US" sz="18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</p:txBody>
      </p:sp>
      <p:sp>
        <p:nvSpPr>
          <p:cNvPr id="10" name="TextBox 8"/>
          <p:cNvSpPr txBox="1">
            <a:spLocks noChangeArrowheads="1"/>
          </p:cNvSpPr>
          <p:nvPr/>
        </p:nvSpPr>
        <p:spPr bwMode="auto">
          <a:xfrm>
            <a:off x="5146671" y="1403349"/>
            <a:ext cx="57708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TLR4</a:t>
            </a:r>
          </a:p>
        </p:txBody>
      </p:sp>
      <p:sp>
        <p:nvSpPr>
          <p:cNvPr id="11" name="TextBox 9"/>
          <p:cNvSpPr txBox="1">
            <a:spLocks noChangeArrowheads="1"/>
          </p:cNvSpPr>
          <p:nvPr/>
        </p:nvSpPr>
        <p:spPr bwMode="auto">
          <a:xfrm>
            <a:off x="1880389" y="2171699"/>
            <a:ext cx="220573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PHAGOCYTIC CELL</a:t>
            </a:r>
          </a:p>
        </p:txBody>
      </p:sp>
      <p:sp>
        <p:nvSpPr>
          <p:cNvPr id="12" name="TextBox 10"/>
          <p:cNvSpPr txBox="1">
            <a:spLocks noChangeArrowheads="1"/>
          </p:cNvSpPr>
          <p:nvPr/>
        </p:nvSpPr>
        <p:spPr bwMode="auto">
          <a:xfrm>
            <a:off x="6601614" y="2357437"/>
            <a:ext cx="57708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TLR5</a:t>
            </a:r>
          </a:p>
        </p:txBody>
      </p:sp>
      <p:sp>
        <p:nvSpPr>
          <p:cNvPr id="13" name="TextBox 11"/>
          <p:cNvSpPr txBox="1">
            <a:spLocks noChangeArrowheads="1"/>
          </p:cNvSpPr>
          <p:nvPr/>
        </p:nvSpPr>
        <p:spPr bwMode="auto">
          <a:xfrm>
            <a:off x="2957508" y="3799681"/>
            <a:ext cx="500137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CpG</a:t>
            </a:r>
            <a:endParaRPr lang="en-US" sz="18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DNA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322633" y="4598987"/>
            <a:ext cx="57708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TLR9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285996" y="4906962"/>
            <a:ext cx="98745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VESICLE</a:t>
            </a:r>
          </a:p>
        </p:txBody>
      </p:sp>
      <p:sp>
        <p:nvSpPr>
          <p:cNvPr id="16" name="TextBox 15"/>
          <p:cNvSpPr txBox="1">
            <a:spLocks noChangeArrowheads="1"/>
          </p:cNvSpPr>
          <p:nvPr/>
        </p:nvSpPr>
        <p:spPr bwMode="auto">
          <a:xfrm>
            <a:off x="2914645" y="5346699"/>
            <a:ext cx="76944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dsRNA</a:t>
            </a:r>
            <a:endParaRPr lang="en-US" sz="18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</p:txBody>
      </p:sp>
      <p:sp>
        <p:nvSpPr>
          <p:cNvPr id="17" name="TextBox 16"/>
          <p:cNvSpPr txBox="1">
            <a:spLocks noChangeArrowheads="1"/>
          </p:cNvSpPr>
          <p:nvPr/>
        </p:nvSpPr>
        <p:spPr bwMode="auto">
          <a:xfrm>
            <a:off x="4259259" y="5586412"/>
            <a:ext cx="57708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TLR3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5576883" y="4686299"/>
            <a:ext cx="1628651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Innate immune</a:t>
            </a:r>
          </a:p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responses</a:t>
            </a:r>
          </a:p>
        </p:txBody>
      </p:sp>
      <p:sp>
        <p:nvSpPr>
          <p:cNvPr id="19" name="Freeform 18"/>
          <p:cNvSpPr/>
          <p:nvPr/>
        </p:nvSpPr>
        <p:spPr>
          <a:xfrm>
            <a:off x="4383881" y="823913"/>
            <a:ext cx="192882" cy="283368"/>
          </a:xfrm>
          <a:custGeom>
            <a:avLst/>
            <a:gdLst>
              <a:gd name="connsiteX0" fmla="*/ 0 w 192882"/>
              <a:gd name="connsiteY0" fmla="*/ 0 h 283368"/>
              <a:gd name="connsiteX1" fmla="*/ 192882 w 192882"/>
              <a:gd name="connsiteY1" fmla="*/ 283368 h 2833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2882" h="283368">
                <a:moveTo>
                  <a:pt x="0" y="0"/>
                </a:moveTo>
                <a:lnTo>
                  <a:pt x="192882" y="283368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4207669" y="1147763"/>
            <a:ext cx="200025" cy="0"/>
          </a:xfrm>
          <a:custGeom>
            <a:avLst/>
            <a:gdLst>
              <a:gd name="connsiteX0" fmla="*/ 0 w 200025"/>
              <a:gd name="connsiteY0" fmla="*/ 0 h 0"/>
              <a:gd name="connsiteX1" fmla="*/ 200025 w 20002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025">
                <a:moveTo>
                  <a:pt x="0" y="0"/>
                </a:moveTo>
                <a:lnTo>
                  <a:pt x="20002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4917281" y="1543050"/>
            <a:ext cx="200025" cy="0"/>
          </a:xfrm>
          <a:custGeom>
            <a:avLst/>
            <a:gdLst>
              <a:gd name="connsiteX0" fmla="*/ 0 w 200025"/>
              <a:gd name="connsiteY0" fmla="*/ 0 h 0"/>
              <a:gd name="connsiteX1" fmla="*/ 200025 w 20002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025">
                <a:moveTo>
                  <a:pt x="0" y="0"/>
                </a:moveTo>
                <a:lnTo>
                  <a:pt x="20002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6593681" y="1433513"/>
            <a:ext cx="92869" cy="197643"/>
          </a:xfrm>
          <a:custGeom>
            <a:avLst/>
            <a:gdLst>
              <a:gd name="connsiteX0" fmla="*/ 0 w 92869"/>
              <a:gd name="connsiteY0" fmla="*/ 0 h 197643"/>
              <a:gd name="connsiteX1" fmla="*/ 92869 w 92869"/>
              <a:gd name="connsiteY1" fmla="*/ 197643 h 1976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2869" h="197643">
                <a:moveTo>
                  <a:pt x="0" y="0"/>
                </a:moveTo>
                <a:lnTo>
                  <a:pt x="92869" y="197643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3" name="Freeform 22"/>
          <p:cNvSpPr/>
          <p:nvPr/>
        </p:nvSpPr>
        <p:spPr>
          <a:xfrm>
            <a:off x="6374606" y="2478881"/>
            <a:ext cx="200025" cy="0"/>
          </a:xfrm>
          <a:custGeom>
            <a:avLst/>
            <a:gdLst>
              <a:gd name="connsiteX0" fmla="*/ 0 w 200025"/>
              <a:gd name="connsiteY0" fmla="*/ 0 h 0"/>
              <a:gd name="connsiteX1" fmla="*/ 200025 w 20002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025">
                <a:moveTo>
                  <a:pt x="0" y="0"/>
                </a:moveTo>
                <a:lnTo>
                  <a:pt x="20002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3467100" y="3907631"/>
            <a:ext cx="197644" cy="0"/>
          </a:xfrm>
          <a:custGeom>
            <a:avLst/>
            <a:gdLst>
              <a:gd name="connsiteX0" fmla="*/ 0 w 197644"/>
              <a:gd name="connsiteY0" fmla="*/ 0 h 0"/>
              <a:gd name="connsiteX1" fmla="*/ 197644 w 197644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7644">
                <a:moveTo>
                  <a:pt x="0" y="0"/>
                </a:moveTo>
                <a:lnTo>
                  <a:pt x="197644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3712369" y="4436269"/>
            <a:ext cx="157162" cy="145256"/>
          </a:xfrm>
          <a:custGeom>
            <a:avLst/>
            <a:gdLst>
              <a:gd name="connsiteX0" fmla="*/ 0 w 157162"/>
              <a:gd name="connsiteY0" fmla="*/ 145256 h 145256"/>
              <a:gd name="connsiteX1" fmla="*/ 157162 w 157162"/>
              <a:gd name="connsiteY1" fmla="*/ 0 h 1452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7162" h="145256">
                <a:moveTo>
                  <a:pt x="0" y="145256"/>
                </a:moveTo>
                <a:lnTo>
                  <a:pt x="157162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4541044" y="5391150"/>
            <a:ext cx="0" cy="202406"/>
          </a:xfrm>
          <a:custGeom>
            <a:avLst/>
            <a:gdLst>
              <a:gd name="connsiteX0" fmla="*/ 0 w 0"/>
              <a:gd name="connsiteY0" fmla="*/ 0 h 202406"/>
              <a:gd name="connsiteX1" fmla="*/ 0 w 0"/>
              <a:gd name="connsiteY1" fmla="*/ 202406 h 2024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02406">
                <a:moveTo>
                  <a:pt x="0" y="0"/>
                </a:moveTo>
                <a:lnTo>
                  <a:pt x="0" y="202406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3707606" y="5486400"/>
            <a:ext cx="302419" cy="0"/>
          </a:xfrm>
          <a:custGeom>
            <a:avLst/>
            <a:gdLst>
              <a:gd name="connsiteX0" fmla="*/ 0 w 302419"/>
              <a:gd name="connsiteY0" fmla="*/ 0 h 0"/>
              <a:gd name="connsiteX1" fmla="*/ 302419 w 302419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2419">
                <a:moveTo>
                  <a:pt x="0" y="0"/>
                </a:moveTo>
                <a:lnTo>
                  <a:pt x="302419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695016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There are two main types of phagocytic cells, which engulf and destroy pathogens, in the mammalian body:</a:t>
            </a:r>
          </a:p>
          <a:p>
            <a:pPr lvl="1"/>
            <a:r>
              <a:rPr lang="en-US" altLang="en-US" b="1" dirty="0"/>
              <a:t>Neutrophils</a:t>
            </a:r>
            <a:r>
              <a:rPr lang="en-US" altLang="en-US" dirty="0"/>
              <a:t> circulate in the blood</a:t>
            </a:r>
          </a:p>
          <a:p>
            <a:pPr lvl="1"/>
            <a:r>
              <a:rPr lang="en-US" altLang="en-US" b="1" dirty="0"/>
              <a:t>Macrophages</a:t>
            </a:r>
            <a:r>
              <a:rPr lang="en-US" altLang="en-US" dirty="0"/>
              <a:t> migrate through the body or reside permanently in organs and tissues</a:t>
            </a:r>
          </a:p>
          <a:p>
            <a:r>
              <a:rPr lang="en-US" altLang="en-US" dirty="0"/>
              <a:t>There are two additional types of phagocytic cells:</a:t>
            </a:r>
          </a:p>
          <a:p>
            <a:pPr lvl="1"/>
            <a:r>
              <a:rPr lang="en-US" altLang="en-US" b="1" dirty="0"/>
              <a:t>Dendritic cells</a:t>
            </a:r>
            <a:r>
              <a:rPr lang="en-US" altLang="en-US" dirty="0"/>
              <a:t> stimulate development of adaptive immunity</a:t>
            </a:r>
          </a:p>
          <a:p>
            <a:pPr lvl="1"/>
            <a:r>
              <a:rPr lang="en-US" altLang="en-US" dirty="0" err="1"/>
              <a:t>Eosinophils</a:t>
            </a:r>
            <a:r>
              <a:rPr lang="en-US" altLang="en-US" dirty="0"/>
              <a:t> discharge destructive enzymes against parasites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52657804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Cellular innate defenses in vertebrates also </a:t>
            </a:r>
            <a:r>
              <a:rPr lang="en-US" altLang="en-US"/>
              <a:t>involve </a:t>
            </a:r>
            <a:r>
              <a:rPr lang="en-US" altLang="en-US" b="1"/>
              <a:t>natural </a:t>
            </a:r>
            <a:r>
              <a:rPr lang="en-US" altLang="en-US" b="1" dirty="0"/>
              <a:t>killer cells</a:t>
            </a:r>
          </a:p>
          <a:p>
            <a:r>
              <a:rPr lang="en-US" altLang="en-US"/>
              <a:t>These </a:t>
            </a:r>
            <a:r>
              <a:rPr lang="en-US" altLang="en-US" dirty="0"/>
              <a:t>circulate through the body and detect abnormal cells</a:t>
            </a:r>
          </a:p>
          <a:p>
            <a:r>
              <a:rPr lang="en-US" altLang="en-US" dirty="0"/>
              <a:t>They release chemicals leading to cell death, inhibiting the spread of virally infected or cancerous cells</a:t>
            </a:r>
          </a:p>
          <a:p>
            <a:r>
              <a:rPr lang="en-US" altLang="en-US" dirty="0"/>
              <a:t>Many cellular innate defenses involve the lymphatic system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36755728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81"/>
          <a:stretch>
            <a:fillRect/>
          </a:stretch>
        </p:blipFill>
        <p:spPr>
          <a:xfrm>
            <a:off x="298704" y="304800"/>
            <a:ext cx="8546592" cy="62484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47.6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5653084" y="307182"/>
            <a:ext cx="93615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Blood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capillary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600572" y="1815307"/>
            <a:ext cx="1145570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Lymphatic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vessels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600072" y="2472532"/>
            <a:ext cx="88485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Thymus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5992809" y="2764632"/>
            <a:ext cx="72680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Tissue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cells</a:t>
            </a:r>
          </a:p>
        </p:txBody>
      </p:sp>
      <p:sp>
        <p:nvSpPr>
          <p:cNvPr id="11" name="TextBox 11"/>
          <p:cNvSpPr txBox="1">
            <a:spLocks noChangeArrowheads="1"/>
          </p:cNvSpPr>
          <p:nvPr/>
        </p:nvSpPr>
        <p:spPr bwMode="auto">
          <a:xfrm>
            <a:off x="338134" y="3631407"/>
            <a:ext cx="1025922" cy="1025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Peyer’s</a:t>
            </a:r>
            <a:endParaRPr lang="en-US" sz="18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patches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(in small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intestine)</a:t>
            </a:r>
          </a:p>
        </p:txBody>
      </p:sp>
      <p:sp>
        <p:nvSpPr>
          <p:cNvPr id="12" name="TextBox 15"/>
          <p:cNvSpPr txBox="1">
            <a:spLocks noChangeArrowheads="1"/>
          </p:cNvSpPr>
          <p:nvPr/>
        </p:nvSpPr>
        <p:spPr bwMode="auto">
          <a:xfrm>
            <a:off x="4899022" y="3586957"/>
            <a:ext cx="75661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Spleen</a:t>
            </a:r>
          </a:p>
        </p:txBody>
      </p:sp>
      <p:sp>
        <p:nvSpPr>
          <p:cNvPr id="13" name="TextBox 16"/>
          <p:cNvSpPr txBox="1">
            <a:spLocks noChangeArrowheads="1"/>
          </p:cNvSpPr>
          <p:nvPr/>
        </p:nvSpPr>
        <p:spPr bwMode="auto">
          <a:xfrm>
            <a:off x="4899022" y="4315620"/>
            <a:ext cx="748025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Lymph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nodes</a:t>
            </a:r>
          </a:p>
        </p:txBody>
      </p:sp>
      <p:sp>
        <p:nvSpPr>
          <p:cNvPr id="14" name="TextBox 18"/>
          <p:cNvSpPr txBox="1">
            <a:spLocks noChangeArrowheads="1"/>
          </p:cNvSpPr>
          <p:nvPr/>
        </p:nvSpPr>
        <p:spPr bwMode="auto">
          <a:xfrm>
            <a:off x="7181053" y="305594"/>
            <a:ext cx="165429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Interstitial fluid</a:t>
            </a:r>
          </a:p>
        </p:txBody>
      </p:sp>
      <p:sp>
        <p:nvSpPr>
          <p:cNvPr id="15" name="TextBox 19"/>
          <p:cNvSpPr txBox="1">
            <a:spLocks noChangeArrowheads="1"/>
          </p:cNvSpPr>
          <p:nvPr/>
        </p:nvSpPr>
        <p:spPr bwMode="auto">
          <a:xfrm>
            <a:off x="7237409" y="2745582"/>
            <a:ext cx="1145570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Lymphatic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vessel</a:t>
            </a:r>
          </a:p>
        </p:txBody>
      </p:sp>
      <p:sp>
        <p:nvSpPr>
          <p:cNvPr id="16" name="TextBox 21"/>
          <p:cNvSpPr txBox="1">
            <a:spLocks noChangeArrowheads="1"/>
          </p:cNvSpPr>
          <p:nvPr/>
        </p:nvSpPr>
        <p:spPr bwMode="auto">
          <a:xfrm>
            <a:off x="7475534" y="3317082"/>
            <a:ext cx="1145570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Lymphatic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vessel</a:t>
            </a:r>
          </a:p>
        </p:txBody>
      </p:sp>
      <p:sp>
        <p:nvSpPr>
          <p:cNvPr id="17" name="TextBox 23"/>
          <p:cNvSpPr txBox="1">
            <a:spLocks noChangeArrowheads="1"/>
          </p:cNvSpPr>
          <p:nvPr/>
        </p:nvSpPr>
        <p:spPr bwMode="auto">
          <a:xfrm>
            <a:off x="338134" y="4890295"/>
            <a:ext cx="1051570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Appendix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(cecum)</a:t>
            </a:r>
          </a:p>
        </p:txBody>
      </p:sp>
      <p:sp>
        <p:nvSpPr>
          <p:cNvPr id="18" name="TextBox 25"/>
          <p:cNvSpPr txBox="1">
            <a:spLocks noChangeArrowheads="1"/>
          </p:cNvSpPr>
          <p:nvPr/>
        </p:nvSpPr>
        <p:spPr bwMode="auto">
          <a:xfrm>
            <a:off x="4957759" y="5699920"/>
            <a:ext cx="136357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Lymph node</a:t>
            </a:r>
          </a:p>
        </p:txBody>
      </p:sp>
      <p:sp>
        <p:nvSpPr>
          <p:cNvPr id="19" name="TextBox 26"/>
          <p:cNvSpPr txBox="1">
            <a:spLocks noChangeArrowheads="1"/>
          </p:cNvSpPr>
          <p:nvPr/>
        </p:nvSpPr>
        <p:spPr bwMode="auto">
          <a:xfrm>
            <a:off x="7194547" y="6050757"/>
            <a:ext cx="1641475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Masses of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defensive cells</a:t>
            </a:r>
          </a:p>
        </p:txBody>
      </p:sp>
      <p:sp>
        <p:nvSpPr>
          <p:cNvPr id="20" name="TextBox 4"/>
          <p:cNvSpPr txBox="1">
            <a:spLocks noChangeArrowheads="1"/>
          </p:cNvSpPr>
          <p:nvPr/>
        </p:nvSpPr>
        <p:spPr bwMode="auto">
          <a:xfrm>
            <a:off x="4397372" y="1059657"/>
            <a:ext cx="92333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Adenoid</a:t>
            </a:r>
          </a:p>
        </p:txBody>
      </p:sp>
      <p:sp>
        <p:nvSpPr>
          <p:cNvPr id="21" name="TextBox 5"/>
          <p:cNvSpPr txBox="1">
            <a:spLocks noChangeArrowheads="1"/>
          </p:cNvSpPr>
          <p:nvPr/>
        </p:nvSpPr>
        <p:spPr bwMode="auto">
          <a:xfrm>
            <a:off x="4399753" y="1351757"/>
            <a:ext cx="79079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Tonsils</a:t>
            </a:r>
          </a:p>
        </p:txBody>
      </p:sp>
      <p:sp>
        <p:nvSpPr>
          <p:cNvPr id="22" name="Freeform 21"/>
          <p:cNvSpPr/>
          <p:nvPr/>
        </p:nvSpPr>
        <p:spPr>
          <a:xfrm>
            <a:off x="7508081" y="566738"/>
            <a:ext cx="330994" cy="340518"/>
          </a:xfrm>
          <a:custGeom>
            <a:avLst/>
            <a:gdLst>
              <a:gd name="connsiteX0" fmla="*/ 0 w 330994"/>
              <a:gd name="connsiteY0" fmla="*/ 340518 h 340518"/>
              <a:gd name="connsiteX1" fmla="*/ 330994 w 330994"/>
              <a:gd name="connsiteY1" fmla="*/ 0 h 34051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0994" h="340518">
                <a:moveTo>
                  <a:pt x="0" y="340518"/>
                </a:moveTo>
                <a:lnTo>
                  <a:pt x="330994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3" name="Freeform 22"/>
          <p:cNvSpPr/>
          <p:nvPr/>
        </p:nvSpPr>
        <p:spPr>
          <a:xfrm>
            <a:off x="6079331" y="847725"/>
            <a:ext cx="533400" cy="547688"/>
          </a:xfrm>
          <a:custGeom>
            <a:avLst/>
            <a:gdLst>
              <a:gd name="connsiteX0" fmla="*/ 0 w 533400"/>
              <a:gd name="connsiteY0" fmla="*/ 0 h 547688"/>
              <a:gd name="connsiteX1" fmla="*/ 533400 w 533400"/>
              <a:gd name="connsiteY1" fmla="*/ 547688 h 5476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3400" h="547688">
                <a:moveTo>
                  <a:pt x="0" y="0"/>
                </a:moveTo>
                <a:lnTo>
                  <a:pt x="533400" y="547688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3195638" y="1209675"/>
            <a:ext cx="1159668" cy="133350"/>
          </a:xfrm>
          <a:custGeom>
            <a:avLst/>
            <a:gdLst>
              <a:gd name="connsiteX0" fmla="*/ 0 w 1159668"/>
              <a:gd name="connsiteY0" fmla="*/ 133350 h 133350"/>
              <a:gd name="connsiteX1" fmla="*/ 1159668 w 1159668"/>
              <a:gd name="connsiteY1" fmla="*/ 0 h 133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59668" h="133350">
                <a:moveTo>
                  <a:pt x="0" y="133350"/>
                </a:moveTo>
                <a:lnTo>
                  <a:pt x="1159668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3348038" y="1433513"/>
            <a:ext cx="981075" cy="121443"/>
          </a:xfrm>
          <a:custGeom>
            <a:avLst/>
            <a:gdLst>
              <a:gd name="connsiteX0" fmla="*/ 57150 w 981075"/>
              <a:gd name="connsiteY0" fmla="*/ 0 h 121443"/>
              <a:gd name="connsiteX1" fmla="*/ 981075 w 981075"/>
              <a:gd name="connsiteY1" fmla="*/ 57150 h 121443"/>
              <a:gd name="connsiteX2" fmla="*/ 0 w 981075"/>
              <a:gd name="connsiteY2" fmla="*/ 121443 h 12144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81075" h="121443">
                <a:moveTo>
                  <a:pt x="57150" y="0"/>
                </a:moveTo>
                <a:lnTo>
                  <a:pt x="981075" y="57150"/>
                </a:lnTo>
                <a:lnTo>
                  <a:pt x="0" y="121443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4202906" y="1971675"/>
            <a:ext cx="373857" cy="428625"/>
          </a:xfrm>
          <a:custGeom>
            <a:avLst/>
            <a:gdLst>
              <a:gd name="connsiteX0" fmla="*/ 0 w 373857"/>
              <a:gd name="connsiteY0" fmla="*/ 276225 h 428625"/>
              <a:gd name="connsiteX1" fmla="*/ 373857 w 373857"/>
              <a:gd name="connsiteY1" fmla="*/ 0 h 428625"/>
              <a:gd name="connsiteX2" fmla="*/ 190500 w 373857"/>
              <a:gd name="connsiteY2" fmla="*/ 428625 h 428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73857" h="428625">
                <a:moveTo>
                  <a:pt x="0" y="276225"/>
                </a:moveTo>
                <a:lnTo>
                  <a:pt x="373857" y="0"/>
                </a:lnTo>
                <a:lnTo>
                  <a:pt x="190500" y="428625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1524000" y="2320925"/>
            <a:ext cx="1616075" cy="301625"/>
          </a:xfrm>
          <a:custGeom>
            <a:avLst/>
            <a:gdLst>
              <a:gd name="connsiteX0" fmla="*/ 0 w 1616075"/>
              <a:gd name="connsiteY0" fmla="*/ 301625 h 301625"/>
              <a:gd name="connsiteX1" fmla="*/ 1616075 w 1616075"/>
              <a:gd name="connsiteY1" fmla="*/ 0 h 30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16075" h="301625">
                <a:moveTo>
                  <a:pt x="0" y="301625"/>
                </a:moveTo>
                <a:lnTo>
                  <a:pt x="161607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3902869" y="3702844"/>
            <a:ext cx="947737" cy="0"/>
          </a:xfrm>
          <a:custGeom>
            <a:avLst/>
            <a:gdLst>
              <a:gd name="connsiteX0" fmla="*/ 0 w 947737"/>
              <a:gd name="connsiteY0" fmla="*/ 0 h 0"/>
              <a:gd name="connsiteX1" fmla="*/ 947737 w 94773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47737">
                <a:moveTo>
                  <a:pt x="0" y="0"/>
                </a:moveTo>
                <a:lnTo>
                  <a:pt x="947737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3707606" y="4462463"/>
            <a:ext cx="1143000" cy="266700"/>
          </a:xfrm>
          <a:custGeom>
            <a:avLst/>
            <a:gdLst>
              <a:gd name="connsiteX0" fmla="*/ 14288 w 1143000"/>
              <a:gd name="connsiteY0" fmla="*/ 0 h 266700"/>
              <a:gd name="connsiteX1" fmla="*/ 1143000 w 1143000"/>
              <a:gd name="connsiteY1" fmla="*/ 0 h 266700"/>
              <a:gd name="connsiteX2" fmla="*/ 0 w 1143000"/>
              <a:gd name="connsiteY2" fmla="*/ 266700 h 266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43000" h="266700">
                <a:moveTo>
                  <a:pt x="14288" y="0"/>
                </a:moveTo>
                <a:lnTo>
                  <a:pt x="1143000" y="0"/>
                </a:lnTo>
                <a:lnTo>
                  <a:pt x="0" y="26670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6715125" y="2109788"/>
            <a:ext cx="261938" cy="781050"/>
          </a:xfrm>
          <a:custGeom>
            <a:avLst/>
            <a:gdLst>
              <a:gd name="connsiteX0" fmla="*/ 0 w 261938"/>
              <a:gd name="connsiteY0" fmla="*/ 30956 h 781050"/>
              <a:gd name="connsiteX1" fmla="*/ 38100 w 261938"/>
              <a:gd name="connsiteY1" fmla="*/ 781050 h 781050"/>
              <a:gd name="connsiteX2" fmla="*/ 261938 w 261938"/>
              <a:gd name="connsiteY2" fmla="*/ 0 h 781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61938" h="781050">
                <a:moveTo>
                  <a:pt x="0" y="30956"/>
                </a:moveTo>
                <a:lnTo>
                  <a:pt x="38100" y="781050"/>
                </a:lnTo>
                <a:lnTo>
                  <a:pt x="261938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7805738" y="2426494"/>
            <a:ext cx="0" cy="288131"/>
          </a:xfrm>
          <a:custGeom>
            <a:avLst/>
            <a:gdLst>
              <a:gd name="connsiteX0" fmla="*/ 0 w 0"/>
              <a:gd name="connsiteY0" fmla="*/ 0 h 288131"/>
              <a:gd name="connsiteX1" fmla="*/ 0 w 0"/>
              <a:gd name="connsiteY1" fmla="*/ 288131 h 288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88131">
                <a:moveTo>
                  <a:pt x="0" y="0"/>
                </a:moveTo>
                <a:lnTo>
                  <a:pt x="0" y="288131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7112794" y="3490913"/>
            <a:ext cx="300037" cy="254793"/>
          </a:xfrm>
          <a:custGeom>
            <a:avLst/>
            <a:gdLst>
              <a:gd name="connsiteX0" fmla="*/ 0 w 300037"/>
              <a:gd name="connsiteY0" fmla="*/ 254793 h 254793"/>
              <a:gd name="connsiteX1" fmla="*/ 300037 w 300037"/>
              <a:gd name="connsiteY1" fmla="*/ 0 h 25479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037" h="254793">
                <a:moveTo>
                  <a:pt x="0" y="254793"/>
                </a:moveTo>
                <a:lnTo>
                  <a:pt x="300037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7448550" y="5448300"/>
            <a:ext cx="414338" cy="614363"/>
          </a:xfrm>
          <a:custGeom>
            <a:avLst/>
            <a:gdLst>
              <a:gd name="connsiteX0" fmla="*/ 0 w 414338"/>
              <a:gd name="connsiteY0" fmla="*/ 66675 h 614363"/>
              <a:gd name="connsiteX1" fmla="*/ 414338 w 414338"/>
              <a:gd name="connsiteY1" fmla="*/ 614363 h 614363"/>
              <a:gd name="connsiteX2" fmla="*/ 233363 w 414338"/>
              <a:gd name="connsiteY2" fmla="*/ 0 h 614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4338" h="614363">
                <a:moveTo>
                  <a:pt x="0" y="66675"/>
                </a:moveTo>
                <a:lnTo>
                  <a:pt x="414338" y="614363"/>
                </a:lnTo>
                <a:lnTo>
                  <a:pt x="233363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6341269" y="5564981"/>
            <a:ext cx="200025" cy="190500"/>
          </a:xfrm>
          <a:custGeom>
            <a:avLst/>
            <a:gdLst>
              <a:gd name="connsiteX0" fmla="*/ 0 w 200025"/>
              <a:gd name="connsiteY0" fmla="*/ 190500 h 190500"/>
              <a:gd name="connsiteX1" fmla="*/ 200025 w 200025"/>
              <a:gd name="connsiteY1" fmla="*/ 0 h 1905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00025" h="190500">
                <a:moveTo>
                  <a:pt x="0" y="190500"/>
                </a:moveTo>
                <a:lnTo>
                  <a:pt x="20002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1464469" y="5022056"/>
            <a:ext cx="1459706" cy="7144"/>
          </a:xfrm>
          <a:custGeom>
            <a:avLst/>
            <a:gdLst>
              <a:gd name="connsiteX0" fmla="*/ 0 w 1459706"/>
              <a:gd name="connsiteY0" fmla="*/ 0 h 7144"/>
              <a:gd name="connsiteX1" fmla="*/ 1459706 w 1459706"/>
              <a:gd name="connsiteY1" fmla="*/ 7144 h 71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59706" h="7144">
                <a:moveTo>
                  <a:pt x="0" y="0"/>
                </a:moveTo>
                <a:lnTo>
                  <a:pt x="1459706" y="7144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7" name="Freeform 36"/>
          <p:cNvSpPr/>
          <p:nvPr/>
        </p:nvSpPr>
        <p:spPr>
          <a:xfrm>
            <a:off x="1319213" y="4112419"/>
            <a:ext cx="2100262" cy="702469"/>
          </a:xfrm>
          <a:custGeom>
            <a:avLst/>
            <a:gdLst>
              <a:gd name="connsiteX0" fmla="*/ 2050256 w 2100262"/>
              <a:gd name="connsiteY0" fmla="*/ 352425 h 702469"/>
              <a:gd name="connsiteX1" fmla="*/ 0 w 2100262"/>
              <a:gd name="connsiteY1" fmla="*/ 0 h 702469"/>
              <a:gd name="connsiteX2" fmla="*/ 2100262 w 2100262"/>
              <a:gd name="connsiteY2" fmla="*/ 702469 h 7024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100262" h="702469">
                <a:moveTo>
                  <a:pt x="2050256" y="352425"/>
                </a:moveTo>
                <a:lnTo>
                  <a:pt x="0" y="0"/>
                </a:lnTo>
                <a:lnTo>
                  <a:pt x="2100262" y="702469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55215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 i="1"/>
              <a:t>Antimicrobial Peptides and Proteins</a:t>
            </a:r>
            <a:endParaRPr lang="en-US" altLang="en-US" dirty="0"/>
          </a:p>
        </p:txBody>
      </p:sp>
      <p:sp>
        <p:nvSpPr>
          <p:cNvPr id="481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Peptides and proteins function in innate defense by attacking pathogens or impeding their reproduction</a:t>
            </a:r>
          </a:p>
          <a:p>
            <a:r>
              <a:rPr lang="en-US" altLang="en-US" b="1" dirty="0"/>
              <a:t>Interferon </a:t>
            </a:r>
            <a:r>
              <a:rPr lang="en-US" altLang="en-US" dirty="0"/>
              <a:t>proteins</a:t>
            </a:r>
            <a:r>
              <a:rPr lang="en-US" altLang="en-US" b="1" dirty="0"/>
              <a:t> </a:t>
            </a:r>
            <a:r>
              <a:rPr lang="en-US" altLang="en-US" dirty="0"/>
              <a:t>provide innate defense, interfering with viruses and helping activate macrophages</a:t>
            </a:r>
          </a:p>
          <a:p>
            <a:r>
              <a:rPr lang="en-US" altLang="en-US" dirty="0"/>
              <a:t>About 30 proteins make up the </a:t>
            </a:r>
            <a:r>
              <a:rPr lang="en-US" altLang="en-US" b="1" dirty="0"/>
              <a:t>complement system</a:t>
            </a:r>
            <a:r>
              <a:rPr lang="en-US" altLang="en-US" dirty="0"/>
              <a:t>, which causes </a:t>
            </a:r>
            <a:r>
              <a:rPr lang="en-US" altLang="en-US" dirty="0" err="1"/>
              <a:t>lysis</a:t>
            </a:r>
            <a:r>
              <a:rPr lang="en-US" altLang="en-US" dirty="0"/>
              <a:t> of invading cells and helps trigger inflammation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321601506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 dirty="0"/>
              <a:t>Inflammatory Response</a:t>
            </a:r>
            <a:endParaRPr lang="en-US" altLang="en-US" dirty="0"/>
          </a:p>
        </p:txBody>
      </p:sp>
      <p:sp>
        <p:nvSpPr>
          <p:cNvPr id="491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b="1" dirty="0"/>
              <a:t>inflammatory response</a:t>
            </a:r>
            <a:r>
              <a:rPr lang="en-US" altLang="en-US" dirty="0"/>
              <a:t>, such as pain and swelling, is brought about by molecules released upon injury or infection</a:t>
            </a:r>
            <a:endParaRPr lang="en-US" altLang="en-US" b="1" dirty="0"/>
          </a:p>
          <a:p>
            <a:r>
              <a:rPr lang="en-US" altLang="en-US" dirty="0"/>
              <a:t>Mast cells, immune cells found in connective tissue, release </a:t>
            </a:r>
            <a:r>
              <a:rPr lang="en-US" altLang="en-US" b="1" dirty="0"/>
              <a:t>histamine</a:t>
            </a:r>
            <a:r>
              <a:rPr lang="en-US" altLang="en-US" dirty="0"/>
              <a:t>, which triggers blood vessels to dilate and become more permeable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14209731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Activated complement proteins promote further release of histamine, attracting more phagocytic cells</a:t>
            </a:r>
          </a:p>
          <a:p>
            <a:r>
              <a:rPr lang="en-US" dirty="0"/>
              <a:t>Enhanced blood flow to the site helps deliver antimicrobial peptides </a:t>
            </a:r>
          </a:p>
          <a:p>
            <a:r>
              <a:rPr lang="en-US" dirty="0"/>
              <a:t>The result is an accumulation of p</a:t>
            </a:r>
            <a:r>
              <a:rPr lang="en-US" altLang="en-US" dirty="0"/>
              <a:t>us</a:t>
            </a:r>
            <a:r>
              <a:rPr lang="en-US" altLang="en-US" i="1" dirty="0"/>
              <a:t>, </a:t>
            </a:r>
            <a:r>
              <a:rPr lang="en-US" altLang="en-US" dirty="0"/>
              <a:t>a fluid rich in white blood cells, dead pathogens, and cell debris from damaged tissues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25870135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955"/>
          <a:stretch>
            <a:fillRect/>
          </a:stretch>
        </p:blipFill>
        <p:spPr>
          <a:xfrm>
            <a:off x="298704" y="926592"/>
            <a:ext cx="8546592" cy="500481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47.7_3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337026" y="1201105"/>
            <a:ext cx="105157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Pathogen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2356326" y="1226505"/>
            <a:ext cx="85921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Splinter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5248751" y="1636080"/>
            <a:ext cx="1141338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Movement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of fluid</a:t>
            </a: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1032351" y="2807655"/>
            <a:ext cx="112851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Signaling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molecules</a:t>
            </a: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373539" y="3010855"/>
            <a:ext cx="525785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Mast</a:t>
            </a:r>
          </a:p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cell</a:t>
            </a:r>
            <a:endParaRPr lang="en-US" sz="18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</p:txBody>
      </p:sp>
      <p:sp>
        <p:nvSpPr>
          <p:cNvPr id="11" name="TextBox 9"/>
          <p:cNvSpPr txBox="1">
            <a:spLocks noChangeArrowheads="1"/>
          </p:cNvSpPr>
          <p:nvPr/>
        </p:nvSpPr>
        <p:spPr bwMode="auto">
          <a:xfrm>
            <a:off x="2491264" y="2807655"/>
            <a:ext cx="756617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Macro-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phage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2308701" y="3480755"/>
            <a:ext cx="974626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Capillary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7212489" y="3610930"/>
            <a:ext cx="150041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Phagocytosis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395764" y="4387217"/>
            <a:ext cx="112851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Red blood</a:t>
            </a:r>
          </a:p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cells</a:t>
            </a:r>
          </a:p>
        </p:txBody>
      </p:sp>
      <p:sp>
        <p:nvSpPr>
          <p:cNvPr id="15" name="TextBox 14"/>
          <p:cNvSpPr txBox="1">
            <a:spLocks noChangeArrowheads="1"/>
          </p:cNvSpPr>
          <p:nvPr/>
        </p:nvSpPr>
        <p:spPr bwMode="auto">
          <a:xfrm>
            <a:off x="2095976" y="4387217"/>
            <a:ext cx="115416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Neutrophil</a:t>
            </a:r>
          </a:p>
        </p:txBody>
      </p:sp>
      <p:sp>
        <p:nvSpPr>
          <p:cNvPr id="16" name="TextBox 16"/>
          <p:cNvSpPr txBox="1">
            <a:spLocks noChangeArrowheads="1"/>
          </p:cNvSpPr>
          <p:nvPr/>
        </p:nvSpPr>
        <p:spPr bwMode="auto">
          <a:xfrm>
            <a:off x="340201" y="4928555"/>
            <a:ext cx="250068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indent="292608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Mast cells release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histamines. Capillaries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dilate.</a:t>
            </a:r>
          </a:p>
        </p:txBody>
      </p:sp>
      <p:sp>
        <p:nvSpPr>
          <p:cNvPr id="17" name="TextBox 20"/>
          <p:cNvSpPr txBox="1">
            <a:spLocks noChangeArrowheads="1"/>
          </p:cNvSpPr>
          <p:nvPr/>
        </p:nvSpPr>
        <p:spPr bwMode="auto">
          <a:xfrm>
            <a:off x="3485039" y="4927761"/>
            <a:ext cx="260391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indent="274320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Neutrophils and anti-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microbial peptides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enter tissue.</a:t>
            </a:r>
          </a:p>
        </p:txBody>
      </p:sp>
      <p:sp>
        <p:nvSpPr>
          <p:cNvPr id="18" name="TextBox 23"/>
          <p:cNvSpPr txBox="1">
            <a:spLocks noChangeArrowheads="1"/>
          </p:cNvSpPr>
          <p:nvPr/>
        </p:nvSpPr>
        <p:spPr bwMode="auto">
          <a:xfrm>
            <a:off x="6595750" y="4927761"/>
            <a:ext cx="1910779" cy="1025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indent="274320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Neutrophils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digest pathogens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and cell debris.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Tissue heals.</a:t>
            </a:r>
          </a:p>
        </p:txBody>
      </p:sp>
      <p:sp>
        <p:nvSpPr>
          <p:cNvPr id="19" name="Freeform 18"/>
          <p:cNvSpPr/>
          <p:nvPr/>
        </p:nvSpPr>
        <p:spPr>
          <a:xfrm>
            <a:off x="1873250" y="1358900"/>
            <a:ext cx="419100" cy="0"/>
          </a:xfrm>
          <a:custGeom>
            <a:avLst/>
            <a:gdLst>
              <a:gd name="connsiteX0" fmla="*/ 0 w 419100"/>
              <a:gd name="connsiteY0" fmla="*/ 0 h 0"/>
              <a:gd name="connsiteX1" fmla="*/ 419100 w 41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9100">
                <a:moveTo>
                  <a:pt x="0" y="0"/>
                </a:moveTo>
                <a:lnTo>
                  <a:pt x="419100" y="0"/>
                </a:lnTo>
              </a:path>
            </a:pathLst>
          </a:custGeom>
          <a:ln w="25400">
            <a:solidFill>
              <a:schemeClr val="bg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1371600" y="1371600"/>
            <a:ext cx="104775" cy="152400"/>
          </a:xfrm>
          <a:custGeom>
            <a:avLst/>
            <a:gdLst>
              <a:gd name="connsiteX0" fmla="*/ 0 w 104775"/>
              <a:gd name="connsiteY0" fmla="*/ 0 h 152400"/>
              <a:gd name="connsiteX1" fmla="*/ 104775 w 104775"/>
              <a:gd name="connsiteY1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4775" h="152400">
                <a:moveTo>
                  <a:pt x="0" y="0"/>
                </a:moveTo>
                <a:lnTo>
                  <a:pt x="104775" y="15240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1069181" y="2540794"/>
            <a:ext cx="226219" cy="273844"/>
          </a:xfrm>
          <a:custGeom>
            <a:avLst/>
            <a:gdLst>
              <a:gd name="connsiteX0" fmla="*/ 0 w 226219"/>
              <a:gd name="connsiteY0" fmla="*/ 0 h 273844"/>
              <a:gd name="connsiteX1" fmla="*/ 226219 w 226219"/>
              <a:gd name="connsiteY1" fmla="*/ 273844 h 273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26219" h="273844">
                <a:moveTo>
                  <a:pt x="0" y="0"/>
                </a:moveTo>
                <a:lnTo>
                  <a:pt x="226219" y="273844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1881188" y="2583656"/>
            <a:ext cx="190500" cy="257175"/>
          </a:xfrm>
          <a:custGeom>
            <a:avLst/>
            <a:gdLst>
              <a:gd name="connsiteX0" fmla="*/ 0 w 190500"/>
              <a:gd name="connsiteY0" fmla="*/ 257175 h 257175"/>
              <a:gd name="connsiteX1" fmla="*/ 190500 w 190500"/>
              <a:gd name="connsiteY1" fmla="*/ 0 h 25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0" h="257175">
                <a:moveTo>
                  <a:pt x="0" y="257175"/>
                </a:moveTo>
                <a:lnTo>
                  <a:pt x="19050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3" name="Freeform 22"/>
          <p:cNvSpPr/>
          <p:nvPr/>
        </p:nvSpPr>
        <p:spPr>
          <a:xfrm>
            <a:off x="2447925" y="2497931"/>
            <a:ext cx="152400" cy="328613"/>
          </a:xfrm>
          <a:custGeom>
            <a:avLst/>
            <a:gdLst>
              <a:gd name="connsiteX0" fmla="*/ 152400 w 152400"/>
              <a:gd name="connsiteY0" fmla="*/ 328613 h 328613"/>
              <a:gd name="connsiteX1" fmla="*/ 0 w 152400"/>
              <a:gd name="connsiteY1" fmla="*/ 0 h 328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2400" h="328613">
                <a:moveTo>
                  <a:pt x="152400" y="328613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535781" y="2874169"/>
            <a:ext cx="16669" cy="114300"/>
          </a:xfrm>
          <a:custGeom>
            <a:avLst/>
            <a:gdLst>
              <a:gd name="connsiteX0" fmla="*/ 0 w 16669"/>
              <a:gd name="connsiteY0" fmla="*/ 114300 h 114300"/>
              <a:gd name="connsiteX1" fmla="*/ 16669 w 16669"/>
              <a:gd name="connsiteY1" fmla="*/ 0 h 114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669" h="114300">
                <a:moveTo>
                  <a:pt x="0" y="114300"/>
                </a:moveTo>
                <a:lnTo>
                  <a:pt x="16669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2290763" y="3736181"/>
            <a:ext cx="516731" cy="273844"/>
          </a:xfrm>
          <a:custGeom>
            <a:avLst/>
            <a:gdLst>
              <a:gd name="connsiteX0" fmla="*/ 0 w 516731"/>
              <a:gd name="connsiteY0" fmla="*/ 273844 h 273844"/>
              <a:gd name="connsiteX1" fmla="*/ 516731 w 516731"/>
              <a:gd name="connsiteY1" fmla="*/ 0 h 2738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6731" h="273844">
                <a:moveTo>
                  <a:pt x="0" y="273844"/>
                </a:moveTo>
                <a:lnTo>
                  <a:pt x="516731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1905000" y="4162425"/>
            <a:ext cx="169069" cy="300038"/>
          </a:xfrm>
          <a:custGeom>
            <a:avLst/>
            <a:gdLst>
              <a:gd name="connsiteX0" fmla="*/ 0 w 169069"/>
              <a:gd name="connsiteY0" fmla="*/ 0 h 300038"/>
              <a:gd name="connsiteX1" fmla="*/ 169069 w 169069"/>
              <a:gd name="connsiteY1" fmla="*/ 300038 h 3000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9069" h="300038">
                <a:moveTo>
                  <a:pt x="0" y="0"/>
                </a:moveTo>
                <a:lnTo>
                  <a:pt x="169069" y="300038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597694" y="3964781"/>
            <a:ext cx="490537" cy="381000"/>
          </a:xfrm>
          <a:custGeom>
            <a:avLst/>
            <a:gdLst>
              <a:gd name="connsiteX0" fmla="*/ 0 w 490537"/>
              <a:gd name="connsiteY0" fmla="*/ 0 h 381000"/>
              <a:gd name="connsiteX1" fmla="*/ 323850 w 490537"/>
              <a:gd name="connsiteY1" fmla="*/ 381000 h 381000"/>
              <a:gd name="connsiteX2" fmla="*/ 490537 w 490537"/>
              <a:gd name="connsiteY2" fmla="*/ 152400 h 381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90537" h="381000">
                <a:moveTo>
                  <a:pt x="0" y="0"/>
                </a:moveTo>
                <a:lnTo>
                  <a:pt x="323850" y="381000"/>
                </a:lnTo>
                <a:lnTo>
                  <a:pt x="490537" y="15240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5414963" y="2133600"/>
            <a:ext cx="357187" cy="1038225"/>
          </a:xfrm>
          <a:custGeom>
            <a:avLst/>
            <a:gdLst>
              <a:gd name="connsiteX0" fmla="*/ 0 w 357187"/>
              <a:gd name="connsiteY0" fmla="*/ 1038225 h 1038225"/>
              <a:gd name="connsiteX1" fmla="*/ 357187 w 357187"/>
              <a:gd name="connsiteY1" fmla="*/ 0 h 1038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57187" h="1038225">
                <a:moveTo>
                  <a:pt x="0" y="1038225"/>
                </a:moveTo>
                <a:lnTo>
                  <a:pt x="357187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7510463" y="3186113"/>
            <a:ext cx="145256" cy="435768"/>
          </a:xfrm>
          <a:custGeom>
            <a:avLst/>
            <a:gdLst>
              <a:gd name="connsiteX0" fmla="*/ 0 w 145256"/>
              <a:gd name="connsiteY0" fmla="*/ 0 h 435768"/>
              <a:gd name="connsiteX1" fmla="*/ 145256 w 145256"/>
              <a:gd name="connsiteY1" fmla="*/ 435768 h 43576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5256" h="435768">
                <a:moveTo>
                  <a:pt x="0" y="0"/>
                </a:moveTo>
                <a:lnTo>
                  <a:pt x="145256" y="435768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grpSp>
        <p:nvGrpSpPr>
          <p:cNvPr id="34" name="Group 33"/>
          <p:cNvGrpSpPr/>
          <p:nvPr/>
        </p:nvGrpSpPr>
        <p:grpSpPr>
          <a:xfrm>
            <a:off x="6598442" y="4923015"/>
            <a:ext cx="210312" cy="256480"/>
            <a:chOff x="6600823" y="4930158"/>
            <a:chExt cx="210312" cy="256480"/>
          </a:xfrm>
        </p:grpSpPr>
        <p:sp>
          <p:nvSpPr>
            <p:cNvPr id="32" name="Oval 31"/>
            <p:cNvSpPr/>
            <p:nvPr/>
          </p:nvSpPr>
          <p:spPr bwMode="auto">
            <a:xfrm>
              <a:off x="6600823" y="4953242"/>
              <a:ext cx="210312" cy="210312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33" name="TextBox 23"/>
            <p:cNvSpPr txBox="1">
              <a:spLocks noChangeArrowheads="1"/>
            </p:cNvSpPr>
            <p:nvPr/>
          </p:nvSpPr>
          <p:spPr bwMode="auto">
            <a:xfrm>
              <a:off x="6641859" y="4930158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3</a:t>
              </a: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484243" y="4921584"/>
            <a:ext cx="210312" cy="256480"/>
            <a:chOff x="6600823" y="4930158"/>
            <a:chExt cx="210312" cy="256480"/>
          </a:xfrm>
        </p:grpSpPr>
        <p:sp>
          <p:nvSpPr>
            <p:cNvPr id="36" name="Oval 35"/>
            <p:cNvSpPr/>
            <p:nvPr/>
          </p:nvSpPr>
          <p:spPr bwMode="auto">
            <a:xfrm>
              <a:off x="6600823" y="4953242"/>
              <a:ext cx="210312" cy="210312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37" name="TextBox 23"/>
            <p:cNvSpPr txBox="1">
              <a:spLocks noChangeArrowheads="1"/>
            </p:cNvSpPr>
            <p:nvPr/>
          </p:nvSpPr>
          <p:spPr bwMode="auto">
            <a:xfrm>
              <a:off x="6641859" y="4930158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2</a:t>
              </a:r>
            </a:p>
          </p:txBody>
        </p:sp>
      </p:grpSp>
      <p:grpSp>
        <p:nvGrpSpPr>
          <p:cNvPr id="38" name="Group 37"/>
          <p:cNvGrpSpPr/>
          <p:nvPr/>
        </p:nvGrpSpPr>
        <p:grpSpPr>
          <a:xfrm>
            <a:off x="333374" y="4923807"/>
            <a:ext cx="210312" cy="256480"/>
            <a:chOff x="6600823" y="4930158"/>
            <a:chExt cx="210312" cy="256480"/>
          </a:xfrm>
        </p:grpSpPr>
        <p:sp>
          <p:nvSpPr>
            <p:cNvPr id="39" name="Oval 38"/>
            <p:cNvSpPr/>
            <p:nvPr/>
          </p:nvSpPr>
          <p:spPr bwMode="auto">
            <a:xfrm>
              <a:off x="6600823" y="4953242"/>
              <a:ext cx="210312" cy="210312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40" name="TextBox 23"/>
            <p:cNvSpPr txBox="1">
              <a:spLocks noChangeArrowheads="1"/>
            </p:cNvSpPr>
            <p:nvPr/>
          </p:nvSpPr>
          <p:spPr bwMode="auto">
            <a:xfrm>
              <a:off x="6641859" y="4930158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1</a:t>
              </a:r>
            </a:p>
          </p:txBody>
        </p:sp>
      </p:grpSp>
      <p:sp>
        <p:nvSpPr>
          <p:cNvPr id="41" name="Freeform 40"/>
          <p:cNvSpPr/>
          <p:nvPr/>
        </p:nvSpPr>
        <p:spPr>
          <a:xfrm>
            <a:off x="1873266" y="1361297"/>
            <a:ext cx="419100" cy="0"/>
          </a:xfrm>
          <a:custGeom>
            <a:avLst/>
            <a:gdLst>
              <a:gd name="connsiteX0" fmla="*/ 0 w 419100"/>
              <a:gd name="connsiteY0" fmla="*/ 0 h 0"/>
              <a:gd name="connsiteX1" fmla="*/ 419100 w 419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19100">
                <a:moveTo>
                  <a:pt x="0" y="0"/>
                </a:moveTo>
                <a:lnTo>
                  <a:pt x="41910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008595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Inflammation can be either local or systemic (throughout the body)</a:t>
            </a:r>
          </a:p>
          <a:p>
            <a:r>
              <a:rPr lang="en-US" altLang="en-US" dirty="0"/>
              <a:t>Fever is a systemic inflammatory response triggered by substances released by macrophages in response to certain pathogens</a:t>
            </a:r>
          </a:p>
          <a:p>
            <a:r>
              <a:rPr lang="en-US" altLang="en-US" dirty="0"/>
              <a:t>Septic shock is a life-threatening condition caused by an overwhelming inflammatory response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81706518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/>
              <a:t>Evasion of Innate Immunity by Pathogens</a:t>
            </a:r>
            <a:endParaRPr lang="en-US" altLang="en-US" dirty="0"/>
          </a:p>
        </p:txBody>
      </p:sp>
      <p:sp>
        <p:nvSpPr>
          <p:cNvPr id="542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Some pathogens avoid destruction by modifying their surface to prevent recognition or by resisting breakdown following phagocytosis</a:t>
            </a:r>
          </a:p>
          <a:p>
            <a:r>
              <a:rPr lang="en-US" altLang="en-US" i="1"/>
              <a:t>Streptococcus </a:t>
            </a:r>
            <a:r>
              <a:rPr lang="en-US" altLang="en-US" i="1" err="1"/>
              <a:t>pneumoniae</a:t>
            </a:r>
            <a:r>
              <a:rPr lang="en-US" altLang="en-US" i="1"/>
              <a:t> </a:t>
            </a:r>
            <a:r>
              <a:rPr lang="en-US" altLang="en-US"/>
              <a:t>is </a:t>
            </a:r>
            <a:r>
              <a:rPr lang="en-US" altLang="en-US" dirty="0"/>
              <a:t>one such bacterium, a major cause of pneumonia and meningitis in humans</a:t>
            </a:r>
          </a:p>
          <a:p>
            <a:r>
              <a:rPr lang="en-US" altLang="en-US" dirty="0"/>
              <a:t>Tuberculosis (TB), another such disease, kills more than a million people a year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5761894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 dirty="0"/>
              <a:t>Concept 47.2: In adaptive immunity, receptors provide pathogen-specific recognition</a:t>
            </a:r>
          </a:p>
        </p:txBody>
      </p:sp>
      <p:sp>
        <p:nvSpPr>
          <p:cNvPr id="5529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adaptive response relies on two types of </a:t>
            </a:r>
            <a:r>
              <a:rPr lang="en-US" altLang="en-US" b="1" dirty="0"/>
              <a:t>lymphocytes</a:t>
            </a:r>
            <a:r>
              <a:rPr lang="en-US" altLang="en-US" dirty="0"/>
              <a:t>, or white blood cells</a:t>
            </a:r>
          </a:p>
          <a:p>
            <a:r>
              <a:rPr lang="en-US" altLang="en-US" dirty="0"/>
              <a:t>Lymphocytes that mature in the </a:t>
            </a:r>
            <a:r>
              <a:rPr lang="en-US" altLang="en-US" b="1" dirty="0"/>
              <a:t>thymus</a:t>
            </a:r>
            <a:r>
              <a:rPr lang="en-US" altLang="en-US" dirty="0"/>
              <a:t>,</a:t>
            </a:r>
            <a:r>
              <a:rPr lang="en-US" altLang="en-US" b="1" dirty="0"/>
              <a:t> </a:t>
            </a:r>
            <a:r>
              <a:rPr lang="en-US" altLang="en-US" dirty="0"/>
              <a:t>above the heart, are called </a:t>
            </a:r>
            <a:r>
              <a:rPr lang="en-US" altLang="en-US" b="1" dirty="0"/>
              <a:t>T cells</a:t>
            </a:r>
            <a:r>
              <a:rPr lang="en-US" altLang="en-US" dirty="0"/>
              <a:t>,</a:t>
            </a:r>
            <a:r>
              <a:rPr lang="en-US" altLang="en-US" b="1" dirty="0"/>
              <a:t> </a:t>
            </a:r>
            <a:r>
              <a:rPr lang="en-US" altLang="en-US" dirty="0"/>
              <a:t>and those that mature in bone marrow are called </a:t>
            </a:r>
            <a:r>
              <a:rPr lang="en-US" altLang="en-US" b="1" dirty="0"/>
              <a:t>B cells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148084869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 cells bind to antigen fragments displayed or presented on a host cell </a:t>
            </a:r>
          </a:p>
          <a:p>
            <a:r>
              <a:rPr lang="en-US" altLang="en-US" dirty="0"/>
              <a:t>These antigen fragments are bound to cell-surface proteins called </a:t>
            </a:r>
            <a:r>
              <a:rPr lang="en-US" altLang="en-US" b="1" dirty="0"/>
              <a:t>major histocompatibility complex (MHC) molecules</a:t>
            </a:r>
          </a:p>
          <a:p>
            <a:r>
              <a:rPr lang="en-US" altLang="en-US" dirty="0"/>
              <a:t>MHC</a:t>
            </a:r>
            <a:r>
              <a:rPr lang="en-US" altLang="en-US" b="1" dirty="0"/>
              <a:t> </a:t>
            </a:r>
            <a:r>
              <a:rPr lang="en-US" altLang="en-US" dirty="0"/>
              <a:t>molecules are host proteins that display the antigen fragments on the cell surface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1194665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infected cells, MHC molecules bind and transport antigen fragments to the cell surface, a process </a:t>
            </a:r>
            <a:r>
              <a:rPr lang="en-US" altLang="en-US"/>
              <a:t>called </a:t>
            </a:r>
            <a:r>
              <a:rPr lang="en-US" altLang="en-US" b="1"/>
              <a:t>antigen </a:t>
            </a:r>
            <a:r>
              <a:rPr lang="en-US" altLang="en-US" b="1" dirty="0"/>
              <a:t>presentation</a:t>
            </a:r>
          </a:p>
          <a:p>
            <a:r>
              <a:rPr lang="en-US" altLang="en-US"/>
              <a:t>A </a:t>
            </a:r>
            <a:r>
              <a:rPr lang="en-US" altLang="en-US" dirty="0"/>
              <a:t>T cell can then bind both the antigen fragment and the MHC molecule</a:t>
            </a:r>
          </a:p>
          <a:p>
            <a:r>
              <a:rPr lang="en-US" altLang="en-US" dirty="0"/>
              <a:t>This interaction is necessary for the T cell to participate in the adaptive immune response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74947933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1801368" y="213360"/>
            <a:ext cx="5541264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47.12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839911" y="415928"/>
            <a:ext cx="1090042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Displayed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fragment</a:t>
            </a: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1839911" y="1430340"/>
            <a:ext cx="100027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MHC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molecule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1843086" y="2260603"/>
            <a:ext cx="987450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fragment</a:t>
            </a:r>
          </a:p>
        </p:txBody>
      </p:sp>
      <p:sp>
        <p:nvSpPr>
          <p:cNvPr id="9" name="TextBox 9"/>
          <p:cNvSpPr txBox="1">
            <a:spLocks noChangeArrowheads="1"/>
          </p:cNvSpPr>
          <p:nvPr/>
        </p:nvSpPr>
        <p:spPr bwMode="auto">
          <a:xfrm>
            <a:off x="1839911" y="2892428"/>
            <a:ext cx="105157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Pathogen</a:t>
            </a:r>
          </a:p>
        </p:txBody>
      </p:sp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5235574" y="969965"/>
            <a:ext cx="58990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 cell</a:t>
            </a:r>
          </a:p>
        </p:txBody>
      </p:sp>
      <p:sp>
        <p:nvSpPr>
          <p:cNvPr id="11" name="TextBox 11"/>
          <p:cNvSpPr txBox="1">
            <a:spLocks noChangeArrowheads="1"/>
          </p:cNvSpPr>
          <p:nvPr/>
        </p:nvSpPr>
        <p:spPr bwMode="auto">
          <a:xfrm>
            <a:off x="5865811" y="1365253"/>
            <a:ext cx="1474763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 cell antigen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receptor</a:t>
            </a:r>
          </a:p>
        </p:txBody>
      </p:sp>
      <p:sp>
        <p:nvSpPr>
          <p:cNvPr id="12" name="TextBox 13"/>
          <p:cNvSpPr txBox="1">
            <a:spLocks noChangeArrowheads="1"/>
          </p:cNvSpPr>
          <p:nvPr/>
        </p:nvSpPr>
        <p:spPr bwMode="auto">
          <a:xfrm>
            <a:off x="4144961" y="3411540"/>
            <a:ext cx="96180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Host cell</a:t>
            </a:r>
          </a:p>
        </p:txBody>
      </p:sp>
      <p:sp>
        <p:nvSpPr>
          <p:cNvPr id="13" name="TextBox 14"/>
          <p:cNvSpPr txBox="1">
            <a:spLocks noChangeArrowheads="1"/>
          </p:cNvSpPr>
          <p:nvPr/>
        </p:nvSpPr>
        <p:spPr bwMode="auto">
          <a:xfrm>
            <a:off x="1835149" y="3736184"/>
            <a:ext cx="369755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(a) Antigen recognition by a T cell</a:t>
            </a:r>
          </a:p>
        </p:txBody>
      </p:sp>
      <p:sp>
        <p:nvSpPr>
          <p:cNvPr id="14" name="TextBox 15"/>
          <p:cNvSpPr txBox="1">
            <a:spLocks noChangeArrowheads="1"/>
          </p:cNvSpPr>
          <p:nvPr/>
        </p:nvSpPr>
        <p:spPr bwMode="auto">
          <a:xfrm>
            <a:off x="3910805" y="4228309"/>
            <a:ext cx="97033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Top view</a:t>
            </a:r>
          </a:p>
        </p:txBody>
      </p:sp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2697955" y="4760122"/>
            <a:ext cx="987450" cy="4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</a:t>
            </a:r>
          </a:p>
          <a:p>
            <a:pPr>
              <a:lnSpc>
                <a:spcPts val="19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fragment</a:t>
            </a:r>
          </a:p>
        </p:txBody>
      </p:sp>
      <p:sp>
        <p:nvSpPr>
          <p:cNvPr id="16" name="TextBox 18"/>
          <p:cNvSpPr txBox="1">
            <a:spLocks noChangeArrowheads="1"/>
          </p:cNvSpPr>
          <p:nvPr/>
        </p:nvSpPr>
        <p:spPr bwMode="auto">
          <a:xfrm>
            <a:off x="2697955" y="5302412"/>
            <a:ext cx="1000274" cy="4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MHC</a:t>
            </a:r>
          </a:p>
          <a:p>
            <a:pPr>
              <a:lnSpc>
                <a:spcPts val="19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molecule</a:t>
            </a:r>
          </a:p>
        </p:txBody>
      </p:sp>
      <p:sp>
        <p:nvSpPr>
          <p:cNvPr id="17" name="TextBox 20"/>
          <p:cNvSpPr txBox="1">
            <a:spLocks noChangeArrowheads="1"/>
          </p:cNvSpPr>
          <p:nvPr/>
        </p:nvSpPr>
        <p:spPr bwMode="auto">
          <a:xfrm>
            <a:off x="2695574" y="5848512"/>
            <a:ext cx="961802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Host cell</a:t>
            </a:r>
          </a:p>
        </p:txBody>
      </p:sp>
      <p:sp>
        <p:nvSpPr>
          <p:cNvPr id="18" name="TextBox 21"/>
          <p:cNvSpPr txBox="1">
            <a:spLocks noChangeArrowheads="1"/>
          </p:cNvSpPr>
          <p:nvPr/>
        </p:nvSpPr>
        <p:spPr bwMode="auto">
          <a:xfrm>
            <a:off x="1843881" y="6374609"/>
            <a:ext cx="439428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(b) A closer look at antigen presentation</a:t>
            </a:r>
          </a:p>
        </p:txBody>
      </p:sp>
      <p:sp>
        <p:nvSpPr>
          <p:cNvPr id="19" name="Freeform 18"/>
          <p:cNvSpPr/>
          <p:nvPr/>
        </p:nvSpPr>
        <p:spPr>
          <a:xfrm>
            <a:off x="5572125" y="1509712"/>
            <a:ext cx="247650" cy="0"/>
          </a:xfrm>
          <a:custGeom>
            <a:avLst/>
            <a:gdLst>
              <a:gd name="connsiteX0" fmla="*/ 0 w 247650"/>
              <a:gd name="connsiteY0" fmla="*/ 0 h 0"/>
              <a:gd name="connsiteX1" fmla="*/ 247650 w 2476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7650">
                <a:moveTo>
                  <a:pt x="0" y="0"/>
                </a:moveTo>
                <a:lnTo>
                  <a:pt x="24765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2863850" y="1050925"/>
            <a:ext cx="936625" cy="527050"/>
          </a:xfrm>
          <a:custGeom>
            <a:avLst/>
            <a:gdLst>
              <a:gd name="connsiteX0" fmla="*/ 0 w 936625"/>
              <a:gd name="connsiteY0" fmla="*/ 0 h 527050"/>
              <a:gd name="connsiteX1" fmla="*/ 936625 w 936625"/>
              <a:gd name="connsiteY1" fmla="*/ 527050 h 52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36625" h="527050">
                <a:moveTo>
                  <a:pt x="0" y="0"/>
                </a:moveTo>
                <a:lnTo>
                  <a:pt x="936625" y="52705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2863850" y="1800225"/>
            <a:ext cx="850900" cy="0"/>
          </a:xfrm>
          <a:custGeom>
            <a:avLst/>
            <a:gdLst>
              <a:gd name="connsiteX0" fmla="*/ 0 w 850900"/>
              <a:gd name="connsiteY0" fmla="*/ 0 h 0"/>
              <a:gd name="connsiteX1" fmla="*/ 850900 w 8509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50900">
                <a:moveTo>
                  <a:pt x="0" y="0"/>
                </a:moveTo>
                <a:lnTo>
                  <a:pt x="85090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2736056" y="2393156"/>
            <a:ext cx="554832" cy="0"/>
          </a:xfrm>
          <a:custGeom>
            <a:avLst/>
            <a:gdLst>
              <a:gd name="connsiteX0" fmla="*/ 0 w 554832"/>
              <a:gd name="connsiteY0" fmla="*/ 0 h 0"/>
              <a:gd name="connsiteX1" fmla="*/ 554832 w 554832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4832">
                <a:moveTo>
                  <a:pt x="0" y="0"/>
                </a:moveTo>
                <a:lnTo>
                  <a:pt x="554832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3" name="Freeform 22"/>
          <p:cNvSpPr/>
          <p:nvPr/>
        </p:nvSpPr>
        <p:spPr>
          <a:xfrm>
            <a:off x="2895600" y="3040856"/>
            <a:ext cx="402431" cy="200025"/>
          </a:xfrm>
          <a:custGeom>
            <a:avLst/>
            <a:gdLst>
              <a:gd name="connsiteX0" fmla="*/ 0 w 402431"/>
              <a:gd name="connsiteY0" fmla="*/ 0 h 200025"/>
              <a:gd name="connsiteX1" fmla="*/ 402431 w 402431"/>
              <a:gd name="connsiteY1" fmla="*/ 200025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2431" h="200025">
                <a:moveTo>
                  <a:pt x="0" y="0"/>
                </a:moveTo>
                <a:lnTo>
                  <a:pt x="402431" y="200025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3833813" y="3467100"/>
            <a:ext cx="261937" cy="73819"/>
          </a:xfrm>
          <a:custGeom>
            <a:avLst/>
            <a:gdLst>
              <a:gd name="connsiteX0" fmla="*/ 0 w 261937"/>
              <a:gd name="connsiteY0" fmla="*/ 0 h 73819"/>
              <a:gd name="connsiteX1" fmla="*/ 261937 w 261937"/>
              <a:gd name="connsiteY1" fmla="*/ 73819 h 73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1937" h="73819">
                <a:moveTo>
                  <a:pt x="0" y="0"/>
                </a:moveTo>
                <a:lnTo>
                  <a:pt x="261937" y="73819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3597275" y="4905375"/>
            <a:ext cx="688975" cy="0"/>
          </a:xfrm>
          <a:custGeom>
            <a:avLst/>
            <a:gdLst>
              <a:gd name="connsiteX0" fmla="*/ 0 w 688975"/>
              <a:gd name="connsiteY0" fmla="*/ 0 h 0"/>
              <a:gd name="connsiteX1" fmla="*/ 688975 w 68897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88975">
                <a:moveTo>
                  <a:pt x="0" y="0"/>
                </a:moveTo>
                <a:lnTo>
                  <a:pt x="68897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3241675" y="5403850"/>
            <a:ext cx="908050" cy="0"/>
          </a:xfrm>
          <a:custGeom>
            <a:avLst/>
            <a:gdLst>
              <a:gd name="connsiteX0" fmla="*/ 0 w 908050"/>
              <a:gd name="connsiteY0" fmla="*/ 0 h 0"/>
              <a:gd name="connsiteX1" fmla="*/ 908050 w 9080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08050">
                <a:moveTo>
                  <a:pt x="0" y="0"/>
                </a:moveTo>
                <a:lnTo>
                  <a:pt x="90805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3663950" y="5953125"/>
            <a:ext cx="438150" cy="0"/>
          </a:xfrm>
          <a:custGeom>
            <a:avLst/>
            <a:gdLst>
              <a:gd name="connsiteX0" fmla="*/ 0 w 438150"/>
              <a:gd name="connsiteY0" fmla="*/ 0 h 0"/>
              <a:gd name="connsiteX1" fmla="*/ 438150 w 4381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8150">
                <a:moveTo>
                  <a:pt x="0" y="0"/>
                </a:moveTo>
                <a:lnTo>
                  <a:pt x="43815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2390775" y="5956300"/>
            <a:ext cx="260350" cy="0"/>
          </a:xfrm>
          <a:custGeom>
            <a:avLst/>
            <a:gdLst>
              <a:gd name="connsiteX0" fmla="*/ 0 w 260350"/>
              <a:gd name="connsiteY0" fmla="*/ 0 h 0"/>
              <a:gd name="connsiteX1" fmla="*/ 260350 w 2603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0350">
                <a:moveTo>
                  <a:pt x="0" y="0"/>
                </a:moveTo>
                <a:lnTo>
                  <a:pt x="26035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2384425" y="5416550"/>
            <a:ext cx="266700" cy="0"/>
          </a:xfrm>
          <a:custGeom>
            <a:avLst/>
            <a:gdLst>
              <a:gd name="connsiteX0" fmla="*/ 0 w 266700"/>
              <a:gd name="connsiteY0" fmla="*/ 0 h 0"/>
              <a:gd name="connsiteX1" fmla="*/ 266700 w 2667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6700">
                <a:moveTo>
                  <a:pt x="0" y="0"/>
                </a:moveTo>
                <a:lnTo>
                  <a:pt x="26670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2244725" y="4924425"/>
            <a:ext cx="403225" cy="219075"/>
          </a:xfrm>
          <a:custGeom>
            <a:avLst/>
            <a:gdLst>
              <a:gd name="connsiteX0" fmla="*/ 0 w 403225"/>
              <a:gd name="connsiteY0" fmla="*/ 219075 h 219075"/>
              <a:gd name="connsiteX1" fmla="*/ 403225 w 403225"/>
              <a:gd name="connsiteY1" fmla="*/ 0 h 219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3225" h="219075">
                <a:moveTo>
                  <a:pt x="0" y="219075"/>
                </a:moveTo>
                <a:lnTo>
                  <a:pt x="40322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765436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B Cell and T Cell Development</a:t>
            </a:r>
            <a:endParaRPr lang="en-US" altLang="en-US" dirty="0"/>
          </a:p>
        </p:txBody>
      </p:sp>
      <p:sp>
        <p:nvSpPr>
          <p:cNvPr id="737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adaptive immune system has four major characteristics:</a:t>
            </a:r>
          </a:p>
          <a:p>
            <a:pPr lvl="1"/>
            <a:r>
              <a:rPr lang="en-US" altLang="en-US" dirty="0"/>
              <a:t>Immense diversity of lymphocytes and receptors</a:t>
            </a:r>
          </a:p>
          <a:p>
            <a:pPr lvl="1"/>
            <a:r>
              <a:rPr lang="en-US" altLang="en-US" dirty="0"/>
              <a:t>Self-tolerance: lack of reactivity against an animal</a:t>
            </a:r>
            <a:r>
              <a:rPr lang="ja-JP" altLang="en-US" dirty="0"/>
              <a:t>’</a:t>
            </a:r>
            <a:r>
              <a:rPr lang="en-US" altLang="ja-JP" dirty="0"/>
              <a:t>s own molecules and cells</a:t>
            </a:r>
          </a:p>
          <a:p>
            <a:pPr lvl="1"/>
            <a:r>
              <a:rPr lang="en-US" altLang="en-US" dirty="0"/>
              <a:t>B and T cells proliferate after activation</a:t>
            </a:r>
          </a:p>
          <a:p>
            <a:pPr lvl="1"/>
            <a:r>
              <a:rPr lang="en-US" altLang="en-US" dirty="0"/>
              <a:t>Immunological memory</a:t>
            </a:r>
          </a:p>
          <a:p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106223449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 i="1"/>
              <a:t>Generation of B and T Cell Diversity</a:t>
            </a:r>
            <a:endParaRPr lang="en-US" altLang="en-US" dirty="0"/>
          </a:p>
        </p:txBody>
      </p:sp>
      <p:sp>
        <p:nvSpPr>
          <p:cNvPr id="747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By combining variable elements, the immune system assembles millions of different antigen receptors from a small number of parts</a:t>
            </a:r>
          </a:p>
          <a:p>
            <a:r>
              <a:rPr lang="en-US" altLang="en-US" dirty="0"/>
              <a:t>An immunoglobulin (</a:t>
            </a:r>
            <a:r>
              <a:rPr lang="en-US" altLang="en-US" dirty="0" err="1"/>
              <a:t>Ig</a:t>
            </a:r>
            <a:r>
              <a:rPr lang="en-US" altLang="en-US" dirty="0"/>
              <a:t>) gene encodes the light chain of the B cell receptor </a:t>
            </a:r>
          </a:p>
          <a:p>
            <a:r>
              <a:rPr lang="en-US" altLang="en-US" dirty="0"/>
              <a:t>Many different chains can be produced from the same gene by rearrangement of the </a:t>
            </a:r>
            <a:r>
              <a:rPr lang="en-US" altLang="en-US" i="1" dirty="0"/>
              <a:t>V</a:t>
            </a:r>
            <a:r>
              <a:rPr lang="en-US" altLang="en-US" dirty="0"/>
              <a:t>, </a:t>
            </a:r>
            <a:r>
              <a:rPr lang="en-US" altLang="en-US" i="1" dirty="0"/>
              <a:t>J</a:t>
            </a:r>
            <a:r>
              <a:rPr lang="en-US" altLang="en-US" dirty="0"/>
              <a:t>, and </a:t>
            </a:r>
            <a:r>
              <a:rPr lang="en-US" altLang="en-US" i="1" dirty="0"/>
              <a:t>C</a:t>
            </a:r>
            <a:r>
              <a:rPr lang="en-US" altLang="en-US" dirty="0"/>
              <a:t> regions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90552104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dirty="0" err="1"/>
              <a:t>recombinase</a:t>
            </a:r>
            <a:r>
              <a:rPr lang="en-US" altLang="en-US" dirty="0"/>
              <a:t> enzyme complex acts randomly to connect different </a:t>
            </a:r>
            <a:r>
              <a:rPr lang="en-US" altLang="en-US" i="1" dirty="0"/>
              <a:t>V</a:t>
            </a:r>
            <a:r>
              <a:rPr lang="en-US" altLang="en-US" dirty="0"/>
              <a:t> and </a:t>
            </a:r>
            <a:r>
              <a:rPr lang="en-US" altLang="en-US" i="1" dirty="0"/>
              <a:t>J</a:t>
            </a:r>
            <a:r>
              <a:rPr lang="en-US" altLang="en-US" dirty="0"/>
              <a:t> segments in each B cell</a:t>
            </a:r>
          </a:p>
          <a:p>
            <a:r>
              <a:rPr lang="en-US" altLang="en-US" dirty="0"/>
              <a:t>The heavy chain gene undergoes a similar rearrangement</a:t>
            </a:r>
          </a:p>
          <a:p>
            <a:r>
              <a:rPr lang="en-US" altLang="en-US" dirty="0"/>
              <a:t>The rearrangements are permanent and passed on to daughter cells when the lymphocyte divides</a:t>
            </a:r>
          </a:p>
          <a:p>
            <a:r>
              <a:rPr lang="en-US" altLang="en-US" dirty="0"/>
              <a:t>The rearranged genes are transcribed and translated to produce unique antigen receptors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114760451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533400" y="213360"/>
            <a:ext cx="8077200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47.13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826294" y="228593"/>
            <a:ext cx="326153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DNA of undifferentiated B cell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1047750" y="574670"/>
            <a:ext cx="21800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V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37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933575" y="574670"/>
            <a:ext cx="21800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V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38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2819400" y="574670"/>
            <a:ext cx="21800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V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39</a:t>
            </a: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3935412" y="574670"/>
            <a:ext cx="21800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V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40</a:t>
            </a:r>
          </a:p>
        </p:txBody>
      </p:sp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5316537" y="574670"/>
            <a:ext cx="14266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J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1</a:t>
            </a:r>
          </a:p>
        </p:txBody>
      </p:sp>
      <p:sp>
        <p:nvSpPr>
          <p:cNvPr id="12" name="TextBox 8"/>
          <p:cNvSpPr txBox="1">
            <a:spLocks noChangeArrowheads="1"/>
          </p:cNvSpPr>
          <p:nvPr/>
        </p:nvSpPr>
        <p:spPr bwMode="auto">
          <a:xfrm>
            <a:off x="5635625" y="574670"/>
            <a:ext cx="14266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J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2</a:t>
            </a:r>
          </a:p>
        </p:txBody>
      </p:sp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5954712" y="574670"/>
            <a:ext cx="14266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J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3</a:t>
            </a:r>
          </a:p>
        </p:txBody>
      </p:sp>
      <p:sp>
        <p:nvSpPr>
          <p:cNvPr id="14" name="TextBox 10"/>
          <p:cNvSpPr txBox="1">
            <a:spLocks noChangeArrowheads="1"/>
          </p:cNvSpPr>
          <p:nvPr/>
        </p:nvSpPr>
        <p:spPr bwMode="auto">
          <a:xfrm>
            <a:off x="6273800" y="574670"/>
            <a:ext cx="14266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J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4</a:t>
            </a:r>
            <a:endParaRPr lang="en-US" sz="12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</p:txBody>
      </p:sp>
      <p:sp>
        <p:nvSpPr>
          <p:cNvPr id="15" name="TextBox 11"/>
          <p:cNvSpPr txBox="1">
            <a:spLocks noChangeArrowheads="1"/>
          </p:cNvSpPr>
          <p:nvPr/>
        </p:nvSpPr>
        <p:spPr bwMode="auto">
          <a:xfrm>
            <a:off x="6934200" y="585783"/>
            <a:ext cx="437620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ＭＳ Ｐゴシック" charset="0"/>
              </a:rPr>
              <a:t>Intron</a:t>
            </a:r>
          </a:p>
        </p:txBody>
      </p:sp>
      <p:sp>
        <p:nvSpPr>
          <p:cNvPr id="16" name="TextBox 12"/>
          <p:cNvSpPr txBox="1">
            <a:spLocks noChangeArrowheads="1"/>
          </p:cNvSpPr>
          <p:nvPr/>
        </p:nvSpPr>
        <p:spPr bwMode="auto">
          <a:xfrm>
            <a:off x="7747000" y="600070"/>
            <a:ext cx="11060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FFFFFF"/>
                </a:solidFill>
                <a:latin typeface="Arial"/>
                <a:ea typeface="ＭＳ Ｐゴシック" charset="0"/>
              </a:rPr>
              <a:t>C</a:t>
            </a:r>
          </a:p>
        </p:txBody>
      </p:sp>
      <p:sp>
        <p:nvSpPr>
          <p:cNvPr id="17" name="TextBox 13"/>
          <p:cNvSpPr txBox="1">
            <a:spLocks noChangeArrowheads="1"/>
          </p:cNvSpPr>
          <p:nvPr/>
        </p:nvSpPr>
        <p:spPr bwMode="auto">
          <a:xfrm>
            <a:off x="851694" y="1212844"/>
            <a:ext cx="146193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DNA of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differentiated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 cell</a:t>
            </a: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1439862" y="2036758"/>
            <a:ext cx="21800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V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37</a:t>
            </a:r>
          </a:p>
        </p:txBody>
      </p:sp>
      <p:sp>
        <p:nvSpPr>
          <p:cNvPr id="19" name="TextBox 17"/>
          <p:cNvSpPr txBox="1">
            <a:spLocks noChangeArrowheads="1"/>
          </p:cNvSpPr>
          <p:nvPr/>
        </p:nvSpPr>
        <p:spPr bwMode="auto">
          <a:xfrm>
            <a:off x="2325687" y="2036758"/>
            <a:ext cx="21800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V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38</a:t>
            </a:r>
          </a:p>
        </p:txBody>
      </p:sp>
      <p:sp>
        <p:nvSpPr>
          <p:cNvPr id="20" name="TextBox 18"/>
          <p:cNvSpPr txBox="1">
            <a:spLocks noChangeArrowheads="1"/>
          </p:cNvSpPr>
          <p:nvPr/>
        </p:nvSpPr>
        <p:spPr bwMode="auto">
          <a:xfrm>
            <a:off x="3606036" y="1159663"/>
            <a:ext cx="4133567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Recombination deletes DNA between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randomly selected </a:t>
            </a:r>
            <a:r>
              <a:rPr lang="en-US" sz="18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V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segment and</a:t>
            </a:r>
          </a:p>
          <a:p>
            <a:pPr>
              <a:lnSpc>
                <a:spcPts val="2000"/>
              </a:lnSpc>
            </a:pPr>
            <a:r>
              <a:rPr lang="en-US" sz="18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J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segment</a:t>
            </a:r>
          </a:p>
        </p:txBody>
      </p:sp>
      <p:sp>
        <p:nvSpPr>
          <p:cNvPr id="21" name="TextBox 21"/>
          <p:cNvSpPr txBox="1">
            <a:spLocks noChangeArrowheads="1"/>
          </p:cNvSpPr>
          <p:nvPr/>
        </p:nvSpPr>
        <p:spPr bwMode="auto">
          <a:xfrm>
            <a:off x="3105150" y="2036758"/>
            <a:ext cx="21800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V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39</a:t>
            </a:r>
            <a:endParaRPr lang="en-US" sz="12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</p:txBody>
      </p:sp>
      <p:sp>
        <p:nvSpPr>
          <p:cNvPr id="22" name="TextBox 22"/>
          <p:cNvSpPr txBox="1">
            <a:spLocks noChangeArrowheads="1"/>
          </p:cNvSpPr>
          <p:nvPr/>
        </p:nvSpPr>
        <p:spPr bwMode="auto">
          <a:xfrm>
            <a:off x="3851275" y="2046283"/>
            <a:ext cx="437620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ＭＳ Ｐゴシック" charset="0"/>
              </a:rPr>
              <a:t>Intron</a:t>
            </a:r>
          </a:p>
        </p:txBody>
      </p:sp>
      <p:sp>
        <p:nvSpPr>
          <p:cNvPr id="23" name="TextBox 23"/>
          <p:cNvSpPr txBox="1">
            <a:spLocks noChangeArrowheads="1"/>
          </p:cNvSpPr>
          <p:nvPr/>
        </p:nvSpPr>
        <p:spPr bwMode="auto">
          <a:xfrm>
            <a:off x="4697412" y="2060570"/>
            <a:ext cx="11060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FFFFFF"/>
                </a:solidFill>
                <a:latin typeface="Arial"/>
                <a:ea typeface="ＭＳ Ｐゴシック" charset="0"/>
              </a:rPr>
              <a:t>C</a:t>
            </a:r>
          </a:p>
        </p:txBody>
      </p:sp>
      <p:sp>
        <p:nvSpPr>
          <p:cNvPr id="24" name="TextBox 24"/>
          <p:cNvSpPr txBox="1">
            <a:spLocks noChangeArrowheads="1"/>
          </p:cNvSpPr>
          <p:nvPr/>
        </p:nvSpPr>
        <p:spPr bwMode="auto">
          <a:xfrm>
            <a:off x="3169444" y="2425694"/>
            <a:ext cx="176971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Functional gene</a:t>
            </a: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3604419" y="2770181"/>
            <a:ext cx="3244543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Transcription of permanently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rearranged, functional gene</a:t>
            </a:r>
          </a:p>
        </p:txBody>
      </p:sp>
      <p:sp>
        <p:nvSpPr>
          <p:cNvPr id="26" name="TextBox 27"/>
          <p:cNvSpPr txBox="1">
            <a:spLocks noChangeArrowheads="1"/>
          </p:cNvSpPr>
          <p:nvPr/>
        </p:nvSpPr>
        <p:spPr bwMode="auto">
          <a:xfrm>
            <a:off x="891382" y="3411531"/>
            <a:ext cx="114133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pre-mRNA</a:t>
            </a:r>
          </a:p>
        </p:txBody>
      </p:sp>
      <p:sp>
        <p:nvSpPr>
          <p:cNvPr id="27" name="TextBox 28"/>
          <p:cNvSpPr txBox="1">
            <a:spLocks noChangeArrowheads="1"/>
          </p:cNvSpPr>
          <p:nvPr/>
        </p:nvSpPr>
        <p:spPr bwMode="auto">
          <a:xfrm>
            <a:off x="2362200" y="3411533"/>
            <a:ext cx="21800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V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39</a:t>
            </a:r>
            <a:endParaRPr lang="en-US" sz="12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</p:txBody>
      </p:sp>
      <p:sp>
        <p:nvSpPr>
          <p:cNvPr id="28" name="TextBox 29"/>
          <p:cNvSpPr txBox="1">
            <a:spLocks noChangeArrowheads="1"/>
          </p:cNvSpPr>
          <p:nvPr/>
        </p:nvSpPr>
        <p:spPr bwMode="auto">
          <a:xfrm>
            <a:off x="3101975" y="3443283"/>
            <a:ext cx="437620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ＭＳ Ｐゴシック" charset="0"/>
              </a:rPr>
              <a:t>Intron</a:t>
            </a:r>
          </a:p>
        </p:txBody>
      </p:sp>
      <p:sp>
        <p:nvSpPr>
          <p:cNvPr id="29" name="TextBox 30"/>
          <p:cNvSpPr txBox="1">
            <a:spLocks noChangeArrowheads="1"/>
          </p:cNvSpPr>
          <p:nvPr/>
        </p:nvSpPr>
        <p:spPr bwMode="auto">
          <a:xfrm>
            <a:off x="3944937" y="3436933"/>
            <a:ext cx="11060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FFFFFF"/>
                </a:solidFill>
                <a:latin typeface="Arial"/>
                <a:ea typeface="ＭＳ Ｐゴシック" charset="0"/>
              </a:rPr>
              <a:t>C</a:t>
            </a:r>
          </a:p>
        </p:txBody>
      </p:sp>
      <p:sp>
        <p:nvSpPr>
          <p:cNvPr id="30" name="TextBox 31"/>
          <p:cNvSpPr txBox="1">
            <a:spLocks noChangeArrowheads="1"/>
          </p:cNvSpPr>
          <p:nvPr/>
        </p:nvSpPr>
        <p:spPr bwMode="auto">
          <a:xfrm>
            <a:off x="3603625" y="3952868"/>
            <a:ext cx="178677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RNA processing</a:t>
            </a:r>
          </a:p>
        </p:txBody>
      </p:sp>
      <p:sp>
        <p:nvSpPr>
          <p:cNvPr id="31" name="TextBox 32"/>
          <p:cNvSpPr txBox="1">
            <a:spLocks noChangeArrowheads="1"/>
          </p:cNvSpPr>
          <p:nvPr/>
        </p:nvSpPr>
        <p:spPr bwMode="auto">
          <a:xfrm>
            <a:off x="999332" y="4510081"/>
            <a:ext cx="70532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mRNA</a:t>
            </a:r>
          </a:p>
        </p:txBody>
      </p:sp>
      <p:sp>
        <p:nvSpPr>
          <p:cNvPr id="32" name="TextBox 33"/>
          <p:cNvSpPr txBox="1">
            <a:spLocks noChangeArrowheads="1"/>
          </p:cNvSpPr>
          <p:nvPr/>
        </p:nvSpPr>
        <p:spPr bwMode="auto">
          <a:xfrm>
            <a:off x="1944687" y="4551358"/>
            <a:ext cx="290144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ＭＳ Ｐゴシック" charset="0"/>
              </a:rPr>
              <a:t>Cap</a:t>
            </a:r>
          </a:p>
        </p:txBody>
      </p:sp>
      <p:sp>
        <p:nvSpPr>
          <p:cNvPr id="34" name="TextBox 35"/>
          <p:cNvSpPr txBox="1">
            <a:spLocks noChangeArrowheads="1"/>
          </p:cNvSpPr>
          <p:nvPr/>
        </p:nvSpPr>
        <p:spPr bwMode="auto">
          <a:xfrm>
            <a:off x="3316287" y="4557708"/>
            <a:ext cx="11060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FFFFFF"/>
                </a:solidFill>
                <a:latin typeface="Arial"/>
                <a:ea typeface="ＭＳ Ｐゴシック" charset="0"/>
              </a:rPr>
              <a:t>C</a:t>
            </a:r>
          </a:p>
        </p:txBody>
      </p:sp>
      <p:sp>
        <p:nvSpPr>
          <p:cNvPr id="35" name="TextBox 36"/>
          <p:cNvSpPr txBox="1">
            <a:spLocks noChangeArrowheads="1"/>
          </p:cNvSpPr>
          <p:nvPr/>
        </p:nvSpPr>
        <p:spPr bwMode="auto">
          <a:xfrm>
            <a:off x="3848100" y="4560883"/>
            <a:ext cx="747705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ＭＳ Ｐゴシック" charset="0"/>
              </a:rPr>
              <a:t>Poly-A tail</a:t>
            </a:r>
          </a:p>
        </p:txBody>
      </p:sp>
      <p:sp>
        <p:nvSpPr>
          <p:cNvPr id="36" name="TextBox 37"/>
          <p:cNvSpPr txBox="1">
            <a:spLocks noChangeArrowheads="1"/>
          </p:cNvSpPr>
          <p:nvPr/>
        </p:nvSpPr>
        <p:spPr bwMode="auto">
          <a:xfrm>
            <a:off x="5999162" y="4745033"/>
            <a:ext cx="102592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V</a:t>
            </a:r>
          </a:p>
        </p:txBody>
      </p:sp>
      <p:sp>
        <p:nvSpPr>
          <p:cNvPr id="37" name="TextBox 38"/>
          <p:cNvSpPr txBox="1">
            <a:spLocks noChangeArrowheads="1"/>
          </p:cNvSpPr>
          <p:nvPr/>
        </p:nvSpPr>
        <p:spPr bwMode="auto">
          <a:xfrm>
            <a:off x="7261225" y="4749795"/>
            <a:ext cx="102592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V</a:t>
            </a:r>
          </a:p>
        </p:txBody>
      </p:sp>
      <p:sp>
        <p:nvSpPr>
          <p:cNvPr id="38" name="TextBox 39"/>
          <p:cNvSpPr txBox="1">
            <a:spLocks noChangeArrowheads="1"/>
          </p:cNvSpPr>
          <p:nvPr/>
        </p:nvSpPr>
        <p:spPr bwMode="auto">
          <a:xfrm>
            <a:off x="7464425" y="4930770"/>
            <a:ext cx="102592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V</a:t>
            </a:r>
          </a:p>
        </p:txBody>
      </p:sp>
      <p:sp>
        <p:nvSpPr>
          <p:cNvPr id="39" name="TextBox 40"/>
          <p:cNvSpPr txBox="1">
            <a:spLocks noChangeArrowheads="1"/>
          </p:cNvSpPr>
          <p:nvPr/>
        </p:nvSpPr>
        <p:spPr bwMode="auto">
          <a:xfrm>
            <a:off x="6083300" y="5270495"/>
            <a:ext cx="11060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C</a:t>
            </a:r>
          </a:p>
        </p:txBody>
      </p:sp>
      <p:sp>
        <p:nvSpPr>
          <p:cNvPr id="40" name="TextBox 41"/>
          <p:cNvSpPr txBox="1">
            <a:spLocks noChangeArrowheads="1"/>
          </p:cNvSpPr>
          <p:nvPr/>
        </p:nvSpPr>
        <p:spPr bwMode="auto">
          <a:xfrm>
            <a:off x="7180262" y="5249858"/>
            <a:ext cx="11060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C</a:t>
            </a:r>
          </a:p>
        </p:txBody>
      </p:sp>
      <p:sp>
        <p:nvSpPr>
          <p:cNvPr id="41" name="TextBox 42"/>
          <p:cNvSpPr txBox="1">
            <a:spLocks noChangeArrowheads="1"/>
          </p:cNvSpPr>
          <p:nvPr/>
        </p:nvSpPr>
        <p:spPr bwMode="auto">
          <a:xfrm>
            <a:off x="6496050" y="5727695"/>
            <a:ext cx="35105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C   C</a:t>
            </a:r>
          </a:p>
        </p:txBody>
      </p:sp>
      <p:sp>
        <p:nvSpPr>
          <p:cNvPr id="42" name="TextBox 43"/>
          <p:cNvSpPr txBox="1">
            <a:spLocks noChangeArrowheads="1"/>
          </p:cNvSpPr>
          <p:nvPr/>
        </p:nvSpPr>
        <p:spPr bwMode="auto">
          <a:xfrm>
            <a:off x="5792787" y="4932358"/>
            <a:ext cx="102592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V</a:t>
            </a:r>
          </a:p>
        </p:txBody>
      </p:sp>
      <p:sp>
        <p:nvSpPr>
          <p:cNvPr id="43" name="TextBox 44"/>
          <p:cNvSpPr txBox="1">
            <a:spLocks noChangeArrowheads="1"/>
          </p:cNvSpPr>
          <p:nvPr/>
        </p:nvSpPr>
        <p:spPr bwMode="auto">
          <a:xfrm>
            <a:off x="3603595" y="4987919"/>
            <a:ext cx="123117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Translation</a:t>
            </a:r>
          </a:p>
        </p:txBody>
      </p:sp>
      <p:sp>
        <p:nvSpPr>
          <p:cNvPr id="44" name="TextBox 45"/>
          <p:cNvSpPr txBox="1">
            <a:spLocks noChangeArrowheads="1"/>
          </p:cNvSpPr>
          <p:nvPr/>
        </p:nvSpPr>
        <p:spPr bwMode="auto">
          <a:xfrm>
            <a:off x="999332" y="5441944"/>
            <a:ext cx="1295226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Light-chain</a:t>
            </a:r>
          </a:p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polypeptide</a:t>
            </a:r>
          </a:p>
        </p:txBody>
      </p:sp>
      <p:sp>
        <p:nvSpPr>
          <p:cNvPr id="45" name="TextBox 47"/>
          <p:cNvSpPr txBox="1">
            <a:spLocks noChangeArrowheads="1"/>
          </p:cNvSpPr>
          <p:nvPr/>
        </p:nvSpPr>
        <p:spPr bwMode="auto">
          <a:xfrm>
            <a:off x="2736850" y="5651495"/>
            <a:ext cx="102592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V</a:t>
            </a:r>
          </a:p>
        </p:txBody>
      </p:sp>
      <p:sp>
        <p:nvSpPr>
          <p:cNvPr id="46" name="TextBox 48"/>
          <p:cNvSpPr txBox="1">
            <a:spLocks noChangeArrowheads="1"/>
          </p:cNvSpPr>
          <p:nvPr/>
        </p:nvSpPr>
        <p:spPr bwMode="auto">
          <a:xfrm>
            <a:off x="3327400" y="5651495"/>
            <a:ext cx="11060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ＭＳ Ｐゴシック" charset="0"/>
              </a:rPr>
              <a:t>C</a:t>
            </a:r>
          </a:p>
        </p:txBody>
      </p:sp>
      <p:sp>
        <p:nvSpPr>
          <p:cNvPr id="47" name="TextBox 49"/>
          <p:cNvSpPr txBox="1">
            <a:spLocks noChangeArrowheads="1"/>
          </p:cNvSpPr>
          <p:nvPr/>
        </p:nvSpPr>
        <p:spPr bwMode="auto">
          <a:xfrm>
            <a:off x="4553744" y="5753094"/>
            <a:ext cx="1846659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 receptor</a:t>
            </a:r>
          </a:p>
        </p:txBody>
      </p:sp>
      <p:sp>
        <p:nvSpPr>
          <p:cNvPr id="48" name="TextBox 50"/>
          <p:cNvSpPr txBox="1">
            <a:spLocks noChangeArrowheads="1"/>
          </p:cNvSpPr>
          <p:nvPr/>
        </p:nvSpPr>
        <p:spPr bwMode="auto">
          <a:xfrm>
            <a:off x="4618832" y="6238869"/>
            <a:ext cx="61555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 cell</a:t>
            </a:r>
          </a:p>
        </p:txBody>
      </p:sp>
      <p:sp>
        <p:nvSpPr>
          <p:cNvPr id="49" name="TextBox 51"/>
          <p:cNvSpPr txBox="1">
            <a:spLocks noChangeArrowheads="1"/>
          </p:cNvSpPr>
          <p:nvPr/>
        </p:nvSpPr>
        <p:spPr bwMode="auto">
          <a:xfrm>
            <a:off x="2091532" y="6084881"/>
            <a:ext cx="88492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Variable</a:t>
            </a:r>
          </a:p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region</a:t>
            </a:r>
          </a:p>
        </p:txBody>
      </p:sp>
      <p:sp>
        <p:nvSpPr>
          <p:cNvPr id="50" name="TextBox 53"/>
          <p:cNvSpPr txBox="1">
            <a:spLocks noChangeArrowheads="1"/>
          </p:cNvSpPr>
          <p:nvPr/>
        </p:nvSpPr>
        <p:spPr bwMode="auto">
          <a:xfrm>
            <a:off x="3121041" y="6085679"/>
            <a:ext cx="100027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Constant</a:t>
            </a:r>
          </a:p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region</a:t>
            </a:r>
          </a:p>
        </p:txBody>
      </p:sp>
      <p:sp>
        <p:nvSpPr>
          <p:cNvPr id="51" name="TextBox 10"/>
          <p:cNvSpPr txBox="1">
            <a:spLocks noChangeArrowheads="1"/>
          </p:cNvSpPr>
          <p:nvPr/>
        </p:nvSpPr>
        <p:spPr bwMode="auto">
          <a:xfrm>
            <a:off x="6569060" y="572305"/>
            <a:ext cx="14266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J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5</a:t>
            </a:r>
            <a:endParaRPr lang="en-US" sz="12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</p:txBody>
      </p:sp>
      <p:sp>
        <p:nvSpPr>
          <p:cNvPr id="52" name="TextBox 21"/>
          <p:cNvSpPr txBox="1">
            <a:spLocks noChangeArrowheads="1"/>
          </p:cNvSpPr>
          <p:nvPr/>
        </p:nvSpPr>
        <p:spPr bwMode="auto">
          <a:xfrm>
            <a:off x="3469481" y="2034380"/>
            <a:ext cx="14266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J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5</a:t>
            </a:r>
            <a:endParaRPr lang="en-US" sz="12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</p:txBody>
      </p:sp>
      <p:sp>
        <p:nvSpPr>
          <p:cNvPr id="53" name="TextBox 28"/>
          <p:cNvSpPr txBox="1">
            <a:spLocks noChangeArrowheads="1"/>
          </p:cNvSpPr>
          <p:nvPr/>
        </p:nvSpPr>
        <p:spPr bwMode="auto">
          <a:xfrm>
            <a:off x="2709862" y="3404392"/>
            <a:ext cx="14266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J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5</a:t>
            </a:r>
          </a:p>
        </p:txBody>
      </p:sp>
      <p:sp>
        <p:nvSpPr>
          <p:cNvPr id="54" name="TextBox 28"/>
          <p:cNvSpPr txBox="1">
            <a:spLocks noChangeArrowheads="1"/>
          </p:cNvSpPr>
          <p:nvPr/>
        </p:nvSpPr>
        <p:spPr bwMode="auto">
          <a:xfrm>
            <a:off x="2556035" y="4532150"/>
            <a:ext cx="21800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V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39</a:t>
            </a:r>
            <a:endParaRPr lang="en-US" sz="12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</p:txBody>
      </p:sp>
      <p:sp>
        <p:nvSpPr>
          <p:cNvPr id="55" name="TextBox 28"/>
          <p:cNvSpPr txBox="1">
            <a:spLocks noChangeArrowheads="1"/>
          </p:cNvSpPr>
          <p:nvPr/>
        </p:nvSpPr>
        <p:spPr bwMode="auto">
          <a:xfrm>
            <a:off x="2903697" y="4525009"/>
            <a:ext cx="142668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i="1" dirty="0">
                <a:solidFill>
                  <a:srgbClr val="000000"/>
                </a:solidFill>
                <a:latin typeface="Arial"/>
                <a:ea typeface="ＭＳ Ｐゴシック" charset="0"/>
              </a:rPr>
              <a:t>J</a:t>
            </a:r>
            <a:r>
              <a:rPr lang="en-US" sz="1200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5</a:t>
            </a:r>
          </a:p>
        </p:txBody>
      </p:sp>
      <p:sp>
        <p:nvSpPr>
          <p:cNvPr id="56" name="Freeform 55"/>
          <p:cNvSpPr/>
          <p:nvPr/>
        </p:nvSpPr>
        <p:spPr>
          <a:xfrm>
            <a:off x="5336381" y="6369844"/>
            <a:ext cx="576263" cy="0"/>
          </a:xfrm>
          <a:custGeom>
            <a:avLst/>
            <a:gdLst>
              <a:gd name="connsiteX0" fmla="*/ 0 w 576263"/>
              <a:gd name="connsiteY0" fmla="*/ 0 h 0"/>
              <a:gd name="connsiteX1" fmla="*/ 576263 w 57626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76263">
                <a:moveTo>
                  <a:pt x="0" y="0"/>
                </a:moveTo>
                <a:lnTo>
                  <a:pt x="576263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57" name="Left Brace 56"/>
          <p:cNvSpPr/>
          <p:nvPr/>
        </p:nvSpPr>
        <p:spPr bwMode="auto">
          <a:xfrm rot="16200000">
            <a:off x="4741072" y="-673893"/>
            <a:ext cx="180973" cy="3433758"/>
          </a:xfrm>
          <a:prstGeom prst="leftBrace">
            <a:avLst>
              <a:gd name="adj1" fmla="val 35162"/>
              <a:gd name="adj2" fmla="val 50555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58" name="Left Brace 57"/>
          <p:cNvSpPr/>
          <p:nvPr/>
        </p:nvSpPr>
        <p:spPr bwMode="auto">
          <a:xfrm rot="16200000">
            <a:off x="3938590" y="1408109"/>
            <a:ext cx="180973" cy="1974852"/>
          </a:xfrm>
          <a:prstGeom prst="leftBrace">
            <a:avLst>
              <a:gd name="adj1" fmla="val 35162"/>
              <a:gd name="adj2" fmla="val 50804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59" name="Left Brace 58"/>
          <p:cNvSpPr/>
          <p:nvPr/>
        </p:nvSpPr>
        <p:spPr bwMode="auto">
          <a:xfrm rot="16200000">
            <a:off x="2696451" y="5678723"/>
            <a:ext cx="180973" cy="622143"/>
          </a:xfrm>
          <a:prstGeom prst="leftBrace">
            <a:avLst>
              <a:gd name="adj1" fmla="val 35162"/>
              <a:gd name="adj2" fmla="val 50804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60" name="Left Brace 59"/>
          <p:cNvSpPr/>
          <p:nvPr/>
        </p:nvSpPr>
        <p:spPr bwMode="auto">
          <a:xfrm rot="16200000">
            <a:off x="3278666" y="5715633"/>
            <a:ext cx="180973" cy="548322"/>
          </a:xfrm>
          <a:prstGeom prst="leftBrace">
            <a:avLst>
              <a:gd name="adj1" fmla="val 35162"/>
              <a:gd name="adj2" fmla="val 50804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grpSp>
        <p:nvGrpSpPr>
          <p:cNvPr id="68" name="Group 67"/>
          <p:cNvGrpSpPr/>
          <p:nvPr/>
        </p:nvGrpSpPr>
        <p:grpSpPr>
          <a:xfrm>
            <a:off x="3252787" y="4988073"/>
            <a:ext cx="256032" cy="256480"/>
            <a:chOff x="3252787" y="4988073"/>
            <a:chExt cx="256032" cy="256480"/>
          </a:xfrm>
        </p:grpSpPr>
        <p:sp>
          <p:nvSpPr>
            <p:cNvPr id="62" name="Oval 61"/>
            <p:cNvSpPr/>
            <p:nvPr/>
          </p:nvSpPr>
          <p:spPr bwMode="auto">
            <a:xfrm>
              <a:off x="3252787" y="4988297"/>
              <a:ext cx="256032" cy="256032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63" name="TextBox 44"/>
            <p:cNvSpPr txBox="1">
              <a:spLocks noChangeArrowheads="1"/>
            </p:cNvSpPr>
            <p:nvPr/>
          </p:nvSpPr>
          <p:spPr bwMode="auto">
            <a:xfrm>
              <a:off x="3316683" y="4988073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4</a:t>
              </a:r>
            </a:p>
          </p:txBody>
        </p:sp>
      </p:grpSp>
      <p:grpSp>
        <p:nvGrpSpPr>
          <p:cNvPr id="69" name="Group 68"/>
          <p:cNvGrpSpPr/>
          <p:nvPr/>
        </p:nvGrpSpPr>
        <p:grpSpPr>
          <a:xfrm>
            <a:off x="3250406" y="3954614"/>
            <a:ext cx="256032" cy="256480"/>
            <a:chOff x="3252787" y="4988073"/>
            <a:chExt cx="256032" cy="256480"/>
          </a:xfrm>
        </p:grpSpPr>
        <p:sp>
          <p:nvSpPr>
            <p:cNvPr id="70" name="Oval 69"/>
            <p:cNvSpPr/>
            <p:nvPr/>
          </p:nvSpPr>
          <p:spPr bwMode="auto">
            <a:xfrm>
              <a:off x="3252787" y="4988297"/>
              <a:ext cx="256032" cy="256032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71" name="TextBox 44"/>
            <p:cNvSpPr txBox="1">
              <a:spLocks noChangeArrowheads="1"/>
            </p:cNvSpPr>
            <p:nvPr/>
          </p:nvSpPr>
          <p:spPr bwMode="auto">
            <a:xfrm>
              <a:off x="3316683" y="4988073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3</a:t>
              </a:r>
            </a:p>
          </p:txBody>
        </p:sp>
      </p:grpSp>
      <p:grpSp>
        <p:nvGrpSpPr>
          <p:cNvPr id="72" name="Group 71"/>
          <p:cNvGrpSpPr/>
          <p:nvPr/>
        </p:nvGrpSpPr>
        <p:grpSpPr>
          <a:xfrm>
            <a:off x="3250406" y="2773512"/>
            <a:ext cx="256032" cy="256480"/>
            <a:chOff x="3252787" y="4988073"/>
            <a:chExt cx="256032" cy="256480"/>
          </a:xfrm>
        </p:grpSpPr>
        <p:sp>
          <p:nvSpPr>
            <p:cNvPr id="73" name="Oval 72"/>
            <p:cNvSpPr/>
            <p:nvPr/>
          </p:nvSpPr>
          <p:spPr bwMode="auto">
            <a:xfrm>
              <a:off x="3252787" y="4988297"/>
              <a:ext cx="256032" cy="256032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74" name="TextBox 44"/>
            <p:cNvSpPr txBox="1">
              <a:spLocks noChangeArrowheads="1"/>
            </p:cNvSpPr>
            <p:nvPr/>
          </p:nvSpPr>
          <p:spPr bwMode="auto">
            <a:xfrm>
              <a:off x="3316683" y="4988073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2</a:t>
              </a:r>
            </a:p>
          </p:txBody>
        </p:sp>
      </p:grpSp>
      <p:grpSp>
        <p:nvGrpSpPr>
          <p:cNvPr id="75" name="Group 74"/>
          <p:cNvGrpSpPr/>
          <p:nvPr/>
        </p:nvGrpSpPr>
        <p:grpSpPr>
          <a:xfrm>
            <a:off x="3250883" y="1158551"/>
            <a:ext cx="256032" cy="256480"/>
            <a:chOff x="3252787" y="4988073"/>
            <a:chExt cx="256032" cy="256480"/>
          </a:xfrm>
        </p:grpSpPr>
        <p:sp>
          <p:nvSpPr>
            <p:cNvPr id="76" name="Oval 75"/>
            <p:cNvSpPr/>
            <p:nvPr/>
          </p:nvSpPr>
          <p:spPr bwMode="auto">
            <a:xfrm>
              <a:off x="3252787" y="4988297"/>
              <a:ext cx="256032" cy="256032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77" name="TextBox 44"/>
            <p:cNvSpPr txBox="1">
              <a:spLocks noChangeArrowheads="1"/>
            </p:cNvSpPr>
            <p:nvPr/>
          </p:nvSpPr>
          <p:spPr bwMode="auto">
            <a:xfrm>
              <a:off x="3316683" y="4988073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329094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Origin of Self-Tolerance</a:t>
            </a:r>
            <a:endParaRPr lang="en-US" altLang="en-US" dirty="0"/>
          </a:p>
        </p:txBody>
      </p:sp>
      <p:sp>
        <p:nvSpPr>
          <p:cNvPr id="778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Antigen receptors are generated by random rearrangement of DNA</a:t>
            </a:r>
          </a:p>
          <a:p>
            <a:r>
              <a:rPr lang="en-US" altLang="en-US" dirty="0"/>
              <a:t>As lymphocytes mature in bone marrow or the thymus, they are tested for self-reactivity</a:t>
            </a:r>
          </a:p>
          <a:p>
            <a:r>
              <a:rPr lang="en-US" altLang="en-US" dirty="0"/>
              <a:t>Some B and T cells with receptors specific for the body</a:t>
            </a:r>
            <a:r>
              <a:rPr lang="ja-JP" altLang="en-US" dirty="0"/>
              <a:t>’</a:t>
            </a:r>
            <a:r>
              <a:rPr lang="en-US" altLang="ja-JP" dirty="0"/>
              <a:t>s own molecules are destroyed by apoptosis, or programmed cell death</a:t>
            </a:r>
          </a:p>
          <a:p>
            <a:r>
              <a:rPr lang="en-US" altLang="en-US" dirty="0"/>
              <a:t>The remainder are rendered nonfunctional</a:t>
            </a:r>
          </a:p>
          <a:p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414987318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 i="1"/>
              <a:t>Proliferation of B Cells and T Cells</a:t>
            </a:r>
            <a:endParaRPr lang="en-US" altLang="en-US" dirty="0"/>
          </a:p>
        </p:txBody>
      </p:sp>
      <p:sp>
        <p:nvSpPr>
          <p:cNvPr id="788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the body there are few lymphocytes with antigen receptors for any particular epitope</a:t>
            </a:r>
          </a:p>
          <a:p>
            <a:r>
              <a:rPr lang="en-US" altLang="en-US" dirty="0"/>
              <a:t>In the lymph nodes, an antigen is exposed to a steady stream of lymphocytes until a match is made</a:t>
            </a:r>
          </a:p>
          <a:p>
            <a:r>
              <a:rPr lang="en-US" altLang="en-US" dirty="0"/>
              <a:t>This binding of a mature lymphocyte to an antigen initiates events that activate the lymphocyte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4262037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Once activated, a B or T cell undergoes multiple cell divisions (</a:t>
            </a:r>
            <a:r>
              <a:rPr lang="en-US" altLang="en-US" b="1" dirty="0"/>
              <a:t>clonal selection</a:t>
            </a:r>
            <a:r>
              <a:rPr lang="en-US" altLang="en-US" dirty="0"/>
              <a:t>) to produce a clone of identical cells</a:t>
            </a:r>
            <a:endParaRPr lang="en-US" altLang="en-US" b="1" dirty="0"/>
          </a:p>
          <a:p>
            <a:r>
              <a:rPr lang="en-US" altLang="en-US" dirty="0"/>
              <a:t>Some cells from the clone become </a:t>
            </a:r>
            <a:r>
              <a:rPr lang="en-US" altLang="en-US" b="1" dirty="0"/>
              <a:t>effector cells</a:t>
            </a:r>
            <a:r>
              <a:rPr lang="en-US" altLang="en-US" dirty="0"/>
              <a:t> that act immediately against the antigen</a:t>
            </a:r>
          </a:p>
          <a:p>
            <a:r>
              <a:rPr lang="en-US" altLang="en-US" dirty="0"/>
              <a:t>Effector cells are plasma cells that secrete antibodies</a:t>
            </a:r>
          </a:p>
          <a:p>
            <a:r>
              <a:rPr lang="en-US" altLang="en-US" dirty="0"/>
              <a:t>The remaining cells in the clone become long-lived </a:t>
            </a:r>
            <a:r>
              <a:rPr lang="en-US" altLang="en-US" b="1" dirty="0"/>
              <a:t>memory cells</a:t>
            </a:r>
            <a:r>
              <a:rPr lang="en-US" altLang="en-US" dirty="0"/>
              <a:t> that can give rise to effector cells if the same antigen is encountered again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3390081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298704" y="213360"/>
            <a:ext cx="8546592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47.14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335914" y="535782"/>
            <a:ext cx="1365758" cy="11285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 cells that</a:t>
            </a:r>
          </a:p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differ in</a:t>
            </a:r>
          </a:p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</a:t>
            </a:r>
          </a:p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specificity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5392894" y="658813"/>
            <a:ext cx="955390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7796370" y="870744"/>
            <a:ext cx="1025922" cy="56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</a:t>
            </a:r>
          </a:p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receptor</a:t>
            </a:r>
          </a:p>
        </p:txBody>
      </p:sp>
      <p:sp>
        <p:nvSpPr>
          <p:cNvPr id="9" name="TextBox 9"/>
          <p:cNvSpPr txBox="1">
            <a:spLocks noChangeArrowheads="1"/>
          </p:cNvSpPr>
          <p:nvPr/>
        </p:nvSpPr>
        <p:spPr bwMode="auto">
          <a:xfrm>
            <a:off x="6978013" y="4446588"/>
            <a:ext cx="1112484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Antibody</a:t>
            </a:r>
          </a:p>
        </p:txBody>
      </p:sp>
      <p:sp>
        <p:nvSpPr>
          <p:cNvPr id="10" name="TextBox 10"/>
          <p:cNvSpPr txBox="1">
            <a:spLocks noChangeArrowheads="1"/>
          </p:cNvSpPr>
          <p:nvPr/>
        </p:nvSpPr>
        <p:spPr bwMode="auto">
          <a:xfrm>
            <a:off x="1359851" y="6344444"/>
            <a:ext cx="1622239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Memory cells</a:t>
            </a:r>
          </a:p>
        </p:txBody>
      </p:sp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5396863" y="6385719"/>
            <a:ext cx="1537280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Plasma cells</a:t>
            </a:r>
          </a:p>
        </p:txBody>
      </p:sp>
      <p:sp>
        <p:nvSpPr>
          <p:cNvPr id="12" name="Freeform 11"/>
          <p:cNvSpPr/>
          <p:nvPr/>
        </p:nvSpPr>
        <p:spPr>
          <a:xfrm>
            <a:off x="6581775" y="4583906"/>
            <a:ext cx="371475" cy="185738"/>
          </a:xfrm>
          <a:custGeom>
            <a:avLst/>
            <a:gdLst>
              <a:gd name="connsiteX0" fmla="*/ 0 w 371475"/>
              <a:gd name="connsiteY0" fmla="*/ 185738 h 185738"/>
              <a:gd name="connsiteX1" fmla="*/ 371475 w 371475"/>
              <a:gd name="connsiteY1" fmla="*/ 0 h 18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1475" h="185738">
                <a:moveTo>
                  <a:pt x="0" y="185738"/>
                </a:moveTo>
                <a:lnTo>
                  <a:pt x="37147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13" name="Freeform 12"/>
          <p:cNvSpPr/>
          <p:nvPr/>
        </p:nvSpPr>
        <p:spPr>
          <a:xfrm>
            <a:off x="7365206" y="900113"/>
            <a:ext cx="428625" cy="90487"/>
          </a:xfrm>
          <a:custGeom>
            <a:avLst/>
            <a:gdLst>
              <a:gd name="connsiteX0" fmla="*/ 0 w 428625"/>
              <a:gd name="connsiteY0" fmla="*/ 0 h 90487"/>
              <a:gd name="connsiteX1" fmla="*/ 428625 w 428625"/>
              <a:gd name="connsiteY1" fmla="*/ 90487 h 904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8625" h="90487">
                <a:moveTo>
                  <a:pt x="0" y="0"/>
                </a:moveTo>
                <a:lnTo>
                  <a:pt x="428625" y="90487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14" name="Freeform 13"/>
          <p:cNvSpPr/>
          <p:nvPr/>
        </p:nvSpPr>
        <p:spPr>
          <a:xfrm>
            <a:off x="4967288" y="707231"/>
            <a:ext cx="407193" cy="76200"/>
          </a:xfrm>
          <a:custGeom>
            <a:avLst/>
            <a:gdLst>
              <a:gd name="connsiteX0" fmla="*/ 0 w 407193"/>
              <a:gd name="connsiteY0" fmla="*/ 0 h 76200"/>
              <a:gd name="connsiteX1" fmla="*/ 407193 w 407193"/>
              <a:gd name="connsiteY1" fmla="*/ 76200 h 76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7193" h="76200">
                <a:moveTo>
                  <a:pt x="0" y="0"/>
                </a:moveTo>
                <a:lnTo>
                  <a:pt x="407193" y="7620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15" name="Left Brace 14"/>
          <p:cNvSpPr/>
          <p:nvPr/>
        </p:nvSpPr>
        <p:spPr bwMode="auto">
          <a:xfrm>
            <a:off x="1679575" y="449259"/>
            <a:ext cx="258763" cy="1268416"/>
          </a:xfrm>
          <a:prstGeom prst="leftBrace">
            <a:avLst>
              <a:gd name="adj1" fmla="val 35162"/>
              <a:gd name="adj2" fmla="val 473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700540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Immunological Memory</a:t>
            </a:r>
            <a:endParaRPr lang="en-US" dirty="0"/>
          </a:p>
        </p:txBody>
      </p:sp>
      <p:sp>
        <p:nvSpPr>
          <p:cNvPr id="82945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Immunological memory is responsible for long-term protections against diseases </a:t>
            </a:r>
          </a:p>
          <a:p>
            <a:r>
              <a:rPr lang="en-US" altLang="en-US" dirty="0"/>
              <a:t>The first exposure to a specific antigen represents the </a:t>
            </a:r>
            <a:r>
              <a:rPr lang="en-US" altLang="en-US" b="1" dirty="0"/>
              <a:t>primary immune response </a:t>
            </a:r>
          </a:p>
          <a:p>
            <a:r>
              <a:rPr lang="en-US" altLang="en-US" dirty="0"/>
              <a:t>A clone of lymphocytes is formed</a:t>
            </a:r>
          </a:p>
          <a:p>
            <a:r>
              <a:rPr lang="en-US" altLang="en-US" dirty="0"/>
              <a:t>In the </a:t>
            </a:r>
            <a:r>
              <a:rPr lang="en-US" altLang="en-US" b="1" dirty="0"/>
              <a:t>secondary immune response</a:t>
            </a:r>
            <a:r>
              <a:rPr lang="en-US" altLang="en-US" dirty="0"/>
              <a:t>, memory cells facilitate a faster, more efficient response from a reservoir of T and B memory cells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423946278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774192" y="180191"/>
            <a:ext cx="7595616" cy="6431280"/>
          </a:xfrm>
          <a:prstGeom prst="rect">
            <a:avLst/>
          </a:prstGeom>
        </p:spPr>
      </p:pic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805771" y="183411"/>
            <a:ext cx="2006960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Primary immune</a:t>
            </a:r>
          </a:p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response to</a:t>
            </a:r>
          </a:p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 A</a:t>
            </a: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1528878" y="1474049"/>
            <a:ext cx="379912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10</a:t>
            </a:r>
            <a:r>
              <a:rPr lang="en-US" sz="2000" b="1" baseline="30000" dirty="0">
                <a:solidFill>
                  <a:srgbClr val="000000"/>
                </a:solidFill>
                <a:latin typeface="Arial"/>
                <a:ea typeface="ＭＳ Ｐゴシック" charset="0"/>
              </a:rPr>
              <a:t>4</a:t>
            </a: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1531259" y="2302724"/>
            <a:ext cx="379912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10</a:t>
            </a:r>
            <a:r>
              <a:rPr lang="en-US" sz="2000" b="1" baseline="30000" dirty="0">
                <a:solidFill>
                  <a:srgbClr val="000000"/>
                </a:solidFill>
                <a:latin typeface="Arial"/>
                <a:ea typeface="ＭＳ Ｐゴシック" charset="0"/>
              </a:rPr>
              <a:t>3</a:t>
            </a: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1526497" y="3132987"/>
            <a:ext cx="379912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10</a:t>
            </a:r>
            <a:r>
              <a:rPr lang="en-US" sz="2000" b="1" baseline="30000" dirty="0">
                <a:solidFill>
                  <a:srgbClr val="000000"/>
                </a:solidFill>
                <a:latin typeface="Arial"/>
                <a:ea typeface="ＭＳ Ｐゴシック" charset="0"/>
              </a:rPr>
              <a:t>2</a:t>
            </a:r>
          </a:p>
        </p:txBody>
      </p:sp>
      <p:sp>
        <p:nvSpPr>
          <p:cNvPr id="10" name="TextBox 8"/>
          <p:cNvSpPr txBox="1">
            <a:spLocks noChangeArrowheads="1"/>
          </p:cNvSpPr>
          <p:nvPr/>
        </p:nvSpPr>
        <p:spPr bwMode="auto">
          <a:xfrm>
            <a:off x="1526497" y="3962456"/>
            <a:ext cx="379912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10</a:t>
            </a:r>
            <a:r>
              <a:rPr lang="en-US" sz="2000" b="1" baseline="30000" dirty="0">
                <a:solidFill>
                  <a:srgbClr val="000000"/>
                </a:solidFill>
                <a:latin typeface="Arial"/>
                <a:ea typeface="ＭＳ Ｐゴシック" charset="0"/>
              </a:rPr>
              <a:t>1</a:t>
            </a:r>
          </a:p>
        </p:txBody>
      </p:sp>
      <p:sp>
        <p:nvSpPr>
          <p:cNvPr id="11" name="TextBox 9"/>
          <p:cNvSpPr txBox="1">
            <a:spLocks noChangeArrowheads="1"/>
          </p:cNvSpPr>
          <p:nvPr/>
        </p:nvSpPr>
        <p:spPr bwMode="auto">
          <a:xfrm>
            <a:off x="1528878" y="4798274"/>
            <a:ext cx="379912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10</a:t>
            </a:r>
            <a:r>
              <a:rPr lang="en-US" sz="2000" b="1" baseline="30000" dirty="0">
                <a:solidFill>
                  <a:srgbClr val="000000"/>
                </a:solidFill>
                <a:latin typeface="Arial"/>
                <a:ea typeface="ＭＳ Ｐゴシック" charset="0"/>
              </a:rPr>
              <a:t>0</a:t>
            </a:r>
          </a:p>
        </p:txBody>
      </p:sp>
      <p:sp>
        <p:nvSpPr>
          <p:cNvPr id="12" name="TextBox 10"/>
          <p:cNvSpPr txBox="1">
            <a:spLocks noChangeArrowheads="1"/>
          </p:cNvSpPr>
          <p:nvPr/>
        </p:nvSpPr>
        <p:spPr bwMode="auto">
          <a:xfrm>
            <a:off x="1999571" y="5039574"/>
            <a:ext cx="142668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0</a:t>
            </a:r>
          </a:p>
        </p:txBody>
      </p:sp>
      <p:sp>
        <p:nvSpPr>
          <p:cNvPr id="13" name="TextBox 11"/>
          <p:cNvSpPr txBox="1">
            <a:spLocks noChangeArrowheads="1"/>
          </p:cNvSpPr>
          <p:nvPr/>
        </p:nvSpPr>
        <p:spPr bwMode="auto">
          <a:xfrm>
            <a:off x="2699658" y="5039574"/>
            <a:ext cx="142668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7</a:t>
            </a:r>
          </a:p>
        </p:txBody>
      </p:sp>
      <p:sp>
        <p:nvSpPr>
          <p:cNvPr id="14" name="TextBox 12"/>
          <p:cNvSpPr txBox="1">
            <a:spLocks noChangeArrowheads="1"/>
          </p:cNvSpPr>
          <p:nvPr/>
        </p:nvSpPr>
        <p:spPr bwMode="auto">
          <a:xfrm>
            <a:off x="3331483" y="5039574"/>
            <a:ext cx="285335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14</a:t>
            </a:r>
          </a:p>
        </p:txBody>
      </p:sp>
      <p:sp>
        <p:nvSpPr>
          <p:cNvPr id="15" name="TextBox 13"/>
          <p:cNvSpPr txBox="1">
            <a:spLocks noChangeArrowheads="1"/>
          </p:cNvSpPr>
          <p:nvPr/>
        </p:nvSpPr>
        <p:spPr bwMode="auto">
          <a:xfrm>
            <a:off x="3614058" y="183411"/>
            <a:ext cx="2366032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Secondary immune</a:t>
            </a:r>
          </a:p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response to</a:t>
            </a:r>
          </a:p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antigen A</a:t>
            </a:r>
          </a:p>
        </p:txBody>
      </p:sp>
      <p:sp>
        <p:nvSpPr>
          <p:cNvPr id="16" name="TextBox 16"/>
          <p:cNvSpPr txBox="1">
            <a:spLocks noChangeArrowheads="1"/>
          </p:cNvSpPr>
          <p:nvPr/>
        </p:nvSpPr>
        <p:spPr bwMode="auto">
          <a:xfrm>
            <a:off x="6276296" y="183411"/>
            <a:ext cx="2006960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Primary immune</a:t>
            </a:r>
          </a:p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response to</a:t>
            </a:r>
          </a:p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antigen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0934" y="1693611"/>
            <a:ext cx="564257" cy="2878993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algn="ctr" fontAlgn="auto">
              <a:lnSpc>
                <a:spcPts val="222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Antibody concentration</a:t>
            </a:r>
          </a:p>
          <a:p>
            <a:pPr algn="ctr" fontAlgn="auto">
              <a:lnSpc>
                <a:spcPts val="2225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(arbitrary units)</a:t>
            </a:r>
          </a:p>
        </p:txBody>
      </p:sp>
      <p:sp>
        <p:nvSpPr>
          <p:cNvPr id="19" name="TextBox 21"/>
          <p:cNvSpPr txBox="1">
            <a:spLocks noChangeArrowheads="1"/>
          </p:cNvSpPr>
          <p:nvPr/>
        </p:nvSpPr>
        <p:spPr bwMode="auto">
          <a:xfrm>
            <a:off x="3614058" y="2666262"/>
            <a:ext cx="1325684" cy="56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92C8"/>
                </a:solidFill>
                <a:latin typeface="Arial"/>
                <a:ea typeface="ＭＳ Ｐゴシック" charset="0"/>
              </a:rPr>
              <a:t>Antibodies</a:t>
            </a:r>
          </a:p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92C8"/>
                </a:solidFill>
                <a:latin typeface="Arial"/>
                <a:ea typeface="ＭＳ Ｐゴシック" charset="0"/>
              </a:rPr>
              <a:t>to A</a:t>
            </a:r>
          </a:p>
        </p:txBody>
      </p:sp>
      <p:sp>
        <p:nvSpPr>
          <p:cNvPr id="20" name="TextBox 23"/>
          <p:cNvSpPr txBox="1">
            <a:spLocks noChangeArrowheads="1"/>
          </p:cNvSpPr>
          <p:nvPr/>
        </p:nvSpPr>
        <p:spPr bwMode="auto">
          <a:xfrm>
            <a:off x="5665108" y="3085362"/>
            <a:ext cx="1325684" cy="56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ED1C24"/>
                </a:solidFill>
                <a:latin typeface="Arial"/>
                <a:ea typeface="ＭＳ Ｐゴシック" charset="0"/>
              </a:rPr>
              <a:t>Antibodies</a:t>
            </a:r>
          </a:p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ED1C24"/>
                </a:solidFill>
                <a:latin typeface="Arial"/>
                <a:ea typeface="ＭＳ Ｐゴシック" charset="0"/>
              </a:rPr>
              <a:t>to B</a:t>
            </a:r>
          </a:p>
        </p:txBody>
      </p:sp>
      <p:sp>
        <p:nvSpPr>
          <p:cNvPr id="21" name="TextBox 25"/>
          <p:cNvSpPr txBox="1">
            <a:spLocks noChangeArrowheads="1"/>
          </p:cNvSpPr>
          <p:nvPr/>
        </p:nvSpPr>
        <p:spPr bwMode="auto">
          <a:xfrm>
            <a:off x="4033158" y="5039574"/>
            <a:ext cx="285335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21</a:t>
            </a:r>
          </a:p>
        </p:txBody>
      </p:sp>
      <p:sp>
        <p:nvSpPr>
          <p:cNvPr id="22" name="TextBox 26"/>
          <p:cNvSpPr txBox="1">
            <a:spLocks noChangeArrowheads="1"/>
          </p:cNvSpPr>
          <p:nvPr/>
        </p:nvSpPr>
        <p:spPr bwMode="auto">
          <a:xfrm>
            <a:off x="4734833" y="5039574"/>
            <a:ext cx="285335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28</a:t>
            </a:r>
          </a:p>
        </p:txBody>
      </p:sp>
      <p:sp>
        <p:nvSpPr>
          <p:cNvPr id="23" name="TextBox 27"/>
          <p:cNvSpPr txBox="1">
            <a:spLocks noChangeArrowheads="1"/>
          </p:cNvSpPr>
          <p:nvPr/>
        </p:nvSpPr>
        <p:spPr bwMode="auto">
          <a:xfrm>
            <a:off x="5434921" y="5039574"/>
            <a:ext cx="285335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35</a:t>
            </a:r>
          </a:p>
        </p:txBody>
      </p:sp>
      <p:sp>
        <p:nvSpPr>
          <p:cNvPr id="24" name="TextBox 28"/>
          <p:cNvSpPr txBox="1">
            <a:spLocks noChangeArrowheads="1"/>
          </p:cNvSpPr>
          <p:nvPr/>
        </p:nvSpPr>
        <p:spPr bwMode="auto">
          <a:xfrm>
            <a:off x="6136596" y="5039574"/>
            <a:ext cx="285335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42</a:t>
            </a:r>
          </a:p>
        </p:txBody>
      </p:sp>
      <p:sp>
        <p:nvSpPr>
          <p:cNvPr id="25" name="TextBox 29"/>
          <p:cNvSpPr txBox="1">
            <a:spLocks noChangeArrowheads="1"/>
          </p:cNvSpPr>
          <p:nvPr/>
        </p:nvSpPr>
        <p:spPr bwMode="auto">
          <a:xfrm>
            <a:off x="6838271" y="5039574"/>
            <a:ext cx="285335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49</a:t>
            </a:r>
          </a:p>
        </p:txBody>
      </p:sp>
      <p:sp>
        <p:nvSpPr>
          <p:cNvPr id="26" name="TextBox 30"/>
          <p:cNvSpPr txBox="1">
            <a:spLocks noChangeArrowheads="1"/>
          </p:cNvSpPr>
          <p:nvPr/>
        </p:nvSpPr>
        <p:spPr bwMode="auto">
          <a:xfrm>
            <a:off x="7539946" y="5039574"/>
            <a:ext cx="285335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56</a:t>
            </a:r>
          </a:p>
        </p:txBody>
      </p:sp>
      <p:sp>
        <p:nvSpPr>
          <p:cNvPr id="27" name="TextBox 31"/>
          <p:cNvSpPr txBox="1">
            <a:spLocks noChangeArrowheads="1"/>
          </p:cNvSpPr>
          <p:nvPr/>
        </p:nvSpPr>
        <p:spPr bwMode="auto">
          <a:xfrm>
            <a:off x="1656671" y="5606312"/>
            <a:ext cx="1471685" cy="56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Exposure</a:t>
            </a:r>
          </a:p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to antigen A</a:t>
            </a:r>
          </a:p>
        </p:txBody>
      </p:sp>
      <p:sp>
        <p:nvSpPr>
          <p:cNvPr id="28" name="TextBox 34"/>
          <p:cNvSpPr txBox="1">
            <a:spLocks noChangeArrowheads="1"/>
          </p:cNvSpPr>
          <p:nvPr/>
        </p:nvSpPr>
        <p:spPr bwMode="auto">
          <a:xfrm>
            <a:off x="4306208" y="5606312"/>
            <a:ext cx="2076146" cy="56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Exposure to</a:t>
            </a:r>
          </a:p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antigens A and B</a:t>
            </a:r>
          </a:p>
        </p:txBody>
      </p:sp>
      <p:sp>
        <p:nvSpPr>
          <p:cNvPr id="29" name="TextBox 36"/>
          <p:cNvSpPr txBox="1">
            <a:spLocks noChangeArrowheads="1"/>
          </p:cNvSpPr>
          <p:nvPr/>
        </p:nvSpPr>
        <p:spPr bwMode="auto">
          <a:xfrm>
            <a:off x="4331608" y="6298462"/>
            <a:ext cx="1418850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Time (days)</a:t>
            </a:r>
          </a:p>
        </p:txBody>
      </p:sp>
      <p:sp>
        <p:nvSpPr>
          <p:cNvPr id="30" name="Freeform 29"/>
          <p:cNvSpPr/>
          <p:nvPr/>
        </p:nvSpPr>
        <p:spPr>
          <a:xfrm>
            <a:off x="2006600" y="874881"/>
            <a:ext cx="1600200" cy="3073400"/>
          </a:xfrm>
          <a:custGeom>
            <a:avLst/>
            <a:gdLst>
              <a:gd name="connsiteX0" fmla="*/ 0 w 1600200"/>
              <a:gd name="connsiteY0" fmla="*/ 0 h 3073400"/>
              <a:gd name="connsiteX1" fmla="*/ 1600200 w 1600200"/>
              <a:gd name="connsiteY1" fmla="*/ 3073400 h 3073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00200" h="3073400">
                <a:moveTo>
                  <a:pt x="0" y="0"/>
                </a:moveTo>
                <a:lnTo>
                  <a:pt x="1600200" y="307340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3921919" y="3250575"/>
            <a:ext cx="0" cy="731044"/>
          </a:xfrm>
          <a:custGeom>
            <a:avLst/>
            <a:gdLst>
              <a:gd name="connsiteX0" fmla="*/ 0 w 0"/>
              <a:gd name="connsiteY0" fmla="*/ 0 h 731044"/>
              <a:gd name="connsiteX1" fmla="*/ 0 w 0"/>
              <a:gd name="connsiteY1" fmla="*/ 731044 h 7310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731044">
                <a:moveTo>
                  <a:pt x="0" y="0"/>
                </a:moveTo>
                <a:lnTo>
                  <a:pt x="0" y="731044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6055519" y="3669675"/>
            <a:ext cx="0" cy="371475"/>
          </a:xfrm>
          <a:custGeom>
            <a:avLst/>
            <a:gdLst>
              <a:gd name="connsiteX0" fmla="*/ 0 w 0"/>
              <a:gd name="connsiteY0" fmla="*/ 0 h 371475"/>
              <a:gd name="connsiteX1" fmla="*/ 0 w 0"/>
              <a:gd name="connsiteY1" fmla="*/ 371475 h 3714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71475">
                <a:moveTo>
                  <a:pt x="0" y="0"/>
                </a:moveTo>
                <a:lnTo>
                  <a:pt x="0" y="371475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3" name="Freeform 32"/>
          <p:cNvSpPr/>
          <p:nvPr/>
        </p:nvSpPr>
        <p:spPr>
          <a:xfrm>
            <a:off x="7278370" y="1033631"/>
            <a:ext cx="0" cy="3594100"/>
          </a:xfrm>
          <a:custGeom>
            <a:avLst/>
            <a:gdLst>
              <a:gd name="connsiteX0" fmla="*/ 0 w 0"/>
              <a:gd name="connsiteY0" fmla="*/ 0 h 3594100"/>
              <a:gd name="connsiteX1" fmla="*/ 0 w 0"/>
              <a:gd name="connsiteY1" fmla="*/ 3594100 h 3594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3594100">
                <a:moveTo>
                  <a:pt x="0" y="0"/>
                </a:moveTo>
                <a:lnTo>
                  <a:pt x="0" y="359410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5081588" y="614532"/>
            <a:ext cx="553402" cy="1135380"/>
          </a:xfrm>
          <a:custGeom>
            <a:avLst/>
            <a:gdLst>
              <a:gd name="connsiteX0" fmla="*/ 0 w 1771650"/>
              <a:gd name="connsiteY0" fmla="*/ 0 h 2062163"/>
              <a:gd name="connsiteX1" fmla="*/ 1771650 w 1771650"/>
              <a:gd name="connsiteY1" fmla="*/ 2062163 h 20621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71650" h="2062163">
                <a:moveTo>
                  <a:pt x="0" y="0"/>
                </a:moveTo>
                <a:lnTo>
                  <a:pt x="1771650" y="2062163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4862513" y="5310356"/>
            <a:ext cx="0" cy="285750"/>
          </a:xfrm>
          <a:custGeom>
            <a:avLst/>
            <a:gdLst>
              <a:gd name="connsiteX0" fmla="*/ 0 w 0"/>
              <a:gd name="connsiteY0" fmla="*/ 285750 h 285750"/>
              <a:gd name="connsiteX1" fmla="*/ 0 w 0"/>
              <a:gd name="connsiteY1" fmla="*/ 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85750">
                <a:moveTo>
                  <a:pt x="0" y="28575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  <a:tailEnd type="stealth" w="med" len="lg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2214563" y="4948406"/>
            <a:ext cx="0" cy="652463"/>
          </a:xfrm>
          <a:custGeom>
            <a:avLst/>
            <a:gdLst>
              <a:gd name="connsiteX0" fmla="*/ 0 w 0"/>
              <a:gd name="connsiteY0" fmla="*/ 652463 h 652463"/>
              <a:gd name="connsiteX1" fmla="*/ 0 w 0"/>
              <a:gd name="connsiteY1" fmla="*/ 0 h 6524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52463">
                <a:moveTo>
                  <a:pt x="0" y="652463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  <a:tailEnd type="stealth" w="med" len="lg"/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47.15</a:t>
            </a:r>
          </a:p>
        </p:txBody>
      </p:sp>
    </p:spTree>
    <p:extLst>
      <p:ext uri="{BB962C8B-B14F-4D97-AF65-F5344CB8AC3E}">
        <p14:creationId xmlns:p14="http://schemas.microsoft.com/office/powerpoint/2010/main" val="764579721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 dirty="0"/>
              <a:t>Concept 47.3: Adaptive immunity defends against infection of body fluids and body cells</a:t>
            </a:r>
          </a:p>
        </p:txBody>
      </p:sp>
      <p:sp>
        <p:nvSpPr>
          <p:cNvPr id="8601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defenses provided by B and T lymphocytes can be divided into the </a:t>
            </a:r>
            <a:r>
              <a:rPr lang="en-US" altLang="en-US" dirty="0" err="1"/>
              <a:t>humoral</a:t>
            </a:r>
            <a:r>
              <a:rPr lang="en-US" altLang="en-US" dirty="0"/>
              <a:t> immune response and the cell-mediated immune response</a:t>
            </a:r>
          </a:p>
          <a:p>
            <a:r>
              <a:rPr lang="en-US" altLang="en-US" dirty="0"/>
              <a:t>In the </a:t>
            </a:r>
            <a:r>
              <a:rPr lang="en-US" altLang="en-US" b="1" dirty="0" err="1"/>
              <a:t>humoral</a:t>
            </a:r>
            <a:r>
              <a:rPr lang="en-US" altLang="en-US" b="1" dirty="0"/>
              <a:t> immune response</a:t>
            </a:r>
            <a:r>
              <a:rPr lang="en-US" altLang="en-US" dirty="0"/>
              <a:t>,</a:t>
            </a:r>
            <a:r>
              <a:rPr lang="en-US" altLang="en-US" b="1" dirty="0"/>
              <a:t> </a:t>
            </a:r>
            <a:r>
              <a:rPr lang="en-US" altLang="en-US" dirty="0"/>
              <a:t>antibodies help neutralize or eliminate toxins and pathogens in the blood and lymph</a:t>
            </a:r>
          </a:p>
          <a:p>
            <a:r>
              <a:rPr lang="en-US" altLang="en-US" dirty="0"/>
              <a:t>In the </a:t>
            </a:r>
            <a:r>
              <a:rPr lang="en-US" altLang="en-US" b="1" dirty="0"/>
              <a:t>cell-mediated immune response</a:t>
            </a:r>
            <a:r>
              <a:rPr lang="en-US" altLang="en-US" dirty="0"/>
              <a:t>, specialized T cells destroy affected host cells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34596983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/>
              <a:t>Helper T Cells: Activating Adaptive Immunity</a:t>
            </a:r>
            <a:endParaRPr lang="en-US" altLang="en-US" dirty="0"/>
          </a:p>
        </p:txBody>
      </p:sp>
      <p:sp>
        <p:nvSpPr>
          <p:cNvPr id="870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 type of T cell called a </a:t>
            </a:r>
            <a:r>
              <a:rPr lang="en-US" altLang="en-US" b="1" dirty="0"/>
              <a:t>helper T</a:t>
            </a:r>
            <a:r>
              <a:rPr lang="en-US" altLang="en-US" dirty="0"/>
              <a:t> </a:t>
            </a:r>
            <a:r>
              <a:rPr lang="en-US" altLang="en-US" b="1" dirty="0"/>
              <a:t>cell</a:t>
            </a:r>
            <a:r>
              <a:rPr lang="en-US" altLang="en-US" dirty="0"/>
              <a:t> activates both the </a:t>
            </a:r>
            <a:r>
              <a:rPr lang="en-US" altLang="en-US" dirty="0" err="1"/>
              <a:t>humoral</a:t>
            </a:r>
            <a:r>
              <a:rPr lang="en-US" altLang="en-US" dirty="0"/>
              <a:t> and cell-mediated immune responses</a:t>
            </a:r>
          </a:p>
          <a:p>
            <a:r>
              <a:rPr lang="en-US" altLang="en-US" dirty="0"/>
              <a:t>This requires </a:t>
            </a:r>
            <a:r>
              <a:rPr lang="en-US" dirty="0"/>
              <a:t>the presence of</a:t>
            </a:r>
            <a:r>
              <a:rPr lang="en-US" altLang="en-US" dirty="0"/>
              <a:t> a foreign molecule that can bind the antigen receptor on the helper T cell</a:t>
            </a:r>
          </a:p>
          <a:p>
            <a:r>
              <a:rPr lang="en-US" altLang="en-US" dirty="0"/>
              <a:t>And the antigen must be displayed on the surface of an </a:t>
            </a:r>
            <a:r>
              <a:rPr lang="en-US" altLang="en-US" b="1" dirty="0"/>
              <a:t>antigen-presenting cell</a:t>
            </a:r>
          </a:p>
          <a:p>
            <a:r>
              <a:rPr lang="en-US" altLang="en-US" dirty="0"/>
              <a:t>Antigen-presenting cells have class I and II MHC molecules on their surfaces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707100278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06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Class II MHC molecules provide the molecular signature by which antigen-presenting cells are recognized</a:t>
            </a:r>
          </a:p>
          <a:p>
            <a:r>
              <a:rPr lang="en-US" altLang="en-US" dirty="0"/>
              <a:t>Antigen receptors on the surface of helper T cells bind to the antigen and the class II MHC molecule; then cytokine signals are exchanged between the two cells</a:t>
            </a:r>
          </a:p>
          <a:p>
            <a:r>
              <a:rPr lang="en-US" altLang="en-US" dirty="0"/>
              <a:t>The helper T cell is activated, proliferates, and forms a clone of helper T cells, which then activate the appropriate B cells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130197379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177"/>
          <a:stretch>
            <a:fillRect/>
          </a:stretch>
        </p:blipFill>
        <p:spPr>
          <a:xfrm>
            <a:off x="298704" y="1106424"/>
            <a:ext cx="8546592" cy="464515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47.16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167130" y="1115535"/>
            <a:ext cx="1048364" cy="6924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Antigen-</a:t>
            </a:r>
          </a:p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presenting</a:t>
            </a:r>
          </a:p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cell</a:t>
            </a:r>
          </a:p>
        </p:txBody>
      </p:sp>
      <p:sp>
        <p:nvSpPr>
          <p:cNvPr id="7" name="TextBox 5"/>
          <p:cNvSpPr txBox="1">
            <a:spLocks noChangeArrowheads="1"/>
          </p:cNvSpPr>
          <p:nvPr/>
        </p:nvSpPr>
        <p:spPr bwMode="auto">
          <a:xfrm>
            <a:off x="2024380" y="1645761"/>
            <a:ext cx="878446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>
                <a:solidFill>
                  <a:srgbClr val="000000"/>
                </a:solidFill>
                <a:latin typeface="Arial"/>
                <a:ea typeface="ＭＳ Ｐゴシック" charset="0"/>
              </a:rPr>
              <a:t>Antigen</a:t>
            </a:r>
          </a:p>
          <a:p>
            <a:pPr>
              <a:lnSpc>
                <a:spcPts val="1820"/>
              </a:lnSpc>
            </a:pPr>
            <a:r>
              <a:rPr lang="en-US" sz="1600" b="1">
                <a:solidFill>
                  <a:srgbClr val="000000"/>
                </a:solidFill>
                <a:latin typeface="Arial"/>
                <a:ea typeface="ＭＳ Ｐゴシック" charset="0"/>
              </a:rPr>
              <a:t>fragment</a:t>
            </a: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340043" y="1875948"/>
            <a:ext cx="932948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>
                <a:solidFill>
                  <a:srgbClr val="000000"/>
                </a:solidFill>
                <a:latin typeface="Arial"/>
                <a:ea typeface="ＭＳ Ｐゴシック" charset="0"/>
              </a:rPr>
              <a:t>Pathogen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5708968" y="1520348"/>
            <a:ext cx="3138680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>
                <a:solidFill>
                  <a:srgbClr val="000000"/>
                </a:solidFill>
                <a:latin typeface="Arial"/>
                <a:ea typeface="ＭＳ Ｐゴシック" charset="0"/>
              </a:rPr>
              <a:t>Clone of activated helper T cells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6638449" y="2887184"/>
            <a:ext cx="12022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rPr>
              <a:t>+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189480" y="3284061"/>
            <a:ext cx="775853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Class </a:t>
            </a:r>
            <a:r>
              <a:rPr lang="el-GR" sz="1400" b="1" dirty="0">
                <a:solidFill>
                  <a:srgbClr val="000000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rPr>
              <a:t>ΙΙ</a:t>
            </a:r>
          </a:p>
          <a:p>
            <a:pPr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MHC</a:t>
            </a:r>
          </a:p>
          <a:p>
            <a:pPr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molecule</a:t>
            </a:r>
          </a:p>
        </p:txBody>
      </p:sp>
      <p:sp>
        <p:nvSpPr>
          <p:cNvPr id="16" name="TextBox 17"/>
          <p:cNvSpPr txBox="1">
            <a:spLocks noChangeArrowheads="1"/>
          </p:cNvSpPr>
          <p:nvPr/>
        </p:nvSpPr>
        <p:spPr bwMode="auto">
          <a:xfrm>
            <a:off x="7840980" y="3428523"/>
            <a:ext cx="814325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Cytotoxic</a:t>
            </a:r>
          </a:p>
          <a:p>
            <a:pPr algn="ctr"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 cell</a:t>
            </a:r>
          </a:p>
        </p:txBody>
      </p:sp>
      <p:sp>
        <p:nvSpPr>
          <p:cNvPr id="19" name="TextBox 21"/>
          <p:cNvSpPr txBox="1">
            <a:spLocks noChangeArrowheads="1"/>
          </p:cNvSpPr>
          <p:nvPr/>
        </p:nvSpPr>
        <p:spPr bwMode="auto">
          <a:xfrm>
            <a:off x="6115368" y="3444398"/>
            <a:ext cx="477695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B cell</a:t>
            </a:r>
          </a:p>
        </p:txBody>
      </p:sp>
      <p:sp>
        <p:nvSpPr>
          <p:cNvPr id="20" name="TextBox 22"/>
          <p:cNvSpPr txBox="1">
            <a:spLocks noChangeArrowheads="1"/>
          </p:cNvSpPr>
          <p:nvPr/>
        </p:nvSpPr>
        <p:spPr bwMode="auto">
          <a:xfrm>
            <a:off x="471805" y="3780948"/>
            <a:ext cx="716543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Antigen</a:t>
            </a:r>
          </a:p>
          <a:p>
            <a:pPr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receptor</a:t>
            </a:r>
          </a:p>
        </p:txBody>
      </p:sp>
      <p:sp>
        <p:nvSpPr>
          <p:cNvPr id="21" name="TextBox 24"/>
          <p:cNvSpPr txBox="1">
            <a:spLocks noChangeArrowheads="1"/>
          </p:cNvSpPr>
          <p:nvPr/>
        </p:nvSpPr>
        <p:spPr bwMode="auto">
          <a:xfrm>
            <a:off x="2202180" y="4015898"/>
            <a:ext cx="905697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Accessory</a:t>
            </a:r>
          </a:p>
          <a:p>
            <a:pPr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protein</a:t>
            </a:r>
          </a:p>
          <a:p>
            <a:pPr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(CD4)</a:t>
            </a:r>
          </a:p>
        </p:txBody>
      </p:sp>
      <p:sp>
        <p:nvSpPr>
          <p:cNvPr id="22" name="TextBox 26"/>
          <p:cNvSpPr txBox="1">
            <a:spLocks noChangeArrowheads="1"/>
          </p:cNvSpPr>
          <p:nvPr/>
        </p:nvSpPr>
        <p:spPr bwMode="auto">
          <a:xfrm>
            <a:off x="3224530" y="4390548"/>
            <a:ext cx="979435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Cytokines</a:t>
            </a:r>
          </a:p>
        </p:txBody>
      </p:sp>
      <p:sp>
        <p:nvSpPr>
          <p:cNvPr id="23" name="TextBox 28"/>
          <p:cNvSpPr txBox="1">
            <a:spLocks noChangeArrowheads="1"/>
          </p:cNvSpPr>
          <p:nvPr/>
        </p:nvSpPr>
        <p:spPr bwMode="auto">
          <a:xfrm>
            <a:off x="1165543" y="4809648"/>
            <a:ext cx="1064394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Helper T cell</a:t>
            </a:r>
          </a:p>
        </p:txBody>
      </p:sp>
      <p:sp>
        <p:nvSpPr>
          <p:cNvPr id="24" name="TextBox 29"/>
          <p:cNvSpPr txBox="1">
            <a:spLocks noChangeArrowheads="1"/>
          </p:cNvSpPr>
          <p:nvPr/>
        </p:nvSpPr>
        <p:spPr bwMode="auto">
          <a:xfrm>
            <a:off x="5720874" y="4227829"/>
            <a:ext cx="1232710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HUMORAL</a:t>
            </a:r>
          </a:p>
          <a:p>
            <a:pPr algn="ctr"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IMMUNITY</a:t>
            </a:r>
          </a:p>
          <a:p>
            <a:pPr algn="ctr"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(secretion of</a:t>
            </a:r>
          </a:p>
          <a:p>
            <a:pPr algn="ctr"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antibodies </a:t>
            </a:r>
          </a:p>
          <a:p>
            <a:pPr algn="ctr"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by plasma</a:t>
            </a:r>
          </a:p>
          <a:p>
            <a:pPr algn="ctr"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cells)</a:t>
            </a:r>
          </a:p>
        </p:txBody>
      </p:sp>
      <p:sp>
        <p:nvSpPr>
          <p:cNvPr id="25" name="TextBox 35"/>
          <p:cNvSpPr txBox="1">
            <a:spLocks noChangeArrowheads="1"/>
          </p:cNvSpPr>
          <p:nvPr/>
        </p:nvSpPr>
        <p:spPr bwMode="auto">
          <a:xfrm>
            <a:off x="7494113" y="4189729"/>
            <a:ext cx="1053943" cy="13849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CELL-</a:t>
            </a:r>
          </a:p>
          <a:p>
            <a:pPr algn="ctr"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MEDIATED</a:t>
            </a:r>
          </a:p>
          <a:p>
            <a:pPr algn="ctr"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IMMUNITY</a:t>
            </a:r>
          </a:p>
          <a:p>
            <a:pPr algn="ctr"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(attack on</a:t>
            </a:r>
          </a:p>
          <a:p>
            <a:pPr algn="ctr"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infected</a:t>
            </a:r>
          </a:p>
          <a:p>
            <a:pPr algn="ctr">
              <a:lnSpc>
                <a:spcPts val="1820"/>
              </a:lnSpc>
            </a:pPr>
            <a:r>
              <a:rPr lang="en-US" sz="16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cells)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33374" y="1138237"/>
            <a:ext cx="237744" cy="237744"/>
            <a:chOff x="333374" y="1138237"/>
            <a:chExt cx="237744" cy="237744"/>
          </a:xfrm>
        </p:grpSpPr>
        <p:sp>
          <p:nvSpPr>
            <p:cNvPr id="2" name="Oval 1"/>
            <p:cNvSpPr/>
            <p:nvPr/>
          </p:nvSpPr>
          <p:spPr bwMode="auto">
            <a:xfrm>
              <a:off x="333374" y="1138237"/>
              <a:ext cx="237744" cy="237744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26" name="TextBox 25"/>
            <p:cNvSpPr txBox="1">
              <a:spLocks noChangeArrowheads="1"/>
            </p:cNvSpPr>
            <p:nvPr/>
          </p:nvSpPr>
          <p:spPr bwMode="auto">
            <a:xfrm>
              <a:off x="395339" y="1141693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182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1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121819" y="1138237"/>
            <a:ext cx="237744" cy="237744"/>
            <a:chOff x="333374" y="1138237"/>
            <a:chExt cx="237744" cy="237744"/>
          </a:xfrm>
        </p:grpSpPr>
        <p:sp>
          <p:nvSpPr>
            <p:cNvPr id="28" name="Oval 27"/>
            <p:cNvSpPr/>
            <p:nvPr/>
          </p:nvSpPr>
          <p:spPr bwMode="auto">
            <a:xfrm>
              <a:off x="333374" y="1138237"/>
              <a:ext cx="237744" cy="237744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29" name="TextBox 28"/>
            <p:cNvSpPr txBox="1">
              <a:spLocks noChangeArrowheads="1"/>
            </p:cNvSpPr>
            <p:nvPr/>
          </p:nvSpPr>
          <p:spPr bwMode="auto">
            <a:xfrm>
              <a:off x="395339" y="1141693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182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2</a:t>
              </a:r>
            </a:p>
          </p:txBody>
        </p:sp>
      </p:grp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7836217" y="2903853"/>
            <a:ext cx="12022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rPr>
              <a:t>+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5084442" y="4109242"/>
            <a:ext cx="12022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rPr>
              <a:t>+</a:t>
            </a:r>
          </a:p>
        </p:txBody>
      </p:sp>
      <p:sp>
        <p:nvSpPr>
          <p:cNvPr id="32" name="TextBox 31"/>
          <p:cNvSpPr txBox="1">
            <a:spLocks noChangeArrowheads="1"/>
          </p:cNvSpPr>
          <p:nvPr/>
        </p:nvSpPr>
        <p:spPr bwMode="auto">
          <a:xfrm>
            <a:off x="3868261" y="3545994"/>
            <a:ext cx="120226" cy="2308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820"/>
              </a:lnSpc>
            </a:pPr>
            <a:r>
              <a:rPr lang="en-US" sz="1600" b="1" dirty="0">
                <a:solidFill>
                  <a:srgbClr val="FFFFFF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rPr>
              <a:t>+</a:t>
            </a:r>
          </a:p>
        </p:txBody>
      </p:sp>
      <p:grpSp>
        <p:nvGrpSpPr>
          <p:cNvPr id="33" name="Group 32"/>
          <p:cNvGrpSpPr/>
          <p:nvPr/>
        </p:nvGrpSpPr>
        <p:grpSpPr>
          <a:xfrm>
            <a:off x="5715477" y="1143953"/>
            <a:ext cx="237744" cy="237744"/>
            <a:chOff x="333374" y="1138237"/>
            <a:chExt cx="237744" cy="237744"/>
          </a:xfrm>
        </p:grpSpPr>
        <p:sp>
          <p:nvSpPr>
            <p:cNvPr id="34" name="Oval 33"/>
            <p:cNvSpPr/>
            <p:nvPr/>
          </p:nvSpPr>
          <p:spPr bwMode="auto">
            <a:xfrm>
              <a:off x="333374" y="1138237"/>
              <a:ext cx="237744" cy="237744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35" name="TextBox 34"/>
            <p:cNvSpPr txBox="1">
              <a:spLocks noChangeArrowheads="1"/>
            </p:cNvSpPr>
            <p:nvPr/>
          </p:nvSpPr>
          <p:spPr bwMode="auto">
            <a:xfrm>
              <a:off x="395339" y="1141693"/>
              <a:ext cx="113814" cy="2308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1820"/>
                </a:lnSpc>
              </a:pPr>
              <a:r>
                <a:rPr lang="en-US" sz="16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3</a:t>
              </a:r>
            </a:p>
          </p:txBody>
        </p:sp>
      </p:grpSp>
      <p:sp>
        <p:nvSpPr>
          <p:cNvPr id="36" name="Freeform 35"/>
          <p:cNvSpPr/>
          <p:nvPr/>
        </p:nvSpPr>
        <p:spPr>
          <a:xfrm>
            <a:off x="4236244" y="4264819"/>
            <a:ext cx="340519" cy="254794"/>
          </a:xfrm>
          <a:custGeom>
            <a:avLst/>
            <a:gdLst>
              <a:gd name="connsiteX0" fmla="*/ 228600 w 340519"/>
              <a:gd name="connsiteY0" fmla="*/ 0 h 254794"/>
              <a:gd name="connsiteX1" fmla="*/ 0 w 340519"/>
              <a:gd name="connsiteY1" fmla="*/ 254794 h 254794"/>
              <a:gd name="connsiteX2" fmla="*/ 340519 w 340519"/>
              <a:gd name="connsiteY2" fmla="*/ 166687 h 2547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0519" h="254794">
                <a:moveTo>
                  <a:pt x="228600" y="0"/>
                </a:moveTo>
                <a:lnTo>
                  <a:pt x="0" y="254794"/>
                </a:lnTo>
                <a:lnTo>
                  <a:pt x="340519" y="166687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7" name="Freeform 36"/>
          <p:cNvSpPr/>
          <p:nvPr/>
        </p:nvSpPr>
        <p:spPr>
          <a:xfrm>
            <a:off x="1835944" y="3657600"/>
            <a:ext cx="376237" cy="402431"/>
          </a:xfrm>
          <a:custGeom>
            <a:avLst/>
            <a:gdLst>
              <a:gd name="connsiteX0" fmla="*/ 376237 w 376237"/>
              <a:gd name="connsiteY0" fmla="*/ 402431 h 402431"/>
              <a:gd name="connsiteX1" fmla="*/ 0 w 376237"/>
              <a:gd name="connsiteY1" fmla="*/ 0 h 4024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76237" h="402431">
                <a:moveTo>
                  <a:pt x="376237" y="402431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1749425" y="3390900"/>
            <a:ext cx="390525" cy="0"/>
          </a:xfrm>
          <a:custGeom>
            <a:avLst/>
            <a:gdLst>
              <a:gd name="connsiteX0" fmla="*/ 0 w 390525"/>
              <a:gd name="connsiteY0" fmla="*/ 0 h 0"/>
              <a:gd name="connsiteX1" fmla="*/ 390525 w 39052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0525">
                <a:moveTo>
                  <a:pt x="0" y="0"/>
                </a:moveTo>
                <a:lnTo>
                  <a:pt x="39052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1158875" y="3660775"/>
            <a:ext cx="511175" cy="200025"/>
          </a:xfrm>
          <a:custGeom>
            <a:avLst/>
            <a:gdLst>
              <a:gd name="connsiteX0" fmla="*/ 0 w 511175"/>
              <a:gd name="connsiteY0" fmla="*/ 200025 h 200025"/>
              <a:gd name="connsiteX1" fmla="*/ 511175 w 511175"/>
              <a:gd name="connsiteY1" fmla="*/ 0 h 2000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11175" h="200025">
                <a:moveTo>
                  <a:pt x="0" y="200025"/>
                </a:moveTo>
                <a:lnTo>
                  <a:pt x="51117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0" name="Freeform 39"/>
          <p:cNvSpPr/>
          <p:nvPr/>
        </p:nvSpPr>
        <p:spPr>
          <a:xfrm>
            <a:off x="1693069" y="4502944"/>
            <a:ext cx="0" cy="290512"/>
          </a:xfrm>
          <a:custGeom>
            <a:avLst/>
            <a:gdLst>
              <a:gd name="connsiteX0" fmla="*/ 0 w 0"/>
              <a:gd name="connsiteY0" fmla="*/ 0 h 290512"/>
              <a:gd name="connsiteX1" fmla="*/ 0 w 0"/>
              <a:gd name="connsiteY1" fmla="*/ 290512 h 2905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90512">
                <a:moveTo>
                  <a:pt x="0" y="0"/>
                </a:moveTo>
                <a:lnTo>
                  <a:pt x="0" y="290512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1" name="Freeform 40"/>
          <p:cNvSpPr/>
          <p:nvPr/>
        </p:nvSpPr>
        <p:spPr>
          <a:xfrm>
            <a:off x="1870075" y="2114550"/>
            <a:ext cx="247650" cy="565150"/>
          </a:xfrm>
          <a:custGeom>
            <a:avLst/>
            <a:gdLst>
              <a:gd name="connsiteX0" fmla="*/ 247650 w 247650"/>
              <a:gd name="connsiteY0" fmla="*/ 0 h 565150"/>
              <a:gd name="connsiteX1" fmla="*/ 0 w 247650"/>
              <a:gd name="connsiteY1" fmla="*/ 565150 h 565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7650" h="565150">
                <a:moveTo>
                  <a:pt x="247650" y="0"/>
                </a:moveTo>
                <a:lnTo>
                  <a:pt x="0" y="56515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1346200" y="1793875"/>
            <a:ext cx="79375" cy="774700"/>
          </a:xfrm>
          <a:custGeom>
            <a:avLst/>
            <a:gdLst>
              <a:gd name="connsiteX0" fmla="*/ 0 w 79375"/>
              <a:gd name="connsiteY0" fmla="*/ 0 h 774700"/>
              <a:gd name="connsiteX1" fmla="*/ 79375 w 79375"/>
              <a:gd name="connsiteY1" fmla="*/ 774700 h 7747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9375" h="774700">
                <a:moveTo>
                  <a:pt x="0" y="0"/>
                </a:moveTo>
                <a:lnTo>
                  <a:pt x="79375" y="77470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3" name="Freeform 42"/>
          <p:cNvSpPr/>
          <p:nvPr/>
        </p:nvSpPr>
        <p:spPr>
          <a:xfrm>
            <a:off x="647700" y="2136775"/>
            <a:ext cx="400050" cy="565150"/>
          </a:xfrm>
          <a:custGeom>
            <a:avLst/>
            <a:gdLst>
              <a:gd name="connsiteX0" fmla="*/ 0 w 400050"/>
              <a:gd name="connsiteY0" fmla="*/ 0 h 565150"/>
              <a:gd name="connsiteX1" fmla="*/ 0 w 400050"/>
              <a:gd name="connsiteY1" fmla="*/ 241300 h 565150"/>
              <a:gd name="connsiteX2" fmla="*/ 400050 w 400050"/>
              <a:gd name="connsiteY2" fmla="*/ 565150 h 565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050" h="565150">
                <a:moveTo>
                  <a:pt x="0" y="0"/>
                </a:moveTo>
                <a:lnTo>
                  <a:pt x="0" y="241300"/>
                </a:lnTo>
                <a:lnTo>
                  <a:pt x="400050" y="56515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251763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09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/>
              <a:t>B Cells and Antibodies: A Response to Extracellular Pathogens</a:t>
            </a:r>
            <a:endParaRPr lang="en-US" altLang="en-US" dirty="0"/>
          </a:p>
        </p:txBody>
      </p:sp>
      <p:sp>
        <p:nvSpPr>
          <p:cNvPr id="9421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</a:t>
            </a:r>
            <a:r>
              <a:rPr lang="en-US" altLang="en-US" dirty="0" err="1"/>
              <a:t>humoral</a:t>
            </a:r>
            <a:r>
              <a:rPr lang="en-US" altLang="en-US" dirty="0"/>
              <a:t> response is characterized by secretion of antibodies by B cells</a:t>
            </a:r>
          </a:p>
          <a:p>
            <a:r>
              <a:rPr lang="en-US" altLang="en-US" dirty="0"/>
              <a:t>It begins with activation of the B cells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315090787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Activation of B Cells</a:t>
            </a:r>
            <a:endParaRPr lang="en-US" altLang="en-US" dirty="0"/>
          </a:p>
        </p:txBody>
      </p:sp>
      <p:sp>
        <p:nvSpPr>
          <p:cNvPr id="952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Activation of B cells involves helper T cells and proteins on the surface of pathogens</a:t>
            </a:r>
          </a:p>
          <a:p>
            <a:r>
              <a:rPr lang="en-US" altLang="en-US" dirty="0"/>
              <a:t>When an antigen binds a B cell, the cell takes in a few foreign molecules by receptor-mediated endocytosis</a:t>
            </a:r>
          </a:p>
          <a:p>
            <a:r>
              <a:rPr lang="en-US" altLang="en-US" dirty="0"/>
              <a:t>The class II MHC protein of the B cell then presents an antigen fragment to a helper T cell, a process that is critical to B cell activation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77145727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 activated B cell gives rise to thousands of identical plasma cells</a:t>
            </a:r>
          </a:p>
          <a:p>
            <a:r>
              <a:rPr lang="en-US" altLang="en-US" dirty="0"/>
              <a:t>These begin producing and secreting antibodies</a:t>
            </a:r>
          </a:p>
          <a:p>
            <a:r>
              <a:rPr lang="en-US" altLang="en-US" dirty="0"/>
              <a:t>Most antigens recognized by B cells contain multiple epitopes</a:t>
            </a:r>
          </a:p>
          <a:p>
            <a:r>
              <a:rPr lang="en-US" altLang="en-US" dirty="0"/>
              <a:t>A variety of B cells activated by one antigen will give rise to plasma cells producing antibodies directed against different epitopes of the common antigen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790752418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360"/>
          <a:stretch>
            <a:fillRect/>
          </a:stretch>
        </p:blipFill>
        <p:spPr>
          <a:xfrm>
            <a:off x="298704" y="1237488"/>
            <a:ext cx="8546592" cy="438302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47.17_3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748859" y="1317399"/>
            <a:ext cx="105157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Pathogen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463778" y="1319780"/>
            <a:ext cx="1179810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Antigen-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presenting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cell</a:t>
            </a: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3188722" y="1998437"/>
            <a:ext cx="61555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 cell</a:t>
            </a:r>
          </a:p>
        </p:txBody>
      </p:sp>
      <p:sp>
        <p:nvSpPr>
          <p:cNvPr id="9" name="TextBox 7"/>
          <p:cNvSpPr txBox="1">
            <a:spLocks noChangeArrowheads="1"/>
          </p:cNvSpPr>
          <p:nvPr/>
        </p:nvSpPr>
        <p:spPr bwMode="auto">
          <a:xfrm>
            <a:off x="375672" y="3104924"/>
            <a:ext cx="1115690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Antigen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fragments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378053" y="3720874"/>
            <a:ext cx="923330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receptor</a:t>
            </a:r>
          </a:p>
        </p:txBody>
      </p:sp>
      <p:sp>
        <p:nvSpPr>
          <p:cNvPr id="11" name="TextBox 11"/>
          <p:cNvSpPr txBox="1">
            <a:spLocks noChangeArrowheads="1"/>
          </p:cNvSpPr>
          <p:nvPr/>
        </p:nvSpPr>
        <p:spPr bwMode="auto">
          <a:xfrm>
            <a:off x="5837465" y="2913631"/>
            <a:ext cx="169277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Memory B cells</a:t>
            </a:r>
          </a:p>
        </p:txBody>
      </p:sp>
      <p:sp>
        <p:nvSpPr>
          <p:cNvPr id="12" name="TextBox 12"/>
          <p:cNvSpPr txBox="1">
            <a:spLocks noChangeArrowheads="1"/>
          </p:cNvSpPr>
          <p:nvPr/>
        </p:nvSpPr>
        <p:spPr bwMode="auto">
          <a:xfrm>
            <a:off x="2276703" y="3441474"/>
            <a:ext cx="52578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MHC</a:t>
            </a:r>
          </a:p>
        </p:txBody>
      </p:sp>
      <p:sp>
        <p:nvSpPr>
          <p:cNvPr id="13" name="TextBox 13"/>
          <p:cNvSpPr txBox="1">
            <a:spLocks noChangeArrowheads="1"/>
          </p:cNvSpPr>
          <p:nvPr/>
        </p:nvSpPr>
        <p:spPr bwMode="auto">
          <a:xfrm>
            <a:off x="2276703" y="3739924"/>
            <a:ext cx="46166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CD4</a:t>
            </a:r>
          </a:p>
        </p:txBody>
      </p:sp>
      <p:sp>
        <p:nvSpPr>
          <p:cNvPr id="14" name="TextBox 14"/>
          <p:cNvSpPr txBox="1">
            <a:spLocks noChangeArrowheads="1"/>
          </p:cNvSpPr>
          <p:nvPr/>
        </p:nvSpPr>
        <p:spPr bwMode="auto">
          <a:xfrm>
            <a:off x="4773046" y="3531166"/>
            <a:ext cx="134652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FFFFFF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rPr>
              <a:t>+</a:t>
            </a:r>
          </a:p>
        </p:txBody>
      </p:sp>
      <p:sp>
        <p:nvSpPr>
          <p:cNvPr id="15" name="TextBox 15"/>
          <p:cNvSpPr txBox="1">
            <a:spLocks noChangeArrowheads="1"/>
          </p:cNvSpPr>
          <p:nvPr/>
        </p:nvSpPr>
        <p:spPr bwMode="auto">
          <a:xfrm>
            <a:off x="4197578" y="4224112"/>
            <a:ext cx="1102866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Cytokines</a:t>
            </a:r>
          </a:p>
        </p:txBody>
      </p:sp>
      <p:sp>
        <p:nvSpPr>
          <p:cNvPr id="17" name="TextBox 17"/>
          <p:cNvSpPr txBox="1">
            <a:spLocks noChangeArrowheads="1"/>
          </p:cNvSpPr>
          <p:nvPr/>
        </p:nvSpPr>
        <p:spPr bwMode="auto">
          <a:xfrm>
            <a:off x="1078141" y="5192487"/>
            <a:ext cx="137217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Helper T cell</a:t>
            </a:r>
          </a:p>
        </p:txBody>
      </p:sp>
      <p:sp>
        <p:nvSpPr>
          <p:cNvPr id="19" name="TextBox 19"/>
          <p:cNvSpPr txBox="1">
            <a:spLocks noChangeArrowheads="1"/>
          </p:cNvSpPr>
          <p:nvPr/>
        </p:nvSpPr>
        <p:spPr bwMode="auto">
          <a:xfrm>
            <a:off x="3814990" y="5028181"/>
            <a:ext cx="134652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Activated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helper T cell</a:t>
            </a:r>
          </a:p>
        </p:txBody>
      </p:sp>
      <p:sp>
        <p:nvSpPr>
          <p:cNvPr id="20" name="TextBox 21"/>
          <p:cNvSpPr txBox="1">
            <a:spLocks noChangeArrowheads="1"/>
          </p:cNvSpPr>
          <p:nvPr/>
        </p:nvSpPr>
        <p:spPr bwMode="auto">
          <a:xfrm>
            <a:off x="5882710" y="5028181"/>
            <a:ext cx="807913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Plasma</a:t>
            </a:r>
          </a:p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cells</a:t>
            </a:r>
          </a:p>
        </p:txBody>
      </p:sp>
      <p:sp>
        <p:nvSpPr>
          <p:cNvPr id="22" name="TextBox 24"/>
          <p:cNvSpPr txBox="1">
            <a:spLocks noChangeArrowheads="1"/>
          </p:cNvSpPr>
          <p:nvPr/>
        </p:nvSpPr>
        <p:spPr bwMode="auto">
          <a:xfrm>
            <a:off x="7359869" y="5028181"/>
            <a:ext cx="1154162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Secreted</a:t>
            </a:r>
          </a:p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antibodies</a:t>
            </a:r>
          </a:p>
        </p:txBody>
      </p:sp>
      <p:sp>
        <p:nvSpPr>
          <p:cNvPr id="23" name="Freeform 22"/>
          <p:cNvSpPr/>
          <p:nvPr/>
        </p:nvSpPr>
        <p:spPr>
          <a:xfrm>
            <a:off x="2085975" y="1562100"/>
            <a:ext cx="190500" cy="663575"/>
          </a:xfrm>
          <a:custGeom>
            <a:avLst/>
            <a:gdLst>
              <a:gd name="connsiteX0" fmla="*/ 0 w 190500"/>
              <a:gd name="connsiteY0" fmla="*/ 663575 h 663575"/>
              <a:gd name="connsiteX1" fmla="*/ 190500 w 190500"/>
              <a:gd name="connsiteY1" fmla="*/ 0 h 663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0500" h="663575">
                <a:moveTo>
                  <a:pt x="0" y="663575"/>
                </a:moveTo>
                <a:lnTo>
                  <a:pt x="19050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4" name="Freeform 23"/>
          <p:cNvSpPr/>
          <p:nvPr/>
        </p:nvSpPr>
        <p:spPr>
          <a:xfrm>
            <a:off x="879475" y="1968500"/>
            <a:ext cx="701675" cy="292100"/>
          </a:xfrm>
          <a:custGeom>
            <a:avLst/>
            <a:gdLst>
              <a:gd name="connsiteX0" fmla="*/ 701675 w 701675"/>
              <a:gd name="connsiteY0" fmla="*/ 292100 h 292100"/>
              <a:gd name="connsiteX1" fmla="*/ 0 w 701675"/>
              <a:gd name="connsiteY1" fmla="*/ 0 h 29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01675" h="292100">
                <a:moveTo>
                  <a:pt x="701675" y="29210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1295400" y="2876550"/>
            <a:ext cx="400050" cy="762000"/>
          </a:xfrm>
          <a:custGeom>
            <a:avLst/>
            <a:gdLst>
              <a:gd name="connsiteX0" fmla="*/ 171450 w 400050"/>
              <a:gd name="connsiteY0" fmla="*/ 0 h 762000"/>
              <a:gd name="connsiteX1" fmla="*/ 0 w 400050"/>
              <a:gd name="connsiteY1" fmla="*/ 368300 h 762000"/>
              <a:gd name="connsiteX2" fmla="*/ 400050 w 400050"/>
              <a:gd name="connsiteY2" fmla="*/ 762000 h 76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00050" h="762000">
                <a:moveTo>
                  <a:pt x="171450" y="0"/>
                </a:moveTo>
                <a:lnTo>
                  <a:pt x="0" y="368300"/>
                </a:lnTo>
                <a:lnTo>
                  <a:pt x="400050" y="76200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1784350" y="3527425"/>
            <a:ext cx="450850" cy="28575"/>
          </a:xfrm>
          <a:custGeom>
            <a:avLst/>
            <a:gdLst>
              <a:gd name="connsiteX0" fmla="*/ 0 w 450850"/>
              <a:gd name="connsiteY0" fmla="*/ 0 h 28575"/>
              <a:gd name="connsiteX1" fmla="*/ 450850 w 450850"/>
              <a:gd name="connsiteY1" fmla="*/ 28575 h 285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50850" h="28575">
                <a:moveTo>
                  <a:pt x="0" y="0"/>
                </a:moveTo>
                <a:lnTo>
                  <a:pt x="450850" y="28575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1955800" y="3854450"/>
            <a:ext cx="263525" cy="0"/>
          </a:xfrm>
          <a:custGeom>
            <a:avLst/>
            <a:gdLst>
              <a:gd name="connsiteX0" fmla="*/ 0 w 263525"/>
              <a:gd name="connsiteY0" fmla="*/ 0 h 0"/>
              <a:gd name="connsiteX1" fmla="*/ 263525 w 263525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3525">
                <a:moveTo>
                  <a:pt x="0" y="0"/>
                </a:moveTo>
                <a:lnTo>
                  <a:pt x="26352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1244600" y="3870325"/>
            <a:ext cx="482600" cy="0"/>
          </a:xfrm>
          <a:custGeom>
            <a:avLst/>
            <a:gdLst>
              <a:gd name="connsiteX0" fmla="*/ 0 w 482600"/>
              <a:gd name="connsiteY0" fmla="*/ 0 h 0"/>
              <a:gd name="connsiteX1" fmla="*/ 482600 w 4826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82600">
                <a:moveTo>
                  <a:pt x="0" y="0"/>
                </a:moveTo>
                <a:lnTo>
                  <a:pt x="48260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1762125" y="4895850"/>
            <a:ext cx="0" cy="285750"/>
          </a:xfrm>
          <a:custGeom>
            <a:avLst/>
            <a:gdLst>
              <a:gd name="connsiteX0" fmla="*/ 0 w 0"/>
              <a:gd name="connsiteY0" fmla="*/ 0 h 285750"/>
              <a:gd name="connsiteX1" fmla="*/ 0 w 0"/>
              <a:gd name="connsiteY1" fmla="*/ 285750 h 2857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85750">
                <a:moveTo>
                  <a:pt x="0" y="0"/>
                </a:moveTo>
                <a:lnTo>
                  <a:pt x="0" y="28575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3769519" y="4712494"/>
            <a:ext cx="550069" cy="319087"/>
          </a:xfrm>
          <a:custGeom>
            <a:avLst/>
            <a:gdLst>
              <a:gd name="connsiteX0" fmla="*/ 0 w 550069"/>
              <a:gd name="connsiteY0" fmla="*/ 0 h 319087"/>
              <a:gd name="connsiteX1" fmla="*/ 550069 w 550069"/>
              <a:gd name="connsiteY1" fmla="*/ 319087 h 3190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0069" h="319087">
                <a:moveTo>
                  <a:pt x="0" y="0"/>
                </a:moveTo>
                <a:lnTo>
                  <a:pt x="550069" y="319087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2" name="Freeform 31"/>
          <p:cNvSpPr/>
          <p:nvPr/>
        </p:nvSpPr>
        <p:spPr>
          <a:xfrm>
            <a:off x="3576638" y="2259806"/>
            <a:ext cx="300037" cy="257175"/>
          </a:xfrm>
          <a:custGeom>
            <a:avLst/>
            <a:gdLst>
              <a:gd name="connsiteX0" fmla="*/ 0 w 300037"/>
              <a:gd name="connsiteY0" fmla="*/ 0 h 257175"/>
              <a:gd name="connsiteX1" fmla="*/ 300037 w 300037"/>
              <a:gd name="connsiteY1" fmla="*/ 257175 h 257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00037" h="257175">
                <a:moveTo>
                  <a:pt x="0" y="0"/>
                </a:moveTo>
                <a:lnTo>
                  <a:pt x="300037" y="257175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grpSp>
        <p:nvGrpSpPr>
          <p:cNvPr id="35" name="Group 34"/>
          <p:cNvGrpSpPr/>
          <p:nvPr/>
        </p:nvGrpSpPr>
        <p:grpSpPr>
          <a:xfrm>
            <a:off x="5491162" y="5265513"/>
            <a:ext cx="219456" cy="256480"/>
            <a:chOff x="5491162" y="5279799"/>
            <a:chExt cx="219456" cy="256480"/>
          </a:xfrm>
        </p:grpSpPr>
        <p:sp>
          <p:nvSpPr>
            <p:cNvPr id="33" name="Oval 32"/>
            <p:cNvSpPr/>
            <p:nvPr/>
          </p:nvSpPr>
          <p:spPr bwMode="auto">
            <a:xfrm>
              <a:off x="5491162" y="5298502"/>
              <a:ext cx="219456" cy="219075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34" name="TextBox 22"/>
            <p:cNvSpPr txBox="1">
              <a:spLocks noChangeArrowheads="1"/>
            </p:cNvSpPr>
            <p:nvPr/>
          </p:nvSpPr>
          <p:spPr bwMode="auto">
            <a:xfrm>
              <a:off x="5536770" y="5279799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3</a:t>
              </a:r>
            </a:p>
          </p:txBody>
        </p:sp>
      </p:grpSp>
      <p:grpSp>
        <p:nvGrpSpPr>
          <p:cNvPr id="36" name="Group 35"/>
          <p:cNvGrpSpPr/>
          <p:nvPr/>
        </p:nvGrpSpPr>
        <p:grpSpPr>
          <a:xfrm>
            <a:off x="3015451" y="5269484"/>
            <a:ext cx="219456" cy="256480"/>
            <a:chOff x="5491162" y="5279799"/>
            <a:chExt cx="219456" cy="256480"/>
          </a:xfrm>
        </p:grpSpPr>
        <p:sp>
          <p:nvSpPr>
            <p:cNvPr id="37" name="Oval 36"/>
            <p:cNvSpPr/>
            <p:nvPr/>
          </p:nvSpPr>
          <p:spPr bwMode="auto">
            <a:xfrm>
              <a:off x="5491162" y="5298502"/>
              <a:ext cx="219456" cy="219075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38" name="TextBox 22"/>
            <p:cNvSpPr txBox="1">
              <a:spLocks noChangeArrowheads="1"/>
            </p:cNvSpPr>
            <p:nvPr/>
          </p:nvSpPr>
          <p:spPr bwMode="auto">
            <a:xfrm>
              <a:off x="5536770" y="5279799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2</a:t>
              </a:r>
            </a:p>
          </p:txBody>
        </p:sp>
      </p:grpSp>
      <p:grpSp>
        <p:nvGrpSpPr>
          <p:cNvPr id="39" name="Group 38"/>
          <p:cNvGrpSpPr/>
          <p:nvPr/>
        </p:nvGrpSpPr>
        <p:grpSpPr>
          <a:xfrm>
            <a:off x="447195" y="5275518"/>
            <a:ext cx="219456" cy="256480"/>
            <a:chOff x="5491162" y="5279799"/>
            <a:chExt cx="219456" cy="256480"/>
          </a:xfrm>
        </p:grpSpPr>
        <p:sp>
          <p:nvSpPr>
            <p:cNvPr id="40" name="Oval 39"/>
            <p:cNvSpPr/>
            <p:nvPr/>
          </p:nvSpPr>
          <p:spPr bwMode="auto">
            <a:xfrm>
              <a:off x="5491162" y="5298502"/>
              <a:ext cx="219456" cy="219075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41" name="TextBox 22"/>
            <p:cNvSpPr txBox="1">
              <a:spLocks noChangeArrowheads="1"/>
            </p:cNvSpPr>
            <p:nvPr/>
          </p:nvSpPr>
          <p:spPr bwMode="auto">
            <a:xfrm>
              <a:off x="5536770" y="5279799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1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90967663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726"/>
          <a:stretch>
            <a:fillRect/>
          </a:stretch>
        </p:blipFill>
        <p:spPr>
          <a:xfrm>
            <a:off x="3051048" y="1892808"/>
            <a:ext cx="3041904" cy="307238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47.17a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4993799" y="1902781"/>
            <a:ext cx="1078821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Plasma</a:t>
            </a:r>
          </a:p>
          <a:p>
            <a:pPr algn="r"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cell</a:t>
            </a: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5354161" y="4598356"/>
            <a:ext cx="708527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 </a:t>
            </a:r>
            <a:r>
              <a:rPr lang="en-US" b="1" dirty="0">
                <a:solidFill>
                  <a:srgbClr val="000000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rPr>
              <a:t>µ</a:t>
            </a: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</a:t>
            </a:r>
          </a:p>
        </p:txBody>
      </p:sp>
      <p:grpSp>
        <p:nvGrpSpPr>
          <p:cNvPr id="11" name="Group 10"/>
          <p:cNvGrpSpPr/>
          <p:nvPr/>
        </p:nvGrpSpPr>
        <p:grpSpPr>
          <a:xfrm>
            <a:off x="5353050" y="4464844"/>
            <a:ext cx="671513" cy="159544"/>
            <a:chOff x="5353050" y="4464844"/>
            <a:chExt cx="671513" cy="159544"/>
          </a:xfrm>
        </p:grpSpPr>
        <p:sp>
          <p:nvSpPr>
            <p:cNvPr id="8" name="Freeform 7"/>
            <p:cNvSpPr/>
            <p:nvPr/>
          </p:nvSpPr>
          <p:spPr>
            <a:xfrm>
              <a:off x="5353050" y="4464844"/>
              <a:ext cx="0" cy="159544"/>
            </a:xfrm>
            <a:custGeom>
              <a:avLst/>
              <a:gdLst>
                <a:gd name="connsiteX0" fmla="*/ 0 w 0"/>
                <a:gd name="connsiteY0" fmla="*/ 0 h 159544"/>
                <a:gd name="connsiteX1" fmla="*/ 0 w 0"/>
                <a:gd name="connsiteY1" fmla="*/ 159544 h 1595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59544">
                  <a:moveTo>
                    <a:pt x="0" y="0"/>
                  </a:moveTo>
                  <a:lnTo>
                    <a:pt x="0" y="159544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9" name="Freeform 8"/>
            <p:cNvSpPr/>
            <p:nvPr/>
          </p:nvSpPr>
          <p:spPr>
            <a:xfrm>
              <a:off x="6024563" y="4464844"/>
              <a:ext cx="0" cy="157162"/>
            </a:xfrm>
            <a:custGeom>
              <a:avLst/>
              <a:gdLst>
                <a:gd name="connsiteX0" fmla="*/ 0 w 0"/>
                <a:gd name="connsiteY0" fmla="*/ 0 h 157162"/>
                <a:gd name="connsiteX1" fmla="*/ 0 w 0"/>
                <a:gd name="connsiteY1" fmla="*/ 157162 h 157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h="157162">
                  <a:moveTo>
                    <a:pt x="0" y="0"/>
                  </a:moveTo>
                  <a:lnTo>
                    <a:pt x="0" y="157162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10" name="Freeform 9"/>
            <p:cNvSpPr/>
            <p:nvPr/>
          </p:nvSpPr>
          <p:spPr>
            <a:xfrm>
              <a:off x="5353050" y="4543425"/>
              <a:ext cx="669131" cy="0"/>
            </a:xfrm>
            <a:custGeom>
              <a:avLst/>
              <a:gdLst>
                <a:gd name="connsiteX0" fmla="*/ 0 w 669131"/>
                <a:gd name="connsiteY0" fmla="*/ 0 h 0"/>
                <a:gd name="connsiteX1" fmla="*/ 669131 w 669131"/>
                <a:gd name="connsiteY1" fmla="*/ 0 h 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669131">
                  <a:moveTo>
                    <a:pt x="0" y="0"/>
                  </a:moveTo>
                  <a:lnTo>
                    <a:pt x="669131" y="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839677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2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Antibody Function</a:t>
            </a:r>
            <a:endParaRPr lang="en-US" altLang="en-US" dirty="0"/>
          </a:p>
        </p:txBody>
      </p:sp>
      <p:sp>
        <p:nvSpPr>
          <p:cNvPr id="9933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Antibodies do not kill pathogens; instead, they mark pathogens for inactivation or destruction</a:t>
            </a:r>
          </a:p>
          <a:p>
            <a:r>
              <a:rPr lang="en-US" altLang="en-US" dirty="0"/>
              <a:t>In neutralization, antibodies bind to viral surface proteins, preventing infection of a host cell</a:t>
            </a:r>
          </a:p>
          <a:p>
            <a:r>
              <a:rPr lang="en-US" altLang="en-US" dirty="0"/>
              <a:t>Antibodies may also bind to toxins in body fluids and prevent them from entering body cells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813729177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887"/>
          <a:stretch>
            <a:fillRect/>
          </a:stretch>
        </p:blipFill>
        <p:spPr>
          <a:xfrm>
            <a:off x="298704" y="865632"/>
            <a:ext cx="8546592" cy="512673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47.18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4270373" y="1231901"/>
            <a:ext cx="1332096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Antibody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6181723" y="2825751"/>
            <a:ext cx="2646558" cy="100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Blocking of ability</a:t>
            </a:r>
          </a:p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of virus to bind to</a:t>
            </a:r>
          </a:p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 host cell</a:t>
            </a: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726279" y="4114801"/>
            <a:ext cx="763863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Virus</a:t>
            </a:r>
          </a:p>
        </p:txBody>
      </p:sp>
      <p:sp>
        <p:nvSpPr>
          <p:cNvPr id="9" name="Freeform 8"/>
          <p:cNvSpPr/>
          <p:nvPr/>
        </p:nvSpPr>
        <p:spPr>
          <a:xfrm>
            <a:off x="1538288" y="3943350"/>
            <a:ext cx="1369218" cy="359569"/>
          </a:xfrm>
          <a:custGeom>
            <a:avLst/>
            <a:gdLst>
              <a:gd name="connsiteX0" fmla="*/ 0 w 1369218"/>
              <a:gd name="connsiteY0" fmla="*/ 359569 h 359569"/>
              <a:gd name="connsiteX1" fmla="*/ 1369218 w 1369218"/>
              <a:gd name="connsiteY1" fmla="*/ 0 h 359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369218" h="359569">
                <a:moveTo>
                  <a:pt x="0" y="359569"/>
                </a:moveTo>
                <a:lnTo>
                  <a:pt x="1369218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3352800" y="2603500"/>
            <a:ext cx="2717800" cy="2197100"/>
          </a:xfrm>
          <a:custGeom>
            <a:avLst/>
            <a:gdLst>
              <a:gd name="connsiteX0" fmla="*/ 603250 w 2717800"/>
              <a:gd name="connsiteY0" fmla="*/ 2197100 h 2197100"/>
              <a:gd name="connsiteX1" fmla="*/ 2717800 w 2717800"/>
              <a:gd name="connsiteY1" fmla="*/ 717550 h 2197100"/>
              <a:gd name="connsiteX2" fmla="*/ 0 w 2717800"/>
              <a:gd name="connsiteY2" fmla="*/ 0 h 219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17800" h="2197100">
                <a:moveTo>
                  <a:pt x="603250" y="2197100"/>
                </a:moveTo>
                <a:lnTo>
                  <a:pt x="2717800" y="717550"/>
                </a:ln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3286125" y="1400175"/>
            <a:ext cx="946150" cy="342900"/>
          </a:xfrm>
          <a:custGeom>
            <a:avLst/>
            <a:gdLst>
              <a:gd name="connsiteX0" fmla="*/ 0 w 946150"/>
              <a:gd name="connsiteY0" fmla="*/ 342900 h 342900"/>
              <a:gd name="connsiteX1" fmla="*/ 946150 w 946150"/>
              <a:gd name="connsiteY1" fmla="*/ 0 h 3429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46150" h="342900">
                <a:moveTo>
                  <a:pt x="0" y="342900"/>
                </a:moveTo>
                <a:lnTo>
                  <a:pt x="94615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1355227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In </a:t>
            </a:r>
            <a:r>
              <a:rPr lang="en-US" altLang="en-US" dirty="0" err="1"/>
              <a:t>opsonization</a:t>
            </a:r>
            <a:r>
              <a:rPr lang="en-US" altLang="en-US" dirty="0"/>
              <a:t>, antibodies bind to antigens on bacteria, triggering phagocytosis</a:t>
            </a:r>
          </a:p>
          <a:p>
            <a:r>
              <a:rPr lang="en-US" altLang="en-US" dirty="0"/>
              <a:t>Antigen-antibody complexes may bind to a complement protein, which triggers a cascade of complement protein activation</a:t>
            </a:r>
          </a:p>
          <a:p>
            <a:r>
              <a:rPr lang="en-US" altLang="en-US" dirty="0"/>
              <a:t>Ultimately, a membrane attack complex forms a pore in the membrane of the foreign cell, leading to its </a:t>
            </a:r>
            <a:r>
              <a:rPr lang="en-US" altLang="en-US" dirty="0" err="1"/>
              <a:t>lysis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57484056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37"/>
          <a:stretch>
            <a:fillRect/>
          </a:stretch>
        </p:blipFill>
        <p:spPr>
          <a:xfrm>
            <a:off x="1264920" y="615696"/>
            <a:ext cx="6614160" cy="5626608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47.19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4656138" y="3832225"/>
            <a:ext cx="1506823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Bacterium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1563688" y="4665663"/>
            <a:ext cx="1812997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Macrophage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2162175" y="5213350"/>
            <a:ext cx="4355359" cy="10002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Promotion of phagocytosis of</a:t>
            </a:r>
          </a:p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bacteria by macrophages and</a:t>
            </a:r>
          </a:p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neutrophils</a:t>
            </a:r>
          </a:p>
        </p:txBody>
      </p:sp>
      <p:sp>
        <p:nvSpPr>
          <p:cNvPr id="9" name="Freeform 8"/>
          <p:cNvSpPr/>
          <p:nvPr/>
        </p:nvSpPr>
        <p:spPr>
          <a:xfrm>
            <a:off x="5398294" y="2950369"/>
            <a:ext cx="773906" cy="876300"/>
          </a:xfrm>
          <a:custGeom>
            <a:avLst/>
            <a:gdLst>
              <a:gd name="connsiteX0" fmla="*/ 0 w 773906"/>
              <a:gd name="connsiteY0" fmla="*/ 876300 h 876300"/>
              <a:gd name="connsiteX1" fmla="*/ 773906 w 773906"/>
              <a:gd name="connsiteY1" fmla="*/ 0 h 876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73906" h="876300">
                <a:moveTo>
                  <a:pt x="0" y="876300"/>
                </a:moveTo>
                <a:lnTo>
                  <a:pt x="773906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10" name="Freeform 9"/>
          <p:cNvSpPr/>
          <p:nvPr/>
        </p:nvSpPr>
        <p:spPr>
          <a:xfrm>
            <a:off x="2471738" y="4090988"/>
            <a:ext cx="0" cy="600075"/>
          </a:xfrm>
          <a:custGeom>
            <a:avLst/>
            <a:gdLst>
              <a:gd name="connsiteX0" fmla="*/ 0 w 0"/>
              <a:gd name="connsiteY0" fmla="*/ 0 h 600075"/>
              <a:gd name="connsiteX1" fmla="*/ 0 w 0"/>
              <a:gd name="connsiteY1" fmla="*/ 600075 h 600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600075">
                <a:moveTo>
                  <a:pt x="0" y="0"/>
                </a:moveTo>
                <a:lnTo>
                  <a:pt x="0" y="600075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2559050" y="2044700"/>
            <a:ext cx="1765300" cy="3149600"/>
          </a:xfrm>
          <a:custGeom>
            <a:avLst/>
            <a:gdLst>
              <a:gd name="connsiteX0" fmla="*/ 0 w 1765300"/>
              <a:gd name="connsiteY0" fmla="*/ 0 h 3149600"/>
              <a:gd name="connsiteX1" fmla="*/ 1765300 w 1765300"/>
              <a:gd name="connsiteY1" fmla="*/ 3149600 h 3149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765300" h="3149600">
                <a:moveTo>
                  <a:pt x="0" y="0"/>
                </a:moveTo>
                <a:lnTo>
                  <a:pt x="1765300" y="314960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0253881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580"/>
          <a:stretch>
            <a:fillRect/>
          </a:stretch>
        </p:blipFill>
        <p:spPr>
          <a:xfrm>
            <a:off x="1267968" y="551688"/>
            <a:ext cx="6608064" cy="5754624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47.20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4460879" y="710567"/>
            <a:ext cx="2372444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Complement proteins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5837242" y="1269367"/>
            <a:ext cx="1667123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Formation of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membrane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attack complex</a:t>
            </a:r>
          </a:p>
        </p:txBody>
      </p:sp>
      <p:sp>
        <p:nvSpPr>
          <p:cNvPr id="8" name="TextBox 6"/>
          <p:cNvSpPr txBox="1">
            <a:spLocks noChangeArrowheads="1"/>
          </p:cNvSpPr>
          <p:nvPr/>
        </p:nvSpPr>
        <p:spPr bwMode="auto">
          <a:xfrm>
            <a:off x="6092829" y="2363154"/>
            <a:ext cx="1474763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Flow of water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and ions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7231067" y="3425192"/>
            <a:ext cx="51296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Pore</a:t>
            </a: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1425579" y="4431667"/>
            <a:ext cx="846386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Foreign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cell</a:t>
            </a:r>
          </a:p>
        </p:txBody>
      </p:sp>
      <p:sp>
        <p:nvSpPr>
          <p:cNvPr id="11" name="TextBox 11"/>
          <p:cNvSpPr txBox="1">
            <a:spLocks noChangeArrowheads="1"/>
          </p:cNvSpPr>
          <p:nvPr/>
        </p:nvSpPr>
        <p:spPr bwMode="auto">
          <a:xfrm>
            <a:off x="3522667" y="4345942"/>
            <a:ext cx="85921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</a:t>
            </a:r>
          </a:p>
        </p:txBody>
      </p:sp>
      <p:sp>
        <p:nvSpPr>
          <p:cNvPr id="12" name="TextBox 12"/>
          <p:cNvSpPr txBox="1">
            <a:spLocks noChangeArrowheads="1"/>
          </p:cNvSpPr>
          <p:nvPr/>
        </p:nvSpPr>
        <p:spPr bwMode="auto">
          <a:xfrm>
            <a:off x="1295404" y="5258754"/>
            <a:ext cx="2821285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Binding of antibodies</a:t>
            </a:r>
          </a:p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activates the complement</a:t>
            </a:r>
          </a:p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system</a:t>
            </a:r>
          </a:p>
        </p:txBody>
      </p:sp>
      <p:sp>
        <p:nvSpPr>
          <p:cNvPr id="13" name="TextBox 16"/>
          <p:cNvSpPr txBox="1">
            <a:spLocks noChangeArrowheads="1"/>
          </p:cNvSpPr>
          <p:nvPr/>
        </p:nvSpPr>
        <p:spPr bwMode="auto">
          <a:xfrm>
            <a:off x="4567242" y="5258754"/>
            <a:ext cx="2885405" cy="10259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Membrane attack complex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forms pores in the foreign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cell’s membrane. The cell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swells and lyses.</a:t>
            </a:r>
          </a:p>
        </p:txBody>
      </p:sp>
      <p:sp>
        <p:nvSpPr>
          <p:cNvPr id="14" name="Freeform 13"/>
          <p:cNvSpPr/>
          <p:nvPr/>
        </p:nvSpPr>
        <p:spPr>
          <a:xfrm>
            <a:off x="2168525" y="828675"/>
            <a:ext cx="2235200" cy="292100"/>
          </a:xfrm>
          <a:custGeom>
            <a:avLst/>
            <a:gdLst>
              <a:gd name="connsiteX0" fmla="*/ 0 w 2235200"/>
              <a:gd name="connsiteY0" fmla="*/ 257175 h 292100"/>
              <a:gd name="connsiteX1" fmla="*/ 2235200 w 2235200"/>
              <a:gd name="connsiteY1" fmla="*/ 0 h 292100"/>
              <a:gd name="connsiteX2" fmla="*/ 1114425 w 2235200"/>
              <a:gd name="connsiteY2" fmla="*/ 292100 h 292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235200" h="292100">
                <a:moveTo>
                  <a:pt x="0" y="257175"/>
                </a:moveTo>
                <a:lnTo>
                  <a:pt x="2235200" y="0"/>
                </a:lnTo>
                <a:lnTo>
                  <a:pt x="1114425" y="29210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15" name="Freeform 14"/>
          <p:cNvSpPr/>
          <p:nvPr/>
        </p:nvSpPr>
        <p:spPr>
          <a:xfrm>
            <a:off x="4613275" y="1416050"/>
            <a:ext cx="1184275" cy="1577975"/>
          </a:xfrm>
          <a:custGeom>
            <a:avLst/>
            <a:gdLst>
              <a:gd name="connsiteX0" fmla="*/ 0 w 1184275"/>
              <a:gd name="connsiteY0" fmla="*/ 469900 h 1577975"/>
              <a:gd name="connsiteX1" fmla="*/ 1184275 w 1184275"/>
              <a:gd name="connsiteY1" fmla="*/ 0 h 1577975"/>
              <a:gd name="connsiteX2" fmla="*/ 863600 w 1184275"/>
              <a:gd name="connsiteY2" fmla="*/ 1577975 h 15779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184275" h="1577975">
                <a:moveTo>
                  <a:pt x="0" y="469900"/>
                </a:moveTo>
                <a:lnTo>
                  <a:pt x="1184275" y="0"/>
                </a:lnTo>
                <a:lnTo>
                  <a:pt x="863600" y="1577975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16" name="Freeform 15"/>
          <p:cNvSpPr/>
          <p:nvPr/>
        </p:nvSpPr>
        <p:spPr>
          <a:xfrm>
            <a:off x="7077075" y="2781300"/>
            <a:ext cx="150019" cy="361950"/>
          </a:xfrm>
          <a:custGeom>
            <a:avLst/>
            <a:gdLst>
              <a:gd name="connsiteX0" fmla="*/ 0 w 150019"/>
              <a:gd name="connsiteY0" fmla="*/ 0 h 361950"/>
              <a:gd name="connsiteX1" fmla="*/ 150019 w 150019"/>
              <a:gd name="connsiteY1" fmla="*/ 361950 h 361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50019" h="361950">
                <a:moveTo>
                  <a:pt x="0" y="0"/>
                </a:moveTo>
                <a:lnTo>
                  <a:pt x="150019" y="36195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17" name="Freeform 16"/>
          <p:cNvSpPr/>
          <p:nvPr/>
        </p:nvSpPr>
        <p:spPr>
          <a:xfrm>
            <a:off x="7160419" y="3683794"/>
            <a:ext cx="264319" cy="211931"/>
          </a:xfrm>
          <a:custGeom>
            <a:avLst/>
            <a:gdLst>
              <a:gd name="connsiteX0" fmla="*/ 0 w 264319"/>
              <a:gd name="connsiteY0" fmla="*/ 211931 h 211931"/>
              <a:gd name="connsiteX1" fmla="*/ 264319 w 264319"/>
              <a:gd name="connsiteY1" fmla="*/ 0 h 2119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64319" h="211931">
                <a:moveTo>
                  <a:pt x="0" y="211931"/>
                </a:moveTo>
                <a:lnTo>
                  <a:pt x="264319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grpSp>
        <p:nvGrpSpPr>
          <p:cNvPr id="22" name="Group 21"/>
          <p:cNvGrpSpPr/>
          <p:nvPr/>
        </p:nvGrpSpPr>
        <p:grpSpPr>
          <a:xfrm>
            <a:off x="5387975" y="3562350"/>
            <a:ext cx="1190625" cy="1657350"/>
            <a:chOff x="5387975" y="3562350"/>
            <a:chExt cx="1190625" cy="1657350"/>
          </a:xfrm>
        </p:grpSpPr>
        <p:sp>
          <p:nvSpPr>
            <p:cNvPr id="18" name="Freeform 17"/>
            <p:cNvSpPr/>
            <p:nvPr/>
          </p:nvSpPr>
          <p:spPr>
            <a:xfrm>
              <a:off x="5387975" y="3562350"/>
              <a:ext cx="1190625" cy="1657350"/>
            </a:xfrm>
            <a:custGeom>
              <a:avLst/>
              <a:gdLst>
                <a:gd name="connsiteX0" fmla="*/ 0 w 1190625"/>
                <a:gd name="connsiteY0" fmla="*/ 0 h 1657350"/>
                <a:gd name="connsiteX1" fmla="*/ 0 w 1190625"/>
                <a:gd name="connsiteY1" fmla="*/ 1657350 h 1657350"/>
                <a:gd name="connsiteX2" fmla="*/ 1190625 w 1190625"/>
                <a:gd name="connsiteY2" fmla="*/ 1031875 h 16573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90625" h="1657350">
                  <a:moveTo>
                    <a:pt x="0" y="0"/>
                  </a:moveTo>
                  <a:lnTo>
                    <a:pt x="0" y="1657350"/>
                  </a:lnTo>
                  <a:lnTo>
                    <a:pt x="1190625" y="1031875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19" name="Freeform 18"/>
            <p:cNvSpPr/>
            <p:nvPr/>
          </p:nvSpPr>
          <p:spPr>
            <a:xfrm>
              <a:off x="5387975" y="4438650"/>
              <a:ext cx="987425" cy="781050"/>
            </a:xfrm>
            <a:custGeom>
              <a:avLst/>
              <a:gdLst>
                <a:gd name="connsiteX0" fmla="*/ 0 w 987425"/>
                <a:gd name="connsiteY0" fmla="*/ 781050 h 781050"/>
                <a:gd name="connsiteX1" fmla="*/ 987425 w 987425"/>
                <a:gd name="connsiteY1" fmla="*/ 0 h 7810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987425" h="781050">
                  <a:moveTo>
                    <a:pt x="0" y="781050"/>
                  </a:moveTo>
                  <a:lnTo>
                    <a:pt x="987425" y="0"/>
                  </a:lnTo>
                </a:path>
              </a:pathLst>
            </a:custGeom>
            <a:ln w="12700">
              <a:solidFill>
                <a:schemeClr val="tx1"/>
              </a:solidFill>
            </a:ln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</p:grpSp>
      <p:sp>
        <p:nvSpPr>
          <p:cNvPr id="20" name="Freeform 19"/>
          <p:cNvSpPr/>
          <p:nvPr/>
        </p:nvSpPr>
        <p:spPr>
          <a:xfrm>
            <a:off x="3178969" y="4105275"/>
            <a:ext cx="295275" cy="369094"/>
          </a:xfrm>
          <a:custGeom>
            <a:avLst/>
            <a:gdLst>
              <a:gd name="connsiteX0" fmla="*/ 0 w 295275"/>
              <a:gd name="connsiteY0" fmla="*/ 0 h 369094"/>
              <a:gd name="connsiteX1" fmla="*/ 295275 w 295275"/>
              <a:gd name="connsiteY1" fmla="*/ 369094 h 3690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5275" h="369094">
                <a:moveTo>
                  <a:pt x="0" y="0"/>
                </a:moveTo>
                <a:lnTo>
                  <a:pt x="295275" y="369094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2257425" y="3190875"/>
            <a:ext cx="104775" cy="2033588"/>
          </a:xfrm>
          <a:custGeom>
            <a:avLst/>
            <a:gdLst>
              <a:gd name="connsiteX0" fmla="*/ 104775 w 104775"/>
              <a:gd name="connsiteY0" fmla="*/ 2033588 h 2033588"/>
              <a:gd name="connsiteX1" fmla="*/ 0 w 104775"/>
              <a:gd name="connsiteY1" fmla="*/ 0 h 20335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4775" h="2033588">
                <a:moveTo>
                  <a:pt x="104775" y="2033588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68642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25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 cells can express five different forms (or classes) of immunoglobulin (</a:t>
            </a:r>
            <a:r>
              <a:rPr lang="en-US" altLang="en-US" dirty="0" err="1"/>
              <a:t>Ig</a:t>
            </a:r>
            <a:r>
              <a:rPr lang="en-US" altLang="en-US" dirty="0"/>
              <a:t>) with similar antigen-binding specificity but different heavy chain C regions</a:t>
            </a:r>
          </a:p>
          <a:p>
            <a:r>
              <a:rPr lang="en-US" altLang="en-US" dirty="0" err="1"/>
              <a:t>IgD</a:t>
            </a:r>
            <a:r>
              <a:rPr lang="en-US" altLang="en-US" dirty="0"/>
              <a:t> is membrane bound, while the other four, IgA, </a:t>
            </a:r>
            <a:r>
              <a:rPr lang="en-US" altLang="en-US" dirty="0" err="1"/>
              <a:t>IgE</a:t>
            </a:r>
            <a:r>
              <a:rPr lang="en-US" altLang="en-US" dirty="0"/>
              <a:t>, </a:t>
            </a:r>
            <a:r>
              <a:rPr lang="en-US" altLang="en-US" dirty="0" err="1"/>
              <a:t>IgG</a:t>
            </a:r>
            <a:r>
              <a:rPr lang="en-US" altLang="en-US" dirty="0"/>
              <a:t>, and </a:t>
            </a:r>
            <a:r>
              <a:rPr lang="en-US" altLang="en-US" dirty="0" err="1"/>
              <a:t>IgM</a:t>
            </a:r>
            <a:r>
              <a:rPr lang="en-US" altLang="en-US" dirty="0"/>
              <a:t>, are soluble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3603833356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/>
              <a:t>Cytotoxic T Cells: A Response to Infected Cells</a:t>
            </a:r>
            <a:endParaRPr lang="en-US" altLang="en-US" dirty="0"/>
          </a:p>
        </p:txBody>
      </p:sp>
      <p:sp>
        <p:nvSpPr>
          <p:cNvPr id="911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/>
              <a:t>Cytotoxic </a:t>
            </a:r>
            <a:r>
              <a:rPr lang="en-US" altLang="en-US" b="1" dirty="0"/>
              <a:t>T </a:t>
            </a:r>
            <a:r>
              <a:rPr lang="en-US" altLang="en-US" b="1"/>
              <a:t>cells </a:t>
            </a:r>
            <a:r>
              <a:rPr lang="en-US" altLang="en-US"/>
              <a:t>use </a:t>
            </a:r>
            <a:r>
              <a:rPr lang="en-US" altLang="en-US" dirty="0"/>
              <a:t>toxic proteins to kill cells infected by viruses or other intracellular pathogens</a:t>
            </a:r>
          </a:p>
          <a:p>
            <a:r>
              <a:rPr lang="en-US" altLang="en-US" dirty="0"/>
              <a:t>Cytotoxic T cells recognize fragments of foreign proteins produced by infected cells </a:t>
            </a:r>
          </a:p>
          <a:p>
            <a:r>
              <a:rPr lang="en-US" altLang="en-US" dirty="0"/>
              <a:t>The activated cytotoxic T cell secretes proteins that disrupt the membranes of target cells and trigger apoptosis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37816361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472"/>
          <a:stretch>
            <a:fillRect/>
          </a:stretch>
        </p:blipFill>
        <p:spPr>
          <a:xfrm>
            <a:off x="298704" y="1310640"/>
            <a:ext cx="8546592" cy="423672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47.21_3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674689" y="1380331"/>
            <a:ext cx="1051570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Cytotoxic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 cell</a:t>
            </a:r>
          </a:p>
        </p:txBody>
      </p:sp>
      <p:sp>
        <p:nvSpPr>
          <p:cNvPr id="7" name="TextBox 4"/>
          <p:cNvSpPr txBox="1">
            <a:spLocks noChangeArrowheads="1"/>
          </p:cNvSpPr>
          <p:nvPr/>
        </p:nvSpPr>
        <p:spPr bwMode="auto">
          <a:xfrm>
            <a:off x="4803776" y="1380331"/>
            <a:ext cx="124393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Granzymes</a:t>
            </a:r>
            <a:endParaRPr lang="en-US" sz="18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7764464" y="1380331"/>
            <a:ext cx="101309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Released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cytotoxic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 cell</a:t>
            </a: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7764464" y="2440781"/>
            <a:ext cx="884858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Dying</a:t>
            </a:r>
          </a:p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infected</a:t>
            </a:r>
          </a:p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cell</a:t>
            </a:r>
          </a:p>
        </p:txBody>
      </p:sp>
      <p:sp>
        <p:nvSpPr>
          <p:cNvPr id="10" name="TextBox 11"/>
          <p:cNvSpPr txBox="1">
            <a:spLocks noChangeArrowheads="1"/>
          </p:cNvSpPr>
          <p:nvPr/>
        </p:nvSpPr>
        <p:spPr bwMode="auto">
          <a:xfrm>
            <a:off x="733426" y="2710656"/>
            <a:ext cx="46166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CD8</a:t>
            </a:r>
          </a:p>
        </p:txBody>
      </p:sp>
      <p:sp>
        <p:nvSpPr>
          <p:cNvPr id="11" name="TextBox 12"/>
          <p:cNvSpPr txBox="1">
            <a:spLocks noChangeArrowheads="1"/>
          </p:cNvSpPr>
          <p:nvPr/>
        </p:nvSpPr>
        <p:spPr bwMode="auto">
          <a:xfrm>
            <a:off x="593726" y="3199606"/>
            <a:ext cx="525785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MHC</a:t>
            </a:r>
          </a:p>
        </p:txBody>
      </p:sp>
      <p:sp>
        <p:nvSpPr>
          <p:cNvPr id="12" name="TextBox 13"/>
          <p:cNvSpPr txBox="1">
            <a:spLocks noChangeArrowheads="1"/>
          </p:cNvSpPr>
          <p:nvPr/>
        </p:nvSpPr>
        <p:spPr bwMode="auto">
          <a:xfrm>
            <a:off x="2413001" y="2764631"/>
            <a:ext cx="923330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receptor</a:t>
            </a:r>
          </a:p>
        </p:txBody>
      </p:sp>
      <p:sp>
        <p:nvSpPr>
          <p:cNvPr id="13" name="TextBox 15"/>
          <p:cNvSpPr txBox="1">
            <a:spLocks noChangeArrowheads="1"/>
          </p:cNvSpPr>
          <p:nvPr/>
        </p:nvSpPr>
        <p:spPr bwMode="auto">
          <a:xfrm>
            <a:off x="3421064" y="3593306"/>
            <a:ext cx="51296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Pore</a:t>
            </a:r>
          </a:p>
        </p:txBody>
      </p:sp>
      <p:sp>
        <p:nvSpPr>
          <p:cNvPr id="14" name="TextBox 16"/>
          <p:cNvSpPr txBox="1">
            <a:spLocks noChangeArrowheads="1"/>
          </p:cNvSpPr>
          <p:nvPr/>
        </p:nvSpPr>
        <p:spPr bwMode="auto">
          <a:xfrm>
            <a:off x="422276" y="4653756"/>
            <a:ext cx="884858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Infected</a:t>
            </a:r>
          </a:p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cell</a:t>
            </a:r>
          </a:p>
        </p:txBody>
      </p:sp>
      <p:sp>
        <p:nvSpPr>
          <p:cNvPr id="16" name="TextBox 20"/>
          <p:cNvSpPr txBox="1">
            <a:spLocks noChangeArrowheads="1"/>
          </p:cNvSpPr>
          <p:nvPr/>
        </p:nvSpPr>
        <p:spPr bwMode="auto">
          <a:xfrm>
            <a:off x="2193926" y="4874419"/>
            <a:ext cx="987450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fragment</a:t>
            </a:r>
          </a:p>
        </p:txBody>
      </p:sp>
      <p:sp>
        <p:nvSpPr>
          <p:cNvPr id="19" name="TextBox 13"/>
          <p:cNvSpPr txBox="1">
            <a:spLocks noChangeArrowheads="1"/>
          </p:cNvSpPr>
          <p:nvPr/>
        </p:nvSpPr>
        <p:spPr bwMode="auto">
          <a:xfrm>
            <a:off x="3403600" y="2974183"/>
            <a:ext cx="88485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Perforin</a:t>
            </a:r>
            <a:endParaRPr lang="en-US" sz="18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</p:txBody>
      </p:sp>
      <p:grpSp>
        <p:nvGrpSpPr>
          <p:cNvPr id="26" name="Group 25"/>
          <p:cNvGrpSpPr/>
          <p:nvPr/>
        </p:nvGrpSpPr>
        <p:grpSpPr>
          <a:xfrm>
            <a:off x="6153148" y="5200254"/>
            <a:ext cx="219456" cy="256480"/>
            <a:chOff x="6153148" y="5200254"/>
            <a:chExt cx="219456" cy="256480"/>
          </a:xfrm>
        </p:grpSpPr>
        <p:sp>
          <p:nvSpPr>
            <p:cNvPr id="20" name="Oval 19"/>
            <p:cNvSpPr/>
            <p:nvPr/>
          </p:nvSpPr>
          <p:spPr bwMode="auto">
            <a:xfrm>
              <a:off x="6153148" y="5218766"/>
              <a:ext cx="219456" cy="219456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21" name="TextBox 23"/>
            <p:cNvSpPr txBox="1">
              <a:spLocks noChangeArrowheads="1"/>
            </p:cNvSpPr>
            <p:nvPr/>
          </p:nvSpPr>
          <p:spPr bwMode="auto">
            <a:xfrm>
              <a:off x="6198756" y="5200254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3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>
            <a:off x="3452806" y="5202640"/>
            <a:ext cx="219456" cy="256480"/>
            <a:chOff x="6153148" y="5200254"/>
            <a:chExt cx="219456" cy="256480"/>
          </a:xfrm>
        </p:grpSpPr>
        <p:sp>
          <p:nvSpPr>
            <p:cNvPr id="28" name="Oval 27"/>
            <p:cNvSpPr/>
            <p:nvPr/>
          </p:nvSpPr>
          <p:spPr bwMode="auto">
            <a:xfrm>
              <a:off x="6153148" y="5218766"/>
              <a:ext cx="219456" cy="219456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29" name="TextBox 23"/>
            <p:cNvSpPr txBox="1">
              <a:spLocks noChangeArrowheads="1"/>
            </p:cNvSpPr>
            <p:nvPr/>
          </p:nvSpPr>
          <p:spPr bwMode="auto">
            <a:xfrm>
              <a:off x="6198756" y="5200254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2</a:t>
              </a:r>
            </a:p>
          </p:txBody>
        </p:sp>
      </p:grpSp>
      <p:grpSp>
        <p:nvGrpSpPr>
          <p:cNvPr id="30" name="Group 29"/>
          <p:cNvGrpSpPr/>
          <p:nvPr/>
        </p:nvGrpSpPr>
        <p:grpSpPr>
          <a:xfrm>
            <a:off x="420678" y="5203433"/>
            <a:ext cx="219456" cy="256480"/>
            <a:chOff x="6153148" y="5200254"/>
            <a:chExt cx="219456" cy="256480"/>
          </a:xfrm>
        </p:grpSpPr>
        <p:sp>
          <p:nvSpPr>
            <p:cNvPr id="31" name="Oval 30"/>
            <p:cNvSpPr/>
            <p:nvPr/>
          </p:nvSpPr>
          <p:spPr bwMode="auto">
            <a:xfrm>
              <a:off x="6153148" y="5218766"/>
              <a:ext cx="219456" cy="219456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32" name="TextBox 23"/>
            <p:cNvSpPr txBox="1">
              <a:spLocks noChangeArrowheads="1"/>
            </p:cNvSpPr>
            <p:nvPr/>
          </p:nvSpPr>
          <p:spPr bwMode="auto">
            <a:xfrm>
              <a:off x="6198756" y="5200254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1</a:t>
              </a:r>
            </a:p>
          </p:txBody>
        </p:sp>
      </p:grpSp>
      <p:sp>
        <p:nvSpPr>
          <p:cNvPr id="33" name="Freeform 32"/>
          <p:cNvSpPr/>
          <p:nvPr/>
        </p:nvSpPr>
        <p:spPr>
          <a:xfrm>
            <a:off x="1435894" y="1619250"/>
            <a:ext cx="328612" cy="304800"/>
          </a:xfrm>
          <a:custGeom>
            <a:avLst/>
            <a:gdLst>
              <a:gd name="connsiteX0" fmla="*/ 0 w 328612"/>
              <a:gd name="connsiteY0" fmla="*/ 0 h 304800"/>
              <a:gd name="connsiteX1" fmla="*/ 328612 w 328612"/>
              <a:gd name="connsiteY1" fmla="*/ 304800 h 304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8612" h="304800">
                <a:moveTo>
                  <a:pt x="0" y="0"/>
                </a:moveTo>
                <a:lnTo>
                  <a:pt x="328612" y="30480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2126456" y="2890838"/>
            <a:ext cx="259557" cy="0"/>
          </a:xfrm>
          <a:custGeom>
            <a:avLst/>
            <a:gdLst>
              <a:gd name="connsiteX0" fmla="*/ 0 w 259557"/>
              <a:gd name="connsiteY0" fmla="*/ 0 h 0"/>
              <a:gd name="connsiteX1" fmla="*/ 259557 w 259557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9557">
                <a:moveTo>
                  <a:pt x="0" y="0"/>
                </a:moveTo>
                <a:lnTo>
                  <a:pt x="259557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5" name="Freeform 34"/>
          <p:cNvSpPr/>
          <p:nvPr/>
        </p:nvSpPr>
        <p:spPr>
          <a:xfrm>
            <a:off x="1216819" y="2840831"/>
            <a:ext cx="590550" cy="102394"/>
          </a:xfrm>
          <a:custGeom>
            <a:avLst/>
            <a:gdLst>
              <a:gd name="connsiteX0" fmla="*/ 0 w 590550"/>
              <a:gd name="connsiteY0" fmla="*/ 0 h 102394"/>
              <a:gd name="connsiteX1" fmla="*/ 590550 w 590550"/>
              <a:gd name="connsiteY1" fmla="*/ 102394 h 10239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90550" h="102394">
                <a:moveTo>
                  <a:pt x="0" y="0"/>
                </a:moveTo>
                <a:lnTo>
                  <a:pt x="590550" y="102394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6" name="Freeform 35"/>
          <p:cNvSpPr/>
          <p:nvPr/>
        </p:nvSpPr>
        <p:spPr>
          <a:xfrm>
            <a:off x="1152525" y="3312319"/>
            <a:ext cx="800100" cy="0"/>
          </a:xfrm>
          <a:custGeom>
            <a:avLst/>
            <a:gdLst>
              <a:gd name="connsiteX0" fmla="*/ 0 w 800100"/>
              <a:gd name="connsiteY0" fmla="*/ 0 h 0"/>
              <a:gd name="connsiteX1" fmla="*/ 800100 w 8001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00100">
                <a:moveTo>
                  <a:pt x="0" y="0"/>
                </a:moveTo>
                <a:lnTo>
                  <a:pt x="80010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7" name="Freeform 36"/>
          <p:cNvSpPr/>
          <p:nvPr/>
        </p:nvSpPr>
        <p:spPr>
          <a:xfrm>
            <a:off x="2336006" y="4545806"/>
            <a:ext cx="42863" cy="347663"/>
          </a:xfrm>
          <a:custGeom>
            <a:avLst/>
            <a:gdLst>
              <a:gd name="connsiteX0" fmla="*/ 0 w 42863"/>
              <a:gd name="connsiteY0" fmla="*/ 0 h 347663"/>
              <a:gd name="connsiteX1" fmla="*/ 42863 w 42863"/>
              <a:gd name="connsiteY1" fmla="*/ 347663 h 3476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2863" h="347663">
                <a:moveTo>
                  <a:pt x="0" y="0"/>
                </a:moveTo>
                <a:lnTo>
                  <a:pt x="42863" y="347663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1114425" y="4495800"/>
            <a:ext cx="164306" cy="161925"/>
          </a:xfrm>
          <a:custGeom>
            <a:avLst/>
            <a:gdLst>
              <a:gd name="connsiteX0" fmla="*/ 0 w 164306"/>
              <a:gd name="connsiteY0" fmla="*/ 161925 h 161925"/>
              <a:gd name="connsiteX1" fmla="*/ 164306 w 164306"/>
              <a:gd name="connsiteY1" fmla="*/ 0 h 1619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64306" h="161925">
                <a:moveTo>
                  <a:pt x="0" y="161925"/>
                </a:moveTo>
                <a:lnTo>
                  <a:pt x="164306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3950494" y="3750945"/>
            <a:ext cx="333375" cy="152400"/>
          </a:xfrm>
          <a:custGeom>
            <a:avLst/>
            <a:gdLst>
              <a:gd name="connsiteX0" fmla="*/ 0 w 333375"/>
              <a:gd name="connsiteY0" fmla="*/ 0 h 152400"/>
              <a:gd name="connsiteX1" fmla="*/ 333375 w 333375"/>
              <a:gd name="connsiteY1" fmla="*/ 152400 h 1524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33375" h="152400">
                <a:moveTo>
                  <a:pt x="0" y="0"/>
                </a:moveTo>
                <a:lnTo>
                  <a:pt x="333375" y="15240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0" name="Freeform 39"/>
          <p:cNvSpPr/>
          <p:nvPr/>
        </p:nvSpPr>
        <p:spPr>
          <a:xfrm>
            <a:off x="4307681" y="2855595"/>
            <a:ext cx="307182" cy="569119"/>
          </a:xfrm>
          <a:custGeom>
            <a:avLst/>
            <a:gdLst>
              <a:gd name="connsiteX0" fmla="*/ 307182 w 307182"/>
              <a:gd name="connsiteY0" fmla="*/ 569119 h 569119"/>
              <a:gd name="connsiteX1" fmla="*/ 0 w 307182"/>
              <a:gd name="connsiteY1" fmla="*/ 259556 h 569119"/>
              <a:gd name="connsiteX2" fmla="*/ 304800 w 307182"/>
              <a:gd name="connsiteY2" fmla="*/ 0 h 569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07182" h="569119">
                <a:moveTo>
                  <a:pt x="307182" y="569119"/>
                </a:moveTo>
                <a:lnTo>
                  <a:pt x="0" y="259556"/>
                </a:lnTo>
                <a:lnTo>
                  <a:pt x="30480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5452745" y="1657350"/>
            <a:ext cx="450850" cy="1765300"/>
          </a:xfrm>
          <a:custGeom>
            <a:avLst/>
            <a:gdLst>
              <a:gd name="connsiteX0" fmla="*/ 415925 w 450850"/>
              <a:gd name="connsiteY0" fmla="*/ 1155700 h 1765300"/>
              <a:gd name="connsiteX1" fmla="*/ 450850 w 450850"/>
              <a:gd name="connsiteY1" fmla="*/ 0 h 1765300"/>
              <a:gd name="connsiteX2" fmla="*/ 0 w 450850"/>
              <a:gd name="connsiteY2" fmla="*/ 1765300 h 1765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50850" h="1765300">
                <a:moveTo>
                  <a:pt x="415925" y="1155700"/>
                </a:moveTo>
                <a:lnTo>
                  <a:pt x="450850" y="0"/>
                </a:lnTo>
                <a:lnTo>
                  <a:pt x="0" y="176530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3" name="Freeform 42"/>
          <p:cNvSpPr/>
          <p:nvPr/>
        </p:nvSpPr>
        <p:spPr>
          <a:xfrm>
            <a:off x="7227094" y="1512094"/>
            <a:ext cx="507206" cy="0"/>
          </a:xfrm>
          <a:custGeom>
            <a:avLst/>
            <a:gdLst>
              <a:gd name="connsiteX0" fmla="*/ 0 w 507206"/>
              <a:gd name="connsiteY0" fmla="*/ 0 h 0"/>
              <a:gd name="connsiteX1" fmla="*/ 507206 w 507206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7206">
                <a:moveTo>
                  <a:pt x="0" y="0"/>
                </a:moveTo>
                <a:lnTo>
                  <a:pt x="507206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4" name="Freeform 43"/>
          <p:cNvSpPr/>
          <p:nvPr/>
        </p:nvSpPr>
        <p:spPr>
          <a:xfrm>
            <a:off x="7817644" y="3200400"/>
            <a:ext cx="14287" cy="297656"/>
          </a:xfrm>
          <a:custGeom>
            <a:avLst/>
            <a:gdLst>
              <a:gd name="connsiteX0" fmla="*/ 14287 w 14287"/>
              <a:gd name="connsiteY0" fmla="*/ 0 h 297656"/>
              <a:gd name="connsiteX1" fmla="*/ 0 w 14287"/>
              <a:gd name="connsiteY1" fmla="*/ 297656 h 2976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4287" h="297656">
                <a:moveTo>
                  <a:pt x="14287" y="0"/>
                </a:moveTo>
                <a:lnTo>
                  <a:pt x="0" y="297656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112540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452" name="Rectangle 7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/>
              <a:t>Summary of the Humoral and Cell-Mediated Immune Responses</a:t>
            </a:r>
            <a:endParaRPr lang="en-US" altLang="en-US" dirty="0"/>
          </a:p>
        </p:txBody>
      </p:sp>
      <p:sp>
        <p:nvSpPr>
          <p:cNvPr id="104449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Both the </a:t>
            </a:r>
            <a:r>
              <a:rPr lang="en-US" altLang="en-US" dirty="0" err="1"/>
              <a:t>humoral</a:t>
            </a:r>
            <a:r>
              <a:rPr lang="en-US" altLang="en-US" dirty="0"/>
              <a:t> and cell-mediated responses can include primary and secondary immune responses</a:t>
            </a:r>
          </a:p>
          <a:p>
            <a:r>
              <a:rPr lang="en-US" altLang="en-US" dirty="0"/>
              <a:t>Memory cells enable the secondary response</a:t>
            </a:r>
          </a:p>
          <a:p>
            <a:pPr lvl="1"/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606583611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1091184" y="159572"/>
            <a:ext cx="6961632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47.22</a:t>
            </a:r>
          </a:p>
        </p:txBody>
      </p:sp>
      <p:sp>
        <p:nvSpPr>
          <p:cNvPr id="27" name="TextBox 2"/>
          <p:cNvSpPr txBox="1">
            <a:spLocks noChangeArrowheads="1"/>
          </p:cNvSpPr>
          <p:nvPr/>
        </p:nvSpPr>
        <p:spPr bwMode="auto">
          <a:xfrm>
            <a:off x="1665288" y="303400"/>
            <a:ext cx="2347246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dirty="0">
                <a:solidFill>
                  <a:srgbClr val="FFFFFF"/>
                </a:solidFill>
                <a:latin typeface="Arial"/>
                <a:ea typeface="ＭＳ Ｐゴシック" charset="0"/>
              </a:rPr>
              <a:t>HUMORAL IMMUNE RESPONSE</a:t>
            </a:r>
          </a:p>
        </p:txBody>
      </p:sp>
      <p:sp>
        <p:nvSpPr>
          <p:cNvPr id="28" name="TextBox 3"/>
          <p:cNvSpPr txBox="1">
            <a:spLocks noChangeArrowheads="1"/>
          </p:cNvSpPr>
          <p:nvPr/>
        </p:nvSpPr>
        <p:spPr bwMode="auto">
          <a:xfrm>
            <a:off x="4875213" y="303400"/>
            <a:ext cx="2809872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FFFFFF"/>
                </a:solidFill>
                <a:latin typeface="Arial"/>
                <a:ea typeface="ＭＳ Ｐゴシック" charset="0"/>
              </a:rPr>
              <a:t>CELL-MEDIATED IMMUNE RESPONSE</a:t>
            </a:r>
          </a:p>
        </p:txBody>
      </p:sp>
      <p:sp>
        <p:nvSpPr>
          <p:cNvPr id="29" name="TextBox 4"/>
          <p:cNvSpPr txBox="1">
            <a:spLocks noChangeArrowheads="1"/>
          </p:cNvSpPr>
          <p:nvPr/>
        </p:nvSpPr>
        <p:spPr bwMode="auto">
          <a:xfrm>
            <a:off x="3689350" y="765362"/>
            <a:ext cx="1667123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 (1st exposure)</a:t>
            </a:r>
          </a:p>
        </p:txBody>
      </p:sp>
      <p:sp>
        <p:nvSpPr>
          <p:cNvPr id="30" name="TextBox 5"/>
          <p:cNvSpPr txBox="1">
            <a:spLocks noChangeArrowheads="1"/>
          </p:cNvSpPr>
          <p:nvPr/>
        </p:nvSpPr>
        <p:spPr bwMode="auto">
          <a:xfrm>
            <a:off x="4095750" y="1032062"/>
            <a:ext cx="836576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ＭＳ Ｐゴシック" charset="0"/>
              </a:rPr>
              <a:t>Taken in by</a:t>
            </a:r>
          </a:p>
        </p:txBody>
      </p:sp>
      <p:sp>
        <p:nvSpPr>
          <p:cNvPr id="31" name="TextBox 6"/>
          <p:cNvSpPr txBox="1">
            <a:spLocks noChangeArrowheads="1"/>
          </p:cNvSpPr>
          <p:nvPr/>
        </p:nvSpPr>
        <p:spPr bwMode="auto">
          <a:xfrm>
            <a:off x="3979094" y="1524978"/>
            <a:ext cx="108683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Antigen-</a:t>
            </a:r>
          </a:p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presenting cell</a:t>
            </a:r>
          </a:p>
        </p:txBody>
      </p:sp>
      <p:sp>
        <p:nvSpPr>
          <p:cNvPr id="32" name="TextBox 9"/>
          <p:cNvSpPr txBox="1">
            <a:spLocks noChangeArrowheads="1"/>
          </p:cNvSpPr>
          <p:nvPr/>
        </p:nvSpPr>
        <p:spPr bwMode="auto">
          <a:xfrm>
            <a:off x="6985000" y="893950"/>
            <a:ext cx="777457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ＭＳ Ｐゴシック" charset="0"/>
              </a:rPr>
              <a:t>Stimulates</a:t>
            </a:r>
          </a:p>
        </p:txBody>
      </p:sp>
      <p:sp>
        <p:nvSpPr>
          <p:cNvPr id="33" name="TextBox 10"/>
          <p:cNvSpPr txBox="1">
            <a:spLocks noChangeArrowheads="1"/>
          </p:cNvSpPr>
          <p:nvPr/>
        </p:nvSpPr>
        <p:spPr bwMode="auto">
          <a:xfrm>
            <a:off x="6985000" y="1135250"/>
            <a:ext cx="923330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ＭＳ Ｐゴシック" charset="0"/>
              </a:rPr>
              <a:t>Gives rise to</a:t>
            </a:r>
          </a:p>
        </p:txBody>
      </p:sp>
      <p:sp>
        <p:nvSpPr>
          <p:cNvPr id="35" name="TextBox 17"/>
          <p:cNvSpPr txBox="1">
            <a:spLocks noChangeArrowheads="1"/>
          </p:cNvSpPr>
          <p:nvPr/>
        </p:nvSpPr>
        <p:spPr bwMode="auto">
          <a:xfrm>
            <a:off x="1533525" y="2711637"/>
            <a:ext cx="410369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ＭＳ Ｐゴシック" charset="0"/>
              </a:rPr>
              <a:t>B cell</a:t>
            </a:r>
          </a:p>
        </p:txBody>
      </p:sp>
      <p:sp>
        <p:nvSpPr>
          <p:cNvPr id="36" name="TextBox 18"/>
          <p:cNvSpPr txBox="1">
            <a:spLocks noChangeArrowheads="1"/>
          </p:cNvSpPr>
          <p:nvPr/>
        </p:nvSpPr>
        <p:spPr bwMode="auto">
          <a:xfrm>
            <a:off x="4075113" y="2727512"/>
            <a:ext cx="915315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Helper T cell</a:t>
            </a:r>
          </a:p>
        </p:txBody>
      </p:sp>
      <p:sp>
        <p:nvSpPr>
          <p:cNvPr id="37" name="TextBox 19"/>
          <p:cNvSpPr txBox="1">
            <a:spLocks noChangeArrowheads="1"/>
          </p:cNvSpPr>
          <p:nvPr/>
        </p:nvSpPr>
        <p:spPr bwMode="auto">
          <a:xfrm>
            <a:off x="6970713" y="2658453"/>
            <a:ext cx="70051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Cytotoxic</a:t>
            </a:r>
          </a:p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 cell</a:t>
            </a:r>
          </a:p>
        </p:txBody>
      </p:sp>
      <p:sp>
        <p:nvSpPr>
          <p:cNvPr id="38" name="TextBox 26"/>
          <p:cNvSpPr txBox="1">
            <a:spLocks noChangeArrowheads="1"/>
          </p:cNvSpPr>
          <p:nvPr/>
        </p:nvSpPr>
        <p:spPr bwMode="auto">
          <a:xfrm>
            <a:off x="4025128" y="3818916"/>
            <a:ext cx="984244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Memory</a:t>
            </a:r>
          </a:p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helper T cells</a:t>
            </a:r>
          </a:p>
        </p:txBody>
      </p:sp>
      <p:sp>
        <p:nvSpPr>
          <p:cNvPr id="39" name="TextBox 29"/>
          <p:cNvSpPr txBox="1">
            <a:spLocks noChangeArrowheads="1"/>
          </p:cNvSpPr>
          <p:nvPr/>
        </p:nvSpPr>
        <p:spPr bwMode="auto">
          <a:xfrm>
            <a:off x="1467644" y="5185753"/>
            <a:ext cx="53700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Plasma</a:t>
            </a:r>
          </a:p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cells</a:t>
            </a:r>
          </a:p>
        </p:txBody>
      </p:sp>
      <p:sp>
        <p:nvSpPr>
          <p:cNvPr id="40" name="TextBox 32"/>
          <p:cNvSpPr txBox="1">
            <a:spLocks noChangeArrowheads="1"/>
          </p:cNvSpPr>
          <p:nvPr/>
        </p:nvSpPr>
        <p:spPr bwMode="auto">
          <a:xfrm>
            <a:off x="3663950" y="4900800"/>
            <a:ext cx="1720023" cy="17953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42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 (2nd exposure)</a:t>
            </a:r>
          </a:p>
        </p:txBody>
      </p:sp>
      <p:sp>
        <p:nvSpPr>
          <p:cNvPr id="41" name="TextBox 34"/>
          <p:cNvSpPr txBox="1">
            <a:spLocks noChangeArrowheads="1"/>
          </p:cNvSpPr>
          <p:nvPr/>
        </p:nvSpPr>
        <p:spPr bwMode="auto">
          <a:xfrm>
            <a:off x="5054600" y="5184962"/>
            <a:ext cx="11974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Memory</a:t>
            </a:r>
          </a:p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cytotoxic T cells</a:t>
            </a:r>
          </a:p>
        </p:txBody>
      </p:sp>
      <p:sp>
        <p:nvSpPr>
          <p:cNvPr id="42" name="TextBox 36"/>
          <p:cNvSpPr txBox="1">
            <a:spLocks noChangeArrowheads="1"/>
          </p:cNvSpPr>
          <p:nvPr/>
        </p:nvSpPr>
        <p:spPr bwMode="auto">
          <a:xfrm>
            <a:off x="6742113" y="5183375"/>
            <a:ext cx="1197443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Active</a:t>
            </a:r>
          </a:p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cytotoxic T cells</a:t>
            </a:r>
          </a:p>
        </p:txBody>
      </p:sp>
      <p:sp>
        <p:nvSpPr>
          <p:cNvPr id="43" name="TextBox 41"/>
          <p:cNvSpPr txBox="1">
            <a:spLocks noChangeArrowheads="1"/>
          </p:cNvSpPr>
          <p:nvPr/>
        </p:nvSpPr>
        <p:spPr bwMode="auto">
          <a:xfrm>
            <a:off x="3112294" y="5195278"/>
            <a:ext cx="588302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ＭＳ Ｐゴシック" charset="0"/>
              </a:rPr>
              <a:t>Memory</a:t>
            </a:r>
          </a:p>
          <a:p>
            <a:pPr algn="ctr">
              <a:lnSpc>
                <a:spcPts val="1200"/>
              </a:lnSpc>
            </a:pPr>
            <a:r>
              <a:rPr lang="en-US" sz="1200" b="1">
                <a:solidFill>
                  <a:srgbClr val="000000"/>
                </a:solidFill>
                <a:latin typeface="Arial"/>
                <a:ea typeface="ＭＳ Ｐゴシック" charset="0"/>
              </a:rPr>
              <a:t>B cells</a:t>
            </a:r>
          </a:p>
        </p:txBody>
      </p:sp>
      <p:sp>
        <p:nvSpPr>
          <p:cNvPr id="45" name="TextBox 45"/>
          <p:cNvSpPr txBox="1">
            <a:spLocks noChangeArrowheads="1"/>
          </p:cNvSpPr>
          <p:nvPr/>
        </p:nvSpPr>
        <p:spPr bwMode="auto">
          <a:xfrm>
            <a:off x="1358113" y="6054910"/>
            <a:ext cx="77104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Secreted</a:t>
            </a:r>
          </a:p>
          <a:p>
            <a:pPr algn="ct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antibodies</a:t>
            </a:r>
          </a:p>
        </p:txBody>
      </p:sp>
      <p:sp>
        <p:nvSpPr>
          <p:cNvPr id="46" name="TextBox 48"/>
          <p:cNvSpPr txBox="1">
            <a:spLocks noChangeArrowheads="1"/>
          </p:cNvSpPr>
          <p:nvPr/>
        </p:nvSpPr>
        <p:spPr bwMode="auto">
          <a:xfrm>
            <a:off x="2513807" y="6178734"/>
            <a:ext cx="1726435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Defend against</a:t>
            </a:r>
          </a:p>
          <a:p>
            <a:pPr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extracellular pathogens</a:t>
            </a:r>
          </a:p>
        </p:txBody>
      </p:sp>
      <p:sp>
        <p:nvSpPr>
          <p:cNvPr id="47" name="TextBox 50"/>
          <p:cNvSpPr txBox="1">
            <a:spLocks noChangeArrowheads="1"/>
          </p:cNvSpPr>
          <p:nvPr/>
        </p:nvSpPr>
        <p:spPr bwMode="auto">
          <a:xfrm>
            <a:off x="4827589" y="6019987"/>
            <a:ext cx="1694374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Defend against</a:t>
            </a:r>
          </a:p>
          <a:p>
            <a:pPr algn="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intracellular pathogens</a:t>
            </a:r>
          </a:p>
          <a:p>
            <a:pPr algn="r">
              <a:lnSpc>
                <a:spcPts val="1200"/>
              </a:lnSpc>
            </a:pPr>
            <a:r>
              <a:rPr lang="en-US" sz="12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and cancer</a:t>
            </a:r>
          </a:p>
        </p:txBody>
      </p:sp>
    </p:spTree>
    <p:extLst>
      <p:ext uri="{BB962C8B-B14F-4D97-AF65-F5344CB8AC3E}">
        <p14:creationId xmlns:p14="http://schemas.microsoft.com/office/powerpoint/2010/main" val="111096064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511"/>
          <a:stretch>
            <a:fillRect/>
          </a:stretch>
        </p:blipFill>
        <p:spPr>
          <a:xfrm>
            <a:off x="298704" y="1335024"/>
            <a:ext cx="8546592" cy="4187952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47.22a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993775" y="1509713"/>
            <a:ext cx="293644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FFFFFF"/>
                </a:solidFill>
                <a:latin typeface="Arial"/>
                <a:ea typeface="ＭＳ Ｐゴシック" charset="0"/>
              </a:rPr>
              <a:t>HUMORAL IMMUNE RESPONSE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4937125" y="1509713"/>
            <a:ext cx="3512308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FFFFFF"/>
                </a:solidFill>
                <a:latin typeface="Arial"/>
                <a:ea typeface="ＭＳ Ｐゴシック" charset="0"/>
              </a:rPr>
              <a:t>CELL-MEDIATED IMMUNE RESPONSE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3506788" y="2089150"/>
            <a:ext cx="2083904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 (1st exposure)</a:t>
            </a:r>
          </a:p>
        </p:txBody>
      </p:sp>
      <p:sp>
        <p:nvSpPr>
          <p:cNvPr id="9" name="TextBox 5"/>
          <p:cNvSpPr txBox="1">
            <a:spLocks noChangeArrowheads="1"/>
          </p:cNvSpPr>
          <p:nvPr/>
        </p:nvSpPr>
        <p:spPr bwMode="auto">
          <a:xfrm>
            <a:off x="4012407" y="2420144"/>
            <a:ext cx="1042080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Taken in by</a:t>
            </a:r>
          </a:p>
        </p:txBody>
      </p:sp>
      <p:sp>
        <p:nvSpPr>
          <p:cNvPr id="10" name="TextBox 6"/>
          <p:cNvSpPr txBox="1">
            <a:spLocks noChangeArrowheads="1"/>
          </p:cNvSpPr>
          <p:nvPr/>
        </p:nvSpPr>
        <p:spPr bwMode="auto">
          <a:xfrm>
            <a:off x="3864007" y="2968626"/>
            <a:ext cx="1356140" cy="436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Antigen-</a:t>
            </a:r>
          </a:p>
          <a:p>
            <a:pPr algn="ctr"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presenting cell</a:t>
            </a:r>
          </a:p>
        </p:txBody>
      </p:sp>
      <p:sp>
        <p:nvSpPr>
          <p:cNvPr id="11" name="TextBox 9"/>
          <p:cNvSpPr txBox="1">
            <a:spLocks noChangeArrowheads="1"/>
          </p:cNvSpPr>
          <p:nvPr/>
        </p:nvSpPr>
        <p:spPr bwMode="auto">
          <a:xfrm>
            <a:off x="7392988" y="2247900"/>
            <a:ext cx="973023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Stimulates</a:t>
            </a:r>
          </a:p>
        </p:txBody>
      </p:sp>
      <p:sp>
        <p:nvSpPr>
          <p:cNvPr id="12" name="TextBox 10"/>
          <p:cNvSpPr txBox="1">
            <a:spLocks noChangeArrowheads="1"/>
          </p:cNvSpPr>
          <p:nvPr/>
        </p:nvSpPr>
        <p:spPr bwMode="auto">
          <a:xfrm>
            <a:off x="7392988" y="2549525"/>
            <a:ext cx="1154162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Gives rise to</a:t>
            </a:r>
          </a:p>
        </p:txBody>
      </p:sp>
      <p:sp>
        <p:nvSpPr>
          <p:cNvPr id="13" name="TextBox 17"/>
          <p:cNvSpPr txBox="1">
            <a:spLocks noChangeArrowheads="1"/>
          </p:cNvSpPr>
          <p:nvPr/>
        </p:nvSpPr>
        <p:spPr bwMode="auto">
          <a:xfrm>
            <a:off x="815975" y="4519613"/>
            <a:ext cx="512961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B cell</a:t>
            </a:r>
          </a:p>
        </p:txBody>
      </p:sp>
      <p:sp>
        <p:nvSpPr>
          <p:cNvPr id="14" name="TextBox 18"/>
          <p:cNvSpPr txBox="1">
            <a:spLocks noChangeArrowheads="1"/>
          </p:cNvSpPr>
          <p:nvPr/>
        </p:nvSpPr>
        <p:spPr bwMode="auto">
          <a:xfrm>
            <a:off x="3989388" y="4538663"/>
            <a:ext cx="1142942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Helper T cell</a:t>
            </a:r>
          </a:p>
        </p:txBody>
      </p:sp>
      <p:sp>
        <p:nvSpPr>
          <p:cNvPr id="15" name="TextBox 19"/>
          <p:cNvSpPr txBox="1">
            <a:spLocks noChangeArrowheads="1"/>
          </p:cNvSpPr>
          <p:nvPr/>
        </p:nvSpPr>
        <p:spPr bwMode="auto">
          <a:xfrm>
            <a:off x="7600951" y="4419600"/>
            <a:ext cx="876843" cy="436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Cytotoxic</a:t>
            </a:r>
          </a:p>
          <a:p>
            <a:pPr algn="ctr"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T cell</a:t>
            </a:r>
          </a:p>
        </p:txBody>
      </p:sp>
    </p:spTree>
    <p:extLst>
      <p:ext uri="{BB962C8B-B14F-4D97-AF65-F5344CB8AC3E}">
        <p14:creationId xmlns:p14="http://schemas.microsoft.com/office/powerpoint/2010/main" val="175439065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20"/>
          <a:stretch>
            <a:fillRect/>
          </a:stretch>
        </p:blipFill>
        <p:spPr>
          <a:xfrm>
            <a:off x="487680" y="356616"/>
            <a:ext cx="8168640" cy="6144768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47.22b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142975" y="522768"/>
            <a:ext cx="2741071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50"/>
              </a:lnSpc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ＭＳ Ｐゴシック" charset="0"/>
              </a:rPr>
              <a:t>HUMORAL IMMUNE RESPONSE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4912494" y="525149"/>
            <a:ext cx="3279231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50"/>
              </a:lnSpc>
            </a:pPr>
            <a:r>
              <a:rPr lang="en-US" sz="1400" b="1" dirty="0">
                <a:solidFill>
                  <a:srgbClr val="FFFFFF"/>
                </a:solidFill>
                <a:latin typeface="Arial"/>
                <a:ea typeface="ＭＳ Ｐゴシック" charset="0"/>
              </a:rPr>
              <a:t>CELL-MEDIATED IMMUNE RESPONSE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7193731" y="1014099"/>
            <a:ext cx="905697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Stimulates</a:t>
            </a: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7193731" y="1296674"/>
            <a:ext cx="1074012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Gives rise to</a:t>
            </a:r>
          </a:p>
        </p:txBody>
      </p:sp>
      <p:sp>
        <p:nvSpPr>
          <p:cNvPr id="10" name="TextBox 8"/>
          <p:cNvSpPr txBox="1">
            <a:spLocks noChangeArrowheads="1"/>
          </p:cNvSpPr>
          <p:nvPr/>
        </p:nvSpPr>
        <p:spPr bwMode="auto">
          <a:xfrm>
            <a:off x="977081" y="1863412"/>
            <a:ext cx="477695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B cell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3967931" y="1880874"/>
            <a:ext cx="1064394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Helper T cell</a:t>
            </a:r>
          </a:p>
        </p:txBody>
      </p:sp>
      <p:sp>
        <p:nvSpPr>
          <p:cNvPr id="12" name="TextBox 12"/>
          <p:cNvSpPr txBox="1">
            <a:spLocks noChangeArrowheads="1"/>
          </p:cNvSpPr>
          <p:nvPr/>
        </p:nvSpPr>
        <p:spPr bwMode="auto">
          <a:xfrm>
            <a:off x="7371531" y="1763399"/>
            <a:ext cx="814325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Cytotoxic</a:t>
            </a:r>
          </a:p>
          <a:p>
            <a:pPr algn="ctr"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T cell</a:t>
            </a:r>
          </a:p>
        </p:txBody>
      </p:sp>
      <p:sp>
        <p:nvSpPr>
          <p:cNvPr id="13" name="TextBox 16"/>
          <p:cNvSpPr txBox="1">
            <a:spLocks noChangeArrowheads="1"/>
          </p:cNvSpPr>
          <p:nvPr/>
        </p:nvSpPr>
        <p:spPr bwMode="auto">
          <a:xfrm>
            <a:off x="3910781" y="3133412"/>
            <a:ext cx="1142942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Memory</a:t>
            </a:r>
          </a:p>
          <a:p>
            <a:pPr algn="ctr"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helper T cells</a:t>
            </a:r>
          </a:p>
        </p:txBody>
      </p:sp>
      <p:sp>
        <p:nvSpPr>
          <p:cNvPr id="14" name="TextBox 19"/>
          <p:cNvSpPr txBox="1">
            <a:spLocks noChangeArrowheads="1"/>
          </p:cNvSpPr>
          <p:nvPr/>
        </p:nvSpPr>
        <p:spPr bwMode="auto">
          <a:xfrm>
            <a:off x="904056" y="4697099"/>
            <a:ext cx="628377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Plasma</a:t>
            </a:r>
          </a:p>
          <a:p>
            <a:pPr algn="ctr"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cells</a:t>
            </a:r>
          </a:p>
        </p:txBody>
      </p:sp>
      <p:sp>
        <p:nvSpPr>
          <p:cNvPr id="15" name="TextBox 22"/>
          <p:cNvSpPr txBox="1">
            <a:spLocks noChangeArrowheads="1"/>
          </p:cNvSpPr>
          <p:nvPr/>
        </p:nvSpPr>
        <p:spPr bwMode="auto">
          <a:xfrm>
            <a:off x="3488506" y="4435162"/>
            <a:ext cx="1995739" cy="2051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Antigen (2nd exposure)</a:t>
            </a:r>
          </a:p>
        </p:txBody>
      </p:sp>
      <p:sp>
        <p:nvSpPr>
          <p:cNvPr id="16" name="TextBox 24"/>
          <p:cNvSpPr txBox="1">
            <a:spLocks noChangeArrowheads="1"/>
          </p:cNvSpPr>
          <p:nvPr/>
        </p:nvSpPr>
        <p:spPr bwMode="auto">
          <a:xfrm>
            <a:off x="7117531" y="4732024"/>
            <a:ext cx="1389804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Active</a:t>
            </a:r>
          </a:p>
          <a:p>
            <a:pPr algn="ctr"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cytotoxic T cells</a:t>
            </a:r>
          </a:p>
        </p:txBody>
      </p:sp>
      <p:sp>
        <p:nvSpPr>
          <p:cNvPr id="17" name="TextBox 29"/>
          <p:cNvSpPr txBox="1">
            <a:spLocks noChangeArrowheads="1"/>
          </p:cNvSpPr>
          <p:nvPr/>
        </p:nvSpPr>
        <p:spPr bwMode="auto">
          <a:xfrm>
            <a:off x="2836044" y="4744724"/>
            <a:ext cx="687689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Memory</a:t>
            </a:r>
          </a:p>
          <a:p>
            <a:pPr algn="ctr"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B cells</a:t>
            </a:r>
          </a:p>
        </p:txBody>
      </p:sp>
      <p:sp>
        <p:nvSpPr>
          <p:cNvPr id="19" name="TextBox 32"/>
          <p:cNvSpPr txBox="1">
            <a:spLocks noChangeArrowheads="1"/>
          </p:cNvSpPr>
          <p:nvPr/>
        </p:nvSpPr>
        <p:spPr bwMode="auto">
          <a:xfrm>
            <a:off x="5168081" y="4774887"/>
            <a:ext cx="1389804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Memory</a:t>
            </a:r>
          </a:p>
          <a:p>
            <a:pPr algn="ctr"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cytotoxic T cells</a:t>
            </a:r>
          </a:p>
        </p:txBody>
      </p:sp>
      <p:sp>
        <p:nvSpPr>
          <p:cNvPr id="20" name="TextBox 35"/>
          <p:cNvSpPr txBox="1">
            <a:spLocks noChangeArrowheads="1"/>
          </p:cNvSpPr>
          <p:nvPr/>
        </p:nvSpPr>
        <p:spPr bwMode="auto">
          <a:xfrm>
            <a:off x="782582" y="5747230"/>
            <a:ext cx="892873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Secreted</a:t>
            </a:r>
          </a:p>
          <a:p>
            <a:pPr algn="ctr"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antibodies</a:t>
            </a:r>
          </a:p>
        </p:txBody>
      </p:sp>
      <p:sp>
        <p:nvSpPr>
          <p:cNvPr id="21" name="TextBox 38"/>
          <p:cNvSpPr txBox="1">
            <a:spLocks noChangeArrowheads="1"/>
          </p:cNvSpPr>
          <p:nvPr/>
        </p:nvSpPr>
        <p:spPr bwMode="auto">
          <a:xfrm>
            <a:off x="2131194" y="5905187"/>
            <a:ext cx="2006960" cy="4103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Defend against</a:t>
            </a:r>
          </a:p>
          <a:p>
            <a:pPr>
              <a:lnSpc>
                <a:spcPts val="1550"/>
              </a:lnSpc>
            </a:pPr>
            <a:r>
              <a:rPr lang="en-US" sz="1400" b="1">
                <a:solidFill>
                  <a:srgbClr val="000000"/>
                </a:solidFill>
                <a:latin typeface="Arial"/>
                <a:ea typeface="ＭＳ Ｐゴシック" charset="0"/>
              </a:rPr>
              <a:t>extracellular pathogens</a:t>
            </a:r>
          </a:p>
        </p:txBody>
      </p:sp>
      <p:sp>
        <p:nvSpPr>
          <p:cNvPr id="22" name="TextBox 40"/>
          <p:cNvSpPr txBox="1">
            <a:spLocks noChangeArrowheads="1"/>
          </p:cNvSpPr>
          <p:nvPr/>
        </p:nvSpPr>
        <p:spPr bwMode="auto">
          <a:xfrm>
            <a:off x="4965834" y="5703257"/>
            <a:ext cx="1966885" cy="6155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r"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Defend against</a:t>
            </a:r>
          </a:p>
          <a:p>
            <a:pPr algn="r"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intracellular pathogens</a:t>
            </a:r>
          </a:p>
          <a:p>
            <a:pPr algn="r">
              <a:lnSpc>
                <a:spcPts val="1550"/>
              </a:lnSpc>
            </a:pPr>
            <a:r>
              <a:rPr lang="en-US" sz="14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and cancer</a:t>
            </a:r>
          </a:p>
        </p:txBody>
      </p:sp>
    </p:spTree>
    <p:extLst>
      <p:ext uri="{BB962C8B-B14F-4D97-AF65-F5344CB8AC3E}">
        <p14:creationId xmlns:p14="http://schemas.microsoft.com/office/powerpoint/2010/main" val="37864390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Immunization</a:t>
            </a:r>
            <a:endParaRPr lang="en-US" altLang="en-US" dirty="0"/>
          </a:p>
        </p:txBody>
      </p:sp>
      <p:sp>
        <p:nvSpPr>
          <p:cNvPr id="1075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The projection provided by a second immune response provided the basis </a:t>
            </a:r>
            <a:r>
              <a:rPr lang="en-US" altLang="en-US"/>
              <a:t>for </a:t>
            </a:r>
            <a:r>
              <a:rPr lang="en-US" altLang="en-US" b="1"/>
              <a:t>immunization</a:t>
            </a:r>
            <a:endParaRPr lang="en-US" altLang="en-US" b="1" dirty="0"/>
          </a:p>
          <a:p>
            <a:r>
              <a:rPr lang="en-US" altLang="en-US"/>
              <a:t>Antigens </a:t>
            </a:r>
            <a:r>
              <a:rPr lang="en-US" altLang="en-US" dirty="0"/>
              <a:t>are artificially introduced into the body to generate adaptive immune response and memory cell formation</a:t>
            </a:r>
          </a:p>
          <a:p>
            <a:r>
              <a:rPr lang="en-US" altLang="en-US" dirty="0"/>
              <a:t>Immunizations are carried out with vaccines, preparations of antigens from many sources</a:t>
            </a:r>
          </a:p>
          <a:p>
            <a:r>
              <a:rPr lang="en-US" altLang="en-US" dirty="0"/>
              <a:t>Vaccination programs have been successful against many infectious diseases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78306351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829056" y="213360"/>
            <a:ext cx="7485888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47.23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338260" y="311949"/>
            <a:ext cx="482504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3,500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7753" y="664471"/>
            <a:ext cx="436017" cy="1804981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algn="ctr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Annual deaths from</a:t>
            </a:r>
          </a:p>
          <a:p>
            <a:pPr algn="ctr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polio in U.S.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1338260" y="664374"/>
            <a:ext cx="482504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3,000</a:t>
            </a: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1338260" y="1016799"/>
            <a:ext cx="482504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2,500</a:t>
            </a: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1338260" y="1369224"/>
            <a:ext cx="482504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2,000</a:t>
            </a: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1338260" y="1721649"/>
            <a:ext cx="482504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1,500</a:t>
            </a:r>
          </a:p>
        </p:txBody>
      </p:sp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1338260" y="2074074"/>
            <a:ext cx="482504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1,000</a:t>
            </a:r>
          </a:p>
        </p:txBody>
      </p:sp>
      <p:sp>
        <p:nvSpPr>
          <p:cNvPr id="13" name="TextBox 10"/>
          <p:cNvSpPr txBox="1">
            <a:spLocks noChangeArrowheads="1"/>
          </p:cNvSpPr>
          <p:nvPr/>
        </p:nvSpPr>
        <p:spPr bwMode="auto">
          <a:xfrm>
            <a:off x="1497010" y="2426499"/>
            <a:ext cx="322204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500</a:t>
            </a: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2056618" y="234161"/>
            <a:ext cx="992259" cy="436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Vaccine</a:t>
            </a:r>
          </a:p>
          <a:p>
            <a:pPr algn="ctr"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introduced</a:t>
            </a:r>
          </a:p>
        </p:txBody>
      </p:sp>
      <p:sp>
        <p:nvSpPr>
          <p:cNvPr id="15" name="TextBox 13"/>
          <p:cNvSpPr txBox="1">
            <a:spLocks noChangeArrowheads="1"/>
          </p:cNvSpPr>
          <p:nvPr/>
        </p:nvSpPr>
        <p:spPr bwMode="auto">
          <a:xfrm>
            <a:off x="3894135" y="364336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1988</a:t>
            </a:r>
          </a:p>
        </p:txBody>
      </p:sp>
      <p:sp>
        <p:nvSpPr>
          <p:cNvPr id="16" name="TextBox 14"/>
          <p:cNvSpPr txBox="1">
            <a:spLocks noChangeArrowheads="1"/>
          </p:cNvSpPr>
          <p:nvPr/>
        </p:nvSpPr>
        <p:spPr bwMode="auto">
          <a:xfrm>
            <a:off x="6754810" y="364336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2014</a:t>
            </a:r>
          </a:p>
        </p:txBody>
      </p:sp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4305297" y="2391574"/>
            <a:ext cx="3308598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Countries that have eliminated polio</a:t>
            </a: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1708147" y="2778924"/>
            <a:ext cx="107402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0</a:t>
            </a:r>
          </a:p>
        </p:txBody>
      </p:sp>
      <p:sp>
        <p:nvSpPr>
          <p:cNvPr id="20" name="TextBox 18"/>
          <p:cNvSpPr txBox="1">
            <a:spLocks noChangeArrowheads="1"/>
          </p:cNvSpPr>
          <p:nvPr/>
        </p:nvSpPr>
        <p:spPr bwMode="auto">
          <a:xfrm>
            <a:off x="4892672" y="3210724"/>
            <a:ext cx="407740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Year</a:t>
            </a:r>
          </a:p>
        </p:txBody>
      </p:sp>
      <p:sp>
        <p:nvSpPr>
          <p:cNvPr id="21" name="TextBox 19"/>
          <p:cNvSpPr txBox="1">
            <a:spLocks noChangeArrowheads="1"/>
          </p:cNvSpPr>
          <p:nvPr/>
        </p:nvSpPr>
        <p:spPr bwMode="auto">
          <a:xfrm>
            <a:off x="1514472" y="3523461"/>
            <a:ext cx="322204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700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0782" y="3991817"/>
            <a:ext cx="436017" cy="1804981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algn="ctr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Annual deaths from</a:t>
            </a:r>
          </a:p>
          <a:p>
            <a:pPr algn="ctr" fontAlgn="auto">
              <a:lnSpc>
                <a:spcPts val="17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measles in U.S.</a:t>
            </a:r>
          </a:p>
        </p:txBody>
      </p:sp>
      <p:sp>
        <p:nvSpPr>
          <p:cNvPr id="23" name="TextBox 22"/>
          <p:cNvSpPr txBox="1">
            <a:spLocks noChangeArrowheads="1"/>
          </p:cNvSpPr>
          <p:nvPr/>
        </p:nvSpPr>
        <p:spPr bwMode="auto">
          <a:xfrm>
            <a:off x="1514472" y="3883824"/>
            <a:ext cx="322204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600</a:t>
            </a:r>
          </a:p>
        </p:txBody>
      </p:sp>
      <p:sp>
        <p:nvSpPr>
          <p:cNvPr id="24" name="TextBox 23"/>
          <p:cNvSpPr txBox="1">
            <a:spLocks noChangeArrowheads="1"/>
          </p:cNvSpPr>
          <p:nvPr/>
        </p:nvSpPr>
        <p:spPr bwMode="auto">
          <a:xfrm>
            <a:off x="1514472" y="4242599"/>
            <a:ext cx="322204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500</a:t>
            </a:r>
          </a:p>
        </p:txBody>
      </p:sp>
      <p:sp>
        <p:nvSpPr>
          <p:cNvPr id="25" name="TextBox 24"/>
          <p:cNvSpPr txBox="1">
            <a:spLocks noChangeArrowheads="1"/>
          </p:cNvSpPr>
          <p:nvPr/>
        </p:nvSpPr>
        <p:spPr bwMode="auto">
          <a:xfrm>
            <a:off x="1514472" y="4602961"/>
            <a:ext cx="322204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400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514472" y="4963324"/>
            <a:ext cx="322204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300</a:t>
            </a: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1514472" y="5322099"/>
            <a:ext cx="322204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200</a:t>
            </a:r>
          </a:p>
        </p:txBody>
      </p:sp>
      <p:sp>
        <p:nvSpPr>
          <p:cNvPr id="28" name="TextBox 27"/>
          <p:cNvSpPr txBox="1">
            <a:spLocks noChangeArrowheads="1"/>
          </p:cNvSpPr>
          <p:nvPr/>
        </p:nvSpPr>
        <p:spPr bwMode="auto">
          <a:xfrm>
            <a:off x="1514472" y="5682461"/>
            <a:ext cx="322204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100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1727197" y="6041236"/>
            <a:ext cx="107402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0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1797047" y="6203161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1950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913310" y="6438111"/>
            <a:ext cx="407740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Year</a:t>
            </a:r>
          </a:p>
        </p:txBody>
      </p:sp>
      <p:sp>
        <p:nvSpPr>
          <p:cNvPr id="32" name="TextBox 33"/>
          <p:cNvSpPr txBox="1">
            <a:spLocks noChangeArrowheads="1"/>
          </p:cNvSpPr>
          <p:nvPr/>
        </p:nvSpPr>
        <p:spPr bwMode="auto">
          <a:xfrm>
            <a:off x="3919211" y="3558386"/>
            <a:ext cx="4382610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Rates of measles vaccination for infants in 2014</a:t>
            </a:r>
          </a:p>
        </p:txBody>
      </p:sp>
      <p:sp>
        <p:nvSpPr>
          <p:cNvPr id="33" name="TextBox 34"/>
          <p:cNvSpPr txBox="1">
            <a:spLocks noChangeArrowheads="1"/>
          </p:cNvSpPr>
          <p:nvPr/>
        </p:nvSpPr>
        <p:spPr bwMode="auto">
          <a:xfrm>
            <a:off x="2786061" y="3555209"/>
            <a:ext cx="992259" cy="436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Vaccine</a:t>
            </a:r>
          </a:p>
          <a:p>
            <a:pPr algn="ctr"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introduced</a:t>
            </a:r>
          </a:p>
        </p:txBody>
      </p:sp>
      <p:sp>
        <p:nvSpPr>
          <p:cNvPr id="34" name="TextBox 35"/>
          <p:cNvSpPr txBox="1">
            <a:spLocks noChangeArrowheads="1"/>
          </p:cNvSpPr>
          <p:nvPr/>
        </p:nvSpPr>
        <p:spPr bwMode="auto">
          <a:xfrm>
            <a:off x="7427910" y="3872711"/>
            <a:ext cx="815929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90–100%</a:t>
            </a:r>
          </a:p>
        </p:txBody>
      </p:sp>
      <p:sp>
        <p:nvSpPr>
          <p:cNvPr id="35" name="TextBox 36"/>
          <p:cNvSpPr txBox="1">
            <a:spLocks noChangeArrowheads="1"/>
          </p:cNvSpPr>
          <p:nvPr/>
        </p:nvSpPr>
        <p:spPr bwMode="auto">
          <a:xfrm>
            <a:off x="7427910" y="4120361"/>
            <a:ext cx="708527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80–89%</a:t>
            </a:r>
          </a:p>
        </p:txBody>
      </p:sp>
      <p:sp>
        <p:nvSpPr>
          <p:cNvPr id="36" name="TextBox 37"/>
          <p:cNvSpPr txBox="1">
            <a:spLocks noChangeArrowheads="1"/>
          </p:cNvSpPr>
          <p:nvPr/>
        </p:nvSpPr>
        <p:spPr bwMode="auto">
          <a:xfrm>
            <a:off x="7427910" y="4387061"/>
            <a:ext cx="708527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>
                <a:solidFill>
                  <a:srgbClr val="000000"/>
                </a:solidFill>
                <a:latin typeface="Arial"/>
                <a:ea typeface="ＭＳ Ｐゴシック" charset="0"/>
              </a:rPr>
              <a:t>50–79%</a:t>
            </a:r>
          </a:p>
        </p:txBody>
      </p:sp>
      <p:sp>
        <p:nvSpPr>
          <p:cNvPr id="37" name="TextBox 38"/>
          <p:cNvSpPr txBox="1">
            <a:spLocks noChangeArrowheads="1"/>
          </p:cNvSpPr>
          <p:nvPr/>
        </p:nvSpPr>
        <p:spPr bwMode="auto">
          <a:xfrm>
            <a:off x="7427910" y="4604549"/>
            <a:ext cx="498534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rPr>
              <a:t>&lt;</a:t>
            </a: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50%</a:t>
            </a:r>
          </a:p>
        </p:txBody>
      </p:sp>
      <p:sp>
        <p:nvSpPr>
          <p:cNvPr id="38" name="TextBox 39"/>
          <p:cNvSpPr txBox="1">
            <a:spLocks noChangeArrowheads="1"/>
          </p:cNvSpPr>
          <p:nvPr/>
        </p:nvSpPr>
        <p:spPr bwMode="auto">
          <a:xfrm>
            <a:off x="7427910" y="4839499"/>
            <a:ext cx="812723" cy="4360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Data not</a:t>
            </a:r>
          </a:p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available</a:t>
            </a:r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2263739" y="6203177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1955</a:t>
            </a:r>
          </a:p>
        </p:txBody>
      </p:sp>
      <p:sp>
        <p:nvSpPr>
          <p:cNvPr id="41" name="TextBox 40"/>
          <p:cNvSpPr txBox="1">
            <a:spLocks noChangeArrowheads="1"/>
          </p:cNvSpPr>
          <p:nvPr/>
        </p:nvSpPr>
        <p:spPr bwMode="auto">
          <a:xfrm>
            <a:off x="2725669" y="6203193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1960</a:t>
            </a:r>
          </a:p>
        </p:txBody>
      </p:sp>
      <p:sp>
        <p:nvSpPr>
          <p:cNvPr id="42" name="TextBox 41"/>
          <p:cNvSpPr txBox="1">
            <a:spLocks noChangeArrowheads="1"/>
          </p:cNvSpPr>
          <p:nvPr/>
        </p:nvSpPr>
        <p:spPr bwMode="auto">
          <a:xfrm>
            <a:off x="3192361" y="6203209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1965</a:t>
            </a:r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3659053" y="6203225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1970</a:t>
            </a:r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4118602" y="6203241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1975</a:t>
            </a:r>
          </a:p>
        </p:txBody>
      </p:sp>
      <p:sp>
        <p:nvSpPr>
          <p:cNvPr id="45" name="TextBox 44"/>
          <p:cNvSpPr txBox="1">
            <a:spLocks noChangeArrowheads="1"/>
          </p:cNvSpPr>
          <p:nvPr/>
        </p:nvSpPr>
        <p:spPr bwMode="auto">
          <a:xfrm>
            <a:off x="4585278" y="6203241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1980</a:t>
            </a:r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5047241" y="6203241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1985</a:t>
            </a:r>
          </a:p>
        </p:txBody>
      </p:sp>
      <p:sp>
        <p:nvSpPr>
          <p:cNvPr id="47" name="TextBox 46"/>
          <p:cNvSpPr txBox="1">
            <a:spLocks noChangeArrowheads="1"/>
          </p:cNvSpPr>
          <p:nvPr/>
        </p:nvSpPr>
        <p:spPr bwMode="auto">
          <a:xfrm>
            <a:off x="5511586" y="6203242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1990</a:t>
            </a:r>
          </a:p>
        </p:txBody>
      </p:sp>
      <p:sp>
        <p:nvSpPr>
          <p:cNvPr id="48" name="TextBox 47"/>
          <p:cNvSpPr txBox="1">
            <a:spLocks noChangeArrowheads="1"/>
          </p:cNvSpPr>
          <p:nvPr/>
        </p:nvSpPr>
        <p:spPr bwMode="auto">
          <a:xfrm>
            <a:off x="5975931" y="6203244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1995</a:t>
            </a:r>
          </a:p>
        </p:txBody>
      </p:sp>
      <p:sp>
        <p:nvSpPr>
          <p:cNvPr id="49" name="TextBox 48"/>
          <p:cNvSpPr txBox="1">
            <a:spLocks noChangeArrowheads="1"/>
          </p:cNvSpPr>
          <p:nvPr/>
        </p:nvSpPr>
        <p:spPr bwMode="auto">
          <a:xfrm>
            <a:off x="6440242" y="6203260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2000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6899791" y="6203276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2005</a:t>
            </a:r>
          </a:p>
        </p:txBody>
      </p:sp>
      <p:sp>
        <p:nvSpPr>
          <p:cNvPr id="51" name="TextBox 50"/>
          <p:cNvSpPr txBox="1">
            <a:spLocks noChangeArrowheads="1"/>
          </p:cNvSpPr>
          <p:nvPr/>
        </p:nvSpPr>
        <p:spPr bwMode="auto">
          <a:xfrm>
            <a:off x="7364102" y="6203292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2010</a:t>
            </a:r>
          </a:p>
        </p:txBody>
      </p:sp>
      <p:sp>
        <p:nvSpPr>
          <p:cNvPr id="52" name="TextBox 51"/>
          <p:cNvSpPr txBox="1">
            <a:spLocks noChangeArrowheads="1"/>
          </p:cNvSpPr>
          <p:nvPr/>
        </p:nvSpPr>
        <p:spPr bwMode="auto">
          <a:xfrm>
            <a:off x="7828443" y="6203294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2015</a:t>
            </a:r>
          </a:p>
        </p:txBody>
      </p:sp>
      <p:sp>
        <p:nvSpPr>
          <p:cNvPr id="67" name="TextBox 66"/>
          <p:cNvSpPr txBox="1">
            <a:spLocks noChangeArrowheads="1"/>
          </p:cNvSpPr>
          <p:nvPr/>
        </p:nvSpPr>
        <p:spPr bwMode="auto">
          <a:xfrm>
            <a:off x="1794668" y="2957514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1950</a:t>
            </a:r>
          </a:p>
        </p:txBody>
      </p:sp>
      <p:sp>
        <p:nvSpPr>
          <p:cNvPr id="68" name="TextBox 67"/>
          <p:cNvSpPr txBox="1">
            <a:spLocks noChangeArrowheads="1"/>
          </p:cNvSpPr>
          <p:nvPr/>
        </p:nvSpPr>
        <p:spPr bwMode="auto">
          <a:xfrm>
            <a:off x="2261360" y="2959911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1955</a:t>
            </a:r>
          </a:p>
        </p:txBody>
      </p:sp>
      <p:sp>
        <p:nvSpPr>
          <p:cNvPr id="69" name="TextBox 68"/>
          <p:cNvSpPr txBox="1">
            <a:spLocks noChangeArrowheads="1"/>
          </p:cNvSpPr>
          <p:nvPr/>
        </p:nvSpPr>
        <p:spPr bwMode="auto">
          <a:xfrm>
            <a:off x="2723290" y="2957546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1960</a:t>
            </a:r>
          </a:p>
        </p:txBody>
      </p:sp>
      <p:sp>
        <p:nvSpPr>
          <p:cNvPr id="70" name="TextBox 69"/>
          <p:cNvSpPr txBox="1">
            <a:spLocks noChangeArrowheads="1"/>
          </p:cNvSpPr>
          <p:nvPr/>
        </p:nvSpPr>
        <p:spPr bwMode="auto">
          <a:xfrm>
            <a:off x="3189982" y="2955181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1965</a:t>
            </a:r>
          </a:p>
        </p:txBody>
      </p:sp>
      <p:sp>
        <p:nvSpPr>
          <p:cNvPr id="71" name="TextBox 70"/>
          <p:cNvSpPr txBox="1">
            <a:spLocks noChangeArrowheads="1"/>
          </p:cNvSpPr>
          <p:nvPr/>
        </p:nvSpPr>
        <p:spPr bwMode="auto">
          <a:xfrm>
            <a:off x="3656674" y="2959959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1970</a:t>
            </a:r>
          </a:p>
        </p:txBody>
      </p:sp>
      <p:sp>
        <p:nvSpPr>
          <p:cNvPr id="72" name="TextBox 71"/>
          <p:cNvSpPr txBox="1">
            <a:spLocks noChangeArrowheads="1"/>
          </p:cNvSpPr>
          <p:nvPr/>
        </p:nvSpPr>
        <p:spPr bwMode="auto">
          <a:xfrm>
            <a:off x="4116223" y="2959975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1975</a:t>
            </a:r>
          </a:p>
        </p:txBody>
      </p:sp>
      <p:sp>
        <p:nvSpPr>
          <p:cNvPr id="73" name="TextBox 72"/>
          <p:cNvSpPr txBox="1">
            <a:spLocks noChangeArrowheads="1"/>
          </p:cNvSpPr>
          <p:nvPr/>
        </p:nvSpPr>
        <p:spPr bwMode="auto">
          <a:xfrm>
            <a:off x="4582899" y="2959975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1980</a:t>
            </a:r>
          </a:p>
        </p:txBody>
      </p:sp>
      <p:sp>
        <p:nvSpPr>
          <p:cNvPr id="74" name="TextBox 73"/>
          <p:cNvSpPr txBox="1">
            <a:spLocks noChangeArrowheads="1"/>
          </p:cNvSpPr>
          <p:nvPr/>
        </p:nvSpPr>
        <p:spPr bwMode="auto">
          <a:xfrm>
            <a:off x="5044862" y="2957594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1985</a:t>
            </a:r>
          </a:p>
        </p:txBody>
      </p:sp>
      <p:sp>
        <p:nvSpPr>
          <p:cNvPr id="75" name="TextBox 74"/>
          <p:cNvSpPr txBox="1">
            <a:spLocks noChangeArrowheads="1"/>
          </p:cNvSpPr>
          <p:nvPr/>
        </p:nvSpPr>
        <p:spPr bwMode="auto">
          <a:xfrm>
            <a:off x="5509207" y="2955214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1990</a:t>
            </a:r>
          </a:p>
        </p:txBody>
      </p:sp>
      <p:sp>
        <p:nvSpPr>
          <p:cNvPr id="76" name="TextBox 75"/>
          <p:cNvSpPr txBox="1">
            <a:spLocks noChangeArrowheads="1"/>
          </p:cNvSpPr>
          <p:nvPr/>
        </p:nvSpPr>
        <p:spPr bwMode="auto">
          <a:xfrm>
            <a:off x="5973552" y="2957597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1995</a:t>
            </a:r>
          </a:p>
        </p:txBody>
      </p:sp>
      <p:sp>
        <p:nvSpPr>
          <p:cNvPr id="77" name="TextBox 76"/>
          <p:cNvSpPr txBox="1">
            <a:spLocks noChangeArrowheads="1"/>
          </p:cNvSpPr>
          <p:nvPr/>
        </p:nvSpPr>
        <p:spPr bwMode="auto">
          <a:xfrm>
            <a:off x="6437863" y="2959994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2000</a:t>
            </a:r>
          </a:p>
        </p:txBody>
      </p:sp>
      <p:sp>
        <p:nvSpPr>
          <p:cNvPr id="78" name="TextBox 77"/>
          <p:cNvSpPr txBox="1">
            <a:spLocks noChangeArrowheads="1"/>
          </p:cNvSpPr>
          <p:nvPr/>
        </p:nvSpPr>
        <p:spPr bwMode="auto">
          <a:xfrm>
            <a:off x="6897412" y="2960010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2005</a:t>
            </a:r>
          </a:p>
        </p:txBody>
      </p:sp>
      <p:sp>
        <p:nvSpPr>
          <p:cNvPr id="79" name="TextBox 78"/>
          <p:cNvSpPr txBox="1">
            <a:spLocks noChangeArrowheads="1"/>
          </p:cNvSpPr>
          <p:nvPr/>
        </p:nvSpPr>
        <p:spPr bwMode="auto">
          <a:xfrm>
            <a:off x="7361723" y="2957645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2010</a:t>
            </a:r>
          </a:p>
        </p:txBody>
      </p:sp>
      <p:sp>
        <p:nvSpPr>
          <p:cNvPr id="80" name="TextBox 79"/>
          <p:cNvSpPr txBox="1">
            <a:spLocks noChangeArrowheads="1"/>
          </p:cNvSpPr>
          <p:nvPr/>
        </p:nvSpPr>
        <p:spPr bwMode="auto">
          <a:xfrm>
            <a:off x="7826064" y="2957647"/>
            <a:ext cx="429605" cy="2180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700"/>
              </a:lnSpc>
            </a:pPr>
            <a:r>
              <a:rPr lang="en-US" sz="15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196122939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00"/>
          <a:stretch>
            <a:fillRect/>
          </a:stretch>
        </p:blipFill>
        <p:spPr>
          <a:xfrm>
            <a:off x="298704" y="1600200"/>
            <a:ext cx="8546592" cy="36576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47.23a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888683" y="1710373"/>
            <a:ext cx="548227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>
                <a:solidFill>
                  <a:srgbClr val="000000"/>
                </a:solidFill>
                <a:latin typeface="Arial"/>
                <a:ea typeface="ＭＳ Ｐゴシック" charset="0"/>
              </a:rPr>
              <a:t>3,500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6354" y="2115558"/>
            <a:ext cx="487313" cy="2048638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algn="ctr" fontAlgn="auto">
              <a:lnSpc>
                <a:spcPts val="19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Annual deaths from</a:t>
            </a:r>
          </a:p>
          <a:p>
            <a:pPr algn="ctr" fontAlgn="auto">
              <a:lnSpc>
                <a:spcPts val="194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polio in U.S.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888683" y="2113598"/>
            <a:ext cx="548227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>
                <a:solidFill>
                  <a:srgbClr val="000000"/>
                </a:solidFill>
                <a:latin typeface="Arial"/>
                <a:ea typeface="ＭＳ Ｐゴシック" charset="0"/>
              </a:rPr>
              <a:t>3,000</a:t>
            </a: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888683" y="2516823"/>
            <a:ext cx="548227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>
                <a:solidFill>
                  <a:srgbClr val="000000"/>
                </a:solidFill>
                <a:latin typeface="Arial"/>
                <a:ea typeface="ＭＳ Ｐゴシック" charset="0"/>
              </a:rPr>
              <a:t>2,500</a:t>
            </a: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888683" y="2918460"/>
            <a:ext cx="548227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>
                <a:solidFill>
                  <a:srgbClr val="000000"/>
                </a:solidFill>
                <a:latin typeface="Arial"/>
                <a:ea typeface="ＭＳ Ｐゴシック" charset="0"/>
              </a:rPr>
              <a:t>2,000</a:t>
            </a: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888683" y="3321685"/>
            <a:ext cx="548227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>
                <a:solidFill>
                  <a:srgbClr val="000000"/>
                </a:solidFill>
                <a:latin typeface="Arial"/>
                <a:ea typeface="ＭＳ Ｐゴシック" charset="0"/>
              </a:rPr>
              <a:t>1,500</a:t>
            </a:r>
          </a:p>
        </p:txBody>
      </p:sp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888683" y="3724910"/>
            <a:ext cx="548227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>
                <a:solidFill>
                  <a:srgbClr val="000000"/>
                </a:solidFill>
                <a:latin typeface="Arial"/>
                <a:ea typeface="ＭＳ Ｐゴシック" charset="0"/>
              </a:rPr>
              <a:t>1,000</a:t>
            </a:r>
          </a:p>
        </p:txBody>
      </p:sp>
      <p:sp>
        <p:nvSpPr>
          <p:cNvPr id="13" name="TextBox 10"/>
          <p:cNvSpPr txBox="1">
            <a:spLocks noChangeArrowheads="1"/>
          </p:cNvSpPr>
          <p:nvPr/>
        </p:nvSpPr>
        <p:spPr bwMode="auto">
          <a:xfrm>
            <a:off x="1069658" y="4128135"/>
            <a:ext cx="365485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>
                <a:solidFill>
                  <a:srgbClr val="000000"/>
                </a:solidFill>
                <a:latin typeface="Arial"/>
                <a:ea typeface="ＭＳ Ｐゴシック" charset="0"/>
              </a:rPr>
              <a:t>500</a:t>
            </a: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1710231" y="1634172"/>
            <a:ext cx="1126912" cy="487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Vaccine</a:t>
            </a:r>
          </a:p>
          <a:p>
            <a:pPr algn="ctr"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introduced</a:t>
            </a:r>
          </a:p>
        </p:txBody>
      </p:sp>
      <p:sp>
        <p:nvSpPr>
          <p:cNvPr id="15" name="TextBox 13"/>
          <p:cNvSpPr txBox="1">
            <a:spLocks noChangeArrowheads="1"/>
          </p:cNvSpPr>
          <p:nvPr/>
        </p:nvSpPr>
        <p:spPr bwMode="auto">
          <a:xfrm>
            <a:off x="3800952" y="1770698"/>
            <a:ext cx="487313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1988</a:t>
            </a:r>
          </a:p>
        </p:txBody>
      </p:sp>
      <p:sp>
        <p:nvSpPr>
          <p:cNvPr id="16" name="TextBox 14"/>
          <p:cNvSpPr txBox="1">
            <a:spLocks noChangeArrowheads="1"/>
          </p:cNvSpPr>
          <p:nvPr/>
        </p:nvSpPr>
        <p:spPr bwMode="auto">
          <a:xfrm>
            <a:off x="7069615" y="1770698"/>
            <a:ext cx="487313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2014</a:t>
            </a:r>
          </a:p>
        </p:txBody>
      </p:sp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4274820" y="4109085"/>
            <a:ext cx="3760645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Countries that have eliminated polio</a:t>
            </a:r>
          </a:p>
        </p:txBody>
      </p:sp>
      <p:sp>
        <p:nvSpPr>
          <p:cNvPr id="18" name="TextBox 16"/>
          <p:cNvSpPr txBox="1">
            <a:spLocks noChangeArrowheads="1"/>
          </p:cNvSpPr>
          <p:nvPr/>
        </p:nvSpPr>
        <p:spPr bwMode="auto">
          <a:xfrm>
            <a:off x="1309370" y="4531360"/>
            <a:ext cx="121828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>
                <a:solidFill>
                  <a:srgbClr val="000000"/>
                </a:solidFill>
                <a:latin typeface="Arial"/>
                <a:ea typeface="ＭＳ Ｐゴシック" charset="0"/>
              </a:rPr>
              <a:t>0</a:t>
            </a:r>
          </a:p>
        </p:txBody>
      </p:sp>
      <p:sp>
        <p:nvSpPr>
          <p:cNvPr id="19" name="TextBox 17"/>
          <p:cNvSpPr txBox="1">
            <a:spLocks noChangeArrowheads="1"/>
          </p:cNvSpPr>
          <p:nvPr/>
        </p:nvSpPr>
        <p:spPr bwMode="auto">
          <a:xfrm>
            <a:off x="1410970" y="4734560"/>
            <a:ext cx="487313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1950</a:t>
            </a:r>
          </a:p>
        </p:txBody>
      </p:sp>
      <p:sp>
        <p:nvSpPr>
          <p:cNvPr id="20" name="TextBox 18"/>
          <p:cNvSpPr txBox="1">
            <a:spLocks noChangeArrowheads="1"/>
          </p:cNvSpPr>
          <p:nvPr/>
        </p:nvSpPr>
        <p:spPr bwMode="auto">
          <a:xfrm>
            <a:off x="4947920" y="5025073"/>
            <a:ext cx="462434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>
                <a:solidFill>
                  <a:srgbClr val="000000"/>
                </a:solidFill>
                <a:latin typeface="Arial"/>
                <a:ea typeface="ＭＳ Ｐゴシック" charset="0"/>
              </a:rPr>
              <a:t>Year</a:t>
            </a:r>
          </a:p>
        </p:txBody>
      </p:sp>
      <p:sp>
        <p:nvSpPr>
          <p:cNvPr id="21" name="TextBox 17"/>
          <p:cNvSpPr txBox="1">
            <a:spLocks noChangeArrowheads="1"/>
          </p:cNvSpPr>
          <p:nvPr/>
        </p:nvSpPr>
        <p:spPr bwMode="auto">
          <a:xfrm>
            <a:off x="1941195" y="4731385"/>
            <a:ext cx="487313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1955</a:t>
            </a:r>
          </a:p>
        </p:txBody>
      </p:sp>
      <p:sp>
        <p:nvSpPr>
          <p:cNvPr id="22" name="TextBox 17"/>
          <p:cNvSpPr txBox="1">
            <a:spLocks noChangeArrowheads="1"/>
          </p:cNvSpPr>
          <p:nvPr/>
        </p:nvSpPr>
        <p:spPr bwMode="auto">
          <a:xfrm>
            <a:off x="2471420" y="4734560"/>
            <a:ext cx="487313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1960</a:t>
            </a:r>
          </a:p>
        </p:txBody>
      </p:sp>
      <p:sp>
        <p:nvSpPr>
          <p:cNvPr id="23" name="TextBox 17"/>
          <p:cNvSpPr txBox="1">
            <a:spLocks noChangeArrowheads="1"/>
          </p:cNvSpPr>
          <p:nvPr/>
        </p:nvSpPr>
        <p:spPr bwMode="auto">
          <a:xfrm>
            <a:off x="2998470" y="4737735"/>
            <a:ext cx="487313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1965</a:t>
            </a:r>
          </a:p>
        </p:txBody>
      </p:sp>
      <p:sp>
        <p:nvSpPr>
          <p:cNvPr id="24" name="TextBox 17"/>
          <p:cNvSpPr txBox="1">
            <a:spLocks noChangeArrowheads="1"/>
          </p:cNvSpPr>
          <p:nvPr/>
        </p:nvSpPr>
        <p:spPr bwMode="auto">
          <a:xfrm>
            <a:off x="3531870" y="4734560"/>
            <a:ext cx="487313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1970</a:t>
            </a:r>
          </a:p>
        </p:txBody>
      </p:sp>
      <p:sp>
        <p:nvSpPr>
          <p:cNvPr id="25" name="TextBox 17"/>
          <p:cNvSpPr txBox="1">
            <a:spLocks noChangeArrowheads="1"/>
          </p:cNvSpPr>
          <p:nvPr/>
        </p:nvSpPr>
        <p:spPr bwMode="auto">
          <a:xfrm>
            <a:off x="4062095" y="4734560"/>
            <a:ext cx="487313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1975</a:t>
            </a:r>
          </a:p>
        </p:txBody>
      </p:sp>
      <p:sp>
        <p:nvSpPr>
          <p:cNvPr id="26" name="TextBox 17"/>
          <p:cNvSpPr txBox="1">
            <a:spLocks noChangeArrowheads="1"/>
          </p:cNvSpPr>
          <p:nvPr/>
        </p:nvSpPr>
        <p:spPr bwMode="auto">
          <a:xfrm>
            <a:off x="4595495" y="4737735"/>
            <a:ext cx="487313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1980</a:t>
            </a:r>
          </a:p>
        </p:txBody>
      </p:sp>
      <p:sp>
        <p:nvSpPr>
          <p:cNvPr id="27" name="TextBox 17"/>
          <p:cNvSpPr txBox="1">
            <a:spLocks noChangeArrowheads="1"/>
          </p:cNvSpPr>
          <p:nvPr/>
        </p:nvSpPr>
        <p:spPr bwMode="auto">
          <a:xfrm>
            <a:off x="5118577" y="4733767"/>
            <a:ext cx="487313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1985</a:t>
            </a:r>
          </a:p>
        </p:txBody>
      </p:sp>
      <p:sp>
        <p:nvSpPr>
          <p:cNvPr id="28" name="TextBox 17"/>
          <p:cNvSpPr txBox="1">
            <a:spLocks noChangeArrowheads="1"/>
          </p:cNvSpPr>
          <p:nvPr/>
        </p:nvSpPr>
        <p:spPr bwMode="auto">
          <a:xfrm>
            <a:off x="5647218" y="4736151"/>
            <a:ext cx="487313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1990</a:t>
            </a:r>
          </a:p>
        </p:txBody>
      </p:sp>
      <p:sp>
        <p:nvSpPr>
          <p:cNvPr id="29" name="TextBox 17"/>
          <p:cNvSpPr txBox="1">
            <a:spLocks noChangeArrowheads="1"/>
          </p:cNvSpPr>
          <p:nvPr/>
        </p:nvSpPr>
        <p:spPr bwMode="auto">
          <a:xfrm>
            <a:off x="6178236" y="4731391"/>
            <a:ext cx="487313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1995</a:t>
            </a:r>
          </a:p>
        </p:txBody>
      </p:sp>
      <p:sp>
        <p:nvSpPr>
          <p:cNvPr id="30" name="TextBox 17"/>
          <p:cNvSpPr txBox="1">
            <a:spLocks noChangeArrowheads="1"/>
          </p:cNvSpPr>
          <p:nvPr/>
        </p:nvSpPr>
        <p:spPr bwMode="auto">
          <a:xfrm>
            <a:off x="6710839" y="4736948"/>
            <a:ext cx="487313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2000</a:t>
            </a:r>
          </a:p>
        </p:txBody>
      </p:sp>
      <p:sp>
        <p:nvSpPr>
          <p:cNvPr id="31" name="TextBox 17"/>
          <p:cNvSpPr txBox="1">
            <a:spLocks noChangeArrowheads="1"/>
          </p:cNvSpPr>
          <p:nvPr/>
        </p:nvSpPr>
        <p:spPr bwMode="auto">
          <a:xfrm>
            <a:off x="7241856" y="4736950"/>
            <a:ext cx="487313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2005</a:t>
            </a:r>
          </a:p>
        </p:txBody>
      </p:sp>
      <p:sp>
        <p:nvSpPr>
          <p:cNvPr id="32" name="TextBox 17"/>
          <p:cNvSpPr txBox="1">
            <a:spLocks noChangeArrowheads="1"/>
          </p:cNvSpPr>
          <p:nvPr/>
        </p:nvSpPr>
        <p:spPr bwMode="auto">
          <a:xfrm>
            <a:off x="7772875" y="4734569"/>
            <a:ext cx="487313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2010</a:t>
            </a:r>
          </a:p>
        </p:txBody>
      </p:sp>
      <p:sp>
        <p:nvSpPr>
          <p:cNvPr id="33" name="TextBox 17"/>
          <p:cNvSpPr txBox="1">
            <a:spLocks noChangeArrowheads="1"/>
          </p:cNvSpPr>
          <p:nvPr/>
        </p:nvSpPr>
        <p:spPr bwMode="auto">
          <a:xfrm>
            <a:off x="8301512" y="4736950"/>
            <a:ext cx="487313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7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665383526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058"/>
          <a:stretch>
            <a:fillRect/>
          </a:stretch>
        </p:blipFill>
        <p:spPr>
          <a:xfrm>
            <a:off x="298704" y="1627632"/>
            <a:ext cx="8546592" cy="360273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47.23b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912807" y="1636711"/>
            <a:ext cx="38472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700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9722" y="2125983"/>
            <a:ext cx="512961" cy="2167260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Annual deaths from</a:t>
            </a:r>
          </a:p>
          <a:p>
            <a:pPr algn="ctr" fontAlgn="auto"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 measles in U.S.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912807" y="2051049"/>
            <a:ext cx="38472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600</a:t>
            </a: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912807" y="2465387"/>
            <a:ext cx="38472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500</a:t>
            </a:r>
          </a:p>
        </p:txBody>
      </p:sp>
      <p:sp>
        <p:nvSpPr>
          <p:cNvPr id="10" name="TextBox 7"/>
          <p:cNvSpPr txBox="1">
            <a:spLocks noChangeArrowheads="1"/>
          </p:cNvSpPr>
          <p:nvPr/>
        </p:nvSpPr>
        <p:spPr bwMode="auto">
          <a:xfrm>
            <a:off x="912807" y="2879724"/>
            <a:ext cx="38472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400</a:t>
            </a:r>
          </a:p>
        </p:txBody>
      </p:sp>
      <p:sp>
        <p:nvSpPr>
          <p:cNvPr id="11" name="TextBox 8"/>
          <p:cNvSpPr txBox="1">
            <a:spLocks noChangeArrowheads="1"/>
          </p:cNvSpPr>
          <p:nvPr/>
        </p:nvSpPr>
        <p:spPr bwMode="auto">
          <a:xfrm>
            <a:off x="912807" y="3294062"/>
            <a:ext cx="38472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300</a:t>
            </a:r>
          </a:p>
        </p:txBody>
      </p:sp>
      <p:sp>
        <p:nvSpPr>
          <p:cNvPr id="12" name="TextBox 9"/>
          <p:cNvSpPr txBox="1">
            <a:spLocks noChangeArrowheads="1"/>
          </p:cNvSpPr>
          <p:nvPr/>
        </p:nvSpPr>
        <p:spPr bwMode="auto">
          <a:xfrm>
            <a:off x="912807" y="3709987"/>
            <a:ext cx="38472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200</a:t>
            </a:r>
          </a:p>
        </p:txBody>
      </p:sp>
      <p:sp>
        <p:nvSpPr>
          <p:cNvPr id="13" name="TextBox 10"/>
          <p:cNvSpPr txBox="1">
            <a:spLocks noChangeArrowheads="1"/>
          </p:cNvSpPr>
          <p:nvPr/>
        </p:nvSpPr>
        <p:spPr bwMode="auto">
          <a:xfrm>
            <a:off x="912807" y="4124324"/>
            <a:ext cx="38472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100</a:t>
            </a:r>
          </a:p>
        </p:txBody>
      </p:sp>
      <p:sp>
        <p:nvSpPr>
          <p:cNvPr id="14" name="TextBox 11"/>
          <p:cNvSpPr txBox="1">
            <a:spLocks noChangeArrowheads="1"/>
          </p:cNvSpPr>
          <p:nvPr/>
        </p:nvSpPr>
        <p:spPr bwMode="auto">
          <a:xfrm>
            <a:off x="3597380" y="1643061"/>
            <a:ext cx="525785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Rates of measles vaccination for infants in 2014</a:t>
            </a:r>
          </a:p>
        </p:txBody>
      </p:sp>
      <p:sp>
        <p:nvSpPr>
          <p:cNvPr id="15" name="TextBox 12"/>
          <p:cNvSpPr txBox="1">
            <a:spLocks noChangeArrowheads="1"/>
          </p:cNvSpPr>
          <p:nvPr/>
        </p:nvSpPr>
        <p:spPr bwMode="auto">
          <a:xfrm>
            <a:off x="2390770" y="1638296"/>
            <a:ext cx="119263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Vaccine</a:t>
            </a:r>
          </a:p>
          <a:p>
            <a:pPr algn="ctr"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introduced</a:t>
            </a:r>
          </a:p>
        </p:txBody>
      </p:sp>
      <p:sp>
        <p:nvSpPr>
          <p:cNvPr id="16" name="TextBox 13"/>
          <p:cNvSpPr txBox="1">
            <a:spLocks noChangeArrowheads="1"/>
          </p:cNvSpPr>
          <p:nvPr/>
        </p:nvSpPr>
        <p:spPr bwMode="auto">
          <a:xfrm>
            <a:off x="7769219" y="2038349"/>
            <a:ext cx="974626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90–100%</a:t>
            </a:r>
          </a:p>
        </p:txBody>
      </p:sp>
      <p:sp>
        <p:nvSpPr>
          <p:cNvPr id="17" name="TextBox 14"/>
          <p:cNvSpPr txBox="1">
            <a:spLocks noChangeArrowheads="1"/>
          </p:cNvSpPr>
          <p:nvPr/>
        </p:nvSpPr>
        <p:spPr bwMode="auto">
          <a:xfrm>
            <a:off x="7769219" y="2324099"/>
            <a:ext cx="846386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80–89%</a:t>
            </a:r>
          </a:p>
        </p:txBody>
      </p:sp>
      <p:sp>
        <p:nvSpPr>
          <p:cNvPr id="18" name="TextBox 15"/>
          <p:cNvSpPr txBox="1">
            <a:spLocks noChangeArrowheads="1"/>
          </p:cNvSpPr>
          <p:nvPr/>
        </p:nvSpPr>
        <p:spPr bwMode="auto">
          <a:xfrm>
            <a:off x="7769219" y="2632074"/>
            <a:ext cx="846386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50–79%</a:t>
            </a:r>
          </a:p>
        </p:txBody>
      </p:sp>
      <p:sp>
        <p:nvSpPr>
          <p:cNvPr id="19" name="TextBox 16"/>
          <p:cNvSpPr txBox="1">
            <a:spLocks noChangeArrowheads="1"/>
          </p:cNvSpPr>
          <p:nvPr/>
        </p:nvSpPr>
        <p:spPr bwMode="auto">
          <a:xfrm>
            <a:off x="7769219" y="2881312"/>
            <a:ext cx="596317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Times New Roman" pitchFamily="18" charset="0"/>
                <a:ea typeface="ＭＳ Ｐゴシック" charset="0"/>
                <a:cs typeface="Times New Roman" pitchFamily="18" charset="0"/>
              </a:rPr>
              <a:t>&lt;</a:t>
            </a: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50%</a:t>
            </a:r>
          </a:p>
        </p:txBody>
      </p:sp>
      <p:sp>
        <p:nvSpPr>
          <p:cNvPr id="20" name="TextBox 17"/>
          <p:cNvSpPr txBox="1">
            <a:spLocks noChangeArrowheads="1"/>
          </p:cNvSpPr>
          <p:nvPr/>
        </p:nvSpPr>
        <p:spPr bwMode="auto">
          <a:xfrm>
            <a:off x="7769219" y="3152774"/>
            <a:ext cx="974626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Data not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available</a:t>
            </a:r>
          </a:p>
        </p:txBody>
      </p:sp>
      <p:sp>
        <p:nvSpPr>
          <p:cNvPr id="21" name="TextBox 19"/>
          <p:cNvSpPr txBox="1">
            <a:spLocks noChangeArrowheads="1"/>
          </p:cNvSpPr>
          <p:nvPr/>
        </p:nvSpPr>
        <p:spPr bwMode="auto">
          <a:xfrm>
            <a:off x="1166807" y="4538662"/>
            <a:ext cx="12824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0</a:t>
            </a:r>
          </a:p>
        </p:txBody>
      </p:sp>
      <p:sp>
        <p:nvSpPr>
          <p:cNvPr id="23" name="TextBox 21"/>
          <p:cNvSpPr txBox="1">
            <a:spLocks noChangeArrowheads="1"/>
          </p:cNvSpPr>
          <p:nvPr/>
        </p:nvSpPr>
        <p:spPr bwMode="auto">
          <a:xfrm>
            <a:off x="4852187" y="4988719"/>
            <a:ext cx="487378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Year</a:t>
            </a:r>
          </a:p>
        </p:txBody>
      </p:sp>
      <p:sp>
        <p:nvSpPr>
          <p:cNvPr id="24" name="TextBox 17"/>
          <p:cNvSpPr txBox="1">
            <a:spLocks noChangeArrowheads="1"/>
          </p:cNvSpPr>
          <p:nvPr/>
        </p:nvSpPr>
        <p:spPr bwMode="auto">
          <a:xfrm>
            <a:off x="1246665" y="4732179"/>
            <a:ext cx="512961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1950</a:t>
            </a:r>
          </a:p>
        </p:txBody>
      </p:sp>
      <p:sp>
        <p:nvSpPr>
          <p:cNvPr id="25" name="TextBox 17"/>
          <p:cNvSpPr txBox="1">
            <a:spLocks noChangeArrowheads="1"/>
          </p:cNvSpPr>
          <p:nvPr/>
        </p:nvSpPr>
        <p:spPr bwMode="auto">
          <a:xfrm>
            <a:off x="1788795" y="4729004"/>
            <a:ext cx="512961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1955</a:t>
            </a:r>
          </a:p>
        </p:txBody>
      </p:sp>
      <p:sp>
        <p:nvSpPr>
          <p:cNvPr id="26" name="TextBox 17"/>
          <p:cNvSpPr txBox="1">
            <a:spLocks noChangeArrowheads="1"/>
          </p:cNvSpPr>
          <p:nvPr/>
        </p:nvSpPr>
        <p:spPr bwMode="auto">
          <a:xfrm>
            <a:off x="2323782" y="4734560"/>
            <a:ext cx="512961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1960</a:t>
            </a:r>
          </a:p>
        </p:txBody>
      </p:sp>
      <p:sp>
        <p:nvSpPr>
          <p:cNvPr id="27" name="TextBox 17"/>
          <p:cNvSpPr txBox="1">
            <a:spLocks noChangeArrowheads="1"/>
          </p:cNvSpPr>
          <p:nvPr/>
        </p:nvSpPr>
        <p:spPr bwMode="auto">
          <a:xfrm>
            <a:off x="2860356" y="4732973"/>
            <a:ext cx="512961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1965</a:t>
            </a:r>
          </a:p>
        </p:txBody>
      </p:sp>
      <p:sp>
        <p:nvSpPr>
          <p:cNvPr id="28" name="TextBox 17"/>
          <p:cNvSpPr txBox="1">
            <a:spLocks noChangeArrowheads="1"/>
          </p:cNvSpPr>
          <p:nvPr/>
        </p:nvSpPr>
        <p:spPr bwMode="auto">
          <a:xfrm>
            <a:off x="3393756" y="4734560"/>
            <a:ext cx="512961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1970</a:t>
            </a:r>
          </a:p>
        </p:txBody>
      </p:sp>
      <p:sp>
        <p:nvSpPr>
          <p:cNvPr id="29" name="TextBox 17"/>
          <p:cNvSpPr txBox="1">
            <a:spLocks noChangeArrowheads="1"/>
          </p:cNvSpPr>
          <p:nvPr/>
        </p:nvSpPr>
        <p:spPr bwMode="auto">
          <a:xfrm>
            <a:off x="3928743" y="4734560"/>
            <a:ext cx="512961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1975</a:t>
            </a:r>
          </a:p>
        </p:txBody>
      </p:sp>
      <p:sp>
        <p:nvSpPr>
          <p:cNvPr id="30" name="TextBox 17"/>
          <p:cNvSpPr txBox="1">
            <a:spLocks noChangeArrowheads="1"/>
          </p:cNvSpPr>
          <p:nvPr/>
        </p:nvSpPr>
        <p:spPr bwMode="auto">
          <a:xfrm>
            <a:off x="4462143" y="4728211"/>
            <a:ext cx="512961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1980</a:t>
            </a:r>
          </a:p>
        </p:txBody>
      </p:sp>
      <p:sp>
        <p:nvSpPr>
          <p:cNvPr id="31" name="TextBox 17"/>
          <p:cNvSpPr txBox="1">
            <a:spLocks noChangeArrowheads="1"/>
          </p:cNvSpPr>
          <p:nvPr/>
        </p:nvSpPr>
        <p:spPr bwMode="auto">
          <a:xfrm>
            <a:off x="4994749" y="4729005"/>
            <a:ext cx="512961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1985</a:t>
            </a:r>
          </a:p>
        </p:txBody>
      </p:sp>
      <p:sp>
        <p:nvSpPr>
          <p:cNvPr id="32" name="TextBox 17"/>
          <p:cNvSpPr txBox="1">
            <a:spLocks noChangeArrowheads="1"/>
          </p:cNvSpPr>
          <p:nvPr/>
        </p:nvSpPr>
        <p:spPr bwMode="auto">
          <a:xfrm>
            <a:off x="5530533" y="4731389"/>
            <a:ext cx="512961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1990</a:t>
            </a:r>
          </a:p>
        </p:txBody>
      </p:sp>
      <p:sp>
        <p:nvSpPr>
          <p:cNvPr id="33" name="TextBox 17"/>
          <p:cNvSpPr txBox="1">
            <a:spLocks noChangeArrowheads="1"/>
          </p:cNvSpPr>
          <p:nvPr/>
        </p:nvSpPr>
        <p:spPr bwMode="auto">
          <a:xfrm>
            <a:off x="6068694" y="4731391"/>
            <a:ext cx="512961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1995</a:t>
            </a:r>
          </a:p>
        </p:txBody>
      </p:sp>
      <p:sp>
        <p:nvSpPr>
          <p:cNvPr id="34" name="TextBox 17"/>
          <p:cNvSpPr txBox="1">
            <a:spLocks noChangeArrowheads="1"/>
          </p:cNvSpPr>
          <p:nvPr/>
        </p:nvSpPr>
        <p:spPr bwMode="auto">
          <a:xfrm>
            <a:off x="6598916" y="4729805"/>
            <a:ext cx="512961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2000</a:t>
            </a:r>
          </a:p>
        </p:txBody>
      </p:sp>
      <p:sp>
        <p:nvSpPr>
          <p:cNvPr id="35" name="TextBox 17"/>
          <p:cNvSpPr txBox="1">
            <a:spLocks noChangeArrowheads="1"/>
          </p:cNvSpPr>
          <p:nvPr/>
        </p:nvSpPr>
        <p:spPr bwMode="auto">
          <a:xfrm>
            <a:off x="7137076" y="4729807"/>
            <a:ext cx="512961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2005</a:t>
            </a:r>
          </a:p>
        </p:txBody>
      </p:sp>
      <p:sp>
        <p:nvSpPr>
          <p:cNvPr id="36" name="TextBox 17"/>
          <p:cNvSpPr txBox="1">
            <a:spLocks noChangeArrowheads="1"/>
          </p:cNvSpPr>
          <p:nvPr/>
        </p:nvSpPr>
        <p:spPr bwMode="auto">
          <a:xfrm>
            <a:off x="7672857" y="4729807"/>
            <a:ext cx="512961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2010</a:t>
            </a:r>
          </a:p>
        </p:txBody>
      </p:sp>
      <p:sp>
        <p:nvSpPr>
          <p:cNvPr id="37" name="TextBox 17"/>
          <p:cNvSpPr txBox="1">
            <a:spLocks noChangeArrowheads="1"/>
          </p:cNvSpPr>
          <p:nvPr/>
        </p:nvSpPr>
        <p:spPr bwMode="auto">
          <a:xfrm>
            <a:off x="8206256" y="4732188"/>
            <a:ext cx="512961" cy="2436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94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2015</a:t>
            </a:r>
          </a:p>
        </p:txBody>
      </p:sp>
    </p:spTree>
    <p:extLst>
      <p:ext uri="{BB962C8B-B14F-4D97-AF65-F5344CB8AC3E}">
        <p14:creationId xmlns:p14="http://schemas.microsoft.com/office/powerpoint/2010/main" val="212646406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Active and Passive Immunity</a:t>
            </a:r>
            <a:endParaRPr lang="en-US" altLang="en-US" dirty="0"/>
          </a:p>
        </p:txBody>
      </p:sp>
      <p:sp>
        <p:nvSpPr>
          <p:cNvPr id="10752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Active immunity </a:t>
            </a:r>
            <a:r>
              <a:rPr lang="en-US" altLang="en-US" dirty="0"/>
              <a:t>develops naturally when a pathogen invades the body and elicits a primary or secondary immune response</a:t>
            </a:r>
          </a:p>
          <a:p>
            <a:r>
              <a:rPr lang="en-US" altLang="en-US" b="1" dirty="0"/>
              <a:t>Passive immunity </a:t>
            </a:r>
            <a:r>
              <a:rPr lang="en-US" altLang="en-US" dirty="0"/>
              <a:t>provides immediate, short-term protection</a:t>
            </a:r>
          </a:p>
          <a:p>
            <a:r>
              <a:rPr lang="en-US" altLang="en-US" dirty="0"/>
              <a:t>It is conferred naturally when </a:t>
            </a:r>
            <a:r>
              <a:rPr lang="en-US" altLang="en-US" dirty="0" err="1"/>
              <a:t>IgG</a:t>
            </a:r>
            <a:r>
              <a:rPr lang="en-US" altLang="en-US" dirty="0"/>
              <a:t> crosses the placenta from mother to fetus or when IgA passes from mother to infant in breast milk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517256517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Both active and passive immunity can be induced artificially</a:t>
            </a:r>
          </a:p>
          <a:p>
            <a:r>
              <a:rPr lang="en-US" altLang="en-US" dirty="0"/>
              <a:t>Active immunity can develop following immunization</a:t>
            </a:r>
          </a:p>
          <a:p>
            <a:r>
              <a:rPr lang="en-US" altLang="en-US" dirty="0"/>
              <a:t>In artificial passive immunization, antibodies from an immune animal are injected into a </a:t>
            </a:r>
            <a:r>
              <a:rPr lang="en-US" altLang="en-US" dirty="0" err="1"/>
              <a:t>nonimmune</a:t>
            </a:r>
            <a:r>
              <a:rPr lang="en-US" altLang="en-US" dirty="0"/>
              <a:t> animal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3394293598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5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Antibodies as Tools</a:t>
            </a:r>
            <a:endParaRPr lang="en-US" altLang="en-US" dirty="0"/>
          </a:p>
        </p:txBody>
      </p:sp>
      <p:sp>
        <p:nvSpPr>
          <p:cNvPr id="10957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Antibodies produced by an animal after exposure to an antigen are the products of many different clones of plasma cells</a:t>
            </a:r>
          </a:p>
          <a:p>
            <a:r>
              <a:rPr lang="en-US" altLang="en-US"/>
              <a:t>However, </a:t>
            </a:r>
            <a:r>
              <a:rPr lang="en-US" altLang="en-US" b="1"/>
              <a:t>monoclonal antibodies </a:t>
            </a:r>
            <a:r>
              <a:rPr lang="en-US" altLang="en-US"/>
              <a:t>can be prepared from a single clone of B cells grown in culture</a:t>
            </a:r>
          </a:p>
          <a:p>
            <a:r>
              <a:rPr lang="en-US" altLang="en-US"/>
              <a:t>These antibodies are identical and specific for one epitope</a:t>
            </a:r>
          </a:p>
          <a:p>
            <a:r>
              <a:rPr lang="en-US" altLang="en-US"/>
              <a:t>Monoclonal antibodies are used in many types of medical diagnoses and treatments  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3809173579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3045"/>
          <a:stretch>
            <a:fillRect/>
          </a:stretch>
        </p:blipFill>
        <p:spPr>
          <a:xfrm>
            <a:off x="298704" y="1002792"/>
            <a:ext cx="8546592" cy="4852416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47.24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1080246" y="2980760"/>
            <a:ext cx="1162178" cy="19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Bacteriophage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1243758" y="3430815"/>
            <a:ext cx="604333" cy="19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Peptide</a:t>
            </a:r>
          </a:p>
        </p:txBody>
      </p:sp>
      <p:sp>
        <p:nvSpPr>
          <p:cNvPr id="11" name="TextBox 7"/>
          <p:cNvSpPr txBox="1">
            <a:spLocks noChangeArrowheads="1"/>
          </p:cNvSpPr>
          <p:nvPr/>
        </p:nvSpPr>
        <p:spPr bwMode="auto">
          <a:xfrm>
            <a:off x="2798135" y="4829656"/>
            <a:ext cx="1237518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Mixture of</a:t>
            </a:r>
          </a:p>
          <a:p>
            <a:pPr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bacteriophages</a:t>
            </a:r>
          </a:p>
          <a:p>
            <a:pPr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and antibodies</a:t>
            </a:r>
          </a:p>
        </p:txBody>
      </p:sp>
      <p:sp>
        <p:nvSpPr>
          <p:cNvPr id="13" name="TextBox 11"/>
          <p:cNvSpPr txBox="1">
            <a:spLocks noChangeArrowheads="1"/>
          </p:cNvSpPr>
          <p:nvPr/>
        </p:nvSpPr>
        <p:spPr bwMode="auto">
          <a:xfrm>
            <a:off x="7966822" y="1364683"/>
            <a:ext cx="838371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Unbound</a:t>
            </a:r>
          </a:p>
          <a:p>
            <a:pPr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antibodies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358819" y="2714058"/>
            <a:ext cx="1078820" cy="57708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Antibodies</a:t>
            </a:r>
          </a:p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bound to</a:t>
            </a:r>
          </a:p>
          <a:p>
            <a:pPr algn="ctr"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viral peptides</a:t>
            </a:r>
          </a:p>
        </p:txBody>
      </p:sp>
      <p:sp>
        <p:nvSpPr>
          <p:cNvPr id="15" name="TextBox 16"/>
          <p:cNvSpPr txBox="1">
            <a:spLocks noChangeArrowheads="1"/>
          </p:cNvSpPr>
          <p:nvPr/>
        </p:nvSpPr>
        <p:spPr bwMode="auto">
          <a:xfrm>
            <a:off x="6272325" y="3717358"/>
            <a:ext cx="1332352" cy="19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DNA sequencing</a:t>
            </a:r>
          </a:p>
        </p:txBody>
      </p:sp>
      <p:sp>
        <p:nvSpPr>
          <p:cNvPr id="16" name="TextBox 17"/>
          <p:cNvSpPr txBox="1">
            <a:spLocks noChangeArrowheads="1"/>
          </p:cNvSpPr>
          <p:nvPr/>
        </p:nvSpPr>
        <p:spPr bwMode="auto">
          <a:xfrm>
            <a:off x="4770550" y="4490470"/>
            <a:ext cx="413768" cy="19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00"/>
              </a:lnSpc>
            </a:pPr>
            <a:r>
              <a:rPr lang="en-US" sz="1300" b="1">
                <a:solidFill>
                  <a:srgbClr val="000000"/>
                </a:solidFill>
                <a:latin typeface="Arial"/>
                <a:ea typeface="ＭＳ Ｐゴシック" charset="0"/>
              </a:rPr>
              <a:t>Virus</a:t>
            </a:r>
          </a:p>
        </p:txBody>
      </p:sp>
      <p:sp>
        <p:nvSpPr>
          <p:cNvPr id="17" name="TextBox 18"/>
          <p:cNvSpPr txBox="1">
            <a:spLocks noChangeArrowheads="1"/>
          </p:cNvSpPr>
          <p:nvPr/>
        </p:nvSpPr>
        <p:spPr bwMode="auto">
          <a:xfrm>
            <a:off x="4716575" y="4936558"/>
            <a:ext cx="846386" cy="3847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00"/>
              </a:lnSpc>
            </a:pPr>
            <a:r>
              <a:rPr lang="en-US" sz="1300" b="1">
                <a:solidFill>
                  <a:srgbClr val="000000"/>
                </a:solidFill>
                <a:latin typeface="Arial"/>
                <a:ea typeface="ＭＳ Ｐゴシック" charset="0"/>
              </a:rPr>
              <a:t>Prior</a:t>
            </a:r>
          </a:p>
          <a:p>
            <a:pPr>
              <a:lnSpc>
                <a:spcPts val="1500"/>
              </a:lnSpc>
            </a:pPr>
            <a:r>
              <a:rPr lang="en-US" sz="1300" b="1">
                <a:solidFill>
                  <a:srgbClr val="000000"/>
                </a:solidFill>
                <a:latin typeface="Arial"/>
                <a:ea typeface="ＭＳ Ｐゴシック" charset="0"/>
              </a:rPr>
              <a:t>exposure?</a:t>
            </a:r>
          </a:p>
        </p:txBody>
      </p:sp>
      <p:sp>
        <p:nvSpPr>
          <p:cNvPr id="18" name="TextBox 20"/>
          <p:cNvSpPr txBox="1">
            <a:spLocks noChangeArrowheads="1"/>
          </p:cNvSpPr>
          <p:nvPr/>
        </p:nvSpPr>
        <p:spPr bwMode="auto">
          <a:xfrm>
            <a:off x="5951650" y="5019108"/>
            <a:ext cx="287386" cy="19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00"/>
              </a:lnSpc>
            </a:pPr>
            <a:r>
              <a:rPr lang="en-US" sz="1300" b="1">
                <a:solidFill>
                  <a:srgbClr val="000000"/>
                </a:solidFill>
                <a:latin typeface="Arial"/>
                <a:ea typeface="ＭＳ Ｐゴシック" charset="0"/>
              </a:rPr>
              <a:t>Yes</a:t>
            </a:r>
          </a:p>
        </p:txBody>
      </p:sp>
      <p:sp>
        <p:nvSpPr>
          <p:cNvPr id="19" name="TextBox 21"/>
          <p:cNvSpPr txBox="1">
            <a:spLocks noChangeArrowheads="1"/>
          </p:cNvSpPr>
          <p:nvPr/>
        </p:nvSpPr>
        <p:spPr bwMode="auto">
          <a:xfrm>
            <a:off x="7081950" y="5019108"/>
            <a:ext cx="222818" cy="19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00"/>
              </a:lnSpc>
            </a:pPr>
            <a:r>
              <a:rPr lang="en-US" sz="1300" b="1">
                <a:solidFill>
                  <a:srgbClr val="000000"/>
                </a:solidFill>
                <a:latin typeface="Arial"/>
                <a:ea typeface="ＭＳ Ｐゴシック" charset="0"/>
              </a:rPr>
              <a:t>No</a:t>
            </a:r>
          </a:p>
        </p:txBody>
      </p:sp>
      <p:sp>
        <p:nvSpPr>
          <p:cNvPr id="20" name="TextBox 22"/>
          <p:cNvSpPr txBox="1">
            <a:spLocks noChangeArrowheads="1"/>
          </p:cNvSpPr>
          <p:nvPr/>
        </p:nvSpPr>
        <p:spPr bwMode="auto">
          <a:xfrm>
            <a:off x="8156687" y="5019108"/>
            <a:ext cx="287386" cy="19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00"/>
              </a:lnSpc>
            </a:pPr>
            <a:r>
              <a:rPr lang="en-US" sz="1300" b="1">
                <a:solidFill>
                  <a:srgbClr val="000000"/>
                </a:solidFill>
                <a:latin typeface="Arial"/>
                <a:ea typeface="ＭＳ Ｐゴシック" charset="0"/>
              </a:rPr>
              <a:t>Yes</a:t>
            </a:r>
          </a:p>
        </p:txBody>
      </p:sp>
      <p:sp>
        <p:nvSpPr>
          <p:cNvPr id="6" name="Freeform 5"/>
          <p:cNvSpPr/>
          <p:nvPr/>
        </p:nvSpPr>
        <p:spPr>
          <a:xfrm>
            <a:off x="7355681" y="2764631"/>
            <a:ext cx="188119" cy="42863"/>
          </a:xfrm>
          <a:custGeom>
            <a:avLst/>
            <a:gdLst>
              <a:gd name="connsiteX0" fmla="*/ 0 w 188119"/>
              <a:gd name="connsiteY0" fmla="*/ 42863 h 42863"/>
              <a:gd name="connsiteX1" fmla="*/ 188119 w 188119"/>
              <a:gd name="connsiteY1" fmla="*/ 0 h 4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8119" h="42863">
                <a:moveTo>
                  <a:pt x="0" y="42863"/>
                </a:moveTo>
                <a:lnTo>
                  <a:pt x="188119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9" name="Freeform 8"/>
          <p:cNvSpPr/>
          <p:nvPr/>
        </p:nvSpPr>
        <p:spPr>
          <a:xfrm>
            <a:off x="7620000" y="3829050"/>
            <a:ext cx="395288" cy="0"/>
          </a:xfrm>
          <a:custGeom>
            <a:avLst/>
            <a:gdLst>
              <a:gd name="connsiteX0" fmla="*/ 0 w 395288"/>
              <a:gd name="connsiteY0" fmla="*/ 0 h 0"/>
              <a:gd name="connsiteX1" fmla="*/ 395288 w 395288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95288">
                <a:moveTo>
                  <a:pt x="0" y="0"/>
                </a:moveTo>
                <a:lnTo>
                  <a:pt x="395288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12" name="Freeform 11"/>
          <p:cNvSpPr/>
          <p:nvPr/>
        </p:nvSpPr>
        <p:spPr>
          <a:xfrm>
            <a:off x="5865019" y="3831431"/>
            <a:ext cx="361950" cy="0"/>
          </a:xfrm>
          <a:custGeom>
            <a:avLst/>
            <a:gdLst>
              <a:gd name="connsiteX0" fmla="*/ 0 w 361950"/>
              <a:gd name="connsiteY0" fmla="*/ 0 h 0"/>
              <a:gd name="connsiteX1" fmla="*/ 361950 w 36195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1950">
                <a:moveTo>
                  <a:pt x="0" y="0"/>
                </a:moveTo>
                <a:lnTo>
                  <a:pt x="36195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4" name="Freeform 33"/>
          <p:cNvSpPr/>
          <p:nvPr/>
        </p:nvSpPr>
        <p:spPr>
          <a:xfrm>
            <a:off x="7350919" y="2762250"/>
            <a:ext cx="192881" cy="42863"/>
          </a:xfrm>
          <a:custGeom>
            <a:avLst/>
            <a:gdLst>
              <a:gd name="connsiteX0" fmla="*/ 0 w 192881"/>
              <a:gd name="connsiteY0" fmla="*/ 42863 h 42863"/>
              <a:gd name="connsiteX1" fmla="*/ 192881 w 192881"/>
              <a:gd name="connsiteY1" fmla="*/ 0 h 428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92881" h="42863">
                <a:moveTo>
                  <a:pt x="0" y="42863"/>
                </a:moveTo>
                <a:lnTo>
                  <a:pt x="192881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8" name="Freeform 37"/>
          <p:cNvSpPr/>
          <p:nvPr/>
        </p:nvSpPr>
        <p:spPr>
          <a:xfrm>
            <a:off x="6029325" y="2600325"/>
            <a:ext cx="435769" cy="185738"/>
          </a:xfrm>
          <a:custGeom>
            <a:avLst/>
            <a:gdLst>
              <a:gd name="connsiteX0" fmla="*/ 435769 w 435769"/>
              <a:gd name="connsiteY0" fmla="*/ 185738 h 185738"/>
              <a:gd name="connsiteX1" fmla="*/ 0 w 435769"/>
              <a:gd name="connsiteY1" fmla="*/ 0 h 1857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35769" h="185738">
                <a:moveTo>
                  <a:pt x="435769" y="185738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9" name="Freeform 38"/>
          <p:cNvSpPr/>
          <p:nvPr/>
        </p:nvSpPr>
        <p:spPr>
          <a:xfrm>
            <a:off x="7653338" y="1450181"/>
            <a:ext cx="276225" cy="502444"/>
          </a:xfrm>
          <a:custGeom>
            <a:avLst/>
            <a:gdLst>
              <a:gd name="connsiteX0" fmla="*/ 0 w 276225"/>
              <a:gd name="connsiteY0" fmla="*/ 502444 h 502444"/>
              <a:gd name="connsiteX1" fmla="*/ 276225 w 276225"/>
              <a:gd name="connsiteY1" fmla="*/ 23813 h 502444"/>
              <a:gd name="connsiteX2" fmla="*/ 109537 w 276225"/>
              <a:gd name="connsiteY2" fmla="*/ 0 h 5024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76225" h="502444">
                <a:moveTo>
                  <a:pt x="0" y="502444"/>
                </a:moveTo>
                <a:lnTo>
                  <a:pt x="276225" y="23813"/>
                </a:lnTo>
                <a:lnTo>
                  <a:pt x="109537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0" name="Freeform 39"/>
          <p:cNvSpPr/>
          <p:nvPr/>
        </p:nvSpPr>
        <p:spPr>
          <a:xfrm>
            <a:off x="1666875" y="3178969"/>
            <a:ext cx="400050" cy="419100"/>
          </a:xfrm>
          <a:custGeom>
            <a:avLst/>
            <a:gdLst>
              <a:gd name="connsiteX0" fmla="*/ 0 w 400050"/>
              <a:gd name="connsiteY0" fmla="*/ 0 h 419100"/>
              <a:gd name="connsiteX1" fmla="*/ 400050 w 400050"/>
              <a:gd name="connsiteY1" fmla="*/ 419100 h 419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400050" h="419100">
                <a:moveTo>
                  <a:pt x="0" y="0"/>
                </a:moveTo>
                <a:lnTo>
                  <a:pt x="400050" y="41910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1" name="Freeform 40"/>
          <p:cNvSpPr/>
          <p:nvPr/>
        </p:nvSpPr>
        <p:spPr>
          <a:xfrm>
            <a:off x="1850231" y="3557588"/>
            <a:ext cx="116682" cy="171450"/>
          </a:xfrm>
          <a:custGeom>
            <a:avLst/>
            <a:gdLst>
              <a:gd name="connsiteX0" fmla="*/ 0 w 116682"/>
              <a:gd name="connsiteY0" fmla="*/ 0 h 171450"/>
              <a:gd name="connsiteX1" fmla="*/ 116682 w 116682"/>
              <a:gd name="connsiteY1" fmla="*/ 171450 h 1714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16682" h="171450">
                <a:moveTo>
                  <a:pt x="0" y="0"/>
                </a:moveTo>
                <a:lnTo>
                  <a:pt x="116682" y="17145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2" name="Freeform 41"/>
          <p:cNvSpPr/>
          <p:nvPr/>
        </p:nvSpPr>
        <p:spPr>
          <a:xfrm>
            <a:off x="2443163" y="4979194"/>
            <a:ext cx="328612" cy="280987"/>
          </a:xfrm>
          <a:custGeom>
            <a:avLst/>
            <a:gdLst>
              <a:gd name="connsiteX0" fmla="*/ 0 w 328612"/>
              <a:gd name="connsiteY0" fmla="*/ 280987 h 280987"/>
              <a:gd name="connsiteX1" fmla="*/ 328612 w 328612"/>
              <a:gd name="connsiteY1" fmla="*/ 0 h 2809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28612" h="280987">
                <a:moveTo>
                  <a:pt x="0" y="280987"/>
                </a:moveTo>
                <a:lnTo>
                  <a:pt x="328612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43" name="TextBox 4"/>
          <p:cNvSpPr txBox="1">
            <a:spLocks noChangeArrowheads="1"/>
          </p:cNvSpPr>
          <p:nvPr/>
        </p:nvSpPr>
        <p:spPr bwMode="auto">
          <a:xfrm>
            <a:off x="577008" y="4526190"/>
            <a:ext cx="1098058" cy="1923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1500"/>
              </a:lnSpc>
            </a:pPr>
            <a:r>
              <a:rPr lang="en-US" sz="13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Drop of blood</a:t>
            </a:r>
          </a:p>
        </p:txBody>
      </p:sp>
      <p:grpSp>
        <p:nvGrpSpPr>
          <p:cNvPr id="47" name="Group 46"/>
          <p:cNvGrpSpPr/>
          <p:nvPr/>
        </p:nvGrpSpPr>
        <p:grpSpPr>
          <a:xfrm>
            <a:off x="326230" y="4361473"/>
            <a:ext cx="192024" cy="192360"/>
            <a:chOff x="326230" y="4361473"/>
            <a:chExt cx="192024" cy="192360"/>
          </a:xfrm>
        </p:grpSpPr>
        <p:sp>
          <p:nvSpPr>
            <p:cNvPr id="45" name="Oval 44"/>
            <p:cNvSpPr/>
            <p:nvPr/>
          </p:nvSpPr>
          <p:spPr bwMode="auto">
            <a:xfrm>
              <a:off x="326230" y="4362403"/>
              <a:ext cx="192024" cy="190500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46" name="TextBox 4"/>
            <p:cNvSpPr txBox="1">
              <a:spLocks noChangeArrowheads="1"/>
            </p:cNvSpPr>
            <p:nvPr/>
          </p:nvSpPr>
          <p:spPr bwMode="auto">
            <a:xfrm>
              <a:off x="375755" y="4361473"/>
              <a:ext cx="92974" cy="192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1500"/>
                </a:lnSpc>
              </a:pPr>
              <a:r>
                <a:rPr lang="en-US" sz="13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2</a:t>
              </a: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327183" y="1035343"/>
            <a:ext cx="192024" cy="192360"/>
            <a:chOff x="326230" y="4361473"/>
            <a:chExt cx="192024" cy="192360"/>
          </a:xfrm>
        </p:grpSpPr>
        <p:sp>
          <p:nvSpPr>
            <p:cNvPr id="49" name="Oval 48"/>
            <p:cNvSpPr/>
            <p:nvPr/>
          </p:nvSpPr>
          <p:spPr bwMode="auto">
            <a:xfrm>
              <a:off x="326230" y="4362403"/>
              <a:ext cx="192024" cy="190500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50" name="TextBox 4"/>
            <p:cNvSpPr txBox="1">
              <a:spLocks noChangeArrowheads="1"/>
            </p:cNvSpPr>
            <p:nvPr/>
          </p:nvSpPr>
          <p:spPr bwMode="auto">
            <a:xfrm>
              <a:off x="375755" y="4361473"/>
              <a:ext cx="92975" cy="192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1500"/>
                </a:lnSpc>
              </a:pPr>
              <a:r>
                <a:rPr lang="en-US" sz="13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1</a:t>
              </a:r>
            </a:p>
          </p:txBody>
        </p:sp>
      </p:grpSp>
      <p:grpSp>
        <p:nvGrpSpPr>
          <p:cNvPr id="51" name="Group 50"/>
          <p:cNvGrpSpPr/>
          <p:nvPr/>
        </p:nvGrpSpPr>
        <p:grpSpPr>
          <a:xfrm>
            <a:off x="4664391" y="1034390"/>
            <a:ext cx="192024" cy="192360"/>
            <a:chOff x="326230" y="4361473"/>
            <a:chExt cx="192024" cy="192360"/>
          </a:xfrm>
        </p:grpSpPr>
        <p:sp>
          <p:nvSpPr>
            <p:cNvPr id="52" name="Oval 51"/>
            <p:cNvSpPr/>
            <p:nvPr/>
          </p:nvSpPr>
          <p:spPr bwMode="auto">
            <a:xfrm>
              <a:off x="326230" y="4362403"/>
              <a:ext cx="192024" cy="190500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53" name="TextBox 4"/>
            <p:cNvSpPr txBox="1">
              <a:spLocks noChangeArrowheads="1"/>
            </p:cNvSpPr>
            <p:nvPr/>
          </p:nvSpPr>
          <p:spPr bwMode="auto">
            <a:xfrm>
              <a:off x="375755" y="4361473"/>
              <a:ext cx="92975" cy="1923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1500"/>
                </a:lnSpc>
              </a:pPr>
              <a:r>
                <a:rPr lang="en-US" sz="13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93784826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624840" y="213360"/>
            <a:ext cx="7894320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47.24a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2227263" y="4083050"/>
            <a:ext cx="2138406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Bacteriophage</a:t>
            </a:r>
          </a:p>
        </p:txBody>
      </p:sp>
      <p:sp>
        <p:nvSpPr>
          <p:cNvPr id="8" name="TextBox 4"/>
          <p:cNvSpPr txBox="1">
            <a:spLocks noChangeArrowheads="1"/>
          </p:cNvSpPr>
          <p:nvPr/>
        </p:nvSpPr>
        <p:spPr bwMode="auto">
          <a:xfrm>
            <a:off x="2538413" y="5033963"/>
            <a:ext cx="1110882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Peptide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661986" y="247649"/>
            <a:ext cx="365760" cy="365760"/>
            <a:chOff x="661986" y="247649"/>
            <a:chExt cx="365760" cy="365760"/>
          </a:xfrm>
        </p:grpSpPr>
        <p:sp>
          <p:nvSpPr>
            <p:cNvPr id="2" name="Oval 1"/>
            <p:cNvSpPr/>
            <p:nvPr/>
          </p:nvSpPr>
          <p:spPr bwMode="auto">
            <a:xfrm>
              <a:off x="661986" y="247649"/>
              <a:ext cx="365760" cy="365760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9" name="TextBox 2"/>
            <p:cNvSpPr txBox="1">
              <a:spLocks noChangeArrowheads="1"/>
            </p:cNvSpPr>
            <p:nvPr/>
          </p:nvSpPr>
          <p:spPr bwMode="auto">
            <a:xfrm>
              <a:off x="759105" y="263817"/>
              <a:ext cx="171522" cy="333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600"/>
                </a:lnSpc>
              </a:pPr>
              <a:r>
                <a:rPr lang="en-US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1</a:t>
              </a:r>
            </a:p>
          </p:txBody>
        </p:sp>
      </p:grpSp>
      <p:sp>
        <p:nvSpPr>
          <p:cNvPr id="10" name="Freeform 9"/>
          <p:cNvSpPr/>
          <p:nvPr/>
        </p:nvSpPr>
        <p:spPr>
          <a:xfrm>
            <a:off x="3384550" y="4413250"/>
            <a:ext cx="742950" cy="908050"/>
          </a:xfrm>
          <a:custGeom>
            <a:avLst/>
            <a:gdLst>
              <a:gd name="connsiteX0" fmla="*/ 742950 w 742950"/>
              <a:gd name="connsiteY0" fmla="*/ 908050 h 908050"/>
              <a:gd name="connsiteX1" fmla="*/ 0 w 742950"/>
              <a:gd name="connsiteY1" fmla="*/ 0 h 908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42950" h="908050">
                <a:moveTo>
                  <a:pt x="742950" y="90805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11" name="Freeform 10"/>
          <p:cNvSpPr/>
          <p:nvPr/>
        </p:nvSpPr>
        <p:spPr>
          <a:xfrm>
            <a:off x="3655219" y="5310188"/>
            <a:ext cx="292894" cy="300037"/>
          </a:xfrm>
          <a:custGeom>
            <a:avLst/>
            <a:gdLst>
              <a:gd name="connsiteX0" fmla="*/ 292894 w 292894"/>
              <a:gd name="connsiteY0" fmla="*/ 300037 h 300037"/>
              <a:gd name="connsiteX1" fmla="*/ 0 w 292894"/>
              <a:gd name="connsiteY1" fmla="*/ 0 h 300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92894" h="300037">
                <a:moveTo>
                  <a:pt x="292894" y="300037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5940321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1179576" y="213360"/>
            <a:ext cx="6784848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47.24b</a:t>
            </a:r>
          </a:p>
        </p:txBody>
      </p:sp>
      <p:sp>
        <p:nvSpPr>
          <p:cNvPr id="10" name="TextBox 3"/>
          <p:cNvSpPr txBox="1">
            <a:spLocks noChangeArrowheads="1"/>
          </p:cNvSpPr>
          <p:nvPr/>
        </p:nvSpPr>
        <p:spPr bwMode="auto">
          <a:xfrm>
            <a:off x="1574819" y="397670"/>
            <a:ext cx="1769715" cy="29495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Drop of blood</a:t>
            </a:r>
          </a:p>
        </p:txBody>
      </p:sp>
      <p:sp>
        <p:nvSpPr>
          <p:cNvPr id="11" name="TextBox 4"/>
          <p:cNvSpPr txBox="1">
            <a:spLocks noChangeArrowheads="1"/>
          </p:cNvSpPr>
          <p:nvPr/>
        </p:nvSpPr>
        <p:spPr bwMode="auto">
          <a:xfrm>
            <a:off x="5189557" y="886620"/>
            <a:ext cx="1989327" cy="884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Mixture of</a:t>
            </a:r>
          </a:p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bacteriophages</a:t>
            </a:r>
          </a:p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and antibodies</a:t>
            </a:r>
          </a:p>
        </p:txBody>
      </p:sp>
      <p:sp>
        <p:nvSpPr>
          <p:cNvPr id="13" name="TextBox 8"/>
          <p:cNvSpPr txBox="1">
            <a:spLocks noChangeArrowheads="1"/>
          </p:cNvSpPr>
          <p:nvPr/>
        </p:nvSpPr>
        <p:spPr bwMode="auto">
          <a:xfrm>
            <a:off x="6527819" y="3158333"/>
            <a:ext cx="1348126" cy="58990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Unbound</a:t>
            </a:r>
          </a:p>
          <a:p>
            <a:pPr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antibodies</a:t>
            </a:r>
          </a:p>
        </p:txBody>
      </p:sp>
      <p:sp>
        <p:nvSpPr>
          <p:cNvPr id="14" name="TextBox 10"/>
          <p:cNvSpPr txBox="1">
            <a:spLocks noChangeArrowheads="1"/>
          </p:cNvSpPr>
          <p:nvPr/>
        </p:nvSpPr>
        <p:spPr bwMode="auto">
          <a:xfrm>
            <a:off x="3960832" y="5368133"/>
            <a:ext cx="1736053" cy="8848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Antibodies</a:t>
            </a:r>
          </a:p>
          <a:p>
            <a:pPr algn="ctr"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bound to</a:t>
            </a:r>
          </a:p>
          <a:p>
            <a:pPr algn="ctr">
              <a:lnSpc>
                <a:spcPts val="2300"/>
              </a:lnSpc>
            </a:pPr>
            <a:r>
              <a:rPr lang="en-US" sz="21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viral peptides</a:t>
            </a:r>
          </a:p>
        </p:txBody>
      </p:sp>
      <p:grpSp>
        <p:nvGrpSpPr>
          <p:cNvPr id="16" name="Group 15"/>
          <p:cNvGrpSpPr/>
          <p:nvPr/>
        </p:nvGrpSpPr>
        <p:grpSpPr>
          <a:xfrm>
            <a:off x="1221578" y="242889"/>
            <a:ext cx="274320" cy="294953"/>
            <a:chOff x="1221578" y="247651"/>
            <a:chExt cx="274320" cy="294953"/>
          </a:xfrm>
        </p:grpSpPr>
        <p:sp>
          <p:nvSpPr>
            <p:cNvPr id="2" name="Oval 1"/>
            <p:cNvSpPr/>
            <p:nvPr/>
          </p:nvSpPr>
          <p:spPr bwMode="auto">
            <a:xfrm>
              <a:off x="1221578" y="257967"/>
              <a:ext cx="274320" cy="274320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15" name="TextBox 2"/>
            <p:cNvSpPr txBox="1">
              <a:spLocks noChangeArrowheads="1"/>
            </p:cNvSpPr>
            <p:nvPr/>
          </p:nvSpPr>
          <p:spPr bwMode="auto">
            <a:xfrm>
              <a:off x="1284198" y="247651"/>
              <a:ext cx="149080" cy="294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300"/>
                </a:lnSpc>
              </a:pPr>
              <a:r>
                <a:rPr lang="en-US" sz="21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2</a:t>
              </a:r>
            </a:p>
          </p:txBody>
        </p:sp>
      </p:grpSp>
      <p:grpSp>
        <p:nvGrpSpPr>
          <p:cNvPr id="17" name="Group 16"/>
          <p:cNvGrpSpPr/>
          <p:nvPr/>
        </p:nvGrpSpPr>
        <p:grpSpPr>
          <a:xfrm>
            <a:off x="1221576" y="2690817"/>
            <a:ext cx="274320" cy="294953"/>
            <a:chOff x="1221578" y="247651"/>
            <a:chExt cx="274320" cy="294953"/>
          </a:xfrm>
        </p:grpSpPr>
        <p:sp>
          <p:nvSpPr>
            <p:cNvPr id="18" name="Oval 17"/>
            <p:cNvSpPr/>
            <p:nvPr/>
          </p:nvSpPr>
          <p:spPr bwMode="auto">
            <a:xfrm>
              <a:off x="1221578" y="257967"/>
              <a:ext cx="274320" cy="274320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solidFill>
                <a:srgbClr val="0092C8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19" name="TextBox 2"/>
            <p:cNvSpPr txBox="1">
              <a:spLocks noChangeArrowheads="1"/>
            </p:cNvSpPr>
            <p:nvPr/>
          </p:nvSpPr>
          <p:spPr bwMode="auto">
            <a:xfrm>
              <a:off x="1284198" y="247651"/>
              <a:ext cx="149080" cy="2949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300"/>
                </a:lnSpc>
              </a:pPr>
              <a:r>
                <a:rPr lang="en-US" sz="21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3</a:t>
              </a:r>
            </a:p>
          </p:txBody>
        </p:sp>
      </p:grpSp>
      <p:sp>
        <p:nvSpPr>
          <p:cNvPr id="20" name="Freeform 19"/>
          <p:cNvSpPr/>
          <p:nvPr/>
        </p:nvSpPr>
        <p:spPr>
          <a:xfrm>
            <a:off x="5549900" y="5426075"/>
            <a:ext cx="314325" cy="66675"/>
          </a:xfrm>
          <a:custGeom>
            <a:avLst/>
            <a:gdLst>
              <a:gd name="connsiteX0" fmla="*/ 0 w 314325"/>
              <a:gd name="connsiteY0" fmla="*/ 66675 h 66675"/>
              <a:gd name="connsiteX1" fmla="*/ 314325 w 314325"/>
              <a:gd name="connsiteY1" fmla="*/ 0 h 666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14325" h="66675">
                <a:moveTo>
                  <a:pt x="0" y="66675"/>
                </a:moveTo>
                <a:lnTo>
                  <a:pt x="31432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1" name="Freeform 20"/>
          <p:cNvSpPr/>
          <p:nvPr/>
        </p:nvSpPr>
        <p:spPr>
          <a:xfrm>
            <a:off x="3390900" y="5153025"/>
            <a:ext cx="717550" cy="301625"/>
          </a:xfrm>
          <a:custGeom>
            <a:avLst/>
            <a:gdLst>
              <a:gd name="connsiteX0" fmla="*/ 717550 w 717550"/>
              <a:gd name="connsiteY0" fmla="*/ 301625 h 301625"/>
              <a:gd name="connsiteX1" fmla="*/ 0 w 717550"/>
              <a:gd name="connsiteY1" fmla="*/ 0 h 30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717550" h="301625">
                <a:moveTo>
                  <a:pt x="717550" y="301625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2" name="Freeform 21"/>
          <p:cNvSpPr/>
          <p:nvPr/>
        </p:nvSpPr>
        <p:spPr>
          <a:xfrm>
            <a:off x="6034088" y="3283744"/>
            <a:ext cx="464343" cy="819150"/>
          </a:xfrm>
          <a:custGeom>
            <a:avLst/>
            <a:gdLst>
              <a:gd name="connsiteX0" fmla="*/ 180975 w 464343"/>
              <a:gd name="connsiteY0" fmla="*/ 0 h 819150"/>
              <a:gd name="connsiteX1" fmla="*/ 464343 w 464343"/>
              <a:gd name="connsiteY1" fmla="*/ 35719 h 819150"/>
              <a:gd name="connsiteX2" fmla="*/ 0 w 464343"/>
              <a:gd name="connsiteY2" fmla="*/ 819150 h 81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64343" h="819150">
                <a:moveTo>
                  <a:pt x="180975" y="0"/>
                </a:moveTo>
                <a:lnTo>
                  <a:pt x="464343" y="35719"/>
                </a:lnTo>
                <a:lnTo>
                  <a:pt x="0" y="81915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3" name="Freeform 22"/>
          <p:cNvSpPr/>
          <p:nvPr/>
        </p:nvSpPr>
        <p:spPr>
          <a:xfrm>
            <a:off x="4619625" y="1111250"/>
            <a:ext cx="536575" cy="466725"/>
          </a:xfrm>
          <a:custGeom>
            <a:avLst/>
            <a:gdLst>
              <a:gd name="connsiteX0" fmla="*/ 0 w 536575"/>
              <a:gd name="connsiteY0" fmla="*/ 466725 h 466725"/>
              <a:gd name="connsiteX1" fmla="*/ 536575 w 536575"/>
              <a:gd name="connsiteY1" fmla="*/ 0 h 466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36575" h="466725">
                <a:moveTo>
                  <a:pt x="0" y="466725"/>
                </a:moveTo>
                <a:lnTo>
                  <a:pt x="536575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85004960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1484376" y="213360"/>
            <a:ext cx="6175248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47.24c</a:t>
            </a:r>
          </a:p>
        </p:txBody>
      </p:sp>
      <p:sp>
        <p:nvSpPr>
          <p:cNvPr id="10" name="TextBox 3"/>
          <p:cNvSpPr txBox="1">
            <a:spLocks noChangeArrowheads="1"/>
          </p:cNvSpPr>
          <p:nvPr/>
        </p:nvSpPr>
        <p:spPr bwMode="auto">
          <a:xfrm>
            <a:off x="6334125" y="782638"/>
            <a:ext cx="1282402" cy="56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Unbound</a:t>
            </a:r>
          </a:p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antibodies</a:t>
            </a:r>
          </a:p>
        </p:txBody>
      </p:sp>
      <p:sp>
        <p:nvSpPr>
          <p:cNvPr id="11" name="TextBox 5"/>
          <p:cNvSpPr txBox="1">
            <a:spLocks noChangeArrowheads="1"/>
          </p:cNvSpPr>
          <p:nvPr/>
        </p:nvSpPr>
        <p:spPr bwMode="auto">
          <a:xfrm>
            <a:off x="3989388" y="2720975"/>
            <a:ext cx="1651093" cy="8463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 algn="ctr"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Antibodies</a:t>
            </a:r>
          </a:p>
          <a:p>
            <a:pPr algn="ctr"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bound to</a:t>
            </a:r>
          </a:p>
          <a:p>
            <a:pPr algn="ctr"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viral peptides</a:t>
            </a:r>
          </a:p>
        </p:txBody>
      </p:sp>
      <p:sp>
        <p:nvSpPr>
          <p:cNvPr id="12" name="TextBox 8"/>
          <p:cNvSpPr txBox="1">
            <a:spLocks noChangeArrowheads="1"/>
          </p:cNvSpPr>
          <p:nvPr/>
        </p:nvSpPr>
        <p:spPr bwMode="auto">
          <a:xfrm>
            <a:off x="3863181" y="4192588"/>
            <a:ext cx="2045560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DNA sequencing</a:t>
            </a:r>
          </a:p>
        </p:txBody>
      </p:sp>
      <p:sp>
        <p:nvSpPr>
          <p:cNvPr id="13" name="TextBox 9"/>
          <p:cNvSpPr txBox="1">
            <a:spLocks noChangeArrowheads="1"/>
          </p:cNvSpPr>
          <p:nvPr/>
        </p:nvSpPr>
        <p:spPr bwMode="auto">
          <a:xfrm>
            <a:off x="1628775" y="5329238"/>
            <a:ext cx="636585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Virus</a:t>
            </a:r>
          </a:p>
        </p:txBody>
      </p:sp>
      <p:sp>
        <p:nvSpPr>
          <p:cNvPr id="14" name="TextBox 10"/>
          <p:cNvSpPr txBox="1">
            <a:spLocks noChangeArrowheads="1"/>
          </p:cNvSpPr>
          <p:nvPr/>
        </p:nvSpPr>
        <p:spPr bwMode="auto">
          <a:xfrm>
            <a:off x="1552575" y="5991225"/>
            <a:ext cx="1298432" cy="5642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Prior</a:t>
            </a:r>
          </a:p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exposure?</a:t>
            </a:r>
          </a:p>
        </p:txBody>
      </p:sp>
      <p:sp>
        <p:nvSpPr>
          <p:cNvPr id="15" name="TextBox 13"/>
          <p:cNvSpPr txBox="1">
            <a:spLocks noChangeArrowheads="1"/>
          </p:cNvSpPr>
          <p:nvPr/>
        </p:nvSpPr>
        <p:spPr bwMode="auto">
          <a:xfrm>
            <a:off x="3402013" y="6121400"/>
            <a:ext cx="442685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Yes</a:t>
            </a:r>
          </a:p>
        </p:txBody>
      </p:sp>
      <p:sp>
        <p:nvSpPr>
          <p:cNvPr id="16" name="TextBox 14"/>
          <p:cNvSpPr txBox="1">
            <a:spLocks noChangeArrowheads="1"/>
          </p:cNvSpPr>
          <p:nvPr/>
        </p:nvSpPr>
        <p:spPr bwMode="auto">
          <a:xfrm>
            <a:off x="5070475" y="6126163"/>
            <a:ext cx="343043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No</a:t>
            </a:r>
          </a:p>
        </p:txBody>
      </p:sp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6635750" y="6118225"/>
            <a:ext cx="442685" cy="2821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225"/>
              </a:lnSpc>
            </a:pPr>
            <a:r>
              <a:rPr lang="en-US" sz="2000" b="1">
                <a:solidFill>
                  <a:srgbClr val="000000"/>
                </a:solidFill>
                <a:latin typeface="Arial"/>
                <a:ea typeface="ＭＳ Ｐゴシック" charset="0"/>
              </a:rPr>
              <a:t>Yes</a:t>
            </a:r>
          </a:p>
        </p:txBody>
      </p:sp>
      <p:sp>
        <p:nvSpPr>
          <p:cNvPr id="2" name="Freeform 1"/>
          <p:cNvSpPr/>
          <p:nvPr/>
        </p:nvSpPr>
        <p:spPr>
          <a:xfrm>
            <a:off x="3281363" y="4355306"/>
            <a:ext cx="500062" cy="0"/>
          </a:xfrm>
          <a:custGeom>
            <a:avLst/>
            <a:gdLst>
              <a:gd name="connsiteX0" fmla="*/ 0 w 500062"/>
              <a:gd name="connsiteY0" fmla="*/ 0 h 0"/>
              <a:gd name="connsiteX1" fmla="*/ 500062 w 500062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0062">
                <a:moveTo>
                  <a:pt x="0" y="0"/>
                </a:moveTo>
                <a:lnTo>
                  <a:pt x="500062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" name="Freeform 2"/>
          <p:cNvSpPr/>
          <p:nvPr/>
        </p:nvSpPr>
        <p:spPr>
          <a:xfrm>
            <a:off x="5945981" y="4352925"/>
            <a:ext cx="500063" cy="0"/>
          </a:xfrm>
          <a:custGeom>
            <a:avLst/>
            <a:gdLst>
              <a:gd name="connsiteX0" fmla="*/ 0 w 500063"/>
              <a:gd name="connsiteY0" fmla="*/ 0 h 0"/>
              <a:gd name="connsiteX1" fmla="*/ 500063 w 500063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00063">
                <a:moveTo>
                  <a:pt x="0" y="0"/>
                </a:moveTo>
                <a:lnTo>
                  <a:pt x="500063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18" name="Freeform 17"/>
          <p:cNvSpPr/>
          <p:nvPr/>
        </p:nvSpPr>
        <p:spPr>
          <a:xfrm>
            <a:off x="5521325" y="2784475"/>
            <a:ext cx="241300" cy="50800"/>
          </a:xfrm>
          <a:custGeom>
            <a:avLst/>
            <a:gdLst>
              <a:gd name="connsiteX0" fmla="*/ 0 w 241300"/>
              <a:gd name="connsiteY0" fmla="*/ 50800 h 50800"/>
              <a:gd name="connsiteX1" fmla="*/ 241300 w 241300"/>
              <a:gd name="connsiteY1" fmla="*/ 0 h 50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41300" h="50800">
                <a:moveTo>
                  <a:pt x="0" y="50800"/>
                </a:moveTo>
                <a:lnTo>
                  <a:pt x="24130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19" name="Freeform 18"/>
          <p:cNvSpPr/>
          <p:nvPr/>
        </p:nvSpPr>
        <p:spPr>
          <a:xfrm>
            <a:off x="3524250" y="2540000"/>
            <a:ext cx="593725" cy="254000"/>
          </a:xfrm>
          <a:custGeom>
            <a:avLst/>
            <a:gdLst>
              <a:gd name="connsiteX0" fmla="*/ 593725 w 593725"/>
              <a:gd name="connsiteY0" fmla="*/ 254000 h 254000"/>
              <a:gd name="connsiteX1" fmla="*/ 0 w 593725"/>
              <a:gd name="connsiteY1" fmla="*/ 0 h 254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93725" h="254000">
                <a:moveTo>
                  <a:pt x="593725" y="25400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0" name="Freeform 19"/>
          <p:cNvSpPr/>
          <p:nvPr/>
        </p:nvSpPr>
        <p:spPr>
          <a:xfrm>
            <a:off x="5912644" y="847725"/>
            <a:ext cx="383381" cy="742950"/>
          </a:xfrm>
          <a:custGeom>
            <a:avLst/>
            <a:gdLst>
              <a:gd name="connsiteX0" fmla="*/ 152400 w 383381"/>
              <a:gd name="connsiteY0" fmla="*/ 0 h 742950"/>
              <a:gd name="connsiteX1" fmla="*/ 383381 w 383381"/>
              <a:gd name="connsiteY1" fmla="*/ 69056 h 742950"/>
              <a:gd name="connsiteX2" fmla="*/ 0 w 383381"/>
              <a:gd name="connsiteY2" fmla="*/ 742950 h 742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3381" h="742950">
                <a:moveTo>
                  <a:pt x="152400" y="0"/>
                </a:moveTo>
                <a:lnTo>
                  <a:pt x="383381" y="69056"/>
                </a:lnTo>
                <a:lnTo>
                  <a:pt x="0" y="74295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1550193" y="310754"/>
            <a:ext cx="265176" cy="282129"/>
            <a:chOff x="1547812" y="320278"/>
            <a:chExt cx="265176" cy="282129"/>
          </a:xfrm>
        </p:grpSpPr>
        <p:sp>
          <p:nvSpPr>
            <p:cNvPr id="21" name="Oval 20"/>
            <p:cNvSpPr/>
            <p:nvPr/>
          </p:nvSpPr>
          <p:spPr bwMode="auto">
            <a:xfrm>
              <a:off x="1547812" y="326801"/>
              <a:ext cx="265176" cy="269082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22" name="TextBox 2"/>
            <p:cNvSpPr txBox="1">
              <a:spLocks noChangeArrowheads="1"/>
            </p:cNvSpPr>
            <p:nvPr/>
          </p:nvSpPr>
          <p:spPr bwMode="auto">
            <a:xfrm>
              <a:off x="1609066" y="320278"/>
              <a:ext cx="142668" cy="2821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225"/>
                </a:lnSpc>
              </a:pPr>
              <a:r>
                <a:rPr lang="en-US" sz="20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3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196230118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Immune Rejection</a:t>
            </a:r>
            <a:endParaRPr lang="en-US" altLang="en-US" dirty="0"/>
          </a:p>
        </p:txBody>
      </p:sp>
      <p:sp>
        <p:nvSpPr>
          <p:cNvPr id="1126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Cells transferred from one person to another can be attacked by immune defenses</a:t>
            </a:r>
          </a:p>
          <a:p>
            <a:r>
              <a:rPr lang="en-US" altLang="en-US" dirty="0"/>
              <a:t>This complicates blood transfusions and the transplant of tissues or organs</a:t>
            </a:r>
          </a:p>
          <a:p>
            <a:r>
              <a:rPr lang="en-US" altLang="en-US" dirty="0"/>
              <a:t>To minimize rejection of a transplant or graft, surgeons use donor tissue with MHC molecules as similar as possible to those of the recipient</a:t>
            </a:r>
          </a:p>
          <a:p>
            <a:r>
              <a:rPr lang="en-US" altLang="en-US" dirty="0"/>
              <a:t>In addition, the recipient takes medicines that suppress immune responses  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5237832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Blood Groups</a:t>
            </a:r>
            <a:endParaRPr lang="en-US" altLang="en-US" dirty="0"/>
          </a:p>
        </p:txBody>
      </p:sp>
      <p:sp>
        <p:nvSpPr>
          <p:cNvPr id="11366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Antigens on red blood cells determine whether a person has blood type A (A antigen), B (B antigen), AB (both A and B antigens), or O (neither antigen)</a:t>
            </a:r>
          </a:p>
          <a:p>
            <a:r>
              <a:rPr lang="en-US" altLang="en-US"/>
              <a:t>Antibodies to nonself blood types exist in the body</a:t>
            </a:r>
          </a:p>
          <a:p>
            <a:r>
              <a:rPr lang="en-US" altLang="en-US"/>
              <a:t>Transfusion with incompatible blood leads to destruction of the transfused cells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3015327245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7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 dirty="0"/>
              <a:t>Concept 47.4: Disruptions in immune system function can elicit or exacerbate disease</a:t>
            </a:r>
          </a:p>
        </p:txBody>
      </p:sp>
      <p:sp>
        <p:nvSpPr>
          <p:cNvPr id="1167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Some pathogens have evolved ways to diminish the effectiveness of host immune responses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140372940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/>
              <a:t>Exaggerated, Self-Directed, and Diminished Immune Responses</a:t>
            </a:r>
            <a:endParaRPr lang="en-US" altLang="en-US" dirty="0"/>
          </a:p>
        </p:txBody>
      </p:sp>
      <p:sp>
        <p:nvSpPr>
          <p:cNvPr id="11776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When allergic, autoimmune, or immunodeficiency disorders disrupt the delicate balance of immune responses, the effects can be severe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592193455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78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Allergies</a:t>
            </a:r>
            <a:endParaRPr lang="en-US" altLang="en-US" dirty="0"/>
          </a:p>
        </p:txBody>
      </p:sp>
      <p:sp>
        <p:nvSpPr>
          <p:cNvPr id="1187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Allergies are exaggerated (hypersensitive) responses to antigens called allergens</a:t>
            </a:r>
          </a:p>
          <a:p>
            <a:r>
              <a:rPr lang="en-US" altLang="en-US" dirty="0"/>
              <a:t>In localized allergies such as hay fever, </a:t>
            </a:r>
            <a:r>
              <a:rPr lang="en-US" altLang="en-US" dirty="0" err="1"/>
              <a:t>IgE</a:t>
            </a:r>
            <a:r>
              <a:rPr lang="en-US" altLang="en-US" dirty="0"/>
              <a:t> antibodies produced after first exposure to an allergen (such as pollen grains) attach to receptors on mast cells</a:t>
            </a:r>
          </a:p>
          <a:p>
            <a:r>
              <a:rPr lang="en-US" altLang="en-US" dirty="0"/>
              <a:t>The next time the allergen enters the body, it binds to mast-cell-associated </a:t>
            </a:r>
            <a:r>
              <a:rPr lang="en-US" altLang="en-US" dirty="0" err="1"/>
              <a:t>IgE</a:t>
            </a:r>
            <a:r>
              <a:rPr lang="en-US" altLang="en-US" dirty="0"/>
              <a:t> molecules</a:t>
            </a:r>
          </a:p>
          <a:p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453239394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857" name="Rectangle 2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Mast cells release histamine and other inflammatory chemicals that bring about typical allergy symptoms</a:t>
            </a:r>
          </a:p>
          <a:p>
            <a:r>
              <a:rPr lang="en-US" altLang="en-US" dirty="0"/>
              <a:t>An acute allergic response can lead to anaphylactic shock, a life-threatening reaction, within seconds of allergen exposure</a:t>
            </a:r>
          </a:p>
          <a:p>
            <a:r>
              <a:rPr lang="en-US" altLang="en-US" dirty="0"/>
              <a:t>An injection of epinephrine can rapidly counteract the allergic response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1735777779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1569720" y="213360"/>
            <a:ext cx="6004560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47.25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1591945" y="734695"/>
            <a:ext cx="359073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 err="1">
                <a:solidFill>
                  <a:srgbClr val="000000"/>
                </a:solidFill>
                <a:latin typeface="Arial"/>
                <a:ea typeface="ＭＳ Ｐゴシック" charset="0"/>
              </a:rPr>
              <a:t>IgE</a:t>
            </a:r>
            <a:endParaRPr lang="en-US" sz="1800" b="1" dirty="0">
              <a:solidFill>
                <a:srgbClr val="000000"/>
              </a:solidFill>
              <a:latin typeface="Arial"/>
              <a:ea typeface="ＭＳ Ｐゴシック" charset="0"/>
            </a:endParaRP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087370" y="2661920"/>
            <a:ext cx="525785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Mast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cell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1909420" y="3580289"/>
            <a:ext cx="1756891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Initial exposure</a:t>
            </a: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5108258" y="2466658"/>
            <a:ext cx="205184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Allergen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(second exposure)</a:t>
            </a:r>
          </a:p>
        </p:txBody>
      </p:sp>
      <p:sp>
        <p:nvSpPr>
          <p:cNvPr id="10" name="TextBox 8"/>
          <p:cNvSpPr txBox="1">
            <a:spLocks noChangeArrowheads="1"/>
          </p:cNvSpPr>
          <p:nvPr/>
        </p:nvSpPr>
        <p:spPr bwMode="auto">
          <a:xfrm>
            <a:off x="2326958" y="5297170"/>
            <a:ext cx="1320874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Subsequent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exposure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613208" y="5368608"/>
            <a:ext cx="782330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Vesicle</a:t>
            </a:r>
          </a:p>
        </p:txBody>
      </p:sp>
      <p:sp>
        <p:nvSpPr>
          <p:cNvPr id="12" name="TextBox 11"/>
          <p:cNvSpPr txBox="1">
            <a:spLocks noChangeArrowheads="1"/>
          </p:cNvSpPr>
          <p:nvPr/>
        </p:nvSpPr>
        <p:spPr bwMode="auto">
          <a:xfrm>
            <a:off x="6457633" y="5674995"/>
            <a:ext cx="1102866" cy="2564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>
                <a:solidFill>
                  <a:srgbClr val="000000"/>
                </a:solidFill>
                <a:latin typeface="Arial"/>
                <a:ea typeface="ＭＳ Ｐゴシック" charset="0"/>
              </a:rPr>
              <a:t>Histamine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4651824" y="6151244"/>
            <a:ext cx="2462213" cy="51296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Cross-linking triggers</a:t>
            </a:r>
          </a:p>
          <a:p>
            <a:pPr>
              <a:lnSpc>
                <a:spcPts val="2000"/>
              </a:lnSpc>
            </a:pPr>
            <a:r>
              <a:rPr lang="en-US" sz="1800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release of histamine.</a:t>
            </a:r>
          </a:p>
        </p:txBody>
      </p:sp>
      <p:grpSp>
        <p:nvGrpSpPr>
          <p:cNvPr id="17" name="Group 16"/>
          <p:cNvGrpSpPr/>
          <p:nvPr/>
        </p:nvGrpSpPr>
        <p:grpSpPr>
          <a:xfrm>
            <a:off x="1607344" y="3576081"/>
            <a:ext cx="246888" cy="256480"/>
            <a:chOff x="1602582" y="3578462"/>
            <a:chExt cx="246888" cy="256480"/>
          </a:xfrm>
        </p:grpSpPr>
        <p:sp>
          <p:nvSpPr>
            <p:cNvPr id="15" name="Oval 14"/>
            <p:cNvSpPr/>
            <p:nvPr/>
          </p:nvSpPr>
          <p:spPr bwMode="auto">
            <a:xfrm>
              <a:off x="1602582" y="3583258"/>
              <a:ext cx="246888" cy="246888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16" name="TextBox 5"/>
            <p:cNvSpPr txBox="1">
              <a:spLocks noChangeArrowheads="1"/>
            </p:cNvSpPr>
            <p:nvPr/>
          </p:nvSpPr>
          <p:spPr bwMode="auto">
            <a:xfrm>
              <a:off x="1661906" y="3578462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1</a:t>
              </a:r>
            </a:p>
          </p:txBody>
        </p:sp>
      </p:grpSp>
      <p:grpSp>
        <p:nvGrpSpPr>
          <p:cNvPr id="18" name="Group 17"/>
          <p:cNvGrpSpPr/>
          <p:nvPr/>
        </p:nvGrpSpPr>
        <p:grpSpPr>
          <a:xfrm>
            <a:off x="2012159" y="5295346"/>
            <a:ext cx="246888" cy="256480"/>
            <a:chOff x="1602582" y="3578462"/>
            <a:chExt cx="246888" cy="256480"/>
          </a:xfrm>
        </p:grpSpPr>
        <p:sp>
          <p:nvSpPr>
            <p:cNvPr id="19" name="Oval 18"/>
            <p:cNvSpPr/>
            <p:nvPr/>
          </p:nvSpPr>
          <p:spPr bwMode="auto">
            <a:xfrm>
              <a:off x="1602582" y="3583258"/>
              <a:ext cx="246888" cy="246888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20" name="TextBox 5"/>
            <p:cNvSpPr txBox="1">
              <a:spLocks noChangeArrowheads="1"/>
            </p:cNvSpPr>
            <p:nvPr/>
          </p:nvSpPr>
          <p:spPr bwMode="auto">
            <a:xfrm>
              <a:off x="1661906" y="3578462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2</a:t>
              </a:r>
            </a:p>
          </p:txBody>
        </p:sp>
      </p:grpSp>
      <p:grpSp>
        <p:nvGrpSpPr>
          <p:cNvPr id="21" name="Group 20"/>
          <p:cNvGrpSpPr/>
          <p:nvPr/>
        </p:nvGrpSpPr>
        <p:grpSpPr>
          <a:xfrm>
            <a:off x="4333396" y="6129262"/>
            <a:ext cx="246888" cy="256480"/>
            <a:chOff x="1602582" y="3578462"/>
            <a:chExt cx="246888" cy="256480"/>
          </a:xfrm>
        </p:grpSpPr>
        <p:sp>
          <p:nvSpPr>
            <p:cNvPr id="22" name="Oval 21"/>
            <p:cNvSpPr/>
            <p:nvPr/>
          </p:nvSpPr>
          <p:spPr bwMode="auto">
            <a:xfrm>
              <a:off x="1602582" y="3583258"/>
              <a:ext cx="246888" cy="246888"/>
            </a:xfrm>
            <a:prstGeom prst="ellipse">
              <a:avLst/>
            </a:prstGeom>
            <a:solidFill>
              <a:srgbClr val="0092C8"/>
            </a:solidFill>
            <a:ln w="12700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 vert="horz" wrap="square" lIns="91440" tIns="45720" rIns="91440" bIns="45720" numCol="1" rtlCol="0" anchor="t" anchorCtr="0" compatLnSpc="1">
              <a:prstTxWarp prst="textNoShape">
                <a:avLst/>
              </a:prstTxWarp>
            </a:bodyPr>
            <a:lstStyle/>
            <a:p>
              <a:endParaRPr lang="en-US">
                <a:solidFill>
                  <a:srgbClr val="000000"/>
                </a:solidFill>
                <a:latin typeface="Times" pitchFamily="84" charset="0"/>
                <a:ea typeface="ＭＳ Ｐゴシック" charset="0"/>
              </a:endParaRPr>
            </a:p>
          </p:txBody>
        </p:sp>
        <p:sp>
          <p:nvSpPr>
            <p:cNvPr id="23" name="TextBox 5"/>
            <p:cNvSpPr txBox="1">
              <a:spLocks noChangeArrowheads="1"/>
            </p:cNvSpPr>
            <p:nvPr/>
          </p:nvSpPr>
          <p:spPr bwMode="auto">
            <a:xfrm>
              <a:off x="1661906" y="3578462"/>
              <a:ext cx="128240" cy="2564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Calibri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Calibri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Calibri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Calibri" pitchFamily="34" charset="0"/>
                </a:defRPr>
              </a:lvl9pPr>
            </a:lstStyle>
            <a:p>
              <a:pPr algn="ctr">
                <a:lnSpc>
                  <a:spcPts val="2000"/>
                </a:lnSpc>
              </a:pPr>
              <a:r>
                <a:rPr lang="en-US" sz="1800" b="1" dirty="0">
                  <a:solidFill>
                    <a:srgbClr val="FFFFFF"/>
                  </a:solidFill>
                  <a:latin typeface="Arial"/>
                  <a:ea typeface="ＭＳ Ｐゴシック" charset="0"/>
                </a:rPr>
                <a:t>3</a:t>
              </a:r>
            </a:p>
          </p:txBody>
        </p:sp>
      </p:grpSp>
      <p:sp>
        <p:nvSpPr>
          <p:cNvPr id="24" name="Freeform 23"/>
          <p:cNvSpPr/>
          <p:nvPr/>
        </p:nvSpPr>
        <p:spPr>
          <a:xfrm>
            <a:off x="1993106" y="488156"/>
            <a:ext cx="769144" cy="376238"/>
          </a:xfrm>
          <a:custGeom>
            <a:avLst/>
            <a:gdLst>
              <a:gd name="connsiteX0" fmla="*/ 219075 w 769144"/>
              <a:gd name="connsiteY0" fmla="*/ 0 h 376238"/>
              <a:gd name="connsiteX1" fmla="*/ 0 w 769144"/>
              <a:gd name="connsiteY1" fmla="*/ 376238 h 376238"/>
              <a:gd name="connsiteX2" fmla="*/ 769144 w 769144"/>
              <a:gd name="connsiteY2" fmla="*/ 252413 h 3762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69144" h="376238">
                <a:moveTo>
                  <a:pt x="219075" y="0"/>
                </a:moveTo>
                <a:lnTo>
                  <a:pt x="0" y="376238"/>
                </a:lnTo>
                <a:lnTo>
                  <a:pt x="769144" y="252413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5" name="Freeform 24"/>
          <p:cNvSpPr/>
          <p:nvPr/>
        </p:nvSpPr>
        <p:spPr>
          <a:xfrm>
            <a:off x="3333750" y="2400300"/>
            <a:ext cx="0" cy="288131"/>
          </a:xfrm>
          <a:custGeom>
            <a:avLst/>
            <a:gdLst>
              <a:gd name="connsiteX0" fmla="*/ 0 w 0"/>
              <a:gd name="connsiteY0" fmla="*/ 0 h 288131"/>
              <a:gd name="connsiteX1" fmla="*/ 0 w 0"/>
              <a:gd name="connsiteY1" fmla="*/ 288131 h 2881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h="288131">
                <a:moveTo>
                  <a:pt x="0" y="0"/>
                </a:moveTo>
                <a:lnTo>
                  <a:pt x="0" y="288131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6" name="Freeform 25"/>
          <p:cNvSpPr/>
          <p:nvPr/>
        </p:nvSpPr>
        <p:spPr>
          <a:xfrm>
            <a:off x="2438400" y="2336006"/>
            <a:ext cx="180975" cy="1273969"/>
          </a:xfrm>
          <a:custGeom>
            <a:avLst/>
            <a:gdLst>
              <a:gd name="connsiteX0" fmla="*/ 0 w 180975"/>
              <a:gd name="connsiteY0" fmla="*/ 0 h 1273969"/>
              <a:gd name="connsiteX1" fmla="*/ 180975 w 180975"/>
              <a:gd name="connsiteY1" fmla="*/ 1273969 h 12739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80975" h="1273969">
                <a:moveTo>
                  <a:pt x="0" y="0"/>
                </a:moveTo>
                <a:lnTo>
                  <a:pt x="180975" y="1273969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7" name="Freeform 26"/>
          <p:cNvSpPr/>
          <p:nvPr/>
        </p:nvSpPr>
        <p:spPr>
          <a:xfrm>
            <a:off x="4805363" y="2533650"/>
            <a:ext cx="280987" cy="73819"/>
          </a:xfrm>
          <a:custGeom>
            <a:avLst/>
            <a:gdLst>
              <a:gd name="connsiteX0" fmla="*/ 0 w 280987"/>
              <a:gd name="connsiteY0" fmla="*/ 0 h 73819"/>
              <a:gd name="connsiteX1" fmla="*/ 280987 w 280987"/>
              <a:gd name="connsiteY1" fmla="*/ 73819 h 738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80987" h="73819">
                <a:moveTo>
                  <a:pt x="0" y="0"/>
                </a:moveTo>
                <a:lnTo>
                  <a:pt x="280987" y="73819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8" name="Freeform 27"/>
          <p:cNvSpPr/>
          <p:nvPr/>
        </p:nvSpPr>
        <p:spPr>
          <a:xfrm>
            <a:off x="3695700" y="4386263"/>
            <a:ext cx="1028700" cy="1019175"/>
          </a:xfrm>
          <a:custGeom>
            <a:avLst/>
            <a:gdLst>
              <a:gd name="connsiteX0" fmla="*/ 0 w 1028700"/>
              <a:gd name="connsiteY0" fmla="*/ 1019175 h 1019175"/>
              <a:gd name="connsiteX1" fmla="*/ 1028700 w 1028700"/>
              <a:gd name="connsiteY1" fmla="*/ 0 h 10191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028700" h="1019175">
                <a:moveTo>
                  <a:pt x="0" y="1019175"/>
                </a:moveTo>
                <a:lnTo>
                  <a:pt x="102870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29" name="Freeform 28"/>
          <p:cNvSpPr/>
          <p:nvPr/>
        </p:nvSpPr>
        <p:spPr>
          <a:xfrm>
            <a:off x="5692775" y="4997450"/>
            <a:ext cx="863600" cy="488950"/>
          </a:xfrm>
          <a:custGeom>
            <a:avLst/>
            <a:gdLst>
              <a:gd name="connsiteX0" fmla="*/ 863600 w 863600"/>
              <a:gd name="connsiteY0" fmla="*/ 488950 h 488950"/>
              <a:gd name="connsiteX1" fmla="*/ 0 w 863600"/>
              <a:gd name="connsiteY1" fmla="*/ 0 h 4889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863600" h="488950">
                <a:moveTo>
                  <a:pt x="863600" y="488950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6048375" y="5626100"/>
            <a:ext cx="368300" cy="142875"/>
          </a:xfrm>
          <a:custGeom>
            <a:avLst/>
            <a:gdLst>
              <a:gd name="connsiteX0" fmla="*/ 368300 w 368300"/>
              <a:gd name="connsiteY0" fmla="*/ 142875 h 142875"/>
              <a:gd name="connsiteX1" fmla="*/ 0 w 368300"/>
              <a:gd name="connsiteY1" fmla="*/ 0 h 1428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368300" h="142875">
                <a:moveTo>
                  <a:pt x="368300" y="142875"/>
                </a:moveTo>
                <a:lnTo>
                  <a:pt x="0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5032375" y="5616575"/>
            <a:ext cx="819150" cy="514350"/>
          </a:xfrm>
          <a:custGeom>
            <a:avLst/>
            <a:gdLst>
              <a:gd name="connsiteX0" fmla="*/ 0 w 819150"/>
              <a:gd name="connsiteY0" fmla="*/ 0 h 514350"/>
              <a:gd name="connsiteX1" fmla="*/ 469900 w 819150"/>
              <a:gd name="connsiteY1" fmla="*/ 514350 h 514350"/>
              <a:gd name="connsiteX2" fmla="*/ 819150 w 819150"/>
              <a:gd name="connsiteY2" fmla="*/ 85725 h 5143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819150" h="514350">
                <a:moveTo>
                  <a:pt x="0" y="0"/>
                </a:moveTo>
                <a:lnTo>
                  <a:pt x="469900" y="514350"/>
                </a:lnTo>
                <a:lnTo>
                  <a:pt x="819150" y="85725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253680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8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Autoimmune Diseases</a:t>
            </a:r>
            <a:endParaRPr lang="en-US" altLang="en-US" dirty="0"/>
          </a:p>
        </p:txBody>
      </p:sp>
      <p:sp>
        <p:nvSpPr>
          <p:cNvPr id="122882" name="Rectangle 3"/>
          <p:cNvSpPr>
            <a:spLocks noGrp="1" noChangeArrowheads="1"/>
          </p:cNvSpPr>
          <p:nvPr>
            <p:ph idx="1"/>
          </p:nvPr>
        </p:nvSpPr>
        <p:spPr>
          <a:xfrm>
            <a:off x="76200" y="807044"/>
            <a:ext cx="8839199" cy="5217186"/>
          </a:xfrm>
        </p:spPr>
        <p:txBody>
          <a:bodyPr/>
          <a:lstStyle/>
          <a:p>
            <a:r>
              <a:rPr lang="en-US" altLang="en-US" dirty="0"/>
              <a:t>In individuals with </a:t>
            </a:r>
            <a:r>
              <a:rPr lang="en-US" altLang="en-US" b="1" dirty="0"/>
              <a:t>autoimmune diseases</a:t>
            </a:r>
            <a:r>
              <a:rPr lang="en-US" altLang="en-US" dirty="0"/>
              <a:t>, the immune system loses tolerance for self and turns against certain molecules of the body</a:t>
            </a:r>
          </a:p>
          <a:p>
            <a:r>
              <a:rPr lang="en-US" altLang="en-US" dirty="0"/>
              <a:t>Autoimmune diseases include systemic lupus </a:t>
            </a:r>
            <a:r>
              <a:rPr lang="en-US" altLang="en-US" dirty="0" err="1"/>
              <a:t>erythematosus</a:t>
            </a:r>
            <a:r>
              <a:rPr lang="en-US" altLang="en-US" dirty="0"/>
              <a:t>, rheumatoid arthritis, insulin-dependent diabetes mellitus, and multiple sclerosis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9600" y="3657600"/>
            <a:ext cx="4114800" cy="3037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92042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95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 i="1"/>
              <a:t>Exertion, Stress, and the Immune System</a:t>
            </a:r>
            <a:endParaRPr lang="en-US" altLang="en-US" dirty="0"/>
          </a:p>
        </p:txBody>
      </p:sp>
      <p:sp>
        <p:nvSpPr>
          <p:cNvPr id="12595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Moderate exercise improves immune system function, though exercise to exhaustion leads to more frequent infections</a:t>
            </a:r>
          </a:p>
          <a:p>
            <a:r>
              <a:rPr lang="en-US" altLang="en-US" dirty="0"/>
              <a:t>Psychological stress has been shown to disrupt immune system regulation by altering the interactions of the hormonal, nervous, and immune systems</a:t>
            </a:r>
          </a:p>
          <a:p>
            <a:r>
              <a:rPr lang="en-US" altLang="en-US" dirty="0"/>
              <a:t>Sufficient rest is also important for immunity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39065843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Immunodeficiency Diseases</a:t>
            </a:r>
            <a:endParaRPr lang="en-US" altLang="en-US" dirty="0"/>
          </a:p>
        </p:txBody>
      </p:sp>
      <p:sp>
        <p:nvSpPr>
          <p:cNvPr id="12697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/>
              <a:t>Inborn immunodeficiency results from a genetic or developmental defect in the innate or adaptive defenses, or both</a:t>
            </a:r>
          </a:p>
          <a:p>
            <a:r>
              <a:rPr lang="en-US" altLang="en-US"/>
              <a:t>Acquired immunodeficiency develops later in life due to exposure to chemical and biological agents</a:t>
            </a:r>
            <a:endParaRPr lang="en-US" alt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142010454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001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1107996"/>
          </a:xfrm>
        </p:spPr>
        <p:txBody>
          <a:bodyPr/>
          <a:lstStyle/>
          <a:p>
            <a:r>
              <a:rPr lang="en-US" altLang="en-US"/>
              <a:t>Evolutionary Adaptations of Pathogens That Underlie Immune System Avoidance</a:t>
            </a:r>
            <a:endParaRPr lang="en-US" altLang="en-US" dirty="0"/>
          </a:p>
        </p:txBody>
      </p:sp>
      <p:sp>
        <p:nvSpPr>
          <p:cNvPr id="12800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Pathogens have evolved mechanisms to thwart immune responses</a:t>
            </a:r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NOOOOOOO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3476871901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Antigenic Variation</a:t>
            </a:r>
            <a:endParaRPr lang="en-US" altLang="en-US" dirty="0"/>
          </a:p>
        </p:txBody>
      </p:sp>
      <p:sp>
        <p:nvSpPr>
          <p:cNvPr id="12902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Through antigenic variation, some pathogens are able to change epitope expression and prevent recognition</a:t>
            </a:r>
          </a:p>
          <a:p>
            <a:r>
              <a:rPr lang="en-US" altLang="en-US" dirty="0"/>
              <a:t>The human influenza virus mutates rapidly, and new flu vaccines must be made each year</a:t>
            </a:r>
          </a:p>
          <a:p>
            <a:r>
              <a:rPr lang="en-US" altLang="en-US" dirty="0"/>
              <a:t>Human viruses occasionally exchange genes with the viruses of domesticated animals</a:t>
            </a:r>
          </a:p>
          <a:p>
            <a:r>
              <a:rPr lang="en-US" altLang="en-US" dirty="0"/>
              <a:t>This poses a danger, as human immune systems are unable to recognize the new viral strain</a:t>
            </a:r>
          </a:p>
          <a:p>
            <a:r>
              <a:rPr lang="en-US" altLang="en-US" dirty="0"/>
              <a:t>NOOOOOOOOOO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1481814336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i="1"/>
              <a:t>Latency</a:t>
            </a:r>
            <a:endParaRPr lang="en-US" altLang="en-US" dirty="0"/>
          </a:p>
        </p:txBody>
      </p:sp>
      <p:sp>
        <p:nvSpPr>
          <p:cNvPr id="13005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Some viruses may remain in a host in an inactive state called latency</a:t>
            </a:r>
          </a:p>
          <a:p>
            <a:r>
              <a:rPr lang="en-US" altLang="en-US" dirty="0"/>
              <a:t>Herpes simplex viruses can be present in a human host without causing symptoms</a:t>
            </a:r>
          </a:p>
          <a:p>
            <a:endParaRPr lang="en-US" altLang="en-US" dirty="0"/>
          </a:p>
          <a:p>
            <a:r>
              <a:rPr lang="en-US" altLang="en-US" dirty="0"/>
              <a:t>NOOOOOOO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230775166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3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0"/>
            <a:ext cx="9144000" cy="646331"/>
          </a:xfrm>
        </p:spPr>
        <p:txBody>
          <a:bodyPr/>
          <a:lstStyle/>
          <a:p>
            <a:r>
              <a:rPr lang="en-US" altLang="en-US" i="1"/>
              <a:t>Attack on the Immune System: HIV</a:t>
            </a:r>
            <a:endParaRPr lang="en-US" altLang="en-US" dirty="0"/>
          </a:p>
        </p:txBody>
      </p:sp>
      <p:sp>
        <p:nvSpPr>
          <p:cNvPr id="13107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b="1" dirty="0"/>
              <a:t>Human immunodeficiency virus (HIV)</a:t>
            </a:r>
            <a:r>
              <a:rPr lang="en-US" altLang="en-US" dirty="0"/>
              <a:t> infects helper T cells</a:t>
            </a:r>
          </a:p>
          <a:p>
            <a:r>
              <a:rPr lang="en-US" altLang="en-US" dirty="0"/>
              <a:t>HIV persists in the host—despite an immune response—because it has a high mutation rate that promotes antigen variation</a:t>
            </a:r>
          </a:p>
          <a:p>
            <a:r>
              <a:rPr lang="en-US" altLang="en-US" dirty="0"/>
              <a:t>Over time, an untreated HIV infection not only avoids the adaptive immune response, but also abolishes it</a:t>
            </a:r>
          </a:p>
          <a:p>
            <a:endParaRPr lang="en-US" altLang="en-US" dirty="0"/>
          </a:p>
          <a:p>
            <a:r>
              <a:rPr lang="en-US" altLang="en-US" dirty="0"/>
              <a:t>NOOOOOOOOOO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</p:spTree>
    <p:extLst>
      <p:ext uri="{BB962C8B-B14F-4D97-AF65-F5344CB8AC3E}">
        <p14:creationId xmlns:p14="http://schemas.microsoft.com/office/powerpoint/2010/main" val="599363207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15"/>
          <a:stretch>
            <a:fillRect/>
          </a:stretch>
        </p:blipFill>
        <p:spPr>
          <a:xfrm>
            <a:off x="298704" y="213360"/>
            <a:ext cx="8546592" cy="643128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47.27</a:t>
            </a:r>
          </a:p>
        </p:txBody>
      </p:sp>
      <p:sp>
        <p:nvSpPr>
          <p:cNvPr id="6" name="TextBox 2"/>
          <p:cNvSpPr txBox="1">
            <a:spLocks noChangeArrowheads="1"/>
          </p:cNvSpPr>
          <p:nvPr/>
        </p:nvSpPr>
        <p:spPr bwMode="auto">
          <a:xfrm>
            <a:off x="2286000" y="126304"/>
            <a:ext cx="5700786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Latency   NOOOOOOOOOOOOOOO</a:t>
            </a:r>
          </a:p>
        </p:txBody>
      </p:sp>
      <p:sp>
        <p:nvSpPr>
          <p:cNvPr id="7" name="TextBox 3"/>
          <p:cNvSpPr txBox="1">
            <a:spLocks noChangeArrowheads="1"/>
          </p:cNvSpPr>
          <p:nvPr/>
        </p:nvSpPr>
        <p:spPr bwMode="auto">
          <a:xfrm>
            <a:off x="3344864" y="862805"/>
            <a:ext cx="3794308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ED1C24"/>
                </a:solidFill>
                <a:latin typeface="Arial"/>
                <a:ea typeface="ＭＳ Ｐゴシック" charset="0"/>
              </a:rPr>
              <a:t>Relative anti-HIV antibody</a:t>
            </a:r>
          </a:p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ED1C24"/>
                </a:solidFill>
                <a:latin typeface="Arial"/>
                <a:ea typeface="ＭＳ Ｐゴシック" charset="0"/>
              </a:rPr>
              <a:t>concentration</a:t>
            </a:r>
          </a:p>
        </p:txBody>
      </p:sp>
      <p:sp>
        <p:nvSpPr>
          <p:cNvPr id="8" name="TextBox 5"/>
          <p:cNvSpPr txBox="1">
            <a:spLocks noChangeArrowheads="1"/>
          </p:cNvSpPr>
          <p:nvPr/>
        </p:nvSpPr>
        <p:spPr bwMode="auto">
          <a:xfrm>
            <a:off x="7977189" y="211930"/>
            <a:ext cx="735779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AIDS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01737" y="1327273"/>
            <a:ext cx="666849" cy="3948197"/>
          </a:xfrm>
          <a:prstGeom prst="rect">
            <a:avLst/>
          </a:prstGeom>
          <a:noFill/>
        </p:spPr>
        <p:txBody>
          <a:bodyPr vert="vert270" wrap="none" lIns="0" tIns="0" rIns="0" bIns="0">
            <a:spAutoFit/>
          </a:bodyPr>
          <a:lstStyle/>
          <a:p>
            <a:pPr algn="ctr" fontAlgn="auto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Helper T cell concentration</a:t>
            </a:r>
          </a:p>
          <a:p>
            <a:pPr algn="ctr" fontAlgn="auto">
              <a:lnSpc>
                <a:spcPts val="26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In blood (cells/mm</a:t>
            </a:r>
            <a:r>
              <a:rPr lang="en-US" b="1" baseline="-25000" dirty="0">
                <a:solidFill>
                  <a:srgbClr val="000000"/>
                </a:solidFill>
                <a:latin typeface="Arial"/>
                <a:ea typeface="ＭＳ Ｐゴシック" charset="0"/>
              </a:rPr>
              <a:t>3</a:t>
            </a: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)</a:t>
            </a:r>
          </a:p>
        </p:txBody>
      </p:sp>
      <p:sp>
        <p:nvSpPr>
          <p:cNvPr id="10" name="TextBox 8"/>
          <p:cNvSpPr txBox="1">
            <a:spLocks noChangeArrowheads="1"/>
          </p:cNvSpPr>
          <p:nvPr/>
        </p:nvSpPr>
        <p:spPr bwMode="auto">
          <a:xfrm>
            <a:off x="1144589" y="1445418"/>
            <a:ext cx="514564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800</a:t>
            </a:r>
          </a:p>
        </p:txBody>
      </p:sp>
      <p:sp>
        <p:nvSpPr>
          <p:cNvPr id="11" name="TextBox 9"/>
          <p:cNvSpPr txBox="1">
            <a:spLocks noChangeArrowheads="1"/>
          </p:cNvSpPr>
          <p:nvPr/>
        </p:nvSpPr>
        <p:spPr bwMode="auto">
          <a:xfrm>
            <a:off x="1152527" y="2485230"/>
            <a:ext cx="514564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600</a:t>
            </a:r>
          </a:p>
        </p:txBody>
      </p:sp>
      <p:sp>
        <p:nvSpPr>
          <p:cNvPr id="12" name="TextBox 10"/>
          <p:cNvSpPr txBox="1">
            <a:spLocks noChangeArrowheads="1"/>
          </p:cNvSpPr>
          <p:nvPr/>
        </p:nvSpPr>
        <p:spPr bwMode="auto">
          <a:xfrm>
            <a:off x="1160464" y="3531393"/>
            <a:ext cx="514564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400</a:t>
            </a:r>
          </a:p>
        </p:txBody>
      </p:sp>
      <p:sp>
        <p:nvSpPr>
          <p:cNvPr id="13" name="TextBox 11"/>
          <p:cNvSpPr txBox="1">
            <a:spLocks noChangeArrowheads="1"/>
          </p:cNvSpPr>
          <p:nvPr/>
        </p:nvSpPr>
        <p:spPr bwMode="auto">
          <a:xfrm>
            <a:off x="1168402" y="4572793"/>
            <a:ext cx="514564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200</a:t>
            </a:r>
          </a:p>
        </p:txBody>
      </p:sp>
      <p:sp>
        <p:nvSpPr>
          <p:cNvPr id="14" name="TextBox 12"/>
          <p:cNvSpPr txBox="1">
            <a:spLocks noChangeArrowheads="1"/>
          </p:cNvSpPr>
          <p:nvPr/>
        </p:nvSpPr>
        <p:spPr bwMode="auto">
          <a:xfrm>
            <a:off x="1511302" y="5614193"/>
            <a:ext cx="171522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0</a:t>
            </a:r>
          </a:p>
        </p:txBody>
      </p:sp>
      <p:sp>
        <p:nvSpPr>
          <p:cNvPr id="15" name="TextBox 13"/>
          <p:cNvSpPr txBox="1">
            <a:spLocks noChangeArrowheads="1"/>
          </p:cNvSpPr>
          <p:nvPr/>
        </p:nvSpPr>
        <p:spPr bwMode="auto">
          <a:xfrm>
            <a:off x="1789114" y="5903118"/>
            <a:ext cx="171522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0</a:t>
            </a:r>
          </a:p>
        </p:txBody>
      </p:sp>
      <p:sp>
        <p:nvSpPr>
          <p:cNvPr id="16" name="TextBox 14"/>
          <p:cNvSpPr txBox="1">
            <a:spLocks noChangeArrowheads="1"/>
          </p:cNvSpPr>
          <p:nvPr/>
        </p:nvSpPr>
        <p:spPr bwMode="auto">
          <a:xfrm>
            <a:off x="2457452" y="5903118"/>
            <a:ext cx="171522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1</a:t>
            </a:r>
          </a:p>
        </p:txBody>
      </p:sp>
      <p:sp>
        <p:nvSpPr>
          <p:cNvPr id="17" name="TextBox 15"/>
          <p:cNvSpPr txBox="1">
            <a:spLocks noChangeArrowheads="1"/>
          </p:cNvSpPr>
          <p:nvPr/>
        </p:nvSpPr>
        <p:spPr bwMode="auto">
          <a:xfrm>
            <a:off x="4489452" y="2266155"/>
            <a:ext cx="2034211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92C8"/>
                </a:solidFill>
                <a:latin typeface="Arial"/>
                <a:ea typeface="ＭＳ Ｐゴシック" charset="0"/>
              </a:rPr>
              <a:t>Relative HIV</a:t>
            </a:r>
          </a:p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92C8"/>
                </a:solidFill>
                <a:latin typeface="Arial"/>
                <a:ea typeface="ＭＳ Ｐゴシック" charset="0"/>
              </a:rPr>
              <a:t>concentration</a:t>
            </a:r>
          </a:p>
        </p:txBody>
      </p:sp>
      <p:sp>
        <p:nvSpPr>
          <p:cNvPr id="18" name="TextBox 17"/>
          <p:cNvSpPr txBox="1">
            <a:spLocks noChangeArrowheads="1"/>
          </p:cNvSpPr>
          <p:nvPr/>
        </p:nvSpPr>
        <p:spPr bwMode="auto">
          <a:xfrm>
            <a:off x="3910014" y="2956718"/>
            <a:ext cx="2034211" cy="6668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Helper T cell</a:t>
            </a:r>
          </a:p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concentration</a:t>
            </a:r>
          </a:p>
        </p:txBody>
      </p:sp>
      <p:sp>
        <p:nvSpPr>
          <p:cNvPr id="19" name="TextBox 19"/>
          <p:cNvSpPr txBox="1">
            <a:spLocks noChangeArrowheads="1"/>
          </p:cNvSpPr>
          <p:nvPr/>
        </p:nvSpPr>
        <p:spPr bwMode="auto">
          <a:xfrm>
            <a:off x="3127377" y="5903118"/>
            <a:ext cx="171522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2</a:t>
            </a:r>
          </a:p>
        </p:txBody>
      </p:sp>
      <p:sp>
        <p:nvSpPr>
          <p:cNvPr id="20" name="TextBox 20"/>
          <p:cNvSpPr txBox="1">
            <a:spLocks noChangeArrowheads="1"/>
          </p:cNvSpPr>
          <p:nvPr/>
        </p:nvSpPr>
        <p:spPr bwMode="auto">
          <a:xfrm>
            <a:off x="3797302" y="5903118"/>
            <a:ext cx="171522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3</a:t>
            </a:r>
          </a:p>
        </p:txBody>
      </p:sp>
      <p:sp>
        <p:nvSpPr>
          <p:cNvPr id="21" name="TextBox 21"/>
          <p:cNvSpPr txBox="1">
            <a:spLocks noChangeArrowheads="1"/>
          </p:cNvSpPr>
          <p:nvPr/>
        </p:nvSpPr>
        <p:spPr bwMode="auto">
          <a:xfrm>
            <a:off x="4467227" y="5903118"/>
            <a:ext cx="171522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4</a:t>
            </a:r>
          </a:p>
        </p:txBody>
      </p:sp>
      <p:sp>
        <p:nvSpPr>
          <p:cNvPr id="22" name="TextBox 22"/>
          <p:cNvSpPr txBox="1">
            <a:spLocks noChangeArrowheads="1"/>
          </p:cNvSpPr>
          <p:nvPr/>
        </p:nvSpPr>
        <p:spPr bwMode="auto">
          <a:xfrm>
            <a:off x="5137152" y="5903118"/>
            <a:ext cx="171522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5</a:t>
            </a:r>
          </a:p>
        </p:txBody>
      </p:sp>
      <p:sp>
        <p:nvSpPr>
          <p:cNvPr id="23" name="TextBox 23"/>
          <p:cNvSpPr txBox="1">
            <a:spLocks noChangeArrowheads="1"/>
          </p:cNvSpPr>
          <p:nvPr/>
        </p:nvSpPr>
        <p:spPr bwMode="auto">
          <a:xfrm>
            <a:off x="5805489" y="5903118"/>
            <a:ext cx="171522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6</a:t>
            </a:r>
          </a:p>
        </p:txBody>
      </p:sp>
      <p:sp>
        <p:nvSpPr>
          <p:cNvPr id="24" name="TextBox 24"/>
          <p:cNvSpPr txBox="1">
            <a:spLocks noChangeArrowheads="1"/>
          </p:cNvSpPr>
          <p:nvPr/>
        </p:nvSpPr>
        <p:spPr bwMode="auto">
          <a:xfrm>
            <a:off x="6475414" y="5903118"/>
            <a:ext cx="171522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7</a:t>
            </a:r>
          </a:p>
        </p:txBody>
      </p:sp>
      <p:sp>
        <p:nvSpPr>
          <p:cNvPr id="25" name="TextBox 25"/>
          <p:cNvSpPr txBox="1">
            <a:spLocks noChangeArrowheads="1"/>
          </p:cNvSpPr>
          <p:nvPr/>
        </p:nvSpPr>
        <p:spPr bwMode="auto">
          <a:xfrm>
            <a:off x="7145339" y="5903118"/>
            <a:ext cx="171522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8</a:t>
            </a:r>
          </a:p>
        </p:txBody>
      </p:sp>
      <p:sp>
        <p:nvSpPr>
          <p:cNvPr id="26" name="TextBox 26"/>
          <p:cNvSpPr txBox="1">
            <a:spLocks noChangeArrowheads="1"/>
          </p:cNvSpPr>
          <p:nvPr/>
        </p:nvSpPr>
        <p:spPr bwMode="auto">
          <a:xfrm>
            <a:off x="3037683" y="6308724"/>
            <a:ext cx="4429739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 dirty="0">
                <a:solidFill>
                  <a:srgbClr val="000000"/>
                </a:solidFill>
                <a:latin typeface="Arial"/>
                <a:ea typeface="ＭＳ Ｐゴシック" charset="0"/>
              </a:rPr>
              <a:t>Years after untreated infection</a:t>
            </a:r>
          </a:p>
        </p:txBody>
      </p:sp>
      <p:sp>
        <p:nvSpPr>
          <p:cNvPr id="27" name="TextBox 27"/>
          <p:cNvSpPr txBox="1">
            <a:spLocks noChangeArrowheads="1"/>
          </p:cNvSpPr>
          <p:nvPr/>
        </p:nvSpPr>
        <p:spPr bwMode="auto">
          <a:xfrm>
            <a:off x="7815264" y="5903118"/>
            <a:ext cx="171522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9</a:t>
            </a:r>
          </a:p>
        </p:txBody>
      </p:sp>
      <p:sp>
        <p:nvSpPr>
          <p:cNvPr id="28" name="TextBox 28"/>
          <p:cNvSpPr txBox="1">
            <a:spLocks noChangeArrowheads="1"/>
          </p:cNvSpPr>
          <p:nvPr/>
        </p:nvSpPr>
        <p:spPr bwMode="auto">
          <a:xfrm>
            <a:off x="8401052" y="5903118"/>
            <a:ext cx="343043" cy="333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alibri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itchFamily="34" charset="0"/>
              </a:defRPr>
            </a:lvl9pPr>
          </a:lstStyle>
          <a:p>
            <a:pPr>
              <a:lnSpc>
                <a:spcPts val="2600"/>
              </a:lnSpc>
            </a:pPr>
            <a:r>
              <a:rPr lang="en-US" b="1">
                <a:solidFill>
                  <a:srgbClr val="000000"/>
                </a:solidFill>
                <a:latin typeface="Arial"/>
                <a:ea typeface="ＭＳ Ｐゴシック" charset="0"/>
              </a:rPr>
              <a:t>10</a:t>
            </a:r>
          </a:p>
        </p:txBody>
      </p:sp>
      <p:sp>
        <p:nvSpPr>
          <p:cNvPr id="29" name="Freeform 28"/>
          <p:cNvSpPr/>
          <p:nvPr/>
        </p:nvSpPr>
        <p:spPr>
          <a:xfrm>
            <a:off x="6274594" y="2431256"/>
            <a:ext cx="554831" cy="188119"/>
          </a:xfrm>
          <a:custGeom>
            <a:avLst/>
            <a:gdLst>
              <a:gd name="connsiteX0" fmla="*/ 0 w 554831"/>
              <a:gd name="connsiteY0" fmla="*/ 0 h 188119"/>
              <a:gd name="connsiteX1" fmla="*/ 554831 w 554831"/>
              <a:gd name="connsiteY1" fmla="*/ 188119 h 188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554831" h="188119">
                <a:moveTo>
                  <a:pt x="0" y="0"/>
                </a:moveTo>
                <a:lnTo>
                  <a:pt x="554831" y="188119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0" name="Freeform 29"/>
          <p:cNvSpPr/>
          <p:nvPr/>
        </p:nvSpPr>
        <p:spPr>
          <a:xfrm>
            <a:off x="3648075" y="3124200"/>
            <a:ext cx="250031" cy="359569"/>
          </a:xfrm>
          <a:custGeom>
            <a:avLst/>
            <a:gdLst>
              <a:gd name="connsiteX0" fmla="*/ 0 w 250031"/>
              <a:gd name="connsiteY0" fmla="*/ 359569 h 359569"/>
              <a:gd name="connsiteX1" fmla="*/ 250031 w 250031"/>
              <a:gd name="connsiteY1" fmla="*/ 0 h 359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250031" h="359569">
                <a:moveTo>
                  <a:pt x="0" y="359569"/>
                </a:moveTo>
                <a:lnTo>
                  <a:pt x="250031" y="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1" name="Freeform 30"/>
          <p:cNvSpPr/>
          <p:nvPr/>
        </p:nvSpPr>
        <p:spPr>
          <a:xfrm>
            <a:off x="4349750" y="1524000"/>
            <a:ext cx="63500" cy="355600"/>
          </a:xfrm>
          <a:custGeom>
            <a:avLst/>
            <a:gdLst>
              <a:gd name="connsiteX0" fmla="*/ 0 w 63500"/>
              <a:gd name="connsiteY0" fmla="*/ 0 h 355600"/>
              <a:gd name="connsiteX1" fmla="*/ 63500 w 63500"/>
              <a:gd name="connsiteY1" fmla="*/ 355600 h 355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63500" h="355600">
                <a:moveTo>
                  <a:pt x="0" y="0"/>
                </a:moveTo>
                <a:lnTo>
                  <a:pt x="63500" y="355600"/>
                </a:lnTo>
              </a:path>
            </a:pathLst>
          </a:custGeom>
          <a:ln w="12700">
            <a:solidFill>
              <a:schemeClr val="tx1"/>
            </a:solidFill>
          </a:ln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2" name="Right Brace 31"/>
          <p:cNvSpPr/>
          <p:nvPr/>
        </p:nvSpPr>
        <p:spPr bwMode="auto">
          <a:xfrm rot="16200000">
            <a:off x="4079082" y="-1000126"/>
            <a:ext cx="242887" cy="3343275"/>
          </a:xfrm>
          <a:prstGeom prst="rightBrace">
            <a:avLst>
              <a:gd name="adj1" fmla="val 27941"/>
              <a:gd name="adj2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  <p:sp>
        <p:nvSpPr>
          <p:cNvPr id="33" name="Right Brace 32"/>
          <p:cNvSpPr/>
          <p:nvPr/>
        </p:nvSpPr>
        <p:spPr bwMode="auto">
          <a:xfrm rot="16200000">
            <a:off x="8212933" y="216215"/>
            <a:ext cx="242887" cy="904877"/>
          </a:xfrm>
          <a:prstGeom prst="rightBrace">
            <a:avLst>
              <a:gd name="adj1" fmla="val 27941"/>
              <a:gd name="adj2" fmla="val 50000"/>
            </a:avLst>
          </a:prstGeom>
          <a:noFill/>
          <a:ln w="12700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en-US">
              <a:solidFill>
                <a:srgbClr val="000000"/>
              </a:solidFill>
              <a:latin typeface="Times" pitchFamily="84" charset="0"/>
              <a:ea typeface="ＭＳ Ｐゴシック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373345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7" name="Rectangle 2"/>
          <p:cNvSpPr>
            <a:spLocks noGrp="1" noChangeArrowheads="1"/>
          </p:cNvSpPr>
          <p:nvPr>
            <p:ph idx="1"/>
          </p:nvPr>
        </p:nvSpPr>
        <p:spPr>
          <a:xfrm>
            <a:off x="152400" y="152400"/>
            <a:ext cx="8839199" cy="5217186"/>
          </a:xfrm>
        </p:spPr>
        <p:txBody>
          <a:bodyPr/>
          <a:lstStyle/>
          <a:p>
            <a:r>
              <a:rPr lang="en-US" altLang="en-US" dirty="0"/>
              <a:t>HIV infection leads to </a:t>
            </a:r>
            <a:r>
              <a:rPr lang="en-US" altLang="en-US" b="1" dirty="0"/>
              <a:t>acquired immunodeficiency syndrome</a:t>
            </a:r>
            <a:r>
              <a:rPr lang="en-US" altLang="en-US" dirty="0"/>
              <a:t> </a:t>
            </a:r>
            <a:r>
              <a:rPr lang="en-US" altLang="en-US" b="1" dirty="0"/>
              <a:t>(AIDS)</a:t>
            </a:r>
          </a:p>
          <a:p>
            <a:r>
              <a:rPr lang="en-US" altLang="en-US" dirty="0"/>
              <a:t>People with AIDS are highly susceptible to opportunistic infections and cancers that a normal immune system would usually defeat</a:t>
            </a:r>
          </a:p>
          <a:p>
            <a:r>
              <a:rPr lang="en-US" altLang="en-US" dirty="0"/>
              <a:t>The spread of HIV is a worldwide problem</a:t>
            </a:r>
          </a:p>
          <a:p>
            <a:r>
              <a:rPr lang="en-US" altLang="en-US" dirty="0"/>
              <a:t>The best approach for slowing this spread is education about practices that transmit the virus</a:t>
            </a:r>
          </a:p>
          <a:p>
            <a:endParaRPr lang="en-US" altLang="en-US" dirty="0"/>
          </a:p>
          <a:p>
            <a:r>
              <a:rPr lang="en-US" altLang="en-US" dirty="0"/>
              <a:t>NOOOOOOOOOOOOO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  <p:pic>
        <p:nvPicPr>
          <p:cNvPr id="1028" name="Picture 4" descr="Image result for hiv viru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4400" y="4038600"/>
            <a:ext cx="3647578" cy="27037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712955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Cancer and Immunity</a:t>
            </a:r>
            <a:endParaRPr lang="en-US" dirty="0"/>
          </a:p>
        </p:txBody>
      </p:sp>
      <p:sp>
        <p:nvSpPr>
          <p:cNvPr id="135170" name="Rectangle 3"/>
          <p:cNvSpPr>
            <a:spLocks noGrp="1" noChangeArrowheads="1"/>
          </p:cNvSpPr>
          <p:nvPr>
            <p:ph idx="1"/>
          </p:nvPr>
        </p:nvSpPr>
        <p:spPr>
          <a:xfrm>
            <a:off x="152400" y="685800"/>
            <a:ext cx="8839199" cy="5217186"/>
          </a:xfrm>
        </p:spPr>
        <p:txBody>
          <a:bodyPr/>
          <a:lstStyle/>
          <a:p>
            <a:r>
              <a:rPr lang="en-US" altLang="en-US" dirty="0"/>
              <a:t>The frequency of certain cancers increases when adaptive immunity is inactivated</a:t>
            </a:r>
          </a:p>
          <a:p>
            <a:r>
              <a:rPr lang="en-US" altLang="en-US" dirty="0"/>
              <a:t>15–20% of all human cancers involve viruses</a:t>
            </a:r>
          </a:p>
          <a:p>
            <a:r>
              <a:rPr lang="en-US" altLang="en-US" dirty="0"/>
              <a:t>The immune system can act as a defense against viruses that cause cancer and cancer cells that harbor viruses</a:t>
            </a:r>
          </a:p>
          <a:p>
            <a:r>
              <a:rPr lang="en-US" altLang="en-US" dirty="0"/>
              <a:t>In 2006, a vaccine was released that acts against human papillomavirus (HPV), a virus associated with cervical cancer</a:t>
            </a:r>
          </a:p>
          <a:p>
            <a:r>
              <a:rPr lang="en-US" altLang="en-US" dirty="0"/>
              <a:t>NOOOOOOOOOOOO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dirty="0"/>
              <a:t>© 2018 Pearson Education Ltd.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9800" y="4572000"/>
            <a:ext cx="2133600" cy="213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70181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heme/theme1.xml><?xml version="1.0" encoding="utf-8"?>
<a:theme xmlns:a="http://schemas.openxmlformats.org/drawingml/2006/main" name="Campbell11e_LectureDesign">
  <a:themeElements>
    <a:clrScheme name="1_CC4eActiveLectureQuestions 15">
      <a:dk1>
        <a:srgbClr val="000000"/>
      </a:dk1>
      <a:lt1>
        <a:srgbClr val="FFFFFF"/>
      </a:lt1>
      <a:dk2>
        <a:srgbClr val="0060AF"/>
      </a:dk2>
      <a:lt2>
        <a:srgbClr val="000000"/>
      </a:lt2>
      <a:accent1>
        <a:srgbClr val="F7955A"/>
      </a:accent1>
      <a:accent2>
        <a:srgbClr val="009247"/>
      </a:accent2>
      <a:accent3>
        <a:srgbClr val="FFFFFF"/>
      </a:accent3>
      <a:accent4>
        <a:srgbClr val="000000"/>
      </a:accent4>
      <a:accent5>
        <a:srgbClr val="FAC8B5"/>
      </a:accent5>
      <a:accent6>
        <a:srgbClr val="00843F"/>
      </a:accent6>
      <a:hlink>
        <a:srgbClr val="009999"/>
      </a:hlink>
      <a:folHlink>
        <a:srgbClr val="99CC00"/>
      </a:folHlink>
    </a:clrScheme>
    <a:fontScheme name="1_CC4eActiveLectureQuestions">
      <a:majorFont>
        <a:latin typeface="Times New Roman"/>
        <a:ea typeface="Arial"/>
        <a:cs typeface="Arial"/>
      </a:majorFont>
      <a:minorFont>
        <a:latin typeface="Tahoma"/>
        <a:ea typeface="Arial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1_CC4eActiveLectureQuestion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CC4eActiveLectureQuestions 13">
        <a:dk1>
          <a:srgbClr val="000000"/>
        </a:dk1>
        <a:lt1>
          <a:srgbClr val="FFFFFF"/>
        </a:lt1>
        <a:dk2>
          <a:srgbClr val="005472"/>
        </a:dk2>
        <a:lt2>
          <a:srgbClr val="00000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4">
        <a:dk1>
          <a:srgbClr val="000000"/>
        </a:dk1>
        <a:lt1>
          <a:srgbClr val="FFFFFF"/>
        </a:lt1>
        <a:dk2>
          <a:srgbClr val="333399"/>
        </a:dk2>
        <a:lt2>
          <a:srgbClr val="000000"/>
        </a:lt2>
        <a:accent1>
          <a:srgbClr val="B7DAB8"/>
        </a:accent1>
        <a:accent2>
          <a:srgbClr val="005472"/>
        </a:accent2>
        <a:accent3>
          <a:srgbClr val="FFFFFF"/>
        </a:accent3>
        <a:accent4>
          <a:srgbClr val="000000"/>
        </a:accent4>
        <a:accent5>
          <a:srgbClr val="D8EAD8"/>
        </a:accent5>
        <a:accent6>
          <a:srgbClr val="004B67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C4eActiveLectureQuestions 15">
        <a:dk1>
          <a:srgbClr val="000000"/>
        </a:dk1>
        <a:lt1>
          <a:srgbClr val="FFFFFF"/>
        </a:lt1>
        <a:dk2>
          <a:srgbClr val="0060AF"/>
        </a:dk2>
        <a:lt2>
          <a:srgbClr val="000000"/>
        </a:lt2>
        <a:accent1>
          <a:srgbClr val="F7955A"/>
        </a:accent1>
        <a:accent2>
          <a:srgbClr val="009247"/>
        </a:accent2>
        <a:accent3>
          <a:srgbClr val="FFFFFF"/>
        </a:accent3>
        <a:accent4>
          <a:srgbClr val="000000"/>
        </a:accent4>
        <a:accent5>
          <a:srgbClr val="FAC8B5"/>
        </a:accent5>
        <a:accent6>
          <a:srgbClr val="00843F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Campbell11e_LectureDesign" id="{1E29558D-F693-462F-BFE8-09589E69881C}" vid="{70B05F25-2FB3-4FD4-980B-A633ABC17E0B}"/>
    </a:ext>
  </a:extLst>
</a:theme>
</file>

<file path=ppt/theme/theme2.xml><?xml version="1.0" encoding="utf-8"?>
<a:theme xmlns:a="http://schemas.openxmlformats.org/drawingml/2006/main" name="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2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4.xml><?xml version="1.0" encoding="utf-8"?>
<a:theme xmlns:a="http://schemas.openxmlformats.org/drawingml/2006/main" name="3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5.xml><?xml version="1.0" encoding="utf-8"?>
<a:theme xmlns:a="http://schemas.openxmlformats.org/drawingml/2006/main" name="4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6.xml><?xml version="1.0" encoding="utf-8"?>
<a:theme xmlns:a="http://schemas.openxmlformats.org/drawingml/2006/main" name="5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7.xml><?xml version="1.0" encoding="utf-8"?>
<a:theme xmlns:a="http://schemas.openxmlformats.org/drawingml/2006/main" name="6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8.xml><?xml version="1.0" encoding="utf-8"?>
<a:theme xmlns:a="http://schemas.openxmlformats.org/drawingml/2006/main" name="7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9.xml><?xml version="1.0" encoding="utf-8"?>
<a:theme xmlns:a="http://schemas.openxmlformats.org/drawingml/2006/main" name="10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0.xml><?xml version="1.0" encoding="utf-8"?>
<a:theme xmlns:a="http://schemas.openxmlformats.org/drawingml/2006/main" name="15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1.xml><?xml version="1.0" encoding="utf-8"?>
<a:theme xmlns:a="http://schemas.openxmlformats.org/drawingml/2006/main" name="16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2.xml><?xml version="1.0" encoding="utf-8"?>
<a:theme xmlns:a="http://schemas.openxmlformats.org/drawingml/2006/main" name="19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3.xml><?xml version="1.0" encoding="utf-8"?>
<a:theme xmlns:a="http://schemas.openxmlformats.org/drawingml/2006/main" name="20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4.xml><?xml version="1.0" encoding="utf-8"?>
<a:theme xmlns:a="http://schemas.openxmlformats.org/drawingml/2006/main" name="2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5.xml><?xml version="1.0" encoding="utf-8"?>
<a:theme xmlns:a="http://schemas.openxmlformats.org/drawingml/2006/main" name="27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6.xml><?xml version="1.0" encoding="utf-8"?>
<a:theme xmlns:a="http://schemas.openxmlformats.org/drawingml/2006/main" name="28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7.xml><?xml version="1.0" encoding="utf-8"?>
<a:theme xmlns:a="http://schemas.openxmlformats.org/drawingml/2006/main" name="29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8.xml><?xml version="1.0" encoding="utf-8"?>
<a:theme xmlns:a="http://schemas.openxmlformats.org/drawingml/2006/main" name="30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19.xml><?xml version="1.0" encoding="utf-8"?>
<a:theme xmlns:a="http://schemas.openxmlformats.org/drawingml/2006/main" name="3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0.xml><?xml version="1.0" encoding="utf-8"?>
<a:theme xmlns:a="http://schemas.openxmlformats.org/drawingml/2006/main" name="32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1.xml><?xml version="1.0" encoding="utf-8"?>
<a:theme xmlns:a="http://schemas.openxmlformats.org/drawingml/2006/main" name="33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2.xml><?xml version="1.0" encoding="utf-8"?>
<a:theme xmlns:a="http://schemas.openxmlformats.org/drawingml/2006/main" name="34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3.xml><?xml version="1.0" encoding="utf-8"?>
<a:theme xmlns:a="http://schemas.openxmlformats.org/drawingml/2006/main" name="35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4.xml><?xml version="1.0" encoding="utf-8"?>
<a:theme xmlns:a="http://schemas.openxmlformats.org/drawingml/2006/main" name="36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5.xml><?xml version="1.0" encoding="utf-8"?>
<a:theme xmlns:a="http://schemas.openxmlformats.org/drawingml/2006/main" name="37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6.xml><?xml version="1.0" encoding="utf-8"?>
<a:theme xmlns:a="http://schemas.openxmlformats.org/drawingml/2006/main" name="38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7.xml><?xml version="1.0" encoding="utf-8"?>
<a:theme xmlns:a="http://schemas.openxmlformats.org/drawingml/2006/main" name="39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8.xml><?xml version="1.0" encoding="utf-8"?>
<a:theme xmlns:a="http://schemas.openxmlformats.org/drawingml/2006/main" name="40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9.xml><?xml version="1.0" encoding="utf-8"?>
<a:theme xmlns:a="http://schemas.openxmlformats.org/drawingml/2006/main" name="41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0.xml><?xml version="1.0" encoding="utf-8"?>
<a:theme xmlns:a="http://schemas.openxmlformats.org/drawingml/2006/main" name="42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1.xml><?xml version="1.0" encoding="utf-8"?>
<a:theme xmlns:a="http://schemas.openxmlformats.org/drawingml/2006/main" name="44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2.xml><?xml version="1.0" encoding="utf-8"?>
<a:theme xmlns:a="http://schemas.openxmlformats.org/drawingml/2006/main" name="54_Blank">
  <a:themeElements>
    <a:clrScheme name="Blank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Blank">
      <a:majorFont>
        <a:latin typeface="Times"/>
        <a:ea typeface=""/>
        <a:cs typeface=""/>
      </a:majorFont>
      <a:minorFont>
        <a:latin typeface="Time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" pitchFamily="84" charset="0"/>
          </a:defRPr>
        </a:defPPr>
      </a:lstStyle>
    </a:lnDef>
  </a:objectDefaults>
  <a:extraClrSchemeLst>
    <a:extraClrScheme>
      <a:clrScheme name="Blank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ank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713E39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BBAFAE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ank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3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Campbell11e_LectureDesign</Template>
  <TotalTime>6861</TotalTime>
  <Words>4560</Words>
  <Application>Microsoft Office PowerPoint</Application>
  <PresentationFormat>On-screen Show (4:3)</PresentationFormat>
  <Paragraphs>1005</Paragraphs>
  <Slides>87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32</vt:i4>
      </vt:variant>
      <vt:variant>
        <vt:lpstr>Slide Titles</vt:lpstr>
      </vt:variant>
      <vt:variant>
        <vt:i4>87</vt:i4>
      </vt:variant>
    </vt:vector>
  </HeadingPairs>
  <TitlesOfParts>
    <vt:vector size="127" baseType="lpstr">
      <vt:lpstr>MS PGothic</vt:lpstr>
      <vt:lpstr>MS PGothic</vt:lpstr>
      <vt:lpstr>Arial</vt:lpstr>
      <vt:lpstr>Geneva</vt:lpstr>
      <vt:lpstr>Times</vt:lpstr>
      <vt:lpstr>Times New Roman</vt:lpstr>
      <vt:lpstr>Wingdings</vt:lpstr>
      <vt:lpstr>ヒラギノ角ゴ Pro W3</vt:lpstr>
      <vt:lpstr>Campbell11e_LectureDesign</vt:lpstr>
      <vt:lpstr>1_Blank</vt:lpstr>
      <vt:lpstr>2_Blank</vt:lpstr>
      <vt:lpstr>3_Blank</vt:lpstr>
      <vt:lpstr>4_Blank</vt:lpstr>
      <vt:lpstr>5_Blank</vt:lpstr>
      <vt:lpstr>6_Blank</vt:lpstr>
      <vt:lpstr>7_Blank</vt:lpstr>
      <vt:lpstr>10_Blank</vt:lpstr>
      <vt:lpstr>15_Blank</vt:lpstr>
      <vt:lpstr>16_Blank</vt:lpstr>
      <vt:lpstr>19_Blank</vt:lpstr>
      <vt:lpstr>20_Blank</vt:lpstr>
      <vt:lpstr>21_Blank</vt:lpstr>
      <vt:lpstr>27_Blank</vt:lpstr>
      <vt:lpstr>28_Blank</vt:lpstr>
      <vt:lpstr>29_Blank</vt:lpstr>
      <vt:lpstr>30_Blank</vt:lpstr>
      <vt:lpstr>31_Blank</vt:lpstr>
      <vt:lpstr>32_Blank</vt:lpstr>
      <vt:lpstr>33_Blank</vt:lpstr>
      <vt:lpstr>34_Blank</vt:lpstr>
      <vt:lpstr>35_Blank</vt:lpstr>
      <vt:lpstr>36_Blank</vt:lpstr>
      <vt:lpstr>37_Blank</vt:lpstr>
      <vt:lpstr>38_Blank</vt:lpstr>
      <vt:lpstr>39_Blank</vt:lpstr>
      <vt:lpstr>40_Blank</vt:lpstr>
      <vt:lpstr>41_Blank</vt:lpstr>
      <vt:lpstr>42_Blank</vt:lpstr>
      <vt:lpstr>44_Blank</vt:lpstr>
      <vt:lpstr>54_Blank</vt:lpstr>
      <vt:lpstr>PowerPoint Presentation</vt:lpstr>
      <vt:lpstr>Recognition and Response</vt:lpstr>
      <vt:lpstr>Figure 47.1</vt:lpstr>
      <vt:lpstr>Figure 47.1a</vt:lpstr>
      <vt:lpstr>PowerPoint Presentation</vt:lpstr>
      <vt:lpstr>Figure 47.2</vt:lpstr>
      <vt:lpstr>Concept 47.1: In innate immunity, recognition and response rely on traits common to groups of pathogens</vt:lpstr>
      <vt:lpstr>Innate Immunity of Invertebrates</vt:lpstr>
      <vt:lpstr>Figure 47.3</vt:lpstr>
      <vt:lpstr>PowerPoint Presentation</vt:lpstr>
      <vt:lpstr>Figure 47.4</vt:lpstr>
      <vt:lpstr>Innate Immunity of Vertebrates</vt:lpstr>
      <vt:lpstr>Barrier Defenses</vt:lpstr>
      <vt:lpstr>Cellular Innate Defenses</vt:lpstr>
      <vt:lpstr>Figure 47.5</vt:lpstr>
      <vt:lpstr>PowerPoint Presentation</vt:lpstr>
      <vt:lpstr>PowerPoint Presentation</vt:lpstr>
      <vt:lpstr>Figure 47.6</vt:lpstr>
      <vt:lpstr>Antimicrobial Peptides and Proteins</vt:lpstr>
      <vt:lpstr>Inflammatory Response</vt:lpstr>
      <vt:lpstr>PowerPoint Presentation</vt:lpstr>
      <vt:lpstr>Figure 47.7_3</vt:lpstr>
      <vt:lpstr>PowerPoint Presentation</vt:lpstr>
      <vt:lpstr>Evasion of Innate Immunity by Pathogens</vt:lpstr>
      <vt:lpstr>Concept 47.2: In adaptive immunity, receptors provide pathogen-specific recognition</vt:lpstr>
      <vt:lpstr>PowerPoint Presentation</vt:lpstr>
      <vt:lpstr>PowerPoint Presentation</vt:lpstr>
      <vt:lpstr>Figure 47.12</vt:lpstr>
      <vt:lpstr>B Cell and T Cell Development</vt:lpstr>
      <vt:lpstr>Generation of B and T Cell Diversity</vt:lpstr>
      <vt:lpstr>PowerPoint Presentation</vt:lpstr>
      <vt:lpstr>Figure 47.13</vt:lpstr>
      <vt:lpstr>Origin of Self-Tolerance</vt:lpstr>
      <vt:lpstr>Proliferation of B Cells and T Cells</vt:lpstr>
      <vt:lpstr>PowerPoint Presentation</vt:lpstr>
      <vt:lpstr>Figure 47.14</vt:lpstr>
      <vt:lpstr>Immunological Memory</vt:lpstr>
      <vt:lpstr>Figure 47.15</vt:lpstr>
      <vt:lpstr>Concept 47.3: Adaptive immunity defends against infection of body fluids and body cells</vt:lpstr>
      <vt:lpstr>Helper T Cells: Activating Adaptive Immunity</vt:lpstr>
      <vt:lpstr>PowerPoint Presentation</vt:lpstr>
      <vt:lpstr>Figure 47.16</vt:lpstr>
      <vt:lpstr>B Cells and Antibodies: A Response to Extracellular Pathogens</vt:lpstr>
      <vt:lpstr>Activation of B Cells</vt:lpstr>
      <vt:lpstr>PowerPoint Presentation</vt:lpstr>
      <vt:lpstr>Figure 47.17_3</vt:lpstr>
      <vt:lpstr>Figure 47.17a</vt:lpstr>
      <vt:lpstr>Antibody Function</vt:lpstr>
      <vt:lpstr>Figure 47.18</vt:lpstr>
      <vt:lpstr>PowerPoint Presentation</vt:lpstr>
      <vt:lpstr>Figure 47.19</vt:lpstr>
      <vt:lpstr>Figure 47.20</vt:lpstr>
      <vt:lpstr>PowerPoint Presentation</vt:lpstr>
      <vt:lpstr>Cytotoxic T Cells: A Response to Infected Cells</vt:lpstr>
      <vt:lpstr>Figure 47.21_3</vt:lpstr>
      <vt:lpstr>Summary of the Humoral and Cell-Mediated Immune Responses</vt:lpstr>
      <vt:lpstr>Figure 47.22</vt:lpstr>
      <vt:lpstr>Figure 47.22a</vt:lpstr>
      <vt:lpstr>Figure 47.22b</vt:lpstr>
      <vt:lpstr>Immunization</vt:lpstr>
      <vt:lpstr>Figure 47.23</vt:lpstr>
      <vt:lpstr>Figure 47.23a</vt:lpstr>
      <vt:lpstr>Figure 47.23b</vt:lpstr>
      <vt:lpstr>Active and Passive Immunity</vt:lpstr>
      <vt:lpstr>PowerPoint Presentation</vt:lpstr>
      <vt:lpstr>Antibodies as Tools</vt:lpstr>
      <vt:lpstr>Figure 47.24</vt:lpstr>
      <vt:lpstr>Figure 47.24a</vt:lpstr>
      <vt:lpstr>Figure 47.24b</vt:lpstr>
      <vt:lpstr>Figure 47.24c</vt:lpstr>
      <vt:lpstr>Immune Rejection</vt:lpstr>
      <vt:lpstr>Blood Groups</vt:lpstr>
      <vt:lpstr>Concept 47.4: Disruptions in immune system function can elicit or exacerbate disease</vt:lpstr>
      <vt:lpstr>Exaggerated, Self-Directed, and Diminished Immune Responses</vt:lpstr>
      <vt:lpstr>Allergies</vt:lpstr>
      <vt:lpstr>PowerPoint Presentation</vt:lpstr>
      <vt:lpstr>Figure 47.25</vt:lpstr>
      <vt:lpstr>Autoimmune Diseases</vt:lpstr>
      <vt:lpstr>Exertion, Stress, and the Immune System</vt:lpstr>
      <vt:lpstr>Immunodeficiency Diseases</vt:lpstr>
      <vt:lpstr>Evolutionary Adaptations of Pathogens That Underlie Immune System Avoidance</vt:lpstr>
      <vt:lpstr>Antigenic Variation</vt:lpstr>
      <vt:lpstr>Latency</vt:lpstr>
      <vt:lpstr>Attack on the Immune System: HIV</vt:lpstr>
      <vt:lpstr>Figure 47.27</vt:lpstr>
      <vt:lpstr>PowerPoint Presentation</vt:lpstr>
      <vt:lpstr>Cancer and Immunity</vt:lpstr>
    </vt:vector>
  </TitlesOfParts>
  <Company>Jerome Burg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Jerome Burg</dc:creator>
  <cp:lastModifiedBy>hamzeh.abid15@gmail.com</cp:lastModifiedBy>
  <cp:revision>303</cp:revision>
  <dcterms:created xsi:type="dcterms:W3CDTF">2010-08-06T18:35:02Z</dcterms:created>
  <dcterms:modified xsi:type="dcterms:W3CDTF">2023-01-11T05:38:40Z</dcterms:modified>
</cp:coreProperties>
</file>