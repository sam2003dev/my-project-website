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-552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B313-1EF1-4EA2-B9F6-CDA49AA7A3A5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A1723-398C-4488-965A-67330B471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25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B313-1EF1-4EA2-B9F6-CDA49AA7A3A5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A1723-398C-4488-965A-67330B471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64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B313-1EF1-4EA2-B9F6-CDA49AA7A3A5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A1723-398C-4488-965A-67330B471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1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B313-1EF1-4EA2-B9F6-CDA49AA7A3A5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A1723-398C-4488-965A-67330B471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4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B313-1EF1-4EA2-B9F6-CDA49AA7A3A5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A1723-398C-4488-965A-67330B471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3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B313-1EF1-4EA2-B9F6-CDA49AA7A3A5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A1723-398C-4488-965A-67330B471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12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B313-1EF1-4EA2-B9F6-CDA49AA7A3A5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A1723-398C-4488-965A-67330B471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3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B313-1EF1-4EA2-B9F6-CDA49AA7A3A5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A1723-398C-4488-965A-67330B471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06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B313-1EF1-4EA2-B9F6-CDA49AA7A3A5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A1723-398C-4488-965A-67330B471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B313-1EF1-4EA2-B9F6-CDA49AA7A3A5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A1723-398C-4488-965A-67330B471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65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B313-1EF1-4EA2-B9F6-CDA49AA7A3A5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A1723-398C-4488-965A-67330B471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0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CB313-1EF1-4EA2-B9F6-CDA49AA7A3A5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A1723-398C-4488-965A-67330B471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5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f1ZcvAQW64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mI59qedh8I" TargetMode="External"/><Relationship Id="rId2" Type="http://schemas.openxmlformats.org/officeDocument/2006/relationships/hyperlink" Target="https://www.youtube.com/watch?v=f1ZcvAQW64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N0jftyYqM3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Lymphocytes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preferred </a:t>
            </a:r>
            <a:r>
              <a:rPr lang="en-US" dirty="0" err="1" smtClean="0"/>
              <a:t>lym</a:t>
            </a:r>
            <a:r>
              <a:rPr lang="en-US" dirty="0" smtClean="0"/>
              <a:t> donor is the spleen in rodents</a:t>
            </a:r>
            <a:endParaRPr lang="en-US" dirty="0"/>
          </a:p>
          <a:p>
            <a:r>
              <a:rPr lang="en-US" dirty="0" err="1" smtClean="0"/>
              <a:t>Approx</a:t>
            </a:r>
            <a:r>
              <a:rPr lang="en-US" dirty="0" smtClean="0"/>
              <a:t> 20% of cells are B </a:t>
            </a:r>
            <a:r>
              <a:rPr lang="en-US" dirty="0" err="1" smtClean="0"/>
              <a:t>lym</a:t>
            </a:r>
            <a:r>
              <a:rPr lang="en-US" dirty="0"/>
              <a:t> </a:t>
            </a:r>
            <a:r>
              <a:rPr lang="en-US" dirty="0" smtClean="0"/>
              <a:t>and no more 10</a:t>
            </a:r>
            <a:r>
              <a:rPr lang="en-US" baseline="30000" dirty="0" smtClean="0"/>
              <a:t>5</a:t>
            </a:r>
            <a:r>
              <a:rPr lang="en-US" dirty="0" smtClean="0"/>
              <a:t> of these are likely to secrete specific antibody.</a:t>
            </a:r>
          </a:p>
          <a:p>
            <a:r>
              <a:rPr lang="en-US" dirty="0" smtClean="0"/>
              <a:t>Obtaining enough specific </a:t>
            </a:r>
            <a:r>
              <a:rPr lang="en-US" dirty="0" err="1" smtClean="0"/>
              <a:t>hybridoma</a:t>
            </a:r>
            <a:r>
              <a:rPr lang="en-US" dirty="0" smtClean="0"/>
              <a:t> from this pool is not usually a problem despite  low fusion frequency (1:10</a:t>
            </a:r>
            <a:r>
              <a:rPr lang="en-US" baseline="30000" dirty="0" smtClean="0"/>
              <a:t>6</a:t>
            </a:r>
            <a:r>
              <a:rPr lang="en-US" dirty="0" smtClean="0"/>
              <a:t>).</a:t>
            </a:r>
          </a:p>
          <a:p>
            <a:r>
              <a:rPr lang="en-US" dirty="0" smtClean="0"/>
              <a:t>Enriching the specific B </a:t>
            </a:r>
            <a:r>
              <a:rPr lang="en-US" dirty="0" err="1" smtClean="0"/>
              <a:t>lym</a:t>
            </a:r>
            <a:r>
              <a:rPr lang="en-US" dirty="0" smtClean="0"/>
              <a:t> population prior to fusion  would be useful.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504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Spleen cells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840" y="129730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There are several commonly used methods for preparing single cell suspension from spleen.</a:t>
            </a:r>
          </a:p>
          <a:p>
            <a:pPr marL="514350" indent="-514350">
              <a:buAutoNum type="alphaLcPeriod"/>
            </a:pPr>
            <a:r>
              <a:rPr lang="en-US" dirty="0" smtClean="0"/>
              <a:t>Pressing tissue through a fine mesh strainer </a:t>
            </a:r>
          </a:p>
          <a:p>
            <a:pPr marL="514350" indent="-514350">
              <a:buAutoNum type="alphaLcPeriod"/>
            </a:pPr>
            <a:r>
              <a:rPr lang="en-US" dirty="0" smtClean="0"/>
              <a:t>Dispersion of cells by fine jets of media by different needle sizes</a:t>
            </a:r>
          </a:p>
          <a:p>
            <a:pPr marL="514350" indent="-514350">
              <a:buAutoNum type="alphaLcPeriod"/>
            </a:pPr>
            <a:r>
              <a:rPr lang="en-US" dirty="0" smtClean="0"/>
              <a:t>Dispersion of cells between 2 frosted slides</a:t>
            </a:r>
          </a:p>
          <a:p>
            <a:pPr marL="514350" indent="-514350">
              <a:buAutoNum type="alphaLcPeriod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One mouse spleen yields about 5 x 10</a:t>
            </a:r>
            <a:r>
              <a:rPr lang="en-US" baseline="30000" dirty="0" smtClean="0"/>
              <a:t>7</a:t>
            </a:r>
            <a:r>
              <a:rPr lang="en-US" b="1" dirty="0" smtClean="0"/>
              <a:t>-</a:t>
            </a:r>
            <a:r>
              <a:rPr lang="en-US" dirty="0" smtClean="0"/>
              <a:t> 2 x 10</a:t>
            </a:r>
            <a:r>
              <a:rPr lang="en-US" baseline="30000" dirty="0" smtClean="0"/>
              <a:t>8</a:t>
            </a:r>
            <a:r>
              <a:rPr lang="en-US" dirty="0" smtClean="0"/>
              <a:t> cells.</a:t>
            </a:r>
            <a:r>
              <a:rPr lang="en-US" dirty="0">
                <a:hlinkClick r:id="rId2"/>
              </a:rPr>
              <a:t> </a:t>
            </a:r>
            <a:endParaRPr lang="en-US" dirty="0" smtClean="0">
              <a:hlinkClick r:id="rId2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443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55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Preparation of single cell suspension from spleen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Clean dissection stage with 70% ethanol.</a:t>
            </a:r>
          </a:p>
          <a:p>
            <a:r>
              <a:rPr lang="en-US" dirty="0"/>
              <a:t>Add ethanol to the beaker and place ends of scissors and forceps into the beaker to sterilize.</a:t>
            </a:r>
          </a:p>
          <a:p>
            <a:r>
              <a:rPr lang="en-US" dirty="0"/>
              <a:t>Add 8-10mL of DMEM-10 to the petri dish.</a:t>
            </a:r>
          </a:p>
          <a:p>
            <a:r>
              <a:rPr lang="en-US" dirty="0"/>
              <a:t>Place the cell strainer into the dish with the DMEM-10.</a:t>
            </a:r>
          </a:p>
          <a:p>
            <a:r>
              <a:rPr lang="en-US" dirty="0"/>
              <a:t>Procedure</a:t>
            </a:r>
          </a:p>
          <a:p>
            <a:r>
              <a:rPr lang="en-US" dirty="0"/>
              <a:t>Wet fur on left side of sacrificed mouse using 70% ethanol.</a:t>
            </a:r>
          </a:p>
          <a:p>
            <a:r>
              <a:rPr lang="en-US" dirty="0"/>
              <a:t>Cut out the spleen.</a:t>
            </a:r>
          </a:p>
          <a:p>
            <a:pPr lvl="1"/>
            <a:r>
              <a:rPr lang="en-US" dirty="0"/>
              <a:t>Cut away the fur along the left side of the mouse, about half-way between the front and back legs.</a:t>
            </a:r>
          </a:p>
          <a:p>
            <a:pPr lvl="1"/>
            <a:r>
              <a:rPr lang="en-US" dirty="0"/>
              <a:t>Cut open the body cavity.</a:t>
            </a:r>
          </a:p>
          <a:p>
            <a:pPr lvl="1"/>
            <a:r>
              <a:rPr lang="en-US" dirty="0"/>
              <a:t>Remove the spleen using the forceps (the spleen is the color of a kidney bean; it is longer and flatter than the kidney).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88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Place the spleen into the cell strainer. Using the plunger end of the syringe, mash the spleen through the cell strainer into the petri dish.</a:t>
            </a:r>
          </a:p>
          <a:p>
            <a:r>
              <a:rPr lang="en-US" dirty="0"/>
              <a:t>Rinse the cell strainer with 5mL DMEM-10. Discard the strainer.</a:t>
            </a:r>
          </a:p>
          <a:p>
            <a:r>
              <a:rPr lang="en-US" dirty="0"/>
              <a:t>Transfer the suspended cells to a 15mL conical.</a:t>
            </a:r>
          </a:p>
          <a:p>
            <a:r>
              <a:rPr lang="en-US" dirty="0"/>
              <a:t>Spin cells at 800xg for 3 minutes.</a:t>
            </a:r>
          </a:p>
          <a:p>
            <a:r>
              <a:rPr lang="en-US" dirty="0"/>
              <a:t>Discard supernatant and </a:t>
            </a:r>
            <a:r>
              <a:rPr lang="en-US" dirty="0" err="1"/>
              <a:t>resuspend</a:t>
            </a:r>
            <a:r>
              <a:rPr lang="en-US" dirty="0"/>
              <a:t> pellet in 1mL </a:t>
            </a:r>
            <a:r>
              <a:rPr lang="en-US" dirty="0" smtClean="0"/>
              <a:t>ammonium chloride </a:t>
            </a:r>
            <a:r>
              <a:rPr lang="en-US" smtClean="0"/>
              <a:t>lysis buffer. </a:t>
            </a:r>
            <a:r>
              <a:rPr lang="en-US" dirty="0"/>
              <a:t>Incubate at RT for 5-10 minutes. Add 9mL DMEM-10 and spin as before.</a:t>
            </a:r>
          </a:p>
          <a:p>
            <a:r>
              <a:rPr lang="en-US" dirty="0"/>
              <a:t>Discard supernatant and </a:t>
            </a:r>
            <a:r>
              <a:rPr lang="en-US" dirty="0" err="1"/>
              <a:t>resuspend</a:t>
            </a:r>
            <a:r>
              <a:rPr lang="en-US" dirty="0"/>
              <a:t> pellet in 3mL DMEM-10, discarding any dead cell mass.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87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  <a:hlinkClick r:id="rId2"/>
              </a:rPr>
              <a:t>Harvesting mouse spleen cells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hlinkClick r:id="rId2"/>
              </a:rPr>
              <a:t>https</a:t>
            </a:r>
            <a:r>
              <a:rPr lang="en-US" b="1" dirty="0">
                <a:solidFill>
                  <a:srgbClr val="FF0000"/>
                </a:solidFill>
                <a:hlinkClick r:id="rId2"/>
              </a:rPr>
              <a:t>://www.google.com/</a:t>
            </a:r>
            <a:r>
              <a:rPr lang="en-US" b="1" dirty="0" err="1">
                <a:solidFill>
                  <a:srgbClr val="FF0000"/>
                </a:solidFill>
                <a:hlinkClick r:id="rId2"/>
              </a:rPr>
              <a:t>search?q</a:t>
            </a:r>
            <a:r>
              <a:rPr lang="en-US" b="1" dirty="0">
                <a:solidFill>
                  <a:srgbClr val="FF0000"/>
                </a:solidFill>
                <a:hlinkClick r:id="rId2"/>
              </a:rPr>
              <a:t>=</a:t>
            </a:r>
            <a:r>
              <a:rPr lang="en-US" b="1" dirty="0" err="1">
                <a:solidFill>
                  <a:srgbClr val="FF0000"/>
                </a:solidFill>
                <a:hlinkClick r:id="rId2"/>
              </a:rPr>
              <a:t>removal+of+mouse+splean&amp;oq</a:t>
            </a:r>
            <a:r>
              <a:rPr lang="en-US" b="1" dirty="0">
                <a:solidFill>
                  <a:srgbClr val="FF0000"/>
                </a:solidFill>
                <a:hlinkClick r:id="rId2"/>
              </a:rPr>
              <a:t>=</a:t>
            </a:r>
            <a:r>
              <a:rPr lang="en-US" b="1" dirty="0" err="1">
                <a:solidFill>
                  <a:srgbClr val="FF0000"/>
                </a:solidFill>
                <a:hlinkClick r:id="rId2"/>
              </a:rPr>
              <a:t>removal+of+mouse+splean&amp;aqs</a:t>
            </a:r>
            <a:r>
              <a:rPr lang="en-US" b="1" dirty="0">
                <a:solidFill>
                  <a:srgbClr val="FF0000"/>
                </a:solidFill>
                <a:hlinkClick r:id="rId2"/>
              </a:rPr>
              <a:t>=chrome..69i57j33i10i160.18865j1j15&amp;sourceid=</a:t>
            </a:r>
            <a:r>
              <a:rPr lang="en-US" b="1" dirty="0" err="1">
                <a:solidFill>
                  <a:srgbClr val="FF0000"/>
                </a:solidFill>
                <a:hlinkClick r:id="rId2"/>
              </a:rPr>
              <a:t>chrome&amp;ie</a:t>
            </a:r>
            <a:r>
              <a:rPr lang="en-US" b="1" dirty="0">
                <a:solidFill>
                  <a:srgbClr val="FF0000"/>
                </a:solidFill>
                <a:hlinkClick r:id="rId2"/>
              </a:rPr>
              <a:t>=UTF-8#kpvalbx=_</a:t>
            </a:r>
            <a:r>
              <a:rPr lang="en-US" b="1" dirty="0" smtClean="0">
                <a:solidFill>
                  <a:srgbClr val="FF0000"/>
                </a:solidFill>
                <a:hlinkClick r:id="rId2"/>
              </a:rPr>
              <a:t>bKS_X-32Br2F1fAP0-mM-Ak11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hlinkClick r:id="rId2"/>
            </a:endParaRPr>
          </a:p>
          <a:p>
            <a:r>
              <a:rPr lang="en-US" dirty="0" smtClean="0">
                <a:solidFill>
                  <a:srgbClr val="FF0000"/>
                </a:solidFill>
                <a:hlinkClick r:id="rId2"/>
              </a:rPr>
              <a:t>Using Frosted microscopic slides and syringe with different size needles</a:t>
            </a:r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www.youtube.com/watch?v=f1ZcvAQW64E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  <a:hlinkClick r:id="rId3"/>
              </a:rPr>
              <a:t>Using sterile selector</a:t>
            </a:r>
          </a:p>
          <a:p>
            <a:pPr marL="0" indent="0">
              <a:buNone/>
            </a:pP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www.youtube.com/watch?v=JmI59qedh8I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  <a:hlinkClick r:id="rId4"/>
              </a:rPr>
              <a:t>Using mesh strainer</a:t>
            </a:r>
            <a:endParaRPr lang="en-US" dirty="0">
              <a:solidFill>
                <a:srgbClr val="FF0000"/>
              </a:solidFill>
              <a:hlinkClick r:id="rId4"/>
            </a:endParaRPr>
          </a:p>
          <a:p>
            <a:pPr marL="0" indent="0">
              <a:buNone/>
            </a:pPr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://www.youtube.com/watch?v=N0jftyYqM38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068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378</Words>
  <Application>Microsoft Office PowerPoint</Application>
  <PresentationFormat>مخصص</PresentationFormat>
  <Paragraphs>40</Paragraphs>
  <Slides>5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5</vt:i4>
      </vt:variant>
    </vt:vector>
  </HeadingPairs>
  <TitlesOfParts>
    <vt:vector size="6" baseType="lpstr">
      <vt:lpstr>Office Theme</vt:lpstr>
      <vt:lpstr>Lymphocytes</vt:lpstr>
      <vt:lpstr>Spleen cells</vt:lpstr>
      <vt:lpstr>Preparation of single cell suspension from spleen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Lymphocytes</dc:title>
  <dc:creator>Dell</dc:creator>
  <cp:lastModifiedBy>user</cp:lastModifiedBy>
  <cp:revision>11</cp:revision>
  <dcterms:created xsi:type="dcterms:W3CDTF">2020-01-22T08:15:44Z</dcterms:created>
  <dcterms:modified xsi:type="dcterms:W3CDTF">2021-02-20T08:50:22Z</dcterms:modified>
</cp:coreProperties>
</file>