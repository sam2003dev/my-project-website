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5"/>
  </p:notesMasterIdLst>
  <p:sldIdLst>
    <p:sldId id="316" r:id="rId2"/>
    <p:sldId id="256" r:id="rId3"/>
    <p:sldId id="307" r:id="rId4"/>
    <p:sldId id="329" r:id="rId5"/>
    <p:sldId id="340" r:id="rId6"/>
    <p:sldId id="327" r:id="rId7"/>
    <p:sldId id="322" r:id="rId8"/>
    <p:sldId id="342" r:id="rId9"/>
    <p:sldId id="310" r:id="rId10"/>
    <p:sldId id="331" r:id="rId11"/>
    <p:sldId id="339" r:id="rId12"/>
    <p:sldId id="330" r:id="rId13"/>
    <p:sldId id="323" r:id="rId14"/>
    <p:sldId id="301" r:id="rId15"/>
    <p:sldId id="319" r:id="rId16"/>
    <p:sldId id="328" r:id="rId17"/>
    <p:sldId id="257" r:id="rId18"/>
    <p:sldId id="258" r:id="rId19"/>
    <p:sldId id="259" r:id="rId20"/>
    <p:sldId id="306" r:id="rId21"/>
    <p:sldId id="261" r:id="rId22"/>
    <p:sldId id="260" r:id="rId23"/>
    <p:sldId id="332" r:id="rId24"/>
    <p:sldId id="262" r:id="rId25"/>
    <p:sldId id="333" r:id="rId26"/>
    <p:sldId id="279" r:id="rId27"/>
    <p:sldId id="263" r:id="rId28"/>
    <p:sldId id="264" r:id="rId29"/>
    <p:sldId id="345" r:id="rId30"/>
    <p:sldId id="280" r:id="rId31"/>
    <p:sldId id="265" r:id="rId32"/>
    <p:sldId id="288" r:id="rId33"/>
    <p:sldId id="344" r:id="rId34"/>
    <p:sldId id="287" r:id="rId35"/>
    <p:sldId id="281" r:id="rId36"/>
    <p:sldId id="289" r:id="rId37"/>
    <p:sldId id="290" r:id="rId38"/>
    <p:sldId id="291" r:id="rId39"/>
    <p:sldId id="293" r:id="rId40"/>
    <p:sldId id="295" r:id="rId41"/>
    <p:sldId id="266" r:id="rId42"/>
    <p:sldId id="337" r:id="rId43"/>
    <p:sldId id="267" r:id="rId44"/>
    <p:sldId id="268" r:id="rId45"/>
    <p:sldId id="269" r:id="rId46"/>
    <p:sldId id="300" r:id="rId47"/>
    <p:sldId id="270" r:id="rId48"/>
    <p:sldId id="271" r:id="rId49"/>
    <p:sldId id="272" r:id="rId50"/>
    <p:sldId id="299" r:id="rId51"/>
    <p:sldId id="273" r:id="rId52"/>
    <p:sldId id="285" r:id="rId53"/>
    <p:sldId id="274" r:id="rId54"/>
    <p:sldId id="335" r:id="rId55"/>
    <p:sldId id="320" r:id="rId56"/>
    <p:sldId id="321" r:id="rId57"/>
    <p:sldId id="334" r:id="rId58"/>
    <p:sldId id="336" r:id="rId59"/>
    <p:sldId id="275" r:id="rId60"/>
    <p:sldId id="343" r:id="rId61"/>
    <p:sldId id="277" r:id="rId62"/>
    <p:sldId id="276" r:id="rId63"/>
    <p:sldId id="338"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3" d="100"/>
          <a:sy n="63" d="100"/>
        </p:scale>
        <p:origin x="-912" y="-9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C5327C-2708-4A7C-B513-61AABDD27238}" type="datetimeFigureOut">
              <a:rPr lang="en-US" smtClean="0"/>
              <a:t>2/20/2021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437E5C-E839-4FA7-B748-3181E1ECB3F3}" type="slidenum">
              <a:rPr lang="en-US" smtClean="0"/>
              <a:t>‹#›</a:t>
            </a:fld>
            <a:endParaRPr lang="en-US"/>
          </a:p>
        </p:txBody>
      </p:sp>
    </p:spTree>
    <p:extLst>
      <p:ext uri="{BB962C8B-B14F-4D97-AF65-F5344CB8AC3E}">
        <p14:creationId xmlns:p14="http://schemas.microsoft.com/office/powerpoint/2010/main" val="4726622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fld id="{3B9B95D1-E37C-409B-91E6-8AC3243FFC1E}" type="slidenum">
              <a:rPr lang="en-US" altLang="en-US"/>
              <a:pPr/>
              <a:t>8</a:t>
            </a:fld>
            <a:endParaRPr lang="en-US" altLang="en-US"/>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32493247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E437E5C-E839-4FA7-B748-3181E1ECB3F3}" type="slidenum">
              <a:rPr lang="en-US" smtClean="0"/>
              <a:t>24</a:t>
            </a:fld>
            <a:endParaRPr lang="en-US"/>
          </a:p>
        </p:txBody>
      </p:sp>
    </p:spTree>
    <p:extLst>
      <p:ext uri="{BB962C8B-B14F-4D97-AF65-F5344CB8AC3E}">
        <p14:creationId xmlns:p14="http://schemas.microsoft.com/office/powerpoint/2010/main" val="32298258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239BFCB-7E97-43EA-B40C-2D5FC0A9CAA2}" type="datetimeFigureOut">
              <a:rPr lang="en-US" smtClean="0"/>
              <a:t>2/20/2021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C67283-197F-4C0E-B9F7-83D563B8EAB2}" type="slidenum">
              <a:rPr lang="en-US" smtClean="0"/>
              <a:t>‹#›</a:t>
            </a:fld>
            <a:endParaRPr lang="en-US"/>
          </a:p>
        </p:txBody>
      </p:sp>
    </p:spTree>
    <p:extLst>
      <p:ext uri="{BB962C8B-B14F-4D97-AF65-F5344CB8AC3E}">
        <p14:creationId xmlns:p14="http://schemas.microsoft.com/office/powerpoint/2010/main" val="670205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239BFCB-7E97-43EA-B40C-2D5FC0A9CAA2}" type="datetimeFigureOut">
              <a:rPr lang="en-US" smtClean="0"/>
              <a:t>2/20/2021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C67283-197F-4C0E-B9F7-83D563B8EAB2}" type="slidenum">
              <a:rPr lang="en-US" smtClean="0"/>
              <a:t>‹#›</a:t>
            </a:fld>
            <a:endParaRPr lang="en-US"/>
          </a:p>
        </p:txBody>
      </p:sp>
    </p:spTree>
    <p:extLst>
      <p:ext uri="{BB962C8B-B14F-4D97-AF65-F5344CB8AC3E}">
        <p14:creationId xmlns:p14="http://schemas.microsoft.com/office/powerpoint/2010/main" val="31710599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239BFCB-7E97-43EA-B40C-2D5FC0A9CAA2}" type="datetimeFigureOut">
              <a:rPr lang="en-US" smtClean="0"/>
              <a:t>2/20/2021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C67283-197F-4C0E-B9F7-83D563B8EAB2}" type="slidenum">
              <a:rPr lang="en-US" smtClean="0"/>
              <a:t>‹#›</a:t>
            </a:fld>
            <a:endParaRPr lang="en-US"/>
          </a:p>
        </p:txBody>
      </p:sp>
    </p:spTree>
    <p:extLst>
      <p:ext uri="{BB962C8B-B14F-4D97-AF65-F5344CB8AC3E}">
        <p14:creationId xmlns:p14="http://schemas.microsoft.com/office/powerpoint/2010/main" val="17797694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239BFCB-7E97-43EA-B40C-2D5FC0A9CAA2}" type="datetimeFigureOut">
              <a:rPr lang="en-US" smtClean="0"/>
              <a:t>2/20/2021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BC67283-197F-4C0E-B9F7-83D563B8EAB2}" type="slidenum">
              <a:rPr lang="en-US" smtClean="0"/>
              <a:t>‹#›</a:t>
            </a:fld>
            <a:endParaRPr lang="en-US"/>
          </a:p>
        </p:txBody>
      </p:sp>
    </p:spTree>
    <p:extLst>
      <p:ext uri="{BB962C8B-B14F-4D97-AF65-F5344CB8AC3E}">
        <p14:creationId xmlns:p14="http://schemas.microsoft.com/office/powerpoint/2010/main" val="27071845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239BFCB-7E97-43EA-B40C-2D5FC0A9CAA2}" type="datetimeFigureOut">
              <a:rPr lang="en-US" smtClean="0"/>
              <a:t>2/20/2021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BC67283-197F-4C0E-B9F7-83D563B8EAB2}" type="slidenum">
              <a:rPr lang="en-US" smtClean="0"/>
              <a:t>‹#›</a:t>
            </a:fld>
            <a:endParaRPr lang="en-US"/>
          </a:p>
        </p:txBody>
      </p:sp>
    </p:spTree>
    <p:extLst>
      <p:ext uri="{BB962C8B-B14F-4D97-AF65-F5344CB8AC3E}">
        <p14:creationId xmlns:p14="http://schemas.microsoft.com/office/powerpoint/2010/main" val="14148208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239BFCB-7E97-43EA-B40C-2D5FC0A9CAA2}" type="datetimeFigureOut">
              <a:rPr lang="en-US" smtClean="0"/>
              <a:t>2/20/2021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BC67283-197F-4C0E-B9F7-83D563B8EAB2}" type="slidenum">
              <a:rPr lang="en-US" smtClean="0"/>
              <a:t>‹#›</a:t>
            </a:fld>
            <a:endParaRPr lang="en-US"/>
          </a:p>
        </p:txBody>
      </p:sp>
    </p:spTree>
    <p:extLst>
      <p:ext uri="{BB962C8B-B14F-4D97-AF65-F5344CB8AC3E}">
        <p14:creationId xmlns:p14="http://schemas.microsoft.com/office/powerpoint/2010/main" val="37570975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239BFCB-7E97-43EA-B40C-2D5FC0A9CAA2}" type="datetimeFigureOut">
              <a:rPr lang="en-US" smtClean="0"/>
              <a:t>2/20/2021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BC67283-197F-4C0E-B9F7-83D563B8EAB2}" type="slidenum">
              <a:rPr lang="en-US" smtClean="0"/>
              <a:t>‹#›</a:t>
            </a:fld>
            <a:endParaRPr lang="en-US"/>
          </a:p>
        </p:txBody>
      </p:sp>
    </p:spTree>
    <p:extLst>
      <p:ext uri="{BB962C8B-B14F-4D97-AF65-F5344CB8AC3E}">
        <p14:creationId xmlns:p14="http://schemas.microsoft.com/office/powerpoint/2010/main" val="745898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239BFCB-7E97-43EA-B40C-2D5FC0A9CAA2}" type="datetimeFigureOut">
              <a:rPr lang="en-US" smtClean="0"/>
              <a:t>2/20/2021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BC67283-197F-4C0E-B9F7-83D563B8EAB2}" type="slidenum">
              <a:rPr lang="en-US" smtClean="0"/>
              <a:t>‹#›</a:t>
            </a:fld>
            <a:endParaRPr lang="en-US"/>
          </a:p>
        </p:txBody>
      </p:sp>
    </p:spTree>
    <p:extLst>
      <p:ext uri="{BB962C8B-B14F-4D97-AF65-F5344CB8AC3E}">
        <p14:creationId xmlns:p14="http://schemas.microsoft.com/office/powerpoint/2010/main" val="18408545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239BFCB-7E97-43EA-B40C-2D5FC0A9CAA2}" type="datetimeFigureOut">
              <a:rPr lang="en-US" smtClean="0"/>
              <a:t>2/20/2021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BC67283-197F-4C0E-B9F7-83D563B8EAB2}" type="slidenum">
              <a:rPr lang="en-US" smtClean="0"/>
              <a:t>‹#›</a:t>
            </a:fld>
            <a:endParaRPr lang="en-US"/>
          </a:p>
        </p:txBody>
      </p:sp>
    </p:spTree>
    <p:extLst>
      <p:ext uri="{BB962C8B-B14F-4D97-AF65-F5344CB8AC3E}">
        <p14:creationId xmlns:p14="http://schemas.microsoft.com/office/powerpoint/2010/main" val="219550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239BFCB-7E97-43EA-B40C-2D5FC0A9CAA2}" type="datetimeFigureOut">
              <a:rPr lang="en-US" smtClean="0"/>
              <a:t>2/20/2021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C67283-197F-4C0E-B9F7-83D563B8EAB2}" type="slidenum">
              <a:rPr lang="en-US" smtClean="0"/>
              <a:t>‹#›</a:t>
            </a:fld>
            <a:endParaRPr lang="en-US"/>
          </a:p>
        </p:txBody>
      </p:sp>
    </p:spTree>
    <p:extLst>
      <p:ext uri="{BB962C8B-B14F-4D97-AF65-F5344CB8AC3E}">
        <p14:creationId xmlns:p14="http://schemas.microsoft.com/office/powerpoint/2010/main" val="30846705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239BFCB-7E97-43EA-B40C-2D5FC0A9CAA2}" type="datetimeFigureOut">
              <a:rPr lang="en-US" smtClean="0"/>
              <a:t>2/20/2021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C67283-197F-4C0E-B9F7-83D563B8EAB2}" type="slidenum">
              <a:rPr lang="en-US" smtClean="0"/>
              <a:t>‹#›</a:t>
            </a:fld>
            <a:endParaRPr lang="en-US"/>
          </a:p>
        </p:txBody>
      </p:sp>
    </p:spTree>
    <p:extLst>
      <p:ext uri="{BB962C8B-B14F-4D97-AF65-F5344CB8AC3E}">
        <p14:creationId xmlns:p14="http://schemas.microsoft.com/office/powerpoint/2010/main" val="3002855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39BFCB-7E97-43EA-B40C-2D5FC0A9CAA2}" type="datetimeFigureOut">
              <a:rPr lang="en-US" smtClean="0"/>
              <a:t>2/20/2021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C67283-197F-4C0E-B9F7-83D563B8EAB2}" type="slidenum">
              <a:rPr lang="en-US" smtClean="0"/>
              <a:t>‹#›</a:t>
            </a:fld>
            <a:endParaRPr lang="en-US"/>
          </a:p>
        </p:txBody>
      </p:sp>
    </p:spTree>
    <p:extLst>
      <p:ext uri="{BB962C8B-B14F-4D97-AF65-F5344CB8AC3E}">
        <p14:creationId xmlns:p14="http://schemas.microsoft.com/office/powerpoint/2010/main" val="35997971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hyperlink" Target="https://www.youtube.com/watch?v=CMRKKl9XSDU" TargetMode="External"/><Relationship Id="rId2" Type="http://schemas.openxmlformats.org/officeDocument/2006/relationships/hyperlink" Target="https://www.youtube.com/watch?v=nr1tV_LuqJk"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1506" name="Picture 2" descr="Introduction&#10;to Animal Tissue culture&#10; "/>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55600" y="0"/>
            <a:ext cx="9367520" cy="63192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7749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838200" y="294640"/>
            <a:ext cx="10515600" cy="90807"/>
          </a:xfrm>
        </p:spPr>
        <p:txBody>
          <a:bodyPr>
            <a:normAutofit fontScale="90000"/>
          </a:bodyPr>
          <a:lstStyle/>
          <a:p>
            <a:endParaRPr lang="en-US" sz="2800" b="1" dirty="0">
              <a:solidFill>
                <a:srgbClr val="FF0000"/>
              </a:solidFill>
            </a:endParaRPr>
          </a:p>
        </p:txBody>
      </p:sp>
      <p:sp>
        <p:nvSpPr>
          <p:cNvPr id="3" name="Content Placeholder 2"/>
          <p:cNvSpPr>
            <a:spLocks noGrp="1"/>
          </p:cNvSpPr>
          <p:nvPr>
            <p:ph idx="1"/>
          </p:nvPr>
        </p:nvSpPr>
        <p:spPr>
          <a:xfrm>
            <a:off x="838200" y="773084"/>
            <a:ext cx="10515600" cy="5403879"/>
          </a:xfrm>
        </p:spPr>
        <p:txBody>
          <a:bodyPr>
            <a:normAutofit fontScale="92500" lnSpcReduction="10000"/>
          </a:bodyPr>
          <a:lstStyle/>
          <a:p>
            <a:pPr marL="0" indent="0">
              <a:buNone/>
            </a:pPr>
            <a:r>
              <a:rPr lang="en-US" sz="3400" b="1" dirty="0" smtClean="0">
                <a:solidFill>
                  <a:srgbClr val="C00000"/>
                </a:solidFill>
              </a:rPr>
              <a:t>Cell culture</a:t>
            </a:r>
          </a:p>
          <a:p>
            <a:endParaRPr lang="en-US" dirty="0" smtClean="0"/>
          </a:p>
          <a:p>
            <a:r>
              <a:rPr lang="en-US" dirty="0" smtClean="0"/>
              <a:t>refers to the removal of cells from an animal or plant and their subsequent growth in a favorable artificial environment.</a:t>
            </a:r>
          </a:p>
          <a:p>
            <a:pPr marL="0" indent="0">
              <a:buNone/>
            </a:pPr>
            <a:endParaRPr lang="en-US" dirty="0" smtClean="0"/>
          </a:p>
          <a:p>
            <a:r>
              <a:rPr lang="en-US" dirty="0" smtClean="0"/>
              <a:t>The cells may be removed from the tissue directly and disaggregated by enzymatic or mechanical means before cultivation, or they may be derived from a cell line or cell strain that has already been established. </a:t>
            </a:r>
          </a:p>
          <a:p>
            <a:r>
              <a:rPr lang="en-US" altLang="en-US" dirty="0"/>
              <a:t>Different types of cell grown in culture includes connective tissue elements such as fibroblasts, skeletal tissue, cardiac, epithelial tissue (liver, breast, skin, kidney) and many different types of tumor cells.</a:t>
            </a:r>
          </a:p>
          <a:p>
            <a:endParaRPr lang="en-US" dirty="0" smtClean="0"/>
          </a:p>
          <a:p>
            <a:pPr marL="0" indent="0">
              <a:buNone/>
            </a:pPr>
            <a:r>
              <a:rPr lang="en-US" dirty="0" smtClean="0"/>
              <a:t> </a:t>
            </a:r>
          </a:p>
          <a:p>
            <a:pPr marL="0" indent="0">
              <a:buNone/>
            </a:pPr>
            <a:endParaRPr lang="en-US" dirty="0" smtClean="0"/>
          </a:p>
          <a:p>
            <a:endParaRPr lang="en-US" dirty="0"/>
          </a:p>
        </p:txBody>
      </p:sp>
    </p:spTree>
    <p:extLst>
      <p:ext uri="{BB962C8B-B14F-4D97-AF65-F5344CB8AC3E}">
        <p14:creationId xmlns:p14="http://schemas.microsoft.com/office/powerpoint/2010/main" val="24038533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2290" name="Picture 2" descr="ANIMAL CELL CULTURE&#10;Common cell lines&#10;Human cell lines:&#10; MCF-7 (breastcancer)&#10; HL 60 (Leukemia)&#10; HeLa (Human cervical c..."/>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62000" y="-528320"/>
            <a:ext cx="12557760" cy="74879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06602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54965"/>
            <a:ext cx="10515600" cy="1325563"/>
          </a:xfrm>
        </p:spPr>
        <p:txBody>
          <a:bodyPr/>
          <a:lstStyle/>
          <a:p>
            <a:r>
              <a:rPr lang="en-US" b="1" dirty="0"/>
              <a:t>Primary Culture </a:t>
            </a:r>
            <a:br>
              <a:rPr lang="en-US" b="1" dirty="0"/>
            </a:br>
            <a:endParaRPr lang="en-US" dirty="0"/>
          </a:p>
        </p:txBody>
      </p:sp>
      <p:sp>
        <p:nvSpPr>
          <p:cNvPr id="3" name="Content Placeholder 2"/>
          <p:cNvSpPr>
            <a:spLocks noGrp="1"/>
          </p:cNvSpPr>
          <p:nvPr>
            <p:ph idx="1"/>
          </p:nvPr>
        </p:nvSpPr>
        <p:spPr>
          <a:xfrm>
            <a:off x="695960" y="1310640"/>
            <a:ext cx="10515600" cy="4978083"/>
          </a:xfrm>
        </p:spPr>
        <p:txBody>
          <a:bodyPr>
            <a:normAutofit lnSpcReduction="10000"/>
          </a:bodyPr>
          <a:lstStyle/>
          <a:p>
            <a:r>
              <a:rPr lang="en-US" dirty="0" smtClean="0"/>
              <a:t>Primary </a:t>
            </a:r>
            <a:r>
              <a:rPr lang="en-US" dirty="0"/>
              <a:t>culture refers to the stage of the culture after the cells are isolated from the parental tissue and proliferated under the appropriate conditions until they occupy all of the available substrate (i.e., reach confluence). At this stage, the cells have to be </a:t>
            </a:r>
            <a:r>
              <a:rPr lang="en-US" dirty="0" err="1"/>
              <a:t>subcultured</a:t>
            </a:r>
            <a:r>
              <a:rPr lang="en-US" dirty="0"/>
              <a:t> (i.e., passaged) by transferring them to a new vessel with fresh growth medium to provide more room for continued growth.</a:t>
            </a:r>
          </a:p>
          <a:p>
            <a:r>
              <a:rPr lang="en-US" dirty="0"/>
              <a:t>Primary culture is the result of dissociation of cells from parental  tissue cells through enzymatic mainly trypsin or mechanical measures and maintain growth of the cells in suitable conditions.   </a:t>
            </a:r>
          </a:p>
          <a:p>
            <a:r>
              <a:rPr lang="en-US" dirty="0"/>
              <a:t>Such cultures comprise </a:t>
            </a:r>
            <a:r>
              <a:rPr lang="en-US" dirty="0" smtClean="0"/>
              <a:t>mostly </a:t>
            </a:r>
            <a:r>
              <a:rPr lang="en-US" dirty="0"/>
              <a:t>heterogeneous cells and most of the cells divide for a limited time</a:t>
            </a:r>
          </a:p>
          <a:p>
            <a:r>
              <a:rPr lang="en-US" dirty="0"/>
              <a:t>These cells </a:t>
            </a:r>
            <a:r>
              <a:rPr lang="en-US" dirty="0" smtClean="0"/>
              <a:t> are similar </a:t>
            </a:r>
            <a:r>
              <a:rPr lang="en-US" dirty="0"/>
              <a:t>to their parents</a:t>
            </a:r>
          </a:p>
          <a:p>
            <a:endParaRPr lang="en-US" dirty="0"/>
          </a:p>
        </p:txBody>
      </p:sp>
    </p:spTree>
    <p:extLst>
      <p:ext uri="{BB962C8B-B14F-4D97-AF65-F5344CB8AC3E}">
        <p14:creationId xmlns:p14="http://schemas.microsoft.com/office/powerpoint/2010/main" val="26421170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altLang="en-US" dirty="0" smtClean="0"/>
              <a:t>Primary </a:t>
            </a:r>
            <a:r>
              <a:rPr lang="en-US" altLang="en-US" dirty="0"/>
              <a:t>cells have a finite life span</a:t>
            </a:r>
          </a:p>
          <a:p>
            <a:r>
              <a:rPr lang="en-US" altLang="en-US" dirty="0"/>
              <a:t>Primary culture contains a very heterogeneous population of cells</a:t>
            </a:r>
          </a:p>
          <a:p>
            <a:r>
              <a:rPr lang="en-US" altLang="en-US" dirty="0"/>
              <a:t>Sub culturing of primary cells leads to the generation of cell lines</a:t>
            </a:r>
          </a:p>
          <a:p>
            <a:r>
              <a:rPr lang="en-US" altLang="en-US" dirty="0"/>
              <a:t>Cell lines have limited life span, they passage several times before they become senescent</a:t>
            </a:r>
          </a:p>
          <a:p>
            <a:r>
              <a:rPr lang="en-US" altLang="en-US" dirty="0"/>
              <a:t>Cells such as macrophages and neurons do not divide in vitro so can be used as primary cultures</a:t>
            </a:r>
          </a:p>
          <a:p>
            <a:r>
              <a:rPr lang="en-US" altLang="en-US" dirty="0"/>
              <a:t>Lineage of cells originating from the primary culture is called a cell strain</a:t>
            </a:r>
          </a:p>
          <a:p>
            <a:endParaRPr lang="en-US" dirty="0"/>
          </a:p>
        </p:txBody>
      </p:sp>
    </p:spTree>
    <p:extLst>
      <p:ext uri="{BB962C8B-B14F-4D97-AF65-F5344CB8AC3E}">
        <p14:creationId xmlns:p14="http://schemas.microsoft.com/office/powerpoint/2010/main" val="6135479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2530" name="Picture 2" descr="Cell culture &amp; Enzymatic Dissociation&#10;4&#10;Tissue from an explant&#10;is dispersed, mostly&#10;enzymatically, into a&#10;cell suspension ..."/>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71600" y="91440"/>
            <a:ext cx="8879840" cy="60855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53657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prstClr val="black"/>
                </a:solidFill>
              </a:rPr>
              <a:t>Adherent vs Suspension Culture</a:t>
            </a:r>
            <a:br>
              <a:rPr lang="en-US" b="1" dirty="0">
                <a:solidFill>
                  <a:prstClr val="black"/>
                </a:solidFill>
              </a:rPr>
            </a:br>
            <a:endParaRPr lang="en-US" dirty="0"/>
          </a:p>
        </p:txBody>
      </p:sp>
      <p:sp>
        <p:nvSpPr>
          <p:cNvPr id="3" name="Content Placeholder 2"/>
          <p:cNvSpPr>
            <a:spLocks noGrp="1"/>
          </p:cNvSpPr>
          <p:nvPr>
            <p:ph idx="1"/>
          </p:nvPr>
        </p:nvSpPr>
        <p:spPr>
          <a:xfrm>
            <a:off x="1107440" y="1371600"/>
            <a:ext cx="10246360" cy="4805363"/>
          </a:xfrm>
        </p:spPr>
        <p:txBody>
          <a:bodyPr>
            <a:normAutofit/>
          </a:bodyPr>
          <a:lstStyle/>
          <a:p>
            <a:r>
              <a:rPr lang="en-US" sz="2400" dirty="0" smtClean="0">
                <a:solidFill>
                  <a:prstClr val="black"/>
                </a:solidFill>
              </a:rPr>
              <a:t>There </a:t>
            </a:r>
            <a:r>
              <a:rPr lang="en-US" sz="2400" dirty="0">
                <a:solidFill>
                  <a:prstClr val="black"/>
                </a:solidFill>
              </a:rPr>
              <a:t>are two basic systems for growing cells in culture, as monolayers on an artificial substrate (i.e., adherent culture) or free-floating in the culture medium (suspension culture).</a:t>
            </a:r>
          </a:p>
          <a:p>
            <a:pPr marL="0" indent="0">
              <a:buNone/>
            </a:pPr>
            <a:endParaRPr lang="en-US" sz="2400" dirty="0" smtClean="0">
              <a:solidFill>
                <a:prstClr val="black"/>
              </a:solidFill>
            </a:endParaRPr>
          </a:p>
          <a:p>
            <a:r>
              <a:rPr lang="en-US" sz="2400" dirty="0" smtClean="0">
                <a:solidFill>
                  <a:prstClr val="black"/>
                </a:solidFill>
              </a:rPr>
              <a:t>The </a:t>
            </a:r>
            <a:r>
              <a:rPr lang="en-US" sz="2400" dirty="0">
                <a:solidFill>
                  <a:prstClr val="black"/>
                </a:solidFill>
              </a:rPr>
              <a:t>majority of the cells derived from vertebrates, with the exception of hematopoietic cell lines and a few others, are anchorage-dependent and have to be cultured on a suitable substrate that is specifically treated to allow cell adhesion and spreading (i.e., tissue-culture treated). However, many cell lines can also be adapted for suspension culture.</a:t>
            </a:r>
          </a:p>
          <a:p>
            <a:endParaRPr lang="en-US" sz="2400" dirty="0"/>
          </a:p>
        </p:txBody>
      </p:sp>
    </p:spTree>
    <p:extLst>
      <p:ext uri="{BB962C8B-B14F-4D97-AF65-F5344CB8AC3E}">
        <p14:creationId xmlns:p14="http://schemas.microsoft.com/office/powerpoint/2010/main" val="12107499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altLang="en-US" smtClean="0"/>
              <a:t>Adherent cells</a:t>
            </a:r>
            <a:br>
              <a:rPr lang="en-US" altLang="en-US" smtClean="0"/>
            </a:br>
            <a:endParaRPr lang="en-US" altLang="en-US" smtClean="0"/>
          </a:p>
        </p:txBody>
      </p:sp>
      <p:sp>
        <p:nvSpPr>
          <p:cNvPr id="19459" name="Rectangle 3"/>
          <p:cNvSpPr>
            <a:spLocks noGrp="1" noChangeArrowheads="1"/>
          </p:cNvSpPr>
          <p:nvPr>
            <p:ph type="body" idx="1"/>
          </p:nvPr>
        </p:nvSpPr>
        <p:spPr/>
        <p:txBody>
          <a:bodyPr/>
          <a:lstStyle/>
          <a:p>
            <a:pPr>
              <a:buClr>
                <a:schemeClr val="tx1"/>
              </a:buClr>
            </a:pPr>
            <a:r>
              <a:rPr lang="en-US" altLang="en-US" sz="2400" dirty="0"/>
              <a:t>Cells which are anchorage dependent </a:t>
            </a:r>
            <a:r>
              <a:rPr lang="en-US" altLang="en-US" sz="2400" dirty="0" smtClean="0"/>
              <a:t>and propagate as monolayer</a:t>
            </a:r>
            <a:endParaRPr lang="en-US" altLang="en-US" sz="2400" dirty="0"/>
          </a:p>
          <a:p>
            <a:pPr>
              <a:buClr>
                <a:schemeClr val="tx1"/>
              </a:buClr>
            </a:pPr>
            <a:r>
              <a:rPr lang="en-US" altLang="en-US" sz="2400" dirty="0"/>
              <a:t>Cells are washed with PBS (free of ca &amp; mg ) solution</a:t>
            </a:r>
            <a:r>
              <a:rPr lang="en-US" altLang="en-US" sz="2400" dirty="0" smtClean="0"/>
              <a:t>. </a:t>
            </a:r>
            <a:r>
              <a:rPr lang="en-US" sz="2400" dirty="0"/>
              <a:t>When dissociating the </a:t>
            </a:r>
            <a:r>
              <a:rPr lang="en-US" sz="2400" b="1" dirty="0"/>
              <a:t>cells</a:t>
            </a:r>
            <a:r>
              <a:rPr lang="en-US" sz="2400" dirty="0"/>
              <a:t> it is always recommended to use ca2+ and mg2+ </a:t>
            </a:r>
            <a:r>
              <a:rPr lang="en-US" sz="2400" b="1" dirty="0"/>
              <a:t>free PBS</a:t>
            </a:r>
            <a:r>
              <a:rPr lang="en-US" sz="2400" dirty="0"/>
              <a:t>. Bivalent ions are used by membrane adhesion proteins to create </a:t>
            </a:r>
            <a:r>
              <a:rPr lang="en-US" sz="2400" b="1" dirty="0"/>
              <a:t>cell</a:t>
            </a:r>
            <a:r>
              <a:rPr lang="en-US" sz="2400" dirty="0"/>
              <a:t>-</a:t>
            </a:r>
            <a:r>
              <a:rPr lang="en-US" sz="2400" b="1" dirty="0"/>
              <a:t>cell</a:t>
            </a:r>
            <a:r>
              <a:rPr lang="en-US" sz="2400" dirty="0"/>
              <a:t> and </a:t>
            </a:r>
            <a:r>
              <a:rPr lang="en-US" sz="2400" b="1" dirty="0"/>
              <a:t>cell</a:t>
            </a:r>
            <a:r>
              <a:rPr lang="en-US" sz="2400" dirty="0"/>
              <a:t>-substrate linking.</a:t>
            </a:r>
            <a:endParaRPr lang="en-US" altLang="en-US" sz="2400" dirty="0"/>
          </a:p>
          <a:p>
            <a:pPr>
              <a:buClr>
                <a:schemeClr val="tx1"/>
              </a:buClr>
            </a:pPr>
            <a:r>
              <a:rPr lang="en-US" altLang="en-US" sz="2400" dirty="0" smtClean="0"/>
              <a:t> </a:t>
            </a:r>
            <a:r>
              <a:rPr lang="en-US" sz="2400" dirty="0" smtClean="0"/>
              <a:t>While passaged, a detaching agent (e.g., trypsin/EDTA to cover the monolayer and</a:t>
            </a:r>
            <a:r>
              <a:rPr lang="en-US" altLang="en-US" sz="2400" dirty="0" smtClean="0"/>
              <a:t>  </a:t>
            </a:r>
            <a:r>
              <a:rPr lang="en-US" altLang="en-US" sz="2400" dirty="0"/>
              <a:t>Incubate the plate at 37 C for 1-2 min</a:t>
            </a:r>
            <a:r>
              <a:rPr lang="en-US" sz="2400" dirty="0" smtClean="0"/>
              <a:t>) needs to be used to detach them from the surface. They re-attach to the surface within a few hours upon plating. </a:t>
            </a:r>
            <a:endParaRPr lang="en-US" altLang="en-US" sz="2400" dirty="0" smtClean="0"/>
          </a:p>
          <a:p>
            <a:pPr>
              <a:buClr>
                <a:schemeClr val="tx1"/>
              </a:buClr>
            </a:pPr>
            <a:r>
              <a:rPr lang="en-US" altLang="en-US" sz="2400" dirty="0" smtClean="0"/>
              <a:t>Fibroblasts and epithelial cells  </a:t>
            </a:r>
            <a:endParaRPr lang="en-US" altLang="en-US" dirty="0" smtClean="0"/>
          </a:p>
        </p:txBody>
      </p:sp>
    </p:spTree>
    <p:extLst>
      <p:ext uri="{BB962C8B-B14F-4D97-AF65-F5344CB8AC3E}">
        <p14:creationId xmlns:p14="http://schemas.microsoft.com/office/powerpoint/2010/main" val="308027287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5362" name="Picture 2" descr="Suspensioncells&#10; Suspension cellsdo not attach to the surface of the culture vessels. Thesecells&#10;are alsocalled anchorag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365126"/>
            <a:ext cx="9880600" cy="60661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84012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38200" y="365125"/>
            <a:ext cx="10515600" cy="5811838"/>
          </a:xfrm>
        </p:spPr>
        <p:txBody>
          <a:bodyPr>
            <a:normAutofit lnSpcReduction="10000"/>
          </a:bodyPr>
          <a:lstStyle/>
          <a:p>
            <a:r>
              <a:rPr lang="en-US" b="1" dirty="0" smtClean="0">
                <a:solidFill>
                  <a:srgbClr val="FF0000"/>
                </a:solidFill>
              </a:rPr>
              <a:t>Confluence</a:t>
            </a:r>
            <a:r>
              <a:rPr lang="en-US" dirty="0" smtClean="0"/>
              <a:t>: For </a:t>
            </a:r>
            <a:r>
              <a:rPr lang="en-US" dirty="0"/>
              <a:t>cells that grow as a monolayer, </a:t>
            </a:r>
            <a:r>
              <a:rPr lang="en-US" b="1" dirty="0"/>
              <a:t>confluence</a:t>
            </a:r>
            <a:r>
              <a:rPr lang="en-US" dirty="0"/>
              <a:t> is defined as the percentage of the </a:t>
            </a:r>
            <a:r>
              <a:rPr lang="en-US" b="1" dirty="0"/>
              <a:t>culture</a:t>
            </a:r>
            <a:r>
              <a:rPr lang="en-US" dirty="0"/>
              <a:t> vessel surface area that appears covered by a layer of cells when observed by microscopy. For example, 50% confluency means half of the surface of the </a:t>
            </a:r>
            <a:r>
              <a:rPr lang="en-US" b="1" dirty="0"/>
              <a:t>culture</a:t>
            </a:r>
            <a:r>
              <a:rPr lang="en-US" dirty="0"/>
              <a:t> dish, flask, etc. is covered in </a:t>
            </a:r>
            <a:r>
              <a:rPr lang="en-US" dirty="0" smtClean="0"/>
              <a:t>cells </a:t>
            </a:r>
            <a:r>
              <a:rPr lang="en-US" dirty="0"/>
              <a:t>while 100 percent confluence means the surface is completely covered by the cells</a:t>
            </a:r>
            <a:endParaRPr lang="en-US" b="1" dirty="0" smtClean="0">
              <a:solidFill>
                <a:srgbClr val="FF0000"/>
              </a:solidFill>
            </a:endParaRPr>
          </a:p>
          <a:p>
            <a:r>
              <a:rPr lang="en-US" b="1" dirty="0" smtClean="0">
                <a:solidFill>
                  <a:srgbClr val="FF0000"/>
                </a:solidFill>
              </a:rPr>
              <a:t>Passage No:</a:t>
            </a:r>
            <a:r>
              <a:rPr lang="en-US" dirty="0" smtClean="0"/>
              <a:t> refers to how many times the cell has been sub-cultured </a:t>
            </a:r>
          </a:p>
          <a:p>
            <a:pPr marL="0" indent="0">
              <a:buNone/>
            </a:pPr>
            <a:r>
              <a:rPr lang="en-US" dirty="0" smtClean="0"/>
              <a:t>It gives an indication of how old the cells </a:t>
            </a:r>
          </a:p>
          <a:p>
            <a:endParaRPr lang="en-US" b="1" dirty="0" smtClean="0">
              <a:solidFill>
                <a:srgbClr val="FF0000"/>
              </a:solidFill>
            </a:endParaRPr>
          </a:p>
          <a:p>
            <a:r>
              <a:rPr lang="en-US" b="1" dirty="0" smtClean="0">
                <a:solidFill>
                  <a:srgbClr val="FF0000"/>
                </a:solidFill>
              </a:rPr>
              <a:t>Generation No</a:t>
            </a:r>
            <a:r>
              <a:rPr lang="en-US" dirty="0" smtClean="0"/>
              <a:t>: refers to the number of doublings that the cell population has undergone </a:t>
            </a:r>
          </a:p>
          <a:p>
            <a:endParaRPr lang="en-US" dirty="0" smtClean="0"/>
          </a:p>
          <a:p>
            <a:r>
              <a:rPr lang="en-US" dirty="0" smtClean="0">
                <a:solidFill>
                  <a:srgbClr val="FF0000"/>
                </a:solidFill>
              </a:rPr>
              <a:t>Doubling time</a:t>
            </a:r>
            <a:r>
              <a:rPr lang="en-US" dirty="0" smtClean="0"/>
              <a:t>: the time required for a culture to double in number </a:t>
            </a:r>
            <a:endParaRPr lang="en-US" dirty="0"/>
          </a:p>
        </p:txBody>
      </p:sp>
    </p:spTree>
    <p:extLst>
      <p:ext uri="{BB962C8B-B14F-4D97-AF65-F5344CB8AC3E}">
        <p14:creationId xmlns:p14="http://schemas.microsoft.com/office/powerpoint/2010/main" val="37871441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Major development’s in cell culture technology</a:t>
            </a:r>
            <a:endParaRPr lang="en-US" dirty="0"/>
          </a:p>
        </p:txBody>
      </p:sp>
      <p:sp>
        <p:nvSpPr>
          <p:cNvPr id="3" name="Content Placeholder 2"/>
          <p:cNvSpPr>
            <a:spLocks noGrp="1"/>
          </p:cNvSpPr>
          <p:nvPr>
            <p:ph idx="1"/>
          </p:nvPr>
        </p:nvSpPr>
        <p:spPr/>
        <p:txBody>
          <a:bodyPr/>
          <a:lstStyle/>
          <a:p>
            <a:r>
              <a:rPr lang="en-US" altLang="en-US" dirty="0"/>
              <a:t>First development was the use of antibiotics which inhibits the growth of contaminants.</a:t>
            </a:r>
          </a:p>
          <a:p>
            <a:r>
              <a:rPr lang="en-US" altLang="en-US" dirty="0"/>
              <a:t>Second was the use of trypsin to remove adherent cells to subculture further from the culture vessel</a:t>
            </a:r>
          </a:p>
          <a:p>
            <a:r>
              <a:rPr lang="en-US" altLang="en-US" dirty="0"/>
              <a:t>Third was the use of chemically defined culture medium.</a:t>
            </a:r>
          </a:p>
          <a:p>
            <a:endParaRPr lang="en-US" dirty="0"/>
          </a:p>
        </p:txBody>
      </p:sp>
    </p:spTree>
    <p:extLst>
      <p:ext uri="{BB962C8B-B14F-4D97-AF65-F5344CB8AC3E}">
        <p14:creationId xmlns:p14="http://schemas.microsoft.com/office/powerpoint/2010/main" val="42697552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Cell Line </a:t>
            </a:r>
            <a:br>
              <a:rPr lang="en-US" b="1" dirty="0"/>
            </a:b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After </a:t>
            </a:r>
            <a:r>
              <a:rPr lang="en-US" dirty="0"/>
              <a:t>the first subculture, the primary culture becomes known as a cell line or </a:t>
            </a:r>
            <a:r>
              <a:rPr lang="en-US" dirty="0" err="1"/>
              <a:t>subclone</a:t>
            </a:r>
            <a:r>
              <a:rPr lang="en-US" dirty="0"/>
              <a:t>. Cell lines derived from primary cultures have a limited life </a:t>
            </a:r>
            <a:r>
              <a:rPr lang="en-US" dirty="0" smtClean="0"/>
              <a:t>span. </a:t>
            </a:r>
          </a:p>
          <a:p>
            <a:r>
              <a:rPr lang="en-US" dirty="0" smtClean="0"/>
              <a:t>As </a:t>
            </a:r>
            <a:r>
              <a:rPr lang="en-US" dirty="0"/>
              <a:t>they are passaged, cells with the highest growth capacity predominate, resulting in a degree of genotypic and phenotypic uniformity in the population. </a:t>
            </a:r>
            <a:endParaRPr lang="en-US" dirty="0" smtClean="0"/>
          </a:p>
          <a:p>
            <a:r>
              <a:rPr lang="en-US" dirty="0" smtClean="0"/>
              <a:t>It </a:t>
            </a:r>
            <a:r>
              <a:rPr lang="en-US" dirty="0"/>
              <a:t>is possible to select a particular </a:t>
            </a:r>
            <a:r>
              <a:rPr lang="en-US" b="1" dirty="0"/>
              <a:t>cell</a:t>
            </a:r>
            <a:r>
              <a:rPr lang="en-US" dirty="0"/>
              <a:t> lineage by cloning </a:t>
            </a:r>
            <a:r>
              <a:rPr lang="en-US" dirty="0" smtClean="0"/>
              <a:t>or physical</a:t>
            </a:r>
            <a:r>
              <a:rPr lang="en-US" dirty="0"/>
              <a:t> </a:t>
            </a:r>
            <a:r>
              <a:rPr lang="en-US" b="1" dirty="0"/>
              <a:t>cell</a:t>
            </a:r>
            <a:r>
              <a:rPr lang="en-US" dirty="0"/>
              <a:t> separation or some other </a:t>
            </a:r>
            <a:r>
              <a:rPr lang="en-US" b="1" dirty="0"/>
              <a:t>selection</a:t>
            </a:r>
            <a:r>
              <a:rPr lang="en-US" dirty="0"/>
              <a:t> method</a:t>
            </a:r>
          </a:p>
          <a:p>
            <a:r>
              <a:rPr lang="en-US" dirty="0" smtClean="0"/>
              <a:t>a</a:t>
            </a:r>
            <a:r>
              <a:rPr lang="en-US" dirty="0"/>
              <a:t> </a:t>
            </a:r>
            <a:r>
              <a:rPr lang="en-US" b="1" dirty="0"/>
              <a:t>cell line</a:t>
            </a:r>
            <a:r>
              <a:rPr lang="en-US" dirty="0"/>
              <a:t> is a permanently </a:t>
            </a:r>
            <a:r>
              <a:rPr lang="en-US" b="1" dirty="0"/>
              <a:t>established cell culture</a:t>
            </a:r>
            <a:r>
              <a:rPr lang="en-US" dirty="0"/>
              <a:t> that will proliferate indefinitely given appropriate fresh medium and space. </a:t>
            </a:r>
            <a:endParaRPr lang="en-US" dirty="0" smtClean="0"/>
          </a:p>
          <a:p>
            <a:r>
              <a:rPr lang="en-US" dirty="0" smtClean="0"/>
              <a:t>As they are </a:t>
            </a:r>
            <a:r>
              <a:rPr lang="en-US" dirty="0" err="1" smtClean="0"/>
              <a:t>subcultured</a:t>
            </a:r>
            <a:r>
              <a:rPr lang="en-US" dirty="0" smtClean="0"/>
              <a:t>, they become different from the original cell.</a:t>
            </a:r>
          </a:p>
          <a:p>
            <a:r>
              <a:rPr lang="en-US" dirty="0" smtClean="0"/>
              <a:t>No</a:t>
            </a:r>
            <a:r>
              <a:rPr lang="en-US" dirty="0"/>
              <a:t> </a:t>
            </a:r>
            <a:r>
              <a:rPr lang="en-US" b="1" dirty="0"/>
              <a:t>cell lines</a:t>
            </a:r>
            <a:r>
              <a:rPr lang="en-US" dirty="0"/>
              <a:t> have been produced from avian tissues and the establishment of </a:t>
            </a:r>
            <a:r>
              <a:rPr lang="en-US" b="1" dirty="0"/>
              <a:t>cell lines</a:t>
            </a:r>
            <a:r>
              <a:rPr lang="en-US" dirty="0"/>
              <a:t> from human tissue is difficult</a:t>
            </a:r>
          </a:p>
        </p:txBody>
      </p:sp>
    </p:spTree>
    <p:extLst>
      <p:ext uri="{BB962C8B-B14F-4D97-AF65-F5344CB8AC3E}">
        <p14:creationId xmlns:p14="http://schemas.microsoft.com/office/powerpoint/2010/main" val="2197603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83845"/>
            <a:ext cx="10515600" cy="610235"/>
          </a:xfrm>
        </p:spPr>
        <p:txBody>
          <a:bodyPr>
            <a:normAutofit/>
          </a:bodyPr>
          <a:lstStyle/>
          <a:p>
            <a:r>
              <a:rPr lang="en-US" sz="2800" b="1" dirty="0">
                <a:solidFill>
                  <a:srgbClr val="FF0000"/>
                </a:solidFill>
              </a:rPr>
              <a:t>Finite vs continuous cell line</a:t>
            </a:r>
            <a:endParaRPr lang="en-US" sz="2800" dirty="0">
              <a:solidFill>
                <a:srgbClr val="FF0000"/>
              </a:solidFill>
            </a:endParaRPr>
          </a:p>
        </p:txBody>
      </p:sp>
      <p:sp>
        <p:nvSpPr>
          <p:cNvPr id="3" name="Content Placeholder 2"/>
          <p:cNvSpPr>
            <a:spLocks noGrp="1"/>
          </p:cNvSpPr>
          <p:nvPr>
            <p:ph idx="1"/>
          </p:nvPr>
        </p:nvSpPr>
        <p:spPr>
          <a:xfrm>
            <a:off x="838200" y="894080"/>
            <a:ext cx="10515600" cy="5354003"/>
          </a:xfrm>
        </p:spPr>
        <p:txBody>
          <a:bodyPr>
            <a:normAutofit fontScale="62500" lnSpcReduction="20000"/>
          </a:bodyPr>
          <a:lstStyle/>
          <a:p>
            <a:pPr marL="0" indent="0">
              <a:buNone/>
            </a:pPr>
            <a:endParaRPr lang="en-US" dirty="0"/>
          </a:p>
          <a:p>
            <a:r>
              <a:rPr lang="en-US" b="1" dirty="0" smtClean="0">
                <a:solidFill>
                  <a:srgbClr val="FF0000"/>
                </a:solidFill>
              </a:rPr>
              <a:t>Finite cell line</a:t>
            </a:r>
            <a:r>
              <a:rPr lang="en-US" dirty="0" smtClean="0"/>
              <a:t>:</a:t>
            </a:r>
          </a:p>
          <a:p>
            <a:pPr marL="0" indent="0">
              <a:buNone/>
            </a:pPr>
            <a:r>
              <a:rPr lang="en-US" dirty="0" smtClean="0"/>
              <a:t>Normal </a:t>
            </a:r>
            <a:r>
              <a:rPr lang="en-US" dirty="0"/>
              <a:t>cells usually divide only a limited number of times before losing their ability to proliferate, which is a genetically determined event known </a:t>
            </a:r>
            <a:r>
              <a:rPr lang="en-US" b="1" dirty="0"/>
              <a:t>as </a:t>
            </a:r>
            <a:r>
              <a:rPr lang="en-US" b="1" dirty="0" smtClean="0"/>
              <a:t>senescence</a:t>
            </a:r>
            <a:endParaRPr lang="en-US" dirty="0" smtClean="0"/>
          </a:p>
          <a:p>
            <a:pPr marL="0" indent="0">
              <a:buNone/>
            </a:pPr>
            <a:r>
              <a:rPr lang="en-US" dirty="0" smtClean="0"/>
              <a:t>Usually derived from primary cultures</a:t>
            </a:r>
          </a:p>
          <a:p>
            <a:r>
              <a:rPr lang="en-US" b="1" dirty="0" smtClean="0">
                <a:solidFill>
                  <a:srgbClr val="FF0000"/>
                </a:solidFill>
              </a:rPr>
              <a:t>Continuous cell line</a:t>
            </a:r>
            <a:r>
              <a:rPr lang="en-US" dirty="0" smtClean="0"/>
              <a:t>:   </a:t>
            </a:r>
            <a:r>
              <a:rPr lang="en-US" dirty="0"/>
              <a:t>some cell lines become immortal through a process called </a:t>
            </a:r>
            <a:r>
              <a:rPr lang="en-US" b="1" dirty="0"/>
              <a:t>transformation</a:t>
            </a:r>
            <a:r>
              <a:rPr lang="en-US" dirty="0"/>
              <a:t>, which can occur spontaneously or can be chemically or virally induced. When a finite cell line undergoes transformation and acquires the ability to divide indefinitely, it becomes a continuous cell </a:t>
            </a:r>
            <a:r>
              <a:rPr lang="en-US" dirty="0" smtClean="0"/>
              <a:t>line</a:t>
            </a:r>
          </a:p>
          <a:p>
            <a:r>
              <a:rPr lang="en-US" dirty="0" smtClean="0"/>
              <a:t>Short generation time (12-24 h)</a:t>
            </a:r>
          </a:p>
          <a:p>
            <a:r>
              <a:rPr lang="en-US" dirty="0" smtClean="0"/>
              <a:t>Have aneuploidy chromosome number</a:t>
            </a:r>
          </a:p>
          <a:p>
            <a:r>
              <a:rPr lang="en-US" dirty="0" smtClean="0"/>
              <a:t>Are anchorage independent: divide and function in the absence of substratum</a:t>
            </a:r>
          </a:p>
          <a:p>
            <a:r>
              <a:rPr lang="en-US" dirty="0" smtClean="0"/>
              <a:t>Less adherent, grow in suspension</a:t>
            </a:r>
          </a:p>
          <a:p>
            <a:r>
              <a:rPr lang="en-US" dirty="0" smtClean="0"/>
              <a:t>Fast growth</a:t>
            </a:r>
          </a:p>
          <a:p>
            <a:r>
              <a:rPr lang="en-US" dirty="0" smtClean="0"/>
              <a:t>Have the tendency to grow on top of each other forming multilayers</a:t>
            </a:r>
          </a:p>
          <a:p>
            <a:r>
              <a:rPr lang="en-US" altLang="en-US" dirty="0"/>
              <a:t>stop expressing tissue specific </a:t>
            </a:r>
            <a:r>
              <a:rPr lang="en-US" altLang="en-US" dirty="0" smtClean="0"/>
              <a:t>genes</a:t>
            </a:r>
          </a:p>
          <a:p>
            <a:r>
              <a:rPr lang="en-US" altLang="en-US" dirty="0"/>
              <a:t>different in phenotypes from </a:t>
            </a:r>
            <a:r>
              <a:rPr lang="en-US" altLang="en-US" dirty="0" smtClean="0"/>
              <a:t>donor </a:t>
            </a:r>
            <a:r>
              <a:rPr lang="en-US" altLang="en-US" dirty="0"/>
              <a:t>tissue</a:t>
            </a:r>
            <a:endParaRPr lang="en-US" dirty="0" smtClean="0"/>
          </a:p>
          <a:p>
            <a:r>
              <a:rPr lang="en-US" dirty="0" smtClean="0"/>
              <a:t>Like cancer cell lines</a:t>
            </a:r>
          </a:p>
          <a:p>
            <a:endParaRPr lang="en-US" dirty="0"/>
          </a:p>
        </p:txBody>
      </p:sp>
    </p:spTree>
    <p:extLst>
      <p:ext uri="{BB962C8B-B14F-4D97-AF65-F5344CB8AC3E}">
        <p14:creationId xmlns:p14="http://schemas.microsoft.com/office/powerpoint/2010/main" val="35763834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182" name="Picture 38" descr="2. Agar gel method&#10;• Medium is gelled with 1% agar&#10;• Gels are then kept in embtryological watch glass&#10;and explant is then ..."/>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98880" y="484504"/>
            <a:ext cx="9469120" cy="63734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05920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5" descr="Animal cell cultur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21280" y="528320"/>
            <a:ext cx="8656320" cy="63296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00783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3554" name="Picture 2" descr="Transformation VS Transfection&#10; Transformation&#10;◦ Spontaneous or induced permanent phenotypic changes&#10;resulting from cha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55040" y="0"/>
            <a:ext cx="10170160" cy="6176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16753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Culture Conditions </a:t>
            </a:r>
            <a:br>
              <a:rPr lang="en-US" b="1" dirty="0"/>
            </a:br>
            <a:endParaRPr lang="en-US" dirty="0"/>
          </a:p>
        </p:txBody>
      </p:sp>
      <p:sp>
        <p:nvSpPr>
          <p:cNvPr id="3" name="Content Placeholder 2"/>
          <p:cNvSpPr>
            <a:spLocks noGrp="1"/>
          </p:cNvSpPr>
          <p:nvPr>
            <p:ph idx="1"/>
          </p:nvPr>
        </p:nvSpPr>
        <p:spPr/>
        <p:txBody>
          <a:bodyPr>
            <a:normAutofit/>
          </a:bodyPr>
          <a:lstStyle/>
          <a:p>
            <a:pPr marL="0" indent="0">
              <a:buNone/>
            </a:pPr>
            <a:endParaRPr lang="en-US" dirty="0" smtClean="0"/>
          </a:p>
          <a:p>
            <a:pPr marL="0" indent="0">
              <a:buNone/>
            </a:pPr>
            <a:r>
              <a:rPr lang="en-US" dirty="0" smtClean="0"/>
              <a:t>Culture conditions vary widely for each cell type, but the artificial environment in which the cells are cultured invariably consists of a suitable vessel containing a substrate or medium that supplies the essential nutrients (amino acids, carbohydrates, vitamins, minerals), growth factors, hormones, and gases (O2, CO2), and regulates the physicochemical environment (pH, osmotic pressure, temperature)</a:t>
            </a:r>
          </a:p>
          <a:p>
            <a:pPr marL="0" indent="0">
              <a:buNone/>
            </a:pPr>
            <a:endParaRPr lang="en-US" dirty="0"/>
          </a:p>
        </p:txBody>
      </p:sp>
    </p:spTree>
    <p:extLst>
      <p:ext uri="{BB962C8B-B14F-4D97-AF65-F5344CB8AC3E}">
        <p14:creationId xmlns:p14="http://schemas.microsoft.com/office/powerpoint/2010/main" val="31438173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38200" y="365125"/>
            <a:ext cx="10515600" cy="5811838"/>
          </a:xfrm>
        </p:spPr>
        <p:txBody>
          <a:bodyPr>
            <a:normAutofit/>
          </a:bodyPr>
          <a:lstStyle/>
          <a:p>
            <a:r>
              <a:rPr lang="en-US" sz="3100" b="1" dirty="0" smtClean="0"/>
              <a:t>Morphology</a:t>
            </a:r>
          </a:p>
          <a:p>
            <a:pPr marL="0" indent="0">
              <a:buNone/>
            </a:pPr>
            <a:r>
              <a:rPr lang="en-US" dirty="0" smtClean="0"/>
              <a:t>Cells in culture can be divided in to three basic categories based on their shape and appearance (i.e., morphology). </a:t>
            </a:r>
          </a:p>
          <a:p>
            <a:r>
              <a:rPr lang="en-US" dirty="0" smtClean="0"/>
              <a:t>1. Fibroblastic (or fibroblast-like) cells are bipolar or multipolar, have elongated shapes, and grow attached to a substrate. </a:t>
            </a:r>
          </a:p>
          <a:p>
            <a:r>
              <a:rPr lang="en-US" dirty="0" smtClean="0"/>
              <a:t>2. Epithelial-like cells are polygonal in shape with more regular dimensions, and grow attached to a substrate in discrete patches. </a:t>
            </a:r>
          </a:p>
          <a:p>
            <a:r>
              <a:rPr lang="en-US" dirty="0" smtClean="0"/>
              <a:t>3. Lymphoblast-like cells are spherical in shape and usually grown in suspension without attaching to a surface.</a:t>
            </a:r>
          </a:p>
          <a:p>
            <a:endParaRPr lang="en-US" dirty="0" smtClean="0"/>
          </a:p>
          <a:p>
            <a:pPr marL="0" indent="0">
              <a:buNone/>
            </a:pPr>
            <a:endParaRPr lang="en-US" dirty="0" smtClean="0"/>
          </a:p>
          <a:p>
            <a:pPr marL="0" indent="0">
              <a:buNone/>
            </a:pPr>
            <a:r>
              <a:rPr lang="en-US" dirty="0" smtClean="0"/>
              <a:t> </a:t>
            </a:r>
            <a:endParaRPr lang="en-US" dirty="0"/>
          </a:p>
        </p:txBody>
      </p:sp>
      <p:pic>
        <p:nvPicPr>
          <p:cNvPr id="4" name="Picture 3"/>
          <p:cNvPicPr>
            <a:picLocks noChangeAspect="1"/>
          </p:cNvPicPr>
          <p:nvPr/>
        </p:nvPicPr>
        <p:blipFill>
          <a:blip r:embed="rId2"/>
          <a:stretch>
            <a:fillRect/>
          </a:stretch>
        </p:blipFill>
        <p:spPr>
          <a:xfrm>
            <a:off x="7639050" y="4510088"/>
            <a:ext cx="2095500" cy="1571625"/>
          </a:xfrm>
          <a:prstGeom prst="rect">
            <a:avLst/>
          </a:prstGeom>
        </p:spPr>
      </p:pic>
      <p:pic>
        <p:nvPicPr>
          <p:cNvPr id="5" name="Content Placeholder 3"/>
          <p:cNvPicPr>
            <a:picLocks noChangeAspect="1"/>
          </p:cNvPicPr>
          <p:nvPr/>
        </p:nvPicPr>
        <p:blipFill>
          <a:blip r:embed="rId3"/>
          <a:stretch>
            <a:fillRect/>
          </a:stretch>
        </p:blipFill>
        <p:spPr>
          <a:xfrm>
            <a:off x="4428490" y="4510088"/>
            <a:ext cx="2095500" cy="1562100"/>
          </a:xfrm>
          <a:prstGeom prst="rect">
            <a:avLst/>
          </a:prstGeom>
        </p:spPr>
      </p:pic>
      <p:pic>
        <p:nvPicPr>
          <p:cNvPr id="6" name="Picture 5"/>
          <p:cNvPicPr>
            <a:picLocks noChangeAspect="1"/>
          </p:cNvPicPr>
          <p:nvPr/>
        </p:nvPicPr>
        <p:blipFill>
          <a:blip r:embed="rId4"/>
          <a:stretch>
            <a:fillRect/>
          </a:stretch>
        </p:blipFill>
        <p:spPr>
          <a:xfrm>
            <a:off x="1414780" y="4510088"/>
            <a:ext cx="2095500" cy="1562100"/>
          </a:xfrm>
          <a:prstGeom prst="rect">
            <a:avLst/>
          </a:prstGeom>
        </p:spPr>
      </p:pic>
      <p:sp>
        <p:nvSpPr>
          <p:cNvPr id="8" name="TextBox 7"/>
          <p:cNvSpPr txBox="1"/>
          <p:nvPr/>
        </p:nvSpPr>
        <p:spPr>
          <a:xfrm>
            <a:off x="8524240" y="6319520"/>
            <a:ext cx="457200" cy="369332"/>
          </a:xfrm>
          <a:prstGeom prst="rect">
            <a:avLst/>
          </a:prstGeom>
          <a:noFill/>
        </p:spPr>
        <p:txBody>
          <a:bodyPr wrap="square" rtlCol="0">
            <a:spAutoFit/>
          </a:bodyPr>
          <a:lstStyle/>
          <a:p>
            <a:r>
              <a:rPr lang="en-US" dirty="0" smtClean="0"/>
              <a:t>3</a:t>
            </a:r>
            <a:endParaRPr lang="en-US" dirty="0"/>
          </a:p>
        </p:txBody>
      </p:sp>
      <p:sp>
        <p:nvSpPr>
          <p:cNvPr id="9" name="TextBox 8"/>
          <p:cNvSpPr txBox="1"/>
          <p:nvPr/>
        </p:nvSpPr>
        <p:spPr>
          <a:xfrm>
            <a:off x="5080000" y="6319520"/>
            <a:ext cx="467360" cy="369332"/>
          </a:xfrm>
          <a:prstGeom prst="rect">
            <a:avLst/>
          </a:prstGeom>
          <a:noFill/>
        </p:spPr>
        <p:txBody>
          <a:bodyPr wrap="square" rtlCol="0">
            <a:spAutoFit/>
          </a:bodyPr>
          <a:lstStyle/>
          <a:p>
            <a:r>
              <a:rPr lang="en-US" dirty="0" smtClean="0"/>
              <a:t>2</a:t>
            </a:r>
            <a:endParaRPr lang="en-US" dirty="0"/>
          </a:p>
        </p:txBody>
      </p:sp>
      <p:sp>
        <p:nvSpPr>
          <p:cNvPr id="10" name="TextBox 9"/>
          <p:cNvSpPr txBox="1"/>
          <p:nvPr/>
        </p:nvSpPr>
        <p:spPr>
          <a:xfrm>
            <a:off x="1798320" y="6319520"/>
            <a:ext cx="301686" cy="369332"/>
          </a:xfrm>
          <a:prstGeom prst="rect">
            <a:avLst/>
          </a:prstGeom>
          <a:noFill/>
        </p:spPr>
        <p:txBody>
          <a:bodyPr wrap="none" rtlCol="0">
            <a:spAutoFit/>
          </a:bodyPr>
          <a:lstStyle/>
          <a:p>
            <a:r>
              <a:rPr lang="en-US" dirty="0" smtClean="0"/>
              <a:t>1</a:t>
            </a:r>
            <a:endParaRPr lang="en-US" dirty="0"/>
          </a:p>
        </p:txBody>
      </p:sp>
    </p:spTree>
    <p:extLst>
      <p:ext uri="{BB962C8B-B14F-4D97-AF65-F5344CB8AC3E}">
        <p14:creationId xmlns:p14="http://schemas.microsoft.com/office/powerpoint/2010/main" val="38551748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38200" y="589280"/>
            <a:ext cx="10515600" cy="5587683"/>
          </a:xfrm>
        </p:spPr>
        <p:txBody>
          <a:bodyPr>
            <a:normAutofit fontScale="77500" lnSpcReduction="20000"/>
          </a:bodyPr>
          <a:lstStyle/>
          <a:p>
            <a:pPr marL="0" indent="0">
              <a:buNone/>
            </a:pPr>
            <a:r>
              <a:rPr lang="en-US" sz="3100" b="1" dirty="0" smtClean="0">
                <a:solidFill>
                  <a:srgbClr val="FF0000"/>
                </a:solidFill>
              </a:rPr>
              <a:t>Applications of  Cell Culture </a:t>
            </a:r>
          </a:p>
          <a:p>
            <a:endParaRPr lang="en-US" dirty="0"/>
          </a:p>
          <a:p>
            <a:r>
              <a:rPr lang="en-US" sz="2600" dirty="0" smtClean="0"/>
              <a:t>Cell culture is one of the major tools used in </a:t>
            </a:r>
            <a:r>
              <a:rPr lang="en-US" sz="2600" b="1" dirty="0" smtClean="0"/>
              <a:t>cellular and molecular biology</a:t>
            </a:r>
            <a:r>
              <a:rPr lang="en-US" sz="2600" dirty="0" smtClean="0"/>
              <a:t>, providing excellent model systems for studying the normal physiology and biochemistry of cells (e.g., metabolic studies, aging),</a:t>
            </a:r>
          </a:p>
          <a:p>
            <a:r>
              <a:rPr lang="en-US" sz="2600" dirty="0" smtClean="0"/>
              <a:t>the effects of </a:t>
            </a:r>
            <a:r>
              <a:rPr lang="en-US" sz="2600" b="1" dirty="0" smtClean="0"/>
              <a:t>drugs and toxic </a:t>
            </a:r>
            <a:r>
              <a:rPr lang="en-US" sz="2600" dirty="0" smtClean="0"/>
              <a:t>compounds on the cells, and mutagenesis and carcinogenesis.</a:t>
            </a:r>
          </a:p>
          <a:p>
            <a:pPr marL="0" indent="0">
              <a:buNone/>
            </a:pPr>
            <a:r>
              <a:rPr lang="en-US" sz="2600" dirty="0" smtClean="0"/>
              <a:t>It is also used in </a:t>
            </a:r>
            <a:r>
              <a:rPr lang="en-US" sz="2600" b="1" dirty="0" smtClean="0"/>
              <a:t>drug screening and development</a:t>
            </a:r>
            <a:r>
              <a:rPr lang="en-US" sz="2600" dirty="0" smtClean="0"/>
              <a:t>, and large scale manufacturing of biological compounds (e.g., vaccines, therapeutic proteins). </a:t>
            </a:r>
          </a:p>
          <a:p>
            <a:r>
              <a:rPr lang="en-US" altLang="en-US" sz="2400" dirty="0" smtClean="0"/>
              <a:t>Virology</a:t>
            </a:r>
            <a:endParaRPr lang="en-US" altLang="en-US" sz="2400" dirty="0"/>
          </a:p>
          <a:p>
            <a:pPr>
              <a:buFontTx/>
              <a:buNone/>
            </a:pPr>
            <a:r>
              <a:rPr lang="en-US" altLang="en-US" sz="3200" dirty="0"/>
              <a:t>  </a:t>
            </a:r>
            <a:r>
              <a:rPr lang="en-US" altLang="en-US" sz="3200" dirty="0" smtClean="0"/>
              <a:t> </a:t>
            </a:r>
            <a:r>
              <a:rPr lang="en-US" altLang="en-US" sz="2400" dirty="0"/>
              <a:t>Cultivation of virus for vaccine production, also used to study there infectious cycle</a:t>
            </a:r>
            <a:r>
              <a:rPr lang="en-US" altLang="en-US" sz="3200" dirty="0"/>
              <a:t>.</a:t>
            </a:r>
          </a:p>
          <a:p>
            <a:pPr>
              <a:buClr>
                <a:schemeClr val="tx1"/>
              </a:buClr>
            </a:pPr>
            <a:r>
              <a:rPr lang="en-US" altLang="en-US" sz="3200" dirty="0"/>
              <a:t> </a:t>
            </a:r>
            <a:r>
              <a:rPr lang="en-US" altLang="en-US" sz="2400" dirty="0"/>
              <a:t>Genetic Engineering</a:t>
            </a:r>
          </a:p>
          <a:p>
            <a:pPr>
              <a:buFontTx/>
              <a:buNone/>
            </a:pPr>
            <a:r>
              <a:rPr lang="en-US" altLang="en-US" sz="3200" dirty="0"/>
              <a:t>    </a:t>
            </a:r>
            <a:r>
              <a:rPr lang="en-US" altLang="en-US" sz="2400" dirty="0" smtClean="0"/>
              <a:t>Production </a:t>
            </a:r>
            <a:r>
              <a:rPr lang="en-US" altLang="en-US" sz="2400" dirty="0"/>
              <a:t>of commercial proteins, large scale    production of viruses for use in vaccine production e.g. polio, rabies, chicken pox, hepatitis B &amp; measles</a:t>
            </a:r>
          </a:p>
          <a:p>
            <a:pPr marL="0" indent="0">
              <a:buNone/>
            </a:pPr>
            <a:endParaRPr lang="en-US" sz="2600" dirty="0" smtClean="0"/>
          </a:p>
          <a:p>
            <a:pPr marL="0" indent="0">
              <a:buNone/>
            </a:pPr>
            <a:r>
              <a:rPr lang="en-US" sz="2600" dirty="0" smtClean="0"/>
              <a:t>--The major advantage of using cell culture for any of the these applications is the </a:t>
            </a:r>
            <a:r>
              <a:rPr lang="en-US" sz="2600" b="1" dirty="0" smtClean="0"/>
              <a:t>consistency and reproducibility </a:t>
            </a:r>
            <a:r>
              <a:rPr lang="en-US" sz="2600" dirty="0" smtClean="0"/>
              <a:t>of results that can be obtained from using a batch of clonal cells.</a:t>
            </a:r>
            <a:endParaRPr lang="en-US" sz="2600" dirty="0"/>
          </a:p>
        </p:txBody>
      </p:sp>
    </p:spTree>
    <p:extLst>
      <p:ext uri="{BB962C8B-B14F-4D97-AF65-F5344CB8AC3E}">
        <p14:creationId xmlns:p14="http://schemas.microsoft.com/office/powerpoint/2010/main" val="10971830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1266" name="Picture 2" descr="Production of monoclonal antibody&#10;Hybridomas&#10; "/>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6080" y="365124"/>
            <a:ext cx="10312400" cy="59848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09689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TC lab</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The location: the lab should not be situated near to any microbiological work area or animal house </a:t>
            </a:r>
          </a:p>
          <a:p>
            <a:r>
              <a:rPr lang="en-US" dirty="0" smtClean="0"/>
              <a:t>Should not be open directly onto corridors with heavy pedestrian</a:t>
            </a:r>
          </a:p>
          <a:p>
            <a:r>
              <a:rPr lang="en-US" dirty="0" smtClean="0"/>
              <a:t>Any windows should be permanently sealed to prevent dust</a:t>
            </a:r>
          </a:p>
          <a:p>
            <a:r>
              <a:rPr lang="en-US" dirty="0" smtClean="0"/>
              <a:t>All the necessary manipulations involving cells should be confined strictly to TC lab with the exception of animal dissection</a:t>
            </a:r>
          </a:p>
          <a:p>
            <a:r>
              <a:rPr lang="en-US" dirty="0" smtClean="0"/>
              <a:t>TC lab Should be kept totally free of unnecessary equipment</a:t>
            </a:r>
          </a:p>
          <a:p>
            <a:r>
              <a:rPr lang="en-US" dirty="0" smtClean="0"/>
              <a:t>To facilitate cleaning, the walls should be painted with waterproof, oil-based gloss paint.</a:t>
            </a:r>
          </a:p>
          <a:p>
            <a:r>
              <a:rPr lang="en-US" dirty="0" smtClean="0"/>
              <a:t>The primary cell line should never be kept in the same incubator or Laminar flow hood as </a:t>
            </a:r>
            <a:r>
              <a:rPr lang="en-US" dirty="0" err="1" smtClean="0"/>
              <a:t>hybridoma</a:t>
            </a:r>
            <a:r>
              <a:rPr lang="en-US" dirty="0" smtClean="0"/>
              <a:t> cells</a:t>
            </a:r>
          </a:p>
          <a:p>
            <a:pPr lvl="1"/>
            <a:endParaRPr lang="en-US" dirty="0"/>
          </a:p>
        </p:txBody>
      </p:sp>
    </p:spTree>
    <p:extLst>
      <p:ext uri="{BB962C8B-B14F-4D97-AF65-F5344CB8AC3E}">
        <p14:creationId xmlns:p14="http://schemas.microsoft.com/office/powerpoint/2010/main" val="37348960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838200" y="433137"/>
            <a:ext cx="10515600" cy="5743826"/>
          </a:xfrm>
        </p:spPr>
        <p:txBody>
          <a:bodyPr>
            <a:normAutofit/>
          </a:bodyPr>
          <a:lstStyle/>
          <a:p>
            <a:pPr marL="0" indent="0">
              <a:buNone/>
            </a:pPr>
            <a:r>
              <a:rPr lang="en-US" b="1" dirty="0" smtClean="0">
                <a:solidFill>
                  <a:srgbClr val="FF0000"/>
                </a:solidFill>
              </a:rPr>
              <a:t>Basic requirements</a:t>
            </a:r>
          </a:p>
          <a:p>
            <a:pPr marL="0" indent="0">
              <a:buNone/>
            </a:pPr>
            <a:r>
              <a:rPr lang="en-US" dirty="0" smtClean="0"/>
              <a:t>	Cell culture hood (i.e., laminar-flow hood or biosafety cabinet) </a:t>
            </a:r>
          </a:p>
          <a:p>
            <a:pPr marL="0" indent="0">
              <a:buNone/>
            </a:pPr>
            <a:r>
              <a:rPr lang="en-US" dirty="0" smtClean="0"/>
              <a:t>•	Incubator (humid CO2 incubator recommended)</a:t>
            </a:r>
          </a:p>
          <a:p>
            <a:pPr marL="0" indent="0">
              <a:buNone/>
            </a:pPr>
            <a:r>
              <a:rPr lang="en-US" dirty="0" smtClean="0"/>
              <a:t> •	Water bath </a:t>
            </a:r>
          </a:p>
          <a:p>
            <a:pPr marL="0" indent="0">
              <a:buNone/>
            </a:pPr>
            <a:r>
              <a:rPr lang="en-US" dirty="0" smtClean="0"/>
              <a:t>•	Centrifuge </a:t>
            </a:r>
          </a:p>
          <a:p>
            <a:pPr marL="0" indent="0">
              <a:buNone/>
            </a:pPr>
            <a:r>
              <a:rPr lang="en-US" dirty="0" smtClean="0"/>
              <a:t>•	Refrigerator and freezer (–20°C) </a:t>
            </a:r>
          </a:p>
          <a:p>
            <a:pPr marL="0" indent="0">
              <a:buNone/>
            </a:pPr>
            <a:r>
              <a:rPr lang="en-US" dirty="0" smtClean="0"/>
              <a:t>•	Cell counter (e.g., Countess® Automated Cell Counter or </a:t>
            </a:r>
            <a:r>
              <a:rPr lang="en-US" dirty="0" err="1" smtClean="0"/>
              <a:t>hemacytometer</a:t>
            </a:r>
            <a:r>
              <a:rPr lang="en-US" dirty="0" smtClean="0"/>
              <a:t>) </a:t>
            </a:r>
          </a:p>
          <a:p>
            <a:pPr marL="0" indent="0">
              <a:buNone/>
            </a:pPr>
            <a:r>
              <a:rPr lang="en-US" dirty="0" smtClean="0"/>
              <a:t>•	Inverted microscope </a:t>
            </a:r>
          </a:p>
          <a:p>
            <a:pPr marL="0" indent="0">
              <a:buNone/>
            </a:pPr>
            <a:r>
              <a:rPr lang="en-US" dirty="0" smtClean="0"/>
              <a:t>•	Liquid nitrogen (N2) freezer or </a:t>
            </a:r>
            <a:r>
              <a:rPr lang="en-US" dirty="0" err="1" smtClean="0"/>
              <a:t>cryostorage</a:t>
            </a:r>
            <a:r>
              <a:rPr lang="en-US" dirty="0" smtClean="0"/>
              <a:t> container </a:t>
            </a:r>
          </a:p>
          <a:p>
            <a:pPr marL="0" indent="0">
              <a:buNone/>
            </a:pPr>
            <a:r>
              <a:rPr lang="en-US" dirty="0" smtClean="0"/>
              <a:t>•	Sterilizer (i.e., autoclave)</a:t>
            </a:r>
          </a:p>
        </p:txBody>
      </p:sp>
    </p:spTree>
    <p:extLst>
      <p:ext uri="{BB962C8B-B14F-4D97-AF65-F5344CB8AC3E}">
        <p14:creationId xmlns:p14="http://schemas.microsoft.com/office/powerpoint/2010/main" val="179813410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b="1" dirty="0"/>
              <a:t>Expanded Equipment </a:t>
            </a:r>
          </a:p>
          <a:p>
            <a:pPr marL="0" indent="0">
              <a:buNone/>
            </a:pPr>
            <a:r>
              <a:rPr lang="en-US" dirty="0"/>
              <a:t>	Aspiration pump (peristaltic or vacuum) </a:t>
            </a:r>
          </a:p>
          <a:p>
            <a:pPr marL="0" indent="0">
              <a:buNone/>
            </a:pPr>
            <a:r>
              <a:rPr lang="en-US" dirty="0"/>
              <a:t>•	pH meter </a:t>
            </a:r>
          </a:p>
          <a:p>
            <a:pPr marL="0" indent="0">
              <a:buNone/>
            </a:pPr>
            <a:r>
              <a:rPr lang="en-US" dirty="0"/>
              <a:t>•	Confocal microscope</a:t>
            </a:r>
          </a:p>
          <a:p>
            <a:pPr marL="0" indent="0">
              <a:buNone/>
            </a:pPr>
            <a:r>
              <a:rPr lang="en-US" dirty="0"/>
              <a:t> •	Flow cytometer</a:t>
            </a:r>
          </a:p>
          <a:p>
            <a:r>
              <a:rPr lang="en-US" b="1" dirty="0"/>
              <a:t>Additional Supplies </a:t>
            </a:r>
          </a:p>
          <a:p>
            <a:r>
              <a:rPr lang="en-US" dirty="0"/>
              <a:t>	Cell culture vessels (e.g., flasks, Petri dishes, roller bottles, multi-well plates) 	</a:t>
            </a:r>
          </a:p>
          <a:p>
            <a:r>
              <a:rPr lang="en-US" b="1" dirty="0"/>
              <a:t>Pipettes and </a:t>
            </a:r>
            <a:r>
              <a:rPr lang="en-US" b="1" dirty="0" err="1"/>
              <a:t>pipettors</a:t>
            </a:r>
            <a:r>
              <a:rPr lang="en-US" b="1" dirty="0"/>
              <a:t> </a:t>
            </a:r>
          </a:p>
          <a:p>
            <a:r>
              <a:rPr lang="en-US" dirty="0"/>
              <a:t>	Syringes and needles</a:t>
            </a:r>
          </a:p>
          <a:p>
            <a:r>
              <a:rPr lang="en-US" dirty="0"/>
              <a:t> 	Waste containers, Media, sera, and reagents </a:t>
            </a:r>
          </a:p>
          <a:p>
            <a:r>
              <a:rPr lang="en-US" dirty="0"/>
              <a:t>	Cells</a:t>
            </a:r>
          </a:p>
          <a:p>
            <a:endParaRPr lang="en-US" dirty="0"/>
          </a:p>
        </p:txBody>
      </p:sp>
    </p:spTree>
    <p:extLst>
      <p:ext uri="{BB962C8B-B14F-4D97-AF65-F5344CB8AC3E}">
        <p14:creationId xmlns:p14="http://schemas.microsoft.com/office/powerpoint/2010/main" val="18232668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4571" y="172620"/>
            <a:ext cx="10515600" cy="491524"/>
          </a:xfrm>
        </p:spPr>
        <p:txBody>
          <a:bodyPr>
            <a:normAutofit fontScale="90000"/>
          </a:bodyPr>
          <a:lstStyle/>
          <a:p>
            <a:r>
              <a:rPr lang="en-US" sz="3200" b="1" dirty="0" smtClean="0">
                <a:solidFill>
                  <a:srgbClr val="C00000"/>
                </a:solidFill>
              </a:rPr>
              <a:t>Laminar Flow </a:t>
            </a:r>
            <a:r>
              <a:rPr lang="en-US" sz="3200" b="1" dirty="0">
                <a:solidFill>
                  <a:srgbClr val="C00000"/>
                </a:solidFill>
              </a:rPr>
              <a:t>or Cell Culture Hood </a:t>
            </a:r>
          </a:p>
        </p:txBody>
      </p:sp>
      <p:sp>
        <p:nvSpPr>
          <p:cNvPr id="3" name="Content Placeholder 2"/>
          <p:cNvSpPr>
            <a:spLocks noGrp="1"/>
          </p:cNvSpPr>
          <p:nvPr>
            <p:ph idx="1"/>
          </p:nvPr>
        </p:nvSpPr>
        <p:spPr>
          <a:xfrm>
            <a:off x="838200" y="760396"/>
            <a:ext cx="10515600" cy="5416567"/>
          </a:xfrm>
        </p:spPr>
        <p:txBody>
          <a:bodyPr>
            <a:noAutofit/>
          </a:bodyPr>
          <a:lstStyle/>
          <a:p>
            <a:endParaRPr lang="en-US" sz="1600" dirty="0" smtClean="0"/>
          </a:p>
          <a:p>
            <a:r>
              <a:rPr lang="en-US" sz="2000" dirty="0" smtClean="0"/>
              <a:t> provides an aseptic work area while allowing the containment of infectious splashes or aerosols generated by many microbiological procedures. Three kinds of cell culture hoods, designated as Class I, II and III, have been developed to meet varying research and clinical needs. </a:t>
            </a:r>
          </a:p>
          <a:p>
            <a:r>
              <a:rPr lang="en-US" sz="2000" dirty="0" smtClean="0"/>
              <a:t>Classes of Cell Culture Hoods</a:t>
            </a:r>
          </a:p>
          <a:p>
            <a:pPr marL="0" indent="0">
              <a:buNone/>
            </a:pPr>
            <a:r>
              <a:rPr lang="en-US" sz="2000" dirty="0" smtClean="0"/>
              <a:t>-Class I cell culture hoods offer significant levels of protection to laboratory personnel and to the environment when used with good microbiological techniques, but they do not provide cultures protection from contamination or cells of human origin. </a:t>
            </a:r>
          </a:p>
          <a:p>
            <a:pPr marL="0" indent="0">
              <a:buNone/>
            </a:pPr>
            <a:r>
              <a:rPr lang="en-US" sz="2000" dirty="0" smtClean="0"/>
              <a:t>-Class II cell culture hoods provide an aseptic environment necessary for cell culture experiments. A Class II biosafety cabinet should be used for handling potentially hazardous materials (e.g., primate-derived cultures, virally infected cultures, radioisotopes, carcinogenic or toxic reagents). </a:t>
            </a:r>
          </a:p>
          <a:p>
            <a:pPr marL="0" indent="0">
              <a:buNone/>
            </a:pPr>
            <a:r>
              <a:rPr lang="en-US" sz="2000" dirty="0" smtClean="0"/>
              <a:t>-Class III biosafety cabinets are gas-tight, and they provide the highest attainable level of protection to personnel and the environment. A Class III biosafety cabinet is required for work involving known human pathogens . Air-Flow Characteristics of Cell Culture Hoods Cell culture hoods protect the working environment from dust and other </a:t>
            </a:r>
            <a:r>
              <a:rPr lang="en-US" sz="2000" dirty="0" err="1" smtClean="0"/>
              <a:t>airborn</a:t>
            </a:r>
            <a:r>
              <a:rPr lang="en-US" sz="2000" dirty="0" smtClean="0"/>
              <a:t> contaminants by maintaining a constant, unidirectional flow of HEPA-filtered air over the work area.</a:t>
            </a:r>
          </a:p>
          <a:p>
            <a:pPr marL="0" indent="0">
              <a:buNone/>
            </a:pPr>
            <a:r>
              <a:rPr lang="en-US" sz="1600" dirty="0" smtClean="0"/>
              <a:t> </a:t>
            </a:r>
          </a:p>
        </p:txBody>
      </p:sp>
    </p:spTree>
    <p:extLst>
      <p:ext uri="{BB962C8B-B14F-4D97-AF65-F5344CB8AC3E}">
        <p14:creationId xmlns:p14="http://schemas.microsoft.com/office/powerpoint/2010/main" val="353012212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Horizontal vs vertical hoods</a:t>
            </a:r>
            <a:endParaRPr lang="en-US" dirty="0"/>
          </a:p>
        </p:txBody>
      </p:sp>
      <p:sp>
        <p:nvSpPr>
          <p:cNvPr id="3" name="Content Placeholder 2"/>
          <p:cNvSpPr>
            <a:spLocks noGrp="1"/>
          </p:cNvSpPr>
          <p:nvPr>
            <p:ph idx="1"/>
          </p:nvPr>
        </p:nvSpPr>
        <p:spPr/>
        <p:txBody>
          <a:bodyPr>
            <a:normAutofit fontScale="92500" lnSpcReduction="20000"/>
          </a:bodyPr>
          <a:lstStyle/>
          <a:p>
            <a:pPr marL="0" indent="0">
              <a:buNone/>
            </a:pPr>
            <a:r>
              <a:rPr lang="en-US" dirty="0" smtClean="0"/>
              <a:t>The </a:t>
            </a:r>
            <a:r>
              <a:rPr lang="en-US" dirty="0"/>
              <a:t>flow can be horizontal, blowing parallel to the work surface, or it can be vertical, blowing from the top of the cabinet onto the work surface</a:t>
            </a:r>
            <a:r>
              <a:rPr lang="en-US" sz="2000" dirty="0"/>
              <a:t>.</a:t>
            </a:r>
            <a:endParaRPr lang="en-US" dirty="0" smtClean="0"/>
          </a:p>
          <a:p>
            <a:r>
              <a:rPr lang="en-US" dirty="0" smtClean="0"/>
              <a:t>Depending </a:t>
            </a:r>
            <a:r>
              <a:rPr lang="en-US" dirty="0"/>
              <a:t>on its design, </a:t>
            </a:r>
            <a:r>
              <a:rPr lang="en-US" b="1" dirty="0"/>
              <a:t>a horizontal flow hood </a:t>
            </a:r>
            <a:r>
              <a:rPr lang="en-US" dirty="0"/>
              <a:t>provides protection to the culture (if the air flowing towards the user) or to the user (if the air is drawn in through the front of the cabinet by negative air pressure inside). </a:t>
            </a:r>
            <a:r>
              <a:rPr lang="en-US" b="1" dirty="0"/>
              <a:t>Vertical flow hoods</a:t>
            </a:r>
            <a:r>
              <a:rPr lang="en-US" dirty="0"/>
              <a:t>, on the other hand, provide significant protection to the user and the cell culture</a:t>
            </a:r>
          </a:p>
          <a:p>
            <a:r>
              <a:rPr lang="en-US" dirty="0" err="1"/>
              <a:t>Prefilter</a:t>
            </a:r>
            <a:r>
              <a:rPr lang="en-US" dirty="0"/>
              <a:t> removes most particulate matter while the high efficiency particle filters (HEPA) capable of removing from air particulate matter that is greater than 0.3 um in diameter. This means that most but not all bac and fungi spores will be removed.</a:t>
            </a:r>
          </a:p>
          <a:p>
            <a:r>
              <a:rPr lang="en-US" dirty="0"/>
              <a:t>The air flow should be measured regularly with an anemometer to ensure that it is both steady and up to specifications</a:t>
            </a:r>
          </a:p>
          <a:p>
            <a:endParaRPr lang="en-US" dirty="0"/>
          </a:p>
        </p:txBody>
      </p:sp>
    </p:spTree>
    <p:extLst>
      <p:ext uri="{BB962C8B-B14F-4D97-AF65-F5344CB8AC3E}">
        <p14:creationId xmlns:p14="http://schemas.microsoft.com/office/powerpoint/2010/main" val="7792173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244600" y="-111760"/>
            <a:ext cx="9870440" cy="7106653"/>
          </a:xfrm>
        </p:spPr>
      </p:pic>
    </p:spTree>
    <p:extLst>
      <p:ext uri="{BB962C8B-B14F-4D97-AF65-F5344CB8AC3E}">
        <p14:creationId xmlns:p14="http://schemas.microsoft.com/office/powerpoint/2010/main" val="103082446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38200" y="518160"/>
            <a:ext cx="10515600" cy="5658803"/>
          </a:xfrm>
        </p:spPr>
        <p:txBody>
          <a:bodyPr>
            <a:normAutofit fontScale="85000" lnSpcReduction="20000"/>
          </a:bodyPr>
          <a:lstStyle/>
          <a:p>
            <a:r>
              <a:rPr lang="en-US" sz="3300" b="1" dirty="0" smtClean="0">
                <a:solidFill>
                  <a:srgbClr val="C00000"/>
                </a:solidFill>
              </a:rPr>
              <a:t>Incubator</a:t>
            </a:r>
            <a:r>
              <a:rPr lang="en-US" dirty="0" smtClean="0"/>
              <a:t> </a:t>
            </a:r>
          </a:p>
          <a:p>
            <a:pPr marL="0" indent="0">
              <a:buNone/>
            </a:pPr>
            <a:r>
              <a:rPr lang="en-US" dirty="0" smtClean="0"/>
              <a:t>The purpose of the incubator is to provide the appropriate environment for cell growth. The incubator should be large enough for your laboratory needs, have forced air circulation, and should have temperature control to within ±0.2°C. Stainless steel incubators allow easy cleaning and provide corrosion protection, especially if humid air is required for incubation.</a:t>
            </a:r>
          </a:p>
          <a:p>
            <a:r>
              <a:rPr lang="en-US" dirty="0" smtClean="0"/>
              <a:t>frequent cleaning of the incubator is essential to avoid contamination of cell cultures. </a:t>
            </a:r>
          </a:p>
          <a:p>
            <a:r>
              <a:rPr lang="en-US" b="1" dirty="0" smtClean="0"/>
              <a:t>Types of Incubators</a:t>
            </a:r>
            <a:r>
              <a:rPr lang="en-US" dirty="0" smtClean="0"/>
              <a:t>:</a:t>
            </a:r>
          </a:p>
          <a:p>
            <a:pPr marL="0" indent="0">
              <a:buNone/>
            </a:pPr>
            <a:r>
              <a:rPr lang="en-US" dirty="0" smtClean="0"/>
              <a:t> There are two basic types of incubators, dry incubators and humid 5% CO2 incubators. Dry incubators are more economical, but require the cell cultures to be incubated in sealed flasks to prevent evaporation. Placing a water dish in a dry incubator can provide some humidity, but they do not allow precise control of atmospheric conditions in the incubator.</a:t>
            </a:r>
          </a:p>
          <a:p>
            <a:pPr marL="0" indent="0">
              <a:buNone/>
            </a:pPr>
            <a:r>
              <a:rPr lang="en-US" dirty="0" smtClean="0"/>
              <a:t> Humid CO2 incubators are more expensive, but allow superior control of culture conditions. They can be used to incubate cells cultured in Petri dishes or multi-well plates, which require a controlled atmosphere of high humidity and increased CO2 tension.</a:t>
            </a:r>
          </a:p>
          <a:p>
            <a:endParaRPr lang="en-US" dirty="0"/>
          </a:p>
        </p:txBody>
      </p:sp>
    </p:spTree>
    <p:extLst>
      <p:ext uri="{BB962C8B-B14F-4D97-AF65-F5344CB8AC3E}">
        <p14:creationId xmlns:p14="http://schemas.microsoft.com/office/powerpoint/2010/main" val="279354777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b="1" dirty="0" smtClean="0"/>
              <a:t>Refrigerators</a:t>
            </a:r>
            <a:r>
              <a:rPr lang="en-US" dirty="0" smtClean="0"/>
              <a:t> :For small cell culture laboratories, a domestic refrigerator (preferably one without a </a:t>
            </a:r>
            <a:r>
              <a:rPr lang="en-US" dirty="0" err="1" smtClean="0"/>
              <a:t>autodefrost</a:t>
            </a:r>
            <a:r>
              <a:rPr lang="en-US" dirty="0" smtClean="0"/>
              <a:t> freezer) is an adequate and inexpensive piece of equipment for storing reagents and media at 2–8°C. For larger laboratories, a cold room restricted to cell culture is more appropriate. Make sure that the refrigerator or the cold room is cleaned regularly to avoid contamination. </a:t>
            </a:r>
          </a:p>
          <a:p>
            <a:r>
              <a:rPr lang="en-US" b="1" dirty="0"/>
              <a:t>Centrifuge</a:t>
            </a:r>
            <a:r>
              <a:rPr lang="en-US" dirty="0"/>
              <a:t>: refrigerated bench at rates of 1500 rpm or 499 g.</a:t>
            </a:r>
          </a:p>
          <a:p>
            <a:endParaRPr lang="en-US" dirty="0" smtClean="0"/>
          </a:p>
        </p:txBody>
      </p:sp>
    </p:spTree>
    <p:extLst>
      <p:ext uri="{BB962C8B-B14F-4D97-AF65-F5344CB8AC3E}">
        <p14:creationId xmlns:p14="http://schemas.microsoft.com/office/powerpoint/2010/main" val="41485773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3300" b="1" dirty="0"/>
              <a:t>Inverted microscope</a:t>
            </a:r>
            <a:r>
              <a:rPr lang="en-US" dirty="0"/>
              <a:t>:</a:t>
            </a:r>
          </a:p>
          <a:p>
            <a:pPr marL="0" indent="0">
              <a:buNone/>
            </a:pPr>
            <a:r>
              <a:rPr lang="en-US" dirty="0"/>
              <a:t> essential for daily observation of cells in culture for the assessment of cell growth and detection of possible infection. </a:t>
            </a:r>
          </a:p>
          <a:p>
            <a:pPr marL="0" indent="0">
              <a:buNone/>
            </a:pPr>
            <a:r>
              <a:rPr lang="en-US" dirty="0"/>
              <a:t>For </a:t>
            </a:r>
            <a:r>
              <a:rPr lang="en-US" dirty="0" err="1"/>
              <a:t>Hybridoma</a:t>
            </a:r>
            <a:r>
              <a:rPr lang="en-US" dirty="0"/>
              <a:t> work, a 10x and 20x objective with 10-15 eye piece give sufficient magnification</a:t>
            </a:r>
          </a:p>
          <a:p>
            <a:endParaRPr lang="en-US" dirty="0"/>
          </a:p>
        </p:txBody>
      </p:sp>
    </p:spTree>
    <p:extLst>
      <p:ext uri="{BB962C8B-B14F-4D97-AF65-F5344CB8AC3E}">
        <p14:creationId xmlns:p14="http://schemas.microsoft.com/office/powerpoint/2010/main" val="6482581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Inverted microscope</a:t>
            </a:r>
            <a:endParaRPr lang="en-US"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171399" y="0"/>
            <a:ext cx="6020601" cy="6614160"/>
          </a:xfrm>
        </p:spPr>
      </p:pic>
    </p:spTree>
    <p:extLst>
      <p:ext uri="{BB962C8B-B14F-4D97-AF65-F5344CB8AC3E}">
        <p14:creationId xmlns:p14="http://schemas.microsoft.com/office/powerpoint/2010/main" val="10063112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38200" y="481263"/>
            <a:ext cx="10515600" cy="5695700"/>
          </a:xfrm>
        </p:spPr>
        <p:txBody>
          <a:bodyPr>
            <a:normAutofit/>
          </a:bodyPr>
          <a:lstStyle/>
          <a:p>
            <a:r>
              <a:rPr lang="en-US" sz="3300" b="1" dirty="0" smtClean="0"/>
              <a:t>Liquid N2: </a:t>
            </a:r>
          </a:p>
          <a:p>
            <a:pPr marL="0" indent="0">
              <a:buNone/>
            </a:pPr>
            <a:r>
              <a:rPr lang="en-US" dirty="0" smtClean="0"/>
              <a:t>Cryogenic Storage Cell lines in continuous culture are likely to suffer from genetic instability as their passage number increases; therefore, it is essential to prepare working stocks of the cells and preserve them in cryogenic storage. Do not store cells in –20°C or –80°C freezers, because their viability quickly decreases when they are stored at these temperatures.</a:t>
            </a:r>
          </a:p>
          <a:p>
            <a:pPr marL="0" indent="0">
              <a:buNone/>
            </a:pPr>
            <a:r>
              <a:rPr lang="en-US" dirty="0" smtClean="0"/>
              <a:t>The long storage is liquid-nitrogen  systems, at -196</a:t>
            </a:r>
            <a:r>
              <a:rPr lang="en-US" baseline="30000" dirty="0" smtClean="0"/>
              <a:t>0</a:t>
            </a:r>
            <a:r>
              <a:rPr lang="en-US" dirty="0" smtClean="0"/>
              <a:t>C vapor phase and liquid phase, which come as wide-necked or narrow-necked storage containers. Vapor phase systems minimize the risk of explosion with </a:t>
            </a:r>
            <a:r>
              <a:rPr lang="en-US" dirty="0" err="1" smtClean="0"/>
              <a:t>cryostorage</a:t>
            </a:r>
            <a:r>
              <a:rPr lang="en-US" dirty="0" smtClean="0"/>
              <a:t> tubes, and are required for storing biohazardous materials, while the liquid phase systems usually have longer static holding times, and are therefore more economical. </a:t>
            </a:r>
          </a:p>
          <a:p>
            <a:endParaRPr lang="en-US" dirty="0"/>
          </a:p>
        </p:txBody>
      </p:sp>
    </p:spTree>
    <p:extLst>
      <p:ext uri="{BB962C8B-B14F-4D97-AF65-F5344CB8AC3E}">
        <p14:creationId xmlns:p14="http://schemas.microsoft.com/office/powerpoint/2010/main" val="4981895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 nitrogen containers</a:t>
            </a:r>
            <a:endParaRPr lang="en-US" dirty="0"/>
          </a:p>
        </p:txBody>
      </p:sp>
      <p:pic>
        <p:nvPicPr>
          <p:cNvPr id="2053" name="Picture 5" descr="Liquid Nitrogen Container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96160" y="1767840"/>
            <a:ext cx="7965440" cy="46532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545031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r>
              <a:rPr lang="en-US" sz="3300" b="1" dirty="0"/>
              <a:t>Cell Counter</a:t>
            </a:r>
          </a:p>
          <a:p>
            <a:pPr marL="0" indent="0">
              <a:buNone/>
            </a:pPr>
            <a:r>
              <a:rPr lang="en-US" dirty="0"/>
              <a:t> A cell counter is essential for quantitative growth kinetics, and a great advantage when more than two or three cell lines are cultured in the laboratory. </a:t>
            </a:r>
          </a:p>
          <a:p>
            <a:pPr marL="0" indent="0">
              <a:buNone/>
            </a:pPr>
            <a:r>
              <a:rPr lang="en-US" dirty="0"/>
              <a:t>The Countess® Automated Cell Counter is a bench-top instrument designed to measure cell count and viability (live, dead, and total cells) accurately and precisely in less than a minute per sample, using the standard Trypan Blue uptake technique. Using the same amount of sample that you currently use with the </a:t>
            </a:r>
            <a:r>
              <a:rPr lang="en-US" dirty="0" err="1"/>
              <a:t>hemacytometer</a:t>
            </a:r>
            <a:r>
              <a:rPr lang="en-US" dirty="0"/>
              <a:t>, the Countess® Automated Cell Counter takes less than a minute per sample for a typical cell count and is compatible with a wide variety of eukaryotic cells.</a:t>
            </a:r>
          </a:p>
        </p:txBody>
      </p:sp>
    </p:spTree>
    <p:extLst>
      <p:ext uri="{BB962C8B-B14F-4D97-AF65-F5344CB8AC3E}">
        <p14:creationId xmlns:p14="http://schemas.microsoft.com/office/powerpoint/2010/main" val="19005056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Cell counter</a:t>
            </a:r>
            <a:endParaRPr lang="en-US" dirty="0"/>
          </a:p>
        </p:txBody>
      </p:sp>
      <p:pic>
        <p:nvPicPr>
          <p:cNvPr id="1025" name="Picture 1" descr="https://www.thermofisher.com/content/dam/LifeTech/global/life-sciences/cellanalysis/Images/0914/countess_FL_large.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28445" y="1416368"/>
            <a:ext cx="5284869"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63086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consumables</a:t>
            </a:r>
            <a:endParaRPr lang="en-US"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776720" y="2082298"/>
            <a:ext cx="4450079" cy="4351338"/>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2255018"/>
            <a:ext cx="4993640" cy="6706102"/>
          </a:xfrm>
          <a:prstGeom prst="rect">
            <a:avLst/>
          </a:prstGeom>
        </p:spPr>
      </p:pic>
    </p:spTree>
    <p:extLst>
      <p:ext uri="{BB962C8B-B14F-4D97-AF65-F5344CB8AC3E}">
        <p14:creationId xmlns:p14="http://schemas.microsoft.com/office/powerpoint/2010/main" val="15875706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074" name="Picture 2" descr="Flask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96000" y="1906905"/>
            <a:ext cx="4351338" cy="4351338"/>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Multiwell Plat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575" y="2092960"/>
            <a:ext cx="5143500" cy="32235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15821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098" name="Picture 2" descr="Filtration"/>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952331" y="1899919"/>
            <a:ext cx="4351338" cy="3792539"/>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Scrapers, Lifters, Culture Slid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8135" y="1899920"/>
            <a:ext cx="5143500" cy="37925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820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122" name="Picture 2" descr="Media and Sera"/>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718299" y="1500505"/>
            <a:ext cx="4351338" cy="4351338"/>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Sample cooling and heat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7015" y="1835785"/>
            <a:ext cx="5143500" cy="36807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16682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148" name="Picture 4" descr="Eppendorf Safe-Lock Microcentrifuge Tube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920331" y="1825625"/>
            <a:ext cx="4351338"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77108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8194" name="Picture 2" descr="drummond pipet aid controllers on sal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73200" y="365125"/>
            <a:ext cx="8717280" cy="55411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36524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89915"/>
          </a:xfrm>
        </p:spPr>
        <p:txBody>
          <a:bodyPr>
            <a:normAutofit fontScale="90000"/>
          </a:bodyPr>
          <a:lstStyle/>
          <a:p>
            <a:r>
              <a:rPr lang="en-US" b="1" dirty="0"/>
              <a:t>Autoclave and oven</a:t>
            </a:r>
            <a:br>
              <a:rPr lang="en-US" b="1" dirty="0"/>
            </a:br>
            <a:endParaRPr lang="en-US" dirty="0"/>
          </a:p>
        </p:txBody>
      </p:sp>
      <p:sp>
        <p:nvSpPr>
          <p:cNvPr id="3" name="Content Placeholder 2"/>
          <p:cNvSpPr>
            <a:spLocks noGrp="1"/>
          </p:cNvSpPr>
          <p:nvPr>
            <p:ph idx="1"/>
          </p:nvPr>
        </p:nvSpPr>
        <p:spPr>
          <a:xfrm>
            <a:off x="838200" y="955040"/>
            <a:ext cx="10515600" cy="5221923"/>
          </a:xfrm>
        </p:spPr>
        <p:txBody>
          <a:bodyPr>
            <a:normAutofit/>
          </a:bodyPr>
          <a:lstStyle/>
          <a:p>
            <a:r>
              <a:rPr lang="en-US" dirty="0" smtClean="0"/>
              <a:t>Complete </a:t>
            </a:r>
            <a:r>
              <a:rPr lang="en-US" dirty="0" err="1" smtClean="0"/>
              <a:t>sterilisation</a:t>
            </a:r>
            <a:r>
              <a:rPr lang="en-US" dirty="0" smtClean="0"/>
              <a:t> are exposure for at least 20 min at 10-15 </a:t>
            </a:r>
            <a:r>
              <a:rPr lang="en-US" dirty="0" err="1" smtClean="0"/>
              <a:t>lb</a:t>
            </a:r>
            <a:r>
              <a:rPr lang="en-US" dirty="0" smtClean="0"/>
              <a:t>/in2 pressure and 120</a:t>
            </a:r>
            <a:r>
              <a:rPr lang="en-US" baseline="30000" dirty="0" smtClean="0"/>
              <a:t>0</a:t>
            </a:r>
            <a:r>
              <a:rPr lang="en-US" dirty="0" smtClean="0"/>
              <a:t>C.</a:t>
            </a:r>
          </a:p>
          <a:p>
            <a:r>
              <a:rPr lang="en-US" dirty="0" smtClean="0"/>
              <a:t>Solutions in glass bottles loosely fitted screw cap. On removing bottles from autoclave caps should be tightened immediately</a:t>
            </a:r>
          </a:p>
          <a:p>
            <a:r>
              <a:rPr lang="en-US" dirty="0" smtClean="0"/>
              <a:t>Glass pipettes plugged with cotton wool are autoclaved in a sealable metal container. Disposable sterile pipettes are available</a:t>
            </a:r>
          </a:p>
          <a:p>
            <a:r>
              <a:rPr lang="en-US" dirty="0" smtClean="0"/>
              <a:t>Glassware and dissecting sets can be sterilized by dry heat in the oven 90 min at 160</a:t>
            </a:r>
            <a:r>
              <a:rPr lang="en-US" baseline="30000" dirty="0" smtClean="0"/>
              <a:t>0</a:t>
            </a:r>
            <a:r>
              <a:rPr lang="en-US" dirty="0" smtClean="0"/>
              <a:t>C. Disposable sterile Culture flasks are available</a:t>
            </a:r>
          </a:p>
          <a:p>
            <a:r>
              <a:rPr lang="en-US" dirty="0"/>
              <a:t>Media is only sterilized by filtration and should not be autoclaved because </a:t>
            </a:r>
            <a:r>
              <a:rPr lang="en-US" dirty="0" err="1"/>
              <a:t>Gln</a:t>
            </a:r>
            <a:r>
              <a:rPr lang="en-US" dirty="0"/>
              <a:t> will be damaged, using 0.45 um filters prior to 0.2 um</a:t>
            </a:r>
          </a:p>
          <a:p>
            <a:endParaRPr lang="en-US" dirty="0" smtClean="0"/>
          </a:p>
        </p:txBody>
      </p:sp>
    </p:spTree>
    <p:extLst>
      <p:ext uri="{BB962C8B-B14F-4D97-AF65-F5344CB8AC3E}">
        <p14:creationId xmlns:p14="http://schemas.microsoft.com/office/powerpoint/2010/main" val="40967462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Storage</a:t>
            </a:r>
            <a:endParaRPr lang="en-US" dirty="0"/>
          </a:p>
        </p:txBody>
      </p:sp>
      <p:sp>
        <p:nvSpPr>
          <p:cNvPr id="3" name="Content Placeholder 2"/>
          <p:cNvSpPr>
            <a:spLocks noGrp="1"/>
          </p:cNvSpPr>
          <p:nvPr>
            <p:ph idx="1"/>
          </p:nvPr>
        </p:nvSpPr>
        <p:spPr/>
        <p:txBody>
          <a:bodyPr/>
          <a:lstStyle/>
          <a:p>
            <a:r>
              <a:rPr lang="en-US" dirty="0"/>
              <a:t>Culture media is stored at 4</a:t>
            </a:r>
            <a:r>
              <a:rPr lang="en-US" baseline="30000" dirty="0"/>
              <a:t>0</a:t>
            </a:r>
            <a:r>
              <a:rPr lang="en-US" dirty="0"/>
              <a:t>C </a:t>
            </a:r>
          </a:p>
          <a:p>
            <a:r>
              <a:rPr lang="en-US" dirty="0"/>
              <a:t>Storage of FCS at -20</a:t>
            </a:r>
            <a:r>
              <a:rPr lang="en-US" baseline="30000" dirty="0"/>
              <a:t>0</a:t>
            </a:r>
            <a:r>
              <a:rPr lang="en-US" dirty="0"/>
              <a:t>C</a:t>
            </a:r>
          </a:p>
          <a:p>
            <a:r>
              <a:rPr lang="en-US" dirty="0"/>
              <a:t>Short-term storage of cells at -80</a:t>
            </a:r>
            <a:r>
              <a:rPr lang="en-US" baseline="30000" dirty="0"/>
              <a:t>0</a:t>
            </a:r>
            <a:r>
              <a:rPr lang="en-US" dirty="0"/>
              <a:t>C</a:t>
            </a:r>
          </a:p>
          <a:p>
            <a:r>
              <a:rPr lang="en-US" dirty="0"/>
              <a:t>Long-term storage of cells at L nitrogen </a:t>
            </a:r>
          </a:p>
          <a:p>
            <a:endParaRPr lang="en-US" dirty="0"/>
          </a:p>
        </p:txBody>
      </p:sp>
    </p:spTree>
    <p:extLst>
      <p:ext uri="{BB962C8B-B14F-4D97-AF65-F5344CB8AC3E}">
        <p14:creationId xmlns:p14="http://schemas.microsoft.com/office/powerpoint/2010/main" val="2194580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Routine cleaning the TC lab</a:t>
            </a:r>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t>Daily tasks</a:t>
            </a:r>
          </a:p>
          <a:p>
            <a:pPr marL="0" indent="0">
              <a:buNone/>
            </a:pPr>
            <a:r>
              <a:rPr lang="en-US" dirty="0" smtClean="0"/>
              <a:t>-Mop the floor with detergent at the end of the day</a:t>
            </a:r>
          </a:p>
          <a:p>
            <a:r>
              <a:rPr lang="en-US" b="1" dirty="0" smtClean="0"/>
              <a:t>Weekly tasks</a:t>
            </a:r>
          </a:p>
          <a:p>
            <a:pPr marL="0" indent="0">
              <a:buNone/>
            </a:pPr>
            <a:r>
              <a:rPr lang="en-US" dirty="0" smtClean="0"/>
              <a:t>-Wipe all general surfaces with 70% alcohol</a:t>
            </a:r>
          </a:p>
          <a:p>
            <a:pPr marL="0" indent="0">
              <a:buNone/>
            </a:pPr>
            <a:r>
              <a:rPr lang="en-US" dirty="0" smtClean="0"/>
              <a:t>-wash L flow with detergent followed by 70% alcohol</a:t>
            </a:r>
          </a:p>
          <a:p>
            <a:pPr marL="0" indent="0">
              <a:buNone/>
            </a:pPr>
            <a:r>
              <a:rPr lang="en-US" dirty="0" smtClean="0"/>
              <a:t>-replace the humidity water in the incubator </a:t>
            </a:r>
          </a:p>
          <a:p>
            <a:pPr marL="0" indent="0">
              <a:buNone/>
            </a:pPr>
            <a:r>
              <a:rPr lang="en-US" dirty="0" smtClean="0"/>
              <a:t>-pour disinfectant in the sink</a:t>
            </a:r>
          </a:p>
          <a:p>
            <a:r>
              <a:rPr lang="en-US" b="1" dirty="0" smtClean="0"/>
              <a:t>Every 3 months</a:t>
            </a:r>
          </a:p>
          <a:p>
            <a:pPr marL="0" indent="0">
              <a:buNone/>
            </a:pPr>
            <a:r>
              <a:rPr lang="en-US" dirty="0" smtClean="0"/>
              <a:t>-dismantle the inside of the incubator wash with detergent and alcohol</a:t>
            </a:r>
          </a:p>
          <a:p>
            <a:pPr marL="0" indent="0">
              <a:buNone/>
            </a:pPr>
            <a:r>
              <a:rPr lang="en-US" dirty="0" smtClean="0"/>
              <a:t>-wash </a:t>
            </a:r>
            <a:r>
              <a:rPr lang="en-US" dirty="0" err="1" smtClean="0"/>
              <a:t>prefilter</a:t>
            </a:r>
            <a:r>
              <a:rPr lang="en-US" dirty="0" smtClean="0"/>
              <a:t> of L flow with detergent rinse and replace</a:t>
            </a:r>
            <a:endParaRPr lang="en-US" dirty="0"/>
          </a:p>
        </p:txBody>
      </p:sp>
    </p:spTree>
    <p:extLst>
      <p:ext uri="{BB962C8B-B14F-4D97-AF65-F5344CB8AC3E}">
        <p14:creationId xmlns:p14="http://schemas.microsoft.com/office/powerpoint/2010/main" val="4336832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b="1" dirty="0" smtClean="0"/>
              <a:t>Personal hygiene</a:t>
            </a:r>
          </a:p>
          <a:p>
            <a:pPr marL="0" indent="0">
              <a:buNone/>
            </a:pPr>
            <a:r>
              <a:rPr lang="en-US" dirty="0" smtClean="0"/>
              <a:t>-Wear a clean lab coat reserved for </a:t>
            </a:r>
            <a:r>
              <a:rPr lang="en-US" dirty="0" err="1" smtClean="0"/>
              <a:t>tc</a:t>
            </a:r>
            <a:endParaRPr lang="en-US" dirty="0" smtClean="0"/>
          </a:p>
          <a:p>
            <a:pPr marL="0" indent="0">
              <a:buNone/>
            </a:pPr>
            <a:r>
              <a:rPr lang="en-US" dirty="0" smtClean="0"/>
              <a:t>-Disposable foot cover</a:t>
            </a:r>
          </a:p>
          <a:p>
            <a:pPr marL="0" indent="0">
              <a:buNone/>
            </a:pPr>
            <a:r>
              <a:rPr lang="en-US" dirty="0" smtClean="0"/>
              <a:t>-Paper hairnet</a:t>
            </a:r>
          </a:p>
          <a:p>
            <a:pPr marL="0" indent="0">
              <a:buNone/>
            </a:pPr>
            <a:r>
              <a:rPr lang="en-US" dirty="0" smtClean="0"/>
              <a:t>-Try not to sneeze or talk while working </a:t>
            </a:r>
          </a:p>
          <a:p>
            <a:pPr marL="0" indent="0">
              <a:buNone/>
            </a:pPr>
            <a:r>
              <a:rPr lang="en-US" dirty="0" smtClean="0"/>
              <a:t>-wash hands before and after work</a:t>
            </a:r>
          </a:p>
          <a:p>
            <a:pPr marL="0" indent="0">
              <a:buNone/>
            </a:pPr>
            <a:r>
              <a:rPr lang="en-US" dirty="0" smtClean="0"/>
              <a:t>-Fingernails should be cut</a:t>
            </a:r>
          </a:p>
          <a:p>
            <a:pPr marL="0" indent="0">
              <a:buNone/>
            </a:pPr>
            <a:r>
              <a:rPr lang="en-US" dirty="0" smtClean="0"/>
              <a:t>-No food or drinks </a:t>
            </a:r>
            <a:endParaRPr lang="en-US" dirty="0"/>
          </a:p>
        </p:txBody>
      </p:sp>
    </p:spTree>
    <p:extLst>
      <p:ext uri="{BB962C8B-B14F-4D97-AF65-F5344CB8AC3E}">
        <p14:creationId xmlns:p14="http://schemas.microsoft.com/office/powerpoint/2010/main" val="28455619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68526"/>
          </a:xfrm>
        </p:spPr>
        <p:txBody>
          <a:bodyPr>
            <a:normAutofit/>
          </a:bodyPr>
          <a:lstStyle/>
          <a:p>
            <a:r>
              <a:rPr lang="en-US" sz="3200" b="1" dirty="0" smtClean="0"/>
              <a:t>Sterile Work Area </a:t>
            </a:r>
            <a:endParaRPr lang="en-US" sz="3200" b="1" dirty="0"/>
          </a:p>
        </p:txBody>
      </p:sp>
      <p:sp>
        <p:nvSpPr>
          <p:cNvPr id="3" name="Content Placeholder 2"/>
          <p:cNvSpPr>
            <a:spLocks noGrp="1"/>
          </p:cNvSpPr>
          <p:nvPr>
            <p:ph idx="1"/>
          </p:nvPr>
        </p:nvSpPr>
        <p:spPr>
          <a:xfrm>
            <a:off x="838200" y="1155032"/>
            <a:ext cx="10515600" cy="5021931"/>
          </a:xfrm>
        </p:spPr>
        <p:txBody>
          <a:bodyPr>
            <a:normAutofit fontScale="77500" lnSpcReduction="20000"/>
          </a:bodyPr>
          <a:lstStyle/>
          <a:p>
            <a:r>
              <a:rPr lang="en-US" dirty="0" smtClean="0"/>
              <a:t>The simplest and most economical way to reduce contamination from airborne particles and aerosols (e.g., dust, spores, shed skin, sneezing) is to use a cell culture hood. </a:t>
            </a:r>
          </a:p>
          <a:p>
            <a:r>
              <a:rPr lang="en-US" dirty="0" smtClean="0"/>
              <a:t>The cell culture hood should be properly set up and be located in an area that is restricted to cell culture that is free from drafts from doors, windows, and other equipment, and with no through traffic. </a:t>
            </a:r>
          </a:p>
          <a:p>
            <a:r>
              <a:rPr lang="en-US" dirty="0" smtClean="0"/>
              <a:t>The work surface should be uncluttered and contain only items required for a particular procedure; it should not be used as a storage area. </a:t>
            </a:r>
          </a:p>
          <a:p>
            <a:r>
              <a:rPr lang="en-US" dirty="0" smtClean="0"/>
              <a:t>Before and after use, the work surface should be disinfected thoroughly, and the surrounding areas and equipment should be cleaned routinely.</a:t>
            </a:r>
          </a:p>
          <a:p>
            <a:r>
              <a:rPr lang="en-US" dirty="0" smtClean="0"/>
              <a:t> For routine cleaning, wipe the work surface with 70% ethanol before and during work, especially after any spillage.</a:t>
            </a:r>
          </a:p>
          <a:p>
            <a:r>
              <a:rPr lang="en-US" dirty="0" smtClean="0"/>
              <a:t> You may use ultraviolet light to sterilize the air and exposed work surfaces in the cell culture hood between uses</a:t>
            </a:r>
          </a:p>
          <a:p>
            <a:r>
              <a:rPr lang="en-US" dirty="0" smtClean="0"/>
              <a:t>Using a Bunsen burner for flaming is not necessary nor recommended in a cell culture hood. </a:t>
            </a:r>
          </a:p>
          <a:p>
            <a:r>
              <a:rPr lang="en-US" dirty="0" smtClean="0"/>
              <a:t>Leave the cell culture hood running at all times, turning them off only when they will not be used for extended periods of time.</a:t>
            </a:r>
          </a:p>
          <a:p>
            <a:endParaRPr lang="en-US" dirty="0"/>
          </a:p>
        </p:txBody>
      </p:sp>
    </p:spTree>
    <p:extLst>
      <p:ext uri="{BB962C8B-B14F-4D97-AF65-F5344CB8AC3E}">
        <p14:creationId xmlns:p14="http://schemas.microsoft.com/office/powerpoint/2010/main" val="9615505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122" name="Picture 2" descr="3. Organ culture and its culture methods&#10; The entire embryos or organs are excised from the body and&#10;culture&#10; In-vitro c..."/>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29360" y="365125"/>
            <a:ext cx="9570720" cy="5811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8743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Media</a:t>
            </a:r>
          </a:p>
        </p:txBody>
      </p:sp>
      <p:sp>
        <p:nvSpPr>
          <p:cNvPr id="3" name="Content Placeholder 2"/>
          <p:cNvSpPr>
            <a:spLocks noGrp="1"/>
          </p:cNvSpPr>
          <p:nvPr>
            <p:ph idx="1"/>
          </p:nvPr>
        </p:nvSpPr>
        <p:spPr/>
        <p:txBody>
          <a:bodyPr>
            <a:normAutofit fontScale="92500"/>
          </a:bodyPr>
          <a:lstStyle/>
          <a:p>
            <a:r>
              <a:rPr lang="en-US" dirty="0" smtClean="0"/>
              <a:t>The </a:t>
            </a:r>
            <a:r>
              <a:rPr lang="en-US" dirty="0"/>
              <a:t>culture medium is the most important component of the culture environment, because it provides the necessary nutrients, growth factors, and hormones for cell growth, as well as regulating the pH and the osmotic pressure of the culture</a:t>
            </a:r>
            <a:r>
              <a:rPr lang="en-US" dirty="0" smtClean="0"/>
              <a:t>.</a:t>
            </a:r>
          </a:p>
          <a:p>
            <a:r>
              <a:rPr lang="en-US" b="1" dirty="0" smtClean="0"/>
              <a:t>Liquid vs powder media</a:t>
            </a:r>
          </a:p>
          <a:p>
            <a:pPr marL="0" indent="0">
              <a:buNone/>
            </a:pPr>
            <a:r>
              <a:rPr lang="en-US" dirty="0" smtClean="0"/>
              <a:t>Powde</a:t>
            </a:r>
            <a:r>
              <a:rPr lang="en-US" dirty="0"/>
              <a:t>rs</a:t>
            </a:r>
            <a:r>
              <a:rPr lang="en-US" dirty="0" smtClean="0"/>
              <a:t> </a:t>
            </a:r>
            <a:r>
              <a:rPr lang="en-US" dirty="0"/>
              <a:t>are </a:t>
            </a:r>
            <a:r>
              <a:rPr lang="en-US" dirty="0" smtClean="0"/>
              <a:t>cheaper, </a:t>
            </a:r>
            <a:r>
              <a:rPr lang="en-US" dirty="0"/>
              <a:t>take up </a:t>
            </a:r>
            <a:r>
              <a:rPr lang="en-US" dirty="0" smtClean="0"/>
              <a:t>less storage space, and have longer </a:t>
            </a:r>
            <a:r>
              <a:rPr lang="en-US" dirty="0"/>
              <a:t>shelf </a:t>
            </a:r>
            <a:r>
              <a:rPr lang="en-US" dirty="0" smtClean="0"/>
              <a:t>life.</a:t>
            </a:r>
          </a:p>
          <a:p>
            <a:pPr marL="0" indent="0">
              <a:buNone/>
            </a:pPr>
            <a:r>
              <a:rPr lang="en-US" dirty="0" smtClean="0"/>
              <a:t>Large volumes of water will be needed for reconstitution and take longer to prepare. Liquid media should be kept no longer than 1 year whereas powders can be kept for 2 years.</a:t>
            </a:r>
          </a:p>
          <a:p>
            <a:pPr marL="0" indent="0">
              <a:buNone/>
            </a:pPr>
            <a:r>
              <a:rPr lang="en-US" dirty="0" smtClean="0"/>
              <a:t>Commonly used media: RPMI 1640, DMEM</a:t>
            </a:r>
            <a:endParaRPr lang="en-US" dirty="0"/>
          </a:p>
        </p:txBody>
      </p:sp>
    </p:spTree>
    <p:extLst>
      <p:ext uri="{BB962C8B-B14F-4D97-AF65-F5344CB8AC3E}">
        <p14:creationId xmlns:p14="http://schemas.microsoft.com/office/powerpoint/2010/main" val="26036012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38200" y="365125"/>
            <a:ext cx="10515600" cy="5811838"/>
          </a:xfrm>
        </p:spPr>
        <p:txBody>
          <a:bodyPr>
            <a:normAutofit fontScale="62500" lnSpcReduction="20000"/>
          </a:bodyPr>
          <a:lstStyle/>
          <a:p>
            <a:r>
              <a:rPr lang="en-US" sz="3800" b="1" dirty="0" smtClean="0"/>
              <a:t>Essential additives</a:t>
            </a:r>
          </a:p>
          <a:p>
            <a:pPr marL="514350" indent="-514350">
              <a:buAutoNum type="arabicPeriod"/>
            </a:pPr>
            <a:r>
              <a:rPr lang="en-US" dirty="0" smtClean="0"/>
              <a:t>PH</a:t>
            </a:r>
          </a:p>
          <a:p>
            <a:pPr marL="0" indent="0">
              <a:buNone/>
            </a:pPr>
            <a:r>
              <a:rPr lang="en-US" dirty="0"/>
              <a:t>Most normal mammalian cell lines grow well at pH 7.4 	</a:t>
            </a:r>
            <a:endParaRPr lang="en-US" dirty="0" smtClean="0"/>
          </a:p>
          <a:p>
            <a:pPr marL="0" indent="0">
              <a:buNone/>
            </a:pPr>
            <a:r>
              <a:rPr lang="en-US" dirty="0" smtClean="0"/>
              <a:t>Most </a:t>
            </a:r>
            <a:r>
              <a:rPr lang="en-US" dirty="0"/>
              <a:t>human and mammalian cell lines are maintained at 36°C to 37°C for optimal growth. </a:t>
            </a:r>
            <a:endParaRPr lang="en-US" dirty="0" smtClean="0"/>
          </a:p>
          <a:p>
            <a:pPr marL="0" indent="0">
              <a:buNone/>
            </a:pPr>
            <a:r>
              <a:rPr lang="en-US" dirty="0" smtClean="0"/>
              <a:t>-bicarbonate buffer</a:t>
            </a:r>
          </a:p>
          <a:p>
            <a:pPr marL="0" indent="0">
              <a:buNone/>
            </a:pPr>
            <a:r>
              <a:rPr lang="en-US" dirty="0" smtClean="0"/>
              <a:t>-Na pyruvate increase production of endogenous CO2</a:t>
            </a:r>
          </a:p>
          <a:p>
            <a:pPr marL="0" indent="0">
              <a:buNone/>
            </a:pPr>
            <a:r>
              <a:rPr lang="en-US" dirty="0" smtClean="0"/>
              <a:t>-HEPES: avoided at fusion experiment</a:t>
            </a:r>
          </a:p>
          <a:p>
            <a:pPr marL="0" indent="0">
              <a:buNone/>
            </a:pPr>
            <a:r>
              <a:rPr lang="en-US" dirty="0" smtClean="0"/>
              <a:t>-Atmospheric CO2 5%</a:t>
            </a:r>
          </a:p>
          <a:p>
            <a:pPr marL="0" indent="0">
              <a:buNone/>
            </a:pPr>
            <a:r>
              <a:rPr lang="en-US" dirty="0" smtClean="0"/>
              <a:t>Phenol red is incorporated as a PH indicator:</a:t>
            </a:r>
          </a:p>
          <a:p>
            <a:pPr marL="0" indent="0">
              <a:buNone/>
            </a:pPr>
            <a:r>
              <a:rPr lang="en-US" dirty="0"/>
              <a:t>	</a:t>
            </a:r>
            <a:r>
              <a:rPr lang="en-US" dirty="0" smtClean="0"/>
              <a:t>purple PH 7.8, red PH 7.4, orange at PH 7 and yellow at PH 6.5 </a:t>
            </a:r>
            <a:endParaRPr lang="en-US" dirty="0"/>
          </a:p>
          <a:p>
            <a:pPr marL="0" indent="0">
              <a:buNone/>
            </a:pPr>
            <a:r>
              <a:rPr lang="en-US" b="1" dirty="0" smtClean="0"/>
              <a:t>2. Glutamine:</a:t>
            </a:r>
          </a:p>
          <a:p>
            <a:pPr marL="0" indent="0">
              <a:buNone/>
            </a:pPr>
            <a:r>
              <a:rPr lang="en-US" dirty="0" smtClean="0"/>
              <a:t>Unstable in solution: 3 weeks at 4</a:t>
            </a:r>
            <a:r>
              <a:rPr lang="en-US" baseline="30000" dirty="0"/>
              <a:t>0</a:t>
            </a:r>
            <a:r>
              <a:rPr lang="en-US" dirty="0" smtClean="0"/>
              <a:t>C and 1 week at 37</a:t>
            </a:r>
            <a:r>
              <a:rPr lang="en-US" baseline="30000" dirty="0" smtClean="0"/>
              <a:t>0</a:t>
            </a:r>
            <a:r>
              <a:rPr lang="en-US" dirty="0" smtClean="0"/>
              <a:t>C</a:t>
            </a:r>
          </a:p>
          <a:p>
            <a:pPr marL="0" indent="0">
              <a:buNone/>
            </a:pPr>
            <a:r>
              <a:rPr lang="en-US" dirty="0" smtClean="0"/>
              <a:t>Purchased as 100x frozen or lyophilized powder</a:t>
            </a:r>
          </a:p>
          <a:p>
            <a:pPr marL="0" indent="0">
              <a:buNone/>
            </a:pPr>
            <a:r>
              <a:rPr lang="en-US" b="1" dirty="0" smtClean="0"/>
              <a:t>3. Serum</a:t>
            </a:r>
          </a:p>
          <a:p>
            <a:pPr marL="0" indent="0">
              <a:buNone/>
            </a:pPr>
            <a:r>
              <a:rPr lang="en-US" dirty="0" smtClean="0"/>
              <a:t>0  or serum free washing media</a:t>
            </a:r>
          </a:p>
          <a:p>
            <a:pPr marL="0" indent="0">
              <a:buNone/>
            </a:pPr>
            <a:r>
              <a:rPr lang="en-US" dirty="0" smtClean="0"/>
              <a:t>5-10% fetal calf serum  </a:t>
            </a:r>
            <a:r>
              <a:rPr lang="en-US" dirty="0" err="1" smtClean="0"/>
              <a:t>hybridoma</a:t>
            </a:r>
            <a:r>
              <a:rPr lang="en-US" dirty="0" smtClean="0"/>
              <a:t> culture</a:t>
            </a:r>
          </a:p>
          <a:p>
            <a:pPr marL="0" indent="0">
              <a:buNone/>
            </a:pPr>
            <a:r>
              <a:rPr lang="en-US" dirty="0" smtClean="0"/>
              <a:t>20% FCS Fusion and cloning</a:t>
            </a:r>
          </a:p>
          <a:p>
            <a:pPr marL="0" indent="0">
              <a:buNone/>
            </a:pPr>
            <a:r>
              <a:rPr lang="en-US" dirty="0" smtClean="0"/>
              <a:t>90% storage </a:t>
            </a:r>
            <a:r>
              <a:rPr lang="en-US" dirty="0" err="1" smtClean="0"/>
              <a:t>hybridoma</a:t>
            </a:r>
            <a:r>
              <a:rPr lang="en-US" dirty="0" smtClean="0"/>
              <a:t> in liquid N2</a:t>
            </a:r>
            <a:endParaRPr lang="en-US" dirty="0"/>
          </a:p>
        </p:txBody>
      </p:sp>
    </p:spTree>
    <p:extLst>
      <p:ext uri="{BB962C8B-B14F-4D97-AF65-F5344CB8AC3E}">
        <p14:creationId xmlns:p14="http://schemas.microsoft.com/office/powerpoint/2010/main" val="12966098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marL="0" indent="0">
              <a:buNone/>
            </a:pPr>
            <a:r>
              <a:rPr lang="en-US" dirty="0" smtClean="0"/>
              <a:t>4. Antibiotics</a:t>
            </a:r>
          </a:p>
          <a:p>
            <a:pPr marL="0" indent="0">
              <a:buNone/>
            </a:pPr>
            <a:r>
              <a:rPr lang="en-US" dirty="0" smtClean="0"/>
              <a:t>Penicillin 100U/ml  (gram +) and Streptomycin 100 </a:t>
            </a:r>
            <a:r>
              <a:rPr lang="en-US" dirty="0" err="1" smtClean="0"/>
              <a:t>ug</a:t>
            </a:r>
            <a:r>
              <a:rPr lang="en-US" dirty="0" smtClean="0"/>
              <a:t>/ml (gram -)</a:t>
            </a:r>
          </a:p>
          <a:p>
            <a:pPr marL="0" indent="0">
              <a:buNone/>
            </a:pPr>
            <a:r>
              <a:rPr lang="en-US" dirty="0" smtClean="0"/>
              <a:t>5. Beta-</a:t>
            </a:r>
            <a:r>
              <a:rPr lang="en-US" dirty="0" err="1" smtClean="0"/>
              <a:t>mercaptoethanol</a:t>
            </a:r>
            <a:endParaRPr lang="en-US" dirty="0" smtClean="0"/>
          </a:p>
          <a:p>
            <a:pPr marL="0" indent="0">
              <a:buNone/>
            </a:pPr>
            <a:r>
              <a:rPr lang="en-US" dirty="0" smtClean="0"/>
              <a:t>Enhance Ab production by spleen cells and renders </a:t>
            </a:r>
            <a:r>
              <a:rPr lang="en-US" dirty="0" err="1" smtClean="0"/>
              <a:t>hybridoma</a:t>
            </a:r>
            <a:r>
              <a:rPr lang="en-US" dirty="0" smtClean="0"/>
              <a:t> less</a:t>
            </a:r>
          </a:p>
          <a:p>
            <a:pPr marL="0" indent="0">
              <a:buNone/>
            </a:pPr>
            <a:r>
              <a:rPr lang="en-US" dirty="0" smtClean="0"/>
              <a:t>dependent on particular patches of serum</a:t>
            </a:r>
          </a:p>
          <a:p>
            <a:pPr marL="0" indent="0">
              <a:buNone/>
            </a:pPr>
            <a:r>
              <a:rPr lang="en-US" dirty="0" smtClean="0"/>
              <a:t>-Media is only sterilized by filtration and should not be autoclaved because </a:t>
            </a:r>
            <a:r>
              <a:rPr lang="en-US" dirty="0" err="1" smtClean="0"/>
              <a:t>Gln</a:t>
            </a:r>
            <a:r>
              <a:rPr lang="en-US" dirty="0" smtClean="0"/>
              <a:t> will be damaged, using 0.45 um filters prior to 0.2 um</a:t>
            </a:r>
          </a:p>
          <a:p>
            <a:pPr marL="0" indent="0">
              <a:buNone/>
            </a:pPr>
            <a:r>
              <a:rPr lang="en-US" dirty="0" smtClean="0"/>
              <a:t>-Avoid multiple sampling of stock solution to minimize contamination</a:t>
            </a:r>
          </a:p>
          <a:p>
            <a:pPr marL="0" indent="0">
              <a:buNone/>
            </a:pPr>
            <a:r>
              <a:rPr lang="en-US" b="1" dirty="0" smtClean="0"/>
              <a:t>-Sterility testing</a:t>
            </a:r>
            <a:r>
              <a:rPr lang="en-US" dirty="0" smtClean="0"/>
              <a:t>:</a:t>
            </a:r>
          </a:p>
          <a:p>
            <a:pPr marL="0" indent="0">
              <a:buNone/>
            </a:pPr>
            <a:r>
              <a:rPr lang="en-US" dirty="0" smtClean="0"/>
              <a:t>Small sample of medium in a sealed bottle at R.T. for few days</a:t>
            </a:r>
            <a:endParaRPr lang="en-US" dirty="0"/>
          </a:p>
        </p:txBody>
      </p:sp>
    </p:spTree>
    <p:extLst>
      <p:ext uri="{BB962C8B-B14F-4D97-AF65-F5344CB8AC3E}">
        <p14:creationId xmlns:p14="http://schemas.microsoft.com/office/powerpoint/2010/main" val="2393300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098" name="Picture 2" descr="Types of animal cell culture&#10;1. Primary cell culture:&#10; Primary cell culture is the disassociation of cells from a parenta..."/>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365125"/>
            <a:ext cx="9768840" cy="62998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93213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04896"/>
          </a:xfrm>
        </p:spPr>
        <p:txBody>
          <a:bodyPr>
            <a:noAutofit/>
          </a:bodyPr>
          <a:lstStyle/>
          <a:p>
            <a:r>
              <a:rPr lang="en-US" sz="2800" b="1" dirty="0" smtClean="0"/>
              <a:t>Contamination</a:t>
            </a:r>
            <a:endParaRPr lang="en-US" sz="2800" b="1" dirty="0"/>
          </a:p>
        </p:txBody>
      </p:sp>
      <p:sp>
        <p:nvSpPr>
          <p:cNvPr id="3" name="Content Placeholder 2"/>
          <p:cNvSpPr>
            <a:spLocks noGrp="1"/>
          </p:cNvSpPr>
          <p:nvPr>
            <p:ph idx="1"/>
          </p:nvPr>
        </p:nvSpPr>
        <p:spPr>
          <a:xfrm>
            <a:off x="838200" y="1058779"/>
            <a:ext cx="10515600" cy="5118184"/>
          </a:xfrm>
        </p:spPr>
        <p:txBody>
          <a:bodyPr>
            <a:normAutofit fontScale="77500" lnSpcReduction="20000"/>
          </a:bodyPr>
          <a:lstStyle/>
          <a:p>
            <a:pPr marL="0" indent="0">
              <a:buNone/>
            </a:pPr>
            <a:r>
              <a:rPr lang="en-US" dirty="0"/>
              <a:t>Contamination of cell cultures is easily the most common problem encountered in cell culture laboratories, sometimes with very serious consequences. Cell culture contaminants can be divided into two main categories, chemical contaminants such as impurities in media, sera, and water, endotoxins, plasticizers, and detergents, and biological contaminants such as bacteria, molds, yeasts, viruses, mycoplasma, as well as cross contamination by other cell lines</a:t>
            </a:r>
            <a:r>
              <a:rPr lang="en-US" dirty="0" smtClean="0"/>
              <a:t>.</a:t>
            </a:r>
          </a:p>
          <a:p>
            <a:pPr marL="0" indent="0">
              <a:buNone/>
            </a:pPr>
            <a:r>
              <a:rPr lang="en-US" sz="3600" b="1" dirty="0" smtClean="0">
                <a:solidFill>
                  <a:srgbClr val="FF0000"/>
                </a:solidFill>
              </a:rPr>
              <a:t>Bacteria</a:t>
            </a:r>
            <a:r>
              <a:rPr lang="en-US" b="1" dirty="0" smtClean="0"/>
              <a:t>:</a:t>
            </a:r>
          </a:p>
          <a:p>
            <a:r>
              <a:rPr lang="en-US" dirty="0" smtClean="0"/>
              <a:t> </a:t>
            </a:r>
            <a:r>
              <a:rPr lang="en-US" dirty="0"/>
              <a:t>Because of their ubiquity, size, and fast growth rates, bacteria, along with yeasts and molds, are the most commonly encountered biological contaminants in cell culture. </a:t>
            </a:r>
            <a:endParaRPr lang="en-US" dirty="0" smtClean="0"/>
          </a:p>
          <a:p>
            <a:r>
              <a:rPr lang="en-US" dirty="0" smtClean="0"/>
              <a:t>Bacterial </a:t>
            </a:r>
            <a:r>
              <a:rPr lang="en-US" dirty="0"/>
              <a:t>contamination is easily detected by visual inspection of the culture within a few days of it becoming infected; infected cultures usually appear cloudy (i.e., turbid), sometimes with a thin film on the surface. </a:t>
            </a:r>
            <a:endParaRPr lang="en-US" dirty="0" smtClean="0"/>
          </a:p>
          <a:p>
            <a:r>
              <a:rPr lang="en-US" dirty="0" smtClean="0"/>
              <a:t>Sudden </a:t>
            </a:r>
            <a:r>
              <a:rPr lang="en-US" dirty="0"/>
              <a:t>drops in the pH of the culture medium is also frequently encountered. </a:t>
            </a:r>
            <a:endParaRPr lang="en-US" dirty="0" smtClean="0"/>
          </a:p>
          <a:p>
            <a:r>
              <a:rPr lang="en-US" dirty="0" smtClean="0"/>
              <a:t>Under </a:t>
            </a:r>
            <a:r>
              <a:rPr lang="en-US" dirty="0"/>
              <a:t>a </a:t>
            </a:r>
            <a:r>
              <a:rPr lang="en-US" dirty="0" smtClean="0"/>
              <a:t>low power </a:t>
            </a:r>
            <a:r>
              <a:rPr lang="en-US" dirty="0"/>
              <a:t>microscope, the bacteria appear as tiny, moving granules between the cells, and observation under a high-power microscope can resolve the shapes of individual bacteria. </a:t>
            </a:r>
            <a:endParaRPr lang="en-US" dirty="0" smtClean="0"/>
          </a:p>
          <a:p>
            <a:r>
              <a:rPr lang="en-US" dirty="0" smtClean="0"/>
              <a:t>Recommended antibiotics: Pen &amp; strep &amp; Gentamicin</a:t>
            </a:r>
            <a:endParaRPr lang="en-US" dirty="0"/>
          </a:p>
        </p:txBody>
      </p:sp>
    </p:spTree>
    <p:extLst>
      <p:ext uri="{BB962C8B-B14F-4D97-AF65-F5344CB8AC3E}">
        <p14:creationId xmlns:p14="http://schemas.microsoft.com/office/powerpoint/2010/main" val="133880326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7051040" y="2431731"/>
            <a:ext cx="5059680" cy="5709602"/>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841" y="2431731"/>
            <a:ext cx="6207760" cy="7185661"/>
          </a:xfrm>
          <a:prstGeom prst="rect">
            <a:avLst/>
          </a:prstGeom>
        </p:spPr>
      </p:pic>
    </p:spTree>
    <p:extLst>
      <p:ext uri="{BB962C8B-B14F-4D97-AF65-F5344CB8AC3E}">
        <p14:creationId xmlns:p14="http://schemas.microsoft.com/office/powerpoint/2010/main" val="29305481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38200" y="365125"/>
            <a:ext cx="10515600" cy="5811838"/>
          </a:xfrm>
        </p:spPr>
        <p:txBody>
          <a:bodyPr>
            <a:normAutofit/>
          </a:bodyPr>
          <a:lstStyle/>
          <a:p>
            <a:pPr marL="0" indent="0">
              <a:buNone/>
            </a:pPr>
            <a:r>
              <a:rPr lang="en-US" sz="3600" b="1" dirty="0" smtClean="0">
                <a:solidFill>
                  <a:srgbClr val="FF0000"/>
                </a:solidFill>
              </a:rPr>
              <a:t>Yeasts</a:t>
            </a:r>
          </a:p>
          <a:p>
            <a:r>
              <a:rPr lang="en-US" dirty="0" smtClean="0"/>
              <a:t> </a:t>
            </a:r>
            <a:r>
              <a:rPr lang="en-US" dirty="0"/>
              <a:t>are unicellular eukaryotic microorganisms in the kingdom of Fungi, ranging in size from a few micrometers (typically) up to 40 micrometers (rarely). </a:t>
            </a:r>
            <a:endParaRPr lang="en-US" dirty="0" smtClean="0"/>
          </a:p>
          <a:p>
            <a:r>
              <a:rPr lang="en-US" dirty="0" smtClean="0"/>
              <a:t>cultures </a:t>
            </a:r>
            <a:r>
              <a:rPr lang="en-US" dirty="0"/>
              <a:t>contaminated with yeasts become turbid, especially if the contamination is in an advanced stage. </a:t>
            </a:r>
            <a:endParaRPr lang="en-US" dirty="0" smtClean="0"/>
          </a:p>
          <a:p>
            <a:r>
              <a:rPr lang="en-US" dirty="0" smtClean="0"/>
              <a:t>There </a:t>
            </a:r>
            <a:r>
              <a:rPr lang="en-US" dirty="0"/>
              <a:t>is very little change in the pH of the culture contaminated by yeasts until the contamination becomes heavy, at which stage the pH usually increases</a:t>
            </a:r>
            <a:r>
              <a:rPr lang="en-US" dirty="0" smtClean="0"/>
              <a:t>.</a:t>
            </a:r>
          </a:p>
          <a:p>
            <a:r>
              <a:rPr lang="en-US" dirty="0" smtClean="0"/>
              <a:t> </a:t>
            </a:r>
            <a:r>
              <a:rPr lang="en-US" dirty="0"/>
              <a:t>Under microscopy, yeast appear as individual ovoid or spherical particles, that may bud off smaller </a:t>
            </a:r>
            <a:r>
              <a:rPr lang="en-US" dirty="0" smtClean="0"/>
              <a:t>particles</a:t>
            </a:r>
          </a:p>
          <a:p>
            <a:r>
              <a:rPr lang="en-US" dirty="0" smtClean="0"/>
              <a:t>Can be avoided by the use of amphotericin B or nystatin</a:t>
            </a:r>
          </a:p>
        </p:txBody>
      </p:sp>
    </p:spTree>
    <p:extLst>
      <p:ext uri="{BB962C8B-B14F-4D97-AF65-F5344CB8AC3E}">
        <p14:creationId xmlns:p14="http://schemas.microsoft.com/office/powerpoint/2010/main" val="42580040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marL="0" indent="0">
              <a:buNone/>
            </a:pPr>
            <a:r>
              <a:rPr lang="en-US" b="1" dirty="0">
                <a:solidFill>
                  <a:srgbClr val="FF0000"/>
                </a:solidFill>
              </a:rPr>
              <a:t>Mycoplasma</a:t>
            </a:r>
          </a:p>
          <a:p>
            <a:r>
              <a:rPr lang="en-US" dirty="0"/>
              <a:t> Mycoplasma are simple bacteria that lack a cell wall, and they are considered the smallest self-replicating organism. Because of their extremely small size (typically less than one micrometer), mycoplasma are very difficult to detect until they achieve extremely high densities and cause the cell culture to deteriorate; until then, there are often no visible signs of infection.</a:t>
            </a:r>
          </a:p>
          <a:p>
            <a:r>
              <a:rPr lang="en-US" dirty="0"/>
              <a:t> the only assured way of detecting mycoplasma contamination is by testing the cultures periodically using fluorescent staining (e.g., Hoechst ), ELISA, PCR.</a:t>
            </a:r>
          </a:p>
          <a:p>
            <a:r>
              <a:rPr lang="en-US" dirty="0"/>
              <a:t>Treated with </a:t>
            </a:r>
            <a:r>
              <a:rPr lang="en-US" dirty="0" err="1"/>
              <a:t>Tylosin</a:t>
            </a:r>
            <a:endParaRPr lang="en-US" dirty="0"/>
          </a:p>
          <a:p>
            <a:endParaRPr lang="en-US" dirty="0"/>
          </a:p>
        </p:txBody>
      </p:sp>
    </p:spTree>
    <p:extLst>
      <p:ext uri="{BB962C8B-B14F-4D97-AF65-F5344CB8AC3E}">
        <p14:creationId xmlns:p14="http://schemas.microsoft.com/office/powerpoint/2010/main" val="1255610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38200" y="467360"/>
            <a:ext cx="10515600" cy="5709603"/>
          </a:xfrm>
        </p:spPr>
        <p:txBody>
          <a:bodyPr>
            <a:normAutofit fontScale="92500" lnSpcReduction="10000"/>
          </a:bodyPr>
          <a:lstStyle/>
          <a:p>
            <a:pPr marL="0" indent="0">
              <a:buNone/>
            </a:pPr>
            <a:r>
              <a:rPr lang="en-US" sz="3600" b="1" dirty="0">
                <a:solidFill>
                  <a:srgbClr val="C00000"/>
                </a:solidFill>
              </a:rPr>
              <a:t>Viruses </a:t>
            </a:r>
            <a:r>
              <a:rPr lang="en-US" dirty="0"/>
              <a:t> </a:t>
            </a:r>
            <a:endParaRPr lang="en-US" dirty="0" smtClean="0"/>
          </a:p>
          <a:p>
            <a:r>
              <a:rPr lang="en-US" dirty="0" smtClean="0"/>
              <a:t>events </a:t>
            </a:r>
            <a:r>
              <a:rPr lang="en-US" dirty="0"/>
              <a:t>are a rare occurrence in the biopharmaceutical industry. </a:t>
            </a:r>
            <a:endParaRPr lang="en-US" dirty="0" smtClean="0"/>
          </a:p>
          <a:p>
            <a:r>
              <a:rPr lang="en-US" dirty="0" smtClean="0"/>
              <a:t> </a:t>
            </a:r>
            <a:r>
              <a:rPr lang="en-US" dirty="0"/>
              <a:t>Sources of </a:t>
            </a:r>
            <a:r>
              <a:rPr lang="en-US" b="1" dirty="0"/>
              <a:t>viral contamination</a:t>
            </a:r>
            <a:r>
              <a:rPr lang="en-US" dirty="0"/>
              <a:t> include raw materials, open vessel operations, and other less obvious sources. Small, non-enveloped </a:t>
            </a:r>
            <a:r>
              <a:rPr lang="en-US" b="1" dirty="0"/>
              <a:t>viruses</a:t>
            </a:r>
            <a:r>
              <a:rPr lang="en-US" dirty="0"/>
              <a:t> are the most worrisome of the </a:t>
            </a:r>
            <a:r>
              <a:rPr lang="en-US" b="1" dirty="0"/>
              <a:t>viral </a:t>
            </a:r>
            <a:r>
              <a:rPr lang="en-US" b="1" dirty="0" smtClean="0"/>
              <a:t>contaminants</a:t>
            </a:r>
          </a:p>
          <a:p>
            <a:r>
              <a:rPr lang="en-US" dirty="0"/>
              <a:t>Contamination of cell cultures with viruses raises a range of greater potential problems than with other </a:t>
            </a:r>
            <a:r>
              <a:rPr lang="en-US" dirty="0" smtClean="0"/>
              <a:t>microorganisms:</a:t>
            </a:r>
          </a:p>
          <a:p>
            <a:pPr marL="0" indent="0">
              <a:buNone/>
            </a:pPr>
            <a:r>
              <a:rPr lang="en-US" dirty="0" smtClean="0"/>
              <a:t>	a. </a:t>
            </a:r>
            <a:r>
              <a:rPr lang="en-US" dirty="0"/>
              <a:t>This is firstly because of the difficulty in specifically detecting and identifying viral contaminants which often do not produce any cytopathic effect, </a:t>
            </a:r>
            <a:endParaRPr lang="en-US" dirty="0" smtClean="0"/>
          </a:p>
          <a:p>
            <a:pPr marL="0" indent="0">
              <a:buNone/>
            </a:pPr>
            <a:r>
              <a:rPr lang="en-US" dirty="0"/>
              <a:t>	</a:t>
            </a:r>
            <a:r>
              <a:rPr lang="en-US" dirty="0" smtClean="0"/>
              <a:t>b. and </a:t>
            </a:r>
            <a:r>
              <a:rPr lang="en-US" dirty="0"/>
              <a:t>secondly because of inability to eradicate them once they have established a persistent infection</a:t>
            </a:r>
            <a:r>
              <a:rPr lang="en-US" dirty="0" smtClean="0"/>
              <a:t>.</a:t>
            </a:r>
          </a:p>
          <a:p>
            <a:r>
              <a:rPr lang="en-US" dirty="0" smtClean="0"/>
              <a:t> </a:t>
            </a:r>
            <a:r>
              <a:rPr lang="en-US" dirty="0"/>
              <a:t>These problems </a:t>
            </a:r>
            <a:r>
              <a:rPr lang="en-US" dirty="0" smtClean="0"/>
              <a:t>stem </a:t>
            </a:r>
            <a:r>
              <a:rPr lang="en-US" dirty="0"/>
              <a:t>from their very small size (varying from approximately 25–500 nm in diameter), and from their existence as obligate intracellular parasites.</a:t>
            </a:r>
            <a:endParaRPr lang="en-US" b="1" dirty="0" smtClean="0"/>
          </a:p>
          <a:p>
            <a:endParaRPr lang="en-US" dirty="0"/>
          </a:p>
        </p:txBody>
      </p:sp>
    </p:spTree>
    <p:extLst>
      <p:ext uri="{BB962C8B-B14F-4D97-AF65-F5344CB8AC3E}">
        <p14:creationId xmlns:p14="http://schemas.microsoft.com/office/powerpoint/2010/main" val="3301202649"/>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38200" y="457200"/>
            <a:ext cx="10515600" cy="5719763"/>
          </a:xfrm>
        </p:spPr>
        <p:txBody>
          <a:bodyPr>
            <a:normAutofit fontScale="77500" lnSpcReduction="20000"/>
          </a:bodyPr>
          <a:lstStyle/>
          <a:p>
            <a:pPr marL="0" indent="0">
              <a:buNone/>
            </a:pPr>
            <a:r>
              <a:rPr lang="en-US" sz="4400" b="1" dirty="0" smtClean="0">
                <a:solidFill>
                  <a:srgbClr val="C00000"/>
                </a:solidFill>
              </a:rPr>
              <a:t> </a:t>
            </a:r>
            <a:endParaRPr lang="en-US" sz="4400" b="1" dirty="0">
              <a:solidFill>
                <a:srgbClr val="C00000"/>
              </a:solidFill>
            </a:endParaRPr>
          </a:p>
          <a:p>
            <a:r>
              <a:rPr lang="en-US" sz="3300" dirty="0" smtClean="0"/>
              <a:t>Because </a:t>
            </a:r>
            <a:r>
              <a:rPr lang="en-US" sz="3300" dirty="0"/>
              <a:t>most viruses have very stringent requirements for their host, they usually do not adversely effect cell cultures from species other than their host. </a:t>
            </a:r>
            <a:endParaRPr lang="en-US" sz="3300" dirty="0" smtClean="0"/>
          </a:p>
          <a:p>
            <a:pPr marL="0" indent="0">
              <a:buNone/>
            </a:pPr>
            <a:r>
              <a:rPr lang="en-US" sz="3300" dirty="0" smtClean="0"/>
              <a:t>However</a:t>
            </a:r>
            <a:r>
              <a:rPr lang="en-US" sz="3300" dirty="0"/>
              <a:t>, using virally infected cell cultures  can present a serious health hazard to the laboratory personnel, especially if human or primate cells are cultured in the laboratory. </a:t>
            </a:r>
            <a:endParaRPr lang="en-US" sz="3300" dirty="0" smtClean="0"/>
          </a:p>
          <a:p>
            <a:endParaRPr lang="en-US" sz="3300" dirty="0" smtClean="0"/>
          </a:p>
          <a:p>
            <a:r>
              <a:rPr lang="en-US" sz="3300" dirty="0" smtClean="0"/>
              <a:t>Some viral </a:t>
            </a:r>
            <a:r>
              <a:rPr lang="en-US" sz="3300" dirty="0"/>
              <a:t>contamination present a serious threat because of the </a:t>
            </a:r>
            <a:r>
              <a:rPr lang="en-US" sz="3300" b="1" dirty="0"/>
              <a:t>difficulty in detecting some viruses and the lack of effective methods of treating infected cell cultures. </a:t>
            </a:r>
            <a:endParaRPr lang="en-US" sz="3300" b="1" dirty="0" smtClean="0"/>
          </a:p>
          <a:p>
            <a:r>
              <a:rPr lang="en-US" sz="3300" dirty="0" smtClean="0"/>
              <a:t>While </a:t>
            </a:r>
            <a:r>
              <a:rPr lang="en-US" sz="3300" dirty="0"/>
              <a:t>some viruses are capable of causing morphological changes to infected cells (e.g. cytopathic effect)which are detectable by microscopy some viral contaminations result in the integration of the viral genome as provirus, this causes no visual evidence, by means of modification of the cellular morphology. </a:t>
            </a:r>
            <a:endParaRPr lang="en-US" sz="3300" dirty="0" smtClean="0"/>
          </a:p>
          <a:p>
            <a:r>
              <a:rPr lang="en-US" sz="3300" dirty="0" smtClean="0"/>
              <a:t>Viral </a:t>
            </a:r>
            <a:r>
              <a:rPr lang="en-US" sz="3300" dirty="0"/>
              <a:t>infection of cell cultures can be detected by ELISA assays, or PCR</a:t>
            </a:r>
          </a:p>
          <a:p>
            <a:endParaRPr lang="en-US" sz="3300" dirty="0" smtClean="0"/>
          </a:p>
        </p:txBody>
      </p:sp>
    </p:spTree>
    <p:extLst>
      <p:ext uri="{BB962C8B-B14F-4D97-AF65-F5344CB8AC3E}">
        <p14:creationId xmlns:p14="http://schemas.microsoft.com/office/powerpoint/2010/main" val="2654016870"/>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38200" y="436880"/>
            <a:ext cx="10515600" cy="5740083"/>
          </a:xfrm>
        </p:spPr>
        <p:txBody>
          <a:bodyPr>
            <a:normAutofit/>
          </a:bodyPr>
          <a:lstStyle/>
          <a:p>
            <a:r>
              <a:rPr lang="en-US" dirty="0"/>
              <a:t>Virus production from such cell lines, are potentially dangerous for other cell cultures (in research labs) by cross contaminations, or for operators and patients (in the case of the production of injectable biologicals) because of potential infection.</a:t>
            </a:r>
          </a:p>
          <a:p>
            <a:endParaRPr lang="en-US" dirty="0" smtClean="0"/>
          </a:p>
          <a:p>
            <a:r>
              <a:rPr lang="en-US" dirty="0" smtClean="0"/>
              <a:t>The </a:t>
            </a:r>
            <a:r>
              <a:rPr lang="en-US" dirty="0"/>
              <a:t>only way to keep cell cultures for research, development, and the biotech industry virus-free is the prevention of such contaminations. Cell cultures can become contaminated by the following means: </a:t>
            </a:r>
          </a:p>
          <a:p>
            <a:pPr marL="0" indent="0">
              <a:buNone/>
            </a:pPr>
            <a:r>
              <a:rPr lang="en-US" dirty="0"/>
              <a:t>	-firstly, they may already be contaminated as primary cultures (because the source of the cells was already infected),</a:t>
            </a:r>
          </a:p>
          <a:p>
            <a:pPr marL="0" indent="0">
              <a:buNone/>
            </a:pPr>
            <a:r>
              <a:rPr lang="en-US" dirty="0"/>
              <a:t>                     - secondly, they were contaminated due to the use of contaminated raw materials,</a:t>
            </a:r>
          </a:p>
          <a:p>
            <a:pPr marL="0" indent="0">
              <a:buNone/>
            </a:pPr>
            <a:r>
              <a:rPr lang="en-US" dirty="0"/>
              <a:t>                    - thirdly, they were contaminated via an animal passage. </a:t>
            </a:r>
          </a:p>
          <a:p>
            <a:endParaRPr lang="en-US" dirty="0"/>
          </a:p>
        </p:txBody>
      </p:sp>
    </p:spTree>
    <p:extLst>
      <p:ext uri="{BB962C8B-B14F-4D97-AF65-F5344CB8AC3E}">
        <p14:creationId xmlns:p14="http://schemas.microsoft.com/office/powerpoint/2010/main" val="367921571"/>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b="1" dirty="0">
                <a:solidFill>
                  <a:srgbClr val="FF0000"/>
                </a:solidFill>
              </a:rPr>
              <a:t>Chemical contamination</a:t>
            </a:r>
            <a:r>
              <a:rPr lang="en-US" dirty="0"/>
              <a:t>, </a:t>
            </a:r>
            <a:endParaRPr lang="en-US" dirty="0" smtClean="0"/>
          </a:p>
          <a:p>
            <a:r>
              <a:rPr lang="en-US" dirty="0" smtClean="0"/>
              <a:t>often </a:t>
            </a:r>
            <a:r>
              <a:rPr lang="en-US" dirty="0"/>
              <a:t>overlooked as a </a:t>
            </a:r>
            <a:r>
              <a:rPr lang="en-US" b="1" dirty="0"/>
              <a:t>cause</a:t>
            </a:r>
            <a:r>
              <a:rPr lang="en-US" dirty="0"/>
              <a:t> of </a:t>
            </a:r>
            <a:r>
              <a:rPr lang="en-US" b="1" dirty="0"/>
              <a:t>cell</a:t>
            </a:r>
            <a:r>
              <a:rPr lang="en-US" dirty="0"/>
              <a:t> growth problems, is </a:t>
            </a:r>
            <a:r>
              <a:rPr lang="en-US" b="1" dirty="0"/>
              <a:t>caused</a:t>
            </a:r>
            <a:r>
              <a:rPr lang="en-US" dirty="0"/>
              <a:t> by nonliving substances that produce unwanted effects on a </a:t>
            </a:r>
            <a:r>
              <a:rPr lang="en-US" b="1" dirty="0"/>
              <a:t>culture</a:t>
            </a:r>
            <a:r>
              <a:rPr lang="en-US" dirty="0"/>
              <a:t> system. These can include everything from media, sera, water and endotoxins to storage vessels, fluorescent lights and incubators.</a:t>
            </a:r>
          </a:p>
          <a:p>
            <a:endParaRPr lang="en-US" dirty="0"/>
          </a:p>
        </p:txBody>
      </p:sp>
    </p:spTree>
    <p:extLst>
      <p:ext uri="{BB962C8B-B14F-4D97-AF65-F5344CB8AC3E}">
        <p14:creationId xmlns:p14="http://schemas.microsoft.com/office/powerpoint/2010/main" val="38125588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385646"/>
          </a:xfrm>
        </p:spPr>
        <p:txBody>
          <a:bodyPr>
            <a:noAutofit/>
          </a:bodyPr>
          <a:lstStyle/>
          <a:p>
            <a:r>
              <a:rPr lang="en-US" sz="3200" b="1" dirty="0" err="1">
                <a:solidFill>
                  <a:srgbClr val="FF0000"/>
                </a:solidFill>
              </a:rPr>
              <a:t>S</a:t>
            </a:r>
            <a:r>
              <a:rPr lang="en-US" sz="3200" b="1" dirty="0" err="1" smtClean="0">
                <a:solidFill>
                  <a:srgbClr val="FF0000"/>
                </a:solidFill>
              </a:rPr>
              <a:t>ubculturing</a:t>
            </a:r>
            <a:endParaRPr lang="en-US" sz="3200" b="1" dirty="0">
              <a:solidFill>
                <a:srgbClr val="FF0000"/>
              </a:solidFill>
            </a:endParaRPr>
          </a:p>
        </p:txBody>
      </p:sp>
      <p:sp>
        <p:nvSpPr>
          <p:cNvPr id="3" name="Content Placeholder 2"/>
          <p:cNvSpPr>
            <a:spLocks noGrp="1"/>
          </p:cNvSpPr>
          <p:nvPr>
            <p:ph idx="1"/>
          </p:nvPr>
        </p:nvSpPr>
        <p:spPr>
          <a:xfrm>
            <a:off x="838200" y="1106905"/>
            <a:ext cx="10515600" cy="5070058"/>
          </a:xfrm>
        </p:spPr>
        <p:txBody>
          <a:bodyPr>
            <a:normAutofit fontScale="92500"/>
          </a:bodyPr>
          <a:lstStyle/>
          <a:p>
            <a:pPr marL="0" indent="0">
              <a:buNone/>
            </a:pPr>
            <a:r>
              <a:rPr lang="en-US" dirty="0"/>
              <a:t>What is Subculture? </a:t>
            </a:r>
            <a:endParaRPr lang="en-US" dirty="0" smtClean="0"/>
          </a:p>
          <a:p>
            <a:r>
              <a:rPr lang="en-US" dirty="0" err="1" smtClean="0"/>
              <a:t>Subculturing</a:t>
            </a:r>
            <a:r>
              <a:rPr lang="en-US" dirty="0"/>
              <a:t>, also referred to as passaging, is the removal of the medium and transfer of cells from a previous culture into fresh growth medium, a procedure that enables the further propagation of the cell line or cell strain.</a:t>
            </a:r>
          </a:p>
          <a:p>
            <a:r>
              <a:rPr lang="en-US" dirty="0"/>
              <a:t>The growth of cells in culture proceeds from the lag phase following seeding to the log phase, where the cells proliferate exponentially. When the cells in adherent cultures occupy all the available substrate and have no room left for expansion, or when the cells in suspension cultures exceed the capacity of the medium to support further growth, cell proliferation is greatly reduced or ceases </a:t>
            </a:r>
            <a:r>
              <a:rPr lang="en-US" dirty="0" smtClean="0"/>
              <a:t>entirely. </a:t>
            </a:r>
            <a:r>
              <a:rPr lang="en-US" dirty="0"/>
              <a:t>To keep them at an optimal density for continued growth and to stimulate further proliferation, the culture has to divided and fresh medium supplied.</a:t>
            </a:r>
          </a:p>
        </p:txBody>
      </p:sp>
    </p:spTree>
    <p:extLst>
      <p:ext uri="{BB962C8B-B14F-4D97-AF65-F5344CB8AC3E}">
        <p14:creationId xmlns:p14="http://schemas.microsoft.com/office/powerpoint/2010/main" val="226890615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ltLang="en-US" dirty="0"/>
              <a:t>Once the available substrate surface is covered by cells (a confluent culture) growth slows &amp; ceases.</a:t>
            </a:r>
          </a:p>
          <a:p>
            <a:r>
              <a:rPr lang="en-US" altLang="en-US" dirty="0"/>
              <a:t>Cells to be kept in healthy &amp; in growing state have to be sub-cultured or passaged</a:t>
            </a:r>
          </a:p>
          <a:p>
            <a:r>
              <a:rPr lang="en-US" altLang="en-US" dirty="0"/>
              <a:t>It’s the passage of cells when they reach to 80-90% confluency in flask/dishes/plates</a:t>
            </a:r>
          </a:p>
          <a:p>
            <a:r>
              <a:rPr lang="en-US" altLang="en-US" dirty="0"/>
              <a:t>Enzyme such as trypsin, </a:t>
            </a:r>
            <a:r>
              <a:rPr lang="en-US" altLang="en-US" dirty="0" err="1"/>
              <a:t>dipase</a:t>
            </a:r>
            <a:r>
              <a:rPr lang="en-US" altLang="en-US" dirty="0"/>
              <a:t>, collagenase in combination with EDTA breaks the cellular glue that attached the cells to the surface</a:t>
            </a:r>
          </a:p>
        </p:txBody>
      </p:sp>
    </p:spTree>
    <p:extLst>
      <p:ext uri="{BB962C8B-B14F-4D97-AF65-F5344CB8AC3E}">
        <p14:creationId xmlns:p14="http://schemas.microsoft.com/office/powerpoint/2010/main" val="429146039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descr="نتيجة بحث الصور عن ‪growth curve of cell line in cultur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92943" y="1780674"/>
            <a:ext cx="6477802" cy="5077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413869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54638"/>
          </a:xfrm>
        </p:spPr>
        <p:txBody>
          <a:bodyPr>
            <a:normAutofit fontScale="90000"/>
          </a:bodyPr>
          <a:lstStyle/>
          <a:p>
            <a:r>
              <a:rPr lang="en-US" sz="3200" b="1" dirty="0">
                <a:solidFill>
                  <a:srgbClr val="FF0000"/>
                </a:solidFill>
              </a:rPr>
              <a:t>When to Subculture? </a:t>
            </a:r>
          </a:p>
        </p:txBody>
      </p:sp>
      <p:sp>
        <p:nvSpPr>
          <p:cNvPr id="3" name="Content Placeholder 2"/>
          <p:cNvSpPr>
            <a:spLocks noGrp="1"/>
          </p:cNvSpPr>
          <p:nvPr>
            <p:ph idx="1"/>
          </p:nvPr>
        </p:nvSpPr>
        <p:spPr>
          <a:xfrm>
            <a:off x="838200" y="1155032"/>
            <a:ext cx="10515600" cy="5021931"/>
          </a:xfrm>
        </p:spPr>
        <p:txBody>
          <a:bodyPr>
            <a:normAutofit fontScale="70000" lnSpcReduction="20000"/>
          </a:bodyPr>
          <a:lstStyle/>
          <a:p>
            <a:pPr marL="0" indent="0">
              <a:buNone/>
            </a:pPr>
            <a:r>
              <a:rPr lang="en-US" sz="3400" dirty="0" smtClean="0"/>
              <a:t>The </a:t>
            </a:r>
            <a:r>
              <a:rPr lang="en-US" sz="3400" dirty="0"/>
              <a:t>criteria for determining the need for subculture are similar in adherent and suspension </a:t>
            </a:r>
            <a:r>
              <a:rPr lang="en-US" sz="3400" dirty="0" smtClean="0"/>
              <a:t>cultures</a:t>
            </a:r>
          </a:p>
          <a:p>
            <a:r>
              <a:rPr lang="en-US" b="1" dirty="0" smtClean="0">
                <a:solidFill>
                  <a:srgbClr val="C00000"/>
                </a:solidFill>
              </a:rPr>
              <a:t>Cell density</a:t>
            </a:r>
            <a:r>
              <a:rPr lang="en-US" dirty="0" smtClean="0"/>
              <a:t>: Adherent </a:t>
            </a:r>
            <a:r>
              <a:rPr lang="en-US" dirty="0"/>
              <a:t>cultures should be passaged when they are in the log phase, before they reach confluence. Normal cells stop growing when they reach confluence (contact inhibition), and it takes them longer to recover when reseeded. Transformed cells can continue proliferating even after they reach confluence, but they usually deteriorate after about two doublings. Similarly, cells in suspension should be passaged when they are in log-phase growth before they reach confluency. When they reach confluency, cells in suspension clump together and the medium appears turbid when the culture flask is swirled</a:t>
            </a:r>
            <a:r>
              <a:rPr lang="en-US" dirty="0" smtClean="0"/>
              <a:t>.</a:t>
            </a:r>
          </a:p>
          <a:p>
            <a:pPr marL="0" indent="0">
              <a:buNone/>
            </a:pPr>
            <a:endParaRPr lang="en-US" dirty="0"/>
          </a:p>
          <a:p>
            <a:r>
              <a:rPr lang="en-US" b="1" dirty="0" smtClean="0">
                <a:solidFill>
                  <a:srgbClr val="C00000"/>
                </a:solidFill>
              </a:rPr>
              <a:t>Deterioration of morphology</a:t>
            </a:r>
          </a:p>
          <a:p>
            <a:endParaRPr lang="en-US" b="1" dirty="0" smtClean="0"/>
          </a:p>
          <a:p>
            <a:r>
              <a:rPr lang="en-US" dirty="0" smtClean="0"/>
              <a:t> </a:t>
            </a:r>
            <a:r>
              <a:rPr lang="en-US" b="1" dirty="0">
                <a:solidFill>
                  <a:srgbClr val="C00000"/>
                </a:solidFill>
              </a:rPr>
              <a:t>A drop in the pH </a:t>
            </a:r>
            <a:r>
              <a:rPr lang="en-US" dirty="0"/>
              <a:t>of the growth medium usually indicates a build up of lactic acid, which is a by-product of cellular metabolism. Lactic acid can be toxic to the cells, and the decreased pH can be sub-optimal for cell growth. The rate of change of pH is generally dependent on the cell concentration in that cultures at a high cell concentration exhaust medium faster than cells lower concentrations. You should subculture your cells if you observe a rapid drop in pH (&gt; 0.1–0.2 pH units) with an increase in cell concentration</a:t>
            </a:r>
            <a:r>
              <a:rPr lang="en-US" dirty="0" smtClean="0"/>
              <a:t>.</a:t>
            </a:r>
          </a:p>
          <a:p>
            <a:pPr marL="0" indent="0">
              <a:buNone/>
            </a:pPr>
            <a:r>
              <a:rPr lang="en-US" dirty="0" smtClean="0"/>
              <a:t> </a:t>
            </a:r>
            <a:endParaRPr lang="en-US" dirty="0"/>
          </a:p>
        </p:txBody>
      </p:sp>
    </p:spTree>
    <p:extLst>
      <p:ext uri="{BB962C8B-B14F-4D97-AF65-F5344CB8AC3E}">
        <p14:creationId xmlns:p14="http://schemas.microsoft.com/office/powerpoint/2010/main" val="315295492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dirty="0" smtClean="0"/>
              <a:t>Aseptic technique video</a:t>
            </a:r>
          </a:p>
          <a:p>
            <a:r>
              <a:rPr lang="en-US" dirty="0" smtClean="0">
                <a:hlinkClick r:id="rId2"/>
              </a:rPr>
              <a:t>https</a:t>
            </a:r>
            <a:r>
              <a:rPr lang="en-US" dirty="0">
                <a:hlinkClick r:id="rId2"/>
              </a:rPr>
              <a:t>://</a:t>
            </a:r>
            <a:r>
              <a:rPr lang="en-US" dirty="0" smtClean="0">
                <a:hlinkClick r:id="rId2"/>
              </a:rPr>
              <a:t>www.youtube.com/watch?v=nr1tV_LuqJk</a:t>
            </a:r>
            <a:endParaRPr lang="en-US" dirty="0" smtClean="0"/>
          </a:p>
          <a:p>
            <a:endParaRPr lang="en-US" dirty="0"/>
          </a:p>
          <a:p>
            <a:pPr marL="0" indent="0">
              <a:buNone/>
            </a:pPr>
            <a:r>
              <a:rPr lang="en-US" dirty="0"/>
              <a:t>Basic tissue </a:t>
            </a:r>
            <a:r>
              <a:rPr lang="en-US" dirty="0" smtClean="0"/>
              <a:t>culture (</a:t>
            </a:r>
            <a:r>
              <a:rPr lang="en-US" dirty="0" err="1" smtClean="0"/>
              <a:t>subculturing</a:t>
            </a:r>
            <a:r>
              <a:rPr lang="en-US" dirty="0" smtClean="0"/>
              <a:t>) video</a:t>
            </a:r>
            <a:endParaRPr lang="en-US" dirty="0"/>
          </a:p>
          <a:p>
            <a:r>
              <a:rPr lang="en-US" dirty="0">
                <a:hlinkClick r:id="rId3"/>
              </a:rPr>
              <a:t>https://</a:t>
            </a:r>
            <a:r>
              <a:rPr lang="en-US" dirty="0" smtClean="0">
                <a:hlinkClick r:id="rId3"/>
              </a:rPr>
              <a:t>www.youtube.com/watch?v=CMRKKl9XSDU</a:t>
            </a:r>
            <a:endParaRPr lang="en-US" dirty="0" smtClean="0"/>
          </a:p>
          <a:p>
            <a:endParaRPr lang="en-US" dirty="0"/>
          </a:p>
          <a:p>
            <a:pPr marL="0" indent="0">
              <a:buNone/>
            </a:pPr>
            <a:endParaRPr lang="en-US" dirty="0"/>
          </a:p>
        </p:txBody>
      </p:sp>
    </p:spTree>
    <p:extLst>
      <p:ext uri="{BB962C8B-B14F-4D97-AF65-F5344CB8AC3E}">
        <p14:creationId xmlns:p14="http://schemas.microsoft.com/office/powerpoint/2010/main" val="25561507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772</TotalTime>
  <Words>3691</Words>
  <Application>Microsoft Office PowerPoint</Application>
  <PresentationFormat>مخصص</PresentationFormat>
  <Paragraphs>284</Paragraphs>
  <Slides>63</Slides>
  <Notes>2</Notes>
  <HiddenSlides>0</HiddenSlides>
  <MMClips>0</MMClips>
  <ScaleCrop>false</ScaleCrop>
  <HeadingPairs>
    <vt:vector size="4" baseType="variant">
      <vt:variant>
        <vt:lpstr>نسق</vt:lpstr>
      </vt:variant>
      <vt:variant>
        <vt:i4>1</vt:i4>
      </vt:variant>
      <vt:variant>
        <vt:lpstr>عناوين الشرائح</vt:lpstr>
      </vt:variant>
      <vt:variant>
        <vt:i4>63</vt:i4>
      </vt:variant>
    </vt:vector>
  </HeadingPairs>
  <TitlesOfParts>
    <vt:vector size="64" baseType="lpstr">
      <vt:lpstr>Office Theme</vt:lpstr>
      <vt:lpstr>عرض تقديمي في PowerPoint</vt:lpstr>
      <vt:lpstr>عرض تقديمي في PowerPoint</vt:lpstr>
      <vt:lpstr>عرض تقديمي في PowerPoint</vt:lpstr>
      <vt:lpstr>Primary Culture  </vt:lpstr>
      <vt:lpstr>عرض تقديمي في PowerPoint</vt:lpstr>
      <vt:lpstr>عرض تقديمي في PowerPoint</vt:lpstr>
      <vt:lpstr>Adherent vs Suspension Culture </vt:lpstr>
      <vt:lpstr>Adherent cells </vt:lpstr>
      <vt:lpstr>عرض تقديمي في PowerPoint</vt:lpstr>
      <vt:lpstr>عرض تقديمي في PowerPoint</vt:lpstr>
      <vt:lpstr>Major development’s in cell culture technology</vt:lpstr>
      <vt:lpstr>Cell Line  </vt:lpstr>
      <vt:lpstr>Finite vs continuous cell line</vt:lpstr>
      <vt:lpstr>عرض تقديمي في PowerPoint</vt:lpstr>
      <vt:lpstr>عرض تقديمي في PowerPoint</vt:lpstr>
      <vt:lpstr>عرض تقديمي في PowerPoint</vt:lpstr>
      <vt:lpstr>Culture Conditions  </vt:lpstr>
      <vt:lpstr>عرض تقديمي في PowerPoint</vt:lpstr>
      <vt:lpstr>عرض تقديمي في PowerPoint</vt:lpstr>
      <vt:lpstr>عرض تقديمي في PowerPoint</vt:lpstr>
      <vt:lpstr>The TC lab</vt:lpstr>
      <vt:lpstr>عرض تقديمي في PowerPoint</vt:lpstr>
      <vt:lpstr>عرض تقديمي في PowerPoint</vt:lpstr>
      <vt:lpstr>Laminar Flow or Cell Culture Hood </vt:lpstr>
      <vt:lpstr>Horizontal vs vertical hoods</vt:lpstr>
      <vt:lpstr>عرض تقديمي في PowerPoint</vt:lpstr>
      <vt:lpstr>عرض تقديمي في PowerPoint</vt:lpstr>
      <vt:lpstr>عرض تقديمي في PowerPoint</vt:lpstr>
      <vt:lpstr>عرض تقديمي في PowerPoint</vt:lpstr>
      <vt:lpstr>Inverted microscope</vt:lpstr>
      <vt:lpstr>عرض تقديمي في PowerPoint</vt:lpstr>
      <vt:lpstr>L nitrogen containers</vt:lpstr>
      <vt:lpstr>عرض تقديمي في PowerPoint</vt:lpstr>
      <vt:lpstr>Cell counter</vt:lpstr>
      <vt:lpstr>consumables</vt:lpstr>
      <vt:lpstr>عرض تقديمي في PowerPoint</vt:lpstr>
      <vt:lpstr>عرض تقديمي في PowerPoint</vt:lpstr>
      <vt:lpstr>عرض تقديمي في PowerPoint</vt:lpstr>
      <vt:lpstr>عرض تقديمي في PowerPoint</vt:lpstr>
      <vt:lpstr>عرض تقديمي في PowerPoint</vt:lpstr>
      <vt:lpstr>Autoclave and oven </vt:lpstr>
      <vt:lpstr>Storage</vt:lpstr>
      <vt:lpstr> Routine cleaning the TC lab</vt:lpstr>
      <vt:lpstr>عرض تقديمي في PowerPoint</vt:lpstr>
      <vt:lpstr>Sterile Work Area </vt:lpstr>
      <vt:lpstr>عرض تقديمي في PowerPoint</vt:lpstr>
      <vt:lpstr>Media</vt:lpstr>
      <vt:lpstr>عرض تقديمي في PowerPoint</vt:lpstr>
      <vt:lpstr>عرض تقديمي في PowerPoint</vt:lpstr>
      <vt:lpstr>عرض تقديمي في PowerPoint</vt:lpstr>
      <vt:lpstr>Contamination</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Subculturing</vt:lpstr>
      <vt:lpstr>عرض تقديمي في PowerPoint</vt:lpstr>
      <vt:lpstr>عرض تقديمي في PowerPoint</vt:lpstr>
      <vt:lpstr>When to Subculture? </vt:lpstr>
      <vt:lpstr>عرض تقديمي في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Dell</dc:creator>
  <cp:lastModifiedBy>user</cp:lastModifiedBy>
  <cp:revision>87</cp:revision>
  <dcterms:created xsi:type="dcterms:W3CDTF">2020-01-20T11:10:31Z</dcterms:created>
  <dcterms:modified xsi:type="dcterms:W3CDTF">2021-02-20T08:46:43Z</dcterms:modified>
</cp:coreProperties>
</file>