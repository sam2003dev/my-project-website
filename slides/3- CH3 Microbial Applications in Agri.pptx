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3" r:id="rId10"/>
    <p:sldId id="265" r:id="rId11"/>
    <p:sldId id="266" r:id="rId12"/>
    <p:sldId id="270" r:id="rId13"/>
    <p:sldId id="271" r:id="rId14"/>
    <p:sldId id="268" r:id="rId15"/>
    <p:sldId id="269" r:id="rId16"/>
    <p:sldId id="276" r:id="rId17"/>
    <p:sldId id="275" r:id="rId18"/>
    <p:sldId id="267" r:id="rId19"/>
    <p:sldId id="273" r:id="rId20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524" y="-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smtClean="0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2019/10/15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65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2019/10/15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2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2019/10/15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88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2019/10/15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11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2019/10/15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229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2019/10/15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67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2019/10/15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187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2019/10/15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48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2019/10/15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32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2019/10/15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02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2019/10/15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2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1828F-421C-4E44-B579-1CA9A818CADC}" type="datetimeFigureOut">
              <a:rPr kumimoji="1" lang="ja-JP" altLang="en-US" smtClean="0"/>
              <a:t>2019/10/15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83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570729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Agricultural Applications </a:t>
            </a: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Microbes </a:t>
            </a:r>
            <a:endParaRPr lang="en-US" altLang="ja-JP" sz="4000" dirty="0" smtClean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05887" y="4698814"/>
            <a:ext cx="5386052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>
                <a:latin typeface="Times New Roman"/>
                <a:cs typeface="Times New Roman"/>
              </a:rPr>
              <a:t>Incorporation of microbial genes into crop plants </a:t>
            </a:r>
            <a:endParaRPr kumimoji="1" lang="en-US" altLang="ja-JP" sz="2800" dirty="0" smtClean="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205" y="2801676"/>
            <a:ext cx="5386052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>
                <a:latin typeface="Times New Roman"/>
                <a:cs typeface="Times New Roman"/>
              </a:rPr>
              <a:t>The use of microorganisms as </a:t>
            </a:r>
            <a:r>
              <a:rPr kumimoji="1" lang="en-US" altLang="ja-JP" sz="2800" dirty="0" err="1" smtClean="0">
                <a:latin typeface="Times New Roman"/>
                <a:cs typeface="Times New Roman"/>
              </a:rPr>
              <a:t>biofertilizers</a:t>
            </a:r>
            <a:r>
              <a:rPr kumimoji="1" lang="en-US" altLang="ja-JP" sz="2800" dirty="0" smtClean="0">
                <a:latin typeface="Times New Roman"/>
                <a:cs typeface="Times New Roman"/>
              </a:rPr>
              <a:t> and </a:t>
            </a:r>
            <a:r>
              <a:rPr kumimoji="1" lang="en-US" altLang="ja-JP" sz="2800" dirty="0" err="1" smtClean="0">
                <a:latin typeface="Times New Roman"/>
                <a:cs typeface="Times New Roman"/>
              </a:rPr>
              <a:t>biopesticides</a:t>
            </a:r>
            <a:endParaRPr kumimoji="1" lang="en-US" altLang="ja-JP" sz="2800" dirty="0" smtClean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055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The use of microorganisms as </a:t>
            </a:r>
            <a:r>
              <a:rPr lang="en-US" altLang="ja-JP" sz="4000" b="1" dirty="0" err="1" smtClean="0">
                <a:solidFill>
                  <a:srgbClr val="FF0000"/>
                </a:solidFill>
                <a:latin typeface="Arial"/>
                <a:cs typeface="Arial"/>
              </a:rPr>
              <a:t>biofertilizers</a:t>
            </a: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4000" dirty="0" smtClean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2824" y="2028140"/>
            <a:ext cx="798110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Nitrogen and phosphorus are the most limiting nutrients for plant growth and </a:t>
            </a:r>
            <a:r>
              <a:rPr lang="en-US" altLang="ja-JP" sz="2400" dirty="0" smtClean="0">
                <a:latin typeface="Times New Roman"/>
                <a:cs typeface="Times New Roman"/>
              </a:rPr>
              <a:t>development.</a:t>
            </a:r>
          </a:p>
          <a:p>
            <a:pPr marL="342900" indent="-3429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kumimoji="1" lang="en-US" altLang="ja-JP" sz="2400" dirty="0" smtClean="0">
                <a:latin typeface="Times New Roman"/>
                <a:cs typeface="Times New Roman"/>
              </a:rPr>
              <a:t>Disadvantage of synthetic fertilizers:</a:t>
            </a:r>
          </a:p>
          <a:p>
            <a:pPr marL="342900" indent="-342900">
              <a:buFont typeface="Arial"/>
              <a:buChar char="•"/>
            </a:pPr>
            <a:endParaRPr kumimoji="1"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Leads </a:t>
            </a:r>
            <a:r>
              <a:rPr lang="en-US" altLang="ja-JP" sz="2400" dirty="0">
                <a:latin typeface="Times New Roman"/>
                <a:cs typeface="Times New Roman"/>
              </a:rPr>
              <a:t>to the deterioration of soil quality, ground and surface water </a:t>
            </a:r>
            <a:r>
              <a:rPr lang="en-US" altLang="ja-JP" sz="2400" dirty="0" smtClean="0">
                <a:latin typeface="Times New Roman"/>
                <a:cs typeface="Times New Roman"/>
              </a:rPr>
              <a:t>quality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Reduces the biodiversity </a:t>
            </a:r>
            <a:r>
              <a:rPr lang="en-US" altLang="ja-JP" sz="2400" dirty="0">
                <a:latin typeface="Times New Roman"/>
                <a:cs typeface="Times New Roman"/>
              </a:rPr>
              <a:t>and suppression of </a:t>
            </a:r>
            <a:r>
              <a:rPr lang="en-US" altLang="ja-JP" sz="2400" dirty="0" smtClean="0">
                <a:latin typeface="Times New Roman"/>
                <a:cs typeface="Times New Roman"/>
              </a:rPr>
              <a:t>ecosystem </a:t>
            </a:r>
            <a:r>
              <a:rPr lang="en-US" altLang="ja-JP" sz="2400" dirty="0">
                <a:latin typeface="Times New Roman"/>
                <a:cs typeface="Times New Roman"/>
              </a:rPr>
              <a:t>function. </a:t>
            </a:r>
          </a:p>
          <a:p>
            <a:pPr marL="342900" indent="-342900">
              <a:buFont typeface="Arial"/>
              <a:buChar char="•"/>
            </a:pPr>
            <a:endParaRPr kumimoji="1"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ja-JP" alt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452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472" y="163005"/>
            <a:ext cx="78914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Nitrogen-fixing microorganisms </a:t>
            </a:r>
          </a:p>
          <a:p>
            <a:pPr algn="ctr"/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as </a:t>
            </a:r>
            <a:r>
              <a:rPr lang="en-US" altLang="ja-JP" sz="2800" b="1" dirty="0" err="1" smtClean="0">
                <a:solidFill>
                  <a:srgbClr val="FF0000"/>
                </a:solidFill>
                <a:latin typeface="Arial"/>
                <a:cs typeface="Arial"/>
              </a:rPr>
              <a:t>biofertilizers</a:t>
            </a:r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164" t="14397" r="6642" b="8807"/>
          <a:stretch/>
        </p:blipFill>
        <p:spPr>
          <a:xfrm>
            <a:off x="2241177" y="1434353"/>
            <a:ext cx="4437529" cy="37495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86669" y="6581001"/>
            <a:ext cx="5157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http://</a:t>
            </a:r>
            <a:r>
              <a:rPr lang="en-US" altLang="ja-JP" sz="1200" dirty="0" err="1"/>
              <a:t>balkanecologyproject.blogspot.com</a:t>
            </a:r>
            <a:r>
              <a:rPr lang="en-US" altLang="ja-JP" sz="1200" dirty="0"/>
              <a:t>/2014/05/nitrogen-fixing-</a:t>
            </a:r>
            <a:r>
              <a:rPr lang="en-US" altLang="ja-JP" sz="1200" dirty="0" err="1"/>
              <a:t>plants.html</a:t>
            </a:r>
            <a:endParaRPr kumimoji="1" lang="ja-JP" altLang="en-US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51616"/>
          <a:stretch/>
        </p:blipFill>
        <p:spPr>
          <a:xfrm>
            <a:off x="977900" y="5321300"/>
            <a:ext cx="7188200" cy="111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3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472" y="163005"/>
            <a:ext cx="78914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Nitrogen-fixing microorganisms </a:t>
            </a:r>
          </a:p>
          <a:p>
            <a:pPr algn="ctr"/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as </a:t>
            </a:r>
            <a:r>
              <a:rPr lang="en-US" altLang="ja-JP" sz="2800" b="1" dirty="0" err="1" smtClean="0">
                <a:solidFill>
                  <a:srgbClr val="FF0000"/>
                </a:solidFill>
                <a:latin typeface="Arial"/>
                <a:cs typeface="Arial"/>
              </a:rPr>
              <a:t>biofertilizers</a:t>
            </a:r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855" y="1326496"/>
            <a:ext cx="4328085" cy="553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0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311075"/>
            <a:ext cx="77694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Phosphate solubilizing microorganisms</a:t>
            </a:r>
            <a:b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</a:br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as </a:t>
            </a:r>
            <a:r>
              <a:rPr lang="en-US" altLang="ja-JP" sz="2800" b="1" dirty="0" err="1" smtClean="0">
                <a:solidFill>
                  <a:srgbClr val="FF0000"/>
                </a:solidFill>
                <a:latin typeface="Arial"/>
                <a:cs typeface="Arial"/>
              </a:rPr>
              <a:t>biofertilizers</a:t>
            </a:r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5642" y="6367040"/>
            <a:ext cx="27879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200" dirty="0" smtClean="0">
                <a:latin typeface="Times New Roman"/>
                <a:cs typeface="Times New Roman"/>
              </a:rPr>
              <a:t>http://</a:t>
            </a:r>
            <a:r>
              <a:rPr lang="en-US" altLang="ja-JP" sz="1200" dirty="0" err="1" smtClean="0">
                <a:latin typeface="Times New Roman"/>
                <a:cs typeface="Times New Roman"/>
              </a:rPr>
              <a:t>www.agrinaturals.com</a:t>
            </a:r>
            <a:r>
              <a:rPr lang="en-US" altLang="ja-JP" sz="1200" dirty="0" smtClean="0">
                <a:latin typeface="Times New Roman"/>
                <a:cs typeface="Times New Roman"/>
              </a:rPr>
              <a:t>/</a:t>
            </a:r>
            <a:r>
              <a:rPr lang="en-US" altLang="ja-JP" sz="1200" dirty="0" err="1" smtClean="0">
                <a:latin typeface="Times New Roman"/>
                <a:cs typeface="Times New Roman"/>
              </a:rPr>
              <a:t>ENfosfo.htm</a:t>
            </a:r>
            <a:endParaRPr lang="ja-JP" altLang="en-US" sz="1200" dirty="0">
              <a:latin typeface="Times New Roman"/>
              <a:cs typeface="Times New 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031" y="1971488"/>
            <a:ext cx="9470911" cy="382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2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3529" y="311075"/>
            <a:ext cx="84567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PGPB (Plant Growth Promoting Bacteria): </a:t>
            </a:r>
          </a:p>
          <a:p>
            <a:pPr algn="ctr"/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plant growth promoters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" y="2390588"/>
            <a:ext cx="9168417" cy="270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4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3529" y="176606"/>
            <a:ext cx="845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The use of microorganisms as </a:t>
            </a: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bio-pesticides 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2824" y="1500045"/>
            <a:ext cx="809811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 smtClean="0">
                <a:latin typeface="Times New Roman"/>
                <a:cs typeface="Times New Roman"/>
              </a:rPr>
              <a:t>Newly designed pesticides should fulfill the following criteria:</a:t>
            </a:r>
          </a:p>
          <a:p>
            <a:endParaRPr lang="en-US" altLang="ja-JP" sz="28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Should not </a:t>
            </a:r>
            <a:r>
              <a:rPr lang="en-US" altLang="ja-JP" sz="2800" dirty="0" smtClean="0">
                <a:latin typeface="Times New Roman"/>
                <a:cs typeface="Times New Roman"/>
              </a:rPr>
              <a:t>be harmful </a:t>
            </a:r>
            <a:r>
              <a:rPr lang="en-US" altLang="ja-JP" sz="2800" dirty="0" smtClean="0">
                <a:latin typeface="Times New Roman"/>
                <a:cs typeface="Times New Roman"/>
              </a:rPr>
              <a:t>to the end user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Can be distributed in water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Can be sprayed without difficulty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Takes effect against the pest in crops in lowest possible concentration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Cause as little burden to the environment as </a:t>
            </a:r>
            <a:r>
              <a:rPr lang="en-US" altLang="ja-JP" sz="2800" dirty="0" smtClean="0">
                <a:latin typeface="Times New Roman"/>
                <a:cs typeface="Times New Roman"/>
              </a:rPr>
              <a:t>possible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ja-JP" alt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105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3529" y="176606"/>
            <a:ext cx="845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The use of microorganisms as </a:t>
            </a:r>
            <a:r>
              <a:rPr lang="en-US" altLang="ja-JP" sz="4000" b="1" dirty="0" err="1" smtClean="0">
                <a:solidFill>
                  <a:srgbClr val="FF0000"/>
                </a:solidFill>
                <a:latin typeface="Arial"/>
                <a:cs typeface="Arial"/>
              </a:rPr>
              <a:t>biopesticides</a:t>
            </a: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2824" y="1774143"/>
            <a:ext cx="79811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latin typeface="Times New Roman"/>
                <a:cs typeface="Times New Roman"/>
              </a:rPr>
              <a:t>Bio-weedicides 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Classical </a:t>
            </a:r>
            <a:r>
              <a:rPr lang="en-US" altLang="ja-JP" sz="2800" dirty="0">
                <a:latin typeface="Times New Roman"/>
                <a:cs typeface="Times New Roman"/>
              </a:rPr>
              <a:t>Biological </a:t>
            </a:r>
            <a:r>
              <a:rPr lang="en-US" altLang="ja-JP" sz="2800" dirty="0" smtClean="0">
                <a:latin typeface="Times New Roman"/>
                <a:cs typeface="Times New Roman"/>
              </a:rPr>
              <a:t>Control</a:t>
            </a:r>
          </a:p>
          <a:p>
            <a:pPr marL="342900" indent="-3429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Inundated (flood or cover ) or </a:t>
            </a:r>
            <a:r>
              <a:rPr lang="en-US" altLang="ja-JP" sz="2800" dirty="0" err="1" smtClean="0">
                <a:latin typeface="Times New Roman"/>
                <a:cs typeface="Times New Roman"/>
              </a:rPr>
              <a:t>Bioherbicidal</a:t>
            </a:r>
            <a:r>
              <a:rPr lang="en-US" altLang="ja-JP" sz="2800" dirty="0" smtClean="0">
                <a:latin typeface="Times New Roman"/>
                <a:cs typeface="Times New Roman"/>
              </a:rPr>
              <a:t> Approach</a:t>
            </a:r>
          </a:p>
          <a:p>
            <a:endParaRPr lang="en-US" altLang="ja-JP" sz="2800" dirty="0" smtClean="0">
              <a:latin typeface="Times New Roman"/>
              <a:cs typeface="Times New Roman"/>
            </a:endParaRPr>
          </a:p>
          <a:p>
            <a:endParaRPr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800" dirty="0" smtClean="0">
              <a:latin typeface="Times New Roman"/>
              <a:cs typeface="Times New Roman"/>
            </a:endParaRPr>
          </a:p>
          <a:p>
            <a:r>
              <a:rPr lang="en-US" altLang="ja-JP" sz="2800" dirty="0" smtClean="0">
                <a:latin typeface="Times New Roman"/>
                <a:cs typeface="Times New Roman"/>
              </a:rPr>
              <a:t> </a:t>
            </a:r>
          </a:p>
          <a:p>
            <a:pPr marL="342900" indent="-342900">
              <a:buFont typeface="Arial"/>
              <a:buChar char="•"/>
            </a:pPr>
            <a:endParaRPr kumimoji="1"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ja-JP" alt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296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3529" y="176606"/>
            <a:ext cx="845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The use of microorganisms as </a:t>
            </a:r>
            <a:r>
              <a:rPr lang="en-US" altLang="ja-JP" sz="4000" b="1" dirty="0" err="1" smtClean="0">
                <a:solidFill>
                  <a:srgbClr val="FF0000"/>
                </a:solidFill>
                <a:latin typeface="Arial"/>
                <a:cs typeface="Arial"/>
              </a:rPr>
              <a:t>biopesticides</a:t>
            </a: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2824" y="1774143"/>
            <a:ext cx="7981103" cy="6555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latin typeface="Times New Roman"/>
                <a:cs typeface="Times New Roman"/>
              </a:rPr>
              <a:t>Bio-weedicides 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Classical </a:t>
            </a:r>
            <a:r>
              <a:rPr lang="en-US" altLang="ja-JP" sz="2800" dirty="0">
                <a:latin typeface="Times New Roman"/>
                <a:cs typeface="Times New Roman"/>
              </a:rPr>
              <a:t>Biological </a:t>
            </a:r>
            <a:r>
              <a:rPr lang="en-US" altLang="ja-JP" sz="2800" dirty="0" smtClean="0">
                <a:latin typeface="Times New Roman"/>
                <a:cs typeface="Times New Roman"/>
              </a:rPr>
              <a:t>Control</a:t>
            </a:r>
          </a:p>
          <a:p>
            <a:pPr marL="342900" indent="-342900">
              <a:buFont typeface="Arial"/>
              <a:buChar char="•"/>
            </a:pPr>
            <a:r>
              <a:rPr lang="en-US" altLang="ja-JP" sz="2800" dirty="0" err="1" smtClean="0">
                <a:latin typeface="Times New Roman"/>
                <a:cs typeface="Times New Roman"/>
              </a:rPr>
              <a:t>Bioherbicidal</a:t>
            </a:r>
            <a:r>
              <a:rPr lang="en-US" altLang="ja-JP" sz="2800" dirty="0" smtClean="0">
                <a:latin typeface="Times New Roman"/>
                <a:cs typeface="Times New Roman"/>
              </a:rPr>
              <a:t> Approach</a:t>
            </a:r>
          </a:p>
          <a:p>
            <a:endParaRPr lang="en-US" altLang="ja-JP" sz="2800" dirty="0" smtClean="0">
              <a:latin typeface="Times New Roman"/>
              <a:cs typeface="Times New Roman"/>
            </a:endParaRPr>
          </a:p>
          <a:p>
            <a:r>
              <a:rPr lang="en-US" altLang="ja-JP" sz="2800" b="1" dirty="0" err="1" smtClean="0">
                <a:latin typeface="Times New Roman"/>
                <a:cs typeface="Times New Roman"/>
              </a:rPr>
              <a:t>Biofungicides</a:t>
            </a:r>
            <a:r>
              <a:rPr lang="en-US" altLang="ja-JP" sz="2800" b="1" dirty="0" smtClean="0">
                <a:latin typeface="Times New Roman"/>
                <a:cs typeface="Times New Roman"/>
              </a:rPr>
              <a:t> </a:t>
            </a:r>
          </a:p>
          <a:p>
            <a:r>
              <a:rPr lang="en-US" altLang="ja-JP" sz="2800" dirty="0" smtClean="0">
                <a:latin typeface="Times New Roman"/>
                <a:cs typeface="Times New Roman"/>
              </a:rPr>
              <a:t>Control pathogenic fungi by four basic mechanisms: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Direct competition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Antibiosis</a:t>
            </a:r>
            <a:r>
              <a:rPr lang="ar-JO" altLang="ja-JP" sz="2800" dirty="0" smtClean="0">
                <a:latin typeface="Times New Roman"/>
                <a:cs typeface="Times New Roman"/>
              </a:rPr>
              <a:t> </a:t>
            </a:r>
            <a:r>
              <a:rPr lang="en-US" altLang="ja-JP" sz="2800" dirty="0" smtClean="0">
                <a:latin typeface="Times New Roman"/>
                <a:cs typeface="Times New Roman"/>
              </a:rPr>
              <a:t>(antagonism)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Predation or parasitism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Inducing resistance to the host plants. </a:t>
            </a:r>
          </a:p>
          <a:p>
            <a:endParaRPr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800" dirty="0" smtClean="0">
              <a:latin typeface="Times New Roman"/>
              <a:cs typeface="Times New Roman"/>
            </a:endParaRPr>
          </a:p>
          <a:p>
            <a:r>
              <a:rPr lang="en-US" altLang="ja-JP" sz="2800" dirty="0" smtClean="0">
                <a:latin typeface="Times New Roman"/>
                <a:cs typeface="Times New Roman"/>
              </a:rPr>
              <a:t> </a:t>
            </a:r>
          </a:p>
          <a:p>
            <a:pPr marL="342900" indent="-342900">
              <a:buFont typeface="Arial"/>
              <a:buChar char="•"/>
            </a:pPr>
            <a:endParaRPr kumimoji="1"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ja-JP" alt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822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3529" y="176606"/>
            <a:ext cx="845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The use of microorganisms as </a:t>
            </a:r>
            <a:r>
              <a:rPr lang="en-US" altLang="ja-JP" sz="4000" b="1" dirty="0" err="1" smtClean="0">
                <a:solidFill>
                  <a:srgbClr val="FF0000"/>
                </a:solidFill>
                <a:latin typeface="Arial"/>
                <a:cs typeface="Arial"/>
              </a:rPr>
              <a:t>biopesticides</a:t>
            </a: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2824" y="1774143"/>
            <a:ext cx="7981103" cy="7971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 err="1" smtClean="0">
                <a:latin typeface="Times New Roman"/>
                <a:cs typeface="Times New Roman"/>
              </a:rPr>
              <a:t>Bioinsecticides</a:t>
            </a:r>
            <a:endParaRPr lang="en-US" altLang="ja-JP" sz="3200" b="1" dirty="0" smtClean="0">
              <a:latin typeface="Times New Roman"/>
              <a:cs typeface="Times New Roman"/>
            </a:endParaRPr>
          </a:p>
          <a:p>
            <a:r>
              <a:rPr lang="en-US" altLang="ja-JP" sz="2400" b="1" dirty="0" smtClean="0">
                <a:latin typeface="Times New Roman"/>
                <a:cs typeface="Times New Roman"/>
              </a:rPr>
              <a:t> </a:t>
            </a:r>
          </a:p>
          <a:p>
            <a:pPr marL="457200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Insects are susceptible to infection by pathogenic microorganisms (bacteria, fungi, protozoa) and viruses</a:t>
            </a:r>
          </a:p>
          <a:p>
            <a:pPr marL="457200" indent="-457200">
              <a:buFont typeface="Arial"/>
              <a:buChar char="•"/>
            </a:pPr>
            <a:endParaRPr lang="en-US" altLang="ja-JP" sz="2400" b="1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 err="1" smtClean="0">
                <a:latin typeface="Times New Roman"/>
                <a:cs typeface="Times New Roman"/>
              </a:rPr>
              <a:t>Entomopathogenic</a:t>
            </a: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latin typeface="Times New Roman"/>
                <a:cs typeface="Times New Roman"/>
              </a:rPr>
              <a:t>fungi </a:t>
            </a:r>
            <a:r>
              <a:rPr lang="en-US" altLang="ja-JP" sz="2400" dirty="0" smtClean="0">
                <a:latin typeface="Times New Roman"/>
                <a:cs typeface="Times New Roman"/>
              </a:rPr>
              <a:t>formulated </a:t>
            </a:r>
            <a:r>
              <a:rPr lang="en-US" altLang="ja-JP" sz="2400" dirty="0">
                <a:latin typeface="Times New Roman"/>
                <a:cs typeface="Times New Roman"/>
              </a:rPr>
              <a:t>into </a:t>
            </a:r>
            <a:r>
              <a:rPr lang="en-US" altLang="ja-JP" sz="2400" dirty="0" err="1">
                <a:latin typeface="Times New Roman"/>
                <a:cs typeface="Times New Roman"/>
              </a:rPr>
              <a:t>mycoinsecticides</a:t>
            </a:r>
            <a:r>
              <a:rPr lang="en-US" altLang="ja-JP" sz="2400" dirty="0">
                <a:latin typeface="Times New Roman"/>
                <a:cs typeface="Times New Roman"/>
              </a:rPr>
              <a:t>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Bacteria </a:t>
            </a:r>
            <a:r>
              <a:rPr lang="en-US" altLang="ja-JP" sz="2400" dirty="0">
                <a:latin typeface="Times New Roman"/>
                <a:cs typeface="Times New Roman"/>
              </a:rPr>
              <a:t>also are found to possess insecticidal </a:t>
            </a:r>
            <a:r>
              <a:rPr lang="en-US" altLang="ja-JP" sz="2400" dirty="0" smtClean="0">
                <a:latin typeface="Times New Roman"/>
                <a:cs typeface="Times New Roman"/>
              </a:rPr>
              <a:t>properties</a:t>
            </a:r>
          </a:p>
          <a:p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Examples:</a:t>
            </a:r>
          </a:p>
          <a:p>
            <a:pPr lvl="1"/>
            <a:r>
              <a:rPr lang="en-US" altLang="ja-JP" sz="2400" i="1" dirty="0">
                <a:latin typeface="Times New Roman"/>
                <a:cs typeface="Times New Roman"/>
              </a:rPr>
              <a:t>Bacillus </a:t>
            </a:r>
            <a:r>
              <a:rPr lang="en-US" altLang="ja-JP" sz="2400" i="1" dirty="0" err="1" smtClean="0">
                <a:latin typeface="Times New Roman"/>
                <a:cs typeface="Times New Roman"/>
              </a:rPr>
              <a:t>thuringiensis</a:t>
            </a:r>
            <a:r>
              <a:rPr lang="en-US" altLang="ja-JP" sz="2400" i="1" dirty="0" smtClean="0">
                <a:latin typeface="Times New Roman"/>
                <a:cs typeface="Times New Roman"/>
              </a:rPr>
              <a:t>. Bacillus </a:t>
            </a:r>
            <a:r>
              <a:rPr lang="en-US" altLang="ja-JP" sz="2400" i="1" dirty="0" err="1" smtClean="0">
                <a:latin typeface="Times New Roman"/>
                <a:cs typeface="Times New Roman"/>
              </a:rPr>
              <a:t>sphaericus</a:t>
            </a:r>
            <a:r>
              <a:rPr lang="en-US" altLang="ja-JP" sz="2400" dirty="0" smtClean="0">
                <a:latin typeface="Times New Roman"/>
                <a:cs typeface="Times New Roman"/>
              </a:rPr>
              <a:t>, </a:t>
            </a:r>
            <a:r>
              <a:rPr lang="en-US" altLang="ja-JP" sz="2400" i="1" dirty="0" smtClean="0">
                <a:latin typeface="Times New Roman"/>
                <a:cs typeface="Times New Roman"/>
              </a:rPr>
              <a:t>Bacillus </a:t>
            </a:r>
            <a:r>
              <a:rPr lang="en-US" altLang="ja-JP" sz="2400" i="1" dirty="0" err="1" smtClean="0">
                <a:latin typeface="Times New Roman"/>
                <a:cs typeface="Times New Roman"/>
              </a:rPr>
              <a:t>subtilis</a:t>
            </a:r>
            <a:r>
              <a:rPr lang="en-US" altLang="ja-JP" sz="2400" i="1" dirty="0" smtClean="0">
                <a:latin typeface="Times New Roman"/>
                <a:cs typeface="Times New Roman"/>
              </a:rPr>
              <a:t>, Bacillus </a:t>
            </a:r>
            <a:r>
              <a:rPr lang="en-US" altLang="ja-JP" sz="2400" i="1" dirty="0" err="1">
                <a:latin typeface="Times New Roman"/>
                <a:cs typeface="Times New Roman"/>
              </a:rPr>
              <a:t>lentimorbus</a:t>
            </a:r>
            <a:r>
              <a:rPr lang="en-US" altLang="ja-JP" sz="2400" i="1" dirty="0"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latin typeface="Times New Roman"/>
                <a:cs typeface="Times New Roman"/>
              </a:rPr>
              <a:t>and </a:t>
            </a:r>
            <a:r>
              <a:rPr lang="en-US" altLang="ja-JP" sz="2400" i="1" dirty="0">
                <a:latin typeface="Times New Roman"/>
                <a:cs typeface="Times New Roman"/>
              </a:rPr>
              <a:t>Bacillus </a:t>
            </a:r>
            <a:r>
              <a:rPr lang="en-US" altLang="ja-JP" sz="2400" i="1" dirty="0" smtClean="0">
                <a:latin typeface="Times New Roman"/>
                <a:cs typeface="Times New Roman"/>
              </a:rPr>
              <a:t>papillae </a:t>
            </a:r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endParaRPr lang="en-US" altLang="ja-JP" sz="2400" b="1" dirty="0">
              <a:latin typeface="Times New Roman"/>
              <a:cs typeface="Times New Roman"/>
            </a:endParaRPr>
          </a:p>
          <a:p>
            <a:endParaRPr lang="en-US" altLang="ja-JP" sz="2400" b="1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</a:p>
          <a:p>
            <a:pPr marL="342900" indent="-342900">
              <a:buFont typeface="Arial"/>
              <a:buChar char="•"/>
            </a:pPr>
            <a:endParaRPr kumimoji="1"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ja-JP" alt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626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8588" y="400721"/>
            <a:ext cx="8456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ja-JP" sz="4000" b="1" i="1" dirty="0">
                <a:solidFill>
                  <a:srgbClr val="FF0000"/>
                </a:solidFill>
                <a:latin typeface="Arial"/>
                <a:cs typeface="Arial"/>
              </a:rPr>
              <a:t>Bacillus </a:t>
            </a:r>
            <a:r>
              <a:rPr lang="en-US" altLang="ja-JP" sz="4000" b="1" i="1" dirty="0" err="1">
                <a:solidFill>
                  <a:srgbClr val="FF0000"/>
                </a:solidFill>
                <a:latin typeface="Arial"/>
                <a:cs typeface="Arial"/>
              </a:rPr>
              <a:t>thuringiensis</a:t>
            </a:r>
            <a:endParaRPr lang="en-US" altLang="ja-JP" sz="40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7765" y="1550024"/>
            <a:ext cx="7981103" cy="7478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Microbial </a:t>
            </a:r>
            <a:r>
              <a:rPr lang="en-US" altLang="ja-JP" sz="2400" dirty="0">
                <a:latin typeface="Times New Roman"/>
                <a:cs typeface="Times New Roman"/>
              </a:rPr>
              <a:t>pest control agents represent less than 1% of total insecticide sales</a:t>
            </a:r>
            <a:r>
              <a:rPr lang="en-US" altLang="ja-JP" sz="2400" dirty="0" smtClean="0">
                <a:latin typeface="Times New Roman"/>
                <a:cs typeface="Times New Roman"/>
              </a:rPr>
              <a:t>.</a:t>
            </a:r>
          </a:p>
          <a:p>
            <a:pPr marL="342900" indent="-3429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i="1" dirty="0">
                <a:latin typeface="Times New Roman"/>
                <a:cs typeface="Times New Roman"/>
              </a:rPr>
              <a:t>Bacillus </a:t>
            </a:r>
            <a:r>
              <a:rPr lang="en-US" altLang="ja-JP" sz="2400" i="1" dirty="0" err="1">
                <a:latin typeface="Times New Roman"/>
                <a:cs typeface="Times New Roman"/>
              </a:rPr>
              <a:t>thuringiensis</a:t>
            </a:r>
            <a:r>
              <a:rPr lang="en-US" altLang="ja-JP" sz="2400" i="1" dirty="0">
                <a:latin typeface="Times New Roman"/>
                <a:cs typeface="Times New Roman"/>
              </a:rPr>
              <a:t> </a:t>
            </a:r>
            <a:r>
              <a:rPr lang="en-US" altLang="ja-JP" sz="2400" dirty="0" smtClean="0">
                <a:latin typeface="Times New Roman"/>
                <a:cs typeface="Times New Roman"/>
              </a:rPr>
              <a:t>accounts </a:t>
            </a:r>
            <a:r>
              <a:rPr lang="en-US" altLang="ja-JP" sz="2400" dirty="0">
                <a:latin typeface="Times New Roman"/>
                <a:cs typeface="Times New Roman"/>
              </a:rPr>
              <a:t>for over 90% of the miniscule share of the insecticide market attributable to biological control agents.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Transgenic </a:t>
            </a:r>
            <a:r>
              <a:rPr lang="en-US" altLang="ja-JP" sz="2400" dirty="0">
                <a:latin typeface="Times New Roman"/>
                <a:cs typeface="Times New Roman"/>
              </a:rPr>
              <a:t>crop plants </a:t>
            </a:r>
            <a:r>
              <a:rPr lang="en-US" altLang="ja-JP" sz="2400" dirty="0" smtClean="0">
                <a:latin typeface="Times New Roman"/>
                <a:cs typeface="Times New Roman"/>
              </a:rPr>
              <a:t>that </a:t>
            </a:r>
            <a:r>
              <a:rPr lang="en-US" altLang="ja-JP" sz="2400" dirty="0">
                <a:latin typeface="Times New Roman"/>
                <a:cs typeface="Times New Roman"/>
              </a:rPr>
              <a:t>express </a:t>
            </a:r>
            <a:r>
              <a:rPr lang="en-US" altLang="ja-JP" sz="2400" i="1" dirty="0">
                <a:latin typeface="Times New Roman"/>
                <a:cs typeface="Times New Roman"/>
              </a:rPr>
              <a:t>B. </a:t>
            </a:r>
            <a:r>
              <a:rPr lang="en-US" altLang="ja-JP" sz="2400" i="1" dirty="0" err="1" smtClean="0">
                <a:latin typeface="Times New Roman"/>
                <a:cs typeface="Times New Roman"/>
              </a:rPr>
              <a:t>thuringiensis</a:t>
            </a:r>
            <a:r>
              <a:rPr lang="en-US" altLang="ja-JP" sz="24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latin typeface="Times New Roman"/>
                <a:cs typeface="Times New Roman"/>
              </a:rPr>
              <a:t>insecticidal proteins have been widely adopted.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In </a:t>
            </a:r>
            <a:r>
              <a:rPr lang="en-US" altLang="ja-JP" sz="2400" dirty="0">
                <a:latin typeface="Times New Roman"/>
                <a:cs typeface="Times New Roman"/>
              </a:rPr>
              <a:t>2002, more than 35 million acres of these transgenic cotton and corn crops were planted </a:t>
            </a:r>
            <a:r>
              <a:rPr lang="en-US" altLang="ja-JP" sz="2400" dirty="0" smtClean="0">
                <a:latin typeface="Times New Roman"/>
                <a:cs typeface="Times New Roman"/>
              </a:rPr>
              <a:t>worldwide</a:t>
            </a:r>
            <a:r>
              <a:rPr lang="en-US" altLang="ja-JP" sz="2400" dirty="0">
                <a:latin typeface="Times New Roman"/>
                <a:cs typeface="Times New Roman"/>
              </a:rPr>
              <a:t>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b="1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b="1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</a:p>
          <a:p>
            <a:pPr marL="342900" indent="-342900">
              <a:buFont typeface="Arial"/>
              <a:buChar char="•"/>
            </a:pPr>
            <a:endParaRPr kumimoji="1"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ja-JP" alt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377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05" y="1120588"/>
            <a:ext cx="8774097" cy="55259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8588" y="221427"/>
            <a:ext cx="8456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ja-JP" sz="4000" b="1" i="1" dirty="0" smtClean="0">
                <a:solidFill>
                  <a:srgbClr val="FF0000"/>
                </a:solidFill>
                <a:latin typeface="Arial"/>
                <a:cs typeface="Arial"/>
              </a:rPr>
              <a:t>B. </a:t>
            </a:r>
            <a:r>
              <a:rPr lang="en-US" altLang="ja-JP" sz="4000" b="1" i="1" dirty="0" err="1" smtClean="0">
                <a:solidFill>
                  <a:srgbClr val="FF0000"/>
                </a:solidFill>
                <a:latin typeface="Arial"/>
                <a:cs typeface="Arial"/>
              </a:rPr>
              <a:t>thuringiensis</a:t>
            </a:r>
            <a:r>
              <a:rPr lang="en-US" altLang="ja-JP" sz="4000" b="1" i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sporulation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9189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1200" dirty="0" smtClean="0"/>
              <a:t>Bechtel and Bulla (</a:t>
            </a:r>
            <a:r>
              <a:rPr lang="en-US" altLang="ja-JP" sz="1200" dirty="0"/>
              <a:t>1976</a:t>
            </a:r>
            <a:r>
              <a:rPr lang="en-US" altLang="ja-JP" sz="1200" dirty="0" smtClean="0"/>
              <a:t>) </a:t>
            </a:r>
            <a:r>
              <a:rPr lang="en-US" altLang="ja-JP" sz="1200" i="1" dirty="0"/>
              <a:t>Journal of </a:t>
            </a:r>
            <a:r>
              <a:rPr lang="en-US" altLang="ja-JP" sz="1200" i="1" dirty="0" smtClean="0"/>
              <a:t>Bacteriology</a:t>
            </a:r>
            <a:endParaRPr lang="ja-JP" alt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115975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8588" y="221427"/>
            <a:ext cx="8456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ja-JP" sz="5400" b="1" dirty="0" err="1" smtClean="0">
                <a:solidFill>
                  <a:srgbClr val="FF0000"/>
                </a:solidFill>
                <a:latin typeface="Arial"/>
                <a:cs typeface="Arial"/>
              </a:rPr>
              <a:t>Bt</a:t>
            </a:r>
            <a:r>
              <a:rPr lang="en-US" altLang="ja-JP" sz="5400" b="1" dirty="0" smtClean="0">
                <a:solidFill>
                  <a:srgbClr val="FF0000"/>
                </a:solidFill>
                <a:latin typeface="Arial"/>
                <a:cs typeface="Arial"/>
              </a:rPr>
              <a:t> toxins</a:t>
            </a:r>
            <a:endParaRPr lang="en-US" altLang="ja-JP" sz="54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52470" y="6500335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altLang="ja-JP" sz="1200" i="1" dirty="0" smtClean="0"/>
              <a:t>Modern industrial microbiology and biotechnology</a:t>
            </a:r>
            <a:endParaRPr lang="ja-JP" altLang="en-US" sz="1200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0" y="2286000"/>
            <a:ext cx="9234412" cy="274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3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9" y="253999"/>
            <a:ext cx="9072168" cy="648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90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0"/>
            <a:ext cx="6255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0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8588" y="292705"/>
            <a:ext cx="845670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ja-JP" sz="3200" b="1" dirty="0" err="1" smtClean="0">
                <a:solidFill>
                  <a:srgbClr val="FF0000"/>
                </a:solidFill>
                <a:latin typeface="Arial"/>
                <a:cs typeface="Arial"/>
              </a:rPr>
              <a:t>Biorational</a:t>
            </a:r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 pesticides of microbial origin 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7765" y="1091533"/>
            <a:ext cx="7981103" cy="744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Natural chemicals that function </a:t>
            </a:r>
            <a:r>
              <a:rPr lang="en-US" altLang="ja-JP" sz="2400" dirty="0">
                <a:latin typeface="Times New Roman"/>
                <a:cs typeface="Times New Roman"/>
              </a:rPr>
              <a:t>as pesticides but </a:t>
            </a:r>
            <a:r>
              <a:rPr lang="en-US" altLang="ja-JP" sz="2400" dirty="0" smtClean="0">
                <a:latin typeface="Times New Roman"/>
                <a:cs typeface="Times New Roman"/>
              </a:rPr>
              <a:t>have limited </a:t>
            </a:r>
            <a:r>
              <a:rPr lang="en-US" altLang="ja-JP" sz="2400" dirty="0">
                <a:latin typeface="Times New Roman"/>
                <a:cs typeface="Times New Roman"/>
              </a:rPr>
              <a:t>or no adverse effects on the </a:t>
            </a:r>
            <a:r>
              <a:rPr lang="en-US" altLang="ja-JP" sz="2400" dirty="0" smtClean="0">
                <a:latin typeface="Times New Roman"/>
                <a:cs typeface="Times New Roman"/>
              </a:rPr>
              <a:t>environment and the </a:t>
            </a:r>
            <a:r>
              <a:rPr lang="en-US" altLang="ja-JP" sz="2400" dirty="0" smtClean="0">
                <a:latin typeface="Times New Roman"/>
                <a:cs typeface="Times New Roman"/>
              </a:rPr>
              <a:t>non-target </a:t>
            </a:r>
            <a:r>
              <a:rPr lang="en-US" altLang="ja-JP" sz="2400" dirty="0">
                <a:latin typeface="Times New Roman"/>
                <a:cs typeface="Times New Roman"/>
              </a:rPr>
              <a:t>organisms including humans.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12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b="1" dirty="0" err="1" smtClean="0">
                <a:latin typeface="Times New Roman"/>
                <a:cs typeface="Times New Roman"/>
              </a:rPr>
              <a:t>Allelopathy</a:t>
            </a:r>
            <a:r>
              <a:rPr lang="en-US" altLang="ja-JP" sz="2400" dirty="0" smtClean="0">
                <a:latin typeface="Times New Roman"/>
                <a:cs typeface="Times New Roman"/>
              </a:rPr>
              <a:t>: Biochemical </a:t>
            </a:r>
            <a:r>
              <a:rPr lang="en-US" altLang="ja-JP" sz="2400" dirty="0">
                <a:latin typeface="Times New Roman"/>
                <a:cs typeface="Times New Roman"/>
              </a:rPr>
              <a:t>interactions occurring among plants </a:t>
            </a:r>
            <a:r>
              <a:rPr lang="en-US" altLang="ja-JP" sz="2400" dirty="0" smtClean="0">
                <a:latin typeface="Times New Roman"/>
                <a:cs typeface="Times New Roman"/>
              </a:rPr>
              <a:t>and mediated </a:t>
            </a:r>
            <a:r>
              <a:rPr lang="en-US" altLang="ja-JP" sz="2400" dirty="0">
                <a:latin typeface="Times New Roman"/>
                <a:cs typeface="Times New Roman"/>
              </a:rPr>
              <a:t>by </a:t>
            </a:r>
            <a:r>
              <a:rPr lang="en-US" altLang="ja-JP" sz="2400" dirty="0" smtClean="0">
                <a:latin typeface="Times New Roman"/>
                <a:cs typeface="Times New Roman"/>
              </a:rPr>
              <a:t>microorganisms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endParaRPr lang="ar-sa" altLang="ja-JP" sz="1200" dirty="0" smtClean="0">
              <a:latin typeface="Times New Roman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b="1" dirty="0" err="1" smtClean="0">
                <a:latin typeface="Times New Roman"/>
                <a:cs typeface="Times New Roman"/>
              </a:rPr>
              <a:t>Allelochemicals</a:t>
            </a:r>
            <a:r>
              <a:rPr lang="en-US" altLang="ja-JP" sz="2400" dirty="0" smtClean="0">
                <a:latin typeface="Times New Roman"/>
                <a:cs typeface="Times New Roman"/>
              </a:rPr>
              <a:t> are organic </a:t>
            </a:r>
            <a:r>
              <a:rPr lang="en-US" altLang="ja-JP" sz="2400" dirty="0">
                <a:latin typeface="Times New Roman"/>
                <a:cs typeface="Times New Roman"/>
              </a:rPr>
              <a:t>compounds produced by microbes or plants that stimulate or inhibit the </a:t>
            </a:r>
            <a:r>
              <a:rPr lang="en-US" altLang="ja-JP" sz="2400" dirty="0" smtClean="0">
                <a:latin typeface="Times New Roman"/>
                <a:cs typeface="Times New Roman"/>
              </a:rPr>
              <a:t>neighboring </a:t>
            </a:r>
            <a:r>
              <a:rPr lang="en-US" altLang="ja-JP" sz="2400" dirty="0">
                <a:latin typeface="Times New Roman"/>
                <a:cs typeface="Times New Roman"/>
              </a:rPr>
              <a:t>plant or microorganism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>
              <a:spcAft>
                <a:spcPts val="1200"/>
              </a:spcAft>
            </a:pPr>
            <a:endParaRPr lang="en-US" altLang="ja-JP" sz="12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err="1" smtClean="0">
                <a:latin typeface="Times New Roman"/>
                <a:cs typeface="Times New Roman"/>
              </a:rPr>
              <a:t>Phytotoxins</a:t>
            </a: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latin typeface="Times New Roman"/>
                <a:cs typeface="Times New Roman"/>
              </a:rPr>
              <a:t>are toxic to </a:t>
            </a:r>
            <a:r>
              <a:rPr lang="en-US" altLang="ja-JP" sz="2400" dirty="0" smtClean="0">
                <a:latin typeface="Times New Roman"/>
                <a:cs typeface="Times New Roman"/>
              </a:rPr>
              <a:t>plants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Zootoxins </a:t>
            </a:r>
            <a:r>
              <a:rPr lang="en-US" altLang="ja-JP" sz="2400" dirty="0">
                <a:latin typeface="Times New Roman"/>
                <a:cs typeface="Times New Roman"/>
              </a:rPr>
              <a:t>have toxicity towards animals and </a:t>
            </a:r>
            <a:r>
              <a:rPr lang="en-US" altLang="ja-JP" sz="2400" dirty="0" smtClean="0">
                <a:latin typeface="Times New Roman"/>
                <a:cs typeface="Times New Roman"/>
              </a:rPr>
              <a:t>insects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A</a:t>
            </a:r>
            <a:r>
              <a:rPr lang="en-US" altLang="ja-JP" sz="2400" dirty="0" smtClean="0">
                <a:latin typeface="Times New Roman"/>
                <a:cs typeface="Times New Roman"/>
              </a:rPr>
              <a:t>ntibiotics </a:t>
            </a:r>
            <a:r>
              <a:rPr lang="en-US" altLang="ja-JP" sz="2400" dirty="0">
                <a:latin typeface="Times New Roman"/>
                <a:cs typeface="Times New Roman"/>
              </a:rPr>
              <a:t>are used against plant </a:t>
            </a:r>
            <a:r>
              <a:rPr lang="en-US" altLang="ja-JP" sz="2400" dirty="0" smtClean="0">
                <a:latin typeface="Times New Roman"/>
                <a:cs typeface="Times New Roman"/>
              </a:rPr>
              <a:t>pathogens </a:t>
            </a:r>
            <a:endParaRPr lang="en-US" altLang="ja-JP" sz="2400" dirty="0">
              <a:latin typeface="Times New Roman"/>
              <a:cs typeface="Times New Roman"/>
            </a:endParaRPr>
          </a:p>
          <a:p>
            <a:pPr>
              <a:spcAft>
                <a:spcPts val="1200"/>
              </a:spcAft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923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8588" y="250033"/>
            <a:ext cx="8456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ja-JP" sz="3600" b="1" dirty="0" err="1" smtClean="0">
                <a:solidFill>
                  <a:srgbClr val="FF0000"/>
                </a:solidFill>
                <a:latin typeface="Arial"/>
                <a:cs typeface="Arial"/>
              </a:rPr>
              <a:t>Allelopathy</a:t>
            </a:r>
            <a:endParaRPr lang="en-US" altLang="ja-JP"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87" y="1008529"/>
            <a:ext cx="8568017" cy="58088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97454" y="6560687"/>
            <a:ext cx="2046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 err="1">
                <a:latin typeface="Times New Roman"/>
                <a:cs typeface="Times New Roman"/>
              </a:rPr>
              <a:t>Cipollini</a:t>
            </a:r>
            <a:r>
              <a:rPr lang="en-US" altLang="ja-JP" sz="1200" dirty="0">
                <a:latin typeface="Times New Roman"/>
                <a:cs typeface="Times New Roman"/>
              </a:rPr>
              <a:t> </a:t>
            </a:r>
            <a:r>
              <a:rPr kumimoji="1" lang="en-US" altLang="ja-JP" sz="1200" dirty="0" smtClean="0">
                <a:latin typeface="Times New Roman"/>
                <a:cs typeface="Times New Roman"/>
              </a:rPr>
              <a:t>(2013) </a:t>
            </a:r>
            <a:r>
              <a:rPr lang="en-US" altLang="ja-JP" sz="1200" i="1" dirty="0">
                <a:latin typeface="Times New Roman"/>
                <a:cs typeface="Times New Roman"/>
              </a:rPr>
              <a:t>J </a:t>
            </a:r>
            <a:r>
              <a:rPr lang="en-US" altLang="ja-JP" sz="1200" i="1" dirty="0" err="1">
                <a:latin typeface="Times New Roman"/>
                <a:cs typeface="Times New Roman"/>
              </a:rPr>
              <a:t>Chem</a:t>
            </a:r>
            <a:r>
              <a:rPr lang="en-US" altLang="ja-JP" sz="1200" i="1" dirty="0">
                <a:latin typeface="Times New Roman"/>
                <a:cs typeface="Times New Roman"/>
              </a:rPr>
              <a:t> </a:t>
            </a:r>
            <a:r>
              <a:rPr lang="en-US" altLang="ja-JP" sz="1200" i="1" dirty="0" err="1">
                <a:latin typeface="Times New Roman"/>
                <a:cs typeface="Times New Roman"/>
              </a:rPr>
              <a:t>Ecol</a:t>
            </a:r>
            <a:r>
              <a:rPr lang="en-US" altLang="ja-JP" sz="1200" i="1" dirty="0">
                <a:latin typeface="Times New Roman"/>
                <a:cs typeface="Times New Roman"/>
              </a:rPr>
              <a:t> </a:t>
            </a:r>
          </a:p>
          <a:p>
            <a:endParaRPr kumimoji="1" lang="ja-JP" altLang="en-US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224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8588" y="181762"/>
            <a:ext cx="84567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ja-JP" sz="2800" b="1" dirty="0">
                <a:solidFill>
                  <a:srgbClr val="FF0000"/>
                </a:solidFill>
                <a:latin typeface="Arial"/>
                <a:cs typeface="Arial"/>
              </a:rPr>
              <a:t>Incorporation of microbial genes into crop plants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89" y="1135869"/>
            <a:ext cx="7633446" cy="478514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05647" y="5921014"/>
            <a:ext cx="69327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/>
                <a:cs typeface="Times New Roman"/>
              </a:rPr>
              <a:t>Total world cropland areas (in million </a:t>
            </a:r>
            <a:r>
              <a:rPr lang="en-US" altLang="ja-JP" sz="1400" dirty="0" smtClean="0">
                <a:latin typeface="Times New Roman"/>
                <a:cs typeface="Times New Roman"/>
              </a:rPr>
              <a:t>hectares</a:t>
            </a:r>
            <a:r>
              <a:rPr lang="en-US" altLang="ja-JP" sz="1400" dirty="0">
                <a:latin typeface="Times New Roman"/>
                <a:cs typeface="Times New Roman"/>
              </a:rPr>
              <a:t>) planted with transgenic </a:t>
            </a:r>
            <a:r>
              <a:rPr lang="en-US" altLang="ja-JP" sz="1400" dirty="0" smtClean="0">
                <a:latin typeface="Times New Roman"/>
                <a:cs typeface="Times New Roman"/>
              </a:rPr>
              <a:t>stocks. (</a:t>
            </a:r>
            <a:r>
              <a:rPr lang="en-US" altLang="ja-JP" sz="1400" dirty="0">
                <a:latin typeface="Times New Roman"/>
                <a:cs typeface="Times New Roman"/>
              </a:rPr>
              <a:t>International Service for the </a:t>
            </a:r>
            <a:r>
              <a:rPr lang="en-US" altLang="ja-JP" sz="1400" dirty="0" smtClean="0">
                <a:latin typeface="Times New Roman"/>
                <a:cs typeface="Times New Roman"/>
              </a:rPr>
              <a:t>Acquisition </a:t>
            </a:r>
            <a:r>
              <a:rPr lang="en-US" altLang="ja-JP" sz="1400" dirty="0">
                <a:latin typeface="Times New Roman"/>
                <a:cs typeface="Times New Roman"/>
              </a:rPr>
              <a:t>of </a:t>
            </a:r>
            <a:r>
              <a:rPr lang="en-US" altLang="ja-JP" sz="1400" dirty="0" err="1">
                <a:latin typeface="Times New Roman"/>
                <a:cs typeface="Times New Roman"/>
              </a:rPr>
              <a:t>Agri</a:t>
            </a:r>
            <a:r>
              <a:rPr lang="en-US" altLang="ja-JP" sz="1400" dirty="0">
                <a:latin typeface="Times New Roman"/>
                <a:cs typeface="Times New Roman"/>
              </a:rPr>
              <a:t>-biotech Applications, </a:t>
            </a:r>
            <a:r>
              <a:rPr lang="en-US" altLang="ja-JP" sz="1400" dirty="0" err="1" smtClean="0">
                <a:latin typeface="Times New Roman"/>
                <a:cs typeface="Times New Roman"/>
              </a:rPr>
              <a:t>www.isaaa.org</a:t>
            </a:r>
            <a:r>
              <a:rPr lang="en-US" altLang="ja-JP" sz="1400" dirty="0" smtClean="0">
                <a:latin typeface="Times New Roman"/>
                <a:cs typeface="Times New Roman"/>
              </a:rPr>
              <a:t>)</a:t>
            </a:r>
            <a:endParaRPr lang="ja-JP" altLang="en-US" sz="1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316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8588" y="181762"/>
            <a:ext cx="84567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ja-JP" sz="2800" b="1" dirty="0">
                <a:solidFill>
                  <a:srgbClr val="FF0000"/>
                </a:solidFill>
                <a:latin typeface="Arial"/>
                <a:cs typeface="Arial"/>
              </a:rPr>
              <a:t>Incorporation of microbial genes into crop plants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7765" y="1531226"/>
            <a:ext cx="798110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Transgenic plants are most commonly generated by </a:t>
            </a:r>
            <a:r>
              <a:rPr lang="en-US" altLang="ja-JP" sz="2400" dirty="0" smtClean="0">
                <a:latin typeface="Times New Roman"/>
                <a:cs typeface="Times New Roman"/>
              </a:rPr>
              <a:t>exploiting </a:t>
            </a:r>
            <a:r>
              <a:rPr lang="en-US" altLang="ja-JP" sz="2400" dirty="0">
                <a:latin typeface="Times New Roman"/>
                <a:cs typeface="Times New Roman"/>
              </a:rPr>
              <a:t>a plasmid vector carried by </a:t>
            </a:r>
            <a:r>
              <a:rPr lang="en-US" altLang="ja-JP" sz="2400" i="1" dirty="0">
                <a:latin typeface="Times New Roman"/>
                <a:cs typeface="Times New Roman"/>
              </a:rPr>
              <a:t>Agrobacterium </a:t>
            </a:r>
            <a:r>
              <a:rPr lang="en-US" altLang="ja-JP" sz="2400" i="1" dirty="0" err="1">
                <a:latin typeface="Times New Roman"/>
                <a:cs typeface="Times New Roman"/>
              </a:rPr>
              <a:t>tumefaciens</a:t>
            </a:r>
            <a:r>
              <a:rPr lang="en-US" altLang="ja-JP" sz="2400" i="1" dirty="0">
                <a:latin typeface="Times New Roman"/>
                <a:cs typeface="Times New Roman"/>
              </a:rPr>
              <a:t> </a:t>
            </a:r>
          </a:p>
          <a:p>
            <a:pPr>
              <a:spcAft>
                <a:spcPts val="1200"/>
              </a:spcAft>
            </a:pPr>
            <a:r>
              <a:rPr lang="en-US" altLang="ja-JP" sz="2400" dirty="0" smtClean="0">
                <a:latin typeface="Times New Roman"/>
                <a:cs typeface="Times New Roman"/>
              </a:rPr>
              <a:t>These genes </a:t>
            </a:r>
            <a:r>
              <a:rPr lang="en-US" altLang="ja-JP" sz="2400" dirty="0" err="1" smtClean="0">
                <a:latin typeface="Times New Roman"/>
                <a:cs typeface="Times New Roman"/>
              </a:rPr>
              <a:t>cofer</a:t>
            </a:r>
            <a:r>
              <a:rPr lang="en-US" altLang="ja-JP" sz="2400" dirty="0" smtClean="0">
                <a:latin typeface="Times New Roman"/>
                <a:cs typeface="Times New Roman"/>
              </a:rPr>
              <a:t> the following:</a:t>
            </a: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Ability to grow in harsh environments 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Herbicide tolerance 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Resistance to insect pests 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Control of pathogenic bacteria, fungi, and parasitic nematodes 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Resistance to viral diseases </a:t>
            </a:r>
          </a:p>
          <a:p>
            <a:pPr marL="342900" indent="-342900">
              <a:buFont typeface="Arial"/>
              <a:buChar char="•"/>
            </a:pPr>
            <a:endParaRPr kumimoji="1" lang="ja-JP" alt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4066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3629</TotalTime>
  <Words>521</Words>
  <Application>Microsoft Office PowerPoint</Application>
  <PresentationFormat>On-screen Show (4:3)</PresentationFormat>
  <Paragraphs>109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ＭＳ Ｐゴシック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qutaiba ababneh</dc:creator>
  <cp:lastModifiedBy>JUST</cp:lastModifiedBy>
  <cp:revision>41</cp:revision>
  <dcterms:created xsi:type="dcterms:W3CDTF">2015-11-08T19:51:44Z</dcterms:created>
  <dcterms:modified xsi:type="dcterms:W3CDTF">2019-10-15T08:25:50Z</dcterms:modified>
</cp:coreProperties>
</file>