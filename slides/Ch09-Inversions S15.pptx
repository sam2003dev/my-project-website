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9" r:id="rId6"/>
    <p:sldId id="262" r:id="rId7"/>
    <p:sldId id="270" r:id="rId8"/>
    <p:sldId id="268" r:id="rId9"/>
    <p:sldId id="263" r:id="rId10"/>
    <p:sldId id="271" r:id="rId11"/>
    <p:sldId id="272" r:id="rId12"/>
    <p:sldId id="264" r:id="rId13"/>
    <p:sldId id="265" r:id="rId14"/>
    <p:sldId id="267" r:id="rId15"/>
    <p:sldId id="273"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88" d="100"/>
          <a:sy n="88" d="100"/>
        </p:scale>
        <p:origin x="1910" y="62"/>
      </p:cViewPr>
      <p:guideLst>
        <p:guide orient="horz" pos="2160"/>
        <p:guide pos="2880"/>
      </p:guideLst>
    </p:cSldViewPr>
  </p:slideViewPr>
  <p:notesTextViewPr>
    <p:cViewPr>
      <p:scale>
        <a:sx n="1" d="1"/>
        <a:sy n="1" d="1"/>
      </p:scale>
      <p:origin x="0" y="0"/>
    </p:cViewPr>
  </p:notesTextViewPr>
  <p:sorterViewPr>
    <p:cViewPr>
      <p:scale>
        <a:sx n="140" d="100"/>
        <a:sy n="140" d="100"/>
      </p:scale>
      <p:origin x="0" y="-348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C88388-3475-4C36-8144-00693BC0FCDA}" type="datetimeFigureOut">
              <a:rPr lang="en-US" smtClean="0"/>
              <a:t>5/15/2023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780C20-11FC-4779-A824-A052BA17CC1B}" type="slidenum">
              <a:rPr lang="en-US" smtClean="0"/>
              <a:t>‹#›</a:t>
            </a:fld>
            <a:endParaRPr lang="en-US"/>
          </a:p>
        </p:txBody>
      </p:sp>
    </p:spTree>
    <p:extLst>
      <p:ext uri="{BB962C8B-B14F-4D97-AF65-F5344CB8AC3E}">
        <p14:creationId xmlns:p14="http://schemas.microsoft.com/office/powerpoint/2010/main" val="307029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B78EF9A-49FF-4BB2-A35B-336B546211D0}" type="datetime1">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238987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052F34-FA05-4B54-B99E-F81357691351}" type="datetime1">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3393966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266870-BEE7-4B78-A456-0218468A82FF}" type="datetime1">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140496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C410AB-8EA5-47EA-B0B4-A86D370BAC64}" type="datetime1">
              <a:rPr lang="en-US" smtClean="0"/>
              <a:t>5/15/2023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4130904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FD718B-9DDE-485C-B960-25CD0B0EDEDA}" type="datetime1">
              <a:rPr lang="en-US" smtClean="0"/>
              <a:t>5/15/2023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2704979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70E2060-5DA7-42FF-8199-386385071DE6}" type="datetime1">
              <a:rPr lang="en-US" smtClean="0"/>
              <a:t>5/15/2023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2909657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979B38-6BAC-4A94-AD4D-7C7474D6DDF2}" type="datetime1">
              <a:rPr lang="en-US" smtClean="0"/>
              <a:t>5/15/2023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3681683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736BDD-FD8E-4B92-9976-DE35E8FA000F}" type="datetime1">
              <a:rPr lang="en-US" smtClean="0"/>
              <a:t>5/15/2023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382644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118559-CC7A-409A-86F3-2854D09E2131}" type="datetime1">
              <a:rPr lang="en-US" smtClean="0"/>
              <a:t>5/15/2023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1717776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9BA837-0A2A-474F-82DC-E70A93334005}" type="datetime1">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2006038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2FBFA3-2505-48A7-8194-179175692374}" type="datetime1">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78D40-C00F-419D-85D3-D86A0ECB03C0}" type="slidenum">
              <a:rPr lang="en-US" smtClean="0"/>
              <a:t>‹#›</a:t>
            </a:fld>
            <a:endParaRPr lang="en-US"/>
          </a:p>
        </p:txBody>
      </p:sp>
    </p:spTree>
    <p:extLst>
      <p:ext uri="{BB962C8B-B14F-4D97-AF65-F5344CB8AC3E}">
        <p14:creationId xmlns:p14="http://schemas.microsoft.com/office/powerpoint/2010/main" val="369422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AB348-F5F2-4A78-ACE5-7F2F8F54C5F6}" type="datetime1">
              <a:rPr lang="en-US" smtClean="0"/>
              <a:t>5/15/2023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A78D40-C00F-419D-85D3-D86A0ECB03C0}" type="slidenum">
              <a:rPr lang="en-US" smtClean="0"/>
              <a:t>‹#›</a:t>
            </a:fld>
            <a:endParaRPr lang="en-US"/>
          </a:p>
        </p:txBody>
      </p:sp>
    </p:spTree>
    <p:extLst>
      <p:ext uri="{BB962C8B-B14F-4D97-AF65-F5344CB8AC3E}">
        <p14:creationId xmlns:p14="http://schemas.microsoft.com/office/powerpoint/2010/main" val="303401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14600"/>
            <a:ext cx="8229600" cy="1143000"/>
          </a:xfrm>
        </p:spPr>
        <p:txBody>
          <a:bodyPr>
            <a:normAutofit/>
          </a:bodyPr>
          <a:lstStyle/>
          <a:p>
            <a:r>
              <a:rPr lang="en-US" b="1" dirty="0" smtClean="0"/>
              <a:t>Inversions</a:t>
            </a:r>
            <a:endParaRPr lang="en-US" b="1" dirty="0"/>
          </a:p>
        </p:txBody>
      </p:sp>
      <p:sp>
        <p:nvSpPr>
          <p:cNvPr id="4" name="Slide Number Placeholder 3"/>
          <p:cNvSpPr>
            <a:spLocks noGrp="1"/>
          </p:cNvSpPr>
          <p:nvPr>
            <p:ph type="sldNum" sz="quarter" idx="12"/>
          </p:nvPr>
        </p:nvSpPr>
        <p:spPr/>
        <p:txBody>
          <a:bodyPr/>
          <a:lstStyle/>
          <a:p>
            <a:fld id="{FA72A093-DB52-46D7-ACEE-B7BCB9F7EEDF}" type="slidenum">
              <a:rPr lang="en-US" smtClean="0">
                <a:solidFill>
                  <a:prstClr val="black">
                    <a:tint val="75000"/>
                  </a:prstClr>
                </a:solidFill>
              </a:rPr>
              <a:pPr/>
              <a:t>1</a:t>
            </a:fld>
            <a:endParaRPr lang="en-US" dirty="0">
              <a:solidFill>
                <a:prstClr val="black">
                  <a:tint val="75000"/>
                </a:prstClr>
              </a:solidFill>
            </a:endParaRPr>
          </a:p>
        </p:txBody>
      </p:sp>
    </p:spTree>
    <p:extLst>
      <p:ext uri="{BB962C8B-B14F-4D97-AF65-F5344CB8AC3E}">
        <p14:creationId xmlns:p14="http://schemas.microsoft.com/office/powerpoint/2010/main" val="17520349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p\Documents\My Scans\scan0067.jpg"/>
          <p:cNvPicPr>
            <a:picLocks noChangeAspect="1" noChangeArrowheads="1"/>
          </p:cNvPicPr>
          <p:nvPr/>
        </p:nvPicPr>
        <p:blipFill rotWithShape="1">
          <a:blip r:embed="rId2">
            <a:extLst>
              <a:ext uri="{28A0092B-C50C-407E-A947-70E740481C1C}">
                <a14:useLocalDpi xmlns:a14="http://schemas.microsoft.com/office/drawing/2010/main" val="0"/>
              </a:ext>
            </a:extLst>
          </a:blip>
          <a:srcRect l="3823" t="1803" r="1610" b="63245"/>
          <a:stretch/>
        </p:blipFill>
        <p:spPr bwMode="auto">
          <a:xfrm>
            <a:off x="0" y="0"/>
            <a:ext cx="635220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D6A78D40-C00F-419D-85D3-D86A0ECB03C0}" type="slidenum">
              <a:rPr lang="en-US" smtClean="0"/>
              <a:t>2</a:t>
            </a:fld>
            <a:endParaRPr lang="en-US"/>
          </a:p>
        </p:txBody>
      </p:sp>
      <p:sp>
        <p:nvSpPr>
          <p:cNvPr id="3" name="TextBox 2"/>
          <p:cNvSpPr txBox="1"/>
          <p:nvPr/>
        </p:nvSpPr>
        <p:spPr>
          <a:xfrm>
            <a:off x="6352204" y="914400"/>
            <a:ext cx="2743200" cy="1107996"/>
          </a:xfrm>
          <a:prstGeom prst="rect">
            <a:avLst/>
          </a:prstGeom>
          <a:noFill/>
        </p:spPr>
        <p:txBody>
          <a:bodyPr wrap="square" rtlCol="0">
            <a:spAutoFit/>
          </a:bodyPr>
          <a:lstStyle/>
          <a:p>
            <a:r>
              <a:rPr lang="en-US" sz="2200" dirty="0" smtClean="0">
                <a:solidFill>
                  <a:srgbClr val="C00000"/>
                </a:solidFill>
              </a:rPr>
              <a:t>Examples:</a:t>
            </a:r>
          </a:p>
          <a:p>
            <a:r>
              <a:rPr lang="en-US" sz="2200" dirty="0" smtClean="0">
                <a:solidFill>
                  <a:srgbClr val="C00000"/>
                </a:solidFill>
              </a:rPr>
              <a:t>46,XX,inv(3)(p25q21)</a:t>
            </a:r>
          </a:p>
          <a:p>
            <a:r>
              <a:rPr lang="en-US" sz="2200" dirty="0" smtClean="0">
                <a:solidFill>
                  <a:srgbClr val="C00000"/>
                </a:solidFill>
              </a:rPr>
              <a:t>46,XX,inv(11)(q21q23)</a:t>
            </a:r>
            <a:endParaRPr lang="en-US" sz="2200" dirty="0">
              <a:solidFill>
                <a:srgbClr val="C00000"/>
              </a:solidFill>
            </a:endParaRPr>
          </a:p>
        </p:txBody>
      </p:sp>
    </p:spTree>
    <p:extLst>
      <p:ext uri="{BB962C8B-B14F-4D97-AF65-F5344CB8AC3E}">
        <p14:creationId xmlns:p14="http://schemas.microsoft.com/office/powerpoint/2010/main" val="3171280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hp\Documents\My Scans\scan0067.jpg"/>
          <p:cNvPicPr>
            <a:picLocks noChangeAspect="1" noChangeArrowheads="1"/>
          </p:cNvPicPr>
          <p:nvPr/>
        </p:nvPicPr>
        <p:blipFill rotWithShape="1">
          <a:blip r:embed="rId2">
            <a:extLst>
              <a:ext uri="{28A0092B-C50C-407E-A947-70E740481C1C}">
                <a14:useLocalDpi xmlns:a14="http://schemas.microsoft.com/office/drawing/2010/main" val="0"/>
              </a:ext>
            </a:extLst>
          </a:blip>
          <a:srcRect l="2150" t="60125" r="3576" b="1161"/>
          <a:stretch/>
        </p:blipFill>
        <p:spPr bwMode="auto">
          <a:xfrm>
            <a:off x="2146" y="-31124"/>
            <a:ext cx="5743158" cy="688912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D6A78D40-C00F-419D-85D3-D86A0ECB03C0}" type="slidenum">
              <a:rPr lang="en-US" smtClean="0"/>
              <a:t>3</a:t>
            </a:fld>
            <a:endParaRPr lang="en-US"/>
          </a:p>
        </p:txBody>
      </p:sp>
    </p:spTree>
    <p:extLst>
      <p:ext uri="{BB962C8B-B14F-4D97-AF65-F5344CB8AC3E}">
        <p14:creationId xmlns:p14="http://schemas.microsoft.com/office/powerpoint/2010/main" val="10585447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763000" cy="5693866"/>
          </a:xfrm>
          <a:prstGeom prst="rect">
            <a:avLst/>
          </a:prstGeom>
          <a:noFill/>
        </p:spPr>
        <p:txBody>
          <a:bodyPr wrap="square" rtlCol="0">
            <a:spAutoFit/>
          </a:bodyPr>
          <a:lstStyle/>
          <a:p>
            <a:r>
              <a:rPr lang="en-US" sz="2800" dirty="0" smtClean="0"/>
              <a:t>The clinical relevance of inversion chromosomes is that they can set the stage for the generation of recombinant gametes that may lead to abnormal pregnancy</a:t>
            </a:r>
          </a:p>
          <a:p>
            <a:endParaRPr lang="en-US" sz="2800" dirty="0"/>
          </a:p>
          <a:p>
            <a:r>
              <a:rPr lang="en-US" sz="2800" dirty="0" smtClean="0"/>
              <a:t>The chromosomal imbalance is a result of the formation of a recombinant chromosome, which occurs if there is, within the inverted segment, a crossover between the inversion chromosome and the normal homolog</a:t>
            </a:r>
          </a:p>
          <a:p>
            <a:endParaRPr lang="en-US" sz="2800" dirty="0"/>
          </a:p>
          <a:p>
            <a:r>
              <a:rPr lang="en-US" sz="2800" dirty="0"/>
              <a:t>As with other balanced chromosome rearrangements, inversions will </a:t>
            </a:r>
            <a:r>
              <a:rPr lang="en-US" sz="2800" dirty="0" smtClean="0"/>
              <a:t>not be </a:t>
            </a:r>
            <a:r>
              <a:rPr lang="en-US" sz="2800" dirty="0"/>
              <a:t>detected by chromosome </a:t>
            </a:r>
            <a:r>
              <a:rPr lang="en-US" sz="2800" dirty="0" smtClean="0"/>
              <a:t>microarray. </a:t>
            </a:r>
            <a:r>
              <a:rPr lang="en-US" sz="2800" dirty="0"/>
              <a:t>When a balanced rearrangement </a:t>
            </a:r>
            <a:r>
              <a:rPr lang="en-US" sz="2800" dirty="0" smtClean="0"/>
              <a:t>is suspected </a:t>
            </a:r>
            <a:r>
              <a:rPr lang="en-US" sz="2800" dirty="0"/>
              <a:t>a classical microscope karyotype is required</a:t>
            </a:r>
          </a:p>
        </p:txBody>
      </p:sp>
      <p:sp>
        <p:nvSpPr>
          <p:cNvPr id="3" name="Slide Number Placeholder 2"/>
          <p:cNvSpPr>
            <a:spLocks noGrp="1"/>
          </p:cNvSpPr>
          <p:nvPr>
            <p:ph type="sldNum" sz="quarter" idx="12"/>
          </p:nvPr>
        </p:nvSpPr>
        <p:spPr/>
        <p:txBody>
          <a:bodyPr/>
          <a:lstStyle/>
          <a:p>
            <a:fld id="{D6A78D40-C00F-419D-85D3-D86A0ECB03C0}" type="slidenum">
              <a:rPr lang="en-US" smtClean="0"/>
              <a:t>4</a:t>
            </a:fld>
            <a:endParaRPr lang="en-US"/>
          </a:p>
        </p:txBody>
      </p:sp>
    </p:spTree>
    <p:extLst>
      <p:ext uri="{BB962C8B-B14F-4D97-AF65-F5344CB8AC3E}">
        <p14:creationId xmlns:p14="http://schemas.microsoft.com/office/powerpoint/2010/main" val="154856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5</a:t>
            </a:fld>
            <a:endParaRPr lang="en-US"/>
          </a:p>
        </p:txBody>
      </p:sp>
      <p:sp>
        <p:nvSpPr>
          <p:cNvPr id="3" name="TextBox 2"/>
          <p:cNvSpPr txBox="1"/>
          <p:nvPr/>
        </p:nvSpPr>
        <p:spPr>
          <a:xfrm>
            <a:off x="304801" y="4073011"/>
            <a:ext cx="8763000" cy="2246769"/>
          </a:xfrm>
          <a:prstGeom prst="rect">
            <a:avLst/>
          </a:prstGeom>
          <a:noFill/>
        </p:spPr>
        <p:txBody>
          <a:bodyPr wrap="square" rtlCol="0">
            <a:spAutoFit/>
          </a:bodyPr>
          <a:lstStyle/>
          <a:p>
            <a:r>
              <a:rPr lang="en-US" sz="2800" dirty="0"/>
              <a:t>Classically, crossing-over follows </a:t>
            </a:r>
            <a:r>
              <a:rPr lang="en-US" sz="2800" dirty="0" smtClean="0"/>
              <a:t>the </a:t>
            </a:r>
            <a:r>
              <a:rPr lang="en-US" sz="2800" dirty="0" smtClean="0">
                <a:solidFill>
                  <a:srgbClr val="C00000"/>
                </a:solidFill>
              </a:rPr>
              <a:t>reversed </a:t>
            </a:r>
            <a:r>
              <a:rPr lang="en-US" sz="2800" dirty="0">
                <a:solidFill>
                  <a:srgbClr val="C00000"/>
                </a:solidFill>
              </a:rPr>
              <a:t>loop </a:t>
            </a:r>
            <a:r>
              <a:rPr lang="en-US" sz="2800" dirty="0" smtClean="0">
                <a:solidFill>
                  <a:srgbClr val="C00000"/>
                </a:solidFill>
              </a:rPr>
              <a:t>model</a:t>
            </a:r>
            <a:r>
              <a:rPr lang="en-US" sz="2800" dirty="0" smtClean="0"/>
              <a:t>. This configuration </a:t>
            </a:r>
            <a:r>
              <a:rPr lang="en-US" sz="2800" dirty="0"/>
              <a:t>of the bivalent at meiosis allows as complete as </a:t>
            </a:r>
            <a:r>
              <a:rPr lang="en-US" sz="2800" dirty="0" smtClean="0"/>
              <a:t>possible alignment </a:t>
            </a:r>
            <a:r>
              <a:rPr lang="en-US" sz="2800" dirty="0"/>
              <a:t>and pairing of matching segments of the inversion </a:t>
            </a:r>
            <a:r>
              <a:rPr lang="en-US" sz="2800" dirty="0" smtClean="0"/>
              <a:t>chromosome and </a:t>
            </a:r>
            <a:r>
              <a:rPr lang="en-US" sz="2800" dirty="0"/>
              <a:t>its normal homolog (</a:t>
            </a:r>
            <a:r>
              <a:rPr lang="en-US" sz="2800" dirty="0" err="1">
                <a:solidFill>
                  <a:srgbClr val="C00000"/>
                </a:solidFill>
              </a:rPr>
              <a:t>homosynapsis</a:t>
            </a:r>
            <a:r>
              <a:rPr lang="en-US" sz="2800" dirty="0"/>
              <a:t>)</a:t>
            </a:r>
          </a:p>
        </p:txBody>
      </p:sp>
      <p:pic>
        <p:nvPicPr>
          <p:cNvPr id="5" name="Picture 4"/>
          <p:cNvPicPr>
            <a:picLocks noChangeAspect="1"/>
          </p:cNvPicPr>
          <p:nvPr/>
        </p:nvPicPr>
        <p:blipFill>
          <a:blip r:embed="rId2"/>
          <a:stretch>
            <a:fillRect/>
          </a:stretch>
        </p:blipFill>
        <p:spPr>
          <a:xfrm>
            <a:off x="1295400" y="433191"/>
            <a:ext cx="5419814" cy="2188654"/>
          </a:xfrm>
          <a:prstGeom prst="rect">
            <a:avLst/>
          </a:prstGeom>
        </p:spPr>
      </p:pic>
      <p:sp>
        <p:nvSpPr>
          <p:cNvPr id="6" name="Rectangle 5"/>
          <p:cNvSpPr/>
          <p:nvPr/>
        </p:nvSpPr>
        <p:spPr>
          <a:xfrm>
            <a:off x="311332" y="2819400"/>
            <a:ext cx="8604068" cy="707886"/>
          </a:xfrm>
          <a:prstGeom prst="rect">
            <a:avLst/>
          </a:prstGeom>
        </p:spPr>
        <p:txBody>
          <a:bodyPr wrap="square">
            <a:spAutoFit/>
          </a:bodyPr>
          <a:lstStyle/>
          <a:p>
            <a:r>
              <a:rPr lang="en-US" sz="2000" dirty="0">
                <a:latin typeface="Times New Roman" panose="02020603050405020304" pitchFamily="18" charset="0"/>
                <a:ea typeface="Times New Roman" panose="02020603050405020304" pitchFamily="18" charset="0"/>
              </a:rPr>
              <a:t>FIGURE 9–3. Inversion loop in meiosis, direct observation. </a:t>
            </a:r>
            <a:r>
              <a:rPr lang="en-US" sz="2000" i="1" dirty="0">
                <a:latin typeface="Times New Roman" panose="02020603050405020304" pitchFamily="18" charset="0"/>
                <a:ea typeface="Times New Roman" panose="02020603050405020304" pitchFamily="18" charset="0"/>
              </a:rPr>
              <a:t>Left</a:t>
            </a:r>
            <a:r>
              <a:rPr lang="en-US" sz="2000" dirty="0">
                <a:latin typeface="Times New Roman" panose="02020603050405020304" pitchFamily="18" charset="0"/>
                <a:ea typeface="Times New Roman" panose="02020603050405020304" pitchFamily="18" charset="0"/>
              </a:rPr>
              <a:t>, inversion loop in a mouse study. </a:t>
            </a:r>
            <a:r>
              <a:rPr lang="en-US" sz="2000" i="1" dirty="0">
                <a:latin typeface="Times New Roman" panose="02020603050405020304" pitchFamily="18" charset="0"/>
                <a:ea typeface="Times New Roman" panose="02020603050405020304" pitchFamily="18" charset="0"/>
              </a:rPr>
              <a:t>Right</a:t>
            </a:r>
            <a:r>
              <a:rPr lang="en-US" sz="2000" dirty="0">
                <a:latin typeface="Times New Roman" panose="02020603050405020304" pitchFamily="18" charset="0"/>
                <a:ea typeface="Times New Roman" panose="02020603050405020304" pitchFamily="18" charset="0"/>
              </a:rPr>
              <a:t>, spermatocyte study of a man with </a:t>
            </a:r>
            <a:r>
              <a:rPr lang="en-US" sz="2000" dirty="0" err="1">
                <a:latin typeface="Times New Roman" panose="02020603050405020304" pitchFamily="18" charset="0"/>
                <a:ea typeface="Times New Roman" panose="02020603050405020304" pitchFamily="18" charset="0"/>
              </a:rPr>
              <a:t>inv</a:t>
            </a:r>
            <a:r>
              <a:rPr lang="en-US" sz="2000" dirty="0">
                <a:latin typeface="Times New Roman" panose="02020603050405020304" pitchFamily="18" charset="0"/>
                <a:ea typeface="Times New Roman" panose="02020603050405020304" pitchFamily="18" charset="0"/>
              </a:rPr>
              <a:t>(6)(p22q22.2).</a:t>
            </a:r>
            <a:endParaRPr lang="en-US" sz="2000" dirty="0"/>
          </a:p>
        </p:txBody>
      </p:sp>
    </p:spTree>
    <p:extLst>
      <p:ext uri="{BB962C8B-B14F-4D97-AF65-F5344CB8AC3E}">
        <p14:creationId xmlns:p14="http://schemas.microsoft.com/office/powerpoint/2010/main" val="37818986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6</a:t>
            </a:fld>
            <a:endParaRPr lang="en-US"/>
          </a:p>
        </p:txBody>
      </p:sp>
      <p:sp>
        <p:nvSpPr>
          <p:cNvPr id="3" name="TextBox 2"/>
          <p:cNvSpPr txBox="1"/>
          <p:nvPr/>
        </p:nvSpPr>
        <p:spPr>
          <a:xfrm>
            <a:off x="381000" y="457200"/>
            <a:ext cx="8610600" cy="2677656"/>
          </a:xfrm>
          <a:prstGeom prst="rect">
            <a:avLst/>
          </a:prstGeom>
          <a:noFill/>
        </p:spPr>
        <p:txBody>
          <a:bodyPr wrap="square" rtlCol="0">
            <a:spAutoFit/>
          </a:bodyPr>
          <a:lstStyle/>
          <a:p>
            <a:r>
              <a:rPr lang="en-US" sz="2800" dirty="0" smtClean="0"/>
              <a:t>When a crossover happen in the inverted region, one of the chromosomes will have duplication of the distal segment of the short arm, and a deletion of the distal segment of the long arm</a:t>
            </a:r>
          </a:p>
          <a:p>
            <a:endParaRPr lang="en-US" sz="2800" dirty="0"/>
          </a:p>
          <a:p>
            <a:r>
              <a:rPr lang="en-US" sz="2800" dirty="0" smtClean="0"/>
              <a:t>And the other way around in the other chromosome</a:t>
            </a:r>
            <a:endParaRPr lang="en-US" sz="2800" dirty="0"/>
          </a:p>
        </p:txBody>
      </p:sp>
    </p:spTree>
    <p:extLst>
      <p:ext uri="{BB962C8B-B14F-4D97-AF65-F5344CB8AC3E}">
        <p14:creationId xmlns:p14="http://schemas.microsoft.com/office/powerpoint/2010/main" val="13132488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7</a:t>
            </a:fld>
            <a:endParaRPr lang="en-US"/>
          </a:p>
        </p:txBody>
      </p:sp>
      <p:pic>
        <p:nvPicPr>
          <p:cNvPr id="3" name="image94.jpeg"/>
          <p:cNvPicPr>
            <a:picLocks noChangeAspect="1"/>
          </p:cNvPicPr>
          <p:nvPr/>
        </p:nvPicPr>
        <p:blipFill>
          <a:blip r:embed="rId2" cstate="print"/>
          <a:stretch>
            <a:fillRect/>
          </a:stretch>
        </p:blipFill>
        <p:spPr>
          <a:xfrm>
            <a:off x="152400" y="65206"/>
            <a:ext cx="3330702" cy="6696837"/>
          </a:xfrm>
          <a:prstGeom prst="rect">
            <a:avLst/>
          </a:prstGeom>
        </p:spPr>
      </p:pic>
      <p:sp>
        <p:nvSpPr>
          <p:cNvPr id="4" name="Rectangle 3"/>
          <p:cNvSpPr/>
          <p:nvPr/>
        </p:nvSpPr>
        <p:spPr>
          <a:xfrm>
            <a:off x="4038600" y="228600"/>
            <a:ext cx="4953000" cy="5632311"/>
          </a:xfrm>
          <a:prstGeom prst="rect">
            <a:avLst/>
          </a:prstGeom>
        </p:spPr>
        <p:txBody>
          <a:bodyPr wrap="square">
            <a:spAutoFit/>
          </a:bodyPr>
          <a:lstStyle/>
          <a:p>
            <a:r>
              <a:rPr lang="en-US" sz="2400" dirty="0">
                <a:latin typeface="Times New Roman" panose="02020603050405020304" pitchFamily="18" charset="0"/>
                <a:ea typeface="Times New Roman" panose="02020603050405020304" pitchFamily="18" charset="0"/>
              </a:rPr>
              <a:t>FIGURE 9–4. Inversion loop in </a:t>
            </a:r>
            <a:r>
              <a:rPr lang="en-US" sz="2400" dirty="0" smtClean="0">
                <a:latin typeface="Times New Roman" panose="02020603050405020304" pitchFamily="18" charset="0"/>
                <a:ea typeface="Times New Roman" panose="02020603050405020304" pitchFamily="18" charset="0"/>
              </a:rPr>
              <a:t>meiosis</a:t>
            </a:r>
            <a:r>
              <a:rPr lang="en-US" sz="2400" dirty="0">
                <a:latin typeface="Times New Roman" panose="02020603050405020304" pitchFamily="18" charset="0"/>
                <a:ea typeface="Times New Roman" panose="02020603050405020304" pitchFamily="18" charset="0"/>
              </a:rPr>
              <a:t>, theoretical </a:t>
            </a:r>
            <a:r>
              <a:rPr lang="en-US" sz="2400" dirty="0" smtClean="0">
                <a:latin typeface="Times New Roman" panose="02020603050405020304" pitchFamily="18" charset="0"/>
                <a:ea typeface="Times New Roman" panose="02020603050405020304" pitchFamily="18" charset="0"/>
              </a:rPr>
              <a:t>recombinant outcomes. </a:t>
            </a:r>
            <a:r>
              <a:rPr lang="en-US" sz="2400" dirty="0">
                <a:latin typeface="Times New Roman" panose="02020603050405020304" pitchFamily="18" charset="0"/>
                <a:ea typeface="Times New Roman" panose="02020603050405020304" pitchFamily="18" charset="0"/>
              </a:rPr>
              <a:t>Both sister chromatids are shown. The inversion (</a:t>
            </a:r>
            <a:r>
              <a:rPr lang="en-US" sz="2400" dirty="0" err="1">
                <a:latin typeface="Times New Roman" panose="02020603050405020304" pitchFamily="18" charset="0"/>
                <a:ea typeface="Times New Roman" panose="02020603050405020304" pitchFamily="18" charset="0"/>
              </a:rPr>
              <a:t>centromeric</a:t>
            </a:r>
            <a:r>
              <a:rPr lang="en-US" sz="2400" dirty="0">
                <a:latin typeface="Times New Roman" panose="02020603050405020304" pitchFamily="18" charset="0"/>
                <a:ea typeface="Times New Roman" panose="02020603050405020304" pitchFamily="18" charset="0"/>
              </a:rPr>
              <a:t>) segment is cross-hatched, the long arm </a:t>
            </a:r>
            <a:r>
              <a:rPr lang="en-US" sz="2400" dirty="0" err="1">
                <a:latin typeface="Times New Roman" panose="02020603050405020304" pitchFamily="18" charset="0"/>
                <a:ea typeface="Times New Roman" panose="02020603050405020304" pitchFamily="18" charset="0"/>
              </a:rPr>
              <a:t>noninverted</a:t>
            </a:r>
            <a:r>
              <a:rPr lang="en-US" sz="2400" dirty="0">
                <a:latin typeface="Times New Roman" panose="02020603050405020304" pitchFamily="18" charset="0"/>
                <a:ea typeface="Times New Roman" panose="02020603050405020304" pitchFamily="18" charset="0"/>
              </a:rPr>
              <a:t> segment is stippled, and the short arm </a:t>
            </a:r>
            <a:r>
              <a:rPr lang="en-US" sz="2400" dirty="0" err="1">
                <a:latin typeface="Times New Roman" panose="02020603050405020304" pitchFamily="18" charset="0"/>
                <a:ea typeface="Times New Roman" panose="02020603050405020304" pitchFamily="18" charset="0"/>
              </a:rPr>
              <a:t>noninverted</a:t>
            </a:r>
            <a:r>
              <a:rPr lang="en-US" sz="2400" dirty="0">
                <a:latin typeface="Times New Roman" panose="02020603050405020304" pitchFamily="18" charset="0"/>
                <a:ea typeface="Times New Roman" panose="02020603050405020304" pitchFamily="18" charset="0"/>
              </a:rPr>
              <a:t> segment is open. The four possible </a:t>
            </a:r>
            <a:r>
              <a:rPr lang="en-US" sz="2400" dirty="0" err="1">
                <a:latin typeface="Times New Roman" panose="02020603050405020304" pitchFamily="18" charset="0"/>
                <a:ea typeface="Times New Roman" panose="02020603050405020304" pitchFamily="18" charset="0"/>
              </a:rPr>
              <a:t>gametic</a:t>
            </a:r>
            <a:r>
              <a:rPr lang="en-US" sz="2400" dirty="0">
                <a:latin typeface="Times New Roman" panose="02020603050405020304" pitchFamily="18" charset="0"/>
                <a:ea typeface="Times New Roman" panose="02020603050405020304" pitchFamily="18" charset="0"/>
              </a:rPr>
              <a:t> outcomes following one crossover within the inversion loop are depicted. </a:t>
            </a:r>
            <a:r>
              <a:rPr lang="en-US" sz="2400" dirty="0">
                <a:solidFill>
                  <a:srgbClr val="C00000"/>
                </a:solidFill>
                <a:latin typeface="Times New Roman" panose="02020603050405020304" pitchFamily="18" charset="0"/>
                <a:ea typeface="Times New Roman" panose="02020603050405020304" pitchFamily="18" charset="0"/>
              </a:rPr>
              <a:t>Chromosomes a-a′ and b-b′ are the intact homolog and the inversion</a:t>
            </a:r>
            <a:r>
              <a:rPr lang="en-US" sz="2400" dirty="0">
                <a:latin typeface="Times New Roman" panose="02020603050405020304" pitchFamily="18" charset="0"/>
                <a:ea typeface="Times New Roman" panose="02020603050405020304" pitchFamily="18" charset="0"/>
              </a:rPr>
              <a:t>, respectively; </a:t>
            </a:r>
            <a:r>
              <a:rPr lang="en-US" sz="2400" dirty="0">
                <a:solidFill>
                  <a:srgbClr val="0070C0"/>
                </a:solidFill>
                <a:latin typeface="Times New Roman" panose="02020603050405020304" pitchFamily="18" charset="0"/>
                <a:ea typeface="Times New Roman" panose="02020603050405020304" pitchFamily="18" charset="0"/>
              </a:rPr>
              <a:t>chromosomes c-c′ and d-d′ are the dup p and dup q recombinant chromosomes</a:t>
            </a:r>
            <a:r>
              <a:rPr lang="en-US" sz="2400" dirty="0">
                <a:latin typeface="Times New Roman" panose="02020603050405020304" pitchFamily="18" charset="0"/>
                <a:ea typeface="Times New Roman" panose="02020603050405020304" pitchFamily="18" charset="0"/>
              </a:rPr>
              <a:t>.</a:t>
            </a:r>
            <a:endParaRPr lang="en-US" sz="2400" dirty="0"/>
          </a:p>
        </p:txBody>
      </p:sp>
    </p:spTree>
    <p:extLst>
      <p:ext uri="{BB962C8B-B14F-4D97-AF65-F5344CB8AC3E}">
        <p14:creationId xmlns:p14="http://schemas.microsoft.com/office/powerpoint/2010/main" val="2887004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8</a:t>
            </a:fld>
            <a:endParaRPr lang="en-US"/>
          </a:p>
        </p:txBody>
      </p:sp>
      <p:pic>
        <p:nvPicPr>
          <p:cNvPr id="205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1380" t="28488" r="17407" b="24774"/>
          <a:stretch/>
        </p:blipFill>
        <p:spPr bwMode="auto">
          <a:xfrm>
            <a:off x="685800" y="1066800"/>
            <a:ext cx="7964557" cy="3419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37368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9</a:t>
            </a:fld>
            <a:endParaRPr lang="en-US"/>
          </a:p>
        </p:txBody>
      </p:sp>
      <p:pic>
        <p:nvPicPr>
          <p:cNvPr id="5122" name="Picture 2" descr="C:\Users\hp\Documents\My Scans\scan007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079144" cy="58674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p:cNvCxnSpPr/>
          <p:nvPr/>
        </p:nvCxnSpPr>
        <p:spPr>
          <a:xfrm>
            <a:off x="4724400" y="3581400"/>
            <a:ext cx="167640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28600" y="3977640"/>
            <a:ext cx="220980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p:nvCxnSpPr>
        <p:spPr>
          <a:xfrm>
            <a:off x="3276600" y="3947160"/>
            <a:ext cx="3581400" cy="1524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p:cNvCxnSpPr/>
          <p:nvPr/>
        </p:nvCxnSpPr>
        <p:spPr>
          <a:xfrm>
            <a:off x="228600" y="4343400"/>
            <a:ext cx="350520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712057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10</a:t>
            </a:fld>
            <a:endParaRPr lang="en-US"/>
          </a:p>
        </p:txBody>
      </p:sp>
      <p:pic>
        <p:nvPicPr>
          <p:cNvPr id="3" name="image96.jpeg"/>
          <p:cNvPicPr/>
          <p:nvPr/>
        </p:nvPicPr>
        <p:blipFill>
          <a:blip r:embed="rId2" cstate="print"/>
          <a:stretch>
            <a:fillRect/>
          </a:stretch>
        </p:blipFill>
        <p:spPr>
          <a:xfrm>
            <a:off x="152400" y="76200"/>
            <a:ext cx="3809365" cy="4191000"/>
          </a:xfrm>
          <a:prstGeom prst="rect">
            <a:avLst/>
          </a:prstGeom>
        </p:spPr>
      </p:pic>
      <p:sp>
        <p:nvSpPr>
          <p:cNvPr id="4" name="Rectangle 3"/>
          <p:cNvSpPr/>
          <p:nvPr/>
        </p:nvSpPr>
        <p:spPr>
          <a:xfrm>
            <a:off x="4419600" y="832872"/>
            <a:ext cx="4571999" cy="2308324"/>
          </a:xfrm>
          <a:prstGeom prst="rect">
            <a:avLst/>
          </a:prstGeom>
        </p:spPr>
        <p:txBody>
          <a:bodyPr wrap="square">
            <a:spAutoFit/>
          </a:bodyPr>
          <a:lstStyle/>
          <a:p>
            <a:r>
              <a:rPr lang="en-US" sz="2400" dirty="0">
                <a:latin typeface="Times New Roman" panose="02020603050405020304" pitchFamily="18" charset="0"/>
                <a:ea typeface="Times New Roman" panose="02020603050405020304" pitchFamily="18" charset="0"/>
              </a:rPr>
              <a:t>FIGURE 9–6. </a:t>
            </a:r>
            <a:r>
              <a:rPr lang="en-US" sz="2400" dirty="0">
                <a:solidFill>
                  <a:srgbClr val="FF0000"/>
                </a:solidFill>
                <a:latin typeface="Times New Roman" panose="02020603050405020304" pitchFamily="18" charset="0"/>
                <a:ea typeface="Times New Roman" panose="02020603050405020304" pitchFamily="18" charset="0"/>
              </a:rPr>
              <a:t>Alternative models </a:t>
            </a:r>
            <a:r>
              <a:rPr lang="en-US" sz="2400" dirty="0">
                <a:latin typeface="Times New Roman" panose="02020603050405020304" pitchFamily="18" charset="0"/>
                <a:ea typeface="Times New Roman" panose="02020603050405020304" pitchFamily="18" charset="0"/>
              </a:rPr>
              <a:t>for meiotic pairing, in which </a:t>
            </a:r>
            <a:r>
              <a:rPr lang="en-US" sz="2400" dirty="0">
                <a:solidFill>
                  <a:srgbClr val="FF0000"/>
                </a:solidFill>
                <a:latin typeface="Times New Roman" panose="02020603050405020304" pitchFamily="18" charset="0"/>
                <a:ea typeface="Times New Roman" panose="02020603050405020304" pitchFamily="18" charset="0"/>
              </a:rPr>
              <a:t>only a partial synapsis is achieved</a:t>
            </a:r>
            <a:r>
              <a:rPr lang="en-US" sz="2400" dirty="0">
                <a:latin typeface="Times New Roman" panose="02020603050405020304" pitchFamily="18" charset="0"/>
                <a:ea typeface="Times New Roman" panose="02020603050405020304" pitchFamily="18" charset="0"/>
              </a:rPr>
              <a:t>. Synapsis of (</a:t>
            </a:r>
            <a:r>
              <a:rPr lang="en-US" sz="2400" i="1" dirty="0">
                <a:latin typeface="Times New Roman" panose="02020603050405020304" pitchFamily="18" charset="0"/>
                <a:ea typeface="Times New Roman" panose="02020603050405020304" pitchFamily="18" charset="0"/>
              </a:rPr>
              <a:t>a</a:t>
            </a:r>
            <a:r>
              <a:rPr lang="en-US" sz="2400" dirty="0">
                <a:latin typeface="Times New Roman" panose="02020603050405020304" pitchFamily="18" charset="0"/>
                <a:ea typeface="Times New Roman" panose="02020603050405020304" pitchFamily="18" charset="0"/>
              </a:rPr>
              <a:t>) both distal segments; (</a:t>
            </a:r>
            <a:r>
              <a:rPr lang="en-US" sz="2400" i="1" dirty="0">
                <a:latin typeface="Times New Roman" panose="02020603050405020304" pitchFamily="18" charset="0"/>
                <a:ea typeface="Times New Roman" panose="02020603050405020304" pitchFamily="18" charset="0"/>
              </a:rPr>
              <a:t>b</a:t>
            </a:r>
            <a:r>
              <a:rPr lang="en-US" sz="2400" dirty="0">
                <a:latin typeface="Times New Roman" panose="02020603050405020304" pitchFamily="18" charset="0"/>
                <a:ea typeface="Times New Roman" panose="02020603050405020304" pitchFamily="18" charset="0"/>
              </a:rPr>
              <a:t>) the inverted segment. One crossover is shown in</a:t>
            </a:r>
            <a:r>
              <a:rPr lang="en-US" sz="2400" spc="-40" dirty="0">
                <a:latin typeface="Times New Roman" panose="02020603050405020304" pitchFamily="18"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rPr>
              <a:t>each.</a:t>
            </a:r>
            <a:endParaRPr lang="en-US" sz="2400" dirty="0"/>
          </a:p>
        </p:txBody>
      </p:sp>
      <p:sp>
        <p:nvSpPr>
          <p:cNvPr id="5" name="TextBox 4"/>
          <p:cNvSpPr txBox="1"/>
          <p:nvPr/>
        </p:nvSpPr>
        <p:spPr>
          <a:xfrm>
            <a:off x="267789" y="4346348"/>
            <a:ext cx="8723810" cy="2462213"/>
          </a:xfrm>
          <a:prstGeom prst="rect">
            <a:avLst/>
          </a:prstGeom>
          <a:noFill/>
        </p:spPr>
        <p:txBody>
          <a:bodyPr wrap="square" rtlCol="0">
            <a:spAutoFit/>
          </a:bodyPr>
          <a:lstStyle/>
          <a:p>
            <a:r>
              <a:rPr lang="en-US" sz="2400" dirty="0" smtClean="0"/>
              <a:t>Short inverted segment, “balloon out” (</a:t>
            </a:r>
            <a:r>
              <a:rPr lang="en-US" sz="2400" dirty="0" smtClean="0">
                <a:solidFill>
                  <a:srgbClr val="C00000"/>
                </a:solidFill>
              </a:rPr>
              <a:t>asynapsis</a:t>
            </a:r>
            <a:r>
              <a:rPr lang="en-US" sz="2400" dirty="0" smtClean="0"/>
              <a:t> of the inversion segment) or lie adjacent but not matched (</a:t>
            </a:r>
            <a:r>
              <a:rPr lang="en-US" sz="2400" dirty="0" smtClean="0">
                <a:solidFill>
                  <a:srgbClr val="C00000"/>
                </a:solidFill>
              </a:rPr>
              <a:t>heterosynapsis</a:t>
            </a:r>
            <a:r>
              <a:rPr lang="en-US" sz="2400" dirty="0" smtClean="0"/>
              <a:t>). No crossover can happen within inverted segment, and recombinant products do not form</a:t>
            </a:r>
          </a:p>
          <a:p>
            <a:endParaRPr lang="en-US" sz="1000" dirty="0"/>
          </a:p>
          <a:p>
            <a:r>
              <a:rPr lang="en-US" sz="2400" dirty="0" smtClean="0"/>
              <a:t>Long inverted segments may synapse the inverted segments only, with distal ends unpaired. Recombination can occur</a:t>
            </a:r>
            <a:endParaRPr lang="en-US" sz="2400" dirty="0"/>
          </a:p>
        </p:txBody>
      </p:sp>
    </p:spTree>
    <p:extLst>
      <p:ext uri="{BB962C8B-B14F-4D97-AF65-F5344CB8AC3E}">
        <p14:creationId xmlns:p14="http://schemas.microsoft.com/office/powerpoint/2010/main" val="2047306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11</a:t>
            </a:fld>
            <a:endParaRPr lang="en-US"/>
          </a:p>
        </p:txBody>
      </p:sp>
      <p:pic>
        <p:nvPicPr>
          <p:cNvPr id="3" name="image97.jpeg"/>
          <p:cNvPicPr/>
          <p:nvPr/>
        </p:nvPicPr>
        <p:blipFill>
          <a:blip r:embed="rId2" cstate="print"/>
          <a:stretch>
            <a:fillRect/>
          </a:stretch>
        </p:blipFill>
        <p:spPr>
          <a:xfrm>
            <a:off x="152400" y="228600"/>
            <a:ext cx="4685665" cy="2657475"/>
          </a:xfrm>
          <a:prstGeom prst="rect">
            <a:avLst/>
          </a:prstGeom>
        </p:spPr>
      </p:pic>
      <p:sp>
        <p:nvSpPr>
          <p:cNvPr id="4" name="Rectangle 3"/>
          <p:cNvSpPr/>
          <p:nvPr/>
        </p:nvSpPr>
        <p:spPr>
          <a:xfrm>
            <a:off x="5029200" y="228600"/>
            <a:ext cx="4114800" cy="2554545"/>
          </a:xfrm>
          <a:prstGeom prst="rect">
            <a:avLst/>
          </a:prstGeom>
        </p:spPr>
        <p:txBody>
          <a:bodyPr wrap="square">
            <a:spAutoFit/>
          </a:bodyPr>
          <a:lstStyle/>
          <a:p>
            <a:r>
              <a:rPr lang="en-US" sz="2000" dirty="0">
                <a:latin typeface="Times New Roman" panose="02020603050405020304" pitchFamily="18" charset="0"/>
                <a:ea typeface="Times New Roman" panose="02020603050405020304" pitchFamily="18" charset="0"/>
              </a:rPr>
              <a:t>FIGURE 9–7. The proportion of gametes that are recombinant, compared with the relative size of the inversion. </a:t>
            </a:r>
            <a:r>
              <a:rPr lang="en-US" sz="2000" dirty="0" smtClean="0">
                <a:latin typeface="Times New Roman" panose="02020603050405020304" pitchFamily="18" charset="0"/>
                <a:ea typeface="Times New Roman" panose="02020603050405020304" pitchFamily="18" charset="0"/>
              </a:rPr>
              <a:t>Individual </a:t>
            </a:r>
            <a:r>
              <a:rPr lang="en-US" sz="2000" dirty="0">
                <a:latin typeface="Times New Roman" panose="02020603050405020304" pitchFamily="18" charset="0"/>
                <a:ea typeface="Times New Roman" panose="02020603050405020304" pitchFamily="18" charset="0"/>
              </a:rPr>
              <a:t>data points and the regression line are shown. The clear trend is that </a:t>
            </a:r>
            <a:r>
              <a:rPr lang="en-US" sz="2000" dirty="0">
                <a:solidFill>
                  <a:srgbClr val="C00000"/>
                </a:solidFill>
                <a:latin typeface="Times New Roman" panose="02020603050405020304" pitchFamily="18" charset="0"/>
                <a:ea typeface="Times New Roman" panose="02020603050405020304" pitchFamily="18" charset="0"/>
              </a:rPr>
              <a:t>the larger the inversion size, the more frequently recombinants are seen.</a:t>
            </a:r>
            <a:endParaRPr lang="en-US" sz="2000" dirty="0">
              <a:solidFill>
                <a:srgbClr val="C00000"/>
              </a:solidFill>
            </a:endParaRPr>
          </a:p>
        </p:txBody>
      </p:sp>
      <p:sp>
        <p:nvSpPr>
          <p:cNvPr id="5" name="Rectangle 4"/>
          <p:cNvSpPr/>
          <p:nvPr/>
        </p:nvSpPr>
        <p:spPr>
          <a:xfrm>
            <a:off x="152400" y="3396923"/>
            <a:ext cx="8834846" cy="3293209"/>
          </a:xfrm>
          <a:prstGeom prst="rect">
            <a:avLst/>
          </a:prstGeom>
        </p:spPr>
        <p:txBody>
          <a:bodyPr wrap="square">
            <a:spAutoFit/>
          </a:bodyPr>
          <a:lstStyle/>
          <a:p>
            <a:r>
              <a:rPr lang="en-US" sz="2600" dirty="0"/>
              <a:t>Sperm studies in a small number of inversion heterozygotes give an indication of the frequency with which recombination happens, at least in male gametogenesis </a:t>
            </a:r>
            <a:endParaRPr lang="en-US" sz="2600" dirty="0" smtClean="0"/>
          </a:p>
          <a:p>
            <a:endParaRPr lang="en-US" sz="2600" dirty="0"/>
          </a:p>
          <a:p>
            <a:r>
              <a:rPr lang="en-US" sz="2600" dirty="0"/>
              <a:t>These several studies show that the longer the inverted segment, the more likely is recombination to happen. Presumably, a longer inverted segment allows a more ready formation of an inversion loop. </a:t>
            </a:r>
          </a:p>
        </p:txBody>
      </p:sp>
      <p:sp>
        <p:nvSpPr>
          <p:cNvPr id="6" name="Left Bracket 5"/>
          <p:cNvSpPr/>
          <p:nvPr/>
        </p:nvSpPr>
        <p:spPr>
          <a:xfrm rot="16200000">
            <a:off x="1229739" y="2361194"/>
            <a:ext cx="74496" cy="1105539"/>
          </a:xfrm>
          <a:prstGeom prst="leftBracket">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ket 6"/>
          <p:cNvSpPr/>
          <p:nvPr/>
        </p:nvSpPr>
        <p:spPr>
          <a:xfrm rot="16200000">
            <a:off x="2234150" y="2501634"/>
            <a:ext cx="94657" cy="838197"/>
          </a:xfrm>
          <a:prstGeom prst="leftBracket">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ket 7"/>
          <p:cNvSpPr/>
          <p:nvPr/>
        </p:nvSpPr>
        <p:spPr>
          <a:xfrm rot="16200000">
            <a:off x="3681967" y="1924103"/>
            <a:ext cx="103667" cy="1981200"/>
          </a:xfrm>
          <a:prstGeom prst="leftBracket">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827881" y="2956833"/>
            <a:ext cx="4010184" cy="369332"/>
          </a:xfrm>
          <a:prstGeom prst="rect">
            <a:avLst/>
          </a:prstGeom>
          <a:noFill/>
        </p:spPr>
        <p:txBody>
          <a:bodyPr wrap="square" rtlCol="0">
            <a:spAutoFit/>
          </a:bodyPr>
          <a:lstStyle/>
          <a:p>
            <a:r>
              <a:rPr lang="en-US" dirty="0" smtClean="0">
                <a:solidFill>
                  <a:srgbClr val="C00000"/>
                </a:solidFill>
              </a:rPr>
              <a:t>No risk      small risk          high risk</a:t>
            </a:r>
            <a:endParaRPr lang="en-US" dirty="0">
              <a:solidFill>
                <a:srgbClr val="C00000"/>
              </a:solidFill>
            </a:endParaRPr>
          </a:p>
        </p:txBody>
      </p:sp>
    </p:spTree>
    <p:extLst>
      <p:ext uri="{BB962C8B-B14F-4D97-AF65-F5344CB8AC3E}">
        <p14:creationId xmlns:p14="http://schemas.microsoft.com/office/powerpoint/2010/main" val="2149918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12</a:t>
            </a:fld>
            <a:endParaRPr lang="en-US"/>
          </a:p>
        </p:txBody>
      </p:sp>
      <p:sp>
        <p:nvSpPr>
          <p:cNvPr id="3" name="TextBox 2"/>
          <p:cNvSpPr txBox="1"/>
          <p:nvPr/>
        </p:nvSpPr>
        <p:spPr>
          <a:xfrm>
            <a:off x="243624" y="228600"/>
            <a:ext cx="8824176" cy="4832092"/>
          </a:xfrm>
          <a:prstGeom prst="rect">
            <a:avLst/>
          </a:prstGeom>
          <a:noFill/>
        </p:spPr>
        <p:txBody>
          <a:bodyPr wrap="square" rtlCol="0">
            <a:spAutoFit/>
          </a:bodyPr>
          <a:lstStyle/>
          <a:p>
            <a:r>
              <a:rPr lang="en-US" sz="2800" b="1" dirty="0" smtClean="0"/>
              <a:t>Paracentric inversion</a:t>
            </a:r>
          </a:p>
          <a:p>
            <a:endParaRPr lang="en-US" sz="2800" dirty="0" smtClean="0"/>
          </a:p>
          <a:p>
            <a:r>
              <a:rPr lang="en-US" sz="2800" dirty="0" smtClean="0"/>
              <a:t>Classically, heterozygote for an autosomal paracentric inversion will only have children who are </a:t>
            </a:r>
            <a:r>
              <a:rPr lang="en-US" sz="2800" dirty="0" err="1" smtClean="0"/>
              <a:t>karyotypically</a:t>
            </a:r>
            <a:r>
              <a:rPr lang="en-US" sz="2800" dirty="0" smtClean="0"/>
              <a:t> normal, or with the same balanced inversion</a:t>
            </a:r>
          </a:p>
          <a:p>
            <a:endParaRPr lang="en-US" sz="2800" dirty="0"/>
          </a:p>
          <a:p>
            <a:r>
              <a:rPr lang="en-US" sz="2800" dirty="0" smtClean="0"/>
              <a:t>They cannot have viable unbalanced progeny</a:t>
            </a:r>
          </a:p>
          <a:p>
            <a:endParaRPr lang="en-US" sz="2800" dirty="0"/>
          </a:p>
          <a:p>
            <a:r>
              <a:rPr lang="en-US" sz="2800" dirty="0"/>
              <a:t>If </a:t>
            </a:r>
            <a:r>
              <a:rPr lang="en-US" sz="2800" dirty="0" smtClean="0"/>
              <a:t>a recombinant </a:t>
            </a:r>
            <a:r>
              <a:rPr lang="en-US" sz="2800" dirty="0"/>
              <a:t>gamete is formed following a crossover</a:t>
            </a:r>
          </a:p>
          <a:p>
            <a:r>
              <a:rPr lang="en-US" sz="2800" dirty="0"/>
              <a:t>in the inverted segment, the </a:t>
            </a:r>
            <a:r>
              <a:rPr lang="en-US" sz="2800" dirty="0" smtClean="0"/>
              <a:t>chromosome would </a:t>
            </a:r>
            <a:r>
              <a:rPr lang="en-US" sz="2800" dirty="0"/>
              <a:t>be </a:t>
            </a:r>
            <a:r>
              <a:rPr lang="en-US" sz="2800" dirty="0" smtClean="0"/>
              <a:t>either </a:t>
            </a:r>
            <a:r>
              <a:rPr lang="en-US" sz="2800" dirty="0" smtClean="0">
                <a:solidFill>
                  <a:srgbClr val="FF0000"/>
                </a:solidFill>
              </a:rPr>
              <a:t>acentric</a:t>
            </a:r>
            <a:r>
              <a:rPr lang="en-US" sz="2800" dirty="0" smtClean="0"/>
              <a:t> or </a:t>
            </a:r>
            <a:r>
              <a:rPr lang="en-US" sz="2800" dirty="0" err="1" smtClean="0">
                <a:solidFill>
                  <a:srgbClr val="FF0000"/>
                </a:solidFill>
              </a:rPr>
              <a:t>dicentric</a:t>
            </a:r>
            <a:endParaRPr lang="en-US" sz="2800" dirty="0" smtClean="0">
              <a:solidFill>
                <a:srgbClr val="FF0000"/>
              </a:solidFill>
            </a:endParaRPr>
          </a:p>
        </p:txBody>
      </p:sp>
    </p:spTree>
    <p:extLst>
      <p:ext uri="{BB962C8B-B14F-4D97-AF65-F5344CB8AC3E}">
        <p14:creationId xmlns:p14="http://schemas.microsoft.com/office/powerpoint/2010/main" val="32357949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13</a:t>
            </a:fld>
            <a:endParaRPr lang="en-US"/>
          </a:p>
        </p:txBody>
      </p:sp>
      <p:pic>
        <p:nvPicPr>
          <p:cNvPr id="1026" name="Picture 2" descr="C:\Users\hp\Documents\My Scans\scan0071.jpg"/>
          <p:cNvPicPr>
            <a:picLocks noChangeAspect="1" noChangeArrowheads="1"/>
          </p:cNvPicPr>
          <p:nvPr/>
        </p:nvPicPr>
        <p:blipFill rotWithShape="1">
          <a:blip r:embed="rId2">
            <a:extLst>
              <a:ext uri="{28A0092B-C50C-407E-A947-70E740481C1C}">
                <a14:useLocalDpi xmlns:a14="http://schemas.microsoft.com/office/drawing/2010/main" val="0"/>
              </a:ext>
            </a:extLst>
          </a:blip>
          <a:srcRect l="2218" t="3851" r="5510" b="2940"/>
          <a:stretch/>
        </p:blipFill>
        <p:spPr bwMode="auto">
          <a:xfrm>
            <a:off x="0" y="-1"/>
            <a:ext cx="6156101"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p:cNvSpPr/>
          <p:nvPr/>
        </p:nvSpPr>
        <p:spPr>
          <a:xfrm>
            <a:off x="381000" y="5410200"/>
            <a:ext cx="1524000" cy="304800"/>
          </a:xfrm>
          <a:prstGeom prst="roundRect">
            <a:avLst/>
          </a:prstGeom>
          <a:solidFill>
            <a:srgbClr val="FF0000">
              <a:alpha val="2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3581400" y="5375366"/>
            <a:ext cx="1600200" cy="304800"/>
          </a:xfrm>
          <a:prstGeom prst="roundRect">
            <a:avLst/>
          </a:prstGeom>
          <a:solidFill>
            <a:srgbClr val="FF0000">
              <a:alpha val="2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1523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14</a:t>
            </a:fld>
            <a:endParaRPr lang="en-US"/>
          </a:p>
        </p:txBody>
      </p:sp>
      <p:pic>
        <p:nvPicPr>
          <p:cNvPr id="102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0880" t="39674" r="16888" b="13949"/>
          <a:stretch/>
        </p:blipFill>
        <p:spPr bwMode="auto">
          <a:xfrm>
            <a:off x="609600" y="990600"/>
            <a:ext cx="8097078" cy="339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3153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6A78D40-C00F-419D-85D3-D86A0ECB03C0}" type="slidenum">
              <a:rPr lang="en-US" smtClean="0"/>
              <a:t>15</a:t>
            </a:fld>
            <a:endParaRPr lang="en-US"/>
          </a:p>
        </p:txBody>
      </p:sp>
      <p:pic>
        <p:nvPicPr>
          <p:cNvPr id="3" name="image103.jpeg"/>
          <p:cNvPicPr/>
          <p:nvPr/>
        </p:nvPicPr>
        <p:blipFill>
          <a:blip r:embed="rId2" cstate="print"/>
          <a:stretch>
            <a:fillRect/>
          </a:stretch>
        </p:blipFill>
        <p:spPr>
          <a:xfrm>
            <a:off x="76200" y="34834"/>
            <a:ext cx="3885565" cy="5314950"/>
          </a:xfrm>
          <a:prstGeom prst="rect">
            <a:avLst/>
          </a:prstGeom>
        </p:spPr>
      </p:pic>
      <p:sp>
        <p:nvSpPr>
          <p:cNvPr id="4" name="Rectangle 3"/>
          <p:cNvSpPr/>
          <p:nvPr/>
        </p:nvSpPr>
        <p:spPr>
          <a:xfrm>
            <a:off x="4343400" y="60819"/>
            <a:ext cx="4800600" cy="4934684"/>
          </a:xfrm>
          <a:prstGeom prst="rect">
            <a:avLst/>
          </a:prstGeom>
        </p:spPr>
        <p:txBody>
          <a:bodyPr wrap="square">
            <a:spAutoFit/>
          </a:bodyPr>
          <a:lstStyle/>
          <a:p>
            <a:pPr marL="101600" marR="140335">
              <a:lnSpc>
                <a:spcPct val="100000"/>
              </a:lnSpc>
              <a:spcBef>
                <a:spcPts val="440"/>
              </a:spcBef>
              <a:spcAft>
                <a:spcPts val="0"/>
              </a:spcAft>
            </a:pPr>
            <a:r>
              <a:rPr lang="en-US" b="1" dirty="0" smtClean="0">
                <a:ea typeface="Times New Roman" panose="02020603050405020304" pitchFamily="18" charset="0"/>
              </a:rPr>
              <a:t>Exceptions to the </a:t>
            </a:r>
            <a:r>
              <a:rPr lang="en-US" b="1" dirty="0">
                <a:ea typeface="Times New Roman" panose="02020603050405020304" pitchFamily="18" charset="0"/>
              </a:rPr>
              <a:t>classic theory; The abnormal </a:t>
            </a:r>
            <a:r>
              <a:rPr lang="en-US" b="1" dirty="0" smtClean="0">
                <a:ea typeface="Times New Roman" panose="02020603050405020304" pitchFamily="18" charset="0"/>
              </a:rPr>
              <a:t>process of </a:t>
            </a:r>
            <a:r>
              <a:rPr lang="en-US" b="1" dirty="0">
                <a:ea typeface="Times New Roman" panose="02020603050405020304" pitchFamily="18" charset="0"/>
              </a:rPr>
              <a:t>“U- loop recombination</a:t>
            </a:r>
            <a:r>
              <a:rPr lang="en-US" b="1" dirty="0" smtClean="0">
                <a:ea typeface="Times New Roman" panose="02020603050405020304" pitchFamily="18" charset="0"/>
              </a:rPr>
              <a:t>”</a:t>
            </a:r>
          </a:p>
          <a:p>
            <a:pPr marL="101600" marR="140335">
              <a:lnSpc>
                <a:spcPct val="100000"/>
              </a:lnSpc>
              <a:spcBef>
                <a:spcPts val="440"/>
              </a:spcBef>
              <a:spcAft>
                <a:spcPts val="0"/>
              </a:spcAft>
            </a:pPr>
            <a:endParaRPr lang="en-US" sz="1600" dirty="0">
              <a:latin typeface="Times New Roman" panose="02020603050405020304" pitchFamily="18" charset="0"/>
              <a:ea typeface="Times New Roman" panose="02020603050405020304" pitchFamily="18" charset="0"/>
            </a:endParaRPr>
          </a:p>
          <a:p>
            <a:pPr marL="101600" marR="140335">
              <a:lnSpc>
                <a:spcPct val="100000"/>
              </a:lnSpc>
              <a:spcBef>
                <a:spcPts val="440"/>
              </a:spcBef>
              <a:spcAft>
                <a:spcPts val="0"/>
              </a:spcAft>
            </a:pPr>
            <a:r>
              <a:rPr lang="en-US" sz="1600" dirty="0" smtClean="0">
                <a:ea typeface="Times New Roman" panose="02020603050405020304" pitchFamily="18" charset="0"/>
              </a:rPr>
              <a:t>FIGURE </a:t>
            </a:r>
            <a:r>
              <a:rPr lang="en-US" sz="1600" dirty="0">
                <a:ea typeface="Times New Roman" panose="02020603050405020304" pitchFamily="18" charset="0"/>
              </a:rPr>
              <a:t>9–13. </a:t>
            </a:r>
            <a:r>
              <a:rPr lang="en-US" sz="1600" i="1" dirty="0">
                <a:ea typeface="Times New Roman" panose="02020603050405020304" pitchFamily="18" charset="0"/>
              </a:rPr>
              <a:t>Above</a:t>
            </a:r>
            <a:r>
              <a:rPr lang="en-US" sz="1600" dirty="0">
                <a:ea typeface="Times New Roman" panose="02020603050405020304" pitchFamily="18" charset="0"/>
              </a:rPr>
              <a:t>, parent with </a:t>
            </a:r>
            <a:r>
              <a:rPr lang="en-US" sz="1600" dirty="0" err="1">
                <a:ea typeface="Times New Roman" panose="02020603050405020304" pitchFamily="18" charset="0"/>
              </a:rPr>
              <a:t>paracentric</a:t>
            </a:r>
            <a:r>
              <a:rPr lang="en-US" sz="1600" dirty="0">
                <a:ea typeface="Times New Roman" panose="02020603050405020304" pitchFamily="18" charset="0"/>
              </a:rPr>
              <a:t> inversion and child with recombinant (“</a:t>
            </a:r>
            <a:r>
              <a:rPr lang="en-US" sz="1600" dirty="0" err="1">
                <a:ea typeface="Times New Roman" panose="02020603050405020304" pitchFamily="18" charset="0"/>
              </a:rPr>
              <a:t>reunitant</a:t>
            </a:r>
            <a:r>
              <a:rPr lang="en-US" sz="1600" dirty="0">
                <a:ea typeface="Times New Roman" panose="02020603050405020304" pitchFamily="18" charset="0"/>
              </a:rPr>
              <a:t>”) chromosome. Father has </a:t>
            </a:r>
            <a:r>
              <a:rPr lang="en-US" sz="1600" dirty="0" err="1">
                <a:ea typeface="Times New Roman" panose="02020603050405020304" pitchFamily="18" charset="0"/>
              </a:rPr>
              <a:t>paracentric</a:t>
            </a:r>
            <a:r>
              <a:rPr lang="en-US" sz="1600" dirty="0">
                <a:ea typeface="Times New Roman" panose="02020603050405020304" pitchFamily="18" charset="0"/>
              </a:rPr>
              <a:t> inversion of 18q, </a:t>
            </a:r>
            <a:r>
              <a:rPr lang="en-US" sz="1600" dirty="0" err="1">
                <a:ea typeface="Times New Roman" panose="02020603050405020304" pitchFamily="18" charset="0"/>
              </a:rPr>
              <a:t>inv</a:t>
            </a:r>
            <a:r>
              <a:rPr lang="en-US" sz="1600" dirty="0">
                <a:ea typeface="Times New Roman" panose="02020603050405020304" pitchFamily="18" charset="0"/>
              </a:rPr>
              <a:t>(18)(q12.1q23). The inverted segment is shown cross-hatched (cross-hatching changes slope at q21.3). Child has duplication of the segment q12.1q21.3 on the reuniting chromosome (shown cross-hatched) and deletion q21.3q23. </a:t>
            </a:r>
            <a:r>
              <a:rPr lang="en-US" sz="1600" i="1" dirty="0" smtClean="0">
                <a:ea typeface="Times New Roman" panose="02020603050405020304" pitchFamily="18" charset="0"/>
              </a:rPr>
              <a:t>Below</a:t>
            </a:r>
            <a:r>
              <a:rPr lang="en-US" sz="1600" dirty="0">
                <a:ea typeface="Times New Roman" panose="02020603050405020304" pitchFamily="18" charset="0"/>
              </a:rPr>
              <a:t>, Proposed mechanism of U-loop exchange depicted; asterisk indicates point of U-loop. The position of the point of exchange within the inversion loop (in this case, q21.3) determines the nature of the imbalance. There is duplication of chromatin proximal to the crossover point (q12.1q21.3), and deletion of distal chromatin (q21.3q23), as in the child’s rec(18); and vice versa in the complementary product, rec(18)′. </a:t>
            </a:r>
            <a:endParaRPr lang="en-US" sz="1600" dirty="0"/>
          </a:p>
        </p:txBody>
      </p:sp>
      <p:sp>
        <p:nvSpPr>
          <p:cNvPr id="5" name="TextBox 4"/>
          <p:cNvSpPr txBox="1"/>
          <p:nvPr/>
        </p:nvSpPr>
        <p:spPr>
          <a:xfrm>
            <a:off x="127716" y="5460267"/>
            <a:ext cx="8863884" cy="1323439"/>
          </a:xfrm>
          <a:prstGeom prst="rect">
            <a:avLst/>
          </a:prstGeom>
          <a:noFill/>
        </p:spPr>
        <p:txBody>
          <a:bodyPr wrap="square" rtlCol="0">
            <a:spAutoFit/>
          </a:bodyPr>
          <a:lstStyle/>
          <a:p>
            <a:r>
              <a:rPr lang="en-US" sz="2000" b="1" dirty="0" smtClean="0">
                <a:solidFill>
                  <a:srgbClr val="C00000"/>
                </a:solidFill>
              </a:rPr>
              <a:t>Recombination/reunion with viable products</a:t>
            </a:r>
          </a:p>
          <a:p>
            <a:r>
              <a:rPr lang="en-US" sz="2000" dirty="0" smtClean="0">
                <a:solidFill>
                  <a:srgbClr val="C00000"/>
                </a:solidFill>
              </a:rPr>
              <a:t>U-loop recombination resulting in </a:t>
            </a:r>
            <a:r>
              <a:rPr lang="en-US" sz="2000" b="1" dirty="0" err="1" smtClean="0">
                <a:solidFill>
                  <a:srgbClr val="C00000"/>
                </a:solidFill>
              </a:rPr>
              <a:t>reunitant</a:t>
            </a:r>
            <a:r>
              <a:rPr lang="en-US" sz="2000" dirty="0" smtClean="0">
                <a:solidFill>
                  <a:srgbClr val="C00000"/>
                </a:solidFill>
              </a:rPr>
              <a:t> (recombinant)</a:t>
            </a:r>
          </a:p>
          <a:p>
            <a:r>
              <a:rPr lang="en-US" sz="2000" dirty="0" smtClean="0">
                <a:solidFill>
                  <a:srgbClr val="C00000"/>
                </a:solidFill>
              </a:rPr>
              <a:t>Chromosome would have either a duplication of that part of the inversion loop proximal to the crossover, and a deletion of that part distal to it; or vice versa</a:t>
            </a:r>
            <a:endParaRPr lang="en-US" sz="2000" dirty="0">
              <a:solidFill>
                <a:srgbClr val="C00000"/>
              </a:solidFill>
            </a:endParaRPr>
          </a:p>
        </p:txBody>
      </p:sp>
    </p:spTree>
    <p:extLst>
      <p:ext uri="{BB962C8B-B14F-4D97-AF65-F5344CB8AC3E}">
        <p14:creationId xmlns:p14="http://schemas.microsoft.com/office/powerpoint/2010/main" val="40010074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746</TotalTime>
  <Words>780</Words>
  <Application>Microsoft Office PowerPoint</Application>
  <PresentationFormat>On-screen Show (4:3)</PresentationFormat>
  <Paragraphs>53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Inversions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Inversions</dc:title>
  <dc:creator>alkhateeb</dc:creator>
  <cp:lastModifiedBy>JUST</cp:lastModifiedBy>
  <cp:revision>45</cp:revision>
  <dcterms:created xsi:type="dcterms:W3CDTF">2012-04-22T20:34:52Z</dcterms:created>
  <dcterms:modified xsi:type="dcterms:W3CDTF">2023-05-15T18:50:22Z</dcterms:modified>
</cp:coreProperties>
</file>