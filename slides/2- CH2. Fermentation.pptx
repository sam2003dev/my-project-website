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256" r:id="rId2"/>
    <p:sldId id="258" r:id="rId3"/>
    <p:sldId id="261" r:id="rId4"/>
    <p:sldId id="281" r:id="rId5"/>
    <p:sldId id="282" r:id="rId6"/>
    <p:sldId id="283" r:id="rId7"/>
    <p:sldId id="284" r:id="rId8"/>
    <p:sldId id="259" r:id="rId9"/>
    <p:sldId id="279" r:id="rId10"/>
    <p:sldId id="280" r:id="rId11"/>
    <p:sldId id="262" r:id="rId12"/>
    <p:sldId id="278" r:id="rId13"/>
    <p:sldId id="285" r:id="rId14"/>
    <p:sldId id="292" r:id="rId15"/>
    <p:sldId id="287" r:id="rId16"/>
    <p:sldId id="288" r:id="rId17"/>
    <p:sldId id="290" r:id="rId18"/>
    <p:sldId id="293" r:id="rId19"/>
    <p:sldId id="291" r:id="rId20"/>
    <p:sldId id="294" r:id="rId21"/>
    <p:sldId id="295" r:id="rId22"/>
    <p:sldId id="296" r:id="rId23"/>
    <p:sldId id="297" r:id="rId24"/>
    <p:sldId id="298" r:id="rId25"/>
    <p:sldId id="309" r:id="rId26"/>
    <p:sldId id="310" r:id="rId27"/>
    <p:sldId id="311" r:id="rId28"/>
    <p:sldId id="312" r:id="rId29"/>
    <p:sldId id="313" r:id="rId30"/>
    <p:sldId id="314" r:id="rId31"/>
    <p:sldId id="350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  <p:sldId id="346" r:id="rId63"/>
    <p:sldId id="347" r:id="rId64"/>
    <p:sldId id="348" r:id="rId65"/>
    <p:sldId id="349" r:id="rId66"/>
  </p:sldIdLst>
  <p:sldSz cx="13004800" cy="9753600"/>
  <p:notesSz cx="6858000" cy="9144000"/>
  <p:defaultTextStyle>
    <a:lvl1pPr algn="ctr" defTabSz="584170">
      <a:defRPr sz="3600" b="1">
        <a:latin typeface="Helvetica"/>
        <a:ea typeface="Helvetica"/>
        <a:cs typeface="Helvetica"/>
        <a:sym typeface="Helvetica"/>
      </a:defRPr>
    </a:lvl1pPr>
    <a:lvl2pPr indent="228589" algn="ctr" defTabSz="584170">
      <a:defRPr sz="3600" b="1">
        <a:latin typeface="Helvetica"/>
        <a:ea typeface="Helvetica"/>
        <a:cs typeface="Helvetica"/>
        <a:sym typeface="Helvetica"/>
      </a:defRPr>
    </a:lvl2pPr>
    <a:lvl3pPr indent="457176" algn="ctr" defTabSz="584170">
      <a:defRPr sz="3600" b="1">
        <a:latin typeface="Helvetica"/>
        <a:ea typeface="Helvetica"/>
        <a:cs typeface="Helvetica"/>
        <a:sym typeface="Helvetica"/>
      </a:defRPr>
    </a:lvl3pPr>
    <a:lvl4pPr indent="685765" algn="ctr" defTabSz="584170">
      <a:defRPr sz="3600" b="1">
        <a:latin typeface="Helvetica"/>
        <a:ea typeface="Helvetica"/>
        <a:cs typeface="Helvetica"/>
        <a:sym typeface="Helvetica"/>
      </a:defRPr>
    </a:lvl4pPr>
    <a:lvl5pPr indent="914354" algn="ctr" defTabSz="584170">
      <a:defRPr sz="3600" b="1">
        <a:latin typeface="Helvetica"/>
        <a:ea typeface="Helvetica"/>
        <a:cs typeface="Helvetica"/>
        <a:sym typeface="Helvetica"/>
      </a:defRPr>
    </a:lvl5pPr>
    <a:lvl6pPr indent="1142941" algn="ctr" defTabSz="584170">
      <a:defRPr sz="3600" b="1">
        <a:latin typeface="Helvetica"/>
        <a:ea typeface="Helvetica"/>
        <a:cs typeface="Helvetica"/>
        <a:sym typeface="Helvetica"/>
      </a:defRPr>
    </a:lvl6pPr>
    <a:lvl7pPr indent="1371530" algn="ctr" defTabSz="584170">
      <a:defRPr sz="3600" b="1">
        <a:latin typeface="Helvetica"/>
        <a:ea typeface="Helvetica"/>
        <a:cs typeface="Helvetica"/>
        <a:sym typeface="Helvetica"/>
      </a:defRPr>
    </a:lvl7pPr>
    <a:lvl8pPr indent="1600119" algn="ctr" defTabSz="584170">
      <a:defRPr sz="3600" b="1">
        <a:latin typeface="Helvetica"/>
        <a:ea typeface="Helvetica"/>
        <a:cs typeface="Helvetica"/>
        <a:sym typeface="Helvetica"/>
      </a:defRPr>
    </a:lvl8pPr>
    <a:lvl9pPr indent="1828706" algn="ctr" defTabSz="584170">
      <a:defRPr sz="3600" b="1"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" initials="J" lastIdx="1" clrIdx="0">
    <p:extLst>
      <p:ext uri="{19B8F6BF-5375-455C-9EA6-DF929625EA0E}">
        <p15:presenceInfo xmlns:p15="http://schemas.microsoft.com/office/powerpoint/2012/main" userId="JU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9" d="100"/>
          <a:sy n="49" d="100"/>
        </p:scale>
        <p:origin x="1392" y="4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0-01T00:17:44.048" idx="1">
    <p:pos x="10" y="10"/>
    <p:text>there is a fifith phase which is the extended death phase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09063006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1pPr>
    <a:lvl2pPr indent="228589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2pPr>
    <a:lvl3pPr indent="457176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3pPr>
    <a:lvl4pPr indent="685765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4pPr>
    <a:lvl5pPr indent="914354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5pPr>
    <a:lvl6pPr indent="1142941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6pPr>
    <a:lvl7pPr indent="1371530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7pPr>
    <a:lvl8pPr indent="1600119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8pPr>
    <a:lvl9pPr indent="1828706" defTabSz="457176">
      <a:lnSpc>
        <a:spcPct val="117999"/>
      </a:lnSpc>
      <a:defRPr sz="2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D920CCB-29BC-0C4B-AC10-8FEE578A94B1}" type="slidenum">
              <a:rPr lang="en-US" altLang="ja-JP" sz="1200"/>
              <a:pPr eaLnBrk="1" hangingPunct="1"/>
              <a:t>40</a:t>
            </a:fld>
            <a:endParaRPr lang="en-US" altLang="ja-JP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843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CA40B20-4860-8540-A856-ED92C27B28E9}" type="slidenum">
              <a:rPr lang="en-US" altLang="ja-JP" sz="1200"/>
              <a:pPr eaLnBrk="1" hangingPunct="1"/>
              <a:t>41</a:t>
            </a:fld>
            <a:endParaRPr lang="en-US" altLang="ja-JP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10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B607BA1-4C65-A445-A13C-3543D73227E6}" type="slidenum">
              <a:rPr lang="en-US" altLang="ja-JP" sz="1200"/>
              <a:pPr eaLnBrk="1" hangingPunct="1"/>
              <a:t>42</a:t>
            </a:fld>
            <a:endParaRPr lang="en-US" altLang="ja-JP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ja-JP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70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1270001" y="1638301"/>
            <a:ext cx="10464801" cy="3302000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1270001" y="5029200"/>
            <a:ext cx="10464801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100"/>
            </a:lvl1pPr>
            <a:lvl2pPr marL="0" indent="228589" algn="ctr">
              <a:spcBef>
                <a:spcPts val="0"/>
              </a:spcBef>
              <a:buSzTx/>
              <a:buNone/>
              <a:defRPr sz="3100"/>
            </a:lvl2pPr>
            <a:lvl3pPr marL="0" indent="457176" algn="ctr">
              <a:spcBef>
                <a:spcPts val="0"/>
              </a:spcBef>
              <a:buSzTx/>
              <a:buNone/>
              <a:defRPr sz="3100"/>
            </a:lvl3pPr>
            <a:lvl4pPr marL="0" indent="685765" algn="ctr">
              <a:spcBef>
                <a:spcPts val="0"/>
              </a:spcBef>
              <a:buSzTx/>
              <a:buNone/>
              <a:defRPr sz="3100"/>
            </a:lvl4pPr>
            <a:lvl5pPr marL="0" indent="914354" algn="ctr">
              <a:spcBef>
                <a:spcPts val="0"/>
              </a:spcBef>
              <a:buSzTx/>
              <a:buNone/>
              <a:defRPr sz="3100"/>
            </a:lvl5pPr>
          </a:lstStyle>
          <a:p>
            <a:pPr lvl="0">
              <a:defRPr sz="1800"/>
            </a:pPr>
            <a:r>
              <a:rPr sz="3100"/>
              <a:t>Body Level One</a:t>
            </a:r>
          </a:p>
          <a:p>
            <a:pPr lvl="1">
              <a:defRPr sz="1800"/>
            </a:pPr>
            <a:r>
              <a:rPr sz="3100"/>
              <a:t>Body Level Two</a:t>
            </a:r>
          </a:p>
          <a:p>
            <a:pPr lvl="2">
              <a:defRPr sz="1800"/>
            </a:pPr>
            <a:r>
              <a:rPr sz="3100"/>
              <a:t>Body Level Three</a:t>
            </a:r>
          </a:p>
          <a:p>
            <a:pPr lvl="3">
              <a:defRPr sz="1800"/>
            </a:pPr>
            <a:r>
              <a:rPr sz="3100"/>
              <a:t>Body Level Four</a:t>
            </a:r>
          </a:p>
          <a:p>
            <a:pPr lvl="4">
              <a:defRPr sz="1800"/>
            </a:pPr>
            <a:r>
              <a:rPr sz="31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/>
          </p:nvPr>
        </p:nvSpPr>
        <p:spPr>
          <a:xfrm>
            <a:off x="1270001" y="6718301"/>
            <a:ext cx="10464801" cy="1422400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/>
          </p:nvPr>
        </p:nvSpPr>
        <p:spPr>
          <a:xfrm>
            <a:off x="1270001" y="8191501"/>
            <a:ext cx="10464801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100"/>
            </a:lvl1pPr>
            <a:lvl2pPr marL="0" indent="228589" algn="ctr">
              <a:spcBef>
                <a:spcPts val="0"/>
              </a:spcBef>
              <a:buSzTx/>
              <a:buNone/>
              <a:defRPr sz="3100"/>
            </a:lvl2pPr>
            <a:lvl3pPr marL="0" indent="457176" algn="ctr">
              <a:spcBef>
                <a:spcPts val="0"/>
              </a:spcBef>
              <a:buSzTx/>
              <a:buNone/>
              <a:defRPr sz="3100"/>
            </a:lvl3pPr>
            <a:lvl4pPr marL="0" indent="685765" algn="ctr">
              <a:spcBef>
                <a:spcPts val="0"/>
              </a:spcBef>
              <a:buSzTx/>
              <a:buNone/>
              <a:defRPr sz="3100"/>
            </a:lvl4pPr>
            <a:lvl5pPr marL="0" indent="914354" algn="ctr">
              <a:spcBef>
                <a:spcPts val="0"/>
              </a:spcBef>
              <a:buSzTx/>
              <a:buNone/>
              <a:defRPr sz="3100"/>
            </a:lvl5pPr>
          </a:lstStyle>
          <a:p>
            <a:pPr lvl="0">
              <a:defRPr sz="1800"/>
            </a:pPr>
            <a:r>
              <a:rPr sz="3100"/>
              <a:t>Body Level One</a:t>
            </a:r>
          </a:p>
          <a:p>
            <a:pPr lvl="1">
              <a:defRPr sz="1800"/>
            </a:pPr>
            <a:r>
              <a:rPr sz="3100"/>
              <a:t>Body Level Two</a:t>
            </a:r>
          </a:p>
          <a:p>
            <a:pPr lvl="2">
              <a:defRPr sz="1800"/>
            </a:pPr>
            <a:r>
              <a:rPr sz="3100"/>
              <a:t>Body Level Three</a:t>
            </a:r>
          </a:p>
          <a:p>
            <a:pPr lvl="3">
              <a:defRPr sz="1800"/>
            </a:pPr>
            <a:r>
              <a:rPr sz="3100"/>
              <a:t>Body Level Four</a:t>
            </a:r>
          </a:p>
          <a:p>
            <a:pPr lvl="4">
              <a:defRPr sz="1800"/>
            </a:pPr>
            <a:r>
              <a:rPr sz="31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1" y="3225801"/>
            <a:ext cx="10464801" cy="3302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lvl="0">
              <a:defRPr sz="1800"/>
            </a:pPr>
            <a:r>
              <a:rPr sz="6000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xfrm>
            <a:off x="952500" y="4762501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100"/>
            </a:lvl1pPr>
            <a:lvl2pPr marL="0" indent="228589" algn="ctr">
              <a:spcBef>
                <a:spcPts val="0"/>
              </a:spcBef>
              <a:buSzTx/>
              <a:buNone/>
              <a:defRPr sz="3100"/>
            </a:lvl2pPr>
            <a:lvl3pPr marL="0" indent="457176" algn="ctr">
              <a:spcBef>
                <a:spcPts val="0"/>
              </a:spcBef>
              <a:buSzTx/>
              <a:buNone/>
              <a:defRPr sz="3100"/>
            </a:lvl3pPr>
            <a:lvl4pPr marL="0" indent="685765" algn="ctr">
              <a:spcBef>
                <a:spcPts val="0"/>
              </a:spcBef>
              <a:buSzTx/>
              <a:buNone/>
              <a:defRPr sz="3100"/>
            </a:lvl4pPr>
            <a:lvl5pPr marL="0" indent="914354" algn="ctr">
              <a:spcBef>
                <a:spcPts val="0"/>
              </a:spcBef>
              <a:buSzTx/>
              <a:buNone/>
              <a:defRPr sz="3100"/>
            </a:lvl5pPr>
          </a:lstStyle>
          <a:p>
            <a:pPr lvl="0">
              <a:defRPr sz="1800"/>
            </a:pPr>
            <a:r>
              <a:rPr sz="3100"/>
              <a:t>Body Level One</a:t>
            </a:r>
          </a:p>
          <a:p>
            <a:pPr lvl="1">
              <a:defRPr sz="1800"/>
            </a:pPr>
            <a:r>
              <a:rPr sz="3100"/>
              <a:t>Body Level Two</a:t>
            </a:r>
          </a:p>
          <a:p>
            <a:pPr lvl="2">
              <a:defRPr sz="1800"/>
            </a:pPr>
            <a:r>
              <a:rPr sz="3100"/>
              <a:t>Body Level Three</a:t>
            </a:r>
          </a:p>
          <a:p>
            <a:pPr lvl="3">
              <a:defRPr sz="1800"/>
            </a:pPr>
            <a:r>
              <a:rPr sz="3100"/>
              <a:t>Body Level Four</a:t>
            </a:r>
          </a:p>
          <a:p>
            <a:pPr lvl="4">
              <a:defRPr sz="1800"/>
            </a:pPr>
            <a:r>
              <a:rPr sz="31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idx="1"/>
          </p:nvPr>
        </p:nvSpPr>
        <p:spPr>
          <a:xfrm>
            <a:off x="952500" y="2603501"/>
            <a:ext cx="5334000" cy="6286500"/>
          </a:xfrm>
          <a:prstGeom prst="rect">
            <a:avLst/>
          </a:prstGeom>
        </p:spPr>
        <p:txBody>
          <a:bodyPr/>
          <a:lstStyle>
            <a:lvl1pPr marL="342882" indent="-342882">
              <a:spcBef>
                <a:spcPts val="3200"/>
              </a:spcBef>
              <a:defRPr sz="2800"/>
            </a:lvl1pPr>
            <a:lvl2pPr marL="685765" indent="-342882">
              <a:spcBef>
                <a:spcPts val="3200"/>
              </a:spcBef>
              <a:defRPr sz="2800"/>
            </a:lvl2pPr>
            <a:lvl3pPr marL="1028647" indent="-342882">
              <a:spcBef>
                <a:spcPts val="3200"/>
              </a:spcBef>
              <a:defRPr sz="2800"/>
            </a:lvl3pPr>
            <a:lvl4pPr marL="1371530" indent="-342882">
              <a:spcBef>
                <a:spcPts val="3200"/>
              </a:spcBef>
              <a:defRPr sz="2800"/>
            </a:lvl4pPr>
            <a:lvl5pPr marL="1714412" indent="-342882">
              <a:spcBef>
                <a:spcPts val="32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Body Level One</a:t>
            </a:r>
          </a:p>
          <a:p>
            <a:pPr lvl="1">
              <a:defRPr sz="1800"/>
            </a:pPr>
            <a:r>
              <a:rPr sz="2800"/>
              <a:t>Body Level Two</a:t>
            </a:r>
          </a:p>
          <a:p>
            <a:pPr lvl="2">
              <a:defRPr sz="1800"/>
            </a:pPr>
            <a:r>
              <a:rPr sz="2800"/>
              <a:t>Body Level Three</a:t>
            </a:r>
          </a:p>
          <a:p>
            <a:pPr lvl="3">
              <a:defRPr sz="1800"/>
            </a:pPr>
            <a:r>
              <a:rPr sz="2800"/>
              <a:t>Body Level Four</a:t>
            </a:r>
          </a:p>
          <a:p>
            <a:pPr lvl="4">
              <a:defRPr sz="1800"/>
            </a:pPr>
            <a:r>
              <a:rPr sz="28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body" idx="1"/>
          </p:nvPr>
        </p:nvSpPr>
        <p:spPr>
          <a:xfrm>
            <a:off x="952501" y="1270001"/>
            <a:ext cx="11099800" cy="72136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0240" y="8882098"/>
            <a:ext cx="3034453" cy="677333"/>
          </a:xfrm>
          <a:prstGeom prst="rect">
            <a:avLst/>
          </a:prstGeom>
        </p:spPr>
        <p:txBody>
          <a:bodyPr lIns="130039" tIns="65020" rIns="130039" bIns="65020"/>
          <a:lstStyle>
            <a:lvl1pPr>
              <a:defRPr/>
            </a:lvl1pPr>
          </a:lstStyle>
          <a:p>
            <a:endParaRPr lang="tr-TR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43308" y="8882098"/>
            <a:ext cx="4118187" cy="677333"/>
          </a:xfrm>
          <a:prstGeom prst="rect">
            <a:avLst/>
          </a:prstGeom>
        </p:spPr>
        <p:txBody>
          <a:bodyPr lIns="130039" tIns="65020" rIns="130039" bIns="65020"/>
          <a:lstStyle>
            <a:lvl1pPr>
              <a:defRPr/>
            </a:lvl1pPr>
          </a:lstStyle>
          <a:p>
            <a:endParaRPr lang="tr-TR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20107" y="8882098"/>
            <a:ext cx="3034453" cy="677333"/>
          </a:xfrm>
          <a:prstGeom prst="rect">
            <a:avLst/>
          </a:prstGeom>
        </p:spPr>
        <p:txBody>
          <a:bodyPr lIns="130039" tIns="65020" rIns="130039" bIns="65020"/>
          <a:lstStyle>
            <a:lvl1pPr>
              <a:defRPr/>
            </a:lvl1pPr>
          </a:lstStyle>
          <a:p>
            <a:fld id="{0097D7B7-6FD3-1244-9515-4530A45828B5}" type="slidenum">
              <a:rPr lang="tr-TR" altLang="ja-JP"/>
              <a:pPr/>
              <a:t>‹#›</a:t>
            </a:fld>
            <a:endParaRPr lang="tr-TR" altLang="ja-JP"/>
          </a:p>
        </p:txBody>
      </p:sp>
    </p:spTree>
    <p:extLst>
      <p:ext uri="{BB962C8B-B14F-4D97-AF65-F5344CB8AC3E}">
        <p14:creationId xmlns:p14="http://schemas.microsoft.com/office/powerpoint/2010/main" val="2034659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866987"/>
            <a:ext cx="11054080" cy="1625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75360" y="2817707"/>
            <a:ext cx="5418667" cy="58521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610773" y="2817707"/>
            <a:ext cx="5418667" cy="585216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975360" y="216747"/>
            <a:ext cx="11054080" cy="433493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r>
              <a:rPr lang="en-US" altLang="ja-JP"/>
              <a:t>Copyright </a:t>
            </a:r>
            <a:r>
              <a:rPr lang="en-US" altLang="ja-JP">
                <a:cs typeface="Arial" charset="0"/>
              </a:rPr>
              <a:t>© McGraw-Hill Companies, Inc. Permission required for reproduction or display.</a:t>
            </a: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75360" y="9103360"/>
            <a:ext cx="2709333" cy="325120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fld id="{9159CD69-F397-224F-A575-C7B84DE34B0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22181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975360" y="216747"/>
            <a:ext cx="11054080" cy="433493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r>
              <a:rPr lang="en-US" altLang="ja-JP"/>
              <a:t>Copyright </a:t>
            </a:r>
            <a:r>
              <a:rPr lang="en-US" altLang="ja-JP">
                <a:cs typeface="Arial" charset="0"/>
              </a:rPr>
              <a:t>© McGraw-Hill Companies, Inc. Permission required for reproduction or display.</a:t>
            </a: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75360" y="9103360"/>
            <a:ext cx="2709333" cy="325120"/>
          </a:xfrm>
          <a:prstGeom prst="rect">
            <a:avLst/>
          </a:prstGeom>
          <a:ln/>
        </p:spPr>
        <p:txBody>
          <a:bodyPr lIns="130046" tIns="65023" rIns="130046" bIns="65023"/>
          <a:lstStyle>
            <a:lvl1pPr>
              <a:defRPr/>
            </a:lvl1pPr>
          </a:lstStyle>
          <a:p>
            <a:fld id="{37096B82-5B8F-EC41-BDEF-370DCD4C0FDD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5542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1" y="444501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800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1" y="2603501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3600"/>
              <a:t>Body Level One</a:t>
            </a:r>
          </a:p>
          <a:p>
            <a:pPr lvl="1">
              <a:defRPr sz="1800"/>
            </a:pPr>
            <a:r>
              <a:rPr sz="3600"/>
              <a:t>Body Level Two</a:t>
            </a:r>
          </a:p>
          <a:p>
            <a:pPr lvl="2">
              <a:defRPr sz="1800"/>
            </a:pPr>
            <a:r>
              <a:rPr sz="3600"/>
              <a:t>Body Level Three</a:t>
            </a:r>
          </a:p>
          <a:p>
            <a:pPr lvl="3">
              <a:defRPr sz="1800"/>
            </a:pPr>
            <a:r>
              <a:rPr sz="3600"/>
              <a:t>Body Level Four</a:t>
            </a:r>
          </a:p>
          <a:p>
            <a:pPr lvl="4">
              <a:defRPr sz="1800"/>
            </a:pPr>
            <a:r>
              <a:rPr sz="3600"/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algn="ctr" defTabSz="584170">
        <a:defRPr sz="8000">
          <a:latin typeface="+mn-lt"/>
          <a:ea typeface="+mn-ea"/>
          <a:cs typeface="+mn-cs"/>
          <a:sym typeface="Helvetica Light"/>
        </a:defRPr>
      </a:lvl1pPr>
      <a:lvl2pPr indent="228589" algn="ctr" defTabSz="584170">
        <a:defRPr sz="8000">
          <a:latin typeface="+mn-lt"/>
          <a:ea typeface="+mn-ea"/>
          <a:cs typeface="+mn-cs"/>
          <a:sym typeface="Helvetica Light"/>
        </a:defRPr>
      </a:lvl2pPr>
      <a:lvl3pPr indent="457176" algn="ctr" defTabSz="584170">
        <a:defRPr sz="8000">
          <a:latin typeface="+mn-lt"/>
          <a:ea typeface="+mn-ea"/>
          <a:cs typeface="+mn-cs"/>
          <a:sym typeface="Helvetica Light"/>
        </a:defRPr>
      </a:lvl3pPr>
      <a:lvl4pPr indent="685765" algn="ctr" defTabSz="584170">
        <a:defRPr sz="8000">
          <a:latin typeface="+mn-lt"/>
          <a:ea typeface="+mn-ea"/>
          <a:cs typeface="+mn-cs"/>
          <a:sym typeface="Helvetica Light"/>
        </a:defRPr>
      </a:lvl4pPr>
      <a:lvl5pPr indent="914354" algn="ctr" defTabSz="584170">
        <a:defRPr sz="8000">
          <a:latin typeface="+mn-lt"/>
          <a:ea typeface="+mn-ea"/>
          <a:cs typeface="+mn-cs"/>
          <a:sym typeface="Helvetica Light"/>
        </a:defRPr>
      </a:lvl5pPr>
      <a:lvl6pPr indent="1142941" algn="ctr" defTabSz="584170">
        <a:defRPr sz="8000">
          <a:latin typeface="+mn-lt"/>
          <a:ea typeface="+mn-ea"/>
          <a:cs typeface="+mn-cs"/>
          <a:sym typeface="Helvetica Light"/>
        </a:defRPr>
      </a:lvl6pPr>
      <a:lvl7pPr indent="1371530" algn="ctr" defTabSz="584170">
        <a:defRPr sz="8000">
          <a:latin typeface="+mn-lt"/>
          <a:ea typeface="+mn-ea"/>
          <a:cs typeface="+mn-cs"/>
          <a:sym typeface="Helvetica Light"/>
        </a:defRPr>
      </a:lvl7pPr>
      <a:lvl8pPr indent="1600119" algn="ctr" defTabSz="584170">
        <a:defRPr sz="8000">
          <a:latin typeface="+mn-lt"/>
          <a:ea typeface="+mn-ea"/>
          <a:cs typeface="+mn-cs"/>
          <a:sym typeface="Helvetica Light"/>
        </a:defRPr>
      </a:lvl8pPr>
      <a:lvl9pPr indent="1828706" algn="ctr" defTabSz="584170">
        <a:defRPr sz="8000">
          <a:latin typeface="+mn-lt"/>
          <a:ea typeface="+mn-ea"/>
          <a:cs typeface="+mn-cs"/>
          <a:sym typeface="Helvetica Light"/>
        </a:defRPr>
      </a:lvl9pPr>
    </p:titleStyle>
    <p:bodyStyle>
      <a:lvl1pPr marL="444477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1pPr>
      <a:lvl2pPr marL="888955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2pPr>
      <a:lvl3pPr marL="1333432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3pPr>
      <a:lvl4pPr marL="1777909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4pPr>
      <a:lvl5pPr marL="2222387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5pPr>
      <a:lvl6pPr marL="2666864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6pPr>
      <a:lvl7pPr marL="3111341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7pPr>
      <a:lvl8pPr marL="3555819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8pPr>
      <a:lvl9pPr marL="4000296" indent="-444477" defTabSz="584170">
        <a:spcBef>
          <a:spcPts val="4200"/>
        </a:spcBef>
        <a:buSzPct val="75000"/>
        <a:buChar char="•"/>
        <a:defRPr sz="3600">
          <a:latin typeface="+mn-lt"/>
          <a:ea typeface="+mn-ea"/>
          <a:cs typeface="+mn-cs"/>
          <a:sym typeface="Helvetica Light"/>
        </a:defRPr>
      </a:lvl9pPr>
    </p:bodyStyle>
    <p:otherStyle>
      <a:lvl1pPr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589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176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765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354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2941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530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119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706" algn="ctr" defTabSz="584170">
        <a:defRPr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>
            <a:off x="3303746" y="3345268"/>
            <a:ext cx="6206821" cy="2872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pPr lvl="0">
              <a:defRPr sz="1800" b="0"/>
            </a:pPr>
            <a:r>
              <a:rPr sz="4500" dirty="0">
                <a:latin typeface="Arial"/>
                <a:cs typeface="Arial"/>
              </a:rPr>
              <a:t>Microbial Biotechnology</a:t>
            </a:r>
          </a:p>
          <a:p>
            <a:pPr lvl="0">
              <a:defRPr sz="1800" b="0"/>
            </a:pPr>
            <a:r>
              <a:rPr sz="4500" dirty="0">
                <a:latin typeface="Arial"/>
                <a:cs typeface="Arial"/>
              </a:rPr>
              <a:t>BT431</a:t>
            </a:r>
          </a:p>
          <a:p>
            <a:pPr lvl="0">
              <a:defRPr sz="1800" b="0"/>
            </a:pPr>
            <a:endParaRPr sz="4500" dirty="0">
              <a:latin typeface="Arial"/>
              <a:cs typeface="Arial"/>
            </a:endParaRPr>
          </a:p>
          <a:p>
            <a:pPr lvl="0">
              <a:defRPr sz="1800" b="0"/>
            </a:pPr>
            <a:r>
              <a:rPr lang="en-US" sz="4500" dirty="0">
                <a:latin typeface="Arial"/>
                <a:cs typeface="Arial"/>
              </a:rPr>
              <a:t>Fermentation</a:t>
            </a:r>
            <a:endParaRPr sz="45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2302851" y="923660"/>
            <a:ext cx="8399124" cy="781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pPr lvl="0">
              <a:defRPr sz="1800" b="0"/>
            </a:pPr>
            <a:r>
              <a:rPr lang="en-US" sz="4400" dirty="0">
                <a:solidFill>
                  <a:srgbClr val="FF0000"/>
                </a:solidFill>
              </a:rPr>
              <a:t>Fermentation: Multiple definitions</a:t>
            </a:r>
            <a:endParaRPr sz="4400" dirty="0">
              <a:solidFill>
                <a:srgbClr val="FF0000"/>
              </a:solidFill>
            </a:endParaRPr>
          </a:p>
        </p:txBody>
      </p:sp>
      <p:sp>
        <p:nvSpPr>
          <p:cNvPr id="40" name="Shape 40"/>
          <p:cNvSpPr/>
          <p:nvPr/>
        </p:nvSpPr>
        <p:spPr>
          <a:xfrm>
            <a:off x="1139493" y="3184292"/>
            <a:ext cx="10883664" cy="491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399" tIns="25399" rIns="25399" bIns="25399" anchor="ctr">
            <a:spAutoFit/>
          </a:bodyPr>
          <a:lstStyle/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Any process involving the mass culture of microorganisms, aerobically or anaerobically </a:t>
            </a: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endParaRPr lang="en-US" sz="3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Any biological process that occurs in the absence of oxygen</a:t>
            </a: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endParaRPr lang="en-US" sz="3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Spoilage of food </a:t>
            </a: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endParaRPr lang="en-US" sz="3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The production of alcoholic beverages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/>
        </p:nvSpPr>
        <p:spPr>
          <a:xfrm>
            <a:off x="6438900" y="4737962"/>
            <a:ext cx="102588" cy="277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pPr algn="l" defTabSz="457176">
              <a:spcBef>
                <a:spcPts val="1200"/>
              </a:spcBef>
              <a:defRPr sz="1800" b="0"/>
            </a:pPr>
            <a:endParaRPr sz="1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6407151" y="4737961"/>
            <a:ext cx="102588" cy="277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>
            <a:lvl1pPr algn="l" defTabSz="457200">
              <a:defRPr sz="1200" b="0">
                <a:latin typeface="Times"/>
                <a:ea typeface="Times"/>
                <a:cs typeface="Times"/>
                <a:sym typeface="Times"/>
              </a:defRPr>
            </a:lvl1pPr>
          </a:lstStyle>
          <a:p>
            <a:pPr lvl="0">
              <a:defRPr sz="1800"/>
            </a:pPr>
            <a:r>
              <a:rPr sz="110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200" y="1858931"/>
            <a:ext cx="10405399" cy="7647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48114" y="609677"/>
            <a:ext cx="7035574" cy="77969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4400" dirty="0">
                <a:solidFill>
                  <a:srgbClr val="FF0000"/>
                </a:solidFill>
                <a:latin typeface="Arial"/>
                <a:cs typeface="Arial"/>
              </a:rPr>
              <a:t>Microbial growth </a:t>
            </a:r>
            <a:r>
              <a:rPr lang="en-US" altLang="ja-JP" sz="4400" dirty="0" smtClean="0">
                <a:solidFill>
                  <a:srgbClr val="FF0000"/>
                </a:solidFill>
                <a:latin typeface="Arial"/>
                <a:cs typeface="Arial"/>
              </a:rPr>
              <a:t>kinetics</a:t>
            </a:r>
            <a:endParaRPr lang="ja-JP" altLang="en-US" sz="4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71777" y="9451466"/>
            <a:ext cx="2822017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000" b="0" i="1" dirty="0" err="1">
                <a:latin typeface="Arial"/>
                <a:cs typeface="Arial"/>
              </a:rPr>
              <a:t>Sanjai</a:t>
            </a:r>
            <a:r>
              <a:rPr lang="en-US" altLang="ja-JP" sz="1000" b="0" i="1" dirty="0">
                <a:latin typeface="Arial"/>
                <a:cs typeface="Arial"/>
              </a:rPr>
              <a:t> </a:t>
            </a:r>
            <a:r>
              <a:rPr lang="en-US" altLang="ja-JP" sz="1000" b="0" i="1" dirty="0" err="1">
                <a:latin typeface="Arial"/>
                <a:cs typeface="Arial"/>
              </a:rPr>
              <a:t>Saxena</a:t>
            </a:r>
            <a:r>
              <a:rPr lang="en-US" altLang="ja-JP" sz="1000" b="0" i="1" dirty="0">
                <a:solidFill>
                  <a:srgbClr val="000000"/>
                </a:solidFill>
                <a:latin typeface="Arial"/>
                <a:cs typeface="Arial"/>
              </a:rPr>
              <a:t>, Applied Microbiology</a:t>
            </a:r>
            <a:endParaRPr lang="ja-JP" altLang="en-US" sz="10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80219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52501" y="444501"/>
            <a:ext cx="11099800" cy="2159000"/>
          </a:xfrm>
        </p:spPr>
        <p:txBody>
          <a:bodyPr/>
          <a:lstStyle/>
          <a:p>
            <a:r>
              <a:rPr lang="en-US" b="1" dirty="0">
                <a:solidFill>
                  <a:srgbClr val="FF3300"/>
                </a:solidFill>
                <a:latin typeface="Arial"/>
                <a:cs typeface="Arial"/>
              </a:rPr>
              <a:t>Lag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8448" y="3335165"/>
            <a:ext cx="11698815" cy="4842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marL="571471" indent="-571471" algn="l">
              <a:buFont typeface="Arial"/>
              <a:buChar char="•"/>
            </a:pPr>
            <a:r>
              <a:rPr lang="en-US" altLang="ja-JP" sz="4400" b="0" dirty="0">
                <a:latin typeface="Times New Roman"/>
                <a:cs typeface="Times New Roman"/>
              </a:rPr>
              <a:t>Cells are adapting to environment</a:t>
            </a:r>
          </a:p>
          <a:p>
            <a:pPr marL="571471" indent="-571471" algn="l">
              <a:buFont typeface="Arial"/>
              <a:buChar char="•"/>
            </a:pPr>
            <a:endParaRPr lang="en-US" altLang="ja-JP" sz="4400" b="0" dirty="0">
              <a:latin typeface="Times New Roman"/>
              <a:cs typeface="Times New Roman"/>
            </a:endParaRPr>
          </a:p>
          <a:p>
            <a:pPr marL="571471" indent="-571471" algn="l">
              <a:buFont typeface="Arial"/>
              <a:buChar char="•"/>
            </a:pPr>
            <a:r>
              <a:rPr lang="en-US" altLang="ja-JP" sz="4400" b="0" dirty="0">
                <a:latin typeface="Times New Roman"/>
                <a:cs typeface="Times New Roman"/>
              </a:rPr>
              <a:t>Intense metabolic activity (DNA and enzyme synthesis)</a:t>
            </a:r>
          </a:p>
          <a:p>
            <a:pPr marL="571471" indent="-571471" algn="l">
              <a:buFont typeface="Arial"/>
              <a:buChar char="•"/>
            </a:pPr>
            <a:endParaRPr lang="en-US" altLang="ja-JP" sz="4400" b="0" dirty="0">
              <a:latin typeface="Times New Roman"/>
              <a:cs typeface="Times New Roman"/>
            </a:endParaRPr>
          </a:p>
          <a:p>
            <a:pPr marL="571471" indent="-571471" algn="l">
              <a:buFont typeface="Arial"/>
              <a:buChar char="•"/>
            </a:pPr>
            <a:r>
              <a:rPr lang="en-US" altLang="ja-JP" sz="4400" b="0" dirty="0">
                <a:latin typeface="Times New Roman"/>
                <a:cs typeface="Times New Roman"/>
              </a:rPr>
              <a:t>Cell growth is minimal in this phase.  </a:t>
            </a:r>
          </a:p>
          <a:p>
            <a:pPr marL="571471" indent="-571471" algn="l" rtl="0" latinLnBrk="1" hangingPunct="0">
              <a:buFont typeface="Arial"/>
              <a:buChar char="•"/>
            </a:pPr>
            <a:endParaRPr lang="ja-JP" altLang="en-US" sz="44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025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01" y="3447329"/>
            <a:ext cx="11099800" cy="62865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</a:rPr>
              <a:t>Cell division (logarithmic increase or exponential increase)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</a:rPr>
              <a:t>Generation time is </a:t>
            </a:r>
            <a:r>
              <a:rPr lang="en-US" dirty="0" smtClean="0">
                <a:latin typeface="Times New Roman"/>
                <a:cs typeface="Times New Roman"/>
              </a:rPr>
              <a:t>constant = log </a:t>
            </a:r>
            <a:r>
              <a:rPr lang="en-US" dirty="0">
                <a:latin typeface="Times New Roman"/>
                <a:cs typeface="Times New Roman"/>
              </a:rPr>
              <a:t>plot of growth is a straight line.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</a:rPr>
              <a:t>Most metabolic activity (catabolism and anabolism)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/>
                <a:cs typeface="Times New Roman"/>
              </a:rPr>
              <a:t>Cell is sensitive to adverse conditions (antibiotics, changes in environmental factors)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3100" dirty="0"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en-US" sz="31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04901" y="294461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80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b="1" dirty="0" smtClean="0">
                <a:solidFill>
                  <a:srgbClr val="FF3300"/>
                </a:solidFill>
                <a:latin typeface="Arial"/>
                <a:cs typeface="Arial"/>
              </a:rPr>
              <a:t>Log phase</a:t>
            </a:r>
            <a:endParaRPr lang="en-US" b="1" dirty="0">
              <a:solidFill>
                <a:srgbClr val="FF33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375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860145" y="606146"/>
            <a:ext cx="11099800" cy="2159000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FF3300"/>
                </a:solidFill>
                <a:latin typeface="Arial"/>
                <a:cs typeface="Arial"/>
              </a:rPr>
              <a:t>Stationary phase</a:t>
            </a:r>
            <a:r>
              <a:rPr lang="tr-TR" altLang="ja-JP" sz="6000" b="1" dirty="0">
                <a:solidFill>
                  <a:srgbClr val="FF3300"/>
                </a:solidFill>
                <a:latin typeface="Arial"/>
                <a:cs typeface="Arial"/>
              </a:rPr>
              <a:t/>
            </a:r>
            <a:br>
              <a:rPr lang="tr-TR" altLang="ja-JP" sz="6000" b="1" dirty="0">
                <a:solidFill>
                  <a:srgbClr val="FF3300"/>
                </a:solidFill>
                <a:latin typeface="Arial"/>
                <a:cs typeface="Arial"/>
              </a:rPr>
            </a:br>
            <a:endParaRPr lang="en-US" sz="4800" b="1" dirty="0">
              <a:solidFill>
                <a:srgbClr val="FF3300"/>
              </a:solidFill>
              <a:latin typeface="Arial"/>
              <a:cs typeface="Arial"/>
            </a:endParaRP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01" y="2788237"/>
            <a:ext cx="11099800" cy="6286500"/>
          </a:xfrm>
        </p:spPr>
        <p:txBody>
          <a:bodyPr/>
          <a:lstStyle/>
          <a:p>
            <a:r>
              <a:rPr lang="en-US" altLang="ja-JP" dirty="0">
                <a:latin typeface="Times New Roman"/>
                <a:cs typeface="Times New Roman"/>
              </a:rPr>
              <a:t>The number of cells multiplying equals the number of cells dying</a:t>
            </a:r>
          </a:p>
          <a:p>
            <a:r>
              <a:rPr lang="en-US" dirty="0" smtClean="0">
                <a:latin typeface="Times New Roman"/>
                <a:cs typeface="Times New Roman"/>
              </a:rPr>
              <a:t>Lack </a:t>
            </a:r>
            <a:r>
              <a:rPr lang="en-US" dirty="0">
                <a:latin typeface="Times New Roman"/>
                <a:cs typeface="Times New Roman"/>
              </a:rPr>
              <a:t>of nutrients, accumulation of waste products, pH changes.</a:t>
            </a:r>
            <a:endParaRPr lang="tr-TR" altLang="ja-JP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Net growth rate is </a:t>
            </a:r>
            <a:r>
              <a:rPr lang="en-US" dirty="0" smtClean="0">
                <a:latin typeface="Times New Roman"/>
                <a:cs typeface="Times New Roman"/>
              </a:rPr>
              <a:t>zero</a:t>
            </a:r>
          </a:p>
          <a:p>
            <a:r>
              <a:rPr lang="en-US" dirty="0" smtClean="0">
                <a:latin typeface="Times New Roman"/>
                <a:cs typeface="Times New Roman"/>
              </a:rPr>
              <a:t>Cells </a:t>
            </a:r>
            <a:r>
              <a:rPr lang="en-US" dirty="0">
                <a:latin typeface="Times New Roman"/>
                <a:cs typeface="Times New Roman"/>
              </a:rPr>
              <a:t>still active and produces the secondary metabolites..</a:t>
            </a:r>
          </a:p>
          <a:p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3030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4854" y="444500"/>
            <a:ext cx="11792607" cy="24090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3300"/>
                </a:solidFill>
                <a:latin typeface="Arial"/>
                <a:cs typeface="Arial"/>
              </a:rPr>
              <a:t>Death </a:t>
            </a:r>
            <a:r>
              <a:rPr lang="en-US" b="1" dirty="0" smtClean="0">
                <a:solidFill>
                  <a:srgbClr val="FF3300"/>
                </a:solidFill>
                <a:latin typeface="Arial"/>
                <a:cs typeface="Arial"/>
              </a:rPr>
              <a:t>phase and the extended death phase</a:t>
            </a:r>
            <a:endParaRPr lang="en-US" b="1" dirty="0">
              <a:solidFill>
                <a:srgbClr val="FF3300"/>
              </a:solidFill>
              <a:latin typeface="Arial"/>
              <a:cs typeface="Arial"/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01" y="2372577"/>
            <a:ext cx="11099800" cy="62865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Number of d</a:t>
            </a:r>
            <a:r>
              <a:rPr lang="tr-TR" altLang="ja-JP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lang="en-US" dirty="0" err="1">
                <a:solidFill>
                  <a:srgbClr val="000000"/>
                </a:solidFill>
                <a:latin typeface="Times New Roman"/>
                <a:cs typeface="Times New Roman"/>
              </a:rPr>
              <a:t>ing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 cells &gt; number of dividing cells</a:t>
            </a:r>
          </a:p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Can be a logarithmic decrease</a:t>
            </a:r>
          </a:p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Depending on the species, some cells can survive long periods of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time and thus show a successive waves of growth and death. </a:t>
            </a:r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7142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/>
          <p:nvPr/>
        </p:nvSpPr>
        <p:spPr>
          <a:xfrm>
            <a:off x="650251" y="735262"/>
            <a:ext cx="11704300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r>
              <a:rPr lang="en-US" altLang="ja-JP" sz="4400" dirty="0">
                <a:solidFill>
                  <a:srgbClr val="FF0000"/>
                </a:solidFill>
              </a:rPr>
              <a:t>Phases of fermentative production process </a:t>
            </a:r>
          </a:p>
        </p:txBody>
      </p:sp>
      <p:sp>
        <p:nvSpPr>
          <p:cNvPr id="35" name="Shape 35"/>
          <p:cNvSpPr/>
          <p:nvPr/>
        </p:nvSpPr>
        <p:spPr>
          <a:xfrm>
            <a:off x="5945042" y="4643894"/>
            <a:ext cx="102588" cy="277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pPr algn="l" defTabSz="457176">
              <a:spcBef>
                <a:spcPts val="1200"/>
              </a:spcBef>
              <a:defRPr sz="1800" b="0"/>
            </a:pPr>
            <a:endParaRPr sz="1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0961" y="2509402"/>
            <a:ext cx="2798501" cy="14568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4400" dirty="0">
                <a:solidFill>
                  <a:schemeClr val="tx1"/>
                </a:solidFill>
                <a:latin typeface="Arial"/>
                <a:cs typeface="Arial"/>
                <a:sym typeface="Helvetica Light"/>
              </a:rPr>
              <a:t>Upstream process </a:t>
            </a:r>
            <a:endParaRPr lang="ja-JP" altLang="en-US" sz="4400" dirty="0">
              <a:solidFill>
                <a:schemeClr val="tx1"/>
              </a:solidFill>
              <a:latin typeface="Arial"/>
              <a:cs typeface="Arial"/>
              <a:sym typeface="Helvetica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06586" y="7353867"/>
            <a:ext cx="3633810" cy="14568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hangingPunct="0"/>
            <a:r>
              <a:rPr lang="en-US" altLang="ja-JP" sz="4400" dirty="0">
                <a:solidFill>
                  <a:schemeClr val="tx1"/>
                </a:solidFill>
                <a:latin typeface="Arial"/>
                <a:cs typeface="Arial"/>
                <a:sym typeface="Helvetica Light"/>
              </a:rPr>
              <a:t>Downstream process </a:t>
            </a:r>
            <a:endParaRPr lang="ja-JP" altLang="en-US" sz="4400" dirty="0">
              <a:solidFill>
                <a:schemeClr val="tx1"/>
              </a:solidFill>
              <a:latin typeface="Arial"/>
              <a:cs typeface="Arial"/>
              <a:sym typeface="Helvetica Ligh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85780" y="5076176"/>
            <a:ext cx="3762689" cy="7797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4400" dirty="0">
                <a:solidFill>
                  <a:schemeClr val="tx1"/>
                </a:solidFill>
                <a:latin typeface="Arial"/>
                <a:cs typeface="Arial"/>
                <a:sym typeface="Helvetica Light"/>
              </a:rPr>
              <a:t>Fermentation</a:t>
            </a:r>
            <a:endParaRPr lang="ja-JP" altLang="en-US" sz="4400" dirty="0">
              <a:solidFill>
                <a:schemeClr val="tx1"/>
              </a:solidFill>
              <a:latin typeface="Arial"/>
              <a:cs typeface="Arial"/>
              <a:sym typeface="Helvetica Light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739175" y="4178810"/>
            <a:ext cx="587920" cy="598244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/>
          <p:cNvCxnSpPr/>
          <p:nvPr/>
        </p:nvCxnSpPr>
        <p:spPr>
          <a:xfrm>
            <a:off x="8054510" y="6377173"/>
            <a:ext cx="587920" cy="598244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483941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2472"/>
          <a:stretch/>
        </p:blipFill>
        <p:spPr>
          <a:xfrm>
            <a:off x="116603" y="2727950"/>
            <a:ext cx="4774896" cy="5761621"/>
          </a:xfrm>
          <a:prstGeom prst="rect">
            <a:avLst/>
          </a:prstGeom>
        </p:spPr>
      </p:pic>
      <p:sp>
        <p:nvSpPr>
          <p:cNvPr id="6" name="Shape 34"/>
          <p:cNvSpPr/>
          <p:nvPr/>
        </p:nvSpPr>
        <p:spPr>
          <a:xfrm>
            <a:off x="650251" y="735262"/>
            <a:ext cx="11704300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r>
              <a:rPr lang="en-US" altLang="ja-JP" sz="4400" dirty="0">
                <a:solidFill>
                  <a:srgbClr val="FF0000"/>
                </a:solidFill>
              </a:rPr>
              <a:t>Phases of fermentative production process </a:t>
            </a:r>
          </a:p>
        </p:txBody>
      </p:sp>
    </p:spTree>
    <p:extLst>
      <p:ext uri="{BB962C8B-B14F-4D97-AF65-F5344CB8AC3E}">
        <p14:creationId xmlns:p14="http://schemas.microsoft.com/office/powerpoint/2010/main" val="34491900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44" y="3055579"/>
            <a:ext cx="12033006" cy="4987173"/>
          </a:xfrm>
          <a:prstGeom prst="rect">
            <a:avLst/>
          </a:prstGeom>
        </p:spPr>
      </p:pic>
      <p:sp>
        <p:nvSpPr>
          <p:cNvPr id="3" name="Shape 34"/>
          <p:cNvSpPr/>
          <p:nvPr/>
        </p:nvSpPr>
        <p:spPr>
          <a:xfrm>
            <a:off x="3304668" y="704483"/>
            <a:ext cx="6395482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r>
              <a:rPr lang="en-US" altLang="ja-JP" sz="4800" dirty="0">
                <a:solidFill>
                  <a:srgbClr val="FF0000"/>
                </a:solidFill>
              </a:rPr>
              <a:t>Inoculum preparation</a:t>
            </a:r>
          </a:p>
        </p:txBody>
      </p:sp>
    </p:spTree>
    <p:extLst>
      <p:ext uri="{BB962C8B-B14F-4D97-AF65-F5344CB8AC3E}">
        <p14:creationId xmlns:p14="http://schemas.microsoft.com/office/powerpoint/2010/main" val="244115570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37705"/>
          <a:stretch/>
        </p:blipFill>
        <p:spPr>
          <a:xfrm>
            <a:off x="116602" y="2727950"/>
            <a:ext cx="7926151" cy="5761621"/>
          </a:xfrm>
          <a:prstGeom prst="rect">
            <a:avLst/>
          </a:prstGeom>
        </p:spPr>
      </p:pic>
      <p:sp>
        <p:nvSpPr>
          <p:cNvPr id="6" name="Shape 34"/>
          <p:cNvSpPr/>
          <p:nvPr/>
        </p:nvSpPr>
        <p:spPr>
          <a:xfrm>
            <a:off x="650251" y="735262"/>
            <a:ext cx="11704300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r>
              <a:rPr lang="en-US" altLang="ja-JP" sz="4400" dirty="0">
                <a:solidFill>
                  <a:srgbClr val="FF0000"/>
                </a:solidFill>
              </a:rPr>
              <a:t>Phases of fermentative production process </a:t>
            </a:r>
          </a:p>
        </p:txBody>
      </p:sp>
    </p:spTree>
    <p:extLst>
      <p:ext uri="{BB962C8B-B14F-4D97-AF65-F5344CB8AC3E}">
        <p14:creationId xmlns:p14="http://schemas.microsoft.com/office/powerpoint/2010/main" val="2932644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1" y="2727950"/>
            <a:ext cx="12723580" cy="5761621"/>
          </a:xfrm>
          <a:prstGeom prst="rect">
            <a:avLst/>
          </a:prstGeom>
        </p:spPr>
      </p:pic>
      <p:sp>
        <p:nvSpPr>
          <p:cNvPr id="6" name="Shape 34"/>
          <p:cNvSpPr/>
          <p:nvPr/>
        </p:nvSpPr>
        <p:spPr>
          <a:xfrm>
            <a:off x="650251" y="735262"/>
            <a:ext cx="11704300" cy="77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797" tIns="50797" rIns="50797" bIns="50797" anchor="ctr">
            <a:spAutoFit/>
          </a:bodyPr>
          <a:lstStyle/>
          <a:p>
            <a:r>
              <a:rPr lang="en-US" altLang="ja-JP" sz="4400" dirty="0">
                <a:solidFill>
                  <a:srgbClr val="FF0000"/>
                </a:solidFill>
              </a:rPr>
              <a:t>Phases of fermentative production process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0934" y="9451466"/>
            <a:ext cx="2822017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000" b="0" i="1" dirty="0" err="1">
                <a:latin typeface="Arial"/>
                <a:cs typeface="Arial"/>
              </a:rPr>
              <a:t>Sanjai</a:t>
            </a:r>
            <a:r>
              <a:rPr lang="en-US" altLang="ja-JP" sz="1000" b="0" i="1" dirty="0">
                <a:latin typeface="Arial"/>
                <a:cs typeface="Arial"/>
              </a:rPr>
              <a:t> </a:t>
            </a:r>
            <a:r>
              <a:rPr lang="en-US" altLang="ja-JP" sz="1000" b="0" i="1" dirty="0" err="1">
                <a:latin typeface="Arial"/>
                <a:cs typeface="Arial"/>
              </a:rPr>
              <a:t>Saxena</a:t>
            </a:r>
            <a:r>
              <a:rPr lang="en-US" altLang="ja-JP" sz="1000" b="0" i="1" dirty="0">
                <a:solidFill>
                  <a:srgbClr val="000000"/>
                </a:solidFill>
                <a:latin typeface="Arial"/>
                <a:cs typeface="Arial"/>
              </a:rPr>
              <a:t>, Applied Microbiology</a:t>
            </a:r>
            <a:endParaRPr lang="ja-JP" altLang="en-US" sz="10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38925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20182" y="541883"/>
            <a:ext cx="6953281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sz="4400" dirty="0">
                <a:solidFill>
                  <a:srgbClr val="FF0000"/>
                </a:solidFill>
                <a:latin typeface="Arial"/>
                <a:cs typeface="Arial"/>
              </a:rPr>
              <a:t>Fermenters (Bioreactors)</a:t>
            </a:r>
            <a:endParaRPr lang="en-US" sz="44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413" y="1697465"/>
            <a:ext cx="8268204" cy="7784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2784" y="9349804"/>
            <a:ext cx="2822017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000" b="0" i="1" dirty="0" err="1">
                <a:latin typeface="Arial"/>
                <a:cs typeface="Arial"/>
              </a:rPr>
              <a:t>Sanjai</a:t>
            </a:r>
            <a:r>
              <a:rPr lang="en-US" altLang="ja-JP" sz="1000" b="0" i="1" dirty="0">
                <a:latin typeface="Arial"/>
                <a:cs typeface="Arial"/>
              </a:rPr>
              <a:t> </a:t>
            </a:r>
            <a:r>
              <a:rPr lang="en-US" altLang="ja-JP" sz="1000" b="0" i="1" dirty="0" err="1">
                <a:latin typeface="Arial"/>
                <a:cs typeface="Arial"/>
              </a:rPr>
              <a:t>Saxena</a:t>
            </a:r>
            <a:r>
              <a:rPr lang="en-US" altLang="ja-JP" sz="1000" b="0" i="1" dirty="0">
                <a:solidFill>
                  <a:srgbClr val="000000"/>
                </a:solidFill>
                <a:latin typeface="Arial"/>
                <a:cs typeface="Arial"/>
              </a:rPr>
              <a:t>, Applied Microbiology</a:t>
            </a:r>
            <a:endParaRPr lang="ja-JP" altLang="en-US" sz="10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9618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36913" y="2092996"/>
            <a:ext cx="11963031" cy="7078562"/>
            <a:chOff x="536913" y="2092997"/>
            <a:chExt cx="11963031" cy="707856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t="5980"/>
            <a:stretch/>
          </p:blipFill>
          <p:spPr>
            <a:xfrm>
              <a:off x="536913" y="2516299"/>
              <a:ext cx="11963031" cy="665526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l="9666" b="94685"/>
            <a:stretch/>
          </p:blipFill>
          <p:spPr>
            <a:xfrm>
              <a:off x="799565" y="2092997"/>
              <a:ext cx="10806733" cy="376269"/>
            </a:xfrm>
            <a:prstGeom prst="rect">
              <a:avLst/>
            </a:prstGeom>
          </p:spPr>
        </p:pic>
      </p:grpSp>
      <p:sp>
        <p:nvSpPr>
          <p:cNvPr id="5" name="TextBox 4"/>
          <p:cNvSpPr txBox="1"/>
          <p:nvPr/>
        </p:nvSpPr>
        <p:spPr>
          <a:xfrm>
            <a:off x="488038" y="576032"/>
            <a:ext cx="12043140" cy="176458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5400" dirty="0">
                <a:solidFill>
                  <a:srgbClr val="FF0000"/>
                </a:solidFill>
                <a:latin typeface="Arial"/>
                <a:cs typeface="Arial"/>
              </a:rPr>
              <a:t>Fermenter control and monitoring </a:t>
            </a:r>
          </a:p>
          <a:p>
            <a:pPr rtl="0" latinLnBrk="1" hangingPunct="0"/>
            <a:endParaRPr lang="ja-JP" altLang="en-US" sz="5400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77622" y="9177662"/>
            <a:ext cx="2652326" cy="452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100" b="0" i="1" dirty="0">
                <a:solidFill>
                  <a:srgbClr val="000000"/>
                </a:solidFill>
                <a:latin typeface="Arial"/>
                <a:cs typeface="Arial"/>
              </a:rPr>
              <a:t>Industrial Microbiology: An Introduction </a:t>
            </a:r>
          </a:p>
          <a:p>
            <a:pPr rtl="0" latinLnBrk="1" hangingPunct="0"/>
            <a:endParaRPr lang="ja-JP" altLang="en-US" sz="11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60384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864314" y="2401341"/>
            <a:ext cx="11222343" cy="6268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399" tIns="25399" rIns="25399" bIns="25399" anchor="ctr">
            <a:spAutoFit/>
          </a:bodyPr>
          <a:lstStyle/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Agitation mixes the three phases within a fermenter:</a:t>
            </a: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endParaRPr lang="en-US" sz="4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The liquid phase contains dissolved nutrients and metabolites </a:t>
            </a: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The gaseous phase is predominantly oxygen and carbon dioxide</a:t>
            </a: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The solid phase is made up of the cells and any solid substrates that may be present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8038" y="479003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Agitation in a fermenter 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3791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864314" y="2339789"/>
            <a:ext cx="11476355" cy="6391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399" tIns="25399" rIns="25399" bIns="25399" anchor="ctr">
            <a:spAutoFit/>
          </a:bodyPr>
          <a:lstStyle/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Efficient mixing is important for oxygen transfer in aerobic fermentations, as microorganisms can take up oxygen only from the liquid phase.</a:t>
            </a: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endParaRPr lang="en-US" sz="3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36" indent="-285736" algn="l" defTabSz="457176">
              <a:spcBef>
                <a:spcPts val="1200"/>
              </a:spcBef>
              <a:buFont typeface="Arial"/>
              <a:buChar char="•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Transfer into liquid from the gaseous phase is enhanced by agitation because it:</a:t>
            </a: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Prolongs retention of air bubbles in suspension</a:t>
            </a: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Reduces bubble size to increase the surface area for oxygen transfer </a:t>
            </a: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Prevents bubble coalescence  </a:t>
            </a:r>
          </a:p>
          <a:p>
            <a:pPr marL="742912" indent="-742912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sz="3100" dirty="0">
                <a:latin typeface="Times New Roman"/>
                <a:ea typeface="Times New Roman"/>
                <a:cs typeface="Times New Roman"/>
                <a:sym typeface="Times New Roman"/>
              </a:rPr>
              <a:t>Decreases the film thickness at the gas-liquid interface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8038" y="627186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Agitation in a fermenter 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5113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8038" y="504942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Aeration in a fermenter 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4213" y="2154367"/>
            <a:ext cx="10880110" cy="79816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algn="l" rtl="0" eaLnBrk="0" hangingPunct="0"/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Oxygen transfer is influenced by the following factors:</a:t>
            </a:r>
          </a:p>
          <a:p>
            <a:pPr algn="l" rtl="0" eaLnBrk="0" hangingPunct="0"/>
            <a:endParaRPr lang="en-US" altLang="ja-JP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23" indent="-514323" algn="l" rtl="0" eaLnBrk="0" hangingPunct="0"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The prevailing physical conditions; temperature, pressure and surface area of air/oxygen bubbles</a:t>
            </a:r>
          </a:p>
          <a:p>
            <a:pPr marL="514323" indent="-514323" algn="l" rtl="0" eaLnBrk="0" hangingPunct="0">
              <a:buFont typeface="+mj-lt"/>
              <a:buAutoNum type="arabicPeriod"/>
            </a:pPr>
            <a:endParaRPr lang="en-US" altLang="ja-JP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23" indent="-514323" algn="l" rtl="0" eaLnBrk="0" hangingPunct="0"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The chemical composition of the medium </a:t>
            </a:r>
          </a:p>
          <a:p>
            <a:pPr marL="514323" indent="-514323" algn="l" rtl="0" eaLnBrk="0" hangingPunct="0">
              <a:buFont typeface="+mj-lt"/>
              <a:buAutoNum type="arabicPeriod"/>
            </a:pPr>
            <a:endParaRPr lang="en-US" altLang="ja-JP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23" indent="-514323" algn="l" rtl="0" eaLnBrk="0" hangingPunct="0"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The volume of gas introduced per unit reactor volume per unit time</a:t>
            </a:r>
          </a:p>
          <a:p>
            <a:pPr marL="514323" indent="-514323" algn="l" rtl="0" eaLnBrk="0" hangingPunct="0">
              <a:buFont typeface="+mj-lt"/>
              <a:buAutoNum type="arabicPeriod"/>
            </a:pPr>
            <a:endParaRPr lang="en-US" altLang="ja-JP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23" indent="-514323" algn="l" rtl="0" eaLnBrk="0" hangingPunct="0"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The type of </a:t>
            </a:r>
            <a:r>
              <a:rPr lang="en-US" altLang="ja-JP" sz="3100" b="0" dirty="0" err="1">
                <a:solidFill>
                  <a:srgbClr val="000000"/>
                </a:solidFill>
                <a:latin typeface="Times New Roman"/>
                <a:cs typeface="Times New Roman"/>
              </a:rPr>
              <a:t>sparger</a:t>
            </a: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 system used to introduce air into the fermenter</a:t>
            </a:r>
          </a:p>
          <a:p>
            <a:pPr marL="514323" indent="-514323" algn="l" rtl="0" eaLnBrk="0" hangingPunct="0">
              <a:buFont typeface="+mj-lt"/>
              <a:buAutoNum type="arabicPeriod"/>
            </a:pPr>
            <a:endParaRPr lang="en-US" altLang="ja-JP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23" indent="-514323" algn="l" rtl="0" eaLnBrk="0" hangingPunct="0"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The speed of agitation</a:t>
            </a:r>
          </a:p>
          <a:p>
            <a:pPr marL="514323" indent="-514323" algn="l" rtl="0" latinLnBrk="1" hangingPunct="0">
              <a:buFont typeface="+mj-lt"/>
              <a:buAutoNum type="arabicPeriod"/>
            </a:pPr>
            <a:endParaRPr lang="en-US" altLang="ja-JP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12" indent="-742912" algn="l" rtl="0" latinLnBrk="1" hangingPunct="0">
              <a:buFont typeface="+mj-lt"/>
              <a:buAutoNum type="arabicPeriod"/>
            </a:pPr>
            <a:endParaRPr lang="ja-JP" altLang="en-US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4607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8038" y="881215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Aeration in a fermenter 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64213" y="2571279"/>
            <a:ext cx="10880110" cy="73082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algn="l" rtl="0" eaLnBrk="0" hangingPunct="0"/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In order for oxygen to transfer from the gaseous phase to an individual cell or site of reaction, it must pass through several points of </a:t>
            </a:r>
            <a:r>
              <a:rPr lang="en-US" altLang="ja-JP" sz="2800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resistance:</a:t>
            </a:r>
            <a:endParaRPr lang="en-US" altLang="ja-JP" sz="28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 rtl="0" eaLnBrk="0" hangingPunct="0"/>
            <a:endParaRPr lang="en-US" altLang="ja-JP" sz="28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12" indent="-742912" algn="l" rtl="0" eaLnBrk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Resistance within the gas film to the phase boundary</a:t>
            </a:r>
          </a:p>
          <a:p>
            <a:pPr marL="742912" indent="-742912" algn="l" rtl="0" eaLnBrk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Penetration of the phase boundary between the gas bubble and bulk liquid</a:t>
            </a:r>
          </a:p>
          <a:p>
            <a:pPr marL="742912" indent="-742912" algn="l" rtl="0" eaLnBrk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Transfer from the phase boundary to the bulk liquid</a:t>
            </a:r>
          </a:p>
          <a:p>
            <a:pPr marL="742912" indent="-742912" algn="l" rtl="0" eaLnBrk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Movement within the liquid</a:t>
            </a:r>
          </a:p>
          <a:p>
            <a:pPr marL="742912" indent="-742912" algn="l" rtl="0" eaLnBrk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Transfer to the surface of the cell</a:t>
            </a:r>
          </a:p>
          <a:p>
            <a:pPr marL="742912" indent="-742912" algn="l" rtl="0" eaLnBrk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Entry into cell</a:t>
            </a:r>
          </a:p>
          <a:p>
            <a:pPr marL="742912" indent="-742912" algn="l" rtl="0" eaLnBrk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Transport to the site of reaction within the cell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endParaRPr lang="en-US" altLang="ja-JP" sz="2800" b="0" dirty="0">
              <a:latin typeface="Times New Roman"/>
              <a:cs typeface="Times New Roman"/>
            </a:endParaRPr>
          </a:p>
          <a:p>
            <a:pPr algn="l" rtl="0" latinLnBrk="1" hangingPunct="0"/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742912" indent="-742912" algn="l" rtl="0" latinLnBrk="1" hangingPunct="0">
              <a:buFont typeface="+mj-lt"/>
              <a:buAutoNum type="arabicPeriod"/>
            </a:pPr>
            <a:endParaRPr lang="ja-JP" altLang="en-US" sz="28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97053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8038" y="436665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Aeration in a fermenter 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3190" y="1860459"/>
            <a:ext cx="11430475" cy="441145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marL="742912" indent="-742912" algn="l" rtl="0" eaLnBrk="0" hangingPunct="0"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Resistance within the gas film to the phase boundary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Penetration of the phase boundary between the gas bubble and bulk liquid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Transfer from the phase boundary to the bulk liquid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Movement within the liquid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Transfer to the surface of the cell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Entry into cell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Transport to the site of reaction within the cell</a:t>
            </a:r>
          </a:p>
          <a:p>
            <a:pPr marL="742912" indent="-742912" algn="l" rtl="0" eaLnBrk="0" hangingPunct="0">
              <a:buFont typeface="+mj-lt"/>
              <a:buAutoNum type="arabicPeriod"/>
            </a:pPr>
            <a:endParaRPr lang="en-US" altLang="ja-JP" sz="2800" b="0" dirty="0">
              <a:latin typeface="Times New Roman"/>
              <a:cs typeface="Times New Roman"/>
            </a:endParaRPr>
          </a:p>
          <a:p>
            <a:pPr algn="l" rtl="0" latinLnBrk="1" hangingPunct="0"/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742912" indent="-742912" algn="l" rtl="0" latinLnBrk="1" hangingPunct="0">
              <a:buFont typeface="+mj-lt"/>
              <a:buAutoNum type="arabicPeriod"/>
            </a:pPr>
            <a:endParaRPr lang="ja-JP" altLang="en-US" sz="28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val 4"/>
          <p:cNvSpPr/>
          <p:nvPr/>
        </p:nvSpPr>
        <p:spPr>
          <a:xfrm>
            <a:off x="2518620" y="6457551"/>
            <a:ext cx="2815600" cy="2340864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endParaRPr lang="ja-JP" altLang="en-US" sz="2400" b="0">
              <a:solidFill>
                <a:srgbClr val="FFFFFF"/>
              </a:solidFill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6" name="Oval 5"/>
          <p:cNvSpPr/>
          <p:nvPr/>
        </p:nvSpPr>
        <p:spPr>
          <a:xfrm>
            <a:off x="2083857" y="6266526"/>
            <a:ext cx="3657600" cy="2752344"/>
          </a:xfrm>
          <a:prstGeom prst="ellipse">
            <a:avLst/>
          </a:prstGeom>
          <a:noFill/>
          <a:ln w="12700" cap="flat">
            <a:solidFill>
              <a:schemeClr val="tx1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endParaRPr lang="ja-JP" altLang="en-US" sz="2400" b="0">
              <a:solidFill>
                <a:srgbClr val="FFFFFF"/>
              </a:solidFill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826859" y="6444375"/>
            <a:ext cx="2292358" cy="1399032"/>
          </a:xfrm>
          <a:prstGeom prst="round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endParaRPr lang="ja-JP" altLang="en-US" sz="2400" b="0">
              <a:solidFill>
                <a:srgbClr val="FFFFFF"/>
              </a:solidFill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541965" y="6205633"/>
            <a:ext cx="2870143" cy="1828800"/>
          </a:xfrm>
          <a:prstGeom prst="roundRect">
            <a:avLst/>
          </a:prstGeom>
          <a:noFill/>
          <a:ln w="12700" cap="flat">
            <a:solidFill>
              <a:srgbClr val="000000"/>
            </a:solidFill>
            <a:prstDash val="dash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endParaRPr lang="ja-JP" altLang="en-US" sz="2400" b="0">
              <a:solidFill>
                <a:srgbClr val="FFFFFF"/>
              </a:solidFill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97120" y="7144785"/>
            <a:ext cx="57394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3100" dirty="0">
                <a:solidFill>
                  <a:srgbClr val="000000"/>
                </a:solidFill>
              </a:rPr>
              <a:t>O</a:t>
            </a:r>
            <a:r>
              <a:rPr lang="en-US" altLang="ja-JP" sz="3100" baseline="-25000" dirty="0">
                <a:solidFill>
                  <a:srgbClr val="000000"/>
                </a:solidFill>
              </a:rPr>
              <a:t>2</a:t>
            </a:r>
            <a:endParaRPr lang="ja-JP" altLang="en-US" sz="3100" baseline="-25000" dirty="0">
              <a:solidFill>
                <a:srgbClr val="00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618091" y="7647554"/>
            <a:ext cx="1260850" cy="34720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/>
          <p:cNvCxnSpPr/>
          <p:nvPr/>
        </p:nvCxnSpPr>
        <p:spPr>
          <a:xfrm flipV="1">
            <a:off x="4967386" y="7875975"/>
            <a:ext cx="551118" cy="9757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/>
          <p:cNvCxnSpPr/>
          <p:nvPr/>
        </p:nvCxnSpPr>
        <p:spPr>
          <a:xfrm>
            <a:off x="5582458" y="7875976"/>
            <a:ext cx="615074" cy="16739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/>
          <p:cNvCxnSpPr/>
          <p:nvPr/>
        </p:nvCxnSpPr>
        <p:spPr>
          <a:xfrm flipV="1">
            <a:off x="6273919" y="7647553"/>
            <a:ext cx="2022110" cy="39581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/>
          <p:cNvCxnSpPr/>
          <p:nvPr/>
        </p:nvCxnSpPr>
        <p:spPr>
          <a:xfrm>
            <a:off x="8363277" y="7647553"/>
            <a:ext cx="389581" cy="12304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/>
          <p:cNvCxnSpPr/>
          <p:nvPr/>
        </p:nvCxnSpPr>
        <p:spPr>
          <a:xfrm flipV="1">
            <a:off x="8807678" y="7519638"/>
            <a:ext cx="420282" cy="268972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/>
          <p:cNvCxnSpPr/>
          <p:nvPr/>
        </p:nvCxnSpPr>
        <p:spPr>
          <a:xfrm flipV="1">
            <a:off x="9267430" y="6989700"/>
            <a:ext cx="801099" cy="49046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arrow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extBox 24"/>
          <p:cNvSpPr txBox="1"/>
          <p:nvPr/>
        </p:nvSpPr>
        <p:spPr>
          <a:xfrm>
            <a:off x="4065319" y="7083231"/>
            <a:ext cx="35934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dirty="0">
                <a:solidFill>
                  <a:srgbClr val="FF0000"/>
                </a:solidFill>
              </a:rPr>
              <a:t>1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74870" y="7316964"/>
            <a:ext cx="35934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dirty="0">
                <a:solidFill>
                  <a:srgbClr val="FF0000"/>
                </a:solidFill>
              </a:rPr>
              <a:t>2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62134" y="7315300"/>
            <a:ext cx="35934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dirty="0">
                <a:solidFill>
                  <a:srgbClr val="FF0000"/>
                </a:solidFill>
              </a:rPr>
              <a:t>3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36818" y="7151867"/>
            <a:ext cx="35934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dirty="0">
                <a:solidFill>
                  <a:srgbClr val="FF0000"/>
                </a:solidFill>
              </a:rPr>
              <a:t>4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63276" y="7648450"/>
            <a:ext cx="35934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dirty="0">
                <a:solidFill>
                  <a:srgbClr val="FF0000"/>
                </a:solidFill>
              </a:rPr>
              <a:t>5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07678" y="6996408"/>
            <a:ext cx="35934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dirty="0">
                <a:solidFill>
                  <a:srgbClr val="FF0000"/>
                </a:solidFill>
              </a:rPr>
              <a:t>6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339239" y="6668112"/>
            <a:ext cx="35934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dirty="0">
                <a:solidFill>
                  <a:srgbClr val="FF0000"/>
                </a:solidFill>
              </a:rPr>
              <a:t>7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252139" y="6638343"/>
            <a:ext cx="421790" cy="474655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00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endParaRPr lang="ja-JP" altLang="en-US" sz="2400" b="0">
              <a:solidFill>
                <a:srgbClr val="FFFFFF"/>
              </a:solidFill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52139" y="6556833"/>
            <a:ext cx="42179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3100" dirty="0">
                <a:solidFill>
                  <a:srgbClr val="000000"/>
                </a:solidFill>
              </a:rPr>
              <a:t>O</a:t>
            </a:r>
            <a:endParaRPr lang="ja-JP" altLang="en-US" sz="3100" baseline="-25000" dirty="0">
              <a:solidFill>
                <a:srgbClr val="0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04763" y="5660629"/>
            <a:ext cx="1555814" cy="4719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2400" dirty="0">
                <a:solidFill>
                  <a:srgbClr val="000000"/>
                </a:solidFill>
              </a:rPr>
              <a:t>liquid film</a:t>
            </a:r>
            <a:endParaRPr lang="ja-JP" altLang="en-US" sz="2400" dirty="0">
              <a:solidFill>
                <a:srgbClr val="000000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5334218" y="6271921"/>
            <a:ext cx="1391593" cy="396193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/>
          <p:cNvCxnSpPr/>
          <p:nvPr/>
        </p:nvCxnSpPr>
        <p:spPr>
          <a:xfrm flipH="1" flipV="1">
            <a:off x="6700369" y="6286435"/>
            <a:ext cx="2022255" cy="417361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2" name="TextBox 41"/>
          <p:cNvSpPr txBox="1"/>
          <p:nvPr/>
        </p:nvSpPr>
        <p:spPr>
          <a:xfrm>
            <a:off x="420657" y="5972450"/>
            <a:ext cx="1573247" cy="4719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2400" dirty="0">
                <a:solidFill>
                  <a:srgbClr val="000000"/>
                </a:solidFill>
              </a:rPr>
              <a:t>air bubble</a:t>
            </a:r>
            <a:endParaRPr lang="ja-JP" altLang="en-US" sz="2400" dirty="0">
              <a:solidFill>
                <a:srgbClr val="00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851741" y="8305039"/>
            <a:ext cx="2326007" cy="4719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2400" dirty="0">
                <a:solidFill>
                  <a:srgbClr val="000000"/>
                </a:solidFill>
              </a:rPr>
              <a:t>microorganism</a:t>
            </a:r>
            <a:endParaRPr lang="ja-JP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4199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8038" y="356727"/>
            <a:ext cx="12043140" cy="10259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Fermentation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8575" y="1780416"/>
            <a:ext cx="10850172" cy="7778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marL="742912" indent="-742912" algn="l" rtl="0" hangingPunct="0">
              <a:spcAft>
                <a:spcPts val="600"/>
              </a:spcAft>
              <a:buFont typeface="+mj-lt"/>
              <a:buAutoNum type="arabicPeriod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Water</a:t>
            </a:r>
          </a:p>
          <a:p>
            <a:pPr marL="742912" indent="-742912" algn="l" rtl="0" hangingPunct="0">
              <a:spcAft>
                <a:spcPts val="600"/>
              </a:spcAft>
              <a:buFont typeface="+mj-lt"/>
              <a:buAutoNum type="arabicPeriod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Carbon source (energy source)	</a:t>
            </a:r>
          </a:p>
          <a:p>
            <a:pPr marL="571471" lvl="8" indent="-571471" algn="l" rtl="0" hangingPunct="0">
              <a:spcAft>
                <a:spcPts val="600"/>
              </a:spcAft>
              <a:buFont typeface="Arial"/>
              <a:buChar char="•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Molasses, malt extract, whey, </a:t>
            </a:r>
            <a:r>
              <a:rPr lang="en-US" altLang="ja-JP" sz="2800" b="0" dirty="0" err="1">
                <a:solidFill>
                  <a:srgbClr val="000000"/>
                </a:solidFill>
                <a:latin typeface="Times New Roman"/>
                <a:cs typeface="Times New Roman"/>
              </a:rPr>
              <a:t>sulphite</a:t>
            </a: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waste liquor, alkanes &amp; alcohols, cellulose, starch &amp; </a:t>
            </a:r>
            <a:r>
              <a:rPr lang="en-US" altLang="ja-JP" sz="2800" b="0" dirty="0" err="1">
                <a:solidFill>
                  <a:srgbClr val="000000"/>
                </a:solidFill>
                <a:latin typeface="Times New Roman"/>
                <a:cs typeface="Times New Roman"/>
              </a:rPr>
              <a:t>dextrins</a:t>
            </a: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, fats &amp; oils. 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3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Nitrogen Source</a:t>
            </a:r>
          </a:p>
          <a:p>
            <a:pPr marL="571471" lvl="8" indent="-571471" algn="l" rtl="0" hangingPunct="0">
              <a:spcAft>
                <a:spcPts val="600"/>
              </a:spcAft>
              <a:buFont typeface="Arial"/>
              <a:buChar char="•"/>
            </a:pPr>
            <a:r>
              <a:rPr lang="en-US" altLang="ja-JP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Yeast extract, peptones, </a:t>
            </a:r>
            <a:r>
              <a:rPr lang="en-US" altLang="ja-JP" sz="2800" b="0" dirty="0">
                <a:latin typeface="Times New Roman"/>
                <a:cs typeface="Times New Roman"/>
              </a:rPr>
              <a:t>corn steep liquor and soya been meal.</a:t>
            </a:r>
            <a:endParaRPr lang="en-US" altLang="ja-JP" sz="280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Vitamins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Minerals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Precursors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Inducer &amp; Elicitors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Inhibitors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Oxygen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Cell permeability modifiers </a:t>
            </a:r>
          </a:p>
          <a:p>
            <a:pPr marL="571471" lvl="8" indent="-571471" algn="l" rtl="0" hangingPunct="0">
              <a:spcAft>
                <a:spcPts val="600"/>
              </a:spcAft>
              <a:buFont typeface="+mj-lt"/>
              <a:buAutoNum type="arabicPeriod" startAt="4"/>
            </a:pPr>
            <a:r>
              <a:rPr lang="en-US" altLang="ja-JP" sz="2800" dirty="0">
                <a:solidFill>
                  <a:srgbClr val="000000"/>
                </a:solidFill>
                <a:latin typeface="Times New Roman"/>
                <a:cs typeface="Times New Roman"/>
              </a:rPr>
              <a:t>Anti-foaming agents</a:t>
            </a:r>
          </a:p>
          <a:p>
            <a:pPr marL="742912" indent="-742912" algn="l" rtl="0" hangingPunct="0">
              <a:spcAft>
                <a:spcPts val="600"/>
              </a:spcAft>
              <a:buFont typeface="+mj-lt"/>
              <a:buAutoNum type="arabicPeriod"/>
            </a:pPr>
            <a:endParaRPr lang="ja-JP" alt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455582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2098" y="2175020"/>
            <a:ext cx="10869776" cy="69044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algn="l" rtl="0" hangingPunct="0"/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Antifoams used in industrial fermentation should ideally have the following properties. They should:</a:t>
            </a:r>
          </a:p>
          <a:p>
            <a:pPr algn="l" rtl="0" hangingPunct="0"/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457176" indent="-457176" algn="l" rtl="0" hangingPunct="0">
              <a:spcAft>
                <a:spcPts val="1801"/>
              </a:spcAft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Be non-toxic to microorganisms </a:t>
            </a:r>
          </a:p>
          <a:p>
            <a:pPr marL="457176" indent="-457176" algn="l" rtl="0" hangingPunct="0">
              <a:spcAft>
                <a:spcPts val="1801"/>
              </a:spcAft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Have no effect on taste and odor; a change in the usual organoleptic properties of the finished goods. </a:t>
            </a:r>
          </a:p>
          <a:p>
            <a:pPr marL="457176" indent="-457176" algn="l" rtl="0" hangingPunct="0">
              <a:spcAft>
                <a:spcPts val="1801"/>
              </a:spcAft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Be </a:t>
            </a:r>
            <a:r>
              <a:rPr lang="en-US" altLang="ja-JP" sz="3100" b="0" dirty="0" err="1">
                <a:solidFill>
                  <a:srgbClr val="000000"/>
                </a:solidFill>
                <a:latin typeface="Times New Roman"/>
                <a:cs typeface="Times New Roman"/>
              </a:rPr>
              <a:t>autoclavable</a:t>
            </a: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. </a:t>
            </a:r>
          </a:p>
          <a:p>
            <a:pPr marL="457176" indent="-457176" algn="l" rtl="0" hangingPunct="0">
              <a:spcAft>
                <a:spcPts val="1801"/>
              </a:spcAft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Not </a:t>
            </a:r>
            <a:r>
              <a:rPr lang="en-US" altLang="ja-JP" sz="3100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metabolized by </a:t>
            </a: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the microorganisms</a:t>
            </a:r>
          </a:p>
          <a:p>
            <a:pPr marL="457176" indent="-457176" algn="l" rtl="0" hangingPunct="0">
              <a:spcAft>
                <a:spcPts val="1801"/>
              </a:spcAft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Not </a:t>
            </a:r>
            <a:r>
              <a:rPr lang="en-US" altLang="ja-JP" sz="3100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impairing </a:t>
            </a: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oxygen transfer. </a:t>
            </a:r>
          </a:p>
          <a:p>
            <a:pPr marL="457176" indent="-457176" algn="l" rtl="0" hangingPunct="0">
              <a:spcAft>
                <a:spcPts val="1801"/>
              </a:spcAft>
              <a:buFont typeface="+mj-lt"/>
              <a:buAutoNum type="arabicPeriod"/>
            </a:pPr>
            <a:r>
              <a:rPr lang="en-US" altLang="ja-JP" sz="3100" b="0" dirty="0">
                <a:solidFill>
                  <a:srgbClr val="000000"/>
                </a:solidFill>
                <a:latin typeface="Times New Roman"/>
                <a:cs typeface="Times New Roman"/>
              </a:rPr>
              <a:t>Be active in small concentrations, cheap, and persistent. </a:t>
            </a:r>
          </a:p>
          <a:p>
            <a:pPr algn="l" rtl="0" hangingPunct="0"/>
            <a:endParaRPr lang="ja-JP" altLang="en-US" sz="3100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8038" y="436665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Anti-foaming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01805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69909" y="1987878"/>
            <a:ext cx="10770702" cy="75200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algn="l" rtl="0" hangingPunct="0"/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Contamination by a foreign organism may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result in: </a:t>
            </a:r>
          </a:p>
          <a:p>
            <a:pPr algn="l" rtl="0" hangingPunct="0"/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Contamination of the final product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Medium would be consumed unnecessarily to support growth of contaminating organism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Contaminated product will overweigh the desire product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Contaminated product may interfere with the recovery of the desired product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Unsterile air in aerobic fermentation may result in the spoilage of the fermentation product </a:t>
            </a:r>
          </a:p>
          <a:p>
            <a:pPr rtl="0" latinLnBrk="1" hangingPunct="0"/>
            <a:endParaRPr lang="ja-JP" alt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8038" y="436665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Sterilization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64474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69909" y="2173618"/>
            <a:ext cx="10770702" cy="650434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marL="742912" indent="-742912" algn="l" rtl="0" hangingPunct="0">
              <a:spcAft>
                <a:spcPts val="2399"/>
              </a:spcAft>
              <a:buFont typeface="+mj-lt"/>
              <a:buAutoNum type="arabicPeriod"/>
            </a:pPr>
            <a:r>
              <a:rPr lang="en-US" altLang="ja-JP"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Sterilization of medium </a:t>
            </a:r>
          </a:p>
          <a:p>
            <a:pPr marL="742912" indent="-742912" algn="l" rtl="0" hangingPunct="0">
              <a:spcAft>
                <a:spcPts val="2399"/>
              </a:spcAft>
              <a:buFont typeface="+mj-lt"/>
              <a:buAutoNum type="arabicPeriod"/>
            </a:pPr>
            <a:r>
              <a:rPr lang="en-US" altLang="ja-JP"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Employing as pure inoculum as possible </a:t>
            </a:r>
          </a:p>
          <a:p>
            <a:pPr marL="742912" indent="-742912" algn="l" rtl="0" hangingPunct="0">
              <a:spcAft>
                <a:spcPts val="2399"/>
              </a:spcAft>
              <a:buFont typeface="+mj-lt"/>
              <a:buAutoNum type="arabicPeriod"/>
            </a:pPr>
            <a:r>
              <a:rPr lang="en-US" altLang="ja-JP"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Sterilization of fermenter </a:t>
            </a:r>
          </a:p>
          <a:p>
            <a:pPr marL="742912" indent="-742912" algn="l" rtl="0" hangingPunct="0">
              <a:spcAft>
                <a:spcPts val="2399"/>
              </a:spcAft>
              <a:buFont typeface="+mj-lt"/>
              <a:buAutoNum type="arabicPeriod"/>
            </a:pPr>
            <a:r>
              <a:rPr lang="en-US" altLang="ja-JP"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Sterilization of pipes, valves, etc. Which come in contact with the fermentation process </a:t>
            </a:r>
          </a:p>
          <a:p>
            <a:pPr marL="742912" indent="-742912" algn="l" rtl="0" hangingPunct="0">
              <a:spcAft>
                <a:spcPts val="2399"/>
              </a:spcAft>
              <a:buFont typeface="+mj-lt"/>
              <a:buAutoNum type="arabicPeriod"/>
            </a:pPr>
            <a:r>
              <a:rPr lang="en-US" altLang="ja-JP"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Sterilization of all materials to be added to fermenter </a:t>
            </a:r>
          </a:p>
          <a:p>
            <a:pPr marL="742912" indent="-742912" algn="l" rtl="0" hangingPunct="0">
              <a:spcAft>
                <a:spcPts val="2399"/>
              </a:spcAft>
              <a:buFont typeface="+mj-lt"/>
              <a:buAutoNum type="arabicPeriod"/>
            </a:pPr>
            <a:r>
              <a:rPr lang="en-US" altLang="ja-JP" sz="4000" b="0" dirty="0">
                <a:solidFill>
                  <a:srgbClr val="000000"/>
                </a:solidFill>
                <a:latin typeface="Times New Roman"/>
                <a:cs typeface="Times New Roman"/>
              </a:rPr>
              <a:t>Sterilization of air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8038" y="436665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Sterilization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51186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1224" y="1886233"/>
            <a:ext cx="11264556" cy="838178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algn="l" rtl="0" hangingPunct="0"/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Medium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contamination can lead to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</a:p>
          <a:p>
            <a:pPr algn="l" rtl="0" hangingPunct="0"/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Other type of organism to use the nutrients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This can lead to changes in chemical structure of the nutrients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Change in pH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Foam formation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Formation of metabolic products–leads to growth of fermentation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Alter the oxidation/reduction potential of the medium </a:t>
            </a:r>
          </a:p>
          <a:p>
            <a:pPr marL="742912" indent="-742912" algn="l" rtl="0" hangingPunct="0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Destroy/alter/degrade fermentation product </a:t>
            </a:r>
          </a:p>
          <a:p>
            <a:pPr algn="l" rtl="0" hangingPunct="0"/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rtl="0" latinLnBrk="1" hangingPunct="0"/>
            <a:endParaRPr lang="ja-JP" altLang="en-US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8038" y="342596"/>
            <a:ext cx="1204314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lvl="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Sterilization of medium</a:t>
            </a:r>
          </a:p>
          <a:p>
            <a:pPr rtl="0" latinLnBrk="1" hangingPunct="0"/>
            <a:endParaRPr lang="ja-JP" altLang="en-US" sz="6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0762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1139493" y="2832733"/>
            <a:ext cx="10883664" cy="7776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399" tIns="25399" rIns="25399" bIns="25399" anchor="ctr">
            <a:spAutoFit/>
          </a:bodyPr>
          <a:lstStyle/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altLang="ja-JP" sz="5400" dirty="0" smtClean="0">
                <a:latin typeface="Times New Roman"/>
                <a:ea typeface="Times New Roman"/>
                <a:cs typeface="Times New Roman"/>
                <a:sym typeface="Times New Roman"/>
              </a:rPr>
              <a:t>Batch fermentation</a:t>
            </a:r>
          </a:p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endParaRPr lang="en-US" altLang="ja-JP" sz="54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altLang="ja-JP" sz="5400" dirty="0" smtClean="0">
                <a:latin typeface="Times New Roman"/>
                <a:ea typeface="Times New Roman"/>
                <a:cs typeface="Times New Roman"/>
                <a:sym typeface="Times New Roman"/>
              </a:rPr>
              <a:t>Fed</a:t>
            </a:r>
            <a:r>
              <a:rPr lang="en-US" altLang="ja-JP" sz="5400" dirty="0">
                <a:latin typeface="Times New Roman"/>
                <a:ea typeface="Times New Roman"/>
                <a:cs typeface="Times New Roman"/>
                <a:sym typeface="Times New Roman"/>
              </a:rPr>
              <a:t>-batch </a:t>
            </a:r>
            <a:r>
              <a:rPr lang="en-US" altLang="ja-JP" sz="5400" dirty="0" smtClean="0">
                <a:latin typeface="Times New Roman"/>
                <a:ea typeface="Times New Roman"/>
                <a:cs typeface="Times New Roman"/>
                <a:sym typeface="Times New Roman"/>
              </a:rPr>
              <a:t>fermentation</a:t>
            </a:r>
          </a:p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endParaRPr lang="en-US" altLang="ja-JP" sz="54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r>
              <a:rPr lang="en-US" altLang="ja-JP" sz="5400" dirty="0">
                <a:latin typeface="Times New Roman"/>
                <a:ea typeface="Times New Roman"/>
                <a:cs typeface="Times New Roman"/>
                <a:sym typeface="Times New Roman"/>
              </a:rPr>
              <a:t>continuous fermentation</a:t>
            </a:r>
          </a:p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endParaRPr lang="en-US" altLang="ja-JP" sz="5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endParaRPr lang="en-US" sz="5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indent="-742950" algn="l" defTabSz="457176">
              <a:spcBef>
                <a:spcPts val="1200"/>
              </a:spcBef>
              <a:buFont typeface="+mj-lt"/>
              <a:buAutoNum type="arabicPeriod"/>
              <a:defRPr sz="1800" b="0"/>
            </a:pPr>
            <a:endParaRPr lang="en-US" sz="5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53498" y="854774"/>
            <a:ext cx="9883815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>
                <a:solidFill>
                  <a:srgbClr val="FF0000"/>
                </a:solidFill>
                <a:latin typeface="Arial"/>
                <a:cs typeface="Arial"/>
              </a:rPr>
              <a:t>Fermentation modes of </a:t>
            </a:r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operation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33609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16030"/>
            <a:ext cx="9843790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Batch </a:t>
            </a:r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Fermentation </a:t>
            </a:r>
          </a:p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ja-JP" sz="6000" b="0" i="1" dirty="0" smtClean="0">
                <a:solidFill>
                  <a:srgbClr val="FF0000"/>
                </a:solidFill>
                <a:latin typeface="Arial"/>
                <a:cs typeface="Arial"/>
              </a:rPr>
              <a:t>A closed system</a:t>
            </a:r>
            <a:endParaRPr lang="en-US" altLang="ja-JP" sz="6000" b="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71" y="2508334"/>
            <a:ext cx="12497760" cy="63491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595158" y="9231557"/>
            <a:ext cx="240964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1600" b="0" i="1" baseline="30000" dirty="0">
                <a:latin typeface="Times New Roman"/>
                <a:cs typeface="Times New Roman"/>
              </a:rPr>
              <a:t>Practical Fermentation </a:t>
            </a:r>
            <a:r>
              <a:rPr lang="en-US" altLang="ja-JP" sz="1600" b="0" i="1" baseline="30000" dirty="0" smtClean="0">
                <a:latin typeface="Times New Roman"/>
                <a:cs typeface="Times New Roman"/>
              </a:rPr>
              <a:t>Technology,</a:t>
            </a:r>
            <a:r>
              <a:rPr lang="en-US" altLang="ja-JP" sz="1600" b="0" i="1" dirty="0" smtClean="0">
                <a:latin typeface="Times New Roman"/>
                <a:cs typeface="Times New Roman"/>
              </a:rPr>
              <a:t>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McNeil &amp;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Harvey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John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Wiley &amp;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Sons</a:t>
            </a:r>
            <a:endParaRPr lang="ja-JP" altLang="en-US" sz="16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29361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Batch </a:t>
            </a:r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8013" y="2323041"/>
            <a:ext cx="11344556" cy="62581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584200" rtl="0" hangingPunct="0"/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Batch fermentation </a:t>
            </a:r>
            <a:r>
              <a:rPr lang="en-US" altLang="ja-JP" sz="4000" b="0" dirty="0">
                <a:latin typeface="Times New Roman"/>
                <a:ea typeface="ＭＳ 明朝"/>
                <a:cs typeface="Times New Roman"/>
              </a:rPr>
              <a:t>is </a:t>
            </a:r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terminated </a:t>
            </a:r>
            <a:r>
              <a:rPr lang="en-US" altLang="ja-JP" sz="4000" b="0" dirty="0">
                <a:latin typeface="Times New Roman"/>
                <a:ea typeface="ＭＳ 明朝"/>
                <a:cs typeface="Times New Roman"/>
              </a:rPr>
              <a:t>when one or more of the following has been reached: </a:t>
            </a:r>
            <a:endParaRPr lang="en-US" altLang="ja-JP" sz="4000" b="0" dirty="0" smtClean="0">
              <a:latin typeface="Times New Roman"/>
              <a:ea typeface="ＭＳ 明朝"/>
              <a:cs typeface="Times New Roman"/>
            </a:endParaRPr>
          </a:p>
          <a:p>
            <a:pPr algn="l" defTabSz="584200" rtl="0" hangingPunct="0"/>
            <a:endParaRPr lang="en-US" altLang="ja-JP" sz="4000" b="0" dirty="0" smtClean="0">
              <a:latin typeface="Times New Roman"/>
              <a:ea typeface="ＭＳ 明朝"/>
              <a:cs typeface="Times New Roman"/>
            </a:endParaRPr>
          </a:p>
          <a:p>
            <a:pPr marL="857250" indent="-857250" algn="l" defTabSz="584200" rtl="0" hangingPunct="0">
              <a:buAutoNum type="romanLcParenBoth"/>
            </a:pPr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Microbial </a:t>
            </a:r>
            <a:r>
              <a:rPr lang="en-US" altLang="ja-JP" sz="4000" b="0" dirty="0">
                <a:latin typeface="Times New Roman"/>
                <a:ea typeface="ＭＳ 明朝"/>
                <a:cs typeface="Times New Roman"/>
              </a:rPr>
              <a:t>growth has stopped due to the depletion of the nutrients or the build </a:t>
            </a:r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up of </a:t>
            </a:r>
            <a:r>
              <a:rPr lang="en-US" altLang="ja-JP" sz="4000" b="0" dirty="0">
                <a:latin typeface="Times New Roman"/>
                <a:ea typeface="ＭＳ 明朝"/>
                <a:cs typeface="Times New Roman"/>
              </a:rPr>
              <a:t>toxic </a:t>
            </a:r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compounds</a:t>
            </a:r>
          </a:p>
          <a:p>
            <a:pPr marL="857250" indent="-857250" algn="l" defTabSz="584200" rtl="0" hangingPunct="0">
              <a:buAutoNum type="romanLcParenBoth"/>
            </a:pPr>
            <a:endParaRPr lang="en-US" altLang="ja-JP" sz="4000" b="0" dirty="0" smtClean="0">
              <a:latin typeface="Times New Roman"/>
              <a:ea typeface="ＭＳ 明朝"/>
              <a:cs typeface="Times New Roman"/>
            </a:endParaRPr>
          </a:p>
          <a:p>
            <a:pPr marL="857250" indent="-857250" algn="l" defTabSz="584200" rtl="0" hangingPunct="0">
              <a:buAutoNum type="romanLcParenBoth"/>
            </a:pPr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After </a:t>
            </a:r>
            <a:r>
              <a:rPr lang="en-US" altLang="ja-JP" sz="4000" b="0" dirty="0">
                <a:latin typeface="Times New Roman"/>
                <a:ea typeface="ＭＳ 明朝"/>
                <a:cs typeface="Times New Roman"/>
              </a:rPr>
              <a:t>a fixed predetermined period of </a:t>
            </a:r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time</a:t>
            </a:r>
          </a:p>
          <a:p>
            <a:pPr algn="l" defTabSz="584200" rtl="0" hangingPunct="0"/>
            <a:endParaRPr lang="en-US" altLang="ja-JP" sz="4000" b="0" dirty="0" smtClean="0">
              <a:latin typeface="Times New Roman"/>
              <a:ea typeface="ＭＳ 明朝"/>
              <a:cs typeface="Times New Roman"/>
            </a:endParaRPr>
          </a:p>
          <a:p>
            <a:pPr marL="857250" indent="-857250" algn="l" defTabSz="584200" rtl="0" hangingPunct="0">
              <a:buAutoNum type="romanLcParenBoth"/>
            </a:pPr>
            <a:r>
              <a:rPr lang="en-US" altLang="ja-JP" sz="4000" b="0" dirty="0" smtClean="0">
                <a:latin typeface="Times New Roman"/>
                <a:ea typeface="ＭＳ 明朝"/>
                <a:cs typeface="Times New Roman"/>
              </a:rPr>
              <a:t> The </a:t>
            </a:r>
            <a:r>
              <a:rPr lang="en-US" altLang="ja-JP" sz="4000" b="0" dirty="0">
                <a:latin typeface="Times New Roman"/>
                <a:ea typeface="ＭＳ 明朝"/>
                <a:cs typeface="Times New Roman"/>
              </a:rPr>
              <a:t>concentration of desired product has been achieved.</a:t>
            </a:r>
            <a:r>
              <a:rPr lang="en-US" altLang="ja-JP" sz="4000" b="0" dirty="0">
                <a:latin typeface="Times New Roman"/>
                <a:cs typeface="Times New Roman"/>
              </a:rPr>
              <a:t> </a:t>
            </a:r>
            <a:endParaRPr kumimoji="0" lang="ja-JP" altLang="en-US" sz="4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cs typeface="Times New Roman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773768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Batch </a:t>
            </a:r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8" y="2518723"/>
            <a:ext cx="6458002" cy="48558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338" y="2565347"/>
            <a:ext cx="6655462" cy="46245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153" y="7974817"/>
            <a:ext cx="5481669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  <a:sym typeface="Helvetica"/>
              </a:rPr>
              <a:t>Primary metabolites or cell mass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ja-JP" sz="3200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Growth associated</a:t>
            </a:r>
            <a:endParaRPr kumimoji="0" lang="ja-JP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cs typeface="Times New Roman"/>
              <a:sym typeface="Helvetic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70456" y="7974817"/>
            <a:ext cx="3911327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cs typeface="Times New Roman"/>
                <a:sym typeface="Helvetica"/>
              </a:rPr>
              <a:t>Secondary metabolites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ja-JP" sz="3200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Non-growth associated</a:t>
            </a:r>
            <a:endParaRPr kumimoji="0" lang="ja-JP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cs typeface="Times New Roman"/>
              <a:sym typeface="Helvetic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95158" y="9231557"/>
            <a:ext cx="240964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1600" b="0" i="1" baseline="30000" dirty="0">
                <a:latin typeface="Times New Roman"/>
                <a:cs typeface="Times New Roman"/>
              </a:rPr>
              <a:t>Practical Fermentation </a:t>
            </a:r>
            <a:r>
              <a:rPr lang="en-US" altLang="ja-JP" sz="1600" b="0" i="1" baseline="30000" dirty="0" smtClean="0">
                <a:latin typeface="Times New Roman"/>
                <a:cs typeface="Times New Roman"/>
              </a:rPr>
              <a:t>Technology,</a:t>
            </a:r>
            <a:r>
              <a:rPr lang="en-US" altLang="ja-JP" sz="1600" b="0" i="1" dirty="0" smtClean="0">
                <a:latin typeface="Times New Roman"/>
                <a:cs typeface="Times New Roman"/>
              </a:rPr>
              <a:t>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McNeil &amp;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Harvey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John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Wiley &amp;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Sons</a:t>
            </a:r>
            <a:endParaRPr lang="ja-JP" altLang="en-US" sz="16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64532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Batch </a:t>
            </a:r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7173" y="2071827"/>
            <a:ext cx="11516769" cy="680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dirty="0" smtClean="0">
                <a:latin typeface="Times New Roman"/>
                <a:cs typeface="Times New Roman"/>
              </a:rPr>
              <a:t>Advantages:</a:t>
            </a:r>
          </a:p>
          <a:p>
            <a:pPr algn="l"/>
            <a:endParaRPr lang="en-US" altLang="ja-JP" dirty="0" smtClean="0"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Simplicity of use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Operability and reliability: less likely to have instrument failure on short batch runs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Production of secondary metabolites that are not growth-related 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Fewer possibilities of contamination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It is easy to assign a unique batch number to each run, generating high confidence in the history of each batch of product</a:t>
            </a:r>
          </a:p>
        </p:txBody>
      </p:sp>
    </p:spTree>
    <p:extLst>
      <p:ext uri="{BB962C8B-B14F-4D97-AF65-F5344CB8AC3E}">
        <p14:creationId xmlns:p14="http://schemas.microsoft.com/office/powerpoint/2010/main" val="34290322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310417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>
                <a:solidFill>
                  <a:srgbClr val="FF0000"/>
                </a:solidFill>
                <a:latin typeface="Arial"/>
                <a:cs typeface="Arial"/>
              </a:rPr>
              <a:t>Batch </a:t>
            </a:r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7173" y="1560898"/>
            <a:ext cx="11000129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2800" dirty="0" smtClean="0">
                <a:latin typeface="Times New Roman"/>
                <a:cs typeface="Times New Roman"/>
              </a:rPr>
              <a:t>Disadvantages:</a:t>
            </a:r>
          </a:p>
          <a:p>
            <a:pPr algn="l"/>
            <a:endParaRPr lang="en-US" altLang="ja-JP" sz="2800" b="0" dirty="0" smtClean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Culture ageing, and more importantly differentiation, can be a specific problem, especially so with growth-related products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Build up of toxic </a:t>
            </a:r>
            <a:r>
              <a:rPr lang="en-US" altLang="ja-JP" sz="2800" b="0" dirty="0" smtClean="0">
                <a:latin typeface="Times New Roman"/>
                <a:cs typeface="Times New Roman"/>
              </a:rPr>
              <a:t>metabolites and acids </a:t>
            </a:r>
            <a:endParaRPr lang="en-US" altLang="ja-JP" sz="2800" b="0" dirty="0" smtClean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Initial substrate concentrations may have to be limited due to problems with inhibition and repression effects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Batch-to-batch variability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The use of batch cultures in industrial systems can lead to an increased </a:t>
            </a:r>
            <a:r>
              <a:rPr lang="en-US" altLang="ja-JP" sz="2800" b="0" dirty="0" smtClean="0">
                <a:latin typeface="Times New Roman"/>
                <a:cs typeface="Times New Roman"/>
              </a:rPr>
              <a:t>nonproductive output</a:t>
            </a:r>
            <a:endParaRPr lang="en-US" altLang="ja-JP" sz="2800" b="0" dirty="0" smtClean="0">
              <a:latin typeface="Times New Roman"/>
              <a:cs typeface="Times New Roman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Period due to down time required for cleaning, re-sterilization, filling and cooling of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Equipment;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If using the organism from one bioprocess to seed another culture, degeneration or differentiation may occur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Cellular autolysis may occur during the decline and stationary phase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ja-JP" sz="2800" b="0" dirty="0" smtClean="0">
                <a:latin typeface="Times New Roman"/>
                <a:cs typeface="Times New Roman"/>
              </a:rPr>
              <a:t>Complexity of the culture since the cell population is heterogeneous and constantly changing. </a:t>
            </a:r>
            <a:endParaRPr lang="en-US" altLang="ja-JP" sz="28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83153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062" y="2409092"/>
            <a:ext cx="7937226" cy="57239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11215" y="893835"/>
            <a:ext cx="10199077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Example of a culture</a:t>
            </a:r>
            <a:r>
              <a:rPr kumimoji="0" lang="en-US" sz="36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 differentiation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87274810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482617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Fed-batch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7173" y="2175331"/>
            <a:ext cx="11000129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lang="en-US" altLang="ja-JP" sz="3200" b="0" dirty="0">
                <a:latin typeface="Times New Roman"/>
                <a:cs typeface="Times New Roman"/>
              </a:rPr>
              <a:t>Similar to batch culture, but do not operate as closed systems</a:t>
            </a:r>
            <a:r>
              <a:rPr lang="en-US" altLang="ja-JP" sz="3200" b="0" dirty="0" smtClean="0">
                <a:latin typeface="Times New Roman"/>
                <a:cs typeface="Times New Roman"/>
              </a:rPr>
              <a:t>.</a:t>
            </a:r>
          </a:p>
          <a:p>
            <a:pPr marL="457200" indent="-457200" algn="l">
              <a:buFont typeface="Arial"/>
              <a:buChar char="•"/>
            </a:pPr>
            <a:endParaRPr lang="en-US" altLang="ja-JP" sz="3200" b="0" dirty="0">
              <a:latin typeface="Times New Roman"/>
              <a:cs typeface="Times New Roman"/>
            </a:endParaRPr>
          </a:p>
          <a:p>
            <a:pPr marL="457200" indent="-457200" algn="l">
              <a:buFont typeface="Arial"/>
              <a:buChar char="•"/>
            </a:pPr>
            <a:r>
              <a:rPr lang="en-US" altLang="ja-JP" sz="3200" b="0" dirty="0">
                <a:latin typeface="Times New Roman"/>
                <a:cs typeface="Times New Roman"/>
              </a:rPr>
              <a:t>At a given point during the fed-batch process one or more substrates, nutrients, and/or inducers are introduced into the bioreactor. </a:t>
            </a:r>
            <a:endParaRPr lang="en-US" altLang="ja-JP" sz="3200" b="0" dirty="0" smtClean="0">
              <a:latin typeface="Times New Roman"/>
              <a:cs typeface="Times New Roman"/>
            </a:endParaRPr>
          </a:p>
          <a:p>
            <a:pPr marL="457200" indent="-457200" algn="l">
              <a:buFont typeface="Arial"/>
              <a:buChar char="•"/>
            </a:pPr>
            <a:endParaRPr lang="en-US" altLang="ja-JP" sz="3200" b="0" dirty="0">
              <a:latin typeface="Times New Roman"/>
              <a:cs typeface="Times New Roman"/>
            </a:endParaRPr>
          </a:p>
          <a:p>
            <a:pPr marL="457200" indent="-457200" algn="l">
              <a:buFont typeface="Arial"/>
              <a:buChar char="•"/>
            </a:pPr>
            <a:r>
              <a:rPr lang="en-US" altLang="ja-JP" sz="3200" b="0" dirty="0">
                <a:latin typeface="Times New Roman"/>
                <a:cs typeface="Times New Roman"/>
              </a:rPr>
              <a:t>Fed-batch cultures can be run in different </a:t>
            </a:r>
            <a:r>
              <a:rPr lang="en-US" altLang="ja-JP" sz="3200" b="0" dirty="0" smtClean="0">
                <a:latin typeface="Times New Roman"/>
                <a:cs typeface="Times New Roman"/>
              </a:rPr>
              <a:t>ways, e.g. at </a:t>
            </a:r>
            <a:r>
              <a:rPr lang="en-US" altLang="ja-JP" sz="3200" b="0" dirty="0">
                <a:latin typeface="Times New Roman"/>
                <a:cs typeface="Times New Roman"/>
              </a:rPr>
              <a:t>fixed volume </a:t>
            </a:r>
            <a:r>
              <a:rPr lang="en-US" altLang="ja-JP" sz="3200" b="0" dirty="0" smtClean="0">
                <a:latin typeface="Times New Roman"/>
                <a:cs typeface="Times New Roman"/>
              </a:rPr>
              <a:t>or at </a:t>
            </a:r>
            <a:r>
              <a:rPr lang="en-US" altLang="ja-JP" sz="3200" b="0" dirty="0">
                <a:latin typeface="Times New Roman"/>
                <a:cs typeface="Times New Roman"/>
              </a:rPr>
              <a:t>a variable volume </a:t>
            </a:r>
            <a:endParaRPr lang="en-US" altLang="ja-JP" sz="3200" b="0" dirty="0" smtClean="0">
              <a:latin typeface="Times New Roman"/>
              <a:cs typeface="Times New Roman"/>
            </a:endParaRPr>
          </a:p>
          <a:p>
            <a:pPr marL="457200" indent="-457200" algn="l">
              <a:buFont typeface="Arial"/>
              <a:buChar char="•"/>
            </a:pPr>
            <a:endParaRPr lang="en-US" altLang="ja-JP" sz="3200" b="0" dirty="0">
              <a:latin typeface="Times New Roman"/>
              <a:cs typeface="Times New Roman"/>
            </a:endParaRPr>
          </a:p>
          <a:p>
            <a:pPr marL="457200" indent="-457200" algn="l">
              <a:buFont typeface="Arial"/>
              <a:buChar char="•"/>
            </a:pPr>
            <a:r>
              <a:rPr lang="en-US" altLang="ja-JP" sz="3200" b="0" dirty="0">
                <a:latin typeface="Times New Roman"/>
                <a:cs typeface="Times New Roman"/>
              </a:rPr>
              <a:t>This feeding strategy allows the organism to grow at the desired specific growth rate, </a:t>
            </a:r>
            <a:r>
              <a:rPr lang="en-US" altLang="ja-JP" sz="3200" b="0" dirty="0" smtClean="0">
                <a:latin typeface="Times New Roman"/>
                <a:cs typeface="Times New Roman"/>
              </a:rPr>
              <a:t>minimizing </a:t>
            </a:r>
            <a:r>
              <a:rPr lang="en-US" altLang="ja-JP" sz="3200" b="0" dirty="0">
                <a:latin typeface="Times New Roman"/>
                <a:cs typeface="Times New Roman"/>
              </a:rPr>
              <a:t>the production of unwanted by-products, and allowing the achievement of high cell densities and product concentrations. </a:t>
            </a:r>
          </a:p>
        </p:txBody>
      </p:sp>
    </p:spTree>
    <p:extLst>
      <p:ext uri="{BB962C8B-B14F-4D97-AF65-F5344CB8AC3E}">
        <p14:creationId xmlns:p14="http://schemas.microsoft.com/office/powerpoint/2010/main" val="1960803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482617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Fed-batch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0" y="1508539"/>
            <a:ext cx="12184756" cy="78353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95158" y="9231557"/>
            <a:ext cx="240964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1600" b="0" i="1" baseline="30000" dirty="0">
                <a:latin typeface="Times New Roman"/>
                <a:cs typeface="Times New Roman"/>
              </a:rPr>
              <a:t>Practical Fermentation </a:t>
            </a:r>
            <a:r>
              <a:rPr lang="en-US" altLang="ja-JP" sz="1600" b="0" i="1" baseline="30000" dirty="0" smtClean="0">
                <a:latin typeface="Times New Roman"/>
                <a:cs typeface="Times New Roman"/>
              </a:rPr>
              <a:t>Technology,</a:t>
            </a:r>
            <a:r>
              <a:rPr lang="en-US" altLang="ja-JP" sz="1600" b="0" i="1" dirty="0" smtClean="0">
                <a:latin typeface="Times New Roman"/>
                <a:cs typeface="Times New Roman"/>
              </a:rPr>
              <a:t>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McNeil &amp;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Harvey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John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Wiley &amp;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Sons</a:t>
            </a:r>
            <a:endParaRPr lang="ja-JP" altLang="en-US" sz="16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7398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2441" y="605728"/>
            <a:ext cx="10935548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400" dirty="0" smtClean="0">
                <a:solidFill>
                  <a:srgbClr val="FF0000"/>
                </a:solidFill>
                <a:latin typeface="Arial"/>
                <a:cs typeface="Arial"/>
              </a:rPr>
              <a:t>Feeding </a:t>
            </a:r>
            <a:r>
              <a:rPr lang="en-US" altLang="ja-JP" sz="4400" dirty="0">
                <a:solidFill>
                  <a:srgbClr val="FF0000"/>
                </a:solidFill>
                <a:latin typeface="Arial"/>
                <a:cs typeface="Arial"/>
              </a:rPr>
              <a:t>regimes in fed-batch processes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62" y="2236716"/>
            <a:ext cx="5984414" cy="73445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576" y="1861301"/>
            <a:ext cx="6683061" cy="7480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25417" y="2330165"/>
            <a:ext cx="157906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3200" b="0" i="1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Helvetica"/>
                <a:cs typeface="Times New Roman"/>
                <a:sym typeface="Helvetica"/>
              </a:rPr>
              <a:t>variable</a:t>
            </a:r>
            <a:endParaRPr kumimoji="0" lang="ja-JP" altLang="en-US" sz="3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Helvetica"/>
              <a:cs typeface="Times New Roman"/>
              <a:sym typeface="Helvetic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1529" y="6206422"/>
            <a:ext cx="201248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3200" b="0" i="1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Helvetica"/>
                <a:cs typeface="Times New Roman"/>
                <a:sym typeface="Helvetica"/>
              </a:rPr>
              <a:t>continuous</a:t>
            </a:r>
            <a:endParaRPr kumimoji="0" lang="ja-JP" altLang="en-US" sz="3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Helvetica"/>
              <a:cs typeface="Times New Roman"/>
              <a:sym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43769" y="6206422"/>
            <a:ext cx="217157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3200" b="0" i="1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Helvetica"/>
                <a:cs typeface="Times New Roman"/>
                <a:sym typeface="Helvetica"/>
              </a:rPr>
              <a:t>incremental</a:t>
            </a:r>
            <a:endParaRPr kumimoji="0" lang="ja-JP" altLang="en-US" sz="3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Helvetica"/>
              <a:cs typeface="Times New Roman"/>
              <a:sym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66414" y="2032647"/>
            <a:ext cx="212629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3200" b="0" i="1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Helvetica"/>
                <a:cs typeface="Times New Roman"/>
                <a:sym typeface="Helvetica"/>
              </a:rPr>
              <a:t>intermittent</a:t>
            </a:r>
            <a:endParaRPr kumimoji="0" lang="ja-JP" altLang="en-US" sz="3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Helvetica"/>
              <a:cs typeface="Times New Roman"/>
              <a:sym typeface="Helvetic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95158" y="9231557"/>
            <a:ext cx="240964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1600" b="0" i="1" baseline="30000" dirty="0">
                <a:latin typeface="Times New Roman"/>
                <a:cs typeface="Times New Roman"/>
              </a:rPr>
              <a:t>Practical Fermentation </a:t>
            </a:r>
            <a:r>
              <a:rPr lang="en-US" altLang="ja-JP" sz="1600" b="0" i="1" baseline="30000" dirty="0" smtClean="0">
                <a:latin typeface="Times New Roman"/>
                <a:cs typeface="Times New Roman"/>
              </a:rPr>
              <a:t>Technology,</a:t>
            </a:r>
            <a:r>
              <a:rPr lang="en-US" altLang="ja-JP" sz="1600" b="0" i="1" dirty="0" smtClean="0">
                <a:latin typeface="Times New Roman"/>
                <a:cs typeface="Times New Roman"/>
              </a:rPr>
              <a:t>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McNeil &amp;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Harvey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John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Wiley &amp;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Sons</a:t>
            </a:r>
            <a:endParaRPr lang="ja-JP" altLang="en-US" sz="16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53298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2441" y="605728"/>
            <a:ext cx="10935548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400" dirty="0" smtClean="0">
                <a:solidFill>
                  <a:srgbClr val="FF0000"/>
                </a:solidFill>
                <a:latin typeface="Arial"/>
                <a:cs typeface="Arial"/>
              </a:rPr>
              <a:t>Feeding </a:t>
            </a:r>
            <a:r>
              <a:rPr lang="en-US" altLang="ja-JP" sz="4400" dirty="0">
                <a:solidFill>
                  <a:srgbClr val="FF0000"/>
                </a:solidFill>
                <a:latin typeface="Arial"/>
                <a:cs typeface="Arial"/>
              </a:rPr>
              <a:t>regimes in fed-batch processes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6" y="2141364"/>
            <a:ext cx="11724448" cy="70283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595158" y="9188507"/>
            <a:ext cx="240964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1600" b="0" i="1" baseline="30000" dirty="0">
                <a:latin typeface="Times New Roman"/>
                <a:cs typeface="Times New Roman"/>
              </a:rPr>
              <a:t>Practical Fermentation </a:t>
            </a:r>
            <a:r>
              <a:rPr lang="en-US" altLang="ja-JP" sz="1600" b="0" i="1" baseline="30000" dirty="0" smtClean="0">
                <a:latin typeface="Times New Roman"/>
                <a:cs typeface="Times New Roman"/>
              </a:rPr>
              <a:t>Technology,</a:t>
            </a:r>
            <a:r>
              <a:rPr lang="en-US" altLang="ja-JP" sz="1600" b="0" i="1" dirty="0" smtClean="0">
                <a:latin typeface="Times New Roman"/>
                <a:cs typeface="Times New Roman"/>
              </a:rPr>
              <a:t>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McNeil &amp;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Harvey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John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Wiley &amp;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Sons</a:t>
            </a:r>
            <a:endParaRPr lang="ja-JP" altLang="en-US" sz="16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098403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Fed-batch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7173" y="2394705"/>
            <a:ext cx="11516769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3200" dirty="0" smtClean="0">
                <a:latin typeface="Times New Roman"/>
                <a:cs typeface="Times New Roman"/>
              </a:rPr>
              <a:t>Advantages:</a:t>
            </a:r>
          </a:p>
          <a:p>
            <a:pPr algn="l"/>
            <a:endParaRPr lang="en-US" altLang="ja-JP" sz="3200" dirty="0" smtClean="0"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>
                <a:latin typeface="Times New Roman"/>
                <a:cs typeface="Times New Roman"/>
              </a:rPr>
              <a:t>Controlling the concentration of the limiting substrate prevents the repressive effects of high substrate concentration and avoids </a:t>
            </a:r>
            <a:r>
              <a:rPr lang="en-US" altLang="ja-JP" sz="3200" b="0" dirty="0" err="1">
                <a:latin typeface="Times New Roman"/>
                <a:cs typeface="Times New Roman"/>
              </a:rPr>
              <a:t>catabolite</a:t>
            </a:r>
            <a:r>
              <a:rPr lang="en-US" altLang="ja-JP" sz="3200" b="0" dirty="0">
                <a:latin typeface="Times New Roman"/>
                <a:cs typeface="Times New Roman"/>
              </a:rPr>
              <a:t> repression.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By </a:t>
            </a:r>
            <a:r>
              <a:rPr lang="en-US" altLang="ja-JP" sz="3200" b="0" dirty="0">
                <a:latin typeface="Times New Roman"/>
                <a:cs typeface="Times New Roman"/>
              </a:rPr>
              <a:t>careful feeding strategy the organism’s growth rate and subsequent oxygen demand can be controlled. 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High </a:t>
            </a:r>
            <a:r>
              <a:rPr lang="en-US" altLang="ja-JP" sz="3200" b="0" dirty="0">
                <a:latin typeface="Times New Roman"/>
                <a:cs typeface="Times New Roman"/>
              </a:rPr>
              <a:t>cell density (up to ten times greater) can be achieved by use of fed-batch over batch culture. 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Increased </a:t>
            </a:r>
            <a:r>
              <a:rPr lang="en-US" altLang="ja-JP" sz="3200" b="0" dirty="0">
                <a:latin typeface="Times New Roman"/>
                <a:cs typeface="Times New Roman"/>
              </a:rPr>
              <a:t>production of non-growth-related secondary metabolites. 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Reduction </a:t>
            </a:r>
            <a:r>
              <a:rPr lang="en-US" altLang="ja-JP" sz="3200" b="0" dirty="0">
                <a:latin typeface="Times New Roman"/>
                <a:cs typeface="Times New Roman"/>
              </a:rPr>
              <a:t>of broth viscosity. </a:t>
            </a:r>
          </a:p>
        </p:txBody>
      </p:sp>
    </p:spTree>
    <p:extLst>
      <p:ext uri="{BB962C8B-B14F-4D97-AF65-F5344CB8AC3E}">
        <p14:creationId xmlns:p14="http://schemas.microsoft.com/office/powerpoint/2010/main" val="22876142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Fed-batch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7173" y="2394705"/>
            <a:ext cx="11516769" cy="5478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3200" dirty="0" smtClean="0">
                <a:latin typeface="Times New Roman"/>
                <a:cs typeface="Times New Roman"/>
              </a:rPr>
              <a:t>Disadvantages:</a:t>
            </a:r>
          </a:p>
          <a:p>
            <a:pPr algn="l"/>
            <a:endParaRPr lang="en-US" altLang="ja-JP" sz="3200" dirty="0" smtClean="0"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Detailed </a:t>
            </a:r>
            <a:r>
              <a:rPr lang="en-US" altLang="ja-JP" sz="3200" b="0" dirty="0">
                <a:latin typeface="Times New Roman"/>
                <a:cs typeface="Times New Roman"/>
              </a:rPr>
              <a:t>knowledge of the organism’s growth and product formation pattern is required, especially when no feedback loop is used.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Deficiency </a:t>
            </a:r>
            <a:r>
              <a:rPr lang="en-US" altLang="ja-JP" sz="3200" b="0" dirty="0">
                <a:latin typeface="Times New Roman"/>
                <a:cs typeface="Times New Roman"/>
              </a:rPr>
              <a:t>of reliable online sensors for accurate substrate determination in near real time.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Without </a:t>
            </a:r>
            <a:r>
              <a:rPr lang="en-US" altLang="ja-JP" sz="3200" b="0" dirty="0">
                <a:latin typeface="Times New Roman"/>
                <a:cs typeface="Times New Roman"/>
              </a:rPr>
              <a:t>feedback control, the feed is predetermined and therefore does not allow for any fluctuations within the bioprocess. </a:t>
            </a:r>
          </a:p>
          <a:p>
            <a:pPr marL="457200" indent="-45720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The </a:t>
            </a:r>
            <a:r>
              <a:rPr lang="en-US" altLang="ja-JP" sz="3200" b="0" dirty="0">
                <a:latin typeface="Times New Roman"/>
                <a:cs typeface="Times New Roman"/>
              </a:rPr>
              <a:t>process operator must be fully trained and highly skilled.</a:t>
            </a:r>
          </a:p>
        </p:txBody>
      </p:sp>
    </p:spTree>
    <p:extLst>
      <p:ext uri="{BB962C8B-B14F-4D97-AF65-F5344CB8AC3E}">
        <p14:creationId xmlns:p14="http://schemas.microsoft.com/office/powerpoint/2010/main" val="16960581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Continuous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04119" y="2265555"/>
            <a:ext cx="11516769" cy="6647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latin typeface="Times New Roman"/>
                <a:cs typeface="Times New Roman"/>
              </a:rPr>
              <a:t>Continuous </a:t>
            </a:r>
            <a:r>
              <a:rPr lang="en-US" altLang="ja-JP" b="0" dirty="0">
                <a:latin typeface="Times New Roman"/>
                <a:cs typeface="Times New Roman"/>
              </a:rPr>
              <a:t>cultivation is a method of prolonging the exponential phase </a:t>
            </a:r>
            <a:endParaRPr lang="en-US" altLang="ja-JP" b="0" dirty="0" smtClean="0"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latin typeface="Times New Roman"/>
                <a:cs typeface="Times New Roman"/>
              </a:rPr>
              <a:t>Steady state process with less </a:t>
            </a:r>
            <a:r>
              <a:rPr lang="en-US" altLang="ja-JP" b="0" dirty="0">
                <a:latin typeface="Times New Roman"/>
                <a:cs typeface="Times New Roman"/>
              </a:rPr>
              <a:t>fluctuation in nutrients, cell number or biomass. </a:t>
            </a:r>
            <a:endParaRPr lang="en-US" altLang="ja-JP" b="0" dirty="0" smtClean="0"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latin typeface="Times New Roman"/>
                <a:cs typeface="Times New Roman"/>
              </a:rPr>
              <a:t>The </a:t>
            </a:r>
            <a:r>
              <a:rPr lang="en-US" altLang="ja-JP" b="0" dirty="0">
                <a:latin typeface="Times New Roman"/>
                <a:cs typeface="Times New Roman"/>
              </a:rPr>
              <a:t>organisms are fed with fresh nutrients, and spent medium and cells are removed from the system at the same rate. </a:t>
            </a:r>
            <a:endParaRPr lang="en-US" altLang="ja-JP" b="0" dirty="0" smtClean="0"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latin typeface="Times New Roman"/>
                <a:cs typeface="Times New Roman"/>
              </a:rPr>
              <a:t>Several </a:t>
            </a:r>
            <a:r>
              <a:rPr lang="en-US" altLang="ja-JP" b="0" dirty="0">
                <a:latin typeface="Times New Roman"/>
                <a:cs typeface="Times New Roman"/>
              </a:rPr>
              <a:t>factors remain constant throughout the fermentation, such as, culture volume, biomass or cell number, product and substrate concentrations, </a:t>
            </a:r>
            <a:r>
              <a:rPr lang="en-US" altLang="ja-JP" b="0" dirty="0" smtClean="0">
                <a:latin typeface="Times New Roman"/>
                <a:cs typeface="Times New Roman"/>
              </a:rPr>
              <a:t>pH</a:t>
            </a:r>
            <a:r>
              <a:rPr lang="en-US" altLang="ja-JP" b="0" dirty="0">
                <a:latin typeface="Times New Roman"/>
                <a:cs typeface="Times New Roman"/>
              </a:rPr>
              <a:t>, temperature and dissolved oxygen. </a:t>
            </a:r>
          </a:p>
        </p:txBody>
      </p:sp>
    </p:spTree>
    <p:extLst>
      <p:ext uri="{BB962C8B-B14F-4D97-AF65-F5344CB8AC3E}">
        <p14:creationId xmlns:p14="http://schemas.microsoft.com/office/powerpoint/2010/main" val="26815471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Continuous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78" y="1616164"/>
            <a:ext cx="12168191" cy="80036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95158" y="9231557"/>
            <a:ext cx="2409642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ja-JP" sz="1600" b="0" i="1" baseline="30000" dirty="0">
                <a:latin typeface="Times New Roman"/>
                <a:cs typeface="Times New Roman"/>
              </a:rPr>
              <a:t>Practical Fermentation </a:t>
            </a:r>
            <a:r>
              <a:rPr lang="en-US" altLang="ja-JP" sz="1600" b="0" i="1" baseline="30000" dirty="0" smtClean="0">
                <a:latin typeface="Times New Roman"/>
                <a:cs typeface="Times New Roman"/>
              </a:rPr>
              <a:t>Technology,</a:t>
            </a:r>
            <a:r>
              <a:rPr lang="en-US" altLang="ja-JP" sz="1600" b="0" i="1" dirty="0" smtClean="0">
                <a:latin typeface="Times New Roman"/>
                <a:cs typeface="Times New Roman"/>
              </a:rPr>
              <a:t>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McNeil &amp;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Harvey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John </a:t>
            </a:r>
            <a:r>
              <a:rPr lang="en-US" altLang="ja-JP" sz="1600" b="0" baseline="30000" dirty="0">
                <a:latin typeface="Times New Roman"/>
                <a:cs typeface="Times New Roman"/>
              </a:rPr>
              <a:t>Wiley &amp; </a:t>
            </a:r>
            <a:r>
              <a:rPr lang="en-US" altLang="ja-JP" sz="1600" b="0" baseline="30000" dirty="0" smtClean="0">
                <a:latin typeface="Times New Roman"/>
                <a:cs typeface="Times New Roman"/>
              </a:rPr>
              <a:t>Sons</a:t>
            </a:r>
            <a:endParaRPr lang="ja-JP" altLang="en-US" sz="1600" b="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31432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96486" y="6629758"/>
            <a:ext cx="11861196" cy="4197410"/>
          </a:xfrm>
        </p:spPr>
        <p:txBody>
          <a:bodyPr>
            <a:noAutofit/>
          </a:bodyPr>
          <a:lstStyle/>
          <a:p>
            <a:r>
              <a:rPr lang="en-US" altLang="ja-JP" sz="2800" dirty="0" smtClean="0">
                <a:latin typeface="Times New Roman" charset="0"/>
              </a:rPr>
              <a:t>Rate </a:t>
            </a:r>
            <a:r>
              <a:rPr lang="en-US" altLang="ja-JP" sz="2800" dirty="0">
                <a:latin typeface="Times New Roman" charset="0"/>
              </a:rPr>
              <a:t>of incoming medium = rate of removal of medium from </a:t>
            </a:r>
            <a:r>
              <a:rPr lang="en-US" altLang="ja-JP" sz="2800" dirty="0" smtClean="0">
                <a:latin typeface="Times New Roman" charset="0"/>
              </a:rPr>
              <a:t>vessel</a:t>
            </a:r>
            <a:endParaRPr lang="en-US" altLang="ja-JP" sz="2800" dirty="0">
              <a:latin typeface="Times New Roman" charset="0"/>
            </a:endParaRPr>
          </a:p>
          <a:p>
            <a:r>
              <a:rPr lang="en-US" altLang="ja-JP" sz="2800" dirty="0" smtClean="0">
                <a:latin typeface="Times New Roman" charset="0"/>
              </a:rPr>
              <a:t>An </a:t>
            </a:r>
            <a:r>
              <a:rPr lang="en-US" altLang="ja-JP" sz="2800" dirty="0">
                <a:latin typeface="Times New Roman" charset="0"/>
              </a:rPr>
              <a:t>essential nutrient is in limiting quantities</a:t>
            </a:r>
          </a:p>
        </p:txBody>
      </p:sp>
      <p:pic>
        <p:nvPicPr>
          <p:cNvPr id="61447" name="Picture 10" descr="wiL75268_072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3"/>
          <a:stretch/>
        </p:blipFill>
        <p:spPr bwMode="auto">
          <a:xfrm>
            <a:off x="4111594" y="1033210"/>
            <a:ext cx="5319960" cy="6890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533" y="197564"/>
            <a:ext cx="122271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3200" dirty="0">
                <a:solidFill>
                  <a:srgbClr val="FF0000"/>
                </a:solidFill>
                <a:latin typeface="Arial"/>
                <a:cs typeface="Arial"/>
              </a:rPr>
              <a:t>Control Techniques for Continuous </a:t>
            </a:r>
            <a:r>
              <a:rPr lang="en-US" altLang="ja-JP" sz="3200" dirty="0" smtClean="0">
                <a:solidFill>
                  <a:srgbClr val="FF0000"/>
                </a:solidFill>
                <a:latin typeface="Arial"/>
                <a:cs typeface="Arial"/>
              </a:rPr>
              <a:t>Culture – </a:t>
            </a:r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lang="en-US" altLang="ja-JP" sz="3200" i="1" dirty="0" err="1" smtClean="0">
                <a:solidFill>
                  <a:srgbClr val="FF0000"/>
                </a:solidFill>
                <a:latin typeface="Arial"/>
                <a:cs typeface="Arial"/>
              </a:rPr>
              <a:t>chemostat</a:t>
            </a:r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32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76470" y="9268295"/>
            <a:ext cx="1838419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Helvetica"/>
                <a:cs typeface="Arial"/>
                <a:sym typeface="Helvetica"/>
              </a:rPr>
              <a:t>Microbiology </a:t>
            </a:r>
            <a:r>
              <a:rPr kumimoji="0" lang="en-US" altLang="ja-JP" sz="12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Helvetica"/>
                <a:cs typeface="Arial"/>
                <a:sym typeface="Helvetica"/>
              </a:rPr>
              <a:t>McGrow</a:t>
            </a:r>
            <a:r>
              <a:rPr kumimoji="0" lang="en-US" altLang="ja-JP" sz="12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Helvetica"/>
                <a:cs typeface="Arial"/>
                <a:sym typeface="Helvetica"/>
              </a:rPr>
              <a:t> Hill</a:t>
            </a:r>
            <a:endParaRPr kumimoji="0" lang="ja-JP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Helvetica"/>
              <a:cs typeface="Arial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01307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Text Box 4"/>
          <p:cNvSpPr txBox="1">
            <a:spLocks noChangeArrowheads="1"/>
          </p:cNvSpPr>
          <p:nvPr/>
        </p:nvSpPr>
        <p:spPr bwMode="auto">
          <a:xfrm>
            <a:off x="6502400" y="3793067"/>
            <a:ext cx="4009813" cy="912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30046" tIns="65023" rIns="130046" bIns="65023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altLang="ja-JP" sz="5100">
                <a:solidFill>
                  <a:schemeClr val="tx2"/>
                </a:solidFill>
              </a:rPr>
              <a:t>Figure 7.23</a:t>
            </a:r>
          </a:p>
        </p:txBody>
      </p:sp>
      <p:pic>
        <p:nvPicPr>
          <p:cNvPr id="62472" name="Picture 8" descr="wiL75268_072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1"/>
          <a:stretch/>
        </p:blipFill>
        <p:spPr bwMode="auto">
          <a:xfrm>
            <a:off x="2152667" y="1614389"/>
            <a:ext cx="8551458" cy="754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30533" y="498914"/>
            <a:ext cx="122271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3200" dirty="0">
                <a:solidFill>
                  <a:srgbClr val="FF0000"/>
                </a:solidFill>
                <a:latin typeface="Arial"/>
                <a:cs typeface="Arial"/>
              </a:rPr>
              <a:t>Control Techniques for Continuous </a:t>
            </a:r>
            <a:r>
              <a:rPr lang="en-US" altLang="ja-JP" sz="3200" dirty="0" smtClean="0">
                <a:solidFill>
                  <a:srgbClr val="FF0000"/>
                </a:solidFill>
                <a:latin typeface="Arial"/>
                <a:cs typeface="Arial"/>
              </a:rPr>
              <a:t>Culture – </a:t>
            </a:r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lang="en-US" altLang="ja-JP" sz="3200" i="1" dirty="0" err="1" smtClean="0">
                <a:solidFill>
                  <a:srgbClr val="FF0000"/>
                </a:solidFill>
                <a:latin typeface="Arial"/>
                <a:cs typeface="Arial"/>
              </a:rPr>
              <a:t>chemostat</a:t>
            </a:r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32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33678" y="9268295"/>
            <a:ext cx="1924004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2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Helvetica"/>
                <a:cs typeface="Arial"/>
                <a:sym typeface="Helvetica"/>
              </a:rPr>
              <a:t>Microbiolgogy</a:t>
            </a:r>
            <a:r>
              <a:rPr kumimoji="0" lang="en-US" altLang="ja-JP" sz="1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Helvetica"/>
                <a:cs typeface="Arial"/>
                <a:sym typeface="Helvetica"/>
              </a:rPr>
              <a:t> </a:t>
            </a:r>
            <a:r>
              <a:rPr kumimoji="0" lang="en-US" altLang="ja-JP" sz="12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Helvetica"/>
                <a:cs typeface="Arial"/>
                <a:sym typeface="Helvetica"/>
              </a:rPr>
              <a:t>McGrow</a:t>
            </a:r>
            <a:r>
              <a:rPr kumimoji="0" lang="en-US" altLang="ja-JP" sz="12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Helvetica"/>
                <a:cs typeface="Arial"/>
                <a:sym typeface="Helvetica"/>
              </a:rPr>
              <a:t> Hill</a:t>
            </a:r>
            <a:endParaRPr kumimoji="0" lang="ja-JP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Helvetica"/>
              <a:cs typeface="Arial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0554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0532" y="2057750"/>
            <a:ext cx="5790675" cy="617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ja-JP" sz="3200" dirty="0" smtClean="0">
                <a:latin typeface="Times New Roman" charset="0"/>
              </a:rPr>
              <a:t>Regulates the flow rate of media through vessel to maintain a predetermined turbidity or cell density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3200" dirty="0" smtClean="0">
                <a:latin typeface="Times New Roman" charset="0"/>
              </a:rPr>
              <a:t>Dilution rate varies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3200" dirty="0" smtClean="0">
                <a:latin typeface="Times New Roman" charset="0"/>
              </a:rPr>
              <a:t>No limiting nutrient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ja-JP" sz="3200" dirty="0" err="1" smtClean="0">
                <a:latin typeface="Times New Roman" charset="0"/>
              </a:rPr>
              <a:t>Turbidostat</a:t>
            </a:r>
            <a:r>
              <a:rPr lang="en-US" altLang="ja-JP" sz="3200" dirty="0" smtClean="0">
                <a:latin typeface="Times New Roman" charset="0"/>
              </a:rPr>
              <a:t> operates best at high dilution rates</a:t>
            </a:r>
            <a:endParaRPr lang="en-US" altLang="ja-JP" sz="3200" dirty="0">
              <a:latin typeface="Times New Roman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0533" y="498918"/>
            <a:ext cx="1222714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3200" dirty="0">
                <a:solidFill>
                  <a:srgbClr val="FF0000"/>
                </a:solidFill>
                <a:latin typeface="Arial"/>
                <a:cs typeface="Arial"/>
              </a:rPr>
              <a:t>Control Techniques for Continuous </a:t>
            </a:r>
            <a:r>
              <a:rPr lang="en-US" altLang="ja-JP" sz="3200" dirty="0" smtClean="0">
                <a:solidFill>
                  <a:srgbClr val="FF0000"/>
                </a:solidFill>
                <a:latin typeface="Arial"/>
                <a:cs typeface="Arial"/>
              </a:rPr>
              <a:t>Culture – </a:t>
            </a:r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lang="en-US" altLang="ja-JP" sz="3200" i="1" dirty="0" err="1" smtClean="0">
                <a:solidFill>
                  <a:srgbClr val="FF0000"/>
                </a:solidFill>
                <a:latin typeface="Arial"/>
                <a:cs typeface="Arial"/>
              </a:rPr>
              <a:t>turbidstat</a:t>
            </a:r>
            <a:r>
              <a:rPr lang="en-US" altLang="ja-JP" sz="3200" i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endParaRPr lang="en-US" altLang="ja-JP" sz="3200" i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96" y="2473495"/>
            <a:ext cx="6513104" cy="57443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70362" y="8644062"/>
            <a:ext cx="4935120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584200" rtl="0" latinLnBrk="1" hangingPunct="0"/>
            <a:r>
              <a:rPr lang="en-US" altLang="ja-JP" sz="1200" b="0" dirty="0">
                <a:solidFill>
                  <a:srgbClr val="000000"/>
                </a:solidFill>
              </a:rPr>
              <a:t>http://</a:t>
            </a:r>
            <a:r>
              <a:rPr lang="en-US" altLang="ja-JP" sz="1200" b="0" dirty="0" err="1">
                <a:solidFill>
                  <a:srgbClr val="000000"/>
                </a:solidFill>
              </a:rPr>
              <a:t>www.gitam.edu</a:t>
            </a:r>
            <a:r>
              <a:rPr lang="en-US" altLang="ja-JP" sz="1200" b="0" dirty="0">
                <a:solidFill>
                  <a:srgbClr val="000000"/>
                </a:solidFill>
              </a:rPr>
              <a:t>/</a:t>
            </a:r>
            <a:r>
              <a:rPr lang="en-US" altLang="ja-JP" sz="1200" b="0" dirty="0" err="1">
                <a:solidFill>
                  <a:srgbClr val="000000"/>
                </a:solidFill>
              </a:rPr>
              <a:t>eresource</a:t>
            </a:r>
            <a:r>
              <a:rPr lang="en-US" altLang="ja-JP" sz="1200" b="0" dirty="0">
                <a:solidFill>
                  <a:srgbClr val="000000"/>
                </a:solidFill>
              </a:rPr>
              <a:t>/environmental/</a:t>
            </a:r>
            <a:r>
              <a:rPr lang="en-US" altLang="ja-JP" sz="1200" b="0" dirty="0" err="1">
                <a:solidFill>
                  <a:srgbClr val="000000"/>
                </a:solidFill>
              </a:rPr>
              <a:t>em_maruthi</a:t>
            </a:r>
            <a:r>
              <a:rPr lang="en-US" altLang="ja-JP" sz="1200" b="0" dirty="0">
                <a:solidFill>
                  <a:srgbClr val="000000"/>
                </a:solidFill>
              </a:rPr>
              <a:t>/</a:t>
            </a:r>
            <a:r>
              <a:rPr lang="en-US" altLang="ja-JP" sz="1200" b="0" dirty="0" err="1">
                <a:solidFill>
                  <a:srgbClr val="000000"/>
                </a:solidFill>
              </a:rPr>
              <a:t>growth.htm</a:t>
            </a:r>
            <a:endParaRPr kumimoji="0" lang="ja-JP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505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Continuous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7174" y="2233592"/>
            <a:ext cx="11000128" cy="752000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584200" rtl="0" hangingPunct="0"/>
            <a:r>
              <a:rPr lang="en-US" altLang="ja-JP" dirty="0" smtClean="0">
                <a:solidFill>
                  <a:srgbClr val="000000"/>
                </a:solidFill>
                <a:latin typeface="Times New Roman"/>
                <a:cs typeface="Times New Roman"/>
              </a:rPr>
              <a:t>Advantages:</a:t>
            </a:r>
          </a:p>
          <a:p>
            <a:pPr algn="l" defTabSz="584200" rtl="0" hangingPunct="0"/>
            <a:endParaRPr lang="en-US" altLang="ja-JP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571500" algn="l" defTabSz="584200" rtl="0" hangingPunct="0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Productivity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and growth rate can be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optimized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by changing the feed flow rate during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production </a:t>
            </a:r>
          </a:p>
          <a:p>
            <a:pPr marL="571500" indent="-571500" algn="l" defTabSz="584200" rtl="0" hangingPunct="0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Longer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periods of productivity with less down time. </a:t>
            </a:r>
          </a:p>
          <a:p>
            <a:pPr marL="571500" indent="-571500" algn="l" defTabSz="584200" rtl="0" hangingPunct="0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It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can take advantage of cell immobilization, which allows the maintenance of high cell concentrations in the bioreactor at low substrate concentrations. </a:t>
            </a:r>
          </a:p>
          <a:p>
            <a:pPr marL="571500" indent="-571500" algn="l" defTabSz="584200" rtl="0" hangingPunct="0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effects of environmental or physical factors are more easily analyzed in a continuous system</a:t>
            </a:r>
          </a:p>
          <a:p>
            <a:pPr marL="571500" indent="-571500" algn="l" defTabSz="584200" rtl="0" hangingPunct="0">
              <a:spcAft>
                <a:spcPts val="1200"/>
              </a:spcAft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Evolution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in these cultures can be readily studied. </a:t>
            </a:r>
          </a:p>
          <a:p>
            <a:pPr marL="0" marR="0" indent="0" algn="l" defTabSz="584200" rtl="0" fontAlgn="auto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endParaRPr kumimoji="0" lang="ja-JP" alt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cs typeface="Times New Roman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269516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6872" y="590242"/>
            <a:ext cx="984379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6000" dirty="0" smtClean="0">
                <a:solidFill>
                  <a:srgbClr val="FF0000"/>
                </a:solidFill>
                <a:latin typeface="Arial"/>
                <a:cs typeface="Arial"/>
              </a:rPr>
              <a:t>Continuous Fermentation</a:t>
            </a:r>
            <a:endParaRPr lang="en-US" altLang="ja-JP" sz="6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47174" y="2165706"/>
            <a:ext cx="11323028" cy="816633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584200" rtl="0" hangingPunct="0"/>
            <a:r>
              <a:rPr lang="en-US" altLang="ja-JP" dirty="0" smtClean="0">
                <a:solidFill>
                  <a:srgbClr val="000000"/>
                </a:solidFill>
                <a:latin typeface="Times New Roman"/>
                <a:cs typeface="Times New Roman"/>
              </a:rPr>
              <a:t>Disadvantages:</a:t>
            </a:r>
          </a:p>
          <a:p>
            <a:pPr algn="l" defTabSz="584200" rtl="0" hangingPunct="0"/>
            <a:endParaRPr lang="en-US" altLang="ja-JP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The </a:t>
            </a:r>
            <a:r>
              <a:rPr lang="en-US" altLang="ja-JP" sz="3200" b="0" dirty="0">
                <a:latin typeface="Times New Roman"/>
                <a:cs typeface="Times New Roman"/>
              </a:rPr>
              <a:t>US Food and Drug Administration (FDA) does not accept continuous culture in the production of therapeutic products as a Current Good Manufacturing Practice (cGMP). </a:t>
            </a:r>
            <a:r>
              <a:rPr lang="en-US" altLang="ja-JP" sz="3200" b="0" dirty="0" smtClean="0">
                <a:latin typeface="Times New Roman"/>
                <a:cs typeface="Times New Roman"/>
              </a:rPr>
              <a:t> Why?</a:t>
            </a:r>
            <a:endParaRPr lang="en-US" altLang="ja-JP" sz="3200" b="0" dirty="0">
              <a:latin typeface="Times New Roman"/>
              <a:cs typeface="Times New Roman"/>
            </a:endParaRPr>
          </a:p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Not </a:t>
            </a:r>
            <a:r>
              <a:rPr lang="en-US" altLang="ja-JP" sz="3200" b="0" dirty="0">
                <a:latin typeface="Times New Roman"/>
                <a:cs typeface="Times New Roman"/>
              </a:rPr>
              <a:t>all products are produced optimally in continuous processes </a:t>
            </a:r>
          </a:p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Contamination </a:t>
            </a:r>
            <a:r>
              <a:rPr lang="en-US" altLang="ja-JP" sz="3200" b="0" dirty="0">
                <a:latin typeface="Times New Roman"/>
                <a:cs typeface="Times New Roman"/>
              </a:rPr>
              <a:t>can be a major problem in continuous cultivation</a:t>
            </a:r>
          </a:p>
          <a:p>
            <a:pPr marL="457200" indent="-457200" algn="l">
              <a:spcAft>
                <a:spcPts val="1200"/>
              </a:spcAft>
              <a:buFont typeface="Arial"/>
              <a:buChar char="•"/>
            </a:pPr>
            <a:r>
              <a:rPr lang="en-US" altLang="ja-JP" sz="3200" b="0" dirty="0" smtClean="0">
                <a:latin typeface="Times New Roman"/>
                <a:cs typeface="Times New Roman"/>
              </a:rPr>
              <a:t>Culture </a:t>
            </a:r>
            <a:r>
              <a:rPr lang="en-US" altLang="ja-JP" sz="3200" b="0" dirty="0">
                <a:latin typeface="Times New Roman"/>
                <a:cs typeface="Times New Roman"/>
              </a:rPr>
              <a:t>mutation can easily occur in continuous processes, often resulting in the micro- organism ‘shedding’ genes required for product formation, or in the case of genetically engineered organisms, a ‘back mutation’ can occur, causing the slower-growing recombinant population to wash out of the vessel. </a:t>
            </a:r>
          </a:p>
          <a:p>
            <a:pPr algn="l" defTabSz="584200" rtl="0" hangingPunct="0">
              <a:spcAft>
                <a:spcPts val="1200"/>
              </a:spcAft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0" marR="0" indent="0" algn="l" defTabSz="584200" rtl="0" fontAlgn="auto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endParaRPr kumimoji="0" lang="ja-JP" alt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cs typeface="Times New Roman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151809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92" y="1348672"/>
            <a:ext cx="5005303" cy="81927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328" y="325902"/>
            <a:ext cx="11645929" cy="77970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400" dirty="0" smtClean="0">
                <a:solidFill>
                  <a:srgbClr val="FF0000"/>
                </a:solidFill>
                <a:latin typeface="Arial"/>
                <a:cs typeface="Arial"/>
              </a:rPr>
              <a:t>Submerged vs. Solid-substrate Fermenters</a:t>
            </a:r>
            <a:endParaRPr lang="en-US" altLang="ja-JP" sz="4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17587" y="9451466"/>
            <a:ext cx="2822017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000" b="0" i="1" dirty="0" err="1">
                <a:latin typeface="Arial"/>
                <a:cs typeface="Arial"/>
              </a:rPr>
              <a:t>Sanjai</a:t>
            </a:r>
            <a:r>
              <a:rPr lang="en-US" altLang="ja-JP" sz="1000" b="0" i="1" dirty="0">
                <a:latin typeface="Arial"/>
                <a:cs typeface="Arial"/>
              </a:rPr>
              <a:t> </a:t>
            </a:r>
            <a:r>
              <a:rPr lang="en-US" altLang="ja-JP" sz="1000" b="0" i="1" dirty="0" err="1">
                <a:latin typeface="Arial"/>
                <a:cs typeface="Arial"/>
              </a:rPr>
              <a:t>Saxena</a:t>
            </a:r>
            <a:r>
              <a:rPr lang="en-US" altLang="ja-JP" sz="1000" b="0" i="1" dirty="0">
                <a:solidFill>
                  <a:srgbClr val="000000"/>
                </a:solidFill>
                <a:latin typeface="Arial"/>
                <a:cs typeface="Arial"/>
              </a:rPr>
              <a:t>, Applied Microbiology</a:t>
            </a:r>
            <a:endParaRPr lang="ja-JP" altLang="en-US" sz="10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404076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7328" y="295125"/>
            <a:ext cx="116459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Submerged Fermenters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459" y="1455563"/>
            <a:ext cx="9903570" cy="7941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1777" y="9451466"/>
            <a:ext cx="2822017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000" b="0" i="1" dirty="0" err="1">
                <a:latin typeface="Arial"/>
                <a:cs typeface="Arial"/>
              </a:rPr>
              <a:t>Sanjai</a:t>
            </a:r>
            <a:r>
              <a:rPr lang="en-US" altLang="ja-JP" sz="1000" b="0" i="1" dirty="0">
                <a:latin typeface="Arial"/>
                <a:cs typeface="Arial"/>
              </a:rPr>
              <a:t> </a:t>
            </a:r>
            <a:r>
              <a:rPr lang="en-US" altLang="ja-JP" sz="1000" b="0" i="1" dirty="0" err="1">
                <a:latin typeface="Arial"/>
                <a:cs typeface="Arial"/>
              </a:rPr>
              <a:t>Saxena</a:t>
            </a:r>
            <a:r>
              <a:rPr lang="en-US" altLang="ja-JP" sz="1000" b="0" i="1" dirty="0">
                <a:solidFill>
                  <a:srgbClr val="000000"/>
                </a:solidFill>
                <a:latin typeface="Arial"/>
                <a:cs typeface="Arial"/>
              </a:rPr>
              <a:t>, Applied Microbiology</a:t>
            </a:r>
            <a:endParaRPr lang="ja-JP" altLang="en-US" sz="10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09775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7174" y="2082620"/>
            <a:ext cx="11323028" cy="82894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altLang="ja-JP" b="0" dirty="0" smtClean="0">
                <a:latin typeface="Times New Roman"/>
                <a:cs typeface="Times New Roman"/>
              </a:rPr>
              <a:t>Solid</a:t>
            </a:r>
            <a:r>
              <a:rPr lang="en-US" altLang="ja-JP" b="0" dirty="0">
                <a:latin typeface="Times New Roman"/>
                <a:cs typeface="Times New Roman"/>
              </a:rPr>
              <a:t>-substrate fermentations are </a:t>
            </a:r>
            <a:r>
              <a:rPr lang="en-US" altLang="ja-JP" b="0" dirty="0" smtClean="0">
                <a:latin typeface="Times New Roman"/>
                <a:cs typeface="Times New Roman"/>
              </a:rPr>
              <a:t>normally </a:t>
            </a:r>
            <a:r>
              <a:rPr lang="en-US" altLang="ja-JP" b="0" dirty="0">
                <a:latin typeface="Times New Roman"/>
                <a:cs typeface="Times New Roman"/>
              </a:rPr>
              <a:t>multistep processes, involving: </a:t>
            </a:r>
          </a:p>
          <a:p>
            <a:pPr algn="l">
              <a:spcAft>
                <a:spcPts val="1200"/>
              </a:spcAft>
            </a:pPr>
            <a:endParaRPr lang="en-US" altLang="ja-JP" sz="1600" b="0" dirty="0">
              <a:latin typeface="Times New Roman"/>
              <a:cs typeface="Times New Roman"/>
            </a:endParaRP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Pretreatment of a substrate that often requires mechanical, chemical or biological processing</a:t>
            </a: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endParaRPr lang="en-US" altLang="ja-JP" sz="1600" b="0" dirty="0" smtClean="0">
              <a:latin typeface="Times New Roman"/>
              <a:cs typeface="Times New Roman"/>
            </a:endParaRP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Hydrolysis of primarily polymeric substrates, e.g. Polysaccharides and proteins</a:t>
            </a: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endParaRPr lang="en-US" altLang="ja-JP" sz="1600" b="0" dirty="0" smtClean="0">
              <a:latin typeface="Times New Roman"/>
              <a:cs typeface="Times New Roman"/>
            </a:endParaRP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Utilization of hydrolysis products</a:t>
            </a: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endParaRPr lang="en-US" altLang="ja-JP" sz="1600" b="0" dirty="0" smtClean="0">
              <a:latin typeface="Times New Roman"/>
              <a:cs typeface="Times New Roman"/>
            </a:endParaRPr>
          </a:p>
          <a:p>
            <a:pPr marL="514350" indent="-514350" algn="l">
              <a:spcAft>
                <a:spcPts val="1200"/>
              </a:spcAft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Separation and purification of end</a:t>
            </a:r>
            <a:r>
              <a:rPr lang="en-US" altLang="ja-JP" b="0" dirty="0">
                <a:latin typeface="Times New Roman"/>
                <a:cs typeface="Times New Roman"/>
              </a:rPr>
              <a:t>-products </a:t>
            </a:r>
          </a:p>
          <a:p>
            <a:pPr algn="l" defTabSz="584200" rtl="0" hangingPunct="0">
              <a:spcAft>
                <a:spcPts val="1200"/>
              </a:spcAft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0" marR="0" indent="0" algn="l" defTabSz="584200" rtl="0" fontAlgn="auto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endParaRPr kumimoji="0" lang="ja-JP" alt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cs typeface="Times New Roman"/>
              <a:sym typeface="Helvetic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4273" y="661050"/>
            <a:ext cx="116459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Solid-substrate Fermentation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92418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7328" y="661050"/>
            <a:ext cx="116459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Solid-substrate Fermenters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237" t="3031" r="50317" b="51499"/>
          <a:stretch/>
        </p:blipFill>
        <p:spPr>
          <a:xfrm>
            <a:off x="452058" y="2733702"/>
            <a:ext cx="6374208" cy="42189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395" t="50678" r="50976" b="2775"/>
          <a:stretch/>
        </p:blipFill>
        <p:spPr>
          <a:xfrm>
            <a:off x="6867009" y="2798275"/>
            <a:ext cx="5978783" cy="41220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56386" y="7751030"/>
            <a:ext cx="3165856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584200" rtl="0" latinLnBrk="1" hangingPunct="0"/>
            <a:r>
              <a:rPr lang="en-US" altLang="ja-JP" dirty="0" smtClean="0">
                <a:solidFill>
                  <a:srgbClr val="000000"/>
                </a:solidFill>
                <a:latin typeface="Times New Roman"/>
                <a:cs typeface="Times New Roman"/>
              </a:rPr>
              <a:t>Tray fermenter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14241" y="7751030"/>
            <a:ext cx="405154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584200" rtl="0" latinLnBrk="1" hangingPunct="0"/>
            <a:r>
              <a:rPr lang="en-US" altLang="ja-JP" dirty="0" smtClean="0">
                <a:solidFill>
                  <a:srgbClr val="000000"/>
                </a:solidFill>
                <a:latin typeface="Times New Roman"/>
                <a:cs typeface="Times New Roman"/>
              </a:rPr>
              <a:t>Packed bed reactor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6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1777" y="9451466"/>
            <a:ext cx="2822017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000" b="0" i="1" dirty="0" err="1">
                <a:latin typeface="Arial"/>
                <a:cs typeface="Arial"/>
              </a:rPr>
              <a:t>Sanjai</a:t>
            </a:r>
            <a:r>
              <a:rPr lang="en-US" altLang="ja-JP" sz="1000" b="0" i="1" dirty="0">
                <a:latin typeface="Arial"/>
                <a:cs typeface="Arial"/>
              </a:rPr>
              <a:t> </a:t>
            </a:r>
            <a:r>
              <a:rPr lang="en-US" altLang="ja-JP" sz="1000" b="0" i="1" dirty="0" err="1">
                <a:latin typeface="Arial"/>
                <a:cs typeface="Arial"/>
              </a:rPr>
              <a:t>Saxena</a:t>
            </a:r>
            <a:r>
              <a:rPr lang="en-US" altLang="ja-JP" sz="1000" b="0" i="1" dirty="0">
                <a:solidFill>
                  <a:srgbClr val="000000"/>
                </a:solidFill>
                <a:latin typeface="Arial"/>
                <a:cs typeface="Arial"/>
              </a:rPr>
              <a:t>, Applied Microbiology</a:t>
            </a:r>
            <a:endParaRPr lang="ja-JP" altLang="en-US" sz="10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99950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67328" y="669587"/>
            <a:ext cx="11645929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5400" dirty="0" smtClean="0">
                <a:solidFill>
                  <a:srgbClr val="FF0000"/>
                </a:solidFill>
                <a:latin typeface="Arial"/>
                <a:cs typeface="Arial"/>
              </a:rPr>
              <a:t>Solid-substrate Fermenters</a:t>
            </a:r>
            <a:endParaRPr lang="en-US" altLang="ja-JP" sz="5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0301" t="3206" r="2645" b="51480"/>
          <a:stretch/>
        </p:blipFill>
        <p:spPr>
          <a:xfrm>
            <a:off x="344426" y="2970474"/>
            <a:ext cx="5941362" cy="39516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0514" t="50678" r="2857" b="3700"/>
          <a:stretch/>
        </p:blipFill>
        <p:spPr>
          <a:xfrm>
            <a:off x="6953114" y="2970474"/>
            <a:ext cx="6051686" cy="4089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388" y="7812585"/>
            <a:ext cx="4524476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584200" rtl="0" latinLnBrk="1" hangingPunct="0"/>
            <a:r>
              <a:rPr lang="en-US" altLang="ja-JP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Stirred drum bioreactors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68057" y="7812585"/>
            <a:ext cx="6143909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defTabSz="584200" rtl="0" latinLnBrk="1" hangingPunct="0"/>
            <a:r>
              <a:rPr lang="en-US" altLang="ja-JP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Gas–solid and stirred bed reactors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1777" y="9451466"/>
            <a:ext cx="2822017" cy="2641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000" b="0" i="1" dirty="0" err="1">
                <a:latin typeface="Arial"/>
                <a:cs typeface="Arial"/>
              </a:rPr>
              <a:t>Sanjai</a:t>
            </a:r>
            <a:r>
              <a:rPr lang="en-US" altLang="ja-JP" sz="1000" b="0" i="1" dirty="0">
                <a:latin typeface="Arial"/>
                <a:cs typeface="Arial"/>
              </a:rPr>
              <a:t> </a:t>
            </a:r>
            <a:r>
              <a:rPr lang="en-US" altLang="ja-JP" sz="1000" b="0" i="1" dirty="0" err="1">
                <a:latin typeface="Arial"/>
                <a:cs typeface="Arial"/>
              </a:rPr>
              <a:t>Saxena</a:t>
            </a:r>
            <a:r>
              <a:rPr lang="en-US" altLang="ja-JP" sz="1000" b="0" i="1" dirty="0">
                <a:solidFill>
                  <a:srgbClr val="000000"/>
                </a:solidFill>
                <a:latin typeface="Arial"/>
                <a:cs typeface="Arial"/>
              </a:rPr>
              <a:t>, Applied Microbiology</a:t>
            </a:r>
            <a:endParaRPr lang="ja-JP" altLang="en-US" sz="10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67623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006" y="2324720"/>
            <a:ext cx="8075555" cy="69115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273" y="661050"/>
            <a:ext cx="116459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Solid-substrate Fermentation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66484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596475"/>
            <a:ext cx="116459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Upstream &amp; Downstream Processing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7174" y="2025855"/>
            <a:ext cx="11323028" cy="34265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l" rtl="0">
              <a:spcAft>
                <a:spcPts val="1200"/>
              </a:spcAft>
            </a:pPr>
            <a:r>
              <a:rPr lang="en-US" altLang="ja-JP" b="0" dirty="0" smtClean="0">
                <a:latin typeface="Times New Roman"/>
                <a:cs typeface="Times New Roman"/>
              </a:rPr>
              <a:t>Upstream processing (USP) involves:</a:t>
            </a:r>
            <a:endParaRPr lang="en-US" altLang="ja-JP" b="0" dirty="0">
              <a:latin typeface="Times New Roman"/>
              <a:cs typeface="Times New Roman"/>
            </a:endParaRPr>
          </a:p>
          <a:p>
            <a:pPr algn="l">
              <a:spcAft>
                <a:spcPts val="1200"/>
              </a:spcAft>
            </a:pPr>
            <a:endParaRPr lang="en-US" altLang="ja-JP" sz="1600" b="0" dirty="0">
              <a:latin typeface="Times New Roman"/>
              <a:cs typeface="Times New Roman"/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Microorganism preparation 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Fermentation </a:t>
            </a:r>
            <a:r>
              <a:rPr lang="en-US" altLang="ja-JP" b="0" dirty="0">
                <a:latin typeface="Times New Roman"/>
                <a:cs typeface="Times New Roman"/>
              </a:rPr>
              <a:t>media </a:t>
            </a:r>
            <a:r>
              <a:rPr lang="en-US" altLang="ja-JP" b="0" dirty="0" smtClean="0">
                <a:latin typeface="Times New Roman"/>
                <a:cs typeface="Times New Roman"/>
              </a:rPr>
              <a:t>preparation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The </a:t>
            </a:r>
            <a:r>
              <a:rPr lang="en-US" altLang="ja-JP" b="0" dirty="0">
                <a:latin typeface="Times New Roman"/>
                <a:cs typeface="Times New Roman"/>
              </a:rPr>
              <a:t>fermentation </a:t>
            </a:r>
            <a:r>
              <a:rPr lang="en-US" altLang="ja-JP" b="0" dirty="0" smtClean="0">
                <a:latin typeface="Times New Roman"/>
                <a:cs typeface="Times New Roman"/>
              </a:rPr>
              <a:t>process</a:t>
            </a:r>
          </a:p>
          <a:p>
            <a:pPr marL="742950" indent="-742950" algn="l">
              <a:buFont typeface="+mj-lt"/>
              <a:buAutoNum type="arabicPeriod"/>
            </a:pPr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35014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596475"/>
            <a:ext cx="116459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Upstream &amp; Downstream Processing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7174" y="2002599"/>
            <a:ext cx="11323028" cy="73045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l" rtl="0">
              <a:spcAft>
                <a:spcPts val="1200"/>
              </a:spcAft>
            </a:pPr>
            <a:r>
              <a:rPr lang="en-US" altLang="ja-JP" b="0" dirty="0" smtClean="0">
                <a:latin typeface="Times New Roman"/>
                <a:cs typeface="Times New Roman"/>
              </a:rPr>
              <a:t>Upstream processing (USP) involves:</a:t>
            </a:r>
            <a:endParaRPr lang="en-US" altLang="ja-JP" b="0" dirty="0">
              <a:latin typeface="Times New Roman"/>
              <a:cs typeface="Times New Roman"/>
            </a:endParaRPr>
          </a:p>
          <a:p>
            <a:pPr algn="l">
              <a:spcAft>
                <a:spcPts val="1200"/>
              </a:spcAft>
            </a:pPr>
            <a:endParaRPr lang="en-US" altLang="ja-JP" sz="1600" b="0" dirty="0">
              <a:latin typeface="Times New Roman"/>
              <a:cs typeface="Times New Roman"/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Microorganism preparation 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Fermentation </a:t>
            </a:r>
            <a:r>
              <a:rPr lang="en-US" altLang="ja-JP" b="0" dirty="0">
                <a:latin typeface="Times New Roman"/>
                <a:cs typeface="Times New Roman"/>
              </a:rPr>
              <a:t>media </a:t>
            </a:r>
            <a:r>
              <a:rPr lang="en-US" altLang="ja-JP" b="0" dirty="0" smtClean="0">
                <a:latin typeface="Times New Roman"/>
                <a:cs typeface="Times New Roman"/>
              </a:rPr>
              <a:t>preparation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The </a:t>
            </a:r>
            <a:r>
              <a:rPr lang="en-US" altLang="ja-JP" b="0" dirty="0">
                <a:latin typeface="Times New Roman"/>
                <a:cs typeface="Times New Roman"/>
              </a:rPr>
              <a:t>fermentation </a:t>
            </a:r>
            <a:r>
              <a:rPr lang="en-US" altLang="ja-JP" b="0" dirty="0" smtClean="0">
                <a:latin typeface="Times New Roman"/>
                <a:cs typeface="Times New Roman"/>
              </a:rPr>
              <a:t>process</a:t>
            </a:r>
          </a:p>
          <a:p>
            <a:pPr marL="742950" indent="-742950" algn="l">
              <a:buFont typeface="+mj-lt"/>
              <a:buAutoNum type="arabicPeriod"/>
            </a:pPr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Downstream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processing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(DSP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) </a:t>
            </a:r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571500" algn="l"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All processes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following the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fermentation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. </a:t>
            </a:r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571500" algn="l"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It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has the primary aim of efficiently, reproducibly and safely recovering the target product to the required specifications </a:t>
            </a:r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571500" algn="l"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Maximize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recovery yield and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minimize costs</a:t>
            </a:r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2442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596475"/>
            <a:ext cx="1164592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4800" dirty="0" smtClean="0">
                <a:solidFill>
                  <a:srgbClr val="FF0000"/>
                </a:solidFill>
                <a:latin typeface="Arial"/>
                <a:cs typeface="Arial"/>
              </a:rPr>
              <a:t>Upstream &amp; Downstream processing</a:t>
            </a:r>
            <a:endParaRPr lang="en-US" altLang="ja-JP" sz="4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7174" y="2002599"/>
            <a:ext cx="11323028" cy="73045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l" rtl="0">
              <a:spcAft>
                <a:spcPts val="1200"/>
              </a:spcAft>
            </a:pPr>
            <a:r>
              <a:rPr lang="en-US" altLang="ja-JP" b="0" dirty="0" smtClean="0">
                <a:latin typeface="Times New Roman"/>
                <a:cs typeface="Times New Roman"/>
              </a:rPr>
              <a:t>Upstream processing (USP) involves:</a:t>
            </a:r>
            <a:endParaRPr lang="en-US" altLang="ja-JP" b="0" dirty="0">
              <a:latin typeface="Times New Roman"/>
              <a:cs typeface="Times New Roman"/>
            </a:endParaRPr>
          </a:p>
          <a:p>
            <a:pPr algn="l">
              <a:spcAft>
                <a:spcPts val="1200"/>
              </a:spcAft>
            </a:pPr>
            <a:endParaRPr lang="en-US" altLang="ja-JP" sz="1600" b="0" dirty="0">
              <a:latin typeface="Times New Roman"/>
              <a:cs typeface="Times New Roman"/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Microorganism preparation 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Fermentation </a:t>
            </a:r>
            <a:r>
              <a:rPr lang="en-US" altLang="ja-JP" b="0" dirty="0">
                <a:latin typeface="Times New Roman"/>
                <a:cs typeface="Times New Roman"/>
              </a:rPr>
              <a:t>media </a:t>
            </a:r>
            <a:r>
              <a:rPr lang="en-US" altLang="ja-JP" b="0" dirty="0" smtClean="0">
                <a:latin typeface="Times New Roman"/>
                <a:cs typeface="Times New Roman"/>
              </a:rPr>
              <a:t>preparation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altLang="ja-JP" b="0" dirty="0" smtClean="0">
                <a:latin typeface="Times New Roman"/>
                <a:cs typeface="Times New Roman"/>
              </a:rPr>
              <a:t>The </a:t>
            </a:r>
            <a:r>
              <a:rPr lang="en-US" altLang="ja-JP" b="0" dirty="0">
                <a:latin typeface="Times New Roman"/>
                <a:cs typeface="Times New Roman"/>
              </a:rPr>
              <a:t>fermentation </a:t>
            </a:r>
            <a:r>
              <a:rPr lang="en-US" altLang="ja-JP" b="0" dirty="0" smtClean="0">
                <a:latin typeface="Times New Roman"/>
                <a:cs typeface="Times New Roman"/>
              </a:rPr>
              <a:t>process</a:t>
            </a:r>
          </a:p>
          <a:p>
            <a:pPr marL="742950" indent="-742950" algn="l">
              <a:buFont typeface="+mj-lt"/>
              <a:buAutoNum type="arabicPeriod"/>
            </a:pPr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Downstream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processing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(DSP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) </a:t>
            </a:r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571500" algn="l"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All processes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following the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fermentation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. </a:t>
            </a:r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571500" algn="l"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It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has the primary aim of efficiently, reproducibly and safely recovering the target product to the required specifications </a:t>
            </a:r>
            <a:endParaRPr lang="en-US" altLang="ja-JP" b="0" dirty="0" smtClean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71500" indent="-571500" algn="l">
              <a:buFont typeface="Arial"/>
              <a:buChar char="•"/>
            </a:pP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Maximize </a:t>
            </a:r>
            <a:r>
              <a:rPr lang="en-US" altLang="ja-JP" b="0" dirty="0">
                <a:solidFill>
                  <a:srgbClr val="000000"/>
                </a:solidFill>
                <a:latin typeface="Times New Roman"/>
                <a:cs typeface="Times New Roman"/>
              </a:rPr>
              <a:t>recovery yield and </a:t>
            </a:r>
            <a:r>
              <a:rPr lang="en-US" altLang="ja-JP" b="0" dirty="0" smtClean="0">
                <a:solidFill>
                  <a:srgbClr val="000000"/>
                </a:solidFill>
                <a:latin typeface="Times New Roman"/>
                <a:cs typeface="Times New Roman"/>
              </a:rPr>
              <a:t>minimize costs</a:t>
            </a:r>
            <a:endParaRPr lang="en-US" altLang="ja-JP" b="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64585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95" y="131574"/>
            <a:ext cx="7749600" cy="9543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72743" y="9306812"/>
            <a:ext cx="2652326" cy="452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100" b="0" i="1" dirty="0">
                <a:solidFill>
                  <a:srgbClr val="000000"/>
                </a:solidFill>
                <a:latin typeface="Arial"/>
                <a:cs typeface="Arial"/>
              </a:rPr>
              <a:t>Industrial Microbiology: An Introduction </a:t>
            </a:r>
          </a:p>
          <a:p>
            <a:pPr rtl="0" latinLnBrk="1" hangingPunct="0"/>
            <a:endParaRPr lang="ja-JP" altLang="en-US" sz="11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08379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53335"/>
          <a:stretch/>
        </p:blipFill>
        <p:spPr>
          <a:xfrm>
            <a:off x="-112493" y="1789012"/>
            <a:ext cx="13443223" cy="77251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USP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10366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6890"/>
          <a:stretch/>
        </p:blipFill>
        <p:spPr>
          <a:xfrm>
            <a:off x="384481" y="1571339"/>
            <a:ext cx="12390239" cy="81034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16928" y="1829641"/>
            <a:ext cx="1808241" cy="5036893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481" y="7010400"/>
            <a:ext cx="12390239" cy="27432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7921851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6890"/>
          <a:stretch/>
        </p:blipFill>
        <p:spPr>
          <a:xfrm>
            <a:off x="384481" y="1571339"/>
            <a:ext cx="12390239" cy="81034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4481" y="7010400"/>
            <a:ext cx="12390239" cy="27432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722660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6890"/>
          <a:stretch/>
        </p:blipFill>
        <p:spPr>
          <a:xfrm>
            <a:off x="384481" y="1571339"/>
            <a:ext cx="12390239" cy="81034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4481" y="7993789"/>
            <a:ext cx="12390239" cy="164592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014132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6890"/>
          <a:stretch/>
        </p:blipFill>
        <p:spPr>
          <a:xfrm>
            <a:off x="384481" y="1571339"/>
            <a:ext cx="12390239" cy="81034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35612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06"/>
          <a:stretch/>
        </p:blipFill>
        <p:spPr>
          <a:xfrm>
            <a:off x="2324880" y="1407149"/>
            <a:ext cx="7448228" cy="8596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04727" y="3309750"/>
            <a:ext cx="6996168" cy="64008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1298772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06"/>
          <a:stretch/>
        </p:blipFill>
        <p:spPr>
          <a:xfrm>
            <a:off x="2324880" y="1407149"/>
            <a:ext cx="7448228" cy="8596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27627" y="4429050"/>
            <a:ext cx="6673267" cy="64008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8059295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06"/>
          <a:stretch/>
        </p:blipFill>
        <p:spPr>
          <a:xfrm>
            <a:off x="2324880" y="1407149"/>
            <a:ext cx="7448228" cy="8596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27627" y="5225475"/>
            <a:ext cx="6673267" cy="64008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4298215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06"/>
          <a:stretch/>
        </p:blipFill>
        <p:spPr>
          <a:xfrm>
            <a:off x="2324880" y="1407149"/>
            <a:ext cx="7448228" cy="8596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27627" y="6689175"/>
            <a:ext cx="6673267" cy="64008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1690998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06"/>
          <a:stretch/>
        </p:blipFill>
        <p:spPr>
          <a:xfrm>
            <a:off x="2324880" y="1407149"/>
            <a:ext cx="7448228" cy="85961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27627" y="8346600"/>
            <a:ext cx="6673267" cy="6400800"/>
          </a:xfrm>
          <a:prstGeom prst="rect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3131188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273" y="196561"/>
            <a:ext cx="11645929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defTabSz="584200" rtl="0" latinLnBrk="1" hangingPunct="0"/>
            <a:r>
              <a:rPr lang="en-US" altLang="ja-JP" sz="7200" dirty="0" smtClean="0">
                <a:solidFill>
                  <a:srgbClr val="FF0000"/>
                </a:solidFill>
                <a:latin typeface="Arial"/>
                <a:cs typeface="Arial"/>
              </a:rPr>
              <a:t>DSP</a:t>
            </a:r>
            <a:endParaRPr lang="en-US" altLang="ja-JP" sz="7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06"/>
          <a:stretch/>
        </p:blipFill>
        <p:spPr>
          <a:xfrm>
            <a:off x="2324880" y="1407149"/>
            <a:ext cx="7448228" cy="8596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77622" y="9177662"/>
            <a:ext cx="2652326" cy="452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797" tIns="50797" rIns="50797" bIns="50797" numCol="1" spcCol="38098" rtlCol="0" anchor="ctr">
            <a:spAutoFit/>
          </a:bodyPr>
          <a:lstStyle/>
          <a:p>
            <a:pPr rtl="0" latinLnBrk="1" hangingPunct="0"/>
            <a:r>
              <a:rPr lang="en-US" altLang="ja-JP" sz="1100" b="0" i="1" dirty="0">
                <a:solidFill>
                  <a:srgbClr val="000000"/>
                </a:solidFill>
                <a:latin typeface="Arial"/>
                <a:cs typeface="Arial"/>
              </a:rPr>
              <a:t>Industrial Microbiology: An Introduction </a:t>
            </a:r>
          </a:p>
          <a:p>
            <a:pPr rtl="0" latinLnBrk="1" hangingPunct="0"/>
            <a:endParaRPr lang="ja-JP" altLang="en-US" sz="1100" b="0" i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84259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13410</TotalTime>
  <Words>1987</Words>
  <Application>Microsoft Office PowerPoint</Application>
  <PresentationFormat>Custom</PresentationFormat>
  <Paragraphs>343</Paragraphs>
  <Slides>65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ＭＳ Ｐゴシック</vt:lpstr>
      <vt:lpstr>Arial</vt:lpstr>
      <vt:lpstr>Helvetica</vt:lpstr>
      <vt:lpstr>Helvetica Light</vt:lpstr>
      <vt:lpstr>Helvetica Neue</vt:lpstr>
      <vt:lpstr>ＭＳ 明朝</vt:lpstr>
      <vt:lpstr>Times</vt:lpstr>
      <vt:lpstr>Times New Roman</vt:lpstr>
      <vt:lpstr>White</vt:lpstr>
      <vt:lpstr>PowerPoint Presentation</vt:lpstr>
      <vt:lpstr>PowerPoint Presentation</vt:lpstr>
      <vt:lpstr>PowerPoint Presentation</vt:lpstr>
      <vt:lpstr>Lag phase</vt:lpstr>
      <vt:lpstr>PowerPoint Presentation</vt:lpstr>
      <vt:lpstr>Stationary phase </vt:lpstr>
      <vt:lpstr>Death phase and the extended death phase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JUST</cp:lastModifiedBy>
  <cp:revision>100</cp:revision>
  <dcterms:modified xsi:type="dcterms:W3CDTF">2019-10-05T20:25:09Z</dcterms:modified>
</cp:coreProperties>
</file>