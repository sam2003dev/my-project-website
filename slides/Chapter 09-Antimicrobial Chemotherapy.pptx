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319" r:id="rId18"/>
    <p:sldId id="276" r:id="rId19"/>
    <p:sldId id="277" r:id="rId20"/>
    <p:sldId id="278" r:id="rId21"/>
    <p:sldId id="279" r:id="rId22"/>
    <p:sldId id="280" r:id="rId23"/>
    <p:sldId id="281" r:id="rId24"/>
    <p:sldId id="283" r:id="rId25"/>
    <p:sldId id="284" r:id="rId26"/>
    <p:sldId id="285" r:id="rId27"/>
    <p:sldId id="286" r:id="rId28"/>
    <p:sldId id="287" r:id="rId29"/>
    <p:sldId id="288" r:id="rId30"/>
    <p:sldId id="318" r:id="rId31"/>
    <p:sldId id="289" r:id="rId32"/>
    <p:sldId id="290" r:id="rId33"/>
    <p:sldId id="291" r:id="rId34"/>
    <p:sldId id="292" r:id="rId35"/>
    <p:sldId id="294" r:id="rId36"/>
    <p:sldId id="295" r:id="rId37"/>
    <p:sldId id="296" r:id="rId38"/>
    <p:sldId id="297" r:id="rId39"/>
    <p:sldId id="298" r:id="rId40"/>
    <p:sldId id="300" r:id="rId41"/>
    <p:sldId id="301" r:id="rId42"/>
    <p:sldId id="302" r:id="rId43"/>
    <p:sldId id="303"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Lst>
  <p:sldSz cx="9144000" cy="6858000" type="screen4x3"/>
  <p:notesSz cx="6858000" cy="9144000"/>
  <p:custDataLst>
    <p:tags r:id="rId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4" d="100"/>
          <a:sy n="74" d="100"/>
        </p:scale>
        <p:origin x="126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1/24/2018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15454F-ECDB-4842-AF71-F9E8195E2EAE}"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98079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D5D7F-3933-4309-8034-0F93355438F7}"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2546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64294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8CB9A4-23AA-4DC3-A257-AD75712A2865}"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170969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9D155C-674B-4796-BBC2-FCD13546F93B}" type="datetime1">
              <a:rPr lang="en-US" smtClean="0"/>
              <a:pPr/>
              <a:t>1/24/2018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542126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70BCA5-5AC7-4B00-85A8-8E2615460E4F}" type="datetime1">
              <a:rPr lang="en-US" smtClean="0"/>
              <a:pPr/>
              <a:t>1/24/2018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60586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1/24/2018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1183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767252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05851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03F265-EC92-4E3A-8B2F-17EA75E99940}"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52210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10B38-9655-43E1-BBFD-8C7DABE26029}"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6912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1/24/2018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smtClean="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17885032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dirty="0" smtClean="0"/>
              <a:t>Chapter 9 – Antimicrobial Chemotherapy</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pic>
        <p:nvPicPr>
          <p:cNvPr id="7" name="Picture 2" descr="X:\Graphics\Powerpoint\MH_DCM\MH_DCM-TEXTEDIT PROJECTS\WILLEY_10e\Incoming\Wille10e17tlm_nm3.jpg"/>
          <p:cNvPicPr>
            <a:picLocks noGrp="1" noChangeAspect="1" noChangeArrowheads="1"/>
          </p:cNvPicPr>
          <p:nvPr>
            <p:ph idx="1"/>
          </p:nvPr>
        </p:nvPicPr>
        <p:blipFill>
          <a:blip r:embed="rId2" cstate="print"/>
          <a:srcRect/>
          <a:stretch>
            <a:fillRect/>
          </a:stretch>
        </p:blipFill>
        <p:spPr bwMode="auto">
          <a:xfrm>
            <a:off x="2315490" y="1219199"/>
            <a:ext cx="4542510" cy="5518513"/>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9.1 Antimicrobial Chemotherapy Evolved from Antisepsis Efforts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Trace the general history of antimicrobial </a:t>
            </a:r>
            <a:r>
              <a:rPr lang="en-US" dirty="0" smtClean="0"/>
              <a:t>chemotherapy</a:t>
            </a:r>
            <a:br>
              <a:rPr lang="en-US" dirty="0" smtClean="0"/>
            </a:br>
            <a:endParaRPr lang="en-US" dirty="0"/>
          </a:p>
          <a:p>
            <a:pPr marL="514350" indent="-514350">
              <a:buFont typeface="+mj-lt"/>
              <a:buAutoNum type="arabicPeriod"/>
            </a:pPr>
            <a:r>
              <a:rPr lang="en-US" dirty="0"/>
              <a:t>Propose natural sources of new antimicrobial agents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4254262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Chemotherapeutic Agents</a:t>
            </a:r>
          </a:p>
        </p:txBody>
      </p:sp>
      <p:sp>
        <p:nvSpPr>
          <p:cNvPr id="3" name="Content Placeholder 2"/>
          <p:cNvSpPr>
            <a:spLocks noGrp="1"/>
          </p:cNvSpPr>
          <p:nvPr>
            <p:ph idx="1"/>
          </p:nvPr>
        </p:nvSpPr>
        <p:spPr/>
        <p:txBody>
          <a:bodyPr/>
          <a:lstStyle/>
          <a:p>
            <a:r>
              <a:rPr lang="en-US" dirty="0"/>
              <a:t>Chemical agents used to treat </a:t>
            </a:r>
            <a:r>
              <a:rPr lang="en-US" dirty="0" smtClean="0"/>
              <a:t>disease</a:t>
            </a:r>
          </a:p>
          <a:p>
            <a:pPr marL="0" indent="0">
              <a:buNone/>
            </a:pPr>
            <a:endParaRPr lang="en-US" dirty="0"/>
          </a:p>
          <a:p>
            <a:r>
              <a:rPr lang="en-US" dirty="0"/>
              <a:t>Destroy pathogenic microbes or inhibit their growth within </a:t>
            </a:r>
            <a:r>
              <a:rPr lang="en-US" dirty="0" smtClean="0"/>
              <a:t>host</a:t>
            </a:r>
          </a:p>
          <a:p>
            <a:pPr marL="0" indent="0">
              <a:buNone/>
            </a:pPr>
            <a:endParaRPr lang="en-US" dirty="0"/>
          </a:p>
          <a:p>
            <a:r>
              <a:rPr lang="en-US" dirty="0"/>
              <a:t>Most are antibiotics</a:t>
            </a:r>
          </a:p>
          <a:p>
            <a:pPr lvl="1"/>
            <a:r>
              <a:rPr lang="en-US" dirty="0"/>
              <a:t>microbial products or their derivatives that kill susceptible microbes or inhibit their growth</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4172346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Development of Chemotherapy</a:t>
            </a:r>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a:lnSpc>
                <a:spcPct val="90000"/>
              </a:lnSpc>
            </a:pPr>
            <a:r>
              <a:rPr lang="en-US" dirty="0"/>
              <a:t>Paul Ehrlich (1904)</a:t>
            </a:r>
          </a:p>
          <a:p>
            <a:pPr lvl="1">
              <a:lnSpc>
                <a:spcPct val="90000"/>
              </a:lnSpc>
            </a:pPr>
            <a:r>
              <a:rPr lang="en-US" dirty="0"/>
              <a:t>developed concept of selective toxicity</a:t>
            </a:r>
          </a:p>
          <a:p>
            <a:pPr lvl="1">
              <a:lnSpc>
                <a:spcPct val="90000"/>
              </a:lnSpc>
            </a:pPr>
            <a:r>
              <a:rPr lang="en-US" dirty="0"/>
              <a:t>identified dyes that effectively treated African sleeping </a:t>
            </a:r>
            <a:r>
              <a:rPr lang="en-US" dirty="0" smtClean="0"/>
              <a:t>sickness</a:t>
            </a:r>
          </a:p>
          <a:p>
            <a:pPr marL="457200" lvl="1" indent="0">
              <a:lnSpc>
                <a:spcPct val="90000"/>
              </a:lnSpc>
              <a:buNone/>
            </a:pPr>
            <a:endParaRPr lang="en-US" dirty="0"/>
          </a:p>
          <a:p>
            <a:pPr>
              <a:lnSpc>
                <a:spcPct val="90000"/>
              </a:lnSpc>
            </a:pPr>
            <a:r>
              <a:rPr lang="en-US" dirty="0" err="1"/>
              <a:t>Sahachiro</a:t>
            </a:r>
            <a:r>
              <a:rPr lang="en-US" dirty="0"/>
              <a:t> </a:t>
            </a:r>
            <a:r>
              <a:rPr lang="en-US" dirty="0" err="1"/>
              <a:t>Hato</a:t>
            </a:r>
            <a:r>
              <a:rPr lang="en-US" dirty="0"/>
              <a:t> (1910)</a:t>
            </a:r>
          </a:p>
          <a:p>
            <a:pPr lvl="1">
              <a:lnSpc>
                <a:spcPct val="90000"/>
              </a:lnSpc>
            </a:pPr>
            <a:r>
              <a:rPr lang="en-US" dirty="0"/>
              <a:t>working with Ehrlich, identified arsenic compounds that effectively treated </a:t>
            </a:r>
            <a:r>
              <a:rPr lang="en-US" dirty="0" smtClean="0"/>
              <a:t>syphilis</a:t>
            </a:r>
          </a:p>
          <a:p>
            <a:pPr marL="457200" lvl="1" indent="0">
              <a:lnSpc>
                <a:spcPct val="90000"/>
              </a:lnSpc>
              <a:buNone/>
            </a:pPr>
            <a:endParaRPr lang="en-US" dirty="0"/>
          </a:p>
          <a:p>
            <a:pPr>
              <a:lnSpc>
                <a:spcPct val="90000"/>
              </a:lnSpc>
            </a:pPr>
            <a:r>
              <a:rPr lang="en-US" dirty="0"/>
              <a:t>Gerhard Domagk, and Jacques and Therese </a:t>
            </a:r>
            <a:r>
              <a:rPr lang="en-US" dirty="0" err="1"/>
              <a:t>Trefouel</a:t>
            </a:r>
            <a:r>
              <a:rPr lang="en-US" dirty="0"/>
              <a:t> (1935)</a:t>
            </a:r>
          </a:p>
          <a:p>
            <a:pPr lvl="1">
              <a:lnSpc>
                <a:spcPct val="90000"/>
              </a:lnSpc>
            </a:pPr>
            <a:r>
              <a:rPr lang="en-US" dirty="0"/>
              <a:t>discovered sulfonamides and sulfa drugs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4179208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45"/>
            <a:ext cx="8229600" cy="868362"/>
          </a:xfrm>
        </p:spPr>
        <p:txBody>
          <a:bodyPr/>
          <a:lstStyle/>
          <a:p>
            <a:r>
              <a:rPr lang="en-US" dirty="0"/>
              <a:t>Penicillin</a:t>
            </a:r>
          </a:p>
        </p:txBody>
      </p:sp>
      <p:sp>
        <p:nvSpPr>
          <p:cNvPr id="6" name="Content Placeholder 5"/>
          <p:cNvSpPr>
            <a:spLocks noGrp="1"/>
          </p:cNvSpPr>
          <p:nvPr>
            <p:ph sz="half" idx="1"/>
          </p:nvPr>
        </p:nvSpPr>
        <p:spPr>
          <a:xfrm>
            <a:off x="0" y="990600"/>
            <a:ext cx="5105400" cy="5715000"/>
          </a:xfrm>
        </p:spPr>
        <p:txBody>
          <a:bodyPr>
            <a:normAutofit fontScale="92500" lnSpcReduction="20000"/>
          </a:bodyPr>
          <a:lstStyle/>
          <a:p>
            <a:pPr>
              <a:lnSpc>
                <a:spcPct val="90000"/>
              </a:lnSpc>
            </a:pPr>
            <a:r>
              <a:rPr lang="en-US" dirty="0" smtClean="0"/>
              <a:t>F</a:t>
            </a:r>
            <a:r>
              <a:rPr lang="en-US" dirty="0"/>
              <a:t>irst discovered by Ernest Duchesne (1896), but discovery lost</a:t>
            </a:r>
            <a:br>
              <a:rPr lang="en-US" dirty="0"/>
            </a:br>
            <a:endParaRPr lang="en-US" dirty="0"/>
          </a:p>
          <a:p>
            <a:pPr>
              <a:lnSpc>
                <a:spcPct val="90000"/>
              </a:lnSpc>
            </a:pPr>
            <a:r>
              <a:rPr lang="en-US" dirty="0" smtClean="0"/>
              <a:t>A</a:t>
            </a:r>
            <a:r>
              <a:rPr lang="en-US" dirty="0"/>
              <a:t>ccidentally discovered by Alexander Fleming (1928)</a:t>
            </a:r>
          </a:p>
          <a:p>
            <a:pPr lvl="1">
              <a:lnSpc>
                <a:spcPct val="90000"/>
              </a:lnSpc>
            </a:pPr>
            <a:r>
              <a:rPr lang="en-US" dirty="0" smtClean="0"/>
              <a:t>observed penicillin activity on contaminated plate</a:t>
            </a:r>
          </a:p>
          <a:p>
            <a:pPr lvl="1">
              <a:lnSpc>
                <a:spcPct val="90000"/>
              </a:lnSpc>
            </a:pPr>
            <a:r>
              <a:rPr lang="en-US" dirty="0" smtClean="0"/>
              <a:t>did not think could be developed further</a:t>
            </a:r>
            <a:br>
              <a:rPr lang="en-US" dirty="0" smtClean="0"/>
            </a:br>
            <a:endParaRPr lang="en-US" dirty="0" smtClean="0"/>
          </a:p>
          <a:p>
            <a:pPr>
              <a:lnSpc>
                <a:spcPct val="90000"/>
              </a:lnSpc>
            </a:pPr>
            <a:r>
              <a:rPr lang="en-US" dirty="0" smtClean="0"/>
              <a:t>E</a:t>
            </a:r>
            <a:r>
              <a:rPr lang="en-US" dirty="0"/>
              <a:t>ffectiveness demonstrated by </a:t>
            </a:r>
          </a:p>
          <a:p>
            <a:pPr marL="0" indent="0">
              <a:lnSpc>
                <a:spcPct val="90000"/>
              </a:lnSpc>
              <a:buNone/>
            </a:pPr>
            <a:r>
              <a:rPr lang="en-US" dirty="0"/>
              <a:t>   Florey, Chain, and </a:t>
            </a:r>
            <a:r>
              <a:rPr lang="en-US" dirty="0" err="1"/>
              <a:t>Heatley</a:t>
            </a:r>
            <a:r>
              <a:rPr lang="en-US" dirty="0"/>
              <a:t> (1939)</a:t>
            </a:r>
            <a:br>
              <a:rPr lang="en-US" dirty="0"/>
            </a:br>
            <a:endParaRPr lang="en-US" dirty="0"/>
          </a:p>
          <a:p>
            <a:pPr>
              <a:lnSpc>
                <a:spcPct val="90000"/>
              </a:lnSpc>
            </a:pPr>
            <a:r>
              <a:rPr lang="en-US" dirty="0"/>
              <a:t>Fleming, Florey, and Chain </a:t>
            </a:r>
          </a:p>
          <a:p>
            <a:pPr marL="0" indent="0">
              <a:lnSpc>
                <a:spcPct val="90000"/>
              </a:lnSpc>
              <a:buNone/>
            </a:pPr>
            <a:r>
              <a:rPr lang="en-US" dirty="0"/>
              <a:t>   received Nobel Prize in 1945 </a:t>
            </a:r>
          </a:p>
          <a:p>
            <a:pPr marL="0" indent="0">
              <a:lnSpc>
                <a:spcPct val="90000"/>
              </a:lnSpc>
              <a:buNone/>
            </a:pPr>
            <a:r>
              <a:rPr lang="en-US" dirty="0"/>
              <a:t>   for discovery and production </a:t>
            </a:r>
          </a:p>
          <a:p>
            <a:pPr marL="0" indent="0">
              <a:lnSpc>
                <a:spcPct val="90000"/>
              </a:lnSpc>
              <a:buNone/>
            </a:pPr>
            <a:r>
              <a:rPr lang="en-US" dirty="0"/>
              <a:t>   of penicillin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dirty="0"/>
          </a:p>
        </p:txBody>
      </p:sp>
      <p:pic>
        <p:nvPicPr>
          <p:cNvPr id="8" name="Picture 5" descr="Photo of a Petri plate showing Staphylococcus aureus streaked back and forth across the surface and a Penicillium colony growing at the bottom.  The Penicillium mold colony secretes penicillin that kills the S. aureus streaked nearby resulting in an area around the Penicillium colony with no S. aureus growth." title="Figure 9.1 Bacteriocidal Action of Penicillin."/>
          <p:cNvPicPr>
            <a:picLocks noGrp="1" noChangeAspect="1" noChangeArrowheads="1"/>
          </p:cNvPicPr>
          <p:nvPr>
            <p:ph sz="half" idx="2"/>
          </p:nvPr>
        </p:nvPicPr>
        <p:blipFill>
          <a:blip r:embed="rId2" cstate="print"/>
          <a:stretch>
            <a:fillRect/>
          </a:stretch>
        </p:blipFill>
        <p:spPr bwMode="auto">
          <a:xfrm>
            <a:off x="4742819" y="2667000"/>
            <a:ext cx="4324981" cy="4035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837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Later Discoveries</a:t>
            </a:r>
          </a:p>
        </p:txBody>
      </p:sp>
      <p:sp>
        <p:nvSpPr>
          <p:cNvPr id="3" name="Content Placeholder 2"/>
          <p:cNvSpPr>
            <a:spLocks noGrp="1"/>
          </p:cNvSpPr>
          <p:nvPr>
            <p:ph idx="1"/>
          </p:nvPr>
        </p:nvSpPr>
        <p:spPr/>
        <p:txBody>
          <a:bodyPr/>
          <a:lstStyle/>
          <a:p>
            <a:r>
              <a:rPr lang="en-US" dirty="0"/>
              <a:t>Streptomycin, an antibiotic active against tuberculosis, was discovered by Selman Waksman (1944)</a:t>
            </a:r>
          </a:p>
          <a:p>
            <a:pPr lvl="1"/>
            <a:r>
              <a:rPr lang="en-US" dirty="0"/>
              <a:t>Nobel Prize was awarded to Waksman in 1952 for this </a:t>
            </a:r>
            <a:r>
              <a:rPr lang="en-US" dirty="0" smtClean="0"/>
              <a:t>discovery</a:t>
            </a:r>
          </a:p>
          <a:p>
            <a:pPr marL="457200" lvl="1" indent="0">
              <a:buNone/>
            </a:pPr>
            <a:endParaRPr lang="en-US" dirty="0"/>
          </a:p>
          <a:p>
            <a:r>
              <a:rPr lang="en-US" dirty="0"/>
              <a:t>By 1953 chloramphenicol, </a:t>
            </a:r>
            <a:r>
              <a:rPr lang="en-US" dirty="0" err="1"/>
              <a:t>terramycin</a:t>
            </a:r>
            <a:r>
              <a:rPr lang="en-US" dirty="0"/>
              <a:t>, neomycin, and tetracycline isolated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225757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67800" cy="1143000"/>
          </a:xfrm>
        </p:spPr>
        <p:txBody>
          <a:bodyPr>
            <a:normAutofit fontScale="90000"/>
          </a:bodyPr>
          <a:lstStyle/>
          <a:p>
            <a:r>
              <a:rPr lang="en-US" dirty="0" smtClean="0"/>
              <a:t>9.2 Antimicrobial Drugs Need to be Selectively Toxic over a Range of Effectiveness</a:t>
            </a:r>
            <a:endParaRPr lang="en-US" dirty="0"/>
          </a:p>
        </p:txBody>
      </p:sp>
      <p:sp>
        <p:nvSpPr>
          <p:cNvPr id="3" name="Content Placeholder 2"/>
          <p:cNvSpPr>
            <a:spLocks noGrp="1"/>
          </p:cNvSpPr>
          <p:nvPr>
            <p:ph idx="1"/>
          </p:nvPr>
        </p:nvSpPr>
        <p:spPr>
          <a:xfrm>
            <a:off x="381000" y="2514600"/>
            <a:ext cx="8229600" cy="3962400"/>
          </a:xfrm>
        </p:spPr>
        <p:txBody>
          <a:bodyPr/>
          <a:lstStyle/>
          <a:p>
            <a:pPr marL="514350" indent="-514350">
              <a:buFont typeface="+mj-lt"/>
              <a:buAutoNum type="arabicPeriod"/>
            </a:pPr>
            <a:r>
              <a:rPr lang="en-US" dirty="0"/>
              <a:t>Explain the difference between a narrow and broad spectrum </a:t>
            </a:r>
            <a:r>
              <a:rPr lang="en-US" dirty="0" smtClean="0"/>
              <a:t>drug</a:t>
            </a:r>
            <a:br>
              <a:rPr lang="en-US" dirty="0" smtClean="0"/>
            </a:br>
            <a:endParaRPr lang="en-US" dirty="0"/>
          </a:p>
          <a:p>
            <a:pPr marL="514350" indent="-514350">
              <a:buFont typeface="+mj-lt"/>
              <a:buAutoNum type="arabicPeriod"/>
            </a:pPr>
            <a:r>
              <a:rPr lang="en-US" dirty="0" smtClean="0"/>
              <a:t>Correlate drug action with </a:t>
            </a:r>
            <a:r>
              <a:rPr lang="en-US" dirty="0" err="1" smtClean="0"/>
              <a:t>cidal</a:t>
            </a:r>
            <a:r>
              <a:rPr lang="en-US" dirty="0" smtClean="0"/>
              <a:t> and static effects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a:p>
        </p:txBody>
      </p:sp>
    </p:spTree>
    <p:extLst>
      <p:ext uri="{BB962C8B-B14F-4D97-AF65-F5344CB8AC3E}">
        <p14:creationId xmlns:p14="http://schemas.microsoft.com/office/powerpoint/2010/main" val="1427561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General Characteristics of Antimicrobial Drugs</a:t>
            </a:r>
          </a:p>
        </p:txBody>
      </p:sp>
      <p:sp>
        <p:nvSpPr>
          <p:cNvPr id="3" name="Content Placeholder 2"/>
          <p:cNvSpPr>
            <a:spLocks noGrp="1"/>
          </p:cNvSpPr>
          <p:nvPr>
            <p:ph idx="1"/>
          </p:nvPr>
        </p:nvSpPr>
        <p:spPr>
          <a:xfrm>
            <a:off x="457200" y="1676401"/>
            <a:ext cx="8229600" cy="4953000"/>
          </a:xfrm>
        </p:spPr>
        <p:txBody>
          <a:bodyPr>
            <a:normAutofit fontScale="92500" lnSpcReduction="20000"/>
          </a:bodyPr>
          <a:lstStyle/>
          <a:p>
            <a:pPr>
              <a:lnSpc>
                <a:spcPct val="90000"/>
              </a:lnSpc>
            </a:pPr>
            <a:r>
              <a:rPr lang="en-US" dirty="0"/>
              <a:t>Selective toxicity</a:t>
            </a:r>
          </a:p>
          <a:p>
            <a:pPr lvl="1">
              <a:lnSpc>
                <a:spcPct val="90000"/>
              </a:lnSpc>
            </a:pPr>
            <a:r>
              <a:rPr lang="en-US" sz="2600" dirty="0"/>
              <a:t>ability of drug to kill or inhibit pathogen while damaging host as little as </a:t>
            </a:r>
            <a:r>
              <a:rPr lang="en-US" sz="2600" dirty="0" smtClean="0"/>
              <a:t>possible</a:t>
            </a:r>
          </a:p>
          <a:p>
            <a:pPr marL="457200" lvl="1" indent="0">
              <a:lnSpc>
                <a:spcPct val="90000"/>
              </a:lnSpc>
              <a:buNone/>
            </a:pPr>
            <a:endParaRPr lang="en-US" sz="2600" dirty="0"/>
          </a:p>
          <a:p>
            <a:pPr>
              <a:lnSpc>
                <a:spcPct val="90000"/>
              </a:lnSpc>
            </a:pPr>
            <a:r>
              <a:rPr lang="en-US" dirty="0"/>
              <a:t>Therapeutic dose</a:t>
            </a:r>
          </a:p>
          <a:p>
            <a:pPr lvl="1">
              <a:lnSpc>
                <a:spcPct val="90000"/>
              </a:lnSpc>
            </a:pPr>
            <a:r>
              <a:rPr lang="en-US" sz="2600" dirty="0"/>
              <a:t>drug level required for clinical </a:t>
            </a:r>
            <a:r>
              <a:rPr lang="en-US" sz="2600" dirty="0" smtClean="0"/>
              <a:t>treatment</a:t>
            </a:r>
          </a:p>
          <a:p>
            <a:pPr marL="457200" lvl="1" indent="0">
              <a:lnSpc>
                <a:spcPct val="90000"/>
              </a:lnSpc>
              <a:buNone/>
            </a:pPr>
            <a:endParaRPr lang="en-US" sz="2600" dirty="0"/>
          </a:p>
          <a:p>
            <a:pPr>
              <a:lnSpc>
                <a:spcPct val="90000"/>
              </a:lnSpc>
            </a:pPr>
            <a:r>
              <a:rPr lang="en-US" dirty="0"/>
              <a:t>Toxic dose</a:t>
            </a:r>
          </a:p>
          <a:p>
            <a:pPr lvl="1">
              <a:lnSpc>
                <a:spcPct val="90000"/>
              </a:lnSpc>
            </a:pPr>
            <a:r>
              <a:rPr lang="en-US" sz="2600" dirty="0"/>
              <a:t>drug level at which drug becomes too toxic for patient (i.e., produces side effects</a:t>
            </a:r>
            <a:r>
              <a:rPr lang="en-US" sz="2600" dirty="0" smtClean="0"/>
              <a:t>)</a:t>
            </a:r>
          </a:p>
          <a:p>
            <a:pPr marL="457200" lvl="1" indent="0">
              <a:lnSpc>
                <a:spcPct val="90000"/>
              </a:lnSpc>
              <a:buNone/>
            </a:pPr>
            <a:endParaRPr lang="en-US" sz="2600" dirty="0"/>
          </a:p>
          <a:p>
            <a:pPr>
              <a:lnSpc>
                <a:spcPct val="90000"/>
              </a:lnSpc>
            </a:pPr>
            <a:r>
              <a:rPr lang="en-US" dirty="0"/>
              <a:t>Therapeutic index</a:t>
            </a:r>
          </a:p>
          <a:p>
            <a:pPr lvl="1">
              <a:lnSpc>
                <a:spcPct val="90000"/>
              </a:lnSpc>
            </a:pPr>
            <a:r>
              <a:rPr lang="en-US" sz="2600" dirty="0"/>
              <a:t>ratio of toxic dose to therapeutic dose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spTree>
    <p:extLst>
      <p:ext uri="{BB962C8B-B14F-4D97-AF65-F5344CB8AC3E}">
        <p14:creationId xmlns:p14="http://schemas.microsoft.com/office/powerpoint/2010/main" val="1382854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General Characteristics of Antimicrobial </a:t>
            </a:r>
            <a:r>
              <a:rPr lang="en-US" dirty="0" smtClean="0"/>
              <a:t>Drugs - 1</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a:lnSpc>
                <a:spcPct val="90000"/>
              </a:lnSpc>
            </a:pPr>
            <a:r>
              <a:rPr lang="en-US" dirty="0"/>
              <a:t>Side effects – undesirable effects of drugs on host cells </a:t>
            </a:r>
            <a:endParaRPr lang="en-US" dirty="0" smtClean="0"/>
          </a:p>
          <a:p>
            <a:pPr marL="0" indent="0">
              <a:lnSpc>
                <a:spcPct val="90000"/>
              </a:lnSpc>
              <a:buNone/>
            </a:pPr>
            <a:endParaRPr lang="en-US" dirty="0"/>
          </a:p>
          <a:p>
            <a:pPr>
              <a:lnSpc>
                <a:spcPct val="90000"/>
              </a:lnSpc>
            </a:pPr>
            <a:r>
              <a:rPr lang="en-US" dirty="0"/>
              <a:t>Narrow-spectrum drugs – attack only a few different </a:t>
            </a:r>
            <a:r>
              <a:rPr lang="en-US" dirty="0" smtClean="0"/>
              <a:t>pathogens</a:t>
            </a:r>
          </a:p>
          <a:p>
            <a:pPr marL="0" indent="0">
              <a:lnSpc>
                <a:spcPct val="90000"/>
              </a:lnSpc>
              <a:buNone/>
            </a:pPr>
            <a:endParaRPr lang="en-US" dirty="0"/>
          </a:p>
          <a:p>
            <a:pPr>
              <a:lnSpc>
                <a:spcPct val="90000"/>
              </a:lnSpc>
            </a:pPr>
            <a:r>
              <a:rPr lang="en-US" dirty="0"/>
              <a:t>Broad-spectrum drugs – attack many different </a:t>
            </a:r>
            <a:r>
              <a:rPr lang="en-US" dirty="0" smtClean="0"/>
              <a:t>pathogens</a:t>
            </a:r>
          </a:p>
          <a:p>
            <a:pPr marL="0" indent="0">
              <a:lnSpc>
                <a:spcPct val="90000"/>
              </a:lnSpc>
              <a:buNone/>
            </a:pPr>
            <a:endParaRPr lang="en-US" dirty="0"/>
          </a:p>
          <a:p>
            <a:pPr>
              <a:lnSpc>
                <a:spcPct val="90000"/>
              </a:lnSpc>
            </a:pPr>
            <a:r>
              <a:rPr lang="en-US" dirty="0" err="1"/>
              <a:t>Cidal</a:t>
            </a:r>
            <a:r>
              <a:rPr lang="en-US" dirty="0"/>
              <a:t> agent - kills microbes </a:t>
            </a:r>
            <a:endParaRPr lang="en-US" dirty="0" smtClean="0"/>
          </a:p>
          <a:p>
            <a:pPr marL="0" indent="0">
              <a:lnSpc>
                <a:spcPct val="90000"/>
              </a:lnSpc>
              <a:buNone/>
            </a:pPr>
            <a:endParaRPr lang="en-US" dirty="0"/>
          </a:p>
          <a:p>
            <a:pPr>
              <a:lnSpc>
                <a:spcPct val="90000"/>
              </a:lnSpc>
            </a:pPr>
            <a:r>
              <a:rPr lang="en-US" dirty="0"/>
              <a:t>Static agent - inhibits growth of microbes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spTree>
    <p:extLst>
      <p:ext uri="{BB962C8B-B14F-4D97-AF65-F5344CB8AC3E}">
        <p14:creationId xmlns:p14="http://schemas.microsoft.com/office/powerpoint/2010/main" val="3334979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5867400" y="685800"/>
            <a:ext cx="2971800" cy="2239962"/>
          </a:xfrm>
        </p:spPr>
        <p:txBody>
          <a:bodyPr>
            <a:normAutofit fontScale="90000"/>
          </a:bodyPr>
          <a:lstStyle/>
          <a:p>
            <a:r>
              <a:rPr lang="en-US" dirty="0" smtClean="0"/>
              <a:t>Properties of Antimicrobial Drugs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10</a:t>
            </a:fld>
            <a:endParaRPr lang="en-US"/>
          </a:p>
        </p:txBody>
      </p:sp>
      <p:pic>
        <p:nvPicPr>
          <p:cNvPr id="7" name="Picture 2" descr="This is the part of Table 9.1 that appears on page 190 of the textbook.&#10;&#10;Heading Row: Antibiotic Group, Primary Effect, Mechanism of Action, Members, Spectrum, Common Side Effects&#10;Subheading: Cell Wall Synthesis Inhibition&#10;Penicillins, Cidal, Inhibit transpeptidation enzymes involved in cross-linking the polysaccharide chains of peptidoglycan, Penicillin G/penicillin V/methicillin, Narrow (Gram-positive), Allergic reactions (diarrhea, anemia, hives, nausea, renal toxicity)&#10;Penicillins, Cidal, Activate cell wall lytic enzymes, Ampicillin/carbenicillin, Broad (Gram-positive, some Gram-negative)&#10;Cephalosporins, Cidal, Same as above for penicillins, Cephalothin/cefoxitin/cefaperazone/ceftriaxone, Broad (Gram-positive, some Gram-negative), Allergic reactions/thrombophlebitis/renal injury&#10;Vancomycin, Cidal, Prevents transpeptidation of peptidoglycan subunits by binding to d-Ala-d-Ala amino acids at the end of peptide side chains. Thus it has a different binding site than that of the penicillins, Vancomycin, Narrow (Gram-positive), Ototoxic (tinnitus and deafness)/nephrotoxic/allergic reactions&#10;Subheading: Protein Synthesis Inhibition&#10;Aminoglycosides, Cidal, Bind to small ribosomal subunit (30S) and interfere with protein synthesis by directly inhibiting synthesis and causing misreading of mRNA, Neomycin/kanamycin/gentamicin, Broad (Gram-negative, mycobacteria), Ototoxic/renal damage/loss of balance/nausea/ allergic reactions&#10;Aminoglycosides, Cidal, Bind to small ribosomal subunit (30S) and interfere with protein synthesis by directly inhibiting synthesis and causing misreading of mRNA, Streptomycin, Narrow (aerobic Gram-negative)&#10;Tetracyclines, Static, Same as aminoglycosides, Oxytetracycline/chlortetracycline, Broad (including rickettsia and chlamydia), Gastrointestinal upset/teeth discoloration/renal and hepatic injury&#10;Macrolides, Static, Bind to 23S rRNA of large ribosomal subunit (50S) to inhibit peptide chain elongation during protein synthesis, Erythromycin/clindamycin, Broad (aerobic and anaerobic Gram-positive, some Gram-negative), Gastrointestinal upset/hepatic injury/anemia/allergic reactions&#10;Chloramphenicol, Static, Same as macrolides, Chloramphenicol, Broad (Gram-positive and negative, rickettsia and chlamydia), Depressed bone marrow function/allergic reactions&#10;Subheading: Nucleic Acid Synthesis Inhibition&#10;Quinolones and Fluoroquinolones, Cidal, Inhibit DNA gyrase and topoisomerase II thereby blocking DNA replication, Norfloxacin/ ciprofloxacin, Narrow (Gram- negatives better than Gram-positives), Tendonitis/headache/light-headedness/convulsions/allergic reactions&#10;Quinolones and Fluoroquinolones, Cidal, Inhibit DNA gyrase and topoisomerase II thereby blocking DNA replication, Levofloxacin, Broad spectrum&#10;Rifampin, Cidal, Inhibits bacterial DNA- dependent RNA polymerase, R-Cin/rifacilin/rifamycin/rimactane/rimpin/siticox, Mycobacterium infections and some Gram-negatives (e.g., Neisseria meningitidis and Haemophilus influenzae b), Nausea/vomiting/diarrhea/fatigue/anemia/drowsiness/headache/mouth ulceration/liver damage" title="Table 9.1 Properties of Some Common Antibacterial Drugs, Part 1"/>
          <p:cNvPicPr>
            <a:picLocks noGrp="1" noChangeAspect="1" noChangeArrowheads="1"/>
          </p:cNvPicPr>
          <p:nvPr>
            <p:ph idx="1"/>
          </p:nvPr>
        </p:nvPicPr>
        <p:blipFill>
          <a:blip r:embed="rId2" cstate="print"/>
          <a:stretch>
            <a:fillRect/>
          </a:stretch>
        </p:blipFill>
        <p:spPr bwMode="auto">
          <a:xfrm>
            <a:off x="228600" y="152400"/>
            <a:ext cx="5087967"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6944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152400" y="152400"/>
            <a:ext cx="8839200" cy="715962"/>
          </a:xfrm>
        </p:spPr>
        <p:txBody>
          <a:bodyPr>
            <a:normAutofit fontScale="90000"/>
          </a:bodyPr>
          <a:lstStyle/>
          <a:p>
            <a:r>
              <a:rPr lang="en-US" dirty="0" smtClean="0"/>
              <a:t>Further Properties of Antibacterial Drugs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11</a:t>
            </a:fld>
            <a:endParaRPr lang="en-US"/>
          </a:p>
        </p:txBody>
      </p:sp>
      <p:pic>
        <p:nvPicPr>
          <p:cNvPr id="7" name="Picture 2" descr="This is the part of Table 9.1 that appears on page 191 of the textbook.&#10;&#10;Heading Row: Antibiotic Group, Primary Effect, Mechanism of Action, Members, Spectrum, Common Side Effects&#10;Subheading: Cell Membrane Disruption&#10;Polymyxin B, Cidal, Binds to plasma membrane and disrupts its structure and permeability properties, Polymyxin B/polymyxin topical ointment, Narrow—mycobacterial infections, principally leprosy, Can cause severe kidney damage, drowsiness, dizziness&#10;Subheading: Antimetabolites&#10;Sulfonamides, Static, Inhibit folic acid synthesis by competing with p-aminobenzoic acid (PABA), Silver sulfadiazine/ sulfamethoxazole/sulfanilamide/sulfasalazine, Broad spectrum, Nausea, vomiting, and diarrhea; hypersensitivity reactions such as rashes, photosensitivity&#10;Trimethoprim, Static, Blocks folic acid synthesis by inhibiting the enzyme tetrahydrofolate reductase, Trimethoprim (in combination with a sulfamethoxazole), Broad spectrum, Same as sulfonamides but less frequent&#10;Dapsone, Static, Thought to interfere with folic acid synthesis, Dapsone, Narrow—mycobacterial infections (principally leprosy), Back/leg/stomach pains; discolored fingernails/lips/skin; breathing difficulties/fever/loss of appetite/skin rash/fatigue&#10;Isoniazid, Cidal if bacteria are actively growing (static if bacteria are dormant), Exact mechanism is unclear but thought to inhibit lipid synthesis (especially mycolic acid); putative enoyl-reductase inhibitor, Isoniazid, Narrow—mycobacterial infections (principally tuberculosis), Nausea/vomiting/liver damage/seizures/“pins and needles” in extremities (peripheral neuropathy)" title="Table 9.1 Properties of Some Common Antibacterial Drugs, Part 2"/>
          <p:cNvPicPr>
            <a:picLocks noGrp="1" noChangeAspect="1" noChangeArrowheads="1"/>
          </p:cNvPicPr>
          <p:nvPr>
            <p:ph idx="1"/>
          </p:nvPr>
        </p:nvPicPr>
        <p:blipFill>
          <a:blip r:embed="rId2" cstate="print"/>
          <a:stretch>
            <a:fillRect/>
          </a:stretch>
        </p:blipFill>
        <p:spPr bwMode="auto">
          <a:xfrm>
            <a:off x="501552" y="1223648"/>
            <a:ext cx="8185248" cy="555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5206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Measuring Effectiveness of </a:t>
            </a:r>
            <a:r>
              <a:rPr lang="en-US" dirty="0"/>
              <a:t>Antimicrobial </a:t>
            </a:r>
            <a:r>
              <a:rPr lang="en-US" dirty="0" smtClean="0"/>
              <a:t>Drugs</a:t>
            </a: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a:t>Effect of an agent may vary</a:t>
            </a:r>
          </a:p>
          <a:p>
            <a:pPr lvl="1"/>
            <a:r>
              <a:rPr lang="en-US" dirty="0"/>
              <a:t>with concentration, microbe, </a:t>
            </a:r>
            <a:r>
              <a:rPr lang="en-US" dirty="0" smtClean="0"/>
              <a:t>host</a:t>
            </a:r>
          </a:p>
          <a:p>
            <a:pPr marL="457200" lvl="1" indent="0">
              <a:buNone/>
            </a:pPr>
            <a:endParaRPr lang="en-US" dirty="0"/>
          </a:p>
          <a:p>
            <a:r>
              <a:rPr lang="en-US" dirty="0"/>
              <a:t>Effectiveness expressed in two ways</a:t>
            </a:r>
          </a:p>
          <a:p>
            <a:pPr lvl="1"/>
            <a:r>
              <a:rPr lang="en-US" dirty="0"/>
              <a:t>minimal inhibitory concentration (MIC)</a:t>
            </a:r>
          </a:p>
          <a:p>
            <a:pPr lvl="2"/>
            <a:r>
              <a:rPr lang="en-US" sz="2400" dirty="0"/>
              <a:t>lowest concentration of drug that inhibits growth of pathogen</a:t>
            </a:r>
          </a:p>
          <a:p>
            <a:pPr lvl="1"/>
            <a:r>
              <a:rPr lang="en-US" dirty="0"/>
              <a:t>minimal lethal concentration (MLC)</a:t>
            </a:r>
          </a:p>
          <a:p>
            <a:pPr lvl="2"/>
            <a:r>
              <a:rPr lang="en-US" sz="2400" dirty="0"/>
              <a:t>lowest concentration of drug that kills pathogen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Tree>
    <p:extLst>
      <p:ext uri="{BB962C8B-B14F-4D97-AF65-F5344CB8AC3E}">
        <p14:creationId xmlns:p14="http://schemas.microsoft.com/office/powerpoint/2010/main" val="4134437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9.3 Antimicrobial Activity Can Be </a:t>
            </a:r>
            <a:br>
              <a:rPr lang="en-US" dirty="0" smtClean="0"/>
            </a:br>
            <a:r>
              <a:rPr lang="en-US" dirty="0" smtClean="0"/>
              <a:t>Measured by Specific Tests</a:t>
            </a:r>
            <a:endParaRPr lang="en-US" dirty="0"/>
          </a:p>
        </p:txBody>
      </p:sp>
      <p:sp>
        <p:nvSpPr>
          <p:cNvPr id="3" name="Content Placeholder 2"/>
          <p:cNvSpPr>
            <a:spLocks noGrp="1"/>
          </p:cNvSpPr>
          <p:nvPr>
            <p:ph idx="1"/>
          </p:nvPr>
        </p:nvSpPr>
        <p:spPr>
          <a:xfrm>
            <a:off x="533400" y="1981200"/>
            <a:ext cx="8229600" cy="4525963"/>
          </a:xfrm>
        </p:spPr>
        <p:txBody>
          <a:bodyPr/>
          <a:lstStyle/>
          <a:p>
            <a:pPr marL="514350" indent="-514350">
              <a:buFont typeface="+mj-lt"/>
              <a:buAutoNum type="arabicPeriod"/>
            </a:pPr>
            <a:r>
              <a:rPr lang="en-US" dirty="0"/>
              <a:t>Explain how to determine the level of antibacterial drug activity using the dilution susceptibility test, the disk diffusion test, and the </a:t>
            </a:r>
            <a:r>
              <a:rPr lang="en-US" dirty="0" err="1" smtClean="0"/>
              <a:t>Etest</a:t>
            </a:r>
            <a:r>
              <a:rPr lang="en-US" dirty="0" smtClean="0"/>
              <a:t/>
            </a:r>
            <a:br>
              <a:rPr lang="en-US" dirty="0" smtClean="0"/>
            </a:br>
            <a:endParaRPr lang="en-US" dirty="0"/>
          </a:p>
          <a:p>
            <a:pPr marL="514350" indent="-514350">
              <a:buFont typeface="+mj-lt"/>
              <a:buAutoNum type="arabicPeriod"/>
            </a:pPr>
            <a:r>
              <a:rPr lang="en-US" dirty="0"/>
              <a:t>Predict antimicrobial drug levels </a:t>
            </a:r>
            <a:r>
              <a:rPr lang="en-US" i="1" dirty="0"/>
              <a:t>in vivo </a:t>
            </a:r>
            <a:r>
              <a:rPr lang="en-US" dirty="0"/>
              <a:t>from </a:t>
            </a:r>
            <a:r>
              <a:rPr lang="en-US" i="1" dirty="0"/>
              <a:t>in vitro </a:t>
            </a:r>
            <a:r>
              <a:rPr lang="en-US" dirty="0"/>
              <a:t>data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spTree>
    <p:extLst>
      <p:ext uri="{BB962C8B-B14F-4D97-AF65-F5344CB8AC3E}">
        <p14:creationId xmlns:p14="http://schemas.microsoft.com/office/powerpoint/2010/main" val="1812577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Determining the Level of </a:t>
            </a:r>
            <a:r>
              <a:rPr lang="en-US" dirty="0" smtClean="0"/>
              <a:t/>
            </a:r>
            <a:br>
              <a:rPr lang="en-US" dirty="0" smtClean="0"/>
            </a:br>
            <a:r>
              <a:rPr lang="en-US" dirty="0" smtClean="0"/>
              <a:t>Antimicrobial </a:t>
            </a:r>
            <a:r>
              <a:rPr lang="en-US" dirty="0"/>
              <a:t>Activity</a:t>
            </a:r>
          </a:p>
        </p:txBody>
      </p:sp>
      <p:sp>
        <p:nvSpPr>
          <p:cNvPr id="3" name="Content Placeholder 2"/>
          <p:cNvSpPr>
            <a:spLocks noGrp="1"/>
          </p:cNvSpPr>
          <p:nvPr>
            <p:ph idx="1"/>
          </p:nvPr>
        </p:nvSpPr>
        <p:spPr>
          <a:xfrm>
            <a:off x="609600" y="2209800"/>
            <a:ext cx="8229600" cy="4525963"/>
          </a:xfrm>
        </p:spPr>
        <p:txBody>
          <a:bodyPr/>
          <a:lstStyle/>
          <a:p>
            <a:r>
              <a:rPr lang="en-US" dirty="0"/>
              <a:t>Dilution susceptibility tests for </a:t>
            </a:r>
            <a:r>
              <a:rPr lang="en-US" dirty="0" smtClean="0"/>
              <a:t>MIC</a:t>
            </a:r>
          </a:p>
          <a:p>
            <a:pPr marL="0" indent="0">
              <a:buNone/>
            </a:pPr>
            <a:endParaRPr lang="en-US" dirty="0"/>
          </a:p>
          <a:p>
            <a:r>
              <a:rPr lang="en-US" dirty="0"/>
              <a:t>Disk diffusion tests – Kirby </a:t>
            </a:r>
            <a:r>
              <a:rPr lang="en-US" dirty="0" smtClean="0"/>
              <a:t>Bauer</a:t>
            </a:r>
          </a:p>
          <a:p>
            <a:pPr marL="0" indent="0">
              <a:buNone/>
            </a:pPr>
            <a:endParaRPr lang="en-US" dirty="0"/>
          </a:p>
          <a:p>
            <a:r>
              <a:rPr lang="en-US" dirty="0"/>
              <a:t>The E-test MIC and diffusion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spTree>
    <p:extLst>
      <p:ext uri="{BB962C8B-B14F-4D97-AF65-F5344CB8AC3E}">
        <p14:creationId xmlns:p14="http://schemas.microsoft.com/office/powerpoint/2010/main" val="1477228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Dilution Susceptibility Tests</a:t>
            </a:r>
          </a:p>
        </p:txBody>
      </p:sp>
      <p:sp>
        <p:nvSpPr>
          <p:cNvPr id="3" name="Content Placeholder 2"/>
          <p:cNvSpPr>
            <a:spLocks noGrp="1"/>
          </p:cNvSpPr>
          <p:nvPr>
            <p:ph idx="1"/>
          </p:nvPr>
        </p:nvSpPr>
        <p:spPr/>
        <p:txBody>
          <a:bodyPr/>
          <a:lstStyle/>
          <a:p>
            <a:r>
              <a:rPr lang="en-US" dirty="0"/>
              <a:t>Involves inoculating media containing different concentrations of drug</a:t>
            </a:r>
          </a:p>
          <a:p>
            <a:pPr lvl="1"/>
            <a:r>
              <a:rPr lang="en-US" dirty="0"/>
              <a:t>broth or agar with lowest concentration showing no growth is MIC</a:t>
            </a:r>
          </a:p>
          <a:p>
            <a:pPr lvl="1"/>
            <a:r>
              <a:rPr lang="en-US" dirty="0"/>
              <a:t>if broth used, tubes showing no growth can be </a:t>
            </a:r>
            <a:r>
              <a:rPr lang="en-US" dirty="0" err="1"/>
              <a:t>subcultured</a:t>
            </a:r>
            <a:r>
              <a:rPr lang="en-US" dirty="0"/>
              <a:t> into drug-free medium</a:t>
            </a:r>
          </a:p>
          <a:p>
            <a:pPr lvl="2"/>
            <a:r>
              <a:rPr lang="en-US" dirty="0"/>
              <a:t>broth from which microbe can’t be recovered is MLC</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365774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a:t>Disk Diffusion Tests</a:t>
            </a:r>
          </a:p>
        </p:txBody>
      </p:sp>
      <p:sp>
        <p:nvSpPr>
          <p:cNvPr id="6" name="Content Placeholder 5"/>
          <p:cNvSpPr>
            <a:spLocks noGrp="1"/>
          </p:cNvSpPr>
          <p:nvPr>
            <p:ph sz="half" idx="1"/>
          </p:nvPr>
        </p:nvSpPr>
        <p:spPr>
          <a:xfrm>
            <a:off x="0" y="914400"/>
            <a:ext cx="9144000" cy="2514600"/>
          </a:xfrm>
        </p:spPr>
        <p:txBody>
          <a:bodyPr>
            <a:normAutofit fontScale="92500" lnSpcReduction="20000"/>
          </a:bodyPr>
          <a:lstStyle/>
          <a:p>
            <a:r>
              <a:rPr lang="en-US" dirty="0" smtClean="0"/>
              <a:t>Disks impregnated with specific drugs are placed on agar plates inoculated with test microbe</a:t>
            </a:r>
            <a:br>
              <a:rPr lang="en-US" dirty="0" smtClean="0"/>
            </a:br>
            <a:endParaRPr lang="en-US" dirty="0" smtClean="0"/>
          </a:p>
          <a:p>
            <a:r>
              <a:rPr lang="en-US" dirty="0" smtClean="0"/>
              <a:t>Drug diffuses from disk into agar, establishing concentration gradient</a:t>
            </a:r>
            <a:br>
              <a:rPr lang="en-US" dirty="0" smtClean="0"/>
            </a:br>
            <a:endParaRPr lang="en-US" dirty="0" smtClean="0"/>
          </a:p>
          <a:p>
            <a:r>
              <a:rPr lang="en-US" dirty="0" smtClean="0"/>
              <a:t>Observe clear zones (no growth) around disks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pic>
        <p:nvPicPr>
          <p:cNvPr id="8" name="Picture 5" descr="Heading Row: Chemotherapeutic Drug, Disk Content, Zone Diameter (Nearest mm): Resistant, Intermediate, Susceptible&#10;Carbenicillin (with Proteus spp. and E. coli), 100 μg, ≤17, 18–22, ≥23&#10;Carbenicillin (with Pseudomonas aeruginosa), 100 μg, ≤13, 14–16, ≥17&#10;Erythromycin, 15 μg, ≤13, 14–17, ≥18&#10;Penicillin G (with staphylococci), 10 U (1 mg penicillin G sodium = 1,600 unites (U)), ≤20, 21–28, ≥29&#10;Penicillin G (with other microorganisms), 10 U, ≤11, 12–21, ≥22&#10;Streptomycin, 10 μg, ≤11, 12–14, ≥15&#10;Sulfonamides, 250 or 300 μg, ≤12, 13–16, ≥17" title="Table 9.2 Inhibition Zone Diameter of Selected Chemotherapeutic Drugs"/>
          <p:cNvPicPr>
            <a:picLocks noGrp="1" noChangeAspect="1" noChangeArrowheads="1"/>
          </p:cNvPicPr>
          <p:nvPr>
            <p:ph sz="half" idx="2"/>
          </p:nvPr>
        </p:nvPicPr>
        <p:blipFill>
          <a:blip r:embed="rId2" cstate="print"/>
          <a:stretch>
            <a:fillRect/>
          </a:stretch>
        </p:blipFill>
        <p:spPr bwMode="auto">
          <a:xfrm>
            <a:off x="533400" y="3505200"/>
            <a:ext cx="7896421" cy="3304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76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lstStyle/>
          <a:p>
            <a:r>
              <a:rPr lang="en-US" dirty="0" smtClean="0"/>
              <a:t>Kirby-Bauer Method</a:t>
            </a:r>
            <a:endParaRPr lang="en-US" dirty="0"/>
          </a:p>
        </p:txBody>
      </p:sp>
      <p:sp>
        <p:nvSpPr>
          <p:cNvPr id="3" name="Content Placeholder 2"/>
          <p:cNvSpPr>
            <a:spLocks noGrp="1"/>
          </p:cNvSpPr>
          <p:nvPr>
            <p:ph sz="half" idx="1"/>
          </p:nvPr>
        </p:nvSpPr>
        <p:spPr>
          <a:xfrm>
            <a:off x="36490" y="1143000"/>
            <a:ext cx="8915400" cy="2438400"/>
          </a:xfrm>
        </p:spPr>
        <p:txBody>
          <a:bodyPr>
            <a:normAutofit fontScale="85000" lnSpcReduction="20000"/>
          </a:bodyPr>
          <a:lstStyle/>
          <a:p>
            <a:r>
              <a:rPr lang="en-US" dirty="0" smtClean="0"/>
              <a:t>Standardized method for disk diffusion test</a:t>
            </a:r>
            <a:br>
              <a:rPr lang="en-US" dirty="0" smtClean="0"/>
            </a:br>
            <a:endParaRPr lang="en-US" dirty="0" smtClean="0"/>
          </a:p>
          <a:p>
            <a:r>
              <a:rPr lang="en-US" dirty="0" smtClean="0"/>
              <a:t>Sensitivity/resistance determined using tables relating zone diameter with microbial resistance</a:t>
            </a:r>
            <a:br>
              <a:rPr lang="en-US" dirty="0" smtClean="0"/>
            </a:br>
            <a:endParaRPr lang="en-US" dirty="0" smtClean="0"/>
          </a:p>
          <a:p>
            <a:r>
              <a:rPr lang="en-US" dirty="0" smtClean="0"/>
              <a:t>Table values plotted, used to determine if effective concentration of drug in body can be reached</a:t>
            </a:r>
          </a:p>
          <a:p>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17</a:t>
            </a:fld>
            <a:endParaRPr lang="en-US"/>
          </a:p>
        </p:txBody>
      </p:sp>
      <p:pic>
        <p:nvPicPr>
          <p:cNvPr id="1026" name="Picture 2" descr="(Left) Photo of a multiple antibiotic disk dispenser that places disks of different chemotherapeutic drugs on the solid medium in the Petri dish and (center) photo of Petri dish with disk diffusion test results (showing areas of zone clearing around effective chemotherapeutic drugs).  Kirby-Bauer test results are interpreted using a table that relates zone diameter to the degree of microbial resistance (as detailed in table 9.2).&#10;&#10;(Right) The relationship between the minimal inhibitory concentrations (MICs) of a hypothetical drug and the size of the zone around a disk in which microbial growth is inhibited is plotted to predict drug effectiveness. As the sensitivity of microorganisms to the drug increases, the MIC value decreases and the inhibition zone grows larger. Suppose that this drug varies from 7 to 28 μg/mL in the body during treatment. This figure shows that any pathogen with a zone of inhibition less than 12 mm in diameter will have an MIC value greater than 28 μg/mL and will be resistant to drug treatment. A pathogen with a zone diameter greater than 17 mm will have an MIC less than 7 μg/mL and will be sensitive to the drug. Zone diameters between 12 and 17 mm indicate intermediate sensitivity and usually signify resistance." title="Figures 9.2 and 9.3 The Kirby-Bauer Method and Interpretation of Kirby-Bauer Test Result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04800" y="3505200"/>
            <a:ext cx="8598446" cy="3215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3589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normAutofit/>
          </a:bodyPr>
          <a:lstStyle/>
          <a:p>
            <a:r>
              <a:rPr lang="en-US" dirty="0" smtClean="0"/>
              <a:t>The </a:t>
            </a:r>
            <a:r>
              <a:rPr lang="en-US" dirty="0" err="1" smtClean="0"/>
              <a:t>Etest</a:t>
            </a:r>
            <a:r>
              <a:rPr lang="en-US" sz="1600" baseline="100000" dirty="0" smtClean="0"/>
              <a:t>®</a:t>
            </a:r>
            <a:endParaRPr lang="en-US" sz="1600" baseline="100000" dirty="0"/>
          </a:p>
        </p:txBody>
      </p:sp>
      <p:sp>
        <p:nvSpPr>
          <p:cNvPr id="6" name="Content Placeholder 5"/>
          <p:cNvSpPr>
            <a:spLocks noGrp="1"/>
          </p:cNvSpPr>
          <p:nvPr>
            <p:ph sz="half" idx="1"/>
          </p:nvPr>
        </p:nvSpPr>
        <p:spPr>
          <a:xfrm>
            <a:off x="0" y="990600"/>
            <a:ext cx="4495800" cy="5715000"/>
          </a:xfrm>
        </p:spPr>
        <p:txBody>
          <a:bodyPr>
            <a:normAutofit/>
          </a:bodyPr>
          <a:lstStyle/>
          <a:p>
            <a:pPr>
              <a:lnSpc>
                <a:spcPct val="90000"/>
              </a:lnSpc>
            </a:pPr>
            <a:r>
              <a:rPr lang="en-US" dirty="0" smtClean="0"/>
              <a:t>Convenient for use with anaerobic pathogens</a:t>
            </a:r>
          </a:p>
          <a:p>
            <a:pPr marL="0" indent="0">
              <a:lnSpc>
                <a:spcPct val="90000"/>
              </a:lnSpc>
              <a:buNone/>
            </a:pPr>
            <a:endParaRPr lang="en-US" dirty="0" smtClean="0"/>
          </a:p>
          <a:p>
            <a:pPr>
              <a:lnSpc>
                <a:spcPct val="90000"/>
              </a:lnSpc>
            </a:pPr>
            <a:r>
              <a:rPr lang="en-US" dirty="0" smtClean="0"/>
              <a:t>Similar to disk diffusion method, but uses strip rather than disk</a:t>
            </a:r>
          </a:p>
          <a:p>
            <a:pPr marL="0" indent="0">
              <a:lnSpc>
                <a:spcPct val="90000"/>
              </a:lnSpc>
              <a:buNone/>
            </a:pPr>
            <a:endParaRPr lang="en-US" dirty="0" smtClean="0"/>
          </a:p>
          <a:p>
            <a:pPr>
              <a:lnSpc>
                <a:spcPct val="90000"/>
              </a:lnSpc>
            </a:pPr>
            <a:r>
              <a:rPr lang="en-US" dirty="0" err="1" smtClean="0"/>
              <a:t>Etest</a:t>
            </a:r>
            <a:r>
              <a:rPr lang="en-US" dirty="0" smtClean="0"/>
              <a:t> strips contain a gradient of an antibiotic</a:t>
            </a:r>
          </a:p>
          <a:p>
            <a:pPr marL="0" indent="0">
              <a:lnSpc>
                <a:spcPct val="90000"/>
              </a:lnSpc>
              <a:buNone/>
            </a:pPr>
            <a:endParaRPr lang="en-US" dirty="0" smtClean="0"/>
          </a:p>
          <a:p>
            <a:pPr>
              <a:lnSpc>
                <a:spcPct val="90000"/>
              </a:lnSpc>
            </a:pPr>
            <a:r>
              <a:rPr lang="en-US" dirty="0" smtClean="0"/>
              <a:t>Intersection of elliptical zone of inhibition with strip indicates MIC</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pic>
        <p:nvPicPr>
          <p:cNvPr id="8" name="Content Placeholder 7" descr="An example of a bacterial culture plate with Etest® strips. The minimal inhibitory concentration (MIC) value is read at the lowest number point where the inhibition ellipse intersects the scale on the strip (indicated here by an arrow)." title="Figure 9.4 Etest®."/>
          <p:cNvPicPr>
            <a:picLocks noGrp="1" noChangeAspect="1" noChangeArrowheads="1"/>
          </p:cNvPicPr>
          <p:nvPr>
            <p:ph sz="half" idx="2"/>
          </p:nvPr>
        </p:nvPicPr>
        <p:blipFill>
          <a:blip r:embed="rId2" cstate="print"/>
          <a:stretch>
            <a:fillRect/>
          </a:stretch>
        </p:blipFill>
        <p:spPr bwMode="auto">
          <a:xfrm>
            <a:off x="4525025" y="1143000"/>
            <a:ext cx="4430354"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4566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9.4 Antibacterial Drugs</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t>Compare antibacterial drug mechanisms of </a:t>
            </a:r>
            <a:r>
              <a:rPr lang="en-US" dirty="0" smtClean="0"/>
              <a:t>action</a:t>
            </a:r>
            <a:br>
              <a:rPr lang="en-US" dirty="0" smtClean="0"/>
            </a:br>
            <a:endParaRPr lang="en-US" dirty="0" smtClean="0"/>
          </a:p>
          <a:p>
            <a:pPr marL="514350" indent="-514350">
              <a:buFont typeface="+mj-lt"/>
              <a:buAutoNum type="arabicPeriod"/>
            </a:pPr>
            <a:r>
              <a:rPr lang="en-US" dirty="0" smtClean="0"/>
              <a:t>Correlate lack of microbial growth with selective toxicity</a:t>
            </a:r>
            <a:br>
              <a:rPr lang="en-US" dirty="0" smtClean="0"/>
            </a:br>
            <a:endParaRPr lang="en-US" dirty="0"/>
          </a:p>
          <a:p>
            <a:pPr marL="514350" indent="-514350">
              <a:buFont typeface="+mj-lt"/>
              <a:buAutoNum type="arabicPeriod"/>
            </a:pPr>
            <a:r>
              <a:rPr lang="en-US" dirty="0"/>
              <a:t>Relate side effect toxicity of antibacterial drugs to mechanism of </a:t>
            </a:r>
            <a:r>
              <a:rPr lang="en-US" dirty="0" smtClean="0"/>
              <a:t>action</a:t>
            </a:r>
            <a:br>
              <a:rPr lang="en-US" dirty="0" smtClean="0"/>
            </a:br>
            <a:endParaRPr lang="en-US" dirty="0"/>
          </a:p>
          <a:p>
            <a:pPr marL="514350" indent="-514350">
              <a:buFont typeface="+mj-lt"/>
              <a:buAutoNum type="arabicPeriod"/>
            </a:pPr>
            <a:r>
              <a:rPr lang="en-US" dirty="0"/>
              <a:t>Explain the relative effectiveness of various antibacterial agents based on drug target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dirty="0"/>
          </a:p>
        </p:txBody>
      </p:sp>
    </p:spTree>
    <p:extLst>
      <p:ext uri="{BB962C8B-B14F-4D97-AF65-F5344CB8AC3E}">
        <p14:creationId xmlns:p14="http://schemas.microsoft.com/office/powerpoint/2010/main" val="505397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Antimicrobial Drugs – Main Modes of Action</a:t>
            </a:r>
            <a:endParaRPr lang="en-US" dirty="0"/>
          </a:p>
        </p:txBody>
      </p:sp>
      <p:sp>
        <p:nvSpPr>
          <p:cNvPr id="3" name="Content Placeholder 2"/>
          <p:cNvSpPr>
            <a:spLocks noGrp="1"/>
          </p:cNvSpPr>
          <p:nvPr>
            <p:ph idx="1"/>
          </p:nvPr>
        </p:nvSpPr>
        <p:spPr>
          <a:xfrm>
            <a:off x="457200" y="1951037"/>
            <a:ext cx="8229600" cy="4525963"/>
          </a:xfrm>
        </p:spPr>
        <p:txBody>
          <a:bodyPr/>
          <a:lstStyle/>
          <a:p>
            <a:r>
              <a:rPr lang="en-US" dirty="0"/>
              <a:t>Inhibitors of cell wall </a:t>
            </a:r>
            <a:r>
              <a:rPr lang="en-US" dirty="0" smtClean="0"/>
              <a:t>synthesis</a:t>
            </a:r>
          </a:p>
          <a:p>
            <a:pPr marL="0" indent="0">
              <a:buNone/>
            </a:pPr>
            <a:endParaRPr lang="en-US" dirty="0"/>
          </a:p>
          <a:p>
            <a:r>
              <a:rPr lang="en-US" dirty="0"/>
              <a:t>Protein synthesis </a:t>
            </a:r>
            <a:r>
              <a:rPr lang="en-US" dirty="0" smtClean="0"/>
              <a:t>inhibitors</a:t>
            </a:r>
          </a:p>
          <a:p>
            <a:pPr marL="0" indent="0">
              <a:buNone/>
            </a:pPr>
            <a:endParaRPr lang="en-US" dirty="0"/>
          </a:p>
          <a:p>
            <a:r>
              <a:rPr lang="en-US" dirty="0"/>
              <a:t>Metabolic </a:t>
            </a:r>
            <a:r>
              <a:rPr lang="en-US" dirty="0" smtClean="0"/>
              <a:t>antagonists</a:t>
            </a:r>
          </a:p>
          <a:p>
            <a:pPr marL="0" indent="0">
              <a:buNone/>
            </a:pPr>
            <a:endParaRPr lang="en-US" dirty="0"/>
          </a:p>
          <a:p>
            <a:r>
              <a:rPr lang="en-US" dirty="0"/>
              <a:t>Nucleic acid synthesis inhibition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spTree>
    <p:extLst>
      <p:ext uri="{BB962C8B-B14F-4D97-AF65-F5344CB8AC3E}">
        <p14:creationId xmlns:p14="http://schemas.microsoft.com/office/powerpoint/2010/main" val="505397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Inhibitors of Cell Wall Synthesis</a:t>
            </a:r>
          </a:p>
        </p:txBody>
      </p:sp>
      <p:sp>
        <p:nvSpPr>
          <p:cNvPr id="3" name="Content Placeholder 2"/>
          <p:cNvSpPr>
            <a:spLocks noGrp="1"/>
          </p:cNvSpPr>
          <p:nvPr>
            <p:ph idx="1"/>
          </p:nvPr>
        </p:nvSpPr>
        <p:spPr/>
        <p:txBody>
          <a:bodyPr/>
          <a:lstStyle/>
          <a:p>
            <a:r>
              <a:rPr lang="en-US" dirty="0"/>
              <a:t>Penicillins</a:t>
            </a:r>
          </a:p>
          <a:p>
            <a:pPr lvl="1"/>
            <a:r>
              <a:rPr lang="en-US" dirty="0"/>
              <a:t>most are 6-aminopenicillanic acid derivatives and differ in side chain attached to amino </a:t>
            </a:r>
            <a:r>
              <a:rPr lang="en-US" dirty="0" smtClean="0"/>
              <a:t>group</a:t>
            </a:r>
            <a:br>
              <a:rPr lang="en-US" dirty="0" smtClean="0"/>
            </a:br>
            <a:endParaRPr lang="en-US" dirty="0"/>
          </a:p>
          <a:p>
            <a:pPr lvl="1"/>
            <a:r>
              <a:rPr lang="en-US" dirty="0"/>
              <a:t>most crucial feature of molecule is the </a:t>
            </a:r>
            <a:r>
              <a:rPr lang="en-US" dirty="0">
                <a:latin typeface="Symbol" pitchFamily="18" charset="2"/>
              </a:rPr>
              <a:t>b</a:t>
            </a:r>
            <a:r>
              <a:rPr lang="en-US" dirty="0"/>
              <a:t>-lactam ring</a:t>
            </a:r>
          </a:p>
          <a:p>
            <a:pPr lvl="2"/>
            <a:r>
              <a:rPr lang="en-US" sz="2400" dirty="0"/>
              <a:t>essential for bioactivity</a:t>
            </a:r>
          </a:p>
          <a:p>
            <a:pPr lvl="2"/>
            <a:r>
              <a:rPr lang="en-US" sz="2400" dirty="0"/>
              <a:t>many penicillin resistant organisms produce </a:t>
            </a:r>
            <a:r>
              <a:rPr lang="en-US" sz="2400" dirty="0">
                <a:latin typeface="Symbol" pitchFamily="18" charset="2"/>
              </a:rPr>
              <a:t>b</a:t>
            </a:r>
            <a:r>
              <a:rPr lang="en-US" sz="2400" dirty="0"/>
              <a:t>-lactamase (penicillinase) which hydrolyzes a bond in this ring</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spTree>
    <p:extLst>
      <p:ext uri="{BB962C8B-B14F-4D97-AF65-F5344CB8AC3E}">
        <p14:creationId xmlns:p14="http://schemas.microsoft.com/office/powerpoint/2010/main" val="505397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5181600" cy="1265238"/>
          </a:xfrm>
        </p:spPr>
        <p:txBody>
          <a:bodyPr>
            <a:normAutofit fontScale="90000"/>
          </a:bodyPr>
          <a:lstStyle/>
          <a:p>
            <a:r>
              <a:rPr lang="en-US" dirty="0" smtClean="0"/>
              <a:t>Penicillins - Structures</a:t>
            </a:r>
            <a:endParaRPr lang="en-US" dirty="0"/>
          </a:p>
        </p:txBody>
      </p:sp>
      <p:sp>
        <p:nvSpPr>
          <p:cNvPr id="6" name="Content Placeholder 5"/>
          <p:cNvSpPr>
            <a:spLocks noGrp="1"/>
          </p:cNvSpPr>
          <p:nvPr>
            <p:ph sz="half" idx="1"/>
          </p:nvPr>
        </p:nvSpPr>
        <p:spPr>
          <a:xfrm>
            <a:off x="228600" y="1524000"/>
            <a:ext cx="4267200" cy="5095134"/>
          </a:xfrm>
        </p:spPr>
        <p:txBody>
          <a:bodyPr>
            <a:normAutofit lnSpcReduction="10000"/>
          </a:bodyPr>
          <a:lstStyle/>
          <a:p>
            <a:r>
              <a:rPr lang="en-US" dirty="0" smtClean="0"/>
              <a:t>Mode of action </a:t>
            </a:r>
          </a:p>
          <a:p>
            <a:pPr lvl="1"/>
            <a:r>
              <a:rPr lang="en-US" dirty="0" smtClean="0"/>
              <a:t>blocks the enzyme that catalyzes </a:t>
            </a:r>
            <a:r>
              <a:rPr lang="en-US" dirty="0" err="1" smtClean="0"/>
              <a:t>transpeptidation</a:t>
            </a:r>
            <a:r>
              <a:rPr lang="en-US" dirty="0" smtClean="0"/>
              <a:t> (formation of cross-links in peptidoglycan) </a:t>
            </a:r>
            <a:br>
              <a:rPr lang="en-US" dirty="0" smtClean="0"/>
            </a:br>
            <a:endParaRPr lang="en-US" dirty="0" smtClean="0"/>
          </a:p>
          <a:p>
            <a:pPr lvl="1"/>
            <a:r>
              <a:rPr lang="en-US" dirty="0" smtClean="0"/>
              <a:t>prevents the synthesis of complete cell walls leading to lysis of cell</a:t>
            </a:r>
            <a:br>
              <a:rPr lang="en-US" dirty="0" smtClean="0"/>
            </a:br>
            <a:endParaRPr lang="en-US" dirty="0" smtClean="0"/>
          </a:p>
          <a:p>
            <a:pPr lvl="1"/>
            <a:r>
              <a:rPr lang="en-US" dirty="0" smtClean="0"/>
              <a:t>acts only on growing bacteria that are synthesizing new peptidoglycan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dirty="0"/>
          </a:p>
        </p:txBody>
      </p:sp>
      <p:pic>
        <p:nvPicPr>
          <p:cNvPr id="8" name="Content Placeholder 7" descr="This figure shows the chemical structures of Penicillin G, Penicillin V, Ampicillin, Carbenicillin, Methicillin, and Ticarcillin.&#10;&#10;Penicillin G - High activity against most Gram-positive bacteria, low against Gram-negative; destroyed by acid and penicillinase.&#10;&#10;Penicillin V - Same spectrum but more acid-resistant than penicillin G.&#10;&#10;Ampicillin - Active against Gram-positive and Gram-negative bacteria; acid stable.&#10;&#10;Carbenicillin - Active against Gram-negative bacteria such as Pseudomonas and Proteus; acid stable; not well absorbed by small intestine.&#10;&#10;Methicillin - Penicillinase-resistant but less active than penicillin G; acid-labile.&#10;&#10;Ticarcillin - Similar to carbenicillin but more active against Pseudomonas." title="Figure 9.5 Penicillins."/>
          <p:cNvPicPr>
            <a:picLocks noGrp="1" noChangeAspect="1" noChangeArrowheads="1"/>
          </p:cNvPicPr>
          <p:nvPr>
            <p:ph sz="half" idx="2"/>
          </p:nvPr>
        </p:nvPicPr>
        <p:blipFill>
          <a:blip r:embed="rId2" cstate="print"/>
          <a:stretch>
            <a:fillRect/>
          </a:stretch>
        </p:blipFill>
        <p:spPr bwMode="auto">
          <a:xfrm>
            <a:off x="4986210" y="76200"/>
            <a:ext cx="3774793" cy="6690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63562"/>
          </a:xfrm>
        </p:spPr>
        <p:txBody>
          <a:bodyPr>
            <a:normAutofit fontScale="90000"/>
          </a:bodyPr>
          <a:lstStyle/>
          <a:p>
            <a:r>
              <a:rPr lang="en-US" dirty="0"/>
              <a:t>Other Actions </a:t>
            </a:r>
            <a:r>
              <a:rPr lang="en-US" dirty="0" smtClean="0"/>
              <a:t>and Types of </a:t>
            </a:r>
            <a:r>
              <a:rPr lang="en-US" dirty="0"/>
              <a:t>Penicillins</a:t>
            </a:r>
          </a:p>
        </p:txBody>
      </p:sp>
      <p:sp>
        <p:nvSpPr>
          <p:cNvPr id="3" name="Content Placeholder 2"/>
          <p:cNvSpPr>
            <a:spLocks noGrp="1"/>
          </p:cNvSpPr>
          <p:nvPr>
            <p:ph idx="1"/>
          </p:nvPr>
        </p:nvSpPr>
        <p:spPr>
          <a:xfrm>
            <a:off x="457200" y="762000"/>
            <a:ext cx="8229600" cy="6096000"/>
          </a:xfrm>
        </p:spPr>
        <p:txBody>
          <a:bodyPr>
            <a:normAutofit/>
          </a:bodyPr>
          <a:lstStyle/>
          <a:p>
            <a:pPr>
              <a:lnSpc>
                <a:spcPct val="120000"/>
              </a:lnSpc>
            </a:pPr>
            <a:r>
              <a:rPr lang="en-US" sz="1800" dirty="0"/>
              <a:t>Binds to periplasmic proteins (penicillin-binding proteins, PBPs</a:t>
            </a:r>
            <a:r>
              <a:rPr lang="en-US" sz="1800" dirty="0" smtClean="0"/>
              <a:t>)</a:t>
            </a:r>
            <a:br>
              <a:rPr lang="en-US" sz="1800" dirty="0" smtClean="0"/>
            </a:br>
            <a:endParaRPr lang="en-US" sz="1800" dirty="0"/>
          </a:p>
          <a:p>
            <a:pPr>
              <a:lnSpc>
                <a:spcPct val="120000"/>
              </a:lnSpc>
            </a:pPr>
            <a:r>
              <a:rPr lang="en-US" sz="1800" dirty="0"/>
              <a:t>May activate bacterial autolysins and </a:t>
            </a:r>
            <a:r>
              <a:rPr lang="en-US" sz="1800" dirty="0" err="1"/>
              <a:t>murein</a:t>
            </a:r>
            <a:r>
              <a:rPr lang="en-US" sz="1800" dirty="0"/>
              <a:t> </a:t>
            </a:r>
            <a:r>
              <a:rPr lang="en-US" sz="1800" dirty="0" smtClean="0"/>
              <a:t>hydrolases</a:t>
            </a:r>
            <a:br>
              <a:rPr lang="en-US" sz="1800" dirty="0" smtClean="0"/>
            </a:br>
            <a:endParaRPr lang="en-US" sz="1800" dirty="0"/>
          </a:p>
          <a:p>
            <a:pPr>
              <a:lnSpc>
                <a:spcPct val="120000"/>
              </a:lnSpc>
            </a:pPr>
            <a:r>
              <a:rPr lang="en-US" sz="1800" dirty="0"/>
              <a:t>Stimulate bacterial </a:t>
            </a:r>
            <a:r>
              <a:rPr lang="en-US" sz="1800" dirty="0" err="1"/>
              <a:t>holins</a:t>
            </a:r>
            <a:r>
              <a:rPr lang="en-US" sz="1800" dirty="0"/>
              <a:t> to form holes or lesions in the plasma </a:t>
            </a:r>
            <a:r>
              <a:rPr lang="en-US" sz="1800" dirty="0" smtClean="0"/>
              <a:t>membrane</a:t>
            </a:r>
            <a:br>
              <a:rPr lang="en-US" sz="1800" dirty="0" smtClean="0"/>
            </a:br>
            <a:endParaRPr lang="en-US" sz="1800" dirty="0" smtClean="0"/>
          </a:p>
          <a:p>
            <a:pPr>
              <a:lnSpc>
                <a:spcPct val="120000"/>
              </a:lnSpc>
            </a:pPr>
            <a:r>
              <a:rPr lang="en-US" sz="1800" dirty="0"/>
              <a:t>Naturally occurring </a:t>
            </a:r>
            <a:r>
              <a:rPr lang="en-US" sz="1800" dirty="0" err="1"/>
              <a:t>penicillins</a:t>
            </a:r>
            <a:endParaRPr lang="en-US" sz="1800" dirty="0"/>
          </a:p>
          <a:p>
            <a:pPr lvl="1">
              <a:lnSpc>
                <a:spcPct val="120000"/>
              </a:lnSpc>
            </a:pPr>
            <a:r>
              <a:rPr lang="en-US" sz="1800" dirty="0"/>
              <a:t>penicillin V and G are narrow </a:t>
            </a:r>
            <a:r>
              <a:rPr lang="en-US" sz="1800" dirty="0" smtClean="0"/>
              <a:t>spectrum</a:t>
            </a:r>
            <a:br>
              <a:rPr lang="en-US" sz="1800" dirty="0" smtClean="0"/>
            </a:br>
            <a:endParaRPr lang="en-US" sz="1800" dirty="0"/>
          </a:p>
          <a:p>
            <a:pPr>
              <a:lnSpc>
                <a:spcPct val="120000"/>
              </a:lnSpc>
            </a:pPr>
            <a:r>
              <a:rPr lang="en-US" sz="1800" dirty="0"/>
              <a:t>Semisynthetic </a:t>
            </a:r>
            <a:r>
              <a:rPr lang="en-US" sz="1800" dirty="0" err="1"/>
              <a:t>penicillins</a:t>
            </a:r>
            <a:r>
              <a:rPr lang="en-US" sz="1800" dirty="0"/>
              <a:t> have a broader spectrum than naturally occurring </a:t>
            </a:r>
            <a:r>
              <a:rPr lang="en-US" sz="1800" dirty="0" smtClean="0"/>
              <a:t>ones</a:t>
            </a:r>
            <a:br>
              <a:rPr lang="en-US" sz="1800" dirty="0" smtClean="0"/>
            </a:br>
            <a:endParaRPr lang="en-US" sz="1800" dirty="0"/>
          </a:p>
          <a:p>
            <a:pPr>
              <a:lnSpc>
                <a:spcPct val="120000"/>
              </a:lnSpc>
            </a:pPr>
            <a:r>
              <a:rPr lang="en-US" sz="1800" dirty="0"/>
              <a:t>Resistance to </a:t>
            </a:r>
            <a:r>
              <a:rPr lang="en-US" sz="1800" dirty="0" err="1"/>
              <a:t>penicillins</a:t>
            </a:r>
            <a:r>
              <a:rPr lang="en-US" sz="1800" dirty="0"/>
              <a:t>, including the semisynthetic analogs, continues to be a </a:t>
            </a:r>
            <a:r>
              <a:rPr lang="en-US" sz="1800" dirty="0" smtClean="0"/>
              <a:t>problem</a:t>
            </a:r>
            <a:br>
              <a:rPr lang="en-US" sz="1800" dirty="0" smtClean="0"/>
            </a:br>
            <a:endParaRPr lang="en-US" sz="1800" dirty="0"/>
          </a:p>
          <a:p>
            <a:pPr>
              <a:lnSpc>
                <a:spcPct val="120000"/>
              </a:lnSpc>
            </a:pPr>
            <a:r>
              <a:rPr lang="en-US" sz="1800" dirty="0"/>
              <a:t>~1–5% of adults in U.S. are allergic to penicillin</a:t>
            </a:r>
          </a:p>
          <a:p>
            <a:pPr lvl="1">
              <a:lnSpc>
                <a:spcPct val="120000"/>
              </a:lnSpc>
            </a:pPr>
            <a:r>
              <a:rPr lang="en-US" sz="1800" dirty="0"/>
              <a:t>allergy can lead to a violent allergic response and death</a:t>
            </a:r>
          </a:p>
          <a:p>
            <a:pPr>
              <a:lnSpc>
                <a:spcPct val="120000"/>
              </a:lnSpc>
            </a:pPr>
            <a:endParaRPr lang="en-US" sz="18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505397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t>Cephalosporins</a:t>
            </a:r>
            <a:endParaRPr lang="en-US" dirty="0"/>
          </a:p>
        </p:txBody>
      </p:sp>
      <p:sp>
        <p:nvSpPr>
          <p:cNvPr id="6" name="Content Placeholder 5"/>
          <p:cNvSpPr>
            <a:spLocks noGrp="1"/>
          </p:cNvSpPr>
          <p:nvPr>
            <p:ph sz="half" idx="1"/>
          </p:nvPr>
        </p:nvSpPr>
        <p:spPr>
          <a:xfrm>
            <a:off x="152400" y="762000"/>
            <a:ext cx="8991600" cy="2286000"/>
          </a:xfrm>
        </p:spPr>
        <p:txBody>
          <a:bodyPr>
            <a:normAutofit fontScale="92500" lnSpcReduction="20000"/>
          </a:bodyPr>
          <a:lstStyle/>
          <a:p>
            <a:r>
              <a:rPr lang="en-US" dirty="0" smtClean="0"/>
              <a:t>Structurally and functionally similar to </a:t>
            </a:r>
            <a:r>
              <a:rPr lang="en-US" dirty="0" err="1" smtClean="0"/>
              <a:t>penicillins</a:t>
            </a:r>
            <a:r>
              <a:rPr lang="en-US" dirty="0" smtClean="0"/>
              <a:t/>
            </a:r>
            <a:br>
              <a:rPr lang="en-US" dirty="0" smtClean="0"/>
            </a:br>
            <a:endParaRPr lang="en-US" dirty="0" smtClean="0"/>
          </a:p>
          <a:p>
            <a:r>
              <a:rPr lang="en-US" dirty="0" smtClean="0"/>
              <a:t>Broad-spectrum antibiotics that can be used by most patients that are allergic to penicillin </a:t>
            </a:r>
            <a:br>
              <a:rPr lang="en-US" dirty="0" smtClean="0"/>
            </a:br>
            <a:endParaRPr lang="en-US" dirty="0" smtClean="0"/>
          </a:p>
          <a:p>
            <a:r>
              <a:rPr lang="en-US" dirty="0" smtClean="0"/>
              <a:t>Four categories based on their spectrum of activity</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pic>
        <p:nvPicPr>
          <p:cNvPr id="8" name="Content Placeholder 7" descr="This figure shows the chemical structures of Cephalothin (First-generation cephalosporin), Cefoxitin (Second-generation cephalosporin), Cefoperazone and Ceftriaxone (Third-generation cephalosporins).  These drugs are derivatives of 7-aminocephalosporanic acid and contain a β-lactam ring." title="Figure 9.6 Cephalosporin Antibiotics."/>
          <p:cNvPicPr>
            <a:picLocks noGrp="1" noChangeAspect="1" noChangeArrowheads="1"/>
          </p:cNvPicPr>
          <p:nvPr>
            <p:ph sz="half" idx="2"/>
          </p:nvPr>
        </p:nvPicPr>
        <p:blipFill>
          <a:blip r:embed="rId2" cstate="print"/>
          <a:stretch>
            <a:fillRect/>
          </a:stretch>
        </p:blipFill>
        <p:spPr bwMode="auto">
          <a:xfrm>
            <a:off x="1357031" y="2895600"/>
            <a:ext cx="5956926" cy="3978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smtClean="0"/>
              <a:t>Vancomycin and </a:t>
            </a:r>
            <a:r>
              <a:rPr lang="en-US" dirty="0" err="1" smtClean="0"/>
              <a:t>Teicoplanin</a:t>
            </a:r>
            <a:endParaRPr lang="en-US" dirty="0"/>
          </a:p>
        </p:txBody>
      </p:sp>
      <p:sp>
        <p:nvSpPr>
          <p:cNvPr id="7" name="Content Placeholder 6"/>
          <p:cNvSpPr>
            <a:spLocks noGrp="1"/>
          </p:cNvSpPr>
          <p:nvPr>
            <p:ph sz="half" idx="2"/>
          </p:nvPr>
        </p:nvSpPr>
        <p:spPr>
          <a:xfrm>
            <a:off x="4953000" y="1676400"/>
            <a:ext cx="4158803" cy="4648200"/>
          </a:xfrm>
        </p:spPr>
        <p:txBody>
          <a:bodyPr>
            <a:normAutofit fontScale="92500" lnSpcReduction="10000"/>
          </a:bodyPr>
          <a:lstStyle/>
          <a:p>
            <a:pPr>
              <a:lnSpc>
                <a:spcPct val="90000"/>
              </a:lnSpc>
            </a:pPr>
            <a:r>
              <a:rPr lang="en-US" dirty="0" err="1" smtClean="0"/>
              <a:t>Glycopeptide</a:t>
            </a:r>
            <a:r>
              <a:rPr lang="en-US" dirty="0" smtClean="0"/>
              <a:t> antibiotics</a:t>
            </a:r>
            <a:br>
              <a:rPr lang="en-US" dirty="0" smtClean="0"/>
            </a:br>
            <a:endParaRPr lang="en-US" dirty="0" smtClean="0"/>
          </a:p>
          <a:p>
            <a:pPr>
              <a:lnSpc>
                <a:spcPct val="90000"/>
              </a:lnSpc>
            </a:pPr>
            <a:r>
              <a:rPr lang="en-US" dirty="0" smtClean="0"/>
              <a:t>Inhibit cell wall synthesis</a:t>
            </a:r>
            <a:br>
              <a:rPr lang="en-US" dirty="0" smtClean="0"/>
            </a:br>
            <a:endParaRPr lang="en-US" dirty="0" smtClean="0"/>
          </a:p>
          <a:p>
            <a:r>
              <a:rPr lang="en-US" dirty="0" smtClean="0"/>
              <a:t>Vancomycin - important for treatment of antibiotic-resistant staphylococcal and </a:t>
            </a:r>
            <a:r>
              <a:rPr lang="en-US" dirty="0" err="1" smtClean="0"/>
              <a:t>enterococcal</a:t>
            </a:r>
            <a:r>
              <a:rPr lang="en-US" dirty="0" smtClean="0"/>
              <a:t> infections</a:t>
            </a:r>
          </a:p>
          <a:p>
            <a:pPr lvl="1"/>
            <a:r>
              <a:rPr lang="en-US" dirty="0" smtClean="0"/>
              <a:t>previously considered “drug of last resort” so rise in resistance to vancomycin is of great concern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pic>
        <p:nvPicPr>
          <p:cNvPr id="8" name="Content Placeholder 7" descr="This figure shows the chemical structure of Vancomycin.  The cup-shaped vancomycin molecule binds to the d-alanyl-d-alanine terminal sequence of peptidoglycan." title="Figure 9.7 Vancomycin."/>
          <p:cNvPicPr>
            <a:picLocks noGrp="1" noChangeAspect="1" noChangeArrowheads="1"/>
          </p:cNvPicPr>
          <p:nvPr>
            <p:ph sz="half" idx="1"/>
          </p:nvPr>
        </p:nvPicPr>
        <p:blipFill>
          <a:blip r:embed="rId2" cstate="print"/>
          <a:stretch>
            <a:fillRect/>
          </a:stretch>
        </p:blipFill>
        <p:spPr bwMode="auto">
          <a:xfrm>
            <a:off x="0" y="1517138"/>
            <a:ext cx="4994356" cy="4731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Protein Synthesis Inhibitors</a:t>
            </a:r>
          </a:p>
        </p:txBody>
      </p:sp>
      <p:sp>
        <p:nvSpPr>
          <p:cNvPr id="3" name="Content Placeholder 2"/>
          <p:cNvSpPr>
            <a:spLocks noGrp="1"/>
          </p:cNvSpPr>
          <p:nvPr>
            <p:ph idx="1"/>
          </p:nvPr>
        </p:nvSpPr>
        <p:spPr>
          <a:xfrm>
            <a:off x="457200" y="1600200"/>
            <a:ext cx="8229600" cy="4953000"/>
          </a:xfrm>
        </p:spPr>
        <p:txBody>
          <a:bodyPr>
            <a:normAutofit/>
          </a:bodyPr>
          <a:lstStyle/>
          <a:p>
            <a:pPr>
              <a:lnSpc>
                <a:spcPct val="80000"/>
              </a:lnSpc>
            </a:pPr>
            <a:r>
              <a:rPr lang="en-US" dirty="0"/>
              <a:t>Many antibiotics bind specifically to the bacterial ribosome</a:t>
            </a:r>
          </a:p>
          <a:p>
            <a:pPr lvl="1">
              <a:lnSpc>
                <a:spcPct val="80000"/>
              </a:lnSpc>
            </a:pPr>
            <a:r>
              <a:rPr lang="en-US" dirty="0"/>
              <a:t>binding can be to 30S (small) or 50S (large) ribosomal </a:t>
            </a:r>
            <a:r>
              <a:rPr lang="en-US" dirty="0" smtClean="0"/>
              <a:t>subunit</a:t>
            </a:r>
          </a:p>
          <a:p>
            <a:pPr marL="457200" lvl="1" indent="0">
              <a:lnSpc>
                <a:spcPct val="80000"/>
              </a:lnSpc>
              <a:buNone/>
            </a:pPr>
            <a:endParaRPr lang="en-US" dirty="0"/>
          </a:p>
          <a:p>
            <a:pPr>
              <a:lnSpc>
                <a:spcPct val="80000"/>
              </a:lnSpc>
            </a:pPr>
            <a:r>
              <a:rPr lang="en-US" dirty="0"/>
              <a:t>Other antibiotics inhibit a step in protein synthesis</a:t>
            </a:r>
          </a:p>
          <a:p>
            <a:pPr lvl="1">
              <a:lnSpc>
                <a:spcPct val="80000"/>
              </a:lnSpc>
            </a:pPr>
            <a:r>
              <a:rPr lang="en-US" dirty="0"/>
              <a:t>aminoacyl-</a:t>
            </a:r>
            <a:r>
              <a:rPr lang="en-US" dirty="0" err="1"/>
              <a:t>tRNA</a:t>
            </a:r>
            <a:r>
              <a:rPr lang="en-US" dirty="0"/>
              <a:t> binding</a:t>
            </a:r>
          </a:p>
          <a:p>
            <a:pPr lvl="1">
              <a:lnSpc>
                <a:spcPct val="80000"/>
              </a:lnSpc>
            </a:pPr>
            <a:r>
              <a:rPr lang="en-US" dirty="0"/>
              <a:t>peptide bond formation</a:t>
            </a:r>
          </a:p>
          <a:p>
            <a:pPr lvl="1">
              <a:lnSpc>
                <a:spcPct val="80000"/>
              </a:lnSpc>
            </a:pPr>
            <a:r>
              <a:rPr lang="en-US" dirty="0"/>
              <a:t>mRNA reading</a:t>
            </a:r>
          </a:p>
          <a:p>
            <a:pPr lvl="1">
              <a:lnSpc>
                <a:spcPct val="80000"/>
              </a:lnSpc>
            </a:pPr>
            <a:r>
              <a:rPr lang="en-US" dirty="0"/>
              <a:t>translocation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spTree>
    <p:extLst>
      <p:ext uri="{BB962C8B-B14F-4D97-AF65-F5344CB8AC3E}">
        <p14:creationId xmlns:p14="http://schemas.microsoft.com/office/powerpoint/2010/main" val="505397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lstStyle/>
          <a:p>
            <a:r>
              <a:rPr lang="en-US" dirty="0"/>
              <a:t>Aminoglycoside Antibiotics</a:t>
            </a:r>
          </a:p>
        </p:txBody>
      </p:sp>
      <p:sp>
        <p:nvSpPr>
          <p:cNvPr id="6" name="Content Placeholder 5"/>
          <p:cNvSpPr>
            <a:spLocks noGrp="1"/>
          </p:cNvSpPr>
          <p:nvPr>
            <p:ph sz="half" idx="1"/>
          </p:nvPr>
        </p:nvSpPr>
        <p:spPr>
          <a:xfrm>
            <a:off x="76200" y="1371600"/>
            <a:ext cx="4419600" cy="5486400"/>
          </a:xfrm>
        </p:spPr>
        <p:txBody>
          <a:bodyPr>
            <a:normAutofit/>
          </a:bodyPr>
          <a:lstStyle/>
          <a:p>
            <a:pPr>
              <a:lnSpc>
                <a:spcPct val="90000"/>
              </a:lnSpc>
            </a:pPr>
            <a:r>
              <a:rPr lang="en-US" dirty="0" smtClean="0"/>
              <a:t>Large group, all with a cyclohexane ring, amino sugars </a:t>
            </a:r>
          </a:p>
          <a:p>
            <a:pPr marL="0" indent="0">
              <a:lnSpc>
                <a:spcPct val="90000"/>
              </a:lnSpc>
              <a:buNone/>
            </a:pPr>
            <a:endParaRPr lang="en-US" dirty="0" smtClean="0"/>
          </a:p>
          <a:p>
            <a:pPr>
              <a:lnSpc>
                <a:spcPct val="90000"/>
              </a:lnSpc>
            </a:pPr>
            <a:r>
              <a:rPr lang="en-US" dirty="0" smtClean="0"/>
              <a:t>Bind to 30S ribosomal subunit, interfere with protein synthesis by directly inhibiting the process and by causing misreading of the messenger RNA</a:t>
            </a:r>
          </a:p>
          <a:p>
            <a:pPr marL="0" indent="0">
              <a:lnSpc>
                <a:spcPct val="90000"/>
              </a:lnSpc>
              <a:buNone/>
            </a:pPr>
            <a:endParaRPr lang="en-US" dirty="0" smtClean="0"/>
          </a:p>
          <a:p>
            <a:pPr>
              <a:lnSpc>
                <a:spcPct val="90000"/>
              </a:lnSpc>
            </a:pPr>
            <a:r>
              <a:rPr lang="en-US" dirty="0" smtClean="0"/>
              <a:t>Resistance and toxicity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pic>
        <p:nvPicPr>
          <p:cNvPr id="8" name="Picture 2" descr="Chemical structure of Streptomycin and Gentamicin C_1a_ with cyclohexane ring and amino sugar identified." title="Figure 9.8 Representative Aminoglycoside Antibiotics."/>
          <p:cNvPicPr>
            <a:picLocks noGrp="1" noChangeAspect="1" noChangeArrowheads="1"/>
          </p:cNvPicPr>
          <p:nvPr>
            <p:ph sz="half" idx="2"/>
          </p:nvPr>
        </p:nvPicPr>
        <p:blipFill>
          <a:blip r:embed="rId2" cstate="print"/>
          <a:stretch>
            <a:fillRect/>
          </a:stretch>
        </p:blipFill>
        <p:spPr bwMode="auto">
          <a:xfrm>
            <a:off x="4096294" y="1828800"/>
            <a:ext cx="5004881" cy="4027017"/>
          </a:xfrm>
          <a:prstGeom prst="rect">
            <a:avLst/>
          </a:prstGeom>
          <a:noFill/>
        </p:spPr>
      </p:pic>
    </p:spTree>
    <p:extLst>
      <p:ext uri="{BB962C8B-B14F-4D97-AF65-F5344CB8AC3E}">
        <p14:creationId xmlns:p14="http://schemas.microsoft.com/office/powerpoint/2010/main" val="505397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err="1" smtClean="0"/>
              <a:t>Tetracyclines</a:t>
            </a:r>
            <a:endParaRPr lang="en-US" dirty="0"/>
          </a:p>
        </p:txBody>
      </p:sp>
      <p:sp>
        <p:nvSpPr>
          <p:cNvPr id="7" name="Content Placeholder 6"/>
          <p:cNvSpPr>
            <a:spLocks noGrp="1"/>
          </p:cNvSpPr>
          <p:nvPr>
            <p:ph sz="half" idx="2"/>
          </p:nvPr>
        </p:nvSpPr>
        <p:spPr>
          <a:xfrm>
            <a:off x="76200" y="4648200"/>
            <a:ext cx="9067800" cy="2133600"/>
          </a:xfrm>
        </p:spPr>
        <p:txBody>
          <a:bodyPr>
            <a:normAutofit fontScale="70000" lnSpcReduction="20000"/>
          </a:bodyPr>
          <a:lstStyle/>
          <a:p>
            <a:pPr>
              <a:lnSpc>
                <a:spcPct val="90000"/>
              </a:lnSpc>
            </a:pPr>
            <a:r>
              <a:rPr lang="en-US" dirty="0" smtClean="0"/>
              <a:t>All have a four-ring structure to which a variety of side chains are attached</a:t>
            </a:r>
            <a:br>
              <a:rPr lang="en-US" dirty="0" smtClean="0"/>
            </a:br>
            <a:endParaRPr lang="en-US" dirty="0" smtClean="0"/>
          </a:p>
          <a:p>
            <a:pPr>
              <a:lnSpc>
                <a:spcPct val="90000"/>
              </a:lnSpc>
            </a:pPr>
            <a:r>
              <a:rPr lang="en-US" dirty="0" smtClean="0"/>
              <a:t>Are broad spectrum, bacteriostatic</a:t>
            </a:r>
            <a:br>
              <a:rPr lang="en-US" dirty="0" smtClean="0"/>
            </a:br>
            <a:endParaRPr lang="en-US" dirty="0" smtClean="0"/>
          </a:p>
          <a:p>
            <a:pPr>
              <a:lnSpc>
                <a:spcPct val="90000"/>
              </a:lnSpc>
            </a:pPr>
            <a:r>
              <a:rPr lang="en-US" dirty="0" smtClean="0"/>
              <a:t>Combine with 30S ribosomal subunit</a:t>
            </a:r>
          </a:p>
          <a:p>
            <a:pPr lvl="1">
              <a:lnSpc>
                <a:spcPct val="90000"/>
              </a:lnSpc>
            </a:pPr>
            <a:r>
              <a:rPr lang="en-US" dirty="0" smtClean="0"/>
              <a:t>inhibits bind of aminoacyl-</a:t>
            </a:r>
            <a:r>
              <a:rPr lang="en-US" dirty="0" err="1" smtClean="0"/>
              <a:t>tRNA</a:t>
            </a:r>
            <a:r>
              <a:rPr lang="en-US" dirty="0" smtClean="0"/>
              <a:t> molecules to the A site of the ribosome</a:t>
            </a:r>
            <a:br>
              <a:rPr lang="en-US" dirty="0" smtClean="0"/>
            </a:br>
            <a:endParaRPr lang="en-US" dirty="0" smtClean="0"/>
          </a:p>
          <a:p>
            <a:pPr>
              <a:lnSpc>
                <a:spcPct val="90000"/>
              </a:lnSpc>
            </a:pPr>
            <a:r>
              <a:rPr lang="en-US" dirty="0" smtClean="0"/>
              <a:t>Sometimes used to treat acne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pic>
        <p:nvPicPr>
          <p:cNvPr id="8" name="Content Placeholder 7" descr="Chemical structure of tetracycline (showing minute differences that give us chlortetracycline and doxycycline).  Chlortetracycline (aureomycin) consists of tetracycline with a chlorine atom; doxycycline consists of tetracycline with an extra hydroxyl." title="Figure 9.9 Tetracyclines."/>
          <p:cNvPicPr>
            <a:picLocks noGrp="1" noChangeAspect="1" noChangeArrowheads="1"/>
          </p:cNvPicPr>
          <p:nvPr>
            <p:ph sz="half" idx="1"/>
          </p:nvPr>
        </p:nvPicPr>
        <p:blipFill>
          <a:blip r:embed="rId2" cstate="print"/>
          <a:stretch>
            <a:fillRect/>
          </a:stretch>
        </p:blipFill>
        <p:spPr bwMode="auto">
          <a:xfrm>
            <a:off x="817716" y="914401"/>
            <a:ext cx="7615500" cy="3567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smtClean="0"/>
              <a:t>Macrolides</a:t>
            </a:r>
            <a:endParaRPr lang="en-US" dirty="0"/>
          </a:p>
        </p:txBody>
      </p:sp>
      <p:sp>
        <p:nvSpPr>
          <p:cNvPr id="7" name="Content Placeholder 6"/>
          <p:cNvSpPr>
            <a:spLocks noGrp="1"/>
          </p:cNvSpPr>
          <p:nvPr>
            <p:ph sz="half" idx="2"/>
          </p:nvPr>
        </p:nvSpPr>
        <p:spPr>
          <a:xfrm>
            <a:off x="4953000" y="1066800"/>
            <a:ext cx="4114800" cy="5638800"/>
          </a:xfrm>
        </p:spPr>
        <p:txBody>
          <a:bodyPr>
            <a:normAutofit lnSpcReduction="10000"/>
          </a:bodyPr>
          <a:lstStyle/>
          <a:p>
            <a:pPr>
              <a:lnSpc>
                <a:spcPct val="90000"/>
              </a:lnSpc>
            </a:pPr>
            <a:r>
              <a:rPr lang="en-US" dirty="0" smtClean="0"/>
              <a:t>Contain 12- to 22-carbon lactone rings linked to one or more sugars</a:t>
            </a:r>
          </a:p>
          <a:p>
            <a:pPr marL="0" indent="0">
              <a:lnSpc>
                <a:spcPct val="90000"/>
              </a:lnSpc>
              <a:buNone/>
            </a:pPr>
            <a:endParaRPr lang="en-US" dirty="0" smtClean="0"/>
          </a:p>
          <a:p>
            <a:pPr>
              <a:lnSpc>
                <a:spcPct val="90000"/>
              </a:lnSpc>
            </a:pPr>
            <a:r>
              <a:rPr lang="en-US" dirty="0" smtClean="0"/>
              <a:t>e.g. erythromycin</a:t>
            </a:r>
          </a:p>
          <a:p>
            <a:pPr lvl="1">
              <a:lnSpc>
                <a:spcPct val="90000"/>
              </a:lnSpc>
            </a:pPr>
            <a:r>
              <a:rPr lang="en-US" dirty="0" smtClean="0"/>
              <a:t>broad spectrum, usually bacteriostatic</a:t>
            </a:r>
          </a:p>
          <a:p>
            <a:pPr lvl="1">
              <a:lnSpc>
                <a:spcPct val="90000"/>
              </a:lnSpc>
            </a:pPr>
            <a:r>
              <a:rPr lang="en-US" dirty="0" smtClean="0"/>
              <a:t>binds to 23S </a:t>
            </a:r>
            <a:r>
              <a:rPr lang="en-US" dirty="0" err="1" smtClean="0"/>
              <a:t>rRNA</a:t>
            </a:r>
            <a:r>
              <a:rPr lang="en-US" dirty="0" smtClean="0"/>
              <a:t> of 50S ribosomal subunit</a:t>
            </a:r>
          </a:p>
          <a:p>
            <a:pPr lvl="2">
              <a:lnSpc>
                <a:spcPct val="90000"/>
              </a:lnSpc>
            </a:pPr>
            <a:r>
              <a:rPr lang="en-US" dirty="0" smtClean="0"/>
              <a:t>inhibits peptide chain elongation </a:t>
            </a:r>
          </a:p>
          <a:p>
            <a:pPr marL="914400" lvl="2" indent="0">
              <a:lnSpc>
                <a:spcPct val="90000"/>
              </a:lnSpc>
              <a:buNone/>
            </a:pPr>
            <a:endParaRPr lang="en-US" dirty="0" smtClean="0"/>
          </a:p>
          <a:p>
            <a:pPr>
              <a:lnSpc>
                <a:spcPct val="90000"/>
              </a:lnSpc>
            </a:pPr>
            <a:r>
              <a:rPr lang="en-US" dirty="0" smtClean="0"/>
              <a:t>Used for patients allergic to penicillin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pic>
        <p:nvPicPr>
          <p:cNvPr id="8" name="Content Placeholder 7" descr="This figure shows the chemical structure of erythromycin.  Erythromycin is composed of a 14-member lactone ring, so named because it contains a lactone or cyclic ester group, that is connected to two sugars." title="Figure 9.10 Erythromycin, a Macrolide Antibiotic."/>
          <p:cNvPicPr>
            <a:picLocks noGrp="1" noChangeAspect="1" noChangeArrowheads="1"/>
          </p:cNvPicPr>
          <p:nvPr>
            <p:ph sz="half" idx="1"/>
          </p:nvPr>
        </p:nvPicPr>
        <p:blipFill>
          <a:blip r:embed="rId2" cstate="print"/>
          <a:stretch>
            <a:fillRect/>
          </a:stretch>
        </p:blipFill>
        <p:spPr bwMode="auto">
          <a:xfrm>
            <a:off x="20164" y="1552711"/>
            <a:ext cx="4932835" cy="4238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Lincosamines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Interferes with protein synthesis in microbes</a:t>
            </a:r>
            <a:br>
              <a:rPr lang="en-US" dirty="0" smtClean="0"/>
            </a:br>
            <a:endParaRPr lang="en-US" dirty="0" smtClean="0"/>
          </a:p>
          <a:p>
            <a:r>
              <a:rPr lang="en-US" dirty="0"/>
              <a:t>P</a:t>
            </a:r>
            <a:r>
              <a:rPr lang="en-US" dirty="0" smtClean="0"/>
              <a:t>roduced by </a:t>
            </a:r>
            <a:r>
              <a:rPr lang="en-US" i="1" dirty="0" smtClean="0"/>
              <a:t>Streptomyces</a:t>
            </a:r>
            <a:r>
              <a:rPr lang="en-US" dirty="0" smtClean="0"/>
              <a:t> bacteria</a:t>
            </a:r>
            <a:br>
              <a:rPr lang="en-US" dirty="0" smtClean="0"/>
            </a:br>
            <a:endParaRPr lang="en-US" dirty="0" smtClean="0"/>
          </a:p>
          <a:p>
            <a:r>
              <a:rPr lang="en-US" dirty="0" smtClean="0"/>
              <a:t>Broad spectrum of antibiotic activity against anaerobic microbes; less activity against aerobes</a:t>
            </a:r>
            <a:br>
              <a:rPr lang="en-US" dirty="0" smtClean="0"/>
            </a:br>
            <a:endParaRPr lang="en-US" dirty="0" smtClean="0"/>
          </a:p>
          <a:p>
            <a:r>
              <a:rPr lang="en-US" dirty="0" smtClean="0"/>
              <a:t>Used sparingly because they can support (indirectly) the growth of </a:t>
            </a:r>
            <a:r>
              <a:rPr lang="en-US" i="1" dirty="0" smtClean="0"/>
              <a:t>C. difficile</a:t>
            </a:r>
            <a:r>
              <a:rPr lang="en-US" dirty="0" smtClean="0"/>
              <a:t>, which can result in other disease states</a:t>
            </a:r>
            <a:br>
              <a:rPr lang="en-US" dirty="0" smtClean="0"/>
            </a:br>
            <a:endParaRPr lang="en-US" dirty="0" smtClean="0"/>
          </a:p>
          <a:p>
            <a:r>
              <a:rPr lang="en-US" dirty="0" smtClean="0"/>
              <a:t>Clindamycin is an example, and is used to treat infections caused by </a:t>
            </a:r>
            <a:r>
              <a:rPr lang="en-US" i="1" dirty="0" err="1" smtClean="0"/>
              <a:t>Bacteroides</a:t>
            </a:r>
            <a:r>
              <a:rPr lang="en-US" i="1" dirty="0" smtClean="0"/>
              <a:t> </a:t>
            </a:r>
            <a:r>
              <a:rPr lang="en-US" i="1" dirty="0" err="1" smtClean="0"/>
              <a:t>fragilis</a:t>
            </a:r>
            <a:r>
              <a:rPr lang="en-US" dirty="0" smtClean="0"/>
              <a:t>, as well as some staphylococcal and streptococcal infections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spTree>
    <p:extLst>
      <p:ext uri="{BB962C8B-B14F-4D97-AF65-F5344CB8AC3E}">
        <p14:creationId xmlns:p14="http://schemas.microsoft.com/office/powerpoint/2010/main" val="524213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Chloramphenicol</a:t>
            </a:r>
            <a:endParaRPr lang="en-US" dirty="0"/>
          </a:p>
        </p:txBody>
      </p:sp>
      <p:sp>
        <p:nvSpPr>
          <p:cNvPr id="3" name="Content Placeholder 2"/>
          <p:cNvSpPr>
            <a:spLocks noGrp="1"/>
          </p:cNvSpPr>
          <p:nvPr>
            <p:ph idx="1"/>
          </p:nvPr>
        </p:nvSpPr>
        <p:spPr/>
        <p:txBody>
          <a:bodyPr/>
          <a:lstStyle/>
          <a:p>
            <a:r>
              <a:rPr lang="en-US" dirty="0"/>
              <a:t>Now is chemically </a:t>
            </a:r>
            <a:r>
              <a:rPr lang="en-US" dirty="0" smtClean="0"/>
              <a:t>synthesized</a:t>
            </a:r>
          </a:p>
          <a:p>
            <a:pPr marL="0" indent="0">
              <a:buNone/>
            </a:pPr>
            <a:endParaRPr lang="en-US" dirty="0"/>
          </a:p>
          <a:p>
            <a:r>
              <a:rPr lang="en-US" dirty="0"/>
              <a:t>Binds to 23s </a:t>
            </a:r>
            <a:r>
              <a:rPr lang="en-US" dirty="0" err="1"/>
              <a:t>rRNA</a:t>
            </a:r>
            <a:r>
              <a:rPr lang="en-US" dirty="0"/>
              <a:t> on 50S ribosomal subunit and inhibits peptidyl transferase </a:t>
            </a:r>
            <a:r>
              <a:rPr lang="en-US" dirty="0" smtClean="0"/>
              <a:t>reaction</a:t>
            </a:r>
          </a:p>
          <a:p>
            <a:pPr marL="0" indent="0">
              <a:buNone/>
            </a:pPr>
            <a:endParaRPr lang="en-US" dirty="0"/>
          </a:p>
          <a:p>
            <a:r>
              <a:rPr lang="en-US" dirty="0"/>
              <a:t>Toxic with numerous side effects so only used in life-threatening situations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spTree>
    <p:extLst>
      <p:ext uri="{BB962C8B-B14F-4D97-AF65-F5344CB8AC3E}">
        <p14:creationId xmlns:p14="http://schemas.microsoft.com/office/powerpoint/2010/main" val="505397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Metabolic Antagonists</a:t>
            </a:r>
            <a:endParaRPr lang="en-US" dirty="0"/>
          </a:p>
        </p:txBody>
      </p:sp>
      <p:sp>
        <p:nvSpPr>
          <p:cNvPr id="3" name="Content Placeholder 2"/>
          <p:cNvSpPr>
            <a:spLocks noGrp="1"/>
          </p:cNvSpPr>
          <p:nvPr>
            <p:ph idx="1"/>
          </p:nvPr>
        </p:nvSpPr>
        <p:spPr/>
        <p:txBody>
          <a:bodyPr>
            <a:normAutofit lnSpcReduction="10000"/>
          </a:bodyPr>
          <a:lstStyle/>
          <a:p>
            <a:r>
              <a:rPr lang="en-US" dirty="0"/>
              <a:t>Act as antimetabolites</a:t>
            </a:r>
          </a:p>
          <a:p>
            <a:pPr lvl="1"/>
            <a:r>
              <a:rPr lang="en-US" dirty="0"/>
              <a:t>antagonize or block functioning of metabolic pathways by competitively inhibiting the use of metabolites by key </a:t>
            </a:r>
            <a:r>
              <a:rPr lang="en-US" dirty="0" smtClean="0"/>
              <a:t>enzymes</a:t>
            </a:r>
          </a:p>
          <a:p>
            <a:pPr marL="457200" lvl="1" indent="0">
              <a:buNone/>
            </a:pPr>
            <a:endParaRPr lang="en-US" dirty="0"/>
          </a:p>
          <a:p>
            <a:r>
              <a:rPr lang="en-US" dirty="0"/>
              <a:t>Are structural analogs </a:t>
            </a:r>
          </a:p>
          <a:p>
            <a:pPr lvl="1"/>
            <a:r>
              <a:rPr lang="en-US" dirty="0"/>
              <a:t>molecules that are structurally similar to, and compete with, naturally occurring metabolic intermediates</a:t>
            </a:r>
          </a:p>
          <a:p>
            <a:pPr lvl="2"/>
            <a:r>
              <a:rPr lang="en-US" sz="2400" dirty="0"/>
              <a:t>block normal cellular metabolism</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50539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smtClean="0"/>
              <a:t>Sulfonamides or Sulfa Drugs</a:t>
            </a:r>
            <a:endParaRPr lang="en-US" dirty="0"/>
          </a:p>
        </p:txBody>
      </p:sp>
      <p:sp>
        <p:nvSpPr>
          <p:cNvPr id="7" name="Content Placeholder 6"/>
          <p:cNvSpPr>
            <a:spLocks noGrp="1"/>
          </p:cNvSpPr>
          <p:nvPr>
            <p:ph sz="half" idx="2"/>
          </p:nvPr>
        </p:nvSpPr>
        <p:spPr>
          <a:xfrm>
            <a:off x="4648200" y="1219200"/>
            <a:ext cx="4343400" cy="5715000"/>
          </a:xfrm>
        </p:spPr>
        <p:txBody>
          <a:bodyPr>
            <a:normAutofit/>
          </a:bodyPr>
          <a:lstStyle/>
          <a:p>
            <a:pPr>
              <a:lnSpc>
                <a:spcPct val="80000"/>
              </a:lnSpc>
            </a:pPr>
            <a:r>
              <a:rPr lang="en-US" dirty="0" smtClean="0"/>
              <a:t>Structurally related to sulfanilamide, a para </a:t>
            </a:r>
            <a:r>
              <a:rPr lang="en-US" dirty="0" err="1" smtClean="0"/>
              <a:t>aminobenzoic</a:t>
            </a:r>
            <a:r>
              <a:rPr lang="en-US" dirty="0" smtClean="0"/>
              <a:t> acid (PABA) analog </a:t>
            </a:r>
          </a:p>
          <a:p>
            <a:pPr marL="0" indent="0">
              <a:lnSpc>
                <a:spcPct val="80000"/>
              </a:lnSpc>
              <a:buNone/>
            </a:pPr>
            <a:endParaRPr lang="en-US" dirty="0" smtClean="0"/>
          </a:p>
          <a:p>
            <a:pPr>
              <a:lnSpc>
                <a:spcPct val="80000"/>
              </a:lnSpc>
            </a:pPr>
            <a:r>
              <a:rPr lang="en-US" dirty="0" smtClean="0"/>
              <a:t>PABA used for the synthesis of folic acid and is made by many pathogens</a:t>
            </a:r>
          </a:p>
          <a:p>
            <a:pPr lvl="1">
              <a:lnSpc>
                <a:spcPct val="80000"/>
              </a:lnSpc>
            </a:pPr>
            <a:r>
              <a:rPr lang="en-US" dirty="0" smtClean="0"/>
              <a:t>sulfa drugs are selectively toxic due to competitive inhibition of folic acid synthesis enzymes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pic>
        <p:nvPicPr>
          <p:cNvPr id="8" name="Content Placeholder 7" descr="This figure shows the chemical structures of the sulfa drugs sulfamethoxazole and sulfanilamide (also shown is the chemical structure of p-aminobenzoic acid, which looks very similar to the structure of sulfa drugs).  Both sulfanilamide and sulfamethoxazole compete with p-aminobenzoic acid to block folic acid synthesis." title="Figure 9.11 Sulfa Drugs."/>
          <p:cNvPicPr>
            <a:picLocks noGrp="1" noChangeAspect="1" noChangeArrowheads="1"/>
          </p:cNvPicPr>
          <p:nvPr>
            <p:ph sz="half" idx="1"/>
          </p:nvPr>
        </p:nvPicPr>
        <p:blipFill>
          <a:blip r:embed="rId2" cstate="print"/>
          <a:stretch>
            <a:fillRect/>
          </a:stretch>
        </p:blipFill>
        <p:spPr bwMode="auto">
          <a:xfrm>
            <a:off x="50412" y="1219200"/>
            <a:ext cx="4597788" cy="5531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3657600" cy="1143000"/>
          </a:xfrm>
        </p:spPr>
        <p:txBody>
          <a:bodyPr/>
          <a:lstStyle/>
          <a:p>
            <a:r>
              <a:rPr lang="en-US" dirty="0" smtClean="0"/>
              <a:t>Trimethoprim</a:t>
            </a:r>
            <a:endParaRPr lang="en-US" dirty="0"/>
          </a:p>
        </p:txBody>
      </p:sp>
      <p:sp>
        <p:nvSpPr>
          <p:cNvPr id="6" name="Content Placeholder 5"/>
          <p:cNvSpPr>
            <a:spLocks noGrp="1"/>
          </p:cNvSpPr>
          <p:nvPr>
            <p:ph sz="half" idx="1"/>
          </p:nvPr>
        </p:nvSpPr>
        <p:spPr>
          <a:xfrm>
            <a:off x="0" y="1295400"/>
            <a:ext cx="4495800" cy="5410200"/>
          </a:xfrm>
        </p:spPr>
        <p:txBody>
          <a:bodyPr>
            <a:normAutofit lnSpcReduction="10000"/>
          </a:bodyPr>
          <a:lstStyle/>
          <a:p>
            <a:pPr>
              <a:lnSpc>
                <a:spcPct val="80000"/>
              </a:lnSpc>
            </a:pPr>
            <a:r>
              <a:rPr lang="en-US" dirty="0" smtClean="0"/>
              <a:t>Synthetic antibiotic that also interferes with folic acid production</a:t>
            </a:r>
          </a:p>
          <a:p>
            <a:pPr marL="0" indent="0">
              <a:lnSpc>
                <a:spcPct val="80000"/>
              </a:lnSpc>
              <a:buNone/>
            </a:pPr>
            <a:endParaRPr lang="en-US" dirty="0" smtClean="0"/>
          </a:p>
          <a:p>
            <a:pPr>
              <a:lnSpc>
                <a:spcPct val="80000"/>
              </a:lnSpc>
            </a:pPr>
            <a:r>
              <a:rPr lang="en-US" dirty="0" smtClean="0"/>
              <a:t>Broad spectrum</a:t>
            </a:r>
          </a:p>
          <a:p>
            <a:pPr marL="0" indent="0">
              <a:lnSpc>
                <a:spcPct val="80000"/>
              </a:lnSpc>
              <a:buNone/>
            </a:pPr>
            <a:endParaRPr lang="en-US" dirty="0" smtClean="0"/>
          </a:p>
          <a:p>
            <a:pPr>
              <a:lnSpc>
                <a:spcPct val="80000"/>
              </a:lnSpc>
            </a:pPr>
            <a:r>
              <a:rPr lang="en-US" dirty="0" smtClean="0"/>
              <a:t>Can be combined with sulfa drugs to increase efficacy of treatment</a:t>
            </a:r>
          </a:p>
          <a:p>
            <a:pPr lvl="1">
              <a:lnSpc>
                <a:spcPct val="80000"/>
              </a:lnSpc>
            </a:pPr>
            <a:r>
              <a:rPr lang="en-US" dirty="0" smtClean="0"/>
              <a:t>combination blocks two steps in folic acid pathway</a:t>
            </a:r>
          </a:p>
          <a:p>
            <a:pPr marL="457200" lvl="1" indent="0">
              <a:lnSpc>
                <a:spcPct val="80000"/>
              </a:lnSpc>
              <a:buNone/>
            </a:pPr>
            <a:endParaRPr lang="en-US" dirty="0" smtClean="0"/>
          </a:p>
          <a:p>
            <a:pPr>
              <a:lnSpc>
                <a:spcPct val="80000"/>
              </a:lnSpc>
            </a:pPr>
            <a:r>
              <a:rPr lang="en-US" dirty="0" smtClean="0"/>
              <a:t>Has a variety of side effects including abdominal pain and photosensitivity reactions </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pic>
        <p:nvPicPr>
          <p:cNvPr id="8" name="Picture 5" descr="(Top) Chemical structure of dihydrofolic acid (DFA), the natural substrate for the DHFR enzyme of the folic acid pathway. (Middle) DHFR structure and its interaction with DFA, its natural substrate. Note that the chemical's structure fits into the active site of the enzyme. (Bottom) Chemical structure of trimethoprim (mimics the structural orientation of the DFA and thus competes for the active site of the enzyme causing delayed or absent folic acid synthesis because the DFA cannot be converted to tetrahydrofolic acid when trimethoprim occupies the DHFR active site)." title="Figure 9.12 Competitive Inhibition of Dihydrofolate Reductase (DHFR) by Trimethoprim."/>
          <p:cNvPicPr>
            <a:picLocks noGrp="1" noChangeAspect="1" noChangeArrowheads="1"/>
          </p:cNvPicPr>
          <p:nvPr>
            <p:ph sz="half" idx="2"/>
          </p:nvPr>
        </p:nvPicPr>
        <p:blipFill>
          <a:blip r:embed="rId2" cstate="print"/>
          <a:stretch>
            <a:fillRect/>
          </a:stretch>
        </p:blipFill>
        <p:spPr bwMode="auto">
          <a:xfrm>
            <a:off x="4682984" y="144560"/>
            <a:ext cx="4278115" cy="663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97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Nucleic Acid Synthesis Inhibition</a:t>
            </a:r>
          </a:p>
        </p:txBody>
      </p:sp>
      <p:sp>
        <p:nvSpPr>
          <p:cNvPr id="3" name="Content Placeholder 2"/>
          <p:cNvSpPr>
            <a:spLocks noGrp="1"/>
          </p:cNvSpPr>
          <p:nvPr>
            <p:ph idx="1"/>
          </p:nvPr>
        </p:nvSpPr>
        <p:spPr/>
        <p:txBody>
          <a:bodyPr/>
          <a:lstStyle/>
          <a:p>
            <a:pPr>
              <a:lnSpc>
                <a:spcPct val="80000"/>
              </a:lnSpc>
            </a:pPr>
            <a:r>
              <a:rPr lang="en-US" dirty="0"/>
              <a:t>A variety of mechanisms</a:t>
            </a:r>
          </a:p>
          <a:p>
            <a:pPr lvl="1">
              <a:lnSpc>
                <a:spcPct val="80000"/>
              </a:lnSpc>
            </a:pPr>
            <a:r>
              <a:rPr lang="en-US" dirty="0"/>
              <a:t>block DNA replication</a:t>
            </a:r>
          </a:p>
          <a:p>
            <a:pPr lvl="2">
              <a:lnSpc>
                <a:spcPct val="80000"/>
              </a:lnSpc>
            </a:pPr>
            <a:r>
              <a:rPr lang="en-US" sz="2400" dirty="0"/>
              <a:t>inhibition of DNA polymerase</a:t>
            </a:r>
          </a:p>
          <a:p>
            <a:pPr lvl="2">
              <a:lnSpc>
                <a:spcPct val="80000"/>
              </a:lnSpc>
            </a:pPr>
            <a:r>
              <a:rPr lang="en-US" sz="2400" dirty="0"/>
              <a:t>inhibition of DNA helicase</a:t>
            </a:r>
          </a:p>
          <a:p>
            <a:pPr lvl="1">
              <a:lnSpc>
                <a:spcPct val="80000"/>
              </a:lnSpc>
            </a:pPr>
            <a:r>
              <a:rPr lang="en-US" dirty="0"/>
              <a:t>block transcription</a:t>
            </a:r>
          </a:p>
          <a:p>
            <a:pPr lvl="2">
              <a:lnSpc>
                <a:spcPct val="80000"/>
              </a:lnSpc>
            </a:pPr>
            <a:r>
              <a:rPr lang="en-US" sz="2400" dirty="0"/>
              <a:t>inhibition of RNA </a:t>
            </a:r>
            <a:r>
              <a:rPr lang="en-US" sz="2400" dirty="0" smtClean="0"/>
              <a:t>polymerase</a:t>
            </a:r>
          </a:p>
          <a:p>
            <a:pPr marL="914400" lvl="2" indent="0">
              <a:lnSpc>
                <a:spcPct val="80000"/>
              </a:lnSpc>
              <a:buNone/>
            </a:pPr>
            <a:endParaRPr lang="en-US" sz="2400" dirty="0"/>
          </a:p>
          <a:p>
            <a:pPr>
              <a:lnSpc>
                <a:spcPct val="80000"/>
              </a:lnSpc>
            </a:pPr>
            <a:r>
              <a:rPr lang="en-US" dirty="0"/>
              <a:t>Drugs not as selectively toxic as other antibiotics because bacteria and eukaryotes do not differ greatly in the way they synthesize nucleic acids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spTree>
    <p:extLst>
      <p:ext uri="{BB962C8B-B14F-4D97-AF65-F5344CB8AC3E}">
        <p14:creationId xmlns:p14="http://schemas.microsoft.com/office/powerpoint/2010/main" val="2683291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smtClean="0"/>
              <a:t>Quinolones</a:t>
            </a:r>
            <a:endParaRPr lang="en-US" dirty="0"/>
          </a:p>
        </p:txBody>
      </p:sp>
      <p:sp>
        <p:nvSpPr>
          <p:cNvPr id="6" name="Content Placeholder 5"/>
          <p:cNvSpPr>
            <a:spLocks noGrp="1"/>
          </p:cNvSpPr>
          <p:nvPr>
            <p:ph sz="half" idx="2"/>
          </p:nvPr>
        </p:nvSpPr>
        <p:spPr>
          <a:xfrm>
            <a:off x="4648200" y="914400"/>
            <a:ext cx="4419600" cy="5791200"/>
          </a:xfrm>
        </p:spPr>
        <p:txBody>
          <a:bodyPr>
            <a:normAutofit fontScale="92500" lnSpcReduction="10000"/>
          </a:bodyPr>
          <a:lstStyle/>
          <a:p>
            <a:pPr>
              <a:lnSpc>
                <a:spcPct val="90000"/>
              </a:lnSpc>
            </a:pPr>
            <a:r>
              <a:rPr lang="en-US" dirty="0" smtClean="0"/>
              <a:t>Broad-spectrum, synthetic drugs containing the 4-quinolone ring</a:t>
            </a:r>
          </a:p>
          <a:p>
            <a:pPr marL="0" indent="0">
              <a:lnSpc>
                <a:spcPct val="90000"/>
              </a:lnSpc>
              <a:buNone/>
            </a:pPr>
            <a:endParaRPr lang="en-US" dirty="0" smtClean="0"/>
          </a:p>
          <a:p>
            <a:pPr>
              <a:lnSpc>
                <a:spcPct val="90000"/>
              </a:lnSpc>
            </a:pPr>
            <a:r>
              <a:rPr lang="en-US" dirty="0" err="1" smtClean="0"/>
              <a:t>Nalidixic</a:t>
            </a:r>
            <a:r>
              <a:rPr lang="en-US" dirty="0" smtClean="0"/>
              <a:t> acid first synthesized quinolone (1962)</a:t>
            </a:r>
          </a:p>
          <a:p>
            <a:pPr marL="0" indent="0">
              <a:lnSpc>
                <a:spcPct val="90000"/>
              </a:lnSpc>
              <a:buNone/>
            </a:pPr>
            <a:endParaRPr lang="en-US" dirty="0" smtClean="0"/>
          </a:p>
          <a:p>
            <a:pPr>
              <a:lnSpc>
                <a:spcPct val="90000"/>
              </a:lnSpc>
            </a:pPr>
            <a:r>
              <a:rPr lang="en-US" dirty="0" smtClean="0"/>
              <a:t>Act by inhibiting bacterial DNA-gyrase and topoisomerase II</a:t>
            </a:r>
          </a:p>
          <a:p>
            <a:pPr marL="0" indent="0">
              <a:lnSpc>
                <a:spcPct val="90000"/>
              </a:lnSpc>
              <a:buNone/>
            </a:pPr>
            <a:endParaRPr lang="en-US" dirty="0" smtClean="0"/>
          </a:p>
          <a:p>
            <a:pPr>
              <a:lnSpc>
                <a:spcPct val="90000"/>
              </a:lnSpc>
            </a:pPr>
            <a:r>
              <a:rPr lang="en-US" dirty="0" smtClean="0"/>
              <a:t>Broad spectrum, bactericidal, wide range of infections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36</a:t>
            </a:fld>
            <a:endParaRPr lang="en-US"/>
          </a:p>
        </p:txBody>
      </p:sp>
      <p:pic>
        <p:nvPicPr>
          <p:cNvPr id="8" name="Picture 2" descr="This figure shows the chemical structures of the quinolones nalidixic acid, norfloxacin, and ciprofloxacin." title="Figure 9.13 Quinolone Antimicrobial Agents."/>
          <p:cNvPicPr>
            <a:picLocks noGrp="1" noChangeAspect="1" noChangeArrowheads="1"/>
          </p:cNvPicPr>
          <p:nvPr>
            <p:ph sz="half" idx="1"/>
          </p:nvPr>
        </p:nvPicPr>
        <p:blipFill>
          <a:blip r:embed="rId2" cstate="print"/>
          <a:srcRect/>
          <a:stretch>
            <a:fillRect/>
          </a:stretch>
        </p:blipFill>
        <p:spPr bwMode="auto">
          <a:xfrm>
            <a:off x="64169" y="1905000"/>
            <a:ext cx="4620212" cy="3733800"/>
          </a:xfrm>
          <a:prstGeom prst="rect">
            <a:avLst/>
          </a:prstGeom>
          <a:noFill/>
        </p:spPr>
      </p:pic>
    </p:spTree>
    <p:extLst>
      <p:ext uri="{BB962C8B-B14F-4D97-AF65-F5344CB8AC3E}">
        <p14:creationId xmlns:p14="http://schemas.microsoft.com/office/powerpoint/2010/main" val="2566880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9.5 Antifungal Drugs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Compare antifungal drug mechanisms of </a:t>
            </a:r>
            <a:r>
              <a:rPr lang="en-US" dirty="0" smtClean="0"/>
              <a:t>action</a:t>
            </a:r>
            <a:br>
              <a:rPr lang="en-US" dirty="0" smtClean="0"/>
            </a:br>
            <a:endParaRPr lang="en-US" dirty="0"/>
          </a:p>
          <a:p>
            <a:pPr marL="514350" indent="-514350">
              <a:buFont typeface="+mj-lt"/>
              <a:buAutoNum type="arabicPeriod"/>
            </a:pPr>
            <a:r>
              <a:rPr lang="en-US" dirty="0"/>
              <a:t>Explain why there are far fewer antifungal agents than there are antibacterial agents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spTree>
    <p:extLst>
      <p:ext uri="{BB962C8B-B14F-4D97-AF65-F5344CB8AC3E}">
        <p14:creationId xmlns:p14="http://schemas.microsoft.com/office/powerpoint/2010/main" val="25668803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Antifungal Drugs</a:t>
            </a:r>
          </a:p>
        </p:txBody>
      </p:sp>
      <p:sp>
        <p:nvSpPr>
          <p:cNvPr id="3" name="Content Placeholder 2"/>
          <p:cNvSpPr>
            <a:spLocks noGrp="1"/>
          </p:cNvSpPr>
          <p:nvPr>
            <p:ph idx="1"/>
          </p:nvPr>
        </p:nvSpPr>
        <p:spPr/>
        <p:txBody>
          <a:bodyPr/>
          <a:lstStyle/>
          <a:p>
            <a:pPr>
              <a:lnSpc>
                <a:spcPct val="90000"/>
              </a:lnSpc>
            </a:pPr>
            <a:r>
              <a:rPr lang="en-US" dirty="0"/>
              <a:t>Fewer effective agents because of similarity of eukaryotic fungal cells and human cells</a:t>
            </a:r>
          </a:p>
          <a:p>
            <a:pPr lvl="1">
              <a:lnSpc>
                <a:spcPct val="90000"/>
              </a:lnSpc>
            </a:pPr>
            <a:r>
              <a:rPr lang="en-US" dirty="0"/>
              <a:t>many have low therapeutic index and are </a:t>
            </a:r>
            <a:r>
              <a:rPr lang="en-US" dirty="0" smtClean="0"/>
              <a:t>toxic</a:t>
            </a:r>
          </a:p>
          <a:p>
            <a:pPr marL="457200" lvl="1" indent="0">
              <a:lnSpc>
                <a:spcPct val="90000"/>
              </a:lnSpc>
              <a:buNone/>
            </a:pPr>
            <a:endParaRPr lang="en-US" dirty="0"/>
          </a:p>
          <a:p>
            <a:pPr>
              <a:lnSpc>
                <a:spcPct val="90000"/>
              </a:lnSpc>
            </a:pPr>
            <a:r>
              <a:rPr lang="en-US" dirty="0"/>
              <a:t>Easier to treat superficial mycoses than systemic infections</a:t>
            </a:r>
          </a:p>
          <a:p>
            <a:pPr lvl="1">
              <a:lnSpc>
                <a:spcPct val="90000"/>
              </a:lnSpc>
            </a:pPr>
            <a:r>
              <a:rPr lang="en-US" dirty="0"/>
              <a:t>combinations of drugs may be used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2566880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dirty="0"/>
              <a:t>Treating Mycoses</a:t>
            </a:r>
          </a:p>
        </p:txBody>
      </p:sp>
      <p:sp>
        <p:nvSpPr>
          <p:cNvPr id="3" name="Content Placeholder 2"/>
          <p:cNvSpPr>
            <a:spLocks noGrp="1"/>
          </p:cNvSpPr>
          <p:nvPr>
            <p:ph idx="1"/>
          </p:nvPr>
        </p:nvSpPr>
        <p:spPr>
          <a:xfrm>
            <a:off x="457200" y="1066800"/>
            <a:ext cx="8229600" cy="5638800"/>
          </a:xfrm>
        </p:spPr>
        <p:txBody>
          <a:bodyPr>
            <a:normAutofit fontScale="92500" lnSpcReduction="20000"/>
          </a:bodyPr>
          <a:lstStyle/>
          <a:p>
            <a:r>
              <a:rPr lang="en-US" dirty="0"/>
              <a:t>Superficial mycoses</a:t>
            </a:r>
          </a:p>
          <a:p>
            <a:pPr lvl="1"/>
            <a:r>
              <a:rPr lang="en-US" dirty="0"/>
              <a:t>e.g</a:t>
            </a:r>
            <a:r>
              <a:rPr lang="en-US" dirty="0" smtClean="0"/>
              <a:t>. </a:t>
            </a:r>
            <a:r>
              <a:rPr lang="en-US" i="1" dirty="0"/>
              <a:t>Candida</a:t>
            </a:r>
          </a:p>
          <a:p>
            <a:pPr lvl="1"/>
            <a:r>
              <a:rPr lang="en-US" dirty="0"/>
              <a:t>topical and oral </a:t>
            </a:r>
          </a:p>
          <a:p>
            <a:pPr lvl="1"/>
            <a:r>
              <a:rPr lang="en-US" dirty="0"/>
              <a:t>disrupt membrane permeability and inhibit sterol synthesis</a:t>
            </a:r>
          </a:p>
          <a:p>
            <a:pPr lvl="1"/>
            <a:r>
              <a:rPr lang="en-US" dirty="0"/>
              <a:t>disrupts mitotic spindle; may inhibit protein and DNA </a:t>
            </a:r>
            <a:r>
              <a:rPr lang="en-US" dirty="0" smtClean="0"/>
              <a:t>synthesis</a:t>
            </a:r>
          </a:p>
          <a:p>
            <a:pPr marL="457200" lvl="1" indent="0">
              <a:buNone/>
            </a:pPr>
            <a:endParaRPr lang="en-US" dirty="0" smtClean="0"/>
          </a:p>
          <a:p>
            <a:r>
              <a:rPr lang="en-US" dirty="0" smtClean="0"/>
              <a:t>Systemic mycoses</a:t>
            </a:r>
          </a:p>
          <a:p>
            <a:pPr lvl="1"/>
            <a:r>
              <a:rPr lang="en-US" dirty="0"/>
              <a:t>d</a:t>
            </a:r>
            <a:r>
              <a:rPr lang="en-US" dirty="0" smtClean="0"/>
              <a:t>ifficult </a:t>
            </a:r>
            <a:r>
              <a:rPr lang="en-US" dirty="0"/>
              <a:t>to control and can be fatal</a:t>
            </a:r>
          </a:p>
          <a:p>
            <a:pPr lvl="1"/>
            <a:r>
              <a:rPr lang="en-US" dirty="0"/>
              <a:t>t</a:t>
            </a:r>
            <a:r>
              <a:rPr lang="en-US" dirty="0" smtClean="0"/>
              <a:t>hree </a:t>
            </a:r>
            <a:r>
              <a:rPr lang="en-US" dirty="0"/>
              <a:t>common drugs</a:t>
            </a:r>
          </a:p>
          <a:p>
            <a:pPr lvl="2"/>
            <a:r>
              <a:rPr lang="en-US" dirty="0"/>
              <a:t>amphotericin B - binds sterols in membranes</a:t>
            </a:r>
          </a:p>
          <a:p>
            <a:pPr lvl="2"/>
            <a:r>
              <a:rPr lang="en-US" dirty="0"/>
              <a:t>5-flucytosine – disrupts RNA function</a:t>
            </a:r>
          </a:p>
          <a:p>
            <a:pPr lvl="2"/>
            <a:r>
              <a:rPr lang="en-US" dirty="0"/>
              <a:t>fluconazole</a:t>
            </a:r>
          </a:p>
          <a:p>
            <a:pPr lvl="3"/>
            <a:r>
              <a:rPr lang="en-US" dirty="0"/>
              <a:t>low side effects, used prophylactically</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2566880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5867400" y="457200"/>
            <a:ext cx="3048000" cy="2438400"/>
          </a:xfrm>
        </p:spPr>
        <p:txBody>
          <a:bodyPr>
            <a:normAutofit/>
          </a:bodyPr>
          <a:lstStyle/>
          <a:p>
            <a:r>
              <a:rPr lang="en-US" dirty="0" smtClean="0"/>
              <a:t>Common Antifungal Drugs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40</a:t>
            </a:fld>
            <a:endParaRPr lang="en-US"/>
          </a:p>
        </p:txBody>
      </p:sp>
      <p:pic>
        <p:nvPicPr>
          <p:cNvPr id="7" name="Content Placeholder 6" descr="This figure shows the chemical structures of some common antifungal drugs.  Drugs are categorized by mechanism of action. Drug use is determined by the type of fungal infection, drug toxicity, and fungus sensitivity to the drug.&#10;&#10;A. Drugs that bind to sterols, resulting in membrane damage include amphotericin B and nystatin.&#10;&#10;B. Drugs that inhibit sterol synthesis, resulting in altered membrane permeability include ketoconazole and miconazole.&#10;&#10;C. A drug that inhibits nucleic acid synthesis, protein synthesis, or cell division is griseofulvin.&#10;&#10;D. A drug that disrupts RNA function is 5-flucytosine." title="Figure 9.14 Antifungal Drugs."/>
          <p:cNvPicPr>
            <a:picLocks noGrp="1" noChangeAspect="1" noChangeArrowheads="1"/>
          </p:cNvPicPr>
          <p:nvPr>
            <p:ph idx="1"/>
          </p:nvPr>
        </p:nvPicPr>
        <p:blipFill>
          <a:blip r:embed="rId2" cstate="print"/>
          <a:stretch>
            <a:fillRect/>
          </a:stretch>
        </p:blipFill>
        <p:spPr bwMode="auto">
          <a:xfrm>
            <a:off x="193404" y="152400"/>
            <a:ext cx="5007470"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2681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9.6 Antiviral Drugs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Compare antiviral drug mechanisms of </a:t>
            </a:r>
            <a:r>
              <a:rPr lang="en-US" dirty="0" smtClean="0"/>
              <a:t>action</a:t>
            </a:r>
            <a:br>
              <a:rPr lang="en-US" dirty="0" smtClean="0"/>
            </a:br>
            <a:endParaRPr lang="en-US" dirty="0"/>
          </a:p>
          <a:p>
            <a:pPr marL="514350" indent="-514350">
              <a:buFont typeface="+mj-lt"/>
              <a:buAutoNum type="arabicPeriod"/>
            </a:pPr>
            <a:r>
              <a:rPr lang="en-US" dirty="0"/>
              <a:t>Provide a rationale for combination drug therapy, using an anti-HIV </a:t>
            </a:r>
            <a:r>
              <a:rPr lang="en-US" dirty="0" smtClean="0"/>
              <a:t>model</a:t>
            </a:r>
            <a:br>
              <a:rPr lang="en-US" dirty="0" smtClean="0"/>
            </a:br>
            <a:endParaRPr lang="en-US" dirty="0"/>
          </a:p>
          <a:p>
            <a:pPr marL="514350" indent="-514350">
              <a:buFont typeface="+mj-lt"/>
              <a:buAutoNum type="arabicPeriod"/>
            </a:pPr>
            <a:r>
              <a:rPr lang="en-US" dirty="0"/>
              <a:t>Explain why there are far fewer antiviral agents than there are antibacterial agents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spTree>
    <p:extLst>
      <p:ext uri="{BB962C8B-B14F-4D97-AF65-F5344CB8AC3E}">
        <p14:creationId xmlns:p14="http://schemas.microsoft.com/office/powerpoint/2010/main" val="1208151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Antiviral Drugs</a:t>
            </a:r>
            <a:endParaRPr lang="en-US" dirty="0"/>
          </a:p>
        </p:txBody>
      </p:sp>
      <p:sp>
        <p:nvSpPr>
          <p:cNvPr id="3" name="Content Placeholder 2"/>
          <p:cNvSpPr>
            <a:spLocks noGrp="1"/>
          </p:cNvSpPr>
          <p:nvPr>
            <p:ph idx="1"/>
          </p:nvPr>
        </p:nvSpPr>
        <p:spPr/>
        <p:txBody>
          <a:bodyPr/>
          <a:lstStyle/>
          <a:p>
            <a:r>
              <a:rPr lang="en-US" dirty="0"/>
              <a:t>Drug development has been slow because it is difficult to specifically target viral </a:t>
            </a:r>
            <a:r>
              <a:rPr lang="en-US" dirty="0" smtClean="0"/>
              <a:t>replication</a:t>
            </a:r>
          </a:p>
          <a:p>
            <a:pPr marL="0" indent="0">
              <a:buNone/>
            </a:pPr>
            <a:endParaRPr lang="en-US" dirty="0"/>
          </a:p>
          <a:p>
            <a:r>
              <a:rPr lang="en-US" dirty="0"/>
              <a:t>Drugs currently used inhibit virus-specific enzymes and life cycle processes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spTree>
    <p:extLst>
      <p:ext uri="{BB962C8B-B14F-4D97-AF65-F5344CB8AC3E}">
        <p14:creationId xmlns:p14="http://schemas.microsoft.com/office/powerpoint/2010/main" val="1518408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Antiviral </a:t>
            </a:r>
            <a:r>
              <a:rPr lang="en-US" dirty="0" smtClean="0"/>
              <a:t>Drugs for Influenza</a:t>
            </a:r>
            <a:endParaRPr lang="en-US" dirty="0"/>
          </a:p>
        </p:txBody>
      </p:sp>
      <p:sp>
        <p:nvSpPr>
          <p:cNvPr id="7" name="Content Placeholder 6"/>
          <p:cNvSpPr>
            <a:spLocks noGrp="1"/>
          </p:cNvSpPr>
          <p:nvPr>
            <p:ph sz="half" idx="2"/>
          </p:nvPr>
        </p:nvSpPr>
        <p:spPr>
          <a:xfrm>
            <a:off x="4876800" y="762000"/>
            <a:ext cx="4267200" cy="6096000"/>
          </a:xfrm>
        </p:spPr>
        <p:txBody>
          <a:bodyPr>
            <a:normAutofit/>
          </a:bodyPr>
          <a:lstStyle/>
          <a:p>
            <a:r>
              <a:rPr lang="en-US" dirty="0" err="1" smtClean="0"/>
              <a:t>Amantidine</a:t>
            </a:r>
            <a:endParaRPr lang="en-US" dirty="0" smtClean="0"/>
          </a:p>
          <a:p>
            <a:pPr lvl="1"/>
            <a:r>
              <a:rPr lang="en-US" dirty="0" smtClean="0"/>
              <a:t>used to prevent influenza infections</a:t>
            </a:r>
          </a:p>
          <a:p>
            <a:pPr lvl="1"/>
            <a:r>
              <a:rPr lang="en-US" dirty="0" smtClean="0"/>
              <a:t>blocks penetration and </a:t>
            </a:r>
            <a:r>
              <a:rPr lang="en-US" dirty="0" err="1" smtClean="0"/>
              <a:t>uncoating</a:t>
            </a:r>
            <a:r>
              <a:rPr lang="en-US" dirty="0" smtClean="0"/>
              <a:t> of influenza virus</a:t>
            </a:r>
          </a:p>
          <a:p>
            <a:pPr marL="457200" lvl="1" indent="0">
              <a:buNone/>
            </a:pPr>
            <a:endParaRPr lang="en-US" dirty="0" smtClean="0"/>
          </a:p>
          <a:p>
            <a:r>
              <a:rPr lang="en-US" dirty="0" smtClean="0"/>
              <a:t>Tamiflu</a:t>
            </a:r>
          </a:p>
          <a:p>
            <a:pPr lvl="1"/>
            <a:r>
              <a:rPr lang="en-US" dirty="0" smtClean="0"/>
              <a:t>anti-influenza agent</a:t>
            </a:r>
          </a:p>
          <a:p>
            <a:pPr lvl="1"/>
            <a:r>
              <a:rPr lang="en-US" dirty="0" smtClean="0"/>
              <a:t>a neuraminidase inhibitor </a:t>
            </a:r>
          </a:p>
          <a:p>
            <a:pPr lvl="1"/>
            <a:r>
              <a:rPr lang="en-US" dirty="0" smtClean="0"/>
              <a:t>though not a cure for influenza, has been shown to shorten course of illness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pic>
        <p:nvPicPr>
          <p:cNvPr id="8" name="Content Placeholder 7" descr="(Top) This figure shows the chemical structure of Amantadine which blocks viral penetration and uncoating.&#10;&#10;(Bottom) This figure shows the chemical structure of Oseltamivir which inhibits neuraminidase." title="Figures 9.15e and f Antiviral Drugs Target the Viral Replication Cycle."/>
          <p:cNvPicPr>
            <a:picLocks noGrp="1" noChangeAspect="1" noChangeArrowheads="1"/>
          </p:cNvPicPr>
          <p:nvPr>
            <p:ph sz="half" idx="1"/>
          </p:nvPr>
        </p:nvPicPr>
        <p:blipFill>
          <a:blip r:embed="rId2" cstate="print"/>
          <a:stretch>
            <a:fillRect/>
          </a:stretch>
        </p:blipFill>
        <p:spPr bwMode="auto">
          <a:xfrm>
            <a:off x="286350" y="838200"/>
            <a:ext cx="4442059"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4088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915400" cy="792162"/>
          </a:xfrm>
        </p:spPr>
        <p:txBody>
          <a:bodyPr>
            <a:normAutofit fontScale="90000"/>
          </a:bodyPr>
          <a:lstStyle/>
          <a:p>
            <a:r>
              <a:rPr lang="en-US" dirty="0" smtClean="0"/>
              <a:t>Antiviral Drugs for Herpesvirus Infections</a:t>
            </a:r>
            <a:endParaRPr lang="en-US" dirty="0"/>
          </a:p>
        </p:txBody>
      </p:sp>
      <p:sp>
        <p:nvSpPr>
          <p:cNvPr id="5" name="Content Placeholder 4"/>
          <p:cNvSpPr>
            <a:spLocks noGrp="1"/>
          </p:cNvSpPr>
          <p:nvPr>
            <p:ph sz="half" idx="1"/>
          </p:nvPr>
        </p:nvSpPr>
        <p:spPr>
          <a:xfrm>
            <a:off x="0" y="1219200"/>
            <a:ext cx="5105400" cy="5638800"/>
          </a:xfrm>
        </p:spPr>
        <p:txBody>
          <a:bodyPr>
            <a:normAutofit fontScale="92500" lnSpcReduction="10000"/>
          </a:bodyPr>
          <a:lstStyle/>
          <a:p>
            <a:pPr>
              <a:lnSpc>
                <a:spcPct val="90000"/>
              </a:lnSpc>
            </a:pPr>
            <a:r>
              <a:rPr lang="en-US" dirty="0" smtClean="0"/>
              <a:t>Acyclovir</a:t>
            </a:r>
          </a:p>
          <a:p>
            <a:pPr lvl="1">
              <a:lnSpc>
                <a:spcPct val="90000"/>
              </a:lnSpc>
            </a:pPr>
            <a:r>
              <a:rPr lang="en-US" sz="2200" dirty="0" smtClean="0"/>
              <a:t>inhibits herpes virus DNA polymerase</a:t>
            </a:r>
            <a:r>
              <a:rPr lang="en-US" dirty="0" smtClean="0"/>
              <a:t/>
            </a:r>
            <a:br>
              <a:rPr lang="en-US" dirty="0" smtClean="0"/>
            </a:br>
            <a:endParaRPr lang="en-US" dirty="0" smtClean="0"/>
          </a:p>
          <a:p>
            <a:r>
              <a:rPr lang="en-US" dirty="0" smtClean="0"/>
              <a:t>Adenine </a:t>
            </a:r>
            <a:r>
              <a:rPr lang="en-US" dirty="0" err="1" smtClean="0"/>
              <a:t>arabinoside</a:t>
            </a:r>
            <a:r>
              <a:rPr lang="en-US" dirty="0" smtClean="0"/>
              <a:t> (</a:t>
            </a:r>
            <a:r>
              <a:rPr lang="en-US" dirty="0" err="1" smtClean="0"/>
              <a:t>vidarabine</a:t>
            </a:r>
            <a:r>
              <a:rPr lang="en-US" dirty="0" smtClean="0"/>
              <a:t>)</a:t>
            </a:r>
          </a:p>
          <a:p>
            <a:pPr lvl="1"/>
            <a:r>
              <a:rPr lang="en-US" sz="2200" dirty="0" smtClean="0"/>
              <a:t>inhibits herpes virus enzymes involved </a:t>
            </a:r>
            <a:br>
              <a:rPr lang="en-US" sz="2200" dirty="0" smtClean="0"/>
            </a:br>
            <a:r>
              <a:rPr lang="en-US" sz="2200" dirty="0" smtClean="0"/>
              <a:t>in DNA and RNA synthesis </a:t>
            </a:r>
            <a:br>
              <a:rPr lang="en-US" sz="2200" dirty="0" smtClean="0"/>
            </a:br>
            <a:r>
              <a:rPr lang="en-US" sz="2200" dirty="0" smtClean="0"/>
              <a:t>and function</a:t>
            </a:r>
            <a:r>
              <a:rPr lang="en-US" dirty="0" smtClean="0"/>
              <a:t/>
            </a:r>
            <a:br>
              <a:rPr lang="en-US" dirty="0" smtClean="0"/>
            </a:br>
            <a:endParaRPr lang="en-US" dirty="0" smtClean="0"/>
          </a:p>
          <a:p>
            <a:pPr>
              <a:lnSpc>
                <a:spcPct val="90000"/>
              </a:lnSpc>
            </a:pPr>
            <a:r>
              <a:rPr lang="en-US" dirty="0" err="1" smtClean="0"/>
              <a:t>Valacyclovir</a:t>
            </a:r>
            <a:endParaRPr lang="en-US" dirty="0" smtClean="0"/>
          </a:p>
          <a:p>
            <a:pPr lvl="1">
              <a:lnSpc>
                <a:spcPct val="90000"/>
              </a:lnSpc>
            </a:pPr>
            <a:r>
              <a:rPr lang="en-US" sz="2200" dirty="0" smtClean="0"/>
              <a:t>prodrug form of acyclovir</a:t>
            </a:r>
            <a:r>
              <a:rPr lang="en-US" dirty="0" smtClean="0"/>
              <a:t/>
            </a:r>
            <a:br>
              <a:rPr lang="en-US" dirty="0" smtClean="0"/>
            </a:br>
            <a:endParaRPr lang="en-US" dirty="0" smtClean="0"/>
          </a:p>
          <a:p>
            <a:pPr>
              <a:lnSpc>
                <a:spcPct val="90000"/>
              </a:lnSpc>
            </a:pPr>
            <a:r>
              <a:rPr lang="en-US" dirty="0" smtClean="0"/>
              <a:t>Ganciclovir and others</a:t>
            </a:r>
          </a:p>
          <a:p>
            <a:pPr lvl="1">
              <a:lnSpc>
                <a:spcPct val="90000"/>
              </a:lnSpc>
            </a:pPr>
            <a:r>
              <a:rPr lang="en-US" sz="2200" dirty="0" smtClean="0"/>
              <a:t>anti-herpesvirus drugs</a:t>
            </a:r>
            <a:br>
              <a:rPr lang="en-US" sz="2200" dirty="0" smtClean="0"/>
            </a:br>
            <a:endParaRPr lang="en-US" sz="2200" dirty="0" smtClean="0"/>
          </a:p>
          <a:p>
            <a:pPr>
              <a:lnSpc>
                <a:spcPct val="90000"/>
              </a:lnSpc>
            </a:pPr>
            <a:r>
              <a:rPr lang="en-US" dirty="0" err="1" smtClean="0"/>
              <a:t>Foscarnet</a:t>
            </a:r>
            <a:endParaRPr lang="en-US" dirty="0" smtClean="0"/>
          </a:p>
          <a:p>
            <a:pPr lvl="1">
              <a:lnSpc>
                <a:spcPct val="90000"/>
              </a:lnSpc>
            </a:pPr>
            <a:r>
              <a:rPr lang="en-US" sz="2200" dirty="0" smtClean="0"/>
              <a:t>inhibits herpes virus DNA polymerase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44</a:t>
            </a:fld>
            <a:endParaRPr lang="en-US"/>
          </a:p>
        </p:txBody>
      </p:sp>
      <p:pic>
        <p:nvPicPr>
          <p:cNvPr id="8" name="Picture 2" descr="(Top) This figure shows the chemical structure of Acyclovir, an inhibitor of viral DNA polymerase.&#10;&#10;(Bottom) This figure shows the chemical structure of Foscarnet, a viral fusion inhibitor." title="Figures 9.15d and c Antiviral Drugs Target the Viral Replication Cycle."/>
          <p:cNvPicPr>
            <a:picLocks noGrp="1" noChangeAspect="1" noChangeArrowheads="1"/>
          </p:cNvPicPr>
          <p:nvPr>
            <p:ph sz="half" idx="2"/>
          </p:nvPr>
        </p:nvPicPr>
        <p:blipFill>
          <a:blip r:embed="rId2" cstate="print"/>
          <a:srcRect/>
          <a:stretch>
            <a:fillRect/>
          </a:stretch>
        </p:blipFill>
        <p:spPr bwMode="auto">
          <a:xfrm>
            <a:off x="4877441" y="1219200"/>
            <a:ext cx="4190359" cy="5562600"/>
          </a:xfrm>
          <a:prstGeom prst="rect">
            <a:avLst/>
          </a:prstGeom>
          <a:noFill/>
        </p:spPr>
      </p:pic>
    </p:spTree>
    <p:extLst>
      <p:ext uri="{BB962C8B-B14F-4D97-AF65-F5344CB8AC3E}">
        <p14:creationId xmlns:p14="http://schemas.microsoft.com/office/powerpoint/2010/main" val="1518408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p>
            <a:r>
              <a:rPr lang="en-US" dirty="0" smtClean="0"/>
              <a:t>Broad Spectrum Antiviral Drugs</a:t>
            </a:r>
            <a:endParaRPr lang="en-US" dirty="0"/>
          </a:p>
        </p:txBody>
      </p:sp>
      <p:sp>
        <p:nvSpPr>
          <p:cNvPr id="7" name="Content Placeholder 6"/>
          <p:cNvSpPr>
            <a:spLocks noGrp="1"/>
          </p:cNvSpPr>
          <p:nvPr>
            <p:ph sz="half" idx="2"/>
          </p:nvPr>
        </p:nvSpPr>
        <p:spPr>
          <a:xfrm>
            <a:off x="4953000" y="1371600"/>
            <a:ext cx="4114800" cy="5334000"/>
          </a:xfrm>
        </p:spPr>
        <p:txBody>
          <a:bodyPr/>
          <a:lstStyle/>
          <a:p>
            <a:r>
              <a:rPr lang="en-US" dirty="0" smtClean="0"/>
              <a:t>Broad spectrum anti-DNA virus drugs</a:t>
            </a:r>
          </a:p>
          <a:p>
            <a:pPr lvl="1"/>
            <a:r>
              <a:rPr lang="en-US" dirty="0" smtClean="0"/>
              <a:t>HPMPC (</a:t>
            </a:r>
            <a:r>
              <a:rPr lang="en-US" dirty="0" err="1" smtClean="0"/>
              <a:t>cidofovir</a:t>
            </a:r>
            <a:r>
              <a:rPr lang="en-US" dirty="0" smtClean="0"/>
              <a:t>)</a:t>
            </a:r>
          </a:p>
          <a:p>
            <a:pPr lvl="2"/>
            <a:r>
              <a:rPr lang="en-US" dirty="0" smtClean="0"/>
              <a:t>inhibits viral DNA polymerase </a:t>
            </a:r>
            <a:r>
              <a:rPr lang="en-US" dirty="0" err="1" smtClean="0"/>
              <a:t>papovaviruses</a:t>
            </a:r>
            <a:r>
              <a:rPr lang="en-US" dirty="0" smtClean="0"/>
              <a:t>, adenoviruses, herpesviruses </a:t>
            </a:r>
            <a:r>
              <a:rPr lang="en-US" dirty="0" err="1" smtClean="0"/>
              <a:t>iridoviruses</a:t>
            </a:r>
            <a:r>
              <a:rPr lang="en-US" dirty="0" smtClean="0"/>
              <a:t>, and poxviruses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45</a:t>
            </a:fld>
            <a:endParaRPr lang="en-US"/>
          </a:p>
        </p:txBody>
      </p:sp>
      <p:pic>
        <p:nvPicPr>
          <p:cNvPr id="8" name="Picture 2" descr="This figure shows the chemical structure of Cidofovir (HPMPC), an inhibitor of viral DNA polymerase." title="Figure 9.15d Antiviral Drugs Target the Viral Replication Cycle."/>
          <p:cNvPicPr>
            <a:picLocks noGrp="1" noChangeAspect="1" noChangeArrowheads="1"/>
          </p:cNvPicPr>
          <p:nvPr>
            <p:ph sz="half" idx="1"/>
          </p:nvPr>
        </p:nvPicPr>
        <p:blipFill>
          <a:blip r:embed="rId2" cstate="print"/>
          <a:srcRect/>
          <a:stretch>
            <a:fillRect/>
          </a:stretch>
        </p:blipFill>
        <p:spPr bwMode="auto">
          <a:xfrm>
            <a:off x="66153" y="1295400"/>
            <a:ext cx="4778239" cy="5181600"/>
          </a:xfrm>
          <a:prstGeom prst="rect">
            <a:avLst/>
          </a:prstGeom>
          <a:noFill/>
          <a:ln w="9525">
            <a:noFill/>
            <a:miter lim="800000"/>
            <a:headEnd/>
            <a:tailEnd/>
          </a:ln>
        </p:spPr>
      </p:pic>
    </p:spTree>
    <p:extLst>
      <p:ext uri="{BB962C8B-B14F-4D97-AF65-F5344CB8AC3E}">
        <p14:creationId xmlns:p14="http://schemas.microsoft.com/office/powerpoint/2010/main" val="1518408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Anti-HIV Drugs</a:t>
            </a:r>
          </a:p>
        </p:txBody>
      </p:sp>
      <p:sp>
        <p:nvSpPr>
          <p:cNvPr id="6" name="Content Placeholder 5"/>
          <p:cNvSpPr>
            <a:spLocks noGrp="1"/>
          </p:cNvSpPr>
          <p:nvPr>
            <p:ph sz="half" idx="1"/>
          </p:nvPr>
        </p:nvSpPr>
        <p:spPr>
          <a:xfrm>
            <a:off x="76200" y="1295400"/>
            <a:ext cx="4114800" cy="5486400"/>
          </a:xfrm>
        </p:spPr>
        <p:txBody>
          <a:bodyPr>
            <a:normAutofit fontScale="92500" lnSpcReduction="10000"/>
          </a:bodyPr>
          <a:lstStyle/>
          <a:p>
            <a:pPr>
              <a:lnSpc>
                <a:spcPct val="80000"/>
              </a:lnSpc>
            </a:pPr>
            <a:r>
              <a:rPr lang="en-US" dirty="0" smtClean="0"/>
              <a:t>Reverse transcriptase (RT) inhibitors</a:t>
            </a:r>
          </a:p>
          <a:p>
            <a:pPr lvl="1">
              <a:lnSpc>
                <a:spcPct val="80000"/>
              </a:lnSpc>
            </a:pPr>
            <a:r>
              <a:rPr lang="en-US" dirty="0" smtClean="0"/>
              <a:t>nucleoside RT inhibitors </a:t>
            </a:r>
          </a:p>
          <a:p>
            <a:pPr lvl="1">
              <a:lnSpc>
                <a:spcPct val="80000"/>
              </a:lnSpc>
            </a:pPr>
            <a:r>
              <a:rPr lang="en-US" dirty="0" smtClean="0"/>
              <a:t>non-nucleoside RT inhibitors</a:t>
            </a:r>
            <a:br>
              <a:rPr lang="en-US" dirty="0" smtClean="0"/>
            </a:br>
            <a:endParaRPr lang="en-US" dirty="0" smtClean="0"/>
          </a:p>
          <a:p>
            <a:pPr>
              <a:lnSpc>
                <a:spcPct val="80000"/>
              </a:lnSpc>
            </a:pPr>
            <a:r>
              <a:rPr lang="en-US" dirty="0" smtClean="0"/>
              <a:t>Protease inhibitors</a:t>
            </a:r>
            <a:r>
              <a:rPr lang="en-US" sz="3200" dirty="0" smtClean="0"/>
              <a:t>	</a:t>
            </a:r>
          </a:p>
          <a:p>
            <a:pPr lvl="1">
              <a:lnSpc>
                <a:spcPct val="80000"/>
              </a:lnSpc>
            </a:pPr>
            <a:r>
              <a:rPr lang="en-US" dirty="0" smtClean="0"/>
              <a:t>mimic peptide bond that is normally attacked by the protease </a:t>
            </a:r>
            <a:br>
              <a:rPr lang="en-US" dirty="0" smtClean="0"/>
            </a:br>
            <a:endParaRPr lang="en-US" dirty="0" smtClean="0"/>
          </a:p>
          <a:p>
            <a:pPr>
              <a:lnSpc>
                <a:spcPct val="80000"/>
              </a:lnSpc>
            </a:pPr>
            <a:r>
              <a:rPr lang="en-US" dirty="0" smtClean="0"/>
              <a:t>Fusion inhibitors</a:t>
            </a:r>
          </a:p>
          <a:p>
            <a:pPr lvl="1">
              <a:lnSpc>
                <a:spcPct val="80000"/>
              </a:lnSpc>
            </a:pPr>
            <a:r>
              <a:rPr lang="en-US" dirty="0" smtClean="0"/>
              <a:t>prevent HIV entry into cells</a:t>
            </a:r>
            <a:br>
              <a:rPr lang="en-US" dirty="0" smtClean="0"/>
            </a:br>
            <a:endParaRPr lang="en-US" dirty="0" smtClean="0"/>
          </a:p>
          <a:p>
            <a:pPr>
              <a:lnSpc>
                <a:spcPct val="80000"/>
              </a:lnSpc>
            </a:pPr>
            <a:r>
              <a:rPr lang="en-US" dirty="0" smtClean="0"/>
              <a:t>Most successful are drug cocktails to curtail resistance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46</a:t>
            </a:fld>
            <a:endParaRPr lang="en-US"/>
          </a:p>
        </p:txBody>
      </p:sp>
      <p:pic>
        <p:nvPicPr>
          <p:cNvPr id="8" name="Picture 2" descr="This figure shows the chemical structures of Azidothymidine (AZT) or zidovudine, a nucleoside reverse transcriptase inhibitor, and Ritonavir, a viral protease inhibitor." title="Figures 9.15a&amp;b Antiviral Drugs Target the Viral Replication Cycle."/>
          <p:cNvPicPr>
            <a:picLocks noGrp="1" noChangeAspect="1" noChangeArrowheads="1"/>
          </p:cNvPicPr>
          <p:nvPr>
            <p:ph sz="half" idx="2"/>
          </p:nvPr>
        </p:nvPicPr>
        <p:blipFill>
          <a:blip r:embed="rId2" cstate="print"/>
          <a:stretch>
            <a:fillRect/>
          </a:stretch>
        </p:blipFill>
        <p:spPr bwMode="auto">
          <a:xfrm>
            <a:off x="4140071" y="1524000"/>
            <a:ext cx="4933109" cy="4953000"/>
          </a:xfrm>
          <a:prstGeom prst="rect">
            <a:avLst/>
          </a:prstGeom>
          <a:noFill/>
          <a:ln w="9525">
            <a:noFill/>
            <a:miter lim="800000"/>
            <a:headEnd/>
            <a:tailEnd/>
          </a:ln>
        </p:spPr>
      </p:pic>
    </p:spTree>
    <p:extLst>
      <p:ext uri="{BB962C8B-B14F-4D97-AF65-F5344CB8AC3E}">
        <p14:creationId xmlns:p14="http://schemas.microsoft.com/office/powerpoint/2010/main" val="15184088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514600" cy="2209800"/>
          </a:xfrm>
        </p:spPr>
        <p:txBody>
          <a:bodyPr>
            <a:normAutofit/>
          </a:bodyPr>
          <a:lstStyle/>
          <a:p>
            <a:r>
              <a:rPr lang="en-US" sz="3200" dirty="0" smtClean="0"/>
              <a:t>Identifying</a:t>
            </a:r>
            <a:br>
              <a:rPr lang="en-US" sz="3200" dirty="0" smtClean="0"/>
            </a:br>
            <a:r>
              <a:rPr lang="en-US" sz="3200" dirty="0" smtClean="0"/>
              <a:t>Targets for</a:t>
            </a:r>
            <a:br>
              <a:rPr lang="en-US" sz="3200" dirty="0" smtClean="0"/>
            </a:br>
            <a:r>
              <a:rPr lang="en-US" sz="3200" dirty="0" smtClean="0"/>
              <a:t>Anti-HIV Drugs</a:t>
            </a:r>
            <a:endParaRPr lang="en-US" sz="3200"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47</a:t>
            </a:fld>
            <a:endParaRPr lang="en-US"/>
          </a:p>
        </p:txBody>
      </p:sp>
      <p:pic>
        <p:nvPicPr>
          <p:cNvPr id="6" name="Picture 2" descr="Viral infection can be interrupted by correct use of drugs that target specific components of the HIV replicative process.&#10;&#10;Infection begins with HIV fusion.  Fusion inhibitors block this step.&#10;&#10;Once inside a host cell, HIV uncoats and its reverse transcriptase (RT) forces the host to make DNA from the viral RNA.  RT inhibitors block this step.&#10;&#10;The viral DNA is transcribed and translated into a linear polypeptide that is cut to release viral proteins.  Protease inhibitors block this step.&#10;&#10;Viral DNA is added to the host DNA by the action of a viral integrase.  Integrase inhibitors block this step." title="Figure 9.16 Examples of How Anti-HIV Agents Block HIV Replication."/>
          <p:cNvPicPr>
            <a:picLocks noGrp="1" noChangeAspect="1" noChangeArrowheads="1"/>
          </p:cNvPicPr>
          <p:nvPr>
            <p:ph idx="1"/>
          </p:nvPr>
        </p:nvPicPr>
        <p:blipFill>
          <a:blip r:embed="rId2" cstate="print"/>
          <a:stretch>
            <a:fillRect/>
          </a:stretch>
        </p:blipFill>
        <p:spPr bwMode="auto">
          <a:xfrm>
            <a:off x="40287" y="228600"/>
            <a:ext cx="6669084"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084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9.7 </a:t>
            </a:r>
            <a:r>
              <a:rPr lang="en-US" dirty="0" err="1" smtClean="0"/>
              <a:t>Antiprotozoan</a:t>
            </a:r>
            <a:r>
              <a:rPr lang="en-US" dirty="0" smtClean="0"/>
              <a:t> Drugs</a:t>
            </a:r>
            <a:endParaRPr lang="en-US" dirty="0"/>
          </a:p>
        </p:txBody>
      </p:sp>
      <p:sp>
        <p:nvSpPr>
          <p:cNvPr id="3" name="Content Placeholder 2"/>
          <p:cNvSpPr>
            <a:spLocks noGrp="1"/>
          </p:cNvSpPr>
          <p:nvPr>
            <p:ph idx="1"/>
          </p:nvPr>
        </p:nvSpPr>
        <p:spPr/>
        <p:txBody>
          <a:bodyPr>
            <a:normAutofit fontScale="92500"/>
          </a:bodyPr>
          <a:lstStyle/>
          <a:p>
            <a:pPr marL="514350" indent="-514350">
              <a:buFont typeface="+mj-lt"/>
              <a:buAutoNum type="arabicPeriod"/>
            </a:pPr>
            <a:r>
              <a:rPr lang="en-US" dirty="0"/>
              <a:t>Compare the mechanisms of action of </a:t>
            </a:r>
            <a:r>
              <a:rPr lang="en-US" dirty="0" err="1"/>
              <a:t>antiprotozoan</a:t>
            </a:r>
            <a:r>
              <a:rPr lang="en-US" dirty="0"/>
              <a:t> </a:t>
            </a:r>
            <a:r>
              <a:rPr lang="en-US" dirty="0" smtClean="0"/>
              <a:t>drugs</a:t>
            </a:r>
            <a:br>
              <a:rPr lang="en-US" dirty="0" smtClean="0"/>
            </a:br>
            <a:endParaRPr lang="en-US" dirty="0"/>
          </a:p>
          <a:p>
            <a:pPr marL="514350" indent="-514350">
              <a:buFont typeface="+mj-lt"/>
              <a:buAutoNum type="arabicPeriod"/>
            </a:pPr>
            <a:r>
              <a:rPr lang="en-US" dirty="0"/>
              <a:t>Relate side effects and toxicity of </a:t>
            </a:r>
            <a:r>
              <a:rPr lang="en-US" dirty="0" err="1"/>
              <a:t>antiprotozoan</a:t>
            </a:r>
            <a:r>
              <a:rPr lang="en-US" dirty="0"/>
              <a:t> drugs to their mechanisms of </a:t>
            </a:r>
            <a:r>
              <a:rPr lang="en-US" dirty="0" smtClean="0"/>
              <a:t>action</a:t>
            </a:r>
            <a:br>
              <a:rPr lang="en-US" dirty="0" smtClean="0"/>
            </a:br>
            <a:endParaRPr lang="en-US" dirty="0"/>
          </a:p>
          <a:p>
            <a:pPr marL="514350" indent="-514350">
              <a:buFont typeface="+mj-lt"/>
              <a:buAutoNum type="arabicPeriod"/>
            </a:pPr>
            <a:r>
              <a:rPr lang="en-US" dirty="0"/>
              <a:t>Explain why there are far fewer </a:t>
            </a:r>
            <a:r>
              <a:rPr lang="en-US" dirty="0" err="1"/>
              <a:t>antiprotozoan</a:t>
            </a:r>
            <a:r>
              <a:rPr lang="en-US" dirty="0"/>
              <a:t> agents than there are antibacterial agents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48</a:t>
            </a:fld>
            <a:endParaRPr lang="en-US"/>
          </a:p>
        </p:txBody>
      </p:sp>
    </p:spTree>
    <p:extLst>
      <p:ext uri="{BB962C8B-B14F-4D97-AF65-F5344CB8AC3E}">
        <p14:creationId xmlns:p14="http://schemas.microsoft.com/office/powerpoint/2010/main" val="7268383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dirty="0" err="1" smtClean="0"/>
              <a:t>Antiprotozoan</a:t>
            </a:r>
            <a:r>
              <a:rPr lang="en-US" dirty="0" smtClean="0"/>
              <a:t> </a:t>
            </a:r>
            <a:r>
              <a:rPr lang="en-US" dirty="0"/>
              <a:t>Drugs</a:t>
            </a:r>
          </a:p>
        </p:txBody>
      </p:sp>
      <p:sp>
        <p:nvSpPr>
          <p:cNvPr id="6" name="Content Placeholder 5"/>
          <p:cNvSpPr>
            <a:spLocks noGrp="1"/>
          </p:cNvSpPr>
          <p:nvPr>
            <p:ph sz="half" idx="1"/>
          </p:nvPr>
        </p:nvSpPr>
        <p:spPr>
          <a:xfrm>
            <a:off x="152400" y="762000"/>
            <a:ext cx="8839200" cy="2895600"/>
          </a:xfrm>
        </p:spPr>
        <p:txBody>
          <a:bodyPr>
            <a:normAutofit fontScale="92500" lnSpcReduction="20000"/>
          </a:bodyPr>
          <a:lstStyle/>
          <a:p>
            <a:pPr>
              <a:lnSpc>
                <a:spcPct val="90000"/>
              </a:lnSpc>
            </a:pPr>
            <a:r>
              <a:rPr lang="en-US" dirty="0" smtClean="0"/>
              <a:t>The mechanism of drug action for many antiprotozoal drugs is not precisely known</a:t>
            </a:r>
            <a:br>
              <a:rPr lang="en-US" dirty="0" smtClean="0"/>
            </a:br>
            <a:endParaRPr lang="en-US" dirty="0" smtClean="0"/>
          </a:p>
          <a:p>
            <a:pPr>
              <a:lnSpc>
                <a:spcPct val="90000"/>
              </a:lnSpc>
            </a:pPr>
            <a:r>
              <a:rPr lang="en-US" dirty="0" smtClean="0"/>
              <a:t>Examples of available drugs</a:t>
            </a:r>
          </a:p>
          <a:p>
            <a:pPr lvl="1">
              <a:lnSpc>
                <a:spcPct val="90000"/>
              </a:lnSpc>
            </a:pPr>
            <a:r>
              <a:rPr lang="en-US" dirty="0" smtClean="0"/>
              <a:t>some antibiotics that inhibit bacterial protein synthesis are used against protozoa</a:t>
            </a:r>
          </a:p>
          <a:p>
            <a:pPr lvl="1">
              <a:lnSpc>
                <a:spcPct val="90000"/>
              </a:lnSpc>
            </a:pPr>
            <a:r>
              <a:rPr lang="en-US" dirty="0" smtClean="0"/>
              <a:t>chloroquine and </a:t>
            </a:r>
            <a:r>
              <a:rPr lang="en-US" dirty="0" err="1" smtClean="0"/>
              <a:t>mefloquine</a:t>
            </a:r>
            <a:r>
              <a:rPr lang="en-US" dirty="0" smtClean="0"/>
              <a:t> – malaria</a:t>
            </a:r>
          </a:p>
          <a:p>
            <a:pPr lvl="1">
              <a:lnSpc>
                <a:spcPct val="90000"/>
              </a:lnSpc>
            </a:pPr>
            <a:r>
              <a:rPr lang="en-US" dirty="0" smtClean="0"/>
              <a:t>metronidazole – </a:t>
            </a:r>
            <a:r>
              <a:rPr lang="en-US" i="1" dirty="0" smtClean="0"/>
              <a:t>Entamoeba</a:t>
            </a:r>
            <a:r>
              <a:rPr lang="en-US" dirty="0" smtClean="0"/>
              <a:t> infections</a:t>
            </a:r>
          </a:p>
          <a:p>
            <a:pPr lvl="1">
              <a:lnSpc>
                <a:spcPct val="90000"/>
              </a:lnSpc>
            </a:pPr>
            <a:r>
              <a:rPr lang="en-US" dirty="0" err="1" smtClean="0"/>
              <a:t>atovaquone</a:t>
            </a:r>
            <a:r>
              <a:rPr lang="en-US" dirty="0" smtClean="0"/>
              <a:t> – </a:t>
            </a:r>
            <a:r>
              <a:rPr lang="en-US" i="1" dirty="0" smtClean="0"/>
              <a:t>Pneumocystis </a:t>
            </a:r>
            <a:r>
              <a:rPr lang="en-US" i="1" dirty="0" err="1" smtClean="0"/>
              <a:t>carinii</a:t>
            </a:r>
            <a:r>
              <a:rPr lang="en-US" dirty="0" smtClean="0"/>
              <a:t> and </a:t>
            </a:r>
            <a:r>
              <a:rPr lang="en-US" i="1" dirty="0" smtClean="0"/>
              <a:t>Toxoplasma </a:t>
            </a:r>
            <a:r>
              <a:rPr lang="en-US" i="1" dirty="0" err="1" smtClean="0"/>
              <a:t>gondii</a:t>
            </a:r>
            <a:endParaRPr lang="en-US" i="1" dirty="0" smtClean="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49</a:t>
            </a:fld>
            <a:endParaRPr lang="en-US"/>
          </a:p>
        </p:txBody>
      </p:sp>
      <p:pic>
        <p:nvPicPr>
          <p:cNvPr id="8" name="Content Placeholder 7" descr="This figure shows the chemical structure of Chloroquine." title="Figure 9.17 Chloroquine, a Quinine Drug."/>
          <p:cNvPicPr>
            <a:picLocks noGrp="1" noChangeAspect="1" noChangeArrowheads="1"/>
          </p:cNvPicPr>
          <p:nvPr>
            <p:ph sz="half" idx="2"/>
          </p:nvPr>
        </p:nvPicPr>
        <p:blipFill>
          <a:blip r:embed="rId2" cstate="print"/>
          <a:stretch>
            <a:fillRect/>
          </a:stretch>
        </p:blipFill>
        <p:spPr bwMode="auto">
          <a:xfrm>
            <a:off x="1819378" y="3642899"/>
            <a:ext cx="5360884" cy="313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934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9.8 Several Factors Influence Antimicrobial Drug Effectiveness</a:t>
            </a:r>
            <a:endParaRPr lang="en-US" dirty="0"/>
          </a:p>
        </p:txBody>
      </p:sp>
      <p:sp>
        <p:nvSpPr>
          <p:cNvPr id="3" name="Content Placeholder 2"/>
          <p:cNvSpPr>
            <a:spLocks noGrp="1"/>
          </p:cNvSpPr>
          <p:nvPr>
            <p:ph idx="1"/>
          </p:nvPr>
        </p:nvSpPr>
        <p:spPr>
          <a:xfrm>
            <a:off x="457200" y="1951037"/>
            <a:ext cx="8229600" cy="4525963"/>
          </a:xfrm>
        </p:spPr>
        <p:txBody>
          <a:bodyPr>
            <a:normAutofit fontScale="92500" lnSpcReduction="10000"/>
          </a:bodyPr>
          <a:lstStyle/>
          <a:p>
            <a:pPr marL="514350" indent="-514350">
              <a:buFont typeface="+mj-lt"/>
              <a:buAutoNum type="arabicPeriod"/>
            </a:pPr>
            <a:r>
              <a:rPr lang="en-US" dirty="0"/>
              <a:t>Predict the effects of (1) delivery route, (2) metabolism, and (3) local concentration on the effectiveness of an antimicrobial </a:t>
            </a:r>
            <a:r>
              <a:rPr lang="en-US" dirty="0" smtClean="0"/>
              <a:t>drug</a:t>
            </a:r>
            <a:br>
              <a:rPr lang="en-US" dirty="0" smtClean="0"/>
            </a:br>
            <a:endParaRPr lang="en-US" dirty="0"/>
          </a:p>
          <a:p>
            <a:pPr marL="514350" indent="-514350">
              <a:buFont typeface="+mj-lt"/>
              <a:buAutoNum type="arabicPeriod"/>
            </a:pPr>
            <a:r>
              <a:rPr lang="en-US" dirty="0"/>
              <a:t>Correlate the sensitivity of a microorganism to an antimicrobial agent with microbial growth in the presence of that </a:t>
            </a:r>
            <a:r>
              <a:rPr lang="en-US" dirty="0" smtClean="0"/>
              <a:t>agent</a:t>
            </a:r>
            <a:br>
              <a:rPr lang="en-US" dirty="0" smtClean="0"/>
            </a:br>
            <a:endParaRPr lang="en-US" dirty="0"/>
          </a:p>
          <a:p>
            <a:pPr marL="514350" indent="-514350">
              <a:buFont typeface="+mj-lt"/>
              <a:buAutoNum type="arabicPeriod"/>
            </a:pPr>
            <a:r>
              <a:rPr lang="en-US" dirty="0"/>
              <a:t>Identify the practices that lead to antimicrobial drug resistance and suggest countermeasures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50</a:t>
            </a:fld>
            <a:endParaRPr lang="en-US"/>
          </a:p>
        </p:txBody>
      </p:sp>
    </p:spTree>
    <p:extLst>
      <p:ext uri="{BB962C8B-B14F-4D97-AF65-F5344CB8AC3E}">
        <p14:creationId xmlns:p14="http://schemas.microsoft.com/office/powerpoint/2010/main" val="12739346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Factors Influencing Antimicrobial Drugs</a:t>
            </a:r>
          </a:p>
        </p:txBody>
      </p:sp>
      <p:sp>
        <p:nvSpPr>
          <p:cNvPr id="3" name="Content Placeholder 2"/>
          <p:cNvSpPr>
            <a:spLocks noGrp="1"/>
          </p:cNvSpPr>
          <p:nvPr>
            <p:ph idx="1"/>
          </p:nvPr>
        </p:nvSpPr>
        <p:spPr>
          <a:xfrm>
            <a:off x="457200" y="1874837"/>
            <a:ext cx="8229600" cy="4525963"/>
          </a:xfrm>
        </p:spPr>
        <p:txBody>
          <a:bodyPr/>
          <a:lstStyle/>
          <a:p>
            <a:r>
              <a:rPr lang="en-US" dirty="0"/>
              <a:t>Ability of drug to reach site of </a:t>
            </a:r>
            <a:r>
              <a:rPr lang="en-US" dirty="0" smtClean="0"/>
              <a:t>infection</a:t>
            </a:r>
          </a:p>
          <a:p>
            <a:pPr marL="0" indent="0">
              <a:buNone/>
            </a:pPr>
            <a:endParaRPr lang="en-US" dirty="0"/>
          </a:p>
          <a:p>
            <a:r>
              <a:rPr lang="en-US" dirty="0"/>
              <a:t>Susceptibility of pathogen to </a:t>
            </a:r>
            <a:r>
              <a:rPr lang="en-US" dirty="0" smtClean="0"/>
              <a:t>drug</a:t>
            </a:r>
          </a:p>
          <a:p>
            <a:pPr marL="0" indent="0">
              <a:buNone/>
            </a:pPr>
            <a:endParaRPr lang="en-US" dirty="0"/>
          </a:p>
          <a:p>
            <a:r>
              <a:rPr lang="en-US" dirty="0"/>
              <a:t>Ability of drug to reach concentrations in body that exceed MIC of pathogen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51</a:t>
            </a:fld>
            <a:endParaRPr lang="en-US"/>
          </a:p>
        </p:txBody>
      </p:sp>
    </p:spTree>
    <p:extLst>
      <p:ext uri="{BB962C8B-B14F-4D97-AF65-F5344CB8AC3E}">
        <p14:creationId xmlns:p14="http://schemas.microsoft.com/office/powerpoint/2010/main" val="12739346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Ability of Drug to Reach Site of Infection</a:t>
            </a:r>
          </a:p>
        </p:txBody>
      </p:sp>
      <p:sp>
        <p:nvSpPr>
          <p:cNvPr id="3" name="Content Placeholder 2"/>
          <p:cNvSpPr>
            <a:spLocks noGrp="1"/>
          </p:cNvSpPr>
          <p:nvPr>
            <p:ph idx="1"/>
          </p:nvPr>
        </p:nvSpPr>
        <p:spPr>
          <a:xfrm>
            <a:off x="457200" y="1874837"/>
            <a:ext cx="8229600" cy="4525963"/>
          </a:xfrm>
        </p:spPr>
        <p:txBody>
          <a:bodyPr/>
          <a:lstStyle/>
          <a:p>
            <a:pPr>
              <a:lnSpc>
                <a:spcPct val="90000"/>
              </a:lnSpc>
            </a:pPr>
            <a:r>
              <a:rPr lang="en-US" dirty="0"/>
              <a:t>Depends in part on mode of administration</a:t>
            </a:r>
          </a:p>
          <a:p>
            <a:pPr lvl="1">
              <a:lnSpc>
                <a:spcPct val="90000"/>
              </a:lnSpc>
            </a:pPr>
            <a:r>
              <a:rPr lang="en-US" dirty="0"/>
              <a:t>oral</a:t>
            </a:r>
          </a:p>
          <a:p>
            <a:pPr lvl="2">
              <a:lnSpc>
                <a:spcPct val="90000"/>
              </a:lnSpc>
            </a:pPr>
            <a:r>
              <a:rPr lang="en-US" sz="2400" dirty="0"/>
              <a:t>some drugs destroyed by stomach acid</a:t>
            </a:r>
          </a:p>
          <a:p>
            <a:pPr lvl="1">
              <a:lnSpc>
                <a:spcPct val="90000"/>
              </a:lnSpc>
            </a:pPr>
            <a:r>
              <a:rPr lang="en-US" dirty="0"/>
              <a:t>topical</a:t>
            </a:r>
          </a:p>
          <a:p>
            <a:pPr lvl="1">
              <a:lnSpc>
                <a:spcPct val="90000"/>
              </a:lnSpc>
            </a:pPr>
            <a:r>
              <a:rPr lang="en-US" dirty="0"/>
              <a:t>parenteral routes</a:t>
            </a:r>
          </a:p>
          <a:p>
            <a:pPr lvl="2">
              <a:lnSpc>
                <a:spcPct val="90000"/>
              </a:lnSpc>
            </a:pPr>
            <a:r>
              <a:rPr lang="en-US" sz="2400" dirty="0" err="1"/>
              <a:t>nonoral</a:t>
            </a:r>
            <a:r>
              <a:rPr lang="en-US" sz="2400" dirty="0"/>
              <a:t> routes of </a:t>
            </a:r>
            <a:r>
              <a:rPr lang="en-US" sz="2400" dirty="0" smtClean="0"/>
              <a:t>administration</a:t>
            </a:r>
          </a:p>
          <a:p>
            <a:pPr marL="914400" lvl="2" indent="0">
              <a:lnSpc>
                <a:spcPct val="90000"/>
              </a:lnSpc>
              <a:buNone/>
            </a:pPr>
            <a:endParaRPr lang="en-US" sz="2400" dirty="0"/>
          </a:p>
          <a:p>
            <a:pPr>
              <a:lnSpc>
                <a:spcPct val="90000"/>
              </a:lnSpc>
            </a:pPr>
            <a:r>
              <a:rPr lang="en-US" dirty="0"/>
              <a:t>Drug can be excluded by blood clots or necrotic tissue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52</a:t>
            </a:fld>
            <a:endParaRPr lang="en-US"/>
          </a:p>
        </p:txBody>
      </p:sp>
    </p:spTree>
    <p:extLst>
      <p:ext uri="{BB962C8B-B14F-4D97-AF65-F5344CB8AC3E}">
        <p14:creationId xmlns:p14="http://schemas.microsoft.com/office/powerpoint/2010/main" val="1273934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Influencing Ability of Drug to Reach Concentrations </a:t>
            </a:r>
            <a:r>
              <a:rPr lang="en-US" dirty="0" smtClean="0"/>
              <a:t>Exceeding </a:t>
            </a:r>
            <a:r>
              <a:rPr lang="en-US" dirty="0"/>
              <a:t>MIC</a:t>
            </a:r>
          </a:p>
        </p:txBody>
      </p:sp>
      <p:sp>
        <p:nvSpPr>
          <p:cNvPr id="3" name="Content Placeholder 2"/>
          <p:cNvSpPr>
            <a:spLocks noGrp="1"/>
          </p:cNvSpPr>
          <p:nvPr>
            <p:ph idx="1"/>
          </p:nvPr>
        </p:nvSpPr>
        <p:spPr>
          <a:xfrm>
            <a:off x="457200" y="2179637"/>
            <a:ext cx="8229600" cy="4525963"/>
          </a:xfrm>
        </p:spPr>
        <p:txBody>
          <a:bodyPr/>
          <a:lstStyle/>
          <a:p>
            <a:r>
              <a:rPr lang="en-US" dirty="0"/>
              <a:t>Amount </a:t>
            </a:r>
            <a:r>
              <a:rPr lang="en-US" dirty="0" smtClean="0"/>
              <a:t>administered</a:t>
            </a:r>
          </a:p>
          <a:p>
            <a:pPr marL="0" indent="0">
              <a:buNone/>
            </a:pPr>
            <a:endParaRPr lang="en-US" dirty="0"/>
          </a:p>
          <a:p>
            <a:r>
              <a:rPr lang="en-US" dirty="0"/>
              <a:t>Route of </a:t>
            </a:r>
            <a:r>
              <a:rPr lang="en-US" dirty="0" smtClean="0"/>
              <a:t>administration</a:t>
            </a:r>
          </a:p>
          <a:p>
            <a:pPr marL="0" indent="0">
              <a:buNone/>
            </a:pPr>
            <a:endParaRPr lang="en-US" dirty="0"/>
          </a:p>
          <a:p>
            <a:r>
              <a:rPr lang="en-US" dirty="0"/>
              <a:t>Speed of </a:t>
            </a:r>
            <a:r>
              <a:rPr lang="en-US" dirty="0" smtClean="0"/>
              <a:t>uptake</a:t>
            </a:r>
          </a:p>
          <a:p>
            <a:pPr marL="0" indent="0">
              <a:buNone/>
            </a:pPr>
            <a:endParaRPr lang="en-US" dirty="0"/>
          </a:p>
          <a:p>
            <a:r>
              <a:rPr lang="en-US" dirty="0"/>
              <a:t>Rate of clearance (elimination) from body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53</a:t>
            </a:fld>
            <a:endParaRPr lang="en-US"/>
          </a:p>
        </p:txBody>
      </p:sp>
    </p:spTree>
    <p:extLst>
      <p:ext uri="{BB962C8B-B14F-4D97-AF65-F5344CB8AC3E}">
        <p14:creationId xmlns:p14="http://schemas.microsoft.com/office/powerpoint/2010/main" val="12739346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Drug Resistance</a:t>
            </a:r>
            <a:endParaRPr lang="en-US" dirty="0"/>
          </a:p>
        </p:txBody>
      </p:sp>
      <p:sp>
        <p:nvSpPr>
          <p:cNvPr id="3" name="Content Placeholder 2"/>
          <p:cNvSpPr>
            <a:spLocks noGrp="1"/>
          </p:cNvSpPr>
          <p:nvPr>
            <p:ph idx="1"/>
          </p:nvPr>
        </p:nvSpPr>
        <p:spPr>
          <a:xfrm>
            <a:off x="457200" y="1951037"/>
            <a:ext cx="8229600" cy="4525963"/>
          </a:xfrm>
        </p:spPr>
        <p:txBody>
          <a:bodyPr>
            <a:normAutofit fontScale="92500" lnSpcReduction="20000"/>
          </a:bodyPr>
          <a:lstStyle/>
          <a:p>
            <a:r>
              <a:rPr lang="en-US" dirty="0"/>
              <a:t>An increasing problem</a:t>
            </a:r>
          </a:p>
          <a:p>
            <a:pPr lvl="1"/>
            <a:r>
              <a:rPr lang="en-US" dirty="0"/>
              <a:t>once resistance originates in a population it can be transmitted to other bacteria</a:t>
            </a:r>
          </a:p>
          <a:p>
            <a:pPr lvl="1"/>
            <a:r>
              <a:rPr lang="en-US" dirty="0"/>
              <a:t>a particular type of resistance mechanism is not confirmed to a single class of </a:t>
            </a:r>
            <a:r>
              <a:rPr lang="en-US" dirty="0" smtClean="0"/>
              <a:t>drugs</a:t>
            </a:r>
          </a:p>
          <a:p>
            <a:pPr marL="457200" lvl="1" indent="0">
              <a:buNone/>
            </a:pPr>
            <a:endParaRPr lang="en-US" dirty="0"/>
          </a:p>
          <a:p>
            <a:r>
              <a:rPr lang="en-US" dirty="0"/>
              <a:t>Microbes in abscesses or biofilms may be growing slowly and not be </a:t>
            </a:r>
            <a:r>
              <a:rPr lang="en-US" dirty="0" smtClean="0"/>
              <a:t>susceptible</a:t>
            </a:r>
          </a:p>
          <a:p>
            <a:pPr marL="0" indent="0">
              <a:buNone/>
            </a:pPr>
            <a:endParaRPr lang="en-US" dirty="0"/>
          </a:p>
          <a:p>
            <a:r>
              <a:rPr lang="en-US" dirty="0"/>
              <a:t>Resistance mutants arise spontaneously and are then selected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54</a:t>
            </a:fld>
            <a:endParaRPr lang="en-US"/>
          </a:p>
        </p:txBody>
      </p:sp>
    </p:spTree>
    <p:extLst>
      <p:ext uri="{BB962C8B-B14F-4D97-AF65-F5344CB8AC3E}">
        <p14:creationId xmlns:p14="http://schemas.microsoft.com/office/powerpoint/2010/main" val="12739346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Overcoming Drug Resistance</a:t>
            </a:r>
          </a:p>
        </p:txBody>
      </p:sp>
      <p:sp>
        <p:nvSpPr>
          <p:cNvPr id="3" name="Content Placeholder 2"/>
          <p:cNvSpPr>
            <a:spLocks noGrp="1"/>
          </p:cNvSpPr>
          <p:nvPr>
            <p:ph idx="1"/>
          </p:nvPr>
        </p:nvSpPr>
        <p:spPr/>
        <p:txBody>
          <a:bodyPr>
            <a:normAutofit fontScale="92500" lnSpcReduction="10000"/>
          </a:bodyPr>
          <a:lstStyle/>
          <a:p>
            <a:pPr>
              <a:lnSpc>
                <a:spcPct val="90000"/>
              </a:lnSpc>
            </a:pPr>
            <a:r>
              <a:rPr lang="en-US" dirty="0"/>
              <a:t>Give drug in appropriate concentrations to destroy </a:t>
            </a:r>
            <a:r>
              <a:rPr lang="en-US" dirty="0" smtClean="0"/>
              <a:t>susceptible</a:t>
            </a:r>
          </a:p>
          <a:p>
            <a:pPr marL="0" indent="0">
              <a:lnSpc>
                <a:spcPct val="90000"/>
              </a:lnSpc>
              <a:buNone/>
            </a:pPr>
            <a:endParaRPr lang="en-US" dirty="0"/>
          </a:p>
          <a:p>
            <a:pPr>
              <a:lnSpc>
                <a:spcPct val="90000"/>
              </a:lnSpc>
            </a:pPr>
            <a:r>
              <a:rPr lang="en-US" dirty="0"/>
              <a:t>Give two or more drugs at same </a:t>
            </a:r>
            <a:r>
              <a:rPr lang="en-US" dirty="0" smtClean="0"/>
              <a:t>time</a:t>
            </a:r>
          </a:p>
          <a:p>
            <a:pPr marL="0" indent="0">
              <a:lnSpc>
                <a:spcPct val="90000"/>
              </a:lnSpc>
              <a:buNone/>
            </a:pPr>
            <a:endParaRPr lang="en-US" dirty="0"/>
          </a:p>
          <a:p>
            <a:pPr>
              <a:lnSpc>
                <a:spcPct val="90000"/>
              </a:lnSpc>
            </a:pPr>
            <a:r>
              <a:rPr lang="en-US" dirty="0"/>
              <a:t>Use drugs only when </a:t>
            </a:r>
            <a:r>
              <a:rPr lang="en-US" dirty="0" smtClean="0"/>
              <a:t>necessary</a:t>
            </a:r>
          </a:p>
          <a:p>
            <a:pPr marL="0" indent="0">
              <a:lnSpc>
                <a:spcPct val="90000"/>
              </a:lnSpc>
              <a:buNone/>
            </a:pPr>
            <a:endParaRPr lang="en-US" dirty="0"/>
          </a:p>
          <a:p>
            <a:pPr>
              <a:lnSpc>
                <a:spcPct val="90000"/>
              </a:lnSpc>
            </a:pPr>
            <a:r>
              <a:rPr lang="en-US" dirty="0"/>
              <a:t>Possible future solutions</a:t>
            </a:r>
          </a:p>
          <a:p>
            <a:pPr lvl="1">
              <a:lnSpc>
                <a:spcPct val="90000"/>
              </a:lnSpc>
            </a:pPr>
            <a:r>
              <a:rPr lang="en-US" dirty="0"/>
              <a:t>continued development of new drugs</a:t>
            </a:r>
          </a:p>
          <a:p>
            <a:pPr lvl="1">
              <a:lnSpc>
                <a:spcPct val="90000"/>
              </a:lnSpc>
            </a:pPr>
            <a:r>
              <a:rPr lang="en-US" dirty="0"/>
              <a:t>use of bacteriophages to treat bacterial disease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55</a:t>
            </a:fld>
            <a:endParaRPr lang="en-US"/>
          </a:p>
        </p:txBody>
      </p:sp>
    </p:spTree>
    <p:extLst>
      <p:ext uri="{BB962C8B-B14F-4D97-AF65-F5344CB8AC3E}">
        <p14:creationId xmlns:p14="http://schemas.microsoft.com/office/powerpoint/2010/main" val="1273934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 Home Message</a:t>
            </a:r>
            <a:endParaRPr lang="en-US" dirty="0"/>
          </a:p>
        </p:txBody>
      </p:sp>
      <p:sp>
        <p:nvSpPr>
          <p:cNvPr id="3" name="Content Placeholder 2"/>
          <p:cNvSpPr>
            <a:spLocks noGrp="1"/>
          </p:cNvSpPr>
          <p:nvPr>
            <p:ph idx="1"/>
          </p:nvPr>
        </p:nvSpPr>
        <p:spPr>
          <a:xfrm>
            <a:off x="457200" y="1600200"/>
            <a:ext cx="8229600" cy="5105400"/>
          </a:xfrm>
        </p:spPr>
        <p:txBody>
          <a:bodyPr>
            <a:normAutofit fontScale="85000" lnSpcReduction="10000"/>
          </a:bodyPr>
          <a:lstStyle/>
          <a:p>
            <a:r>
              <a:rPr lang="en-US" dirty="0" smtClean="0"/>
              <a:t>Use of drugs to control microbial growth has played  a pivotal role in development of healthy societies across the last century or so of history</a:t>
            </a:r>
            <a:br>
              <a:rPr lang="en-US" dirty="0" smtClean="0"/>
            </a:br>
            <a:endParaRPr lang="en-US" dirty="0" smtClean="0"/>
          </a:p>
          <a:p>
            <a:r>
              <a:rPr lang="en-US" dirty="0" smtClean="0"/>
              <a:t>We need to understand how these drugs work in order to develop more of them, but also to try to counter evolution of resistance against them by microbes</a:t>
            </a:r>
            <a:br>
              <a:rPr lang="en-US" dirty="0" smtClean="0"/>
            </a:br>
            <a:endParaRPr lang="en-US" dirty="0" smtClean="0"/>
          </a:p>
          <a:p>
            <a:r>
              <a:rPr lang="en-US" dirty="0" smtClean="0"/>
              <a:t>Work to go beyond memorizing a mechanism or a structure for these drugs – ask yourself WHY they work the way they do, as well as what methods microbes may try to use to avoid being controlled or killed</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56</a:t>
            </a:fld>
            <a:endParaRPr lang="en-US"/>
          </a:p>
        </p:txBody>
      </p:sp>
    </p:spTree>
    <p:extLst>
      <p:ext uri="{BB962C8B-B14F-4D97-AF65-F5344CB8AC3E}">
        <p14:creationId xmlns:p14="http://schemas.microsoft.com/office/powerpoint/2010/main" val="12739346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6.0&quot;&gt;&lt;object type=&quot;1&quot; unique_id=&quot;10001&quot;&gt;&lt;object type=&quot;8&quot; unique_id=&quot;513386&quot;&gt;&lt;/object&gt;&lt;object type=&quot;2&quot; unique_id=&quot;513387&quot;&gt;&lt;object type=&quot;3&quot; unique_id=&quot;513388&quot;&gt;&lt;property id=&quot;20148&quot; value=&quot;5&quot;/&gt;&lt;property id=&quot;20300&quot; value=&quot;Slide 1 - &amp;quot;Chapter 9 – Antimicrobial Chemotherapy&amp;quot;&quot;/&gt;&lt;property id=&quot;20307&quot; value=&quot;256&quot;/&gt;&lt;/object&gt;&lt;object type=&quot;3&quot; unique_id=&quot;513389&quot;&gt;&lt;property id=&quot;20148&quot; value=&quot;5&quot;/&gt;&lt;property id=&quot;20300&quot; value=&quot;Slide 2 - &amp;quot;9.1 Antimicrobial Chemotherapy Evolved from Antisepsis Efforts&amp;quot;&quot;/&gt;&lt;property id=&quot;20307&quot; value=&quot;257&quot;/&gt;&lt;/object&gt;&lt;object type=&quot;3&quot; unique_id=&quot;513390&quot;&gt;&lt;property id=&quot;20148&quot; value=&quot;5&quot;/&gt;&lt;property id=&quot;20300&quot; value=&quot;Slide 3 - &amp;quot;Chemotherapeutic Agents&amp;quot;&quot;/&gt;&lt;property id=&quot;20307&quot; value=&quot;258&quot;/&gt;&lt;/object&gt;&lt;object type=&quot;3&quot; unique_id=&quot;513391&quot;&gt;&lt;property id=&quot;20148&quot; value=&quot;5&quot;/&gt;&lt;property id=&quot;20300&quot; value=&quot;Slide 4 - &amp;quot;The Development of Chemotherapy&amp;quot;&quot;/&gt;&lt;property id=&quot;20307&quot; value=&quot;259&quot;/&gt;&lt;/object&gt;&lt;object type=&quot;3&quot; unique_id=&quot;513392&quot;&gt;&lt;property id=&quot;20148&quot; value=&quot;5&quot;/&gt;&lt;property id=&quot;20300&quot; value=&quot;Slide 5 - &amp;quot;Penicillin&amp;quot;&quot;/&gt;&lt;property id=&quot;20307&quot; value=&quot;260&quot;/&gt;&lt;/object&gt;&lt;object type=&quot;3&quot; unique_id=&quot;513393&quot;&gt;&lt;property id=&quot;20148&quot; value=&quot;5&quot;/&gt;&lt;property id=&quot;20300&quot; value=&quot;Slide 6 - &amp;quot;Later Discoveries&amp;quot;&quot;/&gt;&lt;property id=&quot;20307&quot; value=&quot;262&quot;/&gt;&lt;/object&gt;&lt;object type=&quot;3&quot; unique_id=&quot;513394&quot;&gt;&lt;property id=&quot;20148&quot; value=&quot;5&quot;/&gt;&lt;property id=&quot;20300&quot; value=&quot;Slide 7 - &amp;quot;9.2 Antimicrobial Drugs Need to be Selectively Toxic over a Range of Effectiveness&amp;quot;&quot;/&gt;&lt;property id=&quot;20307&quot; value=&quot;263&quot;/&gt;&lt;/object&gt;&lt;object type=&quot;3&quot; unique_id=&quot;513395&quot;&gt;&lt;property id=&quot;20148&quot; value=&quot;5&quot;/&gt;&lt;property id=&quot;20300&quot; value=&quot;Slide 8 - &amp;quot;General Characteristics of Antimicrobial Drugs&amp;quot;&quot;/&gt;&lt;property id=&quot;20307&quot; value=&quot;264&quot;/&gt;&lt;/object&gt;&lt;object type=&quot;3&quot; unique_id=&quot;513396&quot;&gt;&lt;property id=&quot;20148&quot; value=&quot;5&quot;/&gt;&lt;property id=&quot;20300&quot; value=&quot;Slide 9 - &amp;quot;General Characteristics of Antimicrobial Drugs - 1&amp;quot;&quot;/&gt;&lt;property id=&quot;20307&quot; value=&quot;265&quot;/&gt;&lt;/object&gt;&lt;object type=&quot;3&quot; unique_id=&quot;513397&quot;&gt;&lt;property id=&quot;20148&quot; value=&quot;5&quot;/&gt;&lt;property id=&quot;20300&quot; value=&quot;Slide 10 - &amp;quot;Properties of Antimicrobial Drugs&amp;quot;&quot;/&gt;&lt;property id=&quot;20307&quot; value=&quot;266&quot;/&gt;&lt;/object&gt;&lt;object type=&quot;3&quot; unique_id=&quot;513398&quot;&gt;&lt;property id=&quot;20148&quot; value=&quot;5&quot;/&gt;&lt;property id=&quot;20300&quot; value=&quot;Slide 11 - &amp;quot;Further Properties of Antimicrobial Drugs&amp;quot;&quot;/&gt;&lt;property id=&quot;20307&quot; value=&quot;267&quot;/&gt;&lt;/object&gt;&lt;object type=&quot;3&quot; unique_id=&quot;513399&quot;&gt;&lt;property id=&quot;20148&quot; value=&quot;5&quot;/&gt;&lt;property id=&quot;20300&quot; value=&quot;Slide 12 - &amp;quot;Measuring Effectiveness of Antimicrobial Drugs&amp;quot;&quot;/&gt;&lt;property id=&quot;20307&quot; value=&quot;268&quot;/&gt;&lt;/object&gt;&lt;object type=&quot;3&quot; unique_id=&quot;513400&quot;&gt;&lt;property id=&quot;20148&quot; value=&quot;5&quot;/&gt;&lt;property id=&quot;20300&quot; value=&quot;Slide 13 - &amp;quot;9.3 Antimicrobial Activity Can Be &amp;#x0D;&amp;#x0A;Measured by Specific Tests&amp;quot;&quot;/&gt;&lt;property id=&quot;20307&quot; value=&quot;269&quot;/&gt;&lt;/object&gt;&lt;object type=&quot;3&quot; unique_id=&quot;513401&quot;&gt;&lt;property id=&quot;20148&quot; value=&quot;5&quot;/&gt;&lt;property id=&quot;20300&quot; value=&quot;Slide 14 - &amp;quot;Determining the Level of &amp;#x0D;&amp;#x0A;Antimicrobial Activity&amp;quot;&quot;/&gt;&lt;property id=&quot;20307&quot; value=&quot;270&quot;/&gt;&lt;/object&gt;&lt;object type=&quot;3&quot; unique_id=&quot;513402&quot;&gt;&lt;property id=&quot;20148&quot; value=&quot;5&quot;/&gt;&lt;property id=&quot;20300&quot; value=&quot;Slide 15 - &amp;quot;Dilution Susceptibility Tests&amp;quot;&quot;/&gt;&lt;property id=&quot;20307&quot; value=&quot;271&quot;/&gt;&lt;/object&gt;&lt;object type=&quot;3&quot; unique_id=&quot;513403&quot;&gt;&lt;property id=&quot;20148&quot; value=&quot;5&quot;/&gt;&lt;property id=&quot;20300&quot; value=&quot;Slide 16 - &amp;quot;Disk Diffusion Tests&amp;quot;&quot;/&gt;&lt;property id=&quot;20307&quot; value=&quot;272&quot;/&gt;&lt;/object&gt;&lt;object type=&quot;3&quot; unique_id=&quot;513404&quot;&gt;&lt;property id=&quot;20148&quot; value=&quot;5&quot;/&gt;&lt;property id=&quot;20300&quot; value=&quot;Slide 17 - &amp;quot;Kirby-Bauer Method&amp;quot;&quot;/&gt;&lt;property id=&quot;20307&quot; value=&quot;274&quot;/&gt;&lt;/object&gt;&lt;object type=&quot;3&quot; unique_id=&quot;513405&quot;&gt;&lt;property id=&quot;20148&quot; value=&quot;5&quot;/&gt;&lt;property id=&quot;20300&quot; value=&quot;Slide 18 - &amp;quot;The E Test&amp;quot;&quot;/&gt;&lt;property id=&quot;20307&quot; value=&quot;276&quot;/&gt;&lt;/object&gt;&lt;object type=&quot;3&quot; unique_id=&quot;513406&quot;&gt;&lt;property id=&quot;20148&quot; value=&quot;5&quot;/&gt;&lt;property id=&quot;20300&quot; value=&quot;Slide 19 - &amp;quot;9.4 Antibacterial Drugs&amp;quot;&quot;/&gt;&lt;property id=&quot;20307&quot; value=&quot;277&quot;/&gt;&lt;/object&gt;&lt;object type=&quot;3&quot; unique_id=&quot;513407&quot;&gt;&lt;property id=&quot;20148&quot; value=&quot;5&quot;/&gt;&lt;property id=&quot;20300&quot; value=&quot;Slide 20 - &amp;quot;Antimicrobial Drugs – Main Modes of Action&amp;quot;&quot;/&gt;&lt;property id=&quot;20307&quot; value=&quot;278&quot;/&gt;&lt;/object&gt;&lt;object type=&quot;3&quot; unique_id=&quot;513408&quot;&gt;&lt;property id=&quot;20148&quot; value=&quot;5&quot;/&gt;&lt;property id=&quot;20300&quot; value=&quot;Slide 21 - &amp;quot;Inhibitors of Cell Wall Synthesis&amp;quot;&quot;/&gt;&lt;property id=&quot;20307&quot; value=&quot;279&quot;/&gt;&lt;/object&gt;&lt;object type=&quot;3&quot; unique_id=&quot;513409&quot;&gt;&lt;property id=&quot;20148&quot; value=&quot;5&quot;/&gt;&lt;property id=&quot;20300&quot; value=&quot;Slide 22 - &amp;quot;Penicillin - Structures&amp;quot;&quot;/&gt;&lt;property id=&quot;20307&quot; value=&quot;280&quot;/&gt;&lt;/object&gt;&lt;object type=&quot;3&quot; unique_id=&quot;513410&quot;&gt;&lt;property id=&quot;20148&quot; value=&quot;5&quot;/&gt;&lt;property id=&quot;20300&quot; value=&quot;Slide 23 - &amp;quot;Other Actions and Types of Penicillins&amp;quot;&quot;/&gt;&lt;property id=&quot;20307&quot; value=&quot;281&quot;/&gt;&lt;/object&gt;&lt;object type=&quot;3&quot; unique_id=&quot;513411&quot;&gt;&lt;property id=&quot;20148&quot; value=&quot;5&quot;/&gt;&lt;property id=&quot;20300&quot; value=&quot;Slide 24 - &amp;quot;Cephalosporins&amp;quot;&quot;/&gt;&lt;property id=&quot;20307&quot; value=&quot;283&quot;/&gt;&lt;/object&gt;&lt;object type=&quot;3&quot; unique_id=&quot;513412&quot;&gt;&lt;property id=&quot;20148&quot; value=&quot;5&quot;/&gt;&lt;property id=&quot;20300&quot; value=&quot;Slide 25 - &amp;quot;Vancomycin and Teicoplanin&amp;quot;&quot;/&gt;&lt;property id=&quot;20307&quot; value=&quot;284&quot;/&gt;&lt;/object&gt;&lt;object type=&quot;3&quot; unique_id=&quot;513413&quot;&gt;&lt;property id=&quot;20148&quot; value=&quot;5&quot;/&gt;&lt;property id=&quot;20300&quot; value=&quot;Slide 26 - &amp;quot;Protein Synthesis Inhibitors&amp;quot;&quot;/&gt;&lt;property id=&quot;20307&quot; value=&quot;285&quot;/&gt;&lt;/object&gt;&lt;object type=&quot;3&quot; unique_id=&quot;513414&quot;&gt;&lt;property id=&quot;20148&quot; value=&quot;5&quot;/&gt;&lt;property id=&quot;20300&quot; value=&quot;Slide 27 - &amp;quot;Aminoglycoside Antibiotics&amp;quot;&quot;/&gt;&lt;property id=&quot;20307&quot; value=&quot;286&quot;/&gt;&lt;/object&gt;&lt;object type=&quot;3&quot; unique_id=&quot;513415&quot;&gt;&lt;property id=&quot;20148&quot; value=&quot;5&quot;/&gt;&lt;property id=&quot;20300&quot; value=&quot;Slide 28 - &amp;quot;Tetracyclines&amp;quot;&quot;/&gt;&lt;property id=&quot;20307&quot; value=&quot;287&quot;/&gt;&lt;/object&gt;&lt;object type=&quot;3&quot; unique_id=&quot;513416&quot;&gt;&lt;property id=&quot;20148&quot; value=&quot;5&quot;/&gt;&lt;property id=&quot;20300&quot; value=&quot;Slide 29 - &amp;quot;Macrolides&amp;quot;&quot;/&gt;&lt;property id=&quot;20307&quot; value=&quot;288&quot;/&gt;&lt;/object&gt;&lt;object type=&quot;3&quot; unique_id=&quot;513417&quot;&gt;&lt;property id=&quot;20148&quot; value=&quot;5&quot;/&gt;&lt;property id=&quot;20300&quot; value=&quot;Slide 30 - &amp;quot;Lincosamines&amp;quot;&quot;/&gt;&lt;property id=&quot;20307&quot; value=&quot;318&quot;/&gt;&lt;/object&gt;&lt;object type=&quot;3&quot; unique_id=&quot;513418&quot;&gt;&lt;property id=&quot;20148&quot; value=&quot;5&quot;/&gt;&lt;property id=&quot;20300&quot; value=&quot;Slide 31 - &amp;quot;Chloramphenicol&amp;quot;&quot;/&gt;&lt;property id=&quot;20307&quot; value=&quot;289&quot;/&gt;&lt;/object&gt;&lt;object type=&quot;3&quot; unique_id=&quot;513419&quot;&gt;&lt;property id=&quot;20148&quot; value=&quot;5&quot;/&gt;&lt;property id=&quot;20300&quot; value=&quot;Slide 32 - &amp;quot;Metabolic Antagonists&amp;quot;&quot;/&gt;&lt;property id=&quot;20307&quot; value=&quot;290&quot;/&gt;&lt;/object&gt;&lt;object type=&quot;3&quot; unique_id=&quot;513420&quot;&gt;&lt;property id=&quot;20148&quot; value=&quot;5&quot;/&gt;&lt;property id=&quot;20300&quot; value=&quot;Slide 33 - &amp;quot;Sulfonamides or Sulfa Drugs&amp;quot;&quot;/&gt;&lt;property id=&quot;20307&quot; value=&quot;291&quot;/&gt;&lt;/object&gt;&lt;object type=&quot;3&quot; unique_id=&quot;513421&quot;&gt;&lt;property id=&quot;20148&quot; value=&quot;5&quot;/&gt;&lt;property id=&quot;20300&quot; value=&quot;Slide 34 - &amp;quot;Trimethoprim&amp;quot;&quot;/&gt;&lt;property id=&quot;20307&quot; value=&quot;292&quot;/&gt;&lt;/object&gt;&lt;object type=&quot;3&quot; unique_id=&quot;513422&quot;&gt;&lt;property id=&quot;20148&quot; value=&quot;5&quot;/&gt;&lt;property id=&quot;20300&quot; value=&quot;Slide 35 - &amp;quot;Nucleic Acid Synthesis Inhibition&amp;quot;&quot;/&gt;&lt;property id=&quot;20307&quot; value=&quot;294&quot;/&gt;&lt;/object&gt;&lt;object type=&quot;3&quot; unique_id=&quot;513423&quot;&gt;&lt;property id=&quot;20148&quot; value=&quot;5&quot;/&gt;&lt;property id=&quot;20300&quot; value=&quot;Slide 36 - &amp;quot;Quinolones&amp;quot;&quot;/&gt;&lt;property id=&quot;20307&quot; value=&quot;295&quot;/&gt;&lt;/object&gt;&lt;object type=&quot;3&quot; unique_id=&quot;513424&quot;&gt;&lt;property id=&quot;20148&quot; value=&quot;5&quot;/&gt;&lt;property id=&quot;20300&quot; value=&quot;Slide 37 - &amp;quot;9.5 Antifungal Drugs&amp;quot;&quot;/&gt;&lt;property id=&quot;20307&quot; value=&quot;296&quot;/&gt;&lt;/object&gt;&lt;object type=&quot;3&quot; unique_id=&quot;513425&quot;&gt;&lt;property id=&quot;20148&quot; value=&quot;5&quot;/&gt;&lt;property id=&quot;20300&quot; value=&quot;Slide 38 - &amp;quot;Antifungal Drugs&amp;quot;&quot;/&gt;&lt;property id=&quot;20307&quot; value=&quot;297&quot;/&gt;&lt;/object&gt;&lt;object type=&quot;3&quot; unique_id=&quot;513426&quot;&gt;&lt;property id=&quot;20148&quot; value=&quot;5&quot;/&gt;&lt;property id=&quot;20300&quot; value=&quot;Slide 39 - &amp;quot;Treating Mycoses&amp;quot;&quot;/&gt;&lt;property id=&quot;20307&quot; value=&quot;298&quot;/&gt;&lt;/object&gt;&lt;object type=&quot;3&quot; unique_id=&quot;513427&quot;&gt;&lt;property id=&quot;20148&quot; value=&quot;5&quot;/&gt;&lt;property id=&quot;20300&quot; value=&quot;Slide 40 - &amp;quot;Common Antifungal Drugs&amp;quot;&quot;/&gt;&lt;property id=&quot;20307&quot; value=&quot;300&quot;/&gt;&lt;/object&gt;&lt;object type=&quot;3&quot; unique_id=&quot;513428&quot;&gt;&lt;property id=&quot;20148&quot; value=&quot;5&quot;/&gt;&lt;property id=&quot;20300&quot; value=&quot;Slide 41 - &amp;quot;9.6 Antiviral Drugs&amp;quot;&quot;/&gt;&lt;property id=&quot;20307&quot; value=&quot;301&quot;/&gt;&lt;/object&gt;&lt;object type=&quot;3&quot; unique_id=&quot;513429&quot;&gt;&lt;property id=&quot;20148&quot; value=&quot;5&quot;/&gt;&lt;property id=&quot;20300&quot; value=&quot;Slide 42 - &amp;quot;Antiviral Drugs&amp;quot;&quot;/&gt;&lt;property id=&quot;20307&quot; value=&quot;302&quot;/&gt;&lt;/object&gt;&lt;object type=&quot;3&quot; unique_id=&quot;513430&quot;&gt;&lt;property id=&quot;20148&quot; value=&quot;5&quot;/&gt;&lt;property id=&quot;20300&quot; value=&quot;Slide 43 - &amp;quot;Antiviral Drugs for Influenza&amp;quot;&quot;/&gt;&lt;property id=&quot;20307&quot; value=&quot;303&quot;/&gt;&lt;/object&gt;&lt;object type=&quot;3&quot; unique_id=&quot;513431&quot;&gt;&lt;property id=&quot;20148&quot; value=&quot;5&quot;/&gt;&lt;property id=&quot;20300&quot; value=&quot;Slide 44 - &amp;quot;Antiviral Drugs for Herpesvirus Infections&amp;quot;&quot;/&gt;&lt;property id=&quot;20307&quot; value=&quot;305&quot;/&gt;&lt;/object&gt;&lt;object type=&quot;3&quot; unique_id=&quot;513432&quot;&gt;&lt;property id=&quot;20148&quot; value=&quot;5&quot;/&gt;&lt;property id=&quot;20300&quot; value=&quot;Slide 45 - &amp;quot;Broad Spectrum Antiviral Drugs&amp;quot;&quot;/&gt;&lt;property id=&quot;20307&quot; value=&quot;306&quot;/&gt;&lt;/object&gt;&lt;object type=&quot;3&quot; unique_id=&quot;513433&quot;&gt;&lt;property id=&quot;20148&quot; value=&quot;5&quot;/&gt;&lt;property id=&quot;20300&quot; value=&quot;Slide 46 - &amp;quot;Anti-HIV Drugs&amp;quot;&quot;/&gt;&lt;property id=&quot;20307&quot; value=&quot;307&quot;/&gt;&lt;/object&gt;&lt;object type=&quot;3&quot; unique_id=&quot;513434&quot;&gt;&lt;property id=&quot;20148&quot; value=&quot;5&quot;/&gt;&lt;property id=&quot;20300&quot; value=&quot;Slide 47 - &amp;quot;Identifying&amp;#x0D;&amp;#x0A;Targets for&amp;#x0D;&amp;#x0A;Anti-HIV Drugs&amp;quot;&quot;/&gt;&lt;property id=&quot;20307&quot; value=&quot;308&quot;/&gt;&lt;/object&gt;&lt;object type=&quot;3&quot; unique_id=&quot;513435&quot;&gt;&lt;property id=&quot;20148&quot; value=&quot;5&quot;/&gt;&lt;property id=&quot;20300&quot; value=&quot;Slide 48 - &amp;quot;9.7 Antiprotozoan Drugs&amp;quot;&quot;/&gt;&lt;property id=&quot;20307&quot; value=&quot;309&quot;/&gt;&lt;/object&gt;&lt;object type=&quot;3&quot; unique_id=&quot;513436&quot;&gt;&lt;property id=&quot;20148&quot; value=&quot;5&quot;/&gt;&lt;property id=&quot;20300&quot; value=&quot;Slide 49 - &amp;quot;Antiprotozoal Drugs&amp;quot;&quot;/&gt;&lt;property id=&quot;20307&quot; value=&quot;310&quot;/&gt;&lt;/object&gt;&lt;object type=&quot;3&quot; unique_id=&quot;513437&quot;&gt;&lt;property id=&quot;20148&quot; value=&quot;5&quot;/&gt;&lt;property id=&quot;20300&quot; value=&quot;Slide 50 - &amp;quot;9.8 Several Factors Influence Antimicrobial Drug Effectiveness&amp;quot;&quot;/&gt;&lt;property id=&quot;20307&quot; value=&quot;311&quot;/&gt;&lt;/object&gt;&lt;object type=&quot;3&quot; unique_id=&quot;513438&quot;&gt;&lt;property id=&quot;20148&quot; value=&quot;5&quot;/&gt;&lt;property id=&quot;20300&quot; value=&quot;Slide 51 - &amp;quot;Factors Influencing Antimicrobial Drugs&amp;quot;&quot;/&gt;&lt;property id=&quot;20307&quot; value=&quot;312&quot;/&gt;&lt;/object&gt;&lt;object type=&quot;3&quot; unique_id=&quot;513439&quot;&gt;&lt;property id=&quot;20148&quot; value=&quot;5&quot;/&gt;&lt;property id=&quot;20300&quot; value=&quot;Slide 52 - &amp;quot;Ability of Drug to Reach Site of Infection&amp;quot;&quot;/&gt;&lt;property id=&quot;20307&quot; value=&quot;313&quot;/&gt;&lt;/object&gt;&lt;object type=&quot;3&quot; unique_id=&quot;513440&quot;&gt;&lt;property id=&quot;20148&quot; value=&quot;5&quot;/&gt;&lt;property id=&quot;20300&quot; value=&quot;Slide 53 - &amp;quot;Factors Influencing Ability of Drug to Reach Concentrations Exceeding MIC&amp;quot;&quot;/&gt;&lt;property id=&quot;20307&quot; value=&quot;314&quot;/&gt;&lt;/object&gt;&lt;object type=&quot;3&quot; unique_id=&quot;513441&quot;&gt;&lt;property id=&quot;20148&quot; value=&quot;5&quot;/&gt;&lt;property id=&quot;20300&quot; value=&quot;Slide 54 - &amp;quot;Drug Resistance&amp;quot;&quot;/&gt;&lt;property id=&quot;20307&quot; value=&quot;315&quot;/&gt;&lt;/object&gt;&lt;object type=&quot;3&quot; unique_id=&quot;513442&quot;&gt;&lt;property id=&quot;20148&quot; value=&quot;5&quot;/&gt;&lt;property id=&quot;20300&quot; value=&quot;Slide 55 - &amp;quot;Overcoming Drug Resistance&amp;quot;&quot;/&gt;&lt;property id=&quot;20307&quot; value=&quot;316&quot;/&gt;&lt;/object&gt;&lt;object type=&quot;3&quot; unique_id=&quot;513443&quot;&gt;&lt;property id=&quot;20148&quot; value=&quot;5&quot;/&gt;&lt;property id=&quot;20300&quot; value=&quot;Slide 56 - &amp;quot;Take Home Message&amp;quot;&quot;/&gt;&lt;property id=&quot;20307&quot; value=&quot;317&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444</TotalTime>
  <Words>1548</Words>
  <Application>Microsoft Office PowerPoint</Application>
  <PresentationFormat>On-screen Show (4:3)</PresentationFormat>
  <Paragraphs>408</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Symbol</vt:lpstr>
      <vt:lpstr>ヒラギノ角ゴ Pro W3</vt:lpstr>
      <vt:lpstr>Office Theme</vt:lpstr>
      <vt:lpstr>Chapter 9 – Antimicrobial Chemotherapy</vt:lpstr>
      <vt:lpstr>9.1 Antimicrobial Chemotherapy Evolved from Antisepsis Efforts</vt:lpstr>
      <vt:lpstr>Chemotherapeutic Agents</vt:lpstr>
      <vt:lpstr>The Development of Chemotherapy</vt:lpstr>
      <vt:lpstr>Penicillin</vt:lpstr>
      <vt:lpstr>Later Discoveries</vt:lpstr>
      <vt:lpstr>9.2 Antimicrobial Drugs Need to be Selectively Toxic over a Range of Effectiveness</vt:lpstr>
      <vt:lpstr>General Characteristics of Antimicrobial Drugs</vt:lpstr>
      <vt:lpstr>General Characteristics of Antimicrobial Drugs - 1</vt:lpstr>
      <vt:lpstr>Properties of Antimicrobial Drugs</vt:lpstr>
      <vt:lpstr>Further Properties of Antibacterial Drugs</vt:lpstr>
      <vt:lpstr>Measuring Effectiveness of Antimicrobial Drugs</vt:lpstr>
      <vt:lpstr>9.3 Antimicrobial Activity Can Be  Measured by Specific Tests</vt:lpstr>
      <vt:lpstr>Determining the Level of  Antimicrobial Activity</vt:lpstr>
      <vt:lpstr>Dilution Susceptibility Tests</vt:lpstr>
      <vt:lpstr>Disk Diffusion Tests</vt:lpstr>
      <vt:lpstr>Kirby-Bauer Method</vt:lpstr>
      <vt:lpstr>The Etest®</vt:lpstr>
      <vt:lpstr>9.4 Antibacterial Drugs</vt:lpstr>
      <vt:lpstr>Antimicrobial Drugs – Main Modes of Action</vt:lpstr>
      <vt:lpstr>Inhibitors of Cell Wall Synthesis</vt:lpstr>
      <vt:lpstr>Penicillins - Structures</vt:lpstr>
      <vt:lpstr>Other Actions and Types of Penicillins</vt:lpstr>
      <vt:lpstr>Cephalosporins</vt:lpstr>
      <vt:lpstr>Vancomycin and Teicoplanin</vt:lpstr>
      <vt:lpstr>Protein Synthesis Inhibitors</vt:lpstr>
      <vt:lpstr>Aminoglycoside Antibiotics</vt:lpstr>
      <vt:lpstr>Tetracyclines</vt:lpstr>
      <vt:lpstr>Macrolides</vt:lpstr>
      <vt:lpstr>Lincosamines</vt:lpstr>
      <vt:lpstr>Chloramphenicol</vt:lpstr>
      <vt:lpstr>Metabolic Antagonists</vt:lpstr>
      <vt:lpstr>Sulfonamides or Sulfa Drugs</vt:lpstr>
      <vt:lpstr>Trimethoprim</vt:lpstr>
      <vt:lpstr>Nucleic Acid Synthesis Inhibition</vt:lpstr>
      <vt:lpstr>Quinolones</vt:lpstr>
      <vt:lpstr>9.5 Antifungal Drugs</vt:lpstr>
      <vt:lpstr>Antifungal Drugs</vt:lpstr>
      <vt:lpstr>Treating Mycoses</vt:lpstr>
      <vt:lpstr>Common Antifungal Drugs</vt:lpstr>
      <vt:lpstr>9.6 Antiviral Drugs</vt:lpstr>
      <vt:lpstr>Antiviral Drugs</vt:lpstr>
      <vt:lpstr>Antiviral Drugs for Influenza</vt:lpstr>
      <vt:lpstr>Antiviral Drugs for Herpesvirus Infections</vt:lpstr>
      <vt:lpstr>Broad Spectrum Antiviral Drugs</vt:lpstr>
      <vt:lpstr>Anti-HIV Drugs</vt:lpstr>
      <vt:lpstr>Identifying Targets for Anti-HIV Drugs</vt:lpstr>
      <vt:lpstr>9.7 Antiprotozoan Drugs</vt:lpstr>
      <vt:lpstr>Antiprotozoan Drugs</vt:lpstr>
      <vt:lpstr>9.8 Several Factors Influence Antimicrobial Drug Effectiveness</vt:lpstr>
      <vt:lpstr>Factors Influencing Antimicrobial Drugs</vt:lpstr>
      <vt:lpstr>Ability of Drug to Reach Site of Infection</vt:lpstr>
      <vt:lpstr>Factors Influencing Ability of Drug to Reach Concentrations Exceeding MIC</vt:lpstr>
      <vt:lpstr>Drug Resistance</vt:lpstr>
      <vt:lpstr>Overcoming Drug Resistance</vt:lpstr>
      <vt:lpstr>Take Home Message</vt:lpstr>
    </vt:vector>
  </TitlesOfParts>
  <Company>University of Central Arkansas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40</cp:revision>
  <dcterms:created xsi:type="dcterms:W3CDTF">2016-01-04T02:13:32Z</dcterms:created>
  <dcterms:modified xsi:type="dcterms:W3CDTF">2018-01-24T10:30:13Z</dcterms:modified>
</cp:coreProperties>
</file>