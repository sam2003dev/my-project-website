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3" r:id="rId17"/>
    <p:sldId id="274" r:id="rId18"/>
    <p:sldId id="276" r:id="rId19"/>
    <p:sldId id="277" r:id="rId20"/>
    <p:sldId id="278" r:id="rId21"/>
    <p:sldId id="279" r:id="rId22"/>
    <p:sldId id="280" r:id="rId23"/>
    <p:sldId id="281" r:id="rId24"/>
    <p:sldId id="282" r:id="rId25"/>
    <p:sldId id="283" r:id="rId26"/>
    <p:sldId id="284" r:id="rId27"/>
    <p:sldId id="285" r:id="rId28"/>
    <p:sldId id="363" r:id="rId29"/>
    <p:sldId id="367" r:id="rId30"/>
    <p:sldId id="368" r:id="rId31"/>
    <p:sldId id="286" r:id="rId32"/>
    <p:sldId id="364" r:id="rId33"/>
    <p:sldId id="287" r:id="rId34"/>
    <p:sldId id="288" r:id="rId35"/>
    <p:sldId id="365" r:id="rId36"/>
    <p:sldId id="366" r:id="rId37"/>
    <p:sldId id="291" r:id="rId38"/>
    <p:sldId id="292" r:id="rId39"/>
    <p:sldId id="293" r:id="rId40"/>
    <p:sldId id="294" r:id="rId41"/>
    <p:sldId id="295"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1" r:id="rId56"/>
    <p:sldId id="312" r:id="rId57"/>
    <p:sldId id="313" r:id="rId58"/>
    <p:sldId id="314" r:id="rId59"/>
    <p:sldId id="316" r:id="rId60"/>
    <p:sldId id="317" r:id="rId61"/>
    <p:sldId id="318" r:id="rId62"/>
    <p:sldId id="320" r:id="rId63"/>
    <p:sldId id="321" r:id="rId64"/>
    <p:sldId id="322" r:id="rId65"/>
    <p:sldId id="324" r:id="rId66"/>
    <p:sldId id="326" r:id="rId67"/>
    <p:sldId id="327" r:id="rId68"/>
    <p:sldId id="328" r:id="rId69"/>
    <p:sldId id="329" r:id="rId70"/>
    <p:sldId id="330" r:id="rId71"/>
    <p:sldId id="332" r:id="rId72"/>
    <p:sldId id="333" r:id="rId73"/>
    <p:sldId id="334" r:id="rId74"/>
    <p:sldId id="335" r:id="rId75"/>
    <p:sldId id="336" r:id="rId76"/>
    <p:sldId id="337" r:id="rId77"/>
    <p:sldId id="338" r:id="rId78"/>
    <p:sldId id="339" r:id="rId79"/>
    <p:sldId id="340" r:id="rId80"/>
    <p:sldId id="341" r:id="rId81"/>
    <p:sldId id="342" r:id="rId82"/>
    <p:sldId id="343" r:id="rId83"/>
    <p:sldId id="344" r:id="rId84"/>
    <p:sldId id="346" r:id="rId85"/>
    <p:sldId id="348" r:id="rId86"/>
    <p:sldId id="350" r:id="rId87"/>
    <p:sldId id="351" r:id="rId88"/>
    <p:sldId id="352" r:id="rId89"/>
    <p:sldId id="353" r:id="rId90"/>
    <p:sldId id="354" r:id="rId91"/>
    <p:sldId id="355" r:id="rId92"/>
    <p:sldId id="362" r:id="rId93"/>
  </p:sldIdLst>
  <p:sldSz cx="9144000" cy="6858000" type="screen4x3"/>
  <p:notesSz cx="6858000" cy="9144000"/>
  <p:custDataLst>
    <p:tags r:id="rId9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882" autoAdjust="0"/>
    <p:restoredTop sz="94660"/>
  </p:normalViewPr>
  <p:slideViewPr>
    <p:cSldViewPr>
      <p:cViewPr varScale="1">
        <p:scale>
          <a:sx n="66" d="100"/>
          <a:sy n="66" d="100"/>
        </p:scale>
        <p:origin x="1536"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ags" Target="tags/tag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30D3CB-AB8E-4924-A7A6-B3213A3455FA}" type="datetimeFigureOut">
              <a:rPr lang="en-US" smtClean="0"/>
              <a:pPr/>
              <a:t>4/15/2023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01BA58-2951-486B-9DEE-A8699590E1A5}" type="slidenum">
              <a:rPr lang="en-US" smtClean="0"/>
              <a:pPr/>
              <a:t>‹#›</a:t>
            </a:fld>
            <a:endParaRPr lang="en-US"/>
          </a:p>
        </p:txBody>
      </p:sp>
    </p:spTree>
    <p:extLst>
      <p:ext uri="{BB962C8B-B14F-4D97-AF65-F5344CB8AC3E}">
        <p14:creationId xmlns:p14="http://schemas.microsoft.com/office/powerpoint/2010/main" val="3956374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3600">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815454F-ECDB-4842-AF71-F9E8195E2EAE}" type="datetime1">
              <a:rPr lang="en-US" smtClean="0"/>
              <a:pPr/>
              <a:t>4/15/2023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457822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0CD5D7F-3933-4309-8034-0F93355438F7}" type="datetime1">
              <a:rPr lang="en-US" smtClean="0"/>
              <a:pPr/>
              <a:t>4/15/2023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57884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C6B14C-AE06-4A23-89A1-5EF01B1A418B}" type="datetime1">
              <a:rPr lang="en-US" smtClean="0"/>
              <a:pPr/>
              <a:t>4/15/2023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223001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8CB9A4-23AA-4DC3-A257-AD75712A2865}" type="datetime1">
              <a:rPr lang="en-US" smtClean="0"/>
              <a:pPr/>
              <a:t>4/15/2023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350947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9D155C-674B-4796-BBC2-FCD13546F93B}" type="datetime1">
              <a:rPr lang="en-US" smtClean="0"/>
              <a:pPr/>
              <a:t>4/15/2023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585470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70BCA5-5AC7-4B00-85A8-8E2615460E4F}" type="datetime1">
              <a:rPr lang="en-US" smtClean="0"/>
              <a:pPr/>
              <a:t>4/15/2023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035365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3D31C3-CEED-4AB3-8385-FB58CACF14B7}" type="datetime1">
              <a:rPr lang="en-US" smtClean="0"/>
              <a:pPr/>
              <a:t>4/15/2023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64564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1A879B-5B0D-4A04-96A8-F9A63EEDE15E}" type="datetime1">
              <a:rPr lang="en-US" smtClean="0"/>
              <a:pPr/>
              <a:t>4/15/2023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328268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78211E-FE34-4C0A-B5A1-267E9B129D2C}" type="datetime1">
              <a:rPr lang="en-US" smtClean="0"/>
              <a:pPr/>
              <a:t>4/15/2023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186978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03F265-EC92-4E3A-8B2F-17EA75E99940}" type="datetime1">
              <a:rPr lang="en-US" smtClean="0"/>
              <a:pPr/>
              <a:t>4/15/2023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019088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510B38-9655-43E1-BBFD-8C7DABE26029}" type="datetime1">
              <a:rPr lang="en-US" smtClean="0"/>
              <a:pPr/>
              <a:t>4/15/2023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319958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FF1A8-D92E-4DC4-8F80-25205ADBC8C6}" type="datetime1">
              <a:rPr lang="en-US" smtClean="0"/>
              <a:pPr/>
              <a:t>4/15/2023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A82D2-719A-4A87-BECB-D74482819C19}" type="slidenum">
              <a:rPr lang="en-US" smtClean="0"/>
              <a:pPr/>
              <a:t>‹#›</a:t>
            </a:fld>
            <a:endParaRPr lang="en-US"/>
          </a:p>
        </p:txBody>
      </p:sp>
      <p:sp>
        <p:nvSpPr>
          <p:cNvPr id="7" name="Rectangle 5"/>
          <p:cNvSpPr>
            <a:spLocks noChangeArrowheads="1"/>
          </p:cNvSpPr>
          <p:nvPr userDrawn="1"/>
        </p:nvSpPr>
        <p:spPr bwMode="auto">
          <a:xfrm>
            <a:off x="0" y="6642100"/>
            <a:ext cx="9144000" cy="215444"/>
          </a:xfrm>
          <a:prstGeom prst="rect">
            <a:avLst/>
          </a:prstGeom>
          <a:noFill/>
          <a:ln w="9525">
            <a:noFill/>
            <a:miter lim="800000"/>
            <a:headEnd/>
            <a:tailEnd/>
          </a:ln>
        </p:spPr>
        <p:txBody>
          <a:bodyPr>
            <a:spAutoFit/>
          </a:bodyPr>
          <a:lstStyle/>
          <a:p>
            <a:pPr algn="ctr"/>
            <a:r>
              <a:rPr lang="en-US" sz="800" b="0" dirty="0">
                <a:ea typeface="ヒラギノ角ゴ Pro W3"/>
                <a:cs typeface="ヒラギノ角ゴ Pro W3"/>
              </a:rPr>
              <a:t>Copyright (c) 2017 McGraw-Hill Education. All rights reserved. No reproduction or distribution without the prior written consent of McGraw-Hill Education.</a:t>
            </a:r>
          </a:p>
        </p:txBody>
      </p:sp>
    </p:spTree>
    <p:extLst>
      <p:ext uri="{BB962C8B-B14F-4D97-AF65-F5344CB8AC3E}">
        <p14:creationId xmlns:p14="http://schemas.microsoft.com/office/powerpoint/2010/main" val="376157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3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2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B1A82D2-719A-4A87-BECB-D74482819C19}" type="slidenum">
              <a:rPr lang="en-US" smtClean="0"/>
              <a:pPr/>
              <a:t>1</a:t>
            </a:fld>
            <a:endParaRPr lang="en-US"/>
          </a:p>
        </p:txBody>
      </p:sp>
      <p:sp>
        <p:nvSpPr>
          <p:cNvPr id="2" name="Title 1"/>
          <p:cNvSpPr>
            <a:spLocks noGrp="1"/>
          </p:cNvSpPr>
          <p:nvPr>
            <p:ph type="ctrTitle"/>
          </p:nvPr>
        </p:nvSpPr>
        <p:spPr>
          <a:xfrm>
            <a:off x="685800" y="304801"/>
            <a:ext cx="7772400" cy="1143000"/>
          </a:xfrm>
        </p:spPr>
        <p:txBody>
          <a:bodyPr/>
          <a:lstStyle/>
          <a:p>
            <a:r>
              <a:rPr lang="en-US" dirty="0"/>
              <a:t>Chapter 22 – </a:t>
            </a:r>
            <a:r>
              <a:rPr lang="en-US" dirty="0" err="1"/>
              <a:t>Proteobacteria</a:t>
            </a:r>
            <a:endParaRPr lang="en-US" dirty="0"/>
          </a:p>
        </p:txBody>
      </p:sp>
      <p:pic>
        <p:nvPicPr>
          <p:cNvPr id="7" name="Picture 2" descr="X:\Graphics\Powerpoint\MH_DCM\MH_DCM-TEXTEDIT PROJECTS\WILLEY_10e\Incoming\Wille10e17tlm_nm3.jpg"/>
          <p:cNvPicPr>
            <a:picLocks noChangeAspect="1" noChangeArrowheads="1"/>
          </p:cNvPicPr>
          <p:nvPr/>
        </p:nvPicPr>
        <p:blipFill>
          <a:blip r:embed="rId2" cstate="print"/>
          <a:srcRect/>
          <a:stretch>
            <a:fillRect/>
          </a:stretch>
        </p:blipFill>
        <p:spPr bwMode="auto">
          <a:xfrm>
            <a:off x="2502128" y="1524000"/>
            <a:ext cx="4139744" cy="5029200"/>
          </a:xfrm>
          <a:prstGeom prst="rect">
            <a:avLst/>
          </a:prstGeom>
          <a:noFill/>
        </p:spPr>
      </p:pic>
    </p:spTree>
    <p:extLst>
      <p:ext uri="{BB962C8B-B14F-4D97-AF65-F5344CB8AC3E}">
        <p14:creationId xmlns:p14="http://schemas.microsoft.com/office/powerpoint/2010/main" val="1490809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Phylum </a:t>
            </a:r>
            <a:r>
              <a:rPr lang="en-US" i="1" dirty="0" err="1"/>
              <a:t>Proteobacteria</a:t>
            </a:r>
            <a:endParaRPr lang="en-US" dirty="0"/>
          </a:p>
        </p:txBody>
      </p:sp>
      <p:sp>
        <p:nvSpPr>
          <p:cNvPr id="3" name="Content Placeholder 2"/>
          <p:cNvSpPr>
            <a:spLocks noGrp="1"/>
          </p:cNvSpPr>
          <p:nvPr>
            <p:ph idx="1"/>
          </p:nvPr>
        </p:nvSpPr>
        <p:spPr/>
        <p:txBody>
          <a:bodyPr/>
          <a:lstStyle/>
          <a:p>
            <a:pPr>
              <a:lnSpc>
                <a:spcPct val="90000"/>
              </a:lnSpc>
            </a:pPr>
            <a:r>
              <a:rPr lang="en-US" dirty="0"/>
              <a:t>The largest phylogenetically coherent bacterial group with more than 500 genera</a:t>
            </a:r>
            <a:br>
              <a:rPr lang="en-US" dirty="0"/>
            </a:br>
            <a:endParaRPr lang="en-US" dirty="0"/>
          </a:p>
          <a:p>
            <a:pPr>
              <a:lnSpc>
                <a:spcPct val="90000"/>
              </a:lnSpc>
            </a:pPr>
            <a:r>
              <a:rPr lang="en-US" dirty="0"/>
              <a:t>Remarkable diverse morphologically, physiologically, and other ways</a:t>
            </a:r>
            <a:br>
              <a:rPr lang="en-US" dirty="0"/>
            </a:br>
            <a:endParaRPr lang="en-US" dirty="0"/>
          </a:p>
          <a:p>
            <a:pPr>
              <a:lnSpc>
                <a:spcPct val="90000"/>
              </a:lnSpc>
            </a:pPr>
            <a:r>
              <a:rPr lang="en-US" dirty="0"/>
              <a:t>Volume 2 of </a:t>
            </a:r>
            <a:r>
              <a:rPr lang="en-US" i="1" dirty="0" err="1"/>
              <a:t>Bergey’s</a:t>
            </a:r>
            <a:r>
              <a:rPr lang="en-US" i="1" dirty="0"/>
              <a:t> Manual (2</a:t>
            </a:r>
            <a:r>
              <a:rPr lang="en-US" i="1" baseline="30000" dirty="0"/>
              <a:t>nd</a:t>
            </a:r>
            <a:r>
              <a:rPr lang="en-US" i="1" dirty="0"/>
              <a:t> edition</a:t>
            </a:r>
            <a:r>
              <a:rPr lang="en-US" dirty="0"/>
              <a:t>) is devoted to this group of bacteria</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a:t>
            </a:fld>
            <a:endParaRPr lang="en-US"/>
          </a:p>
        </p:txBody>
      </p:sp>
    </p:spTree>
    <p:extLst>
      <p:ext uri="{BB962C8B-B14F-4D97-AF65-F5344CB8AC3E}">
        <p14:creationId xmlns:p14="http://schemas.microsoft.com/office/powerpoint/2010/main" val="3300332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Lineages of </a:t>
            </a:r>
            <a:r>
              <a:rPr lang="en-US" dirty="0" err="1"/>
              <a:t>Proteobacterium</a:t>
            </a:r>
            <a:endParaRPr lang="en-US" dirty="0"/>
          </a:p>
        </p:txBody>
      </p:sp>
      <p:sp>
        <p:nvSpPr>
          <p:cNvPr id="3" name="Content Placeholder 2"/>
          <p:cNvSpPr>
            <a:spLocks noGrp="1"/>
          </p:cNvSpPr>
          <p:nvPr>
            <p:ph sz="half" idx="1"/>
          </p:nvPr>
        </p:nvSpPr>
        <p:spPr>
          <a:xfrm>
            <a:off x="76200" y="1219200"/>
            <a:ext cx="4191000" cy="5334000"/>
          </a:xfrm>
        </p:spPr>
        <p:txBody>
          <a:bodyPr>
            <a:normAutofit fontScale="92500"/>
          </a:bodyPr>
          <a:lstStyle/>
          <a:p>
            <a:pPr>
              <a:lnSpc>
                <a:spcPct val="110000"/>
              </a:lnSpc>
            </a:pPr>
            <a:r>
              <a:rPr lang="en-US" sz="2800" dirty="0" err="1"/>
              <a:t>Proteobacteria</a:t>
            </a:r>
            <a:r>
              <a:rPr lang="en-US" sz="2800" dirty="0"/>
              <a:t> may have arose from a single photosynthetic ancestor</a:t>
            </a:r>
            <a:br>
              <a:rPr lang="en-US" sz="2800" dirty="0"/>
            </a:br>
            <a:endParaRPr lang="en-US" sz="2800" dirty="0"/>
          </a:p>
          <a:p>
            <a:pPr>
              <a:lnSpc>
                <a:spcPct val="110000"/>
              </a:lnSpc>
            </a:pPr>
            <a:r>
              <a:rPr lang="en-US" sz="2800" dirty="0"/>
              <a:t>16S </a:t>
            </a:r>
            <a:r>
              <a:rPr lang="en-US" sz="2800" dirty="0" err="1"/>
              <a:t>rRNA</a:t>
            </a:r>
            <a:r>
              <a:rPr lang="en-US" sz="2800" dirty="0"/>
              <a:t> shows five distinct lineages</a:t>
            </a:r>
          </a:p>
          <a:p>
            <a:pPr lvl="1">
              <a:lnSpc>
                <a:spcPct val="110000"/>
              </a:lnSpc>
            </a:pPr>
            <a:r>
              <a:rPr lang="en-US" sz="2600" i="1" dirty="0" err="1"/>
              <a:t>Alphaproteobacterium</a:t>
            </a:r>
            <a:endParaRPr lang="el-GR" sz="2600" dirty="0">
              <a:cs typeface="Times New Roman" pitchFamily="18" charset="0"/>
            </a:endParaRPr>
          </a:p>
          <a:p>
            <a:pPr lvl="1">
              <a:lnSpc>
                <a:spcPct val="110000"/>
              </a:lnSpc>
            </a:pPr>
            <a:r>
              <a:rPr lang="en-US" sz="2600" i="1" dirty="0" err="1"/>
              <a:t>Betaproteobacterium</a:t>
            </a:r>
            <a:endParaRPr lang="en-US" i="1" dirty="0"/>
          </a:p>
          <a:p>
            <a:pPr lvl="1">
              <a:lnSpc>
                <a:spcPct val="110000"/>
              </a:lnSpc>
            </a:pPr>
            <a:r>
              <a:rPr lang="en-US" sz="2600" i="1" dirty="0" err="1"/>
              <a:t>Gammaproteobacterium</a:t>
            </a:r>
            <a:endParaRPr lang="en-US" sz="2600" i="1" dirty="0"/>
          </a:p>
          <a:p>
            <a:pPr lvl="1">
              <a:lnSpc>
                <a:spcPct val="110000"/>
              </a:lnSpc>
            </a:pPr>
            <a:r>
              <a:rPr lang="en-US" sz="2600" i="1" dirty="0" err="1"/>
              <a:t>Deltaproteobacterium</a:t>
            </a:r>
            <a:endParaRPr lang="en-US" sz="2600" i="1" dirty="0"/>
          </a:p>
          <a:p>
            <a:pPr lvl="1">
              <a:lnSpc>
                <a:spcPct val="110000"/>
              </a:lnSpc>
            </a:pPr>
            <a:r>
              <a:rPr lang="en-US" sz="2600" i="1" dirty="0" err="1"/>
              <a:t>Epsilonproteobacterium</a:t>
            </a:r>
            <a:endParaRPr lang="en-US" sz="2600" dirty="0">
              <a:cs typeface="Times New Roman" pitchFamily="18" charset="0"/>
            </a:endParaRPr>
          </a:p>
        </p:txBody>
      </p:sp>
      <p:sp>
        <p:nvSpPr>
          <p:cNvPr id="4" name="Slide Number Placeholder 3"/>
          <p:cNvSpPr>
            <a:spLocks noGrp="1"/>
          </p:cNvSpPr>
          <p:nvPr>
            <p:ph type="sldNum" sz="quarter" idx="12"/>
          </p:nvPr>
        </p:nvSpPr>
        <p:spPr/>
        <p:txBody>
          <a:bodyPr/>
          <a:lstStyle/>
          <a:p>
            <a:fld id="{3B1A82D2-719A-4A87-BECB-D74482819C19}" type="slidenum">
              <a:rPr lang="en-US" smtClean="0"/>
              <a:pPr/>
              <a:t>3</a:t>
            </a:fld>
            <a:endParaRPr lang="en-US"/>
          </a:p>
        </p:txBody>
      </p:sp>
      <p:pic>
        <p:nvPicPr>
          <p:cNvPr id="1026" name="Picture 2" descr="Same figure as 20.1 with the proteobacterial groups highlighted (beta, gamma, alpha, epsilon, delta).&#10;&#10;Phylogenetic tree showing the relationship between the archaea Crenarchaeota, Thaumarchaeota, Euryarchaeota, and select bacteria (Aquificae, Thermotogae, Chloroflexi, Deinococcus-Thermus, Firmicutes, Actinobacteria, Proteobacteria, Spirochaetes, Cyanobacteria, Planctomycetes and Chlamydiae, Chlorobi, and Bacteroidetes).  Both groups descend from common ancestors." title="Figure 22.1 Phylogenetic Relationships Among Bacteria and Archaea. "/>
          <p:cNvPicPr>
            <a:picLocks noChangeAspect="1" noChangeArrowheads="1"/>
          </p:cNvPicPr>
          <p:nvPr/>
        </p:nvPicPr>
        <p:blipFill>
          <a:blip r:embed="rId2" cstate="print"/>
          <a:srcRect/>
          <a:stretch>
            <a:fillRect/>
          </a:stretch>
        </p:blipFill>
        <p:spPr bwMode="auto">
          <a:xfrm>
            <a:off x="4419600" y="1558400"/>
            <a:ext cx="4354514" cy="4558732"/>
          </a:xfrm>
          <a:prstGeom prst="rect">
            <a:avLst/>
          </a:prstGeom>
          <a:noFill/>
        </p:spPr>
      </p:pic>
    </p:spTree>
    <p:extLst>
      <p:ext uri="{BB962C8B-B14F-4D97-AF65-F5344CB8AC3E}">
        <p14:creationId xmlns:p14="http://schemas.microsoft.com/office/powerpoint/2010/main" val="168872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22.1 Class </a:t>
            </a:r>
            <a:r>
              <a:rPr lang="en-US" i="1" dirty="0" err="1"/>
              <a:t>Alphaproteobacteria</a:t>
            </a:r>
            <a:r>
              <a:rPr lang="en-US" i="1" dirty="0"/>
              <a:t> </a:t>
            </a:r>
            <a:r>
              <a:rPr lang="en-US" dirty="0"/>
              <a:t>Includes Many </a:t>
            </a:r>
            <a:r>
              <a:rPr lang="en-US" dirty="0" err="1"/>
              <a:t>Oligotrophs</a:t>
            </a:r>
            <a:endParaRPr lang="en-US" dirty="0"/>
          </a:p>
        </p:txBody>
      </p:sp>
      <p:sp>
        <p:nvSpPr>
          <p:cNvPr id="3" name="Content Placeholder 2"/>
          <p:cNvSpPr>
            <a:spLocks noGrp="1"/>
          </p:cNvSpPr>
          <p:nvPr>
            <p:ph idx="1"/>
          </p:nvPr>
        </p:nvSpPr>
        <p:spPr>
          <a:xfrm>
            <a:off x="457200" y="1600200"/>
            <a:ext cx="8229600" cy="4953000"/>
          </a:xfrm>
        </p:spPr>
        <p:txBody>
          <a:bodyPr>
            <a:normAutofit lnSpcReduction="10000"/>
          </a:bodyPr>
          <a:lstStyle/>
          <a:p>
            <a:pPr marL="514350" indent="-514350">
              <a:buFont typeface="+mj-lt"/>
              <a:buAutoNum type="arabicPeriod"/>
            </a:pPr>
            <a:r>
              <a:rPr lang="en-US" dirty="0"/>
              <a:t>Describe the oligotrophic environments inhabited by some </a:t>
            </a:r>
            <a:r>
              <a:rPr lang="el-GR" dirty="0"/>
              <a:t>α</a:t>
            </a:r>
            <a:r>
              <a:rPr lang="en-US" dirty="0"/>
              <a:t>-</a:t>
            </a:r>
            <a:r>
              <a:rPr lang="en-US" dirty="0" err="1"/>
              <a:t>proteobacteria</a:t>
            </a:r>
            <a:br>
              <a:rPr lang="en-US" dirty="0"/>
            </a:br>
            <a:endParaRPr lang="en-US" dirty="0"/>
          </a:p>
          <a:p>
            <a:pPr marL="514350" indent="-514350">
              <a:buFont typeface="+mj-lt"/>
              <a:buAutoNum type="arabicPeriod"/>
            </a:pPr>
            <a:r>
              <a:rPr lang="en-US" dirty="0"/>
              <a:t>Outline the metabolic flexibility of some purple photosynthetic bacteria</a:t>
            </a:r>
            <a:br>
              <a:rPr lang="en-US" dirty="0"/>
            </a:br>
            <a:endParaRPr lang="en-US" dirty="0"/>
          </a:p>
          <a:p>
            <a:pPr marL="514350" indent="-514350">
              <a:buFont typeface="+mj-lt"/>
              <a:buAutoNum type="arabicPeriod"/>
            </a:pPr>
            <a:r>
              <a:rPr lang="en-US" dirty="0"/>
              <a:t>Draw the photosynthetic apparatus found in purple photosynthetic bacteria and label its constituent parts</a:t>
            </a:r>
            <a:br>
              <a:rPr lang="en-US" dirty="0"/>
            </a:br>
            <a:endParaRPr lang="en-US" dirty="0"/>
          </a:p>
          <a:p>
            <a:pPr marL="514350" indent="-514350">
              <a:buFont typeface="+mj-lt"/>
              <a:buAutoNum type="arabicPeriod"/>
            </a:pPr>
            <a:r>
              <a:rPr lang="en-US" dirty="0"/>
              <a:t>List two unusual metabolic features of </a:t>
            </a:r>
            <a:r>
              <a:rPr lang="en-US" dirty="0" err="1"/>
              <a:t>rickettsias</a:t>
            </a:r>
            <a:r>
              <a:rPr lang="en-US" dirty="0"/>
              <a:t> and relate these to their intracellular lifestyle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a:t>
            </a:fld>
            <a:endParaRPr lang="en-US"/>
          </a:p>
        </p:txBody>
      </p:sp>
    </p:spTree>
    <p:extLst>
      <p:ext uri="{BB962C8B-B14F-4D97-AF65-F5344CB8AC3E}">
        <p14:creationId xmlns:p14="http://schemas.microsoft.com/office/powerpoint/2010/main" val="1258169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22.1 Class </a:t>
            </a:r>
            <a:r>
              <a:rPr lang="en-US" i="1" dirty="0" err="1"/>
              <a:t>Alphaproteobacteria</a:t>
            </a:r>
            <a:r>
              <a:rPr lang="en-US" i="1" dirty="0"/>
              <a:t> </a:t>
            </a:r>
            <a:r>
              <a:rPr lang="en-US" dirty="0"/>
              <a:t>Includes Many </a:t>
            </a:r>
            <a:r>
              <a:rPr lang="en-US" dirty="0" err="1"/>
              <a:t>Oligotrophs</a:t>
            </a:r>
            <a:r>
              <a:rPr lang="en-US" dirty="0"/>
              <a:t> - 2</a:t>
            </a:r>
          </a:p>
        </p:txBody>
      </p:sp>
      <p:sp>
        <p:nvSpPr>
          <p:cNvPr id="3" name="Content Placeholder 2"/>
          <p:cNvSpPr>
            <a:spLocks noGrp="1"/>
          </p:cNvSpPr>
          <p:nvPr>
            <p:ph idx="1"/>
          </p:nvPr>
        </p:nvSpPr>
        <p:spPr>
          <a:xfrm>
            <a:off x="457200" y="1600200"/>
            <a:ext cx="8229600" cy="5029200"/>
          </a:xfrm>
        </p:spPr>
        <p:txBody>
          <a:bodyPr/>
          <a:lstStyle/>
          <a:p>
            <a:pPr marL="514350" indent="-514350">
              <a:buFont typeface="+mj-lt"/>
              <a:buAutoNum type="arabicPeriod" startAt="5"/>
            </a:pPr>
            <a:r>
              <a:rPr lang="en-US" dirty="0"/>
              <a:t>Diagram the life cycles of </a:t>
            </a:r>
            <a:r>
              <a:rPr lang="en-US" i="1" dirty="0" err="1"/>
              <a:t>Hyphomicrobium</a:t>
            </a:r>
            <a:r>
              <a:rPr lang="en-US" dirty="0"/>
              <a:t> and </a:t>
            </a:r>
            <a:r>
              <a:rPr lang="en-US" i="1" dirty="0" err="1"/>
              <a:t>Caulobacter</a:t>
            </a:r>
            <a:r>
              <a:rPr lang="en-US" i="1" dirty="0"/>
              <a:t> </a:t>
            </a:r>
            <a:r>
              <a:rPr lang="en-US" dirty="0"/>
              <a:t>spp.</a:t>
            </a:r>
            <a:br>
              <a:rPr lang="en-US" dirty="0"/>
            </a:br>
            <a:endParaRPr lang="en-US" i="1" dirty="0"/>
          </a:p>
          <a:p>
            <a:pPr marL="514350" indent="-514350">
              <a:buFont typeface="+mj-lt"/>
              <a:buAutoNum type="arabicPeriod" startAt="5"/>
            </a:pPr>
            <a:r>
              <a:rPr lang="en-US" dirty="0"/>
              <a:t>Compare and contrast the relationship between </a:t>
            </a:r>
            <a:r>
              <a:rPr lang="en-US" i="1" dirty="0"/>
              <a:t>Rhizobium</a:t>
            </a:r>
            <a:r>
              <a:rPr lang="en-US" dirty="0"/>
              <a:t> and </a:t>
            </a:r>
            <a:r>
              <a:rPr lang="en-US" i="1" dirty="0"/>
              <a:t>Agrobacterium</a:t>
            </a:r>
            <a:r>
              <a:rPr lang="en-US" dirty="0"/>
              <a:t> spp. and plants</a:t>
            </a:r>
            <a:br>
              <a:rPr lang="en-US" dirty="0"/>
            </a:br>
            <a:endParaRPr lang="en-US" dirty="0"/>
          </a:p>
          <a:p>
            <a:pPr marL="514350" indent="-514350">
              <a:buFont typeface="+mj-lt"/>
              <a:buAutoNum type="arabicPeriod" startAt="5"/>
            </a:pPr>
            <a:r>
              <a:rPr lang="en-US" dirty="0"/>
              <a:t>Identify the electron donors and the electron acceptor used in nitrification</a:t>
            </a:r>
            <a:br>
              <a:rPr lang="en-US" dirty="0"/>
            </a:br>
            <a:endParaRPr lang="en-US" dirty="0"/>
          </a:p>
          <a:p>
            <a:pPr marL="514350" indent="-514350">
              <a:buFont typeface="+mj-lt"/>
              <a:buAutoNum type="arabicPeriod" startAt="5"/>
            </a:pPr>
            <a:r>
              <a:rPr lang="en-US" dirty="0"/>
              <a:t>List the physiological and taxonomic groups of microbes capable of nitrification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a:t>
            </a:fld>
            <a:endParaRPr lang="en-US"/>
          </a:p>
        </p:txBody>
      </p:sp>
    </p:spTree>
    <p:extLst>
      <p:ext uri="{BB962C8B-B14F-4D97-AF65-F5344CB8AC3E}">
        <p14:creationId xmlns:p14="http://schemas.microsoft.com/office/powerpoint/2010/main" val="2371687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Class </a:t>
            </a:r>
            <a:r>
              <a:rPr lang="en-US" i="1" dirty="0" err="1"/>
              <a:t>Alphaproteobacteria</a:t>
            </a:r>
            <a:endParaRPr lang="en-US" dirty="0"/>
          </a:p>
        </p:txBody>
      </p:sp>
      <p:sp>
        <p:nvSpPr>
          <p:cNvPr id="3" name="Content Placeholder 2"/>
          <p:cNvSpPr>
            <a:spLocks noGrp="1"/>
          </p:cNvSpPr>
          <p:nvPr>
            <p:ph idx="1"/>
          </p:nvPr>
        </p:nvSpPr>
        <p:spPr>
          <a:xfrm>
            <a:off x="457200" y="1447800"/>
            <a:ext cx="8229600" cy="5257800"/>
          </a:xfrm>
        </p:spPr>
        <p:txBody>
          <a:bodyPr>
            <a:normAutofit fontScale="92500" lnSpcReduction="20000"/>
          </a:bodyPr>
          <a:lstStyle/>
          <a:p>
            <a:pPr>
              <a:lnSpc>
                <a:spcPct val="150000"/>
              </a:lnSpc>
              <a:spcBef>
                <a:spcPts val="600"/>
              </a:spcBef>
            </a:pPr>
            <a:r>
              <a:rPr lang="en-US" sz="2800" dirty="0"/>
              <a:t>Seven orders, 20 families</a:t>
            </a:r>
          </a:p>
          <a:p>
            <a:pPr>
              <a:lnSpc>
                <a:spcPct val="150000"/>
              </a:lnSpc>
              <a:spcBef>
                <a:spcPts val="600"/>
              </a:spcBef>
            </a:pPr>
            <a:r>
              <a:rPr lang="en-US" sz="2800" i="1" dirty="0" err="1"/>
              <a:t>Rickettsiales</a:t>
            </a:r>
            <a:r>
              <a:rPr lang="en-US" sz="2800" dirty="0"/>
              <a:t> may have been the earliest </a:t>
            </a:r>
            <a:r>
              <a:rPr lang="el-GR" sz="2800" dirty="0">
                <a:cs typeface="Times New Roman" pitchFamily="18" charset="0"/>
              </a:rPr>
              <a:t>α</a:t>
            </a:r>
            <a:r>
              <a:rPr lang="en-US" sz="2800" dirty="0">
                <a:cs typeface="Times New Roman" pitchFamily="18" charset="0"/>
              </a:rPr>
              <a:t>-</a:t>
            </a:r>
            <a:r>
              <a:rPr lang="en-US" sz="2800" dirty="0" err="1">
                <a:cs typeface="Times New Roman" pitchFamily="18" charset="0"/>
              </a:rPr>
              <a:t>proteobacteria</a:t>
            </a:r>
            <a:endParaRPr lang="en-US" sz="2800" dirty="0">
              <a:cs typeface="Times New Roman" pitchFamily="18" charset="0"/>
            </a:endParaRPr>
          </a:p>
          <a:p>
            <a:pPr>
              <a:lnSpc>
                <a:spcPct val="150000"/>
              </a:lnSpc>
              <a:spcBef>
                <a:spcPts val="600"/>
              </a:spcBef>
            </a:pPr>
            <a:r>
              <a:rPr lang="en-US" sz="2800" dirty="0">
                <a:cs typeface="Times New Roman" pitchFamily="18" charset="0"/>
              </a:rPr>
              <a:t>Most of the oligotrophic bacteria</a:t>
            </a:r>
          </a:p>
          <a:p>
            <a:pPr>
              <a:lnSpc>
                <a:spcPct val="150000"/>
              </a:lnSpc>
              <a:spcBef>
                <a:spcPts val="600"/>
              </a:spcBef>
            </a:pPr>
            <a:r>
              <a:rPr lang="en-US" dirty="0">
                <a:cs typeface="Times New Roman" pitchFamily="18" charset="0"/>
              </a:rPr>
              <a:t>M</a:t>
            </a:r>
            <a:r>
              <a:rPr lang="en-US" sz="2800" dirty="0">
                <a:cs typeface="Times New Roman" pitchFamily="18" charset="0"/>
              </a:rPr>
              <a:t>ost abundant bacteria in oceans</a:t>
            </a:r>
          </a:p>
          <a:p>
            <a:pPr>
              <a:lnSpc>
                <a:spcPct val="150000"/>
              </a:lnSpc>
              <a:spcBef>
                <a:spcPts val="600"/>
              </a:spcBef>
            </a:pPr>
            <a:r>
              <a:rPr lang="en-US" dirty="0">
                <a:cs typeface="Times New Roman" pitchFamily="18" charset="0"/>
              </a:rPr>
              <a:t>E</a:t>
            </a:r>
            <a:r>
              <a:rPr lang="en-US" sz="2800" dirty="0">
                <a:cs typeface="Times New Roman" pitchFamily="18" charset="0"/>
              </a:rPr>
              <a:t>volved to live within plants and animals resulting in genome reduction or expansion</a:t>
            </a:r>
          </a:p>
          <a:p>
            <a:pPr>
              <a:lnSpc>
                <a:spcPct val="150000"/>
              </a:lnSpc>
              <a:spcBef>
                <a:spcPts val="600"/>
              </a:spcBef>
            </a:pPr>
            <a:r>
              <a:rPr lang="en-US" dirty="0">
                <a:cs typeface="Times New Roman" pitchFamily="18" charset="0"/>
              </a:rPr>
              <a:t>M</a:t>
            </a:r>
            <a:r>
              <a:rPr lang="en-US" sz="2800" dirty="0">
                <a:cs typeface="Times New Roman" pitchFamily="18" charset="0"/>
              </a:rPr>
              <a:t>etabolically diverse</a:t>
            </a:r>
          </a:p>
          <a:p>
            <a:pPr lvl="1">
              <a:lnSpc>
                <a:spcPct val="150000"/>
              </a:lnSpc>
              <a:spcBef>
                <a:spcPts val="600"/>
              </a:spcBef>
            </a:pPr>
            <a:r>
              <a:rPr lang="en-US" dirty="0" err="1">
                <a:cs typeface="Times New Roman" pitchFamily="18" charset="0"/>
              </a:rPr>
              <a:t>methylotrophy</a:t>
            </a:r>
            <a:r>
              <a:rPr lang="en-US" dirty="0">
                <a:cs typeface="Times New Roman" pitchFamily="18" charset="0"/>
              </a:rPr>
              <a:t>, </a:t>
            </a:r>
            <a:r>
              <a:rPr lang="en-US" dirty="0" err="1">
                <a:cs typeface="Times New Roman" pitchFamily="18" charset="0"/>
              </a:rPr>
              <a:t>chemolithotrophs</a:t>
            </a:r>
            <a:r>
              <a:rPr lang="en-US" dirty="0">
                <a:cs typeface="Times New Roman" pitchFamily="18" charset="0"/>
              </a:rPr>
              <a:t>, nitrogen fixers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a:t>
            </a:fld>
            <a:endParaRPr lang="en-US"/>
          </a:p>
        </p:txBody>
      </p:sp>
    </p:spTree>
    <p:extLst>
      <p:ext uri="{BB962C8B-B14F-4D97-AF65-F5344CB8AC3E}">
        <p14:creationId xmlns:p14="http://schemas.microsoft.com/office/powerpoint/2010/main" val="295396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Characteristics of Select </a:t>
            </a:r>
            <a:r>
              <a:rPr lang="en-US" i="1" dirty="0" err="1"/>
              <a:t>Alphaproteobacteria</a:t>
            </a:r>
            <a:endParaRPr lang="en-US" i="1"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7</a:t>
            </a:fld>
            <a:endParaRPr lang="en-US"/>
          </a:p>
        </p:txBody>
      </p:sp>
      <p:pic>
        <p:nvPicPr>
          <p:cNvPr id="2050" name="Picture 2" descr="Header Row: Genus; Dimensions (μm) and Morphology; Genome Size (Mb); Oxygen Requirement; Other Distinctive Characteristics&#10;Agrobacterium  0.6–1.0 × 1.5–3.0, motile with peritrichous flagella, nonsporing rods; 2.5; Aerobic; Chemoorganotroph that can invade plants and cause tumors&#10;Caulobacter; 0.4–0.6 × 1–2, comma-shaped with polar flagellum and prostheca with holdfast; 4.0; Aerobic; Chemoorganotrophic and oligotrophic; asymmetric cell division&#10;Hyphomicrobium; 0.3–1.2 × 1–3, rod-shaped or oval with polar prosthecae; 3.6; Aerobic; Reproduces by budding, methylotrophic&#10;Nitrobacter; 0.5–0.9 × 1.0–2.0, rod- or pear-shaped, sometimes motile by flagella; 3.4; Aerobic; Chemolithotroph, oxidizes nitrite to nitrate&#10;Rhizobium; 0.5–1.0 × 1.2–3.0, motile rods with flagella; 5.1; Aerobic; Invades leguminous plants to produce nitrogen-fixing root nodules&#10;Rhodospirillum; 0.7–1.5 wide, spiral cells with polar flagella; 4.4; Anaerobic, microaerophilic, aerobic; Anoxygenic photoheterotroph under anoxic conditions&#10;Rickettsia; 0.3–0.5 × 0.8–2.0, short nonmotile rods; 1.1–1.3; Aerobic; Obligate intracellular parasite&#10;Pelagibacter; 0.2 × 0.5, rod-shaped; 1.3; Aerobic; Chemoorganotrophic, proteorhodopsin present&#10;Magnetococcus; 1-2 in diameter, roughly spherical, two bundles of flagella at single pole, single chain of cytoplasmic magnetite crystals; 4.7; Microaerophilic; Chemoorganotrophic and chemolithotrophic, magnetotactic" title="Table 22.1 Characteristics of Selected Alpha-Proteobacteria"/>
          <p:cNvPicPr>
            <a:picLocks noChangeAspect="1" noChangeArrowheads="1"/>
          </p:cNvPicPr>
          <p:nvPr/>
        </p:nvPicPr>
        <p:blipFill>
          <a:blip r:embed="rId2" cstate="print"/>
          <a:srcRect/>
          <a:stretch>
            <a:fillRect/>
          </a:stretch>
        </p:blipFill>
        <p:spPr bwMode="auto">
          <a:xfrm>
            <a:off x="716997" y="1320800"/>
            <a:ext cx="7710008" cy="5180012"/>
          </a:xfrm>
          <a:prstGeom prst="rect">
            <a:avLst/>
          </a:prstGeom>
          <a:noFill/>
        </p:spPr>
      </p:pic>
    </p:spTree>
    <p:extLst>
      <p:ext uri="{BB962C8B-B14F-4D97-AF65-F5344CB8AC3E}">
        <p14:creationId xmlns:p14="http://schemas.microsoft.com/office/powerpoint/2010/main" val="1160432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Proposed Subclasses of </a:t>
            </a:r>
            <a:r>
              <a:rPr lang="en-US" dirty="0" err="1"/>
              <a:t>Alphaproteobacteria</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8</a:t>
            </a:fld>
            <a:endParaRPr lang="en-US"/>
          </a:p>
        </p:txBody>
      </p:sp>
      <p:pic>
        <p:nvPicPr>
          <p:cNvPr id="3074" name="Picture 2" descr="Phylogenetic tree of the alphaproteobacteria.  Three proposed subdivisions are Magnetococcidae, Rickettsidae, and Caulobacteridae.  Magnetococcidae include the family Magnetococcaceae, order Magnetococcales.  Rickettsidae include the families Midichloriaceae, Rickettsiaceae, and Anaplasmataceae, and order Rickettsiales.  Caulobacteridae include the family Holosporaceae and the orders Holosporales, Phodospirillales, Sphingomonadales, Rhizobiales, Rhodobacterales, and Caulobacterales.&#10;Promitochondrion is an extinct organism that gave rise to the mitochondrial family of organelles in eukaryotes." title="Figure 22.2 Proposed Subclasses of Alphaproteobacteria."/>
          <p:cNvPicPr>
            <a:picLocks noChangeAspect="1" noChangeArrowheads="1"/>
          </p:cNvPicPr>
          <p:nvPr/>
        </p:nvPicPr>
        <p:blipFill>
          <a:blip r:embed="rId2" cstate="print"/>
          <a:srcRect/>
          <a:stretch>
            <a:fillRect/>
          </a:stretch>
        </p:blipFill>
        <p:spPr bwMode="auto">
          <a:xfrm>
            <a:off x="1040197" y="1371600"/>
            <a:ext cx="7063606" cy="5054600"/>
          </a:xfrm>
          <a:prstGeom prst="rect">
            <a:avLst/>
          </a:prstGeom>
          <a:noFill/>
        </p:spPr>
      </p:pic>
    </p:spTree>
    <p:extLst>
      <p:ext uri="{BB962C8B-B14F-4D97-AF65-F5344CB8AC3E}">
        <p14:creationId xmlns:p14="http://schemas.microsoft.com/office/powerpoint/2010/main" val="1723630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Purple </a:t>
            </a:r>
            <a:r>
              <a:rPr lang="en-US" dirty="0" err="1"/>
              <a:t>Nonsulfur</a:t>
            </a:r>
            <a:r>
              <a:rPr lang="en-US" dirty="0"/>
              <a:t> Bacteria</a:t>
            </a:r>
          </a:p>
        </p:txBody>
      </p:sp>
      <p:sp>
        <p:nvSpPr>
          <p:cNvPr id="3" name="Content Placeholder 2"/>
          <p:cNvSpPr>
            <a:spLocks noGrp="1"/>
          </p:cNvSpPr>
          <p:nvPr>
            <p:ph idx="1"/>
          </p:nvPr>
        </p:nvSpPr>
        <p:spPr>
          <a:xfrm>
            <a:off x="457200" y="1600200"/>
            <a:ext cx="8229600" cy="4953000"/>
          </a:xfrm>
        </p:spPr>
        <p:txBody>
          <a:bodyPr>
            <a:normAutofit/>
          </a:bodyPr>
          <a:lstStyle/>
          <a:p>
            <a:r>
              <a:rPr lang="en-US" dirty="0"/>
              <a:t>With one exception (genus </a:t>
            </a:r>
            <a:r>
              <a:rPr lang="en-US" i="1" dirty="0" err="1"/>
              <a:t>Rhodocyclus</a:t>
            </a:r>
            <a:r>
              <a:rPr lang="en-US" dirty="0"/>
              <a:t>) all are </a:t>
            </a:r>
            <a:r>
              <a:rPr lang="en-US" dirty="0">
                <a:latin typeface="Symbol" pitchFamily="18" charset="2"/>
                <a:sym typeface="WP Greek Century" pitchFamily="2" charset="2"/>
              </a:rPr>
              <a:t>a</a:t>
            </a:r>
            <a:r>
              <a:rPr lang="en-US" dirty="0">
                <a:sym typeface="WP Greek Century" pitchFamily="2" charset="2"/>
              </a:rPr>
              <a:t>-</a:t>
            </a:r>
            <a:r>
              <a:rPr lang="en-US" dirty="0" err="1">
                <a:sym typeface="WP Greek Century" pitchFamily="2" charset="2"/>
              </a:rPr>
              <a:t>proteobacteria</a:t>
            </a:r>
            <a:br>
              <a:rPr lang="en-US" dirty="0">
                <a:sym typeface="WP Greek Century" pitchFamily="2" charset="2"/>
              </a:rPr>
            </a:br>
            <a:endParaRPr lang="en-US" dirty="0"/>
          </a:p>
          <a:p>
            <a:r>
              <a:rPr lang="en-US" dirty="0"/>
              <a:t>Metabolically flexible</a:t>
            </a:r>
          </a:p>
          <a:p>
            <a:pPr lvl="1"/>
            <a:r>
              <a:rPr lang="en-US" dirty="0"/>
              <a:t>normally grow anaerobically as </a:t>
            </a:r>
            <a:r>
              <a:rPr lang="en-US" dirty="0" err="1"/>
              <a:t>anoxygenic</a:t>
            </a:r>
            <a:r>
              <a:rPr lang="en-US" dirty="0"/>
              <a:t> </a:t>
            </a:r>
            <a:r>
              <a:rPr lang="en-US" dirty="0" err="1"/>
              <a:t>photoorganoheterotrophs</a:t>
            </a:r>
            <a:endParaRPr lang="en-US" dirty="0"/>
          </a:p>
          <a:p>
            <a:pPr lvl="2"/>
            <a:r>
              <a:rPr lang="en-US" sz="2400" dirty="0"/>
              <a:t>possess bacteriochlorophylls </a:t>
            </a:r>
            <a:r>
              <a:rPr lang="en-US" sz="2400" i="1" dirty="0"/>
              <a:t>a</a:t>
            </a:r>
            <a:r>
              <a:rPr lang="en-US" sz="2400" dirty="0"/>
              <a:t> or </a:t>
            </a:r>
            <a:r>
              <a:rPr lang="en-US" sz="2400" i="1" dirty="0"/>
              <a:t>b </a:t>
            </a:r>
            <a:r>
              <a:rPr lang="en-US" sz="2400" dirty="0"/>
              <a:t>in photosystems located in membranes that are continuous with plasma membrane</a:t>
            </a:r>
          </a:p>
          <a:p>
            <a:pPr lvl="2"/>
            <a:r>
              <a:rPr lang="en-US" sz="2400" dirty="0"/>
              <a:t>some can oxidize sulfide, but not elemental sulfur, to sulfate</a:t>
            </a:r>
            <a:endParaRPr lang="en-US" sz="1800"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9</a:t>
            </a:fld>
            <a:endParaRPr lang="en-US"/>
          </a:p>
        </p:txBody>
      </p:sp>
    </p:spTree>
    <p:extLst>
      <p:ext uri="{BB962C8B-B14F-4D97-AF65-F5344CB8AC3E}">
        <p14:creationId xmlns:p14="http://schemas.microsoft.com/office/powerpoint/2010/main" val="2083618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Photosynthetic Apparatus of Purple Bacteria</a:t>
            </a:r>
          </a:p>
        </p:txBody>
      </p:sp>
      <p:sp>
        <p:nvSpPr>
          <p:cNvPr id="3" name="Slide Number Placeholder 2"/>
          <p:cNvSpPr>
            <a:spLocks noGrp="1"/>
          </p:cNvSpPr>
          <p:nvPr>
            <p:ph type="sldNum" sz="quarter" idx="12"/>
          </p:nvPr>
        </p:nvSpPr>
        <p:spPr/>
        <p:txBody>
          <a:bodyPr/>
          <a:lstStyle/>
          <a:p>
            <a:fld id="{3B1A82D2-719A-4A87-BECB-D74482819C19}" type="slidenum">
              <a:rPr lang="en-US" smtClean="0"/>
              <a:pPr/>
              <a:t>10</a:t>
            </a:fld>
            <a:endParaRPr lang="en-US"/>
          </a:p>
        </p:txBody>
      </p:sp>
      <p:pic>
        <p:nvPicPr>
          <p:cNvPr id="4098" name="Picture 2" descr="(a) The arrangement of intracytoplasmic membranes varies, but in all cases, they are associated with the plasma membrane. (a1) Intracytoplasmic membranes that resemble vesicles are found in the nonsulfur α-proteobacteria Rhodospirillum rubrum and Rhodobacter capsulatus, and the sulfur γ-proteobacteria Chromatium vinusum and Thiocapsa roseopersicina. (a2) Tubelike intracytoplasmic membranes are found in T. pfennigii. (a3) Intracytoplasmic membranes arranged in small stacks are seen in Rhodospirillum molischianum and the γ-proteobacterium Ectothiorhodospira mobilis. (a4) Rhodopseudomonas palustris has larger stacked intracytoplasmic membranes. (b) A transmission electron micrograph of Rhodospirillum sp. grown anaerobically in the light shows vesicle-like intracytoplasmic membranes. (c) Molecular model of light-harvesting complex-II from Rhodopseudomonas acidophila.  Light-harvesting complex II in this organism contains bacteriochlorophyll a and carotenoids that transfer electrons to the centrally located reaction center and closely associated light-harvesting complex I (not shown)." title="Figure 22.3 The Photosynthetic Apparatus of Purple Bacteria."/>
          <p:cNvPicPr>
            <a:picLocks noChangeAspect="1" noChangeArrowheads="1"/>
          </p:cNvPicPr>
          <p:nvPr/>
        </p:nvPicPr>
        <p:blipFill>
          <a:blip r:embed="rId2" cstate="print"/>
          <a:srcRect/>
          <a:stretch>
            <a:fillRect/>
          </a:stretch>
        </p:blipFill>
        <p:spPr bwMode="auto">
          <a:xfrm>
            <a:off x="160867" y="1535005"/>
            <a:ext cx="8822268" cy="4590582"/>
          </a:xfrm>
          <a:prstGeom prst="rect">
            <a:avLst/>
          </a:prstGeom>
          <a:noFill/>
        </p:spPr>
      </p:pic>
    </p:spTree>
    <p:extLst>
      <p:ext uri="{BB962C8B-B14F-4D97-AF65-F5344CB8AC3E}">
        <p14:creationId xmlns:p14="http://schemas.microsoft.com/office/powerpoint/2010/main" val="3289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dirty="0"/>
              <a:t>Purple </a:t>
            </a:r>
            <a:r>
              <a:rPr lang="en-US" dirty="0" err="1"/>
              <a:t>Nonsulfur</a:t>
            </a:r>
            <a:r>
              <a:rPr lang="en-US" dirty="0"/>
              <a:t> Bacteria – No Light?</a:t>
            </a:r>
          </a:p>
        </p:txBody>
      </p:sp>
      <p:sp>
        <p:nvSpPr>
          <p:cNvPr id="3" name="Content Placeholder 2"/>
          <p:cNvSpPr>
            <a:spLocks noGrp="1"/>
          </p:cNvSpPr>
          <p:nvPr>
            <p:ph sz="half" idx="1"/>
          </p:nvPr>
        </p:nvSpPr>
        <p:spPr>
          <a:xfrm>
            <a:off x="152400" y="1066800"/>
            <a:ext cx="8839200" cy="2209799"/>
          </a:xfrm>
        </p:spPr>
        <p:txBody>
          <a:bodyPr>
            <a:normAutofit fontScale="92500" lnSpcReduction="20000"/>
          </a:bodyPr>
          <a:lstStyle/>
          <a:p>
            <a:r>
              <a:rPr lang="en-US" dirty="0"/>
              <a:t>In absence of light </a:t>
            </a:r>
          </a:p>
          <a:p>
            <a:pPr lvl="1"/>
            <a:r>
              <a:rPr lang="en-US" dirty="0"/>
              <a:t>most grow aerobically as </a:t>
            </a:r>
            <a:r>
              <a:rPr lang="en-US" dirty="0" err="1"/>
              <a:t>chemoorganoheterotrophs</a:t>
            </a:r>
            <a:r>
              <a:rPr lang="en-US" dirty="0"/>
              <a:t> </a:t>
            </a:r>
          </a:p>
          <a:p>
            <a:pPr lvl="1"/>
            <a:r>
              <a:rPr lang="en-US" dirty="0"/>
              <a:t>some carry out fermentation, </a:t>
            </a:r>
            <a:r>
              <a:rPr lang="en-US" dirty="0" err="1"/>
              <a:t>photoheterotrophy</a:t>
            </a:r>
            <a:r>
              <a:rPr lang="en-US" dirty="0"/>
              <a:t>, </a:t>
            </a:r>
            <a:r>
              <a:rPr lang="en-US" dirty="0" err="1"/>
              <a:t>photoautotrophy</a:t>
            </a:r>
            <a:r>
              <a:rPr lang="en-US" dirty="0"/>
              <a:t>, and grow anaerobically</a:t>
            </a:r>
            <a:br>
              <a:rPr lang="en-US" dirty="0"/>
            </a:br>
            <a:endParaRPr lang="en-US" dirty="0"/>
          </a:p>
          <a:p>
            <a:r>
              <a:rPr lang="en-US" i="1" dirty="0" err="1"/>
              <a:t>Rhodosprillum</a:t>
            </a:r>
            <a:r>
              <a:rPr lang="en-US" i="1" dirty="0"/>
              <a:t> </a:t>
            </a:r>
            <a:r>
              <a:rPr lang="en-US" dirty="0"/>
              <a:t>best studied metabolic diversity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11</a:t>
            </a:fld>
            <a:endParaRPr lang="en-US"/>
          </a:p>
        </p:txBody>
      </p:sp>
      <p:pic>
        <p:nvPicPr>
          <p:cNvPr id="5122" name="Picture 2" descr="This microbe can switch from one type of metabolism to another, depending on the availability of light and oxygen.&#10;If O2 is present, respiration (chemoorganotrophy; oxidative phosphorylation)&#10;If neither O2 nor light is present, chemoorganotrophy (fermentation)&#10;If O2 is not present but light and organic carbon are, photoheterotrophy (malate, acetate preferred C sources)&#10;If O2 and organic carbon are not present but light is, photoautotrophy (H2, H2S used as electron donors)" title="Figure 22.4 The Metabolic Flexibility of Rhodospirillum rubrum."/>
          <p:cNvPicPr>
            <a:picLocks noChangeAspect="1" noChangeArrowheads="1"/>
          </p:cNvPicPr>
          <p:nvPr/>
        </p:nvPicPr>
        <p:blipFill>
          <a:blip r:embed="rId2" cstate="print"/>
          <a:srcRect/>
          <a:stretch>
            <a:fillRect/>
          </a:stretch>
        </p:blipFill>
        <p:spPr bwMode="auto">
          <a:xfrm>
            <a:off x="240506" y="3048000"/>
            <a:ext cx="8662988" cy="3498850"/>
          </a:xfrm>
          <a:prstGeom prst="rect">
            <a:avLst/>
          </a:prstGeom>
          <a:noFill/>
        </p:spPr>
      </p:pic>
    </p:spTree>
    <p:extLst>
      <p:ext uri="{BB962C8B-B14F-4D97-AF65-F5344CB8AC3E}">
        <p14:creationId xmlns:p14="http://schemas.microsoft.com/office/powerpoint/2010/main" val="2428173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219200"/>
          </a:xfrm>
        </p:spPr>
        <p:txBody>
          <a:bodyPr>
            <a:normAutofit/>
          </a:bodyPr>
          <a:lstStyle/>
          <a:p>
            <a:r>
              <a:rPr lang="en-US" dirty="0"/>
              <a:t>Purple </a:t>
            </a:r>
            <a:r>
              <a:rPr lang="en-US" dirty="0" err="1"/>
              <a:t>Nonsulfur</a:t>
            </a:r>
            <a:r>
              <a:rPr lang="en-US" dirty="0"/>
              <a:t> Bacteria – Industrial Uses</a:t>
            </a:r>
          </a:p>
        </p:txBody>
      </p:sp>
      <p:sp>
        <p:nvSpPr>
          <p:cNvPr id="3" name="Content Placeholder 2"/>
          <p:cNvSpPr>
            <a:spLocks noGrp="1"/>
          </p:cNvSpPr>
          <p:nvPr>
            <p:ph idx="1"/>
          </p:nvPr>
        </p:nvSpPr>
        <p:spPr>
          <a:xfrm>
            <a:off x="457200" y="1600200"/>
            <a:ext cx="8229600" cy="4953000"/>
          </a:xfrm>
        </p:spPr>
        <p:txBody>
          <a:bodyPr/>
          <a:lstStyle/>
          <a:p>
            <a:r>
              <a:rPr lang="en-US" i="1" dirty="0" err="1"/>
              <a:t>Rhodospirillum</a:t>
            </a:r>
            <a:r>
              <a:rPr lang="en-US" i="1" dirty="0"/>
              <a:t> </a:t>
            </a:r>
            <a:r>
              <a:rPr lang="en-US" dirty="0"/>
              <a:t>industrial importance</a:t>
            </a:r>
          </a:p>
          <a:p>
            <a:pPr lvl="1"/>
            <a:r>
              <a:rPr lang="en-US" dirty="0"/>
              <a:t>produces H</a:t>
            </a:r>
            <a:r>
              <a:rPr lang="en-US" baseline="-25000" dirty="0"/>
              <a:t>2</a:t>
            </a:r>
            <a:r>
              <a:rPr lang="en-US" dirty="0"/>
              <a:t> </a:t>
            </a:r>
          </a:p>
          <a:p>
            <a:pPr lvl="1"/>
            <a:r>
              <a:rPr lang="en-US" dirty="0"/>
              <a:t>novel biodegradable plastic</a:t>
            </a:r>
          </a:p>
          <a:p>
            <a:pPr lvl="1"/>
            <a:r>
              <a:rPr lang="en-US" dirty="0"/>
              <a:t>oxidize carbon monoxide to carbon dioxide</a:t>
            </a:r>
            <a:br>
              <a:rPr lang="en-US" dirty="0"/>
            </a:br>
            <a:endParaRPr lang="en-US" baseline="-25000" dirty="0"/>
          </a:p>
          <a:p>
            <a:r>
              <a:rPr lang="en-US" dirty="0"/>
              <a:t>Morphologically diverse</a:t>
            </a:r>
          </a:p>
          <a:p>
            <a:pPr lvl="1"/>
            <a:r>
              <a:rPr lang="en-US" dirty="0"/>
              <a:t>most motile by polar flagella</a:t>
            </a:r>
            <a:br>
              <a:rPr lang="en-US" dirty="0"/>
            </a:br>
            <a:endParaRPr lang="en-US" dirty="0"/>
          </a:p>
          <a:p>
            <a:r>
              <a:rPr lang="en-US" dirty="0"/>
              <a:t>Found in mud and water of lakes and ponds with abundant organic matter and low sulfide levels; some marine species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12</a:t>
            </a:fld>
            <a:endParaRPr lang="en-US"/>
          </a:p>
        </p:txBody>
      </p:sp>
    </p:spTree>
    <p:extLst>
      <p:ext uri="{BB962C8B-B14F-4D97-AF65-F5344CB8AC3E}">
        <p14:creationId xmlns:p14="http://schemas.microsoft.com/office/powerpoint/2010/main" val="1456750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Purple </a:t>
            </a:r>
            <a:r>
              <a:rPr lang="en-US" dirty="0" err="1"/>
              <a:t>Nonsulfur</a:t>
            </a:r>
            <a:r>
              <a:rPr lang="en-US" dirty="0"/>
              <a:t> Bacteria - Cysts</a:t>
            </a:r>
          </a:p>
        </p:txBody>
      </p:sp>
      <p:sp>
        <p:nvSpPr>
          <p:cNvPr id="6" name="Content Placeholder 5"/>
          <p:cNvSpPr>
            <a:spLocks noGrp="1"/>
          </p:cNvSpPr>
          <p:nvPr>
            <p:ph sz="half" idx="2"/>
          </p:nvPr>
        </p:nvSpPr>
        <p:spPr>
          <a:xfrm>
            <a:off x="4648200" y="1600200"/>
            <a:ext cx="4038600" cy="5029200"/>
          </a:xfrm>
        </p:spPr>
        <p:txBody>
          <a:bodyPr>
            <a:normAutofit lnSpcReduction="10000"/>
          </a:bodyPr>
          <a:lstStyle/>
          <a:p>
            <a:r>
              <a:rPr lang="en-US" dirty="0"/>
              <a:t>Can produce cellular cysts</a:t>
            </a:r>
            <a:br>
              <a:rPr lang="en-US" dirty="0"/>
            </a:br>
            <a:endParaRPr lang="en-US" dirty="0"/>
          </a:p>
          <a:p>
            <a:pPr lvl="1"/>
            <a:r>
              <a:rPr lang="en-US" dirty="0"/>
              <a:t>resting cells</a:t>
            </a:r>
          </a:p>
          <a:p>
            <a:pPr lvl="1"/>
            <a:r>
              <a:rPr lang="en-US" dirty="0"/>
              <a:t>resistant to desiccation but less tolerant of heat and UV than bacterial endospores</a:t>
            </a:r>
          </a:p>
          <a:p>
            <a:pPr lvl="1"/>
            <a:r>
              <a:rPr lang="en-US" dirty="0"/>
              <a:t>made in response to nutrient limitation</a:t>
            </a:r>
          </a:p>
          <a:p>
            <a:pPr lvl="1"/>
            <a:r>
              <a:rPr lang="en-US" dirty="0"/>
              <a:t>have thick outer coat and store </a:t>
            </a:r>
            <a:r>
              <a:rPr lang="en-US" dirty="0" err="1"/>
              <a:t>polyhydroxybutyrate</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13</a:t>
            </a:fld>
            <a:endParaRPr lang="en-US"/>
          </a:p>
        </p:txBody>
      </p:sp>
      <p:pic>
        <p:nvPicPr>
          <p:cNvPr id="6146" name="Picture 2" descr="(a) Photo of colony morphology when grown on a medium that limits nutrients. (b) The cells within the colony (a) have formed cysts. In this species, cysts are most commonly found in clusters of four surrounded by a thick outer coat consisting of lipopolysaccharides and lipoproteins. Cysts are about 1 μm in diameter, nonmotile, and more spherical than growing cells." title="Figure 22.5 Cyst Formation in Rhodospirillum centenum."/>
          <p:cNvPicPr>
            <a:picLocks noChangeAspect="1" noChangeArrowheads="1"/>
          </p:cNvPicPr>
          <p:nvPr/>
        </p:nvPicPr>
        <p:blipFill>
          <a:blip r:embed="rId2" cstate="print"/>
          <a:srcRect/>
          <a:stretch>
            <a:fillRect/>
          </a:stretch>
        </p:blipFill>
        <p:spPr bwMode="auto">
          <a:xfrm>
            <a:off x="592667" y="1420101"/>
            <a:ext cx="4061354" cy="5144642"/>
          </a:xfrm>
          <a:prstGeom prst="rect">
            <a:avLst/>
          </a:prstGeom>
          <a:noFill/>
        </p:spPr>
      </p:pic>
    </p:spTree>
    <p:extLst>
      <p:ext uri="{BB962C8B-B14F-4D97-AF65-F5344CB8AC3E}">
        <p14:creationId xmlns:p14="http://schemas.microsoft.com/office/powerpoint/2010/main" val="1456750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4953000" cy="838200"/>
          </a:xfrm>
        </p:spPr>
        <p:txBody>
          <a:bodyPr/>
          <a:lstStyle/>
          <a:p>
            <a:r>
              <a:rPr lang="en-US" i="1" dirty="0"/>
              <a:t>Rickettsia</a:t>
            </a:r>
            <a:endParaRPr lang="en-US" dirty="0"/>
          </a:p>
        </p:txBody>
      </p:sp>
      <p:sp>
        <p:nvSpPr>
          <p:cNvPr id="3" name="Content Placeholder 2"/>
          <p:cNvSpPr>
            <a:spLocks noGrp="1"/>
          </p:cNvSpPr>
          <p:nvPr>
            <p:ph sz="half" idx="1"/>
          </p:nvPr>
        </p:nvSpPr>
        <p:spPr>
          <a:xfrm>
            <a:off x="152400" y="914400"/>
            <a:ext cx="4953000" cy="5791200"/>
          </a:xfrm>
        </p:spPr>
        <p:txBody>
          <a:bodyPr>
            <a:normAutofit fontScale="70000" lnSpcReduction="20000"/>
          </a:bodyPr>
          <a:lstStyle/>
          <a:p>
            <a:pPr>
              <a:lnSpc>
                <a:spcPct val="120000"/>
              </a:lnSpc>
              <a:spcBef>
                <a:spcPts val="600"/>
              </a:spcBef>
            </a:pPr>
            <a:r>
              <a:rPr lang="en-US" dirty="0"/>
              <a:t>Genus </a:t>
            </a:r>
            <a:r>
              <a:rPr lang="en-US" i="1" dirty="0"/>
              <a:t>Rickettsia</a:t>
            </a:r>
            <a:endParaRPr lang="en-US" dirty="0"/>
          </a:p>
          <a:p>
            <a:pPr lvl="1">
              <a:lnSpc>
                <a:spcPct val="120000"/>
              </a:lnSpc>
              <a:spcBef>
                <a:spcPts val="600"/>
              </a:spcBef>
            </a:pPr>
            <a:r>
              <a:rPr lang="en-US" dirty="0"/>
              <a:t>order </a:t>
            </a:r>
            <a:r>
              <a:rPr lang="en-US" i="1" dirty="0" err="1"/>
              <a:t>Rickettsiales</a:t>
            </a:r>
            <a:r>
              <a:rPr lang="en-US" dirty="0"/>
              <a:t>; </a:t>
            </a:r>
          </a:p>
          <a:p>
            <a:pPr marL="457200" lvl="1" indent="0">
              <a:lnSpc>
                <a:spcPct val="120000"/>
              </a:lnSpc>
              <a:spcBef>
                <a:spcPts val="600"/>
              </a:spcBef>
              <a:buNone/>
            </a:pPr>
            <a:r>
              <a:rPr lang="en-US" dirty="0"/>
              <a:t>   family </a:t>
            </a:r>
            <a:r>
              <a:rPr lang="en-US" i="1" dirty="0" err="1"/>
              <a:t>Rickettsiaceae</a:t>
            </a:r>
            <a:endParaRPr lang="en-US" i="1" dirty="0"/>
          </a:p>
          <a:p>
            <a:pPr>
              <a:lnSpc>
                <a:spcPct val="120000"/>
              </a:lnSpc>
              <a:spcBef>
                <a:spcPts val="600"/>
              </a:spcBef>
            </a:pPr>
            <a:r>
              <a:rPr lang="en-US" dirty="0"/>
              <a:t>Very small, Gram-negative, non-flagellated, diverse morphology</a:t>
            </a:r>
          </a:p>
          <a:p>
            <a:pPr>
              <a:lnSpc>
                <a:spcPct val="120000"/>
              </a:lnSpc>
              <a:spcBef>
                <a:spcPts val="600"/>
              </a:spcBef>
            </a:pPr>
            <a:r>
              <a:rPr lang="en-US" dirty="0"/>
              <a:t>All species are parasitic or mutualistic</a:t>
            </a:r>
          </a:p>
          <a:p>
            <a:pPr lvl="1">
              <a:lnSpc>
                <a:spcPct val="120000"/>
              </a:lnSpc>
              <a:spcBef>
                <a:spcPts val="600"/>
              </a:spcBef>
            </a:pPr>
            <a:r>
              <a:rPr lang="en-US" dirty="0"/>
              <a:t>grows in vertebrate erythrocytes, macrophages, vascular endothelial cells</a:t>
            </a:r>
          </a:p>
          <a:p>
            <a:pPr lvl="1">
              <a:lnSpc>
                <a:spcPct val="120000"/>
              </a:lnSpc>
              <a:spcBef>
                <a:spcPts val="600"/>
              </a:spcBef>
            </a:pPr>
            <a:r>
              <a:rPr lang="en-US" dirty="0"/>
              <a:t>live in blood sucking arthropods – vectors or primary hosts</a:t>
            </a:r>
          </a:p>
          <a:p>
            <a:pPr>
              <a:lnSpc>
                <a:spcPct val="120000"/>
              </a:lnSpc>
              <a:spcBef>
                <a:spcPts val="600"/>
              </a:spcBef>
            </a:pPr>
            <a:r>
              <a:rPr lang="en-US" dirty="0"/>
              <a:t>Genome sequence similar to mitochondria	</a:t>
            </a:r>
          </a:p>
          <a:p>
            <a:pPr lvl="1">
              <a:lnSpc>
                <a:spcPct val="120000"/>
              </a:lnSpc>
              <a:spcBef>
                <a:spcPts val="600"/>
              </a:spcBef>
            </a:pPr>
            <a:r>
              <a:rPr lang="en-US" dirty="0"/>
              <a:t>arose from endosymbiotic association</a:t>
            </a:r>
          </a:p>
          <a:p>
            <a:pPr lvl="2">
              <a:lnSpc>
                <a:spcPct val="120000"/>
              </a:lnSpc>
              <a:spcBef>
                <a:spcPts val="600"/>
              </a:spcBef>
            </a:pPr>
            <a:r>
              <a:rPr lang="en-US" dirty="0"/>
              <a:t>free living, aerobic bacterium became intracellular parasite of proto-eukaryotic cell that lacked organelles</a:t>
            </a:r>
          </a:p>
          <a:p>
            <a:pPr lvl="2">
              <a:lnSpc>
                <a:spcPct val="120000"/>
              </a:lnSpc>
              <a:spcBef>
                <a:spcPts val="600"/>
              </a:spcBef>
            </a:pPr>
            <a:r>
              <a:rPr lang="en-US" dirty="0"/>
              <a:t>gene reduction occurred and loss of free living ability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14</a:t>
            </a:fld>
            <a:endParaRPr lang="en-US"/>
          </a:p>
        </p:txBody>
      </p:sp>
      <p:pic>
        <p:nvPicPr>
          <p:cNvPr id="7170" name="Picture 2" descr="Photo of a tick hemolymph cell filled with Rickettsia rickettsii, the causative agent of Rocky Mountain spotted fever. These bacteria a very small, ranging in size from 0.2 × 0.5 μm to 0.3 × 2.0 μm." title="Figure 22.6 Rickettsia rickettsii."/>
          <p:cNvPicPr>
            <a:picLocks noChangeAspect="1" noChangeArrowheads="1"/>
          </p:cNvPicPr>
          <p:nvPr/>
        </p:nvPicPr>
        <p:blipFill>
          <a:blip r:embed="rId2" cstate="print"/>
          <a:srcRect/>
          <a:stretch>
            <a:fillRect/>
          </a:stretch>
        </p:blipFill>
        <p:spPr bwMode="auto">
          <a:xfrm>
            <a:off x="5029200" y="407989"/>
            <a:ext cx="3930014" cy="3723744"/>
          </a:xfrm>
          <a:prstGeom prst="rect">
            <a:avLst/>
          </a:prstGeom>
          <a:noFill/>
        </p:spPr>
      </p:pic>
    </p:spTree>
    <p:extLst>
      <p:ext uri="{BB962C8B-B14F-4D97-AF65-F5344CB8AC3E}">
        <p14:creationId xmlns:p14="http://schemas.microsoft.com/office/powerpoint/2010/main" val="1456750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265238"/>
          </a:xfrm>
        </p:spPr>
        <p:txBody>
          <a:bodyPr>
            <a:normAutofit/>
          </a:bodyPr>
          <a:lstStyle/>
          <a:p>
            <a:r>
              <a:rPr lang="en-US" i="1" dirty="0"/>
              <a:t>Rickettsia</a:t>
            </a:r>
            <a:r>
              <a:rPr lang="en-US" dirty="0"/>
              <a:t> Metabolism and Pathogen Examples</a:t>
            </a:r>
          </a:p>
        </p:txBody>
      </p:sp>
      <p:sp>
        <p:nvSpPr>
          <p:cNvPr id="3" name="Content Placeholder 2"/>
          <p:cNvSpPr>
            <a:spLocks noGrp="1"/>
          </p:cNvSpPr>
          <p:nvPr>
            <p:ph idx="1"/>
          </p:nvPr>
        </p:nvSpPr>
        <p:spPr>
          <a:xfrm>
            <a:off x="457200" y="1371600"/>
            <a:ext cx="8229600" cy="5257800"/>
          </a:xfrm>
        </p:spPr>
        <p:txBody>
          <a:bodyPr>
            <a:normAutofit fontScale="92500" lnSpcReduction="20000"/>
          </a:bodyPr>
          <a:lstStyle/>
          <a:p>
            <a:r>
              <a:rPr lang="en-US" dirty="0"/>
              <a:t>Lack glycolytic pathway</a:t>
            </a:r>
          </a:p>
          <a:p>
            <a:pPr lvl="1"/>
            <a:r>
              <a:rPr lang="en-US" dirty="0"/>
              <a:t>do not use glucose as energy source</a:t>
            </a:r>
            <a:br>
              <a:rPr lang="en-US" dirty="0"/>
            </a:br>
            <a:endParaRPr lang="en-US" dirty="0"/>
          </a:p>
          <a:p>
            <a:r>
              <a:rPr lang="en-US" dirty="0"/>
              <a:t>Oxidize glutamate and TCA cycle intermediates (e.g. succinate)</a:t>
            </a:r>
            <a:br>
              <a:rPr lang="en-US" dirty="0"/>
            </a:br>
            <a:endParaRPr lang="en-US" dirty="0"/>
          </a:p>
          <a:p>
            <a:r>
              <a:rPr lang="en-US" dirty="0"/>
              <a:t>Take up and use ATP and other materials from host cell</a:t>
            </a:r>
            <a:br>
              <a:rPr lang="en-US" dirty="0"/>
            </a:br>
            <a:endParaRPr lang="en-US" dirty="0"/>
          </a:p>
          <a:p>
            <a:r>
              <a:rPr lang="en-US" dirty="0"/>
              <a:t>Important pathogens</a:t>
            </a:r>
          </a:p>
          <a:p>
            <a:pPr lvl="1"/>
            <a:r>
              <a:rPr lang="en-US" i="1" dirty="0"/>
              <a:t>Rickettsia </a:t>
            </a:r>
            <a:r>
              <a:rPr lang="en-US" i="1" dirty="0" err="1"/>
              <a:t>prowazekii</a:t>
            </a:r>
            <a:r>
              <a:rPr lang="en-US" dirty="0"/>
              <a:t> and </a:t>
            </a:r>
            <a:r>
              <a:rPr lang="en-US" i="1" dirty="0"/>
              <a:t>Rickettsia </a:t>
            </a:r>
            <a:r>
              <a:rPr lang="en-US" i="1" dirty="0" err="1"/>
              <a:t>typhi</a:t>
            </a:r>
            <a:r>
              <a:rPr lang="en-US" dirty="0"/>
              <a:t> – typhus fever</a:t>
            </a:r>
          </a:p>
          <a:p>
            <a:pPr lvl="1"/>
            <a:r>
              <a:rPr lang="en-US" i="1" dirty="0"/>
              <a:t>Rickettsia </a:t>
            </a:r>
            <a:r>
              <a:rPr lang="en-US" i="1" dirty="0" err="1"/>
              <a:t>rickettsii</a:t>
            </a:r>
            <a:r>
              <a:rPr lang="en-US" dirty="0"/>
              <a:t> – Rocky Mountain Spotted Fever</a:t>
            </a:r>
          </a:p>
          <a:p>
            <a:pPr lvl="1"/>
            <a:r>
              <a:rPr lang="en-US" dirty="0"/>
              <a:t>reproduction </a:t>
            </a:r>
          </a:p>
          <a:p>
            <a:pPr marL="1314450" lvl="2" indent="-457200">
              <a:lnSpc>
                <a:spcPct val="90000"/>
              </a:lnSpc>
            </a:pPr>
            <a:r>
              <a:rPr lang="en-US" dirty="0"/>
              <a:t>enters host by phagocytosis</a:t>
            </a:r>
          </a:p>
          <a:p>
            <a:pPr marL="1314450" lvl="2" indent="-457200">
              <a:lnSpc>
                <a:spcPct val="90000"/>
              </a:lnSpc>
            </a:pPr>
            <a:r>
              <a:rPr lang="en-US" dirty="0">
                <a:sym typeface="Symbol" pitchFamily="18" charset="2"/>
              </a:rPr>
              <a:t>escapes phagosome</a:t>
            </a:r>
          </a:p>
          <a:p>
            <a:pPr marL="1314450" lvl="2" indent="-457200">
              <a:lnSpc>
                <a:spcPct val="90000"/>
              </a:lnSpc>
            </a:pPr>
            <a:r>
              <a:rPr lang="en-US" dirty="0">
                <a:sym typeface="Symbol" pitchFamily="18" charset="2"/>
              </a:rPr>
              <a:t>reproduces in cytoplasm</a:t>
            </a:r>
          </a:p>
          <a:p>
            <a:pPr marL="1314450" lvl="2" indent="-457200">
              <a:lnSpc>
                <a:spcPct val="90000"/>
              </a:lnSpc>
            </a:pPr>
            <a:r>
              <a:rPr lang="en-US" dirty="0">
                <a:sym typeface="Symbol" pitchFamily="18" charset="2"/>
              </a:rPr>
              <a:t>host cell bursts</a:t>
            </a:r>
            <a:endParaRPr lang="en-US" i="1" dirty="0"/>
          </a:p>
          <a:p>
            <a:pPr lvl="1"/>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15</a:t>
            </a:fld>
            <a:endParaRPr lang="en-US"/>
          </a:p>
        </p:txBody>
      </p:sp>
    </p:spTree>
    <p:extLst>
      <p:ext uri="{BB962C8B-B14F-4D97-AF65-F5344CB8AC3E}">
        <p14:creationId xmlns:p14="http://schemas.microsoft.com/office/powerpoint/2010/main" val="1456750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i="1" dirty="0" err="1"/>
              <a:t>Caulobacteraceae</a:t>
            </a:r>
            <a:r>
              <a:rPr lang="en-US" dirty="0"/>
              <a:t> and </a:t>
            </a:r>
            <a:r>
              <a:rPr lang="en-US" i="1" dirty="0" err="1"/>
              <a:t>Hyphomicrobiaceae</a:t>
            </a:r>
            <a:endParaRPr lang="en-US" dirty="0"/>
          </a:p>
        </p:txBody>
      </p:sp>
      <p:sp>
        <p:nvSpPr>
          <p:cNvPr id="3" name="Content Placeholder 2"/>
          <p:cNvSpPr>
            <a:spLocks noGrp="1"/>
          </p:cNvSpPr>
          <p:nvPr>
            <p:ph sz="half" idx="1"/>
          </p:nvPr>
        </p:nvSpPr>
        <p:spPr>
          <a:xfrm>
            <a:off x="152400" y="1066801"/>
            <a:ext cx="8839200" cy="2895600"/>
          </a:xfrm>
        </p:spPr>
        <p:txBody>
          <a:bodyPr>
            <a:normAutofit fontScale="92500" lnSpcReduction="20000"/>
          </a:bodyPr>
          <a:lstStyle/>
          <a:p>
            <a:pPr>
              <a:lnSpc>
                <a:spcPct val="110000"/>
              </a:lnSpc>
              <a:spcBef>
                <a:spcPts val="600"/>
              </a:spcBef>
            </a:pPr>
            <a:r>
              <a:rPr lang="en-US" dirty="0"/>
              <a:t>Rods or cocci with an appendage</a:t>
            </a:r>
          </a:p>
          <a:p>
            <a:pPr>
              <a:lnSpc>
                <a:spcPct val="110000"/>
              </a:lnSpc>
              <a:spcBef>
                <a:spcPts val="600"/>
              </a:spcBef>
            </a:pPr>
            <a:r>
              <a:rPr lang="en-US" dirty="0"/>
              <a:t>Life cycle</a:t>
            </a:r>
          </a:p>
          <a:p>
            <a:pPr lvl="1">
              <a:lnSpc>
                <a:spcPct val="110000"/>
              </a:lnSpc>
              <a:spcBef>
                <a:spcPts val="600"/>
              </a:spcBef>
            </a:pPr>
            <a:r>
              <a:rPr lang="en-US" dirty="0" err="1"/>
              <a:t>prostheca</a:t>
            </a:r>
            <a:r>
              <a:rPr lang="en-US" dirty="0"/>
              <a:t> (pl., </a:t>
            </a:r>
            <a:r>
              <a:rPr lang="en-US" dirty="0" err="1"/>
              <a:t>prosthecae</a:t>
            </a:r>
            <a:r>
              <a:rPr lang="en-US" dirty="0"/>
              <a:t>) or stalk</a:t>
            </a:r>
          </a:p>
          <a:p>
            <a:pPr lvl="2">
              <a:lnSpc>
                <a:spcPct val="110000"/>
              </a:lnSpc>
              <a:spcBef>
                <a:spcPts val="600"/>
              </a:spcBef>
            </a:pPr>
            <a:r>
              <a:rPr lang="en-US" dirty="0"/>
              <a:t>extension of cell, including plasma membrane, that is narrower than mature cell</a:t>
            </a:r>
          </a:p>
          <a:p>
            <a:pPr lvl="1">
              <a:lnSpc>
                <a:spcPct val="110000"/>
              </a:lnSpc>
              <a:spcBef>
                <a:spcPts val="600"/>
              </a:spcBef>
            </a:pPr>
            <a:r>
              <a:rPr lang="en-US" dirty="0"/>
              <a:t>reproduction by budding</a:t>
            </a:r>
          </a:p>
          <a:p>
            <a:pPr lvl="2">
              <a:lnSpc>
                <a:spcPct val="110000"/>
              </a:lnSpc>
              <a:spcBef>
                <a:spcPts val="600"/>
              </a:spcBef>
            </a:pPr>
            <a:r>
              <a:rPr lang="en-US" dirty="0"/>
              <a:t>progeny cell is a bud that first appears as a small protrusion on parent cell and enlarges to form mature cell</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16</a:t>
            </a:fld>
            <a:endParaRPr lang="en-US"/>
          </a:p>
        </p:txBody>
      </p:sp>
      <p:pic>
        <p:nvPicPr>
          <p:cNvPr id="8194" name="Picture 2" descr="1. Hypha forming&#10;2. New nucleoid moving into hypha&#10;3. Young bud&#10;4. Swarmer cell sub subpolar to lateral flagellum (one to three)&#10;5. Hypha lengthens more and produces another bud" title="Figure 22.8 The Life Cycle of Hyphomicrobium."/>
          <p:cNvPicPr>
            <a:picLocks noChangeAspect="1" noChangeArrowheads="1"/>
          </p:cNvPicPr>
          <p:nvPr/>
        </p:nvPicPr>
        <p:blipFill>
          <a:blip r:embed="rId2" cstate="print"/>
          <a:srcRect/>
          <a:stretch>
            <a:fillRect/>
          </a:stretch>
        </p:blipFill>
        <p:spPr bwMode="auto">
          <a:xfrm>
            <a:off x="2515130" y="3962400"/>
            <a:ext cx="4113740" cy="2587488"/>
          </a:xfrm>
          <a:prstGeom prst="rect">
            <a:avLst/>
          </a:prstGeom>
          <a:noFill/>
        </p:spPr>
      </p:pic>
    </p:spTree>
    <p:extLst>
      <p:ext uri="{BB962C8B-B14F-4D97-AF65-F5344CB8AC3E}">
        <p14:creationId xmlns:p14="http://schemas.microsoft.com/office/powerpoint/2010/main" val="1456750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Genus </a:t>
            </a:r>
            <a:r>
              <a:rPr lang="en-US" i="1" dirty="0" err="1"/>
              <a:t>Hyphomicrobium</a:t>
            </a:r>
            <a:endParaRPr lang="en-US" dirty="0"/>
          </a:p>
        </p:txBody>
      </p:sp>
      <p:sp>
        <p:nvSpPr>
          <p:cNvPr id="3" name="Content Placeholder 2"/>
          <p:cNvSpPr>
            <a:spLocks noGrp="1"/>
          </p:cNvSpPr>
          <p:nvPr>
            <p:ph sz="half" idx="1"/>
          </p:nvPr>
        </p:nvSpPr>
        <p:spPr>
          <a:xfrm>
            <a:off x="457200" y="1219200"/>
            <a:ext cx="4038600" cy="5410200"/>
          </a:xfrm>
        </p:spPr>
        <p:txBody>
          <a:bodyPr>
            <a:normAutofit fontScale="70000" lnSpcReduction="20000"/>
          </a:bodyPr>
          <a:lstStyle/>
          <a:p>
            <a:pPr>
              <a:lnSpc>
                <a:spcPct val="120000"/>
              </a:lnSpc>
              <a:spcBef>
                <a:spcPts val="600"/>
              </a:spcBef>
            </a:pPr>
            <a:r>
              <a:rPr lang="en-US" dirty="0" err="1"/>
              <a:t>Prosthecate</a:t>
            </a:r>
            <a:r>
              <a:rPr lang="en-US" dirty="0"/>
              <a:t>, budding bacteria</a:t>
            </a:r>
            <a:br>
              <a:rPr lang="en-US" dirty="0"/>
            </a:br>
            <a:endParaRPr lang="en-US" dirty="0"/>
          </a:p>
          <a:p>
            <a:pPr>
              <a:lnSpc>
                <a:spcPct val="120000"/>
              </a:lnSpc>
              <a:spcBef>
                <a:spcPts val="600"/>
              </a:spcBef>
            </a:pPr>
            <a:r>
              <a:rPr lang="en-US" dirty="0"/>
              <a:t>Aerobic </a:t>
            </a:r>
            <a:r>
              <a:rPr lang="en-US" dirty="0" err="1"/>
              <a:t>chemoheterotrophs</a:t>
            </a:r>
            <a:endParaRPr lang="en-US" dirty="0"/>
          </a:p>
          <a:p>
            <a:pPr lvl="1">
              <a:lnSpc>
                <a:spcPct val="120000"/>
              </a:lnSpc>
              <a:spcBef>
                <a:spcPts val="600"/>
              </a:spcBef>
            </a:pPr>
            <a:r>
              <a:rPr lang="en-US" dirty="0"/>
              <a:t>grow on ethanol, acetate, and one-carbon molecules (facultative </a:t>
            </a:r>
            <a:r>
              <a:rPr lang="en-US" dirty="0" err="1">
                <a:solidFill>
                  <a:schemeClr val="tx2"/>
                </a:solidFill>
              </a:rPr>
              <a:t>methylotroph</a:t>
            </a:r>
            <a:r>
              <a:rPr lang="en-US" dirty="0"/>
              <a:t>)</a:t>
            </a:r>
          </a:p>
          <a:p>
            <a:pPr lvl="2">
              <a:lnSpc>
                <a:spcPct val="120000"/>
              </a:lnSpc>
              <a:spcBef>
                <a:spcPts val="600"/>
              </a:spcBef>
            </a:pPr>
            <a:r>
              <a:rPr lang="en-US" sz="2400" dirty="0"/>
              <a:t>e.g., methanol, </a:t>
            </a:r>
            <a:r>
              <a:rPr lang="en-US" sz="2400" dirty="0" err="1"/>
              <a:t>formate</a:t>
            </a:r>
            <a:r>
              <a:rPr lang="en-US" sz="2400" dirty="0"/>
              <a:t>, and formaldehyde</a:t>
            </a:r>
            <a:br>
              <a:rPr lang="en-US" sz="2400" dirty="0"/>
            </a:br>
            <a:endParaRPr lang="en-US" sz="2400" dirty="0"/>
          </a:p>
          <a:p>
            <a:pPr>
              <a:lnSpc>
                <a:spcPct val="120000"/>
              </a:lnSpc>
              <a:spcBef>
                <a:spcPts val="600"/>
              </a:spcBef>
            </a:pPr>
            <a:r>
              <a:rPr lang="en-US" dirty="0"/>
              <a:t>Frequently attach to solid objects in aquatic and terrestrial environments</a:t>
            </a:r>
          </a:p>
          <a:p>
            <a:pPr lvl="1">
              <a:lnSpc>
                <a:spcPct val="120000"/>
              </a:lnSpc>
              <a:spcBef>
                <a:spcPts val="600"/>
              </a:spcBef>
            </a:pPr>
            <a:r>
              <a:rPr lang="en-US" dirty="0"/>
              <a:t>may be 25% of total bacterial </a:t>
            </a:r>
          </a:p>
          <a:p>
            <a:pPr marL="457200" lvl="1" indent="0">
              <a:lnSpc>
                <a:spcPct val="120000"/>
              </a:lnSpc>
              <a:spcBef>
                <a:spcPts val="600"/>
              </a:spcBef>
              <a:buNone/>
            </a:pPr>
            <a:r>
              <a:rPr lang="en-US" dirty="0"/>
              <a:t>   population in oligotrophic </a:t>
            </a:r>
          </a:p>
          <a:p>
            <a:pPr marL="457200" lvl="1" indent="0">
              <a:lnSpc>
                <a:spcPct val="120000"/>
              </a:lnSpc>
              <a:spcBef>
                <a:spcPts val="600"/>
              </a:spcBef>
              <a:buNone/>
            </a:pPr>
            <a:r>
              <a:rPr lang="en-US" dirty="0"/>
              <a:t>   (nutrient-poor) freshwater </a:t>
            </a:r>
          </a:p>
          <a:p>
            <a:pPr marL="457200" lvl="1" indent="0">
              <a:lnSpc>
                <a:spcPct val="120000"/>
              </a:lnSpc>
              <a:spcBef>
                <a:spcPts val="600"/>
              </a:spcBef>
              <a:buNone/>
            </a:pPr>
            <a:r>
              <a:rPr lang="en-US" dirty="0"/>
              <a:t>   habitats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17</a:t>
            </a:fld>
            <a:endParaRPr lang="en-US"/>
          </a:p>
        </p:txBody>
      </p:sp>
      <p:pic>
        <p:nvPicPr>
          <p:cNvPr id="9218" name="Picture 2" descr="Photo of Hyphomicrobium facilis with hypha and young bud." title="Figure 22.7 Prosthecate, Budding Bacteria."/>
          <p:cNvPicPr>
            <a:picLocks noChangeAspect="1" noChangeArrowheads="1"/>
          </p:cNvPicPr>
          <p:nvPr/>
        </p:nvPicPr>
        <p:blipFill>
          <a:blip r:embed="rId2" cstate="print"/>
          <a:srcRect/>
          <a:stretch>
            <a:fillRect/>
          </a:stretch>
        </p:blipFill>
        <p:spPr bwMode="auto">
          <a:xfrm>
            <a:off x="4245468" y="1572050"/>
            <a:ext cx="4796934" cy="3380950"/>
          </a:xfrm>
          <a:prstGeom prst="rect">
            <a:avLst/>
          </a:prstGeom>
          <a:noFill/>
        </p:spPr>
      </p:pic>
    </p:spTree>
    <p:extLst>
      <p:ext uri="{BB962C8B-B14F-4D97-AF65-F5344CB8AC3E}">
        <p14:creationId xmlns:p14="http://schemas.microsoft.com/office/powerpoint/2010/main" val="1456750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Genus </a:t>
            </a:r>
            <a:r>
              <a:rPr lang="en-US" i="1" dirty="0" err="1"/>
              <a:t>Caulobacter</a:t>
            </a:r>
            <a:endParaRPr lang="en-US" dirty="0"/>
          </a:p>
        </p:txBody>
      </p:sp>
      <p:sp>
        <p:nvSpPr>
          <p:cNvPr id="3" name="Content Placeholder 2"/>
          <p:cNvSpPr>
            <a:spLocks noGrp="1"/>
          </p:cNvSpPr>
          <p:nvPr>
            <p:ph sz="half" idx="1"/>
          </p:nvPr>
        </p:nvSpPr>
        <p:spPr>
          <a:xfrm>
            <a:off x="152400" y="1066801"/>
            <a:ext cx="8839200" cy="2057400"/>
          </a:xfrm>
        </p:spPr>
        <p:txBody>
          <a:bodyPr>
            <a:normAutofit fontScale="92500" lnSpcReduction="10000"/>
          </a:bodyPr>
          <a:lstStyle/>
          <a:p>
            <a:pPr>
              <a:lnSpc>
                <a:spcPct val="90000"/>
              </a:lnSpc>
            </a:pPr>
            <a:r>
              <a:rPr lang="en-US" dirty="0"/>
              <a:t>May be </a:t>
            </a:r>
            <a:r>
              <a:rPr lang="en-US" dirty="0" err="1"/>
              <a:t>polarly</a:t>
            </a:r>
            <a:r>
              <a:rPr lang="en-US" dirty="0"/>
              <a:t> flagellated rods or may possess </a:t>
            </a:r>
            <a:r>
              <a:rPr lang="en-US" dirty="0" err="1"/>
              <a:t>prostheca</a:t>
            </a:r>
            <a:r>
              <a:rPr lang="en-US" dirty="0"/>
              <a:t> and holdfast</a:t>
            </a:r>
            <a:br>
              <a:rPr lang="en-US" dirty="0"/>
            </a:br>
            <a:endParaRPr lang="en-US" dirty="0"/>
          </a:p>
          <a:p>
            <a:pPr lvl="1">
              <a:lnSpc>
                <a:spcPct val="90000"/>
              </a:lnSpc>
            </a:pPr>
            <a:r>
              <a:rPr lang="en-US" dirty="0"/>
              <a:t>used to attach to solid substrata with what is known as the strongest biological adhesion molecule</a:t>
            </a:r>
          </a:p>
          <a:p>
            <a:pPr lvl="1">
              <a:lnSpc>
                <a:spcPct val="90000"/>
              </a:lnSpc>
            </a:pPr>
            <a:r>
              <a:rPr lang="en-US" dirty="0" err="1"/>
              <a:t>prostheca</a:t>
            </a:r>
            <a:r>
              <a:rPr lang="en-US" dirty="0"/>
              <a:t> lacks cytoplasmic components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18</a:t>
            </a:fld>
            <a:endParaRPr lang="en-US"/>
          </a:p>
        </p:txBody>
      </p:sp>
      <p:pic>
        <p:nvPicPr>
          <p:cNvPr id="10242" name="Picture 2" descr="(a) A cell dividing to produce a swarmer; prostheca and flagellum visible. (b) A stalked cell and a flagellated swarmer cell. (c) A rosette of cells as seen in the electron microscope." title="Figure 22.9 Caulobacter spp. Morphology and Reproduction."/>
          <p:cNvPicPr>
            <a:picLocks noChangeAspect="1" noChangeArrowheads="1"/>
          </p:cNvPicPr>
          <p:nvPr/>
        </p:nvPicPr>
        <p:blipFill>
          <a:blip r:embed="rId2" cstate="print"/>
          <a:srcRect/>
          <a:stretch>
            <a:fillRect/>
          </a:stretch>
        </p:blipFill>
        <p:spPr bwMode="auto">
          <a:xfrm>
            <a:off x="542910" y="3361268"/>
            <a:ext cx="8058180" cy="2958040"/>
          </a:xfrm>
          <a:prstGeom prst="rect">
            <a:avLst/>
          </a:prstGeom>
          <a:noFill/>
        </p:spPr>
      </p:pic>
    </p:spTree>
    <p:extLst>
      <p:ext uri="{BB962C8B-B14F-4D97-AF65-F5344CB8AC3E}">
        <p14:creationId xmlns:p14="http://schemas.microsoft.com/office/powerpoint/2010/main" val="608928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err="1"/>
              <a:t>Caulobacter</a:t>
            </a:r>
            <a:r>
              <a:rPr lang="en-US" i="1" dirty="0"/>
              <a:t> </a:t>
            </a:r>
            <a:r>
              <a:rPr lang="en-US" dirty="0"/>
              <a:t>– Lifecycle</a:t>
            </a:r>
          </a:p>
        </p:txBody>
      </p:sp>
      <p:sp>
        <p:nvSpPr>
          <p:cNvPr id="3" name="Content Placeholder 2"/>
          <p:cNvSpPr>
            <a:spLocks noGrp="1"/>
          </p:cNvSpPr>
          <p:nvPr>
            <p:ph sz="half" idx="1"/>
          </p:nvPr>
        </p:nvSpPr>
        <p:spPr>
          <a:xfrm>
            <a:off x="152400" y="1600200"/>
            <a:ext cx="3962400" cy="4525963"/>
          </a:xfrm>
        </p:spPr>
        <p:txBody>
          <a:bodyPr>
            <a:normAutofit lnSpcReduction="10000"/>
          </a:bodyPr>
          <a:lstStyle/>
          <a:p>
            <a:pPr>
              <a:lnSpc>
                <a:spcPct val="90000"/>
              </a:lnSpc>
            </a:pPr>
            <a:r>
              <a:rPr lang="en-US" dirty="0"/>
              <a:t>Usually found in oligotrophic aquatic and terrestrial habitats</a:t>
            </a:r>
          </a:p>
          <a:p>
            <a:pPr lvl="1">
              <a:lnSpc>
                <a:spcPct val="90000"/>
              </a:lnSpc>
            </a:pPr>
            <a:r>
              <a:rPr lang="en-US" dirty="0"/>
              <a:t>may absorb nutrients released from hosts</a:t>
            </a:r>
          </a:p>
          <a:p>
            <a:pPr lvl="1">
              <a:lnSpc>
                <a:spcPct val="90000"/>
              </a:lnSpc>
            </a:pPr>
            <a:r>
              <a:rPr lang="en-US" dirty="0"/>
              <a:t>long </a:t>
            </a:r>
            <a:r>
              <a:rPr lang="en-US" dirty="0" err="1"/>
              <a:t>prosthecae</a:t>
            </a:r>
            <a:r>
              <a:rPr lang="en-US" dirty="0"/>
              <a:t> may improve nutrient uptake</a:t>
            </a:r>
            <a:br>
              <a:rPr lang="en-US" dirty="0"/>
            </a:br>
            <a:endParaRPr lang="en-US" dirty="0"/>
          </a:p>
          <a:p>
            <a:pPr>
              <a:lnSpc>
                <a:spcPct val="90000"/>
              </a:lnSpc>
            </a:pPr>
            <a:r>
              <a:rPr lang="en-US" dirty="0"/>
              <a:t>Reproduction </a:t>
            </a:r>
          </a:p>
          <a:p>
            <a:pPr lvl="1">
              <a:lnSpc>
                <a:spcPct val="90000"/>
              </a:lnSpc>
            </a:pPr>
            <a:r>
              <a:rPr lang="en-US" dirty="0"/>
              <a:t>asymmetric transverse binary fission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19</a:t>
            </a:fld>
            <a:endParaRPr lang="en-US"/>
          </a:p>
        </p:txBody>
      </p:sp>
      <p:pic>
        <p:nvPicPr>
          <p:cNvPr id="11266" name="Picture 2" descr="Stalked cells attached to a substrate undergo asymmetric binary fission, producing a stalked and a flagellated cell, called a swarmer cell. The swarmer cell swims freely and makes pili until it settles, ejects its flagella, and forms a stalk. Only stalked cells can divide." title="Figure 22.10 Caulobacter Life Cycle."/>
          <p:cNvPicPr>
            <a:picLocks noChangeAspect="1" noChangeArrowheads="1"/>
          </p:cNvPicPr>
          <p:nvPr/>
        </p:nvPicPr>
        <p:blipFill>
          <a:blip r:embed="rId2" cstate="print"/>
          <a:srcRect/>
          <a:stretch>
            <a:fillRect/>
          </a:stretch>
        </p:blipFill>
        <p:spPr bwMode="auto">
          <a:xfrm>
            <a:off x="4191000" y="2153648"/>
            <a:ext cx="4864100" cy="3330168"/>
          </a:xfrm>
          <a:prstGeom prst="rect">
            <a:avLst/>
          </a:prstGeom>
          <a:noFill/>
        </p:spPr>
      </p:pic>
    </p:spTree>
    <p:extLst>
      <p:ext uri="{BB962C8B-B14F-4D97-AF65-F5344CB8AC3E}">
        <p14:creationId xmlns:p14="http://schemas.microsoft.com/office/powerpoint/2010/main" val="2623123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Genus</a:t>
            </a:r>
            <a:r>
              <a:rPr lang="en-US" i="1" dirty="0"/>
              <a:t> Rhizobium</a:t>
            </a:r>
            <a:endParaRPr lang="en-US" dirty="0"/>
          </a:p>
        </p:txBody>
      </p:sp>
      <p:sp>
        <p:nvSpPr>
          <p:cNvPr id="6" name="Content Placeholder 5"/>
          <p:cNvSpPr>
            <a:spLocks noGrp="1"/>
          </p:cNvSpPr>
          <p:nvPr>
            <p:ph sz="half" idx="2"/>
          </p:nvPr>
        </p:nvSpPr>
        <p:spPr>
          <a:xfrm>
            <a:off x="4800600" y="1143000"/>
            <a:ext cx="4191000" cy="5562600"/>
          </a:xfrm>
        </p:spPr>
        <p:txBody>
          <a:bodyPr>
            <a:normAutofit lnSpcReduction="10000"/>
          </a:bodyPr>
          <a:lstStyle/>
          <a:p>
            <a:r>
              <a:rPr lang="en-US" dirty="0"/>
              <a:t>Gram-negative, pleomorphic, motile rods</a:t>
            </a:r>
          </a:p>
          <a:p>
            <a:pPr lvl="1"/>
            <a:r>
              <a:rPr lang="en-US" dirty="0"/>
              <a:t>often contain poly-</a:t>
            </a:r>
            <a:r>
              <a:rPr lang="en-US" dirty="0">
                <a:latin typeface="Symbol" pitchFamily="18" charset="2"/>
                <a:sym typeface="WP Greek Century" pitchFamily="2" charset="2"/>
              </a:rPr>
              <a:t>b</a:t>
            </a:r>
            <a:r>
              <a:rPr lang="en-US" dirty="0">
                <a:sym typeface="WP Greek Century" pitchFamily="2" charset="2"/>
              </a:rPr>
              <a:t>-</a:t>
            </a:r>
            <a:r>
              <a:rPr lang="en-US" dirty="0" err="1">
                <a:sym typeface="WP Greek Century" pitchFamily="2" charset="2"/>
              </a:rPr>
              <a:t>hydroxybutyrate</a:t>
            </a:r>
            <a:r>
              <a:rPr lang="en-US" dirty="0">
                <a:sym typeface="WP Greek Century" pitchFamily="2" charset="2"/>
              </a:rPr>
              <a:t> granules</a:t>
            </a:r>
            <a:br>
              <a:rPr lang="en-US" dirty="0">
                <a:sym typeface="WP Greek Century" pitchFamily="2" charset="2"/>
              </a:rPr>
            </a:br>
            <a:endParaRPr lang="en-US" dirty="0">
              <a:sym typeface="WP Greek Century" pitchFamily="2" charset="2"/>
            </a:endParaRPr>
          </a:p>
          <a:p>
            <a:r>
              <a:rPr lang="en-US" dirty="0"/>
              <a:t>Grow symbiotically as nitrogen-fixing </a:t>
            </a:r>
            <a:r>
              <a:rPr lang="en-US" dirty="0" err="1"/>
              <a:t>bacteroids</a:t>
            </a:r>
            <a:r>
              <a:rPr lang="en-US" dirty="0"/>
              <a:t> within root nodule cells of legumes</a:t>
            </a:r>
          </a:p>
          <a:p>
            <a:pPr lvl="1"/>
            <a:r>
              <a:rPr lang="en-US" dirty="0"/>
              <a:t>most successful plant family on earth</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20</a:t>
            </a:fld>
            <a:endParaRPr lang="en-US"/>
          </a:p>
        </p:txBody>
      </p:sp>
      <p:pic>
        <p:nvPicPr>
          <p:cNvPr id="12290" name="Picture 2" descr="(a) Diagram of differentiated bacteria, called bacteroids, in the nodule of a legume root. (b) Photo of nodules on a legume root." title="Figure 22.11 Rhizobium."/>
          <p:cNvPicPr>
            <a:picLocks noChangeAspect="1" noChangeArrowheads="1"/>
          </p:cNvPicPr>
          <p:nvPr/>
        </p:nvPicPr>
        <p:blipFill>
          <a:blip r:embed="rId2" cstate="print"/>
          <a:srcRect/>
          <a:stretch>
            <a:fillRect/>
          </a:stretch>
        </p:blipFill>
        <p:spPr bwMode="auto">
          <a:xfrm>
            <a:off x="38705" y="1286933"/>
            <a:ext cx="4784128" cy="4284134"/>
          </a:xfrm>
          <a:prstGeom prst="rect">
            <a:avLst/>
          </a:prstGeom>
          <a:noFill/>
        </p:spPr>
      </p:pic>
    </p:spTree>
    <p:extLst>
      <p:ext uri="{BB962C8B-B14F-4D97-AF65-F5344CB8AC3E}">
        <p14:creationId xmlns:p14="http://schemas.microsoft.com/office/powerpoint/2010/main" val="2623123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Genus </a:t>
            </a:r>
            <a:r>
              <a:rPr lang="en-US" i="1" dirty="0"/>
              <a:t>Agrobacterium</a:t>
            </a:r>
            <a:endParaRPr lang="en-US" dirty="0"/>
          </a:p>
        </p:txBody>
      </p:sp>
      <p:sp>
        <p:nvSpPr>
          <p:cNvPr id="3" name="Content Placeholder 2"/>
          <p:cNvSpPr>
            <a:spLocks noGrp="1"/>
          </p:cNvSpPr>
          <p:nvPr>
            <p:ph sz="half" idx="1"/>
          </p:nvPr>
        </p:nvSpPr>
        <p:spPr>
          <a:xfrm>
            <a:off x="228600" y="1219200"/>
            <a:ext cx="4267200" cy="5410200"/>
          </a:xfrm>
        </p:spPr>
        <p:txBody>
          <a:bodyPr>
            <a:normAutofit fontScale="92500" lnSpcReduction="10000"/>
          </a:bodyPr>
          <a:lstStyle/>
          <a:p>
            <a:r>
              <a:rPr lang="en-US" dirty="0"/>
              <a:t>Do not stimulate nodule formation or fix nitrogen</a:t>
            </a:r>
            <a:br>
              <a:rPr lang="en-US" dirty="0"/>
            </a:br>
            <a:endParaRPr lang="en-US" dirty="0"/>
          </a:p>
          <a:p>
            <a:r>
              <a:rPr lang="en-US" dirty="0"/>
              <a:t>Invade crown, roots, and stems of many plants</a:t>
            </a:r>
          </a:p>
          <a:p>
            <a:pPr lvl="1"/>
            <a:r>
              <a:rPr lang="en-US" dirty="0"/>
              <a:t>transform infected plant cells into autonomously proliferating tumors</a:t>
            </a:r>
            <a:br>
              <a:rPr lang="en-US" dirty="0"/>
            </a:br>
            <a:endParaRPr lang="en-US" dirty="0"/>
          </a:p>
          <a:p>
            <a:r>
              <a:rPr lang="en-US" dirty="0"/>
              <a:t>e.g. </a:t>
            </a:r>
            <a:r>
              <a:rPr lang="en-US" i="1" dirty="0"/>
              <a:t>Agrobacterium </a:t>
            </a:r>
            <a:r>
              <a:rPr lang="en-US" i="1" dirty="0" err="1"/>
              <a:t>tumefaciens</a:t>
            </a:r>
            <a:endParaRPr lang="en-US" i="1" dirty="0"/>
          </a:p>
          <a:p>
            <a:pPr lvl="1"/>
            <a:r>
              <a:rPr lang="en-US" dirty="0"/>
              <a:t>causes crown gall disease by means of tumor-inducing (</a:t>
            </a:r>
            <a:r>
              <a:rPr lang="en-US" dirty="0" err="1"/>
              <a:t>Ti</a:t>
            </a:r>
            <a:r>
              <a:rPr lang="en-US" dirty="0"/>
              <a:t>) plasmid</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21</a:t>
            </a:fld>
            <a:endParaRPr lang="en-US"/>
          </a:p>
        </p:txBody>
      </p:sp>
      <p:pic>
        <p:nvPicPr>
          <p:cNvPr id="13314" name="Picture 2" descr="Photo of a crown gall tumor of a plant caused by Agrobacterium tumefaciens." title="Figure 22.12 Agrobacterium."/>
          <p:cNvPicPr>
            <a:picLocks noChangeAspect="1" noChangeArrowheads="1"/>
          </p:cNvPicPr>
          <p:nvPr/>
        </p:nvPicPr>
        <p:blipFill>
          <a:blip r:embed="rId2" cstate="print"/>
          <a:srcRect/>
          <a:stretch>
            <a:fillRect/>
          </a:stretch>
        </p:blipFill>
        <p:spPr bwMode="auto">
          <a:xfrm>
            <a:off x="5063067" y="990600"/>
            <a:ext cx="3646316" cy="5635710"/>
          </a:xfrm>
          <a:prstGeom prst="rect">
            <a:avLst/>
          </a:prstGeom>
          <a:noFill/>
        </p:spPr>
      </p:pic>
    </p:spTree>
    <p:extLst>
      <p:ext uri="{BB962C8B-B14F-4D97-AF65-F5344CB8AC3E}">
        <p14:creationId xmlns:p14="http://schemas.microsoft.com/office/powerpoint/2010/main" val="2623123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a:t>Brucella</a:t>
            </a:r>
            <a:endParaRPr lang="en-US" dirty="0"/>
          </a:p>
        </p:txBody>
      </p:sp>
      <p:sp>
        <p:nvSpPr>
          <p:cNvPr id="3" name="Content Placeholder 2"/>
          <p:cNvSpPr>
            <a:spLocks noGrp="1"/>
          </p:cNvSpPr>
          <p:nvPr>
            <p:ph idx="1"/>
          </p:nvPr>
        </p:nvSpPr>
        <p:spPr/>
        <p:txBody>
          <a:bodyPr/>
          <a:lstStyle/>
          <a:p>
            <a:r>
              <a:rPr lang="en-US" dirty="0"/>
              <a:t>Important human and animal pathogen</a:t>
            </a:r>
          </a:p>
          <a:p>
            <a:pPr lvl="1"/>
            <a:r>
              <a:rPr lang="en-US" dirty="0"/>
              <a:t>undulant fever – zoonosis</a:t>
            </a:r>
            <a:br>
              <a:rPr lang="en-US" dirty="0"/>
            </a:br>
            <a:endParaRPr lang="en-US" dirty="0"/>
          </a:p>
          <a:p>
            <a:r>
              <a:rPr lang="en-US" dirty="0"/>
              <a:t>Tiny, faintly staining coccobacilli</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22</a:t>
            </a:fld>
            <a:endParaRPr lang="en-US"/>
          </a:p>
        </p:txBody>
      </p:sp>
    </p:spTree>
    <p:extLst>
      <p:ext uri="{BB962C8B-B14F-4D97-AF65-F5344CB8AC3E}">
        <p14:creationId xmlns:p14="http://schemas.microsoft.com/office/powerpoint/2010/main" val="2623123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a:t>Genera </a:t>
            </a:r>
            <a:r>
              <a:rPr lang="en-US" i="1" dirty="0" err="1"/>
              <a:t>Methylocystis</a:t>
            </a:r>
            <a:r>
              <a:rPr lang="en-US" dirty="0"/>
              <a:t> and </a:t>
            </a:r>
            <a:r>
              <a:rPr lang="en-US" i="1" dirty="0" err="1"/>
              <a:t>Methylosinus</a:t>
            </a:r>
            <a:r>
              <a:rPr lang="en-US" i="1" dirty="0"/>
              <a:t> - </a:t>
            </a:r>
            <a:r>
              <a:rPr lang="en-US" dirty="0"/>
              <a:t>Metabolism</a:t>
            </a:r>
          </a:p>
        </p:txBody>
      </p:sp>
      <p:sp>
        <p:nvSpPr>
          <p:cNvPr id="3" name="Content Placeholder 2"/>
          <p:cNvSpPr>
            <a:spLocks noGrp="1"/>
          </p:cNvSpPr>
          <p:nvPr>
            <p:ph sz="half" idx="1"/>
          </p:nvPr>
        </p:nvSpPr>
        <p:spPr>
          <a:xfrm>
            <a:off x="152400" y="1219200"/>
            <a:ext cx="8839200" cy="2666999"/>
          </a:xfrm>
        </p:spPr>
        <p:txBody>
          <a:bodyPr>
            <a:normAutofit fontScale="77500" lnSpcReduction="20000"/>
          </a:bodyPr>
          <a:lstStyle/>
          <a:p>
            <a:r>
              <a:rPr lang="en-US" dirty="0"/>
              <a:t>Growth supported by assimilation of C1 compounds (methanol, methylamine)</a:t>
            </a:r>
          </a:p>
          <a:p>
            <a:pPr lvl="1"/>
            <a:r>
              <a:rPr lang="en-US" dirty="0"/>
              <a:t>used as both carbon AND energy source</a:t>
            </a:r>
          </a:p>
          <a:p>
            <a:pPr lvl="2"/>
            <a:r>
              <a:rPr lang="en-US" dirty="0"/>
              <a:t>first step is oxidation to formaldehyde</a:t>
            </a:r>
          </a:p>
          <a:p>
            <a:pPr lvl="2"/>
            <a:r>
              <a:rPr lang="en-US" dirty="0"/>
              <a:t>second step is either incorporation (biomass) or further oxidation (energy)</a:t>
            </a:r>
            <a:br>
              <a:rPr lang="en-US" dirty="0"/>
            </a:br>
            <a:endParaRPr lang="en-US" dirty="0"/>
          </a:p>
          <a:p>
            <a:r>
              <a:rPr lang="en-US" dirty="0"/>
              <a:t>Possess extensive intracellular membranes</a:t>
            </a:r>
            <a:br>
              <a:rPr lang="en-US" dirty="0"/>
            </a:br>
            <a:endParaRPr lang="en-US" dirty="0"/>
          </a:p>
          <a:p>
            <a:r>
              <a:rPr lang="en-US" dirty="0"/>
              <a:t>Often form a resting cell called exospore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23</a:t>
            </a:fld>
            <a:endParaRPr lang="en-US"/>
          </a:p>
        </p:txBody>
      </p:sp>
      <p:pic>
        <p:nvPicPr>
          <p:cNvPr id="14338" name="Picture 2" descr="Methane or another reduced single-carbon compound (i.e., not CO2) is converted to the toxic intermediate formaldehyde. This is tolerated only because it is rapidly incorporated into larger molecules to increase biomass or it is quickly oxidized to generate a proton motive force. The conversion of formaldehyde must occur faster than it can accumulate in the cell." title="Figure 22.13 Methanotrophy and Methylotrophy."/>
          <p:cNvPicPr>
            <a:picLocks noChangeAspect="1" noChangeArrowheads="1"/>
          </p:cNvPicPr>
          <p:nvPr/>
        </p:nvPicPr>
        <p:blipFill>
          <a:blip r:embed="rId2" cstate="print"/>
          <a:srcRect/>
          <a:stretch>
            <a:fillRect/>
          </a:stretch>
        </p:blipFill>
        <p:spPr bwMode="auto">
          <a:xfrm>
            <a:off x="2793206" y="3699039"/>
            <a:ext cx="3557588" cy="2902060"/>
          </a:xfrm>
          <a:prstGeom prst="rect">
            <a:avLst/>
          </a:prstGeom>
          <a:noFill/>
        </p:spPr>
      </p:pic>
      <p:sp>
        <p:nvSpPr>
          <p:cNvPr id="5" name="TextBox 4"/>
          <p:cNvSpPr txBox="1"/>
          <p:nvPr/>
        </p:nvSpPr>
        <p:spPr>
          <a:xfrm>
            <a:off x="6350794" y="5410200"/>
            <a:ext cx="1676400" cy="646331"/>
          </a:xfrm>
          <a:prstGeom prst="rect">
            <a:avLst/>
          </a:prstGeom>
          <a:noFill/>
        </p:spPr>
        <p:txBody>
          <a:bodyPr wrap="square" rtlCol="0">
            <a:spAutoFit/>
          </a:bodyPr>
          <a:lstStyle/>
          <a:p>
            <a:r>
              <a:rPr lang="en-US" dirty="0"/>
              <a:t>Energy; proton motive force</a:t>
            </a:r>
          </a:p>
        </p:txBody>
      </p:sp>
    </p:spTree>
    <p:extLst>
      <p:ext uri="{BB962C8B-B14F-4D97-AF65-F5344CB8AC3E}">
        <p14:creationId xmlns:p14="http://schemas.microsoft.com/office/powerpoint/2010/main" val="2623123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Genera </a:t>
            </a:r>
            <a:r>
              <a:rPr lang="en-US" i="1" dirty="0" err="1"/>
              <a:t>Methylocystis</a:t>
            </a:r>
            <a:r>
              <a:rPr lang="en-US" dirty="0"/>
              <a:t> and </a:t>
            </a:r>
            <a:r>
              <a:rPr lang="en-US" i="1" dirty="0" err="1"/>
              <a:t>Methylosinus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152400" y="1600200"/>
                <a:ext cx="3962400" cy="5029200"/>
              </a:xfrm>
            </p:spPr>
            <p:txBody>
              <a:bodyPr>
                <a:normAutofit/>
              </a:bodyPr>
              <a:lstStyle/>
              <a:p>
                <a:r>
                  <a:rPr lang="en-US" dirty="0"/>
                  <a:t>Formaldehyde is poisonous!</a:t>
                </a:r>
              </a:p>
              <a:p>
                <a:pPr lvl="1"/>
                <a:r>
                  <a:rPr lang="en-US" dirty="0" err="1"/>
                  <a:t>methylotrophs</a:t>
                </a:r>
                <a:r>
                  <a:rPr lang="en-US" dirty="0"/>
                  <a:t> avoid the toxicity by quickly</a:t>
                </a:r>
              </a:p>
              <a:p>
                <a:pPr lvl="2"/>
                <a:r>
                  <a:rPr lang="en-US" dirty="0"/>
                  <a:t>oxidizing it to CO2</a:t>
                </a:r>
              </a:p>
              <a:p>
                <a:pPr lvl="2"/>
                <a:r>
                  <a:rPr lang="en-US" dirty="0"/>
                  <a:t>assimilating it into acetyl groups for biosynthesis</a:t>
                </a:r>
              </a:p>
              <a:p>
                <a:pPr lvl="3"/>
                <a14:m>
                  <m:oMath xmlns:m="http://schemas.openxmlformats.org/officeDocument/2006/math">
                    <m:r>
                      <m:rPr>
                        <m:sty m:val="p"/>
                      </m:rPr>
                      <a:rPr lang="el-GR" i="1" dirty="0">
                        <a:latin typeface="Cambria Math"/>
                      </a:rPr>
                      <m:t>α</m:t>
                    </m:r>
                  </m:oMath>
                </a14:m>
                <a:r>
                  <a:rPr lang="en-US" dirty="0"/>
                  <a:t>-</a:t>
                </a:r>
                <a:r>
                  <a:rPr lang="en-US" dirty="0" err="1"/>
                  <a:t>proteobacteria</a:t>
                </a:r>
                <a:r>
                  <a:rPr lang="en-US" dirty="0"/>
                  <a:t> use the serine pathway</a:t>
                </a:r>
              </a:p>
              <a:p>
                <a:pPr lvl="3"/>
                <a:r>
                  <a:rPr lang="el-GR" dirty="0"/>
                  <a:t>γ</a:t>
                </a:r>
                <a:r>
                  <a:rPr lang="en-US" dirty="0"/>
                  <a:t>-</a:t>
                </a:r>
                <a:r>
                  <a:rPr lang="en-US" dirty="0" err="1"/>
                  <a:t>proteobacteria</a:t>
                </a:r>
                <a:r>
                  <a:rPr lang="en-US" dirty="0"/>
                  <a:t> use the </a:t>
                </a:r>
                <a:r>
                  <a:rPr lang="en-US" dirty="0" err="1"/>
                  <a:t>ribulose</a:t>
                </a:r>
                <a:r>
                  <a:rPr lang="en-US" dirty="0"/>
                  <a:t> monophosphate pathway instead</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152400" y="1600200"/>
                <a:ext cx="3962400" cy="5029200"/>
              </a:xfrm>
              <a:blipFill rotWithShape="1">
                <a:blip r:embed="rId2" cstate="print"/>
                <a:stretch>
                  <a:fillRect l="-2615" t="-1212" r="-92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3B1A82D2-719A-4A87-BECB-D74482819C19}" type="slidenum">
              <a:rPr lang="en-US" smtClean="0"/>
              <a:pPr/>
              <a:t>24</a:t>
            </a:fld>
            <a:endParaRPr lang="en-US"/>
          </a:p>
        </p:txBody>
      </p:sp>
      <p:pic>
        <p:nvPicPr>
          <p:cNvPr id="15362" name="Picture 2" descr="The net yield of this pathway is an acetyl-CoA molecule that can be used in central metabolism. In this pathway, two ATP are hydrolyzed and two NADH are oxidized." title="Figure 22.14 The Serine Pathway Is Used by α-Proteobacterial Methylotrophs to Assimilate C1 Compounds."/>
          <p:cNvPicPr>
            <a:picLocks noChangeAspect="1" noChangeArrowheads="1"/>
          </p:cNvPicPr>
          <p:nvPr/>
        </p:nvPicPr>
        <p:blipFill>
          <a:blip r:embed="rId3" cstate="print"/>
          <a:srcRect/>
          <a:stretch>
            <a:fillRect/>
          </a:stretch>
        </p:blipFill>
        <p:spPr bwMode="auto">
          <a:xfrm>
            <a:off x="4682067" y="1371600"/>
            <a:ext cx="3921654" cy="5121868"/>
          </a:xfrm>
          <a:prstGeom prst="rect">
            <a:avLst/>
          </a:prstGeom>
          <a:noFill/>
        </p:spPr>
      </p:pic>
    </p:spTree>
    <p:extLst>
      <p:ext uri="{BB962C8B-B14F-4D97-AF65-F5344CB8AC3E}">
        <p14:creationId xmlns:p14="http://schemas.microsoft.com/office/powerpoint/2010/main" val="26231234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dirty="0"/>
              <a:t>Nitrifying Bacteria</a:t>
            </a:r>
          </a:p>
        </p:txBody>
      </p:sp>
      <p:sp>
        <p:nvSpPr>
          <p:cNvPr id="3" name="Content Placeholder 2"/>
          <p:cNvSpPr>
            <a:spLocks noGrp="1"/>
          </p:cNvSpPr>
          <p:nvPr>
            <p:ph sz="half" idx="1"/>
          </p:nvPr>
        </p:nvSpPr>
        <p:spPr>
          <a:xfrm>
            <a:off x="152400" y="1066801"/>
            <a:ext cx="8839200" cy="1752600"/>
          </a:xfrm>
        </p:spPr>
        <p:txBody>
          <a:bodyPr/>
          <a:lstStyle/>
          <a:p>
            <a:r>
              <a:rPr lang="en-US" dirty="0"/>
              <a:t>Very diverse </a:t>
            </a:r>
            <a:r>
              <a:rPr lang="en-US" dirty="0" err="1"/>
              <a:t>chemolithoautotrophs</a:t>
            </a:r>
            <a:endParaRPr lang="en-US" dirty="0"/>
          </a:p>
          <a:p>
            <a:pPr lvl="1"/>
            <a:r>
              <a:rPr lang="en-US" dirty="0"/>
              <a:t>nitrification – gain electrons from oxidation of </a:t>
            </a:r>
          </a:p>
          <a:p>
            <a:pPr lvl="2"/>
            <a:r>
              <a:rPr lang="en-US" dirty="0"/>
              <a:t>ammonium to nitrate or nitrite</a:t>
            </a:r>
          </a:p>
          <a:p>
            <a:pPr lvl="2"/>
            <a:r>
              <a:rPr lang="en-US" dirty="0"/>
              <a:t>nitrite further oxidized to nitrate </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25</a:t>
            </a:fld>
            <a:endParaRPr lang="en-US"/>
          </a:p>
        </p:txBody>
      </p:sp>
      <p:pic>
        <p:nvPicPr>
          <p:cNvPr id="16386" name="Picture 2" descr="Photos of ammonia oxidizing bacteria and archaea and nitrite oxidizing bacteria.&#10;The process of nitrification involves three different groups of microorganisms. Ammonia-oxidizing bacteria (e.g., Nitrosomonas europaea) and archaea (Nitrosopumilus maritimus) use the enzyme ammonia monooxygenase to convert ammonia to the intermediate hydroxylamine. Hydroxylamine oxidoreductase then catalyzes the production of nitrite, which is released into the environment. Nitrite-oxidizing bacteria such as Nitrobacter sp. use nitrite oxidoreductase to catalyze the oxidation of nitrite to nitrate." title="Figure 22.15 Nitrification."/>
          <p:cNvPicPr>
            <a:picLocks noChangeAspect="1" noChangeArrowheads="1"/>
          </p:cNvPicPr>
          <p:nvPr/>
        </p:nvPicPr>
        <p:blipFill>
          <a:blip r:embed="rId2" cstate="print"/>
          <a:srcRect/>
          <a:stretch>
            <a:fillRect/>
          </a:stretch>
        </p:blipFill>
        <p:spPr bwMode="auto">
          <a:xfrm>
            <a:off x="2133600" y="2771482"/>
            <a:ext cx="4876802" cy="3705518"/>
          </a:xfrm>
          <a:prstGeom prst="rect">
            <a:avLst/>
          </a:prstGeom>
          <a:noFill/>
        </p:spPr>
      </p:pic>
    </p:spTree>
    <p:extLst>
      <p:ext uri="{BB962C8B-B14F-4D97-AF65-F5344CB8AC3E}">
        <p14:creationId xmlns:p14="http://schemas.microsoft.com/office/powerpoint/2010/main" val="26231234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Nitrification</a:t>
            </a:r>
          </a:p>
        </p:txBody>
      </p:sp>
      <p:sp>
        <p:nvSpPr>
          <p:cNvPr id="3" name="Content Placeholder 2"/>
          <p:cNvSpPr>
            <a:spLocks noGrp="1"/>
          </p:cNvSpPr>
          <p:nvPr>
            <p:ph idx="1"/>
          </p:nvPr>
        </p:nvSpPr>
        <p:spPr>
          <a:xfrm>
            <a:off x="457200" y="1600200"/>
            <a:ext cx="8229600" cy="5029200"/>
          </a:xfrm>
        </p:spPr>
        <p:txBody>
          <a:bodyPr/>
          <a:lstStyle/>
          <a:p>
            <a:r>
              <a:rPr lang="en-US" dirty="0"/>
              <a:t>Ammonia </a:t>
            </a:r>
            <a:r>
              <a:rPr lang="en-US" dirty="0">
                <a:sym typeface="Wingdings" pitchFamily="2" charset="2"/>
              </a:rPr>
              <a:t> nitrite  nitrate</a:t>
            </a:r>
            <a:br>
              <a:rPr lang="en-US" dirty="0">
                <a:sym typeface="Wingdings" pitchFamily="2" charset="2"/>
              </a:rPr>
            </a:br>
            <a:endParaRPr lang="en-US" dirty="0"/>
          </a:p>
          <a:p>
            <a:r>
              <a:rPr lang="en-US" dirty="0"/>
              <a:t>Conversion of ammonia to nitrate by action of two genera</a:t>
            </a:r>
          </a:p>
          <a:p>
            <a:pPr lvl="1"/>
            <a:r>
              <a:rPr lang="en-US" dirty="0"/>
              <a:t>e.g. </a:t>
            </a:r>
            <a:r>
              <a:rPr lang="en-US" i="1" dirty="0" err="1"/>
              <a:t>Nitrosomonas</a:t>
            </a:r>
            <a:r>
              <a:rPr lang="en-US" dirty="0"/>
              <a:t> – ammonia to nitrite</a:t>
            </a:r>
          </a:p>
          <a:p>
            <a:pPr lvl="1"/>
            <a:r>
              <a:rPr lang="en-US" dirty="0"/>
              <a:t>e.g. </a:t>
            </a:r>
            <a:r>
              <a:rPr lang="en-US" i="1" dirty="0" err="1"/>
              <a:t>Nitrobacter</a:t>
            </a:r>
            <a:r>
              <a:rPr lang="en-US" dirty="0"/>
              <a:t> – nitrite to nitrate</a:t>
            </a:r>
            <a:br>
              <a:rPr lang="en-US" dirty="0"/>
            </a:br>
            <a:endParaRPr lang="en-US" dirty="0"/>
          </a:p>
          <a:p>
            <a:r>
              <a:rPr lang="en-US" dirty="0"/>
              <a:t>Fate of nitrate</a:t>
            </a:r>
          </a:p>
          <a:p>
            <a:pPr lvl="1"/>
            <a:r>
              <a:rPr lang="en-US" dirty="0"/>
              <a:t>easily used by plants</a:t>
            </a:r>
          </a:p>
          <a:p>
            <a:pPr lvl="1"/>
            <a:r>
              <a:rPr lang="en-US" dirty="0"/>
              <a:t>lost from soil through leaching or denitrification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26</a:t>
            </a:fld>
            <a:endParaRPr lang="en-US"/>
          </a:p>
        </p:txBody>
      </p:sp>
    </p:spTree>
    <p:extLst>
      <p:ext uri="{BB962C8B-B14F-4D97-AF65-F5344CB8AC3E}">
        <p14:creationId xmlns:p14="http://schemas.microsoft.com/office/powerpoint/2010/main" val="2623123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Taxa of Nitrifying Bacteria</a:t>
            </a:r>
          </a:p>
        </p:txBody>
      </p:sp>
      <p:sp>
        <p:nvSpPr>
          <p:cNvPr id="3" name="Content Placeholder 2"/>
          <p:cNvSpPr>
            <a:spLocks noGrp="1"/>
          </p:cNvSpPr>
          <p:nvPr>
            <p:ph idx="1"/>
          </p:nvPr>
        </p:nvSpPr>
        <p:spPr/>
        <p:txBody>
          <a:bodyPr/>
          <a:lstStyle/>
          <a:p>
            <a:pPr>
              <a:spcBef>
                <a:spcPts val="600"/>
              </a:spcBef>
            </a:pPr>
            <a:r>
              <a:rPr lang="en-US" dirty="0"/>
              <a:t>Divided into several taxa</a:t>
            </a:r>
          </a:p>
          <a:p>
            <a:pPr lvl="1">
              <a:spcBef>
                <a:spcPts val="600"/>
              </a:spcBef>
            </a:pPr>
            <a:r>
              <a:rPr lang="en-US" dirty="0"/>
              <a:t>class </a:t>
            </a:r>
            <a:r>
              <a:rPr lang="en-US" i="1" dirty="0" err="1"/>
              <a:t>Alphaproteobacteria</a:t>
            </a:r>
            <a:r>
              <a:rPr lang="en-US" i="1" dirty="0"/>
              <a:t> </a:t>
            </a:r>
          </a:p>
          <a:p>
            <a:pPr lvl="2">
              <a:spcBef>
                <a:spcPts val="600"/>
              </a:spcBef>
            </a:pPr>
            <a:r>
              <a:rPr lang="en-US" dirty="0"/>
              <a:t>e.g.</a:t>
            </a:r>
            <a:r>
              <a:rPr lang="en-US" i="1" dirty="0"/>
              <a:t> </a:t>
            </a:r>
            <a:r>
              <a:rPr lang="en-US" dirty="0"/>
              <a:t>genus </a:t>
            </a:r>
            <a:r>
              <a:rPr lang="en-US" i="1" dirty="0" err="1"/>
              <a:t>Nitrobacter</a:t>
            </a:r>
            <a:endParaRPr lang="en-US" i="1" dirty="0"/>
          </a:p>
          <a:p>
            <a:pPr lvl="1">
              <a:spcBef>
                <a:spcPts val="600"/>
              </a:spcBef>
            </a:pPr>
            <a:r>
              <a:rPr lang="en-US" dirty="0"/>
              <a:t>class </a:t>
            </a:r>
            <a:r>
              <a:rPr lang="en-US" i="1" dirty="0" err="1"/>
              <a:t>Betaproteobacteria</a:t>
            </a:r>
            <a:r>
              <a:rPr lang="en-US" i="1" dirty="0"/>
              <a:t> </a:t>
            </a:r>
          </a:p>
          <a:p>
            <a:pPr lvl="2">
              <a:spcBef>
                <a:spcPts val="600"/>
              </a:spcBef>
            </a:pPr>
            <a:r>
              <a:rPr lang="en-US" dirty="0"/>
              <a:t>e.g.</a:t>
            </a:r>
            <a:r>
              <a:rPr lang="en-US" i="1" dirty="0"/>
              <a:t> </a:t>
            </a:r>
            <a:r>
              <a:rPr lang="en-US" dirty="0"/>
              <a:t>genera </a:t>
            </a:r>
            <a:r>
              <a:rPr lang="en-US" i="1" dirty="0" err="1"/>
              <a:t>Nitrosomonas</a:t>
            </a:r>
            <a:r>
              <a:rPr lang="en-US" dirty="0"/>
              <a:t> and </a:t>
            </a:r>
            <a:r>
              <a:rPr lang="en-US" i="1" dirty="0" err="1"/>
              <a:t>Nitrosospira</a:t>
            </a:r>
            <a:endParaRPr lang="en-US" i="1" dirty="0"/>
          </a:p>
          <a:p>
            <a:pPr lvl="1">
              <a:spcBef>
                <a:spcPts val="600"/>
              </a:spcBef>
            </a:pPr>
            <a:r>
              <a:rPr lang="en-US" dirty="0"/>
              <a:t>class </a:t>
            </a:r>
            <a:r>
              <a:rPr lang="en-US" i="1" dirty="0" err="1"/>
              <a:t>Gammaproteobacteria</a:t>
            </a:r>
            <a:endParaRPr lang="en-US" dirty="0"/>
          </a:p>
          <a:p>
            <a:pPr lvl="2">
              <a:spcBef>
                <a:spcPts val="600"/>
              </a:spcBef>
            </a:pPr>
            <a:r>
              <a:rPr lang="en-US" dirty="0"/>
              <a:t>family </a:t>
            </a:r>
            <a:r>
              <a:rPr lang="en-US" i="1" dirty="0" err="1"/>
              <a:t>Ectothiorhodospiraceae</a:t>
            </a:r>
            <a:r>
              <a:rPr lang="en-US" dirty="0"/>
              <a:t> </a:t>
            </a:r>
          </a:p>
          <a:p>
            <a:pPr lvl="3">
              <a:spcBef>
                <a:spcPts val="600"/>
              </a:spcBef>
            </a:pPr>
            <a:r>
              <a:rPr lang="en-US" dirty="0"/>
              <a:t>e.g. genus </a:t>
            </a:r>
            <a:r>
              <a:rPr lang="en-US" i="1" dirty="0" err="1"/>
              <a:t>Nitrococcus</a:t>
            </a:r>
            <a:endParaRPr lang="en-US" i="1" dirty="0"/>
          </a:p>
          <a:p>
            <a:pPr lvl="2">
              <a:spcBef>
                <a:spcPts val="600"/>
              </a:spcBef>
            </a:pPr>
            <a:r>
              <a:rPr lang="en-US" dirty="0"/>
              <a:t>family </a:t>
            </a:r>
            <a:r>
              <a:rPr lang="en-US" i="1" dirty="0" err="1"/>
              <a:t>Chromatiaceae</a:t>
            </a:r>
            <a:r>
              <a:rPr lang="en-US" dirty="0"/>
              <a:t> </a:t>
            </a:r>
          </a:p>
          <a:p>
            <a:pPr lvl="3">
              <a:spcBef>
                <a:spcPts val="600"/>
              </a:spcBef>
            </a:pPr>
            <a:r>
              <a:rPr lang="en-US" dirty="0"/>
              <a:t>e.g. genus </a:t>
            </a:r>
            <a:r>
              <a:rPr lang="en-US" i="1" dirty="0" err="1"/>
              <a:t>Nitrosococcus</a:t>
            </a:r>
            <a:endParaRPr lang="en-US" i="1" dirty="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27</a:t>
            </a:fld>
            <a:endParaRPr lang="en-US"/>
          </a:p>
        </p:txBody>
      </p:sp>
    </p:spTree>
    <p:extLst>
      <p:ext uri="{BB962C8B-B14F-4D97-AF65-F5344CB8AC3E}">
        <p14:creationId xmlns:p14="http://schemas.microsoft.com/office/powerpoint/2010/main" val="26231234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Nitrifying Bacteria</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28</a:t>
            </a:fld>
            <a:endParaRPr lang="en-US"/>
          </a:p>
        </p:txBody>
      </p:sp>
      <p:pic>
        <p:nvPicPr>
          <p:cNvPr id="17410" name="Picture 2" descr="Header Row: Species; Cell Morphology and Size (μm); Reproduction; Motility; Cytomembranes; Habitat&#10;Ammonia-Oxidizing Bacteria&#10;Nitrosomonas europaea (β-proteobacteria); Rod, 0.8–1.1 × 1.0–1.7; Binary fission; −; Peripheral, lamellar; Soil, sewage, freshwater, marine&#10;Nitrosococcus oceani (γ-proteobacteria); Coccoid, 1.8–2.2 in diameter; Binary fission; +, 1 or more subpolar flagella; Centrally located parallel bundle, lamellar; Obligately marine&#10;Nitrosospira briensis (β-proteobacteria); Spiral, 0.3–0.4 in diameter; Binary fission; + or −, 1 to 6 peritrichous flagella; Rare; Soil&#10;Nitrite-Oxidizing Bacteria&#10;Nitrobacter winogradskyi (α-proteobacteria); Rod, often pear-shaped, 0.5–0.9 × 1.0–2.0; Budding; + or −, 1 polar flagellum; Polar cap of flattened vesicles in peripheral region of the cell; Soil, freshwater, marine&#10;Nitrococcus mobilis (γ-proteobacteria); Coccoid; 1.5–1.8 in diameter; Binary fission; +, 1 or 2 subpolar flagella; Tubular cytomembranes randomly arranged in cytoplasm; Marine" title="Table 22.2 Selected Characteristics of Representative Nitrifying Bacteria"/>
          <p:cNvPicPr>
            <a:picLocks noChangeAspect="1" noChangeArrowheads="1"/>
          </p:cNvPicPr>
          <p:nvPr/>
        </p:nvPicPr>
        <p:blipFill>
          <a:blip r:embed="rId2" cstate="print"/>
          <a:srcRect/>
          <a:stretch>
            <a:fillRect/>
          </a:stretch>
        </p:blipFill>
        <p:spPr bwMode="auto">
          <a:xfrm>
            <a:off x="681058" y="1464733"/>
            <a:ext cx="7781884" cy="4995334"/>
          </a:xfrm>
          <a:prstGeom prst="rect">
            <a:avLst/>
          </a:prstGeom>
          <a:noFill/>
        </p:spPr>
      </p:pic>
    </p:spTree>
    <p:extLst>
      <p:ext uri="{BB962C8B-B14F-4D97-AF65-F5344CB8AC3E}">
        <p14:creationId xmlns:p14="http://schemas.microsoft.com/office/powerpoint/2010/main" val="3366566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i="1" dirty="0" err="1"/>
              <a:t>Magnetococcus</a:t>
            </a:r>
            <a:r>
              <a:rPr lang="en-US" dirty="0"/>
              <a:t>: A Newly Discovered Genus</a:t>
            </a:r>
          </a:p>
        </p:txBody>
      </p:sp>
      <p:sp>
        <p:nvSpPr>
          <p:cNvPr id="3" name="Content Placeholder 2"/>
          <p:cNvSpPr>
            <a:spLocks noGrp="1"/>
          </p:cNvSpPr>
          <p:nvPr>
            <p:ph sz="half" idx="1"/>
          </p:nvPr>
        </p:nvSpPr>
        <p:spPr>
          <a:xfrm>
            <a:off x="152400" y="1371600"/>
            <a:ext cx="4343400" cy="5334000"/>
          </a:xfrm>
        </p:spPr>
        <p:txBody>
          <a:bodyPr>
            <a:normAutofit fontScale="85000" lnSpcReduction="10000"/>
          </a:bodyPr>
          <a:lstStyle/>
          <a:p>
            <a:pPr>
              <a:lnSpc>
                <a:spcPct val="110000"/>
              </a:lnSpc>
              <a:spcBef>
                <a:spcPts val="600"/>
              </a:spcBef>
            </a:pPr>
            <a:r>
              <a:rPr lang="en-US" i="1" dirty="0"/>
              <a:t>M. </a:t>
            </a:r>
            <a:r>
              <a:rPr lang="en-US" i="1" dirty="0" err="1"/>
              <a:t>marinus</a:t>
            </a:r>
            <a:endParaRPr lang="en-US" i="1" dirty="0"/>
          </a:p>
          <a:p>
            <a:pPr lvl="1">
              <a:lnSpc>
                <a:spcPct val="110000"/>
              </a:lnSpc>
              <a:spcBef>
                <a:spcPts val="600"/>
              </a:spcBef>
            </a:pPr>
            <a:r>
              <a:rPr lang="en-US" dirty="0"/>
              <a:t>only spherical </a:t>
            </a:r>
            <a:r>
              <a:rPr lang="en-US" dirty="0" err="1"/>
              <a:t>magnetotactic</a:t>
            </a:r>
            <a:r>
              <a:rPr lang="en-US" dirty="0"/>
              <a:t> bacterium in pure culture</a:t>
            </a:r>
          </a:p>
          <a:p>
            <a:pPr lvl="1">
              <a:lnSpc>
                <a:spcPct val="110000"/>
              </a:lnSpc>
              <a:spcBef>
                <a:spcPts val="600"/>
              </a:spcBef>
            </a:pPr>
            <a:r>
              <a:rPr lang="en-US" dirty="0"/>
              <a:t>two sheathed bundles of flagella at one pole (</a:t>
            </a:r>
            <a:r>
              <a:rPr lang="en-US" dirty="0" err="1"/>
              <a:t>bilophotrichous</a:t>
            </a:r>
            <a:r>
              <a:rPr lang="en-US" dirty="0"/>
              <a:t>)</a:t>
            </a:r>
          </a:p>
          <a:p>
            <a:pPr lvl="1">
              <a:lnSpc>
                <a:spcPct val="110000"/>
              </a:lnSpc>
              <a:spcBef>
                <a:spcPts val="600"/>
              </a:spcBef>
            </a:pPr>
            <a:r>
              <a:rPr lang="en-US" dirty="0" err="1"/>
              <a:t>magnetotaxis</a:t>
            </a:r>
            <a:r>
              <a:rPr lang="en-US" dirty="0"/>
              <a:t> mediated by single row of magnetite crystals arranged in cytoplasm</a:t>
            </a:r>
          </a:p>
          <a:p>
            <a:pPr lvl="1">
              <a:lnSpc>
                <a:spcPct val="110000"/>
              </a:lnSpc>
              <a:spcBef>
                <a:spcPts val="600"/>
              </a:spcBef>
            </a:pPr>
            <a:r>
              <a:rPr lang="en-US" dirty="0"/>
              <a:t>isolated from </a:t>
            </a:r>
            <a:r>
              <a:rPr lang="en-US" dirty="0" err="1"/>
              <a:t>oxic</a:t>
            </a:r>
            <a:r>
              <a:rPr lang="en-US" dirty="0"/>
              <a:t>/anoxic interface of estuary</a:t>
            </a:r>
          </a:p>
          <a:p>
            <a:pPr lvl="1">
              <a:lnSpc>
                <a:spcPct val="110000"/>
              </a:lnSpc>
              <a:spcBef>
                <a:spcPts val="600"/>
              </a:spcBef>
            </a:pPr>
            <a:r>
              <a:rPr lang="en-US" dirty="0" err="1"/>
              <a:t>obligately</a:t>
            </a:r>
            <a:r>
              <a:rPr lang="en-US" dirty="0"/>
              <a:t> microaerophilic</a:t>
            </a:r>
          </a:p>
          <a:p>
            <a:pPr lvl="1">
              <a:lnSpc>
                <a:spcPct val="110000"/>
              </a:lnSpc>
              <a:spcBef>
                <a:spcPts val="600"/>
              </a:spcBef>
            </a:pPr>
            <a:r>
              <a:rPr lang="en-US" dirty="0"/>
              <a:t>can grow </a:t>
            </a:r>
            <a:r>
              <a:rPr lang="en-US" dirty="0" err="1"/>
              <a:t>chemoorganoheterotrophically</a:t>
            </a:r>
            <a:r>
              <a:rPr lang="en-US" dirty="0"/>
              <a:t> or </a:t>
            </a:r>
            <a:r>
              <a:rPr lang="en-US" dirty="0" err="1"/>
              <a:t>chemolithoautotrophically</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29</a:t>
            </a:fld>
            <a:endParaRPr lang="en-US"/>
          </a:p>
        </p:txBody>
      </p:sp>
      <p:pic>
        <p:nvPicPr>
          <p:cNvPr id="18434" name="Picture 2" descr="Photo of Magnetococcus marinus.  Cells are roughly spherical with a single chain of magnetite crystals and two bundles of polar flagella (not shown) that mediate magnetotaxis through marine sediments.  Average cell size is 1-2 μm." title="Figure 22.16 Magnetococcus marinus."/>
          <p:cNvPicPr>
            <a:picLocks noChangeAspect="1" noChangeArrowheads="1"/>
          </p:cNvPicPr>
          <p:nvPr/>
        </p:nvPicPr>
        <p:blipFill>
          <a:blip r:embed="rId2" cstate="print"/>
          <a:srcRect/>
          <a:stretch>
            <a:fillRect/>
          </a:stretch>
        </p:blipFill>
        <p:spPr bwMode="auto">
          <a:xfrm>
            <a:off x="4513263" y="1524000"/>
            <a:ext cx="4370387" cy="4654550"/>
          </a:xfrm>
          <a:prstGeom prst="rect">
            <a:avLst/>
          </a:prstGeom>
          <a:noFill/>
        </p:spPr>
      </p:pic>
    </p:spTree>
    <p:extLst>
      <p:ext uri="{BB962C8B-B14F-4D97-AF65-F5344CB8AC3E}">
        <p14:creationId xmlns:p14="http://schemas.microsoft.com/office/powerpoint/2010/main" val="4261167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0" y="76200"/>
            <a:ext cx="4495800" cy="1143000"/>
          </a:xfrm>
        </p:spPr>
        <p:txBody>
          <a:bodyPr/>
          <a:lstStyle/>
          <a:p>
            <a:r>
              <a:rPr lang="en-US" dirty="0"/>
              <a:t>SAR11 Clade</a:t>
            </a:r>
          </a:p>
        </p:txBody>
      </p:sp>
      <p:sp>
        <p:nvSpPr>
          <p:cNvPr id="5" name="Content Placeholder 4"/>
          <p:cNvSpPr>
            <a:spLocks noGrp="1"/>
          </p:cNvSpPr>
          <p:nvPr>
            <p:ph sz="half" idx="2"/>
          </p:nvPr>
        </p:nvSpPr>
        <p:spPr>
          <a:xfrm>
            <a:off x="4648200" y="1143000"/>
            <a:ext cx="4419600" cy="5486400"/>
          </a:xfrm>
        </p:spPr>
        <p:txBody>
          <a:bodyPr>
            <a:normAutofit fontScale="92500" lnSpcReduction="10000"/>
          </a:bodyPr>
          <a:lstStyle/>
          <a:p>
            <a:pPr>
              <a:spcBef>
                <a:spcPts val="600"/>
              </a:spcBef>
            </a:pPr>
            <a:r>
              <a:rPr lang="en-US" dirty="0"/>
              <a:t>Sargasso Sea clade is the most abundant group of microbes on Earth</a:t>
            </a:r>
          </a:p>
          <a:p>
            <a:pPr lvl="1">
              <a:spcBef>
                <a:spcPts val="600"/>
              </a:spcBef>
            </a:pPr>
            <a:r>
              <a:rPr lang="en-US" dirty="0"/>
              <a:t>All members are </a:t>
            </a:r>
            <a:r>
              <a:rPr lang="en-US" dirty="0" err="1"/>
              <a:t>chemoorganoheterotrophs</a:t>
            </a:r>
            <a:endParaRPr lang="en-US" dirty="0"/>
          </a:p>
          <a:p>
            <a:pPr lvl="1">
              <a:spcBef>
                <a:spcPts val="600"/>
              </a:spcBef>
            </a:pPr>
            <a:r>
              <a:rPr lang="en-US" dirty="0"/>
              <a:t>Appear to reverse </a:t>
            </a:r>
            <a:r>
              <a:rPr lang="en-US" dirty="0" err="1"/>
              <a:t>Embden-Myerhof</a:t>
            </a:r>
            <a:r>
              <a:rPr lang="en-US" dirty="0"/>
              <a:t> pathway for gluconeogenesis; modified </a:t>
            </a:r>
            <a:r>
              <a:rPr lang="en-US" dirty="0" err="1"/>
              <a:t>Entner-Duodoroff</a:t>
            </a:r>
            <a:r>
              <a:rPr lang="en-US" dirty="0"/>
              <a:t> pathway for glucose oxidation</a:t>
            </a:r>
          </a:p>
          <a:p>
            <a:pPr lvl="1">
              <a:spcBef>
                <a:spcPts val="600"/>
              </a:spcBef>
            </a:pPr>
            <a:r>
              <a:rPr lang="en-US" i="1" dirty="0" err="1"/>
              <a:t>Candidatatus</a:t>
            </a:r>
            <a:r>
              <a:rPr lang="en-US" dirty="0"/>
              <a:t> </a:t>
            </a:r>
            <a:r>
              <a:rPr lang="en-US" dirty="0" err="1"/>
              <a:t>Pelagibacter</a:t>
            </a:r>
            <a:r>
              <a:rPr lang="en-US" dirty="0"/>
              <a:t> </a:t>
            </a:r>
            <a:r>
              <a:rPr lang="en-US" dirty="0" err="1"/>
              <a:t>ubique</a:t>
            </a:r>
            <a:r>
              <a:rPr lang="en-US" dirty="0"/>
              <a:t> is sole cultured representative of group</a:t>
            </a:r>
          </a:p>
          <a:p>
            <a:pPr lvl="2">
              <a:spcBef>
                <a:spcPts val="600"/>
              </a:spcBef>
            </a:pPr>
            <a:r>
              <a:rPr lang="en-US" dirty="0"/>
              <a:t>1.31 Mb genome; optimized for life with scant nutrients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30</a:t>
            </a:fld>
            <a:endParaRPr lang="en-US"/>
          </a:p>
        </p:txBody>
      </p:sp>
      <p:pic>
        <p:nvPicPr>
          <p:cNvPr id="19458" name="Picture 2" descr="The upper half of the figure shows the Emden-Meyerhof pathway for glucose oxidation as used by many bacteria; Candidatus Pelagibacter ubique runs this pathway in reverse for gluconeogenesis; glucose is oxidized by the modified Entner-Douderoff pathway.  The bottom half of the figure shows the glyoxylate cycle; unlike other microbes that convert oxaloacetate to phosphoenolpyruvate, Ca. P. ubique starts gluconeogenesis by converting malate to pyruvate, Ca. P. ubique lacks genes for assimilatory sulfate reduction, and requires reduced organic sulfur compounds such as methionine for growth." title="Figure 22.17 Central Metabolism in Candidatus Pelagibacter ubique as Determined by Genome Analysis."/>
          <p:cNvPicPr>
            <a:picLocks noChangeAspect="1" noChangeArrowheads="1"/>
          </p:cNvPicPr>
          <p:nvPr/>
        </p:nvPicPr>
        <p:blipFill>
          <a:blip r:embed="rId2" cstate="print"/>
          <a:srcRect/>
          <a:stretch>
            <a:fillRect/>
          </a:stretch>
        </p:blipFill>
        <p:spPr bwMode="auto">
          <a:xfrm>
            <a:off x="304800" y="227013"/>
            <a:ext cx="4022725" cy="6403975"/>
          </a:xfrm>
          <a:prstGeom prst="rect">
            <a:avLst/>
          </a:prstGeom>
          <a:noFill/>
        </p:spPr>
      </p:pic>
    </p:spTree>
    <p:extLst>
      <p:ext uri="{BB962C8B-B14F-4D97-AF65-F5344CB8AC3E}">
        <p14:creationId xmlns:p14="http://schemas.microsoft.com/office/powerpoint/2010/main" val="23863836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22.2 Class </a:t>
            </a:r>
            <a:r>
              <a:rPr lang="en-US" i="1" dirty="0" err="1"/>
              <a:t>Betaproteobacteria</a:t>
            </a:r>
            <a:r>
              <a:rPr lang="en-US" i="1" dirty="0"/>
              <a:t> </a:t>
            </a:r>
            <a:r>
              <a:rPr lang="en-US" dirty="0"/>
              <a:t>Includes </a:t>
            </a:r>
            <a:r>
              <a:rPr lang="en-US" dirty="0" err="1"/>
              <a:t>Chemoheterotrophs</a:t>
            </a:r>
            <a:r>
              <a:rPr lang="en-US" dirty="0"/>
              <a:t> and </a:t>
            </a:r>
            <a:r>
              <a:rPr lang="en-US" dirty="0" err="1"/>
              <a:t>Chemolithotrophs</a:t>
            </a:r>
            <a:endParaRPr lang="en-US" dirty="0"/>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pPr marL="514350" indent="-514350">
              <a:buFont typeface="+mj-lt"/>
              <a:buAutoNum type="arabicPeriod"/>
            </a:pPr>
            <a:r>
              <a:rPr lang="en-US" dirty="0"/>
              <a:t>List human diseases caused by </a:t>
            </a:r>
            <a:r>
              <a:rPr lang="en-US" i="1" dirty="0"/>
              <a:t>Neisseria</a:t>
            </a:r>
            <a:r>
              <a:rPr lang="en-US" dirty="0"/>
              <a:t> and </a:t>
            </a:r>
            <a:r>
              <a:rPr lang="en-US" i="1" dirty="0" err="1"/>
              <a:t>Bordatella</a:t>
            </a:r>
            <a:r>
              <a:rPr lang="en-US" i="1" dirty="0"/>
              <a:t> </a:t>
            </a:r>
            <a:r>
              <a:rPr lang="en-US" dirty="0"/>
              <a:t>spp.</a:t>
            </a:r>
            <a:br>
              <a:rPr lang="en-US" dirty="0"/>
            </a:br>
            <a:endParaRPr lang="en-US" dirty="0"/>
          </a:p>
          <a:p>
            <a:pPr marL="514350" indent="-514350">
              <a:buFont typeface="+mj-lt"/>
              <a:buAutoNum type="arabicPeriod"/>
            </a:pPr>
            <a:r>
              <a:rPr lang="en-US" dirty="0"/>
              <a:t>Discuss the function of the sheath in the physiology of </a:t>
            </a:r>
            <a:r>
              <a:rPr lang="en-US" i="1" dirty="0" err="1"/>
              <a:t>Leptothrix</a:t>
            </a:r>
            <a:r>
              <a:rPr lang="en-US" i="1" dirty="0"/>
              <a:t> </a:t>
            </a:r>
            <a:r>
              <a:rPr lang="en-US" dirty="0"/>
              <a:t>spp.</a:t>
            </a:r>
            <a:br>
              <a:rPr lang="en-US" dirty="0"/>
            </a:br>
            <a:endParaRPr lang="en-US" i="1" dirty="0"/>
          </a:p>
          <a:p>
            <a:pPr marL="514350" indent="-514350">
              <a:buFont typeface="+mj-lt"/>
              <a:buAutoNum type="arabicPeriod"/>
            </a:pPr>
            <a:r>
              <a:rPr lang="en-US" dirty="0"/>
              <a:t>Summarize the reactions used by </a:t>
            </a:r>
            <a:r>
              <a:rPr lang="en-US" i="1" dirty="0" err="1"/>
              <a:t>Nitrosomonas</a:t>
            </a:r>
            <a:r>
              <a:rPr lang="en-US" i="1" dirty="0"/>
              <a:t> </a:t>
            </a:r>
            <a:r>
              <a:rPr lang="en-US" i="1" dirty="0" err="1"/>
              <a:t>europaea</a:t>
            </a:r>
            <a:r>
              <a:rPr lang="en-US" i="1" dirty="0"/>
              <a:t> </a:t>
            </a:r>
            <a:r>
              <a:rPr lang="en-US" dirty="0"/>
              <a:t>to oxidize ammonium to nitrite</a:t>
            </a:r>
            <a:br>
              <a:rPr lang="en-US" dirty="0"/>
            </a:br>
            <a:endParaRPr lang="en-US" dirty="0"/>
          </a:p>
          <a:p>
            <a:pPr marL="514350" indent="-514350">
              <a:buFont typeface="+mj-lt"/>
              <a:buAutoNum type="arabicPeriod"/>
            </a:pPr>
            <a:r>
              <a:rPr lang="en-US" dirty="0"/>
              <a:t>Differentiate between nitrification and denitrification, and identify the electron donors and acceptors for each</a:t>
            </a:r>
            <a:br>
              <a:rPr lang="en-US" dirty="0"/>
            </a:br>
            <a:endParaRPr lang="en-US" dirty="0"/>
          </a:p>
          <a:p>
            <a:pPr marL="514350" indent="-514350">
              <a:buFont typeface="+mj-lt"/>
              <a:buAutoNum type="arabicPeriod"/>
            </a:pPr>
            <a:r>
              <a:rPr lang="en-US" dirty="0"/>
              <a:t>Explain how sulfur-oxidizing bacteria obtain ATP from reduced sulfur species via substrate-level phosphorylation</a:t>
            </a:r>
          </a:p>
          <a:p>
            <a:pPr marL="514350" indent="-514350">
              <a:buFont typeface="+mj-lt"/>
              <a:buAutoNum type="arabicPeriod"/>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31</a:t>
            </a:fld>
            <a:endParaRPr lang="en-US"/>
          </a:p>
        </p:txBody>
      </p:sp>
    </p:spTree>
    <p:extLst>
      <p:ext uri="{BB962C8B-B14F-4D97-AF65-F5344CB8AC3E}">
        <p14:creationId xmlns:p14="http://schemas.microsoft.com/office/powerpoint/2010/main" val="26231234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i="1" dirty="0" err="1"/>
              <a:t>Betaproteobacteria</a:t>
            </a:r>
            <a:endParaRPr lang="en-US" dirty="0"/>
          </a:p>
        </p:txBody>
      </p:sp>
      <p:sp>
        <p:nvSpPr>
          <p:cNvPr id="6" name="Content Placeholder 5"/>
          <p:cNvSpPr>
            <a:spLocks noGrp="1"/>
          </p:cNvSpPr>
          <p:nvPr>
            <p:ph sz="half" idx="2"/>
          </p:nvPr>
        </p:nvSpPr>
        <p:spPr/>
        <p:txBody>
          <a:bodyPr>
            <a:normAutofit fontScale="92500" lnSpcReduction="10000"/>
          </a:bodyPr>
          <a:lstStyle/>
          <a:p>
            <a:r>
              <a:rPr lang="en-US" dirty="0"/>
              <a:t>Seven orders, 12 families</a:t>
            </a:r>
            <a:br>
              <a:rPr lang="en-US" dirty="0"/>
            </a:br>
            <a:endParaRPr lang="en-US" dirty="0"/>
          </a:p>
          <a:p>
            <a:r>
              <a:rPr lang="en-US" dirty="0"/>
              <a:t>Considerable metabolic diversity</a:t>
            </a:r>
          </a:p>
          <a:p>
            <a:pPr lvl="1"/>
            <a:r>
              <a:rPr lang="en-US" dirty="0"/>
              <a:t>overlap </a:t>
            </a:r>
            <a:r>
              <a:rPr lang="el-GR" dirty="0">
                <a:cs typeface="Times New Roman" pitchFamily="18" charset="0"/>
              </a:rPr>
              <a:t>α</a:t>
            </a:r>
            <a:r>
              <a:rPr lang="en-US" dirty="0">
                <a:cs typeface="Times New Roman" pitchFamily="18" charset="0"/>
              </a:rPr>
              <a:t>-</a:t>
            </a:r>
            <a:r>
              <a:rPr lang="en-US" dirty="0" err="1">
                <a:cs typeface="Times New Roman" pitchFamily="18" charset="0"/>
              </a:rPr>
              <a:t>proteobacteria</a:t>
            </a:r>
            <a:r>
              <a:rPr lang="en-US" dirty="0">
                <a:cs typeface="Times New Roman" pitchFamily="18" charset="0"/>
              </a:rPr>
              <a:t> metabolically but generally use decomposed organic matter </a:t>
            </a:r>
            <a:r>
              <a:rPr lang="en-US" dirty="0" err="1">
                <a:cs typeface="Times New Roman" pitchFamily="18" charset="0"/>
              </a:rPr>
              <a:t>anoxically</a:t>
            </a:r>
            <a:endParaRPr lang="en-US" dirty="0">
              <a:cs typeface="Times New Roman" pitchFamily="18" charset="0"/>
            </a:endParaRPr>
          </a:p>
          <a:p>
            <a:pPr lvl="1"/>
            <a:r>
              <a:rPr lang="en-US" dirty="0">
                <a:cs typeface="Times New Roman" pitchFamily="18" charset="0"/>
              </a:rPr>
              <a:t>some use hydrogen, methane, ammonia, volatile fatty acids  </a:t>
            </a:r>
            <a:endParaRPr lang="el-GR" dirty="0">
              <a:cs typeface="Times New Roman" pitchFamily="18" charset="0"/>
            </a:endParaRPr>
          </a:p>
        </p:txBody>
      </p:sp>
      <p:sp>
        <p:nvSpPr>
          <p:cNvPr id="4" name="Slide Number Placeholder 3"/>
          <p:cNvSpPr>
            <a:spLocks noGrp="1"/>
          </p:cNvSpPr>
          <p:nvPr>
            <p:ph type="sldNum" sz="quarter" idx="12"/>
          </p:nvPr>
        </p:nvSpPr>
        <p:spPr/>
        <p:txBody>
          <a:bodyPr/>
          <a:lstStyle/>
          <a:p>
            <a:fld id="{3B1A82D2-719A-4A87-BECB-D74482819C19}" type="slidenum">
              <a:rPr lang="en-US" smtClean="0"/>
              <a:pPr/>
              <a:t>32</a:t>
            </a:fld>
            <a:endParaRPr lang="en-US"/>
          </a:p>
        </p:txBody>
      </p:sp>
      <p:pic>
        <p:nvPicPr>
          <p:cNvPr id="20482" name="Picture 2" descr="Burkholderiales, Methylophilales, Neisseriales, Nitrosomonadales, and Rhodocyclales share a common ancestor with Hydrogenophilales.  The relationships are based on 16S rRNA sequence data." title="Figure 22.18 Phylogenetic Relationships Among Major Groups Within the β-Proteobacteria."/>
          <p:cNvPicPr>
            <a:picLocks noChangeAspect="1" noChangeArrowheads="1"/>
          </p:cNvPicPr>
          <p:nvPr/>
        </p:nvPicPr>
        <p:blipFill>
          <a:blip r:embed="rId2" cstate="print"/>
          <a:srcRect/>
          <a:stretch>
            <a:fillRect/>
          </a:stretch>
        </p:blipFill>
        <p:spPr bwMode="auto">
          <a:xfrm>
            <a:off x="63131" y="1571214"/>
            <a:ext cx="4923736" cy="4342636"/>
          </a:xfrm>
          <a:prstGeom prst="rect">
            <a:avLst/>
          </a:prstGeom>
          <a:noFill/>
        </p:spPr>
      </p:pic>
    </p:spTree>
    <p:extLst>
      <p:ext uri="{BB962C8B-B14F-4D97-AF65-F5344CB8AC3E}">
        <p14:creationId xmlns:p14="http://schemas.microsoft.com/office/powerpoint/2010/main" val="637910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Characteristics of Select </a:t>
            </a:r>
            <a:r>
              <a:rPr lang="en-US" dirty="0" err="1"/>
              <a:t>Betaproteobacteria</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33</a:t>
            </a:fld>
            <a:endParaRPr lang="en-US"/>
          </a:p>
        </p:txBody>
      </p:sp>
      <p:pic>
        <p:nvPicPr>
          <p:cNvPr id="21506" name="Picture 2" descr="Header Row: Genus; Dimensions (μm) and Morphology; Oxygen Requirement; Other Distinctive Characteristics&#10;Bordetella; 0.2–0.5 × 0.5–2.0, nonmotile coccobacillus; Aerobic; Requires organic sulfur and nitrogen, mammalian parasite&#10;Burkholderia; 0.5–1.0 × 1.5–4, straight rods with single flagellum or a tuft at the pole; Aerobic, some capable of anaerobic respiration with NO3−; Poly-β-hydroxybutyrate as reserve, can be pathogenic&#10;Leptothrix; 0.6–1.5 × 2.5–15, straight rods in chains with sheath, free cells flagellated; Aerobic; Sheaths encrusted with iron and manganese oxides&#10;Neisseria; 0.6–1.9, cocci in pairs with flattened adjacent sides; Aerobic; Inhabitant of mucous membranes of mammals&#10;Nitrosomonas; Size varies with strain, spherical to ellipsoidal cells with intracytoplasmic membranes; Aerobic; Chemolithotroph that oxidizes ammonia to nitrite&#10;Sphaerotilus; 1.2–2.5 × 2–10, single chains of cells with sheaths, may have holdfasts; Aerobic; Sheaths not encrusted with iron and manganese oxides&#10;Thiobacillus; 0.3–0.5 × 0.9–4, rods, often with polar flagella; Aerobic; All chemolithotrophic, oxidizes reduced sulfur compounds to sulfate, some also chemoorganotrophic" title="Table 22.3 Characteristics of Selected β-Proteobacteria"/>
          <p:cNvPicPr>
            <a:picLocks noChangeAspect="1" noChangeArrowheads="1"/>
          </p:cNvPicPr>
          <p:nvPr/>
        </p:nvPicPr>
        <p:blipFill>
          <a:blip r:embed="rId2" cstate="print"/>
          <a:srcRect/>
          <a:stretch>
            <a:fillRect/>
          </a:stretch>
        </p:blipFill>
        <p:spPr bwMode="auto">
          <a:xfrm>
            <a:off x="341550" y="1625600"/>
            <a:ext cx="8460900" cy="4588434"/>
          </a:xfrm>
          <a:prstGeom prst="rect">
            <a:avLst/>
          </a:prstGeom>
          <a:noFill/>
        </p:spPr>
      </p:pic>
    </p:spTree>
    <p:extLst>
      <p:ext uri="{BB962C8B-B14F-4D97-AF65-F5344CB8AC3E}">
        <p14:creationId xmlns:p14="http://schemas.microsoft.com/office/powerpoint/2010/main" val="8881307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Order </a:t>
            </a:r>
            <a:r>
              <a:rPr lang="en-US" i="1" dirty="0" err="1"/>
              <a:t>Neisseriales</a:t>
            </a:r>
            <a:endParaRPr lang="en-US" dirty="0"/>
          </a:p>
        </p:txBody>
      </p:sp>
      <p:sp>
        <p:nvSpPr>
          <p:cNvPr id="3" name="Content Placeholder 2"/>
          <p:cNvSpPr>
            <a:spLocks noGrp="1"/>
          </p:cNvSpPr>
          <p:nvPr>
            <p:ph idx="1"/>
          </p:nvPr>
        </p:nvSpPr>
        <p:spPr>
          <a:xfrm>
            <a:off x="457200" y="1143000"/>
            <a:ext cx="8229600" cy="5562600"/>
          </a:xfrm>
        </p:spPr>
        <p:txBody>
          <a:bodyPr>
            <a:normAutofit fontScale="92500"/>
          </a:bodyPr>
          <a:lstStyle/>
          <a:p>
            <a:r>
              <a:rPr lang="en-US" dirty="0"/>
              <a:t>Genus </a:t>
            </a:r>
            <a:r>
              <a:rPr lang="en-US" i="1" dirty="0"/>
              <a:t>Neisseria</a:t>
            </a:r>
          </a:p>
          <a:p>
            <a:pPr lvl="1"/>
            <a:r>
              <a:rPr lang="en-US" dirty="0" err="1"/>
              <a:t>nonmotile</a:t>
            </a:r>
            <a:r>
              <a:rPr lang="en-US" dirty="0"/>
              <a:t>, Gram-negative cocci</a:t>
            </a:r>
          </a:p>
          <a:p>
            <a:pPr lvl="2"/>
            <a:r>
              <a:rPr lang="en-US" sz="2400" dirty="0"/>
              <a:t>most often occur in pairs with adjacent sides flattened</a:t>
            </a:r>
          </a:p>
          <a:p>
            <a:pPr lvl="2"/>
            <a:r>
              <a:rPr lang="en-US" sz="2400" dirty="0"/>
              <a:t>may have capsules and fimbriae</a:t>
            </a:r>
            <a:br>
              <a:rPr lang="en-US" sz="2400" dirty="0"/>
            </a:br>
            <a:endParaRPr lang="en-US" sz="2400" dirty="0"/>
          </a:p>
          <a:p>
            <a:pPr lvl="1"/>
            <a:r>
              <a:rPr lang="en-US" dirty="0"/>
              <a:t>aerobic </a:t>
            </a:r>
            <a:r>
              <a:rPr lang="en-US" dirty="0" err="1"/>
              <a:t>chemoorganotrophs</a:t>
            </a:r>
            <a:endParaRPr lang="en-US" dirty="0"/>
          </a:p>
          <a:p>
            <a:pPr lvl="2"/>
            <a:r>
              <a:rPr lang="en-US" sz="2400" dirty="0"/>
              <a:t>oxidase positive and usually catalase positive</a:t>
            </a:r>
            <a:br>
              <a:rPr lang="en-US" sz="2400" dirty="0"/>
            </a:br>
            <a:endParaRPr lang="en-US" sz="2400" dirty="0"/>
          </a:p>
          <a:p>
            <a:pPr lvl="1"/>
            <a:r>
              <a:rPr lang="en-US" dirty="0"/>
              <a:t>may have capsules and fimbriae</a:t>
            </a:r>
            <a:br>
              <a:rPr lang="en-US" dirty="0"/>
            </a:br>
            <a:r>
              <a:rPr lang="en-US" dirty="0"/>
              <a:t> </a:t>
            </a:r>
          </a:p>
          <a:p>
            <a:pPr lvl="1"/>
            <a:r>
              <a:rPr lang="en-US" dirty="0"/>
              <a:t>inhabitants of mucous membranes of mammals</a:t>
            </a:r>
          </a:p>
          <a:p>
            <a:pPr lvl="2"/>
            <a:r>
              <a:rPr lang="en-US" dirty="0"/>
              <a:t>some human pathogens</a:t>
            </a:r>
          </a:p>
          <a:p>
            <a:pPr lvl="3"/>
            <a:r>
              <a:rPr lang="en-US" i="1" dirty="0"/>
              <a:t>Neisseria gonorrhoeae</a:t>
            </a:r>
            <a:r>
              <a:rPr lang="en-US" dirty="0"/>
              <a:t> – gonorrhea</a:t>
            </a:r>
          </a:p>
          <a:p>
            <a:pPr lvl="3"/>
            <a:r>
              <a:rPr lang="en-US" i="1" dirty="0"/>
              <a:t>Neisseria </a:t>
            </a:r>
            <a:r>
              <a:rPr lang="en-US" i="1" dirty="0" err="1"/>
              <a:t>meningitidis</a:t>
            </a:r>
            <a:r>
              <a:rPr lang="en-US" dirty="0"/>
              <a:t> – meningitis</a:t>
            </a:r>
          </a:p>
          <a:p>
            <a:endParaRPr lang="en-US" sz="3200" i="1"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34</a:t>
            </a:fld>
            <a:endParaRPr lang="en-US"/>
          </a:p>
        </p:txBody>
      </p:sp>
    </p:spTree>
    <p:extLst>
      <p:ext uri="{BB962C8B-B14F-4D97-AF65-F5344CB8AC3E}">
        <p14:creationId xmlns:p14="http://schemas.microsoft.com/office/powerpoint/2010/main" val="12391286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a:t>
            </a:r>
            <a:r>
              <a:rPr lang="en-US" i="1" dirty="0" err="1"/>
              <a:t>Burkholderiales</a:t>
            </a:r>
            <a:endParaRPr lang="en-US" dirty="0"/>
          </a:p>
        </p:txBody>
      </p:sp>
      <p:sp>
        <p:nvSpPr>
          <p:cNvPr id="3" name="Content Placeholder 2"/>
          <p:cNvSpPr>
            <a:spLocks noGrp="1"/>
          </p:cNvSpPr>
          <p:nvPr>
            <p:ph idx="1"/>
          </p:nvPr>
        </p:nvSpPr>
        <p:spPr/>
        <p:txBody>
          <a:bodyPr/>
          <a:lstStyle/>
          <a:p>
            <a:pPr>
              <a:lnSpc>
                <a:spcPct val="80000"/>
              </a:lnSpc>
            </a:pPr>
            <a:r>
              <a:rPr lang="en-US" dirty="0"/>
              <a:t>Well-known genera </a:t>
            </a:r>
          </a:p>
          <a:p>
            <a:pPr lvl="1">
              <a:lnSpc>
                <a:spcPct val="80000"/>
              </a:lnSpc>
            </a:pPr>
            <a:r>
              <a:rPr lang="en-US" i="1" dirty="0" err="1"/>
              <a:t>Burkholderia</a:t>
            </a:r>
            <a:r>
              <a:rPr lang="en-US" i="1" dirty="0"/>
              <a:t>, Bordetella, </a:t>
            </a:r>
            <a:r>
              <a:rPr lang="en-US" i="1" dirty="0" err="1"/>
              <a:t>Sphaerotilus</a:t>
            </a:r>
            <a:r>
              <a:rPr lang="en-US" i="1" dirty="0"/>
              <a:t>,</a:t>
            </a:r>
            <a:r>
              <a:rPr lang="en-US" dirty="0"/>
              <a:t> and </a:t>
            </a:r>
            <a:r>
              <a:rPr lang="en-US" i="1" dirty="0" err="1"/>
              <a:t>Leptothrix</a:t>
            </a:r>
            <a:br>
              <a:rPr lang="en-US" i="1" dirty="0"/>
            </a:br>
            <a:endParaRPr lang="en-US" i="1" dirty="0"/>
          </a:p>
          <a:p>
            <a:pPr>
              <a:lnSpc>
                <a:spcPct val="80000"/>
              </a:lnSpc>
            </a:pPr>
            <a:r>
              <a:rPr lang="en-US" dirty="0"/>
              <a:t>Some members have a sheath</a:t>
            </a:r>
          </a:p>
          <a:p>
            <a:pPr lvl="1">
              <a:lnSpc>
                <a:spcPct val="80000"/>
              </a:lnSpc>
            </a:pPr>
            <a:r>
              <a:rPr lang="en-US" dirty="0"/>
              <a:t>hollow </a:t>
            </a:r>
            <a:r>
              <a:rPr lang="en-US" dirty="0" err="1"/>
              <a:t>tubelike</a:t>
            </a:r>
            <a:r>
              <a:rPr lang="en-US" dirty="0"/>
              <a:t> structure surrounding chain of cells</a:t>
            </a:r>
          </a:p>
          <a:p>
            <a:pPr lvl="1">
              <a:lnSpc>
                <a:spcPct val="80000"/>
              </a:lnSpc>
            </a:pPr>
            <a:r>
              <a:rPr lang="en-US" dirty="0"/>
              <a:t>may contain ferric or manganic oxides</a:t>
            </a:r>
          </a:p>
          <a:p>
            <a:pPr lvl="1">
              <a:lnSpc>
                <a:spcPct val="80000"/>
              </a:lnSpc>
            </a:pPr>
            <a:r>
              <a:rPr lang="en-US" dirty="0"/>
              <a:t>functions</a:t>
            </a:r>
          </a:p>
          <a:p>
            <a:pPr lvl="2">
              <a:lnSpc>
                <a:spcPct val="80000"/>
              </a:lnSpc>
            </a:pPr>
            <a:r>
              <a:rPr lang="en-US" sz="2400" dirty="0"/>
              <a:t>attachment to surfaces</a:t>
            </a:r>
          </a:p>
          <a:p>
            <a:pPr lvl="2">
              <a:lnSpc>
                <a:spcPct val="80000"/>
              </a:lnSpc>
            </a:pPr>
            <a:r>
              <a:rPr lang="en-US" sz="2400" dirty="0"/>
              <a:t>obtaining nutrients from slowly running water</a:t>
            </a:r>
          </a:p>
          <a:p>
            <a:pPr lvl="2">
              <a:lnSpc>
                <a:spcPct val="80000"/>
              </a:lnSpc>
            </a:pPr>
            <a:r>
              <a:rPr lang="en-US" sz="2400" dirty="0"/>
              <a:t>protection against predators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35</a:t>
            </a:fld>
            <a:endParaRPr lang="en-US"/>
          </a:p>
        </p:txBody>
      </p:sp>
    </p:spTree>
    <p:extLst>
      <p:ext uri="{BB962C8B-B14F-4D97-AF65-F5344CB8AC3E}">
        <p14:creationId xmlns:p14="http://schemas.microsoft.com/office/powerpoint/2010/main" val="35963924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err="1"/>
              <a:t>Burkholderia</a:t>
            </a:r>
            <a:endParaRPr lang="en-US" dirty="0"/>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r>
              <a:rPr lang="en-US" dirty="0"/>
              <a:t>Gram-negative, non</a:t>
            </a:r>
            <a:r>
              <a:rPr lang="en-US" dirty="0">
                <a:cs typeface="Times New Roman" pitchFamily="18" charset="0"/>
              </a:rPr>
              <a:t>–spore-forming, straight rods</a:t>
            </a:r>
          </a:p>
          <a:p>
            <a:pPr lvl="1"/>
            <a:r>
              <a:rPr lang="en-US" dirty="0"/>
              <a:t>most motile with single flagellum or tuft of polar flagella</a:t>
            </a:r>
            <a:br>
              <a:rPr lang="en-US" dirty="0"/>
            </a:br>
            <a:endParaRPr lang="en-US" dirty="0"/>
          </a:p>
          <a:p>
            <a:r>
              <a:rPr lang="en-US" dirty="0"/>
              <a:t>Aerobic and mesophilic</a:t>
            </a:r>
            <a:br>
              <a:rPr lang="en-US" dirty="0"/>
            </a:br>
            <a:endParaRPr lang="en-US" dirty="0"/>
          </a:p>
          <a:p>
            <a:r>
              <a:rPr lang="en-US" dirty="0" err="1"/>
              <a:t>Nonfermentative</a:t>
            </a:r>
            <a:r>
              <a:rPr lang="en-US" dirty="0"/>
              <a:t> </a:t>
            </a:r>
            <a:r>
              <a:rPr lang="en-US" dirty="0" err="1"/>
              <a:t>chemoorganotrophs</a:t>
            </a:r>
            <a:endParaRPr lang="en-US" dirty="0"/>
          </a:p>
          <a:p>
            <a:pPr lvl="1"/>
            <a:r>
              <a:rPr lang="en-US" dirty="0"/>
              <a:t>catalase positive; often oxidase positive</a:t>
            </a:r>
          </a:p>
          <a:p>
            <a:pPr lvl="1"/>
            <a:r>
              <a:rPr lang="en-US" dirty="0"/>
              <a:t>most use poly-</a:t>
            </a:r>
            <a:r>
              <a:rPr lang="en-US" dirty="0">
                <a:latin typeface="Symbol" pitchFamily="18" charset="2"/>
                <a:sym typeface="WP Greek Century" pitchFamily="2" charset="2"/>
              </a:rPr>
              <a:t>b</a:t>
            </a:r>
            <a:r>
              <a:rPr lang="en-US" dirty="0">
                <a:sym typeface="WP Greek Century" pitchFamily="2" charset="2"/>
              </a:rPr>
              <a:t>-</a:t>
            </a:r>
            <a:r>
              <a:rPr lang="en-US" dirty="0" err="1">
                <a:sym typeface="WP Greek Century" pitchFamily="2" charset="2"/>
              </a:rPr>
              <a:t>hydroxybutyrate</a:t>
            </a:r>
            <a:r>
              <a:rPr lang="en-US" dirty="0">
                <a:sym typeface="WP Greek Century" pitchFamily="2" charset="2"/>
              </a:rPr>
              <a:t> as carbon reserve</a:t>
            </a:r>
            <a:br>
              <a:rPr lang="en-US" dirty="0">
                <a:sym typeface="WP Greek Century" pitchFamily="2" charset="2"/>
              </a:rPr>
            </a:br>
            <a:endParaRPr lang="en-US" dirty="0">
              <a:sym typeface="WP Greek Century" pitchFamily="2" charset="2"/>
            </a:endParaRPr>
          </a:p>
          <a:p>
            <a:r>
              <a:rPr lang="en-US" dirty="0"/>
              <a:t>e.g. </a:t>
            </a:r>
            <a:r>
              <a:rPr lang="en-US" i="1" dirty="0" err="1"/>
              <a:t>Burkholderia</a:t>
            </a:r>
            <a:r>
              <a:rPr lang="en-US" i="1" dirty="0"/>
              <a:t> </a:t>
            </a:r>
            <a:r>
              <a:rPr lang="en-US" i="1" dirty="0" err="1"/>
              <a:t>cepacia</a:t>
            </a:r>
            <a:endParaRPr lang="en-US" i="1" dirty="0"/>
          </a:p>
          <a:p>
            <a:pPr lvl="1">
              <a:lnSpc>
                <a:spcPct val="90000"/>
              </a:lnSpc>
            </a:pPr>
            <a:r>
              <a:rPr lang="en-US" dirty="0"/>
              <a:t>degrades </a:t>
            </a:r>
            <a:r>
              <a:rPr lang="en-US" dirty="0">
                <a:cs typeface="Times New Roman" pitchFamily="18" charset="0"/>
              </a:rPr>
              <a:t>&gt;100 organic molecules</a:t>
            </a:r>
          </a:p>
          <a:p>
            <a:pPr lvl="2">
              <a:lnSpc>
                <a:spcPct val="90000"/>
              </a:lnSpc>
            </a:pPr>
            <a:r>
              <a:rPr lang="en-US" dirty="0"/>
              <a:t>very active in recycling organic material</a:t>
            </a:r>
          </a:p>
          <a:p>
            <a:pPr lvl="1">
              <a:lnSpc>
                <a:spcPct val="90000"/>
              </a:lnSpc>
            </a:pPr>
            <a:r>
              <a:rPr lang="en-US" dirty="0"/>
              <a:t>plant pathogen</a:t>
            </a:r>
          </a:p>
          <a:p>
            <a:pPr lvl="1">
              <a:lnSpc>
                <a:spcPct val="90000"/>
              </a:lnSpc>
            </a:pPr>
            <a:r>
              <a:rPr lang="en-US" dirty="0"/>
              <a:t>has become a major nosocomial pathogen</a:t>
            </a:r>
          </a:p>
          <a:p>
            <a:pPr lvl="2">
              <a:lnSpc>
                <a:spcPct val="90000"/>
              </a:lnSpc>
            </a:pPr>
            <a:r>
              <a:rPr lang="en-US" dirty="0"/>
              <a:t>particular problem for cystic fibrosis patients</a:t>
            </a:r>
          </a:p>
          <a:p>
            <a:pPr lvl="1"/>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36</a:t>
            </a:fld>
            <a:endParaRPr lang="en-US"/>
          </a:p>
        </p:txBody>
      </p:sp>
    </p:spTree>
    <p:extLst>
      <p:ext uri="{BB962C8B-B14F-4D97-AF65-F5344CB8AC3E}">
        <p14:creationId xmlns:p14="http://schemas.microsoft.com/office/powerpoint/2010/main" val="11815386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Nitrogen Fixation by </a:t>
            </a:r>
            <a:r>
              <a:rPr lang="en-US" i="1" dirty="0" err="1"/>
              <a:t>Burkholderia</a:t>
            </a:r>
            <a:r>
              <a:rPr lang="en-US" dirty="0"/>
              <a:t> and </a:t>
            </a:r>
            <a:r>
              <a:rPr lang="en-US" i="1" dirty="0" err="1"/>
              <a:t>Ralstonia</a:t>
            </a:r>
            <a:endParaRPr lang="en-US" dirty="0"/>
          </a:p>
        </p:txBody>
      </p:sp>
      <p:sp>
        <p:nvSpPr>
          <p:cNvPr id="3" name="Content Placeholder 2"/>
          <p:cNvSpPr>
            <a:spLocks noGrp="1"/>
          </p:cNvSpPr>
          <p:nvPr>
            <p:ph idx="1"/>
          </p:nvPr>
        </p:nvSpPr>
        <p:spPr/>
        <p:txBody>
          <a:bodyPr/>
          <a:lstStyle/>
          <a:p>
            <a:pPr>
              <a:lnSpc>
                <a:spcPct val="90000"/>
              </a:lnSpc>
            </a:pPr>
            <a:r>
              <a:rPr lang="en-US" dirty="0"/>
              <a:t>Form symbiotic associations with legumes similar to that formed by rhizobia</a:t>
            </a:r>
            <a:br>
              <a:rPr lang="en-US" dirty="0"/>
            </a:br>
            <a:endParaRPr lang="en-US" dirty="0"/>
          </a:p>
          <a:p>
            <a:pPr>
              <a:lnSpc>
                <a:spcPct val="90000"/>
              </a:lnSpc>
            </a:pPr>
            <a:r>
              <a:rPr lang="en-US" dirty="0"/>
              <a:t>Have nodulation genes (</a:t>
            </a:r>
            <a:r>
              <a:rPr lang="en-US" i="1" dirty="0"/>
              <a:t>nod</a:t>
            </a:r>
            <a:r>
              <a:rPr lang="en-US" dirty="0"/>
              <a:t>) similar to rhizobia suggesting a common genetic origin</a:t>
            </a:r>
            <a:br>
              <a:rPr lang="en-US" dirty="0"/>
            </a:br>
            <a:endParaRPr lang="en-US" dirty="0"/>
          </a:p>
          <a:p>
            <a:pPr lvl="1">
              <a:lnSpc>
                <a:spcPct val="90000"/>
              </a:lnSpc>
            </a:pPr>
            <a:r>
              <a:rPr lang="en-US" dirty="0"/>
              <a:t>genetic information may have been obtained through lateral gene transfer</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37</a:t>
            </a:fld>
            <a:endParaRPr lang="en-US"/>
          </a:p>
        </p:txBody>
      </p:sp>
    </p:spTree>
    <p:extLst>
      <p:ext uri="{BB962C8B-B14F-4D97-AF65-F5344CB8AC3E}">
        <p14:creationId xmlns:p14="http://schemas.microsoft.com/office/powerpoint/2010/main" val="31805648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a:t>Bordetella</a:t>
            </a:r>
            <a:endParaRPr lang="en-US" dirty="0"/>
          </a:p>
        </p:txBody>
      </p:sp>
      <p:sp>
        <p:nvSpPr>
          <p:cNvPr id="3" name="Content Placeholder 2"/>
          <p:cNvSpPr>
            <a:spLocks noGrp="1"/>
          </p:cNvSpPr>
          <p:nvPr>
            <p:ph idx="1"/>
          </p:nvPr>
        </p:nvSpPr>
        <p:spPr>
          <a:xfrm>
            <a:off x="457200" y="1600200"/>
            <a:ext cx="8229600" cy="5029200"/>
          </a:xfrm>
        </p:spPr>
        <p:txBody>
          <a:bodyPr/>
          <a:lstStyle/>
          <a:p>
            <a:pPr>
              <a:lnSpc>
                <a:spcPct val="90000"/>
              </a:lnSpc>
            </a:pPr>
            <a:r>
              <a:rPr lang="en-US" dirty="0"/>
              <a:t>Gram-negative coccobacilli</a:t>
            </a:r>
          </a:p>
          <a:p>
            <a:pPr lvl="1">
              <a:lnSpc>
                <a:spcPct val="90000"/>
              </a:lnSpc>
            </a:pPr>
            <a:r>
              <a:rPr lang="en-US" dirty="0"/>
              <a:t>some have capsules</a:t>
            </a:r>
            <a:br>
              <a:rPr lang="en-US" dirty="0"/>
            </a:br>
            <a:endParaRPr lang="en-US" dirty="0"/>
          </a:p>
          <a:p>
            <a:pPr>
              <a:lnSpc>
                <a:spcPct val="90000"/>
              </a:lnSpc>
            </a:pPr>
            <a:r>
              <a:rPr lang="en-US" dirty="0"/>
              <a:t>Aerobic </a:t>
            </a:r>
            <a:r>
              <a:rPr lang="en-US" dirty="0" err="1"/>
              <a:t>chemoorganotrophs</a:t>
            </a:r>
            <a:endParaRPr lang="en-US" dirty="0"/>
          </a:p>
          <a:p>
            <a:pPr lvl="1">
              <a:lnSpc>
                <a:spcPct val="90000"/>
              </a:lnSpc>
            </a:pPr>
            <a:r>
              <a:rPr lang="en-US" dirty="0"/>
              <a:t>respiratory metabolism</a:t>
            </a:r>
          </a:p>
          <a:p>
            <a:pPr lvl="1">
              <a:lnSpc>
                <a:spcPct val="90000"/>
              </a:lnSpc>
            </a:pPr>
            <a:r>
              <a:rPr lang="en-US" dirty="0"/>
              <a:t>require organic sulfur and amino acids for growth</a:t>
            </a:r>
            <a:br>
              <a:rPr lang="en-US" dirty="0"/>
            </a:br>
            <a:endParaRPr lang="en-US" dirty="0"/>
          </a:p>
          <a:p>
            <a:pPr>
              <a:lnSpc>
                <a:spcPct val="90000"/>
              </a:lnSpc>
            </a:pPr>
            <a:r>
              <a:rPr lang="en-US" dirty="0"/>
              <a:t>Mammalian parasites that multiply in respiratory epithelial cells</a:t>
            </a:r>
          </a:p>
          <a:p>
            <a:pPr lvl="1">
              <a:lnSpc>
                <a:spcPct val="90000"/>
              </a:lnSpc>
            </a:pPr>
            <a:r>
              <a:rPr lang="en-US" sz="2600" dirty="0" err="1"/>
              <a:t>nonmotile</a:t>
            </a:r>
            <a:r>
              <a:rPr lang="en-US" sz="2600" dirty="0"/>
              <a:t>, encapsulated species</a:t>
            </a:r>
          </a:p>
          <a:p>
            <a:pPr lvl="1">
              <a:lnSpc>
                <a:spcPct val="90000"/>
              </a:lnSpc>
            </a:pPr>
            <a:r>
              <a:rPr lang="en-US" sz="2600" dirty="0"/>
              <a:t>whooping cough and kennel cough</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38</a:t>
            </a:fld>
            <a:endParaRPr lang="en-US"/>
          </a:p>
        </p:txBody>
      </p:sp>
    </p:spTree>
    <p:extLst>
      <p:ext uri="{BB962C8B-B14F-4D97-AF65-F5344CB8AC3E}">
        <p14:creationId xmlns:p14="http://schemas.microsoft.com/office/powerpoint/2010/main" val="6907660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a:t>
            </a:r>
            <a:r>
              <a:rPr lang="en-US" i="1" dirty="0" err="1"/>
              <a:t>Nitrosomonadales</a:t>
            </a:r>
            <a:endParaRPr lang="en-US" dirty="0"/>
          </a:p>
        </p:txBody>
      </p:sp>
      <p:sp>
        <p:nvSpPr>
          <p:cNvPr id="3" name="Content Placeholder 2"/>
          <p:cNvSpPr>
            <a:spLocks noGrp="1"/>
          </p:cNvSpPr>
          <p:nvPr>
            <p:ph idx="1"/>
          </p:nvPr>
        </p:nvSpPr>
        <p:spPr/>
        <p:txBody>
          <a:bodyPr/>
          <a:lstStyle/>
          <a:p>
            <a:r>
              <a:rPr lang="en-US" dirty="0"/>
              <a:t>Number of </a:t>
            </a:r>
            <a:r>
              <a:rPr lang="en-US" dirty="0" err="1"/>
              <a:t>chemolithotrophs</a:t>
            </a:r>
            <a:br>
              <a:rPr lang="en-US" dirty="0"/>
            </a:br>
            <a:endParaRPr lang="en-US" dirty="0"/>
          </a:p>
          <a:p>
            <a:pPr lvl="1"/>
            <a:r>
              <a:rPr lang="en-US" dirty="0"/>
              <a:t>e.g. two genera of nitrifying bacteria</a:t>
            </a:r>
          </a:p>
          <a:p>
            <a:pPr lvl="2"/>
            <a:r>
              <a:rPr lang="en-US" i="1" dirty="0" err="1"/>
              <a:t>Nitrosomonas</a:t>
            </a:r>
            <a:r>
              <a:rPr lang="en-US" dirty="0"/>
              <a:t> and </a:t>
            </a:r>
            <a:r>
              <a:rPr lang="en-US" i="1" dirty="0" err="1"/>
              <a:t>Nitrosospira</a:t>
            </a:r>
            <a:br>
              <a:rPr lang="en-US" i="1" dirty="0"/>
            </a:br>
            <a:endParaRPr lang="en-US" i="1" dirty="0"/>
          </a:p>
          <a:p>
            <a:pPr lvl="1"/>
            <a:r>
              <a:rPr lang="en-US" dirty="0"/>
              <a:t>oxidize ammonia to nitrite</a:t>
            </a:r>
          </a:p>
          <a:p>
            <a:pPr lvl="2"/>
            <a:r>
              <a:rPr lang="en-US" dirty="0"/>
              <a:t>enzyme ammonia monooxygenase (AMO)</a:t>
            </a:r>
          </a:p>
          <a:p>
            <a:pPr lvl="2"/>
            <a:r>
              <a:rPr lang="en-US" dirty="0"/>
              <a:t>enzyme hydroxylamine oxidoreductase</a:t>
            </a:r>
            <a:br>
              <a:rPr lang="en-US" dirty="0"/>
            </a:br>
            <a:endParaRPr lang="en-US" dirty="0"/>
          </a:p>
          <a:p>
            <a:pPr lvl="1"/>
            <a:r>
              <a:rPr lang="en-US" dirty="0"/>
              <a:t>also </a:t>
            </a:r>
            <a:r>
              <a:rPr lang="en-US" strike="sngStrike" dirty="0"/>
              <a:t>auxotrophic</a:t>
            </a:r>
            <a:r>
              <a:rPr lang="en-US" dirty="0"/>
              <a:t> AUTOTROPHIC metabolism</a:t>
            </a:r>
          </a:p>
          <a:p>
            <a:pPr lvl="2"/>
            <a:r>
              <a:rPr lang="en-US" dirty="0"/>
              <a:t>fixes CO</a:t>
            </a:r>
            <a:r>
              <a:rPr lang="en-US" baseline="-25000" dirty="0"/>
              <a:t>2</a:t>
            </a:r>
            <a:r>
              <a:rPr lang="en-US" dirty="0"/>
              <a:t> in Calvin cycle</a:t>
            </a:r>
            <a:endParaRPr lang="en-US" i="1"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39</a:t>
            </a:fld>
            <a:endParaRPr lang="en-US"/>
          </a:p>
        </p:txBody>
      </p:sp>
    </p:spTree>
    <p:extLst>
      <p:ext uri="{BB962C8B-B14F-4D97-AF65-F5344CB8AC3E}">
        <p14:creationId xmlns:p14="http://schemas.microsoft.com/office/powerpoint/2010/main" val="690766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Genomic Reconstruction of </a:t>
            </a:r>
            <a:r>
              <a:rPr lang="en-US" i="1" dirty="0"/>
              <a:t>N. </a:t>
            </a:r>
            <a:r>
              <a:rPr lang="en-US" i="1" dirty="0" err="1"/>
              <a:t>europaea</a:t>
            </a:r>
            <a:endParaRPr lang="en-US" i="1"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40</a:t>
            </a:fld>
            <a:endParaRPr lang="en-US"/>
          </a:p>
        </p:txBody>
      </p:sp>
      <p:pic>
        <p:nvPicPr>
          <p:cNvPr id="22530" name="Picture 2" descr="This chemolithoautotroph uses the Calvin-Benson cycle to fix CO2. Ammonia oxidation is catalyzed by a membrane-bound ammonia monooxygenase and hydroxylamine oxidoreductase. Electrons from hydroxylamine oxidoreductase flow through two cytochromes (c554 and cm552) into an electron transport chain at the level of ubiquinone-cytochrome c oxidoreductase. O2 is the terminal electron acceptor. Electrons from ammonia oxidation must also flow in reverse for NAD+ and NADP+ reduction. These enzymes, the flagellar motor, the ATP synthase, and secondary transport systems are fueled by the proton motive force established by ammonia oxidation." title="Figure 22.19 Genomic Reconstruction of Nitrosomonas europaea."/>
          <p:cNvPicPr>
            <a:picLocks noChangeAspect="1" noChangeArrowheads="1"/>
          </p:cNvPicPr>
          <p:nvPr/>
        </p:nvPicPr>
        <p:blipFill>
          <a:blip r:embed="rId2" cstate="print"/>
          <a:srcRect/>
          <a:stretch>
            <a:fillRect/>
          </a:stretch>
        </p:blipFill>
        <p:spPr bwMode="auto">
          <a:xfrm>
            <a:off x="990600" y="1187874"/>
            <a:ext cx="7162800" cy="5300386"/>
          </a:xfrm>
          <a:prstGeom prst="rect">
            <a:avLst/>
          </a:prstGeom>
          <a:noFill/>
        </p:spPr>
      </p:pic>
    </p:spTree>
    <p:extLst>
      <p:ext uri="{BB962C8B-B14F-4D97-AF65-F5344CB8AC3E}">
        <p14:creationId xmlns:p14="http://schemas.microsoft.com/office/powerpoint/2010/main" val="6907660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dirty="0"/>
              <a:t>Order </a:t>
            </a:r>
            <a:r>
              <a:rPr lang="en-US" i="1" dirty="0" err="1"/>
              <a:t>Hydrogenophilales</a:t>
            </a:r>
            <a:endParaRPr lang="en-US" dirty="0"/>
          </a:p>
        </p:txBody>
      </p:sp>
      <p:sp>
        <p:nvSpPr>
          <p:cNvPr id="3" name="Content Placeholder 2"/>
          <p:cNvSpPr>
            <a:spLocks noGrp="1"/>
          </p:cNvSpPr>
          <p:nvPr>
            <p:ph sz="half" idx="1"/>
          </p:nvPr>
        </p:nvSpPr>
        <p:spPr>
          <a:xfrm>
            <a:off x="152400" y="990601"/>
            <a:ext cx="8839200" cy="2209800"/>
          </a:xfrm>
        </p:spPr>
        <p:txBody>
          <a:bodyPr>
            <a:normAutofit/>
          </a:bodyPr>
          <a:lstStyle/>
          <a:p>
            <a:pPr>
              <a:spcBef>
                <a:spcPts val="600"/>
              </a:spcBef>
            </a:pPr>
            <a:r>
              <a:rPr lang="en-US" dirty="0"/>
              <a:t>Contains genus </a:t>
            </a:r>
            <a:r>
              <a:rPr lang="en-US" i="1" dirty="0" err="1"/>
              <a:t>Thiobacillus</a:t>
            </a:r>
            <a:endParaRPr lang="en-US" dirty="0"/>
          </a:p>
          <a:p>
            <a:pPr lvl="1">
              <a:spcBef>
                <a:spcPts val="600"/>
              </a:spcBef>
            </a:pPr>
            <a:r>
              <a:rPr lang="en-US" dirty="0"/>
              <a:t>Well-studied </a:t>
            </a:r>
            <a:r>
              <a:rPr lang="en-US" dirty="0" err="1"/>
              <a:t>chemolithotroph</a:t>
            </a:r>
            <a:endParaRPr lang="en-US" dirty="0"/>
          </a:p>
          <a:p>
            <a:pPr lvl="1">
              <a:spcBef>
                <a:spcPts val="600"/>
              </a:spcBef>
            </a:pPr>
            <a:r>
              <a:rPr lang="en-US" dirty="0"/>
              <a:t>prominent member of colorless sulfur bacteria</a:t>
            </a:r>
          </a:p>
          <a:p>
            <a:pPr lvl="2">
              <a:spcBef>
                <a:spcPts val="600"/>
              </a:spcBef>
            </a:pPr>
            <a:r>
              <a:rPr lang="en-US" dirty="0" err="1"/>
              <a:t>chemolithotrophs</a:t>
            </a:r>
            <a:r>
              <a:rPr lang="en-US" dirty="0"/>
              <a:t> that oxidize sulfur compounds</a:t>
            </a:r>
          </a:p>
          <a:p>
            <a:pPr lvl="2">
              <a:spcBef>
                <a:spcPts val="600"/>
              </a:spcBef>
            </a:pPr>
            <a:r>
              <a:rPr lang="en-US" dirty="0"/>
              <a:t>other colorless sulfur bacteria are in class </a:t>
            </a:r>
            <a:r>
              <a:rPr lang="en-US" i="1" dirty="0"/>
              <a:t>Gamma </a:t>
            </a:r>
            <a:r>
              <a:rPr lang="en-US" i="1" dirty="0" err="1"/>
              <a:t>proteobacteria</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41</a:t>
            </a:fld>
            <a:endParaRPr lang="en-US"/>
          </a:p>
        </p:txBody>
      </p:sp>
      <p:pic>
        <p:nvPicPr>
          <p:cNvPr id="23554" name="Picture 2" descr="Header Row: Genus; Cell Shape; Motility and Location of Flagella; Sulfur Deposit (when hydrogen sulfide is oxidized to elemental sulfur);  Nutritional Type&#10;Thiobacillus; Rods; +, polar; Extracellular; Obligate or facultative chemolithotroph&#10;Thiomicrospira; Spirals, comma, or rod-shaped; − or +, polar; Extracellular; Obligate chemolithotroph&#10;Thiobacterium; Rods embedded in gelatinous masses; −; Intracellular (may use sulfur oxidation to detoxify H2O2); Probably chemoorganoheterotrophs&#10;Thiospira; Spiral rods, usually with pointed ends; +, polar (single or in tufts); Intracellular; Unknown&#10;Macromonas; Rods, cylindrical or bean-shaped; +, polar tuft; Intracellular (may use sulfur oxidation to detoxify H2O2); Probably chemoorganoheterotrophs" title="Table 22.4 Colorless Sulfur-Oxidizing Genera"/>
          <p:cNvPicPr>
            <a:picLocks noChangeAspect="1" noChangeArrowheads="1"/>
          </p:cNvPicPr>
          <p:nvPr/>
        </p:nvPicPr>
        <p:blipFill>
          <a:blip r:embed="rId2" cstate="print"/>
          <a:srcRect/>
          <a:stretch>
            <a:fillRect/>
          </a:stretch>
        </p:blipFill>
        <p:spPr bwMode="auto">
          <a:xfrm>
            <a:off x="749424" y="3429000"/>
            <a:ext cx="7632576" cy="2938990"/>
          </a:xfrm>
          <a:prstGeom prst="rect">
            <a:avLst/>
          </a:prstGeom>
          <a:noFill/>
        </p:spPr>
      </p:pic>
    </p:spTree>
    <p:extLst>
      <p:ext uri="{BB962C8B-B14F-4D97-AF65-F5344CB8AC3E}">
        <p14:creationId xmlns:p14="http://schemas.microsoft.com/office/powerpoint/2010/main" val="6907660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3962400" cy="1143000"/>
          </a:xfrm>
        </p:spPr>
        <p:txBody>
          <a:bodyPr/>
          <a:lstStyle/>
          <a:p>
            <a:r>
              <a:rPr lang="en-US" dirty="0"/>
              <a:t>Genus </a:t>
            </a:r>
            <a:r>
              <a:rPr lang="en-US" i="1" dirty="0" err="1"/>
              <a:t>Thiobacillus</a:t>
            </a:r>
            <a:endParaRPr lang="en-US" dirty="0"/>
          </a:p>
        </p:txBody>
      </p:sp>
      <p:sp>
        <p:nvSpPr>
          <p:cNvPr id="3" name="Content Placeholder 2"/>
          <p:cNvSpPr>
            <a:spLocks noGrp="1"/>
          </p:cNvSpPr>
          <p:nvPr>
            <p:ph sz="half" idx="1"/>
          </p:nvPr>
        </p:nvSpPr>
        <p:spPr>
          <a:xfrm>
            <a:off x="152400" y="1295400"/>
            <a:ext cx="3657600" cy="5410200"/>
          </a:xfrm>
        </p:spPr>
        <p:txBody>
          <a:bodyPr>
            <a:normAutofit lnSpcReduction="10000"/>
          </a:bodyPr>
          <a:lstStyle/>
          <a:p>
            <a:r>
              <a:rPr lang="en-US" dirty="0"/>
              <a:t>Found in soil and aquatic habitats</a:t>
            </a:r>
            <a:br>
              <a:rPr lang="en-US" dirty="0"/>
            </a:br>
            <a:endParaRPr lang="en-US" dirty="0"/>
          </a:p>
          <a:p>
            <a:pPr lvl="1"/>
            <a:r>
              <a:rPr lang="en-US" dirty="0"/>
              <a:t>production of sulfuric acid can cause corrosion of concrete and metal structures</a:t>
            </a:r>
          </a:p>
          <a:p>
            <a:pPr lvl="1"/>
            <a:r>
              <a:rPr lang="en-US" dirty="0"/>
              <a:t>may increase soil fertility by releasing sulfate</a:t>
            </a:r>
          </a:p>
          <a:p>
            <a:pPr lvl="1"/>
            <a:r>
              <a:rPr lang="en-US" dirty="0"/>
              <a:t>used in leaching metals from low grade metal ores</a:t>
            </a:r>
            <a:endParaRPr lang="en-US" sz="3600" dirty="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42</a:t>
            </a:fld>
            <a:endParaRPr lang="en-US"/>
          </a:p>
        </p:txBody>
      </p:sp>
      <p:pic>
        <p:nvPicPr>
          <p:cNvPr id="24578" name="Picture 2" descr="(a) Reduced sulfur compounds such as sulfide (HS-) or thiosulfate (S2O32−) are oxidized to sulfite (SO32−). Electrons from sulfite can be donated to an electron transport chain via sulfite dehydrogenase and used to generate a proton motive force. Alternatively, the enzyme adenosine 5’-phosphosulfate reductase catalyzes the oxidation of sulfite to sulfate, which is used to convert adenosine monophosphate to adenosine 5’-phosphosulfate. ATP sulfurylase and adenosine 5’-phosphosulfate:phosphate adenylyltransferase then catalyze the exchange of the sulfate on APS with PPi to generate ATP via substrate-level phosphorylation. (b) Chemical structure of adenosine 5’-phosphosulfate." title="Figure 22.20 Sulfur oxidation in Thiobacillus ferrooxidans."/>
          <p:cNvPicPr>
            <a:picLocks noChangeAspect="1" noChangeArrowheads="1"/>
          </p:cNvPicPr>
          <p:nvPr/>
        </p:nvPicPr>
        <p:blipFill>
          <a:blip r:embed="rId2" cstate="print"/>
          <a:srcRect/>
          <a:stretch>
            <a:fillRect/>
          </a:stretch>
        </p:blipFill>
        <p:spPr bwMode="auto">
          <a:xfrm>
            <a:off x="4876800" y="152400"/>
            <a:ext cx="3797300" cy="6394450"/>
          </a:xfrm>
          <a:prstGeom prst="rect">
            <a:avLst/>
          </a:prstGeom>
          <a:noFill/>
        </p:spPr>
      </p:pic>
    </p:spTree>
    <p:extLst>
      <p:ext uri="{BB962C8B-B14F-4D97-AF65-F5344CB8AC3E}">
        <p14:creationId xmlns:p14="http://schemas.microsoft.com/office/powerpoint/2010/main" val="6907660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22.3 Class </a:t>
            </a:r>
            <a:r>
              <a:rPr lang="en-US" i="1" dirty="0" err="1"/>
              <a:t>Gammaproteobacteria</a:t>
            </a:r>
            <a:r>
              <a:rPr lang="en-US" dirty="0"/>
              <a:t> Is The Largest Bacterial Class</a:t>
            </a:r>
          </a:p>
        </p:txBody>
      </p:sp>
      <p:sp>
        <p:nvSpPr>
          <p:cNvPr id="3" name="Content Placeholder 2"/>
          <p:cNvSpPr>
            <a:spLocks noGrp="1"/>
          </p:cNvSpPr>
          <p:nvPr>
            <p:ph idx="1"/>
          </p:nvPr>
        </p:nvSpPr>
        <p:spPr>
          <a:xfrm>
            <a:off x="228600" y="1600200"/>
            <a:ext cx="8686800" cy="5029200"/>
          </a:xfrm>
        </p:spPr>
        <p:txBody>
          <a:bodyPr>
            <a:normAutofit fontScale="92500"/>
          </a:bodyPr>
          <a:lstStyle/>
          <a:p>
            <a:pPr marL="514350" indent="-514350">
              <a:buFont typeface="+mj-lt"/>
              <a:buAutoNum type="arabicPeriod"/>
            </a:pPr>
            <a:r>
              <a:rPr lang="en-US" dirty="0"/>
              <a:t>Relate the electron donors used by a variety of </a:t>
            </a:r>
            <a:r>
              <a:rPr lang="el-GR" dirty="0"/>
              <a:t>γ</a:t>
            </a:r>
            <a:r>
              <a:rPr lang="en-US" dirty="0"/>
              <a:t>-</a:t>
            </a:r>
            <a:r>
              <a:rPr lang="en-US" dirty="0" err="1"/>
              <a:t>proteobacteria</a:t>
            </a:r>
            <a:r>
              <a:rPr lang="en-US" dirty="0"/>
              <a:t> to the habitats in which they thrive</a:t>
            </a:r>
            <a:br>
              <a:rPr lang="en-US" dirty="0"/>
            </a:br>
            <a:endParaRPr lang="en-US" dirty="0"/>
          </a:p>
          <a:p>
            <a:pPr marL="514350" indent="-514350">
              <a:buFont typeface="+mj-lt"/>
              <a:buAutoNum type="arabicPeriod"/>
            </a:pPr>
            <a:r>
              <a:rPr lang="en-US" dirty="0"/>
              <a:t>Describe the multicellular arrangements and unusual cellular morphologies displayed by some </a:t>
            </a:r>
            <a:r>
              <a:rPr lang="el-GR" dirty="0"/>
              <a:t>γ</a:t>
            </a:r>
            <a:r>
              <a:rPr lang="en-US" dirty="0"/>
              <a:t>-</a:t>
            </a:r>
            <a:r>
              <a:rPr lang="en-US" dirty="0" err="1"/>
              <a:t>proteobacteria</a:t>
            </a:r>
            <a:br>
              <a:rPr lang="en-US" dirty="0"/>
            </a:br>
            <a:endParaRPr lang="en-US" dirty="0"/>
          </a:p>
          <a:p>
            <a:pPr marL="514350" indent="-514350">
              <a:buFont typeface="+mj-lt"/>
              <a:buAutoNum type="arabicPeriod"/>
            </a:pPr>
            <a:r>
              <a:rPr lang="en-US" dirty="0"/>
              <a:t>Outline the oxidation of methane by </a:t>
            </a:r>
            <a:r>
              <a:rPr lang="en-US" dirty="0" err="1"/>
              <a:t>methanotrophs</a:t>
            </a:r>
            <a:br>
              <a:rPr lang="en-US" dirty="0"/>
            </a:br>
            <a:endParaRPr lang="en-US" dirty="0"/>
          </a:p>
          <a:p>
            <a:pPr marL="514350" indent="-514350">
              <a:buFont typeface="+mj-lt"/>
              <a:buAutoNum type="arabicPeriod"/>
            </a:pPr>
            <a:r>
              <a:rPr lang="en-US" dirty="0"/>
              <a:t>Compare the intracellular life cycle of </a:t>
            </a:r>
            <a:r>
              <a:rPr lang="en-US" i="1" dirty="0"/>
              <a:t>Legionella</a:t>
            </a:r>
            <a:r>
              <a:rPr lang="en-US" dirty="0"/>
              <a:t> spp. to that of </a:t>
            </a:r>
            <a:r>
              <a:rPr lang="en-US" i="1" dirty="0" err="1"/>
              <a:t>Coxiella</a:t>
            </a:r>
            <a:r>
              <a:rPr lang="en-US" i="1" dirty="0"/>
              <a:t> </a:t>
            </a:r>
            <a:r>
              <a:rPr lang="en-US" dirty="0"/>
              <a:t>spp.</a:t>
            </a:r>
            <a:br>
              <a:rPr lang="en-US" dirty="0"/>
            </a:br>
            <a:endParaRPr lang="en-US" dirty="0"/>
          </a:p>
          <a:p>
            <a:pPr marL="514350" indent="-514350">
              <a:buFont typeface="+mj-lt"/>
              <a:buAutoNum type="arabicPeriod"/>
            </a:pPr>
            <a:r>
              <a:rPr lang="en-US" dirty="0"/>
              <a:t>Describe four practical aspects of pseudomonads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43</a:t>
            </a:fld>
            <a:endParaRPr lang="en-US"/>
          </a:p>
        </p:txBody>
      </p:sp>
    </p:spTree>
    <p:extLst>
      <p:ext uri="{BB962C8B-B14F-4D97-AF65-F5344CB8AC3E}">
        <p14:creationId xmlns:p14="http://schemas.microsoft.com/office/powerpoint/2010/main" val="6907660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22.3 Class </a:t>
            </a:r>
            <a:r>
              <a:rPr lang="en-US" i="1" dirty="0" err="1"/>
              <a:t>Gammaproteobacteria</a:t>
            </a:r>
            <a:r>
              <a:rPr lang="en-US" dirty="0"/>
              <a:t> Is The Largest Bacterial Class – 2</a:t>
            </a:r>
          </a:p>
        </p:txBody>
      </p:sp>
      <p:sp>
        <p:nvSpPr>
          <p:cNvPr id="4" name="Content Placeholder 3"/>
          <p:cNvSpPr>
            <a:spLocks noGrp="1"/>
          </p:cNvSpPr>
          <p:nvPr>
            <p:ph idx="1"/>
          </p:nvPr>
        </p:nvSpPr>
        <p:spPr>
          <a:xfrm>
            <a:off x="228600" y="1600200"/>
            <a:ext cx="8763000" cy="5029200"/>
          </a:xfrm>
        </p:spPr>
        <p:txBody>
          <a:bodyPr>
            <a:normAutofit fontScale="92500" lnSpcReduction="20000"/>
          </a:bodyPr>
          <a:lstStyle/>
          <a:p>
            <a:pPr marL="514350" indent="-514350">
              <a:buFont typeface="+mj-lt"/>
              <a:buAutoNum type="arabicPeriod" startAt="6"/>
            </a:pPr>
            <a:r>
              <a:rPr lang="en-US" dirty="0"/>
              <a:t>List at least five electron acceptors used by </a:t>
            </a:r>
            <a:r>
              <a:rPr lang="en-US" i="1" dirty="0" err="1"/>
              <a:t>Shewanella</a:t>
            </a:r>
            <a:r>
              <a:rPr lang="en-US" dirty="0"/>
              <a:t> and explain the term dissimilatory metal reduction</a:t>
            </a:r>
            <a:br>
              <a:rPr lang="en-US" dirty="0"/>
            </a:br>
            <a:endParaRPr lang="en-US" dirty="0"/>
          </a:p>
          <a:p>
            <a:pPr marL="514350" indent="-514350">
              <a:buFont typeface="+mj-lt"/>
              <a:buAutoNum type="arabicPeriod" startAt="6"/>
            </a:pPr>
            <a:r>
              <a:rPr lang="en-US" dirty="0"/>
              <a:t>Describe three strategies used by dissimilatory metal-reducing bacteria that enable their use of insoluble compounds as electron acceptors</a:t>
            </a:r>
            <a:br>
              <a:rPr lang="en-US" dirty="0"/>
            </a:br>
            <a:endParaRPr lang="en-US" dirty="0"/>
          </a:p>
          <a:p>
            <a:pPr marL="514350" indent="-514350">
              <a:buFont typeface="+mj-lt"/>
              <a:buAutoNum type="arabicPeriod" startAt="6"/>
            </a:pPr>
            <a:r>
              <a:rPr lang="en-US" dirty="0"/>
              <a:t>Compare and contrast the physiology and importance of members of </a:t>
            </a:r>
            <a:r>
              <a:rPr lang="en-US" i="1" dirty="0" err="1"/>
              <a:t>Vibrionales</a:t>
            </a:r>
            <a:r>
              <a:rPr lang="en-US" dirty="0"/>
              <a:t> with those in </a:t>
            </a:r>
            <a:r>
              <a:rPr lang="en-US" i="1" dirty="0" err="1"/>
              <a:t>Enterobacteriales</a:t>
            </a:r>
            <a:r>
              <a:rPr lang="en-US" dirty="0"/>
              <a:t> and </a:t>
            </a:r>
            <a:r>
              <a:rPr lang="en-US" i="1" dirty="0" err="1"/>
              <a:t>Pasteurellales</a:t>
            </a:r>
            <a:br>
              <a:rPr lang="en-US" i="1" dirty="0"/>
            </a:br>
            <a:endParaRPr lang="en-US" i="1" dirty="0"/>
          </a:p>
          <a:p>
            <a:pPr marL="514350" indent="-514350">
              <a:buFont typeface="+mj-lt"/>
              <a:buAutoNum type="arabicPeriod" startAt="6"/>
            </a:pPr>
            <a:r>
              <a:rPr lang="en-US" dirty="0"/>
              <a:t>Summarize mixed acid fermentation</a:t>
            </a:r>
            <a:br>
              <a:rPr lang="en-US" dirty="0"/>
            </a:br>
            <a:endParaRPr lang="en-US" dirty="0"/>
          </a:p>
          <a:p>
            <a:pPr marL="514350" indent="-514350">
              <a:buFont typeface="+mj-lt"/>
              <a:buAutoNum type="arabicPeriod" startAt="6"/>
            </a:pPr>
            <a:r>
              <a:rPr lang="en-US" dirty="0"/>
              <a:t>Describe the use of metabolic assays to distinguish between enteric bacteria</a:t>
            </a:r>
          </a:p>
        </p:txBody>
      </p:sp>
      <p:sp>
        <p:nvSpPr>
          <p:cNvPr id="3" name="Slide Number Placeholder 2"/>
          <p:cNvSpPr>
            <a:spLocks noGrp="1"/>
          </p:cNvSpPr>
          <p:nvPr>
            <p:ph type="sldNum" sz="quarter" idx="12"/>
          </p:nvPr>
        </p:nvSpPr>
        <p:spPr/>
        <p:txBody>
          <a:bodyPr/>
          <a:lstStyle/>
          <a:p>
            <a:fld id="{3B1A82D2-719A-4A87-BECB-D74482819C19}" type="slidenum">
              <a:rPr lang="en-US" smtClean="0"/>
              <a:pPr/>
              <a:t>44</a:t>
            </a:fld>
            <a:endParaRPr lang="en-US"/>
          </a:p>
        </p:txBody>
      </p:sp>
    </p:spTree>
    <p:extLst>
      <p:ext uri="{BB962C8B-B14F-4D97-AF65-F5344CB8AC3E}">
        <p14:creationId xmlns:p14="http://schemas.microsoft.com/office/powerpoint/2010/main" val="6058809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3400" y="76200"/>
            <a:ext cx="4724400" cy="1295400"/>
          </a:xfrm>
        </p:spPr>
        <p:txBody>
          <a:bodyPr>
            <a:normAutofit/>
          </a:bodyPr>
          <a:lstStyle/>
          <a:p>
            <a:r>
              <a:rPr lang="en-US" dirty="0"/>
              <a:t>Class </a:t>
            </a:r>
            <a:r>
              <a:rPr lang="en-US" i="1" dirty="0" err="1"/>
              <a:t>Gammaproteobacteria</a:t>
            </a:r>
            <a:endParaRPr lang="en-US" dirty="0"/>
          </a:p>
        </p:txBody>
      </p:sp>
      <p:sp>
        <p:nvSpPr>
          <p:cNvPr id="6" name="Content Placeholder 5"/>
          <p:cNvSpPr>
            <a:spLocks noGrp="1"/>
          </p:cNvSpPr>
          <p:nvPr>
            <p:ph sz="half" idx="2"/>
          </p:nvPr>
        </p:nvSpPr>
        <p:spPr>
          <a:xfrm>
            <a:off x="4648200" y="1447800"/>
            <a:ext cx="4038600" cy="5257800"/>
          </a:xfrm>
        </p:spPr>
        <p:txBody>
          <a:bodyPr>
            <a:normAutofit fontScale="92500" lnSpcReduction="20000"/>
          </a:bodyPr>
          <a:lstStyle/>
          <a:p>
            <a:r>
              <a:rPr lang="en-US" dirty="0"/>
              <a:t>Largest subgroup of </a:t>
            </a:r>
            <a:r>
              <a:rPr lang="en-US" dirty="0" err="1"/>
              <a:t>proteobacteria</a:t>
            </a:r>
            <a:endParaRPr lang="en-US" dirty="0"/>
          </a:p>
          <a:p>
            <a:pPr lvl="1"/>
            <a:r>
              <a:rPr lang="en-US" dirty="0"/>
              <a:t>contains 14 orders and 28 families</a:t>
            </a:r>
            <a:br>
              <a:rPr lang="en-US" dirty="0"/>
            </a:br>
            <a:endParaRPr lang="en-US" dirty="0"/>
          </a:p>
          <a:p>
            <a:r>
              <a:rPr lang="en-US" dirty="0"/>
              <a:t>Very diverse physiological types</a:t>
            </a:r>
          </a:p>
          <a:p>
            <a:pPr lvl="1"/>
            <a:r>
              <a:rPr lang="en-US" dirty="0" err="1"/>
              <a:t>chemoorganotrophs</a:t>
            </a:r>
            <a:r>
              <a:rPr lang="en-US" dirty="0"/>
              <a:t>, </a:t>
            </a:r>
            <a:r>
              <a:rPr lang="en-US" dirty="0" err="1"/>
              <a:t>photolithotrophs</a:t>
            </a:r>
            <a:r>
              <a:rPr lang="en-US" dirty="0"/>
              <a:t>, </a:t>
            </a:r>
            <a:r>
              <a:rPr lang="en-US" dirty="0" err="1"/>
              <a:t>chemolithotrophs</a:t>
            </a:r>
            <a:r>
              <a:rPr lang="en-US" dirty="0"/>
              <a:t>, </a:t>
            </a:r>
            <a:r>
              <a:rPr lang="en-US" dirty="0" err="1"/>
              <a:t>methylotrophs</a:t>
            </a:r>
            <a:endParaRPr lang="en-US" dirty="0"/>
          </a:p>
          <a:p>
            <a:pPr lvl="1"/>
            <a:r>
              <a:rPr lang="en-US" dirty="0"/>
              <a:t>aerobic and anaerobic</a:t>
            </a:r>
            <a:br>
              <a:rPr lang="en-US" dirty="0"/>
            </a:br>
            <a:endParaRPr lang="en-US" dirty="0"/>
          </a:p>
          <a:p>
            <a:r>
              <a:rPr lang="en-US" dirty="0"/>
              <a:t>Many deeply branching groups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45</a:t>
            </a:fld>
            <a:endParaRPr lang="en-US"/>
          </a:p>
        </p:txBody>
      </p:sp>
      <p:pic>
        <p:nvPicPr>
          <p:cNvPr id="25602" name="Picture 2" descr="The exceptional diversity of these bacteria is evident from the fact that Bergey's Manual divides γ-proteobacteria into 14 orders and 28 families.  The major phylogenetic groups are separated here based on 16S rRNA sequence comparisons.  Representative genera are given in parentheses.&#10;The figure includes (from top to bottom) Aeromonadaceae (Aeromonas), Alteromonadaceae (Shewanella), Enterobacteriaceae (Escherichia, Salmonella, Shigella, Proteus), Pasteurellaceae (Pasteurella, Haemophilus), Succinivibrionaceae (Ruminobacter), Vibrionaceae (Vibrio, Photobacterium); Halomonadaceae (Halomonas); Oceanospirillaceae (Oceanospirillum); Pseudomonadaceae (Pseudomonas, Azotobacter); Moraxellaceae (Moraxella, Acinetobacter); Methylococcaceae (Methylococcus, Methylomonas); Francisellaceae (Francisella); Piscrickettsiaceae (Hydrogenovibrio, Thiomicrospira); Legionellaceae (Legionella); Betaproteobacteria; Xanthomonadales (Xanthomonas); Chromatiales (Chromatium, Thiococcus, Thiospirillum)." title="Figure 22.21 Phylogenetic Relationships Among γ-Proteobacteria."/>
          <p:cNvPicPr>
            <a:picLocks noChangeAspect="1" noChangeArrowheads="1"/>
          </p:cNvPicPr>
          <p:nvPr/>
        </p:nvPicPr>
        <p:blipFill>
          <a:blip r:embed="rId2" cstate="print"/>
          <a:srcRect/>
          <a:stretch>
            <a:fillRect/>
          </a:stretch>
        </p:blipFill>
        <p:spPr bwMode="auto">
          <a:xfrm>
            <a:off x="381000" y="228600"/>
            <a:ext cx="3829050" cy="6248400"/>
          </a:xfrm>
          <a:prstGeom prst="rect">
            <a:avLst/>
          </a:prstGeom>
          <a:noFill/>
        </p:spPr>
      </p:pic>
    </p:spTree>
    <p:extLst>
      <p:ext uri="{BB962C8B-B14F-4D97-AF65-F5344CB8AC3E}">
        <p14:creationId xmlns:p14="http://schemas.microsoft.com/office/powerpoint/2010/main" val="33560586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6200"/>
            <a:ext cx="8229600" cy="1143000"/>
          </a:xfrm>
        </p:spPr>
        <p:txBody>
          <a:bodyPr>
            <a:normAutofit fontScale="90000"/>
          </a:bodyPr>
          <a:lstStyle/>
          <a:p>
            <a:r>
              <a:rPr lang="en-US" dirty="0"/>
              <a:t>Characteristics of Select </a:t>
            </a:r>
            <a:r>
              <a:rPr lang="en-US" dirty="0" err="1"/>
              <a:t>Gammaproteobacteria</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46</a:t>
            </a:fld>
            <a:endParaRPr lang="en-US"/>
          </a:p>
        </p:txBody>
      </p:sp>
      <p:pic>
        <p:nvPicPr>
          <p:cNvPr id="26626" name="Picture 2" descr="Header Row: Genus; Dimensions (μm) and Morphology; Oxygen Requirement; Other Distinctive Characteristics&#10;Azotobacter; 1.5–2.0, ovoid cells, pleomorphic, peritrichous flagella or nonmotile; Aerobic; Can form cysts, fix nitrogen nonsymbiotically&#10;Beggiatoa; 1–200 × 2–10, colorless cells form filaments, either single or in bundles; Aerobic or microaerophilic; Gliding motility, can form sulfur inclusions with hydrogen sulfide present&#10;Chromatium; 1–6 × 1.5–16, rod-shaped or ovoid, straight or slightly curved, polar flagella; Anaerobic; Anoxygenic photolithoautotrophs that can use sulfide, sulfur stored within the cell&#10;Ectothiorhodospira; 0.7–1.5 in diameter, vibrioid- or rod-shaped, polar flagella; Anaerobic, some aerobic or microaerophilic; Internal lamellar stacks of membranes, deposit sulfur granules outside cells&#10;Escherichia; 1.1–1.5 × 2–6, straight rods, peritrichous flagella or nonmotile; Facultatively anaerobic; Mixed acid fermenters, formic acid converted to H2 and CO2, lactose fermented, citrate not used&#10;Haemophilus; &lt;1.0 in width, variable lengths, coccobacilli or rods, nonmotile; Aerobic or facultatively anaerobic; Fermentative, require growth factors present in blood, parasites on mucous membranes&#10;Leucothrix; Long filaments of short cylindrical cells, usually holdfast is present; Aerobic; Dispersal by gonidia, filaments don't glide, rosettes formed, chemoorganotrophic&#10;Methylococcus; 0.8–1.5 × 1.0–1.5, cocci with capsules, nonmotile; Aerobic; Can form cysts, use methane, methanol, and formaldehyde as sole carbon and energy sources&#10;Photobacterium; 0.8–1.3 × 1.8–2.4, straight, plump rods with polar flagella; Facultatively anaerobic; Two species can emit blue-green light, Na+ needed for growth&#10;Pseudomonas; 0.5–1.0 × 1.5–5.0, straight or slightly curved rods, polar flagella; Aerobic or facultatively anaerobic; Respiratory metabolism with oxygen or nitrate as acceptor, some use H2 or CO as energy source&#10;Vibrio; 0.5–0.8 × 1.4–2.6, straight or curved rods with sheathed polar flagella; Facultatively anaerobic; Fermentative or respiratory metabolism, sodium ions stimulate or are needed for growth, oxidase positive" title="Table 22.5 Characteristics of Selected γ-Proteobacteria"/>
          <p:cNvPicPr>
            <a:picLocks noChangeAspect="1" noChangeArrowheads="1"/>
          </p:cNvPicPr>
          <p:nvPr/>
        </p:nvPicPr>
        <p:blipFill>
          <a:blip r:embed="rId2" cstate="print"/>
          <a:srcRect/>
          <a:stretch>
            <a:fillRect/>
          </a:stretch>
        </p:blipFill>
        <p:spPr bwMode="auto">
          <a:xfrm>
            <a:off x="1447801" y="1261643"/>
            <a:ext cx="6248400" cy="5164978"/>
          </a:xfrm>
          <a:prstGeom prst="rect">
            <a:avLst/>
          </a:prstGeom>
          <a:noFill/>
        </p:spPr>
      </p:pic>
    </p:spTree>
    <p:extLst>
      <p:ext uri="{BB962C8B-B14F-4D97-AF65-F5344CB8AC3E}">
        <p14:creationId xmlns:p14="http://schemas.microsoft.com/office/powerpoint/2010/main" val="16205439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Purple Sulfur Bacteria</a:t>
            </a:r>
          </a:p>
        </p:txBody>
      </p:sp>
      <p:sp>
        <p:nvSpPr>
          <p:cNvPr id="3" name="Content Placeholder 2"/>
          <p:cNvSpPr>
            <a:spLocks noGrp="1"/>
          </p:cNvSpPr>
          <p:nvPr>
            <p:ph idx="1"/>
          </p:nvPr>
        </p:nvSpPr>
        <p:spPr/>
        <p:txBody>
          <a:bodyPr>
            <a:normAutofit/>
          </a:bodyPr>
          <a:lstStyle/>
          <a:p>
            <a:r>
              <a:rPr lang="en-US" dirty="0"/>
              <a:t>Placed in order </a:t>
            </a:r>
            <a:r>
              <a:rPr lang="en-US" i="1" dirty="0" err="1"/>
              <a:t>Chromatiales</a:t>
            </a:r>
            <a:br>
              <a:rPr lang="en-US" i="1" dirty="0"/>
            </a:br>
            <a:endParaRPr lang="en-US" i="1" dirty="0"/>
          </a:p>
          <a:p>
            <a:pPr lvl="1"/>
            <a:r>
              <a:rPr lang="en-US" dirty="0"/>
              <a:t>divided into two families, </a:t>
            </a:r>
            <a:r>
              <a:rPr lang="en-US" i="1" dirty="0" err="1"/>
              <a:t>Chromatiaceae</a:t>
            </a:r>
            <a:r>
              <a:rPr lang="en-US" dirty="0"/>
              <a:t> and </a:t>
            </a:r>
            <a:r>
              <a:rPr lang="en-US" i="1" dirty="0" err="1"/>
              <a:t>Ectothiorhodospiraceae</a:t>
            </a:r>
            <a:br>
              <a:rPr lang="en-US" i="1" dirty="0"/>
            </a:br>
            <a:endParaRPr lang="en-US" dirty="0"/>
          </a:p>
          <a:p>
            <a:pPr lvl="1"/>
            <a:r>
              <a:rPr lang="en-US" dirty="0"/>
              <a:t>Family </a:t>
            </a:r>
            <a:r>
              <a:rPr lang="en-US" i="1" dirty="0" err="1"/>
              <a:t>Ectothiorhodospiraceae</a:t>
            </a:r>
            <a:r>
              <a:rPr lang="en-US" i="1" dirty="0"/>
              <a:t> </a:t>
            </a:r>
            <a:r>
              <a:rPr lang="en-US" dirty="0"/>
              <a:t>composed of red, spiral-shaped, </a:t>
            </a:r>
            <a:r>
              <a:rPr lang="en-US" dirty="0" err="1"/>
              <a:t>polarly</a:t>
            </a:r>
            <a:r>
              <a:rPr lang="en-US" dirty="0"/>
              <a:t> flagellated cells that deposit sulfur globules externally</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47</a:t>
            </a:fld>
            <a:endParaRPr lang="en-US"/>
          </a:p>
        </p:txBody>
      </p:sp>
    </p:spTree>
    <p:extLst>
      <p:ext uri="{BB962C8B-B14F-4D97-AF65-F5344CB8AC3E}">
        <p14:creationId xmlns:p14="http://schemas.microsoft.com/office/powerpoint/2010/main" val="2204105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371600"/>
            <a:ext cx="3810000" cy="2018261"/>
          </a:xfrm>
        </p:spPr>
        <p:txBody>
          <a:bodyPr>
            <a:normAutofit/>
          </a:bodyPr>
          <a:lstStyle/>
          <a:p>
            <a:r>
              <a:rPr lang="en-US" dirty="0"/>
              <a:t>Family </a:t>
            </a:r>
            <a:r>
              <a:rPr lang="en-US" i="1" dirty="0" err="1"/>
              <a:t>Chromatiaceae</a:t>
            </a:r>
            <a:endParaRPr lang="en-US" dirty="0"/>
          </a:p>
        </p:txBody>
      </p:sp>
      <p:sp>
        <p:nvSpPr>
          <p:cNvPr id="3" name="Content Placeholder 2"/>
          <p:cNvSpPr>
            <a:spLocks noGrp="1"/>
          </p:cNvSpPr>
          <p:nvPr>
            <p:ph sz="half" idx="1"/>
          </p:nvPr>
        </p:nvSpPr>
        <p:spPr>
          <a:xfrm>
            <a:off x="228600" y="3581400"/>
            <a:ext cx="8686800" cy="3200400"/>
          </a:xfrm>
        </p:spPr>
        <p:txBody>
          <a:bodyPr>
            <a:normAutofit fontScale="85000" lnSpcReduction="20000"/>
          </a:bodyPr>
          <a:lstStyle/>
          <a:p>
            <a:r>
              <a:rPr lang="en-US" dirty="0"/>
              <a:t>Strict anaerobes</a:t>
            </a:r>
            <a:br>
              <a:rPr lang="en-US" dirty="0"/>
            </a:br>
            <a:endParaRPr lang="en-US" dirty="0"/>
          </a:p>
          <a:p>
            <a:r>
              <a:rPr lang="en-US" dirty="0"/>
              <a:t>Usually </a:t>
            </a:r>
            <a:r>
              <a:rPr lang="en-US" dirty="0" err="1"/>
              <a:t>photoautolithotrophs</a:t>
            </a:r>
            <a:endParaRPr lang="en-US" dirty="0"/>
          </a:p>
          <a:p>
            <a:pPr lvl="1"/>
            <a:r>
              <a:rPr lang="en-US" dirty="0"/>
              <a:t>use H</a:t>
            </a:r>
            <a:r>
              <a:rPr lang="en-US" baseline="-25000" dirty="0"/>
              <a:t>2</a:t>
            </a:r>
            <a:r>
              <a:rPr lang="en-US" dirty="0"/>
              <a:t>S as electron donor</a:t>
            </a:r>
          </a:p>
          <a:p>
            <a:pPr lvl="2"/>
            <a:r>
              <a:rPr lang="en-US" dirty="0"/>
              <a:t>deposit sulfur granules internally</a:t>
            </a:r>
          </a:p>
          <a:p>
            <a:pPr lvl="2"/>
            <a:r>
              <a:rPr lang="en-US" dirty="0"/>
              <a:t>often eventually oxidize sulfur to sulfate</a:t>
            </a:r>
          </a:p>
          <a:p>
            <a:pPr lvl="1"/>
            <a:r>
              <a:rPr lang="en-US" dirty="0"/>
              <a:t>may also use hydrogen as electron donor</a:t>
            </a:r>
            <a:br>
              <a:rPr lang="en-US" dirty="0"/>
            </a:br>
            <a:endParaRPr lang="en-US" dirty="0"/>
          </a:p>
          <a:p>
            <a:r>
              <a:rPr lang="en-US" dirty="0"/>
              <a:t>Usually found in anaerobic, sulfide-rich zones of lakes</a:t>
            </a:r>
          </a:p>
          <a:p>
            <a:pPr lvl="1"/>
            <a:r>
              <a:rPr lang="en-US" dirty="0"/>
              <a:t>can cause large blooms in bogs and lagoons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48</a:t>
            </a:fld>
            <a:endParaRPr lang="en-US"/>
          </a:p>
        </p:txBody>
      </p:sp>
      <p:pic>
        <p:nvPicPr>
          <p:cNvPr id="27650" name="Picture 2" descr="Photo of purple photosynthetic sulfur bacteria growing in a salt marsh." title="Figure 22.22 Purple Photosynthetic Sulfur Bacteria."/>
          <p:cNvPicPr>
            <a:picLocks noChangeAspect="1" noChangeArrowheads="1"/>
          </p:cNvPicPr>
          <p:nvPr/>
        </p:nvPicPr>
        <p:blipFill>
          <a:blip r:embed="rId2" cstate="print"/>
          <a:srcRect/>
          <a:stretch>
            <a:fillRect/>
          </a:stretch>
        </p:blipFill>
        <p:spPr bwMode="auto">
          <a:xfrm>
            <a:off x="3733800" y="381000"/>
            <a:ext cx="5258016" cy="3667922"/>
          </a:xfrm>
          <a:prstGeom prst="rect">
            <a:avLst/>
          </a:prstGeom>
          <a:noFill/>
        </p:spPr>
      </p:pic>
    </p:spTree>
    <p:extLst>
      <p:ext uri="{BB962C8B-B14F-4D97-AF65-F5344CB8AC3E}">
        <p14:creationId xmlns:p14="http://schemas.microsoft.com/office/powerpoint/2010/main" val="27044843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a:t>
            </a:r>
            <a:r>
              <a:rPr lang="en-US" i="1" dirty="0" err="1"/>
              <a:t>Thiotrichales</a:t>
            </a:r>
            <a:endParaRPr lang="en-US" dirty="0"/>
          </a:p>
        </p:txBody>
      </p:sp>
      <p:sp>
        <p:nvSpPr>
          <p:cNvPr id="3" name="Content Placeholder 2"/>
          <p:cNvSpPr>
            <a:spLocks noGrp="1"/>
          </p:cNvSpPr>
          <p:nvPr>
            <p:ph idx="1"/>
          </p:nvPr>
        </p:nvSpPr>
        <p:spPr/>
        <p:txBody>
          <a:bodyPr/>
          <a:lstStyle/>
          <a:p>
            <a:r>
              <a:rPr lang="en-US" dirty="0"/>
              <a:t>Contains three families</a:t>
            </a:r>
            <a:br>
              <a:rPr lang="en-US" dirty="0"/>
            </a:br>
            <a:endParaRPr lang="en-US" dirty="0"/>
          </a:p>
          <a:p>
            <a:pPr lvl="1"/>
            <a:r>
              <a:rPr lang="en-US" dirty="0"/>
              <a:t>largest is </a:t>
            </a:r>
            <a:r>
              <a:rPr lang="en-US" i="1" dirty="0" err="1"/>
              <a:t>Thiotrichaceae</a:t>
            </a:r>
            <a:br>
              <a:rPr lang="en-US" i="1" dirty="0"/>
            </a:br>
            <a:endParaRPr lang="en-US" i="1" dirty="0"/>
          </a:p>
          <a:p>
            <a:pPr lvl="2"/>
            <a:r>
              <a:rPr lang="en-US" dirty="0"/>
              <a:t>contains several genera of that oxidize sulfur </a:t>
            </a:r>
          </a:p>
          <a:p>
            <a:pPr lvl="2"/>
            <a:r>
              <a:rPr lang="en-US" dirty="0"/>
              <a:t>rods and filamentous forms</a:t>
            </a:r>
          </a:p>
          <a:p>
            <a:pPr lvl="2"/>
            <a:r>
              <a:rPr lang="en-US" dirty="0"/>
              <a:t>best studied genera are </a:t>
            </a:r>
            <a:r>
              <a:rPr lang="en-US" i="1" dirty="0" err="1"/>
              <a:t>Beggiatoa</a:t>
            </a:r>
            <a:r>
              <a:rPr lang="en-US" i="1" dirty="0"/>
              <a:t>, </a:t>
            </a:r>
            <a:r>
              <a:rPr lang="en-US" i="1" dirty="0" err="1"/>
              <a:t>Leucothrix</a:t>
            </a:r>
            <a:r>
              <a:rPr lang="en-US" i="1" dirty="0"/>
              <a:t>, </a:t>
            </a:r>
            <a:r>
              <a:rPr lang="en-US" dirty="0"/>
              <a:t>and </a:t>
            </a:r>
            <a:r>
              <a:rPr lang="en-US" i="1" dirty="0" err="1"/>
              <a:t>Thiothrix</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49</a:t>
            </a:fld>
            <a:endParaRPr lang="en-US"/>
          </a:p>
        </p:txBody>
      </p:sp>
    </p:spTree>
    <p:extLst>
      <p:ext uri="{BB962C8B-B14F-4D97-AF65-F5344CB8AC3E}">
        <p14:creationId xmlns:p14="http://schemas.microsoft.com/office/powerpoint/2010/main" val="37644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981200"/>
            <a:ext cx="4191000" cy="1143000"/>
          </a:xfrm>
        </p:spPr>
        <p:txBody>
          <a:bodyPr/>
          <a:lstStyle/>
          <a:p>
            <a:r>
              <a:rPr lang="en-US" dirty="0"/>
              <a:t>Genus </a:t>
            </a:r>
            <a:r>
              <a:rPr lang="en-US" i="1" dirty="0" err="1"/>
              <a:t>Beggiatoa</a:t>
            </a:r>
            <a:endParaRPr lang="en-US" dirty="0"/>
          </a:p>
        </p:txBody>
      </p:sp>
      <p:sp>
        <p:nvSpPr>
          <p:cNvPr id="3" name="Content Placeholder 2"/>
          <p:cNvSpPr>
            <a:spLocks noGrp="1"/>
          </p:cNvSpPr>
          <p:nvPr>
            <p:ph sz="half" idx="1"/>
          </p:nvPr>
        </p:nvSpPr>
        <p:spPr>
          <a:xfrm>
            <a:off x="152400" y="3352800"/>
            <a:ext cx="8839200" cy="3352800"/>
          </a:xfrm>
        </p:spPr>
        <p:txBody>
          <a:bodyPr>
            <a:normAutofit fontScale="92500" lnSpcReduction="20000"/>
          </a:bodyPr>
          <a:lstStyle/>
          <a:p>
            <a:r>
              <a:rPr lang="en-US" dirty="0"/>
              <a:t>Filaments lack sheath</a:t>
            </a:r>
            <a:br>
              <a:rPr lang="en-US" dirty="0"/>
            </a:br>
            <a:endParaRPr lang="en-US" dirty="0"/>
          </a:p>
          <a:p>
            <a:r>
              <a:rPr lang="en-US" dirty="0"/>
              <a:t>Metabolically versatile</a:t>
            </a:r>
          </a:p>
          <a:p>
            <a:pPr lvl="1"/>
            <a:r>
              <a:rPr lang="en-US" dirty="0"/>
              <a:t>can oxidize H</a:t>
            </a:r>
            <a:r>
              <a:rPr lang="en-US" baseline="-25000" dirty="0"/>
              <a:t>2</a:t>
            </a:r>
            <a:r>
              <a:rPr lang="en-US" dirty="0"/>
              <a:t>S to sulfur</a:t>
            </a:r>
          </a:p>
          <a:p>
            <a:pPr lvl="2"/>
            <a:r>
              <a:rPr lang="en-US" sz="2400" dirty="0"/>
              <a:t>deposited internally in pockets formed by invaginations of plasma membrane</a:t>
            </a:r>
          </a:p>
          <a:p>
            <a:pPr lvl="1"/>
            <a:r>
              <a:rPr lang="en-US" dirty="0"/>
              <a:t>can grow </a:t>
            </a:r>
            <a:r>
              <a:rPr lang="en-US" dirty="0" err="1"/>
              <a:t>heterotrophically</a:t>
            </a:r>
            <a:r>
              <a:rPr lang="en-US" dirty="0"/>
              <a:t> with acetate as a carbon source</a:t>
            </a:r>
          </a:p>
          <a:p>
            <a:pPr lvl="1"/>
            <a:r>
              <a:rPr lang="en-US" dirty="0"/>
              <a:t>some may incorporate CO</a:t>
            </a:r>
            <a:r>
              <a:rPr lang="en-US" baseline="-25000" dirty="0"/>
              <a:t>2</a:t>
            </a:r>
            <a:r>
              <a:rPr lang="en-US" dirty="0"/>
              <a:t> </a:t>
            </a:r>
            <a:r>
              <a:rPr lang="en-US" dirty="0" err="1"/>
              <a:t>autotrophically</a:t>
            </a:r>
            <a:endParaRPr lang="en-US" dirty="0"/>
          </a:p>
          <a:p>
            <a:pPr lvl="1"/>
            <a:r>
              <a:rPr lang="en-US" dirty="0"/>
              <a:t>grow in sulfide-rich habitats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50</a:t>
            </a:fld>
            <a:endParaRPr lang="en-US"/>
          </a:p>
        </p:txBody>
      </p:sp>
      <p:pic>
        <p:nvPicPr>
          <p:cNvPr id="28674" name="Picture 2" descr="A light micrograph showing part of a Beggiatoa alba colony showing dark sulfur granules within many of the filaments." title="Figure 22.23 Beggiatoa alba."/>
          <p:cNvPicPr>
            <a:picLocks noChangeAspect="1" noChangeArrowheads="1"/>
          </p:cNvPicPr>
          <p:nvPr/>
        </p:nvPicPr>
        <p:blipFill>
          <a:blip r:embed="rId2" cstate="print"/>
          <a:srcRect/>
          <a:stretch>
            <a:fillRect/>
          </a:stretch>
        </p:blipFill>
        <p:spPr bwMode="auto">
          <a:xfrm>
            <a:off x="4419600" y="312210"/>
            <a:ext cx="4560582" cy="3116790"/>
          </a:xfrm>
          <a:prstGeom prst="rect">
            <a:avLst/>
          </a:prstGeom>
          <a:noFill/>
        </p:spPr>
      </p:pic>
    </p:spTree>
    <p:extLst>
      <p:ext uri="{BB962C8B-B14F-4D97-AF65-F5344CB8AC3E}">
        <p14:creationId xmlns:p14="http://schemas.microsoft.com/office/powerpoint/2010/main" val="1740620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Genus </a:t>
            </a:r>
            <a:r>
              <a:rPr lang="en-US" i="1" dirty="0" err="1"/>
              <a:t>Thiomargarita</a:t>
            </a:r>
            <a:r>
              <a:rPr lang="en-US" dirty="0"/>
              <a:t> </a:t>
            </a:r>
          </a:p>
        </p:txBody>
      </p:sp>
      <p:sp>
        <p:nvSpPr>
          <p:cNvPr id="6" name="Content Placeholder 5"/>
          <p:cNvSpPr>
            <a:spLocks noGrp="1"/>
          </p:cNvSpPr>
          <p:nvPr>
            <p:ph sz="half" idx="2"/>
          </p:nvPr>
        </p:nvSpPr>
        <p:spPr>
          <a:xfrm>
            <a:off x="4648200" y="1600200"/>
            <a:ext cx="4038600" cy="5029200"/>
          </a:xfrm>
        </p:spPr>
        <p:txBody>
          <a:bodyPr>
            <a:normAutofit lnSpcReduction="10000"/>
          </a:bodyPr>
          <a:lstStyle/>
          <a:p>
            <a:r>
              <a:rPr lang="en-US" dirty="0"/>
              <a:t>Among largest bacteria</a:t>
            </a:r>
            <a:br>
              <a:rPr lang="en-US" dirty="0"/>
            </a:br>
            <a:endParaRPr lang="en-US" dirty="0"/>
          </a:p>
          <a:p>
            <a:r>
              <a:rPr lang="en-US" dirty="0"/>
              <a:t>Over 100 microns in diameter and hundreds of centimeters long</a:t>
            </a:r>
            <a:br>
              <a:rPr lang="en-US" dirty="0"/>
            </a:br>
            <a:endParaRPr lang="en-US" dirty="0"/>
          </a:p>
          <a:p>
            <a:r>
              <a:rPr lang="en-US" i="1" dirty="0" err="1"/>
              <a:t>Beggiatoa</a:t>
            </a:r>
            <a:r>
              <a:rPr lang="en-US" i="1" dirty="0"/>
              <a:t>, </a:t>
            </a:r>
            <a:r>
              <a:rPr lang="en-US" i="1" dirty="0" err="1"/>
              <a:t>Thioploca</a:t>
            </a:r>
            <a:r>
              <a:rPr lang="en-US" i="1" dirty="0"/>
              <a:t>, </a:t>
            </a:r>
            <a:r>
              <a:rPr lang="en-US" i="1" dirty="0" err="1"/>
              <a:t>Thiomargarita</a:t>
            </a:r>
            <a:r>
              <a:rPr lang="en-US" dirty="0"/>
              <a:t> grow in bundles, appear hollow</a:t>
            </a:r>
          </a:p>
        </p:txBody>
      </p:sp>
      <p:sp>
        <p:nvSpPr>
          <p:cNvPr id="3" name="Slide Number Placeholder 2"/>
          <p:cNvSpPr>
            <a:spLocks noGrp="1"/>
          </p:cNvSpPr>
          <p:nvPr>
            <p:ph type="sldNum" sz="quarter" idx="12"/>
          </p:nvPr>
        </p:nvSpPr>
        <p:spPr/>
        <p:txBody>
          <a:bodyPr/>
          <a:lstStyle/>
          <a:p>
            <a:fld id="{3B1A82D2-719A-4A87-BECB-D74482819C19}" type="slidenum">
              <a:rPr lang="en-US" smtClean="0"/>
              <a:pPr/>
              <a:t>51</a:t>
            </a:fld>
            <a:endParaRPr lang="en-US"/>
          </a:p>
        </p:txBody>
      </p:sp>
      <p:pic>
        <p:nvPicPr>
          <p:cNvPr id="29698" name="Picture 2" descr="Photo of Thiomargarita namibiensis. This bacterium, usually 100–300 μm in diameter, occasionally reaches a size of 750 μm, 100 times the size of a common bacterium. T. namibiensis uses sulfide from bottom sediments as an energy source and nitrate, which is found in the overlying waters, as an electron acceptor. Vacuoles that store high concentrations of nitrate appear beadlike in this image." title="Figure 22.24 Thiomargarita namibiensis, the World's Largest Known Bacterium."/>
          <p:cNvPicPr>
            <a:picLocks noChangeAspect="1" noChangeArrowheads="1"/>
          </p:cNvPicPr>
          <p:nvPr/>
        </p:nvPicPr>
        <p:blipFill>
          <a:blip r:embed="rId2" cstate="print"/>
          <a:srcRect/>
          <a:stretch>
            <a:fillRect/>
          </a:stretch>
        </p:blipFill>
        <p:spPr bwMode="auto">
          <a:xfrm>
            <a:off x="152400" y="1143000"/>
            <a:ext cx="4539190" cy="3825596"/>
          </a:xfrm>
          <a:prstGeom prst="rect">
            <a:avLst/>
          </a:prstGeom>
          <a:noFill/>
        </p:spPr>
      </p:pic>
    </p:spTree>
    <p:extLst>
      <p:ext uri="{BB962C8B-B14F-4D97-AF65-F5344CB8AC3E}">
        <p14:creationId xmlns:p14="http://schemas.microsoft.com/office/powerpoint/2010/main" val="24059994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Genus </a:t>
            </a:r>
            <a:r>
              <a:rPr lang="en-US" i="1" dirty="0" err="1"/>
              <a:t>Leucothrix</a:t>
            </a:r>
            <a:endParaRPr lang="en-US" dirty="0"/>
          </a:p>
        </p:txBody>
      </p:sp>
      <p:sp>
        <p:nvSpPr>
          <p:cNvPr id="3" name="Content Placeholder 2"/>
          <p:cNvSpPr>
            <a:spLocks noGrp="1"/>
          </p:cNvSpPr>
          <p:nvPr>
            <p:ph sz="half" idx="1"/>
          </p:nvPr>
        </p:nvSpPr>
        <p:spPr>
          <a:xfrm>
            <a:off x="152400" y="1066801"/>
            <a:ext cx="8839200" cy="1981200"/>
          </a:xfrm>
        </p:spPr>
        <p:txBody>
          <a:bodyPr/>
          <a:lstStyle/>
          <a:p>
            <a:pPr>
              <a:spcBef>
                <a:spcPts val="600"/>
              </a:spcBef>
            </a:pPr>
            <a:r>
              <a:rPr lang="en-US" dirty="0"/>
              <a:t>Aerobic </a:t>
            </a:r>
            <a:r>
              <a:rPr lang="en-US" dirty="0" err="1"/>
              <a:t>chemoorganotrophs</a:t>
            </a:r>
            <a:endParaRPr lang="en-US" dirty="0"/>
          </a:p>
          <a:p>
            <a:pPr>
              <a:spcBef>
                <a:spcPts val="600"/>
              </a:spcBef>
            </a:pPr>
            <a:r>
              <a:rPr lang="en-US" dirty="0"/>
              <a:t>Forms filaments or </a:t>
            </a:r>
            <a:r>
              <a:rPr lang="en-US" dirty="0" err="1"/>
              <a:t>trichomes</a:t>
            </a:r>
            <a:r>
              <a:rPr lang="en-US" dirty="0"/>
              <a:t> up to 400 microns long</a:t>
            </a:r>
          </a:p>
          <a:p>
            <a:pPr>
              <a:spcBef>
                <a:spcPts val="600"/>
              </a:spcBef>
            </a:pPr>
            <a:r>
              <a:rPr lang="en-US" dirty="0"/>
              <a:t>Marine, complex lifestyle in which dispersal is by formation of </a:t>
            </a:r>
            <a:r>
              <a:rPr lang="en-US" dirty="0" err="1"/>
              <a:t>gonidia</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52</a:t>
            </a:fld>
            <a:endParaRPr lang="en-US"/>
          </a:p>
        </p:txBody>
      </p:sp>
      <p:pic>
        <p:nvPicPr>
          <p:cNvPr id="30722" name="Picture 2" descr="Leucothrix spp. are aerobic chemoorganotrophs that form filaments or trichomes up to 400 μm long. Most are marine, and attach to solid substrates by a holdfast. These bacteria have a complex life cycle in which they are dispersed by the formation of gonidia, as illustrated here." title="Figure 22.25 Life cycle and morphology of Leucothrix mucor."/>
          <p:cNvPicPr>
            <a:picLocks noChangeAspect="1" noChangeArrowheads="1"/>
          </p:cNvPicPr>
          <p:nvPr/>
        </p:nvPicPr>
        <p:blipFill>
          <a:blip r:embed="rId2" cstate="print"/>
          <a:srcRect/>
          <a:stretch>
            <a:fillRect/>
          </a:stretch>
        </p:blipFill>
        <p:spPr bwMode="auto">
          <a:xfrm>
            <a:off x="2134394" y="3076073"/>
            <a:ext cx="4875212" cy="3439726"/>
          </a:xfrm>
          <a:prstGeom prst="rect">
            <a:avLst/>
          </a:prstGeom>
          <a:noFill/>
        </p:spPr>
      </p:pic>
    </p:spTree>
    <p:extLst>
      <p:ext uri="{BB962C8B-B14F-4D97-AF65-F5344CB8AC3E}">
        <p14:creationId xmlns:p14="http://schemas.microsoft.com/office/powerpoint/2010/main" val="9412458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err="1"/>
              <a:t>Thiothrix</a:t>
            </a:r>
            <a:r>
              <a:rPr lang="en-US" dirty="0"/>
              <a:t> </a:t>
            </a:r>
          </a:p>
        </p:txBody>
      </p:sp>
      <p:sp>
        <p:nvSpPr>
          <p:cNvPr id="3" name="Content Placeholder 2"/>
          <p:cNvSpPr>
            <a:spLocks noGrp="1"/>
          </p:cNvSpPr>
          <p:nvPr>
            <p:ph idx="1"/>
          </p:nvPr>
        </p:nvSpPr>
        <p:spPr/>
        <p:txBody>
          <a:bodyPr/>
          <a:lstStyle/>
          <a:p>
            <a:pPr>
              <a:lnSpc>
                <a:spcPct val="90000"/>
              </a:lnSpc>
            </a:pPr>
            <a:r>
              <a:rPr lang="en-US" dirty="0"/>
              <a:t>Related to </a:t>
            </a:r>
            <a:r>
              <a:rPr lang="en-US" i="1" dirty="0" err="1"/>
              <a:t>Leucothrix</a:t>
            </a:r>
            <a:r>
              <a:rPr lang="en-US" dirty="0"/>
              <a:t> with </a:t>
            </a:r>
            <a:r>
              <a:rPr lang="en-US" dirty="0" err="1"/>
              <a:t>gonidia</a:t>
            </a:r>
            <a:br>
              <a:rPr lang="en-US" dirty="0"/>
            </a:br>
            <a:endParaRPr lang="en-US" dirty="0"/>
          </a:p>
          <a:p>
            <a:pPr>
              <a:lnSpc>
                <a:spcPct val="90000"/>
              </a:lnSpc>
            </a:pPr>
            <a:r>
              <a:rPr lang="en-US" dirty="0" err="1"/>
              <a:t>Chemolithotrophic</a:t>
            </a:r>
            <a:endParaRPr lang="en-US" dirty="0"/>
          </a:p>
          <a:p>
            <a:pPr lvl="1">
              <a:lnSpc>
                <a:spcPct val="90000"/>
              </a:lnSpc>
            </a:pPr>
            <a:r>
              <a:rPr lang="en-US" dirty="0"/>
              <a:t>oxidize hydrogen sulfide</a:t>
            </a:r>
          </a:p>
          <a:p>
            <a:pPr lvl="1">
              <a:lnSpc>
                <a:spcPct val="90000"/>
              </a:lnSpc>
            </a:pPr>
            <a:r>
              <a:rPr lang="en-US" dirty="0"/>
              <a:t>deposit sulfur granules internally</a:t>
            </a:r>
          </a:p>
          <a:p>
            <a:pPr lvl="1">
              <a:lnSpc>
                <a:spcPct val="90000"/>
              </a:lnSpc>
            </a:pPr>
            <a:r>
              <a:rPr lang="en-US" dirty="0" err="1"/>
              <a:t>mixotrophic</a:t>
            </a:r>
            <a:endParaRPr lang="en-US" dirty="0"/>
          </a:p>
          <a:p>
            <a:pPr lvl="2">
              <a:lnSpc>
                <a:spcPct val="90000"/>
              </a:lnSpc>
            </a:pPr>
            <a:r>
              <a:rPr lang="en-US" dirty="0"/>
              <a:t>use inorganic energy source and organic carbon source</a:t>
            </a:r>
            <a:br>
              <a:rPr lang="en-US" dirty="0"/>
            </a:br>
            <a:endParaRPr lang="en-US" dirty="0"/>
          </a:p>
          <a:p>
            <a:pPr>
              <a:lnSpc>
                <a:spcPct val="90000"/>
              </a:lnSpc>
            </a:pPr>
            <a:r>
              <a:rPr lang="en-US" dirty="0"/>
              <a:t>Found in sulfide-rich flowing water and activated sludge sewage systems</a:t>
            </a:r>
            <a:endParaRPr lang="en-US" sz="4000"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53</a:t>
            </a:fld>
            <a:endParaRPr lang="en-US"/>
          </a:p>
        </p:txBody>
      </p:sp>
    </p:spTree>
    <p:extLst>
      <p:ext uri="{BB962C8B-B14F-4D97-AF65-F5344CB8AC3E}">
        <p14:creationId xmlns:p14="http://schemas.microsoft.com/office/powerpoint/2010/main" val="12464899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dirty="0"/>
              <a:t>Genus </a:t>
            </a:r>
            <a:r>
              <a:rPr lang="en-US" i="1" dirty="0" err="1"/>
              <a:t>Thiomicrospira</a:t>
            </a:r>
            <a:endParaRPr lang="en-US" dirty="0"/>
          </a:p>
        </p:txBody>
      </p:sp>
      <p:sp>
        <p:nvSpPr>
          <p:cNvPr id="3" name="Content Placeholder 2"/>
          <p:cNvSpPr>
            <a:spLocks noGrp="1"/>
          </p:cNvSpPr>
          <p:nvPr>
            <p:ph sz="half" idx="1"/>
          </p:nvPr>
        </p:nvSpPr>
        <p:spPr>
          <a:xfrm>
            <a:off x="152400" y="990600"/>
            <a:ext cx="8839200" cy="2819400"/>
          </a:xfrm>
        </p:spPr>
        <p:txBody>
          <a:bodyPr>
            <a:normAutofit fontScale="92500" lnSpcReduction="10000"/>
          </a:bodyPr>
          <a:lstStyle/>
          <a:p>
            <a:pPr>
              <a:lnSpc>
                <a:spcPct val="90000"/>
              </a:lnSpc>
            </a:pPr>
            <a:r>
              <a:rPr lang="en-US" dirty="0"/>
              <a:t>Polyphyletic – </a:t>
            </a:r>
            <a:r>
              <a:rPr lang="el-GR" dirty="0">
                <a:cs typeface="Times New Roman" pitchFamily="18" charset="0"/>
              </a:rPr>
              <a:t>γ</a:t>
            </a:r>
            <a:r>
              <a:rPr lang="en-US" dirty="0">
                <a:cs typeface="Times New Roman" pitchFamily="18" charset="0"/>
              </a:rPr>
              <a:t>- Ɛ-</a:t>
            </a:r>
            <a:r>
              <a:rPr lang="en-US" dirty="0" err="1">
                <a:cs typeface="Times New Roman" pitchFamily="18" charset="0"/>
              </a:rPr>
              <a:t>proteobacteria</a:t>
            </a:r>
            <a:br>
              <a:rPr lang="en-US" dirty="0">
                <a:cs typeface="Times New Roman" pitchFamily="18" charset="0"/>
              </a:rPr>
            </a:br>
            <a:endParaRPr lang="en-US" dirty="0">
              <a:cs typeface="Times New Roman" pitchFamily="18" charset="0"/>
            </a:endParaRPr>
          </a:p>
          <a:p>
            <a:pPr>
              <a:lnSpc>
                <a:spcPct val="90000"/>
              </a:lnSpc>
            </a:pPr>
            <a:r>
              <a:rPr lang="en-US" dirty="0">
                <a:cs typeface="Times New Roman" pitchFamily="18" charset="0"/>
              </a:rPr>
              <a:t>Unique environment</a:t>
            </a:r>
          </a:p>
          <a:p>
            <a:pPr lvl="1">
              <a:lnSpc>
                <a:spcPct val="90000"/>
              </a:lnSpc>
            </a:pPr>
            <a:r>
              <a:rPr lang="en-US" dirty="0">
                <a:cs typeface="Times New Roman" pitchFamily="18" charset="0"/>
              </a:rPr>
              <a:t>hydrothermal vent deep sea microbe</a:t>
            </a:r>
          </a:p>
          <a:p>
            <a:pPr lvl="1">
              <a:lnSpc>
                <a:spcPct val="90000"/>
              </a:lnSpc>
            </a:pPr>
            <a:r>
              <a:rPr lang="en-US" dirty="0">
                <a:cs typeface="Times New Roman" pitchFamily="18" charset="0"/>
              </a:rPr>
              <a:t>can utilize differences in dissolved CO</a:t>
            </a:r>
            <a:r>
              <a:rPr lang="en-US" baseline="-25000" dirty="0">
                <a:cs typeface="Times New Roman" pitchFamily="18" charset="0"/>
              </a:rPr>
              <a:t>2</a:t>
            </a:r>
          </a:p>
          <a:p>
            <a:pPr lvl="1">
              <a:lnSpc>
                <a:spcPct val="90000"/>
              </a:lnSpc>
            </a:pPr>
            <a:r>
              <a:rPr lang="en-US" dirty="0" err="1">
                <a:cs typeface="Times New Roman" pitchFamily="18" charset="0"/>
              </a:rPr>
              <a:t>multienzyme</a:t>
            </a:r>
            <a:r>
              <a:rPr lang="en-US" dirty="0">
                <a:cs typeface="Times New Roman" pitchFamily="18" charset="0"/>
              </a:rPr>
              <a:t> complex (SOX) for sulfur oxidation</a:t>
            </a:r>
          </a:p>
          <a:p>
            <a:pPr lvl="1">
              <a:lnSpc>
                <a:spcPct val="90000"/>
              </a:lnSpc>
            </a:pPr>
            <a:r>
              <a:rPr lang="en-US" dirty="0">
                <a:cs typeface="Times New Roman" pitchFamily="18" charset="0"/>
              </a:rPr>
              <a:t>aerobic – oxygen is electron acceptor</a:t>
            </a:r>
          </a:p>
          <a:p>
            <a:pPr lvl="1">
              <a:lnSpc>
                <a:spcPct val="90000"/>
              </a:lnSpc>
            </a:pPr>
            <a:r>
              <a:rPr lang="en-US" dirty="0">
                <a:cs typeface="Times New Roman" pitchFamily="18" charset="0"/>
              </a:rPr>
              <a:t>prophage in chromosome</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54</a:t>
            </a:fld>
            <a:endParaRPr lang="en-US"/>
          </a:p>
        </p:txBody>
      </p:sp>
      <p:pic>
        <p:nvPicPr>
          <p:cNvPr id="31746" name="Picture 2" descr="This chemolithoautotroph has a high affinity carbonic anhydrase (α-CA and β-CA), enabling the accumulation of CO2 100 times higher than extracellular concentrations. Three ribulose 1,5-bisphosphate carboxylase-oxygenase (RubisCO) genes are present, and it is hypothesized that one RubisCO protein is localized in carboxysomes. Energy and reducing power for carbon fixation is captured through Sox-dependent oxidation of reduced sulfur compounds. The electron transport chain includes cytochromes c (cytc), bc1, and cbb3 with O2 as the terminal electron acceptor. A prophage is present within the genome; a suite of genes encoding lytic and lysogeny proteins suggests that the prophage can enter the lytic cycle, as indicated by the release of phage on the left side of the image. Transporters include over 60 secondary transporters for metal, inorganic, and organic compounds, as well as a dozen ATP-binding cassette (ABC) uptake proteins and 11 ABC exporters. Other membrane proteins include 14 methyl-accepting proteins (MCP) that help mediate chemotaxis and 5 unclassified transporters." title="Figure 22.26 Model Thiomicrospira crunogena XCL-2 cell."/>
          <p:cNvPicPr>
            <a:picLocks noChangeAspect="1" noChangeArrowheads="1"/>
          </p:cNvPicPr>
          <p:nvPr/>
        </p:nvPicPr>
        <p:blipFill>
          <a:blip r:embed="rId2" cstate="print"/>
          <a:srcRect/>
          <a:stretch>
            <a:fillRect/>
          </a:stretch>
        </p:blipFill>
        <p:spPr bwMode="auto">
          <a:xfrm>
            <a:off x="2023533" y="3733800"/>
            <a:ext cx="5096934" cy="2823898"/>
          </a:xfrm>
          <a:prstGeom prst="rect">
            <a:avLst/>
          </a:prstGeom>
          <a:noFill/>
        </p:spPr>
      </p:pic>
    </p:spTree>
    <p:extLst>
      <p:ext uri="{BB962C8B-B14F-4D97-AF65-F5344CB8AC3E}">
        <p14:creationId xmlns:p14="http://schemas.microsoft.com/office/powerpoint/2010/main" val="12464899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a:t>
            </a:r>
            <a:r>
              <a:rPr lang="en-US" i="1" dirty="0" err="1"/>
              <a:t>Methylococcales</a:t>
            </a:r>
            <a:endParaRPr lang="en-US" dirty="0"/>
          </a:p>
        </p:txBody>
      </p:sp>
      <p:sp>
        <p:nvSpPr>
          <p:cNvPr id="3" name="Content Placeholder 2"/>
          <p:cNvSpPr>
            <a:spLocks noGrp="1"/>
          </p:cNvSpPr>
          <p:nvPr>
            <p:ph idx="1"/>
          </p:nvPr>
        </p:nvSpPr>
        <p:spPr>
          <a:xfrm>
            <a:off x="457200" y="1600200"/>
            <a:ext cx="8229600" cy="5029200"/>
          </a:xfrm>
        </p:spPr>
        <p:txBody>
          <a:bodyPr/>
          <a:lstStyle/>
          <a:p>
            <a:r>
              <a:rPr lang="en-US" sz="2800" dirty="0"/>
              <a:t>Contains family </a:t>
            </a:r>
            <a:r>
              <a:rPr lang="en-US" sz="2800" i="1" dirty="0" err="1"/>
              <a:t>Methylococcaceae</a:t>
            </a:r>
            <a:r>
              <a:rPr lang="en-US" sz="2800" dirty="0"/>
              <a:t>; seven genera</a:t>
            </a:r>
            <a:br>
              <a:rPr lang="en-US" sz="2800" dirty="0"/>
            </a:br>
            <a:endParaRPr lang="en-US" sz="2800" dirty="0"/>
          </a:p>
          <a:p>
            <a:r>
              <a:rPr lang="en-US" sz="2800" dirty="0"/>
              <a:t>Morphologically diverse</a:t>
            </a:r>
          </a:p>
          <a:p>
            <a:pPr lvl="1"/>
            <a:r>
              <a:rPr lang="en-US" dirty="0"/>
              <a:t>e.g. genus </a:t>
            </a:r>
            <a:r>
              <a:rPr lang="en-US" i="1" dirty="0" err="1"/>
              <a:t>Methylococcus</a:t>
            </a:r>
            <a:r>
              <a:rPr lang="en-US" dirty="0"/>
              <a:t> – spherical, </a:t>
            </a:r>
            <a:r>
              <a:rPr lang="en-US" dirty="0" err="1"/>
              <a:t>nonmotile</a:t>
            </a:r>
            <a:endParaRPr lang="en-US" dirty="0"/>
          </a:p>
          <a:p>
            <a:pPr lvl="1"/>
            <a:r>
              <a:rPr lang="en-US" dirty="0"/>
              <a:t>e.g. genus </a:t>
            </a:r>
            <a:r>
              <a:rPr lang="en-US" i="1" dirty="0" err="1"/>
              <a:t>Methylomonas</a:t>
            </a:r>
            <a:r>
              <a:rPr lang="en-US" dirty="0"/>
              <a:t> – straight, curved, or branched rods with single polar flagella</a:t>
            </a:r>
          </a:p>
          <a:p>
            <a:pPr lvl="1"/>
            <a:r>
              <a:rPr lang="en-US" dirty="0"/>
              <a:t>almost all form resting stage (</a:t>
            </a:r>
            <a:r>
              <a:rPr lang="en-US" dirty="0" err="1"/>
              <a:t>cystlike</a:t>
            </a:r>
            <a:r>
              <a:rPr lang="en-US" dirty="0"/>
              <a:t> structure)</a:t>
            </a:r>
            <a:br>
              <a:rPr lang="en-US" dirty="0"/>
            </a:br>
            <a:endParaRPr lang="en-US" dirty="0"/>
          </a:p>
          <a:p>
            <a:r>
              <a:rPr lang="en-US" dirty="0" err="1"/>
              <a:t>M</a:t>
            </a:r>
            <a:r>
              <a:rPr lang="en-US" sz="2800" dirty="0" err="1"/>
              <a:t>ethylotrophs</a:t>
            </a:r>
            <a:endParaRPr lang="en-US" sz="2800" dirty="0"/>
          </a:p>
          <a:p>
            <a:pPr lvl="1"/>
            <a:r>
              <a:rPr lang="en-US" dirty="0"/>
              <a:t>use reduced one-carbon compounds as sole carbon and energy source</a:t>
            </a:r>
            <a:endParaRPr lang="en-US" sz="2800"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55</a:t>
            </a:fld>
            <a:endParaRPr lang="en-US"/>
          </a:p>
        </p:txBody>
      </p:sp>
    </p:spTree>
    <p:extLst>
      <p:ext uri="{BB962C8B-B14F-4D97-AF65-F5344CB8AC3E}">
        <p14:creationId xmlns:p14="http://schemas.microsoft.com/office/powerpoint/2010/main" val="12464899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Methane Oxidation</a:t>
            </a:r>
          </a:p>
        </p:txBody>
      </p:sp>
      <p:sp>
        <p:nvSpPr>
          <p:cNvPr id="3" name="Content Placeholder 2"/>
          <p:cNvSpPr>
            <a:spLocks noGrp="1"/>
          </p:cNvSpPr>
          <p:nvPr>
            <p:ph sz="half" idx="1"/>
          </p:nvPr>
        </p:nvSpPr>
        <p:spPr>
          <a:xfrm>
            <a:off x="457200" y="1219200"/>
            <a:ext cx="4038600" cy="5257800"/>
          </a:xfrm>
        </p:spPr>
        <p:txBody>
          <a:bodyPr>
            <a:normAutofit/>
          </a:bodyPr>
          <a:lstStyle/>
          <a:p>
            <a:pPr>
              <a:lnSpc>
                <a:spcPct val="90000"/>
              </a:lnSpc>
            </a:pPr>
            <a:r>
              <a:rPr lang="en-US" dirty="0"/>
              <a:t>Occurs in complex arrays of intracellular membranes</a:t>
            </a:r>
            <a:br>
              <a:rPr lang="en-US" dirty="0"/>
            </a:br>
            <a:endParaRPr lang="en-US" dirty="0"/>
          </a:p>
          <a:p>
            <a:pPr>
              <a:lnSpc>
                <a:spcPct val="90000"/>
              </a:lnSpc>
            </a:pPr>
            <a:r>
              <a:rPr lang="en-US" dirty="0"/>
              <a:t>Oxidized to methanol and then to formaldehyde</a:t>
            </a:r>
          </a:p>
          <a:p>
            <a:pPr lvl="1">
              <a:lnSpc>
                <a:spcPct val="90000"/>
              </a:lnSpc>
            </a:pPr>
            <a:r>
              <a:rPr lang="en-US" dirty="0"/>
              <a:t>electrons donated to electron transport chain for ATP synthesis</a:t>
            </a:r>
          </a:p>
          <a:p>
            <a:pPr lvl="1">
              <a:lnSpc>
                <a:spcPct val="90000"/>
              </a:lnSpc>
            </a:pPr>
            <a:r>
              <a:rPr lang="en-US" dirty="0"/>
              <a:t>formaldehyde can be assimilated into cell material</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56</a:t>
            </a:fld>
            <a:endParaRPr lang="en-US"/>
          </a:p>
        </p:txBody>
      </p:sp>
      <p:pic>
        <p:nvPicPr>
          <p:cNvPr id="32770" name="Picture 2" descr="The net yield of this pathway is a glyceraldehyde molecule that can be used in central metabolism." title="Figure 22.27 The Ribulose Monophosphate Pathway Is Used by γ-Proteobacterial Methylotrophs to Assimilate C1 Compounds."/>
          <p:cNvPicPr>
            <a:picLocks noChangeAspect="1" noChangeArrowheads="1"/>
          </p:cNvPicPr>
          <p:nvPr/>
        </p:nvPicPr>
        <p:blipFill>
          <a:blip r:embed="rId2" cstate="print"/>
          <a:srcRect/>
          <a:stretch>
            <a:fillRect/>
          </a:stretch>
        </p:blipFill>
        <p:spPr bwMode="auto">
          <a:xfrm>
            <a:off x="4948486" y="1176867"/>
            <a:ext cx="3501528" cy="5199592"/>
          </a:xfrm>
          <a:prstGeom prst="rect">
            <a:avLst/>
          </a:prstGeom>
          <a:noFill/>
        </p:spPr>
      </p:pic>
    </p:spTree>
    <p:extLst>
      <p:ext uri="{BB962C8B-B14F-4D97-AF65-F5344CB8AC3E}">
        <p14:creationId xmlns:p14="http://schemas.microsoft.com/office/powerpoint/2010/main" val="12464899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a:t>
            </a:r>
            <a:r>
              <a:rPr lang="en-US" i="1" dirty="0" err="1"/>
              <a:t>Legionellaceae</a:t>
            </a:r>
            <a:endParaRPr lang="en-US" dirty="0"/>
          </a:p>
        </p:txBody>
      </p:sp>
      <p:sp>
        <p:nvSpPr>
          <p:cNvPr id="3" name="Content Placeholder 2"/>
          <p:cNvSpPr>
            <a:spLocks noGrp="1"/>
          </p:cNvSpPr>
          <p:nvPr>
            <p:ph idx="1"/>
          </p:nvPr>
        </p:nvSpPr>
        <p:spPr/>
        <p:txBody>
          <a:bodyPr/>
          <a:lstStyle/>
          <a:p>
            <a:r>
              <a:rPr lang="en-US" dirty="0"/>
              <a:t>Family </a:t>
            </a:r>
            <a:r>
              <a:rPr lang="en-US" i="1" dirty="0" err="1"/>
              <a:t>Legionellacaea</a:t>
            </a:r>
            <a:endParaRPr lang="en-US" i="1" dirty="0"/>
          </a:p>
          <a:p>
            <a:pPr lvl="1"/>
            <a:r>
              <a:rPr lang="en-US" dirty="0"/>
              <a:t>genus </a:t>
            </a:r>
            <a:r>
              <a:rPr lang="en-US" i="1" dirty="0"/>
              <a:t>Legionella</a:t>
            </a:r>
            <a:br>
              <a:rPr lang="en-US" i="1" dirty="0"/>
            </a:br>
            <a:endParaRPr lang="en-US" i="1" dirty="0"/>
          </a:p>
          <a:p>
            <a:r>
              <a:rPr lang="en-US" dirty="0"/>
              <a:t>Family </a:t>
            </a:r>
            <a:r>
              <a:rPr lang="en-US" i="1" dirty="0" err="1"/>
              <a:t>Coxiellaceae</a:t>
            </a:r>
            <a:endParaRPr lang="en-US" i="1" dirty="0"/>
          </a:p>
          <a:p>
            <a:pPr lvl="1"/>
            <a:r>
              <a:rPr lang="en-US" dirty="0"/>
              <a:t>genera </a:t>
            </a:r>
            <a:r>
              <a:rPr lang="en-US" i="1" dirty="0" err="1"/>
              <a:t>Coxiella</a:t>
            </a:r>
            <a:r>
              <a:rPr lang="en-US" dirty="0"/>
              <a:t> and </a:t>
            </a:r>
            <a:r>
              <a:rPr lang="en-US" i="1" dirty="0" err="1"/>
              <a:t>Rickettsiella</a:t>
            </a:r>
            <a:br>
              <a:rPr lang="en-US" i="1" dirty="0"/>
            </a:br>
            <a:endParaRPr lang="en-US" i="1" dirty="0"/>
          </a:p>
          <a:p>
            <a:r>
              <a:rPr lang="en-US" dirty="0"/>
              <a:t>All are intracellular pathogens</a:t>
            </a:r>
          </a:p>
          <a:p>
            <a:pPr lvl="1"/>
            <a:r>
              <a:rPr lang="en-US" dirty="0"/>
              <a:t>dimorphic lifestyle (two forms)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57</a:t>
            </a:fld>
            <a:endParaRPr lang="en-US"/>
          </a:p>
        </p:txBody>
      </p:sp>
    </p:spTree>
    <p:extLst>
      <p:ext uri="{BB962C8B-B14F-4D97-AF65-F5344CB8AC3E}">
        <p14:creationId xmlns:p14="http://schemas.microsoft.com/office/powerpoint/2010/main" val="12464899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Genus </a:t>
            </a:r>
            <a:r>
              <a:rPr lang="en-US" i="1" dirty="0"/>
              <a:t>Legionella</a:t>
            </a:r>
            <a:endParaRPr lang="en-US" dirty="0"/>
          </a:p>
        </p:txBody>
      </p:sp>
      <p:sp>
        <p:nvSpPr>
          <p:cNvPr id="3" name="Content Placeholder 2"/>
          <p:cNvSpPr>
            <a:spLocks noGrp="1"/>
          </p:cNvSpPr>
          <p:nvPr>
            <p:ph idx="1"/>
          </p:nvPr>
        </p:nvSpPr>
        <p:spPr>
          <a:xfrm>
            <a:off x="457200" y="1219200"/>
            <a:ext cx="8229600" cy="5486400"/>
          </a:xfrm>
        </p:spPr>
        <p:txBody>
          <a:bodyPr>
            <a:normAutofit fontScale="92500" lnSpcReduction="10000"/>
          </a:bodyPr>
          <a:lstStyle/>
          <a:p>
            <a:pPr>
              <a:lnSpc>
                <a:spcPct val="110000"/>
              </a:lnSpc>
              <a:spcBef>
                <a:spcPts val="600"/>
              </a:spcBef>
            </a:pPr>
            <a:r>
              <a:rPr lang="en-US" i="1" dirty="0"/>
              <a:t>L. pneumophilia</a:t>
            </a:r>
            <a:r>
              <a:rPr lang="en-US" dirty="0"/>
              <a:t> intensely studied</a:t>
            </a:r>
          </a:p>
          <a:p>
            <a:pPr lvl="1">
              <a:lnSpc>
                <a:spcPct val="110000"/>
              </a:lnSpc>
              <a:spcBef>
                <a:spcPts val="600"/>
              </a:spcBef>
            </a:pPr>
            <a:r>
              <a:rPr lang="en-US" dirty="0"/>
              <a:t>causative agent Legionnaire’s disease</a:t>
            </a:r>
          </a:p>
          <a:p>
            <a:pPr lvl="1">
              <a:lnSpc>
                <a:spcPct val="110000"/>
              </a:lnSpc>
              <a:spcBef>
                <a:spcPts val="600"/>
              </a:spcBef>
            </a:pPr>
            <a:r>
              <a:rPr lang="en-US" dirty="0"/>
              <a:t>transmission through aerosols</a:t>
            </a:r>
          </a:p>
          <a:p>
            <a:pPr lvl="1">
              <a:lnSpc>
                <a:spcPct val="110000"/>
              </a:lnSpc>
              <a:spcBef>
                <a:spcPts val="600"/>
              </a:spcBef>
            </a:pPr>
            <a:r>
              <a:rPr lang="en-US" dirty="0"/>
              <a:t>intracellular pathogen of protozoa</a:t>
            </a:r>
          </a:p>
          <a:p>
            <a:pPr lvl="2">
              <a:lnSpc>
                <a:spcPct val="110000"/>
              </a:lnSpc>
              <a:spcBef>
                <a:spcPts val="600"/>
              </a:spcBef>
            </a:pPr>
            <a:r>
              <a:rPr lang="en-US" dirty="0"/>
              <a:t>invade cooling towers, air conditioning, hot tubs</a:t>
            </a:r>
          </a:p>
          <a:p>
            <a:pPr lvl="1">
              <a:lnSpc>
                <a:spcPct val="110000"/>
              </a:lnSpc>
              <a:spcBef>
                <a:spcPts val="600"/>
              </a:spcBef>
            </a:pPr>
            <a:r>
              <a:rPr lang="en-US" dirty="0"/>
              <a:t>Gram-negative rods that replicates by binary fission</a:t>
            </a:r>
          </a:p>
          <a:p>
            <a:pPr lvl="1">
              <a:lnSpc>
                <a:spcPct val="110000"/>
              </a:lnSpc>
              <a:spcBef>
                <a:spcPts val="600"/>
              </a:spcBef>
            </a:pPr>
            <a:r>
              <a:rPr lang="en-US" dirty="0"/>
              <a:t>life cycle in a </a:t>
            </a:r>
            <a:r>
              <a:rPr lang="en-US" dirty="0" err="1"/>
              <a:t>protist</a:t>
            </a:r>
            <a:endParaRPr lang="en-US" dirty="0"/>
          </a:p>
          <a:p>
            <a:pPr lvl="2">
              <a:lnSpc>
                <a:spcPct val="110000"/>
              </a:lnSpc>
              <a:spcBef>
                <a:spcPts val="600"/>
              </a:spcBef>
            </a:pPr>
            <a:r>
              <a:rPr lang="en-US" dirty="0"/>
              <a:t>replicative forms (RFs) reside in host vacuole (replicative endosome)</a:t>
            </a:r>
          </a:p>
          <a:p>
            <a:pPr lvl="2">
              <a:lnSpc>
                <a:spcPct val="110000"/>
              </a:lnSpc>
              <a:spcBef>
                <a:spcPts val="600"/>
              </a:spcBef>
            </a:pPr>
            <a:r>
              <a:rPr lang="en-US" dirty="0"/>
              <a:t>RFs differentiate into mature intracellular forms (MIFs) which are the infectious form</a:t>
            </a:r>
          </a:p>
          <a:p>
            <a:pPr lvl="3">
              <a:lnSpc>
                <a:spcPct val="110000"/>
              </a:lnSpc>
              <a:spcBef>
                <a:spcPts val="600"/>
              </a:spcBef>
            </a:pPr>
            <a:r>
              <a:rPr lang="en-US" dirty="0"/>
              <a:t>MIF are metabolically dormant, heat tolerant, and resistant to antibiotics</a:t>
            </a:r>
          </a:p>
          <a:p>
            <a:pPr lvl="3">
              <a:lnSpc>
                <a:spcPct val="110000"/>
              </a:lnSpc>
              <a:spcBef>
                <a:spcPts val="600"/>
              </a:spcBef>
            </a:pPr>
            <a:r>
              <a:rPr lang="en-US" dirty="0"/>
              <a:t>Hsp60 is </a:t>
            </a:r>
            <a:r>
              <a:rPr lang="en-US" dirty="0" err="1"/>
              <a:t>invasin</a:t>
            </a:r>
            <a:r>
              <a:rPr lang="en-US" dirty="0"/>
              <a:t> used to invade host cell</a:t>
            </a:r>
          </a:p>
          <a:p>
            <a:pPr lvl="1"/>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58</a:t>
            </a:fld>
            <a:endParaRPr lang="en-US"/>
          </a:p>
        </p:txBody>
      </p:sp>
    </p:spTree>
    <p:extLst>
      <p:ext uri="{BB962C8B-B14F-4D97-AF65-F5344CB8AC3E}">
        <p14:creationId xmlns:p14="http://schemas.microsoft.com/office/powerpoint/2010/main" val="12464899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err="1"/>
              <a:t>Coxiella</a:t>
            </a:r>
            <a:endParaRPr lang="en-US" dirty="0"/>
          </a:p>
        </p:txBody>
      </p:sp>
      <p:sp>
        <p:nvSpPr>
          <p:cNvPr id="3" name="Content Placeholder 2"/>
          <p:cNvSpPr>
            <a:spLocks noGrp="1"/>
          </p:cNvSpPr>
          <p:nvPr>
            <p:ph idx="1"/>
          </p:nvPr>
        </p:nvSpPr>
        <p:spPr>
          <a:xfrm>
            <a:off x="457200" y="1600200"/>
            <a:ext cx="8229600" cy="5029200"/>
          </a:xfrm>
        </p:spPr>
        <p:txBody>
          <a:bodyPr>
            <a:normAutofit lnSpcReduction="10000"/>
          </a:bodyPr>
          <a:lstStyle/>
          <a:p>
            <a:r>
              <a:rPr lang="en-US" sz="2800" dirty="0"/>
              <a:t>Host range </a:t>
            </a:r>
          </a:p>
          <a:p>
            <a:pPr lvl="1"/>
            <a:r>
              <a:rPr lang="en-US" dirty="0"/>
              <a:t>birds, insects, fish, rodents, sheep, goats, humans</a:t>
            </a:r>
            <a:br>
              <a:rPr lang="en-US" dirty="0"/>
            </a:br>
            <a:endParaRPr lang="en-US" dirty="0"/>
          </a:p>
          <a:p>
            <a:r>
              <a:rPr lang="en-US" sz="2800" dirty="0"/>
              <a:t>Transmitted through aerosol</a:t>
            </a:r>
            <a:br>
              <a:rPr lang="en-US" sz="2800" dirty="0"/>
            </a:br>
            <a:endParaRPr lang="en-US" sz="2800" dirty="0"/>
          </a:p>
          <a:p>
            <a:r>
              <a:rPr lang="en-US" sz="2800" dirty="0"/>
              <a:t>Life cycle similar to </a:t>
            </a:r>
            <a:r>
              <a:rPr lang="en-US" sz="2800" i="1" dirty="0"/>
              <a:t>L. pneumophilia</a:t>
            </a:r>
          </a:p>
          <a:p>
            <a:pPr lvl="1"/>
            <a:r>
              <a:rPr lang="en-US" dirty="0"/>
              <a:t>small cell variant (SCV) enters cell by phagocytosis</a:t>
            </a:r>
          </a:p>
          <a:p>
            <a:pPr lvl="1"/>
            <a:r>
              <a:rPr lang="en-US" dirty="0"/>
              <a:t>phagosome low pH triggers SCV to become metabolically active</a:t>
            </a:r>
          </a:p>
          <a:p>
            <a:pPr lvl="1"/>
            <a:r>
              <a:rPr lang="en-US" dirty="0"/>
              <a:t>SCV differentiates into large cell variant (LCV)</a:t>
            </a:r>
          </a:p>
          <a:p>
            <a:pPr lvl="1"/>
            <a:r>
              <a:rPr lang="en-US" dirty="0"/>
              <a:t>replicates by binary fission, are infectious</a:t>
            </a:r>
          </a:p>
          <a:p>
            <a:pPr lvl="1"/>
            <a:r>
              <a:rPr lang="en-US" dirty="0"/>
              <a:t>long-term survival outside the host</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59</a:t>
            </a:fld>
            <a:endParaRPr lang="en-US"/>
          </a:p>
        </p:txBody>
      </p:sp>
    </p:spTree>
    <p:extLst>
      <p:ext uri="{BB962C8B-B14F-4D97-AF65-F5344CB8AC3E}">
        <p14:creationId xmlns:p14="http://schemas.microsoft.com/office/powerpoint/2010/main" val="17701304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a:t>
            </a:r>
            <a:r>
              <a:rPr lang="en-US" i="1" dirty="0" err="1"/>
              <a:t>Pseudomonadales</a:t>
            </a:r>
            <a:endParaRPr lang="en-US" dirty="0"/>
          </a:p>
        </p:txBody>
      </p:sp>
      <p:sp>
        <p:nvSpPr>
          <p:cNvPr id="3" name="Content Placeholder 2"/>
          <p:cNvSpPr>
            <a:spLocks noGrp="1"/>
          </p:cNvSpPr>
          <p:nvPr>
            <p:ph idx="1"/>
          </p:nvPr>
        </p:nvSpPr>
        <p:spPr/>
        <p:txBody>
          <a:bodyPr/>
          <a:lstStyle/>
          <a:p>
            <a:r>
              <a:rPr lang="en-US" dirty="0"/>
              <a:t>Contains family </a:t>
            </a:r>
            <a:r>
              <a:rPr lang="en-US" i="1" dirty="0" err="1"/>
              <a:t>Pseudomonadaceae</a:t>
            </a:r>
            <a:br>
              <a:rPr lang="en-US" i="1" dirty="0"/>
            </a:br>
            <a:endParaRPr lang="en-US" dirty="0"/>
          </a:p>
          <a:p>
            <a:pPr lvl="1"/>
            <a:r>
              <a:rPr lang="en-US" i="1" dirty="0"/>
              <a:t>Pseudomonas </a:t>
            </a:r>
            <a:r>
              <a:rPr lang="en-US" dirty="0"/>
              <a:t>is the most important genus in the order </a:t>
            </a:r>
            <a:r>
              <a:rPr lang="en-US" dirty="0" err="1"/>
              <a:t>Pseudomonadales</a:t>
            </a:r>
            <a:br>
              <a:rPr lang="en-US" dirty="0"/>
            </a:br>
            <a:endParaRPr lang="en-US" dirty="0"/>
          </a:p>
          <a:p>
            <a:pPr lvl="2"/>
            <a:r>
              <a:rPr lang="en-US" dirty="0" err="1"/>
              <a:t>heterogenous</a:t>
            </a:r>
            <a:r>
              <a:rPr lang="en-US" dirty="0"/>
              <a:t> - 60 species</a:t>
            </a:r>
          </a:p>
          <a:p>
            <a:pPr lvl="2"/>
            <a:r>
              <a:rPr lang="en-US" dirty="0"/>
              <a:t>Gram-negative straight or slightly curved rods</a:t>
            </a:r>
          </a:p>
          <a:p>
            <a:pPr lvl="2"/>
            <a:r>
              <a:rPr lang="en-US" dirty="0"/>
              <a:t>0.5 to 1.0 </a:t>
            </a:r>
            <a:r>
              <a:rPr lang="en-US" dirty="0">
                <a:latin typeface="Symbol" pitchFamily="18" charset="2"/>
              </a:rPr>
              <a:t>m</a:t>
            </a:r>
            <a:r>
              <a:rPr lang="en-US" dirty="0"/>
              <a:t>m by 1.5 to 5.0 </a:t>
            </a:r>
            <a:r>
              <a:rPr lang="en-US" dirty="0">
                <a:latin typeface="Symbol" pitchFamily="18" charset="2"/>
              </a:rPr>
              <a:t>m</a:t>
            </a:r>
            <a:r>
              <a:rPr lang="en-US" dirty="0"/>
              <a:t>m in length </a:t>
            </a:r>
          </a:p>
          <a:p>
            <a:pPr lvl="2"/>
            <a:r>
              <a:rPr lang="en-US" dirty="0"/>
              <a:t>motile by one or several polar flagella</a:t>
            </a:r>
          </a:p>
          <a:p>
            <a:pPr lvl="2"/>
            <a:r>
              <a:rPr lang="en-US" dirty="0"/>
              <a:t>lack </a:t>
            </a:r>
            <a:r>
              <a:rPr lang="en-US" dirty="0" err="1"/>
              <a:t>prosthecae</a:t>
            </a:r>
            <a:r>
              <a:rPr lang="en-US" dirty="0"/>
              <a:t> or sheaths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60</a:t>
            </a:fld>
            <a:endParaRPr lang="en-US"/>
          </a:p>
        </p:txBody>
      </p:sp>
    </p:spTree>
    <p:extLst>
      <p:ext uri="{BB962C8B-B14F-4D97-AF65-F5344CB8AC3E}">
        <p14:creationId xmlns:p14="http://schemas.microsoft.com/office/powerpoint/2010/main" val="25659828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i="1" dirty="0"/>
              <a:t>Pseudomonas</a:t>
            </a:r>
            <a:endParaRPr lang="en-US" dirty="0"/>
          </a:p>
        </p:txBody>
      </p:sp>
      <p:sp>
        <p:nvSpPr>
          <p:cNvPr id="3" name="Content Placeholder 2"/>
          <p:cNvSpPr>
            <a:spLocks noGrp="1"/>
          </p:cNvSpPr>
          <p:nvPr>
            <p:ph idx="1"/>
          </p:nvPr>
        </p:nvSpPr>
        <p:spPr>
          <a:xfrm>
            <a:off x="457200" y="1295400"/>
            <a:ext cx="8229600" cy="5334000"/>
          </a:xfrm>
        </p:spPr>
        <p:txBody>
          <a:bodyPr>
            <a:normAutofit lnSpcReduction="10000"/>
          </a:bodyPr>
          <a:lstStyle/>
          <a:p>
            <a:pPr>
              <a:lnSpc>
                <a:spcPct val="90000"/>
              </a:lnSpc>
            </a:pPr>
            <a:r>
              <a:rPr lang="en-US" dirty="0" err="1"/>
              <a:t>Chemoheterotrophs</a:t>
            </a:r>
            <a:r>
              <a:rPr lang="en-US" dirty="0"/>
              <a:t> with respiratory metabolism</a:t>
            </a:r>
          </a:p>
          <a:p>
            <a:pPr lvl="1">
              <a:lnSpc>
                <a:spcPct val="90000"/>
              </a:lnSpc>
            </a:pPr>
            <a:r>
              <a:rPr lang="en-US" dirty="0"/>
              <a:t>usually use oxygen as electron acceptor</a:t>
            </a:r>
          </a:p>
          <a:p>
            <a:pPr lvl="1">
              <a:lnSpc>
                <a:spcPct val="90000"/>
              </a:lnSpc>
            </a:pPr>
            <a:r>
              <a:rPr lang="en-US" dirty="0"/>
              <a:t>sometimes use nitrate as electron acceptor</a:t>
            </a:r>
          </a:p>
          <a:p>
            <a:pPr lvl="1">
              <a:lnSpc>
                <a:spcPct val="90000"/>
              </a:lnSpc>
            </a:pPr>
            <a:r>
              <a:rPr lang="en-US" dirty="0"/>
              <a:t>have functional TCA cycle</a:t>
            </a:r>
          </a:p>
          <a:p>
            <a:pPr lvl="1">
              <a:lnSpc>
                <a:spcPct val="90000"/>
              </a:lnSpc>
            </a:pPr>
            <a:r>
              <a:rPr lang="en-US" dirty="0"/>
              <a:t>most hexoses are degraded by </a:t>
            </a:r>
            <a:r>
              <a:rPr lang="en-US" dirty="0" err="1"/>
              <a:t>Entner-Duodoroff</a:t>
            </a:r>
            <a:r>
              <a:rPr lang="en-US" dirty="0"/>
              <a:t> pathway</a:t>
            </a:r>
            <a:br>
              <a:rPr lang="en-US" dirty="0"/>
            </a:br>
            <a:endParaRPr lang="en-US" dirty="0"/>
          </a:p>
          <a:p>
            <a:pPr>
              <a:lnSpc>
                <a:spcPct val="90000"/>
              </a:lnSpc>
            </a:pPr>
            <a:r>
              <a:rPr lang="en-US" dirty="0"/>
              <a:t>Practical importance of pseudomonads</a:t>
            </a:r>
          </a:p>
          <a:p>
            <a:pPr lvl="1">
              <a:lnSpc>
                <a:spcPct val="90000"/>
              </a:lnSpc>
            </a:pPr>
            <a:r>
              <a:rPr lang="en-US" dirty="0"/>
              <a:t>degrade wide variety of organic molecules</a:t>
            </a:r>
          </a:p>
          <a:p>
            <a:pPr lvl="2">
              <a:lnSpc>
                <a:spcPct val="90000"/>
              </a:lnSpc>
            </a:pPr>
            <a:r>
              <a:rPr lang="en-US" dirty="0"/>
              <a:t>mineralization</a:t>
            </a:r>
            <a:r>
              <a:rPr lang="en-US" dirty="0">
                <a:solidFill>
                  <a:schemeClr val="tx2"/>
                </a:solidFill>
              </a:rPr>
              <a:t> - </a:t>
            </a:r>
            <a:r>
              <a:rPr lang="en-US" dirty="0"/>
              <a:t>microbial breakdown of organic materials to inorganic substrates</a:t>
            </a:r>
          </a:p>
          <a:p>
            <a:pPr lvl="1">
              <a:lnSpc>
                <a:spcPct val="90000"/>
              </a:lnSpc>
            </a:pPr>
            <a:r>
              <a:rPr lang="en-US" dirty="0"/>
              <a:t>important experimental subjects</a:t>
            </a:r>
          </a:p>
          <a:p>
            <a:pPr lvl="1">
              <a:lnSpc>
                <a:spcPct val="90000"/>
              </a:lnSpc>
            </a:pPr>
            <a:r>
              <a:rPr lang="en-US" dirty="0"/>
              <a:t>some are major animal and plant pathogens</a:t>
            </a:r>
          </a:p>
          <a:p>
            <a:pPr lvl="1">
              <a:lnSpc>
                <a:spcPct val="90000"/>
              </a:lnSpc>
            </a:pPr>
            <a:r>
              <a:rPr lang="en-US" dirty="0"/>
              <a:t>some cause spoilage of refrigerated food</a:t>
            </a:r>
          </a:p>
          <a:p>
            <a:pPr lvl="2">
              <a:lnSpc>
                <a:spcPct val="90000"/>
              </a:lnSpc>
            </a:pPr>
            <a:r>
              <a:rPr lang="en-US" dirty="0"/>
              <a:t>can grow at 4</a:t>
            </a:r>
            <a:r>
              <a:rPr lang="en-US" dirty="0">
                <a:cs typeface="Times New Roman" pitchFamily="18" charset="0"/>
              </a:rPr>
              <a:t>°C</a:t>
            </a:r>
            <a:endParaRPr lang="en-US" dirty="0"/>
          </a:p>
          <a:p>
            <a:pPr>
              <a:lnSpc>
                <a:spcPct val="90000"/>
              </a:lnSpc>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61</a:t>
            </a:fld>
            <a:endParaRPr lang="en-US"/>
          </a:p>
        </p:txBody>
      </p:sp>
    </p:spTree>
    <p:extLst>
      <p:ext uri="{BB962C8B-B14F-4D97-AF65-F5344CB8AC3E}">
        <p14:creationId xmlns:p14="http://schemas.microsoft.com/office/powerpoint/2010/main" val="25659828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err="1"/>
              <a:t>Azotobacter</a:t>
            </a:r>
            <a:endParaRPr lang="en-US" dirty="0"/>
          </a:p>
        </p:txBody>
      </p:sp>
      <p:sp>
        <p:nvSpPr>
          <p:cNvPr id="3" name="Content Placeholder 2"/>
          <p:cNvSpPr>
            <a:spLocks noGrp="1"/>
          </p:cNvSpPr>
          <p:nvPr>
            <p:ph idx="1"/>
          </p:nvPr>
        </p:nvSpPr>
        <p:spPr/>
        <p:txBody>
          <a:bodyPr/>
          <a:lstStyle/>
          <a:p>
            <a:r>
              <a:rPr lang="en-US" dirty="0"/>
              <a:t>Often pleomorphic, motile rods</a:t>
            </a:r>
            <a:br>
              <a:rPr lang="en-US" dirty="0"/>
            </a:br>
            <a:r>
              <a:rPr lang="en-US" dirty="0"/>
              <a:t> </a:t>
            </a:r>
          </a:p>
          <a:p>
            <a:r>
              <a:rPr lang="en-US" dirty="0"/>
              <a:t>Aerobic, catalase positive</a:t>
            </a:r>
            <a:br>
              <a:rPr lang="en-US" dirty="0"/>
            </a:br>
            <a:endParaRPr lang="en-US" dirty="0"/>
          </a:p>
          <a:p>
            <a:r>
              <a:rPr lang="en-US" dirty="0" err="1"/>
              <a:t>Chemoorganotrophs</a:t>
            </a:r>
            <a:br>
              <a:rPr lang="en-US" dirty="0"/>
            </a:br>
            <a:endParaRPr lang="en-US" dirty="0"/>
          </a:p>
          <a:p>
            <a:r>
              <a:rPr lang="en-US" dirty="0"/>
              <a:t>Widespread in soil and water</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62</a:t>
            </a:fld>
            <a:endParaRPr lang="en-US"/>
          </a:p>
        </p:txBody>
      </p:sp>
    </p:spTree>
    <p:extLst>
      <p:ext uri="{BB962C8B-B14F-4D97-AF65-F5344CB8AC3E}">
        <p14:creationId xmlns:p14="http://schemas.microsoft.com/office/powerpoint/2010/main" val="25659828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a:t>
            </a:r>
            <a:r>
              <a:rPr lang="en-US" i="1" dirty="0" err="1"/>
              <a:t>Alteromonadales</a:t>
            </a:r>
            <a:endParaRPr lang="en-US" dirty="0"/>
          </a:p>
        </p:txBody>
      </p:sp>
      <p:sp>
        <p:nvSpPr>
          <p:cNvPr id="3" name="Content Placeholder 2"/>
          <p:cNvSpPr>
            <a:spLocks noGrp="1"/>
          </p:cNvSpPr>
          <p:nvPr>
            <p:ph idx="1"/>
          </p:nvPr>
        </p:nvSpPr>
        <p:spPr/>
        <p:txBody>
          <a:bodyPr/>
          <a:lstStyle/>
          <a:p>
            <a:r>
              <a:rPr lang="en-US" dirty="0"/>
              <a:t>Genus </a:t>
            </a:r>
            <a:r>
              <a:rPr lang="en-US" i="1" dirty="0" err="1"/>
              <a:t>Altermonas</a:t>
            </a:r>
            <a:br>
              <a:rPr lang="en-US" i="1" dirty="0"/>
            </a:br>
            <a:endParaRPr lang="en-US" i="1" dirty="0"/>
          </a:p>
          <a:p>
            <a:pPr lvl="1"/>
            <a:r>
              <a:rPr lang="en-US" dirty="0"/>
              <a:t>strictly aerobic, </a:t>
            </a:r>
            <a:r>
              <a:rPr lang="en-US" dirty="0" err="1"/>
              <a:t>nonspore</a:t>
            </a:r>
            <a:r>
              <a:rPr lang="en-US" dirty="0"/>
              <a:t>-forming, straight or curved rods, motile with single polar flagella</a:t>
            </a:r>
            <a:br>
              <a:rPr lang="en-US" dirty="0"/>
            </a:br>
            <a:endParaRPr lang="en-US" dirty="0"/>
          </a:p>
          <a:p>
            <a:pPr lvl="1"/>
            <a:r>
              <a:rPr lang="en-US" dirty="0"/>
              <a:t>mesophilic, require sodium ions for growth</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63</a:t>
            </a:fld>
            <a:endParaRPr lang="en-US"/>
          </a:p>
        </p:txBody>
      </p:sp>
    </p:spTree>
    <p:extLst>
      <p:ext uri="{BB962C8B-B14F-4D97-AF65-F5344CB8AC3E}">
        <p14:creationId xmlns:p14="http://schemas.microsoft.com/office/powerpoint/2010/main" val="25659828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143000"/>
            <a:ext cx="2667000" cy="1447800"/>
          </a:xfrm>
        </p:spPr>
        <p:txBody>
          <a:bodyPr>
            <a:normAutofit/>
          </a:bodyPr>
          <a:lstStyle/>
          <a:p>
            <a:r>
              <a:rPr lang="en-US" dirty="0"/>
              <a:t>Genus </a:t>
            </a:r>
            <a:r>
              <a:rPr lang="en-US" i="1" dirty="0" err="1"/>
              <a:t>Shewanella</a:t>
            </a:r>
            <a:endParaRPr lang="en-US" dirty="0"/>
          </a:p>
        </p:txBody>
      </p:sp>
      <p:sp>
        <p:nvSpPr>
          <p:cNvPr id="3" name="Content Placeholder 2"/>
          <p:cNvSpPr>
            <a:spLocks noGrp="1"/>
          </p:cNvSpPr>
          <p:nvPr>
            <p:ph sz="half" idx="1"/>
          </p:nvPr>
        </p:nvSpPr>
        <p:spPr>
          <a:xfrm>
            <a:off x="152400" y="2895600"/>
            <a:ext cx="8839200" cy="3886200"/>
          </a:xfrm>
        </p:spPr>
        <p:txBody>
          <a:bodyPr>
            <a:normAutofit fontScale="85000" lnSpcReduction="10000"/>
          </a:bodyPr>
          <a:lstStyle/>
          <a:p>
            <a:pPr>
              <a:lnSpc>
                <a:spcPct val="110000"/>
              </a:lnSpc>
              <a:spcBef>
                <a:spcPts val="600"/>
              </a:spcBef>
            </a:pPr>
            <a:r>
              <a:rPr lang="en-US" dirty="0"/>
              <a:t>Found in seawater, lake sediments, salted foods</a:t>
            </a:r>
          </a:p>
          <a:p>
            <a:pPr>
              <a:lnSpc>
                <a:spcPct val="110000"/>
              </a:lnSpc>
              <a:spcBef>
                <a:spcPts val="600"/>
              </a:spcBef>
            </a:pPr>
            <a:r>
              <a:rPr lang="en-US" dirty="0" err="1"/>
              <a:t>Facultatively</a:t>
            </a:r>
            <a:r>
              <a:rPr lang="en-US" dirty="0"/>
              <a:t> anaerobic with diverse electron acceptors used (uranium, chromium, neptunium, plutonium, vanadate)</a:t>
            </a:r>
          </a:p>
          <a:p>
            <a:pPr lvl="1">
              <a:lnSpc>
                <a:spcPct val="110000"/>
              </a:lnSpc>
              <a:spcBef>
                <a:spcPts val="600"/>
              </a:spcBef>
            </a:pPr>
            <a:r>
              <a:rPr lang="en-US" dirty="0"/>
              <a:t>excellent candidate for bioremediation </a:t>
            </a:r>
          </a:p>
          <a:p>
            <a:pPr>
              <a:lnSpc>
                <a:spcPct val="110000"/>
              </a:lnSpc>
              <a:spcBef>
                <a:spcPts val="600"/>
              </a:spcBef>
            </a:pPr>
            <a:r>
              <a:rPr lang="en-US" dirty="0"/>
              <a:t>Dissimilatory metal reduction</a:t>
            </a:r>
          </a:p>
          <a:p>
            <a:pPr lvl="1">
              <a:lnSpc>
                <a:spcPct val="110000"/>
              </a:lnSpc>
              <a:spcBef>
                <a:spcPts val="600"/>
              </a:spcBef>
            </a:pPr>
            <a:r>
              <a:rPr lang="en-US" dirty="0"/>
              <a:t>no assimilation of metals</a:t>
            </a:r>
          </a:p>
          <a:p>
            <a:pPr lvl="1">
              <a:lnSpc>
                <a:spcPct val="110000"/>
              </a:lnSpc>
              <a:spcBef>
                <a:spcPts val="600"/>
              </a:spcBef>
            </a:pPr>
            <a:r>
              <a:rPr lang="en-US" dirty="0"/>
              <a:t>evolved strategies for use of insoluble metals (Fe(III) or </a:t>
            </a:r>
            <a:r>
              <a:rPr lang="en-US" dirty="0" err="1"/>
              <a:t>Mn</a:t>
            </a:r>
            <a:r>
              <a:rPr lang="en-US" dirty="0"/>
              <a:t>(IV)) as electron acceptors</a:t>
            </a:r>
          </a:p>
          <a:p>
            <a:pPr lvl="2">
              <a:lnSpc>
                <a:spcPct val="110000"/>
              </a:lnSpc>
              <a:spcBef>
                <a:spcPts val="600"/>
              </a:spcBef>
            </a:pPr>
            <a:r>
              <a:rPr lang="en-US" dirty="0"/>
              <a:t>localize cytochromes in outer membrane</a:t>
            </a:r>
          </a:p>
          <a:p>
            <a:pPr lvl="2">
              <a:lnSpc>
                <a:spcPct val="110000"/>
              </a:lnSpc>
              <a:spcBef>
                <a:spcPts val="600"/>
              </a:spcBef>
            </a:pPr>
            <a:r>
              <a:rPr lang="en-US" dirty="0"/>
              <a:t>electron shuttles transfer electrons to mineral surface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64</a:t>
            </a:fld>
            <a:endParaRPr lang="en-US"/>
          </a:p>
        </p:txBody>
      </p:sp>
      <p:pic>
        <p:nvPicPr>
          <p:cNvPr id="33794" name="Picture 2" descr="(a) Shewanella oneidensis MR1 transfers electrons from the plasma membrane, through the outer membrane, to an insoluble metal. CymA is a quinol dehydrogenase that oxidizes quinol and passes the electrons to the c-type cytochrome MtrA. MtrB is not a cytochrome but helps move the electrons through the outer membrane to the surface-exposed c-type cytochromes, MtrC and OmcA. These redox proteins donate electrons to the oxidized, insoluble metals iron and manganese, which thereby serve as external, terminal electron acceptors. (b) When electron acceptors are in short supply, S. oneidensis MR1 makes nanowires along which electrons can travel to a terminal electron acceptor. This scanning electron micrograph shows the production of nanowires that occurs when cells are oxygen limited. (c) A scanning tunneling micrograph of a S. oneidensis MR1 nanowire with a diameter of 100 nm showing the ridges and troughs that run along the axis of the nanowire." title="Figure 22.28 External Terminal Electron Acceptors."/>
          <p:cNvPicPr>
            <a:picLocks noChangeAspect="1" noChangeArrowheads="1"/>
          </p:cNvPicPr>
          <p:nvPr/>
        </p:nvPicPr>
        <p:blipFill>
          <a:blip r:embed="rId2" cstate="print"/>
          <a:srcRect/>
          <a:stretch>
            <a:fillRect/>
          </a:stretch>
        </p:blipFill>
        <p:spPr bwMode="auto">
          <a:xfrm>
            <a:off x="2971800" y="127046"/>
            <a:ext cx="5926666" cy="2768554"/>
          </a:xfrm>
          <a:prstGeom prst="rect">
            <a:avLst/>
          </a:prstGeom>
          <a:noFill/>
        </p:spPr>
      </p:pic>
    </p:spTree>
    <p:extLst>
      <p:ext uri="{BB962C8B-B14F-4D97-AF65-F5344CB8AC3E}">
        <p14:creationId xmlns:p14="http://schemas.microsoft.com/office/powerpoint/2010/main" val="25659828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Order </a:t>
            </a:r>
            <a:r>
              <a:rPr lang="en-US" i="1" dirty="0" err="1"/>
              <a:t>Vibrionales</a:t>
            </a:r>
            <a:endParaRPr lang="en-US" dirty="0"/>
          </a:p>
        </p:txBody>
      </p:sp>
      <p:sp>
        <p:nvSpPr>
          <p:cNvPr id="3" name="Content Placeholder 2"/>
          <p:cNvSpPr>
            <a:spLocks noGrp="1"/>
          </p:cNvSpPr>
          <p:nvPr>
            <p:ph idx="1"/>
          </p:nvPr>
        </p:nvSpPr>
        <p:spPr>
          <a:xfrm>
            <a:off x="152400" y="1295400"/>
            <a:ext cx="8839200" cy="5410200"/>
          </a:xfrm>
        </p:spPr>
        <p:txBody>
          <a:bodyPr>
            <a:normAutofit fontScale="92500" lnSpcReduction="20000"/>
          </a:bodyPr>
          <a:lstStyle/>
          <a:p>
            <a:r>
              <a:rPr lang="en-US" dirty="0"/>
              <a:t>Contains one family, </a:t>
            </a:r>
            <a:r>
              <a:rPr lang="en-US" i="1" dirty="0" err="1"/>
              <a:t>Vibrionaceae</a:t>
            </a:r>
            <a:br>
              <a:rPr lang="en-US" i="1" dirty="0"/>
            </a:br>
            <a:endParaRPr lang="en-US" dirty="0"/>
          </a:p>
          <a:p>
            <a:r>
              <a:rPr lang="en-US" dirty="0"/>
              <a:t>Most are aquatic, most free-living</a:t>
            </a:r>
          </a:p>
          <a:p>
            <a:pPr lvl="1"/>
            <a:r>
              <a:rPr lang="en-US" dirty="0"/>
              <a:t>straight or curved rods, oxidase positive, flagellated</a:t>
            </a:r>
          </a:p>
          <a:p>
            <a:pPr lvl="1"/>
            <a:r>
              <a:rPr lang="en-US" dirty="0"/>
              <a:t>some important pathogens</a:t>
            </a:r>
          </a:p>
          <a:p>
            <a:pPr lvl="1"/>
            <a:r>
              <a:rPr lang="en-US" dirty="0"/>
              <a:t>some symbiotic in luminous organs of fish</a:t>
            </a:r>
            <a:br>
              <a:rPr lang="en-US" dirty="0"/>
            </a:br>
            <a:endParaRPr lang="en-US" dirty="0"/>
          </a:p>
          <a:p>
            <a:r>
              <a:rPr lang="en-US" dirty="0"/>
              <a:t>Closely related to two other orders</a:t>
            </a:r>
          </a:p>
          <a:p>
            <a:pPr lvl="1"/>
            <a:r>
              <a:rPr lang="en-US" i="1" dirty="0" err="1"/>
              <a:t>Enterobacteriales</a:t>
            </a:r>
            <a:r>
              <a:rPr lang="en-US" dirty="0"/>
              <a:t> and </a:t>
            </a:r>
            <a:r>
              <a:rPr lang="en-US" i="1" dirty="0" err="1"/>
              <a:t>Pasteurellales</a:t>
            </a:r>
            <a:br>
              <a:rPr lang="en-US" i="1" dirty="0"/>
            </a:br>
            <a:endParaRPr lang="en-US" i="1" dirty="0"/>
          </a:p>
          <a:p>
            <a:r>
              <a:rPr lang="en-US" i="1" dirty="0"/>
              <a:t>Vibrio </a:t>
            </a:r>
            <a:r>
              <a:rPr lang="en-US" i="1" dirty="0" err="1"/>
              <a:t>cholerae</a:t>
            </a:r>
            <a:r>
              <a:rPr lang="en-US" i="1" dirty="0"/>
              <a:t> </a:t>
            </a:r>
            <a:r>
              <a:rPr lang="en-US" dirty="0"/>
              <a:t>is an important pathogen</a:t>
            </a:r>
          </a:p>
          <a:p>
            <a:pPr lvl="1"/>
            <a:r>
              <a:rPr lang="en-US" dirty="0"/>
              <a:t>pathogen that causes cholera</a:t>
            </a:r>
          </a:p>
          <a:p>
            <a:pPr lvl="1"/>
            <a:r>
              <a:rPr lang="en-US" dirty="0"/>
              <a:t>genome has been sequenced</a:t>
            </a:r>
          </a:p>
          <a:p>
            <a:pPr lvl="2"/>
            <a:r>
              <a:rPr lang="en-US" dirty="0"/>
              <a:t>has two circular chromosomes</a:t>
            </a:r>
          </a:p>
          <a:p>
            <a:pPr lvl="2"/>
            <a:r>
              <a:rPr lang="en-US" dirty="0"/>
              <a:t>copies of some genes present on both chromosomes</a:t>
            </a:r>
          </a:p>
          <a:p>
            <a:pPr lvl="2"/>
            <a:r>
              <a:rPr lang="en-US" dirty="0"/>
              <a:t>cholera toxin gene is integrated phage on chromosome 1</a:t>
            </a:r>
          </a:p>
          <a:p>
            <a:pPr lvl="1"/>
            <a:endParaRPr lang="en-US" i="1"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65</a:t>
            </a:fld>
            <a:endParaRPr lang="en-US"/>
          </a:p>
        </p:txBody>
      </p:sp>
    </p:spTree>
    <p:extLst>
      <p:ext uri="{BB962C8B-B14F-4D97-AF65-F5344CB8AC3E}">
        <p14:creationId xmlns:p14="http://schemas.microsoft.com/office/powerpoint/2010/main" val="25659828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dirty="0"/>
              <a:t>Characteristics of Facultative Anaerobic Gram-Negative Rods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66</a:t>
            </a:fld>
            <a:endParaRPr lang="en-US"/>
          </a:p>
        </p:txBody>
      </p:sp>
      <p:pic>
        <p:nvPicPr>
          <p:cNvPr id="34818" name="Picture 2" descr="Enterobacteriaceae: Cell dimensions 0.3–1.0 × 1.0–6.0 μm; Morphology Straight rods; peritrichous flagella or nonmotile; Physiology Oxidase negative; Symbiotic relationships Some are parasitic on mammals and birds, some species are plant pathogens; Representative genera Escherichia, Shigella, Salmonella, Citrobacter, Klebsiella, Enterobacter, Erwinia, Serratia, Proteus, Yersinia&#10;Vibrionaceae: Cell dimensions 0.3–1.3 × 1.0–3.5 μm; Morphology Straight or curved rods; polar flagella; lateral flagella may be produced on solid media; Physiology  Oxidase positive; all can use d-glucose as sole or principal carbon source; Symbiotic relationships Most are not pathogens, several inhabit light organs of marine organisms; Representative genera Vibrio, Photobacterium&#10;Pasteurellaceae: Cell dimensions 0.2–0.4 × 0.4–2.0 μm; Morphology Coccoid to rod-shaped cells, sometimes pleomorphic; nonmotile; Physiology Oxidase positive; heme and/or NAD+ often required for growth; organic nitrogen source required; Symbiotic relationships Parasites of mammals and birds; Representative genera Pasteurella, Haemophilus" title="Table 22.6 Characteristics of Families of Facultatively Anaerobic Gram-Negative Rods"/>
          <p:cNvPicPr>
            <a:picLocks noChangeAspect="1" noChangeArrowheads="1"/>
          </p:cNvPicPr>
          <p:nvPr/>
        </p:nvPicPr>
        <p:blipFill>
          <a:blip r:embed="rId2" cstate="print"/>
          <a:srcRect/>
          <a:stretch>
            <a:fillRect/>
          </a:stretch>
        </p:blipFill>
        <p:spPr bwMode="auto">
          <a:xfrm>
            <a:off x="310551" y="1557867"/>
            <a:ext cx="8522900" cy="4132792"/>
          </a:xfrm>
          <a:prstGeom prst="rect">
            <a:avLst/>
          </a:prstGeom>
          <a:noFill/>
        </p:spPr>
      </p:pic>
    </p:spTree>
    <p:extLst>
      <p:ext uri="{BB962C8B-B14F-4D97-AF65-F5344CB8AC3E}">
        <p14:creationId xmlns:p14="http://schemas.microsoft.com/office/powerpoint/2010/main" val="25659828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i="1" dirty="0"/>
              <a:t>V. </a:t>
            </a:r>
            <a:r>
              <a:rPr lang="en-US" i="1" dirty="0" err="1"/>
              <a:t>fischeri</a:t>
            </a:r>
            <a:r>
              <a:rPr lang="en-US" i="1" dirty="0"/>
              <a:t>, V. </a:t>
            </a:r>
            <a:r>
              <a:rPr lang="en-US" i="1" dirty="0" err="1"/>
              <a:t>harveyi</a:t>
            </a:r>
            <a:endParaRPr lang="en-US" dirty="0"/>
          </a:p>
        </p:txBody>
      </p:sp>
      <p:sp>
        <p:nvSpPr>
          <p:cNvPr id="3" name="Content Placeholder 2"/>
          <p:cNvSpPr>
            <a:spLocks noGrp="1"/>
          </p:cNvSpPr>
          <p:nvPr>
            <p:ph sz="half" idx="1"/>
          </p:nvPr>
        </p:nvSpPr>
        <p:spPr>
          <a:xfrm>
            <a:off x="152400" y="1066801"/>
            <a:ext cx="8839200" cy="2362200"/>
          </a:xfrm>
        </p:spPr>
        <p:txBody>
          <a:bodyPr>
            <a:normAutofit fontScale="92500" lnSpcReduction="10000"/>
          </a:bodyPr>
          <a:lstStyle/>
          <a:p>
            <a:r>
              <a:rPr lang="en-US" dirty="0"/>
              <a:t>Free-living</a:t>
            </a:r>
            <a:br>
              <a:rPr lang="en-US" dirty="0"/>
            </a:br>
            <a:endParaRPr lang="en-US" dirty="0"/>
          </a:p>
          <a:p>
            <a:r>
              <a:rPr lang="en-US" dirty="0"/>
              <a:t>Capable of bioluminescence</a:t>
            </a:r>
          </a:p>
          <a:p>
            <a:pPr lvl="1"/>
            <a:r>
              <a:rPr lang="en-US" dirty="0"/>
              <a:t>emission of light catalyzed by luciferase</a:t>
            </a:r>
          </a:p>
          <a:p>
            <a:pPr lvl="1"/>
            <a:r>
              <a:rPr lang="en-US" dirty="0"/>
              <a:t>symbiotic relationship with fish organs</a:t>
            </a:r>
          </a:p>
          <a:p>
            <a:pPr lvl="1"/>
            <a:r>
              <a:rPr lang="en-US" dirty="0"/>
              <a:t>also observed in at least two species of </a:t>
            </a:r>
            <a:r>
              <a:rPr lang="en-US" i="1" dirty="0" err="1"/>
              <a:t>Photobacterium</a:t>
            </a:r>
            <a:endParaRPr lang="en-US" dirty="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67</a:t>
            </a:fld>
            <a:endParaRPr lang="en-US"/>
          </a:p>
        </p:txBody>
      </p:sp>
      <p:pic>
        <p:nvPicPr>
          <p:cNvPr id="35842" name="Picture 2" descr="(a) A photograph of the Atlantic flashlight fish Kryptophanaron alfredi. The light area under the eye is the fish's luminous organ, which can be covered by a lid of tissue. (b) Ultrathin section of the luminous organ of a fish, Equulities novaehollandiae, with the bioluminescent bacterium Photobacterium leiognathi." title="Figure 22.29 Bioluminescence."/>
          <p:cNvPicPr>
            <a:picLocks noChangeAspect="1" noChangeArrowheads="1"/>
          </p:cNvPicPr>
          <p:nvPr/>
        </p:nvPicPr>
        <p:blipFill>
          <a:blip r:embed="rId2" cstate="print"/>
          <a:srcRect/>
          <a:stretch>
            <a:fillRect/>
          </a:stretch>
        </p:blipFill>
        <p:spPr bwMode="auto">
          <a:xfrm>
            <a:off x="2420673" y="3429000"/>
            <a:ext cx="4302654" cy="3012692"/>
          </a:xfrm>
          <a:prstGeom prst="rect">
            <a:avLst/>
          </a:prstGeom>
          <a:noFill/>
        </p:spPr>
      </p:pic>
    </p:spTree>
    <p:extLst>
      <p:ext uri="{BB962C8B-B14F-4D97-AF65-F5344CB8AC3E}">
        <p14:creationId xmlns:p14="http://schemas.microsoft.com/office/powerpoint/2010/main" val="25659828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Order </a:t>
            </a:r>
            <a:r>
              <a:rPr lang="en-US" i="1" dirty="0" err="1"/>
              <a:t>Enterobacteriales</a:t>
            </a:r>
            <a:endParaRPr lang="en-US" dirty="0"/>
          </a:p>
        </p:txBody>
      </p:sp>
      <p:sp>
        <p:nvSpPr>
          <p:cNvPr id="6" name="Content Placeholder 5"/>
          <p:cNvSpPr>
            <a:spLocks noGrp="1"/>
          </p:cNvSpPr>
          <p:nvPr>
            <p:ph sz="half" idx="2"/>
          </p:nvPr>
        </p:nvSpPr>
        <p:spPr>
          <a:xfrm>
            <a:off x="4876800" y="1143000"/>
            <a:ext cx="4114800" cy="5562600"/>
          </a:xfrm>
        </p:spPr>
        <p:txBody>
          <a:bodyPr>
            <a:normAutofit lnSpcReduction="10000"/>
          </a:bodyPr>
          <a:lstStyle/>
          <a:p>
            <a:r>
              <a:rPr lang="en-US" dirty="0"/>
              <a:t>One family, </a:t>
            </a:r>
            <a:r>
              <a:rPr lang="en-US" i="1" dirty="0" err="1"/>
              <a:t>Enterobacteriaceae</a:t>
            </a:r>
            <a:r>
              <a:rPr lang="en-US" dirty="0"/>
              <a:t>; 44 genera </a:t>
            </a:r>
          </a:p>
          <a:p>
            <a:pPr lvl="1"/>
            <a:r>
              <a:rPr lang="en-US" dirty="0"/>
              <a:t>enteric bacteria or </a:t>
            </a:r>
            <a:r>
              <a:rPr lang="en-US" dirty="0" err="1"/>
              <a:t>enterobacteria</a:t>
            </a:r>
            <a:br>
              <a:rPr lang="en-US" dirty="0"/>
            </a:br>
            <a:endParaRPr lang="en-US" dirty="0"/>
          </a:p>
          <a:p>
            <a:r>
              <a:rPr lang="en-US" dirty="0"/>
              <a:t>Facultative anaerobes</a:t>
            </a:r>
            <a:br>
              <a:rPr lang="en-US" dirty="0"/>
            </a:br>
            <a:endParaRPr lang="en-US" dirty="0"/>
          </a:p>
          <a:p>
            <a:r>
              <a:rPr lang="en-US" dirty="0" err="1"/>
              <a:t>Chemoorganotrophs</a:t>
            </a:r>
            <a:r>
              <a:rPr lang="en-US" dirty="0"/>
              <a:t> degrade sugars by glycolytic pathway</a:t>
            </a:r>
          </a:p>
          <a:p>
            <a:pPr lvl="1"/>
            <a:r>
              <a:rPr lang="en-US" dirty="0"/>
              <a:t>cleave pyruvate to yield formic acid</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68</a:t>
            </a:fld>
            <a:endParaRPr lang="en-US"/>
          </a:p>
        </p:txBody>
      </p:sp>
      <p:pic>
        <p:nvPicPr>
          <p:cNvPr id="36866" name="Picture 2" descr="During aerobic growth, pyruvate is converted to CO2 and acetyl-CoA by the pyruvate dehydrogenase complex so that acetyl-CoA can enter the TCA cycle. Under low oxygen conditions, some pyruvate is also cleaved to formate and acetyl-CoA by pyruvate formate-lyase. Formate must then be converted into CO2 and H2 by one of three formate dehydrogenase enzymes. Formate dehydrogenase-O is active during aerobic respiration when oxygen levels are low. If respiration continues under anoxic conditions with nitrate as the terminal electron acceptor, both formate dehydrogenase-N and formate dehydrogenase-O split formate. These enzymes are located on the periplasmic face of the plasma membrane. During fermentative conditions, formate dehydrogenase-H is made, resulting in mixed acid fermentation: formate is cleaved to yield CO2 and H2, whereas acetyl-CoA is converted to ethanol and acetate. Formate dehydrogenase-H is a peripheral membrane protein, with its active site exposed to the cytoplasm." title="Figure 22.30 Metabolism of Pyruvate and Formate in E. coli."/>
          <p:cNvPicPr>
            <a:picLocks noChangeAspect="1" noChangeArrowheads="1"/>
          </p:cNvPicPr>
          <p:nvPr/>
        </p:nvPicPr>
        <p:blipFill>
          <a:blip r:embed="rId2" cstate="print"/>
          <a:srcRect/>
          <a:stretch>
            <a:fillRect/>
          </a:stretch>
        </p:blipFill>
        <p:spPr bwMode="auto">
          <a:xfrm>
            <a:off x="339596" y="1507067"/>
            <a:ext cx="4553208" cy="3843866"/>
          </a:xfrm>
          <a:prstGeom prst="rect">
            <a:avLst/>
          </a:prstGeom>
          <a:noFill/>
        </p:spPr>
      </p:pic>
    </p:spTree>
    <p:extLst>
      <p:ext uri="{BB962C8B-B14F-4D97-AF65-F5344CB8AC3E}">
        <p14:creationId xmlns:p14="http://schemas.microsoft.com/office/powerpoint/2010/main" val="25659828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Family</a:t>
            </a:r>
            <a:r>
              <a:rPr lang="en-US" i="1" dirty="0"/>
              <a:t> </a:t>
            </a:r>
            <a:r>
              <a:rPr lang="en-US" i="1" dirty="0" err="1"/>
              <a:t>Enterobacteriaceae</a:t>
            </a:r>
            <a:endParaRPr lang="en-US" dirty="0"/>
          </a:p>
        </p:txBody>
      </p:sp>
      <p:sp>
        <p:nvSpPr>
          <p:cNvPr id="3" name="Content Placeholder 2"/>
          <p:cNvSpPr>
            <a:spLocks noGrp="1"/>
          </p:cNvSpPr>
          <p:nvPr>
            <p:ph idx="1"/>
          </p:nvPr>
        </p:nvSpPr>
        <p:spPr>
          <a:xfrm>
            <a:off x="457200" y="1447800"/>
            <a:ext cx="8229600" cy="5029200"/>
          </a:xfrm>
        </p:spPr>
        <p:txBody>
          <a:bodyPr/>
          <a:lstStyle/>
          <a:p>
            <a:r>
              <a:rPr lang="en-US" dirty="0"/>
              <a:t>Two groups based on fermentation products</a:t>
            </a:r>
          </a:p>
          <a:p>
            <a:pPr lvl="1"/>
            <a:r>
              <a:rPr lang="en-US" dirty="0"/>
              <a:t>majority are mixed acid fermenters</a:t>
            </a:r>
          </a:p>
          <a:p>
            <a:pPr lvl="2"/>
            <a:r>
              <a:rPr lang="en-US" dirty="0"/>
              <a:t>produce lactate, acetate, succinate, </a:t>
            </a:r>
            <a:r>
              <a:rPr lang="en-US" dirty="0" err="1"/>
              <a:t>formate</a:t>
            </a:r>
            <a:r>
              <a:rPr lang="en-US" dirty="0"/>
              <a:t>, and ethanol</a:t>
            </a:r>
          </a:p>
          <a:p>
            <a:pPr lvl="1"/>
            <a:r>
              <a:rPr lang="en-US" dirty="0"/>
              <a:t>others are </a:t>
            </a:r>
            <a:r>
              <a:rPr lang="en-US" dirty="0" err="1"/>
              <a:t>butanediol</a:t>
            </a:r>
            <a:r>
              <a:rPr lang="en-US" dirty="0"/>
              <a:t> fermenters</a:t>
            </a:r>
          </a:p>
          <a:p>
            <a:pPr lvl="2"/>
            <a:r>
              <a:rPr lang="en-US" dirty="0" err="1"/>
              <a:t>butanediol</a:t>
            </a:r>
            <a:r>
              <a:rPr lang="en-US" dirty="0"/>
              <a:t>, ethanol, and carbon dioxide</a:t>
            </a:r>
            <a:br>
              <a:rPr lang="en-US" dirty="0"/>
            </a:br>
            <a:endParaRPr lang="en-US" dirty="0"/>
          </a:p>
          <a:p>
            <a:r>
              <a:rPr lang="en-US" dirty="0"/>
              <a:t>Biochemical tests used to distinguish genera in addition to morphology, motility, growth responses</a:t>
            </a:r>
            <a:br>
              <a:rPr lang="en-US" dirty="0"/>
            </a:br>
            <a:endParaRPr lang="en-US" dirty="0"/>
          </a:p>
          <a:p>
            <a:r>
              <a:rPr lang="en-US" dirty="0"/>
              <a:t>Very common, widespread, and important</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69</a:t>
            </a:fld>
            <a:endParaRPr lang="en-US"/>
          </a:p>
        </p:txBody>
      </p:sp>
    </p:spTree>
    <p:extLst>
      <p:ext uri="{BB962C8B-B14F-4D97-AF65-F5344CB8AC3E}">
        <p14:creationId xmlns:p14="http://schemas.microsoft.com/office/powerpoint/2010/main" val="25659828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Identification of </a:t>
            </a:r>
            <a:r>
              <a:rPr lang="en-US" dirty="0" err="1"/>
              <a:t>Enterobacterial</a:t>
            </a:r>
            <a:r>
              <a:rPr lang="en-US" dirty="0"/>
              <a:t> Genera</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70</a:t>
            </a:fld>
            <a:endParaRPr lang="en-US"/>
          </a:p>
        </p:txBody>
      </p:sp>
      <p:pic>
        <p:nvPicPr>
          <p:cNvPr id="37890" name="Picture 2" descr="A dichotomous key to selected genera of Gram-negative, oxidase-negative enteric rod bacteria (Citrobacter, Enterobacter, Serratia, Escherichia, Salmonella, Proteus, Shigella, Yersinia, and Klebsiella) based on motility and biochemical characteristics. The following abbreviations are used: ONPG, o-nitrophenyl-β-D-galactopyranoside (a test for β-galactosidase); DNase, deoxyribonuclease; Gel. Liq., gelatin liquefaction; and VP, Voges-Proskauer (a test for butanediol fermentation).&#10;Citrobacter is VP-, DNase-/Gel. Liq.-, Citrate+, ONPG+, and motile. Enterobacter is VP+, DNase-/Gel. Liq.-, Citrate+, ONPG+, and motile. Serratia is DNase+/Gel. Liq.+, Citrate+, ONPG+, and motile. Escherichia is citrate-, ONPG+, and motile. Salmonella is urease-/mannitol+, ONPG-, and motile. Proteus is urease+/mannitol-, ONPG-, and motile. Shigella is D-xylose-, citrate-/adonitol-, and nonmotile. Yersinia is D-xylose+, citrate-/adonitol-, and nonmotile. And Klebsiella is citrate+/adonitol+ and nonmotile." title="Figure 22.31 Identification of Enterobacterial Genera."/>
          <p:cNvPicPr>
            <a:picLocks noChangeAspect="1" noChangeArrowheads="1"/>
          </p:cNvPicPr>
          <p:nvPr/>
        </p:nvPicPr>
        <p:blipFill>
          <a:blip r:embed="rId2" cstate="print"/>
          <a:srcRect/>
          <a:stretch>
            <a:fillRect/>
          </a:stretch>
        </p:blipFill>
        <p:spPr bwMode="auto">
          <a:xfrm>
            <a:off x="298194" y="1456268"/>
            <a:ext cx="8547614" cy="4656666"/>
          </a:xfrm>
          <a:prstGeom prst="rect">
            <a:avLst/>
          </a:prstGeom>
          <a:noFill/>
        </p:spPr>
      </p:pic>
    </p:spTree>
    <p:extLst>
      <p:ext uri="{BB962C8B-B14F-4D97-AF65-F5344CB8AC3E}">
        <p14:creationId xmlns:p14="http://schemas.microsoft.com/office/powerpoint/2010/main" val="25659828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Escherichia coli</a:t>
            </a:r>
            <a:endParaRPr lang="en-US" dirty="0"/>
          </a:p>
        </p:txBody>
      </p:sp>
      <p:sp>
        <p:nvSpPr>
          <p:cNvPr id="3" name="Content Placeholder 2"/>
          <p:cNvSpPr>
            <a:spLocks noGrp="1"/>
          </p:cNvSpPr>
          <p:nvPr>
            <p:ph idx="1"/>
          </p:nvPr>
        </p:nvSpPr>
        <p:spPr/>
        <p:txBody>
          <a:bodyPr/>
          <a:lstStyle/>
          <a:p>
            <a:pPr>
              <a:lnSpc>
                <a:spcPct val="90000"/>
              </a:lnSpc>
            </a:pPr>
            <a:r>
              <a:rPr lang="en-US" dirty="0"/>
              <a:t>Probably best studied bacterium</a:t>
            </a:r>
            <a:br>
              <a:rPr lang="en-US" dirty="0"/>
            </a:br>
            <a:endParaRPr lang="en-US" dirty="0"/>
          </a:p>
          <a:p>
            <a:pPr>
              <a:lnSpc>
                <a:spcPct val="90000"/>
              </a:lnSpc>
            </a:pPr>
            <a:r>
              <a:rPr lang="en-US" dirty="0"/>
              <a:t>Inhabitant of intestinal tracts of many animals</a:t>
            </a:r>
            <a:br>
              <a:rPr lang="en-US" dirty="0"/>
            </a:br>
            <a:endParaRPr lang="en-US" dirty="0"/>
          </a:p>
          <a:p>
            <a:pPr>
              <a:lnSpc>
                <a:spcPct val="90000"/>
              </a:lnSpc>
            </a:pPr>
            <a:r>
              <a:rPr lang="en-US" dirty="0"/>
              <a:t>Used as indicator organisms for testing water for fecal contamination</a:t>
            </a:r>
            <a:br>
              <a:rPr lang="en-US" dirty="0"/>
            </a:br>
            <a:endParaRPr lang="en-US" dirty="0"/>
          </a:p>
          <a:p>
            <a:pPr>
              <a:lnSpc>
                <a:spcPct val="90000"/>
              </a:lnSpc>
            </a:pPr>
            <a:r>
              <a:rPr lang="en-US" dirty="0"/>
              <a:t>Some strains are pathogenic</a:t>
            </a:r>
          </a:p>
          <a:p>
            <a:pPr lvl="1">
              <a:lnSpc>
                <a:spcPct val="90000"/>
              </a:lnSpc>
            </a:pPr>
            <a:r>
              <a:rPr lang="en-US" dirty="0"/>
              <a:t>gastroenteritis</a:t>
            </a:r>
          </a:p>
          <a:p>
            <a:pPr lvl="1">
              <a:lnSpc>
                <a:spcPct val="90000"/>
              </a:lnSpc>
            </a:pPr>
            <a:r>
              <a:rPr lang="en-US" dirty="0"/>
              <a:t>urinary tract infections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71</a:t>
            </a:fld>
            <a:endParaRPr lang="en-US"/>
          </a:p>
        </p:txBody>
      </p:sp>
    </p:spTree>
    <p:extLst>
      <p:ext uri="{BB962C8B-B14F-4D97-AF65-F5344CB8AC3E}">
        <p14:creationId xmlns:p14="http://schemas.microsoft.com/office/powerpoint/2010/main" val="16445219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Important Pathogenic </a:t>
            </a:r>
            <a:br>
              <a:rPr lang="en-US" dirty="0"/>
            </a:br>
            <a:r>
              <a:rPr lang="en-US" dirty="0"/>
              <a:t>Enteric Bacteria</a:t>
            </a:r>
          </a:p>
        </p:txBody>
      </p:sp>
      <p:sp>
        <p:nvSpPr>
          <p:cNvPr id="3" name="Content Placeholder 2"/>
          <p:cNvSpPr>
            <a:spLocks noGrp="1"/>
          </p:cNvSpPr>
          <p:nvPr>
            <p:ph idx="1"/>
          </p:nvPr>
        </p:nvSpPr>
        <p:spPr/>
        <p:txBody>
          <a:bodyPr/>
          <a:lstStyle/>
          <a:p>
            <a:r>
              <a:rPr lang="en-US" i="1" dirty="0"/>
              <a:t>Salmonella</a:t>
            </a:r>
            <a:r>
              <a:rPr lang="en-US" dirty="0"/>
              <a:t> – typhoid fever and gastroenteritis</a:t>
            </a:r>
            <a:br>
              <a:rPr lang="en-US" dirty="0"/>
            </a:br>
            <a:endParaRPr lang="en-US" dirty="0"/>
          </a:p>
          <a:p>
            <a:r>
              <a:rPr lang="en-US" i="1" dirty="0" err="1"/>
              <a:t>Shigella</a:t>
            </a:r>
            <a:r>
              <a:rPr lang="en-US" dirty="0"/>
              <a:t> – bacillary dysentery</a:t>
            </a:r>
            <a:br>
              <a:rPr lang="en-US" dirty="0"/>
            </a:br>
            <a:endParaRPr lang="en-US" dirty="0"/>
          </a:p>
          <a:p>
            <a:r>
              <a:rPr lang="en-US" i="1" dirty="0" err="1"/>
              <a:t>Klebsiella</a:t>
            </a:r>
            <a:r>
              <a:rPr lang="en-US" dirty="0"/>
              <a:t> – pneumonia</a:t>
            </a:r>
            <a:br>
              <a:rPr lang="en-US" dirty="0"/>
            </a:br>
            <a:endParaRPr lang="en-US" dirty="0"/>
          </a:p>
          <a:p>
            <a:r>
              <a:rPr lang="en-US" i="1" dirty="0"/>
              <a:t>Yersinia</a:t>
            </a:r>
            <a:r>
              <a:rPr lang="en-US" dirty="0"/>
              <a:t> – plague</a:t>
            </a:r>
            <a:br>
              <a:rPr lang="en-US" dirty="0"/>
            </a:br>
            <a:endParaRPr lang="en-US" i="1" dirty="0"/>
          </a:p>
          <a:p>
            <a:r>
              <a:rPr lang="en-US" i="1" dirty="0" err="1"/>
              <a:t>Erwinia</a:t>
            </a:r>
            <a:r>
              <a:rPr lang="en-US" dirty="0"/>
              <a:t> – blights, wilts, etc., of crop plants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72</a:t>
            </a:fld>
            <a:endParaRPr lang="en-US"/>
          </a:p>
        </p:txBody>
      </p:sp>
    </p:spTree>
    <p:extLst>
      <p:ext uri="{BB962C8B-B14F-4D97-AF65-F5344CB8AC3E}">
        <p14:creationId xmlns:p14="http://schemas.microsoft.com/office/powerpoint/2010/main" val="10450384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a:t>
            </a:r>
            <a:r>
              <a:rPr lang="en-US" i="1" dirty="0" err="1"/>
              <a:t>Pasteurellales</a:t>
            </a:r>
            <a:endParaRPr lang="en-US" dirty="0"/>
          </a:p>
        </p:txBody>
      </p:sp>
      <p:sp>
        <p:nvSpPr>
          <p:cNvPr id="3" name="Content Placeholder 2"/>
          <p:cNvSpPr>
            <a:spLocks noGrp="1"/>
          </p:cNvSpPr>
          <p:nvPr>
            <p:ph idx="1"/>
          </p:nvPr>
        </p:nvSpPr>
        <p:spPr/>
        <p:txBody>
          <a:bodyPr/>
          <a:lstStyle/>
          <a:p>
            <a:r>
              <a:rPr lang="en-US" dirty="0"/>
              <a:t>One family, </a:t>
            </a:r>
            <a:r>
              <a:rPr lang="en-US" i="1" dirty="0" err="1"/>
              <a:t>Pasteurellaceae</a:t>
            </a:r>
            <a:br>
              <a:rPr lang="en-US" i="1" dirty="0"/>
            </a:br>
            <a:endParaRPr lang="en-US" dirty="0"/>
          </a:p>
          <a:p>
            <a:r>
              <a:rPr lang="en-US" dirty="0"/>
              <a:t>Small, </a:t>
            </a:r>
            <a:r>
              <a:rPr lang="en-US" dirty="0" err="1"/>
              <a:t>nonmotile</a:t>
            </a:r>
            <a:r>
              <a:rPr lang="en-US" dirty="0"/>
              <a:t>, oxidase positive</a:t>
            </a:r>
            <a:br>
              <a:rPr lang="en-US" dirty="0"/>
            </a:br>
            <a:endParaRPr lang="en-US" dirty="0"/>
          </a:p>
          <a:p>
            <a:r>
              <a:rPr lang="en-US" dirty="0"/>
              <a:t>Important pathogens</a:t>
            </a:r>
          </a:p>
          <a:p>
            <a:pPr lvl="1"/>
            <a:r>
              <a:rPr lang="en-US" i="1" dirty="0" err="1"/>
              <a:t>Pasteurella</a:t>
            </a:r>
            <a:r>
              <a:rPr lang="en-US" i="1" dirty="0"/>
              <a:t> </a:t>
            </a:r>
            <a:r>
              <a:rPr lang="en-US" i="1" dirty="0" err="1"/>
              <a:t>multocida</a:t>
            </a:r>
            <a:r>
              <a:rPr lang="en-US" dirty="0"/>
              <a:t> – fowl cholera</a:t>
            </a:r>
          </a:p>
          <a:p>
            <a:pPr lvl="1"/>
            <a:r>
              <a:rPr lang="en-US" i="1" dirty="0" err="1"/>
              <a:t>Pasteurella</a:t>
            </a:r>
            <a:r>
              <a:rPr lang="en-US" i="1" dirty="0"/>
              <a:t> </a:t>
            </a:r>
            <a:r>
              <a:rPr lang="en-US" i="1" dirty="0" err="1"/>
              <a:t>haemolytica</a:t>
            </a:r>
            <a:r>
              <a:rPr lang="en-US" dirty="0"/>
              <a:t> – pneumonia in cattle, sheep, and goats</a:t>
            </a:r>
          </a:p>
          <a:p>
            <a:pPr lvl="1"/>
            <a:r>
              <a:rPr lang="en-US" i="1" dirty="0" err="1"/>
              <a:t>Haemophilus</a:t>
            </a:r>
            <a:r>
              <a:rPr lang="en-US" i="1" dirty="0"/>
              <a:t> </a:t>
            </a:r>
            <a:r>
              <a:rPr lang="en-US" i="1" dirty="0" err="1"/>
              <a:t>influenzae</a:t>
            </a:r>
            <a:r>
              <a:rPr lang="en-US" dirty="0"/>
              <a:t> – variety of diseases, including meningitis in children; vaccine available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73</a:t>
            </a:fld>
            <a:endParaRPr lang="en-US"/>
          </a:p>
        </p:txBody>
      </p:sp>
    </p:spTree>
    <p:extLst>
      <p:ext uri="{BB962C8B-B14F-4D97-AF65-F5344CB8AC3E}">
        <p14:creationId xmlns:p14="http://schemas.microsoft.com/office/powerpoint/2010/main" val="14620990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22.4 Class </a:t>
            </a:r>
            <a:r>
              <a:rPr lang="en-US" i="1" dirty="0" err="1"/>
              <a:t>Deltaproteobacteria</a:t>
            </a:r>
            <a:r>
              <a:rPr lang="en-US" dirty="0"/>
              <a:t> Includes Chemoheterotrophic Anaerobes and Predators - 1</a:t>
            </a:r>
          </a:p>
        </p:txBody>
      </p:sp>
      <p:sp>
        <p:nvSpPr>
          <p:cNvPr id="5" name="Content Placeholder 4"/>
          <p:cNvSpPr>
            <a:spLocks noGrp="1"/>
          </p:cNvSpPr>
          <p:nvPr>
            <p:ph idx="1"/>
          </p:nvPr>
        </p:nvSpPr>
        <p:spPr>
          <a:xfrm>
            <a:off x="457200" y="1752600"/>
            <a:ext cx="8229600" cy="4724400"/>
          </a:xfrm>
        </p:spPr>
        <p:txBody>
          <a:bodyPr>
            <a:normAutofit/>
          </a:bodyPr>
          <a:lstStyle/>
          <a:p>
            <a:pPr marL="514350" indent="-514350">
              <a:buFont typeface="+mj-lt"/>
              <a:buAutoNum type="arabicPeriod"/>
            </a:pPr>
            <a:r>
              <a:rPr lang="en-US" dirty="0"/>
              <a:t>Characterize the common physiological features of sulfate-reducing bacteria (SRB)</a:t>
            </a:r>
            <a:br>
              <a:rPr lang="en-US" dirty="0"/>
            </a:br>
            <a:endParaRPr lang="en-US" dirty="0"/>
          </a:p>
          <a:p>
            <a:pPr marL="514350" indent="-514350">
              <a:buFont typeface="+mj-lt"/>
              <a:buAutoNum type="arabicPeriod"/>
            </a:pPr>
            <a:r>
              <a:rPr lang="en-US" dirty="0"/>
              <a:t>Identify common carbon substrates used by SRB</a:t>
            </a:r>
            <a:br>
              <a:rPr lang="en-US" dirty="0"/>
            </a:br>
            <a:endParaRPr lang="en-US" dirty="0"/>
          </a:p>
          <a:p>
            <a:pPr marL="514350" indent="-514350">
              <a:buFont typeface="+mj-lt"/>
              <a:buAutoNum type="arabicPeriod"/>
            </a:pPr>
            <a:r>
              <a:rPr lang="en-US" dirty="0"/>
              <a:t>Draw an electron transport chain capable of dissimilatory sulfate reduction</a:t>
            </a:r>
            <a:br>
              <a:rPr lang="en-US" dirty="0"/>
            </a:br>
            <a:endParaRPr lang="en-US" dirty="0"/>
          </a:p>
          <a:p>
            <a:pPr marL="514350" indent="-514350">
              <a:buFont typeface="+mj-lt"/>
              <a:buAutoNum type="arabicPeriod"/>
            </a:pPr>
            <a:r>
              <a:rPr lang="en-US" dirty="0"/>
              <a:t>Relate the physiology of SRB to their common environmental niches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74</a:t>
            </a:fld>
            <a:endParaRPr lang="en-US"/>
          </a:p>
        </p:txBody>
      </p:sp>
    </p:spTree>
    <p:extLst>
      <p:ext uri="{BB962C8B-B14F-4D97-AF65-F5344CB8AC3E}">
        <p14:creationId xmlns:p14="http://schemas.microsoft.com/office/powerpoint/2010/main" val="20107817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22.4 Class </a:t>
            </a:r>
            <a:r>
              <a:rPr lang="en-US" i="1" dirty="0" err="1"/>
              <a:t>Deltaproteobacteria</a:t>
            </a:r>
            <a:r>
              <a:rPr lang="en-US" dirty="0"/>
              <a:t> Includes Chemoheterotrophic Anaerobes and Predators - 2</a:t>
            </a:r>
          </a:p>
        </p:txBody>
      </p:sp>
      <p:sp>
        <p:nvSpPr>
          <p:cNvPr id="5" name="Content Placeholder 4"/>
          <p:cNvSpPr>
            <a:spLocks noGrp="1"/>
          </p:cNvSpPr>
          <p:nvPr>
            <p:ph idx="1"/>
          </p:nvPr>
        </p:nvSpPr>
        <p:spPr>
          <a:xfrm>
            <a:off x="457200" y="1905000"/>
            <a:ext cx="8229600" cy="4648200"/>
          </a:xfrm>
        </p:spPr>
        <p:txBody>
          <a:bodyPr>
            <a:normAutofit lnSpcReduction="10000"/>
          </a:bodyPr>
          <a:lstStyle/>
          <a:p>
            <a:pPr marL="514350" indent="-514350">
              <a:buFont typeface="+mj-lt"/>
              <a:buAutoNum type="arabicPeriod" startAt="5"/>
            </a:pPr>
            <a:r>
              <a:rPr lang="en-US" dirty="0"/>
              <a:t>List the physiological and ecological similarities between </a:t>
            </a:r>
            <a:r>
              <a:rPr lang="en-US" i="1" dirty="0" err="1"/>
              <a:t>Shewanella</a:t>
            </a:r>
            <a:r>
              <a:rPr lang="en-US" dirty="0"/>
              <a:t> and </a:t>
            </a:r>
            <a:r>
              <a:rPr lang="en-US" i="1" dirty="0" err="1"/>
              <a:t>Geobacter</a:t>
            </a:r>
            <a:r>
              <a:rPr lang="en-US" i="1" dirty="0"/>
              <a:t> </a:t>
            </a:r>
            <a:r>
              <a:rPr lang="en-US" dirty="0"/>
              <a:t>spp.</a:t>
            </a:r>
            <a:br>
              <a:rPr lang="en-US" dirty="0"/>
            </a:br>
            <a:endParaRPr lang="en-US" dirty="0"/>
          </a:p>
          <a:p>
            <a:pPr marL="514350" indent="-514350">
              <a:buFont typeface="+mj-lt"/>
              <a:buAutoNum type="arabicPeriod" startAt="5"/>
            </a:pPr>
            <a:r>
              <a:rPr lang="en-US" dirty="0"/>
              <a:t>Draw the life cycle of a </a:t>
            </a:r>
            <a:r>
              <a:rPr lang="en-US" dirty="0" err="1"/>
              <a:t>bdellovibrio</a:t>
            </a:r>
            <a:r>
              <a:rPr lang="en-US" dirty="0"/>
              <a:t> and explain why it is considered a bacterial predator</a:t>
            </a:r>
            <a:br>
              <a:rPr lang="en-US" dirty="0"/>
            </a:br>
            <a:endParaRPr lang="en-US" dirty="0"/>
          </a:p>
          <a:p>
            <a:pPr marL="514350" indent="-514350">
              <a:buFont typeface="+mj-lt"/>
              <a:buAutoNum type="arabicPeriod" startAt="5"/>
            </a:pPr>
            <a:r>
              <a:rPr lang="en-US" dirty="0"/>
              <a:t>Relate the life cycle of </a:t>
            </a:r>
            <a:r>
              <a:rPr lang="en-US" dirty="0" err="1"/>
              <a:t>myxobacteria</a:t>
            </a:r>
            <a:r>
              <a:rPr lang="en-US" dirty="0"/>
              <a:t> to their habitat and means of acquiring nutrients</a:t>
            </a:r>
            <a:br>
              <a:rPr lang="en-US" dirty="0"/>
            </a:br>
            <a:endParaRPr lang="en-US" dirty="0"/>
          </a:p>
          <a:p>
            <a:pPr marL="514350" indent="-514350">
              <a:buFont typeface="+mj-lt"/>
              <a:buAutoNum type="arabicPeriod" startAt="5"/>
            </a:pPr>
            <a:r>
              <a:rPr lang="en-US" dirty="0"/>
              <a:t>Describe the two types of gliding motility displayed by </a:t>
            </a:r>
            <a:r>
              <a:rPr lang="en-US" dirty="0" err="1"/>
              <a:t>myxobacteria</a:t>
            </a:r>
            <a:r>
              <a:rPr lang="en-US" dirty="0"/>
              <a:t>, and sketch their respective mechanistic models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75</a:t>
            </a:fld>
            <a:endParaRPr lang="en-US"/>
          </a:p>
        </p:txBody>
      </p:sp>
    </p:spTree>
    <p:extLst>
      <p:ext uri="{BB962C8B-B14F-4D97-AF65-F5344CB8AC3E}">
        <p14:creationId xmlns:p14="http://schemas.microsoft.com/office/powerpoint/2010/main" val="7406787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1390"/>
            <a:ext cx="8229600" cy="1143000"/>
          </a:xfrm>
        </p:spPr>
        <p:txBody>
          <a:bodyPr/>
          <a:lstStyle/>
          <a:p>
            <a:r>
              <a:rPr lang="en-US" dirty="0"/>
              <a:t>Class </a:t>
            </a:r>
            <a:r>
              <a:rPr lang="en-US" i="1" dirty="0" err="1"/>
              <a:t>Deltaproteobacteria</a:t>
            </a:r>
            <a:endParaRPr lang="en-US" dirty="0"/>
          </a:p>
        </p:txBody>
      </p:sp>
      <p:sp>
        <p:nvSpPr>
          <p:cNvPr id="3" name="Content Placeholder 2"/>
          <p:cNvSpPr>
            <a:spLocks noGrp="1"/>
          </p:cNvSpPr>
          <p:nvPr>
            <p:ph sz="half" idx="1"/>
          </p:nvPr>
        </p:nvSpPr>
        <p:spPr>
          <a:xfrm>
            <a:off x="152400" y="1219200"/>
            <a:ext cx="4038600" cy="5486400"/>
          </a:xfrm>
        </p:spPr>
        <p:txBody>
          <a:bodyPr/>
          <a:lstStyle/>
          <a:p>
            <a:r>
              <a:rPr lang="en-US" dirty="0"/>
              <a:t>Contains eight orders and 20 families</a:t>
            </a:r>
            <a:br>
              <a:rPr lang="en-US" dirty="0"/>
            </a:br>
            <a:endParaRPr lang="en-US" dirty="0"/>
          </a:p>
          <a:p>
            <a:pPr lvl="1"/>
            <a:r>
              <a:rPr lang="en-US" dirty="0"/>
              <a:t>divided into two general groups</a:t>
            </a:r>
            <a:br>
              <a:rPr lang="en-US" dirty="0"/>
            </a:br>
            <a:endParaRPr lang="en-US" dirty="0"/>
          </a:p>
          <a:p>
            <a:pPr lvl="2"/>
            <a:r>
              <a:rPr lang="en-US" dirty="0"/>
              <a:t>aerobic, chemoorganotrophic predators</a:t>
            </a:r>
          </a:p>
          <a:p>
            <a:pPr lvl="2"/>
            <a:r>
              <a:rPr lang="en-US" dirty="0"/>
              <a:t>anaerobic, chemoorganotrophic sulfur- and sulfate-reducers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76</a:t>
            </a:fld>
            <a:endParaRPr lang="en-US"/>
          </a:p>
        </p:txBody>
      </p:sp>
      <p:pic>
        <p:nvPicPr>
          <p:cNvPr id="38914" name="Picture 2" descr="Although δ-proteobacteria are not a large assemblage of genera, they show considerable morphological and physiological diversity. These bacteria can be divided into two general groups, all of them chemoorganotrophs. Some are predators, such as bdellovibrios and myxobacteria. Others are anaerobes that use sulfate and sulfur as terminal electron acceptors while oxidizing organic nutrients. The class has eight orders and 20 families. The relationships are based on 16S rRNA sequence.&#10;Groups included in this figure are Desulfuromonadales, Myxococcales, Desulfomonile, Syntrophobacteraceae, Desulfbacteraceae, Desulfobulbaceae; and Desulfovibrionales." title="Figure 22.32 Phylogenetic Relationships Among Major Groups Within the δ-Proteobacteria."/>
          <p:cNvPicPr>
            <a:picLocks noChangeAspect="1" noChangeArrowheads="1"/>
          </p:cNvPicPr>
          <p:nvPr/>
        </p:nvPicPr>
        <p:blipFill>
          <a:blip r:embed="rId2" cstate="print"/>
          <a:srcRect/>
          <a:stretch>
            <a:fillRect/>
          </a:stretch>
        </p:blipFill>
        <p:spPr bwMode="auto">
          <a:xfrm>
            <a:off x="4038600" y="1371600"/>
            <a:ext cx="5014812" cy="4437062"/>
          </a:xfrm>
          <a:prstGeom prst="rect">
            <a:avLst/>
          </a:prstGeom>
          <a:noFill/>
        </p:spPr>
      </p:pic>
    </p:spTree>
    <p:extLst>
      <p:ext uri="{BB962C8B-B14F-4D97-AF65-F5344CB8AC3E}">
        <p14:creationId xmlns:p14="http://schemas.microsoft.com/office/powerpoint/2010/main" val="7711836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dirty="0"/>
              <a:t>Characteristics of Select Delta- and </a:t>
            </a:r>
            <a:r>
              <a:rPr lang="en-US" dirty="0" err="1"/>
              <a:t>Epsilonproteobacteria</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77</a:t>
            </a:fld>
            <a:endParaRPr lang="en-US"/>
          </a:p>
        </p:txBody>
      </p:sp>
      <p:pic>
        <p:nvPicPr>
          <p:cNvPr id="39938" name="Picture 2" descr="Header Row: Class and Genus; Dimensions (μm) and Morphology; Oxygen Requirement; Other Distinctive Characteristics&#10;δ-Proteobacteria&#10;Bdellovibrio; 0.2–0.5 × 0.5–1.4, comma-shaped rods with a sheathed polar flagellum, also capable of gliding motility; Aerobic; Preys on other Gram-negative bacteria where it grows in the periplasm, alternates between predatory and intracellular reproductive phases&#10;Desulfovibrio; 0.5–1.5 × 2.5–10, curved or sometimes straight rods, motile by polar flagella; Anaerobic; Oxidizes organic compounds to acetate and reduces sulfate or sulfur to H2S&#10;Desulfuromonas; 0.4–0.9 × 1.0–4.0, straight or slightly curved or ovoid rods, lateral or subpolar flagella; Anaerobic; Reduces sulfur to H2S, oxidizes acetate to CO2, forms pink or peach-colored colonies&#10;Myxococcus; 0.4–0.7 × 2–8, slender rods with tapering ends, gliding motility; Aerobic; Forms fruiting bodies with microcysts not enclosed in a sporangium&#10;Stigmatella; 0.7–0.8 × 4–8, straight rods with tapered ends, gliding motility; Aerobic; Stalked fruiting bodies with sporangioles containing myxospores (0.9–1.2 × 2–4 μm)&#10;ε-Proteobacteria&#10;Campylobacter; 0.2–0.8 × 0.5–5, spirally curved cells with a single polar flagellum at one or both ends; Microaerophilic; Carbohydrates not fermented or respired, oxidase positive and urease negative, found in intestinal tract, reproductive organs, and oral cavity of animals&#10;Helicobacter; 0.2–1.2 × 1.5–10, helical, curved, or straight cells with rounded ends, multiple, sheathed flagella; Microaerophilic; Catalase and oxidase positive, urea rapidly hydrolyzed, found in the gastric mucosa of humans and other animals" title="Table 22.8 Characteristics of Selected δ- and ε-Proteobacteria"/>
          <p:cNvPicPr>
            <a:picLocks noChangeAspect="1" noChangeArrowheads="1"/>
          </p:cNvPicPr>
          <p:nvPr/>
        </p:nvPicPr>
        <p:blipFill>
          <a:blip r:embed="rId2" cstate="print"/>
          <a:srcRect/>
          <a:stretch>
            <a:fillRect/>
          </a:stretch>
        </p:blipFill>
        <p:spPr bwMode="auto">
          <a:xfrm>
            <a:off x="610567" y="1447800"/>
            <a:ext cx="7922866" cy="5105400"/>
          </a:xfrm>
          <a:prstGeom prst="rect">
            <a:avLst/>
          </a:prstGeom>
          <a:noFill/>
        </p:spPr>
      </p:pic>
    </p:spTree>
    <p:extLst>
      <p:ext uri="{BB962C8B-B14F-4D97-AF65-F5344CB8AC3E}">
        <p14:creationId xmlns:p14="http://schemas.microsoft.com/office/powerpoint/2010/main" val="24766264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Orders </a:t>
            </a:r>
            <a:r>
              <a:rPr lang="en-US" i="1" dirty="0" err="1"/>
              <a:t>Desulfovibrionales</a:t>
            </a:r>
            <a:r>
              <a:rPr lang="en-US" i="1" dirty="0"/>
              <a:t>, </a:t>
            </a:r>
            <a:r>
              <a:rPr lang="en-US" i="1" dirty="0" err="1"/>
              <a:t>Desulfobacterales</a:t>
            </a:r>
            <a:r>
              <a:rPr lang="en-US" i="1" dirty="0"/>
              <a:t>, </a:t>
            </a:r>
            <a:r>
              <a:rPr lang="en-US" dirty="0"/>
              <a:t>and</a:t>
            </a:r>
            <a:r>
              <a:rPr lang="en-US" i="1" dirty="0"/>
              <a:t> </a:t>
            </a:r>
            <a:r>
              <a:rPr lang="en-US" i="1" dirty="0" err="1"/>
              <a:t>Desulfuromonadales</a:t>
            </a:r>
            <a:r>
              <a:rPr lang="en-US" i="1" dirty="0"/>
              <a:t> </a:t>
            </a:r>
            <a:endParaRPr lang="en-US" dirty="0"/>
          </a:p>
        </p:txBody>
      </p:sp>
      <p:sp>
        <p:nvSpPr>
          <p:cNvPr id="3" name="Content Placeholder 2"/>
          <p:cNvSpPr>
            <a:spLocks noGrp="1"/>
          </p:cNvSpPr>
          <p:nvPr>
            <p:ph idx="1"/>
          </p:nvPr>
        </p:nvSpPr>
        <p:spPr>
          <a:xfrm>
            <a:off x="457200" y="1600200"/>
            <a:ext cx="8229600" cy="4800600"/>
          </a:xfrm>
        </p:spPr>
        <p:txBody>
          <a:bodyPr/>
          <a:lstStyle/>
          <a:p>
            <a:pPr>
              <a:lnSpc>
                <a:spcPct val="90000"/>
              </a:lnSpc>
            </a:pPr>
            <a:r>
              <a:rPr lang="en-US" sz="2800" dirty="0"/>
              <a:t>Strict anaerobes</a:t>
            </a:r>
            <a:br>
              <a:rPr lang="en-US" sz="2800" dirty="0"/>
            </a:br>
            <a:endParaRPr lang="en-US" sz="2800" dirty="0"/>
          </a:p>
          <a:p>
            <a:pPr>
              <a:lnSpc>
                <a:spcPct val="90000"/>
              </a:lnSpc>
            </a:pPr>
            <a:r>
              <a:rPr lang="en-US" sz="2800" dirty="0"/>
              <a:t>Sulfur- or sulfate-reducing bacteria</a:t>
            </a:r>
          </a:p>
          <a:p>
            <a:pPr lvl="1">
              <a:lnSpc>
                <a:spcPct val="90000"/>
              </a:lnSpc>
            </a:pPr>
            <a:r>
              <a:rPr lang="en-US" dirty="0"/>
              <a:t>use sulfur and sulfate as electron acceptors during anaerobic respiration</a:t>
            </a:r>
          </a:p>
          <a:p>
            <a:pPr lvl="1">
              <a:lnSpc>
                <a:spcPct val="90000"/>
              </a:lnSpc>
            </a:pPr>
            <a:r>
              <a:rPr lang="en-US" dirty="0"/>
              <a:t>electron transport chain used to generate ATP</a:t>
            </a:r>
            <a:br>
              <a:rPr lang="en-US" dirty="0"/>
            </a:br>
            <a:endParaRPr lang="en-US" dirty="0"/>
          </a:p>
          <a:p>
            <a:pPr>
              <a:lnSpc>
                <a:spcPct val="90000"/>
              </a:lnSpc>
            </a:pPr>
            <a:r>
              <a:rPr lang="en-US" sz="2800" dirty="0"/>
              <a:t>Widespread in muds and sediments of aquatic environments, including sewage treatment systems</a:t>
            </a:r>
          </a:p>
          <a:p>
            <a:pPr lvl="1">
              <a:lnSpc>
                <a:spcPct val="90000"/>
              </a:lnSpc>
            </a:pPr>
            <a:r>
              <a:rPr lang="en-US" dirty="0"/>
              <a:t>important in sulfur cycling in ecosystems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78</a:t>
            </a:fld>
            <a:endParaRPr lang="en-US"/>
          </a:p>
        </p:txBody>
      </p:sp>
    </p:spTree>
    <p:extLst>
      <p:ext uri="{BB962C8B-B14F-4D97-AF65-F5344CB8AC3E}">
        <p14:creationId xmlns:p14="http://schemas.microsoft.com/office/powerpoint/2010/main" val="24766264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3429000" cy="2392362"/>
          </a:xfrm>
        </p:spPr>
        <p:txBody>
          <a:bodyPr>
            <a:normAutofit/>
          </a:bodyPr>
          <a:lstStyle/>
          <a:p>
            <a:r>
              <a:rPr lang="en-US" i="1" dirty="0" err="1"/>
              <a:t>Desulfovibrio</a:t>
            </a:r>
            <a:r>
              <a:rPr lang="en-US" dirty="0"/>
              <a:t> Dissimilatory Sulfate Reduction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79</a:t>
            </a:fld>
            <a:endParaRPr lang="en-US"/>
          </a:p>
        </p:txBody>
      </p:sp>
      <p:pic>
        <p:nvPicPr>
          <p:cNvPr id="40962" name="Picture 2" descr="These microbes make ATP by substrate-level phosphorylation during acetate fermentation and by ATP synthase. Synthesis of ATP by ATP synthase is driven by a proton motive force generated by a periplasmic hydrogenase, which oxidizes H2 to protons and electrons. The electrons are passed back into the cell, where they are used to reduce sulfate completely to sulfide. As detailed in the text, the oxidation of sulfate to sulfide requires eight electrons and the activation of sulfate by its covalent attachment to ADP to form adenosine phosphosulfate (APS)." title="Figure 22.33 Dissimilatory Sulfate Reduction by Desulfovibrio."/>
          <p:cNvPicPr>
            <a:picLocks noChangeAspect="1" noChangeArrowheads="1"/>
          </p:cNvPicPr>
          <p:nvPr/>
        </p:nvPicPr>
        <p:blipFill>
          <a:blip r:embed="rId2" cstate="print"/>
          <a:srcRect/>
          <a:stretch>
            <a:fillRect/>
          </a:stretch>
        </p:blipFill>
        <p:spPr bwMode="auto">
          <a:xfrm>
            <a:off x="4064530" y="266959"/>
            <a:ext cx="4791604" cy="6208196"/>
          </a:xfrm>
          <a:prstGeom prst="rect">
            <a:avLst/>
          </a:prstGeom>
          <a:noFill/>
        </p:spPr>
      </p:pic>
    </p:spTree>
    <p:extLst>
      <p:ext uri="{BB962C8B-B14F-4D97-AF65-F5344CB8AC3E}">
        <p14:creationId xmlns:p14="http://schemas.microsoft.com/office/powerpoint/2010/main" val="24766264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a:t>
            </a:r>
            <a:r>
              <a:rPr lang="en-US" i="1" dirty="0" err="1"/>
              <a:t>Desulfuromonales</a:t>
            </a:r>
            <a:endParaRPr lang="en-US" dirty="0"/>
          </a:p>
        </p:txBody>
      </p:sp>
      <p:sp>
        <p:nvSpPr>
          <p:cNvPr id="3" name="Content Placeholder 2"/>
          <p:cNvSpPr>
            <a:spLocks noGrp="1"/>
          </p:cNvSpPr>
          <p:nvPr>
            <p:ph idx="1"/>
          </p:nvPr>
        </p:nvSpPr>
        <p:spPr/>
        <p:txBody>
          <a:bodyPr/>
          <a:lstStyle/>
          <a:p>
            <a:r>
              <a:rPr lang="en-US" dirty="0"/>
              <a:t>All strictly anaerobic with respiratory or fermentative metabolism</a:t>
            </a:r>
          </a:p>
          <a:p>
            <a:pPr lvl="1"/>
            <a:r>
              <a:rPr lang="en-US" dirty="0" err="1"/>
              <a:t>chemolithotrophs</a:t>
            </a:r>
            <a:r>
              <a:rPr lang="en-US" dirty="0"/>
              <a:t>, </a:t>
            </a:r>
            <a:r>
              <a:rPr lang="en-US" dirty="0" err="1"/>
              <a:t>chemoorganotrophs</a:t>
            </a:r>
            <a:endParaRPr lang="en-US" dirty="0"/>
          </a:p>
          <a:p>
            <a:pPr lvl="1"/>
            <a:r>
              <a:rPr lang="en-US" dirty="0"/>
              <a:t>mesophilic, marine, and fresh water</a:t>
            </a:r>
            <a:br>
              <a:rPr lang="en-US" dirty="0"/>
            </a:br>
            <a:endParaRPr lang="en-US" dirty="0"/>
          </a:p>
          <a:p>
            <a:r>
              <a:rPr lang="en-US" dirty="0"/>
              <a:t>Environmentally important</a:t>
            </a:r>
          </a:p>
          <a:p>
            <a:pPr lvl="1"/>
            <a:r>
              <a:rPr lang="en-US" dirty="0"/>
              <a:t>conserve energy from dissimilatory metal reduction including toxic and radioactive metals</a:t>
            </a:r>
          </a:p>
          <a:p>
            <a:pPr lvl="1"/>
            <a:r>
              <a:rPr lang="en-US" dirty="0"/>
              <a:t>synthesize nanowires </a:t>
            </a:r>
          </a:p>
          <a:p>
            <a:pPr lvl="1"/>
            <a:r>
              <a:rPr lang="en-US" dirty="0"/>
              <a:t>electricity generated by microbial fuel cells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80</a:t>
            </a:fld>
            <a:endParaRPr lang="en-US"/>
          </a:p>
        </p:txBody>
      </p:sp>
    </p:spTree>
    <p:extLst>
      <p:ext uri="{BB962C8B-B14F-4D97-AF65-F5344CB8AC3E}">
        <p14:creationId xmlns:p14="http://schemas.microsoft.com/office/powerpoint/2010/main" val="24766264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Order </a:t>
            </a:r>
            <a:r>
              <a:rPr lang="en-US" i="1" dirty="0" err="1"/>
              <a:t>Bdellovibrionales</a:t>
            </a:r>
            <a:endParaRPr lang="en-US" dirty="0"/>
          </a:p>
        </p:txBody>
      </p:sp>
      <p:sp>
        <p:nvSpPr>
          <p:cNvPr id="3" name="Content Placeholder 2"/>
          <p:cNvSpPr>
            <a:spLocks noGrp="1"/>
          </p:cNvSpPr>
          <p:nvPr>
            <p:ph sz="half" idx="1"/>
          </p:nvPr>
        </p:nvSpPr>
        <p:spPr>
          <a:xfrm>
            <a:off x="152400" y="1295400"/>
            <a:ext cx="4343400" cy="5181600"/>
          </a:xfrm>
        </p:spPr>
        <p:txBody>
          <a:bodyPr/>
          <a:lstStyle/>
          <a:p>
            <a:r>
              <a:rPr lang="en-US" dirty="0"/>
              <a:t>One family, </a:t>
            </a:r>
            <a:r>
              <a:rPr lang="en-US" i="1" dirty="0" err="1"/>
              <a:t>Bdellovibrionaceae</a:t>
            </a:r>
            <a:r>
              <a:rPr lang="en-US" dirty="0"/>
              <a:t>; four genera</a:t>
            </a:r>
            <a:br>
              <a:rPr lang="en-US" dirty="0"/>
            </a:br>
            <a:endParaRPr lang="en-US" dirty="0"/>
          </a:p>
          <a:p>
            <a:pPr lvl="1"/>
            <a:r>
              <a:rPr lang="en-US" dirty="0"/>
              <a:t>best studied is </a:t>
            </a:r>
            <a:r>
              <a:rPr lang="en-US" i="1" dirty="0" err="1"/>
              <a:t>Bdellovibrio</a:t>
            </a:r>
            <a:br>
              <a:rPr lang="en-US" i="1" dirty="0"/>
            </a:br>
            <a:endParaRPr lang="en-US" i="1" dirty="0"/>
          </a:p>
          <a:p>
            <a:pPr lvl="2"/>
            <a:r>
              <a:rPr lang="en-US" dirty="0"/>
              <a:t>aerobic, Gram-negative, motile curved rods</a:t>
            </a:r>
          </a:p>
          <a:p>
            <a:pPr lvl="2"/>
            <a:r>
              <a:rPr lang="en-US" dirty="0"/>
              <a:t>predatory bacteria life cycle that resembles bacteriophages in many ways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81</a:t>
            </a:fld>
            <a:endParaRPr lang="en-US"/>
          </a:p>
        </p:txBody>
      </p:sp>
      <p:pic>
        <p:nvPicPr>
          <p:cNvPr id="41986" name="Picture 2" descr="(a) A general diagram showing the complete life cycle. (b) Photo of Bdellovibrio bacteriovorus encapsulated in the periplasm of E. coli." title="Figure 22.34 The Life Cycle of Bdellovibrio."/>
          <p:cNvPicPr>
            <a:picLocks noChangeAspect="1" noChangeArrowheads="1"/>
          </p:cNvPicPr>
          <p:nvPr/>
        </p:nvPicPr>
        <p:blipFill>
          <a:blip r:embed="rId2" cstate="print"/>
          <a:srcRect/>
          <a:stretch>
            <a:fillRect/>
          </a:stretch>
        </p:blipFill>
        <p:spPr bwMode="auto">
          <a:xfrm>
            <a:off x="4936068" y="990600"/>
            <a:ext cx="3810528" cy="5403184"/>
          </a:xfrm>
          <a:prstGeom prst="rect">
            <a:avLst/>
          </a:prstGeom>
          <a:noFill/>
        </p:spPr>
      </p:pic>
    </p:spTree>
    <p:extLst>
      <p:ext uri="{BB962C8B-B14F-4D97-AF65-F5344CB8AC3E}">
        <p14:creationId xmlns:p14="http://schemas.microsoft.com/office/powerpoint/2010/main" val="24766264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868362"/>
          </a:xfrm>
        </p:spPr>
        <p:txBody>
          <a:bodyPr/>
          <a:lstStyle/>
          <a:p>
            <a:r>
              <a:rPr lang="en-US" dirty="0"/>
              <a:t>Order </a:t>
            </a:r>
            <a:r>
              <a:rPr lang="en-US" i="1" dirty="0" err="1"/>
              <a:t>Myxococcales</a:t>
            </a:r>
            <a:endParaRPr lang="en-US" dirty="0"/>
          </a:p>
        </p:txBody>
      </p:sp>
      <p:sp>
        <p:nvSpPr>
          <p:cNvPr id="5" name="Content Placeholder 4"/>
          <p:cNvSpPr>
            <a:spLocks noGrp="1"/>
          </p:cNvSpPr>
          <p:nvPr>
            <p:ph idx="1"/>
          </p:nvPr>
        </p:nvSpPr>
        <p:spPr>
          <a:xfrm>
            <a:off x="457200" y="1295400"/>
            <a:ext cx="8229600" cy="5334000"/>
          </a:xfrm>
        </p:spPr>
        <p:txBody>
          <a:bodyPr>
            <a:normAutofit/>
          </a:bodyPr>
          <a:lstStyle/>
          <a:p>
            <a:r>
              <a:rPr lang="en-US" sz="2800" dirty="0"/>
              <a:t>Contains six families distinguished based on shape of vegetative cells, </a:t>
            </a:r>
            <a:r>
              <a:rPr lang="en-US" sz="2800" dirty="0" err="1"/>
              <a:t>myxospores</a:t>
            </a:r>
            <a:r>
              <a:rPr lang="en-US" sz="2800" dirty="0"/>
              <a:t>, and sporangia</a:t>
            </a:r>
            <a:br>
              <a:rPr lang="en-US" sz="2800" dirty="0"/>
            </a:br>
            <a:endParaRPr lang="en-US" sz="2800" dirty="0"/>
          </a:p>
          <a:p>
            <a:r>
              <a:rPr lang="en-US" sz="2800" dirty="0"/>
              <a:t>Gram-negative, rod-shaped gliding bacteria</a:t>
            </a:r>
            <a:br>
              <a:rPr lang="en-US" sz="2800" dirty="0"/>
            </a:br>
            <a:endParaRPr lang="en-US" sz="2800" dirty="0"/>
          </a:p>
          <a:p>
            <a:r>
              <a:rPr lang="en-US" sz="2800" dirty="0"/>
              <a:t>Aerobic </a:t>
            </a:r>
            <a:r>
              <a:rPr lang="en-US" sz="2800" dirty="0" err="1"/>
              <a:t>chemoorganotrophs</a:t>
            </a:r>
            <a:r>
              <a:rPr lang="en-US" sz="2800" dirty="0"/>
              <a:t> with respiratory metabolism</a:t>
            </a:r>
          </a:p>
          <a:p>
            <a:pPr lvl="1"/>
            <a:r>
              <a:rPr lang="en-US" dirty="0"/>
              <a:t>most are </a:t>
            </a:r>
            <a:r>
              <a:rPr lang="en-US" dirty="0" err="1"/>
              <a:t>micropredators</a:t>
            </a:r>
            <a:r>
              <a:rPr lang="en-US" dirty="0"/>
              <a:t> or scavengers that lyse bacteria and yeasts by secretion of digestive enzymes</a:t>
            </a:r>
          </a:p>
          <a:p>
            <a:pPr lvl="2"/>
            <a:r>
              <a:rPr lang="en-US" dirty="0"/>
              <a:t>most use amino acids as major source of C, N, and energy</a:t>
            </a:r>
          </a:p>
          <a:p>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82</a:t>
            </a:fld>
            <a:endParaRPr lang="en-US"/>
          </a:p>
        </p:txBody>
      </p:sp>
    </p:spTree>
    <p:extLst>
      <p:ext uri="{BB962C8B-B14F-4D97-AF65-F5344CB8AC3E}">
        <p14:creationId xmlns:p14="http://schemas.microsoft.com/office/powerpoint/2010/main" val="27175653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lstStyle/>
          <a:p>
            <a:r>
              <a:rPr lang="en-US" dirty="0" err="1"/>
              <a:t>Myxobacteria</a:t>
            </a:r>
            <a:endParaRPr lang="en-US" dirty="0"/>
          </a:p>
        </p:txBody>
      </p:sp>
      <p:sp>
        <p:nvSpPr>
          <p:cNvPr id="5" name="Content Placeholder 4"/>
          <p:cNvSpPr>
            <a:spLocks noGrp="1"/>
          </p:cNvSpPr>
          <p:nvPr>
            <p:ph sz="half" idx="2"/>
          </p:nvPr>
        </p:nvSpPr>
        <p:spPr>
          <a:xfrm>
            <a:off x="4648200" y="1066800"/>
            <a:ext cx="4038600" cy="5562600"/>
          </a:xfrm>
        </p:spPr>
        <p:txBody>
          <a:bodyPr>
            <a:normAutofit fontScale="92500" lnSpcReduction="20000"/>
          </a:bodyPr>
          <a:lstStyle/>
          <a:p>
            <a:r>
              <a:rPr lang="en-US" dirty="0"/>
              <a:t>Distinctive life cycle which resembles that of cellular slime molds</a:t>
            </a:r>
            <a:br>
              <a:rPr lang="en-US" dirty="0"/>
            </a:br>
            <a:endParaRPr lang="en-US" dirty="0"/>
          </a:p>
          <a:p>
            <a:r>
              <a:rPr lang="en-US" dirty="0"/>
              <a:t>In presence of food form a swarm and migrate on solid surfaces</a:t>
            </a:r>
            <a:br>
              <a:rPr lang="en-US" dirty="0"/>
            </a:br>
            <a:endParaRPr lang="en-US" dirty="0"/>
          </a:p>
          <a:p>
            <a:r>
              <a:rPr lang="en-US" dirty="0"/>
              <a:t>Form a fruiting body when nutrients are exhausted</a:t>
            </a:r>
          </a:p>
          <a:p>
            <a:pPr lvl="1"/>
            <a:r>
              <a:rPr lang="en-US" dirty="0"/>
              <a:t>involves at least 5 extracellular signaling molecules which allow cells to communicate with each other </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83</a:t>
            </a:fld>
            <a:endParaRPr lang="en-US"/>
          </a:p>
        </p:txBody>
      </p:sp>
      <p:pic>
        <p:nvPicPr>
          <p:cNvPr id="43010" name="Picture 2" descr="(a) When nutrients are plentiful, M. xanthus grows vegetatively. However, when nutrients are depleted, a complex exchange of extracellular signaling molecules triggers the cells to aggregate and form fruiting bodies. Most of the cells within a fruiting body will become resting myxospores that will not germinate until nutrients are available. (b) Scanning electron micrographs taken during (1) vegetative growth, (2) aggregation, and (3) fruiting body formation." title="Figure 22.35 Life cycle of Myxococcus xanthus."/>
          <p:cNvPicPr>
            <a:picLocks noChangeAspect="1" noChangeArrowheads="1"/>
          </p:cNvPicPr>
          <p:nvPr/>
        </p:nvPicPr>
        <p:blipFill>
          <a:blip r:embed="rId2" cstate="print"/>
          <a:srcRect/>
          <a:stretch>
            <a:fillRect/>
          </a:stretch>
        </p:blipFill>
        <p:spPr bwMode="auto">
          <a:xfrm>
            <a:off x="457200" y="896471"/>
            <a:ext cx="3492062" cy="5560592"/>
          </a:xfrm>
          <a:prstGeom prst="rect">
            <a:avLst/>
          </a:prstGeom>
          <a:noFill/>
        </p:spPr>
      </p:pic>
    </p:spTree>
    <p:extLst>
      <p:ext uri="{BB962C8B-B14F-4D97-AF65-F5344CB8AC3E}">
        <p14:creationId xmlns:p14="http://schemas.microsoft.com/office/powerpoint/2010/main" val="26400821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Fruiting Bodies</a:t>
            </a:r>
          </a:p>
        </p:txBody>
      </p:sp>
      <p:sp>
        <p:nvSpPr>
          <p:cNvPr id="3" name="Content Placeholder 2"/>
          <p:cNvSpPr>
            <a:spLocks noGrp="1"/>
          </p:cNvSpPr>
          <p:nvPr>
            <p:ph idx="1"/>
          </p:nvPr>
        </p:nvSpPr>
        <p:spPr>
          <a:xfrm>
            <a:off x="228600" y="1295400"/>
            <a:ext cx="8686800" cy="5410200"/>
          </a:xfrm>
        </p:spPr>
        <p:txBody>
          <a:bodyPr>
            <a:normAutofit lnSpcReduction="10000"/>
          </a:bodyPr>
          <a:lstStyle/>
          <a:p>
            <a:pPr>
              <a:lnSpc>
                <a:spcPct val="90000"/>
              </a:lnSpc>
            </a:pPr>
            <a:r>
              <a:rPr lang="en-US" dirty="0"/>
              <a:t>Formation requires gliding motility and involves at least 5 extracellular signaling molecules which allow cells to communicate with each other</a:t>
            </a:r>
            <a:br>
              <a:rPr lang="en-US" dirty="0"/>
            </a:br>
            <a:endParaRPr lang="en-US" dirty="0"/>
          </a:p>
          <a:p>
            <a:pPr>
              <a:lnSpc>
                <a:spcPct val="90000"/>
              </a:lnSpc>
            </a:pPr>
            <a:r>
              <a:rPr lang="en-US" dirty="0"/>
              <a:t>Range in height from 50 to 500 </a:t>
            </a:r>
            <a:r>
              <a:rPr lang="en-US" dirty="0">
                <a:latin typeface="Symbol" pitchFamily="18" charset="2"/>
              </a:rPr>
              <a:t>m</a:t>
            </a:r>
            <a:r>
              <a:rPr lang="en-US" dirty="0"/>
              <a:t>m</a:t>
            </a:r>
            <a:br>
              <a:rPr lang="en-US" dirty="0"/>
            </a:br>
            <a:endParaRPr lang="en-US" dirty="0"/>
          </a:p>
          <a:p>
            <a:pPr>
              <a:lnSpc>
                <a:spcPct val="90000"/>
              </a:lnSpc>
            </a:pPr>
            <a:r>
              <a:rPr lang="en-US" dirty="0"/>
              <a:t>Colored by carotenoid pigments</a:t>
            </a:r>
            <a:br>
              <a:rPr lang="en-US" dirty="0"/>
            </a:br>
            <a:endParaRPr lang="en-US" dirty="0"/>
          </a:p>
          <a:p>
            <a:pPr>
              <a:lnSpc>
                <a:spcPct val="90000"/>
              </a:lnSpc>
            </a:pPr>
            <a:r>
              <a:rPr lang="en-US" dirty="0"/>
              <a:t>Vary in complexity </a:t>
            </a:r>
            <a:br>
              <a:rPr lang="en-US" dirty="0"/>
            </a:br>
            <a:endParaRPr lang="en-US" dirty="0"/>
          </a:p>
          <a:p>
            <a:pPr>
              <a:lnSpc>
                <a:spcPct val="90000"/>
              </a:lnSpc>
            </a:pPr>
            <a:r>
              <a:rPr lang="en-US" dirty="0"/>
              <a:t>Some cells develop into </a:t>
            </a:r>
            <a:r>
              <a:rPr lang="en-US" dirty="0" err="1"/>
              <a:t>myxospores</a:t>
            </a:r>
            <a:endParaRPr lang="en-US" dirty="0"/>
          </a:p>
          <a:p>
            <a:pPr lvl="1"/>
            <a:r>
              <a:rPr lang="en-US" dirty="0"/>
              <a:t>frequently enclosed in walled structures called </a:t>
            </a:r>
            <a:r>
              <a:rPr lang="en-US" dirty="0" err="1"/>
              <a:t>sporangioles</a:t>
            </a:r>
            <a:r>
              <a:rPr lang="en-US" dirty="0"/>
              <a:t> (sporangia)</a:t>
            </a:r>
          </a:p>
          <a:p>
            <a:pPr lvl="1"/>
            <a:r>
              <a:rPr lang="en-US" dirty="0"/>
              <a:t>dormant and desiccation-resistant</a:t>
            </a:r>
          </a:p>
          <a:p>
            <a:pPr lvl="2"/>
            <a:r>
              <a:rPr lang="en-US" dirty="0"/>
              <a:t>may survive up to 10 years</a:t>
            </a:r>
          </a:p>
          <a:p>
            <a:pPr>
              <a:lnSpc>
                <a:spcPct val="90000"/>
              </a:lnSpc>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84</a:t>
            </a:fld>
            <a:endParaRPr lang="en-US"/>
          </a:p>
        </p:txBody>
      </p:sp>
    </p:spTree>
    <p:extLst>
      <p:ext uri="{BB962C8B-B14F-4D97-AF65-F5344CB8AC3E}">
        <p14:creationId xmlns:p14="http://schemas.microsoft.com/office/powerpoint/2010/main" val="38719417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i="1" dirty="0"/>
              <a:t>M. </a:t>
            </a:r>
            <a:r>
              <a:rPr lang="en-US" i="1" dirty="0" err="1"/>
              <a:t>xanthus</a:t>
            </a:r>
            <a:r>
              <a:rPr lang="en-US" dirty="0"/>
              <a:t> Gliding Motility</a:t>
            </a:r>
          </a:p>
        </p:txBody>
      </p:sp>
      <p:sp>
        <p:nvSpPr>
          <p:cNvPr id="3" name="Content Placeholder 2"/>
          <p:cNvSpPr>
            <a:spLocks noGrp="1"/>
          </p:cNvSpPr>
          <p:nvPr>
            <p:ph sz="half" idx="1"/>
          </p:nvPr>
        </p:nvSpPr>
        <p:spPr>
          <a:xfrm>
            <a:off x="76200" y="914401"/>
            <a:ext cx="8991600" cy="3200400"/>
          </a:xfrm>
        </p:spPr>
        <p:txBody>
          <a:bodyPr>
            <a:normAutofit fontScale="92500" lnSpcReduction="10000"/>
          </a:bodyPr>
          <a:lstStyle/>
          <a:p>
            <a:pPr>
              <a:lnSpc>
                <a:spcPct val="90000"/>
              </a:lnSpc>
            </a:pPr>
            <a:r>
              <a:rPr lang="en-US" dirty="0"/>
              <a:t>Social (S) motility – twitching motility</a:t>
            </a:r>
          </a:p>
          <a:p>
            <a:pPr lvl="1">
              <a:lnSpc>
                <a:spcPct val="90000"/>
              </a:lnSpc>
            </a:pPr>
            <a:r>
              <a:rPr lang="en-US" dirty="0"/>
              <a:t>governed by production of retractable type IV pili</a:t>
            </a:r>
          </a:p>
          <a:p>
            <a:pPr lvl="1">
              <a:lnSpc>
                <a:spcPct val="90000"/>
              </a:lnSpc>
            </a:pPr>
            <a:r>
              <a:rPr lang="en-US" dirty="0"/>
              <a:t>when pili retract, cell creeps forward</a:t>
            </a:r>
          </a:p>
          <a:p>
            <a:pPr lvl="1">
              <a:lnSpc>
                <a:spcPct val="90000"/>
              </a:lnSpc>
            </a:pPr>
            <a:r>
              <a:rPr lang="en-US" dirty="0"/>
              <a:t>requires cell to cell contact for pili </a:t>
            </a:r>
            <a:br>
              <a:rPr lang="en-US" dirty="0"/>
            </a:br>
            <a:endParaRPr lang="en-US" dirty="0"/>
          </a:p>
          <a:p>
            <a:pPr>
              <a:lnSpc>
                <a:spcPct val="90000"/>
              </a:lnSpc>
            </a:pPr>
            <a:r>
              <a:rPr lang="en-US" dirty="0"/>
              <a:t>Adventurous (A) motility</a:t>
            </a:r>
          </a:p>
          <a:p>
            <a:pPr lvl="1">
              <a:lnSpc>
                <a:spcPct val="90000"/>
              </a:lnSpc>
            </a:pPr>
            <a:r>
              <a:rPr lang="en-US" dirty="0"/>
              <a:t>single cells that leave the group</a:t>
            </a:r>
          </a:p>
          <a:p>
            <a:pPr lvl="1">
              <a:lnSpc>
                <a:spcPct val="90000"/>
              </a:lnSpc>
            </a:pPr>
            <a:r>
              <a:rPr lang="en-US" dirty="0"/>
              <a:t>involved in slime secretion and clusters of motor proteins in contact with substrate</a:t>
            </a:r>
          </a:p>
          <a:p>
            <a:pPr lvl="2">
              <a:lnSpc>
                <a:spcPct val="90000"/>
              </a:lnSpc>
            </a:pPr>
            <a:endParaRPr lang="en-US" sz="2400"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85</a:t>
            </a:fld>
            <a:endParaRPr lang="en-US"/>
          </a:p>
        </p:txBody>
      </p:sp>
      <p:pic>
        <p:nvPicPr>
          <p:cNvPr id="44034" name="Picture 2" descr="M. xanthus displays two types of surface-associated motility. During social motility, type IV pili extend and retract from the leading pole, much like grappling hooks. When cells reverse direction, the pili disassemble and reassemble at the opposite pole. (b) Adventurous motility involves a motor bound to Glt proteins in the cell wall; motility is driven by the proton motive force.  Glt proteins attach to the substrate in an unknown way.  When the entire multiprotein complex moves in a helical fashion along the length of the cell, the Glt proteins produce the thrust needed to propel the cell." title="Figure 22.36 Model for Gliding Motility in Myxococcus xanthus."/>
          <p:cNvPicPr>
            <a:picLocks noChangeAspect="1" noChangeArrowheads="1"/>
          </p:cNvPicPr>
          <p:nvPr/>
        </p:nvPicPr>
        <p:blipFill>
          <a:blip r:embed="rId2" cstate="print"/>
          <a:srcRect/>
          <a:stretch>
            <a:fillRect/>
          </a:stretch>
        </p:blipFill>
        <p:spPr bwMode="auto">
          <a:xfrm>
            <a:off x="1972733" y="3886200"/>
            <a:ext cx="4776260" cy="2744384"/>
          </a:xfrm>
          <a:prstGeom prst="rect">
            <a:avLst/>
          </a:prstGeom>
          <a:noFill/>
        </p:spPr>
      </p:pic>
    </p:spTree>
    <p:extLst>
      <p:ext uri="{BB962C8B-B14F-4D97-AF65-F5344CB8AC3E}">
        <p14:creationId xmlns:p14="http://schemas.microsoft.com/office/powerpoint/2010/main" val="30203097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22.5 Class </a:t>
            </a:r>
            <a:r>
              <a:rPr lang="en-US" i="1" dirty="0" err="1"/>
              <a:t>Epsilonproteobacteria</a:t>
            </a:r>
            <a:r>
              <a:rPr lang="en-US" i="1" dirty="0"/>
              <a:t> </a:t>
            </a:r>
            <a:r>
              <a:rPr lang="en-US" dirty="0"/>
              <a:t>Ranges from Pathogens to Deep-Sea Bacteria</a:t>
            </a:r>
          </a:p>
        </p:txBody>
      </p:sp>
      <p:sp>
        <p:nvSpPr>
          <p:cNvPr id="3" name="Content Placeholder 2"/>
          <p:cNvSpPr>
            <a:spLocks noGrp="1"/>
          </p:cNvSpPr>
          <p:nvPr>
            <p:ph idx="1"/>
          </p:nvPr>
        </p:nvSpPr>
        <p:spPr/>
        <p:txBody>
          <a:bodyPr/>
          <a:lstStyle/>
          <a:p>
            <a:pPr marL="514350" indent="-514350">
              <a:buFont typeface="+mj-lt"/>
              <a:buAutoNum type="arabicPeriod"/>
            </a:pPr>
            <a:r>
              <a:rPr lang="en-US" dirty="0"/>
              <a:t>List two common human illnesses caused by the </a:t>
            </a:r>
            <a:r>
              <a:rPr lang="el-GR" dirty="0"/>
              <a:t>ε</a:t>
            </a:r>
            <a:r>
              <a:rPr lang="en-US" dirty="0"/>
              <a:t>-</a:t>
            </a:r>
            <a:r>
              <a:rPr lang="en-US" dirty="0" err="1"/>
              <a:t>proteobacteria</a:t>
            </a:r>
            <a:br>
              <a:rPr lang="en-US" dirty="0"/>
            </a:br>
            <a:endParaRPr lang="en-US" dirty="0"/>
          </a:p>
          <a:p>
            <a:pPr marL="514350" indent="-514350">
              <a:buFont typeface="+mj-lt"/>
              <a:buAutoNum type="arabicPeriod"/>
            </a:pPr>
            <a:r>
              <a:rPr lang="en-US" dirty="0"/>
              <a:t>Describe the unusual metabolism of </a:t>
            </a:r>
            <a:r>
              <a:rPr lang="en-US" i="1" dirty="0"/>
              <a:t>Helicobacter</a:t>
            </a:r>
            <a:r>
              <a:rPr lang="en-US" dirty="0"/>
              <a:t> spp. and explain how </a:t>
            </a:r>
            <a:r>
              <a:rPr lang="en-US" i="1" dirty="0"/>
              <a:t>H. pylori </a:t>
            </a:r>
            <a:r>
              <a:rPr lang="en-US" dirty="0"/>
              <a:t>can tolerate the acidic conditions within the stomach</a:t>
            </a:r>
            <a:br>
              <a:rPr lang="en-US" dirty="0"/>
            </a:br>
            <a:endParaRPr lang="en-US" dirty="0"/>
          </a:p>
          <a:p>
            <a:pPr marL="514350" indent="-514350">
              <a:buFont typeface="+mj-lt"/>
              <a:buAutoNum type="arabicPeriod"/>
            </a:pPr>
            <a:r>
              <a:rPr lang="en-US" dirty="0"/>
              <a:t>Describe some of the unusual habitats that recently discovered </a:t>
            </a:r>
            <a:r>
              <a:rPr lang="el-GR" dirty="0"/>
              <a:t>ε</a:t>
            </a:r>
            <a:r>
              <a:rPr lang="en-US" dirty="0"/>
              <a:t>-</a:t>
            </a:r>
            <a:r>
              <a:rPr lang="en-US" dirty="0" err="1"/>
              <a:t>proteobacteria</a:t>
            </a:r>
            <a:r>
              <a:rPr lang="en-US" dirty="0"/>
              <a:t> inhabit</a:t>
            </a:r>
          </a:p>
        </p:txBody>
      </p:sp>
      <p:sp>
        <p:nvSpPr>
          <p:cNvPr id="4" name="Slide Number Placeholder 3"/>
          <p:cNvSpPr>
            <a:spLocks noGrp="1"/>
          </p:cNvSpPr>
          <p:nvPr>
            <p:ph type="sldNum" sz="quarter" idx="12"/>
          </p:nvPr>
        </p:nvSpPr>
        <p:spPr/>
        <p:txBody>
          <a:bodyPr/>
          <a:lstStyle/>
          <a:p>
            <a:fld id="{3B1A82D2-719A-4A87-BECB-D74482819C19}" type="slidenum">
              <a:rPr lang="en-US" smtClean="0"/>
              <a:pPr/>
              <a:t>86</a:t>
            </a:fld>
            <a:endParaRPr lang="en-US"/>
          </a:p>
        </p:txBody>
      </p:sp>
    </p:spTree>
    <p:extLst>
      <p:ext uri="{BB962C8B-B14F-4D97-AF65-F5344CB8AC3E}">
        <p14:creationId xmlns:p14="http://schemas.microsoft.com/office/powerpoint/2010/main" val="30203097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Class </a:t>
            </a:r>
            <a:r>
              <a:rPr lang="en-US" i="1" dirty="0" err="1"/>
              <a:t>Epsilonproteobacteria</a:t>
            </a:r>
            <a:endParaRPr lang="en-US" dirty="0"/>
          </a:p>
        </p:txBody>
      </p:sp>
      <p:sp>
        <p:nvSpPr>
          <p:cNvPr id="5" name="Content Placeholder 4"/>
          <p:cNvSpPr>
            <a:spLocks noGrp="1"/>
          </p:cNvSpPr>
          <p:nvPr>
            <p:ph idx="1"/>
          </p:nvPr>
        </p:nvSpPr>
        <p:spPr/>
        <p:txBody>
          <a:bodyPr/>
          <a:lstStyle/>
          <a:p>
            <a:r>
              <a:rPr lang="en-US" dirty="0"/>
              <a:t>Smallest of </a:t>
            </a:r>
            <a:r>
              <a:rPr lang="en-US" dirty="0" err="1"/>
              <a:t>proteobacterial</a:t>
            </a:r>
            <a:r>
              <a:rPr lang="en-US" dirty="0"/>
              <a:t> classes</a:t>
            </a:r>
            <a:br>
              <a:rPr lang="en-US" dirty="0"/>
            </a:br>
            <a:endParaRPr lang="en-US" dirty="0"/>
          </a:p>
          <a:p>
            <a:r>
              <a:rPr lang="en-US" dirty="0"/>
              <a:t>Probably two orders, </a:t>
            </a:r>
            <a:r>
              <a:rPr lang="en-US" i="1" dirty="0" err="1"/>
              <a:t>Campylobacteriales</a:t>
            </a:r>
            <a:r>
              <a:rPr lang="en-US" i="1" dirty="0"/>
              <a:t> </a:t>
            </a:r>
            <a:r>
              <a:rPr lang="en-US" dirty="0"/>
              <a:t>and </a:t>
            </a:r>
            <a:r>
              <a:rPr lang="en-US" i="1" dirty="0" err="1"/>
              <a:t>Nautiliales</a:t>
            </a:r>
            <a:r>
              <a:rPr lang="en-US" dirty="0"/>
              <a:t>; three families</a:t>
            </a:r>
            <a:br>
              <a:rPr lang="en-US" dirty="0"/>
            </a:br>
            <a:endParaRPr lang="en-US" dirty="0"/>
          </a:p>
          <a:p>
            <a:r>
              <a:rPr lang="en-US" dirty="0"/>
              <a:t>Slender Gram-negative rods</a:t>
            </a:r>
          </a:p>
          <a:p>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87</a:t>
            </a:fld>
            <a:endParaRPr lang="en-US"/>
          </a:p>
        </p:txBody>
      </p:sp>
    </p:spTree>
    <p:extLst>
      <p:ext uri="{BB962C8B-B14F-4D97-AF65-F5344CB8AC3E}">
        <p14:creationId xmlns:p14="http://schemas.microsoft.com/office/powerpoint/2010/main" val="38620103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a:t>Campylobacter</a:t>
            </a:r>
            <a:endParaRPr lang="en-US" dirty="0"/>
          </a:p>
        </p:txBody>
      </p:sp>
      <p:sp>
        <p:nvSpPr>
          <p:cNvPr id="3" name="Content Placeholder 2"/>
          <p:cNvSpPr>
            <a:spLocks noGrp="1"/>
          </p:cNvSpPr>
          <p:nvPr>
            <p:ph idx="1"/>
          </p:nvPr>
        </p:nvSpPr>
        <p:spPr>
          <a:xfrm>
            <a:off x="457200" y="1600200"/>
            <a:ext cx="8229600" cy="4953000"/>
          </a:xfrm>
        </p:spPr>
        <p:txBody>
          <a:bodyPr/>
          <a:lstStyle/>
          <a:p>
            <a:pPr>
              <a:lnSpc>
                <a:spcPct val="90000"/>
              </a:lnSpc>
            </a:pPr>
            <a:r>
              <a:rPr lang="en-US" sz="2800" i="1" dirty="0"/>
              <a:t>Campylobacter fetus</a:t>
            </a:r>
            <a:endParaRPr lang="en-US" sz="2800" dirty="0"/>
          </a:p>
          <a:p>
            <a:pPr lvl="1">
              <a:lnSpc>
                <a:spcPct val="90000"/>
              </a:lnSpc>
            </a:pPr>
            <a:r>
              <a:rPr lang="en-US" dirty="0"/>
              <a:t>reproductive disease and abortions in cattle and sheep</a:t>
            </a:r>
          </a:p>
          <a:p>
            <a:pPr lvl="1">
              <a:lnSpc>
                <a:spcPct val="90000"/>
              </a:lnSpc>
            </a:pPr>
            <a:r>
              <a:rPr lang="en-US" dirty="0"/>
              <a:t>septicemia and enteritis in humans</a:t>
            </a:r>
          </a:p>
          <a:p>
            <a:pPr lvl="2">
              <a:lnSpc>
                <a:spcPct val="90000"/>
              </a:lnSpc>
            </a:pPr>
            <a:r>
              <a:rPr lang="en-US" dirty="0"/>
              <a:t>septicemia – pathogens or their toxins in blood</a:t>
            </a:r>
          </a:p>
          <a:p>
            <a:pPr lvl="2">
              <a:lnSpc>
                <a:spcPct val="90000"/>
              </a:lnSpc>
            </a:pPr>
            <a:r>
              <a:rPr lang="en-US" dirty="0"/>
              <a:t>enteritis – inflammation of intestinal tract</a:t>
            </a:r>
          </a:p>
          <a:p>
            <a:pPr lvl="1">
              <a:lnSpc>
                <a:spcPct val="90000"/>
              </a:lnSpc>
            </a:pPr>
            <a:r>
              <a:rPr lang="en-US" sz="2600" dirty="0"/>
              <a:t>Guillain-Barre syndrome triggered in molecular mimicry</a:t>
            </a:r>
            <a:br>
              <a:rPr lang="en-US" sz="2600" dirty="0"/>
            </a:br>
            <a:endParaRPr lang="en-US" sz="2600" dirty="0"/>
          </a:p>
          <a:p>
            <a:pPr>
              <a:lnSpc>
                <a:spcPct val="90000"/>
              </a:lnSpc>
            </a:pPr>
            <a:r>
              <a:rPr lang="en-US" sz="2800" i="1" dirty="0"/>
              <a:t>Campylobacter </a:t>
            </a:r>
            <a:r>
              <a:rPr lang="en-US" sz="2800" i="1" dirty="0" err="1"/>
              <a:t>jejuni</a:t>
            </a:r>
            <a:endParaRPr lang="en-US" sz="2800" dirty="0"/>
          </a:p>
          <a:p>
            <a:pPr lvl="1">
              <a:lnSpc>
                <a:spcPct val="90000"/>
              </a:lnSpc>
            </a:pPr>
            <a:r>
              <a:rPr lang="en-US" dirty="0"/>
              <a:t>abortions in sheep</a:t>
            </a:r>
          </a:p>
          <a:p>
            <a:pPr lvl="1">
              <a:lnSpc>
                <a:spcPct val="90000"/>
              </a:lnSpc>
            </a:pPr>
            <a:r>
              <a:rPr lang="en-US" dirty="0"/>
              <a:t>enteritis diarrhea in humans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88</a:t>
            </a:fld>
            <a:endParaRPr lang="en-US"/>
          </a:p>
        </p:txBody>
      </p:sp>
    </p:spTree>
    <p:extLst>
      <p:ext uri="{BB962C8B-B14F-4D97-AF65-F5344CB8AC3E}">
        <p14:creationId xmlns:p14="http://schemas.microsoft.com/office/powerpoint/2010/main" val="328953509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a:t>Helicobacter</a:t>
            </a:r>
            <a:endParaRPr lang="en-US" dirty="0"/>
          </a:p>
        </p:txBody>
      </p:sp>
      <p:sp>
        <p:nvSpPr>
          <p:cNvPr id="3" name="Content Placeholder 2"/>
          <p:cNvSpPr>
            <a:spLocks noGrp="1"/>
          </p:cNvSpPr>
          <p:nvPr>
            <p:ph idx="1"/>
          </p:nvPr>
        </p:nvSpPr>
        <p:spPr/>
        <p:txBody>
          <a:bodyPr/>
          <a:lstStyle/>
          <a:p>
            <a:r>
              <a:rPr lang="en-US" dirty="0"/>
              <a:t>At least 23 species isolated from stomachs and upper intestines of mammals</a:t>
            </a:r>
            <a:br>
              <a:rPr lang="en-US" dirty="0"/>
            </a:br>
            <a:endParaRPr lang="en-US" dirty="0"/>
          </a:p>
          <a:p>
            <a:r>
              <a:rPr lang="en-US" dirty="0"/>
              <a:t>e.g. </a:t>
            </a:r>
            <a:r>
              <a:rPr lang="en-US" i="1" dirty="0"/>
              <a:t>Helicobacter pylori</a:t>
            </a:r>
            <a:endParaRPr lang="en-US" dirty="0"/>
          </a:p>
          <a:p>
            <a:pPr lvl="1"/>
            <a:r>
              <a:rPr lang="en-US" dirty="0"/>
              <a:t>causes gastritis and peptic ulcer disease</a:t>
            </a:r>
          </a:p>
          <a:p>
            <a:pPr lvl="1"/>
            <a:r>
              <a:rPr lang="en-US" dirty="0"/>
              <a:t>motility important for colonization </a:t>
            </a:r>
          </a:p>
          <a:p>
            <a:pPr lvl="1"/>
            <a:r>
              <a:rPr lang="en-US" dirty="0"/>
              <a:t>does not grow below pH 4.5</a:t>
            </a:r>
          </a:p>
          <a:p>
            <a:pPr lvl="2"/>
            <a:r>
              <a:rPr lang="en-US" sz="2400" dirty="0"/>
              <a:t>urease converts urea to ammonia and CO</a:t>
            </a:r>
            <a:r>
              <a:rPr lang="en-US" sz="2400" baseline="-25000" dirty="0"/>
              <a:t>2</a:t>
            </a:r>
          </a:p>
          <a:p>
            <a:pPr lvl="1"/>
            <a:r>
              <a:rPr lang="en-US" dirty="0"/>
              <a:t>urea hydrolysis appears to be associated with virulence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89</a:t>
            </a:fld>
            <a:endParaRPr lang="en-US"/>
          </a:p>
        </p:txBody>
      </p:sp>
    </p:spTree>
    <p:extLst>
      <p:ext uri="{BB962C8B-B14F-4D97-AF65-F5344CB8AC3E}">
        <p14:creationId xmlns:p14="http://schemas.microsoft.com/office/powerpoint/2010/main" val="42020831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lstStyle/>
          <a:p>
            <a:r>
              <a:rPr lang="en-US" i="1" dirty="0" err="1"/>
              <a:t>Epsilonproteobacteria</a:t>
            </a:r>
            <a:endParaRPr lang="en-US" dirty="0"/>
          </a:p>
        </p:txBody>
      </p:sp>
      <p:sp>
        <p:nvSpPr>
          <p:cNvPr id="3" name="Content Placeholder 2"/>
          <p:cNvSpPr>
            <a:spLocks noGrp="1"/>
          </p:cNvSpPr>
          <p:nvPr>
            <p:ph sz="half" idx="1"/>
          </p:nvPr>
        </p:nvSpPr>
        <p:spPr>
          <a:xfrm>
            <a:off x="228600" y="1066800"/>
            <a:ext cx="4267200" cy="5562600"/>
          </a:xfrm>
        </p:spPr>
        <p:txBody>
          <a:bodyPr>
            <a:normAutofit fontScale="85000" lnSpcReduction="20000"/>
          </a:bodyPr>
          <a:lstStyle/>
          <a:p>
            <a:pPr>
              <a:lnSpc>
                <a:spcPct val="110000"/>
              </a:lnSpc>
              <a:spcBef>
                <a:spcPts val="600"/>
              </a:spcBef>
            </a:pPr>
            <a:r>
              <a:rPr lang="en-US" dirty="0"/>
              <a:t>Newly discovered; are </a:t>
            </a:r>
          </a:p>
          <a:p>
            <a:pPr marL="0" indent="0">
              <a:lnSpc>
                <a:spcPct val="110000"/>
              </a:lnSpc>
              <a:spcBef>
                <a:spcPts val="600"/>
              </a:spcBef>
              <a:buNone/>
            </a:pPr>
            <a:r>
              <a:rPr lang="en-US" dirty="0"/>
              <a:t>    thermophilic, chemo-</a:t>
            </a:r>
          </a:p>
          <a:p>
            <a:pPr marL="0" indent="0">
              <a:lnSpc>
                <a:spcPct val="110000"/>
              </a:lnSpc>
              <a:spcBef>
                <a:spcPts val="600"/>
              </a:spcBef>
              <a:buNone/>
            </a:pPr>
            <a:r>
              <a:rPr lang="en-US" dirty="0"/>
              <a:t>    </a:t>
            </a:r>
            <a:r>
              <a:rPr lang="en-US" dirty="0" err="1"/>
              <a:t>lithoautotrophic</a:t>
            </a:r>
            <a:r>
              <a:rPr lang="en-US" dirty="0"/>
              <a:t>, and </a:t>
            </a:r>
          </a:p>
          <a:p>
            <a:pPr marL="0" indent="0">
              <a:lnSpc>
                <a:spcPct val="110000"/>
              </a:lnSpc>
              <a:spcBef>
                <a:spcPts val="600"/>
              </a:spcBef>
              <a:buNone/>
            </a:pPr>
            <a:r>
              <a:rPr lang="en-US" dirty="0"/>
              <a:t>    others</a:t>
            </a:r>
            <a:br>
              <a:rPr lang="en-US" dirty="0"/>
            </a:br>
            <a:endParaRPr lang="en-US" dirty="0"/>
          </a:p>
          <a:p>
            <a:pPr>
              <a:lnSpc>
                <a:spcPct val="110000"/>
              </a:lnSpc>
              <a:spcBef>
                <a:spcPts val="600"/>
              </a:spcBef>
            </a:pPr>
            <a:r>
              <a:rPr lang="en-US" dirty="0"/>
              <a:t>Found in marine hydrothermal vents, terrestrial springs, ground water, oil-field brines, limestone caves, </a:t>
            </a:r>
            <a:r>
              <a:rPr lang="en-US" dirty="0" err="1"/>
              <a:t>sulphidic</a:t>
            </a:r>
            <a:r>
              <a:rPr lang="en-US" dirty="0"/>
              <a:t> springs </a:t>
            </a:r>
            <a:br>
              <a:rPr lang="en-US" dirty="0"/>
            </a:br>
            <a:endParaRPr lang="en-US" dirty="0"/>
          </a:p>
          <a:p>
            <a:pPr>
              <a:lnSpc>
                <a:spcPct val="110000"/>
              </a:lnSpc>
              <a:spcBef>
                <a:spcPts val="600"/>
              </a:spcBef>
            </a:pPr>
            <a:r>
              <a:rPr lang="en-US" dirty="0"/>
              <a:t>Found in filamentous microbial mats in anoxic, sulfide-rich cave springs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90</a:t>
            </a:fld>
            <a:endParaRPr lang="en-US"/>
          </a:p>
        </p:txBody>
      </p:sp>
      <p:pic>
        <p:nvPicPr>
          <p:cNvPr id="45058" name="Picture 2" descr="Photo of filamentous microbial mats in anoxic, sulfide rich cave springs which are dominated by ε-proteobacteria." title="Figure 22.37 ε-Proteobacteria Dominate Filamentous Microbial Mats in a Wyoming Sulfidic Cave Spring."/>
          <p:cNvPicPr>
            <a:picLocks noChangeAspect="1" noChangeArrowheads="1"/>
          </p:cNvPicPr>
          <p:nvPr/>
        </p:nvPicPr>
        <p:blipFill>
          <a:blip r:embed="rId2" cstate="print"/>
          <a:srcRect/>
          <a:stretch>
            <a:fillRect/>
          </a:stretch>
        </p:blipFill>
        <p:spPr bwMode="auto">
          <a:xfrm>
            <a:off x="4343400" y="1835587"/>
            <a:ext cx="4579522" cy="3186826"/>
          </a:xfrm>
          <a:prstGeom prst="rect">
            <a:avLst/>
          </a:prstGeom>
          <a:noFill/>
        </p:spPr>
      </p:pic>
    </p:spTree>
    <p:extLst>
      <p:ext uri="{BB962C8B-B14F-4D97-AF65-F5344CB8AC3E}">
        <p14:creationId xmlns:p14="http://schemas.microsoft.com/office/powerpoint/2010/main" val="58496637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6200"/>
            <a:ext cx="8229600" cy="1143000"/>
          </a:xfrm>
        </p:spPr>
        <p:txBody>
          <a:bodyPr/>
          <a:lstStyle/>
          <a:p>
            <a:r>
              <a:rPr lang="en-US" dirty="0"/>
              <a:t>Recently Isolated </a:t>
            </a:r>
            <a:r>
              <a:rPr lang="en-US" dirty="0" err="1"/>
              <a:t>Epsilonbacteria</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91</a:t>
            </a:fld>
            <a:endParaRPr lang="en-US"/>
          </a:p>
        </p:txBody>
      </p:sp>
      <p:pic>
        <p:nvPicPr>
          <p:cNvPr id="46082" name="Picture 2" descr="Header Row: Species; Isolation Site; Optimum Growth Temperature; Carbon Metabolism; Electron Donor; Electron Acceptor; Sulfur/Nitrogen Reduction Product&#10;Nautilia lithotrophica; Hydrothermal vent; 52°C; Heterotroph; H2, formate; SO32−, S0; H2S&#10;Caminibacter hydrogeniphilus; Hydrothermal vent; 60°C; Heterotroph; H2, complex organic compounds; NO3−, S0; H2S, NH3&#10;Nitratiruptor tergarcus; Hydrothermal vent; 55°C; Autotroph; H2; O2, (microaerobic), NO3−, S0; H2S, N2&#10;Sulfurospirillum sp. str. Am-N; Hydrothermal vent; 41°C; Heterotroph; Formate, fumarate; S0; H2S&#10;Arcobacter sp. str. FWKO B; Oil-field production water; 30°C; Autotroph; H2, formate, HS−; O2, (microaerobic), NO3−, S0; H2S, N2O−&#10;Sulfuricurvum kujiense; Oil-field production water; 25°C; Autotroph; H2, HS−, S2O32−, S0; O2, (microaerobic), NO3−; NO2−" title="Table 22.9 Some Recently Isolated ε-Proteobacteria"/>
          <p:cNvPicPr>
            <a:picLocks noChangeAspect="1" noChangeArrowheads="1"/>
          </p:cNvPicPr>
          <p:nvPr/>
        </p:nvPicPr>
        <p:blipFill>
          <a:blip r:embed="rId2" cstate="print"/>
          <a:srcRect/>
          <a:stretch>
            <a:fillRect/>
          </a:stretch>
        </p:blipFill>
        <p:spPr bwMode="auto">
          <a:xfrm>
            <a:off x="261143" y="1600200"/>
            <a:ext cx="8621714" cy="4218418"/>
          </a:xfrm>
          <a:prstGeom prst="rect">
            <a:avLst/>
          </a:prstGeom>
          <a:noFill/>
        </p:spPr>
      </p:pic>
    </p:spTree>
    <p:extLst>
      <p:ext uri="{BB962C8B-B14F-4D97-AF65-F5344CB8AC3E}">
        <p14:creationId xmlns:p14="http://schemas.microsoft.com/office/powerpoint/2010/main" val="288483419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Take Home Message</a:t>
            </a:r>
          </a:p>
        </p:txBody>
      </p:sp>
      <p:sp>
        <p:nvSpPr>
          <p:cNvPr id="3" name="Content Placeholder 2"/>
          <p:cNvSpPr>
            <a:spLocks noGrp="1"/>
          </p:cNvSpPr>
          <p:nvPr>
            <p:ph idx="1"/>
          </p:nvPr>
        </p:nvSpPr>
        <p:spPr>
          <a:xfrm>
            <a:off x="457200" y="1600200"/>
            <a:ext cx="8229600" cy="4876800"/>
          </a:xfrm>
        </p:spPr>
        <p:txBody>
          <a:bodyPr/>
          <a:lstStyle/>
          <a:p>
            <a:r>
              <a:rPr lang="en-US" dirty="0"/>
              <a:t>Taxonomy of the </a:t>
            </a:r>
            <a:r>
              <a:rPr lang="en-US" dirty="0" err="1"/>
              <a:t>proteobacteria</a:t>
            </a:r>
            <a:r>
              <a:rPr lang="en-US" dirty="0"/>
              <a:t> is an immense and ever-changing subject</a:t>
            </a:r>
            <a:br>
              <a:rPr lang="en-US" dirty="0"/>
            </a:br>
            <a:endParaRPr lang="en-US" dirty="0"/>
          </a:p>
          <a:p>
            <a:r>
              <a:rPr lang="en-US" dirty="0"/>
              <a:t>As you examine each group of microbes, try to distill the content down into similarities and differences between them</a:t>
            </a:r>
            <a:br>
              <a:rPr lang="en-US" dirty="0"/>
            </a:br>
            <a:endParaRPr lang="en-US" dirty="0"/>
          </a:p>
          <a:p>
            <a:r>
              <a:rPr lang="en-US" dirty="0"/>
              <a:t>The goal here is not to make you an expert bacterial taxonomist – the goal is to give you a basic understanding of what exists where, and how it exists there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92</a:t>
            </a:fld>
            <a:endParaRPr lang="en-US"/>
          </a:p>
        </p:txBody>
      </p:sp>
    </p:spTree>
    <p:extLst>
      <p:ext uri="{BB962C8B-B14F-4D97-AF65-F5344CB8AC3E}">
        <p14:creationId xmlns:p14="http://schemas.microsoft.com/office/powerpoint/2010/main" val="5598729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1"/>
  <p:tag name="MMPROD_UIDATA" val="&lt;database version=&quot;6.0&quot;&gt;&lt;object type=&quot;1&quot; unique_id=&quot;10001&quot;&gt;&lt;object type=&quot;8&quot; unique_id=&quot;81389&quot;&gt;&lt;/object&gt;&lt;object type=&quot;2&quot; unique_id=&quot;81390&quot;&gt;&lt;object type=&quot;3&quot; unique_id=&quot;81391&quot;&gt;&lt;property id=&quot;20148&quot; value=&quot;5&quot;/&gt;&lt;property id=&quot;20300&quot; value=&quot;Slide 1 - &amp;quot;Chapter 22 – The Proteobacteria&amp;quot;&quot;/&gt;&lt;property id=&quot;20307&quot; value=&quot;256&quot;/&gt;&lt;/object&gt;&lt;object type=&quot;3&quot; unique_id=&quot;81392&quot;&gt;&lt;property id=&quot;20148&quot; value=&quot;5&quot;/&gt;&lt;property id=&quot;20300&quot; value=&quot;Slide 2 - &amp;quot;The Phylum Proteobacteria&amp;quot;&quot;/&gt;&lt;property id=&quot;20307&quot; value=&quot;257&quot;/&gt;&lt;/object&gt;&lt;object type=&quot;3&quot; unique_id=&quot;81393&quot;&gt;&lt;property id=&quot;20148&quot; value=&quot;5&quot;/&gt;&lt;property id=&quot;20300&quot; value=&quot;Slide 3 - &amp;quot;Lineages of Proteobacterium&amp;quot;&quot;/&gt;&lt;property id=&quot;20307&quot; value=&quot;258&quot;/&gt;&lt;/object&gt;&lt;object type=&quot;3&quot; unique_id=&quot;81394&quot;&gt;&lt;property id=&quot;20148&quot; value=&quot;5&quot;/&gt;&lt;property id=&quot;20300&quot; value=&quot;Slide 4 - &amp;quot;22.1 Class Alphaproteobacteria Includes Many Oligotrophs - 1&amp;quot;&quot;/&gt;&lt;property id=&quot;20307&quot; value=&quot;259&quot;/&gt;&lt;/object&gt;&lt;object type=&quot;3&quot; unique_id=&quot;81395&quot;&gt;&lt;property id=&quot;20148&quot; value=&quot;5&quot;/&gt;&lt;property id=&quot;20300&quot; value=&quot;Slide 5 - &amp;quot;22.1 Class Alphaproteobacteria Includes Many Oligotrophs - 2&amp;quot;&quot;/&gt;&lt;property id=&quot;20307&quot; value=&quot;260&quot;/&gt;&lt;/object&gt;&lt;object type=&quot;3&quot; unique_id=&quot;81396&quot;&gt;&lt;property id=&quot;20148&quot; value=&quot;5&quot;/&gt;&lt;property id=&quot;20300&quot; value=&quot;Slide 6 - &amp;quot;Class Alphaproteobacteria&amp;quot;&quot;/&gt;&lt;property id=&quot;20307&quot; value=&quot;261&quot;/&gt;&lt;/object&gt;&lt;object type=&quot;3&quot; unique_id=&quot;81397&quot;&gt;&lt;property id=&quot;20148&quot; value=&quot;5&quot;/&gt;&lt;property id=&quot;20300&quot; value=&quot;Slide 7 - &amp;quot;Characteristics of Select Alphaproteobacteria&amp;quot;&quot;/&gt;&lt;property id=&quot;20307&quot; value=&quot;262&quot;/&gt;&lt;/object&gt;&lt;object type=&quot;3&quot; unique_id=&quot;81398&quot;&gt;&lt;property id=&quot;20148&quot; value=&quot;5&quot;/&gt;&lt;property id=&quot;20300&quot; value=&quot;Slide 8 - &amp;quot;Proposed Subclasses of Alphaproteobacteria&amp;quot;&quot;/&gt;&lt;property id=&quot;20307&quot; value=&quot;263&quot;/&gt;&lt;/object&gt;&lt;object type=&quot;3&quot; unique_id=&quot;81399&quot;&gt;&lt;property id=&quot;20148&quot; value=&quot;5&quot;/&gt;&lt;property id=&quot;20300&quot; value=&quot;Slide 9 - &amp;quot;Purple Nonsulfur Bacteria&amp;quot;&quot;/&gt;&lt;property id=&quot;20307&quot; value=&quot;264&quot;/&gt;&lt;/object&gt;&lt;object type=&quot;3&quot; unique_id=&quot;81400&quot;&gt;&lt;property id=&quot;20148&quot; value=&quot;5&quot;/&gt;&lt;property id=&quot;20300&quot; value=&quot;Slide 10 - &amp;quot;Photosynthetic Apparatus of Purple Bacteria&amp;quot;&quot;/&gt;&lt;property id=&quot;20307&quot; value=&quot;265&quot;/&gt;&lt;/object&gt;&lt;object type=&quot;3&quot; unique_id=&quot;81401&quot;&gt;&lt;property id=&quot;20148&quot; value=&quot;5&quot;/&gt;&lt;property id=&quot;20300&quot; value=&quot;Slide 11 - &amp;quot;Purple Nonsulfur Bacteria – No Light?&amp;quot;&quot;/&gt;&lt;property id=&quot;20307&quot; value=&quot;266&quot;/&gt;&lt;/object&gt;&lt;object type=&quot;3&quot; unique_id=&quot;81402&quot;&gt;&lt;property id=&quot;20148&quot; value=&quot;5&quot;/&gt;&lt;property id=&quot;20300&quot; value=&quot;Slide 12 - &amp;quot;Purple Nonsulfur Bacteria – Industrial Uses&amp;quot;&quot;/&gt;&lt;property id=&quot;20307&quot; value=&quot;267&quot;/&gt;&lt;/object&gt;&lt;object type=&quot;3&quot; unique_id=&quot;81403&quot;&gt;&lt;property id=&quot;20148&quot; value=&quot;5&quot;/&gt;&lt;property id=&quot;20300&quot; value=&quot;Slide 13 - &amp;quot;Purple Nonsulfur Bacteria - Cysts&amp;quot;&quot;/&gt;&lt;property id=&quot;20307&quot; value=&quot;268&quot;/&gt;&lt;/object&gt;&lt;object type=&quot;3&quot; unique_id=&quot;81404&quot;&gt;&lt;property id=&quot;20148&quot; value=&quot;5&quot;/&gt;&lt;property id=&quot;20300&quot; value=&quot;Slide 14 - &amp;quot;Rickettsia&amp;quot;&quot;/&gt;&lt;property id=&quot;20307&quot; value=&quot;269&quot;/&gt;&lt;/object&gt;&lt;object type=&quot;3&quot; unique_id=&quot;81405&quot;&gt;&lt;property id=&quot;20148&quot; value=&quot;5&quot;/&gt;&lt;property id=&quot;20300&quot; value=&quot;Slide 15 - &amp;quot;Rickettsia Metabolism and Pathogen Examples&amp;quot;&quot;/&gt;&lt;property id=&quot;20307&quot; value=&quot;271&quot;/&gt;&lt;/object&gt;&lt;object type=&quot;3&quot; unique_id=&quot;81406&quot;&gt;&lt;property id=&quot;20148&quot; value=&quot;5&quot;/&gt;&lt;property id=&quot;20300&quot; value=&quot;Slide 16 - &amp;quot;Caulobacteraceae and Hyphomicrobiaceae&amp;quot;&quot;/&gt;&lt;property id=&quot;20307&quot; value=&quot;273&quot;/&gt;&lt;/object&gt;&lt;object type=&quot;3&quot; unique_id=&quot;81407&quot;&gt;&lt;property id=&quot;20148&quot; value=&quot;5&quot;/&gt;&lt;property id=&quot;20300&quot; value=&quot;Slide 17 - &amp;quot;Genus Hyphomicrobium&amp;quot;&quot;/&gt;&lt;property id=&quot;20307&quot; value=&quot;274&quot;/&gt;&lt;/object&gt;&lt;object type=&quot;3&quot; unique_id=&quot;81408&quot;&gt;&lt;property id=&quot;20148&quot; value=&quot;5&quot;/&gt;&lt;property id=&quot;20300&quot; value=&quot;Slide 18 - &amp;quot;Genus Caulobacter&amp;quot;&quot;/&gt;&lt;property id=&quot;20307&quot; value=&quot;276&quot;/&gt;&lt;/object&gt;&lt;object type=&quot;3&quot; unique_id=&quot;81409&quot;&gt;&lt;property id=&quot;20148&quot; value=&quot;5&quot;/&gt;&lt;property id=&quot;20300&quot; value=&quot;Slide 19 - &amp;quot;Genus Caulobacter – Lifecycle&amp;quot;&quot;/&gt;&lt;property id=&quot;20307&quot; value=&quot;277&quot;/&gt;&lt;/object&gt;&lt;object type=&quot;3&quot; unique_id=&quot;81410&quot;&gt;&lt;property id=&quot;20148&quot; value=&quot;5&quot;/&gt;&lt;property id=&quot;20300&quot; value=&quot;Slide 20 - &amp;quot;Genus Rhizobium&amp;quot;&quot;/&gt;&lt;property id=&quot;20307&quot; value=&quot;278&quot;/&gt;&lt;/object&gt;&lt;object type=&quot;3&quot; unique_id=&quot;81411&quot;&gt;&lt;property id=&quot;20148&quot; value=&quot;5&quot;/&gt;&lt;property id=&quot;20300&quot; value=&quot;Slide 21 - &amp;quot;Genus Agrobacterium&amp;quot;&quot;/&gt;&lt;property id=&quot;20307&quot; value=&quot;279&quot;/&gt;&lt;/object&gt;&lt;object type=&quot;3&quot; unique_id=&quot;81412&quot;&gt;&lt;property id=&quot;20148&quot; value=&quot;5&quot;/&gt;&lt;property id=&quot;20300&quot; value=&quot;Slide 22 - &amp;quot;Genus Brucella&amp;quot;&quot;/&gt;&lt;property id=&quot;20307&quot; value=&quot;280&quot;/&gt;&lt;/object&gt;&lt;object type=&quot;3&quot; unique_id=&quot;81413&quot;&gt;&lt;property id=&quot;20148&quot; value=&quot;5&quot;/&gt;&lt;property id=&quot;20300&quot; value=&quot;Slide 23 - &amp;quot;Genera Methylocystis and Methylosinus - Metabolism&amp;quot;&quot;/&gt;&lt;property id=&quot;20307&quot; value=&quot;281&quot;/&gt;&lt;/object&gt;&lt;object type=&quot;3&quot; unique_id=&quot;81414&quot;&gt;&lt;property id=&quot;20148&quot; value=&quot;5&quot;/&gt;&lt;property id=&quot;20300&quot; value=&quot;Slide 24 - &amp;quot;Genera Methylocystis and Methylosinus&amp;quot;&quot;/&gt;&lt;property id=&quot;20307&quot; value=&quot;282&quot;/&gt;&lt;/object&gt;&lt;object type=&quot;3&quot; unique_id=&quot;81415&quot;&gt;&lt;property id=&quot;20148&quot; value=&quot;5&quot;/&gt;&lt;property id=&quot;20300&quot; value=&quot;Slide 25 - &amp;quot;Nitrifying Bacteria&amp;quot;&quot;/&gt;&lt;property id=&quot;20307&quot; value=&quot;283&quot;/&gt;&lt;/object&gt;&lt;object type=&quot;3&quot; unique_id=&quot;81416&quot;&gt;&lt;property id=&quot;20148&quot; value=&quot;5&quot;/&gt;&lt;property id=&quot;20300&quot; value=&quot;Slide 26 - &amp;quot;Nitrification&amp;quot;&quot;/&gt;&lt;property id=&quot;20307&quot; value=&quot;284&quot;/&gt;&lt;/object&gt;&lt;object type=&quot;3&quot; unique_id=&quot;81417&quot;&gt;&lt;property id=&quot;20148&quot; value=&quot;5&quot;/&gt;&lt;property id=&quot;20300&quot; value=&quot;Slide 27 - &amp;quot;Taxa of Nitrifying Bacteria&amp;quot;&quot;/&gt;&lt;property id=&quot;20307&quot; value=&quot;285&quot;/&gt;&lt;/object&gt;&lt;object type=&quot;3&quot; unique_id=&quot;81418&quot;&gt;&lt;property id=&quot;20148&quot; value=&quot;5&quot;/&gt;&lt;property id=&quot;20300&quot; value=&quot;Slide 28 - &amp;quot;Characteristics of Nitrifying Bacteria&amp;quot;&quot;/&gt;&lt;property id=&quot;20307&quot; value=&quot;363&quot;/&gt;&lt;/object&gt;&lt;object type=&quot;3&quot; unique_id=&quot;81419&quot;&gt;&lt;property id=&quot;20148&quot; value=&quot;5&quot;/&gt;&lt;property id=&quot;20300&quot; value=&quot;Slide 29 - &amp;quot;Magnetococcus: A Newly Discovered Genus&amp;quot;&quot;/&gt;&lt;property id=&quot;20307&quot; value=&quot;367&quot;/&gt;&lt;/object&gt;&lt;object type=&quot;3&quot; unique_id=&quot;81420&quot;&gt;&lt;property id=&quot;20148&quot; value=&quot;5&quot;/&gt;&lt;property id=&quot;20300&quot; value=&quot;Slide 30 - &amp;quot;SAR11 Clade&amp;quot;&quot;/&gt;&lt;property id=&quot;20307&quot; value=&quot;368&quot;/&gt;&lt;/object&gt;&lt;object type=&quot;3&quot; unique_id=&quot;81421&quot;&gt;&lt;property id=&quot;20148&quot; value=&quot;5&quot;/&gt;&lt;property id=&quot;20300&quot; value=&quot;Slide 31 - &amp;quot;22.2 Class Betaproteobacteria Includes Chemoheterotrophs and Chemolithotrophs&amp;quot;&quot;/&gt;&lt;property id=&quot;20307&quot; value=&quot;286&quot;/&gt;&lt;/object&gt;&lt;object type=&quot;3&quot; unique_id=&quot;81422&quot;&gt;&lt;property id=&quot;20148&quot; value=&quot;5&quot;/&gt;&lt;property id=&quot;20300&quot; value=&quot;Slide 32 - &amp;quot;Class Betaproteobacteria&amp;quot;&quot;/&gt;&lt;property id=&quot;20307&quot; value=&quot;364&quot;/&gt;&lt;/object&gt;&lt;object type=&quot;3&quot; unique_id=&quot;81423&quot;&gt;&lt;property id=&quot;20148&quot; value=&quot;5&quot;/&gt;&lt;property id=&quot;20300&quot; value=&quot;Slide 33 - &amp;quot;Characteristics of Select Betaproteobacteria&amp;quot;&quot;/&gt;&lt;property id=&quot;20307&quot; value=&quot;287&quot;/&gt;&lt;/object&gt;&lt;object type=&quot;3&quot; unique_id=&quot;81424&quot;&gt;&lt;property id=&quot;20148&quot; value=&quot;5&quot;/&gt;&lt;property id=&quot;20300&quot; value=&quot;Slide 34 - &amp;quot;Order Neisseriales&amp;quot;&quot;/&gt;&lt;property id=&quot;20307&quot; value=&quot;288&quot;/&gt;&lt;/object&gt;&lt;object type=&quot;3&quot; unique_id=&quot;81425&quot;&gt;&lt;property id=&quot;20148&quot; value=&quot;5&quot;/&gt;&lt;property id=&quot;20300&quot; value=&quot;Slide 35 - &amp;quot;Order Burkholderiales&amp;quot;&quot;/&gt;&lt;property id=&quot;20307&quot; value=&quot;365&quot;/&gt;&lt;/object&gt;&lt;object type=&quot;3&quot; unique_id=&quot;81426&quot;&gt;&lt;property id=&quot;20148&quot; value=&quot;5&quot;/&gt;&lt;property id=&quot;20300&quot; value=&quot;Slide 36 - &amp;quot;Genus Burkholderia&amp;quot;&quot;/&gt;&lt;property id=&quot;20307&quot; value=&quot;366&quot;/&gt;&lt;/object&gt;&lt;object type=&quot;3&quot; unique_id=&quot;81427&quot;&gt;&lt;property id=&quot;20148&quot; value=&quot;5&quot;/&gt;&lt;property id=&quot;20300&quot; value=&quot;Slide 37 - &amp;quot;Nitrogen Fixation by Burkholderia and Ralstonia&amp;quot;&quot;/&gt;&lt;property id=&quot;20307&quot; value=&quot;291&quot;/&gt;&lt;/object&gt;&lt;object type=&quot;3&quot; unique_id=&quot;81428&quot;&gt;&lt;property id=&quot;20148&quot; value=&quot;5&quot;/&gt;&lt;property id=&quot;20300&quot; value=&quot;Slide 38 - &amp;quot;Genus Bordetella&amp;quot;&quot;/&gt;&lt;property id=&quot;20307&quot; value=&quot;292&quot;/&gt;&lt;/object&gt;&lt;object type=&quot;3&quot; unique_id=&quot;81429&quot;&gt;&lt;property id=&quot;20148&quot; value=&quot;5&quot;/&gt;&lt;property id=&quot;20300&quot; value=&quot;Slide 39 - &amp;quot;Order Nitrosomonadales&amp;quot;&quot;/&gt;&lt;property id=&quot;20307&quot; value=&quot;293&quot;/&gt;&lt;/object&gt;&lt;object type=&quot;3&quot; unique_id=&quot;81430&quot;&gt;&lt;property id=&quot;20148&quot; value=&quot;5&quot;/&gt;&lt;property id=&quot;20300&quot; value=&quot;Slide 40 - &amp;quot;Genomic Reconstruction of N. europaea&amp;quot;&quot;/&gt;&lt;property id=&quot;20307&quot; value=&quot;294&quot;/&gt;&lt;/object&gt;&lt;object type=&quot;3&quot; unique_id=&quot;81431&quot;&gt;&lt;property id=&quot;20148&quot; value=&quot;5&quot;/&gt;&lt;property id=&quot;20300&quot; value=&quot;Slide 41 - &amp;quot;Order Hydrogenophilales&amp;quot;&quot;/&gt;&lt;property id=&quot;20307&quot; value=&quot;295&quot;/&gt;&lt;/object&gt;&lt;object type=&quot;3&quot; unique_id=&quot;81432&quot;&gt;&lt;property id=&quot;20148&quot; value=&quot;5&quot;/&gt;&lt;property id=&quot;20300&quot; value=&quot;Slide 42 - &amp;quot;Genus Thiobacillus&amp;quot;&quot;/&gt;&lt;property id=&quot;20307&quot; value=&quot;297&quot;/&gt;&lt;/object&gt;&lt;object type=&quot;3&quot; unique_id=&quot;81433&quot;&gt;&lt;property id=&quot;20148&quot; value=&quot;5&quot;/&gt;&lt;property id=&quot;20300&quot; value=&quot;Slide 43 - &amp;quot;22.3 Class Gammaproteobacteria Is The Largest Bacterial Class - 1&amp;quot;&quot;/&gt;&lt;property id=&quot;20307&quot; value=&quot;298&quot;/&gt;&lt;/object&gt;&lt;object type=&quot;3&quot; unique_id=&quot;81434&quot;&gt;&lt;property id=&quot;20148&quot; value=&quot;5&quot;/&gt;&lt;property id=&quot;20300&quot; value=&quot;Slide 44 - &amp;quot;22.3 Class Gammaproteobacteria Is The Largest Bacterial Class – 2&amp;quot;&quot;/&gt;&lt;property id=&quot;20307&quot; value=&quot;299&quot;/&gt;&lt;/object&gt;&lt;object type=&quot;3&quot; unique_id=&quot;81435&quot;&gt;&lt;property id=&quot;20148&quot; value=&quot;5&quot;/&gt;&lt;property id=&quot;20300&quot; value=&quot;Slide 45 - &amp;quot;Class Gammaproteobacteria&amp;quot;&quot;/&gt;&lt;property id=&quot;20307&quot; value=&quot;300&quot;/&gt;&lt;/object&gt;&lt;object type=&quot;3&quot; unique_id=&quot;81436&quot;&gt;&lt;property id=&quot;20148&quot; value=&quot;5&quot;/&gt;&lt;property id=&quot;20300&quot; value=&quot;Slide 46 - &amp;quot;Characteristics of Select Gammaproteobacteria&amp;quot;&quot;/&gt;&lt;property id=&quot;20307&quot; value=&quot;301&quot;/&gt;&lt;/object&gt;&lt;object type=&quot;3&quot; unique_id=&quot;81437&quot;&gt;&lt;property id=&quot;20148&quot; value=&quot;5&quot;/&gt;&lt;property id=&quot;20300&quot; value=&quot;Slide 47 - &amp;quot;The Purple Sulfur Bacteria&amp;quot;&quot;/&gt;&lt;property id=&quot;20307&quot; value=&quot;302&quot;/&gt;&lt;/object&gt;&lt;object type=&quot;3&quot; unique_id=&quot;81438&quot;&gt;&lt;property id=&quot;20148&quot; value=&quot;5&quot;/&gt;&lt;property id=&quot;20300&quot; value=&quot;Slide 48 - &amp;quot;Family Chromatiaceae&amp;quot;&quot;/&gt;&lt;property id=&quot;20307&quot; value=&quot;303&quot;/&gt;&lt;/object&gt;&lt;object type=&quot;3&quot; unique_id=&quot;81439&quot;&gt;&lt;property id=&quot;20148&quot; value=&quot;5&quot;/&gt;&lt;property id=&quot;20300&quot; value=&quot;Slide 49 - &amp;quot;Order Thiotrichales&amp;quot;&quot;/&gt;&lt;property id=&quot;20307&quot; value=&quot;304&quot;/&gt;&lt;/object&gt;&lt;object type=&quot;3&quot; unique_id=&quot;81440&quot;&gt;&lt;property id=&quot;20148&quot; value=&quot;5&quot;/&gt;&lt;property id=&quot;20300&quot; value=&quot;Slide 50 - &amp;quot;Genus Beggiatoa&amp;quot;&quot;/&gt;&lt;property id=&quot;20307&quot; value=&quot;305&quot;/&gt;&lt;/object&gt;&lt;object type=&quot;3&quot; unique_id=&quot;81441&quot;&gt;&lt;property id=&quot;20148&quot; value=&quot;5&quot;/&gt;&lt;property id=&quot;20300&quot; value=&quot;Slide 51 - &amp;quot;Genus Thiomargarita &amp;quot;&quot;/&gt;&lt;property id=&quot;20307&quot; value=&quot;306&quot;/&gt;&lt;/object&gt;&lt;object type=&quot;3&quot; unique_id=&quot;81442&quot;&gt;&lt;property id=&quot;20148&quot; value=&quot;5&quot;/&gt;&lt;property id=&quot;20300&quot; value=&quot;Slide 52 - &amp;quot;Genus Leucothrix&amp;quot;&quot;/&gt;&lt;property id=&quot;20307&quot; value=&quot;307&quot;/&gt;&lt;/object&gt;&lt;object type=&quot;3&quot; unique_id=&quot;81443&quot;&gt;&lt;property id=&quot;20148&quot; value=&quot;5&quot;/&gt;&lt;property id=&quot;20300&quot; value=&quot;Slide 53 - &amp;quot;Genus Thiothrix &amp;quot;&quot;/&gt;&lt;property id=&quot;20307&quot; value=&quot;308&quot;/&gt;&lt;/object&gt;&lt;object type=&quot;3&quot; unique_id=&quot;81444&quot;&gt;&lt;property id=&quot;20148&quot; value=&quot;5&quot;/&gt;&lt;property id=&quot;20300&quot; value=&quot;Slide 54 - &amp;quot;Genus Thiomicrospira&amp;quot;&quot;/&gt;&lt;property id=&quot;20307&quot; value=&quot;309&quot;/&gt;&lt;/object&gt;&lt;object type=&quot;3&quot; unique_id=&quot;81445&quot;&gt;&lt;property id=&quot;20148&quot; value=&quot;5&quot;/&gt;&lt;property id=&quot;20300&quot; value=&quot;Slide 55 - &amp;quot;Order Methylococcales&amp;quot;&quot;/&gt;&lt;property id=&quot;20307&quot; value=&quot;311&quot;/&gt;&lt;/object&gt;&lt;object type=&quot;3&quot; unique_id=&quot;81446&quot;&gt;&lt;property id=&quot;20148&quot; value=&quot;5&quot;/&gt;&lt;property id=&quot;20300&quot; value=&quot;Slide 56 - &amp;quot;Methane Oxidation&amp;quot;&quot;/&gt;&lt;property id=&quot;20307&quot; value=&quot;312&quot;/&gt;&lt;/object&gt;&lt;object type=&quot;3&quot; unique_id=&quot;81447&quot;&gt;&lt;property id=&quot;20148&quot; value=&quot;5&quot;/&gt;&lt;property id=&quot;20300&quot; value=&quot;Slide 57 - &amp;quot;Order Legionellaceae&amp;quot;&quot;/&gt;&lt;property id=&quot;20307&quot; value=&quot;313&quot;/&gt;&lt;/object&gt;&lt;object type=&quot;3&quot; unique_id=&quot;81448&quot;&gt;&lt;property id=&quot;20148&quot; value=&quot;5&quot;/&gt;&lt;property id=&quot;20300&quot; value=&quot;Slide 58 - &amp;quot;Genus Legionella&amp;quot;&quot;/&gt;&lt;property id=&quot;20307&quot; value=&quot;314&quot;/&gt;&lt;/object&gt;&lt;object type=&quot;3&quot; unique_id=&quot;81449&quot;&gt;&lt;property id=&quot;20148&quot; value=&quot;5&quot;/&gt;&lt;property id=&quot;20300&quot; value=&quot;Slide 59 - &amp;quot;Genus Coxiella&amp;quot;&quot;/&gt;&lt;property id=&quot;20307&quot; value=&quot;316&quot;/&gt;&lt;/object&gt;&lt;object type=&quot;3&quot; unique_id=&quot;81450&quot;&gt;&lt;property id=&quot;20148&quot; value=&quot;5&quot;/&gt;&lt;property id=&quot;20300&quot; value=&quot;Slide 60 - &amp;quot;Order Pseudomonadales&amp;quot;&quot;/&gt;&lt;property id=&quot;20307&quot; value=&quot;317&quot;/&gt;&lt;/object&gt;&lt;object type=&quot;3&quot; unique_id=&quot;81451&quot;&gt;&lt;property id=&quot;20148&quot; value=&quot;5&quot;/&gt;&lt;property id=&quot;20300&quot; value=&quot;Slide 61 - &amp;quot;Pseudomonas&amp;quot;&quot;/&gt;&lt;property id=&quot;20307&quot; value=&quot;318&quot;/&gt;&lt;/object&gt;&lt;object type=&quot;3&quot; unique_id=&quot;81452&quot;&gt;&lt;property id=&quot;20148&quot; value=&quot;5&quot;/&gt;&lt;property id=&quot;20300&quot; value=&quot;Slide 62 - &amp;quot;Genus Azotobacter&amp;quot;&quot;/&gt;&lt;property id=&quot;20307&quot; value=&quot;320&quot;/&gt;&lt;/object&gt;&lt;object type=&quot;3&quot; unique_id=&quot;81453&quot;&gt;&lt;property id=&quot;20148&quot; value=&quot;5&quot;/&gt;&lt;property id=&quot;20300&quot; value=&quot;Slide 63 - &amp;quot;Order Alteromonadales&amp;quot;&quot;/&gt;&lt;property id=&quot;20307&quot; value=&quot;321&quot;/&gt;&lt;/object&gt;&lt;object type=&quot;3&quot; unique_id=&quot;81454&quot;&gt;&lt;property id=&quot;20148&quot; value=&quot;5&quot;/&gt;&lt;property id=&quot;20300&quot; value=&quot;Slide 64 - &amp;quot;Genus Shewanella&amp;quot;&quot;/&gt;&lt;property id=&quot;20307&quot; value=&quot;322&quot;/&gt;&lt;/object&gt;&lt;object type=&quot;3&quot; unique_id=&quot;81455&quot;&gt;&lt;property id=&quot;20148&quot; value=&quot;5&quot;/&gt;&lt;property id=&quot;20300&quot; value=&quot;Slide 65 - &amp;quot;Order Vibrionales&amp;quot;&quot;/&gt;&lt;property id=&quot;20307&quot; value=&quot;324&quot;/&gt;&lt;/object&gt;&lt;object type=&quot;3&quot; unique_id=&quot;81456&quot;&gt;&lt;property id=&quot;20148&quot; value=&quot;5&quot;/&gt;&lt;property id=&quot;20300&quot; value=&quot;Slide 66 - &amp;quot;Characteristics of Facultative Anaerobic Gram-Negative Rods&amp;quot;&quot;/&gt;&lt;property id=&quot;20307&quot; value=&quot;326&quot;/&gt;&lt;/object&gt;&lt;object type=&quot;3&quot; unique_id=&quot;81457&quot;&gt;&lt;property id=&quot;20148&quot; value=&quot;5&quot;/&gt;&lt;property id=&quot;20300&quot; value=&quot;Slide 67 - &amp;quot;V. fischeri, V. harveyi&amp;quot;&quot;/&gt;&lt;property id=&quot;20307&quot; value=&quot;327&quot;/&gt;&lt;/object&gt;&lt;object type=&quot;3&quot; unique_id=&quot;81458&quot;&gt;&lt;property id=&quot;20148&quot; value=&quot;5&quot;/&gt;&lt;property id=&quot;20300&quot; value=&quot;Slide 68 - &amp;quot;Order Enterobacteriales&amp;quot;&quot;/&gt;&lt;property id=&quot;20307&quot; value=&quot;328&quot;/&gt;&lt;/object&gt;&lt;object type=&quot;3&quot; unique_id=&quot;81459&quot;&gt;&lt;property id=&quot;20148&quot; value=&quot;5&quot;/&gt;&lt;property id=&quot;20300&quot; value=&quot;Slide 69 - &amp;quot;Family Enterobacteriaceae&amp;quot;&quot;/&gt;&lt;property id=&quot;20307&quot; value=&quot;329&quot;/&gt;&lt;/object&gt;&lt;object type=&quot;3&quot; unique_id=&quot;81460&quot;&gt;&lt;property id=&quot;20148&quot; value=&quot;5&quot;/&gt;&lt;property id=&quot;20300&quot; value=&quot;Slide 70 - &amp;quot;Identification of Enterobacterial Genera&amp;quot;&quot;/&gt;&lt;property id=&quot;20307&quot; value=&quot;330&quot;/&gt;&lt;/object&gt;&lt;object type=&quot;3&quot; unique_id=&quot;81461&quot;&gt;&lt;property id=&quot;20148&quot; value=&quot;5&quot;/&gt;&lt;property id=&quot;20300&quot; value=&quot;Slide 71 - &amp;quot;Escherichia coli&amp;quot;&quot;/&gt;&lt;property id=&quot;20307&quot; value=&quot;332&quot;/&gt;&lt;/object&gt;&lt;object type=&quot;3&quot; unique_id=&quot;81462&quot;&gt;&lt;property id=&quot;20148&quot; value=&quot;5&quot;/&gt;&lt;property id=&quot;20300&quot; value=&quot;Slide 72 - &amp;quot;Important Pathogenic &amp;#x0D;&amp;#x0A;Enteric Bacteria&amp;quot;&quot;/&gt;&lt;property id=&quot;20307&quot; value=&quot;333&quot;/&gt;&lt;/object&gt;&lt;object type=&quot;3&quot; unique_id=&quot;81463&quot;&gt;&lt;property id=&quot;20148&quot; value=&quot;5&quot;/&gt;&lt;property id=&quot;20300&quot; value=&quot;Slide 73 - &amp;quot;Order Pasteurellales&amp;quot;&quot;/&gt;&lt;property id=&quot;20307&quot; value=&quot;334&quot;/&gt;&lt;/object&gt;&lt;object type=&quot;3&quot; unique_id=&quot;81464&quot;&gt;&lt;property id=&quot;20148&quot; value=&quot;5&quot;/&gt;&lt;property id=&quot;20300&quot; value=&quot;Slide 74 - &amp;quot;22.4 Class Deltaproteobacteria Includes Chemoheterotrophic Anaerobes and Predators - 1&amp;quot;&quot;/&gt;&lt;property id=&quot;20307&quot; value=&quot;335&quot;/&gt;&lt;/object&gt;&lt;object type=&quot;3&quot; unique_id=&quot;81465&quot;&gt;&lt;property id=&quot;20148&quot; value=&quot;5&quot;/&gt;&lt;property id=&quot;20300&quot; value=&quot;Slide 75 - &amp;quot;22.4 Class Deltaproteobacteria Includes Chemoheterotrophic Anaerobes and Predators - 2&amp;quot;&quot;/&gt;&lt;property id=&quot;20307&quot; value=&quot;336&quot;/&gt;&lt;/object&gt;&lt;object type=&quot;3&quot; unique_id=&quot;81466&quot;&gt;&lt;property id=&quot;20148&quot; value=&quot;5&quot;/&gt;&lt;property id=&quot;20300&quot; value=&quot;Slide 76 - &amp;quot;Class Deltaproteobacteria&amp;quot;&quot;/&gt;&lt;property id=&quot;20307&quot; value=&quot;337&quot;/&gt;&lt;/object&gt;&lt;object type=&quot;3&quot; unique_id=&quot;81467&quot;&gt;&lt;property id=&quot;20148&quot; value=&quot;5&quot;/&gt;&lt;property id=&quot;20300&quot; value=&quot;Slide 77 - &amp;quot;Characteristics of Select Delta- and Epsilonproteobacteria&amp;quot;&quot;/&gt;&lt;property id=&quot;20307&quot; value=&quot;338&quot;/&gt;&lt;/object&gt;&lt;object type=&quot;3&quot; unique_id=&quot;81468&quot;&gt;&lt;property id=&quot;20148&quot; value=&quot;5&quot;/&gt;&lt;property id=&quot;20300&quot; value=&quot;Slide 78 - &amp;quot;Orders Desulfovibrionales, Desulfobacterales, and Desulfuromonadales &amp;quot;&quot;/&gt;&lt;property id=&quot;20307&quot; value=&quot;339&quot;/&gt;&lt;/object&gt;&lt;object type=&quot;3&quot; unique_id=&quot;81469&quot;&gt;&lt;property id=&quot;20148&quot; value=&quot;5&quot;/&gt;&lt;property id=&quot;20300&quot; value=&quot;Slide 79 - &amp;quot;Desulfovibrio Dissimilatory Sulfate Reduction&amp;quot;&quot;/&gt;&lt;property id=&quot;20307&quot; value=&quot;340&quot;/&gt;&lt;/object&gt;&lt;object type=&quot;3&quot; unique_id=&quot;81470&quot;&gt;&lt;property id=&quot;20148&quot; value=&quot;5&quot;/&gt;&lt;property id=&quot;20300&quot; value=&quot;Slide 80 - &amp;quot;Order Desulfuromonales&amp;quot;&quot;/&gt;&lt;property id=&quot;20307&quot; value=&quot;341&quot;/&gt;&lt;/object&gt;&lt;object type=&quot;3&quot; unique_id=&quot;81471&quot;&gt;&lt;property id=&quot;20148&quot; value=&quot;5&quot;/&gt;&lt;property id=&quot;20300&quot; value=&quot;Slide 81 - &amp;quot;Order Bdellovibrionales&amp;quot;&quot;/&gt;&lt;property id=&quot;20307&quot; value=&quot;342&quot;/&gt;&lt;/object&gt;&lt;object type=&quot;3&quot; unique_id=&quot;81472&quot;&gt;&lt;property id=&quot;20148&quot; value=&quot;5&quot;/&gt;&lt;property id=&quot;20300&quot; value=&quot;Slide 82 - &amp;quot;Order Myxococcales&amp;quot;&quot;/&gt;&lt;property id=&quot;20307&quot; value=&quot;343&quot;/&gt;&lt;/object&gt;&lt;object type=&quot;3&quot; unique_id=&quot;81473&quot;&gt;&lt;property id=&quot;20148&quot; value=&quot;5&quot;/&gt;&lt;property id=&quot;20300&quot; value=&quot;Slide 83 - &amp;quot;Myxobacteria&amp;quot;&quot;/&gt;&lt;property id=&quot;20307&quot; value=&quot;344&quot;/&gt;&lt;/object&gt;&lt;object type=&quot;3&quot; unique_id=&quot;81474&quot;&gt;&lt;property id=&quot;20148&quot; value=&quot;5&quot;/&gt;&lt;property id=&quot;20300&quot; value=&quot;Slide 84 - &amp;quot;Fruiting Bodies&amp;quot;&quot;/&gt;&lt;property id=&quot;20307&quot; value=&quot;346&quot;/&gt;&lt;/object&gt;&lt;object type=&quot;3&quot; unique_id=&quot;81475&quot;&gt;&lt;property id=&quot;20148&quot; value=&quot;5&quot;/&gt;&lt;property id=&quot;20300&quot; value=&quot;Slide 85 - &amp;quot;M. xanthus Gliding Motility&amp;quot;&quot;/&gt;&lt;property id=&quot;20307&quot; value=&quot;348&quot;/&gt;&lt;/object&gt;&lt;object type=&quot;3&quot; unique_id=&quot;81476&quot;&gt;&lt;property id=&quot;20148&quot; value=&quot;5&quot;/&gt;&lt;property id=&quot;20300&quot; value=&quot;Slide 86 - &amp;quot;22.5 Class Epsilonproteobacteria Ranges from Pathogens to Deep-Sea Bacteria&amp;quot;&quot;/&gt;&lt;property id=&quot;20307&quot; value=&quot;350&quot;/&gt;&lt;/object&gt;&lt;object type=&quot;3&quot; unique_id=&quot;81477&quot;&gt;&lt;property id=&quot;20148&quot; value=&quot;5&quot;/&gt;&lt;property id=&quot;20300&quot; value=&quot;Slide 87 - &amp;quot;Class Epsilonproteobacteria&amp;quot;&quot;/&gt;&lt;property id=&quot;20307&quot; value=&quot;351&quot;/&gt;&lt;/object&gt;&lt;object type=&quot;3&quot; unique_id=&quot;81478&quot;&gt;&lt;property id=&quot;20148&quot; value=&quot;5&quot;/&gt;&lt;property id=&quot;20300&quot; value=&quot;Slide 88 - &amp;quot;Genus Campylobacter&amp;quot;&quot;/&gt;&lt;property id=&quot;20307&quot; value=&quot;352&quot;/&gt;&lt;/object&gt;&lt;object type=&quot;3&quot; unique_id=&quot;81479&quot;&gt;&lt;property id=&quot;20148&quot; value=&quot;5&quot;/&gt;&lt;property id=&quot;20300&quot; value=&quot;Slide 89 - &amp;quot;Genus Helicobacter&amp;quot;&quot;/&gt;&lt;property id=&quot;20307&quot; value=&quot;353&quot;/&gt;&lt;/object&gt;&lt;object type=&quot;3&quot; unique_id=&quot;81480&quot;&gt;&lt;property id=&quot;20148&quot; value=&quot;5&quot;/&gt;&lt;property id=&quot;20300&quot; value=&quot;Slide 90 - &amp;quot;Epsilonproteobacteria&amp;quot;&quot;/&gt;&lt;property id=&quot;20307&quot; value=&quot;354&quot;/&gt;&lt;/object&gt;&lt;object type=&quot;3&quot; unique_id=&quot;81481&quot;&gt;&lt;property id=&quot;20148&quot; value=&quot;5&quot;/&gt;&lt;property id=&quot;20300&quot; value=&quot;Slide 91 - &amp;quot;Recently Isolated Epsilonbacteria&amp;quot;&quot;/&gt;&lt;property id=&quot;20307&quot; value=&quot;355&quot;/&gt;&lt;/object&gt;&lt;object type=&quot;3&quot; unique_id=&quot;81482&quot;&gt;&lt;property id=&quot;20148&quot; value=&quot;5&quot;/&gt;&lt;property id=&quot;20300&quot; value=&quot;Slide 92 - &amp;quot;Take Home Message&amp;quot;&quot;/&gt;&lt;property id=&quot;20307&quot; value=&quot;362&quot;/&gt;&lt;/object&gt;&lt;/object&gt;&lt;/object&gt;&lt;/database&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627</TotalTime>
  <Words>3842</Words>
  <Application>Microsoft Office PowerPoint</Application>
  <PresentationFormat>On-screen Show (4:3)</PresentationFormat>
  <Paragraphs>664</Paragraphs>
  <Slides>92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92</vt:i4>
      </vt:variant>
    </vt:vector>
  </HeadingPairs>
  <TitlesOfParts>
    <vt:vector size="98" baseType="lpstr">
      <vt:lpstr>Arial</vt:lpstr>
      <vt:lpstr>Calibri</vt:lpstr>
      <vt:lpstr>Cambria Math</vt:lpstr>
      <vt:lpstr>Symbol</vt:lpstr>
      <vt:lpstr>Tahoma</vt:lpstr>
      <vt:lpstr>Office Theme</vt:lpstr>
      <vt:lpstr>Chapter 22 – Proteobacteria</vt:lpstr>
      <vt:lpstr>The Phylum Proteobacteria</vt:lpstr>
      <vt:lpstr>Lineages of Proteobacterium</vt:lpstr>
      <vt:lpstr>22.1 Class Alphaproteobacteria Includes Many Oligotrophs</vt:lpstr>
      <vt:lpstr>22.1 Class Alphaproteobacteria Includes Many Oligotrophs - 2</vt:lpstr>
      <vt:lpstr>Class Alphaproteobacteria</vt:lpstr>
      <vt:lpstr>Characteristics of Select Alphaproteobacteria</vt:lpstr>
      <vt:lpstr>Proposed Subclasses of Alphaproteobacteria</vt:lpstr>
      <vt:lpstr>Purple Nonsulfur Bacteria</vt:lpstr>
      <vt:lpstr>Photosynthetic Apparatus of Purple Bacteria</vt:lpstr>
      <vt:lpstr>Purple Nonsulfur Bacteria – No Light?</vt:lpstr>
      <vt:lpstr>Purple Nonsulfur Bacteria – Industrial Uses</vt:lpstr>
      <vt:lpstr>Purple Nonsulfur Bacteria - Cysts</vt:lpstr>
      <vt:lpstr>Rickettsia</vt:lpstr>
      <vt:lpstr>Rickettsia Metabolism and Pathogen Examples</vt:lpstr>
      <vt:lpstr>Caulobacteraceae and Hyphomicrobiaceae</vt:lpstr>
      <vt:lpstr>Genus Hyphomicrobium</vt:lpstr>
      <vt:lpstr>Genus Caulobacter</vt:lpstr>
      <vt:lpstr>Genus Caulobacter – Lifecycle</vt:lpstr>
      <vt:lpstr>Genus Rhizobium</vt:lpstr>
      <vt:lpstr>Genus Agrobacterium</vt:lpstr>
      <vt:lpstr>Genus Brucella</vt:lpstr>
      <vt:lpstr>Genera Methylocystis and Methylosinus - Metabolism</vt:lpstr>
      <vt:lpstr>Genera Methylocystis and Methylosinus</vt:lpstr>
      <vt:lpstr>Nitrifying Bacteria</vt:lpstr>
      <vt:lpstr>Nitrification</vt:lpstr>
      <vt:lpstr>Taxa of Nitrifying Bacteria</vt:lpstr>
      <vt:lpstr>Characteristics of Nitrifying Bacteria</vt:lpstr>
      <vt:lpstr>Magnetococcus: A Newly Discovered Genus</vt:lpstr>
      <vt:lpstr>SAR11 Clade</vt:lpstr>
      <vt:lpstr>22.2 Class Betaproteobacteria Includes Chemoheterotrophs and Chemolithotrophs</vt:lpstr>
      <vt:lpstr>Class Betaproteobacteria</vt:lpstr>
      <vt:lpstr>Characteristics of Select Betaproteobacteria</vt:lpstr>
      <vt:lpstr>Order Neisseriales</vt:lpstr>
      <vt:lpstr>Order Burkholderiales</vt:lpstr>
      <vt:lpstr>Genus Burkholderia</vt:lpstr>
      <vt:lpstr>Nitrogen Fixation by Burkholderia and Ralstonia</vt:lpstr>
      <vt:lpstr>Genus Bordetella</vt:lpstr>
      <vt:lpstr>Order Nitrosomonadales</vt:lpstr>
      <vt:lpstr>Genomic Reconstruction of N. europaea</vt:lpstr>
      <vt:lpstr>Order Hydrogenophilales</vt:lpstr>
      <vt:lpstr>Genus Thiobacillus</vt:lpstr>
      <vt:lpstr>22.3 Class Gammaproteobacteria Is The Largest Bacterial Class</vt:lpstr>
      <vt:lpstr>22.3 Class Gammaproteobacteria Is The Largest Bacterial Class – 2</vt:lpstr>
      <vt:lpstr>Class Gammaproteobacteria</vt:lpstr>
      <vt:lpstr>Characteristics of Select Gammaproteobacteria</vt:lpstr>
      <vt:lpstr>The Purple Sulfur Bacteria</vt:lpstr>
      <vt:lpstr>Family Chromatiaceae</vt:lpstr>
      <vt:lpstr>Order Thiotrichales</vt:lpstr>
      <vt:lpstr>Genus Beggiatoa</vt:lpstr>
      <vt:lpstr>Genus Thiomargarita </vt:lpstr>
      <vt:lpstr>Genus Leucothrix</vt:lpstr>
      <vt:lpstr>Genus Thiothrix </vt:lpstr>
      <vt:lpstr>Genus Thiomicrospira</vt:lpstr>
      <vt:lpstr>Order Methylococcales</vt:lpstr>
      <vt:lpstr>Methane Oxidation</vt:lpstr>
      <vt:lpstr>Order Legionellaceae</vt:lpstr>
      <vt:lpstr>Genus Legionella</vt:lpstr>
      <vt:lpstr>Genus Coxiella</vt:lpstr>
      <vt:lpstr>Order Pseudomonadales</vt:lpstr>
      <vt:lpstr>Pseudomonas</vt:lpstr>
      <vt:lpstr>Genus Azotobacter</vt:lpstr>
      <vt:lpstr>Order Alteromonadales</vt:lpstr>
      <vt:lpstr>Genus Shewanella</vt:lpstr>
      <vt:lpstr>Order Vibrionales</vt:lpstr>
      <vt:lpstr>Characteristics of Facultative Anaerobic Gram-Negative Rods</vt:lpstr>
      <vt:lpstr>V. fischeri, V. harveyi</vt:lpstr>
      <vt:lpstr>Order Enterobacteriales</vt:lpstr>
      <vt:lpstr>Family Enterobacteriaceae</vt:lpstr>
      <vt:lpstr>Identification of Enterobacterial Genera</vt:lpstr>
      <vt:lpstr>Escherichia coli</vt:lpstr>
      <vt:lpstr>Important Pathogenic  Enteric Bacteria</vt:lpstr>
      <vt:lpstr>Order Pasteurellales</vt:lpstr>
      <vt:lpstr>22.4 Class Deltaproteobacteria Includes Chemoheterotrophic Anaerobes and Predators - 1</vt:lpstr>
      <vt:lpstr>22.4 Class Deltaproteobacteria Includes Chemoheterotrophic Anaerobes and Predators - 2</vt:lpstr>
      <vt:lpstr>Class Deltaproteobacteria</vt:lpstr>
      <vt:lpstr>Characteristics of Select Delta- and Epsilonproteobacteria</vt:lpstr>
      <vt:lpstr>Orders Desulfovibrionales, Desulfobacterales, and Desulfuromonadales </vt:lpstr>
      <vt:lpstr>Desulfovibrio Dissimilatory Sulfate Reduction</vt:lpstr>
      <vt:lpstr>Order Desulfuromonales</vt:lpstr>
      <vt:lpstr>Order Bdellovibrionales</vt:lpstr>
      <vt:lpstr>Order Myxococcales</vt:lpstr>
      <vt:lpstr>Myxobacteria</vt:lpstr>
      <vt:lpstr>Fruiting Bodies</vt:lpstr>
      <vt:lpstr>M. xanthus Gliding Motility</vt:lpstr>
      <vt:lpstr>22.5 Class Epsilonproteobacteria Ranges from Pathogens to Deep-Sea Bacteria</vt:lpstr>
      <vt:lpstr>Class Epsilonproteobacteria</vt:lpstr>
      <vt:lpstr>Genus Campylobacter</vt:lpstr>
      <vt:lpstr>Genus Helicobacter</vt:lpstr>
      <vt:lpstr>Epsilonproteobacteria</vt:lpstr>
      <vt:lpstr>Recently Isolated Epsilonbacteria</vt:lpstr>
      <vt:lpstr>Take Home Message</vt:lpstr>
    </vt:vector>
  </TitlesOfParts>
  <Company>University of Central Arkansas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dc:creator>
  <cp:lastModifiedBy>Homa Darmani</cp:lastModifiedBy>
  <cp:revision>56</cp:revision>
  <dcterms:created xsi:type="dcterms:W3CDTF">2016-01-04T02:13:32Z</dcterms:created>
  <dcterms:modified xsi:type="dcterms:W3CDTF">2023-04-15T11:56:07Z</dcterms:modified>
</cp:coreProperties>
</file>