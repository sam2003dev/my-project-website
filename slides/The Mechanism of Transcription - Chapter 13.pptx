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416" r:id="rId2"/>
    <p:sldId id="257" r:id="rId3"/>
    <p:sldId id="313" r:id="rId4"/>
    <p:sldId id="314" r:id="rId5"/>
    <p:sldId id="288" r:id="rId6"/>
    <p:sldId id="315" r:id="rId7"/>
    <p:sldId id="420" r:id="rId8"/>
    <p:sldId id="286" r:id="rId9"/>
    <p:sldId id="316" r:id="rId10"/>
    <p:sldId id="317" r:id="rId11"/>
    <p:sldId id="287" r:id="rId12"/>
    <p:sldId id="319" r:id="rId13"/>
    <p:sldId id="356" r:id="rId14"/>
    <p:sldId id="357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419" r:id="rId23"/>
    <p:sldId id="366" r:id="rId24"/>
    <p:sldId id="367" r:id="rId25"/>
    <p:sldId id="368" r:id="rId26"/>
    <p:sldId id="35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5" r:id="rId43"/>
    <p:sldId id="421" r:id="rId44"/>
    <p:sldId id="386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397" r:id="rId56"/>
    <p:sldId id="398" r:id="rId57"/>
    <p:sldId id="399" r:id="rId58"/>
    <p:sldId id="400" r:id="rId59"/>
    <p:sldId id="401" r:id="rId60"/>
    <p:sldId id="402" r:id="rId61"/>
    <p:sldId id="403" r:id="rId62"/>
    <p:sldId id="404" r:id="rId63"/>
    <p:sldId id="405" r:id="rId64"/>
    <p:sldId id="406" r:id="rId65"/>
    <p:sldId id="407" r:id="rId66"/>
    <p:sldId id="408" r:id="rId67"/>
    <p:sldId id="409" r:id="rId68"/>
    <p:sldId id="410" r:id="rId69"/>
    <p:sldId id="411" r:id="rId70"/>
    <p:sldId id="412" r:id="rId71"/>
    <p:sldId id="422" r:id="rId72"/>
    <p:sldId id="413" r:id="rId73"/>
    <p:sldId id="414" r:id="rId74"/>
    <p:sldId id="415" r:id="rId75"/>
    <p:sldId id="417" r:id="rId7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36" autoAdjust="0"/>
    <p:restoredTop sz="94655" autoAdjust="0"/>
  </p:normalViewPr>
  <p:slideViewPr>
    <p:cSldViewPr>
      <p:cViewPr varScale="1">
        <p:scale>
          <a:sx n="162" d="100"/>
          <a:sy n="162" d="100"/>
        </p:scale>
        <p:origin x="13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0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75561D0F-230D-463D-0C14-83C08DFF78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51D4EFC1-0AC7-043F-870B-60D6C40EE62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220" name="Rectangle 4">
            <a:extLst>
              <a:ext uri="{FF2B5EF4-FFF2-40B4-BE49-F238E27FC236}">
                <a16:creationId xmlns:a16="http://schemas.microsoft.com/office/drawing/2014/main" id="{7A325508-EA28-1A5C-5B61-EE8F3D40900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id="{6AF3B63F-EA2B-27BB-268A-96702F51E9E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4E10653-36DE-EB44-A156-926D447D614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72597FB7-4E56-45C0-6C8A-839C4A5DCA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DD95189C-E873-8F2D-9173-48A42721373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3CDF7E7-D5D9-A768-1E5D-876B81995AE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9925" name="Rectangle 5">
            <a:extLst>
              <a:ext uri="{FF2B5EF4-FFF2-40B4-BE49-F238E27FC236}">
                <a16:creationId xmlns:a16="http://schemas.microsoft.com/office/drawing/2014/main" id="{2E5CEC0A-4FF7-8C12-95A4-E6A4BD4659A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9926" name="Rectangle 6">
            <a:extLst>
              <a:ext uri="{FF2B5EF4-FFF2-40B4-BE49-F238E27FC236}">
                <a16:creationId xmlns:a16="http://schemas.microsoft.com/office/drawing/2014/main" id="{1E733DB3-EF41-A132-FD34-804471EE7A6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27" name="Rectangle 7">
            <a:extLst>
              <a:ext uri="{FF2B5EF4-FFF2-40B4-BE49-F238E27FC236}">
                <a16:creationId xmlns:a16="http://schemas.microsoft.com/office/drawing/2014/main" id="{8BEBDC03-5F43-1ED6-E284-481FA28174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F14869B-5CC8-A146-A35F-D866D5BE2EA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255A180E-270A-5BDB-B2BC-9EDE5CFC5D4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B40B6CE-46A0-0441-87AA-1B25CBBD8258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3E2285F-DF24-6A61-4452-3AE74BDE50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0F900FC-48D2-35A1-9BD9-744C772F4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Figure 13-8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D9585D-1E5F-A0AC-A900-6EF5DCDBAC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BD910-9606-FD48-9062-FD5A6D28EFDB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FB9B48-4A21-C739-1892-F63F9CC738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3473B4-5163-C598-58C6-1EA3A2729D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8047BB-46C0-844A-9498-EF03846C21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20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B34CB0-A573-D985-67EE-C89DEC69D7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6EF7B-B49A-764A-9FF3-B28B9CB8683A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A53BBC-6525-F886-81FC-A10D9EC0D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A598F2-734D-E525-75A8-55933794C7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7C4A56-BA9C-F847-B3BA-8973EDE8DD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137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99FF8B-EDA7-8E38-8F9C-13AD3BDE7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E8F19-17E8-7742-A099-4727A27FF297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575FCA-F689-4DDD-D43D-9E141E3E83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7BE392-0F48-8CB4-796C-B4EFD79B5B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394D30-6111-3B4B-A303-0EBFEB9769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439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94035-7DC4-68D3-D8DF-396AA9FE28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B6F44F-87FC-ED43-BDCC-FC1C6FB3768C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CD935-6B93-1DDE-5CE0-0611ED5B9E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9B877B-92F0-3A55-A8A9-82254AE769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C9BE5C-140D-4846-AE43-D63E138139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378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FC70A02-11BB-61E3-8EB4-395873868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8B129-E467-EE41-B72A-81EF5187C22B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7C80F81-C6B0-4DAC-7927-AD4E8E71A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6872BFC-A46A-6328-29F1-F06B90675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F0790A-20FD-D645-B7A6-654C9CF61A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291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3D01E48-47E7-BA9D-B56E-CB86FE8F5F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C397C-307B-5C47-A6BA-D632D2699365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3FB8169-3742-9F47-9969-11BAECF1F5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423B32-C56B-1CD4-0D04-CB86AF10B1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3C02FB-1A8E-6D4B-8609-619A7BB90B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3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FC271E-CC57-62C4-FF34-EA13D3F066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C20AA-7EA5-BC4A-A8EE-0D8775CAC717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BA39212-654D-FDF9-790B-CBB6FDE9A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05DC46A-0F38-1CBB-A61E-C41917DA0A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08A8BF-44B6-544F-80C4-D633AD9B20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573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8E674-DCAF-BA60-2293-FED9262B7E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8D21FF-D79B-BA4B-9702-87DA169904FF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BCD498-ED84-BA7D-65EF-7E718DEC7C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645FD-E9AA-A5F8-DB64-A443C3DCD6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80A54C-AFF2-5B4E-A23A-0CCB7EDAB5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8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49282-E1EC-3A7E-35CB-905A1B791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92B2C-4159-CA44-8B6B-E6B35F5B8786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D0AFC-1D57-E868-ECB5-FF92D7D313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3F7682-BF88-E2AF-C89B-E24B05E5CC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E9E23C-E044-094C-B7B1-B4950C58D1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779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CAE3E4-D3E7-9A55-8082-DF4CF1A52B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4B5EC-82B2-904F-ABAF-21AAF6F79390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0F127B-6510-1E55-768F-5A6BD10122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4B4DD5-CBDB-7791-D0E5-EE30626BD6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FC3906-02E5-F94F-8AAA-061A800402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22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31088D-8D7A-6DED-F24F-1D808FEEA4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A1F11A-70CC-8140-8643-2F6007E83E79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A1B72B-127B-46DD-9DB5-B5C009AC0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0ECDF5-999A-E15D-2D8E-2BB0340262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67D3F1-D69A-E04D-92C7-72F4F0CD9E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78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5F8F86-E3EE-74B0-535A-FAB25EE73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0B33266-11C7-12E3-3417-02BFCC01F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C69E3AD-3526-5B5F-8B44-7E2E3EB2B1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46976239-DCD7-3846-B21A-D6527323D9F5}" type="datetime1">
              <a:rPr lang="en-US"/>
              <a:pPr>
                <a:defRPr/>
              </a:pPr>
              <a:t>12/1/24</a:t>
            </a:fld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1A4F85E-B484-7B10-B56D-320668AB9A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91B025-3074-1401-C40D-A7970DD812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6048C86C-3634-5F4F-AD3A-70CEC527667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2">
            <a:extLst>
              <a:ext uri="{FF2B5EF4-FFF2-40B4-BE49-F238E27FC236}">
                <a16:creationId xmlns:a16="http://schemas.microsoft.com/office/drawing/2014/main" id="{D308BD97-F94B-B97A-778B-49406D66B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836613"/>
            <a:ext cx="8280400" cy="1152525"/>
          </a:xfrm>
        </p:spPr>
        <p:txBody>
          <a:bodyPr/>
          <a:lstStyle/>
          <a:p>
            <a:r>
              <a:rPr lang="en-US" altLang="en-US" b="1">
                <a:solidFill>
                  <a:srgbClr val="002060"/>
                </a:solidFill>
                <a:ea typeface="ＭＳ Ｐゴシック" panose="020B0600070205080204" pitchFamily="34" charset="-128"/>
              </a:rPr>
              <a:t>Mechanisms of Transcription</a:t>
            </a:r>
            <a:endParaRPr lang="en-US" altLang="en-US">
              <a:solidFill>
                <a:srgbClr val="00206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5C682F7A-1769-3AC3-D909-A126188DA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2349500"/>
            <a:ext cx="6400800" cy="1752600"/>
          </a:xfrm>
        </p:spPr>
        <p:txBody>
          <a:bodyPr/>
          <a:lstStyle/>
          <a:p>
            <a:pPr algn="l"/>
            <a:r>
              <a:rPr lang="en-US" altLang="en-US">
                <a:solidFill>
                  <a:srgbClr val="002060"/>
                </a:solidFill>
                <a:ea typeface="ＭＳ Ｐゴシック" panose="020B0600070205080204" pitchFamily="34" charset="-128"/>
              </a:rPr>
              <a:t>BT 451</a:t>
            </a:r>
          </a:p>
          <a:p>
            <a:pPr algn="l"/>
            <a:r>
              <a:rPr lang="en-US" altLang="en-US">
                <a:solidFill>
                  <a:srgbClr val="002060"/>
                </a:solidFill>
                <a:ea typeface="ＭＳ Ｐゴシック" panose="020B0600070205080204" pitchFamily="34" charset="-128"/>
              </a:rPr>
              <a:t>Chapter 13</a:t>
            </a:r>
          </a:p>
        </p:txBody>
      </p:sp>
      <p:pic>
        <p:nvPicPr>
          <p:cNvPr id="4100" name="Picture 11" descr="13_00Figure-L">
            <a:extLst>
              <a:ext uri="{FF2B5EF4-FFF2-40B4-BE49-F238E27FC236}">
                <a16:creationId xmlns:a16="http://schemas.microsoft.com/office/drawing/2014/main" id="{473CA883-EA23-C166-85EB-145B92F7B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8"/>
          <a:stretch>
            <a:fillRect/>
          </a:stretch>
        </p:blipFill>
        <p:spPr bwMode="auto">
          <a:xfrm>
            <a:off x="5148263" y="3141663"/>
            <a:ext cx="3436937" cy="331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>
            <a:extLst>
              <a:ext uri="{FF2B5EF4-FFF2-40B4-BE49-F238E27FC236}">
                <a16:creationId xmlns:a16="http://schemas.microsoft.com/office/drawing/2014/main" id="{5866CF73-2C22-3531-CF38-F0EF0D3E7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0350"/>
            <a:ext cx="7772400" cy="41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/>
              <a:t>RNA transcription is chemically and enzymatically similar to DNA replication = both involve enzymes that synthesize a new nucleotide strand complementary to a DNA template strand</a:t>
            </a:r>
            <a:endParaRPr lang="el-GR" altLang="en-US" sz="22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But: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i="1">
                <a:cs typeface="Arial" panose="020B0604020202020204" pitchFamily="34" charset="0"/>
              </a:rPr>
              <a:t>New strand made of ribonucleotides: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RNA polymerase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does not </a:t>
            </a: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require a primer (free 3’OH)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>
                <a:cs typeface="Arial" panose="020B0604020202020204" pitchFamily="34" charset="0"/>
              </a:rPr>
              <a:t>RNA product does not remain base-paired to template – displacement is critical to produce protein, multiple transcripts at 1 time from the same gene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cs typeface="Arial" panose="020B0604020202020204" pitchFamily="34" charset="0"/>
            </a:endParaRPr>
          </a:p>
        </p:txBody>
      </p:sp>
      <p:pic>
        <p:nvPicPr>
          <p:cNvPr id="5123" name="Picture 7">
            <a:extLst>
              <a:ext uri="{FF2B5EF4-FFF2-40B4-BE49-F238E27FC236}">
                <a16:creationId xmlns:a16="http://schemas.microsoft.com/office/drawing/2014/main" id="{99FE271B-F1D9-FB30-5334-B1B5C011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652963"/>
            <a:ext cx="8764587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>
            <a:extLst>
              <a:ext uri="{FF2B5EF4-FFF2-40B4-BE49-F238E27FC236}">
                <a16:creationId xmlns:a16="http://schemas.microsoft.com/office/drawing/2014/main" id="{192AD839-FD3B-C49C-7C06-209EC4610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RNA Polymerase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ACF7A2B3-4BCA-CDD9-1C06-F7F34187E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765175"/>
            <a:ext cx="8994775" cy="5262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800"/>
              <a:t>RNA polymerases are generally multisubunit proteins (not viral or organellar)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Prokaryotes have a single RNA polymerase.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b="1">
                <a:solidFill>
                  <a:srgbClr val="FF0000"/>
                </a:solidFill>
                <a:cs typeface="Arial" panose="020B0604020202020204" pitchFamily="34" charset="0"/>
              </a:rPr>
              <a:t>Eukaryotes</a:t>
            </a:r>
            <a:r>
              <a:rPr lang="en-US" altLang="en-US" sz="2800">
                <a:cs typeface="Arial" panose="020B0604020202020204" pitchFamily="34" charset="0"/>
              </a:rPr>
              <a:t> have 3 RNA polymerases: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	</a:t>
            </a:r>
            <a:r>
              <a:rPr lang="en-US" altLang="en-US" sz="2800" b="1">
                <a:cs typeface="Arial" panose="020B0604020202020204" pitchFamily="34" charset="0"/>
              </a:rPr>
              <a:t>Pol I</a:t>
            </a:r>
            <a:r>
              <a:rPr lang="en-US" altLang="en-US" sz="2800">
                <a:cs typeface="Arial" panose="020B0604020202020204" pitchFamily="34" charset="0"/>
              </a:rPr>
              <a:t> transcribes </a:t>
            </a:r>
            <a:r>
              <a:rPr lang="en-US" altLang="en-US" sz="2800" b="1">
                <a:cs typeface="Arial" panose="020B0604020202020204" pitchFamily="34" charset="0"/>
              </a:rPr>
              <a:t>large ribosomal precursor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	</a:t>
            </a:r>
            <a:r>
              <a:rPr lang="en-US" altLang="en-US" sz="2800" b="1" u="sng">
                <a:solidFill>
                  <a:srgbClr val="FF0000"/>
                </a:solidFill>
                <a:cs typeface="Arial" panose="020B0604020202020204" pitchFamily="34" charset="0"/>
              </a:rPr>
              <a:t>Pol II </a:t>
            </a:r>
            <a:r>
              <a:rPr lang="en-US" altLang="en-US" sz="2800" u="sng">
                <a:solidFill>
                  <a:srgbClr val="FF0000"/>
                </a:solidFill>
                <a:cs typeface="Arial" panose="020B0604020202020204" pitchFamily="34" charset="0"/>
              </a:rPr>
              <a:t>transcribes </a:t>
            </a:r>
            <a:r>
              <a:rPr lang="en-US" altLang="en-US" sz="2800" b="1" u="sng">
                <a:solidFill>
                  <a:srgbClr val="FF0000"/>
                </a:solidFill>
                <a:cs typeface="Arial" panose="020B0604020202020204" pitchFamily="34" charset="0"/>
              </a:rPr>
              <a:t>most genes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	</a:t>
            </a:r>
            <a:r>
              <a:rPr lang="en-US" altLang="en-US" sz="2800" b="1">
                <a:cs typeface="Arial" panose="020B0604020202020204" pitchFamily="34" charset="0"/>
              </a:rPr>
              <a:t>Pol III </a:t>
            </a:r>
            <a:r>
              <a:rPr lang="en-US" altLang="en-US" sz="2800">
                <a:cs typeface="Arial" panose="020B0604020202020204" pitchFamily="34" charset="0"/>
              </a:rPr>
              <a:t>transcribes </a:t>
            </a:r>
            <a:r>
              <a:rPr lang="en-US" altLang="en-US" sz="2800" b="1">
                <a:cs typeface="Arial" panose="020B0604020202020204" pitchFamily="34" charset="0"/>
              </a:rPr>
              <a:t>tRNA genes</a:t>
            </a:r>
            <a:r>
              <a:rPr lang="en-US" altLang="en-US" sz="2800">
                <a:cs typeface="Arial" panose="020B0604020202020204" pitchFamily="34" charset="0"/>
              </a:rPr>
              <a:t>, </a:t>
            </a:r>
            <a:r>
              <a:rPr lang="en-US" altLang="en-US" sz="2800" b="1">
                <a:cs typeface="Arial" panose="020B0604020202020204" pitchFamily="34" charset="0"/>
              </a:rPr>
              <a:t>snRNA genes </a:t>
            </a:r>
            <a:r>
              <a:rPr lang="en-US" altLang="en-US" sz="2800">
                <a:cs typeface="Arial" panose="020B0604020202020204" pitchFamily="34" charset="0"/>
              </a:rPr>
              <a:t>and </a:t>
            </a:r>
            <a:r>
              <a:rPr lang="en-US" altLang="en-US" sz="2800" b="1">
                <a:cs typeface="Arial" panose="020B0604020202020204" pitchFamily="34" charset="0"/>
              </a:rPr>
              <a:t>5S rRNA gene</a:t>
            </a:r>
          </a:p>
          <a:p>
            <a:pPr>
              <a:spcBef>
                <a:spcPct val="0"/>
              </a:spcBef>
            </a:pPr>
            <a:r>
              <a:rPr lang="en-US" altLang="en-US" sz="2800">
                <a:solidFill>
                  <a:srgbClr val="C00000"/>
                </a:solidFill>
                <a:cs typeface="Arial" panose="020B0604020202020204" pitchFamily="34" charset="0"/>
              </a:rPr>
              <a:t>Pol IV and Pol V: These are found only in plants, where they transcribe small interfering RNAs involved in transcriptional silencing</a:t>
            </a:r>
            <a:r>
              <a:rPr lang="en-US" altLang="en-US" sz="2800">
                <a:cs typeface="Arial" panose="020B0604020202020204" pitchFamily="34" charset="0"/>
              </a:rPr>
              <a:t>.</a:t>
            </a:r>
            <a:endParaRPr lang="en-US" altLang="en-US" sz="280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2D0C6DA0-E8AA-3627-E44F-0D45A3562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RNA Polymerase</a:t>
            </a:r>
          </a:p>
        </p:txBody>
      </p:sp>
      <p:sp>
        <p:nvSpPr>
          <p:cNvPr id="7171" name="Text Box 4">
            <a:extLst>
              <a:ext uri="{FF2B5EF4-FFF2-40B4-BE49-F238E27FC236}">
                <a16:creationId xmlns:a16="http://schemas.microsoft.com/office/drawing/2014/main" id="{BAD6D3D9-CD42-4122-8AB3-8FB6328A9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508500"/>
            <a:ext cx="7924800" cy="1508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/>
              <a:t>Bacterial RNA polymerase </a:t>
            </a:r>
            <a:r>
              <a:rPr lang="en-US" altLang="en-US" sz="2400" b="1">
                <a:solidFill>
                  <a:srgbClr val="FF0000"/>
                </a:solidFill>
              </a:rPr>
              <a:t>core enzyme </a:t>
            </a:r>
            <a:r>
              <a:rPr lang="en-US" altLang="en-US" sz="2400"/>
              <a:t>can synth. RNA and is composed of </a:t>
            </a:r>
            <a:r>
              <a:rPr lang="en-US" altLang="en-US" sz="2400" b="1">
                <a:solidFill>
                  <a:srgbClr val="C00000"/>
                </a:solidFill>
              </a:rPr>
              <a:t>2x </a:t>
            </a:r>
            <a:r>
              <a:rPr lang="el-GR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α</a:t>
            </a:r>
            <a:r>
              <a:rPr lang="en-US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el-GR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β</a:t>
            </a:r>
            <a:r>
              <a:rPr lang="en-US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el-GR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β</a:t>
            </a:r>
            <a:r>
              <a:rPr lang="en-US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’ and </a:t>
            </a:r>
            <a:r>
              <a:rPr lang="el-GR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ω</a:t>
            </a:r>
            <a:r>
              <a:rPr lang="en-US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7172" name="Text Box 5">
            <a:extLst>
              <a:ext uri="{FF2B5EF4-FFF2-40B4-BE49-F238E27FC236}">
                <a16:creationId xmlns:a16="http://schemas.microsoft.com/office/drawing/2014/main" id="{1D4C95CC-6A14-5703-17B2-848C9614B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2205038"/>
            <a:ext cx="1581150" cy="641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Homologous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subunits</a:t>
            </a:r>
          </a:p>
        </p:txBody>
      </p:sp>
      <p:sp>
        <p:nvSpPr>
          <p:cNvPr id="7173" name="Date Placeholder 7">
            <a:extLst>
              <a:ext uri="{FF2B5EF4-FFF2-40B4-BE49-F238E27FC236}">
                <a16:creationId xmlns:a16="http://schemas.microsoft.com/office/drawing/2014/main" id="{8777BB6C-17A4-759F-B1EF-6E4A2A05EC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5B7C36-4E60-1C49-B471-291D56D79F7B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pic>
        <p:nvPicPr>
          <p:cNvPr id="7174" name="Picture 3" descr="13_01Table-L">
            <a:extLst>
              <a:ext uri="{FF2B5EF4-FFF2-40B4-BE49-F238E27FC236}">
                <a16:creationId xmlns:a16="http://schemas.microsoft.com/office/drawing/2014/main" id="{0BA9225A-CA3F-199F-289B-5D2A9CE6A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3"/>
          <a:stretch>
            <a:fillRect/>
          </a:stretch>
        </p:blipFill>
        <p:spPr bwMode="auto">
          <a:xfrm>
            <a:off x="317500" y="539750"/>
            <a:ext cx="7092950" cy="368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 descr="fg12-02">
            <a:extLst>
              <a:ext uri="{FF2B5EF4-FFF2-40B4-BE49-F238E27FC236}">
                <a16:creationId xmlns:a16="http://schemas.microsoft.com/office/drawing/2014/main" id="{7CF29940-3955-489B-8382-542B118DB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388" y="762000"/>
            <a:ext cx="57912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5">
            <a:extLst>
              <a:ext uri="{FF2B5EF4-FFF2-40B4-BE49-F238E27FC236}">
                <a16:creationId xmlns:a16="http://schemas.microsoft.com/office/drawing/2014/main" id="{9D9AA397-4C86-F8D6-F610-055A1D1B5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62200"/>
            <a:ext cx="3975100" cy="1970088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457200"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342900" indent="-342900" eaLnBrk="1" hangingPunct="1">
              <a:buFontTx/>
              <a:buChar char="•"/>
              <a:defRPr/>
            </a:pPr>
            <a:r>
              <a:rPr lang="en-US" altLang="en-US" sz="2200" b="1"/>
              <a:t>Structure is similar to yeast Pol II – particularly in functional regions</a:t>
            </a:r>
            <a:endParaRPr lang="el-GR" altLang="en-US" sz="2200" b="1">
              <a:cs typeface="Arial" charset="0"/>
            </a:endParaRPr>
          </a:p>
          <a:p>
            <a:pPr marL="342900" indent="-342900" eaLnBrk="1" hangingPunct="1">
              <a:defRPr/>
            </a:pPr>
            <a:endParaRPr lang="en-US" altLang="en-US" sz="1200" b="1">
              <a:cs typeface="Arial" charset="0"/>
            </a:endParaRPr>
          </a:p>
          <a:p>
            <a:pPr marL="342900" indent="-342900" eaLnBrk="1" hangingPunct="1">
              <a:buFontTx/>
              <a:buChar char="•"/>
              <a:defRPr/>
            </a:pPr>
            <a:r>
              <a:rPr lang="en-US" altLang="en-US" sz="2200" b="1">
                <a:cs typeface="Arial" charset="0"/>
              </a:rPr>
              <a:t>Structure is more similar than sequence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A08F5797-32B9-D841-7EA8-A17FD0B28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63513"/>
            <a:ext cx="8318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Bacterial and Eukaryotic RNA Polymerase</a:t>
            </a:r>
          </a:p>
        </p:txBody>
      </p:sp>
      <p:sp>
        <p:nvSpPr>
          <p:cNvPr id="8197" name="Text Box 6">
            <a:extLst>
              <a:ext uri="{FF2B5EF4-FFF2-40B4-BE49-F238E27FC236}">
                <a16:creationId xmlns:a16="http://schemas.microsoft.com/office/drawing/2014/main" id="{6EF5AC0B-9063-E84B-452A-E60849923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295400"/>
            <a:ext cx="1149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Bacteria </a:t>
            </a:r>
          </a:p>
        </p:txBody>
      </p:sp>
      <p:sp>
        <p:nvSpPr>
          <p:cNvPr id="8198" name="Text Box 7">
            <a:extLst>
              <a:ext uri="{FF2B5EF4-FFF2-40B4-BE49-F238E27FC236}">
                <a16:creationId xmlns:a16="http://schemas.microsoft.com/office/drawing/2014/main" id="{47269EBD-41F1-8D8D-8988-0894095E7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0" y="4343400"/>
            <a:ext cx="85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Yeast </a:t>
            </a:r>
          </a:p>
        </p:txBody>
      </p:sp>
      <p:sp>
        <p:nvSpPr>
          <p:cNvPr id="8199" name="Date Placeholder 8">
            <a:extLst>
              <a:ext uri="{FF2B5EF4-FFF2-40B4-BE49-F238E27FC236}">
                <a16:creationId xmlns:a16="http://schemas.microsoft.com/office/drawing/2014/main" id="{470951E3-642C-D416-6BDF-90DAD048B1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0EF05C-9D97-4C4A-9050-FE772E9B334D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>
            <a:extLst>
              <a:ext uri="{FF2B5EF4-FFF2-40B4-BE49-F238E27FC236}">
                <a16:creationId xmlns:a16="http://schemas.microsoft.com/office/drawing/2014/main" id="{61DCA1ED-AE8F-3838-906D-0FD05200D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0"/>
            <a:ext cx="3429000" cy="2416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/>
              <a:t>Shape is </a:t>
            </a:r>
            <a:r>
              <a:rPr lang="en-US" altLang="en-US" sz="2000" b="1">
                <a:solidFill>
                  <a:srgbClr val="C00000"/>
                </a:solidFill>
              </a:rPr>
              <a:t>claw-like</a:t>
            </a:r>
            <a:r>
              <a:rPr lang="en-US" altLang="en-US" sz="2000" b="1"/>
              <a:t>, similar to “hand” model of DNA polymerase</a:t>
            </a:r>
            <a:endParaRPr lang="el-GR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1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Active center cleft binds two 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Mg2+ ions </a:t>
            </a:r>
            <a:r>
              <a:rPr lang="en-US" altLang="en-US" sz="2000" b="1">
                <a:cs typeface="Arial" panose="020B0604020202020204" pitchFamily="34" charset="0"/>
              </a:rPr>
              <a:t>- similar to DNA polymerase.</a:t>
            </a: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6DE3FDB3-1D81-0E17-DCD6-03DC89543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3429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Bacterial and Eukaryotic RNA Polymerase</a:t>
            </a:r>
          </a:p>
        </p:txBody>
      </p:sp>
      <p:sp>
        <p:nvSpPr>
          <p:cNvPr id="9220" name="Text Box 5">
            <a:extLst>
              <a:ext uri="{FF2B5EF4-FFF2-40B4-BE49-F238E27FC236}">
                <a16:creationId xmlns:a16="http://schemas.microsoft.com/office/drawing/2014/main" id="{1CD6E6C2-EC6E-CFAB-625C-4FEE138BA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990600"/>
            <a:ext cx="1517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DNA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polymerase </a:t>
            </a:r>
          </a:p>
        </p:txBody>
      </p:sp>
      <p:sp>
        <p:nvSpPr>
          <p:cNvPr id="9221" name="Text Box 6">
            <a:extLst>
              <a:ext uri="{FF2B5EF4-FFF2-40B4-BE49-F238E27FC236}">
                <a16:creationId xmlns:a16="http://schemas.microsoft.com/office/drawing/2014/main" id="{D149008C-534F-CE9E-D19E-09B9AB622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038600"/>
            <a:ext cx="1517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RNA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polymerase </a:t>
            </a:r>
          </a:p>
        </p:txBody>
      </p:sp>
      <p:pic>
        <p:nvPicPr>
          <p:cNvPr id="9222" name="Picture 7">
            <a:extLst>
              <a:ext uri="{FF2B5EF4-FFF2-40B4-BE49-F238E27FC236}">
                <a16:creationId xmlns:a16="http://schemas.microsoft.com/office/drawing/2014/main" id="{E3D3DDFA-25DB-D10D-8641-AB7477DE5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533400"/>
            <a:ext cx="26670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8" descr="fg12-081">
            <a:extLst>
              <a:ext uri="{FF2B5EF4-FFF2-40B4-BE49-F238E27FC236}">
                <a16:creationId xmlns:a16="http://schemas.microsoft.com/office/drawing/2014/main" id="{6B94E6D8-3E75-433F-E6D5-756E73BE9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214688"/>
            <a:ext cx="38862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9">
            <a:extLst>
              <a:ext uri="{FF2B5EF4-FFF2-40B4-BE49-F238E27FC236}">
                <a16:creationId xmlns:a16="http://schemas.microsoft.com/office/drawing/2014/main" id="{52799DCA-9FA1-8621-D5B1-D5CB6D355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4038600"/>
            <a:ext cx="319087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1">
            <a:extLst>
              <a:ext uri="{FF2B5EF4-FFF2-40B4-BE49-F238E27FC236}">
                <a16:creationId xmlns:a16="http://schemas.microsoft.com/office/drawing/2014/main" id="{EDED721E-FA71-0292-4E1D-2F6BEFF209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7A3F67-A280-1340-A69F-A2FE581C689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12/1/24</a:t>
            </a:fld>
            <a:endParaRPr lang="en-US" altLang="en-US" sz="1400"/>
          </a:p>
        </p:txBody>
      </p:sp>
      <p:pic>
        <p:nvPicPr>
          <p:cNvPr id="10243" name="Picture 2">
            <a:extLst>
              <a:ext uri="{FF2B5EF4-FFF2-40B4-BE49-F238E27FC236}">
                <a16:creationId xmlns:a16="http://schemas.microsoft.com/office/drawing/2014/main" id="{8A88FC74-DE9F-CA31-6C5B-3A292B585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908050"/>
            <a:ext cx="5472112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3">
            <a:extLst>
              <a:ext uri="{FF2B5EF4-FFF2-40B4-BE49-F238E27FC236}">
                <a16:creationId xmlns:a16="http://schemas.microsoft.com/office/drawing/2014/main" id="{33047C05-D500-3DD4-E265-FCA19145B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684588"/>
            <a:ext cx="6769100" cy="302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E61966-52C1-BABB-C2BF-FE50AB4B6C58}"/>
              </a:ext>
            </a:extLst>
          </p:cNvPr>
          <p:cNvSpPr/>
          <p:nvPr/>
        </p:nvSpPr>
        <p:spPr>
          <a:xfrm>
            <a:off x="0" y="115888"/>
            <a:ext cx="4572000" cy="58578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7030A0"/>
                </a:solidFill>
              </a:rPr>
              <a:t>Promoter sequences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E6607524-7746-BEDD-812C-5157F4479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8200"/>
            <a:ext cx="5334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/>
              <a:t>Transcription proceeds in steps: </a:t>
            </a:r>
            <a:r>
              <a:rPr lang="en-US" altLang="en-US" sz="2000" b="1">
                <a:solidFill>
                  <a:srgbClr val="C00000"/>
                </a:solidFill>
              </a:rPr>
              <a:t>Initiation, Elongation and Termination</a:t>
            </a:r>
          </a:p>
          <a:p>
            <a:pPr eaLnBrk="1" hangingPunct="1">
              <a:spcBef>
                <a:spcPct val="0"/>
              </a:spcBef>
            </a:pPr>
            <a:endParaRPr lang="en-US" altLang="en-US" sz="2000" b="1"/>
          </a:p>
          <a:p>
            <a:pPr eaLnBrk="1" hangingPunct="1">
              <a:spcBef>
                <a:spcPct val="0"/>
              </a:spcBef>
            </a:pPr>
            <a:r>
              <a:rPr lang="en-US" altLang="en-US" sz="2000" b="1" u="sng"/>
              <a:t>Initiation</a:t>
            </a:r>
            <a:r>
              <a:rPr lang="en-US" altLang="en-US" sz="2000" b="1"/>
              <a:t> = RNA pol binds to sp. DNA seq. – promoter – in sp. orientation</a:t>
            </a:r>
            <a:endParaRPr lang="el-GR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Promoter-pol complex undergoes structural changes, bubble of DNA unwinds - </a:t>
            </a:r>
            <a:r>
              <a:rPr lang="en-US" altLang="en-US" sz="2000" b="1" u="sng">
                <a:cs typeface="Arial" panose="020B0604020202020204" pitchFamily="34" charset="0"/>
              </a:rPr>
              <a:t>transcription bubble</a:t>
            </a:r>
            <a:endParaRPr lang="en-US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Transcription occurs only 5’ to 3’ and only one DNA strand is copied</a:t>
            </a:r>
          </a:p>
          <a:p>
            <a:pPr eaLnBrk="1" hangingPunct="1">
              <a:spcBef>
                <a:spcPct val="0"/>
              </a:spcBef>
            </a:pPr>
            <a:endParaRPr lang="en-US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Choice of promoter determines which strand is copied = regulation</a:t>
            </a:r>
          </a:p>
          <a:p>
            <a:pPr eaLnBrk="1" hangingPunct="1">
              <a:spcBef>
                <a:spcPct val="0"/>
              </a:spcBef>
            </a:pPr>
            <a:endParaRPr lang="en-US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 u="sng">
                <a:cs typeface="Arial" panose="020B0604020202020204" pitchFamily="34" charset="0"/>
              </a:rPr>
              <a:t>Initiation determines what genes are transcribed where and when</a:t>
            </a:r>
            <a:endParaRPr lang="en-US" altLang="en-US" sz="2000" b="1">
              <a:cs typeface="Arial" panose="020B0604020202020204" pitchFamily="34" charset="0"/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23FD3E93-01C6-F663-08CD-EBCC9211F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"/>
            <a:ext cx="320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Transcription</a:t>
            </a:r>
          </a:p>
        </p:txBody>
      </p:sp>
      <p:sp>
        <p:nvSpPr>
          <p:cNvPr id="11268" name="Date Placeholder 6">
            <a:extLst>
              <a:ext uri="{FF2B5EF4-FFF2-40B4-BE49-F238E27FC236}">
                <a16:creationId xmlns:a16="http://schemas.microsoft.com/office/drawing/2014/main" id="{3D0D1E4C-E585-8E1B-F1A9-AD568DBE72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D339F7-733E-F34F-9581-AF204CC4C6E6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pic>
        <p:nvPicPr>
          <p:cNvPr id="11269" name="Picture 3" descr="13_03Figure-L">
            <a:extLst>
              <a:ext uri="{FF2B5EF4-FFF2-40B4-BE49-F238E27FC236}">
                <a16:creationId xmlns:a16="http://schemas.microsoft.com/office/drawing/2014/main" id="{34F4D01C-3012-3FDB-23F4-9B03B4922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6084888" y="144463"/>
            <a:ext cx="3059112" cy="668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7D525CD3-F6EF-14B5-430E-AA0D8B183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268413"/>
            <a:ext cx="5184775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400" b="1" u="sng"/>
              <a:t>Elongation</a:t>
            </a:r>
            <a:r>
              <a:rPr lang="en-US" altLang="en-US" sz="2400" b="1"/>
              <a:t> = after ~10 bases have been transcribed pol shifts to elongation phase</a:t>
            </a:r>
            <a:endParaRPr lang="el-GR" altLang="en-US" sz="24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4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>
                <a:cs typeface="Arial" panose="020B0604020202020204" pitchFamily="34" charset="0"/>
              </a:rPr>
              <a:t>Polymerase undergoes further structural changes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>
                <a:cs typeface="Arial" panose="020B0604020202020204" pitchFamily="34" charset="0"/>
              </a:rPr>
              <a:t>DNA is opened and reclosed, RNA is transcribed and proofread and dissociated from DNA – </a:t>
            </a:r>
            <a:r>
              <a:rPr lang="en-US" altLang="en-US" sz="2400" b="1" u="sng">
                <a:cs typeface="Arial" panose="020B0604020202020204" pitchFamily="34" charset="0"/>
              </a:rPr>
              <a:t>all from one enzyme </a:t>
            </a:r>
            <a:r>
              <a:rPr lang="en-US" altLang="en-US" sz="2400" b="1">
                <a:cs typeface="Arial" panose="020B0604020202020204" pitchFamily="34" charset="0"/>
              </a:rPr>
              <a:t>(in contrast to replication</a:t>
            </a:r>
            <a:r>
              <a:rPr lang="en-US" altLang="en-US" sz="2200" b="1"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12291" name="Date Placeholder 6">
            <a:extLst>
              <a:ext uri="{FF2B5EF4-FFF2-40B4-BE49-F238E27FC236}">
                <a16:creationId xmlns:a16="http://schemas.microsoft.com/office/drawing/2014/main" id="{6243C91F-C866-562C-C481-08939C1C0A3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9F3B36-9A17-964F-9959-6635F6C348E8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pic>
        <p:nvPicPr>
          <p:cNvPr id="12292" name="Picture 3" descr="13_03Figure-L">
            <a:extLst>
              <a:ext uri="{FF2B5EF4-FFF2-40B4-BE49-F238E27FC236}">
                <a16:creationId xmlns:a16="http://schemas.microsoft.com/office/drawing/2014/main" id="{4CCD94C8-544B-F083-D2AA-ABEFBB26F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940425" y="173038"/>
            <a:ext cx="3022600" cy="668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37D597E8-7F02-30B3-1DB2-1CB709441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4343400" cy="344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 u="sng"/>
              <a:t>Termination</a:t>
            </a:r>
            <a:r>
              <a:rPr lang="en-US" altLang="en-US" sz="2200" b="1"/>
              <a:t> = at end of gene transcription is stopped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In some cells, there are well- characterized seq.s, in others the process is less clear.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13315" name="Date Placeholder 6">
            <a:extLst>
              <a:ext uri="{FF2B5EF4-FFF2-40B4-BE49-F238E27FC236}">
                <a16:creationId xmlns:a16="http://schemas.microsoft.com/office/drawing/2014/main" id="{F12BEC38-F71E-4E31-D455-7CEE25D294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0243F3-627D-C04E-89F5-1C8CD3596BC2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pic>
        <p:nvPicPr>
          <p:cNvPr id="13316" name="Picture 3" descr="13_03Figure-L">
            <a:extLst>
              <a:ext uri="{FF2B5EF4-FFF2-40B4-BE49-F238E27FC236}">
                <a16:creationId xmlns:a16="http://schemas.microsoft.com/office/drawing/2014/main" id="{EF533E0C-FE53-99C1-0EE8-122D67DC9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6011863" y="152400"/>
            <a:ext cx="2879725" cy="668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B4B1C449-4A01-DB5B-ABE4-6882E39E0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1052513"/>
            <a:ext cx="4124325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Initiation can be broken into a series of steps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The pol binds to the DNA = </a:t>
            </a:r>
            <a:r>
              <a:rPr lang="en-US" altLang="en-US" sz="2200" b="1" u="sng"/>
              <a:t>closed complex</a:t>
            </a:r>
            <a:r>
              <a:rPr lang="en-US" altLang="en-US" sz="2200" b="1"/>
              <a:t>, DNA is ds, enzyme is bound to one face of the DNA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2</a:t>
            </a:r>
            <a:r>
              <a:rPr lang="en-US" altLang="en-US" sz="2200" b="1" baseline="30000">
                <a:cs typeface="Arial" panose="020B0604020202020204" pitchFamily="34" charset="0"/>
              </a:rPr>
              <a:t>nd</a:t>
            </a:r>
            <a:r>
              <a:rPr lang="en-US" altLang="en-US" sz="2200" b="1">
                <a:cs typeface="Arial" panose="020B0604020202020204" pitchFamily="34" charset="0"/>
              </a:rPr>
              <a:t> step, open complex, DNA strands separate for ~14bp around start site = transcription bubble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Template strand is free, 1</a:t>
            </a:r>
            <a:r>
              <a:rPr lang="en-US" altLang="en-US" sz="2200" b="1" baseline="30000">
                <a:cs typeface="Arial" panose="020B0604020202020204" pitchFamily="34" charset="0"/>
              </a:rPr>
              <a:t>st</a:t>
            </a:r>
            <a:r>
              <a:rPr lang="en-US" altLang="en-US" sz="2200" b="1">
                <a:cs typeface="Arial" panose="020B0604020202020204" pitchFamily="34" charset="0"/>
              </a:rPr>
              <a:t> </a:t>
            </a:r>
            <a:r>
              <a:rPr lang="en-US" altLang="en-US" sz="2200" b="1" u="sng">
                <a:cs typeface="Arial" panose="020B0604020202020204" pitchFamily="34" charset="0"/>
              </a:rPr>
              <a:t>two</a:t>
            </a:r>
            <a:r>
              <a:rPr lang="en-US" altLang="en-US" sz="2200" b="1">
                <a:cs typeface="Arial" panose="020B0604020202020204" pitchFamily="34" charset="0"/>
              </a:rPr>
              <a:t> ribonucleotides enter active site, are aligned to template and joined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B90CCDD5-2086-988B-D4CE-FD53A6304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Initiation</a:t>
            </a:r>
          </a:p>
        </p:txBody>
      </p:sp>
      <p:pic>
        <p:nvPicPr>
          <p:cNvPr id="14340" name="Picture 5">
            <a:extLst>
              <a:ext uri="{FF2B5EF4-FFF2-40B4-BE49-F238E27FC236}">
                <a16:creationId xmlns:a16="http://schemas.microsoft.com/office/drawing/2014/main" id="{BAAD01DE-C52C-7F82-C794-F26B335C4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838200"/>
            <a:ext cx="370681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Date Placeholder 6">
            <a:extLst>
              <a:ext uri="{FF2B5EF4-FFF2-40B4-BE49-F238E27FC236}">
                <a16:creationId xmlns:a16="http://schemas.microsoft.com/office/drawing/2014/main" id="{DEC92217-78C9-595B-21E2-682EE98826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7868B1-7877-A642-830B-9B171E28861A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1F3CDF71-87A2-A415-6B82-93A507F39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8" y="1314450"/>
            <a:ext cx="4340225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Pol now moves along template adding ribonucleotides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Incorporation for first 10 bases is inefficient and often aborted - initial transcribing complex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After ~10 bases, the pol has “</a:t>
            </a:r>
            <a:r>
              <a:rPr lang="en-US" altLang="en-US" sz="2200" b="1" u="sng">
                <a:cs typeface="Arial" panose="020B0604020202020204" pitchFamily="34" charset="0"/>
              </a:rPr>
              <a:t>escaped</a:t>
            </a:r>
            <a:r>
              <a:rPr lang="en-US" altLang="en-US" sz="2200" b="1">
                <a:cs typeface="Arial" panose="020B0604020202020204" pitchFamily="34" charset="0"/>
              </a:rPr>
              <a:t>” the promoter and forms a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stable ternary complex </a:t>
            </a:r>
            <a:r>
              <a:rPr lang="en-US" altLang="en-US" sz="2200" b="1">
                <a:cs typeface="Arial" panose="020B0604020202020204" pitchFamily="34" charset="0"/>
              </a:rPr>
              <a:t>of enzyme, DNA and RNA = </a:t>
            </a:r>
            <a:r>
              <a:rPr lang="en-US" altLang="en-US" sz="2200" b="1" u="sng">
                <a:cs typeface="Arial" panose="020B0604020202020204" pitchFamily="34" charset="0"/>
              </a:rPr>
              <a:t>elongation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</p:txBody>
      </p:sp>
      <p:pic>
        <p:nvPicPr>
          <p:cNvPr id="15363" name="Picture 4">
            <a:extLst>
              <a:ext uri="{FF2B5EF4-FFF2-40B4-BE49-F238E27FC236}">
                <a16:creationId xmlns:a16="http://schemas.microsoft.com/office/drawing/2014/main" id="{3CE3D6F9-D71B-1E1D-A63A-771D441CE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838200"/>
            <a:ext cx="370681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Date Placeholder 6">
            <a:extLst>
              <a:ext uri="{FF2B5EF4-FFF2-40B4-BE49-F238E27FC236}">
                <a16:creationId xmlns:a16="http://schemas.microsoft.com/office/drawing/2014/main" id="{73587A97-F643-CF38-90AE-8FAB60763C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D8B31F-FBF1-4C4B-8A51-8934CC9420A3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EC81354D-EF50-C7FF-3D80-45B53A0C6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90600"/>
            <a:ext cx="400685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 i="1"/>
              <a:t>in vivo</a:t>
            </a:r>
            <a:r>
              <a:rPr lang="en-US" altLang="en-US" sz="2200" b="1"/>
              <a:t>, pol only initiates transcription at </a:t>
            </a:r>
            <a:r>
              <a:rPr lang="en-US" altLang="en-US" sz="2200" b="1">
                <a:solidFill>
                  <a:srgbClr val="C00000"/>
                </a:solidFill>
              </a:rPr>
              <a:t>promoters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Specificity is a fx of </a:t>
            </a:r>
            <a:r>
              <a:rPr lang="en-US" altLang="en-US" sz="2200" b="1">
                <a:solidFill>
                  <a:srgbClr val="C00000"/>
                </a:solidFill>
              </a:rPr>
              <a:t>initiation factor, </a:t>
            </a:r>
            <a:r>
              <a:rPr lang="el-GR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σ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RNA pol and </a:t>
            </a:r>
            <a:r>
              <a:rPr lang="el-GR" altLang="en-US" sz="2200" b="1">
                <a:cs typeface="Arial" panose="020B0604020202020204" pitchFamily="34" charset="0"/>
              </a:rPr>
              <a:t>σ</a:t>
            </a:r>
            <a:r>
              <a:rPr lang="en-US" altLang="en-US" sz="2200" b="1">
                <a:cs typeface="Arial" panose="020B0604020202020204" pitchFamily="34" charset="0"/>
              </a:rPr>
              <a:t> = 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holoenzyme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l-GR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σ</a:t>
            </a:r>
            <a:r>
              <a:rPr lang="en-US" altLang="en-US" sz="2200" b="1" baseline="30000">
                <a:solidFill>
                  <a:srgbClr val="FF0000"/>
                </a:solidFill>
                <a:cs typeface="Arial" panose="020B0604020202020204" pitchFamily="34" charset="0"/>
              </a:rPr>
              <a:t>70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="1">
                <a:cs typeface="Arial" panose="020B0604020202020204" pitchFamily="34" charset="0"/>
              </a:rPr>
              <a:t>is predominant factor in </a:t>
            </a:r>
            <a:r>
              <a:rPr lang="en-US" altLang="en-US" sz="2200" b="1" i="1">
                <a:cs typeface="Arial" panose="020B0604020202020204" pitchFamily="34" charset="0"/>
              </a:rPr>
              <a:t>E. coli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7A688DC3-17D7-BE25-7F38-3F5D09A56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Transcription in </a:t>
            </a:r>
            <a:r>
              <a:rPr lang="en-US" altLang="en-US" b="1">
                <a:solidFill>
                  <a:srgbClr val="FF0000"/>
                </a:solidFill>
              </a:rPr>
              <a:t>Bacteria</a:t>
            </a:r>
          </a:p>
        </p:txBody>
      </p:sp>
      <p:pic>
        <p:nvPicPr>
          <p:cNvPr id="16388" name="Picture 4" descr="fg12-041">
            <a:extLst>
              <a:ext uri="{FF2B5EF4-FFF2-40B4-BE49-F238E27FC236}">
                <a16:creationId xmlns:a16="http://schemas.microsoft.com/office/drawing/2014/main" id="{1580D33C-E638-2762-136E-3DBC0590C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838200"/>
            <a:ext cx="5010150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Line 5">
            <a:extLst>
              <a:ext uri="{FF2B5EF4-FFF2-40B4-BE49-F238E27FC236}">
                <a16:creationId xmlns:a16="http://schemas.microsoft.com/office/drawing/2014/main" id="{E36BE038-DB81-72D2-0BE6-22B60D1437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3962400"/>
            <a:ext cx="3048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FBC95F64-7C8E-98D4-CE02-6D9C53A44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876800"/>
            <a:ext cx="176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Core enzyme</a:t>
            </a:r>
          </a:p>
        </p:txBody>
      </p:sp>
      <p:sp>
        <p:nvSpPr>
          <p:cNvPr id="16391" name="Line 7">
            <a:extLst>
              <a:ext uri="{FF2B5EF4-FFF2-40B4-BE49-F238E27FC236}">
                <a16:creationId xmlns:a16="http://schemas.microsoft.com/office/drawing/2014/main" id="{220ECAB6-F154-CD35-E14C-10A5F81BF4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2971800"/>
            <a:ext cx="53340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Text Box 8">
            <a:extLst>
              <a:ext uri="{FF2B5EF4-FFF2-40B4-BE49-F238E27FC236}">
                <a16:creationId xmlns:a16="http://schemas.microsoft.com/office/drawing/2014/main" id="{191C89B7-EBD1-E55A-675E-EDE54C1CB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105400"/>
            <a:ext cx="541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2000" b="1">
                <a:cs typeface="Arial" panose="020B0604020202020204" pitchFamily="34" charset="0"/>
              </a:rPr>
              <a:t>σ</a:t>
            </a:r>
            <a:r>
              <a:rPr lang="en-US" altLang="en-US" sz="2000" b="1" baseline="30000">
                <a:cs typeface="Arial" panose="020B0604020202020204" pitchFamily="34" charset="0"/>
              </a:rPr>
              <a:t>70</a:t>
            </a:r>
            <a:endParaRPr lang="el-GR" altLang="en-US" sz="2000" b="1" baseline="300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1">
            <a:extLst>
              <a:ext uri="{FF2B5EF4-FFF2-40B4-BE49-F238E27FC236}">
                <a16:creationId xmlns:a16="http://schemas.microsoft.com/office/drawing/2014/main" id="{CDF2FEF8-FF30-9328-183B-EA5826E885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391817-8BAE-0646-B423-6B0E972C46A3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A861F889-1628-FD65-14B4-62A11DA96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828800"/>
            <a:ext cx="41148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/>
              <a:t>Promoters recognized by </a:t>
            </a:r>
            <a:r>
              <a:rPr lang="el-GR" altLang="en-US" sz="2000" b="1">
                <a:cs typeface="Arial" panose="020B0604020202020204" pitchFamily="34" charset="0"/>
              </a:rPr>
              <a:t>σ</a:t>
            </a:r>
            <a:r>
              <a:rPr lang="en-US" altLang="en-US" sz="2000" b="1" baseline="30000">
                <a:cs typeface="Arial" panose="020B0604020202020204" pitchFamily="34" charset="0"/>
              </a:rPr>
              <a:t>70</a:t>
            </a:r>
            <a:r>
              <a:rPr lang="en-US" altLang="en-US" sz="2000" b="1">
                <a:cs typeface="Arial" panose="020B0604020202020204" pitchFamily="34" charset="0"/>
              </a:rPr>
              <a:t> have two conserved seq. each of 6 nucleotides, -10 and -35 elements (beginning of RNA chain is +1)</a:t>
            </a:r>
          </a:p>
          <a:p>
            <a:pPr eaLnBrk="1" hangingPunct="1">
              <a:spcBef>
                <a:spcPct val="0"/>
              </a:spcBef>
            </a:pPr>
            <a:endParaRPr lang="en-US" altLang="en-US" sz="9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-10 and -35 seq. are not identical - consensus </a:t>
            </a:r>
            <a:r>
              <a:rPr lang="en-US" altLang="en-US" sz="2000" b="1" u="sng">
                <a:cs typeface="Arial" panose="020B0604020202020204" pitchFamily="34" charset="0"/>
              </a:rPr>
              <a:t>sequence</a:t>
            </a:r>
            <a:r>
              <a:rPr lang="en-US" altLang="en-US" sz="2000" b="1">
                <a:cs typeface="Arial" panose="020B0604020202020204" pitchFamily="34" charset="0"/>
              </a:rPr>
              <a:t>, and </a:t>
            </a:r>
            <a:r>
              <a:rPr lang="en-US" altLang="en-US" sz="2000" b="1" u="sng">
                <a:cs typeface="Arial" panose="020B0604020202020204" pitchFamily="34" charset="0"/>
              </a:rPr>
              <a:t>spacing</a:t>
            </a:r>
            <a:endParaRPr lang="el-GR" altLang="en-US" sz="2000" b="1" u="sng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0E7926F3-0078-74C1-CBAE-F296BC362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Bacterial Promoters</a:t>
            </a:r>
          </a:p>
        </p:txBody>
      </p:sp>
      <p:pic>
        <p:nvPicPr>
          <p:cNvPr id="17413" name="Picture 5" descr="12_Figure05">
            <a:extLst>
              <a:ext uri="{FF2B5EF4-FFF2-40B4-BE49-F238E27FC236}">
                <a16:creationId xmlns:a16="http://schemas.microsoft.com/office/drawing/2014/main" id="{39FB62ED-D64D-EC62-F504-3A921B253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838200"/>
            <a:ext cx="45815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1">
            <a:extLst>
              <a:ext uri="{FF2B5EF4-FFF2-40B4-BE49-F238E27FC236}">
                <a16:creationId xmlns:a16="http://schemas.microsoft.com/office/drawing/2014/main" id="{5A713499-B1B5-A410-8AD8-DEA6A22528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03C441-C49C-1647-9B06-E28307A2B574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F5A21F0C-6A5E-A1E3-2FA0-4D28070E4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44675"/>
            <a:ext cx="4343400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Promoters are heterogeneous, some stronger than others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Promoters closer to consensus are generally “stronger” than those w/ poor match – more transcripts per unit time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18436" name="Picture 5" descr="12_Figure05">
            <a:extLst>
              <a:ext uri="{FF2B5EF4-FFF2-40B4-BE49-F238E27FC236}">
                <a16:creationId xmlns:a16="http://schemas.microsoft.com/office/drawing/2014/main" id="{1D847C1A-D74D-3636-CFA5-49C5A3E8D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206500"/>
            <a:ext cx="45815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1">
            <a:extLst>
              <a:ext uri="{FF2B5EF4-FFF2-40B4-BE49-F238E27FC236}">
                <a16:creationId xmlns:a16="http://schemas.microsoft.com/office/drawing/2014/main" id="{8096EC1C-F884-D50B-6E02-10551FDBBD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3C3D9A-FA67-8E45-B091-17AE3CF548B6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19459" name="Text Box 2">
            <a:extLst>
              <a:ext uri="{FF2B5EF4-FFF2-40B4-BE49-F238E27FC236}">
                <a16:creationId xmlns:a16="http://schemas.microsoft.com/office/drawing/2014/main" id="{3C74EE01-B506-9FB8-EDF9-E37797613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4150" y="1628775"/>
            <a:ext cx="441960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/>
              <a:t>Some strong promoters (rRNA genes) have an </a:t>
            </a:r>
            <a:r>
              <a:rPr lang="en-US" altLang="en-US" sz="2000" b="1">
                <a:solidFill>
                  <a:srgbClr val="C00000"/>
                </a:solidFill>
              </a:rPr>
              <a:t>UP-element </a:t>
            </a:r>
            <a:r>
              <a:rPr lang="en-US" altLang="en-US" sz="2000" b="1"/>
              <a:t>that provides additional binding between DNA and pol</a:t>
            </a:r>
          </a:p>
          <a:p>
            <a:pPr eaLnBrk="1" hangingPunct="1">
              <a:spcBef>
                <a:spcPct val="0"/>
              </a:spcBef>
            </a:pPr>
            <a:endParaRPr lang="en-US" altLang="en-US" sz="900" b="1"/>
          </a:p>
          <a:p>
            <a:pPr eaLnBrk="1" hangingPunct="1">
              <a:spcBef>
                <a:spcPct val="0"/>
              </a:spcBef>
            </a:pPr>
            <a:r>
              <a:rPr lang="en-US" altLang="en-US" sz="2000" b="1"/>
              <a:t>Another class of </a:t>
            </a:r>
            <a:r>
              <a:rPr lang="el-GR" altLang="en-US" sz="2000" b="1">
                <a:cs typeface="Arial" panose="020B0604020202020204" pitchFamily="34" charset="0"/>
              </a:rPr>
              <a:t>σ</a:t>
            </a:r>
            <a:r>
              <a:rPr lang="en-US" altLang="en-US" sz="2000" b="1" baseline="30000">
                <a:cs typeface="Arial" panose="020B0604020202020204" pitchFamily="34" charset="0"/>
              </a:rPr>
              <a:t>70</a:t>
            </a:r>
            <a:r>
              <a:rPr lang="en-US" altLang="en-US" sz="2000" b="1">
                <a:cs typeface="Arial" panose="020B0604020202020204" pitchFamily="34" charset="0"/>
              </a:rPr>
              <a:t> promoter lacks the -35 element and has an extended -10 element</a:t>
            </a:r>
            <a:endParaRPr lang="el-GR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9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Element downstream from -10, polymerase binding to this element also influences stability of enzyme/promoter</a:t>
            </a:r>
            <a:r>
              <a:rPr lang="en-US" altLang="en-US" sz="2200" b="1">
                <a:cs typeface="Arial" panose="020B0604020202020204" pitchFamily="34" charset="0"/>
              </a:rPr>
              <a:t> (discriminator element)</a:t>
            </a:r>
          </a:p>
        </p:txBody>
      </p:sp>
      <p:pic>
        <p:nvPicPr>
          <p:cNvPr id="19460" name="Picture 6" descr="12_Figure05">
            <a:extLst>
              <a:ext uri="{FF2B5EF4-FFF2-40B4-BE49-F238E27FC236}">
                <a16:creationId xmlns:a16="http://schemas.microsoft.com/office/drawing/2014/main" id="{6CE3EE1B-0E05-622E-3AE9-219939DCF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838200"/>
            <a:ext cx="45815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1">
            <a:extLst>
              <a:ext uri="{FF2B5EF4-FFF2-40B4-BE49-F238E27FC236}">
                <a16:creationId xmlns:a16="http://schemas.microsoft.com/office/drawing/2014/main" id="{2FD5F7DE-AFEA-1C8E-3968-9747596BE3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C66EAB-AD7A-5A46-8C45-0C8036F981FC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079D5DC4-AE26-48C7-8B36-945639504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076700"/>
            <a:ext cx="8382000" cy="2400300"/>
          </a:xfrm>
          <a:prstGeom prst="rect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457200"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4572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l-GR" altLang="en-US" sz="2200" b="1">
                <a:solidFill>
                  <a:srgbClr val="C00000"/>
                </a:solidFill>
                <a:cs typeface="Arial" charset="0"/>
              </a:rPr>
              <a:t>σ</a:t>
            </a:r>
            <a:r>
              <a:rPr lang="en-US" altLang="en-US" sz="2200" b="1" baseline="30000">
                <a:solidFill>
                  <a:srgbClr val="C00000"/>
                </a:solidFill>
                <a:cs typeface="Arial" charset="0"/>
              </a:rPr>
              <a:t>70</a:t>
            </a:r>
            <a:r>
              <a:rPr lang="en-US" altLang="en-US" sz="2200" b="1">
                <a:solidFill>
                  <a:srgbClr val="C00000"/>
                </a:solidFill>
                <a:cs typeface="Arial" charset="0"/>
              </a:rPr>
              <a:t> factor has 4 regions:</a:t>
            </a:r>
          </a:p>
          <a:p>
            <a:pPr eaLnBrk="1" hangingPunct="1">
              <a:defRPr/>
            </a:pPr>
            <a:endParaRPr lang="en-US" altLang="en-US" sz="1000" b="1">
              <a:cs typeface="Arial" charset="0"/>
            </a:endParaRPr>
          </a:p>
          <a:p>
            <a:pPr eaLnBrk="1" hangingPunct="1">
              <a:buFontTx/>
              <a:buChar char="•"/>
              <a:defRPr/>
            </a:pPr>
            <a:r>
              <a:rPr lang="en-US" altLang="en-US" sz="2200" b="1">
                <a:cs typeface="Arial" charset="0"/>
              </a:rPr>
              <a:t>Regions 2 and 4 recognize the -10 and -35 elements (respectively)</a:t>
            </a:r>
          </a:p>
          <a:p>
            <a:pPr eaLnBrk="1" hangingPunct="1">
              <a:buFontTx/>
              <a:buChar char="•"/>
              <a:defRPr/>
            </a:pPr>
            <a:endParaRPr lang="en-US" altLang="en-US" sz="1000" b="1">
              <a:cs typeface="Arial" charset="0"/>
            </a:endParaRPr>
          </a:p>
          <a:p>
            <a:pPr eaLnBrk="1" hangingPunct="1">
              <a:buFontTx/>
              <a:buChar char="•"/>
              <a:defRPr/>
            </a:pPr>
            <a:r>
              <a:rPr lang="en-US" altLang="en-US" sz="2200" b="1">
                <a:solidFill>
                  <a:srgbClr val="FF0000"/>
                </a:solidFill>
                <a:cs typeface="Arial" charset="0"/>
              </a:rPr>
              <a:t>Region 4 </a:t>
            </a:r>
            <a:r>
              <a:rPr lang="en-US" altLang="en-US" sz="2200" b="1">
                <a:cs typeface="Arial" charset="0"/>
              </a:rPr>
              <a:t>:  2 helices, </a:t>
            </a:r>
            <a:r>
              <a:rPr lang="en-US" altLang="en-US" sz="2200" b="1" u="sng">
                <a:cs typeface="Arial" charset="0"/>
              </a:rPr>
              <a:t>helix-turn-helix</a:t>
            </a:r>
            <a:r>
              <a:rPr lang="en-US" altLang="en-US" sz="2200" b="1">
                <a:cs typeface="Arial" charset="0"/>
              </a:rPr>
              <a:t>, one helix inserts into top of major groove, other helix contacts DNA backbone</a:t>
            </a:r>
            <a:endParaRPr lang="el-GR" altLang="en-US" sz="2200" b="1">
              <a:cs typeface="Arial" charset="0"/>
            </a:endParaRPr>
          </a:p>
          <a:p>
            <a:pPr eaLnBrk="1" hangingPunct="1">
              <a:buFontTx/>
              <a:buChar char="•"/>
              <a:defRPr/>
            </a:pPr>
            <a:endParaRPr lang="en-US" altLang="en-US" sz="1000" b="1">
              <a:cs typeface="Arial" charset="0"/>
            </a:endParaRPr>
          </a:p>
          <a:p>
            <a:pPr eaLnBrk="1" hangingPunct="1">
              <a:defRPr/>
            </a:pPr>
            <a:endParaRPr lang="en-US" altLang="en-US" sz="1000" b="1">
              <a:cs typeface="Arial" charset="0"/>
            </a:endParaRP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ACC17A22-9D8C-66F4-D8C8-023FEBCF3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23813"/>
            <a:ext cx="6280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Bacterial Promoters</a:t>
            </a:r>
          </a:p>
        </p:txBody>
      </p:sp>
      <p:pic>
        <p:nvPicPr>
          <p:cNvPr id="20485" name="Picture 6">
            <a:extLst>
              <a:ext uri="{FF2B5EF4-FFF2-40B4-BE49-F238E27FC236}">
                <a16:creationId xmlns:a16="http://schemas.microsoft.com/office/drawing/2014/main" id="{85E369E8-A3BF-EDE8-F18E-94A2316DC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6215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1">
            <a:extLst>
              <a:ext uri="{FF2B5EF4-FFF2-40B4-BE49-F238E27FC236}">
                <a16:creationId xmlns:a16="http://schemas.microsoft.com/office/drawing/2014/main" id="{1AF21EF1-C05A-66D3-89EB-75A8C80A6D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DBEC5D-6827-6E46-BC8C-E574BD6CE718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pic>
        <p:nvPicPr>
          <p:cNvPr id="21507" name="Picture 4">
            <a:extLst>
              <a:ext uri="{FF2B5EF4-FFF2-40B4-BE49-F238E27FC236}">
                <a16:creationId xmlns:a16="http://schemas.microsoft.com/office/drawing/2014/main" id="{2F7025A3-0ECD-37B3-3D37-2B5CCE817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6215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2">
            <a:extLst>
              <a:ext uri="{FF2B5EF4-FFF2-40B4-BE49-F238E27FC236}">
                <a16:creationId xmlns:a16="http://schemas.microsoft.com/office/drawing/2014/main" id="{9413AB57-F89D-07A5-55AD-897BF0ADA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57600"/>
            <a:ext cx="83820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Region 2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en-US" altLang="en-US" sz="2200" b="1">
                <a:cs typeface="Arial" panose="020B0604020202020204" pitchFamily="34" charset="0"/>
              </a:rPr>
              <a:t>also </a:t>
            </a:r>
            <a:r>
              <a:rPr lang="el-GR" altLang="en-US" sz="2200" b="1">
                <a:cs typeface="Arial" panose="020B0604020202020204" pitchFamily="34" charset="0"/>
              </a:rPr>
              <a:t>α</a:t>
            </a:r>
            <a:r>
              <a:rPr lang="en-US" altLang="en-US" sz="2200" b="1">
                <a:cs typeface="Arial" panose="020B0604020202020204" pitchFamily="34" charset="0"/>
              </a:rPr>
              <a:t> helix, and -10 element interactions more complicated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-10 region </a:t>
            </a:r>
            <a:r>
              <a:rPr lang="en-US" altLang="en-US" sz="2200" b="1">
                <a:cs typeface="Arial" panose="020B0604020202020204" pitchFamily="34" charset="0"/>
              </a:rPr>
              <a:t>is site of initiation of DNA melting in transition from closed to open complex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Helix contains </a:t>
            </a:r>
            <a:r>
              <a:rPr lang="en-US" altLang="en-US" sz="2200" b="1" u="sng">
                <a:cs typeface="Arial" panose="020B0604020202020204" pitchFamily="34" charset="0"/>
              </a:rPr>
              <a:t>aromatic</a:t>
            </a:r>
            <a:r>
              <a:rPr lang="en-US" altLang="en-US" sz="2200" b="1">
                <a:cs typeface="Arial" panose="020B0604020202020204" pitchFamily="34" charset="0"/>
              </a:rPr>
              <a:t> amino acids that stabilize melted strands through interaction w/ nontemplate strand - similar to base-stacking by SSBs in replication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3449EFF0-BABC-1A38-7D25-544BA1611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</a:rPr>
              <a:t>Bacterial Promoters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1">
            <a:extLst>
              <a:ext uri="{FF2B5EF4-FFF2-40B4-BE49-F238E27FC236}">
                <a16:creationId xmlns:a16="http://schemas.microsoft.com/office/drawing/2014/main" id="{8FA9083B-12D7-D9A8-8267-EE155A6CE7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88E8C2-ADCF-F74F-B4B0-2D18227436BB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A87620AF-D16E-14E9-69E3-E978C43DF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86200"/>
            <a:ext cx="8382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If present, extended -10 element is recognized by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region 3 </a:t>
            </a:r>
            <a:r>
              <a:rPr lang="en-US" altLang="en-US" sz="2200" b="1">
                <a:cs typeface="Arial" panose="020B0604020202020204" pitchFamily="34" charset="0"/>
              </a:rPr>
              <a:t>helix contacting 2bp in element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The discriminator is recognized by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region 1.2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UP-element is not recognized by </a:t>
            </a:r>
            <a:r>
              <a:rPr lang="el-GR" altLang="en-US" sz="2200" b="1">
                <a:cs typeface="Arial" panose="020B0604020202020204" pitchFamily="34" charset="0"/>
              </a:rPr>
              <a:t>σ</a:t>
            </a:r>
            <a:r>
              <a:rPr lang="en-US" altLang="en-US" sz="2200" b="1">
                <a:cs typeface="Arial" panose="020B0604020202020204" pitchFamily="34" charset="0"/>
              </a:rPr>
              <a:t>, instead by carboxyl terminal domain of </a:t>
            </a:r>
            <a:r>
              <a:rPr lang="el-GR" altLang="en-US" sz="2200" b="1">
                <a:cs typeface="Arial" panose="020B0604020202020204" pitchFamily="34" charset="0"/>
              </a:rPr>
              <a:t>α</a:t>
            </a:r>
            <a:r>
              <a:rPr lang="en-US" altLang="en-US" sz="2200" b="1">
                <a:cs typeface="Arial" panose="020B0604020202020204" pitchFamily="34" charset="0"/>
              </a:rPr>
              <a:t> subunit = </a:t>
            </a:r>
            <a:r>
              <a:rPr lang="el-GR" altLang="en-US" sz="2200" b="1">
                <a:cs typeface="Arial" panose="020B0604020202020204" pitchFamily="34" charset="0"/>
              </a:rPr>
              <a:t>α</a:t>
            </a:r>
            <a:r>
              <a:rPr lang="en-US" altLang="en-US" sz="2200" b="1">
                <a:cs typeface="Arial" panose="020B0604020202020204" pitchFamily="34" charset="0"/>
              </a:rPr>
              <a:t>CTD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1B9E030C-8466-45BC-2D81-3020C7637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6215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7E33EFB0-58C6-7A58-432C-9267CF4E8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3886200"/>
            <a:ext cx="83820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l-GR" altLang="en-US" sz="2200" b="1">
                <a:cs typeface="Arial" panose="020B0604020202020204" pitchFamily="34" charset="0"/>
              </a:rPr>
              <a:t>α</a:t>
            </a:r>
            <a:r>
              <a:rPr lang="en-US" altLang="en-US" sz="2200" b="1">
                <a:cs typeface="Arial" panose="020B0604020202020204" pitchFamily="34" charset="0"/>
              </a:rPr>
              <a:t>CTD is connected to </a:t>
            </a:r>
            <a:r>
              <a:rPr lang="el-GR" altLang="en-US" sz="2200" b="1">
                <a:cs typeface="Arial" panose="020B0604020202020204" pitchFamily="34" charset="0"/>
              </a:rPr>
              <a:t>α</a:t>
            </a:r>
            <a:r>
              <a:rPr lang="en-US" altLang="en-US" sz="2200" b="1">
                <a:cs typeface="Arial" panose="020B0604020202020204" pitchFamily="34" charset="0"/>
              </a:rPr>
              <a:t>NTD (amino terminus) by flexible linker – can reach upstream element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Spacing and location (surface) of DNA-binding regions makes DNA-protein interactions possible.</a:t>
            </a:r>
          </a:p>
          <a:p>
            <a:pPr eaLnBrk="1" hangingPunct="1">
              <a:spcBef>
                <a:spcPct val="0"/>
              </a:spcBef>
            </a:pPr>
            <a:endParaRPr lang="en-US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Region 3.2, 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</a:t>
            </a:r>
            <a:r>
              <a:rPr lang="en-US" altLang="en-US" sz="2200" b="1" baseline="-25000">
                <a:cs typeface="Arial" panose="020B0604020202020204" pitchFamily="34" charset="0"/>
                <a:sym typeface="Symbol" pitchFamily="2" charset="2"/>
              </a:rPr>
              <a:t>3/4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 linker, maintains spacing between </a:t>
            </a:r>
            <a:r>
              <a:rPr lang="en-US" altLang="en-US" sz="2200" b="1" baseline="-25000">
                <a:cs typeface="Arial" panose="020B0604020202020204" pitchFamily="34" charset="0"/>
                <a:sym typeface="Symbol" pitchFamily="2" charset="2"/>
              </a:rPr>
              <a:t>2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 and </a:t>
            </a:r>
            <a:r>
              <a:rPr lang="en-US" altLang="en-US" sz="2200" b="1" baseline="-25000">
                <a:cs typeface="Arial" panose="020B0604020202020204" pitchFamily="34" charset="0"/>
                <a:sym typeface="Symbol" pitchFamily="2" charset="2"/>
              </a:rPr>
              <a:t>4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 </a:t>
            </a:r>
          </a:p>
        </p:txBody>
      </p:sp>
      <p:pic>
        <p:nvPicPr>
          <p:cNvPr id="23555" name="Picture 5">
            <a:extLst>
              <a:ext uri="{FF2B5EF4-FFF2-40B4-BE49-F238E27FC236}">
                <a16:creationId xmlns:a16="http://schemas.microsoft.com/office/drawing/2014/main" id="{7111A512-5414-77C5-16C1-19278196F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14400"/>
            <a:ext cx="6477000" cy="268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 Box 7">
            <a:extLst>
              <a:ext uri="{FF2B5EF4-FFF2-40B4-BE49-F238E27FC236}">
                <a16:creationId xmlns:a16="http://schemas.microsoft.com/office/drawing/2014/main" id="{2DF8CA6B-11C5-0DFF-98A4-5E73091F4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609600"/>
            <a:ext cx="19970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l-GR" altLang="en-US" sz="1800" b="1">
                <a:cs typeface="Arial" panose="020B0604020202020204" pitchFamily="34" charset="0"/>
              </a:rPr>
              <a:t>α</a:t>
            </a:r>
            <a:r>
              <a:rPr lang="en-US" altLang="en-US" sz="1800" b="1">
                <a:cs typeface="Arial" panose="020B0604020202020204" pitchFamily="34" charset="0"/>
              </a:rPr>
              <a:t> and </a:t>
            </a:r>
            <a:r>
              <a:rPr lang="el-GR" altLang="en-US" sz="1800" b="1">
                <a:cs typeface="Arial" panose="020B0604020202020204" pitchFamily="34" charset="0"/>
              </a:rPr>
              <a:t>σ</a:t>
            </a:r>
            <a:r>
              <a:rPr lang="en-US" altLang="en-US" sz="1800" b="1">
                <a:cs typeface="Arial" panose="020B0604020202020204" pitchFamily="34" charset="0"/>
              </a:rPr>
              <a:t> subunits of RNA polymerase</a:t>
            </a:r>
            <a:endParaRPr lang="el-GR" altLang="en-US" sz="1800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1">
            <a:extLst>
              <a:ext uri="{FF2B5EF4-FFF2-40B4-BE49-F238E27FC236}">
                <a16:creationId xmlns:a16="http://schemas.microsoft.com/office/drawing/2014/main" id="{F79490B9-6EB7-C95B-0785-ACD6A7228A3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2F0FE3-268C-904A-AFB8-629FF0679B68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BC2A95EB-7B0F-58B4-7797-BCC06166A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90600"/>
            <a:ext cx="4343400" cy="584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Initial binding of pol to promoter leaves DNA ds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Transition from </a:t>
            </a:r>
            <a:r>
              <a:rPr lang="en-US" altLang="en-US" sz="2200" b="1" u="sng"/>
              <a:t>closed</a:t>
            </a:r>
            <a:r>
              <a:rPr lang="en-US" altLang="en-US" sz="2200" b="1"/>
              <a:t> to </a:t>
            </a:r>
            <a:r>
              <a:rPr lang="en-US" altLang="en-US" sz="2200" b="1" u="sng"/>
              <a:t>open</a:t>
            </a:r>
            <a:r>
              <a:rPr lang="en-US" altLang="en-US" sz="2200" b="1"/>
              <a:t> complex involves structural changes in polymerase, and melting of -11 to +2 DNA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For </a:t>
            </a:r>
            <a:r>
              <a:rPr lang="el-GR" altLang="en-US" sz="2200" b="1">
                <a:cs typeface="Arial" panose="020B0604020202020204" pitchFamily="34" charset="0"/>
              </a:rPr>
              <a:t>σ</a:t>
            </a:r>
            <a:r>
              <a:rPr lang="en-US" altLang="en-US" sz="2200" b="1" baseline="30000">
                <a:cs typeface="Arial" panose="020B0604020202020204" pitchFamily="34" charset="0"/>
              </a:rPr>
              <a:t>70</a:t>
            </a:r>
            <a:r>
              <a:rPr lang="en-US" altLang="en-US" sz="2200" b="1">
                <a:cs typeface="Arial" panose="020B0604020202020204" pitchFamily="34" charset="0"/>
              </a:rPr>
              <a:t>-bearing pol transition,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isomerization</a:t>
            </a:r>
            <a:r>
              <a:rPr lang="en-US" altLang="en-US" sz="2200" b="1">
                <a:cs typeface="Arial" panose="020B0604020202020204" pitchFamily="34" charset="0"/>
              </a:rPr>
              <a:t>, does not require ATP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Isomerization is essentially irreversible, formation of closed complex is readily reversible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52A36077-D8E6-A0C9-6722-46B42F84C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Transition to Open Complex</a:t>
            </a:r>
          </a:p>
        </p:txBody>
      </p:sp>
      <p:pic>
        <p:nvPicPr>
          <p:cNvPr id="24581" name="Picture 4" descr="fg12-081">
            <a:extLst>
              <a:ext uri="{FF2B5EF4-FFF2-40B4-BE49-F238E27FC236}">
                <a16:creationId xmlns:a16="http://schemas.microsoft.com/office/drawing/2014/main" id="{FE4F78FE-5EA6-4ED6-0819-CADD572C2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838200"/>
            <a:ext cx="457200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EEF1A550-FC1C-BA5B-C44A-367B8B658617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20638" y="0"/>
            <a:ext cx="6016625" cy="304800"/>
          </a:xfrm>
          <a:solidFill>
            <a:srgbClr val="CCFFCC"/>
          </a:solidFill>
        </p:spPr>
        <p:txBody>
          <a:bodyPr/>
          <a:lstStyle/>
          <a:p>
            <a:r>
              <a:rPr lang="en-US" altLang="en-US" sz="1600" b="1">
                <a:ea typeface="ＭＳ Ｐゴシック" panose="020B0600070205080204" pitchFamily="34" charset="-128"/>
              </a:rPr>
              <a:t>Recognition and melting of the –10 elements by </a:t>
            </a:r>
            <a:r>
              <a:rPr lang="el-GR" altLang="en-US" sz="1600" b="1">
                <a:ea typeface="ＭＳ Ｐゴシック" panose="020B0600070205080204" pitchFamily="34" charset="-128"/>
              </a:rPr>
              <a:t>σ</a:t>
            </a:r>
            <a:r>
              <a:rPr lang="en-US" altLang="en-US" sz="1600" b="1">
                <a:ea typeface="ＭＳ Ｐゴシック" panose="020B0600070205080204" pitchFamily="34" charset="-128"/>
              </a:rPr>
              <a:t> region 2.</a:t>
            </a:r>
          </a:p>
        </p:txBody>
      </p:sp>
      <p:pic>
        <p:nvPicPr>
          <p:cNvPr id="25603" name="Picture 3" descr="13_08Figure-L">
            <a:extLst>
              <a:ext uri="{FF2B5EF4-FFF2-40B4-BE49-F238E27FC236}">
                <a16:creationId xmlns:a16="http://schemas.microsoft.com/office/drawing/2014/main" id="{DEFD1674-D3BC-013D-8B72-3F6F241D3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7"/>
          <a:stretch>
            <a:fillRect/>
          </a:stretch>
        </p:blipFill>
        <p:spPr bwMode="auto">
          <a:xfrm>
            <a:off x="152400" y="476250"/>
            <a:ext cx="8836025" cy="625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1">
            <a:extLst>
              <a:ext uri="{FF2B5EF4-FFF2-40B4-BE49-F238E27FC236}">
                <a16:creationId xmlns:a16="http://schemas.microsoft.com/office/drawing/2014/main" id="{D53054E4-AC5F-3B28-B0D8-29BC474B88A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9E338C-0E0F-E142-9985-302C0077EBDD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27651" name="Text Box 2">
            <a:extLst>
              <a:ext uri="{FF2B5EF4-FFF2-40B4-BE49-F238E27FC236}">
                <a16:creationId xmlns:a16="http://schemas.microsoft.com/office/drawing/2014/main" id="{E569ACAC-F67A-6CEC-32B8-CA00A05C7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85800"/>
            <a:ext cx="4343400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Channel runs between “pincers”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Active site is made up of regions of </a:t>
            </a:r>
            <a:r>
              <a:rPr lang="el-GR" altLang="en-US" sz="2200" b="1"/>
              <a:t>β</a:t>
            </a:r>
            <a:r>
              <a:rPr lang="en-US" altLang="en-US" sz="2200" b="1"/>
              <a:t> and </a:t>
            </a:r>
            <a:r>
              <a:rPr lang="el-GR" altLang="en-US" sz="2200" b="1"/>
              <a:t>β</a:t>
            </a:r>
            <a:r>
              <a:rPr lang="en-US" altLang="en-US" sz="2200" b="1"/>
              <a:t>’ subunits and found w/in active site cleft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There are 5 channels into enzyme: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1) NTP-uptake channel allows ribonucleotides into active center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2) RNA-exit channel allows growing chain to leave enzyme during elongation</a:t>
            </a:r>
          </a:p>
        </p:txBody>
      </p:sp>
      <p:sp>
        <p:nvSpPr>
          <p:cNvPr id="27652" name="Text Box 3">
            <a:extLst>
              <a:ext uri="{FF2B5EF4-FFF2-40B4-BE49-F238E27FC236}">
                <a16:creationId xmlns:a16="http://schemas.microsoft.com/office/drawing/2014/main" id="{48BF1BF7-0660-131B-FA44-0679DBB52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Structure of RNA pol</a:t>
            </a:r>
          </a:p>
        </p:txBody>
      </p:sp>
      <p:pic>
        <p:nvPicPr>
          <p:cNvPr id="27653" name="Picture 4" descr="fg12-081">
            <a:extLst>
              <a:ext uri="{FF2B5EF4-FFF2-40B4-BE49-F238E27FC236}">
                <a16:creationId xmlns:a16="http://schemas.microsoft.com/office/drawing/2014/main" id="{23C7701B-EF12-9882-4530-19B21AAE8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838200"/>
            <a:ext cx="457200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1">
            <a:extLst>
              <a:ext uri="{FF2B5EF4-FFF2-40B4-BE49-F238E27FC236}">
                <a16:creationId xmlns:a16="http://schemas.microsoft.com/office/drawing/2014/main" id="{4DD4C244-7BF2-88EB-1EAE-97498EFFBA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8D10A9-9CA2-294A-9558-7F03778CDB0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33AC772C-9D9B-039C-7D05-BE3C4BF7D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73125"/>
            <a:ext cx="43434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Remaining 3 channels allow DNA in and out</a:t>
            </a:r>
          </a:p>
          <a:p>
            <a:pPr eaLnBrk="1" hangingPunct="1">
              <a:spcBef>
                <a:spcPct val="0"/>
              </a:spcBef>
            </a:pPr>
            <a:endParaRPr lang="en-US" altLang="en-US" sz="11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Downstream dsDNA enters active center cleft through downstream 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DNA channel (3</a:t>
            </a:r>
            <a:r>
              <a:rPr lang="en-US" altLang="en-US" sz="2000" b="1"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</a:pPr>
            <a:endParaRPr lang="en-US" altLang="en-US" sz="9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w/in active center cleft DNA strands separate at +3, nontemplate strand exits through 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nontemplate-strand (NT) channel (4)</a:t>
            </a:r>
          </a:p>
          <a:p>
            <a:pPr eaLnBrk="1" hangingPunct="1">
              <a:spcBef>
                <a:spcPct val="0"/>
              </a:spcBef>
            </a:pPr>
            <a:endParaRPr lang="en-US" altLang="en-US" sz="9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Template strand follows through active cleft and exits through 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template strand (T) channel (5)</a:t>
            </a:r>
            <a:r>
              <a:rPr lang="en-US" altLang="en-US" sz="2000" b="1">
                <a:cs typeface="Arial" panose="020B0604020202020204" pitchFamily="34" charset="0"/>
              </a:rPr>
              <a:t>, dsDNA reforms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cs typeface="Arial" panose="020B0604020202020204" pitchFamily="34" charset="0"/>
              </a:rPr>
              <a:t>      at -11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28676" name="Picture 4" descr="fg12-081">
            <a:extLst>
              <a:ext uri="{FF2B5EF4-FFF2-40B4-BE49-F238E27FC236}">
                <a16:creationId xmlns:a16="http://schemas.microsoft.com/office/drawing/2014/main" id="{318F0193-21C3-5BF8-CFD1-35F5E0449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341438"/>
            <a:ext cx="4572000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1">
            <a:extLst>
              <a:ext uri="{FF2B5EF4-FFF2-40B4-BE49-F238E27FC236}">
                <a16:creationId xmlns:a16="http://schemas.microsoft.com/office/drawing/2014/main" id="{488BF744-D376-7586-909C-8D4D555823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3DBCAB-9D71-A34F-B65A-7FC27AEAE914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A9978CE9-EE2C-3F13-B04A-9CB0D59D6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33400"/>
            <a:ext cx="4343400" cy="600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w/ transition to open complex, pincers clamp down on DNA and there is a major shift in the position of N-terminal region of </a:t>
            </a:r>
            <a:r>
              <a:rPr lang="el-GR" altLang="en-US" sz="2200" b="1">
                <a:cs typeface="Arial" panose="020B0604020202020204" pitchFamily="34" charset="0"/>
              </a:rPr>
              <a:t>σ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l-GR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σ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 region 1.1 </a:t>
            </a:r>
            <a:r>
              <a:rPr lang="en-US" altLang="en-US" sz="2200" b="1">
                <a:cs typeface="Arial" panose="020B0604020202020204" pitchFamily="34" charset="0"/>
              </a:rPr>
              <a:t>shifts ~50 angstroms and moves from blocking path into enzyme active site cleft to outside of enzyme allowing DNA access to cleft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Region 1.1 </a:t>
            </a:r>
            <a:r>
              <a:rPr lang="en-US" altLang="en-US" sz="2200" b="1">
                <a:cs typeface="Arial" panose="020B0604020202020204" pitchFamily="34" charset="0"/>
              </a:rPr>
              <a:t>is, like DNA, negatively charged (molecular mimic), space in cleft occupied by either 1.1 or DNA is positively charged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29700" name="Picture 4" descr="fg12-081">
            <a:extLst>
              <a:ext uri="{FF2B5EF4-FFF2-40B4-BE49-F238E27FC236}">
                <a16:creationId xmlns:a16="http://schemas.microsoft.com/office/drawing/2014/main" id="{E89653F2-DA15-5B38-4C47-4FEACCAE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838200"/>
            <a:ext cx="457200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Line 5">
            <a:extLst>
              <a:ext uri="{FF2B5EF4-FFF2-40B4-BE49-F238E27FC236}">
                <a16:creationId xmlns:a16="http://schemas.microsoft.com/office/drawing/2014/main" id="{16957009-E5CA-C7C0-340F-58C6A04C4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514600"/>
            <a:ext cx="2286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4CCAD1CB-1338-4822-1717-7FCF8B245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114800"/>
            <a:ext cx="1484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 b="1"/>
              <a:t>σ</a:t>
            </a:r>
            <a:r>
              <a:rPr lang="en-US" altLang="en-US" sz="1800" b="1"/>
              <a:t> region 1.1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1">
            <a:extLst>
              <a:ext uri="{FF2B5EF4-FFF2-40B4-BE49-F238E27FC236}">
                <a16:creationId xmlns:a16="http://schemas.microsoft.com/office/drawing/2014/main" id="{977E69FD-DB5D-FC16-7376-70E27D5627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1F0376-2CE2-B941-A821-ACDCA1BBCC85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0AE3643D-C38D-5879-73A9-33CDB73ED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419600"/>
            <a:ext cx="80772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FF0000"/>
                </a:solidFill>
              </a:rPr>
              <a:t>A consensus sequence is simply the most common bases at a given site across all sequences compared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 i="1"/>
              <a:t>The consensus sequence itself may never (but can) actually occur</a:t>
            </a:r>
            <a:endParaRPr lang="el-GR" altLang="en-US" sz="2200" b="1" i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810DEFCD-80D9-7F79-1B0D-BF380B7A9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Consensus Sequence</a:t>
            </a:r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B3938225-6B7B-E9A4-44A8-A9344196F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762000"/>
            <a:ext cx="5487988" cy="3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1">
            <a:extLst>
              <a:ext uri="{FF2B5EF4-FFF2-40B4-BE49-F238E27FC236}">
                <a16:creationId xmlns:a16="http://schemas.microsoft.com/office/drawing/2014/main" id="{7E1817CF-A957-A310-40A8-F9143AE22E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E59B8C-972D-DA43-B684-BDB010AEAD2E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1747" name="Text Box 2">
            <a:extLst>
              <a:ext uri="{FF2B5EF4-FFF2-40B4-BE49-F238E27FC236}">
                <a16:creationId xmlns:a16="http://schemas.microsoft.com/office/drawing/2014/main" id="{E4ADC695-73C8-ADCD-68C1-33555CFCD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95400"/>
            <a:ext cx="7777163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RNA pol </a:t>
            </a:r>
            <a:r>
              <a:rPr lang="en-US" altLang="en-US" sz="2200" b="1" u="sng">
                <a:cs typeface="Arial" panose="020B0604020202020204" pitchFamily="34" charset="0"/>
              </a:rPr>
              <a:t>does not</a:t>
            </a:r>
            <a:r>
              <a:rPr lang="en-US" altLang="en-US" sz="2200" b="1">
                <a:cs typeface="Arial" panose="020B0604020202020204" pitchFamily="34" charset="0"/>
              </a:rPr>
              <a:t> require a free 3’ OH supplying primer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It </a:t>
            </a:r>
            <a:r>
              <a:rPr lang="en-US" altLang="en-US" sz="2200" b="1" u="sng">
                <a:cs typeface="Arial" panose="020B0604020202020204" pitchFamily="34" charset="0"/>
              </a:rPr>
              <a:t>does</a:t>
            </a:r>
            <a:r>
              <a:rPr lang="en-US" altLang="en-US" sz="2200" b="1">
                <a:cs typeface="Arial" panose="020B0604020202020204" pitchFamily="34" charset="0"/>
              </a:rPr>
              <a:t> require first ribonucleotide be in specific orientation for polymerization to occur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Pol specifically interacts w/ first base, </a:t>
            </a:r>
            <a:r>
              <a:rPr lang="en-US" altLang="en-US" sz="2200" b="1" u="sng">
                <a:solidFill>
                  <a:srgbClr val="FF0000"/>
                </a:solidFill>
                <a:cs typeface="Arial" panose="020B0604020202020204" pitchFamily="34" charset="0"/>
              </a:rPr>
              <a:t>almost always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an A, to position it in cleft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Interactions appear to involve multiple parts of holoenzyme, including part of sigma, 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</a:t>
            </a:r>
            <a:r>
              <a:rPr lang="en-US" altLang="en-US" sz="2200" b="1" baseline="-25000">
                <a:cs typeface="Arial" panose="020B0604020202020204" pitchFamily="34" charset="0"/>
                <a:sym typeface="Symbol" pitchFamily="2" charset="2"/>
              </a:rPr>
              <a:t>3/4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,</a:t>
            </a:r>
            <a:r>
              <a:rPr lang="en-US" altLang="en-US" sz="2200" b="1">
                <a:cs typeface="Arial" panose="020B0604020202020204" pitchFamily="34" charset="0"/>
              </a:rPr>
              <a:t>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mutation of sigma alters specificity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sp>
        <p:nvSpPr>
          <p:cNvPr id="31748" name="Text Box 3">
            <a:extLst>
              <a:ext uri="{FF2B5EF4-FFF2-40B4-BE49-F238E27FC236}">
                <a16:creationId xmlns:a16="http://schemas.microsoft.com/office/drawing/2014/main" id="{D24BEA46-591E-2A8F-97F3-15EEFFBFE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7000"/>
            <a:ext cx="769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C00000"/>
                </a:solidFill>
              </a:rPr>
              <a:t>Initiation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1">
            <a:extLst>
              <a:ext uri="{FF2B5EF4-FFF2-40B4-BE49-F238E27FC236}">
                <a16:creationId xmlns:a16="http://schemas.microsoft.com/office/drawing/2014/main" id="{B7E24F2B-79C4-DD65-A708-3301A1E7F3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8CC12F-F1FD-B54B-9BAB-DCDC3178A88D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2771" name="Text Box 2">
            <a:extLst>
              <a:ext uri="{FF2B5EF4-FFF2-40B4-BE49-F238E27FC236}">
                <a16:creationId xmlns:a16="http://schemas.microsoft.com/office/drawing/2014/main" id="{499BD7A0-9A17-29C2-523F-48E34F3D0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914400"/>
            <a:ext cx="4152900" cy="547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RNA pol synthesizes short RNA molecules &lt;10 nucleotides that are released and synthesis begins again = abortive initiation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3 models for DNA translocation during initial cycles of transcription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1)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Transient excursion </a:t>
            </a:r>
            <a:r>
              <a:rPr lang="en-US" altLang="en-US" sz="2200" b="1">
                <a:cs typeface="Arial" panose="020B0604020202020204" pitchFamily="34" charset="0"/>
              </a:rPr>
              <a:t>- short cycles of forward and reverse translocation synthesizing short fragments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E214D5F0-5550-67D1-86FC-2040A346C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3" y="115888"/>
            <a:ext cx="3810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Abortive Initiation </a:t>
            </a:r>
          </a:p>
        </p:txBody>
      </p:sp>
      <p:pic>
        <p:nvPicPr>
          <p:cNvPr id="32773" name="Picture 7" descr="12_Figure09">
            <a:extLst>
              <a:ext uri="{FF2B5EF4-FFF2-40B4-BE49-F238E27FC236}">
                <a16:creationId xmlns:a16="http://schemas.microsoft.com/office/drawing/2014/main" id="{4BC61FB0-B0A8-1DEB-44C3-BED095521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914400"/>
            <a:ext cx="4705350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1">
            <a:extLst>
              <a:ext uri="{FF2B5EF4-FFF2-40B4-BE49-F238E27FC236}">
                <a16:creationId xmlns:a16="http://schemas.microsoft.com/office/drawing/2014/main" id="{85EB993A-F8D9-C0C5-1C8E-1E2B9D7833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1B7892-DAE3-534C-BE1D-00E8654FD5E8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3795" name="Text Box 2">
            <a:extLst>
              <a:ext uri="{FF2B5EF4-FFF2-40B4-BE49-F238E27FC236}">
                <a16:creationId xmlns:a16="http://schemas.microsoft.com/office/drawing/2014/main" id="{E0E4BBEF-FFDF-F624-F5A5-74AE0F401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14400"/>
            <a:ext cx="4343400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RNA pol synthesizes short RNA molecules &lt;10 nucleotides that are released and synthesis begins again = abortive initiation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3 models for DNA translocation during initial cylces of transcription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2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) Inchworming </a:t>
            </a:r>
            <a:r>
              <a:rPr lang="en-US" altLang="en-US" sz="2200" b="1">
                <a:cs typeface="Arial" panose="020B0604020202020204" pitchFamily="34" charset="0"/>
              </a:rPr>
              <a:t>- flexible element in polymerase allows front of enzyme to move downstream synthesizing before retracting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33796" name="Picture 4" descr="12_Figure09">
            <a:extLst>
              <a:ext uri="{FF2B5EF4-FFF2-40B4-BE49-F238E27FC236}">
                <a16:creationId xmlns:a16="http://schemas.microsoft.com/office/drawing/2014/main" id="{8AD8D28F-7CF9-6615-1F6F-2517F4444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7200"/>
            <a:ext cx="4343400" cy="38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1">
            <a:extLst>
              <a:ext uri="{FF2B5EF4-FFF2-40B4-BE49-F238E27FC236}">
                <a16:creationId xmlns:a16="http://schemas.microsoft.com/office/drawing/2014/main" id="{A5F89B4F-5B1D-8165-70F0-A94DE03E163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22070-0245-7F46-853F-C003B45B22E9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1D43AAD2-0CD1-28D2-6CED-9BED96F71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14400"/>
            <a:ext cx="4343400" cy="547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RNA pol synthesizes short RNA molecules &lt;10 nucleotides that are released and synthesis begins again = abortive initiation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3 models for DNA translocation during initial cylces of transcription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3)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Scrunching </a:t>
            </a:r>
            <a:r>
              <a:rPr lang="en-US" altLang="en-US" sz="2200" b="1">
                <a:cs typeface="Arial" panose="020B0604020202020204" pitchFamily="34" charset="0"/>
              </a:rPr>
              <a:t>- polymerase is stationary and DNA is pulled into polymerase and held as single-stranded bulges - </a:t>
            </a:r>
            <a:r>
              <a:rPr lang="en-US" altLang="en-US" sz="2200" b="1" u="sng">
                <a:solidFill>
                  <a:srgbClr val="FF0000"/>
                </a:solidFill>
                <a:cs typeface="Arial" panose="020B0604020202020204" pitchFamily="34" charset="0"/>
              </a:rPr>
              <a:t>currently the most accepted model.</a:t>
            </a:r>
            <a:endParaRPr lang="el-GR" altLang="en-US" sz="2200" b="1" u="sng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34820" name="Picture 4" descr="12_Figure09">
            <a:extLst>
              <a:ext uri="{FF2B5EF4-FFF2-40B4-BE49-F238E27FC236}">
                <a16:creationId xmlns:a16="http://schemas.microsoft.com/office/drawing/2014/main" id="{A1EAA163-1742-856C-9E27-8ADF879BA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914400"/>
            <a:ext cx="4343400" cy="38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1">
            <a:extLst>
              <a:ext uri="{FF2B5EF4-FFF2-40B4-BE49-F238E27FC236}">
                <a16:creationId xmlns:a16="http://schemas.microsoft.com/office/drawing/2014/main" id="{6A17E1A4-4828-8504-E2F1-3398F94F7D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93F5EC-F071-514B-BF9F-6D6D8AAD2B21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5843" name="Text Box 2">
            <a:extLst>
              <a:ext uri="{FF2B5EF4-FFF2-40B4-BE49-F238E27FC236}">
                <a16:creationId xmlns:a16="http://schemas.microsoft.com/office/drawing/2014/main" id="{E466B2CE-7C53-F15F-B369-1BC4AABB7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96875"/>
            <a:ext cx="7920038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More than ~10 bases cannot be accommodated w/in pol and must exit through RNA exit channel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Promoter escape involves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breaking of all contact </a:t>
            </a:r>
            <a:r>
              <a:rPr lang="en-US" altLang="en-US" sz="2200" b="1">
                <a:cs typeface="Arial" panose="020B0604020202020204" pitchFamily="34" charset="0"/>
              </a:rPr>
              <a:t>between pol and regulatory DNA elements.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Reason for abortive initiation is not clear, appears to involve sigma region 3.2 (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</a:t>
            </a:r>
            <a:r>
              <a:rPr lang="en-US" altLang="en-US" sz="2200" b="1" baseline="-25000">
                <a:cs typeface="Arial" panose="020B0604020202020204" pitchFamily="34" charset="0"/>
                <a:sym typeface="Symbol" pitchFamily="2" charset="2"/>
              </a:rPr>
              <a:t>3/4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 linker</a:t>
            </a:r>
            <a:r>
              <a:rPr lang="en-US" altLang="en-US" sz="2200" b="1">
                <a:cs typeface="Arial" panose="020B0604020202020204" pitchFamily="34" charset="0"/>
              </a:rPr>
              <a:t>), which must be ejected for synth of &gt;10 nucleotide fragments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35844" name="Picture 4" descr="fg12-081">
            <a:extLst>
              <a:ext uri="{FF2B5EF4-FFF2-40B4-BE49-F238E27FC236}">
                <a16:creationId xmlns:a16="http://schemas.microsoft.com/office/drawing/2014/main" id="{C7659A09-F24C-39A8-22CF-7BA5031DD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505200"/>
            <a:ext cx="457200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Rectangle 5">
            <a:extLst>
              <a:ext uri="{FF2B5EF4-FFF2-40B4-BE49-F238E27FC236}">
                <a16:creationId xmlns:a16="http://schemas.microsoft.com/office/drawing/2014/main" id="{10E69455-C3B8-BF06-7F6E-FD10C871C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105400"/>
            <a:ext cx="1484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 b="1"/>
              <a:t>σ</a:t>
            </a:r>
            <a:r>
              <a:rPr lang="en-US" altLang="en-US" sz="1800" b="1"/>
              <a:t> region 3.2</a:t>
            </a:r>
          </a:p>
        </p:txBody>
      </p:sp>
      <p:sp>
        <p:nvSpPr>
          <p:cNvPr id="35846" name="Line 6">
            <a:extLst>
              <a:ext uri="{FF2B5EF4-FFF2-40B4-BE49-F238E27FC236}">
                <a16:creationId xmlns:a16="http://schemas.microsoft.com/office/drawing/2014/main" id="{9D00DB79-27B8-7FD0-699B-DD170BC429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4648200"/>
            <a:ext cx="1676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1">
            <a:extLst>
              <a:ext uri="{FF2B5EF4-FFF2-40B4-BE49-F238E27FC236}">
                <a16:creationId xmlns:a16="http://schemas.microsoft.com/office/drawing/2014/main" id="{82A98D53-87A1-622E-3ECA-BF070887198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25EF8A-A18A-284D-9BE6-5CFD452C2285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66CC497E-79CD-C4E3-4E48-5221A82C0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62000"/>
            <a:ext cx="7993063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Region 3.2 (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</a:t>
            </a:r>
            <a:r>
              <a:rPr lang="en-US" altLang="en-US" sz="2200" b="1" baseline="-25000">
                <a:cs typeface="Arial" panose="020B0604020202020204" pitchFamily="34" charset="0"/>
                <a:sym typeface="Symbol" pitchFamily="2" charset="2"/>
              </a:rPr>
              <a:t>3/4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 linker</a:t>
            </a:r>
            <a:r>
              <a:rPr lang="en-US" altLang="en-US" sz="2200" b="1">
                <a:cs typeface="Arial" panose="020B0604020202020204" pitchFamily="34" charset="0"/>
              </a:rPr>
              <a:t>) is a molecular mimic filling the RNA exit channel.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Scrunching stores energy - bubble expands to 22-24 nucleotides.  Collapse to 12-14 provides energy to break polymerase-promoter and core-</a:t>
            </a:r>
            <a:r>
              <a:rPr lang="en-US" altLang="en-US" sz="2200" b="1">
                <a:cs typeface="Arial" panose="020B0604020202020204" pitchFamily="34" charset="0"/>
                <a:sym typeface="Symbol" pitchFamily="2" charset="2"/>
              </a:rPr>
              <a:t> interactions.</a:t>
            </a: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36868" name="Picture 4" descr="fg12-081">
            <a:extLst>
              <a:ext uri="{FF2B5EF4-FFF2-40B4-BE49-F238E27FC236}">
                <a16:creationId xmlns:a16="http://schemas.microsoft.com/office/drawing/2014/main" id="{FDFD923D-294C-8867-E229-4883B39F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505200"/>
            <a:ext cx="457200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Rectangle 5">
            <a:extLst>
              <a:ext uri="{FF2B5EF4-FFF2-40B4-BE49-F238E27FC236}">
                <a16:creationId xmlns:a16="http://schemas.microsoft.com/office/drawing/2014/main" id="{BFF945AD-C298-91E2-2A8A-88F9CCD5F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105400"/>
            <a:ext cx="1484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 b="1"/>
              <a:t>σ</a:t>
            </a:r>
            <a:r>
              <a:rPr lang="en-US" altLang="en-US" sz="1800" b="1"/>
              <a:t> region 3.2</a:t>
            </a:r>
          </a:p>
        </p:txBody>
      </p:sp>
      <p:sp>
        <p:nvSpPr>
          <p:cNvPr id="36870" name="Line 6">
            <a:extLst>
              <a:ext uri="{FF2B5EF4-FFF2-40B4-BE49-F238E27FC236}">
                <a16:creationId xmlns:a16="http://schemas.microsoft.com/office/drawing/2014/main" id="{86BAC280-9120-FC78-3BFE-1B1292E398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4648200"/>
            <a:ext cx="1676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1">
            <a:extLst>
              <a:ext uri="{FF2B5EF4-FFF2-40B4-BE49-F238E27FC236}">
                <a16:creationId xmlns:a16="http://schemas.microsoft.com/office/drawing/2014/main" id="{67C9CF19-CFAC-855E-6F61-B1FB5C6BC6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CA8708-ABA1-6347-B00F-71F6450F6046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7891" name="Text Box 2">
            <a:extLst>
              <a:ext uri="{FF2B5EF4-FFF2-40B4-BE49-F238E27FC236}">
                <a16:creationId xmlns:a16="http://schemas.microsoft.com/office/drawing/2014/main" id="{C2B41EB5-AC4A-40AE-7BCB-9350B2CB5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227138"/>
            <a:ext cx="7993062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During elongation DNA passes through enzyme in similar manner as in open complex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Only 8 or 9 nucleotides of growing RNA chain remain paired w/ template, the remainder exit through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RNA exit channel.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:a16="http://schemas.microsoft.com/office/drawing/2014/main" id="{31DDC753-C695-F0DC-D3DC-CFF129F9A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61950"/>
            <a:ext cx="76962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C00000"/>
                </a:solidFill>
              </a:rPr>
              <a:t>Elongation </a:t>
            </a:r>
          </a:p>
        </p:txBody>
      </p:sp>
      <p:pic>
        <p:nvPicPr>
          <p:cNvPr id="37893" name="Picture 4" descr="fg12-081">
            <a:extLst>
              <a:ext uri="{FF2B5EF4-FFF2-40B4-BE49-F238E27FC236}">
                <a16:creationId xmlns:a16="http://schemas.microsoft.com/office/drawing/2014/main" id="{92E6CBD4-2A2C-CF7A-D4BE-5249C09EC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505200"/>
            <a:ext cx="457200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1">
            <a:extLst>
              <a:ext uri="{FF2B5EF4-FFF2-40B4-BE49-F238E27FC236}">
                <a16:creationId xmlns:a16="http://schemas.microsoft.com/office/drawing/2014/main" id="{D1D47A54-247D-4891-6000-F5E2ECD7BC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44A0D8-4EF8-BC46-A772-8F2A75F11780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2A59DB0B-847F-4BA9-CA4F-2AABDE00E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8" y="4797425"/>
            <a:ext cx="89154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During elongation DNA passes through enzyme in similar manner as in open complex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Only 8 or 9 nucleotides of growing RNA chain remain paired w/ template, the remainder exit through RNA exit channel.</a:t>
            </a: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38916" name="Picture 5" descr="12_Figure10">
            <a:extLst>
              <a:ext uri="{FF2B5EF4-FFF2-40B4-BE49-F238E27FC236}">
                <a16:creationId xmlns:a16="http://schemas.microsoft.com/office/drawing/2014/main" id="{49AE8BFB-403E-2E8F-C8E3-1FB7681FE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0"/>
            <a:ext cx="6019800" cy="463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1">
            <a:extLst>
              <a:ext uri="{FF2B5EF4-FFF2-40B4-BE49-F238E27FC236}">
                <a16:creationId xmlns:a16="http://schemas.microsoft.com/office/drawing/2014/main" id="{46217CBE-4D44-94D4-19A8-CB2D1D429F9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A4C496-961A-824B-A6CE-C161385139CE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39939" name="Text Box 2">
            <a:extLst>
              <a:ext uri="{FF2B5EF4-FFF2-40B4-BE49-F238E27FC236}">
                <a16:creationId xmlns:a16="http://schemas.microsoft.com/office/drawing/2014/main" id="{0B4C4762-F5AE-5CA3-BC44-194FAC93C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8200"/>
            <a:ext cx="8353425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RNA pol carries out two proofreading functions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 u="sng">
                <a:cs typeface="Arial" panose="020B0604020202020204" pitchFamily="34" charset="0"/>
              </a:rPr>
              <a:t>1- </a:t>
            </a:r>
            <a:r>
              <a:rPr lang="en-US" altLang="en-US" sz="2200" b="1" u="sng">
                <a:solidFill>
                  <a:srgbClr val="C00000"/>
                </a:solidFill>
                <a:cs typeface="Arial" panose="020B0604020202020204" pitchFamily="34" charset="0"/>
              </a:rPr>
              <a:t>Pyrophosphorolytic editing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="1">
                <a:cs typeface="Arial" panose="020B0604020202020204" pitchFamily="34" charset="0"/>
              </a:rPr>
              <a:t>= simple back reaction catalyzing the removal of mispairs ribonucleotide - reincorporation of PPi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Correct or incorrect nucleotides can be removed, but incorrect removed more frequently</a:t>
            </a:r>
          </a:p>
        </p:txBody>
      </p:sp>
      <p:sp>
        <p:nvSpPr>
          <p:cNvPr id="39940" name="Text Box 3">
            <a:extLst>
              <a:ext uri="{FF2B5EF4-FFF2-40B4-BE49-F238E27FC236}">
                <a16:creationId xmlns:a16="http://schemas.microsoft.com/office/drawing/2014/main" id="{AB15FE43-32C7-7CA7-A168-C223B0E65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Transcript Editing </a:t>
            </a:r>
          </a:p>
        </p:txBody>
      </p:sp>
      <p:pic>
        <p:nvPicPr>
          <p:cNvPr id="39941" name="Picture 4" descr="fg12-081">
            <a:extLst>
              <a:ext uri="{FF2B5EF4-FFF2-40B4-BE49-F238E27FC236}">
                <a16:creationId xmlns:a16="http://schemas.microsoft.com/office/drawing/2014/main" id="{3C111DB1-D64D-DDDF-704A-C9B0DD1E1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505200"/>
            <a:ext cx="457200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1">
            <a:extLst>
              <a:ext uri="{FF2B5EF4-FFF2-40B4-BE49-F238E27FC236}">
                <a16:creationId xmlns:a16="http://schemas.microsoft.com/office/drawing/2014/main" id="{442235BE-6535-1D94-E31A-E925B882E4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65CCB8-A387-6E48-9293-109D76B3BA39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40963" name="Text Box 2">
            <a:extLst>
              <a:ext uri="{FF2B5EF4-FFF2-40B4-BE49-F238E27FC236}">
                <a16:creationId xmlns:a16="http://schemas.microsoft.com/office/drawing/2014/main" id="{AEA39836-3299-7C9F-05F9-DBB04DBFB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549275"/>
            <a:ext cx="8135937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 u="sng">
                <a:solidFill>
                  <a:srgbClr val="C00000"/>
                </a:solidFill>
                <a:cs typeface="Arial" panose="020B0604020202020204" pitchFamily="34" charset="0"/>
              </a:rPr>
              <a:t>2- Hydrolytic Editing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="1">
                <a:cs typeface="Arial" panose="020B0604020202020204" pitchFamily="34" charset="0"/>
              </a:rPr>
              <a:t>= polymerase backtracks one or more nucleotides and cleaves RNA product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Hydrolytic editing is stimulated by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Gre </a:t>
            </a:r>
            <a:r>
              <a:rPr lang="en-US" altLang="en-US" sz="2200" b="1">
                <a:cs typeface="Arial" panose="020B0604020202020204" pitchFamily="34" charset="0"/>
              </a:rPr>
              <a:t>factors which also generally stimulate elongation (eukaryotic TFIIS)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Nus</a:t>
            </a:r>
            <a:r>
              <a:rPr lang="en-US" altLang="en-US" sz="2200" b="1">
                <a:cs typeface="Arial" panose="020B0604020202020204" pitchFamily="34" charset="0"/>
              </a:rPr>
              <a:t> proteins also stimulate elongation and termination</a:t>
            </a:r>
          </a:p>
        </p:txBody>
      </p:sp>
      <p:pic>
        <p:nvPicPr>
          <p:cNvPr id="40964" name="Picture 5" descr="12_Figure10d">
            <a:extLst>
              <a:ext uri="{FF2B5EF4-FFF2-40B4-BE49-F238E27FC236}">
                <a16:creationId xmlns:a16="http://schemas.microsoft.com/office/drawing/2014/main" id="{0C9A170D-A91D-0BD6-FDEA-9CDE0C444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657600"/>
            <a:ext cx="4808538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1">
            <a:extLst>
              <a:ext uri="{FF2B5EF4-FFF2-40B4-BE49-F238E27FC236}">
                <a16:creationId xmlns:a16="http://schemas.microsoft.com/office/drawing/2014/main" id="{53BEF0D6-23BC-D38D-DCAE-841D2D4713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EAFE99-CDE2-2A45-9D39-620F2F644F3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41987" name="Text Box 2">
            <a:extLst>
              <a:ext uri="{FF2B5EF4-FFF2-40B4-BE49-F238E27FC236}">
                <a16:creationId xmlns:a16="http://schemas.microsoft.com/office/drawing/2014/main" id="{98DA7E85-8A9A-7C07-2FFF-4311AE3E4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1341438"/>
            <a:ext cx="81343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 u="sng">
                <a:cs typeface="Arial" panose="020B0604020202020204" pitchFamily="34" charset="0"/>
              </a:rPr>
              <a:t>Stalled RNA pol - e.g. at damaged DNA - can be removed from DNA strand</a:t>
            </a:r>
            <a:endParaRPr lang="el-GR" altLang="en-US" sz="2200" b="1" u="sng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 u="sng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 u="sng">
                <a:solidFill>
                  <a:srgbClr val="C00000"/>
                </a:solidFill>
                <a:cs typeface="Arial" panose="020B0604020202020204" pitchFamily="34" charset="0"/>
              </a:rPr>
              <a:t>The bacterial transcription-repair coupling factor</a:t>
            </a:r>
            <a:r>
              <a:rPr lang="en-US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 (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TRCF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)</a:t>
            </a:r>
            <a:r>
              <a:rPr lang="en-US" altLang="en-US" sz="2200" b="1">
                <a:cs typeface="Arial" panose="020B0604020202020204" pitchFamily="34" charset="0"/>
              </a:rPr>
              <a:t> protein removes RNA polymerase and recruits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DNA repair enzymes (Uvr(A)BC)) for transcription-coupled DNA repair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TRCF is an ATPase: It binds dsDNA upstream of pol and uses ATPase motor to translocate along DNA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Encountering stalled pol can either restart or removed pol from DNA.</a:t>
            </a:r>
          </a:p>
        </p:txBody>
      </p:sp>
      <p:sp>
        <p:nvSpPr>
          <p:cNvPr id="41988" name="Text Box 3">
            <a:extLst>
              <a:ext uri="{FF2B5EF4-FFF2-40B4-BE49-F238E27FC236}">
                <a16:creationId xmlns:a16="http://schemas.microsoft.com/office/drawing/2014/main" id="{489FFE56-8950-3226-BC3C-DDFA3E7D3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Polymerase removal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1">
            <a:extLst>
              <a:ext uri="{FF2B5EF4-FFF2-40B4-BE49-F238E27FC236}">
                <a16:creationId xmlns:a16="http://schemas.microsoft.com/office/drawing/2014/main" id="{7D8E5472-3F71-83DA-BB49-BDD6FF906E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A21D6F-4AA4-3544-87CE-952E67743ED8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43011" name="Text Box 2">
            <a:extLst>
              <a:ext uri="{FF2B5EF4-FFF2-40B4-BE49-F238E27FC236}">
                <a16:creationId xmlns:a16="http://schemas.microsoft.com/office/drawing/2014/main" id="{DDA51C4A-008F-C148-0E4E-79161A52C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31913"/>
            <a:ext cx="821055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Terminator sequences trigger polymerase to dissociate from DNA.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Bacteria have Rho-dependent and Rho-Independent terminators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Rho-independent, or </a:t>
            </a:r>
            <a:r>
              <a:rPr lang="en-US" altLang="en-US" sz="2200" b="1" u="sng">
                <a:solidFill>
                  <a:srgbClr val="C00000"/>
                </a:solidFill>
                <a:cs typeface="Arial" panose="020B0604020202020204" pitchFamily="34" charset="0"/>
              </a:rPr>
              <a:t>intrinsic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, terminators consist of an inverted repeat</a:t>
            </a:r>
          </a:p>
        </p:txBody>
      </p:sp>
      <p:sp>
        <p:nvSpPr>
          <p:cNvPr id="43012" name="Text Box 3">
            <a:extLst>
              <a:ext uri="{FF2B5EF4-FFF2-40B4-BE49-F238E27FC236}">
                <a16:creationId xmlns:a16="http://schemas.microsoft.com/office/drawing/2014/main" id="{8E6B270D-AFFC-42F5-B74E-0C049D8A5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361950"/>
            <a:ext cx="76962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C00000"/>
                </a:solidFill>
              </a:rPr>
              <a:t>Termination </a:t>
            </a:r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583327AC-D4A6-97B7-4180-1793A8D1B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076700"/>
            <a:ext cx="6477000" cy="137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Rectangle 1">
            <a:extLst>
              <a:ext uri="{FF2B5EF4-FFF2-40B4-BE49-F238E27FC236}">
                <a16:creationId xmlns:a16="http://schemas.microsoft.com/office/drawing/2014/main" id="{E18C21E8-698B-1F06-07BE-D48C4F87A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538" y="5627688"/>
            <a:ext cx="5400675" cy="36988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</a:rPr>
              <a:t>Sequence of a Rho-independent terminator.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1">
            <a:extLst>
              <a:ext uri="{FF2B5EF4-FFF2-40B4-BE49-F238E27FC236}">
                <a16:creationId xmlns:a16="http://schemas.microsoft.com/office/drawing/2014/main" id="{310E9F67-345B-8CDC-49AD-C06B67671E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1B425A-7F10-C049-A8D9-60527EF62336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61568059-09EC-A21F-283F-FAEAB3CC4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75" y="981075"/>
            <a:ext cx="4887913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Intrinsic terminators </a:t>
            </a:r>
            <a:r>
              <a:rPr lang="en-US" altLang="en-US" sz="2200" b="1">
                <a:cs typeface="Arial" panose="020B0604020202020204" pitchFamily="34" charset="0"/>
              </a:rPr>
              <a:t>function in the RNA product.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The transcribed RNA folds on itself, forming a hairpin structure which disturbs the elongation complex.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The hairpin only works when followed by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A:U pairs</a:t>
            </a:r>
            <a:r>
              <a:rPr lang="en-US" altLang="en-US" sz="2200" b="1">
                <a:cs typeface="Arial" panose="020B0604020202020204" pitchFamily="34" charset="0"/>
              </a:rPr>
              <a:t>, the weakest of the base pairings.</a:t>
            </a:r>
          </a:p>
        </p:txBody>
      </p:sp>
      <p:sp>
        <p:nvSpPr>
          <p:cNvPr id="44036" name="Text Box 3">
            <a:extLst>
              <a:ext uri="{FF2B5EF4-FFF2-40B4-BE49-F238E27FC236}">
                <a16:creationId xmlns:a16="http://schemas.microsoft.com/office/drawing/2014/main" id="{C078A211-486D-AD12-6B85-DD39D784B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49225"/>
            <a:ext cx="8683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</a:rPr>
              <a:t>Termination through a Rho-independent terminator. </a:t>
            </a:r>
          </a:p>
        </p:txBody>
      </p:sp>
      <p:pic>
        <p:nvPicPr>
          <p:cNvPr id="44037" name="Picture 6" descr="fg12-101">
            <a:extLst>
              <a:ext uri="{FF2B5EF4-FFF2-40B4-BE49-F238E27FC236}">
                <a16:creationId xmlns:a16="http://schemas.microsoft.com/office/drawing/2014/main" id="{1C6604FF-D9FD-F63D-5C38-475BFF56B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063" y="981075"/>
            <a:ext cx="4198937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7">
            <a:extLst>
              <a:ext uri="{FF2B5EF4-FFF2-40B4-BE49-F238E27FC236}">
                <a16:creationId xmlns:a16="http://schemas.microsoft.com/office/drawing/2014/main" id="{3981FB96-C8C6-6A14-9D13-3CFDF9751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4564063"/>
            <a:ext cx="3279775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1">
            <a:extLst>
              <a:ext uri="{FF2B5EF4-FFF2-40B4-BE49-F238E27FC236}">
                <a16:creationId xmlns:a16="http://schemas.microsoft.com/office/drawing/2014/main" id="{65FD2021-0B8B-7ADB-9828-E9380A185C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86DEB6-255F-B64B-8A33-1E059EA4614A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90828BF2-1201-B204-47A8-546B71613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762000"/>
            <a:ext cx="52260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Rho-dependent termination is less well characterized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The Rho factor is a ring-shaped protein w/ 6 identical subunits that binds RNA as it exits the pol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The Rho factor is an ATPase, using energy from ATP to separate the RNA from the template and pol - possibly pushing as in TRCF system (conformational changes)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45060" name="Picture 6" descr="fg12-11">
            <a:extLst>
              <a:ext uri="{FF2B5EF4-FFF2-40B4-BE49-F238E27FC236}">
                <a16:creationId xmlns:a16="http://schemas.microsoft.com/office/drawing/2014/main" id="{614F9609-01AE-B187-0233-002B3E24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762000"/>
            <a:ext cx="3516313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Rectangle 1">
            <a:extLst>
              <a:ext uri="{FF2B5EF4-FFF2-40B4-BE49-F238E27FC236}">
                <a16:creationId xmlns:a16="http://schemas.microsoft.com/office/drawing/2014/main" id="{49F87BE7-66C9-B53F-630C-2BD3DB62B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450" y="4460875"/>
            <a:ext cx="2665413" cy="646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The Rho transcription termination factor.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ate Placeholder 1">
            <a:extLst>
              <a:ext uri="{FF2B5EF4-FFF2-40B4-BE49-F238E27FC236}">
                <a16:creationId xmlns:a16="http://schemas.microsoft.com/office/drawing/2014/main" id="{927CF363-020A-172C-1159-B810CCA0C6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61E40A-A164-6343-B6FF-5426FE13AECD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46083" name="Text Box 2">
            <a:extLst>
              <a:ext uri="{FF2B5EF4-FFF2-40B4-BE49-F238E27FC236}">
                <a16:creationId xmlns:a16="http://schemas.microsoft.com/office/drawing/2014/main" id="{65978CAC-B95F-0BD6-F3FA-C3539967F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0"/>
            <a:ext cx="4953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There is some seq. sp. in binding (</a:t>
            </a:r>
            <a:r>
              <a:rPr lang="en-US" altLang="en-US" sz="2200" b="1" i="1"/>
              <a:t>rut</a:t>
            </a:r>
            <a:r>
              <a:rPr lang="en-US" altLang="en-US" sz="2200" b="1"/>
              <a:t> sites, `40bp, no 2</a:t>
            </a:r>
            <a:r>
              <a:rPr lang="en-US" altLang="en-US" sz="2200" b="1">
                <a:cs typeface="Arial" panose="020B0604020202020204" pitchFamily="34" charset="0"/>
              </a:rPr>
              <a:t>° structure, C-rich), but less than in intrinsic terminators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Recent studies also have suggested that Rho binds to RNA polymerase throughout the transcription cycle</a:t>
            </a:r>
          </a:p>
          <a:p>
            <a:pPr eaLnBrk="1" hangingPunct="1">
              <a:spcBef>
                <a:spcPct val="0"/>
              </a:spcBef>
            </a:pPr>
            <a:endParaRPr lang="en-US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Rho factors do not bind to transcript that is being translated (coupled in bacteria).</a:t>
            </a:r>
          </a:p>
          <a:p>
            <a:pPr eaLnBrk="1" hangingPunct="1">
              <a:spcBef>
                <a:spcPct val="0"/>
              </a:spcBef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pic>
        <p:nvPicPr>
          <p:cNvPr id="46084" name="Picture 4" descr="fg12-11">
            <a:extLst>
              <a:ext uri="{FF2B5EF4-FFF2-40B4-BE49-F238E27FC236}">
                <a16:creationId xmlns:a16="http://schemas.microsoft.com/office/drawing/2014/main" id="{398E8685-A4A7-579F-C455-45E082F8C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219200"/>
            <a:ext cx="3221038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Date Placeholder 1">
            <a:extLst>
              <a:ext uri="{FF2B5EF4-FFF2-40B4-BE49-F238E27FC236}">
                <a16:creationId xmlns:a16="http://schemas.microsoft.com/office/drawing/2014/main" id="{E0B2C874-119A-0E00-5EA7-224615732E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0CA11A-8729-554C-86E0-ECF330547F75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7BADBB85-7BCA-8493-D474-194599D54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79248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Transcription is similar in both prokaryotes and eukaryotes, but: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FF0000"/>
                </a:solidFill>
              </a:rPr>
              <a:t>Single</a:t>
            </a:r>
            <a:r>
              <a:rPr lang="en-US" altLang="en-US" sz="2200" b="1"/>
              <a:t> RNA pol in prokaryotes, </a:t>
            </a:r>
            <a:r>
              <a:rPr lang="en-US" altLang="en-US" sz="2200" b="1">
                <a:solidFill>
                  <a:srgbClr val="FF0000"/>
                </a:solidFill>
              </a:rPr>
              <a:t>3</a:t>
            </a:r>
            <a:r>
              <a:rPr lang="en-US" altLang="en-US" sz="2200" b="1"/>
              <a:t> in eukaryotes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Several initiation factors, general transcription factors (GTFs) are required, not just a single, </a:t>
            </a:r>
            <a:r>
              <a:rPr lang="el-GR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σ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 factor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 i="1">
                <a:cs typeface="Arial" panose="020B0604020202020204" pitchFamily="34" charset="0"/>
              </a:rPr>
              <a:t>in vivo</a:t>
            </a:r>
            <a:r>
              <a:rPr lang="en-US" altLang="en-US" sz="2200" b="1">
                <a:cs typeface="Arial" panose="020B0604020202020204" pitchFamily="34" charset="0"/>
              </a:rPr>
              <a:t>, the presence of nucleosomes requires </a:t>
            </a:r>
            <a:r>
              <a:rPr lang="en-US" altLang="en-US" sz="2200" b="1" u="sng">
                <a:solidFill>
                  <a:srgbClr val="C00000"/>
                </a:solidFill>
                <a:cs typeface="Arial" panose="020B0604020202020204" pitchFamily="34" charset="0"/>
              </a:rPr>
              <a:t>Mediator Complex</a:t>
            </a:r>
            <a:r>
              <a:rPr lang="en-US" altLang="en-US" sz="2200" b="1">
                <a:cs typeface="Arial" panose="020B0604020202020204" pitchFamily="34" charset="0"/>
              </a:rPr>
              <a:t>, additional DNA-binding proteins and chromatin-modifying proteins, for transcription.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47108" name="Text Box 3">
            <a:extLst>
              <a:ext uri="{FF2B5EF4-FFF2-40B4-BE49-F238E27FC236}">
                <a16:creationId xmlns:a16="http://schemas.microsoft.com/office/drawing/2014/main" id="{1C5B57D1-09F7-9B45-05EF-8010E0C74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6388"/>
            <a:ext cx="800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Eukaryotic vs Prokaryotic Transcription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1">
            <a:extLst>
              <a:ext uri="{FF2B5EF4-FFF2-40B4-BE49-F238E27FC236}">
                <a16:creationId xmlns:a16="http://schemas.microsoft.com/office/drawing/2014/main" id="{0D5E49E4-91FD-1E30-AEF8-6500CCDF1C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27B7E6-D151-C840-9C51-7E43674F50D7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12/1/24</a:t>
            </a:fld>
            <a:endParaRPr lang="en-US" altLang="en-US" sz="1400"/>
          </a:p>
        </p:txBody>
      </p:sp>
      <p:pic>
        <p:nvPicPr>
          <p:cNvPr id="48131" name="Picture 2" descr="Print page">
            <a:extLst>
              <a:ext uri="{FF2B5EF4-FFF2-40B4-BE49-F238E27FC236}">
                <a16:creationId xmlns:a16="http://schemas.microsoft.com/office/drawing/2014/main" id="{C2E80EA1-0E69-F026-A91E-367FF3A0D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04813"/>
            <a:ext cx="667067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4" descr="Core Promoters | SpringerLink">
            <a:extLst>
              <a:ext uri="{FF2B5EF4-FFF2-40B4-BE49-F238E27FC236}">
                <a16:creationId xmlns:a16="http://schemas.microsoft.com/office/drawing/2014/main" id="{2B80192B-2E2C-D2EF-C2A7-0582FF163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427413"/>
            <a:ext cx="8928100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7" descr="12_Figure14">
            <a:extLst>
              <a:ext uri="{FF2B5EF4-FFF2-40B4-BE49-F238E27FC236}">
                <a16:creationId xmlns:a16="http://schemas.microsoft.com/office/drawing/2014/main" id="{C95E7184-3D5E-5A34-C4C9-172AB8755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917575"/>
            <a:ext cx="8548687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Text Box 2">
            <a:extLst>
              <a:ext uri="{FF2B5EF4-FFF2-40B4-BE49-F238E27FC236}">
                <a16:creationId xmlns:a16="http://schemas.microsoft.com/office/drawing/2014/main" id="{42E6E28B-0234-2337-58F7-77BD42D52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2781300"/>
            <a:ext cx="8659813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US" altLang="en-US" sz="2200" b="1" dirty="0">
                <a:solidFill>
                  <a:srgbClr val="C00000"/>
                </a:solidFill>
              </a:rPr>
              <a:t>Eukaryotic core promoter </a:t>
            </a:r>
            <a:r>
              <a:rPr lang="en-US" altLang="en-US" sz="2200" b="1" dirty="0"/>
              <a:t>=  </a:t>
            </a:r>
            <a:r>
              <a:rPr lang="en-US" altLang="en-US" sz="2200" b="1" dirty="0">
                <a:solidFill>
                  <a:srgbClr val="C00000"/>
                </a:solidFill>
              </a:rPr>
              <a:t>minimal set of seq. elements </a:t>
            </a:r>
            <a:r>
              <a:rPr lang="en-US" altLang="en-US" sz="2200" b="1" dirty="0"/>
              <a:t>required </a:t>
            </a:r>
            <a:r>
              <a:rPr lang="en-US" altLang="en-US" sz="2200" b="1" dirty="0">
                <a:solidFill>
                  <a:srgbClr val="7030A0"/>
                </a:solidFill>
              </a:rPr>
              <a:t>for accurate transcription initiation by pol II </a:t>
            </a:r>
            <a:r>
              <a:rPr lang="en-US" altLang="en-US" sz="2200" b="1" i="1" dirty="0">
                <a:solidFill>
                  <a:srgbClr val="7030A0"/>
                </a:solidFill>
              </a:rPr>
              <a:t>in vitro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altLang="en-US" sz="1000" b="1" dirty="0"/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2200" b="1" dirty="0"/>
              <a:t>~40-60 nucleotides long, extending either up or downstream of </a:t>
            </a:r>
            <a:r>
              <a:rPr lang="en-US" altLang="en-US" sz="2200" b="1" dirty="0">
                <a:solidFill>
                  <a:srgbClr val="00B050"/>
                </a:solidFill>
              </a:rPr>
              <a:t>transcription start site</a:t>
            </a:r>
            <a:r>
              <a:rPr lang="en-US" altLang="en-US" sz="2200" b="1" dirty="0"/>
              <a:t>, components are 2 or 3 of:</a:t>
            </a:r>
            <a:endParaRPr lang="el-GR" altLang="en-US" sz="22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US" altLang="en-US" sz="12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BRE</a:t>
            </a:r>
            <a:r>
              <a:rPr lang="en-US" altLang="en-US" sz="2200" b="1" dirty="0">
                <a:cs typeface="Arial" panose="020B0604020202020204" pitchFamily="34" charset="0"/>
              </a:rPr>
              <a:t> = TFIIB recognition element</a:t>
            </a:r>
            <a:endParaRPr lang="el-GR" altLang="en-US" sz="22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US" altLang="en-US" sz="12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TATA element or box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altLang="en-US" sz="10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Initiator</a:t>
            </a:r>
            <a:r>
              <a:rPr lang="en-US" altLang="en-US" sz="2200" b="1" dirty="0">
                <a:cs typeface="Arial" panose="020B0604020202020204" pitchFamily="34" charset="0"/>
              </a:rPr>
              <a:t> = </a:t>
            </a:r>
            <a:r>
              <a:rPr lang="en-US" altLang="en-US" sz="2200" b="1" dirty="0" err="1">
                <a:cs typeface="Arial" panose="020B0604020202020204" pitchFamily="34" charset="0"/>
              </a:rPr>
              <a:t>Inr</a:t>
            </a:r>
            <a:endParaRPr lang="en-US" altLang="en-US" sz="22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US" altLang="en-US" sz="10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Downstream promoter elements </a:t>
            </a:r>
            <a:r>
              <a:rPr lang="en-US" altLang="en-US" sz="2200" b="1" dirty="0">
                <a:cs typeface="Arial" panose="020B0604020202020204" pitchFamily="34" charset="0"/>
              </a:rPr>
              <a:t>= DPE, DCE, MTE</a:t>
            </a:r>
          </a:p>
          <a:p>
            <a:pPr marL="0" indent="0"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   (</a:t>
            </a:r>
            <a:r>
              <a:rPr lang="en-US" altLang="en-US" sz="1800" b="1" u="sng" dirty="0">
                <a:solidFill>
                  <a:srgbClr val="002060"/>
                </a:solidFill>
                <a:cs typeface="Arial" panose="020B0604020202020204" pitchFamily="34" charset="0"/>
              </a:rPr>
              <a:t>DCE</a:t>
            </a:r>
            <a:r>
              <a:rPr lang="en-US" alt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: downstream control/core element, </a:t>
            </a:r>
            <a:r>
              <a:rPr lang="en-US" altLang="en-US" sz="1800" b="1" u="sng" dirty="0">
                <a:solidFill>
                  <a:srgbClr val="002060"/>
                </a:solidFill>
                <a:cs typeface="Arial" panose="020B0604020202020204" pitchFamily="34" charset="0"/>
              </a:rPr>
              <a:t>MTE</a:t>
            </a:r>
            <a:r>
              <a:rPr lang="en-US" alt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: motif ten element)</a:t>
            </a:r>
          </a:p>
        </p:txBody>
      </p:sp>
      <p:sp>
        <p:nvSpPr>
          <p:cNvPr id="49156" name="Text Box 3">
            <a:extLst>
              <a:ext uri="{FF2B5EF4-FFF2-40B4-BE49-F238E27FC236}">
                <a16:creationId xmlns:a16="http://schemas.microsoft.com/office/drawing/2014/main" id="{F0453862-23BB-1223-3258-B3C1D983C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0"/>
            <a:ext cx="6207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Eukaryotic Transcription</a:t>
            </a:r>
          </a:p>
        </p:txBody>
      </p:sp>
      <p:sp>
        <p:nvSpPr>
          <p:cNvPr id="49157" name="Text Box 5">
            <a:extLst>
              <a:ext uri="{FF2B5EF4-FFF2-40B4-BE49-F238E27FC236}">
                <a16:creationId xmlns:a16="http://schemas.microsoft.com/office/drawing/2014/main" id="{3F9CA39D-3518-5488-6827-75C4CA757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07975"/>
            <a:ext cx="2987675" cy="33972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/>
              <a:t>General Transcription Factor</a:t>
            </a:r>
          </a:p>
        </p:txBody>
      </p:sp>
      <p:sp>
        <p:nvSpPr>
          <p:cNvPr id="49158" name="Text Box 6">
            <a:extLst>
              <a:ext uri="{FF2B5EF4-FFF2-40B4-BE49-F238E27FC236}">
                <a16:creationId xmlns:a16="http://schemas.microsoft.com/office/drawing/2014/main" id="{D5CBC3E2-84E9-6D7A-FECD-A68D34002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2443163"/>
            <a:ext cx="2339975" cy="3381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/>
              <a:t>Consensus Sequence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1">
            <a:extLst>
              <a:ext uri="{FF2B5EF4-FFF2-40B4-BE49-F238E27FC236}">
                <a16:creationId xmlns:a16="http://schemas.microsoft.com/office/drawing/2014/main" id="{DA487501-4A5C-B85C-3698-F903CC599F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530352-4D2D-9A44-BE8E-377C83E650E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FAF2F08C-2A65-9495-BCC0-28160F6B7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2779713"/>
            <a:ext cx="8472487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Other seq. elements, generally upstream of the core, are required for efficient transcription = </a:t>
            </a:r>
            <a:r>
              <a:rPr lang="en-US" altLang="en-US" sz="2200" b="1">
                <a:solidFill>
                  <a:srgbClr val="C00000"/>
                </a:solidFill>
              </a:rPr>
              <a:t>regulatory sequences</a:t>
            </a:r>
            <a:r>
              <a:rPr lang="en-US" altLang="en-US" sz="2200" b="1"/>
              <a:t>: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Promoter proximal elements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Upstream activator sequences (UASs)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Enhancers</a:t>
            </a:r>
            <a:r>
              <a:rPr lang="en-US" altLang="en-US" sz="2200" b="1">
                <a:cs typeface="Arial" panose="020B0604020202020204" pitchFamily="34" charset="0"/>
              </a:rPr>
              <a:t> (activating) and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Silencers</a:t>
            </a:r>
            <a:r>
              <a:rPr lang="en-US" altLang="en-US" sz="2200" b="1">
                <a:cs typeface="Arial" panose="020B0604020202020204" pitchFamily="34" charset="0"/>
              </a:rPr>
              <a:t> (repressing elements)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Boundary elements and insulators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All of these bind regulatory proteins (activators and repressors) which help or hinder transcription from the core promoter, can be located 10s to 100s of Kb from core</a:t>
            </a:r>
          </a:p>
        </p:txBody>
      </p:sp>
      <p:pic>
        <p:nvPicPr>
          <p:cNvPr id="50180" name="Picture 7" descr="12_Figure14">
            <a:extLst>
              <a:ext uri="{FF2B5EF4-FFF2-40B4-BE49-F238E27FC236}">
                <a16:creationId xmlns:a16="http://schemas.microsoft.com/office/drawing/2014/main" id="{37035718-9F21-525B-93B4-60B6E9B0E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548688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 Box 8">
            <a:extLst>
              <a:ext uri="{FF2B5EF4-FFF2-40B4-BE49-F238E27FC236}">
                <a16:creationId xmlns:a16="http://schemas.microsoft.com/office/drawing/2014/main" id="{579EC4D3-51CF-832B-FDC2-1594CF4A1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30200"/>
            <a:ext cx="3355975" cy="36988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General Transcription Factor</a:t>
            </a:r>
          </a:p>
        </p:txBody>
      </p:sp>
      <p:sp>
        <p:nvSpPr>
          <p:cNvPr id="50182" name="Text Box 9">
            <a:extLst>
              <a:ext uri="{FF2B5EF4-FFF2-40B4-BE49-F238E27FC236}">
                <a16:creationId xmlns:a16="http://schemas.microsoft.com/office/drawing/2014/main" id="{D7B3463E-4D5E-27D1-3130-A23EEFBD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392363"/>
            <a:ext cx="2708275" cy="3683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Consensus Sequence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ate Placeholder 1">
            <a:extLst>
              <a:ext uri="{FF2B5EF4-FFF2-40B4-BE49-F238E27FC236}">
                <a16:creationId xmlns:a16="http://schemas.microsoft.com/office/drawing/2014/main" id="{20CF5D7E-4981-2EDD-3326-A1B8D5D713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6AB516-1382-2B4C-9DE5-A859E843075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51203" name="Text Box 2">
            <a:extLst>
              <a:ext uri="{FF2B5EF4-FFF2-40B4-BE49-F238E27FC236}">
                <a16:creationId xmlns:a16="http://schemas.microsoft.com/office/drawing/2014/main" id="{E3D58256-2833-6141-CE34-A056DB496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71800"/>
            <a:ext cx="8382000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 u="sng">
                <a:solidFill>
                  <a:srgbClr val="C00000"/>
                </a:solidFill>
              </a:rPr>
              <a:t>Preinitiation complex</a:t>
            </a:r>
            <a:r>
              <a:rPr lang="en-US" altLang="en-US" sz="2200" b="1">
                <a:solidFill>
                  <a:srgbClr val="C00000"/>
                </a:solidFill>
              </a:rPr>
              <a:t> </a:t>
            </a:r>
            <a:r>
              <a:rPr lang="en-US" altLang="en-US" sz="2200" b="1"/>
              <a:t>= complete set of </a:t>
            </a:r>
            <a:r>
              <a:rPr lang="en-US" altLang="en-US" sz="2200" b="1">
                <a:solidFill>
                  <a:srgbClr val="FF0000"/>
                </a:solidFill>
              </a:rPr>
              <a:t>general</a:t>
            </a:r>
            <a:r>
              <a:rPr lang="en-US" altLang="en-US" sz="2200" b="1"/>
              <a:t> transcription factors and polymerase bound together at promoter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General transcription factors </a:t>
            </a:r>
            <a:r>
              <a:rPr lang="en-US" altLang="en-US" sz="2200" b="1"/>
              <a:t>collectively perform function of </a:t>
            </a:r>
            <a:r>
              <a:rPr lang="en-US" altLang="en-US" sz="2200" b="1">
                <a:solidFill>
                  <a:srgbClr val="FF0000"/>
                </a:solidFill>
              </a:rPr>
              <a:t>bacterial </a:t>
            </a:r>
            <a:r>
              <a:rPr lang="el-GR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σ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="1">
                <a:cs typeface="Arial" panose="020B0604020202020204" pitchFamily="34" charset="0"/>
              </a:rPr>
              <a:t>– bind promoter, </a:t>
            </a:r>
            <a:r>
              <a:rPr lang="en-US" altLang="en-US" sz="2200" b="1" u="sng">
                <a:solidFill>
                  <a:srgbClr val="B1079D"/>
                </a:solidFill>
                <a:cs typeface="Arial" panose="020B0604020202020204" pitchFamily="34" charset="0"/>
              </a:rPr>
              <a:t>melt DNA, escape promoter and begin elongation</a:t>
            </a:r>
          </a:p>
        </p:txBody>
      </p:sp>
      <p:pic>
        <p:nvPicPr>
          <p:cNvPr id="51204" name="Picture 7" descr="12_Figure14">
            <a:extLst>
              <a:ext uri="{FF2B5EF4-FFF2-40B4-BE49-F238E27FC236}">
                <a16:creationId xmlns:a16="http://schemas.microsoft.com/office/drawing/2014/main" id="{50DBC7C4-FADF-614D-9E0E-7CBFE3460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548688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Text Box 8">
            <a:extLst>
              <a:ext uri="{FF2B5EF4-FFF2-40B4-BE49-F238E27FC236}">
                <a16:creationId xmlns:a16="http://schemas.microsoft.com/office/drawing/2014/main" id="{CE67F13D-2437-A508-7013-77F5839A6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188913"/>
            <a:ext cx="3355975" cy="3683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General Transcription Factor</a:t>
            </a:r>
          </a:p>
        </p:txBody>
      </p:sp>
      <p:sp>
        <p:nvSpPr>
          <p:cNvPr id="51206" name="Text Box 9">
            <a:extLst>
              <a:ext uri="{FF2B5EF4-FFF2-40B4-BE49-F238E27FC236}">
                <a16:creationId xmlns:a16="http://schemas.microsoft.com/office/drawing/2014/main" id="{989E8A42-89AC-6162-6D10-7DBE481AB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2413000"/>
            <a:ext cx="2771775" cy="36988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Consensus Sequence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ate Placeholder 1">
            <a:extLst>
              <a:ext uri="{FF2B5EF4-FFF2-40B4-BE49-F238E27FC236}">
                <a16:creationId xmlns:a16="http://schemas.microsoft.com/office/drawing/2014/main" id="{E6A2F900-1F33-9567-0791-73E20CFD81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137752-D238-2547-8CA9-94152885EEB1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52227" name="Text Box 2">
            <a:extLst>
              <a:ext uri="{FF2B5EF4-FFF2-40B4-BE49-F238E27FC236}">
                <a16:creationId xmlns:a16="http://schemas.microsoft.com/office/drawing/2014/main" id="{EC25BF66-6BC5-AA72-4641-3092B233F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00400"/>
            <a:ext cx="8382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 eaLnBrk="1" hangingPunct="1">
              <a:spcBef>
                <a:spcPct val="0"/>
              </a:spcBef>
              <a:defRPr/>
            </a:pPr>
            <a:r>
              <a:rPr lang="en-US" altLang="en-US" sz="2200" b="1" dirty="0"/>
              <a:t>Pol II promoters contain a </a:t>
            </a:r>
            <a:r>
              <a:rPr lang="en-US" altLang="en-US" sz="2200" b="1" dirty="0">
                <a:solidFill>
                  <a:srgbClr val="C00000"/>
                </a:solidFill>
              </a:rPr>
              <a:t>TATA-element</a:t>
            </a:r>
            <a:r>
              <a:rPr lang="en-US" altLang="en-US" sz="2200" b="1" dirty="0"/>
              <a:t>, ~30 </a:t>
            </a:r>
            <a:r>
              <a:rPr lang="en-US" altLang="en-US" sz="2200" b="1" dirty="0" err="1"/>
              <a:t>bp</a:t>
            </a:r>
            <a:r>
              <a:rPr lang="en-US" altLang="en-US" sz="2200" b="1" dirty="0"/>
              <a:t> upstream of transcription start site – this is where preinitiation complex formation begins</a:t>
            </a:r>
            <a:endParaRPr lang="el-GR" altLang="en-US" sz="22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1200" b="1" dirty="0">
              <a:cs typeface="Arial" panose="020B060402020202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en-US" altLang="en-US" sz="2200" b="1" dirty="0">
                <a:cs typeface="Arial" panose="020B0604020202020204" pitchFamily="34" charset="0"/>
              </a:rPr>
              <a:t>TATA element is recognized by </a:t>
            </a: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TFIID </a:t>
            </a:r>
            <a:r>
              <a:rPr lang="en-US" altLang="en-US" sz="2200" b="1" dirty="0" err="1">
                <a:solidFill>
                  <a:srgbClr val="C00000"/>
                </a:solidFill>
                <a:cs typeface="Arial" panose="020B0604020202020204" pitchFamily="34" charset="0"/>
              </a:rPr>
              <a:t>multisubunit</a:t>
            </a: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 complex</a:t>
            </a:r>
            <a:r>
              <a:rPr lang="en-US" altLang="en-US" sz="2200" b="1" dirty="0">
                <a:cs typeface="Arial" panose="020B0604020202020204" pitchFamily="34" charset="0"/>
              </a:rPr>
              <a:t>, </a:t>
            </a: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TBP binds element, associated factors, TAFs affect binding of TBP</a:t>
            </a:r>
          </a:p>
        </p:txBody>
      </p:sp>
      <p:pic>
        <p:nvPicPr>
          <p:cNvPr id="52228" name="Picture 7" descr="12_Figure14">
            <a:extLst>
              <a:ext uri="{FF2B5EF4-FFF2-40B4-BE49-F238E27FC236}">
                <a16:creationId xmlns:a16="http://schemas.microsoft.com/office/drawing/2014/main" id="{30196D1F-05BD-9870-5FE9-6C3128147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548688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Text Box 8">
            <a:extLst>
              <a:ext uri="{FF2B5EF4-FFF2-40B4-BE49-F238E27FC236}">
                <a16:creationId xmlns:a16="http://schemas.microsoft.com/office/drawing/2014/main" id="{16D6140E-4EA8-2369-3AEE-FCBC2599D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188913"/>
            <a:ext cx="3355975" cy="3683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General Transcription Factor</a:t>
            </a:r>
          </a:p>
        </p:txBody>
      </p:sp>
      <p:sp>
        <p:nvSpPr>
          <p:cNvPr id="52230" name="Text Box 9">
            <a:extLst>
              <a:ext uri="{FF2B5EF4-FFF2-40B4-BE49-F238E27FC236}">
                <a16:creationId xmlns:a16="http://schemas.microsoft.com/office/drawing/2014/main" id="{F05F61AF-FBC5-7284-7D4E-54F6F5694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413000"/>
            <a:ext cx="2700337" cy="36988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Consensus Sequence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1">
            <a:extLst>
              <a:ext uri="{FF2B5EF4-FFF2-40B4-BE49-F238E27FC236}">
                <a16:creationId xmlns:a16="http://schemas.microsoft.com/office/drawing/2014/main" id="{66F166EB-C93C-86DE-DA92-830C8C8557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56308B-AB0F-4049-B369-4967B2989641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39F29A1D-8BE2-3052-8719-D0B9E3CEF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762000"/>
            <a:ext cx="5535612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TBP </a:t>
            </a:r>
            <a:r>
              <a:rPr lang="en-US" altLang="en-US" sz="2200" b="1"/>
              <a:t>binds and </a:t>
            </a:r>
            <a:r>
              <a:rPr lang="en-US" altLang="en-US" sz="2200" b="1" u="sng"/>
              <a:t>distorts</a:t>
            </a:r>
            <a:r>
              <a:rPr lang="en-US" altLang="en-US" sz="2200" b="1"/>
              <a:t> </a:t>
            </a:r>
            <a:r>
              <a:rPr lang="en-US" altLang="en-US" sz="2200" b="1">
                <a:solidFill>
                  <a:srgbClr val="C00000"/>
                </a:solidFill>
              </a:rPr>
              <a:t>TATA </a:t>
            </a:r>
            <a:r>
              <a:rPr lang="en-US" altLang="en-US" sz="2200" b="1"/>
              <a:t>sequence, the complex recruits other transcription factors and the pol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TFIIA, TFIIB, </a:t>
            </a:r>
            <a:r>
              <a:rPr lang="en-US" altLang="en-US" sz="2200" b="1">
                <a:solidFill>
                  <a:srgbClr val="B1079D"/>
                </a:solidFill>
              </a:rPr>
              <a:t>TFIIF bind w/ pol II (w/ mediator complex), </a:t>
            </a:r>
            <a:r>
              <a:rPr lang="en-US" altLang="en-US" sz="2200" b="1"/>
              <a:t>then </a:t>
            </a:r>
            <a:r>
              <a:rPr lang="en-US" altLang="en-US" sz="2200" b="1">
                <a:solidFill>
                  <a:srgbClr val="C00000"/>
                </a:solidFill>
              </a:rPr>
              <a:t>TFIIE and TFIIH bind upstream of pol = </a:t>
            </a:r>
            <a:r>
              <a:rPr lang="en-US" altLang="en-US" sz="2200" b="1" u="sng">
                <a:solidFill>
                  <a:srgbClr val="C00000"/>
                </a:solidFill>
              </a:rPr>
              <a:t>preinitiation complex</a:t>
            </a:r>
            <a:endParaRPr lang="el-GR" altLang="en-US" sz="2200" b="1" u="sng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This is followed by promoter melting, mediated by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TFIIH (helicase-like</a:t>
            </a:r>
            <a:r>
              <a:rPr lang="en-US" altLang="en-US" sz="2200" b="1">
                <a:cs typeface="Arial" panose="020B0604020202020204" pitchFamily="34" charset="0"/>
              </a:rPr>
              <a:t>), requiring ATP hydrolysis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Promoter melting is followed by abortive initiation =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short transcripts </a:t>
            </a:r>
          </a:p>
        </p:txBody>
      </p:sp>
      <p:pic>
        <p:nvPicPr>
          <p:cNvPr id="53252" name="Picture 3" descr="13_16Figure-L">
            <a:extLst>
              <a:ext uri="{FF2B5EF4-FFF2-40B4-BE49-F238E27FC236}">
                <a16:creationId xmlns:a16="http://schemas.microsoft.com/office/drawing/2014/main" id="{222F3CEE-EC05-34F3-6E8E-9B90A7819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715000" y="66675"/>
            <a:ext cx="3429000" cy="668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1">
            <a:extLst>
              <a:ext uri="{FF2B5EF4-FFF2-40B4-BE49-F238E27FC236}">
                <a16:creationId xmlns:a16="http://schemas.microsoft.com/office/drawing/2014/main" id="{45E88498-23D2-FE49-4573-F145EFF822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7931F7-953F-9E4D-B31C-98426F09FAE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54275" name="Text Box 4">
            <a:extLst>
              <a:ext uri="{FF2B5EF4-FFF2-40B4-BE49-F238E27FC236}">
                <a16:creationId xmlns:a16="http://schemas.microsoft.com/office/drawing/2014/main" id="{1F666546-00F4-6A50-C32F-6DC8F529E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62000"/>
            <a:ext cx="5464175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Promoter escape (end of abortive initiation) requires </a:t>
            </a:r>
            <a:r>
              <a:rPr lang="en-US" altLang="en-US" sz="2200" b="1">
                <a:solidFill>
                  <a:srgbClr val="C00000"/>
                </a:solidFill>
              </a:rPr>
              <a:t>phosphorylation of RNA pol.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002060"/>
                </a:solidFill>
              </a:rPr>
              <a:t>The large subunit of pol II has a </a:t>
            </a:r>
            <a:r>
              <a:rPr lang="en-US" altLang="en-US" sz="2200" b="1" u="sng">
                <a:solidFill>
                  <a:srgbClr val="002060"/>
                </a:solidFill>
              </a:rPr>
              <a:t>C-terminal domain</a:t>
            </a:r>
            <a:r>
              <a:rPr lang="en-US" altLang="en-US" sz="2200" b="1">
                <a:solidFill>
                  <a:srgbClr val="002060"/>
                </a:solidFill>
              </a:rPr>
              <a:t> (CTD) containing a series of repeats of </a:t>
            </a:r>
            <a:r>
              <a:rPr lang="en-US" altLang="en-US" sz="2200" b="1">
                <a:solidFill>
                  <a:srgbClr val="C00000"/>
                </a:solidFill>
              </a:rPr>
              <a:t>Tys-Ser-Pro-Thr-Ser-Pro-Ser, 27 in yeast, 52 in human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 u="sng">
                <a:cs typeface="Arial" panose="020B0604020202020204" pitchFamily="34" charset="0"/>
              </a:rPr>
              <a:t>Each repeat contains site for phosphorylation, by sp. kinases (including subunit of </a:t>
            </a:r>
            <a:r>
              <a:rPr lang="en-US" altLang="en-US" sz="2200" b="1" u="sng">
                <a:solidFill>
                  <a:srgbClr val="FF0000"/>
                </a:solidFill>
                <a:cs typeface="Arial" panose="020B0604020202020204" pitchFamily="34" charset="0"/>
              </a:rPr>
              <a:t>TFIIH</a:t>
            </a:r>
            <a:r>
              <a:rPr lang="en-US" altLang="en-US" sz="2200" b="1" u="sng">
                <a:cs typeface="Arial" panose="020B0604020202020204" pitchFamily="34" charset="0"/>
              </a:rPr>
              <a:t>)</a:t>
            </a:r>
            <a:endParaRPr lang="en-US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B1079D"/>
                </a:solidFill>
                <a:cs typeface="Arial" panose="020B0604020202020204" pitchFamily="34" charset="0"/>
              </a:rPr>
              <a:t>Addition of phosphates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sheds</a:t>
            </a:r>
            <a:r>
              <a:rPr lang="en-US" altLang="en-US" sz="2200" b="1">
                <a:solidFill>
                  <a:srgbClr val="B1079D"/>
                </a:solidFill>
                <a:cs typeface="Arial" panose="020B0604020202020204" pitchFamily="34" charset="0"/>
              </a:rPr>
              <a:t> most general transcription factors, regulation of phosphorylation regulates RNA processing </a:t>
            </a:r>
          </a:p>
        </p:txBody>
      </p:sp>
      <p:pic>
        <p:nvPicPr>
          <p:cNvPr id="54276" name="Picture 3" descr="13_16Figure-L">
            <a:extLst>
              <a:ext uri="{FF2B5EF4-FFF2-40B4-BE49-F238E27FC236}">
                <a16:creationId xmlns:a16="http://schemas.microsoft.com/office/drawing/2014/main" id="{ECF65CD6-50FA-DEC8-104F-7014E27A2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908675" y="80963"/>
            <a:ext cx="3225800" cy="668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1">
            <a:extLst>
              <a:ext uri="{FF2B5EF4-FFF2-40B4-BE49-F238E27FC236}">
                <a16:creationId xmlns:a16="http://schemas.microsoft.com/office/drawing/2014/main" id="{6B74F1C1-DEA7-9AC4-D754-910E859245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0576F5-371C-4643-92AC-4ED7BE7EE0E6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879C2BD4-1706-525A-A95C-6693D20F4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6613"/>
            <a:ext cx="5597525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/>
              <a:t>TBP uses extensive region of </a:t>
            </a:r>
            <a:r>
              <a:rPr lang="el-GR" altLang="en-US" sz="2000" b="1"/>
              <a:t>β</a:t>
            </a:r>
            <a:r>
              <a:rPr lang="en-US" altLang="en-US" sz="2000" b="1"/>
              <a:t>-sheet to recognize </a:t>
            </a:r>
            <a:r>
              <a:rPr lang="en-US" altLang="en-US" sz="2000" b="1" u="sng"/>
              <a:t>minor</a:t>
            </a:r>
            <a:r>
              <a:rPr lang="en-US" altLang="en-US" sz="2000" b="1"/>
              <a:t> groove of TATA element</a:t>
            </a:r>
            <a:endParaRPr lang="el-GR" altLang="en-US" sz="2000" b="1"/>
          </a:p>
          <a:p>
            <a:pPr eaLnBrk="1" hangingPunct="1">
              <a:spcBef>
                <a:spcPct val="0"/>
              </a:spcBef>
            </a:pPr>
            <a:endParaRPr lang="en-US" altLang="en-US" sz="900" b="1"/>
          </a:p>
          <a:p>
            <a:pPr eaLnBrk="1" hangingPunct="1">
              <a:spcBef>
                <a:spcPct val="0"/>
              </a:spcBef>
            </a:pPr>
            <a:r>
              <a:rPr lang="en-US" altLang="en-US" sz="2000" b="1"/>
              <a:t>Generally DNA binding proteins use </a:t>
            </a:r>
            <a:r>
              <a:rPr lang="el-GR" altLang="en-US" sz="2000" b="1">
                <a:cs typeface="Arial" panose="020B0604020202020204" pitchFamily="34" charset="0"/>
              </a:rPr>
              <a:t>α</a:t>
            </a:r>
            <a:r>
              <a:rPr lang="en-US" altLang="en-US" sz="2000" b="1">
                <a:cs typeface="Arial" panose="020B0604020202020204" pitchFamily="34" charset="0"/>
              </a:rPr>
              <a:t>-helix to bind major groove (e.g. </a:t>
            </a:r>
            <a:r>
              <a:rPr lang="el-GR" altLang="en-US" sz="2000" b="1">
                <a:cs typeface="Arial" panose="020B0604020202020204" pitchFamily="34" charset="0"/>
              </a:rPr>
              <a:t>σ</a:t>
            </a:r>
            <a:r>
              <a:rPr lang="en-US" altLang="en-US" sz="2000" b="1">
                <a:cs typeface="Arial" panose="020B0604020202020204" pitchFamily="34" charset="0"/>
              </a:rPr>
              <a:t>-factor)</a:t>
            </a:r>
            <a:endParaRPr lang="el-GR" altLang="en-US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1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 u="sng">
                <a:cs typeface="Arial" panose="020B0604020202020204" pitchFamily="34" charset="0"/>
              </a:rPr>
              <a:t>TBP binding specificity relies of ability of TATA sequence to undergo specific </a:t>
            </a:r>
            <a:r>
              <a:rPr lang="en-US" altLang="en-US" sz="2000" b="1" u="sng">
                <a:solidFill>
                  <a:srgbClr val="C00000"/>
                </a:solidFill>
                <a:cs typeface="Arial" panose="020B0604020202020204" pitchFamily="34" charset="0"/>
              </a:rPr>
              <a:t>structural distortion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</a:pPr>
            <a:endParaRPr lang="en-US" altLang="en-US" sz="11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TBP binding causes minor groove to widen to almost flat, and bends DNA by 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~80°</a:t>
            </a:r>
          </a:p>
          <a:p>
            <a:pPr eaLnBrk="1" hangingPunct="1">
              <a:spcBef>
                <a:spcPct val="0"/>
              </a:spcBef>
            </a:pPr>
            <a:endParaRPr lang="en-US" altLang="en-US" sz="9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cs typeface="Arial" panose="020B0604020202020204" pitchFamily="34" charset="0"/>
              </a:rPr>
              <a:t>This interaction requires few H bonds, specificity is product of </a:t>
            </a:r>
            <a:r>
              <a:rPr lang="en-US" altLang="en-US" sz="2000" b="1" u="sng">
                <a:solidFill>
                  <a:srgbClr val="C00000"/>
                </a:solidFill>
                <a:cs typeface="Arial" panose="020B0604020202020204" pitchFamily="34" charset="0"/>
              </a:rPr>
              <a:t>phenylalanine</a:t>
            </a:r>
            <a:r>
              <a:rPr lang="en-US" altLang="en-US" sz="2000" b="1" u="sng">
                <a:cs typeface="Arial" panose="020B0604020202020204" pitchFamily="34" charset="0"/>
              </a:rPr>
              <a:t> </a:t>
            </a:r>
            <a:r>
              <a:rPr lang="en-US" altLang="en-US" sz="2000" b="1">
                <a:cs typeface="Arial" panose="020B0604020202020204" pitchFamily="34" charset="0"/>
              </a:rPr>
              <a:t>side chains intercalcating into DNA – AT rich readily distorted, phosphate backbone interacts w/ </a:t>
            </a:r>
            <a:r>
              <a:rPr lang="el-GR" altLang="en-US" sz="2000" b="1">
                <a:cs typeface="Arial" panose="020B0604020202020204" pitchFamily="34" charset="0"/>
              </a:rPr>
              <a:t>β</a:t>
            </a:r>
            <a:r>
              <a:rPr lang="en-US" altLang="en-US" sz="2000" b="1">
                <a:cs typeface="Arial" panose="020B0604020202020204" pitchFamily="34" charset="0"/>
              </a:rPr>
              <a:t>-sheet.</a:t>
            </a:r>
            <a:endParaRPr lang="el-GR" altLang="en-US" sz="2000" b="1">
              <a:cs typeface="Arial" panose="020B0604020202020204" pitchFamily="34" charset="0"/>
            </a:endParaRPr>
          </a:p>
        </p:txBody>
      </p:sp>
      <p:sp>
        <p:nvSpPr>
          <p:cNvPr id="55300" name="Text Box 5">
            <a:extLst>
              <a:ext uri="{FF2B5EF4-FFF2-40B4-BE49-F238E27FC236}">
                <a16:creationId xmlns:a16="http://schemas.microsoft.com/office/drawing/2014/main" id="{D0EB929B-C5DF-C20B-109C-0C711FB55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TATA Binding</a:t>
            </a:r>
          </a:p>
        </p:txBody>
      </p:sp>
      <p:pic>
        <p:nvPicPr>
          <p:cNvPr id="55301" name="Picture 6">
            <a:extLst>
              <a:ext uri="{FF2B5EF4-FFF2-40B4-BE49-F238E27FC236}">
                <a16:creationId xmlns:a16="http://schemas.microsoft.com/office/drawing/2014/main" id="{4C82C0F4-092F-6653-B0E4-33FC55E94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284663"/>
            <a:ext cx="2160588" cy="226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Picture 3" descr="13_17Figure-L">
            <a:extLst>
              <a:ext uri="{FF2B5EF4-FFF2-40B4-BE49-F238E27FC236}">
                <a16:creationId xmlns:a16="http://schemas.microsoft.com/office/drawing/2014/main" id="{A86D9F17-DE48-6B48-DB20-CD21B4FD0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5"/>
          <a:stretch>
            <a:fillRect/>
          </a:stretch>
        </p:blipFill>
        <p:spPr bwMode="auto">
          <a:xfrm>
            <a:off x="5795963" y="146050"/>
            <a:ext cx="3333750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3" name="Rectangle 1">
            <a:extLst>
              <a:ext uri="{FF2B5EF4-FFF2-40B4-BE49-F238E27FC236}">
                <a16:creationId xmlns:a16="http://schemas.microsoft.com/office/drawing/2014/main" id="{291B69F6-C654-7AB7-E2CD-A8832370D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788" y="5945188"/>
            <a:ext cx="595312" cy="3683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u="sng">
                <a:solidFill>
                  <a:schemeClr val="tx2"/>
                </a:solidFill>
                <a:cs typeface="Arial" panose="020B0604020202020204" pitchFamily="34" charset="0"/>
              </a:rPr>
              <a:t>phe</a:t>
            </a:r>
            <a:endParaRPr lang="en-US" altLang="en-US" sz="180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1">
            <a:extLst>
              <a:ext uri="{FF2B5EF4-FFF2-40B4-BE49-F238E27FC236}">
                <a16:creationId xmlns:a16="http://schemas.microsoft.com/office/drawing/2014/main" id="{0F94D123-5ED8-0B1B-3C89-E5D7AEE806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E64BA1-3696-0841-A0E4-8BD7D0A5D6B4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56323" name="Text Box 2">
            <a:extLst>
              <a:ext uri="{FF2B5EF4-FFF2-40B4-BE49-F238E27FC236}">
                <a16:creationId xmlns:a16="http://schemas.microsoft.com/office/drawing/2014/main" id="{C6AB8270-DE99-3D34-4D28-8A06F3F7B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1268413"/>
            <a:ext cx="8305800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Other factors are less well understood, many are multisubunit complexes</a:t>
            </a:r>
            <a:endParaRPr lang="el-GR" altLang="en-US" sz="2200" b="1"/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TAFs</a:t>
            </a:r>
            <a:r>
              <a:rPr lang="en-US" altLang="en-US" sz="2200" b="1"/>
              <a:t> = TBP is associated w/ ~10 TAFs, 2 bind to the initiator element and the downstream promoter element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TAFs have homology to histone proteins and may bind in similar fashion 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Another TAF appears to regulate binding of TBP to DNA w/ an inhibitory flap that binds to the DNA binding surface of TBP =  molecular mimicry, flap must be displaced for DNA binding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sp>
        <p:nvSpPr>
          <p:cNvPr id="56324" name="Text Box 4">
            <a:extLst>
              <a:ext uri="{FF2B5EF4-FFF2-40B4-BE49-F238E27FC236}">
                <a16:creationId xmlns:a16="http://schemas.microsoft.com/office/drawing/2014/main" id="{45627713-404C-23E3-E376-01CC9BB09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31750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Other transcription factors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Date Placeholder 1">
            <a:extLst>
              <a:ext uri="{FF2B5EF4-FFF2-40B4-BE49-F238E27FC236}">
                <a16:creationId xmlns:a16="http://schemas.microsoft.com/office/drawing/2014/main" id="{08A42F53-9070-08BB-F3DF-94B21EEAA0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EB518D-7F3B-8C4C-8D29-11376975CE7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pic>
        <p:nvPicPr>
          <p:cNvPr id="57347" name="Picture 4" descr="fg12-151">
            <a:extLst>
              <a:ext uri="{FF2B5EF4-FFF2-40B4-BE49-F238E27FC236}">
                <a16:creationId xmlns:a16="http://schemas.microsoft.com/office/drawing/2014/main" id="{91184A91-D10F-207E-4294-A500FA12B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25" y="917575"/>
            <a:ext cx="3956050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Text Box 2">
            <a:extLst>
              <a:ext uri="{FF2B5EF4-FFF2-40B4-BE49-F238E27FC236}">
                <a16:creationId xmlns:a16="http://schemas.microsoft.com/office/drawing/2014/main" id="{BE65BF77-66C6-4976-CBCA-BAE618979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" y="549275"/>
            <a:ext cx="5319713" cy="603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TFIIB, single polypeptide chain, enters preinitiation complex after TBP and interacts w/ both DNA and TBP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 u="sng"/>
              <a:t>Base-specific interactions w/ major groove upstream, and minor groove downstream, of TATA element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The asymmetric binding of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TFIIB</a:t>
            </a:r>
            <a:r>
              <a:rPr lang="en-US" altLang="en-US" sz="2200" b="1">
                <a:cs typeface="Arial" panose="020B0604020202020204" pitchFamily="34" charset="0"/>
              </a:rPr>
              <a:t> to the TBP-TATA complex accounts for the asymmetry  in the rest of the preinitiation complex and unidirectional transcription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TFIIB</a:t>
            </a:r>
            <a:r>
              <a:rPr lang="en-US" altLang="en-US" sz="2200" b="1">
                <a:cs typeface="Arial" panose="020B0604020202020204" pitchFamily="34" charset="0"/>
              </a:rPr>
              <a:t> bridges between TATA-bound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TBP</a:t>
            </a:r>
            <a:r>
              <a:rPr lang="en-US" altLang="en-US" sz="2200" b="1">
                <a:cs typeface="Arial" panose="020B0604020202020204" pitchFamily="34" charset="0"/>
              </a:rPr>
              <a:t> and RNA pol, inserts into RNA exit of RNA pol analogous to </a:t>
            </a:r>
            <a:r>
              <a:rPr lang="el-GR" altLang="en-US" sz="2200" b="1">
                <a:cs typeface="Arial" panose="020B0604020202020204" pitchFamily="34" charset="0"/>
              </a:rPr>
              <a:t>σ</a:t>
            </a:r>
            <a:r>
              <a:rPr lang="en-US" altLang="en-US" sz="2200" b="1">
                <a:cs typeface="Arial" panose="020B0604020202020204" pitchFamily="34" charset="0"/>
              </a:rPr>
              <a:t> 3/4 linker</a:t>
            </a:r>
          </a:p>
        </p:txBody>
      </p:sp>
      <p:sp>
        <p:nvSpPr>
          <p:cNvPr id="57349" name="Rectangle 1">
            <a:extLst>
              <a:ext uri="{FF2B5EF4-FFF2-40B4-BE49-F238E27FC236}">
                <a16:creationId xmlns:a16="http://schemas.microsoft.com/office/drawing/2014/main" id="{4F5944C3-F456-CEE5-24E9-B98F5D0FC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063" y="4746625"/>
            <a:ext cx="3744912" cy="36988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TFIIB–TBP–promoter complex.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636D47FD-E3F9-CC5E-E040-7AFB9DFD0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46075"/>
            <a:ext cx="4679950" cy="581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solidFill>
                  <a:srgbClr val="C00000"/>
                </a:solidFill>
              </a:rPr>
              <a:t>TFIIF</a:t>
            </a:r>
            <a:r>
              <a:rPr lang="en-US" altLang="en-US" sz="2000" b="1"/>
              <a:t> : 2 subunit factor associates w/ Pol II, binding of Pol II – TFIIF stabilizes DNA-TBP-TFIIB complex and is required before recruitment of </a:t>
            </a:r>
            <a:r>
              <a:rPr lang="en-US" altLang="en-US" sz="2000" b="1">
                <a:solidFill>
                  <a:srgbClr val="C00000"/>
                </a:solidFill>
              </a:rPr>
              <a:t>TFIIE</a:t>
            </a:r>
            <a:r>
              <a:rPr lang="en-US" altLang="en-US" sz="2000" b="1"/>
              <a:t> and </a:t>
            </a:r>
            <a:r>
              <a:rPr lang="en-US" altLang="en-US" sz="2000" b="1">
                <a:solidFill>
                  <a:srgbClr val="C00000"/>
                </a:solidFill>
              </a:rPr>
              <a:t>TFIIH</a:t>
            </a:r>
            <a:r>
              <a:rPr lang="en-US" altLang="en-US" sz="2000" b="1"/>
              <a:t> to pre-initiation complex</a:t>
            </a:r>
            <a:endParaRPr lang="el-GR" altLang="en-US" sz="2000" b="1"/>
          </a:p>
          <a:p>
            <a:pPr eaLnBrk="1" hangingPunct="1">
              <a:spcBef>
                <a:spcPct val="0"/>
              </a:spcBef>
            </a:pPr>
            <a:endParaRPr lang="en-US" altLang="en-US" sz="900" b="1"/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solidFill>
                  <a:srgbClr val="C00000"/>
                </a:solidFill>
              </a:rPr>
              <a:t>TFIIE</a:t>
            </a:r>
            <a:r>
              <a:rPr lang="en-US" altLang="en-US" sz="2000" b="1"/>
              <a:t>, 2 subunits, binds to complex and recruits </a:t>
            </a:r>
            <a:r>
              <a:rPr lang="en-US" altLang="en-US" sz="2000" b="1">
                <a:solidFill>
                  <a:srgbClr val="C00000"/>
                </a:solidFill>
              </a:rPr>
              <a:t>TFIIH</a:t>
            </a:r>
            <a:endParaRPr lang="el-GR" altLang="en-US" sz="20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1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TFIIH</a:t>
            </a:r>
            <a:r>
              <a:rPr lang="en-US" altLang="en-US" sz="2000" b="1">
                <a:cs typeface="Arial" panose="020B0604020202020204" pitchFamily="34" charset="0"/>
              </a:rPr>
              <a:t>, largest factor w/ 10 subunits, controls ATP-dependent transition of pre-initiation complex to open complex. 2 subunits are ATPases, another protein kinase w/ role in promoter melting and escape.  ATPases are involved in nucleotide excision repair.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</p:txBody>
      </p:sp>
      <p:pic>
        <p:nvPicPr>
          <p:cNvPr id="58371" name="Picture 3" descr="13_02Table-L">
            <a:extLst>
              <a:ext uri="{FF2B5EF4-FFF2-40B4-BE49-F238E27FC236}">
                <a16:creationId xmlns:a16="http://schemas.microsoft.com/office/drawing/2014/main" id="{51C472E7-B95C-FD15-3AE4-B1A074D86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8"/>
          <a:stretch>
            <a:fillRect/>
          </a:stretch>
        </p:blipFill>
        <p:spPr bwMode="auto">
          <a:xfrm>
            <a:off x="4787900" y="620713"/>
            <a:ext cx="424815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Date Placeholder 1">
            <a:extLst>
              <a:ext uri="{FF2B5EF4-FFF2-40B4-BE49-F238E27FC236}">
                <a16:creationId xmlns:a16="http://schemas.microsoft.com/office/drawing/2014/main" id="{532149A7-E8E2-C842-B7C6-407C9CACE6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94EFE8-90EB-2947-8AE4-A26F823461AB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pic>
        <p:nvPicPr>
          <p:cNvPr id="59395" name="Picture 4" descr="fg12-161">
            <a:extLst>
              <a:ext uri="{FF2B5EF4-FFF2-40B4-BE49-F238E27FC236}">
                <a16:creationId xmlns:a16="http://schemas.microsoft.com/office/drawing/2014/main" id="{A8D4732A-3DC1-9363-8F73-5EBF7DDA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1700213"/>
            <a:ext cx="4000500" cy="275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Text Box 2">
            <a:extLst>
              <a:ext uri="{FF2B5EF4-FFF2-40B4-BE49-F238E27FC236}">
                <a16:creationId xmlns:a16="http://schemas.microsoft.com/office/drawing/2014/main" id="{A6B23415-7FDF-537F-3423-95356D9B6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0"/>
            <a:ext cx="5148263" cy="618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 u="sng"/>
              <a:t>Eukaryotic DNA is packaged into </a:t>
            </a:r>
            <a:r>
              <a:rPr lang="en-US" altLang="en-US" sz="2200" b="1" u="sng">
                <a:solidFill>
                  <a:srgbClr val="C00000"/>
                </a:solidFill>
              </a:rPr>
              <a:t>nucleosomes and chromatin</a:t>
            </a:r>
            <a:endParaRPr lang="en-US" altLang="en-US" sz="2200" b="1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 i="1">
                <a:solidFill>
                  <a:srgbClr val="FF0000"/>
                </a:solidFill>
              </a:rPr>
              <a:t>in vivo</a:t>
            </a:r>
            <a:r>
              <a:rPr lang="en-US" altLang="en-US" sz="2200" b="1">
                <a:solidFill>
                  <a:srgbClr val="FF0000"/>
                </a:solidFill>
              </a:rPr>
              <a:t> </a:t>
            </a:r>
            <a:r>
              <a:rPr lang="en-US" altLang="en-US" sz="2200" b="1"/>
              <a:t>transcription requires proteins to interact w/ packaged DNA.</a:t>
            </a: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Activators recruit pol to promoter, often through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mediator</a:t>
            </a:r>
            <a:r>
              <a:rPr lang="en-US" altLang="en-US" sz="2200" b="1">
                <a:cs typeface="Arial" panose="020B0604020202020204" pitchFamily="34" charset="0"/>
              </a:rPr>
              <a:t>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complex</a:t>
            </a:r>
            <a:r>
              <a:rPr lang="en-US" altLang="en-US" sz="2200" b="1">
                <a:cs typeface="Arial" panose="020B0604020202020204" pitchFamily="34" charset="0"/>
              </a:rPr>
              <a:t>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interacting w/ CTD tail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Deletion of individual subunits of mediator leads to loss of expression in subset of total pattern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 u="sng">
                <a:solidFill>
                  <a:srgbClr val="FF0000"/>
                </a:solidFill>
                <a:cs typeface="Arial" panose="020B0604020202020204" pitchFamily="34" charset="0"/>
              </a:rPr>
              <a:t>Activators, nucleosome modifiers and remodelers and mediator subunits are </a:t>
            </a:r>
            <a:r>
              <a:rPr lang="en-US" altLang="en-US" sz="2200" b="1" u="sng">
                <a:solidFill>
                  <a:srgbClr val="7030A0"/>
                </a:solidFill>
                <a:cs typeface="Arial" panose="020B0604020202020204" pitchFamily="34" charset="0"/>
              </a:rPr>
              <a:t>gene-specific, tissue-specific, condition specific</a:t>
            </a:r>
            <a:r>
              <a:rPr lang="en-US" altLang="en-US" sz="2200" b="1" u="sng">
                <a:solidFill>
                  <a:srgbClr val="FF0000"/>
                </a:solidFill>
                <a:cs typeface="Arial" panose="020B0604020202020204" pitchFamily="34" charset="0"/>
              </a:rPr>
              <a:t>, etc</a:t>
            </a:r>
          </a:p>
        </p:txBody>
      </p:sp>
      <p:sp>
        <p:nvSpPr>
          <p:cNvPr id="59397" name="Text Box 3">
            <a:extLst>
              <a:ext uri="{FF2B5EF4-FFF2-40B4-BE49-F238E27FC236}">
                <a16:creationId xmlns:a16="http://schemas.microsoft.com/office/drawing/2014/main" id="{64421894-3F77-08B0-29C7-6E18FA160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175"/>
            <a:ext cx="5400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Transcription </a:t>
            </a:r>
            <a:r>
              <a:rPr lang="en-US" altLang="en-US" b="1" i="1">
                <a:solidFill>
                  <a:srgbClr val="C00000"/>
                </a:solidFill>
              </a:rPr>
              <a:t>in vivo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1">
            <a:extLst>
              <a:ext uri="{FF2B5EF4-FFF2-40B4-BE49-F238E27FC236}">
                <a16:creationId xmlns:a16="http://schemas.microsoft.com/office/drawing/2014/main" id="{A1FDB88B-5FF0-F389-30FB-376DD304E8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B58C36-0BBF-FC47-B18D-6AF0802E33CD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0419" name="Text Box 2">
            <a:extLst>
              <a:ext uri="{FF2B5EF4-FFF2-40B4-BE49-F238E27FC236}">
                <a16:creationId xmlns:a16="http://schemas.microsoft.com/office/drawing/2014/main" id="{113065AC-7508-77FC-3A28-B63E1B784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90600"/>
            <a:ext cx="87407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Mediator complexes contain 20+ subunits (</a:t>
            </a:r>
            <a:r>
              <a:rPr lang="en-US" altLang="en-US" sz="2200" b="1">
                <a:solidFill>
                  <a:srgbClr val="C00000"/>
                </a:solidFill>
              </a:rPr>
              <a:t>only 7 show sig. homology between yeast and human</a:t>
            </a:r>
            <a:r>
              <a:rPr lang="en-US" altLang="en-US" sz="2200" b="1"/>
              <a:t>)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Only one, </a:t>
            </a:r>
            <a:r>
              <a:rPr lang="en-US" altLang="en-US" sz="2200" b="1">
                <a:solidFill>
                  <a:srgbClr val="C00000"/>
                </a:solidFill>
              </a:rPr>
              <a:t>Srb4/Med17, is essential for </a:t>
            </a:r>
            <a:r>
              <a:rPr lang="en-US" altLang="en-US" sz="2200" b="1" i="1">
                <a:solidFill>
                  <a:srgbClr val="C00000"/>
                </a:solidFill>
              </a:rPr>
              <a:t>in vivo</a:t>
            </a:r>
            <a:r>
              <a:rPr lang="en-US" altLang="en-US" sz="2200" b="1">
                <a:solidFill>
                  <a:srgbClr val="C00000"/>
                </a:solidFill>
              </a:rPr>
              <a:t> transcription of all genes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Mediators are large, w/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generally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conserved shape.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</p:txBody>
      </p:sp>
      <p:sp>
        <p:nvSpPr>
          <p:cNvPr id="60420" name="Text Box 3">
            <a:extLst>
              <a:ext uri="{FF2B5EF4-FFF2-40B4-BE49-F238E27FC236}">
                <a16:creationId xmlns:a16="http://schemas.microsoft.com/office/drawing/2014/main" id="{8D90E282-4318-D96B-6919-4038570A4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76225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Mediator Complex</a:t>
            </a:r>
          </a:p>
        </p:txBody>
      </p:sp>
      <p:pic>
        <p:nvPicPr>
          <p:cNvPr id="60421" name="Picture 3" descr="13_20Figure-L">
            <a:extLst>
              <a:ext uri="{FF2B5EF4-FFF2-40B4-BE49-F238E27FC236}">
                <a16:creationId xmlns:a16="http://schemas.microsoft.com/office/drawing/2014/main" id="{DDDDAAB8-A488-424A-A8B9-54F4C8AD5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4"/>
          <a:stretch>
            <a:fillRect/>
          </a:stretch>
        </p:blipFill>
        <p:spPr bwMode="auto">
          <a:xfrm>
            <a:off x="298450" y="3298825"/>
            <a:ext cx="85947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extLst>
              <a:ext uri="{FF2B5EF4-FFF2-40B4-BE49-F238E27FC236}">
                <a16:creationId xmlns:a16="http://schemas.microsoft.com/office/drawing/2014/main" id="{79DD382F-EB86-2346-B680-ABBD68164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1600"/>
            <a:ext cx="52578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Mediators appear to be </a:t>
            </a:r>
            <a:r>
              <a:rPr lang="en-US" altLang="en-US" sz="2200" b="1">
                <a:solidFill>
                  <a:srgbClr val="C00000"/>
                </a:solidFill>
              </a:rPr>
              <a:t>modular</a:t>
            </a:r>
            <a:r>
              <a:rPr lang="en-US" altLang="en-US" sz="2200" b="1"/>
              <a:t>, w/ different components in different tissues, interacting w/ different genes (and regulators).</a:t>
            </a:r>
            <a:endParaRPr lang="en-US" altLang="en-US" sz="1000" b="1"/>
          </a:p>
        </p:txBody>
      </p:sp>
      <p:pic>
        <p:nvPicPr>
          <p:cNvPr id="61443" name="Picture 5" descr="12_Figure19">
            <a:extLst>
              <a:ext uri="{FF2B5EF4-FFF2-40B4-BE49-F238E27FC236}">
                <a16:creationId xmlns:a16="http://schemas.microsoft.com/office/drawing/2014/main" id="{C5798171-4669-7910-027B-E0DD49DBC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692150"/>
            <a:ext cx="363537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1">
            <a:extLst>
              <a:ext uri="{FF2B5EF4-FFF2-40B4-BE49-F238E27FC236}">
                <a16:creationId xmlns:a16="http://schemas.microsoft.com/office/drawing/2014/main" id="{F71D50E7-62F7-10EA-4CDA-F7B9151D410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0B0937-9A8B-F643-9D8D-5E6EF8C75393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2467" name="Text Box 2">
            <a:extLst>
              <a:ext uri="{FF2B5EF4-FFF2-40B4-BE49-F238E27FC236}">
                <a16:creationId xmlns:a16="http://schemas.microsoft.com/office/drawing/2014/main" id="{700F05C2-B6D4-F2DB-5FA3-2ACE9F1C6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627063"/>
            <a:ext cx="8650287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RNA pol </a:t>
            </a:r>
            <a:r>
              <a:rPr lang="en-US" altLang="en-US" sz="2200" b="1">
                <a:solidFill>
                  <a:srgbClr val="FF0000"/>
                </a:solidFill>
              </a:rPr>
              <a:t>sheds</a:t>
            </a:r>
            <a:r>
              <a:rPr lang="en-US" altLang="en-US" sz="2200" b="1"/>
              <a:t> </a:t>
            </a:r>
            <a:r>
              <a:rPr lang="en-US" altLang="en-US" sz="2200" b="1">
                <a:solidFill>
                  <a:srgbClr val="7030A0"/>
                </a:solidFill>
              </a:rPr>
              <a:t>initiation factors </a:t>
            </a:r>
            <a:r>
              <a:rPr lang="en-US" altLang="en-US" sz="2200" b="1"/>
              <a:t>and recruits new elongation factors in transition to </a:t>
            </a:r>
            <a:r>
              <a:rPr lang="en-US" altLang="en-US" sz="2200" b="1" u="sng">
                <a:solidFill>
                  <a:srgbClr val="C00000"/>
                </a:solidFill>
              </a:rPr>
              <a:t>elongation</a:t>
            </a:r>
            <a:r>
              <a:rPr lang="en-US" altLang="en-US" sz="2200" b="1">
                <a:solidFill>
                  <a:srgbClr val="C00000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Elongation factors, and RNA processing factors, are recruited to (</a:t>
            </a:r>
            <a:r>
              <a:rPr lang="en-US" altLang="en-US" sz="2200" b="1">
                <a:solidFill>
                  <a:srgbClr val="C00000"/>
                </a:solidFill>
              </a:rPr>
              <a:t>phosphorylated) CTD (carboxy-terminal domain) of Pol II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Long (~7x the rest of the enzyme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) CTD lies near RNA exit channel of pol</a:t>
            </a:r>
            <a:r>
              <a:rPr lang="en-US" altLang="en-US" sz="2200" b="1">
                <a:cs typeface="Arial" panose="020B0604020202020204" pitchFamily="34" charset="0"/>
              </a:rPr>
              <a:t> – tail binds factors and delivers them to newly synthesized RNA.</a:t>
            </a:r>
          </a:p>
        </p:txBody>
      </p:sp>
      <p:sp>
        <p:nvSpPr>
          <p:cNvPr id="62468" name="Text Box 3">
            <a:extLst>
              <a:ext uri="{FF2B5EF4-FFF2-40B4-BE49-F238E27FC236}">
                <a16:creationId xmlns:a16="http://schemas.microsoft.com/office/drawing/2014/main" id="{96EC485B-6F0F-AB13-BDE4-7F8444F6E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Elongation</a:t>
            </a:r>
          </a:p>
        </p:txBody>
      </p:sp>
      <p:pic>
        <p:nvPicPr>
          <p:cNvPr id="62469" name="Picture 5">
            <a:extLst>
              <a:ext uri="{FF2B5EF4-FFF2-40B4-BE49-F238E27FC236}">
                <a16:creationId xmlns:a16="http://schemas.microsoft.com/office/drawing/2014/main" id="{1FEB12A4-388C-D6BF-32AD-E21E15F0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813" y="4149725"/>
            <a:ext cx="7315200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1">
            <a:extLst>
              <a:ext uri="{FF2B5EF4-FFF2-40B4-BE49-F238E27FC236}">
                <a16:creationId xmlns:a16="http://schemas.microsoft.com/office/drawing/2014/main" id="{E4A046AC-BD3F-22FF-0317-F0F9654E4B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A44BCE-6A36-EF46-AA8B-1FB27FC88EC6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3491" name="Text Box 2">
            <a:extLst>
              <a:ext uri="{FF2B5EF4-FFF2-40B4-BE49-F238E27FC236}">
                <a16:creationId xmlns:a16="http://schemas.microsoft.com/office/drawing/2014/main" id="{C417A837-1D44-356C-52D9-DC5585211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733800"/>
            <a:ext cx="84582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The </a:t>
            </a:r>
            <a:r>
              <a:rPr lang="en-US" altLang="en-US" sz="2200" b="1">
                <a:solidFill>
                  <a:srgbClr val="C00000"/>
                </a:solidFill>
              </a:rPr>
              <a:t>kinase P-TEFb</a:t>
            </a:r>
            <a:r>
              <a:rPr lang="en-US" altLang="en-US" sz="2200" b="1"/>
              <a:t> binds to CTD and phosphorylates position </a:t>
            </a:r>
            <a:r>
              <a:rPr lang="en-US" altLang="en-US" sz="2200" b="1">
                <a:solidFill>
                  <a:srgbClr val="C00000"/>
                </a:solidFill>
              </a:rPr>
              <a:t>2 serine </a:t>
            </a:r>
            <a:r>
              <a:rPr lang="en-US" altLang="en-US" sz="2200" b="1"/>
              <a:t>in repeat – phosphorylation correlates w/ transition to elongation.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P-TEFb</a:t>
            </a:r>
            <a:r>
              <a:rPr lang="en-US" altLang="en-US" sz="2200" b="1"/>
              <a:t> also activates (phosphorylates</a:t>
            </a:r>
            <a:r>
              <a:rPr lang="en-US" altLang="en-US" sz="2200" b="1">
                <a:solidFill>
                  <a:srgbClr val="C00000"/>
                </a:solidFill>
              </a:rPr>
              <a:t>) hSPT5 an elongation factor, and recruits TAT-SF1 another elongation factor.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pic>
        <p:nvPicPr>
          <p:cNvPr id="63492" name="Picture 6" descr="12_Figure20b">
            <a:extLst>
              <a:ext uri="{FF2B5EF4-FFF2-40B4-BE49-F238E27FC236}">
                <a16:creationId xmlns:a16="http://schemas.microsoft.com/office/drawing/2014/main" id="{3058CC75-A522-475C-E652-00B3E253F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34963"/>
            <a:ext cx="7610475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>
            <a:extLst>
              <a:ext uri="{FF2B5EF4-FFF2-40B4-BE49-F238E27FC236}">
                <a16:creationId xmlns:a16="http://schemas.microsoft.com/office/drawing/2014/main" id="{55E0E0CA-EB64-702A-F9AD-5B8FA01A1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60350"/>
            <a:ext cx="84582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TFIIS</a:t>
            </a:r>
            <a:r>
              <a:rPr lang="en-US" altLang="en-US" sz="2200" b="1"/>
              <a:t>, an </a:t>
            </a:r>
            <a:r>
              <a:rPr lang="en-US" altLang="en-US" sz="2200" b="1">
                <a:solidFill>
                  <a:srgbClr val="7030A0"/>
                </a:solidFill>
              </a:rPr>
              <a:t>elongation factor</a:t>
            </a:r>
            <a:r>
              <a:rPr lang="en-US" altLang="en-US" sz="2200" b="1"/>
              <a:t>, limits the time that pol pauses during transcription, rate of transcription is not constant – but pauses are shorter in the presence of TFIIS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TFIIS</a:t>
            </a:r>
            <a:r>
              <a:rPr lang="en-US" altLang="en-US" sz="2200" b="1"/>
              <a:t> also contributes to proofreading by polymerase through an alternative route = </a:t>
            </a:r>
            <a:r>
              <a:rPr lang="en-US" altLang="en-US" sz="2200" b="1" u="sng">
                <a:solidFill>
                  <a:srgbClr val="C00000"/>
                </a:solidFill>
              </a:rPr>
              <a:t>RNAse activity sep. from active site</a:t>
            </a:r>
            <a:r>
              <a:rPr lang="en-US" altLang="en-US" sz="2200" b="1"/>
              <a:t>, comparable to hydrolytic editing stimulated by Gre factors in bacteria - </a:t>
            </a:r>
            <a:r>
              <a:rPr lang="en-US" altLang="en-US" sz="2200" b="1">
                <a:solidFill>
                  <a:srgbClr val="C00000"/>
                </a:solidFill>
              </a:rPr>
              <a:t>analogous to Gre factors</a:t>
            </a:r>
          </a:p>
        </p:txBody>
      </p:sp>
      <p:pic>
        <p:nvPicPr>
          <p:cNvPr id="64515" name="Picture 3" descr="13_22Figure-L">
            <a:extLst>
              <a:ext uri="{FF2B5EF4-FFF2-40B4-BE49-F238E27FC236}">
                <a16:creationId xmlns:a16="http://schemas.microsoft.com/office/drawing/2014/main" id="{9C285342-7145-E36C-F829-17F279F32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5"/>
          <a:stretch>
            <a:fillRect/>
          </a:stretch>
        </p:blipFill>
        <p:spPr bwMode="auto">
          <a:xfrm>
            <a:off x="971550" y="3005138"/>
            <a:ext cx="741680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1">
            <a:extLst>
              <a:ext uri="{FF2B5EF4-FFF2-40B4-BE49-F238E27FC236}">
                <a16:creationId xmlns:a16="http://schemas.microsoft.com/office/drawing/2014/main" id="{246F33F4-AE74-D15C-7BE9-40E94B0FD2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1E5BF-0223-6B41-8FA8-AD635A44D84E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5539" name="Text Box 2">
            <a:extLst>
              <a:ext uri="{FF2B5EF4-FFF2-40B4-BE49-F238E27FC236}">
                <a16:creationId xmlns:a16="http://schemas.microsoft.com/office/drawing/2014/main" id="{A827CF4E-4D2B-E90D-A73F-7F2768B25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149725"/>
            <a:ext cx="84582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RNA transcription takes place in the presence of histones - impede transcription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 u="sng">
                <a:solidFill>
                  <a:srgbClr val="C00000"/>
                </a:solidFill>
              </a:rPr>
              <a:t>FACT </a:t>
            </a:r>
            <a:r>
              <a:rPr lang="en-US" altLang="en-US" sz="2200" b="1">
                <a:solidFill>
                  <a:srgbClr val="C00000"/>
                </a:solidFill>
              </a:rPr>
              <a:t>(facilitates chromatin transcription) is a highly conserved heterodimer of Spt16 and SSRP1.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</p:txBody>
      </p:sp>
      <p:sp>
        <p:nvSpPr>
          <p:cNvPr id="65540" name="Text Box 3">
            <a:extLst>
              <a:ext uri="{FF2B5EF4-FFF2-40B4-BE49-F238E27FC236}">
                <a16:creationId xmlns:a16="http://schemas.microsoft.com/office/drawing/2014/main" id="{88B44C5D-6A3D-9334-3B9B-C20D40349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Elongation and Nucleosmes</a:t>
            </a:r>
          </a:p>
        </p:txBody>
      </p:sp>
      <p:pic>
        <p:nvPicPr>
          <p:cNvPr id="65541" name="Picture 3" descr="13_23Figure-L">
            <a:extLst>
              <a:ext uri="{FF2B5EF4-FFF2-40B4-BE49-F238E27FC236}">
                <a16:creationId xmlns:a16="http://schemas.microsoft.com/office/drawing/2014/main" id="{8E62F2E5-2C2B-763D-6E89-8EE3AB279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8"/>
          <a:stretch>
            <a:fillRect/>
          </a:stretch>
        </p:blipFill>
        <p:spPr bwMode="auto">
          <a:xfrm>
            <a:off x="1187450" y="765175"/>
            <a:ext cx="6965950" cy="312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1">
            <a:extLst>
              <a:ext uri="{FF2B5EF4-FFF2-40B4-BE49-F238E27FC236}">
                <a16:creationId xmlns:a16="http://schemas.microsoft.com/office/drawing/2014/main" id="{34E3A56C-B434-630E-9C87-E3A440E4ED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6374D7-B3A6-E642-A91B-AED85180E615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6563" name="Text Box 2">
            <a:extLst>
              <a:ext uri="{FF2B5EF4-FFF2-40B4-BE49-F238E27FC236}">
                <a16:creationId xmlns:a16="http://schemas.microsoft.com/office/drawing/2014/main" id="{A99CFE65-79B0-157D-DAA9-6AE05E27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508500"/>
            <a:ext cx="8458200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Spt16</a:t>
            </a:r>
            <a:r>
              <a:rPr lang="en-US" altLang="en-US" sz="2200" b="1"/>
              <a:t> binds to H2A-H2B dimer, </a:t>
            </a:r>
            <a:r>
              <a:rPr lang="en-US" altLang="en-US" sz="2200" b="1">
                <a:solidFill>
                  <a:srgbClr val="C00000"/>
                </a:solidFill>
              </a:rPr>
              <a:t>SSRP1</a:t>
            </a:r>
            <a:r>
              <a:rPr lang="en-US" altLang="en-US" sz="2200" b="1"/>
              <a:t> toH3/H4 tetramer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FACT</a:t>
            </a:r>
            <a:r>
              <a:rPr lang="en-US" altLang="en-US" sz="2200" b="1"/>
              <a:t> dismantels and reassembles histones by removing H2A-H2B dimers - it has a histone </a:t>
            </a:r>
            <a:r>
              <a:rPr lang="en-US" altLang="en-US" sz="2200" b="1">
                <a:solidFill>
                  <a:srgbClr val="C00000"/>
                </a:solidFill>
              </a:rPr>
              <a:t>chaperone activity.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/>
          </a:p>
        </p:txBody>
      </p:sp>
      <p:pic>
        <p:nvPicPr>
          <p:cNvPr id="66564" name="Picture 3" descr="13_23Figure-L">
            <a:extLst>
              <a:ext uri="{FF2B5EF4-FFF2-40B4-BE49-F238E27FC236}">
                <a16:creationId xmlns:a16="http://schemas.microsoft.com/office/drawing/2014/main" id="{3018D633-18E5-5F08-5EB7-46C7F231D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8"/>
          <a:stretch>
            <a:fillRect/>
          </a:stretch>
        </p:blipFill>
        <p:spPr bwMode="auto">
          <a:xfrm>
            <a:off x="1331913" y="333375"/>
            <a:ext cx="6310312" cy="375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Date Placeholder 1">
            <a:extLst>
              <a:ext uri="{FF2B5EF4-FFF2-40B4-BE49-F238E27FC236}">
                <a16:creationId xmlns:a16="http://schemas.microsoft.com/office/drawing/2014/main" id="{8318208C-9416-CF1E-5C7C-3C1A00C229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6E229A-921E-ED40-A77A-1C17947FB4ED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232AC1A8-15B2-6F8A-1F34-B442E94F0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Elongation and RNA processing</a:t>
            </a:r>
          </a:p>
        </p:txBody>
      </p:sp>
      <p:sp>
        <p:nvSpPr>
          <p:cNvPr id="67588" name="Text Box 2">
            <a:extLst>
              <a:ext uri="{FF2B5EF4-FFF2-40B4-BE49-F238E27FC236}">
                <a16:creationId xmlns:a16="http://schemas.microsoft.com/office/drawing/2014/main" id="{5FB8DBB0-F500-5693-5FD6-BD2F18DE1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149725"/>
            <a:ext cx="84582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RNA is processed during transcription, </a:t>
            </a:r>
            <a:r>
              <a:rPr lang="en-US" altLang="en-US" sz="2200" b="1">
                <a:solidFill>
                  <a:srgbClr val="C00000"/>
                </a:solidFill>
              </a:rPr>
              <a:t>5’ cap, splicing and polyadenylation of 3’ end </a:t>
            </a:r>
            <a:r>
              <a:rPr lang="en-US" altLang="en-US" sz="2200" b="1"/>
              <a:t>– need coordinated activity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Elogation factor </a:t>
            </a:r>
            <a:r>
              <a:rPr lang="en-US" altLang="en-US" sz="2200" b="1">
                <a:solidFill>
                  <a:srgbClr val="C00000"/>
                </a:solidFill>
              </a:rPr>
              <a:t>hSPT5</a:t>
            </a:r>
            <a:r>
              <a:rPr lang="en-US" altLang="en-US" sz="2200" b="1"/>
              <a:t> recruits and stimulates </a:t>
            </a:r>
            <a:r>
              <a:rPr lang="en-US" altLang="en-US" sz="2200" b="1">
                <a:solidFill>
                  <a:srgbClr val="C00000"/>
                </a:solidFill>
              </a:rPr>
              <a:t>5’ capping enzyme - to CTD phosphorylated at serine 5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Elongation factor </a:t>
            </a:r>
            <a:r>
              <a:rPr lang="en-US" altLang="en-US" sz="2200" b="1">
                <a:solidFill>
                  <a:srgbClr val="C00000"/>
                </a:solidFill>
              </a:rPr>
              <a:t>TAT-SF1</a:t>
            </a:r>
            <a:r>
              <a:rPr lang="en-US" altLang="en-US" sz="2200" b="1"/>
              <a:t> recruits components of splicing machinery to CTD phosphorylated at serine 2</a:t>
            </a:r>
          </a:p>
        </p:txBody>
      </p:sp>
      <p:pic>
        <p:nvPicPr>
          <p:cNvPr id="67589" name="Picture 3" descr="13_21Figure-L">
            <a:extLst>
              <a:ext uri="{FF2B5EF4-FFF2-40B4-BE49-F238E27FC236}">
                <a16:creationId xmlns:a16="http://schemas.microsoft.com/office/drawing/2014/main" id="{770C8857-2F5E-1EC0-AAA7-BC7941B26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75"/>
          <a:stretch>
            <a:fillRect/>
          </a:stretch>
        </p:blipFill>
        <p:spPr bwMode="auto">
          <a:xfrm>
            <a:off x="1612900" y="750888"/>
            <a:ext cx="56896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1">
            <a:extLst>
              <a:ext uri="{FF2B5EF4-FFF2-40B4-BE49-F238E27FC236}">
                <a16:creationId xmlns:a16="http://schemas.microsoft.com/office/drawing/2014/main" id="{51C0774A-1C39-51A4-0EE4-60091665A6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515882-B745-F142-A98A-0B11263BA2B8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8611" name="Text Box 2">
            <a:extLst>
              <a:ext uri="{FF2B5EF4-FFF2-40B4-BE49-F238E27FC236}">
                <a16:creationId xmlns:a16="http://schemas.microsoft.com/office/drawing/2014/main" id="{FB867B93-91BE-D961-DF1E-6778D2CCD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52578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Capping</a:t>
            </a:r>
            <a:r>
              <a:rPr lang="en-US" altLang="en-US" sz="2200" b="1"/>
              <a:t> involves the addition of methylated </a:t>
            </a:r>
            <a:r>
              <a:rPr lang="en-US" altLang="en-US" sz="2200" b="1">
                <a:solidFill>
                  <a:srgbClr val="C00000"/>
                </a:solidFill>
              </a:rPr>
              <a:t>guanine in 5’ to 5’ linkage to 5’ end of the RNA</a:t>
            </a:r>
            <a:r>
              <a:rPr lang="en-US" altLang="en-US" sz="2200" b="1"/>
              <a:t>, done when RNA is ~20 nucleotides long - transition from initiation to elongation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Cap is created in 3 enzymatic steps: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1) Phosphate is removed from 5’ end of transcript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2) GMP is added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3) Nucleotide is modified by addition of methyl group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sp>
        <p:nvSpPr>
          <p:cNvPr id="68612" name="Text Box 3">
            <a:extLst>
              <a:ext uri="{FF2B5EF4-FFF2-40B4-BE49-F238E27FC236}">
                <a16:creationId xmlns:a16="http://schemas.microsoft.com/office/drawing/2014/main" id="{4D9B120D-2E58-38B0-C7F3-231E47EAB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0"/>
            <a:ext cx="365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RNA Capping</a:t>
            </a:r>
          </a:p>
        </p:txBody>
      </p:sp>
      <p:pic>
        <p:nvPicPr>
          <p:cNvPr id="68613" name="Picture 3" descr="13_24Figure-L">
            <a:extLst>
              <a:ext uri="{FF2B5EF4-FFF2-40B4-BE49-F238E27FC236}">
                <a16:creationId xmlns:a16="http://schemas.microsoft.com/office/drawing/2014/main" id="{263312AA-EAA9-00DB-F1F3-7A9B5058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364163" y="258763"/>
            <a:ext cx="3722687" cy="655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Date Placeholder 1">
            <a:extLst>
              <a:ext uri="{FF2B5EF4-FFF2-40B4-BE49-F238E27FC236}">
                <a16:creationId xmlns:a16="http://schemas.microsoft.com/office/drawing/2014/main" id="{34C69BDE-A31F-35FE-7E45-C08EBFFCD9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8D3A53-1EE3-E44A-83BC-44A7D9CEABE3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69635" name="Text Box 2">
            <a:extLst>
              <a:ext uri="{FF2B5EF4-FFF2-40B4-BE49-F238E27FC236}">
                <a16:creationId xmlns:a16="http://schemas.microsoft.com/office/drawing/2014/main" id="{08F92DFB-4CE3-37F6-7CC0-34A4CD328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60575"/>
            <a:ext cx="52578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After capping CTD Ser5 is dephosphorylated and capping machinery dissociates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Phosphorylation of Ser2 recruits splicing machinery</a:t>
            </a:r>
          </a:p>
        </p:txBody>
      </p:sp>
      <p:pic>
        <p:nvPicPr>
          <p:cNvPr id="69636" name="Picture 3" descr="13_24Figure-L">
            <a:extLst>
              <a:ext uri="{FF2B5EF4-FFF2-40B4-BE49-F238E27FC236}">
                <a16:creationId xmlns:a16="http://schemas.microsoft.com/office/drawing/2014/main" id="{25997AB6-0D02-BFA2-28A9-1D4700160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4794250" y="404813"/>
            <a:ext cx="4083050" cy="592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Date Placeholder 1">
            <a:extLst>
              <a:ext uri="{FF2B5EF4-FFF2-40B4-BE49-F238E27FC236}">
                <a16:creationId xmlns:a16="http://schemas.microsoft.com/office/drawing/2014/main" id="{C09EA57C-A268-5E06-0215-86617AC437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523ABA-0098-E044-BEDA-1844E895D458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0659" name="Text Box 2">
            <a:extLst>
              <a:ext uri="{FF2B5EF4-FFF2-40B4-BE49-F238E27FC236}">
                <a16:creationId xmlns:a16="http://schemas.microsoft.com/office/drawing/2014/main" id="{3E559B0D-59D7-554A-B515-0B476264D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66800"/>
            <a:ext cx="5257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Addition of </a:t>
            </a:r>
            <a:r>
              <a:rPr lang="en-US" altLang="en-US" sz="2200" b="1">
                <a:solidFill>
                  <a:srgbClr val="C00000"/>
                </a:solidFill>
              </a:rPr>
              <a:t>polyA tail </a:t>
            </a:r>
            <a:r>
              <a:rPr lang="en-US" altLang="en-US" sz="2200" b="1"/>
              <a:t>and termination are linked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At end of gene pol transcribes seq. that trigger the transfer of polyadenylation enzymes to RNA leading to 3 events: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1) cleavage of message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2) addition of adenine residues to 3’ 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3) termination of transcription by pol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70660" name="Text Box 3">
            <a:extLst>
              <a:ext uri="{FF2B5EF4-FFF2-40B4-BE49-F238E27FC236}">
                <a16:creationId xmlns:a16="http://schemas.microsoft.com/office/drawing/2014/main" id="{AB1F7B1D-79C7-F065-F87F-87765E719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61938"/>
            <a:ext cx="396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PolyA Tail addition</a:t>
            </a:r>
          </a:p>
        </p:txBody>
      </p:sp>
      <p:pic>
        <p:nvPicPr>
          <p:cNvPr id="70661" name="Picture 3" descr="13_25Figure-L">
            <a:extLst>
              <a:ext uri="{FF2B5EF4-FFF2-40B4-BE49-F238E27FC236}">
                <a16:creationId xmlns:a16="http://schemas.microsoft.com/office/drawing/2014/main" id="{EC2CB53B-EFA9-B457-E048-1F38760A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302250" y="104775"/>
            <a:ext cx="3841750" cy="668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Date Placeholder 1">
            <a:extLst>
              <a:ext uri="{FF2B5EF4-FFF2-40B4-BE49-F238E27FC236}">
                <a16:creationId xmlns:a16="http://schemas.microsoft.com/office/drawing/2014/main" id="{073D9C0F-8A6A-213F-736F-A34517D6B80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279240-03CD-9246-B990-6B5EEC4736CA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1683" name="Text Box 2">
            <a:extLst>
              <a:ext uri="{FF2B5EF4-FFF2-40B4-BE49-F238E27FC236}">
                <a16:creationId xmlns:a16="http://schemas.microsoft.com/office/drawing/2014/main" id="{636D5D32-DAD0-EF7B-ADC0-636E8D8C9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4851400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pol CTD carries 2 protein complexes, </a:t>
            </a:r>
            <a:r>
              <a:rPr lang="en-US" altLang="en-US" sz="2200" b="1">
                <a:solidFill>
                  <a:srgbClr val="C00000"/>
                </a:solidFill>
              </a:rPr>
              <a:t>cleavage and polyadenylation specificity factor (CPSF) </a:t>
            </a:r>
            <a:r>
              <a:rPr lang="en-US" altLang="en-US" sz="2200" b="1">
                <a:solidFill>
                  <a:srgbClr val="7030A0"/>
                </a:solidFill>
              </a:rPr>
              <a:t>and cleavage stimulation factor (CstF)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Once poly-A signal sequences are transcribed, </a:t>
            </a:r>
            <a:r>
              <a:rPr lang="en-US" altLang="en-US" sz="2200" b="1">
                <a:solidFill>
                  <a:srgbClr val="C00000"/>
                </a:solidFill>
              </a:rPr>
              <a:t>CPSF</a:t>
            </a:r>
            <a:r>
              <a:rPr lang="en-US" altLang="en-US" sz="2200" b="1"/>
              <a:t> and </a:t>
            </a:r>
            <a:r>
              <a:rPr lang="en-US" altLang="en-US" sz="2200" b="1">
                <a:solidFill>
                  <a:srgbClr val="7030A0"/>
                </a:solidFill>
              </a:rPr>
              <a:t>CstF </a:t>
            </a:r>
            <a:r>
              <a:rPr lang="en-US" altLang="en-US" sz="2200" b="1"/>
              <a:t>bind to message, recruit other proteins, and message is cleaved, then poly-A added.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pic>
        <p:nvPicPr>
          <p:cNvPr id="71684" name="Picture 3" descr="13_25Figure-L">
            <a:extLst>
              <a:ext uri="{FF2B5EF4-FFF2-40B4-BE49-F238E27FC236}">
                <a16:creationId xmlns:a16="http://schemas.microsoft.com/office/drawing/2014/main" id="{E33B71CE-0D89-7A95-2050-B2098A633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003800" y="168275"/>
            <a:ext cx="4140200" cy="668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Date Placeholder 1">
            <a:extLst>
              <a:ext uri="{FF2B5EF4-FFF2-40B4-BE49-F238E27FC236}">
                <a16:creationId xmlns:a16="http://schemas.microsoft.com/office/drawing/2014/main" id="{B52FD5AF-D20A-0AAA-D4BA-66864C7051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775329-9A38-8D4F-94ED-01D7157A1029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2707" name="Text Box 2">
            <a:extLst>
              <a:ext uri="{FF2B5EF4-FFF2-40B4-BE49-F238E27FC236}">
                <a16:creationId xmlns:a16="http://schemas.microsoft.com/office/drawing/2014/main" id="{AE564566-B001-2CCE-F82D-90672CFB9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" y="1238250"/>
            <a:ext cx="5257800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Specific polymerase, </a:t>
            </a:r>
            <a:r>
              <a:rPr lang="en-US" altLang="en-US" sz="2200" b="1">
                <a:solidFill>
                  <a:srgbClr val="C00000"/>
                </a:solidFill>
              </a:rPr>
              <a:t>poly-A polymerase (PAP), </a:t>
            </a:r>
            <a:r>
              <a:rPr lang="en-US" altLang="en-US" sz="2200" b="1"/>
              <a:t>adds ~ 200 adenines to 3’ end of RNA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Length determined by specific poly-A binding proteins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ATP precursors and chemistry is the same as RNA pol, but no template is required, </a:t>
            </a:r>
            <a:r>
              <a:rPr lang="en-US" altLang="en-US" sz="2200" b="1">
                <a:solidFill>
                  <a:srgbClr val="C00000"/>
                </a:solidFill>
              </a:rPr>
              <a:t>poly-A tail is unique to RNA Pol II transcripts.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Mature RNA is exported from nucleus</a:t>
            </a:r>
          </a:p>
        </p:txBody>
      </p:sp>
      <p:pic>
        <p:nvPicPr>
          <p:cNvPr id="72708" name="Picture 3" descr="13_25Figure-L">
            <a:extLst>
              <a:ext uri="{FF2B5EF4-FFF2-40B4-BE49-F238E27FC236}">
                <a16:creationId xmlns:a16="http://schemas.microsoft.com/office/drawing/2014/main" id="{294449C6-3AC7-17E3-4919-48CF66354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302250" y="58738"/>
            <a:ext cx="3841750" cy="668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Date Placeholder 1">
            <a:extLst>
              <a:ext uri="{FF2B5EF4-FFF2-40B4-BE49-F238E27FC236}">
                <a16:creationId xmlns:a16="http://schemas.microsoft.com/office/drawing/2014/main" id="{B8E17577-95B8-9654-0D26-335C71721D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E1FAE5-A2AE-6047-B10B-4ED826782893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3731" name="Text Box 2">
            <a:extLst>
              <a:ext uri="{FF2B5EF4-FFF2-40B4-BE49-F238E27FC236}">
                <a16:creationId xmlns:a16="http://schemas.microsoft.com/office/drawing/2014/main" id="{B5771020-888A-1E7F-5C2D-A56F7F327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" y="1484313"/>
            <a:ext cx="52578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RNA polymerase continues to transcribe RNA after message is cleaved, </a:t>
            </a:r>
            <a:r>
              <a:rPr lang="en-US" altLang="en-US" sz="2200" b="1">
                <a:solidFill>
                  <a:srgbClr val="C00000"/>
                </a:solidFill>
              </a:rPr>
              <a:t>creating 2</a:t>
            </a:r>
            <a:r>
              <a:rPr lang="en-US" altLang="en-US" sz="2200" b="1" baseline="30000">
                <a:solidFill>
                  <a:srgbClr val="C00000"/>
                </a:solidFill>
              </a:rPr>
              <a:t>nd</a:t>
            </a:r>
            <a:r>
              <a:rPr lang="en-US" altLang="en-US" sz="2200" b="1">
                <a:solidFill>
                  <a:srgbClr val="C00000"/>
                </a:solidFill>
              </a:rPr>
              <a:t> message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Polyadenylation is required for termination, but connection is unclear.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000" b="1">
              <a:cs typeface="Arial" panose="020B0604020202020204" pitchFamily="34" charset="0"/>
            </a:endParaRPr>
          </a:p>
        </p:txBody>
      </p:sp>
      <p:pic>
        <p:nvPicPr>
          <p:cNvPr id="73732" name="Picture 3" descr="13_25Figure-L">
            <a:extLst>
              <a:ext uri="{FF2B5EF4-FFF2-40B4-BE49-F238E27FC236}">
                <a16:creationId xmlns:a16="http://schemas.microsoft.com/office/drawing/2014/main" id="{ED098F79-72F1-8FC6-2CA7-779B1F88C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"/>
          <a:stretch>
            <a:fillRect/>
          </a:stretch>
        </p:blipFill>
        <p:spPr bwMode="auto">
          <a:xfrm>
            <a:off x="5302250" y="90488"/>
            <a:ext cx="3841750" cy="668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Date Placeholder 1">
            <a:extLst>
              <a:ext uri="{FF2B5EF4-FFF2-40B4-BE49-F238E27FC236}">
                <a16:creationId xmlns:a16="http://schemas.microsoft.com/office/drawing/2014/main" id="{0DCF1CAD-8254-1F1C-3D72-15C0800A68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039CD5-1DB8-A846-85D2-9AB4941FC7D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4755" name="Text Box 2">
            <a:extLst>
              <a:ext uri="{FF2B5EF4-FFF2-40B4-BE49-F238E27FC236}">
                <a16:creationId xmlns:a16="http://schemas.microsoft.com/office/drawing/2014/main" id="{F09D5F9B-53A5-70C8-5DAD-949587186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579438"/>
            <a:ext cx="861060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/>
              <a:t>Termination may result from: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C00000"/>
                </a:solidFill>
              </a:rPr>
              <a:t>1- Torpedo model </a:t>
            </a:r>
            <a:r>
              <a:rPr lang="en-US" altLang="en-US" sz="2200" b="1"/>
              <a:t>- </a:t>
            </a:r>
            <a:r>
              <a:rPr lang="en-US" altLang="en-US" sz="2200" b="1">
                <a:solidFill>
                  <a:srgbClr val="7030A0"/>
                </a:solidFill>
              </a:rPr>
              <a:t>Rat1 (hXrn2) is an Rnase that recognizes uncapped “</a:t>
            </a:r>
            <a:r>
              <a:rPr lang="en-US" altLang="en-US" sz="2200" b="1">
                <a:solidFill>
                  <a:srgbClr val="FF0000"/>
                </a:solidFill>
              </a:rPr>
              <a:t>new</a:t>
            </a:r>
            <a:r>
              <a:rPr lang="en-US" altLang="en-US" sz="2200" b="1">
                <a:solidFill>
                  <a:srgbClr val="7030A0"/>
                </a:solidFill>
              </a:rPr>
              <a:t>” RNA molecule - degrades in 5’ to 3’ direction, catches up to RNA pol and may knock it off template (think Rho dependent termination in bacteria) or pull template out of RNA pol.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b="1"/>
          </a:p>
        </p:txBody>
      </p:sp>
      <p:sp>
        <p:nvSpPr>
          <p:cNvPr id="74756" name="Text Box 3">
            <a:extLst>
              <a:ext uri="{FF2B5EF4-FFF2-40B4-BE49-F238E27FC236}">
                <a16:creationId xmlns:a16="http://schemas.microsoft.com/office/drawing/2014/main" id="{62CE2F1C-40A8-6902-F719-1B42216A7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66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Termination</a:t>
            </a:r>
          </a:p>
        </p:txBody>
      </p:sp>
      <p:pic>
        <p:nvPicPr>
          <p:cNvPr id="74757" name="Picture 3" descr="13_26Figure-L">
            <a:extLst>
              <a:ext uri="{FF2B5EF4-FFF2-40B4-BE49-F238E27FC236}">
                <a16:creationId xmlns:a16="http://schemas.microsoft.com/office/drawing/2014/main" id="{30D15273-19E7-FE70-AD1A-2A2531A09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4"/>
          <a:stretch>
            <a:fillRect/>
          </a:stretch>
        </p:blipFill>
        <p:spPr bwMode="auto">
          <a:xfrm>
            <a:off x="1042988" y="2959100"/>
            <a:ext cx="727392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1">
            <a:extLst>
              <a:ext uri="{FF2B5EF4-FFF2-40B4-BE49-F238E27FC236}">
                <a16:creationId xmlns:a16="http://schemas.microsoft.com/office/drawing/2014/main" id="{81D5F46B-D799-5838-F381-BABE891170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C6CEF0-A1E0-0E4F-9246-E0776D31EF70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5779" name="Text Box 2">
            <a:extLst>
              <a:ext uri="{FF2B5EF4-FFF2-40B4-BE49-F238E27FC236}">
                <a16:creationId xmlns:a16="http://schemas.microsoft.com/office/drawing/2014/main" id="{C537896E-13FF-4234-04F7-A4D721FBB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221163"/>
            <a:ext cx="86106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/>
              <a:t>Termination may result from: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C00000"/>
                </a:solidFill>
              </a:rPr>
              <a:t>2- Allosteric model</a:t>
            </a:r>
            <a:r>
              <a:rPr lang="en-US" altLang="en-US" sz="2200" b="1"/>
              <a:t> </a:t>
            </a:r>
            <a:r>
              <a:rPr lang="en-US" altLang="en-US" sz="2200" b="1">
                <a:solidFill>
                  <a:srgbClr val="7030A0"/>
                </a:solidFill>
              </a:rPr>
              <a:t>steric change in pol, possibly linked to polyadenylation and transfer of 3’ processing enzymes to RNA, may reduce pol processivity leading to </a:t>
            </a:r>
            <a:r>
              <a:rPr lang="en-US" altLang="en-US" sz="2200" b="1">
                <a:solidFill>
                  <a:srgbClr val="FF0000"/>
                </a:solidFill>
              </a:rPr>
              <a:t>spontaneous</a:t>
            </a:r>
            <a:r>
              <a:rPr lang="en-US" altLang="en-US" sz="2200" b="1">
                <a:solidFill>
                  <a:srgbClr val="7030A0"/>
                </a:solidFill>
              </a:rPr>
              <a:t> termination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/>
          </a:p>
        </p:txBody>
      </p:sp>
      <p:pic>
        <p:nvPicPr>
          <p:cNvPr id="75780" name="Picture 4" descr="12_Figure25">
            <a:extLst>
              <a:ext uri="{FF2B5EF4-FFF2-40B4-BE49-F238E27FC236}">
                <a16:creationId xmlns:a16="http://schemas.microsoft.com/office/drawing/2014/main" id="{73E6FDA7-7425-CDE2-2026-07E351C7D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76200"/>
            <a:ext cx="6256338" cy="375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1">
            <a:extLst>
              <a:ext uri="{FF2B5EF4-FFF2-40B4-BE49-F238E27FC236}">
                <a16:creationId xmlns:a16="http://schemas.microsoft.com/office/drawing/2014/main" id="{048ACFBF-9D3D-8DD5-AC1C-FE2EEC8571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10D0F4-8F25-3F4A-A81B-E0AF0459FBA8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12/1/24</a:t>
            </a:fld>
            <a:endParaRPr lang="en-US" altLang="en-US" sz="1400"/>
          </a:p>
        </p:txBody>
      </p:sp>
      <p:pic>
        <p:nvPicPr>
          <p:cNvPr id="76803" name="Picture 3">
            <a:extLst>
              <a:ext uri="{FF2B5EF4-FFF2-40B4-BE49-F238E27FC236}">
                <a16:creationId xmlns:a16="http://schemas.microsoft.com/office/drawing/2014/main" id="{2B420D67-EC3F-FB7C-34C3-F4A8571F6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30275"/>
            <a:ext cx="7715250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Text Box 3">
            <a:extLst>
              <a:ext uri="{FF2B5EF4-FFF2-40B4-BE49-F238E27FC236}">
                <a16:creationId xmlns:a16="http://schemas.microsoft.com/office/drawing/2014/main" id="{E6B8ECE6-6C10-0B16-72CE-4E8F25E05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RNA Pol I and III</a:t>
            </a:r>
          </a:p>
        </p:txBody>
      </p:sp>
      <p:pic>
        <p:nvPicPr>
          <p:cNvPr id="76805" name="Picture 8">
            <a:extLst>
              <a:ext uri="{FF2B5EF4-FFF2-40B4-BE49-F238E27FC236}">
                <a16:creationId xmlns:a16="http://schemas.microsoft.com/office/drawing/2014/main" id="{0339CDA9-A67E-3D78-AB98-969D94274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429000"/>
            <a:ext cx="46799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10">
            <a:extLst>
              <a:ext uri="{FF2B5EF4-FFF2-40B4-BE49-F238E27FC236}">
                <a16:creationId xmlns:a16="http://schemas.microsoft.com/office/drawing/2014/main" id="{FC865EFD-B34E-4939-79D6-EC940F034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429000"/>
            <a:ext cx="4105275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50941E-0541-4348-E833-B20AF51F4FAE}"/>
              </a:ext>
            </a:extLst>
          </p:cNvPr>
          <p:cNvCxnSpPr/>
          <p:nvPr/>
        </p:nvCxnSpPr>
        <p:spPr>
          <a:xfrm>
            <a:off x="1258888" y="635000"/>
            <a:ext cx="504825" cy="417513"/>
          </a:xfrm>
          <a:prstGeom prst="straightConnector1">
            <a:avLst/>
          </a:prstGeom>
          <a:ln>
            <a:solidFill>
              <a:srgbClr val="B1079D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84904B-53C4-8F8B-E106-39819F38DDB2}"/>
              </a:ext>
            </a:extLst>
          </p:cNvPr>
          <p:cNvCxnSpPr/>
          <p:nvPr/>
        </p:nvCxnSpPr>
        <p:spPr>
          <a:xfrm flipH="1" flipV="1">
            <a:off x="6359525" y="5613400"/>
            <a:ext cx="552450" cy="368300"/>
          </a:xfrm>
          <a:prstGeom prst="straightConnector1">
            <a:avLst/>
          </a:prstGeom>
          <a:ln>
            <a:solidFill>
              <a:srgbClr val="B1079D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CF4C89-11B1-2D18-55A7-D474CFC688F8}"/>
              </a:ext>
            </a:extLst>
          </p:cNvPr>
          <p:cNvCxnSpPr/>
          <p:nvPr/>
        </p:nvCxnSpPr>
        <p:spPr>
          <a:xfrm>
            <a:off x="7092950" y="739775"/>
            <a:ext cx="466725" cy="415925"/>
          </a:xfrm>
          <a:prstGeom prst="straightConnector1">
            <a:avLst/>
          </a:prstGeom>
          <a:ln>
            <a:solidFill>
              <a:srgbClr val="F842E2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E499ED-863C-A0BF-6C45-6BAC7A94D961}"/>
              </a:ext>
            </a:extLst>
          </p:cNvPr>
          <p:cNvCxnSpPr/>
          <p:nvPr/>
        </p:nvCxnSpPr>
        <p:spPr>
          <a:xfrm flipH="1" flipV="1">
            <a:off x="4229100" y="5299075"/>
            <a:ext cx="409575" cy="650875"/>
          </a:xfrm>
          <a:prstGeom prst="straightConnector1">
            <a:avLst/>
          </a:prstGeom>
          <a:ln>
            <a:solidFill>
              <a:srgbClr val="F842E2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Date Placeholder 1">
            <a:extLst>
              <a:ext uri="{FF2B5EF4-FFF2-40B4-BE49-F238E27FC236}">
                <a16:creationId xmlns:a16="http://schemas.microsoft.com/office/drawing/2014/main" id="{9D062F63-E649-B0F1-2231-43268CCC2D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DFC6EB-4C46-8749-84EB-20D2A7A7493C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7827" name="Text Box 2">
            <a:extLst>
              <a:ext uri="{FF2B5EF4-FFF2-40B4-BE49-F238E27FC236}">
                <a16:creationId xmlns:a16="http://schemas.microsoft.com/office/drawing/2014/main" id="{1EECDA53-2C38-CDD5-6E0B-1B721757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276600"/>
            <a:ext cx="822960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Pol I and III </a:t>
            </a:r>
            <a:r>
              <a:rPr lang="en-US" altLang="en-US" sz="2200" b="1"/>
              <a:t>are related to Pol II and share some subunits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Both initiate transcription from distinct promoters and transcribe distinct genes = specialized RNAs, each also have unique transcription factors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FF0000"/>
                </a:solidFill>
              </a:rPr>
              <a:t>TBP is, however, universal to all eukaryotic RNA pols</a:t>
            </a:r>
            <a:endParaRPr lang="el-GR" altLang="en-US" sz="2200" b="1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Pol I </a:t>
            </a: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transcribes the rRNA precursor, multiple copy gene expressed more highly than any other gene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77828" name="Text Box 3">
            <a:extLst>
              <a:ext uri="{FF2B5EF4-FFF2-40B4-BE49-F238E27FC236}">
                <a16:creationId xmlns:a16="http://schemas.microsoft.com/office/drawing/2014/main" id="{7B0E7795-3EE9-B4F1-B401-7416AAC9B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Pol I and III</a:t>
            </a:r>
          </a:p>
        </p:txBody>
      </p:sp>
      <p:pic>
        <p:nvPicPr>
          <p:cNvPr id="77829" name="Picture 3" descr="13_27Figure-L">
            <a:extLst>
              <a:ext uri="{FF2B5EF4-FFF2-40B4-BE49-F238E27FC236}">
                <a16:creationId xmlns:a16="http://schemas.microsoft.com/office/drawing/2014/main" id="{695FF4C3-BA5F-529B-9F45-CF559B9D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6"/>
          <a:stretch>
            <a:fillRect/>
          </a:stretch>
        </p:blipFill>
        <p:spPr bwMode="auto">
          <a:xfrm>
            <a:off x="1835150" y="836613"/>
            <a:ext cx="5489575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Date Placeholder 1">
            <a:extLst>
              <a:ext uri="{FF2B5EF4-FFF2-40B4-BE49-F238E27FC236}">
                <a16:creationId xmlns:a16="http://schemas.microsoft.com/office/drawing/2014/main" id="{71E00AA7-5EFE-6492-74BC-F7BD2EA382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660A69-1584-3941-8AD3-1492B8F3505F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8851" name="Text Box 2">
            <a:extLst>
              <a:ext uri="{FF2B5EF4-FFF2-40B4-BE49-F238E27FC236}">
                <a16:creationId xmlns:a16="http://schemas.microsoft.com/office/drawing/2014/main" id="{DD6C2955-364A-D04C-48BE-0A213D150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276600"/>
            <a:ext cx="82296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</a:rPr>
              <a:t>Pol I promoter </a:t>
            </a:r>
            <a:r>
              <a:rPr lang="en-US" altLang="en-US" sz="2200" b="1"/>
              <a:t>has 2 parts, the </a:t>
            </a:r>
            <a:r>
              <a:rPr lang="en-US" altLang="en-US" sz="2200" b="1">
                <a:solidFill>
                  <a:srgbClr val="7030A0"/>
                </a:solidFill>
              </a:rPr>
              <a:t>core element and the upstream control element, UCE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Initiation requires Pol I and 2 other factors, SL1 and UBF</a:t>
            </a:r>
            <a:endParaRPr lang="el-GR" altLang="en-US" sz="2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SL1</a:t>
            </a:r>
            <a:r>
              <a:rPr lang="en-US" altLang="en-US" sz="2200" b="1">
                <a:cs typeface="Arial" panose="020B0604020202020204" pitchFamily="34" charset="0"/>
              </a:rPr>
              <a:t> consists of TBP and 3 TAFs sp. to Pol I transcription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SL1 binds in the presence of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UBF</a:t>
            </a:r>
            <a:r>
              <a:rPr lang="en-US" altLang="en-US" sz="2200" b="1">
                <a:cs typeface="Arial" panose="020B0604020202020204" pitchFamily="34" charset="0"/>
              </a:rPr>
              <a:t> and together both recruit Pol 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78852" name="Text Box 3">
            <a:extLst>
              <a:ext uri="{FF2B5EF4-FFF2-40B4-BE49-F238E27FC236}">
                <a16:creationId xmlns:a16="http://schemas.microsoft.com/office/drawing/2014/main" id="{3E29E199-FEDD-368C-B31B-8938C01BA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Pol I promoter</a:t>
            </a:r>
          </a:p>
        </p:txBody>
      </p:sp>
      <p:pic>
        <p:nvPicPr>
          <p:cNvPr id="78853" name="Picture 3" descr="13_27Figure-L">
            <a:extLst>
              <a:ext uri="{FF2B5EF4-FFF2-40B4-BE49-F238E27FC236}">
                <a16:creationId xmlns:a16="http://schemas.microsoft.com/office/drawing/2014/main" id="{D64C9EBC-F037-B230-0F5A-6A766F49A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6"/>
          <a:stretch>
            <a:fillRect/>
          </a:stretch>
        </p:blipFill>
        <p:spPr bwMode="auto">
          <a:xfrm>
            <a:off x="1438275" y="574675"/>
            <a:ext cx="6640513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Date Placeholder 1">
            <a:extLst>
              <a:ext uri="{FF2B5EF4-FFF2-40B4-BE49-F238E27FC236}">
                <a16:creationId xmlns:a16="http://schemas.microsoft.com/office/drawing/2014/main" id="{7755616C-1F0D-5095-FE9A-3AB3F0BE47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FABA9B-3AFF-F844-92BD-CFD8369456AE}" type="datetime12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2:51 PM</a:t>
            </a:fld>
            <a:endParaRPr lang="en-US" altLang="en-US" sz="1400"/>
          </a:p>
        </p:txBody>
      </p:sp>
      <p:sp>
        <p:nvSpPr>
          <p:cNvPr id="79875" name="Text Box 2">
            <a:extLst>
              <a:ext uri="{FF2B5EF4-FFF2-40B4-BE49-F238E27FC236}">
                <a16:creationId xmlns:a16="http://schemas.microsoft.com/office/drawing/2014/main" id="{1D56E837-A39D-5F6C-C927-CC2A2F609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924175"/>
            <a:ext cx="8713788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 b="1" u="sng">
                <a:solidFill>
                  <a:srgbClr val="7030A0"/>
                </a:solidFill>
              </a:rPr>
              <a:t>Pol III promoters are variable</a:t>
            </a:r>
            <a:r>
              <a:rPr lang="en-US" altLang="en-US" sz="2200" b="1"/>
              <a:t>, but generally are located </a:t>
            </a:r>
            <a:r>
              <a:rPr lang="en-US" altLang="en-US" sz="2200" b="1" u="sng"/>
              <a:t>downstream</a:t>
            </a:r>
            <a:r>
              <a:rPr lang="en-US" altLang="en-US" sz="2200" b="1"/>
              <a:t> of </a:t>
            </a:r>
            <a:r>
              <a:rPr lang="en-US" altLang="en-US" sz="2200" b="1">
                <a:solidFill>
                  <a:srgbClr val="FF0000"/>
                </a:solidFill>
              </a:rPr>
              <a:t>transcription start site (TSS)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1"/>
          </a:p>
          <a:p>
            <a:pPr eaLnBrk="1" hangingPunct="1">
              <a:spcBef>
                <a:spcPct val="0"/>
              </a:spcBef>
            </a:pPr>
            <a:r>
              <a:rPr lang="en-US" altLang="en-US" sz="2200" b="1"/>
              <a:t>Some </a:t>
            </a:r>
            <a:r>
              <a:rPr lang="en-US" altLang="en-US" sz="2200" b="1">
                <a:solidFill>
                  <a:srgbClr val="C00000"/>
                </a:solidFill>
              </a:rPr>
              <a:t>Pol III </a:t>
            </a:r>
            <a:r>
              <a:rPr lang="en-US" altLang="en-US" sz="2200" b="1"/>
              <a:t>promoters (e.g</a:t>
            </a:r>
            <a:r>
              <a:rPr lang="en-US" altLang="en-US" sz="2200" b="1">
                <a:solidFill>
                  <a:srgbClr val="FF0000"/>
                </a:solidFill>
              </a:rPr>
              <a:t>. tRNA genes</a:t>
            </a:r>
            <a:r>
              <a:rPr lang="en-US" altLang="en-US" sz="2200" b="1"/>
              <a:t>) consist of 2 regions, </a:t>
            </a:r>
            <a:r>
              <a:rPr lang="en-US" altLang="en-US" sz="2200" b="1">
                <a:solidFill>
                  <a:srgbClr val="C00000"/>
                </a:solidFill>
              </a:rPr>
              <a:t>Box A and Box B</a:t>
            </a:r>
            <a:endParaRPr lang="el-GR" altLang="en-US" sz="22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Other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Pol III </a:t>
            </a:r>
            <a:r>
              <a:rPr lang="en-US" altLang="en-US" sz="2200" b="1">
                <a:cs typeface="Arial" panose="020B0604020202020204" pitchFamily="34" charset="0"/>
              </a:rPr>
              <a:t>promoters ( e.g. 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5S RNA gene</a:t>
            </a:r>
            <a:r>
              <a:rPr lang="en-US" altLang="en-US" sz="2200" b="1">
                <a:cs typeface="Arial" panose="020B0604020202020204" pitchFamily="34" charset="0"/>
              </a:rPr>
              <a:t>) consist of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Box A and Box C</a:t>
            </a:r>
            <a:r>
              <a:rPr lang="en-US" altLang="en-US" sz="2200" b="1">
                <a:cs typeface="Arial" panose="020B0604020202020204" pitchFamily="34" charset="0"/>
              </a:rPr>
              <a:t>, others contain a TATA element like Pol II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200" b="1">
                <a:cs typeface="Arial" panose="020B0604020202020204" pitchFamily="34" charset="0"/>
              </a:rPr>
              <a:t> </a:t>
            </a: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At the tRNA promoter,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TFIIIC</a:t>
            </a: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 complex binds and recruits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TFIIIB</a:t>
            </a: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, which recruits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Pol III</a:t>
            </a:r>
            <a:r>
              <a:rPr lang="en-US" altLang="en-US" sz="2200" b="1">
                <a:solidFill>
                  <a:srgbClr val="FF0000"/>
                </a:solidFill>
                <a:cs typeface="Arial" panose="020B0604020202020204" pitchFamily="34" charset="0"/>
              </a:rPr>
              <a:t>, </a:t>
            </a: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here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TBP</a:t>
            </a:r>
            <a:r>
              <a:rPr lang="en-US" altLang="en-US" sz="2200" b="1">
                <a:solidFill>
                  <a:srgbClr val="7030A0"/>
                </a:solidFill>
                <a:cs typeface="Arial" panose="020B0604020202020204" pitchFamily="34" charset="0"/>
              </a:rPr>
              <a:t> complexes w/ </a:t>
            </a:r>
            <a:r>
              <a:rPr lang="en-US" altLang="en-US" sz="2200" b="1">
                <a:solidFill>
                  <a:srgbClr val="C00000"/>
                </a:solidFill>
                <a:cs typeface="Arial" panose="020B0604020202020204" pitchFamily="34" charset="0"/>
              </a:rPr>
              <a:t>TFIIIB</a:t>
            </a:r>
            <a:endParaRPr lang="en-US" altLang="en-US" sz="10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cs typeface="Arial" panose="020B0604020202020204" pitchFamily="34" charset="0"/>
            </a:endParaRPr>
          </a:p>
        </p:txBody>
      </p:sp>
      <p:sp>
        <p:nvSpPr>
          <p:cNvPr id="79876" name="Text Box 3">
            <a:extLst>
              <a:ext uri="{FF2B5EF4-FFF2-40B4-BE49-F238E27FC236}">
                <a16:creationId xmlns:a16="http://schemas.microsoft.com/office/drawing/2014/main" id="{889400C7-E0FF-4748-E586-9E3829FAA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</a:rPr>
              <a:t>Pol III promoter</a:t>
            </a:r>
          </a:p>
        </p:txBody>
      </p:sp>
      <p:pic>
        <p:nvPicPr>
          <p:cNvPr id="79877" name="Picture 5">
            <a:extLst>
              <a:ext uri="{FF2B5EF4-FFF2-40B4-BE49-F238E27FC236}">
                <a16:creationId xmlns:a16="http://schemas.microsoft.com/office/drawing/2014/main" id="{C5FECA5C-99C7-1A99-3559-AA64266F7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88" y="587375"/>
            <a:ext cx="395922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4">
            <a:extLst>
              <a:ext uri="{FF2B5EF4-FFF2-40B4-BE49-F238E27FC236}">
                <a16:creationId xmlns:a16="http://schemas.microsoft.com/office/drawing/2014/main" id="{83FE291D-9302-C954-0FA4-0F0B01FF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924175"/>
            <a:ext cx="8229600" cy="11430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END</a:t>
            </a:r>
          </a:p>
        </p:txBody>
      </p:sp>
      <p:sp>
        <p:nvSpPr>
          <p:cNvPr id="80899" name="Date Placeholder 1">
            <a:extLst>
              <a:ext uri="{FF2B5EF4-FFF2-40B4-BE49-F238E27FC236}">
                <a16:creationId xmlns:a16="http://schemas.microsoft.com/office/drawing/2014/main" id="{D023C6DA-C72F-C6C3-9505-660C9FB16C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BC1F3D-4F2F-3E4D-A351-37F0F5988177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12/1/24</a:t>
            </a:fld>
            <a:endParaRPr lang="en-US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8732</TotalTime>
  <Words>3863</Words>
  <Application>Microsoft Macintosh PowerPoint</Application>
  <PresentationFormat>On-screen Show (4:3)</PresentationFormat>
  <Paragraphs>514</Paragraphs>
  <Slides>75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ＭＳ Ｐゴシック</vt:lpstr>
      <vt:lpstr>Symbol</vt:lpstr>
      <vt:lpstr>Times New Roman</vt:lpstr>
      <vt:lpstr>Default Design</vt:lpstr>
      <vt:lpstr>Mechanisms of Transcription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Recognition and melting of the –10 elements by σ region 2.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>Stony Brook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Thomas</dc:creator>
  <cp:lastModifiedBy>Laith Al-Eitan</cp:lastModifiedBy>
  <cp:revision>352</cp:revision>
  <dcterms:created xsi:type="dcterms:W3CDTF">2008-11-25T01:54:27Z</dcterms:created>
  <dcterms:modified xsi:type="dcterms:W3CDTF">2024-12-01T12:06:41Z</dcterms:modified>
</cp:coreProperties>
</file>