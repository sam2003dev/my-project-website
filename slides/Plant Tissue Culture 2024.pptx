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7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8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9.xml" ContentType="application/vnd.openxmlformats-officedocument.theme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  <p:sldMasterId id="2147483677" r:id="rId3"/>
    <p:sldMasterId id="2147483691" r:id="rId4"/>
    <p:sldMasterId id="2147483705" r:id="rId5"/>
    <p:sldMasterId id="2147483719" r:id="rId6"/>
    <p:sldMasterId id="2147483733" r:id="rId7"/>
    <p:sldMasterId id="2147483747" r:id="rId8"/>
    <p:sldMasterId id="2147483761" r:id="rId9"/>
    <p:sldMasterId id="2147483775" r:id="rId10"/>
  </p:sldMasterIdLst>
  <p:notesMasterIdLst>
    <p:notesMasterId r:id="rId77"/>
  </p:notesMasterIdLst>
  <p:handoutMasterIdLst>
    <p:handoutMasterId r:id="rId78"/>
  </p:handoutMasterIdLst>
  <p:sldIdLst>
    <p:sldId id="380" r:id="rId11"/>
    <p:sldId id="465" r:id="rId12"/>
    <p:sldId id="466" r:id="rId13"/>
    <p:sldId id="467" r:id="rId14"/>
    <p:sldId id="468" r:id="rId15"/>
    <p:sldId id="343" r:id="rId16"/>
    <p:sldId id="388" r:id="rId17"/>
    <p:sldId id="446" r:id="rId18"/>
    <p:sldId id="447" r:id="rId19"/>
    <p:sldId id="391" r:id="rId20"/>
    <p:sldId id="261" r:id="rId21"/>
    <p:sldId id="398" r:id="rId22"/>
    <p:sldId id="350" r:id="rId23"/>
    <p:sldId id="395" r:id="rId24"/>
    <p:sldId id="449" r:id="rId25"/>
    <p:sldId id="452" r:id="rId26"/>
    <p:sldId id="451" r:id="rId27"/>
    <p:sldId id="454" r:id="rId28"/>
    <p:sldId id="456" r:id="rId29"/>
    <p:sldId id="458" r:id="rId30"/>
    <p:sldId id="460" r:id="rId31"/>
    <p:sldId id="462" r:id="rId32"/>
    <p:sldId id="464" r:id="rId33"/>
    <p:sldId id="364" r:id="rId34"/>
    <p:sldId id="396" r:id="rId35"/>
    <p:sldId id="365" r:id="rId36"/>
    <p:sldId id="425" r:id="rId37"/>
    <p:sldId id="426" r:id="rId38"/>
    <p:sldId id="435" r:id="rId39"/>
    <p:sldId id="436" r:id="rId40"/>
    <p:sldId id="437" r:id="rId41"/>
    <p:sldId id="427" r:id="rId42"/>
    <p:sldId id="428" r:id="rId43"/>
    <p:sldId id="439" r:id="rId44"/>
    <p:sldId id="440" r:id="rId45"/>
    <p:sldId id="441" r:id="rId46"/>
    <p:sldId id="438" r:id="rId47"/>
    <p:sldId id="475" r:id="rId48"/>
    <p:sldId id="474" r:id="rId49"/>
    <p:sldId id="397" r:id="rId50"/>
    <p:sldId id="400" r:id="rId51"/>
    <p:sldId id="399" r:id="rId52"/>
    <p:sldId id="408" r:id="rId53"/>
    <p:sldId id="409" r:id="rId54"/>
    <p:sldId id="416" r:id="rId55"/>
    <p:sldId id="345" r:id="rId56"/>
    <p:sldId id="402" r:id="rId57"/>
    <p:sldId id="422" r:id="rId58"/>
    <p:sldId id="471" r:id="rId59"/>
    <p:sldId id="470" r:id="rId60"/>
    <p:sldId id="403" r:id="rId61"/>
    <p:sldId id="473" r:id="rId62"/>
    <p:sldId id="472" r:id="rId63"/>
    <p:sldId id="406" r:id="rId64"/>
    <p:sldId id="442" r:id="rId65"/>
    <p:sldId id="417" r:id="rId66"/>
    <p:sldId id="418" r:id="rId67"/>
    <p:sldId id="419" r:id="rId68"/>
    <p:sldId id="469" r:id="rId69"/>
    <p:sldId id="420" r:id="rId70"/>
    <p:sldId id="421" r:id="rId71"/>
    <p:sldId id="407" r:id="rId72"/>
    <p:sldId id="424" r:id="rId73"/>
    <p:sldId id="355" r:id="rId74"/>
    <p:sldId id="445" r:id="rId75"/>
    <p:sldId id="444" r:id="rId7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66"/>
    <a:srgbClr val="0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5" autoAdjust="0"/>
    <p:restoredTop sz="94660"/>
  </p:normalViewPr>
  <p:slideViewPr>
    <p:cSldViewPr>
      <p:cViewPr varScale="1">
        <p:scale>
          <a:sx n="82" d="100"/>
          <a:sy n="82" d="100"/>
        </p:scale>
        <p:origin x="146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76" Type="http://schemas.openxmlformats.org/officeDocument/2006/relationships/slide" Target="slides/slide6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slide" Target="slides/slide56.xml"/><Relationship Id="rId74" Type="http://schemas.openxmlformats.org/officeDocument/2006/relationships/slide" Target="slides/slide64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1.xml"/><Relationship Id="rId82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77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646B9CB-5943-4321-BA4C-B7E3BF0437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016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C24ABCD-E7AB-4082-B20F-16E4E53167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53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E9A163F-87F3-4683-8F7B-19A9B70541A3}" type="slidenum">
              <a:rPr lang="en-US" altLang="en-US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en-US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en-US" smtClean="0">
                <a:latin typeface="Arial" pitchFamily="34" charset="0"/>
              </a:rPr>
              <a:t>Additional Points:  Growth of plant cells outside of an intact plant</a:t>
            </a:r>
          </a:p>
          <a:p>
            <a:pPr eaLnBrk="1" hangingPunct="1"/>
            <a:r>
              <a:rPr lang="en-US" altLang="en-US" smtClean="0">
                <a:latin typeface="Arial" pitchFamily="34" charset="0"/>
              </a:rPr>
              <a:t>A technique essential to many areas of plant science</a:t>
            </a:r>
          </a:p>
          <a:p>
            <a:pPr eaLnBrk="1" hangingPunct="1"/>
            <a:r>
              <a:rPr lang="en-US" altLang="en-US" smtClean="0">
                <a:latin typeface="Arial" pitchFamily="34" charset="0"/>
              </a:rPr>
              <a:t>Culture of individual or groups of cells and whole organs contribute to the understanding of both fundamental and applied science</a:t>
            </a:r>
          </a:p>
          <a:p>
            <a:pPr eaLnBrk="1" hangingPunct="1"/>
            <a:r>
              <a:rPr lang="en-US" altLang="en-US" smtClean="0">
                <a:latin typeface="Arial" pitchFamily="34" charset="0"/>
              </a:rPr>
              <a:t>Cultures can be sustained and maintained as a mass of undifferentiated cells for an extended period of time or regenerated into whole plants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AA14386-CEF2-4D14-8121-8627C32D5B8B}" type="slidenum">
              <a:rPr lang="en-US" altLang="en-US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en-US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Arial" pitchFamily="34" charset="0"/>
              </a:rPr>
              <a:t>Emphasize the implications for genetic involvement: Could there be undesirable genes linked to genes influencing tissue culture response?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6B4AD0-14F9-45C8-BE09-B1ECF7D31EE1}" type="slidenum">
              <a:rPr lang="en-US" altLang="en-US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en-US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9321417-41C9-4B21-895A-B8D578B70E9C}" type="slidenum">
              <a:rPr lang="en-US" altLang="en-US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FAF837A-3834-431F-B46F-B7E658818E42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15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24921F9-AFD8-4331-B78E-2F4F61ED9E9B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16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8D4F1F4-C3FE-4F61-B90A-88A5F4194845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17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BD8498-62E8-44A1-A8DA-71B934A61028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ECDA6AB-8E0B-41E4-B08A-8955B255B1A2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ADFE39F-163D-4AD6-AB92-A86478040106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20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D98AACF-4635-480D-9C34-4735806DAF4B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21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C4827F0-2A30-41A8-8332-744741994CE4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22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E75C587-D914-413F-A4E9-74AA10D906AD}" type="slidenum">
              <a:rPr lang="ar-SA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23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0C8B735-CE36-4BBE-B225-9A6213297B82}" type="slidenum">
              <a:rPr lang="en-US" altLang="en-US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en-US" smtClean="0"/>
          </a:p>
        </p:txBody>
      </p:sp>
      <p:sp>
        <p:nvSpPr>
          <p:cNvPr id="8704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b"/>
          <a:lstStyle>
            <a:lvl1pPr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D36B8E2-0FE6-47BD-B9F4-0C9E6308444D}" type="slidenum">
              <a:rPr lang="en-US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27D1EEC-9BA9-4E2B-885E-C9B1B5504BFD}" type="slidenum">
              <a:rPr lang="en-US" altLang="en-US" smtClean="0"/>
              <a:pPr eaLnBrk="1" hangingPunct="1">
                <a:spcBef>
                  <a:spcPct val="0"/>
                </a:spcBef>
              </a:pPr>
              <a:t>40</a:t>
            </a:fld>
            <a:endParaRPr lang="en-US" altLang="en-US" smtClean="0"/>
          </a:p>
        </p:txBody>
      </p:sp>
      <p:sp>
        <p:nvSpPr>
          <p:cNvPr id="880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b"/>
          <a:lstStyle>
            <a:lvl1pPr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3A985E4-33D5-4E70-93F2-6DBC6813BA9C}" type="slidenum">
              <a:rPr lang="en-US" altLang="en-US"/>
              <a:pPr algn="r" eaLnBrk="1" hangingPunct="1"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pPr eaLnBrk="1" hangingPunct="1"/>
            <a:endParaRPr lang="en-GB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37E767B-512C-409B-B0A9-95E932E78F60}" type="slidenum">
              <a:rPr lang="en-US" altLang="en-US" smtClean="0"/>
              <a:pPr eaLnBrk="1" hangingPunct="1">
                <a:spcBef>
                  <a:spcPct val="0"/>
                </a:spcBef>
              </a:pPr>
              <a:t>42</a:t>
            </a:fld>
            <a:endParaRPr lang="en-US" altLang="en-US" smtClean="0"/>
          </a:p>
        </p:txBody>
      </p:sp>
      <p:sp>
        <p:nvSpPr>
          <p:cNvPr id="8909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pPr eaLnBrk="1" hangingPunct="1"/>
            <a:endParaRPr lang="en-GB" altLang="en-US" smtClean="0">
              <a:latin typeface="Arial" pitchFamily="34" charset="0"/>
            </a:endParaRPr>
          </a:p>
        </p:txBody>
      </p:sp>
      <p:sp>
        <p:nvSpPr>
          <p:cNvPr id="8909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b"/>
          <a:lstStyle>
            <a:lvl1pPr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969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969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46C35B6-60E1-4114-A6EC-E5739B112EDE}" type="slidenum">
              <a:rPr lang="en-US" altLang="en-US"/>
              <a:pPr algn="r" eaLnBrk="1" hangingPunct="1"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E09EBCB-2106-49EA-BCBF-44789617280F}" type="slidenum">
              <a:rPr lang="en-US" altLang="en-US" smtClean="0"/>
              <a:pPr eaLnBrk="1" hangingPunct="1">
                <a:spcBef>
                  <a:spcPct val="0"/>
                </a:spcBef>
              </a:pPr>
              <a:t>43</a:t>
            </a:fld>
            <a:endParaRPr lang="en-US" altLang="en-US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D6A6FE2-4152-44ED-8B62-8EE65C210076}" type="slidenum">
              <a:rPr lang="en-US" altLang="en-US" smtClean="0"/>
              <a:pPr eaLnBrk="1" hangingPunct="1">
                <a:spcBef>
                  <a:spcPct val="0"/>
                </a:spcBef>
              </a:pPr>
              <a:t>44</a:t>
            </a:fld>
            <a:endParaRPr lang="en-US" altLang="en-US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DD2991D-E05C-47F7-A67F-EE861F7CE767}" type="slidenum">
              <a:rPr lang="en-US" altLang="en-US" smtClean="0"/>
              <a:pPr eaLnBrk="1" hangingPunct="1">
                <a:spcBef>
                  <a:spcPct val="0"/>
                </a:spcBef>
              </a:pPr>
              <a:t>45</a:t>
            </a:fld>
            <a:endParaRPr lang="en-US" altLang="en-US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29A0FD4-0797-4557-8644-4D169C606B61}" type="slidenum">
              <a:rPr lang="en-US" altLang="en-US" smtClean="0"/>
              <a:pPr eaLnBrk="1" hangingPunct="1">
                <a:spcBef>
                  <a:spcPct val="0"/>
                </a:spcBef>
              </a:pPr>
              <a:t>56</a:t>
            </a:fld>
            <a:endParaRPr lang="en-US" altLang="en-US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5C37280-3866-4AE3-87E9-C3706EC7BD29}" type="slidenum">
              <a:rPr lang="en-US" altLang="en-US" smtClean="0"/>
              <a:pPr eaLnBrk="1" hangingPunct="1">
                <a:spcBef>
                  <a:spcPct val="0"/>
                </a:spcBef>
              </a:pPr>
              <a:t>57</a:t>
            </a:fld>
            <a:endParaRPr lang="en-US" altLang="en-US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F903DDC-4222-4214-B8B9-85372C1B2DD4}" type="slidenum">
              <a:rPr lang="en-US" altLang="en-US" smtClean="0"/>
              <a:pPr eaLnBrk="1" hangingPunct="1">
                <a:spcBef>
                  <a:spcPct val="0"/>
                </a:spcBef>
              </a:pPr>
              <a:t>58</a:t>
            </a:fld>
            <a:endParaRPr lang="en-US" altLang="en-US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1463224-9DB5-473D-ACF0-D70D385D9E37}" type="slidenum">
              <a:rPr lang="en-US" altLang="en-US" smtClean="0"/>
              <a:pPr eaLnBrk="1" hangingPunct="1">
                <a:spcBef>
                  <a:spcPct val="0"/>
                </a:spcBef>
              </a:pPr>
              <a:t>60</a:t>
            </a:fld>
            <a:endParaRPr lang="en-US" altLang="en-US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360F457-0E4C-4B2B-8884-49F385E775F6}" type="slidenum">
              <a:rPr lang="en-US" altLang="en-US" smtClean="0"/>
              <a:pPr eaLnBrk="1" hangingPunct="1">
                <a:spcBef>
                  <a:spcPct val="0"/>
                </a:spcBef>
              </a:pPr>
              <a:t>61</a:t>
            </a:fld>
            <a:endParaRPr lang="en-US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A81A2-08CD-4346-8CFC-CCDB979DE1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5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606A6-EDF0-4EDF-8310-0CB63C62DB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4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8C425-E8AF-42AD-856B-2F05D43B9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3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8D0E0-43DA-47DA-A12E-9FF0AC9B84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0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B5C49-B296-4244-A9DF-38F9BCDBF3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8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422F2-FE27-443E-AC7C-04B1AC2A86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1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41700-B2CD-4F8E-8978-546795B851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8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A4EDE-0AEC-4CA9-B52B-6DFCABA3C8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42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EB987-E829-40F9-9EC5-263F404744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1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D6553-143F-4528-B7F2-9AC60C3F40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0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AD0CF-5152-483F-BF3E-E72408ACBE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12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8490C-A2B0-4D41-9CFA-0A54D622F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08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9D6E3D-E351-437E-A93F-1CF6144764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34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BD6EE-AE3F-4965-B044-5B3C8924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92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541B0-F44F-4406-8949-9577E2DDB7C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384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6DD12-BBC4-4A21-8E3D-2F00CBFDCBB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934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2F4B6-2083-4E13-8D19-DC89AC4A5AA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434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8F4C3-6A2A-4264-B5BE-65BD90BC6C2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883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98C2A-5288-4CFA-8004-F7FACB059BC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840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A32CC-6997-471F-AC43-5962BBA6445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373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5592E-E57E-476F-9219-5FE716DCEDF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0613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76987-343E-4A4F-853F-805879932B1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16014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47D66-9C97-4F74-8320-3347E635FE9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1535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79C22-4F05-4A31-9882-5E870FB4555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6611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0BADA-FD0F-4F3C-8935-4FEC4173A1A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7766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CBD78F-7597-41A6-8676-1A902AEF71FC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68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C66A6-8C72-4331-A1EB-7CAB76C653F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165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E4BDD-E381-49F3-9E74-3F14C811478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5268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50B6E-8E85-469E-B79B-60FFF1A945F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721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51A2F-B39C-4DC1-8539-A8EB5C18562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1256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20B15-C23E-4DC9-BECA-3250B329F95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1823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0B28B-4CBE-41F9-8341-E39B1177589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409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46B04-B007-4E60-92F7-7153B3F4CA9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13982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09835F-F68F-43ED-9077-479223413EC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050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2A144-A786-479E-8D26-F03C9138F3B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41980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0FFF5F-0F6A-43CE-84A0-39E6281CAA6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76607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69D51-D855-443A-86E8-45DB9E0BDDFC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25339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4E2C6-B38B-4EBA-9A91-3107FF8D568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78493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BF25A-8C63-406F-952F-BA30B1E3314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928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C8D01-7B87-46EE-920D-AEB2DA8C719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8887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FBEDB-2EAB-400A-9E1D-F97885CA5F0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69981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C9948-DA70-495C-8ACE-3628F7FABBF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88824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252A8-02B6-4587-BBBD-10B458F9EE8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5749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58573B-A041-48D2-804C-7B8082361E5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02963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F7475-9329-4C2C-B520-A4C5C21718F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57610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7D88D-4044-49B7-9A0F-F08C92B5D37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016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ACB1E-F9AE-47E1-8B03-BDC62F3FA75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1524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F5050-76B4-4921-BC74-0121A6B510D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95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4FF88-FDDC-43BD-B1C2-BA05B399998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94921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7E915-3302-410D-8478-7D633E1937C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03890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897C2-3975-45DF-961B-ED0F715E2EE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61752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99EB0-027E-40B2-94A6-DA50BF00198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2993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4EB90-6DE5-4A99-8BC4-FDE6758F0AE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25247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9ADC6-4577-4D75-BF57-122F5EF5FDF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320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C7089-4091-47CA-BB6B-90A2E7112B3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1062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D1B7F-F46A-49E1-9EE0-F529A52B3A7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610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E7C75-A480-41B2-A059-E9A4FFC21F8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8936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05693-F1CF-423D-8901-69A6A10094E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17582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363968-0CBF-41D7-A08A-31CF5E43CB7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5354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4138D-7213-489A-82EC-5C9922A2EF2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3407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E3C35-BCB7-44C0-8F60-79BD169E527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93526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0E855-797A-4D82-A5E0-CF0C1421A41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8686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320CE-6B03-4133-96D8-876B0A2CE2D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7586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CC936-CA63-4FFE-93BE-7F6D75A4069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3379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80BDA-08AA-4209-9902-442B5050EB7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9140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7DF57-0B63-443A-8983-E4ED95A4EA2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8087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9F996-163F-498A-AD4A-B02C7F3F49C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11742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0DC63-3F1B-4FAE-A847-5850DBE6201C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27488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D74C3-7FD7-482E-A920-4EC204F3B8A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2542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08641-8302-417A-9B87-7E4CA9BC0CA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8088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3148E-006F-44CA-A4BD-ACCF8A38674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935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F91F0-5C71-4176-B108-07662DDE8CB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5755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03D24-0A46-4B9D-AFCF-D0A3233B71E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47018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6B4DC-CB12-4819-9856-7A75C734B6B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17436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7C7BA-9D53-4242-8B8A-DED02606852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8141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F7CF1-F8C3-4317-99FA-6E405786FF0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558467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E15B7-B752-4506-AFA5-FE911ADF053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15066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9143D-67CC-4C35-BB49-64AE59704BC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15207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A8048-6234-46D6-A6BE-9CCAE5DE256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274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BE82C-564F-4023-9434-7C31E5D1F65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5528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F48E6-6652-405B-92D5-46136C7DA17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99823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7C606-4B15-486C-A3E7-A6A6AA12BA7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02095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7F8EF4-D4E0-4059-86E6-F0056F26282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087472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4F6D5-FA73-4210-A674-314CD119E13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371331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6015F-DBC6-4F33-8D29-9F78325716E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31485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DEC2D-9A3A-4AD9-8E3D-0611A0FF25E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11526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B2321-18B1-4D88-9564-D9069391B9C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14916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080F0-2D9D-44B5-ABE7-189E7D74FEB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302882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74FEA-FE5B-44D3-8DE9-0AC57295890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137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42107-EA69-4E2E-96AD-4D472686A13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8745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56CF4-A4F7-4BEC-950D-ACA49ED1C08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69239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893E7-B942-47FC-A2CD-658E08216EC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0533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40AFD-18A0-47CE-840E-0202029C6F9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14235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2572F-28C2-4853-B4AB-691616A1C7A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319020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255FC-0672-47A2-89DC-29A2D242CC5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917656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421B0-0E1E-40D1-A0F5-2756CF2B30B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4367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D73F8-163D-4810-AD45-BEA04BBDE44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65080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BEF53-8921-4A1A-8432-388DB215284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90779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9C6CA-66FC-4E63-AD0E-DDE483CAB72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4718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11B22-4E66-4EF6-B959-DCCF29FEDC6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17824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14FDA0-3379-4931-9644-8C94216D95D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60736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21CFF-3BE0-48C0-9CA5-8AE0D956D27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8146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AF083-0589-4942-975A-DC1CACDFD6F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69505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45F15-6B5C-45AC-A732-4D8C84A33AB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81232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E8FF98-4234-43A0-AA77-AD59E2C1BA6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619594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4368F-D4F2-4A4E-A826-770556A28BB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87225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9112E-C8CB-4A7A-9F4A-3DCA456228A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11821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5BFEB-634F-4E69-9EDC-5172A9C2369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47850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113F7-661C-40E1-8114-A80011DEBE9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41511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750BA-DDD0-4703-BAE0-94271E7B7F8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6781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DCC55-3AFB-4A8A-81F0-D6608D1FD03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74184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13206-84FA-49DD-8FC1-E360DB3A272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94351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E2297-F5F9-4B95-81DE-686BCF050C8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24535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5FE5C-0942-46E6-8B1F-373B7707305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338132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2C748-0359-49E3-851B-23F92C46F3D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91015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A34E4-F2C5-4D5E-9E53-A4DF916E9BD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74764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65392-D5EF-4157-94C4-72584327453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83685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15198-F1E1-4534-9091-E7802418D60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37062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D8D46-0147-4DFE-ADED-4DFDB8C3974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64411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3FE7B-782C-4099-8903-CE0D01EDC90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970511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CCE3A-1F21-48C5-ACD4-F8835DA7C7A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41150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284D2-5BE0-43CC-B801-D052631E8CF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96205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26C6D-D2DE-43E7-9448-E4C2D5922A3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59600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288CB-CF12-4356-B5E6-10D0B292DB5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3022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E0B32-C404-447B-97B2-9437F73DF6C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18400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7A6A7-F8EA-43A1-B071-EA0236D0ABF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41909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B2DC2-8230-463C-A4B9-D95DB4761AF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704926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6CC14-8F43-4B91-85ED-8268AA8E977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79143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74BF7-3F56-436B-A90F-C503BA9BC41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6775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0E341-D157-4487-911B-C4ABB45CA64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77683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9033D-EE6C-41BF-BB60-1586F0ECA28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636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Relationship Id="rId1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CF8FBF0B-3E83-4334-9DE5-87B4FBD0D5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341191E4-ECC7-4EE3-B9FE-1AB333DF32E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1EEF4826-42FE-47C6-9B57-D1720067AB9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BE39805E-C12E-40E9-A764-6BC932FB37D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27900846-79D3-42BF-82B9-92C34CC16AD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A771F4C2-CD1A-4BFA-B6C8-4CFCD7E734E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12FADEC3-43DE-499B-82B9-206B721B6C3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9835ED61-5A21-4D6E-84A6-C3AC11F6508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40955F68-B676-4AC7-BC43-1C7685F46F2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F00"/>
            </a:gs>
            <a:gs pos="100000">
              <a:srgbClr val="0000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32615781-1DEE-4D59-A16E-E20B58B64109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2G-yUuiqIZ0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gzU_FS59e4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file:///C:\Documents%20and%20Settings\gam\Desktop\organogenesis%20class_files\Image39.gif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52400" y="257175"/>
            <a:ext cx="876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en-US" sz="3600" b="1">
                <a:solidFill>
                  <a:srgbClr val="FFFF00"/>
                </a:solidFill>
                <a:ea typeface="PMingLiU" pitchFamily="18" charset="-120"/>
                <a:cs typeface="Arial" pitchFamily="34" charset="0"/>
              </a:rPr>
              <a:t>PLANT  Tissue Culture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33613"/>
            <a:ext cx="4191000" cy="3024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26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33613"/>
            <a:ext cx="3981450" cy="3024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39712" y="1295400"/>
            <a:ext cx="47745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Plant Tissue Culture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What’s the Background</a:t>
            </a:r>
            <a:r>
              <a:rPr lang="en-US" altLang="en-US" smtClean="0">
                <a:solidFill>
                  <a:srgbClr val="1822CD"/>
                </a:solidFill>
                <a:latin typeface="Skia"/>
              </a:rPr>
              <a:t>?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800" dirty="0" smtClean="0">
                <a:latin typeface="Skia" charset="0"/>
              </a:rPr>
              <a:t>Tissue culture had its origins at the beginning of the 20th century with the work of </a:t>
            </a:r>
            <a:r>
              <a:rPr lang="en-US" altLang="en-US" sz="2800" dirty="0" err="1" smtClean="0">
                <a:latin typeface="Skia" charset="0"/>
              </a:rPr>
              <a:t>Gottleib</a:t>
            </a:r>
            <a:r>
              <a:rPr lang="en-US" altLang="en-US" sz="2800" dirty="0" smtClean="0">
                <a:latin typeface="Skia" charset="0"/>
              </a:rPr>
              <a:t> </a:t>
            </a:r>
            <a:r>
              <a:rPr lang="en-US" altLang="en-US" sz="2800" dirty="0" err="1" smtClean="0">
                <a:latin typeface="Skia" charset="0"/>
              </a:rPr>
              <a:t>Haberlandt</a:t>
            </a:r>
            <a:r>
              <a:rPr lang="en-US" altLang="en-US" sz="2800" dirty="0" smtClean="0">
                <a:latin typeface="Skia" charset="0"/>
              </a:rPr>
              <a:t> (plants) and Alexis Carrel (animals</a:t>
            </a:r>
            <a:r>
              <a:rPr lang="en-US" altLang="en-US" sz="2800" dirty="0" smtClean="0">
                <a:latin typeface="Times"/>
              </a:rPr>
              <a:t>)</a:t>
            </a:r>
          </a:p>
          <a:p>
            <a:pPr marL="0" indent="0">
              <a:buFontTx/>
              <a:buNone/>
              <a:defRPr/>
            </a:pPr>
            <a:endParaRPr lang="en-US" dirty="0" smtClean="0"/>
          </a:p>
          <a:p>
            <a:pPr marL="0" indent="0">
              <a:buFontTx/>
              <a:buNone/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endParaRPr lang="en-US" dirty="0" smtClean="0"/>
          </a:p>
          <a:p>
            <a:pPr marL="0" indent="0">
              <a:buFontTx/>
              <a:buNone/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sz="2000" dirty="0" smtClean="0"/>
              <a:t>     </a:t>
            </a:r>
            <a:r>
              <a:rPr lang="en-US" sz="2000" dirty="0" err="1" smtClean="0"/>
              <a:t>Haberlandt</a:t>
            </a:r>
            <a:r>
              <a:rPr lang="en-US" sz="2000" dirty="0" smtClean="0"/>
              <a:t>                                                Carrel</a:t>
            </a:r>
            <a:endParaRPr lang="en-US" sz="2000" dirty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2800"/>
            <a:ext cx="1695450" cy="198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229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63" y="3365500"/>
            <a:ext cx="1408112" cy="198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304800"/>
            <a:ext cx="8077200" cy="2898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en-US" sz="2400" kern="0" dirty="0">
                <a:latin typeface="+mn-lt"/>
              </a:rPr>
              <a:t>The first commercial use of plant clonal propagation  on artificial media was in the germination and growth of orchid plants, in the 1920’s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altLang="en-US" sz="2400" kern="0" dirty="0"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en-US" sz="2400" kern="0" dirty="0">
                <a:latin typeface="+mn-lt"/>
              </a:rPr>
              <a:t>In the 1950’s and 60’s there was a great deal of research, but it was only after the development of a reliable artificial medium (</a:t>
            </a:r>
            <a:r>
              <a:rPr lang="en-US" altLang="en-US" sz="2400" kern="0" dirty="0" err="1">
                <a:latin typeface="+mn-lt"/>
              </a:rPr>
              <a:t>Murashige</a:t>
            </a:r>
            <a:r>
              <a:rPr lang="en-US" altLang="en-US" sz="2400" kern="0" dirty="0">
                <a:latin typeface="+mn-lt"/>
              </a:rPr>
              <a:t> &amp; Skoog, 1962) that plant tissue culture really ‘took off’ commercially</a:t>
            </a: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03575"/>
            <a:ext cx="3810000" cy="28527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57200"/>
            <a:ext cx="845820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en-US" sz="2400" kern="0" dirty="0">
                <a:latin typeface="+mn-lt"/>
              </a:rPr>
              <a:t>A more recent advance is the use of plant and animal tissue culture along with genetic modification using viral and bacterial vectors and gene guns to create genetically engineered organisms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62200"/>
            <a:ext cx="3127375" cy="3249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813" y="2362200"/>
            <a:ext cx="3657600" cy="2462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65613" y="4965700"/>
            <a:ext cx="4572000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hlinkClick r:id="rId4"/>
              </a:rPr>
              <a:t>https://www.youtube.com/watch?v=2G-yUuiqIZ0</a:t>
            </a:r>
            <a:endParaRPr lang="en-US" sz="2000" dirty="0">
              <a:latin typeface="+mn-lt"/>
            </a:endParaRPr>
          </a:p>
        </p:txBody>
      </p:sp>
      <p:sp>
        <p:nvSpPr>
          <p:cNvPr id="14342" name="TextBox 3"/>
          <p:cNvSpPr txBox="1">
            <a:spLocks noChangeArrowheads="1"/>
          </p:cNvSpPr>
          <p:nvPr/>
        </p:nvSpPr>
        <p:spPr bwMode="auto">
          <a:xfrm>
            <a:off x="3492500" y="5673725"/>
            <a:ext cx="5346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https://www.youtube.com/watch?v=cK-OGB1_ELE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What is needed</a:t>
            </a:r>
            <a:r>
              <a:rPr lang="en-US" altLang="en-US" dirty="0">
                <a:solidFill>
                  <a:srgbClr val="1822CD"/>
                </a:solidFill>
                <a:latin typeface="Skia" charset="0"/>
              </a:rPr>
              <a:t>?</a:t>
            </a:r>
            <a:r>
              <a:rPr lang="en-US" altLang="en-US" dirty="0">
                <a:solidFill>
                  <a:srgbClr val="000000"/>
                </a:solidFill>
                <a:latin typeface="Skia" charset="0"/>
              </a:rPr>
              <a:t/>
            </a:r>
            <a:br>
              <a:rPr lang="en-US" altLang="en-US" dirty="0">
                <a:solidFill>
                  <a:srgbClr val="000000"/>
                </a:solidFill>
                <a:latin typeface="Skia" charset="0"/>
              </a:rPr>
            </a:br>
            <a:r>
              <a:rPr lang="en-US" altLang="en-US" sz="2400" dirty="0" smtClean="0">
                <a:latin typeface="+mn-lt"/>
              </a:rPr>
              <a:t>Tissue culture, both plant and animal has several critical requirements</a:t>
            </a:r>
            <a:r>
              <a:rPr lang="en-US" altLang="en-US" sz="3600" dirty="0" smtClean="0"/>
              <a:t>:</a:t>
            </a:r>
            <a:endParaRPr lang="en-US" sz="3600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>
                <a:solidFill>
                  <a:srgbClr val="FFFF00"/>
                </a:solidFill>
              </a:rPr>
              <a:t>Appropriate tissue </a:t>
            </a:r>
            <a:r>
              <a:rPr lang="en-US" altLang="en-US" sz="2400" smtClean="0"/>
              <a:t>(some tissues culture better than others)</a:t>
            </a:r>
          </a:p>
          <a:p>
            <a:pPr eaLnBrk="1" hangingPunct="1"/>
            <a:r>
              <a:rPr lang="en-US" altLang="en-US" sz="2400" smtClean="0">
                <a:solidFill>
                  <a:srgbClr val="FFFF00"/>
                </a:solidFill>
              </a:rPr>
              <a:t>A suitable growth medium </a:t>
            </a:r>
            <a:r>
              <a:rPr lang="en-US" altLang="en-US" sz="2400" smtClean="0"/>
              <a:t>containing energy sources and inorganic salts to supply cell growth needs. This can be liquid or semisolid</a:t>
            </a:r>
          </a:p>
          <a:p>
            <a:pPr eaLnBrk="1" hangingPunct="1"/>
            <a:r>
              <a:rPr lang="en-US" altLang="en-US" sz="2400" smtClean="0">
                <a:solidFill>
                  <a:srgbClr val="FFFF00"/>
                </a:solidFill>
              </a:rPr>
              <a:t>Aseptic (sterile) conditions</a:t>
            </a:r>
            <a:r>
              <a:rPr lang="en-US" altLang="en-US" sz="2400" smtClean="0"/>
              <a:t>, as microorganisms grow much more quickly than plant and animal tissue and can over run a culture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153400" cy="865188"/>
          </a:xfrm>
        </p:spPr>
        <p:txBody>
          <a:bodyPr/>
          <a:lstStyle/>
          <a:p>
            <a:pPr eaLnBrk="1" hangingPunct="1"/>
            <a:r>
              <a:rPr lang="en-US" altLang="en-US" sz="3600" b="1" smtClean="0">
                <a:cs typeface="Arial" pitchFamily="34" charset="0"/>
              </a:rPr>
              <a:t>Plant Tissue Culture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431800" y="1295400"/>
            <a:ext cx="8483600" cy="47466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The culture and maintenance of plant cells and organs</a:t>
            </a:r>
          </a:p>
          <a:p>
            <a:pPr algn="ctr">
              <a:spcBef>
                <a:spcPct val="20000"/>
              </a:spcBef>
              <a:buClr>
                <a:schemeClr val="tx1"/>
              </a:buClr>
              <a:defRPr/>
            </a:pP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Garamond" pitchFamily="18" charset="0"/>
            </a:endParaRPr>
          </a:p>
          <a:p>
            <a:pPr algn="ctr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400" dirty="0">
                <a:latin typeface="Garamond" pitchFamily="18" charset="0"/>
              </a:rPr>
              <a:t>The culture of plant seeds, organs, tissues, cells, or protoplasts on nutrient media under sterile conditions</a:t>
            </a:r>
          </a:p>
          <a:p>
            <a:pPr algn="ctr">
              <a:spcBef>
                <a:spcPct val="20000"/>
              </a:spcBef>
              <a:buClr>
                <a:schemeClr val="tx1"/>
              </a:buClr>
              <a:defRPr/>
            </a:pPr>
            <a:endParaRPr lang="en-US" sz="2400" dirty="0">
              <a:latin typeface="Garamond" pitchFamily="18" charset="0"/>
            </a:endParaRPr>
          </a:p>
          <a:p>
            <a:pPr algn="ctr"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400" dirty="0">
                <a:latin typeface="Garamond" pitchFamily="18" charset="0"/>
              </a:rPr>
              <a:t>The growth and development of plant seeds, organs, tissues, cells or protoplasts on nutrient media under sterile (axenic) conditions</a:t>
            </a:r>
          </a:p>
          <a:p>
            <a:pPr algn="ctr">
              <a:buClr>
                <a:schemeClr val="tx1"/>
              </a:buClr>
              <a:buFont typeface="Wingdings" pitchFamily="2" charset="2"/>
              <a:buChar char="ü"/>
              <a:defRPr/>
            </a:pPr>
            <a:endParaRPr lang="en-US" sz="2400" dirty="0">
              <a:latin typeface="Garamond" pitchFamily="18" charset="0"/>
            </a:endParaRPr>
          </a:p>
          <a:p>
            <a:pPr algn="ctr"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400" dirty="0">
                <a:latin typeface="Garamond" pitchFamily="18" charset="0"/>
              </a:rPr>
              <a:t>The in vitro, aseptic plant culture for any purpose including genetic transformation and other plant breeding objectives, secondary product production, pathogen elimination or for asexual (</a:t>
            </a:r>
            <a:r>
              <a:rPr lang="en-US" sz="2400" dirty="0" err="1">
                <a:latin typeface="Garamond" pitchFamily="18" charset="0"/>
              </a:rPr>
              <a:t>micropropagation</a:t>
            </a:r>
            <a:r>
              <a:rPr lang="en-US" sz="2400" dirty="0">
                <a:latin typeface="Garamond" pitchFamily="18" charset="0"/>
              </a:rPr>
              <a:t>) or sexual propagation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Photo Editor Photo" r:id="rId3" imgW="4285714" imgH="1876190" progId="MSPhotoEd.3">
                  <p:embed/>
                </p:oleObj>
              </mc:Choice>
              <mc:Fallback>
                <p:oleObj name="Photo Editor Photo" r:id="rId3" imgW="4285714" imgH="187619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Why?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/>
              <a:t>The production of plants in sterile containers reduces disease transmission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Allows production of plants from seeds that otherwise have very low chances of germinating and growing, i.e.: orchids and Nepenthes.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To clean particular plants of viral and other infections and to quickly multiply these plants as 'cleaned stock' for horticulture and agriculture.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r>
              <a:rPr lang="en-US" altLang="en-US" smtClean="0"/>
              <a:t>Why?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/>
              <a:t>The production of clones of plants that produce particularly good flowers, fruits, or have other desirable traits.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To quickly produce mature plants.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The production of multiples of plants in the absence of seeds or necessary pollinators to produce seeds.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The regeneration of whole plants from plant cells that have been genetically modified.</a:t>
            </a:r>
          </a:p>
          <a:p>
            <a:endParaRPr lang="en-US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838200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Important Factors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latin typeface="Garamond" pitchFamily="18" charset="0"/>
              </a:rPr>
              <a:t>Growth Media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latin typeface="Garamond" pitchFamily="18" charset="0"/>
              </a:rPr>
              <a:t>Minerals, Growth factors, Carbon source, Hormones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latin typeface="Garamond" pitchFamily="18" charset="0"/>
              </a:rPr>
              <a:t>Environmental Factors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latin typeface="Garamond" pitchFamily="18" charset="0"/>
              </a:rPr>
              <a:t>Light, Temperature, Photoperiod, Sterility, Media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latin typeface="Garamond" pitchFamily="18" charset="0"/>
              </a:rPr>
              <a:t>Explant Source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latin typeface="Garamond" pitchFamily="18" charset="0"/>
              </a:rPr>
              <a:t>Usually, the younger, less differentiated  explant, the better for tissue culture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latin typeface="Garamond" pitchFamily="18" charset="0"/>
              </a:rPr>
              <a:t>Different species show differences in amenability to tissue culture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latin typeface="Garamond" pitchFamily="18" charset="0"/>
              </a:rPr>
              <a:t>In many cases, different genotypes within a species will have variable responses to tissue culture; response to somatic embryogenesis has been transferred between melon cultivars through sexual hybridization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Basis for Plant Tissue Culture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itchFamily="18" charset="0"/>
              </a:rPr>
              <a:t>Two Hormones Affect Plant Differentiation:</a:t>
            </a:r>
          </a:p>
          <a:p>
            <a:pPr lvl="1" eaLnBrk="1" hangingPunct="1"/>
            <a:r>
              <a:rPr lang="en-US" altLang="en-US" smtClean="0">
                <a:latin typeface="Garamond" pitchFamily="18" charset="0"/>
              </a:rPr>
              <a:t>Auxin: Stimulates Root Development</a:t>
            </a:r>
          </a:p>
          <a:p>
            <a:pPr lvl="1" eaLnBrk="1" hangingPunct="1"/>
            <a:r>
              <a:rPr lang="en-US" altLang="en-US" smtClean="0">
                <a:latin typeface="Garamond" pitchFamily="18" charset="0"/>
              </a:rPr>
              <a:t>Cytokinin: Stimulates Shoot Development</a:t>
            </a:r>
          </a:p>
          <a:p>
            <a:pPr eaLnBrk="1" hangingPunct="1"/>
            <a:r>
              <a:rPr lang="en-US" altLang="en-US" smtClean="0">
                <a:latin typeface="Garamond" pitchFamily="18" charset="0"/>
              </a:rPr>
              <a:t>Generally, the ratio of these two hormones can determine plant development:</a:t>
            </a:r>
          </a:p>
          <a:p>
            <a:pPr lvl="1" eaLnBrk="1" hangingPunct="1"/>
            <a:r>
              <a:rPr lang="en-US" altLang="en-US" smtClean="0">
                <a:latin typeface="Garamond" pitchFamily="18" charset="0"/>
                <a:sym typeface="Symbol" pitchFamily="18" charset="2"/>
              </a:rPr>
              <a:t> Auxin </a:t>
            </a:r>
            <a:r>
              <a:rPr lang="en-US" altLang="en-US" smtClean="0">
                <a:latin typeface="Garamond" pitchFamily="18" charset="0"/>
                <a:cs typeface="Arial" pitchFamily="34" charset="0"/>
                <a:sym typeface="Symbol" pitchFamily="18" charset="2"/>
              </a:rPr>
              <a:t>↓Cytokinin</a:t>
            </a:r>
            <a:r>
              <a:rPr lang="en-US" altLang="en-US" smtClean="0">
                <a:latin typeface="Garamond" pitchFamily="18" charset="0"/>
                <a:sym typeface="Symbol" pitchFamily="18" charset="2"/>
              </a:rPr>
              <a:t> = Root Development</a:t>
            </a:r>
          </a:p>
          <a:p>
            <a:pPr lvl="1" eaLnBrk="1" hangingPunct="1"/>
            <a:r>
              <a:rPr lang="en-US" altLang="en-US" smtClean="0">
                <a:latin typeface="Garamond" pitchFamily="18" charset="0"/>
                <a:sym typeface="Symbol" pitchFamily="18" charset="2"/>
              </a:rPr>
              <a:t> Cytokinin </a:t>
            </a:r>
            <a:r>
              <a:rPr lang="en-US" altLang="en-US" smtClean="0">
                <a:latin typeface="Garamond" pitchFamily="18" charset="0"/>
                <a:cs typeface="Arial" pitchFamily="34" charset="0"/>
                <a:sym typeface="Symbol" pitchFamily="18" charset="2"/>
              </a:rPr>
              <a:t>↓Auxin</a:t>
            </a:r>
            <a:r>
              <a:rPr lang="en-US" altLang="en-US" smtClean="0">
                <a:latin typeface="Garamond" pitchFamily="18" charset="0"/>
                <a:sym typeface="Symbol" pitchFamily="18" charset="2"/>
              </a:rPr>
              <a:t> = Shoot Development</a:t>
            </a:r>
          </a:p>
          <a:p>
            <a:pPr lvl="1" eaLnBrk="1" hangingPunct="1"/>
            <a:r>
              <a:rPr lang="en-US" altLang="en-US" smtClean="0">
                <a:latin typeface="Garamond" pitchFamily="18" charset="0"/>
                <a:sym typeface="Symbol" pitchFamily="18" charset="2"/>
              </a:rPr>
              <a:t>Auxin = Cytokinin = Callus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-3" y="-3"/>
            <a:chExt cx="3559" cy="4324"/>
          </a:xfrm>
        </p:grpSpPr>
        <p:grpSp>
          <p:nvGrpSpPr>
            <p:cNvPr id="22531" name="Group 3"/>
            <p:cNvGrpSpPr>
              <a:grpSpLocks/>
            </p:cNvGrpSpPr>
            <p:nvPr/>
          </p:nvGrpSpPr>
          <p:grpSpPr bwMode="auto">
            <a:xfrm>
              <a:off x="0" y="0"/>
              <a:ext cx="3553" cy="4318"/>
              <a:chOff x="0" y="0"/>
              <a:chExt cx="3553" cy="4318"/>
            </a:xfrm>
          </p:grpSpPr>
          <p:grpSp>
            <p:nvGrpSpPr>
              <p:cNvPr id="22533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530" cy="500"/>
                <a:chOff x="0" y="0"/>
                <a:chExt cx="530" cy="500"/>
              </a:xfrm>
            </p:grpSpPr>
            <p:sp>
              <p:nvSpPr>
                <p:cNvPr id="22585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44" cy="5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  <a:cs typeface="Arial" pitchFamily="34" charset="0"/>
                  </a:endParaRP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  <a:cs typeface="Arial" pitchFamily="34" charset="0"/>
                  </a:endParaRP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Bodoni MT Black" pitchFamily="18" charset="0"/>
                      <a:cs typeface="Arial" pitchFamily="34" charset="0"/>
                    </a:rPr>
                    <a:t>Hormone</a:t>
                  </a:r>
                  <a:endParaRPr lang="en-US" altLang="en-US" sz="1200">
                    <a:latin typeface="Bodoni MT Black" pitchFamily="18" charset="0"/>
                    <a:cs typeface="Times New Roman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</a:endParaRPr>
                </a:p>
              </p:txBody>
            </p:sp>
            <p:sp>
              <p:nvSpPr>
                <p:cNvPr id="22586" name="Rectangle 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30" cy="5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34" name="Group 7"/>
              <p:cNvGrpSpPr>
                <a:grpSpLocks/>
              </p:cNvGrpSpPr>
              <p:nvPr/>
            </p:nvGrpSpPr>
            <p:grpSpPr bwMode="auto">
              <a:xfrm>
                <a:off x="530" y="0"/>
                <a:ext cx="1244" cy="500"/>
                <a:chOff x="530" y="0"/>
                <a:chExt cx="1244" cy="500"/>
              </a:xfrm>
            </p:grpSpPr>
            <p:sp>
              <p:nvSpPr>
                <p:cNvPr id="22583" name="Rectangle 8"/>
                <p:cNvSpPr>
                  <a:spLocks noChangeArrowheads="1"/>
                </p:cNvSpPr>
                <p:nvPr/>
              </p:nvSpPr>
              <p:spPr bwMode="auto">
                <a:xfrm>
                  <a:off x="573" y="0"/>
                  <a:ext cx="1158" cy="5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  <a:cs typeface="Arial" pitchFamily="34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  <a:cs typeface="Arial" pitchFamily="34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Bodoni MT Black" pitchFamily="18" charset="0"/>
                      <a:cs typeface="Arial" pitchFamily="34" charset="0"/>
                    </a:rPr>
                    <a:t>Product Name</a:t>
                  </a:r>
                  <a:endParaRPr lang="en-US" altLang="en-US" sz="1200">
                    <a:latin typeface="Bodoni MT Black" pitchFamily="18" charset="0"/>
                    <a:cs typeface="Times New Roman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</a:endParaRPr>
                </a:p>
              </p:txBody>
            </p:sp>
            <p:sp>
              <p:nvSpPr>
                <p:cNvPr id="22584" name="Rectangle 9"/>
                <p:cNvSpPr>
                  <a:spLocks noChangeArrowheads="1"/>
                </p:cNvSpPr>
                <p:nvPr/>
              </p:nvSpPr>
              <p:spPr bwMode="auto">
                <a:xfrm>
                  <a:off x="530" y="0"/>
                  <a:ext cx="1244" cy="5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35" name="Group 10"/>
              <p:cNvGrpSpPr>
                <a:grpSpLocks/>
              </p:cNvGrpSpPr>
              <p:nvPr/>
            </p:nvGrpSpPr>
            <p:grpSpPr bwMode="auto">
              <a:xfrm>
                <a:off x="1774" y="0"/>
                <a:ext cx="1779" cy="500"/>
                <a:chOff x="1774" y="0"/>
                <a:chExt cx="1779" cy="500"/>
              </a:xfrm>
            </p:grpSpPr>
            <p:sp>
              <p:nvSpPr>
                <p:cNvPr id="22581" name="Rectangle 11"/>
                <p:cNvSpPr>
                  <a:spLocks noChangeArrowheads="1"/>
                </p:cNvSpPr>
                <p:nvPr/>
              </p:nvSpPr>
              <p:spPr bwMode="auto">
                <a:xfrm>
                  <a:off x="1817" y="0"/>
                  <a:ext cx="1693" cy="5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  <a:cs typeface="Arial" pitchFamily="34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  <a:cs typeface="Arial" pitchFamily="34" charset="0"/>
                  </a:endParaRP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Bodoni MT Black" pitchFamily="18" charset="0"/>
                      <a:cs typeface="Arial" pitchFamily="34" charset="0"/>
                    </a:rPr>
                    <a:t>Function in Plant Tissue Culture</a:t>
                  </a:r>
                  <a:endParaRPr lang="en-US" altLang="en-US" sz="1200">
                    <a:latin typeface="Bodoni MT Black" pitchFamily="18" charset="0"/>
                    <a:cs typeface="Times New Roman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Bodoni MT Black" pitchFamily="18" charset="0"/>
                  </a:endParaRPr>
                </a:p>
              </p:txBody>
            </p:sp>
            <p:sp>
              <p:nvSpPr>
                <p:cNvPr id="22582" name="Rectangle 12"/>
                <p:cNvSpPr>
                  <a:spLocks noChangeArrowheads="1"/>
                </p:cNvSpPr>
                <p:nvPr/>
              </p:nvSpPr>
              <p:spPr bwMode="auto">
                <a:xfrm>
                  <a:off x="1774" y="0"/>
                  <a:ext cx="1779" cy="5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36" name="Group 13"/>
              <p:cNvGrpSpPr>
                <a:grpSpLocks/>
              </p:cNvGrpSpPr>
              <p:nvPr/>
            </p:nvGrpSpPr>
            <p:grpSpPr bwMode="auto">
              <a:xfrm>
                <a:off x="0" y="500"/>
                <a:ext cx="530" cy="918"/>
                <a:chOff x="0" y="500"/>
                <a:chExt cx="530" cy="918"/>
              </a:xfrm>
            </p:grpSpPr>
            <p:sp>
              <p:nvSpPr>
                <p:cNvPr id="22579" name="Rectangle 14"/>
                <p:cNvSpPr>
                  <a:spLocks noChangeArrowheads="1"/>
                </p:cNvSpPr>
                <p:nvPr/>
              </p:nvSpPr>
              <p:spPr bwMode="auto">
                <a:xfrm>
                  <a:off x="43" y="500"/>
                  <a:ext cx="444" cy="9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 b="1">
                      <a:latin typeface="Garamond" pitchFamily="18" charset="0"/>
                      <a:cs typeface="Arial" pitchFamily="34" charset="0"/>
                    </a:rPr>
                    <a:t>Auxins</a:t>
                  </a:r>
                  <a:endParaRPr lang="en-US" altLang="en-US" sz="1400" b="1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400" b="1">
                    <a:latin typeface="Garamond" pitchFamily="18" charset="0"/>
                  </a:endParaRPr>
                </a:p>
              </p:txBody>
            </p:sp>
            <p:sp>
              <p:nvSpPr>
                <p:cNvPr id="22580" name="Rectangle 15"/>
                <p:cNvSpPr>
                  <a:spLocks noChangeArrowheads="1"/>
                </p:cNvSpPr>
                <p:nvPr/>
              </p:nvSpPr>
              <p:spPr bwMode="auto">
                <a:xfrm>
                  <a:off x="0" y="500"/>
                  <a:ext cx="530" cy="9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37" name="Group 16"/>
              <p:cNvGrpSpPr>
                <a:grpSpLocks/>
              </p:cNvGrpSpPr>
              <p:nvPr/>
            </p:nvGrpSpPr>
            <p:grpSpPr bwMode="auto">
              <a:xfrm>
                <a:off x="530" y="500"/>
                <a:ext cx="1244" cy="918"/>
                <a:chOff x="530" y="500"/>
                <a:chExt cx="1244" cy="918"/>
              </a:xfrm>
            </p:grpSpPr>
            <p:sp>
              <p:nvSpPr>
                <p:cNvPr id="22577" name="Rectangle 17"/>
                <p:cNvSpPr>
                  <a:spLocks noChangeArrowheads="1"/>
                </p:cNvSpPr>
                <p:nvPr/>
              </p:nvSpPr>
              <p:spPr bwMode="auto">
                <a:xfrm>
                  <a:off x="573" y="500"/>
                  <a:ext cx="1158" cy="9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</a:rPr>
                    <a:t>Indole-3-Acetic Acid</a:t>
                  </a:r>
                  <a:endParaRPr lang="en-US" altLang="en-US" sz="10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</a:rPr>
                    <a:t>Indole-3-Butyric Acid</a:t>
                  </a:r>
                  <a:endParaRPr lang="en-US" altLang="en-US" sz="10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</a:rPr>
                    <a:t>Indole-3-Butyric Acid, Potassium Salt</a:t>
                  </a:r>
                  <a:endParaRPr lang="en-US" altLang="en-US" sz="10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</a:t>
                  </a:r>
                  <a:r>
                    <a:rPr lang="en-US" altLang="en-US" sz="1000">
                      <a:latin typeface="Garamond" pitchFamily="18" charset="0"/>
                      <a:cs typeface="Arial" pitchFamily="34" charset="0"/>
                    </a:rPr>
                    <a:t>-Naphthaleneacetic Acid</a:t>
                  </a:r>
                  <a:endParaRPr lang="en-US" altLang="en-US" sz="10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2,4-Dichlorophenoxyacetic Acid</a:t>
                  </a:r>
                  <a:endParaRPr lang="en-US" altLang="en-US" sz="10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p-Chlorophenoxyacetic acid</a:t>
                  </a:r>
                  <a:endParaRPr lang="en-US" altLang="en-US" sz="10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Picloram</a:t>
                  </a:r>
                  <a:endParaRPr lang="en-US" altLang="en-US" sz="10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Dicamba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  <a:cs typeface="Arial" pitchFamily="34" charset="0"/>
                    <a:sym typeface="Symbol" pitchFamily="18" charset="2"/>
                  </a:endParaRPr>
                </a:p>
              </p:txBody>
            </p:sp>
            <p:sp>
              <p:nvSpPr>
                <p:cNvPr id="22578" name="Rectangle 18"/>
                <p:cNvSpPr>
                  <a:spLocks noChangeArrowheads="1"/>
                </p:cNvSpPr>
                <p:nvPr/>
              </p:nvSpPr>
              <p:spPr bwMode="auto">
                <a:xfrm>
                  <a:off x="530" y="500"/>
                  <a:ext cx="1244" cy="9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38" name="Group 19"/>
              <p:cNvGrpSpPr>
                <a:grpSpLocks/>
              </p:cNvGrpSpPr>
              <p:nvPr/>
            </p:nvGrpSpPr>
            <p:grpSpPr bwMode="auto">
              <a:xfrm>
                <a:off x="1774" y="500"/>
                <a:ext cx="1779" cy="918"/>
                <a:chOff x="1774" y="500"/>
                <a:chExt cx="1779" cy="918"/>
              </a:xfrm>
            </p:grpSpPr>
            <p:sp>
              <p:nvSpPr>
                <p:cNvPr id="22575" name="Rectangle 20"/>
                <p:cNvSpPr>
                  <a:spLocks noChangeArrowheads="1"/>
                </p:cNvSpPr>
                <p:nvPr/>
              </p:nvSpPr>
              <p:spPr bwMode="auto">
                <a:xfrm>
                  <a:off x="1817" y="500"/>
                  <a:ext cx="1693" cy="9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Adventitous root formation (high concen)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Adventitious shoot formation (low concen)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Induction of somatic embryos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Cell Division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Callus formation and growth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Inhibition of axillary buds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Inhibition of root elongation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76" name="Rectangle 21"/>
                <p:cNvSpPr>
                  <a:spLocks noChangeArrowheads="1"/>
                </p:cNvSpPr>
                <p:nvPr/>
              </p:nvSpPr>
              <p:spPr bwMode="auto">
                <a:xfrm>
                  <a:off x="1774" y="500"/>
                  <a:ext cx="1779" cy="9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39" name="Group 22"/>
              <p:cNvGrpSpPr>
                <a:grpSpLocks/>
              </p:cNvGrpSpPr>
              <p:nvPr/>
            </p:nvGrpSpPr>
            <p:grpSpPr bwMode="auto">
              <a:xfrm>
                <a:off x="0" y="1418"/>
                <a:ext cx="530" cy="918"/>
                <a:chOff x="0" y="1418"/>
                <a:chExt cx="530" cy="918"/>
              </a:xfrm>
            </p:grpSpPr>
            <p:sp>
              <p:nvSpPr>
                <p:cNvPr id="22573" name="Rectangle 23"/>
                <p:cNvSpPr>
                  <a:spLocks noChangeArrowheads="1"/>
                </p:cNvSpPr>
                <p:nvPr/>
              </p:nvSpPr>
              <p:spPr bwMode="auto">
                <a:xfrm>
                  <a:off x="43" y="1418"/>
                  <a:ext cx="444" cy="9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Garamond" pitchFamily="18" charset="0"/>
                      <a:cs typeface="Arial" pitchFamily="34" charset="0"/>
                    </a:rPr>
                    <a:t>Cytokinins</a:t>
                  </a:r>
                  <a:endParaRPr lang="en-US" altLang="en-US" sz="14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400">
                    <a:latin typeface="Garamond" pitchFamily="18" charset="0"/>
                  </a:endParaRPr>
                </a:p>
              </p:txBody>
            </p:sp>
            <p:sp>
              <p:nvSpPr>
                <p:cNvPr id="22574" name="Rectangle 24"/>
                <p:cNvSpPr>
                  <a:spLocks noChangeArrowheads="1"/>
                </p:cNvSpPr>
                <p:nvPr/>
              </p:nvSpPr>
              <p:spPr bwMode="auto">
                <a:xfrm>
                  <a:off x="0" y="1418"/>
                  <a:ext cx="530" cy="9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0" name="Group 25"/>
              <p:cNvGrpSpPr>
                <a:grpSpLocks/>
              </p:cNvGrpSpPr>
              <p:nvPr/>
            </p:nvGrpSpPr>
            <p:grpSpPr bwMode="auto">
              <a:xfrm>
                <a:off x="530" y="1418"/>
                <a:ext cx="1244" cy="918"/>
                <a:chOff x="530" y="1418"/>
                <a:chExt cx="1244" cy="918"/>
              </a:xfrm>
            </p:grpSpPr>
            <p:sp>
              <p:nvSpPr>
                <p:cNvPr id="22571" name="Rectangle 26"/>
                <p:cNvSpPr>
                  <a:spLocks noChangeArrowheads="1"/>
                </p:cNvSpPr>
                <p:nvPr/>
              </p:nvSpPr>
              <p:spPr bwMode="auto">
                <a:xfrm>
                  <a:off x="573" y="1418"/>
                  <a:ext cx="1158" cy="9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6-Benzylaminopurine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6-</a:t>
                  </a:r>
                  <a:r>
                    <a:rPr lang="en-US" altLang="en-US" sz="12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</a:t>
                  </a: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,</a:t>
                  </a:r>
                  <a:r>
                    <a:rPr lang="en-US" altLang="en-US" sz="12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</a:t>
                  </a: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-Dimethylallylaminopurine (2iP)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Kinetin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Thidiazuron (TDZ)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N-(2-chloro-4-pyridyl)-N’Phenylurea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Zeatin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  <a:sym typeface="Symbol" pitchFamily="18" charset="2"/>
                    </a:rPr>
                    <a:t>Zeatin Riboside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  <a:sym typeface="Symbol" pitchFamily="18" charset="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  <a:cs typeface="Arial" pitchFamily="34" charset="0"/>
                    <a:sym typeface="Symbol" pitchFamily="18" charset="2"/>
                  </a:endParaRPr>
                </a:p>
              </p:txBody>
            </p:sp>
            <p:sp>
              <p:nvSpPr>
                <p:cNvPr id="22572" name="Rectangle 27"/>
                <p:cNvSpPr>
                  <a:spLocks noChangeArrowheads="1"/>
                </p:cNvSpPr>
                <p:nvPr/>
              </p:nvSpPr>
              <p:spPr bwMode="auto">
                <a:xfrm>
                  <a:off x="530" y="1418"/>
                  <a:ext cx="1244" cy="9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1" name="Group 28"/>
              <p:cNvGrpSpPr>
                <a:grpSpLocks/>
              </p:cNvGrpSpPr>
              <p:nvPr/>
            </p:nvGrpSpPr>
            <p:grpSpPr bwMode="auto">
              <a:xfrm>
                <a:off x="1774" y="1418"/>
                <a:ext cx="1779" cy="918"/>
                <a:chOff x="1774" y="1418"/>
                <a:chExt cx="1779" cy="918"/>
              </a:xfrm>
            </p:grpSpPr>
            <p:sp>
              <p:nvSpPr>
                <p:cNvPr id="22569" name="Rectangle 29"/>
                <p:cNvSpPr>
                  <a:spLocks noChangeArrowheads="1"/>
                </p:cNvSpPr>
                <p:nvPr/>
              </p:nvSpPr>
              <p:spPr bwMode="auto">
                <a:xfrm>
                  <a:off x="1817" y="1418"/>
                  <a:ext cx="1693" cy="9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Adventitious shoot formation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Inhibition of root formation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Promotes cell division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Modulates callus initiation and growth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Stimulation of axillary’s bud breaking and growth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Inhibition of shoot elongation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Inhibition of leaf senescence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70" name="Rectangle 30"/>
                <p:cNvSpPr>
                  <a:spLocks noChangeArrowheads="1"/>
                </p:cNvSpPr>
                <p:nvPr/>
              </p:nvSpPr>
              <p:spPr bwMode="auto">
                <a:xfrm>
                  <a:off x="1774" y="1418"/>
                  <a:ext cx="1779" cy="9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2" name="Group 31"/>
              <p:cNvGrpSpPr>
                <a:grpSpLocks/>
              </p:cNvGrpSpPr>
              <p:nvPr/>
            </p:nvGrpSpPr>
            <p:grpSpPr bwMode="auto">
              <a:xfrm>
                <a:off x="0" y="2336"/>
                <a:ext cx="530" cy="890"/>
                <a:chOff x="0" y="2336"/>
                <a:chExt cx="530" cy="890"/>
              </a:xfrm>
            </p:grpSpPr>
            <p:sp>
              <p:nvSpPr>
                <p:cNvPr id="22567" name="Rectangle 32"/>
                <p:cNvSpPr>
                  <a:spLocks noChangeArrowheads="1"/>
                </p:cNvSpPr>
                <p:nvPr/>
              </p:nvSpPr>
              <p:spPr bwMode="auto">
                <a:xfrm>
                  <a:off x="43" y="2336"/>
                  <a:ext cx="444" cy="8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Garamond" pitchFamily="18" charset="0"/>
                      <a:cs typeface="Arial" pitchFamily="34" charset="0"/>
                    </a:rPr>
                    <a:t>Gibberellins</a:t>
                  </a:r>
                  <a:endParaRPr lang="en-US" altLang="en-US" sz="14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400">
                    <a:latin typeface="Garamond" pitchFamily="18" charset="0"/>
                  </a:endParaRPr>
                </a:p>
              </p:txBody>
            </p:sp>
            <p:sp>
              <p:nvSpPr>
                <p:cNvPr id="22568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2336"/>
                  <a:ext cx="530" cy="89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3" name="Group 34"/>
              <p:cNvGrpSpPr>
                <a:grpSpLocks/>
              </p:cNvGrpSpPr>
              <p:nvPr/>
            </p:nvGrpSpPr>
            <p:grpSpPr bwMode="auto">
              <a:xfrm>
                <a:off x="530" y="2336"/>
                <a:ext cx="1244" cy="890"/>
                <a:chOff x="530" y="2336"/>
                <a:chExt cx="1244" cy="890"/>
              </a:xfrm>
            </p:grpSpPr>
            <p:sp>
              <p:nvSpPr>
                <p:cNvPr id="22565" name="Rectangle 35"/>
                <p:cNvSpPr>
                  <a:spLocks noChangeArrowheads="1"/>
                </p:cNvSpPr>
                <p:nvPr/>
              </p:nvSpPr>
              <p:spPr bwMode="auto">
                <a:xfrm>
                  <a:off x="573" y="2336"/>
                  <a:ext cx="1158" cy="8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Gibberellic Acid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66" name="Rectangle 36"/>
                <p:cNvSpPr>
                  <a:spLocks noChangeArrowheads="1"/>
                </p:cNvSpPr>
                <p:nvPr/>
              </p:nvSpPr>
              <p:spPr bwMode="auto">
                <a:xfrm>
                  <a:off x="530" y="2336"/>
                  <a:ext cx="1244" cy="89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4" name="Group 37"/>
              <p:cNvGrpSpPr>
                <a:grpSpLocks/>
              </p:cNvGrpSpPr>
              <p:nvPr/>
            </p:nvGrpSpPr>
            <p:grpSpPr bwMode="auto">
              <a:xfrm>
                <a:off x="1774" y="2336"/>
                <a:ext cx="1779" cy="890"/>
                <a:chOff x="1774" y="2336"/>
                <a:chExt cx="1779" cy="890"/>
              </a:xfrm>
            </p:grpSpPr>
            <p:sp>
              <p:nvSpPr>
                <p:cNvPr id="22563" name="Rectangle 38"/>
                <p:cNvSpPr>
                  <a:spLocks noChangeArrowheads="1"/>
                </p:cNvSpPr>
                <p:nvPr/>
              </p:nvSpPr>
              <p:spPr bwMode="auto">
                <a:xfrm>
                  <a:off x="1817" y="2336"/>
                  <a:ext cx="1693" cy="8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Stimulates shoot elongation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Release seeds, embryos, and apical buds from dormancy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Inhibits adventitious root formation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Paclobutrazol and ancymidol inhibit gibberellin synthesis thus resulting in shorter shoots, and promoting tuber, corm, and bulb formation.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64" name="Rectangle 39"/>
                <p:cNvSpPr>
                  <a:spLocks noChangeArrowheads="1"/>
                </p:cNvSpPr>
                <p:nvPr/>
              </p:nvSpPr>
              <p:spPr bwMode="auto">
                <a:xfrm>
                  <a:off x="1774" y="2336"/>
                  <a:ext cx="1779" cy="89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5" name="Group 40"/>
              <p:cNvGrpSpPr>
                <a:grpSpLocks/>
              </p:cNvGrpSpPr>
              <p:nvPr/>
            </p:nvGrpSpPr>
            <p:grpSpPr bwMode="auto">
              <a:xfrm>
                <a:off x="0" y="3226"/>
                <a:ext cx="530" cy="546"/>
                <a:chOff x="0" y="3226"/>
                <a:chExt cx="530" cy="546"/>
              </a:xfrm>
            </p:grpSpPr>
            <p:sp>
              <p:nvSpPr>
                <p:cNvPr id="22561" name="Rectangle 41"/>
                <p:cNvSpPr>
                  <a:spLocks noChangeArrowheads="1"/>
                </p:cNvSpPr>
                <p:nvPr/>
              </p:nvSpPr>
              <p:spPr bwMode="auto">
                <a:xfrm>
                  <a:off x="43" y="3226"/>
                  <a:ext cx="444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Garamond" pitchFamily="18" charset="0"/>
                      <a:cs typeface="Arial" pitchFamily="34" charset="0"/>
                    </a:rPr>
                    <a:t>Abscisic Acid</a:t>
                  </a:r>
                  <a:endParaRPr lang="en-US" altLang="en-US" sz="14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400">
                    <a:latin typeface="Garamond" pitchFamily="18" charset="0"/>
                  </a:endParaRPr>
                </a:p>
              </p:txBody>
            </p:sp>
            <p:sp>
              <p:nvSpPr>
                <p:cNvPr id="22562" name="Rectangle 42"/>
                <p:cNvSpPr>
                  <a:spLocks noChangeArrowheads="1"/>
                </p:cNvSpPr>
                <p:nvPr/>
              </p:nvSpPr>
              <p:spPr bwMode="auto">
                <a:xfrm>
                  <a:off x="0" y="3226"/>
                  <a:ext cx="530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6" name="Group 43"/>
              <p:cNvGrpSpPr>
                <a:grpSpLocks/>
              </p:cNvGrpSpPr>
              <p:nvPr/>
            </p:nvGrpSpPr>
            <p:grpSpPr bwMode="auto">
              <a:xfrm>
                <a:off x="530" y="3226"/>
                <a:ext cx="1244" cy="546"/>
                <a:chOff x="530" y="3226"/>
                <a:chExt cx="1244" cy="546"/>
              </a:xfrm>
            </p:grpSpPr>
            <p:sp>
              <p:nvSpPr>
                <p:cNvPr id="22559" name="Rectangle 44"/>
                <p:cNvSpPr>
                  <a:spLocks noChangeArrowheads="1"/>
                </p:cNvSpPr>
                <p:nvPr/>
              </p:nvSpPr>
              <p:spPr bwMode="auto">
                <a:xfrm>
                  <a:off x="573" y="3226"/>
                  <a:ext cx="1158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Abscisic Acid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60" name="Rectangle 45"/>
                <p:cNvSpPr>
                  <a:spLocks noChangeArrowheads="1"/>
                </p:cNvSpPr>
                <p:nvPr/>
              </p:nvSpPr>
              <p:spPr bwMode="auto">
                <a:xfrm>
                  <a:off x="530" y="3226"/>
                  <a:ext cx="1244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7" name="Group 46"/>
              <p:cNvGrpSpPr>
                <a:grpSpLocks/>
              </p:cNvGrpSpPr>
              <p:nvPr/>
            </p:nvGrpSpPr>
            <p:grpSpPr bwMode="auto">
              <a:xfrm>
                <a:off x="1774" y="3226"/>
                <a:ext cx="1779" cy="546"/>
                <a:chOff x="1774" y="3226"/>
                <a:chExt cx="1779" cy="546"/>
              </a:xfrm>
            </p:grpSpPr>
            <p:sp>
              <p:nvSpPr>
                <p:cNvPr id="22557" name="Rectangle 47"/>
                <p:cNvSpPr>
                  <a:spLocks noChangeArrowheads="1"/>
                </p:cNvSpPr>
                <p:nvPr/>
              </p:nvSpPr>
              <p:spPr bwMode="auto">
                <a:xfrm>
                  <a:off x="1817" y="3226"/>
                  <a:ext cx="1693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Stimulates bulb and tuber formation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Stimulates the maturation of embryos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Promotes the start of dormancy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58" name="Rectangle 48"/>
                <p:cNvSpPr>
                  <a:spLocks noChangeArrowheads="1"/>
                </p:cNvSpPr>
                <p:nvPr/>
              </p:nvSpPr>
              <p:spPr bwMode="auto">
                <a:xfrm>
                  <a:off x="1774" y="3226"/>
                  <a:ext cx="1779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8" name="Group 49"/>
              <p:cNvGrpSpPr>
                <a:grpSpLocks/>
              </p:cNvGrpSpPr>
              <p:nvPr/>
            </p:nvGrpSpPr>
            <p:grpSpPr bwMode="auto">
              <a:xfrm>
                <a:off x="0" y="3772"/>
                <a:ext cx="530" cy="546"/>
                <a:chOff x="0" y="3772"/>
                <a:chExt cx="530" cy="546"/>
              </a:xfrm>
            </p:grpSpPr>
            <p:sp>
              <p:nvSpPr>
                <p:cNvPr id="22555" name="Rectangle 50"/>
                <p:cNvSpPr>
                  <a:spLocks noChangeArrowheads="1"/>
                </p:cNvSpPr>
                <p:nvPr/>
              </p:nvSpPr>
              <p:spPr bwMode="auto">
                <a:xfrm>
                  <a:off x="43" y="3772"/>
                  <a:ext cx="444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latin typeface="Garamond" pitchFamily="18" charset="0"/>
                      <a:cs typeface="Arial" pitchFamily="34" charset="0"/>
                    </a:rPr>
                    <a:t>Polyamines</a:t>
                  </a:r>
                  <a:endParaRPr lang="en-US" altLang="en-US" sz="14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400">
                    <a:latin typeface="Garamond" pitchFamily="18" charset="0"/>
                  </a:endParaRPr>
                </a:p>
              </p:txBody>
            </p:sp>
            <p:sp>
              <p:nvSpPr>
                <p:cNvPr id="22556" name="Rectangle 51"/>
                <p:cNvSpPr>
                  <a:spLocks noChangeArrowheads="1"/>
                </p:cNvSpPr>
                <p:nvPr/>
              </p:nvSpPr>
              <p:spPr bwMode="auto">
                <a:xfrm>
                  <a:off x="0" y="3772"/>
                  <a:ext cx="530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49" name="Group 52"/>
              <p:cNvGrpSpPr>
                <a:grpSpLocks/>
              </p:cNvGrpSpPr>
              <p:nvPr/>
            </p:nvGrpSpPr>
            <p:grpSpPr bwMode="auto">
              <a:xfrm>
                <a:off x="530" y="3772"/>
                <a:ext cx="1244" cy="546"/>
                <a:chOff x="530" y="3772"/>
                <a:chExt cx="1244" cy="546"/>
              </a:xfrm>
            </p:grpSpPr>
            <p:sp>
              <p:nvSpPr>
                <p:cNvPr id="22553" name="Rectangle 53"/>
                <p:cNvSpPr>
                  <a:spLocks noChangeArrowheads="1"/>
                </p:cNvSpPr>
                <p:nvPr/>
              </p:nvSpPr>
              <p:spPr bwMode="auto">
                <a:xfrm>
                  <a:off x="573" y="3772"/>
                  <a:ext cx="1158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Putrescine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Spermidine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54" name="Rectangle 54"/>
                <p:cNvSpPr>
                  <a:spLocks noChangeArrowheads="1"/>
                </p:cNvSpPr>
                <p:nvPr/>
              </p:nvSpPr>
              <p:spPr bwMode="auto">
                <a:xfrm>
                  <a:off x="530" y="3772"/>
                  <a:ext cx="1244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grpSp>
            <p:nvGrpSpPr>
              <p:cNvPr id="22550" name="Group 55"/>
              <p:cNvGrpSpPr>
                <a:grpSpLocks/>
              </p:cNvGrpSpPr>
              <p:nvPr/>
            </p:nvGrpSpPr>
            <p:grpSpPr bwMode="auto">
              <a:xfrm>
                <a:off x="1774" y="3772"/>
                <a:ext cx="1779" cy="546"/>
                <a:chOff x="1774" y="3772"/>
                <a:chExt cx="1779" cy="546"/>
              </a:xfrm>
            </p:grpSpPr>
            <p:sp>
              <p:nvSpPr>
                <p:cNvPr id="22551" name="Rectangle 56"/>
                <p:cNvSpPr>
                  <a:spLocks noChangeArrowheads="1"/>
                </p:cNvSpPr>
                <p:nvPr/>
              </p:nvSpPr>
              <p:spPr bwMode="auto">
                <a:xfrm>
                  <a:off x="1817" y="3772"/>
                  <a:ext cx="1693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Promotes adventitious root formation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Promotes somatic embryogenesis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200">
                      <a:latin typeface="Garamond" pitchFamily="18" charset="0"/>
                      <a:cs typeface="Arial" pitchFamily="34" charset="0"/>
                    </a:rPr>
                    <a:t>Promotes shoot formation</a:t>
                  </a:r>
                  <a:endParaRPr lang="en-US" altLang="en-US" sz="1200">
                    <a:latin typeface="Garamond" pitchFamily="18" charset="0"/>
                    <a:cs typeface="Times New Roman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latin typeface="Garamond" pitchFamily="18" charset="0"/>
                  </a:endParaRPr>
                </a:p>
              </p:txBody>
            </p:sp>
            <p:sp>
              <p:nvSpPr>
                <p:cNvPr id="22552" name="Rectangle 57"/>
                <p:cNvSpPr>
                  <a:spLocks noChangeArrowheads="1"/>
                </p:cNvSpPr>
                <p:nvPr/>
              </p:nvSpPr>
              <p:spPr bwMode="auto">
                <a:xfrm>
                  <a:off x="1774" y="3772"/>
                  <a:ext cx="1779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</p:grpSp>
        <p:sp>
          <p:nvSpPr>
            <p:cNvPr id="22532" name="Rectangle 58"/>
            <p:cNvSpPr>
              <a:spLocks noChangeArrowheads="1"/>
            </p:cNvSpPr>
            <p:nvPr/>
          </p:nvSpPr>
          <p:spPr bwMode="auto">
            <a:xfrm>
              <a:off x="-3" y="-3"/>
              <a:ext cx="3559" cy="432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Control of in vitro culture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7696200" y="2701925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400800" y="2701925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572000" y="2701925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4648200" y="5410200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4800600" y="4038600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6248400" y="5486400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6400800" y="3962400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7772400" y="5486400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7696200" y="3886200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4648200" y="1558925"/>
            <a:ext cx="3733800" cy="304800"/>
          </a:xfrm>
          <a:prstGeom prst="rightArrow">
            <a:avLst>
              <a:gd name="adj1" fmla="val 50000"/>
              <a:gd name="adj2" fmla="val 30625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6019800" y="1157288"/>
            <a:ext cx="1343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Cytokinin</a:t>
            </a:r>
          </a:p>
        </p:txBody>
      </p:sp>
      <p:sp>
        <p:nvSpPr>
          <p:cNvPr id="23566" name="AutoShape 14"/>
          <p:cNvSpPr>
            <a:spLocks noChangeArrowheads="1"/>
          </p:cNvSpPr>
          <p:nvPr/>
        </p:nvSpPr>
        <p:spPr bwMode="auto">
          <a:xfrm>
            <a:off x="3962400" y="2209800"/>
            <a:ext cx="457200" cy="3352800"/>
          </a:xfrm>
          <a:prstGeom prst="downArrow">
            <a:avLst>
              <a:gd name="adj1" fmla="val 50000"/>
              <a:gd name="adj2" fmla="val 183333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3092450" y="4281488"/>
            <a:ext cx="90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Auxin</a:t>
            </a:r>
          </a:p>
        </p:txBody>
      </p:sp>
      <p:sp>
        <p:nvSpPr>
          <p:cNvPr id="23568" name="Freeform 16"/>
          <p:cNvSpPr>
            <a:spLocks/>
          </p:cNvSpPr>
          <p:nvPr/>
        </p:nvSpPr>
        <p:spPr bwMode="auto">
          <a:xfrm>
            <a:off x="4789488" y="4114800"/>
            <a:ext cx="87312" cy="258763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Freeform 17"/>
          <p:cNvSpPr>
            <a:spLocks/>
          </p:cNvSpPr>
          <p:nvPr/>
        </p:nvSpPr>
        <p:spPr bwMode="auto">
          <a:xfrm>
            <a:off x="4941888" y="4114800"/>
            <a:ext cx="87312" cy="258763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Freeform 18"/>
          <p:cNvSpPr>
            <a:spLocks/>
          </p:cNvSpPr>
          <p:nvPr/>
        </p:nvSpPr>
        <p:spPr bwMode="auto">
          <a:xfrm>
            <a:off x="4941888" y="5532438"/>
            <a:ext cx="87312" cy="258762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Freeform 19"/>
          <p:cNvSpPr>
            <a:spLocks/>
          </p:cNvSpPr>
          <p:nvPr/>
        </p:nvSpPr>
        <p:spPr bwMode="auto">
          <a:xfrm>
            <a:off x="4724400" y="5456238"/>
            <a:ext cx="87313" cy="258762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Freeform 20"/>
          <p:cNvSpPr>
            <a:spLocks/>
          </p:cNvSpPr>
          <p:nvPr/>
        </p:nvSpPr>
        <p:spPr bwMode="auto">
          <a:xfrm>
            <a:off x="5246688" y="5532438"/>
            <a:ext cx="87312" cy="258762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Freeform 21"/>
          <p:cNvSpPr>
            <a:spLocks/>
          </p:cNvSpPr>
          <p:nvPr/>
        </p:nvSpPr>
        <p:spPr bwMode="auto">
          <a:xfrm>
            <a:off x="5094288" y="5456238"/>
            <a:ext cx="87312" cy="258762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AutoShape 22"/>
          <p:cNvSpPr>
            <a:spLocks noChangeArrowheads="1"/>
          </p:cNvSpPr>
          <p:nvPr/>
        </p:nvSpPr>
        <p:spPr bwMode="auto">
          <a:xfrm>
            <a:off x="6248400" y="3810000"/>
            <a:ext cx="914400" cy="533400"/>
          </a:xfrm>
          <a:prstGeom prst="irregularSeal1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5" name="AutoShape 23"/>
          <p:cNvSpPr>
            <a:spLocks noChangeArrowheads="1"/>
          </p:cNvSpPr>
          <p:nvPr/>
        </p:nvSpPr>
        <p:spPr bwMode="auto">
          <a:xfrm>
            <a:off x="7696200" y="3733800"/>
            <a:ext cx="838200" cy="304800"/>
          </a:xfrm>
          <a:prstGeom prst="irregularSeal1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6" name="Freeform 24"/>
          <p:cNvSpPr>
            <a:spLocks/>
          </p:cNvSpPr>
          <p:nvPr/>
        </p:nvSpPr>
        <p:spPr bwMode="auto">
          <a:xfrm>
            <a:off x="6313488" y="5562600"/>
            <a:ext cx="87312" cy="258763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Freeform 25"/>
          <p:cNvSpPr>
            <a:spLocks/>
          </p:cNvSpPr>
          <p:nvPr/>
        </p:nvSpPr>
        <p:spPr bwMode="auto">
          <a:xfrm>
            <a:off x="6618288" y="5562600"/>
            <a:ext cx="87312" cy="258763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AutoShape 26"/>
          <p:cNvSpPr>
            <a:spLocks noChangeArrowheads="1"/>
          </p:cNvSpPr>
          <p:nvPr/>
        </p:nvSpPr>
        <p:spPr bwMode="auto">
          <a:xfrm>
            <a:off x="7543800" y="5181600"/>
            <a:ext cx="1295400" cy="838200"/>
          </a:xfrm>
          <a:prstGeom prst="irregularSeal1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3579" name="Group 27"/>
          <p:cNvGrpSpPr>
            <a:grpSpLocks/>
          </p:cNvGrpSpPr>
          <p:nvPr/>
        </p:nvGrpSpPr>
        <p:grpSpPr bwMode="auto">
          <a:xfrm>
            <a:off x="6477000" y="5181600"/>
            <a:ext cx="320675" cy="411163"/>
            <a:chOff x="384" y="557"/>
            <a:chExt cx="202" cy="259"/>
          </a:xfrm>
        </p:grpSpPr>
        <p:sp>
          <p:nvSpPr>
            <p:cNvPr id="23619" name="Line 28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0" name="Line 29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AutoShape 30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80" name="Group 31"/>
          <p:cNvGrpSpPr>
            <a:grpSpLocks/>
          </p:cNvGrpSpPr>
          <p:nvPr/>
        </p:nvGrpSpPr>
        <p:grpSpPr bwMode="auto">
          <a:xfrm>
            <a:off x="8305800" y="2438400"/>
            <a:ext cx="320675" cy="411163"/>
            <a:chOff x="384" y="557"/>
            <a:chExt cx="202" cy="259"/>
          </a:xfrm>
        </p:grpSpPr>
        <p:sp>
          <p:nvSpPr>
            <p:cNvPr id="23616" name="Line 32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7" name="Line 33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8" name="AutoShape 34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81" name="Group 35"/>
          <p:cNvGrpSpPr>
            <a:grpSpLocks/>
          </p:cNvGrpSpPr>
          <p:nvPr/>
        </p:nvGrpSpPr>
        <p:grpSpPr bwMode="auto">
          <a:xfrm>
            <a:off x="7010400" y="2362200"/>
            <a:ext cx="320675" cy="411163"/>
            <a:chOff x="384" y="557"/>
            <a:chExt cx="202" cy="259"/>
          </a:xfrm>
        </p:grpSpPr>
        <p:sp>
          <p:nvSpPr>
            <p:cNvPr id="23613" name="Line 36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4" name="Line 37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5" name="AutoShape 38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82" name="Group 39"/>
          <p:cNvGrpSpPr>
            <a:grpSpLocks/>
          </p:cNvGrpSpPr>
          <p:nvPr/>
        </p:nvGrpSpPr>
        <p:grpSpPr bwMode="auto">
          <a:xfrm>
            <a:off x="8077200" y="3505200"/>
            <a:ext cx="320675" cy="411163"/>
            <a:chOff x="384" y="557"/>
            <a:chExt cx="202" cy="259"/>
          </a:xfrm>
        </p:grpSpPr>
        <p:sp>
          <p:nvSpPr>
            <p:cNvPr id="23610" name="Line 40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1" name="Line 41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2" name="AutoShape 42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83" name="Group 43"/>
          <p:cNvGrpSpPr>
            <a:grpSpLocks/>
          </p:cNvGrpSpPr>
          <p:nvPr/>
        </p:nvGrpSpPr>
        <p:grpSpPr bwMode="auto">
          <a:xfrm>
            <a:off x="6629400" y="2286000"/>
            <a:ext cx="320675" cy="411163"/>
            <a:chOff x="384" y="557"/>
            <a:chExt cx="202" cy="259"/>
          </a:xfrm>
        </p:grpSpPr>
        <p:sp>
          <p:nvSpPr>
            <p:cNvPr id="23607" name="Line 44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45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AutoShape 46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84" name="Group 47"/>
          <p:cNvGrpSpPr>
            <a:grpSpLocks/>
          </p:cNvGrpSpPr>
          <p:nvPr/>
        </p:nvGrpSpPr>
        <p:grpSpPr bwMode="auto">
          <a:xfrm>
            <a:off x="7772400" y="2362200"/>
            <a:ext cx="320675" cy="411163"/>
            <a:chOff x="384" y="557"/>
            <a:chExt cx="202" cy="259"/>
          </a:xfrm>
        </p:grpSpPr>
        <p:sp>
          <p:nvSpPr>
            <p:cNvPr id="23604" name="Line 48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5" name="Line 49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6" name="AutoShape 50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85" name="Group 51"/>
          <p:cNvGrpSpPr>
            <a:grpSpLocks/>
          </p:cNvGrpSpPr>
          <p:nvPr/>
        </p:nvGrpSpPr>
        <p:grpSpPr bwMode="auto">
          <a:xfrm>
            <a:off x="8153400" y="2286000"/>
            <a:ext cx="320675" cy="411163"/>
            <a:chOff x="384" y="557"/>
            <a:chExt cx="202" cy="259"/>
          </a:xfrm>
        </p:grpSpPr>
        <p:sp>
          <p:nvSpPr>
            <p:cNvPr id="23601" name="Line 52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Line 53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AutoShape 54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86" name="Group 55"/>
          <p:cNvGrpSpPr>
            <a:grpSpLocks/>
          </p:cNvGrpSpPr>
          <p:nvPr/>
        </p:nvGrpSpPr>
        <p:grpSpPr bwMode="auto">
          <a:xfrm>
            <a:off x="7756525" y="3551238"/>
            <a:ext cx="320675" cy="411162"/>
            <a:chOff x="384" y="557"/>
            <a:chExt cx="202" cy="259"/>
          </a:xfrm>
        </p:grpSpPr>
        <p:sp>
          <p:nvSpPr>
            <p:cNvPr id="23598" name="Line 56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Line 57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AutoShape 58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87" name="Rectangle 59"/>
          <p:cNvSpPr>
            <a:spLocks noChangeArrowheads="1"/>
          </p:cNvSpPr>
          <p:nvPr/>
        </p:nvSpPr>
        <p:spPr bwMode="auto">
          <a:xfrm>
            <a:off x="685800" y="1676400"/>
            <a:ext cx="685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3588" name="Group 60"/>
          <p:cNvGrpSpPr>
            <a:grpSpLocks/>
          </p:cNvGrpSpPr>
          <p:nvPr/>
        </p:nvGrpSpPr>
        <p:grpSpPr bwMode="auto">
          <a:xfrm>
            <a:off x="838200" y="2438400"/>
            <a:ext cx="320675" cy="411163"/>
            <a:chOff x="384" y="557"/>
            <a:chExt cx="202" cy="259"/>
          </a:xfrm>
        </p:grpSpPr>
        <p:sp>
          <p:nvSpPr>
            <p:cNvPr id="23595" name="Line 61"/>
            <p:cNvSpPr>
              <a:spLocks noChangeShapeType="1"/>
            </p:cNvSpPr>
            <p:nvPr/>
          </p:nvSpPr>
          <p:spPr bwMode="auto">
            <a:xfrm>
              <a:off x="38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62"/>
            <p:cNvSpPr>
              <a:spLocks noChangeShapeType="1"/>
            </p:cNvSpPr>
            <p:nvPr/>
          </p:nvSpPr>
          <p:spPr bwMode="auto">
            <a:xfrm flipH="1">
              <a:off x="384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AutoShape 63"/>
            <p:cNvSpPr>
              <a:spLocks noChangeArrowheads="1"/>
            </p:cNvSpPr>
            <p:nvPr/>
          </p:nvSpPr>
          <p:spPr bwMode="auto">
            <a:xfrm rot="-7688725">
              <a:off x="442" y="557"/>
              <a:ext cx="14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5100 w 21600"/>
                <a:gd name="T13" fmla="*/ 2250 h 21600"/>
                <a:gd name="T14" fmla="*/ 16500 w 21600"/>
                <a:gd name="T15" fmla="*/ 136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60" y="2187"/>
                  </a:moveTo>
                  <a:cubicBezTo>
                    <a:pt x="10451" y="1746"/>
                    <a:pt x="9529" y="1018"/>
                    <a:pt x="9015" y="730"/>
                  </a:cubicBezTo>
                  <a:cubicBezTo>
                    <a:pt x="7865" y="152"/>
                    <a:pt x="6685" y="0"/>
                    <a:pt x="5415" y="0"/>
                  </a:cubicBezTo>
                  <a:cubicBezTo>
                    <a:pt x="4175" y="152"/>
                    <a:pt x="2995" y="575"/>
                    <a:pt x="1967" y="1305"/>
                  </a:cubicBezTo>
                  <a:cubicBezTo>
                    <a:pt x="1150" y="2187"/>
                    <a:pt x="575" y="3222"/>
                    <a:pt x="242" y="4220"/>
                  </a:cubicBezTo>
                  <a:cubicBezTo>
                    <a:pt x="0" y="5410"/>
                    <a:pt x="242" y="6560"/>
                    <a:pt x="575" y="7597"/>
                  </a:cubicBezTo>
                  <a:lnTo>
                    <a:pt x="10860" y="21600"/>
                  </a:lnTo>
                  <a:lnTo>
                    <a:pt x="20995" y="7597"/>
                  </a:lnTo>
                  <a:cubicBezTo>
                    <a:pt x="21480" y="6560"/>
                    <a:pt x="21600" y="5410"/>
                    <a:pt x="21480" y="4220"/>
                  </a:cubicBezTo>
                  <a:cubicBezTo>
                    <a:pt x="21115" y="3222"/>
                    <a:pt x="20420" y="2187"/>
                    <a:pt x="19632" y="1305"/>
                  </a:cubicBezTo>
                  <a:cubicBezTo>
                    <a:pt x="18575" y="575"/>
                    <a:pt x="17425" y="152"/>
                    <a:pt x="16275" y="0"/>
                  </a:cubicBezTo>
                  <a:cubicBezTo>
                    <a:pt x="15005" y="0"/>
                    <a:pt x="13735" y="152"/>
                    <a:pt x="12705" y="730"/>
                  </a:cubicBezTo>
                  <a:cubicBezTo>
                    <a:pt x="12176" y="1018"/>
                    <a:pt x="11254" y="1746"/>
                    <a:pt x="10860" y="218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89" name="Freeform 64"/>
          <p:cNvSpPr>
            <a:spLocks/>
          </p:cNvSpPr>
          <p:nvPr/>
        </p:nvSpPr>
        <p:spPr bwMode="auto">
          <a:xfrm>
            <a:off x="838200" y="3429000"/>
            <a:ext cx="87313" cy="258763"/>
          </a:xfrm>
          <a:custGeom>
            <a:avLst/>
            <a:gdLst>
              <a:gd name="T0" fmla="*/ 0 w 55"/>
              <a:gd name="T1" fmla="*/ 0 h 163"/>
              <a:gd name="T2" fmla="*/ 2147483647 w 55"/>
              <a:gd name="T3" fmla="*/ 2147483647 h 163"/>
              <a:gd name="T4" fmla="*/ 2147483647 w 55"/>
              <a:gd name="T5" fmla="*/ 2147483647 h 163"/>
              <a:gd name="T6" fmla="*/ 2147483647 w 55"/>
              <a:gd name="T7" fmla="*/ 2147483647 h 1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63"/>
              <a:gd name="T14" fmla="*/ 55 w 55"/>
              <a:gd name="T15" fmla="*/ 163 h 1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63">
                <a:moveTo>
                  <a:pt x="0" y="0"/>
                </a:moveTo>
                <a:cubicBezTo>
                  <a:pt x="12" y="45"/>
                  <a:pt x="13" y="34"/>
                  <a:pt x="55" y="46"/>
                </a:cubicBezTo>
                <a:cubicBezTo>
                  <a:pt x="43" y="82"/>
                  <a:pt x="26" y="79"/>
                  <a:pt x="39" y="117"/>
                </a:cubicBezTo>
                <a:cubicBezTo>
                  <a:pt x="34" y="130"/>
                  <a:pt x="32" y="163"/>
                  <a:pt x="16" y="1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0" name="AutoShape 65"/>
          <p:cNvSpPr>
            <a:spLocks noChangeArrowheads="1"/>
          </p:cNvSpPr>
          <p:nvPr/>
        </p:nvSpPr>
        <p:spPr bwMode="auto">
          <a:xfrm>
            <a:off x="381000" y="4191000"/>
            <a:ext cx="914400" cy="533400"/>
          </a:xfrm>
          <a:prstGeom prst="irregularSeal1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91" name="Text Box 66"/>
          <p:cNvSpPr txBox="1">
            <a:spLocks noChangeArrowheads="1"/>
          </p:cNvSpPr>
          <p:nvPr/>
        </p:nvSpPr>
        <p:spPr bwMode="auto">
          <a:xfrm>
            <a:off x="1584325" y="1503363"/>
            <a:ext cx="1311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Leaf strip</a:t>
            </a:r>
          </a:p>
        </p:txBody>
      </p:sp>
      <p:sp>
        <p:nvSpPr>
          <p:cNvPr id="23592" name="Text Box 67"/>
          <p:cNvSpPr txBox="1">
            <a:spLocks noChangeArrowheads="1"/>
          </p:cNvSpPr>
          <p:nvPr/>
        </p:nvSpPr>
        <p:spPr bwMode="auto">
          <a:xfrm>
            <a:off x="1431925" y="2341563"/>
            <a:ext cx="1701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Adventitious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Shoot</a:t>
            </a:r>
          </a:p>
        </p:txBody>
      </p:sp>
      <p:sp>
        <p:nvSpPr>
          <p:cNvPr id="23593" name="Text Box 68"/>
          <p:cNvSpPr txBox="1">
            <a:spLocks noChangeArrowheads="1"/>
          </p:cNvSpPr>
          <p:nvPr/>
        </p:nvSpPr>
        <p:spPr bwMode="auto">
          <a:xfrm>
            <a:off x="1524000" y="3367088"/>
            <a:ext cx="77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Root</a:t>
            </a:r>
          </a:p>
        </p:txBody>
      </p:sp>
      <p:sp>
        <p:nvSpPr>
          <p:cNvPr id="23594" name="Text Box 69"/>
          <p:cNvSpPr txBox="1">
            <a:spLocks noChangeArrowheads="1"/>
          </p:cNvSpPr>
          <p:nvPr/>
        </p:nvSpPr>
        <p:spPr bwMode="auto">
          <a:xfrm>
            <a:off x="1431925" y="4246563"/>
            <a:ext cx="901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Callus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381000" y="1514475"/>
            <a:ext cx="8229600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tabLst>
                <a:tab pos="450850" algn="l"/>
              </a:tabLst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50850" algn="l"/>
              </a:tabLst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50850" algn="l"/>
              </a:tabLst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cs typeface="Arial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400">
                <a:latin typeface="Garamond" pitchFamily="18" charset="0"/>
                <a:cs typeface="Times New Roman" pitchFamily="18" charset="0"/>
              </a:rPr>
              <a:t>Environmental condition optimized (nutrition, light,   temperature).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400">
                <a:latin typeface="Garamond" pitchFamily="18" charset="0"/>
                <a:cs typeface="Arial" pitchFamily="34" charset="0"/>
              </a:rPr>
              <a:t>Ability to give rise to callus, embryos, adventitious roots and shoots.</a:t>
            </a:r>
          </a:p>
          <a:p>
            <a:pPr eaLnBrk="1" hangingPunct="1">
              <a:spcBef>
                <a:spcPct val="0"/>
              </a:spcBef>
              <a:buFontTx/>
              <a:buAutoNum type="arabicPeriod" startAt="3"/>
            </a:pPr>
            <a:r>
              <a:rPr lang="en-US" altLang="en-US" sz="2400">
                <a:latin typeface="Garamond" pitchFamily="18" charset="0"/>
                <a:cs typeface="Arial" pitchFamily="34" charset="0"/>
              </a:rPr>
              <a:t>Ability to grow as single cells (protoplasts, microspores, suspension cultures).</a:t>
            </a:r>
          </a:p>
          <a:p>
            <a:pPr eaLnBrk="1" hangingPunct="1">
              <a:spcBef>
                <a:spcPct val="0"/>
              </a:spcBef>
              <a:buFontTx/>
              <a:buAutoNum type="arabicPeriod" startAt="3"/>
            </a:pPr>
            <a:r>
              <a:rPr lang="en-US" altLang="en-US" sz="2400">
                <a:latin typeface="Garamond" pitchFamily="18" charset="0"/>
                <a:cs typeface="Arial" pitchFamily="34" charset="0"/>
              </a:rPr>
              <a:t>Plant cells are </a:t>
            </a:r>
            <a:r>
              <a:rPr lang="en-US" altLang="en-US" sz="2400" u="sng">
                <a:latin typeface="Garamond" pitchFamily="18" charset="0"/>
                <a:cs typeface="Arial" pitchFamily="34" charset="0"/>
              </a:rPr>
              <a:t>totipotent,</a:t>
            </a:r>
            <a:r>
              <a:rPr lang="en-US" altLang="en-US" sz="2400">
                <a:latin typeface="Garamond" pitchFamily="18" charset="0"/>
                <a:cs typeface="Arial" pitchFamily="34" charset="0"/>
              </a:rPr>
              <a:t> able to regenerate  a whole plant.</a:t>
            </a:r>
            <a:r>
              <a:rPr lang="en-US" altLang="en-US" sz="1200">
                <a:latin typeface="Garamond" pitchFamily="18" charset="0"/>
                <a:cs typeface="Times New Roman" pitchFamily="18" charset="0"/>
              </a:rPr>
              <a:t>	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Garamond" pitchFamily="18" charset="0"/>
            </a:endParaRPr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76200" y="47625"/>
            <a:ext cx="9067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cs typeface="Arial" pitchFamily="34" charset="0"/>
              </a:rPr>
              <a:t>Characteristic of Plant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cs typeface="Arial" pitchFamily="34" charset="0"/>
              </a:rPr>
              <a:t>Tissue Culture Techniques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762000" eaLnBrk="1" hangingPunct="1"/>
            <a:r>
              <a:rPr lang="en-US" altLang="en-US" sz="3600" smtClean="0">
                <a:cs typeface="Arial" pitchFamily="34" charset="0"/>
              </a:rPr>
              <a:t>Medium constituents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defTabSz="762000" eaLnBrk="1" hangingPunct="1">
              <a:buClr>
                <a:schemeClr val="tx1"/>
              </a:buClr>
            </a:pPr>
            <a:r>
              <a:rPr lang="en-US" altLang="en-US" sz="2400" smtClean="0">
                <a:latin typeface="Trebuchet MS" pitchFamily="34" charset="0"/>
              </a:rPr>
              <a:t>Inorganic salt formulations</a:t>
            </a:r>
          </a:p>
          <a:p>
            <a:pPr defTabSz="762000" eaLnBrk="1" hangingPunct="1">
              <a:buClr>
                <a:schemeClr val="tx1"/>
              </a:buClr>
            </a:pPr>
            <a:r>
              <a:rPr lang="en-US" altLang="en-US" sz="2400" smtClean="0">
                <a:latin typeface="Trebuchet MS" pitchFamily="34" charset="0"/>
              </a:rPr>
              <a:t>Source of carbohydrate</a:t>
            </a:r>
          </a:p>
          <a:p>
            <a:pPr defTabSz="762000" eaLnBrk="1" hangingPunct="1">
              <a:buClr>
                <a:schemeClr val="tx1"/>
              </a:buClr>
            </a:pPr>
            <a:r>
              <a:rPr lang="en-US" altLang="en-US" sz="2400" smtClean="0">
                <a:latin typeface="Trebuchet MS" pitchFamily="34" charset="0"/>
              </a:rPr>
              <a:t>Vitamins</a:t>
            </a:r>
          </a:p>
          <a:p>
            <a:pPr defTabSz="762000" eaLnBrk="1" hangingPunct="1">
              <a:buClr>
                <a:schemeClr val="tx1"/>
              </a:buClr>
            </a:pPr>
            <a:r>
              <a:rPr lang="en-US" altLang="en-US" sz="2400" smtClean="0">
                <a:latin typeface="Trebuchet MS" pitchFamily="34" charset="0"/>
              </a:rPr>
              <a:t>Water</a:t>
            </a:r>
          </a:p>
          <a:p>
            <a:pPr defTabSz="762000" eaLnBrk="1" hangingPunct="1">
              <a:buClr>
                <a:schemeClr val="tx1"/>
              </a:buClr>
            </a:pPr>
            <a:r>
              <a:rPr lang="en-US" altLang="en-US" sz="2400" smtClean="0">
                <a:latin typeface="Trebuchet MS" pitchFamily="34" charset="0"/>
              </a:rPr>
              <a:t>Plant hormones - auxins, cytokinins, GA’s</a:t>
            </a:r>
          </a:p>
          <a:p>
            <a:pPr defTabSz="762000" eaLnBrk="1" hangingPunct="1">
              <a:buClr>
                <a:schemeClr val="tx1"/>
              </a:buClr>
            </a:pPr>
            <a:r>
              <a:rPr lang="en-US" altLang="en-US" sz="2400" smtClean="0">
                <a:latin typeface="Trebuchet MS" pitchFamily="34" charset="0"/>
              </a:rPr>
              <a:t>Solidifying agents</a:t>
            </a:r>
          </a:p>
          <a:p>
            <a:pPr defTabSz="762000"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en-US" smtClean="0">
              <a:latin typeface="Trebuchet M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6205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US" sz="3600" smtClean="0"/>
              <a:t>Macronutrient salts</a:t>
            </a:r>
            <a:br>
              <a:rPr lang="en-US" altLang="en-US" sz="3600" smtClean="0"/>
            </a:br>
            <a:r>
              <a:rPr lang="en-US" altLang="en-US" sz="3600" b="1" smtClean="0"/>
              <a:t>Function of nutrients in plant growth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 dirty="0" smtClean="0"/>
              <a:t>Nitrogen</a:t>
            </a:r>
            <a:r>
              <a:rPr lang="en-US" altLang="en-US" sz="2400" dirty="0" smtClean="0"/>
              <a:t> – Influences plant growth rate, essential in plant nucleic acids (DNA), proteins, chlorophyll, amino acids, and hormones.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 smtClean="0"/>
              <a:t>Phosphorus</a:t>
            </a:r>
            <a:r>
              <a:rPr lang="en-US" altLang="en-US" sz="2400" dirty="0" smtClean="0"/>
              <a:t> – </a:t>
            </a:r>
            <a:r>
              <a:rPr lang="en-US" altLang="en-US" sz="2400" dirty="0" err="1" smtClean="0"/>
              <a:t>Abundent</a:t>
            </a:r>
            <a:r>
              <a:rPr lang="en-US" altLang="en-US" sz="2400" dirty="0" smtClean="0"/>
              <a:t> in </a:t>
            </a:r>
            <a:r>
              <a:rPr lang="en-US" altLang="en-US" sz="2400" dirty="0" err="1" smtClean="0"/>
              <a:t>meristimatic</a:t>
            </a:r>
            <a:r>
              <a:rPr lang="en-US" altLang="en-US" sz="2400" dirty="0" smtClean="0"/>
              <a:t> and fast growing tissue, essential in photosynthesis, respiration,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b="1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 smtClean="0"/>
              <a:t>Potassium</a:t>
            </a:r>
            <a:r>
              <a:rPr lang="en-US" altLang="en-US" sz="2400" dirty="0" smtClean="0"/>
              <a:t> – Necessary for cell division, meristematic tissue, helps in the pathways for carbohydrate, protein and chlorophyll synthesis</a:t>
            </a:r>
            <a:r>
              <a:rPr lang="en-US" altLang="en-US" sz="2800" dirty="0" smtClean="0"/>
              <a:t>.  </a:t>
            </a:r>
            <a:endParaRPr lang="en-US" alt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3600" smtClean="0"/>
              <a:t>Macro-nutrient salts</a:t>
            </a:r>
            <a:br>
              <a:rPr lang="en-US" altLang="en-US" sz="3600" smtClean="0"/>
            </a:br>
            <a:endParaRPr lang="en-US" altLang="en-US" sz="3600" smtClean="0"/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924800" cy="4953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NH4NO3		Ammonium nitrate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KNO3 		Potassium nitrate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CaCl2 -2 H2O	Calcium chloride (Anhydrous)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MgSO4 -7 H2O  	Magnesium sulfide  (Epsom Salts)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KH2PO4 		Potassium hypophosphate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FeNaEDTA		Fe/Na ethylene-diamine-tetra acetate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H3BO3 		Boric Acid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MnSO4 - 4 H2O	Manganese sulfate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ZnSO4 - 7 H2O	Zinc sulfate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KI			Potassium iodide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Na2MoO4- 2 H2O	Sodium molybdate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CuSO4 - 5 H2O 	Cupric sulfate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 smtClean="0"/>
              <a:t>CoCl2 - H2O	Cobaltous sulfide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4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4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4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4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4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4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4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4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50000"/>
              </a:lnSpc>
            </a:pPr>
            <a:r>
              <a:rPr lang="en-US" altLang="en-US" sz="3600" smtClean="0"/>
              <a:t/>
            </a:r>
            <a:br>
              <a:rPr lang="en-US" altLang="en-US" sz="3600" smtClean="0"/>
            </a:br>
            <a:r>
              <a:rPr lang="en-US" altLang="en-US" sz="3600" smtClean="0"/>
              <a:t>Macronutrient salts</a:t>
            </a:r>
            <a:br>
              <a:rPr lang="en-US" altLang="en-US" sz="3600" smtClean="0"/>
            </a:br>
            <a:r>
              <a:rPr lang="en-US" altLang="en-US" sz="3600" b="1" smtClean="0"/>
              <a:t>Function of nutrients in plant growth</a:t>
            </a:r>
            <a:r>
              <a:rPr lang="en-US" altLang="en-US" sz="3600" smtClean="0"/>
              <a:t>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41148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b="1" smtClean="0"/>
              <a:t>Calcium</a:t>
            </a:r>
            <a:r>
              <a:rPr lang="en-US" altLang="en-US" smtClean="0"/>
              <a:t>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 cell walls and root and leaf development.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 Participates in translocation of sugars, amino acids, and ties up oxalic acid (toxin)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b="1" smtClean="0"/>
              <a:t>Iron</a:t>
            </a:r>
            <a:r>
              <a:rPr lang="en-US" altLang="en-US" smtClean="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 respiration , chlorophyll synthesis and photosynthesis.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smtClean="0"/>
              <a:t>FeNaEDTA = </a:t>
            </a:r>
            <a:r>
              <a:rPr lang="en-US" altLang="en-US" sz="2000" smtClean="0"/>
              <a:t>sodium salt of</a:t>
            </a:r>
            <a:r>
              <a:rPr lang="en-US" altLang="en-US" sz="2000" b="1" smtClean="0"/>
              <a:t> </a:t>
            </a:r>
            <a:r>
              <a:rPr lang="en-US" altLang="en-US" sz="2000" smtClean="0"/>
              <a:t>EDTA sequesters iron, making it available to plants. </a:t>
            </a:r>
            <a:endParaRPr lang="en-US" altLang="en-US" sz="2000" b="1" smtClean="0"/>
          </a:p>
          <a:p>
            <a:pPr eaLnBrk="1" hangingPunct="1">
              <a:lnSpc>
                <a:spcPct val="80000"/>
              </a:lnSpc>
            </a:pPr>
            <a:r>
              <a:rPr lang="en-US" altLang="en-US" b="1" smtClean="0"/>
              <a:t>Manganese</a:t>
            </a:r>
            <a:r>
              <a:rPr lang="en-US" altLang="en-US" smtClean="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regulation of enzymes and growth hormones.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Assists in photosynthesis and respiration. 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600200"/>
            <a:ext cx="4038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smtClean="0"/>
              <a:t>Magnesium: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photosynthetic and respiration system.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Active in uptake of phosphate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 translocation of phosphate and starches.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smtClean="0"/>
              <a:t>Sulfur:</a:t>
            </a:r>
            <a:r>
              <a:rPr lang="en-US" altLang="en-US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formation of nodules and chlorophyll synthesis, structural component of amino acids and Proteins</a:t>
            </a:r>
            <a:endParaRPr lang="en-US" altLang="en-US" sz="2400" smtClean="0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848600" cy="114300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US" sz="3600" smtClean="0"/>
              <a:t>Macronutrient salts</a:t>
            </a:r>
            <a:br>
              <a:rPr lang="en-US" altLang="en-US" sz="3600" smtClean="0"/>
            </a:br>
            <a:r>
              <a:rPr lang="en-US" altLang="en-US" sz="3600" b="1" smtClean="0"/>
              <a:t>Function of nutrients in plant growth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 smtClean="0"/>
              <a:t>Molybdenum</a:t>
            </a:r>
            <a:r>
              <a:rPr lang="en-US" altLang="en-US" sz="2000" smtClean="0"/>
              <a:t> 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Involved in enzymatic reduction of nitrates to ammonia.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Assists in conversion of inorganic phosphate to organic form.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000" b="1" smtClean="0"/>
              <a:t>Zinc: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Involved in production of growth hormones and chlorophyll.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Active in respiration and carbohydrate synthesis.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000" b="1" smtClean="0"/>
              <a:t>Boron: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Involved in production of growth hormones and chlorophyll.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Active in respiration and carbohydrate synthesis.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000" b="1" smtClean="0"/>
              <a:t>Copper: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Involved in photosynthetic and respiration systems.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smtClean="0"/>
              <a:t>Assists chlorophyll synthesis and used as reaction catalyst.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762000" eaLnBrk="1" hangingPunct="1"/>
            <a:r>
              <a:rPr lang="en-US" altLang="en-US" sz="3600" smtClean="0">
                <a:cs typeface="Arial" pitchFamily="34" charset="0"/>
              </a:rPr>
              <a:t>Carbohydrates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noFill/>
        </p:spPr>
        <p:txBody>
          <a:bodyPr lIns="92075" tIns="46038" rIns="92075" bIns="46038"/>
          <a:lstStyle/>
          <a:p>
            <a:pPr defTabSz="762000" eaLnBrk="1" hangingPunct="1">
              <a:buClr>
                <a:schemeClr val="tx1"/>
              </a:buClr>
            </a:pPr>
            <a:r>
              <a:rPr lang="en-US" altLang="en-US" smtClean="0">
                <a:cs typeface="Arial" pitchFamily="34" charset="0"/>
              </a:rPr>
              <a:t>Plants in culture usually cannot meet their needs for fixed carbon. </a:t>
            </a:r>
            <a:r>
              <a:rPr lang="en-US" altLang="en-US" u="sng" smtClean="0">
                <a:cs typeface="Arial" pitchFamily="34" charset="0"/>
              </a:rPr>
              <a:t>Usually </a:t>
            </a:r>
            <a:r>
              <a:rPr lang="en-US" altLang="en-US" smtClean="0">
                <a:solidFill>
                  <a:schemeClr val="folHlink"/>
                </a:solidFill>
                <a:cs typeface="Arial" pitchFamily="34" charset="0"/>
              </a:rPr>
              <a:t>added as sucrose at </a:t>
            </a:r>
            <a:r>
              <a:rPr lang="en-US" altLang="en-US" u="sng" smtClean="0">
                <a:solidFill>
                  <a:schemeClr val="folHlink"/>
                </a:solidFill>
                <a:cs typeface="Arial" pitchFamily="34" charset="0"/>
              </a:rPr>
              <a:t>2</a:t>
            </a:r>
            <a:r>
              <a:rPr lang="en-US" altLang="en-US" smtClean="0">
                <a:solidFill>
                  <a:schemeClr val="folHlink"/>
                </a:solidFill>
                <a:cs typeface="Arial" pitchFamily="34" charset="0"/>
              </a:rPr>
              <a:t>-3% w/v.</a:t>
            </a:r>
          </a:p>
          <a:p>
            <a:pPr defTabSz="762000" eaLnBrk="1" hangingPunct="1">
              <a:buClr>
                <a:schemeClr val="tx1"/>
              </a:buClr>
            </a:pPr>
            <a:endParaRPr lang="en-US" altLang="en-US" smtClean="0">
              <a:solidFill>
                <a:schemeClr val="folHlink"/>
              </a:solidFill>
              <a:cs typeface="Arial" pitchFamily="34" charset="0"/>
            </a:endParaRPr>
          </a:p>
          <a:p>
            <a:pPr defTabSz="762000" eaLnBrk="1" hangingPunct="1">
              <a:buClr>
                <a:schemeClr val="tx1"/>
              </a:buClr>
            </a:pPr>
            <a:r>
              <a:rPr lang="en-US" altLang="en-US" smtClean="0">
                <a:cs typeface="Arial" pitchFamily="34" charset="0"/>
              </a:rPr>
              <a:t>Glucose or a mixture of glucose and fructose is occasionally used.</a:t>
            </a:r>
          </a:p>
          <a:p>
            <a:pPr defTabSz="762000" eaLnBrk="1" hangingPunct="1">
              <a:buClr>
                <a:schemeClr val="tx1"/>
              </a:buClr>
            </a:pPr>
            <a:endParaRPr lang="en-US" altLang="en-US" smtClean="0">
              <a:cs typeface="Arial" pitchFamily="34" charset="0"/>
            </a:endParaRPr>
          </a:p>
          <a:p>
            <a:pPr defTabSz="762000" eaLnBrk="1" hangingPunct="1">
              <a:buClr>
                <a:schemeClr val="tx1"/>
              </a:buClr>
            </a:pPr>
            <a:r>
              <a:rPr lang="en-US" altLang="en-US" smtClean="0">
                <a:cs typeface="Arial" pitchFamily="34" charset="0"/>
              </a:rPr>
              <a:t>For large scale cultures, cheaper sources of sugars (corn syrup) may be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Photoautotrophic culture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5562600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latin typeface="Trebuchet MS" pitchFamily="34" charset="0"/>
              </a:rPr>
              <a:t>Growth without a carbon source. Therefore need to </a:t>
            </a:r>
            <a:r>
              <a:rPr lang="en-US" altLang="en-US" sz="2800" smtClean="0">
                <a:solidFill>
                  <a:schemeClr val="folHlink"/>
                </a:solidFill>
                <a:latin typeface="Trebuchet MS" pitchFamily="34" charset="0"/>
              </a:rPr>
              <a:t>boost photosynthesis.</a:t>
            </a:r>
          </a:p>
          <a:p>
            <a:pPr eaLnBrk="1" hangingPunct="1"/>
            <a:endParaRPr lang="en-US" altLang="en-US" sz="2800" smtClean="0">
              <a:solidFill>
                <a:schemeClr val="folHlink"/>
              </a:solidFill>
              <a:latin typeface="Trebuchet MS" pitchFamily="34" charset="0"/>
            </a:endParaRPr>
          </a:p>
          <a:p>
            <a:pPr eaLnBrk="1" hangingPunct="1"/>
            <a:r>
              <a:rPr lang="en-US" altLang="en-US" sz="2800" smtClean="0">
                <a:latin typeface="Trebuchet MS" pitchFamily="34" charset="0"/>
              </a:rPr>
              <a:t>High light intensities needed (90-150mMole/m</a:t>
            </a:r>
            <a:r>
              <a:rPr lang="en-US" altLang="en-US" sz="2800" baseline="30000" smtClean="0">
                <a:latin typeface="Trebuchet MS" pitchFamily="34" charset="0"/>
              </a:rPr>
              <a:t>2</a:t>
            </a:r>
            <a:r>
              <a:rPr lang="en-US" altLang="en-US" sz="2800" smtClean="0">
                <a:latin typeface="Trebuchet MS" pitchFamily="34" charset="0"/>
              </a:rPr>
              <a:t>/s) compared to normal (30-50).</a:t>
            </a:r>
          </a:p>
          <a:p>
            <a:pPr eaLnBrk="1" hangingPunct="1"/>
            <a:endParaRPr lang="en-US" altLang="en-US" sz="2800" smtClean="0">
              <a:latin typeface="Trebuchet MS" pitchFamily="34" charset="0"/>
            </a:endParaRPr>
          </a:p>
          <a:p>
            <a:pPr eaLnBrk="1" hangingPunct="1"/>
            <a:r>
              <a:rPr lang="en-US" altLang="en-US" sz="2800" smtClean="0">
                <a:latin typeface="Trebuchet MS" pitchFamily="34" charset="0"/>
              </a:rPr>
              <a:t>Usually increase CO</a:t>
            </a:r>
            <a:r>
              <a:rPr lang="en-US" altLang="en-US" sz="2400" baseline="-25000" smtClean="0">
                <a:latin typeface="Trebuchet MS" pitchFamily="34" charset="0"/>
              </a:rPr>
              <a:t>2</a:t>
            </a:r>
            <a:r>
              <a:rPr lang="en-US" altLang="en-US" sz="2400" smtClean="0">
                <a:latin typeface="Trebuchet MS" pitchFamily="34" charset="0"/>
              </a:rPr>
              <a:t> </a:t>
            </a:r>
            <a:r>
              <a:rPr lang="en-US" altLang="en-US" sz="2800" smtClean="0">
                <a:latin typeface="Trebuchet MS" pitchFamily="34" charset="0"/>
              </a:rPr>
              <a:t>(1000ppm) compared to normal 369.4ppm.</a:t>
            </a:r>
          </a:p>
          <a:p>
            <a:pPr eaLnBrk="1" hangingPunct="1"/>
            <a:endParaRPr lang="en-US" altLang="en-US" sz="2800" smtClean="0">
              <a:latin typeface="Trebuchet MS" pitchFamily="34" charset="0"/>
            </a:endParaRPr>
          </a:p>
          <a:p>
            <a:pPr eaLnBrk="1" hangingPunct="1"/>
            <a:r>
              <a:rPr lang="en-US" altLang="en-US" sz="2800" smtClean="0">
                <a:latin typeface="Trebuchet MS" pitchFamily="34" charset="0"/>
              </a:rPr>
              <a:t>Much reduced level of contamination and plants are easier to transfer to the greenhouse.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66800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r>
              <a:rPr lang="en-US" altLang="en-US" sz="3600" smtClean="0">
                <a:solidFill>
                  <a:schemeClr val="folHlink"/>
                </a:solidFill>
                <a:cs typeface="Arial" pitchFamily="34" charset="0"/>
              </a:rPr>
              <a:t>Inorganic salt formulations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  <a:noFill/>
        </p:spPr>
        <p:txBody>
          <a:bodyPr lIns="92075" tIns="46038" rIns="92075" bIns="46038"/>
          <a:lstStyle/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cs typeface="Arial" pitchFamily="34" charset="0"/>
              </a:rPr>
              <a:t>Contain a wide range of Macro-elements (&gt;mg/l) and microelements (&lt;mg/l).</a:t>
            </a: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en-US" sz="2800" smtClean="0">
              <a:cs typeface="Arial" pitchFamily="34" charset="0"/>
            </a:endParaRP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cs typeface="Arial" pitchFamily="34" charset="0"/>
              </a:rPr>
              <a:t>A wide range of media are readily available as spray-dried powders.</a:t>
            </a: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endParaRPr lang="en-US" altLang="en-US" sz="2800" smtClean="0">
              <a:cs typeface="Arial" pitchFamily="34" charset="0"/>
            </a:endParaRP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solidFill>
                  <a:srgbClr val="FFFF00"/>
                </a:solidFill>
                <a:cs typeface="Arial" pitchFamily="34" charset="0"/>
              </a:rPr>
              <a:t>Murashige and Skoog Medium</a:t>
            </a:r>
            <a:r>
              <a:rPr lang="en-US" altLang="en-US" sz="2800" smtClean="0">
                <a:cs typeface="Arial" pitchFamily="34" charset="0"/>
              </a:rPr>
              <a:t> (MS)(1965) is the most popular for shoot cultures.</a:t>
            </a: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endParaRPr lang="en-US" altLang="en-US" sz="2800" smtClean="0">
              <a:cs typeface="Arial" pitchFamily="34" charset="0"/>
            </a:endParaRP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cs typeface="Arial" pitchFamily="34" charset="0"/>
              </a:rPr>
              <a:t>Gamborgs B5 medium is widely used for cell suspension cultures (no ammonium).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noFill/>
        </p:spPr>
        <p:txBody>
          <a:bodyPr lIns="92075" tIns="46038" rIns="92075" bIns="46038"/>
          <a:lstStyle/>
          <a:p>
            <a:pPr defTabSz="762000" eaLnBrk="1" hangingPunct="1"/>
            <a:r>
              <a:rPr lang="en-US" altLang="en-US" sz="3600" smtClean="0">
                <a:solidFill>
                  <a:schemeClr val="folHlink"/>
                </a:solidFill>
                <a:cs typeface="Arial" pitchFamily="34" charset="0"/>
              </a:rPr>
              <a:t>Vitamins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noFill/>
        </p:spPr>
        <p:txBody>
          <a:bodyPr lIns="92075" tIns="46038" rIns="92075" bIns="46038"/>
          <a:lstStyle/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latin typeface="Trebuchet MS" pitchFamily="34" charset="0"/>
              </a:rPr>
              <a:t>A wide range of vitamins are available and may be used.</a:t>
            </a: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en-US" sz="2800" smtClean="0">
              <a:latin typeface="Trebuchet MS" pitchFamily="34" charset="0"/>
            </a:endParaRP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latin typeface="Trebuchet MS" pitchFamily="34" charset="0"/>
              </a:rPr>
              <a:t>Generally, the smaller the explant, the more exacting the vitamin requirement.</a:t>
            </a: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endParaRPr lang="en-US" altLang="en-US" sz="2800" smtClean="0">
              <a:latin typeface="Trebuchet MS" pitchFamily="34" charset="0"/>
            </a:endParaRP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latin typeface="Trebuchet MS" pitchFamily="34" charset="0"/>
              </a:rPr>
              <a:t>A vitamin cocktail is often used (Nicotinic acid, glycine, Thiamine, pyridoxine).</a:t>
            </a: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en-US" sz="2800" smtClean="0">
              <a:latin typeface="Trebuchet MS" pitchFamily="34" charset="0"/>
            </a:endParaRPr>
          </a:p>
          <a:p>
            <a:pPr defTabSz="7620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 smtClean="0">
                <a:latin typeface="Trebuchet MS" pitchFamily="34" charset="0"/>
              </a:rPr>
              <a:t>Inositol usually has to be supplied at much higher concentration (100mg/l)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792162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Three Fundamental Abilities of Plants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382000" cy="49831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Totipotency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Garamond" pitchFamily="18" charset="0"/>
              </a:rPr>
              <a:t>	</a:t>
            </a:r>
            <a:r>
              <a:rPr lang="id-ID" altLang="en-US" sz="2400" smtClean="0">
                <a:latin typeface="Garamond" pitchFamily="18" charset="0"/>
              </a:rPr>
              <a:t>T</a:t>
            </a:r>
            <a:r>
              <a:rPr lang="en-US" altLang="en-US" sz="2400" smtClean="0">
                <a:latin typeface="Garamond" pitchFamily="18" charset="0"/>
              </a:rPr>
              <a:t>he potential or inherent capacity of a plant cell to develop into an entire plant if suitably stimulated.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Garamond" pitchFamily="18" charset="0"/>
              </a:rPr>
              <a:t>	It implies that all the information necessary for growth and reproduction of the organism is contained in the cell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Dedifferentiation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Garamond" pitchFamily="18" charset="0"/>
              </a:rPr>
              <a:t>	Capacity of mature cells to return to meristematic condition and development of a new growing point, follow by redifferentiation which is the ability to reorganize into new organ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Competency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Garamond" pitchFamily="18" charset="0"/>
              </a:rPr>
              <a:t>	</a:t>
            </a:r>
            <a:r>
              <a:rPr lang="id-ID" altLang="en-US" sz="2400" smtClean="0">
                <a:latin typeface="Garamond" pitchFamily="18" charset="0"/>
              </a:rPr>
              <a:t>T</a:t>
            </a:r>
            <a:r>
              <a:rPr lang="en-US" altLang="en-US" sz="2400" smtClean="0">
                <a:latin typeface="Garamond" pitchFamily="18" charset="0"/>
              </a:rPr>
              <a:t>he endogenous potential of a given cells or tissue to develop in a particular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Why is tissue culture important?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Plant tissue culture has value in studies such as cell biology, genetics, biochemistry, and many other research areas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Crop Improvement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Seed Production – Plant Propagation Technique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id-ID" altLang="en-US" sz="2800" smtClean="0">
                <a:latin typeface="Garamond" pitchFamily="18" charset="0"/>
              </a:rPr>
              <a:t>G</a:t>
            </a:r>
            <a:r>
              <a:rPr lang="en-US" altLang="en-US" sz="2800" smtClean="0">
                <a:latin typeface="Garamond" pitchFamily="18" charset="0"/>
              </a:rPr>
              <a:t>enetic material conservation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792162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Types of In Vitro Culture</a:t>
            </a:r>
            <a:br>
              <a:rPr lang="en-US" altLang="en-US" sz="3600" smtClean="0">
                <a:cs typeface="Arial" pitchFamily="34" charset="0"/>
              </a:rPr>
            </a:br>
            <a:r>
              <a:rPr lang="en-US" altLang="en-US" sz="3600" smtClean="0">
                <a:cs typeface="Arial" pitchFamily="34" charset="0"/>
              </a:rPr>
              <a:t> (explant based)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3820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400" smtClean="0">
                <a:latin typeface="Comic Sans MS" pitchFamily="66" charset="0"/>
              </a:rPr>
              <a:t> </a:t>
            </a:r>
            <a:r>
              <a:rPr lang="en-US" altLang="en-US" sz="2800" smtClean="0">
                <a:latin typeface="Garamond" pitchFamily="18" charset="0"/>
              </a:rPr>
              <a:t>Culture of intact plants (seed and seedling culture)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 Embryo culture (immature embryo culture)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 Organ culture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 Callus culture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 Cell suspension culture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 Protoplast culture</a:t>
            </a:r>
            <a:endParaRPr lang="en-US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57200" y="549275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cs typeface="Arial" pitchFamily="34" charset="0"/>
              </a:rPr>
              <a:t>Seed culture 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84188" y="1905000"/>
            <a:ext cx="8229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buFont typeface="Wingdings" pitchFamily="2" charset="2"/>
              <a:buChar char="ü"/>
            </a:pPr>
            <a:r>
              <a:rPr lang="id-ID" altLang="en-US" sz="2800">
                <a:latin typeface="Garamond" pitchFamily="18" charset="0"/>
              </a:rPr>
              <a:t>Growing seed aseptically in vitro on artificial media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sz="2800">
                <a:latin typeface="Garamond" pitchFamily="18" charset="0"/>
              </a:rPr>
              <a:t>Increasing efficiency of germination of seeds that are difficult to germinate in vivo</a:t>
            </a:r>
            <a:r>
              <a:rPr lang="en-US" altLang="en-US" sz="2800" i="1">
                <a:latin typeface="Garamond" pitchFamily="18" charset="0"/>
              </a:rPr>
              <a:t> </a:t>
            </a:r>
            <a:endParaRPr lang="en-US" altLang="en-US" sz="2800">
              <a:latin typeface="Garamond" pitchFamily="18" charset="0"/>
            </a:endParaRP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sz="2800">
                <a:latin typeface="Garamond" pitchFamily="18" charset="0"/>
              </a:rPr>
              <a:t>Precocious germination by application of plant growth regulators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sz="2800">
                <a:latin typeface="Garamond" pitchFamily="18" charset="0"/>
              </a:rPr>
              <a:t>Production of clean seedlings for explants or meristem culture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457200" y="549275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cs typeface="Arial" pitchFamily="34" charset="0"/>
              </a:rPr>
              <a:t>Embryo culture 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52400" y="1600200"/>
            <a:ext cx="8839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buFont typeface="Wingdings" pitchFamily="2" charset="2"/>
              <a:buChar char="ü"/>
            </a:pPr>
            <a:r>
              <a:rPr lang="id-ID" altLang="en-US" sz="2400">
                <a:latin typeface="Garamond" pitchFamily="18" charset="0"/>
              </a:rPr>
              <a:t>Growing embryo aseptically in vitro on artificial nutrient media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id-ID" altLang="en-US" sz="2400">
                <a:latin typeface="Garamond" pitchFamily="18" charset="0"/>
              </a:rPr>
              <a:t>It is</a:t>
            </a:r>
            <a:r>
              <a:rPr lang="en-US" altLang="en-US" sz="2400">
                <a:latin typeface="Garamond" pitchFamily="18" charset="0"/>
              </a:rPr>
              <a:t> developed from the need to rescue embryos (embryo rescue) from wide crosses where fertilization occurred, but embryo development did not occur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id-ID" altLang="en-US" sz="2400">
                <a:latin typeface="Garamond" pitchFamily="18" charset="0"/>
              </a:rPr>
              <a:t>It </a:t>
            </a:r>
            <a:r>
              <a:rPr lang="en-US" altLang="en-US" sz="2400">
                <a:latin typeface="Garamond" pitchFamily="18" charset="0"/>
              </a:rPr>
              <a:t>ha</a:t>
            </a:r>
            <a:r>
              <a:rPr lang="id-ID" altLang="en-US" sz="2400">
                <a:latin typeface="Garamond" pitchFamily="18" charset="0"/>
              </a:rPr>
              <a:t>s</a:t>
            </a:r>
            <a:r>
              <a:rPr lang="en-US" altLang="en-US" sz="2400">
                <a:latin typeface="Garamond" pitchFamily="18" charset="0"/>
              </a:rPr>
              <a:t> been further developed for the production of plants from embryos developed by non-sexual methods (haploid production discussed later)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sz="2400">
                <a:latin typeface="Garamond" pitchFamily="18" charset="0"/>
              </a:rPr>
              <a:t>Overcoming embryo abortion due to incompatibility barriers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sz="2400">
                <a:latin typeface="Garamond" pitchFamily="18" charset="0"/>
              </a:rPr>
              <a:t>Overcoming seed dormancy and self-sterility of seeds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sz="2400">
                <a:latin typeface="Garamond" pitchFamily="18" charset="0"/>
              </a:rPr>
              <a:t>Shortening of breeding cycle</a:t>
            </a:r>
          </a:p>
          <a:p>
            <a:pPr eaLnBrk="1" hangingPunct="1">
              <a:buFont typeface="Wingdings" pitchFamily="2" charset="2"/>
              <a:buChar char="ü"/>
            </a:pPr>
            <a:endParaRPr lang="en-US" altLang="en-US" sz="240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3600" b="1" dirty="0" smtClean="0">
                <a:latin typeface="+mn-lt"/>
              </a:rPr>
              <a:t>Organ culture</a:t>
            </a:r>
            <a:r>
              <a:rPr lang="en-US" altLang="en-US" sz="3600" dirty="0" smtClean="0">
                <a:latin typeface="+mn-lt"/>
              </a:rPr>
              <a:t>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229600" cy="1447800"/>
          </a:xfrm>
          <a:noFill/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smtClean="0">
                <a:latin typeface="Garamond" pitchFamily="18" charset="0"/>
              </a:rPr>
              <a:t>Any plant organ can serve as an explant to initiate cultures</a:t>
            </a:r>
            <a:r>
              <a:rPr lang="en-US" altLang="en-US" smtClean="0"/>
              <a:t>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870200"/>
          <a:ext cx="8001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No.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Organ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Culture types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1.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Shoot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Shoot tip</a:t>
                      </a:r>
                      <a:r>
                        <a:rPr lang="en-US" sz="2800" baseline="0" dirty="0" smtClean="0">
                          <a:latin typeface="Garamond" pitchFamily="18" charset="0"/>
                        </a:rPr>
                        <a:t> culture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2.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Root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Root culture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3.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Leaf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Leaf culture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4.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Flower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aramond" pitchFamily="18" charset="0"/>
                        </a:rPr>
                        <a:t>Anther</a:t>
                      </a:r>
                      <a:r>
                        <a:rPr lang="en-US" sz="2800" baseline="0" dirty="0" smtClean="0">
                          <a:latin typeface="Garamond" pitchFamily="18" charset="0"/>
                        </a:rPr>
                        <a:t>/ovary culture</a:t>
                      </a:r>
                      <a:endParaRPr lang="en-US" sz="2800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600" smtClean="0"/>
              <a:t>Shoot apical meristem culture 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29200" y="1600200"/>
            <a:ext cx="3657600" cy="4525963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400" smtClean="0">
                <a:latin typeface="Garamond" pitchFamily="18" charset="0"/>
              </a:rPr>
              <a:t>Production of virus free germplasm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400" smtClean="0">
                <a:latin typeface="Garamond" pitchFamily="18" charset="0"/>
              </a:rPr>
              <a:t>Mass production of desirable genotypes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400" smtClean="0">
                <a:latin typeface="Garamond" pitchFamily="18" charset="0"/>
              </a:rPr>
              <a:t>Facilitation of exchange between locations (production of clean material)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400" smtClean="0">
                <a:latin typeface="Garamond" pitchFamily="18" charset="0"/>
              </a:rPr>
              <a:t>Cryopreservation (cold storage) or</a:t>
            </a:r>
            <a:r>
              <a:rPr lang="en-US" altLang="en-US" sz="2400" i="1" smtClean="0">
                <a:latin typeface="Garamond" pitchFamily="18" charset="0"/>
              </a:rPr>
              <a:t> in vitro</a:t>
            </a:r>
            <a:r>
              <a:rPr lang="en-US" altLang="en-US" sz="2400" smtClean="0">
                <a:latin typeface="Garamond" pitchFamily="18" charset="0"/>
              </a:rPr>
              <a:t> conservation of germplasm </a:t>
            </a:r>
          </a:p>
        </p:txBody>
      </p:sp>
      <p:pic>
        <p:nvPicPr>
          <p:cNvPr id="40964" name="Picture 4" descr="fig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4800600" cy="4600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1981200" y="209550"/>
            <a:ext cx="39814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3600">
                <a:solidFill>
                  <a:srgbClr val="FFFF00"/>
                </a:solidFill>
                <a:cs typeface="Arial" pitchFamily="34" charset="0"/>
              </a:rPr>
              <a:t>R</a:t>
            </a:r>
            <a:r>
              <a:rPr lang="en-US" altLang="en-US" sz="3600">
                <a:solidFill>
                  <a:srgbClr val="FFFF00"/>
                </a:solidFill>
                <a:cs typeface="Arial" pitchFamily="34" charset="0"/>
              </a:rPr>
              <a:t>oot organ culture</a:t>
            </a:r>
          </a:p>
        </p:txBody>
      </p:sp>
      <p:pic>
        <p:nvPicPr>
          <p:cNvPr id="41987" name="Picture 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5488" y="1066800"/>
            <a:ext cx="7696200" cy="5041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57200" y="549275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3600" b="1" dirty="0" smtClean="0">
                <a:solidFill>
                  <a:srgbClr val="FFFF00"/>
                </a:solidFill>
                <a:latin typeface="+mj-lt"/>
              </a:rPr>
              <a:t>Ovary or ovule culture</a:t>
            </a:r>
            <a:r>
              <a:rPr lang="en-US" altLang="en-US" sz="3600" dirty="0" smtClean="0">
                <a:solidFill>
                  <a:srgbClr val="FFFF00"/>
                </a:solidFill>
                <a:latin typeface="+mj-lt"/>
              </a:rPr>
              <a:t> 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484188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>
                <a:latin typeface="Garamond" pitchFamily="18" charset="0"/>
              </a:rPr>
              <a:t>Production of haploid plants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>
                <a:latin typeface="Garamond" pitchFamily="18" charset="0"/>
              </a:rPr>
              <a:t>A common explant for the initiation of somatic embryogenic cultures 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>
                <a:latin typeface="Garamond" pitchFamily="18" charset="0"/>
              </a:rPr>
              <a:t>Overcoming abortion of embryos of wide hybrids at very early stages of development due to incompatibility barriers </a:t>
            </a:r>
            <a:endParaRPr lang="en-US" altLang="en-US" sz="2800" i="1">
              <a:latin typeface="Garamond" pitchFamily="18" charset="0"/>
            </a:endParaRP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2800" i="1">
                <a:latin typeface="Garamond" pitchFamily="18" charset="0"/>
              </a:rPr>
              <a:t>In vitro</a:t>
            </a:r>
            <a:r>
              <a:rPr lang="en-US" altLang="en-US" sz="2800">
                <a:latin typeface="Garamond" pitchFamily="18" charset="0"/>
              </a:rPr>
              <a:t> fertilization for the production of distant hybrids avoiding style and stigmatic incompatibility that inhibits pollen germination and pollen tube growth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600" dirty="0" smtClean="0"/>
              <a:t>Anther and microspore culture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ctr" eaLnBrk="1" hangingPunct="1">
              <a:buFont typeface="Wingdings" pitchFamily="2" charset="2"/>
              <a:buChar char="ü"/>
            </a:pPr>
            <a:r>
              <a:rPr lang="en-US" altLang="en-US" dirty="0" smtClean="0">
                <a:latin typeface="Garamond" pitchFamily="18" charset="0"/>
              </a:rPr>
              <a:t>Production of haploid plants 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dirty="0" smtClean="0">
                <a:latin typeface="Garamond" pitchFamily="18" charset="0"/>
              </a:rPr>
              <a:t>Production of homozygous diploid lines through chromosome </a:t>
            </a:r>
            <a:r>
              <a:rPr lang="en-US" altLang="en-US" dirty="0">
                <a:latin typeface="Garamond" pitchFamily="18" charset="0"/>
              </a:rPr>
              <a:t>doubling (doubled haploid (DH</a:t>
            </a:r>
            <a:r>
              <a:rPr lang="en-US" altLang="en-US" dirty="0" smtClean="0">
                <a:latin typeface="Garamond" pitchFamily="18" charset="0"/>
              </a:rPr>
              <a:t>)), thus reducing the time required to produce inbred </a:t>
            </a:r>
            <a:r>
              <a:rPr lang="en-US" altLang="en-US" dirty="0">
                <a:latin typeface="Garamond" pitchFamily="18" charset="0"/>
              </a:rPr>
              <a:t>lines (homozygous genotypes produced by repeated </a:t>
            </a:r>
            <a:r>
              <a:rPr lang="en-US" altLang="en-US" dirty="0" err="1">
                <a:latin typeface="Garamond" pitchFamily="18" charset="0"/>
              </a:rPr>
              <a:t>selfing</a:t>
            </a:r>
            <a:r>
              <a:rPr lang="en-US" altLang="en-US" dirty="0">
                <a:latin typeface="Garamond" pitchFamily="18" charset="0"/>
              </a:rPr>
              <a:t> with selection over several </a:t>
            </a:r>
            <a:r>
              <a:rPr lang="en-US" altLang="en-US" dirty="0" smtClean="0">
                <a:latin typeface="Garamond" pitchFamily="18" charset="0"/>
              </a:rPr>
              <a:t>generations)  </a:t>
            </a:r>
          </a:p>
          <a:p>
            <a:pPr algn="ctr" eaLnBrk="1" hangingPunct="1">
              <a:buFont typeface="Wingdings" pitchFamily="2" charset="2"/>
              <a:buChar char="ü"/>
            </a:pPr>
            <a:r>
              <a:rPr lang="en-US" altLang="en-US" dirty="0" smtClean="0">
                <a:latin typeface="Garamond" pitchFamily="18" charset="0"/>
              </a:rPr>
              <a:t>Uncovering mutations or recessive phenotypes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Callus Culture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320675" y="1066800"/>
            <a:ext cx="8213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Callus:</a:t>
            </a:r>
          </a:p>
          <a:p>
            <a:pPr algn="ctr" eaLnBrk="1" hangingPunct="1">
              <a:spcBef>
                <a:spcPct val="0"/>
              </a:spcBef>
              <a:buFont typeface="Wingdings" pitchFamily="2" charset="2"/>
              <a:buChar char="ü"/>
            </a:pPr>
            <a:r>
              <a:rPr lang="en-US" altLang="en-US" sz="2400">
                <a:latin typeface="Garamond" pitchFamily="18" charset="0"/>
              </a:rPr>
              <a:t>An un-organised mass of cells</a:t>
            </a:r>
          </a:p>
          <a:p>
            <a:pPr algn="ctr" eaLnBrk="1" hangingPunct="1">
              <a:spcBef>
                <a:spcPct val="0"/>
              </a:spcBef>
              <a:buFont typeface="Wingdings" pitchFamily="2" charset="2"/>
              <a:buChar char="ü"/>
            </a:pPr>
            <a:r>
              <a:rPr lang="en-US" altLang="en-US" sz="2400">
                <a:latin typeface="Garamond" pitchFamily="18" charset="0"/>
              </a:rPr>
              <a:t>A tissue that develops in response to injury caused by physical or chemical means</a:t>
            </a:r>
          </a:p>
          <a:p>
            <a:pPr algn="ctr" eaLnBrk="1" hangingPunct="1">
              <a:spcBef>
                <a:spcPct val="0"/>
              </a:spcBef>
              <a:buFont typeface="Wingdings" pitchFamily="2" charset="2"/>
              <a:buChar char="ü"/>
            </a:pPr>
            <a:r>
              <a:rPr lang="en-US" altLang="en-US" sz="2400">
                <a:latin typeface="Garamond" pitchFamily="18" charset="0"/>
              </a:rPr>
              <a:t>Most cells of which are differentiated although may be and are often highly unorganized within the tissue</a:t>
            </a:r>
          </a:p>
        </p:txBody>
      </p:sp>
      <p:pic>
        <p:nvPicPr>
          <p:cNvPr id="45060" name="Picture 2" descr="scan4-PMH-class copy"/>
          <p:cNvPicPr>
            <a:picLocks noChangeAspect="1" noChangeArrowheads="1"/>
          </p:cNvPicPr>
          <p:nvPr/>
        </p:nvPicPr>
        <p:blipFill>
          <a:blip r:embed="rId2"/>
          <a:srcRect l="3334" t="14217" r="9166" b="17917"/>
          <a:stretch>
            <a:fillRect/>
          </a:stretch>
        </p:blipFill>
        <p:spPr bwMode="auto">
          <a:xfrm>
            <a:off x="685800" y="3581400"/>
            <a:ext cx="8001000" cy="2895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762000" eaLnBrk="1" hangingPunct="1"/>
            <a:r>
              <a:rPr lang="en-US" altLang="en-US" sz="3600" smtClean="0">
                <a:cs typeface="Arial" pitchFamily="34" charset="0"/>
              </a:rPr>
              <a:t>Cell suspension culture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4400" y="1600200"/>
            <a:ext cx="3962400" cy="4525963"/>
          </a:xfrm>
          <a:noFill/>
        </p:spPr>
        <p:txBody>
          <a:bodyPr lIns="92075" tIns="46038" rIns="92075" bIns="46038"/>
          <a:lstStyle/>
          <a:p>
            <a:pPr defTabSz="762000" eaLnBrk="1" hangingPunct="1"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When callus pieces are agitated in a liquid medium, they tend to break up.</a:t>
            </a:r>
          </a:p>
          <a:p>
            <a:pPr defTabSz="762000" eaLnBrk="1" hangingPunct="1"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Suspensions are much easier to bulk up than callus since there is no manual transfer or solid support</a:t>
            </a:r>
            <a:r>
              <a:rPr lang="en-US" altLang="en-US" smtClean="0">
                <a:latin typeface="Garamond" pitchFamily="18" charset="0"/>
              </a:rPr>
              <a:t>.</a:t>
            </a:r>
          </a:p>
          <a:p>
            <a:pPr defTabSz="762000" eaLnBrk="1" hangingPunct="1">
              <a:buFont typeface="Wingdings" pitchFamily="2" charset="2"/>
              <a:buNone/>
            </a:pPr>
            <a:endParaRPr lang="en-US" altLang="en-US" smtClean="0">
              <a:latin typeface="Garamond" pitchFamily="18" charset="0"/>
            </a:endParaRP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76400"/>
            <a:ext cx="4114800" cy="4648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Introduction into suspension</a:t>
            </a:r>
          </a:p>
        </p:txBody>
      </p:sp>
      <p:sp>
        <p:nvSpPr>
          <p:cNvPr id="47107" name="Oval 3"/>
          <p:cNvSpPr>
            <a:spLocks noChangeArrowheads="1"/>
          </p:cNvSpPr>
          <p:nvPr/>
        </p:nvSpPr>
        <p:spPr bwMode="auto">
          <a:xfrm>
            <a:off x="914400" y="1828800"/>
            <a:ext cx="1371600" cy="1447800"/>
          </a:xfrm>
          <a:prstGeom prst="ellipse">
            <a:avLst/>
          </a:prstGeom>
          <a:solidFill>
            <a:schemeClr val="tx2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1524000" y="20574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1371600" y="24384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1828800" y="2362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1600200" y="28194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1066800" y="2514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3" name="AutoShape 9"/>
          <p:cNvSpPr>
            <a:spLocks noChangeArrowheads="1"/>
          </p:cNvSpPr>
          <p:nvPr/>
        </p:nvSpPr>
        <p:spPr bwMode="auto">
          <a:xfrm rot="10800000">
            <a:off x="4191000" y="2743200"/>
            <a:ext cx="1143000" cy="609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4495800" y="21336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5" name="Oval 11" descr="Large grid"/>
          <p:cNvSpPr>
            <a:spLocks noChangeArrowheads="1"/>
          </p:cNvSpPr>
          <p:nvPr/>
        </p:nvSpPr>
        <p:spPr bwMode="auto">
          <a:xfrm>
            <a:off x="5791200" y="2133600"/>
            <a:ext cx="1371600" cy="1371600"/>
          </a:xfrm>
          <a:prstGeom prst="ellipse">
            <a:avLst/>
          </a:prstGeom>
          <a:pattFill prst="lgGrid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6" name="Oval 12"/>
          <p:cNvSpPr>
            <a:spLocks noChangeArrowheads="1"/>
          </p:cNvSpPr>
          <p:nvPr/>
        </p:nvSpPr>
        <p:spPr bwMode="auto">
          <a:xfrm>
            <a:off x="6172200" y="2590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7" name="AutoShape 13"/>
          <p:cNvSpPr>
            <a:spLocks noChangeArrowheads="1"/>
          </p:cNvSpPr>
          <p:nvPr/>
        </p:nvSpPr>
        <p:spPr bwMode="auto">
          <a:xfrm rot="10800000">
            <a:off x="5867400" y="4800600"/>
            <a:ext cx="1143000" cy="609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8" name="Rectangle 14"/>
          <p:cNvSpPr>
            <a:spLocks noChangeArrowheads="1"/>
          </p:cNvSpPr>
          <p:nvPr/>
        </p:nvSpPr>
        <p:spPr bwMode="auto">
          <a:xfrm>
            <a:off x="6172200" y="419100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9" name="Oval 15"/>
          <p:cNvSpPr>
            <a:spLocks noChangeArrowheads="1"/>
          </p:cNvSpPr>
          <p:nvPr/>
        </p:nvSpPr>
        <p:spPr bwMode="auto">
          <a:xfrm>
            <a:off x="914400" y="1600200"/>
            <a:ext cx="1371600" cy="144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0" name="Line 16"/>
          <p:cNvSpPr>
            <a:spLocks noChangeShapeType="1"/>
          </p:cNvSpPr>
          <p:nvPr/>
        </p:nvSpPr>
        <p:spPr bwMode="auto">
          <a:xfrm>
            <a:off x="9144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1" name="Line 17"/>
          <p:cNvSpPr>
            <a:spLocks noChangeShapeType="1"/>
          </p:cNvSpPr>
          <p:nvPr/>
        </p:nvSpPr>
        <p:spPr bwMode="auto">
          <a:xfrm>
            <a:off x="22860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Oval 18" descr="Small grid"/>
          <p:cNvSpPr>
            <a:spLocks noChangeArrowheads="1"/>
          </p:cNvSpPr>
          <p:nvPr/>
        </p:nvSpPr>
        <p:spPr bwMode="auto">
          <a:xfrm>
            <a:off x="7391400" y="2438400"/>
            <a:ext cx="1371600" cy="1371600"/>
          </a:xfrm>
          <a:prstGeom prst="ellips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3" name="Oval 19"/>
          <p:cNvSpPr>
            <a:spLocks noChangeArrowheads="1"/>
          </p:cNvSpPr>
          <p:nvPr/>
        </p:nvSpPr>
        <p:spPr bwMode="auto">
          <a:xfrm flipV="1">
            <a:off x="7772400" y="2971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4" name="Oval 20"/>
          <p:cNvSpPr>
            <a:spLocks noChangeArrowheads="1"/>
          </p:cNvSpPr>
          <p:nvPr/>
        </p:nvSpPr>
        <p:spPr bwMode="auto">
          <a:xfrm flipV="1">
            <a:off x="8458200" y="3124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5" name="Oval 21"/>
          <p:cNvSpPr>
            <a:spLocks noChangeArrowheads="1"/>
          </p:cNvSpPr>
          <p:nvPr/>
        </p:nvSpPr>
        <p:spPr bwMode="auto">
          <a:xfrm flipV="1">
            <a:off x="8077200" y="3276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6" name="Oval 22"/>
          <p:cNvSpPr>
            <a:spLocks noChangeArrowheads="1"/>
          </p:cNvSpPr>
          <p:nvPr/>
        </p:nvSpPr>
        <p:spPr bwMode="auto">
          <a:xfrm flipV="1">
            <a:off x="8229600" y="2667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7" name="Oval 23"/>
          <p:cNvSpPr>
            <a:spLocks noChangeArrowheads="1"/>
          </p:cNvSpPr>
          <p:nvPr/>
        </p:nvSpPr>
        <p:spPr bwMode="auto">
          <a:xfrm>
            <a:off x="1828800" y="4343400"/>
            <a:ext cx="1371600" cy="1447800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8" name="Oval 24"/>
          <p:cNvSpPr>
            <a:spLocks noChangeArrowheads="1"/>
          </p:cNvSpPr>
          <p:nvPr/>
        </p:nvSpPr>
        <p:spPr bwMode="auto">
          <a:xfrm>
            <a:off x="1828800" y="4114800"/>
            <a:ext cx="1371600" cy="1447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9" name="Line 25"/>
          <p:cNvSpPr>
            <a:spLocks noChangeShapeType="1"/>
          </p:cNvSpPr>
          <p:nvPr/>
        </p:nvSpPr>
        <p:spPr bwMode="auto">
          <a:xfrm>
            <a:off x="1828800" y="4724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0" name="Line 26"/>
          <p:cNvSpPr>
            <a:spLocks noChangeShapeType="1"/>
          </p:cNvSpPr>
          <p:nvPr/>
        </p:nvSpPr>
        <p:spPr bwMode="auto">
          <a:xfrm>
            <a:off x="3200400" y="4724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1" name="AutoShape 27"/>
          <p:cNvSpPr>
            <a:spLocks noChangeArrowheads="1"/>
          </p:cNvSpPr>
          <p:nvPr/>
        </p:nvSpPr>
        <p:spPr bwMode="auto">
          <a:xfrm>
            <a:off x="2971800" y="23622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32" name="AutoShape 28"/>
          <p:cNvSpPr>
            <a:spLocks noChangeArrowheads="1"/>
          </p:cNvSpPr>
          <p:nvPr/>
        </p:nvSpPr>
        <p:spPr bwMode="auto">
          <a:xfrm>
            <a:off x="6248400" y="35814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33" name="Text Box 29"/>
          <p:cNvSpPr txBox="1">
            <a:spLocks noChangeArrowheads="1"/>
          </p:cNvSpPr>
          <p:nvPr/>
        </p:nvSpPr>
        <p:spPr bwMode="auto">
          <a:xfrm>
            <a:off x="5257800" y="2209800"/>
            <a:ext cx="396875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4800">
                <a:latin typeface="Times New Roman" pitchFamily="18" charset="0"/>
              </a:rPr>
              <a:t>+</a:t>
            </a:r>
            <a:endParaRPr lang="en-US" altLang="en-US" sz="2400" baseline="-25000">
              <a:latin typeface="Times New Roman" pitchFamily="18" charset="0"/>
            </a:endParaRPr>
          </a:p>
        </p:txBody>
      </p:sp>
      <p:sp>
        <p:nvSpPr>
          <p:cNvPr id="47134" name="AutoShape 30"/>
          <p:cNvSpPr>
            <a:spLocks noChangeArrowheads="1"/>
          </p:cNvSpPr>
          <p:nvPr/>
        </p:nvSpPr>
        <p:spPr bwMode="auto">
          <a:xfrm>
            <a:off x="1828800" y="3733800"/>
            <a:ext cx="381000" cy="3048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35" name="Text Box 31"/>
          <p:cNvSpPr txBox="1">
            <a:spLocks noChangeArrowheads="1"/>
          </p:cNvSpPr>
          <p:nvPr/>
        </p:nvSpPr>
        <p:spPr bwMode="auto">
          <a:xfrm>
            <a:off x="3962400" y="5562600"/>
            <a:ext cx="138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Plate out</a:t>
            </a:r>
            <a:endParaRPr lang="en-US" altLang="en-US" sz="2400" baseline="-25000">
              <a:latin typeface="Times New Roman" pitchFamily="18" charset="0"/>
            </a:endParaRPr>
          </a:p>
        </p:txBody>
      </p:sp>
      <p:sp>
        <p:nvSpPr>
          <p:cNvPr id="47136" name="Text Box 32"/>
          <p:cNvSpPr txBox="1">
            <a:spLocks noChangeArrowheads="1"/>
          </p:cNvSpPr>
          <p:nvPr/>
        </p:nvSpPr>
        <p:spPr bwMode="auto">
          <a:xfrm>
            <a:off x="5867400" y="1447800"/>
            <a:ext cx="236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Sieve out lumps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1		2</a:t>
            </a:r>
            <a:endParaRPr lang="en-US" altLang="en-US" sz="2400" baseline="-25000">
              <a:latin typeface="Times New Roman" pitchFamily="18" charset="0"/>
            </a:endParaRPr>
          </a:p>
        </p:txBody>
      </p:sp>
      <p:sp>
        <p:nvSpPr>
          <p:cNvPr id="47137" name="Text Box 33"/>
          <p:cNvSpPr txBox="1">
            <a:spLocks noChangeArrowheads="1"/>
          </p:cNvSpPr>
          <p:nvPr/>
        </p:nvSpPr>
        <p:spPr bwMode="auto">
          <a:xfrm>
            <a:off x="288925" y="3470275"/>
            <a:ext cx="138588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Pick 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growing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high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producers</a:t>
            </a:r>
          </a:p>
        </p:txBody>
      </p:sp>
      <p:sp>
        <p:nvSpPr>
          <p:cNvPr id="47138" name="Text Box 34"/>
          <p:cNvSpPr txBox="1">
            <a:spLocks noChangeArrowheads="1"/>
          </p:cNvSpPr>
          <p:nvPr/>
        </p:nvSpPr>
        <p:spPr bwMode="auto">
          <a:xfrm>
            <a:off x="2498725" y="1641475"/>
            <a:ext cx="1527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Initial high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density</a:t>
            </a:r>
          </a:p>
        </p:txBody>
      </p:sp>
      <p:sp>
        <p:nvSpPr>
          <p:cNvPr id="47139" name="Oval 35"/>
          <p:cNvSpPr>
            <a:spLocks noChangeArrowheads="1"/>
          </p:cNvSpPr>
          <p:nvPr/>
        </p:nvSpPr>
        <p:spPr bwMode="auto">
          <a:xfrm>
            <a:off x="4495800" y="3048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0" name="Oval 36"/>
          <p:cNvSpPr>
            <a:spLocks noChangeArrowheads="1"/>
          </p:cNvSpPr>
          <p:nvPr/>
        </p:nvSpPr>
        <p:spPr bwMode="auto">
          <a:xfrm>
            <a:off x="4800600" y="29718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1" name="AutoShape 37"/>
          <p:cNvSpPr>
            <a:spLocks noChangeArrowheads="1"/>
          </p:cNvSpPr>
          <p:nvPr/>
        </p:nvSpPr>
        <p:spPr bwMode="auto">
          <a:xfrm>
            <a:off x="3352800" y="5334000"/>
            <a:ext cx="2209800" cy="304800"/>
          </a:xfrm>
          <a:prstGeom prst="leftArrow">
            <a:avLst>
              <a:gd name="adj1" fmla="val 50000"/>
              <a:gd name="adj2" fmla="val 18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2" name="AutoShape 38"/>
          <p:cNvSpPr>
            <a:spLocks noChangeArrowheads="1"/>
          </p:cNvSpPr>
          <p:nvPr/>
        </p:nvSpPr>
        <p:spPr bwMode="auto">
          <a:xfrm rot="-5407833">
            <a:off x="4800600" y="4038600"/>
            <a:ext cx="533400" cy="11430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43" name="Text Box 39"/>
          <p:cNvSpPr txBox="1">
            <a:spLocks noChangeArrowheads="1"/>
          </p:cNvSpPr>
          <p:nvPr/>
        </p:nvSpPr>
        <p:spPr bwMode="auto">
          <a:xfrm>
            <a:off x="4191000" y="3394075"/>
            <a:ext cx="15795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Subculture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and sieving</a:t>
            </a:r>
          </a:p>
        </p:txBody>
      </p:sp>
      <p:sp>
        <p:nvSpPr>
          <p:cNvPr id="47144" name="Oval 40"/>
          <p:cNvSpPr>
            <a:spLocks noChangeArrowheads="1"/>
          </p:cNvSpPr>
          <p:nvPr/>
        </p:nvSpPr>
        <p:spPr bwMode="auto">
          <a:xfrm flipV="1">
            <a:off x="4343400" y="3124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5" name="Oval 41"/>
          <p:cNvSpPr>
            <a:spLocks noChangeArrowheads="1"/>
          </p:cNvSpPr>
          <p:nvPr/>
        </p:nvSpPr>
        <p:spPr bwMode="auto">
          <a:xfrm flipV="1">
            <a:off x="5029200" y="3276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6" name="Oval 42"/>
          <p:cNvSpPr>
            <a:spLocks noChangeArrowheads="1"/>
          </p:cNvSpPr>
          <p:nvPr/>
        </p:nvSpPr>
        <p:spPr bwMode="auto">
          <a:xfrm flipV="1">
            <a:off x="4648200" y="2819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7" name="Oval 43"/>
          <p:cNvSpPr>
            <a:spLocks noChangeArrowheads="1"/>
          </p:cNvSpPr>
          <p:nvPr/>
        </p:nvSpPr>
        <p:spPr bwMode="auto">
          <a:xfrm flipV="1">
            <a:off x="4800600" y="2819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8" name="Oval 44"/>
          <p:cNvSpPr>
            <a:spLocks noChangeArrowheads="1"/>
          </p:cNvSpPr>
          <p:nvPr/>
        </p:nvSpPr>
        <p:spPr bwMode="auto">
          <a:xfrm flipV="1">
            <a:off x="6096000" y="5029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9" name="Oval 45"/>
          <p:cNvSpPr>
            <a:spLocks noChangeArrowheads="1"/>
          </p:cNvSpPr>
          <p:nvPr/>
        </p:nvSpPr>
        <p:spPr bwMode="auto">
          <a:xfrm flipV="1">
            <a:off x="6781800" y="5181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50" name="Oval 46"/>
          <p:cNvSpPr>
            <a:spLocks noChangeArrowheads="1"/>
          </p:cNvSpPr>
          <p:nvPr/>
        </p:nvSpPr>
        <p:spPr bwMode="auto">
          <a:xfrm flipV="1">
            <a:off x="6400800" y="5334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51" name="Oval 47"/>
          <p:cNvSpPr>
            <a:spLocks noChangeArrowheads="1"/>
          </p:cNvSpPr>
          <p:nvPr/>
        </p:nvSpPr>
        <p:spPr bwMode="auto">
          <a:xfrm flipV="1">
            <a:off x="6553200" y="5105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ChangeArrowheads="1"/>
          </p:cNvSpPr>
          <p:nvPr/>
        </p:nvSpPr>
        <p:spPr bwMode="auto">
          <a:xfrm>
            <a:off x="0" y="0"/>
            <a:ext cx="9144000" cy="1524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FFFF00"/>
                </a:solidFill>
                <a:cs typeface="Arial" pitchFamily="34" charset="0"/>
              </a:rPr>
              <a:t>Protoplast</a:t>
            </a:r>
          </a:p>
        </p:txBody>
      </p:sp>
      <p:sp>
        <p:nvSpPr>
          <p:cNvPr id="48131" name="Rectangle 5"/>
          <p:cNvSpPr>
            <a:spLocks noChangeArrowheads="1"/>
          </p:cNvSpPr>
          <p:nvPr/>
        </p:nvSpPr>
        <p:spPr bwMode="auto">
          <a:xfrm>
            <a:off x="-50104" y="1676400"/>
            <a:ext cx="9144000" cy="138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latinLnBrk="1" hangingPunct="1">
              <a:buFontTx/>
              <a:buNone/>
            </a:pPr>
            <a:r>
              <a:rPr kumimoji="1" lang="en-US" altLang="ko-KR" sz="2800" dirty="0">
                <a:latin typeface="Garamond" pitchFamily="18" charset="0"/>
                <a:ea typeface="Gulim" pitchFamily="34" charset="-127"/>
              </a:rPr>
              <a:t>The living material of a plant or bacterial cell, including the protoplasm and plasma membrane after the cell wall has been removed</a:t>
            </a:r>
            <a:r>
              <a:rPr kumimoji="1" lang="en-US" altLang="ko-KR" sz="2400" dirty="0">
                <a:latin typeface="Garamond" pitchFamily="18" charset="0"/>
                <a:ea typeface="Gulim" pitchFamily="34" charset="-127"/>
              </a:rPr>
              <a:t>. 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3060699"/>
            <a:ext cx="3966630" cy="37430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420900"/>
            <a:ext cx="7994169" cy="513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5513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7315200" cy="548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3456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Plant Regeneration Pathways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24000"/>
            <a:ext cx="8153400" cy="4343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Organogenesis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	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Relies on the production of organs either directly from an </a:t>
            </a:r>
            <a:r>
              <a:rPr lang="en-US" sz="24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explant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 or callus structure</a:t>
            </a:r>
            <a:endParaRPr lang="en-US" sz="2200" dirty="0" smtClean="0">
              <a:effectLst>
                <a:outerShdw blurRad="38100" dist="38100" dir="2700000" algn="tl">
                  <a:srgbClr val="000000"/>
                </a:outerShdw>
              </a:effectLst>
              <a:latin typeface="Garamond" pitchFamily="18" charset="0"/>
            </a:endParaRP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Somatic Embryogenesis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	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Embryo-like structures which can develop into whole plants in a way that is similar to zygotic embryos are formed from somatic cells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Existing </a:t>
            </a:r>
            <a:r>
              <a:rPr lang="en-US" sz="28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Meristems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 (</a:t>
            </a:r>
            <a:r>
              <a:rPr lang="en-US" sz="28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Microcutting</a:t>
            </a:r>
            <a:r>
              <a:rPr lang="en-US" sz="280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)</a:t>
            </a:r>
            <a:endParaRPr lang="en-US" sz="2800" dirty="0" smtClean="0">
              <a:effectLst>
                <a:outerShdw blurRad="38100" dist="38100" dir="2700000" algn="tl">
                  <a:srgbClr val="000000"/>
                </a:outerShdw>
              </a:effectLst>
              <a:latin typeface="Garamond" pitchFamily="18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	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Uses </a:t>
            </a:r>
            <a:r>
              <a:rPr lang="en-US" sz="24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meristematic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 cells to regenerate whole plant.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651500" y="5943600"/>
            <a:ext cx="33401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>
                <a:latin typeface="Garamond" pitchFamily="18" charset="0"/>
              </a:rPr>
              <a:t>(Source:Victor. </a:t>
            </a:r>
            <a:r>
              <a:rPr lang="en-US" sz="2400" i="1">
                <a:latin typeface="Garamond" pitchFamily="18" charset="0"/>
              </a:rPr>
              <a:t>et al., </a:t>
            </a:r>
            <a:r>
              <a:rPr lang="en-US" sz="2400">
                <a:latin typeface="Garamond" pitchFamily="18" charset="0"/>
              </a:rPr>
              <a:t>2004)</a:t>
            </a:r>
            <a:r>
              <a:rPr lang="en-US">
                <a:latin typeface="Garamond" pitchFamily="18" charset="0"/>
              </a:rPr>
              <a:t/>
            </a:r>
            <a:br>
              <a:rPr lang="en-US">
                <a:latin typeface="Garamond" pitchFamily="18" charset="0"/>
              </a:rPr>
            </a:br>
            <a:endParaRPr lang="en-US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Organogenesis</a:t>
            </a:r>
            <a:endParaRPr lang="en-CA" altLang="en-US" sz="3600" smtClean="0">
              <a:cs typeface="Arial" pitchFamily="34" charset="0"/>
            </a:endParaRPr>
          </a:p>
        </p:txBody>
      </p:sp>
      <p:pic>
        <p:nvPicPr>
          <p:cNvPr id="50179" name="Picture 5" descr="carrot-scan cop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495800" y="1371600"/>
            <a:ext cx="4648200" cy="5486400"/>
          </a:xfrm>
          <a:solidFill>
            <a:schemeClr val="accent1"/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1" lang="en-US" altLang="ko-KR" sz="2800" dirty="0" smtClean="0">
                <a:latin typeface="Garamond" pitchFamily="18" charset="0"/>
                <a:ea typeface="Gulim" pitchFamily="34" charset="-127"/>
              </a:rPr>
              <a:t>The ability of non-meristematic plant tissues to form various organs</a:t>
            </a:r>
            <a:r>
              <a:rPr kumimoji="1" lang="en-US" altLang="ko-KR" sz="2800" i="1" dirty="0" smtClean="0">
                <a:latin typeface="Garamond" pitchFamily="18" charset="0"/>
                <a:ea typeface="Gulim" pitchFamily="34" charset="-127"/>
              </a:rPr>
              <a:t> de novo.</a:t>
            </a:r>
          </a:p>
          <a:p>
            <a:pPr eaLnBrk="1" hangingPunct="1">
              <a:lnSpc>
                <a:spcPct val="90000"/>
              </a:lnSpc>
            </a:pPr>
            <a:r>
              <a:rPr lang="id-ID" altLang="en-US" sz="2800" dirty="0" smtClean="0">
                <a:latin typeface="Garamond" pitchFamily="18" charset="0"/>
              </a:rPr>
              <a:t>The f</a:t>
            </a:r>
            <a:r>
              <a:rPr lang="en-US" altLang="en-US" sz="2800" dirty="0" err="1" smtClean="0">
                <a:latin typeface="Garamond" pitchFamily="18" charset="0"/>
              </a:rPr>
              <a:t>ormation</a:t>
            </a:r>
            <a:r>
              <a:rPr lang="en-US" altLang="en-US" sz="2800" dirty="0" smtClean="0">
                <a:latin typeface="Garamond" pitchFamily="18" charset="0"/>
              </a:rPr>
              <a:t> of adventitious organs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latin typeface="Garamond" pitchFamily="18" charset="0"/>
              </a:rPr>
              <a:t>The production of roots, shoots or leaves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latin typeface="Garamond" pitchFamily="18" charset="0"/>
              </a:rPr>
              <a:t>These organs may arise out of pre-existing meristems or out of differentiated cells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latin typeface="Garamond" pitchFamily="18" charset="0"/>
              </a:rPr>
              <a:t>This may involve a callus intermediate but often occurs without callus.</a:t>
            </a:r>
            <a:endParaRPr lang="en-CA" altLang="en-US" sz="2800" dirty="0" smtClean="0">
              <a:latin typeface="Garamond" pitchFamily="18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Steps in Organogenesis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590550" indent="-590550" eaLnBrk="1" hangingPunct="1">
              <a:buFont typeface="Wingdings" pitchFamily="2" charset="2"/>
              <a:buAutoNum type="arabicPeriod"/>
            </a:pPr>
            <a:r>
              <a:rPr lang="en-US" altLang="en-US" dirty="0" err="1" smtClean="0">
                <a:latin typeface="Garamond" pitchFamily="18" charset="0"/>
              </a:rPr>
              <a:t>Phytohormone</a:t>
            </a:r>
            <a:r>
              <a:rPr lang="en-US" altLang="en-US" dirty="0" smtClean="0">
                <a:latin typeface="Garamond" pitchFamily="18" charset="0"/>
              </a:rPr>
              <a:t> Perception</a:t>
            </a:r>
          </a:p>
          <a:p>
            <a:pPr marL="590550" indent="-590550" eaLnBrk="1" hangingPunct="1">
              <a:buFont typeface="Wingdings" pitchFamily="2" charset="2"/>
              <a:buAutoNum type="arabicPeriod"/>
            </a:pPr>
            <a:r>
              <a:rPr lang="en-US" altLang="en-US" dirty="0" smtClean="0">
                <a:latin typeface="Garamond" pitchFamily="18" charset="0"/>
              </a:rPr>
              <a:t>Dedifferentiation of differentiated cells to acquire competence.</a:t>
            </a:r>
          </a:p>
          <a:p>
            <a:pPr marL="590550" indent="-590550" eaLnBrk="1" hangingPunct="1">
              <a:buFont typeface="Wingdings" pitchFamily="2" charset="2"/>
              <a:buAutoNum type="arabicPeriod"/>
            </a:pPr>
            <a:r>
              <a:rPr lang="en-US" altLang="en-US" dirty="0" smtClean="0">
                <a:latin typeface="Garamond" pitchFamily="18" charset="0"/>
              </a:rPr>
              <a:t>Reentry of cells into the cell cycle</a:t>
            </a:r>
          </a:p>
          <a:p>
            <a:pPr marL="590550" indent="-590550" eaLnBrk="1" hangingPunct="1">
              <a:buFont typeface="Wingdings" pitchFamily="2" charset="2"/>
              <a:buAutoNum type="arabicPeriod"/>
            </a:pPr>
            <a:r>
              <a:rPr lang="en-US" altLang="en-US" dirty="0" smtClean="0">
                <a:latin typeface="Garamond" pitchFamily="18" charset="0"/>
              </a:rPr>
              <a:t>Organization of cell division to form specific organs primordia in meristem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6324600" y="6216650"/>
            <a:ext cx="279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>
                <a:latin typeface="Times New Roman" pitchFamily="18" charset="0"/>
              </a:rPr>
              <a:t>(Source:Victor. </a:t>
            </a:r>
            <a:r>
              <a:rPr lang="en-US" b="1" i="1">
                <a:latin typeface="Times New Roman" pitchFamily="18" charset="0"/>
              </a:rPr>
              <a:t>et al, </a:t>
            </a:r>
            <a:r>
              <a:rPr lang="en-US" b="1">
                <a:latin typeface="Times New Roman" pitchFamily="18" charset="0"/>
              </a:rPr>
              <a:t>2004)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lang="en-US">
                <a:solidFill>
                  <a:srgbClr val="000000"/>
                </a:solidFill>
                <a:latin typeface="Times New Roman" pitchFamily="18" charset="0"/>
              </a:rPr>
            </a:br>
            <a:r>
              <a:rPr lang="id-ID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1205" name="TextBox 1"/>
          <p:cNvSpPr txBox="1">
            <a:spLocks noChangeArrowheads="1"/>
          </p:cNvSpPr>
          <p:nvPr/>
        </p:nvSpPr>
        <p:spPr bwMode="auto">
          <a:xfrm>
            <a:off x="815236" y="5293320"/>
            <a:ext cx="6629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hlinkClick r:id="rId3"/>
              </a:rPr>
              <a:t>https://</a:t>
            </a:r>
            <a:r>
              <a:rPr lang="en-US" altLang="en-US" sz="1800" b="1" dirty="0" smtClean="0">
                <a:solidFill>
                  <a:srgbClr val="FF0000"/>
                </a:solidFill>
                <a:hlinkClick r:id="rId3"/>
              </a:rPr>
              <a:t>www.youtube.com/watch?v=hgzU_FS59e4</a:t>
            </a:r>
            <a:endParaRPr lang="en-US" altLang="en-US" sz="1800" b="1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https://www.youtube.com/watch?v=cD9CFtpLL2s&amp;t=1121s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399" y="906607"/>
            <a:ext cx="4191001" cy="31979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dirty="0" smtClean="0">
                <a:cs typeface="Arial" pitchFamily="34" charset="0"/>
              </a:rPr>
              <a:t>Indirect organogenesis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152400" y="1371600"/>
            <a:ext cx="899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Garamond" pitchFamily="18" charset="0"/>
              </a:rPr>
              <a:t>Explant </a:t>
            </a:r>
            <a:r>
              <a:rPr lang="en-US" altLang="en-US">
                <a:latin typeface="Garamond" pitchFamily="18" charset="0"/>
                <a:cs typeface="Arial" pitchFamily="34" charset="0"/>
              </a:rPr>
              <a:t>→ </a:t>
            </a:r>
            <a:r>
              <a:rPr lang="en-US" altLang="en-US">
                <a:latin typeface="Garamond" pitchFamily="18" charset="0"/>
              </a:rPr>
              <a:t>Callus → Meristemoid → Primordium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2438400"/>
            <a:ext cx="8229600" cy="3810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Garamond" pitchFamily="18" charset="0"/>
              </a:rPr>
              <a:t>Dedifferentiation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en-US" sz="2800" kern="0" dirty="0">
                <a:latin typeface="Garamond" pitchFamily="18" charset="0"/>
              </a:rPr>
              <a:t>Less committed, </a:t>
            </a:r>
            <a:endParaRPr lang="id-ID" sz="2800" kern="0" dirty="0">
              <a:latin typeface="Garamond" pitchFamily="18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id-ID" sz="2800" kern="0" dirty="0">
                <a:latin typeface="Garamond" pitchFamily="18" charset="0"/>
              </a:rPr>
              <a:t>M</a:t>
            </a:r>
            <a:r>
              <a:rPr lang="en-US" sz="2800" kern="0" dirty="0">
                <a:latin typeface="Garamond" pitchFamily="18" charset="0"/>
              </a:rPr>
              <a:t>ore plastic developmental state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Garamond" pitchFamily="18" charset="0"/>
              </a:rPr>
              <a:t>Induction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en-US" sz="2800" kern="0" dirty="0">
                <a:latin typeface="Garamond" pitchFamily="18" charset="0"/>
              </a:rPr>
              <a:t>Cells become </a:t>
            </a:r>
            <a:r>
              <a:rPr lang="en-US" sz="2800" kern="0" dirty="0" err="1">
                <a:latin typeface="Garamond" pitchFamily="18" charset="0"/>
              </a:rPr>
              <a:t>organogenically</a:t>
            </a:r>
            <a:r>
              <a:rPr lang="en-US" sz="2800" kern="0" dirty="0">
                <a:latin typeface="Garamond" pitchFamily="18" charset="0"/>
              </a:rPr>
              <a:t> competent and fully determined for </a:t>
            </a:r>
            <a:r>
              <a:rPr lang="en-US" sz="2800" kern="0" dirty="0" err="1">
                <a:latin typeface="Garamond" pitchFamily="18" charset="0"/>
              </a:rPr>
              <a:t>primordia</a:t>
            </a:r>
            <a:r>
              <a:rPr lang="en-US" sz="2800" kern="0" dirty="0">
                <a:latin typeface="Garamond" pitchFamily="18" charset="0"/>
              </a:rPr>
              <a:t> production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Garamond" pitchFamily="18" charset="0"/>
              </a:rPr>
              <a:t>Differentiation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Direct Organogenesis</a:t>
            </a: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0" y="2647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54276" name="Picture 4" descr="C:\Documents and Settings\gam\Desktop\organogenesis class_files\Image39.gif"/>
          <p:cNvPicPr>
            <a:picLocks noChangeAspect="1" noChangeArrowheads="1"/>
          </p:cNvPicPr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609600" y="1981200"/>
            <a:ext cx="7924800" cy="441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277" name="TextBox 6"/>
          <p:cNvSpPr txBox="1">
            <a:spLocks noChangeArrowheads="1"/>
          </p:cNvSpPr>
          <p:nvPr/>
        </p:nvSpPr>
        <p:spPr bwMode="auto">
          <a:xfrm>
            <a:off x="457200" y="1143000"/>
            <a:ext cx="822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Garamond" pitchFamily="18" charset="0"/>
              </a:rPr>
              <a:t>Direct shoot/root formation from the explant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Somatic Embryogenesis</a:t>
            </a:r>
            <a:endParaRPr lang="en-CA" altLang="en-US" sz="3600" smtClean="0">
              <a:cs typeface="Arial" pitchFamily="34" charset="0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1600200"/>
            <a:ext cx="4114800" cy="4525963"/>
          </a:xfrm>
        </p:spPr>
        <p:txBody>
          <a:bodyPr/>
          <a:lstStyle/>
          <a:p>
            <a:pPr eaLnBrk="1" hangingPunct="1"/>
            <a:r>
              <a:rPr lang="id-ID" altLang="en-US" sz="2800" smtClean="0">
                <a:latin typeface="Garamond" pitchFamily="18" charset="0"/>
              </a:rPr>
              <a:t>The </a:t>
            </a:r>
            <a:r>
              <a:rPr lang="en-US" altLang="en-US" sz="2800" smtClean="0">
                <a:latin typeface="Garamond" pitchFamily="18" charset="0"/>
              </a:rPr>
              <a:t>formation of adventitious embryos </a:t>
            </a:r>
          </a:p>
          <a:p>
            <a:pPr eaLnBrk="1" hangingPunct="1"/>
            <a:r>
              <a:rPr lang="en-US" altLang="en-US" sz="2800" smtClean="0">
                <a:latin typeface="Garamond" pitchFamily="18" charset="0"/>
              </a:rPr>
              <a:t>The production of embr</a:t>
            </a:r>
            <a:r>
              <a:rPr lang="id-ID" altLang="en-US" sz="2800" smtClean="0">
                <a:latin typeface="Garamond" pitchFamily="18" charset="0"/>
              </a:rPr>
              <a:t>y</a:t>
            </a:r>
            <a:r>
              <a:rPr lang="en-US" altLang="en-US" sz="2800" smtClean="0">
                <a:latin typeface="Garamond" pitchFamily="18" charset="0"/>
              </a:rPr>
              <a:t>os from somatic or “non-germ” cells.</a:t>
            </a:r>
          </a:p>
          <a:p>
            <a:pPr eaLnBrk="1" hangingPunct="1"/>
            <a:r>
              <a:rPr lang="id-ID" altLang="en-US" sz="2800" smtClean="0">
                <a:latin typeface="Garamond" pitchFamily="18" charset="0"/>
              </a:rPr>
              <a:t>It u</a:t>
            </a:r>
            <a:r>
              <a:rPr lang="en-US" altLang="en-US" sz="2800" smtClean="0">
                <a:latin typeface="Garamond" pitchFamily="18" charset="0"/>
              </a:rPr>
              <a:t>sually involves a callus intermediate stage which can result in variation among seedlings</a:t>
            </a:r>
            <a:endParaRPr lang="en-CA" altLang="en-US" sz="2800" smtClean="0">
              <a:latin typeface="Garamond" pitchFamily="18" charset="0"/>
            </a:endParaRPr>
          </a:p>
        </p:txBody>
      </p:sp>
      <p:pic>
        <p:nvPicPr>
          <p:cNvPr id="55300" name="Picture 5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4114800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TextBox 1"/>
          <p:cNvSpPr txBox="1">
            <a:spLocks noChangeArrowheads="1"/>
          </p:cNvSpPr>
          <p:nvPr/>
        </p:nvSpPr>
        <p:spPr bwMode="auto">
          <a:xfrm>
            <a:off x="990600" y="6096000"/>
            <a:ext cx="6434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https://www.youtube.com/watch?v=BiIw0TqkH7c&amp;t=518s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smtClean="0">
                <a:ea typeface="PMingLiU" pitchFamily="18" charset="-120"/>
                <a:cs typeface="Arial" pitchFamily="34" charset="0"/>
              </a:rPr>
              <a:t>Various terms for non-zygotic embryos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55600" indent="-355600" eaLnBrk="1" hangingPunct="1">
              <a:buClr>
                <a:schemeClr val="tx1"/>
              </a:buClr>
              <a:buFont typeface="Wingdings" pitchFamily="2" charset="2"/>
              <a:buChar char="ü"/>
              <a:tabLst>
                <a:tab pos="342900" algn="l"/>
              </a:tabLst>
            </a:pPr>
            <a:r>
              <a:rPr lang="en-US" altLang="zh-TW" sz="2800" smtClean="0">
                <a:solidFill>
                  <a:srgbClr val="FFFF00"/>
                </a:solidFill>
                <a:latin typeface="Garamond" pitchFamily="18" charset="0"/>
                <a:ea typeface="PMingLiU" pitchFamily="18" charset="-120"/>
              </a:rPr>
              <a:t>Adventious embryos</a:t>
            </a:r>
          </a:p>
          <a:p>
            <a:pPr marL="355600" indent="-355600" eaLnBrk="1" hangingPunct="1">
              <a:buClr>
                <a:schemeClr val="tx1"/>
              </a:buClr>
              <a:buFont typeface="Wingdings" pitchFamily="2" charset="2"/>
              <a:buNone/>
              <a:tabLst>
                <a:tab pos="342900" algn="l"/>
              </a:tabLst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	</a:t>
            </a:r>
            <a:r>
              <a:rPr lang="id-ID" altLang="zh-TW" sz="2800" smtClean="0">
                <a:latin typeface="Garamond" pitchFamily="18" charset="0"/>
                <a:ea typeface="PMingLiU" pitchFamily="18" charset="-120"/>
              </a:rPr>
              <a:t>S</a:t>
            </a: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omatic embryos arising directly from other organs or</a:t>
            </a:r>
            <a:r>
              <a:rPr lang="id-ID" altLang="zh-TW" sz="2800" smtClean="0">
                <a:latin typeface="Garamond" pitchFamily="18" charset="0"/>
                <a:ea typeface="PMingLiU" pitchFamily="18" charset="-120"/>
              </a:rPr>
              <a:t> </a:t>
            </a: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embryos.</a:t>
            </a:r>
          </a:p>
          <a:p>
            <a:pPr marL="355600" indent="-355600" eaLnBrk="1" hangingPunct="1">
              <a:buClr>
                <a:schemeClr val="tx1"/>
              </a:buClr>
              <a:buFont typeface="Wingdings" pitchFamily="2" charset="2"/>
              <a:buChar char="ü"/>
              <a:tabLst>
                <a:tab pos="342900" algn="l"/>
              </a:tabLst>
            </a:pPr>
            <a:r>
              <a:rPr lang="en-US" altLang="zh-TW" sz="2800" smtClean="0">
                <a:solidFill>
                  <a:srgbClr val="FFFF00"/>
                </a:solidFill>
                <a:latin typeface="Garamond" pitchFamily="18" charset="0"/>
                <a:ea typeface="PMingLiU" pitchFamily="18" charset="-120"/>
              </a:rPr>
              <a:t>Parthenogenetic embryos</a:t>
            </a: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 (apomixis) </a:t>
            </a:r>
          </a:p>
          <a:p>
            <a:pPr marL="355600" indent="-355600" eaLnBrk="1" hangingPunct="1">
              <a:buClr>
                <a:schemeClr val="tx1"/>
              </a:buClr>
              <a:buFont typeface="Wingdings" pitchFamily="2" charset="2"/>
              <a:buNone/>
              <a:tabLst>
                <a:tab pos="342900" algn="l"/>
              </a:tabLst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	Somatic embryos are formed by the unfertilized egg.</a:t>
            </a:r>
          </a:p>
          <a:p>
            <a:pPr marL="355600" indent="-355600" eaLnBrk="1" hangingPunct="1">
              <a:buClr>
                <a:schemeClr val="tx1"/>
              </a:buClr>
              <a:buFont typeface="Wingdings" pitchFamily="2" charset="2"/>
              <a:buChar char="ü"/>
              <a:tabLst>
                <a:tab pos="342900" algn="l"/>
              </a:tabLst>
            </a:pPr>
            <a:r>
              <a:rPr lang="en-US" altLang="zh-TW" sz="2800" smtClean="0">
                <a:solidFill>
                  <a:srgbClr val="FFFF00"/>
                </a:solidFill>
                <a:latin typeface="Garamond" pitchFamily="18" charset="0"/>
                <a:ea typeface="PMingLiU" pitchFamily="18" charset="-120"/>
              </a:rPr>
              <a:t>Androgenetic embryos</a:t>
            </a:r>
          </a:p>
          <a:p>
            <a:pPr marL="355600" indent="-355600" eaLnBrk="1" hangingPunct="1">
              <a:buClr>
                <a:schemeClr val="tx1"/>
              </a:buClr>
              <a:buFont typeface="Wingdings" pitchFamily="2" charset="2"/>
              <a:buNone/>
              <a:tabLst>
                <a:tab pos="342900" algn="l"/>
              </a:tabLst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	Somatic embryos are formed by the male gametophyte.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Somatic Embryogenesis and Organogenesis</a:t>
            </a:r>
            <a:endParaRPr lang="en-CA" altLang="en-US" sz="3600" smtClean="0">
              <a:cs typeface="Arial" pitchFamily="34" charset="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Both of these technologies can be used as methods of micropropagation.</a:t>
            </a:r>
          </a:p>
          <a:p>
            <a:pPr eaLnBrk="1" hangingPunct="1">
              <a:lnSpc>
                <a:spcPct val="90000"/>
              </a:lnSpc>
            </a:pPr>
            <a:r>
              <a:rPr lang="id-ID" altLang="en-US" smtClean="0">
                <a:latin typeface="Garamond" pitchFamily="18" charset="0"/>
              </a:rPr>
              <a:t>It is n</a:t>
            </a:r>
            <a:r>
              <a:rPr lang="en-US" altLang="en-US" smtClean="0">
                <a:latin typeface="Garamond" pitchFamily="18" charset="0"/>
              </a:rPr>
              <a:t>ot always desirable because they may not always result in populations of identical plants.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The most beneficial use of somatic embryogenesis and organogenesis is in the production of whole plants from a single cell (or a few cells).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Hp\Desktop\somaclonal-vari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57" y="129521"/>
            <a:ext cx="7465143" cy="5604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055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Hp\Desktop\Organogenesi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67" y="757318"/>
            <a:ext cx="8687747" cy="38908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8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284163"/>
            <a:ext cx="8229600" cy="949325"/>
          </a:xfrm>
        </p:spPr>
        <p:txBody>
          <a:bodyPr/>
          <a:lstStyle/>
          <a:p>
            <a:pPr eaLnBrk="1" hangingPunct="1"/>
            <a:r>
              <a:rPr lang="en-US" altLang="zh-TW" sz="3600" dirty="0" smtClean="0">
                <a:ea typeface="PMingLiU" pitchFamily="18" charset="-120"/>
                <a:cs typeface="Arial" pitchFamily="34" charset="0"/>
              </a:rPr>
              <a:t>Somatic embryogenesis differs from organogenesis</a:t>
            </a:r>
          </a:p>
        </p:txBody>
      </p:sp>
      <p:pic>
        <p:nvPicPr>
          <p:cNvPr id="58371" name="Picture 4" descr="0203_2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600200"/>
            <a:ext cx="8991600" cy="5257800"/>
          </a:xfrm>
          <a:noFill/>
        </p:spPr>
      </p:pic>
      <p:sp>
        <p:nvSpPr>
          <p:cNvPr id="58372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1905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zh-TW" sz="2800" dirty="0" smtClean="0">
                <a:latin typeface="Garamond" pitchFamily="18" charset="0"/>
                <a:ea typeface="PMingLiU" pitchFamily="18" charset="-120"/>
              </a:rPr>
              <a:t>Bipolar structure with a closed radicular end rather than a monopolar structure.</a:t>
            </a:r>
          </a:p>
          <a:p>
            <a:pPr eaLnBrk="1" hangingPunct="1"/>
            <a:r>
              <a:rPr lang="en-US" altLang="zh-TW" sz="2800" dirty="0" smtClean="0">
                <a:latin typeface="Garamond" pitchFamily="18" charset="0"/>
                <a:ea typeface="PMingLiU" pitchFamily="18" charset="-120"/>
              </a:rPr>
              <a:t>The embryo arises from a single cell and has no vascular connection with the mother tissue</a:t>
            </a:r>
            <a:r>
              <a:rPr lang="en-US" altLang="zh-TW" sz="2800" dirty="0" smtClean="0">
                <a:ea typeface="PMingLiU" pitchFamily="18" charset="-12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TW" sz="2800" dirty="0" smtClean="0">
              <a:latin typeface="Garamond" pitchFamily="18" charset="0"/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50" y="685800"/>
            <a:ext cx="8257450" cy="5105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8782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Hp\Desktop\somatic emb. vs organogenesi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8" y="457200"/>
            <a:ext cx="9106422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2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82575"/>
            <a:ext cx="8496300" cy="1798638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ea typeface="PMingLiU" pitchFamily="18" charset="-120"/>
                <a:cs typeface="Arial" pitchFamily="34" charset="0"/>
              </a:rPr>
              <a:t>Two routes to somatic embryogenesis    </a:t>
            </a:r>
            <a:r>
              <a:rPr lang="en-US" altLang="zh-TW" sz="3200" smtClean="0">
                <a:solidFill>
                  <a:schemeClr val="tx1"/>
                </a:solidFill>
                <a:latin typeface="Bodoni MT Black" pitchFamily="18" charset="0"/>
                <a:ea typeface="PMingLiU" pitchFamily="18" charset="-120"/>
                <a:cs typeface="Arial" pitchFamily="34" charset="0"/>
              </a:rPr>
              <a:t/>
            </a:r>
            <a:br>
              <a:rPr lang="en-US" altLang="zh-TW" sz="3200" smtClean="0">
                <a:solidFill>
                  <a:schemeClr val="tx1"/>
                </a:solidFill>
                <a:latin typeface="Bodoni MT Black" pitchFamily="18" charset="0"/>
                <a:ea typeface="PMingLiU" pitchFamily="18" charset="-120"/>
                <a:cs typeface="Arial" pitchFamily="34" charset="0"/>
              </a:rPr>
            </a:br>
            <a:r>
              <a:rPr lang="en-US" altLang="zh-TW" sz="3200" smtClean="0">
                <a:ea typeface="PMingLiU" pitchFamily="18" charset="-120"/>
                <a:cs typeface="Arial" pitchFamily="34" charset="0"/>
              </a:rPr>
              <a:t>                                  </a:t>
            </a:r>
            <a:r>
              <a:rPr lang="en-US" altLang="zh-TW" sz="2800" smtClean="0">
                <a:latin typeface="Garamond" pitchFamily="18" charset="0"/>
                <a:ea typeface="PMingLiU" pitchFamily="18" charset="-120"/>
                <a:cs typeface="Arial" pitchFamily="34" charset="0"/>
              </a:rPr>
              <a:t>(Sharp et al., 1980)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362200"/>
            <a:ext cx="8229600" cy="30480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Garamond" pitchFamily="18" charset="0"/>
                <a:ea typeface="PMingLiU" pitchFamily="18" charset="-120"/>
              </a:rPr>
              <a:t>Direct embryogenesis</a:t>
            </a:r>
          </a:p>
          <a:p>
            <a:pPr lvl="1" eaLnBrk="1" hangingPunct="1"/>
            <a:r>
              <a:rPr lang="id-ID" altLang="zh-TW" smtClean="0">
                <a:latin typeface="Garamond" pitchFamily="18" charset="0"/>
                <a:ea typeface="PMingLiU" pitchFamily="18" charset="-120"/>
              </a:rPr>
              <a:t>E</a:t>
            </a:r>
            <a:r>
              <a:rPr lang="en-US" altLang="zh-TW" smtClean="0">
                <a:latin typeface="Garamond" pitchFamily="18" charset="0"/>
                <a:ea typeface="PMingLiU" pitchFamily="18" charset="-120"/>
              </a:rPr>
              <a:t>mbryos initiate directly from explant in the absence of callus formation.</a:t>
            </a:r>
          </a:p>
          <a:p>
            <a:pPr eaLnBrk="1" hangingPunct="1"/>
            <a:r>
              <a:rPr lang="en-US" altLang="zh-TW" smtClean="0">
                <a:latin typeface="Garamond" pitchFamily="18" charset="0"/>
                <a:ea typeface="PMingLiU" pitchFamily="18" charset="-120"/>
              </a:rPr>
              <a:t>Indirect embryogenesis</a:t>
            </a:r>
          </a:p>
          <a:p>
            <a:pPr lvl="1" eaLnBrk="1" hangingPunct="1"/>
            <a:r>
              <a:rPr lang="en-US" altLang="zh-TW" smtClean="0">
                <a:latin typeface="Garamond" pitchFamily="18" charset="0"/>
                <a:ea typeface="PMingLiU" pitchFamily="18" charset="-120"/>
              </a:rPr>
              <a:t>Callus from explant takes place from which embryos are developed.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Direct somatic embryogenesis</a:t>
            </a:r>
          </a:p>
        </p:txBody>
      </p:sp>
      <p:pic>
        <p:nvPicPr>
          <p:cNvPr id="36867" name="Picture 4" descr="buckd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5875" y="2133600"/>
            <a:ext cx="3657600" cy="3657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420" name="TextBox 4"/>
          <p:cNvSpPr txBox="1">
            <a:spLocks noChangeArrowheads="1"/>
          </p:cNvSpPr>
          <p:nvPr/>
        </p:nvSpPr>
        <p:spPr bwMode="auto">
          <a:xfrm>
            <a:off x="457200" y="1600200"/>
            <a:ext cx="830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Garamond" pitchFamily="18" charset="0"/>
              </a:rPr>
              <a:t>Direct embryo formation from an explant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304800"/>
            <a:ext cx="8610600" cy="762000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Indirect Somatic Embryogenesis</a:t>
            </a: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152400" y="1371600"/>
            <a:ext cx="899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Garamond" pitchFamily="18" charset="0"/>
              </a:rPr>
              <a:t>Explant </a:t>
            </a:r>
            <a:r>
              <a:rPr lang="en-US" altLang="en-US" sz="2800">
                <a:latin typeface="Garamond" pitchFamily="18" charset="0"/>
                <a:cs typeface="Arial" pitchFamily="34" charset="0"/>
              </a:rPr>
              <a:t>→ </a:t>
            </a:r>
            <a:r>
              <a:rPr lang="en-US" altLang="en-US" sz="2800">
                <a:latin typeface="Garamond" pitchFamily="18" charset="0"/>
              </a:rPr>
              <a:t>Callus Embryogenic → Maturation → Germination</a:t>
            </a:r>
          </a:p>
        </p:txBody>
      </p:sp>
      <p:sp>
        <p:nvSpPr>
          <p:cNvPr id="61444" name="TextBox 5"/>
          <p:cNvSpPr txBox="1">
            <a:spLocks noChangeArrowheads="1"/>
          </p:cNvSpPr>
          <p:nvPr/>
        </p:nvSpPr>
        <p:spPr bwMode="auto">
          <a:xfrm>
            <a:off x="381000" y="2743200"/>
            <a:ext cx="82296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dirty="0" smtClean="0">
                <a:latin typeface="Garamond" pitchFamily="18" charset="0"/>
              </a:rPr>
              <a:t>Callus </a:t>
            </a:r>
            <a:r>
              <a:rPr lang="en-US" altLang="en-US" sz="2800" dirty="0">
                <a:latin typeface="Garamond" pitchFamily="18" charset="0"/>
              </a:rPr>
              <a:t>induction</a:t>
            </a:r>
          </a:p>
          <a:p>
            <a:pPr algn="ctr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dirty="0">
                <a:latin typeface="Garamond" pitchFamily="18" charset="0"/>
              </a:rPr>
              <a:t>Callus embryogenic development</a:t>
            </a:r>
          </a:p>
          <a:p>
            <a:pPr algn="ctr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dirty="0">
                <a:latin typeface="Garamond" pitchFamily="18" charset="0"/>
              </a:rPr>
              <a:t>Maturation</a:t>
            </a:r>
          </a:p>
          <a:p>
            <a:pPr algn="ctr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dirty="0">
                <a:latin typeface="Garamond" pitchFamily="18" charset="0"/>
              </a:rPr>
              <a:t>Germination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Induction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latin typeface="Garamond" pitchFamily="18" charset="0"/>
              </a:rPr>
              <a:t>Auxins required for induction</a:t>
            </a:r>
          </a:p>
          <a:p>
            <a:pPr lvl="1" eaLnBrk="1" hangingPunct="1"/>
            <a:r>
              <a:rPr lang="en-US" altLang="en-US" sz="3600" smtClean="0">
                <a:latin typeface="Garamond" pitchFamily="18" charset="0"/>
              </a:rPr>
              <a:t>Proembryogenic masses form</a:t>
            </a:r>
          </a:p>
          <a:p>
            <a:pPr lvl="1" eaLnBrk="1" hangingPunct="1"/>
            <a:r>
              <a:rPr lang="en-US" altLang="en-US" sz="3600" smtClean="0">
                <a:latin typeface="Garamond" pitchFamily="18" charset="0"/>
              </a:rPr>
              <a:t>2,4-D most used</a:t>
            </a:r>
          </a:p>
          <a:p>
            <a:pPr lvl="1" eaLnBrk="1" hangingPunct="1"/>
            <a:r>
              <a:rPr lang="en-US" altLang="en-US" sz="3600" smtClean="0">
                <a:latin typeface="Garamond" pitchFamily="18" charset="0"/>
              </a:rPr>
              <a:t>NAA, dicamba also used</a:t>
            </a:r>
          </a:p>
          <a:p>
            <a:pPr eaLnBrk="1" hangingPunct="1"/>
            <a:endParaRPr lang="en-US" altLang="en-US" sz="3600" smtClean="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Development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Auxin must be removed for embryo development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Continued use of auxin inhibits embryogenesis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altLang="en-US" sz="2800" smtClean="0">
                <a:latin typeface="Garamond" pitchFamily="18" charset="0"/>
              </a:rPr>
              <a:t>Stages are similar to those of zygotic embryogenesis</a:t>
            </a:r>
          </a:p>
          <a:p>
            <a:pPr lvl="1" eaLnBrk="1" hangingPunct="1"/>
            <a:r>
              <a:rPr lang="en-US" altLang="en-US" sz="2400" smtClean="0">
                <a:latin typeface="Garamond" pitchFamily="18" charset="0"/>
              </a:rPr>
              <a:t>Globular</a:t>
            </a:r>
          </a:p>
          <a:p>
            <a:pPr lvl="1" eaLnBrk="1" hangingPunct="1"/>
            <a:r>
              <a:rPr lang="en-US" altLang="en-US" sz="2400" smtClean="0">
                <a:latin typeface="Garamond" pitchFamily="18" charset="0"/>
              </a:rPr>
              <a:t>Heart</a:t>
            </a:r>
          </a:p>
          <a:p>
            <a:pPr lvl="1" eaLnBrk="1" hangingPunct="1"/>
            <a:r>
              <a:rPr lang="en-US" altLang="en-US" sz="2400" smtClean="0">
                <a:latin typeface="Garamond" pitchFamily="18" charset="0"/>
              </a:rPr>
              <a:t>Torpedo</a:t>
            </a:r>
          </a:p>
          <a:p>
            <a:pPr lvl="1" eaLnBrk="1" hangingPunct="1"/>
            <a:r>
              <a:rPr lang="en-US" altLang="en-US" sz="2400" smtClean="0">
                <a:latin typeface="Garamond" pitchFamily="18" charset="0"/>
              </a:rPr>
              <a:t>Cotyledonary</a:t>
            </a:r>
          </a:p>
          <a:p>
            <a:pPr lvl="1" eaLnBrk="1" hangingPunct="1"/>
            <a:r>
              <a:rPr lang="en-US" altLang="en-US" sz="2400" smtClean="0">
                <a:latin typeface="Garamond" pitchFamily="18" charset="0"/>
              </a:rPr>
              <a:t>Germination (conversion)</a:t>
            </a:r>
          </a:p>
          <a:p>
            <a:pPr eaLnBrk="1" hangingPunct="1"/>
            <a:endParaRPr lang="en-US" altLang="en-US" sz="2800" smtClean="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450" name="Picture 2" descr="C:\Users\Hp\Desktop\BT421 Dr. Rami\Stages of Matura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533400"/>
            <a:ext cx="7294563" cy="533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Maturation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Garamond" pitchFamily="18" charset="0"/>
              </a:rPr>
              <a:t>Require complete maturation with apical meristem, radicle, and cotyledons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Garamond" pitchFamily="18" charset="0"/>
              </a:rPr>
              <a:t>Often obtain repetitive </a:t>
            </a:r>
            <a:r>
              <a:rPr lang="en-US" altLang="en-US" dirty="0" err="1" smtClean="0">
                <a:latin typeface="Garamond" pitchFamily="18" charset="0"/>
              </a:rPr>
              <a:t>embryony</a:t>
            </a:r>
            <a:endParaRPr lang="en-US" altLang="en-US" dirty="0" smtClean="0">
              <a:latin typeface="Garamond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Garamond" pitchFamily="18" charset="0"/>
              </a:rPr>
              <a:t>Storage protein production necessary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Garamond" pitchFamily="18" charset="0"/>
              </a:rPr>
              <a:t>Often require ABA for complete maturation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Garamond" pitchFamily="18" charset="0"/>
              </a:rPr>
              <a:t>ABA often required for normal embryo morphology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Garamond" pitchFamily="18" charset="0"/>
              </a:rPr>
              <a:t>Fasciation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Garamond" pitchFamily="18" charset="0"/>
              </a:rPr>
              <a:t>Precocious germination</a:t>
            </a:r>
          </a:p>
        </p:txBody>
      </p:sp>
      <p:pic>
        <p:nvPicPr>
          <p:cNvPr id="18434" name="Picture 2" descr="C:\Users\Hp\Desktop\MulesEarFasciated_10739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57889"/>
            <a:ext cx="2438400" cy="15608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/>
              <a:t>Germination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May only obtain 3-5% germination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Sucrose (10%), mannitol (4%) may be required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Drying (desiccation)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ABA levels decrease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Woody plants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Final moisture content 10-40%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Chilling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Decreases ABA levels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Garamond" pitchFamily="18" charset="0"/>
              </a:rPr>
              <a:t>Woody plants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0550"/>
            <a:ext cx="8229600" cy="511175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ea typeface="PMingLiU" pitchFamily="18" charset="-120"/>
                <a:cs typeface="Arial" pitchFamily="34" charset="0"/>
              </a:rPr>
              <a:t>Types of embryogenic cells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569325" cy="46878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Pre-embryogenic determined cells, PEDCs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latin typeface="Garamond" pitchFamily="18" charset="0"/>
                <a:ea typeface="PMingLiU" pitchFamily="18" charset="-120"/>
              </a:rPr>
              <a:t>The cells are committed to embryonic development and need only to be released. Such cells are found in embryonic tissue.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>
              <a:latin typeface="Garamond" pitchFamily="18" charset="0"/>
              <a:ea typeface="PMingLiU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Induced embryogenic determined cells, IEDCs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latin typeface="Garamond" pitchFamily="18" charset="0"/>
                <a:ea typeface="PMingLiU" pitchFamily="18" charset="-120"/>
              </a:rPr>
              <a:t>In majority of cases embryogenesis is through indirect method.</a:t>
            </a:r>
            <a:endParaRPr lang="id-ID" altLang="zh-TW" sz="2400" smtClean="0">
              <a:latin typeface="Garamond" pitchFamily="18" charset="0"/>
              <a:ea typeface="PMingLiU" pitchFamily="18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latin typeface="Garamond" pitchFamily="18" charset="0"/>
                <a:ea typeface="PMingLiU" pitchFamily="18" charset="-120"/>
              </a:rPr>
              <a:t>Specific growth regulator concentrations and/or cultural conditions are required for initiation of callus and then redetermination of these cells into the embryogenic pattern of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8207375" cy="1066800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ea typeface="PMingLiU" pitchFamily="18" charset="-120"/>
                <a:cs typeface="Arial" pitchFamily="34" charset="0"/>
              </a:rPr>
              <a:t>Somatic embryogenesis as a means of propagation is seldom used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209800"/>
            <a:ext cx="8207375" cy="3713163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High probability of mutations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The method is usually rather difficult.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Losing regenerative capacity become greater with repeated subculture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Induction of embryogenesis is very difficult with many plant species.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zh-TW" sz="2800" smtClean="0">
                <a:latin typeface="Garamond" pitchFamily="18" charset="0"/>
                <a:ea typeface="PMingLiU" pitchFamily="18" charset="-120"/>
              </a:rPr>
              <a:t>A deep dormancy often occurs with somatic embryogenesis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peanut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09600"/>
            <a:ext cx="1554163" cy="2362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59" name="Picture 3" descr="peanut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1219200"/>
            <a:ext cx="2514600" cy="1681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0" name="Picture 4" descr="peanut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990600"/>
            <a:ext cx="2438400" cy="169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1" name="Picture 5" descr="peanut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24600" y="3810000"/>
            <a:ext cx="1814513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2" name="Picture 6" descr="peanut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05200" y="3886200"/>
            <a:ext cx="1779588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3" name="Picture 7" descr="peanut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14400" y="3962400"/>
            <a:ext cx="1757363" cy="198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640" name="Line 8"/>
          <p:cNvSpPr>
            <a:spLocks noChangeShapeType="1"/>
          </p:cNvSpPr>
          <p:nvPr/>
        </p:nvSpPr>
        <p:spPr bwMode="auto">
          <a:xfrm>
            <a:off x="2362200" y="1676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Line 9"/>
          <p:cNvSpPr>
            <a:spLocks noChangeShapeType="1"/>
          </p:cNvSpPr>
          <p:nvPr/>
        </p:nvSpPr>
        <p:spPr bwMode="auto">
          <a:xfrm>
            <a:off x="5486400" y="16764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Line 10"/>
          <p:cNvSpPr>
            <a:spLocks noChangeShapeType="1"/>
          </p:cNvSpPr>
          <p:nvPr/>
        </p:nvSpPr>
        <p:spPr bwMode="auto">
          <a:xfrm>
            <a:off x="7162800" y="2971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3" name="Line 11"/>
          <p:cNvSpPr>
            <a:spLocks noChangeShapeType="1"/>
          </p:cNvSpPr>
          <p:nvPr/>
        </p:nvSpPr>
        <p:spPr bwMode="auto">
          <a:xfrm flipH="1">
            <a:off x="5410200" y="4419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Line 12"/>
          <p:cNvSpPr>
            <a:spLocks noChangeShapeType="1"/>
          </p:cNvSpPr>
          <p:nvPr/>
        </p:nvSpPr>
        <p:spPr bwMode="auto">
          <a:xfrm flipH="1">
            <a:off x="3048000" y="44196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5" name="Text Box 13"/>
          <p:cNvSpPr txBox="1">
            <a:spLocks noChangeArrowheads="1"/>
          </p:cNvSpPr>
          <p:nvPr/>
        </p:nvSpPr>
        <p:spPr bwMode="auto">
          <a:xfrm>
            <a:off x="2555875" y="260350"/>
            <a:ext cx="6378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AU" altLang="en-US" sz="2800" b="1">
                <a:latin typeface="Bodoni MT Black" pitchFamily="18" charset="0"/>
              </a:rPr>
              <a:t>Peanut somatic embryogenesis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Microcutting propagation</a:t>
            </a:r>
            <a:endParaRPr lang="en-CA" altLang="en-US" sz="3600" smtClean="0">
              <a:cs typeface="Arial" pitchFamily="34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25963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latin typeface="Garamond" pitchFamily="18" charset="0"/>
              </a:rPr>
              <a:t>It involves the production of shoots from pre-existing meristems only.</a:t>
            </a:r>
          </a:p>
          <a:p>
            <a:pPr eaLnBrk="1" hangingPunct="1"/>
            <a:r>
              <a:rPr lang="en-US" altLang="en-US" sz="2800" smtClean="0">
                <a:latin typeface="Garamond" pitchFamily="18" charset="0"/>
              </a:rPr>
              <a:t>Requires breaking apical dominance</a:t>
            </a:r>
          </a:p>
          <a:p>
            <a:pPr eaLnBrk="1" hangingPunct="1"/>
            <a:r>
              <a:rPr lang="en-US" altLang="en-US" sz="2800" smtClean="0">
                <a:latin typeface="Garamond" pitchFamily="18" charset="0"/>
              </a:rPr>
              <a:t>This is a specialized form of organogenesis</a:t>
            </a:r>
            <a:endParaRPr lang="en-CA" altLang="en-US" sz="2800" smtClean="0">
              <a:latin typeface="Garamond" pitchFamily="18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cs typeface="Arial" pitchFamily="34" charset="0"/>
              </a:rPr>
              <a:t>Steps of Micropropagation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1534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Stage 0 – Selection &amp; preparation of the mother plant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sterilization of the plant tissue takes place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Stage I  - Initiation of culture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explant placed into growth media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Stage II - Multiplication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explant transferred to shoot media; shoots can be constantly divided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Stage III - Rooting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explant transferred to root media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Stage IV - Transfer to soil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smtClean="0">
                <a:latin typeface="Garamond" pitchFamily="18" charset="0"/>
              </a:rPr>
              <a:t>explant returned to soil; hardened 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33914</TotalTime>
  <Words>2492</Words>
  <Application>Microsoft Office PowerPoint</Application>
  <PresentationFormat>On-screen Show (4:3)</PresentationFormat>
  <Paragraphs>464</Paragraphs>
  <Slides>66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89" baseType="lpstr">
      <vt:lpstr>Arial</vt:lpstr>
      <vt:lpstr>Bodoni MT Black</vt:lpstr>
      <vt:lpstr>Comic Sans MS</vt:lpstr>
      <vt:lpstr>Garamond</vt:lpstr>
      <vt:lpstr>Gulim</vt:lpstr>
      <vt:lpstr>PMingLiU</vt:lpstr>
      <vt:lpstr>Skia</vt:lpstr>
      <vt:lpstr>Symbol</vt:lpstr>
      <vt:lpstr>Times</vt:lpstr>
      <vt:lpstr>Times New Roman</vt:lpstr>
      <vt:lpstr>Trebuchet MS</vt:lpstr>
      <vt:lpstr>Wingdings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Photo Editor Photo</vt:lpstr>
      <vt:lpstr>PowerPoint Presentation</vt:lpstr>
      <vt:lpstr>What’s the Background?</vt:lpstr>
      <vt:lpstr>PowerPoint Presentation</vt:lpstr>
      <vt:lpstr>PowerPoint Presentation</vt:lpstr>
      <vt:lpstr>What is needed? Tissue culture, both plant and animal has several critical requirements:</vt:lpstr>
      <vt:lpstr>Plant Tissue Culture</vt:lpstr>
      <vt:lpstr>PowerPoint Presentation</vt:lpstr>
      <vt:lpstr>Why?</vt:lpstr>
      <vt:lpstr>Why?</vt:lpstr>
      <vt:lpstr>Important Factors</vt:lpstr>
      <vt:lpstr>Basis for Plant Tissue Culture</vt:lpstr>
      <vt:lpstr>PowerPoint Presentation</vt:lpstr>
      <vt:lpstr>Control of in vitro culture</vt:lpstr>
      <vt:lpstr>PowerPoint Presentation</vt:lpstr>
      <vt:lpstr>Medium constituents</vt:lpstr>
      <vt:lpstr>Macronutrient salts Function of nutrients in plant growth</vt:lpstr>
      <vt:lpstr>Macro-nutrient salts </vt:lpstr>
      <vt:lpstr> Macronutrient salts Function of nutrients in plant growth </vt:lpstr>
      <vt:lpstr>Macronutrient salts Function of nutrients in plant growth</vt:lpstr>
      <vt:lpstr>Carbohydrates</vt:lpstr>
      <vt:lpstr>Photoautotrophic culture</vt:lpstr>
      <vt:lpstr>Inorganic salt formulations</vt:lpstr>
      <vt:lpstr>Vitamins</vt:lpstr>
      <vt:lpstr>Three Fundamental Abilities of Plants</vt:lpstr>
      <vt:lpstr>Why is tissue culture important?</vt:lpstr>
      <vt:lpstr>Types of In Vitro Culture  (explant based)</vt:lpstr>
      <vt:lpstr>PowerPoint Presentation</vt:lpstr>
      <vt:lpstr>PowerPoint Presentation</vt:lpstr>
      <vt:lpstr>Organ culture </vt:lpstr>
      <vt:lpstr>Shoot apical meristem culture </vt:lpstr>
      <vt:lpstr>PowerPoint Presentation</vt:lpstr>
      <vt:lpstr>PowerPoint Presentation</vt:lpstr>
      <vt:lpstr>Anther and microspore culture </vt:lpstr>
      <vt:lpstr>Callus Culture</vt:lpstr>
      <vt:lpstr>Cell suspension culture</vt:lpstr>
      <vt:lpstr>Introduction into suspension</vt:lpstr>
      <vt:lpstr>PowerPoint Presentation</vt:lpstr>
      <vt:lpstr>PowerPoint Presentation</vt:lpstr>
      <vt:lpstr>PowerPoint Presentation</vt:lpstr>
      <vt:lpstr>Plant Regeneration Pathways</vt:lpstr>
      <vt:lpstr>Organogenesis</vt:lpstr>
      <vt:lpstr>Steps in Organogenesis</vt:lpstr>
      <vt:lpstr>PowerPoint Presentation</vt:lpstr>
      <vt:lpstr>Indirect organogenesis</vt:lpstr>
      <vt:lpstr>Direct Organogenesis</vt:lpstr>
      <vt:lpstr>Somatic Embryogenesis</vt:lpstr>
      <vt:lpstr>Various terms for non-zygotic embryos</vt:lpstr>
      <vt:lpstr>Somatic Embryogenesis and Organogenesis</vt:lpstr>
      <vt:lpstr>PowerPoint Presentation</vt:lpstr>
      <vt:lpstr>PowerPoint Presentation</vt:lpstr>
      <vt:lpstr>Somatic embryogenesis differs from organogenesis</vt:lpstr>
      <vt:lpstr>PowerPoint Presentation</vt:lpstr>
      <vt:lpstr>PowerPoint Presentation</vt:lpstr>
      <vt:lpstr>Two routes to somatic embryogenesis                                       (Sharp et al., 1980)</vt:lpstr>
      <vt:lpstr>Direct somatic embryogenesis</vt:lpstr>
      <vt:lpstr>Indirect Somatic Embryogenesis</vt:lpstr>
      <vt:lpstr>Induction</vt:lpstr>
      <vt:lpstr>Development</vt:lpstr>
      <vt:lpstr>PowerPoint Presentation</vt:lpstr>
      <vt:lpstr>Maturation</vt:lpstr>
      <vt:lpstr>Germination</vt:lpstr>
      <vt:lpstr>Types of embryogenic cells</vt:lpstr>
      <vt:lpstr>Somatic embryogenesis as a means of propagation is seldom used</vt:lpstr>
      <vt:lpstr>PowerPoint Presentation</vt:lpstr>
      <vt:lpstr>Microcutting propagation</vt:lpstr>
      <vt:lpstr>Steps of Micropropagation</vt:lpstr>
    </vt:vector>
  </TitlesOfParts>
  <Company>TAMU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 Applications of Tissue Culture to Plant Improvement</dc:title>
  <dc:creator>Steve R. King</dc:creator>
  <cp:lastModifiedBy>JUST</cp:lastModifiedBy>
  <cp:revision>106</cp:revision>
  <dcterms:created xsi:type="dcterms:W3CDTF">2003-03-13T05:16:30Z</dcterms:created>
  <dcterms:modified xsi:type="dcterms:W3CDTF">2024-04-14T20:08:41Z</dcterms:modified>
</cp:coreProperties>
</file>