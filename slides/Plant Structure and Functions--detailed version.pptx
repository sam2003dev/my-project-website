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8" r:id="rId2"/>
    <p:sldId id="279" r:id="rId3"/>
    <p:sldId id="322" r:id="rId4"/>
    <p:sldId id="294" r:id="rId5"/>
    <p:sldId id="295" r:id="rId6"/>
    <p:sldId id="289" r:id="rId7"/>
    <p:sldId id="296" r:id="rId8"/>
    <p:sldId id="299" r:id="rId9"/>
    <p:sldId id="301" r:id="rId10"/>
    <p:sldId id="300" r:id="rId11"/>
    <p:sldId id="303" r:id="rId12"/>
    <p:sldId id="304" r:id="rId13"/>
    <p:sldId id="305" r:id="rId14"/>
    <p:sldId id="297" r:id="rId15"/>
    <p:sldId id="298" r:id="rId16"/>
    <p:sldId id="302" r:id="rId17"/>
    <p:sldId id="306" r:id="rId18"/>
    <p:sldId id="307" r:id="rId19"/>
    <p:sldId id="308" r:id="rId20"/>
    <p:sldId id="310" r:id="rId21"/>
    <p:sldId id="312" r:id="rId22"/>
    <p:sldId id="315" r:id="rId23"/>
    <p:sldId id="309" r:id="rId24"/>
    <p:sldId id="311" r:id="rId25"/>
    <p:sldId id="313" r:id="rId26"/>
    <p:sldId id="314" r:id="rId27"/>
    <p:sldId id="316" r:id="rId28"/>
    <p:sldId id="317" r:id="rId29"/>
    <p:sldId id="319" r:id="rId30"/>
    <p:sldId id="318" r:id="rId31"/>
    <p:sldId id="320" r:id="rId32"/>
    <p:sldId id="32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94660"/>
  </p:normalViewPr>
  <p:slideViewPr>
    <p:cSldViewPr snapToGrid="0">
      <p:cViewPr>
        <p:scale>
          <a:sx n="59" d="100"/>
          <a:sy n="59" d="100"/>
        </p:scale>
        <p:origin x="-90" y="-3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05-Mar-21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05-Mar-21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05-Mar-21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alpha val="9000"/>
          </a:schemeClr>
        </a:soli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05-Mar-21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Subtitle 4"/>
          <p:cNvSpPr txBox="1">
            <a:spLocks noGrp="1"/>
          </p:cNvSpPr>
          <p:nvPr>
            <p:ph type="subTitle" idx="1"/>
          </p:nvPr>
        </p:nvSpPr>
        <p:spPr>
          <a:xfrm>
            <a:off x="2303901" y="5031859"/>
            <a:ext cx="7271173" cy="1826141"/>
          </a:xfrm>
          <a:prstGeom prst="rect">
            <a:avLst/>
          </a:prstGeom>
          <a:noFill/>
        </p:spPr>
        <p:txBody>
          <a:bodyPr wrap="square" rtlCol="0">
            <a:spAutoFit/>
          </a:bodyPr>
          <a:lstStyle/>
          <a:p>
            <a:pPr algn="ctr"/>
            <a:r>
              <a:rPr lang="en-US" sz="3200" b="1" dirty="0" err="1" smtClean="0">
                <a:solidFill>
                  <a:schemeClr val="tx1"/>
                </a:solidFill>
                <a:latin typeface="Arial" pitchFamily="34" charset="0"/>
                <a:cs typeface="Arial" pitchFamily="34" charset="0"/>
              </a:rPr>
              <a:t>Afnan</a:t>
            </a:r>
            <a:r>
              <a:rPr lang="en-US" sz="3200" b="1" dirty="0" smtClean="0">
                <a:solidFill>
                  <a:schemeClr val="tx1"/>
                </a:solidFill>
                <a:latin typeface="Arial" pitchFamily="34" charset="0"/>
                <a:cs typeface="Arial" pitchFamily="34" charset="0"/>
              </a:rPr>
              <a:t> </a:t>
            </a:r>
            <a:r>
              <a:rPr lang="en-US" sz="3200" b="1" dirty="0" err="1" smtClean="0">
                <a:solidFill>
                  <a:schemeClr val="tx1"/>
                </a:solidFill>
                <a:latin typeface="Arial" pitchFamily="34" charset="0"/>
                <a:cs typeface="Arial" pitchFamily="34" charset="0"/>
              </a:rPr>
              <a:t>Basem</a:t>
            </a:r>
            <a:endParaRPr lang="en-US" sz="3200" b="1" dirty="0" smtClean="0">
              <a:solidFill>
                <a:schemeClr val="tx1"/>
              </a:solidFill>
              <a:latin typeface="Arial" pitchFamily="34" charset="0"/>
              <a:cs typeface="Arial" pitchFamily="34" charset="0"/>
            </a:endParaRPr>
          </a:p>
          <a:p>
            <a:pPr algn="ctr"/>
            <a:r>
              <a:rPr lang="en-US" sz="3200" b="1" dirty="0" smtClean="0">
                <a:solidFill>
                  <a:schemeClr val="tx1"/>
                </a:solidFill>
                <a:latin typeface="Arial" pitchFamily="34" charset="0"/>
                <a:cs typeface="Arial" pitchFamily="34" charset="0"/>
              </a:rPr>
              <a:t> </a:t>
            </a:r>
          </a:p>
          <a:p>
            <a:r>
              <a:rPr lang="en-US" sz="3200" b="1" dirty="0" smtClean="0">
                <a:solidFill>
                  <a:schemeClr val="tx1"/>
                </a:solidFill>
                <a:latin typeface="Arial" pitchFamily="34" charset="0"/>
                <a:cs typeface="Arial" pitchFamily="34" charset="0"/>
              </a:rPr>
              <a:t> </a:t>
            </a:r>
            <a:endParaRPr lang="en-US" sz="2000" b="1" dirty="0">
              <a:solidFill>
                <a:schemeClr val="tx1"/>
              </a:solidFill>
              <a:latin typeface="Arial" pitchFamily="34" charset="0"/>
              <a:cs typeface="Arial" pitchFamily="34" charset="0"/>
            </a:endParaRPr>
          </a:p>
        </p:txBody>
      </p:sp>
      <p:pic>
        <p:nvPicPr>
          <p:cNvPr id="7" name="image3.png" descr="C:\Users\LENOVO\Desktop\Plant lab\main_image5a2e572137e7c.jpg"/>
          <p:cNvPicPr/>
          <p:nvPr/>
        </p:nvPicPr>
        <p:blipFill>
          <a:blip r:embed="rId2" cstate="print"/>
          <a:srcRect/>
          <a:stretch>
            <a:fillRect/>
          </a:stretch>
        </p:blipFill>
        <p:spPr>
          <a:xfrm>
            <a:off x="4428308" y="0"/>
            <a:ext cx="2743200" cy="2007327"/>
          </a:xfrm>
          <a:prstGeom prst="rect">
            <a:avLst/>
          </a:prstGeom>
          <a:ln/>
        </p:spPr>
      </p:pic>
      <p:sp>
        <p:nvSpPr>
          <p:cNvPr id="8" name="Rectangle 1"/>
          <p:cNvSpPr>
            <a:spLocks noChangeArrowheads="1"/>
          </p:cNvSpPr>
          <p:nvPr/>
        </p:nvSpPr>
        <p:spPr bwMode="auto">
          <a:xfrm>
            <a:off x="1495697" y="2320835"/>
            <a:ext cx="9144000" cy="2723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ea typeface="Calibri" pitchFamily="34" charset="0"/>
                <a:cs typeface="Arial" pitchFamily="34" charset="0"/>
              </a:rPr>
              <a:t>Jordan University of Science and Technology</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Department of Biotechnology and Genetic Engineering</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ea typeface="Calibri" pitchFamily="34" charset="0"/>
                <a:cs typeface="Arial" pitchFamily="34"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pitchFamily="34" charset="0"/>
                <a:ea typeface="Calibri" pitchFamily="34" charset="0"/>
                <a:cs typeface="Arial" pitchFamily="34" charset="0"/>
              </a:rPr>
              <a:t>Plant Biotechnology Laboratory </a:t>
            </a:r>
          </a:p>
          <a:p>
            <a:pPr lvl="0" algn="ctr" eaLnBrk="0" fontAlgn="base" hangingPunct="0">
              <a:spcBef>
                <a:spcPct val="0"/>
              </a:spcBef>
              <a:spcAft>
                <a:spcPct val="0"/>
              </a:spcAft>
            </a:pPr>
            <a:r>
              <a:rPr lang="en-US" sz="2400" b="1" dirty="0" smtClean="0">
                <a:latin typeface="Arial" pitchFamily="34" charset="0"/>
                <a:cs typeface="Arial" pitchFamily="34" charset="0"/>
              </a:rPr>
              <a:t>(</a:t>
            </a:r>
            <a:r>
              <a:rPr lang="en-US" sz="3200" b="1" dirty="0" smtClean="0">
                <a:latin typeface="Arial" pitchFamily="34" charset="0"/>
                <a:ea typeface="Calibri" pitchFamily="34" charset="0"/>
                <a:cs typeface="Arial" pitchFamily="34" charset="0"/>
              </a:rPr>
              <a:t>BT 421 )</a:t>
            </a:r>
          </a:p>
          <a:p>
            <a:pPr lvl="0" algn="ctr" eaLnBrk="0" fontAlgn="base" hangingPunct="0">
              <a:spcBef>
                <a:spcPct val="0"/>
              </a:spcBef>
              <a:spcAft>
                <a:spcPct val="0"/>
              </a:spcAft>
            </a:pP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48796" y="894806"/>
            <a:ext cx="1633781" cy="646331"/>
          </a:xfrm>
          <a:prstGeom prst="rect">
            <a:avLst/>
          </a:prstGeom>
          <a:noFill/>
        </p:spPr>
        <p:txBody>
          <a:bodyPr wrap="none" rtlCol="0">
            <a:spAutoFit/>
          </a:bodyPr>
          <a:lstStyle/>
          <a:p>
            <a:pPr algn="ctr"/>
            <a:r>
              <a:rPr lang="en-US" sz="3600" b="1" dirty="0" smtClean="0">
                <a:latin typeface="Times New Roman" pitchFamily="18" charset="0"/>
                <a:cs typeface="Times New Roman" pitchFamily="18" charset="0"/>
              </a:rPr>
              <a:t>Lab (2)</a:t>
            </a:r>
            <a:endParaRPr lang="en-US" sz="3600" b="1" dirty="0">
              <a:latin typeface="Times New Roman" pitchFamily="18" charset="0"/>
              <a:cs typeface="Times New Roman" pitchFamily="18" charset="0"/>
            </a:endParaRPr>
          </a:p>
        </p:txBody>
      </p:sp>
      <p:sp>
        <p:nvSpPr>
          <p:cNvPr id="7" name="Rectangle 1"/>
          <p:cNvSpPr>
            <a:spLocks noChangeArrowheads="1"/>
          </p:cNvSpPr>
          <p:nvPr/>
        </p:nvSpPr>
        <p:spPr bwMode="auto">
          <a:xfrm>
            <a:off x="535577" y="2035758"/>
            <a:ext cx="11064240"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tabLst/>
            </a:pPr>
            <a:r>
              <a:rPr kumimoji="0" lang="en-US" sz="4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Plant structure and function</a:t>
            </a:r>
          </a:p>
          <a:p>
            <a:pPr marL="0" marR="0" lvl="0" indent="0" algn="ctr" defTabSz="914400" rtl="0" eaLnBrk="1" fontAlgn="base" latinLnBrk="0" hangingPunct="1">
              <a:lnSpc>
                <a:spcPct val="100000"/>
              </a:lnSpc>
              <a:spcBef>
                <a:spcPct val="0"/>
              </a:spcBef>
              <a:spcAft>
                <a:spcPct val="0"/>
              </a:spcAft>
              <a:buClrTx/>
              <a:buSzTx/>
              <a:tabLst/>
            </a:pPr>
            <a:r>
              <a:rPr kumimoji="0" lang="en-US" sz="4000" b="1" i="0" u="none" strike="noStrike" cap="none" normalizeH="0" baseline="0" dirty="0" smtClean="0">
                <a:ln>
                  <a:noFill/>
                </a:ln>
                <a:solidFill>
                  <a:srgbClr val="C00000"/>
                </a:solidFill>
                <a:effectLst/>
                <a:latin typeface="Times New Roman" pitchFamily="18" charset="0"/>
                <a:ea typeface="Calibri" pitchFamily="34" charset="0"/>
                <a:cs typeface="Times New Roman" pitchFamily="18" charset="0"/>
              </a:rPr>
              <a:t> (roots,</a:t>
            </a:r>
            <a:r>
              <a:rPr kumimoji="0" lang="en-US" sz="4000" b="1" i="0" u="none" strike="noStrike" cap="none" normalizeH="0" dirty="0" smtClean="0">
                <a:ln>
                  <a:noFill/>
                </a:ln>
                <a:solidFill>
                  <a:srgbClr val="C00000"/>
                </a:solidFill>
                <a:effectLst/>
                <a:latin typeface="Times New Roman" pitchFamily="18" charset="0"/>
                <a:ea typeface="Calibri" pitchFamily="34" charset="0"/>
                <a:cs typeface="Times New Roman" pitchFamily="18" charset="0"/>
              </a:rPr>
              <a:t> stems, leaves, flowers)</a:t>
            </a:r>
            <a:endParaRPr kumimoji="0" lang="en-US" sz="4800" b="1" i="0" u="none" strike="noStrike" cap="none" normalizeH="0" baseline="0" dirty="0" smtClean="0">
              <a:ln>
                <a:noFill/>
              </a:ln>
              <a:solidFill>
                <a:srgbClr val="C00000"/>
              </a:solidFill>
              <a:effectLst/>
              <a:latin typeface="Times New Roman" pitchFamily="18" charset="0"/>
              <a:cs typeface="Times New Roman" pitchFamily="18" charset="0"/>
            </a:endParaRPr>
          </a:p>
        </p:txBody>
      </p:sp>
      <p:pic>
        <p:nvPicPr>
          <p:cNvPr id="9220" name="Picture 4" descr="Plant Food Systems – Premium Plant Nutrition and Protection"/>
          <p:cNvPicPr>
            <a:picLocks noChangeAspect="1" noChangeArrowheads="1"/>
          </p:cNvPicPr>
          <p:nvPr/>
        </p:nvPicPr>
        <p:blipFill>
          <a:blip r:embed="rId2"/>
          <a:srcRect/>
          <a:stretch>
            <a:fillRect/>
          </a:stretch>
        </p:blipFill>
        <p:spPr bwMode="auto">
          <a:xfrm>
            <a:off x="4323807" y="3661415"/>
            <a:ext cx="3239588" cy="3196585"/>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457200" y="457200"/>
            <a:ext cx="1449436" cy="523220"/>
          </a:xfrm>
          <a:prstGeom prst="rect">
            <a:avLst/>
          </a:prstGeom>
          <a:noFill/>
        </p:spPr>
        <p:txBody>
          <a:bodyPr wrap="none" rtlCol="0">
            <a:spAutoFit/>
          </a:bodyPr>
          <a:lstStyle/>
          <a:p>
            <a:r>
              <a:rPr lang="en-US" sz="2800" dirty="0" smtClean="0">
                <a:solidFill>
                  <a:srgbClr val="FF0000"/>
                </a:solidFill>
                <a:latin typeface="Times New Roman" pitchFamily="18" charset="0"/>
                <a:cs typeface="Times New Roman" pitchFamily="18" charset="0"/>
              </a:rPr>
              <a:t>Outline: </a:t>
            </a:r>
            <a:endParaRPr lang="en-US" sz="2800" dirty="0">
              <a:solidFill>
                <a:srgbClr val="FF0000"/>
              </a:solidFill>
              <a:latin typeface="Times New Roman" pitchFamily="18" charset="0"/>
              <a:cs typeface="Times New Roman" pitchFamily="18" charset="0"/>
            </a:endParaRPr>
          </a:p>
        </p:txBody>
      </p:sp>
      <p:sp>
        <p:nvSpPr>
          <p:cNvPr id="5" name="TextBox 4"/>
          <p:cNvSpPr txBox="1"/>
          <p:nvPr/>
        </p:nvSpPr>
        <p:spPr>
          <a:xfrm>
            <a:off x="653143" y="1854925"/>
            <a:ext cx="8122929" cy="2345322"/>
          </a:xfrm>
          <a:prstGeom prst="rect">
            <a:avLst/>
          </a:prstGeom>
          <a:noFill/>
        </p:spPr>
        <p:txBody>
          <a:bodyPr wrap="none" rtlCol="0">
            <a:spAutoFit/>
          </a:bodyPr>
          <a:lstStyle/>
          <a:p>
            <a:pPr marL="342900" indent="-342900">
              <a:lnSpc>
                <a:spcPct val="150000"/>
              </a:lnSpc>
              <a:buAutoNum type="arabicPeriod"/>
            </a:pPr>
            <a:r>
              <a:rPr lang="en-US" sz="2000" b="1" dirty="0" smtClean="0">
                <a:latin typeface="Times New Roman" pitchFamily="18" charset="0"/>
                <a:cs typeface="Times New Roman" pitchFamily="18" charset="0"/>
              </a:rPr>
              <a:t>Plant kingdom </a:t>
            </a:r>
          </a:p>
          <a:p>
            <a:pPr marL="342900" indent="-342900">
              <a:lnSpc>
                <a:spcPct val="150000"/>
              </a:lnSpc>
              <a:buFontTx/>
              <a:buAutoNum type="arabicPeriod"/>
            </a:pPr>
            <a:r>
              <a:rPr lang="en-US" sz="2000" b="1" dirty="0" smtClean="0">
                <a:latin typeface="Times New Roman" pitchFamily="18" charset="0"/>
                <a:cs typeface="Times New Roman" pitchFamily="18" charset="0"/>
              </a:rPr>
              <a:t>Hierarchy of organization in a plant body (system , organ, tissue, cell)</a:t>
            </a:r>
          </a:p>
          <a:p>
            <a:pPr marL="342900" indent="-342900">
              <a:lnSpc>
                <a:spcPct val="150000"/>
              </a:lnSpc>
              <a:buFontTx/>
              <a:buAutoNum type="arabicPeriod"/>
            </a:pPr>
            <a:r>
              <a:rPr lang="en-US" sz="2000" b="1" dirty="0" smtClean="0">
                <a:latin typeface="Times New Roman" pitchFamily="18" charset="0"/>
                <a:cs typeface="Times New Roman" pitchFamily="18" charset="0"/>
              </a:rPr>
              <a:t>Plant organs (structure and function)</a:t>
            </a:r>
          </a:p>
          <a:p>
            <a:pPr marL="342900" indent="-342900">
              <a:lnSpc>
                <a:spcPct val="150000"/>
              </a:lnSpc>
              <a:buAutoNum type="arabicPeriod"/>
            </a:pPr>
            <a:endParaRPr lang="en-US" sz="2000" b="1" dirty="0" smtClean="0">
              <a:latin typeface="Times New Roman" pitchFamily="18" charset="0"/>
              <a:cs typeface="Times New Roman" pitchFamily="18" charset="0"/>
            </a:endParaRPr>
          </a:p>
          <a:p>
            <a:pPr marL="342900" indent="-342900">
              <a:lnSpc>
                <a:spcPct val="150000"/>
              </a:lnSpc>
              <a:buAutoNum type="arabicPeriod"/>
            </a:pPr>
            <a:endParaRPr lang="en-US" sz="2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AutoShape 2"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pSp>
        <p:nvGrpSpPr>
          <p:cNvPr id="6" name="Group 5"/>
          <p:cNvGrpSpPr/>
          <p:nvPr/>
        </p:nvGrpSpPr>
        <p:grpSpPr>
          <a:xfrm>
            <a:off x="1084217" y="0"/>
            <a:ext cx="9849394" cy="6858000"/>
            <a:chOff x="298450" y="366713"/>
            <a:chExt cx="8547100" cy="6143625"/>
          </a:xfrm>
        </p:grpSpPr>
        <p:pic>
          <p:nvPicPr>
            <p:cNvPr id="7" name="Picture 1" descr="01_13_ThreeDomains-U.jpg"/>
            <p:cNvPicPr>
              <a:picLocks noChangeAspect="1"/>
            </p:cNvPicPr>
            <p:nvPr/>
          </p:nvPicPr>
          <p:blipFill>
            <a:blip r:embed="rId2"/>
            <a:srcRect/>
            <a:stretch>
              <a:fillRect/>
            </a:stretch>
          </p:blipFill>
          <p:spPr bwMode="auto">
            <a:xfrm>
              <a:off x="298450" y="366713"/>
              <a:ext cx="8547100" cy="6143625"/>
            </a:xfrm>
            <a:prstGeom prst="rect">
              <a:avLst/>
            </a:prstGeom>
            <a:noFill/>
            <a:ln w="9525">
              <a:noFill/>
              <a:miter lim="800000"/>
              <a:headEnd/>
              <a:tailEnd/>
            </a:ln>
          </p:spPr>
        </p:pic>
        <p:sp>
          <p:nvSpPr>
            <p:cNvPr id="8" name="Text Box 31"/>
            <p:cNvSpPr txBox="1">
              <a:spLocks noChangeArrowheads="1"/>
            </p:cNvSpPr>
            <p:nvPr/>
          </p:nvSpPr>
          <p:spPr bwMode="auto">
            <a:xfrm>
              <a:off x="406400" y="446088"/>
              <a:ext cx="2263775" cy="285750"/>
            </a:xfrm>
            <a:prstGeom prst="rect">
              <a:avLst/>
            </a:prstGeom>
            <a:noFill/>
            <a:ln w="9525">
              <a:noFill/>
              <a:miter lim="800000"/>
              <a:headEnd/>
              <a:tailEnd/>
            </a:ln>
          </p:spPr>
          <p:txBody>
            <a:bodyPr wrap="none" lIns="0" tIns="0" rIns="0" bIns="0"/>
            <a:lstStyle/>
            <a:p>
              <a:r>
                <a:rPr lang="en-US" sz="1700" b="1">
                  <a:solidFill>
                    <a:srgbClr val="000000"/>
                  </a:solidFill>
                  <a:ea typeface="MS PGothic" pitchFamily="34" charset="-128"/>
                </a:rPr>
                <a:t>(a) Domain Bacteria</a:t>
              </a:r>
            </a:p>
          </p:txBody>
        </p:sp>
        <p:sp>
          <p:nvSpPr>
            <p:cNvPr id="9" name="Text Box 31"/>
            <p:cNvSpPr txBox="1">
              <a:spLocks noChangeArrowheads="1"/>
            </p:cNvSpPr>
            <p:nvPr/>
          </p:nvSpPr>
          <p:spPr bwMode="auto">
            <a:xfrm>
              <a:off x="419100" y="2595563"/>
              <a:ext cx="2263775" cy="285750"/>
            </a:xfrm>
            <a:prstGeom prst="rect">
              <a:avLst/>
            </a:prstGeom>
            <a:noFill/>
            <a:ln w="9525">
              <a:noFill/>
              <a:miter lim="800000"/>
              <a:headEnd/>
              <a:tailEnd/>
            </a:ln>
          </p:spPr>
          <p:txBody>
            <a:bodyPr wrap="none" lIns="0" tIns="0" rIns="0" bIns="0"/>
            <a:lstStyle/>
            <a:p>
              <a:r>
                <a:rPr lang="en-US" sz="1700" b="1">
                  <a:solidFill>
                    <a:srgbClr val="000000"/>
                  </a:solidFill>
                  <a:ea typeface="MS PGothic" pitchFamily="34" charset="-128"/>
                </a:rPr>
                <a:t>(c) Domain Eukarya</a:t>
              </a:r>
            </a:p>
          </p:txBody>
        </p:sp>
        <p:sp>
          <p:nvSpPr>
            <p:cNvPr id="10" name="Text Box 31"/>
            <p:cNvSpPr txBox="1">
              <a:spLocks noChangeArrowheads="1"/>
            </p:cNvSpPr>
            <p:nvPr/>
          </p:nvSpPr>
          <p:spPr bwMode="auto">
            <a:xfrm rot="16200000">
              <a:off x="3735387" y="1909763"/>
              <a:ext cx="557213" cy="236538"/>
            </a:xfrm>
            <a:prstGeom prst="rect">
              <a:avLst/>
            </a:prstGeom>
            <a:noFill/>
            <a:ln w="9525">
              <a:noFill/>
              <a:miter lim="800000"/>
              <a:headEnd/>
              <a:tailEnd/>
            </a:ln>
          </p:spPr>
          <p:txBody>
            <a:bodyPr wrap="none" lIns="0" tIns="0" rIns="0" bIns="0"/>
            <a:lstStyle/>
            <a:p>
              <a:pPr>
                <a:lnSpc>
                  <a:spcPct val="90000"/>
                </a:lnSpc>
              </a:pPr>
              <a:r>
                <a:rPr lang="en-US" sz="1600" b="1">
                  <a:solidFill>
                    <a:srgbClr val="000000"/>
                  </a:solidFill>
                  <a:ea typeface="MS PGothic" pitchFamily="34" charset="-128"/>
                </a:rPr>
                <a:t>2 µm</a:t>
              </a:r>
            </a:p>
          </p:txBody>
        </p:sp>
        <p:sp>
          <p:nvSpPr>
            <p:cNvPr id="11" name="Text Box 31"/>
            <p:cNvSpPr txBox="1">
              <a:spLocks noChangeArrowheads="1"/>
            </p:cNvSpPr>
            <p:nvPr/>
          </p:nvSpPr>
          <p:spPr bwMode="auto">
            <a:xfrm>
              <a:off x="4711700" y="465138"/>
              <a:ext cx="2263775" cy="285750"/>
            </a:xfrm>
            <a:prstGeom prst="rect">
              <a:avLst/>
            </a:prstGeom>
            <a:noFill/>
            <a:ln w="9525">
              <a:noFill/>
              <a:miter lim="800000"/>
              <a:headEnd/>
              <a:tailEnd/>
            </a:ln>
          </p:spPr>
          <p:txBody>
            <a:bodyPr wrap="none" lIns="0" tIns="0" rIns="0" bIns="0"/>
            <a:lstStyle/>
            <a:p>
              <a:r>
                <a:rPr lang="en-US" sz="1700" b="1">
                  <a:solidFill>
                    <a:srgbClr val="000000"/>
                  </a:solidFill>
                  <a:ea typeface="MS PGothic" pitchFamily="34" charset="-128"/>
                </a:rPr>
                <a:t>(b) Domain Archaea</a:t>
              </a:r>
            </a:p>
          </p:txBody>
        </p:sp>
        <p:sp>
          <p:nvSpPr>
            <p:cNvPr id="12" name="Text Box 31"/>
            <p:cNvSpPr txBox="1">
              <a:spLocks noChangeArrowheads="1"/>
            </p:cNvSpPr>
            <p:nvPr/>
          </p:nvSpPr>
          <p:spPr bwMode="auto">
            <a:xfrm rot="16200000">
              <a:off x="7631907" y="1794669"/>
              <a:ext cx="557212" cy="234950"/>
            </a:xfrm>
            <a:prstGeom prst="rect">
              <a:avLst/>
            </a:prstGeom>
            <a:noFill/>
            <a:ln w="9525">
              <a:noFill/>
              <a:miter lim="800000"/>
              <a:headEnd/>
              <a:tailEnd/>
            </a:ln>
          </p:spPr>
          <p:txBody>
            <a:bodyPr wrap="none" lIns="0" tIns="0" rIns="0" bIns="0"/>
            <a:lstStyle/>
            <a:p>
              <a:pPr>
                <a:lnSpc>
                  <a:spcPct val="90000"/>
                </a:lnSpc>
              </a:pPr>
              <a:r>
                <a:rPr lang="en-US" sz="1600" b="1">
                  <a:solidFill>
                    <a:srgbClr val="000000"/>
                  </a:solidFill>
                  <a:ea typeface="MS PGothic" pitchFamily="34" charset="-128"/>
                </a:rPr>
                <a:t>2 µm</a:t>
              </a:r>
            </a:p>
          </p:txBody>
        </p:sp>
        <p:sp>
          <p:nvSpPr>
            <p:cNvPr id="13" name="Text Box 31"/>
            <p:cNvSpPr txBox="1">
              <a:spLocks noChangeArrowheads="1"/>
            </p:cNvSpPr>
            <p:nvPr/>
          </p:nvSpPr>
          <p:spPr bwMode="auto">
            <a:xfrm>
              <a:off x="7053263" y="2951163"/>
              <a:ext cx="1108075" cy="555625"/>
            </a:xfrm>
            <a:prstGeom prst="rect">
              <a:avLst/>
            </a:prstGeom>
            <a:noFill/>
            <a:ln w="9525">
              <a:noFill/>
              <a:miter lim="800000"/>
              <a:headEnd/>
              <a:tailEnd/>
            </a:ln>
          </p:spPr>
          <p:txBody>
            <a:bodyPr wrap="none" lIns="0" tIns="0" rIns="0" bIns="0"/>
            <a:lstStyle/>
            <a:p>
              <a:pPr algn="l" rtl="0"/>
              <a:r>
                <a:rPr lang="en-US" sz="1700" b="1" dirty="0">
                  <a:solidFill>
                    <a:srgbClr val="000000"/>
                  </a:solidFill>
                  <a:ea typeface="MS PGothic" pitchFamily="34" charset="-128"/>
                </a:rPr>
                <a:t>Kingdom</a:t>
              </a:r>
              <a:br>
                <a:rPr lang="en-US" sz="1700" b="1" dirty="0">
                  <a:solidFill>
                    <a:srgbClr val="000000"/>
                  </a:solidFill>
                  <a:ea typeface="MS PGothic" pitchFamily="34" charset="-128"/>
                </a:rPr>
              </a:br>
              <a:r>
                <a:rPr lang="en-US" sz="1700" b="1" dirty="0" err="1">
                  <a:solidFill>
                    <a:srgbClr val="000000"/>
                  </a:solidFill>
                  <a:ea typeface="MS PGothic" pitchFamily="34" charset="-128"/>
                </a:rPr>
                <a:t>Animalia</a:t>
              </a:r>
              <a:endParaRPr lang="en-US" sz="1700" b="1" dirty="0">
                <a:solidFill>
                  <a:srgbClr val="000000"/>
                </a:solidFill>
                <a:ea typeface="MS PGothic" pitchFamily="34" charset="-128"/>
              </a:endParaRPr>
            </a:p>
          </p:txBody>
        </p:sp>
        <p:sp>
          <p:nvSpPr>
            <p:cNvPr id="14" name="Text Box 31"/>
            <p:cNvSpPr txBox="1">
              <a:spLocks noChangeArrowheads="1"/>
            </p:cNvSpPr>
            <p:nvPr/>
          </p:nvSpPr>
          <p:spPr bwMode="auto">
            <a:xfrm>
              <a:off x="685800" y="4789488"/>
              <a:ext cx="1106488" cy="555625"/>
            </a:xfrm>
            <a:prstGeom prst="rect">
              <a:avLst/>
            </a:prstGeom>
            <a:noFill/>
            <a:ln w="9525">
              <a:noFill/>
              <a:miter lim="800000"/>
              <a:headEnd/>
              <a:tailEnd/>
            </a:ln>
          </p:spPr>
          <p:txBody>
            <a:bodyPr wrap="none" lIns="0" tIns="0" rIns="0" bIns="0"/>
            <a:lstStyle/>
            <a:p>
              <a:r>
                <a:rPr lang="en-US" sz="1700" b="1">
                  <a:solidFill>
                    <a:srgbClr val="000000"/>
                  </a:solidFill>
                  <a:ea typeface="MS PGothic" pitchFamily="34" charset="-128"/>
                </a:rPr>
                <a:t>Kingdom</a:t>
              </a:r>
              <a:br>
                <a:rPr lang="en-US" sz="1700" b="1">
                  <a:solidFill>
                    <a:srgbClr val="000000"/>
                  </a:solidFill>
                  <a:ea typeface="MS PGothic" pitchFamily="34" charset="-128"/>
                </a:rPr>
              </a:br>
              <a:r>
                <a:rPr lang="en-US" sz="1700" b="1">
                  <a:solidFill>
                    <a:srgbClr val="000000"/>
                  </a:solidFill>
                  <a:ea typeface="MS PGothic" pitchFamily="34" charset="-128"/>
                </a:rPr>
                <a:t>Plantae</a:t>
              </a:r>
            </a:p>
          </p:txBody>
        </p:sp>
        <p:sp>
          <p:nvSpPr>
            <p:cNvPr id="15" name="Text Box 31"/>
            <p:cNvSpPr txBox="1">
              <a:spLocks noChangeArrowheads="1"/>
            </p:cNvSpPr>
            <p:nvPr/>
          </p:nvSpPr>
          <p:spPr bwMode="auto">
            <a:xfrm>
              <a:off x="1303338" y="5816600"/>
              <a:ext cx="1106487" cy="555625"/>
            </a:xfrm>
            <a:prstGeom prst="rect">
              <a:avLst/>
            </a:prstGeom>
            <a:noFill/>
            <a:ln w="9525">
              <a:noFill/>
              <a:miter lim="800000"/>
              <a:headEnd/>
              <a:tailEnd/>
            </a:ln>
          </p:spPr>
          <p:txBody>
            <a:bodyPr wrap="none" lIns="0" tIns="0" rIns="0" bIns="0"/>
            <a:lstStyle/>
            <a:p>
              <a:pPr algn="l" rtl="0"/>
              <a:r>
                <a:rPr lang="en-US" sz="1700" b="1">
                  <a:solidFill>
                    <a:srgbClr val="000000"/>
                  </a:solidFill>
                  <a:ea typeface="MS PGothic" pitchFamily="34" charset="-128"/>
                </a:rPr>
                <a:t>Kingdom</a:t>
              </a:r>
              <a:br>
                <a:rPr lang="en-US" sz="1700" b="1">
                  <a:solidFill>
                    <a:srgbClr val="000000"/>
                  </a:solidFill>
                  <a:ea typeface="MS PGothic" pitchFamily="34" charset="-128"/>
                </a:rPr>
              </a:br>
              <a:r>
                <a:rPr lang="en-US" sz="1700" b="1">
                  <a:solidFill>
                    <a:srgbClr val="000000"/>
                  </a:solidFill>
                  <a:ea typeface="MS PGothic" pitchFamily="34" charset="-128"/>
                </a:rPr>
                <a:t>Fungi</a:t>
              </a:r>
            </a:p>
          </p:txBody>
        </p:sp>
        <p:sp>
          <p:nvSpPr>
            <p:cNvPr id="16" name="Text Box 31"/>
            <p:cNvSpPr txBox="1">
              <a:spLocks noChangeArrowheads="1"/>
            </p:cNvSpPr>
            <p:nvPr/>
          </p:nvSpPr>
          <p:spPr bwMode="auto">
            <a:xfrm>
              <a:off x="5180013" y="6072188"/>
              <a:ext cx="876300" cy="284162"/>
            </a:xfrm>
            <a:prstGeom prst="rect">
              <a:avLst/>
            </a:prstGeom>
            <a:noFill/>
            <a:ln w="9525">
              <a:noFill/>
              <a:miter lim="800000"/>
              <a:headEnd/>
              <a:tailEnd/>
            </a:ln>
          </p:spPr>
          <p:txBody>
            <a:bodyPr wrap="none" lIns="0" tIns="0" rIns="0" bIns="0"/>
            <a:lstStyle/>
            <a:p>
              <a:pPr algn="l" rtl="0"/>
              <a:r>
                <a:rPr lang="en-US" sz="1700" b="1">
                  <a:solidFill>
                    <a:srgbClr val="000000"/>
                  </a:solidFill>
                  <a:ea typeface="MS PGothic" pitchFamily="34" charset="-128"/>
                </a:rPr>
                <a:t>Protists</a:t>
              </a:r>
            </a:p>
          </p:txBody>
        </p:sp>
        <p:sp>
          <p:nvSpPr>
            <p:cNvPr id="17" name="Isosceles Triangle 2"/>
            <p:cNvSpPr>
              <a:spLocks noChangeArrowheads="1"/>
            </p:cNvSpPr>
            <p:nvPr/>
          </p:nvSpPr>
          <p:spPr bwMode="auto">
            <a:xfrm>
              <a:off x="434975" y="4841875"/>
              <a:ext cx="177800" cy="165100"/>
            </a:xfrm>
            <a:prstGeom prst="triangle">
              <a:avLst>
                <a:gd name="adj" fmla="val 50000"/>
              </a:avLst>
            </a:prstGeom>
            <a:solidFill>
              <a:srgbClr val="1F62B0"/>
            </a:solidFill>
            <a:ln w="25400" algn="ctr">
              <a:noFill/>
              <a:round/>
              <a:headEnd/>
              <a:tailEnd/>
            </a:ln>
          </p:spPr>
          <p:txBody>
            <a:bodyPr/>
            <a:lstStyle/>
            <a:p>
              <a:endParaRPr lang="en-US">
                <a:solidFill>
                  <a:srgbClr val="000000"/>
                </a:solidFill>
                <a:latin typeface="Times" pitchFamily="18" charset="0"/>
                <a:ea typeface="MS PGothic" pitchFamily="34" charset="-128"/>
              </a:endParaRPr>
            </a:p>
          </p:txBody>
        </p:sp>
        <p:sp>
          <p:nvSpPr>
            <p:cNvPr id="18" name="Isosceles Triangle 27"/>
            <p:cNvSpPr>
              <a:spLocks noChangeArrowheads="1"/>
            </p:cNvSpPr>
            <p:nvPr/>
          </p:nvSpPr>
          <p:spPr bwMode="auto">
            <a:xfrm rot="5400000">
              <a:off x="1050925" y="5873750"/>
              <a:ext cx="177800" cy="165100"/>
            </a:xfrm>
            <a:prstGeom prst="triangle">
              <a:avLst>
                <a:gd name="adj" fmla="val 50000"/>
              </a:avLst>
            </a:prstGeom>
            <a:solidFill>
              <a:srgbClr val="1F62B0"/>
            </a:solidFill>
            <a:ln w="25400" algn="ctr">
              <a:noFill/>
              <a:round/>
              <a:headEnd/>
              <a:tailEnd/>
            </a:ln>
          </p:spPr>
          <p:txBody>
            <a:bodyPr/>
            <a:lstStyle/>
            <a:p>
              <a:endParaRPr lang="en-US">
                <a:solidFill>
                  <a:srgbClr val="000000"/>
                </a:solidFill>
                <a:latin typeface="Times" pitchFamily="18" charset="0"/>
                <a:ea typeface="MS PGothic" pitchFamily="34" charset="-128"/>
              </a:endParaRPr>
            </a:p>
          </p:txBody>
        </p:sp>
        <p:sp>
          <p:nvSpPr>
            <p:cNvPr id="19" name="Isosceles Triangle 28"/>
            <p:cNvSpPr>
              <a:spLocks noChangeArrowheads="1"/>
            </p:cNvSpPr>
            <p:nvPr/>
          </p:nvSpPr>
          <p:spPr bwMode="auto">
            <a:xfrm rot="5400000">
              <a:off x="4926013" y="6129338"/>
              <a:ext cx="177800" cy="165100"/>
            </a:xfrm>
            <a:prstGeom prst="triangle">
              <a:avLst>
                <a:gd name="adj" fmla="val 50000"/>
              </a:avLst>
            </a:prstGeom>
            <a:solidFill>
              <a:srgbClr val="1F62B0"/>
            </a:solidFill>
            <a:ln w="25400" algn="ctr">
              <a:noFill/>
              <a:round/>
              <a:headEnd/>
              <a:tailEnd/>
            </a:ln>
          </p:spPr>
          <p:txBody>
            <a:bodyPr/>
            <a:lstStyle/>
            <a:p>
              <a:endParaRPr lang="en-US">
                <a:solidFill>
                  <a:srgbClr val="000000"/>
                </a:solidFill>
                <a:latin typeface="Times" pitchFamily="18" charset="0"/>
                <a:ea typeface="MS PGothic" pitchFamily="34" charset="-128"/>
              </a:endParaRPr>
            </a:p>
          </p:txBody>
        </p:sp>
        <p:sp>
          <p:nvSpPr>
            <p:cNvPr id="20" name="Isosceles Triangle 29"/>
            <p:cNvSpPr>
              <a:spLocks noChangeArrowheads="1"/>
            </p:cNvSpPr>
            <p:nvPr/>
          </p:nvSpPr>
          <p:spPr bwMode="auto">
            <a:xfrm rot="16200000">
              <a:off x="6808788" y="3001963"/>
              <a:ext cx="177800" cy="165100"/>
            </a:xfrm>
            <a:prstGeom prst="triangle">
              <a:avLst>
                <a:gd name="adj" fmla="val 50000"/>
              </a:avLst>
            </a:prstGeom>
            <a:solidFill>
              <a:srgbClr val="1F62B0"/>
            </a:solidFill>
            <a:ln w="25400" algn="ctr">
              <a:noFill/>
              <a:round/>
              <a:headEnd/>
              <a:tailEnd/>
            </a:ln>
          </p:spPr>
          <p:txBody>
            <a:bodyPr/>
            <a:lstStyle/>
            <a:p>
              <a:endParaRPr lang="en-US">
                <a:solidFill>
                  <a:srgbClr val="000000"/>
                </a:solidFill>
                <a:latin typeface="Times" pitchFamily="18" charset="0"/>
                <a:ea typeface="MS PGothic" pitchFamily="34" charset="-128"/>
              </a:endParaRPr>
            </a:p>
          </p:txBody>
        </p:sp>
      </p:gr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AutoShape 2"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Notice No Food Or Drink Permitted in Lab OSHA Safety Sign, 10x7 inch  Plastic for Facilities by ComplianceSigns: Amazon.com: Industrial &amp;  Scientifi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9700" name="Picture 4" descr="PLANT KINGDOM INTRO – Ohio Plants"/>
          <p:cNvPicPr>
            <a:picLocks noChangeAspect="1" noChangeArrowheads="1"/>
          </p:cNvPicPr>
          <p:nvPr/>
        </p:nvPicPr>
        <p:blipFill>
          <a:blip r:embed="rId2"/>
          <a:srcRect t="10667" r="4000" b="10667"/>
          <a:stretch>
            <a:fillRect/>
          </a:stretch>
        </p:blipFill>
        <p:spPr bwMode="auto">
          <a:xfrm>
            <a:off x="-1" y="1"/>
            <a:ext cx="11158779" cy="6858000"/>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descr="Plants and animals have levels of organization for structure and function,  including cells, tissues, organs, organ systems, and the whole organism  -  ppt download"/>
          <p:cNvPicPr>
            <a:picLocks noChangeAspect="1" noChangeArrowheads="1"/>
          </p:cNvPicPr>
          <p:nvPr/>
        </p:nvPicPr>
        <p:blipFill>
          <a:blip r:embed="rId2"/>
          <a:srcRect l="13330" t="9524" r="10793" b="7619"/>
          <a:stretch>
            <a:fillRect/>
          </a:stretch>
        </p:blipFill>
        <p:spPr bwMode="auto">
          <a:xfrm>
            <a:off x="0" y="963157"/>
            <a:ext cx="7197634" cy="5894843"/>
          </a:xfrm>
          <a:prstGeom prst="rect">
            <a:avLst/>
          </a:prstGeom>
          <a:noFill/>
        </p:spPr>
      </p:pic>
      <p:sp>
        <p:nvSpPr>
          <p:cNvPr id="6" name="Rectangle 5"/>
          <p:cNvSpPr/>
          <p:nvPr/>
        </p:nvSpPr>
        <p:spPr>
          <a:xfrm>
            <a:off x="2852933" y="248194"/>
            <a:ext cx="6652719" cy="523220"/>
          </a:xfrm>
          <a:prstGeom prst="rect">
            <a:avLst/>
          </a:prstGeom>
        </p:spPr>
        <p:txBody>
          <a:bodyPr wrap="none">
            <a:spAutoFit/>
          </a:bodyPr>
          <a:lstStyle/>
          <a:p>
            <a:r>
              <a:rPr lang="en-US" sz="2800" b="1" dirty="0" smtClean="0">
                <a:latin typeface="Times New Roman" pitchFamily="18" charset="0"/>
                <a:cs typeface="Times New Roman" pitchFamily="18" charset="0"/>
              </a:rPr>
              <a:t>Hierarchy of organization in a plant body </a:t>
            </a:r>
            <a:endParaRPr lang="en-US" sz="2800" dirty="0">
              <a:latin typeface="Times New Roman" pitchFamily="18" charset="0"/>
              <a:cs typeface="Times New Roman" pitchFamily="18" charset="0"/>
            </a:endParaRPr>
          </a:p>
        </p:txBody>
      </p:sp>
      <p:sp>
        <p:nvSpPr>
          <p:cNvPr id="5" name="Rectangle 4"/>
          <p:cNvSpPr/>
          <p:nvPr/>
        </p:nvSpPr>
        <p:spPr>
          <a:xfrm>
            <a:off x="6862355" y="1849121"/>
            <a:ext cx="4802777" cy="1938992"/>
          </a:xfrm>
          <a:prstGeom prst="rect">
            <a:avLst/>
          </a:prstGeom>
        </p:spPr>
        <p:txBody>
          <a:bodyPr wrap="square">
            <a:spAutoFit/>
          </a:bodyPr>
          <a:lstStyle/>
          <a:p>
            <a:r>
              <a:rPr lang="en-US" sz="2400" dirty="0" smtClean="0">
                <a:solidFill>
                  <a:srgbClr val="FF0000"/>
                </a:solidFill>
                <a:latin typeface="Times New Roman" pitchFamily="18" charset="0"/>
                <a:cs typeface="Times New Roman" pitchFamily="18" charset="0"/>
              </a:rPr>
              <a:t>Plants are made of organs, which in turn are made of tissues. plant tissue, like ours, are constructed of specialized cells, which in turn contain specific organelles. </a:t>
            </a:r>
            <a:endParaRPr lang="en-US" sz="24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772" name="Picture 4" descr="Picture: a plant and its parts | Plant Structure Infographic Diagram  Including All Parts Shoot Root Systems — Stock Vector © udaix #209552446"/>
          <p:cNvPicPr>
            <a:picLocks noChangeAspect="1" noChangeArrowheads="1"/>
          </p:cNvPicPr>
          <p:nvPr/>
        </p:nvPicPr>
        <p:blipFill>
          <a:blip r:embed="rId2"/>
          <a:srcRect r="2060" b="6861"/>
          <a:stretch>
            <a:fillRect/>
          </a:stretch>
        </p:blipFill>
        <p:spPr bwMode="auto">
          <a:xfrm>
            <a:off x="587830" y="0"/>
            <a:ext cx="4689566" cy="6793420"/>
          </a:xfrm>
          <a:prstGeom prst="rect">
            <a:avLst/>
          </a:prstGeom>
          <a:noFill/>
        </p:spPr>
      </p:pic>
      <p:sp>
        <p:nvSpPr>
          <p:cNvPr id="4" name="TextBox 3"/>
          <p:cNvSpPr txBox="1"/>
          <p:nvPr/>
        </p:nvSpPr>
        <p:spPr>
          <a:xfrm>
            <a:off x="6257108" y="2090058"/>
            <a:ext cx="2007281" cy="1569660"/>
          </a:xfrm>
          <a:prstGeom prst="rect">
            <a:avLst/>
          </a:prstGeom>
          <a:noFill/>
        </p:spPr>
        <p:txBody>
          <a:bodyPr wrap="none" rtlCol="0">
            <a:spAutoFit/>
          </a:bodyPr>
          <a:lstStyle/>
          <a:p>
            <a:r>
              <a:rPr lang="en-US" sz="2400" b="1" dirty="0" smtClean="0">
                <a:latin typeface="Times New Roman" pitchFamily="18" charset="0"/>
                <a:cs typeface="Times New Roman" pitchFamily="18" charset="0"/>
              </a:rPr>
              <a:t>Shoot system:</a:t>
            </a:r>
          </a:p>
          <a:p>
            <a:pPr marL="342900" indent="-342900">
              <a:buAutoNum type="arabicPeriod"/>
            </a:pPr>
            <a:r>
              <a:rPr lang="en-US" sz="2400" b="1" dirty="0" smtClean="0">
                <a:latin typeface="Times New Roman" pitchFamily="18" charset="0"/>
                <a:cs typeface="Times New Roman" pitchFamily="18" charset="0"/>
              </a:rPr>
              <a:t>Stem</a:t>
            </a:r>
          </a:p>
          <a:p>
            <a:pPr marL="342900" indent="-342900">
              <a:buAutoNum type="arabicPeriod"/>
            </a:pPr>
            <a:r>
              <a:rPr lang="en-US" sz="2400" b="1" dirty="0" smtClean="0">
                <a:latin typeface="Times New Roman" pitchFamily="18" charset="0"/>
                <a:cs typeface="Times New Roman" pitchFamily="18" charset="0"/>
              </a:rPr>
              <a:t>Leaf</a:t>
            </a:r>
          </a:p>
          <a:p>
            <a:pPr marL="342900" indent="-342900">
              <a:buAutoNum type="arabicPeriod"/>
            </a:pPr>
            <a:r>
              <a:rPr lang="en-US" sz="2400" b="1" dirty="0" smtClean="0">
                <a:latin typeface="Times New Roman" pitchFamily="18" charset="0"/>
                <a:cs typeface="Times New Roman" pitchFamily="18" charset="0"/>
              </a:rPr>
              <a:t>flower</a:t>
            </a:r>
            <a:endParaRPr lang="en-US" sz="2400" b="1" dirty="0">
              <a:latin typeface="Times New Roman" pitchFamily="18" charset="0"/>
              <a:cs typeface="Times New Roman" pitchFamily="18" charset="0"/>
            </a:endParaRPr>
          </a:p>
        </p:txBody>
      </p:sp>
      <p:sp>
        <p:nvSpPr>
          <p:cNvPr id="5" name="TextBox 4"/>
          <p:cNvSpPr txBox="1"/>
          <p:nvPr/>
        </p:nvSpPr>
        <p:spPr>
          <a:xfrm>
            <a:off x="6230982" y="4963886"/>
            <a:ext cx="2121928" cy="1569660"/>
          </a:xfrm>
          <a:prstGeom prst="rect">
            <a:avLst/>
          </a:prstGeom>
          <a:noFill/>
        </p:spPr>
        <p:txBody>
          <a:bodyPr wrap="none" rtlCol="0">
            <a:spAutoFit/>
          </a:bodyPr>
          <a:lstStyle/>
          <a:p>
            <a:r>
              <a:rPr lang="en-US" sz="2400" b="1" dirty="0" smtClean="0">
                <a:latin typeface="Times New Roman" pitchFamily="18" charset="0"/>
                <a:cs typeface="Times New Roman" pitchFamily="18" charset="0"/>
              </a:rPr>
              <a:t>Root system:</a:t>
            </a:r>
          </a:p>
          <a:p>
            <a:pPr marL="342900" indent="-342900">
              <a:buAutoNum type="arabicPeriod"/>
            </a:pPr>
            <a:r>
              <a:rPr lang="en-US" sz="2400" b="1" dirty="0" smtClean="0">
                <a:latin typeface="Times New Roman" pitchFamily="18" charset="0"/>
                <a:cs typeface="Times New Roman" pitchFamily="18" charset="0"/>
              </a:rPr>
              <a:t>Tap root</a:t>
            </a:r>
          </a:p>
          <a:p>
            <a:pPr marL="342900" indent="-342900">
              <a:buAutoNum type="arabicPeriod"/>
            </a:pPr>
            <a:r>
              <a:rPr lang="en-US" sz="2400" b="1" dirty="0" smtClean="0">
                <a:latin typeface="Times New Roman" pitchFamily="18" charset="0"/>
                <a:cs typeface="Times New Roman" pitchFamily="18" charset="0"/>
              </a:rPr>
              <a:t>Lateral root</a:t>
            </a:r>
          </a:p>
          <a:p>
            <a:pPr marL="342900" indent="-342900">
              <a:buAutoNum type="arabicPeriod"/>
            </a:pPr>
            <a:r>
              <a:rPr lang="en-US" sz="2400" b="1" dirty="0" smtClean="0">
                <a:latin typeface="Times New Roman" pitchFamily="18" charset="0"/>
                <a:cs typeface="Times New Roman" pitchFamily="18" charset="0"/>
              </a:rPr>
              <a:t>Root hairs</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602" name="Picture 2" descr="Plant Tissues, Structure and Function - ppt video online download"/>
          <p:cNvPicPr>
            <a:picLocks noChangeAspect="1" noChangeArrowheads="1"/>
          </p:cNvPicPr>
          <p:nvPr/>
        </p:nvPicPr>
        <p:blipFill>
          <a:blip r:embed="rId2"/>
          <a:srcRect/>
          <a:stretch>
            <a:fillRect/>
          </a:stretch>
        </p:blipFill>
        <p:spPr bwMode="auto">
          <a:xfrm>
            <a:off x="3238410" y="195943"/>
            <a:ext cx="8809899" cy="6607426"/>
          </a:xfrm>
          <a:prstGeom prst="rect">
            <a:avLst/>
          </a:prstGeom>
          <a:noFill/>
        </p:spPr>
      </p:pic>
      <p:sp>
        <p:nvSpPr>
          <p:cNvPr id="4" name="TextBox 3"/>
          <p:cNvSpPr txBox="1"/>
          <p:nvPr/>
        </p:nvSpPr>
        <p:spPr>
          <a:xfrm>
            <a:off x="300446" y="261257"/>
            <a:ext cx="2180405" cy="523220"/>
          </a:xfrm>
          <a:prstGeom prst="rect">
            <a:avLst/>
          </a:prstGeom>
          <a:noFill/>
        </p:spPr>
        <p:txBody>
          <a:bodyPr wrap="none" rtlCol="0">
            <a:spAutoFit/>
          </a:bodyPr>
          <a:lstStyle/>
          <a:p>
            <a:r>
              <a:rPr lang="en-US" sz="2800" b="1" dirty="0" smtClean="0">
                <a:latin typeface="Times New Roman" pitchFamily="18" charset="0"/>
                <a:cs typeface="Times New Roman" pitchFamily="18" charset="0"/>
              </a:rPr>
              <a:t>Plant tissues </a:t>
            </a:r>
            <a:endParaRPr lang="en-US" sz="2800" b="1" dirty="0">
              <a:latin typeface="Times New Roman" pitchFamily="18" charset="0"/>
              <a:cs typeface="Times New Roman" pitchFamily="18" charset="0"/>
            </a:endParaRPr>
          </a:p>
        </p:txBody>
      </p:sp>
      <p:sp>
        <p:nvSpPr>
          <p:cNvPr id="5" name="TextBox 4"/>
          <p:cNvSpPr txBox="1"/>
          <p:nvPr/>
        </p:nvSpPr>
        <p:spPr>
          <a:xfrm>
            <a:off x="431074" y="1672045"/>
            <a:ext cx="5112297" cy="2554545"/>
          </a:xfrm>
          <a:prstGeom prst="rect">
            <a:avLst/>
          </a:prstGeom>
          <a:noFill/>
        </p:spPr>
        <p:txBody>
          <a:bodyPr wrap="none" rtlCol="0">
            <a:spAutoFit/>
          </a:bodyPr>
          <a:lstStyle/>
          <a:p>
            <a:pPr marL="342900" indent="-342900">
              <a:buAutoNum type="arabicPeriod"/>
            </a:pPr>
            <a:r>
              <a:rPr lang="en-US" sz="2000" dirty="0" smtClean="0">
                <a:latin typeface="Times New Roman" pitchFamily="18" charset="0"/>
                <a:cs typeface="Times New Roman" pitchFamily="18" charset="0"/>
              </a:rPr>
              <a:t>Dermal tissue (epidermis, cuticle, </a:t>
            </a:r>
            <a:r>
              <a:rPr lang="en-US" sz="2000" dirty="0" err="1" smtClean="0">
                <a:latin typeface="Times New Roman" pitchFamily="18" charset="0"/>
                <a:cs typeface="Times New Roman" pitchFamily="18" charset="0"/>
              </a:rPr>
              <a:t>periderm</a:t>
            </a:r>
            <a:r>
              <a:rPr lang="en-US" sz="2000" dirty="0" smtClean="0">
                <a:latin typeface="Times New Roman" pitchFamily="18" charset="0"/>
                <a:cs typeface="Times New Roman" pitchFamily="18" charset="0"/>
              </a:rPr>
              <a:t>).</a:t>
            </a:r>
          </a:p>
          <a:p>
            <a:pPr marL="457200" indent="-457200">
              <a:buFont typeface="+mj-lt"/>
              <a:buAutoNum type="arabicPeriod"/>
            </a:pPr>
            <a:endParaRPr lang="en-US" sz="2000" dirty="0" smtClean="0">
              <a:latin typeface="Times New Roman" pitchFamily="18" charset="0"/>
              <a:cs typeface="Times New Roman" pitchFamily="18" charset="0"/>
            </a:endParaRPr>
          </a:p>
          <a:p>
            <a:pPr marL="342900" indent="-342900">
              <a:buAutoNum type="arabicPeriod"/>
            </a:pPr>
            <a:r>
              <a:rPr lang="en-US" sz="2000" dirty="0" smtClean="0">
                <a:latin typeface="Times New Roman" pitchFamily="18" charset="0"/>
                <a:cs typeface="Times New Roman" pitchFamily="18" charset="0"/>
              </a:rPr>
              <a:t>Vascular tissue (xylem, phloem).</a:t>
            </a:r>
          </a:p>
          <a:p>
            <a:pPr marL="457200" indent="-457200">
              <a:buFont typeface="+mj-lt"/>
              <a:buAutoNum type="arabicPeriod"/>
            </a:pPr>
            <a:endParaRPr lang="en-US" sz="2000" dirty="0" smtClean="0">
              <a:latin typeface="Times New Roman" pitchFamily="18" charset="0"/>
              <a:cs typeface="Times New Roman" pitchFamily="18" charset="0"/>
            </a:endParaRPr>
          </a:p>
          <a:p>
            <a:pPr marL="342900" indent="-342900">
              <a:buAutoNum type="arabicPeriod"/>
            </a:pPr>
            <a:r>
              <a:rPr lang="en-US" sz="2000" dirty="0" smtClean="0">
                <a:latin typeface="Times New Roman" pitchFamily="18" charset="0"/>
                <a:cs typeface="Times New Roman" pitchFamily="18" charset="0"/>
              </a:rPr>
              <a:t>Ground tissue (pith, cortex).</a:t>
            </a:r>
          </a:p>
          <a:p>
            <a:pPr marL="457200" indent="-457200">
              <a:buFont typeface="+mj-lt"/>
              <a:buAutoNum type="arabicPeriod"/>
            </a:pPr>
            <a:endParaRPr lang="en-US" sz="2000" dirty="0" smtClean="0">
              <a:latin typeface="Times New Roman" pitchFamily="18" charset="0"/>
              <a:cs typeface="Times New Roman" pitchFamily="18" charset="0"/>
            </a:endParaRPr>
          </a:p>
          <a:p>
            <a:pPr marL="342900" indent="-342900">
              <a:buAutoNum type="arabicPeriod"/>
            </a:pPr>
            <a:r>
              <a:rPr lang="en-US" sz="2000" dirty="0" err="1" smtClean="0">
                <a:latin typeface="Times New Roman" pitchFamily="18" charset="0"/>
                <a:cs typeface="Times New Roman" pitchFamily="18" charset="0"/>
              </a:rPr>
              <a:t>Meristem</a:t>
            </a:r>
            <a:r>
              <a:rPr lang="en-US" sz="2000" dirty="0" smtClean="0">
                <a:latin typeface="Times New Roman" pitchFamily="18" charset="0"/>
                <a:cs typeface="Times New Roman" pitchFamily="18" charset="0"/>
              </a:rPr>
              <a:t>.</a:t>
            </a:r>
          </a:p>
          <a:p>
            <a:pPr marL="342900" indent="-342900">
              <a:buAutoNum type="arabicPeriod"/>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0" y="0"/>
            <a:ext cx="11595463" cy="1569660"/>
          </a:xfrm>
          <a:prstGeom prst="rect">
            <a:avLst/>
          </a:prstGeom>
        </p:spPr>
        <p:txBody>
          <a:bodyPr wrap="square">
            <a:spAutoFit/>
          </a:bodyPr>
          <a:lstStyle/>
          <a:p>
            <a:r>
              <a:rPr lang="en-US" sz="2400" b="1" dirty="0" err="1" smtClean="0">
                <a:solidFill>
                  <a:srgbClr val="FF0000"/>
                </a:solidFill>
                <a:latin typeface="Times New Roman" pitchFamily="18" charset="0"/>
                <a:cs typeface="Times New Roman" pitchFamily="18" charset="0"/>
              </a:rPr>
              <a:t>Meristematic</a:t>
            </a:r>
            <a:r>
              <a:rPr lang="en-US" sz="2400" b="1" dirty="0" smtClean="0">
                <a:solidFill>
                  <a:srgbClr val="FF0000"/>
                </a:solidFill>
                <a:latin typeface="Times New Roman" pitchFamily="18" charset="0"/>
                <a:cs typeface="Times New Roman" pitchFamily="18" charset="0"/>
              </a:rPr>
              <a:t> tissues</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region of cells capable of division and growth in plants. </a:t>
            </a:r>
            <a:r>
              <a:rPr lang="en-US" sz="2400" dirty="0" err="1" smtClean="0">
                <a:latin typeface="Times New Roman" pitchFamily="18" charset="0"/>
                <a:cs typeface="Times New Roman" pitchFamily="18" charset="0"/>
              </a:rPr>
              <a:t>Meristems</a:t>
            </a:r>
            <a:r>
              <a:rPr lang="en-US" sz="2400" dirty="0" smtClean="0">
                <a:latin typeface="Times New Roman" pitchFamily="18" charset="0"/>
                <a:cs typeface="Times New Roman" pitchFamily="18" charset="0"/>
              </a:rPr>
              <a:t> are classified by their location in the plant as </a:t>
            </a:r>
            <a:r>
              <a:rPr lang="en-US" sz="2400" dirty="0" smtClean="0">
                <a:solidFill>
                  <a:srgbClr val="FF0000"/>
                </a:solidFill>
                <a:latin typeface="Times New Roman" pitchFamily="18" charset="0"/>
                <a:cs typeface="Times New Roman" pitchFamily="18" charset="0"/>
              </a:rPr>
              <a:t>apical</a:t>
            </a:r>
            <a:r>
              <a:rPr lang="en-US" sz="2400" dirty="0" smtClean="0">
                <a:latin typeface="Times New Roman" pitchFamily="18" charset="0"/>
                <a:cs typeface="Times New Roman" pitchFamily="18" charset="0"/>
              </a:rPr>
              <a:t> (located at root and shoot tips), </a:t>
            </a:r>
            <a:r>
              <a:rPr lang="en-US" sz="2400" dirty="0" smtClean="0">
                <a:solidFill>
                  <a:srgbClr val="FF0000"/>
                </a:solidFill>
                <a:latin typeface="Times New Roman" pitchFamily="18" charset="0"/>
                <a:cs typeface="Times New Roman" pitchFamily="18" charset="0"/>
              </a:rPr>
              <a:t>lateral</a:t>
            </a:r>
            <a:r>
              <a:rPr lang="en-US" sz="2400" dirty="0" smtClean="0">
                <a:latin typeface="Times New Roman" pitchFamily="18" charset="0"/>
                <a:cs typeface="Times New Roman" pitchFamily="18" charset="0"/>
              </a:rPr>
              <a:t> (in the vascular and cork cambia), and</a:t>
            </a:r>
            <a:r>
              <a:rPr lang="en-US" sz="2400" dirty="0" smtClean="0">
                <a:solidFill>
                  <a:srgbClr val="FF0000"/>
                </a:solidFill>
                <a:latin typeface="Times New Roman" pitchFamily="18" charset="0"/>
                <a:cs typeface="Times New Roman" pitchFamily="18" charset="0"/>
              </a:rPr>
              <a:t> intercalary </a:t>
            </a:r>
            <a:r>
              <a:rPr lang="en-US" sz="2400" dirty="0" smtClean="0">
                <a:latin typeface="Times New Roman" pitchFamily="18" charset="0"/>
                <a:cs typeface="Times New Roman" pitchFamily="18" charset="0"/>
              </a:rPr>
              <a:t>(at internodes, or stem regions between the places at which leaves attach, and leaf bases.</a:t>
            </a:r>
            <a:endParaRPr lang="en-US" sz="2400" dirty="0">
              <a:latin typeface="Times New Roman" pitchFamily="18" charset="0"/>
              <a:cs typeface="Times New Roman" pitchFamily="18" charset="0"/>
            </a:endParaRPr>
          </a:p>
        </p:txBody>
      </p:sp>
      <p:pic>
        <p:nvPicPr>
          <p:cNvPr id="37892" name="Picture 4" descr="Meristematic tissue vector illustration - VectorMine"/>
          <p:cNvPicPr>
            <a:picLocks noChangeAspect="1" noChangeArrowheads="1"/>
          </p:cNvPicPr>
          <p:nvPr/>
        </p:nvPicPr>
        <p:blipFill>
          <a:blip r:embed="rId2"/>
          <a:srcRect t="15127" r="-369"/>
          <a:stretch>
            <a:fillRect/>
          </a:stretch>
        </p:blipFill>
        <p:spPr bwMode="auto">
          <a:xfrm>
            <a:off x="7030326" y="1827010"/>
            <a:ext cx="5161674" cy="4364783"/>
          </a:xfrm>
          <a:prstGeom prst="rect">
            <a:avLst/>
          </a:prstGeom>
          <a:noFill/>
        </p:spPr>
      </p:pic>
      <p:pic>
        <p:nvPicPr>
          <p:cNvPr id="37894" name="Picture 6" descr="Root Apical Meristem | Macrame plant hanger, Macrame plant, Root"/>
          <p:cNvPicPr>
            <a:picLocks noChangeAspect="1" noChangeArrowheads="1"/>
          </p:cNvPicPr>
          <p:nvPr/>
        </p:nvPicPr>
        <p:blipFill>
          <a:blip r:embed="rId3"/>
          <a:srcRect/>
          <a:stretch>
            <a:fillRect/>
          </a:stretch>
        </p:blipFill>
        <p:spPr bwMode="auto">
          <a:xfrm>
            <a:off x="209005" y="1972491"/>
            <a:ext cx="6839856" cy="4245429"/>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4" name="Picture 2" descr="7.3- Eukaryotic Plant Cell Diagram | Quizlet"/>
          <p:cNvPicPr>
            <a:picLocks noChangeAspect="1" noChangeArrowheads="1"/>
          </p:cNvPicPr>
          <p:nvPr/>
        </p:nvPicPr>
        <p:blipFill>
          <a:blip r:embed="rId2"/>
          <a:srcRect/>
          <a:stretch>
            <a:fillRect/>
          </a:stretch>
        </p:blipFill>
        <p:spPr bwMode="auto">
          <a:xfrm>
            <a:off x="1" y="0"/>
            <a:ext cx="8151222" cy="6858000"/>
          </a:xfrm>
          <a:prstGeom prst="rect">
            <a:avLst/>
          </a:prstGeom>
          <a:noFill/>
        </p:spPr>
      </p:pic>
      <p:sp>
        <p:nvSpPr>
          <p:cNvPr id="3" name="Text Box 43"/>
          <p:cNvSpPr txBox="1">
            <a:spLocks noChangeArrowheads="1"/>
          </p:cNvSpPr>
          <p:nvPr/>
        </p:nvSpPr>
        <p:spPr bwMode="auto">
          <a:xfrm>
            <a:off x="8011503" y="415152"/>
            <a:ext cx="3002407" cy="1144708"/>
          </a:xfrm>
          <a:prstGeom prst="rect">
            <a:avLst/>
          </a:prstGeom>
          <a:noFill/>
          <a:ln w="9525">
            <a:noFill/>
            <a:miter lim="800000"/>
            <a:headEnd/>
            <a:tailEnd/>
          </a:ln>
        </p:spPr>
        <p:txBody>
          <a:bodyPr wrap="none" lIns="0" tIns="0" rIns="0" bIns="0"/>
          <a:lstStyle/>
          <a:p>
            <a:pPr marL="342900" indent="-342900" algn="l" rtl="0">
              <a:buFontTx/>
              <a:buAutoNum type="alphaLcParenBoth"/>
            </a:pPr>
            <a:r>
              <a:rPr lang="en-US" sz="2000" b="1" dirty="0">
                <a:latin typeface="Calibri" pitchFamily="34" charset="0"/>
                <a:ea typeface="Geneva"/>
                <a:cs typeface="Geneva"/>
              </a:rPr>
              <a:t>Plant cells have unique organelles:</a:t>
            </a:r>
          </a:p>
          <a:p>
            <a:pPr marL="342900" indent="-342900" algn="l" rtl="0"/>
            <a:r>
              <a:rPr lang="en-US" sz="2000" b="1" u="sng" dirty="0" smtClean="0">
                <a:solidFill>
                  <a:schemeClr val="accent2"/>
                </a:solidFill>
                <a:latin typeface="Calibri" pitchFamily="34" charset="0"/>
                <a:ea typeface="Geneva"/>
                <a:cs typeface="Geneva"/>
              </a:rPr>
              <a:t>cell </a:t>
            </a:r>
            <a:r>
              <a:rPr lang="en-US" sz="2000" b="1" u="sng" dirty="0">
                <a:solidFill>
                  <a:schemeClr val="accent2"/>
                </a:solidFill>
                <a:latin typeface="Calibri" pitchFamily="34" charset="0"/>
                <a:ea typeface="Geneva"/>
                <a:cs typeface="Geneva"/>
              </a:rPr>
              <a:t>walls, vacuoles, and </a:t>
            </a:r>
            <a:r>
              <a:rPr lang="en-US" sz="2000" b="1" u="sng" dirty="0" smtClean="0">
                <a:solidFill>
                  <a:schemeClr val="accent2"/>
                </a:solidFill>
                <a:latin typeface="Calibri" pitchFamily="34" charset="0"/>
                <a:ea typeface="Geneva"/>
                <a:cs typeface="Geneva"/>
              </a:rPr>
              <a:t>chloroplasts</a:t>
            </a:r>
            <a:endParaRPr lang="en-US" sz="2000" b="1" dirty="0">
              <a:latin typeface="Calibri" pitchFamily="34" charset="0"/>
              <a:ea typeface="Geneva"/>
              <a:cs typeface="Geneva"/>
            </a:endParaRPr>
          </a:p>
        </p:txBody>
      </p:sp>
      <p:sp>
        <p:nvSpPr>
          <p:cNvPr id="4" name="Text Box 43"/>
          <p:cNvSpPr txBox="1">
            <a:spLocks noChangeArrowheads="1"/>
          </p:cNvSpPr>
          <p:nvPr/>
        </p:nvSpPr>
        <p:spPr bwMode="auto">
          <a:xfrm>
            <a:off x="8050892" y="1723844"/>
            <a:ext cx="3340100" cy="603250"/>
          </a:xfrm>
          <a:prstGeom prst="rect">
            <a:avLst/>
          </a:prstGeom>
          <a:noFill/>
          <a:ln w="9525">
            <a:noFill/>
            <a:miter lim="800000"/>
            <a:headEnd/>
            <a:tailEnd/>
          </a:ln>
        </p:spPr>
        <p:txBody>
          <a:bodyPr wrap="none" lIns="0" tIns="0" rIns="0" bIns="0"/>
          <a:lstStyle/>
          <a:p>
            <a:pPr algn="l" rtl="0"/>
            <a:r>
              <a:rPr lang="en-US" sz="2000" b="1" dirty="0">
                <a:latin typeface="Calibri" pitchFamily="34" charset="0"/>
                <a:ea typeface="Geneva"/>
                <a:cs typeface="Geneva"/>
              </a:rPr>
              <a:t>(b) Adjacent plant cells are connected</a:t>
            </a:r>
          </a:p>
          <a:p>
            <a:pPr algn="l" rtl="0"/>
            <a:r>
              <a:rPr lang="en-US" sz="2000" b="1" dirty="0">
                <a:latin typeface="Calibri" pitchFamily="34" charset="0"/>
                <a:ea typeface="Geneva"/>
                <a:cs typeface="Geneva"/>
              </a:rPr>
              <a:t>by </a:t>
            </a:r>
            <a:r>
              <a:rPr lang="en-US" sz="2000" b="1" u="sng" dirty="0" err="1">
                <a:solidFill>
                  <a:schemeClr val="accent2"/>
                </a:solidFill>
                <a:latin typeface="Calibri" pitchFamily="34" charset="0"/>
                <a:ea typeface="Geneva"/>
                <a:cs typeface="Geneva"/>
              </a:rPr>
              <a:t>plasmodesmata</a:t>
            </a:r>
            <a:r>
              <a:rPr lang="en-US" sz="2000" b="1" u="sng" dirty="0">
                <a:solidFill>
                  <a:schemeClr val="accent2"/>
                </a:solidFill>
                <a:latin typeface="Calibri" pitchFamily="34" charset="0"/>
                <a:ea typeface="Geneva"/>
                <a:cs typeface="Geneva"/>
              </a:rPr>
              <a:t>.</a:t>
            </a: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2" name="Picture 4" descr="172 Vascular Tissue Illustrations &amp; Clip Art - iStock"/>
          <p:cNvPicPr>
            <a:picLocks noChangeAspect="1" noChangeArrowheads="1"/>
          </p:cNvPicPr>
          <p:nvPr/>
        </p:nvPicPr>
        <p:blipFill>
          <a:blip r:embed="rId2"/>
          <a:srcRect/>
          <a:stretch>
            <a:fillRect/>
          </a:stretch>
        </p:blipFill>
        <p:spPr bwMode="auto">
          <a:xfrm>
            <a:off x="6270170" y="1436914"/>
            <a:ext cx="6072507" cy="5427551"/>
          </a:xfrm>
          <a:prstGeom prst="rect">
            <a:avLst/>
          </a:prstGeom>
          <a:noFill/>
        </p:spPr>
      </p:pic>
      <p:pic>
        <p:nvPicPr>
          <p:cNvPr id="7174" name="Picture 6" descr="Parenchyma Collenchyma And Sclerenchyma Cells Photos Download JPG, PNG,  GIF, RAW, TIFF, PSD, PDF and Watch Online"/>
          <p:cNvPicPr>
            <a:picLocks noChangeAspect="1" noChangeArrowheads="1"/>
          </p:cNvPicPr>
          <p:nvPr/>
        </p:nvPicPr>
        <p:blipFill>
          <a:blip r:embed="rId3"/>
          <a:srcRect/>
          <a:stretch>
            <a:fillRect/>
          </a:stretch>
        </p:blipFill>
        <p:spPr bwMode="auto">
          <a:xfrm>
            <a:off x="1280159" y="1515292"/>
            <a:ext cx="5187097" cy="5342710"/>
          </a:xfrm>
          <a:prstGeom prst="rect">
            <a:avLst/>
          </a:prstGeom>
          <a:noFill/>
        </p:spPr>
      </p:pic>
      <p:sp>
        <p:nvSpPr>
          <p:cNvPr id="5" name="TextBox 4"/>
          <p:cNvSpPr txBox="1"/>
          <p:nvPr/>
        </p:nvSpPr>
        <p:spPr>
          <a:xfrm>
            <a:off x="901336" y="470263"/>
            <a:ext cx="1838965" cy="523220"/>
          </a:xfrm>
          <a:prstGeom prst="rect">
            <a:avLst/>
          </a:prstGeom>
          <a:noFill/>
        </p:spPr>
        <p:txBody>
          <a:bodyPr wrap="none" rtlCol="0">
            <a:spAutoFit/>
          </a:bodyPr>
          <a:lstStyle/>
          <a:p>
            <a:r>
              <a:rPr lang="en-US" sz="2800" b="1" dirty="0" smtClean="0">
                <a:latin typeface="Times New Roman" pitchFamily="18" charset="0"/>
                <a:cs typeface="Times New Roman" pitchFamily="18" charset="0"/>
              </a:rPr>
              <a:t>Plant cells </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descr="Plant Structure, Growth, and Development - ppt download"/>
          <p:cNvPicPr>
            <a:picLocks noChangeAspect="1" noChangeArrowheads="1"/>
          </p:cNvPicPr>
          <p:nvPr/>
        </p:nvPicPr>
        <p:blipFill>
          <a:blip r:embed="rId2"/>
          <a:srcRect/>
          <a:stretch>
            <a:fillRect/>
          </a:stretch>
        </p:blipFill>
        <p:spPr bwMode="auto">
          <a:xfrm>
            <a:off x="888274" y="0"/>
            <a:ext cx="9483633" cy="6838406"/>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descr="wJ. Lxpulll ally two type of muscle tissues with labelled diagrams. OR 23.  Distinguish between Xylem and phloem. (min 4 pts for each) 24. Explain  Newton's third law of motion with three different"/>
          <p:cNvPicPr>
            <a:picLocks noChangeAspect="1" noChangeArrowheads="1"/>
          </p:cNvPicPr>
          <p:nvPr/>
        </p:nvPicPr>
        <p:blipFill>
          <a:blip r:embed="rId2"/>
          <a:srcRect/>
          <a:stretch>
            <a:fillRect/>
          </a:stretch>
        </p:blipFill>
        <p:spPr bwMode="auto">
          <a:xfrm>
            <a:off x="0" y="0"/>
            <a:ext cx="8098970" cy="6786676"/>
          </a:xfrm>
          <a:prstGeom prst="rect">
            <a:avLst/>
          </a:prstGeom>
          <a:noFill/>
        </p:spPr>
      </p:pic>
      <p:pic>
        <p:nvPicPr>
          <p:cNvPr id="22530" name="Picture 2" descr="Top 18 Difference Between Xylem And Phloem (With Similarities) - Viva  Differences"/>
          <p:cNvPicPr>
            <a:picLocks noChangeAspect="1" noChangeArrowheads="1"/>
          </p:cNvPicPr>
          <p:nvPr/>
        </p:nvPicPr>
        <p:blipFill>
          <a:blip r:embed="rId3"/>
          <a:srcRect l="51863" b="2232"/>
          <a:stretch>
            <a:fillRect/>
          </a:stretch>
        </p:blipFill>
        <p:spPr bwMode="auto">
          <a:xfrm>
            <a:off x="9261566" y="3383253"/>
            <a:ext cx="2638698" cy="3474747"/>
          </a:xfrm>
          <a:prstGeom prst="rect">
            <a:avLst/>
          </a:prstGeom>
          <a:noFill/>
        </p:spPr>
      </p:pic>
      <p:pic>
        <p:nvPicPr>
          <p:cNvPr id="22532" name="Picture 4" descr="Top 18 Difference Between Xylem And Phloem (With Similarities) - Viva  Differences"/>
          <p:cNvPicPr>
            <a:picLocks noChangeAspect="1" noChangeArrowheads="1"/>
          </p:cNvPicPr>
          <p:nvPr/>
        </p:nvPicPr>
        <p:blipFill>
          <a:blip r:embed="rId3"/>
          <a:srcRect l="2542" t="1172" r="45352" b="35"/>
          <a:stretch>
            <a:fillRect/>
          </a:stretch>
        </p:blipFill>
        <p:spPr bwMode="auto">
          <a:xfrm>
            <a:off x="8294915" y="0"/>
            <a:ext cx="2677885" cy="3291840"/>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739473" y="984460"/>
            <a:ext cx="8120365" cy="461665"/>
          </a:xfrm>
          <a:prstGeom prst="rect">
            <a:avLst/>
          </a:prstGeom>
        </p:spPr>
        <p:txBody>
          <a:bodyPr wrap="none">
            <a:spAutoFit/>
          </a:bodyPr>
          <a:lstStyle/>
          <a:p>
            <a:r>
              <a:rPr lang="en-US" sz="2400" b="1" dirty="0" smtClean="0">
                <a:latin typeface="Times New Roman" pitchFamily="18" charset="0"/>
                <a:cs typeface="Times New Roman" pitchFamily="18" charset="0"/>
              </a:rPr>
              <a:t>Roots:</a:t>
            </a:r>
            <a:r>
              <a:rPr lang="en-US" sz="2400" dirty="0" smtClean="0">
                <a:latin typeface="Times New Roman" pitchFamily="18" charset="0"/>
                <a:cs typeface="Times New Roman" pitchFamily="18" charset="0"/>
              </a:rPr>
              <a:t> are the important underground part of all vascular plants.</a:t>
            </a:r>
            <a:endParaRPr lang="en-US" sz="2400" dirty="0">
              <a:latin typeface="Times New Roman" pitchFamily="18" charset="0"/>
              <a:cs typeface="Times New Roman" pitchFamily="18" charset="0"/>
            </a:endParaRPr>
          </a:p>
        </p:txBody>
      </p:sp>
      <p:sp>
        <p:nvSpPr>
          <p:cNvPr id="6" name="TextBox 5"/>
          <p:cNvSpPr txBox="1"/>
          <p:nvPr/>
        </p:nvSpPr>
        <p:spPr>
          <a:xfrm>
            <a:off x="796835" y="2024743"/>
            <a:ext cx="9092554" cy="1938992"/>
          </a:xfrm>
          <a:prstGeom prst="rect">
            <a:avLst/>
          </a:prstGeom>
          <a:noFill/>
        </p:spPr>
        <p:txBody>
          <a:bodyPr wrap="none" rtlCol="0">
            <a:spAutoFit/>
          </a:bodyPr>
          <a:lstStyle/>
          <a:p>
            <a:r>
              <a:rPr lang="en-US" sz="2400" b="1" dirty="0" smtClean="0">
                <a:latin typeface="Times New Roman" pitchFamily="18" charset="0"/>
                <a:cs typeface="Times New Roman" pitchFamily="18" charset="0"/>
              </a:rPr>
              <a:t>Root function:</a:t>
            </a:r>
          </a:p>
          <a:p>
            <a:pPr marL="914400" lvl="1" indent="-457200">
              <a:lnSpc>
                <a:spcPct val="150000"/>
              </a:lnSpc>
              <a:buFont typeface="+mj-lt"/>
              <a:buAutoNum type="arabicPeriod"/>
              <a:defRPr/>
            </a:pPr>
            <a:r>
              <a:rPr lang="en-US" altLang="en-US" sz="2400" dirty="0" smtClean="0">
                <a:latin typeface="Times New Roman" pitchFamily="18" charset="0"/>
                <a:cs typeface="Times New Roman" pitchFamily="18" charset="0"/>
              </a:rPr>
              <a:t>Absorb water and nutrients</a:t>
            </a:r>
          </a:p>
          <a:p>
            <a:pPr marL="914400" lvl="1" indent="-457200">
              <a:lnSpc>
                <a:spcPct val="150000"/>
              </a:lnSpc>
              <a:buFont typeface="+mj-lt"/>
              <a:buAutoNum type="arabicPeriod"/>
              <a:defRPr/>
            </a:pPr>
            <a:r>
              <a:rPr lang="en-US" altLang="en-US" sz="2400" dirty="0" smtClean="0">
                <a:latin typeface="Times New Roman" pitchFamily="18" charset="0"/>
                <a:cs typeface="Times New Roman" pitchFamily="18" charset="0"/>
              </a:rPr>
              <a:t>Anchor the plant, and support the above ground part of the plant.</a:t>
            </a:r>
          </a:p>
          <a:p>
            <a:pPr marL="914400" lvl="1" indent="-457200">
              <a:buFont typeface="+mj-lt"/>
              <a:buAutoNum type="arabicPeriod"/>
              <a:defRPr/>
            </a:pPr>
            <a:r>
              <a:rPr lang="en-US" altLang="en-US" sz="2400" dirty="0" smtClean="0">
                <a:latin typeface="Times New Roman" pitchFamily="18" charset="0"/>
                <a:cs typeface="Times New Roman" pitchFamily="18" charset="0"/>
              </a:rPr>
              <a:t> Store food.</a:t>
            </a:r>
            <a:r>
              <a:rPr lang="en-US" sz="2400" b="1" dirty="0" smtClean="0">
                <a:latin typeface="Times New Roman" pitchFamily="18" charset="0"/>
                <a:cs typeface="Times New Roman" pitchFamily="18" charset="0"/>
              </a:rPr>
              <a:t> </a:t>
            </a:r>
            <a:endParaRPr lang="en-US" sz="2400" b="1" dirty="0">
              <a:latin typeface="Times New Roman" pitchFamily="18" charset="0"/>
              <a:cs typeface="Times New Roman" pitchFamily="18" charset="0"/>
            </a:endParaRPr>
          </a:p>
        </p:txBody>
      </p:sp>
      <p:sp>
        <p:nvSpPr>
          <p:cNvPr id="7" name="TextBox 6"/>
          <p:cNvSpPr txBox="1"/>
          <p:nvPr/>
        </p:nvSpPr>
        <p:spPr>
          <a:xfrm>
            <a:off x="418012" y="287383"/>
            <a:ext cx="5908925"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Plant organs (structure and function)</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370113" y="346893"/>
            <a:ext cx="11247121" cy="3847207"/>
          </a:xfrm>
          <a:prstGeom prst="rect">
            <a:avLst/>
          </a:prstGeom>
        </p:spPr>
        <p:txBody>
          <a:bodyPr wrap="square">
            <a:spAutoFit/>
          </a:bodyPr>
          <a:lstStyle/>
          <a:p>
            <a:r>
              <a:rPr lang="en-US" sz="2800" b="1" dirty="0" smtClean="0">
                <a:latin typeface="Times New Roman" pitchFamily="18" charset="0"/>
                <a:cs typeface="Times New Roman" pitchFamily="18" charset="0"/>
              </a:rPr>
              <a:t>Types of root system:</a:t>
            </a:r>
          </a:p>
          <a:p>
            <a:pPr marL="457200" indent="-457200">
              <a:lnSpc>
                <a:spcPct val="150000"/>
              </a:lnSpc>
              <a:buFont typeface="+mj-lt"/>
              <a:buAutoNum type="arabicPeriod"/>
            </a:pP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Taproots</a:t>
            </a:r>
            <a:r>
              <a:rPr lang="en-US" sz="2400" dirty="0" smtClean="0">
                <a:latin typeface="Times New Roman" pitchFamily="18" charset="0"/>
                <a:cs typeface="Times New Roman" pitchFamily="18" charset="0"/>
              </a:rPr>
              <a:t>: It is the primary and the main root that develops from the </a:t>
            </a:r>
            <a:r>
              <a:rPr lang="en-US" sz="2400" dirty="0" err="1" smtClean="0">
                <a:latin typeface="Times New Roman" pitchFamily="18" charset="0"/>
                <a:cs typeface="Times New Roman" pitchFamily="18" charset="0"/>
              </a:rPr>
              <a:t>radicle</a:t>
            </a:r>
            <a:r>
              <a:rPr lang="en-US" sz="2400" dirty="0" smtClean="0">
                <a:latin typeface="Times New Roman" pitchFamily="18" charset="0"/>
                <a:cs typeface="Times New Roman" pitchFamily="18" charset="0"/>
              </a:rPr>
              <a:t>, bears many branches and remains underground. It is usually found in </a:t>
            </a:r>
            <a:r>
              <a:rPr lang="en-US" sz="2400" dirty="0" err="1" smtClean="0">
                <a:latin typeface="Times New Roman" pitchFamily="18" charset="0"/>
                <a:cs typeface="Times New Roman" pitchFamily="18" charset="0"/>
              </a:rPr>
              <a:t>dicots</a:t>
            </a:r>
            <a:r>
              <a:rPr lang="en-US" sz="2400" dirty="0" smtClean="0">
                <a:latin typeface="Times New Roman" pitchFamily="18" charset="0"/>
                <a:cs typeface="Times New Roman" pitchFamily="18" charset="0"/>
              </a:rPr>
              <a:t> e.g. sunflower, mustard, carrot, mango.</a:t>
            </a:r>
          </a:p>
          <a:p>
            <a:pPr marL="457200" indent="-457200">
              <a:lnSpc>
                <a:spcPct val="150000"/>
              </a:lnSpc>
              <a:buFont typeface="+mj-lt"/>
              <a:buAutoNum type="arabicPeriod"/>
            </a:pP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Fibrous roots</a:t>
            </a:r>
            <a:r>
              <a:rPr lang="en-US" sz="2400" dirty="0" smtClean="0">
                <a:solidFill>
                  <a:srgbClr val="FF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In this root system, the primary root is short lived. A cluster of slender, fiber-like roots arises from the base of the </a:t>
            </a:r>
            <a:r>
              <a:rPr lang="en-US" sz="2400" dirty="0" err="1" smtClean="0">
                <a:latin typeface="Times New Roman" pitchFamily="18" charset="0"/>
                <a:cs typeface="Times New Roman" pitchFamily="18" charset="0"/>
              </a:rPr>
              <a:t>radicle</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plumule</a:t>
            </a:r>
            <a:r>
              <a:rPr lang="en-US" sz="2400" dirty="0" smtClean="0">
                <a:latin typeface="Times New Roman" pitchFamily="18" charset="0"/>
                <a:cs typeface="Times New Roman" pitchFamily="18" charset="0"/>
              </a:rPr>
              <a:t> which constitute the fibrous root system. It is commonly found in monocots, e.g. maize, grasses, wheat</a:t>
            </a:r>
          </a:p>
        </p:txBody>
      </p:sp>
      <p:pic>
        <p:nvPicPr>
          <p:cNvPr id="30722" name="Picture 2" descr="Image for post"/>
          <p:cNvPicPr>
            <a:picLocks noChangeAspect="1" noChangeArrowheads="1"/>
          </p:cNvPicPr>
          <p:nvPr/>
        </p:nvPicPr>
        <p:blipFill>
          <a:blip r:embed="rId2"/>
          <a:srcRect l="2867" t="6540" r="5992" b="5080"/>
          <a:stretch>
            <a:fillRect/>
          </a:stretch>
        </p:blipFill>
        <p:spPr bwMode="auto">
          <a:xfrm>
            <a:off x="3553096" y="4161174"/>
            <a:ext cx="4428310" cy="2696826"/>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descr="This lateral section of a root tip is divided into three areas: an upper area of maturation, a middle area of elongation, and a lower area of cell division at the root tip. In the area of maturation, root hairs extend from the main root and cells are large and rectangular. The area of elongation has no root hairs, and the cells are still rectangular, but somewhat smaller. A vascular cylinder runs through the center of the root in the area of maturation and the area of elongation. In the area of cell division the cells are much smaller. Cells within this area are called the apical meristem. A layer of cells called the root cap surrounds the apical meristem."/>
          <p:cNvPicPr>
            <a:picLocks noChangeAspect="1" noChangeArrowheads="1"/>
          </p:cNvPicPr>
          <p:nvPr/>
        </p:nvPicPr>
        <p:blipFill>
          <a:blip r:embed="rId2"/>
          <a:srcRect/>
          <a:stretch>
            <a:fillRect/>
          </a:stretch>
        </p:blipFill>
        <p:spPr bwMode="auto">
          <a:xfrm>
            <a:off x="7010400" y="303712"/>
            <a:ext cx="5181600" cy="5000625"/>
          </a:xfrm>
          <a:prstGeom prst="rect">
            <a:avLst/>
          </a:prstGeom>
          <a:noFill/>
        </p:spPr>
      </p:pic>
      <p:sp>
        <p:nvSpPr>
          <p:cNvPr id="3" name="Rectangle 2"/>
          <p:cNvSpPr/>
          <p:nvPr/>
        </p:nvSpPr>
        <p:spPr>
          <a:xfrm>
            <a:off x="581894" y="357443"/>
            <a:ext cx="2512163" cy="523220"/>
          </a:xfrm>
          <a:prstGeom prst="rect">
            <a:avLst/>
          </a:prstGeom>
        </p:spPr>
        <p:txBody>
          <a:bodyPr wrap="none">
            <a:spAutoFit/>
          </a:bodyPr>
          <a:lstStyle/>
          <a:p>
            <a:pPr fontAlgn="base"/>
            <a:r>
              <a:rPr lang="en-US" sz="2800" b="1" dirty="0" smtClean="0">
                <a:latin typeface="Times New Roman" pitchFamily="18" charset="0"/>
                <a:cs typeface="Times New Roman" pitchFamily="18" charset="0"/>
              </a:rPr>
              <a:t>Root structure </a:t>
            </a:r>
            <a:endParaRPr lang="en-US" sz="2800" b="1" dirty="0">
              <a:latin typeface="Times New Roman" pitchFamily="18" charset="0"/>
              <a:cs typeface="Times New Roman" pitchFamily="18" charset="0"/>
            </a:endParaRPr>
          </a:p>
        </p:txBody>
      </p:sp>
      <p:sp>
        <p:nvSpPr>
          <p:cNvPr id="4" name="Rectangle 3"/>
          <p:cNvSpPr/>
          <p:nvPr/>
        </p:nvSpPr>
        <p:spPr>
          <a:xfrm>
            <a:off x="8181703" y="5305586"/>
            <a:ext cx="4010297" cy="738664"/>
          </a:xfrm>
          <a:prstGeom prst="rect">
            <a:avLst/>
          </a:prstGeom>
        </p:spPr>
        <p:txBody>
          <a:bodyPr wrap="square">
            <a:spAutoFit/>
          </a:bodyPr>
          <a:lstStyle/>
          <a:p>
            <a:r>
              <a:rPr lang="en-US" sz="1400" b="1" dirty="0" smtClean="0">
                <a:latin typeface="Times New Roman" pitchFamily="18" charset="0"/>
                <a:cs typeface="Times New Roman" pitchFamily="18" charset="0"/>
              </a:rPr>
              <a:t>A longitudinal view of the root reveals the zones of cell division, elongation, and maturation. Cell division occurs in the apical </a:t>
            </a:r>
            <a:r>
              <a:rPr lang="en-US" sz="1400" b="1" dirty="0" err="1" smtClean="0">
                <a:latin typeface="Times New Roman" pitchFamily="18" charset="0"/>
                <a:cs typeface="Times New Roman" pitchFamily="18" charset="0"/>
              </a:rPr>
              <a:t>meristem</a:t>
            </a:r>
            <a:r>
              <a:rPr lang="en-US" sz="1400" b="1" dirty="0" smtClean="0">
                <a:latin typeface="Times New Roman" pitchFamily="18" charset="0"/>
                <a:cs typeface="Times New Roman" pitchFamily="18" charset="0"/>
              </a:rPr>
              <a:t>.</a:t>
            </a:r>
            <a:endParaRPr lang="en-US" sz="1400" b="1" dirty="0">
              <a:latin typeface="Times New Roman" pitchFamily="18" charset="0"/>
              <a:cs typeface="Times New Roman" pitchFamily="18" charset="0"/>
            </a:endParaRPr>
          </a:p>
        </p:txBody>
      </p:sp>
      <p:sp>
        <p:nvSpPr>
          <p:cNvPr id="5" name="Rectangle 4"/>
          <p:cNvSpPr/>
          <p:nvPr/>
        </p:nvSpPr>
        <p:spPr>
          <a:xfrm>
            <a:off x="735432" y="1258779"/>
            <a:ext cx="5678431" cy="769441"/>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1. Root cap: </a:t>
            </a:r>
            <a:r>
              <a:rPr lang="en-US" sz="2000" b="1" dirty="0" smtClean="0">
                <a:latin typeface="Times New Roman" pitchFamily="18" charset="0"/>
                <a:cs typeface="Times New Roman" pitchFamily="18" charset="0"/>
              </a:rPr>
              <a:t>a protective layer of parenchyma cells which covers the tip of the root.</a:t>
            </a:r>
            <a:endParaRPr lang="en-US" sz="2400" dirty="0">
              <a:solidFill>
                <a:srgbClr val="FF0000"/>
              </a:solidFill>
              <a:latin typeface="Times New Roman" pitchFamily="18" charset="0"/>
              <a:cs typeface="Times New Roman" pitchFamily="18" charset="0"/>
            </a:endParaRPr>
          </a:p>
        </p:txBody>
      </p:sp>
      <p:sp>
        <p:nvSpPr>
          <p:cNvPr id="7" name="Rectangle 6"/>
          <p:cNvSpPr/>
          <p:nvPr/>
        </p:nvSpPr>
        <p:spPr>
          <a:xfrm>
            <a:off x="827315" y="2076216"/>
            <a:ext cx="6096000" cy="3785652"/>
          </a:xfrm>
          <a:prstGeom prst="rect">
            <a:avLst/>
          </a:prstGeom>
        </p:spPr>
        <p:txBody>
          <a:bodyPr>
            <a:spAutoFit/>
          </a:bodyPr>
          <a:lstStyle/>
          <a:p>
            <a:r>
              <a:rPr lang="en-US" sz="2000" b="1" dirty="0" smtClean="0">
                <a:solidFill>
                  <a:srgbClr val="FF0000"/>
                </a:solidFill>
                <a:latin typeface="Times New Roman" pitchFamily="18" charset="0"/>
                <a:cs typeface="Times New Roman" pitchFamily="18" charset="0"/>
              </a:rPr>
              <a:t>The root tip can be divided into three zones:</a:t>
            </a:r>
          </a:p>
          <a:p>
            <a:endParaRPr lang="en-US" sz="2000" b="1" dirty="0" smtClean="0">
              <a:solidFill>
                <a:srgbClr val="FF0000"/>
              </a:solidFill>
              <a:latin typeface="Times New Roman" pitchFamily="18" charset="0"/>
              <a:cs typeface="Times New Roman" pitchFamily="18" charset="0"/>
            </a:endParaRPr>
          </a:p>
          <a:p>
            <a:pPr marL="342900" indent="-342900">
              <a:buAutoNum type="arabicPeriod"/>
            </a:pPr>
            <a:r>
              <a:rPr lang="en-US" sz="2000" b="1" dirty="0" smtClean="0">
                <a:latin typeface="Times New Roman" pitchFamily="18" charset="0"/>
                <a:cs typeface="Times New Roman" pitchFamily="18" charset="0"/>
              </a:rPr>
              <a:t> zone of cell division: </a:t>
            </a:r>
            <a:r>
              <a:rPr lang="en-US" sz="2000" dirty="0" smtClean="0">
                <a:latin typeface="Times New Roman" pitchFamily="18" charset="0"/>
                <a:cs typeface="Times New Roman" pitchFamily="18" charset="0"/>
              </a:rPr>
              <a:t>is closest to the root tip; it is made up of the actively dividing cells of the root </a:t>
            </a:r>
            <a:r>
              <a:rPr lang="en-US" sz="2000" dirty="0" err="1" smtClean="0">
                <a:latin typeface="Times New Roman" pitchFamily="18" charset="0"/>
                <a:cs typeface="Times New Roman" pitchFamily="18" charset="0"/>
              </a:rPr>
              <a:t>meristem</a:t>
            </a:r>
            <a:r>
              <a:rPr lang="en-US" sz="2000" dirty="0" smtClean="0">
                <a:latin typeface="Times New Roman" pitchFamily="18" charset="0"/>
                <a:cs typeface="Times New Roman" pitchFamily="18" charset="0"/>
              </a:rPr>
              <a:t>. </a:t>
            </a:r>
          </a:p>
          <a:p>
            <a:pPr marL="457200" indent="-457200">
              <a:buFont typeface="+mj-lt"/>
              <a:buAutoNum type="arabicPeriod"/>
            </a:pPr>
            <a:endParaRPr lang="en-US" sz="2000" dirty="0" smtClean="0">
              <a:latin typeface="Times New Roman" pitchFamily="18" charset="0"/>
              <a:cs typeface="Times New Roman" pitchFamily="18" charset="0"/>
            </a:endParaRPr>
          </a:p>
          <a:p>
            <a:pPr marL="342900" indent="-342900">
              <a:buAutoNum type="arabicPeriod"/>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zone of elongation: </a:t>
            </a:r>
            <a:r>
              <a:rPr lang="en-US" sz="2000" dirty="0" smtClean="0">
                <a:latin typeface="Times New Roman" pitchFamily="18" charset="0"/>
                <a:cs typeface="Times New Roman" pitchFamily="18" charset="0"/>
              </a:rPr>
              <a:t>is where the newly formed cells increase in length, thereby lengthening the root.</a:t>
            </a:r>
          </a:p>
          <a:p>
            <a:pPr marL="457200" indent="-457200"/>
            <a:r>
              <a:rPr lang="en-US" sz="2000" dirty="0" smtClean="0">
                <a:latin typeface="Times New Roman" pitchFamily="18" charset="0"/>
                <a:cs typeface="Times New Roman" pitchFamily="18" charset="0"/>
              </a:rPr>
              <a:t> </a:t>
            </a:r>
          </a:p>
          <a:p>
            <a:pPr marL="457200" indent="-457200"/>
            <a:r>
              <a:rPr lang="en-US" sz="2000" dirty="0" smtClean="0">
                <a:latin typeface="Times New Roman" pitchFamily="18" charset="0"/>
                <a:cs typeface="Times New Roman" pitchFamily="18" charset="0"/>
              </a:rPr>
              <a:t>3.   </a:t>
            </a:r>
            <a:r>
              <a:rPr lang="en-US" sz="2000" b="1" dirty="0" smtClean="0">
                <a:latin typeface="Times New Roman" pitchFamily="18" charset="0"/>
                <a:cs typeface="Times New Roman" pitchFamily="18" charset="0"/>
              </a:rPr>
              <a:t>zone of maturation and differentiation</a:t>
            </a:r>
            <a:r>
              <a:rPr lang="en-US" sz="2000" dirty="0" smtClean="0">
                <a:latin typeface="Times New Roman" pitchFamily="18" charset="0"/>
                <a:cs typeface="Times New Roman" pitchFamily="18" charset="0"/>
              </a:rPr>
              <a:t>: the zone where the root cells begin to differentiate into special cell types.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581894" y="357443"/>
            <a:ext cx="2512163" cy="523220"/>
          </a:xfrm>
          <a:prstGeom prst="rect">
            <a:avLst/>
          </a:prstGeom>
        </p:spPr>
        <p:txBody>
          <a:bodyPr wrap="none">
            <a:spAutoFit/>
          </a:bodyPr>
          <a:lstStyle/>
          <a:p>
            <a:pPr fontAlgn="base"/>
            <a:r>
              <a:rPr lang="en-US" sz="2800" b="1" dirty="0" smtClean="0">
                <a:latin typeface="Times New Roman" pitchFamily="18" charset="0"/>
                <a:cs typeface="Times New Roman" pitchFamily="18" charset="0"/>
              </a:rPr>
              <a:t>Root structure </a:t>
            </a:r>
            <a:endParaRPr lang="en-US" sz="2800" b="1" dirty="0">
              <a:latin typeface="Times New Roman" pitchFamily="18" charset="0"/>
              <a:cs typeface="Times New Roman" pitchFamily="18" charset="0"/>
            </a:endParaRPr>
          </a:p>
        </p:txBody>
      </p:sp>
      <p:sp>
        <p:nvSpPr>
          <p:cNvPr id="3" name="Rectangle 2"/>
          <p:cNvSpPr/>
          <p:nvPr/>
        </p:nvSpPr>
        <p:spPr>
          <a:xfrm>
            <a:off x="802658" y="1206528"/>
            <a:ext cx="10264271" cy="830997"/>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2. Epidermis: </a:t>
            </a:r>
            <a:r>
              <a:rPr lang="en-US" sz="2000" dirty="0" smtClean="0">
                <a:latin typeface="Times New Roman" pitchFamily="18" charset="0"/>
                <a:cs typeface="Times New Roman" pitchFamily="18" charset="0"/>
              </a:rPr>
              <a:t>outer layer of cells which surrounds areas of ground tissue and vascular tissue. </a:t>
            </a:r>
            <a:r>
              <a:rPr lang="en-US" sz="2000" dirty="0" smtClean="0">
                <a:solidFill>
                  <a:srgbClr val="FF0000"/>
                </a:solidFill>
                <a:latin typeface="Times New Roman" pitchFamily="18" charset="0"/>
                <a:cs typeface="Times New Roman" pitchFamily="18" charset="0"/>
              </a:rPr>
              <a:t>The epidermis provides protection and helps in absorption</a:t>
            </a:r>
            <a:r>
              <a:rPr lang="en-US" sz="2400" dirty="0" smtClean="0">
                <a:latin typeface="Times New Roman" pitchFamily="18" charset="0"/>
                <a:cs typeface="Times New Roman" pitchFamily="18" charset="0"/>
              </a:rPr>
              <a:t>.</a:t>
            </a:r>
            <a:endParaRPr lang="en-US" sz="2800" dirty="0">
              <a:solidFill>
                <a:srgbClr val="FF0000"/>
              </a:solidFill>
              <a:latin typeface="Times New Roman" pitchFamily="18" charset="0"/>
              <a:cs typeface="Times New Roman" pitchFamily="18" charset="0"/>
            </a:endParaRPr>
          </a:p>
        </p:txBody>
      </p:sp>
      <p:pic>
        <p:nvPicPr>
          <p:cNvPr id="3074" name="Picture 2" descr="The micrograph shows a root cross section. Xylem cells, whose cell walls stain red, are in the middle of the root. Patches of phloem cells, stained blue, are located at the edge of the ring of xylem cells. The pericycle is a ring of cells on the outer edge of the xylem and phloem. Another ring of cells, called the endodermis, surrounds the pericycle. Everything inside the endodermis is the sclera, or vascular tissue. Outside the endermis is the cortex. The parenchyma cells that make up the cortex are the largest in the root. Outside the cortex is the exodermis. The exodermis is about two cells thick and is made up of sclerenchyma cells that stain red. Surrounding the exodermis is the epidermis, which is a single cell layer thick. A couple of root hairs project outward from the root."/>
          <p:cNvPicPr>
            <a:picLocks noChangeAspect="1" noChangeArrowheads="1"/>
          </p:cNvPicPr>
          <p:nvPr/>
        </p:nvPicPr>
        <p:blipFill>
          <a:blip r:embed="rId2"/>
          <a:srcRect/>
          <a:stretch>
            <a:fillRect/>
          </a:stretch>
        </p:blipFill>
        <p:spPr bwMode="auto">
          <a:xfrm>
            <a:off x="6700066" y="2250078"/>
            <a:ext cx="4873625" cy="3807520"/>
          </a:xfrm>
          <a:prstGeom prst="rect">
            <a:avLst/>
          </a:prstGeom>
          <a:noFill/>
        </p:spPr>
      </p:pic>
      <p:sp>
        <p:nvSpPr>
          <p:cNvPr id="5" name="Rectangle 4"/>
          <p:cNvSpPr/>
          <p:nvPr/>
        </p:nvSpPr>
        <p:spPr>
          <a:xfrm>
            <a:off x="6897188" y="6189843"/>
            <a:ext cx="4898571" cy="461665"/>
          </a:xfrm>
          <a:prstGeom prst="rect">
            <a:avLst/>
          </a:prstGeom>
        </p:spPr>
        <p:txBody>
          <a:bodyPr wrap="square">
            <a:spAutoFit/>
          </a:bodyPr>
          <a:lstStyle/>
          <a:p>
            <a:r>
              <a:rPr lang="en-US" sz="1200" b="1" dirty="0" smtClean="0">
                <a:latin typeface="Times New Roman" pitchFamily="18" charset="0"/>
                <a:cs typeface="Times New Roman" pitchFamily="18" charset="0"/>
              </a:rPr>
              <a:t>Staining reveals different cell types in this light micrograph of a wheat (</a:t>
            </a:r>
            <a:r>
              <a:rPr lang="en-US" sz="1200" b="1" i="1" dirty="0" err="1" smtClean="0">
                <a:latin typeface="Times New Roman" pitchFamily="18" charset="0"/>
                <a:cs typeface="Times New Roman" pitchFamily="18" charset="0"/>
              </a:rPr>
              <a:t>Triticum</a:t>
            </a:r>
            <a:r>
              <a:rPr lang="en-US" sz="1200" b="1" dirty="0" smtClean="0">
                <a:latin typeface="Times New Roman" pitchFamily="18" charset="0"/>
                <a:cs typeface="Times New Roman" pitchFamily="18" charset="0"/>
              </a:rPr>
              <a:t>) root cross section. (credit: scale-bar data from Matt Russell)</a:t>
            </a:r>
            <a:endParaRPr lang="en-US" sz="1200" b="1" dirty="0">
              <a:latin typeface="Times New Roman" pitchFamily="18" charset="0"/>
              <a:cs typeface="Times New Roman" pitchFamily="18" charset="0"/>
            </a:endParaRPr>
          </a:p>
        </p:txBody>
      </p:sp>
      <p:sp>
        <p:nvSpPr>
          <p:cNvPr id="6" name="Rectangle 5"/>
          <p:cNvSpPr/>
          <p:nvPr/>
        </p:nvSpPr>
        <p:spPr>
          <a:xfrm>
            <a:off x="809070" y="2552003"/>
            <a:ext cx="6192622" cy="1077218"/>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3. Root hairs: </a:t>
            </a:r>
            <a:r>
              <a:rPr lang="en-US" sz="2000" dirty="0" smtClean="0">
                <a:latin typeface="Times New Roman" pitchFamily="18" charset="0"/>
                <a:cs typeface="Times New Roman" pitchFamily="18" charset="0"/>
              </a:rPr>
              <a:t>which are extensions of root epidermal cells</a:t>
            </a:r>
            <a:r>
              <a:rPr lang="en-US" sz="2000" dirty="0" smtClean="0">
                <a:solidFill>
                  <a:srgbClr val="FF0000"/>
                </a:solidFill>
                <a:latin typeface="Times New Roman" pitchFamily="18" charset="0"/>
                <a:cs typeface="Times New Roman" pitchFamily="18" charset="0"/>
              </a:rPr>
              <a:t>, increase the surface area of the root, greatly contributing to the absorption of water and minerals.</a:t>
            </a:r>
            <a:r>
              <a:rPr lang="en-US" sz="2000" b="1" dirty="0" smtClean="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p:txBody>
      </p:sp>
      <p:sp>
        <p:nvSpPr>
          <p:cNvPr id="7" name="Rectangle 6"/>
          <p:cNvSpPr/>
          <p:nvPr/>
        </p:nvSpPr>
        <p:spPr>
          <a:xfrm>
            <a:off x="871041" y="4106483"/>
            <a:ext cx="5921646" cy="1446550"/>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4. cortex: </a:t>
            </a:r>
            <a:r>
              <a:rPr lang="en-US" sz="2000" dirty="0" smtClean="0">
                <a:latin typeface="Times New Roman" pitchFamily="18" charset="0"/>
                <a:cs typeface="Times New Roman" pitchFamily="18" charset="0"/>
              </a:rPr>
              <a:t>the layer between the epidermis and the vascular tissue, </a:t>
            </a:r>
            <a:r>
              <a:rPr lang="en-US" sz="2000" dirty="0" smtClean="0">
                <a:solidFill>
                  <a:srgbClr val="FF0000"/>
                </a:solidFill>
                <a:latin typeface="Times New Roman" pitchFamily="18" charset="0"/>
                <a:cs typeface="Times New Roman" pitchFamily="18" charset="0"/>
              </a:rPr>
              <a:t>made of parenchyma cells and involved in the transport of water and dissolved minerals into vascular tissue and can store food and water. </a:t>
            </a:r>
            <a:r>
              <a:rPr lang="en-US" sz="2400" b="1" dirty="0" smtClean="0">
                <a:solidFill>
                  <a:srgbClr val="FF0000"/>
                </a:solidFill>
                <a:latin typeface="Times New Roman" pitchFamily="18" charset="0"/>
                <a:cs typeface="Times New Roman" pitchFamily="18" charset="0"/>
              </a:rPr>
              <a:t> </a:t>
            </a:r>
            <a:endParaRPr lang="en-US" sz="24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67497" y="1572289"/>
            <a:ext cx="10059091" cy="2308324"/>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5. Endodermis: </a:t>
            </a:r>
            <a:r>
              <a:rPr lang="en-US" sz="2000" dirty="0" smtClean="0">
                <a:latin typeface="Times New Roman" pitchFamily="18" charset="0"/>
                <a:cs typeface="Times New Roman" pitchFamily="18" charset="0"/>
              </a:rPr>
              <a:t>A layer of cells  separates the stele from the ground tissue in the outer portion of the root.  It controls the flow of water and minerals in to the root. </a:t>
            </a:r>
          </a:p>
          <a:p>
            <a:r>
              <a:rPr lang="en-US" sz="2000" dirty="0" smtClean="0">
                <a:latin typeface="Times New Roman" pitchFamily="18" charset="0"/>
                <a:cs typeface="Times New Roman" pitchFamily="18" charset="0"/>
              </a:rPr>
              <a:t> </a:t>
            </a:r>
          </a:p>
          <a:p>
            <a:r>
              <a:rPr lang="en-US" sz="2000" b="1" dirty="0" err="1" smtClean="0">
                <a:latin typeface="Times New Roman" pitchFamily="18" charset="0"/>
                <a:cs typeface="Times New Roman" pitchFamily="18" charset="0"/>
              </a:rPr>
              <a:t>Casparian</a:t>
            </a:r>
            <a:r>
              <a:rPr lang="en-US" sz="2000" b="1" dirty="0" smtClean="0">
                <a:latin typeface="Times New Roman" pitchFamily="18" charset="0"/>
                <a:cs typeface="Times New Roman" pitchFamily="18" charset="0"/>
              </a:rPr>
              <a:t> strip</a:t>
            </a:r>
            <a:r>
              <a:rPr lang="en-US" sz="2000" dirty="0" smtClean="0">
                <a:latin typeface="Times New Roman" pitchFamily="18" charset="0"/>
                <a:cs typeface="Times New Roman" pitchFamily="18" charset="0"/>
              </a:rPr>
              <a:t>: A waxy region forces water and solutes to cross the plasma membranes of </a:t>
            </a:r>
            <a:r>
              <a:rPr lang="en-US" sz="2000" dirty="0" err="1" smtClean="0">
                <a:latin typeface="Times New Roman" pitchFamily="18" charset="0"/>
                <a:cs typeface="Times New Roman" pitchFamily="18" charset="0"/>
              </a:rPr>
              <a:t>endodermal</a:t>
            </a:r>
            <a:r>
              <a:rPr lang="en-US" sz="2000" dirty="0" smtClean="0">
                <a:latin typeface="Times New Roman" pitchFamily="18" charset="0"/>
                <a:cs typeface="Times New Roman" pitchFamily="18" charset="0"/>
              </a:rPr>
              <a:t> cells instead of slipping between the cells. This ensures that only materials required by the root pass through the endodermis, while toxic substances and pathogens are generally excluded. </a:t>
            </a:r>
            <a:r>
              <a:rPr lang="en-US" sz="2000" b="1" dirty="0" smtClean="0">
                <a:solidFill>
                  <a:srgbClr val="FF0000"/>
                </a:solidFill>
                <a:latin typeface="Times New Roman" pitchFamily="18" charset="0"/>
                <a:cs typeface="Times New Roman" pitchFamily="18" charset="0"/>
              </a:rPr>
              <a:t> </a:t>
            </a:r>
            <a:endParaRPr lang="en-US" sz="2400" dirty="0">
              <a:solidFill>
                <a:srgbClr val="FF0000"/>
              </a:solidFill>
              <a:latin typeface="Times New Roman" pitchFamily="18" charset="0"/>
              <a:cs typeface="Times New Roman" pitchFamily="18" charset="0"/>
            </a:endParaRPr>
          </a:p>
        </p:txBody>
      </p:sp>
      <p:sp>
        <p:nvSpPr>
          <p:cNvPr id="3" name="Rectangle 2"/>
          <p:cNvSpPr/>
          <p:nvPr/>
        </p:nvSpPr>
        <p:spPr>
          <a:xfrm>
            <a:off x="581894" y="357443"/>
            <a:ext cx="2512163" cy="523220"/>
          </a:xfrm>
          <a:prstGeom prst="rect">
            <a:avLst/>
          </a:prstGeom>
        </p:spPr>
        <p:txBody>
          <a:bodyPr wrap="none">
            <a:spAutoFit/>
          </a:bodyPr>
          <a:lstStyle/>
          <a:p>
            <a:pPr fontAlgn="base"/>
            <a:r>
              <a:rPr lang="en-US" sz="2800" b="1" dirty="0" smtClean="0">
                <a:latin typeface="Times New Roman" pitchFamily="18" charset="0"/>
                <a:cs typeface="Times New Roman" pitchFamily="18" charset="0"/>
              </a:rPr>
              <a:t>Root structure </a:t>
            </a:r>
            <a:endParaRPr lang="en-US" sz="2800" b="1" dirty="0">
              <a:latin typeface="Times New Roman" pitchFamily="18" charset="0"/>
              <a:cs typeface="Times New Roman" pitchFamily="18" charset="0"/>
            </a:endParaRPr>
          </a:p>
        </p:txBody>
      </p:sp>
      <p:sp>
        <p:nvSpPr>
          <p:cNvPr id="4" name="Rectangle 3"/>
          <p:cNvSpPr/>
          <p:nvPr/>
        </p:nvSpPr>
        <p:spPr>
          <a:xfrm>
            <a:off x="1011510" y="4158733"/>
            <a:ext cx="7296467" cy="769441"/>
          </a:xfrm>
          <a:prstGeom prst="rect">
            <a:avLst/>
          </a:prstGeom>
        </p:spPr>
        <p:txBody>
          <a:bodyPr wrap="square">
            <a:spAutoFit/>
          </a:bodyPr>
          <a:lstStyle/>
          <a:p>
            <a:r>
              <a:rPr lang="en-US" sz="2400" b="1" dirty="0" smtClean="0">
                <a:solidFill>
                  <a:srgbClr val="FF0000"/>
                </a:solidFill>
                <a:latin typeface="Times New Roman" pitchFamily="18" charset="0"/>
                <a:cs typeface="Times New Roman" pitchFamily="18" charset="0"/>
              </a:rPr>
              <a:t>6. </a:t>
            </a:r>
            <a:r>
              <a:rPr lang="en-US" sz="2400" b="1" dirty="0" err="1" smtClean="0">
                <a:solidFill>
                  <a:srgbClr val="FF0000"/>
                </a:solidFill>
                <a:latin typeface="Times New Roman" pitchFamily="18" charset="0"/>
                <a:cs typeface="Times New Roman" pitchFamily="18" charset="0"/>
              </a:rPr>
              <a:t>pericycle</a:t>
            </a:r>
            <a:r>
              <a:rPr lang="en-US" sz="2400" b="1"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The outermost cell layer of the root’s vascular which is an area that can give rise to lateral roots.</a:t>
            </a:r>
            <a:endParaRPr lang="en-US" sz="2400" b="1" dirty="0">
              <a:solidFill>
                <a:srgbClr val="FF0000"/>
              </a:solidFill>
              <a:latin typeface="Times New Roman" pitchFamily="18" charset="0"/>
              <a:cs typeface="Times New Roman" pitchFamily="18" charset="0"/>
            </a:endParaRPr>
          </a:p>
        </p:txBody>
      </p:sp>
      <p:pic>
        <p:nvPicPr>
          <p:cNvPr id="7" name="Picture 6" descr="images.jpg"/>
          <p:cNvPicPr>
            <a:picLocks noChangeAspect="1"/>
          </p:cNvPicPr>
          <p:nvPr/>
        </p:nvPicPr>
        <p:blipFill>
          <a:blip r:embed="rId2"/>
          <a:stretch>
            <a:fillRect/>
          </a:stretch>
        </p:blipFill>
        <p:spPr>
          <a:xfrm>
            <a:off x="8515818" y="3766476"/>
            <a:ext cx="3253816" cy="2936707"/>
          </a:xfrm>
          <a:prstGeom prst="rect">
            <a:avLst/>
          </a:prstGeom>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8" name="Picture 4" descr="Dicot Root Primary Structure"/>
          <p:cNvPicPr>
            <a:picLocks noChangeAspect="1" noChangeArrowheads="1"/>
          </p:cNvPicPr>
          <p:nvPr/>
        </p:nvPicPr>
        <p:blipFill>
          <a:blip r:embed="rId2"/>
          <a:srcRect/>
          <a:stretch>
            <a:fillRect/>
          </a:stretch>
        </p:blipFill>
        <p:spPr bwMode="auto">
          <a:xfrm>
            <a:off x="326571" y="0"/>
            <a:ext cx="11573691" cy="5982397"/>
          </a:xfrm>
          <a:prstGeom prst="rect">
            <a:avLst/>
          </a:prstGeom>
          <a:noFill/>
        </p:spPr>
      </p:pic>
      <p:sp>
        <p:nvSpPr>
          <p:cNvPr id="4" name="TextBox 3"/>
          <p:cNvSpPr txBox="1"/>
          <p:nvPr/>
        </p:nvSpPr>
        <p:spPr>
          <a:xfrm>
            <a:off x="391886" y="5863282"/>
            <a:ext cx="5146766" cy="646331"/>
          </a:xfrm>
          <a:prstGeom prst="rect">
            <a:avLst/>
          </a:prstGeom>
          <a:noFill/>
        </p:spPr>
        <p:txBody>
          <a:bodyPr wrap="square" rtlCol="0">
            <a:spAutoFit/>
          </a:bodyPr>
          <a:lstStyle/>
          <a:p>
            <a:r>
              <a:rPr lang="en-US" b="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the xylem is arranged in a central star-shape. The phloem is found between the point of the star.</a:t>
            </a:r>
            <a:endParaRPr lang="en-US" dirty="0">
              <a:latin typeface="Times New Roman" pitchFamily="18" charset="0"/>
              <a:cs typeface="Times New Roman" pitchFamily="18" charset="0"/>
            </a:endParaRPr>
          </a:p>
        </p:txBody>
      </p:sp>
      <p:sp>
        <p:nvSpPr>
          <p:cNvPr id="5" name="TextBox 4"/>
          <p:cNvSpPr txBox="1"/>
          <p:nvPr/>
        </p:nvSpPr>
        <p:spPr>
          <a:xfrm>
            <a:off x="7040880" y="5765330"/>
            <a:ext cx="4846320" cy="646331"/>
          </a:xfrm>
          <a:prstGeom prst="rect">
            <a:avLst/>
          </a:prstGeom>
          <a:noFill/>
        </p:spPr>
        <p:txBody>
          <a:bodyPr wrap="square" rtlCol="0">
            <a:spAutoFit/>
          </a:bodyPr>
          <a:lstStyle/>
          <a:p>
            <a:r>
              <a:rPr lang="en-US" b="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there are alternating strands of xylem and phloem that surround a core of parenchyma cells.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849085" y="1045028"/>
            <a:ext cx="7697941" cy="523220"/>
          </a:xfrm>
          <a:prstGeom prst="rect">
            <a:avLst/>
          </a:prstGeom>
          <a:noFill/>
        </p:spPr>
        <p:txBody>
          <a:bodyPr wrap="none" rtlCol="0">
            <a:spAutoFit/>
          </a:bodyPr>
          <a:lstStyle/>
          <a:p>
            <a:r>
              <a:rPr lang="en-US" sz="2400" b="1" dirty="0" smtClean="0">
                <a:latin typeface="Times New Roman" pitchFamily="18" charset="0"/>
                <a:cs typeface="Times New Roman" pitchFamily="18" charset="0"/>
              </a:rPr>
              <a:t>Stems:</a:t>
            </a:r>
            <a:r>
              <a:rPr lang="en-US" sz="28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are a part of the shoot system of a plant (usually aboveground). </a:t>
            </a:r>
            <a:endParaRPr lang="en-US" sz="2800" dirty="0">
              <a:latin typeface="Times New Roman" pitchFamily="18" charset="0"/>
              <a:cs typeface="Times New Roman" pitchFamily="18" charset="0"/>
            </a:endParaRPr>
          </a:p>
        </p:txBody>
      </p:sp>
      <p:sp>
        <p:nvSpPr>
          <p:cNvPr id="4" name="TextBox 3"/>
          <p:cNvSpPr txBox="1"/>
          <p:nvPr/>
        </p:nvSpPr>
        <p:spPr>
          <a:xfrm>
            <a:off x="888274" y="2272936"/>
            <a:ext cx="9827496" cy="3046988"/>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Stems functions:</a:t>
            </a:r>
          </a:p>
          <a:p>
            <a:pPr marL="457200" indent="-457200">
              <a:buAutoNum type="arabicPeriod"/>
            </a:pPr>
            <a:r>
              <a:rPr lang="en-US" sz="2400" dirty="0" smtClean="0">
                <a:latin typeface="Times New Roman" pitchFamily="18" charset="0"/>
                <a:cs typeface="Times New Roman" pitchFamily="18" charset="0"/>
              </a:rPr>
              <a:t>provide support to the plant.</a:t>
            </a:r>
          </a:p>
          <a:p>
            <a:pPr marL="457200" indent="-457200">
              <a:buAutoNum type="arabicPeriod"/>
            </a:pPr>
            <a:r>
              <a:rPr lang="en-US" sz="2400" dirty="0" smtClean="0">
                <a:latin typeface="Times New Roman" pitchFamily="18" charset="0"/>
                <a:cs typeface="Times New Roman" pitchFamily="18" charset="0"/>
              </a:rPr>
              <a:t>holding leaves, flowers, and buds.</a:t>
            </a:r>
          </a:p>
          <a:p>
            <a:pPr marL="457200" indent="-457200">
              <a:buAutoNum type="arabicPeriod"/>
            </a:pPr>
            <a:r>
              <a:rPr lang="en-US" sz="2400" dirty="0" smtClean="0">
                <a:latin typeface="Times New Roman" pitchFamily="18" charset="0"/>
                <a:cs typeface="Times New Roman" pitchFamily="18" charset="0"/>
              </a:rPr>
              <a:t>store food for the plant (some cases). </a:t>
            </a:r>
          </a:p>
          <a:p>
            <a:pPr marL="457200" indent="-457200">
              <a:buAutoNum type="arabicPeriod"/>
            </a:pPr>
            <a:r>
              <a:rPr lang="en-US" sz="2400" dirty="0" smtClean="0">
                <a:latin typeface="Times New Roman" pitchFamily="18" charset="0"/>
                <a:cs typeface="Times New Roman" pitchFamily="18" charset="0"/>
              </a:rPr>
              <a:t>connects the roots to the leaves, helping to transport absorbed water and minerals to different parts of the plant.</a:t>
            </a:r>
            <a:r>
              <a:rPr lang="en-US" sz="2400" b="1" dirty="0" smtClean="0">
                <a:latin typeface="Times New Roman" pitchFamily="18" charset="0"/>
                <a:cs typeface="Times New Roman" pitchFamily="18" charset="0"/>
              </a:rPr>
              <a:t> </a:t>
            </a:r>
          </a:p>
          <a:p>
            <a:pPr marL="457200" indent="-457200">
              <a:buAutoNum type="arabicPeriod"/>
            </a:pPr>
            <a:r>
              <a:rPr lang="en-US" sz="2400" dirty="0" smtClean="0">
                <a:latin typeface="Times New Roman" pitchFamily="18" charset="0"/>
                <a:cs typeface="Times New Roman" pitchFamily="18" charset="0"/>
              </a:rPr>
              <a:t>helps to transport the products of photosynthesis (i.e., sugars) from the leaves to the rest of the plant.</a:t>
            </a:r>
            <a:endParaRPr lang="en-US" sz="2400" b="1" dirty="0">
              <a:latin typeface="Times New Roman" pitchFamily="18" charset="0"/>
              <a:cs typeface="Times New Roman" pitchFamily="18" charset="0"/>
            </a:endParaRPr>
          </a:p>
        </p:txBody>
      </p:sp>
      <p:sp>
        <p:nvSpPr>
          <p:cNvPr id="5" name="TextBox 4"/>
          <p:cNvSpPr txBox="1"/>
          <p:nvPr/>
        </p:nvSpPr>
        <p:spPr>
          <a:xfrm>
            <a:off x="418012" y="287383"/>
            <a:ext cx="5908925"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Plant organs (structure and function)</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737461" y="331318"/>
            <a:ext cx="1612942" cy="461665"/>
          </a:xfrm>
          <a:prstGeom prst="rect">
            <a:avLst/>
          </a:prstGeom>
        </p:spPr>
        <p:txBody>
          <a:bodyPr wrap="none">
            <a:spAutoFit/>
          </a:bodyPr>
          <a:lstStyle/>
          <a:p>
            <a:r>
              <a:rPr lang="en-US" sz="2400" b="1" dirty="0" smtClean="0">
                <a:latin typeface="Times New Roman" pitchFamily="18" charset="0"/>
                <a:cs typeface="Times New Roman" pitchFamily="18" charset="0"/>
              </a:rPr>
              <a:t>Stem parts</a:t>
            </a:r>
            <a:endParaRPr lang="en-US" sz="2400" dirty="0"/>
          </a:p>
        </p:txBody>
      </p:sp>
      <p:sp>
        <p:nvSpPr>
          <p:cNvPr id="4" name="Rectangle 3"/>
          <p:cNvSpPr/>
          <p:nvPr/>
        </p:nvSpPr>
        <p:spPr>
          <a:xfrm>
            <a:off x="814251" y="1554480"/>
            <a:ext cx="6579326" cy="4524315"/>
          </a:xfrm>
          <a:prstGeom prst="rect">
            <a:avLst/>
          </a:prstGeom>
        </p:spPr>
        <p:txBody>
          <a:bodyPr wrap="square">
            <a:spAutoFit/>
          </a:bodyPr>
          <a:lstStyle/>
          <a:p>
            <a:pPr fontAlgn="base"/>
            <a:r>
              <a:rPr lang="en-US" sz="2400" b="1" dirty="0" smtClean="0">
                <a:solidFill>
                  <a:srgbClr val="FF0000"/>
                </a:solidFill>
                <a:latin typeface="Times New Roman" pitchFamily="18" charset="0"/>
                <a:cs typeface="Times New Roman" pitchFamily="18" charset="0"/>
              </a:rPr>
              <a:t>Node</a:t>
            </a:r>
            <a:r>
              <a:rPr lang="en-US" sz="2400" dirty="0" smtClean="0">
                <a:solidFill>
                  <a:srgbClr val="FF0000"/>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points of attachment for leaves, aerial roots, and flowers.</a:t>
            </a:r>
          </a:p>
          <a:p>
            <a:pPr fontAlgn="base"/>
            <a:endParaRPr lang="en-US" sz="2400" dirty="0" smtClean="0">
              <a:latin typeface="Times New Roman" pitchFamily="18" charset="0"/>
              <a:cs typeface="Times New Roman" pitchFamily="18" charset="0"/>
            </a:endParaRPr>
          </a:p>
          <a:p>
            <a:pPr fontAlgn="base"/>
            <a:r>
              <a:rPr lang="en-US" sz="2400" b="1" dirty="0" err="1" smtClean="0">
                <a:solidFill>
                  <a:srgbClr val="FF0000"/>
                </a:solidFill>
                <a:latin typeface="Times New Roman" pitchFamily="18" charset="0"/>
                <a:cs typeface="Times New Roman" pitchFamily="18" charset="0"/>
              </a:rPr>
              <a:t>Internode</a:t>
            </a:r>
            <a:r>
              <a:rPr lang="en-US" sz="2400" dirty="0" smtClean="0">
                <a:solidFill>
                  <a:srgbClr val="FF0000"/>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a section of stem between two stem nodes.</a:t>
            </a:r>
          </a:p>
          <a:p>
            <a:pPr fontAlgn="base"/>
            <a:endParaRPr lang="en-US" sz="2400" dirty="0" smtClean="0">
              <a:latin typeface="Times New Roman" pitchFamily="18" charset="0"/>
              <a:cs typeface="Times New Roman" pitchFamily="18" charset="0"/>
            </a:endParaRPr>
          </a:p>
          <a:p>
            <a:pPr fontAlgn="base"/>
            <a:r>
              <a:rPr lang="en-US" sz="2400" b="1" dirty="0" smtClean="0">
                <a:solidFill>
                  <a:srgbClr val="FF0000"/>
                </a:solidFill>
                <a:latin typeface="Times New Roman" pitchFamily="18" charset="0"/>
                <a:cs typeface="Times New Roman" pitchFamily="18" charset="0"/>
              </a:rPr>
              <a:t>Petiole</a:t>
            </a:r>
            <a:r>
              <a:rPr lang="en-US" sz="2400" dirty="0" smtClean="0">
                <a:solidFill>
                  <a:srgbClr val="FF0000"/>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stalk that extends from the stem to the base of the leaf.</a:t>
            </a:r>
          </a:p>
          <a:p>
            <a:pPr fontAlgn="base"/>
            <a:endParaRPr lang="en-US" sz="2400" dirty="0" smtClean="0">
              <a:latin typeface="Times New Roman" pitchFamily="18" charset="0"/>
              <a:cs typeface="Times New Roman" pitchFamily="18" charset="0"/>
            </a:endParaRPr>
          </a:p>
          <a:p>
            <a:pPr fontAlgn="base"/>
            <a:r>
              <a:rPr lang="en-US" sz="2400" b="1" dirty="0" err="1" smtClean="0">
                <a:solidFill>
                  <a:srgbClr val="FF0000"/>
                </a:solidFill>
                <a:latin typeface="Times New Roman" pitchFamily="18" charset="0"/>
                <a:cs typeface="Times New Roman" pitchFamily="18" charset="0"/>
              </a:rPr>
              <a:t>Axillary</a:t>
            </a:r>
            <a:r>
              <a:rPr lang="en-US" sz="2400" b="1" dirty="0" smtClean="0">
                <a:solidFill>
                  <a:srgbClr val="FF0000"/>
                </a:solidFill>
                <a:latin typeface="Times New Roman" pitchFamily="18" charset="0"/>
                <a:cs typeface="Times New Roman" pitchFamily="18" charset="0"/>
              </a:rPr>
              <a:t> bud</a:t>
            </a:r>
            <a:r>
              <a:rPr lang="en-US" sz="2400" dirty="0" smtClean="0">
                <a:solidFill>
                  <a:srgbClr val="FF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embryonic shoot that lies at the junction of the stem and petiole that gives rise to a branch or flower</a:t>
            </a:r>
            <a:endParaRPr lang="en-US" sz="2400" dirty="0">
              <a:latin typeface="Times New Roman" pitchFamily="18" charset="0"/>
              <a:cs typeface="Times New Roman" pitchFamily="18" charset="0"/>
            </a:endParaRPr>
          </a:p>
        </p:txBody>
      </p:sp>
      <p:pic>
        <p:nvPicPr>
          <p:cNvPr id="36868" name="Picture 4" descr="Stem - W3spoint"/>
          <p:cNvPicPr>
            <a:picLocks noChangeAspect="1" noChangeArrowheads="1"/>
          </p:cNvPicPr>
          <p:nvPr/>
        </p:nvPicPr>
        <p:blipFill>
          <a:blip r:embed="rId2"/>
          <a:srcRect l="10346" t="4714" r="9193" b="9907"/>
          <a:stretch>
            <a:fillRect/>
          </a:stretch>
        </p:blipFill>
        <p:spPr bwMode="auto">
          <a:xfrm>
            <a:off x="7433924" y="888273"/>
            <a:ext cx="4360767" cy="5460275"/>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828901" y="566449"/>
            <a:ext cx="3580660" cy="461665"/>
          </a:xfrm>
          <a:prstGeom prst="rect">
            <a:avLst/>
          </a:prstGeom>
        </p:spPr>
        <p:txBody>
          <a:bodyPr wrap="none">
            <a:spAutoFit/>
          </a:bodyPr>
          <a:lstStyle/>
          <a:p>
            <a:r>
              <a:rPr lang="en-US" sz="2400" b="1" dirty="0" smtClean="0">
                <a:latin typeface="Times New Roman" pitchFamily="18" charset="0"/>
                <a:cs typeface="Times New Roman" pitchFamily="18" charset="0"/>
              </a:rPr>
              <a:t>Stems (internal structure)</a:t>
            </a:r>
            <a:endParaRPr lang="en-US" sz="2400" dirty="0"/>
          </a:p>
        </p:txBody>
      </p:sp>
      <p:sp>
        <p:nvSpPr>
          <p:cNvPr id="5" name="Rectangle 4"/>
          <p:cNvSpPr/>
          <p:nvPr/>
        </p:nvSpPr>
        <p:spPr>
          <a:xfrm>
            <a:off x="931817" y="1216912"/>
            <a:ext cx="10354492" cy="707886"/>
          </a:xfrm>
          <a:prstGeom prst="rect">
            <a:avLst/>
          </a:prstGeom>
        </p:spPr>
        <p:txBody>
          <a:bodyPr wrap="square">
            <a:spAutoFit/>
          </a:bodyPr>
          <a:lstStyle/>
          <a:p>
            <a:pPr fontAlgn="base"/>
            <a:r>
              <a:rPr lang="en-US" sz="2000" dirty="0" smtClean="0">
                <a:latin typeface="Times New Roman" pitchFamily="18" charset="0"/>
                <a:cs typeface="Times New Roman" pitchFamily="18" charset="0"/>
              </a:rPr>
              <a:t>The stem is composed of three tissue systems that include the epidermis, vascular, and ground tissues:</a:t>
            </a:r>
            <a:endParaRPr lang="en-US" sz="2000" dirty="0">
              <a:latin typeface="Times New Roman" pitchFamily="18" charset="0"/>
              <a:cs typeface="Times New Roman" pitchFamily="18" charset="0"/>
            </a:endParaRPr>
          </a:p>
        </p:txBody>
      </p:sp>
      <p:sp>
        <p:nvSpPr>
          <p:cNvPr id="6" name="Rectangle 5"/>
          <p:cNvSpPr/>
          <p:nvPr/>
        </p:nvSpPr>
        <p:spPr>
          <a:xfrm>
            <a:off x="1049383" y="2274672"/>
            <a:ext cx="10354492" cy="3170099"/>
          </a:xfrm>
          <a:prstGeom prst="rect">
            <a:avLst/>
          </a:prstGeom>
        </p:spPr>
        <p:txBody>
          <a:bodyPr wrap="square">
            <a:spAutoFit/>
          </a:bodyPr>
          <a:lstStyle/>
          <a:p>
            <a:pPr fontAlgn="base">
              <a:buFont typeface="Arial" pitchFamily="34" charset="0"/>
              <a:buChar char="•"/>
            </a:pPr>
            <a:r>
              <a:rPr lang="en-US" sz="2000" dirty="0" smtClean="0">
                <a:solidFill>
                  <a:srgbClr val="FF0000"/>
                </a:solidFill>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Epidermis</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is a single layer of cells that makes up the dermal tissue covering the stem and protecting the underlying tissue. Woody plants have an extra layer of protection on top of the epidermis made of cork cells known as bark.</a:t>
            </a:r>
          </a:p>
          <a:p>
            <a:pPr fontAlgn="base">
              <a:buFont typeface="Arial" pitchFamily="34" charset="0"/>
              <a:buChar char="•"/>
            </a:pPr>
            <a:endParaRPr lang="en-US" sz="2000" dirty="0" smtClean="0">
              <a:latin typeface="Times New Roman" pitchFamily="18" charset="0"/>
              <a:cs typeface="Times New Roman" pitchFamily="18" charset="0"/>
            </a:endParaRPr>
          </a:p>
          <a:p>
            <a:pPr fontAlgn="base">
              <a:buFont typeface="Arial" pitchFamily="34" charset="0"/>
              <a:buChar char="•"/>
            </a:pPr>
            <a:r>
              <a:rPr lang="en-US" sz="2000" b="1" dirty="0" smtClean="0">
                <a:solidFill>
                  <a:srgbClr val="FF0000"/>
                </a:solidFill>
                <a:latin typeface="Times New Roman" pitchFamily="18" charset="0"/>
                <a:cs typeface="Times New Roman" pitchFamily="18" charset="0"/>
              </a:rPr>
              <a:t>The vascular tissue </a:t>
            </a:r>
            <a:r>
              <a:rPr lang="en-US" sz="2000" dirty="0" smtClean="0">
                <a:latin typeface="Times New Roman" pitchFamily="18" charset="0"/>
                <a:cs typeface="Times New Roman" pitchFamily="18" charset="0"/>
              </a:rPr>
              <a:t>of the stem consists of the complex tissues xylem and phloem which carry water and nutrients up and down the length of the stem and are arranged in distinct strands called vascular bundles.</a:t>
            </a:r>
          </a:p>
          <a:p>
            <a:pPr fontAlgn="base">
              <a:buFont typeface="Arial" pitchFamily="34" charset="0"/>
              <a:buChar char="•"/>
            </a:pPr>
            <a:endParaRPr lang="en-US" sz="2000" dirty="0" smtClean="0">
              <a:latin typeface="Times New Roman" pitchFamily="18" charset="0"/>
              <a:cs typeface="Times New Roman" pitchFamily="18" charset="0"/>
            </a:endParaRPr>
          </a:p>
          <a:p>
            <a:pPr fontAlgn="base">
              <a:buFont typeface="Arial" pitchFamily="34" charset="0"/>
              <a:buChar char="•"/>
            </a:pPr>
            <a:r>
              <a:rPr lang="en-US" sz="2000" b="1" dirty="0" smtClean="0">
                <a:solidFill>
                  <a:srgbClr val="FF0000"/>
                </a:solidFill>
                <a:latin typeface="Times New Roman" pitchFamily="18" charset="0"/>
                <a:cs typeface="Times New Roman" pitchFamily="18" charset="0"/>
              </a:rPr>
              <a:t>Ground tissue</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helps support the stem and is called pith when it is located towards the middle of the stem and called the cortex when it is between the vascular tissue and the epidermis.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2" name="Picture 2" descr="image"/>
          <p:cNvPicPr>
            <a:picLocks noChangeAspect="1" noChangeArrowheads="1"/>
          </p:cNvPicPr>
          <p:nvPr/>
        </p:nvPicPr>
        <p:blipFill>
          <a:blip r:embed="rId2"/>
          <a:srcRect/>
          <a:stretch>
            <a:fillRect/>
          </a:stretch>
        </p:blipFill>
        <p:spPr bwMode="auto">
          <a:xfrm>
            <a:off x="429251" y="313509"/>
            <a:ext cx="10830932" cy="5367684"/>
          </a:xfrm>
          <a:prstGeom prst="rect">
            <a:avLst/>
          </a:prstGeom>
          <a:noFill/>
        </p:spPr>
      </p:pic>
      <p:sp>
        <p:nvSpPr>
          <p:cNvPr id="5" name="Rectangle 4"/>
          <p:cNvSpPr/>
          <p:nvPr/>
        </p:nvSpPr>
        <p:spPr>
          <a:xfrm>
            <a:off x="548640" y="5780782"/>
            <a:ext cx="4598126" cy="1077218"/>
          </a:xfrm>
          <a:prstGeom prst="rect">
            <a:avLst/>
          </a:prstGeom>
        </p:spPr>
        <p:txBody>
          <a:bodyPr wrap="square">
            <a:spAutoFit/>
          </a:bodyPr>
          <a:lstStyle/>
          <a:p>
            <a:r>
              <a:rPr lang="en-US" sz="1600" b="1" dirty="0" smtClean="0">
                <a:latin typeface="Times New Roman" pitchFamily="18" charset="0"/>
                <a:cs typeface="Times New Roman" pitchFamily="18" charset="0"/>
              </a:rPr>
              <a:t>(A) </a:t>
            </a:r>
            <a:r>
              <a:rPr lang="en-US" sz="1600" b="1" dirty="0" err="1" smtClean="0">
                <a:latin typeface="Times New Roman" pitchFamily="18" charset="0"/>
                <a:cs typeface="Times New Roman" pitchFamily="18" charset="0"/>
              </a:rPr>
              <a:t>dicot</a:t>
            </a:r>
            <a:r>
              <a:rPr lang="en-US" sz="1600" b="1" dirty="0" smtClean="0">
                <a:latin typeface="Times New Roman" pitchFamily="18" charset="0"/>
                <a:cs typeface="Times New Roman" pitchFamily="18" charset="0"/>
              </a:rPr>
              <a:t> stems</a:t>
            </a:r>
            <a:r>
              <a:rPr lang="en-US" sz="1600" dirty="0" smtClean="0">
                <a:latin typeface="Times New Roman" pitchFamily="18" charset="0"/>
                <a:cs typeface="Times New Roman" pitchFamily="18" charset="0"/>
              </a:rPr>
              <a:t>, vascular bundles are arranged around the periphery of the ground tissue. The xylem tissue is located toward the interior of the vascular bundle; phloem is located toward the exterior. </a:t>
            </a:r>
            <a:endParaRPr lang="en-US" sz="1600" dirty="0">
              <a:latin typeface="Times New Roman" pitchFamily="18" charset="0"/>
              <a:cs typeface="Times New Roman" pitchFamily="18" charset="0"/>
            </a:endParaRPr>
          </a:p>
        </p:txBody>
      </p:sp>
      <p:sp>
        <p:nvSpPr>
          <p:cNvPr id="6" name="Rectangle 5"/>
          <p:cNvSpPr/>
          <p:nvPr/>
        </p:nvSpPr>
        <p:spPr>
          <a:xfrm>
            <a:off x="7145383" y="5660350"/>
            <a:ext cx="5046617" cy="830997"/>
          </a:xfrm>
          <a:prstGeom prst="rect">
            <a:avLst/>
          </a:prstGeom>
        </p:spPr>
        <p:txBody>
          <a:bodyPr wrap="square">
            <a:spAutoFit/>
          </a:bodyPr>
          <a:lstStyle/>
          <a:p>
            <a:r>
              <a:rPr lang="en-US" sz="1600" b="1" dirty="0" smtClean="0">
                <a:latin typeface="Times New Roman" pitchFamily="18" charset="0"/>
                <a:cs typeface="Times New Roman" pitchFamily="18" charset="0"/>
              </a:rPr>
              <a:t>(b) monocot stems</a:t>
            </a:r>
            <a:r>
              <a:rPr lang="en-US" sz="1600" dirty="0" smtClean="0">
                <a:latin typeface="Times New Roman" pitchFamily="18" charset="0"/>
                <a:cs typeface="Times New Roman" pitchFamily="18" charset="0"/>
              </a:rPr>
              <a:t>, vascular bundles composed of xylem and phloem tissues are scattered throughout the ground tissue.</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2" descr="Underground stem modifications"/>
          <p:cNvPicPr>
            <a:picLocks noChangeAspect="1" noChangeArrowheads="1"/>
          </p:cNvPicPr>
          <p:nvPr/>
        </p:nvPicPr>
        <p:blipFill>
          <a:blip r:embed="rId2"/>
          <a:srcRect r="506" b="11430"/>
          <a:stretch>
            <a:fillRect/>
          </a:stretch>
        </p:blipFill>
        <p:spPr bwMode="auto">
          <a:xfrm>
            <a:off x="6426926" y="692867"/>
            <a:ext cx="5020490" cy="6165133"/>
          </a:xfrm>
          <a:prstGeom prst="rect">
            <a:avLst/>
          </a:prstGeom>
          <a:noFill/>
        </p:spPr>
      </p:pic>
      <p:sp>
        <p:nvSpPr>
          <p:cNvPr id="4" name="Rectangle 3"/>
          <p:cNvSpPr/>
          <p:nvPr/>
        </p:nvSpPr>
        <p:spPr>
          <a:xfrm>
            <a:off x="491336" y="1180403"/>
            <a:ext cx="2739853" cy="461665"/>
          </a:xfrm>
          <a:prstGeom prst="rect">
            <a:avLst/>
          </a:prstGeom>
        </p:spPr>
        <p:txBody>
          <a:bodyPr wrap="none">
            <a:spAutoFit/>
          </a:bodyPr>
          <a:lstStyle/>
          <a:p>
            <a:pPr fontAlgn="base"/>
            <a:r>
              <a:rPr lang="en-US" sz="2400" b="1" dirty="0" smtClean="0">
                <a:latin typeface="Times New Roman" pitchFamily="18" charset="0"/>
                <a:cs typeface="Times New Roman" pitchFamily="18" charset="0"/>
              </a:rPr>
              <a:t>Stem Modifications</a:t>
            </a:r>
            <a:endParaRPr lang="en-US" sz="2400" b="1" dirty="0">
              <a:latin typeface="Times New Roman" pitchFamily="18" charset="0"/>
              <a:cs typeface="Times New Roman" pitchFamily="18" charset="0"/>
            </a:endParaRPr>
          </a:p>
        </p:txBody>
      </p:sp>
      <p:sp>
        <p:nvSpPr>
          <p:cNvPr id="5" name="Rectangle 4"/>
          <p:cNvSpPr/>
          <p:nvPr/>
        </p:nvSpPr>
        <p:spPr>
          <a:xfrm>
            <a:off x="605246" y="1812612"/>
            <a:ext cx="6096000" cy="1200329"/>
          </a:xfrm>
          <a:prstGeom prst="rect">
            <a:avLst/>
          </a:prstGeom>
        </p:spPr>
        <p:txBody>
          <a:bodyPr>
            <a:spAutoFit/>
          </a:bodyPr>
          <a:lstStyle/>
          <a:p>
            <a:r>
              <a:rPr lang="en-US" sz="2400" dirty="0" smtClean="0">
                <a:solidFill>
                  <a:srgbClr val="FF0000"/>
                </a:solidFill>
                <a:latin typeface="Times New Roman" pitchFamily="18" charset="0"/>
                <a:cs typeface="Times New Roman" pitchFamily="18" charset="0"/>
              </a:rPr>
              <a:t>Rhizome</a:t>
            </a:r>
            <a:r>
              <a:rPr lang="en-US" sz="2400" dirty="0" smtClean="0">
                <a:latin typeface="Times New Roman" pitchFamily="18" charset="0"/>
                <a:cs typeface="Times New Roman" pitchFamily="18" charset="0"/>
              </a:rPr>
              <a:t> is a modified stem that grows horizontally underground such as ginger and ferns.</a:t>
            </a:r>
            <a:endParaRPr lang="en-US" sz="2400" dirty="0">
              <a:latin typeface="Times New Roman" pitchFamily="18" charset="0"/>
              <a:cs typeface="Times New Roman" pitchFamily="18" charset="0"/>
            </a:endParaRPr>
          </a:p>
        </p:txBody>
      </p:sp>
      <p:sp>
        <p:nvSpPr>
          <p:cNvPr id="6" name="Rectangle 5"/>
          <p:cNvSpPr/>
          <p:nvPr/>
        </p:nvSpPr>
        <p:spPr>
          <a:xfrm>
            <a:off x="631371" y="3118898"/>
            <a:ext cx="6096000" cy="830997"/>
          </a:xfrm>
          <a:prstGeom prst="rect">
            <a:avLst/>
          </a:prstGeom>
        </p:spPr>
        <p:txBody>
          <a:bodyPr>
            <a:spAutoFit/>
          </a:bodyPr>
          <a:lstStyle/>
          <a:p>
            <a:r>
              <a:rPr lang="en-US" sz="2400" dirty="0" smtClean="0">
                <a:solidFill>
                  <a:srgbClr val="FF0000"/>
                </a:solidFill>
                <a:latin typeface="Times New Roman" pitchFamily="18" charset="0"/>
                <a:cs typeface="Times New Roman" pitchFamily="18" charset="0"/>
              </a:rPr>
              <a:t>Corms</a:t>
            </a:r>
            <a:r>
              <a:rPr lang="en-US" sz="2400" dirty="0" smtClean="0">
                <a:latin typeface="Times New Roman" pitchFamily="18" charset="0"/>
                <a:cs typeface="Times New Roman" pitchFamily="18" charset="0"/>
              </a:rPr>
              <a:t> contain stored food that enables some plants to survive the winter</a:t>
            </a:r>
            <a:endParaRPr lang="en-US" sz="2400" dirty="0">
              <a:latin typeface="Times New Roman" pitchFamily="18" charset="0"/>
              <a:cs typeface="Times New Roman" pitchFamily="18" charset="0"/>
            </a:endParaRPr>
          </a:p>
        </p:txBody>
      </p:sp>
      <p:sp>
        <p:nvSpPr>
          <p:cNvPr id="7" name="Rectangle 6"/>
          <p:cNvSpPr/>
          <p:nvPr/>
        </p:nvSpPr>
        <p:spPr>
          <a:xfrm>
            <a:off x="670560" y="4150864"/>
            <a:ext cx="5847806" cy="830997"/>
          </a:xfrm>
          <a:prstGeom prst="rect">
            <a:avLst/>
          </a:prstGeom>
        </p:spPr>
        <p:txBody>
          <a:bodyPr wrap="square">
            <a:spAutoFit/>
          </a:bodyPr>
          <a:lstStyle/>
          <a:p>
            <a:r>
              <a:rPr lang="en-US" sz="2400" dirty="0" smtClean="0">
                <a:solidFill>
                  <a:srgbClr val="FF0000"/>
                </a:solidFill>
                <a:latin typeface="Times New Roman" pitchFamily="18" charset="0"/>
                <a:cs typeface="Times New Roman" pitchFamily="18" charset="0"/>
              </a:rPr>
              <a:t>Tubers</a:t>
            </a:r>
            <a:r>
              <a:rPr lang="en-US" sz="2400" dirty="0" smtClean="0">
                <a:latin typeface="Times New Roman" pitchFamily="18" charset="0"/>
                <a:cs typeface="Times New Roman" pitchFamily="18" charset="0"/>
              </a:rPr>
              <a:t> are modified stems that may store starch, as seen in the potato. </a:t>
            </a:r>
            <a:endParaRPr lang="en-US" sz="2400" dirty="0">
              <a:latin typeface="Times New Roman" pitchFamily="18" charset="0"/>
              <a:cs typeface="Times New Roman" pitchFamily="18" charset="0"/>
            </a:endParaRPr>
          </a:p>
        </p:txBody>
      </p:sp>
      <p:sp>
        <p:nvSpPr>
          <p:cNvPr id="8" name="Rectangle 7"/>
          <p:cNvSpPr/>
          <p:nvPr/>
        </p:nvSpPr>
        <p:spPr>
          <a:xfrm>
            <a:off x="732058" y="5308265"/>
            <a:ext cx="5224605" cy="830997"/>
          </a:xfrm>
          <a:prstGeom prst="rect">
            <a:avLst/>
          </a:prstGeom>
        </p:spPr>
        <p:txBody>
          <a:bodyPr wrap="square">
            <a:spAutoFit/>
          </a:bodyPr>
          <a:lstStyle/>
          <a:p>
            <a:r>
              <a:rPr lang="en-US" sz="2400" dirty="0" smtClean="0">
                <a:solidFill>
                  <a:srgbClr val="FF0000"/>
                </a:solidFill>
                <a:latin typeface="Times New Roman" pitchFamily="18" charset="0"/>
                <a:cs typeface="Times New Roman" pitchFamily="18" charset="0"/>
              </a:rPr>
              <a:t>Bulb</a:t>
            </a:r>
            <a:r>
              <a:rPr lang="en-US" sz="2400" dirty="0" smtClean="0">
                <a:latin typeface="Times New Roman" pitchFamily="18" charset="0"/>
                <a:cs typeface="Times New Roman" pitchFamily="18" charset="0"/>
              </a:rPr>
              <a:t> which functions as an underground storage unit as seen in the iris.</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574501" y="1102025"/>
            <a:ext cx="3722173" cy="461665"/>
          </a:xfrm>
          <a:prstGeom prst="rect">
            <a:avLst/>
          </a:prstGeom>
        </p:spPr>
        <p:txBody>
          <a:bodyPr wrap="none">
            <a:spAutoFit/>
          </a:bodyPr>
          <a:lstStyle/>
          <a:p>
            <a:pPr fontAlgn="base"/>
            <a:r>
              <a:rPr lang="en-US" sz="2400" b="1" dirty="0" smtClean="0">
                <a:latin typeface="Times New Roman" pitchFamily="18" charset="0"/>
                <a:cs typeface="Times New Roman" pitchFamily="18" charset="0"/>
              </a:rPr>
              <a:t>Structure of a Typical Leaf</a:t>
            </a:r>
            <a:endParaRPr lang="en-US" sz="2400" b="1" dirty="0">
              <a:latin typeface="Times New Roman" pitchFamily="18" charset="0"/>
              <a:cs typeface="Times New Roman" pitchFamily="18" charset="0"/>
            </a:endParaRPr>
          </a:p>
        </p:txBody>
      </p:sp>
      <p:pic>
        <p:nvPicPr>
          <p:cNvPr id="5122" name="Picture 2" descr="image"/>
          <p:cNvPicPr>
            <a:picLocks noChangeAspect="1" noChangeArrowheads="1"/>
          </p:cNvPicPr>
          <p:nvPr/>
        </p:nvPicPr>
        <p:blipFill>
          <a:blip r:embed="rId2"/>
          <a:srcRect/>
          <a:stretch>
            <a:fillRect/>
          </a:stretch>
        </p:blipFill>
        <p:spPr bwMode="auto">
          <a:xfrm>
            <a:off x="7010400" y="637450"/>
            <a:ext cx="5181600" cy="5286375"/>
          </a:xfrm>
          <a:prstGeom prst="rect">
            <a:avLst/>
          </a:prstGeom>
          <a:noFill/>
        </p:spPr>
      </p:pic>
      <p:sp>
        <p:nvSpPr>
          <p:cNvPr id="6" name="Rectangle 5"/>
          <p:cNvSpPr/>
          <p:nvPr/>
        </p:nvSpPr>
        <p:spPr>
          <a:xfrm>
            <a:off x="748937" y="1825675"/>
            <a:ext cx="6096000" cy="707886"/>
          </a:xfrm>
          <a:prstGeom prst="rect">
            <a:avLst/>
          </a:prstGeom>
        </p:spPr>
        <p:txBody>
          <a:bodyPr>
            <a:spAutoFit/>
          </a:bodyPr>
          <a:lstStyle/>
          <a:p>
            <a:r>
              <a:rPr lang="en-US" sz="2000" dirty="0" smtClean="0">
                <a:latin typeface="Times New Roman" pitchFamily="18" charset="0"/>
                <a:cs typeface="Times New Roman" pitchFamily="18" charset="0"/>
              </a:rPr>
              <a:t>Each leaf typically has a leaf blade ( lamina ), stipules, a midrib, and a margin</a:t>
            </a:r>
            <a:endParaRPr lang="en-US" sz="2000" dirty="0">
              <a:latin typeface="Times New Roman" pitchFamily="18" charset="0"/>
              <a:cs typeface="Times New Roman" pitchFamily="18" charset="0"/>
            </a:endParaRPr>
          </a:p>
        </p:txBody>
      </p:sp>
      <p:sp>
        <p:nvSpPr>
          <p:cNvPr id="7" name="Rectangle 6"/>
          <p:cNvSpPr/>
          <p:nvPr/>
        </p:nvSpPr>
        <p:spPr>
          <a:xfrm>
            <a:off x="788126" y="3048226"/>
            <a:ext cx="6096000" cy="2554545"/>
          </a:xfrm>
          <a:prstGeom prst="rect">
            <a:avLst/>
          </a:prstGeom>
        </p:spPr>
        <p:txBody>
          <a:bodyPr>
            <a:spAutoFit/>
          </a:bodyPr>
          <a:lstStyle/>
          <a:p>
            <a:pPr fontAlgn="base"/>
            <a:r>
              <a:rPr lang="en-US" sz="2000" b="1" dirty="0" smtClean="0">
                <a:solidFill>
                  <a:srgbClr val="FF0000"/>
                </a:solidFill>
                <a:latin typeface="Times New Roman" pitchFamily="18" charset="0"/>
                <a:cs typeface="Times New Roman" pitchFamily="18" charset="0"/>
              </a:rPr>
              <a:t>petiole</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stalk that extends from the stem to the base of the leaf.</a:t>
            </a:r>
          </a:p>
          <a:p>
            <a:pPr fontAlgn="base"/>
            <a:endParaRPr lang="en-US" sz="2000" dirty="0" smtClean="0">
              <a:latin typeface="Times New Roman" pitchFamily="18" charset="0"/>
              <a:cs typeface="Times New Roman" pitchFamily="18" charset="0"/>
            </a:endParaRPr>
          </a:p>
          <a:p>
            <a:pPr fontAlgn="base"/>
            <a:r>
              <a:rPr lang="en-US" sz="2000" b="1" dirty="0" smtClean="0">
                <a:solidFill>
                  <a:srgbClr val="FF0000"/>
                </a:solidFill>
                <a:latin typeface="Times New Roman" pitchFamily="18" charset="0"/>
                <a:cs typeface="Times New Roman" pitchFamily="18" charset="0"/>
              </a:rPr>
              <a:t>lamina</a:t>
            </a:r>
            <a:r>
              <a:rPr lang="en-US" sz="2000" dirty="0" smtClean="0">
                <a:latin typeface="Times New Roman" pitchFamily="18" charset="0"/>
                <a:cs typeface="Times New Roman" pitchFamily="18" charset="0"/>
              </a:rPr>
              <a:t>: the flat part of a leaf; the blade, which is the widest part of the leaf.</a:t>
            </a:r>
          </a:p>
          <a:p>
            <a:pPr fontAlgn="base"/>
            <a:endParaRPr lang="en-US" sz="2000" dirty="0" smtClean="0">
              <a:latin typeface="Times New Roman" pitchFamily="18" charset="0"/>
              <a:cs typeface="Times New Roman" pitchFamily="18" charset="0"/>
            </a:endParaRPr>
          </a:p>
          <a:p>
            <a:pPr fontAlgn="base"/>
            <a:r>
              <a:rPr lang="en-US" sz="2000" b="1" dirty="0" smtClean="0">
                <a:solidFill>
                  <a:srgbClr val="FF0000"/>
                </a:solidFill>
                <a:latin typeface="Times New Roman" pitchFamily="18" charset="0"/>
                <a:cs typeface="Times New Roman" pitchFamily="18" charset="0"/>
              </a:rPr>
              <a:t>stipule</a:t>
            </a:r>
            <a:r>
              <a:rPr lang="en-US" sz="2000" dirty="0" smtClean="0">
                <a:latin typeface="Times New Roman" pitchFamily="18" charset="0"/>
                <a:cs typeface="Times New Roman" pitchFamily="18" charset="0"/>
              </a:rPr>
              <a:t>: small green appendage usually found at the base of the petiole</a:t>
            </a:r>
            <a:endParaRPr lang="en-US" sz="2000" dirty="0">
              <a:latin typeface="Times New Roman" pitchFamily="18" charset="0"/>
              <a:cs typeface="Times New Roman" pitchFamily="18" charset="0"/>
            </a:endParaRPr>
          </a:p>
        </p:txBody>
      </p:sp>
      <p:sp>
        <p:nvSpPr>
          <p:cNvPr id="8" name="TextBox 7"/>
          <p:cNvSpPr txBox="1"/>
          <p:nvPr/>
        </p:nvSpPr>
        <p:spPr>
          <a:xfrm>
            <a:off x="418012" y="287383"/>
            <a:ext cx="5908925"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Plant organs (structure and function)</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497017" y="488072"/>
            <a:ext cx="1713931" cy="461665"/>
          </a:xfrm>
          <a:prstGeom prst="rect">
            <a:avLst/>
          </a:prstGeom>
        </p:spPr>
        <p:txBody>
          <a:bodyPr wrap="none">
            <a:spAutoFit/>
          </a:bodyPr>
          <a:lstStyle/>
          <a:p>
            <a:pPr fontAlgn="base"/>
            <a:r>
              <a:rPr lang="en-US" sz="2400" b="1" dirty="0" smtClean="0">
                <a:latin typeface="Times New Roman" pitchFamily="18" charset="0"/>
                <a:cs typeface="Times New Roman" pitchFamily="18" charset="0"/>
              </a:rPr>
              <a:t>Leaf Forms</a:t>
            </a:r>
            <a:endParaRPr lang="en-US" sz="2400" b="1" dirty="0">
              <a:latin typeface="Times New Roman" pitchFamily="18" charset="0"/>
              <a:cs typeface="Times New Roman" pitchFamily="18" charset="0"/>
            </a:endParaRPr>
          </a:p>
        </p:txBody>
      </p:sp>
      <p:sp>
        <p:nvSpPr>
          <p:cNvPr id="4" name="Rectangle 3"/>
          <p:cNvSpPr/>
          <p:nvPr/>
        </p:nvSpPr>
        <p:spPr>
          <a:xfrm>
            <a:off x="592182" y="1564252"/>
            <a:ext cx="6096000" cy="1631216"/>
          </a:xfrm>
          <a:prstGeom prst="rect">
            <a:avLst/>
          </a:prstGeom>
        </p:spPr>
        <p:txBody>
          <a:bodyPr>
            <a:spAutoFit/>
          </a:bodyPr>
          <a:lstStyle/>
          <a:p>
            <a:pPr fontAlgn="base"/>
            <a:r>
              <a:rPr lang="en-US" sz="2000" b="1" dirty="0" smtClean="0">
                <a:solidFill>
                  <a:srgbClr val="FF0000"/>
                </a:solidFill>
                <a:latin typeface="Times New Roman" pitchFamily="18" charset="0"/>
                <a:cs typeface="Times New Roman" pitchFamily="18" charset="0"/>
              </a:rPr>
              <a:t>Simple leaf</a:t>
            </a:r>
            <a:r>
              <a:rPr lang="en-US" sz="2000" dirty="0" smtClean="0">
                <a:latin typeface="Times New Roman" pitchFamily="18" charset="0"/>
                <a:cs typeface="Times New Roman" pitchFamily="18" charset="0"/>
              </a:rPr>
              <a:t>: a leaf with an undivided blade.</a:t>
            </a:r>
          </a:p>
          <a:p>
            <a:pPr fontAlgn="base"/>
            <a:endParaRPr lang="en-US" sz="2000" dirty="0" smtClean="0">
              <a:latin typeface="Times New Roman" pitchFamily="18" charset="0"/>
              <a:cs typeface="Times New Roman" pitchFamily="18" charset="0"/>
            </a:endParaRPr>
          </a:p>
          <a:p>
            <a:pPr fontAlgn="base"/>
            <a:r>
              <a:rPr lang="en-US" sz="2000" b="1" dirty="0" smtClean="0">
                <a:solidFill>
                  <a:srgbClr val="FF0000"/>
                </a:solidFill>
                <a:latin typeface="Times New Roman" pitchFamily="18" charset="0"/>
                <a:cs typeface="Times New Roman" pitchFamily="18" charset="0"/>
              </a:rPr>
              <a:t>Compound leaf</a:t>
            </a:r>
            <a:r>
              <a:rPr lang="en-US" sz="2000" dirty="0" smtClean="0">
                <a:solidFill>
                  <a:srgbClr val="FF0000"/>
                </a:solidFill>
                <a:latin typeface="Times New Roman" pitchFamily="18" charset="0"/>
                <a:cs typeface="Times New Roman" pitchFamily="18" charset="0"/>
              </a:rPr>
              <a:t>:</a:t>
            </a:r>
            <a:r>
              <a:rPr lang="en-US" sz="2000" dirty="0" smtClean="0">
                <a:latin typeface="Times New Roman" pitchFamily="18" charset="0"/>
                <a:cs typeface="Times New Roman" pitchFamily="18" charset="0"/>
              </a:rPr>
              <a:t> a leaf where the blade is divided, forming leaflets.</a:t>
            </a:r>
          </a:p>
          <a:p>
            <a:pPr fontAlgn="base"/>
            <a:endParaRPr lang="en-US" sz="2000" dirty="0" smtClean="0">
              <a:latin typeface="Times New Roman" pitchFamily="18" charset="0"/>
              <a:cs typeface="Times New Roman" pitchFamily="18" charset="0"/>
            </a:endParaRPr>
          </a:p>
        </p:txBody>
      </p:sp>
      <p:pic>
        <p:nvPicPr>
          <p:cNvPr id="4102" name="Picture 6" descr="Tracking down Elder"/>
          <p:cNvPicPr>
            <a:picLocks noChangeAspect="1" noChangeArrowheads="1"/>
          </p:cNvPicPr>
          <p:nvPr/>
        </p:nvPicPr>
        <p:blipFill>
          <a:blip r:embed="rId2"/>
          <a:srcRect/>
          <a:stretch>
            <a:fillRect/>
          </a:stretch>
        </p:blipFill>
        <p:spPr bwMode="auto">
          <a:xfrm>
            <a:off x="6002110" y="2076995"/>
            <a:ext cx="5888265" cy="3461656"/>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574765" y="1045030"/>
            <a:ext cx="2144370" cy="461665"/>
          </a:xfrm>
          <a:prstGeom prst="rect">
            <a:avLst/>
          </a:prstGeom>
          <a:noFill/>
        </p:spPr>
        <p:txBody>
          <a:bodyPr wrap="none" rtlCol="0">
            <a:spAutoFit/>
          </a:bodyPr>
          <a:lstStyle/>
          <a:p>
            <a:r>
              <a:rPr lang="en-US" sz="2400" b="1" dirty="0" smtClean="0">
                <a:latin typeface="Times New Roman" pitchFamily="18" charset="0"/>
                <a:cs typeface="Times New Roman" pitchFamily="18" charset="0"/>
              </a:rPr>
              <a:t>Leaf structure </a:t>
            </a:r>
            <a:endParaRPr lang="en-US" sz="2400" b="1" dirty="0">
              <a:latin typeface="Times New Roman" pitchFamily="18" charset="0"/>
              <a:cs typeface="Times New Roman" pitchFamily="18" charset="0"/>
            </a:endParaRPr>
          </a:p>
        </p:txBody>
      </p:sp>
      <p:sp>
        <p:nvSpPr>
          <p:cNvPr id="4" name="Rectangle 3"/>
          <p:cNvSpPr/>
          <p:nvPr/>
        </p:nvSpPr>
        <p:spPr>
          <a:xfrm>
            <a:off x="683624" y="1574636"/>
            <a:ext cx="11508376" cy="2246769"/>
          </a:xfrm>
          <a:prstGeom prst="rect">
            <a:avLst/>
          </a:prstGeom>
        </p:spPr>
        <p:txBody>
          <a:bodyPr wrap="square">
            <a:spAutoFit/>
          </a:bodyPr>
          <a:lstStyle/>
          <a:p>
            <a:pPr fontAlgn="base">
              <a:buFont typeface="Arial" pitchFamily="34" charset="0"/>
              <a:buChar char="•"/>
            </a:pPr>
            <a:r>
              <a:rPr lang="en-US" sz="2000" b="1" dirty="0" smtClean="0">
                <a:solidFill>
                  <a:srgbClr val="FF0000"/>
                </a:solidFill>
                <a:latin typeface="Times New Roman" pitchFamily="18" charset="0"/>
                <a:cs typeface="Times New Roman" pitchFamily="18" charset="0"/>
              </a:rPr>
              <a:t>The epidermis </a:t>
            </a:r>
            <a:r>
              <a:rPr lang="en-US" sz="2000" dirty="0" smtClean="0">
                <a:latin typeface="Times New Roman" pitchFamily="18" charset="0"/>
                <a:cs typeface="Times New Roman" pitchFamily="18" charset="0"/>
              </a:rPr>
              <a:t>consists of the upper and lower epidermis; it aids in the regulation of gas exchange via stomata. The epidermis is one layer thick, but may have more layers to prevent transpiration.</a:t>
            </a:r>
          </a:p>
          <a:p>
            <a:pPr fontAlgn="base"/>
            <a:endParaRPr lang="en-US" sz="2000" dirty="0" smtClean="0">
              <a:latin typeface="Times New Roman" pitchFamily="18" charset="0"/>
              <a:cs typeface="Times New Roman" pitchFamily="18" charset="0"/>
            </a:endParaRPr>
          </a:p>
          <a:p>
            <a:pPr fontAlgn="base">
              <a:buFont typeface="Arial" pitchFamily="34" charset="0"/>
              <a:buChar char="•"/>
            </a:pPr>
            <a:r>
              <a:rPr lang="en-US" sz="2000" b="1" dirty="0" smtClean="0">
                <a:solidFill>
                  <a:srgbClr val="FF0000"/>
                </a:solidFill>
                <a:latin typeface="Times New Roman" pitchFamily="18" charset="0"/>
                <a:cs typeface="Times New Roman" pitchFamily="18" charset="0"/>
              </a:rPr>
              <a:t>The cuticle </a:t>
            </a:r>
            <a:r>
              <a:rPr lang="en-US" sz="2000" dirty="0" smtClean="0">
                <a:latin typeface="Times New Roman" pitchFamily="18" charset="0"/>
                <a:cs typeface="Times New Roman" pitchFamily="18" charset="0"/>
              </a:rPr>
              <a:t>is located outside the epidermis and protects against water loss; </a:t>
            </a:r>
            <a:r>
              <a:rPr lang="en-US" sz="2000" dirty="0" err="1" smtClean="0">
                <a:latin typeface="Times New Roman" pitchFamily="18" charset="0"/>
                <a:cs typeface="Times New Roman" pitchFamily="18" charset="0"/>
              </a:rPr>
              <a:t>trichomes</a:t>
            </a:r>
            <a:r>
              <a:rPr lang="en-US" sz="2000" dirty="0" smtClean="0">
                <a:latin typeface="Times New Roman" pitchFamily="18" charset="0"/>
                <a:cs typeface="Times New Roman" pitchFamily="18" charset="0"/>
              </a:rPr>
              <a:t> discourage predation.</a:t>
            </a:r>
          </a:p>
          <a:p>
            <a:pPr fontAlgn="base"/>
            <a:endParaRPr lang="en-US" sz="2000" dirty="0" smtClean="0">
              <a:latin typeface="Times New Roman" pitchFamily="18" charset="0"/>
              <a:cs typeface="Times New Roman" pitchFamily="18" charset="0"/>
            </a:endParaRPr>
          </a:p>
          <a:p>
            <a:pPr fontAlgn="base"/>
            <a:r>
              <a:rPr lang="en-US" sz="2000" b="1" dirty="0" smtClean="0">
                <a:solidFill>
                  <a:srgbClr val="FF0000"/>
                </a:solidFill>
                <a:latin typeface="Times New Roman" pitchFamily="18" charset="0"/>
                <a:cs typeface="Times New Roman" pitchFamily="18" charset="0"/>
              </a:rPr>
              <a:t>The </a:t>
            </a:r>
            <a:r>
              <a:rPr lang="en-US" sz="2000" b="1" dirty="0" err="1" smtClean="0">
                <a:solidFill>
                  <a:srgbClr val="FF0000"/>
                </a:solidFill>
                <a:latin typeface="Times New Roman" pitchFamily="18" charset="0"/>
                <a:cs typeface="Times New Roman" pitchFamily="18" charset="0"/>
              </a:rPr>
              <a:t>mesophyll</a:t>
            </a:r>
            <a:r>
              <a:rPr lang="en-US" sz="2000" b="1"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is found between the upper and lower epidermis; it aids in gas exchange and photosynthesis via chloroplasts.</a:t>
            </a:r>
            <a:endParaRPr lang="en-US" sz="2000" dirty="0">
              <a:latin typeface="Times New Roman" pitchFamily="18" charset="0"/>
              <a:cs typeface="Times New Roman" pitchFamily="18" charset="0"/>
            </a:endParaRPr>
          </a:p>
        </p:txBody>
      </p:sp>
      <p:sp>
        <p:nvSpPr>
          <p:cNvPr id="6" name="Rectangle 5"/>
          <p:cNvSpPr/>
          <p:nvPr/>
        </p:nvSpPr>
        <p:spPr>
          <a:xfrm>
            <a:off x="670561" y="4336256"/>
            <a:ext cx="11321142" cy="646331"/>
          </a:xfrm>
          <a:prstGeom prst="rect">
            <a:avLst/>
          </a:prstGeom>
        </p:spPr>
        <p:txBody>
          <a:bodyPr wrap="square">
            <a:spAutoFit/>
          </a:bodyPr>
          <a:lstStyle/>
          <a:p>
            <a:r>
              <a:rPr lang="en-US" dirty="0" smtClean="0">
                <a:latin typeface="Times New Roman" pitchFamily="18" charset="0"/>
                <a:cs typeface="Times New Roman" pitchFamily="18" charset="0"/>
              </a:rPr>
              <a:t>small hairs (</a:t>
            </a:r>
            <a:r>
              <a:rPr lang="en-US" dirty="0" err="1" smtClean="0">
                <a:solidFill>
                  <a:srgbClr val="FF0000"/>
                </a:solidFill>
                <a:latin typeface="Times New Roman" pitchFamily="18" charset="0"/>
                <a:cs typeface="Times New Roman" pitchFamily="18" charset="0"/>
              </a:rPr>
              <a:t>trichomes</a:t>
            </a:r>
            <a:r>
              <a:rPr lang="en-US" dirty="0" smtClean="0">
                <a:latin typeface="Times New Roman" pitchFamily="18" charset="0"/>
                <a:cs typeface="Times New Roman" pitchFamily="18" charset="0"/>
              </a:rPr>
              <a:t>) on the leaf surface help to avert </a:t>
            </a:r>
            <a:r>
              <a:rPr lang="en-US" dirty="0" err="1" smtClean="0">
                <a:latin typeface="Times New Roman" pitchFamily="18" charset="0"/>
                <a:cs typeface="Times New Roman" pitchFamily="18" charset="0"/>
              </a:rPr>
              <a:t>herbivory</a:t>
            </a:r>
            <a:r>
              <a:rPr lang="en-US" dirty="0" smtClean="0">
                <a:latin typeface="Times New Roman" pitchFamily="18" charset="0"/>
                <a:cs typeface="Times New Roman" pitchFamily="18" charset="0"/>
              </a:rPr>
              <a:t> by restricting insect movements or by storing toxic or bad-tasting compounds. They can also reduce the rate of transpiration by blocking air flow across the leaf surface.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image"/>
          <p:cNvPicPr>
            <a:picLocks noChangeAspect="1" noChangeArrowheads="1"/>
          </p:cNvPicPr>
          <p:nvPr/>
        </p:nvPicPr>
        <p:blipFill>
          <a:blip r:embed="rId2"/>
          <a:srcRect t="39184" r="-33" b="3367"/>
          <a:stretch>
            <a:fillRect/>
          </a:stretch>
        </p:blipFill>
        <p:spPr bwMode="auto">
          <a:xfrm>
            <a:off x="6466114" y="0"/>
            <a:ext cx="5725886" cy="4502209"/>
          </a:xfrm>
          <a:prstGeom prst="rect">
            <a:avLst/>
          </a:prstGeom>
          <a:noFill/>
        </p:spPr>
      </p:pic>
      <p:pic>
        <p:nvPicPr>
          <p:cNvPr id="2052" name="Picture 4" descr="Leaf Structure | Carlson Stock Art"/>
          <p:cNvPicPr>
            <a:picLocks noChangeAspect="1" noChangeArrowheads="1"/>
          </p:cNvPicPr>
          <p:nvPr/>
        </p:nvPicPr>
        <p:blipFill>
          <a:blip r:embed="rId3"/>
          <a:srcRect/>
          <a:stretch>
            <a:fillRect/>
          </a:stretch>
        </p:blipFill>
        <p:spPr bwMode="auto">
          <a:xfrm>
            <a:off x="1" y="0"/>
            <a:ext cx="6430943" cy="4180113"/>
          </a:xfrm>
          <a:prstGeom prst="rect">
            <a:avLst/>
          </a:prstGeom>
          <a:noFill/>
        </p:spPr>
      </p:pic>
      <p:sp>
        <p:nvSpPr>
          <p:cNvPr id="6" name="Rectangle 5"/>
          <p:cNvSpPr/>
          <p:nvPr/>
        </p:nvSpPr>
        <p:spPr>
          <a:xfrm>
            <a:off x="226423" y="4445951"/>
            <a:ext cx="6096000" cy="1323439"/>
          </a:xfrm>
          <a:prstGeom prst="rect">
            <a:avLst/>
          </a:prstGeom>
        </p:spPr>
        <p:txBody>
          <a:bodyPr>
            <a:spAutoFit/>
          </a:bodyPr>
          <a:lstStyle/>
          <a:p>
            <a:r>
              <a:rPr lang="en-US" sz="1600" dirty="0" smtClean="0">
                <a:latin typeface="Times New Roman" pitchFamily="18" charset="0"/>
                <a:cs typeface="Times New Roman" pitchFamily="18" charset="0"/>
              </a:rPr>
              <a:t>The central </a:t>
            </a:r>
            <a:r>
              <a:rPr lang="en-US" sz="1600" dirty="0" err="1" smtClean="0">
                <a:latin typeface="Times New Roman" pitchFamily="18" charset="0"/>
                <a:cs typeface="Times New Roman" pitchFamily="18" charset="0"/>
              </a:rPr>
              <a:t>mesophyll</a:t>
            </a:r>
            <a:r>
              <a:rPr lang="en-US" sz="1600" dirty="0" smtClean="0">
                <a:latin typeface="Times New Roman" pitchFamily="18" charset="0"/>
                <a:cs typeface="Times New Roman" pitchFamily="18" charset="0"/>
              </a:rPr>
              <a:t> is sandwiched between an upper and lower epidermis. The </a:t>
            </a:r>
            <a:r>
              <a:rPr lang="en-US" sz="1600" dirty="0" err="1" smtClean="0">
                <a:latin typeface="Times New Roman" pitchFamily="18" charset="0"/>
                <a:cs typeface="Times New Roman" pitchFamily="18" charset="0"/>
              </a:rPr>
              <a:t>mesophyll</a:t>
            </a:r>
            <a:r>
              <a:rPr lang="en-US" sz="1600" dirty="0" smtClean="0">
                <a:latin typeface="Times New Roman" pitchFamily="18" charset="0"/>
                <a:cs typeface="Times New Roman" pitchFamily="18" charset="0"/>
              </a:rPr>
              <a:t> has two layers: an upper palisade layer and a lower spongy layer. Stomata on the leaf underside allow gas exchange. A waxy cuticle covers all aerial surfaces of land plants to minimize water loss.</a:t>
            </a:r>
            <a:endParaRPr lang="en-US" sz="1600" dirty="0">
              <a:latin typeface="Times New Roman" pitchFamily="18" charset="0"/>
              <a:cs typeface="Times New Roman" pitchFamily="18" charset="0"/>
            </a:endParaRPr>
          </a:p>
        </p:txBody>
      </p:sp>
      <p:sp>
        <p:nvSpPr>
          <p:cNvPr id="7" name="Rectangle 6"/>
          <p:cNvSpPr/>
          <p:nvPr/>
        </p:nvSpPr>
        <p:spPr>
          <a:xfrm>
            <a:off x="6509656" y="4529686"/>
            <a:ext cx="5839098" cy="830997"/>
          </a:xfrm>
          <a:prstGeom prst="rect">
            <a:avLst/>
          </a:prstGeom>
        </p:spPr>
        <p:txBody>
          <a:bodyPr wrap="square">
            <a:spAutoFit/>
          </a:bodyPr>
          <a:lstStyle/>
          <a:p>
            <a:r>
              <a:rPr lang="en-US" sz="1600" dirty="0" smtClean="0">
                <a:latin typeface="Times New Roman" pitchFamily="18" charset="0"/>
                <a:cs typeface="Times New Roman" pitchFamily="18" charset="0"/>
              </a:rPr>
              <a:t>These leaf layers are clearly visible in the scanning electron micrograph.  https://courses.lumenlearning.com/boundless-biology/chapter/leaves/</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4" name="Picture 4" descr="Unit 4: Plant Anatomy | Note"/>
          <p:cNvPicPr>
            <a:picLocks noChangeAspect="1" noChangeArrowheads="1"/>
          </p:cNvPicPr>
          <p:nvPr/>
        </p:nvPicPr>
        <p:blipFill>
          <a:blip r:embed="rId2"/>
          <a:srcRect/>
          <a:stretch>
            <a:fillRect/>
          </a:stretch>
        </p:blipFill>
        <p:spPr bwMode="auto">
          <a:xfrm>
            <a:off x="1867989" y="68790"/>
            <a:ext cx="6856427" cy="6789209"/>
          </a:xfrm>
          <a:prstGeom prst="rect">
            <a:avLst/>
          </a:prstGeom>
          <a:noFill/>
        </p:spPr>
      </p:pic>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435428" y="1185595"/>
            <a:ext cx="10785565" cy="769441"/>
          </a:xfrm>
          <a:prstGeom prst="rect">
            <a:avLst/>
          </a:prstGeom>
        </p:spPr>
        <p:txBody>
          <a:bodyPr wrap="square">
            <a:spAutoFit/>
          </a:bodyPr>
          <a:lstStyle/>
          <a:p>
            <a:r>
              <a:rPr lang="en-US" sz="2400" b="1" dirty="0" smtClean="0">
                <a:latin typeface="Times New Roman" pitchFamily="18" charset="0"/>
                <a:cs typeface="Times New Roman" pitchFamily="18" charset="0"/>
              </a:rPr>
              <a:t>Flower:</a:t>
            </a:r>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 part containing the reproductive organs of </a:t>
            </a:r>
            <a:r>
              <a:rPr lang="en-US" sz="2000" dirty="0" err="1" smtClean="0">
                <a:latin typeface="Times New Roman" pitchFamily="18" charset="0"/>
                <a:cs typeface="Times New Roman" pitchFamily="18" charset="0"/>
              </a:rPr>
              <a:t>angiospems</a:t>
            </a:r>
            <a:r>
              <a:rPr lang="en-US" sz="2000" dirty="0" smtClean="0">
                <a:latin typeface="Times New Roman" pitchFamily="18" charset="0"/>
                <a:cs typeface="Times New Roman" pitchFamily="18" charset="0"/>
              </a:rPr>
              <a:t>; their pollination is usually accomplished by animals or wind.</a:t>
            </a:r>
            <a:endParaRPr lang="en-US" sz="2400" dirty="0">
              <a:latin typeface="Times New Roman" pitchFamily="18" charset="0"/>
              <a:cs typeface="Times New Roman" pitchFamily="18" charset="0"/>
            </a:endParaRPr>
          </a:p>
        </p:txBody>
      </p:sp>
      <p:sp>
        <p:nvSpPr>
          <p:cNvPr id="4" name="Rectangle 3"/>
          <p:cNvSpPr/>
          <p:nvPr/>
        </p:nvSpPr>
        <p:spPr>
          <a:xfrm>
            <a:off x="487680" y="2034681"/>
            <a:ext cx="8865326" cy="400110"/>
          </a:xfrm>
          <a:prstGeom prst="rect">
            <a:avLst/>
          </a:prstGeom>
        </p:spPr>
        <p:txBody>
          <a:bodyPr wrap="square">
            <a:spAutoFit/>
          </a:bodyPr>
          <a:lstStyle/>
          <a:p>
            <a:r>
              <a:rPr lang="en-US" sz="2000" dirty="0" smtClean="0">
                <a:solidFill>
                  <a:srgbClr val="FF0000"/>
                </a:solidFill>
                <a:latin typeface="Times New Roman" pitchFamily="18" charset="0"/>
                <a:cs typeface="Times New Roman" pitchFamily="18" charset="0"/>
              </a:rPr>
              <a:t>All flowers contain the same structures: sepals, petals, </a:t>
            </a:r>
            <a:r>
              <a:rPr lang="en-US" sz="2000" dirty="0" err="1" smtClean="0">
                <a:solidFill>
                  <a:srgbClr val="FF0000"/>
                </a:solidFill>
                <a:latin typeface="Times New Roman" pitchFamily="18" charset="0"/>
                <a:cs typeface="Times New Roman" pitchFamily="18" charset="0"/>
              </a:rPr>
              <a:t>carpels</a:t>
            </a:r>
            <a:r>
              <a:rPr lang="en-US" sz="2000" dirty="0" smtClean="0">
                <a:solidFill>
                  <a:srgbClr val="FF0000"/>
                </a:solidFill>
                <a:latin typeface="Times New Roman" pitchFamily="18" charset="0"/>
                <a:cs typeface="Times New Roman" pitchFamily="18" charset="0"/>
              </a:rPr>
              <a:t>, and stamens. </a:t>
            </a:r>
            <a:endParaRPr lang="en-US" sz="2000" dirty="0">
              <a:solidFill>
                <a:srgbClr val="FF0000"/>
              </a:solidFill>
              <a:latin typeface="Times New Roman" pitchFamily="18" charset="0"/>
              <a:cs typeface="Times New Roman" pitchFamily="18" charset="0"/>
            </a:endParaRPr>
          </a:p>
        </p:txBody>
      </p:sp>
      <p:sp>
        <p:nvSpPr>
          <p:cNvPr id="5" name="Rectangle 4"/>
          <p:cNvSpPr/>
          <p:nvPr/>
        </p:nvSpPr>
        <p:spPr>
          <a:xfrm>
            <a:off x="566056" y="2580309"/>
            <a:ext cx="10589623" cy="3477875"/>
          </a:xfrm>
          <a:prstGeom prst="rect">
            <a:avLst/>
          </a:prstGeom>
        </p:spPr>
        <p:txBody>
          <a:bodyPr wrap="square">
            <a:spAutoFit/>
          </a:bodyPr>
          <a:lstStyle/>
          <a:p>
            <a:pPr fontAlgn="base"/>
            <a:r>
              <a:rPr lang="en-US" sz="2000" b="1" dirty="0" smtClean="0">
                <a:latin typeface="Times New Roman" pitchFamily="18" charset="0"/>
                <a:cs typeface="Times New Roman" pitchFamily="18" charset="0"/>
              </a:rPr>
              <a:t>sepal</a:t>
            </a:r>
            <a:r>
              <a:rPr lang="en-US" sz="2000" dirty="0" smtClean="0">
                <a:latin typeface="Times New Roman" pitchFamily="18" charset="0"/>
                <a:cs typeface="Times New Roman" pitchFamily="18" charset="0"/>
              </a:rPr>
              <a:t>: a part of an angiosperm, and one of the component parts of the calyx; collectively the sepals are called the calyx (plural calyces), the outermost whorl of parts that form a flower.</a:t>
            </a:r>
          </a:p>
          <a:p>
            <a:pPr fontAlgn="base"/>
            <a:endParaRPr lang="en-US" sz="2000" dirty="0" smtClean="0">
              <a:latin typeface="Times New Roman" pitchFamily="18" charset="0"/>
              <a:cs typeface="Times New Roman" pitchFamily="18" charset="0"/>
            </a:endParaRPr>
          </a:p>
          <a:p>
            <a:pPr fontAlgn="base"/>
            <a:r>
              <a:rPr lang="en-US" sz="2000" b="1" dirty="0" smtClean="0">
                <a:latin typeface="Times New Roman" pitchFamily="18" charset="0"/>
                <a:cs typeface="Times New Roman" pitchFamily="18" charset="0"/>
              </a:rPr>
              <a:t>corolla</a:t>
            </a:r>
            <a:r>
              <a:rPr lang="en-US" sz="2000" dirty="0" smtClean="0">
                <a:latin typeface="Times New Roman" pitchFamily="18" charset="0"/>
                <a:cs typeface="Times New Roman" pitchFamily="18" charset="0"/>
              </a:rPr>
              <a:t>: an outermost-but-one whorl of a flower, composed of petals, when it is not the same in appearance as the outermost whorl (the calyx); it usually comprises the petal, which may be fused.</a:t>
            </a:r>
          </a:p>
          <a:p>
            <a:pPr fontAlgn="base"/>
            <a:endParaRPr lang="en-US" sz="2000" dirty="0" smtClean="0">
              <a:latin typeface="Times New Roman" pitchFamily="18" charset="0"/>
              <a:cs typeface="Times New Roman" pitchFamily="18" charset="0"/>
            </a:endParaRPr>
          </a:p>
          <a:p>
            <a:pPr fontAlgn="base"/>
            <a:r>
              <a:rPr lang="en-US" sz="2000" b="1" dirty="0" smtClean="0">
                <a:latin typeface="Times New Roman" pitchFamily="18" charset="0"/>
                <a:cs typeface="Times New Roman" pitchFamily="18" charset="0"/>
              </a:rPr>
              <a:t>stamen</a:t>
            </a:r>
            <a:r>
              <a:rPr lang="en-US" sz="2000" dirty="0" smtClean="0">
                <a:latin typeface="Times New Roman" pitchFamily="18" charset="0"/>
                <a:cs typeface="Times New Roman" pitchFamily="18" charset="0"/>
              </a:rPr>
              <a:t>: in flowering plants, the structure in a flower that produces pollen, typically consisting of an anther and a filament.</a:t>
            </a:r>
          </a:p>
          <a:p>
            <a:pPr fontAlgn="base"/>
            <a:endParaRPr lang="en-US" sz="2000" dirty="0" smtClean="0">
              <a:latin typeface="Times New Roman" pitchFamily="18" charset="0"/>
              <a:cs typeface="Times New Roman" pitchFamily="18" charset="0"/>
            </a:endParaRPr>
          </a:p>
          <a:p>
            <a:pPr fontAlgn="base"/>
            <a:r>
              <a:rPr lang="en-US" sz="2000" b="1" dirty="0" smtClean="0">
                <a:latin typeface="Times New Roman" pitchFamily="18" charset="0"/>
                <a:cs typeface="Times New Roman" pitchFamily="18" charset="0"/>
              </a:rPr>
              <a:t>carpel</a:t>
            </a:r>
            <a:r>
              <a:rPr lang="en-US" sz="2000" dirty="0" smtClean="0">
                <a:latin typeface="Times New Roman" pitchFamily="18" charset="0"/>
                <a:cs typeface="Times New Roman" pitchFamily="18" charset="0"/>
              </a:rPr>
              <a:t>: one of the individual female reproductive organs in a flower composed of an ovary, a style, and a stigma; also known as the </a:t>
            </a:r>
            <a:r>
              <a:rPr lang="en-US" sz="2000" dirty="0" err="1" smtClean="0">
                <a:latin typeface="Times New Roman" pitchFamily="18" charset="0"/>
                <a:cs typeface="Times New Roman" pitchFamily="18" charset="0"/>
              </a:rPr>
              <a:t>gynoecium</a:t>
            </a:r>
            <a:endParaRPr lang="en-US" sz="2000" dirty="0">
              <a:latin typeface="Times New Roman" pitchFamily="18" charset="0"/>
              <a:cs typeface="Times New Roman" pitchFamily="18" charset="0"/>
            </a:endParaRPr>
          </a:p>
        </p:txBody>
      </p:sp>
      <p:sp>
        <p:nvSpPr>
          <p:cNvPr id="6" name="TextBox 5"/>
          <p:cNvSpPr txBox="1"/>
          <p:nvPr/>
        </p:nvSpPr>
        <p:spPr>
          <a:xfrm>
            <a:off x="418012" y="287383"/>
            <a:ext cx="5908925"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Plant organs (structure and function)</a:t>
            </a:r>
            <a:endParaRPr lang="en-US" sz="28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8130" name="Picture 2" descr="image"/>
          <p:cNvPicPr>
            <a:picLocks noChangeAspect="1" noChangeArrowheads="1"/>
          </p:cNvPicPr>
          <p:nvPr/>
        </p:nvPicPr>
        <p:blipFill>
          <a:blip r:embed="rId2"/>
          <a:srcRect/>
          <a:stretch>
            <a:fillRect/>
          </a:stretch>
        </p:blipFill>
        <p:spPr bwMode="auto">
          <a:xfrm>
            <a:off x="2991395" y="0"/>
            <a:ext cx="4872445" cy="5180556"/>
          </a:xfrm>
          <a:prstGeom prst="rect">
            <a:avLst/>
          </a:prstGeom>
          <a:noFill/>
        </p:spPr>
      </p:pic>
      <p:sp>
        <p:nvSpPr>
          <p:cNvPr id="3" name="Rectangle 2"/>
          <p:cNvSpPr/>
          <p:nvPr/>
        </p:nvSpPr>
        <p:spPr>
          <a:xfrm>
            <a:off x="2982686" y="5172279"/>
            <a:ext cx="4868091" cy="1323439"/>
          </a:xfrm>
          <a:prstGeom prst="rect">
            <a:avLst/>
          </a:prstGeom>
        </p:spPr>
        <p:txBody>
          <a:bodyPr wrap="square">
            <a:spAutoFit/>
          </a:bodyPr>
          <a:lstStyle/>
          <a:p>
            <a:r>
              <a:rPr lang="en-US" sz="1600" b="1" dirty="0" smtClean="0">
                <a:latin typeface="Times New Roman" pitchFamily="18" charset="0"/>
                <a:cs typeface="Times New Roman" pitchFamily="18" charset="0"/>
              </a:rPr>
              <a:t>Structure of flowers</a:t>
            </a:r>
            <a:r>
              <a:rPr lang="en-US" sz="1600" dirty="0" smtClean="0">
                <a:latin typeface="Times New Roman" pitchFamily="18" charset="0"/>
                <a:cs typeface="Times New Roman" pitchFamily="18" charset="0"/>
              </a:rPr>
              <a:t>: This image depicts the structure of a flower. Perfect flowers produce both male and female floral organs. The flower shown has only one carpel, but some flowers have a cluster of </a:t>
            </a:r>
            <a:r>
              <a:rPr lang="en-US" sz="1600" dirty="0" err="1" smtClean="0">
                <a:latin typeface="Times New Roman" pitchFamily="18" charset="0"/>
                <a:cs typeface="Times New Roman" pitchFamily="18" charset="0"/>
              </a:rPr>
              <a:t>carpels</a:t>
            </a:r>
            <a:r>
              <a:rPr lang="en-US" sz="1600" dirty="0" smtClean="0">
                <a:latin typeface="Times New Roman" pitchFamily="18" charset="0"/>
                <a:cs typeface="Times New Roman" pitchFamily="18" charset="0"/>
              </a:rPr>
              <a:t>. Together, all the </a:t>
            </a:r>
            <a:r>
              <a:rPr lang="en-US" sz="1600" dirty="0" err="1" smtClean="0">
                <a:latin typeface="Times New Roman" pitchFamily="18" charset="0"/>
                <a:cs typeface="Times New Roman" pitchFamily="18" charset="0"/>
              </a:rPr>
              <a:t>carpels</a:t>
            </a:r>
            <a:r>
              <a:rPr lang="en-US" sz="1600" dirty="0" smtClean="0">
                <a:latin typeface="Times New Roman" pitchFamily="18" charset="0"/>
                <a:cs typeface="Times New Roman" pitchFamily="18" charset="0"/>
              </a:rPr>
              <a:t> make up the </a:t>
            </a:r>
            <a:r>
              <a:rPr lang="en-US" sz="1600" dirty="0" err="1" smtClean="0">
                <a:latin typeface="Times New Roman" pitchFamily="18" charset="0"/>
                <a:cs typeface="Times New Roman" pitchFamily="18" charset="0"/>
              </a:rPr>
              <a:t>gynoecium</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457200" y="274320"/>
            <a:ext cx="2975495" cy="523220"/>
          </a:xfrm>
          <a:prstGeom prst="rect">
            <a:avLst/>
          </a:prstGeom>
          <a:noFill/>
        </p:spPr>
        <p:txBody>
          <a:bodyPr wrap="none" rtlCol="0">
            <a:spAutoFit/>
          </a:bodyPr>
          <a:lstStyle/>
          <a:p>
            <a:r>
              <a:rPr lang="en-US" sz="2800" b="1" dirty="0" smtClean="0">
                <a:solidFill>
                  <a:srgbClr val="C00000"/>
                </a:solidFill>
                <a:latin typeface="Times New Roman" pitchFamily="18" charset="0"/>
                <a:cs typeface="Times New Roman" pitchFamily="18" charset="0"/>
              </a:rPr>
              <a:t>The practical part</a:t>
            </a:r>
            <a:endParaRPr lang="en-US" sz="2800" b="1" dirty="0">
              <a:solidFill>
                <a:srgbClr val="C00000"/>
              </a:solidFill>
              <a:latin typeface="Times New Roman" pitchFamily="18" charset="0"/>
              <a:cs typeface="Times New Roman" pitchFamily="18" charset="0"/>
            </a:endParaRPr>
          </a:p>
        </p:txBody>
      </p:sp>
      <p:sp>
        <p:nvSpPr>
          <p:cNvPr id="3" name="Rectangle 2"/>
          <p:cNvSpPr/>
          <p:nvPr/>
        </p:nvSpPr>
        <p:spPr>
          <a:xfrm>
            <a:off x="265610" y="1530421"/>
            <a:ext cx="11926390" cy="707886"/>
          </a:xfrm>
          <a:prstGeom prst="rect">
            <a:avLst/>
          </a:prstGeom>
        </p:spPr>
        <p:txBody>
          <a:bodyPr wrap="square">
            <a:spAutoFit/>
          </a:bodyPr>
          <a:lstStyle/>
          <a:p>
            <a:pPr>
              <a:lnSpc>
                <a:spcPct val="100000"/>
              </a:lnSpc>
              <a:spcBef>
                <a:spcPts val="0"/>
              </a:spcBef>
              <a:spcAft>
                <a:spcPts val="0"/>
              </a:spcAft>
              <a:buFont typeface="Wingdings" pitchFamily="2" charset="2"/>
              <a:buChar char="ü"/>
            </a:pPr>
            <a:r>
              <a:rPr lang="en-US" sz="2000" b="1" dirty="0" smtClean="0">
                <a:latin typeface="Times New Roman" pitchFamily="18" charset="0"/>
                <a:cs typeface="Times New Roman" pitchFamily="18" charset="0"/>
              </a:rPr>
              <a:t>Study available prepared slide of </a:t>
            </a:r>
            <a:r>
              <a:rPr lang="en-US" sz="2000" b="1" dirty="0" err="1" smtClean="0">
                <a:solidFill>
                  <a:srgbClr val="FF0000"/>
                </a:solidFill>
                <a:latin typeface="Times New Roman" pitchFamily="18" charset="0"/>
                <a:cs typeface="Times New Roman" pitchFamily="18" charset="0"/>
              </a:rPr>
              <a:t>dicot</a:t>
            </a:r>
            <a:r>
              <a:rPr lang="en-US" sz="2000" b="1" dirty="0" smtClean="0">
                <a:solidFill>
                  <a:srgbClr val="FF0000"/>
                </a:solidFill>
                <a:latin typeface="Times New Roman" pitchFamily="18" charset="0"/>
                <a:cs typeface="Times New Roman" pitchFamily="18" charset="0"/>
              </a:rPr>
              <a:t> and  Monocot Root</a:t>
            </a:r>
            <a:r>
              <a:rPr lang="en-US" sz="2000" b="1" dirty="0" smtClean="0">
                <a:latin typeface="Times New Roman" pitchFamily="18" charset="0"/>
                <a:cs typeface="Times New Roman" pitchFamily="18" charset="0"/>
              </a:rPr>
              <a:t>,  </a:t>
            </a:r>
            <a:r>
              <a:rPr lang="en-US" sz="2000" b="1" dirty="0" err="1" smtClean="0">
                <a:solidFill>
                  <a:srgbClr val="FF0000"/>
                </a:solidFill>
                <a:latin typeface="Times New Roman" pitchFamily="18" charset="0"/>
                <a:cs typeface="Times New Roman" pitchFamily="18" charset="0"/>
              </a:rPr>
              <a:t>dicot</a:t>
            </a:r>
            <a:r>
              <a:rPr lang="en-US" sz="2000" b="1" dirty="0" smtClean="0">
                <a:solidFill>
                  <a:srgbClr val="FF0000"/>
                </a:solidFill>
                <a:latin typeface="Times New Roman" pitchFamily="18" charset="0"/>
                <a:cs typeface="Times New Roman" pitchFamily="18" charset="0"/>
              </a:rPr>
              <a:t>  and   monocot Stem</a:t>
            </a:r>
            <a:r>
              <a:rPr lang="en-US" sz="2000" b="1" dirty="0" smtClean="0">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root hair</a:t>
            </a:r>
            <a:r>
              <a:rPr lang="en-US" sz="2000" b="1" dirty="0" smtClean="0">
                <a:latin typeface="Times New Roman" pitchFamily="18" charset="0"/>
                <a:cs typeface="Times New Roman" pitchFamily="18" charset="0"/>
              </a:rPr>
              <a:t>, and </a:t>
            </a:r>
            <a:r>
              <a:rPr lang="en-US" sz="2000" b="1" dirty="0" err="1" smtClean="0">
                <a:solidFill>
                  <a:srgbClr val="FF0000"/>
                </a:solidFill>
                <a:latin typeface="Times New Roman" pitchFamily="18" charset="0"/>
                <a:cs typeface="Times New Roman" pitchFamily="18" charset="0"/>
              </a:rPr>
              <a:t>dicot</a:t>
            </a:r>
            <a:r>
              <a:rPr lang="en-US" sz="2000" b="1" dirty="0" smtClean="0">
                <a:solidFill>
                  <a:srgbClr val="FF0000"/>
                </a:solidFill>
                <a:latin typeface="Times New Roman" pitchFamily="18" charset="0"/>
                <a:cs typeface="Times New Roman" pitchFamily="18" charset="0"/>
              </a:rPr>
              <a:t> Leaf</a:t>
            </a:r>
            <a:r>
              <a:rPr lang="en-US" sz="2000" b="1" dirty="0" smtClean="0">
                <a:latin typeface="Times New Roman" pitchFamily="18" charset="0"/>
                <a:cs typeface="Times New Roman" pitchFamily="18" charset="0"/>
              </a:rPr>
              <a:t>.</a:t>
            </a:r>
          </a:p>
        </p:txBody>
      </p:sp>
      <p:sp>
        <p:nvSpPr>
          <p:cNvPr id="4" name="Rectangle 3"/>
          <p:cNvSpPr/>
          <p:nvPr/>
        </p:nvSpPr>
        <p:spPr>
          <a:xfrm>
            <a:off x="304800" y="2450012"/>
            <a:ext cx="10119360" cy="1631216"/>
          </a:xfrm>
          <a:prstGeom prst="rect">
            <a:avLst/>
          </a:prstGeom>
        </p:spPr>
        <p:txBody>
          <a:bodyPr wrap="square">
            <a:spAutoFit/>
          </a:bodyPr>
          <a:lstStyle/>
          <a:p>
            <a:pPr>
              <a:buFont typeface="Wingdings" pitchFamily="2" charset="2"/>
              <a:buChar char="ü"/>
            </a:pPr>
            <a:r>
              <a:rPr lang="en-US" sz="2000" b="1" dirty="0" smtClean="0">
                <a:latin typeface="Times New Roman" pitchFamily="18" charset="0"/>
                <a:cs typeface="Times New Roman" pitchFamily="18" charset="0"/>
              </a:rPr>
              <a:t>Study a fresh stem to determine all of its external parts.</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latin typeface="Times New Roman" pitchFamily="18" charset="0"/>
                <a:cs typeface="Times New Roman" pitchFamily="18" charset="0"/>
              </a:rPr>
              <a:t>Study compound and simple fresh leaves.</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latin typeface="Times New Roman" pitchFamily="18" charset="0"/>
                <a:cs typeface="Times New Roman" pitchFamily="18" charset="0"/>
              </a:rPr>
              <a:t>Study a model of flower  and a longitudinal section of root and determine all parts.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52104063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2853</TotalTime>
  <Words>1680</Words>
  <Application>Microsoft Office PowerPoint</Application>
  <PresentationFormat>Custom</PresentationFormat>
  <Paragraphs>149</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234</cp:revision>
  <dcterms:created xsi:type="dcterms:W3CDTF">2014-09-12T02:18:09Z</dcterms:created>
  <dcterms:modified xsi:type="dcterms:W3CDTF">2021-03-05T16:34:40Z</dcterms:modified>
</cp:coreProperties>
</file>