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compatMode="1" saveSubsetFonts="1">
  <p:sldMasterIdLst>
    <p:sldMasterId id="2147483665" r:id="rId1"/>
    <p:sldMasterId id="2147483966" r:id="rId2"/>
  </p:sldMasterIdLst>
  <p:notesMasterIdLst>
    <p:notesMasterId r:id="rId76"/>
  </p:notesMasterIdLst>
  <p:sldIdLst>
    <p:sldId id="334" r:id="rId3"/>
    <p:sldId id="335" r:id="rId4"/>
    <p:sldId id="357" r:id="rId5"/>
    <p:sldId id="337" r:id="rId6"/>
    <p:sldId id="339" r:id="rId7"/>
    <p:sldId id="340" r:id="rId8"/>
    <p:sldId id="383" r:id="rId9"/>
    <p:sldId id="338" r:id="rId10"/>
    <p:sldId id="373" r:id="rId11"/>
    <p:sldId id="345" r:id="rId12"/>
    <p:sldId id="374" r:id="rId13"/>
    <p:sldId id="346" r:id="rId14"/>
    <p:sldId id="350" r:id="rId15"/>
    <p:sldId id="348" r:id="rId16"/>
    <p:sldId id="375" r:id="rId17"/>
    <p:sldId id="376" r:id="rId18"/>
    <p:sldId id="380" r:id="rId19"/>
    <p:sldId id="256" r:id="rId20"/>
    <p:sldId id="257" r:id="rId21"/>
    <p:sldId id="263" r:id="rId22"/>
    <p:sldId id="262" r:id="rId23"/>
    <p:sldId id="265" r:id="rId24"/>
    <p:sldId id="266" r:id="rId25"/>
    <p:sldId id="269" r:id="rId26"/>
    <p:sldId id="360" r:id="rId27"/>
    <p:sldId id="278" r:id="rId28"/>
    <p:sldId id="270" r:id="rId29"/>
    <p:sldId id="272" r:id="rId30"/>
    <p:sldId id="273" r:id="rId31"/>
    <p:sldId id="279" r:id="rId32"/>
    <p:sldId id="281" r:id="rId33"/>
    <p:sldId id="364" r:id="rId34"/>
    <p:sldId id="285" r:id="rId35"/>
    <p:sldId id="289" r:id="rId36"/>
    <p:sldId id="291" r:id="rId37"/>
    <p:sldId id="293" r:id="rId38"/>
    <p:sldId id="365" r:id="rId39"/>
    <p:sldId id="294" r:id="rId40"/>
    <p:sldId id="297" r:id="rId41"/>
    <p:sldId id="295" r:id="rId42"/>
    <p:sldId id="298" r:id="rId43"/>
    <p:sldId id="299" r:id="rId44"/>
    <p:sldId id="302" r:id="rId45"/>
    <p:sldId id="303" r:id="rId46"/>
    <p:sldId id="353" r:id="rId47"/>
    <p:sldId id="355" r:id="rId48"/>
    <p:sldId id="381" r:id="rId49"/>
    <p:sldId id="306" r:id="rId50"/>
    <p:sldId id="307" r:id="rId51"/>
    <p:sldId id="318" r:id="rId52"/>
    <p:sldId id="367" r:id="rId53"/>
    <p:sldId id="369" r:id="rId54"/>
    <p:sldId id="382" r:id="rId55"/>
    <p:sldId id="310" r:id="rId56"/>
    <p:sldId id="312" r:id="rId57"/>
    <p:sldId id="314" r:id="rId58"/>
    <p:sldId id="315" r:id="rId59"/>
    <p:sldId id="321" r:id="rId60"/>
    <p:sldId id="322" r:id="rId61"/>
    <p:sldId id="323" r:id="rId62"/>
    <p:sldId id="324" r:id="rId63"/>
    <p:sldId id="325" r:id="rId64"/>
    <p:sldId id="356" r:id="rId65"/>
    <p:sldId id="326" r:id="rId66"/>
    <p:sldId id="327" r:id="rId67"/>
    <p:sldId id="328" r:id="rId68"/>
    <p:sldId id="371" r:id="rId69"/>
    <p:sldId id="330" r:id="rId70"/>
    <p:sldId id="372" r:id="rId71"/>
    <p:sldId id="331" r:id="rId72"/>
    <p:sldId id="332" r:id="rId73"/>
    <p:sldId id="333" r:id="rId74"/>
    <p:sldId id="363" r:id="rId75"/>
  </p:sldIdLst>
  <p:sldSz cx="9144000" cy="6858000" type="screen4x3"/>
  <p:notesSz cx="6858000" cy="9144000"/>
  <p:defaultTextStyle>
    <a:defPPr>
      <a:defRPr lang="en-GB"/>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88" autoAdjust="0"/>
    <p:restoredTop sz="93954" autoAdjust="0"/>
  </p:normalViewPr>
  <p:slideViewPr>
    <p:cSldViewPr>
      <p:cViewPr varScale="1">
        <p:scale>
          <a:sx n="152" d="100"/>
          <a:sy n="152" d="100"/>
        </p:scale>
        <p:origin x="1624" y="176"/>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999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D08B3D03-9873-0A57-836D-BB22D6414CBE}"/>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cs typeface="Arial" charset="0"/>
              </a:defRPr>
            </a:lvl1pPr>
          </a:lstStyle>
          <a:p>
            <a:pPr>
              <a:defRPr/>
            </a:pPr>
            <a:endParaRPr lang="en-GB"/>
          </a:p>
        </p:txBody>
      </p:sp>
      <p:sp>
        <p:nvSpPr>
          <p:cNvPr id="47107" name="Rectangle 3">
            <a:extLst>
              <a:ext uri="{FF2B5EF4-FFF2-40B4-BE49-F238E27FC236}">
                <a16:creationId xmlns:a16="http://schemas.microsoft.com/office/drawing/2014/main" id="{6FFFD250-D835-6AD4-C5CC-1602464B14B2}"/>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cs typeface="Arial" charset="0"/>
              </a:defRPr>
            </a:lvl1pPr>
          </a:lstStyle>
          <a:p>
            <a:pPr>
              <a:defRPr/>
            </a:pPr>
            <a:endParaRPr lang="en-GB"/>
          </a:p>
        </p:txBody>
      </p:sp>
      <p:sp>
        <p:nvSpPr>
          <p:cNvPr id="6148" name="Rectangle 4">
            <a:extLst>
              <a:ext uri="{FF2B5EF4-FFF2-40B4-BE49-F238E27FC236}">
                <a16:creationId xmlns:a16="http://schemas.microsoft.com/office/drawing/2014/main" id="{4B72EEF2-4080-0C15-DED9-141CF81307BE}"/>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9" name="Rectangle 5">
            <a:extLst>
              <a:ext uri="{FF2B5EF4-FFF2-40B4-BE49-F238E27FC236}">
                <a16:creationId xmlns:a16="http://schemas.microsoft.com/office/drawing/2014/main" id="{D9947AEA-7FDC-2CF8-2C68-4F65760F45F6}"/>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47110" name="Rectangle 6">
            <a:extLst>
              <a:ext uri="{FF2B5EF4-FFF2-40B4-BE49-F238E27FC236}">
                <a16:creationId xmlns:a16="http://schemas.microsoft.com/office/drawing/2014/main" id="{DFB1BDEF-7F24-06F6-B1FB-C987BE80635C}"/>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cs typeface="Arial" charset="0"/>
              </a:defRPr>
            </a:lvl1pPr>
          </a:lstStyle>
          <a:p>
            <a:pPr>
              <a:defRPr/>
            </a:pPr>
            <a:endParaRPr lang="en-GB"/>
          </a:p>
        </p:txBody>
      </p:sp>
      <p:sp>
        <p:nvSpPr>
          <p:cNvPr id="47111" name="Rectangle 7">
            <a:extLst>
              <a:ext uri="{FF2B5EF4-FFF2-40B4-BE49-F238E27FC236}">
                <a16:creationId xmlns:a16="http://schemas.microsoft.com/office/drawing/2014/main" id="{F3C9410B-EDBA-F330-AE9A-20B7F2FB4D6B}"/>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fld id="{65C7C4B3-759F-4749-9290-DE96CCF0403F}" type="slidenum">
              <a:rPr lang="en-GB" altLang="en-US"/>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11306317-CF06-A4DA-71C3-695B662C91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DAE2C8B-B763-484A-A8A2-DC175503E31D}" type="slidenum">
              <a:rPr lang="en-GB" altLang="en-US"/>
              <a:pPr>
                <a:spcBef>
                  <a:spcPct val="0"/>
                </a:spcBef>
              </a:pPr>
              <a:t>1</a:t>
            </a:fld>
            <a:endParaRPr lang="en-GB" altLang="en-US"/>
          </a:p>
        </p:txBody>
      </p:sp>
      <p:sp>
        <p:nvSpPr>
          <p:cNvPr id="8195" name="Rectangle 2">
            <a:extLst>
              <a:ext uri="{FF2B5EF4-FFF2-40B4-BE49-F238E27FC236}">
                <a16:creationId xmlns:a16="http://schemas.microsoft.com/office/drawing/2014/main" id="{D655C5A5-E40E-0CA8-7648-BC57BB1DC9E7}"/>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3A532E12-94C1-8EB1-507C-F561841F11C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5C51749D-648E-25C7-AD93-E59203B21CB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4301745-8E45-774E-B2A7-DE949A58EC9F}" type="slidenum">
              <a:rPr lang="en-GB" altLang="en-US"/>
              <a:pPr>
                <a:spcBef>
                  <a:spcPct val="0"/>
                </a:spcBef>
              </a:pPr>
              <a:t>2</a:t>
            </a:fld>
            <a:endParaRPr lang="en-GB" altLang="en-US"/>
          </a:p>
        </p:txBody>
      </p:sp>
      <p:sp>
        <p:nvSpPr>
          <p:cNvPr id="10243" name="Rectangle 2">
            <a:extLst>
              <a:ext uri="{FF2B5EF4-FFF2-40B4-BE49-F238E27FC236}">
                <a16:creationId xmlns:a16="http://schemas.microsoft.com/office/drawing/2014/main" id="{2D45FF05-AF70-E783-2911-CE4051AE6E57}"/>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E02BC984-C6DB-E83E-AFD7-D2C3482D114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a:extLst>
              <a:ext uri="{FF2B5EF4-FFF2-40B4-BE49-F238E27FC236}">
                <a16:creationId xmlns:a16="http://schemas.microsoft.com/office/drawing/2014/main" id="{EB6418BC-F495-CD2A-6FC8-DC2B35553523}"/>
              </a:ext>
            </a:extLst>
          </p:cNvPr>
          <p:cNvSpPr>
            <a:spLocks noGrp="1" noRot="1" noChangeAspect="1" noTextEdit="1"/>
          </p:cNvSpPr>
          <p:nvPr>
            <p:ph type="sldImg"/>
          </p:nvPr>
        </p:nvSpPr>
        <p:spPr>
          <a:ln/>
        </p:spPr>
      </p:sp>
      <p:sp>
        <p:nvSpPr>
          <p:cNvPr id="12291" name="Notes Placeholder 2">
            <a:extLst>
              <a:ext uri="{FF2B5EF4-FFF2-40B4-BE49-F238E27FC236}">
                <a16:creationId xmlns:a16="http://schemas.microsoft.com/office/drawing/2014/main" id="{88D572D2-C4B5-B30C-8DBC-69F21E16F21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
        <p:nvSpPr>
          <p:cNvPr id="12292" name="Slide Number Placeholder 3">
            <a:extLst>
              <a:ext uri="{FF2B5EF4-FFF2-40B4-BE49-F238E27FC236}">
                <a16:creationId xmlns:a16="http://schemas.microsoft.com/office/drawing/2014/main" id="{BC522FF0-D49F-9D29-2BDF-8C152CC3E98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5151A6B-2E4A-D043-9637-C04DE58E1708}" type="slidenum">
              <a:rPr lang="en-GB" altLang="en-US"/>
              <a:pPr>
                <a:spcBef>
                  <a:spcPct val="0"/>
                </a:spcBef>
              </a:pPr>
              <a:t>3</a:t>
            </a:fld>
            <a:endParaRPr lang="en-GB"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8DB43BB4-16FF-AE3A-929D-E5EF9AD124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D348533-5795-0344-BBCD-4C553E685196}" type="slidenum">
              <a:rPr lang="en-GB" altLang="en-US"/>
              <a:pPr>
                <a:spcBef>
                  <a:spcPct val="0"/>
                </a:spcBef>
              </a:pPr>
              <a:t>4</a:t>
            </a:fld>
            <a:endParaRPr lang="en-GB" altLang="en-US"/>
          </a:p>
        </p:txBody>
      </p:sp>
      <p:sp>
        <p:nvSpPr>
          <p:cNvPr id="14339" name="Rectangle 2">
            <a:extLst>
              <a:ext uri="{FF2B5EF4-FFF2-40B4-BE49-F238E27FC236}">
                <a16:creationId xmlns:a16="http://schemas.microsoft.com/office/drawing/2014/main" id="{A2574E81-1506-996F-DF5E-81977668E07C}"/>
              </a:ext>
            </a:extLst>
          </p:cNvPr>
          <p:cNvSpPr>
            <a:spLocks noGrp="1" noRot="1" noChangeAspect="1" noChangeArrowheads="1" noTextEdit="1"/>
          </p:cNvSpPr>
          <p:nvPr>
            <p:ph type="sldImg"/>
          </p:nvPr>
        </p:nvSpPr>
        <p:spPr>
          <a:ln/>
        </p:spPr>
      </p:sp>
      <p:sp>
        <p:nvSpPr>
          <p:cNvPr id="14340" name="Rectangle 3">
            <a:extLst>
              <a:ext uri="{FF2B5EF4-FFF2-40B4-BE49-F238E27FC236}">
                <a16:creationId xmlns:a16="http://schemas.microsoft.com/office/drawing/2014/main" id="{E527302C-2782-DB93-5BA0-A826626490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38B8E12C-418F-7242-9DD9-A27BB0123B8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4FC498F-BCF9-E048-812F-4D38403F8776}" type="slidenum">
              <a:rPr lang="en-GB" altLang="en-US"/>
              <a:pPr>
                <a:spcBef>
                  <a:spcPct val="0"/>
                </a:spcBef>
              </a:pPr>
              <a:t>5</a:t>
            </a:fld>
            <a:endParaRPr lang="en-GB" altLang="en-US"/>
          </a:p>
        </p:txBody>
      </p:sp>
      <p:sp>
        <p:nvSpPr>
          <p:cNvPr id="16387" name="Rectangle 2">
            <a:extLst>
              <a:ext uri="{FF2B5EF4-FFF2-40B4-BE49-F238E27FC236}">
                <a16:creationId xmlns:a16="http://schemas.microsoft.com/office/drawing/2014/main" id="{7426D555-99C0-7616-E9D8-84EA5D682860}"/>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276232FC-6B66-D9ED-154C-4962FD9602C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494CEC83-1E56-B2BF-C1A7-C2E0BBE7B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3CD19694-A71E-574E-B3FE-90801FFDB771}" type="slidenum">
              <a:rPr lang="en-GB" altLang="en-US"/>
              <a:pPr>
                <a:spcBef>
                  <a:spcPct val="0"/>
                </a:spcBef>
              </a:pPr>
              <a:t>6</a:t>
            </a:fld>
            <a:endParaRPr lang="en-GB" altLang="en-US"/>
          </a:p>
        </p:txBody>
      </p:sp>
      <p:sp>
        <p:nvSpPr>
          <p:cNvPr id="18435" name="Rectangle 2">
            <a:extLst>
              <a:ext uri="{FF2B5EF4-FFF2-40B4-BE49-F238E27FC236}">
                <a16:creationId xmlns:a16="http://schemas.microsoft.com/office/drawing/2014/main" id="{689678AB-05F3-BFC7-C459-7406C1858136}"/>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BC174C46-9E2B-940F-BF7E-AB6C402620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3A6C7077-C2B4-0F77-EA92-BB507F1C14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3F33C13D-BA24-3140-B070-53C96BBEFE75}" type="slidenum">
              <a:rPr lang="en-GB" altLang="en-US"/>
              <a:pPr>
                <a:spcBef>
                  <a:spcPct val="0"/>
                </a:spcBef>
              </a:pPr>
              <a:t>8</a:t>
            </a:fld>
            <a:endParaRPr lang="en-GB" altLang="en-US"/>
          </a:p>
        </p:txBody>
      </p:sp>
      <p:sp>
        <p:nvSpPr>
          <p:cNvPr id="20483" name="Rectangle 2">
            <a:extLst>
              <a:ext uri="{FF2B5EF4-FFF2-40B4-BE49-F238E27FC236}">
                <a16:creationId xmlns:a16="http://schemas.microsoft.com/office/drawing/2014/main" id="{D49C4FEF-2391-CD46-07F7-40B052D069E0}"/>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1028D6E4-6141-FD67-711A-37A8DC2441A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5BC607FE-2513-332B-58A7-302A7ECB9887}"/>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D0E7BBA5-F341-7D4F-807C-170947C85FD3}" type="slidenum">
              <a:rPr lang="en-US" altLang="en-US">
                <a:latin typeface="Times" pitchFamily="-32" charset="0"/>
                <a:ea typeface="ＭＳ Ｐゴシック" panose="020B0600070205080204" pitchFamily="34" charset="-128"/>
              </a:rPr>
              <a:pPr algn="r" eaLnBrk="1" hangingPunct="1">
                <a:spcBef>
                  <a:spcPct val="0"/>
                </a:spcBef>
              </a:pPr>
              <a:t>9</a:t>
            </a:fld>
            <a:endParaRPr lang="en-US" altLang="en-US">
              <a:latin typeface="Times" pitchFamily="-32" charset="0"/>
              <a:ea typeface="ＭＳ Ｐゴシック" panose="020B0600070205080204" pitchFamily="34" charset="-128"/>
            </a:endParaRPr>
          </a:p>
        </p:txBody>
      </p:sp>
      <p:sp>
        <p:nvSpPr>
          <p:cNvPr id="22531" name="Rectangle 2">
            <a:extLst>
              <a:ext uri="{FF2B5EF4-FFF2-40B4-BE49-F238E27FC236}">
                <a16:creationId xmlns:a16="http://schemas.microsoft.com/office/drawing/2014/main" id="{B4FB91F5-5837-0342-7189-0F6A66E609B3}"/>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AEDE4933-B67C-A390-B364-7AC6DBF61A9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cs typeface="Arial" panose="020B0604020202020204" pitchFamily="34" charset="0"/>
              </a:rPr>
              <a:t>Figure 12-3</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05ABB41B-CA16-8547-4771-F68788701EB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5AEFA5A-AE52-F345-8E4C-F4D96C039DAD}" type="slidenum">
              <a:rPr lang="en-GB" altLang="en-US"/>
              <a:pPr>
                <a:spcBef>
                  <a:spcPct val="0"/>
                </a:spcBef>
              </a:pPr>
              <a:t>10</a:t>
            </a:fld>
            <a:endParaRPr lang="en-GB" altLang="en-US"/>
          </a:p>
        </p:txBody>
      </p:sp>
      <p:sp>
        <p:nvSpPr>
          <p:cNvPr id="24579" name="Rectangle 2">
            <a:extLst>
              <a:ext uri="{FF2B5EF4-FFF2-40B4-BE49-F238E27FC236}">
                <a16:creationId xmlns:a16="http://schemas.microsoft.com/office/drawing/2014/main" id="{C069EAB6-FEC0-C210-9086-C0EC449E6ED7}"/>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C0122A1B-47A3-39F1-363D-46459E96C05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B6D404E5-EBC3-9BC5-32A0-F86C1D5BCFC7}"/>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42DD8D70-5EF2-2846-A278-1813FA66E9EF}" type="slidenum">
              <a:rPr lang="en-US" altLang="en-US">
                <a:latin typeface="Times" pitchFamily="-32" charset="0"/>
                <a:ea typeface="ＭＳ Ｐゴシック" panose="020B0600070205080204" pitchFamily="34" charset="-128"/>
              </a:rPr>
              <a:pPr algn="r" eaLnBrk="1" hangingPunct="1">
                <a:spcBef>
                  <a:spcPct val="0"/>
                </a:spcBef>
              </a:pPr>
              <a:t>11</a:t>
            </a:fld>
            <a:endParaRPr lang="en-US" altLang="en-US">
              <a:latin typeface="Times" pitchFamily="-32" charset="0"/>
              <a:ea typeface="ＭＳ Ｐゴシック" panose="020B0600070205080204" pitchFamily="34" charset="-128"/>
            </a:endParaRPr>
          </a:p>
        </p:txBody>
      </p:sp>
      <p:sp>
        <p:nvSpPr>
          <p:cNvPr id="26627" name="Rectangle 2">
            <a:extLst>
              <a:ext uri="{FF2B5EF4-FFF2-40B4-BE49-F238E27FC236}">
                <a16:creationId xmlns:a16="http://schemas.microsoft.com/office/drawing/2014/main" id="{0B388582-FE33-C5CC-BFA3-799605A65F71}"/>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ADD7F658-27A9-B4C8-52A6-60DA187B59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cs typeface="Arial" panose="020B0604020202020204" pitchFamily="34" charset="0"/>
              </a:rPr>
              <a:t>Table 12-1</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966B05FF-29D0-C627-C05B-88832382EA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885B089-5E79-974B-B5CC-1BF0B96C9374}" type="slidenum">
              <a:rPr lang="en-GB" altLang="en-US"/>
              <a:pPr>
                <a:spcBef>
                  <a:spcPct val="0"/>
                </a:spcBef>
              </a:pPr>
              <a:t>12</a:t>
            </a:fld>
            <a:endParaRPr lang="en-GB" altLang="en-US"/>
          </a:p>
        </p:txBody>
      </p:sp>
      <p:sp>
        <p:nvSpPr>
          <p:cNvPr id="28675" name="Rectangle 2">
            <a:extLst>
              <a:ext uri="{FF2B5EF4-FFF2-40B4-BE49-F238E27FC236}">
                <a16:creationId xmlns:a16="http://schemas.microsoft.com/office/drawing/2014/main" id="{A24590EC-E605-0A83-C0BF-38DE5F2C2A6A}"/>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B19E06E4-FA81-1ECE-6325-8CDD98D6D22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2ADD4521-B5FE-FE8D-0364-9D0F7032D81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9EAF635-A53F-224A-838D-C0E58421074B}" type="slidenum">
              <a:rPr lang="en-GB" altLang="en-US"/>
              <a:pPr>
                <a:spcBef>
                  <a:spcPct val="0"/>
                </a:spcBef>
              </a:pPr>
              <a:t>13</a:t>
            </a:fld>
            <a:endParaRPr lang="en-GB" altLang="en-US"/>
          </a:p>
        </p:txBody>
      </p:sp>
      <p:sp>
        <p:nvSpPr>
          <p:cNvPr id="30723" name="Rectangle 2">
            <a:extLst>
              <a:ext uri="{FF2B5EF4-FFF2-40B4-BE49-F238E27FC236}">
                <a16:creationId xmlns:a16="http://schemas.microsoft.com/office/drawing/2014/main" id="{484C0550-6D98-0032-35A0-6AB899A561DC}"/>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DA8ED57A-8ABC-9335-5F08-D75256C372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2D8A6E1B-D729-D081-B99B-192565429C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080B608-4796-D94F-9403-DFC4B001897F}" type="slidenum">
              <a:rPr lang="en-GB" altLang="en-US"/>
              <a:pPr>
                <a:spcBef>
                  <a:spcPct val="0"/>
                </a:spcBef>
              </a:pPr>
              <a:t>14</a:t>
            </a:fld>
            <a:endParaRPr lang="en-GB" altLang="en-US"/>
          </a:p>
        </p:txBody>
      </p:sp>
      <p:sp>
        <p:nvSpPr>
          <p:cNvPr id="32771" name="Rectangle 2">
            <a:extLst>
              <a:ext uri="{FF2B5EF4-FFF2-40B4-BE49-F238E27FC236}">
                <a16:creationId xmlns:a16="http://schemas.microsoft.com/office/drawing/2014/main" id="{57603B3E-F92E-C52A-FF03-AF21BCC65CC6}"/>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BD885607-6D25-B63E-E1BC-9C20D01133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8C8C947A-8FD8-B912-D27D-FB74B0EDCCA6}"/>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a:spcBef>
                <a:spcPct val="0"/>
              </a:spcBef>
            </a:pPr>
            <a:fld id="{2A7794A0-ACEA-874B-9CF1-08718EDCCF3F}" type="slidenum">
              <a:rPr lang="en-US" altLang="en-US">
                <a:solidFill>
                  <a:srgbClr val="000000"/>
                </a:solidFill>
                <a:latin typeface="Times" pitchFamily="-32" charset="0"/>
                <a:ea typeface="ＭＳ Ｐゴシック" panose="020B0600070205080204" pitchFamily="34" charset="-128"/>
              </a:rPr>
              <a:pPr algn="r">
                <a:spcBef>
                  <a:spcPct val="0"/>
                </a:spcBef>
              </a:pPr>
              <a:t>17</a:t>
            </a:fld>
            <a:endParaRPr lang="en-US" altLang="en-US">
              <a:solidFill>
                <a:srgbClr val="000000"/>
              </a:solidFill>
              <a:latin typeface="Times" pitchFamily="-32" charset="0"/>
              <a:ea typeface="ＭＳ Ｐゴシック" panose="020B0600070205080204" pitchFamily="34" charset="-128"/>
            </a:endParaRPr>
          </a:p>
        </p:txBody>
      </p:sp>
      <p:sp>
        <p:nvSpPr>
          <p:cNvPr id="36867" name="Rectangle 2">
            <a:extLst>
              <a:ext uri="{FF2B5EF4-FFF2-40B4-BE49-F238E27FC236}">
                <a16:creationId xmlns:a16="http://schemas.microsoft.com/office/drawing/2014/main" id="{924FBD55-66A3-E487-F16B-3A464A4A4E7C}"/>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EE01DE96-34F8-4988-54CC-BB556C357A3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cs typeface="Arial" panose="020B0604020202020204" pitchFamily="34" charset="0"/>
              </a:rPr>
              <a:t>Figure 12-9</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566F4B2B-D014-4417-8153-CCF9BBD2B6C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FA0D74F-4D7A-2743-B8DA-705EDDCDA2D7}" type="slidenum">
              <a:rPr lang="en-GB" altLang="en-US"/>
              <a:pPr>
                <a:spcBef>
                  <a:spcPct val="0"/>
                </a:spcBef>
              </a:pPr>
              <a:t>18</a:t>
            </a:fld>
            <a:endParaRPr lang="en-GB" altLang="en-US"/>
          </a:p>
        </p:txBody>
      </p:sp>
      <p:sp>
        <p:nvSpPr>
          <p:cNvPr id="38915" name="Rectangle 2">
            <a:extLst>
              <a:ext uri="{FF2B5EF4-FFF2-40B4-BE49-F238E27FC236}">
                <a16:creationId xmlns:a16="http://schemas.microsoft.com/office/drawing/2014/main" id="{AA8F588D-07DA-3B4C-4E1E-81107D33C9CD}"/>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A247FAD4-9FD4-1796-4AA4-A7A438264D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80393CDB-210A-5B47-AE24-BD784AB2DEB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0C45FB8-74DD-4243-AE70-CAE81BB84D79}" type="slidenum">
              <a:rPr lang="en-GB" altLang="en-US"/>
              <a:pPr>
                <a:spcBef>
                  <a:spcPct val="0"/>
                </a:spcBef>
              </a:pPr>
              <a:t>19</a:t>
            </a:fld>
            <a:endParaRPr lang="en-GB" altLang="en-US"/>
          </a:p>
        </p:txBody>
      </p:sp>
      <p:sp>
        <p:nvSpPr>
          <p:cNvPr id="40963" name="Rectangle 2">
            <a:extLst>
              <a:ext uri="{FF2B5EF4-FFF2-40B4-BE49-F238E27FC236}">
                <a16:creationId xmlns:a16="http://schemas.microsoft.com/office/drawing/2014/main" id="{E8A35815-397E-8431-9FFF-F2E7B07D3628}"/>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A690C3A9-3F02-9746-4A9E-B9C1480CCF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80456613-510A-3995-8F52-EF16E39FE1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CF076FC-5FEE-5C4F-8982-F691E3188DCE}" type="slidenum">
              <a:rPr lang="en-GB" altLang="en-US"/>
              <a:pPr>
                <a:spcBef>
                  <a:spcPct val="0"/>
                </a:spcBef>
              </a:pPr>
              <a:t>20</a:t>
            </a:fld>
            <a:endParaRPr lang="en-GB" altLang="en-US"/>
          </a:p>
        </p:txBody>
      </p:sp>
      <p:sp>
        <p:nvSpPr>
          <p:cNvPr id="43011" name="Rectangle 2">
            <a:extLst>
              <a:ext uri="{FF2B5EF4-FFF2-40B4-BE49-F238E27FC236}">
                <a16:creationId xmlns:a16="http://schemas.microsoft.com/office/drawing/2014/main" id="{DDC7707C-B958-FF9E-F3C1-D62C4CFDFC80}"/>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171F6E5B-D674-F860-ACE9-83C5771981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Binding of other architectural proteins governs the directionality and efficiency of recombination</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FE7B65E1-C942-DA0C-CC61-A08B1FB0E46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56E10455-2207-2449-84E0-74529BAEBF63}" type="slidenum">
              <a:rPr lang="en-GB" altLang="en-US"/>
              <a:pPr>
                <a:spcBef>
                  <a:spcPct val="0"/>
                </a:spcBef>
              </a:pPr>
              <a:t>21</a:t>
            </a:fld>
            <a:endParaRPr lang="en-GB" altLang="en-US"/>
          </a:p>
        </p:txBody>
      </p:sp>
      <p:sp>
        <p:nvSpPr>
          <p:cNvPr id="45059" name="Rectangle 2">
            <a:extLst>
              <a:ext uri="{FF2B5EF4-FFF2-40B4-BE49-F238E27FC236}">
                <a16:creationId xmlns:a16="http://schemas.microsoft.com/office/drawing/2014/main" id="{9DF26F9D-8F69-38C7-7A30-1AF420866F16}"/>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C5447134-61E0-C7A4-5DD3-8F57A72156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160E0ABC-7048-064B-BACC-581624764E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3DDCE76D-DE57-C342-A9E8-06F3C18457F6}" type="slidenum">
              <a:rPr lang="en-GB" altLang="en-US"/>
              <a:pPr>
                <a:spcBef>
                  <a:spcPct val="0"/>
                </a:spcBef>
              </a:pPr>
              <a:t>22</a:t>
            </a:fld>
            <a:endParaRPr lang="en-GB" altLang="en-US"/>
          </a:p>
        </p:txBody>
      </p:sp>
      <p:sp>
        <p:nvSpPr>
          <p:cNvPr id="47107" name="Rectangle 2">
            <a:extLst>
              <a:ext uri="{FF2B5EF4-FFF2-40B4-BE49-F238E27FC236}">
                <a16:creationId xmlns:a16="http://schemas.microsoft.com/office/drawing/2014/main" id="{4C2C3682-0F8B-B13A-032D-FED936188376}"/>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22482632-882F-7550-BEB9-8C6335C3141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B61066E3-6538-738D-C8E4-0F33290CCA9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F0C854C-47ED-EB41-A6AE-7036D544A248}" type="slidenum">
              <a:rPr lang="en-GB" altLang="en-US"/>
              <a:pPr>
                <a:spcBef>
                  <a:spcPct val="0"/>
                </a:spcBef>
              </a:pPr>
              <a:t>23</a:t>
            </a:fld>
            <a:endParaRPr lang="en-GB" altLang="en-US"/>
          </a:p>
        </p:txBody>
      </p:sp>
      <p:sp>
        <p:nvSpPr>
          <p:cNvPr id="49155" name="Rectangle 2">
            <a:extLst>
              <a:ext uri="{FF2B5EF4-FFF2-40B4-BE49-F238E27FC236}">
                <a16:creationId xmlns:a16="http://schemas.microsoft.com/office/drawing/2014/main" id="{5E77A984-BABA-EDCE-9EB1-FE0DA36E621C}"/>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8C9269EE-314E-D18B-5AE1-0787D75A08F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45AC490C-4BCC-8F78-6999-122F93451C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3971C9A-6146-104C-9C5C-B99A999FCA54}" type="slidenum">
              <a:rPr lang="en-GB" altLang="en-US"/>
              <a:pPr>
                <a:spcBef>
                  <a:spcPct val="0"/>
                </a:spcBef>
              </a:pPr>
              <a:t>24</a:t>
            </a:fld>
            <a:endParaRPr lang="en-GB" altLang="en-US"/>
          </a:p>
        </p:txBody>
      </p:sp>
      <p:sp>
        <p:nvSpPr>
          <p:cNvPr id="51203" name="Rectangle 2">
            <a:extLst>
              <a:ext uri="{FF2B5EF4-FFF2-40B4-BE49-F238E27FC236}">
                <a16:creationId xmlns:a16="http://schemas.microsoft.com/office/drawing/2014/main" id="{4049A2D7-CA62-CE27-1F32-1D5A5D7728FB}"/>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696A5980-1D5E-3E17-DCA5-C2FB8ADD7F7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a:extLst>
              <a:ext uri="{FF2B5EF4-FFF2-40B4-BE49-F238E27FC236}">
                <a16:creationId xmlns:a16="http://schemas.microsoft.com/office/drawing/2014/main" id="{8516A6A8-DFD4-C5B4-5437-1FC87F881AC6}"/>
              </a:ext>
            </a:extLst>
          </p:cNvPr>
          <p:cNvSpPr>
            <a:spLocks noGrp="1" noRot="1" noChangeAspect="1" noTextEdit="1"/>
          </p:cNvSpPr>
          <p:nvPr>
            <p:ph type="sldImg"/>
          </p:nvPr>
        </p:nvSpPr>
        <p:spPr>
          <a:ln/>
        </p:spPr>
      </p:sp>
      <p:sp>
        <p:nvSpPr>
          <p:cNvPr id="53251" name="Notes Placeholder 2">
            <a:extLst>
              <a:ext uri="{FF2B5EF4-FFF2-40B4-BE49-F238E27FC236}">
                <a16:creationId xmlns:a16="http://schemas.microsoft.com/office/drawing/2014/main" id="{EE7723A0-8B74-7ADD-21B2-43D2059362D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
        <p:nvSpPr>
          <p:cNvPr id="53252" name="Slide Number Placeholder 3">
            <a:extLst>
              <a:ext uri="{FF2B5EF4-FFF2-40B4-BE49-F238E27FC236}">
                <a16:creationId xmlns:a16="http://schemas.microsoft.com/office/drawing/2014/main" id="{2ABB8B08-3E6C-599E-E9AD-808EB972D8B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347C4EB-8362-4D40-9C52-9A6CEAF4D87F}" type="slidenum">
              <a:rPr lang="en-GB" altLang="en-US"/>
              <a:pPr>
                <a:spcBef>
                  <a:spcPct val="0"/>
                </a:spcBef>
              </a:pPr>
              <a:t>25</a:t>
            </a:fld>
            <a:endParaRPr lang="en-GB"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F4F6EC6F-8AED-E7A1-1C98-129F0689C4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72C2EA6A-AF1E-2448-AB3D-AB9C949FC2FD}" type="slidenum">
              <a:rPr lang="en-GB" altLang="en-US"/>
              <a:pPr>
                <a:spcBef>
                  <a:spcPct val="0"/>
                </a:spcBef>
              </a:pPr>
              <a:t>26</a:t>
            </a:fld>
            <a:endParaRPr lang="en-GB" altLang="en-US"/>
          </a:p>
        </p:txBody>
      </p:sp>
      <p:sp>
        <p:nvSpPr>
          <p:cNvPr id="55299" name="Rectangle 2">
            <a:extLst>
              <a:ext uri="{FF2B5EF4-FFF2-40B4-BE49-F238E27FC236}">
                <a16:creationId xmlns:a16="http://schemas.microsoft.com/office/drawing/2014/main" id="{1AE8FBF6-F0AF-FC67-0B84-11073AEE5025}"/>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0D5795A0-965B-B3EC-8397-A7437950992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A923F2D5-4921-648C-4DEC-B7F2254090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FFAEED2-C6C2-4240-A0BB-FC9AFF2A111A}" type="slidenum">
              <a:rPr lang="en-GB" altLang="en-US"/>
              <a:pPr>
                <a:spcBef>
                  <a:spcPct val="0"/>
                </a:spcBef>
              </a:pPr>
              <a:t>27</a:t>
            </a:fld>
            <a:endParaRPr lang="en-GB" altLang="en-US"/>
          </a:p>
        </p:txBody>
      </p:sp>
      <p:sp>
        <p:nvSpPr>
          <p:cNvPr id="57347" name="Rectangle 2">
            <a:extLst>
              <a:ext uri="{FF2B5EF4-FFF2-40B4-BE49-F238E27FC236}">
                <a16:creationId xmlns:a16="http://schemas.microsoft.com/office/drawing/2014/main" id="{FDD3A310-D975-C8EB-471A-048A7250E07C}"/>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E6CFBF25-7DCD-B0FB-1900-0635250922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C94AACDD-59AC-7179-5516-01C76A0892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9428CBF-3AC1-B94B-85A0-B7ABA2A569B7}" type="slidenum">
              <a:rPr lang="en-GB" altLang="en-US"/>
              <a:pPr>
                <a:spcBef>
                  <a:spcPct val="0"/>
                </a:spcBef>
              </a:pPr>
              <a:t>28</a:t>
            </a:fld>
            <a:endParaRPr lang="en-GB" altLang="en-US"/>
          </a:p>
        </p:txBody>
      </p:sp>
      <p:sp>
        <p:nvSpPr>
          <p:cNvPr id="59395" name="Rectangle 2">
            <a:extLst>
              <a:ext uri="{FF2B5EF4-FFF2-40B4-BE49-F238E27FC236}">
                <a16:creationId xmlns:a16="http://schemas.microsoft.com/office/drawing/2014/main" id="{925CEAB8-950A-AE9E-1FBC-48080B6D85BB}"/>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A043D246-91D9-E24C-0DC3-ACB4B61127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049C7CEE-9B57-6A84-867C-5E8F1C53AC1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B2AEF30-E1B5-204A-B8E2-578D90B36089}" type="slidenum">
              <a:rPr lang="en-GB" altLang="en-US"/>
              <a:pPr>
                <a:spcBef>
                  <a:spcPct val="0"/>
                </a:spcBef>
              </a:pPr>
              <a:t>29</a:t>
            </a:fld>
            <a:endParaRPr lang="en-GB" altLang="en-US"/>
          </a:p>
        </p:txBody>
      </p:sp>
      <p:sp>
        <p:nvSpPr>
          <p:cNvPr id="61443" name="Rectangle 2">
            <a:extLst>
              <a:ext uri="{FF2B5EF4-FFF2-40B4-BE49-F238E27FC236}">
                <a16:creationId xmlns:a16="http://schemas.microsoft.com/office/drawing/2014/main" id="{064779A3-2728-DB90-D825-79C2965B5603}"/>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C78A241A-50CD-4B4E-D4AF-1ACB0902AEF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E908DFEE-7374-B831-59B1-4163B8A9EC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8E18513-12C2-484B-9509-A33602FFA33B}" type="slidenum">
              <a:rPr lang="en-GB" altLang="en-US"/>
              <a:pPr>
                <a:spcBef>
                  <a:spcPct val="0"/>
                </a:spcBef>
              </a:pPr>
              <a:t>30</a:t>
            </a:fld>
            <a:endParaRPr lang="en-GB" altLang="en-US"/>
          </a:p>
        </p:txBody>
      </p:sp>
      <p:sp>
        <p:nvSpPr>
          <p:cNvPr id="63491" name="Rectangle 2">
            <a:extLst>
              <a:ext uri="{FF2B5EF4-FFF2-40B4-BE49-F238E27FC236}">
                <a16:creationId xmlns:a16="http://schemas.microsoft.com/office/drawing/2014/main" id="{0436547A-5EA5-7B03-037D-78ADD8003388}"/>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3B3E7E53-B47A-E216-A578-D447DFF610A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FCF68436-F62C-3F32-72E6-CEB429F7376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4A57649-925E-574A-B38A-3731A99B9109}" type="slidenum">
              <a:rPr lang="en-GB" altLang="en-US"/>
              <a:pPr>
                <a:spcBef>
                  <a:spcPct val="0"/>
                </a:spcBef>
              </a:pPr>
              <a:t>31</a:t>
            </a:fld>
            <a:endParaRPr lang="en-GB" altLang="en-US"/>
          </a:p>
        </p:txBody>
      </p:sp>
      <p:sp>
        <p:nvSpPr>
          <p:cNvPr id="65539" name="Rectangle 2">
            <a:extLst>
              <a:ext uri="{FF2B5EF4-FFF2-40B4-BE49-F238E27FC236}">
                <a16:creationId xmlns:a16="http://schemas.microsoft.com/office/drawing/2014/main" id="{6D4FD286-D704-5AE6-01B7-ED785F105E7F}"/>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13DCE583-0C83-50ED-D509-4E1B1C66FB3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a:extLst>
              <a:ext uri="{FF2B5EF4-FFF2-40B4-BE49-F238E27FC236}">
                <a16:creationId xmlns:a16="http://schemas.microsoft.com/office/drawing/2014/main" id="{5A36A636-0E78-AF65-B92E-7BFF9FD15A05}"/>
              </a:ext>
            </a:extLst>
          </p:cNvPr>
          <p:cNvSpPr>
            <a:spLocks noGrp="1" noRot="1" noChangeAspect="1" noTextEdit="1"/>
          </p:cNvSpPr>
          <p:nvPr>
            <p:ph type="sldImg"/>
          </p:nvPr>
        </p:nvSpPr>
        <p:spPr>
          <a:ln/>
        </p:spPr>
      </p:sp>
      <p:sp>
        <p:nvSpPr>
          <p:cNvPr id="67587" name="Notes Placeholder 2">
            <a:extLst>
              <a:ext uri="{FF2B5EF4-FFF2-40B4-BE49-F238E27FC236}">
                <a16:creationId xmlns:a16="http://schemas.microsoft.com/office/drawing/2014/main" id="{5369A897-571A-EA5A-15EF-F2EC4E12D64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
        <p:nvSpPr>
          <p:cNvPr id="67588" name="Slide Number Placeholder 3">
            <a:extLst>
              <a:ext uri="{FF2B5EF4-FFF2-40B4-BE49-F238E27FC236}">
                <a16:creationId xmlns:a16="http://schemas.microsoft.com/office/drawing/2014/main" id="{4620F16A-D164-A3DA-4D19-BE61BB03957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BB8B5D7-6FB8-9F4B-9FEA-BEE4E398F4A4}" type="slidenum">
              <a:rPr lang="en-GB" altLang="en-US"/>
              <a:pPr>
                <a:spcBef>
                  <a:spcPct val="0"/>
                </a:spcBef>
              </a:pPr>
              <a:t>32</a:t>
            </a:fld>
            <a:endParaRPr lang="en-GB"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03F4AB41-4BFE-C326-EF50-BC8794E887B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3CDCD96-C3E0-3C42-B00A-CC72E72851C8}" type="slidenum">
              <a:rPr lang="en-GB" altLang="en-US"/>
              <a:pPr>
                <a:spcBef>
                  <a:spcPct val="0"/>
                </a:spcBef>
              </a:pPr>
              <a:t>33</a:t>
            </a:fld>
            <a:endParaRPr lang="en-GB" altLang="en-US"/>
          </a:p>
        </p:txBody>
      </p:sp>
      <p:sp>
        <p:nvSpPr>
          <p:cNvPr id="69635" name="Rectangle 2">
            <a:extLst>
              <a:ext uri="{FF2B5EF4-FFF2-40B4-BE49-F238E27FC236}">
                <a16:creationId xmlns:a16="http://schemas.microsoft.com/office/drawing/2014/main" id="{7A5AC9E4-4B35-B423-D394-2DD7BDF8966D}"/>
              </a:ext>
            </a:extLst>
          </p:cNvPr>
          <p:cNvSpPr>
            <a:spLocks noGrp="1" noRot="1" noChangeAspect="1" noChangeArrowheads="1" noTextEdit="1"/>
          </p:cNvSpPr>
          <p:nvPr>
            <p:ph type="sldImg"/>
          </p:nvPr>
        </p:nvSpPr>
        <p:spPr>
          <a:ln/>
        </p:spPr>
      </p:sp>
      <p:sp>
        <p:nvSpPr>
          <p:cNvPr id="69636" name="Rectangle 3">
            <a:extLst>
              <a:ext uri="{FF2B5EF4-FFF2-40B4-BE49-F238E27FC236}">
                <a16:creationId xmlns:a16="http://schemas.microsoft.com/office/drawing/2014/main" id="{306AE3FC-79DE-2211-642B-387A4CBAEA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cs typeface="Arial" panose="020B0604020202020204" pitchFamily="34" charset="0"/>
              </a:rPr>
              <a:t>TE are present in the genomes of all life forms</a:t>
            </a:r>
          </a:p>
          <a:p>
            <a:pPr eaLnBrk="1" hangingPunct="1"/>
            <a:r>
              <a:rPr lang="en-US" altLang="en-US" dirty="0">
                <a:latin typeface="Arial" panose="020B0604020202020204" pitchFamily="34" charset="0"/>
                <a:cs typeface="Arial" panose="020B0604020202020204" pitchFamily="34" charset="0"/>
              </a:rPr>
              <a:t>Can make &gt; 50% of human and maize genomes</a:t>
            </a:r>
          </a:p>
          <a:p>
            <a:pPr eaLnBrk="1" hangingPunct="1"/>
            <a:r>
              <a:rPr lang="en-US" altLang="en-US" dirty="0">
                <a:latin typeface="Arial" panose="020B0604020202020204" pitchFamily="34" charset="0"/>
                <a:cs typeface="Arial" panose="020B0604020202020204" pitchFamily="34" charset="0"/>
              </a:rPr>
              <a:t>Transposons  content in different genomes is highly </a:t>
            </a:r>
            <a:r>
              <a:rPr lang="en-US" altLang="en-US" dirty="0" err="1">
                <a:latin typeface="Arial" panose="020B0604020202020204" pitchFamily="34" charset="0"/>
                <a:cs typeface="Arial" panose="020B0604020202020204" pitchFamily="34" charset="0"/>
              </a:rPr>
              <a:t>varaible</a:t>
            </a:r>
            <a:endParaRPr lang="en-US" altLang="en-US" dirty="0">
              <a:latin typeface="Arial" panose="020B0604020202020204" pitchFamily="34" charset="0"/>
              <a:cs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01CCD14C-91EA-02FD-BCDC-18C3B3166D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F72D552-1309-414A-ABC3-CA84E4C6669F}" type="slidenum">
              <a:rPr lang="en-GB" altLang="en-US"/>
              <a:pPr>
                <a:spcBef>
                  <a:spcPct val="0"/>
                </a:spcBef>
              </a:pPr>
              <a:t>34</a:t>
            </a:fld>
            <a:endParaRPr lang="en-GB" altLang="en-US"/>
          </a:p>
        </p:txBody>
      </p:sp>
      <p:sp>
        <p:nvSpPr>
          <p:cNvPr id="71683" name="Rectangle 2">
            <a:extLst>
              <a:ext uri="{FF2B5EF4-FFF2-40B4-BE49-F238E27FC236}">
                <a16:creationId xmlns:a16="http://schemas.microsoft.com/office/drawing/2014/main" id="{3216C13A-DB94-6A17-068F-6B6817593598}"/>
              </a:ext>
            </a:extLst>
          </p:cNvPr>
          <p:cNvSpPr>
            <a:spLocks noGrp="1" noRot="1" noChangeAspect="1" noChangeArrowheads="1" noTextEdit="1"/>
          </p:cNvSpPr>
          <p:nvPr>
            <p:ph type="sldImg"/>
          </p:nvPr>
        </p:nvSpPr>
        <p:spPr>
          <a:ln/>
        </p:spPr>
      </p:sp>
      <p:sp>
        <p:nvSpPr>
          <p:cNvPr id="71684" name="Rectangle 3">
            <a:extLst>
              <a:ext uri="{FF2B5EF4-FFF2-40B4-BE49-F238E27FC236}">
                <a16:creationId xmlns:a16="http://schemas.microsoft.com/office/drawing/2014/main" id="{12A83198-32C4-7D70-6A5A-7B65282BE3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8EE6C1F6-02E7-33F8-B987-657EFBA1D4D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29194C1-C5B0-F04E-92CC-32F8B486E524}" type="slidenum">
              <a:rPr lang="en-GB" altLang="en-US"/>
              <a:pPr>
                <a:spcBef>
                  <a:spcPct val="0"/>
                </a:spcBef>
              </a:pPr>
              <a:t>35</a:t>
            </a:fld>
            <a:endParaRPr lang="en-GB" altLang="en-US"/>
          </a:p>
        </p:txBody>
      </p:sp>
      <p:sp>
        <p:nvSpPr>
          <p:cNvPr id="73731" name="Rectangle 2">
            <a:extLst>
              <a:ext uri="{FF2B5EF4-FFF2-40B4-BE49-F238E27FC236}">
                <a16:creationId xmlns:a16="http://schemas.microsoft.com/office/drawing/2014/main" id="{192F7B7D-7967-5150-AADD-C7EB719C63F3}"/>
              </a:ext>
            </a:extLst>
          </p:cNvPr>
          <p:cNvSpPr>
            <a:spLocks noGrp="1" noRot="1" noChangeAspect="1" noChangeArrowheads="1" noTextEdit="1"/>
          </p:cNvSpPr>
          <p:nvPr>
            <p:ph type="sldImg"/>
          </p:nvPr>
        </p:nvSpPr>
        <p:spPr>
          <a:ln/>
        </p:spPr>
      </p:sp>
      <p:sp>
        <p:nvSpPr>
          <p:cNvPr id="73732" name="Rectangle 3">
            <a:extLst>
              <a:ext uri="{FF2B5EF4-FFF2-40B4-BE49-F238E27FC236}">
                <a16:creationId xmlns:a16="http://schemas.microsoft.com/office/drawing/2014/main" id="{C32F537C-9AFB-3B14-62D8-FEB1237453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651EA671-2177-4EE8-05B6-A4036A934D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3A68DA6-DD17-D947-AE6F-3C6D132762E2}" type="slidenum">
              <a:rPr lang="en-GB" altLang="en-US"/>
              <a:pPr>
                <a:spcBef>
                  <a:spcPct val="0"/>
                </a:spcBef>
              </a:pPr>
              <a:t>36</a:t>
            </a:fld>
            <a:endParaRPr lang="en-GB" altLang="en-US"/>
          </a:p>
        </p:txBody>
      </p:sp>
      <p:sp>
        <p:nvSpPr>
          <p:cNvPr id="75779" name="Rectangle 2">
            <a:extLst>
              <a:ext uri="{FF2B5EF4-FFF2-40B4-BE49-F238E27FC236}">
                <a16:creationId xmlns:a16="http://schemas.microsoft.com/office/drawing/2014/main" id="{5ED2EF52-9F92-27EB-3AED-BAC87BEBC01E}"/>
              </a:ext>
            </a:extLst>
          </p:cNvPr>
          <p:cNvSpPr>
            <a:spLocks noGrp="1" noRot="1" noChangeAspect="1" noChangeArrowheads="1" noTextEdit="1"/>
          </p:cNvSpPr>
          <p:nvPr>
            <p:ph type="sldImg"/>
          </p:nvPr>
        </p:nvSpPr>
        <p:spPr>
          <a:ln/>
        </p:spPr>
      </p:sp>
      <p:sp>
        <p:nvSpPr>
          <p:cNvPr id="75780" name="Rectangle 3">
            <a:extLst>
              <a:ext uri="{FF2B5EF4-FFF2-40B4-BE49-F238E27FC236}">
                <a16:creationId xmlns:a16="http://schemas.microsoft.com/office/drawing/2014/main" id="{7BE7033C-2D8E-1E21-20E1-5561E39C36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a:extLst>
              <a:ext uri="{FF2B5EF4-FFF2-40B4-BE49-F238E27FC236}">
                <a16:creationId xmlns:a16="http://schemas.microsoft.com/office/drawing/2014/main" id="{391A98EA-5F00-EF8E-BA18-7F7764FF7979}"/>
              </a:ext>
            </a:extLst>
          </p:cNvPr>
          <p:cNvSpPr>
            <a:spLocks noGrp="1" noRot="1" noChangeAspect="1" noTextEdit="1"/>
          </p:cNvSpPr>
          <p:nvPr>
            <p:ph type="sldImg"/>
          </p:nvPr>
        </p:nvSpPr>
        <p:spPr>
          <a:ln/>
        </p:spPr>
      </p:sp>
      <p:sp>
        <p:nvSpPr>
          <p:cNvPr id="77827" name="Notes Placeholder 2">
            <a:extLst>
              <a:ext uri="{FF2B5EF4-FFF2-40B4-BE49-F238E27FC236}">
                <a16:creationId xmlns:a16="http://schemas.microsoft.com/office/drawing/2014/main" id="{8033A3CC-6FAE-5DDC-E44C-14C30F042F3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cs typeface="Arial" panose="020B0604020202020204" pitchFamily="34" charset="0"/>
              </a:rPr>
              <a:t>Different transposons use different mechanisms to cleave the second strands</a:t>
            </a:r>
          </a:p>
          <a:p>
            <a:pPr eaLnBrk="1" hangingPunct="1"/>
            <a:r>
              <a:rPr lang="en-US" altLang="en-US" dirty="0">
                <a:latin typeface="Arial" panose="020B0604020202020204" pitchFamily="34" charset="0"/>
                <a:cs typeface="Arial" panose="020B0604020202020204" pitchFamily="34" charset="0"/>
              </a:rPr>
              <a:t>Target DAN can have any sequence</a:t>
            </a:r>
          </a:p>
          <a:p>
            <a:pPr eaLnBrk="1" hangingPunct="1"/>
            <a:r>
              <a:rPr lang="en-US" altLang="en-US" dirty="0">
                <a:latin typeface="Arial" panose="020B0604020202020204" pitchFamily="34" charset="0"/>
                <a:cs typeface="Arial" panose="020B0604020202020204" pitchFamily="34" charset="0"/>
              </a:rPr>
              <a:t>The </a:t>
            </a:r>
            <a:r>
              <a:rPr lang="en-US" altLang="en-US" dirty="0" err="1">
                <a:latin typeface="Arial" panose="020B0604020202020204" pitchFamily="34" charset="0"/>
                <a:cs typeface="Arial" panose="020B0604020202020204" pitchFamily="34" charset="0"/>
              </a:rPr>
              <a:t>transposome</a:t>
            </a:r>
            <a:r>
              <a:rPr lang="en-US" altLang="en-US" dirty="0">
                <a:latin typeface="Arial" panose="020B0604020202020204" pitchFamily="34" charset="0"/>
                <a:cs typeface="Arial" panose="020B0604020202020204" pitchFamily="34" charset="0"/>
              </a:rPr>
              <a:t> ensures that the two ends of the transposon DNA attack the </a:t>
            </a:r>
            <a:r>
              <a:rPr lang="en-US" altLang="en-US" b="1" dirty="0">
                <a:solidFill>
                  <a:srgbClr val="0000FF"/>
                </a:solidFill>
                <a:latin typeface="Arial" panose="020B0604020202020204" pitchFamily="34" charset="0"/>
                <a:cs typeface="Arial" panose="020B0604020202020204" pitchFamily="34" charset="0"/>
              </a:rPr>
              <a:t>two DNA strands of the same target site together.</a:t>
            </a:r>
          </a:p>
          <a:p>
            <a:pPr eaLnBrk="1" hangingPunct="1"/>
            <a:r>
              <a:rPr lang="en-US" altLang="en-US" dirty="0">
                <a:latin typeface="Arial" panose="020B0604020202020204" pitchFamily="34" charset="0"/>
                <a:cs typeface="Arial" panose="020B0604020202020204" pitchFamily="34" charset="0"/>
              </a:rPr>
              <a:t>The sites of attack on the two strands usually separated by a few nucleotides (2, 5 or 9 bases). This distance is fixed for each type of transposon and gives rise to the short target-site duplications that flank transposed copies of the element</a:t>
            </a:r>
          </a:p>
          <a:p>
            <a:pPr eaLnBrk="1" hangingPunct="1"/>
            <a:r>
              <a:rPr lang="en-US" altLang="en-US" dirty="0">
                <a:latin typeface="Arial" panose="020B0604020202020204" pitchFamily="34" charset="0"/>
                <a:cs typeface="Arial" panose="020B0604020202020204" pitchFamily="34" charset="0"/>
              </a:rPr>
              <a:t>Filling in the gaps gives rise to the target-site duplications that flank transposons</a:t>
            </a:r>
          </a:p>
          <a:p>
            <a:pPr eaLnBrk="1" hangingPunct="1"/>
            <a:endParaRPr lang="en-US" altLang="en-US" dirty="0">
              <a:latin typeface="Arial" panose="020B0604020202020204" pitchFamily="34" charset="0"/>
              <a:cs typeface="Arial" panose="020B0604020202020204" pitchFamily="34" charset="0"/>
            </a:endParaRPr>
          </a:p>
        </p:txBody>
      </p:sp>
      <p:sp>
        <p:nvSpPr>
          <p:cNvPr id="77828" name="Slide Number Placeholder 3">
            <a:extLst>
              <a:ext uri="{FF2B5EF4-FFF2-40B4-BE49-F238E27FC236}">
                <a16:creationId xmlns:a16="http://schemas.microsoft.com/office/drawing/2014/main" id="{0C8B608D-8EEC-9D7F-FD8C-1D62D7EA2A2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F418AAF-87EF-8D46-9132-D76F1A1D3F59}" type="slidenum">
              <a:rPr lang="en-GB" altLang="en-US"/>
              <a:pPr>
                <a:spcBef>
                  <a:spcPct val="0"/>
                </a:spcBef>
              </a:pPr>
              <a:t>37</a:t>
            </a:fld>
            <a:endParaRPr lang="en-GB"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001B800F-BEAA-32EF-415A-811B41CE19C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9EB5657-12F9-C243-AFE8-D25D4026310D}" type="slidenum">
              <a:rPr lang="en-GB" altLang="en-US"/>
              <a:pPr>
                <a:spcBef>
                  <a:spcPct val="0"/>
                </a:spcBef>
              </a:pPr>
              <a:t>38</a:t>
            </a:fld>
            <a:endParaRPr lang="en-GB" altLang="en-US"/>
          </a:p>
        </p:txBody>
      </p:sp>
      <p:sp>
        <p:nvSpPr>
          <p:cNvPr id="79875" name="Rectangle 2">
            <a:extLst>
              <a:ext uri="{FF2B5EF4-FFF2-40B4-BE49-F238E27FC236}">
                <a16:creationId xmlns:a16="http://schemas.microsoft.com/office/drawing/2014/main" id="{91070BD9-2704-583D-AB22-27252DB82BA8}"/>
              </a:ext>
            </a:extLst>
          </p:cNvPr>
          <p:cNvSpPr>
            <a:spLocks noGrp="1" noRot="1" noChangeAspect="1" noChangeArrowheads="1" noTextEdit="1"/>
          </p:cNvSpPr>
          <p:nvPr>
            <p:ph type="sldImg"/>
          </p:nvPr>
        </p:nvSpPr>
        <p:spPr>
          <a:ln/>
        </p:spPr>
      </p:sp>
      <p:sp>
        <p:nvSpPr>
          <p:cNvPr id="79876" name="Rectangle 3">
            <a:extLst>
              <a:ext uri="{FF2B5EF4-FFF2-40B4-BE49-F238E27FC236}">
                <a16:creationId xmlns:a16="http://schemas.microsoft.com/office/drawing/2014/main" id="{0886E43B-DB74-D8DC-59C9-EC92FC6BF1D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1E46B7B9-C9A4-A2FB-C9AB-ED89AE261D7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3E2FAD0C-4C28-6342-BBCC-6148483DB2A6}" type="slidenum">
              <a:rPr lang="en-GB" altLang="en-US"/>
              <a:pPr>
                <a:spcBef>
                  <a:spcPct val="0"/>
                </a:spcBef>
              </a:pPr>
              <a:t>39</a:t>
            </a:fld>
            <a:endParaRPr lang="en-GB" altLang="en-US"/>
          </a:p>
        </p:txBody>
      </p:sp>
      <p:sp>
        <p:nvSpPr>
          <p:cNvPr id="81923" name="Rectangle 2">
            <a:extLst>
              <a:ext uri="{FF2B5EF4-FFF2-40B4-BE49-F238E27FC236}">
                <a16:creationId xmlns:a16="http://schemas.microsoft.com/office/drawing/2014/main" id="{A7AA82B2-8CE0-5DEC-D3DB-DA06F047E9F6}"/>
              </a:ext>
            </a:extLst>
          </p:cNvPr>
          <p:cNvSpPr>
            <a:spLocks noGrp="1" noRot="1" noChangeAspect="1" noChangeArrowheads="1" noTextEdit="1"/>
          </p:cNvSpPr>
          <p:nvPr>
            <p:ph type="sldImg"/>
          </p:nvPr>
        </p:nvSpPr>
        <p:spPr>
          <a:ln/>
        </p:spPr>
      </p:sp>
      <p:sp>
        <p:nvSpPr>
          <p:cNvPr id="81924" name="Rectangle 3">
            <a:extLst>
              <a:ext uri="{FF2B5EF4-FFF2-40B4-BE49-F238E27FC236}">
                <a16:creationId xmlns:a16="http://schemas.microsoft.com/office/drawing/2014/main" id="{CEE7497A-6171-174B-C3EA-14DCC1F48F8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cs typeface="Arial" panose="020B0604020202020204" pitchFamily="34" charset="0"/>
              </a:rPr>
              <a:t>The transposase cleaves the 3’ends of the element DNA and promotes DNA strand transfer to catalyze cut and paste transposition.</a:t>
            </a:r>
          </a:p>
          <a:p>
            <a:pPr eaLnBrk="1" hangingPunct="1"/>
            <a:r>
              <a:rPr lang="en-US" altLang="en-US" dirty="0">
                <a:latin typeface="Arial" panose="020B0604020202020204" pitchFamily="34" charset="0"/>
                <a:cs typeface="Arial" panose="020B0604020202020204" pitchFamily="34" charset="0"/>
              </a:rPr>
              <a:t>The other </a:t>
            </a:r>
            <a:r>
              <a:rPr lang="en-US" altLang="en-US" b="1" dirty="0">
                <a:latin typeface="Arial" panose="020B0604020202020204" pitchFamily="34" charset="0"/>
                <a:cs typeface="Arial" panose="020B0604020202020204" pitchFamily="34" charset="0"/>
              </a:rPr>
              <a:t>5’-terminating strands at the junctions </a:t>
            </a:r>
            <a:r>
              <a:rPr lang="en-US" altLang="en-US" dirty="0">
                <a:latin typeface="Arial" panose="020B0604020202020204" pitchFamily="34" charset="0"/>
                <a:cs typeface="Arial" panose="020B0604020202020204" pitchFamily="34" charset="0"/>
              </a:rPr>
              <a:t>between the transposon and the flanking host DNA must </a:t>
            </a:r>
            <a:r>
              <a:rPr lang="en-US" altLang="en-US" b="1" dirty="0">
                <a:latin typeface="Arial" panose="020B0604020202020204" pitchFamily="34" charset="0"/>
                <a:cs typeface="Arial" panose="020B0604020202020204" pitchFamily="34" charset="0"/>
              </a:rPr>
              <a:t>be cleaved too.</a:t>
            </a:r>
          </a:p>
          <a:p>
            <a:pPr eaLnBrk="1" hangingPunct="1"/>
            <a:r>
              <a:rPr lang="en-US" altLang="en-US" dirty="0">
                <a:latin typeface="Arial" panose="020B0604020202020204" pitchFamily="34" charset="0"/>
                <a:cs typeface="Arial" panose="020B0604020202020204" pitchFamily="34" charset="0"/>
              </a:rPr>
              <a:t>These DNA strands are called </a:t>
            </a:r>
            <a:r>
              <a:rPr lang="en-US" altLang="en-US" b="1" dirty="0" err="1">
                <a:latin typeface="Arial" panose="020B0604020202020204" pitchFamily="34" charset="0"/>
                <a:cs typeface="Arial" panose="020B0604020202020204" pitchFamily="34" charset="0"/>
              </a:rPr>
              <a:t>nontransferred</a:t>
            </a:r>
            <a:r>
              <a:rPr lang="en-US" altLang="en-US" dirty="0">
                <a:latin typeface="Arial" panose="020B0604020202020204" pitchFamily="34" charset="0"/>
                <a:cs typeface="Arial" panose="020B0604020202020204" pitchFamily="34" charset="0"/>
              </a:rPr>
              <a:t> strands as their 5’ends are not directly linked to the target DNA during the DNA strand transfer.</a:t>
            </a:r>
          </a:p>
          <a:p>
            <a:pPr eaLnBrk="1" hangingPunct="1"/>
            <a:r>
              <a:rPr lang="en-US" altLang="en-US" dirty="0">
                <a:latin typeface="Arial" panose="020B0604020202020204" pitchFamily="34" charset="0"/>
                <a:cs typeface="Arial" panose="020B0604020202020204" pitchFamily="34" charset="0"/>
              </a:rPr>
              <a:t>Why might transposases use transesterification as a </a:t>
            </a:r>
            <a:r>
              <a:rPr lang="en-US" altLang="en-US" dirty="0" err="1">
                <a:latin typeface="Arial" panose="020B0604020202020204" pitchFamily="34" charset="0"/>
                <a:cs typeface="Arial" panose="020B0604020202020204" pitchFamily="34" charset="0"/>
              </a:rPr>
              <a:t>cleavge</a:t>
            </a:r>
            <a:r>
              <a:rPr lang="en-US" altLang="en-US"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mechinsm</a:t>
            </a:r>
            <a:r>
              <a:rPr lang="en-US" altLang="en-US" dirty="0">
                <a:latin typeface="Arial" panose="020B0604020202020204" pitchFamily="34" charset="0"/>
                <a:cs typeface="Arial" panose="020B0604020202020204" pitchFamily="34" charset="0"/>
              </a:rPr>
              <a:t>?</a:t>
            </a:r>
          </a:p>
          <a:p>
            <a:pPr eaLnBrk="1" hangingPunct="1"/>
            <a:r>
              <a:rPr lang="en-US" altLang="en-US" dirty="0">
                <a:latin typeface="Arial" panose="020B0604020202020204" pitchFamily="34" charset="0"/>
                <a:cs typeface="Arial" panose="020B0604020202020204" pitchFamily="34" charset="0"/>
              </a:rPr>
              <a:t>Probably economic solution</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E4A4EB56-1E4A-B521-3388-B09E37D2A32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FDBAF6D-F83C-8241-9A33-D28DA73B34F4}" type="slidenum">
              <a:rPr lang="en-GB" altLang="en-US"/>
              <a:pPr>
                <a:spcBef>
                  <a:spcPct val="0"/>
                </a:spcBef>
              </a:pPr>
              <a:t>40</a:t>
            </a:fld>
            <a:endParaRPr lang="en-GB" altLang="en-US"/>
          </a:p>
        </p:txBody>
      </p:sp>
      <p:sp>
        <p:nvSpPr>
          <p:cNvPr id="83971" name="Rectangle 2">
            <a:extLst>
              <a:ext uri="{FF2B5EF4-FFF2-40B4-BE49-F238E27FC236}">
                <a16:creationId xmlns:a16="http://schemas.microsoft.com/office/drawing/2014/main" id="{82CE05D7-59C5-0CB8-9037-4762B1A263FF}"/>
              </a:ext>
            </a:extLst>
          </p:cNvPr>
          <p:cNvSpPr>
            <a:spLocks noGrp="1" noRot="1" noChangeAspect="1" noChangeArrowheads="1" noTextEdit="1"/>
          </p:cNvSpPr>
          <p:nvPr>
            <p:ph type="sldImg"/>
          </p:nvPr>
        </p:nvSpPr>
        <p:spPr>
          <a:ln/>
        </p:spPr>
      </p:sp>
      <p:sp>
        <p:nvSpPr>
          <p:cNvPr id="83972" name="Rectangle 3">
            <a:extLst>
              <a:ext uri="{FF2B5EF4-FFF2-40B4-BE49-F238E27FC236}">
                <a16:creationId xmlns:a16="http://schemas.microsoft.com/office/drawing/2014/main" id="{CE225D91-08F0-E5BF-2056-742F00FDE89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FDF34EC1-5F9B-B386-1C15-533FF824AC7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D53B3F1-3C20-F345-825D-BB2561A39A11}" type="slidenum">
              <a:rPr lang="en-GB" altLang="en-US"/>
              <a:pPr>
                <a:spcBef>
                  <a:spcPct val="0"/>
                </a:spcBef>
              </a:pPr>
              <a:t>41</a:t>
            </a:fld>
            <a:endParaRPr lang="en-GB" altLang="en-US"/>
          </a:p>
        </p:txBody>
      </p:sp>
      <p:sp>
        <p:nvSpPr>
          <p:cNvPr id="86019" name="Rectangle 2">
            <a:extLst>
              <a:ext uri="{FF2B5EF4-FFF2-40B4-BE49-F238E27FC236}">
                <a16:creationId xmlns:a16="http://schemas.microsoft.com/office/drawing/2014/main" id="{09452095-1D1E-19B4-3FFA-3FE2EC3B7E66}"/>
              </a:ext>
            </a:extLst>
          </p:cNvPr>
          <p:cNvSpPr>
            <a:spLocks noGrp="1" noRot="1" noChangeAspect="1" noChangeArrowheads="1" noTextEdit="1"/>
          </p:cNvSpPr>
          <p:nvPr>
            <p:ph type="sldImg"/>
          </p:nvPr>
        </p:nvSpPr>
        <p:spPr>
          <a:xfrm>
            <a:off x="1152525" y="692150"/>
            <a:ext cx="4554538" cy="3416300"/>
          </a:xfrm>
          <a:ln w="12700" cap="flat">
            <a:solidFill>
              <a:schemeClr val="tx1"/>
            </a:solidFill>
          </a:ln>
        </p:spPr>
      </p:sp>
      <p:sp>
        <p:nvSpPr>
          <p:cNvPr id="86020" name="Rectangle 3">
            <a:extLst>
              <a:ext uri="{FF2B5EF4-FFF2-40B4-BE49-F238E27FC236}">
                <a16:creationId xmlns:a16="http://schemas.microsoft.com/office/drawing/2014/main" id="{FE814763-43F7-5080-8FAF-5FDB33AA27F8}"/>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6" tIns="46034" rIns="92066" bIns="46034"/>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2A80DF38-F775-262F-1417-0FC26804DE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0253062-82AF-4145-8265-B56254E6E72F}" type="slidenum">
              <a:rPr lang="en-GB" altLang="en-US"/>
              <a:pPr>
                <a:spcBef>
                  <a:spcPct val="0"/>
                </a:spcBef>
              </a:pPr>
              <a:t>42</a:t>
            </a:fld>
            <a:endParaRPr lang="en-GB" altLang="en-US"/>
          </a:p>
        </p:txBody>
      </p:sp>
      <p:sp>
        <p:nvSpPr>
          <p:cNvPr id="88067" name="Rectangle 2">
            <a:extLst>
              <a:ext uri="{FF2B5EF4-FFF2-40B4-BE49-F238E27FC236}">
                <a16:creationId xmlns:a16="http://schemas.microsoft.com/office/drawing/2014/main" id="{26D972CA-C146-3F52-003E-1AF5B791B697}"/>
              </a:ext>
            </a:extLst>
          </p:cNvPr>
          <p:cNvSpPr>
            <a:spLocks noGrp="1" noRot="1" noChangeAspect="1" noChangeArrowheads="1" noTextEdit="1"/>
          </p:cNvSpPr>
          <p:nvPr>
            <p:ph type="sldImg"/>
          </p:nvPr>
        </p:nvSpPr>
        <p:spPr>
          <a:xfrm>
            <a:off x="1152525" y="692150"/>
            <a:ext cx="4554538" cy="3416300"/>
          </a:xfrm>
          <a:ln w="12700" cap="flat">
            <a:solidFill>
              <a:schemeClr val="tx1"/>
            </a:solidFill>
          </a:ln>
        </p:spPr>
      </p:sp>
      <p:sp>
        <p:nvSpPr>
          <p:cNvPr id="88068" name="Rectangle 3">
            <a:extLst>
              <a:ext uri="{FF2B5EF4-FFF2-40B4-BE49-F238E27FC236}">
                <a16:creationId xmlns:a16="http://schemas.microsoft.com/office/drawing/2014/main" id="{5B5AB0D4-C321-D902-1465-135E94C11988}"/>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6" tIns="46034" rIns="92066" bIns="46034"/>
          <a:lstStyle/>
          <a:p>
            <a:pPr eaLnBrk="1" hangingPunct="1"/>
            <a:r>
              <a:rPr lang="en-US" altLang="en-US" dirty="0">
                <a:latin typeface="Arial" panose="020B0604020202020204" pitchFamily="34" charset="0"/>
                <a:cs typeface="Arial" panose="020B0604020202020204" pitchFamily="34" charset="0"/>
              </a:rPr>
              <a:t>First step is assembly of the transposase protein on the two ends of the transposon DNA to generate a </a:t>
            </a:r>
            <a:r>
              <a:rPr lang="en-US" altLang="en-US" dirty="0" err="1">
                <a:latin typeface="Arial" panose="020B0604020202020204" pitchFamily="34" charset="0"/>
                <a:cs typeface="Arial" panose="020B0604020202020204" pitchFamily="34" charset="0"/>
              </a:rPr>
              <a:t>transposome</a:t>
            </a:r>
            <a:endParaRPr lang="en-US" altLang="en-US" dirty="0">
              <a:latin typeface="Arial" panose="020B0604020202020204" pitchFamily="34" charset="0"/>
              <a:cs typeface="Arial" panose="020B0604020202020204" pitchFamily="34" charset="0"/>
            </a:endParaRPr>
          </a:p>
          <a:p>
            <a:pPr eaLnBrk="1" hangingPunct="1"/>
            <a:r>
              <a:rPr lang="en-US" altLang="en-US" dirty="0">
                <a:latin typeface="Arial" panose="020B0604020202020204" pitchFamily="34" charset="0"/>
                <a:cs typeface="Arial" panose="020B0604020202020204" pitchFamily="34" charset="0"/>
              </a:rPr>
              <a:t>Next step is DNA cleavage at the ends of the transposon DNA. This is catalyzed by the transposase within the </a:t>
            </a:r>
            <a:r>
              <a:rPr lang="en-US" altLang="en-US" dirty="0" err="1">
                <a:latin typeface="Arial" panose="020B0604020202020204" pitchFamily="34" charset="0"/>
                <a:cs typeface="Arial" panose="020B0604020202020204" pitchFamily="34" charset="0"/>
              </a:rPr>
              <a:t>transposome</a:t>
            </a:r>
            <a:endParaRPr lang="en-US" altLang="en-US" dirty="0">
              <a:latin typeface="Arial" panose="020B0604020202020204" pitchFamily="34" charset="0"/>
              <a:cs typeface="Arial" panose="020B0604020202020204" pitchFamily="34" charset="0"/>
            </a:endParaRPr>
          </a:p>
          <a:p>
            <a:pPr eaLnBrk="1" hangingPunct="1"/>
            <a:r>
              <a:rPr lang="en-US" altLang="en-US" dirty="0">
                <a:latin typeface="Arial" panose="020B0604020202020204" pitchFamily="34" charset="0"/>
                <a:cs typeface="Arial" panose="020B0604020202020204" pitchFamily="34" charset="0"/>
              </a:rPr>
              <a:t>The transposase  introduces a nick into the DNA at each of the two junctions between the transposon sequence and the flanking host DNA</a:t>
            </a:r>
          </a:p>
          <a:p>
            <a:pPr eaLnBrk="1" hangingPunct="1"/>
            <a:r>
              <a:rPr lang="en-US" altLang="en-US" dirty="0">
                <a:latin typeface="Arial" panose="020B0604020202020204" pitchFamily="34" charset="0"/>
                <a:cs typeface="Arial" panose="020B0604020202020204" pitchFamily="34" charset="0"/>
              </a:rPr>
              <a:t>This cleavage liberates the two 3’OH DNA ends on the transposon sequence</a:t>
            </a:r>
          </a:p>
          <a:p>
            <a:pPr eaLnBrk="1" hangingPunct="1"/>
            <a:r>
              <a:rPr lang="en-US" altLang="en-US" b="1" dirty="0">
                <a:latin typeface="Arial" panose="020B0604020202020204" pitchFamily="34" charset="0"/>
                <a:cs typeface="Arial" panose="020B0604020202020204" pitchFamily="34" charset="0"/>
              </a:rPr>
              <a:t>In contracts to cut and paste transposition, </a:t>
            </a:r>
            <a:r>
              <a:rPr lang="en-US" altLang="en-US" b="1" u="sng" dirty="0">
                <a:latin typeface="Arial" panose="020B0604020202020204" pitchFamily="34" charset="0"/>
                <a:cs typeface="Arial" panose="020B0604020202020204" pitchFamily="34" charset="0"/>
              </a:rPr>
              <a:t>the transposon DNA is not excised from the host sequence at this stage </a:t>
            </a:r>
            <a:r>
              <a:rPr lang="en-US" altLang="en-US" b="1" dirty="0">
                <a:latin typeface="Arial" panose="020B0604020202020204" pitchFamily="34" charset="0"/>
                <a:cs typeface="Arial" panose="020B0604020202020204" pitchFamily="34" charset="0"/>
              </a:rPr>
              <a:t>(major difference) </a:t>
            </a:r>
          </a:p>
          <a:p>
            <a:pPr eaLnBrk="1" hangingPunct="1"/>
            <a:r>
              <a:rPr lang="en-US" altLang="en-US" dirty="0">
                <a:latin typeface="Arial" panose="020B0604020202020204" pitchFamily="34" charset="0"/>
                <a:cs typeface="Arial" panose="020B0604020202020204" pitchFamily="34" charset="0"/>
              </a:rPr>
              <a:t>The 3’OH ends of the transposon DNA are then joined to the target DNA site by the DNA strand transfer reaction (same as cut and paste) but the intermediate generated by DNA strand the DNA strand transfer in this case is a doubly branched DNA molecule</a:t>
            </a:r>
          </a:p>
          <a:p>
            <a:pPr eaLnBrk="1" hangingPunct="1"/>
            <a:r>
              <a:rPr lang="en-US" altLang="en-US" dirty="0">
                <a:latin typeface="Arial" panose="020B0604020202020204" pitchFamily="34" charset="0"/>
                <a:cs typeface="Arial" panose="020B0604020202020204" pitchFamily="34" charset="0"/>
              </a:rPr>
              <a:t>In this intermediate, the 3’ends of the transposon are covalently joined to the new target site whereas the 5’ends of transposon sequence remain joined to the old flanking DNA</a:t>
            </a:r>
          </a:p>
          <a:p>
            <a:pPr eaLnBrk="1" hangingPunct="1"/>
            <a:r>
              <a:rPr lang="en-US" altLang="en-US" dirty="0">
                <a:latin typeface="Arial" panose="020B0604020202020204" pitchFamily="34" charset="0"/>
                <a:cs typeface="Arial" panose="020B0604020202020204" pitchFamily="34" charset="0"/>
              </a:rPr>
              <a:t>The two DNA branches within this intermediate have the structure of a replication fork. After DNA strand transfer , the DNA replication proteins from the host cell can assemble at these forks</a:t>
            </a:r>
          </a:p>
          <a:p>
            <a:pPr eaLnBrk="1" hangingPunct="1"/>
            <a:r>
              <a:rPr lang="en-US" altLang="en-US" dirty="0">
                <a:latin typeface="Arial" panose="020B0604020202020204" pitchFamily="34" charset="0"/>
                <a:cs typeface="Arial" panose="020B0604020202020204" pitchFamily="34" charset="0"/>
              </a:rPr>
              <a:t>The 3’OH end in the cleaved target DNA serves  as a primer for DNA synthesis</a:t>
            </a:r>
          </a:p>
          <a:p>
            <a:pPr eaLnBrk="1" hangingPunct="1"/>
            <a:r>
              <a:rPr lang="en-US" altLang="en-US" dirty="0">
                <a:latin typeface="Arial" panose="020B0604020202020204" pitchFamily="34" charset="0"/>
                <a:cs typeface="Arial" panose="020B0604020202020204" pitchFamily="34" charset="0"/>
              </a:rPr>
              <a:t>Replication proceeds through the transposon sequence and stops at the second fork.</a:t>
            </a:r>
          </a:p>
          <a:p>
            <a:pPr eaLnBrk="1" hangingPunct="1"/>
            <a:r>
              <a:rPr lang="en-US" altLang="en-US" dirty="0">
                <a:latin typeface="Arial" panose="020B0604020202020204" pitchFamily="34" charset="0"/>
                <a:cs typeface="Arial" panose="020B0604020202020204" pitchFamily="34" charset="0"/>
              </a:rPr>
              <a:t>This replication generates two copies of the transposon DNA</a:t>
            </a:r>
          </a:p>
          <a:p>
            <a:pPr eaLnBrk="1" hangingPunct="1"/>
            <a:endParaRPr lang="en-US" altLang="en-US" dirty="0">
              <a:latin typeface="Arial" panose="020B0604020202020204" pitchFamily="34" charset="0"/>
              <a:cs typeface="Arial" panose="020B0604020202020204"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C2FC8195-712D-769B-3553-52E0C12D090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3481D45-5A9A-DE41-85D0-9A15CBADFB73}" type="slidenum">
              <a:rPr lang="en-GB" altLang="en-US"/>
              <a:pPr>
                <a:spcBef>
                  <a:spcPct val="0"/>
                </a:spcBef>
              </a:pPr>
              <a:t>43</a:t>
            </a:fld>
            <a:endParaRPr lang="en-GB" altLang="en-US"/>
          </a:p>
        </p:txBody>
      </p:sp>
      <p:sp>
        <p:nvSpPr>
          <p:cNvPr id="90115" name="Rectangle 2">
            <a:extLst>
              <a:ext uri="{FF2B5EF4-FFF2-40B4-BE49-F238E27FC236}">
                <a16:creationId xmlns:a16="http://schemas.microsoft.com/office/drawing/2014/main" id="{F46EBE7F-6727-0AA3-29B5-F0648B65F51C}"/>
              </a:ext>
            </a:extLst>
          </p:cNvPr>
          <p:cNvSpPr>
            <a:spLocks noGrp="1" noRot="1" noChangeAspect="1" noChangeArrowheads="1" noTextEdit="1"/>
          </p:cNvSpPr>
          <p:nvPr>
            <p:ph type="sldImg"/>
          </p:nvPr>
        </p:nvSpPr>
        <p:spPr>
          <a:ln/>
        </p:spPr>
      </p:sp>
      <p:sp>
        <p:nvSpPr>
          <p:cNvPr id="90116" name="Rectangle 3">
            <a:extLst>
              <a:ext uri="{FF2B5EF4-FFF2-40B4-BE49-F238E27FC236}">
                <a16:creationId xmlns:a16="http://schemas.microsoft.com/office/drawing/2014/main" id="{A5866D08-5F7B-BF1F-9CBF-54B095ACA7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96935CB0-EA73-ECC1-C40C-82CCE31A0C1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1C3649F-183F-084D-AF00-BA30781ECB9E}" type="slidenum">
              <a:rPr lang="en-GB" altLang="en-US"/>
              <a:pPr>
                <a:spcBef>
                  <a:spcPct val="0"/>
                </a:spcBef>
              </a:pPr>
              <a:t>44</a:t>
            </a:fld>
            <a:endParaRPr lang="en-GB" altLang="en-US"/>
          </a:p>
        </p:txBody>
      </p:sp>
      <p:sp>
        <p:nvSpPr>
          <p:cNvPr id="92163" name="Rectangle 2">
            <a:extLst>
              <a:ext uri="{FF2B5EF4-FFF2-40B4-BE49-F238E27FC236}">
                <a16:creationId xmlns:a16="http://schemas.microsoft.com/office/drawing/2014/main" id="{F6E6867C-DC56-B53C-35F6-18FF2AADE3C5}"/>
              </a:ext>
            </a:extLst>
          </p:cNvPr>
          <p:cNvSpPr>
            <a:spLocks noGrp="1" noRot="1" noChangeAspect="1" noChangeArrowheads="1" noTextEdit="1"/>
          </p:cNvSpPr>
          <p:nvPr>
            <p:ph type="sldImg"/>
          </p:nvPr>
        </p:nvSpPr>
        <p:spPr>
          <a:xfrm>
            <a:off x="1152525" y="692150"/>
            <a:ext cx="4554538" cy="3416300"/>
          </a:xfrm>
          <a:ln w="12700" cap="flat">
            <a:solidFill>
              <a:schemeClr val="tx1"/>
            </a:solidFill>
          </a:ln>
        </p:spPr>
      </p:sp>
      <p:sp>
        <p:nvSpPr>
          <p:cNvPr id="92164" name="Rectangle 3">
            <a:extLst>
              <a:ext uri="{FF2B5EF4-FFF2-40B4-BE49-F238E27FC236}">
                <a16:creationId xmlns:a16="http://schemas.microsoft.com/office/drawing/2014/main" id="{56D6AC42-0935-1E09-DF69-FD774EC3D453}"/>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6" tIns="46034" rIns="92066" bIns="46034"/>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B45289BC-F9EB-F312-BCAE-4BF23ECBAF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EE19728-89A3-9543-B64E-86AFC9AC051A}" type="slidenum">
              <a:rPr lang="en-GB" altLang="en-US"/>
              <a:pPr>
                <a:spcBef>
                  <a:spcPct val="0"/>
                </a:spcBef>
              </a:pPr>
              <a:t>45</a:t>
            </a:fld>
            <a:endParaRPr lang="en-GB" altLang="en-US"/>
          </a:p>
        </p:txBody>
      </p:sp>
      <p:sp>
        <p:nvSpPr>
          <p:cNvPr id="94211" name="Rectangle 2">
            <a:extLst>
              <a:ext uri="{FF2B5EF4-FFF2-40B4-BE49-F238E27FC236}">
                <a16:creationId xmlns:a16="http://schemas.microsoft.com/office/drawing/2014/main" id="{1FA1FE92-D9ED-2E27-F079-A577F890FB66}"/>
              </a:ext>
            </a:extLst>
          </p:cNvPr>
          <p:cNvSpPr>
            <a:spLocks noGrp="1" noRot="1" noChangeAspect="1" noChangeArrowheads="1" noTextEdit="1"/>
          </p:cNvSpPr>
          <p:nvPr>
            <p:ph type="sldImg"/>
          </p:nvPr>
        </p:nvSpPr>
        <p:spPr>
          <a:ln/>
        </p:spPr>
      </p:sp>
      <p:sp>
        <p:nvSpPr>
          <p:cNvPr id="94212" name="Rectangle 3">
            <a:extLst>
              <a:ext uri="{FF2B5EF4-FFF2-40B4-BE49-F238E27FC236}">
                <a16:creationId xmlns:a16="http://schemas.microsoft.com/office/drawing/2014/main" id="{94DA468A-EADE-742D-F54E-41CA423A40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As the direct precursor DNA for integration is generated from the RNA template by reverse transcription , it is already in the form of an excised transposon. NO need for a mechanism to cleave the second strand</a:t>
            </a:r>
          </a:p>
          <a:p>
            <a:pPr eaLnBrk="1" hangingPunct="1"/>
            <a:r>
              <a:rPr lang="en-US" altLang="en-US">
                <a:latin typeface="Arial" panose="020B0604020202020204" pitchFamily="34" charset="0"/>
                <a:cs typeface="Arial" panose="020B0604020202020204" pitchFamily="34" charset="0"/>
              </a:rPr>
              <a:t>Integrase can catalyze the insertion of these cleaved 3’ends into the target DNA site in the host cell genome using the DNA strand transfer reaction</a:t>
            </a:r>
          </a:p>
          <a:p>
            <a:pPr eaLnBrk="1" hangingPunct="1"/>
            <a:r>
              <a:rPr lang="en-US" altLang="en-US">
                <a:latin typeface="Arial" panose="020B0604020202020204" pitchFamily="34" charset="0"/>
                <a:cs typeface="Arial" panose="020B0604020202020204" pitchFamily="34" charset="0"/>
              </a:rPr>
              <a:t>Because transcription to generate the RNA intermediate initiates within one of the LTRs, this RNA does not carry the entire LTR sequence; the sequence between the transcription start site and the end of the element is missing. Therefore, a special mechanism is needed to regenerate the full length element sequence during reverse transcription. This involves two internal priming events and two strand switches.</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A50FBAA7-D30D-0E9E-6801-68C7539894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BBB04680-5F63-8D47-9A5E-963B03DE8230}" type="slidenum">
              <a:rPr lang="en-GB" altLang="en-US"/>
              <a:pPr>
                <a:spcBef>
                  <a:spcPct val="0"/>
                </a:spcBef>
              </a:pPr>
              <a:t>46</a:t>
            </a:fld>
            <a:endParaRPr lang="en-GB" altLang="en-US"/>
          </a:p>
        </p:txBody>
      </p:sp>
      <p:sp>
        <p:nvSpPr>
          <p:cNvPr id="96259" name="Rectangle 2">
            <a:extLst>
              <a:ext uri="{FF2B5EF4-FFF2-40B4-BE49-F238E27FC236}">
                <a16:creationId xmlns:a16="http://schemas.microsoft.com/office/drawing/2014/main" id="{AB56FB9F-B0D3-12B7-981C-186B31DAAF88}"/>
              </a:ext>
            </a:extLst>
          </p:cNvPr>
          <p:cNvSpPr>
            <a:spLocks noGrp="1" noRot="1" noChangeAspect="1" noChangeArrowheads="1" noTextEdit="1"/>
          </p:cNvSpPr>
          <p:nvPr>
            <p:ph type="sldImg"/>
          </p:nvPr>
        </p:nvSpPr>
        <p:spPr>
          <a:ln/>
        </p:spPr>
      </p:sp>
      <p:sp>
        <p:nvSpPr>
          <p:cNvPr id="96260" name="Rectangle 3">
            <a:extLst>
              <a:ext uri="{FF2B5EF4-FFF2-40B4-BE49-F238E27FC236}">
                <a16:creationId xmlns:a16="http://schemas.microsoft.com/office/drawing/2014/main" id="{9A1784D7-26CD-E6FC-61D8-1A2632D709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cs typeface="Arial" panose="020B0604020202020204" pitchFamily="34" charset="0"/>
              </a:rPr>
              <a:t>They use the same active site to catalyze both the DNA cleavage and DNA strand transfer rather than having two active sites</a:t>
            </a:r>
          </a:p>
          <a:p>
            <a:pPr eaLnBrk="1" hangingPunct="1"/>
            <a:r>
              <a:rPr lang="en-US" altLang="en-US" dirty="0">
                <a:latin typeface="Arial" panose="020B0604020202020204" pitchFamily="34" charset="0"/>
                <a:cs typeface="Arial" panose="020B0604020202020204" pitchFamily="34" charset="0"/>
              </a:rPr>
              <a:t>Are active only when assembled into a synaptic complex (</a:t>
            </a:r>
            <a:r>
              <a:rPr lang="en-US" altLang="en-US" dirty="0" err="1">
                <a:latin typeface="Arial" panose="020B0604020202020204" pitchFamily="34" charset="0"/>
                <a:cs typeface="Arial" panose="020B0604020202020204" pitchFamily="34" charset="0"/>
              </a:rPr>
              <a:t>transposome</a:t>
            </a:r>
            <a:r>
              <a:rPr lang="en-US" altLang="en-US" dirty="0">
                <a:latin typeface="Arial" panose="020B0604020202020204" pitchFamily="34" charset="0"/>
                <a:cs typeface="Arial" panose="020B0604020202020204" pitchFamily="34" charset="0"/>
              </a:rPr>
              <a:t>) on DNA</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3B319D50-2776-022D-ADEA-9056A0C12020}"/>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1BDF246F-E226-184B-90EF-93036AC576E0}" type="slidenum">
              <a:rPr lang="en-US" altLang="en-US">
                <a:latin typeface="Times" pitchFamily="-32" charset="0"/>
                <a:ea typeface="ＭＳ Ｐゴシック" panose="020B0600070205080204" pitchFamily="34" charset="-128"/>
              </a:rPr>
              <a:pPr algn="r" eaLnBrk="1" hangingPunct="1">
                <a:spcBef>
                  <a:spcPct val="0"/>
                </a:spcBef>
              </a:pPr>
              <a:t>47</a:t>
            </a:fld>
            <a:endParaRPr lang="en-US" altLang="en-US">
              <a:latin typeface="Times" pitchFamily="-32" charset="0"/>
              <a:ea typeface="ＭＳ Ｐゴシック" panose="020B0600070205080204" pitchFamily="34" charset="-128"/>
            </a:endParaRPr>
          </a:p>
        </p:txBody>
      </p:sp>
      <p:sp>
        <p:nvSpPr>
          <p:cNvPr id="98307" name="Rectangle 2">
            <a:extLst>
              <a:ext uri="{FF2B5EF4-FFF2-40B4-BE49-F238E27FC236}">
                <a16:creationId xmlns:a16="http://schemas.microsoft.com/office/drawing/2014/main" id="{2FF08F2E-FF83-3E78-AC96-EF243696CAD7}"/>
              </a:ext>
            </a:extLst>
          </p:cNvPr>
          <p:cNvSpPr>
            <a:spLocks noGrp="1" noRot="1" noChangeAspect="1" noChangeArrowheads="1" noTextEdit="1"/>
          </p:cNvSpPr>
          <p:nvPr>
            <p:ph type="sldImg"/>
          </p:nvPr>
        </p:nvSpPr>
        <p:spPr>
          <a:ln/>
        </p:spPr>
      </p:sp>
      <p:sp>
        <p:nvSpPr>
          <p:cNvPr id="98308" name="Rectangle 3">
            <a:extLst>
              <a:ext uri="{FF2B5EF4-FFF2-40B4-BE49-F238E27FC236}">
                <a16:creationId xmlns:a16="http://schemas.microsoft.com/office/drawing/2014/main" id="{CEB06DFB-600E-9831-089D-6A5CB3D910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cs typeface="Arial" panose="020B0604020202020204" pitchFamily="34" charset="0"/>
              </a:rPr>
              <a:t>Figure 12-25</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a:extLst>
              <a:ext uri="{FF2B5EF4-FFF2-40B4-BE49-F238E27FC236}">
                <a16:creationId xmlns:a16="http://schemas.microsoft.com/office/drawing/2014/main" id="{CD79BD4B-CF2B-E82E-B94E-74B33C2226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F557D15-3096-7D40-B003-87B0A09B0C7A}" type="slidenum">
              <a:rPr lang="en-GB" altLang="en-US"/>
              <a:pPr>
                <a:spcBef>
                  <a:spcPct val="0"/>
                </a:spcBef>
              </a:pPr>
              <a:t>48</a:t>
            </a:fld>
            <a:endParaRPr lang="en-GB" altLang="en-US"/>
          </a:p>
        </p:txBody>
      </p:sp>
      <p:sp>
        <p:nvSpPr>
          <p:cNvPr id="100355" name="Rectangle 2">
            <a:extLst>
              <a:ext uri="{FF2B5EF4-FFF2-40B4-BE49-F238E27FC236}">
                <a16:creationId xmlns:a16="http://schemas.microsoft.com/office/drawing/2014/main" id="{655A35EE-DF7C-6912-5639-29FE9B31BDC5}"/>
              </a:ext>
            </a:extLst>
          </p:cNvPr>
          <p:cNvSpPr>
            <a:spLocks noGrp="1" noRot="1" noChangeAspect="1" noChangeArrowheads="1" noTextEdit="1"/>
          </p:cNvSpPr>
          <p:nvPr>
            <p:ph type="sldImg"/>
          </p:nvPr>
        </p:nvSpPr>
        <p:spPr>
          <a:ln/>
        </p:spPr>
      </p:sp>
      <p:sp>
        <p:nvSpPr>
          <p:cNvPr id="100356" name="Rectangle 3">
            <a:extLst>
              <a:ext uri="{FF2B5EF4-FFF2-40B4-BE49-F238E27FC236}">
                <a16:creationId xmlns:a16="http://schemas.microsoft.com/office/drawing/2014/main" id="{C0D4A322-EF8A-3798-56EF-83CAC5F5B1D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a:extLst>
              <a:ext uri="{FF2B5EF4-FFF2-40B4-BE49-F238E27FC236}">
                <a16:creationId xmlns:a16="http://schemas.microsoft.com/office/drawing/2014/main" id="{A8F3DEF0-788A-D7E2-2181-322DE55213B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5C53CE4-3684-8843-930E-D71E01500749}" type="slidenum">
              <a:rPr lang="en-GB" altLang="en-US"/>
              <a:pPr>
                <a:spcBef>
                  <a:spcPct val="0"/>
                </a:spcBef>
              </a:pPr>
              <a:t>49</a:t>
            </a:fld>
            <a:endParaRPr lang="en-GB" altLang="en-US"/>
          </a:p>
        </p:txBody>
      </p:sp>
      <p:sp>
        <p:nvSpPr>
          <p:cNvPr id="102403" name="Rectangle 2">
            <a:extLst>
              <a:ext uri="{FF2B5EF4-FFF2-40B4-BE49-F238E27FC236}">
                <a16:creationId xmlns:a16="http://schemas.microsoft.com/office/drawing/2014/main" id="{B9179594-BD86-8B5C-9027-5CA1D23A4E88}"/>
              </a:ext>
            </a:extLst>
          </p:cNvPr>
          <p:cNvSpPr>
            <a:spLocks noGrp="1" noRot="1" noChangeAspect="1" noChangeArrowheads="1" noTextEdit="1"/>
          </p:cNvSpPr>
          <p:nvPr>
            <p:ph type="sldImg"/>
          </p:nvPr>
        </p:nvSpPr>
        <p:spPr>
          <a:ln/>
        </p:spPr>
      </p:sp>
      <p:sp>
        <p:nvSpPr>
          <p:cNvPr id="102404" name="Rectangle 3">
            <a:extLst>
              <a:ext uri="{FF2B5EF4-FFF2-40B4-BE49-F238E27FC236}">
                <a16:creationId xmlns:a16="http://schemas.microsoft.com/office/drawing/2014/main" id="{6DA001FD-6811-DEBD-47AD-7E14DA9257A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a:extLst>
              <a:ext uri="{FF2B5EF4-FFF2-40B4-BE49-F238E27FC236}">
                <a16:creationId xmlns:a16="http://schemas.microsoft.com/office/drawing/2014/main" id="{FBA464CC-CCCD-C899-9C69-B2412DC8CC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22CA6B0-AA71-0045-8AB1-9BB9D926B8F3}" type="slidenum">
              <a:rPr lang="en-GB" altLang="en-US"/>
              <a:pPr>
                <a:spcBef>
                  <a:spcPct val="0"/>
                </a:spcBef>
              </a:pPr>
              <a:t>50</a:t>
            </a:fld>
            <a:endParaRPr lang="en-GB" altLang="en-US"/>
          </a:p>
        </p:txBody>
      </p:sp>
      <p:sp>
        <p:nvSpPr>
          <p:cNvPr id="104451" name="Rectangle 2">
            <a:extLst>
              <a:ext uri="{FF2B5EF4-FFF2-40B4-BE49-F238E27FC236}">
                <a16:creationId xmlns:a16="http://schemas.microsoft.com/office/drawing/2014/main" id="{4A715AE2-9B63-706B-D3DF-1DB1719278D9}"/>
              </a:ext>
            </a:extLst>
          </p:cNvPr>
          <p:cNvSpPr>
            <a:spLocks noGrp="1" noRot="1" noChangeAspect="1" noChangeArrowheads="1" noTextEdit="1"/>
          </p:cNvSpPr>
          <p:nvPr>
            <p:ph type="sldImg"/>
          </p:nvPr>
        </p:nvSpPr>
        <p:spPr>
          <a:ln/>
        </p:spPr>
      </p:sp>
      <p:sp>
        <p:nvSpPr>
          <p:cNvPr id="104452" name="Rectangle 3">
            <a:extLst>
              <a:ext uri="{FF2B5EF4-FFF2-40B4-BE49-F238E27FC236}">
                <a16:creationId xmlns:a16="http://schemas.microsoft.com/office/drawing/2014/main" id="{79FD01F8-1EB4-9B06-B700-19F89CD033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The remaining steps of transposition, although not yet well-understood, include synthesis of the second cDNA strand, repair of DNA gaps at the insertion site, and ligation to seal the DNA strands</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a:extLst>
              <a:ext uri="{FF2B5EF4-FFF2-40B4-BE49-F238E27FC236}">
                <a16:creationId xmlns:a16="http://schemas.microsoft.com/office/drawing/2014/main" id="{A57550B2-EC81-B604-8863-CD9F3047C60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9D5FF5E-2786-0B4C-BE9A-97C5084AA8B2}" type="slidenum">
              <a:rPr lang="en-GB" altLang="en-US"/>
              <a:pPr>
                <a:spcBef>
                  <a:spcPct val="0"/>
                </a:spcBef>
              </a:pPr>
              <a:t>51</a:t>
            </a:fld>
            <a:endParaRPr lang="en-GB" altLang="en-US"/>
          </a:p>
        </p:txBody>
      </p:sp>
      <p:sp>
        <p:nvSpPr>
          <p:cNvPr id="106499" name="Rectangle 2">
            <a:extLst>
              <a:ext uri="{FF2B5EF4-FFF2-40B4-BE49-F238E27FC236}">
                <a16:creationId xmlns:a16="http://schemas.microsoft.com/office/drawing/2014/main" id="{600DECBC-372E-4CEE-5491-5D892F0B9D7B}"/>
              </a:ext>
            </a:extLst>
          </p:cNvPr>
          <p:cNvSpPr>
            <a:spLocks noGrp="1" noRot="1" noChangeAspect="1" noChangeArrowheads="1" noTextEdit="1"/>
          </p:cNvSpPr>
          <p:nvPr>
            <p:ph type="sldImg"/>
          </p:nvPr>
        </p:nvSpPr>
        <p:spPr>
          <a:ln/>
        </p:spPr>
      </p:sp>
      <p:sp>
        <p:nvSpPr>
          <p:cNvPr id="106500" name="Rectangle 3">
            <a:extLst>
              <a:ext uri="{FF2B5EF4-FFF2-40B4-BE49-F238E27FC236}">
                <a16:creationId xmlns:a16="http://schemas.microsoft.com/office/drawing/2014/main" id="{71F8B376-56A2-02FC-0BC5-8B8763BA700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a:extLst>
              <a:ext uri="{FF2B5EF4-FFF2-40B4-BE49-F238E27FC236}">
                <a16:creationId xmlns:a16="http://schemas.microsoft.com/office/drawing/2014/main" id="{39D98647-62E7-319F-7F74-2C9B83143589}"/>
              </a:ext>
            </a:extLst>
          </p:cNvPr>
          <p:cNvSpPr>
            <a:spLocks noGrp="1" noRot="1" noChangeAspect="1" noTextEdit="1"/>
          </p:cNvSpPr>
          <p:nvPr>
            <p:ph type="sldImg"/>
          </p:nvPr>
        </p:nvSpPr>
        <p:spPr>
          <a:ln/>
        </p:spPr>
      </p:sp>
      <p:sp>
        <p:nvSpPr>
          <p:cNvPr id="108547" name="Notes Placeholder 2">
            <a:extLst>
              <a:ext uri="{FF2B5EF4-FFF2-40B4-BE49-F238E27FC236}">
                <a16:creationId xmlns:a16="http://schemas.microsoft.com/office/drawing/2014/main" id="{AC5561C3-459E-8754-A77B-E2A87A9FEBA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108548" name="Slide Number Placeholder 3">
            <a:extLst>
              <a:ext uri="{FF2B5EF4-FFF2-40B4-BE49-F238E27FC236}">
                <a16:creationId xmlns:a16="http://schemas.microsoft.com/office/drawing/2014/main" id="{8AE8F8FD-0E07-7077-CDA8-BC086EC1045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8595DDB-669D-6945-B5E1-D6188E55F5D0}" type="slidenum">
              <a:rPr lang="en-GB" altLang="en-US"/>
              <a:pPr>
                <a:spcBef>
                  <a:spcPct val="0"/>
                </a:spcBef>
              </a:pPr>
              <a:t>52</a:t>
            </a:fld>
            <a:endParaRPr lang="en-GB"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a:extLst>
              <a:ext uri="{FF2B5EF4-FFF2-40B4-BE49-F238E27FC236}">
                <a16:creationId xmlns:a16="http://schemas.microsoft.com/office/drawing/2014/main" id="{BEEAAD3E-8D68-93CA-BC21-A11CAE77D9DF}"/>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B5871687-1680-2E40-85BC-87028AB9E9FC}" type="slidenum">
              <a:rPr lang="en-US" altLang="en-US">
                <a:latin typeface="Times" pitchFamily="-32" charset="0"/>
                <a:ea typeface="ＭＳ Ｐゴシック" panose="020B0600070205080204" pitchFamily="34" charset="-128"/>
              </a:rPr>
              <a:pPr algn="r" eaLnBrk="1" hangingPunct="1">
                <a:spcBef>
                  <a:spcPct val="0"/>
                </a:spcBef>
              </a:pPr>
              <a:t>53</a:t>
            </a:fld>
            <a:endParaRPr lang="en-US" altLang="en-US">
              <a:latin typeface="Times" pitchFamily="-32" charset="0"/>
              <a:ea typeface="ＭＳ Ｐゴシック" panose="020B0600070205080204" pitchFamily="34" charset="-128"/>
            </a:endParaRPr>
          </a:p>
        </p:txBody>
      </p:sp>
      <p:sp>
        <p:nvSpPr>
          <p:cNvPr id="110595" name="Rectangle 2">
            <a:extLst>
              <a:ext uri="{FF2B5EF4-FFF2-40B4-BE49-F238E27FC236}">
                <a16:creationId xmlns:a16="http://schemas.microsoft.com/office/drawing/2014/main" id="{64C0FD2A-BD74-AE50-4694-87B2C5947320}"/>
              </a:ext>
            </a:extLst>
          </p:cNvPr>
          <p:cNvSpPr>
            <a:spLocks noGrp="1" noRot="1" noChangeAspect="1" noChangeArrowheads="1" noTextEdit="1"/>
          </p:cNvSpPr>
          <p:nvPr>
            <p:ph type="sldImg"/>
          </p:nvPr>
        </p:nvSpPr>
        <p:spPr>
          <a:ln/>
        </p:spPr>
      </p:sp>
      <p:sp>
        <p:nvSpPr>
          <p:cNvPr id="110596" name="Rectangle 3">
            <a:extLst>
              <a:ext uri="{FF2B5EF4-FFF2-40B4-BE49-F238E27FC236}">
                <a16:creationId xmlns:a16="http://schemas.microsoft.com/office/drawing/2014/main" id="{1B12FE82-752D-EE7A-6DA2-31B8BDC8FC1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cs typeface="Arial" panose="020B0604020202020204" pitchFamily="34" charset="0"/>
              </a:rPr>
              <a:t>Table 12-2</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a:extLst>
              <a:ext uri="{FF2B5EF4-FFF2-40B4-BE49-F238E27FC236}">
                <a16:creationId xmlns:a16="http://schemas.microsoft.com/office/drawing/2014/main" id="{73EB46B4-58EE-A132-8DE0-258EA6C3A9D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D2E60D6-A8AC-0C43-8A0E-ABDEF89C2616}" type="slidenum">
              <a:rPr lang="en-GB" altLang="en-US"/>
              <a:pPr>
                <a:spcBef>
                  <a:spcPct val="0"/>
                </a:spcBef>
              </a:pPr>
              <a:t>54</a:t>
            </a:fld>
            <a:endParaRPr lang="en-GB" altLang="en-US"/>
          </a:p>
        </p:txBody>
      </p:sp>
      <p:sp>
        <p:nvSpPr>
          <p:cNvPr id="112643" name="Rectangle 2">
            <a:extLst>
              <a:ext uri="{FF2B5EF4-FFF2-40B4-BE49-F238E27FC236}">
                <a16:creationId xmlns:a16="http://schemas.microsoft.com/office/drawing/2014/main" id="{C4977C91-92C4-ABE3-2BDD-BA61F754106B}"/>
              </a:ext>
            </a:extLst>
          </p:cNvPr>
          <p:cNvSpPr>
            <a:spLocks noGrp="1" noRot="1" noChangeAspect="1" noChangeArrowheads="1" noTextEdit="1"/>
          </p:cNvSpPr>
          <p:nvPr>
            <p:ph type="sldImg"/>
          </p:nvPr>
        </p:nvSpPr>
        <p:spPr>
          <a:ln/>
        </p:spPr>
      </p:sp>
      <p:sp>
        <p:nvSpPr>
          <p:cNvPr id="112644" name="Rectangle 3">
            <a:extLst>
              <a:ext uri="{FF2B5EF4-FFF2-40B4-BE49-F238E27FC236}">
                <a16:creationId xmlns:a16="http://schemas.microsoft.com/office/drawing/2014/main" id="{B99B7492-A478-BC1C-C864-E27CD51F5C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a:extLst>
              <a:ext uri="{FF2B5EF4-FFF2-40B4-BE49-F238E27FC236}">
                <a16:creationId xmlns:a16="http://schemas.microsoft.com/office/drawing/2014/main" id="{69935009-2D6C-51AB-40C5-88A00DA8918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DFF488F-94CE-EC43-87C8-81D3376B5906}" type="slidenum">
              <a:rPr lang="en-GB" altLang="en-US"/>
              <a:pPr>
                <a:spcBef>
                  <a:spcPct val="0"/>
                </a:spcBef>
              </a:pPr>
              <a:t>55</a:t>
            </a:fld>
            <a:endParaRPr lang="en-GB" altLang="en-US"/>
          </a:p>
        </p:txBody>
      </p:sp>
      <p:sp>
        <p:nvSpPr>
          <p:cNvPr id="114691" name="Rectangle 2">
            <a:extLst>
              <a:ext uri="{FF2B5EF4-FFF2-40B4-BE49-F238E27FC236}">
                <a16:creationId xmlns:a16="http://schemas.microsoft.com/office/drawing/2014/main" id="{C025B381-88B9-EBC2-AF08-40C20AD0D732}"/>
              </a:ext>
            </a:extLst>
          </p:cNvPr>
          <p:cNvSpPr>
            <a:spLocks noGrp="1" noRot="1" noChangeAspect="1" noChangeArrowheads="1" noTextEdit="1"/>
          </p:cNvSpPr>
          <p:nvPr>
            <p:ph type="sldImg"/>
          </p:nvPr>
        </p:nvSpPr>
        <p:spPr>
          <a:ln/>
        </p:spPr>
      </p:sp>
      <p:sp>
        <p:nvSpPr>
          <p:cNvPr id="114692" name="Rectangle 3">
            <a:extLst>
              <a:ext uri="{FF2B5EF4-FFF2-40B4-BE49-F238E27FC236}">
                <a16:creationId xmlns:a16="http://schemas.microsoft.com/office/drawing/2014/main" id="{E6934D73-60A3-C9A5-9CF1-473BC04E40B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a:extLst>
              <a:ext uri="{FF2B5EF4-FFF2-40B4-BE49-F238E27FC236}">
                <a16:creationId xmlns:a16="http://schemas.microsoft.com/office/drawing/2014/main" id="{BD6DE846-8C8E-B0CB-1CC8-1079D2D8749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C267423-C5FE-CE47-A72D-E4F28457CEF8}" type="slidenum">
              <a:rPr lang="en-GB" altLang="en-US"/>
              <a:pPr>
                <a:spcBef>
                  <a:spcPct val="0"/>
                </a:spcBef>
              </a:pPr>
              <a:t>56</a:t>
            </a:fld>
            <a:endParaRPr lang="en-GB" altLang="en-US"/>
          </a:p>
        </p:txBody>
      </p:sp>
      <p:sp>
        <p:nvSpPr>
          <p:cNvPr id="116739" name="Rectangle 2">
            <a:extLst>
              <a:ext uri="{FF2B5EF4-FFF2-40B4-BE49-F238E27FC236}">
                <a16:creationId xmlns:a16="http://schemas.microsoft.com/office/drawing/2014/main" id="{FDCFB4FE-45C7-978E-E6D7-B312D18D5FB1}"/>
              </a:ext>
            </a:extLst>
          </p:cNvPr>
          <p:cNvSpPr>
            <a:spLocks noGrp="1" noRot="1" noChangeAspect="1" noChangeArrowheads="1" noTextEdit="1"/>
          </p:cNvSpPr>
          <p:nvPr>
            <p:ph type="sldImg"/>
          </p:nvPr>
        </p:nvSpPr>
        <p:spPr>
          <a:ln/>
        </p:spPr>
      </p:sp>
      <p:sp>
        <p:nvSpPr>
          <p:cNvPr id="116740" name="Rectangle 3">
            <a:extLst>
              <a:ext uri="{FF2B5EF4-FFF2-40B4-BE49-F238E27FC236}">
                <a16:creationId xmlns:a16="http://schemas.microsoft.com/office/drawing/2014/main" id="{E22A4782-248E-8854-EFEF-EBBA2057D06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a:extLst>
              <a:ext uri="{FF2B5EF4-FFF2-40B4-BE49-F238E27FC236}">
                <a16:creationId xmlns:a16="http://schemas.microsoft.com/office/drawing/2014/main" id="{4C5381F6-463C-C1D1-E2D4-51469E741F1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3B72008-07D2-EF43-A25E-D532DB695E36}" type="slidenum">
              <a:rPr lang="en-GB" altLang="en-US"/>
              <a:pPr>
                <a:spcBef>
                  <a:spcPct val="0"/>
                </a:spcBef>
              </a:pPr>
              <a:t>57</a:t>
            </a:fld>
            <a:endParaRPr lang="en-GB" altLang="en-US"/>
          </a:p>
        </p:txBody>
      </p:sp>
      <p:sp>
        <p:nvSpPr>
          <p:cNvPr id="118787" name="Rectangle 2">
            <a:extLst>
              <a:ext uri="{FF2B5EF4-FFF2-40B4-BE49-F238E27FC236}">
                <a16:creationId xmlns:a16="http://schemas.microsoft.com/office/drawing/2014/main" id="{00E444D0-E139-A9FA-A53F-CF73329F8E54}"/>
              </a:ext>
            </a:extLst>
          </p:cNvPr>
          <p:cNvSpPr>
            <a:spLocks noGrp="1" noRot="1" noChangeAspect="1" noChangeArrowheads="1" noTextEdit="1"/>
          </p:cNvSpPr>
          <p:nvPr>
            <p:ph type="sldImg"/>
          </p:nvPr>
        </p:nvSpPr>
        <p:spPr>
          <a:ln/>
        </p:spPr>
      </p:sp>
      <p:sp>
        <p:nvSpPr>
          <p:cNvPr id="118788" name="Rectangle 3">
            <a:extLst>
              <a:ext uri="{FF2B5EF4-FFF2-40B4-BE49-F238E27FC236}">
                <a16:creationId xmlns:a16="http://schemas.microsoft.com/office/drawing/2014/main" id="{5FDA6B1B-E9CD-0CA1-D3F8-4FAC51CB2BE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a:extLst>
              <a:ext uri="{FF2B5EF4-FFF2-40B4-BE49-F238E27FC236}">
                <a16:creationId xmlns:a16="http://schemas.microsoft.com/office/drawing/2014/main" id="{3008A051-8EF3-D33C-CF84-F0F9FB407D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E186179-6DB0-0041-B487-5866C1424311}" type="slidenum">
              <a:rPr lang="en-GB" altLang="en-US"/>
              <a:pPr>
                <a:spcBef>
                  <a:spcPct val="0"/>
                </a:spcBef>
              </a:pPr>
              <a:t>58</a:t>
            </a:fld>
            <a:endParaRPr lang="en-GB" altLang="en-US"/>
          </a:p>
        </p:txBody>
      </p:sp>
      <p:sp>
        <p:nvSpPr>
          <p:cNvPr id="120835" name="Rectangle 2">
            <a:extLst>
              <a:ext uri="{FF2B5EF4-FFF2-40B4-BE49-F238E27FC236}">
                <a16:creationId xmlns:a16="http://schemas.microsoft.com/office/drawing/2014/main" id="{8806646F-F481-BAAF-7B9E-BA69C3B7D19A}"/>
              </a:ext>
            </a:extLst>
          </p:cNvPr>
          <p:cNvSpPr>
            <a:spLocks noGrp="1" noRot="1" noChangeAspect="1" noChangeArrowheads="1" noTextEdit="1"/>
          </p:cNvSpPr>
          <p:nvPr>
            <p:ph type="sldImg"/>
          </p:nvPr>
        </p:nvSpPr>
        <p:spPr>
          <a:ln/>
        </p:spPr>
      </p:sp>
      <p:sp>
        <p:nvSpPr>
          <p:cNvPr id="120836" name="Rectangle 3">
            <a:extLst>
              <a:ext uri="{FF2B5EF4-FFF2-40B4-BE49-F238E27FC236}">
                <a16:creationId xmlns:a16="http://schemas.microsoft.com/office/drawing/2014/main" id="{C601D87E-033C-67A1-CA6A-32F1C51E5B8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Mu for mutator from its ability to transpose frequently</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a:extLst>
              <a:ext uri="{FF2B5EF4-FFF2-40B4-BE49-F238E27FC236}">
                <a16:creationId xmlns:a16="http://schemas.microsoft.com/office/drawing/2014/main" id="{DE0094FD-FC24-59FB-B140-AFE32E003C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7B5FB52E-C1EB-514E-B399-380597314E16}" type="slidenum">
              <a:rPr lang="en-GB" altLang="en-US"/>
              <a:pPr>
                <a:spcBef>
                  <a:spcPct val="0"/>
                </a:spcBef>
              </a:pPr>
              <a:t>59</a:t>
            </a:fld>
            <a:endParaRPr lang="en-GB" altLang="en-US"/>
          </a:p>
        </p:txBody>
      </p:sp>
      <p:sp>
        <p:nvSpPr>
          <p:cNvPr id="122883" name="Rectangle 2">
            <a:extLst>
              <a:ext uri="{FF2B5EF4-FFF2-40B4-BE49-F238E27FC236}">
                <a16:creationId xmlns:a16="http://schemas.microsoft.com/office/drawing/2014/main" id="{9EE3C32D-F341-9FCE-815A-2CBE4131D577}"/>
              </a:ext>
            </a:extLst>
          </p:cNvPr>
          <p:cNvSpPr>
            <a:spLocks noGrp="1" noRot="1" noChangeAspect="1" noChangeArrowheads="1" noTextEdit="1"/>
          </p:cNvSpPr>
          <p:nvPr>
            <p:ph type="sldImg"/>
          </p:nvPr>
        </p:nvSpPr>
        <p:spPr>
          <a:ln/>
        </p:spPr>
      </p:sp>
      <p:sp>
        <p:nvSpPr>
          <p:cNvPr id="122884" name="Rectangle 3">
            <a:extLst>
              <a:ext uri="{FF2B5EF4-FFF2-40B4-BE49-F238E27FC236}">
                <a16:creationId xmlns:a16="http://schemas.microsoft.com/office/drawing/2014/main" id="{ACA9D30A-A265-011C-7983-C96910D4BE1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a:extLst>
              <a:ext uri="{FF2B5EF4-FFF2-40B4-BE49-F238E27FC236}">
                <a16:creationId xmlns:a16="http://schemas.microsoft.com/office/drawing/2014/main" id="{ACE84EB6-1A05-A374-25FA-23FFE49FD9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54B154FE-6537-E04F-B3B7-203BC1031FC8}" type="slidenum">
              <a:rPr lang="en-GB" altLang="en-US"/>
              <a:pPr>
                <a:spcBef>
                  <a:spcPct val="0"/>
                </a:spcBef>
              </a:pPr>
              <a:t>60</a:t>
            </a:fld>
            <a:endParaRPr lang="en-GB" altLang="en-US"/>
          </a:p>
        </p:txBody>
      </p:sp>
      <p:sp>
        <p:nvSpPr>
          <p:cNvPr id="124931" name="Rectangle 2">
            <a:extLst>
              <a:ext uri="{FF2B5EF4-FFF2-40B4-BE49-F238E27FC236}">
                <a16:creationId xmlns:a16="http://schemas.microsoft.com/office/drawing/2014/main" id="{E5530B12-1ABC-D3F0-14B4-E06C24029681}"/>
              </a:ext>
            </a:extLst>
          </p:cNvPr>
          <p:cNvSpPr>
            <a:spLocks noGrp="1" noRot="1" noChangeAspect="1" noChangeArrowheads="1" noTextEdit="1"/>
          </p:cNvSpPr>
          <p:nvPr>
            <p:ph type="sldImg"/>
          </p:nvPr>
        </p:nvSpPr>
        <p:spPr>
          <a:ln/>
        </p:spPr>
      </p:sp>
      <p:sp>
        <p:nvSpPr>
          <p:cNvPr id="124932" name="Rectangle 3">
            <a:extLst>
              <a:ext uri="{FF2B5EF4-FFF2-40B4-BE49-F238E27FC236}">
                <a16:creationId xmlns:a16="http://schemas.microsoft.com/office/drawing/2014/main" id="{4A3A488E-D881-60B4-E398-7548BF62678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a:extLst>
              <a:ext uri="{FF2B5EF4-FFF2-40B4-BE49-F238E27FC236}">
                <a16:creationId xmlns:a16="http://schemas.microsoft.com/office/drawing/2014/main" id="{54346635-8942-B8A0-26FC-B0461F35C3D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2B43C05-4EC5-F24B-AE1A-C874F3405D0F}" type="slidenum">
              <a:rPr lang="en-GB" altLang="en-US"/>
              <a:pPr>
                <a:spcBef>
                  <a:spcPct val="0"/>
                </a:spcBef>
              </a:pPr>
              <a:t>61</a:t>
            </a:fld>
            <a:endParaRPr lang="en-GB" altLang="en-US"/>
          </a:p>
        </p:txBody>
      </p:sp>
      <p:sp>
        <p:nvSpPr>
          <p:cNvPr id="126979" name="Rectangle 2">
            <a:extLst>
              <a:ext uri="{FF2B5EF4-FFF2-40B4-BE49-F238E27FC236}">
                <a16:creationId xmlns:a16="http://schemas.microsoft.com/office/drawing/2014/main" id="{F83F34BE-55A6-9154-8DCE-711560E37D93}"/>
              </a:ext>
            </a:extLst>
          </p:cNvPr>
          <p:cNvSpPr>
            <a:spLocks noGrp="1" noRot="1" noChangeAspect="1" noChangeArrowheads="1" noTextEdit="1"/>
          </p:cNvSpPr>
          <p:nvPr>
            <p:ph type="sldImg"/>
          </p:nvPr>
        </p:nvSpPr>
        <p:spPr>
          <a:ln/>
        </p:spPr>
      </p:sp>
      <p:sp>
        <p:nvSpPr>
          <p:cNvPr id="126980" name="Rectangle 3">
            <a:extLst>
              <a:ext uri="{FF2B5EF4-FFF2-40B4-BE49-F238E27FC236}">
                <a16:creationId xmlns:a16="http://schemas.microsoft.com/office/drawing/2014/main" id="{B19E572F-0CAE-9C0A-9C7F-B0262D14659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a:extLst>
              <a:ext uri="{FF2B5EF4-FFF2-40B4-BE49-F238E27FC236}">
                <a16:creationId xmlns:a16="http://schemas.microsoft.com/office/drawing/2014/main" id="{FEBE4C70-1269-F93A-F974-17E65AE55D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62BB70A-E432-864E-B938-0D3F0202C9CC}" type="slidenum">
              <a:rPr lang="en-GB" altLang="en-US"/>
              <a:pPr>
                <a:spcBef>
                  <a:spcPct val="0"/>
                </a:spcBef>
              </a:pPr>
              <a:t>62</a:t>
            </a:fld>
            <a:endParaRPr lang="en-GB" altLang="en-US"/>
          </a:p>
        </p:txBody>
      </p:sp>
      <p:sp>
        <p:nvSpPr>
          <p:cNvPr id="129027" name="Rectangle 2">
            <a:extLst>
              <a:ext uri="{FF2B5EF4-FFF2-40B4-BE49-F238E27FC236}">
                <a16:creationId xmlns:a16="http://schemas.microsoft.com/office/drawing/2014/main" id="{ACC0DB87-0714-AD1C-6942-19477AAF6EB1}"/>
              </a:ext>
            </a:extLst>
          </p:cNvPr>
          <p:cNvSpPr>
            <a:spLocks noGrp="1" noRot="1" noChangeAspect="1" noChangeArrowheads="1" noTextEdit="1"/>
          </p:cNvSpPr>
          <p:nvPr>
            <p:ph type="sldImg"/>
          </p:nvPr>
        </p:nvSpPr>
        <p:spPr>
          <a:ln/>
        </p:spPr>
      </p:sp>
      <p:sp>
        <p:nvSpPr>
          <p:cNvPr id="129028" name="Rectangle 3">
            <a:extLst>
              <a:ext uri="{FF2B5EF4-FFF2-40B4-BE49-F238E27FC236}">
                <a16:creationId xmlns:a16="http://schemas.microsoft.com/office/drawing/2014/main" id="{7302E3D2-D867-5B56-079D-1B3A8B6F0A7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Slide Image Placeholder 1">
            <a:extLst>
              <a:ext uri="{FF2B5EF4-FFF2-40B4-BE49-F238E27FC236}">
                <a16:creationId xmlns:a16="http://schemas.microsoft.com/office/drawing/2014/main" id="{CD7DD7F7-8869-192F-373F-55E66CB17428}"/>
              </a:ext>
            </a:extLst>
          </p:cNvPr>
          <p:cNvSpPr>
            <a:spLocks noGrp="1" noRot="1" noChangeAspect="1" noTextEdit="1"/>
          </p:cNvSpPr>
          <p:nvPr>
            <p:ph type="sldImg"/>
          </p:nvPr>
        </p:nvSpPr>
        <p:spPr>
          <a:ln/>
        </p:spPr>
      </p:sp>
      <p:sp>
        <p:nvSpPr>
          <p:cNvPr id="131075" name="Notes Placeholder 2">
            <a:extLst>
              <a:ext uri="{FF2B5EF4-FFF2-40B4-BE49-F238E27FC236}">
                <a16:creationId xmlns:a16="http://schemas.microsoft.com/office/drawing/2014/main" id="{F74EE1F6-8C06-0A63-C653-C66004B0107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
        <p:nvSpPr>
          <p:cNvPr id="131076" name="Slide Number Placeholder 3">
            <a:extLst>
              <a:ext uri="{FF2B5EF4-FFF2-40B4-BE49-F238E27FC236}">
                <a16:creationId xmlns:a16="http://schemas.microsoft.com/office/drawing/2014/main" id="{E420276D-CABF-B1BD-63CE-633762B55AB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BB90B75-23F9-F744-A392-1DBDD7AEA0BE}" type="slidenum">
              <a:rPr lang="en-GB" altLang="en-US"/>
              <a:pPr>
                <a:spcBef>
                  <a:spcPct val="0"/>
                </a:spcBef>
              </a:pPr>
              <a:t>63</a:t>
            </a:fld>
            <a:endParaRPr lang="en-GB"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a:extLst>
              <a:ext uri="{FF2B5EF4-FFF2-40B4-BE49-F238E27FC236}">
                <a16:creationId xmlns:a16="http://schemas.microsoft.com/office/drawing/2014/main" id="{751CED04-06F0-D963-4762-1B8B56A9154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F70A543-B5F7-A740-8723-9F0203AEA1B5}" type="slidenum">
              <a:rPr lang="en-GB" altLang="en-US"/>
              <a:pPr>
                <a:spcBef>
                  <a:spcPct val="0"/>
                </a:spcBef>
              </a:pPr>
              <a:t>64</a:t>
            </a:fld>
            <a:endParaRPr lang="en-GB" altLang="en-US"/>
          </a:p>
        </p:txBody>
      </p:sp>
      <p:sp>
        <p:nvSpPr>
          <p:cNvPr id="133123" name="Rectangle 2">
            <a:extLst>
              <a:ext uri="{FF2B5EF4-FFF2-40B4-BE49-F238E27FC236}">
                <a16:creationId xmlns:a16="http://schemas.microsoft.com/office/drawing/2014/main" id="{0DE4F64A-2E92-0B8D-01D6-50174A65D00A}"/>
              </a:ext>
            </a:extLst>
          </p:cNvPr>
          <p:cNvSpPr>
            <a:spLocks noGrp="1" noRot="1" noChangeAspect="1" noChangeArrowheads="1" noTextEdit="1"/>
          </p:cNvSpPr>
          <p:nvPr>
            <p:ph type="sldImg"/>
          </p:nvPr>
        </p:nvSpPr>
        <p:spPr>
          <a:ln/>
        </p:spPr>
      </p:sp>
      <p:sp>
        <p:nvSpPr>
          <p:cNvPr id="133124" name="Rectangle 3">
            <a:extLst>
              <a:ext uri="{FF2B5EF4-FFF2-40B4-BE49-F238E27FC236}">
                <a16:creationId xmlns:a16="http://schemas.microsoft.com/office/drawing/2014/main" id="{D4782730-71DB-7E59-F233-A0B8DCB656C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a:extLst>
              <a:ext uri="{FF2B5EF4-FFF2-40B4-BE49-F238E27FC236}">
                <a16:creationId xmlns:a16="http://schemas.microsoft.com/office/drawing/2014/main" id="{6E6A3BFE-7255-0118-4B52-FC260472B5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18B59CF-3342-844A-A4C3-7A19270244C6}" type="slidenum">
              <a:rPr lang="en-GB" altLang="en-US"/>
              <a:pPr>
                <a:spcBef>
                  <a:spcPct val="0"/>
                </a:spcBef>
              </a:pPr>
              <a:t>65</a:t>
            </a:fld>
            <a:endParaRPr lang="en-GB" altLang="en-US"/>
          </a:p>
        </p:txBody>
      </p:sp>
      <p:sp>
        <p:nvSpPr>
          <p:cNvPr id="135171" name="Rectangle 2">
            <a:extLst>
              <a:ext uri="{FF2B5EF4-FFF2-40B4-BE49-F238E27FC236}">
                <a16:creationId xmlns:a16="http://schemas.microsoft.com/office/drawing/2014/main" id="{4E1E6F25-A259-47CC-F8EA-DDDC3C7A3DFF}"/>
              </a:ext>
            </a:extLst>
          </p:cNvPr>
          <p:cNvSpPr>
            <a:spLocks noGrp="1" noRot="1" noChangeAspect="1" noChangeArrowheads="1" noTextEdit="1"/>
          </p:cNvSpPr>
          <p:nvPr>
            <p:ph type="sldImg"/>
          </p:nvPr>
        </p:nvSpPr>
        <p:spPr>
          <a:ln/>
        </p:spPr>
      </p:sp>
      <p:sp>
        <p:nvSpPr>
          <p:cNvPr id="135172" name="Rectangle 3">
            <a:extLst>
              <a:ext uri="{FF2B5EF4-FFF2-40B4-BE49-F238E27FC236}">
                <a16:creationId xmlns:a16="http://schemas.microsoft.com/office/drawing/2014/main" id="{DB32B396-DF59-70A8-3B97-3472EE2BF7E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a:extLst>
              <a:ext uri="{FF2B5EF4-FFF2-40B4-BE49-F238E27FC236}">
                <a16:creationId xmlns:a16="http://schemas.microsoft.com/office/drawing/2014/main" id="{04A07517-1ECA-EFDB-EC50-94FB542F84F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869E981-497F-C14E-94EA-C675B4B08BAF}" type="slidenum">
              <a:rPr lang="en-GB" altLang="en-US"/>
              <a:pPr>
                <a:spcBef>
                  <a:spcPct val="0"/>
                </a:spcBef>
              </a:pPr>
              <a:t>66</a:t>
            </a:fld>
            <a:endParaRPr lang="en-GB" altLang="en-US"/>
          </a:p>
        </p:txBody>
      </p:sp>
      <p:sp>
        <p:nvSpPr>
          <p:cNvPr id="137219" name="Rectangle 2">
            <a:extLst>
              <a:ext uri="{FF2B5EF4-FFF2-40B4-BE49-F238E27FC236}">
                <a16:creationId xmlns:a16="http://schemas.microsoft.com/office/drawing/2014/main" id="{4C920D54-458E-658A-8A17-16B9936833E7}"/>
              </a:ext>
            </a:extLst>
          </p:cNvPr>
          <p:cNvSpPr>
            <a:spLocks noGrp="1" noRot="1" noChangeAspect="1" noChangeArrowheads="1" noTextEdit="1"/>
          </p:cNvSpPr>
          <p:nvPr>
            <p:ph type="sldImg"/>
          </p:nvPr>
        </p:nvSpPr>
        <p:spPr>
          <a:ln/>
        </p:spPr>
      </p:sp>
      <p:sp>
        <p:nvSpPr>
          <p:cNvPr id="137220" name="Rectangle 3">
            <a:extLst>
              <a:ext uri="{FF2B5EF4-FFF2-40B4-BE49-F238E27FC236}">
                <a16:creationId xmlns:a16="http://schemas.microsoft.com/office/drawing/2014/main" id="{04653409-0CDD-3082-2B34-AC17CBA66E4A}"/>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000">
                <a:latin typeface="Arial" panose="020B0604020202020204" pitchFamily="34" charset="0"/>
                <a:cs typeface="Arial" panose="020B0604020202020204" pitchFamily="34" charset="0"/>
              </a:rPr>
              <a:t>Antibodies are made of proteins that bind to a specific part or determinant of an antigen called an epitope.  Each epitope occurs many times, or is studded on the surface of a pathogen.  The antibodies that are produced act as the functional units of the immune response.  Shaped like a “Y”, the antibody has two sites at the tip of the Y which are the binding sites of the antibody for the antigen. </a:t>
            </a:r>
          </a:p>
          <a:p>
            <a:pPr eaLnBrk="1" hangingPunct="1"/>
            <a:endParaRPr lang="en-US" altLang="en-US" sz="1000">
              <a:latin typeface="Arial" panose="020B0604020202020204" pitchFamily="34" charset="0"/>
              <a:cs typeface="Arial" panose="020B0604020202020204" pitchFamily="34"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Slide Image Placeholder 1">
            <a:extLst>
              <a:ext uri="{FF2B5EF4-FFF2-40B4-BE49-F238E27FC236}">
                <a16:creationId xmlns:a16="http://schemas.microsoft.com/office/drawing/2014/main" id="{604707D0-5B81-74ED-AB6B-E1DEFE3E3EFB}"/>
              </a:ext>
            </a:extLst>
          </p:cNvPr>
          <p:cNvSpPr>
            <a:spLocks noGrp="1" noRot="1" noChangeAspect="1" noTextEdit="1"/>
          </p:cNvSpPr>
          <p:nvPr>
            <p:ph type="sldImg"/>
          </p:nvPr>
        </p:nvSpPr>
        <p:spPr>
          <a:ln/>
        </p:spPr>
      </p:sp>
      <p:sp>
        <p:nvSpPr>
          <p:cNvPr id="139267" name="Notes Placeholder 2">
            <a:extLst>
              <a:ext uri="{FF2B5EF4-FFF2-40B4-BE49-F238E27FC236}">
                <a16:creationId xmlns:a16="http://schemas.microsoft.com/office/drawing/2014/main" id="{CAA22EC1-FEE6-84BB-5902-7F929840A7C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139268" name="Slide Number Placeholder 3">
            <a:extLst>
              <a:ext uri="{FF2B5EF4-FFF2-40B4-BE49-F238E27FC236}">
                <a16:creationId xmlns:a16="http://schemas.microsoft.com/office/drawing/2014/main" id="{871F0A26-319E-4CB5-B450-39309372D4A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847A174-9193-9D4E-8CD4-2EB5CF77779C}" type="slidenum">
              <a:rPr lang="en-GB" altLang="en-US"/>
              <a:pPr>
                <a:spcBef>
                  <a:spcPct val="0"/>
                </a:spcBef>
              </a:pPr>
              <a:t>67</a:t>
            </a:fld>
            <a:endParaRPr lang="en-GB"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a:extLst>
              <a:ext uri="{FF2B5EF4-FFF2-40B4-BE49-F238E27FC236}">
                <a16:creationId xmlns:a16="http://schemas.microsoft.com/office/drawing/2014/main" id="{5E7F6604-2756-76DE-60E7-C41E1F7318F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7B1F1D89-648A-1B41-B57D-D185D549F1B9}" type="slidenum">
              <a:rPr lang="en-GB" altLang="en-US"/>
              <a:pPr>
                <a:spcBef>
                  <a:spcPct val="0"/>
                </a:spcBef>
              </a:pPr>
              <a:t>68</a:t>
            </a:fld>
            <a:endParaRPr lang="en-GB" altLang="en-US"/>
          </a:p>
        </p:txBody>
      </p:sp>
      <p:sp>
        <p:nvSpPr>
          <p:cNvPr id="141315" name="Rectangle 2">
            <a:extLst>
              <a:ext uri="{FF2B5EF4-FFF2-40B4-BE49-F238E27FC236}">
                <a16:creationId xmlns:a16="http://schemas.microsoft.com/office/drawing/2014/main" id="{116371E1-5B5E-6FAC-92A6-0F76A486D976}"/>
              </a:ext>
            </a:extLst>
          </p:cNvPr>
          <p:cNvSpPr>
            <a:spLocks noGrp="1" noRot="1" noChangeAspect="1" noChangeArrowheads="1" noTextEdit="1"/>
          </p:cNvSpPr>
          <p:nvPr>
            <p:ph type="sldImg"/>
          </p:nvPr>
        </p:nvSpPr>
        <p:spPr>
          <a:ln/>
        </p:spPr>
      </p:sp>
      <p:sp>
        <p:nvSpPr>
          <p:cNvPr id="141316" name="Rectangle 3">
            <a:extLst>
              <a:ext uri="{FF2B5EF4-FFF2-40B4-BE49-F238E27FC236}">
                <a16:creationId xmlns:a16="http://schemas.microsoft.com/office/drawing/2014/main" id="{142C46B2-7B54-CE21-EC91-733706998D4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Slide Image Placeholder 1">
            <a:extLst>
              <a:ext uri="{FF2B5EF4-FFF2-40B4-BE49-F238E27FC236}">
                <a16:creationId xmlns:a16="http://schemas.microsoft.com/office/drawing/2014/main" id="{B9F51C00-5D48-4973-1596-66D84A4638C0}"/>
              </a:ext>
            </a:extLst>
          </p:cNvPr>
          <p:cNvSpPr>
            <a:spLocks noGrp="1" noRot="1" noChangeAspect="1" noTextEdit="1"/>
          </p:cNvSpPr>
          <p:nvPr>
            <p:ph type="sldImg"/>
          </p:nvPr>
        </p:nvSpPr>
        <p:spPr>
          <a:ln/>
        </p:spPr>
      </p:sp>
      <p:sp>
        <p:nvSpPr>
          <p:cNvPr id="143363" name="Notes Placeholder 2">
            <a:extLst>
              <a:ext uri="{FF2B5EF4-FFF2-40B4-BE49-F238E27FC236}">
                <a16:creationId xmlns:a16="http://schemas.microsoft.com/office/drawing/2014/main" id="{47DA39E2-4840-735A-4564-75ADF21261A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143364" name="Slide Number Placeholder 3">
            <a:extLst>
              <a:ext uri="{FF2B5EF4-FFF2-40B4-BE49-F238E27FC236}">
                <a16:creationId xmlns:a16="http://schemas.microsoft.com/office/drawing/2014/main" id="{C671AC07-3303-7B14-F670-6261BF864DF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84EF5EC-11AD-9A44-B685-A3A07F2C4777}" type="slidenum">
              <a:rPr lang="en-GB" altLang="en-US"/>
              <a:pPr>
                <a:spcBef>
                  <a:spcPct val="0"/>
                </a:spcBef>
              </a:pPr>
              <a:t>69</a:t>
            </a:fld>
            <a:endParaRPr lang="en-GB"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a:extLst>
              <a:ext uri="{FF2B5EF4-FFF2-40B4-BE49-F238E27FC236}">
                <a16:creationId xmlns:a16="http://schemas.microsoft.com/office/drawing/2014/main" id="{CB3CD557-5AC3-71AD-9BD3-D3D0FBBA99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340C5620-30A6-7440-9D71-5DCBD58EF8CF}" type="slidenum">
              <a:rPr lang="en-GB" altLang="en-US"/>
              <a:pPr>
                <a:spcBef>
                  <a:spcPct val="0"/>
                </a:spcBef>
              </a:pPr>
              <a:t>70</a:t>
            </a:fld>
            <a:endParaRPr lang="en-GB" altLang="en-US"/>
          </a:p>
        </p:txBody>
      </p:sp>
      <p:sp>
        <p:nvSpPr>
          <p:cNvPr id="145411" name="Rectangle 2">
            <a:extLst>
              <a:ext uri="{FF2B5EF4-FFF2-40B4-BE49-F238E27FC236}">
                <a16:creationId xmlns:a16="http://schemas.microsoft.com/office/drawing/2014/main" id="{D75CC987-DB5C-CF31-F627-19C483C0BB56}"/>
              </a:ext>
            </a:extLst>
          </p:cNvPr>
          <p:cNvSpPr>
            <a:spLocks noGrp="1" noRot="1" noChangeAspect="1" noChangeArrowheads="1" noTextEdit="1"/>
          </p:cNvSpPr>
          <p:nvPr>
            <p:ph type="sldImg"/>
          </p:nvPr>
        </p:nvSpPr>
        <p:spPr>
          <a:ln/>
        </p:spPr>
      </p:sp>
      <p:sp>
        <p:nvSpPr>
          <p:cNvPr id="145412" name="Rectangle 3">
            <a:extLst>
              <a:ext uri="{FF2B5EF4-FFF2-40B4-BE49-F238E27FC236}">
                <a16:creationId xmlns:a16="http://schemas.microsoft.com/office/drawing/2014/main" id="{D289C151-31F6-9C35-61B5-D53C15A920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a:extLst>
              <a:ext uri="{FF2B5EF4-FFF2-40B4-BE49-F238E27FC236}">
                <a16:creationId xmlns:a16="http://schemas.microsoft.com/office/drawing/2014/main" id="{587D13B3-9B28-E029-E85D-6FA464A45B1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C7A7EC8-471A-354A-BFB8-045C06C28A01}" type="slidenum">
              <a:rPr lang="en-GB" altLang="en-US"/>
              <a:pPr>
                <a:spcBef>
                  <a:spcPct val="0"/>
                </a:spcBef>
              </a:pPr>
              <a:t>71</a:t>
            </a:fld>
            <a:endParaRPr lang="en-GB" altLang="en-US"/>
          </a:p>
        </p:txBody>
      </p:sp>
      <p:sp>
        <p:nvSpPr>
          <p:cNvPr id="147459" name="Rectangle 2">
            <a:extLst>
              <a:ext uri="{FF2B5EF4-FFF2-40B4-BE49-F238E27FC236}">
                <a16:creationId xmlns:a16="http://schemas.microsoft.com/office/drawing/2014/main" id="{768E5660-BFE7-8DA7-2C8A-40105C7A1C78}"/>
              </a:ext>
            </a:extLst>
          </p:cNvPr>
          <p:cNvSpPr>
            <a:spLocks noGrp="1" noRot="1" noChangeAspect="1" noChangeArrowheads="1" noTextEdit="1"/>
          </p:cNvSpPr>
          <p:nvPr>
            <p:ph type="sldImg"/>
          </p:nvPr>
        </p:nvSpPr>
        <p:spPr>
          <a:ln/>
        </p:spPr>
      </p:sp>
      <p:sp>
        <p:nvSpPr>
          <p:cNvPr id="147460" name="Rectangle 3">
            <a:extLst>
              <a:ext uri="{FF2B5EF4-FFF2-40B4-BE49-F238E27FC236}">
                <a16:creationId xmlns:a16="http://schemas.microsoft.com/office/drawing/2014/main" id="{0BBDF12A-4A26-D63A-3D1C-F4CC9D7EA64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a:extLst>
              <a:ext uri="{FF2B5EF4-FFF2-40B4-BE49-F238E27FC236}">
                <a16:creationId xmlns:a16="http://schemas.microsoft.com/office/drawing/2014/main" id="{8696E47C-1E84-6490-407E-65FA6D54B8A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3BB82621-A832-0146-87E5-A30FBA0AE05F}" type="slidenum">
              <a:rPr lang="en-GB" altLang="en-US"/>
              <a:pPr>
                <a:spcBef>
                  <a:spcPct val="0"/>
                </a:spcBef>
              </a:pPr>
              <a:t>72</a:t>
            </a:fld>
            <a:endParaRPr lang="en-GB" altLang="en-US"/>
          </a:p>
        </p:txBody>
      </p:sp>
      <p:sp>
        <p:nvSpPr>
          <p:cNvPr id="149507" name="Rectangle 2">
            <a:extLst>
              <a:ext uri="{FF2B5EF4-FFF2-40B4-BE49-F238E27FC236}">
                <a16:creationId xmlns:a16="http://schemas.microsoft.com/office/drawing/2014/main" id="{519BCA74-FE4F-26C5-2429-FD6D9F776F8B}"/>
              </a:ext>
            </a:extLst>
          </p:cNvPr>
          <p:cNvSpPr>
            <a:spLocks noGrp="1" noRot="1" noChangeAspect="1" noChangeArrowheads="1" noTextEdit="1"/>
          </p:cNvSpPr>
          <p:nvPr>
            <p:ph type="sldImg"/>
          </p:nvPr>
        </p:nvSpPr>
        <p:spPr>
          <a:ln/>
        </p:spPr>
      </p:sp>
      <p:sp>
        <p:nvSpPr>
          <p:cNvPr id="149508" name="Rectangle 3">
            <a:extLst>
              <a:ext uri="{FF2B5EF4-FFF2-40B4-BE49-F238E27FC236}">
                <a16:creationId xmlns:a16="http://schemas.microsoft.com/office/drawing/2014/main" id="{D5B5A8A3-4D40-0BBB-2F23-291F739DDEF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RAG (Recombination Activating Gene)</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Slide Image Placeholder 1">
            <a:extLst>
              <a:ext uri="{FF2B5EF4-FFF2-40B4-BE49-F238E27FC236}">
                <a16:creationId xmlns:a16="http://schemas.microsoft.com/office/drawing/2014/main" id="{7C1A4672-D6E6-F8FB-1645-34E793D74F3D}"/>
              </a:ext>
            </a:extLst>
          </p:cNvPr>
          <p:cNvSpPr>
            <a:spLocks noGrp="1" noRot="1" noChangeAspect="1" noTextEdit="1"/>
          </p:cNvSpPr>
          <p:nvPr>
            <p:ph type="sldImg"/>
          </p:nvPr>
        </p:nvSpPr>
        <p:spPr>
          <a:ln/>
        </p:spPr>
      </p:sp>
      <p:sp>
        <p:nvSpPr>
          <p:cNvPr id="151555" name="Notes Placeholder 2">
            <a:extLst>
              <a:ext uri="{FF2B5EF4-FFF2-40B4-BE49-F238E27FC236}">
                <a16:creationId xmlns:a16="http://schemas.microsoft.com/office/drawing/2014/main" id="{9D9D03E6-0D2C-A609-7873-A4B51495BDC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
        <p:nvSpPr>
          <p:cNvPr id="151556" name="Slide Number Placeholder 3">
            <a:extLst>
              <a:ext uri="{FF2B5EF4-FFF2-40B4-BE49-F238E27FC236}">
                <a16:creationId xmlns:a16="http://schemas.microsoft.com/office/drawing/2014/main" id="{8EC32844-A66E-E1F1-F8F7-EF0778DF5B6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5A70DC90-7E17-2048-8D1A-99F997FF0964}" type="slidenum">
              <a:rPr lang="en-GB" altLang="en-US"/>
              <a:pPr>
                <a:spcBef>
                  <a:spcPct val="0"/>
                </a:spcBef>
              </a:pPr>
              <a:t>73</a:t>
            </a:fld>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6315D77E-D223-6D51-08DD-ACAD64B0C5C6}"/>
              </a:ext>
            </a:extLst>
          </p:cNvPr>
          <p:cNvSpPr>
            <a:spLocks noGrp="1"/>
          </p:cNvSpPr>
          <p:nvPr>
            <p:ph type="dt" sz="half" idx="10"/>
          </p:nvPr>
        </p:nvSpPr>
        <p:spPr/>
        <p:txBody>
          <a:bodyPr/>
          <a:lstStyle>
            <a:lvl1pPr>
              <a:defRPr/>
            </a:lvl1pPr>
          </a:lstStyle>
          <a:p>
            <a:pPr>
              <a:defRPr/>
            </a:pPr>
            <a:endParaRPr lang="en-GB"/>
          </a:p>
        </p:txBody>
      </p:sp>
      <p:sp>
        <p:nvSpPr>
          <p:cNvPr id="5" name="Footer Placeholder 4">
            <a:extLst>
              <a:ext uri="{FF2B5EF4-FFF2-40B4-BE49-F238E27FC236}">
                <a16:creationId xmlns:a16="http://schemas.microsoft.com/office/drawing/2014/main" id="{D476DCF3-23D7-5A75-5B62-6491A8C32928}"/>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F0059A5F-A4A1-35C9-B63F-78C39B23FB31}"/>
              </a:ext>
            </a:extLst>
          </p:cNvPr>
          <p:cNvSpPr>
            <a:spLocks noGrp="1"/>
          </p:cNvSpPr>
          <p:nvPr>
            <p:ph type="sldNum" sz="quarter" idx="12"/>
          </p:nvPr>
        </p:nvSpPr>
        <p:spPr/>
        <p:txBody>
          <a:bodyPr/>
          <a:lstStyle>
            <a:lvl1pPr>
              <a:defRPr/>
            </a:lvl1pPr>
          </a:lstStyle>
          <a:p>
            <a:fld id="{15634FC4-F77C-1640-971C-FF778185D960}" type="slidenum">
              <a:rPr lang="en-GB" altLang="en-US"/>
              <a:pPr/>
              <a:t>‹#›</a:t>
            </a:fld>
            <a:endParaRPr lang="en-GB" altLang="en-US"/>
          </a:p>
        </p:txBody>
      </p:sp>
    </p:spTree>
    <p:extLst>
      <p:ext uri="{BB962C8B-B14F-4D97-AF65-F5344CB8AC3E}">
        <p14:creationId xmlns:p14="http://schemas.microsoft.com/office/powerpoint/2010/main" val="1658635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0F1B88-5532-3436-C2A4-4DB44282E22B}"/>
              </a:ext>
            </a:extLst>
          </p:cNvPr>
          <p:cNvSpPr>
            <a:spLocks noGrp="1"/>
          </p:cNvSpPr>
          <p:nvPr>
            <p:ph type="dt" sz="half" idx="10"/>
          </p:nvPr>
        </p:nvSpPr>
        <p:spPr/>
        <p:txBody>
          <a:bodyPr/>
          <a:lstStyle>
            <a:lvl1pPr>
              <a:defRPr/>
            </a:lvl1pPr>
          </a:lstStyle>
          <a:p>
            <a:pPr>
              <a:defRPr/>
            </a:pPr>
            <a:endParaRPr lang="en-GB"/>
          </a:p>
        </p:txBody>
      </p:sp>
      <p:sp>
        <p:nvSpPr>
          <p:cNvPr id="5" name="Footer Placeholder 4">
            <a:extLst>
              <a:ext uri="{FF2B5EF4-FFF2-40B4-BE49-F238E27FC236}">
                <a16:creationId xmlns:a16="http://schemas.microsoft.com/office/drawing/2014/main" id="{0B6FB856-B51A-3FF1-57EF-2B667EA195E3}"/>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9BDE5A29-A7F2-CA69-2745-9FB3696B2856}"/>
              </a:ext>
            </a:extLst>
          </p:cNvPr>
          <p:cNvSpPr>
            <a:spLocks noGrp="1"/>
          </p:cNvSpPr>
          <p:nvPr>
            <p:ph type="sldNum" sz="quarter" idx="12"/>
          </p:nvPr>
        </p:nvSpPr>
        <p:spPr/>
        <p:txBody>
          <a:bodyPr/>
          <a:lstStyle>
            <a:lvl1pPr>
              <a:defRPr/>
            </a:lvl1pPr>
          </a:lstStyle>
          <a:p>
            <a:fld id="{51179541-4EA0-E94F-8E13-013C5C043F18}" type="slidenum">
              <a:rPr lang="en-GB" altLang="en-US"/>
              <a:pPr/>
              <a:t>‹#›</a:t>
            </a:fld>
            <a:endParaRPr lang="en-GB" altLang="en-US"/>
          </a:p>
        </p:txBody>
      </p:sp>
    </p:spTree>
    <p:extLst>
      <p:ext uri="{BB962C8B-B14F-4D97-AF65-F5344CB8AC3E}">
        <p14:creationId xmlns:p14="http://schemas.microsoft.com/office/powerpoint/2010/main" val="30121901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3E6832-6228-D04C-44CB-99963012CAA2}"/>
              </a:ext>
            </a:extLst>
          </p:cNvPr>
          <p:cNvSpPr>
            <a:spLocks noGrp="1"/>
          </p:cNvSpPr>
          <p:nvPr>
            <p:ph type="dt" sz="half" idx="10"/>
          </p:nvPr>
        </p:nvSpPr>
        <p:spPr/>
        <p:txBody>
          <a:bodyPr/>
          <a:lstStyle>
            <a:lvl1pPr>
              <a:defRPr/>
            </a:lvl1pPr>
          </a:lstStyle>
          <a:p>
            <a:pPr>
              <a:defRPr/>
            </a:pPr>
            <a:endParaRPr lang="en-GB"/>
          </a:p>
        </p:txBody>
      </p:sp>
      <p:sp>
        <p:nvSpPr>
          <p:cNvPr id="5" name="Footer Placeholder 4">
            <a:extLst>
              <a:ext uri="{FF2B5EF4-FFF2-40B4-BE49-F238E27FC236}">
                <a16:creationId xmlns:a16="http://schemas.microsoft.com/office/drawing/2014/main" id="{2CB74FC1-1DFA-BCA7-E098-F80FED9F8665}"/>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71C96C4E-E983-0855-020D-4A9CE09FAEBD}"/>
              </a:ext>
            </a:extLst>
          </p:cNvPr>
          <p:cNvSpPr>
            <a:spLocks noGrp="1"/>
          </p:cNvSpPr>
          <p:nvPr>
            <p:ph type="sldNum" sz="quarter" idx="12"/>
          </p:nvPr>
        </p:nvSpPr>
        <p:spPr/>
        <p:txBody>
          <a:bodyPr/>
          <a:lstStyle>
            <a:lvl1pPr>
              <a:defRPr/>
            </a:lvl1pPr>
          </a:lstStyle>
          <a:p>
            <a:fld id="{A52037F6-9223-C240-BA98-6CCDC00102BA}" type="slidenum">
              <a:rPr lang="en-GB" altLang="en-US"/>
              <a:pPr/>
              <a:t>‹#›</a:t>
            </a:fld>
            <a:endParaRPr lang="en-GB" altLang="en-US"/>
          </a:p>
        </p:txBody>
      </p:sp>
    </p:spTree>
    <p:extLst>
      <p:ext uri="{BB962C8B-B14F-4D97-AF65-F5344CB8AC3E}">
        <p14:creationId xmlns:p14="http://schemas.microsoft.com/office/powerpoint/2010/main" val="23120908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205643AF-6486-0811-73BA-7D571C672F41}"/>
              </a:ext>
            </a:extLst>
          </p:cNvPr>
          <p:cNvSpPr>
            <a:spLocks noGrp="1"/>
          </p:cNvSpPr>
          <p:nvPr>
            <p:ph type="dt" sz="half" idx="10"/>
          </p:nvPr>
        </p:nvSpPr>
        <p:spPr/>
        <p:txBody>
          <a:bodyPr/>
          <a:lstStyle>
            <a:lvl1pPr>
              <a:defRPr/>
            </a:lvl1pPr>
          </a:lstStyle>
          <a:p>
            <a:pPr>
              <a:defRPr/>
            </a:pPr>
            <a:endParaRPr lang="en-GB"/>
          </a:p>
        </p:txBody>
      </p:sp>
      <p:sp>
        <p:nvSpPr>
          <p:cNvPr id="6" name="Footer Placeholder 4">
            <a:extLst>
              <a:ext uri="{FF2B5EF4-FFF2-40B4-BE49-F238E27FC236}">
                <a16:creationId xmlns:a16="http://schemas.microsoft.com/office/drawing/2014/main" id="{ED1ABBA8-7E79-3584-A6AA-CC8FD7C8EA4E}"/>
              </a:ext>
            </a:extLst>
          </p:cNvPr>
          <p:cNvSpPr>
            <a:spLocks noGrp="1"/>
          </p:cNvSpPr>
          <p:nvPr>
            <p:ph type="ftr" sz="quarter" idx="11"/>
          </p:nvPr>
        </p:nvSpPr>
        <p:spPr/>
        <p:txBody>
          <a:bodyPr/>
          <a:lstStyle>
            <a:lvl1pPr>
              <a:defRPr/>
            </a:lvl1pPr>
          </a:lstStyle>
          <a:p>
            <a:pPr>
              <a:defRPr/>
            </a:pPr>
            <a:endParaRPr lang="en-GB"/>
          </a:p>
        </p:txBody>
      </p:sp>
      <p:sp>
        <p:nvSpPr>
          <p:cNvPr id="7" name="Slide Number Placeholder 5">
            <a:extLst>
              <a:ext uri="{FF2B5EF4-FFF2-40B4-BE49-F238E27FC236}">
                <a16:creationId xmlns:a16="http://schemas.microsoft.com/office/drawing/2014/main" id="{47B468AE-C3D7-B1A9-8A27-E414280B608D}"/>
              </a:ext>
            </a:extLst>
          </p:cNvPr>
          <p:cNvSpPr>
            <a:spLocks noGrp="1"/>
          </p:cNvSpPr>
          <p:nvPr>
            <p:ph type="sldNum" sz="quarter" idx="12"/>
          </p:nvPr>
        </p:nvSpPr>
        <p:spPr/>
        <p:txBody>
          <a:bodyPr/>
          <a:lstStyle>
            <a:lvl1pPr>
              <a:defRPr/>
            </a:lvl1pPr>
          </a:lstStyle>
          <a:p>
            <a:fld id="{4FD0B9B1-3F08-BB4F-8C0A-21F1336DDB9F}" type="slidenum">
              <a:rPr lang="en-GB" altLang="en-US"/>
              <a:pPr/>
              <a:t>‹#›</a:t>
            </a:fld>
            <a:endParaRPr lang="en-GB" altLang="en-US"/>
          </a:p>
        </p:txBody>
      </p:sp>
    </p:spTree>
    <p:extLst>
      <p:ext uri="{BB962C8B-B14F-4D97-AF65-F5344CB8AC3E}">
        <p14:creationId xmlns:p14="http://schemas.microsoft.com/office/powerpoint/2010/main" val="16737703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57A188FC-3AD3-6F2C-3CBF-19C06DA8DF54}"/>
              </a:ext>
            </a:extLst>
          </p:cNvPr>
          <p:cNvSpPr>
            <a:spLocks noGrp="1"/>
          </p:cNvSpPr>
          <p:nvPr>
            <p:ph type="dt" sz="half" idx="10"/>
          </p:nvPr>
        </p:nvSpPr>
        <p:spPr/>
        <p:txBody>
          <a:bodyPr/>
          <a:lstStyle>
            <a:lvl1pPr>
              <a:defRPr/>
            </a:lvl1pPr>
          </a:lstStyle>
          <a:p>
            <a:pPr>
              <a:defRPr/>
            </a:pPr>
            <a:endParaRPr lang="en-GB"/>
          </a:p>
        </p:txBody>
      </p:sp>
      <p:sp>
        <p:nvSpPr>
          <p:cNvPr id="8" name="Footer Placeholder 4">
            <a:extLst>
              <a:ext uri="{FF2B5EF4-FFF2-40B4-BE49-F238E27FC236}">
                <a16:creationId xmlns:a16="http://schemas.microsoft.com/office/drawing/2014/main" id="{76D3A364-4313-7AA5-31D3-0FA038423962}"/>
              </a:ext>
            </a:extLst>
          </p:cNvPr>
          <p:cNvSpPr>
            <a:spLocks noGrp="1"/>
          </p:cNvSpPr>
          <p:nvPr>
            <p:ph type="ftr" sz="quarter" idx="11"/>
          </p:nvPr>
        </p:nvSpPr>
        <p:spPr/>
        <p:txBody>
          <a:bodyPr/>
          <a:lstStyle>
            <a:lvl1pPr>
              <a:defRPr/>
            </a:lvl1pPr>
          </a:lstStyle>
          <a:p>
            <a:pPr>
              <a:defRPr/>
            </a:pPr>
            <a:endParaRPr lang="en-GB"/>
          </a:p>
        </p:txBody>
      </p:sp>
      <p:sp>
        <p:nvSpPr>
          <p:cNvPr id="9" name="Slide Number Placeholder 5">
            <a:extLst>
              <a:ext uri="{FF2B5EF4-FFF2-40B4-BE49-F238E27FC236}">
                <a16:creationId xmlns:a16="http://schemas.microsoft.com/office/drawing/2014/main" id="{AF03921E-609C-9F44-6E35-FD5C1AF11FD7}"/>
              </a:ext>
            </a:extLst>
          </p:cNvPr>
          <p:cNvSpPr>
            <a:spLocks noGrp="1"/>
          </p:cNvSpPr>
          <p:nvPr>
            <p:ph type="sldNum" sz="quarter" idx="12"/>
          </p:nvPr>
        </p:nvSpPr>
        <p:spPr/>
        <p:txBody>
          <a:bodyPr/>
          <a:lstStyle>
            <a:lvl1pPr>
              <a:defRPr/>
            </a:lvl1pPr>
          </a:lstStyle>
          <a:p>
            <a:fld id="{E9F9E05C-0EAC-E64A-BA08-AA341CD1954A}" type="slidenum">
              <a:rPr lang="en-GB" altLang="en-US"/>
              <a:pPr/>
              <a:t>‹#›</a:t>
            </a:fld>
            <a:endParaRPr lang="en-GB" altLang="en-US"/>
          </a:p>
        </p:txBody>
      </p:sp>
    </p:spTree>
    <p:extLst>
      <p:ext uri="{BB962C8B-B14F-4D97-AF65-F5344CB8AC3E}">
        <p14:creationId xmlns:p14="http://schemas.microsoft.com/office/powerpoint/2010/main" val="1167712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CB5EFCAD-CAC1-116E-1714-E1809E6D2407}"/>
              </a:ext>
            </a:extLst>
          </p:cNvPr>
          <p:cNvSpPr>
            <a:spLocks noGrp="1"/>
          </p:cNvSpPr>
          <p:nvPr>
            <p:ph type="dt" sz="half" idx="10"/>
          </p:nvPr>
        </p:nvSpPr>
        <p:spPr/>
        <p:txBody>
          <a:bodyPr/>
          <a:lstStyle>
            <a:lvl1pPr>
              <a:defRPr/>
            </a:lvl1pPr>
          </a:lstStyle>
          <a:p>
            <a:pPr>
              <a:defRPr/>
            </a:pPr>
            <a:endParaRPr lang="en-GB"/>
          </a:p>
        </p:txBody>
      </p:sp>
      <p:sp>
        <p:nvSpPr>
          <p:cNvPr id="4" name="Footer Placeholder 4">
            <a:extLst>
              <a:ext uri="{FF2B5EF4-FFF2-40B4-BE49-F238E27FC236}">
                <a16:creationId xmlns:a16="http://schemas.microsoft.com/office/drawing/2014/main" id="{3C282896-F6BE-768B-37AC-3E51F7398B4A}"/>
              </a:ext>
            </a:extLst>
          </p:cNvPr>
          <p:cNvSpPr>
            <a:spLocks noGrp="1"/>
          </p:cNvSpPr>
          <p:nvPr>
            <p:ph type="ftr" sz="quarter" idx="11"/>
          </p:nvPr>
        </p:nvSpPr>
        <p:spPr/>
        <p:txBody>
          <a:bodyPr/>
          <a:lstStyle>
            <a:lvl1pPr>
              <a:defRPr/>
            </a:lvl1pPr>
          </a:lstStyle>
          <a:p>
            <a:pPr>
              <a:defRPr/>
            </a:pPr>
            <a:endParaRPr lang="en-GB"/>
          </a:p>
        </p:txBody>
      </p:sp>
      <p:sp>
        <p:nvSpPr>
          <p:cNvPr id="5" name="Slide Number Placeholder 5">
            <a:extLst>
              <a:ext uri="{FF2B5EF4-FFF2-40B4-BE49-F238E27FC236}">
                <a16:creationId xmlns:a16="http://schemas.microsoft.com/office/drawing/2014/main" id="{C0A927B3-C51E-1E57-0876-DBF8CBE52ED4}"/>
              </a:ext>
            </a:extLst>
          </p:cNvPr>
          <p:cNvSpPr>
            <a:spLocks noGrp="1"/>
          </p:cNvSpPr>
          <p:nvPr>
            <p:ph type="sldNum" sz="quarter" idx="12"/>
          </p:nvPr>
        </p:nvSpPr>
        <p:spPr/>
        <p:txBody>
          <a:bodyPr/>
          <a:lstStyle>
            <a:lvl1pPr>
              <a:defRPr/>
            </a:lvl1pPr>
          </a:lstStyle>
          <a:p>
            <a:fld id="{071D651F-8ED4-6048-9B6B-E5D78B0F3FB9}" type="slidenum">
              <a:rPr lang="en-GB" altLang="en-US"/>
              <a:pPr/>
              <a:t>‹#›</a:t>
            </a:fld>
            <a:endParaRPr lang="en-GB" altLang="en-US"/>
          </a:p>
        </p:txBody>
      </p:sp>
    </p:spTree>
    <p:extLst>
      <p:ext uri="{BB962C8B-B14F-4D97-AF65-F5344CB8AC3E}">
        <p14:creationId xmlns:p14="http://schemas.microsoft.com/office/powerpoint/2010/main" val="37328290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24A91395-FEB6-ACC6-864E-AE6112926F92}"/>
              </a:ext>
            </a:extLst>
          </p:cNvPr>
          <p:cNvSpPr>
            <a:spLocks noGrp="1"/>
          </p:cNvSpPr>
          <p:nvPr>
            <p:ph type="dt" sz="half" idx="10"/>
          </p:nvPr>
        </p:nvSpPr>
        <p:spPr/>
        <p:txBody>
          <a:bodyPr/>
          <a:lstStyle>
            <a:lvl1pPr>
              <a:defRPr/>
            </a:lvl1pPr>
          </a:lstStyle>
          <a:p>
            <a:pPr>
              <a:defRPr/>
            </a:pPr>
            <a:endParaRPr lang="en-GB"/>
          </a:p>
        </p:txBody>
      </p:sp>
      <p:sp>
        <p:nvSpPr>
          <p:cNvPr id="3" name="Footer Placeholder 4">
            <a:extLst>
              <a:ext uri="{FF2B5EF4-FFF2-40B4-BE49-F238E27FC236}">
                <a16:creationId xmlns:a16="http://schemas.microsoft.com/office/drawing/2014/main" id="{1ABCBDFA-C95E-24E0-5BCF-66B46B019A56}"/>
              </a:ext>
            </a:extLst>
          </p:cNvPr>
          <p:cNvSpPr>
            <a:spLocks noGrp="1"/>
          </p:cNvSpPr>
          <p:nvPr>
            <p:ph type="ftr" sz="quarter" idx="11"/>
          </p:nvPr>
        </p:nvSpPr>
        <p:spPr/>
        <p:txBody>
          <a:bodyPr/>
          <a:lstStyle>
            <a:lvl1pPr>
              <a:defRPr/>
            </a:lvl1pPr>
          </a:lstStyle>
          <a:p>
            <a:pPr>
              <a:defRPr/>
            </a:pPr>
            <a:endParaRPr lang="en-GB"/>
          </a:p>
        </p:txBody>
      </p:sp>
      <p:sp>
        <p:nvSpPr>
          <p:cNvPr id="4" name="Slide Number Placeholder 5">
            <a:extLst>
              <a:ext uri="{FF2B5EF4-FFF2-40B4-BE49-F238E27FC236}">
                <a16:creationId xmlns:a16="http://schemas.microsoft.com/office/drawing/2014/main" id="{78C0A7ED-C1E4-29FA-E081-C2F7841FE675}"/>
              </a:ext>
            </a:extLst>
          </p:cNvPr>
          <p:cNvSpPr>
            <a:spLocks noGrp="1"/>
          </p:cNvSpPr>
          <p:nvPr>
            <p:ph type="sldNum" sz="quarter" idx="12"/>
          </p:nvPr>
        </p:nvSpPr>
        <p:spPr/>
        <p:txBody>
          <a:bodyPr/>
          <a:lstStyle>
            <a:lvl1pPr>
              <a:defRPr/>
            </a:lvl1pPr>
          </a:lstStyle>
          <a:p>
            <a:fld id="{C5B15961-488A-1444-9324-D39C47083013}" type="slidenum">
              <a:rPr lang="en-GB" altLang="en-US"/>
              <a:pPr/>
              <a:t>‹#›</a:t>
            </a:fld>
            <a:endParaRPr lang="en-GB" altLang="en-US"/>
          </a:p>
        </p:txBody>
      </p:sp>
    </p:spTree>
    <p:extLst>
      <p:ext uri="{BB962C8B-B14F-4D97-AF65-F5344CB8AC3E}">
        <p14:creationId xmlns:p14="http://schemas.microsoft.com/office/powerpoint/2010/main" val="37981915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3DA04D92-C520-83A3-C0A4-E76A75C8BB56}"/>
              </a:ext>
            </a:extLst>
          </p:cNvPr>
          <p:cNvSpPr>
            <a:spLocks noGrp="1"/>
          </p:cNvSpPr>
          <p:nvPr>
            <p:ph type="dt" sz="half" idx="10"/>
          </p:nvPr>
        </p:nvSpPr>
        <p:spPr/>
        <p:txBody>
          <a:bodyPr/>
          <a:lstStyle>
            <a:lvl1pPr>
              <a:defRPr/>
            </a:lvl1pPr>
          </a:lstStyle>
          <a:p>
            <a:pPr>
              <a:defRPr/>
            </a:pPr>
            <a:endParaRPr lang="en-GB"/>
          </a:p>
        </p:txBody>
      </p:sp>
      <p:sp>
        <p:nvSpPr>
          <p:cNvPr id="6" name="Footer Placeholder 4">
            <a:extLst>
              <a:ext uri="{FF2B5EF4-FFF2-40B4-BE49-F238E27FC236}">
                <a16:creationId xmlns:a16="http://schemas.microsoft.com/office/drawing/2014/main" id="{B81688A1-A008-0E3E-669D-521758A65CAB}"/>
              </a:ext>
            </a:extLst>
          </p:cNvPr>
          <p:cNvSpPr>
            <a:spLocks noGrp="1"/>
          </p:cNvSpPr>
          <p:nvPr>
            <p:ph type="ftr" sz="quarter" idx="11"/>
          </p:nvPr>
        </p:nvSpPr>
        <p:spPr/>
        <p:txBody>
          <a:bodyPr/>
          <a:lstStyle>
            <a:lvl1pPr>
              <a:defRPr/>
            </a:lvl1pPr>
          </a:lstStyle>
          <a:p>
            <a:pPr>
              <a:defRPr/>
            </a:pPr>
            <a:endParaRPr lang="en-GB"/>
          </a:p>
        </p:txBody>
      </p:sp>
      <p:sp>
        <p:nvSpPr>
          <p:cNvPr id="7" name="Slide Number Placeholder 5">
            <a:extLst>
              <a:ext uri="{FF2B5EF4-FFF2-40B4-BE49-F238E27FC236}">
                <a16:creationId xmlns:a16="http://schemas.microsoft.com/office/drawing/2014/main" id="{AD386A05-6A5F-7A01-3DBB-356840C37D99}"/>
              </a:ext>
            </a:extLst>
          </p:cNvPr>
          <p:cNvSpPr>
            <a:spLocks noGrp="1"/>
          </p:cNvSpPr>
          <p:nvPr>
            <p:ph type="sldNum" sz="quarter" idx="12"/>
          </p:nvPr>
        </p:nvSpPr>
        <p:spPr/>
        <p:txBody>
          <a:bodyPr/>
          <a:lstStyle>
            <a:lvl1pPr>
              <a:defRPr/>
            </a:lvl1pPr>
          </a:lstStyle>
          <a:p>
            <a:fld id="{E5040B98-7499-3D41-9D1F-393B834B1653}" type="slidenum">
              <a:rPr lang="en-GB" altLang="en-US"/>
              <a:pPr/>
              <a:t>‹#›</a:t>
            </a:fld>
            <a:endParaRPr lang="en-GB" altLang="en-US"/>
          </a:p>
        </p:txBody>
      </p:sp>
    </p:spTree>
    <p:extLst>
      <p:ext uri="{BB962C8B-B14F-4D97-AF65-F5344CB8AC3E}">
        <p14:creationId xmlns:p14="http://schemas.microsoft.com/office/powerpoint/2010/main" val="7809279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43E2B5A6-FCAB-29F1-E3DA-EF0275A8B811}"/>
              </a:ext>
            </a:extLst>
          </p:cNvPr>
          <p:cNvSpPr>
            <a:spLocks noGrp="1"/>
          </p:cNvSpPr>
          <p:nvPr>
            <p:ph type="dt" sz="half" idx="10"/>
          </p:nvPr>
        </p:nvSpPr>
        <p:spPr/>
        <p:txBody>
          <a:bodyPr/>
          <a:lstStyle>
            <a:lvl1pPr>
              <a:defRPr/>
            </a:lvl1pPr>
          </a:lstStyle>
          <a:p>
            <a:pPr>
              <a:defRPr/>
            </a:pPr>
            <a:endParaRPr lang="en-GB"/>
          </a:p>
        </p:txBody>
      </p:sp>
      <p:sp>
        <p:nvSpPr>
          <p:cNvPr id="6" name="Footer Placeholder 4">
            <a:extLst>
              <a:ext uri="{FF2B5EF4-FFF2-40B4-BE49-F238E27FC236}">
                <a16:creationId xmlns:a16="http://schemas.microsoft.com/office/drawing/2014/main" id="{3E4DFF4E-BD14-313E-89BD-7A1BCE3FD4B9}"/>
              </a:ext>
            </a:extLst>
          </p:cNvPr>
          <p:cNvSpPr>
            <a:spLocks noGrp="1"/>
          </p:cNvSpPr>
          <p:nvPr>
            <p:ph type="ftr" sz="quarter" idx="11"/>
          </p:nvPr>
        </p:nvSpPr>
        <p:spPr/>
        <p:txBody>
          <a:bodyPr/>
          <a:lstStyle>
            <a:lvl1pPr>
              <a:defRPr/>
            </a:lvl1pPr>
          </a:lstStyle>
          <a:p>
            <a:pPr>
              <a:defRPr/>
            </a:pPr>
            <a:endParaRPr lang="en-GB"/>
          </a:p>
        </p:txBody>
      </p:sp>
      <p:sp>
        <p:nvSpPr>
          <p:cNvPr id="7" name="Slide Number Placeholder 5">
            <a:extLst>
              <a:ext uri="{FF2B5EF4-FFF2-40B4-BE49-F238E27FC236}">
                <a16:creationId xmlns:a16="http://schemas.microsoft.com/office/drawing/2014/main" id="{8DC57A9D-B9DA-3C58-1523-FF18F5EC7860}"/>
              </a:ext>
            </a:extLst>
          </p:cNvPr>
          <p:cNvSpPr>
            <a:spLocks noGrp="1"/>
          </p:cNvSpPr>
          <p:nvPr>
            <p:ph type="sldNum" sz="quarter" idx="12"/>
          </p:nvPr>
        </p:nvSpPr>
        <p:spPr/>
        <p:txBody>
          <a:bodyPr/>
          <a:lstStyle>
            <a:lvl1pPr>
              <a:defRPr/>
            </a:lvl1pPr>
          </a:lstStyle>
          <a:p>
            <a:fld id="{86496679-8120-1F44-AE90-14C16796A825}" type="slidenum">
              <a:rPr lang="en-GB" altLang="en-US"/>
              <a:pPr/>
              <a:t>‹#›</a:t>
            </a:fld>
            <a:endParaRPr lang="en-GB" altLang="en-US"/>
          </a:p>
        </p:txBody>
      </p:sp>
    </p:spTree>
    <p:extLst>
      <p:ext uri="{BB962C8B-B14F-4D97-AF65-F5344CB8AC3E}">
        <p14:creationId xmlns:p14="http://schemas.microsoft.com/office/powerpoint/2010/main" val="15204811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67517F-ACA0-10F9-79EC-AFAA51A5DD37}"/>
              </a:ext>
            </a:extLst>
          </p:cNvPr>
          <p:cNvSpPr>
            <a:spLocks noGrp="1"/>
          </p:cNvSpPr>
          <p:nvPr>
            <p:ph type="dt" sz="half" idx="10"/>
          </p:nvPr>
        </p:nvSpPr>
        <p:spPr/>
        <p:txBody>
          <a:bodyPr/>
          <a:lstStyle>
            <a:lvl1pPr>
              <a:defRPr/>
            </a:lvl1pPr>
          </a:lstStyle>
          <a:p>
            <a:pPr>
              <a:defRPr/>
            </a:pPr>
            <a:endParaRPr lang="en-GB"/>
          </a:p>
        </p:txBody>
      </p:sp>
      <p:sp>
        <p:nvSpPr>
          <p:cNvPr id="5" name="Footer Placeholder 4">
            <a:extLst>
              <a:ext uri="{FF2B5EF4-FFF2-40B4-BE49-F238E27FC236}">
                <a16:creationId xmlns:a16="http://schemas.microsoft.com/office/drawing/2014/main" id="{F7014F5A-061E-48E4-2060-D9BC77745CB8}"/>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5D9052CB-2B07-060D-4F3F-F7671DEFB3AA}"/>
              </a:ext>
            </a:extLst>
          </p:cNvPr>
          <p:cNvSpPr>
            <a:spLocks noGrp="1"/>
          </p:cNvSpPr>
          <p:nvPr>
            <p:ph type="sldNum" sz="quarter" idx="12"/>
          </p:nvPr>
        </p:nvSpPr>
        <p:spPr/>
        <p:txBody>
          <a:bodyPr/>
          <a:lstStyle>
            <a:lvl1pPr>
              <a:defRPr/>
            </a:lvl1pPr>
          </a:lstStyle>
          <a:p>
            <a:fld id="{FF7A1724-C1E5-7F4E-A673-8CA26D308D58}" type="slidenum">
              <a:rPr lang="en-GB" altLang="en-US"/>
              <a:pPr/>
              <a:t>‹#›</a:t>
            </a:fld>
            <a:endParaRPr lang="en-GB" altLang="en-US"/>
          </a:p>
        </p:txBody>
      </p:sp>
    </p:spTree>
    <p:extLst>
      <p:ext uri="{BB962C8B-B14F-4D97-AF65-F5344CB8AC3E}">
        <p14:creationId xmlns:p14="http://schemas.microsoft.com/office/powerpoint/2010/main" val="915418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8309C6-8115-D1B4-C7D3-D51D9ACD3FD1}"/>
              </a:ext>
            </a:extLst>
          </p:cNvPr>
          <p:cNvSpPr>
            <a:spLocks noGrp="1"/>
          </p:cNvSpPr>
          <p:nvPr>
            <p:ph type="dt" sz="half" idx="10"/>
          </p:nvPr>
        </p:nvSpPr>
        <p:spPr/>
        <p:txBody>
          <a:bodyPr/>
          <a:lstStyle>
            <a:lvl1pPr>
              <a:defRPr/>
            </a:lvl1pPr>
          </a:lstStyle>
          <a:p>
            <a:pPr>
              <a:defRPr/>
            </a:pPr>
            <a:endParaRPr lang="en-GB"/>
          </a:p>
        </p:txBody>
      </p:sp>
      <p:sp>
        <p:nvSpPr>
          <p:cNvPr id="5" name="Footer Placeholder 4">
            <a:extLst>
              <a:ext uri="{FF2B5EF4-FFF2-40B4-BE49-F238E27FC236}">
                <a16:creationId xmlns:a16="http://schemas.microsoft.com/office/drawing/2014/main" id="{8E05A149-A359-63B5-D2C5-374BC7D619EF}"/>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7102598F-7D77-5D36-2DE5-E17E8FBEAB10}"/>
              </a:ext>
            </a:extLst>
          </p:cNvPr>
          <p:cNvSpPr>
            <a:spLocks noGrp="1"/>
          </p:cNvSpPr>
          <p:nvPr>
            <p:ph type="sldNum" sz="quarter" idx="12"/>
          </p:nvPr>
        </p:nvSpPr>
        <p:spPr/>
        <p:txBody>
          <a:bodyPr/>
          <a:lstStyle>
            <a:lvl1pPr>
              <a:defRPr/>
            </a:lvl1pPr>
          </a:lstStyle>
          <a:p>
            <a:fld id="{EB1EC4A2-1B80-B742-9AC2-6AE3DE1A6FA8}" type="slidenum">
              <a:rPr lang="en-GB" altLang="en-US"/>
              <a:pPr/>
              <a:t>‹#›</a:t>
            </a:fld>
            <a:endParaRPr lang="en-GB" altLang="en-US"/>
          </a:p>
        </p:txBody>
      </p:sp>
    </p:spTree>
    <p:extLst>
      <p:ext uri="{BB962C8B-B14F-4D97-AF65-F5344CB8AC3E}">
        <p14:creationId xmlns:p14="http://schemas.microsoft.com/office/powerpoint/2010/main" val="17861515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Content Placeholder 2"/>
          <p:cNvSpPr>
            <a:spLocks noGrp="1"/>
          </p:cNvSpPr>
          <p:nvPr>
            <p:ph sz="half" idx="1"/>
          </p:nvPr>
        </p:nvSpPr>
        <p:spPr>
          <a:xfrm>
            <a:off x="457200" y="1600200"/>
            <a:ext cx="82296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3941763"/>
            <a:ext cx="82296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D876981-676E-0C49-933F-A57844EAADC1}"/>
              </a:ext>
            </a:extLst>
          </p:cNvPr>
          <p:cNvSpPr>
            <a:spLocks noGrp="1"/>
          </p:cNvSpPr>
          <p:nvPr>
            <p:ph type="dt" sz="half" idx="10"/>
          </p:nvPr>
        </p:nvSpPr>
        <p:spPr>
          <a:xfrm>
            <a:off x="457200" y="6243638"/>
            <a:ext cx="2133600" cy="457200"/>
          </a:xfrm>
        </p:spPr>
        <p:txBody>
          <a:bodyPr/>
          <a:lstStyle>
            <a:lvl1pPr>
              <a:defRPr/>
            </a:lvl1pPr>
          </a:lstStyle>
          <a:p>
            <a:pPr>
              <a:defRPr/>
            </a:pPr>
            <a:endParaRPr lang="en-GB"/>
          </a:p>
        </p:txBody>
      </p:sp>
      <p:sp>
        <p:nvSpPr>
          <p:cNvPr id="6" name="Footer Placeholder 5">
            <a:extLst>
              <a:ext uri="{FF2B5EF4-FFF2-40B4-BE49-F238E27FC236}">
                <a16:creationId xmlns:a16="http://schemas.microsoft.com/office/drawing/2014/main" id="{BE577934-A851-CFE0-EBB0-D4A00B7376B9}"/>
              </a:ext>
            </a:extLst>
          </p:cNvPr>
          <p:cNvSpPr>
            <a:spLocks noGrp="1"/>
          </p:cNvSpPr>
          <p:nvPr>
            <p:ph type="ftr" sz="quarter" idx="11"/>
          </p:nvPr>
        </p:nvSpPr>
        <p:spPr>
          <a:xfrm>
            <a:off x="3124200" y="6248400"/>
            <a:ext cx="2895600" cy="457200"/>
          </a:xfrm>
        </p:spPr>
        <p:txBody>
          <a:bodyPr/>
          <a:lstStyle>
            <a:lvl1pPr>
              <a:defRPr/>
            </a:lvl1pPr>
          </a:lstStyle>
          <a:p>
            <a:pPr>
              <a:defRPr/>
            </a:pPr>
            <a:endParaRPr lang="en-GB"/>
          </a:p>
        </p:txBody>
      </p:sp>
      <p:sp>
        <p:nvSpPr>
          <p:cNvPr id="7" name="Slide Number Placeholder 6">
            <a:extLst>
              <a:ext uri="{FF2B5EF4-FFF2-40B4-BE49-F238E27FC236}">
                <a16:creationId xmlns:a16="http://schemas.microsoft.com/office/drawing/2014/main" id="{8AB04E1F-B484-759A-5AB7-C5495A230D28}"/>
              </a:ext>
            </a:extLst>
          </p:cNvPr>
          <p:cNvSpPr>
            <a:spLocks noGrp="1"/>
          </p:cNvSpPr>
          <p:nvPr>
            <p:ph type="sldNum" sz="quarter" idx="12"/>
          </p:nvPr>
        </p:nvSpPr>
        <p:spPr>
          <a:xfrm>
            <a:off x="6553200" y="6243638"/>
            <a:ext cx="2133600" cy="457200"/>
          </a:xfrm>
        </p:spPr>
        <p:txBody>
          <a:bodyPr/>
          <a:lstStyle>
            <a:lvl1pPr>
              <a:defRPr/>
            </a:lvl1pPr>
          </a:lstStyle>
          <a:p>
            <a:fld id="{D576A511-63D7-CD4F-8BF9-6E19DA25EF8F}" type="slidenum">
              <a:rPr lang="en-GB" altLang="en-US"/>
              <a:pPr/>
              <a:t>‹#›</a:t>
            </a:fld>
            <a:endParaRPr lang="en-GB" altLang="en-US"/>
          </a:p>
        </p:txBody>
      </p:sp>
    </p:spTree>
    <p:extLst>
      <p:ext uri="{BB962C8B-B14F-4D97-AF65-F5344CB8AC3E}">
        <p14:creationId xmlns:p14="http://schemas.microsoft.com/office/powerpoint/2010/main" val="37213402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82296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7200" y="3941763"/>
            <a:ext cx="82296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886B5DD-684F-D66E-D712-D161FDA12EB7}"/>
              </a:ext>
            </a:extLst>
          </p:cNvPr>
          <p:cNvSpPr>
            <a:spLocks noGrp="1"/>
          </p:cNvSpPr>
          <p:nvPr>
            <p:ph type="dt" sz="half" idx="10"/>
          </p:nvPr>
        </p:nvSpPr>
        <p:spPr>
          <a:xfrm>
            <a:off x="457200" y="6243638"/>
            <a:ext cx="2133600" cy="457200"/>
          </a:xfrm>
        </p:spPr>
        <p:txBody>
          <a:bodyPr/>
          <a:lstStyle>
            <a:lvl1pPr>
              <a:defRPr/>
            </a:lvl1pPr>
          </a:lstStyle>
          <a:p>
            <a:pPr>
              <a:defRPr/>
            </a:pPr>
            <a:endParaRPr lang="en-GB"/>
          </a:p>
        </p:txBody>
      </p:sp>
      <p:sp>
        <p:nvSpPr>
          <p:cNvPr id="6" name="Footer Placeholder 5">
            <a:extLst>
              <a:ext uri="{FF2B5EF4-FFF2-40B4-BE49-F238E27FC236}">
                <a16:creationId xmlns:a16="http://schemas.microsoft.com/office/drawing/2014/main" id="{E3BB029F-7A8E-6161-6DAF-7B3933D8AC26}"/>
              </a:ext>
            </a:extLst>
          </p:cNvPr>
          <p:cNvSpPr>
            <a:spLocks noGrp="1"/>
          </p:cNvSpPr>
          <p:nvPr>
            <p:ph type="ftr" sz="quarter" idx="11"/>
          </p:nvPr>
        </p:nvSpPr>
        <p:spPr>
          <a:xfrm>
            <a:off x="3124200" y="6248400"/>
            <a:ext cx="2895600" cy="457200"/>
          </a:xfrm>
        </p:spPr>
        <p:txBody>
          <a:bodyPr/>
          <a:lstStyle>
            <a:lvl1pPr>
              <a:defRPr/>
            </a:lvl1pPr>
          </a:lstStyle>
          <a:p>
            <a:pPr>
              <a:defRPr/>
            </a:pPr>
            <a:endParaRPr lang="en-GB"/>
          </a:p>
        </p:txBody>
      </p:sp>
      <p:sp>
        <p:nvSpPr>
          <p:cNvPr id="7" name="Slide Number Placeholder 6">
            <a:extLst>
              <a:ext uri="{FF2B5EF4-FFF2-40B4-BE49-F238E27FC236}">
                <a16:creationId xmlns:a16="http://schemas.microsoft.com/office/drawing/2014/main" id="{804F5970-EE29-EA78-B221-81B156341324}"/>
              </a:ext>
            </a:extLst>
          </p:cNvPr>
          <p:cNvSpPr>
            <a:spLocks noGrp="1"/>
          </p:cNvSpPr>
          <p:nvPr>
            <p:ph type="sldNum" sz="quarter" idx="12"/>
          </p:nvPr>
        </p:nvSpPr>
        <p:spPr>
          <a:xfrm>
            <a:off x="6553200" y="6243638"/>
            <a:ext cx="2133600" cy="457200"/>
          </a:xfrm>
        </p:spPr>
        <p:txBody>
          <a:bodyPr/>
          <a:lstStyle>
            <a:lvl1pPr>
              <a:defRPr/>
            </a:lvl1pPr>
          </a:lstStyle>
          <a:p>
            <a:fld id="{24437707-9BEF-7249-93A8-707C16B8FE37}" type="slidenum">
              <a:rPr lang="en-GB" altLang="en-US"/>
              <a:pPr/>
              <a:t>‹#›</a:t>
            </a:fld>
            <a:endParaRPr lang="en-GB" altLang="en-US"/>
          </a:p>
        </p:txBody>
      </p:sp>
    </p:spTree>
    <p:extLst>
      <p:ext uri="{BB962C8B-B14F-4D97-AF65-F5344CB8AC3E}">
        <p14:creationId xmlns:p14="http://schemas.microsoft.com/office/powerpoint/2010/main" val="15936569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CD97C13-8483-3550-8C09-8A2D260C958D}"/>
              </a:ext>
            </a:extLst>
          </p:cNvPr>
          <p:cNvSpPr>
            <a:spLocks noGrp="1"/>
          </p:cNvSpPr>
          <p:nvPr>
            <p:ph type="dt" sz="half" idx="10"/>
          </p:nvPr>
        </p:nvSpPr>
        <p:spPr>
          <a:xfrm>
            <a:off x="457200" y="6243638"/>
            <a:ext cx="2133600" cy="457200"/>
          </a:xfrm>
        </p:spPr>
        <p:txBody>
          <a:bodyPr/>
          <a:lstStyle>
            <a:lvl1pPr>
              <a:defRPr/>
            </a:lvl1pPr>
          </a:lstStyle>
          <a:p>
            <a:pPr>
              <a:defRPr/>
            </a:pPr>
            <a:endParaRPr lang="en-GB"/>
          </a:p>
        </p:txBody>
      </p:sp>
      <p:sp>
        <p:nvSpPr>
          <p:cNvPr id="6" name="Footer Placeholder 5">
            <a:extLst>
              <a:ext uri="{FF2B5EF4-FFF2-40B4-BE49-F238E27FC236}">
                <a16:creationId xmlns:a16="http://schemas.microsoft.com/office/drawing/2014/main" id="{BD57649A-C962-4FD1-6F9D-6F122B492A4B}"/>
              </a:ext>
            </a:extLst>
          </p:cNvPr>
          <p:cNvSpPr>
            <a:spLocks noGrp="1"/>
          </p:cNvSpPr>
          <p:nvPr>
            <p:ph type="ftr" sz="quarter" idx="11"/>
          </p:nvPr>
        </p:nvSpPr>
        <p:spPr>
          <a:xfrm>
            <a:off x="3124200" y="6248400"/>
            <a:ext cx="2895600" cy="457200"/>
          </a:xfrm>
        </p:spPr>
        <p:txBody>
          <a:bodyPr/>
          <a:lstStyle>
            <a:lvl1pPr>
              <a:defRPr/>
            </a:lvl1pPr>
          </a:lstStyle>
          <a:p>
            <a:pPr>
              <a:defRPr/>
            </a:pPr>
            <a:endParaRPr lang="en-GB"/>
          </a:p>
        </p:txBody>
      </p:sp>
      <p:sp>
        <p:nvSpPr>
          <p:cNvPr id="7" name="Slide Number Placeholder 6">
            <a:extLst>
              <a:ext uri="{FF2B5EF4-FFF2-40B4-BE49-F238E27FC236}">
                <a16:creationId xmlns:a16="http://schemas.microsoft.com/office/drawing/2014/main" id="{FB7433C3-E00C-B9DE-B482-6F0B22370E13}"/>
              </a:ext>
            </a:extLst>
          </p:cNvPr>
          <p:cNvSpPr>
            <a:spLocks noGrp="1"/>
          </p:cNvSpPr>
          <p:nvPr>
            <p:ph type="sldNum" sz="quarter" idx="12"/>
          </p:nvPr>
        </p:nvSpPr>
        <p:spPr>
          <a:xfrm>
            <a:off x="6553200" y="6243638"/>
            <a:ext cx="2133600" cy="457200"/>
          </a:xfrm>
        </p:spPr>
        <p:txBody>
          <a:bodyPr/>
          <a:lstStyle>
            <a:lvl1pPr>
              <a:defRPr/>
            </a:lvl1pPr>
          </a:lstStyle>
          <a:p>
            <a:fld id="{EB34FDB7-F025-9C41-820B-ABA37FD2AAE9}" type="slidenum">
              <a:rPr lang="en-GB" altLang="en-US"/>
              <a:pPr/>
              <a:t>‹#›</a:t>
            </a:fld>
            <a:endParaRPr lang="en-GB" altLang="en-US"/>
          </a:p>
        </p:txBody>
      </p:sp>
    </p:spTree>
    <p:extLst>
      <p:ext uri="{BB962C8B-B14F-4D97-AF65-F5344CB8AC3E}">
        <p14:creationId xmlns:p14="http://schemas.microsoft.com/office/powerpoint/2010/main" val="10168206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30265027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541938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318235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239935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490212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6003990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2854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1169078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19639533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376058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319530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00A101E0-F1B6-98A1-DFD8-37171546878C}"/>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C20B6F41-2888-CC9D-C803-54BB416EE4F1}"/>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B5B19E54-531C-A6FB-12F6-420745CA870F}"/>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defRPr sz="1200">
                <a:solidFill>
                  <a:schemeClr val="tx1">
                    <a:tint val="75000"/>
                  </a:schemeClr>
                </a:solidFill>
                <a:cs typeface="Arial" charset="0"/>
              </a:defRPr>
            </a:lvl1pPr>
          </a:lstStyle>
          <a:p>
            <a:pPr>
              <a:defRPr/>
            </a:pPr>
            <a:endParaRPr lang="en-GB"/>
          </a:p>
        </p:txBody>
      </p:sp>
      <p:sp>
        <p:nvSpPr>
          <p:cNvPr id="5" name="Footer Placeholder 4">
            <a:extLst>
              <a:ext uri="{FF2B5EF4-FFF2-40B4-BE49-F238E27FC236}">
                <a16:creationId xmlns:a16="http://schemas.microsoft.com/office/drawing/2014/main" id="{43A978D8-CC99-2197-D999-43287DAD57E7}"/>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hangingPunct="1">
              <a:defRPr sz="1200">
                <a:solidFill>
                  <a:schemeClr val="tx1">
                    <a:tint val="75000"/>
                  </a:schemeClr>
                </a:solidFill>
                <a:cs typeface="Arial" charset="0"/>
              </a:defRPr>
            </a:lvl1pPr>
          </a:lstStyle>
          <a:p>
            <a:pPr>
              <a:defRPr/>
            </a:pPr>
            <a:endParaRPr lang="en-GB"/>
          </a:p>
        </p:txBody>
      </p:sp>
      <p:sp>
        <p:nvSpPr>
          <p:cNvPr id="6" name="Slide Number Placeholder 5">
            <a:extLst>
              <a:ext uri="{FF2B5EF4-FFF2-40B4-BE49-F238E27FC236}">
                <a16:creationId xmlns:a16="http://schemas.microsoft.com/office/drawing/2014/main" id="{C9B38E28-D161-1F4A-59AB-E0C5EAFC9C86}"/>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82EA2DC2-8B88-4046-BB0C-99D18DF250A5}" type="slidenum">
              <a:rPr lang="en-GB" altLang="en-US"/>
              <a:pPr/>
              <a:t>‹#›</a:t>
            </a:fld>
            <a:endParaRPr lang="en-GB" altLang="en-US"/>
          </a:p>
        </p:txBody>
      </p:sp>
    </p:spTree>
  </p:cSld>
  <p:clrMap bg1="lt1" tx1="dk1" bg2="lt2" tx2="dk2" accent1="accent1" accent2="accent2" accent3="accent3" accent4="accent4" accent5="accent5" accent6="accent6" hlink="hlink" folHlink="folHlink"/>
  <p:sldLayoutIdLst>
    <p:sldLayoutId id="2147484457" r:id="rId1"/>
    <p:sldLayoutId id="2147484458" r:id="rId2"/>
    <p:sldLayoutId id="2147484459" r:id="rId3"/>
    <p:sldLayoutId id="2147484460" r:id="rId4"/>
    <p:sldLayoutId id="2147484461" r:id="rId5"/>
    <p:sldLayoutId id="2147484462" r:id="rId6"/>
    <p:sldLayoutId id="2147484463" r:id="rId7"/>
    <p:sldLayoutId id="2147484464" r:id="rId8"/>
    <p:sldLayoutId id="2147484465" r:id="rId9"/>
    <p:sldLayoutId id="2147484466" r:id="rId10"/>
    <p:sldLayoutId id="2147484467" r:id="rId11"/>
    <p:sldLayoutId id="2147484479" r:id="rId12"/>
    <p:sldLayoutId id="2147484480" r:id="rId13"/>
    <p:sldLayoutId id="2147484481" r:id="rId14"/>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3">
            <a:extLst>
              <a:ext uri="{FF2B5EF4-FFF2-40B4-BE49-F238E27FC236}">
                <a16:creationId xmlns:a16="http://schemas.microsoft.com/office/drawing/2014/main" id="{4D5205C2-801F-6AE8-F31B-4A9381751E0C}"/>
              </a:ext>
            </a:extLst>
          </p:cNvPr>
          <p:cNvSpPr>
            <a:spLocks noChangeArrowheads="1"/>
          </p:cNvSpPr>
          <p:nvPr userDrawn="1"/>
        </p:nvSpPr>
        <p:spPr bwMode="auto">
          <a:xfrm>
            <a:off x="26988" y="6651625"/>
            <a:ext cx="2895600" cy="16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lstStyle>
            <a:lvl1pPr eaLnBrk="0" hangingPunct="0">
              <a:defRPr>
                <a:solidFill>
                  <a:schemeClr val="tx1"/>
                </a:solidFill>
                <a:latin typeface="Verdana" pitchFamily="34" charset="0"/>
                <a:cs typeface="Arial" pitchFamily="34" charset="0"/>
              </a:defRPr>
            </a:lvl1pPr>
            <a:lvl2pPr marL="742950" indent="-285750" eaLnBrk="0" hangingPunct="0">
              <a:defRPr>
                <a:solidFill>
                  <a:schemeClr val="tx1"/>
                </a:solidFill>
                <a:latin typeface="Verdana" pitchFamily="34" charset="0"/>
                <a:cs typeface="Arial" pitchFamily="34" charset="0"/>
              </a:defRPr>
            </a:lvl2pPr>
            <a:lvl3pPr marL="1143000" indent="-228600" eaLnBrk="0" hangingPunct="0">
              <a:defRPr>
                <a:solidFill>
                  <a:schemeClr val="tx1"/>
                </a:solidFill>
                <a:latin typeface="Verdana" pitchFamily="34" charset="0"/>
                <a:cs typeface="Arial" pitchFamily="34" charset="0"/>
              </a:defRPr>
            </a:lvl3pPr>
            <a:lvl4pPr marL="1600200" indent="-228600" eaLnBrk="0" hangingPunct="0">
              <a:defRPr>
                <a:solidFill>
                  <a:schemeClr val="tx1"/>
                </a:solidFill>
                <a:latin typeface="Verdana" pitchFamily="34" charset="0"/>
                <a:cs typeface="Arial" pitchFamily="34" charset="0"/>
              </a:defRPr>
            </a:lvl4pPr>
            <a:lvl5pPr marL="2057400" indent="-228600" eaLnBrk="0" hangingPunct="0">
              <a:defRPr>
                <a:solidFill>
                  <a:schemeClr val="tx1"/>
                </a:solidFill>
                <a:latin typeface="Verdana" pitchFamily="34" charset="0"/>
                <a:cs typeface="Arial" pitchFamily="34" charset="0"/>
              </a:defRPr>
            </a:lvl5pPr>
            <a:lvl6pPr marL="2514600" indent="-228600" eaLnBrk="0" fontAlgn="base" hangingPunct="0">
              <a:spcBef>
                <a:spcPct val="0"/>
              </a:spcBef>
              <a:spcAft>
                <a:spcPct val="0"/>
              </a:spcAft>
              <a:defRPr>
                <a:solidFill>
                  <a:schemeClr val="tx1"/>
                </a:solidFill>
                <a:latin typeface="Verdana" pitchFamily="34" charset="0"/>
                <a:cs typeface="Arial" pitchFamily="34" charset="0"/>
              </a:defRPr>
            </a:lvl6pPr>
            <a:lvl7pPr marL="2971800" indent="-228600" eaLnBrk="0" fontAlgn="base" hangingPunct="0">
              <a:spcBef>
                <a:spcPct val="0"/>
              </a:spcBef>
              <a:spcAft>
                <a:spcPct val="0"/>
              </a:spcAft>
              <a:defRPr>
                <a:solidFill>
                  <a:schemeClr val="tx1"/>
                </a:solidFill>
                <a:latin typeface="Verdana" pitchFamily="34" charset="0"/>
                <a:cs typeface="Arial" pitchFamily="34" charset="0"/>
              </a:defRPr>
            </a:lvl7pPr>
            <a:lvl8pPr marL="3429000" indent="-228600" eaLnBrk="0" fontAlgn="base" hangingPunct="0">
              <a:spcBef>
                <a:spcPct val="0"/>
              </a:spcBef>
              <a:spcAft>
                <a:spcPct val="0"/>
              </a:spcAft>
              <a:defRPr>
                <a:solidFill>
                  <a:schemeClr val="tx1"/>
                </a:solidFill>
                <a:latin typeface="Verdana" pitchFamily="34" charset="0"/>
                <a:cs typeface="Arial" pitchFamily="34" charset="0"/>
              </a:defRPr>
            </a:lvl8pPr>
            <a:lvl9pPr marL="3886200" indent="-228600" eaLnBrk="0" fontAlgn="base" hangingPunct="0">
              <a:spcBef>
                <a:spcPct val="0"/>
              </a:spcBef>
              <a:spcAft>
                <a:spcPct val="0"/>
              </a:spcAft>
              <a:defRPr>
                <a:solidFill>
                  <a:schemeClr val="tx1"/>
                </a:solidFill>
                <a:latin typeface="Verdana" pitchFamily="34" charset="0"/>
                <a:cs typeface="Arial" pitchFamily="34" charset="0"/>
              </a:defRPr>
            </a:lvl9pPr>
          </a:lstStyle>
          <a:p>
            <a:pPr>
              <a:defRPr/>
            </a:pPr>
            <a:r>
              <a:rPr lang="en-US" altLang="en-US" sz="900">
                <a:solidFill>
                  <a:srgbClr val="000000"/>
                </a:solidFill>
                <a:latin typeface="Arial" pitchFamily="34" charset="0"/>
                <a:ea typeface="ＭＳ Ｐゴシック" pitchFamily="34" charset="-128"/>
              </a:rPr>
              <a:t>© 2014 Pearson Education, Inc.</a:t>
            </a:r>
          </a:p>
        </p:txBody>
      </p:sp>
    </p:spTree>
  </p:cSld>
  <p:clrMap bg1="lt1" tx1="dk1" bg2="lt2" tx2="dk2" accent1="accent1" accent2="accent2" accent3="accent3" accent4="accent4" accent5="accent5" accent6="accent6" hlink="hlink" folHlink="folHlink"/>
  <p:sldLayoutIdLst>
    <p:sldLayoutId id="2147484468" r:id="rId1"/>
    <p:sldLayoutId id="2147484469" r:id="rId2"/>
    <p:sldLayoutId id="2147484470" r:id="rId3"/>
    <p:sldLayoutId id="2147484471" r:id="rId4"/>
    <p:sldLayoutId id="2147484472" r:id="rId5"/>
    <p:sldLayoutId id="2147484473" r:id="rId6"/>
    <p:sldLayoutId id="2147484474" r:id="rId7"/>
    <p:sldLayoutId id="2147484475" r:id="rId8"/>
    <p:sldLayoutId id="2147484476" r:id="rId9"/>
    <p:sldLayoutId id="2147484477" r:id="rId10"/>
    <p:sldLayoutId id="2147484478" r:id="rId11"/>
  </p:sldLayoutIdLst>
  <p:txStyles>
    <p:titleStyle>
      <a:lvl1pPr algn="ctr" rtl="0" eaLnBrk="0" fontAlgn="base" hangingPunct="0">
        <a:spcBef>
          <a:spcPct val="0"/>
        </a:spcBef>
        <a:spcAft>
          <a:spcPct val="0"/>
        </a:spcAft>
        <a:defRPr sz="4400">
          <a:solidFill>
            <a:schemeClr val="tx2"/>
          </a:solidFill>
          <a:latin typeface="+mj-lt"/>
          <a:ea typeface="ＭＳ Ｐゴシック" pitchFamily="-32" charset="-128"/>
          <a:cs typeface="+mj-cs"/>
        </a:defRPr>
      </a:lvl1pPr>
      <a:lvl2pPr algn="ctr" rtl="0" eaLnBrk="0" fontAlgn="base" hangingPunct="0">
        <a:spcBef>
          <a:spcPct val="0"/>
        </a:spcBef>
        <a:spcAft>
          <a:spcPct val="0"/>
        </a:spcAft>
        <a:defRPr sz="4400">
          <a:solidFill>
            <a:schemeClr val="tx2"/>
          </a:solidFill>
          <a:latin typeface="Times" pitchFamily="84" charset="0"/>
          <a:ea typeface="ＭＳ Ｐゴシック" pitchFamily="-32" charset="-128"/>
        </a:defRPr>
      </a:lvl2pPr>
      <a:lvl3pPr algn="ctr" rtl="0" eaLnBrk="0" fontAlgn="base" hangingPunct="0">
        <a:spcBef>
          <a:spcPct val="0"/>
        </a:spcBef>
        <a:spcAft>
          <a:spcPct val="0"/>
        </a:spcAft>
        <a:defRPr sz="4400">
          <a:solidFill>
            <a:schemeClr val="tx2"/>
          </a:solidFill>
          <a:latin typeface="Times" pitchFamily="84" charset="0"/>
          <a:ea typeface="ＭＳ Ｐゴシック" pitchFamily="-32" charset="-128"/>
        </a:defRPr>
      </a:lvl3pPr>
      <a:lvl4pPr algn="ctr" rtl="0" eaLnBrk="0" fontAlgn="base" hangingPunct="0">
        <a:spcBef>
          <a:spcPct val="0"/>
        </a:spcBef>
        <a:spcAft>
          <a:spcPct val="0"/>
        </a:spcAft>
        <a:defRPr sz="4400">
          <a:solidFill>
            <a:schemeClr val="tx2"/>
          </a:solidFill>
          <a:latin typeface="Times" pitchFamily="84" charset="0"/>
          <a:ea typeface="ＭＳ Ｐゴシック" pitchFamily="-32" charset="-128"/>
        </a:defRPr>
      </a:lvl4pPr>
      <a:lvl5pPr algn="ctr" rtl="0" eaLnBrk="0" fontAlgn="base" hangingPunct="0">
        <a:spcBef>
          <a:spcPct val="0"/>
        </a:spcBef>
        <a:spcAft>
          <a:spcPct val="0"/>
        </a:spcAft>
        <a:defRPr sz="4400">
          <a:solidFill>
            <a:schemeClr val="tx2"/>
          </a:solidFill>
          <a:latin typeface="Times" pitchFamily="84" charset="0"/>
          <a:ea typeface="ＭＳ Ｐゴシック" pitchFamily="-32" charset="-128"/>
        </a:defRPr>
      </a:lvl5pPr>
      <a:lvl6pPr marL="457200" algn="ctr" rtl="0" fontAlgn="base">
        <a:spcBef>
          <a:spcPct val="0"/>
        </a:spcBef>
        <a:spcAft>
          <a:spcPct val="0"/>
        </a:spcAft>
        <a:defRPr sz="4400">
          <a:solidFill>
            <a:schemeClr val="tx2"/>
          </a:solidFill>
          <a:latin typeface="Times" pitchFamily="84" charset="0"/>
        </a:defRPr>
      </a:lvl6pPr>
      <a:lvl7pPr marL="914400" algn="ctr" rtl="0" fontAlgn="base">
        <a:spcBef>
          <a:spcPct val="0"/>
        </a:spcBef>
        <a:spcAft>
          <a:spcPct val="0"/>
        </a:spcAft>
        <a:defRPr sz="4400">
          <a:solidFill>
            <a:schemeClr val="tx2"/>
          </a:solidFill>
          <a:latin typeface="Times" pitchFamily="84" charset="0"/>
        </a:defRPr>
      </a:lvl7pPr>
      <a:lvl8pPr marL="1371600" algn="ctr" rtl="0" fontAlgn="base">
        <a:spcBef>
          <a:spcPct val="0"/>
        </a:spcBef>
        <a:spcAft>
          <a:spcPct val="0"/>
        </a:spcAft>
        <a:defRPr sz="4400">
          <a:solidFill>
            <a:schemeClr val="tx2"/>
          </a:solidFill>
          <a:latin typeface="Times" pitchFamily="84" charset="0"/>
        </a:defRPr>
      </a:lvl8pPr>
      <a:lvl9pPr marL="1828800" algn="ctr" rtl="0" fontAlgn="base">
        <a:spcBef>
          <a:spcPct val="0"/>
        </a:spcBef>
        <a:spcAft>
          <a:spcPct val="0"/>
        </a:spcAft>
        <a:defRPr sz="4400">
          <a:solidFill>
            <a:schemeClr val="tx2"/>
          </a:solidFill>
          <a:latin typeface="Times" pitchFamily="8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ＭＳ Ｐゴシック" pitchFamily="-32" charset="-128"/>
          <a:cs typeface="+mn-cs"/>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5.xml"/><Relationship Id="rId1" Type="http://schemas.openxmlformats.org/officeDocument/2006/relationships/slideLayout" Target="../slideLayouts/slideLayout14.xml"/><Relationship Id="rId4" Type="http://schemas.openxmlformats.org/officeDocument/2006/relationships/image" Target="../media/image28.jpeg"/></Relationships>
</file>

<file path=ppt/slides/_rels/slide3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42.xml"/><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43.xml"/><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46.xml"/><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54.xml"/><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56.xml"/><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57.xml"/><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F8A23E8F-3B30-1233-764C-713A57AD43CC}"/>
              </a:ext>
            </a:extLst>
          </p:cNvPr>
          <p:cNvSpPr>
            <a:spLocks noGrp="1" noChangeArrowheads="1"/>
          </p:cNvSpPr>
          <p:nvPr>
            <p:ph type="ctrTitle"/>
          </p:nvPr>
        </p:nvSpPr>
        <p:spPr>
          <a:xfrm>
            <a:off x="755650" y="836613"/>
            <a:ext cx="7772400" cy="1470025"/>
          </a:xfrm>
        </p:spPr>
        <p:txBody>
          <a:bodyPr/>
          <a:lstStyle/>
          <a:p>
            <a:pPr eaLnBrk="1" hangingPunct="1"/>
            <a:r>
              <a:rPr lang="en-GB" altLang="en-US" b="1">
                <a:solidFill>
                  <a:srgbClr val="7030A0"/>
                </a:solidFill>
              </a:rPr>
              <a:t>Site-specific recombination and transposition of DNA</a:t>
            </a:r>
          </a:p>
        </p:txBody>
      </p:sp>
      <p:sp>
        <p:nvSpPr>
          <p:cNvPr id="7171" name="Rectangle 3">
            <a:extLst>
              <a:ext uri="{FF2B5EF4-FFF2-40B4-BE49-F238E27FC236}">
                <a16:creationId xmlns:a16="http://schemas.microsoft.com/office/drawing/2014/main" id="{782652CB-9DA2-247B-3BF6-493726F3D114}"/>
              </a:ext>
            </a:extLst>
          </p:cNvPr>
          <p:cNvSpPr>
            <a:spLocks noGrp="1" noChangeArrowheads="1"/>
          </p:cNvSpPr>
          <p:nvPr>
            <p:ph type="subTitle" idx="1"/>
          </p:nvPr>
        </p:nvSpPr>
        <p:spPr>
          <a:xfrm>
            <a:off x="900113" y="2565400"/>
            <a:ext cx="2303462" cy="1343025"/>
          </a:xfrm>
        </p:spPr>
        <p:txBody>
          <a:bodyPr/>
          <a:lstStyle/>
          <a:p>
            <a:pPr algn="l" eaLnBrk="1" hangingPunct="1"/>
            <a:r>
              <a:rPr lang="en-GB" altLang="en-US" b="1">
                <a:solidFill>
                  <a:srgbClr val="C00000"/>
                </a:solidFill>
              </a:rPr>
              <a:t>BT 451</a:t>
            </a:r>
          </a:p>
          <a:p>
            <a:pPr algn="l" eaLnBrk="1" hangingPunct="1"/>
            <a:r>
              <a:rPr lang="en-GB" altLang="en-US" b="1">
                <a:solidFill>
                  <a:srgbClr val="C00000"/>
                </a:solidFill>
              </a:rPr>
              <a:t>Chapter 12</a:t>
            </a:r>
          </a:p>
        </p:txBody>
      </p:sp>
      <p:pic>
        <p:nvPicPr>
          <p:cNvPr id="7172" name="Picture 9" descr="12_00Figure-L">
            <a:extLst>
              <a:ext uri="{FF2B5EF4-FFF2-40B4-BE49-F238E27FC236}">
                <a16:creationId xmlns:a16="http://schemas.microsoft.com/office/drawing/2014/main" id="{3F492647-CF91-E6EE-4DDB-209A2296F2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483"/>
          <a:stretch>
            <a:fillRect/>
          </a:stretch>
        </p:blipFill>
        <p:spPr bwMode="auto">
          <a:xfrm>
            <a:off x="4859338" y="2565400"/>
            <a:ext cx="3967162" cy="383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C791F747-D392-8325-0B87-6C59E08FD58D}"/>
              </a:ext>
            </a:extLst>
          </p:cNvPr>
          <p:cNvSpPr>
            <a:spLocks noGrp="1" noChangeArrowheads="1"/>
          </p:cNvSpPr>
          <p:nvPr>
            <p:ph type="title"/>
          </p:nvPr>
        </p:nvSpPr>
        <p:spPr/>
        <p:txBody>
          <a:bodyPr/>
          <a:lstStyle/>
          <a:p>
            <a:pPr eaLnBrk="1" hangingPunct="1"/>
            <a:r>
              <a:rPr lang="en-US" altLang="en-US" sz="4000">
                <a:solidFill>
                  <a:srgbClr val="0000FF"/>
                </a:solidFill>
              </a:rPr>
              <a:t>Two classes of genetic recombination</a:t>
            </a:r>
            <a:endParaRPr lang="en-GB" altLang="en-US" sz="4000">
              <a:solidFill>
                <a:srgbClr val="0000FF"/>
              </a:solidFill>
            </a:endParaRPr>
          </a:p>
        </p:txBody>
      </p:sp>
      <p:sp>
        <p:nvSpPr>
          <p:cNvPr id="194563" name="Rectangle 3">
            <a:extLst>
              <a:ext uri="{FF2B5EF4-FFF2-40B4-BE49-F238E27FC236}">
                <a16:creationId xmlns:a16="http://schemas.microsoft.com/office/drawing/2014/main" id="{AB02E18B-3C9E-D2FB-EF98-BC5683BC4D43}"/>
              </a:ext>
            </a:extLst>
          </p:cNvPr>
          <p:cNvSpPr>
            <a:spLocks noGrp="1" noChangeArrowheads="1"/>
          </p:cNvSpPr>
          <p:nvPr>
            <p:ph idx="1"/>
          </p:nvPr>
        </p:nvSpPr>
        <p:spPr>
          <a:xfrm>
            <a:off x="457200" y="1600200"/>
            <a:ext cx="8507413" cy="4530725"/>
          </a:xfrm>
        </p:spPr>
        <p:txBody>
          <a:bodyPr rtlCol="0">
            <a:normAutofit fontScale="92500" lnSpcReduction="20000"/>
          </a:bodyPr>
          <a:lstStyle/>
          <a:p>
            <a:pPr eaLnBrk="1" fontAlgn="auto" hangingPunct="1">
              <a:spcAft>
                <a:spcPts val="0"/>
              </a:spcAft>
              <a:defRPr/>
            </a:pPr>
            <a:r>
              <a:rPr lang="en-US" sz="2800" dirty="0"/>
              <a:t>Homologous recombination </a:t>
            </a:r>
            <a:r>
              <a:rPr lang="en-US" sz="2800" dirty="0">
                <a:sym typeface="Symbol" pitchFamily="18" charset="2"/>
              </a:rPr>
              <a:t> recombination at sites with same sequence</a:t>
            </a:r>
          </a:p>
          <a:p>
            <a:pPr eaLnBrk="1" fontAlgn="auto" hangingPunct="1">
              <a:spcAft>
                <a:spcPts val="0"/>
              </a:spcAft>
              <a:defRPr/>
            </a:pPr>
            <a:endParaRPr lang="en-US" sz="2800" dirty="0">
              <a:sym typeface="Symbol" pitchFamily="18" charset="2"/>
            </a:endParaRPr>
          </a:p>
          <a:p>
            <a:pPr eaLnBrk="1" fontAlgn="auto" hangingPunct="1">
              <a:spcAft>
                <a:spcPts val="0"/>
              </a:spcAft>
              <a:defRPr/>
            </a:pPr>
            <a:r>
              <a:rPr lang="en-US" sz="2800" dirty="0">
                <a:sym typeface="Symbol" pitchFamily="18" charset="2"/>
              </a:rPr>
              <a:t>Other types of recombination</a:t>
            </a:r>
          </a:p>
          <a:p>
            <a:pPr marL="914400" lvl="1" indent="-457200" eaLnBrk="1" fontAlgn="auto" hangingPunct="1">
              <a:spcAft>
                <a:spcPts val="0"/>
              </a:spcAft>
              <a:buFont typeface="+mj-lt"/>
              <a:buAutoNum type="arabicPeriod"/>
              <a:defRPr/>
            </a:pPr>
            <a:r>
              <a:rPr lang="en-US" sz="3100" b="1" dirty="0">
                <a:solidFill>
                  <a:srgbClr val="C00000"/>
                </a:solidFill>
              </a:rPr>
              <a:t>Conservative site specific recombination (CSSR)</a:t>
            </a:r>
          </a:p>
          <a:p>
            <a:pPr lvl="2" eaLnBrk="1" fontAlgn="auto" hangingPunct="1">
              <a:spcAft>
                <a:spcPts val="0"/>
              </a:spcAft>
              <a:defRPr/>
            </a:pPr>
            <a:r>
              <a:rPr lang="en-US" sz="2600" b="1" dirty="0">
                <a:solidFill>
                  <a:srgbClr val="C00000"/>
                </a:solidFill>
              </a:rPr>
              <a:t>Between two defined sequence elements</a:t>
            </a:r>
          </a:p>
          <a:p>
            <a:pPr marL="914400" lvl="1" indent="-457200" eaLnBrk="1" fontAlgn="auto" hangingPunct="1">
              <a:spcAft>
                <a:spcPts val="0"/>
              </a:spcAft>
              <a:buFont typeface="Arial" panose="020B0604020202020204" pitchFamily="34" charset="0"/>
              <a:buNone/>
              <a:defRPr/>
            </a:pPr>
            <a:r>
              <a:rPr lang="en-US" sz="3100" b="1" dirty="0">
                <a:solidFill>
                  <a:srgbClr val="C00000"/>
                </a:solidFill>
              </a:rPr>
              <a:t>2.    Transpositional recombination</a:t>
            </a:r>
          </a:p>
          <a:p>
            <a:pPr lvl="2" eaLnBrk="1" fontAlgn="auto" hangingPunct="1">
              <a:spcAft>
                <a:spcPts val="0"/>
              </a:spcAft>
              <a:defRPr/>
            </a:pPr>
            <a:r>
              <a:rPr lang="en-US" sz="2600" b="1" dirty="0">
                <a:solidFill>
                  <a:srgbClr val="C00000"/>
                </a:solidFill>
              </a:rPr>
              <a:t>Between specific sequences and nonspecific DNA sites</a:t>
            </a:r>
            <a:endParaRPr lang="en-GB" sz="2600" b="1" dirty="0">
              <a:solidFill>
                <a:srgbClr val="C00000"/>
              </a:solidFill>
            </a:endParaRPr>
          </a:p>
          <a:p>
            <a:pPr marL="344488" lvl="2" indent="-288925" eaLnBrk="1" fontAlgn="auto" hangingPunct="1">
              <a:spcAft>
                <a:spcPts val="0"/>
              </a:spcAft>
              <a:defRPr/>
            </a:pPr>
            <a:r>
              <a:rPr lang="en-GB" sz="2800" dirty="0"/>
              <a:t>Both share “</a:t>
            </a:r>
            <a:r>
              <a:rPr lang="en-GB" sz="2800" b="1" dirty="0" err="1">
                <a:solidFill>
                  <a:srgbClr val="0000FF"/>
                </a:solidFill>
              </a:rPr>
              <a:t>recombinases</a:t>
            </a:r>
            <a:r>
              <a:rPr lang="en-GB" sz="2800" dirty="0"/>
              <a:t>” that recognize </a:t>
            </a:r>
            <a:r>
              <a:rPr lang="en-GB" sz="2800" b="1" dirty="0">
                <a:solidFill>
                  <a:srgbClr val="FF0000"/>
                </a:solidFill>
              </a:rPr>
              <a:t>specific</a:t>
            </a:r>
            <a:r>
              <a:rPr lang="en-GB" sz="2800" dirty="0"/>
              <a:t> </a:t>
            </a:r>
            <a:r>
              <a:rPr lang="en-GB" sz="2800" b="1" dirty="0">
                <a:solidFill>
                  <a:srgbClr val="FF0000"/>
                </a:solidFill>
              </a:rPr>
              <a:t>sequences</a:t>
            </a:r>
            <a:r>
              <a:rPr lang="en-GB" sz="2800" dirty="0"/>
              <a:t>  where recombination will occur within a DNA molecule Protein-DNA complex called </a:t>
            </a:r>
            <a:r>
              <a:rPr lang="en-GB" sz="2800" dirty="0">
                <a:solidFill>
                  <a:srgbClr val="0000FF"/>
                </a:solidFill>
              </a:rPr>
              <a:t>synaptic complex .</a:t>
            </a:r>
            <a:endParaRPr lang="en-US" sz="2800" dirty="0">
              <a:solidFill>
                <a:srgbClr val="0000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H:\Amjad Courses\BT451\Molecular Biology of the Gene images\watson_mm_jpg_chap011\chap011\11_Figure01.jpg">
            <a:extLst>
              <a:ext uri="{FF2B5EF4-FFF2-40B4-BE49-F238E27FC236}">
                <a16:creationId xmlns:a16="http://schemas.microsoft.com/office/drawing/2014/main" id="{EC5D1AB4-51A7-7DE9-E6E8-7BA330DD2C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7438" y="136525"/>
            <a:ext cx="6967537" cy="658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15E85860-354E-A651-34DF-58009579154C}"/>
              </a:ext>
            </a:extLst>
          </p:cNvPr>
          <p:cNvSpPr>
            <a:spLocks noGrp="1" noChangeArrowheads="1"/>
          </p:cNvSpPr>
          <p:nvPr>
            <p:ph type="title"/>
          </p:nvPr>
        </p:nvSpPr>
        <p:spPr/>
        <p:txBody>
          <a:bodyPr/>
          <a:lstStyle/>
          <a:p>
            <a:pPr eaLnBrk="1" hangingPunct="1"/>
            <a:r>
              <a:rPr lang="en-GB" altLang="en-US" sz="3200" b="1">
                <a:solidFill>
                  <a:srgbClr val="0000FF"/>
                </a:solidFill>
              </a:rPr>
              <a:t>Conservative site specific recombination (CSSR)</a:t>
            </a:r>
          </a:p>
        </p:txBody>
      </p:sp>
      <p:sp>
        <p:nvSpPr>
          <p:cNvPr id="198659" name="Rectangle 3">
            <a:extLst>
              <a:ext uri="{FF2B5EF4-FFF2-40B4-BE49-F238E27FC236}">
                <a16:creationId xmlns:a16="http://schemas.microsoft.com/office/drawing/2014/main" id="{AE0D4CB6-1D48-B0E1-D960-8C5481874E60}"/>
              </a:ext>
            </a:extLst>
          </p:cNvPr>
          <p:cNvSpPr>
            <a:spLocks noGrp="1" noChangeArrowheads="1"/>
          </p:cNvSpPr>
          <p:nvPr>
            <p:ph idx="1"/>
          </p:nvPr>
        </p:nvSpPr>
        <p:spPr>
          <a:xfrm>
            <a:off x="395288" y="1341438"/>
            <a:ext cx="8507412" cy="1295400"/>
          </a:xfrm>
        </p:spPr>
        <p:txBody>
          <a:bodyPr rtlCol="0">
            <a:normAutofit fontScale="85000" lnSpcReduction="10000"/>
          </a:bodyPr>
          <a:lstStyle/>
          <a:p>
            <a:pPr eaLnBrk="1" fontAlgn="auto" hangingPunct="1">
              <a:spcAft>
                <a:spcPts val="0"/>
              </a:spcAft>
              <a:defRPr/>
            </a:pPr>
            <a:r>
              <a:rPr lang="en-GB" sz="2800" dirty="0"/>
              <a:t>Recombination between two defined sequence elements</a:t>
            </a:r>
          </a:p>
          <a:p>
            <a:pPr eaLnBrk="1" fontAlgn="auto" hangingPunct="1">
              <a:spcAft>
                <a:spcPts val="0"/>
              </a:spcAft>
              <a:defRPr/>
            </a:pPr>
            <a:r>
              <a:rPr lang="en-GB" sz="2800" dirty="0"/>
              <a:t>The segment to be moved carries a short sequence elements called </a:t>
            </a:r>
            <a:r>
              <a:rPr lang="en-GB" sz="2800" b="1" u="sng" dirty="0">
                <a:solidFill>
                  <a:srgbClr val="0000FF"/>
                </a:solidFill>
              </a:rPr>
              <a:t>recombination sites </a:t>
            </a:r>
            <a:r>
              <a:rPr lang="en-GB" sz="2800" dirty="0"/>
              <a:t>where DNA exchange occurs</a:t>
            </a:r>
          </a:p>
          <a:p>
            <a:pPr eaLnBrk="1" fontAlgn="auto" hangingPunct="1">
              <a:spcAft>
                <a:spcPts val="0"/>
              </a:spcAft>
              <a:defRPr/>
            </a:pPr>
            <a:endParaRPr lang="en-GB" sz="2800" dirty="0"/>
          </a:p>
        </p:txBody>
      </p:sp>
      <p:pic>
        <p:nvPicPr>
          <p:cNvPr id="13316" name="Picture 5" descr="H:\Amjad Courses\BT451\Molecular Biology of the Gene images\watson_mm_jpg_chap011\chap011\11_Figure02.jpg">
            <a:extLst>
              <a:ext uri="{FF2B5EF4-FFF2-40B4-BE49-F238E27FC236}">
                <a16:creationId xmlns:a16="http://schemas.microsoft.com/office/drawing/2014/main" id="{4417EA3C-BB13-3356-8D16-0FB10E2200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2530475"/>
            <a:ext cx="7226300" cy="372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7" name="TextBox 7">
            <a:extLst>
              <a:ext uri="{FF2B5EF4-FFF2-40B4-BE49-F238E27FC236}">
                <a16:creationId xmlns:a16="http://schemas.microsoft.com/office/drawing/2014/main" id="{7A647138-8C33-00A9-509A-9B12326C9BDD}"/>
              </a:ext>
            </a:extLst>
          </p:cNvPr>
          <p:cNvSpPr txBox="1">
            <a:spLocks noChangeArrowheads="1"/>
          </p:cNvSpPr>
          <p:nvPr/>
        </p:nvSpPr>
        <p:spPr bwMode="auto">
          <a:xfrm>
            <a:off x="781050" y="6249988"/>
            <a:ext cx="7820025" cy="369887"/>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Verdana" panose="020B0604030504040204" pitchFamily="34" charset="0"/>
              </a:rPr>
              <a:t>Integration of the </a:t>
            </a:r>
            <a:r>
              <a:rPr lang="el-GR" altLang="en-US" sz="1800">
                <a:latin typeface="Verdana" panose="020B0604030504040204" pitchFamily="34" charset="0"/>
              </a:rPr>
              <a:t>λ</a:t>
            </a:r>
            <a:r>
              <a:rPr lang="en-US" altLang="en-US" sz="1800">
                <a:latin typeface="Verdana" panose="020B0604030504040204" pitchFamily="34" charset="0"/>
              </a:rPr>
              <a:t> genome into the chromosome of the host cell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9E5F8462-EEA1-2358-283D-D88853FCBD23}"/>
              </a:ext>
            </a:extLst>
          </p:cNvPr>
          <p:cNvSpPr>
            <a:spLocks noGrp="1" noChangeArrowheads="1"/>
          </p:cNvSpPr>
          <p:nvPr>
            <p:ph type="title"/>
          </p:nvPr>
        </p:nvSpPr>
        <p:spPr>
          <a:xfrm>
            <a:off x="107950" y="0"/>
            <a:ext cx="4824413" cy="919163"/>
          </a:xfrm>
        </p:spPr>
        <p:txBody>
          <a:bodyPr/>
          <a:lstStyle/>
          <a:p>
            <a:pPr eaLnBrk="1" hangingPunct="1"/>
            <a:r>
              <a:rPr lang="en-US" altLang="en-US" sz="3200" b="1">
                <a:solidFill>
                  <a:srgbClr val="0000FF"/>
                </a:solidFill>
              </a:rPr>
              <a:t>Recombination Sites</a:t>
            </a:r>
            <a:endParaRPr lang="en-US" altLang="en-US" b="1">
              <a:solidFill>
                <a:srgbClr val="0000FF"/>
              </a:solidFill>
            </a:endParaRPr>
          </a:p>
        </p:txBody>
      </p:sp>
      <p:sp>
        <p:nvSpPr>
          <p:cNvPr id="15363" name="Rectangle 3">
            <a:extLst>
              <a:ext uri="{FF2B5EF4-FFF2-40B4-BE49-F238E27FC236}">
                <a16:creationId xmlns:a16="http://schemas.microsoft.com/office/drawing/2014/main" id="{9148DF3C-353D-0BC8-936B-AA6A7AC2BD36}"/>
              </a:ext>
            </a:extLst>
          </p:cNvPr>
          <p:cNvSpPr>
            <a:spLocks noGrp="1" noChangeArrowheads="1"/>
          </p:cNvSpPr>
          <p:nvPr>
            <p:ph type="body" sz="half" idx="2"/>
          </p:nvPr>
        </p:nvSpPr>
        <p:spPr>
          <a:xfrm>
            <a:off x="323850" y="764704"/>
            <a:ext cx="4392613" cy="5544616"/>
          </a:xfrm>
        </p:spPr>
        <p:txBody>
          <a:bodyPr/>
          <a:lstStyle/>
          <a:p>
            <a:pPr eaLnBrk="1" hangingPunct="1"/>
            <a:r>
              <a:rPr lang="en-GB" altLang="en-US" sz="1400" dirty="0">
                <a:solidFill>
                  <a:srgbClr val="0000FF"/>
                </a:solidFill>
                <a:latin typeface="Arial" panose="020B0604020202020204" pitchFamily="34" charset="0"/>
              </a:rPr>
              <a:t>Symmetric </a:t>
            </a:r>
            <a:r>
              <a:rPr lang="en-GB" altLang="en-US" sz="1400" dirty="0">
                <a:latin typeface="Arial" panose="020B0604020202020204" pitchFamily="34" charset="0"/>
              </a:rPr>
              <a:t>recombinase recognition sequences</a:t>
            </a:r>
          </a:p>
          <a:p>
            <a:pPr eaLnBrk="1" hangingPunct="1"/>
            <a:r>
              <a:rPr lang="en-GB" altLang="en-US" sz="1400" dirty="0">
                <a:solidFill>
                  <a:srgbClr val="0000FF"/>
                </a:solidFill>
                <a:latin typeface="Arial" panose="020B0604020202020204" pitchFamily="34" charset="0"/>
              </a:rPr>
              <a:t>Short asymmetric </a:t>
            </a:r>
            <a:r>
              <a:rPr lang="en-GB" altLang="en-US" sz="1400" dirty="0">
                <a:latin typeface="Arial" panose="020B0604020202020204" pitchFamily="34" charset="0"/>
              </a:rPr>
              <a:t>crossover region</a:t>
            </a:r>
          </a:p>
          <a:p>
            <a:r>
              <a:rPr lang="en-US" sz="1400" b="1" dirty="0"/>
              <a:t>Symmetric recombinase recognition sequences</a:t>
            </a:r>
            <a:r>
              <a:rPr lang="en-US" sz="1400" dirty="0"/>
              <a:t>:</a:t>
            </a:r>
          </a:p>
          <a:p>
            <a:pPr>
              <a:buFont typeface="Arial" panose="020B0604020202020204" pitchFamily="34" charset="0"/>
              <a:buChar char="•"/>
            </a:pPr>
            <a:r>
              <a:rPr lang="en-US" sz="1400" dirty="0"/>
              <a:t>These are </a:t>
            </a:r>
            <a:r>
              <a:rPr lang="en-US" sz="1400" b="1" dirty="0"/>
              <a:t>palindromic sequences</a:t>
            </a:r>
            <a:r>
              <a:rPr lang="en-US" sz="1400" dirty="0"/>
              <a:t> recognized by recombinases (enzymes that mediate site-specific recombination). Symmetry ensures that the recombinase binds consistently and enables alignment of the DNA strands during the recombination process.</a:t>
            </a:r>
          </a:p>
          <a:p>
            <a:r>
              <a:rPr lang="en-US" sz="1400" b="1" dirty="0"/>
              <a:t>Short asymmetric crossover region</a:t>
            </a:r>
            <a:r>
              <a:rPr lang="en-US" sz="1400" dirty="0"/>
              <a:t>:</a:t>
            </a:r>
          </a:p>
          <a:p>
            <a:pPr>
              <a:buFont typeface="Arial" panose="020B0604020202020204" pitchFamily="34" charset="0"/>
              <a:buChar char="•"/>
            </a:pPr>
            <a:r>
              <a:rPr lang="en-US" sz="1400" dirty="0"/>
              <a:t>This refers to a </a:t>
            </a:r>
            <a:r>
              <a:rPr lang="en-US" sz="1400" b="1" dirty="0"/>
              <a:t>non-palindromic or non-symmetric sequence</a:t>
            </a:r>
            <a:r>
              <a:rPr lang="en-US" sz="1400" dirty="0"/>
              <a:t> within the recognition site. The asymmetry ensures directional recombination, determining where the strand exchange occurs and the polarity of the reaction.</a:t>
            </a:r>
          </a:p>
          <a:p>
            <a:pPr eaLnBrk="1" hangingPunct="1">
              <a:buFont typeface="Wingdings" pitchFamily="2" charset="2"/>
              <a:buNone/>
            </a:pPr>
            <a:r>
              <a:rPr lang="en-US" sz="1400" b="1" dirty="0"/>
              <a:t>Binding</a:t>
            </a:r>
            <a:r>
              <a:rPr lang="en-US" sz="1400" dirty="0"/>
              <a:t>: Recombinase recognizes and binds to specific DNA sequences (recombination sites).</a:t>
            </a:r>
          </a:p>
          <a:p>
            <a:pPr eaLnBrk="1" hangingPunct="1">
              <a:buFont typeface="Wingdings" pitchFamily="2" charset="2"/>
              <a:buNone/>
            </a:pPr>
            <a:r>
              <a:rPr lang="en-US" sz="1400" b="1" dirty="0"/>
              <a:t>DNA Cleavage</a:t>
            </a:r>
            <a:r>
              <a:rPr lang="en-US" sz="1400" dirty="0"/>
              <a:t>: Cleaves the DNA strands at the recognition sites.</a:t>
            </a:r>
          </a:p>
          <a:p>
            <a:pPr eaLnBrk="1" hangingPunct="1">
              <a:buFont typeface="Wingdings" pitchFamily="2" charset="2"/>
              <a:buNone/>
            </a:pPr>
            <a:r>
              <a:rPr lang="en-US" sz="1400" b="1" dirty="0"/>
              <a:t>Strand Exchange</a:t>
            </a:r>
            <a:r>
              <a:rPr lang="en-US" sz="1400" dirty="0"/>
              <a:t>: Facilitates the exchange of DNA strands between two recognition sites.</a:t>
            </a:r>
          </a:p>
          <a:p>
            <a:pPr eaLnBrk="1" hangingPunct="1">
              <a:buFont typeface="Wingdings" pitchFamily="2" charset="2"/>
              <a:buNone/>
            </a:pPr>
            <a:r>
              <a:rPr lang="en-US" sz="1400" b="1" dirty="0"/>
              <a:t>Re-Ligation</a:t>
            </a:r>
            <a:r>
              <a:rPr lang="en-US" sz="1400" dirty="0"/>
              <a:t>: Rejoins the DNA strands to form a new combination of DNA sequences.</a:t>
            </a:r>
            <a:endParaRPr lang="en-GB" altLang="en-US" sz="1400" dirty="0">
              <a:latin typeface="Arial" panose="020B0604020202020204" pitchFamily="34" charset="0"/>
            </a:endParaRPr>
          </a:p>
        </p:txBody>
      </p:sp>
      <p:sp>
        <p:nvSpPr>
          <p:cNvPr id="15364" name="Text Box 4">
            <a:extLst>
              <a:ext uri="{FF2B5EF4-FFF2-40B4-BE49-F238E27FC236}">
                <a16:creationId xmlns:a16="http://schemas.microsoft.com/office/drawing/2014/main" id="{8974A132-90B1-866E-8E3D-C54B535290EF}"/>
              </a:ext>
            </a:extLst>
          </p:cNvPr>
          <p:cNvSpPr txBox="1">
            <a:spLocks noChangeArrowheads="1"/>
          </p:cNvSpPr>
          <p:nvPr/>
        </p:nvSpPr>
        <p:spPr bwMode="auto">
          <a:xfrm>
            <a:off x="0" y="838200"/>
            <a:ext cx="34290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2400">
              <a:latin typeface="Times" pitchFamily="-32" charset="0"/>
            </a:endParaRPr>
          </a:p>
          <a:p>
            <a:pPr>
              <a:spcBef>
                <a:spcPct val="0"/>
              </a:spcBef>
              <a:buFontTx/>
              <a:buNone/>
            </a:pPr>
            <a:endParaRPr lang="en-US" altLang="en-US" sz="2400">
              <a:latin typeface="Times" pitchFamily="-32" charset="0"/>
            </a:endParaRPr>
          </a:p>
        </p:txBody>
      </p:sp>
      <p:pic>
        <p:nvPicPr>
          <p:cNvPr id="15365" name="Picture 6" descr="H:\Amjad Courses\BT451\Molecular Biology of the Gene images\watson_mm_jpg_chap011\chap011\11_Figure04.jpg">
            <a:extLst>
              <a:ext uri="{FF2B5EF4-FFF2-40B4-BE49-F238E27FC236}">
                <a16:creationId xmlns:a16="http://schemas.microsoft.com/office/drawing/2014/main" id="{8F4ED813-1450-EC13-1CAC-F60F68826E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5388" y="274638"/>
            <a:ext cx="4138612" cy="658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EAD5A0D8-3BB0-01F5-00C8-CE2918AF1B12}"/>
              </a:ext>
            </a:extLst>
          </p:cNvPr>
          <p:cNvSpPr>
            <a:spLocks noGrp="1" noChangeArrowheads="1"/>
          </p:cNvSpPr>
          <p:nvPr>
            <p:ph type="title"/>
          </p:nvPr>
        </p:nvSpPr>
        <p:spPr/>
        <p:txBody>
          <a:bodyPr/>
          <a:lstStyle/>
          <a:p>
            <a:pPr eaLnBrk="1" hangingPunct="1"/>
            <a:r>
              <a:rPr lang="en-US" altLang="en-US" sz="3600" b="1">
                <a:solidFill>
                  <a:srgbClr val="0000FF"/>
                </a:solidFill>
              </a:rPr>
              <a:t>Polarity of Recombination Sites</a:t>
            </a:r>
            <a:endParaRPr lang="en-US" altLang="en-US" sz="4800" b="1">
              <a:solidFill>
                <a:srgbClr val="0000FF"/>
              </a:solidFill>
            </a:endParaRPr>
          </a:p>
        </p:txBody>
      </p:sp>
      <p:sp>
        <p:nvSpPr>
          <p:cNvPr id="17411" name="Rectangle 3">
            <a:extLst>
              <a:ext uri="{FF2B5EF4-FFF2-40B4-BE49-F238E27FC236}">
                <a16:creationId xmlns:a16="http://schemas.microsoft.com/office/drawing/2014/main" id="{5F0AAAD5-2195-E12A-7745-CB7292889D40}"/>
              </a:ext>
            </a:extLst>
          </p:cNvPr>
          <p:cNvSpPr>
            <a:spLocks noGrp="1" noChangeArrowheads="1"/>
          </p:cNvSpPr>
          <p:nvPr>
            <p:ph type="body" sz="half" idx="2"/>
          </p:nvPr>
        </p:nvSpPr>
        <p:spPr>
          <a:xfrm>
            <a:off x="544513" y="4824413"/>
            <a:ext cx="8229600" cy="1727200"/>
          </a:xfrm>
        </p:spPr>
        <p:txBody>
          <a:bodyPr/>
          <a:lstStyle/>
          <a:p>
            <a:pPr eaLnBrk="1" hangingPunct="1"/>
            <a:r>
              <a:rPr lang="en-US" altLang="en-US" b="1" dirty="0">
                <a:solidFill>
                  <a:srgbClr val="7030A0"/>
                </a:solidFill>
              </a:rPr>
              <a:t>Relation of the crossover sites</a:t>
            </a:r>
          </a:p>
          <a:p>
            <a:pPr lvl="1" eaLnBrk="1" hangingPunct="1">
              <a:buFont typeface="Wingdings" pitchFamily="2" charset="2"/>
              <a:buChar char="u"/>
            </a:pPr>
            <a:r>
              <a:rPr lang="en-US" altLang="en-US" b="1" dirty="0">
                <a:solidFill>
                  <a:srgbClr val="7030A0"/>
                </a:solidFill>
              </a:rPr>
              <a:t>Same direction </a:t>
            </a:r>
            <a:r>
              <a:rPr lang="en-US" altLang="en-US" b="1" dirty="0">
                <a:solidFill>
                  <a:srgbClr val="7030A0"/>
                </a:solidFill>
                <a:sym typeface="Symbol" pitchFamily="2" charset="2"/>
              </a:rPr>
              <a:t> direct repeat</a:t>
            </a:r>
          </a:p>
          <a:p>
            <a:pPr lvl="1" eaLnBrk="1" hangingPunct="1">
              <a:buFont typeface="Wingdings" pitchFamily="2" charset="2"/>
              <a:buChar char="u"/>
            </a:pPr>
            <a:r>
              <a:rPr lang="en-US" altLang="en-US" b="1" dirty="0">
                <a:solidFill>
                  <a:srgbClr val="7030A0"/>
                </a:solidFill>
                <a:sym typeface="Symbol" pitchFamily="2" charset="2"/>
              </a:rPr>
              <a:t>inverted direction  inverted repeat </a:t>
            </a:r>
          </a:p>
        </p:txBody>
      </p:sp>
      <p:pic>
        <p:nvPicPr>
          <p:cNvPr id="17412" name="Picture 4">
            <a:extLst>
              <a:ext uri="{FF2B5EF4-FFF2-40B4-BE49-F238E27FC236}">
                <a16:creationId xmlns:a16="http://schemas.microsoft.com/office/drawing/2014/main" id="{C110422A-A51F-D60E-0AFD-A99F2604AE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300" y="1052513"/>
            <a:ext cx="8075613" cy="345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Straight Arrow Connector 2">
            <a:extLst>
              <a:ext uri="{FF2B5EF4-FFF2-40B4-BE49-F238E27FC236}">
                <a16:creationId xmlns:a16="http://schemas.microsoft.com/office/drawing/2014/main" id="{76D20CEE-2A02-BFE7-6591-F545CF68118A}"/>
              </a:ext>
            </a:extLst>
          </p:cNvPr>
          <p:cNvCxnSpPr/>
          <p:nvPr/>
        </p:nvCxnSpPr>
        <p:spPr>
          <a:xfrm>
            <a:off x="2051050" y="1452563"/>
            <a:ext cx="649288" cy="573087"/>
          </a:xfrm>
          <a:prstGeom prst="straightConnector1">
            <a:avLst/>
          </a:prstGeom>
          <a:ln w="76200">
            <a:tailEnd type="triangle"/>
          </a:ln>
        </p:spPr>
        <p:style>
          <a:lnRef idx="3">
            <a:schemeClr val="dk1"/>
          </a:lnRef>
          <a:fillRef idx="0">
            <a:schemeClr val="dk1"/>
          </a:fillRef>
          <a:effectRef idx="2">
            <a:schemeClr val="dk1"/>
          </a:effectRef>
          <a:fontRef idx="minor">
            <a:schemeClr val="tx1"/>
          </a:fontRef>
        </p:style>
      </p:cxnSp>
      <p:cxnSp>
        <p:nvCxnSpPr>
          <p:cNvPr id="8" name="Straight Arrow Connector 7">
            <a:extLst>
              <a:ext uri="{FF2B5EF4-FFF2-40B4-BE49-F238E27FC236}">
                <a16:creationId xmlns:a16="http://schemas.microsoft.com/office/drawing/2014/main" id="{EE4860EC-A4AA-5336-7A49-00B12E0D2C62}"/>
              </a:ext>
            </a:extLst>
          </p:cNvPr>
          <p:cNvCxnSpPr/>
          <p:nvPr/>
        </p:nvCxnSpPr>
        <p:spPr>
          <a:xfrm>
            <a:off x="2125663" y="2800350"/>
            <a:ext cx="647700" cy="574675"/>
          </a:xfrm>
          <a:prstGeom prst="straightConnector1">
            <a:avLst/>
          </a:prstGeom>
          <a:ln w="76200">
            <a:tailEnd type="triangle"/>
          </a:ln>
        </p:spPr>
        <p:style>
          <a:lnRef idx="3">
            <a:schemeClr val="dk1"/>
          </a:lnRef>
          <a:fillRef idx="0">
            <a:schemeClr val="dk1"/>
          </a:fillRef>
          <a:effectRef idx="2">
            <a:schemeClr val="dk1"/>
          </a:effectRef>
          <a:fontRef idx="minor">
            <a:schemeClr val="tx1"/>
          </a:fontRef>
        </p:style>
      </p:cxnSp>
      <p:cxnSp>
        <p:nvCxnSpPr>
          <p:cNvPr id="9" name="Straight Arrow Connector 8">
            <a:extLst>
              <a:ext uri="{FF2B5EF4-FFF2-40B4-BE49-F238E27FC236}">
                <a16:creationId xmlns:a16="http://schemas.microsoft.com/office/drawing/2014/main" id="{2C57809C-994E-1C31-381B-A28247D3E694}"/>
              </a:ext>
            </a:extLst>
          </p:cNvPr>
          <p:cNvCxnSpPr/>
          <p:nvPr/>
        </p:nvCxnSpPr>
        <p:spPr>
          <a:xfrm>
            <a:off x="6084888" y="2747963"/>
            <a:ext cx="647700" cy="573087"/>
          </a:xfrm>
          <a:prstGeom prst="straightConnector1">
            <a:avLst/>
          </a:prstGeom>
          <a:ln w="76200">
            <a:tailEnd type="triangle"/>
          </a:ln>
        </p:spPr>
        <p:style>
          <a:lnRef idx="3">
            <a:schemeClr val="dk1"/>
          </a:lnRef>
          <a:fillRef idx="0">
            <a:schemeClr val="dk1"/>
          </a:fillRef>
          <a:effectRef idx="2">
            <a:schemeClr val="dk1"/>
          </a:effectRef>
          <a:fontRef idx="minor">
            <a:schemeClr val="tx1"/>
          </a:fontRef>
        </p:style>
      </p:cxnSp>
      <p:cxnSp>
        <p:nvCxnSpPr>
          <p:cNvPr id="10" name="Straight Arrow Connector 9">
            <a:extLst>
              <a:ext uri="{FF2B5EF4-FFF2-40B4-BE49-F238E27FC236}">
                <a16:creationId xmlns:a16="http://schemas.microsoft.com/office/drawing/2014/main" id="{9F2DBC65-187D-7B8C-3D3D-2276F1A67585}"/>
              </a:ext>
            </a:extLst>
          </p:cNvPr>
          <p:cNvCxnSpPr/>
          <p:nvPr/>
        </p:nvCxnSpPr>
        <p:spPr>
          <a:xfrm>
            <a:off x="6084888" y="1471613"/>
            <a:ext cx="647700" cy="573087"/>
          </a:xfrm>
          <a:prstGeom prst="straightConnector1">
            <a:avLst/>
          </a:prstGeom>
          <a:ln w="76200">
            <a:tailEnd type="triangle"/>
          </a:ln>
        </p:spPr>
        <p:style>
          <a:lnRef idx="3">
            <a:schemeClr val="dk1"/>
          </a:lnRef>
          <a:fillRef idx="0">
            <a:schemeClr val="dk1"/>
          </a:fillRef>
          <a:effectRef idx="2">
            <a:schemeClr val="dk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32CB26B-73C7-54AD-AFC2-6FD23AB21327}"/>
              </a:ext>
            </a:extLst>
          </p:cNvPr>
          <p:cNvSpPr txBox="1"/>
          <p:nvPr/>
        </p:nvSpPr>
        <p:spPr>
          <a:xfrm>
            <a:off x="35496" y="404664"/>
            <a:ext cx="9108504" cy="5909310"/>
          </a:xfrm>
          <a:prstGeom prst="rect">
            <a:avLst/>
          </a:prstGeom>
          <a:noFill/>
        </p:spPr>
        <p:txBody>
          <a:bodyPr wrap="square">
            <a:spAutoFit/>
          </a:bodyPr>
          <a:lstStyle/>
          <a:p>
            <a:r>
              <a:rPr lang="en-US" sz="1400" b="1" dirty="0"/>
              <a:t>Relation of the Crossover Sites</a:t>
            </a:r>
          </a:p>
          <a:p>
            <a:pPr>
              <a:buFont typeface="+mj-lt"/>
              <a:buAutoNum type="arabicPeriod"/>
            </a:pPr>
            <a:r>
              <a:rPr lang="en-US" sz="1400" b="1" dirty="0"/>
              <a:t>Same Direction → Direct Repeat</a:t>
            </a:r>
            <a:r>
              <a:rPr lang="en-US" sz="1400" dirty="0"/>
              <a:t>:</a:t>
            </a:r>
          </a:p>
          <a:p>
            <a:pPr marL="742950" lvl="1" indent="-285750">
              <a:buFont typeface="+mj-lt"/>
              <a:buAutoNum type="arabicPeriod"/>
            </a:pPr>
            <a:r>
              <a:rPr lang="en-US" sz="1400" dirty="0"/>
              <a:t>The resulting arrangement creates a direct repeat when the recombination sites (e.g., recognition sequences) are oriented in the same direction.</a:t>
            </a:r>
          </a:p>
          <a:p>
            <a:pPr marL="742950" lvl="1" indent="-285750">
              <a:buFont typeface="+mj-lt"/>
              <a:buAutoNum type="arabicPeriod"/>
            </a:pPr>
            <a:r>
              <a:rPr lang="en-US" sz="1400" dirty="0"/>
              <a:t>Example:</a:t>
            </a:r>
          </a:p>
          <a:p>
            <a:pPr marL="1143000" lvl="2" indent="-228600">
              <a:buFont typeface="+mj-lt"/>
              <a:buAutoNum type="arabicPeriod"/>
            </a:pPr>
            <a:r>
              <a:rPr lang="en-US" sz="1400" dirty="0"/>
              <a:t>Original: Site1 → DNA → Site2 → DNA</a:t>
            </a:r>
          </a:p>
          <a:p>
            <a:pPr marL="1143000" lvl="2" indent="-228600">
              <a:buFont typeface="+mj-lt"/>
              <a:buAutoNum type="arabicPeriod"/>
            </a:pPr>
            <a:r>
              <a:rPr lang="en-US" sz="1400" dirty="0"/>
              <a:t>After recombination: Depending on the mechanism, the DNA segment between the sites may be excised or duplicated.</a:t>
            </a:r>
          </a:p>
          <a:p>
            <a:pPr marL="742950" lvl="1" indent="-285750">
              <a:buFont typeface="+mj-lt"/>
              <a:buAutoNum type="arabicPeriod"/>
            </a:pPr>
            <a:r>
              <a:rPr lang="en-US" sz="1400" dirty="0"/>
              <a:t>This is typically seen in processes like </a:t>
            </a:r>
            <a:r>
              <a:rPr lang="en-US" sz="1400" b="1" dirty="0"/>
              <a:t>DNA segment excision, such as</a:t>
            </a:r>
            <a:r>
              <a:rPr lang="en-US" sz="1400" dirty="0"/>
              <a:t> phage excision from a bacterial chromosome.</a:t>
            </a:r>
          </a:p>
          <a:p>
            <a:pPr>
              <a:buFont typeface="+mj-lt"/>
              <a:buAutoNum type="arabicPeriod"/>
            </a:pPr>
            <a:r>
              <a:rPr lang="en-US" sz="1400" b="1" dirty="0"/>
              <a:t>Inverted Direction → Inverted Repeat</a:t>
            </a:r>
            <a:r>
              <a:rPr lang="en-US" sz="1400" dirty="0"/>
              <a:t>:</a:t>
            </a:r>
          </a:p>
          <a:p>
            <a:pPr marL="742950" lvl="1" indent="-285750">
              <a:buFont typeface="+mj-lt"/>
              <a:buAutoNum type="arabicPeriod"/>
            </a:pPr>
            <a:r>
              <a:rPr lang="en-US" sz="1400" dirty="0"/>
              <a:t>When the recombination sites are oriented in </a:t>
            </a:r>
            <a:r>
              <a:rPr lang="en-US" sz="1400" b="1" dirty="0"/>
              <a:t>opposite directions</a:t>
            </a:r>
            <a:r>
              <a:rPr lang="en-US" sz="1400" dirty="0"/>
              <a:t> (one site points forward, and the other points backward), the result is an </a:t>
            </a:r>
            <a:r>
              <a:rPr lang="en-US" sz="1400" b="1" dirty="0"/>
              <a:t>inverted repeat</a:t>
            </a:r>
            <a:r>
              <a:rPr lang="en-US" sz="1400" dirty="0"/>
              <a:t>.</a:t>
            </a:r>
          </a:p>
          <a:p>
            <a:pPr marL="742950" lvl="1" indent="-285750">
              <a:buFont typeface="+mj-lt"/>
              <a:buAutoNum type="arabicPeriod"/>
            </a:pPr>
            <a:r>
              <a:rPr lang="en-US" sz="1400" dirty="0"/>
              <a:t>Example:</a:t>
            </a:r>
          </a:p>
          <a:p>
            <a:pPr marL="1143000" lvl="2" indent="-228600">
              <a:buFont typeface="+mj-lt"/>
              <a:buAutoNum type="arabicPeriod"/>
            </a:pPr>
            <a:r>
              <a:rPr lang="en-US" sz="1400" dirty="0"/>
              <a:t>Original: Site1 → DNA ← Site2</a:t>
            </a:r>
          </a:p>
          <a:p>
            <a:pPr marL="1143000" lvl="2" indent="-228600">
              <a:buFont typeface="+mj-lt"/>
              <a:buAutoNum type="arabicPeriod"/>
            </a:pPr>
            <a:r>
              <a:rPr lang="en-US" sz="1400" dirty="0"/>
              <a:t>After recombination: The DNA segment between the sites may undergo </a:t>
            </a:r>
            <a:r>
              <a:rPr lang="en-US" sz="1400" b="1" dirty="0"/>
              <a:t>inversion</a:t>
            </a:r>
            <a:r>
              <a:rPr lang="en-US" sz="1400" dirty="0"/>
              <a:t> (flipping the sequence).</a:t>
            </a:r>
          </a:p>
          <a:p>
            <a:pPr marL="742950" lvl="1" indent="-285750">
              <a:buFont typeface="+mj-lt"/>
              <a:buAutoNum type="arabicPeriod"/>
            </a:pPr>
            <a:r>
              <a:rPr lang="en-US" sz="1400" dirty="0"/>
              <a:t>This is commonly observed in </a:t>
            </a:r>
            <a:r>
              <a:rPr lang="en-US" sz="1400" b="1" dirty="0"/>
              <a:t>gene inversion</a:t>
            </a:r>
            <a:r>
              <a:rPr lang="en-US" sz="1400" dirty="0"/>
              <a:t> events, which can regulate gene expression or switch between alternative sequences.</a:t>
            </a:r>
          </a:p>
          <a:p>
            <a:r>
              <a:rPr lang="en-US" sz="1400" b="1" dirty="0"/>
              <a:t>Biological Implications</a:t>
            </a:r>
          </a:p>
          <a:p>
            <a:pPr>
              <a:buFont typeface="Arial" panose="020B0604020202020204" pitchFamily="34" charset="0"/>
              <a:buChar char="•"/>
            </a:pPr>
            <a:r>
              <a:rPr lang="en-US" sz="1400" b="1" dirty="0"/>
              <a:t>Direct Repeat (Same Direction)</a:t>
            </a:r>
            <a:r>
              <a:rPr lang="en-US" sz="1400" dirty="0"/>
              <a:t>:</a:t>
            </a:r>
          </a:p>
          <a:p>
            <a:pPr marL="742950" lvl="1" indent="-285750">
              <a:buFont typeface="Arial" panose="020B0604020202020204" pitchFamily="34" charset="0"/>
              <a:buChar char="•"/>
            </a:pPr>
            <a:r>
              <a:rPr lang="en-US" sz="1400" dirty="0"/>
              <a:t>Leads to excision or duplication.</a:t>
            </a:r>
          </a:p>
          <a:p>
            <a:pPr marL="742950" lvl="1" indent="-285750">
              <a:buFont typeface="Arial" panose="020B0604020202020204" pitchFamily="34" charset="0"/>
              <a:buChar char="•"/>
            </a:pPr>
            <a:r>
              <a:rPr lang="en-US" sz="1400" dirty="0"/>
              <a:t>Important in processes like plasmid integration/excision (e.g., </a:t>
            </a:r>
            <a:r>
              <a:rPr lang="el-GR" sz="1400" dirty="0"/>
              <a:t>λ </a:t>
            </a:r>
            <a:r>
              <a:rPr lang="en-US" sz="1400" dirty="0"/>
              <a:t>phage integration).</a:t>
            </a:r>
          </a:p>
          <a:p>
            <a:pPr>
              <a:buFont typeface="Arial" panose="020B0604020202020204" pitchFamily="34" charset="0"/>
              <a:buChar char="•"/>
            </a:pPr>
            <a:r>
              <a:rPr lang="en-US" sz="1400" b="1" dirty="0"/>
              <a:t>Inverted Repeat (Opposite Direction)</a:t>
            </a:r>
            <a:r>
              <a:rPr lang="en-US" sz="1400" dirty="0"/>
              <a:t>:</a:t>
            </a:r>
          </a:p>
          <a:p>
            <a:pPr marL="742950" lvl="1" indent="-285750">
              <a:buFont typeface="Arial" panose="020B0604020202020204" pitchFamily="34" charset="0"/>
              <a:buChar char="•"/>
            </a:pPr>
            <a:r>
              <a:rPr lang="en-US" sz="1400" dirty="0"/>
              <a:t>Leads to sequence inversion.</a:t>
            </a:r>
          </a:p>
          <a:p>
            <a:pPr marL="742950" lvl="1" indent="-285750">
              <a:buFont typeface="Arial" panose="020B0604020202020204" pitchFamily="34" charset="0"/>
              <a:buChar char="•"/>
            </a:pPr>
            <a:r>
              <a:rPr lang="en-US" sz="1400" dirty="0"/>
              <a:t>It is found in mechanisms like bacterial </a:t>
            </a:r>
            <a:r>
              <a:rPr lang="en-US" sz="1400" b="1" dirty="0"/>
              <a:t>phase variation</a:t>
            </a:r>
            <a:r>
              <a:rPr lang="en-US" sz="1400" dirty="0"/>
              <a:t>, where flipping a segment controls gene expression (e.g., switching between "on" and "off" states for specific genes).</a:t>
            </a:r>
          </a:p>
        </p:txBody>
      </p:sp>
    </p:spTree>
    <p:extLst>
      <p:ext uri="{BB962C8B-B14F-4D97-AF65-F5344CB8AC3E}">
        <p14:creationId xmlns:p14="http://schemas.microsoft.com/office/powerpoint/2010/main" val="3984506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a:extLst>
              <a:ext uri="{FF2B5EF4-FFF2-40B4-BE49-F238E27FC236}">
                <a16:creationId xmlns:a16="http://schemas.microsoft.com/office/drawing/2014/main" id="{65270CD8-2152-B3D6-044F-6B3CF234ECE3}"/>
              </a:ext>
            </a:extLst>
          </p:cNvPr>
          <p:cNvSpPr>
            <a:spLocks noGrp="1" noChangeArrowheads="1"/>
          </p:cNvSpPr>
          <p:nvPr>
            <p:ph type="title"/>
          </p:nvPr>
        </p:nvSpPr>
        <p:spPr>
          <a:xfrm>
            <a:off x="457200" y="115888"/>
            <a:ext cx="8229600" cy="1081087"/>
          </a:xfrm>
        </p:spPr>
        <p:txBody>
          <a:bodyPr rtlCol="0">
            <a:normAutofit/>
          </a:bodyPr>
          <a:lstStyle/>
          <a:p>
            <a:pPr eaLnBrk="1" fontAlgn="auto" hangingPunct="1">
              <a:spcAft>
                <a:spcPts val="0"/>
              </a:spcAft>
              <a:defRPr/>
            </a:pPr>
            <a:r>
              <a:rPr lang="en-GB" sz="2400" b="1" dirty="0">
                <a:solidFill>
                  <a:srgbClr val="0000FF"/>
                </a:solidFill>
              </a:rPr>
              <a:t>Conservative Site-Specific Recombination (CSSR) can generate 3 different types of DNA rearrangements:</a:t>
            </a:r>
          </a:p>
        </p:txBody>
      </p:sp>
      <p:pic>
        <p:nvPicPr>
          <p:cNvPr id="19459" name="Picture 4" descr="H:\Amjad Courses\BT451\Molecular Biology of the Gene images\watson_mm_jpg_chap011\chap011\11_Figure03.jpg">
            <a:extLst>
              <a:ext uri="{FF2B5EF4-FFF2-40B4-BE49-F238E27FC236}">
                <a16:creationId xmlns:a16="http://schemas.microsoft.com/office/drawing/2014/main" id="{6FBCB6CD-1241-0E7D-4758-F5B7F284C8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450" y="2120900"/>
            <a:ext cx="8547100" cy="261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0" name="TextBox 6">
            <a:extLst>
              <a:ext uri="{FF2B5EF4-FFF2-40B4-BE49-F238E27FC236}">
                <a16:creationId xmlns:a16="http://schemas.microsoft.com/office/drawing/2014/main" id="{CBF07433-0304-296A-61A3-2981ED20B9FD}"/>
              </a:ext>
            </a:extLst>
          </p:cNvPr>
          <p:cNvSpPr txBox="1">
            <a:spLocks noChangeArrowheads="1"/>
          </p:cNvSpPr>
          <p:nvPr/>
        </p:nvSpPr>
        <p:spPr bwMode="auto">
          <a:xfrm>
            <a:off x="900113" y="5229225"/>
            <a:ext cx="6637337" cy="369888"/>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Verdana" panose="020B0604030504040204" pitchFamily="34" charset="0"/>
              </a:rPr>
              <a:t>Depends on the organization of the recombination sites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3" descr="12_03Figure-L">
            <a:extLst>
              <a:ext uri="{FF2B5EF4-FFF2-40B4-BE49-F238E27FC236}">
                <a16:creationId xmlns:a16="http://schemas.microsoft.com/office/drawing/2014/main" id="{38F3A0D0-CF24-2096-2D50-81D9667910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4483"/>
          <a:stretch>
            <a:fillRect/>
          </a:stretch>
        </p:blipFill>
        <p:spPr bwMode="auto">
          <a:xfrm>
            <a:off x="136525" y="1522413"/>
            <a:ext cx="8867775" cy="435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7" name="Rectangle 3">
            <a:extLst>
              <a:ext uri="{FF2B5EF4-FFF2-40B4-BE49-F238E27FC236}">
                <a16:creationId xmlns:a16="http://schemas.microsoft.com/office/drawing/2014/main" id="{39F15858-3D07-1D86-2D52-272E00E69C15}"/>
              </a:ext>
            </a:extLst>
          </p:cNvPr>
          <p:cNvSpPr>
            <a:spLocks noGrp="1" noChangeArrowheads="1"/>
          </p:cNvSpPr>
          <p:nvPr>
            <p:ph type="ctrTitle" idx="4294967295"/>
          </p:nvPr>
        </p:nvSpPr>
        <p:spPr>
          <a:xfrm>
            <a:off x="20638" y="0"/>
            <a:ext cx="6016625" cy="304800"/>
          </a:xfrm>
          <a:extLst>
            <a:ext uri="{91240B29-F687-4F45-9708-019B960494DF}">
              <a14:hiddenLine xmlns:a14="http://schemas.microsoft.com/office/drawing/2010/main" w="3175">
                <a:solidFill>
                  <a:srgbClr val="000000"/>
                </a:solidFill>
                <a:miter lim="800000"/>
                <a:headEnd/>
                <a:tailEnd/>
              </a14:hiddenLine>
            </a:ext>
          </a:extLst>
        </p:spPr>
        <p:txBody>
          <a:bodyPr/>
          <a:lstStyle/>
          <a:p>
            <a:pPr algn="l" eaLnBrk="1" hangingPunct="1"/>
            <a:r>
              <a:rPr lang="en-US" altLang="en-US" sz="1200">
                <a:latin typeface="Arial" panose="020B0604020202020204" pitchFamily="34" charset="0"/>
              </a:rPr>
              <a:t>Figure 12-3</a:t>
            </a:r>
          </a:p>
        </p:txBody>
      </p:sp>
      <p:sp>
        <p:nvSpPr>
          <p:cNvPr id="13316" name="TextBox 1">
            <a:extLst>
              <a:ext uri="{FF2B5EF4-FFF2-40B4-BE49-F238E27FC236}">
                <a16:creationId xmlns:a16="http://schemas.microsoft.com/office/drawing/2014/main" id="{4705606F-70C9-0194-A8F8-BCB3343EA797}"/>
              </a:ext>
            </a:extLst>
          </p:cNvPr>
          <p:cNvSpPr txBox="1">
            <a:spLocks noChangeArrowheads="1"/>
          </p:cNvSpPr>
          <p:nvPr/>
        </p:nvSpPr>
        <p:spPr bwMode="auto">
          <a:xfrm>
            <a:off x="295275" y="620713"/>
            <a:ext cx="8550275" cy="585787"/>
          </a:xfrm>
          <a:prstGeom prst="rect">
            <a:avLst/>
          </a:prstGeom>
          <a:solidFill>
            <a:schemeClr val="accent2">
              <a:lumMod val="20000"/>
              <a:lumOff val="80000"/>
            </a:schemeClr>
          </a:solidFill>
          <a:ln>
            <a:noFill/>
          </a:ln>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defRPr/>
            </a:pPr>
            <a:r>
              <a:rPr lang="en-US" altLang="en-US" b="1" dirty="0">
                <a:solidFill>
                  <a:srgbClr val="000000"/>
                </a:solidFill>
                <a:latin typeface="Verdana" panose="020B0604030504040204" pitchFamily="34" charset="0"/>
              </a:rPr>
              <a:t>Three Types of CSSR recombination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4D41AFB0-1E81-9B55-F7AC-25A9C534AF19}"/>
              </a:ext>
            </a:extLst>
          </p:cNvPr>
          <p:cNvSpPr>
            <a:spLocks noGrp="1" noChangeArrowheads="1"/>
          </p:cNvSpPr>
          <p:nvPr>
            <p:ph type="title"/>
          </p:nvPr>
        </p:nvSpPr>
        <p:spPr/>
        <p:txBody>
          <a:bodyPr/>
          <a:lstStyle/>
          <a:p>
            <a:pPr eaLnBrk="1" hangingPunct="1"/>
            <a:r>
              <a:rPr lang="en-US" altLang="en-US" sz="3200" b="1">
                <a:solidFill>
                  <a:srgbClr val="0000FF"/>
                </a:solidFill>
              </a:rPr>
              <a:t>Recombinase Mechanism</a:t>
            </a:r>
          </a:p>
        </p:txBody>
      </p:sp>
      <p:sp>
        <p:nvSpPr>
          <p:cNvPr id="14339" name="Rectangle 3">
            <a:extLst>
              <a:ext uri="{FF2B5EF4-FFF2-40B4-BE49-F238E27FC236}">
                <a16:creationId xmlns:a16="http://schemas.microsoft.com/office/drawing/2014/main" id="{383BE798-C051-3B27-7321-54773D47774F}"/>
              </a:ext>
            </a:extLst>
          </p:cNvPr>
          <p:cNvSpPr>
            <a:spLocks noGrp="1" noChangeArrowheads="1"/>
          </p:cNvSpPr>
          <p:nvPr>
            <p:ph type="body" sz="half" idx="1"/>
          </p:nvPr>
        </p:nvSpPr>
        <p:spPr>
          <a:xfrm>
            <a:off x="250825" y="1341438"/>
            <a:ext cx="4033838" cy="2189162"/>
          </a:xfrm>
          <a:solidFill>
            <a:schemeClr val="bg1">
              <a:lumMod val="95000"/>
            </a:schemeClr>
          </a:solidFill>
        </p:spPr>
        <p:txBody>
          <a:bodyPr/>
          <a:lstStyle/>
          <a:p>
            <a:pPr eaLnBrk="1" hangingPunct="1">
              <a:buFont typeface="Wingdings" pitchFamily="2" charset="2"/>
              <a:buNone/>
              <a:defRPr/>
            </a:pPr>
            <a:r>
              <a:rPr lang="en-GB" sz="2000" b="1" dirty="0">
                <a:solidFill>
                  <a:srgbClr val="0000FF"/>
                </a:solidFill>
                <a:latin typeface="Arial" charset="0"/>
              </a:rPr>
              <a:t>Two families of </a:t>
            </a:r>
            <a:r>
              <a:rPr lang="en-GB" sz="2000" b="1" dirty="0" err="1">
                <a:solidFill>
                  <a:srgbClr val="0000FF"/>
                </a:solidFill>
                <a:latin typeface="Arial" charset="0"/>
              </a:rPr>
              <a:t>recombinases</a:t>
            </a:r>
            <a:r>
              <a:rPr lang="en-GB" sz="2000" b="1" dirty="0">
                <a:solidFill>
                  <a:srgbClr val="0000FF"/>
                </a:solidFill>
                <a:latin typeface="Arial" charset="0"/>
              </a:rPr>
              <a:t>:</a:t>
            </a:r>
          </a:p>
          <a:p>
            <a:pPr eaLnBrk="1" hangingPunct="1">
              <a:buFont typeface="Wingdings" pitchFamily="2" charset="2"/>
              <a:buNone/>
              <a:defRPr/>
            </a:pPr>
            <a:endParaRPr lang="en-GB" sz="2000" dirty="0">
              <a:solidFill>
                <a:schemeClr val="tx2"/>
              </a:solidFill>
              <a:latin typeface="Arial" charset="0"/>
            </a:endParaRPr>
          </a:p>
          <a:p>
            <a:pPr eaLnBrk="1" hangingPunct="1">
              <a:buFont typeface="Arial" charset="0"/>
              <a:buChar char="•"/>
              <a:defRPr/>
            </a:pPr>
            <a:r>
              <a:rPr lang="en-GB" sz="2000" b="1" dirty="0">
                <a:solidFill>
                  <a:srgbClr val="C00000"/>
                </a:solidFill>
                <a:latin typeface="Arial" charset="0"/>
              </a:rPr>
              <a:t>Serine </a:t>
            </a:r>
            <a:r>
              <a:rPr lang="en-GB" sz="2000" b="1" dirty="0" err="1">
                <a:solidFill>
                  <a:srgbClr val="C00000"/>
                </a:solidFill>
                <a:latin typeface="Arial" charset="0"/>
              </a:rPr>
              <a:t>recombinases</a:t>
            </a:r>
            <a:endParaRPr lang="en-GB" sz="2000" b="1" dirty="0">
              <a:solidFill>
                <a:srgbClr val="C00000"/>
              </a:solidFill>
              <a:latin typeface="Arial" charset="0"/>
            </a:endParaRPr>
          </a:p>
          <a:p>
            <a:pPr eaLnBrk="1" hangingPunct="1">
              <a:buFont typeface="Arial" charset="0"/>
              <a:buChar char="•"/>
              <a:defRPr/>
            </a:pPr>
            <a:r>
              <a:rPr lang="en-GB" sz="2000" b="1" dirty="0">
                <a:solidFill>
                  <a:srgbClr val="002060"/>
                </a:solidFill>
                <a:latin typeface="Arial" charset="0"/>
              </a:rPr>
              <a:t>Tyrosine </a:t>
            </a:r>
            <a:r>
              <a:rPr lang="en-GB" sz="2000" b="1" dirty="0" err="1">
                <a:solidFill>
                  <a:srgbClr val="002060"/>
                </a:solidFill>
                <a:latin typeface="Arial" charset="0"/>
              </a:rPr>
              <a:t>recombinases</a:t>
            </a:r>
            <a:endParaRPr lang="en-GB" sz="2000" b="1" dirty="0">
              <a:solidFill>
                <a:srgbClr val="002060"/>
              </a:solidFill>
              <a:latin typeface="Arial" charset="0"/>
            </a:endParaRPr>
          </a:p>
          <a:p>
            <a:pPr eaLnBrk="1" hangingPunct="1">
              <a:buFont typeface="Wingdings" pitchFamily="2" charset="2"/>
              <a:buNone/>
              <a:defRPr/>
            </a:pPr>
            <a:endParaRPr lang="en-GB" sz="2400" dirty="0">
              <a:latin typeface="Arial" charset="0"/>
            </a:endParaRPr>
          </a:p>
        </p:txBody>
      </p:sp>
      <p:sp>
        <p:nvSpPr>
          <p:cNvPr id="23556" name="Rectangle 4">
            <a:extLst>
              <a:ext uri="{FF2B5EF4-FFF2-40B4-BE49-F238E27FC236}">
                <a16:creationId xmlns:a16="http://schemas.microsoft.com/office/drawing/2014/main" id="{2B9EBD5E-00BD-EC9C-1B4A-0AE0A04269FC}"/>
              </a:ext>
            </a:extLst>
          </p:cNvPr>
          <p:cNvSpPr>
            <a:spLocks noGrp="1" noChangeArrowheads="1"/>
          </p:cNvSpPr>
          <p:nvPr>
            <p:ph sz="half" idx="2"/>
          </p:nvPr>
        </p:nvSpPr>
        <p:spPr/>
        <p:txBody>
          <a:bodyPr/>
          <a:lstStyle/>
          <a:p>
            <a:pPr eaLnBrk="1" hangingPunct="1"/>
            <a:endParaRPr lang="en-US" altLang="en-US" sz="2800"/>
          </a:p>
        </p:txBody>
      </p:sp>
      <p:pic>
        <p:nvPicPr>
          <p:cNvPr id="23557" name="Picture 5">
            <a:extLst>
              <a:ext uri="{FF2B5EF4-FFF2-40B4-BE49-F238E27FC236}">
                <a16:creationId xmlns:a16="http://schemas.microsoft.com/office/drawing/2014/main" id="{71F1FD2E-041F-3594-2E4F-378A96C8A4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41763"/>
          <a:stretch>
            <a:fillRect/>
          </a:stretch>
        </p:blipFill>
        <p:spPr bwMode="auto">
          <a:xfrm>
            <a:off x="0" y="3644900"/>
            <a:ext cx="9144000" cy="287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46" name="Text Box 6">
            <a:extLst>
              <a:ext uri="{FF2B5EF4-FFF2-40B4-BE49-F238E27FC236}">
                <a16:creationId xmlns:a16="http://schemas.microsoft.com/office/drawing/2014/main" id="{EEB383ED-B16A-E550-DDBA-9793EF218372}"/>
              </a:ext>
            </a:extLst>
          </p:cNvPr>
          <p:cNvSpPr txBox="1">
            <a:spLocks noChangeArrowheads="1"/>
          </p:cNvSpPr>
          <p:nvPr/>
        </p:nvSpPr>
        <p:spPr bwMode="auto">
          <a:xfrm>
            <a:off x="4356100" y="1341438"/>
            <a:ext cx="4752975" cy="1938337"/>
          </a:xfrm>
          <a:prstGeom prst="rect">
            <a:avLst/>
          </a:prstGeom>
          <a:solidFill>
            <a:schemeClr val="accent6">
              <a:lumMod val="20000"/>
              <a:lumOff val="80000"/>
            </a:schemeClr>
          </a:solidFill>
          <a:ln w="9525">
            <a:noFill/>
            <a:miter lim="800000"/>
            <a:headEnd/>
            <a:tailEnd/>
          </a:ln>
          <a:effectLst/>
        </p:spPr>
        <p:txBody>
          <a:bodyPr>
            <a:spAutoFit/>
          </a:bodyPr>
          <a:lstStyle/>
          <a:p>
            <a:pPr eaLnBrk="1" hangingPunct="1">
              <a:defRPr/>
            </a:pPr>
            <a:r>
              <a:rPr lang="en-GB" sz="2000" b="1" dirty="0">
                <a:solidFill>
                  <a:srgbClr val="0000FF"/>
                </a:solidFill>
                <a:latin typeface="Arial" charset="0"/>
                <a:cs typeface="Arial" charset="0"/>
              </a:rPr>
              <a:t>Mechanisms are similar:</a:t>
            </a:r>
          </a:p>
          <a:p>
            <a:pPr eaLnBrk="1" hangingPunct="1">
              <a:buSzPct val="100000"/>
              <a:buFont typeface="Arial" pitchFamily="34" charset="0"/>
              <a:buChar char="●"/>
              <a:defRPr/>
            </a:pPr>
            <a:r>
              <a:rPr lang="en-GB" sz="2000" dirty="0">
                <a:latin typeface="Arial" charset="0"/>
                <a:cs typeface="Arial" charset="0"/>
              </a:rPr>
              <a:t>  </a:t>
            </a:r>
            <a:r>
              <a:rPr lang="en-GB" sz="2000" dirty="0" err="1">
                <a:latin typeface="Arial" charset="0"/>
                <a:cs typeface="Arial" charset="0"/>
              </a:rPr>
              <a:t>aa</a:t>
            </a:r>
            <a:r>
              <a:rPr lang="en-GB" sz="2000" dirty="0">
                <a:latin typeface="Arial" charset="0"/>
                <a:cs typeface="Arial" charset="0"/>
              </a:rPr>
              <a:t> attacks phosphodiester bond</a:t>
            </a:r>
          </a:p>
          <a:p>
            <a:pPr eaLnBrk="1" hangingPunct="1">
              <a:buSzPct val="100000"/>
              <a:buFont typeface="Arial" pitchFamily="34" charset="0"/>
              <a:buChar char="●"/>
              <a:defRPr/>
            </a:pPr>
            <a:r>
              <a:rPr lang="en-GB" sz="2000" dirty="0">
                <a:latin typeface="Arial" charset="0"/>
                <a:cs typeface="Arial" charset="0"/>
              </a:rPr>
              <a:t>   Form protein-DNA Intermediate</a:t>
            </a:r>
          </a:p>
          <a:p>
            <a:pPr eaLnBrk="1" hangingPunct="1">
              <a:buSzPct val="100000"/>
              <a:buFont typeface="Arial" pitchFamily="34" charset="0"/>
              <a:buChar char="●"/>
              <a:defRPr/>
            </a:pPr>
            <a:r>
              <a:rPr lang="en-GB" sz="2000" dirty="0">
                <a:latin typeface="Arial" charset="0"/>
                <a:cs typeface="Arial" charset="0"/>
              </a:rPr>
              <a:t>   </a:t>
            </a:r>
            <a:r>
              <a:rPr lang="en-GB" sz="2000" dirty="0">
                <a:solidFill>
                  <a:srgbClr val="FF0000"/>
                </a:solidFill>
                <a:latin typeface="Arial" charset="0"/>
                <a:cs typeface="Arial" charset="0"/>
              </a:rPr>
              <a:t>No external energy is needed</a:t>
            </a:r>
          </a:p>
          <a:p>
            <a:pPr marL="401638" indent="-401638" eaLnBrk="1" hangingPunct="1">
              <a:buSzPct val="100000"/>
              <a:buFont typeface="Arial" pitchFamily="34" charset="0"/>
              <a:buChar char="●"/>
              <a:defRPr/>
            </a:pPr>
            <a:r>
              <a:rPr lang="en-GB" sz="2000" dirty="0">
                <a:solidFill>
                  <a:srgbClr val="002060"/>
                </a:solidFill>
                <a:latin typeface="Arial" charset="0"/>
                <a:cs typeface="Arial" charset="0"/>
              </a:rPr>
              <a:t>Every DNA bond that is broken is   resealed by the </a:t>
            </a:r>
            <a:r>
              <a:rPr lang="en-GB" sz="2000" dirty="0" err="1">
                <a:solidFill>
                  <a:srgbClr val="002060"/>
                </a:solidFill>
                <a:latin typeface="Arial" charset="0"/>
                <a:cs typeface="Arial" charset="0"/>
              </a:rPr>
              <a:t>recombinase</a:t>
            </a:r>
            <a:r>
              <a:rPr lang="en-GB" sz="2000" dirty="0">
                <a:solidFill>
                  <a:srgbClr val="7030A0"/>
                </a:solidFill>
                <a:latin typeface="Arial" charset="0"/>
                <a:cs typeface="Arial" charset="0"/>
              </a:rPr>
              <a:t>.</a:t>
            </a:r>
            <a:endParaRPr lang="en-GB" sz="2400" dirty="0">
              <a:solidFill>
                <a:srgbClr val="7030A0"/>
              </a:solidFill>
              <a:latin typeface="Arial" charset="0"/>
              <a:cs typeface="Arial"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a:extLst>
              <a:ext uri="{FF2B5EF4-FFF2-40B4-BE49-F238E27FC236}">
                <a16:creationId xmlns:a16="http://schemas.microsoft.com/office/drawing/2014/main" id="{D4937174-00B6-C34B-0E6D-EDCD74285AF0}"/>
              </a:ext>
            </a:extLst>
          </p:cNvPr>
          <p:cNvSpPr>
            <a:spLocks noGrp="1" noChangeArrowheads="1"/>
          </p:cNvSpPr>
          <p:nvPr>
            <p:ph type="ctrTitle" idx="4294967295"/>
          </p:nvPr>
        </p:nvSpPr>
        <p:spPr>
          <a:xfrm>
            <a:off x="20638" y="0"/>
            <a:ext cx="6016625" cy="304800"/>
          </a:xfrm>
          <a:extLst>
            <a:ext uri="{91240B29-F687-4F45-9708-019B960494DF}">
              <a14:hiddenLine xmlns:a14="http://schemas.microsoft.com/office/drawing/2010/main" w="3175">
                <a:solidFill>
                  <a:srgbClr val="000000"/>
                </a:solidFill>
                <a:miter lim="800000"/>
                <a:headEnd/>
                <a:tailEnd/>
              </a14:hiddenLine>
            </a:ext>
          </a:extLst>
        </p:spPr>
        <p:txBody>
          <a:bodyPr/>
          <a:lstStyle/>
          <a:p>
            <a:pPr algn="l" eaLnBrk="1" hangingPunct="1"/>
            <a:r>
              <a:rPr lang="en-US" altLang="en-US" sz="1200">
                <a:latin typeface="Arial" panose="020B0604020202020204" pitchFamily="34" charset="0"/>
              </a:rPr>
              <a:t>Table 12-1</a:t>
            </a:r>
          </a:p>
        </p:txBody>
      </p:sp>
      <p:pic>
        <p:nvPicPr>
          <p:cNvPr id="25603" name="Picture 3" descr="12_01Table-L">
            <a:extLst>
              <a:ext uri="{FF2B5EF4-FFF2-40B4-BE49-F238E27FC236}">
                <a16:creationId xmlns:a16="http://schemas.microsoft.com/office/drawing/2014/main" id="{B945D6AC-1A21-E276-9C24-AADA3CE49F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496"/>
          <a:stretch>
            <a:fillRect/>
          </a:stretch>
        </p:blipFill>
        <p:spPr bwMode="auto">
          <a:xfrm>
            <a:off x="149225" y="273050"/>
            <a:ext cx="8842375" cy="615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0D05A645-909A-B911-2FF2-FA5134EE5A8A}"/>
              </a:ext>
            </a:extLst>
          </p:cNvPr>
          <p:cNvSpPr>
            <a:spLocks noGrp="1" noChangeArrowheads="1"/>
          </p:cNvSpPr>
          <p:nvPr>
            <p:ph type="title"/>
          </p:nvPr>
        </p:nvSpPr>
        <p:spPr>
          <a:xfrm>
            <a:off x="0" y="115888"/>
            <a:ext cx="3348038" cy="1728787"/>
          </a:xfrm>
        </p:spPr>
        <p:txBody>
          <a:bodyPr/>
          <a:lstStyle/>
          <a:p>
            <a:pPr algn="l" eaLnBrk="1" hangingPunct="1"/>
            <a:r>
              <a:rPr lang="en-US" altLang="en-US" sz="2800" b="1">
                <a:solidFill>
                  <a:srgbClr val="C00000"/>
                </a:solidFill>
              </a:rPr>
              <a:t>Serine Recombinases</a:t>
            </a:r>
            <a:br>
              <a:rPr lang="en-US" altLang="en-US" sz="2400">
                <a:solidFill>
                  <a:srgbClr val="0000FF"/>
                </a:solidFill>
              </a:rPr>
            </a:br>
            <a:r>
              <a:rPr lang="en-US" altLang="en-US" sz="2400">
                <a:solidFill>
                  <a:srgbClr val="0000FF"/>
                </a:solidFill>
              </a:rPr>
              <a:t>introduce DSB in DNA then swap strands to promote recombination</a:t>
            </a:r>
          </a:p>
        </p:txBody>
      </p:sp>
      <p:pic>
        <p:nvPicPr>
          <p:cNvPr id="27651" name="Picture 4" descr="H:\Amjad Courses\BT451\Molecular Biology of the Gene images\watson_mm_jpg_chap011\chap011\11_Figure06.jpg">
            <a:extLst>
              <a:ext uri="{FF2B5EF4-FFF2-40B4-BE49-F238E27FC236}">
                <a16:creationId xmlns:a16="http://schemas.microsoft.com/office/drawing/2014/main" id="{5C488D74-C7D8-2F8F-9936-D31B7540EB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7538" y="115888"/>
            <a:ext cx="4065587" cy="658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8" name="TextBox 6">
            <a:extLst>
              <a:ext uri="{FF2B5EF4-FFF2-40B4-BE49-F238E27FC236}">
                <a16:creationId xmlns:a16="http://schemas.microsoft.com/office/drawing/2014/main" id="{81DF121A-0F51-C464-6671-C24920B0942A}"/>
              </a:ext>
            </a:extLst>
          </p:cNvPr>
          <p:cNvSpPr txBox="1">
            <a:spLocks noChangeArrowheads="1"/>
          </p:cNvSpPr>
          <p:nvPr/>
        </p:nvSpPr>
        <p:spPr bwMode="auto">
          <a:xfrm>
            <a:off x="900113" y="2454275"/>
            <a:ext cx="2592387" cy="830263"/>
          </a:xfrm>
          <a:prstGeom prst="rect">
            <a:avLst/>
          </a:prstGeom>
          <a:solidFill>
            <a:schemeClr val="accent6">
              <a:lumMod val="20000"/>
              <a:lumOff val="80000"/>
            </a:schemeClr>
          </a:solidFill>
          <a:ln>
            <a:noFill/>
          </a:ln>
        </p:spPr>
        <p:txBody>
          <a:bodyPr>
            <a:spAutoFit/>
          </a:bodyPr>
          <a:lstStyle>
            <a:lvl1pPr eaLnBrk="0" hangingPunct="0">
              <a:defRPr>
                <a:solidFill>
                  <a:schemeClr val="tx1"/>
                </a:solidFill>
                <a:latin typeface="Verdana" pitchFamily="34" charset="0"/>
                <a:cs typeface="Arial" charset="0"/>
              </a:defRPr>
            </a:lvl1pPr>
            <a:lvl2pPr marL="742950" indent="-285750" eaLnBrk="0" hangingPunct="0">
              <a:defRPr>
                <a:solidFill>
                  <a:schemeClr val="tx1"/>
                </a:solidFill>
                <a:latin typeface="Verdana" pitchFamily="34" charset="0"/>
                <a:cs typeface="Arial" charset="0"/>
              </a:defRPr>
            </a:lvl2pPr>
            <a:lvl3pPr marL="1143000" indent="-228600" eaLnBrk="0" hangingPunct="0">
              <a:defRPr>
                <a:solidFill>
                  <a:schemeClr val="tx1"/>
                </a:solidFill>
                <a:latin typeface="Verdana" pitchFamily="34" charset="0"/>
                <a:cs typeface="Arial" charset="0"/>
              </a:defRPr>
            </a:lvl3pPr>
            <a:lvl4pPr marL="1600200" indent="-228600" eaLnBrk="0" hangingPunct="0">
              <a:defRPr>
                <a:solidFill>
                  <a:schemeClr val="tx1"/>
                </a:solidFill>
                <a:latin typeface="Verdana" pitchFamily="34" charset="0"/>
                <a:cs typeface="Arial" charset="0"/>
              </a:defRPr>
            </a:lvl4pPr>
            <a:lvl5pPr marL="2057400" indent="-228600" eaLnBrk="0" hangingPunct="0">
              <a:defRPr>
                <a:solidFill>
                  <a:schemeClr val="tx1"/>
                </a:solidFill>
                <a:latin typeface="Verdana" pitchFamily="34" charset="0"/>
                <a:cs typeface="Arial" charset="0"/>
              </a:defRPr>
            </a:lvl5pPr>
            <a:lvl6pPr marL="2514600" indent="-228600" eaLnBrk="0" fontAlgn="base" hangingPunct="0">
              <a:spcBef>
                <a:spcPct val="0"/>
              </a:spcBef>
              <a:spcAft>
                <a:spcPct val="0"/>
              </a:spcAft>
              <a:defRPr>
                <a:solidFill>
                  <a:schemeClr val="tx1"/>
                </a:solidFill>
                <a:latin typeface="Verdana" pitchFamily="34" charset="0"/>
                <a:cs typeface="Arial" charset="0"/>
              </a:defRPr>
            </a:lvl6pPr>
            <a:lvl7pPr marL="2971800" indent="-228600" eaLnBrk="0" fontAlgn="base" hangingPunct="0">
              <a:spcBef>
                <a:spcPct val="0"/>
              </a:spcBef>
              <a:spcAft>
                <a:spcPct val="0"/>
              </a:spcAft>
              <a:defRPr>
                <a:solidFill>
                  <a:schemeClr val="tx1"/>
                </a:solidFill>
                <a:latin typeface="Verdana" pitchFamily="34" charset="0"/>
                <a:cs typeface="Arial" charset="0"/>
              </a:defRPr>
            </a:lvl7pPr>
            <a:lvl8pPr marL="3429000" indent="-228600" eaLnBrk="0" fontAlgn="base" hangingPunct="0">
              <a:spcBef>
                <a:spcPct val="0"/>
              </a:spcBef>
              <a:spcAft>
                <a:spcPct val="0"/>
              </a:spcAft>
              <a:defRPr>
                <a:solidFill>
                  <a:schemeClr val="tx1"/>
                </a:solidFill>
                <a:latin typeface="Verdana" pitchFamily="34" charset="0"/>
                <a:cs typeface="Arial" charset="0"/>
              </a:defRPr>
            </a:lvl8pPr>
            <a:lvl9pPr marL="3886200" indent="-228600" eaLnBrk="0" fontAlgn="base" hangingPunct="0">
              <a:spcBef>
                <a:spcPct val="0"/>
              </a:spcBef>
              <a:spcAft>
                <a:spcPct val="0"/>
              </a:spcAft>
              <a:defRPr>
                <a:solidFill>
                  <a:schemeClr val="tx1"/>
                </a:solidFill>
                <a:latin typeface="Verdana" pitchFamily="34" charset="0"/>
                <a:cs typeface="Arial" charset="0"/>
              </a:defRPr>
            </a:lvl9pPr>
          </a:lstStyle>
          <a:p>
            <a:pPr eaLnBrk="1" hangingPunct="1">
              <a:defRPr/>
            </a:pPr>
            <a:r>
              <a:rPr lang="en-US" sz="2400" b="1" dirty="0"/>
              <a:t>R2 with R3</a:t>
            </a:r>
          </a:p>
          <a:p>
            <a:pPr eaLnBrk="1" hangingPunct="1">
              <a:defRPr/>
            </a:pPr>
            <a:r>
              <a:rPr lang="en-US" sz="2400" b="1" dirty="0"/>
              <a:t>R1 with R4</a:t>
            </a:r>
          </a:p>
        </p:txBody>
      </p:sp>
      <p:sp>
        <p:nvSpPr>
          <p:cNvPr id="16389" name="TextBox 7">
            <a:extLst>
              <a:ext uri="{FF2B5EF4-FFF2-40B4-BE49-F238E27FC236}">
                <a16:creationId xmlns:a16="http://schemas.microsoft.com/office/drawing/2014/main" id="{C682C913-0B79-F3D2-4FAB-B9B2F51B371C}"/>
              </a:ext>
            </a:extLst>
          </p:cNvPr>
          <p:cNvSpPr txBox="1">
            <a:spLocks noChangeArrowheads="1"/>
          </p:cNvSpPr>
          <p:nvPr/>
        </p:nvSpPr>
        <p:spPr bwMode="auto">
          <a:xfrm>
            <a:off x="0" y="4724400"/>
            <a:ext cx="4140200" cy="1201738"/>
          </a:xfrm>
          <a:prstGeom prst="rect">
            <a:avLst/>
          </a:prstGeom>
          <a:solidFill>
            <a:schemeClr val="accent6">
              <a:lumMod val="20000"/>
              <a:lumOff val="80000"/>
            </a:schemeClr>
          </a:solidFill>
          <a:ln>
            <a:noFill/>
          </a:ln>
        </p:spPr>
        <p:txBody>
          <a:bodyPr>
            <a:spAutoFit/>
          </a:bodyPr>
          <a:lstStyle>
            <a:lvl1pPr eaLnBrk="0" hangingPunct="0">
              <a:defRPr>
                <a:solidFill>
                  <a:schemeClr val="tx1"/>
                </a:solidFill>
                <a:latin typeface="Verdana" pitchFamily="34" charset="0"/>
                <a:cs typeface="Arial" charset="0"/>
              </a:defRPr>
            </a:lvl1pPr>
            <a:lvl2pPr marL="742950" indent="-285750" eaLnBrk="0" hangingPunct="0">
              <a:defRPr>
                <a:solidFill>
                  <a:schemeClr val="tx1"/>
                </a:solidFill>
                <a:latin typeface="Verdana" pitchFamily="34" charset="0"/>
                <a:cs typeface="Arial" charset="0"/>
              </a:defRPr>
            </a:lvl2pPr>
            <a:lvl3pPr marL="1143000" indent="-228600" eaLnBrk="0" hangingPunct="0">
              <a:defRPr>
                <a:solidFill>
                  <a:schemeClr val="tx1"/>
                </a:solidFill>
                <a:latin typeface="Verdana" pitchFamily="34" charset="0"/>
                <a:cs typeface="Arial" charset="0"/>
              </a:defRPr>
            </a:lvl3pPr>
            <a:lvl4pPr marL="1600200" indent="-228600" eaLnBrk="0" hangingPunct="0">
              <a:defRPr>
                <a:solidFill>
                  <a:schemeClr val="tx1"/>
                </a:solidFill>
                <a:latin typeface="Verdana" pitchFamily="34" charset="0"/>
                <a:cs typeface="Arial" charset="0"/>
              </a:defRPr>
            </a:lvl4pPr>
            <a:lvl5pPr marL="2057400" indent="-228600" eaLnBrk="0" hangingPunct="0">
              <a:defRPr>
                <a:solidFill>
                  <a:schemeClr val="tx1"/>
                </a:solidFill>
                <a:latin typeface="Verdana" pitchFamily="34" charset="0"/>
                <a:cs typeface="Arial" charset="0"/>
              </a:defRPr>
            </a:lvl5pPr>
            <a:lvl6pPr marL="2514600" indent="-228600" eaLnBrk="0" fontAlgn="base" hangingPunct="0">
              <a:spcBef>
                <a:spcPct val="0"/>
              </a:spcBef>
              <a:spcAft>
                <a:spcPct val="0"/>
              </a:spcAft>
              <a:defRPr>
                <a:solidFill>
                  <a:schemeClr val="tx1"/>
                </a:solidFill>
                <a:latin typeface="Verdana" pitchFamily="34" charset="0"/>
                <a:cs typeface="Arial" charset="0"/>
              </a:defRPr>
            </a:lvl6pPr>
            <a:lvl7pPr marL="2971800" indent="-228600" eaLnBrk="0" fontAlgn="base" hangingPunct="0">
              <a:spcBef>
                <a:spcPct val="0"/>
              </a:spcBef>
              <a:spcAft>
                <a:spcPct val="0"/>
              </a:spcAft>
              <a:defRPr>
                <a:solidFill>
                  <a:schemeClr val="tx1"/>
                </a:solidFill>
                <a:latin typeface="Verdana" pitchFamily="34" charset="0"/>
                <a:cs typeface="Arial" charset="0"/>
              </a:defRPr>
            </a:lvl7pPr>
            <a:lvl8pPr marL="3429000" indent="-228600" eaLnBrk="0" fontAlgn="base" hangingPunct="0">
              <a:spcBef>
                <a:spcPct val="0"/>
              </a:spcBef>
              <a:spcAft>
                <a:spcPct val="0"/>
              </a:spcAft>
              <a:defRPr>
                <a:solidFill>
                  <a:schemeClr val="tx1"/>
                </a:solidFill>
                <a:latin typeface="Verdana" pitchFamily="34" charset="0"/>
                <a:cs typeface="Arial" charset="0"/>
              </a:defRPr>
            </a:lvl8pPr>
            <a:lvl9pPr marL="3886200" indent="-228600" eaLnBrk="0" fontAlgn="base" hangingPunct="0">
              <a:spcBef>
                <a:spcPct val="0"/>
              </a:spcBef>
              <a:spcAft>
                <a:spcPct val="0"/>
              </a:spcAft>
              <a:defRPr>
                <a:solidFill>
                  <a:schemeClr val="tx1"/>
                </a:solidFill>
                <a:latin typeface="Verdana" pitchFamily="34" charset="0"/>
                <a:cs typeface="Arial" charset="0"/>
              </a:defRPr>
            </a:lvl9pPr>
          </a:lstStyle>
          <a:p>
            <a:pPr eaLnBrk="1" hangingPunct="1">
              <a:defRPr/>
            </a:pPr>
            <a:r>
              <a:rPr lang="en-US" dirty="0"/>
              <a:t>The 3’OH ends of each of the cleaved DNA strands can attack the </a:t>
            </a:r>
            <a:r>
              <a:rPr lang="en-US" dirty="0" err="1"/>
              <a:t>recombinase</a:t>
            </a:r>
            <a:r>
              <a:rPr lang="en-US" dirty="0"/>
              <a:t>-DNA bond in their partner segment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7D66F3A6-BDA1-4006-C098-502B735593CC}"/>
              </a:ext>
            </a:extLst>
          </p:cNvPr>
          <p:cNvSpPr>
            <a:spLocks noGrp="1" noChangeArrowheads="1"/>
          </p:cNvSpPr>
          <p:nvPr>
            <p:ph type="title"/>
          </p:nvPr>
        </p:nvSpPr>
        <p:spPr>
          <a:xfrm>
            <a:off x="250825" y="53975"/>
            <a:ext cx="8229600" cy="1143000"/>
          </a:xfrm>
        </p:spPr>
        <p:txBody>
          <a:bodyPr/>
          <a:lstStyle/>
          <a:p>
            <a:pPr algn="l" eaLnBrk="1" hangingPunct="1"/>
            <a:r>
              <a:rPr lang="en-US" altLang="en-US" sz="3600" b="1">
                <a:solidFill>
                  <a:srgbClr val="C00000"/>
                </a:solidFill>
              </a:rPr>
              <a:t>Serine Recombinases</a:t>
            </a:r>
          </a:p>
        </p:txBody>
      </p:sp>
      <p:pic>
        <p:nvPicPr>
          <p:cNvPr id="29699" name="Picture 3">
            <a:extLst>
              <a:ext uri="{FF2B5EF4-FFF2-40B4-BE49-F238E27FC236}">
                <a16:creationId xmlns:a16="http://schemas.microsoft.com/office/drawing/2014/main" id="{D3D079E9-6EF6-69EC-7F36-C74DE1ED3E8E}"/>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5754688" y="1628775"/>
            <a:ext cx="3035300" cy="3556000"/>
          </a:xfrm>
        </p:spPr>
      </p:pic>
      <p:sp>
        <p:nvSpPr>
          <p:cNvPr id="227333" name="AutoShape 5">
            <a:extLst>
              <a:ext uri="{FF2B5EF4-FFF2-40B4-BE49-F238E27FC236}">
                <a16:creationId xmlns:a16="http://schemas.microsoft.com/office/drawing/2014/main" id="{51458401-4603-C131-C30E-521807BFBF98}"/>
              </a:ext>
            </a:extLst>
          </p:cNvPr>
          <p:cNvSpPr>
            <a:spLocks noChangeArrowheads="1"/>
          </p:cNvSpPr>
          <p:nvPr/>
        </p:nvSpPr>
        <p:spPr bwMode="auto">
          <a:xfrm>
            <a:off x="6300788" y="3141663"/>
            <a:ext cx="2087562" cy="612775"/>
          </a:xfrm>
          <a:prstGeom prst="curvedLeftArrow">
            <a:avLst>
              <a:gd name="adj1" fmla="val 20000"/>
              <a:gd name="adj2" fmla="val 40000"/>
              <a:gd name="adj3" fmla="val 92897"/>
            </a:avLst>
          </a:prstGeom>
          <a:solidFill>
            <a:schemeClr val="accent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Verdana" panose="020B0604030504040204" pitchFamily="34" charset="0"/>
            </a:endParaRPr>
          </a:p>
        </p:txBody>
      </p:sp>
      <p:pic>
        <p:nvPicPr>
          <p:cNvPr id="29701" name="Picture 3" descr="12_07Figure-L">
            <a:extLst>
              <a:ext uri="{FF2B5EF4-FFF2-40B4-BE49-F238E27FC236}">
                <a16:creationId xmlns:a16="http://schemas.microsoft.com/office/drawing/2014/main" id="{D55D69E3-2194-EA2F-9742-539401A774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2483"/>
          <a:stretch>
            <a:fillRect/>
          </a:stretch>
        </p:blipFill>
        <p:spPr bwMode="auto">
          <a:xfrm>
            <a:off x="539750" y="981075"/>
            <a:ext cx="5111750" cy="554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nodeType="clickEffect">
                                  <p:stCondLst>
                                    <p:cond delay="0"/>
                                  </p:stCondLst>
                                  <p:childTnLst>
                                    <p:set>
                                      <p:cBhvr>
                                        <p:cTn id="6" dur="1" fill="hold">
                                          <p:stCondLst>
                                            <p:cond delay="0"/>
                                          </p:stCondLst>
                                        </p:cTn>
                                        <p:tgtEl>
                                          <p:spTgt spid="227333"/>
                                        </p:tgtEl>
                                        <p:attrNameLst>
                                          <p:attrName>style.visibility</p:attrName>
                                        </p:attrNameLst>
                                      </p:cBhvr>
                                      <p:to>
                                        <p:strVal val="visible"/>
                                      </p:to>
                                    </p:set>
                                    <p:animEffect transition="in" filter="wheel(4)">
                                      <p:cBhvr>
                                        <p:cTn id="7" dur="500"/>
                                        <p:tgtEl>
                                          <p:spTgt spid="2273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3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a:extLst>
              <a:ext uri="{FF2B5EF4-FFF2-40B4-BE49-F238E27FC236}">
                <a16:creationId xmlns:a16="http://schemas.microsoft.com/office/drawing/2014/main" id="{049BAACA-9D34-9AE1-DA2D-94F2FBD9D8D6}"/>
              </a:ext>
            </a:extLst>
          </p:cNvPr>
          <p:cNvSpPr>
            <a:spLocks noGrp="1" noChangeArrowheads="1"/>
          </p:cNvSpPr>
          <p:nvPr>
            <p:ph type="title"/>
          </p:nvPr>
        </p:nvSpPr>
        <p:spPr>
          <a:xfrm>
            <a:off x="179388" y="1125538"/>
            <a:ext cx="4140200" cy="1870075"/>
          </a:xfrm>
        </p:spPr>
        <p:txBody>
          <a:bodyPr rtlCol="0">
            <a:normAutofit fontScale="90000"/>
          </a:bodyPr>
          <a:lstStyle/>
          <a:p>
            <a:pPr algn="l" eaLnBrk="1" fontAlgn="auto" hangingPunct="1">
              <a:spcAft>
                <a:spcPts val="0"/>
              </a:spcAft>
              <a:defRPr/>
            </a:pPr>
            <a:r>
              <a:rPr lang="en-US" sz="3100" b="1" dirty="0">
                <a:solidFill>
                  <a:srgbClr val="7030A0"/>
                </a:solidFill>
              </a:rPr>
              <a:t>Tyrosine Recombinases </a:t>
            </a:r>
            <a:br>
              <a:rPr lang="en-US" sz="2800" b="1" dirty="0">
                <a:solidFill>
                  <a:srgbClr val="7030A0"/>
                </a:solidFill>
              </a:rPr>
            </a:br>
            <a:r>
              <a:rPr lang="en-US" sz="2800" b="1" dirty="0">
                <a:solidFill>
                  <a:srgbClr val="0000FF"/>
                </a:solidFill>
              </a:rPr>
              <a:t>break and rejoin one pair of DNA strands at time to form </a:t>
            </a:r>
            <a:r>
              <a:rPr lang="en-US" sz="2800" b="1" dirty="0" err="1">
                <a:solidFill>
                  <a:srgbClr val="0000FF"/>
                </a:solidFill>
              </a:rPr>
              <a:t>heterodulpex</a:t>
            </a:r>
            <a:r>
              <a:rPr lang="en-US" sz="2800" b="1" dirty="0">
                <a:solidFill>
                  <a:srgbClr val="0000FF"/>
                </a:solidFill>
              </a:rPr>
              <a:t> and Holiday junction.</a:t>
            </a:r>
          </a:p>
        </p:txBody>
      </p:sp>
      <p:pic>
        <p:nvPicPr>
          <p:cNvPr id="31747" name="Picture 4" descr="H:\Amjad Courses\BT451\Molecular Biology of the Gene images\watson_mm_jpg_chap011\chap011\11_Figure08.jpg">
            <a:extLst>
              <a:ext uri="{FF2B5EF4-FFF2-40B4-BE49-F238E27FC236}">
                <a16:creationId xmlns:a16="http://schemas.microsoft.com/office/drawing/2014/main" id="{1E20F972-AE3B-9CDC-E7E3-D709043F5A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37088" y="230188"/>
            <a:ext cx="3895725" cy="658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68976172-4D31-3310-9C1A-40D3E81249B5}"/>
              </a:ext>
            </a:extLst>
          </p:cNvPr>
          <p:cNvSpPr>
            <a:spLocks noGrp="1"/>
          </p:cNvSpPr>
          <p:nvPr>
            <p:ph type="title"/>
          </p:nvPr>
        </p:nvSpPr>
        <p:spPr>
          <a:xfrm>
            <a:off x="107950" y="274638"/>
            <a:ext cx="8928100" cy="850900"/>
          </a:xfrm>
          <a:solidFill>
            <a:schemeClr val="accent3">
              <a:lumMod val="20000"/>
              <a:lumOff val="80000"/>
            </a:schemeClr>
          </a:solidFill>
        </p:spPr>
        <p:txBody>
          <a:bodyPr/>
          <a:lstStyle/>
          <a:p>
            <a:pPr>
              <a:defRPr/>
            </a:pPr>
            <a:r>
              <a:rPr lang="en-US" altLang="en-US" sz="4000" b="1" dirty="0">
                <a:solidFill>
                  <a:srgbClr val="0000FF"/>
                </a:solidFill>
              </a:rPr>
              <a:t>Tyrosine Recombinase </a:t>
            </a:r>
            <a:r>
              <a:rPr lang="en-US" altLang="en-US" sz="4000" dirty="0"/>
              <a:t>: </a:t>
            </a:r>
            <a:r>
              <a:rPr lang="en-US" altLang="en-US" sz="4000" b="1" dirty="0" err="1">
                <a:solidFill>
                  <a:srgbClr val="C00000"/>
                </a:solidFill>
              </a:rPr>
              <a:t>Cre</a:t>
            </a:r>
            <a:r>
              <a:rPr lang="en-US" altLang="en-US" sz="4000" b="1" dirty="0">
                <a:solidFill>
                  <a:srgbClr val="C00000"/>
                </a:solidFill>
              </a:rPr>
              <a:t> Recombinase </a:t>
            </a:r>
          </a:p>
        </p:txBody>
      </p:sp>
      <p:sp>
        <p:nvSpPr>
          <p:cNvPr id="33795" name="Content Placeholder 2">
            <a:extLst>
              <a:ext uri="{FF2B5EF4-FFF2-40B4-BE49-F238E27FC236}">
                <a16:creationId xmlns:a16="http://schemas.microsoft.com/office/drawing/2014/main" id="{B0E395BD-959A-F222-207D-23AA4967AF05}"/>
              </a:ext>
            </a:extLst>
          </p:cNvPr>
          <p:cNvSpPr>
            <a:spLocks noGrp="1"/>
          </p:cNvSpPr>
          <p:nvPr>
            <p:ph idx="1"/>
          </p:nvPr>
        </p:nvSpPr>
        <p:spPr>
          <a:xfrm>
            <a:off x="250825" y="1341438"/>
            <a:ext cx="8435975" cy="4824412"/>
          </a:xfrm>
        </p:spPr>
        <p:txBody>
          <a:bodyPr/>
          <a:lstStyle/>
          <a:p>
            <a:r>
              <a:rPr lang="en-US" altLang="en-US" sz="2800" b="1">
                <a:solidFill>
                  <a:srgbClr val="C00000"/>
                </a:solidFill>
              </a:rPr>
              <a:t>Cre</a:t>
            </a:r>
            <a:r>
              <a:rPr lang="en-US" altLang="en-US" sz="2800">
                <a:solidFill>
                  <a:srgbClr val="C00000"/>
                </a:solidFill>
              </a:rPr>
              <a:t> </a:t>
            </a:r>
            <a:r>
              <a:rPr lang="en-US" altLang="en-US" sz="2800"/>
              <a:t>is an enzyme encoded by </a:t>
            </a:r>
            <a:r>
              <a:rPr lang="en-US" altLang="en-US" sz="2800" b="1"/>
              <a:t>phage P1</a:t>
            </a:r>
            <a:r>
              <a:rPr lang="en-US" altLang="en-US" sz="2800"/>
              <a:t>, which functions to circularize the linear phage genome during infection.</a:t>
            </a:r>
          </a:p>
          <a:p>
            <a:r>
              <a:rPr lang="en-US" altLang="en-US" sz="2800"/>
              <a:t>The recombination sites on the DNA, where </a:t>
            </a:r>
            <a:r>
              <a:rPr lang="en-US" altLang="en-US" sz="2800" b="1">
                <a:solidFill>
                  <a:srgbClr val="C00000"/>
                </a:solidFill>
              </a:rPr>
              <a:t>Cre</a:t>
            </a:r>
            <a:r>
              <a:rPr lang="en-US" altLang="en-US" sz="2800">
                <a:solidFill>
                  <a:srgbClr val="C00000"/>
                </a:solidFill>
              </a:rPr>
              <a:t> </a:t>
            </a:r>
            <a:r>
              <a:rPr lang="en-US" altLang="en-US" sz="2800"/>
              <a:t>acts, are called </a:t>
            </a:r>
            <a:r>
              <a:rPr lang="en-US" altLang="en-US" sz="2800" b="1" i="1">
                <a:solidFill>
                  <a:srgbClr val="C00000"/>
                </a:solidFill>
              </a:rPr>
              <a:t>lox</a:t>
            </a:r>
            <a:r>
              <a:rPr lang="en-US" altLang="en-US" sz="2800"/>
              <a:t> sites. </a:t>
            </a:r>
          </a:p>
          <a:p>
            <a:r>
              <a:rPr lang="en-US" altLang="en-US" sz="2800" b="1">
                <a:solidFill>
                  <a:srgbClr val="C00000"/>
                </a:solidFill>
              </a:rPr>
              <a:t>Cre–</a:t>
            </a:r>
            <a:r>
              <a:rPr lang="en-US" altLang="en-US" sz="2800" b="1" i="1">
                <a:solidFill>
                  <a:srgbClr val="C00000"/>
                </a:solidFill>
              </a:rPr>
              <a:t>lox</a:t>
            </a:r>
            <a:r>
              <a:rPr lang="en-US" altLang="en-US" sz="2800">
                <a:solidFill>
                  <a:srgbClr val="C00000"/>
                </a:solidFill>
              </a:rPr>
              <a:t> </a:t>
            </a:r>
            <a:r>
              <a:rPr lang="en-US" altLang="en-US" sz="2800"/>
              <a:t>is a simple example of recombination by the </a:t>
            </a:r>
            <a:r>
              <a:rPr lang="en-US" altLang="en-US" sz="2800" b="1">
                <a:solidFill>
                  <a:srgbClr val="0000FF"/>
                </a:solidFill>
              </a:rPr>
              <a:t>tyrosine recombinase</a:t>
            </a:r>
            <a:r>
              <a:rPr lang="en-US" altLang="en-US" sz="2800"/>
              <a:t> family.</a:t>
            </a:r>
          </a:p>
          <a:p>
            <a:r>
              <a:rPr lang="en-US" altLang="en-US" sz="2800" b="1">
                <a:solidFill>
                  <a:srgbClr val="FF0000"/>
                </a:solidFill>
              </a:rPr>
              <a:t>Only Cre protein and the </a:t>
            </a:r>
            <a:r>
              <a:rPr lang="en-US" altLang="en-US" sz="2800" b="1" i="1">
                <a:solidFill>
                  <a:srgbClr val="FF0000"/>
                </a:solidFill>
              </a:rPr>
              <a:t>lox</a:t>
            </a:r>
            <a:r>
              <a:rPr lang="en-US" altLang="en-US" sz="2800" b="1">
                <a:solidFill>
                  <a:srgbClr val="FF0000"/>
                </a:solidFill>
              </a:rPr>
              <a:t> sites are needed for complete recombination. </a:t>
            </a:r>
          </a:p>
          <a:p>
            <a:r>
              <a:rPr lang="en-US" altLang="en-US" sz="2800"/>
              <a:t>Cre is also widely used as a tool in genetic engineering.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Content Placeholder 2">
            <a:extLst>
              <a:ext uri="{FF2B5EF4-FFF2-40B4-BE49-F238E27FC236}">
                <a16:creationId xmlns:a16="http://schemas.microsoft.com/office/drawing/2014/main" id="{DE2C4587-5022-8F08-7FBA-1278CEC61088}"/>
              </a:ext>
            </a:extLst>
          </p:cNvPr>
          <p:cNvSpPr>
            <a:spLocks noGrp="1"/>
          </p:cNvSpPr>
          <p:nvPr>
            <p:ph idx="1"/>
          </p:nvPr>
        </p:nvSpPr>
        <p:spPr>
          <a:xfrm>
            <a:off x="250825" y="404813"/>
            <a:ext cx="8642350" cy="6192837"/>
          </a:xfrm>
        </p:spPr>
        <p:txBody>
          <a:bodyPr/>
          <a:lstStyle/>
          <a:p>
            <a:r>
              <a:rPr lang="en-US" altLang="en-US" sz="2800"/>
              <a:t>The </a:t>
            </a:r>
            <a:r>
              <a:rPr lang="en-US" altLang="en-US" sz="2800" b="1">
                <a:solidFill>
                  <a:srgbClr val="C00000"/>
                </a:solidFill>
              </a:rPr>
              <a:t>Cre–</a:t>
            </a:r>
            <a:r>
              <a:rPr lang="en-US" altLang="en-US" sz="2800" b="1" i="1">
                <a:solidFill>
                  <a:srgbClr val="C00000"/>
                </a:solidFill>
              </a:rPr>
              <a:t>lox</a:t>
            </a:r>
            <a:r>
              <a:rPr lang="en-US" altLang="en-US" sz="2800"/>
              <a:t> structures reveal that recombination requires four subunits of </a:t>
            </a:r>
            <a:r>
              <a:rPr lang="en-US" altLang="en-US" sz="2800" b="1">
                <a:solidFill>
                  <a:srgbClr val="C00000"/>
                </a:solidFill>
              </a:rPr>
              <a:t>Cre</a:t>
            </a:r>
            <a:r>
              <a:rPr lang="en-US" altLang="en-US" sz="2800"/>
              <a:t>, with each molecule bound to one binding site on the substrate DNA molecules.</a:t>
            </a:r>
          </a:p>
          <a:p>
            <a:r>
              <a:rPr lang="en-US" altLang="en-US" sz="2800"/>
              <a:t>The conformation of the DNA is generally a square planar four-way junction (holiday junction) with each “arm” of this junction bound by one subunit of </a:t>
            </a:r>
            <a:r>
              <a:rPr lang="en-US" altLang="en-US" sz="2800" b="1">
                <a:solidFill>
                  <a:srgbClr val="C00000"/>
                </a:solidFill>
              </a:rPr>
              <a:t>Cre</a:t>
            </a:r>
            <a:r>
              <a:rPr lang="en-US" altLang="en-US" sz="2800"/>
              <a:t>.</a:t>
            </a:r>
          </a:p>
          <a:p>
            <a:r>
              <a:rPr lang="en-US" altLang="en-US" sz="2800">
                <a:solidFill>
                  <a:srgbClr val="0000FF"/>
                </a:solidFill>
              </a:rPr>
              <a:t>The pair of subunits in this active conformation switches as the reaction progresses</a:t>
            </a:r>
            <a:r>
              <a:rPr lang="en-US" altLang="en-US" sz="2800"/>
              <a:t>. </a:t>
            </a:r>
          </a:p>
          <a:p>
            <a:r>
              <a:rPr lang="en-US" altLang="en-US" sz="2800">
                <a:solidFill>
                  <a:srgbClr val="0000FF"/>
                </a:solidFill>
              </a:rPr>
              <a:t>This switching is critical for controlling the progress of recombination and ensuring the sequential “one strand at a time” exchange mechanism.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3">
            <a:extLst>
              <a:ext uri="{FF2B5EF4-FFF2-40B4-BE49-F238E27FC236}">
                <a16:creationId xmlns:a16="http://schemas.microsoft.com/office/drawing/2014/main" id="{E3B7C27B-F9FC-3D2E-17F5-F21D81C29D59}"/>
              </a:ext>
            </a:extLst>
          </p:cNvPr>
          <p:cNvSpPr>
            <a:spLocks noGrp="1" noChangeArrowheads="1"/>
          </p:cNvSpPr>
          <p:nvPr>
            <p:ph type="ctrTitle" idx="4294967295"/>
          </p:nvPr>
        </p:nvSpPr>
        <p:spPr bwMode="auto">
          <a:xfrm>
            <a:off x="20638" y="0"/>
            <a:ext cx="6016625"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lstStyle/>
          <a:p>
            <a:pPr algn="l" eaLnBrk="1" hangingPunct="1"/>
            <a:r>
              <a:rPr lang="en-US" altLang="en-US" sz="1200">
                <a:latin typeface="Arial" panose="020B0604020202020204" pitchFamily="34" charset="0"/>
                <a:ea typeface="ＭＳ Ｐゴシック" panose="020B0600070205080204" pitchFamily="34" charset="-128"/>
              </a:rPr>
              <a:t>Figure 12-9</a:t>
            </a:r>
          </a:p>
        </p:txBody>
      </p:sp>
      <p:pic>
        <p:nvPicPr>
          <p:cNvPr id="35843" name="Picture 3" descr="12_09Figure-L">
            <a:extLst>
              <a:ext uri="{FF2B5EF4-FFF2-40B4-BE49-F238E27FC236}">
                <a16:creationId xmlns:a16="http://schemas.microsoft.com/office/drawing/2014/main" id="{A7212579-EF2C-25DC-E536-5C949691D7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266"/>
          <a:stretch>
            <a:fillRect/>
          </a:stretch>
        </p:blipFill>
        <p:spPr bwMode="auto">
          <a:xfrm>
            <a:off x="1255713" y="82550"/>
            <a:ext cx="6269037" cy="665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570BF838-F3AA-2606-1083-98ED581449D6}"/>
              </a:ext>
            </a:extLst>
          </p:cNvPr>
          <p:cNvSpPr/>
          <p:nvPr/>
        </p:nvSpPr>
        <p:spPr>
          <a:xfrm>
            <a:off x="3995738" y="3411538"/>
            <a:ext cx="4910137" cy="2862262"/>
          </a:xfrm>
          <a:prstGeom prst="rect">
            <a:avLst/>
          </a:prstGeom>
          <a:solidFill>
            <a:schemeClr val="accent5"/>
          </a:solidFill>
        </p:spPr>
        <p:txBody>
          <a:bodyPr>
            <a:spAutoFit/>
          </a:bodyPr>
          <a:lstStyle/>
          <a:p>
            <a:pPr>
              <a:defRPr/>
            </a:pPr>
            <a:r>
              <a:rPr lang="en-US" sz="2000" b="1" dirty="0">
                <a:solidFill>
                  <a:srgbClr val="0000FF"/>
                </a:solidFill>
                <a:latin typeface="Arial" panose="020B0604020202020204" pitchFamily="34" charset="0"/>
                <a:ea typeface="ＭＳ Ｐゴシック" pitchFamily="-32" charset="-128"/>
              </a:rPr>
              <a:t>Mechanism of site-specific recombination by the </a:t>
            </a:r>
            <a:r>
              <a:rPr lang="en-US" sz="2000" b="1" dirty="0" err="1">
                <a:solidFill>
                  <a:srgbClr val="0000FF"/>
                </a:solidFill>
                <a:latin typeface="Arial" panose="020B0604020202020204" pitchFamily="34" charset="0"/>
                <a:ea typeface="ＭＳ Ｐゴシック" pitchFamily="-32" charset="-128"/>
              </a:rPr>
              <a:t>Cre</a:t>
            </a:r>
            <a:r>
              <a:rPr lang="en-US" sz="2000" b="1" dirty="0">
                <a:solidFill>
                  <a:srgbClr val="0000FF"/>
                </a:solidFill>
                <a:latin typeface="Arial" panose="020B0604020202020204" pitchFamily="34" charset="0"/>
                <a:ea typeface="ＭＳ Ｐゴシック" pitchFamily="-32" charset="-128"/>
              </a:rPr>
              <a:t> recombinase. </a:t>
            </a:r>
          </a:p>
          <a:p>
            <a:pPr marL="457200" indent="-457200">
              <a:buFontTx/>
              <a:buAutoNum type="alphaLcParenBoth"/>
              <a:defRPr/>
            </a:pPr>
            <a:r>
              <a:rPr lang="en-US" sz="2000" dirty="0">
                <a:solidFill>
                  <a:srgbClr val="000000"/>
                </a:solidFill>
                <a:latin typeface="Arial" panose="020B0604020202020204" pitchFamily="34" charset="0"/>
                <a:ea typeface="ＭＳ Ｐゴシック" pitchFamily="-32" charset="-128"/>
              </a:rPr>
              <a:t>The series of intermediate </a:t>
            </a:r>
            <a:r>
              <a:rPr lang="en-US" sz="2000" b="1" dirty="0" err="1">
                <a:solidFill>
                  <a:srgbClr val="C00000"/>
                </a:solidFill>
                <a:latin typeface="Arial" panose="020B0604020202020204" pitchFamily="34" charset="0"/>
                <a:ea typeface="ＭＳ Ｐゴシック" pitchFamily="-32" charset="-128"/>
              </a:rPr>
              <a:t>Cre</a:t>
            </a:r>
            <a:r>
              <a:rPr lang="en-US" sz="2000" dirty="0">
                <a:solidFill>
                  <a:srgbClr val="000000"/>
                </a:solidFill>
                <a:latin typeface="Arial" panose="020B0604020202020204" pitchFamily="34" charset="0"/>
                <a:ea typeface="ＭＳ Ｐゴシック" pitchFamily="-32" charset="-128"/>
              </a:rPr>
              <a:t>–DNA structures that reflect the sequential “one strand at a time” mechanism of exchange.</a:t>
            </a:r>
          </a:p>
          <a:p>
            <a:pPr>
              <a:defRPr/>
            </a:pPr>
            <a:r>
              <a:rPr lang="en-US" sz="2000" dirty="0">
                <a:solidFill>
                  <a:srgbClr val="000000"/>
                </a:solidFill>
                <a:latin typeface="Arial" panose="020B0604020202020204" pitchFamily="34" charset="0"/>
                <a:ea typeface="ＭＳ Ｐゴシック" pitchFamily="-32" charset="-128"/>
              </a:rPr>
              <a:t> (b)  The crystal structure of </a:t>
            </a:r>
            <a:r>
              <a:rPr lang="en-US" sz="2000" b="1" dirty="0" err="1">
                <a:solidFill>
                  <a:srgbClr val="C00000"/>
                </a:solidFill>
                <a:latin typeface="Arial" panose="020B0604020202020204" pitchFamily="34" charset="0"/>
                <a:ea typeface="ＭＳ Ｐゴシック" pitchFamily="-32" charset="-128"/>
              </a:rPr>
              <a:t>Cre</a:t>
            </a:r>
            <a:r>
              <a:rPr lang="en-US" sz="2000" dirty="0">
                <a:solidFill>
                  <a:srgbClr val="C00000"/>
                </a:solidFill>
                <a:latin typeface="Arial" panose="020B0604020202020204" pitchFamily="34" charset="0"/>
                <a:ea typeface="ＭＳ Ｐゴシック" pitchFamily="-32" charset="-128"/>
              </a:rPr>
              <a:t> </a:t>
            </a:r>
            <a:r>
              <a:rPr lang="en-US" sz="2000" dirty="0">
                <a:solidFill>
                  <a:srgbClr val="000000"/>
                </a:solidFill>
                <a:latin typeface="Arial" panose="020B0604020202020204" pitchFamily="34" charset="0"/>
                <a:ea typeface="ＭＳ Ｐゴシック" pitchFamily="-32" charset="-128"/>
              </a:rPr>
              <a:t>bound       to the Holliday junction intermediate.</a:t>
            </a:r>
            <a:endParaRPr lang="en-US" sz="2000" b="1" dirty="0">
              <a:solidFill>
                <a:srgbClr val="000000"/>
              </a:solidFill>
              <a:latin typeface="Arial" panose="020B0604020202020204" pitchFamily="34" charset="0"/>
              <a:ea typeface="ＭＳ Ｐゴシック" pitchFamily="-32" charset="-128"/>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5B1909AD-ECF2-2194-45D0-ADAE7599737E}"/>
              </a:ext>
            </a:extLst>
          </p:cNvPr>
          <p:cNvSpPr>
            <a:spLocks noGrp="1" noChangeArrowheads="1"/>
          </p:cNvSpPr>
          <p:nvPr>
            <p:ph type="ctrTitle"/>
          </p:nvPr>
        </p:nvSpPr>
        <p:spPr/>
        <p:txBody>
          <a:bodyPr/>
          <a:lstStyle/>
          <a:p>
            <a:pPr eaLnBrk="1" hangingPunct="1"/>
            <a:r>
              <a:rPr lang="en-GB" altLang="en-US" b="1">
                <a:solidFill>
                  <a:srgbClr val="C00000"/>
                </a:solidFill>
              </a:rPr>
              <a:t>Biological Roles of Site Specific Recombination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6257A668-E83F-EC57-426E-D4ED7BAB3CC0}"/>
              </a:ext>
            </a:extLst>
          </p:cNvPr>
          <p:cNvSpPr>
            <a:spLocks noGrp="1" noChangeArrowheads="1"/>
          </p:cNvSpPr>
          <p:nvPr>
            <p:ph type="title"/>
          </p:nvPr>
        </p:nvSpPr>
        <p:spPr/>
        <p:txBody>
          <a:bodyPr rtlCol="0">
            <a:normAutofit fontScale="90000"/>
          </a:bodyPr>
          <a:lstStyle/>
          <a:p>
            <a:pPr eaLnBrk="1" fontAlgn="auto" hangingPunct="1">
              <a:spcAft>
                <a:spcPts val="0"/>
              </a:spcAft>
              <a:defRPr/>
            </a:pPr>
            <a:r>
              <a:rPr lang="en-GB" sz="4000" b="1" dirty="0">
                <a:solidFill>
                  <a:srgbClr val="0000FF"/>
                </a:solidFill>
              </a:rPr>
              <a:t>Conservative Site Specific Recombination</a:t>
            </a:r>
          </a:p>
        </p:txBody>
      </p:sp>
      <p:sp>
        <p:nvSpPr>
          <p:cNvPr id="9219" name="Rectangle 3">
            <a:extLst>
              <a:ext uri="{FF2B5EF4-FFF2-40B4-BE49-F238E27FC236}">
                <a16:creationId xmlns:a16="http://schemas.microsoft.com/office/drawing/2014/main" id="{AC021C00-2E02-6481-C810-0877F7981319}"/>
              </a:ext>
            </a:extLst>
          </p:cNvPr>
          <p:cNvSpPr>
            <a:spLocks noGrp="1" noChangeArrowheads="1"/>
          </p:cNvSpPr>
          <p:nvPr>
            <p:ph idx="1"/>
          </p:nvPr>
        </p:nvSpPr>
        <p:spPr>
          <a:xfrm>
            <a:off x="125413" y="1628775"/>
            <a:ext cx="8893175" cy="4530725"/>
          </a:xfrm>
        </p:spPr>
        <p:txBody>
          <a:bodyPr rtlCol="0">
            <a:normAutofit fontScale="92500"/>
          </a:bodyPr>
          <a:lstStyle/>
          <a:p>
            <a:pPr eaLnBrk="1" fontAlgn="auto" hangingPunct="1">
              <a:lnSpc>
                <a:spcPct val="90000"/>
              </a:lnSpc>
              <a:spcAft>
                <a:spcPts val="0"/>
              </a:spcAft>
              <a:defRPr/>
            </a:pPr>
            <a:r>
              <a:rPr lang="en-GB" sz="2800" b="1" dirty="0">
                <a:solidFill>
                  <a:srgbClr val="7030A0"/>
                </a:solidFill>
                <a:latin typeface="Arial" charset="0"/>
              </a:rPr>
              <a:t>Phage insert their DNA into the host chromosome</a:t>
            </a:r>
          </a:p>
          <a:p>
            <a:pPr lvl="1" eaLnBrk="1" fontAlgn="auto" hangingPunct="1">
              <a:lnSpc>
                <a:spcPct val="90000"/>
              </a:lnSpc>
              <a:spcAft>
                <a:spcPts val="0"/>
              </a:spcAft>
              <a:buFontTx/>
              <a:buNone/>
              <a:defRPr/>
            </a:pPr>
            <a:endParaRPr lang="en-GB" sz="1600" dirty="0">
              <a:latin typeface="Arial" charset="0"/>
            </a:endParaRPr>
          </a:p>
          <a:p>
            <a:pPr eaLnBrk="1" fontAlgn="auto" hangingPunct="1">
              <a:lnSpc>
                <a:spcPct val="90000"/>
              </a:lnSpc>
              <a:spcAft>
                <a:spcPts val="0"/>
              </a:spcAft>
              <a:defRPr/>
            </a:pPr>
            <a:r>
              <a:rPr lang="en-GB" sz="2800" b="1" dirty="0">
                <a:solidFill>
                  <a:srgbClr val="7030A0"/>
                </a:solidFill>
                <a:latin typeface="Arial" charset="0"/>
              </a:rPr>
              <a:t>Used to alter gene expression</a:t>
            </a:r>
          </a:p>
          <a:p>
            <a:pPr lvl="1" eaLnBrk="1" fontAlgn="auto" hangingPunct="1">
              <a:lnSpc>
                <a:spcPct val="90000"/>
              </a:lnSpc>
              <a:spcAft>
                <a:spcPts val="0"/>
              </a:spcAft>
              <a:defRPr/>
            </a:pPr>
            <a:r>
              <a:rPr lang="en-GB" sz="2400" dirty="0" err="1">
                <a:latin typeface="Arial" charset="0"/>
              </a:rPr>
              <a:t>Flagellar</a:t>
            </a:r>
            <a:r>
              <a:rPr lang="en-GB" sz="2400" dirty="0">
                <a:latin typeface="Arial" charset="0"/>
              </a:rPr>
              <a:t> antigen variation in </a:t>
            </a:r>
            <a:r>
              <a:rPr lang="en-GB" sz="2400" i="1" dirty="0">
                <a:latin typeface="Arial" charset="0"/>
              </a:rPr>
              <a:t>Salmonella </a:t>
            </a:r>
            <a:r>
              <a:rPr lang="en-GB" sz="2400" i="1" dirty="0" err="1">
                <a:latin typeface="Arial" charset="0"/>
              </a:rPr>
              <a:t>typhimurium</a:t>
            </a:r>
            <a:endParaRPr lang="en-GB" sz="2400" i="1" dirty="0">
              <a:latin typeface="Arial" charset="0"/>
            </a:endParaRPr>
          </a:p>
          <a:p>
            <a:pPr lvl="1" eaLnBrk="1" fontAlgn="auto" hangingPunct="1">
              <a:lnSpc>
                <a:spcPct val="90000"/>
              </a:lnSpc>
              <a:spcAft>
                <a:spcPts val="0"/>
              </a:spcAft>
              <a:buFontTx/>
              <a:buNone/>
              <a:defRPr/>
            </a:pPr>
            <a:endParaRPr lang="en-GB" sz="1600" dirty="0">
              <a:latin typeface="Arial" charset="0"/>
            </a:endParaRPr>
          </a:p>
          <a:p>
            <a:pPr eaLnBrk="1" fontAlgn="auto" hangingPunct="1">
              <a:lnSpc>
                <a:spcPct val="90000"/>
              </a:lnSpc>
              <a:spcAft>
                <a:spcPts val="0"/>
              </a:spcAft>
              <a:defRPr/>
            </a:pPr>
            <a:r>
              <a:rPr lang="en-GB" sz="2800" b="1" dirty="0">
                <a:solidFill>
                  <a:srgbClr val="7030A0"/>
                </a:solidFill>
                <a:latin typeface="Arial" charset="0"/>
              </a:rPr>
              <a:t>Used to maintain integrity of circular DNA molecules</a:t>
            </a:r>
          </a:p>
          <a:p>
            <a:pPr lvl="1" eaLnBrk="1" fontAlgn="auto" hangingPunct="1">
              <a:lnSpc>
                <a:spcPct val="90000"/>
              </a:lnSpc>
              <a:spcAft>
                <a:spcPts val="0"/>
              </a:spcAft>
              <a:defRPr/>
            </a:pPr>
            <a:r>
              <a:rPr lang="en-GB" sz="2400" dirty="0">
                <a:latin typeface="Arial" charset="0"/>
              </a:rPr>
              <a:t>Resolving plasmid </a:t>
            </a:r>
            <a:r>
              <a:rPr lang="en-GB" sz="2400" dirty="0" err="1">
                <a:latin typeface="Arial" charset="0"/>
              </a:rPr>
              <a:t>multimers</a:t>
            </a:r>
            <a:endParaRPr lang="en-GB" sz="2400" dirty="0">
              <a:latin typeface="Arial" charset="0"/>
            </a:endParaRPr>
          </a:p>
          <a:p>
            <a:pPr lvl="1" eaLnBrk="1" fontAlgn="auto" hangingPunct="1">
              <a:lnSpc>
                <a:spcPct val="90000"/>
              </a:lnSpc>
              <a:spcAft>
                <a:spcPts val="0"/>
              </a:spcAft>
              <a:defRPr/>
            </a:pPr>
            <a:r>
              <a:rPr lang="en-GB" sz="2400" dirty="0">
                <a:latin typeface="Arial" charset="0"/>
              </a:rPr>
              <a:t>All SSR systems depend critically on the </a:t>
            </a:r>
            <a:r>
              <a:rPr lang="en-GB" sz="2400" dirty="0">
                <a:solidFill>
                  <a:srgbClr val="0000FF"/>
                </a:solidFill>
                <a:latin typeface="Arial" charset="0"/>
              </a:rPr>
              <a:t>assembly of the recombinase</a:t>
            </a:r>
            <a:r>
              <a:rPr lang="en-GB" sz="2400" dirty="0">
                <a:latin typeface="Arial" charset="0"/>
              </a:rPr>
              <a:t> on the DNA and the bringing together of the two recombination sites</a:t>
            </a:r>
          </a:p>
          <a:p>
            <a:pPr lvl="1" eaLnBrk="1" fontAlgn="auto" hangingPunct="1">
              <a:lnSpc>
                <a:spcPct val="90000"/>
              </a:lnSpc>
              <a:spcAft>
                <a:spcPts val="0"/>
              </a:spcAft>
              <a:defRPr/>
            </a:pPr>
            <a:r>
              <a:rPr lang="en-GB" sz="2400" dirty="0">
                <a:latin typeface="Arial" charset="0"/>
              </a:rPr>
              <a:t>Assembly could be simple or complicated requires </a:t>
            </a:r>
            <a:r>
              <a:rPr lang="en-GB" sz="2400" u="sng" dirty="0">
                <a:solidFill>
                  <a:srgbClr val="C00000"/>
                </a:solidFill>
                <a:latin typeface="Arial" charset="0"/>
              </a:rPr>
              <a:t>architectural proteins </a:t>
            </a:r>
            <a:r>
              <a:rPr lang="en-GB" sz="2400" dirty="0">
                <a:latin typeface="Arial" charset="0"/>
              </a:rPr>
              <a:t>that bind specific DNA sequences and bend the DNA.</a:t>
            </a:r>
          </a:p>
          <a:p>
            <a:pPr eaLnBrk="1" fontAlgn="auto" hangingPunct="1">
              <a:lnSpc>
                <a:spcPct val="90000"/>
              </a:lnSpc>
              <a:spcAft>
                <a:spcPts val="0"/>
              </a:spcAft>
              <a:defRPr/>
            </a:pPr>
            <a:endParaRPr lang="en-GB" dirty="0">
              <a:latin typeface="Arial"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2">
            <a:extLst>
              <a:ext uri="{FF2B5EF4-FFF2-40B4-BE49-F238E27FC236}">
                <a16:creationId xmlns:a16="http://schemas.microsoft.com/office/drawing/2014/main" id="{A2A4744F-48D6-90CC-83C9-AD20E7182655}"/>
              </a:ext>
            </a:extLst>
          </p:cNvPr>
          <p:cNvSpPr>
            <a:spLocks noGrp="1" noChangeArrowheads="1"/>
          </p:cNvSpPr>
          <p:nvPr>
            <p:ph type="title"/>
          </p:nvPr>
        </p:nvSpPr>
        <p:spPr>
          <a:xfrm>
            <a:off x="468313" y="188913"/>
            <a:ext cx="8229600" cy="950912"/>
          </a:xfrm>
        </p:spPr>
        <p:txBody>
          <a:bodyPr/>
          <a:lstStyle/>
          <a:p>
            <a:pPr eaLnBrk="1" hangingPunct="1"/>
            <a:r>
              <a:rPr lang="en-GB" altLang="en-US" b="1" dirty="0">
                <a:solidFill>
                  <a:srgbClr val="7030A0"/>
                </a:solidFill>
                <a:sym typeface="Symbol" pitchFamily="2" charset="2"/>
              </a:rPr>
              <a:t>I-Integration of  Phage</a:t>
            </a:r>
          </a:p>
        </p:txBody>
      </p:sp>
      <p:sp>
        <p:nvSpPr>
          <p:cNvPr id="17421" name="Rectangle 13">
            <a:extLst>
              <a:ext uri="{FF2B5EF4-FFF2-40B4-BE49-F238E27FC236}">
                <a16:creationId xmlns:a16="http://schemas.microsoft.com/office/drawing/2014/main" id="{89D306E9-FCD5-9F80-29BC-DDD7B4F17221}"/>
              </a:ext>
            </a:extLst>
          </p:cNvPr>
          <p:cNvSpPr>
            <a:spLocks noGrp="1" noChangeArrowheads="1"/>
          </p:cNvSpPr>
          <p:nvPr>
            <p:ph type="body" sz="half" idx="1"/>
          </p:nvPr>
        </p:nvSpPr>
        <p:spPr>
          <a:xfrm>
            <a:off x="0" y="1412875"/>
            <a:ext cx="4103688" cy="4530725"/>
          </a:xfrm>
        </p:spPr>
        <p:txBody>
          <a:bodyPr rtlCol="0">
            <a:normAutofit fontScale="92500" lnSpcReduction="20000"/>
          </a:bodyPr>
          <a:lstStyle/>
          <a:p>
            <a:pPr eaLnBrk="1" fontAlgn="auto" hangingPunct="1">
              <a:spcAft>
                <a:spcPts val="0"/>
              </a:spcAft>
              <a:defRPr/>
            </a:pPr>
            <a:r>
              <a:rPr lang="en-GB" sz="2800" dirty="0"/>
              <a:t>Integration happens at specific times</a:t>
            </a:r>
          </a:p>
          <a:p>
            <a:pPr eaLnBrk="1" fontAlgn="auto" hangingPunct="1">
              <a:spcAft>
                <a:spcPts val="0"/>
              </a:spcAft>
              <a:defRPr/>
            </a:pPr>
            <a:r>
              <a:rPr lang="en-GB" sz="2800" dirty="0"/>
              <a:t>Core segment</a:t>
            </a:r>
          </a:p>
          <a:p>
            <a:pPr lvl="1" eaLnBrk="1" fontAlgn="auto" hangingPunct="1">
              <a:spcAft>
                <a:spcPts val="0"/>
              </a:spcAft>
              <a:defRPr/>
            </a:pPr>
            <a:r>
              <a:rPr lang="en-US" sz="2400" b="1" dirty="0">
                <a:sym typeface="Symbol" pitchFamily="18" charset="2"/>
              </a:rPr>
              <a:t></a:t>
            </a:r>
            <a:r>
              <a:rPr lang="en-US" sz="2400" b="1" dirty="0" err="1">
                <a:sym typeface="Symbol" pitchFamily="18" charset="2"/>
              </a:rPr>
              <a:t>Int</a:t>
            </a:r>
            <a:r>
              <a:rPr lang="en-GB" sz="2400" b="1" dirty="0"/>
              <a:t> binding sites</a:t>
            </a:r>
          </a:p>
          <a:p>
            <a:pPr lvl="1" eaLnBrk="1" fontAlgn="auto" hangingPunct="1">
              <a:spcAft>
                <a:spcPts val="0"/>
              </a:spcAft>
              <a:defRPr/>
            </a:pPr>
            <a:r>
              <a:rPr lang="en-GB" sz="2400" b="1" dirty="0"/>
              <a:t>Crossover site</a:t>
            </a:r>
          </a:p>
          <a:p>
            <a:pPr eaLnBrk="1" fontAlgn="auto" hangingPunct="1">
              <a:spcAft>
                <a:spcPts val="0"/>
              </a:spcAft>
              <a:defRPr/>
            </a:pPr>
            <a:r>
              <a:rPr lang="el-GR" sz="2800" dirty="0">
                <a:solidFill>
                  <a:srgbClr val="0000FF"/>
                </a:solidFill>
              </a:rPr>
              <a:t>λ</a:t>
            </a:r>
            <a:r>
              <a:rPr lang="en-US" sz="2800" dirty="0">
                <a:solidFill>
                  <a:srgbClr val="0000FF"/>
                </a:solidFill>
              </a:rPr>
              <a:t> </a:t>
            </a:r>
            <a:r>
              <a:rPr lang="en-US" sz="2800" dirty="0" err="1">
                <a:solidFill>
                  <a:srgbClr val="0000FF"/>
                </a:solidFill>
              </a:rPr>
              <a:t>Integrase</a:t>
            </a:r>
            <a:r>
              <a:rPr lang="en-US" sz="2800" dirty="0">
                <a:solidFill>
                  <a:srgbClr val="0000FF"/>
                </a:solidFill>
              </a:rPr>
              <a:t> </a:t>
            </a:r>
            <a:r>
              <a:rPr lang="en-US" sz="2800" dirty="0"/>
              <a:t>(</a:t>
            </a:r>
            <a:r>
              <a:rPr lang="el-GR" sz="2800" dirty="0"/>
              <a:t>λ</a:t>
            </a:r>
            <a:r>
              <a:rPr lang="en-US" sz="2800" dirty="0" err="1"/>
              <a:t>Int</a:t>
            </a:r>
            <a:r>
              <a:rPr lang="en-US" sz="2800" dirty="0"/>
              <a:t>) catalyzes recombination between two </a:t>
            </a:r>
            <a:r>
              <a:rPr lang="en-US" sz="2800" dirty="0" err="1"/>
              <a:t>att</a:t>
            </a:r>
            <a:r>
              <a:rPr lang="en-US" sz="2800" dirty="0"/>
              <a:t> sites (a tyrosine recombinase)</a:t>
            </a:r>
          </a:p>
          <a:p>
            <a:pPr eaLnBrk="1" fontAlgn="auto" hangingPunct="1">
              <a:spcAft>
                <a:spcPts val="0"/>
              </a:spcAft>
              <a:defRPr/>
            </a:pPr>
            <a:r>
              <a:rPr lang="en-US" sz="2800" dirty="0"/>
              <a:t>Has two domains one binds the </a:t>
            </a:r>
            <a:r>
              <a:rPr lang="en-US" sz="2800" dirty="0">
                <a:solidFill>
                  <a:srgbClr val="0000FF"/>
                </a:solidFill>
              </a:rPr>
              <a:t>Arms sites </a:t>
            </a:r>
            <a:r>
              <a:rPr lang="en-US" sz="2800" dirty="0"/>
              <a:t>and the other binds to the </a:t>
            </a:r>
            <a:r>
              <a:rPr lang="en-US" sz="2800" dirty="0">
                <a:solidFill>
                  <a:srgbClr val="0000FF"/>
                </a:solidFill>
              </a:rPr>
              <a:t>core recognition sites</a:t>
            </a:r>
          </a:p>
        </p:txBody>
      </p:sp>
      <p:grpSp>
        <p:nvGrpSpPr>
          <p:cNvPr id="41988" name="Group 17">
            <a:extLst>
              <a:ext uri="{FF2B5EF4-FFF2-40B4-BE49-F238E27FC236}">
                <a16:creationId xmlns:a16="http://schemas.microsoft.com/office/drawing/2014/main" id="{2934313C-2CBA-26A0-6F11-C26AAA3CD0C3}"/>
              </a:ext>
            </a:extLst>
          </p:cNvPr>
          <p:cNvGrpSpPr>
            <a:grpSpLocks/>
          </p:cNvGrpSpPr>
          <p:nvPr/>
        </p:nvGrpSpPr>
        <p:grpSpPr bwMode="auto">
          <a:xfrm>
            <a:off x="3708400" y="2276475"/>
            <a:ext cx="5327650" cy="4310063"/>
            <a:chOff x="2426" y="1979"/>
            <a:chExt cx="2858" cy="2307"/>
          </a:xfrm>
        </p:grpSpPr>
        <p:pic>
          <p:nvPicPr>
            <p:cNvPr id="41989" name="Picture 5">
              <a:extLst>
                <a:ext uri="{FF2B5EF4-FFF2-40B4-BE49-F238E27FC236}">
                  <a16:creationId xmlns:a16="http://schemas.microsoft.com/office/drawing/2014/main" id="{F966ECF7-38B1-2363-1D41-20E09662AF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6374" r="15781" b="54218"/>
            <a:stretch>
              <a:fillRect/>
            </a:stretch>
          </p:blipFill>
          <p:spPr bwMode="auto">
            <a:xfrm>
              <a:off x="2653" y="1979"/>
              <a:ext cx="2631" cy="1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90" name="Oval 15">
              <a:extLst>
                <a:ext uri="{FF2B5EF4-FFF2-40B4-BE49-F238E27FC236}">
                  <a16:creationId xmlns:a16="http://schemas.microsoft.com/office/drawing/2014/main" id="{4579681B-1793-1B9B-678B-7E290FB8318B}"/>
                </a:ext>
              </a:extLst>
            </p:cNvPr>
            <p:cNvSpPr>
              <a:spLocks noChangeArrowheads="1"/>
            </p:cNvSpPr>
            <p:nvPr/>
          </p:nvSpPr>
          <p:spPr bwMode="auto">
            <a:xfrm>
              <a:off x="3742" y="3113"/>
              <a:ext cx="408" cy="589"/>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Verdana" panose="020B0604030504040204" pitchFamily="34" charset="0"/>
              </a:endParaRPr>
            </a:p>
          </p:txBody>
        </p:sp>
        <p:sp>
          <p:nvSpPr>
            <p:cNvPr id="41991" name="AutoShape 16">
              <a:extLst>
                <a:ext uri="{FF2B5EF4-FFF2-40B4-BE49-F238E27FC236}">
                  <a16:creationId xmlns:a16="http://schemas.microsoft.com/office/drawing/2014/main" id="{7E4490DE-21CB-560E-265B-E286444EEB15}"/>
                </a:ext>
              </a:extLst>
            </p:cNvPr>
            <p:cNvSpPr>
              <a:spLocks/>
            </p:cNvSpPr>
            <p:nvPr/>
          </p:nvSpPr>
          <p:spPr bwMode="auto">
            <a:xfrm>
              <a:off x="2426" y="3902"/>
              <a:ext cx="772" cy="384"/>
            </a:xfrm>
            <a:prstGeom prst="borderCallout1">
              <a:avLst>
                <a:gd name="adj1" fmla="val 18750"/>
                <a:gd name="adj2" fmla="val 106218"/>
                <a:gd name="adj3" fmla="val -87500"/>
                <a:gd name="adj4" fmla="val 176296"/>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400">
                  <a:latin typeface="Verdana" panose="020B0604030504040204" pitchFamily="34" charset="0"/>
                </a:rPr>
                <a:t>Core segment</a:t>
              </a:r>
              <a:endParaRPr lang="en-GB" altLang="en-US" sz="1400">
                <a:latin typeface="Verdana" panose="020B0604030504040204" pitchFamily="34" charset="0"/>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4">
            <a:extLst>
              <a:ext uri="{FF2B5EF4-FFF2-40B4-BE49-F238E27FC236}">
                <a16:creationId xmlns:a16="http://schemas.microsoft.com/office/drawing/2014/main" id="{7C6C1938-75E0-CA0D-0FF6-D0A5DF3E7D86}"/>
              </a:ext>
            </a:extLst>
          </p:cNvPr>
          <p:cNvSpPr>
            <a:spLocks noGrp="1" noChangeArrowheads="1"/>
          </p:cNvSpPr>
          <p:nvPr>
            <p:ph type="title"/>
          </p:nvPr>
        </p:nvSpPr>
        <p:spPr>
          <a:xfrm>
            <a:off x="457200" y="188913"/>
            <a:ext cx="3609975" cy="1228725"/>
          </a:xfrm>
        </p:spPr>
        <p:txBody>
          <a:bodyPr rtlCol="0">
            <a:normAutofit fontScale="90000"/>
          </a:bodyPr>
          <a:lstStyle/>
          <a:p>
            <a:pPr eaLnBrk="1" fontAlgn="auto" hangingPunct="1">
              <a:spcAft>
                <a:spcPts val="0"/>
              </a:spcAft>
              <a:defRPr/>
            </a:pPr>
            <a:r>
              <a:rPr lang="en-GB" sz="3200" b="1" dirty="0">
                <a:solidFill>
                  <a:srgbClr val="0000FF"/>
                </a:solidFill>
                <a:sym typeface="Symbol" pitchFamily="18" charset="2"/>
              </a:rPr>
              <a:t>Integration of  Phage Genome in Bacterial Chromosome</a:t>
            </a:r>
          </a:p>
        </p:txBody>
      </p:sp>
      <p:sp>
        <p:nvSpPr>
          <p:cNvPr id="44035" name="Content Placeholder 6">
            <a:extLst>
              <a:ext uri="{FF2B5EF4-FFF2-40B4-BE49-F238E27FC236}">
                <a16:creationId xmlns:a16="http://schemas.microsoft.com/office/drawing/2014/main" id="{1DC076F5-9931-15F1-9289-B4BFA024187E}"/>
              </a:ext>
            </a:extLst>
          </p:cNvPr>
          <p:cNvSpPr>
            <a:spLocks noGrp="1"/>
          </p:cNvSpPr>
          <p:nvPr>
            <p:ph idx="1"/>
          </p:nvPr>
        </p:nvSpPr>
        <p:spPr>
          <a:xfrm>
            <a:off x="250825" y="1600200"/>
            <a:ext cx="3600450" cy="5068888"/>
          </a:xfrm>
        </p:spPr>
        <p:txBody>
          <a:bodyPr/>
          <a:lstStyle/>
          <a:p>
            <a:pPr eaLnBrk="1" hangingPunct="1">
              <a:lnSpc>
                <a:spcPct val="90000"/>
              </a:lnSpc>
            </a:pPr>
            <a:r>
              <a:rPr lang="en-US" altLang="en-US" sz="2200" dirty="0"/>
              <a:t>Integration requires </a:t>
            </a:r>
            <a:r>
              <a:rPr lang="en-US" altLang="en-US" sz="2200" b="1" dirty="0" err="1">
                <a:solidFill>
                  <a:srgbClr val="C00000"/>
                </a:solidFill>
              </a:rPr>
              <a:t>attB</a:t>
            </a:r>
            <a:r>
              <a:rPr lang="en-US" altLang="en-US" sz="2200" b="1" dirty="0">
                <a:solidFill>
                  <a:srgbClr val="C00000"/>
                </a:solidFill>
              </a:rPr>
              <a:t>, </a:t>
            </a:r>
            <a:r>
              <a:rPr lang="en-US" altLang="en-US" sz="2200" b="1" dirty="0" err="1">
                <a:solidFill>
                  <a:srgbClr val="C00000"/>
                </a:solidFill>
              </a:rPr>
              <a:t>attP</a:t>
            </a:r>
            <a:r>
              <a:rPr lang="en-US" altLang="en-US" sz="2200" b="1" dirty="0">
                <a:solidFill>
                  <a:srgbClr val="C00000"/>
                </a:solidFill>
              </a:rPr>
              <a:t>, </a:t>
            </a:r>
            <a:r>
              <a:rPr lang="el-GR" altLang="en-US" sz="2200" b="1" dirty="0">
                <a:solidFill>
                  <a:srgbClr val="C00000"/>
                </a:solidFill>
              </a:rPr>
              <a:t>λ</a:t>
            </a:r>
            <a:r>
              <a:rPr lang="en-US" altLang="en-US" sz="2200" b="1" dirty="0">
                <a:solidFill>
                  <a:srgbClr val="C00000"/>
                </a:solidFill>
              </a:rPr>
              <a:t>Int and IHF </a:t>
            </a:r>
            <a:r>
              <a:rPr lang="en-US" altLang="en-US" sz="2200" dirty="0"/>
              <a:t>(integration host factor)</a:t>
            </a:r>
          </a:p>
          <a:p>
            <a:pPr eaLnBrk="1" hangingPunct="1">
              <a:lnSpc>
                <a:spcPct val="90000"/>
              </a:lnSpc>
            </a:pPr>
            <a:r>
              <a:rPr lang="en-US" altLang="en-US" sz="2200" dirty="0"/>
              <a:t>The function of IHF is to bring together the </a:t>
            </a:r>
            <a:r>
              <a:rPr lang="el-GR" altLang="en-US" sz="2200" dirty="0">
                <a:solidFill>
                  <a:srgbClr val="0000FF"/>
                </a:solidFill>
              </a:rPr>
              <a:t>λ</a:t>
            </a:r>
            <a:r>
              <a:rPr lang="en-US" altLang="en-US" sz="2200" dirty="0">
                <a:solidFill>
                  <a:srgbClr val="0000FF"/>
                </a:solidFill>
              </a:rPr>
              <a:t>Int sites on the DNA arms with the sites present at the central core</a:t>
            </a:r>
            <a:r>
              <a:rPr lang="en-US" altLang="en-US" sz="2200" dirty="0"/>
              <a:t>. Thus, bending of the DNA allows to find the weak core sites and to catalyze recombination</a:t>
            </a:r>
          </a:p>
          <a:p>
            <a:pPr eaLnBrk="1" hangingPunct="1">
              <a:lnSpc>
                <a:spcPct val="90000"/>
              </a:lnSpc>
            </a:pPr>
            <a:r>
              <a:rPr lang="en-US" altLang="en-US" sz="2200" dirty="0">
                <a:solidFill>
                  <a:schemeClr val="hlink"/>
                </a:solidFill>
              </a:rPr>
              <a:t>Two new hybrid sites are generated</a:t>
            </a:r>
            <a:r>
              <a:rPr lang="en-US" altLang="en-US" sz="2200" dirty="0"/>
              <a:t> at the junctions between the phage and the host (</a:t>
            </a:r>
            <a:r>
              <a:rPr lang="en-US" altLang="en-US" sz="2200" dirty="0" err="1"/>
              <a:t>attL</a:t>
            </a:r>
            <a:r>
              <a:rPr lang="en-US" altLang="en-US" sz="2200" dirty="0"/>
              <a:t> and </a:t>
            </a:r>
            <a:r>
              <a:rPr lang="en-US" altLang="en-US" sz="2200" dirty="0" err="1"/>
              <a:t>attR</a:t>
            </a:r>
            <a:r>
              <a:rPr lang="en-US" altLang="en-US" sz="2200" dirty="0"/>
              <a:t>)</a:t>
            </a:r>
          </a:p>
        </p:txBody>
      </p:sp>
      <p:pic>
        <p:nvPicPr>
          <p:cNvPr id="44036" name="Picture 7" descr="H:\Amjad Courses\BT451\Molecular Biology of the Gene images\watson_mm_jpg_chap011\chap011\11_Figure10.jpg">
            <a:extLst>
              <a:ext uri="{FF2B5EF4-FFF2-40B4-BE49-F238E27FC236}">
                <a16:creationId xmlns:a16="http://schemas.microsoft.com/office/drawing/2014/main" id="{1319943E-9548-4A98-3EA2-BF09A6EFB9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1638" y="274638"/>
            <a:ext cx="4151312" cy="658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93302F9A-A86D-B5F9-6648-0455BBF3803A}"/>
              </a:ext>
            </a:extLst>
          </p:cNvPr>
          <p:cNvSpPr>
            <a:spLocks noGrp="1" noChangeArrowheads="1"/>
          </p:cNvSpPr>
          <p:nvPr>
            <p:ph type="title"/>
          </p:nvPr>
        </p:nvSpPr>
        <p:spPr>
          <a:xfrm>
            <a:off x="179388" y="260350"/>
            <a:ext cx="3609975" cy="1139825"/>
          </a:xfrm>
        </p:spPr>
        <p:txBody>
          <a:bodyPr/>
          <a:lstStyle/>
          <a:p>
            <a:pPr eaLnBrk="1" hangingPunct="1"/>
            <a:r>
              <a:rPr lang="en-US" altLang="en-US" sz="3200" b="1" dirty="0">
                <a:solidFill>
                  <a:srgbClr val="0000FF"/>
                </a:solidFill>
                <a:latin typeface="Symbol" pitchFamily="2" charset="2"/>
              </a:rPr>
              <a:t>l</a:t>
            </a:r>
            <a:r>
              <a:rPr lang="en-US" altLang="en-US" sz="3200" b="1" dirty="0">
                <a:solidFill>
                  <a:srgbClr val="0000FF"/>
                </a:solidFill>
              </a:rPr>
              <a:t>Int and IHF stabilize bent DNA</a:t>
            </a:r>
            <a:endParaRPr lang="en-GB" altLang="en-US" sz="3200" b="1" dirty="0">
              <a:solidFill>
                <a:srgbClr val="0000FF"/>
              </a:solidFill>
            </a:endParaRPr>
          </a:p>
        </p:txBody>
      </p:sp>
      <p:sp>
        <p:nvSpPr>
          <p:cNvPr id="46083" name="Rectangle 7">
            <a:extLst>
              <a:ext uri="{FF2B5EF4-FFF2-40B4-BE49-F238E27FC236}">
                <a16:creationId xmlns:a16="http://schemas.microsoft.com/office/drawing/2014/main" id="{A47838A0-36D8-ADD5-8C11-999B88ADC54E}"/>
              </a:ext>
            </a:extLst>
          </p:cNvPr>
          <p:cNvSpPr>
            <a:spLocks noGrp="1" noChangeArrowheads="1"/>
          </p:cNvSpPr>
          <p:nvPr>
            <p:ph type="body" sz="half" idx="1"/>
          </p:nvPr>
        </p:nvSpPr>
        <p:spPr>
          <a:xfrm>
            <a:off x="179388" y="1628775"/>
            <a:ext cx="4038600" cy="4530725"/>
          </a:xfrm>
        </p:spPr>
        <p:txBody>
          <a:bodyPr/>
          <a:lstStyle/>
          <a:p>
            <a:pPr eaLnBrk="1" hangingPunct="1"/>
            <a:r>
              <a:rPr lang="en-GB" altLang="en-US" sz="2800">
                <a:latin typeface="Arial" panose="020B0604020202020204" pitchFamily="34" charset="0"/>
              </a:rPr>
              <a:t>Sequence dependent DNA binding protein</a:t>
            </a:r>
          </a:p>
          <a:p>
            <a:pPr eaLnBrk="1" hangingPunct="1"/>
            <a:endParaRPr lang="en-GB" altLang="en-US" sz="2800">
              <a:latin typeface="Arial" panose="020B0604020202020204" pitchFamily="34" charset="0"/>
            </a:endParaRPr>
          </a:p>
          <a:p>
            <a:pPr eaLnBrk="1" hangingPunct="1"/>
            <a:r>
              <a:rPr lang="en-GB" altLang="en-US" sz="2800">
                <a:latin typeface="Arial" panose="020B0604020202020204" pitchFamily="34" charset="0"/>
              </a:rPr>
              <a:t>Introduce &gt;160</a:t>
            </a:r>
            <a:r>
              <a:rPr lang="en-GB" altLang="en-US" sz="2800">
                <a:latin typeface="Arial" panose="020B0604020202020204" pitchFamily="34" charset="0"/>
                <a:sym typeface="Symbol" pitchFamily="2" charset="2"/>
              </a:rPr>
              <a:t></a:t>
            </a:r>
          </a:p>
          <a:p>
            <a:pPr eaLnBrk="1" hangingPunct="1"/>
            <a:endParaRPr lang="en-GB" altLang="en-US" sz="2800">
              <a:latin typeface="Arial" panose="020B0604020202020204" pitchFamily="34" charset="0"/>
              <a:sym typeface="Symbol" pitchFamily="2" charset="2"/>
            </a:endParaRPr>
          </a:p>
          <a:p>
            <a:pPr eaLnBrk="1" hangingPunct="1"/>
            <a:r>
              <a:rPr lang="en-GB" altLang="en-US" sz="2800">
                <a:latin typeface="Arial" panose="020B0604020202020204" pitchFamily="34" charset="0"/>
                <a:sym typeface="Symbol" pitchFamily="2" charset="2"/>
              </a:rPr>
              <a:t>Bring together </a:t>
            </a:r>
            <a:r>
              <a:rPr lang="en-US" altLang="en-US" sz="2800">
                <a:latin typeface="Arial" panose="020B0604020202020204" pitchFamily="34" charset="0"/>
              </a:rPr>
              <a:t>Int sites of arms &amp; core</a:t>
            </a:r>
            <a:endParaRPr lang="en-GB" altLang="en-US" sz="2800">
              <a:latin typeface="Arial" panose="020B0604020202020204" pitchFamily="34" charset="0"/>
              <a:sym typeface="Symbol" pitchFamily="2" charset="2"/>
            </a:endParaRPr>
          </a:p>
        </p:txBody>
      </p:sp>
      <p:pic>
        <p:nvPicPr>
          <p:cNvPr id="46084" name="Picture 8">
            <a:extLst>
              <a:ext uri="{FF2B5EF4-FFF2-40B4-BE49-F238E27FC236}">
                <a16:creationId xmlns:a16="http://schemas.microsoft.com/office/drawing/2014/main" id="{B65C2C8D-E29E-207B-CF63-23E084E1D0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0125" y="274638"/>
            <a:ext cx="4333875" cy="658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5" name="Rectangle 9">
            <a:extLst>
              <a:ext uri="{FF2B5EF4-FFF2-40B4-BE49-F238E27FC236}">
                <a16:creationId xmlns:a16="http://schemas.microsoft.com/office/drawing/2014/main" id="{BD476719-4495-E08A-8654-8692DDC64C4B}"/>
              </a:ext>
            </a:extLst>
          </p:cNvPr>
          <p:cNvSpPr>
            <a:spLocks noGrp="1" noChangeArrowheads="1"/>
          </p:cNvSpPr>
          <p:nvPr>
            <p:ph type="body" sz="half" idx="2"/>
          </p:nvPr>
        </p:nvSpPr>
        <p:spPr>
          <a:xfrm>
            <a:off x="0" y="4002088"/>
            <a:ext cx="9144000" cy="2740025"/>
          </a:xfrm>
          <a:solidFill>
            <a:schemeClr val="accent6">
              <a:lumMod val="20000"/>
              <a:lumOff val="80000"/>
            </a:schemeClr>
          </a:solidFill>
        </p:spPr>
        <p:txBody>
          <a:bodyPr rtlCol="0">
            <a:noAutofit/>
          </a:bodyPr>
          <a:lstStyle/>
          <a:p>
            <a:pPr eaLnBrk="1" fontAlgn="auto" hangingPunct="1">
              <a:spcAft>
                <a:spcPts val="0"/>
              </a:spcAft>
              <a:defRPr/>
            </a:pPr>
            <a:r>
              <a:rPr lang="en-GB" sz="1700" b="1" dirty="0">
                <a:solidFill>
                  <a:srgbClr val="002060"/>
                </a:solidFill>
                <a:latin typeface="+mj-lt"/>
              </a:rPr>
              <a:t>Xis architectural protein (phage encoded)</a:t>
            </a:r>
          </a:p>
          <a:p>
            <a:pPr lvl="1" eaLnBrk="1" fontAlgn="auto" hangingPunct="1">
              <a:spcAft>
                <a:spcPts val="0"/>
              </a:spcAft>
              <a:defRPr/>
            </a:pPr>
            <a:r>
              <a:rPr lang="en-GB" sz="1700" dirty="0">
                <a:latin typeface="+mj-lt"/>
              </a:rPr>
              <a:t>Bind with X1, X2</a:t>
            </a:r>
          </a:p>
          <a:p>
            <a:pPr lvl="1" eaLnBrk="1" fontAlgn="auto" hangingPunct="1">
              <a:spcAft>
                <a:spcPts val="0"/>
              </a:spcAft>
              <a:defRPr/>
            </a:pPr>
            <a:r>
              <a:rPr lang="en-GB" sz="1700" dirty="0">
                <a:latin typeface="+mj-lt"/>
              </a:rPr>
              <a:t>Bend &gt; 140</a:t>
            </a:r>
            <a:r>
              <a:rPr lang="en-GB" sz="1700" dirty="0">
                <a:latin typeface="+mj-lt"/>
                <a:sym typeface="Symbol" pitchFamily="18" charset="2"/>
              </a:rPr>
              <a:t></a:t>
            </a:r>
          </a:p>
          <a:p>
            <a:pPr lvl="1" eaLnBrk="1" fontAlgn="auto" hangingPunct="1">
              <a:spcAft>
                <a:spcPts val="0"/>
              </a:spcAft>
              <a:defRPr/>
            </a:pPr>
            <a:r>
              <a:rPr lang="en-GB" sz="1700" dirty="0">
                <a:latin typeface="+mj-lt"/>
                <a:sym typeface="Symbol" pitchFamily="18" charset="2"/>
              </a:rPr>
              <a:t>Together </a:t>
            </a:r>
            <a:r>
              <a:rPr lang="en-GB" sz="1700" b="1" dirty="0">
                <a:solidFill>
                  <a:srgbClr val="002060"/>
                </a:solidFill>
                <a:latin typeface="+mj-lt"/>
                <a:sym typeface="Symbol" pitchFamily="18" charset="2"/>
              </a:rPr>
              <a:t>Xis, </a:t>
            </a:r>
            <a:r>
              <a:rPr lang="el-GR" sz="1700" b="1" dirty="0">
                <a:solidFill>
                  <a:srgbClr val="002060"/>
                </a:solidFill>
                <a:latin typeface="+mj-lt"/>
                <a:sym typeface="Symbol" pitchFamily="18" charset="2"/>
              </a:rPr>
              <a:t>λ</a:t>
            </a:r>
            <a:r>
              <a:rPr lang="en-US" sz="1700" b="1" dirty="0" err="1">
                <a:solidFill>
                  <a:srgbClr val="002060"/>
                </a:solidFill>
                <a:latin typeface="+mj-lt"/>
                <a:sym typeface="Symbol" pitchFamily="18" charset="2"/>
              </a:rPr>
              <a:t>Int</a:t>
            </a:r>
            <a:r>
              <a:rPr lang="en-US" sz="1700" b="1" dirty="0">
                <a:solidFill>
                  <a:srgbClr val="002060"/>
                </a:solidFill>
                <a:latin typeface="+mj-lt"/>
                <a:sym typeface="Symbol" pitchFamily="18" charset="2"/>
              </a:rPr>
              <a:t> and IHF </a:t>
            </a:r>
            <a:r>
              <a:rPr lang="en-US" sz="1700" dirty="0">
                <a:latin typeface="+mj-lt"/>
                <a:sym typeface="Symbol" pitchFamily="18" charset="2"/>
              </a:rPr>
              <a:t>stimulate excision by assembling an active protein-DNA complex at </a:t>
            </a:r>
            <a:r>
              <a:rPr lang="en-US" sz="1700" dirty="0" err="1">
                <a:latin typeface="+mj-lt"/>
                <a:sym typeface="Symbol" pitchFamily="18" charset="2"/>
              </a:rPr>
              <a:t>attR</a:t>
            </a:r>
            <a:endParaRPr lang="en-US" sz="1700" dirty="0">
              <a:latin typeface="+mj-lt"/>
              <a:sym typeface="Symbol" pitchFamily="18" charset="2"/>
            </a:endParaRPr>
          </a:p>
          <a:p>
            <a:pPr>
              <a:buFont typeface="Arial" charset="0"/>
              <a:buChar char="•"/>
              <a:defRPr/>
            </a:pPr>
            <a:r>
              <a:rPr lang="en-US" sz="1700" b="1" dirty="0" err="1">
                <a:solidFill>
                  <a:srgbClr val="002060"/>
                </a:solidFill>
              </a:rPr>
              <a:t>Xis</a:t>
            </a:r>
            <a:r>
              <a:rPr lang="en-US" sz="1700" dirty="0">
                <a:solidFill>
                  <a:srgbClr val="C00000"/>
                </a:solidFill>
              </a:rPr>
              <a:t> </a:t>
            </a:r>
            <a:r>
              <a:rPr lang="en-US" sz="1700" dirty="0"/>
              <a:t>is a phage-encoded protein and is </a:t>
            </a:r>
            <a:r>
              <a:rPr lang="en-US" sz="1700" b="1" dirty="0"/>
              <a:t>only made </a:t>
            </a:r>
            <a:r>
              <a:rPr lang="en-US" sz="1700" dirty="0"/>
              <a:t>when the phage is triggered to enter lytic growth.</a:t>
            </a:r>
          </a:p>
          <a:p>
            <a:pPr>
              <a:buFont typeface="Arial" charset="0"/>
              <a:buChar char="•"/>
              <a:defRPr/>
            </a:pPr>
            <a:r>
              <a:rPr lang="en-US" sz="1700" dirty="0"/>
              <a:t>Its dual action as a stimulatory co-factor for excision and an inhibitor of integration ensures that the phage genome will be free, and remain free, from the host chromosome when </a:t>
            </a:r>
            <a:r>
              <a:rPr lang="en-US" sz="1700" b="1" dirty="0" err="1">
                <a:solidFill>
                  <a:srgbClr val="002060"/>
                </a:solidFill>
              </a:rPr>
              <a:t>Xis</a:t>
            </a:r>
            <a:r>
              <a:rPr lang="en-US" sz="1700" dirty="0">
                <a:solidFill>
                  <a:srgbClr val="C00000"/>
                </a:solidFill>
              </a:rPr>
              <a:t> </a:t>
            </a:r>
            <a:r>
              <a:rPr lang="en-US" sz="1700" dirty="0"/>
              <a:t>is </a:t>
            </a:r>
            <a:r>
              <a:rPr lang="en-US" sz="1700" b="1" dirty="0"/>
              <a:t>present</a:t>
            </a:r>
            <a:r>
              <a:rPr lang="en-US" sz="1700" dirty="0"/>
              <a:t>.</a:t>
            </a:r>
            <a:endParaRPr lang="en-GB" sz="1700" dirty="0">
              <a:latin typeface="+mj-lt"/>
              <a:sym typeface="Symbol" pitchFamily="18" charset="2"/>
            </a:endParaRPr>
          </a:p>
        </p:txBody>
      </p:sp>
      <p:pic>
        <p:nvPicPr>
          <p:cNvPr id="48131" name="Picture 4">
            <a:extLst>
              <a:ext uri="{FF2B5EF4-FFF2-40B4-BE49-F238E27FC236}">
                <a16:creationId xmlns:a16="http://schemas.microsoft.com/office/drawing/2014/main" id="{1EE4995F-FAA4-DEA1-8EAC-91535862BB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4606" t="59445" b="3195"/>
          <a:stretch>
            <a:fillRect/>
          </a:stretch>
        </p:blipFill>
        <p:spPr bwMode="auto">
          <a:xfrm>
            <a:off x="2484438" y="1173163"/>
            <a:ext cx="6048375" cy="281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le 4">
            <a:extLst>
              <a:ext uri="{FF2B5EF4-FFF2-40B4-BE49-F238E27FC236}">
                <a16:creationId xmlns:a16="http://schemas.microsoft.com/office/drawing/2014/main" id="{B53D9DED-74E1-D29C-FFDD-1E9B9C7724AA}"/>
              </a:ext>
            </a:extLst>
          </p:cNvPr>
          <p:cNvSpPr txBox="1">
            <a:spLocks/>
          </p:cNvSpPr>
          <p:nvPr/>
        </p:nvSpPr>
        <p:spPr>
          <a:xfrm>
            <a:off x="468313" y="115888"/>
            <a:ext cx="8229600" cy="1143000"/>
          </a:xfrm>
          <a:prstGeom prst="rect">
            <a:avLst/>
          </a:prstGeom>
        </p:spPr>
        <p:txBody>
          <a:bodyPr anchor="ctr">
            <a:normAutofit fontScale="90000" lnSpcReduction="20000"/>
          </a:bodyPr>
          <a:lstStyle/>
          <a:p>
            <a:pPr algn="ctr" eaLnBrk="1" fontAlgn="auto" hangingPunct="1">
              <a:spcAft>
                <a:spcPts val="0"/>
              </a:spcAft>
              <a:defRPr/>
            </a:pPr>
            <a:r>
              <a:rPr lang="en-US" sz="4400" dirty="0">
                <a:solidFill>
                  <a:srgbClr val="0000FF"/>
                </a:solidFill>
                <a:latin typeface="+mj-lt"/>
                <a:ea typeface="+mj-ea"/>
                <a:cs typeface="+mj-cs"/>
              </a:rPr>
              <a:t>Bacteriophage </a:t>
            </a:r>
            <a:r>
              <a:rPr lang="el-GR" sz="4400" dirty="0">
                <a:solidFill>
                  <a:srgbClr val="0000FF"/>
                </a:solidFill>
                <a:latin typeface="+mj-lt"/>
                <a:ea typeface="+mj-ea"/>
                <a:cs typeface="+mj-cs"/>
              </a:rPr>
              <a:t>λ</a:t>
            </a:r>
            <a:r>
              <a:rPr lang="en-US" sz="4400" dirty="0">
                <a:solidFill>
                  <a:srgbClr val="0000FF"/>
                </a:solidFill>
                <a:latin typeface="+mj-lt"/>
                <a:ea typeface="+mj-ea"/>
                <a:cs typeface="+mj-cs"/>
              </a:rPr>
              <a:t> excision requires a new DNA-bending protein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8653EAB5-41BF-8D2F-633E-D2FC7736E480}"/>
              </a:ext>
            </a:extLst>
          </p:cNvPr>
          <p:cNvSpPr>
            <a:spLocks noGrp="1" noChangeArrowheads="1"/>
          </p:cNvSpPr>
          <p:nvPr>
            <p:ph type="title"/>
          </p:nvPr>
        </p:nvSpPr>
        <p:spPr>
          <a:xfrm>
            <a:off x="250825" y="0"/>
            <a:ext cx="8893175" cy="1143000"/>
          </a:xfrm>
        </p:spPr>
        <p:txBody>
          <a:bodyPr/>
          <a:lstStyle/>
          <a:p>
            <a:pPr eaLnBrk="1" hangingPunct="1"/>
            <a:r>
              <a:rPr lang="en-GB" altLang="en-US" sz="3200" b="1">
                <a:solidFill>
                  <a:srgbClr val="7030A0"/>
                </a:solidFill>
              </a:rPr>
              <a:t>II-Expression of Alternative Genes programmed rearrangements</a:t>
            </a:r>
          </a:p>
        </p:txBody>
      </p:sp>
      <p:sp>
        <p:nvSpPr>
          <p:cNvPr id="50179" name="Rectangle 3">
            <a:extLst>
              <a:ext uri="{FF2B5EF4-FFF2-40B4-BE49-F238E27FC236}">
                <a16:creationId xmlns:a16="http://schemas.microsoft.com/office/drawing/2014/main" id="{D521ED3F-EC07-00FA-E67B-A346EF277C24}"/>
              </a:ext>
            </a:extLst>
          </p:cNvPr>
          <p:cNvSpPr>
            <a:spLocks noGrp="1" noChangeArrowheads="1"/>
          </p:cNvSpPr>
          <p:nvPr>
            <p:ph idx="1"/>
          </p:nvPr>
        </p:nvSpPr>
        <p:spPr>
          <a:xfrm>
            <a:off x="50800" y="1341438"/>
            <a:ext cx="5545138" cy="4537075"/>
          </a:xfrm>
        </p:spPr>
        <p:txBody>
          <a:bodyPr/>
          <a:lstStyle/>
          <a:p>
            <a:pPr eaLnBrk="1" hangingPunct="1">
              <a:lnSpc>
                <a:spcPct val="90000"/>
              </a:lnSpc>
            </a:pPr>
            <a:r>
              <a:rPr lang="en-US" altLang="en-US" sz="2800"/>
              <a:t>Flagella are important for mobility</a:t>
            </a:r>
          </a:p>
          <a:p>
            <a:pPr eaLnBrk="1" hangingPunct="1">
              <a:lnSpc>
                <a:spcPct val="90000"/>
              </a:lnSpc>
            </a:pPr>
            <a:endParaRPr lang="en-GB" altLang="en-US" sz="2800"/>
          </a:p>
          <a:p>
            <a:pPr eaLnBrk="1" hangingPunct="1">
              <a:lnSpc>
                <a:spcPct val="90000"/>
              </a:lnSpc>
            </a:pPr>
            <a:r>
              <a:rPr lang="en-GB" altLang="en-US" sz="2800"/>
              <a:t>flagella consist of a class of proteins called </a:t>
            </a:r>
            <a:r>
              <a:rPr lang="en-GB" altLang="en-US" sz="2800" b="1">
                <a:solidFill>
                  <a:srgbClr val="0000FF"/>
                </a:solidFill>
              </a:rPr>
              <a:t>flagellins </a:t>
            </a:r>
            <a:endParaRPr lang="en-US" altLang="en-US" sz="2800" b="1">
              <a:solidFill>
                <a:srgbClr val="0000FF"/>
              </a:solidFill>
            </a:endParaRPr>
          </a:p>
          <a:p>
            <a:pPr eaLnBrk="1" hangingPunct="1">
              <a:lnSpc>
                <a:spcPct val="90000"/>
              </a:lnSpc>
            </a:pPr>
            <a:endParaRPr lang="en-US" altLang="en-US" sz="2800"/>
          </a:p>
          <a:p>
            <a:pPr eaLnBrk="1" hangingPunct="1">
              <a:lnSpc>
                <a:spcPct val="90000"/>
              </a:lnSpc>
            </a:pPr>
            <a:r>
              <a:rPr lang="en-GB" altLang="en-US" sz="2800" b="1">
                <a:solidFill>
                  <a:srgbClr val="0000FF"/>
                </a:solidFill>
              </a:rPr>
              <a:t>Flagellins</a:t>
            </a:r>
            <a:r>
              <a:rPr lang="en-GB" altLang="en-US" sz="2800">
                <a:solidFill>
                  <a:srgbClr val="0000FF"/>
                </a:solidFill>
              </a:rPr>
              <a:t> </a:t>
            </a:r>
            <a:r>
              <a:rPr lang="en-GB" altLang="en-US" sz="2800"/>
              <a:t>are </a:t>
            </a:r>
            <a:r>
              <a:rPr lang="en-GB" altLang="en-US" sz="2800" b="1"/>
              <a:t>immunogenic</a:t>
            </a:r>
            <a:r>
              <a:rPr lang="en-GB" altLang="en-US" sz="2800"/>
              <a:t> and constitute a group of protein antigens called the </a:t>
            </a:r>
            <a:r>
              <a:rPr lang="en-GB" altLang="en-US" sz="2800">
                <a:solidFill>
                  <a:srgbClr val="0000FF"/>
                </a:solidFill>
              </a:rPr>
              <a:t>H antigens </a:t>
            </a:r>
            <a:endParaRPr lang="en-US" altLang="en-US" sz="2800">
              <a:solidFill>
                <a:srgbClr val="0000FF"/>
              </a:solidFill>
            </a:endParaRPr>
          </a:p>
          <a:p>
            <a:pPr eaLnBrk="1" hangingPunct="1">
              <a:lnSpc>
                <a:spcPct val="90000"/>
              </a:lnSpc>
            </a:pPr>
            <a:endParaRPr lang="en-GB" altLang="en-US" sz="2800"/>
          </a:p>
        </p:txBody>
      </p:sp>
      <p:pic>
        <p:nvPicPr>
          <p:cNvPr id="50180" name="Picture 3" descr="12_12Figure-L">
            <a:extLst>
              <a:ext uri="{FF2B5EF4-FFF2-40B4-BE49-F238E27FC236}">
                <a16:creationId xmlns:a16="http://schemas.microsoft.com/office/drawing/2014/main" id="{8216EF01-F592-E7CA-C0C4-A839DC269F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0063" y="1489075"/>
            <a:ext cx="3455987" cy="507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Content Placeholder 5">
            <a:extLst>
              <a:ext uri="{FF2B5EF4-FFF2-40B4-BE49-F238E27FC236}">
                <a16:creationId xmlns:a16="http://schemas.microsoft.com/office/drawing/2014/main" id="{998D9FD8-3485-8E6D-7A14-EEFB3CC2AEC4}"/>
              </a:ext>
            </a:extLst>
          </p:cNvPr>
          <p:cNvSpPr>
            <a:spLocks noGrp="1"/>
          </p:cNvSpPr>
          <p:nvPr>
            <p:ph idx="1"/>
          </p:nvPr>
        </p:nvSpPr>
        <p:spPr/>
        <p:txBody>
          <a:bodyPr/>
          <a:lstStyle/>
          <a:p>
            <a:pPr eaLnBrk="1" hangingPunct="1"/>
            <a:r>
              <a:rPr lang="en-US" altLang="en-US" dirty="0"/>
              <a:t>The salmonella </a:t>
            </a:r>
            <a:r>
              <a:rPr lang="en-US" altLang="en-US" b="1" dirty="0">
                <a:solidFill>
                  <a:srgbClr val="0000FF"/>
                </a:solidFill>
              </a:rPr>
              <a:t>Hin</a:t>
            </a:r>
            <a:r>
              <a:rPr lang="en-US" altLang="en-US" dirty="0"/>
              <a:t> recombinase </a:t>
            </a:r>
            <a:r>
              <a:rPr lang="en-US" altLang="en-US" dirty="0">
                <a:solidFill>
                  <a:srgbClr val="0000FF"/>
                </a:solidFill>
              </a:rPr>
              <a:t>inverts a segment of the bacterial chromosome (~ 1000 bp) to allow expression of two alternative sets of genes.</a:t>
            </a:r>
          </a:p>
          <a:p>
            <a:pPr eaLnBrk="1" hangingPunct="1"/>
            <a:r>
              <a:rPr lang="en-US" altLang="en-US" dirty="0"/>
              <a:t>The genes are alternative forms of </a:t>
            </a:r>
            <a:r>
              <a:rPr lang="en-US" altLang="en-US" b="1" dirty="0">
                <a:solidFill>
                  <a:srgbClr val="0000FF"/>
                </a:solidFill>
              </a:rPr>
              <a:t>flagellin</a:t>
            </a:r>
            <a:r>
              <a:rPr lang="en-US" altLang="en-US" dirty="0"/>
              <a:t> (H1, H2) to avoid recognition by host immune system.</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Text Box 3">
            <a:extLst>
              <a:ext uri="{FF2B5EF4-FFF2-40B4-BE49-F238E27FC236}">
                <a16:creationId xmlns:a16="http://schemas.microsoft.com/office/drawing/2014/main" id="{656A3225-8A72-9B47-10C2-B49692E4E6CC}"/>
              </a:ext>
            </a:extLst>
          </p:cNvPr>
          <p:cNvSpPr txBox="1">
            <a:spLocks noChangeArrowheads="1"/>
          </p:cNvSpPr>
          <p:nvPr/>
        </p:nvSpPr>
        <p:spPr bwMode="auto">
          <a:xfrm>
            <a:off x="3733800" y="2133600"/>
            <a:ext cx="838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a:solidFill>
                  <a:srgbClr val="99CC00"/>
                </a:solidFill>
                <a:latin typeface="Times New Roman" panose="02020603050405020304" pitchFamily="18" charset="0"/>
              </a:rPr>
              <a:t>IS</a:t>
            </a:r>
          </a:p>
        </p:txBody>
      </p:sp>
      <p:grpSp>
        <p:nvGrpSpPr>
          <p:cNvPr id="2" name="Group 4">
            <a:extLst>
              <a:ext uri="{FF2B5EF4-FFF2-40B4-BE49-F238E27FC236}">
                <a16:creationId xmlns:a16="http://schemas.microsoft.com/office/drawing/2014/main" id="{A2F74E78-BF6D-7CB8-1DD0-2F3B63C0F458}"/>
              </a:ext>
            </a:extLst>
          </p:cNvPr>
          <p:cNvGrpSpPr>
            <a:grpSpLocks/>
          </p:cNvGrpSpPr>
          <p:nvPr/>
        </p:nvGrpSpPr>
        <p:grpSpPr bwMode="auto">
          <a:xfrm>
            <a:off x="1295400" y="2133600"/>
            <a:ext cx="5867400" cy="914400"/>
            <a:chOff x="816" y="1344"/>
            <a:chExt cx="3696" cy="576"/>
          </a:xfrm>
        </p:grpSpPr>
        <p:sp>
          <p:nvSpPr>
            <p:cNvPr id="54288" name="Text Box 5">
              <a:extLst>
                <a:ext uri="{FF2B5EF4-FFF2-40B4-BE49-F238E27FC236}">
                  <a16:creationId xmlns:a16="http://schemas.microsoft.com/office/drawing/2014/main" id="{52006D95-C39D-2BD4-0770-E8ADEEA6ABBB}"/>
                </a:ext>
              </a:extLst>
            </p:cNvPr>
            <p:cNvSpPr txBox="1">
              <a:spLocks noChangeArrowheads="1"/>
            </p:cNvSpPr>
            <p:nvPr/>
          </p:nvSpPr>
          <p:spPr bwMode="auto">
            <a:xfrm>
              <a:off x="902" y="1356"/>
              <a:ext cx="97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a:solidFill>
                    <a:schemeClr val="hlink"/>
                  </a:solidFill>
                  <a:latin typeface="Times New Roman" panose="02020603050405020304" pitchFamily="18" charset="0"/>
                </a:rPr>
                <a:t>H1 gene</a:t>
              </a:r>
            </a:p>
          </p:txBody>
        </p:sp>
        <p:sp>
          <p:nvSpPr>
            <p:cNvPr id="54289" name="Text Box 6">
              <a:extLst>
                <a:ext uri="{FF2B5EF4-FFF2-40B4-BE49-F238E27FC236}">
                  <a16:creationId xmlns:a16="http://schemas.microsoft.com/office/drawing/2014/main" id="{8B34AC57-DA94-2960-BD8F-945F09CEAE52}"/>
                </a:ext>
              </a:extLst>
            </p:cNvPr>
            <p:cNvSpPr txBox="1">
              <a:spLocks noChangeArrowheads="1"/>
            </p:cNvSpPr>
            <p:nvPr/>
          </p:nvSpPr>
          <p:spPr bwMode="auto">
            <a:xfrm>
              <a:off x="3456" y="1344"/>
              <a:ext cx="97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a:solidFill>
                    <a:srgbClr val="C00000"/>
                  </a:solidFill>
                  <a:latin typeface="Times New Roman" panose="02020603050405020304" pitchFamily="18" charset="0"/>
                </a:rPr>
                <a:t>H2 gene</a:t>
              </a:r>
            </a:p>
          </p:txBody>
        </p:sp>
        <p:grpSp>
          <p:nvGrpSpPr>
            <p:cNvPr id="54290" name="Group 7">
              <a:extLst>
                <a:ext uri="{FF2B5EF4-FFF2-40B4-BE49-F238E27FC236}">
                  <a16:creationId xmlns:a16="http://schemas.microsoft.com/office/drawing/2014/main" id="{36A341FB-E5F2-6AEC-FBEF-8AF82842092C}"/>
                </a:ext>
              </a:extLst>
            </p:cNvPr>
            <p:cNvGrpSpPr>
              <a:grpSpLocks/>
            </p:cNvGrpSpPr>
            <p:nvPr/>
          </p:nvGrpSpPr>
          <p:grpSpPr bwMode="auto">
            <a:xfrm>
              <a:off x="3408" y="1728"/>
              <a:ext cx="1104" cy="192"/>
              <a:chOff x="3408" y="1728"/>
              <a:chExt cx="1104" cy="192"/>
            </a:xfrm>
          </p:grpSpPr>
          <p:sp>
            <p:nvSpPr>
              <p:cNvPr id="54295" name="Line 8">
                <a:extLst>
                  <a:ext uri="{FF2B5EF4-FFF2-40B4-BE49-F238E27FC236}">
                    <a16:creationId xmlns:a16="http://schemas.microsoft.com/office/drawing/2014/main" id="{AFC2E005-A6F1-E849-5D22-E43ED60FDC5B}"/>
                  </a:ext>
                </a:extLst>
              </p:cNvPr>
              <p:cNvSpPr>
                <a:spLocks noChangeShapeType="1"/>
              </p:cNvSpPr>
              <p:nvPr/>
            </p:nvSpPr>
            <p:spPr bwMode="auto">
              <a:xfrm>
                <a:off x="3408" y="1824"/>
                <a:ext cx="1104"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296" name="Line 9">
                <a:extLst>
                  <a:ext uri="{FF2B5EF4-FFF2-40B4-BE49-F238E27FC236}">
                    <a16:creationId xmlns:a16="http://schemas.microsoft.com/office/drawing/2014/main" id="{981CF0B6-6319-56CE-23D2-0CA30E10CCD3}"/>
                  </a:ext>
                </a:extLst>
              </p:cNvPr>
              <p:cNvSpPr>
                <a:spLocks noChangeShapeType="1"/>
              </p:cNvSpPr>
              <p:nvPr/>
            </p:nvSpPr>
            <p:spPr bwMode="auto">
              <a:xfrm>
                <a:off x="4512" y="1728"/>
                <a:ext cx="0" cy="19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297" name="Line 10">
                <a:extLst>
                  <a:ext uri="{FF2B5EF4-FFF2-40B4-BE49-F238E27FC236}">
                    <a16:creationId xmlns:a16="http://schemas.microsoft.com/office/drawing/2014/main" id="{BEF2D1AB-93D3-60F4-B1E8-95FB594D01F4}"/>
                  </a:ext>
                </a:extLst>
              </p:cNvPr>
              <p:cNvSpPr>
                <a:spLocks noChangeShapeType="1"/>
              </p:cNvSpPr>
              <p:nvPr/>
            </p:nvSpPr>
            <p:spPr bwMode="auto">
              <a:xfrm>
                <a:off x="3408" y="1728"/>
                <a:ext cx="0" cy="19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4291" name="Group 11">
              <a:extLst>
                <a:ext uri="{FF2B5EF4-FFF2-40B4-BE49-F238E27FC236}">
                  <a16:creationId xmlns:a16="http://schemas.microsoft.com/office/drawing/2014/main" id="{4E91DBFC-E61C-A066-B997-ADD616F12723}"/>
                </a:ext>
              </a:extLst>
            </p:cNvPr>
            <p:cNvGrpSpPr>
              <a:grpSpLocks/>
            </p:cNvGrpSpPr>
            <p:nvPr/>
          </p:nvGrpSpPr>
          <p:grpSpPr bwMode="auto">
            <a:xfrm>
              <a:off x="816" y="1728"/>
              <a:ext cx="1104" cy="192"/>
              <a:chOff x="816" y="1728"/>
              <a:chExt cx="1104" cy="192"/>
            </a:xfrm>
          </p:grpSpPr>
          <p:sp>
            <p:nvSpPr>
              <p:cNvPr id="54292" name="Line 12">
                <a:extLst>
                  <a:ext uri="{FF2B5EF4-FFF2-40B4-BE49-F238E27FC236}">
                    <a16:creationId xmlns:a16="http://schemas.microsoft.com/office/drawing/2014/main" id="{28982512-D39D-4598-5166-AC2299D855DD}"/>
                  </a:ext>
                </a:extLst>
              </p:cNvPr>
              <p:cNvSpPr>
                <a:spLocks noChangeShapeType="1"/>
              </p:cNvSpPr>
              <p:nvPr/>
            </p:nvSpPr>
            <p:spPr bwMode="auto">
              <a:xfrm>
                <a:off x="816" y="1824"/>
                <a:ext cx="1104"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293" name="Line 13">
                <a:extLst>
                  <a:ext uri="{FF2B5EF4-FFF2-40B4-BE49-F238E27FC236}">
                    <a16:creationId xmlns:a16="http://schemas.microsoft.com/office/drawing/2014/main" id="{4CC68E2B-0B92-5F18-435A-1253073C2DDD}"/>
                  </a:ext>
                </a:extLst>
              </p:cNvPr>
              <p:cNvSpPr>
                <a:spLocks noChangeShapeType="1"/>
              </p:cNvSpPr>
              <p:nvPr/>
            </p:nvSpPr>
            <p:spPr bwMode="auto">
              <a:xfrm>
                <a:off x="816" y="1728"/>
                <a:ext cx="0" cy="19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294" name="Line 14">
                <a:extLst>
                  <a:ext uri="{FF2B5EF4-FFF2-40B4-BE49-F238E27FC236}">
                    <a16:creationId xmlns:a16="http://schemas.microsoft.com/office/drawing/2014/main" id="{F8A110AE-F0C1-CDE0-BA64-6796C9466913}"/>
                  </a:ext>
                </a:extLst>
              </p:cNvPr>
              <p:cNvSpPr>
                <a:spLocks noChangeShapeType="1"/>
              </p:cNvSpPr>
              <p:nvPr/>
            </p:nvSpPr>
            <p:spPr bwMode="auto">
              <a:xfrm>
                <a:off x="1920" y="1728"/>
                <a:ext cx="0" cy="19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5" name="Group 15">
            <a:extLst>
              <a:ext uri="{FF2B5EF4-FFF2-40B4-BE49-F238E27FC236}">
                <a16:creationId xmlns:a16="http://schemas.microsoft.com/office/drawing/2014/main" id="{72B9A49A-E813-6EDB-8963-ABB0571DF873}"/>
              </a:ext>
            </a:extLst>
          </p:cNvPr>
          <p:cNvGrpSpPr>
            <a:grpSpLocks/>
          </p:cNvGrpSpPr>
          <p:nvPr/>
        </p:nvGrpSpPr>
        <p:grpSpPr bwMode="auto">
          <a:xfrm>
            <a:off x="1447800" y="2895600"/>
            <a:ext cx="3962400" cy="2286000"/>
            <a:chOff x="912" y="1824"/>
            <a:chExt cx="2496" cy="1440"/>
          </a:xfrm>
        </p:grpSpPr>
        <p:sp>
          <p:nvSpPr>
            <p:cNvPr id="54284" name="Line 16">
              <a:extLst>
                <a:ext uri="{FF2B5EF4-FFF2-40B4-BE49-F238E27FC236}">
                  <a16:creationId xmlns:a16="http://schemas.microsoft.com/office/drawing/2014/main" id="{17D8C3E5-3642-10DC-3CD9-B6908A12081D}"/>
                </a:ext>
              </a:extLst>
            </p:cNvPr>
            <p:cNvSpPr>
              <a:spLocks noChangeShapeType="1"/>
            </p:cNvSpPr>
            <p:nvPr/>
          </p:nvSpPr>
          <p:spPr bwMode="auto">
            <a:xfrm flipH="1">
              <a:off x="1920" y="1824"/>
              <a:ext cx="1488" cy="0"/>
            </a:xfrm>
            <a:prstGeom prst="line">
              <a:avLst/>
            </a:prstGeom>
            <a:noFill/>
            <a:ln w="76200">
              <a:solidFill>
                <a:srgbClr val="99CC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54285" name="Group 17">
              <a:extLst>
                <a:ext uri="{FF2B5EF4-FFF2-40B4-BE49-F238E27FC236}">
                  <a16:creationId xmlns:a16="http://schemas.microsoft.com/office/drawing/2014/main" id="{236F15A6-5459-30DE-F66F-D382F3EB96DC}"/>
                </a:ext>
              </a:extLst>
            </p:cNvPr>
            <p:cNvGrpSpPr>
              <a:grpSpLocks/>
            </p:cNvGrpSpPr>
            <p:nvPr/>
          </p:nvGrpSpPr>
          <p:grpSpPr bwMode="auto">
            <a:xfrm>
              <a:off x="912" y="1968"/>
              <a:ext cx="912" cy="1296"/>
              <a:chOff x="912" y="1968"/>
              <a:chExt cx="912" cy="1296"/>
            </a:xfrm>
          </p:grpSpPr>
          <p:sp>
            <p:nvSpPr>
              <p:cNvPr id="54286" name="Line 18">
                <a:extLst>
                  <a:ext uri="{FF2B5EF4-FFF2-40B4-BE49-F238E27FC236}">
                    <a16:creationId xmlns:a16="http://schemas.microsoft.com/office/drawing/2014/main" id="{4091FFB7-84CE-5649-0CB3-2C336F6F13D1}"/>
                  </a:ext>
                </a:extLst>
              </p:cNvPr>
              <p:cNvSpPr>
                <a:spLocks noChangeShapeType="1"/>
              </p:cNvSpPr>
              <p:nvPr/>
            </p:nvSpPr>
            <p:spPr bwMode="auto">
              <a:xfrm>
                <a:off x="1344" y="1968"/>
                <a:ext cx="0" cy="48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4287" name="Text Box 19">
                <a:extLst>
                  <a:ext uri="{FF2B5EF4-FFF2-40B4-BE49-F238E27FC236}">
                    <a16:creationId xmlns:a16="http://schemas.microsoft.com/office/drawing/2014/main" id="{AE964EB3-0005-E8F4-1E6F-D20756331C74}"/>
                  </a:ext>
                </a:extLst>
              </p:cNvPr>
              <p:cNvSpPr txBox="1">
                <a:spLocks noChangeArrowheads="1"/>
              </p:cNvSpPr>
              <p:nvPr/>
            </p:nvSpPr>
            <p:spPr bwMode="auto">
              <a:xfrm>
                <a:off x="912" y="2592"/>
                <a:ext cx="912" cy="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a:solidFill>
                      <a:schemeClr val="hlink"/>
                    </a:solidFill>
                    <a:latin typeface="Times New Roman" panose="02020603050405020304" pitchFamily="18" charset="0"/>
                  </a:rPr>
                  <a:t>H1 flagella</a:t>
                </a:r>
              </a:p>
            </p:txBody>
          </p:sp>
        </p:grpSp>
      </p:grpSp>
      <p:grpSp>
        <p:nvGrpSpPr>
          <p:cNvPr id="7" name="Group 20">
            <a:extLst>
              <a:ext uri="{FF2B5EF4-FFF2-40B4-BE49-F238E27FC236}">
                <a16:creationId xmlns:a16="http://schemas.microsoft.com/office/drawing/2014/main" id="{789DA4D6-F564-D88D-ECD8-75ED9E097F64}"/>
              </a:ext>
            </a:extLst>
          </p:cNvPr>
          <p:cNvGrpSpPr>
            <a:grpSpLocks/>
          </p:cNvGrpSpPr>
          <p:nvPr/>
        </p:nvGrpSpPr>
        <p:grpSpPr bwMode="auto">
          <a:xfrm>
            <a:off x="3059113" y="2852738"/>
            <a:ext cx="3962400" cy="2286000"/>
            <a:chOff x="1920" y="1824"/>
            <a:chExt cx="2496" cy="1440"/>
          </a:xfrm>
        </p:grpSpPr>
        <p:sp>
          <p:nvSpPr>
            <p:cNvPr id="54280" name="Line 21">
              <a:extLst>
                <a:ext uri="{FF2B5EF4-FFF2-40B4-BE49-F238E27FC236}">
                  <a16:creationId xmlns:a16="http://schemas.microsoft.com/office/drawing/2014/main" id="{A2F17EDD-5F2A-F845-292B-5D02409AD12F}"/>
                </a:ext>
              </a:extLst>
            </p:cNvPr>
            <p:cNvSpPr>
              <a:spLocks noChangeShapeType="1"/>
            </p:cNvSpPr>
            <p:nvPr/>
          </p:nvSpPr>
          <p:spPr bwMode="auto">
            <a:xfrm>
              <a:off x="1920" y="1824"/>
              <a:ext cx="1488" cy="0"/>
            </a:xfrm>
            <a:prstGeom prst="line">
              <a:avLst/>
            </a:prstGeom>
            <a:noFill/>
            <a:ln w="76200">
              <a:solidFill>
                <a:srgbClr val="99CC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54281" name="Group 22">
              <a:extLst>
                <a:ext uri="{FF2B5EF4-FFF2-40B4-BE49-F238E27FC236}">
                  <a16:creationId xmlns:a16="http://schemas.microsoft.com/office/drawing/2014/main" id="{8DADD140-E571-9259-A6E6-812AB6DAFD88}"/>
                </a:ext>
              </a:extLst>
            </p:cNvPr>
            <p:cNvGrpSpPr>
              <a:grpSpLocks/>
            </p:cNvGrpSpPr>
            <p:nvPr/>
          </p:nvGrpSpPr>
          <p:grpSpPr bwMode="auto">
            <a:xfrm>
              <a:off x="3504" y="2016"/>
              <a:ext cx="912" cy="1248"/>
              <a:chOff x="3504" y="2016"/>
              <a:chExt cx="912" cy="1248"/>
            </a:xfrm>
          </p:grpSpPr>
          <p:sp>
            <p:nvSpPr>
              <p:cNvPr id="54282" name="Line 23">
                <a:extLst>
                  <a:ext uri="{FF2B5EF4-FFF2-40B4-BE49-F238E27FC236}">
                    <a16:creationId xmlns:a16="http://schemas.microsoft.com/office/drawing/2014/main" id="{AA983569-C1B7-116B-A08D-01F521A41736}"/>
                  </a:ext>
                </a:extLst>
              </p:cNvPr>
              <p:cNvSpPr>
                <a:spLocks noChangeShapeType="1"/>
              </p:cNvSpPr>
              <p:nvPr/>
            </p:nvSpPr>
            <p:spPr bwMode="auto">
              <a:xfrm>
                <a:off x="3936" y="2016"/>
                <a:ext cx="0" cy="48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4283" name="Text Box 24">
                <a:extLst>
                  <a:ext uri="{FF2B5EF4-FFF2-40B4-BE49-F238E27FC236}">
                    <a16:creationId xmlns:a16="http://schemas.microsoft.com/office/drawing/2014/main" id="{A684C607-7FB6-6109-44F8-0772093CBFA5}"/>
                  </a:ext>
                </a:extLst>
              </p:cNvPr>
              <p:cNvSpPr txBox="1">
                <a:spLocks noChangeArrowheads="1"/>
              </p:cNvSpPr>
              <p:nvPr/>
            </p:nvSpPr>
            <p:spPr bwMode="auto">
              <a:xfrm>
                <a:off x="3504" y="2592"/>
                <a:ext cx="912" cy="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a:solidFill>
                      <a:srgbClr val="C00000"/>
                    </a:solidFill>
                    <a:latin typeface="Times New Roman" panose="02020603050405020304" pitchFamily="18" charset="0"/>
                  </a:rPr>
                  <a:t>H2 flagella</a:t>
                </a:r>
              </a:p>
            </p:txBody>
          </p:sp>
        </p:grpSp>
      </p:grpSp>
      <p:sp>
        <p:nvSpPr>
          <p:cNvPr id="54278" name="Rectangle 25">
            <a:extLst>
              <a:ext uri="{FF2B5EF4-FFF2-40B4-BE49-F238E27FC236}">
                <a16:creationId xmlns:a16="http://schemas.microsoft.com/office/drawing/2014/main" id="{FCED9FF0-07D9-1687-43E7-C46E5AE6772C}"/>
              </a:ext>
            </a:extLst>
          </p:cNvPr>
          <p:cNvSpPr>
            <a:spLocks noGrp="1" noChangeArrowheads="1"/>
          </p:cNvSpPr>
          <p:nvPr>
            <p:ph type="title"/>
          </p:nvPr>
        </p:nvSpPr>
        <p:spPr>
          <a:xfrm>
            <a:off x="179388" y="277813"/>
            <a:ext cx="8640762" cy="847725"/>
          </a:xfrm>
        </p:spPr>
        <p:txBody>
          <a:bodyPr/>
          <a:lstStyle/>
          <a:p>
            <a:pPr eaLnBrk="1" hangingPunct="1"/>
            <a:r>
              <a:rPr lang="en-US" altLang="en-US" sz="3600" b="1">
                <a:solidFill>
                  <a:srgbClr val="0000FF"/>
                </a:solidFill>
              </a:rPr>
              <a:t>Phase variation in Salmonella H antigens</a:t>
            </a:r>
            <a:endParaRPr lang="en-GB" altLang="en-US" sz="4000" b="1">
              <a:solidFill>
                <a:srgbClr val="0000FF"/>
              </a:solidFill>
            </a:endParaRPr>
          </a:p>
        </p:txBody>
      </p:sp>
      <p:sp>
        <p:nvSpPr>
          <p:cNvPr id="27655" name="Text Box 26">
            <a:extLst>
              <a:ext uri="{FF2B5EF4-FFF2-40B4-BE49-F238E27FC236}">
                <a16:creationId xmlns:a16="http://schemas.microsoft.com/office/drawing/2014/main" id="{EC2926F1-1800-D0B2-1562-D87AE0CE537A}"/>
              </a:ext>
            </a:extLst>
          </p:cNvPr>
          <p:cNvSpPr txBox="1">
            <a:spLocks noChangeArrowheads="1"/>
          </p:cNvSpPr>
          <p:nvPr/>
        </p:nvSpPr>
        <p:spPr bwMode="auto">
          <a:xfrm>
            <a:off x="2771775" y="5516563"/>
            <a:ext cx="3240088" cy="368300"/>
          </a:xfrm>
          <a:prstGeom prst="rect">
            <a:avLst/>
          </a:prstGeom>
          <a:solidFill>
            <a:schemeClr val="accent6">
              <a:lumMod val="20000"/>
              <a:lumOff val="80000"/>
            </a:schemeClr>
          </a:solidFill>
          <a:ln>
            <a:noFill/>
          </a:ln>
        </p:spPr>
        <p:txBody>
          <a:bodyPr>
            <a:spAutoFit/>
          </a:bodyPr>
          <a:lstStyle>
            <a:lvl1pPr eaLnBrk="0" hangingPunct="0">
              <a:defRPr>
                <a:solidFill>
                  <a:schemeClr val="tx1"/>
                </a:solidFill>
                <a:latin typeface="Verdana" pitchFamily="34" charset="0"/>
                <a:cs typeface="Arial" charset="0"/>
              </a:defRPr>
            </a:lvl1pPr>
            <a:lvl2pPr marL="742950" indent="-285750" eaLnBrk="0" hangingPunct="0">
              <a:defRPr>
                <a:solidFill>
                  <a:schemeClr val="tx1"/>
                </a:solidFill>
                <a:latin typeface="Verdana" pitchFamily="34" charset="0"/>
                <a:cs typeface="Arial" charset="0"/>
              </a:defRPr>
            </a:lvl2pPr>
            <a:lvl3pPr marL="1143000" indent="-228600" eaLnBrk="0" hangingPunct="0">
              <a:defRPr>
                <a:solidFill>
                  <a:schemeClr val="tx1"/>
                </a:solidFill>
                <a:latin typeface="Verdana" pitchFamily="34" charset="0"/>
                <a:cs typeface="Arial" charset="0"/>
              </a:defRPr>
            </a:lvl3pPr>
            <a:lvl4pPr marL="1600200" indent="-228600" eaLnBrk="0" hangingPunct="0">
              <a:defRPr>
                <a:solidFill>
                  <a:schemeClr val="tx1"/>
                </a:solidFill>
                <a:latin typeface="Verdana" pitchFamily="34" charset="0"/>
                <a:cs typeface="Arial" charset="0"/>
              </a:defRPr>
            </a:lvl4pPr>
            <a:lvl5pPr marL="2057400" indent="-228600" eaLnBrk="0" hangingPunct="0">
              <a:defRPr>
                <a:solidFill>
                  <a:schemeClr val="tx1"/>
                </a:solidFill>
                <a:latin typeface="Verdana" pitchFamily="34" charset="0"/>
                <a:cs typeface="Arial" charset="0"/>
              </a:defRPr>
            </a:lvl5pPr>
            <a:lvl6pPr marL="2514600" indent="-228600" eaLnBrk="0" fontAlgn="base" hangingPunct="0">
              <a:spcBef>
                <a:spcPct val="0"/>
              </a:spcBef>
              <a:spcAft>
                <a:spcPct val="0"/>
              </a:spcAft>
              <a:defRPr>
                <a:solidFill>
                  <a:schemeClr val="tx1"/>
                </a:solidFill>
                <a:latin typeface="Verdana" pitchFamily="34" charset="0"/>
                <a:cs typeface="Arial" charset="0"/>
              </a:defRPr>
            </a:lvl6pPr>
            <a:lvl7pPr marL="2971800" indent="-228600" eaLnBrk="0" fontAlgn="base" hangingPunct="0">
              <a:spcBef>
                <a:spcPct val="0"/>
              </a:spcBef>
              <a:spcAft>
                <a:spcPct val="0"/>
              </a:spcAft>
              <a:defRPr>
                <a:solidFill>
                  <a:schemeClr val="tx1"/>
                </a:solidFill>
                <a:latin typeface="Verdana" pitchFamily="34" charset="0"/>
                <a:cs typeface="Arial" charset="0"/>
              </a:defRPr>
            </a:lvl7pPr>
            <a:lvl8pPr marL="3429000" indent="-228600" eaLnBrk="0" fontAlgn="base" hangingPunct="0">
              <a:spcBef>
                <a:spcPct val="0"/>
              </a:spcBef>
              <a:spcAft>
                <a:spcPct val="0"/>
              </a:spcAft>
              <a:defRPr>
                <a:solidFill>
                  <a:schemeClr val="tx1"/>
                </a:solidFill>
                <a:latin typeface="Verdana" pitchFamily="34" charset="0"/>
                <a:cs typeface="Arial" charset="0"/>
              </a:defRPr>
            </a:lvl8pPr>
            <a:lvl9pPr marL="3886200" indent="-228600" eaLnBrk="0" fontAlgn="base" hangingPunct="0">
              <a:spcBef>
                <a:spcPct val="0"/>
              </a:spcBef>
              <a:spcAft>
                <a:spcPct val="0"/>
              </a:spcAft>
              <a:defRPr>
                <a:solidFill>
                  <a:schemeClr val="tx1"/>
                </a:solidFill>
                <a:latin typeface="Verdana" pitchFamily="34" charset="0"/>
                <a:cs typeface="Arial" charset="0"/>
              </a:defRPr>
            </a:lvl9pPr>
          </a:lstStyle>
          <a:p>
            <a:pPr eaLnBrk="1" hangingPunct="1">
              <a:spcBef>
                <a:spcPct val="50000"/>
              </a:spcBef>
              <a:defRPr/>
            </a:pPr>
            <a:r>
              <a:rPr lang="en-US" b="1" dirty="0"/>
              <a:t>IS=invertible segment</a:t>
            </a:r>
            <a:endParaRPr lang="en-GB" b="1"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7065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9"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4" name="Rectangle 6">
            <a:extLst>
              <a:ext uri="{FF2B5EF4-FFF2-40B4-BE49-F238E27FC236}">
                <a16:creationId xmlns:a16="http://schemas.microsoft.com/office/drawing/2014/main" id="{EDB27948-495E-1A7E-817E-0348CFA8CFA9}"/>
              </a:ext>
            </a:extLst>
          </p:cNvPr>
          <p:cNvSpPr>
            <a:spLocks noGrp="1" noChangeArrowheads="1"/>
          </p:cNvSpPr>
          <p:nvPr>
            <p:ph type="body" sz="half" idx="2"/>
          </p:nvPr>
        </p:nvSpPr>
        <p:spPr>
          <a:xfrm>
            <a:off x="539750" y="5373688"/>
            <a:ext cx="6172200" cy="503237"/>
          </a:xfrm>
          <a:solidFill>
            <a:schemeClr val="bg1">
              <a:lumMod val="95000"/>
            </a:schemeClr>
          </a:solidFill>
        </p:spPr>
        <p:txBody>
          <a:bodyPr rtlCol="0">
            <a:noAutofit/>
          </a:bodyPr>
          <a:lstStyle/>
          <a:p>
            <a:pPr eaLnBrk="1" fontAlgn="auto" hangingPunct="1">
              <a:lnSpc>
                <a:spcPct val="90000"/>
              </a:lnSpc>
              <a:spcAft>
                <a:spcPts val="0"/>
              </a:spcAft>
              <a:defRPr/>
            </a:pPr>
            <a:r>
              <a:rPr lang="en-GB" sz="2400" b="1" dirty="0">
                <a:solidFill>
                  <a:srgbClr val="0000FF"/>
                </a:solidFill>
                <a:latin typeface="+mj-lt"/>
              </a:rPr>
              <a:t>Recombinase called </a:t>
            </a:r>
            <a:r>
              <a:rPr lang="en-GB" sz="2400" b="1" dirty="0" err="1">
                <a:solidFill>
                  <a:srgbClr val="0000FF"/>
                </a:solidFill>
                <a:latin typeface="+mj-lt"/>
              </a:rPr>
              <a:t>Hin</a:t>
            </a:r>
            <a:r>
              <a:rPr lang="en-GB" sz="2400" b="1" dirty="0">
                <a:solidFill>
                  <a:srgbClr val="0000FF"/>
                </a:solidFill>
                <a:latin typeface="+mj-lt"/>
              </a:rPr>
              <a:t> (a Ser recombinase)</a:t>
            </a:r>
          </a:p>
        </p:txBody>
      </p:sp>
      <p:pic>
        <p:nvPicPr>
          <p:cNvPr id="56323" name="Picture 14">
            <a:extLst>
              <a:ext uri="{FF2B5EF4-FFF2-40B4-BE49-F238E27FC236}">
                <a16:creationId xmlns:a16="http://schemas.microsoft.com/office/drawing/2014/main" id="{AC576601-2831-126F-0441-6F041B6726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10432"/>
          <a:stretch>
            <a:fillRect/>
          </a:stretch>
        </p:blipFill>
        <p:spPr bwMode="auto">
          <a:xfrm>
            <a:off x="684213" y="404813"/>
            <a:ext cx="7488237" cy="460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Text Box 15">
            <a:extLst>
              <a:ext uri="{FF2B5EF4-FFF2-40B4-BE49-F238E27FC236}">
                <a16:creationId xmlns:a16="http://schemas.microsoft.com/office/drawing/2014/main" id="{6580C3A0-824E-CC41-966C-8E31C734B01D}"/>
              </a:ext>
            </a:extLst>
          </p:cNvPr>
          <p:cNvSpPr txBox="1">
            <a:spLocks noChangeArrowheads="1"/>
          </p:cNvSpPr>
          <p:nvPr/>
        </p:nvSpPr>
        <p:spPr bwMode="auto">
          <a:xfrm>
            <a:off x="5651500" y="1939925"/>
            <a:ext cx="936625" cy="517525"/>
          </a:xfrm>
          <a:prstGeom prst="rect">
            <a:avLst/>
          </a:prstGeom>
          <a:solidFill>
            <a:schemeClr val="accent6">
              <a:lumMod val="20000"/>
              <a:lumOff val="80000"/>
            </a:schemeClr>
          </a:solidFill>
          <a:ln>
            <a:noFill/>
          </a:ln>
        </p:spPr>
        <p:txBody>
          <a:bodyPr>
            <a:spAutoFit/>
          </a:bodyPr>
          <a:lstStyle>
            <a:lvl1pPr eaLnBrk="0" hangingPunct="0">
              <a:defRPr>
                <a:solidFill>
                  <a:schemeClr val="tx1"/>
                </a:solidFill>
                <a:latin typeface="Verdana" pitchFamily="34" charset="0"/>
                <a:cs typeface="Arial" charset="0"/>
              </a:defRPr>
            </a:lvl1pPr>
            <a:lvl2pPr marL="742950" indent="-285750" eaLnBrk="0" hangingPunct="0">
              <a:defRPr>
                <a:solidFill>
                  <a:schemeClr val="tx1"/>
                </a:solidFill>
                <a:latin typeface="Verdana" pitchFamily="34" charset="0"/>
                <a:cs typeface="Arial" charset="0"/>
              </a:defRPr>
            </a:lvl2pPr>
            <a:lvl3pPr marL="1143000" indent="-228600" eaLnBrk="0" hangingPunct="0">
              <a:defRPr>
                <a:solidFill>
                  <a:schemeClr val="tx1"/>
                </a:solidFill>
                <a:latin typeface="Verdana" pitchFamily="34" charset="0"/>
                <a:cs typeface="Arial" charset="0"/>
              </a:defRPr>
            </a:lvl3pPr>
            <a:lvl4pPr marL="1600200" indent="-228600" eaLnBrk="0" hangingPunct="0">
              <a:defRPr>
                <a:solidFill>
                  <a:schemeClr val="tx1"/>
                </a:solidFill>
                <a:latin typeface="Verdana" pitchFamily="34" charset="0"/>
                <a:cs typeface="Arial" charset="0"/>
              </a:defRPr>
            </a:lvl4pPr>
            <a:lvl5pPr marL="2057400" indent="-228600" eaLnBrk="0" hangingPunct="0">
              <a:defRPr>
                <a:solidFill>
                  <a:schemeClr val="tx1"/>
                </a:solidFill>
                <a:latin typeface="Verdana" pitchFamily="34" charset="0"/>
                <a:cs typeface="Arial" charset="0"/>
              </a:defRPr>
            </a:lvl5pPr>
            <a:lvl6pPr marL="2514600" indent="-228600" eaLnBrk="0" fontAlgn="base" hangingPunct="0">
              <a:spcBef>
                <a:spcPct val="0"/>
              </a:spcBef>
              <a:spcAft>
                <a:spcPct val="0"/>
              </a:spcAft>
              <a:defRPr>
                <a:solidFill>
                  <a:schemeClr val="tx1"/>
                </a:solidFill>
                <a:latin typeface="Verdana" pitchFamily="34" charset="0"/>
                <a:cs typeface="Arial" charset="0"/>
              </a:defRPr>
            </a:lvl6pPr>
            <a:lvl7pPr marL="2971800" indent="-228600" eaLnBrk="0" fontAlgn="base" hangingPunct="0">
              <a:spcBef>
                <a:spcPct val="0"/>
              </a:spcBef>
              <a:spcAft>
                <a:spcPct val="0"/>
              </a:spcAft>
              <a:defRPr>
                <a:solidFill>
                  <a:schemeClr val="tx1"/>
                </a:solidFill>
                <a:latin typeface="Verdana" pitchFamily="34" charset="0"/>
                <a:cs typeface="Arial" charset="0"/>
              </a:defRPr>
            </a:lvl7pPr>
            <a:lvl8pPr marL="3429000" indent="-228600" eaLnBrk="0" fontAlgn="base" hangingPunct="0">
              <a:spcBef>
                <a:spcPct val="0"/>
              </a:spcBef>
              <a:spcAft>
                <a:spcPct val="0"/>
              </a:spcAft>
              <a:defRPr>
                <a:solidFill>
                  <a:schemeClr val="tx1"/>
                </a:solidFill>
                <a:latin typeface="Verdana" pitchFamily="34" charset="0"/>
                <a:cs typeface="Arial" charset="0"/>
              </a:defRPr>
            </a:lvl8pPr>
            <a:lvl9pPr marL="3886200" indent="-228600" eaLnBrk="0" fontAlgn="base" hangingPunct="0">
              <a:spcBef>
                <a:spcPct val="0"/>
              </a:spcBef>
              <a:spcAft>
                <a:spcPct val="0"/>
              </a:spcAft>
              <a:defRPr>
                <a:solidFill>
                  <a:schemeClr val="tx1"/>
                </a:solidFill>
                <a:latin typeface="Verdana" pitchFamily="34" charset="0"/>
                <a:cs typeface="Arial" charset="0"/>
              </a:defRPr>
            </a:lvl9pPr>
          </a:lstStyle>
          <a:p>
            <a:pPr algn="ctr" eaLnBrk="1" hangingPunct="1">
              <a:spcBef>
                <a:spcPct val="50000"/>
              </a:spcBef>
              <a:defRPr/>
            </a:pPr>
            <a:r>
              <a:rPr lang="en-US" sz="1400" dirty="0">
                <a:solidFill>
                  <a:srgbClr val="000000"/>
                </a:solidFill>
              </a:rPr>
              <a:t>H2 </a:t>
            </a:r>
            <a:r>
              <a:rPr lang="en-US" sz="1400" dirty="0" err="1">
                <a:solidFill>
                  <a:srgbClr val="000000"/>
                </a:solidFill>
              </a:rPr>
              <a:t>flagellin</a:t>
            </a:r>
            <a:endParaRPr lang="en-GB" sz="1400" dirty="0">
              <a:solidFill>
                <a:srgbClr val="000000"/>
              </a:solidFill>
            </a:endParaRPr>
          </a:p>
        </p:txBody>
      </p:sp>
      <p:sp>
        <p:nvSpPr>
          <p:cNvPr id="28677" name="Text Box 16">
            <a:extLst>
              <a:ext uri="{FF2B5EF4-FFF2-40B4-BE49-F238E27FC236}">
                <a16:creationId xmlns:a16="http://schemas.microsoft.com/office/drawing/2014/main" id="{F23945B6-9F57-261F-772B-2535272C8A46}"/>
              </a:ext>
            </a:extLst>
          </p:cNvPr>
          <p:cNvSpPr txBox="1">
            <a:spLocks noChangeArrowheads="1"/>
          </p:cNvSpPr>
          <p:nvPr/>
        </p:nvSpPr>
        <p:spPr bwMode="auto">
          <a:xfrm>
            <a:off x="6711950" y="1939925"/>
            <a:ext cx="1584325" cy="522288"/>
          </a:xfrm>
          <a:prstGeom prst="rect">
            <a:avLst/>
          </a:prstGeom>
          <a:solidFill>
            <a:schemeClr val="accent6">
              <a:lumMod val="20000"/>
              <a:lumOff val="80000"/>
            </a:schemeClr>
          </a:solidFill>
          <a:ln>
            <a:noFill/>
          </a:ln>
        </p:spPr>
        <p:txBody>
          <a:bodyPr>
            <a:spAutoFit/>
          </a:bodyPr>
          <a:lstStyle>
            <a:lvl1pPr eaLnBrk="0" hangingPunct="0">
              <a:defRPr>
                <a:solidFill>
                  <a:schemeClr val="tx1"/>
                </a:solidFill>
                <a:latin typeface="Verdana" pitchFamily="34" charset="0"/>
                <a:cs typeface="Arial" charset="0"/>
              </a:defRPr>
            </a:lvl1pPr>
            <a:lvl2pPr marL="742950" indent="-285750" eaLnBrk="0" hangingPunct="0">
              <a:defRPr>
                <a:solidFill>
                  <a:schemeClr val="tx1"/>
                </a:solidFill>
                <a:latin typeface="Verdana" pitchFamily="34" charset="0"/>
                <a:cs typeface="Arial" charset="0"/>
              </a:defRPr>
            </a:lvl2pPr>
            <a:lvl3pPr marL="1143000" indent="-228600" eaLnBrk="0" hangingPunct="0">
              <a:defRPr>
                <a:solidFill>
                  <a:schemeClr val="tx1"/>
                </a:solidFill>
                <a:latin typeface="Verdana" pitchFamily="34" charset="0"/>
                <a:cs typeface="Arial" charset="0"/>
              </a:defRPr>
            </a:lvl3pPr>
            <a:lvl4pPr marL="1600200" indent="-228600" eaLnBrk="0" hangingPunct="0">
              <a:defRPr>
                <a:solidFill>
                  <a:schemeClr val="tx1"/>
                </a:solidFill>
                <a:latin typeface="Verdana" pitchFamily="34" charset="0"/>
                <a:cs typeface="Arial" charset="0"/>
              </a:defRPr>
            </a:lvl4pPr>
            <a:lvl5pPr marL="2057400" indent="-228600" eaLnBrk="0" hangingPunct="0">
              <a:defRPr>
                <a:solidFill>
                  <a:schemeClr val="tx1"/>
                </a:solidFill>
                <a:latin typeface="Verdana" pitchFamily="34" charset="0"/>
                <a:cs typeface="Arial" charset="0"/>
              </a:defRPr>
            </a:lvl5pPr>
            <a:lvl6pPr marL="2514600" indent="-228600" eaLnBrk="0" fontAlgn="base" hangingPunct="0">
              <a:spcBef>
                <a:spcPct val="0"/>
              </a:spcBef>
              <a:spcAft>
                <a:spcPct val="0"/>
              </a:spcAft>
              <a:defRPr>
                <a:solidFill>
                  <a:schemeClr val="tx1"/>
                </a:solidFill>
                <a:latin typeface="Verdana" pitchFamily="34" charset="0"/>
                <a:cs typeface="Arial" charset="0"/>
              </a:defRPr>
            </a:lvl6pPr>
            <a:lvl7pPr marL="2971800" indent="-228600" eaLnBrk="0" fontAlgn="base" hangingPunct="0">
              <a:spcBef>
                <a:spcPct val="0"/>
              </a:spcBef>
              <a:spcAft>
                <a:spcPct val="0"/>
              </a:spcAft>
              <a:defRPr>
                <a:solidFill>
                  <a:schemeClr val="tx1"/>
                </a:solidFill>
                <a:latin typeface="Verdana" pitchFamily="34" charset="0"/>
                <a:cs typeface="Arial" charset="0"/>
              </a:defRPr>
            </a:lvl7pPr>
            <a:lvl8pPr marL="3429000" indent="-228600" eaLnBrk="0" fontAlgn="base" hangingPunct="0">
              <a:spcBef>
                <a:spcPct val="0"/>
              </a:spcBef>
              <a:spcAft>
                <a:spcPct val="0"/>
              </a:spcAft>
              <a:defRPr>
                <a:solidFill>
                  <a:schemeClr val="tx1"/>
                </a:solidFill>
                <a:latin typeface="Verdana" pitchFamily="34" charset="0"/>
                <a:cs typeface="Arial" charset="0"/>
              </a:defRPr>
            </a:lvl8pPr>
            <a:lvl9pPr marL="3886200" indent="-228600" eaLnBrk="0" fontAlgn="base" hangingPunct="0">
              <a:spcBef>
                <a:spcPct val="0"/>
              </a:spcBef>
              <a:spcAft>
                <a:spcPct val="0"/>
              </a:spcAft>
              <a:defRPr>
                <a:solidFill>
                  <a:schemeClr val="tx1"/>
                </a:solidFill>
                <a:latin typeface="Verdana" pitchFamily="34" charset="0"/>
                <a:cs typeface="Arial" charset="0"/>
              </a:defRPr>
            </a:lvl9pPr>
          </a:lstStyle>
          <a:p>
            <a:pPr algn="ctr" eaLnBrk="1" hangingPunct="1">
              <a:spcBef>
                <a:spcPct val="50000"/>
              </a:spcBef>
              <a:defRPr/>
            </a:pPr>
            <a:r>
              <a:rPr lang="en-US" sz="1400" dirty="0">
                <a:solidFill>
                  <a:srgbClr val="000000"/>
                </a:solidFill>
              </a:rPr>
              <a:t>Repressor of H1 </a:t>
            </a:r>
            <a:r>
              <a:rPr lang="en-US" sz="1400" dirty="0" err="1">
                <a:solidFill>
                  <a:srgbClr val="000000"/>
                </a:solidFill>
              </a:rPr>
              <a:t>flagellin</a:t>
            </a:r>
            <a:endParaRPr lang="en-GB" sz="1400" dirty="0">
              <a:solidFill>
                <a:srgbClr val="00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1C96C579-28E0-FCB2-BB19-CAC63D6DEF34}"/>
              </a:ext>
            </a:extLst>
          </p:cNvPr>
          <p:cNvSpPr>
            <a:spLocks noGrp="1" noChangeArrowheads="1"/>
          </p:cNvSpPr>
          <p:nvPr>
            <p:ph type="title"/>
          </p:nvPr>
        </p:nvSpPr>
        <p:spPr>
          <a:xfrm>
            <a:off x="107950" y="115888"/>
            <a:ext cx="8229600" cy="720725"/>
          </a:xfrm>
        </p:spPr>
        <p:txBody>
          <a:bodyPr rtlCol="0">
            <a:normAutofit fontScale="90000"/>
          </a:bodyPr>
          <a:lstStyle/>
          <a:p>
            <a:pPr eaLnBrk="1" fontAlgn="auto" hangingPunct="1">
              <a:spcAft>
                <a:spcPts val="0"/>
              </a:spcAft>
              <a:defRPr/>
            </a:pPr>
            <a:r>
              <a:rPr lang="en-US" sz="3800" b="1" dirty="0">
                <a:solidFill>
                  <a:srgbClr val="7030A0"/>
                </a:solidFill>
              </a:rPr>
              <a:t>Hin</a:t>
            </a:r>
            <a:r>
              <a:rPr lang="en-US" sz="3800" dirty="0">
                <a:solidFill>
                  <a:srgbClr val="7030A0"/>
                </a:solidFill>
              </a:rPr>
              <a:t> </a:t>
            </a:r>
            <a:r>
              <a:rPr lang="en-US" sz="3800" i="1" dirty="0">
                <a:solidFill>
                  <a:srgbClr val="7030A0"/>
                </a:solidFill>
              </a:rPr>
              <a:t>inversion</a:t>
            </a:r>
            <a:r>
              <a:rPr lang="en-US" sz="3800" dirty="0">
                <a:solidFill>
                  <a:srgbClr val="7030A0"/>
                </a:solidFill>
              </a:rPr>
              <a:t> rate increased by </a:t>
            </a:r>
            <a:r>
              <a:rPr lang="en-US" sz="3800" b="1" dirty="0">
                <a:solidFill>
                  <a:srgbClr val="7030A0"/>
                </a:solidFill>
              </a:rPr>
              <a:t>enhancers</a:t>
            </a:r>
          </a:p>
        </p:txBody>
      </p:sp>
      <p:sp>
        <p:nvSpPr>
          <p:cNvPr id="6" name="Content Placeholder 5">
            <a:extLst>
              <a:ext uri="{FF2B5EF4-FFF2-40B4-BE49-F238E27FC236}">
                <a16:creationId xmlns:a16="http://schemas.microsoft.com/office/drawing/2014/main" id="{01730586-2530-7D9C-91B2-8626422EA7C3}"/>
              </a:ext>
            </a:extLst>
          </p:cNvPr>
          <p:cNvSpPr>
            <a:spLocks noGrp="1"/>
          </p:cNvSpPr>
          <p:nvPr>
            <p:ph idx="1"/>
          </p:nvPr>
        </p:nvSpPr>
        <p:spPr>
          <a:xfrm>
            <a:off x="179388" y="836613"/>
            <a:ext cx="8785225" cy="1900237"/>
          </a:xfrm>
        </p:spPr>
        <p:txBody>
          <a:bodyPr rtlCol="0">
            <a:normAutofit fontScale="92500"/>
          </a:bodyPr>
          <a:lstStyle/>
          <a:p>
            <a:pPr eaLnBrk="1" fontAlgn="auto" hangingPunct="1">
              <a:lnSpc>
                <a:spcPct val="90000"/>
              </a:lnSpc>
              <a:spcAft>
                <a:spcPts val="0"/>
              </a:spcAft>
              <a:defRPr/>
            </a:pPr>
            <a:r>
              <a:rPr lang="en-GB" sz="2600" dirty="0"/>
              <a:t>Requires an enhancer sequence to which </a:t>
            </a:r>
            <a:r>
              <a:rPr lang="en-GB" sz="2600" dirty="0" err="1"/>
              <a:t>Fis</a:t>
            </a:r>
            <a:r>
              <a:rPr lang="en-GB" sz="2600" dirty="0"/>
              <a:t> protein is required </a:t>
            </a:r>
          </a:p>
          <a:p>
            <a:pPr eaLnBrk="1" fontAlgn="auto" hangingPunct="1">
              <a:lnSpc>
                <a:spcPct val="90000"/>
              </a:lnSpc>
              <a:spcAft>
                <a:spcPts val="0"/>
              </a:spcAft>
              <a:defRPr/>
            </a:pPr>
            <a:r>
              <a:rPr lang="en-GB" sz="2600" b="1" dirty="0" err="1"/>
              <a:t>Fis</a:t>
            </a:r>
            <a:r>
              <a:rPr lang="en-GB" sz="2600" dirty="0"/>
              <a:t> (</a:t>
            </a:r>
            <a:r>
              <a:rPr lang="en-GB" sz="2600" b="1" u="sng" dirty="0"/>
              <a:t>f</a:t>
            </a:r>
            <a:r>
              <a:rPr lang="en-GB" sz="2600" dirty="0"/>
              <a:t>actor for </a:t>
            </a:r>
            <a:r>
              <a:rPr lang="en-GB" sz="2600" b="1" u="sng" dirty="0"/>
              <a:t>i</a:t>
            </a:r>
            <a:r>
              <a:rPr lang="en-GB" sz="2600" dirty="0"/>
              <a:t>nversion </a:t>
            </a:r>
            <a:r>
              <a:rPr lang="en-GB" sz="2600" b="1" u="sng" dirty="0"/>
              <a:t>s</a:t>
            </a:r>
            <a:r>
              <a:rPr lang="en-GB" sz="2600" dirty="0"/>
              <a:t>timulation): site-specific DNA bending protein that activates the catalytic steps of </a:t>
            </a:r>
            <a:r>
              <a:rPr lang="en-GB" sz="2600" dirty="0" err="1"/>
              <a:t>Hin</a:t>
            </a:r>
            <a:endParaRPr lang="en-GB" sz="2600" dirty="0"/>
          </a:p>
          <a:p>
            <a:pPr eaLnBrk="1" fontAlgn="auto" hangingPunct="1">
              <a:lnSpc>
                <a:spcPct val="90000"/>
              </a:lnSpc>
              <a:spcAft>
                <a:spcPts val="0"/>
              </a:spcAft>
              <a:defRPr/>
            </a:pPr>
            <a:r>
              <a:rPr lang="en-US" sz="2600" dirty="0"/>
              <a:t>HU (IHF homolog) also facilitates assembly of </a:t>
            </a:r>
            <a:r>
              <a:rPr lang="en-US" sz="2600" dirty="0" err="1"/>
              <a:t>invertasome</a:t>
            </a:r>
            <a:r>
              <a:rPr lang="en-US" dirty="0"/>
              <a:t>.</a:t>
            </a:r>
          </a:p>
          <a:p>
            <a:pPr eaLnBrk="1" fontAlgn="auto" hangingPunct="1">
              <a:spcAft>
                <a:spcPts val="0"/>
              </a:spcAft>
              <a:defRPr/>
            </a:pPr>
            <a:endParaRPr lang="en-US" dirty="0"/>
          </a:p>
        </p:txBody>
      </p:sp>
      <p:pic>
        <p:nvPicPr>
          <p:cNvPr id="58372" name="Picture 3">
            <a:extLst>
              <a:ext uri="{FF2B5EF4-FFF2-40B4-BE49-F238E27FC236}">
                <a16:creationId xmlns:a16="http://schemas.microsoft.com/office/drawing/2014/main" id="{710DD4BA-9529-C7FC-09B7-1744E31854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10283"/>
          <a:stretch>
            <a:fillRect/>
          </a:stretch>
        </p:blipFill>
        <p:spPr bwMode="auto">
          <a:xfrm>
            <a:off x="1257300" y="2479675"/>
            <a:ext cx="6770688" cy="412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1" name="TextBox 6">
            <a:extLst>
              <a:ext uri="{FF2B5EF4-FFF2-40B4-BE49-F238E27FC236}">
                <a16:creationId xmlns:a16="http://schemas.microsoft.com/office/drawing/2014/main" id="{2B44FBA4-02DB-CB21-754D-B88A4C7C23A7}"/>
              </a:ext>
            </a:extLst>
          </p:cNvPr>
          <p:cNvSpPr txBox="1">
            <a:spLocks noChangeArrowheads="1"/>
          </p:cNvSpPr>
          <p:nvPr/>
        </p:nvSpPr>
        <p:spPr bwMode="auto">
          <a:xfrm>
            <a:off x="179388" y="5524500"/>
            <a:ext cx="6335712" cy="1076325"/>
          </a:xfrm>
          <a:prstGeom prst="rect">
            <a:avLst/>
          </a:prstGeom>
          <a:solidFill>
            <a:schemeClr val="bg1">
              <a:lumMod val="95000"/>
            </a:schemeClr>
          </a:solidFill>
          <a:ln>
            <a:noFill/>
          </a:ln>
        </p:spPr>
        <p:txBody>
          <a:bodyPr>
            <a:spAutoFit/>
          </a:bodyPr>
          <a:lstStyle>
            <a:lvl1pPr eaLnBrk="0" hangingPunct="0">
              <a:defRPr>
                <a:solidFill>
                  <a:schemeClr val="tx1"/>
                </a:solidFill>
                <a:latin typeface="Verdana" pitchFamily="34" charset="0"/>
                <a:cs typeface="Arial" charset="0"/>
              </a:defRPr>
            </a:lvl1pPr>
            <a:lvl2pPr marL="742950" indent="-285750" eaLnBrk="0" hangingPunct="0">
              <a:defRPr>
                <a:solidFill>
                  <a:schemeClr val="tx1"/>
                </a:solidFill>
                <a:latin typeface="Verdana" pitchFamily="34" charset="0"/>
                <a:cs typeface="Arial" charset="0"/>
              </a:defRPr>
            </a:lvl2pPr>
            <a:lvl3pPr marL="1143000" indent="-228600" eaLnBrk="0" hangingPunct="0">
              <a:defRPr>
                <a:solidFill>
                  <a:schemeClr val="tx1"/>
                </a:solidFill>
                <a:latin typeface="Verdana" pitchFamily="34" charset="0"/>
                <a:cs typeface="Arial" charset="0"/>
              </a:defRPr>
            </a:lvl3pPr>
            <a:lvl4pPr marL="1600200" indent="-228600" eaLnBrk="0" hangingPunct="0">
              <a:defRPr>
                <a:solidFill>
                  <a:schemeClr val="tx1"/>
                </a:solidFill>
                <a:latin typeface="Verdana" pitchFamily="34" charset="0"/>
                <a:cs typeface="Arial" charset="0"/>
              </a:defRPr>
            </a:lvl4pPr>
            <a:lvl5pPr marL="2057400" indent="-228600" eaLnBrk="0" hangingPunct="0">
              <a:defRPr>
                <a:solidFill>
                  <a:schemeClr val="tx1"/>
                </a:solidFill>
                <a:latin typeface="Verdana" pitchFamily="34" charset="0"/>
                <a:cs typeface="Arial" charset="0"/>
              </a:defRPr>
            </a:lvl5pPr>
            <a:lvl6pPr marL="2514600" indent="-228600" eaLnBrk="0" fontAlgn="base" hangingPunct="0">
              <a:spcBef>
                <a:spcPct val="0"/>
              </a:spcBef>
              <a:spcAft>
                <a:spcPct val="0"/>
              </a:spcAft>
              <a:defRPr>
                <a:solidFill>
                  <a:schemeClr val="tx1"/>
                </a:solidFill>
                <a:latin typeface="Verdana" pitchFamily="34" charset="0"/>
                <a:cs typeface="Arial" charset="0"/>
              </a:defRPr>
            </a:lvl6pPr>
            <a:lvl7pPr marL="2971800" indent="-228600" eaLnBrk="0" fontAlgn="base" hangingPunct="0">
              <a:spcBef>
                <a:spcPct val="0"/>
              </a:spcBef>
              <a:spcAft>
                <a:spcPct val="0"/>
              </a:spcAft>
              <a:defRPr>
                <a:solidFill>
                  <a:schemeClr val="tx1"/>
                </a:solidFill>
                <a:latin typeface="Verdana" pitchFamily="34" charset="0"/>
                <a:cs typeface="Arial" charset="0"/>
              </a:defRPr>
            </a:lvl7pPr>
            <a:lvl8pPr marL="3429000" indent="-228600" eaLnBrk="0" fontAlgn="base" hangingPunct="0">
              <a:spcBef>
                <a:spcPct val="0"/>
              </a:spcBef>
              <a:spcAft>
                <a:spcPct val="0"/>
              </a:spcAft>
              <a:defRPr>
                <a:solidFill>
                  <a:schemeClr val="tx1"/>
                </a:solidFill>
                <a:latin typeface="Verdana" pitchFamily="34" charset="0"/>
                <a:cs typeface="Arial" charset="0"/>
              </a:defRPr>
            </a:lvl8pPr>
            <a:lvl9pPr marL="3886200" indent="-228600" eaLnBrk="0" fontAlgn="base" hangingPunct="0">
              <a:spcBef>
                <a:spcPct val="0"/>
              </a:spcBef>
              <a:spcAft>
                <a:spcPct val="0"/>
              </a:spcAft>
              <a:defRPr>
                <a:solidFill>
                  <a:schemeClr val="tx1"/>
                </a:solidFill>
                <a:latin typeface="Verdana" pitchFamily="34" charset="0"/>
                <a:cs typeface="Arial" charset="0"/>
              </a:defRPr>
            </a:lvl9pPr>
          </a:lstStyle>
          <a:p>
            <a:pPr eaLnBrk="1" hangingPunct="1">
              <a:defRPr/>
            </a:pPr>
            <a:r>
              <a:rPr lang="en-US" sz="1600" dirty="0"/>
              <a:t>Rational for control of Hin inversion by </a:t>
            </a:r>
            <a:r>
              <a:rPr lang="en-US" sz="1600" dirty="0" err="1"/>
              <a:t>Fis</a:t>
            </a:r>
            <a:r>
              <a:rPr lang="en-US" sz="1600" dirty="0"/>
              <a:t>-enhancer complex is to </a:t>
            </a:r>
            <a:r>
              <a:rPr lang="en-US" sz="1600" dirty="0">
                <a:solidFill>
                  <a:srgbClr val="0000FF"/>
                </a:solidFill>
              </a:rPr>
              <a:t>ensure that recombination occurs only between </a:t>
            </a:r>
            <a:r>
              <a:rPr lang="en-US" sz="1600" i="1" dirty="0" err="1">
                <a:solidFill>
                  <a:srgbClr val="0000FF"/>
                </a:solidFill>
              </a:rPr>
              <a:t>hix</a:t>
            </a:r>
            <a:r>
              <a:rPr lang="en-US" sz="1600" dirty="0">
                <a:solidFill>
                  <a:srgbClr val="0000FF"/>
                </a:solidFill>
              </a:rPr>
              <a:t> sites that are present on the same DNA molecule.</a:t>
            </a:r>
            <a:endParaRPr lang="en-GB" sz="1600" dirty="0">
              <a:solidFill>
                <a:srgbClr val="0000FF"/>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Rectangle 4">
            <a:extLst>
              <a:ext uri="{FF2B5EF4-FFF2-40B4-BE49-F238E27FC236}">
                <a16:creationId xmlns:a16="http://schemas.microsoft.com/office/drawing/2014/main" id="{FF8A3F64-4336-6090-7C77-630D1971D85D}"/>
              </a:ext>
            </a:extLst>
          </p:cNvPr>
          <p:cNvSpPr>
            <a:spLocks noGrp="1" noChangeArrowheads="1"/>
          </p:cNvSpPr>
          <p:nvPr>
            <p:ph type="title"/>
          </p:nvPr>
        </p:nvSpPr>
        <p:spPr>
          <a:xfrm>
            <a:off x="250825" y="260350"/>
            <a:ext cx="6562725" cy="1139825"/>
          </a:xfrm>
        </p:spPr>
        <p:txBody>
          <a:bodyPr rtlCol="0">
            <a:normAutofit fontScale="90000"/>
          </a:bodyPr>
          <a:lstStyle/>
          <a:p>
            <a:pPr eaLnBrk="1" fontAlgn="auto" hangingPunct="1">
              <a:spcAft>
                <a:spcPts val="0"/>
              </a:spcAft>
              <a:defRPr/>
            </a:pPr>
            <a:r>
              <a:rPr lang="en-GB" sz="4000" b="1" dirty="0">
                <a:solidFill>
                  <a:srgbClr val="7030A0"/>
                </a:solidFill>
              </a:rPr>
              <a:t>III- Maintain integrity of circular DNA molecules</a:t>
            </a:r>
          </a:p>
        </p:txBody>
      </p:sp>
      <p:sp>
        <p:nvSpPr>
          <p:cNvPr id="60419" name="Rectangle 6">
            <a:extLst>
              <a:ext uri="{FF2B5EF4-FFF2-40B4-BE49-F238E27FC236}">
                <a16:creationId xmlns:a16="http://schemas.microsoft.com/office/drawing/2014/main" id="{4461C78E-682F-B6D4-8377-2E9070CC5EAE}"/>
              </a:ext>
            </a:extLst>
          </p:cNvPr>
          <p:cNvSpPr>
            <a:spLocks noGrp="1" noChangeArrowheads="1"/>
          </p:cNvSpPr>
          <p:nvPr>
            <p:ph idx="1"/>
          </p:nvPr>
        </p:nvSpPr>
        <p:spPr>
          <a:xfrm>
            <a:off x="179388" y="1557338"/>
            <a:ext cx="6840537" cy="4530725"/>
          </a:xfrm>
        </p:spPr>
        <p:txBody>
          <a:bodyPr/>
          <a:lstStyle/>
          <a:p>
            <a:pPr eaLnBrk="1" hangingPunct="1"/>
            <a:r>
              <a:rPr lang="en-GB" altLang="en-US">
                <a:latin typeface="Arial" panose="020B0604020202020204" pitchFamily="34" charset="0"/>
              </a:rPr>
              <a:t>Circular molecules can recombine</a:t>
            </a:r>
          </a:p>
          <a:p>
            <a:pPr eaLnBrk="1" hangingPunct="1">
              <a:buFont typeface="Wingdings" pitchFamily="2" charset="2"/>
              <a:buNone/>
            </a:pPr>
            <a:r>
              <a:rPr lang="en-GB" altLang="en-US">
                <a:latin typeface="Arial" panose="020B0604020202020204" pitchFamily="34" charset="0"/>
              </a:rPr>
              <a:t>	to form dimers and multimers</a:t>
            </a:r>
          </a:p>
          <a:p>
            <a:pPr eaLnBrk="1" hangingPunct="1">
              <a:buFont typeface="Wingdings" pitchFamily="2" charset="2"/>
              <a:buNone/>
            </a:pPr>
            <a:endParaRPr lang="en-GB" altLang="en-US">
              <a:latin typeface="Arial" panose="020B0604020202020204" pitchFamily="34" charset="0"/>
            </a:endParaRPr>
          </a:p>
          <a:p>
            <a:pPr eaLnBrk="1" hangingPunct="1"/>
            <a:r>
              <a:rPr lang="en-GB" altLang="en-US">
                <a:latin typeface="Arial" panose="020B0604020202020204" pitchFamily="34" charset="0"/>
              </a:rPr>
              <a:t>Specific recombinases </a:t>
            </a:r>
            <a:r>
              <a:rPr lang="en-GB" altLang="en-US">
                <a:solidFill>
                  <a:srgbClr val="0000FF"/>
                </a:solidFill>
                <a:latin typeface="Arial" panose="020B0604020202020204" pitchFamily="34" charset="0"/>
              </a:rPr>
              <a:t>(</a:t>
            </a:r>
            <a:r>
              <a:rPr lang="en-GB" altLang="en-US" b="1">
                <a:solidFill>
                  <a:srgbClr val="0000FF"/>
                </a:solidFill>
                <a:latin typeface="Arial" panose="020B0604020202020204" pitchFamily="34" charset="0"/>
              </a:rPr>
              <a:t>Resolvase</a:t>
            </a:r>
            <a:r>
              <a:rPr lang="en-GB" altLang="en-US">
                <a:solidFill>
                  <a:srgbClr val="0000FF"/>
                </a:solidFill>
                <a:latin typeface="Arial" panose="020B0604020202020204" pitchFamily="34" charset="0"/>
              </a:rPr>
              <a:t>) </a:t>
            </a:r>
            <a:r>
              <a:rPr lang="en-GB" altLang="en-US">
                <a:latin typeface="Arial" panose="020B0604020202020204" pitchFamily="34" charset="0"/>
              </a:rPr>
              <a:t>to convert dimers and multimers into monomers.</a:t>
            </a:r>
          </a:p>
          <a:p>
            <a:pPr eaLnBrk="1" hangingPunct="1"/>
            <a:endParaRPr lang="en-GB" altLang="en-US">
              <a:solidFill>
                <a:schemeClr val="tx2"/>
              </a:solidFill>
              <a:latin typeface="Arial" panose="020B0604020202020204" pitchFamily="34" charset="0"/>
            </a:endParaRPr>
          </a:p>
          <a:p>
            <a:pPr eaLnBrk="1" hangingPunct="1"/>
            <a:endParaRPr lang="en-GB" altLang="en-US">
              <a:latin typeface="Arial" panose="020B0604020202020204" pitchFamily="34" charset="0"/>
            </a:endParaRPr>
          </a:p>
        </p:txBody>
      </p:sp>
      <p:pic>
        <p:nvPicPr>
          <p:cNvPr id="60420" name="Picture 7" descr="H:\Amjad Courses\BT451\Molecular Biology of the Gene images\watson_mm_jpg_chap011\chap011\11_Figure15.jpg">
            <a:extLst>
              <a:ext uri="{FF2B5EF4-FFF2-40B4-BE49-F238E27FC236}">
                <a16:creationId xmlns:a16="http://schemas.microsoft.com/office/drawing/2014/main" id="{0B05CCB0-9017-7E01-9515-6DD348E7D0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43652"/>
          <a:stretch>
            <a:fillRect/>
          </a:stretch>
        </p:blipFill>
        <p:spPr bwMode="auto">
          <a:xfrm>
            <a:off x="7235825" y="115888"/>
            <a:ext cx="1873250" cy="658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4" descr="17_co">
            <a:extLst>
              <a:ext uri="{FF2B5EF4-FFF2-40B4-BE49-F238E27FC236}">
                <a16:creationId xmlns:a16="http://schemas.microsoft.com/office/drawing/2014/main" id="{8A543782-3CA7-FA1E-ACAE-722E42AC06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376" t="8804" r="2342" b="4959"/>
          <a:stretch>
            <a:fillRect/>
          </a:stretch>
        </p:blipFill>
        <p:spPr bwMode="auto">
          <a:xfrm>
            <a:off x="-36513" y="-26988"/>
            <a:ext cx="9180513" cy="688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7" name="Rectangle 2">
            <a:extLst>
              <a:ext uri="{FF2B5EF4-FFF2-40B4-BE49-F238E27FC236}">
                <a16:creationId xmlns:a16="http://schemas.microsoft.com/office/drawing/2014/main" id="{87ADE19C-5241-97F1-8729-DA0DDBB68743}"/>
              </a:ext>
            </a:extLst>
          </p:cNvPr>
          <p:cNvSpPr>
            <a:spLocks noGrp="1" noChangeArrowheads="1"/>
          </p:cNvSpPr>
          <p:nvPr>
            <p:ph type="ctrTitle"/>
          </p:nvPr>
        </p:nvSpPr>
        <p:spPr/>
        <p:txBody>
          <a:bodyPr/>
          <a:lstStyle/>
          <a:p>
            <a:pPr eaLnBrk="1" hangingPunct="1"/>
            <a:r>
              <a:rPr lang="en-GB" altLang="en-US" sz="8000" b="1">
                <a:solidFill>
                  <a:srgbClr val="FFFF00"/>
                </a:solidFill>
              </a:rPr>
              <a:t>TRANSPOSITION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2">
            <a:extLst>
              <a:ext uri="{FF2B5EF4-FFF2-40B4-BE49-F238E27FC236}">
                <a16:creationId xmlns:a16="http://schemas.microsoft.com/office/drawing/2014/main" id="{738A1359-06CE-05F7-FA86-474AE773A9CC}"/>
              </a:ext>
            </a:extLst>
          </p:cNvPr>
          <p:cNvSpPr txBox="1">
            <a:spLocks noChangeArrowheads="1"/>
          </p:cNvSpPr>
          <p:nvPr/>
        </p:nvSpPr>
        <p:spPr bwMode="auto">
          <a:xfrm>
            <a:off x="466725" y="1196975"/>
            <a:ext cx="4114800"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80000"/>
              </a:lnSpc>
              <a:spcBef>
                <a:spcPct val="50000"/>
              </a:spcBef>
              <a:buFontTx/>
              <a:buNone/>
            </a:pPr>
            <a:r>
              <a:rPr lang="en-US" altLang="en-US" sz="2400">
                <a:solidFill>
                  <a:srgbClr val="0000FF"/>
                </a:solidFill>
                <a:latin typeface="Arial" panose="020B0604020202020204" pitchFamily="34" charset="0"/>
              </a:rPr>
              <a:t>Transposition</a:t>
            </a:r>
            <a:r>
              <a:rPr lang="en-US" altLang="en-US" sz="2400">
                <a:latin typeface="Arial" panose="020B0604020202020204" pitchFamily="34" charset="0"/>
              </a:rPr>
              <a:t> is the </a:t>
            </a:r>
            <a:r>
              <a:rPr lang="en-US" altLang="en-US" sz="2400" b="1">
                <a:solidFill>
                  <a:srgbClr val="FF0000"/>
                </a:solidFill>
                <a:latin typeface="Arial" panose="020B0604020202020204" pitchFamily="34" charset="0"/>
              </a:rPr>
              <a:t>movement</a:t>
            </a:r>
            <a:r>
              <a:rPr lang="en-US" altLang="en-US" sz="2400">
                <a:latin typeface="Arial" panose="020B0604020202020204" pitchFamily="34" charset="0"/>
              </a:rPr>
              <a:t> of the transposon.</a:t>
            </a:r>
          </a:p>
        </p:txBody>
      </p:sp>
      <p:sp>
        <p:nvSpPr>
          <p:cNvPr id="64515" name="Text Box 3">
            <a:extLst>
              <a:ext uri="{FF2B5EF4-FFF2-40B4-BE49-F238E27FC236}">
                <a16:creationId xmlns:a16="http://schemas.microsoft.com/office/drawing/2014/main" id="{BBEE072B-311C-9C70-DDC8-6BD67D77D5AC}"/>
              </a:ext>
            </a:extLst>
          </p:cNvPr>
          <p:cNvSpPr txBox="1">
            <a:spLocks noChangeArrowheads="1"/>
          </p:cNvSpPr>
          <p:nvPr/>
        </p:nvSpPr>
        <p:spPr bwMode="auto">
          <a:xfrm>
            <a:off x="466725" y="2493963"/>
            <a:ext cx="3671888"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80000"/>
              </a:lnSpc>
              <a:spcBef>
                <a:spcPct val="50000"/>
              </a:spcBef>
              <a:buFontTx/>
              <a:buNone/>
            </a:pPr>
            <a:r>
              <a:rPr lang="en-US" altLang="en-US" sz="2400">
                <a:latin typeface="Arial" panose="020B0604020202020204" pitchFamily="34" charset="0"/>
              </a:rPr>
              <a:t>requires proteins to cut and paste the DNA </a:t>
            </a:r>
            <a:r>
              <a:rPr lang="en-US" altLang="en-US" sz="2400">
                <a:latin typeface="Arial" panose="020B0604020202020204" pitchFamily="34" charset="0"/>
                <a:sym typeface="Wingdings" pitchFamily="2" charset="2"/>
              </a:rPr>
              <a:t> </a:t>
            </a:r>
            <a:r>
              <a:rPr lang="en-US" altLang="en-US" sz="2400" b="1">
                <a:solidFill>
                  <a:srgbClr val="0000FF"/>
                </a:solidFill>
                <a:latin typeface="Arial" panose="020B0604020202020204" pitchFamily="34" charset="0"/>
                <a:sym typeface="Wingdings" pitchFamily="2" charset="2"/>
              </a:rPr>
              <a:t>transposase</a:t>
            </a:r>
            <a:endParaRPr lang="en-US" altLang="en-US" sz="2400" b="1">
              <a:solidFill>
                <a:srgbClr val="0000FF"/>
              </a:solidFill>
              <a:latin typeface="Arial" panose="020B0604020202020204" pitchFamily="34" charset="0"/>
            </a:endParaRPr>
          </a:p>
        </p:txBody>
      </p:sp>
      <p:pic>
        <p:nvPicPr>
          <p:cNvPr id="64516" name="Picture 4" descr="8-1">
            <a:extLst>
              <a:ext uri="{FF2B5EF4-FFF2-40B4-BE49-F238E27FC236}">
                <a16:creationId xmlns:a16="http://schemas.microsoft.com/office/drawing/2014/main" id="{8C5D0B19-71D1-DB8D-5B00-2899E8EED0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1813" y="381000"/>
            <a:ext cx="4802187" cy="608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7" name="Text Box 5">
            <a:extLst>
              <a:ext uri="{FF2B5EF4-FFF2-40B4-BE49-F238E27FC236}">
                <a16:creationId xmlns:a16="http://schemas.microsoft.com/office/drawing/2014/main" id="{B37361D3-07A3-E522-6F55-A46C0DBB1972}"/>
              </a:ext>
            </a:extLst>
          </p:cNvPr>
          <p:cNvSpPr txBox="1">
            <a:spLocks noChangeArrowheads="1"/>
          </p:cNvSpPr>
          <p:nvPr/>
        </p:nvSpPr>
        <p:spPr bwMode="auto">
          <a:xfrm>
            <a:off x="395288" y="4510088"/>
            <a:ext cx="3455987" cy="38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80000"/>
              </a:lnSpc>
              <a:spcBef>
                <a:spcPct val="50000"/>
              </a:spcBef>
              <a:buFontTx/>
              <a:buNone/>
            </a:pPr>
            <a:r>
              <a:rPr lang="en-US" altLang="en-US" sz="2400">
                <a:solidFill>
                  <a:srgbClr val="0000FF"/>
                </a:solidFill>
                <a:latin typeface="Arial" panose="020B0604020202020204" pitchFamily="34" charset="0"/>
              </a:rPr>
              <a:t>NO homology </a:t>
            </a:r>
            <a:r>
              <a:rPr lang="en-US" altLang="en-US" sz="2400">
                <a:latin typeface="Arial" panose="020B0604020202020204" pitchFamily="34" charset="0"/>
              </a:rPr>
              <a:t>required</a:t>
            </a:r>
            <a:endParaRPr lang="en-US" altLang="en-US" sz="2400">
              <a:latin typeface="Comic Sans MS" panose="030F0902030302020204" pitchFamily="66" charset="0"/>
            </a:endParaRPr>
          </a:p>
        </p:txBody>
      </p:sp>
      <p:sp>
        <p:nvSpPr>
          <p:cNvPr id="64518" name="TextBox 7">
            <a:extLst>
              <a:ext uri="{FF2B5EF4-FFF2-40B4-BE49-F238E27FC236}">
                <a16:creationId xmlns:a16="http://schemas.microsoft.com/office/drawing/2014/main" id="{CB306009-7DCB-017E-574C-A3FC0B2343F3}"/>
              </a:ext>
            </a:extLst>
          </p:cNvPr>
          <p:cNvSpPr txBox="1">
            <a:spLocks noChangeArrowheads="1"/>
          </p:cNvSpPr>
          <p:nvPr/>
        </p:nvSpPr>
        <p:spPr bwMode="auto">
          <a:xfrm>
            <a:off x="395288" y="5373688"/>
            <a:ext cx="376396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Verdana" panose="020B0604030504040204" pitchFamily="34" charset="0"/>
              </a:rPr>
              <a:t>Most common source of </a:t>
            </a:r>
          </a:p>
          <a:p>
            <a:pPr eaLnBrk="1" hangingPunct="1">
              <a:spcBef>
                <a:spcPct val="0"/>
              </a:spcBef>
              <a:buFontTx/>
              <a:buNone/>
            </a:pPr>
            <a:r>
              <a:rPr lang="en-US" altLang="en-US" sz="1800" b="1">
                <a:solidFill>
                  <a:srgbClr val="FF0000"/>
                </a:solidFill>
                <a:latin typeface="Verdana" panose="020B0604030504040204" pitchFamily="34" charset="0"/>
              </a:rPr>
              <a:t>Mutations</a:t>
            </a:r>
            <a:r>
              <a:rPr lang="en-US" altLang="en-US" sz="1800">
                <a:latin typeface="Verdana" panose="020B0604030504040204" pitchFamily="34" charset="0"/>
              </a:rPr>
              <a:t> in many organisms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Picture 2" descr="H:\Amjad Courses\BT451\Molecular Biology of the Gene images\watson_mm_jpg_chap011\chap011\11_Figure16.jpg">
            <a:extLst>
              <a:ext uri="{FF2B5EF4-FFF2-40B4-BE49-F238E27FC236}">
                <a16:creationId xmlns:a16="http://schemas.microsoft.com/office/drawing/2014/main" id="{12401D7A-AB07-4566-45E2-7C237888B1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50" y="1371600"/>
            <a:ext cx="8929688" cy="246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8E5016CE-4F33-2004-D498-DC08AF95A3E8}"/>
              </a:ext>
            </a:extLst>
          </p:cNvPr>
          <p:cNvSpPr/>
          <p:nvPr/>
        </p:nvSpPr>
        <p:spPr>
          <a:xfrm>
            <a:off x="468313" y="4292600"/>
            <a:ext cx="7848600" cy="1754188"/>
          </a:xfrm>
          <a:prstGeom prst="rect">
            <a:avLst/>
          </a:prstGeom>
          <a:solidFill>
            <a:schemeClr val="bg1">
              <a:lumMod val="95000"/>
            </a:schemeClr>
          </a:solidFill>
        </p:spPr>
        <p:txBody>
          <a:bodyPr>
            <a:spAutoFit/>
          </a:bodyPr>
          <a:lstStyle/>
          <a:p>
            <a:pPr eaLnBrk="1" hangingPunct="1">
              <a:defRPr/>
            </a:pPr>
            <a:r>
              <a:rPr lang="en-US" b="1" dirty="0">
                <a:solidFill>
                  <a:srgbClr val="C00000"/>
                </a:solidFill>
                <a:latin typeface="AdvOT35524981.B"/>
                <a:cs typeface="Arial" charset="0"/>
              </a:rPr>
              <a:t>Transposition of a mobile genetic element to a new site in the host DNA.</a:t>
            </a:r>
          </a:p>
          <a:p>
            <a:pPr marL="285750" indent="-285750" eaLnBrk="1" hangingPunct="1">
              <a:buFont typeface="Arial" pitchFamily="34" charset="0"/>
              <a:buChar char="•"/>
              <a:defRPr/>
            </a:pPr>
            <a:r>
              <a:rPr lang="en-US" dirty="0">
                <a:solidFill>
                  <a:srgbClr val="231F20"/>
                </a:solidFill>
                <a:latin typeface="AdvOTa88ee647"/>
                <a:cs typeface="Arial" charset="0"/>
              </a:rPr>
              <a:t>Recombination, in some cases, involves excision of the transposon from the old DNA location.</a:t>
            </a:r>
          </a:p>
          <a:p>
            <a:pPr marL="285750" indent="-285750" eaLnBrk="1" hangingPunct="1">
              <a:buFont typeface="Arial" pitchFamily="34" charset="0"/>
              <a:buChar char="•"/>
              <a:defRPr/>
            </a:pPr>
            <a:r>
              <a:rPr lang="en-US" dirty="0">
                <a:solidFill>
                  <a:srgbClr val="231F20"/>
                </a:solidFill>
                <a:latin typeface="AdvOTa88ee647"/>
                <a:cs typeface="Arial" charset="0"/>
              </a:rPr>
              <a:t>In other cases, one copy of the transposon stays at the old location, and another copy is inserted into the new DNA site.</a:t>
            </a:r>
            <a:endParaRPr lang="en-US" dirty="0">
              <a:cs typeface="Arial"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5BA128E1-ADC5-0E58-5705-3E0707A21F8E}"/>
              </a:ext>
            </a:extLst>
          </p:cNvPr>
          <p:cNvSpPr>
            <a:spLocks noGrp="1" noChangeArrowheads="1"/>
          </p:cNvSpPr>
          <p:nvPr>
            <p:ph type="ctrTitle"/>
          </p:nvPr>
        </p:nvSpPr>
        <p:spPr>
          <a:xfrm>
            <a:off x="250825" y="115888"/>
            <a:ext cx="8604250" cy="890587"/>
          </a:xfrm>
        </p:spPr>
        <p:txBody>
          <a:bodyPr/>
          <a:lstStyle/>
          <a:p>
            <a:pPr eaLnBrk="1" hangingPunct="1"/>
            <a:r>
              <a:rPr lang="en-US" altLang="en-US" sz="4300">
                <a:solidFill>
                  <a:srgbClr val="0000FF"/>
                </a:solidFill>
              </a:rPr>
              <a:t>Transposons in Several Genomes</a:t>
            </a:r>
          </a:p>
        </p:txBody>
      </p:sp>
      <p:pic>
        <p:nvPicPr>
          <p:cNvPr id="68611" name="Picture 4" descr="H:\Amjad Courses\BT451\Molecular Biology of the Gene images\watson_mm_jpg_chap011\chap011\11_Figure17.jpg">
            <a:extLst>
              <a:ext uri="{FF2B5EF4-FFF2-40B4-BE49-F238E27FC236}">
                <a16:creationId xmlns:a16="http://schemas.microsoft.com/office/drawing/2014/main" id="{036D0D66-503F-FF13-780C-E8A30EC939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981075"/>
            <a:ext cx="8547100" cy="548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54C17BC2-4313-4FB5-A77C-AAFB71219940}"/>
              </a:ext>
            </a:extLst>
          </p:cNvPr>
          <p:cNvSpPr>
            <a:spLocks noGrp="1" noChangeArrowheads="1"/>
          </p:cNvSpPr>
          <p:nvPr>
            <p:ph type="title"/>
          </p:nvPr>
        </p:nvSpPr>
        <p:spPr/>
        <p:txBody>
          <a:bodyPr/>
          <a:lstStyle/>
          <a:p>
            <a:pPr eaLnBrk="1" hangingPunct="1"/>
            <a:r>
              <a:rPr lang="en-GB" altLang="en-US" sz="4000" b="1">
                <a:solidFill>
                  <a:srgbClr val="0000FF"/>
                </a:solidFill>
              </a:rPr>
              <a:t>Classes of Transposable Elements</a:t>
            </a:r>
          </a:p>
        </p:txBody>
      </p:sp>
      <p:sp>
        <p:nvSpPr>
          <p:cNvPr id="70659" name="Rectangle 3">
            <a:extLst>
              <a:ext uri="{FF2B5EF4-FFF2-40B4-BE49-F238E27FC236}">
                <a16:creationId xmlns:a16="http://schemas.microsoft.com/office/drawing/2014/main" id="{CDBB9280-DFF9-5D58-B1C1-AA9C3F1A93E8}"/>
              </a:ext>
            </a:extLst>
          </p:cNvPr>
          <p:cNvSpPr>
            <a:spLocks noGrp="1" noChangeArrowheads="1"/>
          </p:cNvSpPr>
          <p:nvPr>
            <p:ph idx="1"/>
          </p:nvPr>
        </p:nvSpPr>
        <p:spPr>
          <a:xfrm>
            <a:off x="179388" y="1412875"/>
            <a:ext cx="8796337" cy="5257800"/>
          </a:xfrm>
        </p:spPr>
        <p:txBody>
          <a:bodyPr/>
          <a:lstStyle/>
          <a:p>
            <a:pPr marL="609600" indent="-609600" eaLnBrk="1" hangingPunct="1">
              <a:lnSpc>
                <a:spcPct val="130000"/>
              </a:lnSpc>
              <a:buFont typeface="Wingdings" pitchFamily="2" charset="2"/>
              <a:buAutoNum type="arabicPeriod"/>
            </a:pPr>
            <a:r>
              <a:rPr lang="en-GB" altLang="en-US" b="1">
                <a:solidFill>
                  <a:srgbClr val="7030A0"/>
                </a:solidFill>
              </a:rPr>
              <a:t>DNA Transposons</a:t>
            </a:r>
          </a:p>
          <a:p>
            <a:pPr marL="990600" lvl="1" indent="-533400" eaLnBrk="1" hangingPunct="1">
              <a:lnSpc>
                <a:spcPct val="130000"/>
              </a:lnSpc>
            </a:pPr>
            <a:r>
              <a:rPr lang="en-GB" altLang="en-US"/>
              <a:t>Autonomous transposons: a pair of inverted repeats and a transposase</a:t>
            </a:r>
          </a:p>
          <a:p>
            <a:pPr marL="990600" lvl="1" indent="-533400" eaLnBrk="1" hangingPunct="1">
              <a:lnSpc>
                <a:spcPct val="130000"/>
              </a:lnSpc>
            </a:pPr>
            <a:r>
              <a:rPr lang="en-GB" altLang="en-US"/>
              <a:t>Nonautonomous transposons: carry only the inverted repeats</a:t>
            </a:r>
          </a:p>
          <a:p>
            <a:pPr marL="609600" indent="-609600" eaLnBrk="1" hangingPunct="1">
              <a:buFont typeface="Wingdings" pitchFamily="2" charset="2"/>
              <a:buAutoNum type="arabicPeriod"/>
            </a:pPr>
            <a:r>
              <a:rPr lang="en-GB" altLang="en-US" b="1">
                <a:solidFill>
                  <a:srgbClr val="7030A0"/>
                </a:solidFill>
              </a:rPr>
              <a:t>Viral like retrotransposons (long terminal repeat (LTR)</a:t>
            </a:r>
          </a:p>
          <a:p>
            <a:pPr marL="609600" indent="-609600" eaLnBrk="1" hangingPunct="1">
              <a:lnSpc>
                <a:spcPct val="130000"/>
              </a:lnSpc>
              <a:buFont typeface="Wingdings" pitchFamily="2" charset="2"/>
              <a:buAutoNum type="arabicPeriod"/>
            </a:pPr>
            <a:r>
              <a:rPr lang="en-GB" altLang="en-US" b="1">
                <a:solidFill>
                  <a:srgbClr val="7030A0"/>
                </a:solidFill>
              </a:rPr>
              <a:t>Poly-A retrotransposons </a:t>
            </a:r>
            <a:r>
              <a:rPr lang="en-GB" altLang="en-US" sz="2400" b="1">
                <a:solidFill>
                  <a:srgbClr val="7030A0"/>
                </a:solidFill>
              </a:rPr>
              <a:t>(non-viral retrotransposons)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6" name="Picture 3">
            <a:extLst>
              <a:ext uri="{FF2B5EF4-FFF2-40B4-BE49-F238E27FC236}">
                <a16:creationId xmlns:a16="http://schemas.microsoft.com/office/drawing/2014/main" id="{22987619-0DFF-049C-6F66-F06217F413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8888" y="274638"/>
            <a:ext cx="7223125" cy="658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39" name="Text Box 4">
            <a:extLst>
              <a:ext uri="{FF2B5EF4-FFF2-40B4-BE49-F238E27FC236}">
                <a16:creationId xmlns:a16="http://schemas.microsoft.com/office/drawing/2014/main" id="{123471B0-3A5B-87B7-99CA-3C19D7201C8C}"/>
              </a:ext>
            </a:extLst>
          </p:cNvPr>
          <p:cNvSpPr txBox="1">
            <a:spLocks noChangeArrowheads="1"/>
          </p:cNvSpPr>
          <p:nvPr/>
        </p:nvSpPr>
        <p:spPr bwMode="auto">
          <a:xfrm>
            <a:off x="5867400" y="5013325"/>
            <a:ext cx="1800225" cy="274638"/>
          </a:xfrm>
          <a:prstGeom prst="rect">
            <a:avLst/>
          </a:prstGeom>
          <a:solidFill>
            <a:schemeClr val="accent3">
              <a:lumMod val="20000"/>
              <a:lumOff val="80000"/>
            </a:schemeClr>
          </a:solidFill>
          <a:ln>
            <a:noFill/>
          </a:ln>
        </p:spPr>
        <p:txBody>
          <a:bodyPr>
            <a:spAutoFit/>
          </a:bodyPr>
          <a:lstStyle>
            <a:lvl1pPr eaLnBrk="0" hangingPunct="0">
              <a:defRPr>
                <a:solidFill>
                  <a:schemeClr val="tx1"/>
                </a:solidFill>
                <a:latin typeface="Verdana" pitchFamily="34" charset="0"/>
                <a:cs typeface="Arial" pitchFamily="34" charset="0"/>
              </a:defRPr>
            </a:lvl1pPr>
            <a:lvl2pPr marL="742950" indent="-285750" eaLnBrk="0" hangingPunct="0">
              <a:defRPr>
                <a:solidFill>
                  <a:schemeClr val="tx1"/>
                </a:solidFill>
                <a:latin typeface="Verdana" pitchFamily="34" charset="0"/>
                <a:cs typeface="Arial" pitchFamily="34" charset="0"/>
              </a:defRPr>
            </a:lvl2pPr>
            <a:lvl3pPr marL="1143000" indent="-228600" eaLnBrk="0" hangingPunct="0">
              <a:defRPr>
                <a:solidFill>
                  <a:schemeClr val="tx1"/>
                </a:solidFill>
                <a:latin typeface="Verdana" pitchFamily="34" charset="0"/>
                <a:cs typeface="Arial" pitchFamily="34" charset="0"/>
              </a:defRPr>
            </a:lvl3pPr>
            <a:lvl4pPr marL="1600200" indent="-228600" eaLnBrk="0" hangingPunct="0">
              <a:defRPr>
                <a:solidFill>
                  <a:schemeClr val="tx1"/>
                </a:solidFill>
                <a:latin typeface="Verdana" pitchFamily="34" charset="0"/>
                <a:cs typeface="Arial" pitchFamily="34" charset="0"/>
              </a:defRPr>
            </a:lvl4pPr>
            <a:lvl5pPr marL="2057400" indent="-228600" eaLnBrk="0" hangingPunct="0">
              <a:defRPr>
                <a:solidFill>
                  <a:schemeClr val="tx1"/>
                </a:solidFill>
                <a:latin typeface="Verdana" pitchFamily="34" charset="0"/>
                <a:cs typeface="Arial" pitchFamily="34" charset="0"/>
              </a:defRPr>
            </a:lvl5pPr>
            <a:lvl6pPr marL="2514600" indent="-228600" eaLnBrk="0" fontAlgn="base" hangingPunct="0">
              <a:spcBef>
                <a:spcPct val="0"/>
              </a:spcBef>
              <a:spcAft>
                <a:spcPct val="0"/>
              </a:spcAft>
              <a:defRPr>
                <a:solidFill>
                  <a:schemeClr val="tx1"/>
                </a:solidFill>
                <a:latin typeface="Verdana" pitchFamily="34" charset="0"/>
                <a:cs typeface="Arial" pitchFamily="34" charset="0"/>
              </a:defRPr>
            </a:lvl6pPr>
            <a:lvl7pPr marL="2971800" indent="-228600" eaLnBrk="0" fontAlgn="base" hangingPunct="0">
              <a:spcBef>
                <a:spcPct val="0"/>
              </a:spcBef>
              <a:spcAft>
                <a:spcPct val="0"/>
              </a:spcAft>
              <a:defRPr>
                <a:solidFill>
                  <a:schemeClr val="tx1"/>
                </a:solidFill>
                <a:latin typeface="Verdana" pitchFamily="34" charset="0"/>
                <a:cs typeface="Arial" pitchFamily="34" charset="0"/>
              </a:defRPr>
            </a:lvl7pPr>
            <a:lvl8pPr marL="3429000" indent="-228600" eaLnBrk="0" fontAlgn="base" hangingPunct="0">
              <a:spcBef>
                <a:spcPct val="0"/>
              </a:spcBef>
              <a:spcAft>
                <a:spcPct val="0"/>
              </a:spcAft>
              <a:defRPr>
                <a:solidFill>
                  <a:schemeClr val="tx1"/>
                </a:solidFill>
                <a:latin typeface="Verdana" pitchFamily="34" charset="0"/>
                <a:cs typeface="Arial" pitchFamily="34" charset="0"/>
              </a:defRPr>
            </a:lvl8pPr>
            <a:lvl9pPr marL="3886200" indent="-228600" eaLnBrk="0" fontAlgn="base" hangingPunct="0">
              <a:spcBef>
                <a:spcPct val="0"/>
              </a:spcBef>
              <a:spcAft>
                <a:spcPct val="0"/>
              </a:spcAft>
              <a:defRPr>
                <a:solidFill>
                  <a:schemeClr val="tx1"/>
                </a:solidFill>
                <a:latin typeface="Verdana" pitchFamily="34" charset="0"/>
                <a:cs typeface="Arial" pitchFamily="34" charset="0"/>
              </a:defRPr>
            </a:lvl9pPr>
          </a:lstStyle>
          <a:p>
            <a:pPr eaLnBrk="1" hangingPunct="1">
              <a:spcBef>
                <a:spcPct val="50000"/>
              </a:spcBef>
              <a:defRPr/>
            </a:pPr>
            <a:r>
              <a:rPr lang="en-GB" sz="1200" dirty="0">
                <a:solidFill>
                  <a:srgbClr val="000000"/>
                </a:solidFill>
              </a:rPr>
              <a:t>Long terminal repeat</a:t>
            </a:r>
          </a:p>
        </p:txBody>
      </p:sp>
      <p:sp>
        <p:nvSpPr>
          <p:cNvPr id="39940" name="Text Box 5">
            <a:extLst>
              <a:ext uri="{FF2B5EF4-FFF2-40B4-BE49-F238E27FC236}">
                <a16:creationId xmlns:a16="http://schemas.microsoft.com/office/drawing/2014/main" id="{24F271C2-BA39-E9A3-2A6E-8F916896D632}"/>
              </a:ext>
            </a:extLst>
          </p:cNvPr>
          <p:cNvSpPr txBox="1">
            <a:spLocks noChangeArrowheads="1"/>
          </p:cNvSpPr>
          <p:nvPr/>
        </p:nvSpPr>
        <p:spPr bwMode="auto">
          <a:xfrm>
            <a:off x="2051050" y="4997450"/>
            <a:ext cx="1800225" cy="274638"/>
          </a:xfrm>
          <a:prstGeom prst="rect">
            <a:avLst/>
          </a:prstGeom>
          <a:solidFill>
            <a:schemeClr val="accent3">
              <a:lumMod val="20000"/>
              <a:lumOff val="80000"/>
            </a:schemeClr>
          </a:solidFill>
          <a:ln>
            <a:noFill/>
          </a:ln>
        </p:spPr>
        <p:txBody>
          <a:bodyPr>
            <a:spAutoFit/>
          </a:bodyPr>
          <a:lstStyle>
            <a:lvl1pPr eaLnBrk="0" hangingPunct="0">
              <a:defRPr>
                <a:solidFill>
                  <a:schemeClr val="tx1"/>
                </a:solidFill>
                <a:latin typeface="Verdana" pitchFamily="34" charset="0"/>
                <a:cs typeface="Arial" pitchFamily="34" charset="0"/>
              </a:defRPr>
            </a:lvl1pPr>
            <a:lvl2pPr marL="742950" indent="-285750" eaLnBrk="0" hangingPunct="0">
              <a:defRPr>
                <a:solidFill>
                  <a:schemeClr val="tx1"/>
                </a:solidFill>
                <a:latin typeface="Verdana" pitchFamily="34" charset="0"/>
                <a:cs typeface="Arial" pitchFamily="34" charset="0"/>
              </a:defRPr>
            </a:lvl2pPr>
            <a:lvl3pPr marL="1143000" indent="-228600" eaLnBrk="0" hangingPunct="0">
              <a:defRPr>
                <a:solidFill>
                  <a:schemeClr val="tx1"/>
                </a:solidFill>
                <a:latin typeface="Verdana" pitchFamily="34" charset="0"/>
                <a:cs typeface="Arial" pitchFamily="34" charset="0"/>
              </a:defRPr>
            </a:lvl3pPr>
            <a:lvl4pPr marL="1600200" indent="-228600" eaLnBrk="0" hangingPunct="0">
              <a:defRPr>
                <a:solidFill>
                  <a:schemeClr val="tx1"/>
                </a:solidFill>
                <a:latin typeface="Verdana" pitchFamily="34" charset="0"/>
                <a:cs typeface="Arial" pitchFamily="34" charset="0"/>
              </a:defRPr>
            </a:lvl4pPr>
            <a:lvl5pPr marL="2057400" indent="-228600" eaLnBrk="0" hangingPunct="0">
              <a:defRPr>
                <a:solidFill>
                  <a:schemeClr val="tx1"/>
                </a:solidFill>
                <a:latin typeface="Verdana" pitchFamily="34" charset="0"/>
                <a:cs typeface="Arial" pitchFamily="34" charset="0"/>
              </a:defRPr>
            </a:lvl5pPr>
            <a:lvl6pPr marL="2514600" indent="-228600" eaLnBrk="0" fontAlgn="base" hangingPunct="0">
              <a:spcBef>
                <a:spcPct val="0"/>
              </a:spcBef>
              <a:spcAft>
                <a:spcPct val="0"/>
              </a:spcAft>
              <a:defRPr>
                <a:solidFill>
                  <a:schemeClr val="tx1"/>
                </a:solidFill>
                <a:latin typeface="Verdana" pitchFamily="34" charset="0"/>
                <a:cs typeface="Arial" pitchFamily="34" charset="0"/>
              </a:defRPr>
            </a:lvl6pPr>
            <a:lvl7pPr marL="2971800" indent="-228600" eaLnBrk="0" fontAlgn="base" hangingPunct="0">
              <a:spcBef>
                <a:spcPct val="0"/>
              </a:spcBef>
              <a:spcAft>
                <a:spcPct val="0"/>
              </a:spcAft>
              <a:defRPr>
                <a:solidFill>
                  <a:schemeClr val="tx1"/>
                </a:solidFill>
                <a:latin typeface="Verdana" pitchFamily="34" charset="0"/>
                <a:cs typeface="Arial" pitchFamily="34" charset="0"/>
              </a:defRPr>
            </a:lvl7pPr>
            <a:lvl8pPr marL="3429000" indent="-228600" eaLnBrk="0" fontAlgn="base" hangingPunct="0">
              <a:spcBef>
                <a:spcPct val="0"/>
              </a:spcBef>
              <a:spcAft>
                <a:spcPct val="0"/>
              </a:spcAft>
              <a:defRPr>
                <a:solidFill>
                  <a:schemeClr val="tx1"/>
                </a:solidFill>
                <a:latin typeface="Verdana" pitchFamily="34" charset="0"/>
                <a:cs typeface="Arial" pitchFamily="34" charset="0"/>
              </a:defRPr>
            </a:lvl8pPr>
            <a:lvl9pPr marL="3886200" indent="-228600" eaLnBrk="0" fontAlgn="base" hangingPunct="0">
              <a:spcBef>
                <a:spcPct val="0"/>
              </a:spcBef>
              <a:spcAft>
                <a:spcPct val="0"/>
              </a:spcAft>
              <a:defRPr>
                <a:solidFill>
                  <a:schemeClr val="tx1"/>
                </a:solidFill>
                <a:latin typeface="Verdana" pitchFamily="34" charset="0"/>
                <a:cs typeface="Arial" pitchFamily="34" charset="0"/>
              </a:defRPr>
            </a:lvl9pPr>
          </a:lstStyle>
          <a:p>
            <a:pPr eaLnBrk="1" hangingPunct="1">
              <a:spcBef>
                <a:spcPct val="50000"/>
              </a:spcBef>
              <a:defRPr/>
            </a:pPr>
            <a:r>
              <a:rPr lang="en-GB" sz="1200" dirty="0">
                <a:solidFill>
                  <a:srgbClr val="000000"/>
                </a:solidFill>
              </a:rPr>
              <a:t>Long terminal repeat</a:t>
            </a:r>
          </a:p>
        </p:txBody>
      </p:sp>
      <p:sp>
        <p:nvSpPr>
          <p:cNvPr id="39941" name="Text Box 6">
            <a:extLst>
              <a:ext uri="{FF2B5EF4-FFF2-40B4-BE49-F238E27FC236}">
                <a16:creationId xmlns:a16="http://schemas.microsoft.com/office/drawing/2014/main" id="{9B42603C-9204-9098-E75B-12B6F3AABBC5}"/>
              </a:ext>
            </a:extLst>
          </p:cNvPr>
          <p:cNvSpPr txBox="1">
            <a:spLocks noChangeArrowheads="1"/>
          </p:cNvSpPr>
          <p:nvPr/>
        </p:nvSpPr>
        <p:spPr bwMode="auto">
          <a:xfrm>
            <a:off x="3924300" y="5013325"/>
            <a:ext cx="1943100" cy="274638"/>
          </a:xfrm>
          <a:prstGeom prst="rect">
            <a:avLst/>
          </a:prstGeom>
          <a:solidFill>
            <a:schemeClr val="accent4">
              <a:lumMod val="20000"/>
              <a:lumOff val="80000"/>
            </a:schemeClr>
          </a:solidFill>
          <a:ln>
            <a:noFill/>
          </a:ln>
        </p:spPr>
        <p:txBody>
          <a:bodyPr>
            <a:spAutoFit/>
          </a:bodyPr>
          <a:lstStyle>
            <a:lvl1pPr eaLnBrk="0" hangingPunct="0">
              <a:defRPr>
                <a:solidFill>
                  <a:schemeClr val="tx1"/>
                </a:solidFill>
                <a:latin typeface="Verdana" pitchFamily="34" charset="0"/>
                <a:cs typeface="Arial" pitchFamily="34" charset="0"/>
              </a:defRPr>
            </a:lvl1pPr>
            <a:lvl2pPr marL="742950" indent="-285750" eaLnBrk="0" hangingPunct="0">
              <a:defRPr>
                <a:solidFill>
                  <a:schemeClr val="tx1"/>
                </a:solidFill>
                <a:latin typeface="Verdana" pitchFamily="34" charset="0"/>
                <a:cs typeface="Arial" pitchFamily="34" charset="0"/>
              </a:defRPr>
            </a:lvl2pPr>
            <a:lvl3pPr marL="1143000" indent="-228600" eaLnBrk="0" hangingPunct="0">
              <a:defRPr>
                <a:solidFill>
                  <a:schemeClr val="tx1"/>
                </a:solidFill>
                <a:latin typeface="Verdana" pitchFamily="34" charset="0"/>
                <a:cs typeface="Arial" pitchFamily="34" charset="0"/>
              </a:defRPr>
            </a:lvl3pPr>
            <a:lvl4pPr marL="1600200" indent="-228600" eaLnBrk="0" hangingPunct="0">
              <a:defRPr>
                <a:solidFill>
                  <a:schemeClr val="tx1"/>
                </a:solidFill>
                <a:latin typeface="Verdana" pitchFamily="34" charset="0"/>
                <a:cs typeface="Arial" pitchFamily="34" charset="0"/>
              </a:defRPr>
            </a:lvl4pPr>
            <a:lvl5pPr marL="2057400" indent="-228600" eaLnBrk="0" hangingPunct="0">
              <a:defRPr>
                <a:solidFill>
                  <a:schemeClr val="tx1"/>
                </a:solidFill>
                <a:latin typeface="Verdana" pitchFamily="34" charset="0"/>
                <a:cs typeface="Arial" pitchFamily="34" charset="0"/>
              </a:defRPr>
            </a:lvl5pPr>
            <a:lvl6pPr marL="2514600" indent="-228600" eaLnBrk="0" fontAlgn="base" hangingPunct="0">
              <a:spcBef>
                <a:spcPct val="0"/>
              </a:spcBef>
              <a:spcAft>
                <a:spcPct val="0"/>
              </a:spcAft>
              <a:defRPr>
                <a:solidFill>
                  <a:schemeClr val="tx1"/>
                </a:solidFill>
                <a:latin typeface="Verdana" pitchFamily="34" charset="0"/>
                <a:cs typeface="Arial" pitchFamily="34" charset="0"/>
              </a:defRPr>
            </a:lvl6pPr>
            <a:lvl7pPr marL="2971800" indent="-228600" eaLnBrk="0" fontAlgn="base" hangingPunct="0">
              <a:spcBef>
                <a:spcPct val="0"/>
              </a:spcBef>
              <a:spcAft>
                <a:spcPct val="0"/>
              </a:spcAft>
              <a:defRPr>
                <a:solidFill>
                  <a:schemeClr val="tx1"/>
                </a:solidFill>
                <a:latin typeface="Verdana" pitchFamily="34" charset="0"/>
                <a:cs typeface="Arial" pitchFamily="34" charset="0"/>
              </a:defRPr>
            </a:lvl7pPr>
            <a:lvl8pPr marL="3429000" indent="-228600" eaLnBrk="0" fontAlgn="base" hangingPunct="0">
              <a:spcBef>
                <a:spcPct val="0"/>
              </a:spcBef>
              <a:spcAft>
                <a:spcPct val="0"/>
              </a:spcAft>
              <a:defRPr>
                <a:solidFill>
                  <a:schemeClr val="tx1"/>
                </a:solidFill>
                <a:latin typeface="Verdana" pitchFamily="34" charset="0"/>
                <a:cs typeface="Arial" pitchFamily="34" charset="0"/>
              </a:defRPr>
            </a:lvl8pPr>
            <a:lvl9pPr marL="3886200" indent="-228600" eaLnBrk="0" fontAlgn="base" hangingPunct="0">
              <a:spcBef>
                <a:spcPct val="0"/>
              </a:spcBef>
              <a:spcAft>
                <a:spcPct val="0"/>
              </a:spcAft>
              <a:defRPr>
                <a:solidFill>
                  <a:schemeClr val="tx1"/>
                </a:solidFill>
                <a:latin typeface="Verdana" pitchFamily="34" charset="0"/>
                <a:cs typeface="Arial" pitchFamily="34" charset="0"/>
              </a:defRPr>
            </a:lvl9pPr>
          </a:lstStyle>
          <a:p>
            <a:pPr eaLnBrk="1" hangingPunct="1">
              <a:spcBef>
                <a:spcPct val="50000"/>
              </a:spcBef>
              <a:defRPr/>
            </a:pPr>
            <a:r>
              <a:rPr lang="en-GB" sz="1200" dirty="0">
                <a:solidFill>
                  <a:srgbClr val="000000"/>
                </a:solidFill>
              </a:rPr>
              <a:t>Reveres Transcriptase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7807F37C-528E-84C4-B4F9-1B29AF26FFC9}"/>
              </a:ext>
            </a:extLst>
          </p:cNvPr>
          <p:cNvSpPr>
            <a:spLocks noGrp="1" noChangeArrowheads="1"/>
          </p:cNvSpPr>
          <p:nvPr>
            <p:ph type="title"/>
          </p:nvPr>
        </p:nvSpPr>
        <p:spPr>
          <a:xfrm>
            <a:off x="323850" y="620713"/>
            <a:ext cx="8229600" cy="1143000"/>
          </a:xfrm>
        </p:spPr>
        <p:txBody>
          <a:bodyPr/>
          <a:lstStyle/>
          <a:p>
            <a:pPr eaLnBrk="1" hangingPunct="1"/>
            <a:r>
              <a:rPr lang="en-GB" altLang="en-US" b="1">
                <a:solidFill>
                  <a:srgbClr val="7030A0"/>
                </a:solidFill>
              </a:rPr>
              <a:t>Mechanisms of </a:t>
            </a:r>
            <a:r>
              <a:rPr lang="en-GB" altLang="en-US" b="1">
                <a:solidFill>
                  <a:srgbClr val="FF0000"/>
                </a:solidFill>
              </a:rPr>
              <a:t>DNA</a:t>
            </a:r>
            <a:r>
              <a:rPr lang="en-GB" altLang="en-US" b="1">
                <a:solidFill>
                  <a:srgbClr val="7030A0"/>
                </a:solidFill>
              </a:rPr>
              <a:t> Transposition</a:t>
            </a:r>
          </a:p>
        </p:txBody>
      </p:sp>
      <p:sp>
        <p:nvSpPr>
          <p:cNvPr id="74755" name="Rectangle 3">
            <a:extLst>
              <a:ext uri="{FF2B5EF4-FFF2-40B4-BE49-F238E27FC236}">
                <a16:creationId xmlns:a16="http://schemas.microsoft.com/office/drawing/2014/main" id="{C61175A2-F84B-D894-71EF-6F45AEC6F225}"/>
              </a:ext>
            </a:extLst>
          </p:cNvPr>
          <p:cNvSpPr>
            <a:spLocks noGrp="1" noChangeArrowheads="1"/>
          </p:cNvSpPr>
          <p:nvPr>
            <p:ph idx="1"/>
          </p:nvPr>
        </p:nvSpPr>
        <p:spPr>
          <a:xfrm>
            <a:off x="179388" y="1989138"/>
            <a:ext cx="8820150" cy="2952750"/>
          </a:xfrm>
        </p:spPr>
        <p:txBody>
          <a:bodyPr/>
          <a:lstStyle/>
          <a:p>
            <a:pPr marL="609600" indent="-609600" eaLnBrk="1" hangingPunct="1">
              <a:lnSpc>
                <a:spcPct val="180000"/>
              </a:lnSpc>
              <a:buFont typeface="Wingdings" pitchFamily="2" charset="2"/>
              <a:buAutoNum type="arabicPeriod"/>
            </a:pPr>
            <a:r>
              <a:rPr lang="en-GB" altLang="en-US"/>
              <a:t>Cut &amp; Paste mechanism (</a:t>
            </a:r>
            <a:r>
              <a:rPr lang="en-GB" altLang="en-US" b="1"/>
              <a:t>transposase</a:t>
            </a:r>
            <a:r>
              <a:rPr lang="en-GB" altLang="en-US"/>
              <a:t>)</a:t>
            </a:r>
          </a:p>
          <a:p>
            <a:pPr marL="609600" indent="-609600" eaLnBrk="1" hangingPunct="1">
              <a:buFont typeface="Wingdings" pitchFamily="2" charset="2"/>
              <a:buAutoNum type="arabicPeriod"/>
            </a:pPr>
            <a:r>
              <a:rPr lang="en-GB" altLang="en-US"/>
              <a:t>Replicative mechanism (copy &amp; paste) (</a:t>
            </a:r>
            <a:r>
              <a:rPr lang="en-GB" altLang="en-US" b="1"/>
              <a:t>integrase</a:t>
            </a:r>
            <a:r>
              <a:rPr lang="en-GB" altLang="en-US"/>
              <a:t>)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F2FF1-C5F0-F049-828F-7596DFBF0BDD}"/>
              </a:ext>
            </a:extLst>
          </p:cNvPr>
          <p:cNvSpPr>
            <a:spLocks noGrp="1"/>
          </p:cNvSpPr>
          <p:nvPr>
            <p:ph type="title"/>
          </p:nvPr>
        </p:nvSpPr>
        <p:spPr>
          <a:xfrm>
            <a:off x="0" y="188913"/>
            <a:ext cx="3132138" cy="1511300"/>
          </a:xfrm>
        </p:spPr>
        <p:txBody>
          <a:bodyPr rtlCol="0">
            <a:normAutofit fontScale="90000"/>
          </a:bodyPr>
          <a:lstStyle/>
          <a:p>
            <a:pPr eaLnBrk="1" fontAlgn="auto" hangingPunct="1">
              <a:spcAft>
                <a:spcPts val="0"/>
              </a:spcAft>
              <a:defRPr/>
            </a:pPr>
            <a:r>
              <a:rPr lang="en-US" sz="3600" b="1" dirty="0">
                <a:solidFill>
                  <a:srgbClr val="0000FF"/>
                </a:solidFill>
              </a:rPr>
              <a:t>Cut and paste mechanism of transposition</a:t>
            </a:r>
          </a:p>
        </p:txBody>
      </p:sp>
      <p:pic>
        <p:nvPicPr>
          <p:cNvPr id="76803" name="Picture 2" descr="H:\Amjad Courses\BT451\Molecular Biology of the Gene images\watson_mm_jpg_chap011\chap011\11_Figure19.jpg">
            <a:extLst>
              <a:ext uri="{FF2B5EF4-FFF2-40B4-BE49-F238E27FC236}">
                <a16:creationId xmlns:a16="http://schemas.microsoft.com/office/drawing/2014/main" id="{52343FC7-F5C8-B886-68AB-5FB45D6780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00" y="0"/>
            <a:ext cx="33115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4" name="TextBox 3">
            <a:extLst>
              <a:ext uri="{FF2B5EF4-FFF2-40B4-BE49-F238E27FC236}">
                <a16:creationId xmlns:a16="http://schemas.microsoft.com/office/drawing/2014/main" id="{6C61A795-6C09-08B9-B1E5-E0DE0BB65262}"/>
              </a:ext>
            </a:extLst>
          </p:cNvPr>
          <p:cNvSpPr txBox="1">
            <a:spLocks noChangeArrowheads="1"/>
          </p:cNvSpPr>
          <p:nvPr/>
        </p:nvSpPr>
        <p:spPr bwMode="auto">
          <a:xfrm>
            <a:off x="6300788" y="1412875"/>
            <a:ext cx="16795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solidFill>
                  <a:srgbClr val="0000FF"/>
                </a:solidFill>
                <a:latin typeface="Verdana" panose="020B0604030504040204" pitchFamily="34" charset="0"/>
              </a:rPr>
              <a:t>transposome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0" name="Picture 2">
            <a:extLst>
              <a:ext uri="{FF2B5EF4-FFF2-40B4-BE49-F238E27FC236}">
                <a16:creationId xmlns:a16="http://schemas.microsoft.com/office/drawing/2014/main" id="{23362756-EF27-4AC1-7D13-746BEDA1E9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274638"/>
            <a:ext cx="3140075" cy="658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21" name="Picture 5">
            <a:extLst>
              <a:ext uri="{FF2B5EF4-FFF2-40B4-BE49-F238E27FC236}">
                <a16:creationId xmlns:a16="http://schemas.microsoft.com/office/drawing/2014/main" id="{2A6AC105-A3A0-96AD-F11D-5EE388185F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1725" y="274638"/>
            <a:ext cx="6772275" cy="658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52" name="Rectangle 3">
            <a:extLst>
              <a:ext uri="{FF2B5EF4-FFF2-40B4-BE49-F238E27FC236}">
                <a16:creationId xmlns:a16="http://schemas.microsoft.com/office/drawing/2014/main" id="{33F2FD60-1A7F-ED0D-AA6A-CDF2F8DA46F4}"/>
              </a:ext>
            </a:extLst>
          </p:cNvPr>
          <p:cNvSpPr>
            <a:spLocks noGrp="1" noChangeArrowheads="1"/>
          </p:cNvSpPr>
          <p:nvPr>
            <p:ph type="title"/>
          </p:nvPr>
        </p:nvSpPr>
        <p:spPr>
          <a:xfrm>
            <a:off x="107950" y="404813"/>
            <a:ext cx="3384550" cy="1079500"/>
          </a:xfrm>
        </p:spPr>
        <p:txBody>
          <a:bodyPr/>
          <a:lstStyle/>
          <a:p>
            <a:pPr algn="l" eaLnBrk="1" hangingPunct="1"/>
            <a:r>
              <a:rPr lang="en-US" altLang="en-US" sz="4000" b="1">
                <a:solidFill>
                  <a:srgbClr val="0000FF"/>
                </a:solidFill>
              </a:rPr>
              <a:t>DNA strand transfer</a:t>
            </a:r>
            <a:endParaRPr lang="en-GB" altLang="en-US" sz="4000" b="1">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162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xit" presetSubtype="0" fill="hold" nodeType="clickEffect">
                                  <p:stCondLst>
                                    <p:cond delay="0"/>
                                  </p:stCondLst>
                                  <p:childTnLst>
                                    <p:set>
                                      <p:cBhvr>
                                        <p:cTn id="10" dur="1" fill="hold">
                                          <p:stCondLst>
                                            <p:cond delay="0"/>
                                          </p:stCondLst>
                                        </p:cTn>
                                        <p:tgtEl>
                                          <p:spTgt spid="1116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F5D4BC21-058A-6950-BF39-A07001DBF994}"/>
              </a:ext>
            </a:extLst>
          </p:cNvPr>
          <p:cNvSpPr>
            <a:spLocks noGrp="1" noChangeArrowheads="1"/>
          </p:cNvSpPr>
          <p:nvPr>
            <p:ph type="ctrTitle"/>
          </p:nvPr>
        </p:nvSpPr>
        <p:spPr>
          <a:xfrm>
            <a:off x="827088" y="0"/>
            <a:ext cx="7483475" cy="969963"/>
          </a:xfrm>
        </p:spPr>
        <p:txBody>
          <a:bodyPr rtlCol="0">
            <a:normAutofit fontScale="90000"/>
          </a:bodyPr>
          <a:lstStyle/>
          <a:p>
            <a:pPr eaLnBrk="1" fontAlgn="auto" hangingPunct="1">
              <a:spcAft>
                <a:spcPts val="0"/>
              </a:spcAft>
              <a:defRPr/>
            </a:pPr>
            <a:r>
              <a:rPr lang="en-US" sz="3800" b="1" dirty="0">
                <a:solidFill>
                  <a:srgbClr val="0000FF"/>
                </a:solidFill>
              </a:rPr>
              <a:t>Three Mechanisms for</a:t>
            </a:r>
            <a:r>
              <a:rPr lang="en-US" sz="4200" b="1" dirty="0">
                <a:solidFill>
                  <a:srgbClr val="0000FF"/>
                </a:solidFill>
              </a:rPr>
              <a:t> </a:t>
            </a:r>
            <a:r>
              <a:rPr lang="en-US" sz="3800" b="1" dirty="0">
                <a:solidFill>
                  <a:srgbClr val="0000FF"/>
                </a:solidFill>
              </a:rPr>
              <a:t>Cleaving the </a:t>
            </a:r>
            <a:r>
              <a:rPr lang="en-US" sz="3800" b="1" dirty="0">
                <a:solidFill>
                  <a:srgbClr val="FF0000"/>
                </a:solidFill>
              </a:rPr>
              <a:t>Non-transferred Strand</a:t>
            </a:r>
          </a:p>
        </p:txBody>
      </p:sp>
      <p:pic>
        <p:nvPicPr>
          <p:cNvPr id="80899" name="Picture 3">
            <a:extLst>
              <a:ext uri="{FF2B5EF4-FFF2-40B4-BE49-F238E27FC236}">
                <a16:creationId xmlns:a16="http://schemas.microsoft.com/office/drawing/2014/main" id="{ADD0FDB2-7343-C419-69E6-ED3C20CDBF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981075"/>
            <a:ext cx="7443787" cy="5732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4" name="TextBox 3">
            <a:extLst>
              <a:ext uri="{FF2B5EF4-FFF2-40B4-BE49-F238E27FC236}">
                <a16:creationId xmlns:a16="http://schemas.microsoft.com/office/drawing/2014/main" id="{D3F56602-9EB9-0959-8062-BC3B770CBD27}"/>
              </a:ext>
            </a:extLst>
          </p:cNvPr>
          <p:cNvSpPr txBox="1">
            <a:spLocks noChangeArrowheads="1"/>
          </p:cNvSpPr>
          <p:nvPr/>
        </p:nvSpPr>
        <p:spPr bwMode="auto">
          <a:xfrm>
            <a:off x="250825" y="5157788"/>
            <a:ext cx="3457575" cy="1077912"/>
          </a:xfrm>
          <a:prstGeom prst="rect">
            <a:avLst/>
          </a:prstGeom>
          <a:solidFill>
            <a:schemeClr val="accent6">
              <a:lumMod val="20000"/>
              <a:lumOff val="80000"/>
            </a:schemeClr>
          </a:solidFill>
          <a:ln>
            <a:noFill/>
          </a:ln>
        </p:spPr>
        <p:txBody>
          <a:bodyPr>
            <a:spAutoFit/>
          </a:bodyPr>
          <a:lstStyle>
            <a:lvl1pPr eaLnBrk="0" hangingPunct="0">
              <a:defRPr>
                <a:solidFill>
                  <a:schemeClr val="tx1"/>
                </a:solidFill>
                <a:latin typeface="Verdana" pitchFamily="34" charset="0"/>
                <a:cs typeface="Arial" charset="0"/>
              </a:defRPr>
            </a:lvl1pPr>
            <a:lvl2pPr marL="742950" indent="-285750" eaLnBrk="0" hangingPunct="0">
              <a:defRPr>
                <a:solidFill>
                  <a:schemeClr val="tx1"/>
                </a:solidFill>
                <a:latin typeface="Verdana" pitchFamily="34" charset="0"/>
                <a:cs typeface="Arial" charset="0"/>
              </a:defRPr>
            </a:lvl2pPr>
            <a:lvl3pPr marL="1143000" indent="-228600" eaLnBrk="0" hangingPunct="0">
              <a:defRPr>
                <a:solidFill>
                  <a:schemeClr val="tx1"/>
                </a:solidFill>
                <a:latin typeface="Verdana" pitchFamily="34" charset="0"/>
                <a:cs typeface="Arial" charset="0"/>
              </a:defRPr>
            </a:lvl3pPr>
            <a:lvl4pPr marL="1600200" indent="-228600" eaLnBrk="0" hangingPunct="0">
              <a:defRPr>
                <a:solidFill>
                  <a:schemeClr val="tx1"/>
                </a:solidFill>
                <a:latin typeface="Verdana" pitchFamily="34" charset="0"/>
                <a:cs typeface="Arial" charset="0"/>
              </a:defRPr>
            </a:lvl4pPr>
            <a:lvl5pPr marL="2057400" indent="-228600" eaLnBrk="0" hangingPunct="0">
              <a:defRPr>
                <a:solidFill>
                  <a:schemeClr val="tx1"/>
                </a:solidFill>
                <a:latin typeface="Verdana" pitchFamily="34" charset="0"/>
                <a:cs typeface="Arial" charset="0"/>
              </a:defRPr>
            </a:lvl5pPr>
            <a:lvl6pPr marL="2514600" indent="-228600" eaLnBrk="0" fontAlgn="base" hangingPunct="0">
              <a:spcBef>
                <a:spcPct val="0"/>
              </a:spcBef>
              <a:spcAft>
                <a:spcPct val="0"/>
              </a:spcAft>
              <a:defRPr>
                <a:solidFill>
                  <a:schemeClr val="tx1"/>
                </a:solidFill>
                <a:latin typeface="Verdana" pitchFamily="34" charset="0"/>
                <a:cs typeface="Arial" charset="0"/>
              </a:defRPr>
            </a:lvl6pPr>
            <a:lvl7pPr marL="2971800" indent="-228600" eaLnBrk="0" fontAlgn="base" hangingPunct="0">
              <a:spcBef>
                <a:spcPct val="0"/>
              </a:spcBef>
              <a:spcAft>
                <a:spcPct val="0"/>
              </a:spcAft>
              <a:defRPr>
                <a:solidFill>
                  <a:schemeClr val="tx1"/>
                </a:solidFill>
                <a:latin typeface="Verdana" pitchFamily="34" charset="0"/>
                <a:cs typeface="Arial" charset="0"/>
              </a:defRPr>
            </a:lvl7pPr>
            <a:lvl8pPr marL="3429000" indent="-228600" eaLnBrk="0" fontAlgn="base" hangingPunct="0">
              <a:spcBef>
                <a:spcPct val="0"/>
              </a:spcBef>
              <a:spcAft>
                <a:spcPct val="0"/>
              </a:spcAft>
              <a:defRPr>
                <a:solidFill>
                  <a:schemeClr val="tx1"/>
                </a:solidFill>
                <a:latin typeface="Verdana" pitchFamily="34" charset="0"/>
                <a:cs typeface="Arial" charset="0"/>
              </a:defRPr>
            </a:lvl8pPr>
            <a:lvl9pPr marL="3886200" indent="-228600" eaLnBrk="0" fontAlgn="base" hangingPunct="0">
              <a:spcBef>
                <a:spcPct val="0"/>
              </a:spcBef>
              <a:spcAft>
                <a:spcPct val="0"/>
              </a:spcAft>
              <a:defRPr>
                <a:solidFill>
                  <a:schemeClr val="tx1"/>
                </a:solidFill>
                <a:latin typeface="Verdana" pitchFamily="34" charset="0"/>
                <a:cs typeface="Arial" charset="0"/>
              </a:defRPr>
            </a:lvl9pPr>
          </a:lstStyle>
          <a:p>
            <a:pPr eaLnBrk="1" hangingPunct="1">
              <a:defRPr/>
            </a:pPr>
            <a:r>
              <a:rPr lang="en-US" sz="1600" b="1" dirty="0" err="1"/>
              <a:t>nontransferred</a:t>
            </a:r>
            <a:r>
              <a:rPr lang="en-US" sz="1600" dirty="0"/>
              <a:t> strands: their 5’ends are not directly linked to the target DNA during the DNA strand transfer.</a:t>
            </a:r>
          </a:p>
        </p:txBody>
      </p:sp>
      <p:sp>
        <p:nvSpPr>
          <p:cNvPr id="80901" name="TextBox 4">
            <a:extLst>
              <a:ext uri="{FF2B5EF4-FFF2-40B4-BE49-F238E27FC236}">
                <a16:creationId xmlns:a16="http://schemas.microsoft.com/office/drawing/2014/main" id="{0D0393E4-0499-1C5E-8C09-D89CAB4985EE}"/>
              </a:ext>
            </a:extLst>
          </p:cNvPr>
          <p:cNvSpPr txBox="1">
            <a:spLocks noChangeArrowheads="1"/>
          </p:cNvSpPr>
          <p:nvPr/>
        </p:nvSpPr>
        <p:spPr bwMode="auto">
          <a:xfrm>
            <a:off x="0" y="1268413"/>
            <a:ext cx="2360613" cy="306387"/>
          </a:xfrm>
          <a:prstGeom prst="rect">
            <a:avLst/>
          </a:prstGeom>
          <a:solidFill>
            <a:schemeClr val="accent3">
              <a:lumMod val="20000"/>
              <a:lumOff val="80000"/>
            </a:schemeClr>
          </a:solidFill>
          <a:ln>
            <a:noFill/>
          </a:ln>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defRPr/>
            </a:pPr>
            <a:r>
              <a:rPr lang="en-US" altLang="en-US" sz="1400" dirty="0">
                <a:latin typeface="Verdana" panose="020B0604030504040204" pitchFamily="34" charset="0"/>
              </a:rPr>
              <a:t>Another enzyme is used</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6" name="Picture 4" descr="Transposons1">
            <a:extLst>
              <a:ext uri="{FF2B5EF4-FFF2-40B4-BE49-F238E27FC236}">
                <a16:creationId xmlns:a16="http://schemas.microsoft.com/office/drawing/2014/main" id="{09223EDB-0134-70EE-936E-D1D83A9244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2275" y="2133600"/>
            <a:ext cx="6480175" cy="384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7" name="Rectangle 5">
            <a:extLst>
              <a:ext uri="{FF2B5EF4-FFF2-40B4-BE49-F238E27FC236}">
                <a16:creationId xmlns:a16="http://schemas.microsoft.com/office/drawing/2014/main" id="{C15A166C-9EAA-42DC-E161-FD3D5491647F}"/>
              </a:ext>
            </a:extLst>
          </p:cNvPr>
          <p:cNvSpPr>
            <a:spLocks noGrp="1" noChangeArrowheads="1"/>
          </p:cNvSpPr>
          <p:nvPr>
            <p:ph type="title"/>
          </p:nvPr>
        </p:nvSpPr>
        <p:spPr>
          <a:xfrm>
            <a:off x="755650" y="260350"/>
            <a:ext cx="8388350" cy="1431925"/>
          </a:xfrm>
        </p:spPr>
        <p:txBody>
          <a:bodyPr/>
          <a:lstStyle/>
          <a:p>
            <a:pPr eaLnBrk="1" hangingPunct="1"/>
            <a:r>
              <a:rPr lang="en-GB" altLang="en-US" sz="4000" b="1">
                <a:solidFill>
                  <a:srgbClr val="0000FF"/>
                </a:solidFill>
              </a:rPr>
              <a:t>What makes DNA direct repeats?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994" name="Picture 2" descr="f17-12b_three_mechanism_c">
            <a:extLst>
              <a:ext uri="{FF2B5EF4-FFF2-40B4-BE49-F238E27FC236}">
                <a16:creationId xmlns:a16="http://schemas.microsoft.com/office/drawing/2014/main" id="{D2B2C48D-EA17-A427-23E7-C62AB0A43A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9027" b="18489"/>
          <a:stretch>
            <a:fillRect/>
          </a:stretch>
        </p:blipFill>
        <p:spPr bwMode="auto">
          <a:xfrm>
            <a:off x="1116013" y="1484313"/>
            <a:ext cx="7343775" cy="399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5" name="Text Box 3">
            <a:extLst>
              <a:ext uri="{FF2B5EF4-FFF2-40B4-BE49-F238E27FC236}">
                <a16:creationId xmlns:a16="http://schemas.microsoft.com/office/drawing/2014/main" id="{05030DB8-D87E-0087-47DC-CBFC0C3B3A4C}"/>
              </a:ext>
            </a:extLst>
          </p:cNvPr>
          <p:cNvSpPr txBox="1">
            <a:spLocks noChangeArrowheads="1"/>
          </p:cNvSpPr>
          <p:nvPr/>
        </p:nvSpPr>
        <p:spPr bwMode="auto">
          <a:xfrm>
            <a:off x="1692275" y="188913"/>
            <a:ext cx="65389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4000" b="1">
                <a:solidFill>
                  <a:srgbClr val="0000FF"/>
                </a:solidFill>
                <a:latin typeface="Arial" panose="020B0604020202020204" pitchFamily="34" charset="0"/>
              </a:rPr>
              <a:t>Replicative Transposition </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ext Box 2">
            <a:extLst>
              <a:ext uri="{FF2B5EF4-FFF2-40B4-BE49-F238E27FC236}">
                <a16:creationId xmlns:a16="http://schemas.microsoft.com/office/drawing/2014/main" id="{9B94B4D9-B57D-0B59-5D88-D7C86033089A}"/>
              </a:ext>
            </a:extLst>
          </p:cNvPr>
          <p:cNvSpPr txBox="1">
            <a:spLocks noChangeArrowheads="1"/>
          </p:cNvSpPr>
          <p:nvPr/>
        </p:nvSpPr>
        <p:spPr bwMode="auto">
          <a:xfrm>
            <a:off x="250825" y="260350"/>
            <a:ext cx="87137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b="1">
                <a:solidFill>
                  <a:srgbClr val="0000FF"/>
                </a:solidFill>
                <a:latin typeface="Arial" panose="020B0604020202020204" pitchFamily="34" charset="0"/>
              </a:rPr>
              <a:t>Mechanism of Replicative Transposition</a:t>
            </a:r>
          </a:p>
        </p:txBody>
      </p:sp>
      <p:pic>
        <p:nvPicPr>
          <p:cNvPr id="87043" name="Picture 3">
            <a:extLst>
              <a:ext uri="{FF2B5EF4-FFF2-40B4-BE49-F238E27FC236}">
                <a16:creationId xmlns:a16="http://schemas.microsoft.com/office/drawing/2014/main" id="{325E2934-F210-B4B8-D4B3-9838D83608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42242"/>
          <a:stretch>
            <a:fillRect/>
          </a:stretch>
        </p:blipFill>
        <p:spPr bwMode="auto">
          <a:xfrm>
            <a:off x="4535488" y="1014413"/>
            <a:ext cx="4608512" cy="584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44" name="Picture 5" descr="H:\Amjad Courses\BT451\Molecular Biology of the Gene images\watson_mm_jpg_chap011\chap011\11_Figure22.jpg">
            <a:extLst>
              <a:ext uri="{FF2B5EF4-FFF2-40B4-BE49-F238E27FC236}">
                <a16:creationId xmlns:a16="http://schemas.microsoft.com/office/drawing/2014/main" id="{3262D208-5FA1-702B-EBA7-FF9B4AC0C3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093" r="16087" b="57645"/>
          <a:stretch>
            <a:fillRect/>
          </a:stretch>
        </p:blipFill>
        <p:spPr bwMode="auto">
          <a:xfrm>
            <a:off x="468313" y="1011238"/>
            <a:ext cx="3959225" cy="551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a:extLst>
              <a:ext uri="{FF2B5EF4-FFF2-40B4-BE49-F238E27FC236}">
                <a16:creationId xmlns:a16="http://schemas.microsoft.com/office/drawing/2014/main" id="{AFB437CE-F49C-AE37-AD90-F556EBA29194}"/>
              </a:ext>
            </a:extLst>
          </p:cNvPr>
          <p:cNvSpPr>
            <a:spLocks noGrp="1" noChangeArrowheads="1"/>
          </p:cNvSpPr>
          <p:nvPr>
            <p:ph type="title"/>
          </p:nvPr>
        </p:nvSpPr>
        <p:spPr>
          <a:xfrm>
            <a:off x="179388" y="277813"/>
            <a:ext cx="8507412" cy="847725"/>
          </a:xfrm>
        </p:spPr>
        <p:txBody>
          <a:bodyPr rtlCol="0">
            <a:normAutofit fontScale="90000"/>
          </a:bodyPr>
          <a:lstStyle/>
          <a:p>
            <a:pPr eaLnBrk="1" fontAlgn="auto" hangingPunct="1">
              <a:spcAft>
                <a:spcPts val="0"/>
              </a:spcAft>
              <a:defRPr/>
            </a:pPr>
            <a:r>
              <a:rPr lang="en-GB" sz="4000" b="1" dirty="0">
                <a:solidFill>
                  <a:srgbClr val="7030A0"/>
                </a:solidFill>
              </a:rPr>
              <a:t>II- Viral-like </a:t>
            </a:r>
            <a:r>
              <a:rPr lang="en-GB" sz="4000" b="1" dirty="0" err="1">
                <a:solidFill>
                  <a:srgbClr val="7030A0"/>
                </a:solidFill>
              </a:rPr>
              <a:t>Retrotranposons</a:t>
            </a:r>
            <a:r>
              <a:rPr lang="en-GB" sz="4000" b="1" dirty="0">
                <a:solidFill>
                  <a:srgbClr val="7030A0"/>
                </a:solidFill>
              </a:rPr>
              <a:t> (retroviruses)</a:t>
            </a:r>
          </a:p>
        </p:txBody>
      </p:sp>
      <p:sp>
        <p:nvSpPr>
          <p:cNvPr id="89091" name="Rectangle 3">
            <a:extLst>
              <a:ext uri="{FF2B5EF4-FFF2-40B4-BE49-F238E27FC236}">
                <a16:creationId xmlns:a16="http://schemas.microsoft.com/office/drawing/2014/main" id="{C7A8EAA9-C919-A539-F75C-C89A1E14773E}"/>
              </a:ext>
            </a:extLst>
          </p:cNvPr>
          <p:cNvSpPr>
            <a:spLocks noGrp="1" noChangeArrowheads="1"/>
          </p:cNvSpPr>
          <p:nvPr>
            <p:ph type="body" sz="half" idx="1"/>
          </p:nvPr>
        </p:nvSpPr>
        <p:spPr>
          <a:xfrm>
            <a:off x="1066800" y="1700213"/>
            <a:ext cx="8077200" cy="2887662"/>
          </a:xfrm>
        </p:spPr>
        <p:txBody>
          <a:bodyPr/>
          <a:lstStyle/>
          <a:p>
            <a:pPr eaLnBrk="1" hangingPunct="1"/>
            <a:r>
              <a:rPr lang="en-GB" altLang="en-US" sz="2400"/>
              <a:t>Inverted terminal repeats (ITR) embedded within longer direct repeat (LTR)</a:t>
            </a:r>
          </a:p>
          <a:p>
            <a:pPr eaLnBrk="1" hangingPunct="1"/>
            <a:endParaRPr lang="en-GB" altLang="en-US" sz="1000"/>
          </a:p>
          <a:p>
            <a:pPr eaLnBrk="1" hangingPunct="1"/>
            <a:r>
              <a:rPr lang="en-GB" altLang="en-US" sz="2400"/>
              <a:t>Transposase (</a:t>
            </a:r>
            <a:r>
              <a:rPr lang="en-GB" altLang="en-US" sz="2400" b="1">
                <a:solidFill>
                  <a:srgbClr val="C00000"/>
                </a:solidFill>
              </a:rPr>
              <a:t>integrase</a:t>
            </a:r>
            <a:r>
              <a:rPr lang="en-GB" altLang="en-US" sz="2400"/>
              <a:t>)</a:t>
            </a:r>
          </a:p>
          <a:p>
            <a:pPr eaLnBrk="1" hangingPunct="1"/>
            <a:endParaRPr lang="en-GB" altLang="en-US" sz="1000"/>
          </a:p>
          <a:p>
            <a:pPr eaLnBrk="1" hangingPunct="1"/>
            <a:r>
              <a:rPr lang="en-GB" altLang="en-US" sz="2400"/>
              <a:t>Reverse transcriptase (RT)</a:t>
            </a:r>
          </a:p>
          <a:p>
            <a:pPr eaLnBrk="1" hangingPunct="1"/>
            <a:endParaRPr lang="en-GB" altLang="en-US" sz="1200"/>
          </a:p>
          <a:p>
            <a:pPr eaLnBrk="1" hangingPunct="1"/>
            <a:r>
              <a:rPr lang="en-GB" altLang="en-US" sz="2400"/>
              <a:t>Viral like Vs Retroviruses</a:t>
            </a:r>
          </a:p>
        </p:txBody>
      </p:sp>
      <p:pic>
        <p:nvPicPr>
          <p:cNvPr id="89092" name="Picture 4">
            <a:extLst>
              <a:ext uri="{FF2B5EF4-FFF2-40B4-BE49-F238E27FC236}">
                <a16:creationId xmlns:a16="http://schemas.microsoft.com/office/drawing/2014/main" id="{C5B52F74-CCC5-A15C-86B3-8805DA279D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47604" b="25407"/>
          <a:stretch>
            <a:fillRect/>
          </a:stretch>
        </p:blipFill>
        <p:spPr bwMode="auto">
          <a:xfrm>
            <a:off x="1692275" y="4941888"/>
            <a:ext cx="6629400" cy="165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138" name="Picture 2" descr="f17-12c_three_mechanism_c">
            <a:extLst>
              <a:ext uri="{FF2B5EF4-FFF2-40B4-BE49-F238E27FC236}">
                <a16:creationId xmlns:a16="http://schemas.microsoft.com/office/drawing/2014/main" id="{D2FDF948-7D2C-F4AF-F9F1-5F7DC658E4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348" b="9723"/>
          <a:stretch>
            <a:fillRect/>
          </a:stretch>
        </p:blipFill>
        <p:spPr bwMode="auto">
          <a:xfrm>
            <a:off x="1403350" y="1628775"/>
            <a:ext cx="6192838" cy="408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0051" name="Rectangle 3">
            <a:extLst>
              <a:ext uri="{FF2B5EF4-FFF2-40B4-BE49-F238E27FC236}">
                <a16:creationId xmlns:a16="http://schemas.microsoft.com/office/drawing/2014/main" id="{45813DB0-A25E-1E13-C172-72B54D4A1E86}"/>
              </a:ext>
            </a:extLst>
          </p:cNvPr>
          <p:cNvSpPr>
            <a:spLocks noGrp="1" noChangeArrowheads="1"/>
          </p:cNvSpPr>
          <p:nvPr>
            <p:ph type="title"/>
          </p:nvPr>
        </p:nvSpPr>
        <p:spPr/>
        <p:txBody>
          <a:bodyPr rtlCol="0">
            <a:normAutofit fontScale="90000"/>
          </a:bodyPr>
          <a:lstStyle/>
          <a:p>
            <a:pPr eaLnBrk="1" fontAlgn="auto" hangingPunct="1">
              <a:spcAft>
                <a:spcPts val="0"/>
              </a:spcAft>
              <a:defRPr/>
            </a:pPr>
            <a:r>
              <a:rPr lang="en-US" b="1" dirty="0">
                <a:solidFill>
                  <a:srgbClr val="0000FF"/>
                </a:solidFill>
              </a:rPr>
              <a:t>Retrotransposition </a:t>
            </a:r>
            <a:br>
              <a:rPr lang="en-US" b="1" dirty="0">
                <a:solidFill>
                  <a:srgbClr val="0000FF"/>
                </a:solidFill>
              </a:rPr>
            </a:br>
            <a:endParaRPr lang="en-GB" b="1" dirty="0">
              <a:solidFill>
                <a:srgbClr val="0000FF"/>
              </a:solidFill>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220E84EF-56D4-3959-F24C-94326D3C0C1A}"/>
              </a:ext>
            </a:extLst>
          </p:cNvPr>
          <p:cNvSpPr>
            <a:spLocks noGrp="1" noChangeArrowheads="1"/>
          </p:cNvSpPr>
          <p:nvPr>
            <p:ph type="title"/>
          </p:nvPr>
        </p:nvSpPr>
        <p:spPr>
          <a:xfrm>
            <a:off x="0" y="0"/>
            <a:ext cx="5791200" cy="1401763"/>
          </a:xfrm>
        </p:spPr>
        <p:txBody>
          <a:bodyPr/>
          <a:lstStyle/>
          <a:p>
            <a:pPr eaLnBrk="1" hangingPunct="1"/>
            <a:r>
              <a:rPr lang="en-US" altLang="en-US" sz="3600" b="1">
                <a:solidFill>
                  <a:srgbClr val="0000FF"/>
                </a:solidFill>
              </a:rPr>
              <a:t>Mechanism of retroviral transposition</a:t>
            </a:r>
            <a:endParaRPr lang="en-GB" altLang="en-US" sz="3600" b="1">
              <a:solidFill>
                <a:srgbClr val="0000FF"/>
              </a:solidFill>
            </a:endParaRPr>
          </a:p>
        </p:txBody>
      </p:sp>
      <p:sp>
        <p:nvSpPr>
          <p:cNvPr id="93187" name="Rectangle 3">
            <a:extLst>
              <a:ext uri="{FF2B5EF4-FFF2-40B4-BE49-F238E27FC236}">
                <a16:creationId xmlns:a16="http://schemas.microsoft.com/office/drawing/2014/main" id="{5F2CD459-8809-5E99-F622-B8708B9C47B1}"/>
              </a:ext>
            </a:extLst>
          </p:cNvPr>
          <p:cNvSpPr>
            <a:spLocks noGrp="1" noChangeArrowheads="1"/>
          </p:cNvSpPr>
          <p:nvPr>
            <p:ph type="body" sz="half" idx="1"/>
          </p:nvPr>
        </p:nvSpPr>
        <p:spPr>
          <a:xfrm>
            <a:off x="152400" y="1600200"/>
            <a:ext cx="5562600" cy="4525963"/>
          </a:xfrm>
        </p:spPr>
        <p:txBody>
          <a:bodyPr/>
          <a:lstStyle/>
          <a:p>
            <a:pPr eaLnBrk="1" hangingPunct="1"/>
            <a:r>
              <a:rPr lang="en-US" altLang="en-US" sz="2800"/>
              <a:t>Transcription within LTR by RNA polymerase</a:t>
            </a:r>
          </a:p>
          <a:p>
            <a:pPr eaLnBrk="1" hangingPunct="1"/>
            <a:endParaRPr lang="en-US" altLang="en-US" sz="1400"/>
          </a:p>
          <a:p>
            <a:pPr eaLnBrk="1" hangingPunct="1"/>
            <a:r>
              <a:rPr lang="en-US" altLang="en-US" sz="2800"/>
              <a:t>cDNA by RT</a:t>
            </a:r>
          </a:p>
          <a:p>
            <a:pPr eaLnBrk="1" hangingPunct="1"/>
            <a:endParaRPr lang="en-US" altLang="en-US" sz="1400"/>
          </a:p>
          <a:p>
            <a:pPr eaLnBrk="1" hangingPunct="1"/>
            <a:r>
              <a:rPr lang="en-US" altLang="en-US" sz="2800"/>
              <a:t>Integrase recognize cDNA</a:t>
            </a:r>
          </a:p>
          <a:p>
            <a:pPr eaLnBrk="1" hangingPunct="1"/>
            <a:endParaRPr lang="en-US" altLang="en-US" sz="1400"/>
          </a:p>
          <a:p>
            <a:pPr eaLnBrk="1" hangingPunct="1"/>
            <a:r>
              <a:rPr lang="en-US" altLang="en-US" sz="2800"/>
              <a:t>No need for 2nd strand cut</a:t>
            </a:r>
          </a:p>
          <a:p>
            <a:pPr eaLnBrk="1" hangingPunct="1"/>
            <a:endParaRPr lang="en-US" altLang="en-US" sz="1400"/>
          </a:p>
          <a:p>
            <a:pPr eaLnBrk="1" hangingPunct="1"/>
            <a:r>
              <a:rPr lang="en-US" altLang="en-US" sz="2800"/>
              <a:t>3`-OH attack target DNA</a:t>
            </a:r>
            <a:endParaRPr lang="en-GB" altLang="en-US" sz="2800"/>
          </a:p>
        </p:txBody>
      </p:sp>
      <p:pic>
        <p:nvPicPr>
          <p:cNvPr id="93188" name="Picture 4">
            <a:extLst>
              <a:ext uri="{FF2B5EF4-FFF2-40B4-BE49-F238E27FC236}">
                <a16:creationId xmlns:a16="http://schemas.microsoft.com/office/drawing/2014/main" id="{B89E6499-D792-AB64-B820-444721188D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315"/>
          <a:stretch>
            <a:fillRect/>
          </a:stretch>
        </p:blipFill>
        <p:spPr bwMode="auto">
          <a:xfrm>
            <a:off x="5580063" y="274638"/>
            <a:ext cx="3563937" cy="658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4C23A7CE-AFBB-8892-18EF-4B10228183BC}"/>
              </a:ext>
            </a:extLst>
          </p:cNvPr>
          <p:cNvSpPr>
            <a:spLocks noGrp="1" noChangeArrowheads="1"/>
          </p:cNvSpPr>
          <p:nvPr>
            <p:ph type="title"/>
          </p:nvPr>
        </p:nvSpPr>
        <p:spPr>
          <a:xfrm>
            <a:off x="395288" y="0"/>
            <a:ext cx="8229600" cy="1139825"/>
          </a:xfrm>
        </p:spPr>
        <p:txBody>
          <a:bodyPr/>
          <a:lstStyle/>
          <a:p>
            <a:pPr eaLnBrk="1" hangingPunct="1"/>
            <a:r>
              <a:rPr lang="en-US" altLang="en-US" sz="2400" b="1">
                <a:solidFill>
                  <a:srgbClr val="0000FF"/>
                </a:solidFill>
              </a:rPr>
              <a:t>DNA Transposases and retroviral integrases are members of the same protein superfamily</a:t>
            </a:r>
          </a:p>
        </p:txBody>
      </p:sp>
      <p:pic>
        <p:nvPicPr>
          <p:cNvPr id="95235" name="Picture 6" descr="H:\Amjad Courses\BT451\Molecular Biology of the Gene images\watson_mm_jpg_chap011\chap011\11_Figure24.jpg">
            <a:extLst>
              <a:ext uri="{FF2B5EF4-FFF2-40B4-BE49-F238E27FC236}">
                <a16:creationId xmlns:a16="http://schemas.microsoft.com/office/drawing/2014/main" id="{1C2B6242-BA9E-D97E-989A-E84713646E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69988"/>
            <a:ext cx="8709025" cy="568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2" name="Rectangle 3">
            <a:extLst>
              <a:ext uri="{FF2B5EF4-FFF2-40B4-BE49-F238E27FC236}">
                <a16:creationId xmlns:a16="http://schemas.microsoft.com/office/drawing/2014/main" id="{796DC602-FF4D-2EB1-CDB6-E3E38857F72F}"/>
              </a:ext>
            </a:extLst>
          </p:cNvPr>
          <p:cNvSpPr>
            <a:spLocks noGrp="1" noChangeArrowheads="1"/>
          </p:cNvSpPr>
          <p:nvPr>
            <p:ph type="body" sz="half" idx="1"/>
          </p:nvPr>
        </p:nvSpPr>
        <p:spPr>
          <a:xfrm>
            <a:off x="107950" y="4365625"/>
            <a:ext cx="5040313" cy="2087563"/>
          </a:xfrm>
          <a:solidFill>
            <a:schemeClr val="accent6">
              <a:lumMod val="20000"/>
              <a:lumOff val="80000"/>
            </a:schemeClr>
          </a:solidFill>
        </p:spPr>
        <p:txBody>
          <a:bodyPr/>
          <a:lstStyle/>
          <a:p>
            <a:pPr eaLnBrk="1" hangingPunct="1">
              <a:buFont typeface="Arial" charset="0"/>
              <a:buChar char="•"/>
              <a:defRPr/>
            </a:pPr>
            <a:r>
              <a:rPr lang="en-US" sz="2400" dirty="0"/>
              <a:t>Highly conserved catalytic domains</a:t>
            </a:r>
          </a:p>
          <a:p>
            <a:pPr eaLnBrk="1" hangingPunct="1">
              <a:buFont typeface="Arial" charset="0"/>
              <a:buChar char="•"/>
              <a:defRPr/>
            </a:pPr>
            <a:r>
              <a:rPr lang="en-US" sz="2400" dirty="0"/>
              <a:t>Conserved acidic </a:t>
            </a:r>
            <a:r>
              <a:rPr lang="en-US" sz="2400" dirty="0" err="1"/>
              <a:t>a.a</a:t>
            </a:r>
            <a:r>
              <a:rPr lang="en-US" sz="2400" dirty="0"/>
              <a:t> site</a:t>
            </a:r>
          </a:p>
          <a:p>
            <a:pPr lvl="1" eaLnBrk="1" hangingPunct="1">
              <a:buFont typeface="Arial" charset="0"/>
              <a:buChar char="–"/>
              <a:defRPr/>
            </a:pPr>
            <a:r>
              <a:rPr lang="en-US" sz="2000" b="1" dirty="0">
                <a:solidFill>
                  <a:srgbClr val="C00000"/>
                </a:solidFill>
              </a:rPr>
              <a:t>2 aspartates (D) + glutamate (E)</a:t>
            </a:r>
          </a:p>
          <a:p>
            <a:pPr eaLnBrk="1" hangingPunct="1">
              <a:buFont typeface="Arial" charset="0"/>
              <a:buChar char="•"/>
              <a:defRPr/>
            </a:pPr>
            <a:r>
              <a:rPr lang="en-US" sz="2400" dirty="0"/>
              <a:t>DNA binding site &amp; protein-protein interaction are different</a:t>
            </a:r>
          </a:p>
          <a:p>
            <a:pPr eaLnBrk="1" hangingPunct="1">
              <a:buFont typeface="Arial" charset="0"/>
              <a:buChar char="•"/>
              <a:defRPr/>
            </a:pPr>
            <a:endParaRPr lang="en-US" sz="1400" dirty="0"/>
          </a:p>
          <a:p>
            <a:pPr eaLnBrk="1" hangingPunct="1">
              <a:buFont typeface="Arial" charset="0"/>
              <a:buChar char="•"/>
              <a:defRPr/>
            </a:pPr>
            <a:endParaRPr lang="en-US" sz="1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3">
            <a:extLst>
              <a:ext uri="{FF2B5EF4-FFF2-40B4-BE49-F238E27FC236}">
                <a16:creationId xmlns:a16="http://schemas.microsoft.com/office/drawing/2014/main" id="{01C2B15E-6D51-FF0A-E965-8F38DFE2704D}"/>
              </a:ext>
            </a:extLst>
          </p:cNvPr>
          <p:cNvSpPr>
            <a:spLocks noGrp="1" noChangeArrowheads="1"/>
          </p:cNvSpPr>
          <p:nvPr>
            <p:ph type="ctrTitle" idx="4294967295"/>
          </p:nvPr>
        </p:nvSpPr>
        <p:spPr>
          <a:xfrm>
            <a:off x="20638" y="0"/>
            <a:ext cx="6016625" cy="304800"/>
          </a:xfrm>
          <a:extLst>
            <a:ext uri="{91240B29-F687-4F45-9708-019B960494DF}">
              <a14:hiddenLine xmlns:a14="http://schemas.microsoft.com/office/drawing/2010/main" w="3175">
                <a:solidFill>
                  <a:srgbClr val="000000"/>
                </a:solidFill>
                <a:miter lim="800000"/>
                <a:headEnd/>
                <a:tailEnd/>
              </a14:hiddenLine>
            </a:ext>
          </a:extLst>
        </p:spPr>
        <p:txBody>
          <a:bodyPr/>
          <a:lstStyle/>
          <a:p>
            <a:pPr algn="l" eaLnBrk="1" hangingPunct="1"/>
            <a:r>
              <a:rPr lang="en-US" altLang="en-US" sz="1200">
                <a:latin typeface="Arial" panose="020B0604020202020204" pitchFamily="34" charset="0"/>
              </a:rPr>
              <a:t>Figure 12-25</a:t>
            </a:r>
          </a:p>
        </p:txBody>
      </p:sp>
      <p:pic>
        <p:nvPicPr>
          <p:cNvPr id="97283" name="Picture 3" descr="12_25Figure-L">
            <a:extLst>
              <a:ext uri="{FF2B5EF4-FFF2-40B4-BE49-F238E27FC236}">
                <a16:creationId xmlns:a16="http://schemas.microsoft.com/office/drawing/2014/main" id="{CCC08407-282A-8960-DA57-030B7CD361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533"/>
          <a:stretch>
            <a:fillRect/>
          </a:stretch>
        </p:blipFill>
        <p:spPr bwMode="auto">
          <a:xfrm>
            <a:off x="2411413" y="425450"/>
            <a:ext cx="6537325" cy="646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5ADB6CFB-A9F3-0F88-E685-B40E19816260}"/>
              </a:ext>
            </a:extLst>
          </p:cNvPr>
          <p:cNvSpPr/>
          <p:nvPr/>
        </p:nvSpPr>
        <p:spPr>
          <a:xfrm>
            <a:off x="0" y="260350"/>
            <a:ext cx="5761038" cy="646113"/>
          </a:xfrm>
          <a:prstGeom prst="rect">
            <a:avLst/>
          </a:prstGeom>
          <a:solidFill>
            <a:schemeClr val="accent6">
              <a:lumMod val="20000"/>
              <a:lumOff val="80000"/>
            </a:schemeClr>
          </a:solidFill>
        </p:spPr>
        <p:txBody>
          <a:bodyPr>
            <a:spAutoFit/>
          </a:bodyPr>
          <a:lstStyle/>
          <a:p>
            <a:pPr eaLnBrk="1" hangingPunct="1">
              <a:defRPr/>
            </a:pPr>
            <a:r>
              <a:rPr lang="en-US" dirty="0" err="1">
                <a:cs typeface="Arial" charset="0"/>
              </a:rPr>
              <a:t>Cocrystal</a:t>
            </a:r>
            <a:r>
              <a:rPr lang="en-US" dirty="0">
                <a:cs typeface="Arial" charset="0"/>
              </a:rPr>
              <a:t> of Tn5 bound to substrate DNA. </a:t>
            </a:r>
          </a:p>
          <a:p>
            <a:pPr eaLnBrk="1" hangingPunct="1">
              <a:defRPr/>
            </a:pPr>
            <a:r>
              <a:rPr lang="en-US" dirty="0">
                <a:cs typeface="Arial" charset="0"/>
              </a:rPr>
              <a:t>The complex contains  dimer of </a:t>
            </a:r>
            <a:r>
              <a:rPr lang="en-US" dirty="0" err="1">
                <a:cs typeface="Arial" charset="0"/>
              </a:rPr>
              <a:t>transposase</a:t>
            </a:r>
            <a:r>
              <a:rPr lang="en-US" dirty="0">
                <a:cs typeface="Arial" charset="0"/>
              </a:rPr>
              <a: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7" name="Rectangle 5">
            <a:extLst>
              <a:ext uri="{FF2B5EF4-FFF2-40B4-BE49-F238E27FC236}">
                <a16:creationId xmlns:a16="http://schemas.microsoft.com/office/drawing/2014/main" id="{4C4B7F49-BD45-22A1-4CEA-F12D58EC3713}"/>
              </a:ext>
            </a:extLst>
          </p:cNvPr>
          <p:cNvSpPr>
            <a:spLocks noGrp="1" noChangeArrowheads="1"/>
          </p:cNvSpPr>
          <p:nvPr>
            <p:ph type="title"/>
          </p:nvPr>
        </p:nvSpPr>
        <p:spPr/>
        <p:txBody>
          <a:bodyPr rtlCol="0">
            <a:normAutofit fontScale="90000"/>
          </a:bodyPr>
          <a:lstStyle/>
          <a:p>
            <a:pPr eaLnBrk="1" fontAlgn="auto" hangingPunct="1">
              <a:spcAft>
                <a:spcPts val="0"/>
              </a:spcAft>
              <a:defRPr/>
            </a:pPr>
            <a:r>
              <a:rPr lang="en-GB" sz="4000" b="1" dirty="0">
                <a:solidFill>
                  <a:srgbClr val="7030A0"/>
                </a:solidFill>
              </a:rPr>
              <a:t>III- Poly-A </a:t>
            </a:r>
            <a:r>
              <a:rPr lang="en-GB" sz="4000" b="1" dirty="0" err="1">
                <a:solidFill>
                  <a:srgbClr val="7030A0"/>
                </a:solidFill>
              </a:rPr>
              <a:t>Retrotranposons</a:t>
            </a:r>
            <a:br>
              <a:rPr lang="en-GB" sz="4000" b="1" dirty="0">
                <a:solidFill>
                  <a:srgbClr val="7030A0"/>
                </a:solidFill>
              </a:rPr>
            </a:br>
            <a:r>
              <a:rPr lang="en-GB" sz="3200" b="1" dirty="0">
                <a:solidFill>
                  <a:srgbClr val="0000FF"/>
                </a:solidFill>
              </a:rPr>
              <a:t>Target site primed reverse transcription </a:t>
            </a:r>
            <a:endParaRPr lang="en-GB" sz="4000" b="1" dirty="0">
              <a:solidFill>
                <a:srgbClr val="0000FF"/>
              </a:solidFill>
            </a:endParaRPr>
          </a:p>
        </p:txBody>
      </p:sp>
      <p:sp>
        <p:nvSpPr>
          <p:cNvPr id="99331" name="Rectangle 6">
            <a:extLst>
              <a:ext uri="{FF2B5EF4-FFF2-40B4-BE49-F238E27FC236}">
                <a16:creationId xmlns:a16="http://schemas.microsoft.com/office/drawing/2014/main" id="{82AC592F-6531-A0FC-8D6A-FB02C3C5B337}"/>
              </a:ext>
            </a:extLst>
          </p:cNvPr>
          <p:cNvSpPr>
            <a:spLocks noGrp="1" noChangeArrowheads="1"/>
          </p:cNvSpPr>
          <p:nvPr>
            <p:ph idx="1"/>
          </p:nvPr>
        </p:nvSpPr>
        <p:spPr>
          <a:xfrm>
            <a:off x="323850" y="1773238"/>
            <a:ext cx="8569325" cy="3168650"/>
          </a:xfrm>
        </p:spPr>
        <p:txBody>
          <a:bodyPr/>
          <a:lstStyle/>
          <a:p>
            <a:pPr eaLnBrk="1" hangingPunct="1">
              <a:lnSpc>
                <a:spcPct val="135000"/>
              </a:lnSpc>
            </a:pPr>
            <a:r>
              <a:rPr lang="en-GB" altLang="en-US" sz="2400"/>
              <a:t>Untranslated regions </a:t>
            </a:r>
            <a:r>
              <a:rPr lang="en-GB" altLang="en-US" sz="2400">
                <a:solidFill>
                  <a:srgbClr val="0000FF"/>
                </a:solidFill>
              </a:rPr>
              <a:t>5’UTR &amp; 3’UTR</a:t>
            </a:r>
          </a:p>
          <a:p>
            <a:pPr eaLnBrk="1" hangingPunct="1">
              <a:lnSpc>
                <a:spcPct val="135000"/>
              </a:lnSpc>
            </a:pPr>
            <a:r>
              <a:rPr lang="en-GB" altLang="en-US" sz="2400"/>
              <a:t>RNA synthesis begins at first nucleotide of element</a:t>
            </a:r>
          </a:p>
          <a:p>
            <a:pPr eaLnBrk="1" hangingPunct="1">
              <a:lnSpc>
                <a:spcPct val="135000"/>
              </a:lnSpc>
            </a:pPr>
            <a:r>
              <a:rPr lang="en-GB" altLang="en-US" sz="2400"/>
              <a:t>Stretch of A-T sequence </a:t>
            </a:r>
            <a:r>
              <a:rPr lang="en-GB" altLang="en-US" sz="2400">
                <a:solidFill>
                  <a:srgbClr val="0000FF"/>
                </a:solidFill>
              </a:rPr>
              <a:t>(poly-A sequence)</a:t>
            </a:r>
          </a:p>
          <a:p>
            <a:pPr eaLnBrk="1" hangingPunct="1">
              <a:lnSpc>
                <a:spcPct val="135000"/>
              </a:lnSpc>
            </a:pPr>
            <a:r>
              <a:rPr lang="en-GB" altLang="en-US" sz="2400"/>
              <a:t>ORF1</a:t>
            </a:r>
            <a:endParaRPr lang="en-GB" altLang="en-US" sz="2400">
              <a:solidFill>
                <a:srgbClr val="FFFF00"/>
              </a:solidFill>
            </a:endParaRPr>
          </a:p>
          <a:p>
            <a:pPr eaLnBrk="1" hangingPunct="1">
              <a:lnSpc>
                <a:spcPct val="135000"/>
              </a:lnSpc>
            </a:pPr>
            <a:r>
              <a:rPr lang="en-GB" altLang="en-US" sz="2400"/>
              <a:t>ORF2</a:t>
            </a:r>
          </a:p>
        </p:txBody>
      </p:sp>
      <p:pic>
        <p:nvPicPr>
          <p:cNvPr id="99332" name="Picture 9" descr="H:\Amjad Courses\BT451\Molecular Biology of the Gene images\watson_mm_jpg_chap011\chap011\11_Figure18c.jpg">
            <a:extLst>
              <a:ext uri="{FF2B5EF4-FFF2-40B4-BE49-F238E27FC236}">
                <a16:creationId xmlns:a16="http://schemas.microsoft.com/office/drawing/2014/main" id="{6ACEE233-DCAF-4D90-CD5D-20E34A7ECD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2041"/>
          <a:stretch>
            <a:fillRect/>
          </a:stretch>
        </p:blipFill>
        <p:spPr bwMode="auto">
          <a:xfrm>
            <a:off x="323850" y="4868863"/>
            <a:ext cx="8547100" cy="127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A2C4B84C-130C-D6B4-8DD4-078AB0250A47}"/>
              </a:ext>
            </a:extLst>
          </p:cNvPr>
          <p:cNvSpPr>
            <a:spLocks noGrp="1" noChangeArrowheads="1"/>
          </p:cNvSpPr>
          <p:nvPr>
            <p:ph type="title"/>
          </p:nvPr>
        </p:nvSpPr>
        <p:spPr>
          <a:xfrm>
            <a:off x="107950" y="0"/>
            <a:ext cx="9036050" cy="1052513"/>
          </a:xfrm>
        </p:spPr>
        <p:txBody>
          <a:bodyPr/>
          <a:lstStyle/>
          <a:p>
            <a:pPr eaLnBrk="1" hangingPunct="1"/>
            <a:r>
              <a:rPr lang="en-US" altLang="en-US" sz="3600" b="1">
                <a:solidFill>
                  <a:srgbClr val="0000FF"/>
                </a:solidFill>
              </a:rPr>
              <a:t>LINE poly-A Retrotransposon Movement by target-site-directed splicing mechanism</a:t>
            </a:r>
          </a:p>
        </p:txBody>
      </p:sp>
      <p:sp>
        <p:nvSpPr>
          <p:cNvPr id="101379" name="Rectangle 3">
            <a:extLst>
              <a:ext uri="{FF2B5EF4-FFF2-40B4-BE49-F238E27FC236}">
                <a16:creationId xmlns:a16="http://schemas.microsoft.com/office/drawing/2014/main" id="{87217053-AAE3-069D-48A0-F770456D4C3C}"/>
              </a:ext>
            </a:extLst>
          </p:cNvPr>
          <p:cNvSpPr>
            <a:spLocks noGrp="1" noChangeArrowheads="1"/>
          </p:cNvSpPr>
          <p:nvPr>
            <p:ph type="body" sz="half" idx="1"/>
          </p:nvPr>
        </p:nvSpPr>
        <p:spPr>
          <a:xfrm>
            <a:off x="179388" y="1773238"/>
            <a:ext cx="3887787" cy="3230562"/>
          </a:xfrm>
          <a:solidFill>
            <a:schemeClr val="accent6">
              <a:lumMod val="20000"/>
              <a:lumOff val="80000"/>
            </a:schemeClr>
          </a:solidFill>
        </p:spPr>
        <p:txBody>
          <a:bodyPr/>
          <a:lstStyle/>
          <a:p>
            <a:pPr eaLnBrk="1" hangingPunct="1">
              <a:lnSpc>
                <a:spcPct val="110000"/>
              </a:lnSpc>
              <a:defRPr/>
            </a:pPr>
            <a:r>
              <a:rPr lang="en-GB" altLang="en-US" sz="2800" b="1" dirty="0"/>
              <a:t>ORF1</a:t>
            </a:r>
            <a:r>
              <a:rPr lang="en-GB" altLang="en-US" sz="2800" dirty="0"/>
              <a:t> =</a:t>
            </a:r>
            <a:r>
              <a:rPr lang="en-GB" altLang="en-US" sz="2800" dirty="0">
                <a:solidFill>
                  <a:srgbClr val="0000FF"/>
                </a:solidFill>
              </a:rPr>
              <a:t> RNA binding protein</a:t>
            </a:r>
          </a:p>
          <a:p>
            <a:pPr eaLnBrk="1" hangingPunct="1">
              <a:lnSpc>
                <a:spcPct val="110000"/>
              </a:lnSpc>
              <a:defRPr/>
            </a:pPr>
            <a:endParaRPr lang="en-GB" altLang="en-US" sz="2800" dirty="0">
              <a:solidFill>
                <a:srgbClr val="FFFF00"/>
              </a:solidFill>
            </a:endParaRPr>
          </a:p>
          <a:p>
            <a:pPr eaLnBrk="1" hangingPunct="1">
              <a:lnSpc>
                <a:spcPct val="110000"/>
              </a:lnSpc>
              <a:defRPr/>
            </a:pPr>
            <a:r>
              <a:rPr lang="en-GB" altLang="en-US" sz="2800" b="1" dirty="0"/>
              <a:t>ORF2</a:t>
            </a:r>
            <a:r>
              <a:rPr lang="en-GB" altLang="en-US" sz="2800" dirty="0"/>
              <a:t> =</a:t>
            </a:r>
            <a:r>
              <a:rPr lang="en-GB" altLang="en-US" sz="2800" dirty="0">
                <a:solidFill>
                  <a:srgbClr val="0000FF"/>
                </a:solidFill>
              </a:rPr>
              <a:t> reverse transcriptase &amp; endonuclease</a:t>
            </a:r>
          </a:p>
        </p:txBody>
      </p:sp>
      <p:pic>
        <p:nvPicPr>
          <p:cNvPr id="101380" name="Picture 9">
            <a:extLst>
              <a:ext uri="{FF2B5EF4-FFF2-40B4-BE49-F238E27FC236}">
                <a16:creationId xmlns:a16="http://schemas.microsoft.com/office/drawing/2014/main" id="{8B9C83EA-B18E-7855-BF0F-D16669EAF2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11308" b="50012"/>
          <a:stretch>
            <a:fillRect/>
          </a:stretch>
        </p:blipFill>
        <p:spPr bwMode="auto">
          <a:xfrm>
            <a:off x="4462463" y="1052513"/>
            <a:ext cx="4681537" cy="580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1381" name="TextBox 4">
            <a:extLst>
              <a:ext uri="{FF2B5EF4-FFF2-40B4-BE49-F238E27FC236}">
                <a16:creationId xmlns:a16="http://schemas.microsoft.com/office/drawing/2014/main" id="{E6040F0C-9CFD-81BB-56E8-B7B74BDF1631}"/>
              </a:ext>
            </a:extLst>
          </p:cNvPr>
          <p:cNvSpPr txBox="1">
            <a:spLocks noChangeArrowheads="1"/>
          </p:cNvSpPr>
          <p:nvPr/>
        </p:nvSpPr>
        <p:spPr bwMode="auto">
          <a:xfrm>
            <a:off x="6826250" y="2133600"/>
            <a:ext cx="2171700" cy="246063"/>
          </a:xfrm>
          <a:prstGeom prst="rect">
            <a:avLst/>
          </a:prstGeom>
          <a:solidFill>
            <a:schemeClr val="accent6">
              <a:lumMod val="60000"/>
              <a:lumOff val="40000"/>
            </a:schemeClr>
          </a:solidFill>
          <a:ln>
            <a:noFill/>
          </a:ln>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defRPr/>
            </a:pPr>
            <a:r>
              <a:rPr lang="en-US" altLang="en-US" sz="1000" b="1" dirty="0">
                <a:solidFill>
                  <a:srgbClr val="0000FF"/>
                </a:solidFill>
                <a:latin typeface="Verdana" panose="020B0604030504040204" pitchFamily="34" charset="0"/>
              </a:rPr>
              <a:t>By cellular RNA polymerase</a:t>
            </a:r>
          </a:p>
        </p:txBody>
      </p:sp>
      <p:sp>
        <p:nvSpPr>
          <p:cNvPr id="101382" name="TextBox 5">
            <a:extLst>
              <a:ext uri="{FF2B5EF4-FFF2-40B4-BE49-F238E27FC236}">
                <a16:creationId xmlns:a16="http://schemas.microsoft.com/office/drawing/2014/main" id="{78E51122-87B2-1958-DEEC-DABB0B1A53F1}"/>
              </a:ext>
            </a:extLst>
          </p:cNvPr>
          <p:cNvSpPr txBox="1">
            <a:spLocks noChangeArrowheads="1"/>
          </p:cNvSpPr>
          <p:nvPr/>
        </p:nvSpPr>
        <p:spPr bwMode="auto">
          <a:xfrm>
            <a:off x="6875463" y="3141663"/>
            <a:ext cx="1284287" cy="276225"/>
          </a:xfrm>
          <a:prstGeom prst="rect">
            <a:avLst/>
          </a:prstGeom>
          <a:solidFill>
            <a:schemeClr val="accent6">
              <a:lumMod val="60000"/>
              <a:lumOff val="40000"/>
            </a:schemeClr>
          </a:solidFill>
          <a:ln>
            <a:noFill/>
          </a:ln>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defRPr/>
            </a:pPr>
            <a:r>
              <a:rPr lang="en-US" altLang="en-US" sz="1200" b="1">
                <a:solidFill>
                  <a:srgbClr val="0000FF"/>
                </a:solidFill>
                <a:latin typeface="Verdana" panose="020B0604030504040204" pitchFamily="34" charset="0"/>
              </a:rPr>
              <a:t>in cytoplasm</a:t>
            </a:r>
          </a:p>
        </p:txBody>
      </p:sp>
      <p:sp>
        <p:nvSpPr>
          <p:cNvPr id="101383" name="TextBox 6">
            <a:extLst>
              <a:ext uri="{FF2B5EF4-FFF2-40B4-BE49-F238E27FC236}">
                <a16:creationId xmlns:a16="http://schemas.microsoft.com/office/drawing/2014/main" id="{7556061B-7BCF-1BB6-DA3B-FAB9074801E1}"/>
              </a:ext>
            </a:extLst>
          </p:cNvPr>
          <p:cNvSpPr txBox="1">
            <a:spLocks noChangeArrowheads="1"/>
          </p:cNvSpPr>
          <p:nvPr/>
        </p:nvSpPr>
        <p:spPr bwMode="auto">
          <a:xfrm>
            <a:off x="7461250" y="5732463"/>
            <a:ext cx="1044575" cy="461962"/>
          </a:xfrm>
          <a:prstGeom prst="rect">
            <a:avLst/>
          </a:prstGeom>
          <a:solidFill>
            <a:schemeClr val="accent6">
              <a:lumMod val="60000"/>
              <a:lumOff val="40000"/>
            </a:schemeClr>
          </a:solidFill>
          <a:ln>
            <a:noFill/>
          </a:ln>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defRPr/>
            </a:pPr>
            <a:r>
              <a:rPr lang="en-US" altLang="en-US" sz="1200" b="1" dirty="0">
                <a:solidFill>
                  <a:srgbClr val="0000FF"/>
                </a:solidFill>
                <a:latin typeface="Verdana" panose="020B0604030504040204" pitchFamily="34" charset="0"/>
              </a:rPr>
              <a:t>re-enters </a:t>
            </a:r>
          </a:p>
          <a:p>
            <a:pPr eaLnBrk="1" hangingPunct="1">
              <a:spcBef>
                <a:spcPct val="0"/>
              </a:spcBef>
              <a:buFontTx/>
              <a:buNone/>
              <a:defRPr/>
            </a:pPr>
            <a:r>
              <a:rPr lang="en-US" altLang="en-US" sz="1200" b="1" dirty="0">
                <a:solidFill>
                  <a:srgbClr val="0000FF"/>
                </a:solidFill>
                <a:latin typeface="Verdana" panose="020B0604030504040204" pitchFamily="34" charset="0"/>
              </a:rPr>
              <a:t>nucleus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26" name="Picture 9">
            <a:extLst>
              <a:ext uri="{FF2B5EF4-FFF2-40B4-BE49-F238E27FC236}">
                <a16:creationId xmlns:a16="http://schemas.microsoft.com/office/drawing/2014/main" id="{699E6320-B84C-E9BE-85E0-D9FEFAF542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0113" r="12178" b="1881"/>
          <a:stretch>
            <a:fillRect/>
          </a:stretch>
        </p:blipFill>
        <p:spPr bwMode="auto">
          <a:xfrm>
            <a:off x="3695700" y="0"/>
            <a:ext cx="5448300" cy="655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3" name="Content Placeholder 5">
            <a:extLst>
              <a:ext uri="{FF2B5EF4-FFF2-40B4-BE49-F238E27FC236}">
                <a16:creationId xmlns:a16="http://schemas.microsoft.com/office/drawing/2014/main" id="{26E393A0-EFE3-8D38-5C94-75A727B71007}"/>
              </a:ext>
            </a:extLst>
          </p:cNvPr>
          <p:cNvSpPr>
            <a:spLocks noGrp="1"/>
          </p:cNvSpPr>
          <p:nvPr>
            <p:ph idx="1"/>
          </p:nvPr>
        </p:nvSpPr>
        <p:spPr>
          <a:xfrm>
            <a:off x="0" y="188913"/>
            <a:ext cx="3695700" cy="6553200"/>
          </a:xfrm>
          <a:solidFill>
            <a:schemeClr val="bg1">
              <a:lumMod val="95000"/>
            </a:schemeClr>
          </a:solidFill>
        </p:spPr>
        <p:txBody>
          <a:bodyPr/>
          <a:lstStyle/>
          <a:p>
            <a:pPr eaLnBrk="1" hangingPunct="1">
              <a:buFont typeface="Arial" charset="0"/>
              <a:buChar char="•"/>
              <a:defRPr/>
            </a:pPr>
            <a:r>
              <a:rPr lang="en-US" sz="2400" dirty="0"/>
              <a:t>The endonuclease activity of </a:t>
            </a:r>
            <a:r>
              <a:rPr lang="en-US" sz="2400" dirty="0">
                <a:solidFill>
                  <a:srgbClr val="0000FF"/>
                </a:solidFill>
              </a:rPr>
              <a:t>ORF2 initiates the integration </a:t>
            </a:r>
            <a:r>
              <a:rPr lang="en-US" sz="2400" dirty="0" err="1"/>
              <a:t>rxn</a:t>
            </a:r>
            <a:r>
              <a:rPr lang="en-US" sz="2400" dirty="0"/>
              <a:t> by introducing a nick in the chromosomal DNA. </a:t>
            </a:r>
          </a:p>
          <a:p>
            <a:pPr eaLnBrk="1" hangingPunct="1">
              <a:buFont typeface="Arial" charset="0"/>
              <a:buChar char="•"/>
              <a:defRPr/>
            </a:pPr>
            <a:r>
              <a:rPr lang="en-US" sz="2400" dirty="0">
                <a:solidFill>
                  <a:srgbClr val="0000FF"/>
                </a:solidFill>
              </a:rPr>
              <a:t>T-rich sequences </a:t>
            </a:r>
            <a:r>
              <a:rPr lang="en-US" sz="2400" dirty="0"/>
              <a:t>are preferred cleavage sites.</a:t>
            </a:r>
          </a:p>
          <a:p>
            <a:pPr eaLnBrk="1" hangingPunct="1">
              <a:buFont typeface="Arial" charset="0"/>
              <a:buChar char="•"/>
              <a:defRPr/>
            </a:pPr>
            <a:r>
              <a:rPr lang="en-US" sz="2400" dirty="0"/>
              <a:t>This permits the DNA to base pair with </a:t>
            </a:r>
            <a:r>
              <a:rPr lang="en-US" sz="2400" dirty="0" err="1"/>
              <a:t>polyA</a:t>
            </a:r>
            <a:r>
              <a:rPr lang="en-US" sz="2400" dirty="0"/>
              <a:t> tail sequence of element RNA</a:t>
            </a:r>
          </a:p>
          <a:p>
            <a:pPr eaLnBrk="1" hangingPunct="1">
              <a:buFont typeface="Arial" charset="0"/>
              <a:buChar char="•"/>
              <a:defRPr/>
            </a:pPr>
            <a:r>
              <a:rPr lang="en-US" sz="2400" dirty="0"/>
              <a:t>The </a:t>
            </a:r>
            <a:r>
              <a:rPr lang="en-US" sz="2400" dirty="0">
                <a:solidFill>
                  <a:srgbClr val="0000FF"/>
                </a:solidFill>
              </a:rPr>
              <a:t>3’OH DNA end </a:t>
            </a:r>
            <a:r>
              <a:rPr lang="en-US" sz="2400" dirty="0"/>
              <a:t>generated by the nicking </a:t>
            </a:r>
            <a:r>
              <a:rPr lang="en-US" sz="2400" dirty="0" err="1"/>
              <a:t>rxn</a:t>
            </a:r>
            <a:r>
              <a:rPr lang="en-US" sz="2400" dirty="0"/>
              <a:t> then serves as the </a:t>
            </a:r>
            <a:r>
              <a:rPr lang="en-US" sz="2400" dirty="0">
                <a:solidFill>
                  <a:srgbClr val="0000FF"/>
                </a:solidFill>
              </a:rPr>
              <a:t>primer for RT </a:t>
            </a:r>
            <a:r>
              <a:rPr lang="en-US" sz="2400" dirty="0"/>
              <a:t>of the element RNA. ORf2 catalyze this step</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C06F8A58-B60E-01E8-3426-989FE415B24C}"/>
              </a:ext>
            </a:extLst>
          </p:cNvPr>
          <p:cNvSpPr>
            <a:spLocks noGrp="1" noChangeArrowheads="1"/>
          </p:cNvSpPr>
          <p:nvPr>
            <p:ph type="ctrTitle"/>
          </p:nvPr>
        </p:nvSpPr>
        <p:spPr>
          <a:xfrm>
            <a:off x="323850" y="1773238"/>
            <a:ext cx="8515350" cy="2555875"/>
          </a:xfrm>
        </p:spPr>
        <p:txBody>
          <a:bodyPr/>
          <a:lstStyle/>
          <a:p>
            <a:pPr eaLnBrk="1" hangingPunct="1"/>
            <a:r>
              <a:rPr lang="en-US" altLang="en-US" sz="5100" b="1">
                <a:solidFill>
                  <a:srgbClr val="C00000"/>
                </a:solidFill>
              </a:rPr>
              <a:t>Examples of Transposable Elements and Their Regulation</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itle 1">
            <a:extLst>
              <a:ext uri="{FF2B5EF4-FFF2-40B4-BE49-F238E27FC236}">
                <a16:creationId xmlns:a16="http://schemas.microsoft.com/office/drawing/2014/main" id="{9F6EC9B7-186A-6462-819E-B077D9BA9221}"/>
              </a:ext>
            </a:extLst>
          </p:cNvPr>
          <p:cNvSpPr>
            <a:spLocks noGrp="1"/>
          </p:cNvSpPr>
          <p:nvPr>
            <p:ph type="title"/>
          </p:nvPr>
        </p:nvSpPr>
        <p:spPr>
          <a:xfrm>
            <a:off x="468313" y="333375"/>
            <a:ext cx="8229600" cy="1143000"/>
          </a:xfrm>
        </p:spPr>
        <p:txBody>
          <a:bodyPr/>
          <a:lstStyle/>
          <a:p>
            <a:r>
              <a:rPr lang="en-US" altLang="en-US" b="1">
                <a:solidFill>
                  <a:srgbClr val="0000FF"/>
                </a:solidFill>
              </a:rPr>
              <a:t>Regulation of transposons</a:t>
            </a:r>
          </a:p>
        </p:txBody>
      </p:sp>
      <p:sp>
        <p:nvSpPr>
          <p:cNvPr id="107523" name="Content Placeholder 2">
            <a:extLst>
              <a:ext uri="{FF2B5EF4-FFF2-40B4-BE49-F238E27FC236}">
                <a16:creationId xmlns:a16="http://schemas.microsoft.com/office/drawing/2014/main" id="{960AB948-C349-BC67-CE67-BAA9A2EED20B}"/>
              </a:ext>
            </a:extLst>
          </p:cNvPr>
          <p:cNvSpPr>
            <a:spLocks noGrp="1"/>
          </p:cNvSpPr>
          <p:nvPr>
            <p:ph idx="1"/>
          </p:nvPr>
        </p:nvSpPr>
        <p:spPr>
          <a:xfrm>
            <a:off x="457200" y="1600200"/>
            <a:ext cx="8229600" cy="4924425"/>
          </a:xfrm>
        </p:spPr>
        <p:txBody>
          <a:bodyPr/>
          <a:lstStyle/>
          <a:p>
            <a:r>
              <a:rPr lang="en-US" altLang="en-US"/>
              <a:t>Transposons control the </a:t>
            </a:r>
            <a:r>
              <a:rPr lang="en-US" altLang="en-US" u="sng">
                <a:solidFill>
                  <a:srgbClr val="0000FF"/>
                </a:solidFill>
              </a:rPr>
              <a:t>number of their copies</a:t>
            </a:r>
            <a:r>
              <a:rPr lang="en-US" altLang="en-US"/>
              <a:t> present in a given cell (limit their deleterious impact on the genome</a:t>
            </a:r>
          </a:p>
          <a:p>
            <a:r>
              <a:rPr lang="en-US" altLang="en-US"/>
              <a:t>Transposons </a:t>
            </a:r>
            <a:r>
              <a:rPr lang="en-US" altLang="en-US" u="sng">
                <a:solidFill>
                  <a:srgbClr val="0000FF"/>
                </a:solidFill>
              </a:rPr>
              <a:t>control target-site choice</a:t>
            </a:r>
            <a:r>
              <a:rPr lang="en-US" altLang="en-US"/>
              <a:t>:</a:t>
            </a:r>
          </a:p>
          <a:p>
            <a:pPr lvl="1"/>
            <a:r>
              <a:rPr lang="en-US" altLang="en-US"/>
              <a:t>Some elements preferentially insert into regions of chr that tend not to be harmful to the host cell (</a:t>
            </a:r>
            <a:r>
              <a:rPr lang="en-US" altLang="en-US" b="1">
                <a:solidFill>
                  <a:srgbClr val="C00000"/>
                </a:solidFill>
              </a:rPr>
              <a:t>safe haven </a:t>
            </a:r>
            <a:r>
              <a:rPr lang="en-US" altLang="en-US"/>
              <a:t>regions)</a:t>
            </a:r>
          </a:p>
          <a:p>
            <a:pPr lvl="1"/>
            <a:r>
              <a:rPr lang="en-US" altLang="en-US"/>
              <a:t>Some transposons specifically avoid transposing into their own DNA (called </a:t>
            </a:r>
            <a:r>
              <a:rPr lang="en-US" altLang="en-US" b="1">
                <a:solidFill>
                  <a:srgbClr val="C00000"/>
                </a:solidFill>
              </a:rPr>
              <a:t>transposition target immunity</a:t>
            </a:r>
            <a:r>
              <a:rPr lang="en-US" altLang="en-US"/>
              <a: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3">
            <a:extLst>
              <a:ext uri="{FF2B5EF4-FFF2-40B4-BE49-F238E27FC236}">
                <a16:creationId xmlns:a16="http://schemas.microsoft.com/office/drawing/2014/main" id="{2528DB38-7F83-0046-0B5C-749FADC573A8}"/>
              </a:ext>
            </a:extLst>
          </p:cNvPr>
          <p:cNvSpPr>
            <a:spLocks noGrp="1" noChangeArrowheads="1"/>
          </p:cNvSpPr>
          <p:nvPr>
            <p:ph type="ctrTitle" idx="4294967295"/>
          </p:nvPr>
        </p:nvSpPr>
        <p:spPr>
          <a:xfrm>
            <a:off x="20638" y="0"/>
            <a:ext cx="6016625" cy="304800"/>
          </a:xfrm>
          <a:extLst>
            <a:ext uri="{91240B29-F687-4F45-9708-019B960494DF}">
              <a14:hiddenLine xmlns:a14="http://schemas.microsoft.com/office/drawing/2010/main" w="3175">
                <a:solidFill>
                  <a:srgbClr val="000000"/>
                </a:solidFill>
                <a:miter lim="800000"/>
                <a:headEnd/>
                <a:tailEnd/>
              </a14:hiddenLine>
            </a:ext>
          </a:extLst>
        </p:spPr>
        <p:txBody>
          <a:bodyPr/>
          <a:lstStyle/>
          <a:p>
            <a:pPr algn="l" eaLnBrk="1" hangingPunct="1"/>
            <a:r>
              <a:rPr lang="en-US" altLang="en-US" sz="1200">
                <a:latin typeface="Arial" panose="020B0604020202020204" pitchFamily="34" charset="0"/>
              </a:rPr>
              <a:t>Table 12-2</a:t>
            </a:r>
          </a:p>
        </p:txBody>
      </p:sp>
      <p:pic>
        <p:nvPicPr>
          <p:cNvPr id="109571" name="Picture 3" descr="12_02Table-L">
            <a:extLst>
              <a:ext uri="{FF2B5EF4-FFF2-40B4-BE49-F238E27FC236}">
                <a16:creationId xmlns:a16="http://schemas.microsoft.com/office/drawing/2014/main" id="{C0E79A04-D031-16B6-E0C1-F8E2F371F1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4221"/>
          <a:stretch>
            <a:fillRect/>
          </a:stretch>
        </p:blipFill>
        <p:spPr bwMode="auto">
          <a:xfrm>
            <a:off x="0" y="1257300"/>
            <a:ext cx="9144000" cy="433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CCB19499-C66E-A7F5-74FB-7ACE84FBFE49}"/>
              </a:ext>
            </a:extLst>
          </p:cNvPr>
          <p:cNvSpPr>
            <a:spLocks noGrp="1" noChangeArrowheads="1"/>
          </p:cNvSpPr>
          <p:nvPr>
            <p:ph type="title"/>
          </p:nvPr>
        </p:nvSpPr>
        <p:spPr>
          <a:xfrm>
            <a:off x="1258888" y="692150"/>
            <a:ext cx="5562600" cy="836613"/>
          </a:xfrm>
        </p:spPr>
        <p:txBody>
          <a:bodyPr/>
          <a:lstStyle/>
          <a:p>
            <a:pPr algn="l" eaLnBrk="1" hangingPunct="1"/>
            <a:r>
              <a:rPr lang="en-GB" altLang="en-US" sz="4000" b="1">
                <a:solidFill>
                  <a:srgbClr val="7030A0"/>
                </a:solidFill>
              </a:rPr>
              <a:t>IS4-family (Tn10)</a:t>
            </a:r>
          </a:p>
        </p:txBody>
      </p:sp>
      <p:sp>
        <p:nvSpPr>
          <p:cNvPr id="111619" name="Rectangle 3">
            <a:extLst>
              <a:ext uri="{FF2B5EF4-FFF2-40B4-BE49-F238E27FC236}">
                <a16:creationId xmlns:a16="http://schemas.microsoft.com/office/drawing/2014/main" id="{096320FE-E13F-B5C1-807E-1A5A67324D82}"/>
              </a:ext>
            </a:extLst>
          </p:cNvPr>
          <p:cNvSpPr>
            <a:spLocks noGrp="1" noChangeArrowheads="1"/>
          </p:cNvSpPr>
          <p:nvPr>
            <p:ph idx="1"/>
          </p:nvPr>
        </p:nvSpPr>
        <p:spPr>
          <a:xfrm>
            <a:off x="900113" y="1844675"/>
            <a:ext cx="7488237" cy="4105275"/>
          </a:xfrm>
        </p:spPr>
        <p:txBody>
          <a:bodyPr/>
          <a:lstStyle/>
          <a:p>
            <a:pPr eaLnBrk="1" hangingPunct="1"/>
            <a:r>
              <a:rPr lang="en-US" altLang="en-US" dirty="0"/>
              <a:t>An example of </a:t>
            </a:r>
            <a:r>
              <a:rPr lang="en-US" altLang="en-US" b="1" dirty="0">
                <a:solidFill>
                  <a:srgbClr val="C00000"/>
                </a:solidFill>
              </a:rPr>
              <a:t>bacterial DNA transposon</a:t>
            </a:r>
            <a:r>
              <a:rPr lang="en-US" altLang="en-US" dirty="0"/>
              <a:t>, 9 kb</a:t>
            </a:r>
          </a:p>
          <a:p>
            <a:pPr eaLnBrk="1" hangingPunct="1"/>
            <a:r>
              <a:rPr lang="en-GB" altLang="en-US" dirty="0"/>
              <a:t>Transpose by cut &amp; paste.</a:t>
            </a:r>
          </a:p>
          <a:p>
            <a:pPr eaLnBrk="1" hangingPunct="1"/>
            <a:r>
              <a:rPr lang="en-GB" altLang="en-US" dirty="0">
                <a:solidFill>
                  <a:srgbClr val="0000FF"/>
                </a:solidFill>
              </a:rPr>
              <a:t>Composite transposon: </a:t>
            </a:r>
            <a:r>
              <a:rPr lang="en-US" altLang="en-US" dirty="0"/>
              <a:t>Tn10 is organized into three functional modules.</a:t>
            </a:r>
          </a:p>
          <a:p>
            <a:pPr eaLnBrk="1" hangingPunct="1"/>
            <a:r>
              <a:rPr lang="en-US" altLang="en-US" dirty="0"/>
              <a:t>Control of transposase expression by </a:t>
            </a:r>
            <a:r>
              <a:rPr lang="en-US" altLang="en-US" b="1" dirty="0">
                <a:solidFill>
                  <a:srgbClr val="C00000"/>
                </a:solidFill>
              </a:rPr>
              <a:t>anti sense RNA </a:t>
            </a:r>
          </a:p>
          <a:p>
            <a:pPr eaLnBrk="1" hangingPunct="1"/>
            <a:endParaRPr lang="en-GB" altLang="en-US" dirty="0">
              <a:solidFill>
                <a:srgbClr val="0000FF"/>
              </a:solidFill>
            </a:endParaRPr>
          </a:p>
          <a:p>
            <a:pPr eaLnBrk="1" hangingPunct="1"/>
            <a:endParaRPr lang="en-GB" altLang="en-US" sz="1200" dirty="0"/>
          </a:p>
          <a:p>
            <a:pPr eaLnBrk="1" hangingPunct="1"/>
            <a:endParaRPr lang="en-GB" altLang="en-US" dirty="0">
              <a:solidFill>
                <a:srgbClr val="FFFF00"/>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79B000A1-5245-18D4-BAA9-555FD6FD8D30}"/>
              </a:ext>
            </a:extLst>
          </p:cNvPr>
          <p:cNvSpPr>
            <a:spLocks noGrp="1" noChangeArrowheads="1"/>
          </p:cNvSpPr>
          <p:nvPr>
            <p:ph type="ctrTitle"/>
          </p:nvPr>
        </p:nvSpPr>
        <p:spPr>
          <a:xfrm>
            <a:off x="609600" y="228600"/>
            <a:ext cx="7772400" cy="1066800"/>
          </a:xfrm>
        </p:spPr>
        <p:txBody>
          <a:bodyPr/>
          <a:lstStyle/>
          <a:p>
            <a:pPr eaLnBrk="1" hangingPunct="1"/>
            <a:r>
              <a:rPr lang="en-US" altLang="en-US" sz="4600" b="1">
                <a:solidFill>
                  <a:srgbClr val="0000FF"/>
                </a:solidFill>
              </a:rPr>
              <a:t>Composite Transposon</a:t>
            </a:r>
          </a:p>
        </p:txBody>
      </p:sp>
      <p:pic>
        <p:nvPicPr>
          <p:cNvPr id="113667" name="Picture 3">
            <a:extLst>
              <a:ext uri="{FF2B5EF4-FFF2-40B4-BE49-F238E27FC236}">
                <a16:creationId xmlns:a16="http://schemas.microsoft.com/office/drawing/2014/main" id="{A83FD6F3-32E8-9491-52C1-0CD810016B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37724"/>
          <a:stretch>
            <a:fillRect/>
          </a:stretch>
        </p:blipFill>
        <p:spPr bwMode="auto">
          <a:xfrm>
            <a:off x="0" y="1808163"/>
            <a:ext cx="9118600" cy="314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668" name="Text Box 4">
            <a:extLst>
              <a:ext uri="{FF2B5EF4-FFF2-40B4-BE49-F238E27FC236}">
                <a16:creationId xmlns:a16="http://schemas.microsoft.com/office/drawing/2014/main" id="{EFEBAA04-9ACB-C347-35D3-4D9D3F35FF5F}"/>
              </a:ext>
            </a:extLst>
          </p:cNvPr>
          <p:cNvSpPr txBox="1">
            <a:spLocks noChangeArrowheads="1"/>
          </p:cNvSpPr>
          <p:nvPr/>
        </p:nvSpPr>
        <p:spPr bwMode="auto">
          <a:xfrm>
            <a:off x="457200" y="5181600"/>
            <a:ext cx="2362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2000">
                <a:latin typeface="Arial" panose="020B0604020202020204" pitchFamily="34" charset="0"/>
              </a:rPr>
              <a:t>Non autonomous</a:t>
            </a:r>
            <a:endParaRPr lang="en-GB" altLang="en-US" sz="2000">
              <a:latin typeface="Arial" panose="020B0604020202020204" pitchFamily="34" charset="0"/>
            </a:endParaRPr>
          </a:p>
        </p:txBody>
      </p:sp>
      <p:sp>
        <p:nvSpPr>
          <p:cNvPr id="113669" name="Text Box 5">
            <a:extLst>
              <a:ext uri="{FF2B5EF4-FFF2-40B4-BE49-F238E27FC236}">
                <a16:creationId xmlns:a16="http://schemas.microsoft.com/office/drawing/2014/main" id="{59887117-684A-4FF1-3E22-8FF8C0A10ED3}"/>
              </a:ext>
            </a:extLst>
          </p:cNvPr>
          <p:cNvSpPr txBox="1">
            <a:spLocks noChangeArrowheads="1"/>
          </p:cNvSpPr>
          <p:nvPr/>
        </p:nvSpPr>
        <p:spPr bwMode="auto">
          <a:xfrm>
            <a:off x="6781800" y="5257800"/>
            <a:ext cx="1905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2000">
                <a:latin typeface="Arial" panose="020B0604020202020204" pitchFamily="34" charset="0"/>
              </a:rPr>
              <a:t>Autonomous</a:t>
            </a:r>
            <a:endParaRPr lang="en-GB" altLang="en-US" sz="2000">
              <a:latin typeface="Arial" panose="020B0604020202020204" pitchFamily="34" charset="0"/>
            </a:endParaRPr>
          </a:p>
        </p:txBody>
      </p:sp>
      <p:sp>
        <p:nvSpPr>
          <p:cNvPr id="113670" name="AutoShape 6">
            <a:extLst>
              <a:ext uri="{FF2B5EF4-FFF2-40B4-BE49-F238E27FC236}">
                <a16:creationId xmlns:a16="http://schemas.microsoft.com/office/drawing/2014/main" id="{50DED4D7-B34C-E848-9AA6-DB75F6E9EF21}"/>
              </a:ext>
            </a:extLst>
          </p:cNvPr>
          <p:cNvSpPr>
            <a:spLocks/>
          </p:cNvSpPr>
          <p:nvPr/>
        </p:nvSpPr>
        <p:spPr bwMode="auto">
          <a:xfrm rot="5400000">
            <a:off x="4229100" y="1638300"/>
            <a:ext cx="533400" cy="8382000"/>
          </a:xfrm>
          <a:prstGeom prst="rightBrace">
            <a:avLst>
              <a:gd name="adj1" fmla="val 0"/>
              <a:gd name="adj2" fmla="val 50000"/>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Verdana" panose="020B0604030504040204" pitchFamily="34" charset="0"/>
            </a:endParaRPr>
          </a:p>
        </p:txBody>
      </p:sp>
      <p:sp>
        <p:nvSpPr>
          <p:cNvPr id="148487" name="Text Box 7">
            <a:extLst>
              <a:ext uri="{FF2B5EF4-FFF2-40B4-BE49-F238E27FC236}">
                <a16:creationId xmlns:a16="http://schemas.microsoft.com/office/drawing/2014/main" id="{A54E35C1-3346-2852-55EA-3A573879255C}"/>
              </a:ext>
            </a:extLst>
          </p:cNvPr>
          <p:cNvSpPr txBox="1">
            <a:spLocks noChangeArrowheads="1"/>
          </p:cNvSpPr>
          <p:nvPr/>
        </p:nvSpPr>
        <p:spPr bwMode="auto">
          <a:xfrm>
            <a:off x="3657600" y="6172200"/>
            <a:ext cx="1752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2000">
                <a:latin typeface="Arial" panose="020B0604020202020204" pitchFamily="34" charset="0"/>
              </a:rPr>
              <a:t>Autonomous</a:t>
            </a:r>
            <a:endParaRPr lang="en-GB" altLang="en-US" sz="2000">
              <a:latin typeface="Arial" panose="020B0604020202020204" pitchFamily="34" charset="0"/>
            </a:endParaRPr>
          </a:p>
        </p:txBody>
      </p:sp>
      <p:cxnSp>
        <p:nvCxnSpPr>
          <p:cNvPr id="3" name="Straight Arrow Connector 2">
            <a:extLst>
              <a:ext uri="{FF2B5EF4-FFF2-40B4-BE49-F238E27FC236}">
                <a16:creationId xmlns:a16="http://schemas.microsoft.com/office/drawing/2014/main" id="{2D6B7719-5FE2-2937-A7A8-4CDC347F85DD}"/>
              </a:ext>
            </a:extLst>
          </p:cNvPr>
          <p:cNvCxnSpPr/>
          <p:nvPr/>
        </p:nvCxnSpPr>
        <p:spPr>
          <a:xfrm>
            <a:off x="684213" y="1557338"/>
            <a:ext cx="287337" cy="358775"/>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10" name="Straight Arrow Connector 9">
            <a:extLst>
              <a:ext uri="{FF2B5EF4-FFF2-40B4-BE49-F238E27FC236}">
                <a16:creationId xmlns:a16="http://schemas.microsoft.com/office/drawing/2014/main" id="{45FE450A-1318-745A-0338-BE1E7F5760D2}"/>
              </a:ext>
            </a:extLst>
          </p:cNvPr>
          <p:cNvCxnSpPr/>
          <p:nvPr/>
        </p:nvCxnSpPr>
        <p:spPr>
          <a:xfrm>
            <a:off x="7437438" y="1447800"/>
            <a:ext cx="287337" cy="360363"/>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11" name="Straight Arrow Connector 10">
            <a:extLst>
              <a:ext uri="{FF2B5EF4-FFF2-40B4-BE49-F238E27FC236}">
                <a16:creationId xmlns:a16="http://schemas.microsoft.com/office/drawing/2014/main" id="{9D60770D-13C2-BD40-1FE9-D2411CABC3F8}"/>
              </a:ext>
            </a:extLst>
          </p:cNvPr>
          <p:cNvCxnSpPr/>
          <p:nvPr/>
        </p:nvCxnSpPr>
        <p:spPr>
          <a:xfrm>
            <a:off x="4716463" y="1628775"/>
            <a:ext cx="287337" cy="358775"/>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84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7"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7E3C96FC-1D01-33F0-CB66-ADB08066009F}"/>
              </a:ext>
            </a:extLst>
          </p:cNvPr>
          <p:cNvSpPr>
            <a:spLocks noGrp="1" noChangeArrowheads="1"/>
          </p:cNvSpPr>
          <p:nvPr>
            <p:ph type="title"/>
          </p:nvPr>
        </p:nvSpPr>
        <p:spPr/>
        <p:txBody>
          <a:bodyPr/>
          <a:lstStyle/>
          <a:p>
            <a:pPr eaLnBrk="1" hangingPunct="1"/>
            <a:r>
              <a:rPr lang="en-US" altLang="en-US" sz="4000" b="1">
                <a:solidFill>
                  <a:srgbClr val="0000FF"/>
                </a:solidFill>
              </a:rPr>
              <a:t>Control of transposase expression</a:t>
            </a:r>
          </a:p>
        </p:txBody>
      </p:sp>
      <p:sp>
        <p:nvSpPr>
          <p:cNvPr id="115715" name="Rectangle 3">
            <a:extLst>
              <a:ext uri="{FF2B5EF4-FFF2-40B4-BE49-F238E27FC236}">
                <a16:creationId xmlns:a16="http://schemas.microsoft.com/office/drawing/2014/main" id="{B4EC7F78-68CE-A4E4-9A52-B7C4F8C59CC0}"/>
              </a:ext>
            </a:extLst>
          </p:cNvPr>
          <p:cNvSpPr>
            <a:spLocks noGrp="1" noChangeArrowheads="1"/>
          </p:cNvSpPr>
          <p:nvPr>
            <p:ph type="body" sz="half" idx="2"/>
          </p:nvPr>
        </p:nvSpPr>
        <p:spPr>
          <a:xfrm>
            <a:off x="468313" y="4581525"/>
            <a:ext cx="8229600" cy="2189163"/>
          </a:xfrm>
        </p:spPr>
        <p:txBody>
          <a:bodyPr/>
          <a:lstStyle/>
          <a:p>
            <a:pPr eaLnBrk="1" hangingPunct="1"/>
            <a:r>
              <a:rPr lang="en-US" altLang="en-US" sz="2800" dirty="0"/>
              <a:t>Two promoters at </a:t>
            </a:r>
            <a:r>
              <a:rPr lang="en-US" altLang="en-US" sz="2800" i="1" dirty="0"/>
              <a:t>IS10 right </a:t>
            </a:r>
            <a:r>
              <a:rPr lang="en-US" altLang="en-US" sz="2800" i="1" u="sng" dirty="0"/>
              <a:t>that directs the RNA synthesis by the host cell’s RNA polymerase</a:t>
            </a:r>
          </a:p>
          <a:p>
            <a:pPr eaLnBrk="1" hangingPunct="1"/>
            <a:endParaRPr lang="en-US" altLang="en-US" sz="1400" i="1" dirty="0"/>
          </a:p>
          <a:p>
            <a:pPr lvl="1" eaLnBrk="1" hangingPunct="1"/>
            <a:r>
              <a:rPr lang="en-US" altLang="en-US" sz="2400" b="1" dirty="0"/>
              <a:t>P</a:t>
            </a:r>
            <a:r>
              <a:rPr lang="en-US" altLang="en-US" sz="2400" b="1" baseline="-25000" dirty="0"/>
              <a:t>IN</a:t>
            </a:r>
            <a:r>
              <a:rPr lang="en-US" altLang="en-US" sz="2400" dirty="0"/>
              <a:t>: directs synthesis of transposase gene</a:t>
            </a:r>
          </a:p>
          <a:p>
            <a:pPr lvl="1" eaLnBrk="1" hangingPunct="1"/>
            <a:r>
              <a:rPr lang="en-US" altLang="en-US" sz="2400" b="1" dirty="0"/>
              <a:t>P</a:t>
            </a:r>
            <a:r>
              <a:rPr lang="en-US" altLang="en-US" sz="2400" b="1" baseline="-25000" dirty="0"/>
              <a:t>OUT</a:t>
            </a:r>
            <a:r>
              <a:rPr lang="en-US" altLang="en-US" sz="2400" dirty="0"/>
              <a:t>: anti-sense RNA</a:t>
            </a:r>
          </a:p>
          <a:p>
            <a:pPr lvl="1" eaLnBrk="1" hangingPunct="1"/>
            <a:endParaRPr lang="en-GB" altLang="en-US" sz="2400" dirty="0"/>
          </a:p>
        </p:txBody>
      </p:sp>
      <p:pic>
        <p:nvPicPr>
          <p:cNvPr id="115716" name="Picture 4">
            <a:extLst>
              <a:ext uri="{FF2B5EF4-FFF2-40B4-BE49-F238E27FC236}">
                <a16:creationId xmlns:a16="http://schemas.microsoft.com/office/drawing/2014/main" id="{7633C2F5-1E2C-DF61-93D5-6B481B14E5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36980"/>
          <a:stretch>
            <a:fillRect/>
          </a:stretch>
        </p:blipFill>
        <p:spPr bwMode="auto">
          <a:xfrm>
            <a:off x="250825" y="1341438"/>
            <a:ext cx="8569325" cy="299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EEE2AB2B-3B5C-6547-5FF6-71E0E7CC00DB}"/>
              </a:ext>
            </a:extLst>
          </p:cNvPr>
          <p:cNvSpPr>
            <a:spLocks noGrp="1" noChangeArrowheads="1"/>
          </p:cNvSpPr>
          <p:nvPr>
            <p:ph type="title"/>
          </p:nvPr>
        </p:nvSpPr>
        <p:spPr>
          <a:xfrm>
            <a:off x="1908175" y="0"/>
            <a:ext cx="5472113" cy="765175"/>
          </a:xfrm>
        </p:spPr>
        <p:txBody>
          <a:bodyPr/>
          <a:lstStyle/>
          <a:p>
            <a:pPr eaLnBrk="1" hangingPunct="1"/>
            <a:r>
              <a:rPr lang="en-US" altLang="en-US" sz="4000" b="1">
                <a:solidFill>
                  <a:srgbClr val="0000FF"/>
                </a:solidFill>
              </a:rPr>
              <a:t>Antisense Copy Control</a:t>
            </a:r>
          </a:p>
        </p:txBody>
      </p:sp>
      <p:pic>
        <p:nvPicPr>
          <p:cNvPr id="117763" name="Picture 6">
            <a:extLst>
              <a:ext uri="{FF2B5EF4-FFF2-40B4-BE49-F238E27FC236}">
                <a16:creationId xmlns:a16="http://schemas.microsoft.com/office/drawing/2014/main" id="{3DBC85A9-089F-01BC-4F22-31120CB7509F}"/>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b="2240"/>
          <a:stretch>
            <a:fillRect/>
          </a:stretch>
        </p:blipFill>
        <p:spPr>
          <a:xfrm>
            <a:off x="2771775" y="620713"/>
            <a:ext cx="4476750" cy="6237287"/>
          </a:xfr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a:extLst>
              <a:ext uri="{FF2B5EF4-FFF2-40B4-BE49-F238E27FC236}">
                <a16:creationId xmlns:a16="http://schemas.microsoft.com/office/drawing/2014/main" id="{BEBA4A30-9983-D34E-25D1-5FD7F2F17885}"/>
              </a:ext>
            </a:extLst>
          </p:cNvPr>
          <p:cNvSpPr>
            <a:spLocks noGrp="1" noChangeArrowheads="1"/>
          </p:cNvSpPr>
          <p:nvPr>
            <p:ph type="title"/>
          </p:nvPr>
        </p:nvSpPr>
        <p:spPr>
          <a:xfrm>
            <a:off x="457200" y="277813"/>
            <a:ext cx="8362950" cy="990600"/>
          </a:xfrm>
        </p:spPr>
        <p:txBody>
          <a:bodyPr rtlCol="0">
            <a:normAutofit fontScale="90000"/>
          </a:bodyPr>
          <a:lstStyle/>
          <a:p>
            <a:pPr algn="l" eaLnBrk="1" fontAlgn="auto" hangingPunct="1">
              <a:spcAft>
                <a:spcPts val="0"/>
              </a:spcAft>
              <a:defRPr/>
            </a:pPr>
            <a:r>
              <a:rPr lang="en-GB" sz="4000" b="1" dirty="0">
                <a:solidFill>
                  <a:srgbClr val="7030A0"/>
                </a:solidFill>
                <a:sym typeface="Symbol" pitchFamily="18" charset="2"/>
              </a:rPr>
              <a:t>Mu Phage: </a:t>
            </a:r>
            <a:r>
              <a:rPr lang="en-GB" sz="3600" b="1" dirty="0">
                <a:solidFill>
                  <a:srgbClr val="7030A0"/>
                </a:solidFill>
                <a:sym typeface="Symbol" pitchFamily="18" charset="2"/>
              </a:rPr>
              <a:t>example of target sequence control</a:t>
            </a:r>
            <a:endParaRPr lang="en-GB" sz="3600" b="1" dirty="0">
              <a:solidFill>
                <a:srgbClr val="7030A0"/>
              </a:solidFill>
            </a:endParaRPr>
          </a:p>
        </p:txBody>
      </p:sp>
      <p:sp>
        <p:nvSpPr>
          <p:cNvPr id="60419" name="Rectangle 3">
            <a:extLst>
              <a:ext uri="{FF2B5EF4-FFF2-40B4-BE49-F238E27FC236}">
                <a16:creationId xmlns:a16="http://schemas.microsoft.com/office/drawing/2014/main" id="{F55CCF66-CF84-16C1-920D-FBCA4E32B4F6}"/>
              </a:ext>
            </a:extLst>
          </p:cNvPr>
          <p:cNvSpPr>
            <a:spLocks noGrp="1" noChangeArrowheads="1"/>
          </p:cNvSpPr>
          <p:nvPr>
            <p:ph type="body" sz="half" idx="1"/>
          </p:nvPr>
        </p:nvSpPr>
        <p:spPr>
          <a:xfrm>
            <a:off x="171450" y="1268413"/>
            <a:ext cx="8991600" cy="5111750"/>
          </a:xfrm>
        </p:spPr>
        <p:txBody>
          <a:bodyPr/>
          <a:lstStyle/>
          <a:p>
            <a:pPr eaLnBrk="1" hangingPunct="1">
              <a:lnSpc>
                <a:spcPct val="90000"/>
              </a:lnSpc>
              <a:buFont typeface="Arial" charset="0"/>
              <a:buChar char="•"/>
              <a:defRPr/>
            </a:pPr>
            <a:r>
              <a:rPr lang="en-US" sz="2800" dirty="0"/>
              <a:t>Very active transposon</a:t>
            </a:r>
          </a:p>
          <a:p>
            <a:pPr eaLnBrk="1" hangingPunct="1">
              <a:lnSpc>
                <a:spcPct val="90000"/>
              </a:lnSpc>
              <a:buFont typeface="Arial" charset="0"/>
              <a:buChar char="•"/>
              <a:defRPr/>
            </a:pPr>
            <a:endParaRPr lang="en-US" sz="1200" dirty="0"/>
          </a:p>
          <a:p>
            <a:pPr eaLnBrk="1" hangingPunct="1">
              <a:lnSpc>
                <a:spcPct val="90000"/>
              </a:lnSpc>
              <a:buFont typeface="Arial" charset="0"/>
              <a:buChar char="•"/>
              <a:defRPr/>
            </a:pPr>
            <a:r>
              <a:rPr lang="en-US" sz="2800" dirty="0"/>
              <a:t>40 kb &amp; carries 35 genes</a:t>
            </a:r>
          </a:p>
          <a:p>
            <a:pPr eaLnBrk="1" hangingPunct="1">
              <a:lnSpc>
                <a:spcPct val="90000"/>
              </a:lnSpc>
              <a:buFont typeface="Arial" charset="0"/>
              <a:buChar char="•"/>
              <a:defRPr/>
            </a:pPr>
            <a:endParaRPr lang="en-US" sz="1200" dirty="0"/>
          </a:p>
          <a:p>
            <a:pPr eaLnBrk="1" hangingPunct="1">
              <a:lnSpc>
                <a:spcPct val="90000"/>
              </a:lnSpc>
              <a:buFont typeface="Arial" charset="0"/>
              <a:buChar char="•"/>
              <a:defRPr/>
            </a:pPr>
            <a:r>
              <a:rPr lang="en-US" sz="2800" dirty="0"/>
              <a:t>Use </a:t>
            </a:r>
            <a:r>
              <a:rPr lang="en-US" sz="2800" dirty="0">
                <a:solidFill>
                  <a:srgbClr val="C00000"/>
                </a:solidFill>
              </a:rPr>
              <a:t>replicative transposition </a:t>
            </a:r>
            <a:r>
              <a:rPr lang="en-US" sz="2800" dirty="0"/>
              <a:t>to amplify its DNA</a:t>
            </a:r>
          </a:p>
          <a:p>
            <a:pPr eaLnBrk="1" hangingPunct="1">
              <a:lnSpc>
                <a:spcPct val="90000"/>
              </a:lnSpc>
              <a:buFont typeface="Arial" charset="0"/>
              <a:buChar char="•"/>
              <a:defRPr/>
            </a:pPr>
            <a:r>
              <a:rPr lang="en-US" sz="2800" dirty="0"/>
              <a:t>During lytic cycle, Mu completes ~ 100 rounds of transposition per hour</a:t>
            </a:r>
          </a:p>
          <a:p>
            <a:pPr lvl="1" eaLnBrk="1" hangingPunct="1">
              <a:lnSpc>
                <a:spcPct val="90000"/>
              </a:lnSpc>
              <a:buFont typeface="Arial" charset="0"/>
              <a:buChar char="–"/>
              <a:defRPr/>
            </a:pPr>
            <a:endParaRPr lang="en-US" sz="1200" dirty="0"/>
          </a:p>
          <a:p>
            <a:pPr eaLnBrk="1" hangingPunct="1">
              <a:lnSpc>
                <a:spcPct val="90000"/>
              </a:lnSpc>
              <a:buFont typeface="Arial" charset="0"/>
              <a:buChar char="•"/>
              <a:defRPr/>
            </a:pPr>
            <a:r>
              <a:rPr lang="en-US" sz="2800" dirty="0"/>
              <a:t>2 genes responsible for transposition</a:t>
            </a:r>
          </a:p>
          <a:p>
            <a:pPr lvl="1" eaLnBrk="1" hangingPunct="1">
              <a:lnSpc>
                <a:spcPct val="90000"/>
              </a:lnSpc>
              <a:buFont typeface="Arial" charset="0"/>
              <a:buChar char="–"/>
              <a:defRPr/>
            </a:pPr>
            <a:r>
              <a:rPr lang="en-US" sz="2400" b="1" dirty="0" err="1">
                <a:solidFill>
                  <a:srgbClr val="0000FF"/>
                </a:solidFill>
              </a:rPr>
              <a:t>MuA</a:t>
            </a:r>
            <a:r>
              <a:rPr lang="en-US" sz="2400" b="1" dirty="0">
                <a:solidFill>
                  <a:srgbClr val="0000FF"/>
                </a:solidFill>
              </a:rPr>
              <a:t>: transposase </a:t>
            </a:r>
            <a:r>
              <a:rPr lang="en-US" sz="2400" dirty="0"/>
              <a:t>(member of DDE protein </a:t>
            </a:r>
            <a:r>
              <a:rPr lang="en-US" sz="2400" dirty="0" err="1"/>
              <a:t>superfamily</a:t>
            </a:r>
            <a:r>
              <a:rPr lang="en-US" sz="2400" dirty="0"/>
              <a:t>)</a:t>
            </a:r>
          </a:p>
          <a:p>
            <a:pPr lvl="1" eaLnBrk="1" hangingPunct="1">
              <a:lnSpc>
                <a:spcPct val="90000"/>
              </a:lnSpc>
              <a:buFont typeface="Arial" charset="0"/>
              <a:buChar char="–"/>
              <a:defRPr/>
            </a:pPr>
            <a:r>
              <a:rPr lang="en-US" sz="2400" b="1" dirty="0" err="1">
                <a:solidFill>
                  <a:srgbClr val="0000FF"/>
                </a:solidFill>
              </a:rPr>
              <a:t>MuB</a:t>
            </a:r>
            <a:r>
              <a:rPr lang="en-US" sz="2400" b="1" dirty="0">
                <a:solidFill>
                  <a:srgbClr val="0000FF"/>
                </a:solidFill>
              </a:rPr>
              <a:t>: ATPase </a:t>
            </a:r>
            <a:r>
              <a:rPr lang="en-US" sz="2400" dirty="0"/>
              <a:t>(stimulates </a:t>
            </a:r>
            <a:r>
              <a:rPr lang="en-US" sz="2400" dirty="0" err="1"/>
              <a:t>MutA</a:t>
            </a:r>
            <a:r>
              <a:rPr lang="en-US" sz="2400" dirty="0"/>
              <a:t> activity and controls choice of the DNA target)</a:t>
            </a:r>
            <a:endParaRPr lang="en-GB" sz="2400" dirty="0"/>
          </a:p>
          <a:p>
            <a:pPr marL="400050" lvl="1" indent="-338138" eaLnBrk="1" hangingPunct="1">
              <a:lnSpc>
                <a:spcPct val="90000"/>
              </a:lnSpc>
              <a:buSzPct val="112000"/>
              <a:buFont typeface="Arial" panose="020B0604020202020204" pitchFamily="34" charset="0"/>
              <a:buChar char="•"/>
              <a:defRPr/>
            </a:pPr>
            <a:r>
              <a:rPr lang="en-GB" sz="2400" dirty="0"/>
              <a:t>To avoid transposing to its own DNA, its transposition is regulated by transposition target immunity.</a:t>
            </a:r>
            <a:endParaRPr lang="en-US" sz="2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B518F31A-0C90-4F77-9040-F4A39895E622}"/>
              </a:ext>
            </a:extLst>
          </p:cNvPr>
          <p:cNvSpPr>
            <a:spLocks noGrp="1" noChangeArrowheads="1"/>
          </p:cNvSpPr>
          <p:nvPr>
            <p:ph type="title"/>
          </p:nvPr>
        </p:nvSpPr>
        <p:spPr>
          <a:xfrm>
            <a:off x="2627313" y="0"/>
            <a:ext cx="4724400" cy="608013"/>
          </a:xfrm>
        </p:spPr>
        <p:txBody>
          <a:bodyPr/>
          <a:lstStyle/>
          <a:p>
            <a:pPr algn="l" eaLnBrk="1" hangingPunct="1"/>
            <a:r>
              <a:rPr lang="en-US" altLang="en-US" sz="3600" b="1" dirty="0">
                <a:solidFill>
                  <a:srgbClr val="C00000"/>
                </a:solidFill>
              </a:rPr>
              <a:t>Mu Transposition</a:t>
            </a:r>
            <a:endParaRPr lang="en-US" altLang="en-US" sz="3200" b="1" dirty="0">
              <a:solidFill>
                <a:srgbClr val="C00000"/>
              </a:solidFill>
            </a:endParaRPr>
          </a:p>
        </p:txBody>
      </p:sp>
      <p:pic>
        <p:nvPicPr>
          <p:cNvPr id="121859" name="Picture 5">
            <a:extLst>
              <a:ext uri="{FF2B5EF4-FFF2-40B4-BE49-F238E27FC236}">
                <a16:creationId xmlns:a16="http://schemas.microsoft.com/office/drawing/2014/main" id="{7F3F1A4C-82C8-5E7A-342C-9B7382231B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5981" r="23077" b="3062"/>
          <a:stretch>
            <a:fillRect/>
          </a:stretch>
        </p:blipFill>
        <p:spPr bwMode="auto">
          <a:xfrm>
            <a:off x="4838700" y="1557338"/>
            <a:ext cx="3943350" cy="460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1860" name="Picture 5">
            <a:extLst>
              <a:ext uri="{FF2B5EF4-FFF2-40B4-BE49-F238E27FC236}">
                <a16:creationId xmlns:a16="http://schemas.microsoft.com/office/drawing/2014/main" id="{7A0E27A6-23EF-7140-B956-8158A25C54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11765" b="44406"/>
          <a:stretch>
            <a:fillRect/>
          </a:stretch>
        </p:blipFill>
        <p:spPr bwMode="auto">
          <a:xfrm>
            <a:off x="606425" y="1076325"/>
            <a:ext cx="3816350"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a:extLst>
              <a:ext uri="{FF2B5EF4-FFF2-40B4-BE49-F238E27FC236}">
                <a16:creationId xmlns:a16="http://schemas.microsoft.com/office/drawing/2014/main" id="{2E37831A-633D-FE8F-26D5-503166FFF1E3}"/>
              </a:ext>
            </a:extLst>
          </p:cNvPr>
          <p:cNvSpPr>
            <a:spLocks noGrp="1" noChangeArrowheads="1"/>
          </p:cNvSpPr>
          <p:nvPr>
            <p:ph type="title"/>
          </p:nvPr>
        </p:nvSpPr>
        <p:spPr>
          <a:xfrm>
            <a:off x="107950" y="0"/>
            <a:ext cx="5356225" cy="1139825"/>
          </a:xfrm>
        </p:spPr>
        <p:txBody>
          <a:bodyPr/>
          <a:lstStyle/>
          <a:p>
            <a:pPr eaLnBrk="1" hangingPunct="1"/>
            <a:r>
              <a:rPr lang="en-US" altLang="en-US" sz="3200" b="1" dirty="0">
                <a:solidFill>
                  <a:srgbClr val="C00000"/>
                </a:solidFill>
              </a:rPr>
              <a:t>Transposition target immunity</a:t>
            </a:r>
          </a:p>
        </p:txBody>
      </p:sp>
      <p:sp>
        <p:nvSpPr>
          <p:cNvPr id="63491" name="Rectangle 3">
            <a:extLst>
              <a:ext uri="{FF2B5EF4-FFF2-40B4-BE49-F238E27FC236}">
                <a16:creationId xmlns:a16="http://schemas.microsoft.com/office/drawing/2014/main" id="{BE6D7057-1D9A-1C49-00F4-5D487FF2CA58}"/>
              </a:ext>
            </a:extLst>
          </p:cNvPr>
          <p:cNvSpPr>
            <a:spLocks noGrp="1" noChangeArrowheads="1"/>
          </p:cNvSpPr>
          <p:nvPr>
            <p:ph type="body" sz="half" idx="1"/>
          </p:nvPr>
        </p:nvSpPr>
        <p:spPr>
          <a:xfrm>
            <a:off x="107950" y="908050"/>
            <a:ext cx="4038600" cy="5732463"/>
          </a:xfrm>
          <a:solidFill>
            <a:schemeClr val="bg1">
              <a:lumMod val="95000"/>
            </a:schemeClr>
          </a:solidFill>
        </p:spPr>
        <p:txBody>
          <a:bodyPr/>
          <a:lstStyle/>
          <a:p>
            <a:pPr eaLnBrk="1" hangingPunct="1">
              <a:lnSpc>
                <a:spcPct val="90000"/>
              </a:lnSpc>
              <a:spcBef>
                <a:spcPct val="50000"/>
              </a:spcBef>
              <a:buFont typeface="Arial" charset="0"/>
              <a:buChar char="•"/>
              <a:defRPr/>
            </a:pPr>
            <a:r>
              <a:rPr lang="en-US" sz="2200" dirty="0" err="1"/>
              <a:t>MuA</a:t>
            </a:r>
            <a:r>
              <a:rPr lang="en-US" sz="2200" dirty="0"/>
              <a:t> inhibits </a:t>
            </a:r>
            <a:r>
              <a:rPr lang="en-US" sz="2200" dirty="0" err="1"/>
              <a:t>MuB</a:t>
            </a:r>
            <a:r>
              <a:rPr lang="en-US" sz="2200" dirty="0"/>
              <a:t> from binding to nearby DNA sites. </a:t>
            </a:r>
          </a:p>
          <a:p>
            <a:pPr eaLnBrk="1" hangingPunct="1">
              <a:lnSpc>
                <a:spcPct val="90000"/>
              </a:lnSpc>
              <a:spcBef>
                <a:spcPct val="50000"/>
              </a:spcBef>
              <a:buFont typeface="Arial" charset="0"/>
              <a:buChar char="•"/>
              <a:defRPr/>
            </a:pPr>
            <a:r>
              <a:rPr lang="en-US" sz="2200" dirty="0"/>
              <a:t>This inhibition requires ATP hydrolysis </a:t>
            </a:r>
          </a:p>
          <a:p>
            <a:pPr eaLnBrk="1" hangingPunct="1">
              <a:lnSpc>
                <a:spcPct val="90000"/>
              </a:lnSpc>
              <a:spcBef>
                <a:spcPct val="50000"/>
              </a:spcBef>
              <a:buFont typeface="Arial" charset="0"/>
              <a:buChar char="•"/>
              <a:defRPr/>
            </a:pPr>
            <a:r>
              <a:rPr lang="en-US" sz="2200" dirty="0" err="1"/>
              <a:t>MuB</a:t>
            </a:r>
            <a:r>
              <a:rPr lang="en-US" sz="2200" dirty="0"/>
              <a:t> helps </a:t>
            </a:r>
            <a:r>
              <a:rPr lang="en-US" sz="2200" dirty="0" err="1"/>
              <a:t>MuA</a:t>
            </a:r>
            <a:r>
              <a:rPr lang="en-US" sz="2200" dirty="0"/>
              <a:t> find a target site for transposition</a:t>
            </a:r>
          </a:p>
          <a:p>
            <a:pPr eaLnBrk="1" hangingPunct="1">
              <a:lnSpc>
                <a:spcPct val="90000"/>
              </a:lnSpc>
              <a:spcBef>
                <a:spcPct val="50000"/>
              </a:spcBef>
              <a:buFont typeface="Arial" charset="0"/>
              <a:buChar char="•"/>
              <a:defRPr/>
            </a:pPr>
            <a:r>
              <a:rPr lang="en-US" sz="2200" dirty="0" err="1"/>
              <a:t>MuA</a:t>
            </a:r>
            <a:r>
              <a:rPr lang="en-US" sz="2200" dirty="0"/>
              <a:t> binding site provide immunity to 5-15kb </a:t>
            </a:r>
          </a:p>
          <a:p>
            <a:pPr marL="0" indent="0" algn="ctr" eaLnBrk="1" hangingPunct="1">
              <a:lnSpc>
                <a:spcPct val="90000"/>
              </a:lnSpc>
              <a:spcBef>
                <a:spcPct val="50000"/>
              </a:spcBef>
              <a:buFont typeface="Wingdings" pitchFamily="2" charset="2"/>
              <a:buNone/>
              <a:defRPr/>
            </a:pPr>
            <a:r>
              <a:rPr lang="en-US" sz="2200" dirty="0" err="1"/>
              <a:t>MuA</a:t>
            </a:r>
            <a:r>
              <a:rPr lang="en-US" sz="2200" dirty="0"/>
              <a:t>/</a:t>
            </a:r>
            <a:r>
              <a:rPr lang="en-US" sz="2200" dirty="0" err="1"/>
              <a:t>MuB.ATP</a:t>
            </a:r>
            <a:r>
              <a:rPr lang="en-US" sz="2200" dirty="0"/>
              <a:t> interaction</a:t>
            </a:r>
          </a:p>
          <a:p>
            <a:pPr marL="0" indent="0" algn="ctr" eaLnBrk="1" hangingPunct="1">
              <a:lnSpc>
                <a:spcPct val="90000"/>
              </a:lnSpc>
              <a:spcBef>
                <a:spcPct val="50000"/>
              </a:spcBef>
              <a:buFont typeface="Wingdings" pitchFamily="2" charset="2"/>
              <a:buNone/>
              <a:defRPr/>
            </a:pPr>
            <a:r>
              <a:rPr lang="en-US" sz="2200" dirty="0">
                <a:sym typeface="Symbol" pitchFamily="18" charset="2"/>
              </a:rPr>
              <a:t></a:t>
            </a:r>
            <a:endParaRPr lang="en-US" sz="2200" dirty="0"/>
          </a:p>
          <a:p>
            <a:pPr marL="0" indent="0" algn="ctr" eaLnBrk="1" hangingPunct="1">
              <a:lnSpc>
                <a:spcPct val="90000"/>
              </a:lnSpc>
              <a:spcBef>
                <a:spcPct val="50000"/>
              </a:spcBef>
              <a:buFont typeface="Wingdings" pitchFamily="2" charset="2"/>
              <a:buNone/>
              <a:defRPr/>
            </a:pPr>
            <a:r>
              <a:rPr lang="en-US" sz="2200" dirty="0"/>
              <a:t>ATP hydrolysis</a:t>
            </a:r>
          </a:p>
          <a:p>
            <a:pPr marL="0" indent="0" algn="ctr" eaLnBrk="1" hangingPunct="1">
              <a:lnSpc>
                <a:spcPct val="90000"/>
              </a:lnSpc>
              <a:spcBef>
                <a:spcPct val="50000"/>
              </a:spcBef>
              <a:buFont typeface="Wingdings" pitchFamily="2" charset="2"/>
              <a:buNone/>
              <a:defRPr/>
            </a:pPr>
            <a:r>
              <a:rPr lang="en-US" sz="2200" dirty="0">
                <a:sym typeface="Symbol" pitchFamily="18" charset="2"/>
              </a:rPr>
              <a:t></a:t>
            </a:r>
            <a:r>
              <a:rPr lang="en-US" sz="2200" dirty="0"/>
              <a:t> </a:t>
            </a:r>
          </a:p>
          <a:p>
            <a:pPr marL="0" indent="0" algn="ctr" eaLnBrk="1" hangingPunct="1">
              <a:lnSpc>
                <a:spcPct val="90000"/>
              </a:lnSpc>
              <a:spcBef>
                <a:spcPct val="50000"/>
              </a:spcBef>
              <a:buFont typeface="Wingdings" pitchFamily="2" charset="2"/>
              <a:buNone/>
              <a:defRPr/>
            </a:pPr>
            <a:r>
              <a:rPr lang="en-US" sz="2200" dirty="0"/>
              <a:t>Disassociation of </a:t>
            </a:r>
            <a:r>
              <a:rPr lang="en-US" sz="2200" dirty="0" err="1"/>
              <a:t>MuB</a:t>
            </a:r>
            <a:r>
              <a:rPr lang="en-US" sz="2200" dirty="0"/>
              <a:t> </a:t>
            </a:r>
          </a:p>
          <a:p>
            <a:pPr marL="0" indent="0" eaLnBrk="1" hangingPunct="1">
              <a:lnSpc>
                <a:spcPct val="90000"/>
              </a:lnSpc>
              <a:buFont typeface="Arial" charset="0"/>
              <a:buChar char="•"/>
              <a:defRPr/>
            </a:pPr>
            <a:endParaRPr lang="en-GB" sz="2400" dirty="0"/>
          </a:p>
        </p:txBody>
      </p:sp>
      <p:pic>
        <p:nvPicPr>
          <p:cNvPr id="123908" name="Picture 6" descr="H:\Amjad Courses\BT451\Molecular Biology of the Gene images\watson_mm_jpg_chap011\chap011\11_UnFigure07.jpg">
            <a:extLst>
              <a:ext uri="{FF2B5EF4-FFF2-40B4-BE49-F238E27FC236}">
                <a16:creationId xmlns:a16="http://schemas.microsoft.com/office/drawing/2014/main" id="{FD414EF9-7867-20BD-62D0-91636146DA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64175" y="274638"/>
            <a:ext cx="3644900" cy="658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a:extLst>
              <a:ext uri="{FF2B5EF4-FFF2-40B4-BE49-F238E27FC236}">
                <a16:creationId xmlns:a16="http://schemas.microsoft.com/office/drawing/2014/main" id="{50589AE2-293F-D5A5-CD85-87366ED34AB3}"/>
              </a:ext>
            </a:extLst>
          </p:cNvPr>
          <p:cNvSpPr>
            <a:spLocks noGrp="1" noChangeArrowheads="1"/>
          </p:cNvSpPr>
          <p:nvPr>
            <p:ph type="title"/>
          </p:nvPr>
        </p:nvSpPr>
        <p:spPr>
          <a:xfrm>
            <a:off x="468313" y="0"/>
            <a:ext cx="8229600" cy="919163"/>
          </a:xfrm>
        </p:spPr>
        <p:txBody>
          <a:bodyPr/>
          <a:lstStyle/>
          <a:p>
            <a:pPr eaLnBrk="1" hangingPunct="1"/>
            <a:r>
              <a:rPr lang="en-US" altLang="en-US" b="1" dirty="0">
                <a:solidFill>
                  <a:srgbClr val="7030A0"/>
                </a:solidFill>
              </a:rPr>
              <a:t>T</a:t>
            </a:r>
            <a:r>
              <a:rPr lang="en-US" altLang="en-US" b="1" i="1" dirty="0">
                <a:solidFill>
                  <a:srgbClr val="7030A0"/>
                </a:solidFill>
              </a:rPr>
              <a:t>c1</a:t>
            </a:r>
            <a:r>
              <a:rPr lang="en-US" altLang="en-US" b="1" dirty="0">
                <a:solidFill>
                  <a:srgbClr val="7030A0"/>
                </a:solidFill>
              </a:rPr>
              <a:t>/Mariner Element</a:t>
            </a:r>
          </a:p>
        </p:txBody>
      </p:sp>
      <p:sp>
        <p:nvSpPr>
          <p:cNvPr id="125955" name="Rectangle 3">
            <a:extLst>
              <a:ext uri="{FF2B5EF4-FFF2-40B4-BE49-F238E27FC236}">
                <a16:creationId xmlns:a16="http://schemas.microsoft.com/office/drawing/2014/main" id="{643C5647-C931-6255-696B-95E94541CFDF}"/>
              </a:ext>
            </a:extLst>
          </p:cNvPr>
          <p:cNvSpPr>
            <a:spLocks noGrp="1" noChangeArrowheads="1"/>
          </p:cNvSpPr>
          <p:nvPr>
            <p:ph type="body" sz="half" idx="1"/>
          </p:nvPr>
        </p:nvSpPr>
        <p:spPr>
          <a:xfrm>
            <a:off x="611188" y="908050"/>
            <a:ext cx="8066087" cy="5805488"/>
          </a:xfrm>
        </p:spPr>
        <p:txBody>
          <a:bodyPr/>
          <a:lstStyle/>
          <a:p>
            <a:pPr eaLnBrk="1" hangingPunct="1"/>
            <a:r>
              <a:rPr lang="en-US" altLang="en-US" sz="2400"/>
              <a:t>Most common in Eukaryotes</a:t>
            </a:r>
          </a:p>
          <a:p>
            <a:pPr lvl="1" eaLnBrk="1" hangingPunct="1">
              <a:buFontTx/>
              <a:buNone/>
            </a:pPr>
            <a:r>
              <a:rPr lang="en-US" altLang="en-US" sz="1800" b="1">
                <a:solidFill>
                  <a:srgbClr val="C00000"/>
                </a:solidFill>
              </a:rPr>
              <a:t>Tc from</a:t>
            </a:r>
            <a:r>
              <a:rPr lang="en-US" altLang="en-US" sz="1800" b="1" i="1">
                <a:solidFill>
                  <a:srgbClr val="C00000"/>
                </a:solidFill>
              </a:rPr>
              <a:t> C. elegans; Mariner </a:t>
            </a:r>
            <a:r>
              <a:rPr lang="en-US" altLang="en-US" sz="1800" b="1">
                <a:solidFill>
                  <a:srgbClr val="C00000"/>
                </a:solidFill>
              </a:rPr>
              <a:t>from</a:t>
            </a:r>
            <a:r>
              <a:rPr lang="en-US" altLang="en-US" sz="1800" b="1" i="1">
                <a:solidFill>
                  <a:srgbClr val="C00000"/>
                </a:solidFill>
              </a:rPr>
              <a:t> Drosophila</a:t>
            </a:r>
          </a:p>
          <a:p>
            <a:pPr eaLnBrk="1" hangingPunct="1"/>
            <a:r>
              <a:rPr lang="en-US" altLang="en-US" sz="2400"/>
              <a:t>Simplest </a:t>
            </a:r>
            <a:r>
              <a:rPr lang="en-US" altLang="en-US" sz="2400" b="1">
                <a:solidFill>
                  <a:srgbClr val="C00000"/>
                </a:solidFill>
              </a:rPr>
              <a:t>autonomous</a:t>
            </a:r>
            <a:r>
              <a:rPr lang="en-US" altLang="en-US" sz="2400"/>
              <a:t> transposon (1.5-2.5 kb, DDE member, no accessory proteins are needed )</a:t>
            </a:r>
          </a:p>
          <a:p>
            <a:pPr eaLnBrk="1" hangingPunct="1"/>
            <a:r>
              <a:rPr lang="en-US" altLang="en-US" sz="2400"/>
              <a:t>Cut &amp; paste transposition</a:t>
            </a:r>
          </a:p>
          <a:p>
            <a:pPr eaLnBrk="1" hangingPunct="1"/>
            <a:r>
              <a:rPr lang="en-US" altLang="en-US" sz="2400"/>
              <a:t>Preferred target DNA 5’TA</a:t>
            </a:r>
          </a:p>
          <a:p>
            <a:pPr eaLnBrk="1" hangingPunct="1"/>
            <a:r>
              <a:rPr lang="en-US" altLang="en-US" sz="2400"/>
              <a:t>What happens to the empty site in the host chromosome? Broken ends are filled in and directly joined</a:t>
            </a:r>
            <a:r>
              <a:rPr lang="en-US" altLang="en-US" sz="2400">
                <a:sym typeface="Symbol" pitchFamily="2" charset="2"/>
              </a:rPr>
              <a:t> </a:t>
            </a:r>
            <a:r>
              <a:rPr lang="en-US" altLang="en-US" sz="2400"/>
              <a:t> insertion of few extra bases at old insertion called </a:t>
            </a:r>
            <a:r>
              <a:rPr lang="en-US" altLang="en-US" sz="2400" b="1">
                <a:solidFill>
                  <a:srgbClr val="0000FF"/>
                </a:solidFill>
              </a:rPr>
              <a:t>footprints</a:t>
            </a:r>
          </a:p>
          <a:p>
            <a:pPr eaLnBrk="1" hangingPunct="1"/>
            <a:r>
              <a:rPr lang="en-US" altLang="en-US" sz="2400">
                <a:sym typeface="Symbol" pitchFamily="2" charset="2"/>
              </a:rPr>
              <a:t>Transposition is not regulated  many are dead (carry mutations in transposase)</a:t>
            </a:r>
            <a:endParaRPr lang="en-US" altLang="en-US" sz="2800">
              <a:solidFill>
                <a:srgbClr val="0000FF"/>
              </a:solidFill>
            </a:endParaRPr>
          </a:p>
          <a:p>
            <a:r>
              <a:rPr lang="en-US" altLang="en-US" sz="2800"/>
              <a:t>Artificial hyperactive Tc1/mariner called </a:t>
            </a:r>
            <a:r>
              <a:rPr lang="en-US" altLang="en-US" sz="2800">
                <a:solidFill>
                  <a:srgbClr val="0000FF"/>
                </a:solidFill>
              </a:rPr>
              <a:t>Sleeping beauty; </a:t>
            </a:r>
            <a:r>
              <a:rPr lang="en-US" altLang="en-US" sz="2400"/>
              <a:t>transposes at very high frequencies compared with naturally isolated elements. (research tool for mutagenesis)</a:t>
            </a:r>
            <a:endParaRPr lang="en-US" altLang="en-US" sz="2400">
              <a:solidFill>
                <a:srgbClr val="FFFF00"/>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a:extLst>
              <a:ext uri="{FF2B5EF4-FFF2-40B4-BE49-F238E27FC236}">
                <a16:creationId xmlns:a16="http://schemas.microsoft.com/office/drawing/2014/main" id="{E3080CA0-A24D-E7D2-AC6F-A25984587C69}"/>
              </a:ext>
            </a:extLst>
          </p:cNvPr>
          <p:cNvSpPr>
            <a:spLocks noGrp="1" noChangeArrowheads="1"/>
          </p:cNvSpPr>
          <p:nvPr>
            <p:ph type="title"/>
          </p:nvPr>
        </p:nvSpPr>
        <p:spPr>
          <a:xfrm>
            <a:off x="539750" y="0"/>
            <a:ext cx="8229600" cy="836613"/>
          </a:xfrm>
        </p:spPr>
        <p:txBody>
          <a:bodyPr/>
          <a:lstStyle/>
          <a:p>
            <a:pPr eaLnBrk="1" hangingPunct="1"/>
            <a:r>
              <a:rPr lang="en-US" altLang="en-US" sz="3600" b="1" dirty="0">
                <a:solidFill>
                  <a:srgbClr val="7030A0"/>
                </a:solidFill>
              </a:rPr>
              <a:t>Ty Elements (transposon in yeast)</a:t>
            </a:r>
            <a:r>
              <a:rPr lang="en-US" altLang="en-US" sz="3600" dirty="0">
                <a:solidFill>
                  <a:srgbClr val="7030A0"/>
                </a:solidFill>
              </a:rPr>
              <a:t> </a:t>
            </a:r>
          </a:p>
        </p:txBody>
      </p:sp>
      <p:sp>
        <p:nvSpPr>
          <p:cNvPr id="128003" name="Rectangle 3">
            <a:extLst>
              <a:ext uri="{FF2B5EF4-FFF2-40B4-BE49-F238E27FC236}">
                <a16:creationId xmlns:a16="http://schemas.microsoft.com/office/drawing/2014/main" id="{76AE0C7A-8B35-3473-BABB-4B3F20BC2F66}"/>
              </a:ext>
            </a:extLst>
          </p:cNvPr>
          <p:cNvSpPr>
            <a:spLocks noGrp="1" noChangeArrowheads="1"/>
          </p:cNvSpPr>
          <p:nvPr>
            <p:ph idx="1"/>
          </p:nvPr>
        </p:nvSpPr>
        <p:spPr>
          <a:xfrm>
            <a:off x="0" y="908050"/>
            <a:ext cx="4716463" cy="5761038"/>
          </a:xfrm>
        </p:spPr>
        <p:txBody>
          <a:bodyPr/>
          <a:lstStyle/>
          <a:p>
            <a:pPr eaLnBrk="1" hangingPunct="1">
              <a:lnSpc>
                <a:spcPct val="120000"/>
              </a:lnSpc>
            </a:pPr>
            <a:r>
              <a:rPr lang="en-US" altLang="en-US" sz="2200"/>
              <a:t>Viral like retrotransposon</a:t>
            </a:r>
          </a:p>
          <a:p>
            <a:pPr eaLnBrk="1" hangingPunct="1">
              <a:lnSpc>
                <a:spcPct val="120000"/>
              </a:lnSpc>
            </a:pPr>
            <a:r>
              <a:rPr lang="en-US" altLang="en-US" sz="2200"/>
              <a:t>Ty RNA is found in cells packed into virus-like particles</a:t>
            </a:r>
          </a:p>
          <a:p>
            <a:pPr eaLnBrk="1" hangingPunct="1">
              <a:lnSpc>
                <a:spcPct val="120000"/>
              </a:lnSpc>
            </a:pPr>
            <a:r>
              <a:rPr lang="en-US" altLang="en-US" sz="2200"/>
              <a:t>Preferentially integrate into specific chromosomal regions e.g Ty1 within ~ 200 bp upstream of a start site for transcription of host RNA Pol III enzyme (tRNA genes)</a:t>
            </a:r>
          </a:p>
          <a:p>
            <a:pPr eaLnBrk="1" hangingPunct="1">
              <a:lnSpc>
                <a:spcPct val="120000"/>
              </a:lnSpc>
            </a:pPr>
            <a:r>
              <a:rPr lang="en-US" altLang="en-US" sz="2200"/>
              <a:t>Slow transposon</a:t>
            </a:r>
          </a:p>
          <a:p>
            <a:pPr eaLnBrk="1" hangingPunct="1">
              <a:lnSpc>
                <a:spcPct val="120000"/>
              </a:lnSpc>
            </a:pPr>
            <a:r>
              <a:rPr lang="en-US" altLang="en-US" sz="2200"/>
              <a:t>Different types: (Ty1,2, …, Ty5)</a:t>
            </a:r>
          </a:p>
          <a:p>
            <a:pPr eaLnBrk="1" hangingPunct="1">
              <a:lnSpc>
                <a:spcPct val="120000"/>
              </a:lnSpc>
            </a:pPr>
            <a:r>
              <a:rPr lang="en-US" altLang="en-US" sz="2200"/>
              <a:t>Enables the transposons to persist in host by focusing on away from important regions</a:t>
            </a:r>
          </a:p>
        </p:txBody>
      </p:sp>
      <p:pic>
        <p:nvPicPr>
          <p:cNvPr id="128004" name="Picture 4" descr="H:\Amjad Courses\BT451\Molecular Biology of the Gene images\watson_mm_jpg_chap011\chap011\11_Figure31.jpg">
            <a:extLst>
              <a:ext uri="{FF2B5EF4-FFF2-40B4-BE49-F238E27FC236}">
                <a16:creationId xmlns:a16="http://schemas.microsoft.com/office/drawing/2014/main" id="{A02D727D-3526-6CA7-B4A1-3DCD3EE007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7900" y="836613"/>
            <a:ext cx="4211638" cy="577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a:extLst>
              <a:ext uri="{FF2B5EF4-FFF2-40B4-BE49-F238E27FC236}">
                <a16:creationId xmlns:a16="http://schemas.microsoft.com/office/drawing/2014/main" id="{6ED09188-B1D8-95DB-35E1-D37285E820B6}"/>
              </a:ext>
            </a:extLst>
          </p:cNvPr>
          <p:cNvSpPr>
            <a:spLocks noGrp="1" noChangeArrowheads="1"/>
          </p:cNvSpPr>
          <p:nvPr>
            <p:ph type="title"/>
          </p:nvPr>
        </p:nvSpPr>
        <p:spPr>
          <a:xfrm>
            <a:off x="468313" y="692150"/>
            <a:ext cx="8229600" cy="1143000"/>
          </a:xfrm>
        </p:spPr>
        <p:txBody>
          <a:bodyPr/>
          <a:lstStyle/>
          <a:p>
            <a:pPr eaLnBrk="1" hangingPunct="1"/>
            <a:r>
              <a:rPr lang="en-US" altLang="en-US" sz="3600" b="1">
                <a:solidFill>
                  <a:srgbClr val="0000FF"/>
                </a:solidFill>
              </a:rPr>
              <a:t>Clustered integration sites observed </a:t>
            </a:r>
            <a:br>
              <a:rPr lang="en-US" altLang="en-US" sz="3600" b="1">
                <a:solidFill>
                  <a:srgbClr val="0000FF"/>
                </a:solidFill>
              </a:rPr>
            </a:br>
            <a:r>
              <a:rPr lang="en-US" altLang="en-US" sz="3600" b="1">
                <a:solidFill>
                  <a:srgbClr val="0000FF"/>
                </a:solidFill>
              </a:rPr>
              <a:t>for Ty elements</a:t>
            </a:r>
          </a:p>
        </p:txBody>
      </p:sp>
      <p:pic>
        <p:nvPicPr>
          <p:cNvPr id="130051" name="Picture 4">
            <a:extLst>
              <a:ext uri="{FF2B5EF4-FFF2-40B4-BE49-F238E27FC236}">
                <a16:creationId xmlns:a16="http://schemas.microsoft.com/office/drawing/2014/main" id="{2DFA3A41-925E-9E7C-AEFB-3778894138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2492375"/>
            <a:ext cx="8547100" cy="264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a:extLst>
              <a:ext uri="{FF2B5EF4-FFF2-40B4-BE49-F238E27FC236}">
                <a16:creationId xmlns:a16="http://schemas.microsoft.com/office/drawing/2014/main" id="{46EB184D-9A73-50E5-816F-3FBB0EF7FF8E}"/>
              </a:ext>
            </a:extLst>
          </p:cNvPr>
          <p:cNvSpPr>
            <a:spLocks noGrp="1" noChangeArrowheads="1"/>
          </p:cNvSpPr>
          <p:nvPr>
            <p:ph type="title"/>
          </p:nvPr>
        </p:nvSpPr>
        <p:spPr>
          <a:xfrm>
            <a:off x="468313" y="188913"/>
            <a:ext cx="8229600" cy="1068387"/>
          </a:xfrm>
        </p:spPr>
        <p:txBody>
          <a:bodyPr/>
          <a:lstStyle/>
          <a:p>
            <a:pPr algn="l" eaLnBrk="1" hangingPunct="1"/>
            <a:r>
              <a:rPr lang="en-US" altLang="en-US" sz="2800" b="1">
                <a:solidFill>
                  <a:srgbClr val="7030A0"/>
                </a:solidFill>
              </a:rPr>
              <a:t>LINE</a:t>
            </a:r>
            <a:r>
              <a:rPr lang="en-US" altLang="en-US" sz="2800">
                <a:solidFill>
                  <a:srgbClr val="7030A0"/>
                </a:solidFill>
              </a:rPr>
              <a:t> </a:t>
            </a:r>
            <a:r>
              <a:rPr lang="en-US" altLang="en-US" sz="2800" b="1">
                <a:solidFill>
                  <a:srgbClr val="7030A0"/>
                </a:solidFill>
              </a:rPr>
              <a:t>(</a:t>
            </a:r>
            <a:r>
              <a:rPr lang="en-US" altLang="en-US" sz="2800" b="1" u="sng">
                <a:solidFill>
                  <a:srgbClr val="7030A0"/>
                </a:solidFill>
              </a:rPr>
              <a:t>L</a:t>
            </a:r>
            <a:r>
              <a:rPr lang="en-US" altLang="en-US" sz="2800" b="1">
                <a:solidFill>
                  <a:srgbClr val="7030A0"/>
                </a:solidFill>
              </a:rPr>
              <a:t>ong </a:t>
            </a:r>
            <a:r>
              <a:rPr lang="en-US" altLang="en-US" sz="2800" b="1" u="sng">
                <a:solidFill>
                  <a:srgbClr val="7030A0"/>
                </a:solidFill>
              </a:rPr>
              <a:t>i</a:t>
            </a:r>
            <a:r>
              <a:rPr lang="en-US" altLang="en-US" sz="2800" b="1">
                <a:solidFill>
                  <a:srgbClr val="7030A0"/>
                </a:solidFill>
              </a:rPr>
              <a:t>nterspersed </a:t>
            </a:r>
            <a:r>
              <a:rPr lang="en-US" altLang="en-US" sz="2800" b="1" u="sng">
                <a:solidFill>
                  <a:srgbClr val="7030A0"/>
                </a:solidFill>
              </a:rPr>
              <a:t>n</a:t>
            </a:r>
            <a:r>
              <a:rPr lang="en-US" altLang="en-US" sz="2800" b="1">
                <a:solidFill>
                  <a:srgbClr val="7030A0"/>
                </a:solidFill>
              </a:rPr>
              <a:t>uclear </a:t>
            </a:r>
            <a:r>
              <a:rPr lang="en-US" altLang="en-US" sz="2800" b="1" u="sng">
                <a:solidFill>
                  <a:srgbClr val="7030A0"/>
                </a:solidFill>
              </a:rPr>
              <a:t>e</a:t>
            </a:r>
            <a:r>
              <a:rPr lang="en-US" altLang="en-US" sz="2800" b="1">
                <a:solidFill>
                  <a:srgbClr val="7030A0"/>
                </a:solidFill>
              </a:rPr>
              <a:t>lement)</a:t>
            </a:r>
            <a:br>
              <a:rPr lang="en-US" altLang="en-US" sz="2800" b="1">
                <a:solidFill>
                  <a:srgbClr val="7030A0"/>
                </a:solidFill>
              </a:rPr>
            </a:br>
            <a:r>
              <a:rPr lang="en-US" altLang="en-US" sz="2800" b="1">
                <a:solidFill>
                  <a:srgbClr val="7030A0"/>
                </a:solidFill>
              </a:rPr>
              <a:t>SINE</a:t>
            </a:r>
            <a:r>
              <a:rPr lang="en-US" altLang="en-US" sz="2800">
                <a:solidFill>
                  <a:srgbClr val="7030A0"/>
                </a:solidFill>
              </a:rPr>
              <a:t> </a:t>
            </a:r>
            <a:r>
              <a:rPr lang="en-US" altLang="en-US" sz="2800" b="1">
                <a:solidFill>
                  <a:srgbClr val="7030A0"/>
                </a:solidFill>
              </a:rPr>
              <a:t>(</a:t>
            </a:r>
            <a:r>
              <a:rPr lang="en-US" altLang="en-US" sz="2800" b="1" u="sng">
                <a:solidFill>
                  <a:srgbClr val="7030A0"/>
                </a:solidFill>
              </a:rPr>
              <a:t>S</a:t>
            </a:r>
            <a:r>
              <a:rPr lang="en-US" altLang="en-US" sz="2800" b="1">
                <a:solidFill>
                  <a:srgbClr val="7030A0"/>
                </a:solidFill>
              </a:rPr>
              <a:t>hort </a:t>
            </a:r>
            <a:r>
              <a:rPr lang="en-US" altLang="en-US" sz="2800" b="1" u="sng">
                <a:solidFill>
                  <a:srgbClr val="7030A0"/>
                </a:solidFill>
              </a:rPr>
              <a:t>i</a:t>
            </a:r>
            <a:r>
              <a:rPr lang="en-US" altLang="en-US" sz="2800" b="1">
                <a:solidFill>
                  <a:srgbClr val="7030A0"/>
                </a:solidFill>
              </a:rPr>
              <a:t>nterspersed </a:t>
            </a:r>
            <a:r>
              <a:rPr lang="en-US" altLang="en-US" sz="2800" b="1" u="sng">
                <a:solidFill>
                  <a:srgbClr val="7030A0"/>
                </a:solidFill>
              </a:rPr>
              <a:t>n</a:t>
            </a:r>
            <a:r>
              <a:rPr lang="en-US" altLang="en-US" sz="2800" b="1">
                <a:solidFill>
                  <a:srgbClr val="7030A0"/>
                </a:solidFill>
              </a:rPr>
              <a:t>uclear </a:t>
            </a:r>
            <a:r>
              <a:rPr lang="en-US" altLang="en-US" sz="2800" b="1" u="sng">
                <a:solidFill>
                  <a:srgbClr val="7030A0"/>
                </a:solidFill>
              </a:rPr>
              <a:t>e</a:t>
            </a:r>
            <a:r>
              <a:rPr lang="en-US" altLang="en-US" sz="2800" b="1">
                <a:solidFill>
                  <a:srgbClr val="7030A0"/>
                </a:solidFill>
              </a:rPr>
              <a:t>lement)</a:t>
            </a:r>
          </a:p>
        </p:txBody>
      </p:sp>
      <p:sp>
        <p:nvSpPr>
          <p:cNvPr id="132099" name="Rectangle 3">
            <a:extLst>
              <a:ext uri="{FF2B5EF4-FFF2-40B4-BE49-F238E27FC236}">
                <a16:creationId xmlns:a16="http://schemas.microsoft.com/office/drawing/2014/main" id="{0D0F00A4-43F8-EAE7-D4B9-E1C0DAA26E4C}"/>
              </a:ext>
            </a:extLst>
          </p:cNvPr>
          <p:cNvSpPr>
            <a:spLocks noGrp="1" noChangeArrowheads="1"/>
          </p:cNvSpPr>
          <p:nvPr>
            <p:ph type="body" sz="half" idx="1"/>
          </p:nvPr>
        </p:nvSpPr>
        <p:spPr>
          <a:xfrm>
            <a:off x="609600" y="1341438"/>
            <a:ext cx="8534400" cy="2273300"/>
          </a:xfrm>
        </p:spPr>
        <p:txBody>
          <a:bodyPr/>
          <a:lstStyle/>
          <a:p>
            <a:pPr eaLnBrk="1" hangingPunct="1"/>
            <a:r>
              <a:rPr lang="en-US" altLang="en-US" sz="2400"/>
              <a:t>LINE is </a:t>
            </a:r>
            <a:r>
              <a:rPr lang="en-US" altLang="en-US" sz="2400" b="1">
                <a:solidFill>
                  <a:srgbClr val="C00000"/>
                </a:solidFill>
              </a:rPr>
              <a:t>autonomous</a:t>
            </a:r>
            <a:r>
              <a:rPr lang="en-US" altLang="en-US" sz="2400"/>
              <a:t> poly-A retrotransposone</a:t>
            </a:r>
          </a:p>
          <a:p>
            <a:pPr eaLnBrk="1" hangingPunct="1"/>
            <a:r>
              <a:rPr lang="en-US" altLang="en-US" sz="2400"/>
              <a:t>Provide reverse transcriptase &amp; </a:t>
            </a:r>
            <a:r>
              <a:rPr lang="en-US" altLang="en-US" sz="2400" b="1"/>
              <a:t>integrase</a:t>
            </a:r>
            <a:r>
              <a:rPr lang="en-US" altLang="en-US" sz="2400"/>
              <a:t> to SINE</a:t>
            </a:r>
          </a:p>
          <a:p>
            <a:pPr eaLnBrk="1" hangingPunct="1"/>
            <a:r>
              <a:rPr lang="en-US" altLang="en-US" sz="2400"/>
              <a:t>LINE form 20% of human genome,100-400 bp in length</a:t>
            </a:r>
          </a:p>
          <a:p>
            <a:pPr eaLnBrk="1" hangingPunct="1"/>
            <a:r>
              <a:rPr lang="en-US" altLang="en-US" sz="2400"/>
              <a:t>SINE widely present, most common </a:t>
            </a:r>
            <a:r>
              <a:rPr lang="en-US" altLang="en-US" sz="2400" b="1"/>
              <a:t>Alu</a:t>
            </a:r>
          </a:p>
        </p:txBody>
      </p:sp>
      <p:pic>
        <p:nvPicPr>
          <p:cNvPr id="132100" name="Picture 6" descr="11_Figure33">
            <a:extLst>
              <a:ext uri="{FF2B5EF4-FFF2-40B4-BE49-F238E27FC236}">
                <a16:creationId xmlns:a16="http://schemas.microsoft.com/office/drawing/2014/main" id="{3364AC0B-34D5-A988-607D-4603F8201B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3692525"/>
            <a:ext cx="8820150" cy="316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a:extLst>
              <a:ext uri="{FF2B5EF4-FFF2-40B4-BE49-F238E27FC236}">
                <a16:creationId xmlns:a16="http://schemas.microsoft.com/office/drawing/2014/main" id="{91ED9BA0-FA1F-0F8D-ACD4-AB77A044F0A9}"/>
              </a:ext>
            </a:extLst>
          </p:cNvPr>
          <p:cNvSpPr>
            <a:spLocks noGrp="1" noChangeArrowheads="1"/>
          </p:cNvSpPr>
          <p:nvPr>
            <p:ph type="title"/>
          </p:nvPr>
        </p:nvSpPr>
        <p:spPr/>
        <p:txBody>
          <a:bodyPr>
            <a:normAutofit fontScale="90000"/>
          </a:bodyPr>
          <a:lstStyle/>
          <a:p>
            <a:pPr eaLnBrk="1" hangingPunct="1">
              <a:defRPr/>
            </a:pPr>
            <a:r>
              <a:rPr lang="en-US" sz="3800" b="1" dirty="0">
                <a:solidFill>
                  <a:srgbClr val="0000FF"/>
                </a:solidFill>
              </a:rPr>
              <a:t>How LINEs avoid transposing cellular mRNA molecules?</a:t>
            </a:r>
          </a:p>
        </p:txBody>
      </p:sp>
      <p:sp>
        <p:nvSpPr>
          <p:cNvPr id="134147" name="Rectangle 3">
            <a:extLst>
              <a:ext uri="{FF2B5EF4-FFF2-40B4-BE49-F238E27FC236}">
                <a16:creationId xmlns:a16="http://schemas.microsoft.com/office/drawing/2014/main" id="{4B086F1F-6171-963A-CDEE-EEE1FCAA4E40}"/>
              </a:ext>
            </a:extLst>
          </p:cNvPr>
          <p:cNvSpPr>
            <a:spLocks noGrp="1" noChangeArrowheads="1"/>
          </p:cNvSpPr>
          <p:nvPr>
            <p:ph idx="1"/>
          </p:nvPr>
        </p:nvSpPr>
        <p:spPr>
          <a:xfrm>
            <a:off x="468313" y="1557338"/>
            <a:ext cx="8229600" cy="5040312"/>
          </a:xfrm>
        </p:spPr>
        <p:txBody>
          <a:bodyPr/>
          <a:lstStyle/>
          <a:p>
            <a:pPr eaLnBrk="1" hangingPunct="1"/>
            <a:r>
              <a:rPr lang="en-US" altLang="en-US"/>
              <a:t>LINE-encoded proteins bind immediately to their own RNA during translation. </a:t>
            </a:r>
          </a:p>
          <a:p>
            <a:pPr eaLnBrk="1" hangingPunct="1"/>
            <a:r>
              <a:rPr lang="en-US" altLang="en-US"/>
              <a:t>Thus, they show a </a:t>
            </a:r>
            <a:r>
              <a:rPr lang="en-US" altLang="en-US" b="1">
                <a:solidFill>
                  <a:srgbClr val="C00000"/>
                </a:solidFill>
              </a:rPr>
              <a:t>strong bias </a:t>
            </a:r>
            <a:r>
              <a:rPr lang="en-US" altLang="en-US"/>
              <a:t>to catalyzing reverse transcription and integration of the RNA that encoded them</a:t>
            </a:r>
          </a:p>
          <a:p>
            <a:pPr eaLnBrk="1" hangingPunct="1"/>
            <a:r>
              <a:rPr lang="en-US" altLang="en-US" b="1"/>
              <a:t>Rarely</a:t>
            </a:r>
            <a:r>
              <a:rPr lang="en-US" altLang="en-US"/>
              <a:t> mRNA is targeted by ORF1 and ORF2 producing </a:t>
            </a:r>
            <a:r>
              <a:rPr lang="en-US" altLang="en-US" b="1">
                <a:solidFill>
                  <a:srgbClr val="C00000"/>
                </a:solidFill>
              </a:rPr>
              <a:t>processed pseudogenes.</a:t>
            </a:r>
          </a:p>
          <a:p>
            <a:pPr eaLnBrk="1" hangingPunct="1"/>
            <a:r>
              <a:rPr lang="en-US" altLang="en-US" sz="2800" b="1">
                <a:solidFill>
                  <a:srgbClr val="C00000"/>
                </a:solidFill>
              </a:rPr>
              <a:t>Pseudogenes</a:t>
            </a:r>
            <a:r>
              <a:rPr lang="en-US" altLang="en-US" sz="2800"/>
              <a:t> are functionless relatives of genes that </a:t>
            </a:r>
            <a:r>
              <a:rPr lang="en-US" altLang="en-US" sz="2800" u="sng"/>
              <a:t>have lost their gene expression in the cell or their ability to code protein.</a:t>
            </a:r>
            <a:endParaRPr lang="en-US" altLang="en-US" sz="2800" u="sng">
              <a:solidFill>
                <a:srgbClr val="0000FF"/>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D637C06D-BDB8-6DAD-E505-A818B58585D7}"/>
              </a:ext>
            </a:extLst>
          </p:cNvPr>
          <p:cNvSpPr>
            <a:spLocks noGrp="1" noChangeArrowheads="1"/>
          </p:cNvSpPr>
          <p:nvPr>
            <p:ph type="title"/>
          </p:nvPr>
        </p:nvSpPr>
        <p:spPr/>
        <p:txBody>
          <a:bodyPr/>
          <a:lstStyle/>
          <a:p>
            <a:pPr eaLnBrk="1" hangingPunct="1"/>
            <a:r>
              <a:rPr lang="en-US" altLang="en-US" sz="4000" b="1">
                <a:solidFill>
                  <a:srgbClr val="C00000"/>
                </a:solidFill>
              </a:rPr>
              <a:t>Antibodies</a:t>
            </a:r>
          </a:p>
        </p:txBody>
      </p:sp>
      <p:sp>
        <p:nvSpPr>
          <p:cNvPr id="136195" name="Content Placeholder 7">
            <a:extLst>
              <a:ext uri="{FF2B5EF4-FFF2-40B4-BE49-F238E27FC236}">
                <a16:creationId xmlns:a16="http://schemas.microsoft.com/office/drawing/2014/main" id="{1239CFA8-6DA6-B233-271D-4AFF8085BD15}"/>
              </a:ext>
            </a:extLst>
          </p:cNvPr>
          <p:cNvSpPr>
            <a:spLocks noGrp="1"/>
          </p:cNvSpPr>
          <p:nvPr>
            <p:ph idx="1"/>
          </p:nvPr>
        </p:nvSpPr>
        <p:spPr>
          <a:xfrm>
            <a:off x="323850" y="1341438"/>
            <a:ext cx="4968875" cy="5183187"/>
          </a:xfrm>
        </p:spPr>
        <p:txBody>
          <a:bodyPr/>
          <a:lstStyle/>
          <a:p>
            <a:r>
              <a:rPr lang="en-US" altLang="en-US" sz="2400"/>
              <a:t>Vertebrates:</a:t>
            </a:r>
          </a:p>
          <a:p>
            <a:r>
              <a:rPr lang="en-US" altLang="en-US" sz="2400"/>
              <a:t>B cells produce </a:t>
            </a:r>
            <a:r>
              <a:rPr lang="en-US" altLang="en-US" sz="2400">
                <a:solidFill>
                  <a:srgbClr val="0000FF"/>
                </a:solidFill>
              </a:rPr>
              <a:t>antibodies </a:t>
            </a:r>
            <a:r>
              <a:rPr lang="en-US" altLang="en-US" sz="2400"/>
              <a:t>that circulate in the blood stream, whereas </a:t>
            </a:r>
          </a:p>
          <a:p>
            <a:r>
              <a:rPr lang="en-US" altLang="en-US" sz="2400"/>
              <a:t>T cells produce cell-surface receptor proteins (</a:t>
            </a:r>
            <a:r>
              <a:rPr lang="en-US" altLang="en-US" sz="2400">
                <a:solidFill>
                  <a:srgbClr val="0000FF"/>
                </a:solidFill>
              </a:rPr>
              <a:t>T-cell-receptors</a:t>
            </a:r>
            <a:r>
              <a:rPr lang="en-US" altLang="en-US" sz="2400"/>
              <a:t>)</a:t>
            </a:r>
          </a:p>
          <a:p>
            <a:r>
              <a:rPr lang="en-US" altLang="en-US" sz="2400"/>
              <a:t>The principal mechanism cells use to </a:t>
            </a:r>
            <a:r>
              <a:rPr lang="en-US" altLang="en-US" sz="2400">
                <a:solidFill>
                  <a:srgbClr val="0000FF"/>
                </a:solidFill>
              </a:rPr>
              <a:t>generate antibodies and T-cell receptors with such diversity </a:t>
            </a:r>
            <a:r>
              <a:rPr lang="en-US" altLang="en-US" sz="2400"/>
              <a:t>relies on a specialized set of DNA rearrangement called </a:t>
            </a:r>
            <a:r>
              <a:rPr lang="en-US" altLang="en-US" sz="2400" b="1">
                <a:solidFill>
                  <a:srgbClr val="C00000"/>
                </a:solidFill>
              </a:rPr>
              <a:t>V(D)J recombination</a:t>
            </a:r>
          </a:p>
        </p:txBody>
      </p:sp>
      <p:pic>
        <p:nvPicPr>
          <p:cNvPr id="136196" name="Picture 6" descr="Image result for antibodies">
            <a:extLst>
              <a:ext uri="{FF2B5EF4-FFF2-40B4-BE49-F238E27FC236}">
                <a16:creationId xmlns:a16="http://schemas.microsoft.com/office/drawing/2014/main" id="{6591E2B7-6250-D9D4-E698-C2CA6D2C11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9700" y="1533525"/>
            <a:ext cx="3673475" cy="367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8242" name="Picture 2" descr="H:\Amjad Courses\BT451\Molecular Biology of the Gene images\watson_mm_jpg_chap011\chap011\11_Figure34.jpg">
            <a:extLst>
              <a:ext uri="{FF2B5EF4-FFF2-40B4-BE49-F238E27FC236}">
                <a16:creationId xmlns:a16="http://schemas.microsoft.com/office/drawing/2014/main" id="{09C612C3-E810-51AA-2B06-9314891161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1025" y="136525"/>
            <a:ext cx="7980363" cy="658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a:extLst>
              <a:ext uri="{FF2B5EF4-FFF2-40B4-BE49-F238E27FC236}">
                <a16:creationId xmlns:a16="http://schemas.microsoft.com/office/drawing/2014/main" id="{F154D127-2E8B-917A-19B7-D96F26523F73}"/>
              </a:ext>
            </a:extLst>
          </p:cNvPr>
          <p:cNvSpPr>
            <a:spLocks noGrp="1" noChangeArrowheads="1"/>
          </p:cNvSpPr>
          <p:nvPr>
            <p:ph type="title"/>
          </p:nvPr>
        </p:nvSpPr>
        <p:spPr>
          <a:xfrm>
            <a:off x="457200" y="274638"/>
            <a:ext cx="8229600" cy="777875"/>
          </a:xfrm>
        </p:spPr>
        <p:txBody>
          <a:bodyPr/>
          <a:lstStyle/>
          <a:p>
            <a:pPr eaLnBrk="1" hangingPunct="1"/>
            <a:r>
              <a:rPr lang="en-GB" altLang="en-US" b="1">
                <a:solidFill>
                  <a:srgbClr val="0000FF"/>
                </a:solidFill>
              </a:rPr>
              <a:t>V(D)J Recombination</a:t>
            </a:r>
          </a:p>
        </p:txBody>
      </p:sp>
      <p:sp>
        <p:nvSpPr>
          <p:cNvPr id="140291" name="Rectangle 3">
            <a:extLst>
              <a:ext uri="{FF2B5EF4-FFF2-40B4-BE49-F238E27FC236}">
                <a16:creationId xmlns:a16="http://schemas.microsoft.com/office/drawing/2014/main" id="{6F092EEA-0584-B95F-1FCC-E3980EB97B01}"/>
              </a:ext>
            </a:extLst>
          </p:cNvPr>
          <p:cNvSpPr>
            <a:spLocks noGrp="1" noChangeArrowheads="1"/>
          </p:cNvSpPr>
          <p:nvPr>
            <p:ph idx="1"/>
          </p:nvPr>
        </p:nvSpPr>
        <p:spPr>
          <a:xfrm>
            <a:off x="457200" y="1196975"/>
            <a:ext cx="8218488" cy="4933950"/>
          </a:xfrm>
        </p:spPr>
        <p:txBody>
          <a:bodyPr/>
          <a:lstStyle/>
          <a:p>
            <a:pPr eaLnBrk="1" hangingPunct="1">
              <a:lnSpc>
                <a:spcPct val="80000"/>
              </a:lnSpc>
            </a:pPr>
            <a:endParaRPr lang="en-GB" altLang="en-US" sz="2400" u="sng">
              <a:solidFill>
                <a:srgbClr val="FFFF00"/>
              </a:solidFill>
            </a:endParaRPr>
          </a:p>
          <a:p>
            <a:pPr eaLnBrk="1" hangingPunct="1">
              <a:lnSpc>
                <a:spcPct val="80000"/>
              </a:lnSpc>
            </a:pPr>
            <a:endParaRPr lang="en-GB" altLang="en-US" sz="2400" u="sng">
              <a:solidFill>
                <a:srgbClr val="FFFF00"/>
              </a:solidFill>
            </a:endParaRPr>
          </a:p>
          <a:p>
            <a:pPr eaLnBrk="1" hangingPunct="1">
              <a:lnSpc>
                <a:spcPct val="80000"/>
              </a:lnSpc>
            </a:pPr>
            <a:endParaRPr lang="en-GB" altLang="en-US" sz="2400" u="sng">
              <a:solidFill>
                <a:srgbClr val="FFFF00"/>
              </a:solidFill>
            </a:endParaRPr>
          </a:p>
          <a:p>
            <a:pPr eaLnBrk="1" hangingPunct="1">
              <a:lnSpc>
                <a:spcPct val="80000"/>
              </a:lnSpc>
            </a:pPr>
            <a:r>
              <a:rPr lang="en-GB" altLang="en-US" sz="2400" u="sng">
                <a:solidFill>
                  <a:srgbClr val="0000FF"/>
                </a:solidFill>
              </a:rPr>
              <a:t>Light Chain</a:t>
            </a:r>
          </a:p>
          <a:p>
            <a:pPr lvl="1" eaLnBrk="1" hangingPunct="1">
              <a:lnSpc>
                <a:spcPct val="80000"/>
              </a:lnSpc>
            </a:pPr>
            <a:r>
              <a:rPr lang="en-GB" altLang="en-US" sz="2000"/>
              <a:t>~300 V gene segment</a:t>
            </a:r>
          </a:p>
          <a:p>
            <a:pPr lvl="1" eaLnBrk="1" hangingPunct="1">
              <a:lnSpc>
                <a:spcPct val="80000"/>
              </a:lnSpc>
            </a:pPr>
            <a:r>
              <a:rPr lang="en-GB" altLang="en-US" sz="2000"/>
              <a:t>~ 4 J gene segment</a:t>
            </a:r>
          </a:p>
          <a:p>
            <a:pPr lvl="1" eaLnBrk="1" hangingPunct="1">
              <a:lnSpc>
                <a:spcPct val="80000"/>
              </a:lnSpc>
            </a:pPr>
            <a:endParaRPr lang="en-GB" altLang="en-US" sz="2000"/>
          </a:p>
          <a:p>
            <a:pPr lvl="1" eaLnBrk="1" hangingPunct="1">
              <a:lnSpc>
                <a:spcPct val="80000"/>
              </a:lnSpc>
            </a:pPr>
            <a:endParaRPr lang="en-GB" altLang="en-US" sz="2000"/>
          </a:p>
          <a:p>
            <a:pPr lvl="1" eaLnBrk="1" hangingPunct="1">
              <a:lnSpc>
                <a:spcPct val="80000"/>
              </a:lnSpc>
            </a:pPr>
            <a:endParaRPr lang="en-GB" altLang="en-US" sz="2000"/>
          </a:p>
          <a:p>
            <a:pPr lvl="1" eaLnBrk="1" hangingPunct="1">
              <a:lnSpc>
                <a:spcPct val="80000"/>
              </a:lnSpc>
            </a:pPr>
            <a:endParaRPr lang="en-GB" altLang="en-US" sz="2000"/>
          </a:p>
          <a:p>
            <a:pPr lvl="1" eaLnBrk="1" hangingPunct="1">
              <a:lnSpc>
                <a:spcPct val="80000"/>
              </a:lnSpc>
            </a:pPr>
            <a:endParaRPr lang="en-GB" altLang="en-US" sz="1200"/>
          </a:p>
          <a:p>
            <a:pPr eaLnBrk="1" hangingPunct="1">
              <a:lnSpc>
                <a:spcPct val="80000"/>
              </a:lnSpc>
            </a:pPr>
            <a:r>
              <a:rPr lang="en-GB" altLang="en-US" sz="2400" u="sng">
                <a:solidFill>
                  <a:srgbClr val="0000FF"/>
                </a:solidFill>
              </a:rPr>
              <a:t>Heavy Chain</a:t>
            </a:r>
          </a:p>
          <a:p>
            <a:pPr lvl="1" eaLnBrk="1" hangingPunct="1">
              <a:lnSpc>
                <a:spcPct val="80000"/>
              </a:lnSpc>
            </a:pPr>
            <a:r>
              <a:rPr lang="en-GB" altLang="en-US" sz="2000"/>
              <a:t>~100 V gene segment</a:t>
            </a:r>
          </a:p>
          <a:p>
            <a:pPr lvl="1" eaLnBrk="1" hangingPunct="1">
              <a:lnSpc>
                <a:spcPct val="80000"/>
              </a:lnSpc>
            </a:pPr>
            <a:r>
              <a:rPr lang="en-GB" altLang="en-US" sz="2000"/>
              <a:t>12 D gene segment</a:t>
            </a:r>
          </a:p>
          <a:p>
            <a:pPr lvl="1" eaLnBrk="1" hangingPunct="1">
              <a:lnSpc>
                <a:spcPct val="80000"/>
              </a:lnSpc>
            </a:pPr>
            <a:r>
              <a:rPr lang="en-GB" altLang="en-US" sz="2000"/>
              <a:t>4 J gene segment</a:t>
            </a:r>
          </a:p>
        </p:txBody>
      </p:sp>
      <p:pic>
        <p:nvPicPr>
          <p:cNvPr id="140292" name="Picture 5">
            <a:extLst>
              <a:ext uri="{FF2B5EF4-FFF2-40B4-BE49-F238E27FC236}">
                <a16:creationId xmlns:a16="http://schemas.microsoft.com/office/drawing/2014/main" id="{0396F632-DAB8-E0E3-00ED-ECBBA7F6FB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683" t="2966" r="20816" b="91585"/>
          <a:stretch>
            <a:fillRect/>
          </a:stretch>
        </p:blipFill>
        <p:spPr bwMode="auto">
          <a:xfrm>
            <a:off x="611188" y="1484313"/>
            <a:ext cx="8101012" cy="62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0293" name="Picture 6">
            <a:extLst>
              <a:ext uri="{FF2B5EF4-FFF2-40B4-BE49-F238E27FC236}">
                <a16:creationId xmlns:a16="http://schemas.microsoft.com/office/drawing/2014/main" id="{1A103A10-F7BF-FC94-442B-A16DF467CA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036" t="90451" b="2991"/>
          <a:stretch>
            <a:fillRect/>
          </a:stretch>
        </p:blipFill>
        <p:spPr bwMode="auto">
          <a:xfrm>
            <a:off x="179388" y="3789363"/>
            <a:ext cx="8964612"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0294" name="Text Box 7">
            <a:extLst>
              <a:ext uri="{FF2B5EF4-FFF2-40B4-BE49-F238E27FC236}">
                <a16:creationId xmlns:a16="http://schemas.microsoft.com/office/drawing/2014/main" id="{3068B6F8-4C6E-CB26-A5A7-36B5D5877652}"/>
              </a:ext>
            </a:extLst>
          </p:cNvPr>
          <p:cNvSpPr txBox="1">
            <a:spLocks noChangeArrowheads="1"/>
          </p:cNvSpPr>
          <p:nvPr/>
        </p:nvSpPr>
        <p:spPr bwMode="auto">
          <a:xfrm>
            <a:off x="4932363" y="2708275"/>
            <a:ext cx="18716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GB" altLang="en-US" sz="1800">
                <a:latin typeface="Verdana" panose="020B0604030504040204" pitchFamily="34" charset="0"/>
              </a:rPr>
              <a:t>4X300=1200</a:t>
            </a:r>
          </a:p>
        </p:txBody>
      </p:sp>
      <p:sp>
        <p:nvSpPr>
          <p:cNvPr id="140295" name="Text Box 8">
            <a:extLst>
              <a:ext uri="{FF2B5EF4-FFF2-40B4-BE49-F238E27FC236}">
                <a16:creationId xmlns:a16="http://schemas.microsoft.com/office/drawing/2014/main" id="{CAFFA059-ACB1-7A26-FE7C-F3A2A472787A}"/>
              </a:ext>
            </a:extLst>
          </p:cNvPr>
          <p:cNvSpPr txBox="1">
            <a:spLocks noChangeArrowheads="1"/>
          </p:cNvSpPr>
          <p:nvPr/>
        </p:nvSpPr>
        <p:spPr bwMode="auto">
          <a:xfrm>
            <a:off x="5364163" y="5157788"/>
            <a:ext cx="23764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GB" altLang="en-US" sz="1800">
                <a:latin typeface="Verdana" panose="020B0604030504040204" pitchFamily="34" charset="0"/>
              </a:rPr>
              <a:t>100X12X4=4800</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2338" name="Picture 2" descr="H:\Amjad Courses\BT451\Molecular Biology of the Gene images\watson_mm_jpg_chap011\chap011\11_Figure35.jpg">
            <a:extLst>
              <a:ext uri="{FF2B5EF4-FFF2-40B4-BE49-F238E27FC236}">
                <a16:creationId xmlns:a16="http://schemas.microsoft.com/office/drawing/2014/main" id="{422EDFA4-FD29-050D-99F4-C528090312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8600" y="44450"/>
            <a:ext cx="6273800" cy="672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a:extLst>
              <a:ext uri="{FF2B5EF4-FFF2-40B4-BE49-F238E27FC236}">
                <a16:creationId xmlns:a16="http://schemas.microsoft.com/office/drawing/2014/main" id="{FE9E47D8-D0A8-CA4E-DED2-0E71CA597D72}"/>
              </a:ext>
            </a:extLst>
          </p:cNvPr>
          <p:cNvSpPr>
            <a:spLocks noGrp="1" noChangeArrowheads="1"/>
          </p:cNvSpPr>
          <p:nvPr>
            <p:ph type="title"/>
          </p:nvPr>
        </p:nvSpPr>
        <p:spPr>
          <a:xfrm>
            <a:off x="468313" y="0"/>
            <a:ext cx="8229600" cy="908050"/>
          </a:xfrm>
        </p:spPr>
        <p:txBody>
          <a:bodyPr/>
          <a:lstStyle/>
          <a:p>
            <a:pPr eaLnBrk="1" hangingPunct="1"/>
            <a:r>
              <a:rPr lang="en-GB" altLang="en-US" b="1">
                <a:solidFill>
                  <a:srgbClr val="0000FF"/>
                </a:solidFill>
              </a:rPr>
              <a:t>Mechanism of Recombination</a:t>
            </a:r>
          </a:p>
        </p:txBody>
      </p:sp>
      <p:sp>
        <p:nvSpPr>
          <p:cNvPr id="144387" name="Rectangle 3">
            <a:extLst>
              <a:ext uri="{FF2B5EF4-FFF2-40B4-BE49-F238E27FC236}">
                <a16:creationId xmlns:a16="http://schemas.microsoft.com/office/drawing/2014/main" id="{1272B70F-5076-CC74-111D-07BC9C8F05B4}"/>
              </a:ext>
            </a:extLst>
          </p:cNvPr>
          <p:cNvSpPr>
            <a:spLocks noGrp="1" noChangeArrowheads="1"/>
          </p:cNvSpPr>
          <p:nvPr>
            <p:ph idx="1"/>
          </p:nvPr>
        </p:nvSpPr>
        <p:spPr>
          <a:xfrm>
            <a:off x="565150" y="1052513"/>
            <a:ext cx="8578850" cy="1728787"/>
          </a:xfrm>
        </p:spPr>
        <p:txBody>
          <a:bodyPr/>
          <a:lstStyle/>
          <a:p>
            <a:pPr eaLnBrk="1" hangingPunct="1"/>
            <a:r>
              <a:rPr lang="en-GB" altLang="en-US" sz="2400"/>
              <a:t>Fixed sequence at the boundaries of each segment called </a:t>
            </a:r>
            <a:r>
              <a:rPr lang="en-GB" altLang="en-US" sz="2400" b="1">
                <a:solidFill>
                  <a:srgbClr val="C00000"/>
                </a:solidFill>
              </a:rPr>
              <a:t>recombination signal sequences</a:t>
            </a:r>
          </a:p>
          <a:p>
            <a:pPr eaLnBrk="1" hangingPunct="1"/>
            <a:r>
              <a:rPr lang="en-GB" altLang="en-US" sz="2400"/>
              <a:t>Each consensus sequence consists of</a:t>
            </a:r>
            <a:r>
              <a:rPr lang="en-GB" altLang="en-US" sz="2400">
                <a:solidFill>
                  <a:srgbClr val="0000FF"/>
                </a:solidFill>
              </a:rPr>
              <a:t> </a:t>
            </a:r>
            <a:r>
              <a:rPr lang="en-GB" altLang="en-US" sz="2400" b="1">
                <a:solidFill>
                  <a:srgbClr val="C00000"/>
                </a:solidFill>
              </a:rPr>
              <a:t>heptamer</a:t>
            </a:r>
            <a:r>
              <a:rPr lang="en-GB" altLang="en-US" sz="2400">
                <a:solidFill>
                  <a:srgbClr val="C00000"/>
                </a:solidFill>
              </a:rPr>
              <a:t> </a:t>
            </a:r>
            <a:r>
              <a:rPr lang="en-GB" altLang="en-US" sz="2400"/>
              <a:t>separated by either </a:t>
            </a:r>
            <a:r>
              <a:rPr lang="en-GB" altLang="en-US" sz="2400" b="1">
                <a:solidFill>
                  <a:srgbClr val="C00000"/>
                </a:solidFill>
              </a:rPr>
              <a:t>12 or 23 </a:t>
            </a:r>
            <a:r>
              <a:rPr lang="en-GB" altLang="en-US" sz="2400"/>
              <a:t>bp from a </a:t>
            </a:r>
            <a:r>
              <a:rPr lang="en-GB" altLang="en-US" sz="2400" b="1">
                <a:solidFill>
                  <a:srgbClr val="C00000"/>
                </a:solidFill>
              </a:rPr>
              <a:t>nanomer</a:t>
            </a:r>
          </a:p>
          <a:p>
            <a:pPr eaLnBrk="1" hangingPunct="1"/>
            <a:endParaRPr lang="en-GB" altLang="en-US" sz="2400"/>
          </a:p>
        </p:txBody>
      </p:sp>
      <p:pic>
        <p:nvPicPr>
          <p:cNvPr id="144388" name="Picture 4">
            <a:extLst>
              <a:ext uri="{FF2B5EF4-FFF2-40B4-BE49-F238E27FC236}">
                <a16:creationId xmlns:a16="http://schemas.microsoft.com/office/drawing/2014/main" id="{A0DD826A-A89D-8433-F7AE-1893B786D1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16170"/>
          <a:stretch>
            <a:fillRect/>
          </a:stretch>
        </p:blipFill>
        <p:spPr bwMode="auto">
          <a:xfrm>
            <a:off x="1403350" y="3314700"/>
            <a:ext cx="6629400"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a:extLst>
              <a:ext uri="{FF2B5EF4-FFF2-40B4-BE49-F238E27FC236}">
                <a16:creationId xmlns:a16="http://schemas.microsoft.com/office/drawing/2014/main" id="{06A506FF-DB26-B084-1BB9-A008C6C6A12E}"/>
              </a:ext>
            </a:extLst>
          </p:cNvPr>
          <p:cNvSpPr>
            <a:spLocks noGrp="1" noChangeArrowheads="1"/>
          </p:cNvSpPr>
          <p:nvPr>
            <p:ph type="title"/>
          </p:nvPr>
        </p:nvSpPr>
        <p:spPr/>
        <p:txBody>
          <a:bodyPr/>
          <a:lstStyle/>
          <a:p>
            <a:pPr eaLnBrk="1" hangingPunct="1"/>
            <a:r>
              <a:rPr lang="en-GB" altLang="en-US">
                <a:solidFill>
                  <a:srgbClr val="0000FF"/>
                </a:solidFill>
              </a:rPr>
              <a:t>Mechanism of Recombination</a:t>
            </a:r>
          </a:p>
        </p:txBody>
      </p:sp>
      <p:sp>
        <p:nvSpPr>
          <p:cNvPr id="74755" name="Rectangle 3">
            <a:extLst>
              <a:ext uri="{FF2B5EF4-FFF2-40B4-BE49-F238E27FC236}">
                <a16:creationId xmlns:a16="http://schemas.microsoft.com/office/drawing/2014/main" id="{434B233B-7397-2C67-5BE1-282E20ADF67D}"/>
              </a:ext>
            </a:extLst>
          </p:cNvPr>
          <p:cNvSpPr>
            <a:spLocks noGrp="1" noChangeArrowheads="1"/>
          </p:cNvSpPr>
          <p:nvPr>
            <p:ph idx="1"/>
          </p:nvPr>
        </p:nvSpPr>
        <p:spPr>
          <a:xfrm>
            <a:off x="457200" y="1447800"/>
            <a:ext cx="8229600" cy="1620838"/>
          </a:xfrm>
          <a:solidFill>
            <a:schemeClr val="bg1">
              <a:lumMod val="95000"/>
            </a:schemeClr>
          </a:solidFill>
        </p:spPr>
        <p:txBody>
          <a:bodyPr/>
          <a:lstStyle/>
          <a:p>
            <a:pPr eaLnBrk="1" hangingPunct="1">
              <a:buFont typeface="Wingdings" pitchFamily="2" charset="2"/>
              <a:buNone/>
              <a:defRPr/>
            </a:pPr>
            <a:r>
              <a:rPr lang="en-GB" b="1" dirty="0">
                <a:solidFill>
                  <a:srgbClr val="0000FF"/>
                </a:solidFill>
              </a:rPr>
              <a:t>Recombination Rule:</a:t>
            </a:r>
          </a:p>
          <a:p>
            <a:pPr eaLnBrk="1" hangingPunct="1">
              <a:buFont typeface="Wingdings" pitchFamily="2" charset="2"/>
              <a:buNone/>
              <a:defRPr/>
            </a:pPr>
            <a:r>
              <a:rPr lang="en-GB" sz="2400" b="1" i="1" dirty="0">
                <a:solidFill>
                  <a:srgbClr val="C00000"/>
                </a:solidFill>
              </a:rPr>
              <a:t>A sequence with one type of spacing can be joined only to a sequence with the other type of spacing</a:t>
            </a:r>
          </a:p>
          <a:p>
            <a:pPr eaLnBrk="1" hangingPunct="1">
              <a:buFont typeface="Arial" charset="0"/>
              <a:buChar char="•"/>
              <a:defRPr/>
            </a:pPr>
            <a:endParaRPr lang="en-GB" sz="2400" dirty="0"/>
          </a:p>
        </p:txBody>
      </p:sp>
      <p:pic>
        <p:nvPicPr>
          <p:cNvPr id="146436" name="Picture 4">
            <a:extLst>
              <a:ext uri="{FF2B5EF4-FFF2-40B4-BE49-F238E27FC236}">
                <a16:creationId xmlns:a16="http://schemas.microsoft.com/office/drawing/2014/main" id="{0572AE4A-299F-66E0-7436-2CF1F00645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14015"/>
          <a:stretch>
            <a:fillRect/>
          </a:stretch>
        </p:blipFill>
        <p:spPr bwMode="auto">
          <a:xfrm>
            <a:off x="1981200" y="3375025"/>
            <a:ext cx="6248400" cy="348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a:extLst>
              <a:ext uri="{FF2B5EF4-FFF2-40B4-BE49-F238E27FC236}">
                <a16:creationId xmlns:a16="http://schemas.microsoft.com/office/drawing/2014/main" id="{15AACEA9-8F65-E788-1B1F-588A7AF18A66}"/>
              </a:ext>
            </a:extLst>
          </p:cNvPr>
          <p:cNvSpPr>
            <a:spLocks noGrp="1" noChangeArrowheads="1"/>
          </p:cNvSpPr>
          <p:nvPr>
            <p:ph type="title"/>
          </p:nvPr>
        </p:nvSpPr>
        <p:spPr>
          <a:xfrm>
            <a:off x="395288" y="0"/>
            <a:ext cx="3529012" cy="908050"/>
          </a:xfrm>
        </p:spPr>
        <p:txBody>
          <a:bodyPr/>
          <a:lstStyle/>
          <a:p>
            <a:pPr eaLnBrk="1" hangingPunct="1"/>
            <a:r>
              <a:rPr lang="en-GB" altLang="en-US" sz="3200" b="1">
                <a:solidFill>
                  <a:srgbClr val="0000FF"/>
                </a:solidFill>
              </a:rPr>
              <a:t>Mechanism of Recombination</a:t>
            </a:r>
          </a:p>
        </p:txBody>
      </p:sp>
      <p:sp>
        <p:nvSpPr>
          <p:cNvPr id="148483" name="Content Placeholder 9">
            <a:extLst>
              <a:ext uri="{FF2B5EF4-FFF2-40B4-BE49-F238E27FC236}">
                <a16:creationId xmlns:a16="http://schemas.microsoft.com/office/drawing/2014/main" id="{84561F11-8766-C065-438E-CF07A21CEF92}"/>
              </a:ext>
            </a:extLst>
          </p:cNvPr>
          <p:cNvSpPr>
            <a:spLocks noGrp="1"/>
          </p:cNvSpPr>
          <p:nvPr>
            <p:ph idx="1"/>
          </p:nvPr>
        </p:nvSpPr>
        <p:spPr>
          <a:xfrm>
            <a:off x="107950" y="981075"/>
            <a:ext cx="3640138" cy="5718175"/>
          </a:xfrm>
        </p:spPr>
        <p:txBody>
          <a:bodyPr/>
          <a:lstStyle/>
          <a:p>
            <a:r>
              <a:rPr lang="en-US" altLang="en-US" sz="2000"/>
              <a:t>The similarities between the mechanism of DNA cleavage to initiate V(D)J recombination and transposon excision are remarkable</a:t>
            </a:r>
          </a:p>
          <a:p>
            <a:r>
              <a:rPr lang="en-US" altLang="en-US" sz="2000"/>
              <a:t>Recombination signal and the RAG1 and RAG2 proteins has some </a:t>
            </a:r>
            <a:r>
              <a:rPr lang="en-US" altLang="en-US" sz="2000">
                <a:solidFill>
                  <a:srgbClr val="0000FF"/>
                </a:solidFill>
              </a:rPr>
              <a:t>sequence similarity to the DDE transposase </a:t>
            </a:r>
            <a:r>
              <a:rPr lang="en-US" altLang="en-US" sz="2000"/>
              <a:t>protein family</a:t>
            </a:r>
          </a:p>
          <a:p>
            <a:r>
              <a:rPr lang="en-US" altLang="en-US" sz="2000"/>
              <a:t>Recent genomic analysis uncovered a transposon family called </a:t>
            </a:r>
            <a:r>
              <a:rPr lang="en-US" altLang="en-US" sz="2000" i="1">
                <a:solidFill>
                  <a:srgbClr val="0000FF"/>
                </a:solidFill>
              </a:rPr>
              <a:t>Transib</a:t>
            </a:r>
            <a:r>
              <a:rPr lang="en-US" altLang="en-US" sz="2000">
                <a:solidFill>
                  <a:srgbClr val="0000FF"/>
                </a:solidFill>
              </a:rPr>
              <a:t> that are the likely source of both RAG1 and the recombination signal sequence </a:t>
            </a:r>
          </a:p>
          <a:p>
            <a:r>
              <a:rPr lang="en-US" altLang="en-US" sz="1600" b="1">
                <a:solidFill>
                  <a:srgbClr val="C00000"/>
                </a:solidFill>
              </a:rPr>
              <a:t>RAG: recombination activating gene</a:t>
            </a:r>
          </a:p>
          <a:p>
            <a:endParaRPr lang="en-US" altLang="en-US" sz="2000"/>
          </a:p>
          <a:p>
            <a:endParaRPr lang="en-US" altLang="en-US" sz="2000"/>
          </a:p>
        </p:txBody>
      </p:sp>
      <p:grpSp>
        <p:nvGrpSpPr>
          <p:cNvPr id="148484" name="Group 7">
            <a:extLst>
              <a:ext uri="{FF2B5EF4-FFF2-40B4-BE49-F238E27FC236}">
                <a16:creationId xmlns:a16="http://schemas.microsoft.com/office/drawing/2014/main" id="{236517F5-60CD-6BC5-4FEB-99BE068D7FFC}"/>
              </a:ext>
            </a:extLst>
          </p:cNvPr>
          <p:cNvGrpSpPr>
            <a:grpSpLocks/>
          </p:cNvGrpSpPr>
          <p:nvPr/>
        </p:nvGrpSpPr>
        <p:grpSpPr bwMode="auto">
          <a:xfrm>
            <a:off x="3890963" y="115888"/>
            <a:ext cx="5176837" cy="6583362"/>
            <a:chOff x="3759696" y="116632"/>
            <a:chExt cx="5176665" cy="6583363"/>
          </a:xfrm>
        </p:grpSpPr>
        <p:pic>
          <p:nvPicPr>
            <p:cNvPr id="148485" name="Picture 7" descr="H:\Amjad Courses\BT451\Molecular Biology of the Gene images\watson_mm_jpg_chap011\chap011\11_Figure37.jpg">
              <a:extLst>
                <a:ext uri="{FF2B5EF4-FFF2-40B4-BE49-F238E27FC236}">
                  <a16:creationId xmlns:a16="http://schemas.microsoft.com/office/drawing/2014/main" id="{A3B8AC72-C7DF-CD9B-0C33-6B52A77971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1920" y="116632"/>
              <a:ext cx="4724400" cy="658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8486" name="Text Box 5">
              <a:extLst>
                <a:ext uri="{FF2B5EF4-FFF2-40B4-BE49-F238E27FC236}">
                  <a16:creationId xmlns:a16="http://schemas.microsoft.com/office/drawing/2014/main" id="{60D71C5C-C9D2-97B8-B8A4-0A5E161EF32D}"/>
                </a:ext>
              </a:extLst>
            </p:cNvPr>
            <p:cNvSpPr txBox="1">
              <a:spLocks noChangeArrowheads="1"/>
            </p:cNvSpPr>
            <p:nvPr/>
          </p:nvSpPr>
          <p:spPr bwMode="auto">
            <a:xfrm>
              <a:off x="3759696" y="2270869"/>
              <a:ext cx="1676344" cy="277813"/>
            </a:xfrm>
            <a:prstGeom prst="rect">
              <a:avLst/>
            </a:prstGeom>
            <a:solidFill>
              <a:schemeClr val="accent6">
                <a:lumMod val="40000"/>
                <a:lumOff val="60000"/>
              </a:schemeClr>
            </a:solidFill>
            <a:ln w="19050">
              <a:solidFill>
                <a:srgbClr val="FF0000"/>
              </a:solidFill>
              <a:miter lim="800000"/>
              <a:headEnd/>
              <a:tailEnd/>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defRPr/>
              </a:pPr>
              <a:r>
                <a:rPr lang="en-US" altLang="en-US" sz="1200" b="1" dirty="0">
                  <a:latin typeface="Arial" panose="020B0604020202020204" pitchFamily="34" charset="0"/>
                </a:rPr>
                <a:t>transesterification</a:t>
              </a:r>
              <a:endParaRPr lang="en-GB" altLang="en-US" sz="1200" b="1" dirty="0">
                <a:latin typeface="Arial" panose="020B0604020202020204" pitchFamily="34" charset="0"/>
              </a:endParaRPr>
            </a:p>
          </p:txBody>
        </p:sp>
        <p:sp>
          <p:nvSpPr>
            <p:cNvPr id="148487" name="Rectangle 6">
              <a:extLst>
                <a:ext uri="{FF2B5EF4-FFF2-40B4-BE49-F238E27FC236}">
                  <a16:creationId xmlns:a16="http://schemas.microsoft.com/office/drawing/2014/main" id="{F3153CCA-1A0D-5A63-8ECE-037BC8F3FFC5}"/>
                </a:ext>
              </a:extLst>
            </p:cNvPr>
            <p:cNvSpPr>
              <a:spLocks noChangeArrowheads="1"/>
            </p:cNvSpPr>
            <p:nvPr/>
          </p:nvSpPr>
          <p:spPr bwMode="auto">
            <a:xfrm>
              <a:off x="7596336" y="4365104"/>
              <a:ext cx="990600" cy="106680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Verdana" panose="020B0604030504040204" pitchFamily="34" charset="0"/>
              </a:endParaRPr>
            </a:p>
          </p:txBody>
        </p:sp>
        <p:sp>
          <p:nvSpPr>
            <p:cNvPr id="148488" name="TextBox 6">
              <a:extLst>
                <a:ext uri="{FF2B5EF4-FFF2-40B4-BE49-F238E27FC236}">
                  <a16:creationId xmlns:a16="http://schemas.microsoft.com/office/drawing/2014/main" id="{2A6B286B-2237-2525-E8E0-1EB124DBE0F4}"/>
                </a:ext>
              </a:extLst>
            </p:cNvPr>
            <p:cNvSpPr txBox="1">
              <a:spLocks noChangeArrowheads="1"/>
            </p:cNvSpPr>
            <p:nvPr/>
          </p:nvSpPr>
          <p:spPr bwMode="auto">
            <a:xfrm>
              <a:off x="7647354" y="1016744"/>
              <a:ext cx="1289007" cy="276225"/>
            </a:xfrm>
            <a:prstGeom prst="rect">
              <a:avLst/>
            </a:prstGeom>
            <a:solidFill>
              <a:schemeClr val="accent6">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defRPr/>
              </a:pPr>
              <a:r>
                <a:rPr lang="en-US" altLang="en-US" sz="1200" b="1" dirty="0">
                  <a:solidFill>
                    <a:srgbClr val="0000FF"/>
                  </a:solidFill>
                  <a:latin typeface="Verdana" panose="020B0604030504040204" pitchFamily="34" charset="0"/>
                </a:rPr>
                <a:t>recombinase</a:t>
              </a:r>
            </a:p>
          </p:txBody>
        </p:sp>
      </p:gr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Title 1">
            <a:extLst>
              <a:ext uri="{FF2B5EF4-FFF2-40B4-BE49-F238E27FC236}">
                <a16:creationId xmlns:a16="http://schemas.microsoft.com/office/drawing/2014/main" id="{20EE5BF5-F7AA-83BA-7D64-311944860CC1}"/>
              </a:ext>
            </a:extLst>
          </p:cNvPr>
          <p:cNvSpPr>
            <a:spLocks noGrp="1"/>
          </p:cNvSpPr>
          <p:nvPr>
            <p:ph type="title"/>
          </p:nvPr>
        </p:nvSpPr>
        <p:spPr>
          <a:xfrm>
            <a:off x="684213" y="2276475"/>
            <a:ext cx="8229600" cy="1143000"/>
          </a:xfrm>
        </p:spPr>
        <p:txBody>
          <a:bodyPr/>
          <a:lstStyle/>
          <a:p>
            <a:pPr eaLnBrk="1" hangingPunct="1"/>
            <a:r>
              <a:rPr lang="en-US" altLang="en-US">
                <a:solidFill>
                  <a:srgbClr val="0000FF"/>
                </a:solidFill>
              </a:rPr>
              <a:t>END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84" charset="0"/>
          </a:defRPr>
        </a:defPPr>
      </a:lstStyle>
    </a:spDef>
    <a:ln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84"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15926</TotalTime>
  <Words>3557</Words>
  <Application>Microsoft Macintosh PowerPoint</Application>
  <PresentationFormat>On-screen Show (4:3)</PresentationFormat>
  <Paragraphs>445</Paragraphs>
  <Slides>73</Slides>
  <Notes>70</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73</vt:i4>
      </vt:variant>
    </vt:vector>
  </HeadingPairs>
  <TitlesOfParts>
    <vt:vector size="85" baseType="lpstr">
      <vt:lpstr>AdvOT35524981.B</vt:lpstr>
      <vt:lpstr>AdvOTa88ee647</vt:lpstr>
      <vt:lpstr>Arial</vt:lpstr>
      <vt:lpstr>Calibri</vt:lpstr>
      <vt:lpstr>Comic Sans MS</vt:lpstr>
      <vt:lpstr>Symbol</vt:lpstr>
      <vt:lpstr>Times</vt:lpstr>
      <vt:lpstr>Times New Roman</vt:lpstr>
      <vt:lpstr>Verdana</vt:lpstr>
      <vt:lpstr>Wingdings</vt:lpstr>
      <vt:lpstr>Office Theme</vt:lpstr>
      <vt:lpstr>Blank</vt:lpstr>
      <vt:lpstr>Site-specific recombination and transposition of DNA</vt:lpstr>
      <vt:lpstr>Two classes of genetic recombination</vt:lpstr>
      <vt:lpstr>PowerPoint Presentation</vt:lpstr>
      <vt:lpstr>Conservative site specific recombination (CSSR)</vt:lpstr>
      <vt:lpstr>Recombination Sites</vt:lpstr>
      <vt:lpstr>Polarity of Recombination Sites</vt:lpstr>
      <vt:lpstr>PowerPoint Presentation</vt:lpstr>
      <vt:lpstr>Conservative Site-Specific Recombination (CSSR) can generate 3 different types of DNA rearrangements:</vt:lpstr>
      <vt:lpstr>Figure 12-3</vt:lpstr>
      <vt:lpstr>Recombinase Mechanism</vt:lpstr>
      <vt:lpstr>Table 12-1</vt:lpstr>
      <vt:lpstr>Serine Recombinases introduce DSB in DNA then swap strands to promote recombination</vt:lpstr>
      <vt:lpstr>Serine Recombinases</vt:lpstr>
      <vt:lpstr>Tyrosine Recombinases  break and rejoin one pair of DNA strands at time to form heterodulpex and Holiday junction.</vt:lpstr>
      <vt:lpstr>Tyrosine Recombinase : Cre Recombinase </vt:lpstr>
      <vt:lpstr>PowerPoint Presentation</vt:lpstr>
      <vt:lpstr>Figure 12-9</vt:lpstr>
      <vt:lpstr>Biological Roles of Site Specific Recombination</vt:lpstr>
      <vt:lpstr>Conservative Site Specific Recombination</vt:lpstr>
      <vt:lpstr>I-Integration of  Phage</vt:lpstr>
      <vt:lpstr>Integration of  Phage Genome in Bacterial Chromosome</vt:lpstr>
      <vt:lpstr>lInt and IHF stabilize bent DNA</vt:lpstr>
      <vt:lpstr>PowerPoint Presentation</vt:lpstr>
      <vt:lpstr>II-Expression of Alternative Genes programmed rearrangements</vt:lpstr>
      <vt:lpstr>PowerPoint Presentation</vt:lpstr>
      <vt:lpstr>Phase variation in Salmonella H antigens</vt:lpstr>
      <vt:lpstr>PowerPoint Presentation</vt:lpstr>
      <vt:lpstr>Hin inversion rate increased by enhancers</vt:lpstr>
      <vt:lpstr>III- Maintain integrity of circular DNA molecules</vt:lpstr>
      <vt:lpstr>TRANSPOSITION</vt:lpstr>
      <vt:lpstr>PowerPoint Presentation</vt:lpstr>
      <vt:lpstr>PowerPoint Presentation</vt:lpstr>
      <vt:lpstr>Transposons in Several Genomes</vt:lpstr>
      <vt:lpstr>Classes of Transposable Elements</vt:lpstr>
      <vt:lpstr>PowerPoint Presentation</vt:lpstr>
      <vt:lpstr>Mechanisms of DNA Transposition</vt:lpstr>
      <vt:lpstr>Cut and paste mechanism of transposition</vt:lpstr>
      <vt:lpstr>DNA strand transfer</vt:lpstr>
      <vt:lpstr>Three Mechanisms for Cleaving the Non-transferred Strand</vt:lpstr>
      <vt:lpstr>What makes DNA direct repeats?</vt:lpstr>
      <vt:lpstr>PowerPoint Presentation</vt:lpstr>
      <vt:lpstr>PowerPoint Presentation</vt:lpstr>
      <vt:lpstr>II- Viral-like Retrotranposons (retroviruses)</vt:lpstr>
      <vt:lpstr>Retrotransposition  </vt:lpstr>
      <vt:lpstr>Mechanism of retroviral transposition</vt:lpstr>
      <vt:lpstr>DNA Transposases and retroviral integrases are members of the same protein superfamily</vt:lpstr>
      <vt:lpstr>Figure 12-25</vt:lpstr>
      <vt:lpstr>III- Poly-A Retrotranposons Target site primed reverse transcription </vt:lpstr>
      <vt:lpstr>LINE poly-A Retrotransposon Movement by target-site-directed splicing mechanism</vt:lpstr>
      <vt:lpstr>PowerPoint Presentation</vt:lpstr>
      <vt:lpstr>Examples of Transposable Elements and Their Regulation</vt:lpstr>
      <vt:lpstr>Regulation of transposons</vt:lpstr>
      <vt:lpstr>Table 12-2</vt:lpstr>
      <vt:lpstr>IS4-family (Tn10)</vt:lpstr>
      <vt:lpstr>Composite Transposon</vt:lpstr>
      <vt:lpstr>Control of transposase expression</vt:lpstr>
      <vt:lpstr>Antisense Copy Control</vt:lpstr>
      <vt:lpstr>Mu Phage: example of target sequence control</vt:lpstr>
      <vt:lpstr>Mu Transposition</vt:lpstr>
      <vt:lpstr>Transposition target immunity</vt:lpstr>
      <vt:lpstr>Tc1/Mariner Element</vt:lpstr>
      <vt:lpstr>Ty Elements (transposon in yeast) </vt:lpstr>
      <vt:lpstr>Clustered integration sites observed  for Ty elements</vt:lpstr>
      <vt:lpstr>LINE (Long interspersed nuclear element) SINE (Short interspersed nuclear element)</vt:lpstr>
      <vt:lpstr>How LINEs avoid transposing cellular mRNA molecules?</vt:lpstr>
      <vt:lpstr>Antibodies</vt:lpstr>
      <vt:lpstr>PowerPoint Presentation</vt:lpstr>
      <vt:lpstr>V(D)J Recombination</vt:lpstr>
      <vt:lpstr>PowerPoint Presentation</vt:lpstr>
      <vt:lpstr>Mechanism of Recombination</vt:lpstr>
      <vt:lpstr>Mechanism of Recombination</vt:lpstr>
      <vt:lpstr>Mechanism of Recombination</vt:lpstr>
      <vt:lpstr>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Biological Roles of Site Specific Recombination</dc:title>
  <dc:creator>Firas</dc:creator>
  <cp:lastModifiedBy>Laith Al-Eitan</cp:lastModifiedBy>
  <cp:revision>269</cp:revision>
  <dcterms:created xsi:type="dcterms:W3CDTF">2006-03-27T15:04:45Z</dcterms:created>
  <dcterms:modified xsi:type="dcterms:W3CDTF">2024-12-01T12:10:27Z</dcterms:modified>
</cp:coreProperties>
</file>