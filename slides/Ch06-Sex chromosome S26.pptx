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7" r:id="rId2"/>
    <p:sldId id="258" r:id="rId3"/>
    <p:sldId id="262" r:id="rId4"/>
    <p:sldId id="259" r:id="rId5"/>
    <p:sldId id="260" r:id="rId6"/>
    <p:sldId id="261" r:id="rId7"/>
    <p:sldId id="284" r:id="rId8"/>
    <p:sldId id="283" r:id="rId9"/>
    <p:sldId id="264" r:id="rId10"/>
    <p:sldId id="265" r:id="rId11"/>
    <p:sldId id="266" r:id="rId12"/>
    <p:sldId id="268" r:id="rId13"/>
    <p:sldId id="270" r:id="rId14"/>
    <p:sldId id="267" r:id="rId15"/>
    <p:sldId id="269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1" r:id="rId25"/>
    <p:sldId id="280" r:id="rId26"/>
    <p:sldId id="282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15" autoAdjust="0"/>
    <p:restoredTop sz="94660"/>
  </p:normalViewPr>
  <p:slideViewPr>
    <p:cSldViewPr>
      <p:cViewPr varScale="1">
        <p:scale>
          <a:sx n="88" d="100"/>
          <a:sy n="88" d="100"/>
        </p:scale>
        <p:origin x="108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07135-A926-456D-A22B-8B0EA8821851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25A65B-9517-4412-ACCD-DA06CA188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654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B09E4F-EF7C-49C2-9275-83ED55F3459E}" type="slidenum">
              <a:rPr lang="en-US"/>
              <a:pPr/>
              <a:t>13</a:t>
            </a:fld>
            <a:endParaRPr lang="en-US"/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/>
              <a:t>14_10.jpg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F585-4C7D-4455-8439-F971C5BE43F5}" type="datetime12">
              <a:rPr lang="en-US" smtClean="0"/>
              <a:t>7:41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677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3ED04-764A-4A3E-B352-48CB2B04E900}" type="datetime12">
              <a:rPr lang="en-US" smtClean="0"/>
              <a:t>7:41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489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0ED6F-4178-477B-8F03-E9B597DAF15B}" type="datetime12">
              <a:rPr lang="en-US" smtClean="0"/>
              <a:t>7:41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14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A6A4E-D008-4218-8FCD-8C9C59041B67}" type="datetime12">
              <a:rPr lang="en-US" smtClean="0"/>
              <a:t>7:41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30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7EDA-7B42-446D-A1D1-9F1180CFA0FC}" type="datetime12">
              <a:rPr lang="en-US" smtClean="0"/>
              <a:t>7:41 PM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97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F6E98-BA5D-4282-806C-837A6093527D}" type="datetime12">
              <a:rPr lang="en-US" smtClean="0"/>
              <a:t>7:41 PM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186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A11A7-E696-42B6-A59C-E81A93CC50E0}" type="datetime12">
              <a:rPr lang="en-US" smtClean="0"/>
              <a:t>7:41 PM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438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3264F-3B25-47AF-90B0-BF471C3518BF}" type="datetime12">
              <a:rPr lang="en-US" smtClean="0"/>
              <a:t>7:41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32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0BCC5-A964-4903-980F-D809604C4D8E}" type="datetime12">
              <a:rPr lang="en-US" smtClean="0"/>
              <a:t>7:41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54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3A1C8-C769-44F1-BC18-D1061EAE0652}" type="datetime12">
              <a:rPr lang="en-US" smtClean="0"/>
              <a:t>7:41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206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2478C-0938-4A47-A9DC-A95CFC2F66D7}" type="datetime12">
              <a:rPr lang="en-US" smtClean="0"/>
              <a:t>7:41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942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6CEBF-1FAB-40EB-B040-8A105AC70286}" type="datetime12">
              <a:rPr lang="en-US" smtClean="0"/>
              <a:t>7:41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1102BA-93FF-4E84-899E-5516C8761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485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846" y="25146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/>
              <a:t>Sex chromosome translocations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B15E-3053-4EB6-B6B6-651EE13125B6}" type="datetime12">
              <a:rPr lang="en-US" smtClean="0"/>
              <a:t>7:41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795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52400"/>
            <a:ext cx="8763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X-inactivation</a:t>
            </a:r>
          </a:p>
          <a:p>
            <a:endParaRPr lang="en-US" sz="2400" dirty="0" smtClean="0"/>
          </a:p>
          <a:p>
            <a:r>
              <a:rPr lang="en-US" sz="2400" dirty="0" smtClean="0"/>
              <a:t>Transcriptional silencing</a:t>
            </a:r>
          </a:p>
          <a:p>
            <a:r>
              <a:rPr lang="en-US" sz="2400" dirty="0" smtClean="0"/>
              <a:t>Facultative inactivation</a:t>
            </a:r>
          </a:p>
          <a:p>
            <a:r>
              <a:rPr lang="en-US" sz="2400" dirty="0" err="1" smtClean="0"/>
              <a:t>Lyonization</a:t>
            </a:r>
            <a:endParaRPr lang="en-US" sz="2400" dirty="0" smtClean="0"/>
          </a:p>
          <a:p>
            <a:r>
              <a:rPr lang="en-US" sz="2400" dirty="0" smtClean="0"/>
              <a:t>Dosage compensation</a:t>
            </a:r>
          </a:p>
          <a:p>
            <a:r>
              <a:rPr lang="en-US" sz="2400" dirty="0" smtClean="0"/>
              <a:t>Functional monosomy</a:t>
            </a:r>
          </a:p>
          <a:p>
            <a:endParaRPr lang="en-US" sz="2400" dirty="0"/>
          </a:p>
          <a:p>
            <a:r>
              <a:rPr lang="en-US" sz="2400" dirty="0" smtClean="0"/>
              <a:t>Very early in embryonic  development, X chromosome in every cell is randomly genetically inactivated</a:t>
            </a:r>
          </a:p>
          <a:p>
            <a:r>
              <a:rPr lang="en-US" sz="2400" dirty="0" smtClean="0"/>
              <a:t>In all descendent progeny cells, same X chromosome remain inactive </a:t>
            </a: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2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45A2D-C17C-44C3-BCD3-16684BE43387}" type="datetime12">
              <a:rPr lang="en-US" smtClean="0"/>
              <a:t>7:41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2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8763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Transcriptional silencing is initiated at an X-inactivation center (XIC) in Xq13</a:t>
            </a:r>
          </a:p>
          <a:p>
            <a:endParaRPr lang="en-US" sz="2400" dirty="0"/>
          </a:p>
          <a:p>
            <a:r>
              <a:rPr lang="en-US" sz="2400" dirty="0" smtClean="0"/>
              <a:t>Within XIC is a gene </a:t>
            </a:r>
            <a:r>
              <a:rPr lang="en-US" sz="2400" i="1" dirty="0" smtClean="0"/>
              <a:t>XIST</a:t>
            </a:r>
            <a:r>
              <a:rPr lang="en-US" sz="2400" dirty="0" smtClean="0"/>
              <a:t> (X inactive specific transcript) that is </a:t>
            </a:r>
            <a:r>
              <a:rPr lang="en-US" sz="2400" dirty="0" err="1" smtClean="0"/>
              <a:t>cis</a:t>
            </a:r>
            <a:r>
              <a:rPr lang="en-US" sz="2400" dirty="0" smtClean="0"/>
              <a:t>-acting, transcribed only from the inactivated X</a:t>
            </a:r>
          </a:p>
          <a:p>
            <a:endParaRPr lang="en-US" sz="2400" dirty="0"/>
          </a:p>
          <a:p>
            <a:r>
              <a:rPr lang="en-US" sz="2400" dirty="0" smtClean="0"/>
              <a:t>XIST produces no protein, just RNA that “coats” the X chromatin</a:t>
            </a:r>
          </a:p>
          <a:p>
            <a:endParaRPr lang="en-US" sz="2400" dirty="0"/>
          </a:p>
          <a:p>
            <a:r>
              <a:rPr lang="en-US" sz="2400" dirty="0" smtClean="0"/>
              <a:t>Normal women can have skewed X inactivation</a:t>
            </a:r>
          </a:p>
          <a:p>
            <a:endParaRPr lang="en-US" sz="2400" dirty="0"/>
          </a:p>
          <a:p>
            <a:r>
              <a:rPr lang="en-US" sz="2400" dirty="0" smtClean="0"/>
              <a:t>The inactive X replicates late during cell cycle</a:t>
            </a:r>
          </a:p>
          <a:p>
            <a:endParaRPr lang="en-US" sz="2400" dirty="0"/>
          </a:p>
          <a:p>
            <a:r>
              <a:rPr lang="en-US" sz="2400" dirty="0" smtClean="0"/>
              <a:t>An obligate recombination event occurs in the PAR1</a:t>
            </a: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3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AFD46-4AEB-49D5-A329-78D1469E35BD}" type="datetime12">
              <a:rPr lang="en-US" smtClean="0"/>
              <a:t>7:41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24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p\Documents\My Scans\scan0045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9" t="1778" r="6614" b="1424"/>
          <a:stretch/>
        </p:blipFill>
        <p:spPr bwMode="auto">
          <a:xfrm>
            <a:off x="0" y="0"/>
            <a:ext cx="915333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4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F5504-31AA-4073-94ED-6C5AC981F7A1}" type="datetime12">
              <a:rPr lang="en-US" smtClean="0"/>
              <a:t>7:41 PM</a:t>
            </a:fld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2819400" y="2133600"/>
            <a:ext cx="2133600" cy="304800"/>
          </a:xfrm>
          <a:prstGeom prst="round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239000" y="457200"/>
            <a:ext cx="533400" cy="304800"/>
          </a:xfrm>
          <a:prstGeom prst="round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3048000" y="152400"/>
            <a:ext cx="2743200" cy="609600"/>
          </a:xfrm>
          <a:prstGeom prst="round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2971800" y="4114800"/>
            <a:ext cx="2971800" cy="685800"/>
          </a:xfrm>
          <a:prstGeom prst="round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859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p\Documents\My Scans\scan0046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" r="1785" b="1596"/>
          <a:stretch/>
        </p:blipFill>
        <p:spPr bwMode="auto">
          <a:xfrm>
            <a:off x="0" y="0"/>
            <a:ext cx="807516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52400" y="76200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Female X-autosomal heterozygote</a:t>
            </a:r>
            <a:endParaRPr lang="en-US" sz="24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5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5943600" y="6019800"/>
            <a:ext cx="2057400" cy="228600"/>
          </a:xfrm>
          <a:prstGeom prst="round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2177" y="6083299"/>
            <a:ext cx="2057400" cy="265249"/>
          </a:xfrm>
          <a:prstGeom prst="round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048000" y="6248400"/>
            <a:ext cx="4419600" cy="228600"/>
          </a:xfrm>
          <a:prstGeom prst="round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369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p\Documents\My Scans\scan0047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3" t="1605" r="2112" b="1711"/>
          <a:stretch/>
        </p:blipFill>
        <p:spPr bwMode="auto">
          <a:xfrm>
            <a:off x="0" y="-39189"/>
            <a:ext cx="9144000" cy="640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6</a:t>
            </a:fld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3276600" y="5715000"/>
            <a:ext cx="36576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78DE2-976B-458D-8F3A-6BCB504D0707}" type="datetime12">
              <a:rPr lang="en-US" smtClean="0"/>
              <a:t>7:41 PM</a:t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0" y="5257800"/>
            <a:ext cx="1600200" cy="228600"/>
          </a:xfrm>
          <a:prstGeom prst="round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0" y="6040991"/>
            <a:ext cx="1828800" cy="207409"/>
          </a:xfrm>
          <a:prstGeom prst="round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2667000" y="3581400"/>
            <a:ext cx="5257800" cy="228600"/>
          </a:xfrm>
          <a:prstGeom prst="round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7058297" y="3886200"/>
            <a:ext cx="1600200" cy="228600"/>
          </a:xfrm>
          <a:prstGeom prst="round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4354" y="4134104"/>
            <a:ext cx="2281646" cy="209296"/>
          </a:xfrm>
          <a:prstGeom prst="round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0" y="3105404"/>
            <a:ext cx="1447800" cy="247396"/>
          </a:xfrm>
          <a:prstGeom prst="round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2667000" y="3872974"/>
            <a:ext cx="762000" cy="241826"/>
          </a:xfrm>
          <a:prstGeom prst="round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6553200" y="4151404"/>
            <a:ext cx="990600" cy="191996"/>
          </a:xfrm>
          <a:prstGeom prst="round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22177" y="384859"/>
            <a:ext cx="1236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Normal phenotype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22177" y="1795929"/>
            <a:ext cx="1236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Abnormal phenotype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802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7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600" y="228600"/>
            <a:ext cx="8686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Measuring inactivation status</a:t>
            </a:r>
          </a:p>
          <a:p>
            <a:endParaRPr lang="en-US" sz="2400" dirty="0" smtClean="0"/>
          </a:p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2400" dirty="0" smtClean="0"/>
              <a:t>Assessed either cytogenetically (replication banding) which differentiates between early replicating (active) and late replicating (inactive) X chromosome</a:t>
            </a:r>
          </a:p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2400" dirty="0" smtClean="0"/>
              <a:t>Or using molecular methodologies mostly by testing methylation of androgen receptor </a:t>
            </a:r>
            <a:r>
              <a:rPr lang="en-US" sz="2400" dirty="0" smtClean="0"/>
              <a:t>locus</a:t>
            </a:r>
          </a:p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X-inactivation might differ by </a:t>
            </a:r>
            <a:r>
              <a:rPr lang="en-US" sz="2400" dirty="0" smtClean="0"/>
              <a:t>tissue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FE866-F1E4-4EBA-A3C0-68F0272FD4FC}" type="datetime12">
              <a:rPr lang="en-US" smtClean="0"/>
              <a:t>10:06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9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74366" y="1150068"/>
            <a:ext cx="6705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Breakage and reunion within critical regions (CR1/POF2 and CR2/POF1) is associated with premature ovarian failure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Most of the time </a:t>
            </a:r>
            <a:r>
              <a:rPr lang="en-US" sz="2400" dirty="0" smtClean="0">
                <a:solidFill>
                  <a:srgbClr val="0070C0"/>
                </a:solidFill>
              </a:rPr>
              <a:t>male X-autosomal hemizygote </a:t>
            </a:r>
            <a:r>
              <a:rPr lang="en-US" sz="2400" dirty="0" smtClean="0"/>
              <a:t>is infertile due to </a:t>
            </a:r>
            <a:r>
              <a:rPr lang="en-US" sz="2400" dirty="0" err="1" smtClean="0"/>
              <a:t>spermatogenic</a:t>
            </a:r>
            <a:r>
              <a:rPr lang="en-US" sz="2400" dirty="0" smtClean="0"/>
              <a:t> arrest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FE866-F1E4-4EBA-A3C0-68F0272FD4FC}" type="datetime12">
              <a:rPr lang="en-US" smtClean="0"/>
              <a:t>7:41 PM</a:t>
            </a:fld>
            <a:endParaRPr lang="en-US"/>
          </a:p>
        </p:txBody>
      </p:sp>
      <p:pic>
        <p:nvPicPr>
          <p:cNvPr id="5" name="Picture 2" descr="C:\Users\hp\Documents\My Scans\scan0045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76" t="1778" r="68769" b="18632"/>
          <a:stretch/>
        </p:blipFill>
        <p:spPr bwMode="auto">
          <a:xfrm>
            <a:off x="7010396" y="256898"/>
            <a:ext cx="1645974" cy="4871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8077200" y="256903"/>
            <a:ext cx="609600" cy="20290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18932681">
            <a:off x="8076258" y="4094838"/>
            <a:ext cx="914400" cy="3709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62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9</a:t>
            </a:fld>
            <a:endParaRPr lang="en-US"/>
          </a:p>
        </p:txBody>
      </p:sp>
      <p:pic>
        <p:nvPicPr>
          <p:cNvPr id="1026" name="Picture 2" descr="C:\Users\hp\Documents\My Scans\scan0048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9" t="1878" r="1778" b="1816"/>
          <a:stretch/>
        </p:blipFill>
        <p:spPr bwMode="auto">
          <a:xfrm>
            <a:off x="4292" y="0"/>
            <a:ext cx="567011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674404" y="76200"/>
            <a:ext cx="3429001" cy="67403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Patterns of inactivation in the unbalanced offspring</a:t>
            </a:r>
          </a:p>
          <a:p>
            <a:r>
              <a:rPr lang="en-US" sz="2800" dirty="0" smtClean="0"/>
              <a:t>Female offspring of the X-autosomal heterozygote</a:t>
            </a:r>
          </a:p>
          <a:p>
            <a:endParaRPr lang="en-US" sz="2400" dirty="0" smtClean="0"/>
          </a:p>
          <a:p>
            <a:r>
              <a:rPr lang="en-US" sz="2400" dirty="0" smtClean="0"/>
              <a:t>The pattern of inactivation observed, following selection, will be the one that allows the </a:t>
            </a:r>
            <a:r>
              <a:rPr lang="en-US" sz="2400" dirty="0" smtClean="0">
                <a:solidFill>
                  <a:srgbClr val="0070C0"/>
                </a:solidFill>
              </a:rPr>
              <a:t>least amount of functional imbalance</a:t>
            </a:r>
          </a:p>
          <a:p>
            <a:endParaRPr lang="en-US" sz="2400" dirty="0"/>
          </a:p>
          <a:p>
            <a:r>
              <a:rPr lang="en-US" sz="2400" dirty="0" smtClean="0"/>
              <a:t>Typically the unbalanced daughter inactivates the abnormal chromosome</a:t>
            </a:r>
            <a:endParaRPr lang="en-US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752600" y="5867400"/>
            <a:ext cx="1447800" cy="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200400" y="6019800"/>
            <a:ext cx="1447800" cy="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590800" y="6553200"/>
            <a:ext cx="1143000" cy="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209800" y="6721475"/>
            <a:ext cx="838200" cy="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2857500" y="304800"/>
            <a:ext cx="342900" cy="762000"/>
          </a:xfrm>
          <a:prstGeom prst="ellipse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308168" y="1427118"/>
            <a:ext cx="291737" cy="723900"/>
          </a:xfrm>
          <a:prstGeom prst="ellipse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308168" y="2455817"/>
            <a:ext cx="291737" cy="744583"/>
          </a:xfrm>
          <a:prstGeom prst="ellipse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182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2400" y="228600"/>
            <a:ext cx="88392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If der(X) carries a larger translocated autosomal segment – conferring a partial autosomal trisomy, effect of this imbalance will be mitigated by selective inactivation of the abnormal chromosome</a:t>
            </a:r>
          </a:p>
          <a:p>
            <a:endParaRPr lang="en-US" sz="2800" dirty="0"/>
          </a:p>
          <a:p>
            <a:r>
              <a:rPr lang="en-US" sz="2800" dirty="0" smtClean="0"/>
              <a:t>Inactivation will spread , at least partially, on the autosomal segment, reducing the trisomy effect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A46BE-7681-40D5-A8D5-E04DAE0A9149}" type="datetime12">
              <a:rPr lang="en-US" smtClean="0"/>
              <a:t>7:41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6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11</a:t>
            </a:fld>
            <a:endParaRPr lang="en-US"/>
          </a:p>
        </p:txBody>
      </p:sp>
      <p:pic>
        <p:nvPicPr>
          <p:cNvPr id="2050" name="Picture 2" descr="C:\Users\hp\Documents\My Scans\scan0049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3" t="2066" r="2199" b="2536"/>
          <a:stretch/>
        </p:blipFill>
        <p:spPr bwMode="auto">
          <a:xfrm>
            <a:off x="0" y="1073"/>
            <a:ext cx="6870426" cy="6856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248400" y="152400"/>
            <a:ext cx="2895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70C0"/>
                </a:solidFill>
              </a:rPr>
              <a:t>Functional disomy </a:t>
            </a:r>
            <a:r>
              <a:rPr lang="en-US" sz="2800" dirty="0" smtClean="0"/>
              <a:t>for part of the X chromosome that does not contain XIC</a:t>
            </a:r>
            <a:endParaRPr lang="en-US" sz="2800" dirty="0"/>
          </a:p>
        </p:txBody>
      </p:sp>
      <p:sp>
        <p:nvSpPr>
          <p:cNvPr id="6" name="Rounded Rectangle 5"/>
          <p:cNvSpPr/>
          <p:nvPr/>
        </p:nvSpPr>
        <p:spPr>
          <a:xfrm>
            <a:off x="1143000" y="5638800"/>
            <a:ext cx="2209800" cy="182562"/>
          </a:xfrm>
          <a:prstGeom prst="round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800600" y="5638800"/>
            <a:ext cx="1447800" cy="228600"/>
          </a:xfrm>
          <a:prstGeom prst="round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23900" y="5821363"/>
            <a:ext cx="3695700" cy="198438"/>
          </a:xfrm>
          <a:prstGeom prst="round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905000" y="6629400"/>
            <a:ext cx="1447800" cy="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2576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12</a:t>
            </a:fld>
            <a:endParaRPr lang="en-US"/>
          </a:p>
        </p:txBody>
      </p:sp>
      <p:pic>
        <p:nvPicPr>
          <p:cNvPr id="1026" name="Picture 2" descr="C:\Users\hp\Documents\My Scans\scan005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0" b="-463"/>
          <a:stretch/>
        </p:blipFill>
        <p:spPr bwMode="auto">
          <a:xfrm>
            <a:off x="12879" y="-24685"/>
            <a:ext cx="9151513" cy="411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07135" y="4097327"/>
            <a:ext cx="8763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</a:t>
            </a:r>
            <a:r>
              <a:rPr lang="en-US" sz="2800" u="sng" dirty="0"/>
              <a:t>de novo </a:t>
            </a:r>
            <a:r>
              <a:rPr lang="en-US" sz="2800" dirty="0"/>
              <a:t>apparently balanced X-autosome translocation in </a:t>
            </a:r>
            <a:r>
              <a:rPr lang="en-US" sz="2800" dirty="0" smtClean="0"/>
              <a:t>the female </a:t>
            </a:r>
            <a:r>
              <a:rPr lang="en-US" sz="2800" dirty="0"/>
              <a:t>provided the door to discovery of the chromosomal location </a:t>
            </a:r>
            <a:r>
              <a:rPr lang="en-US" sz="2800" dirty="0" smtClean="0"/>
              <a:t>of some </a:t>
            </a:r>
            <a:r>
              <a:rPr lang="en-US" sz="2800" dirty="0"/>
              <a:t>X-linked </a:t>
            </a:r>
            <a:r>
              <a:rPr lang="en-US" sz="2800" dirty="0" smtClean="0"/>
              <a:t>disorders</a:t>
            </a:r>
          </a:p>
          <a:p>
            <a:endParaRPr lang="en-US" sz="2800" dirty="0"/>
          </a:p>
          <a:p>
            <a:r>
              <a:rPr lang="en-US" sz="2800" dirty="0" smtClean="0"/>
              <a:t>Many disease loci were mapped by studying rare female patients with a particular Mendelian disease</a:t>
            </a:r>
            <a:endParaRPr lang="en-US" sz="28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3733800" y="3352800"/>
            <a:ext cx="28956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8305800" y="3352800"/>
            <a:ext cx="8382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07135" y="3581400"/>
            <a:ext cx="707265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7543800" y="2514600"/>
            <a:ext cx="8382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0809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9" name="Picture 3" descr="14_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8" y="49213"/>
            <a:ext cx="9091612" cy="675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83B97-C09E-4F91-B0A5-E43FD5C2082A}" type="slidenum">
              <a:rPr lang="en-US"/>
              <a:pPr/>
              <a:t>13</a:t>
            </a:fld>
            <a:endParaRPr lang="en-US"/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152400" y="5977791"/>
            <a:ext cx="8839200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C00000"/>
                </a:solidFill>
              </a:rPr>
              <a:t>Nonrandom X inactivation occurs in female DMD patients with Xp21-autosome translocations</a:t>
            </a:r>
          </a:p>
        </p:txBody>
      </p:sp>
    </p:spTree>
    <p:extLst>
      <p:ext uri="{BB962C8B-B14F-4D97-AF65-F5344CB8AC3E}">
        <p14:creationId xmlns:p14="http://schemas.microsoft.com/office/powerpoint/2010/main" val="708832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14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85344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Male offspring of the female X-autosome heterozygote</a:t>
            </a:r>
          </a:p>
          <a:p>
            <a:endParaRPr lang="en-US" sz="2400" dirty="0"/>
          </a:p>
          <a:p>
            <a:r>
              <a:rPr lang="en-US" sz="2400" dirty="0" smtClean="0"/>
              <a:t>In the male, if the X-segment lacks an XIC, a functional X disomy results, with a severe phenotypic effect</a:t>
            </a:r>
          </a:p>
          <a:p>
            <a:endParaRPr lang="en-US" sz="2400" dirty="0"/>
          </a:p>
          <a:p>
            <a:r>
              <a:rPr lang="en-US" sz="2400" dirty="0" smtClean="0"/>
              <a:t>If the X-segment contains an XIC, the X segment is inactivated and a </a:t>
            </a:r>
            <a:r>
              <a:rPr lang="en-US" sz="2400" dirty="0" err="1" smtClean="0"/>
              <a:t>Klinefelter</a:t>
            </a:r>
            <a:r>
              <a:rPr lang="en-US" sz="2400" dirty="0" smtClean="0"/>
              <a:t>-like phenotype might result</a:t>
            </a:r>
          </a:p>
          <a:p>
            <a:endParaRPr lang="en-US" sz="2400" dirty="0"/>
          </a:p>
          <a:p>
            <a:r>
              <a:rPr lang="en-US" sz="2400" b="1" dirty="0" smtClean="0"/>
              <a:t>Origin of the X-autosome translocation</a:t>
            </a:r>
            <a:r>
              <a:rPr lang="en-US" sz="2400" dirty="0" smtClean="0"/>
              <a:t>. </a:t>
            </a:r>
            <a:r>
              <a:rPr lang="en-US" sz="2400" dirty="0" smtClean="0">
                <a:solidFill>
                  <a:srgbClr val="0070C0"/>
                </a:solidFill>
              </a:rPr>
              <a:t>All de novo balanced X-autosomal translocations have been of paternal origin</a:t>
            </a:r>
            <a:r>
              <a:rPr lang="en-US" sz="2400" dirty="0" smtClean="0"/>
              <a:t>, reflecting the availability of the X chromosome for exchange with other chromosomes during male meiosis</a:t>
            </a:r>
          </a:p>
          <a:p>
            <a:endParaRPr lang="en-US" sz="2400" dirty="0"/>
          </a:p>
          <a:p>
            <a:r>
              <a:rPr lang="en-US" sz="2400" dirty="0" smtClean="0"/>
              <a:t>The </a:t>
            </a:r>
            <a:r>
              <a:rPr lang="en-US" sz="2400" dirty="0"/>
              <a:t>X pairs with the Y only at </a:t>
            </a:r>
            <a:r>
              <a:rPr lang="en-US" sz="2400" dirty="0" smtClean="0"/>
              <a:t>the PAR1</a:t>
            </a:r>
            <a:r>
              <a:rPr lang="en-US" sz="2400" dirty="0"/>
              <a:t>, and the rest of the chromosome is unsynapsed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26BF1-51FB-4B5D-AABA-D9D22314CD4F}" type="datetime12">
              <a:rPr lang="en-US" smtClean="0"/>
              <a:t>7:41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332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600" y="152400"/>
            <a:ext cx="8763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Details of meiotic behavior</a:t>
            </a:r>
          </a:p>
          <a:p>
            <a:r>
              <a:rPr lang="en-US" sz="2800" b="1" dirty="0" smtClean="0"/>
              <a:t>Female meiosis</a:t>
            </a:r>
          </a:p>
          <a:p>
            <a:endParaRPr lang="en-US" sz="2400" dirty="0"/>
          </a:p>
          <a:p>
            <a:r>
              <a:rPr lang="en-US" sz="2400" dirty="0" smtClean="0"/>
              <a:t>Given the greater survivability of X imbalances due to </a:t>
            </a:r>
            <a:r>
              <a:rPr lang="en-US" sz="2400" dirty="0" smtClean="0">
                <a:solidFill>
                  <a:srgbClr val="0070C0"/>
                </a:solidFill>
              </a:rPr>
              <a:t>inactivation</a:t>
            </a:r>
            <a:r>
              <a:rPr lang="en-US" sz="2400" dirty="0" smtClean="0"/>
              <a:t>, and a </a:t>
            </a:r>
            <a:r>
              <a:rPr lang="en-US" sz="2400" dirty="0" smtClean="0">
                <a:solidFill>
                  <a:srgbClr val="0070C0"/>
                </a:solidFill>
              </a:rPr>
              <a:t>possible lessened effect of autosomal imbalance</a:t>
            </a:r>
            <a:r>
              <a:rPr lang="en-US" sz="2400" dirty="0" smtClean="0"/>
              <a:t>, a greater number of conceptuses are potentially viable than from the autosome-autosome translocation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C7522-7896-4E6A-8998-F996CE7E43E1}" type="datetime12">
              <a:rPr lang="en-US" smtClean="0"/>
              <a:t>7:41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46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16</a:t>
            </a:fld>
            <a:endParaRPr lang="en-US"/>
          </a:p>
        </p:txBody>
      </p:sp>
      <p:pic>
        <p:nvPicPr>
          <p:cNvPr id="1026" name="Picture 2" descr="C:\Users\hp\Documents\My Scans\scan0053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0" r="5352" b="17042"/>
          <a:stretch/>
        </p:blipFill>
        <p:spPr bwMode="auto">
          <a:xfrm>
            <a:off x="-7513" y="-1"/>
            <a:ext cx="552363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334001" y="150254"/>
            <a:ext cx="373379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Female meiosis</a:t>
            </a:r>
          </a:p>
          <a:p>
            <a:endParaRPr lang="en-US" sz="2400" dirty="0"/>
          </a:p>
          <a:p>
            <a:r>
              <a:rPr lang="en-US" sz="2400" dirty="0" smtClean="0"/>
              <a:t>Categories of translocation and modes of malsegregation</a:t>
            </a:r>
          </a:p>
          <a:p>
            <a:endParaRPr lang="en-US" sz="2000" dirty="0" smtClean="0"/>
          </a:p>
          <a:p>
            <a:r>
              <a:rPr lang="en-US" sz="2000" dirty="0" smtClean="0"/>
              <a:t>Single-segment exchange,</a:t>
            </a:r>
          </a:p>
          <a:p>
            <a:r>
              <a:rPr lang="en-US" sz="2000" dirty="0" smtClean="0"/>
              <a:t>	- X translocated segment</a:t>
            </a:r>
          </a:p>
          <a:p>
            <a:r>
              <a:rPr lang="en-US" sz="2000" dirty="0"/>
              <a:t>	</a:t>
            </a:r>
            <a:r>
              <a:rPr lang="en-US" sz="2000" dirty="0" smtClean="0"/>
              <a:t>- autosomal </a:t>
            </a:r>
            <a:r>
              <a:rPr lang="en-US" sz="2000" dirty="0"/>
              <a:t>translocated </a:t>
            </a:r>
            <a:r>
              <a:rPr lang="en-US" sz="2000" dirty="0" smtClean="0"/>
              <a:t>	   segment</a:t>
            </a:r>
          </a:p>
          <a:p>
            <a:endParaRPr lang="en-US" sz="2000" dirty="0"/>
          </a:p>
          <a:p>
            <a:r>
              <a:rPr lang="en-US" sz="2000" dirty="0" smtClean="0"/>
              <a:t>Double-segment exchange, 	- adjacent-1</a:t>
            </a:r>
          </a:p>
          <a:p>
            <a:r>
              <a:rPr lang="en-US" sz="2000" dirty="0" smtClean="0"/>
              <a:t>	- </a:t>
            </a:r>
            <a:r>
              <a:rPr lang="en-US" sz="2000" dirty="0"/>
              <a:t>adjacent-2</a:t>
            </a:r>
          </a:p>
          <a:p>
            <a:r>
              <a:rPr lang="en-US" sz="2000" dirty="0" smtClean="0"/>
              <a:t>	- </a:t>
            </a:r>
            <a:r>
              <a:rPr lang="en-US" sz="2000" dirty="0"/>
              <a:t>3:1 segregation with </a:t>
            </a:r>
            <a:r>
              <a:rPr lang="en-US" sz="2000" dirty="0" smtClean="0"/>
              <a:t>	   tertiary monosomy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838200" y="6553200"/>
            <a:ext cx="4677925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1EEAB-C1E3-496D-BFE0-B5D13EC0BE6F}" type="datetime12">
              <a:rPr lang="en-US" smtClean="0"/>
              <a:t>7:41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92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17</a:t>
            </a:fld>
            <a:endParaRPr lang="en-US"/>
          </a:p>
        </p:txBody>
      </p:sp>
      <p:pic>
        <p:nvPicPr>
          <p:cNvPr id="2050" name="Picture 2" descr="C:\Users\hp\Documents\My Scans\scan0054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1" r="2176"/>
          <a:stretch/>
        </p:blipFill>
        <p:spPr bwMode="auto">
          <a:xfrm>
            <a:off x="0" y="0"/>
            <a:ext cx="631064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16361" y="4495800"/>
            <a:ext cx="4593839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037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18</a:t>
            </a:fld>
            <a:endParaRPr lang="en-US"/>
          </a:p>
        </p:txBody>
      </p:sp>
      <p:pic>
        <p:nvPicPr>
          <p:cNvPr id="3074" name="Picture 2" descr="C:\Users\hp\Documents\My Scans\scan0055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0" t="1314" r="2174"/>
          <a:stretch/>
        </p:blipFill>
        <p:spPr bwMode="auto">
          <a:xfrm>
            <a:off x="0" y="0"/>
            <a:ext cx="480255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257800" y="152400"/>
            <a:ext cx="3733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Example of double-segment exchange, </a:t>
            </a:r>
            <a:r>
              <a:rPr lang="en-US" sz="2400" b="1" dirty="0" smtClean="0">
                <a:solidFill>
                  <a:srgbClr val="C00000"/>
                </a:solidFill>
              </a:rPr>
              <a:t>adjacent-1</a:t>
            </a:r>
          </a:p>
          <a:p>
            <a:endParaRPr lang="en-US" sz="2400" dirty="0"/>
          </a:p>
          <a:p>
            <a:r>
              <a:rPr lang="en-US" sz="2400" dirty="0" smtClean="0"/>
              <a:t>Spread of inactivation into the autosomal segment will lessen the effect of trisomy</a:t>
            </a:r>
          </a:p>
          <a:p>
            <a:endParaRPr lang="en-US" sz="2400" dirty="0"/>
          </a:p>
          <a:p>
            <a:r>
              <a:rPr lang="en-US" sz="2400" dirty="0" smtClean="0"/>
              <a:t>Changing it from structural trisomy into </a:t>
            </a:r>
            <a:r>
              <a:rPr lang="en-US" sz="2400" dirty="0" smtClean="0">
                <a:solidFill>
                  <a:srgbClr val="FF0000"/>
                </a:solidFill>
              </a:rPr>
              <a:t>(</a:t>
            </a:r>
            <a:r>
              <a:rPr lang="en-US" sz="2400" dirty="0" smtClean="0"/>
              <a:t>partial</a:t>
            </a:r>
            <a:r>
              <a:rPr lang="en-US" sz="2400" dirty="0" smtClean="0">
                <a:solidFill>
                  <a:srgbClr val="FF0000"/>
                </a:solidFill>
              </a:rPr>
              <a:t>)</a:t>
            </a:r>
            <a:r>
              <a:rPr lang="en-US" sz="2400" dirty="0" smtClean="0"/>
              <a:t> functional disomy</a:t>
            </a:r>
            <a:endParaRPr lang="en-US" sz="2400" dirty="0"/>
          </a:p>
        </p:txBody>
      </p:sp>
      <p:sp>
        <p:nvSpPr>
          <p:cNvPr id="5" name="Rounded Rectangle 4"/>
          <p:cNvSpPr/>
          <p:nvPr/>
        </p:nvSpPr>
        <p:spPr>
          <a:xfrm>
            <a:off x="3352800" y="5372637"/>
            <a:ext cx="1295400" cy="1524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37249" y="3090446"/>
            <a:ext cx="68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70C0"/>
                </a:solidFill>
              </a:rPr>
              <a:t>abort</a:t>
            </a:r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9600" y="5481494"/>
            <a:ext cx="2743200" cy="157306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ket 6"/>
          <p:cNvSpPr/>
          <p:nvPr/>
        </p:nvSpPr>
        <p:spPr>
          <a:xfrm>
            <a:off x="838200" y="1828800"/>
            <a:ext cx="45719" cy="228600"/>
          </a:xfrm>
          <a:prstGeom prst="leftBracket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ket 9"/>
          <p:cNvSpPr/>
          <p:nvPr/>
        </p:nvSpPr>
        <p:spPr>
          <a:xfrm>
            <a:off x="304800" y="457200"/>
            <a:ext cx="76200" cy="457200"/>
          </a:xfrm>
          <a:prstGeom prst="leftBracket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129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19</a:t>
            </a:fld>
            <a:endParaRPr lang="en-US"/>
          </a:p>
        </p:txBody>
      </p:sp>
      <p:pic>
        <p:nvPicPr>
          <p:cNvPr id="4098" name="Picture 2" descr="C:\Users\hp\Documents\My Scans\scan0056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6" r="1617"/>
          <a:stretch/>
        </p:blipFill>
        <p:spPr bwMode="auto">
          <a:xfrm>
            <a:off x="-1" y="0"/>
            <a:ext cx="562002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620022" y="152400"/>
            <a:ext cx="337157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Example of double-segment exchange, </a:t>
            </a:r>
            <a:r>
              <a:rPr lang="en-US" sz="2400" b="1" dirty="0" smtClean="0">
                <a:solidFill>
                  <a:srgbClr val="C00000"/>
                </a:solidFill>
              </a:rPr>
              <a:t>adjacent-2</a:t>
            </a:r>
          </a:p>
          <a:p>
            <a:endParaRPr lang="en-US" sz="2400" dirty="0"/>
          </a:p>
          <a:p>
            <a:r>
              <a:rPr lang="en-US" sz="2400" dirty="0" smtClean="0"/>
              <a:t>Spread of inactivation was interrupted at the short arm of the autosomal chromosome</a:t>
            </a:r>
          </a:p>
          <a:p>
            <a:endParaRPr lang="en-US" sz="2400" dirty="0"/>
          </a:p>
          <a:p>
            <a:r>
              <a:rPr lang="en-US" sz="2400" dirty="0" smtClean="0"/>
              <a:t>Phenotype is the combined result of the </a:t>
            </a:r>
            <a:r>
              <a:rPr lang="en-US" sz="2400" dirty="0" smtClean="0">
                <a:solidFill>
                  <a:srgbClr val="0070C0"/>
                </a:solidFill>
              </a:rPr>
              <a:t>10p duplication </a:t>
            </a:r>
            <a:r>
              <a:rPr lang="en-US" sz="2400" dirty="0" smtClean="0"/>
              <a:t>and </a:t>
            </a:r>
            <a:r>
              <a:rPr lang="en-US" sz="2400" dirty="0" err="1" smtClean="0">
                <a:solidFill>
                  <a:srgbClr val="0070C0"/>
                </a:solidFill>
              </a:rPr>
              <a:t>Xp</a:t>
            </a:r>
            <a:r>
              <a:rPr lang="en-US" sz="2400" dirty="0" smtClean="0">
                <a:solidFill>
                  <a:srgbClr val="0070C0"/>
                </a:solidFill>
              </a:rPr>
              <a:t> monosomy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52800" y="5791200"/>
            <a:ext cx="2267222" cy="1524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915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20</a:t>
            </a:fld>
            <a:endParaRPr lang="en-US"/>
          </a:p>
        </p:txBody>
      </p:sp>
      <p:pic>
        <p:nvPicPr>
          <p:cNvPr id="5122" name="Picture 2" descr="C:\Users\hp\Documents\My Scans\scan0057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0" r="10248" b="24012"/>
          <a:stretch/>
        </p:blipFill>
        <p:spPr bwMode="auto">
          <a:xfrm>
            <a:off x="1" y="0"/>
            <a:ext cx="506508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86400" y="152400"/>
            <a:ext cx="35052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Another example of double-segment exchange, </a:t>
            </a:r>
            <a:r>
              <a:rPr lang="en-US" sz="2400" b="1" dirty="0" smtClean="0">
                <a:solidFill>
                  <a:srgbClr val="C00000"/>
                </a:solidFill>
              </a:rPr>
              <a:t>adjacent-2</a:t>
            </a:r>
          </a:p>
          <a:p>
            <a:endParaRPr lang="en-US" sz="2400" dirty="0"/>
          </a:p>
          <a:p>
            <a:r>
              <a:rPr lang="en-US" sz="2400" dirty="0" smtClean="0"/>
              <a:t>Some instances an intact X and the der(X) will be transmitted together:</a:t>
            </a:r>
          </a:p>
          <a:p>
            <a:r>
              <a:rPr lang="en-US" sz="2400" dirty="0" smtClean="0"/>
              <a:t>46,XX,-(autosome),+der(X)</a:t>
            </a:r>
          </a:p>
          <a:p>
            <a:endParaRPr lang="en-US" sz="2400" dirty="0"/>
          </a:p>
          <a:p>
            <a:r>
              <a:rPr lang="en-US" sz="2400" dirty="0" smtClean="0"/>
              <a:t>The autosomal segment must contain the majority of the chromosome, </a:t>
            </a:r>
            <a:r>
              <a:rPr lang="en-US" sz="2400" dirty="0" smtClean="0">
                <a:solidFill>
                  <a:srgbClr val="0070C0"/>
                </a:solidFill>
              </a:rPr>
              <a:t>with little or no spread of inactivation</a:t>
            </a:r>
            <a:r>
              <a:rPr lang="en-US" sz="2400" dirty="0" smtClean="0"/>
              <a:t> on the autosomal segment</a:t>
            </a:r>
          </a:p>
          <a:p>
            <a:endParaRPr lang="en-US" sz="2400" dirty="0"/>
          </a:p>
          <a:p>
            <a:r>
              <a:rPr lang="en-US" sz="2400" dirty="0" smtClean="0"/>
              <a:t>3:1 tertiary monosomy</a:t>
            </a:r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28789" y="2968555"/>
            <a:ext cx="106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C00000"/>
                </a:solidFill>
              </a:rPr>
              <a:t>Intellectual disability</a:t>
            </a:r>
            <a:r>
              <a:rPr lang="ar-JO" sz="1200" dirty="0" smtClean="0">
                <a:solidFill>
                  <a:srgbClr val="C00000"/>
                </a:solidFill>
              </a:rPr>
              <a:t> </a:t>
            </a:r>
            <a:r>
              <a:rPr lang="en-US" sz="1200" dirty="0" smtClean="0">
                <a:solidFill>
                  <a:srgbClr val="C00000"/>
                </a:solidFill>
              </a:rPr>
              <a:t> &amp; congenital anomalies</a:t>
            </a:r>
            <a:endParaRPr lang="en-US" sz="1200" dirty="0">
              <a:solidFill>
                <a:srgbClr val="C00000"/>
              </a:solidFill>
            </a:endParaRPr>
          </a:p>
          <a:p>
            <a:endParaRPr lang="en-US" sz="1200" dirty="0" smtClean="0">
              <a:solidFill>
                <a:srgbClr val="C00000"/>
              </a:solidFill>
            </a:endParaRPr>
          </a:p>
          <a:p>
            <a:endParaRPr lang="en-US" sz="1200" dirty="0">
              <a:solidFill>
                <a:srgbClr val="C00000"/>
              </a:solidFill>
            </a:endParaRPr>
          </a:p>
          <a:p>
            <a:r>
              <a:rPr lang="en-US" sz="1200" dirty="0" smtClean="0">
                <a:solidFill>
                  <a:srgbClr val="C00000"/>
                </a:solidFill>
              </a:rPr>
              <a:t>Mild intellectual disability</a:t>
            </a:r>
            <a:endParaRPr lang="en-US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120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21</a:t>
            </a:fld>
            <a:endParaRPr lang="en-US"/>
          </a:p>
        </p:txBody>
      </p:sp>
      <p:pic>
        <p:nvPicPr>
          <p:cNvPr id="6146" name="Picture 2" descr="C:\Users\hp\Documents\My Scans\scan0058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9" b="40805"/>
          <a:stretch/>
        </p:blipFill>
        <p:spPr bwMode="auto">
          <a:xfrm>
            <a:off x="0" y="15026"/>
            <a:ext cx="5228823" cy="6842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86399" y="150254"/>
            <a:ext cx="35813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Male meiosis</a:t>
            </a:r>
          </a:p>
          <a:p>
            <a:endParaRPr lang="en-US" sz="2400" dirty="0" smtClean="0"/>
          </a:p>
          <a:p>
            <a:r>
              <a:rPr lang="en-US" sz="2400" dirty="0" smtClean="0"/>
              <a:t>Meiosis in the X-autosome hemizygote is typically compromised</a:t>
            </a:r>
          </a:p>
          <a:p>
            <a:endParaRPr lang="en-US" sz="2400" dirty="0"/>
          </a:p>
          <a:p>
            <a:r>
              <a:rPr lang="en-US" sz="2400" dirty="0" smtClean="0"/>
              <a:t>Infrequently, some sperm may be made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99499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22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2400" y="228600"/>
            <a:ext cx="8839200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Y-autosome translocations</a:t>
            </a:r>
          </a:p>
          <a:p>
            <a:endParaRPr lang="en-US" sz="2400" dirty="0"/>
          </a:p>
          <a:p>
            <a:r>
              <a:rPr lang="en-US" sz="2400" dirty="0" smtClean="0"/>
              <a:t>The </a:t>
            </a:r>
            <a:r>
              <a:rPr lang="en-US" sz="2400" dirty="0"/>
              <a:t>major function </a:t>
            </a:r>
            <a:r>
              <a:rPr lang="en-US" sz="2400" dirty="0" smtClean="0"/>
              <a:t>of the Y chromosome is bring about male development</a:t>
            </a:r>
          </a:p>
          <a:p>
            <a:endParaRPr lang="en-US" sz="2400" dirty="0"/>
          </a:p>
          <a:p>
            <a:r>
              <a:rPr lang="en-US" sz="2400" dirty="0" smtClean="0"/>
              <a:t>SRY gene, PAR1, PAR2, </a:t>
            </a:r>
            <a:r>
              <a:rPr lang="en-US" sz="2400" dirty="0" err="1" smtClean="0"/>
              <a:t>azoospermia</a:t>
            </a:r>
            <a:r>
              <a:rPr lang="en-US" sz="2400" dirty="0" smtClean="0"/>
              <a:t> factor regions</a:t>
            </a:r>
          </a:p>
          <a:p>
            <a:endParaRPr lang="en-US" sz="2400" dirty="0" smtClean="0"/>
          </a:p>
          <a:p>
            <a:r>
              <a:rPr lang="en-US" sz="2400" dirty="0" err="1" smtClean="0"/>
              <a:t>Euchromatic</a:t>
            </a:r>
            <a:r>
              <a:rPr lang="en-US" sz="2400" dirty="0" smtClean="0"/>
              <a:t> region, heterochromatic region (repetitive DNA)</a:t>
            </a:r>
          </a:p>
          <a:p>
            <a:endParaRPr lang="en-US" sz="2400" dirty="0"/>
          </a:p>
          <a:p>
            <a:endParaRPr lang="en-US" sz="2400" dirty="0" smtClean="0"/>
          </a:p>
          <a:p>
            <a:r>
              <a:rPr lang="en-US" sz="2400" b="1" dirty="0" smtClean="0"/>
              <a:t>Meiosis</a:t>
            </a:r>
          </a:p>
          <a:p>
            <a:endParaRPr lang="en-US" sz="2400" b="1" dirty="0" smtClean="0"/>
          </a:p>
          <a:p>
            <a:r>
              <a:rPr lang="en-US" sz="2400" dirty="0" smtClean="0"/>
              <a:t>The X and Y synapsed at PAR1 comprise the “sex vesicle” (or sex-body, or XY-body)</a:t>
            </a:r>
          </a:p>
          <a:p>
            <a:endParaRPr lang="en-US" sz="2400" dirty="0"/>
          </a:p>
          <a:p>
            <a:r>
              <a:rPr lang="en-US" sz="2400" dirty="0" smtClean="0"/>
              <a:t>A properly formed sex vesicle is necessary for normal spermatogenesis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F41-1ADA-4D0A-950F-5556E6010B1B}" type="datetime12">
              <a:rPr lang="en-US" smtClean="0"/>
              <a:t>7:41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74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23</a:t>
            </a:fld>
            <a:endParaRPr lang="en-US"/>
          </a:p>
        </p:txBody>
      </p:sp>
      <p:pic>
        <p:nvPicPr>
          <p:cNvPr id="1026" name="Picture 2" descr="C:\Users\hp\Documents\My Scans\scan0059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7" t="1317" r="1705" b="3134"/>
          <a:stretch/>
        </p:blipFill>
        <p:spPr bwMode="auto">
          <a:xfrm>
            <a:off x="0" y="-1"/>
            <a:ext cx="58725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715000" y="152400"/>
            <a:ext cx="3276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Infertility is the usual presenting factor in Y-autosome translocation</a:t>
            </a:r>
          </a:p>
          <a:p>
            <a:endParaRPr lang="en-US" sz="2400" dirty="0"/>
          </a:p>
          <a:p>
            <a:r>
              <a:rPr lang="en-US" sz="2400" dirty="0" smtClean="0"/>
              <a:t>Sometimes fertility is intact</a:t>
            </a:r>
          </a:p>
          <a:p>
            <a:endParaRPr lang="en-US" sz="2400" dirty="0"/>
          </a:p>
          <a:p>
            <a:r>
              <a:rPr lang="en-US" sz="2400" dirty="0" smtClean="0"/>
              <a:t>In this example, only some learning difficulty is observed due to </a:t>
            </a:r>
            <a:r>
              <a:rPr lang="en-US" sz="2400" dirty="0" smtClean="0">
                <a:solidFill>
                  <a:srgbClr val="0070C0"/>
                </a:solidFill>
              </a:rPr>
              <a:t>partial chr 8 trisomy</a:t>
            </a:r>
            <a:endParaRPr lang="en-US" sz="2400" dirty="0">
              <a:solidFill>
                <a:srgbClr val="0070C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3048000" y="5486400"/>
            <a:ext cx="2667000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0" y="5638800"/>
            <a:ext cx="4572000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549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24</a:t>
            </a:fld>
            <a:endParaRPr lang="en-US"/>
          </a:p>
        </p:txBody>
      </p:sp>
      <p:pic>
        <p:nvPicPr>
          <p:cNvPr id="3074" name="Picture 2" descr="C:\Users\hp\Documents\My Scans\scan006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3" t="700" r="2892" b="59352"/>
          <a:stretch/>
        </p:blipFill>
        <p:spPr bwMode="auto">
          <a:xfrm>
            <a:off x="0" y="0"/>
            <a:ext cx="561715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2133600" y="4419600"/>
            <a:ext cx="13716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828800" y="5334000"/>
            <a:ext cx="32004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C86CE-B842-4F5A-9A69-7454111EAAA2}" type="datetime12">
              <a:rPr lang="en-US" smtClean="0"/>
              <a:t>7:41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869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25</a:t>
            </a:fld>
            <a:endParaRPr lang="en-US"/>
          </a:p>
        </p:txBody>
      </p:sp>
      <p:pic>
        <p:nvPicPr>
          <p:cNvPr id="2050" name="Picture 2" descr="C:\Users\hp\Documents\My Scans\scan006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3" t="68531" r="6087" b="1330"/>
          <a:stretch/>
        </p:blipFill>
        <p:spPr bwMode="auto">
          <a:xfrm>
            <a:off x="79364" y="228600"/>
            <a:ext cx="6435146" cy="6178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705600" y="104104"/>
            <a:ext cx="23622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Y long-arm and acrocentric short-arm translocations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 smtClean="0">
                <a:solidFill>
                  <a:srgbClr val="002060"/>
                </a:solidFill>
              </a:rPr>
              <a:t>The most common form of Y-autosome translocation, accounting for ~70% of cases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 smtClean="0">
                <a:solidFill>
                  <a:srgbClr val="002060"/>
                </a:solidFill>
              </a:rPr>
              <a:t>No loss or gain of </a:t>
            </a:r>
            <a:r>
              <a:rPr lang="en-US" sz="2400" dirty="0" err="1" smtClean="0">
                <a:solidFill>
                  <a:srgbClr val="002060"/>
                </a:solidFill>
              </a:rPr>
              <a:t>euchromatin</a:t>
            </a:r>
            <a:r>
              <a:rPr lang="en-US" sz="2400" dirty="0" smtClean="0">
                <a:solidFill>
                  <a:srgbClr val="002060"/>
                </a:solidFill>
              </a:rPr>
              <a:t>. </a:t>
            </a:r>
            <a:r>
              <a:rPr lang="en-US" sz="2400" dirty="0">
                <a:solidFill>
                  <a:srgbClr val="002060"/>
                </a:solidFill>
              </a:rPr>
              <a:t>E</a:t>
            </a:r>
            <a:r>
              <a:rPr lang="en-US" sz="2400" dirty="0" smtClean="0">
                <a:solidFill>
                  <a:srgbClr val="002060"/>
                </a:solidFill>
              </a:rPr>
              <a:t>xtra phenotypically irrelevant Y heterochromatin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0829" y="5236323"/>
            <a:ext cx="5995171" cy="11816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49FBF-3AA4-4E16-9158-63C32ADAF319}" type="datetime12">
              <a:rPr lang="en-US" smtClean="0"/>
              <a:t>7:41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263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02BA-93FF-4E84-899E-5516C87610B4}" type="slidenum">
              <a:rPr lang="en-US" smtClean="0"/>
              <a:t>26</a:t>
            </a:fld>
            <a:endParaRPr lang="en-US"/>
          </a:p>
        </p:txBody>
      </p:sp>
      <p:pic>
        <p:nvPicPr>
          <p:cNvPr id="1026" name="Picture 2" descr="C:\Users\hp\Documents\My Scans\scan0061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6" t="1720" r="1268" b="1976"/>
          <a:stretch/>
        </p:blipFill>
        <p:spPr bwMode="auto">
          <a:xfrm>
            <a:off x="18245" y="0"/>
            <a:ext cx="9125755" cy="5908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75922" y="5838423"/>
            <a:ext cx="70104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X-Y translocations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SHOX gene: </a:t>
            </a:r>
            <a:r>
              <a:rPr lang="en-US" sz="2400" dirty="0" err="1" smtClean="0"/>
              <a:t>Leri</a:t>
            </a:r>
            <a:r>
              <a:rPr lang="en-US" sz="2400" dirty="0" smtClean="0"/>
              <a:t>-Weill </a:t>
            </a:r>
            <a:r>
              <a:rPr lang="en-US" sz="2400" dirty="0" err="1" smtClean="0"/>
              <a:t>dyschondrosteosis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295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Monosomic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 smtClean="0">
                <a:solidFill>
                  <a:srgbClr val="C00000"/>
                </a:solidFill>
              </a:rPr>
              <a:t>Fertile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71800" y="931709"/>
            <a:ext cx="121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C00000"/>
                </a:solidFill>
              </a:rPr>
              <a:t>Nullisomic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 smtClean="0">
                <a:solidFill>
                  <a:srgbClr val="C00000"/>
                </a:solidFill>
              </a:rPr>
              <a:t>Infertile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13319" y="931744"/>
            <a:ext cx="1070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Infertile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77000" y="93658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Infertile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F412D-4525-4BC6-A927-486FA4B0E423}" type="datetime12">
              <a:rPr lang="en-US" smtClean="0"/>
              <a:t>7:41 PM</a:t>
            </a:fld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8458200" y="4800600"/>
            <a:ext cx="533400" cy="3048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5148596" y="5105400"/>
            <a:ext cx="3690603" cy="2286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343400" y="4038600"/>
            <a:ext cx="1676400" cy="228600"/>
          </a:xfrm>
          <a:prstGeom prst="roundRect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65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2918</TotalTime>
  <Words>808</Words>
  <Application>Microsoft Office PowerPoint</Application>
  <PresentationFormat>On-screen Show (4:3)</PresentationFormat>
  <Paragraphs>180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Wingdings</vt:lpstr>
      <vt:lpstr>Office Theme</vt:lpstr>
      <vt:lpstr>Sex chromosome translocations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Sex chromosome translocations</dc:title>
  <dc:creator>alkhateeb</dc:creator>
  <cp:lastModifiedBy>JUST</cp:lastModifiedBy>
  <cp:revision>119</cp:revision>
  <dcterms:created xsi:type="dcterms:W3CDTF">2012-03-25T17:49:25Z</dcterms:created>
  <dcterms:modified xsi:type="dcterms:W3CDTF">2024-04-13T19:07:22Z</dcterms:modified>
</cp:coreProperties>
</file>