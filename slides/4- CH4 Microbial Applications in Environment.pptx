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6" r:id="rId4"/>
    <p:sldId id="258" r:id="rId5"/>
    <p:sldId id="277" r:id="rId6"/>
    <p:sldId id="278" r:id="rId7"/>
    <p:sldId id="279" r:id="rId8"/>
    <p:sldId id="260" r:id="rId9"/>
    <p:sldId id="281" r:id="rId10"/>
    <p:sldId id="282" r:id="rId11"/>
    <p:sldId id="283" r:id="rId12"/>
    <p:sldId id="280" r:id="rId13"/>
    <p:sldId id="285" r:id="rId14"/>
    <p:sldId id="286" r:id="rId15"/>
    <p:sldId id="287" r:id="rId16"/>
    <p:sldId id="288" r:id="rId17"/>
    <p:sldId id="289" r:id="rId18"/>
    <p:sldId id="290" r:id="rId19"/>
    <p:sldId id="306" r:id="rId20"/>
    <p:sldId id="293" r:id="rId21"/>
    <p:sldId id="291" r:id="rId22"/>
    <p:sldId id="300" r:id="rId23"/>
    <p:sldId id="301" r:id="rId24"/>
    <p:sldId id="292" r:id="rId25"/>
    <p:sldId id="294" r:id="rId26"/>
    <p:sldId id="295" r:id="rId27"/>
    <p:sldId id="296" r:id="rId28"/>
    <p:sldId id="298" r:id="rId29"/>
    <p:sldId id="299" r:id="rId30"/>
    <p:sldId id="297" r:id="rId31"/>
    <p:sldId id="303" r:id="rId32"/>
    <p:sldId id="309" r:id="rId33"/>
    <p:sldId id="310" r:id="rId34"/>
    <p:sldId id="307" r:id="rId35"/>
    <p:sldId id="308" r:id="rId36"/>
    <p:sldId id="311" r:id="rId37"/>
    <p:sldId id="312" r:id="rId38"/>
    <p:sldId id="313" r:id="rId39"/>
    <p:sldId id="315" r:id="rId40"/>
    <p:sldId id="314" r:id="rId41"/>
    <p:sldId id="316" r:id="rId4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50" autoAdjust="0"/>
  </p:normalViewPr>
  <p:slideViewPr>
    <p:cSldViewPr snapToGrid="0" snapToObjects="1">
      <p:cViewPr>
        <p:scale>
          <a:sx n="81" d="100"/>
          <a:sy n="81" d="100"/>
        </p:scale>
        <p:origin x="-1896" y="-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printerSettings" Target="printerSettings/printerSettings1.bin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5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88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1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7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8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4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32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2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1828F-421C-4E44-B579-1CA9A818CADC}" type="datetimeFigureOut">
              <a:rPr kumimoji="1" lang="ja-JP" altLang="en-US" smtClean="0"/>
              <a:t>8/1/16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8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pollutionissues.com/knowledge/Sulfur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3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570729"/>
            <a:ext cx="7769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Environmental </a:t>
            </a:r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Applications </a:t>
            </a:r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Microbes </a:t>
            </a:r>
            <a:endParaRPr lang="en-US" altLang="ja-JP" sz="4000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4516" y="2381445"/>
            <a:ext cx="7270900" cy="5227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kumimoji="1" lang="en-US" altLang="ja-JP" sz="2800" dirty="0" smtClean="0">
                <a:latin typeface="Times New Roman"/>
                <a:cs typeface="Times New Roman"/>
              </a:rPr>
              <a:t>Bioremediation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Biodegradation of xenobiotic compounds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Bioremediation of heavy metals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altLang="ja-JP" sz="2800" dirty="0" err="1" smtClean="0">
                <a:latin typeface="Times New Roman"/>
                <a:cs typeface="Times New Roman"/>
              </a:rPr>
              <a:t>Biomining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Waste water treatment </a:t>
            </a:r>
          </a:p>
          <a:p>
            <a:pPr>
              <a:lnSpc>
                <a:spcPct val="150000"/>
              </a:lnSpc>
            </a:pPr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kumimoji="1"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05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43712"/>
            <a:ext cx="77694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rgbClr val="FF0000"/>
                </a:solidFill>
                <a:latin typeface="Arial"/>
                <a:cs typeface="Arial"/>
              </a:rPr>
              <a:t>Bioremediation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2824" y="1687933"/>
            <a:ext cx="7981103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The </a:t>
            </a:r>
            <a:r>
              <a:rPr lang="en-US" altLang="ja-JP" sz="2800" dirty="0">
                <a:latin typeface="Times New Roman"/>
                <a:cs typeface="Times New Roman"/>
              </a:rPr>
              <a:t>destruction or removal or reduction of the concentration of hazardous elements below toxic levels with the help of microorganisms 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Involve </a:t>
            </a:r>
            <a:r>
              <a:rPr lang="en-US" altLang="ja-JP" sz="2800" dirty="0">
                <a:latin typeface="Times New Roman"/>
                <a:cs typeface="Times New Roman"/>
              </a:rPr>
              <a:t>a single microorganism or a group of microorganisms (referred as a consortium</a:t>
            </a:r>
            <a:r>
              <a:rPr lang="en-US" altLang="ja-JP" sz="2800" dirty="0" smtClean="0">
                <a:latin typeface="Times New Roman"/>
                <a:cs typeface="Times New Roman"/>
              </a:rPr>
              <a:t>). </a:t>
            </a: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800" dirty="0" smtClean="0">
                <a:latin typeface="Times New Roman"/>
                <a:cs typeface="Times New Roman"/>
              </a:rPr>
              <a:t>Bioremediation:</a:t>
            </a:r>
            <a:endParaRPr kumimoji="1"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800" i="1" dirty="0">
                <a:latin typeface="Times New Roman"/>
                <a:cs typeface="Times New Roman"/>
              </a:rPr>
              <a:t>in situ </a:t>
            </a:r>
            <a:r>
              <a:rPr lang="en-US" altLang="ja-JP" sz="2800" dirty="0">
                <a:latin typeface="Times New Roman"/>
                <a:cs typeface="Times New Roman"/>
              </a:rPr>
              <a:t>(on site) </a:t>
            </a:r>
            <a:endParaRPr lang="en-US" altLang="ja-JP" sz="28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800" i="1" dirty="0" smtClean="0">
                <a:latin typeface="Times New Roman"/>
                <a:cs typeface="Times New Roman"/>
              </a:rPr>
              <a:t>ex </a:t>
            </a:r>
            <a:r>
              <a:rPr lang="en-US" altLang="ja-JP" sz="2800" i="1" dirty="0">
                <a:latin typeface="Times New Roman"/>
                <a:cs typeface="Times New Roman"/>
              </a:rPr>
              <a:t>situ </a:t>
            </a:r>
            <a:r>
              <a:rPr lang="en-US" altLang="ja-JP" sz="2800" dirty="0">
                <a:latin typeface="Times New Roman"/>
                <a:cs typeface="Times New Roman"/>
              </a:rPr>
              <a:t>(away from the site, 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800" dirty="0" smtClea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25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32751"/>
            <a:ext cx="77694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Essential factors for microbial bioremediation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366" y="1580456"/>
            <a:ext cx="826213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u="sng" dirty="0" smtClean="0">
                <a:latin typeface="Times"/>
                <a:cs typeface="Times"/>
              </a:rPr>
              <a:t>Factor</a:t>
            </a:r>
            <a:r>
              <a:rPr lang="en-US" altLang="ja-JP" sz="2000" dirty="0">
                <a:latin typeface="Times"/>
                <a:cs typeface="Times"/>
              </a:rPr>
              <a:t>	</a:t>
            </a:r>
            <a:r>
              <a:rPr lang="en-US" altLang="ja-JP" sz="2000" dirty="0" smtClean="0">
                <a:latin typeface="Times"/>
                <a:cs typeface="Times"/>
              </a:rPr>
              <a:t>				</a:t>
            </a:r>
            <a:r>
              <a:rPr lang="en-US" altLang="ja-JP" sz="2000" b="1" u="sng" dirty="0" smtClean="0">
                <a:latin typeface="Times"/>
                <a:cs typeface="Times"/>
              </a:rPr>
              <a:t>Desired Conditions</a:t>
            </a:r>
          </a:p>
          <a:p>
            <a:r>
              <a:rPr lang="en-US" altLang="ja-JP" sz="2000" dirty="0">
                <a:latin typeface="Times"/>
                <a:cs typeface="Times"/>
              </a:rPr>
              <a:t>	</a:t>
            </a:r>
          </a:p>
          <a:p>
            <a:r>
              <a:rPr lang="en-US" altLang="ja-JP" sz="2000" dirty="0">
                <a:latin typeface="Times"/>
                <a:cs typeface="Times"/>
              </a:rPr>
              <a:t>Microbial population	</a:t>
            </a:r>
            <a:r>
              <a:rPr lang="en-US" altLang="ja-JP" sz="2000" dirty="0" smtClean="0">
                <a:latin typeface="Times"/>
                <a:cs typeface="Times"/>
              </a:rPr>
              <a:t>	Suitable </a:t>
            </a:r>
            <a:r>
              <a:rPr lang="en-US" altLang="ja-JP" sz="2000" dirty="0">
                <a:latin typeface="Times"/>
                <a:cs typeface="Times"/>
              </a:rPr>
              <a:t>kinds of organisms that can biodegrade </a:t>
            </a:r>
            <a:r>
              <a:rPr lang="en-US" altLang="ja-JP" sz="2000" dirty="0" smtClean="0">
                <a:latin typeface="Times"/>
                <a:cs typeface="Times"/>
              </a:rPr>
              <a:t>						all of the </a:t>
            </a:r>
            <a:r>
              <a:rPr lang="en-US" altLang="ja-JP" sz="2000" dirty="0">
                <a:latin typeface="Times"/>
                <a:cs typeface="Times"/>
              </a:rPr>
              <a:t>contaminants	</a:t>
            </a:r>
            <a:endParaRPr lang="en-US" altLang="ja-JP" sz="2000" dirty="0" smtClean="0">
              <a:latin typeface="Times"/>
              <a:cs typeface="Times"/>
            </a:endParaRPr>
          </a:p>
          <a:p>
            <a:endParaRPr lang="en-US" altLang="ja-JP" sz="2000" dirty="0">
              <a:latin typeface="Times"/>
              <a:cs typeface="Times"/>
            </a:endParaRPr>
          </a:p>
          <a:p>
            <a:r>
              <a:rPr lang="en-US" altLang="ja-JP" sz="2000" dirty="0">
                <a:latin typeface="Times"/>
                <a:cs typeface="Times"/>
              </a:rPr>
              <a:t>Oxygen	</a:t>
            </a:r>
            <a:r>
              <a:rPr lang="en-US" altLang="ja-JP" sz="2000" dirty="0" smtClean="0">
                <a:latin typeface="Times"/>
                <a:cs typeface="Times"/>
              </a:rPr>
              <a:t>				Enough </a:t>
            </a:r>
            <a:r>
              <a:rPr lang="en-US" altLang="ja-JP" sz="2000" dirty="0">
                <a:latin typeface="Times"/>
                <a:cs typeface="Times"/>
              </a:rPr>
              <a:t>to support aerobic </a:t>
            </a:r>
            <a:endParaRPr lang="en-US" altLang="ja-JP" sz="2000" dirty="0" smtClean="0">
              <a:latin typeface="Times"/>
              <a:cs typeface="Times"/>
            </a:endParaRPr>
          </a:p>
          <a:p>
            <a:endParaRPr lang="en-US" altLang="ja-JP" sz="2000" dirty="0">
              <a:latin typeface="Times"/>
              <a:cs typeface="Times"/>
            </a:endParaRPr>
          </a:p>
          <a:p>
            <a:r>
              <a:rPr lang="en-US" altLang="ja-JP" sz="2000" dirty="0" smtClean="0">
                <a:latin typeface="Times"/>
                <a:cs typeface="Times"/>
              </a:rPr>
              <a:t>Water					Soil </a:t>
            </a:r>
            <a:r>
              <a:rPr lang="en-US" altLang="ja-JP" sz="2000" dirty="0">
                <a:latin typeface="Times"/>
                <a:cs typeface="Times"/>
              </a:rPr>
              <a:t>moisture should be from 50–70% of the </a:t>
            </a:r>
            <a:r>
              <a:rPr lang="en-US" altLang="ja-JP" sz="2000" dirty="0" smtClean="0">
                <a:latin typeface="Times"/>
                <a:cs typeface="Times"/>
              </a:rPr>
              <a:t>						water </a:t>
            </a:r>
            <a:r>
              <a:rPr lang="en-US" altLang="ja-JP" sz="2000" dirty="0">
                <a:latin typeface="Times"/>
                <a:cs typeface="Times"/>
              </a:rPr>
              <a:t>holding capacity of the soil	</a:t>
            </a:r>
            <a:endParaRPr lang="en-US" altLang="ja-JP" sz="2000" dirty="0" smtClean="0">
              <a:latin typeface="Times"/>
              <a:cs typeface="Times"/>
            </a:endParaRPr>
          </a:p>
          <a:p>
            <a:endParaRPr lang="en-US" altLang="ja-JP" sz="2000" dirty="0">
              <a:latin typeface="Times"/>
              <a:cs typeface="Times"/>
            </a:endParaRPr>
          </a:p>
          <a:p>
            <a:r>
              <a:rPr lang="en-US" altLang="ja-JP" sz="2000" dirty="0">
                <a:latin typeface="Times"/>
                <a:cs typeface="Times"/>
              </a:rPr>
              <a:t>Nutrients	</a:t>
            </a:r>
            <a:r>
              <a:rPr lang="en-US" altLang="ja-JP" sz="2000" dirty="0" smtClean="0">
                <a:latin typeface="Times"/>
                <a:cs typeface="Times"/>
              </a:rPr>
              <a:t>			Nitrogen</a:t>
            </a:r>
            <a:r>
              <a:rPr lang="en-US" altLang="ja-JP" sz="2000" dirty="0">
                <a:latin typeface="Times"/>
                <a:cs typeface="Times"/>
              </a:rPr>
              <a:t>, phosphorus, </a:t>
            </a:r>
            <a:r>
              <a:rPr lang="en-US" altLang="ja-JP" sz="2000" dirty="0" smtClean="0">
                <a:latin typeface="Times"/>
                <a:cs typeface="Times"/>
              </a:rPr>
              <a:t>sulfur and other nutrients</a:t>
            </a:r>
          </a:p>
          <a:p>
            <a:endParaRPr lang="en-US" altLang="ja-JP" sz="2000" dirty="0">
              <a:latin typeface="Times"/>
              <a:cs typeface="Times"/>
              <a:hlinkClick r:id="rId2"/>
            </a:endParaRPr>
          </a:p>
          <a:p>
            <a:r>
              <a:rPr lang="en-US" altLang="ja-JP" sz="2000" dirty="0">
                <a:latin typeface="Times"/>
                <a:cs typeface="Times"/>
              </a:rPr>
              <a:t>Temperature	</a:t>
            </a:r>
            <a:r>
              <a:rPr lang="en-US" altLang="ja-JP" sz="2000" dirty="0" smtClean="0">
                <a:latin typeface="Times"/>
                <a:cs typeface="Times"/>
              </a:rPr>
              <a:t>			Appropriate </a:t>
            </a:r>
            <a:r>
              <a:rPr lang="en-US" altLang="ja-JP" sz="2000" dirty="0">
                <a:latin typeface="Times"/>
                <a:cs typeface="Times"/>
              </a:rPr>
              <a:t>temperatures for microbial growth </a:t>
            </a:r>
            <a:r>
              <a:rPr lang="en-US" altLang="ja-JP" sz="2000" dirty="0" smtClean="0">
                <a:latin typeface="Times"/>
                <a:cs typeface="Times"/>
              </a:rPr>
              <a:t>						(</a:t>
            </a:r>
            <a:r>
              <a:rPr lang="en-US" altLang="ja-JP" sz="2000" dirty="0">
                <a:latin typeface="Times"/>
                <a:cs typeface="Times"/>
              </a:rPr>
              <a:t>0–40˚C)	</a:t>
            </a:r>
            <a:endParaRPr lang="en-US" altLang="ja-JP" sz="2000" dirty="0" smtClean="0">
              <a:latin typeface="Times"/>
              <a:cs typeface="Times"/>
            </a:endParaRPr>
          </a:p>
          <a:p>
            <a:endParaRPr lang="en-US" altLang="ja-JP" sz="2000" dirty="0">
              <a:latin typeface="Times"/>
              <a:cs typeface="Times"/>
            </a:endParaRPr>
          </a:p>
          <a:p>
            <a:r>
              <a:rPr lang="en-US" altLang="ja-JP" sz="2000" dirty="0">
                <a:latin typeface="Times"/>
                <a:cs typeface="Times"/>
              </a:rPr>
              <a:t>pH	</a:t>
            </a:r>
            <a:r>
              <a:rPr lang="en-US" altLang="ja-JP" sz="2000" dirty="0" smtClean="0">
                <a:latin typeface="Times"/>
                <a:cs typeface="Times"/>
              </a:rPr>
              <a:t>					Best </a:t>
            </a:r>
            <a:r>
              <a:rPr lang="en-US" altLang="ja-JP" sz="2000" dirty="0">
                <a:latin typeface="Times"/>
                <a:cs typeface="Times"/>
              </a:rPr>
              <a:t>range is from 6.5 to 7.5	</a:t>
            </a:r>
          </a:p>
          <a:p>
            <a:endParaRPr lang="en-US" altLang="ja-JP" sz="2000" dirty="0">
              <a:latin typeface="Times"/>
              <a:cs typeface="Times"/>
            </a:endParaRPr>
          </a:p>
          <a:p>
            <a:endParaRPr lang="en-US" altLang="ja-JP" sz="2000" dirty="0"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3842681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398205"/>
            <a:ext cx="7891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i="1" dirty="0">
                <a:solidFill>
                  <a:srgbClr val="FF0000"/>
                </a:solidFill>
                <a:latin typeface="Arial"/>
                <a:cs typeface="Arial"/>
              </a:rPr>
              <a:t>in situ </a:t>
            </a:r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bioremediation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3885" y="1630711"/>
            <a:ext cx="729539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err="1">
                <a:latin typeface="Times New Roman"/>
                <a:cs typeface="Times New Roman"/>
              </a:rPr>
              <a:t>Biostimulation</a:t>
            </a:r>
            <a:r>
              <a:rPr lang="en-US" altLang="ja-JP" sz="2800" dirty="0">
                <a:latin typeface="Times New Roman"/>
                <a:cs typeface="Times New Roman"/>
              </a:rPr>
              <a:t> refers to the stimulating </a:t>
            </a:r>
            <a:r>
              <a:rPr lang="en-US" altLang="ja-JP" sz="2800" dirty="0" smtClean="0">
                <a:latin typeface="Times New Roman"/>
                <a:cs typeface="Times New Roman"/>
              </a:rPr>
              <a:t>activity </a:t>
            </a:r>
            <a:r>
              <a:rPr lang="en-US" altLang="ja-JP" sz="2800" dirty="0">
                <a:latin typeface="Times New Roman"/>
                <a:cs typeface="Times New Roman"/>
              </a:rPr>
              <a:t>of the microorganisms by providing nutrients like phosphorus, nitrogen, oxygen and other electron </a:t>
            </a:r>
            <a:r>
              <a:rPr lang="en-US" altLang="ja-JP" sz="2800" dirty="0" smtClean="0">
                <a:latin typeface="Times New Roman"/>
                <a:cs typeface="Times New Roman"/>
              </a:rPr>
              <a:t>acceptors</a:t>
            </a: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r>
              <a:rPr lang="en-US" altLang="ja-JP" sz="2800" b="1" dirty="0" err="1">
                <a:latin typeface="Times New Roman"/>
                <a:cs typeface="Times New Roman"/>
              </a:rPr>
              <a:t>Bioaugmentation</a:t>
            </a:r>
            <a:r>
              <a:rPr lang="en-US" altLang="ja-JP" sz="2800" dirty="0">
                <a:latin typeface="Times New Roman"/>
                <a:cs typeface="Times New Roman"/>
              </a:rPr>
              <a:t> refers to the incorporation of microbes in the subsurface </a:t>
            </a:r>
            <a:r>
              <a:rPr lang="en-US" altLang="ja-JP" sz="2800" dirty="0" smtClean="0">
                <a:latin typeface="Times New Roman"/>
                <a:cs typeface="Times New Roman"/>
              </a:rPr>
              <a:t>environment </a:t>
            </a:r>
            <a:r>
              <a:rPr lang="en-US" altLang="ja-JP" sz="2800" dirty="0">
                <a:latin typeface="Times New Roman"/>
                <a:cs typeface="Times New Roman"/>
              </a:rPr>
              <a:t>to overcome the deficiency of </a:t>
            </a:r>
            <a:r>
              <a:rPr lang="en-US" altLang="ja-JP" sz="2800" dirty="0" smtClean="0">
                <a:latin typeface="Times New Roman"/>
                <a:cs typeface="Times New Roman"/>
              </a:rPr>
              <a:t>decontaminating </a:t>
            </a:r>
            <a:r>
              <a:rPr lang="en-US" altLang="ja-JP" sz="2800" dirty="0">
                <a:latin typeface="Times New Roman"/>
                <a:cs typeface="Times New Roman"/>
              </a:rPr>
              <a:t>microorganisms to degrade specific decontaminants </a:t>
            </a:r>
          </a:p>
          <a:p>
            <a:endParaRPr lang="en-US" altLang="ja-JP" sz="2800" dirty="0" smtClean="0">
              <a:latin typeface="Times New Roman"/>
              <a:cs typeface="Times New Roman"/>
            </a:endParaRPr>
          </a:p>
          <a:p>
            <a:endParaRPr lang="en-US" altLang="ja-JP" sz="2800" dirty="0"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latin typeface="Times New Roman"/>
                <a:cs typeface="Times New Roman"/>
              </a:rPr>
              <a:t> </a:t>
            </a:r>
            <a:endParaRPr lang="en-US" altLang="ja-JP" sz="2800" dirty="0">
              <a:latin typeface="Times New Roman"/>
              <a:cs typeface="Times New Roman"/>
            </a:endParaRPr>
          </a:p>
          <a:p>
            <a:endParaRPr kumimoji="1" lang="ja-JP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0838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304125"/>
            <a:ext cx="7891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i="1" dirty="0">
                <a:solidFill>
                  <a:srgbClr val="FF0000"/>
                </a:solidFill>
                <a:latin typeface="Arial"/>
                <a:cs typeface="Arial"/>
              </a:rPr>
              <a:t>in situ </a:t>
            </a:r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bioremediation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18" t="6465" r="1925" b="2408"/>
          <a:stretch/>
        </p:blipFill>
        <p:spPr>
          <a:xfrm>
            <a:off x="1865638" y="1520952"/>
            <a:ext cx="5440151" cy="48764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0" y="651828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sz="1200" dirty="0">
                <a:latin typeface="Times New Roman"/>
                <a:cs typeface="Times New Roman"/>
              </a:rPr>
              <a:t>http://</a:t>
            </a:r>
            <a:r>
              <a:rPr lang="en-US" altLang="ja-JP" sz="1200" dirty="0" err="1">
                <a:latin typeface="Times New Roman"/>
                <a:cs typeface="Times New Roman"/>
              </a:rPr>
              <a:t>www.nies.go.jp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kenko</a:t>
            </a:r>
            <a:r>
              <a:rPr lang="en-US" altLang="ja-JP" sz="1200" dirty="0">
                <a:latin typeface="Times New Roman"/>
                <a:cs typeface="Times New Roman"/>
              </a:rPr>
              <a:t>/biotech/</a:t>
            </a:r>
            <a:r>
              <a:rPr lang="en-US" altLang="ja-JP" sz="1200" dirty="0" err="1">
                <a:latin typeface="Times New Roman"/>
                <a:cs typeface="Times New Roman"/>
              </a:rPr>
              <a:t>bioehp</a:t>
            </a:r>
            <a:r>
              <a:rPr lang="en-US" altLang="ja-JP" sz="1200" dirty="0">
                <a:latin typeface="Times New Roman"/>
                <a:cs typeface="Times New Roman"/>
              </a:rPr>
              <a:t>/Topics1.html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861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304125"/>
            <a:ext cx="7891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i="1" dirty="0">
                <a:solidFill>
                  <a:srgbClr val="FF0000"/>
                </a:solidFill>
                <a:latin typeface="Arial"/>
                <a:cs typeface="Arial"/>
              </a:rPr>
              <a:t>in situ </a:t>
            </a:r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bioremediation of oil spills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259" y="1269353"/>
            <a:ext cx="6140121" cy="47515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86000" y="6461336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sz="1200" dirty="0">
                <a:latin typeface="Times New Roman"/>
                <a:cs typeface="Times New Roman"/>
              </a:rPr>
              <a:t>https://</a:t>
            </a:r>
            <a:r>
              <a:rPr lang="en-US" altLang="ja-JP" sz="1200" dirty="0" err="1">
                <a:latin typeface="Times New Roman"/>
                <a:cs typeface="Times New Roman"/>
              </a:rPr>
              <a:t>microbewiki.kenyon.edu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index.php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File:Lorenzo.gif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7450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472" y="257085"/>
            <a:ext cx="7891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De-chlorination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0" y="636725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sz="1200" dirty="0">
                <a:latin typeface="Times New Roman"/>
                <a:cs typeface="Times New Roman"/>
              </a:rPr>
              <a:t>https://</a:t>
            </a:r>
            <a:r>
              <a:rPr lang="en-US" altLang="ja-JP" sz="1200" dirty="0" err="1">
                <a:latin typeface="Times New Roman"/>
                <a:cs typeface="Times New Roman"/>
              </a:rPr>
              <a:t>clu-in.org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techfocus</a:t>
            </a:r>
            <a:r>
              <a:rPr lang="en-US" altLang="ja-JP" sz="1200" dirty="0">
                <a:latin typeface="Times New Roman"/>
                <a:cs typeface="Times New Roman"/>
              </a:rPr>
              <a:t>/</a:t>
            </a:r>
            <a:r>
              <a:rPr lang="en-US" altLang="ja-JP" sz="1200" dirty="0" err="1">
                <a:latin typeface="Times New Roman"/>
                <a:cs typeface="Times New Roman"/>
              </a:rPr>
              <a:t>default.focus</a:t>
            </a:r>
            <a:r>
              <a:rPr lang="en-US" altLang="ja-JP" sz="1200" dirty="0">
                <a:latin typeface="Times New Roman"/>
                <a:cs typeface="Times New Roman"/>
              </a:rPr>
              <a:t>/sec/Bioremediation/cat/</a:t>
            </a:r>
            <a:r>
              <a:rPr lang="en-US" altLang="ja-JP" sz="1200" dirty="0" err="1">
                <a:latin typeface="Times New Roman"/>
                <a:cs typeface="Times New Roman"/>
              </a:rPr>
              <a:t>Anaerobic_Bioremediation</a:t>
            </a:r>
            <a:r>
              <a:rPr lang="en-US" altLang="ja-JP" sz="1200" dirty="0">
                <a:latin typeface="Times New Roman"/>
                <a:cs typeface="Times New Roman"/>
              </a:rPr>
              <a:t>_(Direct)/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28" y="3455862"/>
            <a:ext cx="7340600" cy="2146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472" y="1283265"/>
            <a:ext cx="77817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Reductive </a:t>
            </a:r>
            <a:r>
              <a:rPr lang="en-US" altLang="ja-JP" sz="2000" dirty="0" err="1" smtClean="0">
                <a:latin typeface="Times New Roman"/>
                <a:cs typeface="Times New Roman"/>
              </a:rPr>
              <a:t>dechlorination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of </a:t>
            </a:r>
            <a:r>
              <a:rPr lang="en-US" altLang="ja-JP" sz="2000" dirty="0" err="1" smtClean="0">
                <a:latin typeface="Times New Roman"/>
                <a:cs typeface="Times New Roman"/>
              </a:rPr>
              <a:t>tetrachloroethene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(PCE) and </a:t>
            </a:r>
            <a:r>
              <a:rPr lang="en-US" altLang="ja-JP" sz="2000" dirty="0" err="1">
                <a:latin typeface="Times New Roman"/>
                <a:cs typeface="Times New Roman"/>
              </a:rPr>
              <a:t>trichloroeth</a:t>
            </a:r>
            <a:r>
              <a:rPr lang="en-US" altLang="ja-JP" sz="2000" dirty="0">
                <a:latin typeface="Times New Roman"/>
                <a:cs typeface="Times New Roman"/>
              </a:rPr>
              <a:t>- </a:t>
            </a:r>
            <a:r>
              <a:rPr lang="en-US" altLang="ja-JP" sz="2000" dirty="0" err="1">
                <a:latin typeface="Times New Roman"/>
                <a:cs typeface="Times New Roman"/>
              </a:rPr>
              <a:t>e</a:t>
            </a:r>
            <a:r>
              <a:rPr lang="en-US" altLang="ja-JP" sz="2000" dirty="0" err="1" smtClean="0">
                <a:latin typeface="Times New Roman"/>
                <a:cs typeface="Times New Roman"/>
              </a:rPr>
              <a:t>ne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(TCE) to </a:t>
            </a:r>
            <a:r>
              <a:rPr lang="en-US" altLang="ja-JP" sz="2000" smtClean="0">
                <a:latin typeface="Times New Roman"/>
                <a:cs typeface="Times New Roman"/>
              </a:rPr>
              <a:t>ethene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using a microbial consortium KB-1 under anaerobic </a:t>
            </a:r>
            <a:r>
              <a:rPr lang="en-US" altLang="ja-JP" sz="2000" dirty="0" smtClean="0">
                <a:latin typeface="Times New Roman"/>
                <a:cs typeface="Times New Roman"/>
              </a:rPr>
              <a:t>condition.</a:t>
            </a:r>
          </a:p>
          <a:p>
            <a:pPr marL="342900" indent="-342900">
              <a:buFont typeface="Arial"/>
              <a:buChar char="•"/>
            </a:pP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err="1" smtClean="0">
                <a:latin typeface="Times New Roman"/>
                <a:cs typeface="Times New Roman"/>
              </a:rPr>
              <a:t>Dehalorespiring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bacteria are </a:t>
            </a:r>
            <a:r>
              <a:rPr lang="en-US" altLang="ja-JP" sz="2000" i="1" dirty="0" err="1">
                <a:latin typeface="Times New Roman"/>
                <a:cs typeface="Times New Roman"/>
              </a:rPr>
              <a:t>Dehalospirillum</a:t>
            </a:r>
            <a:r>
              <a:rPr lang="en-US" altLang="ja-JP" sz="2000" dirty="0">
                <a:latin typeface="Times New Roman"/>
                <a:cs typeface="Times New Roman"/>
              </a:rPr>
              <a:t> </a:t>
            </a:r>
            <a:r>
              <a:rPr lang="en-US" altLang="ja-JP" sz="2000" i="1" dirty="0" err="1">
                <a:latin typeface="Times New Roman"/>
                <a:cs typeface="Times New Roman"/>
              </a:rPr>
              <a:t>multivorans</a:t>
            </a:r>
            <a:r>
              <a:rPr lang="en-US" altLang="ja-JP" sz="2000" i="1" dirty="0">
                <a:latin typeface="Times New Roman"/>
                <a:cs typeface="Times New Roman"/>
              </a:rPr>
              <a:t>, </a:t>
            </a:r>
            <a:r>
              <a:rPr lang="en-US" altLang="ja-JP" sz="2000" i="1" dirty="0" err="1">
                <a:latin typeface="Times New Roman"/>
                <a:cs typeface="Times New Roman"/>
              </a:rPr>
              <a:t>Dehalococcoides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i="1" dirty="0" err="1">
                <a:latin typeface="Times New Roman"/>
                <a:cs typeface="Times New Roman"/>
              </a:rPr>
              <a:t>ethenogenes</a:t>
            </a:r>
            <a:r>
              <a:rPr lang="en-US" altLang="ja-JP" sz="2000" i="1" dirty="0">
                <a:latin typeface="Times New Roman"/>
                <a:cs typeface="Times New Roman"/>
              </a:rPr>
              <a:t> and </a:t>
            </a:r>
            <a:r>
              <a:rPr lang="en-US" altLang="ja-JP" sz="2000" i="1" dirty="0" err="1">
                <a:latin typeface="Times New Roman"/>
                <a:cs typeface="Times New Roman"/>
              </a:rPr>
              <a:t>Dehalobacter</a:t>
            </a:r>
            <a:r>
              <a:rPr lang="en-US" altLang="ja-JP" sz="2000" i="1" dirty="0">
                <a:latin typeface="Times New Roman"/>
                <a:cs typeface="Times New Roman"/>
              </a:rPr>
              <a:t> </a:t>
            </a:r>
            <a:r>
              <a:rPr lang="en-US" altLang="ja-JP" sz="2000" i="1" dirty="0" err="1">
                <a:latin typeface="Times New Roman"/>
                <a:cs typeface="Times New Roman"/>
              </a:rPr>
              <a:t>restrictus</a:t>
            </a:r>
            <a:r>
              <a:rPr lang="en-US" altLang="ja-JP" sz="2000" i="1" dirty="0">
                <a:latin typeface="Times New Roman"/>
                <a:cs typeface="Times New Roman"/>
              </a:rPr>
              <a:t>. </a:t>
            </a:r>
            <a:endParaRPr kumimoji="1" lang="ja-JP" altLang="en-US" sz="2000" dirty="0"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4928" y="564477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 smtClean="0">
                <a:latin typeface="Times New Roman"/>
                <a:cs typeface="Times New Roman"/>
              </a:rPr>
              <a:t>Biostimulation</a:t>
            </a:r>
            <a:r>
              <a:rPr kumimoji="1" lang="en-US" altLang="ja-JP" dirty="0" smtClean="0">
                <a:latin typeface="Times New Roman"/>
                <a:cs typeface="Times New Roman"/>
              </a:rPr>
              <a:t> of indigenous bacteria </a:t>
            </a:r>
            <a:endParaRPr kumimoji="1" lang="ja-JP" altLang="en-US" dirty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6818" y="5644770"/>
            <a:ext cx="279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>
                <a:latin typeface="Times New Roman"/>
                <a:cs typeface="Times New Roman"/>
              </a:rPr>
              <a:t>Bioaugmentation</a:t>
            </a:r>
            <a:r>
              <a:rPr kumimoji="1" lang="en-US" altLang="ja-JP" dirty="0" smtClean="0">
                <a:latin typeface="Times New Roman"/>
                <a:cs typeface="Times New Roman"/>
              </a:rPr>
              <a:t> with KB-1 </a:t>
            </a:r>
            <a:endParaRPr kumimoji="1" lang="ja-JP" altLang="en-US" dirty="0">
              <a:latin typeface="Times New Roman"/>
              <a:cs typeface="Times New Roman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498174" y="5582051"/>
            <a:ext cx="2657354" cy="156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814928" y="5593332"/>
            <a:ext cx="4114800" cy="156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6251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3553" y="42461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Biodegradation of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Xenobiotic Compounds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824" y="1376234"/>
            <a:ext cx="809811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Xenobiotic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are </a:t>
            </a: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chemically 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synthesized</a:t>
            </a: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, unnatural compounds 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which </a:t>
            </a: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are foreign to 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biosphere. </a:t>
            </a:r>
            <a:endParaRPr lang="en-US" altLang="ja-JP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Halogenated </a:t>
            </a: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aliphatic and aromatic 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compounds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Nitro-</a:t>
            </a: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aromatics </a:t>
            </a: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Phthalate esters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Polycyclic </a:t>
            </a: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aromatic 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hydrocarbons </a:t>
            </a:r>
            <a:endParaRPr lang="en-US" altLang="ja-JP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8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4403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3553" y="31485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Bioremediation of heavy metals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824" y="1282154"/>
            <a:ext cx="809811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Heavy metals such as lead, mercury, cadmium, chromium, copper, to name a few, are very toxic. </a:t>
            </a: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Toxic heavy  metals released by industries poison the environment and threaten water supplies. </a:t>
            </a:r>
          </a:p>
          <a:p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Microorganisms 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immobilize metal ions by both active and passive processes. </a:t>
            </a:r>
            <a:endParaRPr lang="en-US" altLang="ja-JP" sz="20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0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For 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example, bacteria that use sulfate as a terminal electron acceptor actively produce and excrete an ion, sulfide, that forms an insoluble complex with metal ions present in solution causing the ions to </a:t>
            </a: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precipitate.</a:t>
            </a: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 err="1" smtClean="0">
                <a:solidFill>
                  <a:srgbClr val="000000"/>
                </a:solidFill>
                <a:latin typeface="Times New Roman"/>
                <a:cs typeface="Times New Roman"/>
              </a:rPr>
              <a:t>Biosorption</a:t>
            </a: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(strong binding of metal ions to bacterial cells and to polymeric substances secreted by the cells) is a passive process seen with both living and dead cells. </a:t>
            </a:r>
          </a:p>
          <a:p>
            <a:pPr marL="342900" indent="-342900">
              <a:buFont typeface="Arial"/>
              <a:buChar char="•"/>
            </a:pPr>
            <a:endParaRPr kumimoji="1" lang="en-US" altLang="ja-JP" sz="20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1826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3553" y="31485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Bioremediation of heavy metals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9714"/>
          <a:stretch/>
        </p:blipFill>
        <p:spPr>
          <a:xfrm>
            <a:off x="736848" y="1178402"/>
            <a:ext cx="3088503" cy="51173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36684" y="6579594"/>
            <a:ext cx="29073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dirty="0">
                <a:latin typeface="Times New Roman"/>
                <a:cs typeface="Times New Roman"/>
              </a:rPr>
              <a:t>http://</a:t>
            </a:r>
            <a:r>
              <a:rPr lang="en-US" altLang="ja-JP" sz="1200" dirty="0" err="1">
                <a:latin typeface="Times New Roman"/>
                <a:cs typeface="Times New Roman"/>
              </a:rPr>
              <a:t>biosorption.mcgill.ca</a:t>
            </a:r>
            <a:r>
              <a:rPr lang="en-US" altLang="ja-JP" sz="1200" dirty="0">
                <a:latin typeface="Times New Roman"/>
                <a:cs typeface="Times New Roman"/>
              </a:rPr>
              <a:t>/BT/</a:t>
            </a:r>
            <a:r>
              <a:rPr lang="en-US" altLang="ja-JP" sz="1200" dirty="0" err="1">
                <a:latin typeface="Times New Roman"/>
                <a:cs typeface="Times New Roman"/>
              </a:rPr>
              <a:t>BTbrief.htm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18234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3553" y="31485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Bioremediation of heavy metals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48" y="1178402"/>
            <a:ext cx="7666381" cy="51173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36684" y="6579594"/>
            <a:ext cx="29073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dirty="0">
                <a:latin typeface="Times New Roman"/>
                <a:cs typeface="Times New Roman"/>
              </a:rPr>
              <a:t>http://</a:t>
            </a:r>
            <a:r>
              <a:rPr lang="en-US" altLang="ja-JP" sz="1200" dirty="0" err="1">
                <a:latin typeface="Times New Roman"/>
                <a:cs typeface="Times New Roman"/>
              </a:rPr>
              <a:t>biosorption.mcgill.ca</a:t>
            </a:r>
            <a:r>
              <a:rPr lang="en-US" altLang="ja-JP" sz="1200" dirty="0">
                <a:latin typeface="Times New Roman"/>
                <a:cs typeface="Times New Roman"/>
              </a:rPr>
              <a:t>/BT/</a:t>
            </a:r>
            <a:r>
              <a:rPr lang="en-US" altLang="ja-JP" sz="1200" dirty="0" err="1">
                <a:latin typeface="Times New Roman"/>
                <a:cs typeface="Times New Roman"/>
              </a:rPr>
              <a:t>BTbrief.htm</a:t>
            </a:r>
            <a:endParaRPr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2694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3553" y="48295"/>
            <a:ext cx="84972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Mechanisms 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for heavy metal </a:t>
            </a:r>
            <a:r>
              <a:rPr lang="en-US" altLang="ja-JP" sz="3200" b="1" dirty="0" err="1">
                <a:solidFill>
                  <a:srgbClr val="FF0000"/>
                </a:solidFill>
                <a:latin typeface="Arial"/>
                <a:cs typeface="Arial"/>
              </a:rPr>
              <a:t>biosorption</a:t>
            </a:r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 process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7" y="720951"/>
            <a:ext cx="8094556" cy="61370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23910" y="6211669"/>
            <a:ext cx="2253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1200" dirty="0" err="1" smtClean="0">
                <a:latin typeface="Times New Roman"/>
                <a:cs typeface="Times New Roman"/>
              </a:rPr>
              <a:t>Hansda</a:t>
            </a:r>
            <a:r>
              <a:rPr lang="en-US" altLang="ja-JP" sz="1200" dirty="0" smtClean="0">
                <a:latin typeface="Times New Roman"/>
                <a:cs typeface="Times New Roman"/>
              </a:rPr>
              <a:t> (2015) </a:t>
            </a:r>
            <a:r>
              <a:rPr lang="en-US" altLang="ja-JP" sz="1200" i="1" dirty="0" smtClean="0">
                <a:latin typeface="Times New Roman"/>
                <a:cs typeface="Times New Roman"/>
              </a:rPr>
              <a:t>Research </a:t>
            </a:r>
            <a:r>
              <a:rPr lang="en-US" altLang="ja-JP" sz="1200" i="1" dirty="0">
                <a:latin typeface="Times New Roman"/>
                <a:cs typeface="Times New Roman"/>
              </a:rPr>
              <a:t>Journal of Environmental </a:t>
            </a:r>
            <a:r>
              <a:rPr lang="en-US" altLang="ja-JP" sz="1200" i="1" dirty="0" smtClean="0">
                <a:latin typeface="Times New Roman"/>
                <a:cs typeface="Times New Roman"/>
              </a:rPr>
              <a:t>Toxicology</a:t>
            </a:r>
            <a:endParaRPr lang="en-US" altLang="ja-JP" sz="1200" dirty="0">
              <a:latin typeface="Times New Roman"/>
              <a:cs typeface="Times New Roman"/>
            </a:endParaRPr>
          </a:p>
          <a:p>
            <a:pPr algn="r"/>
            <a:endParaRPr kumimoji="1" lang="ja-JP" alt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21494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57" y="975161"/>
            <a:ext cx="7528373" cy="55607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76946" y="6548939"/>
            <a:ext cx="2767054" cy="254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000" dirty="0" smtClean="0">
                <a:latin typeface="Arial"/>
              </a:rPr>
              <a:t>Newsome</a:t>
            </a:r>
            <a:r>
              <a:rPr lang="en-US" sz="1000" dirty="0">
                <a:latin typeface="Arial"/>
              </a:rPr>
              <a:t> </a:t>
            </a:r>
            <a:r>
              <a:rPr lang="en-US" sz="1000" dirty="0" smtClean="0">
                <a:latin typeface="Arial"/>
              </a:rPr>
              <a:t>et al (2014) </a:t>
            </a:r>
            <a:r>
              <a:rPr lang="en-US" altLang="ja-JP" sz="1000" dirty="0">
                <a:latin typeface="Arial"/>
              </a:rPr>
              <a:t>Chemical </a:t>
            </a:r>
            <a:r>
              <a:rPr lang="en-US" altLang="ja-JP" sz="1000" dirty="0" smtClean="0">
                <a:latin typeface="Arial"/>
              </a:rPr>
              <a:t>Geology</a:t>
            </a:r>
            <a:endParaRPr lang="en-US" sz="1000"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3553" y="953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Bioremediation of Uranium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912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3553" y="142375"/>
            <a:ext cx="8497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err="1" smtClean="0">
                <a:solidFill>
                  <a:srgbClr val="FF0000"/>
                </a:solidFill>
                <a:latin typeface="Arial"/>
                <a:cs typeface="Arial"/>
              </a:rPr>
              <a:t>Biomining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824" y="1172394"/>
            <a:ext cx="809811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000" b="1" dirty="0" err="1" smtClean="0">
                <a:solidFill>
                  <a:srgbClr val="000000"/>
                </a:solidFill>
                <a:latin typeface="Times New Roman"/>
                <a:cs typeface="Times New Roman"/>
              </a:rPr>
              <a:t>Biomining</a:t>
            </a: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is the use 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of </a:t>
            </a: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microbes to recover minerals 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and metals from the earth’s crust. </a:t>
            </a:r>
            <a:endParaRPr lang="en-US" altLang="ja-JP" sz="20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Biomining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 comprises of two microbial </a:t>
            </a: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processes:</a:t>
            </a: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Bioleaching</a:t>
            </a:r>
            <a:r>
              <a:rPr lang="en-US" altLang="ja-JP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conversion of an insoluble metal (generally a metal sulfide, e.g., </a:t>
            </a: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CuS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NiS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ZnS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) into a soluble form (usually the metal sulfate, e.g., CuSO</a:t>
            </a:r>
            <a:r>
              <a:rPr lang="en-US" altLang="ja-JP" sz="20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, NiSO</a:t>
            </a:r>
            <a:r>
              <a:rPr lang="en-US" altLang="ja-JP" sz="20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, ZnSO</a:t>
            </a:r>
            <a:r>
              <a:rPr lang="en-US" altLang="ja-JP" sz="20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) </a:t>
            </a:r>
          </a:p>
          <a:p>
            <a:pPr lvl="1"/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Bio</a:t>
            </a:r>
            <a:r>
              <a:rPr lang="en-US" altLang="ja-JP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lang="en-US" altLang="ja-JP" sz="20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oxidation</a:t>
            </a:r>
            <a:r>
              <a:rPr lang="en-US" altLang="ja-JP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 bacterial oxidation of reduced </a:t>
            </a: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sulphur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 species associated with the metal of interest </a:t>
            </a:r>
            <a:endParaRPr lang="en-US" altLang="ja-JP" sz="20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Bioleaching has been successfully employed for the extraction of gold, copper, iron and uranium </a:t>
            </a:r>
            <a:endParaRPr lang="en-US" altLang="ja-JP" sz="20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altLang="ja-JP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Acidophilic </a:t>
            </a: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sulphur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-oxidizing bacteria, particularly </a:t>
            </a:r>
            <a:r>
              <a:rPr lang="en-US" altLang="ja-JP" sz="2000" i="1" dirty="0" err="1">
                <a:solidFill>
                  <a:srgbClr val="000000"/>
                </a:solidFill>
                <a:latin typeface="Times New Roman"/>
                <a:cs typeface="Times New Roman"/>
              </a:rPr>
              <a:t>Thiobacillus</a:t>
            </a:r>
            <a:r>
              <a:rPr lang="en-US" altLang="ja-JP"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ja-JP" sz="2000" i="1" dirty="0" err="1">
                <a:solidFill>
                  <a:srgbClr val="000000"/>
                </a:solidFill>
                <a:latin typeface="Times New Roman"/>
                <a:cs typeface="Times New Roman"/>
              </a:rPr>
              <a:t>ferrooxidans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, play a major role in metal </a:t>
            </a:r>
            <a:r>
              <a:rPr lang="en-US" altLang="ja-JP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solubilization</a:t>
            </a:r>
            <a:r>
              <a:rPr lang="en-US" altLang="ja-JP" sz="2000" dirty="0">
                <a:solidFill>
                  <a:srgbClr val="000000"/>
                </a:solidFill>
                <a:latin typeface="Times New Roman"/>
                <a:cs typeface="Times New Roman"/>
              </a:rPr>
              <a:t> (leaching) </a:t>
            </a: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100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9320"/>
            <a:ext cx="9144000" cy="6091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err="1" smtClean="0">
                <a:solidFill>
                  <a:srgbClr val="FF0000"/>
                </a:solidFill>
                <a:latin typeface="Arial"/>
                <a:cs typeface="Arial"/>
              </a:rPr>
              <a:t>Biomining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14630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err="1" smtClean="0">
                <a:solidFill>
                  <a:srgbClr val="FF0000"/>
                </a:solidFill>
                <a:latin typeface="Arial"/>
                <a:cs typeface="Arial"/>
              </a:rPr>
              <a:t>Biomining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 of copper 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41" y="1403952"/>
            <a:ext cx="6910830" cy="12929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76928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err="1" smtClean="0">
                <a:solidFill>
                  <a:srgbClr val="FF0000"/>
                </a:solidFill>
                <a:latin typeface="Arial"/>
                <a:cs typeface="Arial"/>
              </a:rPr>
              <a:t>Biomining</a:t>
            </a:r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 of copper 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97" y="3178969"/>
            <a:ext cx="6879474" cy="35477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41" y="1403952"/>
            <a:ext cx="6910830" cy="1292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29973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Wastewater treatment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2824" y="1470314"/>
            <a:ext cx="80981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3200" dirty="0">
                <a:solidFill>
                  <a:srgbClr val="000000"/>
                </a:solidFill>
                <a:latin typeface="Times New Roman"/>
                <a:cs typeface="Times New Roman"/>
              </a:rPr>
              <a:t>The challenge of wastewater treatment is to </a:t>
            </a:r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remove:</a:t>
            </a:r>
          </a:p>
          <a:p>
            <a:pPr marL="457200" indent="-457200">
              <a:buFont typeface="Arial"/>
              <a:buChar char="•"/>
            </a:pPr>
            <a:endParaRPr lang="en-US" altLang="ja-JP" sz="32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Compounds with a high biochemical oxygen demand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32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Pathogenic organisms and viruses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32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 multitude of </a:t>
            </a:r>
            <a:r>
              <a:rPr lang="en-US" altLang="ja-JP" sz="3200" dirty="0">
                <a:solidFill>
                  <a:srgbClr val="000000"/>
                </a:solidFill>
                <a:latin typeface="Times New Roman"/>
                <a:cs typeface="Times New Roman"/>
              </a:rPr>
              <a:t>human-made </a:t>
            </a:r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chemicals</a:t>
            </a:r>
            <a:endParaRPr lang="en-US" altLang="ja-JP" sz="3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7383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Wastewater treatment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2824" y="1282154"/>
            <a:ext cx="8098117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Options for the treatment of waste-waters include: </a:t>
            </a: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endParaRPr lang="en-US" altLang="ja-JP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Biological treatments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, involving aerobic and/or anaerobic processes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Chemical treatments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, such as coagulation, flocculation, precipitation and electrochemical processes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Physical treatments</a:t>
            </a:r>
            <a:r>
              <a:rPr lang="en-US" altLang="ja-JP" sz="2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, often in the form of screening, sedimentation or incineration. </a:t>
            </a:r>
            <a:endParaRPr lang="en-US" altLang="ja-JP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en-US" altLang="ja-JP" sz="280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kumimoji="1" lang="ja-JP" altLang="en-US" sz="28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75617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Wastewater treatment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2824" y="1282154"/>
            <a:ext cx="8098117" cy="4893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00" dirty="0" smtClean="0">
                <a:latin typeface="Times New Roman"/>
                <a:cs typeface="Times New Roman"/>
              </a:rPr>
              <a:t>Biological wastewater </a:t>
            </a:r>
            <a:r>
              <a:rPr lang="en-US" altLang="ja-JP" sz="2600" dirty="0">
                <a:latin typeface="Times New Roman"/>
                <a:cs typeface="Times New Roman"/>
              </a:rPr>
              <a:t>treatment plant </a:t>
            </a:r>
            <a:r>
              <a:rPr lang="en-US" altLang="ja-JP" sz="2600" dirty="0" smtClean="0">
                <a:latin typeface="Times New Roman"/>
                <a:cs typeface="Times New Roman"/>
              </a:rPr>
              <a:t>can </a:t>
            </a:r>
            <a:r>
              <a:rPr lang="en-US" altLang="ja-JP" sz="2600" dirty="0">
                <a:latin typeface="Times New Roman"/>
                <a:cs typeface="Times New Roman"/>
              </a:rPr>
              <a:t>be divided into three main stages:</a:t>
            </a:r>
            <a:br>
              <a:rPr lang="en-US" altLang="ja-JP" sz="2600" dirty="0">
                <a:latin typeface="Times New Roman"/>
                <a:cs typeface="Times New Roman"/>
              </a:rPr>
            </a:b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600" b="1" dirty="0" smtClean="0">
                <a:latin typeface="Times New Roman"/>
                <a:cs typeface="Times New Roman"/>
              </a:rPr>
              <a:t>Primary </a:t>
            </a:r>
            <a:r>
              <a:rPr lang="en-US" altLang="ja-JP" sz="2600" b="1" dirty="0">
                <a:latin typeface="Times New Roman"/>
                <a:cs typeface="Times New Roman"/>
              </a:rPr>
              <a:t>treatment </a:t>
            </a:r>
            <a:r>
              <a:rPr lang="en-US" altLang="ja-JP" sz="2600" dirty="0">
                <a:latin typeface="Times New Roman"/>
                <a:cs typeface="Times New Roman"/>
              </a:rPr>
              <a:t>(preliminary treatments and </a:t>
            </a:r>
            <a:r>
              <a:rPr lang="en-US" altLang="ja-JP" sz="2600" dirty="0" smtClean="0">
                <a:latin typeface="Times New Roman"/>
                <a:cs typeface="Times New Roman"/>
              </a:rPr>
              <a:t>primary </a:t>
            </a:r>
            <a:r>
              <a:rPr lang="en-US" altLang="ja-JP" sz="2600" dirty="0">
                <a:latin typeface="Times New Roman"/>
                <a:cs typeface="Times New Roman"/>
              </a:rPr>
              <a:t>sedimentation</a:t>
            </a:r>
            <a:r>
              <a:rPr lang="en-US" altLang="ja-JP" sz="2600" dirty="0" smtClean="0">
                <a:latin typeface="Times New Roman"/>
                <a:cs typeface="Times New Roman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600" b="1" dirty="0" smtClean="0">
                <a:latin typeface="Times New Roman"/>
                <a:cs typeface="Times New Roman"/>
              </a:rPr>
              <a:t>Secondary </a:t>
            </a:r>
            <a:r>
              <a:rPr lang="en-US" altLang="ja-JP" sz="2600" b="1" dirty="0">
                <a:latin typeface="Times New Roman"/>
                <a:cs typeface="Times New Roman"/>
              </a:rPr>
              <a:t>treatment </a:t>
            </a:r>
            <a:r>
              <a:rPr lang="en-US" altLang="ja-JP" sz="2600" dirty="0">
                <a:latin typeface="Times New Roman"/>
                <a:cs typeface="Times New Roman"/>
              </a:rPr>
              <a:t>(aerobic and/or anaerobic biological treatment and secondary sedimentation</a:t>
            </a:r>
            <a:r>
              <a:rPr lang="en-US" altLang="ja-JP" sz="2600" dirty="0" smtClean="0">
                <a:latin typeface="Times New Roman"/>
                <a:cs typeface="Times New Roman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6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600" b="1" dirty="0" smtClean="0">
                <a:latin typeface="Times New Roman"/>
                <a:cs typeface="Times New Roman"/>
              </a:rPr>
              <a:t>Tertiary </a:t>
            </a:r>
            <a:r>
              <a:rPr lang="en-US" altLang="ja-JP" sz="2600" b="1" dirty="0">
                <a:latin typeface="Times New Roman"/>
                <a:cs typeface="Times New Roman"/>
              </a:rPr>
              <a:t>treatment</a:t>
            </a:r>
            <a:r>
              <a:rPr lang="en-US" altLang="ja-JP" sz="2600" dirty="0">
                <a:latin typeface="Times New Roman"/>
                <a:cs typeface="Times New Roman"/>
              </a:rPr>
              <a:t>, which includes processes that, where necessary, remove any remaining inorganic </a:t>
            </a:r>
            <a:r>
              <a:rPr lang="en-US" altLang="ja-JP" sz="2600" dirty="0" smtClean="0">
                <a:latin typeface="Times New Roman"/>
                <a:cs typeface="Times New Roman"/>
              </a:rPr>
              <a:t>nutrients</a:t>
            </a:r>
            <a:r>
              <a:rPr lang="en-US" altLang="ja-JP" sz="2600" dirty="0">
                <a:latin typeface="Times New Roman"/>
                <a:cs typeface="Times New Roman"/>
              </a:rPr>
              <a:t>, especially phosphate and nitrate. </a:t>
            </a:r>
            <a:endParaRPr kumimoji="1" lang="ja-JP" altLang="en-US" sz="2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4170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 b="68715"/>
          <a:stretch/>
        </p:blipFill>
        <p:spPr>
          <a:xfrm>
            <a:off x="909302" y="1113274"/>
            <a:ext cx="7399859" cy="1709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3999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/>
          <a:stretch/>
        </p:blipFill>
        <p:spPr>
          <a:xfrm>
            <a:off x="909302" y="1113274"/>
            <a:ext cx="7399859" cy="574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909302" y="2759664"/>
            <a:ext cx="5628286" cy="398269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407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/>
          <a:stretch/>
        </p:blipFill>
        <p:spPr>
          <a:xfrm>
            <a:off x="909302" y="1113274"/>
            <a:ext cx="7399859" cy="574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909302" y="2759664"/>
            <a:ext cx="3637222" cy="398269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2963078" y="4479053"/>
            <a:ext cx="3637222" cy="253574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007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Microbiological treatment 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705495" y="1442055"/>
            <a:ext cx="78545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/>
                <a:cs typeface="Times New Roman"/>
              </a:rPr>
              <a:t>The basic microbiological phenomenon in the treatment of wastes in aqueous environments is as follows</a:t>
            </a:r>
            <a:r>
              <a:rPr lang="en-US" altLang="ja-JP" sz="2400" dirty="0" smtClean="0">
                <a:latin typeface="Times New Roman"/>
                <a:cs typeface="Times New Roman"/>
              </a:rPr>
              <a:t>:</a:t>
            </a:r>
          </a:p>
          <a:p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degradable organic compounds in the waste water (carbohydrates, proteins, fats, etc.) are broken down by aerobic micro-organisms mainly bacteria and to some extent, fungi. The result is an effluent with a drastically reduced organic matter content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endParaRPr lang="en-US" altLang="ja-JP" sz="24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The materials difficult to digest form a sludge which must be removed from time to </a:t>
            </a:r>
            <a:r>
              <a:rPr lang="en-US" altLang="ja-JP" sz="2400" dirty="0">
                <a:latin typeface="Times New Roman"/>
                <a:cs typeface="Times New Roman"/>
              </a:rPr>
              <a:t>time and which is also treated separately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365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Aerobic breakdown of raw waste waters</a:t>
            </a:r>
          </a:p>
          <a:p>
            <a:pPr algn="ctr"/>
            <a:r>
              <a:rPr lang="en-US" altLang="ja-JP" sz="2800" b="1" i="1" dirty="0" smtClean="0">
                <a:solidFill>
                  <a:srgbClr val="FF0000"/>
                </a:solidFill>
                <a:latin typeface="Arial"/>
                <a:cs typeface="Arial"/>
              </a:rPr>
              <a:t>Activated </a:t>
            </a:r>
            <a:r>
              <a:rPr lang="en-US" altLang="ja-JP" sz="2800" b="1" i="1" dirty="0">
                <a:solidFill>
                  <a:srgbClr val="FF0000"/>
                </a:solidFill>
                <a:latin typeface="Arial"/>
                <a:cs typeface="Arial"/>
              </a:rPr>
              <a:t>sludge  </a:t>
            </a:r>
            <a:endParaRPr lang="en-US" altLang="ja-JP" sz="28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501684" y="1426375"/>
            <a:ext cx="830916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two methods which are usually employed include the activated sludge and the trickling </a:t>
            </a:r>
            <a:r>
              <a:rPr lang="en-US" altLang="ja-JP" sz="2000" dirty="0" smtClean="0">
                <a:latin typeface="Times New Roman"/>
                <a:cs typeface="Times New Roman"/>
              </a:rPr>
              <a:t>filter:</a:t>
            </a:r>
          </a:p>
          <a:p>
            <a:endParaRPr lang="en-US" altLang="ja-JP" sz="2000" dirty="0">
              <a:latin typeface="Times New Roman"/>
              <a:cs typeface="Times New Roman"/>
            </a:endParaRPr>
          </a:p>
          <a:p>
            <a:r>
              <a:rPr lang="en-US" altLang="ja-JP" sz="2000" b="1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b="1" dirty="0">
                <a:latin typeface="Times New Roman"/>
                <a:cs typeface="Times New Roman"/>
              </a:rPr>
              <a:t>activated sludge </a:t>
            </a:r>
            <a:r>
              <a:rPr lang="en-US" altLang="ja-JP" sz="2000" b="1" dirty="0" smtClean="0">
                <a:latin typeface="Times New Roman"/>
                <a:cs typeface="Times New Roman"/>
              </a:rPr>
              <a:t>system: </a:t>
            </a:r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activated sludge method is </a:t>
            </a:r>
            <a:r>
              <a:rPr lang="en-US" altLang="ja-JP" sz="2000" dirty="0" smtClean="0">
                <a:latin typeface="Times New Roman"/>
                <a:cs typeface="Times New Roman"/>
              </a:rPr>
              <a:t>used for </a:t>
            </a:r>
            <a:r>
              <a:rPr lang="en-US" altLang="ja-JP" sz="2000" dirty="0">
                <a:latin typeface="Times New Roman"/>
                <a:cs typeface="Times New Roman"/>
              </a:rPr>
              <a:t>treating waste waters. Its main features are as follows: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endParaRPr lang="en-US" altLang="ja-JP" sz="20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It uses a complex population of microorganisms of bacteria and protozoa</a:t>
            </a:r>
            <a:endParaRPr lang="en-US" altLang="ja-JP" sz="20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Microorganisms </a:t>
            </a:r>
            <a:r>
              <a:rPr lang="en-US" altLang="ja-JP" sz="2000" dirty="0">
                <a:latin typeface="Times New Roman"/>
                <a:cs typeface="Times New Roman"/>
              </a:rPr>
              <a:t>has to cope with an uncontrollably diverse range of organic and inorganic compounds some of which may be toxic to the </a:t>
            </a:r>
            <a:r>
              <a:rPr lang="en-US" altLang="ja-JP" sz="2000" dirty="0" smtClean="0">
                <a:latin typeface="Times New Roman"/>
                <a:cs typeface="Times New Roman"/>
              </a:rPr>
              <a:t>organisms</a:t>
            </a:r>
            <a:r>
              <a:rPr lang="en-US" altLang="ja-JP" sz="2000" dirty="0">
                <a:latin typeface="Times New Roman"/>
                <a:cs typeface="Times New Roman"/>
              </a:rPr>
              <a:t>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microorganisms occur in discreet aggregates known as </a:t>
            </a:r>
            <a:r>
              <a:rPr lang="en-US" altLang="ja-JP" sz="2000" b="1" dirty="0" err="1" smtClean="0">
                <a:latin typeface="Times New Roman"/>
                <a:cs typeface="Times New Roman"/>
              </a:rPr>
              <a:t>flocs</a:t>
            </a:r>
            <a:r>
              <a:rPr lang="en-US" altLang="ja-JP" sz="2000" dirty="0" smtClean="0">
                <a:latin typeface="Times New Roman"/>
                <a:cs typeface="Times New Roman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b="1" dirty="0" err="1" smtClean="0">
                <a:latin typeface="Times New Roman"/>
                <a:cs typeface="Times New Roman"/>
              </a:rPr>
              <a:t>Flocs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consist of bacterial cells, extracellular polymeric substances, adsorbed organic matter, and inorganic matter. </a:t>
            </a:r>
            <a:r>
              <a:rPr lang="en-US" altLang="ja-JP" sz="2000" dirty="0" err="1">
                <a:latin typeface="Times New Roman"/>
                <a:cs typeface="Times New Roman"/>
              </a:rPr>
              <a:t>Flocs</a:t>
            </a:r>
            <a:r>
              <a:rPr lang="en-US" altLang="ja-JP" sz="2000" dirty="0">
                <a:latin typeface="Times New Roman"/>
                <a:cs typeface="Times New Roman"/>
              </a:rPr>
              <a:t> are highly variable in morphology, typically 40 to 400 mm and not easy to break </a:t>
            </a:r>
            <a:r>
              <a:rPr lang="en-US" altLang="ja-JP" sz="2000" dirty="0" smtClean="0">
                <a:latin typeface="Times New Roman"/>
                <a:cs typeface="Times New Roman"/>
              </a:rPr>
              <a:t>apart.</a:t>
            </a:r>
            <a:endParaRPr lang="en-US" altLang="ja-JP" sz="2000" dirty="0"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2222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933" y="1091970"/>
            <a:ext cx="4775017" cy="28510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3553" y="1255"/>
            <a:ext cx="8497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Aerobic breakdown of raw waste waters</a:t>
            </a:r>
          </a:p>
          <a:p>
            <a:pPr algn="ctr"/>
            <a:r>
              <a:rPr lang="en-US" altLang="ja-JP" sz="2800" b="1" i="1" dirty="0" smtClean="0">
                <a:solidFill>
                  <a:srgbClr val="FF0000"/>
                </a:solidFill>
                <a:latin typeface="Arial"/>
                <a:cs typeface="Arial"/>
              </a:rPr>
              <a:t>Activated </a:t>
            </a:r>
            <a:r>
              <a:rPr lang="en-US" altLang="ja-JP" sz="2800" b="1" i="1" dirty="0">
                <a:solidFill>
                  <a:srgbClr val="FF0000"/>
                </a:solidFill>
                <a:latin typeface="Arial"/>
                <a:cs typeface="Arial"/>
              </a:rPr>
              <a:t>sludge  </a:t>
            </a:r>
            <a:endParaRPr lang="en-US" altLang="ja-JP" sz="28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19274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501685" y="4122040"/>
            <a:ext cx="830916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altLang="ja-JP" sz="2000" dirty="0">
                <a:latin typeface="Times New Roman"/>
                <a:cs typeface="Times New Roman"/>
              </a:rPr>
              <a:t>The </a:t>
            </a:r>
            <a:r>
              <a:rPr lang="en-US" altLang="ja-JP" sz="2000" dirty="0" err="1">
                <a:latin typeface="Times New Roman"/>
                <a:cs typeface="Times New Roman"/>
              </a:rPr>
              <a:t>flocs</a:t>
            </a:r>
            <a:r>
              <a:rPr lang="en-US" altLang="ja-JP" sz="2000" dirty="0">
                <a:latin typeface="Times New Roman"/>
                <a:cs typeface="Times New Roman"/>
              </a:rPr>
              <a:t> must have good settling properties so that separation of the biomass of microorganisms and liquid phases can occur efficiently and rapidly in the clarifier.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altLang="ja-JP" sz="2000" dirty="0" smtClean="0">
                <a:latin typeface="Times New Roman"/>
                <a:cs typeface="Times New Roman"/>
              </a:rPr>
              <a:t>Some of the settled biomass is recycled to </a:t>
            </a:r>
            <a:r>
              <a:rPr lang="en-US" altLang="ja-JP" sz="2000" dirty="0">
                <a:latin typeface="Times New Roman"/>
                <a:cs typeface="Times New Roman"/>
              </a:rPr>
              <a:t>inoculate the incoming raw sewage because it contains a community of organisms adapted to the incoming sewage. 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solid undigested sludge may be further treated into economically valuable products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933" y="1091970"/>
            <a:ext cx="4775017" cy="28510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3553" y="1255"/>
            <a:ext cx="8497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Aerobic breakdown of raw waste waters</a:t>
            </a:r>
          </a:p>
          <a:p>
            <a:pPr algn="ctr"/>
            <a:r>
              <a:rPr lang="en-US" altLang="ja-JP" sz="2800" b="1" i="1" dirty="0" smtClean="0">
                <a:solidFill>
                  <a:srgbClr val="FF0000"/>
                </a:solidFill>
                <a:latin typeface="Arial"/>
                <a:cs typeface="Arial"/>
              </a:rPr>
              <a:t>Activated </a:t>
            </a:r>
            <a:r>
              <a:rPr lang="en-US" altLang="ja-JP" sz="2800" b="1" i="1" dirty="0">
                <a:solidFill>
                  <a:srgbClr val="FF0000"/>
                </a:solidFill>
                <a:latin typeface="Arial"/>
                <a:cs typeface="Arial"/>
              </a:rPr>
              <a:t>sludge  </a:t>
            </a:r>
            <a:endParaRPr lang="en-US" altLang="ja-JP" sz="28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5280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553" y="1255"/>
            <a:ext cx="8497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Aerobic breakdown of raw waste waters</a:t>
            </a:r>
          </a:p>
          <a:p>
            <a:pPr algn="ctr"/>
            <a:r>
              <a:rPr lang="en-US" altLang="ja-JP" sz="2800" b="1" i="1" dirty="0" smtClean="0">
                <a:solidFill>
                  <a:srgbClr val="FF0000"/>
                </a:solidFill>
                <a:latin typeface="Arial"/>
                <a:cs typeface="Arial"/>
              </a:rPr>
              <a:t>Activated </a:t>
            </a:r>
            <a:r>
              <a:rPr lang="en-US" altLang="ja-JP" sz="2800" b="1" i="1" dirty="0">
                <a:solidFill>
                  <a:srgbClr val="FF0000"/>
                </a:solidFill>
                <a:latin typeface="Arial"/>
                <a:cs typeface="Arial"/>
              </a:rPr>
              <a:t>sludge  </a:t>
            </a:r>
            <a:endParaRPr lang="en-US" altLang="ja-JP" sz="28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86" y="1063958"/>
            <a:ext cx="6393496" cy="59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322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Aerobic breakdown of raw waste waters</a:t>
            </a:r>
          </a:p>
          <a:p>
            <a:pPr algn="ctr"/>
            <a:r>
              <a:rPr lang="en-US" altLang="ja-JP" sz="2800" b="1" i="1" dirty="0">
                <a:solidFill>
                  <a:srgbClr val="FF0000"/>
                </a:solidFill>
                <a:latin typeface="Arial"/>
                <a:cs typeface="Arial"/>
              </a:rPr>
              <a:t>Trickling filter</a:t>
            </a:r>
          </a:p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501685" y="5486191"/>
            <a:ext cx="830916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 smtClean="0">
                <a:latin typeface="Times New Roman"/>
                <a:cs typeface="Times New Roman"/>
              </a:rPr>
              <a:t>Trickling filter</a:t>
            </a:r>
          </a:p>
          <a:p>
            <a:r>
              <a:rPr lang="en-US" altLang="ja-JP" sz="2000" dirty="0" smtClean="0">
                <a:latin typeface="Times New Roman"/>
                <a:cs typeface="Times New Roman"/>
              </a:rPr>
              <a:t>A </a:t>
            </a:r>
            <a:r>
              <a:rPr lang="en-US" altLang="ja-JP" sz="2000" dirty="0">
                <a:latin typeface="Times New Roman"/>
                <a:cs typeface="Times New Roman"/>
              </a:rPr>
              <a:t>coating of microorganisms </a:t>
            </a:r>
            <a:r>
              <a:rPr lang="en-US" altLang="ja-JP" sz="2000" dirty="0" smtClean="0">
                <a:latin typeface="Times New Roman"/>
                <a:cs typeface="Times New Roman"/>
              </a:rPr>
              <a:t>form </a:t>
            </a:r>
            <a:r>
              <a:rPr lang="en-US" altLang="ja-JP" sz="2000" b="1" dirty="0" smtClean="0">
                <a:latin typeface="Times New Roman"/>
                <a:cs typeface="Times New Roman"/>
              </a:rPr>
              <a:t>(Biofilm)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on the stones as the waste water trickles down the filter and these organisms break-down the waste. Fungi, algae, protozoa and bacteria form on the rocks</a:t>
            </a:r>
            <a:r>
              <a:rPr lang="en-US" altLang="ja-JP" sz="2000" dirty="0" smtClean="0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27" y="1189045"/>
            <a:ext cx="7547503" cy="435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87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Aerobic breakdown of raw waste waters</a:t>
            </a:r>
          </a:p>
          <a:p>
            <a:pPr algn="ctr"/>
            <a:r>
              <a:rPr lang="en-US" altLang="ja-JP" sz="2800" b="1" i="1" dirty="0">
                <a:solidFill>
                  <a:srgbClr val="FF0000"/>
                </a:solidFill>
                <a:latin typeface="Arial"/>
                <a:cs typeface="Arial"/>
              </a:rPr>
              <a:t>Trickling filter</a:t>
            </a:r>
          </a:p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501685" y="5486191"/>
            <a:ext cx="830916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 smtClean="0">
                <a:latin typeface="Times New Roman"/>
                <a:cs typeface="Times New Roman"/>
              </a:rPr>
              <a:t>Trickling filter</a:t>
            </a:r>
          </a:p>
          <a:p>
            <a:r>
              <a:rPr lang="en-US" altLang="ja-JP" sz="2000" dirty="0" smtClean="0">
                <a:latin typeface="Times New Roman"/>
                <a:cs typeface="Times New Roman"/>
              </a:rPr>
              <a:t>A </a:t>
            </a:r>
            <a:r>
              <a:rPr lang="en-US" altLang="ja-JP" sz="2000" dirty="0">
                <a:latin typeface="Times New Roman"/>
                <a:cs typeface="Times New Roman"/>
              </a:rPr>
              <a:t>coating of microorganisms </a:t>
            </a:r>
            <a:r>
              <a:rPr lang="en-US" altLang="ja-JP" sz="2000" dirty="0" smtClean="0">
                <a:latin typeface="Times New Roman"/>
                <a:cs typeface="Times New Roman"/>
              </a:rPr>
              <a:t>form </a:t>
            </a:r>
            <a:r>
              <a:rPr lang="en-US" altLang="ja-JP" sz="2000" b="1" dirty="0" smtClean="0">
                <a:latin typeface="Times New Roman"/>
                <a:cs typeface="Times New Roman"/>
              </a:rPr>
              <a:t>(Biofilm)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on the stones as the waste water trickles down the filter and these organisms break-down the waste. Fungi, algae, protozoa and bacteria form on the rocks</a:t>
            </a:r>
            <a:r>
              <a:rPr lang="en-US" altLang="ja-JP" sz="2000" dirty="0" smtClean="0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27" y="1498853"/>
            <a:ext cx="5640624" cy="39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02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/>
          <a:stretch/>
        </p:blipFill>
        <p:spPr>
          <a:xfrm>
            <a:off x="909302" y="1113274"/>
            <a:ext cx="7399859" cy="574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909302" y="2759664"/>
            <a:ext cx="3637222" cy="398269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2963078" y="4479053"/>
            <a:ext cx="3637222" cy="253574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86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/>
          <a:stretch/>
        </p:blipFill>
        <p:spPr>
          <a:xfrm>
            <a:off x="909302" y="1113274"/>
            <a:ext cx="7399859" cy="574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4264322" y="5127329"/>
            <a:ext cx="1991067" cy="254014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331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/>
          <a:stretch/>
        </p:blipFill>
        <p:spPr>
          <a:xfrm>
            <a:off x="909302" y="1113274"/>
            <a:ext cx="7399859" cy="574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4264322" y="6036765"/>
            <a:ext cx="1991067" cy="8212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082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Anaerobic waste-water treatment </a:t>
            </a:r>
          </a:p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438976" y="1575574"/>
            <a:ext cx="8246452" cy="452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altLang="ja-JP" sz="3600" dirty="0">
                <a:latin typeface="Times New Roman"/>
                <a:cs typeface="Times New Roman"/>
              </a:rPr>
              <a:t>Anaerobic treatment is often performed on </a:t>
            </a:r>
            <a:r>
              <a:rPr lang="en-US" altLang="ja-JP" sz="3600" dirty="0" err="1">
                <a:latin typeface="Times New Roman"/>
                <a:cs typeface="Times New Roman"/>
              </a:rPr>
              <a:t>sludges</a:t>
            </a:r>
            <a:r>
              <a:rPr lang="en-US" altLang="ja-JP" sz="3600" dirty="0">
                <a:latin typeface="Times New Roman"/>
                <a:cs typeface="Times New Roman"/>
              </a:rPr>
              <a:t> </a:t>
            </a:r>
            <a:r>
              <a:rPr lang="en-US" altLang="ja-JP" sz="3600" dirty="0" smtClean="0">
                <a:latin typeface="Times New Roman"/>
                <a:cs typeface="Times New Roman"/>
              </a:rPr>
              <a:t>and </a:t>
            </a:r>
            <a:r>
              <a:rPr lang="en-US" altLang="ja-JP" sz="3600" dirty="0">
                <a:latin typeface="Times New Roman"/>
                <a:cs typeface="Times New Roman"/>
              </a:rPr>
              <a:t>high-strength industrial waste-waters </a:t>
            </a:r>
            <a:endParaRPr lang="en-US" altLang="ja-JP" sz="3600" dirty="0" smtClean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altLang="ja-JP" sz="3600" dirty="0" smtClean="0">
                <a:latin typeface="Times New Roman"/>
                <a:cs typeface="Times New Roman"/>
              </a:rPr>
              <a:t>As </a:t>
            </a:r>
            <a:r>
              <a:rPr lang="en-US" altLang="ja-JP" sz="3600" dirty="0">
                <a:latin typeface="Times New Roman"/>
                <a:cs typeface="Times New Roman"/>
              </a:rPr>
              <a:t>the name implies, it utilizes the activity of both </a:t>
            </a:r>
            <a:r>
              <a:rPr lang="en-US" altLang="ja-JP" sz="3600" dirty="0" smtClean="0">
                <a:latin typeface="Times New Roman"/>
                <a:cs typeface="Times New Roman"/>
              </a:rPr>
              <a:t>facultative </a:t>
            </a:r>
            <a:r>
              <a:rPr lang="en-US" altLang="ja-JP" sz="3600" dirty="0">
                <a:latin typeface="Times New Roman"/>
                <a:cs typeface="Times New Roman"/>
              </a:rPr>
              <a:t>and obligate anaerobic microorganisms, in the absence of </a:t>
            </a:r>
            <a:r>
              <a:rPr lang="en-US" altLang="ja-JP" sz="3600" dirty="0" smtClean="0">
                <a:latin typeface="Times New Roman"/>
                <a:cs typeface="Times New Roman"/>
              </a:rPr>
              <a:t>oxygen.</a:t>
            </a:r>
            <a:endParaRPr lang="ja-JP" altLang="en-US"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934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Arial"/>
                <a:cs typeface="Arial"/>
              </a:rPr>
              <a:t>Anaerobic waste-water treatment </a:t>
            </a:r>
          </a:p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552" y="924798"/>
            <a:ext cx="4927575" cy="593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217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Arial"/>
                <a:cs typeface="Arial"/>
              </a:rPr>
              <a:t>Anaerobic waste-water treatment </a:t>
            </a:r>
          </a:p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63" y="1263557"/>
            <a:ext cx="7523263" cy="562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436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Waste-water treatment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183"/>
          <a:stretch/>
        </p:blipFill>
        <p:spPr>
          <a:xfrm>
            <a:off x="909302" y="1113274"/>
            <a:ext cx="7399859" cy="574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2597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Sludge Disposal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313553" y="1067446"/>
            <a:ext cx="849729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2000" b="1" dirty="0">
                <a:latin typeface="Times New Roman"/>
                <a:cs typeface="Times New Roman"/>
              </a:rPr>
              <a:t>Sludge </a:t>
            </a:r>
            <a:r>
              <a:rPr lang="en-US" altLang="ja-JP" sz="2000" b="1" dirty="0" smtClean="0">
                <a:latin typeface="Times New Roman"/>
                <a:cs typeface="Times New Roman"/>
              </a:rPr>
              <a:t>thickening</a:t>
            </a:r>
            <a:endParaRPr lang="en-US" altLang="ja-JP" sz="2000" dirty="0">
              <a:latin typeface="Times New Roman"/>
              <a:cs typeface="Times New Roman"/>
            </a:endParaRPr>
          </a:p>
          <a:p>
            <a:pPr lvl="1"/>
            <a:endParaRPr lang="en-US" altLang="ja-JP" sz="2000" dirty="0" smtClean="0">
              <a:latin typeface="Times New Roman"/>
              <a:cs typeface="Times New Roman"/>
            </a:endParaRPr>
          </a:p>
          <a:p>
            <a:pPr lvl="1"/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aim of sludge thickening is to significantly reduce the volume of sludge before further treatment while retaining the solids content</a:t>
            </a:r>
            <a:r>
              <a:rPr lang="en-US" altLang="ja-JP" sz="2000" dirty="0" smtClean="0">
                <a:latin typeface="Times New Roman"/>
                <a:cs typeface="Times New Roman"/>
              </a:rPr>
              <a:t>.</a:t>
            </a:r>
          </a:p>
          <a:p>
            <a:pPr lvl="1"/>
            <a:endParaRPr lang="en-US" altLang="ja-JP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055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25213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Sludge Disposal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313553" y="1067446"/>
            <a:ext cx="849729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2000" b="1" dirty="0">
                <a:latin typeface="Times New Roman"/>
                <a:cs typeface="Times New Roman"/>
              </a:rPr>
              <a:t>Sludge </a:t>
            </a:r>
            <a:r>
              <a:rPr lang="en-US" altLang="ja-JP" sz="2000" b="1" dirty="0" smtClean="0">
                <a:latin typeface="Times New Roman"/>
                <a:cs typeface="Times New Roman"/>
              </a:rPr>
              <a:t>thickening</a:t>
            </a:r>
            <a:endParaRPr lang="en-US" altLang="ja-JP" sz="2000" dirty="0">
              <a:latin typeface="Times New Roman"/>
              <a:cs typeface="Times New Roman"/>
            </a:endParaRPr>
          </a:p>
          <a:p>
            <a:pPr lvl="1"/>
            <a:endParaRPr lang="en-US" altLang="ja-JP" sz="2000" dirty="0" smtClean="0">
              <a:latin typeface="Times New Roman"/>
              <a:cs typeface="Times New Roman"/>
            </a:endParaRPr>
          </a:p>
          <a:p>
            <a:pPr lvl="1"/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aim of sludge thickening is to significantly reduce the volume of sludge before further treatment while retaining the solids content</a:t>
            </a:r>
            <a:r>
              <a:rPr lang="en-US" altLang="ja-JP" sz="2000" dirty="0" smtClean="0">
                <a:latin typeface="Times New Roman"/>
                <a:cs typeface="Times New Roman"/>
              </a:rPr>
              <a:t>.</a:t>
            </a:r>
          </a:p>
          <a:p>
            <a:pPr lvl="1"/>
            <a:endParaRPr lang="en-US" altLang="ja-JP" sz="2000" dirty="0">
              <a:latin typeface="Times New Roman"/>
              <a:cs typeface="Times New Roman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ja-JP" sz="2000" b="1" dirty="0">
                <a:latin typeface="Times New Roman"/>
                <a:cs typeface="Times New Roman"/>
              </a:rPr>
              <a:t>Sludge stabilization </a:t>
            </a:r>
            <a:endParaRPr lang="en-US" altLang="ja-JP" sz="2000" b="1" dirty="0" smtClean="0">
              <a:latin typeface="Times New Roman"/>
              <a:cs typeface="Times New Roman"/>
            </a:endParaRPr>
          </a:p>
          <a:p>
            <a:pPr lvl="1"/>
            <a:endParaRPr lang="en-US" altLang="ja-JP" sz="2000" dirty="0" smtClean="0">
              <a:latin typeface="Times New Roman"/>
              <a:cs typeface="Times New Roman"/>
            </a:endParaRPr>
          </a:p>
          <a:p>
            <a:pPr lvl="1"/>
            <a:r>
              <a:rPr lang="en-US" altLang="ja-JP" sz="2000" dirty="0" smtClean="0">
                <a:latin typeface="Times New Roman"/>
                <a:cs typeface="Times New Roman"/>
              </a:rPr>
              <a:t>The </a:t>
            </a:r>
            <a:r>
              <a:rPr lang="en-US" altLang="ja-JP" sz="2000" dirty="0">
                <a:latin typeface="Times New Roman"/>
                <a:cs typeface="Times New Roman"/>
              </a:rPr>
              <a:t>main aims of sludge </a:t>
            </a:r>
            <a:r>
              <a:rPr lang="en-US" altLang="ja-JP" sz="2000" dirty="0" smtClean="0">
                <a:latin typeface="Times New Roman"/>
                <a:cs typeface="Times New Roman"/>
              </a:rPr>
              <a:t>stabilization </a:t>
            </a:r>
            <a:r>
              <a:rPr lang="en-US" altLang="ja-JP" sz="2000" dirty="0">
                <a:latin typeface="Times New Roman"/>
                <a:cs typeface="Times New Roman"/>
              </a:rPr>
              <a:t>are to reduce the solids content of the </a:t>
            </a:r>
            <a:r>
              <a:rPr lang="en-US" altLang="ja-JP" sz="2000" dirty="0" err="1">
                <a:latin typeface="Times New Roman"/>
                <a:cs typeface="Times New Roman"/>
              </a:rPr>
              <a:t>sludges</a:t>
            </a:r>
            <a:r>
              <a:rPr lang="en-US" altLang="ja-JP" sz="2000" dirty="0">
                <a:latin typeface="Times New Roman"/>
                <a:cs typeface="Times New Roman"/>
              </a:rPr>
              <a:t>, to </a:t>
            </a:r>
            <a:r>
              <a:rPr lang="en-US" altLang="ja-JP" sz="2000" dirty="0" smtClean="0">
                <a:latin typeface="Times New Roman"/>
                <a:cs typeface="Times New Roman"/>
              </a:rPr>
              <a:t>destroy </a:t>
            </a:r>
            <a:r>
              <a:rPr lang="en-US" altLang="ja-JP" sz="2000" dirty="0">
                <a:latin typeface="Times New Roman"/>
                <a:cs typeface="Times New Roman"/>
              </a:rPr>
              <a:t>pathogens when present, and to eliminate or reduce the potential for </a:t>
            </a:r>
            <a:r>
              <a:rPr lang="en-US" altLang="ja-JP" sz="2000" dirty="0" smtClean="0">
                <a:latin typeface="Times New Roman"/>
                <a:cs typeface="Times New Roman"/>
              </a:rPr>
              <a:t>odor </a:t>
            </a:r>
            <a:r>
              <a:rPr lang="en-US" altLang="ja-JP" sz="2000" dirty="0">
                <a:latin typeface="Times New Roman"/>
                <a:cs typeface="Times New Roman"/>
              </a:rPr>
              <a:t>formation and </a:t>
            </a:r>
            <a:r>
              <a:rPr lang="en-US" altLang="ja-JP" sz="2000" dirty="0" smtClean="0">
                <a:latin typeface="Times New Roman"/>
                <a:cs typeface="Times New Roman"/>
              </a:rPr>
              <a:t>purification</a:t>
            </a:r>
            <a:r>
              <a:rPr lang="en-US" altLang="ja-JP" sz="2000" dirty="0">
                <a:latin typeface="Times New Roman"/>
                <a:cs typeface="Times New Roman"/>
              </a:rPr>
              <a:t>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lvl="1"/>
            <a:endParaRPr lang="en-US" altLang="ja-JP" sz="2000" dirty="0" smtClean="0">
              <a:latin typeface="Times New Roman"/>
              <a:cs typeface="Times New Roman"/>
            </a:endParaRPr>
          </a:p>
          <a:p>
            <a:pPr marL="800100" lvl="1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Several </a:t>
            </a:r>
            <a:r>
              <a:rPr lang="en-US" altLang="ja-JP" sz="2000" dirty="0">
                <a:latin typeface="Times New Roman"/>
                <a:cs typeface="Times New Roman"/>
              </a:rPr>
              <a:t>methods are available, including: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lvl="1"/>
            <a:endParaRPr lang="en-US" altLang="ja-JP" sz="2000" dirty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altLang="ja-JP" sz="2000" dirty="0" smtClean="0">
                <a:latin typeface="Times New Roman"/>
                <a:cs typeface="Times New Roman"/>
              </a:rPr>
              <a:t>Biological processes, utilizing either aerobic or anaerobic microorganisms;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sz="2000" dirty="0" smtClean="0">
                <a:latin typeface="Times New Roman"/>
                <a:cs typeface="Times New Roman"/>
              </a:rPr>
              <a:t>Chemical oxidation, e.g. Using chlorine;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sz="2000" dirty="0" smtClean="0">
                <a:latin typeface="Times New Roman"/>
                <a:cs typeface="Times New Roman"/>
              </a:rPr>
              <a:t>Chemical stabilization</a:t>
            </a:r>
            <a:r>
              <a:rPr lang="en-US" altLang="ja-JP" sz="2000" dirty="0">
                <a:latin typeface="Times New Roman"/>
                <a:cs typeface="Times New Roman"/>
              </a:rPr>
              <a:t>, e.g. by dosing with lime; and 4 physical treatment, e.g. heating. </a:t>
            </a:r>
          </a:p>
          <a:p>
            <a:pPr lvl="1"/>
            <a:endParaRPr lang="en-US" altLang="ja-JP" sz="2000" dirty="0">
              <a:latin typeface="Times New Roman"/>
              <a:cs typeface="Times New Roman"/>
            </a:endParaRPr>
          </a:p>
          <a:p>
            <a:endParaRPr lang="en-US" altLang="ja-JP" sz="2000" dirty="0">
              <a:latin typeface="Times New Roman"/>
              <a:cs typeface="Times New Roman"/>
            </a:endParaRPr>
          </a:p>
          <a:p>
            <a:pPr lvl="1"/>
            <a:endParaRPr lang="ja-JP" alt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1995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12669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Sludge Disposal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313553" y="894966"/>
            <a:ext cx="8497297" cy="4370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ja-JP" b="1" dirty="0">
                <a:latin typeface="Times New Roman"/>
                <a:cs typeface="Times New Roman"/>
              </a:rPr>
              <a:t>Sludge dewatering. </a:t>
            </a:r>
            <a:endParaRPr lang="en-US" altLang="ja-JP" b="1" dirty="0" smtClean="0">
              <a:latin typeface="Times New Roman"/>
              <a:cs typeface="Times New Roman"/>
            </a:endParaRPr>
          </a:p>
          <a:p>
            <a:pPr marL="342900" indent="-342900">
              <a:buFont typeface="+mj-lt"/>
              <a:buAutoNum type="arabicPeriod" startAt="3"/>
            </a:pPr>
            <a:endParaRPr lang="en-US" altLang="ja-JP" sz="1400" b="1" dirty="0">
              <a:latin typeface="Times New Roman"/>
              <a:cs typeface="Times New Roman"/>
            </a:endParaRPr>
          </a:p>
          <a:p>
            <a:pPr lvl="1"/>
            <a:r>
              <a:rPr lang="en-US" altLang="ja-JP" dirty="0" smtClean="0">
                <a:latin typeface="Times New Roman"/>
                <a:cs typeface="Times New Roman"/>
              </a:rPr>
              <a:t>Prior </a:t>
            </a:r>
            <a:r>
              <a:rPr lang="en-US" altLang="ja-JP" dirty="0">
                <a:latin typeface="Times New Roman"/>
                <a:cs typeface="Times New Roman"/>
              </a:rPr>
              <a:t>to ultimate disposal, </a:t>
            </a:r>
            <a:r>
              <a:rPr lang="en-US" altLang="ja-JP" dirty="0" err="1">
                <a:latin typeface="Times New Roman"/>
                <a:cs typeface="Times New Roman"/>
              </a:rPr>
              <a:t>sludges</a:t>
            </a:r>
            <a:r>
              <a:rPr lang="en-US" altLang="ja-JP" dirty="0">
                <a:latin typeface="Times New Roman"/>
                <a:cs typeface="Times New Roman"/>
              </a:rPr>
              <a:t> are dewatered to further increase the solids content to 50% (w/v</a:t>
            </a:r>
            <a:r>
              <a:rPr lang="en-US" altLang="ja-JP" dirty="0" smtClean="0">
                <a:latin typeface="Times New Roman"/>
                <a:cs typeface="Times New Roman"/>
              </a:rPr>
              <a:t>).</a:t>
            </a:r>
          </a:p>
          <a:p>
            <a:pPr lvl="1"/>
            <a:endParaRPr lang="en-US" altLang="ja-JP" sz="1200" dirty="0">
              <a:latin typeface="Times New Roman"/>
              <a:cs typeface="Times New Roman"/>
            </a:endParaRPr>
          </a:p>
          <a:p>
            <a:pPr lvl="1"/>
            <a:r>
              <a:rPr lang="en-US" altLang="ja-JP" dirty="0" smtClean="0">
                <a:latin typeface="Times New Roman"/>
                <a:cs typeface="Times New Roman"/>
              </a:rPr>
              <a:t>The </a:t>
            </a:r>
            <a:r>
              <a:rPr lang="en-US" altLang="ja-JP" dirty="0">
                <a:latin typeface="Times New Roman"/>
                <a:cs typeface="Times New Roman"/>
              </a:rPr>
              <a:t>beneficial effects </a:t>
            </a:r>
            <a:r>
              <a:rPr lang="en-US" altLang="ja-JP" dirty="0" smtClean="0">
                <a:latin typeface="Times New Roman"/>
                <a:cs typeface="Times New Roman"/>
              </a:rPr>
              <a:t>of dewatering include</a:t>
            </a:r>
            <a:r>
              <a:rPr lang="en-US" altLang="ja-JP" dirty="0">
                <a:latin typeface="Times New Roman"/>
                <a:cs typeface="Times New Roman"/>
              </a:rPr>
              <a:t>: </a:t>
            </a:r>
            <a:endParaRPr lang="en-US" altLang="ja-JP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Lower transport costs through a reduction in sludge volume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The product is suitable for disposal onto land, as it is odorless with reduced potential for environmental pollution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Increased fuel value, as it becomes easier to incinerate and has a higher calorific value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Reduced leachate </a:t>
            </a:r>
            <a:r>
              <a:rPr lang="en-US" altLang="ja-JP" dirty="0">
                <a:latin typeface="Times New Roman"/>
                <a:cs typeface="Times New Roman"/>
              </a:rPr>
              <a:t>problems when disposed to landfill. </a:t>
            </a:r>
            <a:endParaRPr lang="en-US" altLang="ja-JP" dirty="0" smtClean="0">
              <a:latin typeface="Times New Roman"/>
              <a:cs typeface="Times New Roman"/>
            </a:endParaRPr>
          </a:p>
          <a:p>
            <a:pPr lvl="1"/>
            <a:endParaRPr lang="en-US" altLang="ja-JP" b="1" dirty="0">
              <a:latin typeface="Times New Roman"/>
              <a:cs typeface="Times New Roman"/>
            </a:endParaRPr>
          </a:p>
          <a:p>
            <a:pPr lvl="1"/>
            <a:endParaRPr lang="en-US" altLang="ja-JP" dirty="0" smtClean="0">
              <a:latin typeface="Times New Roman"/>
              <a:cs typeface="Times New Roman"/>
            </a:endParaRPr>
          </a:p>
          <a:p>
            <a:pPr lvl="1"/>
            <a:endParaRPr lang="en-US" altLang="ja-JP" dirty="0">
              <a:latin typeface="Times New Roman"/>
              <a:cs typeface="Times New Roman"/>
            </a:endParaRPr>
          </a:p>
          <a:p>
            <a:pPr lvl="1"/>
            <a:endParaRPr lang="ja-JP" alt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86858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3553" y="126695"/>
            <a:ext cx="84972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Sludge Disposal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3996" y="214814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313553" y="894966"/>
            <a:ext cx="8497297" cy="7171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ja-JP" b="1" dirty="0">
                <a:latin typeface="Times New Roman"/>
                <a:cs typeface="Times New Roman"/>
              </a:rPr>
              <a:t>Sludge dewatering. </a:t>
            </a:r>
            <a:endParaRPr lang="en-US" altLang="ja-JP" b="1" dirty="0" smtClean="0">
              <a:latin typeface="Times New Roman"/>
              <a:cs typeface="Times New Roman"/>
            </a:endParaRPr>
          </a:p>
          <a:p>
            <a:pPr marL="342900" indent="-342900">
              <a:buFont typeface="+mj-lt"/>
              <a:buAutoNum type="arabicPeriod" startAt="3"/>
            </a:pPr>
            <a:endParaRPr lang="en-US" altLang="ja-JP" sz="1400" b="1" dirty="0">
              <a:latin typeface="Times New Roman"/>
              <a:cs typeface="Times New Roman"/>
            </a:endParaRPr>
          </a:p>
          <a:p>
            <a:pPr lvl="1"/>
            <a:r>
              <a:rPr lang="en-US" altLang="ja-JP" dirty="0" smtClean="0">
                <a:latin typeface="Times New Roman"/>
                <a:cs typeface="Times New Roman"/>
              </a:rPr>
              <a:t>Prior </a:t>
            </a:r>
            <a:r>
              <a:rPr lang="en-US" altLang="ja-JP" dirty="0">
                <a:latin typeface="Times New Roman"/>
                <a:cs typeface="Times New Roman"/>
              </a:rPr>
              <a:t>to ultimate disposal, </a:t>
            </a:r>
            <a:r>
              <a:rPr lang="en-US" altLang="ja-JP" dirty="0" err="1">
                <a:latin typeface="Times New Roman"/>
                <a:cs typeface="Times New Roman"/>
              </a:rPr>
              <a:t>sludges</a:t>
            </a:r>
            <a:r>
              <a:rPr lang="en-US" altLang="ja-JP" dirty="0">
                <a:latin typeface="Times New Roman"/>
                <a:cs typeface="Times New Roman"/>
              </a:rPr>
              <a:t> are dewatered to further increase the solids content to 50% (w/v</a:t>
            </a:r>
            <a:r>
              <a:rPr lang="en-US" altLang="ja-JP" dirty="0" smtClean="0">
                <a:latin typeface="Times New Roman"/>
                <a:cs typeface="Times New Roman"/>
              </a:rPr>
              <a:t>).</a:t>
            </a:r>
          </a:p>
          <a:p>
            <a:pPr lvl="1"/>
            <a:endParaRPr lang="en-US" altLang="ja-JP" sz="1200" dirty="0">
              <a:latin typeface="Times New Roman"/>
              <a:cs typeface="Times New Roman"/>
            </a:endParaRPr>
          </a:p>
          <a:p>
            <a:pPr lvl="1"/>
            <a:r>
              <a:rPr lang="en-US" altLang="ja-JP" dirty="0" smtClean="0">
                <a:latin typeface="Times New Roman"/>
                <a:cs typeface="Times New Roman"/>
              </a:rPr>
              <a:t>The </a:t>
            </a:r>
            <a:r>
              <a:rPr lang="en-US" altLang="ja-JP" dirty="0">
                <a:latin typeface="Times New Roman"/>
                <a:cs typeface="Times New Roman"/>
              </a:rPr>
              <a:t>beneficial effects </a:t>
            </a:r>
            <a:r>
              <a:rPr lang="en-US" altLang="ja-JP" dirty="0" smtClean="0">
                <a:latin typeface="Times New Roman"/>
                <a:cs typeface="Times New Roman"/>
              </a:rPr>
              <a:t>of dewatering include</a:t>
            </a:r>
            <a:r>
              <a:rPr lang="en-US" altLang="ja-JP" dirty="0">
                <a:latin typeface="Times New Roman"/>
                <a:cs typeface="Times New Roman"/>
              </a:rPr>
              <a:t>: </a:t>
            </a:r>
            <a:endParaRPr lang="en-US" altLang="ja-JP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Lower transport costs through a reduction in sludge volume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The product is suitable for disposal onto land, as it is odorless with reduced potential for environmental pollution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Increased fuel value, as it becomes easier to incinerate and has a higher calorific value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Reduced leachate </a:t>
            </a:r>
            <a:r>
              <a:rPr lang="en-US" altLang="ja-JP" dirty="0">
                <a:latin typeface="Times New Roman"/>
                <a:cs typeface="Times New Roman"/>
              </a:rPr>
              <a:t>problems when disposed to landfill. </a:t>
            </a:r>
            <a:endParaRPr lang="en-US" altLang="ja-JP" dirty="0" smtClean="0">
              <a:latin typeface="Times New Roman"/>
              <a:cs typeface="Times New Roman"/>
            </a:endParaRPr>
          </a:p>
          <a:p>
            <a:pPr lvl="1"/>
            <a:endParaRPr lang="en-US" altLang="ja-JP" b="1" dirty="0">
              <a:latin typeface="Times New Roman"/>
              <a:cs typeface="Times New Roman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altLang="ja-JP" b="1" dirty="0" smtClean="0">
                <a:latin typeface="Times New Roman"/>
                <a:cs typeface="Times New Roman"/>
              </a:rPr>
              <a:t>Disposal </a:t>
            </a:r>
            <a:r>
              <a:rPr lang="en-US" altLang="ja-JP" b="1" dirty="0">
                <a:latin typeface="Times New Roman"/>
                <a:cs typeface="Times New Roman"/>
              </a:rPr>
              <a:t>of </a:t>
            </a:r>
            <a:r>
              <a:rPr lang="en-US" altLang="ja-JP" b="1" dirty="0" err="1">
                <a:latin typeface="Times New Roman"/>
                <a:cs typeface="Times New Roman"/>
              </a:rPr>
              <a:t>sludges</a:t>
            </a:r>
            <a:r>
              <a:rPr lang="en-US" altLang="ja-JP" b="1" dirty="0">
                <a:latin typeface="Times New Roman"/>
                <a:cs typeface="Times New Roman"/>
              </a:rPr>
              <a:t> and other solid </a:t>
            </a:r>
            <a:r>
              <a:rPr lang="en-US" altLang="ja-JP" b="1" dirty="0" smtClean="0">
                <a:latin typeface="Times New Roman"/>
                <a:cs typeface="Times New Roman"/>
              </a:rPr>
              <a:t>wastes</a:t>
            </a:r>
          </a:p>
          <a:p>
            <a:pPr marL="342900" indent="-342900">
              <a:buFont typeface="+mj-lt"/>
              <a:buAutoNum type="arabicPeriod" startAt="3"/>
            </a:pPr>
            <a:endParaRPr lang="en-US" altLang="ja-JP" sz="1400" dirty="0" smtClean="0">
              <a:latin typeface="Times New Roman"/>
              <a:cs typeface="Times New Roman"/>
            </a:endParaRPr>
          </a:p>
          <a:p>
            <a:pPr lvl="1"/>
            <a:r>
              <a:rPr lang="en-US" altLang="ja-JP" dirty="0">
                <a:latin typeface="Times New Roman"/>
                <a:cs typeface="Times New Roman"/>
              </a:rPr>
              <a:t>Methods routinely used for the disposal of final </a:t>
            </a:r>
            <a:r>
              <a:rPr lang="en-US" altLang="ja-JP" dirty="0" err="1">
                <a:latin typeface="Times New Roman"/>
                <a:cs typeface="Times New Roman"/>
              </a:rPr>
              <a:t>sludges</a:t>
            </a:r>
            <a:r>
              <a:rPr lang="en-US" altLang="ja-JP" dirty="0">
                <a:latin typeface="Times New Roman"/>
                <a:cs typeface="Times New Roman"/>
              </a:rPr>
              <a:t> and other solid wastes are as </a:t>
            </a:r>
            <a:r>
              <a:rPr lang="en-US" altLang="ja-JP" dirty="0" smtClean="0">
                <a:latin typeface="Times New Roman"/>
                <a:cs typeface="Times New Roman"/>
              </a:rPr>
              <a:t>follows:</a:t>
            </a:r>
          </a:p>
          <a:p>
            <a:pPr lvl="1"/>
            <a:endParaRPr lang="en-US" altLang="ja-JP" sz="1200" dirty="0" smtClean="0">
              <a:latin typeface="Times New Roman"/>
              <a:cs typeface="Times New Roman"/>
            </a:endParaRPr>
          </a:p>
          <a:p>
            <a:pPr marL="800100" lvl="1" indent="-3429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Landfilling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Incineration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ja-JP" dirty="0" smtClean="0">
                <a:latin typeface="Times New Roman"/>
                <a:cs typeface="Times New Roman"/>
              </a:rPr>
              <a:t>Biologically </a:t>
            </a:r>
            <a:r>
              <a:rPr lang="en-US" altLang="ja-JP" dirty="0">
                <a:latin typeface="Times New Roman"/>
                <a:cs typeface="Times New Roman"/>
              </a:rPr>
              <a:t>stabilized dewatered sludge may be used as a low-cost fertilizer and soil conditioner on </a:t>
            </a:r>
            <a:r>
              <a:rPr lang="en-US" altLang="ja-JP" dirty="0" smtClean="0">
                <a:latin typeface="Times New Roman"/>
                <a:cs typeface="Times New Roman"/>
              </a:rPr>
              <a:t>agricultural </a:t>
            </a:r>
            <a:endParaRPr lang="en-US" altLang="ja-JP" dirty="0">
              <a:latin typeface="Times New Roman"/>
              <a:cs typeface="Times New Roman"/>
            </a:endParaRPr>
          </a:p>
          <a:p>
            <a:pPr marL="800100" lvl="1" indent="-342900">
              <a:buFont typeface="+mj-lt"/>
              <a:buAutoNum type="alphaLcParenR"/>
            </a:pPr>
            <a:endParaRPr lang="en-US" altLang="ja-JP" dirty="0">
              <a:latin typeface="Times New Roman"/>
              <a:cs typeface="Times New Roman"/>
            </a:endParaRPr>
          </a:p>
          <a:p>
            <a:pPr lvl="1"/>
            <a:endParaRPr lang="en-US" altLang="ja-JP" dirty="0" smtClean="0">
              <a:latin typeface="Times New Roman"/>
              <a:cs typeface="Times New Roman"/>
            </a:endParaRPr>
          </a:p>
          <a:p>
            <a:pPr lvl="1"/>
            <a:endParaRPr lang="en-US" altLang="ja-JP" dirty="0">
              <a:latin typeface="Times New Roman"/>
              <a:cs typeface="Times New Roman"/>
            </a:endParaRPr>
          </a:p>
          <a:p>
            <a:pPr lvl="1"/>
            <a:endParaRPr lang="ja-JP" alt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18700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4162</TotalTime>
  <Words>1403</Words>
  <Application>Microsoft Macintosh PowerPoint</Application>
  <PresentationFormat>On-screen Show (4:3)</PresentationFormat>
  <Paragraphs>220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qutaiba ababneh</dc:creator>
  <cp:lastModifiedBy>qutaiba ababneh</cp:lastModifiedBy>
  <cp:revision>74</cp:revision>
  <dcterms:created xsi:type="dcterms:W3CDTF">2015-11-08T19:51:44Z</dcterms:created>
  <dcterms:modified xsi:type="dcterms:W3CDTF">2016-08-02T07:46:57Z</dcterms:modified>
</cp:coreProperties>
</file>