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D5EB-BFBE-440D-AEAA-4132FE3B5BA2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97A32-A0CD-4077-8CC7-32A3E5C0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72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B99-352B-40BB-9543-7099AE6B12A3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D771-137B-4B62-B20A-C90CA01A2DF3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7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561C4-2570-4675-BCC8-C8438C12BB05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9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5C860-A66F-48A7-AF5B-B1B436D6EB05}" type="datetime12">
              <a:rPr lang="en-US" smtClean="0"/>
              <a:t>9:23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10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68724-B7F5-47F8-865E-87D04467EE56}" type="datetime12">
              <a:rPr lang="en-US" smtClean="0"/>
              <a:t>9:23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6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685D1-4834-46EA-AF2D-9D6220ECB074}" type="datetime12">
              <a:rPr lang="en-US" smtClean="0"/>
              <a:t>9:23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7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F33-2A7E-40C9-A11D-B731A26A38E8}" type="datetime12">
              <a:rPr lang="en-US" smtClean="0"/>
              <a:t>9:23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8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9DD4-A545-4DA8-9F69-1928DD2380A6}" type="datetime12">
              <a:rPr lang="en-US" smtClean="0"/>
              <a:t>9:23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4A1E8-BF6E-47CC-9DC8-2DD8318B6A94}" type="datetime12">
              <a:rPr lang="en-US" smtClean="0"/>
              <a:t>9:23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8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9FCD-3528-4C57-876C-BC7A305AAFFE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23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0C9C1-5DF5-4855-B5E5-CB69E5B73B4D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5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33003-9AC6-45B7-9413-306CCC30CCCE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B09DE-D769-4BE8-9C33-F715B9B49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8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0125" y="2295752"/>
            <a:ext cx="9144000" cy="1655762"/>
          </a:xfrm>
        </p:spPr>
        <p:txBody>
          <a:bodyPr anchor="ctr" anchorCtr="0">
            <a:normAutofit/>
          </a:bodyPr>
          <a:lstStyle/>
          <a:p>
            <a:r>
              <a:rPr lang="en-US" sz="8000" dirty="0" smtClean="0"/>
              <a:t>Reproductive failure</a:t>
            </a:r>
            <a:endParaRPr lang="en-US" sz="8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3EBCD-0338-479A-8CCD-7DCBAECEE7A5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6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677" y="140677"/>
            <a:ext cx="119294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Human conception and pregnancy is both a </a:t>
            </a:r>
            <a:r>
              <a:rPr lang="en-US" sz="2800" dirty="0" smtClean="0">
                <a:solidFill>
                  <a:srgbClr val="0070C0"/>
                </a:solidFill>
              </a:rPr>
              <a:t>vulnerable</a:t>
            </a:r>
            <a:r>
              <a:rPr lang="en-US" sz="2800" dirty="0" smtClean="0"/>
              <a:t> and a </a:t>
            </a:r>
            <a:r>
              <a:rPr lang="en-US" sz="2800" dirty="0" smtClean="0">
                <a:solidFill>
                  <a:srgbClr val="0070C0"/>
                </a:solidFill>
              </a:rPr>
              <a:t>robust</a:t>
            </a:r>
            <a:r>
              <a:rPr lang="en-US" sz="2800" dirty="0" smtClean="0"/>
              <a:t> process</a:t>
            </a:r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rgbClr val="0070C0"/>
                </a:solidFill>
              </a:rPr>
              <a:t>Vulnerable</a:t>
            </a:r>
            <a:r>
              <a:rPr lang="en-US" sz="2800" dirty="0" smtClean="0"/>
              <a:t>, in that a large proportion of all conceptions are chromosomally abnormal, with the great majority of such pregnancies aborting</a:t>
            </a:r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rgbClr val="0070C0"/>
                </a:solidFill>
              </a:rPr>
              <a:t>Robust</a:t>
            </a:r>
            <a:r>
              <a:rPr lang="en-US" sz="2800" dirty="0" smtClean="0"/>
              <a:t>, in that more than 99% of the time, a term pregnancy results in a chromosomally normal baby; unbalanced chromosomal abnormalities are seen in less than 1% of newborns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5CC13-0D89-4561-9EE3-6A9B941FE68E}" type="datetime12">
              <a:rPr lang="en-US" smtClean="0"/>
              <a:t>9:23 PM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1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37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2267" y="1552575"/>
            <a:ext cx="3847465" cy="3752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3020" y="179754"/>
            <a:ext cx="119059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occasional chromosomally abnormal child is, relatively speaking, an exceptional outcome—the </a:t>
            </a:r>
            <a:r>
              <a:rPr lang="en-US" sz="2800" dirty="0" smtClean="0">
                <a:solidFill>
                  <a:srgbClr val="0070C0"/>
                </a:solidFill>
              </a:rPr>
              <a:t>tip of an iceberg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1379" y="5724139"/>
            <a:ext cx="7417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FIGURE 19–1 The iceberg of chromosomal pregnancy loss.</a:t>
            </a: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F191-C476-4D34-8972-FA40BF4806F2}" type="datetime12">
              <a:rPr lang="en-US" smtClean="0"/>
              <a:t>9:23 PM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6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64684"/>
            <a:ext cx="1190126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Advances in reproductive technology now enable many otherwise infertile couples to have children</a:t>
            </a:r>
          </a:p>
          <a:p>
            <a:endParaRPr lang="en-US" sz="2800" dirty="0"/>
          </a:p>
          <a:p>
            <a:r>
              <a:rPr lang="en-US" sz="2800" dirty="0" smtClean="0"/>
              <a:t>Translocation carriers may have recourse to </a:t>
            </a:r>
            <a:r>
              <a:rPr lang="en-US" sz="2800" b="1" dirty="0" smtClean="0"/>
              <a:t>preimplantation genetic diagnosis </a:t>
            </a:r>
            <a:r>
              <a:rPr lang="en-US" sz="2800" dirty="0" smtClean="0"/>
              <a:t>(PGD) as a means to improve their chances of achieving a successful pregnancy</a:t>
            </a:r>
          </a:p>
          <a:p>
            <a:endParaRPr lang="en-US" sz="2800" dirty="0"/>
          </a:p>
          <a:p>
            <a:r>
              <a:rPr lang="en-US" sz="2800" dirty="0" smtClean="0"/>
              <a:t>In the case of men with poor sperm production, </a:t>
            </a:r>
            <a:r>
              <a:rPr lang="en-US" sz="2800" b="1" dirty="0" smtClean="0"/>
              <a:t>intracytoplasmic sperm injection </a:t>
            </a:r>
            <a:r>
              <a:rPr lang="en-US" sz="2800" dirty="0" smtClean="0"/>
              <a:t>(ICSI) at in vitro fertilization (IVF) is a means to get a single sperm into an egg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272D-9324-4630-BE6B-65B1418C0E98}" type="datetime12">
              <a:rPr lang="en-US" smtClean="0"/>
              <a:t>9:23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3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E073-26A6-43BB-9D1C-8CACA8B2C7D3}" type="datetime12">
              <a:rPr lang="en-US" smtClean="0"/>
              <a:t>9:23 PM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8193" y="158490"/>
            <a:ext cx="11808823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 smtClean="0">
                <a:solidFill>
                  <a:srgbClr val="0070C0"/>
                </a:solidFill>
              </a:rPr>
              <a:t>aneuploid gamete </a:t>
            </a:r>
            <a:r>
              <a:rPr lang="en-US" sz="2800" dirty="0" smtClean="0"/>
              <a:t>(nullisomic or disomic) will lead to an </a:t>
            </a:r>
            <a:r>
              <a:rPr lang="en-US" sz="2800" dirty="0" smtClean="0">
                <a:solidFill>
                  <a:srgbClr val="0070C0"/>
                </a:solidFill>
              </a:rPr>
              <a:t>aneuploid conceptus</a:t>
            </a:r>
            <a:r>
              <a:rPr lang="en-US" sz="2800" dirty="0" smtClean="0"/>
              <a:t> (monosomic or trisomic)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 smtClean="0">
                <a:solidFill>
                  <a:srgbClr val="0070C0"/>
                </a:solidFill>
              </a:rPr>
              <a:t>diploid gamete</a:t>
            </a:r>
            <a:r>
              <a:rPr lang="en-US" sz="2800" dirty="0" smtClean="0"/>
              <a:t>, combining with a normal gamete, will give rise to a </a:t>
            </a:r>
            <a:r>
              <a:rPr lang="en-US" sz="2800" dirty="0" smtClean="0">
                <a:solidFill>
                  <a:srgbClr val="0070C0"/>
                </a:solidFill>
              </a:rPr>
              <a:t>triploid conceptus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70C0"/>
                </a:solidFill>
              </a:rPr>
              <a:t>Dispermy</a:t>
            </a:r>
            <a:r>
              <a:rPr lang="en-US" sz="2800" dirty="0" smtClean="0"/>
              <a:t> (two sperm fertilizing the one ovum) can cause </a:t>
            </a:r>
            <a:r>
              <a:rPr lang="en-US" sz="2800" dirty="0" smtClean="0">
                <a:solidFill>
                  <a:srgbClr val="0070C0"/>
                </a:solidFill>
              </a:rPr>
              <a:t>triploidy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An </a:t>
            </a:r>
            <a:r>
              <a:rPr lang="en-US" sz="2800" dirty="0" smtClean="0">
                <a:solidFill>
                  <a:srgbClr val="0070C0"/>
                </a:solidFill>
              </a:rPr>
              <a:t>abnormal postzygotic cell division </a:t>
            </a:r>
            <a:r>
              <a:rPr lang="en-US" sz="2800" dirty="0" smtClean="0"/>
              <a:t>can give rise to </a:t>
            </a:r>
            <a:r>
              <a:rPr lang="en-US" sz="2800" dirty="0" smtClean="0">
                <a:solidFill>
                  <a:srgbClr val="0070C0"/>
                </a:solidFill>
              </a:rPr>
              <a:t>mosaicism</a:t>
            </a:r>
          </a:p>
          <a:p>
            <a:endParaRPr lang="en-US" sz="2800" dirty="0"/>
          </a:p>
          <a:p>
            <a:r>
              <a:rPr lang="en-US" sz="2800" b="1" dirty="0" smtClean="0"/>
              <a:t>These several possibilities all add up to a substantial potential for chromosome abnormality in the very early conceptus, in the first days (even hours) of existence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3267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F33-2A7E-40C9-A11D-B731A26A38E8}" type="datetime12">
              <a:rPr lang="en-US" smtClean="0"/>
              <a:t>9:23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2068" y="200689"/>
            <a:ext cx="1175657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The cleavage embryo (“Pre-embryo”) (days 1–3)</a:t>
            </a:r>
          </a:p>
          <a:p>
            <a:endParaRPr lang="en-US" sz="2800" dirty="0"/>
          </a:p>
          <a:p>
            <a:r>
              <a:rPr lang="en-US" sz="2800" dirty="0" smtClean="0"/>
              <a:t>A study of more than 22,000 day-3 embryos tested using SNP microarray, found proportion of </a:t>
            </a:r>
            <a:r>
              <a:rPr lang="en-US" sz="2800" dirty="0" smtClean="0">
                <a:solidFill>
                  <a:srgbClr val="0070C0"/>
                </a:solidFill>
              </a:rPr>
              <a:t>aneuploid embryos</a:t>
            </a:r>
            <a:r>
              <a:rPr lang="en-US" sz="2800" dirty="0" smtClean="0"/>
              <a:t> remained fairly constant at </a:t>
            </a:r>
            <a:r>
              <a:rPr lang="en-US" sz="2800" b="1" dirty="0" smtClean="0">
                <a:solidFill>
                  <a:srgbClr val="0070C0"/>
                </a:solidFill>
              </a:rPr>
              <a:t>65%</a:t>
            </a:r>
            <a:r>
              <a:rPr lang="en-US" sz="2800" dirty="0" smtClean="0"/>
              <a:t> between maternal ages 27 and 35 years, but increased markedly at older ages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508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F33-2A7E-40C9-A11D-B731A26A38E8}" type="datetime12">
              <a:rPr lang="en-US" smtClean="0"/>
              <a:t>9:23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7</a:t>
            </a:fld>
            <a:endParaRPr lang="en-US"/>
          </a:p>
        </p:txBody>
      </p:sp>
      <p:pic>
        <p:nvPicPr>
          <p:cNvPr id="4" name="image238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2529" y="961924"/>
            <a:ext cx="7820025" cy="5086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006" y="130629"/>
            <a:ext cx="11665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The morula and blastocyst (Days 4-5)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610600" y="392239"/>
            <a:ext cx="335497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study analyzed more than 15,000 embryos of parents presenting at IVF/PGD for </a:t>
            </a:r>
            <a:r>
              <a:rPr lang="en-US" sz="2400" dirty="0" err="1" smtClean="0"/>
              <a:t>trophectoderm</a:t>
            </a:r>
            <a:r>
              <a:rPr lang="en-US" sz="2400" dirty="0" smtClean="0"/>
              <a:t> biopsy. The least </a:t>
            </a:r>
            <a:r>
              <a:rPr lang="en-US" sz="2400" dirty="0" smtClean="0"/>
              <a:t>aneuploidy rate </a:t>
            </a:r>
            <a:r>
              <a:rPr lang="en-US" sz="2400" dirty="0" smtClean="0"/>
              <a:t>was in the </a:t>
            </a:r>
            <a:r>
              <a:rPr lang="en-US" sz="2400" dirty="0" smtClean="0">
                <a:solidFill>
                  <a:srgbClr val="0070C0"/>
                </a:solidFill>
              </a:rPr>
              <a:t>25- to 34-year-old </a:t>
            </a:r>
            <a:r>
              <a:rPr lang="en-US" sz="2400" dirty="0" smtClean="0"/>
              <a:t>age group, and progressively increasing steeply from age 35 years to the mid-forties</a:t>
            </a:r>
            <a:endParaRPr lang="en-US" sz="2400" dirty="0"/>
          </a:p>
        </p:txBody>
      </p:sp>
      <p:sp>
        <p:nvSpPr>
          <p:cNvPr id="8" name="Left Bracket 7"/>
          <p:cNvSpPr/>
          <p:nvPr/>
        </p:nvSpPr>
        <p:spPr>
          <a:xfrm rot="16200000">
            <a:off x="3018996" y="3045119"/>
            <a:ext cx="744581" cy="293619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6021977" y="2677886"/>
            <a:ext cx="1632857" cy="1463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5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F33-2A7E-40C9-A11D-B731A26A38E8}" type="datetime12">
              <a:rPr lang="en-US" smtClean="0"/>
              <a:t>9:23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8</a:t>
            </a:fld>
            <a:endParaRPr lang="en-US"/>
          </a:p>
        </p:txBody>
      </p:sp>
      <p:pic>
        <p:nvPicPr>
          <p:cNvPr id="4" name="image239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490" y="28367"/>
            <a:ext cx="5570829" cy="66931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05928" y="165834"/>
            <a:ext cx="584616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 study of 1,000 embryos subject to </a:t>
            </a:r>
            <a:r>
              <a:rPr lang="en-US" sz="2800" dirty="0" err="1" smtClean="0"/>
              <a:t>trophoectoderm</a:t>
            </a:r>
            <a:r>
              <a:rPr lang="en-US" sz="2800" dirty="0" smtClean="0"/>
              <a:t> biopsy </a:t>
            </a:r>
            <a:r>
              <a:rPr lang="en-US" sz="2800" b="1" dirty="0" smtClean="0"/>
              <a:t>at day 5/6</a:t>
            </a:r>
            <a:r>
              <a:rPr lang="en-US" sz="2800" dirty="0" smtClean="0"/>
              <a:t>, for preimplantation genetic diagnosis:</a:t>
            </a:r>
          </a:p>
          <a:p>
            <a:endParaRPr lang="en-US" sz="2800" dirty="0"/>
          </a:p>
          <a:p>
            <a:r>
              <a:rPr lang="en-US" sz="2800" dirty="0" smtClean="0">
                <a:solidFill>
                  <a:srgbClr val="0070C0"/>
                </a:solidFill>
              </a:rPr>
              <a:t>Frequencies of trisomy and monosomy per chromosome are similar</a:t>
            </a:r>
            <a:r>
              <a:rPr lang="en-US" sz="2800" dirty="0" smtClean="0"/>
              <a:t>, albeit that rates between different chromosomes differ greatly</a:t>
            </a:r>
          </a:p>
          <a:p>
            <a:endParaRPr lang="en-US" sz="2800" dirty="0"/>
          </a:p>
          <a:p>
            <a:r>
              <a:rPr lang="en-US" sz="2800" b="1" dirty="0" smtClean="0"/>
              <a:t>At miscarriages</a:t>
            </a:r>
            <a:r>
              <a:rPr lang="en-US" sz="2800" dirty="0" smtClean="0"/>
              <a:t>, spread of trisomies is similar, whereas autosomal monosomies have mostly disappeared, reflecting the </a:t>
            </a:r>
            <a:r>
              <a:rPr lang="en-US" sz="2800" dirty="0" smtClean="0">
                <a:solidFill>
                  <a:srgbClr val="0070C0"/>
                </a:solidFill>
              </a:rPr>
              <a:t>differential early pregnancy survival</a:t>
            </a:r>
            <a:r>
              <a:rPr lang="en-US" sz="2800" dirty="0" smtClean="0"/>
              <a:t> of the two aneuploidy classes</a:t>
            </a:r>
            <a:endParaRPr lang="en-US"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574766" y="274319"/>
            <a:ext cx="718457" cy="235131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74766" y="3640182"/>
            <a:ext cx="718457" cy="235131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5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F33-2A7E-40C9-A11D-B731A26A38E8}" type="datetime12">
              <a:rPr lang="en-US" smtClean="0"/>
              <a:t>9:23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image240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5444" y="157126"/>
            <a:ext cx="7858125" cy="579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19541" y="269823"/>
            <a:ext cx="371756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 study examined expelled products following very early </a:t>
            </a:r>
            <a:r>
              <a:rPr lang="en-US" sz="2800" dirty="0" smtClean="0">
                <a:solidFill>
                  <a:srgbClr val="0070C0"/>
                </a:solidFill>
              </a:rPr>
              <a:t>elective</a:t>
            </a:r>
            <a:r>
              <a:rPr lang="en-US" sz="2800" dirty="0" smtClean="0"/>
              <a:t> abortion</a:t>
            </a:r>
          </a:p>
          <a:p>
            <a:endParaRPr lang="en-US" sz="2800" dirty="0"/>
          </a:p>
          <a:p>
            <a:r>
              <a:rPr lang="en-US" sz="2800" dirty="0" smtClean="0"/>
              <a:t>One severely malformed embryo at </a:t>
            </a:r>
            <a:r>
              <a:rPr lang="en-US" sz="2800" dirty="0" smtClean="0">
                <a:solidFill>
                  <a:srgbClr val="0070C0"/>
                </a:solidFill>
              </a:rPr>
              <a:t>25 days </a:t>
            </a:r>
            <a:r>
              <a:rPr lang="en-US" sz="2800" dirty="0" err="1" smtClean="0">
                <a:solidFill>
                  <a:srgbClr val="0070C0"/>
                </a:solidFill>
              </a:rPr>
              <a:t>postconception</a:t>
            </a:r>
            <a:r>
              <a:rPr lang="en-US" sz="2800" dirty="0" smtClean="0"/>
              <a:t>, failed to develop crucial organs</a:t>
            </a:r>
            <a:endParaRPr lang="ar-JO" sz="2800" dirty="0" smtClean="0"/>
          </a:p>
          <a:p>
            <a:endParaRPr lang="ar-JO" sz="2800" dirty="0"/>
          </a:p>
          <a:p>
            <a:r>
              <a:rPr lang="en-US" sz="2800" dirty="0" smtClean="0">
                <a:solidFill>
                  <a:srgbClr val="0070C0"/>
                </a:solidFill>
              </a:rPr>
              <a:t>Trisomy 8	</a:t>
            </a:r>
            <a:r>
              <a:rPr lang="en-US" sz="2800" dirty="0" smtClean="0"/>
              <a:t>(A, C, E)</a:t>
            </a:r>
          </a:p>
          <a:p>
            <a:r>
              <a:rPr lang="en-US" sz="2800" dirty="0" smtClean="0"/>
              <a:t>Normal 	(B, D, F)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657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F33-2A7E-40C9-A11D-B731A26A38E8}" type="datetime12">
              <a:rPr lang="en-US" smtClean="0"/>
              <a:t>9:23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9922" y="179882"/>
            <a:ext cx="119171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Of all recognized pregnancies (recognized in the traditional way, that is), approximately </a:t>
            </a:r>
            <a:r>
              <a:rPr lang="en-US" sz="2800" dirty="0">
                <a:solidFill>
                  <a:srgbClr val="0070C0"/>
                </a:solidFill>
              </a:rPr>
              <a:t>10%–15% end in clinical miscarriage</a:t>
            </a:r>
            <a:r>
              <a:rPr lang="en-US" sz="2800" dirty="0"/>
              <a:t>—“spontaneous abortion”—mostly toward the end of the first </a:t>
            </a:r>
            <a:r>
              <a:rPr lang="en-US" sz="2800" dirty="0" smtClean="0"/>
              <a:t>trimester</a:t>
            </a:r>
          </a:p>
          <a:p>
            <a:endParaRPr lang="en-US" sz="2800" dirty="0"/>
          </a:p>
          <a:p>
            <a:r>
              <a:rPr lang="en-US" sz="2800" dirty="0" smtClean="0"/>
              <a:t>In </a:t>
            </a:r>
            <a:r>
              <a:rPr lang="en-US" sz="2800" dirty="0"/>
              <a:t>most studies somewhat </a:t>
            </a:r>
            <a:r>
              <a:rPr lang="en-US" sz="2800" dirty="0">
                <a:solidFill>
                  <a:srgbClr val="0070C0"/>
                </a:solidFill>
              </a:rPr>
              <a:t>over a half of abortuses are shown to have a chromosome abnormality</a:t>
            </a:r>
          </a:p>
        </p:txBody>
      </p:sp>
    </p:spTree>
    <p:extLst>
      <p:ext uri="{BB962C8B-B14F-4D97-AF65-F5344CB8AC3E}">
        <p14:creationId xmlns:p14="http://schemas.microsoft.com/office/powerpoint/2010/main" val="137498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F33-2A7E-40C9-A11D-B731A26A38E8}" type="datetime12">
              <a:rPr lang="en-US" smtClean="0"/>
              <a:t>9:23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11</a:t>
            </a:fld>
            <a:endParaRPr lang="en-US"/>
          </a:p>
        </p:txBody>
      </p:sp>
      <p:pic>
        <p:nvPicPr>
          <p:cNvPr id="4" name="image241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5617" y="1638300"/>
            <a:ext cx="3580765" cy="3581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7382" y="145596"/>
            <a:ext cx="118897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Trisomies account for about two-thirds of all cytogenetic abnormalities identified at spontaneous </a:t>
            </a:r>
            <a:r>
              <a:rPr lang="en-US" sz="2800" dirty="0" smtClean="0"/>
              <a:t>abortion. The </a:t>
            </a:r>
            <a:r>
              <a:rPr lang="en-US" sz="2800" dirty="0"/>
              <a:t>most commonly seen abnormal karyotypes are </a:t>
            </a:r>
            <a:r>
              <a:rPr lang="en-US" sz="2800" dirty="0">
                <a:solidFill>
                  <a:srgbClr val="0070C0"/>
                </a:solidFill>
              </a:rPr>
              <a:t>trisomy 16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70C0"/>
                </a:solidFill>
              </a:rPr>
              <a:t>monosomy X</a:t>
            </a:r>
            <a:r>
              <a:rPr lang="en-US" sz="2800" dirty="0"/>
              <a:t>, and </a:t>
            </a:r>
            <a:r>
              <a:rPr lang="en-US" sz="2800" dirty="0">
                <a:solidFill>
                  <a:srgbClr val="0070C0"/>
                </a:solidFill>
              </a:rPr>
              <a:t>triploidy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382" y="5327409"/>
            <a:ext cx="118897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FIGURE 19–5 Chromosomal findings in products of conception from spontaneous abortions analyzed by microarray.</a:t>
            </a:r>
          </a:p>
        </p:txBody>
      </p:sp>
    </p:spTree>
    <p:extLst>
      <p:ext uri="{BB962C8B-B14F-4D97-AF65-F5344CB8AC3E}">
        <p14:creationId xmlns:p14="http://schemas.microsoft.com/office/powerpoint/2010/main" val="305044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09DE-D769-4BE8-9C33-F715B9B49AD0}" type="slidenum">
              <a:rPr lang="en-US" smtClean="0"/>
              <a:t>12</a:t>
            </a:fld>
            <a:endParaRPr lang="en-US"/>
          </a:p>
        </p:txBody>
      </p:sp>
      <p:pic>
        <p:nvPicPr>
          <p:cNvPr id="4" name="image24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56836" y="731013"/>
            <a:ext cx="7257143" cy="42761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6836" y="117852"/>
            <a:ext cx="80545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Full </a:t>
            </a:r>
            <a:r>
              <a:rPr lang="en-US" sz="2800" b="1" dirty="0"/>
              <a:t>range of trisomies, and their relative frequencies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039" y="5097144"/>
            <a:ext cx="119321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FIGURE 19–6 The relative frequencies of trisomies observed in</a:t>
            </a:r>
            <a:r>
              <a:rPr lang="en-US" sz="2400" dirty="0">
                <a:solidFill>
                  <a:srgbClr val="0070C0"/>
                </a:solidFill>
              </a:rPr>
              <a:t> products of conception</a:t>
            </a:r>
            <a:r>
              <a:rPr lang="en-US" sz="2400" dirty="0"/>
              <a:t>, descending from the most often seen (trisomy 16) to the least (trisomy 1). These data are from the 1,872 abnormal results of a series of 5,457 consecutive samples of products of conception, on G-banding analysis. The findings are </a:t>
            </a:r>
            <a:r>
              <a:rPr lang="en-US" sz="2400" dirty="0" smtClean="0"/>
              <a:t>very similar </a:t>
            </a:r>
            <a:r>
              <a:rPr lang="en-US" sz="2400" dirty="0"/>
              <a:t>to those </a:t>
            </a:r>
            <a:r>
              <a:rPr lang="en-US" sz="2400" dirty="0" smtClean="0"/>
              <a:t>shown </a:t>
            </a:r>
            <a:r>
              <a:rPr lang="en-US" sz="2400" dirty="0"/>
              <a:t>in Figure 19–3.</a:t>
            </a:r>
          </a:p>
        </p:txBody>
      </p:sp>
    </p:spTree>
    <p:extLst>
      <p:ext uri="{BB962C8B-B14F-4D97-AF65-F5344CB8AC3E}">
        <p14:creationId xmlns:p14="http://schemas.microsoft.com/office/powerpoint/2010/main" val="364277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632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</dc:title>
  <dc:creator>asemalkhateeb</dc:creator>
  <cp:lastModifiedBy>JUST</cp:lastModifiedBy>
  <cp:revision>37</cp:revision>
  <dcterms:created xsi:type="dcterms:W3CDTF">2019-04-10T14:18:33Z</dcterms:created>
  <dcterms:modified xsi:type="dcterms:W3CDTF">2023-06-03T18:48:43Z</dcterms:modified>
</cp:coreProperties>
</file>