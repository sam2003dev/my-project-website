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17" r:id="rId4"/>
    <p:sldId id="376" r:id="rId5"/>
    <p:sldId id="378" r:id="rId6"/>
    <p:sldId id="380" r:id="rId7"/>
    <p:sldId id="386" r:id="rId8"/>
    <p:sldId id="379" r:id="rId9"/>
    <p:sldId id="381" r:id="rId10"/>
    <p:sldId id="318" r:id="rId11"/>
    <p:sldId id="383" r:id="rId12"/>
    <p:sldId id="258" r:id="rId13"/>
    <p:sldId id="325" r:id="rId14"/>
    <p:sldId id="393" r:id="rId15"/>
    <p:sldId id="387" r:id="rId16"/>
    <p:sldId id="390" r:id="rId17"/>
    <p:sldId id="388" r:id="rId18"/>
    <p:sldId id="392" r:id="rId19"/>
    <p:sldId id="394" r:id="rId20"/>
    <p:sldId id="395" r:id="rId21"/>
    <p:sldId id="391" r:id="rId22"/>
    <p:sldId id="389" r:id="rId2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5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50" autoAdjust="0"/>
  </p:normalViewPr>
  <p:slideViewPr>
    <p:cSldViewPr snapToGrid="0" snapToObjects="1">
      <p:cViewPr varScale="1">
        <p:scale>
          <a:sx n="87" d="100"/>
          <a:sy n="87" d="100"/>
        </p:scale>
        <p:origin x="14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E1327-DBD9-1D4E-A4ED-BE184B65546F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22C4A-05CC-2C4D-BA55-606EE4608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27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5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6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7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8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9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11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17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18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19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20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21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22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65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2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88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1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2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67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87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48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32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2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1828F-421C-4E44-B579-1CA9A818CADC}" type="datetimeFigureOut">
              <a:rPr kumimoji="1" lang="ja-JP" altLang="en-US" smtClean="0"/>
              <a:t>2019/12/29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8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3063836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Microbial Enzymes </a:t>
            </a:r>
            <a:endParaRPr lang="ar-sa" altLang="ja-JP" sz="4000" b="1" dirty="0" smtClean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055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4371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Enzymes in industry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107773"/>
            <a:ext cx="8273703" cy="5324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ja-JP" sz="2600" dirty="0">
                <a:latin typeface="Times New Roman"/>
                <a:cs typeface="Times New Roman"/>
              </a:rPr>
              <a:t>Enzymes have several advantages over chemical </a:t>
            </a:r>
            <a:r>
              <a:rPr lang="en-US" altLang="ja-JP" sz="2600" dirty="0" smtClean="0">
                <a:latin typeface="Times New Roman"/>
                <a:cs typeface="Times New Roman"/>
              </a:rPr>
              <a:t>catalysts: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600" dirty="0" smtClean="0">
                <a:latin typeface="Times New Roman"/>
                <a:cs typeface="Times New Roman"/>
              </a:rPr>
              <a:t>The </a:t>
            </a:r>
            <a:r>
              <a:rPr lang="en-US" altLang="ja-JP" sz="2600" dirty="0">
                <a:latin typeface="Times New Roman"/>
                <a:cs typeface="Times New Roman"/>
              </a:rPr>
              <a:t>ability to function </a:t>
            </a:r>
            <a:r>
              <a:rPr lang="en-US" altLang="ja-JP" sz="2600" dirty="0" smtClean="0">
                <a:latin typeface="Times New Roman"/>
                <a:cs typeface="Times New Roman"/>
              </a:rPr>
              <a:t>under </a:t>
            </a:r>
            <a:r>
              <a:rPr lang="en-US" altLang="ja-JP" sz="2600" dirty="0">
                <a:latin typeface="Times New Roman"/>
                <a:cs typeface="Times New Roman"/>
              </a:rPr>
              <a:t>relatively mild conditions of temperature, pH and pressure. </a:t>
            </a:r>
            <a:endParaRPr lang="en-US" altLang="ja-JP" sz="26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600" dirty="0" smtClean="0">
                <a:latin typeface="Times New Roman"/>
                <a:cs typeface="Times New Roman"/>
              </a:rPr>
              <a:t>Enzymes </a:t>
            </a:r>
            <a:r>
              <a:rPr lang="en-US" altLang="ja-JP" sz="2600" dirty="0">
                <a:latin typeface="Times New Roman"/>
                <a:cs typeface="Times New Roman"/>
              </a:rPr>
              <a:t>are specific, often </a:t>
            </a:r>
            <a:r>
              <a:rPr lang="en-US" altLang="ja-JP" sz="2600" dirty="0" err="1">
                <a:latin typeface="Times New Roman"/>
                <a:cs typeface="Times New Roman"/>
              </a:rPr>
              <a:t>stereoselective</a:t>
            </a:r>
            <a:r>
              <a:rPr lang="en-US" altLang="ja-JP" sz="2600" dirty="0">
                <a:latin typeface="Times New Roman"/>
                <a:cs typeface="Times New Roman"/>
              </a:rPr>
              <a:t>, catalysts, which do not produce </a:t>
            </a:r>
            <a:r>
              <a:rPr lang="en-US" altLang="ja-JP" sz="2600" dirty="0" smtClean="0">
                <a:latin typeface="Times New Roman"/>
                <a:cs typeface="Times New Roman"/>
              </a:rPr>
              <a:t>unwanted </a:t>
            </a:r>
            <a:r>
              <a:rPr lang="en-US" altLang="ja-JP" sz="2600" dirty="0">
                <a:latin typeface="Times New Roman"/>
                <a:cs typeface="Times New Roman"/>
              </a:rPr>
              <a:t>byproducts. </a:t>
            </a:r>
            <a:endParaRPr lang="en-US" altLang="ja-JP" sz="26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600" dirty="0" smtClean="0">
                <a:latin typeface="Times New Roman"/>
                <a:cs typeface="Times New Roman"/>
              </a:rPr>
              <a:t>Enzyme</a:t>
            </a:r>
            <a:r>
              <a:rPr lang="en-US" altLang="ja-JP" sz="2600" dirty="0">
                <a:latin typeface="Times New Roman"/>
                <a:cs typeface="Times New Roman"/>
              </a:rPr>
              <a:t>-based processes are ‘environmentally friendly’ </a:t>
            </a:r>
            <a:endParaRPr lang="en-US" altLang="ja-JP" sz="26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600" dirty="0" smtClean="0">
                <a:latin typeface="Times New Roman"/>
                <a:cs typeface="Times New Roman"/>
              </a:rPr>
              <a:t>Certain </a:t>
            </a:r>
            <a:r>
              <a:rPr lang="en-US" altLang="ja-JP" sz="2600" dirty="0">
                <a:latin typeface="Times New Roman"/>
                <a:cs typeface="Times New Roman"/>
              </a:rPr>
              <a:t>enzymes are not restricted to aqueous environments and can operate in two-phase water–organic solvent systems and in non-aqueous </a:t>
            </a:r>
            <a:r>
              <a:rPr lang="en-US" altLang="ja-JP" sz="2600" dirty="0" smtClean="0">
                <a:latin typeface="Times New Roman"/>
                <a:cs typeface="Times New Roman"/>
              </a:rPr>
              <a:t>organic </a:t>
            </a:r>
            <a:r>
              <a:rPr lang="en-US" altLang="ja-JP" sz="2600" dirty="0">
                <a:latin typeface="Times New Roman"/>
                <a:cs typeface="Times New Roman"/>
              </a:rPr>
              <a:t>media, particularly hydrophobic solvents. </a:t>
            </a:r>
            <a:endParaRPr lang="en-US" altLang="ja-JP" sz="2600" dirty="0" smtClean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5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55731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Enzymes classification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6788"/>
            <a:ext cx="9198094" cy="294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5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36915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Enzymes Applications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4443" y="1473910"/>
            <a:ext cx="9905705" cy="475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4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876" y="74000"/>
            <a:ext cx="8591362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Bulk </a:t>
            </a:r>
            <a:r>
              <a:rPr lang="en-US" altLang="ja-JP" b="1" dirty="0" err="1" smtClean="0">
                <a:solidFill>
                  <a:srgbClr val="FF0000"/>
                </a:solidFill>
                <a:latin typeface="Arial" charset="0"/>
              </a:rPr>
              <a:t>vs</a:t>
            </a:r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 Fine microbial enzymes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0112" y="1107773"/>
            <a:ext cx="8273703" cy="6309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ja-JP" sz="2400" b="1" dirty="0" smtClean="0">
                <a:latin typeface="Times New Roman"/>
                <a:cs typeface="Times New Roman"/>
              </a:rPr>
              <a:t>Bulk Enzymes preparations</a:t>
            </a:r>
          </a:p>
          <a:p>
            <a:pPr marL="457200" indent="-457200">
              <a:spcAft>
                <a:spcPts val="24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Bulk enzyme are partially purified and produced in large quantities </a:t>
            </a:r>
          </a:p>
          <a:p>
            <a:pPr marL="457200" indent="-457200">
              <a:spcAft>
                <a:spcPts val="2400"/>
              </a:spcAft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Bulk enzyme preparations </a:t>
            </a:r>
            <a:r>
              <a:rPr lang="en-US" altLang="ja-JP" sz="2400" dirty="0" smtClean="0">
                <a:latin typeface="Times New Roman"/>
                <a:cs typeface="Times New Roman"/>
              </a:rPr>
              <a:t>are preferred </a:t>
            </a:r>
            <a:r>
              <a:rPr lang="en-US" altLang="ja-JP" sz="2400" dirty="0">
                <a:latin typeface="Times New Roman"/>
                <a:cs typeface="Times New Roman"/>
              </a:rPr>
              <a:t>for numerous and varied industrial processes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</a:p>
          <a:p>
            <a:pPr>
              <a:spcAft>
                <a:spcPts val="2400"/>
              </a:spcAft>
            </a:pPr>
            <a:r>
              <a:rPr lang="en-US" altLang="ja-JP" sz="2400" b="1" dirty="0" smtClean="0">
                <a:latin typeface="Times New Roman"/>
                <a:cs typeface="Times New Roman"/>
              </a:rPr>
              <a:t>Fine Enzyme preparations</a:t>
            </a:r>
          </a:p>
          <a:p>
            <a:pPr marL="457200" indent="-457200">
              <a:spcAft>
                <a:spcPts val="24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Produced in smaller </a:t>
            </a:r>
            <a:r>
              <a:rPr lang="en-US" altLang="ja-JP" sz="2400" dirty="0">
                <a:latin typeface="Times New Roman"/>
                <a:cs typeface="Times New Roman"/>
              </a:rPr>
              <a:t>quantities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24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High</a:t>
            </a:r>
            <a:r>
              <a:rPr lang="en-US" altLang="ja-JP" sz="2400" dirty="0">
                <a:latin typeface="Times New Roman"/>
                <a:cs typeface="Times New Roman"/>
              </a:rPr>
              <a:t>-purity enzyme preparations</a:t>
            </a:r>
          </a:p>
          <a:p>
            <a:pPr marL="457200" indent="-457200">
              <a:spcAft>
                <a:spcPts val="2400"/>
              </a:spcAft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Required for numerous applications, such as therapeutic agents, many of which are now recombinant products </a:t>
            </a:r>
          </a:p>
          <a:p>
            <a:pPr marL="457200" indent="-457200">
              <a:spcAft>
                <a:spcPts val="24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188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876" y="74000"/>
            <a:ext cx="8591362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Bulk enzymes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73" y="1019760"/>
            <a:ext cx="7863173" cy="60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5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 rot="16200000">
            <a:off x="-2321474" y="2947544"/>
            <a:ext cx="6315535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Bulk industrial enzymes production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432" y="-83439"/>
            <a:ext cx="3103408" cy="694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9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876" y="183760"/>
            <a:ext cx="8591362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Fine microbial enzymes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3379" r="68799" b="44880"/>
          <a:stretch/>
        </p:blipFill>
        <p:spPr>
          <a:xfrm>
            <a:off x="463265" y="1344522"/>
            <a:ext cx="3744068" cy="52473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4791" t="3379" r="-2123" b="43942"/>
          <a:stretch/>
        </p:blipFill>
        <p:spPr>
          <a:xfrm>
            <a:off x="4664228" y="1344522"/>
            <a:ext cx="4479771" cy="534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8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97876" y="1960851"/>
            <a:ext cx="7268399" cy="4663504"/>
            <a:chOff x="-3336324" y="1904724"/>
            <a:chExt cx="7268399" cy="466350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l="-1" t="54016" r="39430"/>
            <a:stretch/>
          </p:blipFill>
          <p:spPr>
            <a:xfrm>
              <a:off x="-3336324" y="1904724"/>
              <a:ext cx="7268399" cy="4663504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578939" y="1904724"/>
              <a:ext cx="3174839" cy="2334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31339" y="4671474"/>
              <a:ext cx="3174839" cy="15656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97876" y="183760"/>
            <a:ext cx="8591362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Fine microbial enzymes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4791" t="56004" r="-2123"/>
          <a:stretch/>
        </p:blipFill>
        <p:spPr>
          <a:xfrm>
            <a:off x="4541966" y="2159912"/>
            <a:ext cx="4479771" cy="44619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3380" r="66186" b="89007"/>
          <a:stretch/>
        </p:blipFill>
        <p:spPr>
          <a:xfrm>
            <a:off x="308044" y="1344522"/>
            <a:ext cx="4057496" cy="7721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64791" t="3379" r="-2123" b="89007"/>
          <a:stretch/>
        </p:blipFill>
        <p:spPr>
          <a:xfrm>
            <a:off x="4509007" y="1344522"/>
            <a:ext cx="4479771" cy="77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0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0616" b="33066"/>
          <a:stretch/>
        </p:blipFill>
        <p:spPr>
          <a:xfrm>
            <a:off x="307612" y="1485698"/>
            <a:ext cx="4177540" cy="5041527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97876" y="301364"/>
            <a:ext cx="8623056" cy="9144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Food &amp; feed industry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66147"/>
          <a:stretch/>
        </p:blipFill>
        <p:spPr>
          <a:xfrm>
            <a:off x="4743392" y="1485698"/>
            <a:ext cx="4177540" cy="30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1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960"/>
            <a:ext cx="77724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High Fructose Corn Syrup (HFCS)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6859" b="8089"/>
          <a:stretch/>
        </p:blipFill>
        <p:spPr>
          <a:xfrm>
            <a:off x="0" y="1066236"/>
            <a:ext cx="9144000" cy="583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3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314265"/>
            <a:ext cx="789145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Detergent industry</a:t>
            </a:r>
            <a:endParaRPr lang="en-US" altLang="ja-JP" sz="3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9574" y="1229129"/>
            <a:ext cx="8661242" cy="784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sz="3600" dirty="0" smtClean="0">
                <a:latin typeface="Times New Roman"/>
                <a:cs typeface="Times New Roman"/>
              </a:rPr>
              <a:t>Proteases</a:t>
            </a:r>
            <a:endParaRPr lang="en-US" altLang="ja-JP" sz="3600" dirty="0">
              <a:latin typeface="Times New Roman"/>
              <a:cs typeface="Times New Roman"/>
            </a:endParaRPr>
          </a:p>
          <a:p>
            <a:pPr marL="914400" lvl="1" indent="-457200">
              <a:buFont typeface="Arial"/>
              <a:buChar char="•"/>
            </a:pPr>
            <a:endParaRPr lang="en-US" altLang="ja-JP" sz="36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600" dirty="0" smtClean="0">
                <a:latin typeface="Times New Roman"/>
                <a:cs typeface="Times New Roman"/>
              </a:rPr>
              <a:t>Lipases</a:t>
            </a:r>
          </a:p>
          <a:p>
            <a:pPr marL="971550" lvl="1" indent="-514350">
              <a:buFont typeface="Arial"/>
              <a:buChar char="•"/>
            </a:pPr>
            <a:endParaRPr lang="en-US" altLang="ja-JP" sz="36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600" dirty="0" err="1" smtClean="0">
                <a:latin typeface="Times New Roman"/>
                <a:cs typeface="Times New Roman"/>
              </a:rPr>
              <a:t>Cellulases</a:t>
            </a:r>
            <a:endParaRPr lang="en-US" altLang="ja-JP" sz="36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36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600" dirty="0" smtClean="0">
                <a:latin typeface="Times New Roman"/>
                <a:cs typeface="Times New Roman"/>
              </a:rPr>
              <a:t>Amylases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36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600" dirty="0" err="1" smtClean="0">
                <a:latin typeface="Times New Roman"/>
                <a:cs typeface="Times New Roman"/>
              </a:rPr>
              <a:t>Mannanases</a:t>
            </a:r>
            <a:endParaRPr lang="en-US" altLang="ja-JP" sz="3600" dirty="0">
              <a:latin typeface="Times New Roman"/>
              <a:cs typeface="Times New Roman"/>
            </a:endParaRPr>
          </a:p>
          <a:p>
            <a:endParaRPr lang="en-US" altLang="ja-JP" sz="3600" dirty="0">
              <a:latin typeface="Times New Roman"/>
              <a:cs typeface="Times New Roman"/>
            </a:endParaRPr>
          </a:p>
          <a:p>
            <a:endParaRPr lang="en-US" altLang="ja-JP" sz="3600" dirty="0" smtClean="0">
              <a:latin typeface="Times New Roman"/>
              <a:cs typeface="Times New Roman"/>
            </a:endParaRPr>
          </a:p>
          <a:p>
            <a:endParaRPr lang="en-US" altLang="ja-JP" sz="3600" dirty="0">
              <a:latin typeface="Times New Roman"/>
              <a:cs typeface="Times New Roman"/>
            </a:endParaRPr>
          </a:p>
          <a:p>
            <a:r>
              <a:rPr lang="en-US" altLang="ja-JP" sz="3600" dirty="0" smtClean="0">
                <a:latin typeface="Times New Roman"/>
                <a:cs typeface="Times New Roman"/>
              </a:rPr>
              <a:t> </a:t>
            </a:r>
            <a:endParaRPr lang="en-US" altLang="ja-JP" sz="3600" dirty="0">
              <a:latin typeface="Times New Roman"/>
              <a:cs typeface="Times New Roman"/>
            </a:endParaRPr>
          </a:p>
          <a:p>
            <a:endParaRPr kumimoji="1" lang="ja-JP" altLang="en-US" sz="3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083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233569"/>
            <a:ext cx="789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Textile Industry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993" y="793855"/>
            <a:ext cx="836123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2400" b="1" dirty="0" err="1" smtClean="0">
                <a:latin typeface="Times New Roman"/>
                <a:cs typeface="Times New Roman"/>
              </a:rPr>
              <a:t>Desizing</a:t>
            </a:r>
            <a:endParaRPr lang="en-US" altLang="ja-JP" sz="2400" b="1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Prior to weaving </a:t>
            </a:r>
            <a:r>
              <a:rPr lang="en-US" altLang="ja-JP" sz="2400" dirty="0" smtClean="0">
                <a:latin typeface="Times New Roman"/>
                <a:cs typeface="Times New Roman"/>
              </a:rPr>
              <a:t>fabrics, </a:t>
            </a:r>
            <a:r>
              <a:rPr lang="en-US" altLang="ja-JP" sz="2400" dirty="0">
                <a:latin typeface="Times New Roman"/>
                <a:cs typeface="Times New Roman"/>
              </a:rPr>
              <a:t>the threads are reinforced with an adhesive (termed ‘size’) to prevent breakage of warp threads.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size may be composed of </a:t>
            </a:r>
            <a:r>
              <a:rPr lang="en-US" altLang="ja-JP" sz="2400" dirty="0" smtClean="0">
                <a:latin typeface="Times New Roman"/>
                <a:cs typeface="Times New Roman"/>
              </a:rPr>
              <a:t>starch or cellulose derivatives</a:t>
            </a:r>
          </a:p>
          <a:p>
            <a:pPr marL="342900" indent="-34290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Before </a:t>
            </a:r>
            <a:r>
              <a:rPr lang="en-US" altLang="ja-JP" sz="2400" dirty="0">
                <a:latin typeface="Times New Roman"/>
                <a:cs typeface="Times New Roman"/>
              </a:rPr>
              <a:t>dyeing, bleaching and printing, the size </a:t>
            </a:r>
            <a:r>
              <a:rPr lang="en-US" altLang="ja-JP" sz="2400" dirty="0" smtClean="0">
                <a:latin typeface="Times New Roman"/>
                <a:cs typeface="Times New Roman"/>
              </a:rPr>
              <a:t>is </a:t>
            </a:r>
            <a:r>
              <a:rPr lang="en-US" altLang="ja-JP" sz="2400" dirty="0">
                <a:latin typeface="Times New Roman"/>
                <a:cs typeface="Times New Roman"/>
              </a:rPr>
              <a:t>removed from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cloth with </a:t>
            </a:r>
            <a:r>
              <a:rPr lang="en-US" altLang="ja-JP" sz="2400" dirty="0" smtClean="0">
                <a:latin typeface="Times New Roman"/>
                <a:cs typeface="Times New Roman"/>
              </a:rPr>
              <a:t>amylases</a:t>
            </a:r>
            <a:endParaRPr lang="en-US" altLang="ja-JP" sz="2400" dirty="0">
              <a:latin typeface="Times New Roman"/>
              <a:cs typeface="Times New Roman"/>
            </a:endParaRPr>
          </a:p>
          <a:p>
            <a:r>
              <a:rPr lang="en-US" altLang="ja-JP" sz="2400" b="1" dirty="0" err="1">
                <a:latin typeface="Times New Roman"/>
                <a:cs typeface="Times New Roman"/>
              </a:rPr>
              <a:t>Bioscourting</a:t>
            </a:r>
            <a:endParaRPr lang="en-US" altLang="ja-JP" sz="2400" b="1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Untreated cotton contains varieties of cellulosic impurities like waxes, </a:t>
            </a:r>
            <a:r>
              <a:rPr lang="en-US" altLang="ja-JP" sz="2400" dirty="0" err="1">
                <a:latin typeface="Times New Roman"/>
                <a:cs typeface="Times New Roman"/>
              </a:rPr>
              <a:t>pectins</a:t>
            </a:r>
            <a:r>
              <a:rPr lang="en-US" altLang="ja-JP" sz="2400" dirty="0">
                <a:latin typeface="Times New Roman"/>
                <a:cs typeface="Times New Roman"/>
              </a:rPr>
              <a:t>, and hemicelluloses, which give hydrophobic properties to the fiber and thereby interfere in the process of dyeing and finishing.</a:t>
            </a:r>
          </a:p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Microbial enzymes like pectinases, proteases, lipases, and </a:t>
            </a:r>
            <a:r>
              <a:rPr lang="en-US" altLang="ja-JP" sz="2400" dirty="0" err="1">
                <a:latin typeface="Times New Roman"/>
                <a:cs typeface="Times New Roman"/>
              </a:rPr>
              <a:t>cutinases</a:t>
            </a:r>
            <a:r>
              <a:rPr lang="en-US" altLang="ja-JP" sz="2400" dirty="0">
                <a:latin typeface="Times New Roman"/>
                <a:cs typeface="Times New Roman"/>
              </a:rPr>
              <a:t>  remove these impurities and enhance wettability of the fiber.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273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233569"/>
            <a:ext cx="789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Textile Industry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993" y="1305444"/>
            <a:ext cx="836123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 smtClean="0">
                <a:latin typeface="Times New Roman"/>
                <a:cs typeface="Times New Roman"/>
              </a:rPr>
              <a:t>Biopolishing</a:t>
            </a:r>
            <a:endParaRPr lang="en-US" altLang="ja-JP" sz="2400" b="1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err="1" smtClean="0">
                <a:latin typeface="Times New Roman"/>
                <a:cs typeface="Times New Roman"/>
              </a:rPr>
              <a:t>Cellulases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are also employed in bio-polishing cotton and other cellulose </a:t>
            </a:r>
            <a:r>
              <a:rPr lang="en-US" altLang="ja-JP" sz="2400" dirty="0" err="1">
                <a:latin typeface="Times New Roman"/>
                <a:cs typeface="Times New Roman"/>
              </a:rPr>
              <a:t>fibres</a:t>
            </a:r>
            <a:r>
              <a:rPr lang="en-US" altLang="ja-JP" sz="2400" dirty="0">
                <a:latin typeface="Times New Roman"/>
                <a:cs typeface="Times New Roman"/>
              </a:rPr>
              <a:t> to produce fabrics with a smoother and glossier appearance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r>
              <a:rPr lang="en-US" altLang="ja-JP" sz="2400" b="1" dirty="0" smtClean="0">
                <a:latin typeface="Times New Roman"/>
                <a:cs typeface="Times New Roman"/>
              </a:rPr>
              <a:t>Denim washing</a:t>
            </a:r>
          </a:p>
          <a:p>
            <a:pPr marL="342900" indent="-34290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Treatment of denim garments to give a worn look be- fore sale is called ‘stonewashing’.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400" dirty="0" err="1" smtClean="0">
                <a:latin typeface="Times New Roman"/>
                <a:cs typeface="Times New Roman"/>
              </a:rPr>
              <a:t>Cellulases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are now used to accelerate abrasion and aid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loosening </a:t>
            </a:r>
            <a:r>
              <a:rPr lang="en-US" altLang="ja-JP" sz="2400" dirty="0">
                <a:latin typeface="Times New Roman"/>
                <a:cs typeface="Times New Roman"/>
              </a:rPr>
              <a:t>of the indigo dye. </a:t>
            </a:r>
          </a:p>
          <a:p>
            <a:pPr>
              <a:lnSpc>
                <a:spcPct val="200000"/>
              </a:lnSpc>
            </a:pP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910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233569"/>
            <a:ext cx="789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Textile Industry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647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8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42472" y="233569"/>
            <a:ext cx="789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Leather industry</a:t>
            </a:r>
            <a:endParaRPr lang="en-US" altLang="ja-JP" sz="4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2471" y="1204718"/>
            <a:ext cx="8071559" cy="501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3200" dirty="0" smtClean="0">
                <a:latin typeface="Times New Roman"/>
                <a:cs typeface="Times New Roman"/>
              </a:rPr>
              <a:t>The </a:t>
            </a:r>
            <a:r>
              <a:rPr lang="en-US" altLang="ja-JP" sz="3200" dirty="0">
                <a:latin typeface="Times New Roman"/>
                <a:cs typeface="Times New Roman"/>
              </a:rPr>
              <a:t>most important applications </a:t>
            </a:r>
            <a:r>
              <a:rPr lang="en-US" altLang="ja-JP" sz="3200" dirty="0" smtClean="0">
                <a:latin typeface="Times New Roman"/>
                <a:cs typeface="Times New Roman"/>
              </a:rPr>
              <a:t>of microbial proteases and lipases during:</a:t>
            </a:r>
          </a:p>
          <a:p>
            <a:endParaRPr lang="en-US" altLang="ja-JP" sz="3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Soaking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3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De-</a:t>
            </a:r>
            <a:r>
              <a:rPr lang="en-US" altLang="ja-JP" sz="3200" dirty="0" err="1" smtClean="0">
                <a:latin typeface="Times New Roman"/>
                <a:cs typeface="Times New Roman"/>
              </a:rPr>
              <a:t>hairing</a:t>
            </a:r>
            <a:endParaRPr lang="en-US" altLang="ja-JP" sz="3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3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De-greasing</a:t>
            </a:r>
          </a:p>
          <a:p>
            <a:pPr marL="514350" indent="-514350">
              <a:buFont typeface="+mj-lt"/>
              <a:buAutoNum type="arabicPeriod"/>
            </a:pPr>
            <a:endParaRPr lang="en-US" altLang="ja-JP" sz="3200" dirty="0" smtClean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3200" dirty="0" smtClean="0">
                <a:latin typeface="Times New Roman"/>
                <a:cs typeface="Times New Roman"/>
              </a:rPr>
              <a:t>Bating</a:t>
            </a:r>
            <a:endParaRPr lang="ja-JP" alt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498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0112" y="1229299"/>
            <a:ext cx="82737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Microbial enzymes are used </a:t>
            </a:r>
            <a:r>
              <a:rPr lang="en-US" altLang="ja-JP" sz="2000" dirty="0">
                <a:latin typeface="Times New Roman"/>
                <a:cs typeface="Times New Roman"/>
              </a:rPr>
              <a:t>in the synthesis of high-value organic </a:t>
            </a:r>
            <a:r>
              <a:rPr lang="en-US" altLang="ja-JP" sz="2000" dirty="0" smtClean="0">
                <a:latin typeface="Times New Roman"/>
                <a:cs typeface="Times New Roman"/>
              </a:rPr>
              <a:t>compounds </a:t>
            </a:r>
            <a:r>
              <a:rPr lang="en-US" altLang="ja-JP" sz="2000" dirty="0">
                <a:latin typeface="Times New Roman"/>
                <a:cs typeface="Times New Roman"/>
              </a:rPr>
              <a:t>for the chemical, food and pharmaceutical </a:t>
            </a:r>
            <a:r>
              <a:rPr lang="en-US" altLang="ja-JP" sz="2000" dirty="0" smtClean="0">
                <a:latin typeface="Times New Roman"/>
                <a:cs typeface="Times New Roman"/>
              </a:rPr>
              <a:t>industries</a:t>
            </a:r>
            <a:r>
              <a:rPr lang="en-US" altLang="ja-JP" sz="2000" dirty="0">
                <a:latin typeface="Times New Roman"/>
                <a:cs typeface="Times New Roman"/>
              </a:rPr>
              <a:t>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12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For example, </a:t>
            </a:r>
            <a:r>
              <a:rPr lang="en-US" altLang="ja-JP" sz="2000" dirty="0" err="1" smtClean="0">
                <a:latin typeface="Times New Roman"/>
                <a:cs typeface="Times New Roman"/>
              </a:rPr>
              <a:t>cyclodextrin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 err="1">
                <a:latin typeface="Times New Roman"/>
                <a:cs typeface="Times New Roman"/>
              </a:rPr>
              <a:t>glycosyltransferases</a:t>
            </a:r>
            <a:r>
              <a:rPr lang="en-US" altLang="ja-JP" sz="2000" dirty="0">
                <a:latin typeface="Times New Roman"/>
                <a:cs typeface="Times New Roman"/>
              </a:rPr>
              <a:t>, </a:t>
            </a:r>
            <a:r>
              <a:rPr lang="en-US" altLang="ja-JP" sz="2000" dirty="0" smtClean="0">
                <a:latin typeface="Times New Roman"/>
                <a:cs typeface="Times New Roman"/>
              </a:rPr>
              <a:t>create </a:t>
            </a:r>
            <a:r>
              <a:rPr lang="en-US" altLang="ja-JP" sz="2000" dirty="0" err="1">
                <a:latin typeface="Times New Roman"/>
                <a:cs typeface="Times New Roman"/>
              </a:rPr>
              <a:t>cyclodextrins</a:t>
            </a:r>
            <a:r>
              <a:rPr lang="en-US" altLang="ja-JP" sz="2000" dirty="0">
                <a:latin typeface="Times New Roman"/>
                <a:cs typeface="Times New Roman"/>
              </a:rPr>
              <a:t> from simple starch </a:t>
            </a:r>
            <a:r>
              <a:rPr lang="en-US" altLang="ja-JP" sz="2000" dirty="0" smtClean="0">
                <a:latin typeface="Times New Roman"/>
                <a:cs typeface="Times New Roman"/>
              </a:rPr>
              <a:t>molecules.</a:t>
            </a:r>
          </a:p>
          <a:p>
            <a:pPr marL="342900" indent="-342900">
              <a:buFont typeface="Arial"/>
              <a:buChar char="•"/>
            </a:pPr>
            <a:endParaRPr lang="en-US" altLang="ja-JP" sz="12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err="1" smtClean="0">
                <a:latin typeface="Times New Roman"/>
                <a:cs typeface="Times New Roman"/>
              </a:rPr>
              <a:t>Cyclodextrins</a:t>
            </a:r>
            <a:r>
              <a:rPr lang="en-US" altLang="ja-JP" sz="2000" dirty="0" smtClean="0">
                <a:latin typeface="Times New Roman"/>
                <a:cs typeface="Times New Roman"/>
              </a:rPr>
              <a:t> </a:t>
            </a:r>
            <a:r>
              <a:rPr lang="en-US" altLang="ja-JP" sz="2000" dirty="0">
                <a:latin typeface="Times New Roman"/>
                <a:cs typeface="Times New Roman"/>
              </a:rPr>
              <a:t>are useful carriers of fragile compounds such as </a:t>
            </a:r>
            <a:r>
              <a:rPr lang="en-US" altLang="ja-JP" sz="2000" dirty="0" smtClean="0">
                <a:latin typeface="Times New Roman"/>
                <a:cs typeface="Times New Roman"/>
              </a:rPr>
              <a:t>drugs, vitamins </a:t>
            </a:r>
            <a:r>
              <a:rPr lang="en-US" altLang="ja-JP" sz="2000" dirty="0">
                <a:latin typeface="Times New Roman"/>
                <a:cs typeface="Times New Roman"/>
              </a:rPr>
              <a:t>and </a:t>
            </a:r>
            <a:r>
              <a:rPr lang="en-US" altLang="ja-JP" sz="2000" dirty="0" err="1">
                <a:latin typeface="Times New Roman"/>
                <a:cs typeface="Times New Roman"/>
              </a:rPr>
              <a:t>flavours</a:t>
            </a:r>
            <a:r>
              <a:rPr lang="en-US" altLang="ja-JP" sz="2000" dirty="0">
                <a:latin typeface="Times New Roman"/>
                <a:cs typeface="Times New Roman"/>
              </a:rPr>
              <a:t>. </a:t>
            </a:r>
            <a:endParaRPr lang="en-US" altLang="ja-JP" sz="20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altLang="ja-JP" sz="12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000" dirty="0" smtClean="0">
                <a:latin typeface="Times New Roman"/>
                <a:cs typeface="Times New Roman"/>
              </a:rPr>
              <a:t>No </a:t>
            </a:r>
            <a:r>
              <a:rPr lang="en-US" altLang="ja-JP" sz="2000" dirty="0">
                <a:latin typeface="Times New Roman"/>
                <a:cs typeface="Times New Roman"/>
              </a:rPr>
              <a:t>chemical means exists for creating this class of substances, so the enzymatic route is unique. </a:t>
            </a:r>
          </a:p>
          <a:p>
            <a:endParaRPr lang="en-US" altLang="ja-JP" sz="2000" dirty="0">
              <a:latin typeface="Times New Roman"/>
              <a:cs typeface="Times New Roman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152400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>
                <a:solidFill>
                  <a:srgbClr val="FF0000"/>
                </a:solidFill>
                <a:latin typeface="Arial"/>
                <a:cs typeface="Arial"/>
              </a:rPr>
              <a:t>Enzymes as catalysts in organic synthesis </a:t>
            </a:r>
            <a:endParaRPr lang="en-US" altLang="ja-JP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496" y="4404116"/>
            <a:ext cx="5521238" cy="245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5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0112" y="1158735"/>
            <a:ext cx="8273703" cy="5509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An </a:t>
            </a:r>
            <a:r>
              <a:rPr lang="en-US" altLang="ja-JP" sz="2400" dirty="0">
                <a:latin typeface="Times New Roman"/>
                <a:cs typeface="Times New Roman"/>
              </a:rPr>
              <a:t>increasingly important field is the synthesis of </a:t>
            </a:r>
            <a:r>
              <a:rPr lang="en-US" altLang="ja-JP" sz="2400" dirty="0" smtClean="0">
                <a:latin typeface="Times New Roman"/>
                <a:cs typeface="Times New Roman"/>
              </a:rPr>
              <a:t>chiral </a:t>
            </a:r>
            <a:r>
              <a:rPr lang="en-US" altLang="ja-JP" sz="2400" dirty="0">
                <a:latin typeface="Times New Roman"/>
                <a:cs typeface="Times New Roman"/>
              </a:rPr>
              <a:t>compounds. 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Compounds </a:t>
            </a:r>
            <a:r>
              <a:rPr lang="en-US" altLang="ja-JP" sz="2400" dirty="0">
                <a:latin typeface="Times New Roman"/>
                <a:cs typeface="Times New Roman"/>
              </a:rPr>
              <a:t>are chemically synthesized an almost 50 : 50 mixture of enantiomers is made, which is called a racemic </a:t>
            </a:r>
            <a:r>
              <a:rPr lang="en-US" altLang="ja-JP" sz="2400" dirty="0" smtClean="0">
                <a:latin typeface="Times New Roman"/>
                <a:cs typeface="Times New Roman"/>
              </a:rPr>
              <a:t>mixture.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In </a:t>
            </a:r>
            <a:r>
              <a:rPr lang="en-US" altLang="ja-JP" sz="2400" dirty="0">
                <a:latin typeface="Times New Roman"/>
                <a:cs typeface="Times New Roman"/>
              </a:rPr>
              <a:t>the industrial </a:t>
            </a:r>
            <a:r>
              <a:rPr lang="en-US" altLang="ja-JP" sz="2400" dirty="0" smtClean="0">
                <a:latin typeface="Times New Roman"/>
                <a:cs typeface="Times New Roman"/>
              </a:rPr>
              <a:t>synthesis </a:t>
            </a:r>
            <a:r>
              <a:rPr lang="en-US" altLang="ja-JP" sz="2400" dirty="0">
                <a:latin typeface="Times New Roman"/>
                <a:cs typeface="Times New Roman"/>
              </a:rPr>
              <a:t>of </a:t>
            </a:r>
            <a:r>
              <a:rPr lang="en-US" altLang="ja-JP" sz="2400" dirty="0" smtClean="0">
                <a:latin typeface="Times New Roman"/>
                <a:cs typeface="Times New Roman"/>
              </a:rPr>
              <a:t>chiral </a:t>
            </a:r>
            <a:r>
              <a:rPr lang="en-US" altLang="ja-JP" sz="2400" dirty="0">
                <a:latin typeface="Times New Roman"/>
                <a:cs typeface="Times New Roman"/>
              </a:rPr>
              <a:t>compounds, there have to be controls to guarantee the production of only the desired </a:t>
            </a:r>
            <a:r>
              <a:rPr lang="en-US" altLang="ja-JP" sz="2400" dirty="0" smtClean="0">
                <a:latin typeface="Times New Roman"/>
                <a:cs typeface="Times New Roman"/>
              </a:rPr>
              <a:t>enantiomer</a:t>
            </a:r>
            <a:r>
              <a:rPr lang="en-US" altLang="ja-JP" sz="2400" dirty="0">
                <a:latin typeface="Times New Roman"/>
                <a:cs typeface="Times New Roman"/>
              </a:rPr>
              <a:t>, often at a purity higher than 99%.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Enzyme</a:t>
            </a:r>
            <a:r>
              <a:rPr lang="en-US" altLang="ja-JP" sz="2400" dirty="0">
                <a:latin typeface="Times New Roman"/>
                <a:cs typeface="Times New Roman"/>
              </a:rPr>
              <a:t>-based processes can be used to prepare </a:t>
            </a:r>
            <a:r>
              <a:rPr lang="en-US" altLang="ja-JP" sz="2400" dirty="0" smtClean="0">
                <a:latin typeface="Times New Roman"/>
                <a:cs typeface="Times New Roman"/>
              </a:rPr>
              <a:t>specific </a:t>
            </a:r>
            <a:r>
              <a:rPr lang="en-US" altLang="ja-JP" sz="2400" dirty="0">
                <a:latin typeface="Times New Roman"/>
                <a:cs typeface="Times New Roman"/>
              </a:rPr>
              <a:t>enantiomers and resolve enantiomers from racemic </a:t>
            </a:r>
            <a:r>
              <a:rPr lang="en-US" altLang="ja-JP" sz="2400" dirty="0" smtClean="0">
                <a:latin typeface="Times New Roman"/>
                <a:cs typeface="Times New Roman"/>
              </a:rPr>
              <a:t>mixtures.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These </a:t>
            </a:r>
            <a:r>
              <a:rPr lang="en-US" altLang="ja-JP" sz="2400" dirty="0">
                <a:latin typeface="Times New Roman"/>
                <a:cs typeface="Times New Roman"/>
              </a:rPr>
              <a:t>processes utilize </a:t>
            </a:r>
            <a:r>
              <a:rPr lang="en-US" altLang="ja-JP" sz="2400" dirty="0" err="1">
                <a:latin typeface="Times New Roman"/>
                <a:cs typeface="Times New Roman"/>
              </a:rPr>
              <a:t>racemases</a:t>
            </a:r>
            <a:r>
              <a:rPr lang="en-US" altLang="ja-JP" sz="2400" dirty="0">
                <a:latin typeface="Times New Roman"/>
                <a:cs typeface="Times New Roman"/>
              </a:rPr>
              <a:t>, which are a </a:t>
            </a:r>
            <a:r>
              <a:rPr lang="en-US" altLang="ja-JP" sz="2400" dirty="0" smtClean="0">
                <a:latin typeface="Times New Roman"/>
                <a:cs typeface="Times New Roman"/>
              </a:rPr>
              <a:t>family </a:t>
            </a:r>
            <a:r>
              <a:rPr lang="en-US" altLang="ja-JP" sz="2400" dirty="0">
                <a:latin typeface="Times New Roman"/>
                <a:cs typeface="Times New Roman"/>
              </a:rPr>
              <a:t>of enzymes that accept either enantiomer, </a:t>
            </a:r>
            <a:r>
              <a:rPr lang="en-US" altLang="ja-JP" sz="2400" dirty="0" smtClean="0">
                <a:latin typeface="Times New Roman"/>
                <a:cs typeface="Times New Roman"/>
              </a:rPr>
              <a:t>and function  </a:t>
            </a:r>
            <a:r>
              <a:rPr lang="en-US" altLang="ja-JP" sz="2400" dirty="0">
                <a:latin typeface="Times New Roman"/>
                <a:cs typeface="Times New Roman"/>
              </a:rPr>
              <a:t>to turn a substrate of one chirality into its opposite form.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152400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>
                <a:solidFill>
                  <a:srgbClr val="FF0000"/>
                </a:solidFill>
                <a:latin typeface="Arial"/>
                <a:cs typeface="Arial"/>
              </a:rPr>
              <a:t>Enzymes as catalysts in organic synthesis </a:t>
            </a:r>
            <a:endParaRPr lang="en-US" altLang="ja-JP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77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0112" y="1158735"/>
            <a:ext cx="827370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Paper is composed of natural biopolymers: </a:t>
            </a:r>
            <a:r>
              <a:rPr lang="en-US" altLang="ja-JP" sz="2400" dirty="0" smtClean="0">
                <a:latin typeface="Times New Roman"/>
                <a:cs typeface="Times New Roman"/>
              </a:rPr>
              <a:t>cellulose</a:t>
            </a:r>
            <a:r>
              <a:rPr lang="en-US" altLang="ja-JP" sz="2400" dirty="0">
                <a:latin typeface="Times New Roman"/>
                <a:cs typeface="Times New Roman"/>
              </a:rPr>
              <a:t>, hemi-cellulose, and lignin.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Papermaking </a:t>
            </a:r>
            <a:r>
              <a:rPr lang="en-US" altLang="ja-JP" sz="2400" dirty="0">
                <a:latin typeface="Times New Roman"/>
                <a:cs typeface="Times New Roman"/>
              </a:rPr>
              <a:t>involves the use of </a:t>
            </a:r>
            <a:r>
              <a:rPr lang="en-US" altLang="ja-JP" sz="2400" dirty="0" smtClean="0">
                <a:latin typeface="Times New Roman"/>
                <a:cs typeface="Times New Roman"/>
              </a:rPr>
              <a:t>chemicals </a:t>
            </a:r>
            <a:r>
              <a:rPr lang="en-US" altLang="ja-JP" sz="2400" dirty="0">
                <a:latin typeface="Times New Roman"/>
                <a:cs typeface="Times New Roman"/>
              </a:rPr>
              <a:t>to recover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cellulosic </a:t>
            </a:r>
            <a:r>
              <a:rPr lang="en-US" altLang="ja-JP" sz="2400" dirty="0">
                <a:latin typeface="Times New Roman"/>
                <a:cs typeface="Times New Roman"/>
              </a:rPr>
              <a:t>fibers.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46554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dirty="0">
                <a:solidFill>
                  <a:srgbClr val="FF0000"/>
                </a:solidFill>
                <a:latin typeface="Arial"/>
                <a:cs typeface="Arial"/>
              </a:rPr>
              <a:t>Pulp and Paper Processing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616" y="3121083"/>
            <a:ext cx="5512615" cy="373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7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0112" y="1017607"/>
            <a:ext cx="827370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Biofuels are defined as fuels derived from </a:t>
            </a:r>
            <a:r>
              <a:rPr lang="en-US" altLang="ja-JP" sz="2400" dirty="0" smtClean="0">
                <a:latin typeface="Times New Roman"/>
                <a:cs typeface="Times New Roman"/>
              </a:rPr>
              <a:t>biomass </a:t>
            </a:r>
            <a:r>
              <a:rPr lang="en-US" altLang="ja-JP" sz="2400" dirty="0">
                <a:latin typeface="Times New Roman"/>
                <a:cs typeface="Times New Roman"/>
              </a:rPr>
              <a:t>conversion such as biodiesel, bioethanol, </a:t>
            </a:r>
            <a:r>
              <a:rPr lang="en-US" altLang="ja-JP" sz="2400" dirty="0" err="1">
                <a:latin typeface="Times New Roman"/>
                <a:cs typeface="Times New Roman"/>
              </a:rPr>
              <a:t>biohydrogen</a:t>
            </a:r>
            <a:r>
              <a:rPr lang="en-US" altLang="ja-JP" sz="2400" dirty="0">
                <a:latin typeface="Times New Roman"/>
                <a:cs typeface="Times New Roman"/>
              </a:rPr>
              <a:t>, and biogas.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Biodiesel (mono alkyl ester) of long-chain of fatty acid has immense potential as an alternative fuel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Lipase (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Biodiesl</a:t>
            </a:r>
            <a:r>
              <a:rPr lang="en-US" altLang="ja-JP" sz="2400" dirty="0" smtClean="0">
                <a:latin typeface="Times New Roman"/>
                <a:cs typeface="Times New Roman"/>
              </a:rPr>
              <a:t>) &amp; 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Cellulase</a:t>
            </a:r>
            <a:r>
              <a:rPr lang="en-US" altLang="ja-JP" sz="2400" dirty="0" smtClean="0">
                <a:latin typeface="Times New Roman"/>
                <a:cs typeface="Times New Roman"/>
              </a:rPr>
              <a:t> (</a:t>
            </a:r>
            <a:r>
              <a:rPr lang="en-US" altLang="ja-JP" sz="2400" dirty="0" err="1" smtClean="0">
                <a:latin typeface="Times New Roman"/>
                <a:cs typeface="Times New Roman"/>
              </a:rPr>
              <a:t>Biobutanol</a:t>
            </a:r>
            <a:r>
              <a:rPr lang="en-US" altLang="ja-JP" sz="2400" dirty="0" smtClean="0">
                <a:latin typeface="Times New Roman"/>
                <a:cs typeface="Times New Roman"/>
              </a:rPr>
              <a:t>, Bioethanol)</a:t>
            </a:r>
            <a:endParaRPr lang="en-US" altLang="ja-JP" sz="24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46554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dirty="0" smtClean="0">
                <a:solidFill>
                  <a:srgbClr val="FF0000"/>
                </a:solidFill>
                <a:latin typeface="Arial"/>
                <a:cs typeface="Arial"/>
              </a:rPr>
              <a:t>Biofuel</a:t>
            </a:r>
            <a:endParaRPr lang="en-US" altLang="ja-JP"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87" y="3034276"/>
            <a:ext cx="9017879" cy="378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7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0112" y="1123453"/>
            <a:ext cx="8273703" cy="624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ja-JP" sz="2800" dirty="0" smtClean="0">
                <a:latin typeface="Times New Roman"/>
                <a:cs typeface="Times New Roman"/>
              </a:rPr>
              <a:t>Advantages of enzyme immobilization: 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Reuse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Suitability </a:t>
            </a:r>
            <a:r>
              <a:rPr lang="en-US" altLang="ja-JP" sz="2800" dirty="0">
                <a:latin typeface="Times New Roman"/>
                <a:cs typeface="Times New Roman"/>
              </a:rPr>
              <a:t>for application within continuous </a:t>
            </a:r>
            <a:r>
              <a:rPr lang="en-US" altLang="ja-JP" sz="2800" dirty="0" smtClean="0">
                <a:latin typeface="Times New Roman"/>
                <a:cs typeface="Times New Roman"/>
              </a:rPr>
              <a:t>operations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Their </a:t>
            </a:r>
            <a:r>
              <a:rPr lang="en-US" altLang="ja-JP" sz="2800" dirty="0">
                <a:latin typeface="Times New Roman"/>
                <a:cs typeface="Times New Roman"/>
              </a:rPr>
              <a:t>product is enzyme free, therefore further processing to remove or inactivate the enzyme is not </a:t>
            </a:r>
            <a:r>
              <a:rPr lang="en-US" altLang="ja-JP" sz="2800" dirty="0" smtClean="0">
                <a:latin typeface="Times New Roman"/>
                <a:cs typeface="Times New Roman"/>
              </a:rPr>
              <a:t>required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Improved </a:t>
            </a:r>
            <a:r>
              <a:rPr lang="en-US" altLang="ja-JP" sz="2800" dirty="0">
                <a:latin typeface="Times New Roman"/>
                <a:cs typeface="Times New Roman"/>
              </a:rPr>
              <a:t>enzyme </a:t>
            </a:r>
            <a:r>
              <a:rPr lang="en-US" altLang="ja-JP" sz="2800" dirty="0" smtClean="0">
                <a:latin typeface="Times New Roman"/>
                <a:cs typeface="Times New Roman"/>
              </a:rPr>
              <a:t>stability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</a:pPr>
            <a:r>
              <a:rPr lang="en-US" altLang="ja-JP" sz="2800" dirty="0" smtClean="0">
                <a:latin typeface="Times New Roman"/>
                <a:cs typeface="Times New Roman"/>
              </a:rPr>
              <a:t>Reduced </a:t>
            </a:r>
            <a:r>
              <a:rPr lang="en-US" altLang="ja-JP" sz="2800" dirty="0">
                <a:latin typeface="Times New Roman"/>
                <a:cs typeface="Times New Roman"/>
              </a:rPr>
              <a:t>effluent disposal problems. </a:t>
            </a:r>
          </a:p>
          <a:p>
            <a:pPr marL="457200" indent="-457200">
              <a:spcAft>
                <a:spcPts val="2400"/>
              </a:spcAft>
              <a:buFont typeface="Arial"/>
              <a:buChar char="•"/>
            </a:pPr>
            <a:endParaRPr lang="en-US" altLang="ja-JP" sz="2800" dirty="0">
              <a:latin typeface="Times New Roman"/>
              <a:cs typeface="Times New Roman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152400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Enzymes immobilization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91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3464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ja-JP" b="1" dirty="0" smtClean="0">
                <a:solidFill>
                  <a:srgbClr val="FF0000"/>
                </a:solidFill>
                <a:latin typeface="Arial" charset="0"/>
              </a:rPr>
              <a:t>Enzymes immobilization</a:t>
            </a:r>
            <a:endParaRPr lang="en-US" altLang="ja-JP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332" y="2434223"/>
            <a:ext cx="9208332" cy="219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1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10573</TotalTime>
  <Words>677</Words>
  <Application>Microsoft Office PowerPoint</Application>
  <PresentationFormat>On-screen Show (4:3)</PresentationFormat>
  <Paragraphs>105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ＭＳ Ｐゴシック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Bulk vs Fine microbial enzymes</vt:lpstr>
      <vt:lpstr>Bulk enzymes</vt:lpstr>
      <vt:lpstr>Bulk industrial enzymes production</vt:lpstr>
      <vt:lpstr>Fine microbial enzymes</vt:lpstr>
      <vt:lpstr>Fine microbial enzymes</vt:lpstr>
      <vt:lpstr>PowerPoint Presentation</vt:lpstr>
      <vt:lpstr>High Fructose Corn Syrup (HFCS)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Enzymes immobilization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qutaiba ababneh</dc:creator>
  <cp:lastModifiedBy>JUST</cp:lastModifiedBy>
  <cp:revision>153</cp:revision>
  <dcterms:created xsi:type="dcterms:W3CDTF">2015-11-08T19:51:44Z</dcterms:created>
  <dcterms:modified xsi:type="dcterms:W3CDTF">2019-12-29T08:10:00Z</dcterms:modified>
</cp:coreProperties>
</file>