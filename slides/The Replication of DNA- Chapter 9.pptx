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3" r:id="rId1"/>
  </p:sldMasterIdLst>
  <p:notesMasterIdLst>
    <p:notesMasterId r:id="rId93"/>
  </p:notesMasterIdLst>
  <p:sldIdLst>
    <p:sldId id="256" r:id="rId2"/>
    <p:sldId id="340" r:id="rId3"/>
    <p:sldId id="257" r:id="rId4"/>
    <p:sldId id="258" r:id="rId5"/>
    <p:sldId id="341" r:id="rId6"/>
    <p:sldId id="342" r:id="rId7"/>
    <p:sldId id="344" r:id="rId8"/>
    <p:sldId id="343" r:id="rId9"/>
    <p:sldId id="260" r:id="rId10"/>
    <p:sldId id="345" r:id="rId11"/>
    <p:sldId id="263" r:id="rId12"/>
    <p:sldId id="347" r:id="rId13"/>
    <p:sldId id="348" r:id="rId14"/>
    <p:sldId id="349" r:id="rId15"/>
    <p:sldId id="346" r:id="rId16"/>
    <p:sldId id="350" r:id="rId17"/>
    <p:sldId id="265" r:id="rId18"/>
    <p:sldId id="351" r:id="rId19"/>
    <p:sldId id="262" r:id="rId20"/>
    <p:sldId id="383" r:id="rId21"/>
    <p:sldId id="267" r:id="rId22"/>
    <p:sldId id="268" r:id="rId23"/>
    <p:sldId id="384" r:id="rId24"/>
    <p:sldId id="353" r:id="rId25"/>
    <p:sldId id="352" r:id="rId26"/>
    <p:sldId id="274" r:id="rId27"/>
    <p:sldId id="354" r:id="rId28"/>
    <p:sldId id="332" r:id="rId29"/>
    <p:sldId id="358" r:id="rId30"/>
    <p:sldId id="355" r:id="rId31"/>
    <p:sldId id="356" r:id="rId32"/>
    <p:sldId id="276" r:id="rId33"/>
    <p:sldId id="385" r:id="rId34"/>
    <p:sldId id="357" r:id="rId35"/>
    <p:sldId id="338" r:id="rId36"/>
    <p:sldId id="282" r:id="rId37"/>
    <p:sldId id="283" r:id="rId38"/>
    <p:sldId id="386" r:id="rId39"/>
    <p:sldId id="284" r:id="rId40"/>
    <p:sldId id="359" r:id="rId41"/>
    <p:sldId id="360" r:id="rId42"/>
    <p:sldId id="286" r:id="rId43"/>
    <p:sldId id="287" r:id="rId44"/>
    <p:sldId id="288" r:id="rId45"/>
    <p:sldId id="387" r:id="rId46"/>
    <p:sldId id="361" r:id="rId47"/>
    <p:sldId id="290" r:id="rId48"/>
    <p:sldId id="291" r:id="rId49"/>
    <p:sldId id="362" r:id="rId50"/>
    <p:sldId id="370" r:id="rId51"/>
    <p:sldId id="292" r:id="rId52"/>
    <p:sldId id="293" r:id="rId53"/>
    <p:sldId id="363" r:id="rId54"/>
    <p:sldId id="366" r:id="rId55"/>
    <p:sldId id="367" r:id="rId56"/>
    <p:sldId id="381" r:id="rId57"/>
    <p:sldId id="371" r:id="rId58"/>
    <p:sldId id="294" r:id="rId59"/>
    <p:sldId id="296" r:id="rId60"/>
    <p:sldId id="297" r:id="rId61"/>
    <p:sldId id="298" r:id="rId62"/>
    <p:sldId id="299" r:id="rId63"/>
    <p:sldId id="300" r:id="rId64"/>
    <p:sldId id="302" r:id="rId65"/>
    <p:sldId id="303" r:id="rId66"/>
    <p:sldId id="309" r:id="rId67"/>
    <p:sldId id="305" r:id="rId68"/>
    <p:sldId id="313" r:id="rId69"/>
    <p:sldId id="314" r:id="rId70"/>
    <p:sldId id="315" r:id="rId71"/>
    <p:sldId id="316" r:id="rId72"/>
    <p:sldId id="317" r:id="rId73"/>
    <p:sldId id="374" r:id="rId74"/>
    <p:sldId id="375" r:id="rId75"/>
    <p:sldId id="318" r:id="rId76"/>
    <p:sldId id="319" r:id="rId77"/>
    <p:sldId id="321" r:id="rId78"/>
    <p:sldId id="322" r:id="rId79"/>
    <p:sldId id="323" r:id="rId80"/>
    <p:sldId id="324" r:id="rId81"/>
    <p:sldId id="325" r:id="rId82"/>
    <p:sldId id="327" r:id="rId83"/>
    <p:sldId id="378" r:id="rId84"/>
    <p:sldId id="379" r:id="rId85"/>
    <p:sldId id="328" r:id="rId86"/>
    <p:sldId id="329" r:id="rId87"/>
    <p:sldId id="336" r:id="rId88"/>
    <p:sldId id="330" r:id="rId89"/>
    <p:sldId id="380" r:id="rId90"/>
    <p:sldId id="331" r:id="rId91"/>
    <p:sldId id="382" r:id="rId92"/>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2"/>
    <p:restoredTop sz="94499" autoAdjust="0"/>
  </p:normalViewPr>
  <p:slideViewPr>
    <p:cSldViewPr>
      <p:cViewPr varScale="1">
        <p:scale>
          <a:sx n="153" d="100"/>
          <a:sy n="153" d="100"/>
        </p:scale>
        <p:origin x="1496" y="168"/>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5BCD27C0-EB59-5024-9355-E2701B2B037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cs typeface="Arial" charset="0"/>
              </a:defRPr>
            </a:lvl1pPr>
          </a:lstStyle>
          <a:p>
            <a:pPr>
              <a:defRPr/>
            </a:pPr>
            <a:endParaRPr lang="en-GB"/>
          </a:p>
        </p:txBody>
      </p:sp>
      <p:sp>
        <p:nvSpPr>
          <p:cNvPr id="22531" name="Rectangle 3">
            <a:extLst>
              <a:ext uri="{FF2B5EF4-FFF2-40B4-BE49-F238E27FC236}">
                <a16:creationId xmlns:a16="http://schemas.microsoft.com/office/drawing/2014/main" id="{4CF3FBC9-5BE8-040B-8E6E-3DC9A02CDEA7}"/>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cs typeface="Arial" charset="0"/>
              </a:defRPr>
            </a:lvl1pPr>
          </a:lstStyle>
          <a:p>
            <a:pPr>
              <a:defRPr/>
            </a:pPr>
            <a:endParaRPr lang="en-GB"/>
          </a:p>
        </p:txBody>
      </p:sp>
      <p:sp>
        <p:nvSpPr>
          <p:cNvPr id="3076" name="Rectangle 4">
            <a:extLst>
              <a:ext uri="{FF2B5EF4-FFF2-40B4-BE49-F238E27FC236}">
                <a16:creationId xmlns:a16="http://schemas.microsoft.com/office/drawing/2014/main" id="{BCAFFD56-282D-1EBD-7A5F-89F3066DD7B6}"/>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5">
            <a:extLst>
              <a:ext uri="{FF2B5EF4-FFF2-40B4-BE49-F238E27FC236}">
                <a16:creationId xmlns:a16="http://schemas.microsoft.com/office/drawing/2014/main" id="{D2EFFC3B-9D1C-FDA1-0048-5E690FECBF3E}"/>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2534" name="Rectangle 6">
            <a:extLst>
              <a:ext uri="{FF2B5EF4-FFF2-40B4-BE49-F238E27FC236}">
                <a16:creationId xmlns:a16="http://schemas.microsoft.com/office/drawing/2014/main" id="{BA692204-61CE-2AA8-E992-55A2C3A592B8}"/>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cs typeface="Arial" charset="0"/>
              </a:defRPr>
            </a:lvl1pPr>
          </a:lstStyle>
          <a:p>
            <a:pPr>
              <a:defRPr/>
            </a:pPr>
            <a:endParaRPr lang="en-GB"/>
          </a:p>
        </p:txBody>
      </p:sp>
      <p:sp>
        <p:nvSpPr>
          <p:cNvPr id="22535" name="Rectangle 7">
            <a:extLst>
              <a:ext uri="{FF2B5EF4-FFF2-40B4-BE49-F238E27FC236}">
                <a16:creationId xmlns:a16="http://schemas.microsoft.com/office/drawing/2014/main" id="{F6651245-A035-59C1-DAEC-34D8FB8C3B5A}"/>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8950FB16-1BC1-DB42-944E-8CCD4755A509}"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3" Type="http://schemas.openxmlformats.org/officeDocument/2006/relationships/hyperlink" Target="http://en.wikipedia.org/wiki/Telomeres" TargetMode="External"/><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76B799DE-3E13-78DA-3349-1DAF121DB5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BC54ED6-21DE-D443-A821-8397AD50E279}" type="slidenum">
              <a:rPr lang="en-GB" altLang="en-US"/>
              <a:pPr>
                <a:spcBef>
                  <a:spcPct val="0"/>
                </a:spcBef>
              </a:pPr>
              <a:t>1</a:t>
            </a:fld>
            <a:endParaRPr lang="en-GB" altLang="en-US"/>
          </a:p>
        </p:txBody>
      </p:sp>
      <p:sp>
        <p:nvSpPr>
          <p:cNvPr id="5123" name="Rectangle 2">
            <a:extLst>
              <a:ext uri="{FF2B5EF4-FFF2-40B4-BE49-F238E27FC236}">
                <a16:creationId xmlns:a16="http://schemas.microsoft.com/office/drawing/2014/main" id="{A86E3630-E7A7-3535-BDDB-695A31950594}"/>
              </a:ext>
            </a:extLst>
          </p:cNvPr>
          <p:cNvSpPr>
            <a:spLocks noRot="1" noChangeArrowheads="1" noTextEdit="1"/>
          </p:cNvSpPr>
          <p:nvPr>
            <p:ph type="sldImg"/>
          </p:nvPr>
        </p:nvSpPr>
        <p:spPr>
          <a:ln/>
        </p:spPr>
      </p:sp>
      <p:sp>
        <p:nvSpPr>
          <p:cNvPr id="5124" name="Rectangle 3">
            <a:extLst>
              <a:ext uri="{FF2B5EF4-FFF2-40B4-BE49-F238E27FC236}">
                <a16:creationId xmlns:a16="http://schemas.microsoft.com/office/drawing/2014/main" id="{8BAEF730-C686-9C5B-DF14-B18E8CC251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5962EF7C-8A3F-D266-C4C2-CB05AB681CDA}"/>
              </a:ext>
            </a:extLst>
          </p:cNvPr>
          <p:cNvSpPr>
            <a:spLocks noGrp="1" noRot="1" noChangeAspect="1" noTextEdit="1"/>
          </p:cNvSpPr>
          <p:nvPr>
            <p:ph type="sldImg"/>
          </p:nvPr>
        </p:nvSpPr>
        <p:spPr>
          <a:ln/>
        </p:spPr>
      </p:sp>
      <p:sp>
        <p:nvSpPr>
          <p:cNvPr id="7171" name="Notes Placeholder 2">
            <a:extLst>
              <a:ext uri="{FF2B5EF4-FFF2-40B4-BE49-F238E27FC236}">
                <a16:creationId xmlns:a16="http://schemas.microsoft.com/office/drawing/2014/main" id="{B1BEC84D-CFF9-C6B2-0072-8ECE8053A1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7172" name="Slide Number Placeholder 3">
            <a:extLst>
              <a:ext uri="{FF2B5EF4-FFF2-40B4-BE49-F238E27FC236}">
                <a16:creationId xmlns:a16="http://schemas.microsoft.com/office/drawing/2014/main" id="{E016AE94-E6FA-6BFE-BBB4-096C069BF5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13249F4-5B0E-C64C-8133-174FE08E90EC}" type="slidenum">
              <a:rPr lang="en-GB" altLang="en-US"/>
              <a:pPr>
                <a:spcBef>
                  <a:spcPct val="0"/>
                </a:spcBef>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A345474C-EABE-82D2-A8EF-2DA3A9BC90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BBE4346-E20F-4F41-A4F2-5593ACED1770}" type="slidenum">
              <a:rPr lang="en-GB" altLang="en-US"/>
              <a:pPr>
                <a:spcBef>
                  <a:spcPct val="0"/>
                </a:spcBef>
              </a:pPr>
              <a:t>3</a:t>
            </a:fld>
            <a:endParaRPr lang="en-GB" altLang="en-US"/>
          </a:p>
        </p:txBody>
      </p:sp>
      <p:sp>
        <p:nvSpPr>
          <p:cNvPr id="9219" name="Rectangle 2">
            <a:extLst>
              <a:ext uri="{FF2B5EF4-FFF2-40B4-BE49-F238E27FC236}">
                <a16:creationId xmlns:a16="http://schemas.microsoft.com/office/drawing/2014/main" id="{A4FFC468-B95B-6228-86D2-CFBABCC8E025}"/>
              </a:ext>
            </a:extLst>
          </p:cNvPr>
          <p:cNvSpPr>
            <a:spLocks noRot="1" noChangeArrowheads="1" noTextEdit="1"/>
          </p:cNvSpPr>
          <p:nvPr>
            <p:ph type="sldImg"/>
          </p:nvPr>
        </p:nvSpPr>
        <p:spPr>
          <a:ln/>
        </p:spPr>
      </p:sp>
      <p:sp>
        <p:nvSpPr>
          <p:cNvPr id="9220" name="Rectangle 3">
            <a:extLst>
              <a:ext uri="{FF2B5EF4-FFF2-40B4-BE49-F238E27FC236}">
                <a16:creationId xmlns:a16="http://schemas.microsoft.com/office/drawing/2014/main" id="{05E3CEAE-C923-4E97-8872-50F7BE3F32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C4C3F89D-17FE-46CA-65A2-93F4C875AC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BF970FA-E8C5-8B4E-B883-7B915FF48FBD}" type="slidenum">
              <a:rPr lang="en-GB" altLang="en-US"/>
              <a:pPr>
                <a:spcBef>
                  <a:spcPct val="0"/>
                </a:spcBef>
              </a:pPr>
              <a:t>4</a:t>
            </a:fld>
            <a:endParaRPr lang="en-GB" altLang="en-US"/>
          </a:p>
        </p:txBody>
      </p:sp>
      <p:sp>
        <p:nvSpPr>
          <p:cNvPr id="11267" name="Rectangle 2">
            <a:extLst>
              <a:ext uri="{FF2B5EF4-FFF2-40B4-BE49-F238E27FC236}">
                <a16:creationId xmlns:a16="http://schemas.microsoft.com/office/drawing/2014/main" id="{0ACE7097-6627-009B-6E39-4C0BF8CF92B7}"/>
              </a:ext>
            </a:extLst>
          </p:cNvPr>
          <p:cNvSpPr>
            <a:spLocks noRot="1" noChangeArrowheads="1" noTextEdit="1"/>
          </p:cNvSpPr>
          <p:nvPr>
            <p:ph type="sldImg"/>
          </p:nvPr>
        </p:nvSpPr>
        <p:spPr>
          <a:ln/>
        </p:spPr>
      </p:sp>
      <p:sp>
        <p:nvSpPr>
          <p:cNvPr id="11268" name="Rectangle 3">
            <a:extLst>
              <a:ext uri="{FF2B5EF4-FFF2-40B4-BE49-F238E27FC236}">
                <a16:creationId xmlns:a16="http://schemas.microsoft.com/office/drawing/2014/main" id="{84068EC1-4061-68A3-471E-93F4B1E187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solidFill>
                  <a:srgbClr val="0000FF"/>
                </a:solidFill>
                <a:latin typeface="Arial" panose="020B0604020202020204" pitchFamily="34" charset="0"/>
                <a:cs typeface="Arial" panose="020B0604020202020204" pitchFamily="34" charset="0"/>
              </a:rPr>
              <a:t>XTP + (XMP)</a:t>
            </a:r>
            <a:r>
              <a:rPr lang="en-US" altLang="en-US" baseline="-25000">
                <a:solidFill>
                  <a:srgbClr val="0000FF"/>
                </a:solidFill>
                <a:latin typeface="Arial" panose="020B0604020202020204" pitchFamily="34" charset="0"/>
                <a:cs typeface="Arial" panose="020B0604020202020204" pitchFamily="34" charset="0"/>
              </a:rPr>
              <a:t>n</a:t>
            </a:r>
            <a:r>
              <a:rPr lang="en-US" altLang="en-US">
                <a:solidFill>
                  <a:srgbClr val="0000FF"/>
                </a:solidFill>
                <a:latin typeface="Arial" panose="020B0604020202020204" pitchFamily="34" charset="0"/>
                <a:cs typeface="Arial" panose="020B0604020202020204" pitchFamily="34" charset="0"/>
              </a:rPr>
              <a:t> </a:t>
            </a:r>
            <a:r>
              <a:rPr lang="en-US" altLang="en-US">
                <a:solidFill>
                  <a:srgbClr val="0000FF"/>
                </a:solidFill>
                <a:latin typeface="Arial" panose="020B0604020202020204" pitchFamily="34" charset="0"/>
                <a:cs typeface="Arial" panose="020B0604020202020204" pitchFamily="34" charset="0"/>
                <a:sym typeface="Symbol" pitchFamily="2" charset="2"/>
              </a:rPr>
              <a:t> (XMP)</a:t>
            </a:r>
            <a:r>
              <a:rPr lang="en-US" altLang="en-US" baseline="-25000">
                <a:solidFill>
                  <a:srgbClr val="0000FF"/>
                </a:solidFill>
                <a:latin typeface="Arial" panose="020B0604020202020204" pitchFamily="34" charset="0"/>
                <a:cs typeface="Arial" panose="020B0604020202020204" pitchFamily="34" charset="0"/>
                <a:sym typeface="Symbol" pitchFamily="2" charset="2"/>
              </a:rPr>
              <a:t>n+1</a:t>
            </a:r>
            <a:r>
              <a:rPr lang="en-US" altLang="en-US">
                <a:solidFill>
                  <a:srgbClr val="0000FF"/>
                </a:solidFill>
                <a:latin typeface="Arial" panose="020B0604020202020204" pitchFamily="34" charset="0"/>
                <a:cs typeface="Arial" panose="020B0604020202020204" pitchFamily="34" charset="0"/>
                <a:sym typeface="Symbol" pitchFamily="2" charset="2"/>
              </a:rPr>
              <a:t> +2 Pi</a:t>
            </a:r>
          </a:p>
          <a:p>
            <a:pPr eaLnBrk="1" hangingPunct="1"/>
            <a:r>
              <a:rPr lang="en-US" altLang="en-US">
                <a:solidFill>
                  <a:srgbClr val="0000FF"/>
                </a:solidFill>
                <a:latin typeface="Arial" panose="020B0604020202020204" pitchFamily="34" charset="0"/>
                <a:cs typeface="Arial" panose="020B0604020202020204" pitchFamily="34" charset="0"/>
                <a:sym typeface="Symbol" pitchFamily="2" charset="2"/>
              </a:rPr>
              <a:t>Delta G = -7 kcal/mol</a:t>
            </a:r>
          </a:p>
          <a:p>
            <a:pPr eaLnBrk="1" hangingPunct="1"/>
            <a:r>
              <a:rPr lang="en-US" altLang="en-US">
                <a:solidFill>
                  <a:srgbClr val="0000FF"/>
                </a:solidFill>
                <a:latin typeface="Arial" panose="020B0604020202020204" pitchFamily="34" charset="0"/>
                <a:cs typeface="Arial" panose="020B0604020202020204" pitchFamily="34" charset="0"/>
                <a:sym typeface="Symbol" pitchFamily="2" charset="2"/>
              </a:rPr>
              <a:t>Keq = 10</a:t>
            </a:r>
            <a:r>
              <a:rPr lang="en-US" altLang="en-US" baseline="30000">
                <a:solidFill>
                  <a:srgbClr val="0000FF"/>
                </a:solidFill>
                <a:latin typeface="Arial" panose="020B0604020202020204" pitchFamily="34" charset="0"/>
                <a:cs typeface="Arial" panose="020B0604020202020204" pitchFamily="34" charset="0"/>
                <a:sym typeface="Symbol" pitchFamily="2" charset="2"/>
              </a:rPr>
              <a:t>5</a:t>
            </a:r>
            <a:endParaRPr lang="en-US" altLang="en-US" baseline="30000">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5F38791F-B55F-48C8-EC9E-423A0FC27559}"/>
              </a:ext>
            </a:extLst>
          </p:cNvPr>
          <p:cNvSpPr>
            <a:spLocks noGrp="1" noRot="1" noChangeAspect="1" noTextEdit="1"/>
          </p:cNvSpPr>
          <p:nvPr>
            <p:ph type="sldImg"/>
          </p:nvPr>
        </p:nvSpPr>
        <p:spPr>
          <a:ln/>
        </p:spPr>
      </p:sp>
      <p:sp>
        <p:nvSpPr>
          <p:cNvPr id="13315" name="Notes Placeholder 2">
            <a:extLst>
              <a:ext uri="{FF2B5EF4-FFF2-40B4-BE49-F238E27FC236}">
                <a16:creationId xmlns:a16="http://schemas.microsoft.com/office/drawing/2014/main" id="{63200903-F367-064E-8A98-2B06FD108CB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13316" name="Slide Number Placeholder 3">
            <a:extLst>
              <a:ext uri="{FF2B5EF4-FFF2-40B4-BE49-F238E27FC236}">
                <a16:creationId xmlns:a16="http://schemas.microsoft.com/office/drawing/2014/main" id="{52E830D8-4041-0165-3A7C-121810572C2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B0D8714-2A01-704D-8EAB-012B898C02F0}" type="slidenum">
              <a:rPr lang="en-GB" altLang="en-US"/>
              <a:pPr>
                <a:spcBef>
                  <a:spcPct val="0"/>
                </a:spcBef>
              </a:pPr>
              <a:t>5</a:t>
            </a:fld>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B1C2B7BE-2B4E-184F-4795-B344BA21497A}"/>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46E3AAFB-88F1-D015-CE41-0BE2EFF03BC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15364" name="Slide Number Placeholder 3">
            <a:extLst>
              <a:ext uri="{FF2B5EF4-FFF2-40B4-BE49-F238E27FC236}">
                <a16:creationId xmlns:a16="http://schemas.microsoft.com/office/drawing/2014/main" id="{FB75015A-49D6-101F-8BBD-7EB2B126920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3FBEFC7-1FB7-754F-98C6-DBCE750B0C1C}" type="slidenum">
              <a:rPr lang="en-GB" altLang="en-US"/>
              <a:pPr>
                <a:spcBef>
                  <a:spcPct val="0"/>
                </a:spcBef>
              </a:pPr>
              <a:t>6</a:t>
            </a:fld>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F3BF6E68-022B-CF2C-6A94-C0D94452C87A}"/>
              </a:ext>
            </a:extLst>
          </p:cNvPr>
          <p:cNvSpPr>
            <a:spLocks noGrp="1" noRot="1" noChangeAspect="1" noTextEdit="1"/>
          </p:cNvSpPr>
          <p:nvPr>
            <p:ph type="sldImg"/>
          </p:nvPr>
        </p:nvSpPr>
        <p:spPr>
          <a:ln/>
        </p:spPr>
      </p:sp>
      <p:sp>
        <p:nvSpPr>
          <p:cNvPr id="17411" name="Notes Placeholder 2">
            <a:extLst>
              <a:ext uri="{FF2B5EF4-FFF2-40B4-BE49-F238E27FC236}">
                <a16:creationId xmlns:a16="http://schemas.microsoft.com/office/drawing/2014/main" id="{899F43D1-6F19-3C22-F769-2B3148A2EE8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17412" name="Slide Number Placeholder 3">
            <a:extLst>
              <a:ext uri="{FF2B5EF4-FFF2-40B4-BE49-F238E27FC236}">
                <a16:creationId xmlns:a16="http://schemas.microsoft.com/office/drawing/2014/main" id="{38082A5E-4E8D-2CBF-772F-6C8C2B485AB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0718A1F-DB84-EF4C-9CA8-870B08881D55}" type="slidenum">
              <a:rPr lang="en-GB" altLang="en-US"/>
              <a:pPr>
                <a:spcBef>
                  <a:spcPct val="0"/>
                </a:spcBef>
              </a:pPr>
              <a:t>7</a:t>
            </a:fld>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38E3B0BF-9815-0389-1B5D-4DA27E25F305}"/>
              </a:ext>
            </a:extLst>
          </p:cNvPr>
          <p:cNvSpPr>
            <a:spLocks noGrp="1" noRot="1" noChangeAspect="1" noTextEdit="1"/>
          </p:cNvSpPr>
          <p:nvPr>
            <p:ph type="sldImg"/>
          </p:nvPr>
        </p:nvSpPr>
        <p:spPr>
          <a:ln/>
        </p:spPr>
      </p:sp>
      <p:sp>
        <p:nvSpPr>
          <p:cNvPr id="19459" name="Notes Placeholder 2">
            <a:extLst>
              <a:ext uri="{FF2B5EF4-FFF2-40B4-BE49-F238E27FC236}">
                <a16:creationId xmlns:a16="http://schemas.microsoft.com/office/drawing/2014/main" id="{5BCA973E-7C2C-DA50-59F9-1832E7C387F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19460" name="Slide Number Placeholder 3">
            <a:extLst>
              <a:ext uri="{FF2B5EF4-FFF2-40B4-BE49-F238E27FC236}">
                <a16:creationId xmlns:a16="http://schemas.microsoft.com/office/drawing/2014/main" id="{1CA14E84-F544-194F-8A9F-E38E58D7584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8EA6A16-4E7C-3642-8166-FF9CF1987815}" type="slidenum">
              <a:rPr lang="en-GB" altLang="en-US"/>
              <a:pPr>
                <a:spcBef>
                  <a:spcPct val="0"/>
                </a:spcBef>
              </a:pPr>
              <a:t>8</a:t>
            </a:fld>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25AEAD07-50F6-E201-FFFB-70129E52B3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A3D056B-DE6F-0F44-9C47-994DB80A826A}" type="slidenum">
              <a:rPr lang="en-GB" altLang="en-US"/>
              <a:pPr>
                <a:spcBef>
                  <a:spcPct val="0"/>
                </a:spcBef>
              </a:pPr>
              <a:t>9</a:t>
            </a:fld>
            <a:endParaRPr lang="en-GB" altLang="en-US"/>
          </a:p>
        </p:txBody>
      </p:sp>
      <p:sp>
        <p:nvSpPr>
          <p:cNvPr id="21507" name="Rectangle 2">
            <a:extLst>
              <a:ext uri="{FF2B5EF4-FFF2-40B4-BE49-F238E27FC236}">
                <a16:creationId xmlns:a16="http://schemas.microsoft.com/office/drawing/2014/main" id="{842430DF-51A8-ECDD-FCD2-D329542D8A60}"/>
              </a:ext>
            </a:extLst>
          </p:cNvPr>
          <p:cNvSpPr>
            <a:spLocks noRot="1" noChangeArrowheads="1" noTextEdit="1"/>
          </p:cNvSpPr>
          <p:nvPr>
            <p:ph type="sldImg"/>
          </p:nvPr>
        </p:nvSpPr>
        <p:spPr>
          <a:ln/>
        </p:spPr>
      </p:sp>
      <p:sp>
        <p:nvSpPr>
          <p:cNvPr id="21508" name="Rectangle 3">
            <a:extLst>
              <a:ext uri="{FF2B5EF4-FFF2-40B4-BE49-F238E27FC236}">
                <a16:creationId xmlns:a16="http://schemas.microsoft.com/office/drawing/2014/main" id="{EC42DAD0-EA5D-0612-5D71-045ED28366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67FAC6E8-F133-EC5B-B12C-F75B28F598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BEB5E09-A4C7-6A4E-9B2F-1FD8F0F83CF4}" type="slidenum">
              <a:rPr lang="en-GB" altLang="en-US"/>
              <a:pPr>
                <a:spcBef>
                  <a:spcPct val="0"/>
                </a:spcBef>
              </a:pPr>
              <a:t>10</a:t>
            </a:fld>
            <a:endParaRPr lang="en-GB" altLang="en-US"/>
          </a:p>
        </p:txBody>
      </p:sp>
      <p:sp>
        <p:nvSpPr>
          <p:cNvPr id="23555" name="Rectangle 2">
            <a:extLst>
              <a:ext uri="{FF2B5EF4-FFF2-40B4-BE49-F238E27FC236}">
                <a16:creationId xmlns:a16="http://schemas.microsoft.com/office/drawing/2014/main" id="{8AD222DF-0634-A98B-DD8D-3E9665CDCDFB}"/>
              </a:ext>
            </a:extLst>
          </p:cNvPr>
          <p:cNvSpPr>
            <a:spLocks noRot="1" noChangeArrowheads="1" noTextEdit="1"/>
          </p:cNvSpPr>
          <p:nvPr>
            <p:ph type="sldImg"/>
          </p:nvPr>
        </p:nvSpPr>
        <p:spPr>
          <a:ln/>
        </p:spPr>
      </p:sp>
      <p:sp>
        <p:nvSpPr>
          <p:cNvPr id="23556" name="Rectangle 3">
            <a:extLst>
              <a:ext uri="{FF2B5EF4-FFF2-40B4-BE49-F238E27FC236}">
                <a16:creationId xmlns:a16="http://schemas.microsoft.com/office/drawing/2014/main" id="{EE63D209-9A77-F7D5-8587-29385533E4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3746D07A-22A5-F0F5-D1C8-46826981C0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0978115-48DE-4E44-96ED-15182CCFCBA0}" type="slidenum">
              <a:rPr lang="en-GB" altLang="en-US"/>
              <a:pPr>
                <a:spcBef>
                  <a:spcPct val="0"/>
                </a:spcBef>
              </a:pPr>
              <a:t>11</a:t>
            </a:fld>
            <a:endParaRPr lang="en-GB" altLang="en-US"/>
          </a:p>
        </p:txBody>
      </p:sp>
      <p:sp>
        <p:nvSpPr>
          <p:cNvPr id="25603" name="Rectangle 2">
            <a:extLst>
              <a:ext uri="{FF2B5EF4-FFF2-40B4-BE49-F238E27FC236}">
                <a16:creationId xmlns:a16="http://schemas.microsoft.com/office/drawing/2014/main" id="{7DBC878D-1B6D-47BB-0887-0C60594B7381}"/>
              </a:ext>
            </a:extLst>
          </p:cNvPr>
          <p:cNvSpPr>
            <a:spLocks noRot="1" noChangeArrowheads="1" noTextEdit="1"/>
          </p:cNvSpPr>
          <p:nvPr>
            <p:ph type="sldImg"/>
          </p:nvPr>
        </p:nvSpPr>
        <p:spPr>
          <a:ln/>
        </p:spPr>
      </p:sp>
      <p:sp>
        <p:nvSpPr>
          <p:cNvPr id="25604" name="Rectangle 3">
            <a:extLst>
              <a:ext uri="{FF2B5EF4-FFF2-40B4-BE49-F238E27FC236}">
                <a16:creationId xmlns:a16="http://schemas.microsoft.com/office/drawing/2014/main" id="{A7A64B87-7096-59BE-5887-8CBFB6D23D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1- Move to enclose dNTP once correct base is bounded, hence it becomes closer to metal ions in the palm which will lead to faster reaction</a:t>
            </a:r>
          </a:p>
          <a:p>
            <a:pPr eaLnBrk="1" hangingPunct="1"/>
            <a:r>
              <a:rPr lang="en-US" altLang="en-US">
                <a:latin typeface="Arial" panose="020B0604020202020204" pitchFamily="34" charset="0"/>
                <a:cs typeface="Arial" panose="020B0604020202020204" pitchFamily="34" charset="0"/>
              </a:rPr>
              <a:t>2- Bend template strand 90</a:t>
            </a:r>
            <a:r>
              <a:rPr lang="en-US" altLang="en-US">
                <a:latin typeface="Arial" panose="020B0604020202020204" pitchFamily="34" charset="0"/>
                <a:cs typeface="Arial" panose="020B0604020202020204" pitchFamily="34" charset="0"/>
                <a:sym typeface="Symbol" pitchFamily="2" charset="2"/>
              </a:rPr>
              <a:t> immediately after active site, hence no confusion of which base is involved in the reaction</a:t>
            </a:r>
            <a:endParaRPr lang="en-GB" altLang="en-US">
              <a:latin typeface="Arial" panose="020B0604020202020204" pitchFamily="34" charset="0"/>
              <a:cs typeface="Arial" panose="020B0604020202020204" pitchFamily="34" charset="0"/>
              <a:sym typeface="Symbol" pitchFamily="2" charset="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758CB9CD-CC89-798A-10D1-CE879DE57B80}"/>
              </a:ext>
            </a:extLst>
          </p:cNvPr>
          <p:cNvSpPr>
            <a:spLocks noGrp="1" noRot="1" noChangeAspect="1" noTextEdit="1"/>
          </p:cNvSpPr>
          <p:nvPr>
            <p:ph type="sldImg"/>
          </p:nvPr>
        </p:nvSpPr>
        <p:spPr>
          <a:ln/>
        </p:spPr>
      </p:sp>
      <p:sp>
        <p:nvSpPr>
          <p:cNvPr id="27651" name="Notes Placeholder 2">
            <a:extLst>
              <a:ext uri="{FF2B5EF4-FFF2-40B4-BE49-F238E27FC236}">
                <a16:creationId xmlns:a16="http://schemas.microsoft.com/office/drawing/2014/main" id="{E800BC6B-BCF4-53DF-7F98-033D39E8FA1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27652" name="Slide Number Placeholder 3">
            <a:extLst>
              <a:ext uri="{FF2B5EF4-FFF2-40B4-BE49-F238E27FC236}">
                <a16:creationId xmlns:a16="http://schemas.microsoft.com/office/drawing/2014/main" id="{058D6DFE-3412-9353-A167-3B59143A362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33E436D-1C35-FF49-81FB-3C6B7B43FF8A}" type="slidenum">
              <a:rPr lang="en-GB" altLang="en-US"/>
              <a:pPr>
                <a:spcBef>
                  <a:spcPct val="0"/>
                </a:spcBef>
              </a:pPr>
              <a:t>12</a:t>
            </a:fld>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8F6CB01E-EB5D-C9A3-1723-E63F1F534A8A}"/>
              </a:ext>
            </a:extLst>
          </p:cNvPr>
          <p:cNvSpPr>
            <a:spLocks noGrp="1" noRot="1" noChangeAspect="1" noTextEdit="1"/>
          </p:cNvSpPr>
          <p:nvPr>
            <p:ph type="sldImg"/>
          </p:nvPr>
        </p:nvSpPr>
        <p:spPr>
          <a:ln/>
        </p:spPr>
      </p:sp>
      <p:sp>
        <p:nvSpPr>
          <p:cNvPr id="29699" name="Notes Placeholder 2">
            <a:extLst>
              <a:ext uri="{FF2B5EF4-FFF2-40B4-BE49-F238E27FC236}">
                <a16:creationId xmlns:a16="http://schemas.microsoft.com/office/drawing/2014/main" id="{336BA2A3-4189-A9A1-CDDE-C5639CF149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O-helix: purple; base and deoxyribose of incoming dNTP: red; primer: light gray; template: dark gray; two catalytic ions: green; phopshates: yellow; tyrosine, lys, arg: pink</a:t>
            </a:r>
          </a:p>
        </p:txBody>
      </p:sp>
      <p:sp>
        <p:nvSpPr>
          <p:cNvPr id="29700" name="Slide Number Placeholder 3">
            <a:extLst>
              <a:ext uri="{FF2B5EF4-FFF2-40B4-BE49-F238E27FC236}">
                <a16:creationId xmlns:a16="http://schemas.microsoft.com/office/drawing/2014/main" id="{3810A880-6320-5278-2507-8F684172A8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0DD833A-B2D6-C945-8FDE-845D67D1B455}" type="slidenum">
              <a:rPr lang="en-GB" altLang="en-US"/>
              <a:pPr>
                <a:spcBef>
                  <a:spcPct val="0"/>
                </a:spcBef>
              </a:pPr>
              <a:t>13</a:t>
            </a:fld>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03B901B1-4323-012F-A258-B6BF9B0E80D0}"/>
              </a:ext>
            </a:extLst>
          </p:cNvPr>
          <p:cNvSpPr>
            <a:spLocks noGrp="1" noRot="1" noChangeAspect="1" noTextEdit="1"/>
          </p:cNvSpPr>
          <p:nvPr>
            <p:ph type="sldImg"/>
          </p:nvPr>
        </p:nvSpPr>
        <p:spPr>
          <a:ln/>
        </p:spPr>
      </p:sp>
      <p:sp>
        <p:nvSpPr>
          <p:cNvPr id="31747" name="Notes Placeholder 2">
            <a:extLst>
              <a:ext uri="{FF2B5EF4-FFF2-40B4-BE49-F238E27FC236}">
                <a16:creationId xmlns:a16="http://schemas.microsoft.com/office/drawing/2014/main" id="{348D867E-D568-5B47-29C3-C7E960B4574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31748" name="Slide Number Placeholder 3">
            <a:extLst>
              <a:ext uri="{FF2B5EF4-FFF2-40B4-BE49-F238E27FC236}">
                <a16:creationId xmlns:a16="http://schemas.microsoft.com/office/drawing/2014/main" id="{0D5E46FB-E6BF-0389-1C45-86BED086307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EC4FD10-6299-B649-8A87-561D5D43ACFC}" type="slidenum">
              <a:rPr lang="en-GB" altLang="en-US"/>
              <a:pPr>
                <a:spcBef>
                  <a:spcPct val="0"/>
                </a:spcBef>
              </a:pPr>
              <a:t>14</a:t>
            </a:fld>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ECF344C8-043F-419B-A7E1-051F8345FA58}"/>
              </a:ext>
            </a:extLst>
          </p:cNvPr>
          <p:cNvSpPr>
            <a:spLocks noGrp="1" noRot="1" noChangeAspect="1" noTextEdit="1"/>
          </p:cNvSpPr>
          <p:nvPr>
            <p:ph type="sldImg"/>
          </p:nvPr>
        </p:nvSpPr>
        <p:spPr>
          <a:ln/>
        </p:spPr>
      </p:sp>
      <p:sp>
        <p:nvSpPr>
          <p:cNvPr id="33795" name="Notes Placeholder 2">
            <a:extLst>
              <a:ext uri="{FF2B5EF4-FFF2-40B4-BE49-F238E27FC236}">
                <a16:creationId xmlns:a16="http://schemas.microsoft.com/office/drawing/2014/main" id="{EAB2A076-A1D2-ED59-C80E-9E51766662B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33796" name="Slide Number Placeholder 3">
            <a:extLst>
              <a:ext uri="{FF2B5EF4-FFF2-40B4-BE49-F238E27FC236}">
                <a16:creationId xmlns:a16="http://schemas.microsoft.com/office/drawing/2014/main" id="{AA8DDD44-EADC-A484-D94A-FB6E311C80A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D65EAED-8CDC-8943-94CB-B2286494733E}" type="slidenum">
              <a:rPr lang="en-GB" altLang="en-US"/>
              <a:pPr>
                <a:spcBef>
                  <a:spcPct val="0"/>
                </a:spcBef>
              </a:pPr>
              <a:t>15</a:t>
            </a:fld>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52DD01BB-8C01-34CC-A6E0-041A3F9D9B77}"/>
              </a:ext>
            </a:extLst>
          </p:cNvPr>
          <p:cNvSpPr>
            <a:spLocks noGrp="1" noRot="1" noChangeAspect="1" noTextEdit="1"/>
          </p:cNvSpPr>
          <p:nvPr>
            <p:ph type="sldImg"/>
          </p:nvPr>
        </p:nvSpPr>
        <p:spPr>
          <a:ln/>
        </p:spPr>
      </p:sp>
      <p:sp>
        <p:nvSpPr>
          <p:cNvPr id="35843" name="Notes Placeholder 2">
            <a:extLst>
              <a:ext uri="{FF2B5EF4-FFF2-40B4-BE49-F238E27FC236}">
                <a16:creationId xmlns:a16="http://schemas.microsoft.com/office/drawing/2014/main" id="{2C9AB674-B990-2656-A3F5-40651F69ED8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35844" name="Slide Number Placeholder 3">
            <a:extLst>
              <a:ext uri="{FF2B5EF4-FFF2-40B4-BE49-F238E27FC236}">
                <a16:creationId xmlns:a16="http://schemas.microsoft.com/office/drawing/2014/main" id="{703B8E51-6C37-5E28-F1AF-C6F32B9F442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19727AE-75FE-D74D-98A0-5564B55AA151}" type="slidenum">
              <a:rPr lang="en-GB" altLang="en-US"/>
              <a:pPr>
                <a:spcBef>
                  <a:spcPct val="0"/>
                </a:spcBef>
              </a:pPr>
              <a:t>16</a:t>
            </a:fld>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CA06F0BF-851D-B596-9BBD-07060A09B0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29206B8-E479-C24E-8211-84CCC46346F1}" type="slidenum">
              <a:rPr lang="en-GB" altLang="en-US"/>
              <a:pPr>
                <a:spcBef>
                  <a:spcPct val="0"/>
                </a:spcBef>
              </a:pPr>
              <a:t>17</a:t>
            </a:fld>
            <a:endParaRPr lang="en-GB" altLang="en-US"/>
          </a:p>
        </p:txBody>
      </p:sp>
      <p:sp>
        <p:nvSpPr>
          <p:cNvPr id="37891" name="Rectangle 2">
            <a:extLst>
              <a:ext uri="{FF2B5EF4-FFF2-40B4-BE49-F238E27FC236}">
                <a16:creationId xmlns:a16="http://schemas.microsoft.com/office/drawing/2014/main" id="{785C6854-2487-AB5B-EC21-D7E9885FF909}"/>
              </a:ext>
            </a:extLst>
          </p:cNvPr>
          <p:cNvSpPr>
            <a:spLocks noRot="1" noChangeArrowheads="1" noTextEdit="1"/>
          </p:cNvSpPr>
          <p:nvPr>
            <p:ph type="sldImg"/>
          </p:nvPr>
        </p:nvSpPr>
        <p:spPr>
          <a:ln/>
        </p:spPr>
      </p:sp>
      <p:sp>
        <p:nvSpPr>
          <p:cNvPr id="37892" name="Rectangle 3">
            <a:extLst>
              <a:ext uri="{FF2B5EF4-FFF2-40B4-BE49-F238E27FC236}">
                <a16:creationId xmlns:a16="http://schemas.microsoft.com/office/drawing/2014/main" id="{2EC44922-BF0A-7F4B-7C66-8BCE0168FC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1213F566-986D-AC73-5D1F-AB44498B4BF2}"/>
              </a:ext>
            </a:extLst>
          </p:cNvPr>
          <p:cNvSpPr>
            <a:spLocks noGrp="1" noRot="1" noChangeAspect="1" noTextEdit="1"/>
          </p:cNvSpPr>
          <p:nvPr>
            <p:ph type="sldImg"/>
          </p:nvPr>
        </p:nvSpPr>
        <p:spPr>
          <a:ln/>
        </p:spPr>
      </p:sp>
      <p:sp>
        <p:nvSpPr>
          <p:cNvPr id="39939" name="Notes Placeholder 2">
            <a:extLst>
              <a:ext uri="{FF2B5EF4-FFF2-40B4-BE49-F238E27FC236}">
                <a16:creationId xmlns:a16="http://schemas.microsoft.com/office/drawing/2014/main" id="{6EF72F19-A926-A792-B2D7-38CF9F54F9D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Highly processive polymerase increases the overall rate of DNA synthesis by as much as 1000-fold compared to a completely </a:t>
            </a:r>
            <a:r>
              <a:rPr lang="en-US" altLang="en-US" dirty="0" err="1">
                <a:latin typeface="Arial" panose="020B0604020202020204" pitchFamily="34" charset="0"/>
                <a:cs typeface="Arial" panose="020B0604020202020204" pitchFamily="34" charset="0"/>
              </a:rPr>
              <a:t>nonprocessive</a:t>
            </a:r>
            <a:r>
              <a:rPr lang="en-US" altLang="en-US" dirty="0">
                <a:latin typeface="Arial" panose="020B0604020202020204" pitchFamily="34" charset="0"/>
                <a:cs typeface="Arial" panose="020B0604020202020204" pitchFamily="34" charset="0"/>
              </a:rPr>
              <a:t> enzyme</a:t>
            </a:r>
          </a:p>
          <a:p>
            <a:pPr eaLnBrk="1" hangingPunct="1"/>
            <a:r>
              <a:rPr lang="en-US" altLang="en-US" dirty="0">
                <a:latin typeface="Arial" panose="020B0604020202020204" pitchFamily="34" charset="0"/>
                <a:cs typeface="Arial" panose="020B0604020202020204" pitchFamily="34" charset="0"/>
              </a:rPr>
              <a:t>Increased processivity is facilitated </a:t>
            </a:r>
            <a:r>
              <a:rPr lang="en-US" altLang="en-US" dirty="0">
                <a:solidFill>
                  <a:srgbClr val="0000FF"/>
                </a:solidFill>
                <a:latin typeface="Arial" panose="020B0604020202020204" pitchFamily="34" charset="0"/>
                <a:cs typeface="Arial" panose="020B0604020202020204" pitchFamily="34" charset="0"/>
              </a:rPr>
              <a:t>by the ability of DNA polymerase to slide along the DNA template</a:t>
            </a:r>
          </a:p>
          <a:p>
            <a:pPr eaLnBrk="1" hangingPunct="1"/>
            <a:r>
              <a:rPr lang="en-US" altLang="en-US" dirty="0">
                <a:latin typeface="Arial" panose="020B0604020202020204" pitchFamily="34" charset="0"/>
                <a:cs typeface="Arial" panose="020B0604020202020204" pitchFamily="34" charset="0"/>
              </a:rPr>
              <a:t>Further increase in processivity is achieved through interactions between the DNA polymerase and a “sliding clamp” protein that completely encircles the DNA </a:t>
            </a:r>
          </a:p>
        </p:txBody>
      </p:sp>
      <p:sp>
        <p:nvSpPr>
          <p:cNvPr id="39940" name="Slide Number Placeholder 3">
            <a:extLst>
              <a:ext uri="{FF2B5EF4-FFF2-40B4-BE49-F238E27FC236}">
                <a16:creationId xmlns:a16="http://schemas.microsoft.com/office/drawing/2014/main" id="{D745F652-AACE-99BC-9A6C-C06728BB8B0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F34C2D5-58BE-994D-9AA9-7A4ABA0EADC1}" type="slidenum">
              <a:rPr lang="en-GB" altLang="en-US"/>
              <a:pPr>
                <a:spcBef>
                  <a:spcPct val="0"/>
                </a:spcBef>
              </a:pPr>
              <a:t>18</a:t>
            </a:fld>
            <a:endParaRPr lang="en-GB"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9BF245AD-29C2-0902-4211-6F1035D0CA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28842C3-4465-9440-87E8-EF77701698CB}" type="slidenum">
              <a:rPr lang="en-GB" altLang="en-US"/>
              <a:pPr>
                <a:spcBef>
                  <a:spcPct val="0"/>
                </a:spcBef>
              </a:pPr>
              <a:t>19</a:t>
            </a:fld>
            <a:endParaRPr lang="en-GB" altLang="en-US"/>
          </a:p>
        </p:txBody>
      </p:sp>
      <p:sp>
        <p:nvSpPr>
          <p:cNvPr id="41987" name="Rectangle 2">
            <a:extLst>
              <a:ext uri="{FF2B5EF4-FFF2-40B4-BE49-F238E27FC236}">
                <a16:creationId xmlns:a16="http://schemas.microsoft.com/office/drawing/2014/main" id="{E239DDFB-D5BC-FCE2-1A02-947D02B19D2F}"/>
              </a:ext>
            </a:extLst>
          </p:cNvPr>
          <p:cNvSpPr>
            <a:spLocks noRot="1" noChangeArrowheads="1" noTextEdit="1"/>
          </p:cNvSpPr>
          <p:nvPr>
            <p:ph type="sldImg"/>
          </p:nvPr>
        </p:nvSpPr>
        <p:spPr>
          <a:ln/>
        </p:spPr>
      </p:sp>
      <p:sp>
        <p:nvSpPr>
          <p:cNvPr id="41988" name="Rectangle 3">
            <a:extLst>
              <a:ext uri="{FF2B5EF4-FFF2-40B4-BE49-F238E27FC236}">
                <a16:creationId xmlns:a16="http://schemas.microsoft.com/office/drawing/2014/main" id="{9AE4AF58-1580-D31F-60EF-F6FF65448C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Mispaired DNA alters the geometry of the 3’OH and the incoming nucleotide because of poor interactions with the palm region</a:t>
            </a:r>
          </a:p>
          <a:p>
            <a:pPr eaLnBrk="1" hangingPunct="1"/>
            <a:r>
              <a:rPr lang="en-US" altLang="en-US">
                <a:latin typeface="Arial" panose="020B0604020202020204" pitchFamily="34" charset="0"/>
                <a:cs typeface="Arial" panose="020B0604020202020204" pitchFamily="34" charset="0"/>
              </a:rPr>
              <a:t>This altered geometry reduces the rate of nucleotide addition in much the same way that addition of incorrectly paired dNTP catalysis</a:t>
            </a:r>
          </a:p>
          <a:p>
            <a:pPr eaLnBrk="1" hangingPunct="1"/>
            <a:r>
              <a:rPr lang="en-US" altLang="en-US">
                <a:latin typeface="Arial" panose="020B0604020202020204" pitchFamily="34" charset="0"/>
                <a:cs typeface="Arial" panose="020B0604020202020204" pitchFamily="34" charset="0"/>
              </a:rPr>
              <a:t>When a mismatched nucleotide is added, it both decreases the rate of new nucleotides addition and increases the rate of proofreading exonuclease activity.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8EF6D207-1673-E066-DEB7-20AC34EC7242}"/>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DAAADC6B-AD47-0A46-A65E-99F831F749C2}" type="slidenum">
              <a:rPr lang="en-US" altLang="en-US">
                <a:latin typeface="Times" charset="0"/>
                <a:ea typeface="ＭＳ Ｐゴシック" panose="020B0600070205080204" pitchFamily="34" charset="-128"/>
              </a:rPr>
              <a:pPr algn="r" eaLnBrk="1" hangingPunct="1">
                <a:spcBef>
                  <a:spcPct val="0"/>
                </a:spcBef>
              </a:pPr>
              <a:t>20</a:t>
            </a:fld>
            <a:endParaRPr lang="en-US" altLang="en-US">
              <a:latin typeface="Times" charset="0"/>
              <a:ea typeface="ＭＳ Ｐゴシック" panose="020B0600070205080204" pitchFamily="34" charset="-128"/>
            </a:endParaRPr>
          </a:p>
        </p:txBody>
      </p:sp>
      <p:sp>
        <p:nvSpPr>
          <p:cNvPr id="44035" name="Rectangle 2">
            <a:extLst>
              <a:ext uri="{FF2B5EF4-FFF2-40B4-BE49-F238E27FC236}">
                <a16:creationId xmlns:a16="http://schemas.microsoft.com/office/drawing/2014/main" id="{3237880C-2B52-4039-0848-41F4148F8EB7}"/>
              </a:ext>
            </a:extLst>
          </p:cNvPr>
          <p:cNvSpPr>
            <a:spLocks noChangeArrowheads="1" noTextEdit="1"/>
          </p:cNvSpPr>
          <p:nvPr>
            <p:ph type="sldImg"/>
          </p:nvPr>
        </p:nvSpPr>
        <p:spPr>
          <a:ln/>
        </p:spPr>
      </p:sp>
      <p:sp>
        <p:nvSpPr>
          <p:cNvPr id="44036" name="Rectangle 3">
            <a:extLst>
              <a:ext uri="{FF2B5EF4-FFF2-40B4-BE49-F238E27FC236}">
                <a16:creationId xmlns:a16="http://schemas.microsoft.com/office/drawing/2014/main" id="{B298C5E2-16FB-0D0C-86A0-57130CFF2B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cs typeface="Arial" panose="020B0604020202020204" pitchFamily="34" charset="0"/>
              </a:rPr>
              <a:t>Figure 9-11</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47232803-ABFD-5EC4-BA38-7F792D27BA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655545A-A135-9945-924F-4E7B4219F3A6}" type="slidenum">
              <a:rPr lang="en-GB" altLang="en-US"/>
              <a:pPr>
                <a:spcBef>
                  <a:spcPct val="0"/>
                </a:spcBef>
              </a:pPr>
              <a:t>21</a:t>
            </a:fld>
            <a:endParaRPr lang="en-GB" altLang="en-US"/>
          </a:p>
        </p:txBody>
      </p:sp>
      <p:sp>
        <p:nvSpPr>
          <p:cNvPr id="46083" name="Rectangle 2">
            <a:extLst>
              <a:ext uri="{FF2B5EF4-FFF2-40B4-BE49-F238E27FC236}">
                <a16:creationId xmlns:a16="http://schemas.microsoft.com/office/drawing/2014/main" id="{B1781E7A-32FC-8D87-A9EE-21C2AAA5EF82}"/>
              </a:ext>
            </a:extLst>
          </p:cNvPr>
          <p:cNvSpPr>
            <a:spLocks noRot="1" noChangeArrowheads="1" noTextEdit="1"/>
          </p:cNvSpPr>
          <p:nvPr>
            <p:ph type="sldImg"/>
          </p:nvPr>
        </p:nvSpPr>
        <p:spPr>
          <a:ln/>
        </p:spPr>
      </p:sp>
      <p:sp>
        <p:nvSpPr>
          <p:cNvPr id="46084" name="Rectangle 3">
            <a:extLst>
              <a:ext uri="{FF2B5EF4-FFF2-40B4-BE49-F238E27FC236}">
                <a16:creationId xmlns:a16="http://schemas.microsoft.com/office/drawing/2014/main" id="{F0892DAD-F110-A6B3-3992-378F074F39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FC2F549E-36C2-0931-5ADE-DA3AB9B459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236BE74-0A44-0C45-9344-BCA754D46864}" type="slidenum">
              <a:rPr lang="en-GB" altLang="en-US"/>
              <a:pPr>
                <a:spcBef>
                  <a:spcPct val="0"/>
                </a:spcBef>
              </a:pPr>
              <a:t>22</a:t>
            </a:fld>
            <a:endParaRPr lang="en-GB" altLang="en-US"/>
          </a:p>
        </p:txBody>
      </p:sp>
      <p:sp>
        <p:nvSpPr>
          <p:cNvPr id="48131" name="Rectangle 2">
            <a:extLst>
              <a:ext uri="{FF2B5EF4-FFF2-40B4-BE49-F238E27FC236}">
                <a16:creationId xmlns:a16="http://schemas.microsoft.com/office/drawing/2014/main" id="{680C920B-C450-7F62-1399-F0839E72BAC1}"/>
              </a:ext>
            </a:extLst>
          </p:cNvPr>
          <p:cNvSpPr>
            <a:spLocks noRot="1" noChangeArrowheads="1" noTextEdit="1"/>
          </p:cNvSpPr>
          <p:nvPr>
            <p:ph type="sldImg"/>
          </p:nvPr>
        </p:nvSpPr>
        <p:spPr>
          <a:ln/>
        </p:spPr>
      </p:sp>
      <p:sp>
        <p:nvSpPr>
          <p:cNvPr id="48132" name="Rectangle 3">
            <a:extLst>
              <a:ext uri="{FF2B5EF4-FFF2-40B4-BE49-F238E27FC236}">
                <a16:creationId xmlns:a16="http://schemas.microsoft.com/office/drawing/2014/main" id="{201AD2AC-3703-8C1E-1E33-CCADD5B410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00AF73AF-B2B7-0B48-736C-88460F0CA280}"/>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AE435CBB-1433-1F49-A145-4BA210060FA8}" type="slidenum">
              <a:rPr lang="en-US" altLang="en-US">
                <a:latin typeface="Times" charset="0"/>
                <a:ea typeface="ＭＳ Ｐゴシック" panose="020B0600070205080204" pitchFamily="34" charset="-128"/>
              </a:rPr>
              <a:pPr algn="r" eaLnBrk="1" hangingPunct="1">
                <a:spcBef>
                  <a:spcPct val="0"/>
                </a:spcBef>
              </a:pPr>
              <a:t>23</a:t>
            </a:fld>
            <a:endParaRPr lang="en-US" altLang="en-US">
              <a:latin typeface="Times" charset="0"/>
              <a:ea typeface="ＭＳ Ｐゴシック" panose="020B0600070205080204" pitchFamily="34" charset="-128"/>
            </a:endParaRPr>
          </a:p>
        </p:txBody>
      </p:sp>
      <p:sp>
        <p:nvSpPr>
          <p:cNvPr id="50179" name="Rectangle 2">
            <a:extLst>
              <a:ext uri="{FF2B5EF4-FFF2-40B4-BE49-F238E27FC236}">
                <a16:creationId xmlns:a16="http://schemas.microsoft.com/office/drawing/2014/main" id="{A6A66858-FC5D-09B6-EB62-DDFEFEDCF4F0}"/>
              </a:ext>
            </a:extLst>
          </p:cNvPr>
          <p:cNvSpPr>
            <a:spLocks noChangeArrowheads="1" noTextEdit="1"/>
          </p:cNvSpPr>
          <p:nvPr>
            <p:ph type="sldImg"/>
          </p:nvPr>
        </p:nvSpPr>
        <p:spPr>
          <a:ln/>
        </p:spPr>
      </p:sp>
      <p:sp>
        <p:nvSpPr>
          <p:cNvPr id="50180" name="Rectangle 3">
            <a:extLst>
              <a:ext uri="{FF2B5EF4-FFF2-40B4-BE49-F238E27FC236}">
                <a16:creationId xmlns:a16="http://schemas.microsoft.com/office/drawing/2014/main" id="{AEA32B18-3563-2E7A-A3F5-813B8F1348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cs typeface="Arial" panose="020B0604020202020204" pitchFamily="34" charset="0"/>
              </a:rPr>
              <a:t>Figure 9-12</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716E58C4-0E41-E0E5-B75F-F0EFA5177E5E}"/>
              </a:ext>
            </a:extLst>
          </p:cNvPr>
          <p:cNvSpPr>
            <a:spLocks noGrp="1" noRot="1" noChangeAspect="1" noTextEdit="1"/>
          </p:cNvSpPr>
          <p:nvPr>
            <p:ph type="sldImg"/>
          </p:nvPr>
        </p:nvSpPr>
        <p:spPr>
          <a:ln/>
        </p:spPr>
      </p:sp>
      <p:sp>
        <p:nvSpPr>
          <p:cNvPr id="52227" name="Notes Placeholder 2">
            <a:extLst>
              <a:ext uri="{FF2B5EF4-FFF2-40B4-BE49-F238E27FC236}">
                <a16:creationId xmlns:a16="http://schemas.microsoft.com/office/drawing/2014/main" id="{01CC11EF-E4A7-442D-2FEB-2B82F180955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52228" name="Slide Number Placeholder 3">
            <a:extLst>
              <a:ext uri="{FF2B5EF4-FFF2-40B4-BE49-F238E27FC236}">
                <a16:creationId xmlns:a16="http://schemas.microsoft.com/office/drawing/2014/main" id="{6B7757C7-66A7-FCB9-629A-3BA5248F54B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E8DE77A-A5E1-4749-92CF-A5C01E6B56C6}" type="slidenum">
              <a:rPr lang="en-GB" altLang="en-US"/>
              <a:pPr>
                <a:spcBef>
                  <a:spcPct val="0"/>
                </a:spcBef>
              </a:pPr>
              <a:t>24</a:t>
            </a:fld>
            <a:endParaRPr lang="en-GB"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58D561F6-4BD9-59DE-5959-5244337468EB}"/>
              </a:ext>
            </a:extLst>
          </p:cNvPr>
          <p:cNvSpPr>
            <a:spLocks noGrp="1" noRot="1" noChangeAspect="1" noTextEdit="1"/>
          </p:cNvSpPr>
          <p:nvPr>
            <p:ph type="sldImg"/>
          </p:nvPr>
        </p:nvSpPr>
        <p:spPr>
          <a:ln/>
        </p:spPr>
      </p:sp>
      <p:sp>
        <p:nvSpPr>
          <p:cNvPr id="54275" name="Notes Placeholder 2">
            <a:extLst>
              <a:ext uri="{FF2B5EF4-FFF2-40B4-BE49-F238E27FC236}">
                <a16:creationId xmlns:a16="http://schemas.microsoft.com/office/drawing/2014/main" id="{BF44ECCF-917B-3C64-B901-1BD33A99584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54276" name="Slide Number Placeholder 3">
            <a:extLst>
              <a:ext uri="{FF2B5EF4-FFF2-40B4-BE49-F238E27FC236}">
                <a16:creationId xmlns:a16="http://schemas.microsoft.com/office/drawing/2014/main" id="{AD85B463-38A1-8C06-B5B1-4F66103393B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A8E4C35-47FF-0241-AA75-9384FBD59056}" type="slidenum">
              <a:rPr lang="en-GB" altLang="en-US"/>
              <a:pPr>
                <a:spcBef>
                  <a:spcPct val="0"/>
                </a:spcBef>
              </a:pPr>
              <a:t>25</a:t>
            </a:fld>
            <a:endParaRPr lang="en-GB"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A3755867-9F57-1556-01AD-635BB91002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8F619CA-2CCD-2D45-BB44-70DCA2A57FF7}" type="slidenum">
              <a:rPr lang="en-GB" altLang="en-US"/>
              <a:pPr>
                <a:spcBef>
                  <a:spcPct val="0"/>
                </a:spcBef>
              </a:pPr>
              <a:t>26</a:t>
            </a:fld>
            <a:endParaRPr lang="en-GB" altLang="en-US"/>
          </a:p>
        </p:txBody>
      </p:sp>
      <p:sp>
        <p:nvSpPr>
          <p:cNvPr id="56323" name="Rectangle 2">
            <a:extLst>
              <a:ext uri="{FF2B5EF4-FFF2-40B4-BE49-F238E27FC236}">
                <a16:creationId xmlns:a16="http://schemas.microsoft.com/office/drawing/2014/main" id="{962BF19F-14B8-7A64-C78E-3CCAE231C6A4}"/>
              </a:ext>
            </a:extLst>
          </p:cNvPr>
          <p:cNvSpPr>
            <a:spLocks noRot="1" noChangeArrowheads="1" noTextEdit="1"/>
          </p:cNvSpPr>
          <p:nvPr>
            <p:ph type="sldImg"/>
          </p:nvPr>
        </p:nvSpPr>
        <p:spPr>
          <a:ln/>
        </p:spPr>
      </p:sp>
      <p:sp>
        <p:nvSpPr>
          <p:cNvPr id="56324" name="Rectangle 3">
            <a:extLst>
              <a:ext uri="{FF2B5EF4-FFF2-40B4-BE49-F238E27FC236}">
                <a16:creationId xmlns:a16="http://schemas.microsoft.com/office/drawing/2014/main" id="{9F5679BD-936D-AEDA-E010-5324965D6A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Uploaded by protein and leaves only when strand terminate</a:t>
            </a:r>
          </a:p>
          <a:p>
            <a:pPr eaLnBrk="1" hangingPunct="1"/>
            <a:r>
              <a:rPr lang="en-US" altLang="en-US">
                <a:latin typeface="Arial" panose="020B0604020202020204" pitchFamily="34" charset="0"/>
                <a:cs typeface="Arial" panose="020B0604020202020204" pitchFamily="34" charset="0"/>
              </a:rPr>
              <a:t>Polarity of 5`-3` or 5`-3` according to strand it encircle</a:t>
            </a:r>
            <a:endParaRPr lang="en-GB" altLang="en-US">
              <a:latin typeface="Arial" panose="020B0604020202020204" pitchFamily="34" charset="0"/>
              <a:cs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80ACC31E-636A-C18A-E03F-6EDADA2762B3}"/>
              </a:ext>
            </a:extLst>
          </p:cNvPr>
          <p:cNvSpPr>
            <a:spLocks noGrp="1" noRot="1" noChangeAspect="1" noTextEdit="1"/>
          </p:cNvSpPr>
          <p:nvPr>
            <p:ph type="sldImg"/>
          </p:nvPr>
        </p:nvSpPr>
        <p:spPr>
          <a:ln/>
        </p:spPr>
      </p:sp>
      <p:sp>
        <p:nvSpPr>
          <p:cNvPr id="58371" name="Notes Placeholder 2">
            <a:extLst>
              <a:ext uri="{FF2B5EF4-FFF2-40B4-BE49-F238E27FC236}">
                <a16:creationId xmlns:a16="http://schemas.microsoft.com/office/drawing/2014/main" id="{38420D47-05CB-2040-F326-10DA2316299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58372" name="Slide Number Placeholder 3">
            <a:extLst>
              <a:ext uri="{FF2B5EF4-FFF2-40B4-BE49-F238E27FC236}">
                <a16:creationId xmlns:a16="http://schemas.microsoft.com/office/drawing/2014/main" id="{F224CEF8-301C-42CD-502D-907B4EFCBB9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617CF4B-2737-B049-8701-5F35C1B90C1D}" type="slidenum">
              <a:rPr lang="en-GB" altLang="en-US"/>
              <a:pPr>
                <a:spcBef>
                  <a:spcPct val="0"/>
                </a:spcBef>
              </a:pPr>
              <a:t>27</a:t>
            </a:fld>
            <a:endParaRPr lang="en-GB"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5633749B-90FC-6593-B762-10EDA883E451}"/>
              </a:ext>
            </a:extLst>
          </p:cNvPr>
          <p:cNvSpPr>
            <a:spLocks noGrp="1" noRot="1" noChangeAspect="1" noTextEdit="1"/>
          </p:cNvSpPr>
          <p:nvPr>
            <p:ph type="sldImg"/>
          </p:nvPr>
        </p:nvSpPr>
        <p:spPr>
          <a:ln/>
        </p:spPr>
      </p:sp>
      <p:sp>
        <p:nvSpPr>
          <p:cNvPr id="60419" name="Notes Placeholder 2">
            <a:extLst>
              <a:ext uri="{FF2B5EF4-FFF2-40B4-BE49-F238E27FC236}">
                <a16:creationId xmlns:a16="http://schemas.microsoft.com/office/drawing/2014/main" id="{8CDE9B1E-F471-3158-89EF-649648859A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60420" name="Slide Number Placeholder 3">
            <a:extLst>
              <a:ext uri="{FF2B5EF4-FFF2-40B4-BE49-F238E27FC236}">
                <a16:creationId xmlns:a16="http://schemas.microsoft.com/office/drawing/2014/main" id="{A122FA14-3023-BE55-6D51-6368412A77D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06054C7-2755-D045-ADC3-C4E33767A239}" type="slidenum">
              <a:rPr lang="en-GB" altLang="en-US"/>
              <a:pPr>
                <a:spcBef>
                  <a:spcPct val="0"/>
                </a:spcBef>
              </a:pPr>
              <a:t>28</a:t>
            </a:fld>
            <a:endParaRPr lang="en-GB"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4D94AE38-89B2-19F2-314E-89052738B038}"/>
              </a:ext>
            </a:extLst>
          </p:cNvPr>
          <p:cNvSpPr>
            <a:spLocks noGrp="1" noRot="1" noChangeAspect="1" noTextEdit="1"/>
          </p:cNvSpPr>
          <p:nvPr>
            <p:ph type="sldImg"/>
          </p:nvPr>
        </p:nvSpPr>
        <p:spPr>
          <a:ln/>
        </p:spPr>
      </p:sp>
      <p:sp>
        <p:nvSpPr>
          <p:cNvPr id="62467" name="Notes Placeholder 2">
            <a:extLst>
              <a:ext uri="{FF2B5EF4-FFF2-40B4-BE49-F238E27FC236}">
                <a16:creationId xmlns:a16="http://schemas.microsoft.com/office/drawing/2014/main" id="{FC112636-9BF0-C5D4-ECA6-085EC83157A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62468" name="Slide Number Placeholder 3">
            <a:extLst>
              <a:ext uri="{FF2B5EF4-FFF2-40B4-BE49-F238E27FC236}">
                <a16:creationId xmlns:a16="http://schemas.microsoft.com/office/drawing/2014/main" id="{871125E7-96AF-68D6-0013-8892EE978D6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BE2AD33-A285-3242-94DD-4104FAEB2DE7}" type="slidenum">
              <a:rPr lang="en-GB" altLang="en-US"/>
              <a:pPr>
                <a:spcBef>
                  <a:spcPct val="0"/>
                </a:spcBef>
              </a:pPr>
              <a:t>29</a:t>
            </a:fld>
            <a:endParaRPr lang="en-GB"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7671FC75-41CE-E66E-A0DB-1951E24D38DD}"/>
              </a:ext>
            </a:extLst>
          </p:cNvPr>
          <p:cNvSpPr>
            <a:spLocks noGrp="1" noRot="1" noChangeAspect="1" noTextEdit="1"/>
          </p:cNvSpPr>
          <p:nvPr>
            <p:ph type="sldImg"/>
          </p:nvPr>
        </p:nvSpPr>
        <p:spPr>
          <a:ln/>
        </p:spPr>
      </p:sp>
      <p:sp>
        <p:nvSpPr>
          <p:cNvPr id="64515" name="Notes Placeholder 2">
            <a:extLst>
              <a:ext uri="{FF2B5EF4-FFF2-40B4-BE49-F238E27FC236}">
                <a16:creationId xmlns:a16="http://schemas.microsoft.com/office/drawing/2014/main" id="{825079B8-B9EE-2869-A6A0-8D5AB744149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64516" name="Slide Number Placeholder 3">
            <a:extLst>
              <a:ext uri="{FF2B5EF4-FFF2-40B4-BE49-F238E27FC236}">
                <a16:creationId xmlns:a16="http://schemas.microsoft.com/office/drawing/2014/main" id="{B62367A2-B537-8106-F0BE-8F7FD77C3AC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8ACDAA4-B635-D44C-941A-2958B1C17291}" type="slidenum">
              <a:rPr lang="en-GB" altLang="en-US"/>
              <a:pPr>
                <a:spcBef>
                  <a:spcPct val="0"/>
                </a:spcBef>
              </a:pPr>
              <a:t>30</a:t>
            </a:fld>
            <a:endParaRPr lang="en-GB"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9F02B055-45BA-155E-32E4-10E191DCAD26}"/>
              </a:ext>
            </a:extLst>
          </p:cNvPr>
          <p:cNvSpPr>
            <a:spLocks noGrp="1" noRot="1" noChangeAspect="1" noTextEdit="1"/>
          </p:cNvSpPr>
          <p:nvPr>
            <p:ph type="sldImg"/>
          </p:nvPr>
        </p:nvSpPr>
        <p:spPr>
          <a:ln/>
        </p:spPr>
      </p:sp>
      <p:sp>
        <p:nvSpPr>
          <p:cNvPr id="66563" name="Notes Placeholder 2">
            <a:extLst>
              <a:ext uri="{FF2B5EF4-FFF2-40B4-BE49-F238E27FC236}">
                <a16:creationId xmlns:a16="http://schemas.microsoft.com/office/drawing/2014/main" id="{EB1F6C11-702D-AD0A-AB1C-8003CDF4E40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66564" name="Slide Number Placeholder 3">
            <a:extLst>
              <a:ext uri="{FF2B5EF4-FFF2-40B4-BE49-F238E27FC236}">
                <a16:creationId xmlns:a16="http://schemas.microsoft.com/office/drawing/2014/main" id="{5791FEB7-B8EA-231F-3579-8672CCF7554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59F944D-9259-CE48-9418-B1168C25DFE6}" type="slidenum">
              <a:rPr lang="en-GB" altLang="en-US"/>
              <a:pPr>
                <a:spcBef>
                  <a:spcPct val="0"/>
                </a:spcBef>
              </a:pPr>
              <a:t>31</a:t>
            </a:fld>
            <a:endParaRPr lang="en-GB"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A4996D78-B983-CC75-260F-9DF174488E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09A767C-DB7C-D844-A059-2BC00CAAE2B9}" type="slidenum">
              <a:rPr lang="en-GB" altLang="en-US"/>
              <a:pPr>
                <a:spcBef>
                  <a:spcPct val="0"/>
                </a:spcBef>
              </a:pPr>
              <a:t>32</a:t>
            </a:fld>
            <a:endParaRPr lang="en-GB" altLang="en-US"/>
          </a:p>
        </p:txBody>
      </p:sp>
      <p:sp>
        <p:nvSpPr>
          <p:cNvPr id="68611" name="Rectangle 2">
            <a:extLst>
              <a:ext uri="{FF2B5EF4-FFF2-40B4-BE49-F238E27FC236}">
                <a16:creationId xmlns:a16="http://schemas.microsoft.com/office/drawing/2014/main" id="{44F6E9C0-2C1E-E962-5F4A-7BE94B6E9389}"/>
              </a:ext>
            </a:extLst>
          </p:cNvPr>
          <p:cNvSpPr>
            <a:spLocks noRot="1" noChangeArrowheads="1" noTextEdit="1"/>
          </p:cNvSpPr>
          <p:nvPr>
            <p:ph type="sldImg"/>
          </p:nvPr>
        </p:nvSpPr>
        <p:spPr>
          <a:ln/>
        </p:spPr>
      </p:sp>
      <p:sp>
        <p:nvSpPr>
          <p:cNvPr id="68612" name="Rectangle 3">
            <a:extLst>
              <a:ext uri="{FF2B5EF4-FFF2-40B4-BE49-F238E27FC236}">
                <a16:creationId xmlns:a16="http://schemas.microsoft.com/office/drawing/2014/main" id="{1B7D76C6-1D8E-D8FF-EE0D-11FA429D08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A1C7BABC-D01E-3858-8CE0-88A770E753D7}"/>
              </a:ext>
            </a:extLst>
          </p:cNvPr>
          <p:cNvSpPr>
            <a:spLocks noGrp="1" noRot="1" noChangeAspect="1" noTextEdit="1"/>
          </p:cNvSpPr>
          <p:nvPr>
            <p:ph type="sldImg"/>
          </p:nvPr>
        </p:nvSpPr>
        <p:spPr>
          <a:ln/>
        </p:spPr>
      </p:sp>
      <p:sp>
        <p:nvSpPr>
          <p:cNvPr id="70659" name="Notes Placeholder 2">
            <a:extLst>
              <a:ext uri="{FF2B5EF4-FFF2-40B4-BE49-F238E27FC236}">
                <a16:creationId xmlns:a16="http://schemas.microsoft.com/office/drawing/2014/main" id="{86C296BF-6D12-F071-D264-BFF12146756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70660" name="Slide Number Placeholder 3">
            <a:extLst>
              <a:ext uri="{FF2B5EF4-FFF2-40B4-BE49-F238E27FC236}">
                <a16:creationId xmlns:a16="http://schemas.microsoft.com/office/drawing/2014/main" id="{0480F021-7A2E-AA37-4139-D08AFF7ADAA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D12E340-C292-5E46-B414-AA88FCC3B77E}" type="slidenum">
              <a:rPr lang="en-GB" altLang="en-US"/>
              <a:pPr>
                <a:spcBef>
                  <a:spcPct val="0"/>
                </a:spcBef>
              </a:pPr>
              <a:t>34</a:t>
            </a:fld>
            <a:endParaRPr lang="en-GB"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98283AA3-D613-0F6A-DA74-0A7374A618EF}"/>
              </a:ext>
            </a:extLst>
          </p:cNvPr>
          <p:cNvSpPr>
            <a:spLocks noGrp="1" noRot="1" noChangeAspect="1" noTextEdit="1"/>
          </p:cNvSpPr>
          <p:nvPr>
            <p:ph type="sldImg"/>
          </p:nvPr>
        </p:nvSpPr>
        <p:spPr>
          <a:ln/>
        </p:spPr>
      </p:sp>
      <p:sp>
        <p:nvSpPr>
          <p:cNvPr id="72707" name="Notes Placeholder 2">
            <a:extLst>
              <a:ext uri="{FF2B5EF4-FFF2-40B4-BE49-F238E27FC236}">
                <a16:creationId xmlns:a16="http://schemas.microsoft.com/office/drawing/2014/main" id="{2281E61E-036B-61A3-566E-0B892024EE5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72708" name="Slide Number Placeholder 3">
            <a:extLst>
              <a:ext uri="{FF2B5EF4-FFF2-40B4-BE49-F238E27FC236}">
                <a16:creationId xmlns:a16="http://schemas.microsoft.com/office/drawing/2014/main" id="{07F1D287-4153-A295-88B8-12C6457B9AC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D543D19-8E42-B541-B3D9-DF1E8F4F6F6C}" type="slidenum">
              <a:rPr lang="en-GB" altLang="en-US"/>
              <a:pPr>
                <a:spcBef>
                  <a:spcPct val="0"/>
                </a:spcBef>
              </a:pPr>
              <a:t>35</a:t>
            </a:fld>
            <a:endParaRPr lang="en-GB"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30CC9B61-44BA-3D11-C944-08C98A86D2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41C3EB3-A957-074F-B93B-9AE7271710FC}" type="slidenum">
              <a:rPr lang="en-GB" altLang="en-US"/>
              <a:pPr>
                <a:spcBef>
                  <a:spcPct val="0"/>
                </a:spcBef>
              </a:pPr>
              <a:t>36</a:t>
            </a:fld>
            <a:endParaRPr lang="en-GB" altLang="en-US"/>
          </a:p>
        </p:txBody>
      </p:sp>
      <p:sp>
        <p:nvSpPr>
          <p:cNvPr id="74755" name="Rectangle 2">
            <a:extLst>
              <a:ext uri="{FF2B5EF4-FFF2-40B4-BE49-F238E27FC236}">
                <a16:creationId xmlns:a16="http://schemas.microsoft.com/office/drawing/2014/main" id="{F59337D7-DE23-BDCD-0772-BE00264566CE}"/>
              </a:ext>
            </a:extLst>
          </p:cNvPr>
          <p:cNvSpPr>
            <a:spLocks noRot="1" noChangeArrowheads="1" noTextEdit="1"/>
          </p:cNvSpPr>
          <p:nvPr>
            <p:ph type="sldImg"/>
          </p:nvPr>
        </p:nvSpPr>
        <p:spPr>
          <a:ln/>
        </p:spPr>
      </p:sp>
      <p:sp>
        <p:nvSpPr>
          <p:cNvPr id="74756" name="Rectangle 3">
            <a:extLst>
              <a:ext uri="{FF2B5EF4-FFF2-40B4-BE49-F238E27FC236}">
                <a16:creationId xmlns:a16="http://schemas.microsoft.com/office/drawing/2014/main" id="{C93CD6B1-BB22-ABF7-E4FC-6D262E5B07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Pol I: it includes 5` exonuclease to remove RNA primer and replace it with DNA, can work with small DNA sequences only, so it is not highly processive,</a:t>
            </a:r>
          </a:p>
          <a:p>
            <a:pPr eaLnBrk="1" hangingPunct="1"/>
            <a:r>
              <a:rPr lang="en-US" altLang="en-US" dirty="0">
                <a:latin typeface="Arial" panose="020B0604020202020204" pitchFamily="34" charset="0"/>
                <a:cs typeface="Arial" panose="020B0604020202020204" pitchFamily="34" charset="0"/>
              </a:rPr>
              <a:t>Pol I is not highly processive, it adds 20-100 nucleotides per binding event which is ideal for primer removal and DN synthesis across the resulting ssDNA gap</a:t>
            </a:r>
          </a:p>
          <a:p>
            <a:pPr eaLnBrk="1" hangingPunct="1"/>
            <a:r>
              <a:rPr lang="en-US" altLang="en-US" dirty="0">
                <a:latin typeface="Arial" panose="020B0604020202020204" pitchFamily="34" charset="0"/>
                <a:cs typeface="Arial" panose="020B0604020202020204" pitchFamily="34" charset="0"/>
              </a:rPr>
              <a:t>ideal for replacing the short region previously occupied by the RNA primers</a:t>
            </a:r>
          </a:p>
          <a:p>
            <a:pPr eaLnBrk="1" hangingPunct="1"/>
            <a:r>
              <a:rPr lang="en-US" altLang="en-US" dirty="0">
                <a:latin typeface="Arial" panose="020B0604020202020204" pitchFamily="34" charset="0"/>
                <a:cs typeface="Arial" panose="020B0604020202020204" pitchFamily="34" charset="0"/>
              </a:rPr>
              <a:t>Pol III: responsible for DNA replication, highly processive so only 2 polymerases can replicate the whole bacterial genome </a:t>
            </a:r>
          </a:p>
          <a:p>
            <a:pPr eaLnBrk="1" hangingPunct="1"/>
            <a:r>
              <a:rPr lang="en-US" altLang="en-US" dirty="0">
                <a:latin typeface="Arial" panose="020B0604020202020204" pitchFamily="34" charset="0"/>
                <a:cs typeface="Arial" panose="020B0604020202020204" pitchFamily="34" charset="0"/>
              </a:rPr>
              <a:t>Only pol I and pol III have proofreading activity</a:t>
            </a:r>
          </a:p>
          <a:p>
            <a:pPr eaLnBrk="1" hangingPunct="1"/>
            <a:endParaRPr lang="en-GB"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2670BAF5-9A02-6114-1173-B67475718C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0CC8F03-22F8-2945-8B62-23776141A091}" type="slidenum">
              <a:rPr lang="en-GB" altLang="en-US"/>
              <a:pPr>
                <a:spcBef>
                  <a:spcPct val="0"/>
                </a:spcBef>
              </a:pPr>
              <a:t>37</a:t>
            </a:fld>
            <a:endParaRPr lang="en-GB" altLang="en-US"/>
          </a:p>
        </p:txBody>
      </p:sp>
      <p:sp>
        <p:nvSpPr>
          <p:cNvPr id="76803" name="Rectangle 2">
            <a:extLst>
              <a:ext uri="{FF2B5EF4-FFF2-40B4-BE49-F238E27FC236}">
                <a16:creationId xmlns:a16="http://schemas.microsoft.com/office/drawing/2014/main" id="{D015B0B5-D30B-E034-7C59-2DF578B29A03}"/>
              </a:ext>
            </a:extLst>
          </p:cNvPr>
          <p:cNvSpPr>
            <a:spLocks noRot="1" noChangeArrowheads="1" noTextEdit="1"/>
          </p:cNvSpPr>
          <p:nvPr>
            <p:ph type="sldImg"/>
          </p:nvPr>
        </p:nvSpPr>
        <p:spPr>
          <a:ln/>
        </p:spPr>
      </p:sp>
      <p:sp>
        <p:nvSpPr>
          <p:cNvPr id="76804" name="Rectangle 3">
            <a:extLst>
              <a:ext uri="{FF2B5EF4-FFF2-40B4-BE49-F238E27FC236}">
                <a16:creationId xmlns:a16="http://schemas.microsoft.com/office/drawing/2014/main" id="{7A49D6DD-B4AF-E4A6-ACAF-449A250EBF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6D2BCFCE-5EEA-5A46-171B-A6DFC42BB9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C632398-4C2F-A249-9D46-3CC8BAD5A7D0}" type="slidenum">
              <a:rPr lang="en-GB" altLang="en-US"/>
              <a:pPr>
                <a:spcBef>
                  <a:spcPct val="0"/>
                </a:spcBef>
              </a:pPr>
              <a:t>39</a:t>
            </a:fld>
            <a:endParaRPr lang="en-GB" altLang="en-US"/>
          </a:p>
        </p:txBody>
      </p:sp>
      <p:sp>
        <p:nvSpPr>
          <p:cNvPr id="78851" name="Rectangle 2">
            <a:extLst>
              <a:ext uri="{FF2B5EF4-FFF2-40B4-BE49-F238E27FC236}">
                <a16:creationId xmlns:a16="http://schemas.microsoft.com/office/drawing/2014/main" id="{280B5059-FFA6-E630-65F4-493E4C5AF1A8}"/>
              </a:ext>
            </a:extLst>
          </p:cNvPr>
          <p:cNvSpPr>
            <a:spLocks noRot="1" noChangeArrowheads="1" noTextEdit="1"/>
          </p:cNvSpPr>
          <p:nvPr>
            <p:ph type="sldImg"/>
          </p:nvPr>
        </p:nvSpPr>
        <p:spPr>
          <a:ln/>
        </p:spPr>
      </p:sp>
      <p:sp>
        <p:nvSpPr>
          <p:cNvPr id="78852" name="Rectangle 3">
            <a:extLst>
              <a:ext uri="{FF2B5EF4-FFF2-40B4-BE49-F238E27FC236}">
                <a16:creationId xmlns:a16="http://schemas.microsoft.com/office/drawing/2014/main" id="{5AEDEAD2-1AAA-6B39-3234-4240C85844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cs typeface="Arial" panose="020B0604020202020204" pitchFamily="34" charset="0"/>
                <a:sym typeface="Symbol" pitchFamily="2" charset="2"/>
              </a:rPr>
              <a:t> polymerase goes to one strand &amp;  polymerase go to the other</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88AFE013-D4E4-BE36-7024-89685FF9F800}"/>
              </a:ext>
            </a:extLst>
          </p:cNvPr>
          <p:cNvSpPr>
            <a:spLocks noGrp="1" noRot="1" noChangeAspect="1" noTextEdit="1"/>
          </p:cNvSpPr>
          <p:nvPr>
            <p:ph type="sldImg"/>
          </p:nvPr>
        </p:nvSpPr>
        <p:spPr>
          <a:ln/>
        </p:spPr>
      </p:sp>
      <p:sp>
        <p:nvSpPr>
          <p:cNvPr id="80899" name="Notes Placeholder 2">
            <a:extLst>
              <a:ext uri="{FF2B5EF4-FFF2-40B4-BE49-F238E27FC236}">
                <a16:creationId xmlns:a16="http://schemas.microsoft.com/office/drawing/2014/main" id="{5ABD00D5-3D73-B8D9-8AC6-30E979E7B30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High processivity ensures rapid chromosome duplication</a:t>
            </a:r>
          </a:p>
          <a:p>
            <a:pPr eaLnBrk="1" hangingPunct="1"/>
            <a:r>
              <a:rPr lang="en-US" altLang="en-US">
                <a:latin typeface="Arial" panose="020B0604020202020204" pitchFamily="34" charset="0"/>
                <a:cs typeface="Arial" panose="020B0604020202020204" pitchFamily="34" charset="0"/>
              </a:rPr>
              <a:t>In the absence of other proteins, the DNA polymerases that cat at the replication fork are only able to synthesize 20-100 bp before releasing from the template</a:t>
            </a:r>
          </a:p>
          <a:p>
            <a:pPr eaLnBrk="1" hangingPunct="1"/>
            <a:r>
              <a:rPr lang="en-US" altLang="en-US">
                <a:latin typeface="Arial" panose="020B0604020202020204" pitchFamily="34" charset="0"/>
                <a:cs typeface="Arial" panose="020B0604020202020204" pitchFamily="34" charset="0"/>
              </a:rPr>
              <a:t>How is the processivity of these enzymes increased so dramatically at the replication fork?</a:t>
            </a:r>
          </a:p>
          <a:p>
            <a:pPr eaLnBrk="1" hangingPunct="1"/>
            <a:r>
              <a:rPr lang="en-US" altLang="en-US">
                <a:latin typeface="Arial" panose="020B0604020202020204" pitchFamily="34" charset="0"/>
                <a:cs typeface="Arial" panose="020B0604020202020204" pitchFamily="34" charset="0"/>
              </a:rPr>
              <a:t>Through association with proteins called sliding DNA clamps.</a:t>
            </a:r>
          </a:p>
          <a:p>
            <a:pPr eaLnBrk="1" hangingPunct="1"/>
            <a:r>
              <a:rPr lang="en-US" altLang="en-US">
                <a:latin typeface="Arial" panose="020B0604020202020204" pitchFamily="34" charset="0"/>
                <a:cs typeface="Arial" panose="020B0604020202020204" pitchFamily="34" charset="0"/>
              </a:rPr>
              <a:t>These are multiple identical subunits that assemble in the shape of a doughnut</a:t>
            </a:r>
          </a:p>
          <a:p>
            <a:pPr eaLnBrk="1" hangingPunct="1"/>
            <a:r>
              <a:rPr lang="en-US" altLang="en-US">
                <a:latin typeface="Arial" panose="020B0604020202020204" pitchFamily="34" charset="0"/>
                <a:cs typeface="Arial" panose="020B0604020202020204" pitchFamily="34" charset="0"/>
              </a:rPr>
              <a:t>The hole in the center of the clamp is large enough to encircle the DNA and leave room enough for one or 2 water molecules</a:t>
            </a:r>
          </a:p>
          <a:p>
            <a:pPr eaLnBrk="1" hangingPunct="1"/>
            <a:r>
              <a:rPr lang="en-US" altLang="en-US">
                <a:latin typeface="Arial" panose="020B0604020202020204" pitchFamily="34" charset="0"/>
                <a:cs typeface="Arial" panose="020B0604020202020204" pitchFamily="34" charset="0"/>
              </a:rPr>
              <a:t>The resulting complex between the polymerase and the clamp </a:t>
            </a:r>
            <a:r>
              <a:rPr lang="en-US" altLang="en-US" b="1">
                <a:latin typeface="Arial" panose="020B0604020202020204" pitchFamily="34" charset="0"/>
                <a:cs typeface="Arial" panose="020B0604020202020204" pitchFamily="34" charset="0"/>
              </a:rPr>
              <a:t>moves efficiently </a:t>
            </a:r>
            <a:r>
              <a:rPr lang="en-US" altLang="en-US">
                <a:latin typeface="Arial" panose="020B0604020202020204" pitchFamily="34" charset="0"/>
                <a:cs typeface="Arial" panose="020B0604020202020204" pitchFamily="34" charset="0"/>
              </a:rPr>
              <a:t>along the DNA template during synthesis</a:t>
            </a:r>
          </a:p>
          <a:p>
            <a:pPr eaLnBrk="1" hangingPunct="1"/>
            <a:endParaRPr lang="en-US" altLang="en-US">
              <a:latin typeface="Arial" panose="020B0604020202020204" pitchFamily="34" charset="0"/>
              <a:cs typeface="Arial" panose="020B0604020202020204" pitchFamily="34" charset="0"/>
            </a:endParaRPr>
          </a:p>
          <a:p>
            <a:pPr eaLnBrk="1" hangingPunct="1"/>
            <a:r>
              <a:rPr lang="en-US" altLang="en-US">
                <a:latin typeface="Arial" panose="020B0604020202020204" pitchFamily="34" charset="0"/>
                <a:cs typeface="Arial" panose="020B0604020202020204" pitchFamily="34" charset="0"/>
              </a:rPr>
              <a:t>Sliding DNA clamps also bind tightly to DNA polymerase at the replication fork</a:t>
            </a:r>
          </a:p>
          <a:p>
            <a:endParaRPr lang="en-US" altLang="en-US">
              <a:latin typeface="Arial" panose="020B0604020202020204" pitchFamily="34" charset="0"/>
              <a:cs typeface="Arial" panose="020B0604020202020204" pitchFamily="34" charset="0"/>
            </a:endParaRPr>
          </a:p>
        </p:txBody>
      </p:sp>
      <p:sp>
        <p:nvSpPr>
          <p:cNvPr id="80900" name="Slide Number Placeholder 3">
            <a:extLst>
              <a:ext uri="{FF2B5EF4-FFF2-40B4-BE49-F238E27FC236}">
                <a16:creationId xmlns:a16="http://schemas.microsoft.com/office/drawing/2014/main" id="{486A1747-674F-CC5D-E2C7-E7A6C64A84F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56553D1-6131-6845-9F4A-54CEC0263F53}" type="slidenum">
              <a:rPr lang="en-GB" altLang="en-US"/>
              <a:pPr>
                <a:spcBef>
                  <a:spcPct val="0"/>
                </a:spcBef>
              </a:pPr>
              <a:t>40</a:t>
            </a:fld>
            <a:endParaRPr lang="en-GB"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a:extLst>
              <a:ext uri="{FF2B5EF4-FFF2-40B4-BE49-F238E27FC236}">
                <a16:creationId xmlns:a16="http://schemas.microsoft.com/office/drawing/2014/main" id="{C1BD1817-CAE3-83FD-D750-86D739459E71}"/>
              </a:ext>
            </a:extLst>
          </p:cNvPr>
          <p:cNvSpPr>
            <a:spLocks noGrp="1" noRot="1" noChangeAspect="1" noTextEdit="1"/>
          </p:cNvSpPr>
          <p:nvPr>
            <p:ph type="sldImg"/>
          </p:nvPr>
        </p:nvSpPr>
        <p:spPr>
          <a:ln/>
        </p:spPr>
      </p:sp>
      <p:sp>
        <p:nvSpPr>
          <p:cNvPr id="82947" name="Notes Placeholder 2">
            <a:extLst>
              <a:ext uri="{FF2B5EF4-FFF2-40B4-BE49-F238E27FC236}">
                <a16:creationId xmlns:a16="http://schemas.microsoft.com/office/drawing/2014/main" id="{2554BD87-2DA0-01C4-3FC3-CEFD8F0C040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Once released from a DNA polymerase, Sliding clamps are not immediately removed from the replicated DNA. Instead, other proteins that must function at the site of recent DNA synthesis to perform their function interact with the clamp proteins  e.g. enzymes that assemble chromatin in eukaryotic cells are recruited to the sites of DNA replication by an interaction with the eukaryotic sliding DNA clamp(called PCNA)</a:t>
            </a:r>
          </a:p>
        </p:txBody>
      </p:sp>
      <p:sp>
        <p:nvSpPr>
          <p:cNvPr id="82948" name="Slide Number Placeholder 3">
            <a:extLst>
              <a:ext uri="{FF2B5EF4-FFF2-40B4-BE49-F238E27FC236}">
                <a16:creationId xmlns:a16="http://schemas.microsoft.com/office/drawing/2014/main" id="{39942F31-8A67-5328-5CED-CA30D146FE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BB86D3F-D717-634D-82E1-7AFC1C5EA948}" type="slidenum">
              <a:rPr lang="en-GB" altLang="en-US"/>
              <a:pPr>
                <a:spcBef>
                  <a:spcPct val="0"/>
                </a:spcBef>
              </a:pPr>
              <a:t>41</a:t>
            </a:fld>
            <a:endParaRPr lang="en-GB"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71C37B87-236B-DEA8-CD68-598CBA60CF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0C6F541-FF54-D84C-9813-26B6D1D1E6B3}" type="slidenum">
              <a:rPr lang="en-GB" altLang="en-US"/>
              <a:pPr>
                <a:spcBef>
                  <a:spcPct val="0"/>
                </a:spcBef>
              </a:pPr>
              <a:t>42</a:t>
            </a:fld>
            <a:endParaRPr lang="en-GB" altLang="en-US"/>
          </a:p>
        </p:txBody>
      </p:sp>
      <p:sp>
        <p:nvSpPr>
          <p:cNvPr id="84995" name="Rectangle 2">
            <a:extLst>
              <a:ext uri="{FF2B5EF4-FFF2-40B4-BE49-F238E27FC236}">
                <a16:creationId xmlns:a16="http://schemas.microsoft.com/office/drawing/2014/main" id="{18C59E0F-8A52-0DAF-77C3-225E09118B47}"/>
              </a:ext>
            </a:extLst>
          </p:cNvPr>
          <p:cNvSpPr>
            <a:spLocks noRot="1" noChangeArrowheads="1" noTextEdit="1"/>
          </p:cNvSpPr>
          <p:nvPr>
            <p:ph type="sldImg"/>
          </p:nvPr>
        </p:nvSpPr>
        <p:spPr>
          <a:ln/>
        </p:spPr>
      </p:sp>
      <p:sp>
        <p:nvSpPr>
          <p:cNvPr id="84996" name="Rectangle 3">
            <a:extLst>
              <a:ext uri="{FF2B5EF4-FFF2-40B4-BE49-F238E27FC236}">
                <a16:creationId xmlns:a16="http://schemas.microsoft.com/office/drawing/2014/main" id="{89990D3F-EDC3-FDAC-EC10-A9378A5626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a:p>
            <a:pPr eaLnBrk="1" hangingPunct="1"/>
            <a:r>
              <a:rPr lang="en-US" altLang="en-US">
                <a:latin typeface="Arial" panose="020B0604020202020204" pitchFamily="34" charset="0"/>
                <a:cs typeface="Arial" panose="020B0604020202020204" pitchFamily="34" charset="0"/>
              </a:rPr>
              <a:t>Binding of DNA to DNA polymerase is the rate determining step in DNA replication so to keep the reaction very quick and make polymerases very processive DNA polymerase must stay with DNA this is achieved by sliding clamp to allow it to synthesize thousands – millions of DNA</a:t>
            </a:r>
            <a:endParaRPr lang="en-GB" altLang="en-US">
              <a:latin typeface="Arial" panose="020B0604020202020204" pitchFamily="34" charset="0"/>
              <a:cs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1593E273-96C9-4765-8993-7120619F46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0A3ECDD-F56C-4C47-A1D5-EBEE7ACE564B}" type="slidenum">
              <a:rPr lang="en-GB" altLang="en-US"/>
              <a:pPr>
                <a:spcBef>
                  <a:spcPct val="0"/>
                </a:spcBef>
              </a:pPr>
              <a:t>43</a:t>
            </a:fld>
            <a:endParaRPr lang="en-GB" altLang="en-US"/>
          </a:p>
        </p:txBody>
      </p:sp>
      <p:sp>
        <p:nvSpPr>
          <p:cNvPr id="87043" name="Rectangle 2">
            <a:extLst>
              <a:ext uri="{FF2B5EF4-FFF2-40B4-BE49-F238E27FC236}">
                <a16:creationId xmlns:a16="http://schemas.microsoft.com/office/drawing/2014/main" id="{D302B2C0-5D9F-136B-2730-80EB20654248}"/>
              </a:ext>
            </a:extLst>
          </p:cNvPr>
          <p:cNvSpPr>
            <a:spLocks noRot="1" noChangeArrowheads="1" noTextEdit="1"/>
          </p:cNvSpPr>
          <p:nvPr>
            <p:ph type="sldImg"/>
          </p:nvPr>
        </p:nvSpPr>
        <p:spPr>
          <a:ln/>
        </p:spPr>
      </p:sp>
      <p:sp>
        <p:nvSpPr>
          <p:cNvPr id="87044" name="Rectangle 3">
            <a:extLst>
              <a:ext uri="{FF2B5EF4-FFF2-40B4-BE49-F238E27FC236}">
                <a16:creationId xmlns:a16="http://schemas.microsoft.com/office/drawing/2014/main" id="{852400B4-2708-81DF-D56C-28A98023CF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E41B0DD0-4C38-9CC3-6AD4-EDA61CA238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2129F75-A354-424D-816F-EE195A66BAF9}" type="slidenum">
              <a:rPr lang="en-GB" altLang="en-US"/>
              <a:pPr>
                <a:spcBef>
                  <a:spcPct val="0"/>
                </a:spcBef>
              </a:pPr>
              <a:t>44</a:t>
            </a:fld>
            <a:endParaRPr lang="en-GB" altLang="en-US"/>
          </a:p>
        </p:txBody>
      </p:sp>
      <p:sp>
        <p:nvSpPr>
          <p:cNvPr id="89091" name="Rectangle 2">
            <a:extLst>
              <a:ext uri="{FF2B5EF4-FFF2-40B4-BE49-F238E27FC236}">
                <a16:creationId xmlns:a16="http://schemas.microsoft.com/office/drawing/2014/main" id="{5A14175C-50AC-114F-3420-AE0AF589A94F}"/>
              </a:ext>
            </a:extLst>
          </p:cNvPr>
          <p:cNvSpPr>
            <a:spLocks noRot="1" noChangeArrowheads="1" noTextEdit="1"/>
          </p:cNvSpPr>
          <p:nvPr>
            <p:ph type="sldImg"/>
          </p:nvPr>
        </p:nvSpPr>
        <p:spPr>
          <a:ln/>
        </p:spPr>
      </p:sp>
      <p:sp>
        <p:nvSpPr>
          <p:cNvPr id="89092" name="Rectangle 3">
            <a:extLst>
              <a:ext uri="{FF2B5EF4-FFF2-40B4-BE49-F238E27FC236}">
                <a16:creationId xmlns:a16="http://schemas.microsoft.com/office/drawing/2014/main" id="{466BE419-2A90-0359-2673-39B3D1F357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a:latin typeface="Arial" panose="020B0604020202020204" pitchFamily="34" charset="0"/>
                <a:cs typeface="Arial" panose="020B0604020202020204" pitchFamily="34" charset="0"/>
              </a:rPr>
              <a:t>Formation of the tertiary complex of sliding clamp, primer template junction and sliding clamp loader with ATP will trigger ATP hydrolysis which in turn will dissociate the loader</a:t>
            </a:r>
          </a:p>
          <a:p>
            <a:pPr eaLnBrk="1" hangingPunct="1"/>
            <a:r>
              <a:rPr lang="en-US" altLang="en-US" dirty="0">
                <a:latin typeface="Arial" panose="020B0604020202020204" pitchFamily="34" charset="0"/>
                <a:cs typeface="Arial" panose="020B0604020202020204" pitchFamily="34" charset="0"/>
              </a:rPr>
              <a:t>The sliding clamp should be free from any interacting proteins</a:t>
            </a:r>
          </a:p>
          <a:p>
            <a:pPr lvl="1" eaLnBrk="1" hangingPunct="1"/>
            <a:r>
              <a:rPr lang="en-US" altLang="en-US" dirty="0">
                <a:latin typeface="Arial" panose="020B0604020202020204" pitchFamily="34" charset="0"/>
                <a:cs typeface="Arial" panose="020B0604020202020204" pitchFamily="34" charset="0"/>
              </a:rPr>
              <a:t>DNA polymerase</a:t>
            </a:r>
          </a:p>
          <a:p>
            <a:pPr lvl="1" eaLnBrk="1" hangingPunct="1"/>
            <a:r>
              <a:rPr lang="en-US" altLang="en-US" dirty="0">
                <a:latin typeface="Arial" panose="020B0604020202020204" pitchFamily="34" charset="0"/>
                <a:cs typeface="Arial" panose="020B0604020202020204" pitchFamily="34" charset="0"/>
              </a:rPr>
              <a:t>Nucleosome assembly proteins </a:t>
            </a:r>
          </a:p>
          <a:p>
            <a:pPr lvl="2" eaLnBrk="1" hangingPunct="1"/>
            <a:r>
              <a:rPr lang="en-US" altLang="en-US" dirty="0">
                <a:latin typeface="Arial" panose="020B0604020202020204" pitchFamily="34" charset="0"/>
                <a:cs typeface="Arial" panose="020B0604020202020204" pitchFamily="34" charset="0"/>
              </a:rPr>
              <a:t>Chaperons</a:t>
            </a:r>
          </a:p>
          <a:p>
            <a:pPr lvl="2" eaLnBrk="1" hangingPunct="1"/>
            <a:r>
              <a:rPr lang="en-US" altLang="en-US" dirty="0">
                <a:latin typeface="Arial" panose="020B0604020202020204" pitchFamily="34" charset="0"/>
                <a:cs typeface="Arial" panose="020B0604020202020204" pitchFamily="34" charset="0"/>
              </a:rPr>
              <a:t>Histone remodeling complexes</a:t>
            </a:r>
          </a:p>
          <a:p>
            <a:pPr lvl="1" eaLnBrk="1" hangingPunct="1"/>
            <a:r>
              <a:rPr lang="en-US" altLang="en-US" dirty="0">
                <a:latin typeface="Arial" panose="020B0604020202020204" pitchFamily="34" charset="0"/>
                <a:cs typeface="Arial" panose="020B0604020202020204" pitchFamily="34" charset="0"/>
              </a:rPr>
              <a:t>Okazaki fragment repair proteins</a:t>
            </a:r>
          </a:p>
          <a:p>
            <a:pPr lvl="1" eaLnBrk="1" hangingPunct="1"/>
            <a:r>
              <a:rPr lang="en-US" altLang="en-US" dirty="0">
                <a:latin typeface="Arial" panose="020B0604020202020204" pitchFamily="34" charset="0"/>
                <a:cs typeface="Arial" panose="020B0604020202020204" pitchFamily="34" charset="0"/>
              </a:rPr>
              <a:t>DNA repair protein</a:t>
            </a:r>
            <a:endParaRPr lang="en-GB"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B1E906EE-DBE4-C332-A8E1-6BA3DC3A0F80}"/>
              </a:ext>
            </a:extLst>
          </p:cNvPr>
          <p:cNvSpPr>
            <a:spLocks noGrp="1" noRot="1" noChangeAspect="1" noTextEdit="1"/>
          </p:cNvSpPr>
          <p:nvPr>
            <p:ph type="sldImg"/>
          </p:nvPr>
        </p:nvSpPr>
        <p:spPr>
          <a:ln/>
        </p:spPr>
      </p:sp>
      <p:sp>
        <p:nvSpPr>
          <p:cNvPr id="91139" name="Notes Placeholder 2">
            <a:extLst>
              <a:ext uri="{FF2B5EF4-FFF2-40B4-BE49-F238E27FC236}">
                <a16:creationId xmlns:a16="http://schemas.microsoft.com/office/drawing/2014/main" id="{B022D4EC-010D-878B-3217-F539DA47F23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91140" name="Slide Number Placeholder 3">
            <a:extLst>
              <a:ext uri="{FF2B5EF4-FFF2-40B4-BE49-F238E27FC236}">
                <a16:creationId xmlns:a16="http://schemas.microsoft.com/office/drawing/2014/main" id="{F3C3BC27-2FD9-3482-7107-39C29F106F9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E78CA51-115A-EC4B-96CE-39ADD75474D6}" type="slidenum">
              <a:rPr lang="en-GB" altLang="en-US"/>
              <a:pPr>
                <a:spcBef>
                  <a:spcPct val="0"/>
                </a:spcBef>
              </a:pPr>
              <a:t>46</a:t>
            </a:fld>
            <a:endParaRPr lang="en-GB"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22E764C4-13E7-50A9-9CF2-CEA26F1620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53C3B27-E45C-8241-AFCA-E7876AE99E36}" type="slidenum">
              <a:rPr lang="en-GB" altLang="en-US"/>
              <a:pPr>
                <a:spcBef>
                  <a:spcPct val="0"/>
                </a:spcBef>
              </a:pPr>
              <a:t>47</a:t>
            </a:fld>
            <a:endParaRPr lang="en-GB" altLang="en-US"/>
          </a:p>
        </p:txBody>
      </p:sp>
      <p:sp>
        <p:nvSpPr>
          <p:cNvPr id="93187" name="Rectangle 2">
            <a:extLst>
              <a:ext uri="{FF2B5EF4-FFF2-40B4-BE49-F238E27FC236}">
                <a16:creationId xmlns:a16="http://schemas.microsoft.com/office/drawing/2014/main" id="{1E9ED78E-AE2C-EA11-7F5C-B5D9BA6FEA35}"/>
              </a:ext>
            </a:extLst>
          </p:cNvPr>
          <p:cNvSpPr>
            <a:spLocks noRot="1" noChangeArrowheads="1" noTextEdit="1"/>
          </p:cNvSpPr>
          <p:nvPr>
            <p:ph type="sldImg"/>
          </p:nvPr>
        </p:nvSpPr>
        <p:spPr>
          <a:ln/>
        </p:spPr>
      </p:sp>
      <p:sp>
        <p:nvSpPr>
          <p:cNvPr id="93188" name="Rectangle 3">
            <a:extLst>
              <a:ext uri="{FF2B5EF4-FFF2-40B4-BE49-F238E27FC236}">
                <a16:creationId xmlns:a16="http://schemas.microsoft.com/office/drawing/2014/main" id="{8EC39DFF-49AB-26C5-A1AF-826B8266F1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3C44A6F6-16E5-420C-44B3-18A90C0EBF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9535EEE-3D71-AF47-B343-2FBDB6DC7A54}" type="slidenum">
              <a:rPr lang="en-GB" altLang="en-US"/>
              <a:pPr>
                <a:spcBef>
                  <a:spcPct val="0"/>
                </a:spcBef>
              </a:pPr>
              <a:t>48</a:t>
            </a:fld>
            <a:endParaRPr lang="en-GB" altLang="en-US"/>
          </a:p>
        </p:txBody>
      </p:sp>
      <p:sp>
        <p:nvSpPr>
          <p:cNvPr id="95235" name="Rectangle 2">
            <a:extLst>
              <a:ext uri="{FF2B5EF4-FFF2-40B4-BE49-F238E27FC236}">
                <a16:creationId xmlns:a16="http://schemas.microsoft.com/office/drawing/2014/main" id="{602E81B6-BC30-D72A-2A77-899AC0C000D1}"/>
              </a:ext>
            </a:extLst>
          </p:cNvPr>
          <p:cNvSpPr>
            <a:spLocks noRot="1" noChangeArrowheads="1" noTextEdit="1"/>
          </p:cNvSpPr>
          <p:nvPr>
            <p:ph type="sldImg"/>
          </p:nvPr>
        </p:nvSpPr>
        <p:spPr>
          <a:ln/>
        </p:spPr>
      </p:sp>
      <p:sp>
        <p:nvSpPr>
          <p:cNvPr id="95236" name="Rectangle 3">
            <a:extLst>
              <a:ext uri="{FF2B5EF4-FFF2-40B4-BE49-F238E27FC236}">
                <a16:creationId xmlns:a16="http://schemas.microsoft.com/office/drawing/2014/main" id="{F96FC01F-DBF9-ED23-D30A-33C61883FC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In E.coli, the coordinate action of these polymerases is facilitated by physically linking them together in a large multiprotein complex called DNA Pol III holoenzyme</a:t>
            </a:r>
          </a:p>
          <a:p>
            <a:pPr eaLnBrk="1" hangingPunct="1"/>
            <a:r>
              <a:rPr lang="en-US" altLang="en-US" dirty="0">
                <a:latin typeface="Arial" panose="020B0604020202020204" pitchFamily="34" charset="0"/>
                <a:cs typeface="Arial" panose="020B0604020202020204" pitchFamily="34" charset="0"/>
              </a:rPr>
              <a:t>Holoenzyme is a general name for multiprotein complex in which the core enzyme activity is associated with additional components that enhance function</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0F03B19B-9381-F2E6-FD93-549377B85E0C}"/>
              </a:ext>
            </a:extLst>
          </p:cNvPr>
          <p:cNvSpPr>
            <a:spLocks noGrp="1" noRot="1" noChangeAspect="1" noTextEdit="1"/>
          </p:cNvSpPr>
          <p:nvPr>
            <p:ph type="sldImg"/>
          </p:nvPr>
        </p:nvSpPr>
        <p:spPr>
          <a:ln/>
        </p:spPr>
      </p:sp>
      <p:sp>
        <p:nvSpPr>
          <p:cNvPr id="97283" name="Notes Placeholder 2">
            <a:extLst>
              <a:ext uri="{FF2B5EF4-FFF2-40B4-BE49-F238E27FC236}">
                <a16:creationId xmlns:a16="http://schemas.microsoft.com/office/drawing/2014/main" id="{43A33F3E-44E6-1A21-2001-EEE00759BC9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97284" name="Slide Number Placeholder 3">
            <a:extLst>
              <a:ext uri="{FF2B5EF4-FFF2-40B4-BE49-F238E27FC236}">
                <a16:creationId xmlns:a16="http://schemas.microsoft.com/office/drawing/2014/main" id="{AC0E1A25-AAA9-64D7-2CB6-AB52EBF81B7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D9B23EC-21C3-3447-B668-61D3194B65F8}" type="slidenum">
              <a:rPr lang="en-GB" altLang="en-US"/>
              <a:pPr>
                <a:spcBef>
                  <a:spcPct val="0"/>
                </a:spcBef>
              </a:pPr>
              <a:t>49</a:t>
            </a:fld>
            <a:endParaRPr lang="en-GB"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642041B3-DEB1-41F2-8F60-2337B11FE0F4}"/>
              </a:ext>
            </a:extLst>
          </p:cNvPr>
          <p:cNvSpPr>
            <a:spLocks noRot="1" noChangeArrowheads="1" noTextEdit="1"/>
          </p:cNvSpPr>
          <p:nvPr>
            <p:ph type="sldImg"/>
          </p:nvPr>
        </p:nvSpPr>
        <p:spPr>
          <a:ln/>
        </p:spPr>
      </p:sp>
      <p:sp>
        <p:nvSpPr>
          <p:cNvPr id="99331" name="Rectangle 3">
            <a:extLst>
              <a:ext uri="{FF2B5EF4-FFF2-40B4-BE49-F238E27FC236}">
                <a16:creationId xmlns:a16="http://schemas.microsoft.com/office/drawing/2014/main" id="{A5526848-D306-F603-68D2-172136775B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Changing size of the ssDNA loop formed between the DNA polymerase and the DNA helicase on the lagging-strand template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4B6F4375-ED9B-C711-0832-3A8A0D72FF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791B879-7F8D-724F-A88E-BF27A5B99687}" type="slidenum">
              <a:rPr lang="en-GB" altLang="en-US"/>
              <a:pPr>
                <a:spcBef>
                  <a:spcPct val="0"/>
                </a:spcBef>
              </a:pPr>
              <a:t>51</a:t>
            </a:fld>
            <a:endParaRPr lang="en-GB" altLang="en-US"/>
          </a:p>
        </p:txBody>
      </p:sp>
      <p:sp>
        <p:nvSpPr>
          <p:cNvPr id="101379" name="Rectangle 2">
            <a:extLst>
              <a:ext uri="{FF2B5EF4-FFF2-40B4-BE49-F238E27FC236}">
                <a16:creationId xmlns:a16="http://schemas.microsoft.com/office/drawing/2014/main" id="{0B866FA6-9B82-97F7-3406-7012080442FD}"/>
              </a:ext>
            </a:extLst>
          </p:cNvPr>
          <p:cNvSpPr>
            <a:spLocks noRot="1" noChangeArrowheads="1" noTextEdit="1"/>
          </p:cNvSpPr>
          <p:nvPr>
            <p:ph type="sldImg"/>
          </p:nvPr>
        </p:nvSpPr>
        <p:spPr>
          <a:ln/>
        </p:spPr>
      </p:sp>
      <p:sp>
        <p:nvSpPr>
          <p:cNvPr id="101380" name="Rectangle 3">
            <a:extLst>
              <a:ext uri="{FF2B5EF4-FFF2-40B4-BE49-F238E27FC236}">
                <a16:creationId xmlns:a16="http://schemas.microsoft.com/office/drawing/2014/main" id="{560BE7C9-0DD1-BABF-1126-79CB6E940B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As the helicase unwinds the DNA at the replication fork, the leading strand template is exposed and acted on immediately by the leading strand DNA polymerase, which synthesizes a continuous strand of complementary DNA.</a:t>
            </a:r>
          </a:p>
          <a:p>
            <a:pPr eaLnBrk="1" hangingPunct="1"/>
            <a:r>
              <a:rPr lang="en-US" altLang="en-US">
                <a:latin typeface="Arial" panose="020B0604020202020204" pitchFamily="34" charset="0"/>
                <a:cs typeface="Arial" panose="020B0604020202020204" pitchFamily="34" charset="0"/>
              </a:rPr>
              <a:t>In contrast, the lagging strand template is not immediately acted on by DNA polymerase. Instead, it is spooled out as ssDNA that is rapidly bound by SSB.</a:t>
            </a:r>
          </a:p>
          <a:p>
            <a:pPr eaLnBrk="1" hangingPunct="1"/>
            <a:r>
              <a:rPr lang="en-US" altLang="en-US">
                <a:latin typeface="Arial" panose="020B0604020202020204" pitchFamily="34" charset="0"/>
                <a:cs typeface="Arial" panose="020B0604020202020204" pitchFamily="34" charset="0"/>
              </a:rPr>
              <a:t>Intermittently, primase interacts with the helicase and is activated to synthesize a new RNA primer on the lagging strand template. </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D8CC2CC0-4ACB-39AE-F2B4-8D197CB344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21F40B5-F6D9-D141-9636-644D734A5336}" type="slidenum">
              <a:rPr lang="en-GB" altLang="en-US"/>
              <a:pPr>
                <a:spcBef>
                  <a:spcPct val="0"/>
                </a:spcBef>
              </a:pPr>
              <a:t>52</a:t>
            </a:fld>
            <a:endParaRPr lang="en-GB" altLang="en-US"/>
          </a:p>
        </p:txBody>
      </p:sp>
      <p:sp>
        <p:nvSpPr>
          <p:cNvPr id="103427" name="Rectangle 2">
            <a:extLst>
              <a:ext uri="{FF2B5EF4-FFF2-40B4-BE49-F238E27FC236}">
                <a16:creationId xmlns:a16="http://schemas.microsoft.com/office/drawing/2014/main" id="{6F93E468-ABCF-EC48-DC1E-0EFAEDE0FEB1}"/>
              </a:ext>
            </a:extLst>
          </p:cNvPr>
          <p:cNvSpPr>
            <a:spLocks noRot="1" noChangeArrowheads="1" noTextEdit="1"/>
          </p:cNvSpPr>
          <p:nvPr>
            <p:ph type="sldImg"/>
          </p:nvPr>
        </p:nvSpPr>
        <p:spPr>
          <a:ln/>
        </p:spPr>
      </p:sp>
      <p:sp>
        <p:nvSpPr>
          <p:cNvPr id="103428" name="Rectangle 3">
            <a:extLst>
              <a:ext uri="{FF2B5EF4-FFF2-40B4-BE49-F238E27FC236}">
                <a16:creationId xmlns:a16="http://schemas.microsoft.com/office/drawing/2014/main" id="{4A98236C-A9B7-7941-184E-7274DF4732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a:extLst>
              <a:ext uri="{FF2B5EF4-FFF2-40B4-BE49-F238E27FC236}">
                <a16:creationId xmlns:a16="http://schemas.microsoft.com/office/drawing/2014/main" id="{307FC707-0EBF-091B-9125-F76F32B39ABE}"/>
              </a:ext>
            </a:extLst>
          </p:cNvPr>
          <p:cNvSpPr>
            <a:spLocks noGrp="1" noRot="1" noChangeAspect="1" noTextEdit="1"/>
          </p:cNvSpPr>
          <p:nvPr>
            <p:ph type="sldImg"/>
          </p:nvPr>
        </p:nvSpPr>
        <p:spPr>
          <a:ln/>
        </p:spPr>
      </p:sp>
      <p:sp>
        <p:nvSpPr>
          <p:cNvPr id="105475" name="Notes Placeholder 2">
            <a:extLst>
              <a:ext uri="{FF2B5EF4-FFF2-40B4-BE49-F238E27FC236}">
                <a16:creationId xmlns:a16="http://schemas.microsoft.com/office/drawing/2014/main" id="{35DE78E8-3BC0-C6F9-7CC1-31E87F2BC75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05476" name="Slide Number Placeholder 3">
            <a:extLst>
              <a:ext uri="{FF2B5EF4-FFF2-40B4-BE49-F238E27FC236}">
                <a16:creationId xmlns:a16="http://schemas.microsoft.com/office/drawing/2014/main" id="{DC285DC5-D4CF-94F7-746E-BE0B8A4E1A8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0C87725-3E15-8243-B718-C3EA527606D6}" type="slidenum">
              <a:rPr lang="en-GB" altLang="en-US"/>
              <a:pPr>
                <a:spcBef>
                  <a:spcPct val="0"/>
                </a:spcBef>
              </a:pPr>
              <a:t>53</a:t>
            </a:fld>
            <a:endParaRPr lang="en-GB"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a:extLst>
              <a:ext uri="{FF2B5EF4-FFF2-40B4-BE49-F238E27FC236}">
                <a16:creationId xmlns:a16="http://schemas.microsoft.com/office/drawing/2014/main" id="{943921D1-2910-C325-A2F5-4035E35132B7}"/>
              </a:ext>
            </a:extLst>
          </p:cNvPr>
          <p:cNvSpPr>
            <a:spLocks noGrp="1" noRot="1" noChangeAspect="1" noTextEdit="1"/>
          </p:cNvSpPr>
          <p:nvPr>
            <p:ph type="sldImg"/>
          </p:nvPr>
        </p:nvSpPr>
        <p:spPr>
          <a:ln/>
        </p:spPr>
      </p:sp>
      <p:sp>
        <p:nvSpPr>
          <p:cNvPr id="107523" name="Notes Placeholder 2">
            <a:extLst>
              <a:ext uri="{FF2B5EF4-FFF2-40B4-BE49-F238E27FC236}">
                <a16:creationId xmlns:a16="http://schemas.microsoft.com/office/drawing/2014/main" id="{21AC4B70-F544-D4D9-258C-A3F7DF0541B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07524" name="Slide Number Placeholder 3">
            <a:extLst>
              <a:ext uri="{FF2B5EF4-FFF2-40B4-BE49-F238E27FC236}">
                <a16:creationId xmlns:a16="http://schemas.microsoft.com/office/drawing/2014/main" id="{45EC2BE0-B6DE-60DF-FB25-0814413D328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3622E4D-4574-914D-BF2D-D0D575E3B41B}" type="slidenum">
              <a:rPr lang="en-GB" altLang="en-US"/>
              <a:pPr>
                <a:spcBef>
                  <a:spcPct val="0"/>
                </a:spcBef>
              </a:pPr>
              <a:t>54</a:t>
            </a:fld>
            <a:endParaRPr lang="en-GB"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a:extLst>
              <a:ext uri="{FF2B5EF4-FFF2-40B4-BE49-F238E27FC236}">
                <a16:creationId xmlns:a16="http://schemas.microsoft.com/office/drawing/2014/main" id="{E8C6BA78-53BF-46B1-837C-41920231802B}"/>
              </a:ext>
            </a:extLst>
          </p:cNvPr>
          <p:cNvSpPr>
            <a:spLocks noGrp="1" noRot="1" noChangeAspect="1" noTextEdit="1"/>
          </p:cNvSpPr>
          <p:nvPr>
            <p:ph type="sldImg"/>
          </p:nvPr>
        </p:nvSpPr>
        <p:spPr>
          <a:ln/>
        </p:spPr>
      </p:sp>
      <p:sp>
        <p:nvSpPr>
          <p:cNvPr id="109571" name="Notes Placeholder 2">
            <a:extLst>
              <a:ext uri="{FF2B5EF4-FFF2-40B4-BE49-F238E27FC236}">
                <a16:creationId xmlns:a16="http://schemas.microsoft.com/office/drawing/2014/main" id="{43F5EB60-81A8-B0EA-31C9-C62664AF826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09572" name="Slide Number Placeholder 3">
            <a:extLst>
              <a:ext uri="{FF2B5EF4-FFF2-40B4-BE49-F238E27FC236}">
                <a16:creationId xmlns:a16="http://schemas.microsoft.com/office/drawing/2014/main" id="{E6C3A171-558E-11D5-3EBA-9A08AC20D41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AACBBAC-3032-1347-BE2A-8A51EC81FF9F}" type="slidenum">
              <a:rPr lang="en-GB" altLang="en-US"/>
              <a:pPr>
                <a:spcBef>
                  <a:spcPct val="0"/>
                </a:spcBef>
              </a:pPr>
              <a:t>55</a:t>
            </a:fld>
            <a:endParaRPr lang="en-GB"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D4A2D508-D707-2726-06A0-1634BE58032C}"/>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BD521468-4004-3646-8C1E-32E6061F1339}" type="slidenum">
              <a:rPr lang="en-US" altLang="en-US">
                <a:latin typeface="Times" charset="0"/>
                <a:ea typeface="ＭＳ Ｐゴシック" panose="020B0600070205080204" pitchFamily="34" charset="-128"/>
              </a:rPr>
              <a:pPr algn="r" eaLnBrk="1" hangingPunct="1">
                <a:spcBef>
                  <a:spcPct val="0"/>
                </a:spcBef>
              </a:pPr>
              <a:t>56</a:t>
            </a:fld>
            <a:endParaRPr lang="en-US" altLang="en-US">
              <a:latin typeface="Times" charset="0"/>
              <a:ea typeface="ＭＳ Ｐゴシック" panose="020B0600070205080204" pitchFamily="34" charset="-128"/>
            </a:endParaRPr>
          </a:p>
        </p:txBody>
      </p:sp>
      <p:sp>
        <p:nvSpPr>
          <p:cNvPr id="111619" name="Rectangle 2">
            <a:extLst>
              <a:ext uri="{FF2B5EF4-FFF2-40B4-BE49-F238E27FC236}">
                <a16:creationId xmlns:a16="http://schemas.microsoft.com/office/drawing/2014/main" id="{EDA65DAC-5432-4FBE-F1FA-1A2AD90DD5FD}"/>
              </a:ext>
            </a:extLst>
          </p:cNvPr>
          <p:cNvSpPr>
            <a:spLocks noChangeArrowheads="1" noTextEdit="1"/>
          </p:cNvSpPr>
          <p:nvPr>
            <p:ph type="sldImg"/>
          </p:nvPr>
        </p:nvSpPr>
        <p:spPr>
          <a:ln/>
        </p:spPr>
      </p:sp>
      <p:sp>
        <p:nvSpPr>
          <p:cNvPr id="111620" name="Rectangle 3">
            <a:extLst>
              <a:ext uri="{FF2B5EF4-FFF2-40B4-BE49-F238E27FC236}">
                <a16:creationId xmlns:a16="http://schemas.microsoft.com/office/drawing/2014/main" id="{7FC7FC26-3C1E-16FA-61CC-E586F7C450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ea typeface="ＭＳ Ｐゴシック" panose="020B0600070205080204" pitchFamily="34" charset="-128"/>
                <a:cs typeface="Arial" panose="020B0604020202020204" pitchFamily="34" charset="0"/>
              </a:rPr>
              <a:t>Figure 9-23</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a:extLst>
              <a:ext uri="{FF2B5EF4-FFF2-40B4-BE49-F238E27FC236}">
                <a16:creationId xmlns:a16="http://schemas.microsoft.com/office/drawing/2014/main" id="{45876138-1DFD-BE12-8182-B0586E9AF392}"/>
              </a:ext>
            </a:extLst>
          </p:cNvPr>
          <p:cNvSpPr>
            <a:spLocks noGrp="1" noRot="1" noChangeAspect="1" noTextEdit="1"/>
          </p:cNvSpPr>
          <p:nvPr>
            <p:ph type="sldImg"/>
          </p:nvPr>
        </p:nvSpPr>
        <p:spPr>
          <a:ln/>
        </p:spPr>
      </p:sp>
      <p:sp>
        <p:nvSpPr>
          <p:cNvPr id="113667" name="Notes Placeholder 2">
            <a:extLst>
              <a:ext uri="{FF2B5EF4-FFF2-40B4-BE49-F238E27FC236}">
                <a16:creationId xmlns:a16="http://schemas.microsoft.com/office/drawing/2014/main" id="{9D8256DD-3552-9456-C319-677F7F6AD6E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13668" name="Slide Number Placeholder 3">
            <a:extLst>
              <a:ext uri="{FF2B5EF4-FFF2-40B4-BE49-F238E27FC236}">
                <a16:creationId xmlns:a16="http://schemas.microsoft.com/office/drawing/2014/main" id="{BEF96829-051F-4A07-8520-B16DFC335CA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D077BB2-3B45-8346-884D-41110976A034}" type="slidenum">
              <a:rPr lang="en-GB" altLang="en-US"/>
              <a:pPr>
                <a:spcBef>
                  <a:spcPct val="0"/>
                </a:spcBef>
              </a:pPr>
              <a:t>57</a:t>
            </a:fld>
            <a:endParaRPr lang="en-GB"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46CF4275-A482-A006-F0FF-963128BD39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E19B533-D615-6C44-9D0E-33BBCED5EB81}" type="slidenum">
              <a:rPr lang="en-GB" altLang="en-US"/>
              <a:pPr>
                <a:spcBef>
                  <a:spcPct val="0"/>
                </a:spcBef>
              </a:pPr>
              <a:t>58</a:t>
            </a:fld>
            <a:endParaRPr lang="en-GB" altLang="en-US"/>
          </a:p>
        </p:txBody>
      </p:sp>
      <p:sp>
        <p:nvSpPr>
          <p:cNvPr id="115715" name="Rectangle 2">
            <a:extLst>
              <a:ext uri="{FF2B5EF4-FFF2-40B4-BE49-F238E27FC236}">
                <a16:creationId xmlns:a16="http://schemas.microsoft.com/office/drawing/2014/main" id="{E4E72483-519E-2471-B6C8-8AEEC8C6E7A9}"/>
              </a:ext>
            </a:extLst>
          </p:cNvPr>
          <p:cNvSpPr>
            <a:spLocks noRot="1" noChangeArrowheads="1" noTextEdit="1"/>
          </p:cNvSpPr>
          <p:nvPr>
            <p:ph type="sldImg"/>
          </p:nvPr>
        </p:nvSpPr>
        <p:spPr>
          <a:ln/>
        </p:spPr>
      </p:sp>
      <p:sp>
        <p:nvSpPr>
          <p:cNvPr id="115716" name="Rectangle 3">
            <a:extLst>
              <a:ext uri="{FF2B5EF4-FFF2-40B4-BE49-F238E27FC236}">
                <a16:creationId xmlns:a16="http://schemas.microsoft.com/office/drawing/2014/main" id="{C10C35DF-530B-EF54-818A-87D27ACB7D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When tau interacts with both helicase and polymerase, the helicase unwinds the DNA at approximately the same rate as the DNA polymerase replicates the DNA</a:t>
            </a:r>
          </a:p>
          <a:p>
            <a:pPr eaLnBrk="1" hangingPunct="1"/>
            <a:r>
              <a:rPr lang="en-US" altLang="en-US">
                <a:latin typeface="Arial" panose="020B0604020202020204" pitchFamily="34" charset="0"/>
                <a:cs typeface="Arial" panose="020B0604020202020204" pitchFamily="34" charset="0"/>
              </a:rPr>
              <a:t>If te hhelicase is not associated with Pol III , DNA unwinding slows by 10 fold</a:t>
            </a:r>
          </a:p>
          <a:p>
            <a:pPr eaLnBrk="1" hangingPunct="1"/>
            <a:r>
              <a:rPr lang="en-US" altLang="en-US">
                <a:latin typeface="Arial" panose="020B0604020202020204" pitchFamily="34" charset="0"/>
                <a:cs typeface="Arial" panose="020B0604020202020204" pitchFamily="34" charset="0"/>
              </a:rPr>
              <a:t> </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4E9C7DBB-1EA1-F28D-00CD-47A6D1971F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F37FEA0-49EB-E24C-8185-23B16956773F}" type="slidenum">
              <a:rPr lang="en-GB" altLang="en-US"/>
              <a:pPr>
                <a:spcBef>
                  <a:spcPct val="0"/>
                </a:spcBef>
              </a:pPr>
              <a:t>59</a:t>
            </a:fld>
            <a:endParaRPr lang="en-GB" altLang="en-US"/>
          </a:p>
        </p:txBody>
      </p:sp>
      <p:sp>
        <p:nvSpPr>
          <p:cNvPr id="117763" name="Rectangle 2">
            <a:extLst>
              <a:ext uri="{FF2B5EF4-FFF2-40B4-BE49-F238E27FC236}">
                <a16:creationId xmlns:a16="http://schemas.microsoft.com/office/drawing/2014/main" id="{66D52B8F-4485-A7BB-B469-DE7076D50208}"/>
              </a:ext>
            </a:extLst>
          </p:cNvPr>
          <p:cNvSpPr>
            <a:spLocks noRot="1" noChangeArrowheads="1" noTextEdit="1"/>
          </p:cNvSpPr>
          <p:nvPr>
            <p:ph type="sldImg"/>
          </p:nvPr>
        </p:nvSpPr>
        <p:spPr>
          <a:ln/>
        </p:spPr>
      </p:sp>
      <p:sp>
        <p:nvSpPr>
          <p:cNvPr id="117764" name="Rectangle 3">
            <a:extLst>
              <a:ext uri="{FF2B5EF4-FFF2-40B4-BE49-F238E27FC236}">
                <a16:creationId xmlns:a16="http://schemas.microsoft.com/office/drawing/2014/main" id="{1E9840D1-69DD-C017-1CFA-8EF312D4B4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D121C51F-7748-27D9-31E5-4918F78191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00923D4-E384-DD4A-8B28-3D405672F330}" type="slidenum">
              <a:rPr lang="en-GB" altLang="en-US"/>
              <a:pPr>
                <a:spcBef>
                  <a:spcPct val="0"/>
                </a:spcBef>
              </a:pPr>
              <a:t>60</a:t>
            </a:fld>
            <a:endParaRPr lang="en-GB" altLang="en-US"/>
          </a:p>
        </p:txBody>
      </p:sp>
      <p:sp>
        <p:nvSpPr>
          <p:cNvPr id="119811" name="Rectangle 2">
            <a:extLst>
              <a:ext uri="{FF2B5EF4-FFF2-40B4-BE49-F238E27FC236}">
                <a16:creationId xmlns:a16="http://schemas.microsoft.com/office/drawing/2014/main" id="{90A19902-85A5-7630-4F78-F15310FD0617}"/>
              </a:ext>
            </a:extLst>
          </p:cNvPr>
          <p:cNvSpPr>
            <a:spLocks noRot="1" noChangeArrowheads="1" noTextEdit="1"/>
          </p:cNvSpPr>
          <p:nvPr>
            <p:ph type="sldImg"/>
          </p:nvPr>
        </p:nvSpPr>
        <p:spPr>
          <a:ln/>
        </p:spPr>
      </p:sp>
      <p:sp>
        <p:nvSpPr>
          <p:cNvPr id="119812" name="Rectangle 3">
            <a:extLst>
              <a:ext uri="{FF2B5EF4-FFF2-40B4-BE49-F238E27FC236}">
                <a16:creationId xmlns:a16="http://schemas.microsoft.com/office/drawing/2014/main" id="{893A1EDC-C9C2-73D3-9C04-3D35298F7A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88A286E0-2A46-DAE8-B00C-439DA54B53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AF7F686-796B-524E-B93A-50568E5F1F7A}" type="slidenum">
              <a:rPr lang="en-GB" altLang="en-US"/>
              <a:pPr>
                <a:spcBef>
                  <a:spcPct val="0"/>
                </a:spcBef>
              </a:pPr>
              <a:t>61</a:t>
            </a:fld>
            <a:endParaRPr lang="en-GB" altLang="en-US"/>
          </a:p>
        </p:txBody>
      </p:sp>
      <p:sp>
        <p:nvSpPr>
          <p:cNvPr id="121859" name="Rectangle 2">
            <a:extLst>
              <a:ext uri="{FF2B5EF4-FFF2-40B4-BE49-F238E27FC236}">
                <a16:creationId xmlns:a16="http://schemas.microsoft.com/office/drawing/2014/main" id="{ACFBC075-5174-0591-5C06-ABFE69794979}"/>
              </a:ext>
            </a:extLst>
          </p:cNvPr>
          <p:cNvSpPr>
            <a:spLocks noRot="1" noChangeArrowheads="1" noTextEdit="1"/>
          </p:cNvSpPr>
          <p:nvPr>
            <p:ph type="sldImg"/>
          </p:nvPr>
        </p:nvSpPr>
        <p:spPr>
          <a:ln/>
        </p:spPr>
      </p:sp>
      <p:sp>
        <p:nvSpPr>
          <p:cNvPr id="121860" name="Rectangle 3">
            <a:extLst>
              <a:ext uri="{FF2B5EF4-FFF2-40B4-BE49-F238E27FC236}">
                <a16:creationId xmlns:a16="http://schemas.microsoft.com/office/drawing/2014/main" id="{F0E888F2-BC33-485C-A2F0-F58F1B3554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9C1F050E-B6C8-C7CC-8E3E-567345C4C5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C3A1B48-B974-484F-A446-43AE711DF34B}" type="slidenum">
              <a:rPr lang="en-GB" altLang="en-US"/>
              <a:pPr>
                <a:spcBef>
                  <a:spcPct val="0"/>
                </a:spcBef>
              </a:pPr>
              <a:t>62</a:t>
            </a:fld>
            <a:endParaRPr lang="en-GB" altLang="en-US"/>
          </a:p>
        </p:txBody>
      </p:sp>
      <p:sp>
        <p:nvSpPr>
          <p:cNvPr id="123907" name="Rectangle 2">
            <a:extLst>
              <a:ext uri="{FF2B5EF4-FFF2-40B4-BE49-F238E27FC236}">
                <a16:creationId xmlns:a16="http://schemas.microsoft.com/office/drawing/2014/main" id="{7DB5D889-B539-92A9-8C33-F6874B2A0981}"/>
              </a:ext>
            </a:extLst>
          </p:cNvPr>
          <p:cNvSpPr>
            <a:spLocks noRot="1" noChangeArrowheads="1" noTextEdit="1"/>
          </p:cNvSpPr>
          <p:nvPr>
            <p:ph type="sldImg"/>
          </p:nvPr>
        </p:nvSpPr>
        <p:spPr>
          <a:ln/>
        </p:spPr>
      </p:sp>
      <p:sp>
        <p:nvSpPr>
          <p:cNvPr id="123908" name="Rectangle 3">
            <a:extLst>
              <a:ext uri="{FF2B5EF4-FFF2-40B4-BE49-F238E27FC236}">
                <a16:creationId xmlns:a16="http://schemas.microsoft.com/office/drawing/2014/main" id="{DF11BFCC-ED12-6DFD-148C-2570DFA705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12C0BFBE-521D-AB44-C685-D245D7879F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6D58130-45A5-3140-8C50-99649E3E297F}" type="slidenum">
              <a:rPr lang="en-GB" altLang="en-US"/>
              <a:pPr>
                <a:spcBef>
                  <a:spcPct val="0"/>
                </a:spcBef>
              </a:pPr>
              <a:t>63</a:t>
            </a:fld>
            <a:endParaRPr lang="en-GB" altLang="en-US"/>
          </a:p>
        </p:txBody>
      </p:sp>
      <p:sp>
        <p:nvSpPr>
          <p:cNvPr id="125955" name="Rectangle 2">
            <a:extLst>
              <a:ext uri="{FF2B5EF4-FFF2-40B4-BE49-F238E27FC236}">
                <a16:creationId xmlns:a16="http://schemas.microsoft.com/office/drawing/2014/main" id="{893AB42F-C1C4-C9C0-2FA8-BF5859098CE8}"/>
              </a:ext>
            </a:extLst>
          </p:cNvPr>
          <p:cNvSpPr>
            <a:spLocks noRot="1" noChangeArrowheads="1" noTextEdit="1"/>
          </p:cNvSpPr>
          <p:nvPr>
            <p:ph type="sldImg"/>
          </p:nvPr>
        </p:nvSpPr>
        <p:spPr>
          <a:ln/>
        </p:spPr>
      </p:sp>
      <p:sp>
        <p:nvSpPr>
          <p:cNvPr id="125956" name="Rectangle 3">
            <a:extLst>
              <a:ext uri="{FF2B5EF4-FFF2-40B4-BE49-F238E27FC236}">
                <a16:creationId xmlns:a16="http://schemas.microsoft.com/office/drawing/2014/main" id="{06426733-7A9A-925B-162F-6DDB99C94D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DnaA binds the repeated 9-mer elements in oriC and is regulated by ATP. It also interacts with DNA in the region of the repeated 13-mer repeats of oriC</a:t>
            </a:r>
          </a:p>
          <a:p>
            <a:pPr eaLnBrk="1" hangingPunct="1"/>
            <a:r>
              <a:rPr lang="en-US" altLang="en-US">
                <a:latin typeface="Arial" panose="020B0604020202020204" pitchFamily="34" charset="0"/>
                <a:cs typeface="Arial" panose="020B0604020202020204" pitchFamily="34" charset="0"/>
              </a:rPr>
              <a:t>These additional interactions result in the separation of the DNA strands over &gt;20 bp within the 13-mer repeat region. This ssDNA provides a template for other proteins </a:t>
            </a:r>
          </a:p>
          <a:p>
            <a:pPr eaLnBrk="1" hangingPunct="1"/>
            <a:r>
              <a:rPr lang="en-US" altLang="en-US">
                <a:latin typeface="Arial" panose="020B0604020202020204" pitchFamily="34" charset="0"/>
                <a:cs typeface="Arial" panose="020B0604020202020204" pitchFamily="34" charset="0"/>
              </a:rPr>
              <a:t>to begin the RNA and DNA synthesis steps of replication</a:t>
            </a:r>
          </a:p>
          <a:p>
            <a:pPr eaLnBrk="1" hangingPunct="1"/>
            <a:r>
              <a:rPr lang="en-US" altLang="en-US">
                <a:latin typeface="Arial" panose="020B0604020202020204" pitchFamily="34" charset="0"/>
                <a:cs typeface="Arial" panose="020B0604020202020204" pitchFamily="34" charset="0"/>
              </a:rPr>
              <a:t>However, the formation of ssDNA is NOT sufficient for the DNA helicase and other proteins to assemble. DnaA recruits other proteins to the ssDNA including the helicase</a:t>
            </a:r>
          </a:p>
          <a:p>
            <a:pPr eaLnBrk="1" hangingPunct="1"/>
            <a:endParaRPr lang="en-US" altLang="en-US">
              <a:latin typeface="Arial" panose="020B0604020202020204" pitchFamily="34" charset="0"/>
              <a:cs typeface="Arial" panose="020B0604020202020204" pitchFamily="34" charset="0"/>
            </a:endParaRPr>
          </a:p>
          <a:p>
            <a:pPr eaLnBrk="1" hangingPunct="1"/>
            <a:r>
              <a:rPr lang="en-US" altLang="en-US">
                <a:latin typeface="Arial" panose="020B0604020202020204" pitchFamily="34" charset="0"/>
                <a:cs typeface="Arial" panose="020B0604020202020204" pitchFamily="34" charset="0"/>
              </a:rPr>
              <a:t>Like DnaA, ORC binds and hydrolyze ATP (required for sequence-specific DNA binding at the origin and loading of DNA helicase onto the replicator</a:t>
            </a:r>
          </a:p>
          <a:p>
            <a:pPr eaLnBrk="1" hangingPunct="1"/>
            <a:r>
              <a:rPr lang="en-US" altLang="en-US">
                <a:latin typeface="Arial" panose="020B0604020202020204" pitchFamily="34" charset="0"/>
                <a:cs typeface="Arial" panose="020B0604020202020204" pitchFamily="34" charset="0"/>
              </a:rPr>
              <a:t>Unlike DnaA, ORC does not lead to strand separation of the adjacent DNA.</a:t>
            </a:r>
          </a:p>
          <a:p>
            <a:pPr eaLnBrk="1" hangingPunct="1"/>
            <a:r>
              <a:rPr lang="en-US" altLang="en-US">
                <a:latin typeface="Arial" panose="020B0604020202020204" pitchFamily="34" charset="0"/>
                <a:cs typeface="Arial" panose="020B0604020202020204" pitchFamily="34" charset="0"/>
              </a:rPr>
              <a:t>It is required to recruit all of the remaining replication proteins  to the replicator</a:t>
            </a:r>
          </a:p>
          <a:p>
            <a:pPr eaLnBrk="1" hangingPunct="1"/>
            <a:r>
              <a:rPr lang="en-US" altLang="en-US">
                <a:latin typeface="Arial" panose="020B0604020202020204" pitchFamily="34" charset="0"/>
                <a:cs typeface="Arial" panose="020B0604020202020204" pitchFamily="34" charset="0"/>
              </a:rPr>
              <a:t>  </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87D3BCFD-DE5F-3994-A0F7-2244A62B4E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D720C7A-C5C7-CC4B-B2F7-9734048D4D3A}" type="slidenum">
              <a:rPr lang="en-GB" altLang="en-US"/>
              <a:pPr>
                <a:spcBef>
                  <a:spcPct val="0"/>
                </a:spcBef>
              </a:pPr>
              <a:t>64</a:t>
            </a:fld>
            <a:endParaRPr lang="en-GB" altLang="en-US"/>
          </a:p>
        </p:txBody>
      </p:sp>
      <p:sp>
        <p:nvSpPr>
          <p:cNvPr id="128003" name="Rectangle 2">
            <a:extLst>
              <a:ext uri="{FF2B5EF4-FFF2-40B4-BE49-F238E27FC236}">
                <a16:creationId xmlns:a16="http://schemas.microsoft.com/office/drawing/2014/main" id="{8C110517-A0EB-C302-EAC7-497126A420CE}"/>
              </a:ext>
            </a:extLst>
          </p:cNvPr>
          <p:cNvSpPr>
            <a:spLocks noRot="1" noChangeArrowheads="1" noTextEdit="1"/>
          </p:cNvSpPr>
          <p:nvPr>
            <p:ph type="sldImg"/>
          </p:nvPr>
        </p:nvSpPr>
        <p:spPr>
          <a:ln/>
        </p:spPr>
      </p:sp>
      <p:sp>
        <p:nvSpPr>
          <p:cNvPr id="128004" name="Rectangle 3">
            <a:extLst>
              <a:ext uri="{FF2B5EF4-FFF2-40B4-BE49-F238E27FC236}">
                <a16:creationId xmlns:a16="http://schemas.microsoft.com/office/drawing/2014/main" id="{6D93645A-6092-B6BB-0106-958BBA00FB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Helicase loader load helicase using ATP hydrolysis, it opens helicase, then helicase </a:t>
            </a:r>
            <a:r>
              <a:rPr lang="en-US" altLang="en-US" dirty="0" err="1">
                <a:latin typeface="Arial" panose="020B0604020202020204" pitchFamily="34" charset="0"/>
                <a:cs typeface="Arial" panose="020B0604020202020204" pitchFamily="34" charset="0"/>
              </a:rPr>
              <a:t>loader.ADP</a:t>
            </a:r>
            <a:r>
              <a:rPr lang="en-US" altLang="en-US" dirty="0">
                <a:latin typeface="Arial" panose="020B0604020202020204" pitchFamily="34" charset="0"/>
                <a:cs typeface="Arial" panose="020B0604020202020204" pitchFamily="34" charset="0"/>
              </a:rPr>
              <a:t> which will be released from helicase and leave helicase behind</a:t>
            </a:r>
          </a:p>
          <a:p>
            <a:pPr eaLnBrk="1" hangingPunct="1"/>
            <a:r>
              <a:rPr lang="en-US" altLang="en-US" dirty="0">
                <a:latin typeface="Arial" panose="020B0604020202020204" pitchFamily="34" charset="0"/>
                <a:cs typeface="Arial" panose="020B0604020202020204" pitchFamily="34" charset="0"/>
              </a:rPr>
              <a:t>Helicase move in 5` to 3` direction, so each helicase will move in the opposite direction</a:t>
            </a:r>
            <a:endParaRPr lang="en-GB"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0E524F3D-3083-CEE4-FCA0-F409B083B6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8FE545F-8F39-E443-B57B-7E4162B00BCF}" type="slidenum">
              <a:rPr lang="en-GB" altLang="en-US"/>
              <a:pPr>
                <a:spcBef>
                  <a:spcPct val="0"/>
                </a:spcBef>
              </a:pPr>
              <a:t>65</a:t>
            </a:fld>
            <a:endParaRPr lang="en-GB" altLang="en-US"/>
          </a:p>
        </p:txBody>
      </p:sp>
      <p:sp>
        <p:nvSpPr>
          <p:cNvPr id="130051" name="Rectangle 2">
            <a:extLst>
              <a:ext uri="{FF2B5EF4-FFF2-40B4-BE49-F238E27FC236}">
                <a16:creationId xmlns:a16="http://schemas.microsoft.com/office/drawing/2014/main" id="{FF226BC7-6BF6-CE7E-CD84-5D5293E56BC0}"/>
              </a:ext>
            </a:extLst>
          </p:cNvPr>
          <p:cNvSpPr>
            <a:spLocks noRot="1" noChangeArrowheads="1" noTextEdit="1"/>
          </p:cNvSpPr>
          <p:nvPr>
            <p:ph type="sldImg"/>
          </p:nvPr>
        </p:nvSpPr>
        <p:spPr>
          <a:ln/>
        </p:spPr>
      </p:sp>
      <p:sp>
        <p:nvSpPr>
          <p:cNvPr id="130052" name="Rectangle 3">
            <a:extLst>
              <a:ext uri="{FF2B5EF4-FFF2-40B4-BE49-F238E27FC236}">
                <a16:creationId xmlns:a16="http://schemas.microsoft.com/office/drawing/2014/main" id="{7C5E2EA6-61DC-1604-6C38-C89EDFC0D7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Helicase is inactive when bound to helicase loader to prevent inappropriate unwinding of DNA, only activated when bound to DNA and become more active when it contact primase</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B9C62FFC-47B8-5563-B850-279EACC6EB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1546C7B-E439-C943-8A24-E82293EC0FBF}" type="slidenum">
              <a:rPr lang="en-GB" altLang="en-US"/>
              <a:pPr>
                <a:spcBef>
                  <a:spcPct val="0"/>
                </a:spcBef>
              </a:pPr>
              <a:t>66</a:t>
            </a:fld>
            <a:endParaRPr lang="en-GB" altLang="en-US"/>
          </a:p>
        </p:txBody>
      </p:sp>
      <p:sp>
        <p:nvSpPr>
          <p:cNvPr id="132099" name="Rectangle 2">
            <a:extLst>
              <a:ext uri="{FF2B5EF4-FFF2-40B4-BE49-F238E27FC236}">
                <a16:creationId xmlns:a16="http://schemas.microsoft.com/office/drawing/2014/main" id="{1E4D541B-DAE2-6385-9B3F-BE7025B9519C}"/>
              </a:ext>
            </a:extLst>
          </p:cNvPr>
          <p:cNvSpPr>
            <a:spLocks noRot="1" noChangeArrowheads="1" noTextEdit="1"/>
          </p:cNvSpPr>
          <p:nvPr>
            <p:ph type="sldImg"/>
          </p:nvPr>
        </p:nvSpPr>
        <p:spPr>
          <a:ln/>
        </p:spPr>
      </p:sp>
      <p:sp>
        <p:nvSpPr>
          <p:cNvPr id="132100" name="Rectangle 3">
            <a:extLst>
              <a:ext uri="{FF2B5EF4-FFF2-40B4-BE49-F238E27FC236}">
                <a16:creationId xmlns:a16="http://schemas.microsoft.com/office/drawing/2014/main" id="{2552530D-1692-144C-C6D3-4E09332868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F246A0A5-2739-E252-7039-CD9EF95BD5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02CA2D2-4877-F04C-84F8-69EE0A3D4374}" type="slidenum">
              <a:rPr lang="en-GB" altLang="en-US"/>
              <a:pPr>
                <a:spcBef>
                  <a:spcPct val="0"/>
                </a:spcBef>
              </a:pPr>
              <a:t>67</a:t>
            </a:fld>
            <a:endParaRPr lang="en-GB" altLang="en-US"/>
          </a:p>
        </p:txBody>
      </p:sp>
      <p:sp>
        <p:nvSpPr>
          <p:cNvPr id="134147" name="Rectangle 2">
            <a:extLst>
              <a:ext uri="{FF2B5EF4-FFF2-40B4-BE49-F238E27FC236}">
                <a16:creationId xmlns:a16="http://schemas.microsoft.com/office/drawing/2014/main" id="{7692B798-DA2D-84C2-1C32-20E8052960F0}"/>
              </a:ext>
            </a:extLst>
          </p:cNvPr>
          <p:cNvSpPr>
            <a:spLocks noRot="1" noChangeArrowheads="1" noTextEdit="1"/>
          </p:cNvSpPr>
          <p:nvPr>
            <p:ph type="sldImg"/>
          </p:nvPr>
        </p:nvSpPr>
        <p:spPr>
          <a:ln/>
        </p:spPr>
      </p:sp>
      <p:sp>
        <p:nvSpPr>
          <p:cNvPr id="134148" name="Rectangle 3">
            <a:extLst>
              <a:ext uri="{FF2B5EF4-FFF2-40B4-BE49-F238E27FC236}">
                <a16:creationId xmlns:a16="http://schemas.microsoft.com/office/drawing/2014/main" id="{55E52EB4-59DA-F380-6578-59063F3FC7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664C42C2-0AD7-D751-A7A9-EDA218A55C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1CE687A-7D41-0948-82D3-5C7D60117746}" type="slidenum">
              <a:rPr lang="en-GB" altLang="en-US"/>
              <a:pPr>
                <a:spcBef>
                  <a:spcPct val="0"/>
                </a:spcBef>
              </a:pPr>
              <a:t>68</a:t>
            </a:fld>
            <a:endParaRPr lang="en-GB" altLang="en-US"/>
          </a:p>
        </p:txBody>
      </p:sp>
      <p:sp>
        <p:nvSpPr>
          <p:cNvPr id="136195" name="Rectangle 2">
            <a:extLst>
              <a:ext uri="{FF2B5EF4-FFF2-40B4-BE49-F238E27FC236}">
                <a16:creationId xmlns:a16="http://schemas.microsoft.com/office/drawing/2014/main" id="{8137E2DD-E588-45C6-A235-78BDE646660E}"/>
              </a:ext>
            </a:extLst>
          </p:cNvPr>
          <p:cNvSpPr>
            <a:spLocks noRot="1" noChangeArrowheads="1" noTextEdit="1"/>
          </p:cNvSpPr>
          <p:nvPr>
            <p:ph type="sldImg"/>
          </p:nvPr>
        </p:nvSpPr>
        <p:spPr>
          <a:ln/>
        </p:spPr>
      </p:sp>
      <p:sp>
        <p:nvSpPr>
          <p:cNvPr id="136196" name="Rectangle 3">
            <a:extLst>
              <a:ext uri="{FF2B5EF4-FFF2-40B4-BE49-F238E27FC236}">
                <a16:creationId xmlns:a16="http://schemas.microsoft.com/office/drawing/2014/main" id="{B19E7135-CCFC-AE5A-EBC7-1F9CAA7CCA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13CCBD28-F294-4761-4815-ED416AF214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5A2AF44-7F20-D447-BF14-60383DB6BD97}" type="slidenum">
              <a:rPr lang="en-GB" altLang="en-US"/>
              <a:pPr>
                <a:spcBef>
                  <a:spcPct val="0"/>
                </a:spcBef>
              </a:pPr>
              <a:t>69</a:t>
            </a:fld>
            <a:endParaRPr lang="en-GB" altLang="en-US"/>
          </a:p>
        </p:txBody>
      </p:sp>
      <p:sp>
        <p:nvSpPr>
          <p:cNvPr id="138243" name="Rectangle 2">
            <a:extLst>
              <a:ext uri="{FF2B5EF4-FFF2-40B4-BE49-F238E27FC236}">
                <a16:creationId xmlns:a16="http://schemas.microsoft.com/office/drawing/2014/main" id="{393DF291-DA57-3DF2-3919-569688428573}"/>
              </a:ext>
            </a:extLst>
          </p:cNvPr>
          <p:cNvSpPr>
            <a:spLocks noRot="1" noChangeArrowheads="1" noTextEdit="1"/>
          </p:cNvSpPr>
          <p:nvPr>
            <p:ph type="sldImg"/>
          </p:nvPr>
        </p:nvSpPr>
        <p:spPr>
          <a:ln/>
        </p:spPr>
      </p:sp>
      <p:sp>
        <p:nvSpPr>
          <p:cNvPr id="138244" name="Rectangle 3">
            <a:extLst>
              <a:ext uri="{FF2B5EF4-FFF2-40B4-BE49-F238E27FC236}">
                <a16:creationId xmlns:a16="http://schemas.microsoft.com/office/drawing/2014/main" id="{BA88E0C7-4D3C-8836-01E7-742D603E67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en-US" dirty="0">
                <a:latin typeface="Arial" panose="020B0604020202020204" pitchFamily="34" charset="0"/>
                <a:cs typeface="Arial" panose="020B0604020202020204" pitchFamily="34" charset="0"/>
              </a:rPr>
              <a:t>Whether an origin is activated to cause its own replication is replicated by  a replication fork derived </a:t>
            </a:r>
            <a:r>
              <a:rPr lang="en-US" altLang="en-US" dirty="0" err="1">
                <a:latin typeface="Arial" panose="020B0604020202020204" pitchFamily="34" charset="0"/>
                <a:cs typeface="Arial" panose="020B0604020202020204" pitchFamily="34" charset="0"/>
              </a:rPr>
              <a:t>fro</a:t>
            </a:r>
            <a:r>
              <a:rPr lang="en-US" altLang="en-US" dirty="0">
                <a:latin typeface="Arial" panose="020B0604020202020204" pitchFamily="34" charset="0"/>
                <a:cs typeface="Arial" panose="020B0604020202020204" pitchFamily="34" charset="0"/>
              </a:rPr>
              <a:t> man adjacent origin, it must be inactivated until the next round of cell </a:t>
            </a:r>
            <a:r>
              <a:rPr lang="en-US" altLang="en-US" dirty="0" err="1">
                <a:latin typeface="Arial" panose="020B0604020202020204" pitchFamily="34" charset="0"/>
                <a:cs typeface="Arial" panose="020B0604020202020204" pitchFamily="34" charset="0"/>
              </a:rPr>
              <a:t>divisionIn</a:t>
            </a:r>
            <a:r>
              <a:rPr lang="en-US" altLang="en-US" dirty="0">
                <a:latin typeface="Arial" panose="020B0604020202020204" pitchFamily="34" charset="0"/>
                <a:cs typeface="Arial" panose="020B0604020202020204" pitchFamily="34" charset="0"/>
              </a:rPr>
              <a:t> cells with high turn over and quick replication a large number of origins of replication are activated to fasten the replication during S phase, if there is low turn over , fewer origins are activated . Some origins will never be activated.</a:t>
            </a:r>
          </a:p>
          <a:p>
            <a:pPr eaLnBrk="1" hangingPunct="1"/>
            <a:endParaRPr lang="en-GB"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A22F08AE-476D-D766-69B5-E0E61B3133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B243B2A-3BB2-AB45-A993-5AFB4518BCFC}" type="slidenum">
              <a:rPr lang="en-GB" altLang="en-US"/>
              <a:pPr>
                <a:spcBef>
                  <a:spcPct val="0"/>
                </a:spcBef>
              </a:pPr>
              <a:t>70</a:t>
            </a:fld>
            <a:endParaRPr lang="en-GB" altLang="en-US"/>
          </a:p>
        </p:txBody>
      </p:sp>
      <p:sp>
        <p:nvSpPr>
          <p:cNvPr id="140291" name="Rectangle 2">
            <a:extLst>
              <a:ext uri="{FF2B5EF4-FFF2-40B4-BE49-F238E27FC236}">
                <a16:creationId xmlns:a16="http://schemas.microsoft.com/office/drawing/2014/main" id="{5166119F-FB51-50E0-F223-39AE8C9A4139}"/>
              </a:ext>
            </a:extLst>
          </p:cNvPr>
          <p:cNvSpPr>
            <a:spLocks noRot="1" noChangeArrowheads="1" noTextEdit="1"/>
          </p:cNvSpPr>
          <p:nvPr>
            <p:ph type="sldImg"/>
          </p:nvPr>
        </p:nvSpPr>
        <p:spPr>
          <a:ln/>
        </p:spPr>
      </p:sp>
      <p:sp>
        <p:nvSpPr>
          <p:cNvPr id="140292" name="Rectangle 3">
            <a:extLst>
              <a:ext uri="{FF2B5EF4-FFF2-40B4-BE49-F238E27FC236}">
                <a16:creationId xmlns:a16="http://schemas.microsoft.com/office/drawing/2014/main" id="{FAF83C21-16AF-C992-F8B8-B7C5AFA5B4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dirty="0">
                <a:latin typeface="Arial" panose="020B0604020202020204" pitchFamily="34" charset="0"/>
                <a:cs typeface="Arial" panose="020B0604020202020204" pitchFamily="34" charset="0"/>
              </a:rPr>
              <a:t>Each step is distinct and takes place at different stage in the cell cycle</a:t>
            </a:r>
          </a:p>
          <a:p>
            <a:pPr marL="228600" indent="-228600" eaLnBrk="1" hangingPunct="1"/>
            <a:r>
              <a:rPr lang="en-US" altLang="en-US" dirty="0">
                <a:latin typeface="Arial" panose="020B0604020202020204" pitchFamily="34" charset="0"/>
                <a:cs typeface="Arial" panose="020B0604020202020204" pitchFamily="34" charset="0"/>
              </a:rPr>
              <a:t>These two steps are united in the prokaryotes, binding of initiator with the replicator in prokaryotes is enough to initiate replication and recruit helicase </a:t>
            </a:r>
          </a:p>
          <a:p>
            <a:pPr marL="685800" lvl="1" indent="-228600" eaLnBrk="1" hangingPunct="1">
              <a:buFont typeface="Wingdings" pitchFamily="2" charset="2"/>
              <a:buNone/>
            </a:pPr>
            <a:r>
              <a:rPr lang="en-US" altLang="en-US" dirty="0">
                <a:latin typeface="Arial" panose="020B0604020202020204" pitchFamily="34" charset="0"/>
                <a:cs typeface="Arial" panose="020B0604020202020204" pitchFamily="34" charset="0"/>
              </a:rPr>
              <a:t>Select sites for DNA replication (among different origins of replication)</a:t>
            </a:r>
          </a:p>
          <a:p>
            <a:pPr marL="685800" lvl="1" indent="-228600" eaLnBrk="1" hangingPunct="1">
              <a:buFont typeface="Wingdings" pitchFamily="2" charset="2"/>
              <a:buNone/>
            </a:pPr>
            <a:r>
              <a:rPr lang="en-US" altLang="en-US" dirty="0">
                <a:latin typeface="Arial" panose="020B0604020202020204" pitchFamily="34" charset="0"/>
                <a:cs typeface="Arial" panose="020B0604020202020204" pitchFamily="34" charset="0"/>
              </a:rPr>
              <a:t>To ensure that each chromosome is replicated only once</a:t>
            </a:r>
          </a:p>
          <a:p>
            <a:pPr marL="228600" indent="-228600" eaLnBrk="1" hangingPunct="1"/>
            <a:endParaRPr lang="en-GB"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a:extLst>
              <a:ext uri="{FF2B5EF4-FFF2-40B4-BE49-F238E27FC236}">
                <a16:creationId xmlns:a16="http://schemas.microsoft.com/office/drawing/2014/main" id="{3072942E-2B45-197D-9F87-478BFD722F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7F60AA0-5586-8044-B1DA-D3567A088403}" type="slidenum">
              <a:rPr lang="en-GB" altLang="en-US"/>
              <a:pPr>
                <a:spcBef>
                  <a:spcPct val="0"/>
                </a:spcBef>
              </a:pPr>
              <a:t>71</a:t>
            </a:fld>
            <a:endParaRPr lang="en-GB" altLang="en-US"/>
          </a:p>
        </p:txBody>
      </p:sp>
      <p:sp>
        <p:nvSpPr>
          <p:cNvPr id="142339" name="Rectangle 2">
            <a:extLst>
              <a:ext uri="{FF2B5EF4-FFF2-40B4-BE49-F238E27FC236}">
                <a16:creationId xmlns:a16="http://schemas.microsoft.com/office/drawing/2014/main" id="{FC30EDA1-AE30-E3EE-8CF8-77734DA09741}"/>
              </a:ext>
            </a:extLst>
          </p:cNvPr>
          <p:cNvSpPr>
            <a:spLocks noRot="1" noChangeArrowheads="1" noTextEdit="1"/>
          </p:cNvSpPr>
          <p:nvPr>
            <p:ph type="sldImg"/>
          </p:nvPr>
        </p:nvSpPr>
        <p:spPr>
          <a:ln/>
        </p:spPr>
      </p:sp>
      <p:sp>
        <p:nvSpPr>
          <p:cNvPr id="142340" name="Rectangle 3">
            <a:extLst>
              <a:ext uri="{FF2B5EF4-FFF2-40B4-BE49-F238E27FC236}">
                <a16:creationId xmlns:a16="http://schemas.microsoft.com/office/drawing/2014/main" id="{2CFB5183-AE45-1C76-0078-7FED6699A0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a:latin typeface="Arial" panose="020B0604020202020204" pitchFamily="34" charset="0"/>
                <a:cs typeface="Arial" panose="020B0604020202020204" pitchFamily="34" charset="0"/>
              </a:rPr>
              <a:t>Each step is distinct and takes place at different stage in the cell cycle</a:t>
            </a:r>
          </a:p>
          <a:p>
            <a:pPr marL="228600" indent="-228600" eaLnBrk="1" hangingPunct="1"/>
            <a:r>
              <a:rPr lang="en-US" altLang="en-US">
                <a:latin typeface="Arial" panose="020B0604020202020204" pitchFamily="34" charset="0"/>
                <a:cs typeface="Arial" panose="020B0604020202020204" pitchFamily="34" charset="0"/>
              </a:rPr>
              <a:t>These two steps are united in the prokaryotes, binding of initiator with the replicator in prokaryotes is enough to initiate replication and recruit helicase </a:t>
            </a:r>
          </a:p>
          <a:p>
            <a:pPr marL="685800" lvl="1" indent="-228600" eaLnBrk="1" hangingPunct="1">
              <a:buFont typeface="Wingdings" pitchFamily="2" charset="2"/>
              <a:buNone/>
            </a:pPr>
            <a:r>
              <a:rPr lang="en-US" altLang="en-US">
                <a:latin typeface="Arial" panose="020B0604020202020204" pitchFamily="34" charset="0"/>
                <a:cs typeface="Arial" panose="020B0604020202020204" pitchFamily="34" charset="0"/>
              </a:rPr>
              <a:t>Select sites for DNA replication (among different origins of replication)</a:t>
            </a:r>
          </a:p>
          <a:p>
            <a:pPr marL="228600" indent="-228600" eaLnBrk="1" hangingPunct="1"/>
            <a:endParaRPr lang="en-GB" altLang="en-US">
              <a:latin typeface="Arial" panose="020B0604020202020204" pitchFamily="34" charset="0"/>
              <a:cs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a:extLst>
              <a:ext uri="{FF2B5EF4-FFF2-40B4-BE49-F238E27FC236}">
                <a16:creationId xmlns:a16="http://schemas.microsoft.com/office/drawing/2014/main" id="{E2EA5179-B416-5D84-6776-3E1B3C1852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977F3F8-9175-1A4F-8F94-D35C0248817D}" type="slidenum">
              <a:rPr lang="en-GB" altLang="en-US"/>
              <a:pPr>
                <a:spcBef>
                  <a:spcPct val="0"/>
                </a:spcBef>
              </a:pPr>
              <a:t>72</a:t>
            </a:fld>
            <a:endParaRPr lang="en-GB" altLang="en-US"/>
          </a:p>
        </p:txBody>
      </p:sp>
      <p:sp>
        <p:nvSpPr>
          <p:cNvPr id="144387" name="Rectangle 2">
            <a:extLst>
              <a:ext uri="{FF2B5EF4-FFF2-40B4-BE49-F238E27FC236}">
                <a16:creationId xmlns:a16="http://schemas.microsoft.com/office/drawing/2014/main" id="{27651C6A-D692-3D4B-D3BD-7861854E41FA}"/>
              </a:ext>
            </a:extLst>
          </p:cNvPr>
          <p:cNvSpPr>
            <a:spLocks noRot="1" noChangeArrowheads="1" noTextEdit="1"/>
          </p:cNvSpPr>
          <p:nvPr>
            <p:ph type="sldImg"/>
          </p:nvPr>
        </p:nvSpPr>
        <p:spPr>
          <a:ln/>
        </p:spPr>
      </p:sp>
      <p:sp>
        <p:nvSpPr>
          <p:cNvPr id="144388" name="Rectangle 3">
            <a:extLst>
              <a:ext uri="{FF2B5EF4-FFF2-40B4-BE49-F238E27FC236}">
                <a16:creationId xmlns:a16="http://schemas.microsoft.com/office/drawing/2014/main" id="{257EACEF-3719-8719-AA8D-F25F37752A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High level of protein kinases (Cdk and Ddk)</a:t>
            </a:r>
          </a:p>
          <a:p>
            <a:pPr algn="ctr" eaLnBrk="1" hangingPunct="1"/>
            <a:r>
              <a:rPr lang="en-GB" altLang="en-US">
                <a:latin typeface="Arial" panose="020B0604020202020204" pitchFamily="34" charset="0"/>
                <a:cs typeface="Arial" panose="020B0604020202020204" pitchFamily="34" charset="0"/>
                <a:sym typeface="Symbol" pitchFamily="2" charset="2"/>
              </a:rPr>
              <a:t></a:t>
            </a:r>
          </a:p>
          <a:p>
            <a:pPr eaLnBrk="1" hangingPunct="1"/>
            <a:r>
              <a:rPr lang="en-US" altLang="en-US">
                <a:latin typeface="Arial" panose="020B0604020202020204" pitchFamily="34" charset="0"/>
                <a:cs typeface="Arial" panose="020B0604020202020204" pitchFamily="34" charset="0"/>
                <a:sym typeface="Symbol" pitchFamily="2" charset="2"/>
              </a:rPr>
              <a:t>Phosphorelation of pre-RC</a:t>
            </a:r>
          </a:p>
          <a:p>
            <a:pPr eaLnBrk="1" hangingPunct="1"/>
            <a:r>
              <a:rPr lang="en-US" altLang="en-US">
                <a:latin typeface="Arial" panose="020B0604020202020204" pitchFamily="34" charset="0"/>
                <a:cs typeface="Arial" panose="020B0604020202020204" pitchFamily="34" charset="0"/>
                <a:sym typeface="Symbol" pitchFamily="2" charset="2"/>
              </a:rPr>
              <a:t>Recruit other proteins (Polymerases and start with delta and epsilon first to make sure that they are available before recruiting alpha that initiate primer synthesis)</a:t>
            </a:r>
          </a:p>
          <a:p>
            <a:pPr eaLnBrk="1" hangingPunct="1"/>
            <a:r>
              <a:rPr lang="en-US" altLang="en-US">
                <a:latin typeface="Arial" panose="020B0604020202020204" pitchFamily="34" charset="0"/>
                <a:cs typeface="Arial" panose="020B0604020202020204" pitchFamily="34" charset="0"/>
                <a:sym typeface="Symbol" pitchFamily="2" charset="2"/>
              </a:rPr>
              <a:t>Helicase loaders (Cdc6 and Cdt1) are released</a:t>
            </a:r>
            <a:endParaRPr lang="en-GB" altLang="en-US">
              <a:latin typeface="Arial" panose="020B0604020202020204" pitchFamily="34" charset="0"/>
              <a:cs typeface="Arial" panose="020B0604020202020204" pitchFamily="34" charset="0"/>
              <a:sym typeface="Symbol" pitchFamily="2" charset="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a:extLst>
              <a:ext uri="{FF2B5EF4-FFF2-40B4-BE49-F238E27FC236}">
                <a16:creationId xmlns:a16="http://schemas.microsoft.com/office/drawing/2014/main" id="{4FE0F368-F1F6-9998-60D8-7ECDD8311973}"/>
              </a:ext>
            </a:extLst>
          </p:cNvPr>
          <p:cNvSpPr>
            <a:spLocks noGrp="1" noRot="1" noChangeAspect="1" noTextEdit="1"/>
          </p:cNvSpPr>
          <p:nvPr>
            <p:ph type="sldImg"/>
          </p:nvPr>
        </p:nvSpPr>
        <p:spPr>
          <a:ln/>
        </p:spPr>
      </p:sp>
      <p:sp>
        <p:nvSpPr>
          <p:cNvPr id="146435" name="Notes Placeholder 2">
            <a:extLst>
              <a:ext uri="{FF2B5EF4-FFF2-40B4-BE49-F238E27FC236}">
                <a16:creationId xmlns:a16="http://schemas.microsoft.com/office/drawing/2014/main" id="{8278E1FF-5354-BBFD-A041-2E026C3E995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40000"/>
              </a:lnSpc>
              <a:spcBef>
                <a:spcPct val="20000"/>
              </a:spcBef>
              <a:buClr>
                <a:schemeClr val="tx2"/>
              </a:buClr>
              <a:buSzPct val="70000"/>
              <a:buFont typeface="Wingdings" pitchFamily="2" charset="2"/>
              <a:buNone/>
            </a:pPr>
            <a:r>
              <a:rPr lang="en-US" altLang="en-US" b="1">
                <a:latin typeface="Arial" panose="020B0604020202020204" pitchFamily="34" charset="0"/>
                <a:cs typeface="Arial" panose="020B0604020202020204" pitchFamily="34" charset="0"/>
                <a:sym typeface="Symbol" pitchFamily="2" charset="2"/>
              </a:rPr>
              <a:t>DNA Pol </a:t>
            </a:r>
            <a:r>
              <a:rPr lang="el-GR" altLang="en-US" b="1">
                <a:latin typeface="Arial" panose="020B0604020202020204" pitchFamily="34" charset="0"/>
                <a:cs typeface="Arial" panose="020B0604020202020204" pitchFamily="34" charset="0"/>
                <a:sym typeface="Symbol" pitchFamily="2" charset="2"/>
              </a:rPr>
              <a:t>α</a:t>
            </a:r>
            <a:r>
              <a:rPr lang="en-US" altLang="en-US" b="1">
                <a:latin typeface="Arial" panose="020B0604020202020204" pitchFamily="34" charset="0"/>
                <a:cs typeface="Arial" panose="020B0604020202020204" pitchFamily="34" charset="0"/>
                <a:sym typeface="Symbol" pitchFamily="2" charset="2"/>
              </a:rPr>
              <a:t> /primase is only recruited after Pol </a:t>
            </a:r>
            <a:r>
              <a:rPr lang="el-GR" altLang="en-US" b="1">
                <a:latin typeface="Arial" panose="020B0604020202020204" pitchFamily="34" charset="0"/>
                <a:cs typeface="Arial" panose="020B0604020202020204" pitchFamily="34" charset="0"/>
                <a:sym typeface="Symbol" pitchFamily="2" charset="2"/>
              </a:rPr>
              <a:t>δ</a:t>
            </a:r>
            <a:r>
              <a:rPr lang="en-US" altLang="en-US" b="1">
                <a:latin typeface="Arial" panose="020B0604020202020204" pitchFamily="34" charset="0"/>
                <a:cs typeface="Arial" panose="020B0604020202020204" pitchFamily="34" charset="0"/>
                <a:sym typeface="Symbol" pitchFamily="2" charset="2"/>
              </a:rPr>
              <a:t>  and Pol </a:t>
            </a:r>
            <a:r>
              <a:rPr lang="el-GR" altLang="en-US" b="1">
                <a:latin typeface="Arial" panose="020B0604020202020204" pitchFamily="34" charset="0"/>
                <a:cs typeface="Arial" panose="020B0604020202020204" pitchFamily="34" charset="0"/>
                <a:sym typeface="Symbol" pitchFamily="2" charset="2"/>
              </a:rPr>
              <a:t>ε</a:t>
            </a:r>
            <a:r>
              <a:rPr lang="en-US" altLang="en-US" b="1">
                <a:latin typeface="Arial" panose="020B0604020202020204" pitchFamily="34" charset="0"/>
                <a:cs typeface="Arial" panose="020B0604020202020204" pitchFamily="34" charset="0"/>
                <a:sym typeface="Symbol" pitchFamily="2" charset="2"/>
              </a:rPr>
              <a:t>.</a:t>
            </a:r>
          </a:p>
          <a:p>
            <a:endParaRPr lang="en-US" altLang="en-US">
              <a:latin typeface="Arial" panose="020B0604020202020204" pitchFamily="34" charset="0"/>
              <a:cs typeface="Arial" panose="020B0604020202020204" pitchFamily="34" charset="0"/>
            </a:endParaRPr>
          </a:p>
        </p:txBody>
      </p:sp>
      <p:sp>
        <p:nvSpPr>
          <p:cNvPr id="146436" name="Slide Number Placeholder 3">
            <a:extLst>
              <a:ext uri="{FF2B5EF4-FFF2-40B4-BE49-F238E27FC236}">
                <a16:creationId xmlns:a16="http://schemas.microsoft.com/office/drawing/2014/main" id="{E4474275-B10B-5EFB-3A8F-3E070FB5D3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B1D7D47-91E0-CD46-8102-30983FDE5BCB}" type="slidenum">
              <a:rPr lang="en-GB" altLang="en-US"/>
              <a:pPr>
                <a:spcBef>
                  <a:spcPct val="0"/>
                </a:spcBef>
              </a:pPr>
              <a:t>73</a:t>
            </a:fld>
            <a:endParaRPr lang="en-GB"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Image Placeholder 1">
            <a:extLst>
              <a:ext uri="{FF2B5EF4-FFF2-40B4-BE49-F238E27FC236}">
                <a16:creationId xmlns:a16="http://schemas.microsoft.com/office/drawing/2014/main" id="{84823FF4-4BDF-BD8C-5818-D43F41CAE78A}"/>
              </a:ext>
            </a:extLst>
          </p:cNvPr>
          <p:cNvSpPr>
            <a:spLocks noGrp="1" noRot="1" noChangeAspect="1" noTextEdit="1"/>
          </p:cNvSpPr>
          <p:nvPr>
            <p:ph type="sldImg"/>
          </p:nvPr>
        </p:nvSpPr>
        <p:spPr>
          <a:ln/>
        </p:spPr>
      </p:sp>
      <p:sp>
        <p:nvSpPr>
          <p:cNvPr id="148483" name="Notes Placeholder 2">
            <a:extLst>
              <a:ext uri="{FF2B5EF4-FFF2-40B4-BE49-F238E27FC236}">
                <a16:creationId xmlns:a16="http://schemas.microsoft.com/office/drawing/2014/main" id="{37BCB1DF-F889-B042-E90B-99487123C1B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48484" name="Slide Number Placeholder 3">
            <a:extLst>
              <a:ext uri="{FF2B5EF4-FFF2-40B4-BE49-F238E27FC236}">
                <a16:creationId xmlns:a16="http://schemas.microsoft.com/office/drawing/2014/main" id="{597348F6-C624-BB37-0ED2-77264A99F58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365004B-0DA6-7D41-9034-BA12E0A968D1}" type="slidenum">
              <a:rPr lang="en-GB" altLang="en-US"/>
              <a:pPr>
                <a:spcBef>
                  <a:spcPct val="0"/>
                </a:spcBef>
              </a:pPr>
              <a:t>74</a:t>
            </a:fld>
            <a:endParaRPr lang="en-GB"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a:extLst>
              <a:ext uri="{FF2B5EF4-FFF2-40B4-BE49-F238E27FC236}">
                <a16:creationId xmlns:a16="http://schemas.microsoft.com/office/drawing/2014/main" id="{226867C5-0B03-04D2-D85D-F51BACB676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85AFE5F-DA56-3249-BDCD-15A97C8F7C99}" type="slidenum">
              <a:rPr lang="en-GB" altLang="en-US"/>
              <a:pPr>
                <a:spcBef>
                  <a:spcPct val="0"/>
                </a:spcBef>
              </a:pPr>
              <a:t>75</a:t>
            </a:fld>
            <a:endParaRPr lang="en-GB" altLang="en-US"/>
          </a:p>
        </p:txBody>
      </p:sp>
      <p:sp>
        <p:nvSpPr>
          <p:cNvPr id="150531" name="Rectangle 2">
            <a:extLst>
              <a:ext uri="{FF2B5EF4-FFF2-40B4-BE49-F238E27FC236}">
                <a16:creationId xmlns:a16="http://schemas.microsoft.com/office/drawing/2014/main" id="{2D329341-A596-57D3-1083-61EBF9767BFB}"/>
              </a:ext>
            </a:extLst>
          </p:cNvPr>
          <p:cNvSpPr>
            <a:spLocks noRot="1" noChangeArrowheads="1" noTextEdit="1"/>
          </p:cNvSpPr>
          <p:nvPr>
            <p:ph type="sldImg"/>
          </p:nvPr>
        </p:nvSpPr>
        <p:spPr>
          <a:ln/>
        </p:spPr>
      </p:sp>
      <p:sp>
        <p:nvSpPr>
          <p:cNvPr id="150532" name="Rectangle 3">
            <a:extLst>
              <a:ext uri="{FF2B5EF4-FFF2-40B4-BE49-F238E27FC236}">
                <a16:creationId xmlns:a16="http://schemas.microsoft.com/office/drawing/2014/main" id="{B2BE6904-5722-9FBD-9331-32FD48A7E0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Cdks have two contradictory roles in regulating pre-RC function </a:t>
            </a:r>
          </a:p>
          <a:p>
            <a:pPr eaLnBrk="1" hangingPunct="1"/>
            <a:r>
              <a:rPr lang="en-US" altLang="en-US">
                <a:latin typeface="Arial" panose="020B0604020202020204" pitchFamily="34" charset="0"/>
                <a:cs typeface="Arial" panose="020B0604020202020204" pitchFamily="34" charset="0"/>
              </a:rPr>
              <a:t>They are required to activate pre-RC to initiate DNA replication</a:t>
            </a:r>
          </a:p>
          <a:p>
            <a:pPr eaLnBrk="1" hangingPunct="1"/>
            <a:r>
              <a:rPr lang="en-US" altLang="en-US">
                <a:latin typeface="Arial" panose="020B0604020202020204" pitchFamily="34" charset="0"/>
                <a:cs typeface="Arial" panose="020B0604020202020204" pitchFamily="34" charset="0"/>
              </a:rPr>
              <a:t>Cdk activity inhibits the formation of new pre-RCs</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a:extLst>
              <a:ext uri="{FF2B5EF4-FFF2-40B4-BE49-F238E27FC236}">
                <a16:creationId xmlns:a16="http://schemas.microsoft.com/office/drawing/2014/main" id="{803AF6A6-64B7-D0D7-04AA-6D8FC34DC7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99128B9-256C-7740-81EF-62E5CCAAA3A7}" type="slidenum">
              <a:rPr lang="en-GB" altLang="en-US"/>
              <a:pPr>
                <a:spcBef>
                  <a:spcPct val="0"/>
                </a:spcBef>
              </a:pPr>
              <a:t>76</a:t>
            </a:fld>
            <a:endParaRPr lang="en-GB" altLang="en-US"/>
          </a:p>
        </p:txBody>
      </p:sp>
      <p:sp>
        <p:nvSpPr>
          <p:cNvPr id="152579" name="Rectangle 2">
            <a:extLst>
              <a:ext uri="{FF2B5EF4-FFF2-40B4-BE49-F238E27FC236}">
                <a16:creationId xmlns:a16="http://schemas.microsoft.com/office/drawing/2014/main" id="{49B2F6A2-F1E6-CAD3-72BF-A1D104A36714}"/>
              </a:ext>
            </a:extLst>
          </p:cNvPr>
          <p:cNvSpPr>
            <a:spLocks noRot="1" noChangeArrowheads="1" noTextEdit="1"/>
          </p:cNvSpPr>
          <p:nvPr>
            <p:ph type="sldImg"/>
          </p:nvPr>
        </p:nvSpPr>
        <p:spPr>
          <a:ln/>
        </p:spPr>
      </p:sp>
      <p:sp>
        <p:nvSpPr>
          <p:cNvPr id="152580" name="Rectangle 3">
            <a:extLst>
              <a:ext uri="{FF2B5EF4-FFF2-40B4-BE49-F238E27FC236}">
                <a16:creationId xmlns:a16="http://schemas.microsoft.com/office/drawing/2014/main" id="{96B3E2D4-24F6-CB44-A31D-DB1839801F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a:extLst>
              <a:ext uri="{FF2B5EF4-FFF2-40B4-BE49-F238E27FC236}">
                <a16:creationId xmlns:a16="http://schemas.microsoft.com/office/drawing/2014/main" id="{2B69DB71-AD68-307F-0C82-3CEDE0CCD5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BBB9DF4-56F2-DC48-98CC-91D2A0ACC12D}" type="slidenum">
              <a:rPr lang="en-GB" altLang="en-US"/>
              <a:pPr>
                <a:spcBef>
                  <a:spcPct val="0"/>
                </a:spcBef>
              </a:pPr>
              <a:t>77</a:t>
            </a:fld>
            <a:endParaRPr lang="en-GB" altLang="en-US"/>
          </a:p>
        </p:txBody>
      </p:sp>
      <p:sp>
        <p:nvSpPr>
          <p:cNvPr id="154627" name="Rectangle 2">
            <a:extLst>
              <a:ext uri="{FF2B5EF4-FFF2-40B4-BE49-F238E27FC236}">
                <a16:creationId xmlns:a16="http://schemas.microsoft.com/office/drawing/2014/main" id="{E65D6915-30E3-43BD-A156-16B0BB80CFCA}"/>
              </a:ext>
            </a:extLst>
          </p:cNvPr>
          <p:cNvSpPr>
            <a:spLocks noRot="1" noChangeArrowheads="1" noTextEdit="1"/>
          </p:cNvSpPr>
          <p:nvPr>
            <p:ph type="sldImg"/>
          </p:nvPr>
        </p:nvSpPr>
        <p:spPr>
          <a:ln/>
        </p:spPr>
      </p:sp>
      <p:sp>
        <p:nvSpPr>
          <p:cNvPr id="154628" name="Rectangle 3">
            <a:extLst>
              <a:ext uri="{FF2B5EF4-FFF2-40B4-BE49-F238E27FC236}">
                <a16:creationId xmlns:a16="http://schemas.microsoft.com/office/drawing/2014/main" id="{C718B7C7-EE06-F081-DF84-AA18E4EF55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a:extLst>
              <a:ext uri="{FF2B5EF4-FFF2-40B4-BE49-F238E27FC236}">
                <a16:creationId xmlns:a16="http://schemas.microsoft.com/office/drawing/2014/main" id="{1A747121-4699-2659-A88C-6E4D853482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5A0C596-D8A3-934E-9EF7-33B1960C3B48}" type="slidenum">
              <a:rPr lang="en-GB" altLang="en-US"/>
              <a:pPr>
                <a:spcBef>
                  <a:spcPct val="0"/>
                </a:spcBef>
              </a:pPr>
              <a:t>78</a:t>
            </a:fld>
            <a:endParaRPr lang="en-GB" altLang="en-US"/>
          </a:p>
        </p:txBody>
      </p:sp>
      <p:sp>
        <p:nvSpPr>
          <p:cNvPr id="156675" name="Rectangle 2">
            <a:extLst>
              <a:ext uri="{FF2B5EF4-FFF2-40B4-BE49-F238E27FC236}">
                <a16:creationId xmlns:a16="http://schemas.microsoft.com/office/drawing/2014/main" id="{5C28F5C7-0374-D57D-444C-A34FC23073FB}"/>
              </a:ext>
            </a:extLst>
          </p:cNvPr>
          <p:cNvSpPr>
            <a:spLocks noRot="1" noChangeArrowheads="1" noTextEdit="1"/>
          </p:cNvSpPr>
          <p:nvPr>
            <p:ph type="sldImg"/>
          </p:nvPr>
        </p:nvSpPr>
        <p:spPr>
          <a:ln/>
        </p:spPr>
      </p:sp>
      <p:sp>
        <p:nvSpPr>
          <p:cNvPr id="156676" name="Rectangle 3">
            <a:extLst>
              <a:ext uri="{FF2B5EF4-FFF2-40B4-BE49-F238E27FC236}">
                <a16:creationId xmlns:a16="http://schemas.microsoft.com/office/drawing/2014/main" id="{D76F10D8-5879-7090-AE5B-26B72C7CF9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a:extLst>
              <a:ext uri="{FF2B5EF4-FFF2-40B4-BE49-F238E27FC236}">
                <a16:creationId xmlns:a16="http://schemas.microsoft.com/office/drawing/2014/main" id="{92125281-1455-D64F-89F5-F64CD84F49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AE19422-D901-0047-B044-B285B456C34B}" type="slidenum">
              <a:rPr lang="en-GB" altLang="en-US"/>
              <a:pPr>
                <a:spcBef>
                  <a:spcPct val="0"/>
                </a:spcBef>
              </a:pPr>
              <a:t>79</a:t>
            </a:fld>
            <a:endParaRPr lang="en-GB" altLang="en-US"/>
          </a:p>
        </p:txBody>
      </p:sp>
      <p:sp>
        <p:nvSpPr>
          <p:cNvPr id="158723" name="Rectangle 2">
            <a:extLst>
              <a:ext uri="{FF2B5EF4-FFF2-40B4-BE49-F238E27FC236}">
                <a16:creationId xmlns:a16="http://schemas.microsoft.com/office/drawing/2014/main" id="{AB253A45-0416-C3DB-CC30-CF6934B3EF66}"/>
              </a:ext>
            </a:extLst>
          </p:cNvPr>
          <p:cNvSpPr>
            <a:spLocks noRot="1" noChangeArrowheads="1" noTextEdit="1"/>
          </p:cNvSpPr>
          <p:nvPr>
            <p:ph type="sldImg"/>
          </p:nvPr>
        </p:nvSpPr>
        <p:spPr>
          <a:ln/>
        </p:spPr>
      </p:sp>
      <p:sp>
        <p:nvSpPr>
          <p:cNvPr id="158724" name="Rectangle 3">
            <a:extLst>
              <a:ext uri="{FF2B5EF4-FFF2-40B4-BE49-F238E27FC236}">
                <a16:creationId xmlns:a16="http://schemas.microsoft.com/office/drawing/2014/main" id="{7CAF6846-03AC-F308-3127-90CAFDDD61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Even if the end of the last RNA primer for Okazaki fragment synthesis anneals to the final base pairs of the lagging strand template, once this RNA molecule is removed, there will remain a short region of </a:t>
            </a:r>
            <a:r>
              <a:rPr lang="en-US" altLang="en-US" dirty="0" err="1">
                <a:latin typeface="Arial" panose="020B0604020202020204" pitchFamily="34" charset="0"/>
                <a:cs typeface="Arial" panose="020B0604020202020204" pitchFamily="34" charset="0"/>
              </a:rPr>
              <a:t>unreplicated</a:t>
            </a:r>
            <a:r>
              <a:rPr lang="en-US" altLang="en-US" dirty="0">
                <a:latin typeface="Arial" panose="020B0604020202020204" pitchFamily="34" charset="0"/>
                <a:cs typeface="Arial" panose="020B0604020202020204" pitchFamily="34" charset="0"/>
              </a:rPr>
              <a:t> ssDNA at the end of the chromosomes</a:t>
            </a:r>
          </a:p>
          <a:p>
            <a:pPr eaLnBrk="1" hangingPunct="1"/>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a:extLst>
              <a:ext uri="{FF2B5EF4-FFF2-40B4-BE49-F238E27FC236}">
                <a16:creationId xmlns:a16="http://schemas.microsoft.com/office/drawing/2014/main" id="{0B42EA47-57C7-38EF-3F4B-B56EB4B6A3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47EEF81-C6B0-6244-A6E9-8846D01BB621}" type="slidenum">
              <a:rPr lang="en-GB" altLang="en-US"/>
              <a:pPr>
                <a:spcBef>
                  <a:spcPct val="0"/>
                </a:spcBef>
              </a:pPr>
              <a:t>80</a:t>
            </a:fld>
            <a:endParaRPr lang="en-GB" altLang="en-US"/>
          </a:p>
        </p:txBody>
      </p:sp>
      <p:sp>
        <p:nvSpPr>
          <p:cNvPr id="160771" name="Rectangle 2">
            <a:extLst>
              <a:ext uri="{FF2B5EF4-FFF2-40B4-BE49-F238E27FC236}">
                <a16:creationId xmlns:a16="http://schemas.microsoft.com/office/drawing/2014/main" id="{2D21E0F3-5E25-C44C-8416-8739BF64BEEB}"/>
              </a:ext>
            </a:extLst>
          </p:cNvPr>
          <p:cNvSpPr>
            <a:spLocks noRot="1" noChangeArrowheads="1" noTextEdit="1"/>
          </p:cNvSpPr>
          <p:nvPr>
            <p:ph type="sldImg"/>
          </p:nvPr>
        </p:nvSpPr>
        <p:spPr>
          <a:ln/>
        </p:spPr>
      </p:sp>
      <p:sp>
        <p:nvSpPr>
          <p:cNvPr id="160772" name="Rectangle 3">
            <a:extLst>
              <a:ext uri="{FF2B5EF4-FFF2-40B4-BE49-F238E27FC236}">
                <a16:creationId xmlns:a16="http://schemas.microsoft.com/office/drawing/2014/main" id="{00089D39-EDC4-17CF-0A1A-37530AB866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a:extLst>
              <a:ext uri="{FF2B5EF4-FFF2-40B4-BE49-F238E27FC236}">
                <a16:creationId xmlns:a16="http://schemas.microsoft.com/office/drawing/2014/main" id="{5B1F2AB6-189F-1008-266E-A677AB62CA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D5DB0D0-D3C5-4640-8DCB-20C306C2140D}" type="slidenum">
              <a:rPr lang="en-GB" altLang="en-US"/>
              <a:pPr>
                <a:spcBef>
                  <a:spcPct val="0"/>
                </a:spcBef>
              </a:pPr>
              <a:t>81</a:t>
            </a:fld>
            <a:endParaRPr lang="en-GB" altLang="en-US"/>
          </a:p>
        </p:txBody>
      </p:sp>
      <p:sp>
        <p:nvSpPr>
          <p:cNvPr id="162819" name="Rectangle 2">
            <a:extLst>
              <a:ext uri="{FF2B5EF4-FFF2-40B4-BE49-F238E27FC236}">
                <a16:creationId xmlns:a16="http://schemas.microsoft.com/office/drawing/2014/main" id="{2307E24F-20B3-E8D0-8552-B70C0F401AA6}"/>
              </a:ext>
            </a:extLst>
          </p:cNvPr>
          <p:cNvSpPr>
            <a:spLocks noRot="1" noChangeArrowheads="1" noTextEdit="1"/>
          </p:cNvSpPr>
          <p:nvPr>
            <p:ph type="sldImg"/>
          </p:nvPr>
        </p:nvSpPr>
        <p:spPr>
          <a:ln/>
        </p:spPr>
      </p:sp>
      <p:sp>
        <p:nvSpPr>
          <p:cNvPr id="162820" name="Rectangle 3">
            <a:extLst>
              <a:ext uri="{FF2B5EF4-FFF2-40B4-BE49-F238E27FC236}">
                <a16:creationId xmlns:a16="http://schemas.microsoft.com/office/drawing/2014/main" id="{59B48AF9-B021-4A6A-EE28-D01AD83EF7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Most eukaryotic cells use a different solution to replicate their ends</a:t>
            </a:r>
          </a:p>
          <a:p>
            <a:pPr eaLnBrk="1" hangingPunct="1"/>
            <a:r>
              <a:rPr lang="en-US" altLang="en-US" dirty="0">
                <a:latin typeface="Arial" panose="020B0604020202020204" pitchFamily="34" charset="0"/>
                <a:cs typeface="Arial" panose="020B0604020202020204" pitchFamily="34" charset="0"/>
              </a:rPr>
              <a:t>The y have telomeres: head to tail repeats of TG-rich sequence </a:t>
            </a:r>
          </a:p>
          <a:p>
            <a:pPr eaLnBrk="1" hangingPunct="1"/>
            <a:r>
              <a:rPr lang="en-US" altLang="en-US" dirty="0">
                <a:latin typeface="Arial" panose="020B0604020202020204" pitchFamily="34" charset="0"/>
                <a:cs typeface="Arial" panose="020B0604020202020204" pitchFamily="34" charset="0"/>
              </a:rPr>
              <a:t>In human </a:t>
            </a:r>
            <a:r>
              <a:rPr lang="en-US" altLang="en-US" b="1" dirty="0">
                <a:solidFill>
                  <a:srgbClr val="0000FF"/>
                </a:solidFill>
                <a:latin typeface="Arial" panose="020B0604020202020204" pitchFamily="34" charset="0"/>
                <a:cs typeface="Arial" panose="020B0604020202020204" pitchFamily="34" charset="0"/>
              </a:rPr>
              <a:t>5’ TTAGGG3’</a:t>
            </a:r>
          </a:p>
          <a:p>
            <a:pPr eaLnBrk="1" hangingPunct="1"/>
            <a:r>
              <a:rPr lang="en-US" altLang="en-US" dirty="0">
                <a:latin typeface="Arial" panose="020B0604020202020204" pitchFamily="34" charset="0"/>
                <a:cs typeface="Arial" panose="020B0604020202020204" pitchFamily="34" charset="0"/>
              </a:rPr>
              <a:t>Many are double stranded , the 3’ end of each chr extends beyond the 5’ end as ssDNA</a:t>
            </a:r>
          </a:p>
          <a:p>
            <a:pPr eaLnBrk="1" hangingPunct="1"/>
            <a:r>
              <a:rPr lang="en-US" altLang="en-US" dirty="0">
                <a:latin typeface="Arial" panose="020B0604020202020204" pitchFamily="34" charset="0"/>
                <a:cs typeface="Arial" panose="020B0604020202020204" pitchFamily="34" charset="0"/>
              </a:rPr>
              <a:t>Act as a novel origin of replication that compensates for the end replication problem</a:t>
            </a:r>
          </a:p>
          <a:p>
            <a:pPr eaLnBrk="1" hangingPunct="1"/>
            <a:r>
              <a:rPr lang="en-US" altLang="en-US" dirty="0">
                <a:latin typeface="Arial" panose="020B0604020202020204" pitchFamily="34" charset="0"/>
                <a:cs typeface="Arial" panose="020B0604020202020204" pitchFamily="34" charset="0"/>
              </a:rPr>
              <a:t>The sequence recruits a specialized DNA polymerase called </a:t>
            </a:r>
            <a:r>
              <a:rPr lang="en-US" altLang="en-US" b="1" dirty="0">
                <a:solidFill>
                  <a:srgbClr val="0000FF"/>
                </a:solidFill>
                <a:latin typeface="Arial" panose="020B0604020202020204" pitchFamily="34" charset="0"/>
                <a:cs typeface="Arial" panose="020B0604020202020204" pitchFamily="34" charset="0"/>
              </a:rPr>
              <a:t>telomerase</a:t>
            </a:r>
          </a:p>
          <a:p>
            <a:pPr eaLnBrk="1" hangingPunct="1"/>
            <a:r>
              <a:rPr lang="en-US" altLang="en-US" dirty="0">
                <a:latin typeface="Arial" panose="020B0604020202020204" pitchFamily="34" charset="0"/>
                <a:cs typeface="Arial" panose="020B0604020202020204" pitchFamily="34" charset="0"/>
              </a:rPr>
              <a:t> </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a:extLst>
              <a:ext uri="{FF2B5EF4-FFF2-40B4-BE49-F238E27FC236}">
                <a16:creationId xmlns:a16="http://schemas.microsoft.com/office/drawing/2014/main" id="{05BD1126-A864-000C-4A91-A407E98368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907B6C1-0A14-DA48-BFA0-C41664488469}" type="slidenum">
              <a:rPr lang="en-GB" altLang="en-US"/>
              <a:pPr>
                <a:spcBef>
                  <a:spcPct val="0"/>
                </a:spcBef>
              </a:pPr>
              <a:t>82</a:t>
            </a:fld>
            <a:endParaRPr lang="en-GB" altLang="en-US"/>
          </a:p>
        </p:txBody>
      </p:sp>
      <p:sp>
        <p:nvSpPr>
          <p:cNvPr id="164867" name="Rectangle 2">
            <a:extLst>
              <a:ext uri="{FF2B5EF4-FFF2-40B4-BE49-F238E27FC236}">
                <a16:creationId xmlns:a16="http://schemas.microsoft.com/office/drawing/2014/main" id="{60BF17C0-1995-932C-EC44-0B5F7F86068C}"/>
              </a:ext>
            </a:extLst>
          </p:cNvPr>
          <p:cNvSpPr>
            <a:spLocks noRot="1" noChangeArrowheads="1" noTextEdit="1"/>
          </p:cNvSpPr>
          <p:nvPr>
            <p:ph type="sldImg"/>
          </p:nvPr>
        </p:nvSpPr>
        <p:spPr>
          <a:ln/>
        </p:spPr>
      </p:sp>
      <p:sp>
        <p:nvSpPr>
          <p:cNvPr id="164868" name="Rectangle 3">
            <a:extLst>
              <a:ext uri="{FF2B5EF4-FFF2-40B4-BE49-F238E27FC236}">
                <a16:creationId xmlns:a16="http://schemas.microsoft.com/office/drawing/2014/main" id="{2B8B526B-9F9E-2010-6074-62D6D33F7E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a:extLst>
              <a:ext uri="{FF2B5EF4-FFF2-40B4-BE49-F238E27FC236}">
                <a16:creationId xmlns:a16="http://schemas.microsoft.com/office/drawing/2014/main" id="{A5E0478F-41F2-504F-DB89-CCA90D196BEF}"/>
              </a:ext>
            </a:extLst>
          </p:cNvPr>
          <p:cNvSpPr>
            <a:spLocks noGrp="1" noRot="1" noChangeAspect="1" noTextEdit="1"/>
          </p:cNvSpPr>
          <p:nvPr>
            <p:ph type="sldImg"/>
          </p:nvPr>
        </p:nvSpPr>
        <p:spPr>
          <a:ln/>
        </p:spPr>
      </p:sp>
      <p:sp>
        <p:nvSpPr>
          <p:cNvPr id="166915" name="Notes Placeholder 2">
            <a:extLst>
              <a:ext uri="{FF2B5EF4-FFF2-40B4-BE49-F238E27FC236}">
                <a16:creationId xmlns:a16="http://schemas.microsoft.com/office/drawing/2014/main" id="{D01278AC-379F-4854-15BF-1219DB41BB2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66916" name="Slide Number Placeholder 3">
            <a:extLst>
              <a:ext uri="{FF2B5EF4-FFF2-40B4-BE49-F238E27FC236}">
                <a16:creationId xmlns:a16="http://schemas.microsoft.com/office/drawing/2014/main" id="{CA18AFF8-3929-B055-C834-07BB8501628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F52EF2F-A3B1-E54E-B081-E9836E1AE332}" type="slidenum">
              <a:rPr lang="en-GB" altLang="en-US"/>
              <a:pPr>
                <a:spcBef>
                  <a:spcPct val="0"/>
                </a:spcBef>
              </a:pPr>
              <a:t>83</a:t>
            </a:fld>
            <a:endParaRPr lang="en-GB"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a:extLst>
              <a:ext uri="{FF2B5EF4-FFF2-40B4-BE49-F238E27FC236}">
                <a16:creationId xmlns:a16="http://schemas.microsoft.com/office/drawing/2014/main" id="{D16ACC67-0D6C-5F6D-556B-29FF384E66E1}"/>
              </a:ext>
            </a:extLst>
          </p:cNvPr>
          <p:cNvSpPr>
            <a:spLocks noGrp="1" noRot="1" noChangeAspect="1" noTextEdit="1"/>
          </p:cNvSpPr>
          <p:nvPr>
            <p:ph type="sldImg"/>
          </p:nvPr>
        </p:nvSpPr>
        <p:spPr>
          <a:ln/>
        </p:spPr>
      </p:sp>
      <p:sp>
        <p:nvSpPr>
          <p:cNvPr id="168963" name="Notes Placeholder 2">
            <a:extLst>
              <a:ext uri="{FF2B5EF4-FFF2-40B4-BE49-F238E27FC236}">
                <a16:creationId xmlns:a16="http://schemas.microsoft.com/office/drawing/2014/main" id="{85E3D38F-FD06-A744-1162-B25F8AACFF3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68964" name="Slide Number Placeholder 3">
            <a:extLst>
              <a:ext uri="{FF2B5EF4-FFF2-40B4-BE49-F238E27FC236}">
                <a16:creationId xmlns:a16="http://schemas.microsoft.com/office/drawing/2014/main" id="{1CD48A99-950C-2F75-3B39-9DDEA575401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436A259-4CB5-244C-A802-693E7624933E}" type="slidenum">
              <a:rPr lang="en-GB" altLang="en-US"/>
              <a:pPr>
                <a:spcBef>
                  <a:spcPct val="0"/>
                </a:spcBef>
              </a:pPr>
              <a:t>84</a:t>
            </a:fld>
            <a:endParaRPr lang="en-GB"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a:extLst>
              <a:ext uri="{FF2B5EF4-FFF2-40B4-BE49-F238E27FC236}">
                <a16:creationId xmlns:a16="http://schemas.microsoft.com/office/drawing/2014/main" id="{6BF56669-A73E-DD36-991E-8BBA188D13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1E14EC4-34CD-C943-8C2F-1E04EF4CCC53}" type="slidenum">
              <a:rPr lang="en-GB" altLang="en-US"/>
              <a:pPr>
                <a:spcBef>
                  <a:spcPct val="0"/>
                </a:spcBef>
              </a:pPr>
              <a:t>85</a:t>
            </a:fld>
            <a:endParaRPr lang="en-GB" altLang="en-US"/>
          </a:p>
        </p:txBody>
      </p:sp>
      <p:sp>
        <p:nvSpPr>
          <p:cNvPr id="171011" name="Rectangle 2">
            <a:extLst>
              <a:ext uri="{FF2B5EF4-FFF2-40B4-BE49-F238E27FC236}">
                <a16:creationId xmlns:a16="http://schemas.microsoft.com/office/drawing/2014/main" id="{EC36702F-2786-732E-3611-558F6940A44F}"/>
              </a:ext>
            </a:extLst>
          </p:cNvPr>
          <p:cNvSpPr>
            <a:spLocks noRot="1" noChangeArrowheads="1" noTextEdit="1"/>
          </p:cNvSpPr>
          <p:nvPr>
            <p:ph type="sldImg"/>
          </p:nvPr>
        </p:nvSpPr>
        <p:spPr>
          <a:ln/>
        </p:spPr>
      </p:sp>
      <p:sp>
        <p:nvSpPr>
          <p:cNvPr id="171012" name="Rectangle 3">
            <a:extLst>
              <a:ext uri="{FF2B5EF4-FFF2-40B4-BE49-F238E27FC236}">
                <a16:creationId xmlns:a16="http://schemas.microsoft.com/office/drawing/2014/main" id="{8E573709-A554-4446-62DD-6EF3C19710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a:extLst>
              <a:ext uri="{FF2B5EF4-FFF2-40B4-BE49-F238E27FC236}">
                <a16:creationId xmlns:a16="http://schemas.microsoft.com/office/drawing/2014/main" id="{16AB9874-F2CF-864E-9B83-3CE89FF1FF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34FE716-3EE0-774A-9944-93359ECDE7F0}" type="slidenum">
              <a:rPr lang="en-GB" altLang="en-US"/>
              <a:pPr>
                <a:spcBef>
                  <a:spcPct val="0"/>
                </a:spcBef>
              </a:pPr>
              <a:t>86</a:t>
            </a:fld>
            <a:endParaRPr lang="en-GB" altLang="en-US"/>
          </a:p>
        </p:txBody>
      </p:sp>
      <p:sp>
        <p:nvSpPr>
          <p:cNvPr id="173059" name="Rectangle 2">
            <a:extLst>
              <a:ext uri="{FF2B5EF4-FFF2-40B4-BE49-F238E27FC236}">
                <a16:creationId xmlns:a16="http://schemas.microsoft.com/office/drawing/2014/main" id="{1EBFC8A6-5266-877F-600B-ACD639030D6E}"/>
              </a:ext>
            </a:extLst>
          </p:cNvPr>
          <p:cNvSpPr>
            <a:spLocks noRot="1" noChangeArrowheads="1" noTextEdit="1"/>
          </p:cNvSpPr>
          <p:nvPr>
            <p:ph type="sldImg"/>
          </p:nvPr>
        </p:nvSpPr>
        <p:spPr>
          <a:ln/>
        </p:spPr>
      </p:sp>
      <p:sp>
        <p:nvSpPr>
          <p:cNvPr id="173060" name="Rectangle 3">
            <a:extLst>
              <a:ext uri="{FF2B5EF4-FFF2-40B4-BE49-F238E27FC236}">
                <a16:creationId xmlns:a16="http://schemas.microsoft.com/office/drawing/2014/main" id="{6D910625-7A8B-E42E-C3D3-2CF839756D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TRF1 &amp; TRF2 binds with TTAGGG double stranded DNA sequence, POT binds with the ssDNA tail, when there is high number of POT this means adequate ssDNA and high number of TRF this means long telomere, when number of TRF is reduced this means short telomere, which will allow telomere to be active and then restring telomere length </a:t>
            </a:r>
            <a:endParaRPr lang="en-GB" altLang="en-US">
              <a:latin typeface="Arial" panose="020B0604020202020204" pitchFamily="34" charset="0"/>
              <a:cs typeface="Arial" panose="020B0604020202020204" pitchFamily="34"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a:extLst>
              <a:ext uri="{FF2B5EF4-FFF2-40B4-BE49-F238E27FC236}">
                <a16:creationId xmlns:a16="http://schemas.microsoft.com/office/drawing/2014/main" id="{546E8F39-5166-B906-5BD3-D0043F0709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269BD9C-5134-F042-B93D-E7958AA4E189}" type="slidenum">
              <a:rPr lang="en-GB" altLang="en-US"/>
              <a:pPr>
                <a:spcBef>
                  <a:spcPct val="0"/>
                </a:spcBef>
              </a:pPr>
              <a:t>87</a:t>
            </a:fld>
            <a:endParaRPr lang="en-GB" altLang="en-US"/>
          </a:p>
        </p:txBody>
      </p:sp>
      <p:sp>
        <p:nvSpPr>
          <p:cNvPr id="175107" name="Rectangle 2">
            <a:extLst>
              <a:ext uri="{FF2B5EF4-FFF2-40B4-BE49-F238E27FC236}">
                <a16:creationId xmlns:a16="http://schemas.microsoft.com/office/drawing/2014/main" id="{C9A299F0-83E2-7111-1EFD-34F9B04C8177}"/>
              </a:ext>
            </a:extLst>
          </p:cNvPr>
          <p:cNvSpPr>
            <a:spLocks noRot="1" noChangeArrowheads="1" noTextEdit="1"/>
          </p:cNvSpPr>
          <p:nvPr>
            <p:ph type="sldImg"/>
          </p:nvPr>
        </p:nvSpPr>
        <p:spPr>
          <a:ln/>
        </p:spPr>
      </p:sp>
      <p:sp>
        <p:nvSpPr>
          <p:cNvPr id="175108" name="Rectangle 3">
            <a:extLst>
              <a:ext uri="{FF2B5EF4-FFF2-40B4-BE49-F238E27FC236}">
                <a16:creationId xmlns:a16="http://schemas.microsoft.com/office/drawing/2014/main" id="{6E111750-332A-CB3B-0E37-6C41FD9460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TRF1 &amp; TRF2 binds with TTAGGG double stranded DNA sequence, POT binds with the ssDNA tail, when there is high number of POT this means adequate ssDNA and high number of TRF this means long telomere, when number of TRF is reduced this means short telomere, which will allow telomere to be active and then restring telomere length </a:t>
            </a:r>
            <a:endParaRPr lang="en-GB"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a:extLst>
              <a:ext uri="{FF2B5EF4-FFF2-40B4-BE49-F238E27FC236}">
                <a16:creationId xmlns:a16="http://schemas.microsoft.com/office/drawing/2014/main" id="{2C5A9E6C-A1C0-E1F0-FDC4-918D2ECF3A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BF7DFD7-DA57-8E47-92A2-1911B5CFBE23}" type="slidenum">
              <a:rPr lang="en-GB" altLang="en-US"/>
              <a:pPr>
                <a:spcBef>
                  <a:spcPct val="0"/>
                </a:spcBef>
              </a:pPr>
              <a:t>88</a:t>
            </a:fld>
            <a:endParaRPr lang="en-GB" altLang="en-US"/>
          </a:p>
        </p:txBody>
      </p:sp>
      <p:sp>
        <p:nvSpPr>
          <p:cNvPr id="177155" name="Rectangle 2">
            <a:extLst>
              <a:ext uri="{FF2B5EF4-FFF2-40B4-BE49-F238E27FC236}">
                <a16:creationId xmlns:a16="http://schemas.microsoft.com/office/drawing/2014/main" id="{A5B269E6-8457-9D4F-8774-0A16C0FF23A7}"/>
              </a:ext>
            </a:extLst>
          </p:cNvPr>
          <p:cNvSpPr>
            <a:spLocks noRot="1" noChangeArrowheads="1" noTextEdit="1"/>
          </p:cNvSpPr>
          <p:nvPr>
            <p:ph type="sldImg"/>
          </p:nvPr>
        </p:nvSpPr>
        <p:spPr>
          <a:ln/>
        </p:spPr>
      </p:sp>
      <p:sp>
        <p:nvSpPr>
          <p:cNvPr id="177156" name="Rectangle 3">
            <a:extLst>
              <a:ext uri="{FF2B5EF4-FFF2-40B4-BE49-F238E27FC236}">
                <a16:creationId xmlns:a16="http://schemas.microsoft.com/office/drawing/2014/main" id="{F422F8E8-6CB9-AF08-AD9B-B9BC7BF258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a:extLst>
              <a:ext uri="{FF2B5EF4-FFF2-40B4-BE49-F238E27FC236}">
                <a16:creationId xmlns:a16="http://schemas.microsoft.com/office/drawing/2014/main" id="{3E2A6CD3-667E-0631-EFFE-702D9981A450}"/>
              </a:ext>
            </a:extLst>
          </p:cNvPr>
          <p:cNvSpPr>
            <a:spLocks noGrp="1" noRot="1" noChangeAspect="1" noTextEdit="1"/>
          </p:cNvSpPr>
          <p:nvPr>
            <p:ph type="sldImg"/>
          </p:nvPr>
        </p:nvSpPr>
        <p:spPr>
          <a:ln/>
        </p:spPr>
      </p:sp>
      <p:sp>
        <p:nvSpPr>
          <p:cNvPr id="179203" name="Notes Placeholder 2">
            <a:extLst>
              <a:ext uri="{FF2B5EF4-FFF2-40B4-BE49-F238E27FC236}">
                <a16:creationId xmlns:a16="http://schemas.microsoft.com/office/drawing/2014/main" id="{8D93C01B-AC0E-0252-F013-2D6B6E71606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79204" name="Slide Number Placeholder 3">
            <a:extLst>
              <a:ext uri="{FF2B5EF4-FFF2-40B4-BE49-F238E27FC236}">
                <a16:creationId xmlns:a16="http://schemas.microsoft.com/office/drawing/2014/main" id="{743F1C70-89A0-D6EB-7361-6AC227CC86F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DB08C69-BE85-8341-A8D0-A5B808300340}" type="slidenum">
              <a:rPr lang="en-GB" altLang="en-US"/>
              <a:pPr>
                <a:spcBef>
                  <a:spcPct val="0"/>
                </a:spcBef>
              </a:pPr>
              <a:t>89</a:t>
            </a:fld>
            <a:endParaRPr lang="en-GB"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a:extLst>
              <a:ext uri="{FF2B5EF4-FFF2-40B4-BE49-F238E27FC236}">
                <a16:creationId xmlns:a16="http://schemas.microsoft.com/office/drawing/2014/main" id="{7FA5C60E-0A35-A840-E5CF-9504094B8D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9EB0445-C7C4-4245-A0AF-382E8A0C8D74}" type="slidenum">
              <a:rPr lang="en-GB" altLang="en-US"/>
              <a:pPr>
                <a:spcBef>
                  <a:spcPct val="0"/>
                </a:spcBef>
              </a:pPr>
              <a:t>90</a:t>
            </a:fld>
            <a:endParaRPr lang="en-GB" altLang="en-US"/>
          </a:p>
        </p:txBody>
      </p:sp>
      <p:sp>
        <p:nvSpPr>
          <p:cNvPr id="181251" name="Rectangle 2">
            <a:extLst>
              <a:ext uri="{FF2B5EF4-FFF2-40B4-BE49-F238E27FC236}">
                <a16:creationId xmlns:a16="http://schemas.microsoft.com/office/drawing/2014/main" id="{DA882D5C-286B-9693-7F29-662AE607FDCE}"/>
              </a:ext>
            </a:extLst>
          </p:cNvPr>
          <p:cNvSpPr>
            <a:spLocks noRot="1" noChangeArrowheads="1" noTextEdit="1"/>
          </p:cNvSpPr>
          <p:nvPr>
            <p:ph type="sldImg"/>
          </p:nvPr>
        </p:nvSpPr>
        <p:spPr>
          <a:ln/>
        </p:spPr>
      </p:sp>
      <p:sp>
        <p:nvSpPr>
          <p:cNvPr id="181252" name="Rectangle 3">
            <a:extLst>
              <a:ext uri="{FF2B5EF4-FFF2-40B4-BE49-F238E27FC236}">
                <a16:creationId xmlns:a16="http://schemas.microsoft.com/office/drawing/2014/main" id="{B41B5AA1-78CA-103B-F366-4FFBCCA188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en-US" dirty="0">
                <a:latin typeface="Arial" panose="020B0604020202020204" pitchFamily="34" charset="0"/>
                <a:cs typeface="Arial" panose="020B0604020202020204" pitchFamily="34" charset="0"/>
              </a:rPr>
              <a:t>The </a:t>
            </a:r>
            <a:r>
              <a:rPr lang="en-US" altLang="en-US" b="1" dirty="0">
                <a:latin typeface="Arial" panose="020B0604020202020204" pitchFamily="34" charset="0"/>
                <a:cs typeface="Arial" panose="020B0604020202020204" pitchFamily="34" charset="0"/>
              </a:rPr>
              <a:t>Hayflick limit</a:t>
            </a:r>
            <a:r>
              <a:rPr lang="en-US" altLang="en-US" dirty="0">
                <a:latin typeface="Arial" panose="020B0604020202020204" pitchFamily="34" charset="0"/>
                <a:cs typeface="Arial" panose="020B0604020202020204" pitchFamily="34" charset="0"/>
              </a:rPr>
              <a:t> is the number of times a normal cell population will divide before it </a:t>
            </a:r>
            <a:r>
              <a:rPr lang="en-US" altLang="en-US" dirty="0" err="1">
                <a:latin typeface="Arial" panose="020B0604020202020204" pitchFamily="34" charset="0"/>
                <a:cs typeface="Arial" panose="020B0604020202020204" pitchFamily="34" charset="0"/>
              </a:rPr>
              <a:t>stops</a:t>
            </a:r>
            <a:r>
              <a:rPr lang="en-US" altLang="en-US" b="1" dirty="0" err="1">
                <a:latin typeface="Arial" panose="020B0604020202020204" pitchFamily="34" charset="0"/>
                <a:cs typeface="Arial" panose="020B0604020202020204" pitchFamily="34" charset="0"/>
              </a:rPr>
              <a:t>Senescence</a:t>
            </a:r>
            <a:r>
              <a:rPr lang="en-US" altLang="en-US" dirty="0">
                <a:latin typeface="Arial" panose="020B0604020202020204" pitchFamily="34" charset="0"/>
                <a:cs typeface="Arial" panose="020B0604020202020204" pitchFamily="34" charset="0"/>
              </a:rPr>
              <a:t>, or biological aging, is the change in an organism's biology as it ages after maturity. Such changes range from those affecting its cells and their function to those affecting the whole organism. There are several theories as to why senescence occurs, including ones that claim it is programmed by gene expression changes and that it is the accumulative damage of biological processes.</a:t>
            </a:r>
          </a:p>
          <a:p>
            <a:pPr eaLnBrk="1" hangingPunct="1"/>
            <a:r>
              <a:rPr lang="en-US" altLang="en-US" dirty="0">
                <a:latin typeface="Arial" panose="020B0604020202020204" pitchFamily="34" charset="0"/>
                <a:cs typeface="Arial" panose="020B0604020202020204" pitchFamily="34" charset="0"/>
              </a:rPr>
              <a:t>, presumably because the </a:t>
            </a:r>
            <a:r>
              <a:rPr lang="en-US" altLang="en-US" dirty="0">
                <a:latin typeface="Arial" panose="020B0604020202020204" pitchFamily="34" charset="0"/>
                <a:cs typeface="Arial" panose="020B0604020202020204" pitchFamily="34" charset="0"/>
                <a:hlinkClick r:id="rId3" tooltip="Telomeres"/>
              </a:rPr>
              <a:t>telomeres</a:t>
            </a:r>
            <a:r>
              <a:rPr lang="en-US" altLang="en-US" dirty="0">
                <a:latin typeface="Arial" panose="020B0604020202020204" pitchFamily="34" charset="0"/>
                <a:cs typeface="Arial" panose="020B0604020202020204" pitchFamily="34" charset="0"/>
              </a:rPr>
              <a:t> reach a critical length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2">
            <a:extLst>
              <a:ext uri="{FF2B5EF4-FFF2-40B4-BE49-F238E27FC236}">
                <a16:creationId xmlns:a16="http://schemas.microsoft.com/office/drawing/2014/main" id="{D26D6CE5-FCFD-D669-37B0-FE39F8FF58AC}"/>
              </a:ext>
            </a:extLst>
          </p:cNvPr>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 name="Group 8">
            <a:extLst>
              <a:ext uri="{FF2B5EF4-FFF2-40B4-BE49-F238E27FC236}">
                <a16:creationId xmlns:a16="http://schemas.microsoft.com/office/drawing/2014/main" id="{D058F929-B2AF-98B8-118F-C655D7925BFD}"/>
              </a:ext>
            </a:extLst>
          </p:cNvPr>
          <p:cNvGrpSpPr>
            <a:grpSpLocks/>
          </p:cNvGrpSpPr>
          <p:nvPr/>
        </p:nvGrpSpPr>
        <p:grpSpPr bwMode="auto">
          <a:xfrm>
            <a:off x="7493000" y="2992438"/>
            <a:ext cx="1338263" cy="2189162"/>
            <a:chOff x="4704" y="1885"/>
            <a:chExt cx="843" cy="1379"/>
          </a:xfrm>
        </p:grpSpPr>
        <p:sp>
          <p:nvSpPr>
            <p:cNvPr id="4" name="Oval 9">
              <a:extLst>
                <a:ext uri="{FF2B5EF4-FFF2-40B4-BE49-F238E27FC236}">
                  <a16:creationId xmlns:a16="http://schemas.microsoft.com/office/drawing/2014/main" id="{3A1F199E-4E04-5B19-25B6-CDC621FDFFED}"/>
                </a:ext>
              </a:extLst>
            </p:cNvPr>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5" name="Oval 10">
              <a:extLst>
                <a:ext uri="{FF2B5EF4-FFF2-40B4-BE49-F238E27FC236}">
                  <a16:creationId xmlns:a16="http://schemas.microsoft.com/office/drawing/2014/main" id="{FE1505D5-FBAF-23EC-4B10-F12AAAA4F748}"/>
                </a:ext>
              </a:extLst>
            </p:cNvPr>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6" name="Oval 11">
              <a:extLst>
                <a:ext uri="{FF2B5EF4-FFF2-40B4-BE49-F238E27FC236}">
                  <a16:creationId xmlns:a16="http://schemas.microsoft.com/office/drawing/2014/main" id="{F5DAD6E6-7EAD-611E-BCC1-C7695876759B}"/>
                </a:ext>
              </a:extLst>
            </p:cNvPr>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7" name="Oval 12">
              <a:extLst>
                <a:ext uri="{FF2B5EF4-FFF2-40B4-BE49-F238E27FC236}">
                  <a16:creationId xmlns:a16="http://schemas.microsoft.com/office/drawing/2014/main" id="{ED6ED1F9-D6A7-E542-6C79-02C948730BA6}"/>
                </a:ext>
              </a:extLst>
            </p:cNvPr>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8" name="Oval 13">
              <a:extLst>
                <a:ext uri="{FF2B5EF4-FFF2-40B4-BE49-F238E27FC236}">
                  <a16:creationId xmlns:a16="http://schemas.microsoft.com/office/drawing/2014/main" id="{25239250-85FF-AC16-E15D-5630FE360E2F}"/>
                </a:ext>
              </a:extLst>
            </p:cNvPr>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9" name="Oval 14">
              <a:extLst>
                <a:ext uri="{FF2B5EF4-FFF2-40B4-BE49-F238E27FC236}">
                  <a16:creationId xmlns:a16="http://schemas.microsoft.com/office/drawing/2014/main" id="{B52B3EB5-CDC1-5B60-79A4-788C9FDE7DDF}"/>
                </a:ext>
              </a:extLst>
            </p:cNvPr>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 name="Oval 15">
              <a:extLst>
                <a:ext uri="{FF2B5EF4-FFF2-40B4-BE49-F238E27FC236}">
                  <a16:creationId xmlns:a16="http://schemas.microsoft.com/office/drawing/2014/main" id="{86525C9E-A0A4-5B97-5AA8-7A77089D0A52}"/>
                </a:ext>
              </a:extLst>
            </p:cNvPr>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1" name="Oval 16">
              <a:extLst>
                <a:ext uri="{FF2B5EF4-FFF2-40B4-BE49-F238E27FC236}">
                  <a16:creationId xmlns:a16="http://schemas.microsoft.com/office/drawing/2014/main" id="{9E400AB8-5BF5-3A1F-B1AC-10879BB19F68}"/>
                </a:ext>
              </a:extLst>
            </p:cNvPr>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2" name="Oval 17">
              <a:extLst>
                <a:ext uri="{FF2B5EF4-FFF2-40B4-BE49-F238E27FC236}">
                  <a16:creationId xmlns:a16="http://schemas.microsoft.com/office/drawing/2014/main" id="{70185FE9-DDE6-411D-E265-AF2FEB7290AE}"/>
                </a:ext>
              </a:extLst>
            </p:cNvPr>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3" name="Oval 18">
              <a:extLst>
                <a:ext uri="{FF2B5EF4-FFF2-40B4-BE49-F238E27FC236}">
                  <a16:creationId xmlns:a16="http://schemas.microsoft.com/office/drawing/2014/main" id="{7E5C4403-8655-CEBD-A786-E183014C285E}"/>
                </a:ext>
              </a:extLst>
            </p:cNvPr>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4" name="Oval 19">
              <a:extLst>
                <a:ext uri="{FF2B5EF4-FFF2-40B4-BE49-F238E27FC236}">
                  <a16:creationId xmlns:a16="http://schemas.microsoft.com/office/drawing/2014/main" id="{6D70E954-9464-CD36-659B-79646184CC0E}"/>
                </a:ext>
              </a:extLst>
            </p:cNvPr>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5" name="Oval 20">
              <a:extLst>
                <a:ext uri="{FF2B5EF4-FFF2-40B4-BE49-F238E27FC236}">
                  <a16:creationId xmlns:a16="http://schemas.microsoft.com/office/drawing/2014/main" id="{B4E1BDD7-B596-1A7E-DDA5-61BE0BE0E41D}"/>
                </a:ext>
              </a:extLst>
            </p:cNvPr>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6" name="Oval 21">
              <a:extLst>
                <a:ext uri="{FF2B5EF4-FFF2-40B4-BE49-F238E27FC236}">
                  <a16:creationId xmlns:a16="http://schemas.microsoft.com/office/drawing/2014/main" id="{B8013C15-69D8-5E0A-C3A2-A6609AAA1EB3}"/>
                </a:ext>
              </a:extLst>
            </p:cNvPr>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7" name="Oval 22">
              <a:extLst>
                <a:ext uri="{FF2B5EF4-FFF2-40B4-BE49-F238E27FC236}">
                  <a16:creationId xmlns:a16="http://schemas.microsoft.com/office/drawing/2014/main" id="{1FC20CC3-3DE4-90CF-42ED-8D93865993C9}"/>
                </a:ext>
              </a:extLst>
            </p:cNvPr>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8" name="Oval 23">
              <a:extLst>
                <a:ext uri="{FF2B5EF4-FFF2-40B4-BE49-F238E27FC236}">
                  <a16:creationId xmlns:a16="http://schemas.microsoft.com/office/drawing/2014/main" id="{5F8CAD7B-0183-58E1-738F-095789777E4F}"/>
                </a:ext>
              </a:extLst>
            </p:cNvPr>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9" name="Oval 24">
              <a:extLst>
                <a:ext uri="{FF2B5EF4-FFF2-40B4-BE49-F238E27FC236}">
                  <a16:creationId xmlns:a16="http://schemas.microsoft.com/office/drawing/2014/main" id="{9C99B2AB-B2BA-6BE0-4B24-C6D7024835B0}"/>
                </a:ext>
              </a:extLst>
            </p:cNvPr>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0" name="Oval 25">
              <a:extLst>
                <a:ext uri="{FF2B5EF4-FFF2-40B4-BE49-F238E27FC236}">
                  <a16:creationId xmlns:a16="http://schemas.microsoft.com/office/drawing/2014/main" id="{01DC27A6-5F84-ECC2-9A59-F4F1725A37A2}"/>
                </a:ext>
              </a:extLst>
            </p:cNvPr>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1" name="Oval 26">
              <a:extLst>
                <a:ext uri="{FF2B5EF4-FFF2-40B4-BE49-F238E27FC236}">
                  <a16:creationId xmlns:a16="http://schemas.microsoft.com/office/drawing/2014/main" id="{8153A939-C1C2-2CA4-670D-98501FA24868}"/>
                </a:ext>
              </a:extLst>
            </p:cNvPr>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2" name="Oval 27">
              <a:extLst>
                <a:ext uri="{FF2B5EF4-FFF2-40B4-BE49-F238E27FC236}">
                  <a16:creationId xmlns:a16="http://schemas.microsoft.com/office/drawing/2014/main" id="{38B15942-13DE-B8C7-B557-F7A4219531BD}"/>
                </a:ext>
              </a:extLst>
            </p:cNvPr>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3" name="Oval 28">
              <a:extLst>
                <a:ext uri="{FF2B5EF4-FFF2-40B4-BE49-F238E27FC236}">
                  <a16:creationId xmlns:a16="http://schemas.microsoft.com/office/drawing/2014/main" id="{48D3B418-66B0-EB94-2A16-C81C4AF337E2}"/>
                </a:ext>
              </a:extLst>
            </p:cNvPr>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4" name="Oval 29">
              <a:extLst>
                <a:ext uri="{FF2B5EF4-FFF2-40B4-BE49-F238E27FC236}">
                  <a16:creationId xmlns:a16="http://schemas.microsoft.com/office/drawing/2014/main" id="{F5B2D48C-9619-86A3-B3B5-DE5B85CC5F23}"/>
                </a:ext>
              </a:extLst>
            </p:cNvPr>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5" name="Oval 30">
              <a:extLst>
                <a:ext uri="{FF2B5EF4-FFF2-40B4-BE49-F238E27FC236}">
                  <a16:creationId xmlns:a16="http://schemas.microsoft.com/office/drawing/2014/main" id="{1E62655D-7731-A3F8-A7D2-5929464EA125}"/>
                </a:ext>
              </a:extLst>
            </p:cNvPr>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6" name="Oval 31">
              <a:extLst>
                <a:ext uri="{FF2B5EF4-FFF2-40B4-BE49-F238E27FC236}">
                  <a16:creationId xmlns:a16="http://schemas.microsoft.com/office/drawing/2014/main" id="{3301E470-6371-01A5-B408-BF1C35E6CA17}"/>
                </a:ext>
              </a:extLst>
            </p:cNvPr>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7" name="Oval 32">
              <a:extLst>
                <a:ext uri="{FF2B5EF4-FFF2-40B4-BE49-F238E27FC236}">
                  <a16:creationId xmlns:a16="http://schemas.microsoft.com/office/drawing/2014/main" id="{EAAF88E3-834F-EB88-DFA4-9711724D9F17}"/>
                </a:ext>
              </a:extLst>
            </p:cNvPr>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8" name="Oval 33">
              <a:extLst>
                <a:ext uri="{FF2B5EF4-FFF2-40B4-BE49-F238E27FC236}">
                  <a16:creationId xmlns:a16="http://schemas.microsoft.com/office/drawing/2014/main" id="{200CCCAE-AFE6-9405-7369-EB22D663BB36}"/>
                </a:ext>
              </a:extLst>
            </p:cNvPr>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9" name="Oval 34">
              <a:extLst>
                <a:ext uri="{FF2B5EF4-FFF2-40B4-BE49-F238E27FC236}">
                  <a16:creationId xmlns:a16="http://schemas.microsoft.com/office/drawing/2014/main" id="{3FC42D48-F13C-987F-2CAB-4CCEE219C94E}"/>
                </a:ext>
              </a:extLst>
            </p:cNvPr>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30" name="Oval 35">
              <a:extLst>
                <a:ext uri="{FF2B5EF4-FFF2-40B4-BE49-F238E27FC236}">
                  <a16:creationId xmlns:a16="http://schemas.microsoft.com/office/drawing/2014/main" id="{191185DC-2786-78C1-B46E-4760D9A6A53B}"/>
                </a:ext>
              </a:extLst>
            </p:cNvPr>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31" name="Oval 36">
              <a:extLst>
                <a:ext uri="{FF2B5EF4-FFF2-40B4-BE49-F238E27FC236}">
                  <a16:creationId xmlns:a16="http://schemas.microsoft.com/office/drawing/2014/main" id="{BD44CD0F-AC0A-C6E9-0DC7-F754612BBE18}"/>
                </a:ext>
              </a:extLst>
            </p:cNvPr>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32" name="Oval 37">
              <a:extLst>
                <a:ext uri="{FF2B5EF4-FFF2-40B4-BE49-F238E27FC236}">
                  <a16:creationId xmlns:a16="http://schemas.microsoft.com/office/drawing/2014/main" id="{D8A10FDB-5AA0-BE96-12EA-1D13468B3461}"/>
                </a:ext>
              </a:extLst>
            </p:cNvPr>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33" name="Oval 38">
              <a:extLst>
                <a:ext uri="{FF2B5EF4-FFF2-40B4-BE49-F238E27FC236}">
                  <a16:creationId xmlns:a16="http://schemas.microsoft.com/office/drawing/2014/main" id="{B9289D24-37CD-BA3E-B8B0-E48779A96F0B}"/>
                </a:ext>
              </a:extLst>
            </p:cNvPr>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34" name="Oval 39">
              <a:extLst>
                <a:ext uri="{FF2B5EF4-FFF2-40B4-BE49-F238E27FC236}">
                  <a16:creationId xmlns:a16="http://schemas.microsoft.com/office/drawing/2014/main" id="{1DD6C9B3-0E08-0ECE-544F-724B4329362A}"/>
                </a:ext>
              </a:extLst>
            </p:cNvPr>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grpSp>
      <p:sp>
        <p:nvSpPr>
          <p:cNvPr id="35" name="Line 40">
            <a:extLst>
              <a:ext uri="{FF2B5EF4-FFF2-40B4-BE49-F238E27FC236}">
                <a16:creationId xmlns:a16="http://schemas.microsoft.com/office/drawing/2014/main" id="{6EEE372D-6538-3BE1-2D15-206B30941D33}"/>
              </a:ext>
            </a:extLst>
          </p:cNvPr>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1" name="Rectangle 3"/>
          <p:cNvSpPr>
            <a:spLocks noGrp="1" noChangeArrowheads="1"/>
          </p:cNvSpPr>
          <p:nvPr>
            <p:ph type="ctrTitle"/>
          </p:nvPr>
        </p:nvSpPr>
        <p:spPr>
          <a:xfrm>
            <a:off x="315913" y="466725"/>
            <a:ext cx="6781800" cy="2133600"/>
          </a:xfrm>
        </p:spPr>
        <p:txBody>
          <a:bodyPr/>
          <a:lstStyle>
            <a:lvl1pPr algn="r">
              <a:defRPr sz="4800"/>
            </a:lvl1pPr>
          </a:lstStyle>
          <a:p>
            <a:r>
              <a:rPr lang="en-GB" altLang="en-US"/>
              <a:t>Click to edit Master title style</a:t>
            </a:r>
          </a:p>
        </p:txBody>
      </p:sp>
      <p:sp>
        <p:nvSpPr>
          <p:cNvPr id="53252"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en-GB" altLang="en-US"/>
              <a:t>Click to edit Master subtitle style</a:t>
            </a:r>
          </a:p>
        </p:txBody>
      </p:sp>
      <p:sp>
        <p:nvSpPr>
          <p:cNvPr id="36" name="Rectangle 5">
            <a:extLst>
              <a:ext uri="{FF2B5EF4-FFF2-40B4-BE49-F238E27FC236}">
                <a16:creationId xmlns:a16="http://schemas.microsoft.com/office/drawing/2014/main" id="{D20AA0E5-9215-9C35-2C9E-8D16A3735860}"/>
              </a:ext>
            </a:extLst>
          </p:cNvPr>
          <p:cNvSpPr>
            <a:spLocks noGrp="1" noChangeArrowheads="1"/>
          </p:cNvSpPr>
          <p:nvPr>
            <p:ph type="dt" sz="half" idx="10"/>
          </p:nvPr>
        </p:nvSpPr>
        <p:spPr/>
        <p:txBody>
          <a:bodyPr/>
          <a:lstStyle>
            <a:lvl1pPr>
              <a:defRPr/>
            </a:lvl1pPr>
          </a:lstStyle>
          <a:p>
            <a:pPr>
              <a:defRPr/>
            </a:pPr>
            <a:endParaRPr lang="en-GB" altLang="en-US"/>
          </a:p>
        </p:txBody>
      </p:sp>
      <p:sp>
        <p:nvSpPr>
          <p:cNvPr id="37" name="Rectangle 6">
            <a:extLst>
              <a:ext uri="{FF2B5EF4-FFF2-40B4-BE49-F238E27FC236}">
                <a16:creationId xmlns:a16="http://schemas.microsoft.com/office/drawing/2014/main" id="{D12D3C6A-0AF4-F1F6-0AAC-20C6F8D26ECE}"/>
              </a:ext>
            </a:extLst>
          </p:cNvPr>
          <p:cNvSpPr>
            <a:spLocks noGrp="1" noChangeArrowheads="1"/>
          </p:cNvSpPr>
          <p:nvPr>
            <p:ph type="ftr" sz="quarter" idx="11"/>
          </p:nvPr>
        </p:nvSpPr>
        <p:spPr/>
        <p:txBody>
          <a:bodyPr/>
          <a:lstStyle>
            <a:lvl1pPr>
              <a:defRPr/>
            </a:lvl1pPr>
          </a:lstStyle>
          <a:p>
            <a:pPr>
              <a:defRPr/>
            </a:pPr>
            <a:endParaRPr lang="en-GB" altLang="en-US"/>
          </a:p>
        </p:txBody>
      </p:sp>
      <p:sp>
        <p:nvSpPr>
          <p:cNvPr id="38" name="Rectangle 7">
            <a:extLst>
              <a:ext uri="{FF2B5EF4-FFF2-40B4-BE49-F238E27FC236}">
                <a16:creationId xmlns:a16="http://schemas.microsoft.com/office/drawing/2014/main" id="{C5766A59-C1D3-CF95-506A-4BB8B85DFEE2}"/>
              </a:ext>
            </a:extLst>
          </p:cNvPr>
          <p:cNvSpPr>
            <a:spLocks noGrp="1" noChangeArrowheads="1"/>
          </p:cNvSpPr>
          <p:nvPr>
            <p:ph type="sldNum" sz="quarter" idx="12"/>
          </p:nvPr>
        </p:nvSpPr>
        <p:spPr/>
        <p:txBody>
          <a:bodyPr/>
          <a:lstStyle>
            <a:lvl1pPr>
              <a:defRPr/>
            </a:lvl1pPr>
          </a:lstStyle>
          <a:p>
            <a:fld id="{40CDAED5-DBA4-CA40-989C-5F60253B63EE}" type="slidenum">
              <a:rPr lang="en-GB" altLang="en-US"/>
              <a:pPr/>
              <a:t>‹#›</a:t>
            </a:fld>
            <a:endParaRPr lang="en-GB" altLang="en-US"/>
          </a:p>
        </p:txBody>
      </p:sp>
    </p:spTree>
    <p:extLst>
      <p:ext uri="{BB962C8B-B14F-4D97-AF65-F5344CB8AC3E}">
        <p14:creationId xmlns:p14="http://schemas.microsoft.com/office/powerpoint/2010/main" val="3751156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84542337-7AE7-C335-DF1D-49464CFD6825}"/>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D445AD54-0B1E-190E-AA23-FFB7D390ED91}"/>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6" name="Rectangle 7">
            <a:extLst>
              <a:ext uri="{FF2B5EF4-FFF2-40B4-BE49-F238E27FC236}">
                <a16:creationId xmlns:a16="http://schemas.microsoft.com/office/drawing/2014/main" id="{8E0A0998-A833-EB04-CD22-D5620A7F09DD}"/>
              </a:ext>
            </a:extLst>
          </p:cNvPr>
          <p:cNvSpPr>
            <a:spLocks noGrp="1" noChangeArrowheads="1"/>
          </p:cNvSpPr>
          <p:nvPr>
            <p:ph type="sldNum" sz="quarter" idx="12"/>
          </p:nvPr>
        </p:nvSpPr>
        <p:spPr>
          <a:ln/>
        </p:spPr>
        <p:txBody>
          <a:bodyPr/>
          <a:lstStyle>
            <a:lvl1pPr>
              <a:defRPr/>
            </a:lvl1pPr>
          </a:lstStyle>
          <a:p>
            <a:fld id="{8C9B2AC6-654B-EA4B-8848-825F2AAA145B}" type="slidenum">
              <a:rPr lang="en-GB" altLang="en-US"/>
              <a:pPr/>
              <a:t>‹#›</a:t>
            </a:fld>
            <a:endParaRPr lang="en-GB" altLang="en-US"/>
          </a:p>
        </p:txBody>
      </p:sp>
    </p:spTree>
    <p:extLst>
      <p:ext uri="{BB962C8B-B14F-4D97-AF65-F5344CB8AC3E}">
        <p14:creationId xmlns:p14="http://schemas.microsoft.com/office/powerpoint/2010/main" val="603225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A93B6FA6-BC35-1D0A-75BA-1646A1E2B5ED}"/>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5EA0E258-9856-78C2-54BE-83C478018EA4}"/>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6" name="Rectangle 7">
            <a:extLst>
              <a:ext uri="{FF2B5EF4-FFF2-40B4-BE49-F238E27FC236}">
                <a16:creationId xmlns:a16="http://schemas.microsoft.com/office/drawing/2014/main" id="{D9059E6A-99CD-C4A8-5B25-3E4DC0B2CE50}"/>
              </a:ext>
            </a:extLst>
          </p:cNvPr>
          <p:cNvSpPr>
            <a:spLocks noGrp="1" noChangeArrowheads="1"/>
          </p:cNvSpPr>
          <p:nvPr>
            <p:ph type="sldNum" sz="quarter" idx="12"/>
          </p:nvPr>
        </p:nvSpPr>
        <p:spPr>
          <a:ln/>
        </p:spPr>
        <p:txBody>
          <a:bodyPr/>
          <a:lstStyle>
            <a:lvl1pPr>
              <a:defRPr/>
            </a:lvl1pPr>
          </a:lstStyle>
          <a:p>
            <a:fld id="{5707EE05-9373-8343-8A42-639CF24268FC}" type="slidenum">
              <a:rPr lang="en-GB" altLang="en-US"/>
              <a:pPr/>
              <a:t>‹#›</a:t>
            </a:fld>
            <a:endParaRPr lang="en-GB" altLang="en-US"/>
          </a:p>
        </p:txBody>
      </p:sp>
    </p:spTree>
    <p:extLst>
      <p:ext uri="{BB962C8B-B14F-4D97-AF65-F5344CB8AC3E}">
        <p14:creationId xmlns:p14="http://schemas.microsoft.com/office/powerpoint/2010/main" val="4253161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B0C5711A-5351-900A-894A-9A45CD7F38E6}"/>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AE871D68-1040-665D-611B-C184E89156DC}"/>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2803B3DA-527F-FBEA-FE35-2B43BAFC6D31}"/>
              </a:ext>
            </a:extLst>
          </p:cNvPr>
          <p:cNvSpPr>
            <a:spLocks noGrp="1" noChangeArrowheads="1"/>
          </p:cNvSpPr>
          <p:nvPr>
            <p:ph type="sldNum" sz="quarter" idx="12"/>
          </p:nvPr>
        </p:nvSpPr>
        <p:spPr>
          <a:ln/>
        </p:spPr>
        <p:txBody>
          <a:bodyPr/>
          <a:lstStyle>
            <a:lvl1pPr>
              <a:defRPr/>
            </a:lvl1pPr>
          </a:lstStyle>
          <a:p>
            <a:fld id="{B87D9D66-42C6-F947-9428-168C1DCFB966}" type="slidenum">
              <a:rPr lang="en-GB" altLang="en-US"/>
              <a:pPr/>
              <a:t>‹#›</a:t>
            </a:fld>
            <a:endParaRPr lang="en-GB" altLang="en-US"/>
          </a:p>
        </p:txBody>
      </p:sp>
    </p:spTree>
    <p:extLst>
      <p:ext uri="{BB962C8B-B14F-4D97-AF65-F5344CB8AC3E}">
        <p14:creationId xmlns:p14="http://schemas.microsoft.com/office/powerpoint/2010/main" val="260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094C3247-B590-4F6B-ED91-3CFBE88217E8}"/>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8" name="Rectangle 6">
            <a:extLst>
              <a:ext uri="{FF2B5EF4-FFF2-40B4-BE49-F238E27FC236}">
                <a16:creationId xmlns:a16="http://schemas.microsoft.com/office/drawing/2014/main" id="{A56FA9D8-BBB9-FF67-8008-EB69485B95F2}"/>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9" name="Rectangle 7">
            <a:extLst>
              <a:ext uri="{FF2B5EF4-FFF2-40B4-BE49-F238E27FC236}">
                <a16:creationId xmlns:a16="http://schemas.microsoft.com/office/drawing/2014/main" id="{14523859-68AD-0876-4455-D16DD89D3F03}"/>
              </a:ext>
            </a:extLst>
          </p:cNvPr>
          <p:cNvSpPr>
            <a:spLocks noGrp="1" noChangeArrowheads="1"/>
          </p:cNvSpPr>
          <p:nvPr>
            <p:ph type="sldNum" sz="quarter" idx="12"/>
          </p:nvPr>
        </p:nvSpPr>
        <p:spPr>
          <a:ln/>
        </p:spPr>
        <p:txBody>
          <a:bodyPr/>
          <a:lstStyle>
            <a:lvl1pPr>
              <a:defRPr/>
            </a:lvl1pPr>
          </a:lstStyle>
          <a:p>
            <a:fld id="{40760B64-32AC-A447-B90E-75C41DE82742}" type="slidenum">
              <a:rPr lang="en-GB" altLang="en-US"/>
              <a:pPr/>
              <a:t>‹#›</a:t>
            </a:fld>
            <a:endParaRPr lang="en-GB" altLang="en-US"/>
          </a:p>
        </p:txBody>
      </p:sp>
    </p:spTree>
    <p:extLst>
      <p:ext uri="{BB962C8B-B14F-4D97-AF65-F5344CB8AC3E}">
        <p14:creationId xmlns:p14="http://schemas.microsoft.com/office/powerpoint/2010/main" val="142397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40F0DF3F-E63C-0DBC-7118-03A53D88747E}"/>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4" name="Rectangle 6">
            <a:extLst>
              <a:ext uri="{FF2B5EF4-FFF2-40B4-BE49-F238E27FC236}">
                <a16:creationId xmlns:a16="http://schemas.microsoft.com/office/drawing/2014/main" id="{4FCF0DDE-D503-3A40-BB54-109A3004A130}"/>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5" name="Rectangle 7">
            <a:extLst>
              <a:ext uri="{FF2B5EF4-FFF2-40B4-BE49-F238E27FC236}">
                <a16:creationId xmlns:a16="http://schemas.microsoft.com/office/drawing/2014/main" id="{406186BF-2803-34BD-3E3F-871B8FC47DC6}"/>
              </a:ext>
            </a:extLst>
          </p:cNvPr>
          <p:cNvSpPr>
            <a:spLocks noGrp="1" noChangeArrowheads="1"/>
          </p:cNvSpPr>
          <p:nvPr>
            <p:ph type="sldNum" sz="quarter" idx="12"/>
          </p:nvPr>
        </p:nvSpPr>
        <p:spPr>
          <a:ln/>
        </p:spPr>
        <p:txBody>
          <a:bodyPr/>
          <a:lstStyle>
            <a:lvl1pPr>
              <a:defRPr/>
            </a:lvl1pPr>
          </a:lstStyle>
          <a:p>
            <a:fld id="{30DF3477-3504-314A-8D33-B5FD221721F0}" type="slidenum">
              <a:rPr lang="en-GB" altLang="en-US"/>
              <a:pPr/>
              <a:t>‹#›</a:t>
            </a:fld>
            <a:endParaRPr lang="en-GB" altLang="en-US"/>
          </a:p>
        </p:txBody>
      </p:sp>
    </p:spTree>
    <p:extLst>
      <p:ext uri="{BB962C8B-B14F-4D97-AF65-F5344CB8AC3E}">
        <p14:creationId xmlns:p14="http://schemas.microsoft.com/office/powerpoint/2010/main" val="3839293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CAB7B33E-D977-D0A3-3696-E60C0E05FA06}"/>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3" name="Rectangle 6">
            <a:extLst>
              <a:ext uri="{FF2B5EF4-FFF2-40B4-BE49-F238E27FC236}">
                <a16:creationId xmlns:a16="http://schemas.microsoft.com/office/drawing/2014/main" id="{A3A8F0D8-2EA2-D3A3-691C-E6CDBF7840F6}"/>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4" name="Rectangle 7">
            <a:extLst>
              <a:ext uri="{FF2B5EF4-FFF2-40B4-BE49-F238E27FC236}">
                <a16:creationId xmlns:a16="http://schemas.microsoft.com/office/drawing/2014/main" id="{A4AE6B66-E50A-552A-BBFB-DFE328D94D1D}"/>
              </a:ext>
            </a:extLst>
          </p:cNvPr>
          <p:cNvSpPr>
            <a:spLocks noGrp="1" noChangeArrowheads="1"/>
          </p:cNvSpPr>
          <p:nvPr>
            <p:ph type="sldNum" sz="quarter" idx="12"/>
          </p:nvPr>
        </p:nvSpPr>
        <p:spPr>
          <a:ln/>
        </p:spPr>
        <p:txBody>
          <a:bodyPr/>
          <a:lstStyle>
            <a:lvl1pPr>
              <a:defRPr/>
            </a:lvl1pPr>
          </a:lstStyle>
          <a:p>
            <a:fld id="{F4E62CE4-9A8A-CC49-89FD-C733D3E3EB37}" type="slidenum">
              <a:rPr lang="en-GB" altLang="en-US"/>
              <a:pPr/>
              <a:t>‹#›</a:t>
            </a:fld>
            <a:endParaRPr lang="en-GB" altLang="en-US"/>
          </a:p>
        </p:txBody>
      </p:sp>
    </p:spTree>
    <p:extLst>
      <p:ext uri="{BB962C8B-B14F-4D97-AF65-F5344CB8AC3E}">
        <p14:creationId xmlns:p14="http://schemas.microsoft.com/office/powerpoint/2010/main" val="364698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F395A045-2791-71A3-8073-CF0343E484BA}"/>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8217BD2C-2B57-112F-0435-A251EB910255}"/>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7B62A969-8291-265C-7506-80FDC8FED90F}"/>
              </a:ext>
            </a:extLst>
          </p:cNvPr>
          <p:cNvSpPr>
            <a:spLocks noGrp="1" noChangeArrowheads="1"/>
          </p:cNvSpPr>
          <p:nvPr>
            <p:ph type="sldNum" sz="quarter" idx="12"/>
          </p:nvPr>
        </p:nvSpPr>
        <p:spPr>
          <a:ln/>
        </p:spPr>
        <p:txBody>
          <a:bodyPr/>
          <a:lstStyle>
            <a:lvl1pPr>
              <a:defRPr/>
            </a:lvl1pPr>
          </a:lstStyle>
          <a:p>
            <a:fld id="{6B2E4CED-6D5C-7B42-A118-F1377E87265B}" type="slidenum">
              <a:rPr lang="en-GB" altLang="en-US"/>
              <a:pPr/>
              <a:t>‹#›</a:t>
            </a:fld>
            <a:endParaRPr lang="en-GB" altLang="en-US"/>
          </a:p>
        </p:txBody>
      </p:sp>
    </p:spTree>
    <p:extLst>
      <p:ext uri="{BB962C8B-B14F-4D97-AF65-F5344CB8AC3E}">
        <p14:creationId xmlns:p14="http://schemas.microsoft.com/office/powerpoint/2010/main" val="997054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12FD2CBA-E4B8-E170-5EE3-73D5997FBB80}"/>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3EE3F36F-9FBF-B8AB-2403-590452E0B3B6}"/>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ED4CB722-E762-C9F4-A984-C3B9FB313ED9}"/>
              </a:ext>
            </a:extLst>
          </p:cNvPr>
          <p:cNvSpPr>
            <a:spLocks noGrp="1" noChangeArrowheads="1"/>
          </p:cNvSpPr>
          <p:nvPr>
            <p:ph type="sldNum" sz="quarter" idx="12"/>
          </p:nvPr>
        </p:nvSpPr>
        <p:spPr>
          <a:ln/>
        </p:spPr>
        <p:txBody>
          <a:bodyPr/>
          <a:lstStyle>
            <a:lvl1pPr>
              <a:defRPr/>
            </a:lvl1pPr>
          </a:lstStyle>
          <a:p>
            <a:fld id="{42EABC3C-7EC0-1242-B447-6161414A76A4}" type="slidenum">
              <a:rPr lang="en-GB" altLang="en-US"/>
              <a:pPr/>
              <a:t>‹#›</a:t>
            </a:fld>
            <a:endParaRPr lang="en-GB" altLang="en-US"/>
          </a:p>
        </p:txBody>
      </p:sp>
    </p:spTree>
    <p:extLst>
      <p:ext uri="{BB962C8B-B14F-4D97-AF65-F5344CB8AC3E}">
        <p14:creationId xmlns:p14="http://schemas.microsoft.com/office/powerpoint/2010/main" val="386619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488F34A9-A36B-D7A0-5021-A1718E02F205}"/>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A0481578-21A7-82D5-F1D0-BA465262DD30}"/>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6" name="Rectangle 7">
            <a:extLst>
              <a:ext uri="{FF2B5EF4-FFF2-40B4-BE49-F238E27FC236}">
                <a16:creationId xmlns:a16="http://schemas.microsoft.com/office/drawing/2014/main" id="{B0372147-AFA3-61E8-EF9E-F409C83146E6}"/>
              </a:ext>
            </a:extLst>
          </p:cNvPr>
          <p:cNvSpPr>
            <a:spLocks noGrp="1" noChangeArrowheads="1"/>
          </p:cNvSpPr>
          <p:nvPr>
            <p:ph type="sldNum" sz="quarter" idx="12"/>
          </p:nvPr>
        </p:nvSpPr>
        <p:spPr>
          <a:ln/>
        </p:spPr>
        <p:txBody>
          <a:bodyPr/>
          <a:lstStyle>
            <a:lvl1pPr>
              <a:defRPr/>
            </a:lvl1pPr>
          </a:lstStyle>
          <a:p>
            <a:fld id="{F655CADA-481D-DA4C-AC17-5EAB3407B955}" type="slidenum">
              <a:rPr lang="en-GB" altLang="en-US"/>
              <a:pPr/>
              <a:t>‹#›</a:t>
            </a:fld>
            <a:endParaRPr lang="en-GB" altLang="en-US"/>
          </a:p>
        </p:txBody>
      </p:sp>
    </p:spTree>
    <p:extLst>
      <p:ext uri="{BB962C8B-B14F-4D97-AF65-F5344CB8AC3E}">
        <p14:creationId xmlns:p14="http://schemas.microsoft.com/office/powerpoint/2010/main" val="4011697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F34CBAB-DD5A-F869-F26E-FE413648B149}"/>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7A3D5728-18CD-9B6E-5F45-FA9756D59E64}"/>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6" name="Rectangle 7">
            <a:extLst>
              <a:ext uri="{FF2B5EF4-FFF2-40B4-BE49-F238E27FC236}">
                <a16:creationId xmlns:a16="http://schemas.microsoft.com/office/drawing/2014/main" id="{4FB4BDDA-8634-B03A-A93C-AC9096B83AC0}"/>
              </a:ext>
            </a:extLst>
          </p:cNvPr>
          <p:cNvSpPr>
            <a:spLocks noGrp="1" noChangeArrowheads="1"/>
          </p:cNvSpPr>
          <p:nvPr>
            <p:ph type="sldNum" sz="quarter" idx="12"/>
          </p:nvPr>
        </p:nvSpPr>
        <p:spPr>
          <a:ln/>
        </p:spPr>
        <p:txBody>
          <a:bodyPr/>
          <a:lstStyle>
            <a:lvl1pPr>
              <a:defRPr/>
            </a:lvl1pPr>
          </a:lstStyle>
          <a:p>
            <a:fld id="{87BEA52A-A1BE-A641-8A47-01630AF3A6B8}" type="slidenum">
              <a:rPr lang="en-GB" altLang="en-US"/>
              <a:pPr/>
              <a:t>‹#›</a:t>
            </a:fld>
            <a:endParaRPr lang="en-GB" altLang="en-US"/>
          </a:p>
        </p:txBody>
      </p:sp>
    </p:spTree>
    <p:extLst>
      <p:ext uri="{BB962C8B-B14F-4D97-AF65-F5344CB8AC3E}">
        <p14:creationId xmlns:p14="http://schemas.microsoft.com/office/powerpoint/2010/main" val="478702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1FA37797-22A9-FF3F-27D2-8D197EBC8B91}"/>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15D97BBD-7136-7052-73C2-3D542E8EE66F}"/>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14C72FC0-0238-924A-8BCC-C39C54EEF1B1}"/>
              </a:ext>
            </a:extLst>
          </p:cNvPr>
          <p:cNvSpPr>
            <a:spLocks noGrp="1" noChangeArrowheads="1"/>
          </p:cNvSpPr>
          <p:nvPr>
            <p:ph type="sldNum" sz="quarter" idx="12"/>
          </p:nvPr>
        </p:nvSpPr>
        <p:spPr>
          <a:ln/>
        </p:spPr>
        <p:txBody>
          <a:bodyPr/>
          <a:lstStyle>
            <a:lvl1pPr>
              <a:defRPr/>
            </a:lvl1pPr>
          </a:lstStyle>
          <a:p>
            <a:fld id="{963C4BB3-2E66-F046-AB8C-AA375B73DEDB}" type="slidenum">
              <a:rPr lang="en-GB" altLang="en-US"/>
              <a:pPr/>
              <a:t>‹#›</a:t>
            </a:fld>
            <a:endParaRPr lang="en-GB" altLang="en-US"/>
          </a:p>
        </p:txBody>
      </p:sp>
    </p:spTree>
    <p:extLst>
      <p:ext uri="{BB962C8B-B14F-4D97-AF65-F5344CB8AC3E}">
        <p14:creationId xmlns:p14="http://schemas.microsoft.com/office/powerpoint/2010/main" val="971812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8229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4000500"/>
            <a:ext cx="8229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5F7D42DE-2259-73AD-2AD7-F81E382E53F2}"/>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9847F3FC-B46E-8281-B426-D1803E7F8190}"/>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D36E825F-0268-4C85-226B-BB51EFFB6BAD}"/>
              </a:ext>
            </a:extLst>
          </p:cNvPr>
          <p:cNvSpPr>
            <a:spLocks noGrp="1" noChangeArrowheads="1"/>
          </p:cNvSpPr>
          <p:nvPr>
            <p:ph type="sldNum" sz="quarter" idx="12"/>
          </p:nvPr>
        </p:nvSpPr>
        <p:spPr>
          <a:ln/>
        </p:spPr>
        <p:txBody>
          <a:bodyPr/>
          <a:lstStyle>
            <a:lvl1pPr>
              <a:defRPr/>
            </a:lvl1pPr>
          </a:lstStyle>
          <a:p>
            <a:fld id="{E9718167-C223-E34B-8655-F67062C4E8A2}" type="slidenum">
              <a:rPr lang="en-GB" altLang="en-US"/>
              <a:pPr/>
              <a:t>‹#›</a:t>
            </a:fld>
            <a:endParaRPr lang="en-GB" altLang="en-US"/>
          </a:p>
        </p:txBody>
      </p:sp>
    </p:spTree>
    <p:extLst>
      <p:ext uri="{BB962C8B-B14F-4D97-AF65-F5344CB8AC3E}">
        <p14:creationId xmlns:p14="http://schemas.microsoft.com/office/powerpoint/2010/main" val="9005466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Content Placeholder 2"/>
          <p:cNvSpPr>
            <a:spLocks noGrp="1"/>
          </p:cNvSpPr>
          <p:nvPr>
            <p:ph sz="half" idx="1"/>
          </p:nvPr>
        </p:nvSpPr>
        <p:spPr>
          <a:xfrm>
            <a:off x="457200" y="1719263"/>
            <a:ext cx="8229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4000500"/>
            <a:ext cx="8229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B65F743B-5D40-889B-4A19-D1B2AC8DC528}"/>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2CD50073-14EC-C309-D9A3-A2077B62037F}"/>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8051E5D5-9CEC-8002-7078-0C4F32581CF9}"/>
              </a:ext>
            </a:extLst>
          </p:cNvPr>
          <p:cNvSpPr>
            <a:spLocks noGrp="1" noChangeArrowheads="1"/>
          </p:cNvSpPr>
          <p:nvPr>
            <p:ph type="sldNum" sz="quarter" idx="12"/>
          </p:nvPr>
        </p:nvSpPr>
        <p:spPr>
          <a:ln/>
        </p:spPr>
        <p:txBody>
          <a:bodyPr/>
          <a:lstStyle>
            <a:lvl1pPr>
              <a:defRPr/>
            </a:lvl1pPr>
          </a:lstStyle>
          <a:p>
            <a:fld id="{AF31D301-A7D2-7549-AD47-23C280CF8658}" type="slidenum">
              <a:rPr lang="en-GB" altLang="en-US"/>
              <a:pPr/>
              <a:t>‹#›</a:t>
            </a:fld>
            <a:endParaRPr lang="en-GB" altLang="en-US"/>
          </a:p>
        </p:txBody>
      </p:sp>
    </p:spTree>
    <p:extLst>
      <p:ext uri="{BB962C8B-B14F-4D97-AF65-F5344CB8AC3E}">
        <p14:creationId xmlns:p14="http://schemas.microsoft.com/office/powerpoint/2010/main" val="32582021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154DBBBE-34F8-6865-ECDE-E49B886DA69C}"/>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928C8794-4777-EB74-E009-27685D2AC8A9}"/>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0CEE41E8-15B6-FC4E-C3CD-37446BDA7409}"/>
              </a:ext>
            </a:extLst>
          </p:cNvPr>
          <p:cNvSpPr>
            <a:spLocks noGrp="1" noChangeArrowheads="1"/>
          </p:cNvSpPr>
          <p:nvPr>
            <p:ph type="sldNum" sz="quarter" idx="12"/>
          </p:nvPr>
        </p:nvSpPr>
        <p:spPr>
          <a:ln/>
        </p:spPr>
        <p:txBody>
          <a:bodyPr/>
          <a:lstStyle>
            <a:lvl1pPr>
              <a:defRPr/>
            </a:lvl1pPr>
          </a:lstStyle>
          <a:p>
            <a:fld id="{17EFE8B5-4FB2-CB48-BB3D-0E3527B7D6E9}" type="slidenum">
              <a:rPr lang="en-GB" altLang="en-US"/>
              <a:pPr/>
              <a:t>‹#›</a:t>
            </a:fld>
            <a:endParaRPr lang="en-GB" altLang="en-US"/>
          </a:p>
        </p:txBody>
      </p:sp>
    </p:spTree>
    <p:extLst>
      <p:ext uri="{BB962C8B-B14F-4D97-AF65-F5344CB8AC3E}">
        <p14:creationId xmlns:p14="http://schemas.microsoft.com/office/powerpoint/2010/main" val="2627129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a:extLst>
              <a:ext uri="{FF2B5EF4-FFF2-40B4-BE49-F238E27FC236}">
                <a16:creationId xmlns:a16="http://schemas.microsoft.com/office/drawing/2014/main" id="{8A465367-FFD3-1E65-8F6C-576BE08DCD98}"/>
              </a:ext>
            </a:extLst>
          </p:cNvPr>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a:extLst>
              <a:ext uri="{FF2B5EF4-FFF2-40B4-BE49-F238E27FC236}">
                <a16:creationId xmlns:a16="http://schemas.microsoft.com/office/drawing/2014/main" id="{6C7233C9-D476-E852-E75C-4B11B315B01B}"/>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GB" altLang="en-US"/>
              <a:t>Click to edit Master title style</a:t>
            </a:r>
          </a:p>
        </p:txBody>
      </p:sp>
      <p:sp>
        <p:nvSpPr>
          <p:cNvPr id="1028" name="Rectangle 4">
            <a:extLst>
              <a:ext uri="{FF2B5EF4-FFF2-40B4-BE49-F238E27FC236}">
                <a16:creationId xmlns:a16="http://schemas.microsoft.com/office/drawing/2014/main" id="{68D48902-5A92-20E0-0EB8-2794E5DB7E73}"/>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52229" name="Rectangle 5">
            <a:extLst>
              <a:ext uri="{FF2B5EF4-FFF2-40B4-BE49-F238E27FC236}">
                <a16:creationId xmlns:a16="http://schemas.microsoft.com/office/drawing/2014/main" id="{E7CF3642-1C60-D9F4-AA24-AC9184F348A1}"/>
              </a:ext>
            </a:extLst>
          </p:cNvPr>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cs typeface="Arial" charset="0"/>
              </a:defRPr>
            </a:lvl1pPr>
          </a:lstStyle>
          <a:p>
            <a:pPr>
              <a:defRPr/>
            </a:pPr>
            <a:endParaRPr lang="en-GB" altLang="en-US"/>
          </a:p>
        </p:txBody>
      </p:sp>
      <p:sp>
        <p:nvSpPr>
          <p:cNvPr id="52230" name="Rectangle 6">
            <a:extLst>
              <a:ext uri="{FF2B5EF4-FFF2-40B4-BE49-F238E27FC236}">
                <a16:creationId xmlns:a16="http://schemas.microsoft.com/office/drawing/2014/main" id="{9A66BEBB-4EE0-C810-13B1-B5A9DBC67B60}"/>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atin typeface="Arial" charset="0"/>
                <a:cs typeface="Arial" charset="0"/>
              </a:defRPr>
            </a:lvl1pPr>
          </a:lstStyle>
          <a:p>
            <a:pPr>
              <a:defRPr/>
            </a:pPr>
            <a:endParaRPr lang="en-GB" altLang="en-US"/>
          </a:p>
        </p:txBody>
      </p:sp>
      <p:sp>
        <p:nvSpPr>
          <p:cNvPr id="52231" name="Rectangle 7">
            <a:extLst>
              <a:ext uri="{FF2B5EF4-FFF2-40B4-BE49-F238E27FC236}">
                <a16:creationId xmlns:a16="http://schemas.microsoft.com/office/drawing/2014/main" id="{33F1C7B1-61EC-C7F8-414C-FE82DC6A77BE}"/>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fld id="{CDCDC444-F8D7-D84C-A263-B2CFDE32DBF3}" type="slidenum">
              <a:rPr lang="en-GB" altLang="en-US"/>
              <a:pPr/>
              <a:t>‹#›</a:t>
            </a:fld>
            <a:endParaRPr lang="en-GB" altLang="en-US"/>
          </a:p>
        </p:txBody>
      </p:sp>
      <p:grpSp>
        <p:nvGrpSpPr>
          <p:cNvPr id="1032" name="Group 8">
            <a:extLst>
              <a:ext uri="{FF2B5EF4-FFF2-40B4-BE49-F238E27FC236}">
                <a16:creationId xmlns:a16="http://schemas.microsoft.com/office/drawing/2014/main" id="{BA1F756B-CEC4-0E16-842E-6E28A7ABAA8F}"/>
              </a:ext>
            </a:extLst>
          </p:cNvPr>
          <p:cNvGrpSpPr>
            <a:grpSpLocks/>
          </p:cNvGrpSpPr>
          <p:nvPr/>
        </p:nvGrpSpPr>
        <p:grpSpPr bwMode="auto">
          <a:xfrm>
            <a:off x="8153400" y="152400"/>
            <a:ext cx="792163" cy="1295400"/>
            <a:chOff x="5136" y="960"/>
            <a:chExt cx="528" cy="864"/>
          </a:xfrm>
        </p:grpSpPr>
        <p:sp>
          <p:nvSpPr>
            <p:cNvPr id="1033" name="Oval 9">
              <a:extLst>
                <a:ext uri="{FF2B5EF4-FFF2-40B4-BE49-F238E27FC236}">
                  <a16:creationId xmlns:a16="http://schemas.microsoft.com/office/drawing/2014/main" id="{B9794A7E-3E79-428F-2057-414E5386C279}"/>
                </a:ext>
              </a:extLst>
            </p:cNvPr>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34" name="Oval 10">
              <a:extLst>
                <a:ext uri="{FF2B5EF4-FFF2-40B4-BE49-F238E27FC236}">
                  <a16:creationId xmlns:a16="http://schemas.microsoft.com/office/drawing/2014/main" id="{329206A5-D9E9-ECCC-1CCF-FBF70864B19C}"/>
                </a:ext>
              </a:extLst>
            </p:cNvPr>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35" name="Oval 11">
              <a:extLst>
                <a:ext uri="{FF2B5EF4-FFF2-40B4-BE49-F238E27FC236}">
                  <a16:creationId xmlns:a16="http://schemas.microsoft.com/office/drawing/2014/main" id="{077882C6-F69D-5354-56C7-2361AADC3637}"/>
                </a:ext>
              </a:extLst>
            </p:cNvPr>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36" name="Oval 12">
              <a:extLst>
                <a:ext uri="{FF2B5EF4-FFF2-40B4-BE49-F238E27FC236}">
                  <a16:creationId xmlns:a16="http://schemas.microsoft.com/office/drawing/2014/main" id="{6AE8568D-6E07-9CD4-DEC4-44CC9571C49C}"/>
                </a:ext>
              </a:extLst>
            </p:cNvPr>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37" name="Oval 13">
              <a:extLst>
                <a:ext uri="{FF2B5EF4-FFF2-40B4-BE49-F238E27FC236}">
                  <a16:creationId xmlns:a16="http://schemas.microsoft.com/office/drawing/2014/main" id="{1A86E02C-0BC3-92B0-AB8D-D8DE2D02C541}"/>
                </a:ext>
              </a:extLst>
            </p:cNvPr>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38" name="Oval 14">
              <a:extLst>
                <a:ext uri="{FF2B5EF4-FFF2-40B4-BE49-F238E27FC236}">
                  <a16:creationId xmlns:a16="http://schemas.microsoft.com/office/drawing/2014/main" id="{8061EA7D-D577-425D-42D5-DF2CF885B9B9}"/>
                </a:ext>
              </a:extLst>
            </p:cNvPr>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39" name="Oval 15">
              <a:extLst>
                <a:ext uri="{FF2B5EF4-FFF2-40B4-BE49-F238E27FC236}">
                  <a16:creationId xmlns:a16="http://schemas.microsoft.com/office/drawing/2014/main" id="{D0C6F7F9-0A45-F507-EBF7-D130B4B1BCCD}"/>
                </a:ext>
              </a:extLst>
            </p:cNvPr>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0" name="Oval 16">
              <a:extLst>
                <a:ext uri="{FF2B5EF4-FFF2-40B4-BE49-F238E27FC236}">
                  <a16:creationId xmlns:a16="http://schemas.microsoft.com/office/drawing/2014/main" id="{E0FB541E-6540-5FC1-02DF-08EBBADC2191}"/>
                </a:ext>
              </a:extLst>
            </p:cNvPr>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1" name="Oval 17">
              <a:extLst>
                <a:ext uri="{FF2B5EF4-FFF2-40B4-BE49-F238E27FC236}">
                  <a16:creationId xmlns:a16="http://schemas.microsoft.com/office/drawing/2014/main" id="{9BDAF1BB-530F-1656-34E9-5534E887D881}"/>
                </a:ext>
              </a:extLst>
            </p:cNvPr>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2" name="Oval 18">
              <a:extLst>
                <a:ext uri="{FF2B5EF4-FFF2-40B4-BE49-F238E27FC236}">
                  <a16:creationId xmlns:a16="http://schemas.microsoft.com/office/drawing/2014/main" id="{32EAA1D8-180C-540E-77D4-7802E47EBE8D}"/>
                </a:ext>
              </a:extLst>
            </p:cNvPr>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3" name="Oval 19">
              <a:extLst>
                <a:ext uri="{FF2B5EF4-FFF2-40B4-BE49-F238E27FC236}">
                  <a16:creationId xmlns:a16="http://schemas.microsoft.com/office/drawing/2014/main" id="{C351C24E-7EFD-ED1D-6B29-1C9CE6792540}"/>
                </a:ext>
              </a:extLst>
            </p:cNvPr>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4" name="Oval 20">
              <a:extLst>
                <a:ext uri="{FF2B5EF4-FFF2-40B4-BE49-F238E27FC236}">
                  <a16:creationId xmlns:a16="http://schemas.microsoft.com/office/drawing/2014/main" id="{4A24F4AC-50FE-42D8-FF3B-0AE0A6ADAF9A}"/>
                </a:ext>
              </a:extLst>
            </p:cNvPr>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5" name="Oval 21">
              <a:extLst>
                <a:ext uri="{FF2B5EF4-FFF2-40B4-BE49-F238E27FC236}">
                  <a16:creationId xmlns:a16="http://schemas.microsoft.com/office/drawing/2014/main" id="{3A926038-F365-6B75-EA27-1F457A215760}"/>
                </a:ext>
              </a:extLst>
            </p:cNvPr>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6" name="Oval 22">
              <a:extLst>
                <a:ext uri="{FF2B5EF4-FFF2-40B4-BE49-F238E27FC236}">
                  <a16:creationId xmlns:a16="http://schemas.microsoft.com/office/drawing/2014/main" id="{E7ADDA6C-6AC2-69CC-A562-11F7315A2B4F}"/>
                </a:ext>
              </a:extLst>
            </p:cNvPr>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7" name="Oval 23">
              <a:extLst>
                <a:ext uri="{FF2B5EF4-FFF2-40B4-BE49-F238E27FC236}">
                  <a16:creationId xmlns:a16="http://schemas.microsoft.com/office/drawing/2014/main" id="{1A76667F-BDA6-8017-B0F0-3DA5E9C8B816}"/>
                </a:ext>
              </a:extLst>
            </p:cNvPr>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8" name="Oval 24">
              <a:extLst>
                <a:ext uri="{FF2B5EF4-FFF2-40B4-BE49-F238E27FC236}">
                  <a16:creationId xmlns:a16="http://schemas.microsoft.com/office/drawing/2014/main" id="{45631211-C4C0-A159-3B30-0177FDA4BB14}"/>
                </a:ext>
              </a:extLst>
            </p:cNvPr>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9" name="Oval 25">
              <a:extLst>
                <a:ext uri="{FF2B5EF4-FFF2-40B4-BE49-F238E27FC236}">
                  <a16:creationId xmlns:a16="http://schemas.microsoft.com/office/drawing/2014/main" id="{605F9BE3-201B-4C75-3D68-6D0D6AAF209C}"/>
                </a:ext>
              </a:extLst>
            </p:cNvPr>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0" name="Oval 26">
              <a:extLst>
                <a:ext uri="{FF2B5EF4-FFF2-40B4-BE49-F238E27FC236}">
                  <a16:creationId xmlns:a16="http://schemas.microsoft.com/office/drawing/2014/main" id="{C1080E11-9925-3610-40CB-709103A55D7B}"/>
                </a:ext>
              </a:extLst>
            </p:cNvPr>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1" name="Oval 27">
              <a:extLst>
                <a:ext uri="{FF2B5EF4-FFF2-40B4-BE49-F238E27FC236}">
                  <a16:creationId xmlns:a16="http://schemas.microsoft.com/office/drawing/2014/main" id="{E1E89930-08E5-9B9F-419C-043EAA86C80F}"/>
                </a:ext>
              </a:extLst>
            </p:cNvPr>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2" name="Oval 28">
              <a:extLst>
                <a:ext uri="{FF2B5EF4-FFF2-40B4-BE49-F238E27FC236}">
                  <a16:creationId xmlns:a16="http://schemas.microsoft.com/office/drawing/2014/main" id="{73220A3C-5B0E-CB86-BCC0-2C8B5582F5F3}"/>
                </a:ext>
              </a:extLst>
            </p:cNvPr>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3" name="Oval 29">
              <a:extLst>
                <a:ext uri="{FF2B5EF4-FFF2-40B4-BE49-F238E27FC236}">
                  <a16:creationId xmlns:a16="http://schemas.microsoft.com/office/drawing/2014/main" id="{253CCECD-980D-B749-FE41-375A686C25D9}"/>
                </a:ext>
              </a:extLst>
            </p:cNvPr>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4" name="Oval 30">
              <a:extLst>
                <a:ext uri="{FF2B5EF4-FFF2-40B4-BE49-F238E27FC236}">
                  <a16:creationId xmlns:a16="http://schemas.microsoft.com/office/drawing/2014/main" id="{37B8BC76-75C8-30D3-72D5-2EAD5983C56E}"/>
                </a:ext>
              </a:extLst>
            </p:cNvPr>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5" name="Oval 31">
              <a:extLst>
                <a:ext uri="{FF2B5EF4-FFF2-40B4-BE49-F238E27FC236}">
                  <a16:creationId xmlns:a16="http://schemas.microsoft.com/office/drawing/2014/main" id="{3D772B64-804F-035D-49EC-23B41EBA441B}"/>
                </a:ext>
              </a:extLst>
            </p:cNvPr>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6" name="Oval 32">
              <a:extLst>
                <a:ext uri="{FF2B5EF4-FFF2-40B4-BE49-F238E27FC236}">
                  <a16:creationId xmlns:a16="http://schemas.microsoft.com/office/drawing/2014/main" id="{B5DC7B3A-3B30-6041-74FE-25DF2D196DBA}"/>
                </a:ext>
              </a:extLst>
            </p:cNvPr>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7" name="Oval 33">
              <a:extLst>
                <a:ext uri="{FF2B5EF4-FFF2-40B4-BE49-F238E27FC236}">
                  <a16:creationId xmlns:a16="http://schemas.microsoft.com/office/drawing/2014/main" id="{76A8367E-2B42-AACA-3F02-7BEBF6C9F37C}"/>
                </a:ext>
              </a:extLst>
            </p:cNvPr>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8" name="Oval 34">
              <a:extLst>
                <a:ext uri="{FF2B5EF4-FFF2-40B4-BE49-F238E27FC236}">
                  <a16:creationId xmlns:a16="http://schemas.microsoft.com/office/drawing/2014/main" id="{A62614C6-FF78-CC1E-8E29-CD6691CD64DD}"/>
                </a:ext>
              </a:extLst>
            </p:cNvPr>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9" name="Oval 35">
              <a:extLst>
                <a:ext uri="{FF2B5EF4-FFF2-40B4-BE49-F238E27FC236}">
                  <a16:creationId xmlns:a16="http://schemas.microsoft.com/office/drawing/2014/main" id="{43D7C53F-6EE6-915B-9AA3-7D870B6B5629}"/>
                </a:ext>
              </a:extLst>
            </p:cNvPr>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60" name="Oval 36">
              <a:extLst>
                <a:ext uri="{FF2B5EF4-FFF2-40B4-BE49-F238E27FC236}">
                  <a16:creationId xmlns:a16="http://schemas.microsoft.com/office/drawing/2014/main" id="{BBE01E32-908F-221D-8331-3F7FB10046EA}"/>
                </a:ext>
              </a:extLst>
            </p:cNvPr>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61" name="Oval 37">
              <a:extLst>
                <a:ext uri="{FF2B5EF4-FFF2-40B4-BE49-F238E27FC236}">
                  <a16:creationId xmlns:a16="http://schemas.microsoft.com/office/drawing/2014/main" id="{E961A63C-1D11-2BDC-2CFC-BA7616A4D457}"/>
                </a:ext>
              </a:extLst>
            </p:cNvPr>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62" name="Oval 38">
              <a:extLst>
                <a:ext uri="{FF2B5EF4-FFF2-40B4-BE49-F238E27FC236}">
                  <a16:creationId xmlns:a16="http://schemas.microsoft.com/office/drawing/2014/main" id="{0832BFDC-95F1-0405-0E3E-DAA07B54BE85}"/>
                </a:ext>
              </a:extLst>
            </p:cNvPr>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63" name="Oval 39">
              <a:extLst>
                <a:ext uri="{FF2B5EF4-FFF2-40B4-BE49-F238E27FC236}">
                  <a16:creationId xmlns:a16="http://schemas.microsoft.com/office/drawing/2014/main" id="{34EC5F31-F2E1-8A13-C933-59474276681B}"/>
                </a:ext>
              </a:extLst>
            </p:cNvPr>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grpSp>
    </p:spTree>
  </p:cSld>
  <p:clrMap bg1="lt1" tx1="dk1" bg2="lt2" tx2="dk2" accent1="accent1" accent2="accent2" accent3="accent3" accent4="accent4" accent5="accent5" accent6="accent6" hlink="hlink" folHlink="folHlink"/>
  <p:sldLayoutIdLst>
    <p:sldLayoutId id="2147484050" r:id="rId1"/>
    <p:sldLayoutId id="2147484036" r:id="rId2"/>
    <p:sldLayoutId id="2147484037" r:id="rId3"/>
    <p:sldLayoutId id="2147484038" r:id="rId4"/>
    <p:sldLayoutId id="2147484039" r:id="rId5"/>
    <p:sldLayoutId id="2147484040" r:id="rId6"/>
    <p:sldLayoutId id="2147484041" r:id="rId7"/>
    <p:sldLayoutId id="2147484042" r:id="rId8"/>
    <p:sldLayoutId id="2147484043" r:id="rId9"/>
    <p:sldLayoutId id="2147484044" r:id="rId10"/>
    <p:sldLayoutId id="2147484045" r:id="rId11"/>
    <p:sldLayoutId id="2147484046" r:id="rId12"/>
    <p:sldLayoutId id="2147484047" r:id="rId13"/>
    <p:sldLayoutId id="2147484048" r:id="rId14"/>
    <p:sldLayoutId id="2147484049" r:id="rId15"/>
  </p:sldLayoutIdLst>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14.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45.jpeg"/><Relationship Id="rId4" Type="http://schemas.openxmlformats.org/officeDocument/2006/relationships/image" Target="../media/image44.jpeg"/></Relationships>
</file>

<file path=ppt/slides/_rels/slide6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83.xml"/><Relationship Id="rId1" Type="http://schemas.openxmlformats.org/officeDocument/2006/relationships/slideLayout" Target="../slideLayouts/slideLayout4.xml"/><Relationship Id="rId4" Type="http://schemas.openxmlformats.org/officeDocument/2006/relationships/image" Target="../media/image63.jpeg"/></Relationships>
</file>

<file path=ppt/slides/_rels/slide87.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84.xml"/><Relationship Id="rId1" Type="http://schemas.openxmlformats.org/officeDocument/2006/relationships/slideLayout" Target="../slideLayouts/slideLayout14.xml"/></Relationships>
</file>

<file path=ppt/slides/_rels/slide8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3" Type="http://schemas.openxmlformats.org/officeDocument/2006/relationships/hyperlink" Target="http://en.wikipedia.org/wiki/Telomeres" TargetMode="External"/><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D9B0A80-2A32-8949-66DB-E0CEA7FCE012}"/>
              </a:ext>
            </a:extLst>
          </p:cNvPr>
          <p:cNvSpPr>
            <a:spLocks noGrp="1" noChangeArrowheads="1"/>
          </p:cNvSpPr>
          <p:nvPr>
            <p:ph type="ctrTitle"/>
          </p:nvPr>
        </p:nvSpPr>
        <p:spPr/>
        <p:txBody>
          <a:bodyPr/>
          <a:lstStyle/>
          <a:p>
            <a:pPr algn="l" eaLnBrk="1" hangingPunct="1"/>
            <a:r>
              <a:rPr lang="en-US" altLang="en-US">
                <a:solidFill>
                  <a:srgbClr val="0000FF"/>
                </a:solidFill>
              </a:rPr>
              <a:t>The replication of DNA</a:t>
            </a:r>
            <a:endParaRPr lang="en-GB" altLang="en-US">
              <a:solidFill>
                <a:srgbClr val="0000FF"/>
              </a:solidFill>
            </a:endParaRPr>
          </a:p>
        </p:txBody>
      </p:sp>
      <p:sp>
        <p:nvSpPr>
          <p:cNvPr id="4099" name="Rectangle 3">
            <a:extLst>
              <a:ext uri="{FF2B5EF4-FFF2-40B4-BE49-F238E27FC236}">
                <a16:creationId xmlns:a16="http://schemas.microsoft.com/office/drawing/2014/main" id="{203B0DD4-F91A-26A4-374F-E8B03883AD39}"/>
              </a:ext>
            </a:extLst>
          </p:cNvPr>
          <p:cNvSpPr>
            <a:spLocks noGrp="1" noChangeArrowheads="1"/>
          </p:cNvSpPr>
          <p:nvPr>
            <p:ph type="subTitle" idx="1"/>
          </p:nvPr>
        </p:nvSpPr>
        <p:spPr>
          <a:xfrm>
            <a:off x="849313" y="3860800"/>
            <a:ext cx="6248400" cy="1550988"/>
          </a:xfrm>
        </p:spPr>
        <p:txBody>
          <a:bodyPr/>
          <a:lstStyle/>
          <a:p>
            <a:pPr algn="l" eaLnBrk="1" hangingPunct="1"/>
            <a:r>
              <a:rPr lang="en-US" altLang="en-US"/>
              <a:t>BT 451</a:t>
            </a:r>
          </a:p>
          <a:p>
            <a:pPr algn="l" eaLnBrk="1" hangingPunct="1"/>
            <a:r>
              <a:rPr lang="en-US" altLang="en-US"/>
              <a:t>Chapter 9</a:t>
            </a:r>
          </a:p>
        </p:txBody>
      </p:sp>
      <p:pic>
        <p:nvPicPr>
          <p:cNvPr id="4100" name="Picture 8" descr="09_00Figure-L">
            <a:extLst>
              <a:ext uri="{FF2B5EF4-FFF2-40B4-BE49-F238E27FC236}">
                <a16:creationId xmlns:a16="http://schemas.microsoft.com/office/drawing/2014/main" id="{A277C3EB-C071-92F9-4EA2-626C424791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483"/>
          <a:stretch>
            <a:fillRect/>
          </a:stretch>
        </p:blipFill>
        <p:spPr bwMode="auto">
          <a:xfrm>
            <a:off x="4572000" y="2781300"/>
            <a:ext cx="4392613" cy="396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7DE619D8-42FD-8650-DF3B-73A1D4913F2F}"/>
              </a:ext>
            </a:extLst>
          </p:cNvPr>
          <p:cNvSpPr>
            <a:spLocks noGrp="1"/>
          </p:cNvSpPr>
          <p:nvPr>
            <p:ph type="title"/>
          </p:nvPr>
        </p:nvSpPr>
        <p:spPr>
          <a:xfrm>
            <a:off x="684213" y="2060575"/>
            <a:ext cx="7543800" cy="1295400"/>
          </a:xfrm>
        </p:spPr>
        <p:txBody>
          <a:bodyPr/>
          <a:lstStyle/>
          <a:p>
            <a:pPr algn="ctr" eaLnBrk="1" hangingPunct="1"/>
            <a:r>
              <a:rPr lang="en-US" altLang="en-US">
                <a:solidFill>
                  <a:srgbClr val="0000FF"/>
                </a:solidFill>
              </a:rPr>
              <a:t>The chemistry of DNA synthesis</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6">
            <a:extLst>
              <a:ext uri="{FF2B5EF4-FFF2-40B4-BE49-F238E27FC236}">
                <a16:creationId xmlns:a16="http://schemas.microsoft.com/office/drawing/2014/main" id="{AE978F5E-8BF2-F8BC-F49D-91691BF467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0712" b="5746"/>
          <a:stretch>
            <a:fillRect/>
          </a:stretch>
        </p:blipFill>
        <p:spPr bwMode="auto">
          <a:xfrm>
            <a:off x="1476375" y="2205038"/>
            <a:ext cx="4284663"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Rectangle 2">
            <a:extLst>
              <a:ext uri="{FF2B5EF4-FFF2-40B4-BE49-F238E27FC236}">
                <a16:creationId xmlns:a16="http://schemas.microsoft.com/office/drawing/2014/main" id="{C5001B73-BA9A-ACF2-91E4-3779D458E85C}"/>
              </a:ext>
            </a:extLst>
          </p:cNvPr>
          <p:cNvSpPr>
            <a:spLocks noGrp="1" noChangeArrowheads="1"/>
          </p:cNvSpPr>
          <p:nvPr>
            <p:ph type="title"/>
          </p:nvPr>
        </p:nvSpPr>
        <p:spPr>
          <a:xfrm>
            <a:off x="468313" y="115888"/>
            <a:ext cx="7543800" cy="941387"/>
          </a:xfrm>
        </p:spPr>
        <p:txBody>
          <a:bodyPr/>
          <a:lstStyle/>
          <a:p>
            <a:pPr eaLnBrk="1" hangingPunct="1"/>
            <a:r>
              <a:rPr lang="en-US" altLang="en-US">
                <a:solidFill>
                  <a:srgbClr val="0000FF"/>
                </a:solidFill>
              </a:rPr>
              <a:t>DNA synthesis needs:</a:t>
            </a:r>
            <a:endParaRPr lang="en-GB" altLang="en-US">
              <a:solidFill>
                <a:srgbClr val="0000FF"/>
              </a:solidFill>
            </a:endParaRPr>
          </a:p>
        </p:txBody>
      </p:sp>
      <p:sp>
        <p:nvSpPr>
          <p:cNvPr id="8196" name="Rectangle 3">
            <a:extLst>
              <a:ext uri="{FF2B5EF4-FFF2-40B4-BE49-F238E27FC236}">
                <a16:creationId xmlns:a16="http://schemas.microsoft.com/office/drawing/2014/main" id="{1BF94A39-B3DA-49BC-5935-4B9DEDCAE660}"/>
              </a:ext>
            </a:extLst>
          </p:cNvPr>
          <p:cNvSpPr>
            <a:spLocks noGrp="1" noChangeArrowheads="1"/>
          </p:cNvSpPr>
          <p:nvPr>
            <p:ph type="body" idx="1"/>
          </p:nvPr>
        </p:nvSpPr>
        <p:spPr>
          <a:xfrm>
            <a:off x="527050" y="1458913"/>
            <a:ext cx="8229600" cy="4778375"/>
          </a:xfrm>
        </p:spPr>
        <p:txBody>
          <a:bodyPr/>
          <a:lstStyle/>
          <a:p>
            <a:pPr marL="609600" indent="-609600" eaLnBrk="1" hangingPunct="1">
              <a:buFont typeface="Wingdings" pitchFamily="2" charset="2"/>
              <a:buAutoNum type="arabicPeriod"/>
            </a:pPr>
            <a:r>
              <a:rPr lang="en-US" altLang="en-US" sz="2200"/>
              <a:t>Deoxinucleoside triphosphate (dNTP)</a:t>
            </a:r>
          </a:p>
          <a:p>
            <a:pPr marL="609600" indent="-609600" eaLnBrk="1" hangingPunct="1">
              <a:buFont typeface="Wingdings" pitchFamily="2" charset="2"/>
              <a:buAutoNum type="arabicPeriod"/>
            </a:pPr>
            <a:endParaRPr lang="en-US" altLang="en-US"/>
          </a:p>
          <a:p>
            <a:pPr marL="609600" indent="-609600" eaLnBrk="1" hangingPunct="1">
              <a:buFont typeface="Wingdings" pitchFamily="2" charset="2"/>
              <a:buAutoNum type="arabicPeriod"/>
            </a:pPr>
            <a:endParaRPr lang="en-US" altLang="en-US"/>
          </a:p>
          <a:p>
            <a:pPr marL="609600" indent="-609600" eaLnBrk="1" hangingPunct="1">
              <a:buFont typeface="Wingdings" pitchFamily="2" charset="2"/>
              <a:buAutoNum type="arabicPeriod"/>
            </a:pPr>
            <a:endParaRPr lang="en-US" altLang="en-US" sz="2200"/>
          </a:p>
          <a:p>
            <a:pPr marL="609600" indent="-609600" eaLnBrk="1" hangingPunct="1">
              <a:buFont typeface="Wingdings" pitchFamily="2" charset="2"/>
              <a:buAutoNum type="arabicPeriod"/>
            </a:pPr>
            <a:endParaRPr lang="en-US" altLang="en-US" sz="2200"/>
          </a:p>
          <a:p>
            <a:pPr marL="609600" indent="-609600" eaLnBrk="1" hangingPunct="1">
              <a:buFont typeface="Wingdings" pitchFamily="2" charset="2"/>
              <a:buAutoNum type="arabicPeriod"/>
            </a:pPr>
            <a:endParaRPr lang="en-US" altLang="en-US" sz="2200"/>
          </a:p>
          <a:p>
            <a:pPr marL="609600" indent="-609600" eaLnBrk="1" hangingPunct="1">
              <a:buFont typeface="Wingdings" pitchFamily="2" charset="2"/>
              <a:buAutoNum type="arabicPeriod"/>
            </a:pPr>
            <a:r>
              <a:rPr lang="en-US" altLang="en-US" sz="2200" b="1">
                <a:solidFill>
                  <a:srgbClr val="FF0000"/>
                </a:solidFill>
              </a:rPr>
              <a:t>Primer : template junction</a:t>
            </a:r>
            <a:endParaRPr lang="en-GB" altLang="en-US" sz="2200" b="1">
              <a:solidFill>
                <a:srgbClr val="FF0000"/>
              </a:solidFill>
            </a:endParaRPr>
          </a:p>
        </p:txBody>
      </p:sp>
      <p:pic>
        <p:nvPicPr>
          <p:cNvPr id="8197" name="Picture 8" descr="H:\Amjad Courses\BT451\Molecular Biology of the Gene images\watson_mm_jpg_chap008\chap008\08_Figure01b.jpg">
            <a:extLst>
              <a:ext uri="{FF2B5EF4-FFF2-40B4-BE49-F238E27FC236}">
                <a16:creationId xmlns:a16="http://schemas.microsoft.com/office/drawing/2014/main" id="{BD5D7CCC-063B-3841-31A5-F9B9DD4EC0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4614863"/>
            <a:ext cx="5137150" cy="224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2CD80D80-E843-63AB-A39C-3716ECA2761B}"/>
              </a:ext>
            </a:extLst>
          </p:cNvPr>
          <p:cNvSpPr>
            <a:spLocks noGrp="1" noChangeArrowheads="1"/>
          </p:cNvSpPr>
          <p:nvPr>
            <p:ph type="title"/>
          </p:nvPr>
        </p:nvSpPr>
        <p:spPr>
          <a:xfrm>
            <a:off x="323850" y="0"/>
            <a:ext cx="7543800" cy="896938"/>
          </a:xfrm>
        </p:spPr>
        <p:txBody>
          <a:bodyPr/>
          <a:lstStyle/>
          <a:p>
            <a:pPr eaLnBrk="1" hangingPunct="1"/>
            <a:r>
              <a:rPr lang="en-US" altLang="en-US">
                <a:solidFill>
                  <a:srgbClr val="0000FF"/>
                </a:solidFill>
              </a:rPr>
              <a:t>XTP + (XMP)</a:t>
            </a:r>
            <a:r>
              <a:rPr lang="en-US" altLang="en-US" baseline="-25000">
                <a:solidFill>
                  <a:srgbClr val="0000FF"/>
                </a:solidFill>
              </a:rPr>
              <a:t>n</a:t>
            </a:r>
            <a:r>
              <a:rPr lang="en-US" altLang="en-US">
                <a:solidFill>
                  <a:srgbClr val="0000FF"/>
                </a:solidFill>
              </a:rPr>
              <a:t> </a:t>
            </a:r>
            <a:r>
              <a:rPr lang="en-US" altLang="en-US">
                <a:solidFill>
                  <a:srgbClr val="0000FF"/>
                </a:solidFill>
                <a:sym typeface="Symbol" pitchFamily="2" charset="2"/>
              </a:rPr>
              <a:t> (XMP)</a:t>
            </a:r>
            <a:r>
              <a:rPr lang="en-US" altLang="en-US" baseline="-25000">
                <a:solidFill>
                  <a:srgbClr val="0000FF"/>
                </a:solidFill>
                <a:sym typeface="Symbol" pitchFamily="2" charset="2"/>
              </a:rPr>
              <a:t>n+1</a:t>
            </a:r>
            <a:r>
              <a:rPr lang="en-US" altLang="en-US">
                <a:solidFill>
                  <a:srgbClr val="0000FF"/>
                </a:solidFill>
                <a:sym typeface="Symbol" pitchFamily="2" charset="2"/>
              </a:rPr>
              <a:t> +P~P</a:t>
            </a:r>
          </a:p>
        </p:txBody>
      </p:sp>
      <p:pic>
        <p:nvPicPr>
          <p:cNvPr id="10243" name="Picture 6">
            <a:extLst>
              <a:ext uri="{FF2B5EF4-FFF2-40B4-BE49-F238E27FC236}">
                <a16:creationId xmlns:a16="http://schemas.microsoft.com/office/drawing/2014/main" id="{06BCF879-A6EE-5FAF-829D-C331A34E6F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908050"/>
            <a:ext cx="83185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6">
            <a:extLst>
              <a:ext uri="{FF2B5EF4-FFF2-40B4-BE49-F238E27FC236}">
                <a16:creationId xmlns:a16="http://schemas.microsoft.com/office/drawing/2014/main" id="{C8F82307-7192-FA5A-BD4E-A92C58EB548E}"/>
              </a:ext>
            </a:extLst>
          </p:cNvPr>
          <p:cNvSpPr txBox="1">
            <a:spLocks noChangeArrowheads="1"/>
          </p:cNvSpPr>
          <p:nvPr/>
        </p:nvSpPr>
        <p:spPr bwMode="auto">
          <a:xfrm>
            <a:off x="827088" y="6308725"/>
            <a:ext cx="6931025" cy="369888"/>
          </a:xfrm>
          <a:prstGeom prst="rect">
            <a:avLst/>
          </a:prstGeom>
          <a:solidFill>
            <a:schemeClr val="accent5">
              <a:lumMod val="20000"/>
              <a:lumOff val="80000"/>
            </a:schemeClr>
          </a:solidFill>
          <a:ln>
            <a:noFill/>
          </a:ln>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defRPr/>
            </a:pPr>
            <a:r>
              <a:rPr lang="en-US" altLang="en-US" sz="1800" dirty="0">
                <a:solidFill>
                  <a:srgbClr val="0000FF"/>
                </a:solidFill>
              </a:rPr>
              <a:t>Hydrolysis of pyrophosphate is the driving force for DNA synthesis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E4EEAB9D-A695-FC4C-FB2C-A486F33D2A4F}"/>
              </a:ext>
            </a:extLst>
          </p:cNvPr>
          <p:cNvSpPr>
            <a:spLocks noGrp="1"/>
          </p:cNvSpPr>
          <p:nvPr>
            <p:ph type="title"/>
          </p:nvPr>
        </p:nvSpPr>
        <p:spPr>
          <a:xfrm>
            <a:off x="468313" y="0"/>
            <a:ext cx="7543800" cy="941388"/>
          </a:xfrm>
        </p:spPr>
        <p:txBody>
          <a:bodyPr/>
          <a:lstStyle/>
          <a:p>
            <a:pPr eaLnBrk="1" hangingPunct="1"/>
            <a:r>
              <a:rPr lang="en-US" altLang="en-US" sz="3200">
                <a:solidFill>
                  <a:srgbClr val="0000FF"/>
                </a:solidFill>
              </a:rPr>
              <a:t>The mechanism of DNA polymerase</a:t>
            </a:r>
          </a:p>
        </p:txBody>
      </p:sp>
      <p:sp>
        <p:nvSpPr>
          <p:cNvPr id="12291" name="Content Placeholder 2">
            <a:extLst>
              <a:ext uri="{FF2B5EF4-FFF2-40B4-BE49-F238E27FC236}">
                <a16:creationId xmlns:a16="http://schemas.microsoft.com/office/drawing/2014/main" id="{9B4B0587-58A0-353A-4171-FB165A590669}"/>
              </a:ext>
            </a:extLst>
          </p:cNvPr>
          <p:cNvSpPr>
            <a:spLocks noGrp="1"/>
          </p:cNvSpPr>
          <p:nvPr>
            <p:ph idx="1"/>
          </p:nvPr>
        </p:nvSpPr>
        <p:spPr>
          <a:xfrm>
            <a:off x="468313" y="1125538"/>
            <a:ext cx="8229600" cy="5543550"/>
          </a:xfrm>
        </p:spPr>
        <p:txBody>
          <a:bodyPr/>
          <a:lstStyle/>
          <a:p>
            <a:pPr eaLnBrk="1" hangingPunct="1"/>
            <a:r>
              <a:rPr lang="en-US" altLang="en-US" sz="2600"/>
              <a:t>Uses single site to catalyze the addition of the 4 nucleotides (identical geometry of the A:T and G:C base pairs)</a:t>
            </a:r>
          </a:p>
          <a:p>
            <a:pPr eaLnBrk="1" hangingPunct="1"/>
            <a:r>
              <a:rPr lang="en-US" altLang="en-US" sz="2600"/>
              <a:t>It </a:t>
            </a:r>
            <a:r>
              <a:rPr lang="en-US" altLang="en-US" sz="2600">
                <a:solidFill>
                  <a:srgbClr val="0000FF"/>
                </a:solidFill>
              </a:rPr>
              <a:t>monitors the ability </a:t>
            </a:r>
            <a:r>
              <a:rPr lang="en-US" altLang="en-US" sz="2600"/>
              <a:t>of the incoming nucleotide to form an A:T or G:C base pair, rather than </a:t>
            </a:r>
            <a:r>
              <a:rPr lang="en-US" altLang="en-US" sz="2600">
                <a:solidFill>
                  <a:srgbClr val="0000FF"/>
                </a:solidFill>
              </a:rPr>
              <a:t>detecting the exact </a:t>
            </a:r>
            <a:r>
              <a:rPr lang="en-US" altLang="en-US" sz="2600"/>
              <a:t>nucleotide that enters the active site</a:t>
            </a:r>
          </a:p>
          <a:p>
            <a:pPr eaLnBrk="1" hangingPunct="1"/>
            <a:r>
              <a:rPr lang="en-US" altLang="en-US" sz="2600"/>
              <a:t>Only when a </a:t>
            </a:r>
            <a:r>
              <a:rPr lang="en-US" altLang="en-US" sz="2600">
                <a:solidFill>
                  <a:srgbClr val="0000FF"/>
                </a:solidFill>
              </a:rPr>
              <a:t>correct base pair </a:t>
            </a:r>
            <a:r>
              <a:rPr lang="en-US" altLang="en-US" sz="2600"/>
              <a:t>is </a:t>
            </a:r>
            <a:r>
              <a:rPr lang="en-US" altLang="en-US" sz="2600" u="sng">
                <a:solidFill>
                  <a:srgbClr val="0000FF"/>
                </a:solidFill>
              </a:rPr>
              <a:t>formed </a:t>
            </a:r>
            <a:r>
              <a:rPr lang="en-US" altLang="en-US" sz="2600"/>
              <a:t>are the 3’-OH of the primer and the </a:t>
            </a:r>
            <a:r>
              <a:rPr lang="el-GR" altLang="en-US" sz="2600"/>
              <a:t>α</a:t>
            </a:r>
            <a:r>
              <a:rPr lang="en-US" altLang="en-US" sz="2600"/>
              <a:t>-phosphate of the incoming nucleotide in the </a:t>
            </a:r>
            <a:r>
              <a:rPr lang="en-US" altLang="en-US" sz="2600">
                <a:solidFill>
                  <a:srgbClr val="C00000"/>
                </a:solidFill>
              </a:rPr>
              <a:t>optimum position for catalysis to occur.</a:t>
            </a:r>
          </a:p>
          <a:p>
            <a:pPr eaLnBrk="1" hangingPunct="1"/>
            <a:r>
              <a:rPr lang="en-US" altLang="en-US" sz="2600"/>
              <a:t>Rate of incorporation of incorrect nucleotide is </a:t>
            </a:r>
            <a:r>
              <a:rPr lang="en-US" altLang="en-US" sz="2600" b="1">
                <a:solidFill>
                  <a:srgbClr val="C00000"/>
                </a:solidFill>
              </a:rPr>
              <a:t>10,000-fold slower </a:t>
            </a:r>
            <a:r>
              <a:rPr lang="en-US" altLang="en-US" sz="2600"/>
              <a:t>than incorporation when base pairing is correct</a:t>
            </a:r>
          </a:p>
          <a:p>
            <a:pPr eaLnBrk="1" hangingPunct="1"/>
            <a:endParaRPr lang="en-US"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H:\Amjad Courses\BT451\Molecular Biology of the Gene images\watson_mm_jpg_chap008\chap008\08_Figure03.jpg">
            <a:extLst>
              <a:ext uri="{FF2B5EF4-FFF2-40B4-BE49-F238E27FC236}">
                <a16:creationId xmlns:a16="http://schemas.microsoft.com/office/drawing/2014/main" id="{5E105628-3E86-3E66-242C-506F05C599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450" y="188913"/>
            <a:ext cx="8478838" cy="653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A34358DB-D20A-E159-AD64-64057A7EF2EB}"/>
              </a:ext>
            </a:extLst>
          </p:cNvPr>
          <p:cNvSpPr>
            <a:spLocks noGrp="1"/>
          </p:cNvSpPr>
          <p:nvPr>
            <p:ph idx="1"/>
          </p:nvPr>
        </p:nvSpPr>
        <p:spPr>
          <a:xfrm>
            <a:off x="107950" y="635000"/>
            <a:ext cx="8229600" cy="6192838"/>
          </a:xfrm>
        </p:spPr>
        <p:txBody>
          <a:bodyPr/>
          <a:lstStyle/>
          <a:p>
            <a:pPr eaLnBrk="1" hangingPunct="1"/>
            <a:r>
              <a:rPr lang="en-US" altLang="en-US" sz="2800" dirty="0">
                <a:solidFill>
                  <a:srgbClr val="0000FF"/>
                </a:solidFill>
              </a:rPr>
              <a:t>This discrimination is mediated by the </a:t>
            </a:r>
            <a:r>
              <a:rPr lang="en-US" altLang="en-US" sz="2800" b="1" dirty="0">
                <a:solidFill>
                  <a:srgbClr val="C00000"/>
                </a:solidFill>
              </a:rPr>
              <a:t>steric exclusion </a:t>
            </a:r>
            <a:r>
              <a:rPr lang="en-US" altLang="en-US" sz="2800" dirty="0">
                <a:solidFill>
                  <a:srgbClr val="0000FF"/>
                </a:solidFill>
              </a:rPr>
              <a:t>of rNTPs from the DNA polymerase active site </a:t>
            </a:r>
            <a:endParaRPr lang="en-GB" altLang="en-US" sz="2800" dirty="0">
              <a:solidFill>
                <a:srgbClr val="0000FF"/>
              </a:solidFill>
            </a:endParaRPr>
          </a:p>
          <a:p>
            <a:pPr eaLnBrk="1" hangingPunct="1"/>
            <a:r>
              <a:rPr lang="en-US" altLang="en-US" sz="3200" dirty="0"/>
              <a:t>Can recognize dNTP from </a:t>
            </a:r>
            <a:r>
              <a:rPr lang="en-US" altLang="en-US" sz="3200" dirty="0" err="1"/>
              <a:t>rNTP</a:t>
            </a:r>
            <a:r>
              <a:rPr lang="en-US" altLang="en-US" sz="3200" dirty="0"/>
              <a:t> by </a:t>
            </a:r>
            <a:r>
              <a:rPr lang="en-US" altLang="en-US" sz="3200" dirty="0">
                <a:solidFill>
                  <a:srgbClr val="FF0000"/>
                </a:solidFill>
              </a:rPr>
              <a:t>discriminator amino acids</a:t>
            </a:r>
          </a:p>
          <a:p>
            <a:pPr eaLnBrk="1" hangingPunct="1"/>
            <a:r>
              <a:rPr lang="en-US" altLang="en-US" dirty="0"/>
              <a:t>The nucleotide-binding pocket is too small to allow the presence of a 2’-OH on the incoming nucleotide </a:t>
            </a:r>
          </a:p>
          <a:p>
            <a:pPr eaLnBrk="1" hangingPunct="1"/>
            <a:r>
              <a:rPr lang="en-US" altLang="en-US" dirty="0"/>
              <a:t>This space is occupied by the two amino acids that make </a:t>
            </a:r>
            <a:r>
              <a:rPr lang="en-US" altLang="en-US" b="1" dirty="0">
                <a:solidFill>
                  <a:srgbClr val="FF0000"/>
                </a:solidFill>
              </a:rPr>
              <a:t>van der Waals contacts </a:t>
            </a:r>
            <a:r>
              <a:rPr lang="en-US" altLang="en-US" dirty="0">
                <a:solidFill>
                  <a:srgbClr val="FF0000"/>
                </a:solidFill>
              </a:rPr>
              <a:t>with the sugar ring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3" descr="H:\Amjad Courses\BT451\Molecular Biology of the Gene images\watson_mm_jpg_chap008\chap008\08_Figure04.jpg">
            <a:extLst>
              <a:ext uri="{FF2B5EF4-FFF2-40B4-BE49-F238E27FC236}">
                <a16:creationId xmlns:a16="http://schemas.microsoft.com/office/drawing/2014/main" id="{F8D25B9E-E062-000A-E4BC-5615B6561B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450" y="182563"/>
            <a:ext cx="8547100" cy="649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Arrow Connector 2">
            <a:extLst>
              <a:ext uri="{FF2B5EF4-FFF2-40B4-BE49-F238E27FC236}">
                <a16:creationId xmlns:a16="http://schemas.microsoft.com/office/drawing/2014/main" id="{FC44AC79-9793-0FC5-34D8-AF6C9F176842}"/>
              </a:ext>
            </a:extLst>
          </p:cNvPr>
          <p:cNvCxnSpPr/>
          <p:nvPr/>
        </p:nvCxnSpPr>
        <p:spPr>
          <a:xfrm flipH="1" flipV="1">
            <a:off x="3708400" y="3213100"/>
            <a:ext cx="503238" cy="576263"/>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E51A954D-4FFC-6321-9E7B-4B843726ACDE}"/>
              </a:ext>
            </a:extLst>
          </p:cNvPr>
          <p:cNvCxnSpPr/>
          <p:nvPr/>
        </p:nvCxnSpPr>
        <p:spPr>
          <a:xfrm flipH="1" flipV="1">
            <a:off x="8101013" y="3141663"/>
            <a:ext cx="503237" cy="574675"/>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AB61C403-B596-674B-8739-9078BA34D444}"/>
              </a:ext>
            </a:extLst>
          </p:cNvPr>
          <p:cNvSpPr>
            <a:spLocks noGrp="1" noChangeArrowheads="1"/>
          </p:cNvSpPr>
          <p:nvPr>
            <p:ph type="title"/>
          </p:nvPr>
        </p:nvSpPr>
        <p:spPr>
          <a:xfrm>
            <a:off x="457200" y="122238"/>
            <a:ext cx="7543800" cy="858837"/>
          </a:xfrm>
        </p:spPr>
        <p:txBody>
          <a:bodyPr/>
          <a:lstStyle/>
          <a:p>
            <a:pPr eaLnBrk="1" hangingPunct="1"/>
            <a:r>
              <a:rPr lang="en-US" altLang="en-US" u="sng">
                <a:solidFill>
                  <a:srgbClr val="0000FF"/>
                </a:solidFill>
              </a:rPr>
              <a:t>DNA polymerase structure</a:t>
            </a:r>
            <a:endParaRPr lang="en-GB" altLang="en-US" u="sng">
              <a:solidFill>
                <a:srgbClr val="0000FF"/>
              </a:solidFill>
            </a:endParaRPr>
          </a:p>
        </p:txBody>
      </p:sp>
      <p:pic>
        <p:nvPicPr>
          <p:cNvPr id="20483" name="Picture 9" descr="H:\Amjad Courses\BT451\Molecular Biology of the Gene images\watson_mm_jpg_chap008\chap008\08_Figure05.jpg">
            <a:extLst>
              <a:ext uri="{FF2B5EF4-FFF2-40B4-BE49-F238E27FC236}">
                <a16:creationId xmlns:a16="http://schemas.microsoft.com/office/drawing/2014/main" id="{70337D6C-8F14-A743-18EE-22E8E804EB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13" y="1700213"/>
            <a:ext cx="8851900"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C61C65AC-0D0B-AA44-B474-AAFBC0136728}"/>
              </a:ext>
            </a:extLst>
          </p:cNvPr>
          <p:cNvSpPr>
            <a:spLocks noGrp="1" noChangeArrowheads="1"/>
          </p:cNvSpPr>
          <p:nvPr>
            <p:ph type="title"/>
          </p:nvPr>
        </p:nvSpPr>
        <p:spPr>
          <a:xfrm>
            <a:off x="395288" y="0"/>
            <a:ext cx="7543800" cy="941388"/>
          </a:xfrm>
        </p:spPr>
        <p:txBody>
          <a:bodyPr/>
          <a:lstStyle/>
          <a:p>
            <a:pPr algn="ctr" eaLnBrk="1" hangingPunct="1"/>
            <a:r>
              <a:rPr lang="en-US" altLang="en-US">
                <a:solidFill>
                  <a:srgbClr val="0000FF"/>
                </a:solidFill>
              </a:rPr>
              <a:t>Palm</a:t>
            </a:r>
            <a:endParaRPr lang="en-GB" altLang="en-US">
              <a:solidFill>
                <a:srgbClr val="0000FF"/>
              </a:solidFill>
            </a:endParaRPr>
          </a:p>
        </p:txBody>
      </p:sp>
      <p:sp>
        <p:nvSpPr>
          <p:cNvPr id="22531" name="Content Placeholder 5">
            <a:extLst>
              <a:ext uri="{FF2B5EF4-FFF2-40B4-BE49-F238E27FC236}">
                <a16:creationId xmlns:a16="http://schemas.microsoft.com/office/drawing/2014/main" id="{2B20F294-FA84-A118-9962-152E0117A984}"/>
              </a:ext>
            </a:extLst>
          </p:cNvPr>
          <p:cNvSpPr>
            <a:spLocks noGrp="1"/>
          </p:cNvSpPr>
          <p:nvPr>
            <p:ph idx="1"/>
          </p:nvPr>
        </p:nvSpPr>
        <p:spPr>
          <a:xfrm>
            <a:off x="323850" y="1052513"/>
            <a:ext cx="8208963" cy="4892675"/>
          </a:xfrm>
        </p:spPr>
        <p:txBody>
          <a:bodyPr>
            <a:spAutoFit/>
          </a:bodyPr>
          <a:lstStyle/>
          <a:p>
            <a:pPr eaLnBrk="1" hangingPunct="1"/>
            <a:r>
              <a:rPr lang="el-GR" altLang="en-US" sz="2500"/>
              <a:t>β</a:t>
            </a:r>
            <a:r>
              <a:rPr lang="en-US" altLang="en-US" sz="2500"/>
              <a:t>-sheet, has the primary elements of the catalytic site, binds two metals ions (Mg</a:t>
            </a:r>
            <a:r>
              <a:rPr lang="en-US" altLang="en-US" sz="2500" baseline="30000"/>
              <a:t>2+</a:t>
            </a:r>
            <a:r>
              <a:rPr lang="en-US" altLang="en-US" sz="2500"/>
              <a:t> or Zn</a:t>
            </a:r>
            <a:r>
              <a:rPr lang="en-US" altLang="en-US" sz="2500" baseline="30000"/>
              <a:t>2+</a:t>
            </a:r>
            <a:r>
              <a:rPr lang="en-US" altLang="en-US" sz="2500"/>
              <a:t>)</a:t>
            </a:r>
          </a:p>
          <a:p>
            <a:pPr eaLnBrk="1" hangingPunct="1"/>
            <a:r>
              <a:rPr lang="en-US" altLang="en-US" sz="2500"/>
              <a:t>One metals ion </a:t>
            </a:r>
            <a:r>
              <a:rPr lang="en-US" altLang="en-US" sz="2500">
                <a:solidFill>
                  <a:srgbClr val="0000FF"/>
                </a:solidFill>
              </a:rPr>
              <a:t>reduces the affinity of the 3’-OH </a:t>
            </a:r>
            <a:r>
              <a:rPr lang="en-US" altLang="en-US" sz="2500"/>
              <a:t>for its hydrogen. This generates a 3'O</a:t>
            </a:r>
            <a:r>
              <a:rPr lang="en-US" altLang="en-US" sz="2500" baseline="30000"/>
              <a:t>-</a:t>
            </a:r>
            <a:r>
              <a:rPr lang="en-US" altLang="en-US" sz="2500"/>
              <a:t> that is primed for the </a:t>
            </a:r>
            <a:r>
              <a:rPr lang="en-US" altLang="en-US" sz="2500">
                <a:solidFill>
                  <a:srgbClr val="0000FF"/>
                </a:solidFill>
              </a:rPr>
              <a:t>nucleophilic attack </a:t>
            </a:r>
            <a:r>
              <a:rPr lang="en-US" altLang="en-US" sz="2500"/>
              <a:t>of the </a:t>
            </a:r>
            <a:r>
              <a:rPr lang="el-GR" altLang="en-US" sz="2500"/>
              <a:t>α</a:t>
            </a:r>
            <a:r>
              <a:rPr lang="en-US" altLang="en-US" sz="2500"/>
              <a:t>-phosphate of the incoming dNTP</a:t>
            </a:r>
          </a:p>
          <a:p>
            <a:pPr eaLnBrk="1" hangingPunct="1"/>
            <a:r>
              <a:rPr lang="en-US" altLang="en-US" sz="2500"/>
              <a:t>The second ion </a:t>
            </a:r>
            <a:r>
              <a:rPr lang="en-US" altLang="en-US" sz="2500">
                <a:solidFill>
                  <a:srgbClr val="0000FF"/>
                </a:solidFill>
              </a:rPr>
              <a:t>coordinates the negative charges </a:t>
            </a:r>
            <a:r>
              <a:rPr lang="en-US" altLang="en-US" sz="2500"/>
              <a:t>of the </a:t>
            </a:r>
            <a:r>
              <a:rPr lang="el-GR" altLang="en-US" sz="2500"/>
              <a:t>β</a:t>
            </a:r>
            <a:r>
              <a:rPr lang="en-US" altLang="en-US" sz="2500"/>
              <a:t>-phosphate and </a:t>
            </a:r>
            <a:r>
              <a:rPr lang="el-GR" altLang="en-US" sz="2500"/>
              <a:t>γ</a:t>
            </a:r>
            <a:r>
              <a:rPr lang="en-US" altLang="en-US" sz="2500"/>
              <a:t>-phosphates of the dNTP and </a:t>
            </a:r>
            <a:r>
              <a:rPr lang="en-US" altLang="en-US" sz="2500">
                <a:solidFill>
                  <a:srgbClr val="0000FF"/>
                </a:solidFill>
              </a:rPr>
              <a:t>stabilizes the pyrophosphate </a:t>
            </a:r>
            <a:r>
              <a:rPr lang="en-US" altLang="en-US" sz="2500"/>
              <a:t>produced by joining the primer and the incoming nucleotide</a:t>
            </a:r>
          </a:p>
          <a:p>
            <a:pPr eaLnBrk="1" hangingPunct="1"/>
            <a:r>
              <a:rPr lang="en-US" altLang="en-US" sz="2500">
                <a:solidFill>
                  <a:srgbClr val="FF0000"/>
                </a:solidFill>
              </a:rPr>
              <a:t>Monitors</a:t>
            </a:r>
            <a:r>
              <a:rPr lang="en-US" altLang="en-US" sz="2500"/>
              <a:t> the base pairing of the most recently added nucleotide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78CD9964-05B9-48B9-3940-0EF24A98EAAF}"/>
              </a:ext>
            </a:extLst>
          </p:cNvPr>
          <p:cNvSpPr>
            <a:spLocks noGrp="1" noChangeArrowheads="1"/>
          </p:cNvSpPr>
          <p:nvPr>
            <p:ph type="title"/>
          </p:nvPr>
        </p:nvSpPr>
        <p:spPr>
          <a:xfrm>
            <a:off x="30163" y="260350"/>
            <a:ext cx="7543800" cy="750888"/>
          </a:xfrm>
        </p:spPr>
        <p:txBody>
          <a:bodyPr/>
          <a:lstStyle/>
          <a:p>
            <a:pPr algn="ctr" eaLnBrk="1" hangingPunct="1"/>
            <a:r>
              <a:rPr lang="en-US" altLang="en-US">
                <a:solidFill>
                  <a:srgbClr val="0000FF"/>
                </a:solidFill>
              </a:rPr>
              <a:t>Fingers</a:t>
            </a:r>
            <a:endParaRPr lang="en-GB" altLang="en-US">
              <a:solidFill>
                <a:srgbClr val="0000FF"/>
              </a:solidFill>
            </a:endParaRPr>
          </a:p>
        </p:txBody>
      </p:sp>
      <p:sp>
        <p:nvSpPr>
          <p:cNvPr id="24579" name="Rectangle 8">
            <a:extLst>
              <a:ext uri="{FF2B5EF4-FFF2-40B4-BE49-F238E27FC236}">
                <a16:creationId xmlns:a16="http://schemas.microsoft.com/office/drawing/2014/main" id="{24F24001-25B6-E27D-B211-4BE18E9693F8}"/>
              </a:ext>
            </a:extLst>
          </p:cNvPr>
          <p:cNvSpPr>
            <a:spLocks noGrp="1" noChangeArrowheads="1"/>
          </p:cNvSpPr>
          <p:nvPr>
            <p:ph type="body" sz="half" idx="1"/>
          </p:nvPr>
        </p:nvSpPr>
        <p:spPr>
          <a:xfrm>
            <a:off x="-7938" y="1052513"/>
            <a:ext cx="8675688" cy="5327650"/>
          </a:xfrm>
        </p:spPr>
        <p:txBody>
          <a:bodyPr/>
          <a:lstStyle/>
          <a:p>
            <a:pPr eaLnBrk="1" hangingPunct="1"/>
            <a:r>
              <a:rPr lang="en-US" altLang="en-US"/>
              <a:t>Several residues in the fingers bind the incoming dNTP</a:t>
            </a:r>
          </a:p>
          <a:p>
            <a:pPr eaLnBrk="1" hangingPunct="1"/>
            <a:r>
              <a:rPr lang="en-US" altLang="en-US"/>
              <a:t>Once a correct base pair is formed between the incoming dNTP and the template, the finger  </a:t>
            </a:r>
            <a:r>
              <a:rPr lang="en-US" altLang="en-US">
                <a:solidFill>
                  <a:srgbClr val="0000FF"/>
                </a:solidFill>
              </a:rPr>
              <a:t>domain moves to enclose the dNTP</a:t>
            </a:r>
          </a:p>
          <a:p>
            <a:endParaRPr lang="en-US" altLang="en-US" sz="2600"/>
          </a:p>
        </p:txBody>
      </p:sp>
      <p:pic>
        <p:nvPicPr>
          <p:cNvPr id="24580" name="Picture 3">
            <a:extLst>
              <a:ext uri="{FF2B5EF4-FFF2-40B4-BE49-F238E27FC236}">
                <a16:creationId xmlns:a16="http://schemas.microsoft.com/office/drawing/2014/main" id="{2590FB92-500B-16C0-5679-FD280B87A181}"/>
              </a:ext>
            </a:extLst>
          </p:cNvPr>
          <p:cNvPicPr>
            <a:picLocks noChangeAspect="1"/>
          </p:cNvPicPr>
          <p:nvPr/>
        </p:nvPicPr>
        <p:blipFill>
          <a:blip r:embed="rId3">
            <a:lum bright="-40000" contrast="40000"/>
            <a:extLst>
              <a:ext uri="{28A0092B-C50C-407E-A947-70E740481C1C}">
                <a14:useLocalDpi xmlns:a14="http://schemas.microsoft.com/office/drawing/2010/main" val="0"/>
              </a:ext>
            </a:extLst>
          </a:blip>
          <a:srcRect/>
          <a:stretch>
            <a:fillRect/>
          </a:stretch>
        </p:blipFill>
        <p:spPr bwMode="auto">
          <a:xfrm>
            <a:off x="6011863" y="3573463"/>
            <a:ext cx="2687637"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3" descr="H:\Amjad Courses\BT451\Molecular Biology of the Gene images\watson_mm_jpg_chap008\chap008\08_Figure07a.jpg">
            <a:extLst>
              <a:ext uri="{FF2B5EF4-FFF2-40B4-BE49-F238E27FC236}">
                <a16:creationId xmlns:a16="http://schemas.microsoft.com/office/drawing/2014/main" id="{BF546EA7-2A70-23D9-B4B4-11269BF43F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 y="65088"/>
            <a:ext cx="7313613" cy="653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H:\Amjad Courses\BT451\Molecular Biology of the Gene images\watson_mm_jpg_chap008\chap008\08_Figure07b.jpg">
            <a:extLst>
              <a:ext uri="{FF2B5EF4-FFF2-40B4-BE49-F238E27FC236}">
                <a16:creationId xmlns:a16="http://schemas.microsoft.com/office/drawing/2014/main" id="{7749BB50-FF27-8864-716B-DFF2D4563A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476250"/>
            <a:ext cx="7583487" cy="514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C4000982-1782-05AA-F7C6-B515A75C95D9}"/>
              </a:ext>
            </a:extLst>
          </p:cNvPr>
          <p:cNvSpPr/>
          <p:nvPr/>
        </p:nvSpPr>
        <p:spPr>
          <a:xfrm>
            <a:off x="395288" y="5661025"/>
            <a:ext cx="8280400" cy="646113"/>
          </a:xfrm>
          <a:prstGeom prst="rect">
            <a:avLst/>
          </a:prstGeom>
          <a:solidFill>
            <a:schemeClr val="accent6">
              <a:lumMod val="20000"/>
              <a:lumOff val="80000"/>
            </a:schemeClr>
          </a:solidFill>
        </p:spPr>
        <p:txBody>
          <a:bodyPr>
            <a:spAutoFit/>
          </a:bodyPr>
          <a:lstStyle/>
          <a:p>
            <a:pPr>
              <a:defRPr/>
            </a:pPr>
            <a:r>
              <a:rPr lang="en-US" dirty="0"/>
              <a:t>3D structure of the active-site metal ions associated with the T7</a:t>
            </a:r>
          </a:p>
          <a:p>
            <a:pPr>
              <a:defRPr/>
            </a:pPr>
            <a:r>
              <a:rPr lang="en-US" b="1" dirty="0">
                <a:solidFill>
                  <a:srgbClr val="FF0000"/>
                </a:solidFill>
              </a:rPr>
              <a:t>DNA polymerase</a:t>
            </a:r>
            <a:r>
              <a:rPr lang="en-US" dirty="0"/>
              <a:t>, the 30-OH end of the primer, and the incoming nucleotide.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Placeholder 2">
            <a:extLst>
              <a:ext uri="{FF2B5EF4-FFF2-40B4-BE49-F238E27FC236}">
                <a16:creationId xmlns:a16="http://schemas.microsoft.com/office/drawing/2014/main" id="{42DDA9E5-D965-47D7-9297-743BA53CBED4}"/>
              </a:ext>
            </a:extLst>
          </p:cNvPr>
          <p:cNvSpPr>
            <a:spLocks noGrp="1"/>
          </p:cNvSpPr>
          <p:nvPr>
            <p:ph type="body" sz="half" idx="1"/>
          </p:nvPr>
        </p:nvSpPr>
        <p:spPr>
          <a:xfrm>
            <a:off x="468313" y="1052513"/>
            <a:ext cx="8362950" cy="5472112"/>
          </a:xfrm>
        </p:spPr>
        <p:txBody>
          <a:bodyPr/>
          <a:lstStyle/>
          <a:p>
            <a:pPr eaLnBrk="1" hangingPunct="1"/>
            <a:r>
              <a:rPr lang="en-US" altLang="en-US" sz="3200"/>
              <a:t>The finger domain associates with the template region, </a:t>
            </a:r>
            <a:r>
              <a:rPr lang="en-US" altLang="en-US" sz="3200">
                <a:solidFill>
                  <a:srgbClr val="0000FF"/>
                </a:solidFill>
              </a:rPr>
              <a:t>leading to a nearly 90° turn</a:t>
            </a:r>
            <a:r>
              <a:rPr lang="en-US" altLang="en-US" sz="3200"/>
              <a:t> of the </a:t>
            </a:r>
            <a:r>
              <a:rPr lang="en-US" altLang="en-US" sz="3200">
                <a:solidFill>
                  <a:srgbClr val="0000FF"/>
                </a:solidFill>
              </a:rPr>
              <a:t>phosphodiester backbone</a:t>
            </a:r>
            <a:r>
              <a:rPr lang="en-US" altLang="en-US" sz="3200"/>
              <a:t> between the </a:t>
            </a:r>
            <a:r>
              <a:rPr lang="en-US" altLang="en-US" sz="3200">
                <a:solidFill>
                  <a:srgbClr val="0000FF"/>
                </a:solidFill>
              </a:rPr>
              <a:t>first and second</a:t>
            </a:r>
            <a:r>
              <a:rPr lang="en-US" altLang="en-US" sz="3200"/>
              <a:t> bases of the template. </a:t>
            </a:r>
          </a:p>
          <a:p>
            <a:pPr eaLnBrk="1" hangingPunct="1"/>
            <a:r>
              <a:rPr lang="en-US" altLang="en-US" sz="3200"/>
              <a:t>This </a:t>
            </a:r>
            <a:r>
              <a:rPr lang="en-US" altLang="en-US" sz="3200" b="1">
                <a:solidFill>
                  <a:srgbClr val="0000FF"/>
                </a:solidFill>
              </a:rPr>
              <a:t>bend</a:t>
            </a:r>
            <a:r>
              <a:rPr lang="en-US" altLang="en-US" sz="3200"/>
              <a:t> serves to </a:t>
            </a:r>
            <a:r>
              <a:rPr lang="en-US" altLang="en-US" sz="3200">
                <a:solidFill>
                  <a:srgbClr val="0000FF"/>
                </a:solidFill>
              </a:rPr>
              <a:t>expose only the first template base after the primer </a:t>
            </a:r>
            <a:r>
              <a:rPr lang="en-US" altLang="en-US" sz="3200"/>
              <a:t>at the catalytic site and avoids any confusion concerning which template base should pair with the next nucleotide to be added</a:t>
            </a:r>
          </a:p>
          <a:p>
            <a:pPr eaLnBrk="1" hangingPunct="1"/>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H:\Amjad Courses\BT451\Molecular Biology of the Gene images\watson_mm_jpg_chap008\chap008\08_Figure08.jpg">
            <a:extLst>
              <a:ext uri="{FF2B5EF4-FFF2-40B4-BE49-F238E27FC236}">
                <a16:creationId xmlns:a16="http://schemas.microsoft.com/office/drawing/2014/main" id="{8B3B662C-59E8-7FD3-55CE-21717B4597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450" y="344488"/>
            <a:ext cx="8547100" cy="616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2B7721B1-AA8C-9DF0-3A14-1982E1AEC3E8}"/>
              </a:ext>
            </a:extLst>
          </p:cNvPr>
          <p:cNvSpPr>
            <a:spLocks noGrp="1"/>
          </p:cNvSpPr>
          <p:nvPr>
            <p:ph type="title"/>
          </p:nvPr>
        </p:nvSpPr>
        <p:spPr/>
        <p:txBody>
          <a:bodyPr/>
          <a:lstStyle/>
          <a:p>
            <a:pPr algn="ctr" eaLnBrk="1" hangingPunct="1"/>
            <a:r>
              <a:rPr lang="en-US" altLang="en-US">
                <a:solidFill>
                  <a:srgbClr val="0000FF"/>
                </a:solidFill>
              </a:rPr>
              <a:t>Thumb</a:t>
            </a:r>
          </a:p>
        </p:txBody>
      </p:sp>
      <p:sp>
        <p:nvSpPr>
          <p:cNvPr id="18435" name="Text Placeholder 2">
            <a:extLst>
              <a:ext uri="{FF2B5EF4-FFF2-40B4-BE49-F238E27FC236}">
                <a16:creationId xmlns:a16="http://schemas.microsoft.com/office/drawing/2014/main" id="{89413983-F9FA-B02F-7960-2FBCC2796141}"/>
              </a:ext>
            </a:extLst>
          </p:cNvPr>
          <p:cNvSpPr>
            <a:spLocks noGrp="1"/>
          </p:cNvSpPr>
          <p:nvPr>
            <p:ph type="body" sz="half" idx="1"/>
          </p:nvPr>
        </p:nvSpPr>
        <p:spPr>
          <a:xfrm>
            <a:off x="457200" y="1719263"/>
            <a:ext cx="8291513" cy="4411662"/>
          </a:xfrm>
        </p:spPr>
        <p:txBody>
          <a:bodyPr/>
          <a:lstStyle/>
          <a:p>
            <a:pPr eaLnBrk="1" hangingPunct="1">
              <a:defRPr/>
            </a:pPr>
            <a:r>
              <a:rPr lang="en-US" altLang="en-US" dirty="0"/>
              <a:t>The thumb domain is not involved in catalysis. In stead, </a:t>
            </a:r>
            <a:r>
              <a:rPr lang="en-US" altLang="en-US" dirty="0">
                <a:solidFill>
                  <a:srgbClr val="0000FF"/>
                </a:solidFill>
              </a:rPr>
              <a:t>it interacts with the DNA that has been most recently synthesized</a:t>
            </a:r>
          </a:p>
          <a:p>
            <a:pPr eaLnBrk="1" hangingPunct="1">
              <a:defRPr/>
            </a:pPr>
            <a:r>
              <a:rPr lang="en-US" altLang="en-US" dirty="0"/>
              <a:t>This serves two purposes:</a:t>
            </a:r>
          </a:p>
          <a:p>
            <a:pPr marL="0" indent="0" eaLnBrk="1" hangingPunct="1">
              <a:buFont typeface="Wingdings" pitchFamily="2" charset="2"/>
              <a:buNone/>
              <a:defRPr/>
            </a:pPr>
            <a:r>
              <a:rPr lang="en-US" altLang="en-US" dirty="0">
                <a:solidFill>
                  <a:srgbClr val="002060"/>
                </a:solidFill>
              </a:rPr>
              <a:t>1- It maintains the correct position of the primer and the active site</a:t>
            </a:r>
          </a:p>
          <a:p>
            <a:pPr marL="0" indent="0" eaLnBrk="1" hangingPunct="1">
              <a:buFont typeface="Wingdings" pitchFamily="2" charset="2"/>
              <a:buNone/>
              <a:defRPr/>
            </a:pPr>
            <a:r>
              <a:rPr lang="en-US" altLang="en-US" dirty="0">
                <a:solidFill>
                  <a:srgbClr val="002060"/>
                </a:solidFill>
              </a:rPr>
              <a:t>2- It helps to maintain a strong association between the DNA polymerase and its substrate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37D460B8-91B1-343B-AC08-005045BD1E23}"/>
              </a:ext>
            </a:extLst>
          </p:cNvPr>
          <p:cNvSpPr>
            <a:spLocks noGrp="1" noChangeArrowheads="1"/>
          </p:cNvSpPr>
          <p:nvPr>
            <p:ph type="title"/>
          </p:nvPr>
        </p:nvSpPr>
        <p:spPr>
          <a:xfrm>
            <a:off x="468313" y="0"/>
            <a:ext cx="7543800" cy="1012825"/>
          </a:xfrm>
        </p:spPr>
        <p:txBody>
          <a:bodyPr/>
          <a:lstStyle/>
          <a:p>
            <a:pPr algn="ctr" eaLnBrk="1" hangingPunct="1"/>
            <a:r>
              <a:rPr lang="en-US" altLang="en-US" u="sng">
                <a:solidFill>
                  <a:srgbClr val="0000FF"/>
                </a:solidFill>
              </a:rPr>
              <a:t>Processivity</a:t>
            </a:r>
            <a:endParaRPr lang="en-GB" altLang="en-US" u="sng">
              <a:solidFill>
                <a:srgbClr val="0000FF"/>
              </a:solidFill>
            </a:endParaRPr>
          </a:p>
        </p:txBody>
      </p:sp>
      <p:sp>
        <p:nvSpPr>
          <p:cNvPr id="36867" name="Content Placeholder 6">
            <a:extLst>
              <a:ext uri="{FF2B5EF4-FFF2-40B4-BE49-F238E27FC236}">
                <a16:creationId xmlns:a16="http://schemas.microsoft.com/office/drawing/2014/main" id="{330E27EF-3ED8-2A2A-37CE-B4E5733635C9}"/>
              </a:ext>
            </a:extLst>
          </p:cNvPr>
          <p:cNvSpPr>
            <a:spLocks noGrp="1"/>
          </p:cNvSpPr>
          <p:nvPr>
            <p:ph idx="1"/>
          </p:nvPr>
        </p:nvSpPr>
        <p:spPr>
          <a:xfrm>
            <a:off x="323850" y="1268413"/>
            <a:ext cx="8229600" cy="4968875"/>
          </a:xfrm>
        </p:spPr>
        <p:txBody>
          <a:bodyPr/>
          <a:lstStyle/>
          <a:p>
            <a:pPr eaLnBrk="1" hangingPunct="1"/>
            <a:r>
              <a:rPr lang="en-US" altLang="en-US"/>
              <a:t>Fast; 1000 nucleotides /sec</a:t>
            </a:r>
          </a:p>
          <a:p>
            <a:pPr eaLnBrk="1" hangingPunct="1"/>
            <a:r>
              <a:rPr lang="en-US" altLang="en-US"/>
              <a:t>Degree of processivity: average number of nucleotides added each time the enzyme binds a primer:template junction</a:t>
            </a:r>
          </a:p>
          <a:p>
            <a:pPr eaLnBrk="1" hangingPunct="1"/>
            <a:r>
              <a:rPr lang="en-US" altLang="en-US"/>
              <a:t>Few to &gt; 50,000 </a:t>
            </a:r>
          </a:p>
          <a:p>
            <a:pPr eaLnBrk="1" hangingPunct="1"/>
            <a:r>
              <a:rPr lang="en-US" altLang="en-US"/>
              <a:t>Rate increased dramatically by adding </a:t>
            </a:r>
            <a:r>
              <a:rPr lang="en-US" altLang="en-US">
                <a:solidFill>
                  <a:srgbClr val="0000FF"/>
                </a:solidFill>
              </a:rPr>
              <a:t>multiple nucleotides per binding event</a:t>
            </a:r>
          </a:p>
          <a:p>
            <a:pPr eaLnBrk="1" hangingPunct="1"/>
            <a:r>
              <a:rPr lang="en-US" altLang="en-US"/>
              <a:t>It is the initial binding of polymerase to the primer:template junction that is rate-limiting for DNA synthesis (~ 1 sec)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5">
            <a:extLst>
              <a:ext uri="{FF2B5EF4-FFF2-40B4-BE49-F238E27FC236}">
                <a16:creationId xmlns:a16="http://schemas.microsoft.com/office/drawing/2014/main" id="{04D5166D-EC54-29AF-B0A7-2F86B3DD69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30163"/>
            <a:ext cx="5472113" cy="668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30337894-9277-19A2-4EEC-8513C25552A7}"/>
              </a:ext>
            </a:extLst>
          </p:cNvPr>
          <p:cNvSpPr>
            <a:spLocks noGrp="1" noChangeArrowheads="1"/>
          </p:cNvSpPr>
          <p:nvPr>
            <p:ph type="title"/>
          </p:nvPr>
        </p:nvSpPr>
        <p:spPr>
          <a:xfrm>
            <a:off x="468313" y="188913"/>
            <a:ext cx="5697537" cy="868362"/>
          </a:xfrm>
        </p:spPr>
        <p:txBody>
          <a:bodyPr/>
          <a:lstStyle/>
          <a:p>
            <a:pPr eaLnBrk="1" hangingPunct="1"/>
            <a:r>
              <a:rPr lang="en-GB" altLang="en-US" sz="3200" u="sng">
                <a:solidFill>
                  <a:srgbClr val="0000FF"/>
                </a:solidFill>
              </a:rPr>
              <a:t>Proofreading exonuclease</a:t>
            </a:r>
          </a:p>
        </p:txBody>
      </p:sp>
      <p:sp>
        <p:nvSpPr>
          <p:cNvPr id="40963" name="Rectangle 3">
            <a:extLst>
              <a:ext uri="{FF2B5EF4-FFF2-40B4-BE49-F238E27FC236}">
                <a16:creationId xmlns:a16="http://schemas.microsoft.com/office/drawing/2014/main" id="{33711092-A8C0-B4BA-B3FD-4227AEEFD111}"/>
              </a:ext>
            </a:extLst>
          </p:cNvPr>
          <p:cNvSpPr>
            <a:spLocks noGrp="1" noChangeArrowheads="1"/>
          </p:cNvSpPr>
          <p:nvPr>
            <p:ph type="body" sz="half" idx="1"/>
          </p:nvPr>
        </p:nvSpPr>
        <p:spPr>
          <a:xfrm>
            <a:off x="179388" y="1268413"/>
            <a:ext cx="6553200" cy="5113337"/>
          </a:xfrm>
        </p:spPr>
        <p:txBody>
          <a:bodyPr/>
          <a:lstStyle/>
          <a:p>
            <a:pPr eaLnBrk="1" hangingPunct="1"/>
            <a:r>
              <a:rPr lang="en-US" altLang="en-US" sz="2400"/>
              <a:t>Highly accurate (~ 1 mistake in every 10</a:t>
            </a:r>
            <a:r>
              <a:rPr lang="en-US" altLang="en-US" sz="2400" baseline="30000"/>
              <a:t>10</a:t>
            </a:r>
            <a:r>
              <a:rPr lang="en-US" altLang="en-US" sz="2400"/>
              <a:t> bp added)</a:t>
            </a:r>
          </a:p>
          <a:p>
            <a:pPr eaLnBrk="1" hangingPunct="1"/>
            <a:r>
              <a:rPr lang="en-US" altLang="en-US" sz="2400"/>
              <a:t>Major limit: occasional (1 in 10</a:t>
            </a:r>
            <a:r>
              <a:rPr lang="en-US" altLang="en-US" sz="2400" baseline="30000"/>
              <a:t>5</a:t>
            </a:r>
            <a:r>
              <a:rPr lang="en-US" altLang="en-US" sz="2400"/>
              <a:t> times) flicking of the bases into the wrong tautmeric form. </a:t>
            </a:r>
          </a:p>
          <a:p>
            <a:pPr eaLnBrk="1" hangingPunct="1"/>
            <a:r>
              <a:rPr lang="en-US" altLang="en-US" sz="2400"/>
              <a:t>Proofreading is mediated by nuclease that was originally identified in the same polypeptide as the DNA polymerase</a:t>
            </a:r>
          </a:p>
          <a:p>
            <a:pPr eaLnBrk="1" hangingPunct="1"/>
            <a:r>
              <a:rPr lang="en-US" altLang="en-US" sz="2400"/>
              <a:t>Capable of degrading the DNA from the 3' end (incorrect base pairs)</a:t>
            </a:r>
          </a:p>
          <a:p>
            <a:pPr eaLnBrk="1" hangingPunct="1"/>
            <a:r>
              <a:rPr lang="en-US" altLang="en-US" sz="2400"/>
              <a:t>Removal of the mismatched nucleotides is facilitated by the </a:t>
            </a:r>
            <a:r>
              <a:rPr lang="en-US" altLang="en-US" sz="2400">
                <a:solidFill>
                  <a:srgbClr val="0000FF"/>
                </a:solidFill>
              </a:rPr>
              <a:t>reduced ability of DNA polymerase</a:t>
            </a:r>
            <a:r>
              <a:rPr lang="en-US" altLang="en-US" sz="2400"/>
              <a:t> to add a nucleotide </a:t>
            </a:r>
            <a:r>
              <a:rPr lang="en-US" altLang="en-US" sz="2400">
                <a:solidFill>
                  <a:srgbClr val="0000FF"/>
                </a:solidFill>
              </a:rPr>
              <a:t>adjacent to an incorrectly base-paired primer</a:t>
            </a:r>
          </a:p>
        </p:txBody>
      </p:sp>
      <p:pic>
        <p:nvPicPr>
          <p:cNvPr id="40964" name="Picture 5">
            <a:extLst>
              <a:ext uri="{FF2B5EF4-FFF2-40B4-BE49-F238E27FC236}">
                <a16:creationId xmlns:a16="http://schemas.microsoft.com/office/drawing/2014/main" id="{092F0FC4-AD73-43FB-27D4-4EAA996D2E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893" t="1254"/>
          <a:stretch>
            <a:fillRect/>
          </a:stretch>
        </p:blipFill>
        <p:spPr bwMode="auto">
          <a:xfrm>
            <a:off x="6624638" y="0"/>
            <a:ext cx="248443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3" descr="09_11Figure-L">
            <a:extLst>
              <a:ext uri="{FF2B5EF4-FFF2-40B4-BE49-F238E27FC236}">
                <a16:creationId xmlns:a16="http://schemas.microsoft.com/office/drawing/2014/main" id="{A2CC44BE-BD30-78A4-FC03-CB9F70A297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460"/>
          <a:stretch>
            <a:fillRect/>
          </a:stretch>
        </p:blipFill>
        <p:spPr bwMode="auto">
          <a:xfrm>
            <a:off x="717550" y="333375"/>
            <a:ext cx="7756525" cy="642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Rectangle 3">
            <a:extLst>
              <a:ext uri="{FF2B5EF4-FFF2-40B4-BE49-F238E27FC236}">
                <a16:creationId xmlns:a16="http://schemas.microsoft.com/office/drawing/2014/main" id="{B80AF4B2-9FAD-A0A1-926B-8D908CEDA017}"/>
              </a:ext>
            </a:extLst>
          </p:cNvPr>
          <p:cNvSpPr>
            <a:spLocks noChangeArrowheads="1"/>
          </p:cNvSpPr>
          <p:nvPr>
            <p:ph type="ctrTitle" idx="4294967295"/>
          </p:nvPr>
        </p:nvSpPr>
        <p:spPr>
          <a:xfrm>
            <a:off x="20638" y="0"/>
            <a:ext cx="6016625" cy="304800"/>
          </a:xfrm>
          <a:extLst>
            <a:ext uri="{91240B29-F687-4F45-9708-019B960494DF}">
              <a14:hiddenLine xmlns:a14="http://schemas.microsoft.com/office/drawing/2010/main" w="3175">
                <a:solidFill>
                  <a:srgbClr val="000000"/>
                </a:solidFill>
                <a:miter lim="800000"/>
                <a:headEnd/>
                <a:tailEnd/>
              </a14:hiddenLine>
            </a:ext>
          </a:extLst>
        </p:spPr>
        <p:txBody>
          <a:bodyPr/>
          <a:lstStyle/>
          <a:p>
            <a:pPr eaLnBrk="1" hangingPunct="1"/>
            <a:r>
              <a:rPr lang="en-US" altLang="en-US" sz="1200"/>
              <a:t>Figure 9-11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8D9CD4DF-70E0-DC2F-251E-471F1B70BC82}"/>
              </a:ext>
            </a:extLst>
          </p:cNvPr>
          <p:cNvSpPr>
            <a:spLocks noGrp="1" noChangeArrowheads="1"/>
          </p:cNvSpPr>
          <p:nvPr>
            <p:ph type="ctrTitle"/>
          </p:nvPr>
        </p:nvSpPr>
        <p:spPr>
          <a:xfrm>
            <a:off x="330200" y="549275"/>
            <a:ext cx="6781800" cy="2133600"/>
          </a:xfrm>
        </p:spPr>
        <p:txBody>
          <a:bodyPr/>
          <a:lstStyle/>
          <a:p>
            <a:pPr algn="l" eaLnBrk="1" hangingPunct="1"/>
            <a:r>
              <a:rPr lang="en-US" altLang="en-US">
                <a:solidFill>
                  <a:srgbClr val="0000FF"/>
                </a:solidFill>
              </a:rPr>
              <a:t>How replication takes place inside the cell</a:t>
            </a:r>
            <a:endParaRPr lang="en-GB" altLang="en-US">
              <a:solidFill>
                <a:srgbClr val="0000FF"/>
              </a:solidFill>
            </a:endParaRPr>
          </a:p>
        </p:txBody>
      </p:sp>
      <p:sp>
        <p:nvSpPr>
          <p:cNvPr id="45059" name="Rectangle 3">
            <a:extLst>
              <a:ext uri="{FF2B5EF4-FFF2-40B4-BE49-F238E27FC236}">
                <a16:creationId xmlns:a16="http://schemas.microsoft.com/office/drawing/2014/main" id="{C9A36EE0-F61E-4D41-83DD-84210500E957}"/>
              </a:ext>
            </a:extLst>
          </p:cNvPr>
          <p:cNvSpPr>
            <a:spLocks noGrp="1" noChangeArrowheads="1"/>
          </p:cNvSpPr>
          <p:nvPr>
            <p:ph type="subTitle" idx="1"/>
          </p:nvPr>
        </p:nvSpPr>
        <p:spPr/>
        <p:txBody>
          <a:bodyPr/>
          <a:lstStyle/>
          <a:p>
            <a:pPr algn="l" eaLnBrk="1" hangingPunct="1"/>
            <a:endParaRPr lang="en-US" altLang="en-US"/>
          </a:p>
          <a:p>
            <a:pPr algn="l" eaLnBrk="1" hangingPunct="1"/>
            <a:endParaRPr lang="en-GB"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B1481848-799C-FAD8-CA0E-EE3E165ABEE1}"/>
              </a:ext>
            </a:extLst>
          </p:cNvPr>
          <p:cNvSpPr>
            <a:spLocks noGrp="1" noChangeArrowheads="1"/>
          </p:cNvSpPr>
          <p:nvPr>
            <p:ph type="title"/>
          </p:nvPr>
        </p:nvSpPr>
        <p:spPr>
          <a:xfrm>
            <a:off x="468313" y="188913"/>
            <a:ext cx="7543800" cy="1012825"/>
          </a:xfrm>
        </p:spPr>
        <p:txBody>
          <a:bodyPr/>
          <a:lstStyle/>
          <a:p>
            <a:pPr eaLnBrk="1" hangingPunct="1"/>
            <a:r>
              <a:rPr lang="en-US" altLang="en-US" u="sng">
                <a:solidFill>
                  <a:srgbClr val="0000FF"/>
                </a:solidFill>
              </a:rPr>
              <a:t>Replication fork</a:t>
            </a:r>
            <a:endParaRPr lang="en-GB" altLang="en-US" u="sng">
              <a:solidFill>
                <a:srgbClr val="0000FF"/>
              </a:solidFill>
            </a:endParaRPr>
          </a:p>
        </p:txBody>
      </p:sp>
      <p:sp>
        <p:nvSpPr>
          <p:cNvPr id="47107" name="Content Placeholder 7">
            <a:extLst>
              <a:ext uri="{FF2B5EF4-FFF2-40B4-BE49-F238E27FC236}">
                <a16:creationId xmlns:a16="http://schemas.microsoft.com/office/drawing/2014/main" id="{FB7E94FA-C507-898E-3A57-A29E8436942C}"/>
              </a:ext>
            </a:extLst>
          </p:cNvPr>
          <p:cNvSpPr>
            <a:spLocks noGrp="1"/>
          </p:cNvSpPr>
          <p:nvPr>
            <p:ph idx="1"/>
          </p:nvPr>
        </p:nvSpPr>
        <p:spPr>
          <a:xfrm>
            <a:off x="395288" y="1268413"/>
            <a:ext cx="8229600" cy="1512887"/>
          </a:xfrm>
        </p:spPr>
        <p:txBody>
          <a:bodyPr/>
          <a:lstStyle/>
          <a:p>
            <a:pPr eaLnBrk="1" hangingPunct="1"/>
            <a:r>
              <a:rPr lang="en-US" altLang="en-US"/>
              <a:t>The junction between the newly synthesized template strands and the unreplicated duplex DNA</a:t>
            </a:r>
          </a:p>
        </p:txBody>
      </p:sp>
      <p:pic>
        <p:nvPicPr>
          <p:cNvPr id="47108" name="Picture 5">
            <a:extLst>
              <a:ext uri="{FF2B5EF4-FFF2-40B4-BE49-F238E27FC236}">
                <a16:creationId xmlns:a16="http://schemas.microsoft.com/office/drawing/2014/main" id="{C989429F-0ED8-C0F0-9C71-DAC9EE7086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6995"/>
          <a:stretch>
            <a:fillRect/>
          </a:stretch>
        </p:blipFill>
        <p:spPr bwMode="auto">
          <a:xfrm>
            <a:off x="468313" y="3716338"/>
            <a:ext cx="8547100"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9" name="TextBox 8">
            <a:extLst>
              <a:ext uri="{FF2B5EF4-FFF2-40B4-BE49-F238E27FC236}">
                <a16:creationId xmlns:a16="http://schemas.microsoft.com/office/drawing/2014/main" id="{0EE1D2E6-585B-B629-66C6-111A1FF5C595}"/>
              </a:ext>
            </a:extLst>
          </p:cNvPr>
          <p:cNvSpPr txBox="1">
            <a:spLocks noChangeArrowheads="1"/>
          </p:cNvSpPr>
          <p:nvPr/>
        </p:nvSpPr>
        <p:spPr bwMode="auto">
          <a:xfrm>
            <a:off x="2051050" y="3357563"/>
            <a:ext cx="171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Leading strand</a:t>
            </a:r>
          </a:p>
        </p:txBody>
      </p:sp>
      <p:sp>
        <p:nvSpPr>
          <p:cNvPr id="47110" name="TextBox 9">
            <a:extLst>
              <a:ext uri="{FF2B5EF4-FFF2-40B4-BE49-F238E27FC236}">
                <a16:creationId xmlns:a16="http://schemas.microsoft.com/office/drawing/2014/main" id="{C42EF6ED-BAD0-841A-8EFC-E6CF3CB1A2F5}"/>
              </a:ext>
            </a:extLst>
          </p:cNvPr>
          <p:cNvSpPr txBox="1">
            <a:spLocks noChangeArrowheads="1"/>
          </p:cNvSpPr>
          <p:nvPr/>
        </p:nvSpPr>
        <p:spPr bwMode="auto">
          <a:xfrm>
            <a:off x="2051050" y="6308725"/>
            <a:ext cx="171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Lagging strand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a:extLst>
              <a:ext uri="{FF2B5EF4-FFF2-40B4-BE49-F238E27FC236}">
                <a16:creationId xmlns:a16="http://schemas.microsoft.com/office/drawing/2014/main" id="{2753254A-4A2A-FCDF-A206-1387557D0782}"/>
              </a:ext>
            </a:extLst>
          </p:cNvPr>
          <p:cNvSpPr>
            <a:spLocks noChangeArrowheads="1"/>
          </p:cNvSpPr>
          <p:nvPr>
            <p:ph type="ctrTitle" idx="4294967295"/>
          </p:nvPr>
        </p:nvSpPr>
        <p:spPr>
          <a:xfrm>
            <a:off x="20638" y="0"/>
            <a:ext cx="6016625" cy="304800"/>
          </a:xfrm>
          <a:extLst>
            <a:ext uri="{91240B29-F687-4F45-9708-019B960494DF}">
              <a14:hiddenLine xmlns:a14="http://schemas.microsoft.com/office/drawing/2010/main" w="3175">
                <a:solidFill>
                  <a:srgbClr val="000000"/>
                </a:solidFill>
                <a:miter lim="800000"/>
                <a:headEnd/>
                <a:tailEnd/>
              </a14:hiddenLine>
            </a:ext>
          </a:extLst>
        </p:spPr>
        <p:txBody>
          <a:bodyPr/>
          <a:lstStyle/>
          <a:p>
            <a:pPr eaLnBrk="1" hangingPunct="1"/>
            <a:r>
              <a:rPr lang="en-US" altLang="en-US" sz="1200"/>
              <a:t>Figure 9-12</a:t>
            </a:r>
          </a:p>
        </p:txBody>
      </p:sp>
      <p:pic>
        <p:nvPicPr>
          <p:cNvPr id="49155" name="Picture 3" descr="09_12Figure-L">
            <a:extLst>
              <a:ext uri="{FF2B5EF4-FFF2-40B4-BE49-F238E27FC236}">
                <a16:creationId xmlns:a16="http://schemas.microsoft.com/office/drawing/2014/main" id="{A9A5590E-49E4-2BFA-79E2-7FB52A9264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305"/>
          <a:stretch>
            <a:fillRect/>
          </a:stretch>
        </p:blipFill>
        <p:spPr bwMode="auto">
          <a:xfrm>
            <a:off x="288925" y="1566863"/>
            <a:ext cx="8548688" cy="356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0C019794-8A4F-BD19-6B44-774015133CBE}"/>
              </a:ext>
            </a:extLst>
          </p:cNvPr>
          <p:cNvSpPr>
            <a:spLocks noGrp="1"/>
          </p:cNvSpPr>
          <p:nvPr>
            <p:ph type="title"/>
          </p:nvPr>
        </p:nvSpPr>
        <p:spPr>
          <a:xfrm>
            <a:off x="395288" y="115888"/>
            <a:ext cx="7543800" cy="869950"/>
          </a:xfrm>
        </p:spPr>
        <p:txBody>
          <a:bodyPr/>
          <a:lstStyle/>
          <a:p>
            <a:pPr algn="ctr" eaLnBrk="1" hangingPunct="1"/>
            <a:r>
              <a:rPr lang="en-US" altLang="en-US">
                <a:solidFill>
                  <a:srgbClr val="0000FF"/>
                </a:solidFill>
              </a:rPr>
              <a:t>RNA primer </a:t>
            </a:r>
          </a:p>
        </p:txBody>
      </p:sp>
      <p:sp>
        <p:nvSpPr>
          <p:cNvPr id="51203" name="Text Placeholder 2">
            <a:extLst>
              <a:ext uri="{FF2B5EF4-FFF2-40B4-BE49-F238E27FC236}">
                <a16:creationId xmlns:a16="http://schemas.microsoft.com/office/drawing/2014/main" id="{BDA32E53-C2EB-C559-3739-98F6627790B8}"/>
              </a:ext>
            </a:extLst>
          </p:cNvPr>
          <p:cNvSpPr>
            <a:spLocks noGrp="1"/>
          </p:cNvSpPr>
          <p:nvPr>
            <p:ph type="body" sz="half" idx="1"/>
          </p:nvPr>
        </p:nvSpPr>
        <p:spPr>
          <a:xfrm>
            <a:off x="395288" y="1268413"/>
            <a:ext cx="8229600" cy="5184775"/>
          </a:xfrm>
        </p:spPr>
        <p:txBody>
          <a:bodyPr/>
          <a:lstStyle/>
          <a:p>
            <a:pPr eaLnBrk="1" hangingPunct="1"/>
            <a:r>
              <a:rPr lang="en-US" altLang="en-US"/>
              <a:t>Primase is a specialized RNA polymearse dedicated to making short RNA primers (5-10 nucleotides long) on an ssDNA template</a:t>
            </a:r>
          </a:p>
          <a:p>
            <a:pPr eaLnBrk="1" hangingPunct="1"/>
            <a:r>
              <a:rPr lang="en-US" altLang="en-US"/>
              <a:t>It does not require an extensive DNA sequence to initiate synthesis of a new RNA primer e.g. GTA in case of </a:t>
            </a:r>
            <a:r>
              <a:rPr lang="en-US" altLang="en-US" i="1"/>
              <a:t>E.coli </a:t>
            </a:r>
          </a:p>
          <a:p>
            <a:pPr eaLnBrk="1" hangingPunct="1"/>
            <a:r>
              <a:rPr lang="en-US" altLang="en-US"/>
              <a:t>Primase activity </a:t>
            </a:r>
            <a:r>
              <a:rPr lang="en-US" altLang="en-US">
                <a:solidFill>
                  <a:srgbClr val="0000FF"/>
                </a:solidFill>
              </a:rPr>
              <a:t>increased</a:t>
            </a:r>
            <a:r>
              <a:rPr lang="en-US" altLang="en-US"/>
              <a:t> when it associates with the </a:t>
            </a:r>
            <a:r>
              <a:rPr lang="en-US" altLang="en-US">
                <a:solidFill>
                  <a:srgbClr val="0000FF"/>
                </a:solidFill>
              </a:rPr>
              <a:t>DNA helicase</a:t>
            </a:r>
            <a:r>
              <a:rPr lang="en-US" altLang="en-US"/>
              <a:t> which unwinds the DNA at the replication fork creating the ssDNA template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B35C03C8-CD8F-0F49-AFF9-BEB7EEFF815E}"/>
              </a:ext>
            </a:extLst>
          </p:cNvPr>
          <p:cNvSpPr>
            <a:spLocks noGrp="1"/>
          </p:cNvSpPr>
          <p:nvPr>
            <p:ph type="title"/>
          </p:nvPr>
        </p:nvSpPr>
        <p:spPr>
          <a:xfrm>
            <a:off x="468313" y="0"/>
            <a:ext cx="7543800" cy="785813"/>
          </a:xfrm>
        </p:spPr>
        <p:txBody>
          <a:bodyPr/>
          <a:lstStyle/>
          <a:p>
            <a:pPr eaLnBrk="1" hangingPunct="1"/>
            <a:r>
              <a:rPr lang="en-US" altLang="en-US" sz="3200" dirty="0">
                <a:solidFill>
                  <a:srgbClr val="0000FF"/>
                </a:solidFill>
              </a:rPr>
              <a:t>Removal of RNA primers by </a:t>
            </a:r>
            <a:r>
              <a:rPr lang="en-US" altLang="en-US" sz="3200" dirty="0">
                <a:solidFill>
                  <a:srgbClr val="FF0000"/>
                </a:solidFill>
              </a:rPr>
              <a:t>RNase H </a:t>
            </a:r>
          </a:p>
        </p:txBody>
      </p:sp>
      <p:pic>
        <p:nvPicPr>
          <p:cNvPr id="53251" name="Picture 2" descr="H:\Amjad Courses\BT451\Molecular Biology of the Gene images\watson_mm_jpg_chap008\chap008\08_Figure12.jpg">
            <a:extLst>
              <a:ext uri="{FF2B5EF4-FFF2-40B4-BE49-F238E27FC236}">
                <a16:creationId xmlns:a16="http://schemas.microsoft.com/office/drawing/2014/main" id="{AD5D0836-75FC-4510-6C90-C71680FF96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3573016"/>
            <a:ext cx="6840537" cy="295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Rectangle 3">
            <a:extLst>
              <a:ext uri="{FF2B5EF4-FFF2-40B4-BE49-F238E27FC236}">
                <a16:creationId xmlns:a16="http://schemas.microsoft.com/office/drawing/2014/main" id="{BA353DEC-CD58-9C74-0B90-B5DD6B8F604A}"/>
              </a:ext>
            </a:extLst>
          </p:cNvPr>
          <p:cNvSpPr>
            <a:spLocks noGrp="1" noChangeArrowheads="1"/>
          </p:cNvSpPr>
          <p:nvPr>
            <p:ph type="body" sz="half" idx="1"/>
          </p:nvPr>
        </p:nvSpPr>
        <p:spPr>
          <a:xfrm>
            <a:off x="395288" y="764704"/>
            <a:ext cx="7786687" cy="2808312"/>
          </a:xfrm>
        </p:spPr>
        <p:txBody>
          <a:bodyPr/>
          <a:lstStyle/>
          <a:p>
            <a:pPr eaLnBrk="1" hangingPunct="1">
              <a:lnSpc>
                <a:spcPct val="90000"/>
              </a:lnSpc>
            </a:pPr>
            <a:r>
              <a:rPr lang="en-US" altLang="en-US" sz="1400" dirty="0"/>
              <a:t>Removes RNA paired with DNA (hybrid)</a:t>
            </a:r>
          </a:p>
          <a:p>
            <a:pPr eaLnBrk="1" hangingPunct="1">
              <a:lnSpc>
                <a:spcPct val="90000"/>
              </a:lnSpc>
            </a:pPr>
            <a:r>
              <a:rPr lang="en-US" altLang="en-US" sz="1400" dirty="0"/>
              <a:t>Breaks bond between ribonucleotides </a:t>
            </a:r>
          </a:p>
          <a:p>
            <a:pPr eaLnBrk="1" hangingPunct="1">
              <a:lnSpc>
                <a:spcPct val="90000"/>
              </a:lnSpc>
            </a:pPr>
            <a:r>
              <a:rPr lang="en-US" altLang="en-US" sz="1400" dirty="0"/>
              <a:t>Last </a:t>
            </a:r>
            <a:r>
              <a:rPr lang="en-US" altLang="en-US" sz="1400" dirty="0" err="1"/>
              <a:t>rNTP</a:t>
            </a:r>
            <a:r>
              <a:rPr lang="en-US" altLang="en-US" sz="1400" dirty="0"/>
              <a:t> removed by exonuclease</a:t>
            </a:r>
          </a:p>
          <a:p>
            <a:pPr eaLnBrk="1" hangingPunct="1">
              <a:lnSpc>
                <a:spcPct val="90000"/>
              </a:lnSpc>
            </a:pPr>
            <a:r>
              <a:rPr lang="en-US" altLang="en-US" sz="1400" dirty="0"/>
              <a:t>Filled by DNA polymerase</a:t>
            </a:r>
          </a:p>
          <a:p>
            <a:pPr eaLnBrk="1" hangingPunct="1">
              <a:lnSpc>
                <a:spcPct val="90000"/>
              </a:lnSpc>
            </a:pPr>
            <a:r>
              <a:rPr lang="en-US" altLang="en-US" sz="1400" dirty="0"/>
              <a:t>Filled gap by ligase</a:t>
            </a:r>
          </a:p>
          <a:p>
            <a:r>
              <a:rPr lang="en-US" sz="1400" b="1" dirty="0"/>
              <a:t>RNase H</a:t>
            </a:r>
            <a:r>
              <a:rPr lang="en-US" sz="1400" dirty="0"/>
              <a:t> stands for </a:t>
            </a:r>
            <a:r>
              <a:rPr lang="en-US" sz="1400" b="1" dirty="0"/>
              <a:t>Ribonuclease H</a:t>
            </a:r>
            <a:r>
              <a:rPr lang="en-US" sz="1400" dirty="0"/>
              <a:t>.</a:t>
            </a:r>
          </a:p>
          <a:p>
            <a:r>
              <a:rPr lang="en-US" sz="1400" dirty="0"/>
              <a:t>RNase H is an enzyme that specifically degrades the RNA strand of an RNA-DNA hybrid. It is crucial in various biological processes, including: </a:t>
            </a:r>
          </a:p>
          <a:p>
            <a:r>
              <a:rPr lang="en-US" sz="1400" b="1" dirty="0"/>
              <a:t>DNA replication and repair</a:t>
            </a:r>
            <a:r>
              <a:rPr lang="en-US" sz="1400" dirty="0"/>
              <a:t>: Removing RNA primers from Okazaki fragments allows for the proper synthesis of the lagging strand.</a:t>
            </a:r>
          </a:p>
          <a:p>
            <a:r>
              <a:rPr lang="en-US" sz="1400" b="1" dirty="0"/>
              <a:t>Reverse transcription</a:t>
            </a:r>
            <a:r>
              <a:rPr lang="en-US" sz="1400" dirty="0"/>
              <a:t>: In retroviruses, RNase</a:t>
            </a:r>
          </a:p>
          <a:p>
            <a:pPr eaLnBrk="1" hangingPunct="1">
              <a:lnSpc>
                <a:spcPct val="90000"/>
              </a:lnSpc>
            </a:pPr>
            <a:endParaRPr lang="en-GB" alt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8DB91B2A-3E35-E479-A8C8-825BC84E568C}"/>
              </a:ext>
            </a:extLst>
          </p:cNvPr>
          <p:cNvSpPr>
            <a:spLocks noGrp="1" noChangeArrowheads="1"/>
          </p:cNvSpPr>
          <p:nvPr>
            <p:ph type="title"/>
          </p:nvPr>
        </p:nvSpPr>
        <p:spPr>
          <a:xfrm>
            <a:off x="179388" y="0"/>
            <a:ext cx="8001000" cy="796925"/>
          </a:xfrm>
        </p:spPr>
        <p:txBody>
          <a:bodyPr/>
          <a:lstStyle/>
          <a:p>
            <a:pPr eaLnBrk="1" hangingPunct="1"/>
            <a:r>
              <a:rPr lang="en-US" altLang="en-US">
                <a:solidFill>
                  <a:srgbClr val="0000FF"/>
                </a:solidFill>
              </a:rPr>
              <a:t>What separates the two strands?</a:t>
            </a:r>
            <a:endParaRPr lang="en-GB" altLang="en-US">
              <a:solidFill>
                <a:srgbClr val="0000FF"/>
              </a:solidFill>
            </a:endParaRPr>
          </a:p>
        </p:txBody>
      </p:sp>
      <p:sp>
        <p:nvSpPr>
          <p:cNvPr id="55299" name="Rectangle 3">
            <a:extLst>
              <a:ext uri="{FF2B5EF4-FFF2-40B4-BE49-F238E27FC236}">
                <a16:creationId xmlns:a16="http://schemas.microsoft.com/office/drawing/2014/main" id="{554E29E0-9D70-8C87-DDE9-B304EE7822D2}"/>
              </a:ext>
            </a:extLst>
          </p:cNvPr>
          <p:cNvSpPr>
            <a:spLocks noGrp="1" noChangeArrowheads="1"/>
          </p:cNvSpPr>
          <p:nvPr>
            <p:ph type="body" idx="1"/>
          </p:nvPr>
        </p:nvSpPr>
        <p:spPr>
          <a:xfrm>
            <a:off x="611188" y="765175"/>
            <a:ext cx="8229600" cy="5616575"/>
          </a:xfrm>
        </p:spPr>
        <p:txBody>
          <a:bodyPr/>
          <a:lstStyle/>
          <a:p>
            <a:pPr eaLnBrk="1" hangingPunct="1">
              <a:lnSpc>
                <a:spcPct val="130000"/>
              </a:lnSpc>
            </a:pPr>
            <a:r>
              <a:rPr lang="en-US" altLang="en-US" sz="2400" dirty="0"/>
              <a:t>DNA Helicase enzyme</a:t>
            </a:r>
          </a:p>
          <a:p>
            <a:pPr eaLnBrk="1" hangingPunct="1">
              <a:lnSpc>
                <a:spcPct val="130000"/>
              </a:lnSpc>
            </a:pPr>
            <a:r>
              <a:rPr lang="en-US" altLang="en-US" sz="2400" dirty="0"/>
              <a:t>Helicase bind to and move directionally along ssDNA using the energy of ATP hydrolysis to displace any DNA strand that is annealed to the bound ssDNA</a:t>
            </a:r>
          </a:p>
          <a:p>
            <a:pPr eaLnBrk="1" hangingPunct="1">
              <a:lnSpc>
                <a:spcPct val="130000"/>
              </a:lnSpc>
            </a:pPr>
            <a:r>
              <a:rPr lang="en-US" altLang="en-US" sz="2400" dirty="0"/>
              <a:t>Usually </a:t>
            </a:r>
            <a:r>
              <a:rPr lang="en-US" altLang="en-US" sz="2400" dirty="0" err="1"/>
              <a:t>hexameric</a:t>
            </a:r>
            <a:r>
              <a:rPr lang="en-US" altLang="en-US" sz="2400" dirty="0"/>
              <a:t> protein with </a:t>
            </a:r>
            <a:r>
              <a:rPr lang="en-US" altLang="en-US" sz="2400" dirty="0">
                <a:solidFill>
                  <a:srgbClr val="0000FF"/>
                </a:solidFill>
              </a:rPr>
              <a:t>high processivity </a:t>
            </a:r>
            <a:r>
              <a:rPr lang="en-US" altLang="en-US" sz="2400" dirty="0"/>
              <a:t>because they </a:t>
            </a:r>
            <a:r>
              <a:rPr lang="en-US" altLang="en-US" sz="2400" dirty="0">
                <a:solidFill>
                  <a:srgbClr val="0000FF"/>
                </a:solidFill>
              </a:rPr>
              <a:t>encircle one of the two strands </a:t>
            </a:r>
            <a:r>
              <a:rPr lang="en-US" altLang="en-US" sz="2400" dirty="0"/>
              <a:t>at the replication form near the junction</a:t>
            </a:r>
          </a:p>
          <a:p>
            <a:pPr eaLnBrk="1" hangingPunct="1">
              <a:lnSpc>
                <a:spcPct val="90000"/>
              </a:lnSpc>
            </a:pPr>
            <a:r>
              <a:rPr lang="en-GB" altLang="en-US" sz="2400" dirty="0"/>
              <a:t>There are </a:t>
            </a:r>
            <a:r>
              <a:rPr lang="en-GB" altLang="en-US" sz="2400" dirty="0">
                <a:solidFill>
                  <a:srgbClr val="0000FF"/>
                </a:solidFill>
              </a:rPr>
              <a:t>specialized mechanisms</a:t>
            </a:r>
            <a:r>
              <a:rPr lang="en-GB" altLang="en-US" sz="2400" dirty="0"/>
              <a:t> that open the DNA  helicase ring and place it around the DNA before reforming the ring</a:t>
            </a:r>
          </a:p>
          <a:p>
            <a:pPr eaLnBrk="1" hangingPunct="1">
              <a:lnSpc>
                <a:spcPct val="90000"/>
              </a:lnSpc>
            </a:pPr>
            <a:r>
              <a:rPr lang="en-GB" altLang="en-US" sz="2400" dirty="0"/>
              <a:t>DNA helicase can have a </a:t>
            </a:r>
            <a:r>
              <a:rPr lang="en-GB" altLang="en-US" sz="2400" dirty="0">
                <a:solidFill>
                  <a:srgbClr val="0000FF"/>
                </a:solidFill>
              </a:rPr>
              <a:t>polarity</a:t>
            </a:r>
            <a:r>
              <a:rPr lang="en-GB" altLang="en-US" sz="2400" dirty="0"/>
              <a:t> of either 5’→ 3’ or 3’  → 5’ defined according to the strand of DNA bound, rather than the strand that is displaced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5">
            <a:extLst>
              <a:ext uri="{FF2B5EF4-FFF2-40B4-BE49-F238E27FC236}">
                <a16:creationId xmlns:a16="http://schemas.microsoft.com/office/drawing/2014/main" id="{CBD1D342-9B50-C418-A2F0-DBB9415767C3}"/>
              </a:ext>
            </a:extLst>
          </p:cNvPr>
          <p:cNvSpPr>
            <a:spLocks noGrp="1" noChangeArrowheads="1"/>
          </p:cNvSpPr>
          <p:nvPr>
            <p:ph type="title"/>
          </p:nvPr>
        </p:nvSpPr>
        <p:spPr>
          <a:xfrm>
            <a:off x="468313" y="188913"/>
            <a:ext cx="7543800" cy="868362"/>
          </a:xfrm>
        </p:spPr>
        <p:txBody>
          <a:bodyPr/>
          <a:lstStyle/>
          <a:p>
            <a:pPr algn="ctr"/>
            <a:r>
              <a:rPr lang="en-US" altLang="en-US">
                <a:solidFill>
                  <a:srgbClr val="0000FF"/>
                </a:solidFill>
              </a:rPr>
              <a:t>DNA helicase</a:t>
            </a:r>
            <a:r>
              <a:rPr lang="en-US" altLang="en-US"/>
              <a:t> </a:t>
            </a:r>
          </a:p>
        </p:txBody>
      </p:sp>
      <p:pic>
        <p:nvPicPr>
          <p:cNvPr id="57347" name="Picture 4" descr="08_Figure13">
            <a:extLst>
              <a:ext uri="{FF2B5EF4-FFF2-40B4-BE49-F238E27FC236}">
                <a16:creationId xmlns:a16="http://schemas.microsoft.com/office/drawing/2014/main" id="{523FC356-2EBC-8B2C-3934-188D339DB265}"/>
              </a:ext>
            </a:extLst>
          </p:cNvPr>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763713" y="1304925"/>
            <a:ext cx="5688012" cy="5175250"/>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0140718D-047E-DD6D-9B40-C6C0C2475FBB}"/>
              </a:ext>
            </a:extLst>
          </p:cNvPr>
          <p:cNvSpPr>
            <a:spLocks noGrp="1" noChangeArrowheads="1"/>
          </p:cNvSpPr>
          <p:nvPr>
            <p:ph type="title"/>
          </p:nvPr>
        </p:nvSpPr>
        <p:spPr>
          <a:xfrm>
            <a:off x="250825" y="476250"/>
            <a:ext cx="7821613" cy="930275"/>
          </a:xfrm>
        </p:spPr>
        <p:txBody>
          <a:bodyPr/>
          <a:lstStyle/>
          <a:p>
            <a:pPr eaLnBrk="1" hangingPunct="1"/>
            <a:r>
              <a:rPr lang="en-GB" altLang="en-US">
                <a:solidFill>
                  <a:srgbClr val="0000FF"/>
                </a:solidFill>
              </a:rPr>
              <a:t>Suggested mechanism of action</a:t>
            </a:r>
          </a:p>
        </p:txBody>
      </p:sp>
      <p:sp>
        <p:nvSpPr>
          <p:cNvPr id="59395" name="Rectangle 9">
            <a:extLst>
              <a:ext uri="{FF2B5EF4-FFF2-40B4-BE49-F238E27FC236}">
                <a16:creationId xmlns:a16="http://schemas.microsoft.com/office/drawing/2014/main" id="{D512BCC0-AEB0-A65E-AFB9-FB33FF3ABE11}"/>
              </a:ext>
            </a:extLst>
          </p:cNvPr>
          <p:cNvSpPr>
            <a:spLocks noGrp="1" noChangeArrowheads="1"/>
          </p:cNvSpPr>
          <p:nvPr>
            <p:ph type="body" sz="half" idx="1"/>
          </p:nvPr>
        </p:nvSpPr>
        <p:spPr>
          <a:xfrm>
            <a:off x="539750" y="1844675"/>
            <a:ext cx="8424863" cy="3600450"/>
          </a:xfrm>
        </p:spPr>
        <p:txBody>
          <a:bodyPr/>
          <a:lstStyle/>
          <a:p>
            <a:pPr eaLnBrk="1" hangingPunct="1"/>
            <a:r>
              <a:rPr lang="en-US" altLang="en-US" sz="2800"/>
              <a:t>The ssDNA is encircled by the six subunits of the helicase. </a:t>
            </a:r>
          </a:p>
          <a:p>
            <a:pPr eaLnBrk="1" hangingPunct="1"/>
            <a:r>
              <a:rPr lang="en-US" altLang="en-US" sz="2800"/>
              <a:t>Each subunit has a </a:t>
            </a:r>
            <a:r>
              <a:rPr lang="en-US" altLang="en-US" sz="2800">
                <a:solidFill>
                  <a:srgbClr val="E12011"/>
                </a:solidFill>
              </a:rPr>
              <a:t>hairpin protein loop that binds a phosphate of the DNA backbone</a:t>
            </a:r>
            <a:r>
              <a:rPr lang="en-US" altLang="en-US" sz="2800">
                <a:solidFill>
                  <a:srgbClr val="0000FF"/>
                </a:solidFill>
              </a:rPr>
              <a:t> and its </a:t>
            </a:r>
            <a:r>
              <a:rPr lang="en-US" altLang="en-US" sz="2800">
                <a:solidFill>
                  <a:srgbClr val="E12011"/>
                </a:solidFill>
              </a:rPr>
              <a:t>two adjacent ribose components</a:t>
            </a:r>
          </a:p>
          <a:p>
            <a:pPr eaLnBrk="1" hangingPunct="1"/>
            <a:r>
              <a:rPr lang="en-US" altLang="en-US" sz="2800"/>
              <a:t>These DNA-binding loops are found in </a:t>
            </a:r>
            <a:r>
              <a:rPr lang="en-US" altLang="en-US" sz="2800">
                <a:solidFill>
                  <a:srgbClr val="0000FF"/>
                </a:solidFill>
              </a:rPr>
              <a:t>a right-handed spiral staircase</a:t>
            </a:r>
            <a:r>
              <a:rPr lang="en-US" altLang="en-US" sz="2800"/>
              <a:t>, each binding the next phosphate along the ssDNA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Placeholder 2">
            <a:extLst>
              <a:ext uri="{FF2B5EF4-FFF2-40B4-BE49-F238E27FC236}">
                <a16:creationId xmlns:a16="http://schemas.microsoft.com/office/drawing/2014/main" id="{F0C279A9-2804-C2C5-3DBF-5066FAE033DE}"/>
              </a:ext>
            </a:extLst>
          </p:cNvPr>
          <p:cNvSpPr>
            <a:spLocks noGrp="1"/>
          </p:cNvSpPr>
          <p:nvPr>
            <p:ph type="body" sz="half" idx="1"/>
          </p:nvPr>
        </p:nvSpPr>
        <p:spPr>
          <a:xfrm>
            <a:off x="179388" y="620713"/>
            <a:ext cx="7848600" cy="5472112"/>
          </a:xfrm>
        </p:spPr>
        <p:txBody>
          <a:bodyPr/>
          <a:lstStyle/>
          <a:p>
            <a:pPr eaLnBrk="1" hangingPunct="1"/>
            <a:r>
              <a:rPr lang="en-US" altLang="en-US" sz="2400"/>
              <a:t>A subunit </a:t>
            </a:r>
            <a:r>
              <a:rPr lang="en-US" altLang="en-US" sz="2400">
                <a:solidFill>
                  <a:srgbClr val="0000FF"/>
                </a:solidFill>
              </a:rPr>
              <a:t>first binds the ssDNA</a:t>
            </a:r>
            <a:r>
              <a:rPr lang="en-US" altLang="en-US" sz="2400"/>
              <a:t> at the top of the structure and the DNA-binding loop moves through </a:t>
            </a:r>
            <a:r>
              <a:rPr lang="en-US" altLang="en-US" sz="2400">
                <a:solidFill>
                  <a:srgbClr val="0000FF"/>
                </a:solidFill>
              </a:rPr>
              <a:t>successive conformations</a:t>
            </a:r>
            <a:r>
              <a:rPr lang="en-US" altLang="en-US" sz="2400"/>
              <a:t>, each is associated with a different nucleotide-bound state; the top is in an ATP-bound state, the middle is in an ADP-bound and the bottom lacks a bound nucleotide</a:t>
            </a:r>
          </a:p>
          <a:p>
            <a:pPr eaLnBrk="1" hangingPunct="1"/>
            <a:r>
              <a:rPr lang="en-US" altLang="en-US" sz="2400"/>
              <a:t>As a single subunit binds, hydrolyzes and releases ATP, it will cycle through the top, middle and bottom  conformations</a:t>
            </a:r>
          </a:p>
          <a:p>
            <a:pPr eaLnBrk="1" hangingPunct="1"/>
            <a:endParaRPr lang="en-US" altLang="en-US" sz="2400"/>
          </a:p>
          <a:p>
            <a:pPr eaLnBrk="1" hangingPunct="1"/>
            <a:r>
              <a:rPr lang="en-US" altLang="en-US" sz="2400"/>
              <a:t>In addition to translocating along ssDNA, a helicase must also </a:t>
            </a:r>
            <a:r>
              <a:rPr lang="en-US" altLang="en-US" sz="2400">
                <a:solidFill>
                  <a:srgbClr val="0000FF"/>
                </a:solidFill>
              </a:rPr>
              <a:t>displace the complementary strand to cause DNA unwinding</a:t>
            </a:r>
          </a:p>
          <a:p>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5">
            <a:extLst>
              <a:ext uri="{FF2B5EF4-FFF2-40B4-BE49-F238E27FC236}">
                <a16:creationId xmlns:a16="http://schemas.microsoft.com/office/drawing/2014/main" id="{560CAE14-6D2F-E445-B83E-39B537FCE4E2}"/>
              </a:ext>
            </a:extLst>
          </p:cNvPr>
          <p:cNvSpPr>
            <a:spLocks noGrp="1" noChangeArrowheads="1"/>
          </p:cNvSpPr>
          <p:nvPr>
            <p:ph type="title"/>
          </p:nvPr>
        </p:nvSpPr>
        <p:spPr>
          <a:xfrm>
            <a:off x="468313" y="260350"/>
            <a:ext cx="7543800" cy="930275"/>
          </a:xfrm>
        </p:spPr>
        <p:txBody>
          <a:bodyPr/>
          <a:lstStyle/>
          <a:p>
            <a:pPr algn="ctr"/>
            <a:r>
              <a:rPr lang="en-US" altLang="en-US" sz="3200">
                <a:solidFill>
                  <a:srgbClr val="0000FF"/>
                </a:solidFill>
              </a:rPr>
              <a:t>Structure and proposed mechanism of a DNA helicase</a:t>
            </a:r>
          </a:p>
        </p:txBody>
      </p:sp>
      <p:sp>
        <p:nvSpPr>
          <p:cNvPr id="63491" name="Text Box 7">
            <a:extLst>
              <a:ext uri="{FF2B5EF4-FFF2-40B4-BE49-F238E27FC236}">
                <a16:creationId xmlns:a16="http://schemas.microsoft.com/office/drawing/2014/main" id="{CD9E6CEB-E9C4-89DD-74F4-E27E10423358}"/>
              </a:ext>
            </a:extLst>
          </p:cNvPr>
          <p:cNvSpPr txBox="1">
            <a:spLocks noChangeArrowheads="1"/>
          </p:cNvSpPr>
          <p:nvPr/>
        </p:nvSpPr>
        <p:spPr bwMode="auto">
          <a:xfrm>
            <a:off x="879475" y="6256338"/>
            <a:ext cx="1416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t>ATP-bound</a:t>
            </a:r>
          </a:p>
        </p:txBody>
      </p:sp>
      <p:sp>
        <p:nvSpPr>
          <p:cNvPr id="63492" name="Text Box 8">
            <a:extLst>
              <a:ext uri="{FF2B5EF4-FFF2-40B4-BE49-F238E27FC236}">
                <a16:creationId xmlns:a16="http://schemas.microsoft.com/office/drawing/2014/main" id="{26A1D684-E070-F7C8-EC94-ADB829583F2B}"/>
              </a:ext>
            </a:extLst>
          </p:cNvPr>
          <p:cNvSpPr txBox="1">
            <a:spLocks noChangeArrowheads="1"/>
          </p:cNvSpPr>
          <p:nvPr/>
        </p:nvSpPr>
        <p:spPr bwMode="auto">
          <a:xfrm>
            <a:off x="3779838" y="6308725"/>
            <a:ext cx="1441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t>ADP-bound</a:t>
            </a:r>
          </a:p>
        </p:txBody>
      </p:sp>
      <p:sp>
        <p:nvSpPr>
          <p:cNvPr id="63493" name="Text Box 9">
            <a:extLst>
              <a:ext uri="{FF2B5EF4-FFF2-40B4-BE49-F238E27FC236}">
                <a16:creationId xmlns:a16="http://schemas.microsoft.com/office/drawing/2014/main" id="{5DA7C710-9984-5845-FAE4-5C7511A8F985}"/>
              </a:ext>
            </a:extLst>
          </p:cNvPr>
          <p:cNvSpPr txBox="1">
            <a:spLocks noChangeArrowheads="1"/>
          </p:cNvSpPr>
          <p:nvPr/>
        </p:nvSpPr>
        <p:spPr bwMode="auto">
          <a:xfrm>
            <a:off x="7164388" y="6237288"/>
            <a:ext cx="1162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t>unbound</a:t>
            </a:r>
          </a:p>
        </p:txBody>
      </p:sp>
      <p:pic>
        <p:nvPicPr>
          <p:cNvPr id="63494" name="Picture 3" descr="09_15Figure-L">
            <a:extLst>
              <a:ext uri="{FF2B5EF4-FFF2-40B4-BE49-F238E27FC236}">
                <a16:creationId xmlns:a16="http://schemas.microsoft.com/office/drawing/2014/main" id="{D24E70BB-FDBD-CD87-04DF-B163D8E75A9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b="3404"/>
          <a:stretch>
            <a:fillRect/>
          </a:stretch>
        </p:blipFill>
        <p:spPr>
          <a:xfrm>
            <a:off x="323850" y="1628775"/>
            <a:ext cx="8208963" cy="4411663"/>
          </a:xfr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E840CF4E-A900-036F-8B78-F2014AA35B2A}"/>
              </a:ext>
            </a:extLst>
          </p:cNvPr>
          <p:cNvSpPr>
            <a:spLocks noGrp="1" noChangeArrowheads="1"/>
          </p:cNvSpPr>
          <p:nvPr>
            <p:ph type="title"/>
          </p:nvPr>
        </p:nvSpPr>
        <p:spPr/>
        <p:txBody>
          <a:bodyPr/>
          <a:lstStyle/>
          <a:p>
            <a:r>
              <a:rPr lang="en-US" altLang="en-US" sz="3200">
                <a:solidFill>
                  <a:srgbClr val="0000FF"/>
                </a:solidFill>
              </a:rPr>
              <a:t>SSB proteins stabilizes ssDNA prior to replication</a:t>
            </a:r>
          </a:p>
        </p:txBody>
      </p:sp>
      <p:sp>
        <p:nvSpPr>
          <p:cNvPr id="65539" name="Rectangle 3">
            <a:extLst>
              <a:ext uri="{FF2B5EF4-FFF2-40B4-BE49-F238E27FC236}">
                <a16:creationId xmlns:a16="http://schemas.microsoft.com/office/drawing/2014/main" id="{38D55A05-55D7-26CD-C674-8FFE95D8CC7A}"/>
              </a:ext>
            </a:extLst>
          </p:cNvPr>
          <p:cNvSpPr>
            <a:spLocks noGrp="1" noChangeArrowheads="1"/>
          </p:cNvSpPr>
          <p:nvPr>
            <p:ph type="body" sz="half" idx="1"/>
          </p:nvPr>
        </p:nvSpPr>
        <p:spPr>
          <a:xfrm>
            <a:off x="468313" y="1484313"/>
            <a:ext cx="7570787" cy="3005137"/>
          </a:xfrm>
        </p:spPr>
        <p:txBody>
          <a:bodyPr/>
          <a:lstStyle/>
          <a:p>
            <a:pPr>
              <a:lnSpc>
                <a:spcPct val="90000"/>
              </a:lnSpc>
            </a:pPr>
            <a:r>
              <a:rPr lang="en-US" altLang="en-US" sz="2600" dirty="0"/>
              <a:t>ssDNA-binding proteins rapidly bind to the separated strands</a:t>
            </a:r>
          </a:p>
          <a:p>
            <a:pPr>
              <a:lnSpc>
                <a:spcPct val="90000"/>
              </a:lnSpc>
            </a:pPr>
            <a:r>
              <a:rPr lang="en-US" altLang="en-US" sz="2600" dirty="0"/>
              <a:t>Binding of one SSB promotes the binding of another SSB (</a:t>
            </a:r>
            <a:r>
              <a:rPr lang="en-US" altLang="en-US" sz="2600" b="1" dirty="0">
                <a:solidFill>
                  <a:srgbClr val="7030A0"/>
                </a:solidFill>
              </a:rPr>
              <a:t>cooperative binding</a:t>
            </a:r>
            <a:r>
              <a:rPr lang="en-US" altLang="en-US" sz="2600" dirty="0"/>
              <a:t>)</a:t>
            </a:r>
          </a:p>
          <a:p>
            <a:pPr>
              <a:lnSpc>
                <a:spcPct val="90000"/>
              </a:lnSpc>
            </a:pPr>
            <a:r>
              <a:rPr lang="en-US" altLang="en-US" sz="2600" dirty="0"/>
              <a:t>SSB interacts with ssDNA in a sequence-independent manner through electrostatic interactions with DNA bases</a:t>
            </a:r>
          </a:p>
        </p:txBody>
      </p:sp>
      <p:pic>
        <p:nvPicPr>
          <p:cNvPr id="65540" name="Picture 4">
            <a:extLst>
              <a:ext uri="{FF2B5EF4-FFF2-40B4-BE49-F238E27FC236}">
                <a16:creationId xmlns:a16="http://schemas.microsoft.com/office/drawing/2014/main" id="{4A45059C-118D-2AD2-83BB-59E585CD3A6E}"/>
              </a:ext>
            </a:extLst>
          </p:cNvPr>
          <p:cNvPicPr>
            <a:picLocks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50825" y="4268788"/>
            <a:ext cx="8642350" cy="2314575"/>
          </a:xfr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68E42C20-4824-0E79-1E91-C462CE06A728}"/>
              </a:ext>
            </a:extLst>
          </p:cNvPr>
          <p:cNvSpPr>
            <a:spLocks noGrp="1" noChangeArrowheads="1"/>
          </p:cNvSpPr>
          <p:nvPr>
            <p:ph type="title"/>
          </p:nvPr>
        </p:nvSpPr>
        <p:spPr>
          <a:xfrm>
            <a:off x="457200" y="122238"/>
            <a:ext cx="4330700" cy="1295400"/>
          </a:xfrm>
        </p:spPr>
        <p:txBody>
          <a:bodyPr/>
          <a:lstStyle/>
          <a:p>
            <a:pPr eaLnBrk="1" hangingPunct="1"/>
            <a:r>
              <a:rPr lang="en-US" altLang="en-US">
                <a:solidFill>
                  <a:srgbClr val="0000FF"/>
                </a:solidFill>
              </a:rPr>
              <a:t>Problems of unwinding DNA</a:t>
            </a:r>
            <a:endParaRPr lang="en-GB" altLang="en-US">
              <a:solidFill>
                <a:srgbClr val="0000FF"/>
              </a:solidFill>
            </a:endParaRPr>
          </a:p>
        </p:txBody>
      </p:sp>
      <p:pic>
        <p:nvPicPr>
          <p:cNvPr id="98310" name="Picture 6">
            <a:extLst>
              <a:ext uri="{FF2B5EF4-FFF2-40B4-BE49-F238E27FC236}">
                <a16:creationId xmlns:a16="http://schemas.microsoft.com/office/drawing/2014/main" id="{DD543D98-AE2E-0A3A-BD9D-6B8008D32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6548" b="1881"/>
          <a:stretch>
            <a:fillRect/>
          </a:stretch>
        </p:blipFill>
        <p:spPr bwMode="auto">
          <a:xfrm>
            <a:off x="179388" y="1916113"/>
            <a:ext cx="4841875"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8" name="Text Box 6">
            <a:extLst>
              <a:ext uri="{FF2B5EF4-FFF2-40B4-BE49-F238E27FC236}">
                <a16:creationId xmlns:a16="http://schemas.microsoft.com/office/drawing/2014/main" id="{C135A952-B8FE-DBD1-4B71-822EB6A1C783}"/>
              </a:ext>
            </a:extLst>
          </p:cNvPr>
          <p:cNvSpPr txBox="1">
            <a:spLocks noChangeArrowheads="1"/>
          </p:cNvSpPr>
          <p:nvPr/>
        </p:nvSpPr>
        <p:spPr bwMode="auto">
          <a:xfrm>
            <a:off x="179388" y="4076700"/>
            <a:ext cx="4392612"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b="1"/>
              <a:t>Helicase introduces positive supercoils which can</a:t>
            </a:r>
          </a:p>
          <a:p>
            <a:pPr eaLnBrk="1" hangingPunct="1">
              <a:spcBef>
                <a:spcPct val="0"/>
              </a:spcBef>
              <a:buClrTx/>
              <a:buSzTx/>
              <a:buFontTx/>
              <a:buNone/>
            </a:pPr>
            <a:r>
              <a:rPr lang="en-US" altLang="en-US" sz="2000" b="1"/>
              <a:t>Be removed by Topoisomerases that act on unreplicated </a:t>
            </a:r>
          </a:p>
          <a:p>
            <a:pPr eaLnBrk="1" hangingPunct="1">
              <a:spcBef>
                <a:spcPct val="0"/>
              </a:spcBef>
              <a:buClrTx/>
              <a:buSzTx/>
              <a:buFontTx/>
              <a:buNone/>
            </a:pPr>
            <a:r>
              <a:rPr lang="en-US" altLang="en-US" sz="2000" b="1"/>
              <a:t>dsDNA in front of the replication fork</a:t>
            </a:r>
          </a:p>
        </p:txBody>
      </p:sp>
      <p:pic>
        <p:nvPicPr>
          <p:cNvPr id="67589" name="Picture 3" descr="09_17Figure-L">
            <a:extLst>
              <a:ext uri="{FF2B5EF4-FFF2-40B4-BE49-F238E27FC236}">
                <a16:creationId xmlns:a16="http://schemas.microsoft.com/office/drawing/2014/main" id="{E0959A60-AA7B-1E1F-961E-DA0F2736F2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2603"/>
          <a:stretch>
            <a:fillRect/>
          </a:stretch>
        </p:blipFill>
        <p:spPr bwMode="auto">
          <a:xfrm>
            <a:off x="5173663" y="169863"/>
            <a:ext cx="3816350" cy="641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983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CC8F8093-914D-BCCB-8F60-772F32087CD8}"/>
              </a:ext>
            </a:extLst>
          </p:cNvPr>
          <p:cNvGraphicFramePr>
            <a:graphicFrameLocks noGrp="1"/>
          </p:cNvGraphicFramePr>
          <p:nvPr>
            <p:extLst>
              <p:ext uri="{D42A27DB-BD31-4B8C-83A1-F6EECF244321}">
                <p14:modId xmlns:p14="http://schemas.microsoft.com/office/powerpoint/2010/main" val="657117459"/>
              </p:ext>
            </p:extLst>
          </p:nvPr>
        </p:nvGraphicFramePr>
        <p:xfrm>
          <a:off x="457200" y="908720"/>
          <a:ext cx="7818120" cy="3474720"/>
        </p:xfrm>
        <a:graphic>
          <a:graphicData uri="http://schemas.openxmlformats.org/drawingml/2006/table">
            <a:tbl>
              <a:tblPr/>
              <a:tblGrid>
                <a:gridCol w="2606040">
                  <a:extLst>
                    <a:ext uri="{9D8B030D-6E8A-4147-A177-3AD203B41FA5}">
                      <a16:colId xmlns:a16="http://schemas.microsoft.com/office/drawing/2014/main" val="2284279467"/>
                    </a:ext>
                  </a:extLst>
                </a:gridCol>
                <a:gridCol w="2606040">
                  <a:extLst>
                    <a:ext uri="{9D8B030D-6E8A-4147-A177-3AD203B41FA5}">
                      <a16:colId xmlns:a16="http://schemas.microsoft.com/office/drawing/2014/main" val="3862082881"/>
                    </a:ext>
                  </a:extLst>
                </a:gridCol>
                <a:gridCol w="2606040">
                  <a:extLst>
                    <a:ext uri="{9D8B030D-6E8A-4147-A177-3AD203B41FA5}">
                      <a16:colId xmlns:a16="http://schemas.microsoft.com/office/drawing/2014/main" val="2057473578"/>
                    </a:ext>
                  </a:extLst>
                </a:gridCol>
              </a:tblGrid>
              <a:tr h="0">
                <a:tc>
                  <a:txBody>
                    <a:bodyPr/>
                    <a:lstStyle/>
                    <a:p>
                      <a:r>
                        <a:rPr lang="en-US"/>
                        <a:t>Feature</a:t>
                      </a:r>
                    </a:p>
                  </a:txBody>
                  <a:tcPr anchor="ctr">
                    <a:lnL>
                      <a:noFill/>
                    </a:lnL>
                    <a:lnR>
                      <a:noFill/>
                    </a:lnR>
                    <a:lnT>
                      <a:noFill/>
                    </a:lnT>
                    <a:lnB>
                      <a:noFill/>
                    </a:lnB>
                  </a:tcPr>
                </a:tc>
                <a:tc>
                  <a:txBody>
                    <a:bodyPr/>
                    <a:lstStyle/>
                    <a:p>
                      <a:r>
                        <a:rPr lang="en-US"/>
                        <a:t>Negative Supercoiling</a:t>
                      </a:r>
                    </a:p>
                  </a:txBody>
                  <a:tcPr anchor="ctr">
                    <a:lnL>
                      <a:noFill/>
                    </a:lnL>
                    <a:lnR>
                      <a:noFill/>
                    </a:lnR>
                    <a:lnT>
                      <a:noFill/>
                    </a:lnT>
                    <a:lnB>
                      <a:noFill/>
                    </a:lnB>
                  </a:tcPr>
                </a:tc>
                <a:tc>
                  <a:txBody>
                    <a:bodyPr/>
                    <a:lstStyle/>
                    <a:p>
                      <a:r>
                        <a:rPr lang="en-US"/>
                        <a:t>Positive Supercoiling</a:t>
                      </a:r>
                    </a:p>
                  </a:txBody>
                  <a:tcPr anchor="ctr">
                    <a:lnL>
                      <a:noFill/>
                    </a:lnL>
                    <a:lnR>
                      <a:noFill/>
                    </a:lnR>
                    <a:lnT>
                      <a:noFill/>
                    </a:lnT>
                    <a:lnB>
                      <a:noFill/>
                    </a:lnB>
                  </a:tcPr>
                </a:tc>
                <a:extLst>
                  <a:ext uri="{0D108BD9-81ED-4DB2-BD59-A6C34878D82A}">
                    <a16:rowId xmlns:a16="http://schemas.microsoft.com/office/drawing/2014/main" val="2564833441"/>
                  </a:ext>
                </a:extLst>
              </a:tr>
              <a:tr h="0">
                <a:tc>
                  <a:txBody>
                    <a:bodyPr/>
                    <a:lstStyle/>
                    <a:p>
                      <a:r>
                        <a:rPr lang="en-US" b="1" dirty="0"/>
                        <a:t>Helical Twist</a:t>
                      </a:r>
                      <a:endParaRPr lang="en-US" dirty="0"/>
                    </a:p>
                  </a:txBody>
                  <a:tcPr anchor="ctr">
                    <a:lnL>
                      <a:noFill/>
                    </a:lnL>
                    <a:lnR>
                      <a:noFill/>
                    </a:lnR>
                    <a:lnT>
                      <a:noFill/>
                    </a:lnT>
                    <a:lnB>
                      <a:noFill/>
                    </a:lnB>
                  </a:tcPr>
                </a:tc>
                <a:tc>
                  <a:txBody>
                    <a:bodyPr/>
                    <a:lstStyle/>
                    <a:p>
                      <a:r>
                        <a:rPr lang="en-US"/>
                        <a:t>Left-handed, underwound</a:t>
                      </a:r>
                    </a:p>
                  </a:txBody>
                  <a:tcPr anchor="ctr">
                    <a:lnL>
                      <a:noFill/>
                    </a:lnL>
                    <a:lnR>
                      <a:noFill/>
                    </a:lnR>
                    <a:lnT>
                      <a:noFill/>
                    </a:lnT>
                    <a:lnB>
                      <a:noFill/>
                    </a:lnB>
                  </a:tcPr>
                </a:tc>
                <a:tc>
                  <a:txBody>
                    <a:bodyPr/>
                    <a:lstStyle/>
                    <a:p>
                      <a:r>
                        <a:rPr lang="en-US"/>
                        <a:t>Right-handed, overwound</a:t>
                      </a:r>
                    </a:p>
                  </a:txBody>
                  <a:tcPr anchor="ctr">
                    <a:lnL>
                      <a:noFill/>
                    </a:lnL>
                    <a:lnR>
                      <a:noFill/>
                    </a:lnR>
                    <a:lnT>
                      <a:noFill/>
                    </a:lnT>
                    <a:lnB>
                      <a:noFill/>
                    </a:lnB>
                  </a:tcPr>
                </a:tc>
                <a:extLst>
                  <a:ext uri="{0D108BD9-81ED-4DB2-BD59-A6C34878D82A}">
                    <a16:rowId xmlns:a16="http://schemas.microsoft.com/office/drawing/2014/main" val="63276696"/>
                  </a:ext>
                </a:extLst>
              </a:tr>
              <a:tr h="0">
                <a:tc>
                  <a:txBody>
                    <a:bodyPr/>
                    <a:lstStyle/>
                    <a:p>
                      <a:r>
                        <a:rPr lang="en-US" b="1"/>
                        <a:t>Effect on DNA</a:t>
                      </a:r>
                      <a:endParaRPr lang="en-US"/>
                    </a:p>
                  </a:txBody>
                  <a:tcPr anchor="ctr">
                    <a:lnL>
                      <a:noFill/>
                    </a:lnL>
                    <a:lnR>
                      <a:noFill/>
                    </a:lnR>
                    <a:lnT>
                      <a:noFill/>
                    </a:lnT>
                    <a:lnB>
                      <a:noFill/>
                    </a:lnB>
                  </a:tcPr>
                </a:tc>
                <a:tc>
                  <a:txBody>
                    <a:bodyPr/>
                    <a:lstStyle/>
                    <a:p>
                      <a:r>
                        <a:rPr lang="en-US"/>
                        <a:t>Loosens helix, easier to separate</a:t>
                      </a:r>
                    </a:p>
                  </a:txBody>
                  <a:tcPr anchor="ctr">
                    <a:lnL>
                      <a:noFill/>
                    </a:lnL>
                    <a:lnR>
                      <a:noFill/>
                    </a:lnR>
                    <a:lnT>
                      <a:noFill/>
                    </a:lnT>
                    <a:lnB>
                      <a:noFill/>
                    </a:lnB>
                  </a:tcPr>
                </a:tc>
                <a:tc>
                  <a:txBody>
                    <a:bodyPr/>
                    <a:lstStyle/>
                    <a:p>
                      <a:r>
                        <a:rPr lang="en-US"/>
                        <a:t>Tightens helix, harder to separate</a:t>
                      </a:r>
                    </a:p>
                  </a:txBody>
                  <a:tcPr anchor="ctr">
                    <a:lnL>
                      <a:noFill/>
                    </a:lnL>
                    <a:lnR>
                      <a:noFill/>
                    </a:lnR>
                    <a:lnT>
                      <a:noFill/>
                    </a:lnT>
                    <a:lnB>
                      <a:noFill/>
                    </a:lnB>
                  </a:tcPr>
                </a:tc>
                <a:extLst>
                  <a:ext uri="{0D108BD9-81ED-4DB2-BD59-A6C34878D82A}">
                    <a16:rowId xmlns:a16="http://schemas.microsoft.com/office/drawing/2014/main" val="2893558796"/>
                  </a:ext>
                </a:extLst>
              </a:tr>
              <a:tr h="0">
                <a:tc>
                  <a:txBody>
                    <a:bodyPr/>
                    <a:lstStyle/>
                    <a:p>
                      <a:r>
                        <a:rPr lang="en-US" b="1"/>
                        <a:t>Role in Cells</a:t>
                      </a:r>
                      <a:endParaRPr lang="en-US"/>
                    </a:p>
                  </a:txBody>
                  <a:tcPr anchor="ctr">
                    <a:lnL>
                      <a:noFill/>
                    </a:lnL>
                    <a:lnR>
                      <a:noFill/>
                    </a:lnR>
                    <a:lnT>
                      <a:noFill/>
                    </a:lnT>
                    <a:lnB>
                      <a:noFill/>
                    </a:lnB>
                  </a:tcPr>
                </a:tc>
                <a:tc>
                  <a:txBody>
                    <a:bodyPr/>
                    <a:lstStyle/>
                    <a:p>
                      <a:r>
                        <a:rPr lang="en-US"/>
                        <a:t>Facilitates access for transcription and replication</a:t>
                      </a:r>
                    </a:p>
                  </a:txBody>
                  <a:tcPr anchor="ctr">
                    <a:lnL>
                      <a:noFill/>
                    </a:lnL>
                    <a:lnR>
                      <a:noFill/>
                    </a:lnR>
                    <a:lnT>
                      <a:noFill/>
                    </a:lnT>
                    <a:lnB>
                      <a:noFill/>
                    </a:lnB>
                  </a:tcPr>
                </a:tc>
                <a:tc>
                  <a:txBody>
                    <a:bodyPr/>
                    <a:lstStyle/>
                    <a:p>
                      <a:r>
                        <a:rPr lang="en-US"/>
                        <a:t>Stabilizes DNA, common in thermophiles</a:t>
                      </a:r>
                    </a:p>
                  </a:txBody>
                  <a:tcPr anchor="ctr">
                    <a:lnL>
                      <a:noFill/>
                    </a:lnL>
                    <a:lnR>
                      <a:noFill/>
                    </a:lnR>
                    <a:lnT>
                      <a:noFill/>
                    </a:lnT>
                    <a:lnB>
                      <a:noFill/>
                    </a:lnB>
                  </a:tcPr>
                </a:tc>
                <a:extLst>
                  <a:ext uri="{0D108BD9-81ED-4DB2-BD59-A6C34878D82A}">
                    <a16:rowId xmlns:a16="http://schemas.microsoft.com/office/drawing/2014/main" val="3428193362"/>
                  </a:ext>
                </a:extLst>
              </a:tr>
              <a:tr h="0">
                <a:tc>
                  <a:txBody>
                    <a:bodyPr/>
                    <a:lstStyle/>
                    <a:p>
                      <a:r>
                        <a:rPr lang="en-US" b="1"/>
                        <a:t>Generated By</a:t>
                      </a:r>
                      <a:endParaRPr lang="en-US"/>
                    </a:p>
                  </a:txBody>
                  <a:tcPr anchor="ctr">
                    <a:lnL>
                      <a:noFill/>
                    </a:lnL>
                    <a:lnR>
                      <a:noFill/>
                    </a:lnR>
                    <a:lnT>
                      <a:noFill/>
                    </a:lnT>
                    <a:lnB>
                      <a:noFill/>
                    </a:lnB>
                  </a:tcPr>
                </a:tc>
                <a:tc>
                  <a:txBody>
                    <a:bodyPr/>
                    <a:lstStyle/>
                    <a:p>
                      <a:r>
                        <a:rPr lang="en-US"/>
                        <a:t>DNA gyrase (in prokaryotes)</a:t>
                      </a:r>
                    </a:p>
                  </a:txBody>
                  <a:tcPr anchor="ctr">
                    <a:lnL>
                      <a:noFill/>
                    </a:lnL>
                    <a:lnR>
                      <a:noFill/>
                    </a:lnR>
                    <a:lnT>
                      <a:noFill/>
                    </a:lnT>
                    <a:lnB>
                      <a:noFill/>
                    </a:lnB>
                  </a:tcPr>
                </a:tc>
                <a:tc>
                  <a:txBody>
                    <a:bodyPr/>
                    <a:lstStyle/>
                    <a:p>
                      <a:r>
                        <a:rPr lang="en-US" dirty="0"/>
                        <a:t>Naturally occurs during replication, managed by topoisomerases</a:t>
                      </a:r>
                    </a:p>
                  </a:txBody>
                  <a:tcPr anchor="ctr">
                    <a:lnL>
                      <a:noFill/>
                    </a:lnL>
                    <a:lnR>
                      <a:noFill/>
                    </a:lnR>
                    <a:lnT>
                      <a:noFill/>
                    </a:lnT>
                    <a:lnB>
                      <a:noFill/>
                    </a:lnB>
                  </a:tcPr>
                </a:tc>
                <a:extLst>
                  <a:ext uri="{0D108BD9-81ED-4DB2-BD59-A6C34878D82A}">
                    <a16:rowId xmlns:a16="http://schemas.microsoft.com/office/drawing/2014/main" val="440917771"/>
                  </a:ext>
                </a:extLst>
              </a:tr>
            </a:tbl>
          </a:graphicData>
        </a:graphic>
      </p:graphicFrame>
    </p:spTree>
    <p:extLst>
      <p:ext uri="{BB962C8B-B14F-4D97-AF65-F5344CB8AC3E}">
        <p14:creationId xmlns:p14="http://schemas.microsoft.com/office/powerpoint/2010/main" val="22713287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5">
            <a:extLst>
              <a:ext uri="{FF2B5EF4-FFF2-40B4-BE49-F238E27FC236}">
                <a16:creationId xmlns:a16="http://schemas.microsoft.com/office/drawing/2014/main" id="{38630924-12FB-3B22-B422-DEF84C967726}"/>
              </a:ext>
            </a:extLst>
          </p:cNvPr>
          <p:cNvSpPr>
            <a:spLocks noGrp="1" noChangeArrowheads="1"/>
          </p:cNvSpPr>
          <p:nvPr>
            <p:ph type="title"/>
          </p:nvPr>
        </p:nvSpPr>
        <p:spPr>
          <a:xfrm>
            <a:off x="539750" y="549275"/>
            <a:ext cx="7543800" cy="1295400"/>
          </a:xfrm>
        </p:spPr>
        <p:txBody>
          <a:bodyPr/>
          <a:lstStyle/>
          <a:p>
            <a:r>
              <a:rPr lang="en-US" altLang="en-US" sz="3200">
                <a:solidFill>
                  <a:srgbClr val="0000FF"/>
                </a:solidFill>
              </a:rPr>
              <a:t>Replication fork enzymes extend the range of DNA polymerase substrates</a:t>
            </a:r>
          </a:p>
        </p:txBody>
      </p:sp>
      <p:pic>
        <p:nvPicPr>
          <p:cNvPr id="69635" name="Picture 3" descr="09_01Table-L">
            <a:extLst>
              <a:ext uri="{FF2B5EF4-FFF2-40B4-BE49-F238E27FC236}">
                <a16:creationId xmlns:a16="http://schemas.microsoft.com/office/drawing/2014/main" id="{5D2FD7B9-6C53-A2C7-D815-D77A9B538A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430"/>
          <a:stretch>
            <a:fillRect/>
          </a:stretch>
        </p:blipFill>
        <p:spPr bwMode="auto">
          <a:xfrm>
            <a:off x="179388" y="2708275"/>
            <a:ext cx="8713787"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4">
            <a:extLst>
              <a:ext uri="{FF2B5EF4-FFF2-40B4-BE49-F238E27FC236}">
                <a16:creationId xmlns:a16="http://schemas.microsoft.com/office/drawing/2014/main" id="{B71A222C-65DD-0B1C-2A65-CAC3393C1C59}"/>
              </a:ext>
            </a:extLst>
          </p:cNvPr>
          <p:cNvSpPr>
            <a:spLocks noGrp="1" noChangeArrowheads="1"/>
          </p:cNvSpPr>
          <p:nvPr>
            <p:ph type="ctrTitle"/>
          </p:nvPr>
        </p:nvSpPr>
        <p:spPr>
          <a:xfrm>
            <a:off x="468313" y="2997200"/>
            <a:ext cx="6781800" cy="1701800"/>
          </a:xfrm>
        </p:spPr>
        <p:txBody>
          <a:bodyPr/>
          <a:lstStyle/>
          <a:p>
            <a:pPr algn="ctr" eaLnBrk="1" hangingPunct="1"/>
            <a:r>
              <a:rPr lang="en-GB" altLang="en-US">
                <a:solidFill>
                  <a:srgbClr val="0000FF"/>
                </a:solidFill>
              </a:rPr>
              <a:t>The specialization of DNA polymerase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43B5B652-2F01-AA0C-14E4-A023CB87DBFF}"/>
              </a:ext>
            </a:extLst>
          </p:cNvPr>
          <p:cNvSpPr>
            <a:spLocks noGrp="1" noChangeArrowheads="1"/>
          </p:cNvSpPr>
          <p:nvPr>
            <p:ph type="title"/>
          </p:nvPr>
        </p:nvSpPr>
        <p:spPr/>
        <p:txBody>
          <a:bodyPr/>
          <a:lstStyle/>
          <a:p>
            <a:pPr eaLnBrk="1" hangingPunct="1"/>
            <a:r>
              <a:rPr lang="en-US" altLang="en-US" sz="3200">
                <a:solidFill>
                  <a:srgbClr val="0000FF"/>
                </a:solidFill>
              </a:rPr>
              <a:t>DNA Polymerases in Prokaryotes</a:t>
            </a:r>
            <a:endParaRPr lang="en-GB" altLang="en-US" sz="3200">
              <a:solidFill>
                <a:srgbClr val="0000FF"/>
              </a:solidFill>
            </a:endParaRPr>
          </a:p>
        </p:txBody>
      </p:sp>
      <p:pic>
        <p:nvPicPr>
          <p:cNvPr id="73731" name="Picture 7" descr="H:\Amjad Courses\BT451\Molecular Biology of the Gene images\watson_mm_jpg_chap008\chap008\08_Table02.jpg">
            <a:extLst>
              <a:ext uri="{FF2B5EF4-FFF2-40B4-BE49-F238E27FC236}">
                <a16:creationId xmlns:a16="http://schemas.microsoft.com/office/drawing/2014/main" id="{E64573D6-7F64-10FC-E2CD-F040012A4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8582"/>
          <a:stretch>
            <a:fillRect/>
          </a:stretch>
        </p:blipFill>
        <p:spPr bwMode="auto">
          <a:xfrm>
            <a:off x="323850" y="1916113"/>
            <a:ext cx="8551863"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9138A93-3285-09A3-B6A2-F34BCCC6B7C1}"/>
              </a:ext>
            </a:extLst>
          </p:cNvPr>
          <p:cNvSpPr>
            <a:spLocks noGrp="1" noChangeArrowheads="1"/>
          </p:cNvSpPr>
          <p:nvPr>
            <p:ph type="title"/>
          </p:nvPr>
        </p:nvSpPr>
        <p:spPr>
          <a:xfrm>
            <a:off x="539750" y="0"/>
            <a:ext cx="7543800" cy="725488"/>
          </a:xfrm>
        </p:spPr>
        <p:txBody>
          <a:bodyPr/>
          <a:lstStyle/>
          <a:p>
            <a:pPr eaLnBrk="1" hangingPunct="1"/>
            <a:r>
              <a:rPr lang="en-US" altLang="en-US" sz="3200" dirty="0">
                <a:solidFill>
                  <a:srgbClr val="0000FF"/>
                </a:solidFill>
              </a:rPr>
              <a:t>DNA Polymerases in Eukaryotes</a:t>
            </a:r>
            <a:endParaRPr lang="en-GB" altLang="en-US" sz="3200" dirty="0">
              <a:solidFill>
                <a:srgbClr val="0000FF"/>
              </a:solidFill>
            </a:endParaRPr>
          </a:p>
        </p:txBody>
      </p:sp>
      <p:sp>
        <p:nvSpPr>
          <p:cNvPr id="13" name="Right Arrow 12">
            <a:extLst>
              <a:ext uri="{FF2B5EF4-FFF2-40B4-BE49-F238E27FC236}">
                <a16:creationId xmlns:a16="http://schemas.microsoft.com/office/drawing/2014/main" id="{8955DA0A-DD7F-D57A-5D93-AF734CD9391E}"/>
              </a:ext>
            </a:extLst>
          </p:cNvPr>
          <p:cNvSpPr/>
          <p:nvPr/>
        </p:nvSpPr>
        <p:spPr>
          <a:xfrm>
            <a:off x="809625" y="4581525"/>
            <a:ext cx="360363" cy="523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4" name="Right Arrow 13">
            <a:extLst>
              <a:ext uri="{FF2B5EF4-FFF2-40B4-BE49-F238E27FC236}">
                <a16:creationId xmlns:a16="http://schemas.microsoft.com/office/drawing/2014/main" id="{7C44774B-61B0-B13B-91AA-D268461409AE}"/>
              </a:ext>
            </a:extLst>
          </p:cNvPr>
          <p:cNvSpPr/>
          <p:nvPr/>
        </p:nvSpPr>
        <p:spPr>
          <a:xfrm>
            <a:off x="809625" y="4149725"/>
            <a:ext cx="360363" cy="444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5" name="Right Arrow 14">
            <a:extLst>
              <a:ext uri="{FF2B5EF4-FFF2-40B4-BE49-F238E27FC236}">
                <a16:creationId xmlns:a16="http://schemas.microsoft.com/office/drawing/2014/main" id="{4C981C94-6195-07F0-2CE8-141903BC1AB7}"/>
              </a:ext>
            </a:extLst>
          </p:cNvPr>
          <p:cNvSpPr/>
          <p:nvPr/>
        </p:nvSpPr>
        <p:spPr>
          <a:xfrm>
            <a:off x="809625" y="3619500"/>
            <a:ext cx="360363" cy="52388"/>
          </a:xfrm>
          <a:prstGeom prst="rightArrow">
            <a:avLst/>
          </a:prstGeom>
          <a:solidFill>
            <a:srgbClr val="E120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pic>
        <p:nvPicPr>
          <p:cNvPr id="75782" name="Picture 3" descr="09_02Table-L">
            <a:extLst>
              <a:ext uri="{FF2B5EF4-FFF2-40B4-BE49-F238E27FC236}">
                <a16:creationId xmlns:a16="http://schemas.microsoft.com/office/drawing/2014/main" id="{F79637F3-8464-00D8-D6AE-250ECEBFA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748"/>
          <a:stretch>
            <a:fillRect/>
          </a:stretch>
        </p:blipFill>
        <p:spPr bwMode="auto">
          <a:xfrm>
            <a:off x="1258888" y="620713"/>
            <a:ext cx="6481762" cy="604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4B952BFE-A753-1B63-E299-4246BEEC6A69}"/>
              </a:ext>
            </a:extLst>
          </p:cNvPr>
          <p:cNvSpPr/>
          <p:nvPr/>
        </p:nvSpPr>
        <p:spPr>
          <a:xfrm>
            <a:off x="684213" y="3284538"/>
            <a:ext cx="7056437" cy="15128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894F5C2-3687-6AD3-DF0A-5199CBFBFAD1}"/>
              </a:ext>
            </a:extLst>
          </p:cNvPr>
          <p:cNvGraphicFramePr>
            <a:graphicFrameLocks noGrp="1"/>
          </p:cNvGraphicFramePr>
          <p:nvPr>
            <p:extLst>
              <p:ext uri="{D42A27DB-BD31-4B8C-83A1-F6EECF244321}">
                <p14:modId xmlns:p14="http://schemas.microsoft.com/office/powerpoint/2010/main" val="971809124"/>
              </p:ext>
            </p:extLst>
          </p:nvPr>
        </p:nvGraphicFramePr>
        <p:xfrm>
          <a:off x="251520" y="191229"/>
          <a:ext cx="7992888" cy="6406123"/>
        </p:xfrm>
        <a:graphic>
          <a:graphicData uri="http://schemas.openxmlformats.org/drawingml/2006/table">
            <a:tbl>
              <a:tblPr/>
              <a:tblGrid>
                <a:gridCol w="1017276">
                  <a:extLst>
                    <a:ext uri="{9D8B030D-6E8A-4147-A177-3AD203B41FA5}">
                      <a16:colId xmlns:a16="http://schemas.microsoft.com/office/drawing/2014/main" val="4071181640"/>
                    </a:ext>
                  </a:extLst>
                </a:gridCol>
                <a:gridCol w="1089940">
                  <a:extLst>
                    <a:ext uri="{9D8B030D-6E8A-4147-A177-3AD203B41FA5}">
                      <a16:colId xmlns:a16="http://schemas.microsoft.com/office/drawing/2014/main" val="593058085"/>
                    </a:ext>
                  </a:extLst>
                </a:gridCol>
                <a:gridCol w="1380589">
                  <a:extLst>
                    <a:ext uri="{9D8B030D-6E8A-4147-A177-3AD203B41FA5}">
                      <a16:colId xmlns:a16="http://schemas.microsoft.com/office/drawing/2014/main" val="3803455692"/>
                    </a:ext>
                  </a:extLst>
                </a:gridCol>
                <a:gridCol w="4505083">
                  <a:extLst>
                    <a:ext uri="{9D8B030D-6E8A-4147-A177-3AD203B41FA5}">
                      <a16:colId xmlns:a16="http://schemas.microsoft.com/office/drawing/2014/main" val="219897406"/>
                    </a:ext>
                  </a:extLst>
                </a:gridCol>
              </a:tblGrid>
              <a:tr h="159818">
                <a:tc>
                  <a:txBody>
                    <a:bodyPr/>
                    <a:lstStyle/>
                    <a:p>
                      <a:r>
                        <a:rPr lang="en-US" sz="1000"/>
                        <a:t>Uppercase</a:t>
                      </a:r>
                    </a:p>
                  </a:txBody>
                  <a:tcPr marL="17233" marR="17233" marT="8617" marB="8617" anchor="ctr">
                    <a:lnL>
                      <a:noFill/>
                    </a:lnL>
                    <a:lnR>
                      <a:noFill/>
                    </a:lnR>
                    <a:lnT>
                      <a:noFill/>
                    </a:lnT>
                    <a:lnB>
                      <a:noFill/>
                    </a:lnB>
                  </a:tcPr>
                </a:tc>
                <a:tc>
                  <a:txBody>
                    <a:bodyPr/>
                    <a:lstStyle/>
                    <a:p>
                      <a:r>
                        <a:rPr lang="en-US" sz="1000"/>
                        <a:t>Lowercase</a:t>
                      </a:r>
                    </a:p>
                  </a:txBody>
                  <a:tcPr marL="17233" marR="17233" marT="8617" marB="8617" anchor="ctr">
                    <a:lnL>
                      <a:noFill/>
                    </a:lnL>
                    <a:lnR>
                      <a:noFill/>
                    </a:lnR>
                    <a:lnT>
                      <a:noFill/>
                    </a:lnT>
                    <a:lnB>
                      <a:noFill/>
                    </a:lnB>
                  </a:tcPr>
                </a:tc>
                <a:tc>
                  <a:txBody>
                    <a:bodyPr/>
                    <a:lstStyle/>
                    <a:p>
                      <a:r>
                        <a:rPr lang="en-US" sz="1000"/>
                        <a:t>Pronunciation</a:t>
                      </a:r>
                    </a:p>
                  </a:txBody>
                  <a:tcPr marL="17233" marR="17233" marT="8617" marB="8617" anchor="ctr">
                    <a:lnL>
                      <a:noFill/>
                    </a:lnL>
                    <a:lnR>
                      <a:noFill/>
                    </a:lnR>
                    <a:lnT>
                      <a:noFill/>
                    </a:lnT>
                    <a:lnB>
                      <a:noFill/>
                    </a:lnB>
                  </a:tcPr>
                </a:tc>
                <a:tc>
                  <a:txBody>
                    <a:bodyPr/>
                    <a:lstStyle/>
                    <a:p>
                      <a:r>
                        <a:rPr lang="en-US" sz="1000"/>
                        <a:t>Common Uses in Science/Math</a:t>
                      </a:r>
                    </a:p>
                  </a:txBody>
                  <a:tcPr marL="17233" marR="17233" marT="8617" marB="8617" anchor="ctr">
                    <a:lnL>
                      <a:noFill/>
                    </a:lnL>
                    <a:lnR>
                      <a:noFill/>
                    </a:lnR>
                    <a:lnT>
                      <a:noFill/>
                    </a:lnT>
                    <a:lnB>
                      <a:noFill/>
                    </a:lnB>
                  </a:tcPr>
                </a:tc>
                <a:extLst>
                  <a:ext uri="{0D108BD9-81ED-4DB2-BD59-A6C34878D82A}">
                    <a16:rowId xmlns:a16="http://schemas.microsoft.com/office/drawing/2014/main" val="3635633566"/>
                  </a:ext>
                </a:extLst>
              </a:tr>
              <a:tr h="297003">
                <a:tc>
                  <a:txBody>
                    <a:bodyPr/>
                    <a:lstStyle/>
                    <a:p>
                      <a:r>
                        <a:rPr lang="el-GR" sz="1000"/>
                        <a:t>Α</a:t>
                      </a:r>
                    </a:p>
                  </a:txBody>
                  <a:tcPr marL="17233" marR="17233" marT="8617" marB="8617" anchor="ctr">
                    <a:lnL>
                      <a:noFill/>
                    </a:lnL>
                    <a:lnR>
                      <a:noFill/>
                    </a:lnR>
                    <a:lnT>
                      <a:noFill/>
                    </a:lnT>
                    <a:lnB>
                      <a:noFill/>
                    </a:lnB>
                  </a:tcPr>
                </a:tc>
                <a:tc>
                  <a:txBody>
                    <a:bodyPr/>
                    <a:lstStyle/>
                    <a:p>
                      <a:r>
                        <a:rPr lang="el-GR" sz="1000"/>
                        <a:t>α</a:t>
                      </a:r>
                    </a:p>
                  </a:txBody>
                  <a:tcPr marL="17233" marR="17233" marT="8617" marB="8617" anchor="ctr">
                    <a:lnL>
                      <a:noFill/>
                    </a:lnL>
                    <a:lnR>
                      <a:noFill/>
                    </a:lnR>
                    <a:lnT>
                      <a:noFill/>
                    </a:lnT>
                    <a:lnB>
                      <a:noFill/>
                    </a:lnB>
                  </a:tcPr>
                </a:tc>
                <a:tc>
                  <a:txBody>
                    <a:bodyPr/>
                    <a:lstStyle/>
                    <a:p>
                      <a:r>
                        <a:rPr lang="en-US" sz="1000"/>
                        <a:t>Alpha</a:t>
                      </a:r>
                    </a:p>
                  </a:txBody>
                  <a:tcPr marL="17233" marR="17233" marT="8617" marB="8617" anchor="ctr">
                    <a:lnL>
                      <a:noFill/>
                    </a:lnL>
                    <a:lnR>
                      <a:noFill/>
                    </a:lnR>
                    <a:lnT>
                      <a:noFill/>
                    </a:lnT>
                    <a:lnB>
                      <a:noFill/>
                    </a:lnB>
                  </a:tcPr>
                </a:tc>
                <a:tc>
                  <a:txBody>
                    <a:bodyPr/>
                    <a:lstStyle/>
                    <a:p>
                      <a:r>
                        <a:rPr lang="en-US" sz="1000"/>
                        <a:t>Angular acceleration, alpha particles</a:t>
                      </a:r>
                    </a:p>
                  </a:txBody>
                  <a:tcPr marL="17233" marR="17233" marT="8617" marB="8617" anchor="ctr">
                    <a:lnL>
                      <a:noFill/>
                    </a:lnL>
                    <a:lnR>
                      <a:noFill/>
                    </a:lnR>
                    <a:lnT>
                      <a:noFill/>
                    </a:lnT>
                    <a:lnB>
                      <a:noFill/>
                    </a:lnB>
                  </a:tcPr>
                </a:tc>
                <a:extLst>
                  <a:ext uri="{0D108BD9-81ED-4DB2-BD59-A6C34878D82A}">
                    <a16:rowId xmlns:a16="http://schemas.microsoft.com/office/drawing/2014/main" val="3000255481"/>
                  </a:ext>
                </a:extLst>
              </a:tr>
              <a:tr h="297003">
                <a:tc>
                  <a:txBody>
                    <a:bodyPr/>
                    <a:lstStyle/>
                    <a:p>
                      <a:r>
                        <a:rPr lang="el-GR" sz="1000"/>
                        <a:t>Β</a:t>
                      </a:r>
                    </a:p>
                  </a:txBody>
                  <a:tcPr marL="17233" marR="17233" marT="8617" marB="8617" anchor="ctr">
                    <a:lnL>
                      <a:noFill/>
                    </a:lnL>
                    <a:lnR>
                      <a:noFill/>
                    </a:lnR>
                    <a:lnT>
                      <a:noFill/>
                    </a:lnT>
                    <a:lnB>
                      <a:noFill/>
                    </a:lnB>
                  </a:tcPr>
                </a:tc>
                <a:tc>
                  <a:txBody>
                    <a:bodyPr/>
                    <a:lstStyle/>
                    <a:p>
                      <a:r>
                        <a:rPr lang="el-GR" sz="1000"/>
                        <a:t>β</a:t>
                      </a:r>
                    </a:p>
                  </a:txBody>
                  <a:tcPr marL="17233" marR="17233" marT="8617" marB="8617" anchor="ctr">
                    <a:lnL>
                      <a:noFill/>
                    </a:lnL>
                    <a:lnR>
                      <a:noFill/>
                    </a:lnR>
                    <a:lnT>
                      <a:noFill/>
                    </a:lnT>
                    <a:lnB>
                      <a:noFill/>
                    </a:lnB>
                  </a:tcPr>
                </a:tc>
                <a:tc>
                  <a:txBody>
                    <a:bodyPr/>
                    <a:lstStyle/>
                    <a:p>
                      <a:r>
                        <a:rPr lang="en-US" sz="1000"/>
                        <a:t>Beta</a:t>
                      </a:r>
                    </a:p>
                  </a:txBody>
                  <a:tcPr marL="17233" marR="17233" marT="8617" marB="8617" anchor="ctr">
                    <a:lnL>
                      <a:noFill/>
                    </a:lnL>
                    <a:lnR>
                      <a:noFill/>
                    </a:lnR>
                    <a:lnT>
                      <a:noFill/>
                    </a:lnT>
                    <a:lnB>
                      <a:noFill/>
                    </a:lnB>
                  </a:tcPr>
                </a:tc>
                <a:tc>
                  <a:txBody>
                    <a:bodyPr/>
                    <a:lstStyle/>
                    <a:p>
                      <a:r>
                        <a:rPr lang="en-US" sz="1000"/>
                        <a:t>Beta particles, coefficients, angles</a:t>
                      </a:r>
                    </a:p>
                  </a:txBody>
                  <a:tcPr marL="17233" marR="17233" marT="8617" marB="8617" anchor="ctr">
                    <a:lnL>
                      <a:noFill/>
                    </a:lnL>
                    <a:lnR>
                      <a:noFill/>
                    </a:lnR>
                    <a:lnT>
                      <a:noFill/>
                    </a:lnT>
                    <a:lnB>
                      <a:noFill/>
                    </a:lnB>
                  </a:tcPr>
                </a:tc>
                <a:extLst>
                  <a:ext uri="{0D108BD9-81ED-4DB2-BD59-A6C34878D82A}">
                    <a16:rowId xmlns:a16="http://schemas.microsoft.com/office/drawing/2014/main" val="442874461"/>
                  </a:ext>
                </a:extLst>
              </a:tr>
              <a:tr h="159818">
                <a:tc>
                  <a:txBody>
                    <a:bodyPr/>
                    <a:lstStyle/>
                    <a:p>
                      <a:r>
                        <a:rPr lang="el-GR" sz="1000"/>
                        <a:t>Γ</a:t>
                      </a:r>
                    </a:p>
                  </a:txBody>
                  <a:tcPr marL="17233" marR="17233" marT="8617" marB="8617" anchor="ctr">
                    <a:lnL>
                      <a:noFill/>
                    </a:lnL>
                    <a:lnR>
                      <a:noFill/>
                    </a:lnR>
                    <a:lnT>
                      <a:noFill/>
                    </a:lnT>
                    <a:lnB>
                      <a:noFill/>
                    </a:lnB>
                  </a:tcPr>
                </a:tc>
                <a:tc>
                  <a:txBody>
                    <a:bodyPr/>
                    <a:lstStyle/>
                    <a:p>
                      <a:r>
                        <a:rPr lang="el-GR" sz="1000" dirty="0"/>
                        <a:t>γ</a:t>
                      </a:r>
                    </a:p>
                  </a:txBody>
                  <a:tcPr marL="17233" marR="17233" marT="8617" marB="8617" anchor="ctr">
                    <a:lnL>
                      <a:noFill/>
                    </a:lnL>
                    <a:lnR>
                      <a:noFill/>
                    </a:lnR>
                    <a:lnT>
                      <a:noFill/>
                    </a:lnT>
                    <a:lnB>
                      <a:noFill/>
                    </a:lnB>
                  </a:tcPr>
                </a:tc>
                <a:tc>
                  <a:txBody>
                    <a:bodyPr/>
                    <a:lstStyle/>
                    <a:p>
                      <a:r>
                        <a:rPr lang="en-US" sz="1000"/>
                        <a:t>Gamma</a:t>
                      </a:r>
                    </a:p>
                  </a:txBody>
                  <a:tcPr marL="17233" marR="17233" marT="8617" marB="8617" anchor="ctr">
                    <a:lnL>
                      <a:noFill/>
                    </a:lnL>
                    <a:lnR>
                      <a:noFill/>
                    </a:lnR>
                    <a:lnT>
                      <a:noFill/>
                    </a:lnT>
                    <a:lnB>
                      <a:noFill/>
                    </a:lnB>
                  </a:tcPr>
                </a:tc>
                <a:tc>
                  <a:txBody>
                    <a:bodyPr/>
                    <a:lstStyle/>
                    <a:p>
                      <a:r>
                        <a:rPr lang="en-US" sz="1000"/>
                        <a:t>Gamma rays, gamma function</a:t>
                      </a:r>
                    </a:p>
                  </a:txBody>
                  <a:tcPr marL="17233" marR="17233" marT="8617" marB="8617" anchor="ctr">
                    <a:lnL>
                      <a:noFill/>
                    </a:lnL>
                    <a:lnR>
                      <a:noFill/>
                    </a:lnR>
                    <a:lnT>
                      <a:noFill/>
                    </a:lnT>
                    <a:lnB>
                      <a:noFill/>
                    </a:lnB>
                  </a:tcPr>
                </a:tc>
                <a:extLst>
                  <a:ext uri="{0D108BD9-81ED-4DB2-BD59-A6C34878D82A}">
                    <a16:rowId xmlns:a16="http://schemas.microsoft.com/office/drawing/2014/main" val="1231641152"/>
                  </a:ext>
                </a:extLst>
              </a:tr>
              <a:tr h="297003">
                <a:tc>
                  <a:txBody>
                    <a:bodyPr/>
                    <a:lstStyle/>
                    <a:p>
                      <a:r>
                        <a:rPr lang="el-GR" sz="1000" dirty="0"/>
                        <a:t>Δ</a:t>
                      </a:r>
                    </a:p>
                  </a:txBody>
                  <a:tcPr marL="17233" marR="17233" marT="8617" marB="8617" anchor="ctr">
                    <a:lnL>
                      <a:noFill/>
                    </a:lnL>
                    <a:lnR>
                      <a:noFill/>
                    </a:lnR>
                    <a:lnT>
                      <a:noFill/>
                    </a:lnT>
                    <a:lnB>
                      <a:noFill/>
                    </a:lnB>
                  </a:tcPr>
                </a:tc>
                <a:tc>
                  <a:txBody>
                    <a:bodyPr/>
                    <a:lstStyle/>
                    <a:p>
                      <a:r>
                        <a:rPr lang="el-GR" sz="1000"/>
                        <a:t>δ</a:t>
                      </a:r>
                    </a:p>
                  </a:txBody>
                  <a:tcPr marL="17233" marR="17233" marT="8617" marB="8617" anchor="ctr">
                    <a:lnL>
                      <a:noFill/>
                    </a:lnL>
                    <a:lnR>
                      <a:noFill/>
                    </a:lnR>
                    <a:lnT>
                      <a:noFill/>
                    </a:lnT>
                    <a:lnB>
                      <a:noFill/>
                    </a:lnB>
                  </a:tcPr>
                </a:tc>
                <a:tc>
                  <a:txBody>
                    <a:bodyPr/>
                    <a:lstStyle/>
                    <a:p>
                      <a:r>
                        <a:rPr lang="en-US" sz="1000"/>
                        <a:t>Delta</a:t>
                      </a:r>
                    </a:p>
                  </a:txBody>
                  <a:tcPr marL="17233" marR="17233" marT="8617" marB="8617" anchor="ctr">
                    <a:lnL>
                      <a:noFill/>
                    </a:lnL>
                    <a:lnR>
                      <a:noFill/>
                    </a:lnR>
                    <a:lnT>
                      <a:noFill/>
                    </a:lnT>
                    <a:lnB>
                      <a:noFill/>
                    </a:lnB>
                  </a:tcPr>
                </a:tc>
                <a:tc>
                  <a:txBody>
                    <a:bodyPr/>
                    <a:lstStyle/>
                    <a:p>
                      <a:r>
                        <a:rPr lang="en-US" sz="1000"/>
                        <a:t>Change in quantity (</a:t>
                      </a:r>
                      <a:r>
                        <a:rPr lang="el-GR" sz="1000"/>
                        <a:t>Δ), </a:t>
                      </a:r>
                      <a:r>
                        <a:rPr lang="en-US" sz="1000"/>
                        <a:t>small delta (</a:t>
                      </a:r>
                      <a:r>
                        <a:rPr lang="el-GR" sz="1000"/>
                        <a:t>δ) </a:t>
                      </a:r>
                      <a:r>
                        <a:rPr lang="en-US" sz="1000"/>
                        <a:t>for partial derivatives</a:t>
                      </a:r>
                    </a:p>
                  </a:txBody>
                  <a:tcPr marL="17233" marR="17233" marT="8617" marB="8617" anchor="ctr">
                    <a:lnL>
                      <a:noFill/>
                    </a:lnL>
                    <a:lnR>
                      <a:noFill/>
                    </a:lnR>
                    <a:lnT>
                      <a:noFill/>
                    </a:lnT>
                    <a:lnB>
                      <a:noFill/>
                    </a:lnB>
                  </a:tcPr>
                </a:tc>
                <a:extLst>
                  <a:ext uri="{0D108BD9-81ED-4DB2-BD59-A6C34878D82A}">
                    <a16:rowId xmlns:a16="http://schemas.microsoft.com/office/drawing/2014/main" val="1450154189"/>
                  </a:ext>
                </a:extLst>
              </a:tr>
              <a:tr h="297003">
                <a:tc>
                  <a:txBody>
                    <a:bodyPr/>
                    <a:lstStyle/>
                    <a:p>
                      <a:r>
                        <a:rPr lang="el-GR" sz="1000"/>
                        <a:t>Ε</a:t>
                      </a:r>
                    </a:p>
                  </a:txBody>
                  <a:tcPr marL="17233" marR="17233" marT="8617" marB="8617" anchor="ctr">
                    <a:lnL>
                      <a:noFill/>
                    </a:lnL>
                    <a:lnR>
                      <a:noFill/>
                    </a:lnR>
                    <a:lnT>
                      <a:noFill/>
                    </a:lnT>
                    <a:lnB>
                      <a:noFill/>
                    </a:lnB>
                  </a:tcPr>
                </a:tc>
                <a:tc>
                  <a:txBody>
                    <a:bodyPr/>
                    <a:lstStyle/>
                    <a:p>
                      <a:r>
                        <a:rPr lang="el-GR" sz="1000" dirty="0"/>
                        <a:t>ε</a:t>
                      </a:r>
                    </a:p>
                  </a:txBody>
                  <a:tcPr marL="17233" marR="17233" marT="8617" marB="8617" anchor="ctr">
                    <a:lnL>
                      <a:noFill/>
                    </a:lnL>
                    <a:lnR>
                      <a:noFill/>
                    </a:lnR>
                    <a:lnT>
                      <a:noFill/>
                    </a:lnT>
                    <a:lnB>
                      <a:noFill/>
                    </a:lnB>
                  </a:tcPr>
                </a:tc>
                <a:tc>
                  <a:txBody>
                    <a:bodyPr/>
                    <a:lstStyle/>
                    <a:p>
                      <a:r>
                        <a:rPr lang="en-US" sz="1000"/>
                        <a:t>Epsilon</a:t>
                      </a:r>
                    </a:p>
                  </a:txBody>
                  <a:tcPr marL="17233" marR="17233" marT="8617" marB="8617" anchor="ctr">
                    <a:lnL>
                      <a:noFill/>
                    </a:lnL>
                    <a:lnR>
                      <a:noFill/>
                    </a:lnR>
                    <a:lnT>
                      <a:noFill/>
                    </a:lnT>
                    <a:lnB>
                      <a:noFill/>
                    </a:lnB>
                  </a:tcPr>
                </a:tc>
                <a:tc>
                  <a:txBody>
                    <a:bodyPr/>
                    <a:lstStyle/>
                    <a:p>
                      <a:r>
                        <a:rPr lang="en-US" sz="1000"/>
                        <a:t>Strain in materials, permittivity (</a:t>
                      </a:r>
                      <a:r>
                        <a:rPr lang="el-GR" sz="1000"/>
                        <a:t>ε)</a:t>
                      </a:r>
                    </a:p>
                  </a:txBody>
                  <a:tcPr marL="17233" marR="17233" marT="8617" marB="8617" anchor="ctr">
                    <a:lnL>
                      <a:noFill/>
                    </a:lnL>
                    <a:lnR>
                      <a:noFill/>
                    </a:lnR>
                    <a:lnT>
                      <a:noFill/>
                    </a:lnT>
                    <a:lnB>
                      <a:noFill/>
                    </a:lnB>
                  </a:tcPr>
                </a:tc>
                <a:extLst>
                  <a:ext uri="{0D108BD9-81ED-4DB2-BD59-A6C34878D82A}">
                    <a16:rowId xmlns:a16="http://schemas.microsoft.com/office/drawing/2014/main" val="3057630239"/>
                  </a:ext>
                </a:extLst>
              </a:tr>
              <a:tr h="159818">
                <a:tc>
                  <a:txBody>
                    <a:bodyPr/>
                    <a:lstStyle/>
                    <a:p>
                      <a:r>
                        <a:rPr lang="el-GR" sz="1000"/>
                        <a:t>Ζ</a:t>
                      </a:r>
                    </a:p>
                  </a:txBody>
                  <a:tcPr marL="17233" marR="17233" marT="8617" marB="8617" anchor="ctr">
                    <a:lnL>
                      <a:noFill/>
                    </a:lnL>
                    <a:lnR>
                      <a:noFill/>
                    </a:lnR>
                    <a:lnT>
                      <a:noFill/>
                    </a:lnT>
                    <a:lnB>
                      <a:noFill/>
                    </a:lnB>
                  </a:tcPr>
                </a:tc>
                <a:tc>
                  <a:txBody>
                    <a:bodyPr/>
                    <a:lstStyle/>
                    <a:p>
                      <a:r>
                        <a:rPr lang="el-GR" sz="1000"/>
                        <a:t>ζ</a:t>
                      </a:r>
                    </a:p>
                  </a:txBody>
                  <a:tcPr marL="17233" marR="17233" marT="8617" marB="8617" anchor="ctr">
                    <a:lnL>
                      <a:noFill/>
                    </a:lnL>
                    <a:lnR>
                      <a:noFill/>
                    </a:lnR>
                    <a:lnT>
                      <a:noFill/>
                    </a:lnT>
                    <a:lnB>
                      <a:noFill/>
                    </a:lnB>
                  </a:tcPr>
                </a:tc>
                <a:tc>
                  <a:txBody>
                    <a:bodyPr/>
                    <a:lstStyle/>
                    <a:p>
                      <a:r>
                        <a:rPr lang="en-US" sz="1000"/>
                        <a:t>Zeta</a:t>
                      </a:r>
                    </a:p>
                  </a:txBody>
                  <a:tcPr marL="17233" marR="17233" marT="8617" marB="8617" anchor="ctr">
                    <a:lnL>
                      <a:noFill/>
                    </a:lnL>
                    <a:lnR>
                      <a:noFill/>
                    </a:lnR>
                    <a:lnT>
                      <a:noFill/>
                    </a:lnT>
                    <a:lnB>
                      <a:noFill/>
                    </a:lnB>
                  </a:tcPr>
                </a:tc>
                <a:tc>
                  <a:txBody>
                    <a:bodyPr/>
                    <a:lstStyle/>
                    <a:p>
                      <a:r>
                        <a:rPr lang="en-US" sz="1000"/>
                        <a:t>Damping ratio, zeta function</a:t>
                      </a:r>
                    </a:p>
                  </a:txBody>
                  <a:tcPr marL="17233" marR="17233" marT="8617" marB="8617" anchor="ctr">
                    <a:lnL>
                      <a:noFill/>
                    </a:lnL>
                    <a:lnR>
                      <a:noFill/>
                    </a:lnR>
                    <a:lnT>
                      <a:noFill/>
                    </a:lnT>
                    <a:lnB>
                      <a:noFill/>
                    </a:lnB>
                  </a:tcPr>
                </a:tc>
                <a:extLst>
                  <a:ext uri="{0D108BD9-81ED-4DB2-BD59-A6C34878D82A}">
                    <a16:rowId xmlns:a16="http://schemas.microsoft.com/office/drawing/2014/main" val="2952899455"/>
                  </a:ext>
                </a:extLst>
              </a:tr>
              <a:tr h="297003">
                <a:tc>
                  <a:txBody>
                    <a:bodyPr/>
                    <a:lstStyle/>
                    <a:p>
                      <a:r>
                        <a:rPr lang="el-GR" sz="1000"/>
                        <a:t>Η</a:t>
                      </a:r>
                    </a:p>
                  </a:txBody>
                  <a:tcPr marL="17233" marR="17233" marT="8617" marB="8617" anchor="ctr">
                    <a:lnL>
                      <a:noFill/>
                    </a:lnL>
                    <a:lnR>
                      <a:noFill/>
                    </a:lnR>
                    <a:lnT>
                      <a:noFill/>
                    </a:lnT>
                    <a:lnB>
                      <a:noFill/>
                    </a:lnB>
                  </a:tcPr>
                </a:tc>
                <a:tc>
                  <a:txBody>
                    <a:bodyPr/>
                    <a:lstStyle/>
                    <a:p>
                      <a:r>
                        <a:rPr lang="el-GR" sz="1000"/>
                        <a:t>η</a:t>
                      </a:r>
                    </a:p>
                  </a:txBody>
                  <a:tcPr marL="17233" marR="17233" marT="8617" marB="8617" anchor="ctr">
                    <a:lnL>
                      <a:noFill/>
                    </a:lnL>
                    <a:lnR>
                      <a:noFill/>
                    </a:lnR>
                    <a:lnT>
                      <a:noFill/>
                    </a:lnT>
                    <a:lnB>
                      <a:noFill/>
                    </a:lnB>
                  </a:tcPr>
                </a:tc>
                <a:tc>
                  <a:txBody>
                    <a:bodyPr/>
                    <a:lstStyle/>
                    <a:p>
                      <a:r>
                        <a:rPr lang="en-US" sz="1000"/>
                        <a:t>Eta</a:t>
                      </a:r>
                    </a:p>
                  </a:txBody>
                  <a:tcPr marL="17233" marR="17233" marT="8617" marB="8617" anchor="ctr">
                    <a:lnL>
                      <a:noFill/>
                    </a:lnL>
                    <a:lnR>
                      <a:noFill/>
                    </a:lnR>
                    <a:lnT>
                      <a:noFill/>
                    </a:lnT>
                    <a:lnB>
                      <a:noFill/>
                    </a:lnB>
                  </a:tcPr>
                </a:tc>
                <a:tc>
                  <a:txBody>
                    <a:bodyPr/>
                    <a:lstStyle/>
                    <a:p>
                      <a:r>
                        <a:rPr lang="en-US" sz="1000"/>
                        <a:t>Efficiency in physics and engineering</a:t>
                      </a:r>
                    </a:p>
                  </a:txBody>
                  <a:tcPr marL="17233" marR="17233" marT="8617" marB="8617" anchor="ctr">
                    <a:lnL>
                      <a:noFill/>
                    </a:lnL>
                    <a:lnR>
                      <a:noFill/>
                    </a:lnR>
                    <a:lnT>
                      <a:noFill/>
                    </a:lnT>
                    <a:lnB>
                      <a:noFill/>
                    </a:lnB>
                  </a:tcPr>
                </a:tc>
                <a:extLst>
                  <a:ext uri="{0D108BD9-81ED-4DB2-BD59-A6C34878D82A}">
                    <a16:rowId xmlns:a16="http://schemas.microsoft.com/office/drawing/2014/main" val="3929399148"/>
                  </a:ext>
                </a:extLst>
              </a:tr>
              <a:tr h="297003">
                <a:tc>
                  <a:txBody>
                    <a:bodyPr/>
                    <a:lstStyle/>
                    <a:p>
                      <a:r>
                        <a:rPr lang="el-GR" sz="1000" dirty="0"/>
                        <a:t>Θ</a:t>
                      </a:r>
                    </a:p>
                  </a:txBody>
                  <a:tcPr marL="17233" marR="17233" marT="8617" marB="8617" anchor="ctr">
                    <a:lnL>
                      <a:noFill/>
                    </a:lnL>
                    <a:lnR>
                      <a:noFill/>
                    </a:lnR>
                    <a:lnT>
                      <a:noFill/>
                    </a:lnT>
                    <a:lnB>
                      <a:noFill/>
                    </a:lnB>
                  </a:tcPr>
                </a:tc>
                <a:tc>
                  <a:txBody>
                    <a:bodyPr/>
                    <a:lstStyle/>
                    <a:p>
                      <a:r>
                        <a:rPr lang="el-GR" sz="1000" dirty="0"/>
                        <a:t>θ</a:t>
                      </a:r>
                    </a:p>
                  </a:txBody>
                  <a:tcPr marL="17233" marR="17233" marT="8617" marB="8617" anchor="ctr">
                    <a:lnL>
                      <a:noFill/>
                    </a:lnL>
                    <a:lnR>
                      <a:noFill/>
                    </a:lnR>
                    <a:lnT>
                      <a:noFill/>
                    </a:lnT>
                    <a:lnB>
                      <a:noFill/>
                    </a:lnB>
                  </a:tcPr>
                </a:tc>
                <a:tc>
                  <a:txBody>
                    <a:bodyPr/>
                    <a:lstStyle/>
                    <a:p>
                      <a:r>
                        <a:rPr lang="en-US" sz="1000" dirty="0"/>
                        <a:t>Theta</a:t>
                      </a:r>
                    </a:p>
                  </a:txBody>
                  <a:tcPr marL="17233" marR="17233" marT="8617" marB="8617" anchor="ctr">
                    <a:lnL>
                      <a:noFill/>
                    </a:lnL>
                    <a:lnR>
                      <a:noFill/>
                    </a:lnR>
                    <a:lnT>
                      <a:noFill/>
                    </a:lnT>
                    <a:lnB>
                      <a:noFill/>
                    </a:lnB>
                  </a:tcPr>
                </a:tc>
                <a:tc>
                  <a:txBody>
                    <a:bodyPr/>
                    <a:lstStyle/>
                    <a:p>
                      <a:r>
                        <a:rPr lang="en-US" sz="1000"/>
                        <a:t>Angle in trigonometry, potential temperature</a:t>
                      </a:r>
                    </a:p>
                  </a:txBody>
                  <a:tcPr marL="17233" marR="17233" marT="8617" marB="8617" anchor="ctr">
                    <a:lnL>
                      <a:noFill/>
                    </a:lnL>
                    <a:lnR>
                      <a:noFill/>
                    </a:lnR>
                    <a:lnT>
                      <a:noFill/>
                    </a:lnT>
                    <a:lnB>
                      <a:noFill/>
                    </a:lnB>
                  </a:tcPr>
                </a:tc>
                <a:extLst>
                  <a:ext uri="{0D108BD9-81ED-4DB2-BD59-A6C34878D82A}">
                    <a16:rowId xmlns:a16="http://schemas.microsoft.com/office/drawing/2014/main" val="1526873275"/>
                  </a:ext>
                </a:extLst>
              </a:tr>
              <a:tr h="297003">
                <a:tc>
                  <a:txBody>
                    <a:bodyPr/>
                    <a:lstStyle/>
                    <a:p>
                      <a:r>
                        <a:rPr lang="el-GR" sz="1000"/>
                        <a:t>Ι</a:t>
                      </a:r>
                    </a:p>
                  </a:txBody>
                  <a:tcPr marL="17233" marR="17233" marT="8617" marB="8617" anchor="ctr">
                    <a:lnL>
                      <a:noFill/>
                    </a:lnL>
                    <a:lnR>
                      <a:noFill/>
                    </a:lnR>
                    <a:lnT>
                      <a:noFill/>
                    </a:lnT>
                    <a:lnB>
                      <a:noFill/>
                    </a:lnB>
                  </a:tcPr>
                </a:tc>
                <a:tc>
                  <a:txBody>
                    <a:bodyPr/>
                    <a:lstStyle/>
                    <a:p>
                      <a:r>
                        <a:rPr lang="el-GR" sz="1000"/>
                        <a:t>ι</a:t>
                      </a:r>
                    </a:p>
                  </a:txBody>
                  <a:tcPr marL="17233" marR="17233" marT="8617" marB="8617" anchor="ctr">
                    <a:lnL>
                      <a:noFill/>
                    </a:lnL>
                    <a:lnR>
                      <a:noFill/>
                    </a:lnR>
                    <a:lnT>
                      <a:noFill/>
                    </a:lnT>
                    <a:lnB>
                      <a:noFill/>
                    </a:lnB>
                  </a:tcPr>
                </a:tc>
                <a:tc>
                  <a:txBody>
                    <a:bodyPr/>
                    <a:lstStyle/>
                    <a:p>
                      <a:r>
                        <a:rPr lang="en-US" sz="1000"/>
                        <a:t>Iota</a:t>
                      </a:r>
                    </a:p>
                  </a:txBody>
                  <a:tcPr marL="17233" marR="17233" marT="8617" marB="8617" anchor="ctr">
                    <a:lnL>
                      <a:noFill/>
                    </a:lnL>
                    <a:lnR>
                      <a:noFill/>
                    </a:lnR>
                    <a:lnT>
                      <a:noFill/>
                    </a:lnT>
                    <a:lnB>
                      <a:noFill/>
                    </a:lnB>
                  </a:tcPr>
                </a:tc>
                <a:tc>
                  <a:txBody>
                    <a:bodyPr/>
                    <a:lstStyle/>
                    <a:p>
                      <a:r>
                        <a:rPr lang="en-US" sz="1000"/>
                        <a:t>Minor use; often just refers to a very small quantity</a:t>
                      </a:r>
                    </a:p>
                  </a:txBody>
                  <a:tcPr marL="17233" marR="17233" marT="8617" marB="8617" anchor="ctr">
                    <a:lnL>
                      <a:noFill/>
                    </a:lnL>
                    <a:lnR>
                      <a:noFill/>
                    </a:lnR>
                    <a:lnT>
                      <a:noFill/>
                    </a:lnT>
                    <a:lnB>
                      <a:noFill/>
                    </a:lnB>
                  </a:tcPr>
                </a:tc>
                <a:extLst>
                  <a:ext uri="{0D108BD9-81ED-4DB2-BD59-A6C34878D82A}">
                    <a16:rowId xmlns:a16="http://schemas.microsoft.com/office/drawing/2014/main" val="3107941748"/>
                  </a:ext>
                </a:extLst>
              </a:tr>
              <a:tr h="159818">
                <a:tc>
                  <a:txBody>
                    <a:bodyPr/>
                    <a:lstStyle/>
                    <a:p>
                      <a:r>
                        <a:rPr lang="el-GR" sz="1000"/>
                        <a:t>Κ</a:t>
                      </a:r>
                    </a:p>
                  </a:txBody>
                  <a:tcPr marL="17233" marR="17233" marT="8617" marB="8617" anchor="ctr">
                    <a:lnL>
                      <a:noFill/>
                    </a:lnL>
                    <a:lnR>
                      <a:noFill/>
                    </a:lnR>
                    <a:lnT>
                      <a:noFill/>
                    </a:lnT>
                    <a:lnB>
                      <a:noFill/>
                    </a:lnB>
                  </a:tcPr>
                </a:tc>
                <a:tc>
                  <a:txBody>
                    <a:bodyPr/>
                    <a:lstStyle/>
                    <a:p>
                      <a:r>
                        <a:rPr lang="el-GR" sz="1000"/>
                        <a:t>κ</a:t>
                      </a:r>
                    </a:p>
                  </a:txBody>
                  <a:tcPr marL="17233" marR="17233" marT="8617" marB="8617" anchor="ctr">
                    <a:lnL>
                      <a:noFill/>
                    </a:lnL>
                    <a:lnR>
                      <a:noFill/>
                    </a:lnR>
                    <a:lnT>
                      <a:noFill/>
                    </a:lnT>
                    <a:lnB>
                      <a:noFill/>
                    </a:lnB>
                  </a:tcPr>
                </a:tc>
                <a:tc>
                  <a:txBody>
                    <a:bodyPr/>
                    <a:lstStyle/>
                    <a:p>
                      <a:r>
                        <a:rPr lang="en-US" sz="1000"/>
                        <a:t>Kappa</a:t>
                      </a:r>
                    </a:p>
                  </a:txBody>
                  <a:tcPr marL="17233" marR="17233" marT="8617" marB="8617" anchor="ctr">
                    <a:lnL>
                      <a:noFill/>
                    </a:lnL>
                    <a:lnR>
                      <a:noFill/>
                    </a:lnR>
                    <a:lnT>
                      <a:noFill/>
                    </a:lnT>
                    <a:lnB>
                      <a:noFill/>
                    </a:lnB>
                  </a:tcPr>
                </a:tc>
                <a:tc>
                  <a:txBody>
                    <a:bodyPr/>
                    <a:lstStyle/>
                    <a:p>
                      <a:r>
                        <a:rPr lang="en-US" sz="1000"/>
                        <a:t>Curvature, dielectric constant (</a:t>
                      </a:r>
                      <a:r>
                        <a:rPr lang="el-GR" sz="1000"/>
                        <a:t>κ)</a:t>
                      </a:r>
                    </a:p>
                  </a:txBody>
                  <a:tcPr marL="17233" marR="17233" marT="8617" marB="8617" anchor="ctr">
                    <a:lnL>
                      <a:noFill/>
                    </a:lnL>
                    <a:lnR>
                      <a:noFill/>
                    </a:lnR>
                    <a:lnT>
                      <a:noFill/>
                    </a:lnT>
                    <a:lnB>
                      <a:noFill/>
                    </a:lnB>
                  </a:tcPr>
                </a:tc>
                <a:extLst>
                  <a:ext uri="{0D108BD9-81ED-4DB2-BD59-A6C34878D82A}">
                    <a16:rowId xmlns:a16="http://schemas.microsoft.com/office/drawing/2014/main" val="324529463"/>
                  </a:ext>
                </a:extLst>
              </a:tr>
              <a:tr h="297003">
                <a:tc>
                  <a:txBody>
                    <a:bodyPr/>
                    <a:lstStyle/>
                    <a:p>
                      <a:r>
                        <a:rPr lang="el-GR" sz="1000" dirty="0"/>
                        <a:t>Λ</a:t>
                      </a:r>
                    </a:p>
                  </a:txBody>
                  <a:tcPr marL="17233" marR="17233" marT="8617" marB="8617" anchor="ctr">
                    <a:lnL>
                      <a:noFill/>
                    </a:lnL>
                    <a:lnR>
                      <a:noFill/>
                    </a:lnR>
                    <a:lnT>
                      <a:noFill/>
                    </a:lnT>
                    <a:lnB>
                      <a:noFill/>
                    </a:lnB>
                  </a:tcPr>
                </a:tc>
                <a:tc>
                  <a:txBody>
                    <a:bodyPr/>
                    <a:lstStyle/>
                    <a:p>
                      <a:r>
                        <a:rPr lang="el-GR" sz="1000"/>
                        <a:t>λ</a:t>
                      </a:r>
                    </a:p>
                  </a:txBody>
                  <a:tcPr marL="17233" marR="17233" marT="8617" marB="8617" anchor="ctr">
                    <a:lnL>
                      <a:noFill/>
                    </a:lnL>
                    <a:lnR>
                      <a:noFill/>
                    </a:lnR>
                    <a:lnT>
                      <a:noFill/>
                    </a:lnT>
                    <a:lnB>
                      <a:noFill/>
                    </a:lnB>
                  </a:tcPr>
                </a:tc>
                <a:tc>
                  <a:txBody>
                    <a:bodyPr/>
                    <a:lstStyle/>
                    <a:p>
                      <a:r>
                        <a:rPr lang="en-US" sz="1000"/>
                        <a:t>Lambda</a:t>
                      </a:r>
                    </a:p>
                  </a:txBody>
                  <a:tcPr marL="17233" marR="17233" marT="8617" marB="8617" anchor="ctr">
                    <a:lnL>
                      <a:noFill/>
                    </a:lnL>
                    <a:lnR>
                      <a:noFill/>
                    </a:lnR>
                    <a:lnT>
                      <a:noFill/>
                    </a:lnT>
                    <a:lnB>
                      <a:noFill/>
                    </a:lnB>
                  </a:tcPr>
                </a:tc>
                <a:tc>
                  <a:txBody>
                    <a:bodyPr/>
                    <a:lstStyle/>
                    <a:p>
                      <a:r>
                        <a:rPr lang="en-US" sz="1000"/>
                        <a:t>Wavelength, eigenvalues, decay constant</a:t>
                      </a:r>
                    </a:p>
                  </a:txBody>
                  <a:tcPr marL="17233" marR="17233" marT="8617" marB="8617" anchor="ctr">
                    <a:lnL>
                      <a:noFill/>
                    </a:lnL>
                    <a:lnR>
                      <a:noFill/>
                    </a:lnR>
                    <a:lnT>
                      <a:noFill/>
                    </a:lnT>
                    <a:lnB>
                      <a:noFill/>
                    </a:lnB>
                  </a:tcPr>
                </a:tc>
                <a:extLst>
                  <a:ext uri="{0D108BD9-81ED-4DB2-BD59-A6C34878D82A}">
                    <a16:rowId xmlns:a16="http://schemas.microsoft.com/office/drawing/2014/main" val="630796294"/>
                  </a:ext>
                </a:extLst>
              </a:tr>
              <a:tr h="297003">
                <a:tc>
                  <a:txBody>
                    <a:bodyPr/>
                    <a:lstStyle/>
                    <a:p>
                      <a:r>
                        <a:rPr lang="el-GR" sz="1000"/>
                        <a:t>Μ</a:t>
                      </a:r>
                    </a:p>
                  </a:txBody>
                  <a:tcPr marL="17233" marR="17233" marT="8617" marB="8617" anchor="ctr">
                    <a:lnL>
                      <a:noFill/>
                    </a:lnL>
                    <a:lnR>
                      <a:noFill/>
                    </a:lnR>
                    <a:lnT>
                      <a:noFill/>
                    </a:lnT>
                    <a:lnB>
                      <a:noFill/>
                    </a:lnB>
                  </a:tcPr>
                </a:tc>
                <a:tc>
                  <a:txBody>
                    <a:bodyPr/>
                    <a:lstStyle/>
                    <a:p>
                      <a:r>
                        <a:rPr lang="el-GR" sz="1000"/>
                        <a:t>μ</a:t>
                      </a:r>
                    </a:p>
                  </a:txBody>
                  <a:tcPr marL="17233" marR="17233" marT="8617" marB="8617" anchor="ctr">
                    <a:lnL>
                      <a:noFill/>
                    </a:lnL>
                    <a:lnR>
                      <a:noFill/>
                    </a:lnR>
                    <a:lnT>
                      <a:noFill/>
                    </a:lnT>
                    <a:lnB>
                      <a:noFill/>
                    </a:lnB>
                  </a:tcPr>
                </a:tc>
                <a:tc>
                  <a:txBody>
                    <a:bodyPr/>
                    <a:lstStyle/>
                    <a:p>
                      <a:r>
                        <a:rPr lang="en-US" sz="1000"/>
                        <a:t>Mu</a:t>
                      </a:r>
                    </a:p>
                  </a:txBody>
                  <a:tcPr marL="17233" marR="17233" marT="8617" marB="8617" anchor="ctr">
                    <a:lnL>
                      <a:noFill/>
                    </a:lnL>
                    <a:lnR>
                      <a:noFill/>
                    </a:lnR>
                    <a:lnT>
                      <a:noFill/>
                    </a:lnT>
                    <a:lnB>
                      <a:noFill/>
                    </a:lnB>
                  </a:tcPr>
                </a:tc>
                <a:tc>
                  <a:txBody>
                    <a:bodyPr/>
                    <a:lstStyle/>
                    <a:p>
                      <a:r>
                        <a:rPr lang="en-US" sz="1000"/>
                        <a:t>Micro- (prefix), coefficient of friction, magnetic permeability</a:t>
                      </a:r>
                    </a:p>
                  </a:txBody>
                  <a:tcPr marL="17233" marR="17233" marT="8617" marB="8617" anchor="ctr">
                    <a:lnL>
                      <a:noFill/>
                    </a:lnL>
                    <a:lnR>
                      <a:noFill/>
                    </a:lnR>
                    <a:lnT>
                      <a:noFill/>
                    </a:lnT>
                    <a:lnB>
                      <a:noFill/>
                    </a:lnB>
                  </a:tcPr>
                </a:tc>
                <a:extLst>
                  <a:ext uri="{0D108BD9-81ED-4DB2-BD59-A6C34878D82A}">
                    <a16:rowId xmlns:a16="http://schemas.microsoft.com/office/drawing/2014/main" val="2517232837"/>
                  </a:ext>
                </a:extLst>
              </a:tr>
              <a:tr h="159818">
                <a:tc>
                  <a:txBody>
                    <a:bodyPr/>
                    <a:lstStyle/>
                    <a:p>
                      <a:r>
                        <a:rPr lang="el-GR" sz="1000"/>
                        <a:t>Ν</a:t>
                      </a:r>
                    </a:p>
                  </a:txBody>
                  <a:tcPr marL="17233" marR="17233" marT="8617" marB="8617" anchor="ctr">
                    <a:lnL>
                      <a:noFill/>
                    </a:lnL>
                    <a:lnR>
                      <a:noFill/>
                    </a:lnR>
                    <a:lnT>
                      <a:noFill/>
                    </a:lnT>
                    <a:lnB>
                      <a:noFill/>
                    </a:lnB>
                  </a:tcPr>
                </a:tc>
                <a:tc>
                  <a:txBody>
                    <a:bodyPr/>
                    <a:lstStyle/>
                    <a:p>
                      <a:r>
                        <a:rPr lang="el-GR" sz="1000"/>
                        <a:t>ν</a:t>
                      </a:r>
                    </a:p>
                  </a:txBody>
                  <a:tcPr marL="17233" marR="17233" marT="8617" marB="8617" anchor="ctr">
                    <a:lnL>
                      <a:noFill/>
                    </a:lnL>
                    <a:lnR>
                      <a:noFill/>
                    </a:lnR>
                    <a:lnT>
                      <a:noFill/>
                    </a:lnT>
                    <a:lnB>
                      <a:noFill/>
                    </a:lnB>
                  </a:tcPr>
                </a:tc>
                <a:tc>
                  <a:txBody>
                    <a:bodyPr/>
                    <a:lstStyle/>
                    <a:p>
                      <a:r>
                        <a:rPr lang="en-US" sz="1000"/>
                        <a:t>Nu</a:t>
                      </a:r>
                    </a:p>
                  </a:txBody>
                  <a:tcPr marL="17233" marR="17233" marT="8617" marB="8617" anchor="ctr">
                    <a:lnL>
                      <a:noFill/>
                    </a:lnL>
                    <a:lnR>
                      <a:noFill/>
                    </a:lnR>
                    <a:lnT>
                      <a:noFill/>
                    </a:lnT>
                    <a:lnB>
                      <a:noFill/>
                    </a:lnB>
                  </a:tcPr>
                </a:tc>
                <a:tc>
                  <a:txBody>
                    <a:bodyPr/>
                    <a:lstStyle/>
                    <a:p>
                      <a:r>
                        <a:rPr lang="en-US" sz="1000"/>
                        <a:t>Frequency, kinematic viscosity</a:t>
                      </a:r>
                    </a:p>
                  </a:txBody>
                  <a:tcPr marL="17233" marR="17233" marT="8617" marB="8617" anchor="ctr">
                    <a:lnL>
                      <a:noFill/>
                    </a:lnL>
                    <a:lnR>
                      <a:noFill/>
                    </a:lnR>
                    <a:lnT>
                      <a:noFill/>
                    </a:lnT>
                    <a:lnB>
                      <a:noFill/>
                    </a:lnB>
                  </a:tcPr>
                </a:tc>
                <a:extLst>
                  <a:ext uri="{0D108BD9-81ED-4DB2-BD59-A6C34878D82A}">
                    <a16:rowId xmlns:a16="http://schemas.microsoft.com/office/drawing/2014/main" val="666784758"/>
                  </a:ext>
                </a:extLst>
              </a:tr>
              <a:tr h="159818">
                <a:tc>
                  <a:txBody>
                    <a:bodyPr/>
                    <a:lstStyle/>
                    <a:p>
                      <a:r>
                        <a:rPr lang="el-GR" sz="1000"/>
                        <a:t>Ξ</a:t>
                      </a:r>
                    </a:p>
                  </a:txBody>
                  <a:tcPr marL="17233" marR="17233" marT="8617" marB="8617" anchor="ctr">
                    <a:lnL>
                      <a:noFill/>
                    </a:lnL>
                    <a:lnR>
                      <a:noFill/>
                    </a:lnR>
                    <a:lnT>
                      <a:noFill/>
                    </a:lnT>
                    <a:lnB>
                      <a:noFill/>
                    </a:lnB>
                  </a:tcPr>
                </a:tc>
                <a:tc>
                  <a:txBody>
                    <a:bodyPr/>
                    <a:lstStyle/>
                    <a:p>
                      <a:r>
                        <a:rPr lang="el-GR" sz="1000"/>
                        <a:t>ξ</a:t>
                      </a:r>
                    </a:p>
                  </a:txBody>
                  <a:tcPr marL="17233" marR="17233" marT="8617" marB="8617" anchor="ctr">
                    <a:lnL>
                      <a:noFill/>
                    </a:lnL>
                    <a:lnR>
                      <a:noFill/>
                    </a:lnR>
                    <a:lnT>
                      <a:noFill/>
                    </a:lnT>
                    <a:lnB>
                      <a:noFill/>
                    </a:lnB>
                  </a:tcPr>
                </a:tc>
                <a:tc>
                  <a:txBody>
                    <a:bodyPr/>
                    <a:lstStyle/>
                    <a:p>
                      <a:r>
                        <a:rPr lang="en-US" sz="1000"/>
                        <a:t>Xi</a:t>
                      </a:r>
                    </a:p>
                  </a:txBody>
                  <a:tcPr marL="17233" marR="17233" marT="8617" marB="8617" anchor="ctr">
                    <a:lnL>
                      <a:noFill/>
                    </a:lnL>
                    <a:lnR>
                      <a:noFill/>
                    </a:lnR>
                    <a:lnT>
                      <a:noFill/>
                    </a:lnT>
                    <a:lnB>
                      <a:noFill/>
                    </a:lnB>
                  </a:tcPr>
                </a:tc>
                <a:tc>
                  <a:txBody>
                    <a:bodyPr/>
                    <a:lstStyle/>
                    <a:p>
                      <a:r>
                        <a:rPr lang="en-US" sz="1000"/>
                        <a:t>Random variables, eigenvalues</a:t>
                      </a:r>
                    </a:p>
                  </a:txBody>
                  <a:tcPr marL="17233" marR="17233" marT="8617" marB="8617" anchor="ctr">
                    <a:lnL>
                      <a:noFill/>
                    </a:lnL>
                    <a:lnR>
                      <a:noFill/>
                    </a:lnR>
                    <a:lnT>
                      <a:noFill/>
                    </a:lnT>
                    <a:lnB>
                      <a:noFill/>
                    </a:lnB>
                  </a:tcPr>
                </a:tc>
                <a:extLst>
                  <a:ext uri="{0D108BD9-81ED-4DB2-BD59-A6C34878D82A}">
                    <a16:rowId xmlns:a16="http://schemas.microsoft.com/office/drawing/2014/main" val="1684233673"/>
                  </a:ext>
                </a:extLst>
              </a:tr>
              <a:tr h="159818">
                <a:tc>
                  <a:txBody>
                    <a:bodyPr/>
                    <a:lstStyle/>
                    <a:p>
                      <a:r>
                        <a:rPr lang="el-GR" sz="1000"/>
                        <a:t>Ο</a:t>
                      </a:r>
                    </a:p>
                  </a:txBody>
                  <a:tcPr marL="17233" marR="17233" marT="8617" marB="8617" anchor="ctr">
                    <a:lnL>
                      <a:noFill/>
                    </a:lnL>
                    <a:lnR>
                      <a:noFill/>
                    </a:lnR>
                    <a:lnT>
                      <a:noFill/>
                    </a:lnT>
                    <a:lnB>
                      <a:noFill/>
                    </a:lnB>
                  </a:tcPr>
                </a:tc>
                <a:tc>
                  <a:txBody>
                    <a:bodyPr/>
                    <a:lstStyle/>
                    <a:p>
                      <a:r>
                        <a:rPr lang="el-GR" sz="1000"/>
                        <a:t>ο</a:t>
                      </a:r>
                    </a:p>
                  </a:txBody>
                  <a:tcPr marL="17233" marR="17233" marT="8617" marB="8617" anchor="ctr">
                    <a:lnL>
                      <a:noFill/>
                    </a:lnL>
                    <a:lnR>
                      <a:noFill/>
                    </a:lnR>
                    <a:lnT>
                      <a:noFill/>
                    </a:lnT>
                    <a:lnB>
                      <a:noFill/>
                    </a:lnB>
                  </a:tcPr>
                </a:tc>
                <a:tc>
                  <a:txBody>
                    <a:bodyPr/>
                    <a:lstStyle/>
                    <a:p>
                      <a:r>
                        <a:rPr lang="en-US" sz="1000"/>
                        <a:t>Omicron</a:t>
                      </a:r>
                    </a:p>
                  </a:txBody>
                  <a:tcPr marL="17233" marR="17233" marT="8617" marB="8617" anchor="ctr">
                    <a:lnL>
                      <a:noFill/>
                    </a:lnL>
                    <a:lnR>
                      <a:noFill/>
                    </a:lnR>
                    <a:lnT>
                      <a:noFill/>
                    </a:lnT>
                    <a:lnB>
                      <a:noFill/>
                    </a:lnB>
                  </a:tcPr>
                </a:tc>
                <a:tc>
                  <a:txBody>
                    <a:bodyPr/>
                    <a:lstStyle/>
                    <a:p>
                      <a:r>
                        <a:rPr lang="en-US" sz="1000"/>
                        <a:t>Rarely used in scientific contexts</a:t>
                      </a:r>
                    </a:p>
                  </a:txBody>
                  <a:tcPr marL="17233" marR="17233" marT="8617" marB="8617" anchor="ctr">
                    <a:lnL>
                      <a:noFill/>
                    </a:lnL>
                    <a:lnR>
                      <a:noFill/>
                    </a:lnR>
                    <a:lnT>
                      <a:noFill/>
                    </a:lnT>
                    <a:lnB>
                      <a:noFill/>
                    </a:lnB>
                  </a:tcPr>
                </a:tc>
                <a:extLst>
                  <a:ext uri="{0D108BD9-81ED-4DB2-BD59-A6C34878D82A}">
                    <a16:rowId xmlns:a16="http://schemas.microsoft.com/office/drawing/2014/main" val="343773997"/>
                  </a:ext>
                </a:extLst>
              </a:tr>
              <a:tr h="297003">
                <a:tc>
                  <a:txBody>
                    <a:bodyPr/>
                    <a:lstStyle/>
                    <a:p>
                      <a:r>
                        <a:rPr lang="el-GR" sz="1000"/>
                        <a:t>Π</a:t>
                      </a:r>
                    </a:p>
                  </a:txBody>
                  <a:tcPr marL="17233" marR="17233" marT="8617" marB="8617" anchor="ctr">
                    <a:lnL>
                      <a:noFill/>
                    </a:lnL>
                    <a:lnR>
                      <a:noFill/>
                    </a:lnR>
                    <a:lnT>
                      <a:noFill/>
                    </a:lnT>
                    <a:lnB>
                      <a:noFill/>
                    </a:lnB>
                  </a:tcPr>
                </a:tc>
                <a:tc>
                  <a:txBody>
                    <a:bodyPr/>
                    <a:lstStyle/>
                    <a:p>
                      <a:r>
                        <a:rPr lang="el-GR" sz="1000"/>
                        <a:t>π</a:t>
                      </a:r>
                    </a:p>
                  </a:txBody>
                  <a:tcPr marL="17233" marR="17233" marT="8617" marB="8617" anchor="ctr">
                    <a:lnL>
                      <a:noFill/>
                    </a:lnL>
                    <a:lnR>
                      <a:noFill/>
                    </a:lnR>
                    <a:lnT>
                      <a:noFill/>
                    </a:lnT>
                    <a:lnB>
                      <a:noFill/>
                    </a:lnB>
                  </a:tcPr>
                </a:tc>
                <a:tc>
                  <a:txBody>
                    <a:bodyPr/>
                    <a:lstStyle/>
                    <a:p>
                      <a:r>
                        <a:rPr lang="en-US" sz="1000"/>
                        <a:t>Pi</a:t>
                      </a:r>
                    </a:p>
                  </a:txBody>
                  <a:tcPr marL="17233" marR="17233" marT="8617" marB="8617" anchor="ctr">
                    <a:lnL>
                      <a:noFill/>
                    </a:lnL>
                    <a:lnR>
                      <a:noFill/>
                    </a:lnR>
                    <a:lnT>
                      <a:noFill/>
                    </a:lnT>
                    <a:lnB>
                      <a:noFill/>
                    </a:lnB>
                  </a:tcPr>
                </a:tc>
                <a:tc>
                  <a:txBody>
                    <a:bodyPr/>
                    <a:lstStyle/>
                    <a:p>
                      <a:r>
                        <a:rPr lang="en-US" sz="1000"/>
                        <a:t>Mathematical constant </a:t>
                      </a:r>
                      <a:r>
                        <a:rPr lang="el-GR" sz="1000"/>
                        <a:t>π (~3.14159), </a:t>
                      </a:r>
                      <a:r>
                        <a:rPr lang="en-US" sz="1000"/>
                        <a:t>product operator</a:t>
                      </a:r>
                    </a:p>
                  </a:txBody>
                  <a:tcPr marL="17233" marR="17233" marT="8617" marB="8617" anchor="ctr">
                    <a:lnL>
                      <a:noFill/>
                    </a:lnL>
                    <a:lnR>
                      <a:noFill/>
                    </a:lnR>
                    <a:lnT>
                      <a:noFill/>
                    </a:lnT>
                    <a:lnB>
                      <a:noFill/>
                    </a:lnB>
                  </a:tcPr>
                </a:tc>
                <a:extLst>
                  <a:ext uri="{0D108BD9-81ED-4DB2-BD59-A6C34878D82A}">
                    <a16:rowId xmlns:a16="http://schemas.microsoft.com/office/drawing/2014/main" val="1775826410"/>
                  </a:ext>
                </a:extLst>
              </a:tr>
              <a:tr h="159818">
                <a:tc>
                  <a:txBody>
                    <a:bodyPr/>
                    <a:lstStyle/>
                    <a:p>
                      <a:r>
                        <a:rPr lang="el-GR" sz="1000"/>
                        <a:t>Ρ</a:t>
                      </a:r>
                    </a:p>
                  </a:txBody>
                  <a:tcPr marL="17233" marR="17233" marT="8617" marB="8617" anchor="ctr">
                    <a:lnL>
                      <a:noFill/>
                    </a:lnL>
                    <a:lnR>
                      <a:noFill/>
                    </a:lnR>
                    <a:lnT>
                      <a:noFill/>
                    </a:lnT>
                    <a:lnB>
                      <a:noFill/>
                    </a:lnB>
                  </a:tcPr>
                </a:tc>
                <a:tc>
                  <a:txBody>
                    <a:bodyPr/>
                    <a:lstStyle/>
                    <a:p>
                      <a:r>
                        <a:rPr lang="el-GR" sz="1000"/>
                        <a:t>ρ</a:t>
                      </a:r>
                    </a:p>
                  </a:txBody>
                  <a:tcPr marL="17233" marR="17233" marT="8617" marB="8617" anchor="ctr">
                    <a:lnL>
                      <a:noFill/>
                    </a:lnL>
                    <a:lnR>
                      <a:noFill/>
                    </a:lnR>
                    <a:lnT>
                      <a:noFill/>
                    </a:lnT>
                    <a:lnB>
                      <a:noFill/>
                    </a:lnB>
                  </a:tcPr>
                </a:tc>
                <a:tc>
                  <a:txBody>
                    <a:bodyPr/>
                    <a:lstStyle/>
                    <a:p>
                      <a:r>
                        <a:rPr lang="en-US" sz="1000"/>
                        <a:t>Rho</a:t>
                      </a:r>
                    </a:p>
                  </a:txBody>
                  <a:tcPr marL="17233" marR="17233" marT="8617" marB="8617" anchor="ctr">
                    <a:lnL>
                      <a:noFill/>
                    </a:lnL>
                    <a:lnR>
                      <a:noFill/>
                    </a:lnR>
                    <a:lnT>
                      <a:noFill/>
                    </a:lnT>
                    <a:lnB>
                      <a:noFill/>
                    </a:lnB>
                  </a:tcPr>
                </a:tc>
                <a:tc>
                  <a:txBody>
                    <a:bodyPr/>
                    <a:lstStyle/>
                    <a:p>
                      <a:r>
                        <a:rPr lang="en-US" sz="1000"/>
                        <a:t>Density, correlation coefficient</a:t>
                      </a:r>
                    </a:p>
                  </a:txBody>
                  <a:tcPr marL="17233" marR="17233" marT="8617" marB="8617" anchor="ctr">
                    <a:lnL>
                      <a:noFill/>
                    </a:lnL>
                    <a:lnR>
                      <a:noFill/>
                    </a:lnR>
                    <a:lnT>
                      <a:noFill/>
                    </a:lnT>
                    <a:lnB>
                      <a:noFill/>
                    </a:lnB>
                  </a:tcPr>
                </a:tc>
                <a:extLst>
                  <a:ext uri="{0D108BD9-81ED-4DB2-BD59-A6C34878D82A}">
                    <a16:rowId xmlns:a16="http://schemas.microsoft.com/office/drawing/2014/main" val="344743072"/>
                  </a:ext>
                </a:extLst>
              </a:tr>
              <a:tr h="297003">
                <a:tc>
                  <a:txBody>
                    <a:bodyPr/>
                    <a:lstStyle/>
                    <a:p>
                      <a:r>
                        <a:rPr lang="el-GR" sz="1000"/>
                        <a:t>Σ</a:t>
                      </a:r>
                    </a:p>
                  </a:txBody>
                  <a:tcPr marL="17233" marR="17233" marT="8617" marB="8617" anchor="ctr">
                    <a:lnL>
                      <a:noFill/>
                    </a:lnL>
                    <a:lnR>
                      <a:noFill/>
                    </a:lnR>
                    <a:lnT>
                      <a:noFill/>
                    </a:lnT>
                    <a:lnB>
                      <a:noFill/>
                    </a:lnB>
                  </a:tcPr>
                </a:tc>
                <a:tc>
                  <a:txBody>
                    <a:bodyPr/>
                    <a:lstStyle/>
                    <a:p>
                      <a:r>
                        <a:rPr lang="el-GR" sz="1000"/>
                        <a:t>σ</a:t>
                      </a:r>
                    </a:p>
                  </a:txBody>
                  <a:tcPr marL="17233" marR="17233" marT="8617" marB="8617" anchor="ctr">
                    <a:lnL>
                      <a:noFill/>
                    </a:lnL>
                    <a:lnR>
                      <a:noFill/>
                    </a:lnR>
                    <a:lnT>
                      <a:noFill/>
                    </a:lnT>
                    <a:lnB>
                      <a:noFill/>
                    </a:lnB>
                  </a:tcPr>
                </a:tc>
                <a:tc>
                  <a:txBody>
                    <a:bodyPr/>
                    <a:lstStyle/>
                    <a:p>
                      <a:r>
                        <a:rPr lang="en-US" sz="1000"/>
                        <a:t>Sigma</a:t>
                      </a:r>
                    </a:p>
                  </a:txBody>
                  <a:tcPr marL="17233" marR="17233" marT="8617" marB="8617" anchor="ctr">
                    <a:lnL>
                      <a:noFill/>
                    </a:lnL>
                    <a:lnR>
                      <a:noFill/>
                    </a:lnR>
                    <a:lnT>
                      <a:noFill/>
                    </a:lnT>
                    <a:lnB>
                      <a:noFill/>
                    </a:lnB>
                  </a:tcPr>
                </a:tc>
                <a:tc>
                  <a:txBody>
                    <a:bodyPr/>
                    <a:lstStyle/>
                    <a:p>
                      <a:r>
                        <a:rPr lang="en-US" sz="1000"/>
                        <a:t>Summation (</a:t>
                      </a:r>
                      <a:r>
                        <a:rPr lang="el-GR" sz="1000"/>
                        <a:t>Σ), </a:t>
                      </a:r>
                      <a:r>
                        <a:rPr lang="en-US" sz="1000"/>
                        <a:t>standard deviation, stress</a:t>
                      </a:r>
                    </a:p>
                  </a:txBody>
                  <a:tcPr marL="17233" marR="17233" marT="8617" marB="8617" anchor="ctr">
                    <a:lnL>
                      <a:noFill/>
                    </a:lnL>
                    <a:lnR>
                      <a:noFill/>
                    </a:lnR>
                    <a:lnT>
                      <a:noFill/>
                    </a:lnT>
                    <a:lnB>
                      <a:noFill/>
                    </a:lnB>
                  </a:tcPr>
                </a:tc>
                <a:extLst>
                  <a:ext uri="{0D108BD9-81ED-4DB2-BD59-A6C34878D82A}">
                    <a16:rowId xmlns:a16="http://schemas.microsoft.com/office/drawing/2014/main" val="3522577922"/>
                  </a:ext>
                </a:extLst>
              </a:tr>
              <a:tr h="297003">
                <a:tc>
                  <a:txBody>
                    <a:bodyPr/>
                    <a:lstStyle/>
                    <a:p>
                      <a:r>
                        <a:rPr lang="el-GR" sz="1000"/>
                        <a:t>Τ</a:t>
                      </a:r>
                    </a:p>
                  </a:txBody>
                  <a:tcPr marL="17233" marR="17233" marT="8617" marB="8617" anchor="ctr">
                    <a:lnL>
                      <a:noFill/>
                    </a:lnL>
                    <a:lnR>
                      <a:noFill/>
                    </a:lnR>
                    <a:lnT>
                      <a:noFill/>
                    </a:lnT>
                    <a:lnB>
                      <a:noFill/>
                    </a:lnB>
                  </a:tcPr>
                </a:tc>
                <a:tc>
                  <a:txBody>
                    <a:bodyPr/>
                    <a:lstStyle/>
                    <a:p>
                      <a:r>
                        <a:rPr lang="el-GR" sz="1000"/>
                        <a:t>τ</a:t>
                      </a:r>
                    </a:p>
                  </a:txBody>
                  <a:tcPr marL="17233" marR="17233" marT="8617" marB="8617" anchor="ctr">
                    <a:lnL>
                      <a:noFill/>
                    </a:lnL>
                    <a:lnR>
                      <a:noFill/>
                    </a:lnR>
                    <a:lnT>
                      <a:noFill/>
                    </a:lnT>
                    <a:lnB>
                      <a:noFill/>
                    </a:lnB>
                  </a:tcPr>
                </a:tc>
                <a:tc>
                  <a:txBody>
                    <a:bodyPr/>
                    <a:lstStyle/>
                    <a:p>
                      <a:r>
                        <a:rPr lang="en-US" sz="1000"/>
                        <a:t>Tau</a:t>
                      </a:r>
                    </a:p>
                  </a:txBody>
                  <a:tcPr marL="17233" marR="17233" marT="8617" marB="8617" anchor="ctr">
                    <a:lnL>
                      <a:noFill/>
                    </a:lnL>
                    <a:lnR>
                      <a:noFill/>
                    </a:lnR>
                    <a:lnT>
                      <a:noFill/>
                    </a:lnT>
                    <a:lnB>
                      <a:noFill/>
                    </a:lnB>
                  </a:tcPr>
                </a:tc>
                <a:tc>
                  <a:txBody>
                    <a:bodyPr/>
                    <a:lstStyle/>
                    <a:p>
                      <a:r>
                        <a:rPr lang="en-US" sz="1000"/>
                        <a:t>Torque, time constant, shear stress</a:t>
                      </a:r>
                    </a:p>
                  </a:txBody>
                  <a:tcPr marL="17233" marR="17233" marT="8617" marB="8617" anchor="ctr">
                    <a:lnL>
                      <a:noFill/>
                    </a:lnL>
                    <a:lnR>
                      <a:noFill/>
                    </a:lnR>
                    <a:lnT>
                      <a:noFill/>
                    </a:lnT>
                    <a:lnB>
                      <a:noFill/>
                    </a:lnB>
                  </a:tcPr>
                </a:tc>
                <a:extLst>
                  <a:ext uri="{0D108BD9-81ED-4DB2-BD59-A6C34878D82A}">
                    <a16:rowId xmlns:a16="http://schemas.microsoft.com/office/drawing/2014/main" val="229997539"/>
                  </a:ext>
                </a:extLst>
              </a:tr>
              <a:tr h="297003">
                <a:tc>
                  <a:txBody>
                    <a:bodyPr/>
                    <a:lstStyle/>
                    <a:p>
                      <a:r>
                        <a:rPr lang="el-GR" sz="1000"/>
                        <a:t>Υ</a:t>
                      </a:r>
                    </a:p>
                  </a:txBody>
                  <a:tcPr marL="17233" marR="17233" marT="8617" marB="8617" anchor="ctr">
                    <a:lnL>
                      <a:noFill/>
                    </a:lnL>
                    <a:lnR>
                      <a:noFill/>
                    </a:lnR>
                    <a:lnT>
                      <a:noFill/>
                    </a:lnT>
                    <a:lnB>
                      <a:noFill/>
                    </a:lnB>
                  </a:tcPr>
                </a:tc>
                <a:tc>
                  <a:txBody>
                    <a:bodyPr/>
                    <a:lstStyle/>
                    <a:p>
                      <a:r>
                        <a:rPr lang="el-GR" sz="1000"/>
                        <a:t>υ</a:t>
                      </a:r>
                    </a:p>
                  </a:txBody>
                  <a:tcPr marL="17233" marR="17233" marT="8617" marB="8617" anchor="ctr">
                    <a:lnL>
                      <a:noFill/>
                    </a:lnL>
                    <a:lnR>
                      <a:noFill/>
                    </a:lnR>
                    <a:lnT>
                      <a:noFill/>
                    </a:lnT>
                    <a:lnB>
                      <a:noFill/>
                    </a:lnB>
                  </a:tcPr>
                </a:tc>
                <a:tc>
                  <a:txBody>
                    <a:bodyPr/>
                    <a:lstStyle/>
                    <a:p>
                      <a:r>
                        <a:rPr lang="en-US" sz="1000"/>
                        <a:t>Upsilon</a:t>
                      </a:r>
                    </a:p>
                  </a:txBody>
                  <a:tcPr marL="17233" marR="17233" marT="8617" marB="8617" anchor="ctr">
                    <a:lnL>
                      <a:noFill/>
                    </a:lnL>
                    <a:lnR>
                      <a:noFill/>
                    </a:lnR>
                    <a:lnT>
                      <a:noFill/>
                    </a:lnT>
                    <a:lnB>
                      <a:noFill/>
                    </a:lnB>
                  </a:tcPr>
                </a:tc>
                <a:tc>
                  <a:txBody>
                    <a:bodyPr/>
                    <a:lstStyle/>
                    <a:p>
                      <a:r>
                        <a:rPr lang="en-US" sz="1000"/>
                        <a:t>Less common; sometimes for particle names</a:t>
                      </a:r>
                    </a:p>
                  </a:txBody>
                  <a:tcPr marL="17233" marR="17233" marT="8617" marB="8617" anchor="ctr">
                    <a:lnL>
                      <a:noFill/>
                    </a:lnL>
                    <a:lnR>
                      <a:noFill/>
                    </a:lnR>
                    <a:lnT>
                      <a:noFill/>
                    </a:lnT>
                    <a:lnB>
                      <a:noFill/>
                    </a:lnB>
                  </a:tcPr>
                </a:tc>
                <a:extLst>
                  <a:ext uri="{0D108BD9-81ED-4DB2-BD59-A6C34878D82A}">
                    <a16:rowId xmlns:a16="http://schemas.microsoft.com/office/drawing/2014/main" val="3853035691"/>
                  </a:ext>
                </a:extLst>
              </a:tr>
              <a:tr h="297003">
                <a:tc>
                  <a:txBody>
                    <a:bodyPr/>
                    <a:lstStyle/>
                    <a:p>
                      <a:r>
                        <a:rPr lang="el-GR" sz="1000"/>
                        <a:t>Φ</a:t>
                      </a:r>
                    </a:p>
                  </a:txBody>
                  <a:tcPr marL="17233" marR="17233" marT="8617" marB="8617" anchor="ctr">
                    <a:lnL>
                      <a:noFill/>
                    </a:lnL>
                    <a:lnR>
                      <a:noFill/>
                    </a:lnR>
                    <a:lnT>
                      <a:noFill/>
                    </a:lnT>
                    <a:lnB>
                      <a:noFill/>
                    </a:lnB>
                  </a:tcPr>
                </a:tc>
                <a:tc>
                  <a:txBody>
                    <a:bodyPr/>
                    <a:lstStyle/>
                    <a:p>
                      <a:r>
                        <a:rPr lang="el-GR" sz="1000"/>
                        <a:t>φ</a:t>
                      </a:r>
                    </a:p>
                  </a:txBody>
                  <a:tcPr marL="17233" marR="17233" marT="8617" marB="8617" anchor="ctr">
                    <a:lnL>
                      <a:noFill/>
                    </a:lnL>
                    <a:lnR>
                      <a:noFill/>
                    </a:lnR>
                    <a:lnT>
                      <a:noFill/>
                    </a:lnT>
                    <a:lnB>
                      <a:noFill/>
                    </a:lnB>
                  </a:tcPr>
                </a:tc>
                <a:tc>
                  <a:txBody>
                    <a:bodyPr/>
                    <a:lstStyle/>
                    <a:p>
                      <a:r>
                        <a:rPr lang="en-US" sz="1000"/>
                        <a:t>Phi</a:t>
                      </a:r>
                    </a:p>
                  </a:txBody>
                  <a:tcPr marL="17233" marR="17233" marT="8617" marB="8617" anchor="ctr">
                    <a:lnL>
                      <a:noFill/>
                    </a:lnL>
                    <a:lnR>
                      <a:noFill/>
                    </a:lnR>
                    <a:lnT>
                      <a:noFill/>
                    </a:lnT>
                    <a:lnB>
                      <a:noFill/>
                    </a:lnB>
                  </a:tcPr>
                </a:tc>
                <a:tc>
                  <a:txBody>
                    <a:bodyPr/>
                    <a:lstStyle/>
                    <a:p>
                      <a:r>
                        <a:rPr lang="en-US" sz="1000"/>
                        <a:t>Magnetic flux, angle in polar coordinates, Golden Ratio</a:t>
                      </a:r>
                    </a:p>
                  </a:txBody>
                  <a:tcPr marL="17233" marR="17233" marT="8617" marB="8617" anchor="ctr">
                    <a:lnL>
                      <a:noFill/>
                    </a:lnL>
                    <a:lnR>
                      <a:noFill/>
                    </a:lnR>
                    <a:lnT>
                      <a:noFill/>
                    </a:lnT>
                    <a:lnB>
                      <a:noFill/>
                    </a:lnB>
                  </a:tcPr>
                </a:tc>
                <a:extLst>
                  <a:ext uri="{0D108BD9-81ED-4DB2-BD59-A6C34878D82A}">
                    <a16:rowId xmlns:a16="http://schemas.microsoft.com/office/drawing/2014/main" val="226038246"/>
                  </a:ext>
                </a:extLst>
              </a:tr>
              <a:tr h="297003">
                <a:tc>
                  <a:txBody>
                    <a:bodyPr/>
                    <a:lstStyle/>
                    <a:p>
                      <a:r>
                        <a:rPr lang="el-GR" sz="1000"/>
                        <a:t>Χ</a:t>
                      </a:r>
                    </a:p>
                  </a:txBody>
                  <a:tcPr marL="17233" marR="17233" marT="8617" marB="8617" anchor="ctr">
                    <a:lnL>
                      <a:noFill/>
                    </a:lnL>
                    <a:lnR>
                      <a:noFill/>
                    </a:lnR>
                    <a:lnT>
                      <a:noFill/>
                    </a:lnT>
                    <a:lnB>
                      <a:noFill/>
                    </a:lnB>
                  </a:tcPr>
                </a:tc>
                <a:tc>
                  <a:txBody>
                    <a:bodyPr/>
                    <a:lstStyle/>
                    <a:p>
                      <a:r>
                        <a:rPr lang="el-GR" sz="1000"/>
                        <a:t>χ</a:t>
                      </a:r>
                    </a:p>
                  </a:txBody>
                  <a:tcPr marL="17233" marR="17233" marT="8617" marB="8617" anchor="ctr">
                    <a:lnL>
                      <a:noFill/>
                    </a:lnL>
                    <a:lnR>
                      <a:noFill/>
                    </a:lnR>
                    <a:lnT>
                      <a:noFill/>
                    </a:lnT>
                    <a:lnB>
                      <a:noFill/>
                    </a:lnB>
                  </a:tcPr>
                </a:tc>
                <a:tc>
                  <a:txBody>
                    <a:bodyPr/>
                    <a:lstStyle/>
                    <a:p>
                      <a:r>
                        <a:rPr lang="en-US" sz="1000"/>
                        <a:t>Chi</a:t>
                      </a:r>
                    </a:p>
                  </a:txBody>
                  <a:tcPr marL="17233" marR="17233" marT="8617" marB="8617" anchor="ctr">
                    <a:lnL>
                      <a:noFill/>
                    </a:lnL>
                    <a:lnR>
                      <a:noFill/>
                    </a:lnR>
                    <a:lnT>
                      <a:noFill/>
                    </a:lnT>
                    <a:lnB>
                      <a:noFill/>
                    </a:lnB>
                  </a:tcPr>
                </a:tc>
                <a:tc>
                  <a:txBody>
                    <a:bodyPr/>
                    <a:lstStyle/>
                    <a:p>
                      <a:r>
                        <a:rPr lang="en-US" sz="1000"/>
                        <a:t>Chi-square in statistics, electric susceptibility</a:t>
                      </a:r>
                    </a:p>
                  </a:txBody>
                  <a:tcPr marL="17233" marR="17233" marT="8617" marB="8617" anchor="ctr">
                    <a:lnL>
                      <a:noFill/>
                    </a:lnL>
                    <a:lnR>
                      <a:noFill/>
                    </a:lnR>
                    <a:lnT>
                      <a:noFill/>
                    </a:lnT>
                    <a:lnB>
                      <a:noFill/>
                    </a:lnB>
                  </a:tcPr>
                </a:tc>
                <a:extLst>
                  <a:ext uri="{0D108BD9-81ED-4DB2-BD59-A6C34878D82A}">
                    <a16:rowId xmlns:a16="http://schemas.microsoft.com/office/drawing/2014/main" val="3532675274"/>
                  </a:ext>
                </a:extLst>
              </a:tr>
              <a:tr h="297003">
                <a:tc>
                  <a:txBody>
                    <a:bodyPr/>
                    <a:lstStyle/>
                    <a:p>
                      <a:r>
                        <a:rPr lang="el-GR" sz="1000"/>
                        <a:t>Ψ</a:t>
                      </a:r>
                    </a:p>
                  </a:txBody>
                  <a:tcPr marL="17233" marR="17233" marT="8617" marB="8617" anchor="ctr">
                    <a:lnL>
                      <a:noFill/>
                    </a:lnL>
                    <a:lnR>
                      <a:noFill/>
                    </a:lnR>
                    <a:lnT>
                      <a:noFill/>
                    </a:lnT>
                    <a:lnB>
                      <a:noFill/>
                    </a:lnB>
                  </a:tcPr>
                </a:tc>
                <a:tc>
                  <a:txBody>
                    <a:bodyPr/>
                    <a:lstStyle/>
                    <a:p>
                      <a:r>
                        <a:rPr lang="el-GR" sz="1000"/>
                        <a:t>ψ</a:t>
                      </a:r>
                    </a:p>
                  </a:txBody>
                  <a:tcPr marL="17233" marR="17233" marT="8617" marB="8617" anchor="ctr">
                    <a:lnL>
                      <a:noFill/>
                    </a:lnL>
                    <a:lnR>
                      <a:noFill/>
                    </a:lnR>
                    <a:lnT>
                      <a:noFill/>
                    </a:lnT>
                    <a:lnB>
                      <a:noFill/>
                    </a:lnB>
                  </a:tcPr>
                </a:tc>
                <a:tc>
                  <a:txBody>
                    <a:bodyPr/>
                    <a:lstStyle/>
                    <a:p>
                      <a:r>
                        <a:rPr lang="en-US" sz="1000"/>
                        <a:t>Psi</a:t>
                      </a:r>
                    </a:p>
                  </a:txBody>
                  <a:tcPr marL="17233" marR="17233" marT="8617" marB="8617" anchor="ctr">
                    <a:lnL>
                      <a:noFill/>
                    </a:lnL>
                    <a:lnR>
                      <a:noFill/>
                    </a:lnR>
                    <a:lnT>
                      <a:noFill/>
                    </a:lnT>
                    <a:lnB>
                      <a:noFill/>
                    </a:lnB>
                  </a:tcPr>
                </a:tc>
                <a:tc>
                  <a:txBody>
                    <a:bodyPr/>
                    <a:lstStyle/>
                    <a:p>
                      <a:r>
                        <a:rPr lang="en-US" sz="1000" dirty="0"/>
                        <a:t>Wave function in quantum mechanics</a:t>
                      </a:r>
                    </a:p>
                  </a:txBody>
                  <a:tcPr marL="17233" marR="17233" marT="8617" marB="8617" anchor="ctr">
                    <a:lnL>
                      <a:noFill/>
                    </a:lnL>
                    <a:lnR>
                      <a:noFill/>
                    </a:lnR>
                    <a:lnT>
                      <a:noFill/>
                    </a:lnT>
                    <a:lnB>
                      <a:noFill/>
                    </a:lnB>
                  </a:tcPr>
                </a:tc>
                <a:extLst>
                  <a:ext uri="{0D108BD9-81ED-4DB2-BD59-A6C34878D82A}">
                    <a16:rowId xmlns:a16="http://schemas.microsoft.com/office/drawing/2014/main" val="1548685396"/>
                  </a:ext>
                </a:extLst>
              </a:tr>
              <a:tr h="297003">
                <a:tc>
                  <a:txBody>
                    <a:bodyPr/>
                    <a:lstStyle/>
                    <a:p>
                      <a:r>
                        <a:rPr lang="el-GR" sz="1000"/>
                        <a:t>Ω</a:t>
                      </a:r>
                    </a:p>
                  </a:txBody>
                  <a:tcPr marL="17233" marR="17233" marT="8617" marB="8617" anchor="ctr">
                    <a:lnL>
                      <a:noFill/>
                    </a:lnL>
                    <a:lnR>
                      <a:noFill/>
                    </a:lnR>
                    <a:lnT>
                      <a:noFill/>
                    </a:lnT>
                    <a:lnB>
                      <a:noFill/>
                    </a:lnB>
                  </a:tcPr>
                </a:tc>
                <a:tc>
                  <a:txBody>
                    <a:bodyPr/>
                    <a:lstStyle/>
                    <a:p>
                      <a:r>
                        <a:rPr lang="el-GR" sz="1000"/>
                        <a:t>ω</a:t>
                      </a:r>
                    </a:p>
                  </a:txBody>
                  <a:tcPr marL="17233" marR="17233" marT="8617" marB="8617" anchor="ctr">
                    <a:lnL>
                      <a:noFill/>
                    </a:lnL>
                    <a:lnR>
                      <a:noFill/>
                    </a:lnR>
                    <a:lnT>
                      <a:noFill/>
                    </a:lnT>
                    <a:lnB>
                      <a:noFill/>
                    </a:lnB>
                  </a:tcPr>
                </a:tc>
                <a:tc>
                  <a:txBody>
                    <a:bodyPr/>
                    <a:lstStyle/>
                    <a:p>
                      <a:r>
                        <a:rPr lang="en-US" sz="1000"/>
                        <a:t>Omega</a:t>
                      </a:r>
                    </a:p>
                  </a:txBody>
                  <a:tcPr marL="17233" marR="17233" marT="8617" marB="8617" anchor="ctr">
                    <a:lnL>
                      <a:noFill/>
                    </a:lnL>
                    <a:lnR>
                      <a:noFill/>
                    </a:lnR>
                    <a:lnT>
                      <a:noFill/>
                    </a:lnT>
                    <a:lnB>
                      <a:noFill/>
                    </a:lnB>
                  </a:tcPr>
                </a:tc>
                <a:tc>
                  <a:txBody>
                    <a:bodyPr/>
                    <a:lstStyle/>
                    <a:p>
                      <a:r>
                        <a:rPr lang="en-US" sz="1000" dirty="0"/>
                        <a:t>Ohms (</a:t>
                      </a:r>
                      <a:r>
                        <a:rPr lang="el-GR" sz="1000" dirty="0"/>
                        <a:t>Ω), </a:t>
                      </a:r>
                      <a:r>
                        <a:rPr lang="en-US" sz="1000" dirty="0"/>
                        <a:t>angular velocity, solid angle</a:t>
                      </a:r>
                    </a:p>
                  </a:txBody>
                  <a:tcPr marL="17233" marR="17233" marT="8617" marB="8617" anchor="ctr">
                    <a:lnL>
                      <a:noFill/>
                    </a:lnL>
                    <a:lnR>
                      <a:noFill/>
                    </a:lnR>
                    <a:lnT>
                      <a:noFill/>
                    </a:lnT>
                    <a:lnB>
                      <a:noFill/>
                    </a:lnB>
                  </a:tcPr>
                </a:tc>
                <a:extLst>
                  <a:ext uri="{0D108BD9-81ED-4DB2-BD59-A6C34878D82A}">
                    <a16:rowId xmlns:a16="http://schemas.microsoft.com/office/drawing/2014/main" val="973899986"/>
                  </a:ext>
                </a:extLst>
              </a:tr>
            </a:tbl>
          </a:graphicData>
        </a:graphic>
      </p:graphicFrame>
    </p:spTree>
    <p:extLst>
      <p:ext uri="{BB962C8B-B14F-4D97-AF65-F5344CB8AC3E}">
        <p14:creationId xmlns:p14="http://schemas.microsoft.com/office/powerpoint/2010/main" val="30332531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1F2A3C80-8B30-9690-C5C0-E4A5BD36BB78}"/>
              </a:ext>
            </a:extLst>
          </p:cNvPr>
          <p:cNvSpPr>
            <a:spLocks noGrp="1" noChangeArrowheads="1"/>
          </p:cNvSpPr>
          <p:nvPr>
            <p:ph type="title"/>
          </p:nvPr>
        </p:nvSpPr>
        <p:spPr>
          <a:xfrm>
            <a:off x="1331913" y="115888"/>
            <a:ext cx="6707187" cy="571500"/>
          </a:xfrm>
        </p:spPr>
        <p:txBody>
          <a:bodyPr/>
          <a:lstStyle/>
          <a:p>
            <a:pPr eaLnBrk="1" hangingPunct="1"/>
            <a:r>
              <a:rPr lang="en-US" altLang="en-US">
                <a:solidFill>
                  <a:srgbClr val="0000FF"/>
                </a:solidFill>
              </a:rPr>
              <a:t>Polymerase switching</a:t>
            </a:r>
            <a:endParaRPr lang="en-GB" altLang="en-US">
              <a:solidFill>
                <a:srgbClr val="0000FF"/>
              </a:solidFill>
            </a:endParaRPr>
          </a:p>
        </p:txBody>
      </p:sp>
      <p:pic>
        <p:nvPicPr>
          <p:cNvPr id="77827" name="Picture 5">
            <a:extLst>
              <a:ext uri="{FF2B5EF4-FFF2-40B4-BE49-F238E27FC236}">
                <a16:creationId xmlns:a16="http://schemas.microsoft.com/office/drawing/2014/main" id="{71B26FF9-4F23-17B6-AEE7-416DCD1CDD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836613"/>
            <a:ext cx="4583112" cy="602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2359CE79-145A-16D6-8875-8F619131CED8}"/>
              </a:ext>
            </a:extLst>
          </p:cNvPr>
          <p:cNvSpPr>
            <a:spLocks noGrp="1"/>
          </p:cNvSpPr>
          <p:nvPr>
            <p:ph type="title"/>
          </p:nvPr>
        </p:nvSpPr>
        <p:spPr>
          <a:xfrm>
            <a:off x="457200" y="122238"/>
            <a:ext cx="7543800" cy="569912"/>
          </a:xfrm>
        </p:spPr>
        <p:txBody>
          <a:bodyPr/>
          <a:lstStyle/>
          <a:p>
            <a:r>
              <a:rPr lang="en-US" altLang="en-US" sz="3200">
                <a:solidFill>
                  <a:srgbClr val="0000FF"/>
                </a:solidFill>
              </a:rPr>
              <a:t>Structure of a sliding DNA clamp</a:t>
            </a:r>
          </a:p>
        </p:txBody>
      </p:sp>
      <p:pic>
        <p:nvPicPr>
          <p:cNvPr id="79875" name="Picture 2" descr="H:\Amjad Courses\BT451\Molecular Biology of the Gene images\watson_mm_jpg_chap008\chap008\08_Figure18.jpg">
            <a:extLst>
              <a:ext uri="{FF2B5EF4-FFF2-40B4-BE49-F238E27FC236}">
                <a16:creationId xmlns:a16="http://schemas.microsoft.com/office/drawing/2014/main" id="{D50510D4-8ED6-8728-FF47-1D2A209436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139825"/>
            <a:ext cx="8016875" cy="571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D25F6CDF-8EE4-2FD5-16C8-BC5AB9FD09A4}"/>
              </a:ext>
            </a:extLst>
          </p:cNvPr>
          <p:cNvSpPr>
            <a:spLocks noGrp="1"/>
          </p:cNvSpPr>
          <p:nvPr>
            <p:ph type="title"/>
          </p:nvPr>
        </p:nvSpPr>
        <p:spPr/>
        <p:txBody>
          <a:bodyPr/>
          <a:lstStyle/>
          <a:p>
            <a:r>
              <a:rPr lang="en-US" altLang="en-US" sz="2800">
                <a:solidFill>
                  <a:srgbClr val="0000FF"/>
                </a:solidFill>
              </a:rPr>
              <a:t>How does the association with the sliding clamp change the processivity of DNA polymerase?</a:t>
            </a:r>
          </a:p>
        </p:txBody>
      </p:sp>
      <p:sp>
        <p:nvSpPr>
          <p:cNvPr id="81923" name="Content Placeholder 2">
            <a:extLst>
              <a:ext uri="{FF2B5EF4-FFF2-40B4-BE49-F238E27FC236}">
                <a16:creationId xmlns:a16="http://schemas.microsoft.com/office/drawing/2014/main" id="{B6EC6795-DF35-D1C0-9B6E-C438F2325111}"/>
              </a:ext>
            </a:extLst>
          </p:cNvPr>
          <p:cNvSpPr>
            <a:spLocks noGrp="1"/>
          </p:cNvSpPr>
          <p:nvPr>
            <p:ph idx="1"/>
          </p:nvPr>
        </p:nvSpPr>
        <p:spPr>
          <a:xfrm>
            <a:off x="395288" y="1628775"/>
            <a:ext cx="8229600" cy="5040313"/>
          </a:xfrm>
        </p:spPr>
        <p:txBody>
          <a:bodyPr/>
          <a:lstStyle/>
          <a:p>
            <a:r>
              <a:rPr lang="en-US" altLang="en-US" sz="2200"/>
              <a:t>In the absence of sliding clamp, the DNA polymerase </a:t>
            </a:r>
            <a:r>
              <a:rPr lang="en-US" altLang="en-US" sz="2200">
                <a:solidFill>
                  <a:srgbClr val="0000FF"/>
                </a:solidFill>
              </a:rPr>
              <a:t>dissociates and diffuses away </a:t>
            </a:r>
            <a:r>
              <a:rPr lang="en-US" altLang="en-US" sz="2200"/>
              <a:t>from the template DNA on average every 20-100 bp synthesized</a:t>
            </a:r>
          </a:p>
          <a:p>
            <a:r>
              <a:rPr lang="en-US" altLang="en-US" sz="2200"/>
              <a:t>In the presence of the sliding clamp, </a:t>
            </a:r>
            <a:r>
              <a:rPr lang="en-US" altLang="en-US" sz="2200">
                <a:solidFill>
                  <a:srgbClr val="C00000"/>
                </a:solidFill>
              </a:rPr>
              <a:t>the DNA polymerase still disengages its active site from the 3’OH end of the DNA </a:t>
            </a:r>
            <a:r>
              <a:rPr lang="en-US" altLang="en-US" sz="2200"/>
              <a:t>frequently, but the association with the sliding clamp </a:t>
            </a:r>
            <a:r>
              <a:rPr lang="en-US" altLang="en-US" sz="2200">
                <a:solidFill>
                  <a:srgbClr val="0000FF"/>
                </a:solidFill>
              </a:rPr>
              <a:t>prevents the polymerase from diffusing away from the DNA</a:t>
            </a:r>
          </a:p>
          <a:p>
            <a:r>
              <a:rPr lang="en-US" altLang="en-US" sz="2200"/>
              <a:t>By </a:t>
            </a:r>
            <a:r>
              <a:rPr lang="en-US" altLang="en-US" sz="2200">
                <a:solidFill>
                  <a:srgbClr val="0000FF"/>
                </a:solidFill>
              </a:rPr>
              <a:t>keeping the polymerase in </a:t>
            </a:r>
            <a:r>
              <a:rPr lang="en-US" altLang="en-US" sz="2200" b="1">
                <a:solidFill>
                  <a:srgbClr val="C00000"/>
                </a:solidFill>
              </a:rPr>
              <a:t>close proximity </a:t>
            </a:r>
            <a:r>
              <a:rPr lang="en-US" altLang="en-US" sz="2200"/>
              <a:t>to the DNA, the clamp ensures that the DNA polymerase </a:t>
            </a:r>
            <a:r>
              <a:rPr lang="en-US" altLang="en-US" sz="2200">
                <a:solidFill>
                  <a:srgbClr val="0000FF"/>
                </a:solidFill>
              </a:rPr>
              <a:t>rapidly rebinds the same primer:template junction</a:t>
            </a:r>
            <a:r>
              <a:rPr lang="en-US" altLang="en-US" sz="2200"/>
              <a:t>, vastly increasing the processivity of the DNA polymerase</a:t>
            </a:r>
          </a:p>
          <a:p>
            <a:r>
              <a:rPr lang="en-US" altLang="en-US" sz="2200"/>
              <a:t>When a polymerase </a:t>
            </a:r>
            <a:r>
              <a:rPr lang="en-US" altLang="en-US" sz="2200">
                <a:solidFill>
                  <a:srgbClr val="0000FF"/>
                </a:solidFill>
              </a:rPr>
              <a:t>completes the replication </a:t>
            </a:r>
            <a:r>
              <a:rPr lang="en-US" altLang="en-US" sz="2200"/>
              <a:t>of a stretch of DNA, it </a:t>
            </a:r>
            <a:r>
              <a:rPr lang="en-US" altLang="en-US" sz="2200">
                <a:solidFill>
                  <a:srgbClr val="0000FF"/>
                </a:solidFill>
              </a:rPr>
              <a:t>is released from the sliding clamp </a:t>
            </a:r>
            <a:r>
              <a:rPr lang="en-US" altLang="en-US" sz="2200"/>
              <a:t>so it can act at a new primer:template junction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430122A-FEF2-F666-6455-8A2CD8FAD86E}"/>
              </a:ext>
            </a:extLst>
          </p:cNvPr>
          <p:cNvSpPr>
            <a:spLocks noGrp="1" noChangeArrowheads="1"/>
          </p:cNvSpPr>
          <p:nvPr>
            <p:ph type="title"/>
          </p:nvPr>
        </p:nvSpPr>
        <p:spPr>
          <a:xfrm>
            <a:off x="457200" y="122238"/>
            <a:ext cx="7543800" cy="1074737"/>
          </a:xfrm>
        </p:spPr>
        <p:txBody>
          <a:bodyPr/>
          <a:lstStyle/>
          <a:p>
            <a:pPr eaLnBrk="1" hangingPunct="1"/>
            <a:r>
              <a:rPr lang="en-US" altLang="en-US" sz="3500">
                <a:solidFill>
                  <a:srgbClr val="0000FF"/>
                </a:solidFill>
              </a:rPr>
              <a:t>Sliding clamp increase DNA polymerase processivity</a:t>
            </a:r>
            <a:endParaRPr lang="en-GB" altLang="en-US" sz="3500">
              <a:solidFill>
                <a:srgbClr val="0000FF"/>
              </a:solidFill>
            </a:endParaRPr>
          </a:p>
        </p:txBody>
      </p:sp>
      <p:pic>
        <p:nvPicPr>
          <p:cNvPr id="83971" name="Picture 5">
            <a:extLst>
              <a:ext uri="{FF2B5EF4-FFF2-40B4-BE49-F238E27FC236}">
                <a16:creationId xmlns:a16="http://schemas.microsoft.com/office/drawing/2014/main" id="{2E53AE47-27B2-5397-0EB9-06A9284DE9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131"/>
          <a:stretch>
            <a:fillRect/>
          </a:stretch>
        </p:blipFill>
        <p:spPr bwMode="auto">
          <a:xfrm>
            <a:off x="2124075" y="1268413"/>
            <a:ext cx="4252913" cy="558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F2F42BD7-F869-B9D9-5217-4B7963A7A818}"/>
              </a:ext>
            </a:extLst>
          </p:cNvPr>
          <p:cNvSpPr>
            <a:spLocks noGrp="1" noChangeArrowheads="1"/>
          </p:cNvSpPr>
          <p:nvPr>
            <p:ph type="title"/>
          </p:nvPr>
        </p:nvSpPr>
        <p:spPr>
          <a:xfrm>
            <a:off x="457200" y="122238"/>
            <a:ext cx="7543800" cy="785812"/>
          </a:xfrm>
        </p:spPr>
        <p:txBody>
          <a:bodyPr/>
          <a:lstStyle/>
          <a:p>
            <a:pPr eaLnBrk="1" hangingPunct="1"/>
            <a:r>
              <a:rPr lang="en-US" altLang="en-US">
                <a:solidFill>
                  <a:srgbClr val="0000FF"/>
                </a:solidFill>
              </a:rPr>
              <a:t>Sliding DNA clamps</a:t>
            </a:r>
            <a:endParaRPr lang="en-GB" altLang="en-US">
              <a:solidFill>
                <a:srgbClr val="0000FF"/>
              </a:solidFill>
            </a:endParaRPr>
          </a:p>
        </p:txBody>
      </p:sp>
      <p:pic>
        <p:nvPicPr>
          <p:cNvPr id="86019" name="Picture 3">
            <a:extLst>
              <a:ext uri="{FF2B5EF4-FFF2-40B4-BE49-F238E27FC236}">
                <a16:creationId xmlns:a16="http://schemas.microsoft.com/office/drawing/2014/main" id="{0386443C-7AAA-4976-722B-2E24A7E9ECA5}"/>
              </a:ext>
            </a:extLst>
          </p:cNvPr>
          <p:cNvPicPr>
            <a:picLocks noChangeAspect="1" noChangeArrowheads="1"/>
          </p:cNvPicPr>
          <p:nvPr>
            <p:ph sz="half" idx="1"/>
          </p:nvPr>
        </p:nvPicPr>
        <p:blipFill>
          <a:blip r:embed="rId3">
            <a:extLst>
              <a:ext uri="{28A0092B-C50C-407E-A947-70E740481C1C}">
                <a14:useLocalDpi xmlns:a14="http://schemas.microsoft.com/office/drawing/2010/main" val="0"/>
              </a:ext>
            </a:extLst>
          </a:blip>
          <a:srcRect t="5226"/>
          <a:stretch>
            <a:fillRect/>
          </a:stretch>
        </p:blipFill>
        <p:spPr>
          <a:xfrm>
            <a:off x="250825" y="1196975"/>
            <a:ext cx="7777163" cy="2503488"/>
          </a:xfrm>
        </p:spPr>
      </p:pic>
      <p:sp>
        <p:nvSpPr>
          <p:cNvPr id="44036" name="Rectangle 4">
            <a:extLst>
              <a:ext uri="{FF2B5EF4-FFF2-40B4-BE49-F238E27FC236}">
                <a16:creationId xmlns:a16="http://schemas.microsoft.com/office/drawing/2014/main" id="{CAA5E0FD-1ADE-B6C2-1474-7664E8A70D81}"/>
              </a:ext>
            </a:extLst>
          </p:cNvPr>
          <p:cNvSpPr>
            <a:spLocks noGrp="1" noChangeArrowheads="1"/>
          </p:cNvSpPr>
          <p:nvPr>
            <p:ph type="body" sz="half" idx="2"/>
          </p:nvPr>
        </p:nvSpPr>
        <p:spPr>
          <a:xfrm>
            <a:off x="215900" y="4292600"/>
            <a:ext cx="6840538" cy="2376488"/>
          </a:xfrm>
          <a:solidFill>
            <a:schemeClr val="accent2">
              <a:lumMod val="20000"/>
              <a:lumOff val="80000"/>
            </a:schemeClr>
          </a:solidFill>
        </p:spPr>
        <p:txBody>
          <a:bodyPr/>
          <a:lstStyle/>
          <a:p>
            <a:pPr eaLnBrk="1" hangingPunct="1">
              <a:defRPr/>
            </a:pPr>
            <a:r>
              <a:rPr lang="en-US" sz="2600" dirty="0"/>
              <a:t>Conserved structure among different species.</a:t>
            </a:r>
          </a:p>
          <a:p>
            <a:pPr eaLnBrk="1" hangingPunct="1">
              <a:defRPr/>
            </a:pPr>
            <a:r>
              <a:rPr lang="en-US" sz="2600" dirty="0"/>
              <a:t>Conduct same function.</a:t>
            </a:r>
          </a:p>
          <a:p>
            <a:pPr marL="0" indent="0" eaLnBrk="1" hangingPunct="1">
              <a:buFont typeface="Wingdings" pitchFamily="2" charset="2"/>
              <a:buNone/>
              <a:defRPr/>
            </a:pPr>
            <a:r>
              <a:rPr lang="en-US" sz="2000" b="1" u="sng" dirty="0">
                <a:solidFill>
                  <a:srgbClr val="0000FF"/>
                </a:solidFill>
              </a:rPr>
              <a:t>PCNA</a:t>
            </a:r>
            <a:r>
              <a:rPr lang="en-US" sz="2000" dirty="0">
                <a:solidFill>
                  <a:srgbClr val="0000FF"/>
                </a:solidFill>
              </a:rPr>
              <a:t>: </a:t>
            </a:r>
            <a:r>
              <a:rPr lang="en-US" sz="1800" b="1" dirty="0">
                <a:solidFill>
                  <a:srgbClr val="0000FF"/>
                </a:solidFill>
              </a:rPr>
              <a:t>Proliferating cell nuclear antigen</a:t>
            </a:r>
            <a:r>
              <a:rPr lang="en-US" sz="1800" dirty="0">
                <a:solidFill>
                  <a:srgbClr val="0000FF"/>
                </a:solidFill>
              </a:rPr>
              <a:t> (</a:t>
            </a:r>
            <a:r>
              <a:rPr lang="en-US" sz="1800" b="1" dirty="0">
                <a:solidFill>
                  <a:srgbClr val="E12011"/>
                </a:solidFill>
              </a:rPr>
              <a:t>PCNA</a:t>
            </a:r>
            <a:r>
              <a:rPr lang="en-US" sz="1800" dirty="0">
                <a:solidFill>
                  <a:srgbClr val="0000FF"/>
                </a:solidFill>
              </a:rPr>
              <a:t>) </a:t>
            </a:r>
            <a:r>
              <a:rPr lang="en-US" sz="1800" dirty="0">
                <a:solidFill>
                  <a:srgbClr val="222222"/>
                </a:solidFill>
              </a:rPr>
              <a:t>which is a DNA clamp that acts as a </a:t>
            </a:r>
            <a:r>
              <a:rPr lang="en-US" sz="1800" dirty="0" err="1">
                <a:solidFill>
                  <a:srgbClr val="222222"/>
                </a:solidFill>
              </a:rPr>
              <a:t>processivity</a:t>
            </a:r>
            <a:r>
              <a:rPr lang="en-US" sz="1800" dirty="0">
                <a:solidFill>
                  <a:srgbClr val="222222"/>
                </a:solidFill>
              </a:rPr>
              <a:t> factor for DNA polymerase in eukaryotic cells and is essential for replication</a:t>
            </a:r>
            <a:r>
              <a:rPr lang="en-US" sz="2400" dirty="0">
                <a:solidFill>
                  <a:srgbClr val="222222"/>
                </a:solidFill>
              </a:rPr>
              <a:t>.</a:t>
            </a:r>
            <a:endParaRPr lang="en-US" sz="2400" dirty="0"/>
          </a:p>
        </p:txBody>
      </p:sp>
      <p:sp>
        <p:nvSpPr>
          <p:cNvPr id="86021" name="TextBox 5">
            <a:extLst>
              <a:ext uri="{FF2B5EF4-FFF2-40B4-BE49-F238E27FC236}">
                <a16:creationId xmlns:a16="http://schemas.microsoft.com/office/drawing/2014/main" id="{07994C7F-3A7F-2CD9-B8D2-9D5C806DF690}"/>
              </a:ext>
            </a:extLst>
          </p:cNvPr>
          <p:cNvSpPr txBox="1">
            <a:spLocks noChangeArrowheads="1"/>
          </p:cNvSpPr>
          <p:nvPr/>
        </p:nvSpPr>
        <p:spPr bwMode="auto">
          <a:xfrm>
            <a:off x="1014413" y="3803650"/>
            <a:ext cx="749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i="1"/>
              <a:t>E.coli</a:t>
            </a:r>
          </a:p>
        </p:txBody>
      </p:sp>
      <p:sp>
        <p:nvSpPr>
          <p:cNvPr id="86022" name="TextBox 6">
            <a:extLst>
              <a:ext uri="{FF2B5EF4-FFF2-40B4-BE49-F238E27FC236}">
                <a16:creationId xmlns:a16="http://schemas.microsoft.com/office/drawing/2014/main" id="{D6B5E726-929E-A714-3F15-3972892808B2}"/>
              </a:ext>
            </a:extLst>
          </p:cNvPr>
          <p:cNvSpPr txBox="1">
            <a:spLocks noChangeArrowheads="1"/>
          </p:cNvSpPr>
          <p:nvPr/>
        </p:nvSpPr>
        <p:spPr bwMode="auto">
          <a:xfrm>
            <a:off x="3635375" y="3706813"/>
            <a:ext cx="11604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T4 phage</a:t>
            </a:r>
          </a:p>
        </p:txBody>
      </p:sp>
      <p:sp>
        <p:nvSpPr>
          <p:cNvPr id="86023" name="TextBox 7">
            <a:extLst>
              <a:ext uri="{FF2B5EF4-FFF2-40B4-BE49-F238E27FC236}">
                <a16:creationId xmlns:a16="http://schemas.microsoft.com/office/drawing/2014/main" id="{0954CE3F-421A-DF63-623D-2A48E1B4A98D}"/>
              </a:ext>
            </a:extLst>
          </p:cNvPr>
          <p:cNvSpPr txBox="1">
            <a:spLocks noChangeArrowheads="1"/>
          </p:cNvSpPr>
          <p:nvPr/>
        </p:nvSpPr>
        <p:spPr bwMode="auto">
          <a:xfrm>
            <a:off x="6307138" y="3711575"/>
            <a:ext cx="1350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Euk. PCNA</a:t>
            </a:r>
          </a:p>
        </p:txBody>
      </p:sp>
      <p:pic>
        <p:nvPicPr>
          <p:cNvPr id="86024" name="Picture 9" descr="Image result">
            <a:extLst>
              <a:ext uri="{FF2B5EF4-FFF2-40B4-BE49-F238E27FC236}">
                <a16:creationId xmlns:a16="http://schemas.microsoft.com/office/drawing/2014/main" id="{81831E6F-740A-FADA-7DFB-C327A0C91E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3413" y="4471988"/>
            <a:ext cx="20447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F67C7F5-CA1B-4D9D-6618-EE51938C2804}"/>
              </a:ext>
            </a:extLst>
          </p:cNvPr>
          <p:cNvSpPr>
            <a:spLocks noGrp="1" noChangeArrowheads="1"/>
          </p:cNvSpPr>
          <p:nvPr>
            <p:ph type="title"/>
          </p:nvPr>
        </p:nvSpPr>
        <p:spPr>
          <a:xfrm>
            <a:off x="468313" y="188913"/>
            <a:ext cx="7426325" cy="941387"/>
          </a:xfrm>
        </p:spPr>
        <p:txBody>
          <a:bodyPr/>
          <a:lstStyle/>
          <a:p>
            <a:pPr eaLnBrk="1" hangingPunct="1"/>
            <a:r>
              <a:rPr lang="en-US" altLang="en-US" sz="3200">
                <a:solidFill>
                  <a:srgbClr val="0000FF"/>
                </a:solidFill>
              </a:rPr>
              <a:t>How can the clamp encircle DNA?</a:t>
            </a:r>
            <a:endParaRPr lang="en-GB" altLang="en-US" sz="3200">
              <a:solidFill>
                <a:srgbClr val="0000FF"/>
              </a:solidFill>
            </a:endParaRPr>
          </a:p>
        </p:txBody>
      </p:sp>
      <p:sp>
        <p:nvSpPr>
          <p:cNvPr id="88067" name="Rectangle 3">
            <a:extLst>
              <a:ext uri="{FF2B5EF4-FFF2-40B4-BE49-F238E27FC236}">
                <a16:creationId xmlns:a16="http://schemas.microsoft.com/office/drawing/2014/main" id="{0B68B5A1-777D-F482-1657-A7C56B7496E3}"/>
              </a:ext>
            </a:extLst>
          </p:cNvPr>
          <p:cNvSpPr>
            <a:spLocks noGrp="1" noChangeArrowheads="1"/>
          </p:cNvSpPr>
          <p:nvPr>
            <p:ph type="body" idx="1"/>
          </p:nvPr>
        </p:nvSpPr>
        <p:spPr>
          <a:xfrm>
            <a:off x="684213" y="1241425"/>
            <a:ext cx="7848600" cy="4851400"/>
          </a:xfrm>
        </p:spPr>
        <p:txBody>
          <a:bodyPr/>
          <a:lstStyle/>
          <a:p>
            <a:pPr eaLnBrk="1" hangingPunct="1">
              <a:lnSpc>
                <a:spcPct val="110000"/>
              </a:lnSpc>
            </a:pPr>
            <a:r>
              <a:rPr lang="en-US" altLang="en-US" sz="2800" dirty="0"/>
              <a:t>It must open up</a:t>
            </a:r>
          </a:p>
          <a:p>
            <a:pPr eaLnBrk="1" hangingPunct="1">
              <a:lnSpc>
                <a:spcPct val="110000"/>
              </a:lnSpc>
            </a:pPr>
            <a:r>
              <a:rPr lang="en-US" altLang="en-US" sz="2800" dirty="0"/>
              <a:t>Achieved by </a:t>
            </a:r>
            <a:r>
              <a:rPr lang="en-US" altLang="en-US" sz="2800" b="1" dirty="0">
                <a:solidFill>
                  <a:srgbClr val="FF0000"/>
                </a:solidFill>
              </a:rPr>
              <a:t>sliding clamp loader</a:t>
            </a:r>
          </a:p>
          <a:p>
            <a:pPr eaLnBrk="1" hangingPunct="1">
              <a:lnSpc>
                <a:spcPct val="110000"/>
              </a:lnSpc>
            </a:pPr>
            <a:r>
              <a:rPr lang="en-US" altLang="en-US" sz="2800" dirty="0"/>
              <a:t>These enzymes </a:t>
            </a:r>
            <a:r>
              <a:rPr lang="en-US" altLang="en-US" sz="2800" dirty="0">
                <a:solidFill>
                  <a:srgbClr val="0000FF"/>
                </a:solidFill>
              </a:rPr>
              <a:t>couple ATP binding and hydrolysis to the placement of the sliding clamp </a:t>
            </a:r>
            <a:r>
              <a:rPr lang="en-US" altLang="en-US" sz="2800" dirty="0"/>
              <a:t>around </a:t>
            </a:r>
            <a:r>
              <a:rPr lang="en-US" altLang="en-US" sz="2800" dirty="0" err="1"/>
              <a:t>primer:template</a:t>
            </a:r>
            <a:r>
              <a:rPr lang="en-US" altLang="en-US" sz="2800" dirty="0"/>
              <a:t>  junctions of the DNA</a:t>
            </a:r>
          </a:p>
          <a:p>
            <a:pPr eaLnBrk="1" hangingPunct="1">
              <a:lnSpc>
                <a:spcPct val="110000"/>
              </a:lnSpc>
            </a:pPr>
            <a:r>
              <a:rPr lang="en-US" altLang="en-US" sz="2800" dirty="0"/>
              <a:t>The clamp loader also </a:t>
            </a:r>
            <a:r>
              <a:rPr lang="en-US" altLang="en-US" sz="2800" dirty="0">
                <a:solidFill>
                  <a:srgbClr val="0000FF"/>
                </a:solidFill>
              </a:rPr>
              <a:t>removes sliding clamps </a:t>
            </a:r>
            <a:r>
              <a:rPr lang="en-US" altLang="en-US" sz="2800" dirty="0"/>
              <a:t>from DNA when they are no longer in use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21D28B-7665-949B-2F15-F73768E9D8F6}"/>
              </a:ext>
            </a:extLst>
          </p:cNvPr>
          <p:cNvSpPr txBox="1"/>
          <p:nvPr/>
        </p:nvSpPr>
        <p:spPr>
          <a:xfrm>
            <a:off x="179512" y="1088152"/>
            <a:ext cx="8640960" cy="5509200"/>
          </a:xfrm>
          <a:prstGeom prst="rect">
            <a:avLst/>
          </a:prstGeom>
          <a:noFill/>
        </p:spPr>
        <p:txBody>
          <a:bodyPr wrap="square">
            <a:spAutoFit/>
          </a:bodyPr>
          <a:lstStyle/>
          <a:p>
            <a:r>
              <a:rPr lang="en-US" sz="1600" dirty="0"/>
              <a:t>The </a:t>
            </a:r>
            <a:r>
              <a:rPr lang="en-US" sz="1600" b="1" dirty="0"/>
              <a:t>sliding clamp loader</a:t>
            </a:r>
            <a:r>
              <a:rPr lang="en-US" sz="1600" dirty="0"/>
              <a:t> is a protein complex involved in DNA replication, responsible for loading the sliding clamp onto DNA. The sliding clamp (such as PCNA in eukaryotes or the </a:t>
            </a:r>
            <a:r>
              <a:rPr lang="el-GR" sz="1600" dirty="0"/>
              <a:t>β-</a:t>
            </a:r>
            <a:r>
              <a:rPr lang="en-US" sz="1600" dirty="0"/>
              <a:t>clamp in prokaryotes) is a ring-shaped protein encircles DNA and holds the DNA polymerase in place, ensuring high processivity during replication.</a:t>
            </a:r>
          </a:p>
          <a:p>
            <a:r>
              <a:rPr lang="en-US" sz="1600" b="1" dirty="0"/>
              <a:t>How the Sliding Clamp Loader Works:</a:t>
            </a:r>
          </a:p>
          <a:p>
            <a:pPr>
              <a:buFont typeface="+mj-lt"/>
              <a:buAutoNum type="arabicPeriod"/>
            </a:pPr>
            <a:r>
              <a:rPr lang="en-US" sz="1600" b="1" dirty="0"/>
              <a:t>Recognition and Binding</a:t>
            </a:r>
            <a:r>
              <a:rPr lang="en-US" sz="1600" dirty="0"/>
              <a:t>: The sliding clamp loader recognizes the primer-template junction on the DNA where replication begins.</a:t>
            </a:r>
          </a:p>
          <a:p>
            <a:pPr>
              <a:buFont typeface="+mj-lt"/>
              <a:buAutoNum type="arabicPeriod"/>
            </a:pPr>
            <a:r>
              <a:rPr lang="en-US" sz="1600" b="1" dirty="0"/>
              <a:t>ATP Binding</a:t>
            </a:r>
            <a:r>
              <a:rPr lang="en-US" sz="1600" dirty="0"/>
              <a:t>: The clamp loader binds ATP, which induces a conformational change that opens the sliding clamp ring.</a:t>
            </a:r>
          </a:p>
          <a:p>
            <a:pPr>
              <a:buFont typeface="+mj-lt"/>
              <a:buAutoNum type="arabicPeriod"/>
            </a:pPr>
            <a:r>
              <a:rPr lang="en-US" sz="1600" b="1" dirty="0"/>
              <a:t>Clamp Loading</a:t>
            </a:r>
            <a:r>
              <a:rPr lang="en-US" sz="1600" dirty="0"/>
              <a:t>: The opened sliding clamp is loaded onto the DNA at the primer-template junction.</a:t>
            </a:r>
          </a:p>
          <a:p>
            <a:pPr>
              <a:buFont typeface="+mj-lt"/>
              <a:buAutoNum type="arabicPeriod"/>
            </a:pPr>
            <a:r>
              <a:rPr lang="en-US" sz="1600" b="1" dirty="0"/>
              <a:t>Clamp Closure and Release</a:t>
            </a:r>
            <a:r>
              <a:rPr lang="en-US" sz="1600" dirty="0"/>
              <a:t>: Once the clamp is properly positioned, ATP is hydrolyzed, closing the sliding clamp around the DNA and releasing the clamp loader.</a:t>
            </a:r>
          </a:p>
          <a:p>
            <a:r>
              <a:rPr lang="en-US" sz="1600" b="1" dirty="0"/>
              <a:t>Importance in DNA Replication:</a:t>
            </a:r>
          </a:p>
          <a:p>
            <a:pPr>
              <a:buFont typeface="Arial" panose="020B0604020202020204" pitchFamily="34" charset="0"/>
              <a:buChar char="•"/>
            </a:pPr>
            <a:r>
              <a:rPr lang="en-US" sz="1600" b="1" dirty="0"/>
              <a:t>Processivity</a:t>
            </a:r>
            <a:r>
              <a:rPr lang="en-US" sz="1600" dirty="0"/>
              <a:t>: The sliding clamp holds DNA polymerase onto the DNA strand, allowing it to synthesize long stretches of DNA without falling off.</a:t>
            </a:r>
          </a:p>
          <a:p>
            <a:pPr>
              <a:buFont typeface="Arial" panose="020B0604020202020204" pitchFamily="34" charset="0"/>
              <a:buChar char="•"/>
            </a:pPr>
            <a:r>
              <a:rPr lang="en-US" sz="1600" b="1" dirty="0"/>
              <a:t>Coordination</a:t>
            </a:r>
            <a:r>
              <a:rPr lang="en-US" sz="1600" dirty="0"/>
              <a:t>: The clamp loader is critical in coordinating replication on both the leading and lagging strands, particularly in loading new clamps for Okazaki fragment synthesis on the lagging strand.</a:t>
            </a:r>
          </a:p>
          <a:p>
            <a:r>
              <a:rPr lang="en-US" sz="1600" dirty="0"/>
              <a:t>In summary, the sliding clamp loader is essential for efficient and accurate DNA replication, making sure that DNA polymerase can replicate large sections of DNA continuously and with minimal errors.</a:t>
            </a:r>
          </a:p>
        </p:txBody>
      </p:sp>
    </p:spTree>
    <p:extLst>
      <p:ext uri="{BB962C8B-B14F-4D97-AF65-F5344CB8AC3E}">
        <p14:creationId xmlns:p14="http://schemas.microsoft.com/office/powerpoint/2010/main" val="5225057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6" descr="H:\Amjad Courses\BT451\Molecular Biology of the Gene images\watson_mm_jpg_chap008\chap008\08_UnFigure06.jpg">
            <a:extLst>
              <a:ext uri="{FF2B5EF4-FFF2-40B4-BE49-F238E27FC236}">
                <a16:creationId xmlns:a16="http://schemas.microsoft.com/office/drawing/2014/main" id="{9C90A82D-9746-784D-7C3E-AD938ADD0D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00" y="136525"/>
            <a:ext cx="7516813" cy="658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97B982C4-33B2-6A60-424B-DF8679447E4C}"/>
              </a:ext>
            </a:extLst>
          </p:cNvPr>
          <p:cNvSpPr>
            <a:spLocks noGrp="1" noChangeArrowheads="1"/>
          </p:cNvSpPr>
          <p:nvPr>
            <p:ph type="title"/>
          </p:nvPr>
        </p:nvSpPr>
        <p:spPr/>
        <p:txBody>
          <a:bodyPr/>
          <a:lstStyle/>
          <a:p>
            <a:pPr eaLnBrk="1" hangingPunct="1"/>
            <a:r>
              <a:rPr lang="en-US" altLang="en-US" u="sng">
                <a:solidFill>
                  <a:srgbClr val="FF0000"/>
                </a:solidFill>
              </a:rPr>
              <a:t>DNA synthesis at replication fork</a:t>
            </a:r>
            <a:endParaRPr lang="en-GB" altLang="en-US" u="sng">
              <a:solidFill>
                <a:srgbClr val="FF0000"/>
              </a:solidFill>
            </a:endParaRPr>
          </a:p>
        </p:txBody>
      </p:sp>
      <p:sp>
        <p:nvSpPr>
          <p:cNvPr id="92163" name="Rectangle 3">
            <a:extLst>
              <a:ext uri="{FF2B5EF4-FFF2-40B4-BE49-F238E27FC236}">
                <a16:creationId xmlns:a16="http://schemas.microsoft.com/office/drawing/2014/main" id="{F19F5A5A-6C42-6C2B-843E-7CDCA35A7540}"/>
              </a:ext>
            </a:extLst>
          </p:cNvPr>
          <p:cNvSpPr>
            <a:spLocks noGrp="1" noChangeArrowheads="1"/>
          </p:cNvSpPr>
          <p:nvPr>
            <p:ph type="body" idx="1"/>
          </p:nvPr>
        </p:nvSpPr>
        <p:spPr/>
        <p:txBody>
          <a:bodyPr/>
          <a:lstStyle/>
          <a:p>
            <a:pPr marL="571500" indent="-571500" eaLnBrk="1" hangingPunct="1"/>
            <a:r>
              <a:rPr lang="en-US" altLang="en-US" dirty="0"/>
              <a:t>Quick DNA synthesis is important to reduce risk of ssDNA breakage.</a:t>
            </a:r>
          </a:p>
          <a:p>
            <a:pPr marL="571500" indent="-571500" eaLnBrk="1" hangingPunct="1"/>
            <a:endParaRPr lang="en-US" altLang="en-US" dirty="0"/>
          </a:p>
          <a:p>
            <a:pPr marL="571500" indent="-571500" eaLnBrk="1" hangingPunct="1">
              <a:buFont typeface="Wingdings" pitchFamily="2" charset="2"/>
              <a:buNone/>
            </a:pPr>
            <a:r>
              <a:rPr lang="en-US" altLang="en-US" dirty="0"/>
              <a:t>			</a:t>
            </a:r>
            <a:endParaRPr lang="en-US" altLang="en-US" sz="4200" dirty="0">
              <a:sym typeface="Symbol" pitchFamily="2" charset="2"/>
            </a:endParaRPr>
          </a:p>
        </p:txBody>
      </p:sp>
      <p:pic>
        <p:nvPicPr>
          <p:cNvPr id="92164" name="Picture 4">
            <a:extLst>
              <a:ext uri="{FF2B5EF4-FFF2-40B4-BE49-F238E27FC236}">
                <a16:creationId xmlns:a16="http://schemas.microsoft.com/office/drawing/2014/main" id="{60BB9970-7243-4760-4D34-461D6007E7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3284538"/>
            <a:ext cx="6419850" cy="250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B41B930E-2175-DA5A-B7D3-08F7B1E15657}"/>
              </a:ext>
            </a:extLst>
          </p:cNvPr>
          <p:cNvSpPr>
            <a:spLocks noGrp="1" noChangeArrowheads="1"/>
          </p:cNvSpPr>
          <p:nvPr>
            <p:ph type="title"/>
          </p:nvPr>
        </p:nvSpPr>
        <p:spPr/>
        <p:txBody>
          <a:bodyPr/>
          <a:lstStyle/>
          <a:p>
            <a:pPr eaLnBrk="1" hangingPunct="1"/>
            <a:r>
              <a:rPr lang="en-US" altLang="en-US">
                <a:solidFill>
                  <a:srgbClr val="0000FF"/>
                </a:solidFill>
              </a:rPr>
              <a:t>DNA Synthesis at replication fork in Prokaryotes</a:t>
            </a:r>
            <a:endParaRPr lang="en-GB" altLang="en-US">
              <a:solidFill>
                <a:srgbClr val="0000FF"/>
              </a:solidFill>
            </a:endParaRPr>
          </a:p>
        </p:txBody>
      </p:sp>
      <p:sp>
        <p:nvSpPr>
          <p:cNvPr id="94211" name="Rectangle 3">
            <a:extLst>
              <a:ext uri="{FF2B5EF4-FFF2-40B4-BE49-F238E27FC236}">
                <a16:creationId xmlns:a16="http://schemas.microsoft.com/office/drawing/2014/main" id="{E2AE2FA6-1C00-5F80-F26C-8059D8D6E309}"/>
              </a:ext>
            </a:extLst>
          </p:cNvPr>
          <p:cNvSpPr>
            <a:spLocks noGrp="1" noChangeArrowheads="1"/>
          </p:cNvSpPr>
          <p:nvPr>
            <p:ph type="body" sz="half" idx="2"/>
          </p:nvPr>
        </p:nvSpPr>
        <p:spPr>
          <a:xfrm>
            <a:off x="250825" y="1557338"/>
            <a:ext cx="8229600" cy="1150937"/>
          </a:xfrm>
        </p:spPr>
        <p:txBody>
          <a:bodyPr/>
          <a:lstStyle/>
          <a:p>
            <a:pPr eaLnBrk="1" hangingPunct="1"/>
            <a:r>
              <a:rPr lang="en-US" altLang="en-US" sz="2600" dirty="0"/>
              <a:t>To coordinate the replication of both DNA strands, multiple DNA polymerases function at the replication fork</a:t>
            </a:r>
          </a:p>
          <a:p>
            <a:pPr eaLnBrk="1" hangingPunct="1"/>
            <a:r>
              <a:rPr lang="en-US" altLang="en-US" sz="2600" b="1" dirty="0">
                <a:solidFill>
                  <a:srgbClr val="FF0000"/>
                </a:solidFill>
              </a:rPr>
              <a:t>Holoenzyme</a:t>
            </a:r>
            <a:r>
              <a:rPr lang="en-US" altLang="en-US" sz="2600" dirty="0"/>
              <a:t> link the </a:t>
            </a:r>
            <a:r>
              <a:rPr lang="en-US" altLang="en-US" sz="2600" b="1" dirty="0">
                <a:solidFill>
                  <a:srgbClr val="FF0000"/>
                </a:solidFill>
              </a:rPr>
              <a:t>Three</a:t>
            </a:r>
            <a:r>
              <a:rPr lang="en-US" altLang="en-US" sz="2600" dirty="0"/>
              <a:t> polymerases</a:t>
            </a:r>
          </a:p>
        </p:txBody>
      </p:sp>
      <p:pic>
        <p:nvPicPr>
          <p:cNvPr id="94212" name="Picture 3" descr="09_22Figure-L">
            <a:extLst>
              <a:ext uri="{FF2B5EF4-FFF2-40B4-BE49-F238E27FC236}">
                <a16:creationId xmlns:a16="http://schemas.microsoft.com/office/drawing/2014/main" id="{F559D52D-E49E-778B-BDE3-7B9D75CBD0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548"/>
          <a:stretch>
            <a:fillRect/>
          </a:stretch>
        </p:blipFill>
        <p:spPr bwMode="auto">
          <a:xfrm>
            <a:off x="395536" y="3284538"/>
            <a:ext cx="4632325" cy="332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724DC3D6-86CB-F6AF-38A2-9EDB03F7C690}"/>
              </a:ext>
            </a:extLst>
          </p:cNvPr>
          <p:cNvSpPr txBox="1"/>
          <p:nvPr/>
        </p:nvSpPr>
        <p:spPr>
          <a:xfrm>
            <a:off x="5580112" y="3645024"/>
            <a:ext cx="3600400" cy="2031325"/>
          </a:xfrm>
          <a:prstGeom prst="rect">
            <a:avLst/>
          </a:prstGeom>
          <a:noFill/>
        </p:spPr>
        <p:txBody>
          <a:bodyPr wrap="square">
            <a:spAutoFit/>
          </a:bodyPr>
          <a:lstStyle/>
          <a:p>
            <a:pPr eaLnBrk="1" hangingPunct="1"/>
            <a:r>
              <a:rPr lang="en-US" altLang="en-US" sz="1400" dirty="0">
                <a:latin typeface="Arial" panose="020B0604020202020204" pitchFamily="34" charset="0"/>
                <a:cs typeface="Arial" panose="020B0604020202020204" pitchFamily="34" charset="0"/>
              </a:rPr>
              <a:t>In E.coli, the coordinate action of these polymerases is facilitated by physically linking them together in a large multiprotein complex called DNA Pol III holoenzyme</a:t>
            </a:r>
          </a:p>
          <a:p>
            <a:pPr eaLnBrk="1" hangingPunct="1"/>
            <a:r>
              <a:rPr lang="en-US" altLang="en-US" sz="1400" dirty="0">
                <a:latin typeface="Arial" panose="020B0604020202020204" pitchFamily="34" charset="0"/>
                <a:cs typeface="Arial" panose="020B0604020202020204" pitchFamily="34" charset="0"/>
              </a:rPr>
              <a:t>Holoenzyme is a general name for multiprotein complex in which the core enzyme activity is associated with additional components that enhance function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B2E4F0DF-DCF7-7027-143A-B9688F772CA2}"/>
              </a:ext>
            </a:extLst>
          </p:cNvPr>
          <p:cNvSpPr>
            <a:spLocks noGrp="1"/>
          </p:cNvSpPr>
          <p:nvPr>
            <p:ph type="title"/>
          </p:nvPr>
        </p:nvSpPr>
        <p:spPr>
          <a:xfrm>
            <a:off x="323850" y="2060575"/>
            <a:ext cx="8208963" cy="1655763"/>
          </a:xfrm>
        </p:spPr>
        <p:txBody>
          <a:bodyPr/>
          <a:lstStyle/>
          <a:p>
            <a:r>
              <a:rPr lang="en-US" altLang="en-US" sz="2800">
                <a:solidFill>
                  <a:srgbClr val="0000FF"/>
                </a:solidFill>
              </a:rPr>
              <a:t>How do two DNA polymerases remain </a:t>
            </a:r>
            <a:r>
              <a:rPr lang="en-US" altLang="en-US" sz="2800">
                <a:solidFill>
                  <a:srgbClr val="C00000"/>
                </a:solidFill>
              </a:rPr>
              <a:t>linked</a:t>
            </a:r>
            <a:r>
              <a:rPr lang="en-US" altLang="en-US" sz="2800">
                <a:solidFill>
                  <a:srgbClr val="0000FF"/>
                </a:solidFill>
              </a:rPr>
              <a:t> at the replication fork </a:t>
            </a:r>
            <a:r>
              <a:rPr lang="en-US" altLang="en-US" sz="2800">
                <a:solidFill>
                  <a:srgbClr val="C00000"/>
                </a:solidFill>
              </a:rPr>
              <a:t>while synthesizing </a:t>
            </a:r>
            <a:r>
              <a:rPr lang="en-US" altLang="en-US" sz="2800">
                <a:solidFill>
                  <a:srgbClr val="0000FF"/>
                </a:solidFill>
              </a:rPr>
              <a:t>DNA on both the leading and lagging template strands?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F83E2323-39BC-7461-03AC-96D275DDDF07}"/>
              </a:ext>
            </a:extLst>
          </p:cNvPr>
          <p:cNvSpPr txBox="1">
            <a:spLocks/>
          </p:cNvSpPr>
          <p:nvPr/>
        </p:nvSpPr>
        <p:spPr bwMode="auto">
          <a:xfrm>
            <a:off x="669925" y="836613"/>
            <a:ext cx="7543800" cy="1511300"/>
          </a:xfrm>
          <a:prstGeom prst="rect">
            <a:avLst/>
          </a:prstGeom>
          <a:noFill/>
          <a:ln w="9525">
            <a:noFill/>
            <a:miter lim="800000"/>
            <a:headEnd/>
            <a:tailEnd/>
          </a:ln>
        </p:spPr>
        <p:txBody>
          <a:bodyPr anchor="b"/>
          <a:lstStyle/>
          <a:p>
            <a:pPr>
              <a:defRPr/>
            </a:pPr>
            <a:r>
              <a:rPr lang="en-US" sz="3200" b="1" kern="0" dirty="0">
                <a:solidFill>
                  <a:srgbClr val="FF0000"/>
                </a:solidFill>
                <a:latin typeface="+mj-lt"/>
                <a:ea typeface="+mj-ea"/>
                <a:cs typeface="+mj-cs"/>
              </a:rPr>
              <a:t>Trombone</a:t>
            </a:r>
            <a:r>
              <a:rPr lang="en-US" sz="3200" b="1" kern="0" dirty="0">
                <a:solidFill>
                  <a:srgbClr val="9900CC"/>
                </a:solidFill>
                <a:latin typeface="+mj-lt"/>
                <a:ea typeface="+mj-ea"/>
                <a:cs typeface="+mj-cs"/>
              </a:rPr>
              <a:t> model for coordinating replication by two polymerases at the </a:t>
            </a:r>
            <a:r>
              <a:rPr lang="en-US" sz="3200" b="1" i="1" kern="0" dirty="0">
                <a:solidFill>
                  <a:srgbClr val="9900CC"/>
                </a:solidFill>
                <a:latin typeface="+mj-lt"/>
                <a:ea typeface="+mj-ea"/>
                <a:cs typeface="+mj-cs"/>
              </a:rPr>
              <a:t>E.coli</a:t>
            </a:r>
            <a:r>
              <a:rPr lang="en-US" sz="3200" b="1" kern="0" dirty="0">
                <a:solidFill>
                  <a:srgbClr val="9900CC"/>
                </a:solidFill>
                <a:latin typeface="+mj-lt"/>
                <a:ea typeface="+mj-ea"/>
                <a:cs typeface="+mj-cs"/>
              </a:rPr>
              <a:t> replication fork</a:t>
            </a:r>
            <a:endParaRPr lang="en-US" sz="3900" b="1" kern="0" dirty="0">
              <a:solidFill>
                <a:srgbClr val="9900CC"/>
              </a:solidFill>
              <a:latin typeface="+mj-lt"/>
              <a:ea typeface="+mj-ea"/>
              <a:cs typeface="+mj-cs"/>
            </a:endParaRPr>
          </a:p>
        </p:txBody>
      </p:sp>
      <p:pic>
        <p:nvPicPr>
          <p:cNvPr id="98307" name="Picture 5" descr="Image result for Trombone">
            <a:extLst>
              <a:ext uri="{FF2B5EF4-FFF2-40B4-BE49-F238E27FC236}">
                <a16:creationId xmlns:a16="http://schemas.microsoft.com/office/drawing/2014/main" id="{2F231140-EF59-079A-57C5-114AED6E3B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2492375"/>
            <a:ext cx="6934200" cy="390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ntent Placeholder 7">
            <a:extLst>
              <a:ext uri="{FF2B5EF4-FFF2-40B4-BE49-F238E27FC236}">
                <a16:creationId xmlns:a16="http://schemas.microsoft.com/office/drawing/2014/main" id="{061DE67D-24C5-AF03-ACF7-F0F8147103A1}"/>
              </a:ext>
            </a:extLst>
          </p:cNvPr>
          <p:cNvSpPr>
            <a:spLocks noGrp="1"/>
          </p:cNvSpPr>
          <p:nvPr>
            <p:ph idx="1"/>
          </p:nvPr>
        </p:nvSpPr>
        <p:spPr>
          <a:xfrm>
            <a:off x="322263" y="4365625"/>
            <a:ext cx="8821737" cy="2305050"/>
          </a:xfrm>
        </p:spPr>
        <p:txBody>
          <a:bodyPr/>
          <a:lstStyle/>
          <a:p>
            <a:r>
              <a:rPr lang="en-US" altLang="en-US" sz="2000" b="1"/>
              <a:t>The helicase travels on the lagging strand template in a 5’→3’ direction. </a:t>
            </a:r>
          </a:p>
          <a:p>
            <a:r>
              <a:rPr lang="en-US" altLang="en-US" sz="2000" b="1"/>
              <a:t>The DNA Pol III holoenzyme interacts with DNA helicase through the   tau-subunit, which also binds to both polymerases</a:t>
            </a:r>
          </a:p>
          <a:p>
            <a:r>
              <a:rPr lang="en-US" altLang="en-US" sz="2000" b="1"/>
              <a:t>One Pol III core is replicating the leading strand and the other core replicates the lagging strand</a:t>
            </a:r>
          </a:p>
          <a:p>
            <a:r>
              <a:rPr lang="en-US" altLang="en-US" sz="2000" b="1"/>
              <a:t>SSB coats the ssDNA regions of the DNA </a:t>
            </a:r>
          </a:p>
        </p:txBody>
      </p:sp>
      <p:pic>
        <p:nvPicPr>
          <p:cNvPr id="100355" name="Picture 3" descr="09_23FigureA-L">
            <a:extLst>
              <a:ext uri="{FF2B5EF4-FFF2-40B4-BE49-F238E27FC236}">
                <a16:creationId xmlns:a16="http://schemas.microsoft.com/office/drawing/2014/main" id="{43948A8E-C084-3F64-9ED1-3DACA65519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840"/>
          <a:stretch>
            <a:fillRect/>
          </a:stretch>
        </p:blipFill>
        <p:spPr bwMode="auto">
          <a:xfrm>
            <a:off x="1763713" y="115888"/>
            <a:ext cx="5329237" cy="409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Content Placeholder 6">
            <a:extLst>
              <a:ext uri="{FF2B5EF4-FFF2-40B4-BE49-F238E27FC236}">
                <a16:creationId xmlns:a16="http://schemas.microsoft.com/office/drawing/2014/main" id="{21418A35-9BD0-6A66-5015-C9E4D9B939A1}"/>
              </a:ext>
            </a:extLst>
          </p:cNvPr>
          <p:cNvSpPr>
            <a:spLocks noGrp="1"/>
          </p:cNvSpPr>
          <p:nvPr>
            <p:ph idx="1"/>
          </p:nvPr>
        </p:nvSpPr>
        <p:spPr>
          <a:xfrm>
            <a:off x="539750" y="5300663"/>
            <a:ext cx="8229600" cy="1368425"/>
          </a:xfrm>
        </p:spPr>
        <p:txBody>
          <a:bodyPr/>
          <a:lstStyle/>
          <a:p>
            <a:r>
              <a:rPr lang="en-US" altLang="en-US" sz="2800"/>
              <a:t>Periodically, DNA primase will associate with the DNA helicase and synthesize a new primer on the lagging-strand template</a:t>
            </a:r>
          </a:p>
        </p:txBody>
      </p:sp>
      <p:pic>
        <p:nvPicPr>
          <p:cNvPr id="102403" name="Picture 3" descr="09_23FigureB-L">
            <a:extLst>
              <a:ext uri="{FF2B5EF4-FFF2-40B4-BE49-F238E27FC236}">
                <a16:creationId xmlns:a16="http://schemas.microsoft.com/office/drawing/2014/main" id="{0B262251-1A83-7A44-3B03-C2C0E1A228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102"/>
          <a:stretch>
            <a:fillRect/>
          </a:stretch>
        </p:blipFill>
        <p:spPr bwMode="auto">
          <a:xfrm>
            <a:off x="1690688" y="549275"/>
            <a:ext cx="5489575" cy="453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Content Placeholder 2">
            <a:extLst>
              <a:ext uri="{FF2B5EF4-FFF2-40B4-BE49-F238E27FC236}">
                <a16:creationId xmlns:a16="http://schemas.microsoft.com/office/drawing/2014/main" id="{D54D40EA-367D-B5D7-F24E-40543E4BE6EF}"/>
              </a:ext>
            </a:extLst>
          </p:cNvPr>
          <p:cNvSpPr>
            <a:spLocks noGrp="1"/>
          </p:cNvSpPr>
          <p:nvPr>
            <p:ph idx="1"/>
          </p:nvPr>
        </p:nvSpPr>
        <p:spPr>
          <a:xfrm>
            <a:off x="539750" y="5489575"/>
            <a:ext cx="8353425" cy="1368425"/>
          </a:xfrm>
        </p:spPr>
        <p:txBody>
          <a:bodyPr/>
          <a:lstStyle/>
          <a:p>
            <a:r>
              <a:rPr lang="en-US" altLang="en-US" sz="2800"/>
              <a:t>When the lagging-strand DNA polymerase completes an Okazaki fragment, it is released from the sliding clamp and the DNA</a:t>
            </a:r>
          </a:p>
        </p:txBody>
      </p:sp>
      <p:pic>
        <p:nvPicPr>
          <p:cNvPr id="104451" name="Picture 3" descr="09_23FigureC-L">
            <a:extLst>
              <a:ext uri="{FF2B5EF4-FFF2-40B4-BE49-F238E27FC236}">
                <a16:creationId xmlns:a16="http://schemas.microsoft.com/office/drawing/2014/main" id="{714E0867-AFF6-253D-26C4-B6D1846595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692"/>
          <a:stretch>
            <a:fillRect/>
          </a:stretch>
        </p:blipFill>
        <p:spPr bwMode="auto">
          <a:xfrm>
            <a:off x="1835150" y="260350"/>
            <a:ext cx="5257800" cy="499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Content Placeholder 2">
            <a:extLst>
              <a:ext uri="{FF2B5EF4-FFF2-40B4-BE49-F238E27FC236}">
                <a16:creationId xmlns:a16="http://schemas.microsoft.com/office/drawing/2014/main" id="{003F0F09-7501-D3C4-1C37-6961C26FEDA4}"/>
              </a:ext>
            </a:extLst>
          </p:cNvPr>
          <p:cNvSpPr>
            <a:spLocks noGrp="1"/>
          </p:cNvSpPr>
          <p:nvPr>
            <p:ph idx="1"/>
          </p:nvPr>
        </p:nvSpPr>
        <p:spPr>
          <a:xfrm>
            <a:off x="827088" y="5229225"/>
            <a:ext cx="7993062" cy="1439863"/>
          </a:xfrm>
        </p:spPr>
        <p:txBody>
          <a:bodyPr/>
          <a:lstStyle/>
          <a:p>
            <a:r>
              <a:rPr lang="en-US" altLang="en-US" sz="2400"/>
              <a:t>The recently primed lagging-strand DNA is then a </a:t>
            </a:r>
            <a:r>
              <a:rPr lang="en-US" altLang="en-US" sz="2400">
                <a:solidFill>
                  <a:srgbClr val="0000FF"/>
                </a:solidFill>
              </a:rPr>
              <a:t>target of the clamp loader</a:t>
            </a:r>
            <a:r>
              <a:rPr lang="en-US" altLang="en-US" sz="2400"/>
              <a:t>, which assembles a new sliding clamp at the primer:template junction created by synthesizing  a new RNA primer</a:t>
            </a:r>
          </a:p>
        </p:txBody>
      </p:sp>
      <p:pic>
        <p:nvPicPr>
          <p:cNvPr id="106499" name="Picture 3" descr="09_23FigureD-L">
            <a:extLst>
              <a:ext uri="{FF2B5EF4-FFF2-40B4-BE49-F238E27FC236}">
                <a16:creationId xmlns:a16="http://schemas.microsoft.com/office/drawing/2014/main" id="{5FFDD208-CE22-1E80-D956-E32F743C00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460"/>
          <a:stretch>
            <a:fillRect/>
          </a:stretch>
        </p:blipFill>
        <p:spPr bwMode="auto">
          <a:xfrm>
            <a:off x="2051050" y="155575"/>
            <a:ext cx="5345113"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Content Placeholder 2">
            <a:extLst>
              <a:ext uri="{FF2B5EF4-FFF2-40B4-BE49-F238E27FC236}">
                <a16:creationId xmlns:a16="http://schemas.microsoft.com/office/drawing/2014/main" id="{AF00CA4C-E97E-CFF6-1F05-5FE3E1CF4650}"/>
              </a:ext>
            </a:extLst>
          </p:cNvPr>
          <p:cNvSpPr>
            <a:spLocks noGrp="1"/>
          </p:cNvSpPr>
          <p:nvPr>
            <p:ph idx="1"/>
          </p:nvPr>
        </p:nvSpPr>
        <p:spPr>
          <a:xfrm>
            <a:off x="358775" y="5562600"/>
            <a:ext cx="8785225" cy="1295400"/>
          </a:xfrm>
        </p:spPr>
        <p:txBody>
          <a:bodyPr/>
          <a:lstStyle/>
          <a:p>
            <a:r>
              <a:rPr lang="en-US" altLang="en-US" sz="2400"/>
              <a:t>The primer: template junction with its associated sliding clamp </a:t>
            </a:r>
            <a:r>
              <a:rPr lang="en-US" altLang="en-US" sz="2400">
                <a:solidFill>
                  <a:srgbClr val="0000FF"/>
                </a:solidFill>
              </a:rPr>
              <a:t>binds to the lagging strand DNA polymerase</a:t>
            </a:r>
            <a:r>
              <a:rPr lang="en-US" altLang="en-US" sz="2400"/>
              <a:t>, which initiates DNA synthesis on the next Okazaki fragment</a:t>
            </a:r>
          </a:p>
        </p:txBody>
      </p:sp>
      <p:pic>
        <p:nvPicPr>
          <p:cNvPr id="108547" name="Picture 3" descr="09_23FigureE-L">
            <a:extLst>
              <a:ext uri="{FF2B5EF4-FFF2-40B4-BE49-F238E27FC236}">
                <a16:creationId xmlns:a16="http://schemas.microsoft.com/office/drawing/2014/main" id="{DA08E6E8-1AAD-6681-BF46-5343AAEAE3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388"/>
          <a:stretch>
            <a:fillRect/>
          </a:stretch>
        </p:blipFill>
        <p:spPr bwMode="auto">
          <a:xfrm>
            <a:off x="1196975" y="188913"/>
            <a:ext cx="6038850" cy="529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a:extLst>
              <a:ext uri="{FF2B5EF4-FFF2-40B4-BE49-F238E27FC236}">
                <a16:creationId xmlns:a16="http://schemas.microsoft.com/office/drawing/2014/main" id="{1825CFA6-4554-8908-4B8A-6D68340B2994}"/>
              </a:ext>
            </a:extLst>
          </p:cNvPr>
          <p:cNvSpPr>
            <a:spLocks noChangeArrowheads="1"/>
          </p:cNvSpPr>
          <p:nvPr>
            <p:ph type="ctrTitle" idx="4294967295"/>
          </p:nvPr>
        </p:nvSpPr>
        <p:spPr>
          <a:xfrm>
            <a:off x="20638" y="0"/>
            <a:ext cx="6016625" cy="304800"/>
          </a:xfrm>
          <a:extLst>
            <a:ext uri="{91240B29-F687-4F45-9708-019B960494DF}">
              <a14:hiddenLine xmlns:a14="http://schemas.microsoft.com/office/drawing/2010/main" w="3175">
                <a:solidFill>
                  <a:srgbClr val="000000"/>
                </a:solidFill>
                <a:miter lim="800000"/>
                <a:headEnd/>
                <a:tailEnd/>
              </a14:hiddenLine>
            </a:ext>
          </a:extLst>
        </p:spPr>
        <p:txBody>
          <a:bodyPr/>
          <a:lstStyle/>
          <a:p>
            <a:pPr eaLnBrk="1" hangingPunct="1"/>
            <a:r>
              <a:rPr lang="en-US" altLang="en-US" sz="1200">
                <a:ea typeface="ＭＳ Ｐゴシック" panose="020B0600070205080204" pitchFamily="34" charset="-128"/>
              </a:rPr>
              <a:t>Figure 9-23</a:t>
            </a:r>
          </a:p>
        </p:txBody>
      </p:sp>
      <p:pic>
        <p:nvPicPr>
          <p:cNvPr id="110595" name="Picture 3" descr="09_23Figure-L">
            <a:extLst>
              <a:ext uri="{FF2B5EF4-FFF2-40B4-BE49-F238E27FC236}">
                <a16:creationId xmlns:a16="http://schemas.microsoft.com/office/drawing/2014/main" id="{B5FF1886-F7C6-568C-98CE-64B0C339E3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315"/>
          <a:stretch>
            <a:fillRect/>
          </a:stretch>
        </p:blipFill>
        <p:spPr bwMode="auto">
          <a:xfrm>
            <a:off x="1116013" y="63500"/>
            <a:ext cx="6480175" cy="676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2E94DB40-056A-E8BE-A2AD-264838847830}"/>
              </a:ext>
            </a:extLst>
          </p:cNvPr>
          <p:cNvSpPr>
            <a:spLocks noGrp="1" noChangeArrowheads="1"/>
          </p:cNvSpPr>
          <p:nvPr>
            <p:ph type="title"/>
          </p:nvPr>
        </p:nvSpPr>
        <p:spPr>
          <a:xfrm>
            <a:off x="457200" y="333375"/>
            <a:ext cx="7543800" cy="1084263"/>
          </a:xfrm>
        </p:spPr>
        <p:txBody>
          <a:bodyPr/>
          <a:lstStyle/>
          <a:p>
            <a:r>
              <a:rPr lang="en-US" altLang="en-US" sz="2800">
                <a:solidFill>
                  <a:srgbClr val="0000FF"/>
                </a:solidFill>
              </a:rPr>
              <a:t>Interactions between replication fork proteins from the </a:t>
            </a:r>
            <a:r>
              <a:rPr lang="en-US" altLang="en-US" sz="2800" i="1">
                <a:solidFill>
                  <a:srgbClr val="0000FF"/>
                </a:solidFill>
              </a:rPr>
              <a:t>E.coli</a:t>
            </a:r>
            <a:r>
              <a:rPr lang="en-US" altLang="en-US" sz="2800">
                <a:solidFill>
                  <a:srgbClr val="0000FF"/>
                </a:solidFill>
              </a:rPr>
              <a:t> replisome</a:t>
            </a:r>
          </a:p>
        </p:txBody>
      </p:sp>
      <p:sp>
        <p:nvSpPr>
          <p:cNvPr id="112643" name="Rectangle 3">
            <a:extLst>
              <a:ext uri="{FF2B5EF4-FFF2-40B4-BE49-F238E27FC236}">
                <a16:creationId xmlns:a16="http://schemas.microsoft.com/office/drawing/2014/main" id="{E3835D7C-6065-9F2F-B5D8-117EEFE03173}"/>
              </a:ext>
            </a:extLst>
          </p:cNvPr>
          <p:cNvSpPr>
            <a:spLocks noGrp="1" noChangeArrowheads="1"/>
          </p:cNvSpPr>
          <p:nvPr>
            <p:ph type="body" idx="1"/>
          </p:nvPr>
        </p:nvSpPr>
        <p:spPr>
          <a:xfrm>
            <a:off x="468313" y="1484313"/>
            <a:ext cx="8229600" cy="4949825"/>
          </a:xfrm>
        </p:spPr>
        <p:txBody>
          <a:bodyPr/>
          <a:lstStyle/>
          <a:p>
            <a:pPr>
              <a:lnSpc>
                <a:spcPct val="90000"/>
              </a:lnSpc>
            </a:pPr>
            <a:r>
              <a:rPr lang="en-US" altLang="en-US" sz="2600" u="sng"/>
              <a:t>DNA helicase and DNA Pol III holoenzyme</a:t>
            </a:r>
            <a:r>
              <a:rPr lang="en-US" altLang="en-US" sz="2600"/>
              <a:t> </a:t>
            </a:r>
          </a:p>
          <a:p>
            <a:pPr>
              <a:lnSpc>
                <a:spcPct val="90000"/>
              </a:lnSpc>
            </a:pPr>
            <a:r>
              <a:rPr lang="en-US" altLang="en-US" sz="2600"/>
              <a:t>Mediated by the</a:t>
            </a:r>
            <a:r>
              <a:rPr lang="en-US" altLang="en-US" sz="2600" b="1" u="sng">
                <a:solidFill>
                  <a:srgbClr val="0000FF"/>
                </a:solidFill>
              </a:rPr>
              <a:t> tau-subunit</a:t>
            </a:r>
            <a:r>
              <a:rPr lang="en-US" altLang="en-US" sz="2600" b="1"/>
              <a:t> </a:t>
            </a:r>
            <a:r>
              <a:rPr lang="en-US" altLang="en-US" sz="2600"/>
              <a:t>of the clamp loader component</a:t>
            </a:r>
          </a:p>
          <a:p>
            <a:pPr>
              <a:lnSpc>
                <a:spcPct val="90000"/>
              </a:lnSpc>
            </a:pPr>
            <a:r>
              <a:rPr lang="en-US" altLang="en-US" sz="2600"/>
              <a:t>This association stimulates the activity of the helicase by </a:t>
            </a:r>
            <a:r>
              <a:rPr lang="en-US" altLang="en-US" sz="2600" u="sng">
                <a:solidFill>
                  <a:srgbClr val="0000FF"/>
                </a:solidFill>
              </a:rPr>
              <a:t>increasing the helicase movement</a:t>
            </a:r>
            <a:r>
              <a:rPr lang="en-US" altLang="en-US" sz="2600"/>
              <a:t> by 10-fold</a:t>
            </a:r>
          </a:p>
          <a:p>
            <a:pPr>
              <a:lnSpc>
                <a:spcPct val="90000"/>
              </a:lnSpc>
            </a:pPr>
            <a:r>
              <a:rPr lang="en-US" altLang="en-US" sz="2600" u="sng"/>
              <a:t>DNA helicase and the primase</a:t>
            </a:r>
            <a:r>
              <a:rPr lang="en-US" altLang="en-US" sz="2600"/>
              <a:t>, weak but stimulated the primase activity by ~ 1000 fold</a:t>
            </a:r>
          </a:p>
          <a:p>
            <a:pPr>
              <a:lnSpc>
                <a:spcPct val="90000"/>
              </a:lnSpc>
            </a:pPr>
            <a:r>
              <a:rPr lang="en-US" altLang="en-US" sz="2600"/>
              <a:t>The primase is released after the primer is synthesized</a:t>
            </a:r>
          </a:p>
          <a:p>
            <a:pPr>
              <a:lnSpc>
                <a:spcPct val="90000"/>
              </a:lnSpc>
            </a:pPr>
            <a:r>
              <a:rPr lang="en-US" altLang="en-US" sz="2600"/>
              <a:t>The combination of all the proteins that function at the replication fork is called </a:t>
            </a:r>
            <a:r>
              <a:rPr lang="en-US" altLang="en-US" sz="2600" b="1">
                <a:solidFill>
                  <a:srgbClr val="0000FF"/>
                </a:solidFill>
              </a:rPr>
              <a:t>replisome</a:t>
            </a:r>
            <a:endParaRPr lang="en-US" altLang="en-US" sz="26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AA7DCD27-8FAD-D575-31A6-C004B6574878}"/>
              </a:ext>
            </a:extLst>
          </p:cNvPr>
          <p:cNvSpPr>
            <a:spLocks noGrp="1" noChangeArrowheads="1"/>
          </p:cNvSpPr>
          <p:nvPr>
            <p:ph type="title"/>
          </p:nvPr>
        </p:nvSpPr>
        <p:spPr/>
        <p:txBody>
          <a:bodyPr/>
          <a:lstStyle/>
          <a:p>
            <a:pPr eaLnBrk="1" hangingPunct="1"/>
            <a:r>
              <a:rPr lang="en-US" altLang="en-US" sz="2800">
                <a:solidFill>
                  <a:srgbClr val="0000FF"/>
                </a:solidFill>
              </a:rPr>
              <a:t>Binding of the DNA helicase to DNA Pol III holoenzyme stimulates the rate of DNA strand separation</a:t>
            </a:r>
            <a:endParaRPr lang="en-GB" altLang="en-US" sz="2800">
              <a:solidFill>
                <a:srgbClr val="0000FF"/>
              </a:solidFill>
            </a:endParaRPr>
          </a:p>
        </p:txBody>
      </p:sp>
      <p:pic>
        <p:nvPicPr>
          <p:cNvPr id="114691" name="Picture 3" descr="09_24Figure-L">
            <a:extLst>
              <a:ext uri="{FF2B5EF4-FFF2-40B4-BE49-F238E27FC236}">
                <a16:creationId xmlns:a16="http://schemas.microsoft.com/office/drawing/2014/main" id="{02069E39-863D-F440-8772-786EB4CBAC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778"/>
          <a:stretch>
            <a:fillRect/>
          </a:stretch>
        </p:blipFill>
        <p:spPr bwMode="auto">
          <a:xfrm>
            <a:off x="157163" y="1844675"/>
            <a:ext cx="8855075"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80981CE7-335D-51D1-9258-059B7B63518C}"/>
              </a:ext>
            </a:extLst>
          </p:cNvPr>
          <p:cNvSpPr>
            <a:spLocks noGrp="1" noChangeArrowheads="1"/>
          </p:cNvSpPr>
          <p:nvPr>
            <p:ph type="ctrTitle"/>
          </p:nvPr>
        </p:nvSpPr>
        <p:spPr>
          <a:xfrm>
            <a:off x="315913" y="1484313"/>
            <a:ext cx="6992937" cy="1116012"/>
          </a:xfrm>
        </p:spPr>
        <p:txBody>
          <a:bodyPr/>
          <a:lstStyle/>
          <a:p>
            <a:pPr algn="l" eaLnBrk="1" hangingPunct="1"/>
            <a:r>
              <a:rPr lang="en-US" altLang="en-US">
                <a:solidFill>
                  <a:srgbClr val="0000FF"/>
                </a:solidFill>
              </a:rPr>
              <a:t>Initiation of Replication</a:t>
            </a:r>
            <a:endParaRPr lang="en-GB" altLang="en-US">
              <a:solidFill>
                <a:srgbClr val="0000FF"/>
              </a:solidFill>
            </a:endParaRPr>
          </a:p>
        </p:txBody>
      </p:sp>
      <p:sp>
        <p:nvSpPr>
          <p:cNvPr id="116739" name="Rectangle 3">
            <a:extLst>
              <a:ext uri="{FF2B5EF4-FFF2-40B4-BE49-F238E27FC236}">
                <a16:creationId xmlns:a16="http://schemas.microsoft.com/office/drawing/2014/main" id="{FF1CFD1E-A402-1EF4-68C4-FCC093D47C1D}"/>
              </a:ext>
            </a:extLst>
          </p:cNvPr>
          <p:cNvSpPr>
            <a:spLocks noGrp="1" noChangeArrowheads="1"/>
          </p:cNvSpPr>
          <p:nvPr>
            <p:ph type="subTitle" idx="1"/>
          </p:nvPr>
        </p:nvSpPr>
        <p:spPr/>
        <p:txBody>
          <a:bodyPr/>
          <a:lstStyle/>
          <a:p>
            <a:pPr algn="l" eaLnBrk="1" hangingPunct="1"/>
            <a:r>
              <a:rPr lang="en-US" altLang="en-US" b="1">
                <a:solidFill>
                  <a:srgbClr val="FF0000"/>
                </a:solidFill>
              </a:rPr>
              <a:t>Origins of replication</a:t>
            </a:r>
            <a:r>
              <a:rPr lang="en-US" altLang="en-US"/>
              <a:t>: specific sites at which DNA unwinding and initiation of replication occur</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ECE8F45C-3DFB-E2D6-8807-6263F0C258E8}"/>
              </a:ext>
            </a:extLst>
          </p:cNvPr>
          <p:cNvSpPr>
            <a:spLocks noGrp="1" noChangeArrowheads="1"/>
          </p:cNvSpPr>
          <p:nvPr>
            <p:ph type="title"/>
          </p:nvPr>
        </p:nvSpPr>
        <p:spPr>
          <a:xfrm>
            <a:off x="468313" y="476250"/>
            <a:ext cx="7543800" cy="725488"/>
          </a:xfrm>
        </p:spPr>
        <p:txBody>
          <a:bodyPr/>
          <a:lstStyle/>
          <a:p>
            <a:pPr eaLnBrk="1" hangingPunct="1"/>
            <a:r>
              <a:rPr lang="en-US" altLang="en-US" sz="3000">
                <a:solidFill>
                  <a:srgbClr val="0000FF"/>
                </a:solidFill>
              </a:rPr>
              <a:t>Replicon Model of replication initiation</a:t>
            </a:r>
            <a:endParaRPr lang="en-GB" altLang="en-US" sz="3000">
              <a:solidFill>
                <a:srgbClr val="0000FF"/>
              </a:solidFill>
            </a:endParaRPr>
          </a:p>
        </p:txBody>
      </p:sp>
      <p:sp>
        <p:nvSpPr>
          <p:cNvPr id="118787" name="Rectangle 3">
            <a:extLst>
              <a:ext uri="{FF2B5EF4-FFF2-40B4-BE49-F238E27FC236}">
                <a16:creationId xmlns:a16="http://schemas.microsoft.com/office/drawing/2014/main" id="{639F97A5-00BE-F37F-29B7-A46627C710A3}"/>
              </a:ext>
            </a:extLst>
          </p:cNvPr>
          <p:cNvSpPr>
            <a:spLocks noGrp="1" noChangeArrowheads="1"/>
          </p:cNvSpPr>
          <p:nvPr>
            <p:ph type="body" idx="1"/>
          </p:nvPr>
        </p:nvSpPr>
        <p:spPr/>
        <p:txBody>
          <a:bodyPr/>
          <a:lstStyle/>
          <a:p>
            <a:pPr eaLnBrk="1" hangingPunct="1"/>
            <a:r>
              <a:rPr lang="en-US" altLang="en-US"/>
              <a:t>Model proposed by Jacob, Brenner and Cuzin in1963.</a:t>
            </a:r>
          </a:p>
          <a:p>
            <a:pPr eaLnBrk="1" hangingPunct="1"/>
            <a:r>
              <a:rPr lang="en-US" altLang="en-US">
                <a:solidFill>
                  <a:srgbClr val="0000FF"/>
                </a:solidFill>
              </a:rPr>
              <a:t>A replicon: </a:t>
            </a:r>
            <a:r>
              <a:rPr lang="en-US" altLang="en-US"/>
              <a:t>all DNA replicated from one origin of replication</a:t>
            </a:r>
          </a:p>
          <a:p>
            <a:pPr lvl="1" eaLnBrk="1" hangingPunct="1"/>
            <a:r>
              <a:rPr lang="en-US" altLang="en-US" i="1"/>
              <a:t>E.coli</a:t>
            </a:r>
            <a:r>
              <a:rPr lang="en-US" altLang="en-US"/>
              <a:t>: one replicon</a:t>
            </a:r>
          </a:p>
          <a:p>
            <a:pPr lvl="1" eaLnBrk="1" hangingPunct="1"/>
            <a:r>
              <a:rPr lang="en-US" altLang="en-US"/>
              <a:t>Eukaryotes : several replicons</a:t>
            </a:r>
            <a:endParaRPr lang="en-GB"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Picture 5">
            <a:extLst>
              <a:ext uri="{FF2B5EF4-FFF2-40B4-BE49-F238E27FC236}">
                <a16:creationId xmlns:a16="http://schemas.microsoft.com/office/drawing/2014/main" id="{F9DA0A84-3A95-EF2D-1482-A883CAC534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1988" y="333375"/>
            <a:ext cx="3402012"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5" name="Rectangle 2">
            <a:extLst>
              <a:ext uri="{FF2B5EF4-FFF2-40B4-BE49-F238E27FC236}">
                <a16:creationId xmlns:a16="http://schemas.microsoft.com/office/drawing/2014/main" id="{0AE9CB39-1552-F9DE-D565-96595DE7D706}"/>
              </a:ext>
            </a:extLst>
          </p:cNvPr>
          <p:cNvSpPr>
            <a:spLocks noGrp="1" noChangeArrowheads="1"/>
          </p:cNvSpPr>
          <p:nvPr>
            <p:ph type="title"/>
          </p:nvPr>
        </p:nvSpPr>
        <p:spPr>
          <a:xfrm>
            <a:off x="468313" y="157163"/>
            <a:ext cx="7543800" cy="750887"/>
          </a:xfrm>
        </p:spPr>
        <p:txBody>
          <a:bodyPr/>
          <a:lstStyle/>
          <a:p>
            <a:pPr eaLnBrk="1" hangingPunct="1"/>
            <a:r>
              <a:rPr lang="en-US" altLang="en-US">
                <a:solidFill>
                  <a:srgbClr val="0000FF"/>
                </a:solidFill>
              </a:rPr>
              <a:t>Replicon Model</a:t>
            </a:r>
            <a:endParaRPr lang="en-GB" altLang="en-US">
              <a:solidFill>
                <a:srgbClr val="0000FF"/>
              </a:solidFill>
            </a:endParaRPr>
          </a:p>
        </p:txBody>
      </p:sp>
      <p:sp>
        <p:nvSpPr>
          <p:cNvPr id="60420" name="Rectangle 3">
            <a:extLst>
              <a:ext uri="{FF2B5EF4-FFF2-40B4-BE49-F238E27FC236}">
                <a16:creationId xmlns:a16="http://schemas.microsoft.com/office/drawing/2014/main" id="{9AE12040-3261-851E-8CE9-C46ED2D1DA37}"/>
              </a:ext>
            </a:extLst>
          </p:cNvPr>
          <p:cNvSpPr>
            <a:spLocks noGrp="1" noChangeArrowheads="1"/>
          </p:cNvSpPr>
          <p:nvPr>
            <p:ph type="body" idx="1"/>
          </p:nvPr>
        </p:nvSpPr>
        <p:spPr>
          <a:xfrm>
            <a:off x="0" y="908050"/>
            <a:ext cx="5741988" cy="5832475"/>
          </a:xfrm>
        </p:spPr>
        <p:txBody>
          <a:bodyPr/>
          <a:lstStyle/>
          <a:p>
            <a:pPr marL="571500" indent="-571500" eaLnBrk="1" hangingPunct="1">
              <a:defRPr/>
            </a:pPr>
            <a:r>
              <a:rPr lang="en-US" sz="2400" dirty="0"/>
              <a:t>Proposed that two components are needed:</a:t>
            </a:r>
          </a:p>
          <a:p>
            <a:pPr marL="571500" indent="-339725" eaLnBrk="1" hangingPunct="1">
              <a:buFont typeface="Wingdings" pitchFamily="2" charset="2"/>
              <a:buAutoNum type="arabicPeriod"/>
              <a:defRPr/>
            </a:pPr>
            <a:r>
              <a:rPr lang="en-US" sz="2400" b="1" dirty="0">
                <a:solidFill>
                  <a:srgbClr val="0000FF"/>
                </a:solidFill>
              </a:rPr>
              <a:t>Replicator</a:t>
            </a:r>
            <a:r>
              <a:rPr lang="en-US" sz="2400" dirty="0"/>
              <a:t>: entire set of </a:t>
            </a:r>
            <a:r>
              <a:rPr lang="en-US" sz="2400" dirty="0" err="1"/>
              <a:t>cis</a:t>
            </a:r>
            <a:r>
              <a:rPr lang="en-US" sz="2400" dirty="0"/>
              <a:t>-acting DNA sequences that is sufficient to direct the initiation of replication (</a:t>
            </a:r>
            <a:r>
              <a:rPr lang="en-US" sz="2400" dirty="0" err="1"/>
              <a:t>ori</a:t>
            </a:r>
            <a:r>
              <a:rPr lang="en-US" sz="2400" dirty="0"/>
              <a:t> is part of the replicator)</a:t>
            </a:r>
          </a:p>
          <a:p>
            <a:pPr marL="571500" indent="-339725" eaLnBrk="1" hangingPunct="1">
              <a:buFont typeface="Wingdings" pitchFamily="2" charset="2"/>
              <a:buAutoNum type="arabicPeriod" startAt="2"/>
              <a:defRPr/>
            </a:pPr>
            <a:r>
              <a:rPr lang="en-US" sz="2400" b="1" dirty="0">
                <a:solidFill>
                  <a:srgbClr val="0000FF"/>
                </a:solidFill>
              </a:rPr>
              <a:t>Initiator</a:t>
            </a:r>
            <a:r>
              <a:rPr lang="en-US" sz="2400" dirty="0"/>
              <a:t>: a protein that specifically recognizes a DNA element in the replicator and activates the initiation of replication.</a:t>
            </a:r>
          </a:p>
          <a:p>
            <a:pPr marL="1025525" lvl="1" indent="-452438" eaLnBrk="1" hangingPunct="1">
              <a:defRPr/>
            </a:pPr>
            <a:r>
              <a:rPr lang="en-US" sz="2000" dirty="0"/>
              <a:t>All known initiator proteins are regulated by ATP binding and hydrolysis</a:t>
            </a:r>
          </a:p>
          <a:p>
            <a:pPr marL="1025525" lvl="1" indent="-452438" eaLnBrk="1" hangingPunct="1">
              <a:defRPr/>
            </a:pPr>
            <a:r>
              <a:rPr lang="en-US" sz="2000" dirty="0"/>
              <a:t>Initiator proteins select the sites that will become origins of replication although they recognize DNA using different DNA-binding motifs</a:t>
            </a:r>
          </a:p>
          <a:p>
            <a:pPr marL="571500" indent="-571500" eaLnBrk="1" hangingPunct="1">
              <a:buFont typeface="Wingdings" pitchFamily="2" charset="2"/>
              <a:buAutoNum type="arabicPeriod" startAt="2"/>
              <a:defRPr/>
            </a:pPr>
            <a:endParaRPr lang="en-US" sz="2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DD7E2CE0-993D-379D-BB3F-A59755BD9062}"/>
              </a:ext>
            </a:extLst>
          </p:cNvPr>
          <p:cNvSpPr>
            <a:spLocks noGrp="1" noChangeArrowheads="1"/>
          </p:cNvSpPr>
          <p:nvPr>
            <p:ph type="title"/>
          </p:nvPr>
        </p:nvSpPr>
        <p:spPr>
          <a:xfrm>
            <a:off x="539750" y="0"/>
            <a:ext cx="7543800" cy="752475"/>
          </a:xfrm>
        </p:spPr>
        <p:txBody>
          <a:bodyPr/>
          <a:lstStyle/>
          <a:p>
            <a:pPr algn="ctr" eaLnBrk="1" hangingPunct="1"/>
            <a:r>
              <a:rPr lang="en-US" altLang="en-US">
                <a:solidFill>
                  <a:srgbClr val="0000FF"/>
                </a:solidFill>
              </a:rPr>
              <a:t>Replicator</a:t>
            </a:r>
            <a:endParaRPr lang="en-GB" altLang="en-US">
              <a:solidFill>
                <a:srgbClr val="0000FF"/>
              </a:solidFill>
            </a:endParaRPr>
          </a:p>
        </p:txBody>
      </p:sp>
      <p:sp>
        <p:nvSpPr>
          <p:cNvPr id="122883" name="Content Placeholder 7">
            <a:extLst>
              <a:ext uri="{FF2B5EF4-FFF2-40B4-BE49-F238E27FC236}">
                <a16:creationId xmlns:a16="http://schemas.microsoft.com/office/drawing/2014/main" id="{1883C946-209F-8C42-DAB7-BA10035F37A4}"/>
              </a:ext>
            </a:extLst>
          </p:cNvPr>
          <p:cNvSpPr>
            <a:spLocks noGrp="1"/>
          </p:cNvSpPr>
          <p:nvPr>
            <p:ph idx="1"/>
          </p:nvPr>
        </p:nvSpPr>
        <p:spPr>
          <a:xfrm>
            <a:off x="323850" y="836613"/>
            <a:ext cx="8229600" cy="2232025"/>
          </a:xfrm>
        </p:spPr>
        <p:txBody>
          <a:bodyPr/>
          <a:lstStyle/>
          <a:p>
            <a:r>
              <a:rPr lang="en-US" altLang="en-US" sz="2000"/>
              <a:t>Replicators share two features:</a:t>
            </a:r>
          </a:p>
          <a:p>
            <a:pPr lvl="1"/>
            <a:r>
              <a:rPr lang="en-US" altLang="en-US" sz="2000"/>
              <a:t>A binding site for the initiator protein that nucleates the assembly of the replication initiation machinery</a:t>
            </a:r>
          </a:p>
          <a:p>
            <a:pPr lvl="1"/>
            <a:r>
              <a:rPr lang="en-US" altLang="en-US" sz="2000"/>
              <a:t>A stretch of AT-rich DNA that unwinds readily but not spontaneously</a:t>
            </a:r>
          </a:p>
          <a:p>
            <a:r>
              <a:rPr lang="en-US" altLang="en-US" sz="2000"/>
              <a:t>Replicators functioning in multicellular eukaryotes are not well understood</a:t>
            </a:r>
          </a:p>
        </p:txBody>
      </p:sp>
      <p:sp>
        <p:nvSpPr>
          <p:cNvPr id="122884" name="AutoShape 5">
            <a:extLst>
              <a:ext uri="{FF2B5EF4-FFF2-40B4-BE49-F238E27FC236}">
                <a16:creationId xmlns:a16="http://schemas.microsoft.com/office/drawing/2014/main" id="{E4DC95FB-DBC9-C81F-3F50-41DF996D10A8}"/>
              </a:ext>
            </a:extLst>
          </p:cNvPr>
          <p:cNvSpPr>
            <a:spLocks/>
          </p:cNvSpPr>
          <p:nvPr/>
        </p:nvSpPr>
        <p:spPr bwMode="auto">
          <a:xfrm rot="5400000">
            <a:off x="5994400" y="2068513"/>
            <a:ext cx="322263" cy="3887787"/>
          </a:xfrm>
          <a:prstGeom prst="rightBrace">
            <a:avLst>
              <a:gd name="adj1" fmla="val 100533"/>
              <a:gd name="adj2" fmla="val 50000"/>
            </a:avLst>
          </a:prstGeom>
          <a:noFill/>
          <a:ln w="31750">
            <a:solidFill>
              <a:srgbClr val="99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122885" name="AutoShape 6">
            <a:extLst>
              <a:ext uri="{FF2B5EF4-FFF2-40B4-BE49-F238E27FC236}">
                <a16:creationId xmlns:a16="http://schemas.microsoft.com/office/drawing/2014/main" id="{088A1FD5-7E1A-0E71-6906-3560A3E1EA65}"/>
              </a:ext>
            </a:extLst>
          </p:cNvPr>
          <p:cNvSpPr>
            <a:spLocks/>
          </p:cNvSpPr>
          <p:nvPr/>
        </p:nvSpPr>
        <p:spPr bwMode="auto">
          <a:xfrm rot="16200000" flipH="1">
            <a:off x="3347244" y="3347244"/>
            <a:ext cx="215900" cy="1223962"/>
          </a:xfrm>
          <a:prstGeom prst="rightBrace">
            <a:avLst>
              <a:gd name="adj1" fmla="val 47243"/>
              <a:gd name="adj2" fmla="val 50000"/>
            </a:avLst>
          </a:prstGeom>
          <a:noFill/>
          <a:ln w="31750">
            <a:solidFill>
              <a:srgbClr val="0099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122886" name="Text Box 7">
            <a:extLst>
              <a:ext uri="{FF2B5EF4-FFF2-40B4-BE49-F238E27FC236}">
                <a16:creationId xmlns:a16="http://schemas.microsoft.com/office/drawing/2014/main" id="{35D578D5-EEC7-F386-AE9B-A3C28489A10A}"/>
              </a:ext>
            </a:extLst>
          </p:cNvPr>
          <p:cNvSpPr txBox="1">
            <a:spLocks noChangeArrowheads="1"/>
          </p:cNvSpPr>
          <p:nvPr/>
        </p:nvSpPr>
        <p:spPr bwMode="auto">
          <a:xfrm>
            <a:off x="5219700" y="4271963"/>
            <a:ext cx="3889375" cy="369887"/>
          </a:xfrm>
          <a:prstGeom prst="rect">
            <a:avLst/>
          </a:prstGeom>
          <a:noFill/>
          <a:ln w="9525">
            <a:solidFill>
              <a:srgbClr val="99CC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dirty="0"/>
              <a:t>5 9-mer initiator (</a:t>
            </a:r>
            <a:r>
              <a:rPr lang="en-US" altLang="en-US" sz="1800" dirty="0" err="1"/>
              <a:t>DnaA</a:t>
            </a:r>
            <a:r>
              <a:rPr lang="en-US" altLang="en-US" sz="1800" dirty="0"/>
              <a:t>) binding site</a:t>
            </a:r>
            <a:endParaRPr lang="en-GB" altLang="en-US" sz="1800" dirty="0"/>
          </a:p>
        </p:txBody>
      </p:sp>
      <p:sp>
        <p:nvSpPr>
          <p:cNvPr id="122887" name="Text Box 8">
            <a:extLst>
              <a:ext uri="{FF2B5EF4-FFF2-40B4-BE49-F238E27FC236}">
                <a16:creationId xmlns:a16="http://schemas.microsoft.com/office/drawing/2014/main" id="{9A1BCD91-7BCB-8C6F-7CE1-1862AC50BD13}"/>
              </a:ext>
            </a:extLst>
          </p:cNvPr>
          <p:cNvSpPr txBox="1">
            <a:spLocks noChangeArrowheads="1"/>
          </p:cNvSpPr>
          <p:nvPr/>
        </p:nvSpPr>
        <p:spPr bwMode="auto">
          <a:xfrm>
            <a:off x="1619250" y="4271963"/>
            <a:ext cx="3311525" cy="376237"/>
          </a:xfrm>
          <a:prstGeom prst="rect">
            <a:avLst/>
          </a:prstGeom>
          <a:noFill/>
          <a:ln w="9525">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dirty="0"/>
              <a:t>3 13-mer AT rich sequence</a:t>
            </a:r>
            <a:endParaRPr lang="en-GB" altLang="en-US" sz="1800" dirty="0"/>
          </a:p>
        </p:txBody>
      </p:sp>
      <p:pic>
        <p:nvPicPr>
          <p:cNvPr id="122888" name="Picture 9">
            <a:extLst>
              <a:ext uri="{FF2B5EF4-FFF2-40B4-BE49-F238E27FC236}">
                <a16:creationId xmlns:a16="http://schemas.microsoft.com/office/drawing/2014/main" id="{0FD255F4-861D-4CE8-C28F-F11A2A0809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1172" b="27684"/>
          <a:stretch>
            <a:fillRect/>
          </a:stretch>
        </p:blipFill>
        <p:spPr bwMode="auto">
          <a:xfrm>
            <a:off x="2339975" y="3059113"/>
            <a:ext cx="600233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89" name="Picture 9" descr="H:\Amjad Courses\BT451\Molecular Biology of the Gene images\watson_mm_jpg_chap008\chap008\08_Figure25b.jpg">
            <a:extLst>
              <a:ext uri="{FF2B5EF4-FFF2-40B4-BE49-F238E27FC236}">
                <a16:creationId xmlns:a16="http://schemas.microsoft.com/office/drawing/2014/main" id="{DE2610C3-45FF-DD2C-CFC9-150BA6B088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5135563"/>
            <a:ext cx="2735262" cy="172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90" name="Picture 10" descr="H:\Amjad Courses\BT451\Molecular Biology of the Gene images\watson_mm_jpg_chap008\chap008\08_Figure25c.jpg">
            <a:extLst>
              <a:ext uri="{FF2B5EF4-FFF2-40B4-BE49-F238E27FC236}">
                <a16:creationId xmlns:a16="http://schemas.microsoft.com/office/drawing/2014/main" id="{F8E5D669-0B7F-9069-C5D7-B3BCAC598A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5738" y="5108575"/>
            <a:ext cx="3168650"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91" name="TextBox 10">
            <a:extLst>
              <a:ext uri="{FF2B5EF4-FFF2-40B4-BE49-F238E27FC236}">
                <a16:creationId xmlns:a16="http://schemas.microsoft.com/office/drawing/2014/main" id="{F3EC21F1-11E3-3941-C921-6CBB63D7BE12}"/>
              </a:ext>
            </a:extLst>
          </p:cNvPr>
          <p:cNvSpPr txBox="1">
            <a:spLocks noChangeArrowheads="1"/>
          </p:cNvSpPr>
          <p:nvPr/>
        </p:nvSpPr>
        <p:spPr bwMode="auto">
          <a:xfrm>
            <a:off x="4716463" y="4716463"/>
            <a:ext cx="9159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t>245 bp</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BA70E0F2-C40F-D1BA-EECA-83CAC7D20C30}"/>
              </a:ext>
            </a:extLst>
          </p:cNvPr>
          <p:cNvSpPr>
            <a:spLocks noGrp="1" noChangeArrowheads="1"/>
          </p:cNvSpPr>
          <p:nvPr>
            <p:ph type="title"/>
          </p:nvPr>
        </p:nvSpPr>
        <p:spPr>
          <a:xfrm>
            <a:off x="539750" y="188913"/>
            <a:ext cx="4762500" cy="796925"/>
          </a:xfrm>
        </p:spPr>
        <p:txBody>
          <a:bodyPr/>
          <a:lstStyle/>
          <a:p>
            <a:pPr eaLnBrk="1" hangingPunct="1"/>
            <a:r>
              <a:rPr lang="en-US" altLang="en-US">
                <a:solidFill>
                  <a:srgbClr val="0000FF"/>
                </a:solidFill>
              </a:rPr>
              <a:t>Initiator </a:t>
            </a:r>
            <a:endParaRPr lang="en-GB" altLang="en-US">
              <a:solidFill>
                <a:srgbClr val="0000FF"/>
              </a:solidFill>
            </a:endParaRPr>
          </a:p>
        </p:txBody>
      </p:sp>
      <p:sp>
        <p:nvSpPr>
          <p:cNvPr id="124931" name="Content Placeholder 3">
            <a:extLst>
              <a:ext uri="{FF2B5EF4-FFF2-40B4-BE49-F238E27FC236}">
                <a16:creationId xmlns:a16="http://schemas.microsoft.com/office/drawing/2014/main" id="{067678C0-8560-A15B-97A2-8F84AE7F6B53}"/>
              </a:ext>
            </a:extLst>
          </p:cNvPr>
          <p:cNvSpPr>
            <a:spLocks noGrp="1"/>
          </p:cNvSpPr>
          <p:nvPr>
            <p:ph sz="half" idx="1"/>
          </p:nvPr>
        </p:nvSpPr>
        <p:spPr>
          <a:xfrm>
            <a:off x="250825" y="1125538"/>
            <a:ext cx="4038600" cy="5327650"/>
          </a:xfrm>
        </p:spPr>
        <p:txBody>
          <a:bodyPr/>
          <a:lstStyle/>
          <a:p>
            <a:r>
              <a:rPr lang="en-US" altLang="en-US" sz="2000"/>
              <a:t>Bind a specific DNA sequence within the replicator</a:t>
            </a:r>
          </a:p>
          <a:p>
            <a:r>
              <a:rPr lang="en-US" altLang="en-US" sz="2000"/>
              <a:t>Interact with additional factors required for replication initiation</a:t>
            </a:r>
          </a:p>
          <a:p>
            <a:r>
              <a:rPr lang="en-US" altLang="en-US" sz="2000"/>
              <a:t>Some but all </a:t>
            </a:r>
            <a:r>
              <a:rPr lang="en-US" altLang="en-US" sz="2000" u="sng"/>
              <a:t>distort or unwind</a:t>
            </a:r>
            <a:r>
              <a:rPr lang="en-US" altLang="en-US" sz="2000"/>
              <a:t> a region of DNA adjacent to their binding site to facilitate the initial opening of the DNA duplex</a:t>
            </a:r>
          </a:p>
          <a:p>
            <a:r>
              <a:rPr lang="en-US" altLang="en-US" sz="2000"/>
              <a:t>In eukaryotes, the initiator is 6-protein complex called </a:t>
            </a:r>
            <a:r>
              <a:rPr lang="en-US" altLang="en-US" sz="2000">
                <a:solidFill>
                  <a:srgbClr val="0000FF"/>
                </a:solidFill>
              </a:rPr>
              <a:t>origin recognition complex (ORC).</a:t>
            </a:r>
          </a:p>
          <a:p>
            <a:r>
              <a:rPr lang="en-US" altLang="en-US" sz="2000"/>
              <a:t>It recognizes a conserved  A element as well as less conserved B1 element </a:t>
            </a:r>
          </a:p>
          <a:p>
            <a:endParaRPr lang="en-US" altLang="en-US" sz="2400"/>
          </a:p>
        </p:txBody>
      </p:sp>
      <p:sp>
        <p:nvSpPr>
          <p:cNvPr id="124932" name="Content Placeholder 4">
            <a:extLst>
              <a:ext uri="{FF2B5EF4-FFF2-40B4-BE49-F238E27FC236}">
                <a16:creationId xmlns:a16="http://schemas.microsoft.com/office/drawing/2014/main" id="{8937C56D-F910-1AF6-5A3C-B921551620E7}"/>
              </a:ext>
            </a:extLst>
          </p:cNvPr>
          <p:cNvSpPr>
            <a:spLocks noGrp="1"/>
          </p:cNvSpPr>
          <p:nvPr>
            <p:ph sz="half" idx="2"/>
          </p:nvPr>
        </p:nvSpPr>
        <p:spPr/>
        <p:txBody>
          <a:bodyPr/>
          <a:lstStyle/>
          <a:p>
            <a:endParaRPr lang="en-US" altLang="en-US"/>
          </a:p>
        </p:txBody>
      </p:sp>
      <p:pic>
        <p:nvPicPr>
          <p:cNvPr id="124933" name="Picture 6">
            <a:extLst>
              <a:ext uri="{FF2B5EF4-FFF2-40B4-BE49-F238E27FC236}">
                <a16:creationId xmlns:a16="http://schemas.microsoft.com/office/drawing/2014/main" id="{D0F0C832-3FA5-9571-BD4F-D1214FA699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1175" y="333375"/>
            <a:ext cx="4822825" cy="609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06C57B15-6796-D612-0C57-68A31094754C}"/>
              </a:ext>
            </a:extLst>
          </p:cNvPr>
          <p:cNvSpPr>
            <a:spLocks noGrp="1" noChangeArrowheads="1"/>
          </p:cNvSpPr>
          <p:nvPr>
            <p:ph type="title"/>
          </p:nvPr>
        </p:nvSpPr>
        <p:spPr>
          <a:xfrm>
            <a:off x="395288" y="0"/>
            <a:ext cx="7489825" cy="549275"/>
          </a:xfrm>
        </p:spPr>
        <p:txBody>
          <a:bodyPr/>
          <a:lstStyle/>
          <a:p>
            <a:pPr eaLnBrk="1" hangingPunct="1"/>
            <a:r>
              <a:rPr lang="en-US" altLang="en-US" sz="2800">
                <a:solidFill>
                  <a:srgbClr val="0000FF"/>
                </a:solidFill>
              </a:rPr>
              <a:t>Model for Initiation of Replication in </a:t>
            </a:r>
            <a:r>
              <a:rPr lang="en-US" altLang="en-US" sz="2800" i="1">
                <a:solidFill>
                  <a:srgbClr val="0000FF"/>
                </a:solidFill>
              </a:rPr>
              <a:t>E.coli</a:t>
            </a:r>
            <a:endParaRPr lang="en-GB" altLang="en-US" sz="2800" i="1">
              <a:solidFill>
                <a:srgbClr val="0000FF"/>
              </a:solidFill>
            </a:endParaRPr>
          </a:p>
        </p:txBody>
      </p:sp>
      <p:pic>
        <p:nvPicPr>
          <p:cNvPr id="126979" name="Picture 5">
            <a:extLst>
              <a:ext uri="{FF2B5EF4-FFF2-40B4-BE49-F238E27FC236}">
                <a16:creationId xmlns:a16="http://schemas.microsoft.com/office/drawing/2014/main" id="{89FB73CD-9978-77C2-27E4-07BB601E6F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9164" b="7150"/>
          <a:stretch>
            <a:fillRect/>
          </a:stretch>
        </p:blipFill>
        <p:spPr bwMode="auto">
          <a:xfrm>
            <a:off x="4103688" y="476250"/>
            <a:ext cx="5076825" cy="638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5">
            <a:extLst>
              <a:ext uri="{FF2B5EF4-FFF2-40B4-BE49-F238E27FC236}">
                <a16:creationId xmlns:a16="http://schemas.microsoft.com/office/drawing/2014/main" id="{0AC255AF-15F6-2B54-F7F1-694526F32FF0}"/>
              </a:ext>
            </a:extLst>
          </p:cNvPr>
          <p:cNvSpPr>
            <a:spLocks noGrp="1"/>
          </p:cNvSpPr>
          <p:nvPr>
            <p:ph sz="half" idx="1"/>
          </p:nvPr>
        </p:nvSpPr>
        <p:spPr>
          <a:xfrm>
            <a:off x="144463" y="765175"/>
            <a:ext cx="3922712" cy="647700"/>
          </a:xfrm>
        </p:spPr>
        <p:txBody>
          <a:bodyPr/>
          <a:lstStyle/>
          <a:p>
            <a:pPr marL="0" indent="0">
              <a:buFont typeface="Wingdings" pitchFamily="2" charset="2"/>
              <a:buNone/>
              <a:defRPr/>
            </a:pPr>
            <a:r>
              <a:rPr lang="en-US" sz="1600" dirty="0"/>
              <a:t>Multiple DnaA.ATP proteins </a:t>
            </a:r>
            <a:r>
              <a:rPr lang="en-US" sz="1600" dirty="0">
                <a:solidFill>
                  <a:srgbClr val="0000FF"/>
                </a:solidFill>
              </a:rPr>
              <a:t>bind to the repeated 9-mer sequences </a:t>
            </a:r>
            <a:r>
              <a:rPr lang="en-US" sz="1600" dirty="0"/>
              <a:t>within </a:t>
            </a:r>
            <a:r>
              <a:rPr lang="en-US" sz="1600" dirty="0" err="1"/>
              <a:t>oriC</a:t>
            </a:r>
            <a:endParaRPr lang="en-US" sz="1600" dirty="0"/>
          </a:p>
          <a:p>
            <a:pPr>
              <a:defRPr/>
            </a:pPr>
            <a:endParaRPr lang="en-US" sz="1600" dirty="0"/>
          </a:p>
        </p:txBody>
      </p:sp>
      <p:sp>
        <p:nvSpPr>
          <p:cNvPr id="7" name="Content Placeholder 5">
            <a:extLst>
              <a:ext uri="{FF2B5EF4-FFF2-40B4-BE49-F238E27FC236}">
                <a16:creationId xmlns:a16="http://schemas.microsoft.com/office/drawing/2014/main" id="{9AF3A52D-9ACF-092F-BF38-D409FEA983FF}"/>
              </a:ext>
            </a:extLst>
          </p:cNvPr>
          <p:cNvSpPr txBox="1">
            <a:spLocks/>
          </p:cNvSpPr>
          <p:nvPr/>
        </p:nvSpPr>
        <p:spPr bwMode="auto">
          <a:xfrm>
            <a:off x="250825" y="1844675"/>
            <a:ext cx="4105275" cy="792163"/>
          </a:xfrm>
          <a:prstGeom prst="rect">
            <a:avLst/>
          </a:prstGeom>
          <a:noFill/>
          <a:ln w="9525">
            <a:noFill/>
            <a:miter lim="800000"/>
            <a:headEnd/>
            <a:tailEnd/>
          </a:ln>
        </p:spPr>
        <p:txBody>
          <a:bodyPr/>
          <a:lstStyle/>
          <a:p>
            <a:pPr>
              <a:spcBef>
                <a:spcPct val="20000"/>
              </a:spcBef>
              <a:buClr>
                <a:schemeClr val="tx2"/>
              </a:buClr>
              <a:buSzPct val="70000"/>
              <a:buFont typeface="Wingdings" pitchFamily="2" charset="2"/>
              <a:buNone/>
              <a:defRPr/>
            </a:pPr>
            <a:r>
              <a:rPr lang="en-US" sz="1600" kern="0" dirty="0">
                <a:latin typeface="+mn-lt"/>
                <a:cs typeface="+mn-cs"/>
              </a:rPr>
              <a:t>Binding of DnaA.ATP to these sequences leads to </a:t>
            </a:r>
            <a:r>
              <a:rPr lang="en-US" sz="1600" kern="0" dirty="0">
                <a:solidFill>
                  <a:srgbClr val="0000FF"/>
                </a:solidFill>
                <a:latin typeface="+mn-lt"/>
                <a:cs typeface="+mn-cs"/>
              </a:rPr>
              <a:t>strand separation </a:t>
            </a:r>
            <a:r>
              <a:rPr lang="en-US" sz="1600" kern="0" dirty="0">
                <a:latin typeface="+mn-lt"/>
                <a:cs typeface="+mn-cs"/>
              </a:rPr>
              <a:t>within the 13-mer repeats</a:t>
            </a:r>
          </a:p>
          <a:p>
            <a:pPr marL="342900" indent="-342900">
              <a:spcBef>
                <a:spcPct val="20000"/>
              </a:spcBef>
              <a:buClr>
                <a:schemeClr val="tx2"/>
              </a:buClr>
              <a:buSzPct val="70000"/>
              <a:buFont typeface="Wingdings" pitchFamily="2" charset="2"/>
              <a:buChar char="l"/>
              <a:defRPr/>
            </a:pPr>
            <a:endParaRPr lang="en-US" sz="1600" kern="0" dirty="0">
              <a:latin typeface="+mn-lt"/>
              <a:cs typeface="+mn-cs"/>
            </a:endParaRPr>
          </a:p>
        </p:txBody>
      </p:sp>
      <p:sp>
        <p:nvSpPr>
          <p:cNvPr id="8" name="Content Placeholder 5">
            <a:extLst>
              <a:ext uri="{FF2B5EF4-FFF2-40B4-BE49-F238E27FC236}">
                <a16:creationId xmlns:a16="http://schemas.microsoft.com/office/drawing/2014/main" id="{BEDCDB68-7E9C-897D-51EC-8F88485429C1}"/>
              </a:ext>
            </a:extLst>
          </p:cNvPr>
          <p:cNvSpPr txBox="1">
            <a:spLocks/>
          </p:cNvSpPr>
          <p:nvPr/>
        </p:nvSpPr>
        <p:spPr bwMode="auto">
          <a:xfrm>
            <a:off x="250825" y="2924175"/>
            <a:ext cx="4105275" cy="792163"/>
          </a:xfrm>
          <a:prstGeom prst="rect">
            <a:avLst/>
          </a:prstGeom>
          <a:noFill/>
          <a:ln w="9525">
            <a:noFill/>
            <a:miter lim="800000"/>
            <a:headEnd/>
            <a:tailEnd/>
          </a:ln>
        </p:spPr>
        <p:txBody>
          <a:bodyPr/>
          <a:lstStyle/>
          <a:p>
            <a:pPr>
              <a:spcBef>
                <a:spcPct val="20000"/>
              </a:spcBef>
              <a:buClr>
                <a:schemeClr val="tx2"/>
              </a:buClr>
              <a:buSzPct val="70000"/>
              <a:buFont typeface="Wingdings" pitchFamily="2" charset="2"/>
              <a:buNone/>
              <a:defRPr/>
            </a:pPr>
            <a:r>
              <a:rPr lang="en-US" sz="1600" kern="0" dirty="0">
                <a:latin typeface="+mn-lt"/>
                <a:cs typeface="+mn-cs"/>
              </a:rPr>
              <a:t>DNA helicase (</a:t>
            </a:r>
            <a:r>
              <a:rPr lang="en-US" sz="1600" kern="0" dirty="0" err="1">
                <a:latin typeface="+mn-lt"/>
                <a:cs typeface="+mn-cs"/>
              </a:rPr>
              <a:t>DnaB</a:t>
            </a:r>
            <a:r>
              <a:rPr lang="en-US" sz="1600" kern="0" dirty="0">
                <a:latin typeface="+mn-lt"/>
                <a:cs typeface="+mn-cs"/>
              </a:rPr>
              <a:t>) and the DNA helicase loader (</a:t>
            </a:r>
            <a:r>
              <a:rPr lang="en-US" sz="1600" kern="0" dirty="0" err="1">
                <a:latin typeface="+mn-lt"/>
                <a:cs typeface="+mn-cs"/>
              </a:rPr>
              <a:t>DnaC</a:t>
            </a:r>
            <a:r>
              <a:rPr lang="en-US" sz="1600" kern="0" dirty="0">
                <a:latin typeface="+mn-lt"/>
                <a:cs typeface="+mn-cs"/>
              </a:rPr>
              <a:t>) </a:t>
            </a:r>
            <a:r>
              <a:rPr lang="en-US" sz="1600" kern="0" dirty="0">
                <a:solidFill>
                  <a:srgbClr val="0000FF"/>
                </a:solidFill>
                <a:latin typeface="+mn-lt"/>
                <a:cs typeface="+mn-cs"/>
              </a:rPr>
              <a:t>associate with the </a:t>
            </a:r>
            <a:r>
              <a:rPr lang="en-US" sz="1600" kern="0" dirty="0" err="1">
                <a:solidFill>
                  <a:srgbClr val="0000FF"/>
                </a:solidFill>
                <a:latin typeface="+mn-lt"/>
                <a:cs typeface="+mn-cs"/>
              </a:rPr>
              <a:t>DnaA</a:t>
            </a:r>
            <a:r>
              <a:rPr lang="en-US" sz="1600" kern="0" dirty="0">
                <a:solidFill>
                  <a:srgbClr val="0000FF"/>
                </a:solidFill>
                <a:latin typeface="+mn-lt"/>
                <a:cs typeface="+mn-cs"/>
              </a:rPr>
              <a:t>-bound origin</a:t>
            </a:r>
          </a:p>
          <a:p>
            <a:pPr marL="342900" indent="-342900">
              <a:spcBef>
                <a:spcPct val="20000"/>
              </a:spcBef>
              <a:buClr>
                <a:schemeClr val="tx2"/>
              </a:buClr>
              <a:buSzPct val="70000"/>
              <a:buFont typeface="Wingdings" pitchFamily="2" charset="2"/>
              <a:buChar char="l"/>
              <a:defRPr/>
            </a:pPr>
            <a:endParaRPr lang="en-US" sz="1600" kern="0" dirty="0">
              <a:latin typeface="+mn-lt"/>
              <a:cs typeface="+mn-cs"/>
            </a:endParaRPr>
          </a:p>
        </p:txBody>
      </p:sp>
      <p:sp>
        <p:nvSpPr>
          <p:cNvPr id="9" name="Content Placeholder 5">
            <a:extLst>
              <a:ext uri="{FF2B5EF4-FFF2-40B4-BE49-F238E27FC236}">
                <a16:creationId xmlns:a16="http://schemas.microsoft.com/office/drawing/2014/main" id="{C7B4B694-A0DD-D44F-F14A-988D63AC3EE7}"/>
              </a:ext>
            </a:extLst>
          </p:cNvPr>
          <p:cNvSpPr txBox="1">
            <a:spLocks/>
          </p:cNvSpPr>
          <p:nvPr/>
        </p:nvSpPr>
        <p:spPr bwMode="auto">
          <a:xfrm>
            <a:off x="107950" y="4005263"/>
            <a:ext cx="4103688" cy="1584325"/>
          </a:xfrm>
          <a:prstGeom prst="rect">
            <a:avLst/>
          </a:prstGeom>
          <a:noFill/>
          <a:ln w="9525">
            <a:noFill/>
            <a:miter lim="800000"/>
            <a:headEnd/>
            <a:tailEnd/>
          </a:ln>
        </p:spPr>
        <p:txBody>
          <a:bodyPr/>
          <a:lstStyle/>
          <a:p>
            <a:pPr>
              <a:spcBef>
                <a:spcPct val="20000"/>
              </a:spcBef>
              <a:buClr>
                <a:schemeClr val="tx2"/>
              </a:buClr>
              <a:buSzPct val="70000"/>
              <a:buFont typeface="Wingdings" pitchFamily="2" charset="2"/>
              <a:buNone/>
              <a:defRPr/>
            </a:pPr>
            <a:r>
              <a:rPr lang="en-US" sz="1600" kern="0" dirty="0">
                <a:latin typeface="+mn-lt"/>
                <a:cs typeface="+mn-cs"/>
              </a:rPr>
              <a:t>Helicase loader catalyze the </a:t>
            </a:r>
            <a:r>
              <a:rPr lang="en-US" sz="1600" kern="0" dirty="0">
                <a:solidFill>
                  <a:srgbClr val="0000FF"/>
                </a:solidFill>
                <a:latin typeface="+mn-lt"/>
                <a:cs typeface="+mn-cs"/>
              </a:rPr>
              <a:t>opening of the helicase ring and placement of the ring around the ssDNA </a:t>
            </a:r>
            <a:r>
              <a:rPr lang="en-US" sz="1600" kern="0" dirty="0">
                <a:latin typeface="+mn-lt"/>
                <a:cs typeface="+mn-cs"/>
              </a:rPr>
              <a:t>at origin. Loading of the </a:t>
            </a:r>
            <a:r>
              <a:rPr lang="en-US" sz="1600" kern="0" dirty="0">
                <a:solidFill>
                  <a:srgbClr val="0000FF"/>
                </a:solidFill>
                <a:latin typeface="+mn-lt"/>
                <a:cs typeface="+mn-cs"/>
              </a:rPr>
              <a:t>helicase leads to the dissociation of the helicase loader from the replicator </a:t>
            </a:r>
            <a:r>
              <a:rPr lang="en-US" sz="1600" kern="0" dirty="0">
                <a:latin typeface="+mn-lt"/>
                <a:cs typeface="+mn-cs"/>
              </a:rPr>
              <a:t>and </a:t>
            </a:r>
            <a:r>
              <a:rPr lang="en-US" sz="1600" kern="0" dirty="0">
                <a:solidFill>
                  <a:srgbClr val="FF0000"/>
                </a:solidFill>
                <a:latin typeface="+mn-lt"/>
                <a:cs typeface="+mn-cs"/>
              </a:rPr>
              <a:t>activates the helicase</a:t>
            </a:r>
          </a:p>
          <a:p>
            <a:pPr marL="342900" indent="-342900">
              <a:spcBef>
                <a:spcPct val="20000"/>
              </a:spcBef>
              <a:buClr>
                <a:schemeClr val="tx2"/>
              </a:buClr>
              <a:buSzPct val="70000"/>
              <a:buFont typeface="Wingdings" pitchFamily="2" charset="2"/>
              <a:buChar char="l"/>
              <a:defRPr/>
            </a:pPr>
            <a:endParaRPr lang="en-US" sz="1600" kern="0" dirty="0">
              <a:latin typeface="+mn-lt"/>
              <a:cs typeface="+mn-cs"/>
            </a:endParaRPr>
          </a:p>
        </p:txBody>
      </p:sp>
      <p:sp>
        <p:nvSpPr>
          <p:cNvPr id="10" name="Content Placeholder 5">
            <a:extLst>
              <a:ext uri="{FF2B5EF4-FFF2-40B4-BE49-F238E27FC236}">
                <a16:creationId xmlns:a16="http://schemas.microsoft.com/office/drawing/2014/main" id="{951738B2-AF67-6267-64E5-F6CBF721A44E}"/>
              </a:ext>
            </a:extLst>
          </p:cNvPr>
          <p:cNvSpPr txBox="1">
            <a:spLocks/>
          </p:cNvSpPr>
          <p:nvPr/>
        </p:nvSpPr>
        <p:spPr bwMode="auto">
          <a:xfrm>
            <a:off x="-17463" y="5754688"/>
            <a:ext cx="4103688" cy="936625"/>
          </a:xfrm>
          <a:prstGeom prst="rect">
            <a:avLst/>
          </a:prstGeom>
          <a:noFill/>
          <a:ln w="9525">
            <a:noFill/>
            <a:miter lim="800000"/>
            <a:headEnd/>
            <a:tailEnd/>
          </a:ln>
        </p:spPr>
        <p:txBody>
          <a:bodyPr/>
          <a:lstStyle/>
          <a:p>
            <a:pPr>
              <a:spcBef>
                <a:spcPct val="20000"/>
              </a:spcBef>
              <a:buClr>
                <a:schemeClr val="tx2"/>
              </a:buClr>
              <a:buSzPct val="70000"/>
              <a:buFont typeface="Wingdings" pitchFamily="2" charset="2"/>
              <a:buNone/>
              <a:defRPr/>
            </a:pPr>
            <a:r>
              <a:rPr lang="en-US" sz="1600" kern="0" dirty="0">
                <a:latin typeface="+mn-lt"/>
                <a:cs typeface="+mn-cs"/>
              </a:rPr>
              <a:t>The </a:t>
            </a:r>
            <a:r>
              <a:rPr lang="en-US" sz="1600" kern="0" dirty="0">
                <a:solidFill>
                  <a:srgbClr val="0000FF"/>
                </a:solidFill>
                <a:latin typeface="+mn-lt"/>
                <a:cs typeface="+mn-cs"/>
              </a:rPr>
              <a:t>helicase recruits the primase </a:t>
            </a:r>
            <a:r>
              <a:rPr lang="en-US" sz="1600" kern="0" dirty="0">
                <a:latin typeface="+mn-lt"/>
                <a:cs typeface="+mn-cs"/>
              </a:rPr>
              <a:t>which synthesize primer on each template. The movement of the helicase will also </a:t>
            </a:r>
            <a:r>
              <a:rPr lang="en-US" sz="1600" kern="0" dirty="0">
                <a:solidFill>
                  <a:srgbClr val="0000FF"/>
                </a:solidFill>
                <a:latin typeface="+mn-lt"/>
                <a:cs typeface="+mn-cs"/>
              </a:rPr>
              <a:t>removes any remaining </a:t>
            </a:r>
            <a:r>
              <a:rPr lang="en-US" sz="1600" kern="0" dirty="0" err="1">
                <a:solidFill>
                  <a:srgbClr val="0000FF"/>
                </a:solidFill>
                <a:latin typeface="+mn-lt"/>
                <a:cs typeface="+mn-cs"/>
              </a:rPr>
              <a:t>DnaA</a:t>
            </a:r>
            <a:r>
              <a:rPr lang="en-US" sz="1600" kern="0" dirty="0">
                <a:solidFill>
                  <a:srgbClr val="0000FF"/>
                </a:solidFill>
                <a:latin typeface="+mn-lt"/>
                <a:cs typeface="+mn-cs"/>
              </a:rPr>
              <a:t> </a:t>
            </a:r>
            <a:r>
              <a:rPr lang="en-US" sz="1600" kern="0" dirty="0">
                <a:latin typeface="+mn-lt"/>
                <a:cs typeface="+mn-cs"/>
              </a:rPr>
              <a:t>bound to the replicator</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5">
            <a:extLst>
              <a:ext uri="{FF2B5EF4-FFF2-40B4-BE49-F238E27FC236}">
                <a16:creationId xmlns:a16="http://schemas.microsoft.com/office/drawing/2014/main" id="{0A1CD4A2-5C44-7852-800A-700FE73A38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0836"/>
          <a:stretch>
            <a:fillRect/>
          </a:stretch>
        </p:blipFill>
        <p:spPr bwMode="auto">
          <a:xfrm>
            <a:off x="4244975" y="0"/>
            <a:ext cx="48990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5">
            <a:extLst>
              <a:ext uri="{FF2B5EF4-FFF2-40B4-BE49-F238E27FC236}">
                <a16:creationId xmlns:a16="http://schemas.microsoft.com/office/drawing/2014/main" id="{314B0CDC-158A-46F9-AA28-76A9B8CDA44D}"/>
              </a:ext>
            </a:extLst>
          </p:cNvPr>
          <p:cNvSpPr>
            <a:spLocks noGrp="1"/>
          </p:cNvSpPr>
          <p:nvPr>
            <p:ph sz="half" idx="1"/>
          </p:nvPr>
        </p:nvSpPr>
        <p:spPr>
          <a:xfrm>
            <a:off x="179388" y="260350"/>
            <a:ext cx="4105275" cy="1800225"/>
          </a:xfrm>
        </p:spPr>
        <p:txBody>
          <a:bodyPr/>
          <a:lstStyle/>
          <a:p>
            <a:pPr marL="0" indent="0">
              <a:buFont typeface="Wingdings" pitchFamily="2" charset="2"/>
              <a:buNone/>
              <a:defRPr/>
            </a:pPr>
            <a:r>
              <a:rPr lang="en-US" sz="1600" dirty="0"/>
              <a:t>Newly synthesized </a:t>
            </a:r>
            <a:r>
              <a:rPr lang="en-US" sz="1600" dirty="0">
                <a:solidFill>
                  <a:srgbClr val="0000FF"/>
                </a:solidFill>
              </a:rPr>
              <a:t>primers are recognized by the clamp loader components</a:t>
            </a:r>
            <a:r>
              <a:rPr lang="en-US" sz="1600" dirty="0"/>
              <a:t> of three DNA Pol III holoenzymes. </a:t>
            </a:r>
          </a:p>
          <a:p>
            <a:pPr marL="0" indent="0">
              <a:buFont typeface="Wingdings" pitchFamily="2" charset="2"/>
              <a:buNone/>
              <a:defRPr/>
            </a:pPr>
            <a:endParaRPr lang="en-US" sz="1600" dirty="0">
              <a:solidFill>
                <a:srgbClr val="0000FF"/>
              </a:solidFill>
            </a:endParaRPr>
          </a:p>
          <a:p>
            <a:pPr marL="0" indent="0">
              <a:buFont typeface="Wingdings" pitchFamily="2" charset="2"/>
              <a:buNone/>
              <a:defRPr/>
            </a:pPr>
            <a:r>
              <a:rPr lang="en-US" sz="1600" dirty="0">
                <a:solidFill>
                  <a:srgbClr val="0000FF"/>
                </a:solidFill>
              </a:rPr>
              <a:t>Sliding clamps are assembled </a:t>
            </a:r>
            <a:r>
              <a:rPr lang="en-US" sz="1600" dirty="0"/>
              <a:t>at each primer and </a:t>
            </a:r>
            <a:r>
              <a:rPr lang="en-US" sz="1600" dirty="0">
                <a:solidFill>
                  <a:srgbClr val="0000FF"/>
                </a:solidFill>
              </a:rPr>
              <a:t>leading strand synthesis is initiated</a:t>
            </a:r>
            <a:r>
              <a:rPr lang="en-US" sz="1600" dirty="0"/>
              <a:t> by one of the three core Pol III holoenzymes</a:t>
            </a:r>
          </a:p>
          <a:p>
            <a:pPr>
              <a:defRPr/>
            </a:pPr>
            <a:endParaRPr lang="en-US" sz="1600" dirty="0"/>
          </a:p>
        </p:txBody>
      </p:sp>
      <p:sp>
        <p:nvSpPr>
          <p:cNvPr id="129028" name="Content Placeholder 2">
            <a:extLst>
              <a:ext uri="{FF2B5EF4-FFF2-40B4-BE49-F238E27FC236}">
                <a16:creationId xmlns:a16="http://schemas.microsoft.com/office/drawing/2014/main" id="{ED5B0DCC-17BB-141E-71F8-5DA9FBF62AFD}"/>
              </a:ext>
            </a:extLst>
          </p:cNvPr>
          <p:cNvSpPr>
            <a:spLocks noGrp="1"/>
          </p:cNvSpPr>
          <p:nvPr>
            <p:ph sz="half" idx="1"/>
          </p:nvPr>
        </p:nvSpPr>
        <p:spPr>
          <a:xfrm>
            <a:off x="179388" y="2565400"/>
            <a:ext cx="4248150" cy="2016125"/>
          </a:xfrm>
        </p:spPr>
        <p:txBody>
          <a:bodyPr/>
          <a:lstStyle/>
          <a:p>
            <a:pPr marL="0" indent="0">
              <a:buFont typeface="Wingdings" pitchFamily="2" charset="2"/>
              <a:buNone/>
            </a:pPr>
            <a:r>
              <a:rPr lang="en-US" altLang="en-US" sz="1600"/>
              <a:t>After each helicase has moved ~ 1000 bases, </a:t>
            </a:r>
            <a:r>
              <a:rPr lang="en-US" altLang="en-US" sz="1600">
                <a:solidFill>
                  <a:srgbClr val="0000FF"/>
                </a:solidFill>
              </a:rPr>
              <a:t>a second RNA primer is synthesized on each lagging strand template and a sliding clamp is loaded</a:t>
            </a:r>
            <a:r>
              <a:rPr lang="en-US" altLang="en-US" sz="1600"/>
              <a:t>. </a:t>
            </a:r>
          </a:p>
          <a:p>
            <a:pPr marL="0" indent="0">
              <a:buFont typeface="Wingdings" pitchFamily="2" charset="2"/>
              <a:buNone/>
            </a:pPr>
            <a:r>
              <a:rPr lang="en-US" altLang="en-US" sz="1600"/>
              <a:t>The resulting primer:template junction is recognized by the second Pol III core enzyme in each holoenzyme resulting in the </a:t>
            </a:r>
            <a:r>
              <a:rPr lang="en-US" altLang="en-US" sz="1600">
                <a:solidFill>
                  <a:srgbClr val="0000FF"/>
                </a:solidFill>
              </a:rPr>
              <a:t>initiation of lagging strand synthesis</a:t>
            </a:r>
          </a:p>
        </p:txBody>
      </p:sp>
      <p:sp>
        <p:nvSpPr>
          <p:cNvPr id="129029" name="Content Placeholder 2">
            <a:extLst>
              <a:ext uri="{FF2B5EF4-FFF2-40B4-BE49-F238E27FC236}">
                <a16:creationId xmlns:a16="http://schemas.microsoft.com/office/drawing/2014/main" id="{E804103A-6F64-35AE-CAE0-4AF4A4FB8D74}"/>
              </a:ext>
            </a:extLst>
          </p:cNvPr>
          <p:cNvSpPr>
            <a:spLocks noGrp="1"/>
          </p:cNvSpPr>
          <p:nvPr>
            <p:ph sz="half" idx="1"/>
          </p:nvPr>
        </p:nvSpPr>
        <p:spPr>
          <a:xfrm>
            <a:off x="250825" y="4868863"/>
            <a:ext cx="4249738" cy="1368425"/>
          </a:xfrm>
        </p:spPr>
        <p:txBody>
          <a:bodyPr/>
          <a:lstStyle/>
          <a:p>
            <a:pPr marL="0" indent="0">
              <a:buFont typeface="Wingdings" pitchFamily="2" charset="2"/>
              <a:buNone/>
            </a:pPr>
            <a:r>
              <a:rPr lang="en-US" altLang="en-US" sz="1600"/>
              <a:t>Leading and lagging strand synthesis are </a:t>
            </a:r>
            <a:r>
              <a:rPr lang="en-US" altLang="en-US" sz="1600">
                <a:solidFill>
                  <a:srgbClr val="0000FF"/>
                </a:solidFill>
              </a:rPr>
              <a:t>now initiated </a:t>
            </a:r>
            <a:r>
              <a:rPr lang="en-US" altLang="en-US" sz="1600"/>
              <a:t>at each replication fork and continue </a:t>
            </a:r>
            <a:r>
              <a:rPr lang="en-US" altLang="en-US" sz="1600">
                <a:solidFill>
                  <a:srgbClr val="0000FF"/>
                </a:solidFill>
              </a:rPr>
              <a:t>to the end of the template </a:t>
            </a:r>
            <a:r>
              <a:rPr lang="en-US" altLang="en-US" sz="1600"/>
              <a:t>or until another replication fork from an adjacent origin or replication is reached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CE9D41B6-191A-84EF-464B-E902CC288BF3}"/>
              </a:ext>
            </a:extLst>
          </p:cNvPr>
          <p:cNvSpPr>
            <a:spLocks noGrp="1" noChangeArrowheads="1"/>
          </p:cNvSpPr>
          <p:nvPr>
            <p:ph type="title"/>
          </p:nvPr>
        </p:nvSpPr>
        <p:spPr>
          <a:xfrm>
            <a:off x="457200" y="549275"/>
            <a:ext cx="7543800" cy="868363"/>
          </a:xfrm>
        </p:spPr>
        <p:txBody>
          <a:bodyPr/>
          <a:lstStyle/>
          <a:p>
            <a:pPr eaLnBrk="1" hangingPunct="1"/>
            <a:r>
              <a:rPr lang="en-US" altLang="en-US">
                <a:solidFill>
                  <a:srgbClr val="0000FF"/>
                </a:solidFill>
              </a:rPr>
              <a:t>Replication Control </a:t>
            </a:r>
            <a:endParaRPr lang="en-GB" altLang="en-US">
              <a:solidFill>
                <a:srgbClr val="0000FF"/>
              </a:solidFill>
            </a:endParaRPr>
          </a:p>
        </p:txBody>
      </p:sp>
      <p:sp>
        <p:nvSpPr>
          <p:cNvPr id="131075" name="Rectangle 3">
            <a:extLst>
              <a:ext uri="{FF2B5EF4-FFF2-40B4-BE49-F238E27FC236}">
                <a16:creationId xmlns:a16="http://schemas.microsoft.com/office/drawing/2014/main" id="{BEF107F4-C442-7413-5DC2-D87EB3C3361D}"/>
              </a:ext>
            </a:extLst>
          </p:cNvPr>
          <p:cNvSpPr>
            <a:spLocks noGrp="1" noChangeArrowheads="1"/>
          </p:cNvSpPr>
          <p:nvPr>
            <p:ph type="body" sz="half" idx="1"/>
          </p:nvPr>
        </p:nvSpPr>
        <p:spPr/>
        <p:txBody>
          <a:bodyPr/>
          <a:lstStyle/>
          <a:p>
            <a:pPr eaLnBrk="1" hangingPunct="1"/>
            <a:r>
              <a:rPr lang="en-US" altLang="en-US" sz="2600"/>
              <a:t>Prokaryotes need to replicate quickly</a:t>
            </a:r>
          </a:p>
          <a:p>
            <a:pPr eaLnBrk="1" hangingPunct="1"/>
            <a:endParaRPr lang="en-US" altLang="en-US" sz="2600"/>
          </a:p>
          <a:p>
            <a:pPr eaLnBrk="1" hangingPunct="1"/>
            <a:r>
              <a:rPr lang="en-US" altLang="en-US" sz="2600"/>
              <a:t>Prokaryotes allow reinitiation of replication before the cell divide to save time</a:t>
            </a:r>
            <a:endParaRPr lang="en-GB" altLang="en-US" sz="2600"/>
          </a:p>
        </p:txBody>
      </p:sp>
      <p:pic>
        <p:nvPicPr>
          <p:cNvPr id="131076" name="Picture 5">
            <a:extLst>
              <a:ext uri="{FF2B5EF4-FFF2-40B4-BE49-F238E27FC236}">
                <a16:creationId xmlns:a16="http://schemas.microsoft.com/office/drawing/2014/main" id="{358C2847-467C-E5B9-AD1C-88415288A4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841" t="8197" r="12033"/>
          <a:stretch>
            <a:fillRect/>
          </a:stretch>
        </p:blipFill>
        <p:spPr bwMode="auto">
          <a:xfrm>
            <a:off x="4572000" y="1773238"/>
            <a:ext cx="4246563" cy="370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DEAB8788-5EEB-0948-DD25-3FB14258B09B}"/>
              </a:ext>
            </a:extLst>
          </p:cNvPr>
          <p:cNvSpPr>
            <a:spLocks noGrp="1" noChangeArrowheads="1"/>
          </p:cNvSpPr>
          <p:nvPr>
            <p:ph type="title"/>
          </p:nvPr>
        </p:nvSpPr>
        <p:spPr>
          <a:xfrm>
            <a:off x="457200" y="476250"/>
            <a:ext cx="7543800" cy="941388"/>
          </a:xfrm>
        </p:spPr>
        <p:txBody>
          <a:bodyPr/>
          <a:lstStyle/>
          <a:p>
            <a:pPr eaLnBrk="1" hangingPunct="1"/>
            <a:r>
              <a:rPr lang="en-US" altLang="en-US">
                <a:solidFill>
                  <a:srgbClr val="0000FF"/>
                </a:solidFill>
              </a:rPr>
              <a:t>Replication in Eukaryotes</a:t>
            </a:r>
            <a:endParaRPr lang="en-GB" altLang="en-US">
              <a:solidFill>
                <a:srgbClr val="0000FF"/>
              </a:solidFill>
            </a:endParaRPr>
          </a:p>
        </p:txBody>
      </p:sp>
      <p:sp>
        <p:nvSpPr>
          <p:cNvPr id="133123" name="Rectangle 3">
            <a:extLst>
              <a:ext uri="{FF2B5EF4-FFF2-40B4-BE49-F238E27FC236}">
                <a16:creationId xmlns:a16="http://schemas.microsoft.com/office/drawing/2014/main" id="{B3A805A6-E412-6EFD-C608-729F7F61C204}"/>
              </a:ext>
            </a:extLst>
          </p:cNvPr>
          <p:cNvSpPr>
            <a:spLocks noGrp="1" noChangeArrowheads="1"/>
          </p:cNvSpPr>
          <p:nvPr>
            <p:ph type="body" idx="1"/>
          </p:nvPr>
        </p:nvSpPr>
        <p:spPr/>
        <p:txBody>
          <a:bodyPr/>
          <a:lstStyle/>
          <a:p>
            <a:pPr eaLnBrk="1" hangingPunct="1">
              <a:lnSpc>
                <a:spcPct val="125000"/>
              </a:lnSpc>
            </a:pPr>
            <a:r>
              <a:rPr lang="en-US" altLang="en-US"/>
              <a:t>Not well understood as in </a:t>
            </a:r>
            <a:r>
              <a:rPr lang="en-US" altLang="en-US" i="1"/>
              <a:t>E.coli</a:t>
            </a:r>
          </a:p>
          <a:p>
            <a:pPr eaLnBrk="1" hangingPunct="1">
              <a:lnSpc>
                <a:spcPct val="125000"/>
              </a:lnSpc>
            </a:pPr>
            <a:r>
              <a:rPr lang="en-US" altLang="en-US"/>
              <a:t>3 polymerases involved in replication </a:t>
            </a:r>
            <a:r>
              <a:rPr lang="en-US" altLang="en-US" sz="2600"/>
              <a:t>(</a:t>
            </a:r>
            <a:r>
              <a:rPr lang="en-GB" altLang="en-US" sz="2600">
                <a:sym typeface="Symbol" pitchFamily="2" charset="2"/>
              </a:rPr>
              <a:t>, , &amp;  polymerases)</a:t>
            </a:r>
          </a:p>
          <a:p>
            <a:pPr eaLnBrk="1" hangingPunct="1">
              <a:lnSpc>
                <a:spcPct val="125000"/>
              </a:lnSpc>
            </a:pPr>
            <a:r>
              <a:rPr lang="en-US" altLang="en-US">
                <a:sym typeface="Symbol" pitchFamily="2" charset="2"/>
              </a:rPr>
              <a:t>Similar proteins are involved in replication but with different names</a:t>
            </a:r>
          </a:p>
          <a:p>
            <a:pPr eaLnBrk="1" hangingPunct="1">
              <a:lnSpc>
                <a:spcPct val="125000"/>
              </a:lnSpc>
            </a:pPr>
            <a:r>
              <a:rPr lang="en-US" altLang="en-US">
                <a:sym typeface="Symbol" pitchFamily="2" charset="2"/>
              </a:rPr>
              <a:t>Many replicons are present </a:t>
            </a:r>
            <a:r>
              <a:rPr lang="en-US" altLang="en-US" sz="2600">
                <a:sym typeface="Symbol" pitchFamily="2" charset="2"/>
              </a:rPr>
              <a:t>(100s- 1000s)</a:t>
            </a:r>
          </a:p>
          <a:p>
            <a:pPr eaLnBrk="1" hangingPunct="1">
              <a:lnSpc>
                <a:spcPct val="125000"/>
              </a:lnSpc>
            </a:pPr>
            <a:r>
              <a:rPr lang="en-US" altLang="en-US">
                <a:sym typeface="Symbol" pitchFamily="2" charset="2"/>
              </a:rPr>
              <a:t>Origin of replication ~30 kb apart</a:t>
            </a:r>
            <a:endParaRPr lang="en-GB" altLang="en-US">
              <a:sym typeface="Symbol" pitchFamily="2" charset="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a:extLst>
              <a:ext uri="{FF2B5EF4-FFF2-40B4-BE49-F238E27FC236}">
                <a16:creationId xmlns:a16="http://schemas.microsoft.com/office/drawing/2014/main" id="{80421B96-E921-F050-22B0-326E325F5D42}"/>
              </a:ext>
            </a:extLst>
          </p:cNvPr>
          <p:cNvSpPr>
            <a:spLocks noGrp="1" noChangeArrowheads="1"/>
          </p:cNvSpPr>
          <p:nvPr>
            <p:ph type="body" sz="half" idx="1"/>
          </p:nvPr>
        </p:nvSpPr>
        <p:spPr>
          <a:xfrm>
            <a:off x="250825" y="1773238"/>
            <a:ext cx="4897438" cy="4321175"/>
          </a:xfrm>
        </p:spPr>
        <p:txBody>
          <a:bodyPr/>
          <a:lstStyle/>
          <a:p>
            <a:pPr eaLnBrk="1" hangingPunct="1"/>
            <a:r>
              <a:rPr lang="en-US" altLang="en-US" sz="2400"/>
              <a:t>Eukaryotic cell should replicate only once in one cell cycle (S phase)</a:t>
            </a:r>
          </a:p>
          <a:p>
            <a:pPr eaLnBrk="1" hangingPunct="1"/>
            <a:r>
              <a:rPr lang="en-US" altLang="en-US" sz="2400"/>
              <a:t>More than one replication </a:t>
            </a:r>
            <a:r>
              <a:rPr lang="en-US" altLang="en-US" sz="2400">
                <a:sym typeface="Symbol" pitchFamily="2" charset="2"/>
              </a:rPr>
              <a:t>multiple copies of sequences /chromosomes</a:t>
            </a:r>
          </a:p>
          <a:p>
            <a:pPr eaLnBrk="1" hangingPunct="1"/>
            <a:r>
              <a:rPr lang="en-US" altLang="en-US" sz="2400">
                <a:sym typeface="Symbol" pitchFamily="2" charset="2"/>
              </a:rPr>
              <a:t>No replication in one area  chromosome breakage</a:t>
            </a:r>
          </a:p>
          <a:p>
            <a:pPr eaLnBrk="1" hangingPunct="1"/>
            <a:r>
              <a:rPr lang="en-US" altLang="en-US" sz="2400"/>
              <a:t>Segregation of linked chromosomes causes chromosome breakage or loss</a:t>
            </a:r>
          </a:p>
          <a:p>
            <a:pPr eaLnBrk="1" hangingPunct="1"/>
            <a:endParaRPr lang="en-US" altLang="en-US" sz="2200">
              <a:sym typeface="Symbol" pitchFamily="2" charset="2"/>
            </a:endParaRPr>
          </a:p>
        </p:txBody>
      </p:sp>
      <p:sp>
        <p:nvSpPr>
          <p:cNvPr id="135171" name="Title 4">
            <a:extLst>
              <a:ext uri="{FF2B5EF4-FFF2-40B4-BE49-F238E27FC236}">
                <a16:creationId xmlns:a16="http://schemas.microsoft.com/office/drawing/2014/main" id="{B952C705-8DF3-9014-9C1B-2737A4D121FC}"/>
              </a:ext>
            </a:extLst>
          </p:cNvPr>
          <p:cNvSpPr>
            <a:spLocks/>
          </p:cNvSpPr>
          <p:nvPr/>
        </p:nvSpPr>
        <p:spPr bwMode="auto">
          <a:xfrm>
            <a:off x="539750" y="260350"/>
            <a:ext cx="7543800"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ClrTx/>
              <a:buSzTx/>
              <a:buFontTx/>
              <a:buNone/>
            </a:pPr>
            <a:r>
              <a:rPr lang="en-US" altLang="en-US" b="1">
                <a:solidFill>
                  <a:srgbClr val="0000FF"/>
                </a:solidFill>
              </a:rPr>
              <a:t>Eukaryotic chromosomes are replicated exactly once per cell cycle</a:t>
            </a:r>
          </a:p>
        </p:txBody>
      </p:sp>
      <p:pic>
        <p:nvPicPr>
          <p:cNvPr id="135172" name="Picture 3" descr="09_28Figure-L">
            <a:extLst>
              <a:ext uri="{FF2B5EF4-FFF2-40B4-BE49-F238E27FC236}">
                <a16:creationId xmlns:a16="http://schemas.microsoft.com/office/drawing/2014/main" id="{112D9DED-389D-E871-6944-15F2650012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460"/>
          <a:stretch>
            <a:fillRect/>
          </a:stretch>
        </p:blipFill>
        <p:spPr bwMode="auto">
          <a:xfrm>
            <a:off x="5081588" y="2276475"/>
            <a:ext cx="3773487" cy="304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8" name="Picture 6">
            <a:extLst>
              <a:ext uri="{FF2B5EF4-FFF2-40B4-BE49-F238E27FC236}">
                <a16:creationId xmlns:a16="http://schemas.microsoft.com/office/drawing/2014/main" id="{297E7523-32DB-209F-409E-675C8F674A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268413"/>
            <a:ext cx="5905500"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19" name="Rectangle 2">
            <a:extLst>
              <a:ext uri="{FF2B5EF4-FFF2-40B4-BE49-F238E27FC236}">
                <a16:creationId xmlns:a16="http://schemas.microsoft.com/office/drawing/2014/main" id="{9BDD565D-6A81-E19F-8F20-32444E4DE173}"/>
              </a:ext>
            </a:extLst>
          </p:cNvPr>
          <p:cNvSpPr>
            <a:spLocks noGrp="1" noChangeArrowheads="1"/>
          </p:cNvSpPr>
          <p:nvPr>
            <p:ph type="title"/>
          </p:nvPr>
        </p:nvSpPr>
        <p:spPr>
          <a:xfrm>
            <a:off x="468313" y="0"/>
            <a:ext cx="7543800" cy="1084263"/>
          </a:xfrm>
        </p:spPr>
        <p:txBody>
          <a:bodyPr/>
          <a:lstStyle/>
          <a:p>
            <a:pPr eaLnBrk="1" hangingPunct="1"/>
            <a:r>
              <a:rPr lang="en-US" altLang="en-US">
                <a:solidFill>
                  <a:srgbClr val="0000FF"/>
                </a:solidFill>
              </a:rPr>
              <a:t>Replication Control</a:t>
            </a:r>
            <a:endParaRPr lang="en-GB" altLang="en-US">
              <a:solidFill>
                <a:srgbClr val="0000FF"/>
              </a:solidFill>
            </a:endParaRPr>
          </a:p>
        </p:txBody>
      </p:sp>
      <p:sp>
        <p:nvSpPr>
          <p:cNvPr id="3" name="TextBox 2">
            <a:extLst>
              <a:ext uri="{FF2B5EF4-FFF2-40B4-BE49-F238E27FC236}">
                <a16:creationId xmlns:a16="http://schemas.microsoft.com/office/drawing/2014/main" id="{F426CAB4-7AD1-2A28-656F-75A2D9A73AF2}"/>
              </a:ext>
            </a:extLst>
          </p:cNvPr>
          <p:cNvSpPr txBox="1"/>
          <p:nvPr/>
        </p:nvSpPr>
        <p:spPr>
          <a:xfrm>
            <a:off x="6084168" y="1859340"/>
            <a:ext cx="2880320" cy="2893100"/>
          </a:xfrm>
          <a:prstGeom prst="rect">
            <a:avLst/>
          </a:prstGeom>
          <a:noFill/>
        </p:spPr>
        <p:txBody>
          <a:bodyPr wrap="square">
            <a:sp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en-US" sz="1400" dirty="0">
                <a:latin typeface="Arial" panose="020B0604020202020204" pitchFamily="34" charset="0"/>
                <a:cs typeface="Arial" panose="020B0604020202020204" pitchFamily="34" charset="0"/>
              </a:rPr>
              <a:t>Whether an origin is activated to cause its own replication is replicated by a replication fork derived from an adjacent origin, it must be inactivated until the next round of cell division in cells with high turnover and quick replication a large number of origins of replication are activated to fasten the replication during S phase, if there is low turn over, fewer origins are activated. Some origins will never be activated.</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6D6E4BB2-1B78-134E-808F-FE1875220D06}"/>
              </a:ext>
            </a:extLst>
          </p:cNvPr>
          <p:cNvSpPr>
            <a:spLocks noGrp="1" noChangeArrowheads="1"/>
          </p:cNvSpPr>
          <p:nvPr>
            <p:ph type="title"/>
          </p:nvPr>
        </p:nvSpPr>
        <p:spPr>
          <a:xfrm>
            <a:off x="179388" y="404813"/>
            <a:ext cx="7848600" cy="1008062"/>
          </a:xfrm>
        </p:spPr>
        <p:txBody>
          <a:bodyPr/>
          <a:lstStyle/>
          <a:p>
            <a:pPr algn="ctr" eaLnBrk="1" hangingPunct="1"/>
            <a:r>
              <a:rPr lang="en-GB" altLang="en-US" sz="2600">
                <a:solidFill>
                  <a:srgbClr val="0000FF"/>
                </a:solidFill>
              </a:rPr>
              <a:t>Prereplicative complex formation is the first step in the initiation of replication in eukaryotes</a:t>
            </a:r>
          </a:p>
        </p:txBody>
      </p:sp>
      <p:sp>
        <p:nvSpPr>
          <p:cNvPr id="139267" name="Rectangle 3">
            <a:extLst>
              <a:ext uri="{FF2B5EF4-FFF2-40B4-BE49-F238E27FC236}">
                <a16:creationId xmlns:a16="http://schemas.microsoft.com/office/drawing/2014/main" id="{7C90292C-278D-6FF8-8BAF-A1686BB38FB9}"/>
              </a:ext>
            </a:extLst>
          </p:cNvPr>
          <p:cNvSpPr>
            <a:spLocks noGrp="1" noChangeArrowheads="1"/>
          </p:cNvSpPr>
          <p:nvPr>
            <p:ph type="body" idx="1"/>
          </p:nvPr>
        </p:nvSpPr>
        <p:spPr>
          <a:xfrm>
            <a:off x="395288" y="1557338"/>
            <a:ext cx="8424862" cy="5040312"/>
          </a:xfrm>
        </p:spPr>
        <p:txBody>
          <a:bodyPr/>
          <a:lstStyle/>
          <a:p>
            <a:pPr marL="571500" indent="-571500" eaLnBrk="1" hangingPunct="1"/>
            <a:r>
              <a:rPr lang="en-US" altLang="en-US" sz="1600" dirty="0"/>
              <a:t>Unlike prokaryotes, replication here involves two separate processes:</a:t>
            </a:r>
          </a:p>
          <a:p>
            <a:pPr marL="571500" indent="-571500" eaLnBrk="1" hangingPunct="1">
              <a:buFont typeface="Wingdings" pitchFamily="2" charset="2"/>
              <a:buAutoNum type="arabicPeriod"/>
            </a:pPr>
            <a:r>
              <a:rPr lang="en-US" altLang="en-US" sz="1600" b="1" dirty="0">
                <a:solidFill>
                  <a:srgbClr val="0000FF"/>
                </a:solidFill>
              </a:rPr>
              <a:t>Replicator selection stage</a:t>
            </a:r>
            <a:r>
              <a:rPr lang="en-US" altLang="en-US" sz="1600" dirty="0"/>
              <a:t>: the process of identifying sequences that will direct the initiation of replication and occurs in G1</a:t>
            </a:r>
          </a:p>
          <a:p>
            <a:pPr marL="571500" indent="-571500" eaLnBrk="1" hangingPunct="1">
              <a:buFont typeface="Wingdings" pitchFamily="2" charset="2"/>
              <a:buAutoNum type="arabicPeriod"/>
            </a:pPr>
            <a:r>
              <a:rPr lang="en-US" altLang="en-US" sz="1600" b="1" dirty="0">
                <a:solidFill>
                  <a:srgbClr val="0000FF"/>
                </a:solidFill>
              </a:rPr>
              <a:t>Origin activation stage</a:t>
            </a:r>
            <a:r>
              <a:rPr lang="en-US" altLang="en-US" sz="1600" dirty="0"/>
              <a:t>: only occurs after cells enter the S phase and trigger the replicator-associated protein complex to initiate DNA unwinding and DNA polymerase recruitment</a:t>
            </a:r>
          </a:p>
          <a:p>
            <a:pPr marL="571500" indent="-571500" eaLnBrk="1" hangingPunct="1">
              <a:buFont typeface="Wingdings" pitchFamily="2" charset="2"/>
              <a:buAutoNum type="arabicPeriod"/>
            </a:pPr>
            <a:endParaRPr lang="en-US" altLang="en-US" sz="1600" dirty="0"/>
          </a:p>
          <a:p>
            <a:pPr marL="228600" indent="-228600" eaLnBrk="1" hangingPunct="1"/>
            <a:r>
              <a:rPr lang="en-US" altLang="en-US" sz="1600" dirty="0">
                <a:latin typeface="Arial" panose="020B0604020202020204" pitchFamily="34" charset="0"/>
                <a:cs typeface="Arial" panose="020B0604020202020204" pitchFamily="34" charset="0"/>
              </a:rPr>
              <a:t>Each step is distinct and takes place at a different stage in the cell cycle</a:t>
            </a:r>
          </a:p>
          <a:p>
            <a:pPr marL="228600" indent="-228600" eaLnBrk="1" hangingPunct="1"/>
            <a:r>
              <a:rPr lang="en-US" altLang="en-US" sz="1600" dirty="0">
                <a:latin typeface="Arial" panose="020B0604020202020204" pitchFamily="34" charset="0"/>
                <a:cs typeface="Arial" panose="020B0604020202020204" pitchFamily="34" charset="0"/>
              </a:rPr>
              <a:t>These two steps are united in the prokaryotes, binding of the initiator with the replicator in prokaryotes is enough to initiate replication and recruit helicase </a:t>
            </a:r>
          </a:p>
          <a:p>
            <a:pPr marL="685800" lvl="1" indent="-228600" eaLnBrk="1" hangingPunct="1">
              <a:buFont typeface="Wingdings" pitchFamily="2" charset="2"/>
              <a:buNone/>
            </a:pPr>
            <a:r>
              <a:rPr lang="en-US" altLang="en-US" sz="1600" dirty="0">
                <a:latin typeface="Arial" panose="020B0604020202020204" pitchFamily="34" charset="0"/>
                <a:cs typeface="Arial" panose="020B0604020202020204" pitchFamily="34" charset="0"/>
              </a:rPr>
              <a:t>Select sites for DNA replication (among different origins of replication)</a:t>
            </a:r>
          </a:p>
          <a:p>
            <a:pPr marL="685800" lvl="1" indent="-228600" eaLnBrk="1" hangingPunct="1">
              <a:buFont typeface="Wingdings" pitchFamily="2" charset="2"/>
              <a:buNone/>
            </a:pPr>
            <a:r>
              <a:rPr lang="en-US" altLang="en-US" sz="1600" dirty="0">
                <a:latin typeface="Arial" panose="020B0604020202020204" pitchFamily="34" charset="0"/>
                <a:cs typeface="Arial" panose="020B0604020202020204" pitchFamily="34" charset="0"/>
              </a:rPr>
              <a:t>To ensure that each chromosome is replicated only once</a:t>
            </a:r>
          </a:p>
          <a:p>
            <a:pPr marL="839788" lvl="1" indent="-495300" eaLnBrk="1" hangingPunct="1">
              <a:buFont typeface="Wingdings" pitchFamily="2" charset="2"/>
              <a:buAutoNum type="arabicPeriod"/>
            </a:pPr>
            <a:endParaRPr lang="en-US" altLang="en-US" sz="1600" dirty="0"/>
          </a:p>
          <a:p>
            <a:pPr marL="571500" indent="-571500" eaLnBrk="1" hangingPunct="1"/>
            <a:endParaRPr lang="en-GB" altLang="en-US" sz="16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AC1CE030-F12C-1AF0-B2DB-EA645DFF9F71}"/>
              </a:ext>
            </a:extLst>
          </p:cNvPr>
          <p:cNvSpPr>
            <a:spLocks noGrp="1" noChangeArrowheads="1"/>
          </p:cNvSpPr>
          <p:nvPr>
            <p:ph type="title"/>
          </p:nvPr>
        </p:nvSpPr>
        <p:spPr>
          <a:xfrm>
            <a:off x="0" y="0"/>
            <a:ext cx="7543800" cy="581025"/>
          </a:xfrm>
        </p:spPr>
        <p:txBody>
          <a:bodyPr/>
          <a:lstStyle/>
          <a:p>
            <a:pPr eaLnBrk="1" hangingPunct="1"/>
            <a:r>
              <a:rPr lang="en-US" altLang="en-US" sz="3200">
                <a:solidFill>
                  <a:srgbClr val="0000FF"/>
                </a:solidFill>
              </a:rPr>
              <a:t>Replicator selection (G1 phase)</a:t>
            </a:r>
            <a:endParaRPr lang="en-GB" altLang="en-US" sz="3200">
              <a:solidFill>
                <a:srgbClr val="0000FF"/>
              </a:solidFill>
            </a:endParaRPr>
          </a:p>
        </p:txBody>
      </p:sp>
      <p:sp>
        <p:nvSpPr>
          <p:cNvPr id="141315" name="Content Placeholder 3">
            <a:extLst>
              <a:ext uri="{FF2B5EF4-FFF2-40B4-BE49-F238E27FC236}">
                <a16:creationId xmlns:a16="http://schemas.microsoft.com/office/drawing/2014/main" id="{1370EC81-58E5-B173-C36E-BCB5ECE05151}"/>
              </a:ext>
            </a:extLst>
          </p:cNvPr>
          <p:cNvSpPr>
            <a:spLocks noGrp="1"/>
          </p:cNvSpPr>
          <p:nvPr>
            <p:ph sz="half" idx="2"/>
          </p:nvPr>
        </p:nvSpPr>
        <p:spPr>
          <a:xfrm>
            <a:off x="179388" y="836613"/>
            <a:ext cx="4248150" cy="5470525"/>
          </a:xfrm>
        </p:spPr>
        <p:txBody>
          <a:bodyPr/>
          <a:lstStyle/>
          <a:p>
            <a:r>
              <a:rPr lang="en-US" altLang="en-US" sz="2200" dirty="0"/>
              <a:t>The assembly of the pre-RC is an ordered process that is initiated by the association of the </a:t>
            </a:r>
            <a:r>
              <a:rPr lang="en-US" altLang="en-US" sz="2200" dirty="0">
                <a:solidFill>
                  <a:srgbClr val="0000FF"/>
                </a:solidFill>
              </a:rPr>
              <a:t>origin recognition complex </a:t>
            </a:r>
            <a:r>
              <a:rPr lang="en-US" altLang="en-US" sz="2200" dirty="0"/>
              <a:t>with the replicator</a:t>
            </a:r>
          </a:p>
          <a:p>
            <a:r>
              <a:rPr lang="en-US" altLang="en-US" sz="2200" dirty="0"/>
              <a:t>Once bound to the replicator, ORC </a:t>
            </a:r>
            <a:r>
              <a:rPr lang="en-US" altLang="en-US" sz="2200" dirty="0">
                <a:solidFill>
                  <a:srgbClr val="0000FF"/>
                </a:solidFill>
              </a:rPr>
              <a:t>recruits</a:t>
            </a:r>
            <a:r>
              <a:rPr lang="en-US" altLang="en-US" sz="2200" dirty="0"/>
              <a:t> at leas two additional proteins , </a:t>
            </a:r>
            <a:r>
              <a:rPr lang="en-US" altLang="en-US" sz="2200" dirty="0">
                <a:solidFill>
                  <a:srgbClr val="0000FF"/>
                </a:solidFill>
              </a:rPr>
              <a:t>cdc6 and Cdt1 (helicase loading proteins)</a:t>
            </a:r>
          </a:p>
          <a:p>
            <a:r>
              <a:rPr lang="en-US" altLang="en-US" sz="2200" dirty="0"/>
              <a:t>These 3 proteins function together to </a:t>
            </a:r>
            <a:r>
              <a:rPr lang="en-US" altLang="en-US" sz="2200" dirty="0">
                <a:solidFill>
                  <a:srgbClr val="0000FF"/>
                </a:solidFill>
              </a:rPr>
              <a:t>assemble the eukaryotic DNA helicase </a:t>
            </a:r>
            <a:r>
              <a:rPr lang="en-US" altLang="en-US" sz="2200" dirty="0"/>
              <a:t>–the Mcm2-7 complex at the replication and the formation of the pre-RC</a:t>
            </a:r>
          </a:p>
        </p:txBody>
      </p:sp>
      <p:pic>
        <p:nvPicPr>
          <p:cNvPr id="141316" name="Picture 3" descr="09_30Figure-L">
            <a:extLst>
              <a:ext uri="{FF2B5EF4-FFF2-40B4-BE49-F238E27FC236}">
                <a16:creationId xmlns:a16="http://schemas.microsoft.com/office/drawing/2014/main" id="{362DA2CA-A0BC-37CF-266A-DCD4E57CF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315"/>
          <a:stretch>
            <a:fillRect/>
          </a:stretch>
        </p:blipFill>
        <p:spPr bwMode="auto">
          <a:xfrm>
            <a:off x="4716463" y="836613"/>
            <a:ext cx="4248150" cy="587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065C4665-8EDD-1D6E-466F-30D411E412BA}"/>
              </a:ext>
            </a:extLst>
          </p:cNvPr>
          <p:cNvSpPr>
            <a:spLocks noGrp="1" noChangeArrowheads="1"/>
          </p:cNvSpPr>
          <p:nvPr>
            <p:ph type="title"/>
          </p:nvPr>
        </p:nvSpPr>
        <p:spPr>
          <a:xfrm>
            <a:off x="323850" y="404813"/>
            <a:ext cx="7543800" cy="796925"/>
          </a:xfrm>
        </p:spPr>
        <p:txBody>
          <a:bodyPr/>
          <a:lstStyle/>
          <a:p>
            <a:pPr eaLnBrk="1" hangingPunct="1"/>
            <a:r>
              <a:rPr lang="en-US" altLang="en-US">
                <a:solidFill>
                  <a:srgbClr val="0000FF"/>
                </a:solidFill>
              </a:rPr>
              <a:t>Origin activation </a:t>
            </a:r>
            <a:r>
              <a:rPr lang="en-US" altLang="en-US" sz="3600">
                <a:solidFill>
                  <a:srgbClr val="FF0000"/>
                </a:solidFill>
              </a:rPr>
              <a:t>(</a:t>
            </a:r>
            <a:r>
              <a:rPr lang="en-US" altLang="en-US" sz="3600" u="sng">
                <a:solidFill>
                  <a:srgbClr val="FF0000"/>
                </a:solidFill>
              </a:rPr>
              <a:t>S phase</a:t>
            </a:r>
            <a:r>
              <a:rPr lang="en-US" altLang="en-US" sz="3600">
                <a:solidFill>
                  <a:srgbClr val="FF0000"/>
                </a:solidFill>
              </a:rPr>
              <a:t>)</a:t>
            </a:r>
            <a:endParaRPr lang="en-GB" altLang="en-US" sz="3600">
              <a:solidFill>
                <a:srgbClr val="FF0000"/>
              </a:solidFill>
            </a:endParaRPr>
          </a:p>
        </p:txBody>
      </p:sp>
      <p:sp>
        <p:nvSpPr>
          <p:cNvPr id="143363" name="Rectangle 3">
            <a:extLst>
              <a:ext uri="{FF2B5EF4-FFF2-40B4-BE49-F238E27FC236}">
                <a16:creationId xmlns:a16="http://schemas.microsoft.com/office/drawing/2014/main" id="{B2CCF01D-694B-A48E-1A31-6E45676BA677}"/>
              </a:ext>
            </a:extLst>
          </p:cNvPr>
          <p:cNvSpPr>
            <a:spLocks noGrp="1" noChangeArrowheads="1"/>
          </p:cNvSpPr>
          <p:nvPr>
            <p:ph type="body" sz="half" idx="1"/>
          </p:nvPr>
        </p:nvSpPr>
        <p:spPr>
          <a:xfrm>
            <a:off x="755650" y="1341438"/>
            <a:ext cx="7488238" cy="4391025"/>
          </a:xfrm>
        </p:spPr>
        <p:txBody>
          <a:bodyPr/>
          <a:lstStyle/>
          <a:p>
            <a:pPr eaLnBrk="1" hangingPunct="1"/>
            <a:r>
              <a:rPr lang="en-US" altLang="en-US" sz="2800" dirty="0"/>
              <a:t>Pre-RCs that are formed during G1 are only activated to unwind DNA and initiate replication </a:t>
            </a:r>
            <a:r>
              <a:rPr lang="en-US" altLang="en-US" sz="2800" dirty="0">
                <a:solidFill>
                  <a:srgbClr val="0000FF"/>
                </a:solidFill>
              </a:rPr>
              <a:t>after cells pass from the G1 to the S phase</a:t>
            </a:r>
            <a:r>
              <a:rPr lang="en-US" altLang="en-US" sz="2800" dirty="0"/>
              <a:t> of the cell cycle</a:t>
            </a:r>
          </a:p>
          <a:p>
            <a:pPr eaLnBrk="1" hangingPunct="1"/>
            <a:r>
              <a:rPr lang="en-US" altLang="en-US" sz="2800" dirty="0" err="1"/>
              <a:t>Cdk</a:t>
            </a:r>
            <a:r>
              <a:rPr lang="en-US" altLang="en-US" sz="2800" dirty="0"/>
              <a:t> (cyclin-dependent kinase) and </a:t>
            </a:r>
            <a:r>
              <a:rPr lang="en-US" altLang="en-US" sz="2800" dirty="0" err="1"/>
              <a:t>DdK</a:t>
            </a:r>
            <a:r>
              <a:rPr lang="en-US" altLang="en-US" sz="2800" dirty="0"/>
              <a:t> (Dbf4-dependent kinase) are the key regulators</a:t>
            </a:r>
          </a:p>
          <a:p>
            <a:pPr lvl="1" eaLnBrk="1" hangingPunct="1"/>
            <a:r>
              <a:rPr lang="en-GB" altLang="en-US" sz="2800" dirty="0">
                <a:sym typeface="Symbol" pitchFamily="2" charset="2"/>
              </a:rPr>
              <a:t>Activate pre-RC</a:t>
            </a:r>
          </a:p>
          <a:p>
            <a:pPr lvl="1" eaLnBrk="1" hangingPunct="1"/>
            <a:r>
              <a:rPr lang="en-US" altLang="en-US" sz="2800" dirty="0">
                <a:sym typeface="Symbol" pitchFamily="2" charset="2"/>
              </a:rPr>
              <a:t>Inhibit formation of new pre-RC</a:t>
            </a:r>
          </a:p>
          <a:p>
            <a:pPr lvl="1" eaLnBrk="1" hangingPunct="1"/>
            <a:endParaRPr lang="en-GB" altLang="en-US" sz="2000" dirty="0">
              <a:sym typeface="Symbol" pitchFamily="2" charset="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31ABD454-BD0F-A1C1-42C4-1CDFAC1E5110}"/>
              </a:ext>
            </a:extLst>
          </p:cNvPr>
          <p:cNvSpPr txBox="1">
            <a:spLocks noChangeArrowheads="1"/>
          </p:cNvSpPr>
          <p:nvPr/>
        </p:nvSpPr>
        <p:spPr>
          <a:xfrm>
            <a:off x="468313" y="0"/>
            <a:ext cx="7713662" cy="1001713"/>
          </a:xfrm>
          <a:prstGeom prst="rect">
            <a:avLst/>
          </a:prstGeom>
        </p:spPr>
        <p:txBody>
          <a:bodyPr/>
          <a:lstStyle/>
          <a:p>
            <a:pPr eaLnBrk="1" hangingPunct="1">
              <a:defRPr/>
            </a:pPr>
            <a:r>
              <a:rPr lang="en-US" sz="2800" b="1" kern="0" dirty="0">
                <a:solidFill>
                  <a:srgbClr val="0000FF"/>
                </a:solidFill>
                <a:latin typeface="+mj-lt"/>
                <a:ea typeface="+mj-ea"/>
                <a:cs typeface="+mj-cs"/>
              </a:rPr>
              <a:t>Activation of the pre-RC leads to the assembly of the eukaryotic replication</a:t>
            </a:r>
          </a:p>
        </p:txBody>
      </p:sp>
      <p:sp>
        <p:nvSpPr>
          <p:cNvPr id="145411" name="Rectangle 3">
            <a:extLst>
              <a:ext uri="{FF2B5EF4-FFF2-40B4-BE49-F238E27FC236}">
                <a16:creationId xmlns:a16="http://schemas.microsoft.com/office/drawing/2014/main" id="{1DBA32EB-C1F0-5B06-956D-7A6417083C18}"/>
              </a:ext>
            </a:extLst>
          </p:cNvPr>
          <p:cNvSpPr txBox="1">
            <a:spLocks noChangeArrowheads="1"/>
          </p:cNvSpPr>
          <p:nvPr/>
        </p:nvSpPr>
        <p:spPr bwMode="auto">
          <a:xfrm>
            <a:off x="179388" y="1152525"/>
            <a:ext cx="4038600" cy="551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lnSpc>
                <a:spcPct val="140000"/>
              </a:lnSpc>
              <a:buFont typeface="Wingdings" pitchFamily="2" charset="2"/>
              <a:buNone/>
            </a:pPr>
            <a:r>
              <a:rPr lang="en-US" altLang="en-US" sz="1600" b="1" dirty="0">
                <a:sym typeface="Symbol" pitchFamily="2" charset="2"/>
              </a:rPr>
              <a:t>As cells enter into the S phase, </a:t>
            </a:r>
            <a:r>
              <a:rPr lang="en-US" altLang="en-US" sz="1600" b="1" dirty="0" err="1">
                <a:sym typeface="Symbol" pitchFamily="2" charset="2"/>
              </a:rPr>
              <a:t>Cdk</a:t>
            </a:r>
            <a:r>
              <a:rPr lang="en-US" altLang="en-US" sz="1600" b="1" dirty="0">
                <a:sym typeface="Symbol" pitchFamily="2" charset="2"/>
              </a:rPr>
              <a:t> and </a:t>
            </a:r>
            <a:r>
              <a:rPr lang="en-US" altLang="en-US" sz="1600" b="1" dirty="0" err="1">
                <a:sym typeface="Symbol" pitchFamily="2" charset="2"/>
              </a:rPr>
              <a:t>DdK</a:t>
            </a:r>
            <a:r>
              <a:rPr lang="en-US" altLang="en-US" sz="1600" b="1" dirty="0">
                <a:sym typeface="Symbol" pitchFamily="2" charset="2"/>
              </a:rPr>
              <a:t> phosphorylates Cdc6 and Cdt1 and trigger the initiation of replication → release of Cdc6 and Cdt1</a:t>
            </a:r>
          </a:p>
          <a:p>
            <a:pPr eaLnBrk="1" hangingPunct="1">
              <a:lnSpc>
                <a:spcPct val="140000"/>
              </a:lnSpc>
              <a:buFont typeface="Wingdings" pitchFamily="2" charset="2"/>
              <a:buNone/>
            </a:pPr>
            <a:endParaRPr lang="en-US" altLang="en-US" sz="1600" b="1" dirty="0">
              <a:sym typeface="Symbol" pitchFamily="2" charset="2"/>
            </a:endParaRPr>
          </a:p>
          <a:p>
            <a:pPr eaLnBrk="1" hangingPunct="1">
              <a:lnSpc>
                <a:spcPct val="140000"/>
              </a:lnSpc>
              <a:buFont typeface="Wingdings" pitchFamily="2" charset="2"/>
              <a:buNone/>
            </a:pPr>
            <a:r>
              <a:rPr lang="en-US" altLang="en-US" sz="1600" b="1" dirty="0">
                <a:sym typeface="Symbol" pitchFamily="2" charset="2"/>
              </a:rPr>
              <a:t>The events that lead to unwinding of DNA are </a:t>
            </a:r>
            <a:r>
              <a:rPr lang="en-US" altLang="en-US" sz="1600" b="1" dirty="0">
                <a:solidFill>
                  <a:srgbClr val="0000FF"/>
                </a:solidFill>
                <a:sym typeface="Symbol" pitchFamily="2" charset="2"/>
              </a:rPr>
              <a:t>poorly understood</a:t>
            </a:r>
            <a:r>
              <a:rPr lang="en-US" altLang="en-US" sz="1600" b="1" dirty="0">
                <a:sym typeface="Symbol" pitchFamily="2" charset="2"/>
              </a:rPr>
              <a:t> but likely to require the activity of the </a:t>
            </a:r>
            <a:r>
              <a:rPr lang="en-US" altLang="en-US" sz="1600" b="1" dirty="0" err="1">
                <a:solidFill>
                  <a:srgbClr val="0000FF"/>
                </a:solidFill>
                <a:sym typeface="Symbol" pitchFamily="2" charset="2"/>
              </a:rPr>
              <a:t>Mcm</a:t>
            </a:r>
            <a:r>
              <a:rPr lang="en-US" altLang="en-US" sz="1600" b="1" dirty="0">
                <a:solidFill>
                  <a:srgbClr val="0000FF"/>
                </a:solidFill>
                <a:sym typeface="Symbol" pitchFamily="2" charset="2"/>
              </a:rPr>
              <a:t> complex</a:t>
            </a:r>
            <a:r>
              <a:rPr lang="en-US" altLang="en-US" sz="1600" b="1" dirty="0">
                <a:sym typeface="Symbol" pitchFamily="2" charset="2"/>
              </a:rPr>
              <a:t> and result in the recruitment of a </a:t>
            </a:r>
            <a:r>
              <a:rPr lang="en-US" altLang="en-US" sz="1600" b="1" dirty="0">
                <a:solidFill>
                  <a:srgbClr val="0000FF"/>
                </a:solidFill>
                <a:sym typeface="Symbol" pitchFamily="2" charset="2"/>
              </a:rPr>
              <a:t>number of auxiliary replication factors and DNA Pol </a:t>
            </a:r>
            <a:r>
              <a:rPr lang="el-GR" altLang="en-US" sz="1600" b="1" dirty="0">
                <a:solidFill>
                  <a:srgbClr val="0000FF"/>
                </a:solidFill>
                <a:sym typeface="Symbol" pitchFamily="2" charset="2"/>
              </a:rPr>
              <a:t>δ</a:t>
            </a:r>
            <a:r>
              <a:rPr lang="en-US" altLang="en-US" sz="1600" b="1" dirty="0">
                <a:solidFill>
                  <a:srgbClr val="0000FF"/>
                </a:solidFill>
                <a:sym typeface="Symbol" pitchFamily="2" charset="2"/>
              </a:rPr>
              <a:t>  and Pol </a:t>
            </a:r>
            <a:r>
              <a:rPr lang="el-GR" altLang="en-US" sz="1600" b="1" dirty="0">
                <a:solidFill>
                  <a:srgbClr val="0000FF"/>
                </a:solidFill>
                <a:sym typeface="Symbol" pitchFamily="2" charset="2"/>
              </a:rPr>
              <a:t>ε</a:t>
            </a:r>
            <a:r>
              <a:rPr lang="en-US" altLang="en-US" sz="1600" b="1" dirty="0">
                <a:solidFill>
                  <a:srgbClr val="0000FF"/>
                </a:solidFill>
                <a:sym typeface="Symbol" pitchFamily="2" charset="2"/>
              </a:rPr>
              <a:t> </a:t>
            </a:r>
          </a:p>
          <a:p>
            <a:pPr eaLnBrk="1" hangingPunct="1">
              <a:lnSpc>
                <a:spcPct val="140000"/>
              </a:lnSpc>
              <a:buFont typeface="Wingdings" pitchFamily="2" charset="2"/>
              <a:buNone/>
            </a:pPr>
            <a:endParaRPr lang="en-US" altLang="en-US" sz="1600" b="1" dirty="0">
              <a:solidFill>
                <a:srgbClr val="0000FF"/>
              </a:solidFill>
              <a:sym typeface="Symbol" pitchFamily="2" charset="2"/>
            </a:endParaRPr>
          </a:p>
          <a:p>
            <a:pPr eaLnBrk="1" hangingPunct="1">
              <a:lnSpc>
                <a:spcPct val="140000"/>
              </a:lnSpc>
              <a:buFont typeface="Wingdings" pitchFamily="2" charset="2"/>
              <a:buNone/>
            </a:pPr>
            <a:r>
              <a:rPr lang="en-US" altLang="en-US" sz="1600" b="1" dirty="0">
                <a:sym typeface="Symbol" pitchFamily="2" charset="2"/>
              </a:rPr>
              <a:t>Once present at the origin, DNA Pol </a:t>
            </a:r>
            <a:r>
              <a:rPr lang="el-GR" altLang="en-US" sz="1600" b="1" dirty="0">
                <a:sym typeface="Symbol" pitchFamily="2" charset="2"/>
              </a:rPr>
              <a:t>α</a:t>
            </a:r>
            <a:r>
              <a:rPr lang="en-US" altLang="en-US" sz="1600" dirty="0">
                <a:sym typeface="Symbol" pitchFamily="2" charset="2"/>
              </a:rPr>
              <a:t> </a:t>
            </a:r>
            <a:r>
              <a:rPr lang="en-US" altLang="en-US" sz="1600" b="1" dirty="0">
                <a:sym typeface="Symbol" pitchFamily="2" charset="2"/>
              </a:rPr>
              <a:t>/primase </a:t>
            </a:r>
            <a:r>
              <a:rPr lang="en-US" altLang="en-US" sz="1600" b="1" dirty="0">
                <a:solidFill>
                  <a:srgbClr val="0000FF"/>
                </a:solidFill>
                <a:sym typeface="Symbol" pitchFamily="2" charset="2"/>
              </a:rPr>
              <a:t>synthesizes an RNA primer and briefly extend it</a:t>
            </a:r>
            <a:r>
              <a:rPr lang="en-US" altLang="en-US" sz="1600" b="1" dirty="0">
                <a:sym typeface="Symbol" pitchFamily="2" charset="2"/>
              </a:rPr>
              <a:t> </a:t>
            </a:r>
          </a:p>
        </p:txBody>
      </p:sp>
      <p:pic>
        <p:nvPicPr>
          <p:cNvPr id="145412" name="Picture 3" descr="09_31Figure-L">
            <a:extLst>
              <a:ext uri="{FF2B5EF4-FFF2-40B4-BE49-F238E27FC236}">
                <a16:creationId xmlns:a16="http://schemas.microsoft.com/office/drawing/2014/main" id="{3EFE2B1A-16A6-EF3F-9826-A904C437F0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460"/>
          <a:stretch>
            <a:fillRect/>
          </a:stretch>
        </p:blipFill>
        <p:spPr bwMode="auto">
          <a:xfrm>
            <a:off x="4427538" y="1001713"/>
            <a:ext cx="4483100" cy="566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8" name="Picture 2" descr="H:\Amjad Courses\BT451\Molecular Biology of the Gene images\watson_mm_jpg_chap008\chap008\08_Figure31.jpg">
            <a:extLst>
              <a:ext uri="{FF2B5EF4-FFF2-40B4-BE49-F238E27FC236}">
                <a16:creationId xmlns:a16="http://schemas.microsoft.com/office/drawing/2014/main" id="{B157441F-5680-08A1-E375-E43D721377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0842" b="11198"/>
          <a:stretch>
            <a:fillRect/>
          </a:stretch>
        </p:blipFill>
        <p:spPr bwMode="auto">
          <a:xfrm>
            <a:off x="4500563" y="692150"/>
            <a:ext cx="4479925" cy="580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459" name="Rectangle 3">
            <a:extLst>
              <a:ext uri="{FF2B5EF4-FFF2-40B4-BE49-F238E27FC236}">
                <a16:creationId xmlns:a16="http://schemas.microsoft.com/office/drawing/2014/main" id="{71A26902-958D-373B-2F73-4F459B3BF1F8}"/>
              </a:ext>
            </a:extLst>
          </p:cNvPr>
          <p:cNvSpPr txBox="1">
            <a:spLocks noChangeArrowheads="1"/>
          </p:cNvSpPr>
          <p:nvPr/>
        </p:nvSpPr>
        <p:spPr bwMode="auto">
          <a:xfrm>
            <a:off x="468313" y="836613"/>
            <a:ext cx="4038600" cy="551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lnSpc>
                <a:spcPct val="140000"/>
              </a:lnSpc>
              <a:buFont typeface="Wingdings" pitchFamily="2" charset="2"/>
              <a:buNone/>
            </a:pPr>
            <a:r>
              <a:rPr lang="en-US" altLang="en-US" sz="1800" b="1" dirty="0">
                <a:sym typeface="Symbol" pitchFamily="2" charset="2"/>
              </a:rPr>
              <a:t>The resulting primer: template junction is recognized by the eukaryotic </a:t>
            </a:r>
            <a:r>
              <a:rPr lang="en-US" altLang="en-US" sz="1800" b="1" dirty="0">
                <a:solidFill>
                  <a:srgbClr val="0000FF"/>
                </a:solidFill>
                <a:sym typeface="Symbol" pitchFamily="2" charset="2"/>
              </a:rPr>
              <a:t>sliding clamp loader (RF-C)</a:t>
            </a:r>
            <a:r>
              <a:rPr lang="en-US" altLang="en-US" sz="1800" b="1" dirty="0">
                <a:sym typeface="Symbol" pitchFamily="2" charset="2"/>
              </a:rPr>
              <a:t> which assembles a sliding clamp (PCNA) at these sites</a:t>
            </a:r>
          </a:p>
          <a:p>
            <a:pPr eaLnBrk="1" hangingPunct="1">
              <a:lnSpc>
                <a:spcPct val="140000"/>
              </a:lnSpc>
              <a:buFont typeface="Wingdings" pitchFamily="2" charset="2"/>
              <a:buNone/>
            </a:pPr>
            <a:r>
              <a:rPr lang="en-US" altLang="en-US" sz="1800" b="1" dirty="0">
                <a:solidFill>
                  <a:srgbClr val="0000FF"/>
                </a:solidFill>
                <a:sym typeface="Symbol" pitchFamily="2" charset="2"/>
              </a:rPr>
              <a:t>DNA Pol </a:t>
            </a:r>
            <a:r>
              <a:rPr lang="el-GR" altLang="en-US" sz="1800" b="1" dirty="0">
                <a:solidFill>
                  <a:srgbClr val="0000FF"/>
                </a:solidFill>
                <a:sym typeface="Symbol" pitchFamily="2" charset="2"/>
              </a:rPr>
              <a:t>ε</a:t>
            </a:r>
            <a:r>
              <a:rPr lang="en-US" altLang="en-US" sz="1800" b="1" dirty="0">
                <a:sym typeface="Symbol" pitchFamily="2" charset="2"/>
              </a:rPr>
              <a:t>  recognizes this primer and begins </a:t>
            </a:r>
            <a:r>
              <a:rPr lang="en-US" altLang="en-US" sz="1800" b="1" dirty="0">
                <a:solidFill>
                  <a:srgbClr val="0000FF"/>
                </a:solidFill>
                <a:sym typeface="Symbol" pitchFamily="2" charset="2"/>
              </a:rPr>
              <a:t>leading strand</a:t>
            </a:r>
            <a:r>
              <a:rPr lang="en-US" altLang="en-US" sz="1800" b="1" dirty="0">
                <a:sym typeface="Symbol" pitchFamily="2" charset="2"/>
              </a:rPr>
              <a:t> synthesis.</a:t>
            </a:r>
          </a:p>
          <a:p>
            <a:pPr eaLnBrk="1" hangingPunct="1">
              <a:lnSpc>
                <a:spcPct val="140000"/>
              </a:lnSpc>
              <a:buFont typeface="Wingdings" pitchFamily="2" charset="2"/>
              <a:buNone/>
            </a:pPr>
            <a:endParaRPr lang="en-US" altLang="en-US" sz="1800" b="1" dirty="0">
              <a:sym typeface="Symbol" pitchFamily="2" charset="2"/>
            </a:endParaRPr>
          </a:p>
          <a:p>
            <a:pPr eaLnBrk="1" hangingPunct="1">
              <a:lnSpc>
                <a:spcPct val="140000"/>
              </a:lnSpc>
              <a:buFont typeface="Wingdings" pitchFamily="2" charset="2"/>
              <a:buNone/>
            </a:pPr>
            <a:r>
              <a:rPr lang="en-US" altLang="en-US" sz="1800" b="1" dirty="0">
                <a:sym typeface="Symbol" pitchFamily="2" charset="2"/>
              </a:rPr>
              <a:t>After a period of DNA unwinding , </a:t>
            </a:r>
            <a:r>
              <a:rPr lang="en-US" altLang="en-US" sz="1800" b="1" dirty="0">
                <a:solidFill>
                  <a:srgbClr val="0000FF"/>
                </a:solidFill>
                <a:sym typeface="Symbol" pitchFamily="2" charset="2"/>
              </a:rPr>
              <a:t>DNA Pol </a:t>
            </a:r>
            <a:r>
              <a:rPr lang="el-GR" altLang="en-US" sz="1800" b="1" dirty="0">
                <a:solidFill>
                  <a:srgbClr val="0000FF"/>
                </a:solidFill>
                <a:sym typeface="Symbol" pitchFamily="2" charset="2"/>
              </a:rPr>
              <a:t>α</a:t>
            </a:r>
            <a:r>
              <a:rPr lang="en-US" altLang="en-US" sz="1800" b="1" dirty="0">
                <a:solidFill>
                  <a:srgbClr val="0000FF"/>
                </a:solidFill>
                <a:sym typeface="Symbol" pitchFamily="2" charset="2"/>
              </a:rPr>
              <a:t>/primase synthesizes</a:t>
            </a:r>
            <a:r>
              <a:rPr lang="en-US" altLang="en-US" sz="1800" b="1" dirty="0">
                <a:sym typeface="Symbol" pitchFamily="2" charset="2"/>
              </a:rPr>
              <a:t> additional primers, which allow the initiation of </a:t>
            </a:r>
            <a:r>
              <a:rPr lang="en-US" altLang="en-US" sz="1800" b="1" dirty="0">
                <a:solidFill>
                  <a:srgbClr val="0000FF"/>
                </a:solidFill>
                <a:sym typeface="Symbol" pitchFamily="2" charset="2"/>
              </a:rPr>
              <a:t>lagging strand</a:t>
            </a:r>
            <a:r>
              <a:rPr lang="en-US" altLang="en-US" sz="1800" b="1" dirty="0">
                <a:sym typeface="Symbol" pitchFamily="2" charset="2"/>
              </a:rPr>
              <a:t> synthesis by </a:t>
            </a:r>
            <a:r>
              <a:rPr lang="en-US" altLang="en-US" sz="1800" b="1" dirty="0">
                <a:solidFill>
                  <a:srgbClr val="0000FF"/>
                </a:solidFill>
                <a:sym typeface="Symbol" pitchFamily="2" charset="2"/>
              </a:rPr>
              <a:t>Pol </a:t>
            </a:r>
            <a:r>
              <a:rPr lang="el-GR" altLang="en-US" sz="1800" b="1" dirty="0">
                <a:solidFill>
                  <a:srgbClr val="0000FF"/>
                </a:solidFill>
                <a:sym typeface="Symbol" pitchFamily="2" charset="2"/>
              </a:rPr>
              <a:t>δ</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EE53B883-A39F-928B-E973-6C2881068FF2}"/>
              </a:ext>
            </a:extLst>
          </p:cNvPr>
          <p:cNvSpPr>
            <a:spLocks noGrp="1" noChangeArrowheads="1"/>
          </p:cNvSpPr>
          <p:nvPr>
            <p:ph type="title"/>
          </p:nvPr>
        </p:nvSpPr>
        <p:spPr>
          <a:xfrm>
            <a:off x="395288" y="188913"/>
            <a:ext cx="7543800" cy="1146175"/>
          </a:xfrm>
        </p:spPr>
        <p:txBody>
          <a:bodyPr/>
          <a:lstStyle/>
          <a:p>
            <a:pPr eaLnBrk="1" hangingPunct="1"/>
            <a:r>
              <a:rPr lang="en-GB" altLang="en-US" sz="2200" dirty="0">
                <a:solidFill>
                  <a:srgbClr val="0000FF"/>
                </a:solidFill>
              </a:rPr>
              <a:t>How do eukaryotic cells control the activity of thousands of origin of replications such that not even one is activated more than once during a cell cycle?</a:t>
            </a:r>
          </a:p>
        </p:txBody>
      </p:sp>
      <p:sp>
        <p:nvSpPr>
          <p:cNvPr id="149507" name="Rectangle 3">
            <a:extLst>
              <a:ext uri="{FF2B5EF4-FFF2-40B4-BE49-F238E27FC236}">
                <a16:creationId xmlns:a16="http://schemas.microsoft.com/office/drawing/2014/main" id="{B407049F-C684-3FCF-D8EE-4E20A4CA3B7A}"/>
              </a:ext>
            </a:extLst>
          </p:cNvPr>
          <p:cNvSpPr>
            <a:spLocks noGrp="1" noChangeArrowheads="1"/>
          </p:cNvSpPr>
          <p:nvPr>
            <p:ph type="body" sz="half" idx="1"/>
          </p:nvPr>
        </p:nvSpPr>
        <p:spPr>
          <a:xfrm>
            <a:off x="323850" y="5732463"/>
            <a:ext cx="8496300" cy="865187"/>
          </a:xfrm>
        </p:spPr>
        <p:txBody>
          <a:bodyPr/>
          <a:lstStyle/>
          <a:p>
            <a:pPr eaLnBrk="1" hangingPunct="1"/>
            <a:r>
              <a:rPr lang="en-US" altLang="en-US" sz="2200" b="1" dirty="0">
                <a:sym typeface="Symbol" pitchFamily="2" charset="2"/>
              </a:rPr>
              <a:t>Through tight regulation of the formation and activation of pre-RCs by </a:t>
            </a:r>
            <a:r>
              <a:rPr lang="en-US" altLang="en-US" sz="2200" b="1" dirty="0" err="1">
                <a:sym typeface="Symbol" pitchFamily="2" charset="2"/>
              </a:rPr>
              <a:t>CdKs</a:t>
            </a:r>
            <a:endParaRPr lang="en-US" altLang="en-US" sz="2200" b="1" dirty="0">
              <a:sym typeface="Symbol" pitchFamily="2" charset="2"/>
            </a:endParaRPr>
          </a:p>
        </p:txBody>
      </p:sp>
      <p:pic>
        <p:nvPicPr>
          <p:cNvPr id="149508" name="Picture 3" descr="09_33Figure-L">
            <a:extLst>
              <a:ext uri="{FF2B5EF4-FFF2-40B4-BE49-F238E27FC236}">
                <a16:creationId xmlns:a16="http://schemas.microsoft.com/office/drawing/2014/main" id="{9C3305F1-4847-729E-3619-2FD87CEC791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b="2646"/>
          <a:stretch>
            <a:fillRect/>
          </a:stretch>
        </p:blipFill>
        <p:spPr>
          <a:xfrm>
            <a:off x="1692275" y="1412875"/>
            <a:ext cx="6130925" cy="4176713"/>
          </a:xfrm>
          <a:noFill/>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a:extLst>
              <a:ext uri="{FF2B5EF4-FFF2-40B4-BE49-F238E27FC236}">
                <a16:creationId xmlns:a16="http://schemas.microsoft.com/office/drawing/2014/main" id="{F1F6C317-8638-2F72-F325-771B28DC41AF}"/>
              </a:ext>
            </a:extLst>
          </p:cNvPr>
          <p:cNvSpPr>
            <a:spLocks noGrp="1" noChangeArrowheads="1"/>
          </p:cNvSpPr>
          <p:nvPr>
            <p:ph type="title"/>
          </p:nvPr>
        </p:nvSpPr>
        <p:spPr>
          <a:xfrm>
            <a:off x="611188" y="0"/>
            <a:ext cx="7543800" cy="974725"/>
          </a:xfrm>
        </p:spPr>
        <p:txBody>
          <a:bodyPr/>
          <a:lstStyle/>
          <a:p>
            <a:pPr eaLnBrk="1" hangingPunct="1"/>
            <a:r>
              <a:rPr lang="en-US" altLang="en-US" sz="3100">
                <a:solidFill>
                  <a:srgbClr val="0000FF"/>
                </a:solidFill>
              </a:rPr>
              <a:t>Cell cycle regulation of Cdk activity and pre-RC formation</a:t>
            </a:r>
            <a:endParaRPr lang="en-GB" altLang="en-US" sz="3100">
              <a:solidFill>
                <a:srgbClr val="0000FF"/>
              </a:solidFill>
            </a:endParaRPr>
          </a:p>
        </p:txBody>
      </p:sp>
      <p:pic>
        <p:nvPicPr>
          <p:cNvPr id="151555" name="Picture 3" descr="09_34Figure-L">
            <a:extLst>
              <a:ext uri="{FF2B5EF4-FFF2-40B4-BE49-F238E27FC236}">
                <a16:creationId xmlns:a16="http://schemas.microsoft.com/office/drawing/2014/main" id="{0B9A24A7-619D-5493-3F6C-D935A7B4A7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460"/>
          <a:stretch>
            <a:fillRect/>
          </a:stretch>
        </p:blipFill>
        <p:spPr bwMode="auto">
          <a:xfrm>
            <a:off x="1258888" y="1052513"/>
            <a:ext cx="6049962"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66701E56-8EFC-C6D9-67BC-2C6254A726FF}"/>
              </a:ext>
            </a:extLst>
          </p:cNvPr>
          <p:cNvSpPr>
            <a:spLocks noGrp="1" noChangeArrowheads="1"/>
          </p:cNvSpPr>
          <p:nvPr>
            <p:ph type="ctrTitle"/>
          </p:nvPr>
        </p:nvSpPr>
        <p:spPr>
          <a:xfrm>
            <a:off x="323850" y="2997200"/>
            <a:ext cx="6781800" cy="1044575"/>
          </a:xfrm>
        </p:spPr>
        <p:txBody>
          <a:bodyPr/>
          <a:lstStyle/>
          <a:p>
            <a:pPr eaLnBrk="1" hangingPunct="1"/>
            <a:r>
              <a:rPr lang="en-US" altLang="en-US">
                <a:solidFill>
                  <a:srgbClr val="0000FF"/>
                </a:solidFill>
              </a:rPr>
              <a:t>Finishing Replication</a:t>
            </a:r>
            <a:endParaRPr lang="en-GB" altLang="en-US">
              <a:solidFill>
                <a:srgbClr val="0000FF"/>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92750579-4A33-6BD9-2FE7-93D2F08F922E}"/>
              </a:ext>
            </a:extLst>
          </p:cNvPr>
          <p:cNvSpPr>
            <a:spLocks noGrp="1" noChangeArrowheads="1"/>
          </p:cNvSpPr>
          <p:nvPr>
            <p:ph type="title"/>
          </p:nvPr>
        </p:nvSpPr>
        <p:spPr/>
        <p:txBody>
          <a:bodyPr/>
          <a:lstStyle/>
          <a:p>
            <a:pPr eaLnBrk="1" hangingPunct="1"/>
            <a:r>
              <a:rPr lang="en-US" altLang="en-US">
                <a:solidFill>
                  <a:srgbClr val="0000FF"/>
                </a:solidFill>
              </a:rPr>
              <a:t>Finishing replication in Prokaryotes</a:t>
            </a:r>
            <a:endParaRPr lang="en-GB" altLang="en-US">
              <a:solidFill>
                <a:srgbClr val="0000FF"/>
              </a:solidFill>
            </a:endParaRPr>
          </a:p>
        </p:txBody>
      </p:sp>
      <p:sp>
        <p:nvSpPr>
          <p:cNvPr id="155651" name="Rectangle 3">
            <a:extLst>
              <a:ext uri="{FF2B5EF4-FFF2-40B4-BE49-F238E27FC236}">
                <a16:creationId xmlns:a16="http://schemas.microsoft.com/office/drawing/2014/main" id="{55F00416-2CC3-EA38-FA5E-82D7C980C357}"/>
              </a:ext>
            </a:extLst>
          </p:cNvPr>
          <p:cNvSpPr>
            <a:spLocks noGrp="1" noChangeArrowheads="1"/>
          </p:cNvSpPr>
          <p:nvPr>
            <p:ph type="body" sz="half" idx="1"/>
          </p:nvPr>
        </p:nvSpPr>
        <p:spPr>
          <a:xfrm>
            <a:off x="457200" y="1719263"/>
            <a:ext cx="5483225" cy="4411662"/>
          </a:xfrm>
        </p:spPr>
        <p:txBody>
          <a:bodyPr/>
          <a:lstStyle/>
          <a:p>
            <a:pPr eaLnBrk="1" hangingPunct="1"/>
            <a:r>
              <a:rPr lang="en-US" altLang="en-US" sz="2600"/>
              <a:t>Two linked circular DNA are called </a:t>
            </a:r>
            <a:r>
              <a:rPr lang="en-US" altLang="en-US" sz="2600" b="1">
                <a:solidFill>
                  <a:srgbClr val="C00000"/>
                </a:solidFill>
              </a:rPr>
              <a:t>catenate</a:t>
            </a:r>
            <a:r>
              <a:rPr lang="en-US" altLang="en-US" sz="2600">
                <a:solidFill>
                  <a:srgbClr val="0000FF"/>
                </a:solidFill>
              </a:rPr>
              <a:t>   </a:t>
            </a:r>
          </a:p>
          <a:p>
            <a:pPr eaLnBrk="1" hangingPunct="1"/>
            <a:endParaRPr lang="en-US" altLang="en-US" sz="2600"/>
          </a:p>
          <a:p>
            <a:pPr eaLnBrk="1" hangingPunct="1"/>
            <a:r>
              <a:rPr lang="en-US" altLang="en-US" sz="2600" b="1">
                <a:solidFill>
                  <a:srgbClr val="C00000"/>
                </a:solidFill>
              </a:rPr>
              <a:t>Decatenation</a:t>
            </a:r>
            <a:r>
              <a:rPr lang="en-US" altLang="en-US" sz="2600"/>
              <a:t> through topoisomerase II </a:t>
            </a:r>
          </a:p>
          <a:p>
            <a:pPr eaLnBrk="1" hangingPunct="1"/>
            <a:endParaRPr lang="en-US" altLang="en-US" sz="2600"/>
          </a:p>
          <a:p>
            <a:pPr eaLnBrk="1" hangingPunct="1"/>
            <a:r>
              <a:rPr lang="en-US" altLang="en-US" sz="2600"/>
              <a:t>Topoisomerase II also needed to solve the problem for linear DNA loops around scaffold</a:t>
            </a:r>
            <a:endParaRPr lang="en-GB" altLang="en-US" sz="2600"/>
          </a:p>
        </p:txBody>
      </p:sp>
      <p:pic>
        <p:nvPicPr>
          <p:cNvPr id="155652" name="Picture 4">
            <a:extLst>
              <a:ext uri="{FF2B5EF4-FFF2-40B4-BE49-F238E27FC236}">
                <a16:creationId xmlns:a16="http://schemas.microsoft.com/office/drawing/2014/main" id="{10BC1871-2505-5F06-20EA-5C9A6470BE4D}"/>
              </a:ext>
            </a:extLst>
          </p:cNvPr>
          <p:cNvPicPr>
            <a:picLocks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092825" y="0"/>
            <a:ext cx="3051175" cy="6742113"/>
          </a:xfr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05569424-E946-AC0C-B53D-3D5ED46BDE88}"/>
              </a:ext>
            </a:extLst>
          </p:cNvPr>
          <p:cNvSpPr>
            <a:spLocks noGrp="1" noChangeArrowheads="1"/>
          </p:cNvSpPr>
          <p:nvPr>
            <p:ph type="title"/>
          </p:nvPr>
        </p:nvSpPr>
        <p:spPr>
          <a:xfrm>
            <a:off x="-36512" y="0"/>
            <a:ext cx="2447925" cy="1800225"/>
          </a:xfrm>
        </p:spPr>
        <p:txBody>
          <a:bodyPr/>
          <a:lstStyle/>
          <a:p>
            <a:pPr eaLnBrk="1" hangingPunct="1"/>
            <a:r>
              <a:rPr lang="en-US" altLang="en-US" sz="3500" dirty="0">
                <a:solidFill>
                  <a:srgbClr val="0000FF"/>
                </a:solidFill>
              </a:rPr>
              <a:t>The end replication problem</a:t>
            </a:r>
          </a:p>
        </p:txBody>
      </p:sp>
      <p:pic>
        <p:nvPicPr>
          <p:cNvPr id="157699" name="Picture 4" descr="fg08-34">
            <a:extLst>
              <a:ext uri="{FF2B5EF4-FFF2-40B4-BE49-F238E27FC236}">
                <a16:creationId xmlns:a16="http://schemas.microsoft.com/office/drawing/2014/main" id="{FA7A1C63-D240-0F59-9B23-B76C6D6942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578" r="9920" b="4054"/>
          <a:stretch>
            <a:fillRect/>
          </a:stretch>
        </p:blipFill>
        <p:spPr bwMode="auto">
          <a:xfrm>
            <a:off x="2987824" y="44624"/>
            <a:ext cx="381377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0" name="TextBox 3">
            <a:extLst>
              <a:ext uri="{FF2B5EF4-FFF2-40B4-BE49-F238E27FC236}">
                <a16:creationId xmlns:a16="http://schemas.microsoft.com/office/drawing/2014/main" id="{5EC4396F-365E-CBF5-DB5D-9EB50EB6A84B}"/>
              </a:ext>
            </a:extLst>
          </p:cNvPr>
          <p:cNvSpPr txBox="1">
            <a:spLocks noChangeArrowheads="1"/>
          </p:cNvSpPr>
          <p:nvPr/>
        </p:nvSpPr>
        <p:spPr bwMode="auto">
          <a:xfrm>
            <a:off x="-108520" y="1916113"/>
            <a:ext cx="3240088"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4625" indent="-174625">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 typeface="Arial" panose="020B0604020202020204" pitchFamily="34" charset="0"/>
              <a:buChar char="•"/>
            </a:pPr>
            <a:r>
              <a:rPr lang="en-US" altLang="en-US" sz="2400" dirty="0"/>
              <a:t>Requirement for multiple primers to complete lagging strand synthesis</a:t>
            </a:r>
          </a:p>
          <a:p>
            <a:pPr eaLnBrk="1" hangingPunct="1">
              <a:spcBef>
                <a:spcPct val="0"/>
              </a:spcBef>
              <a:buClrTx/>
              <a:buSzTx/>
              <a:buFont typeface="Arial" panose="020B0604020202020204" pitchFamily="34" charset="0"/>
              <a:buChar char="•"/>
            </a:pPr>
            <a:r>
              <a:rPr lang="en-US" altLang="en-US" sz="2400" dirty="0"/>
              <a:t>There will remain a short region of </a:t>
            </a:r>
            <a:r>
              <a:rPr lang="en-US" altLang="en-US" sz="2400" dirty="0" err="1"/>
              <a:t>unreplicated</a:t>
            </a:r>
            <a:r>
              <a:rPr lang="en-US" altLang="en-US" sz="2400" dirty="0"/>
              <a:t> ssDNA at the end of the chromosomes → shortening of one of the daughter molecules</a:t>
            </a:r>
          </a:p>
        </p:txBody>
      </p:sp>
      <p:sp>
        <p:nvSpPr>
          <p:cNvPr id="3" name="TextBox 2">
            <a:extLst>
              <a:ext uri="{FF2B5EF4-FFF2-40B4-BE49-F238E27FC236}">
                <a16:creationId xmlns:a16="http://schemas.microsoft.com/office/drawing/2014/main" id="{4E254053-EA9F-0477-D9CA-5147E9011B87}"/>
              </a:ext>
            </a:extLst>
          </p:cNvPr>
          <p:cNvSpPr txBox="1"/>
          <p:nvPr/>
        </p:nvSpPr>
        <p:spPr>
          <a:xfrm>
            <a:off x="6732240" y="1916832"/>
            <a:ext cx="2304256" cy="3293209"/>
          </a:xfrm>
          <a:prstGeom prst="rect">
            <a:avLst/>
          </a:prstGeom>
          <a:noFill/>
        </p:spPr>
        <p:txBody>
          <a:bodyPr wrap="square">
            <a:spAutoFit/>
          </a:bodyPr>
          <a:lstStyle/>
          <a:p>
            <a:pPr eaLnBrk="1" hangingPunct="1"/>
            <a:r>
              <a:rPr lang="en-US" altLang="en-US" sz="1600" dirty="0">
                <a:latin typeface="Arial" panose="020B0604020202020204" pitchFamily="34" charset="0"/>
                <a:cs typeface="Arial" panose="020B0604020202020204" pitchFamily="34" charset="0"/>
              </a:rPr>
              <a:t>Even if the end of the last RNA primer for Okazaki fragment synthesis anneals to the final base pairs of the lagging strand template, once this RNA molecule is removed, there will remain a short region of </a:t>
            </a:r>
            <a:r>
              <a:rPr lang="en-US" altLang="en-US" sz="1600" dirty="0" err="1">
                <a:latin typeface="Arial" panose="020B0604020202020204" pitchFamily="34" charset="0"/>
                <a:cs typeface="Arial" panose="020B0604020202020204" pitchFamily="34" charset="0"/>
              </a:rPr>
              <a:t>unreplicated</a:t>
            </a:r>
            <a:r>
              <a:rPr lang="en-US" altLang="en-US" sz="1600" dirty="0">
                <a:latin typeface="Arial" panose="020B0604020202020204" pitchFamily="34" charset="0"/>
                <a:cs typeface="Arial" panose="020B0604020202020204" pitchFamily="34" charset="0"/>
              </a:rPr>
              <a:t> ssDNA at the end of the chromosomes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C1805045-31C0-C569-5215-7615C1066EDB}"/>
              </a:ext>
            </a:extLst>
          </p:cNvPr>
          <p:cNvSpPr>
            <a:spLocks noGrp="1" noChangeArrowheads="1"/>
          </p:cNvSpPr>
          <p:nvPr>
            <p:ph type="title"/>
          </p:nvPr>
        </p:nvSpPr>
        <p:spPr>
          <a:xfrm>
            <a:off x="395288" y="0"/>
            <a:ext cx="7543800" cy="1157288"/>
          </a:xfrm>
        </p:spPr>
        <p:txBody>
          <a:bodyPr/>
          <a:lstStyle/>
          <a:p>
            <a:pPr eaLnBrk="1" hangingPunct="1"/>
            <a:r>
              <a:rPr lang="en-US" altLang="en-US" sz="3000">
                <a:solidFill>
                  <a:srgbClr val="FF0000"/>
                </a:solidFill>
              </a:rPr>
              <a:t>A priming protein </a:t>
            </a:r>
            <a:r>
              <a:rPr lang="en-US" altLang="en-US" sz="3000">
                <a:solidFill>
                  <a:srgbClr val="0000FF"/>
                </a:solidFill>
              </a:rPr>
              <a:t>binds to the last Okazaki fragment in the lagging strand</a:t>
            </a:r>
          </a:p>
        </p:txBody>
      </p:sp>
      <p:pic>
        <p:nvPicPr>
          <p:cNvPr id="159747" name="Picture 4" descr="fg08-35">
            <a:extLst>
              <a:ext uri="{FF2B5EF4-FFF2-40B4-BE49-F238E27FC236}">
                <a16:creationId xmlns:a16="http://schemas.microsoft.com/office/drawing/2014/main" id="{B62704A7-2E93-9137-2C4A-15AF131752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076"/>
          <a:stretch>
            <a:fillRect/>
          </a:stretch>
        </p:blipFill>
        <p:spPr bwMode="auto">
          <a:xfrm>
            <a:off x="827088" y="1412875"/>
            <a:ext cx="6985000"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48" name="Rectangle 1">
            <a:extLst>
              <a:ext uri="{FF2B5EF4-FFF2-40B4-BE49-F238E27FC236}">
                <a16:creationId xmlns:a16="http://schemas.microsoft.com/office/drawing/2014/main" id="{E2969670-ABDD-4C29-EFD6-490E2E650423}"/>
              </a:ext>
            </a:extLst>
          </p:cNvPr>
          <p:cNvSpPr>
            <a:spLocks noChangeArrowheads="1"/>
          </p:cNvSpPr>
          <p:nvPr/>
        </p:nvSpPr>
        <p:spPr bwMode="auto">
          <a:xfrm>
            <a:off x="827088" y="5934075"/>
            <a:ext cx="7848600" cy="647700"/>
          </a:xfrm>
          <a:prstGeom prst="rect">
            <a:avLst/>
          </a:prstGeom>
          <a:solidFill>
            <a:schemeClr val="accent5">
              <a:lumMod val="60000"/>
              <a:lumOff val="40000"/>
            </a:schemeClr>
          </a:solidFill>
          <a:ln>
            <a:noFill/>
          </a:ln>
        </p:spPr>
        <p:txBody>
          <a:bodyPr>
            <a:spAutoFit/>
          </a:bodyPr>
          <a:lstStyle>
            <a:lvl1pPr marL="285750" indent="-2857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Char char="•"/>
              <a:defRPr/>
            </a:pPr>
            <a:r>
              <a:rPr lang="en-US" altLang="en-US" b="1" dirty="0">
                <a:solidFill>
                  <a:srgbClr val="7030A0"/>
                </a:solidFill>
              </a:rPr>
              <a:t>The priming protein provides an OH that replaces the 3’OH normally provided by the primer</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A5F59AA1-2C40-406F-A0F3-D1321211D105}"/>
              </a:ext>
            </a:extLst>
          </p:cNvPr>
          <p:cNvSpPr>
            <a:spLocks noGrp="1" noChangeArrowheads="1"/>
          </p:cNvSpPr>
          <p:nvPr>
            <p:ph type="title"/>
          </p:nvPr>
        </p:nvSpPr>
        <p:spPr>
          <a:xfrm>
            <a:off x="457200" y="122238"/>
            <a:ext cx="7543800" cy="785812"/>
          </a:xfrm>
        </p:spPr>
        <p:txBody>
          <a:bodyPr/>
          <a:lstStyle/>
          <a:p>
            <a:pPr algn="ctr" eaLnBrk="1" hangingPunct="1"/>
            <a:r>
              <a:rPr lang="en-US" altLang="en-US" sz="3000">
                <a:solidFill>
                  <a:srgbClr val="0000FF"/>
                </a:solidFill>
              </a:rPr>
              <a:t>Replication of telomeres by </a:t>
            </a:r>
            <a:r>
              <a:rPr lang="en-US" altLang="en-US" sz="3000">
                <a:solidFill>
                  <a:srgbClr val="FF0000"/>
                </a:solidFill>
              </a:rPr>
              <a:t>Telomerase</a:t>
            </a:r>
          </a:p>
        </p:txBody>
      </p:sp>
      <p:sp>
        <p:nvSpPr>
          <p:cNvPr id="161795" name="Rectangle 3">
            <a:extLst>
              <a:ext uri="{FF2B5EF4-FFF2-40B4-BE49-F238E27FC236}">
                <a16:creationId xmlns:a16="http://schemas.microsoft.com/office/drawing/2014/main" id="{F8D046D5-9A4A-3091-DC68-1F04690EE0B6}"/>
              </a:ext>
            </a:extLst>
          </p:cNvPr>
          <p:cNvSpPr>
            <a:spLocks noGrp="1" noChangeArrowheads="1"/>
          </p:cNvSpPr>
          <p:nvPr>
            <p:ph type="body" sz="half" idx="1"/>
          </p:nvPr>
        </p:nvSpPr>
        <p:spPr>
          <a:xfrm>
            <a:off x="2051050" y="1557338"/>
            <a:ext cx="4038600" cy="4411662"/>
          </a:xfrm>
        </p:spPr>
        <p:txBody>
          <a:bodyPr/>
          <a:lstStyle/>
          <a:p>
            <a:pPr eaLnBrk="1" hangingPunct="1"/>
            <a:r>
              <a:rPr lang="en-US" altLang="en-US" sz="2600"/>
              <a:t>Is a ribonucleoprotein</a:t>
            </a:r>
          </a:p>
          <a:p>
            <a:pPr eaLnBrk="1" hangingPunct="1"/>
            <a:endParaRPr lang="en-US" altLang="en-US" sz="2600"/>
          </a:p>
          <a:p>
            <a:pPr eaLnBrk="1" hangingPunct="1"/>
            <a:r>
              <a:rPr lang="en-US" altLang="en-US" sz="2600"/>
              <a:t>Responsible for elongating the 3` strand</a:t>
            </a:r>
            <a:endParaRPr lang="en-GB" altLang="en-US" sz="2600"/>
          </a:p>
        </p:txBody>
      </p:sp>
      <p:pic>
        <p:nvPicPr>
          <p:cNvPr id="161796" name="Picture 5">
            <a:extLst>
              <a:ext uri="{FF2B5EF4-FFF2-40B4-BE49-F238E27FC236}">
                <a16:creationId xmlns:a16="http://schemas.microsoft.com/office/drawing/2014/main" id="{90345AE9-116B-E10F-F62D-BCE111D986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34" t="6140" r="8168" b="2025"/>
          <a:stretch>
            <a:fillRect/>
          </a:stretch>
        </p:blipFill>
        <p:spPr bwMode="auto">
          <a:xfrm>
            <a:off x="2700338" y="3789363"/>
            <a:ext cx="3600450" cy="192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48555A65-B646-3A72-FBF7-E0A104AB8404}"/>
              </a:ext>
            </a:extLst>
          </p:cNvPr>
          <p:cNvSpPr txBox="1"/>
          <p:nvPr/>
        </p:nvSpPr>
        <p:spPr>
          <a:xfrm>
            <a:off x="6444208" y="1582341"/>
            <a:ext cx="2520280" cy="4770537"/>
          </a:xfrm>
          <a:prstGeom prst="rect">
            <a:avLst/>
          </a:prstGeom>
          <a:noFill/>
        </p:spPr>
        <p:txBody>
          <a:bodyPr wrap="square">
            <a:spAutoFit/>
          </a:bodyPr>
          <a:lstStyle/>
          <a:p>
            <a:pPr eaLnBrk="1" hangingPunct="1"/>
            <a:r>
              <a:rPr lang="en-US" altLang="en-US" sz="1600" dirty="0">
                <a:latin typeface="Arial" panose="020B0604020202020204" pitchFamily="34" charset="0"/>
                <a:cs typeface="Arial" panose="020B0604020202020204" pitchFamily="34" charset="0"/>
              </a:rPr>
              <a:t>Most eukaryotic cells use a different solution to replicate their ends</a:t>
            </a:r>
          </a:p>
          <a:p>
            <a:pPr eaLnBrk="1" hangingPunct="1"/>
            <a:r>
              <a:rPr lang="en-US" altLang="en-US" sz="1600" dirty="0">
                <a:latin typeface="Arial" panose="020B0604020202020204" pitchFamily="34" charset="0"/>
                <a:cs typeface="Arial" panose="020B0604020202020204" pitchFamily="34" charset="0"/>
              </a:rPr>
              <a:t>They have telomeres: head to tail repeats of TG-rich sequence </a:t>
            </a:r>
          </a:p>
          <a:p>
            <a:pPr eaLnBrk="1" hangingPunct="1"/>
            <a:r>
              <a:rPr lang="en-US" altLang="en-US" sz="1600" dirty="0">
                <a:latin typeface="Arial" panose="020B0604020202020204" pitchFamily="34" charset="0"/>
                <a:cs typeface="Arial" panose="020B0604020202020204" pitchFamily="34" charset="0"/>
              </a:rPr>
              <a:t>In human </a:t>
            </a:r>
            <a:r>
              <a:rPr lang="en-US" altLang="en-US" sz="1600" b="1" dirty="0">
                <a:solidFill>
                  <a:srgbClr val="0000FF"/>
                </a:solidFill>
                <a:latin typeface="Arial" panose="020B0604020202020204" pitchFamily="34" charset="0"/>
                <a:cs typeface="Arial" panose="020B0604020202020204" pitchFamily="34" charset="0"/>
              </a:rPr>
              <a:t>5’ TTAGGG3’</a:t>
            </a:r>
          </a:p>
          <a:p>
            <a:pPr eaLnBrk="1" hangingPunct="1"/>
            <a:r>
              <a:rPr lang="en-US" altLang="en-US" sz="1600" dirty="0">
                <a:latin typeface="Arial" panose="020B0604020202020204" pitchFamily="34" charset="0"/>
                <a:cs typeface="Arial" panose="020B0604020202020204" pitchFamily="34" charset="0"/>
              </a:rPr>
              <a:t>Many are double stranded , the 3’ end of each chr extends beyond the 5’ end as ssDNA</a:t>
            </a:r>
          </a:p>
          <a:p>
            <a:pPr eaLnBrk="1" hangingPunct="1"/>
            <a:r>
              <a:rPr lang="en-US" altLang="en-US" sz="1600" dirty="0">
                <a:latin typeface="Arial" panose="020B0604020202020204" pitchFamily="34" charset="0"/>
                <a:cs typeface="Arial" panose="020B0604020202020204" pitchFamily="34" charset="0"/>
              </a:rPr>
              <a:t>Act as a novel origin of replication that compensates for the end replication problem</a:t>
            </a:r>
          </a:p>
          <a:p>
            <a:pPr eaLnBrk="1" hangingPunct="1"/>
            <a:r>
              <a:rPr lang="en-US" altLang="en-US" sz="1600" dirty="0">
                <a:latin typeface="Arial" panose="020B0604020202020204" pitchFamily="34" charset="0"/>
                <a:cs typeface="Arial" panose="020B0604020202020204" pitchFamily="34" charset="0"/>
              </a:rPr>
              <a:t>The sequence recruits a specialized DNA polymerase called </a:t>
            </a:r>
            <a:r>
              <a:rPr lang="en-US" altLang="en-US" sz="1600" b="1" dirty="0">
                <a:solidFill>
                  <a:srgbClr val="0000FF"/>
                </a:solidFill>
                <a:latin typeface="Arial" panose="020B0604020202020204" pitchFamily="34" charset="0"/>
                <a:cs typeface="Arial" panose="020B0604020202020204" pitchFamily="34" charset="0"/>
              </a:rPr>
              <a:t>telomerase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3">
            <a:extLst>
              <a:ext uri="{FF2B5EF4-FFF2-40B4-BE49-F238E27FC236}">
                <a16:creationId xmlns:a16="http://schemas.microsoft.com/office/drawing/2014/main" id="{71203B66-4BF9-70FB-F3F5-6207AF63B461}"/>
              </a:ext>
            </a:extLst>
          </p:cNvPr>
          <p:cNvSpPr>
            <a:spLocks noGrp="1" noChangeArrowheads="1"/>
          </p:cNvSpPr>
          <p:nvPr>
            <p:ph type="body" sz="half" idx="1"/>
          </p:nvPr>
        </p:nvSpPr>
        <p:spPr>
          <a:xfrm>
            <a:off x="495300" y="1557338"/>
            <a:ext cx="8135938" cy="4824412"/>
          </a:xfrm>
        </p:spPr>
        <p:txBody>
          <a:bodyPr/>
          <a:lstStyle/>
          <a:p>
            <a:pPr marL="495300" indent="-495300" eaLnBrk="1" hangingPunct="1">
              <a:buFont typeface="Wingdings" pitchFamily="2" charset="2"/>
              <a:buAutoNum type="arabicPeriod"/>
            </a:pPr>
            <a:r>
              <a:rPr lang="en-US" altLang="en-US" sz="2600" dirty="0">
                <a:solidFill>
                  <a:srgbClr val="0000FF"/>
                </a:solidFill>
              </a:rPr>
              <a:t>RNA component (TER): </a:t>
            </a:r>
            <a:r>
              <a:rPr lang="en-US" altLang="en-US" sz="2600" dirty="0"/>
              <a:t>act as a template for adding the telomeric sequence to the 3’ terminus (150 -1300 bases), in all organisms, it has a complement of the telomere (in human 5’-AAUCCCAAUC3’)</a:t>
            </a:r>
          </a:p>
          <a:p>
            <a:pPr marL="495300" indent="-495300" eaLnBrk="1" hangingPunct="1">
              <a:buFont typeface="Wingdings" pitchFamily="2" charset="2"/>
              <a:buAutoNum type="arabicPeriod"/>
            </a:pPr>
            <a:r>
              <a:rPr lang="en-US" altLang="en-US" sz="2600" dirty="0">
                <a:solidFill>
                  <a:srgbClr val="0000FF"/>
                </a:solidFill>
              </a:rPr>
              <a:t>Protein component (TERT): </a:t>
            </a:r>
            <a:r>
              <a:rPr lang="en-US" altLang="en-US" sz="2600" dirty="0"/>
              <a:t>reverse transcriptase enzyme: reverse transcribe RNA into DNA</a:t>
            </a:r>
          </a:p>
          <a:p>
            <a:pPr marL="495300" indent="-495300" eaLnBrk="1" hangingPunct="1"/>
            <a:endParaRPr lang="en-US" altLang="en-US" sz="2600" dirty="0"/>
          </a:p>
          <a:p>
            <a:pPr marL="495300" indent="-495300" eaLnBrk="1" hangingPunct="1"/>
            <a:r>
              <a:rPr lang="en-US" altLang="en-US" sz="2600" dirty="0">
                <a:solidFill>
                  <a:srgbClr val="7030A0"/>
                </a:solidFill>
              </a:rPr>
              <a:t>HOW does it work?......</a:t>
            </a:r>
            <a:r>
              <a:rPr lang="en-US" altLang="en-US" sz="2800" dirty="0">
                <a:solidFill>
                  <a:srgbClr val="7030A0"/>
                </a:solidFill>
              </a:rPr>
              <a:t> </a:t>
            </a:r>
            <a:r>
              <a:rPr lang="en-US" altLang="en-US" sz="2800" dirty="0"/>
              <a:t>Telomerase </a:t>
            </a:r>
            <a:r>
              <a:rPr lang="en-US" altLang="en-US" sz="2800" dirty="0" err="1"/>
              <a:t>sepcifically</a:t>
            </a:r>
            <a:r>
              <a:rPr lang="en-US" altLang="en-US" sz="2800" dirty="0"/>
              <a:t> </a:t>
            </a:r>
            <a:r>
              <a:rPr lang="en-US" altLang="en-US" sz="2800" dirty="0" err="1"/>
              <a:t>elonagates</a:t>
            </a:r>
            <a:r>
              <a:rPr lang="en-US" altLang="en-US" sz="2800" dirty="0"/>
              <a:t> the 3’OH of particular ssDNA sequences suing its own RNA as a template</a:t>
            </a:r>
          </a:p>
          <a:p>
            <a:pPr marL="495300" indent="-495300" eaLnBrk="1" hangingPunct="1"/>
            <a:endParaRPr lang="en-GB" altLang="en-US" sz="2600" dirty="0"/>
          </a:p>
        </p:txBody>
      </p:sp>
      <p:sp>
        <p:nvSpPr>
          <p:cNvPr id="163843" name="Title 5">
            <a:extLst>
              <a:ext uri="{FF2B5EF4-FFF2-40B4-BE49-F238E27FC236}">
                <a16:creationId xmlns:a16="http://schemas.microsoft.com/office/drawing/2014/main" id="{0E4D2980-BB65-FAD5-DE3B-E15943C8C9F0}"/>
              </a:ext>
            </a:extLst>
          </p:cNvPr>
          <p:cNvSpPr>
            <a:spLocks noGrp="1"/>
          </p:cNvSpPr>
          <p:nvPr>
            <p:ph type="title"/>
          </p:nvPr>
        </p:nvSpPr>
        <p:spPr>
          <a:xfrm>
            <a:off x="468313" y="260350"/>
            <a:ext cx="7642225" cy="941388"/>
          </a:xfrm>
        </p:spPr>
        <p:txBody>
          <a:bodyPr/>
          <a:lstStyle/>
          <a:p>
            <a:r>
              <a:rPr lang="en-US" altLang="en-US" sz="2800">
                <a:solidFill>
                  <a:srgbClr val="0000FF"/>
                </a:solidFill>
              </a:rPr>
              <a:t>Telomerase is a novel DNA polymerase that does not require an exogenous template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90" name="Picture 2" descr="H:\Amjad Courses\BT451\Molecular Biology of the Gene images\watson_mm_jpg_chap008\chap008\08_Figure37.jpg">
            <a:extLst>
              <a:ext uri="{FF2B5EF4-FFF2-40B4-BE49-F238E27FC236}">
                <a16:creationId xmlns:a16="http://schemas.microsoft.com/office/drawing/2014/main" id="{F4803823-BD10-BEC4-CAF5-F636D97D01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25538"/>
            <a:ext cx="8547100" cy="549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891" name="Title 5">
            <a:extLst>
              <a:ext uri="{FF2B5EF4-FFF2-40B4-BE49-F238E27FC236}">
                <a16:creationId xmlns:a16="http://schemas.microsoft.com/office/drawing/2014/main" id="{BBA43D9A-A48A-EA1A-B24F-61F42C753B99}"/>
              </a:ext>
            </a:extLst>
          </p:cNvPr>
          <p:cNvSpPr>
            <a:spLocks noGrp="1"/>
          </p:cNvSpPr>
          <p:nvPr>
            <p:ph type="title"/>
          </p:nvPr>
        </p:nvSpPr>
        <p:spPr>
          <a:xfrm>
            <a:off x="457200" y="122238"/>
            <a:ext cx="7543800" cy="785812"/>
          </a:xfrm>
        </p:spPr>
        <p:txBody>
          <a:bodyPr/>
          <a:lstStyle/>
          <a:p>
            <a:r>
              <a:rPr lang="en-US" altLang="en-US" sz="3000">
                <a:solidFill>
                  <a:srgbClr val="0000FF"/>
                </a:solidFill>
              </a:rPr>
              <a:t>Replication of telomeres by telomerase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Content Placeholder 5">
            <a:extLst>
              <a:ext uri="{FF2B5EF4-FFF2-40B4-BE49-F238E27FC236}">
                <a16:creationId xmlns:a16="http://schemas.microsoft.com/office/drawing/2014/main" id="{E5000DD1-A11E-8555-587C-FFD843C82492}"/>
              </a:ext>
            </a:extLst>
          </p:cNvPr>
          <p:cNvSpPr>
            <a:spLocks noGrp="1"/>
          </p:cNvSpPr>
          <p:nvPr>
            <p:ph idx="1"/>
          </p:nvPr>
        </p:nvSpPr>
        <p:spPr>
          <a:xfrm>
            <a:off x="457200" y="1719263"/>
            <a:ext cx="3754438" cy="4733925"/>
          </a:xfrm>
        </p:spPr>
        <p:txBody>
          <a:bodyPr/>
          <a:lstStyle/>
          <a:p>
            <a:r>
              <a:rPr lang="en-US" altLang="en-US" sz="2400"/>
              <a:t>The telomerase extends the 3'end of the telomere.</a:t>
            </a:r>
          </a:p>
          <a:p>
            <a:r>
              <a:rPr lang="en-US" altLang="en-US" sz="2400"/>
              <a:t>How is the 5' end extended?</a:t>
            </a:r>
          </a:p>
          <a:p>
            <a:r>
              <a:rPr lang="en-US" altLang="en-US" sz="2400"/>
              <a:t>By the lagging strand replication machinery</a:t>
            </a:r>
          </a:p>
          <a:p>
            <a:r>
              <a:rPr lang="en-US" altLang="en-US" sz="2400"/>
              <a:t>There remains a short ssDNA at the end of the chr for end for protection function of telomere</a:t>
            </a:r>
          </a:p>
        </p:txBody>
      </p:sp>
      <p:pic>
        <p:nvPicPr>
          <p:cNvPr id="167939" name="Picture 4" descr="fg08-37">
            <a:extLst>
              <a:ext uri="{FF2B5EF4-FFF2-40B4-BE49-F238E27FC236}">
                <a16:creationId xmlns:a16="http://schemas.microsoft.com/office/drawing/2014/main" id="{286D9838-0F7C-29C3-E908-451CA74675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54" r="8289" b="3999"/>
          <a:stretch>
            <a:fillRect/>
          </a:stretch>
        </p:blipFill>
        <p:spPr bwMode="auto">
          <a:xfrm>
            <a:off x="4211638" y="1371600"/>
            <a:ext cx="45720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940" name="Rectangle 2">
            <a:extLst>
              <a:ext uri="{FF2B5EF4-FFF2-40B4-BE49-F238E27FC236}">
                <a16:creationId xmlns:a16="http://schemas.microsoft.com/office/drawing/2014/main" id="{75093670-5195-6755-197B-080A6E104F1B}"/>
              </a:ext>
            </a:extLst>
          </p:cNvPr>
          <p:cNvSpPr>
            <a:spLocks noGrp="1" noChangeArrowheads="1"/>
          </p:cNvSpPr>
          <p:nvPr>
            <p:ph type="title"/>
          </p:nvPr>
        </p:nvSpPr>
        <p:spPr>
          <a:xfrm>
            <a:off x="0" y="115888"/>
            <a:ext cx="8280400" cy="1014412"/>
          </a:xfrm>
        </p:spPr>
        <p:txBody>
          <a:bodyPr/>
          <a:lstStyle/>
          <a:p>
            <a:pPr algn="ctr" eaLnBrk="1" hangingPunct="1"/>
            <a:r>
              <a:rPr lang="en-US" altLang="en-US" sz="2800">
                <a:solidFill>
                  <a:srgbClr val="0000FF"/>
                </a:solidFill>
              </a:rPr>
              <a:t>Telomerase solve the end replication problem by extending the 3’end of chromosome</a:t>
            </a:r>
            <a:endParaRPr lang="en-GB" altLang="en-US" sz="2800">
              <a:solidFill>
                <a:srgbClr val="0000FF"/>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0951903C-D5D7-A7BF-BBFE-22DDCB761D07}"/>
              </a:ext>
            </a:extLst>
          </p:cNvPr>
          <p:cNvSpPr>
            <a:spLocks noGrp="1" noChangeArrowheads="1"/>
          </p:cNvSpPr>
          <p:nvPr>
            <p:ph type="title"/>
          </p:nvPr>
        </p:nvSpPr>
        <p:spPr>
          <a:xfrm>
            <a:off x="395288" y="260350"/>
            <a:ext cx="7543800" cy="941388"/>
          </a:xfrm>
        </p:spPr>
        <p:txBody>
          <a:bodyPr/>
          <a:lstStyle/>
          <a:p>
            <a:pPr eaLnBrk="1" hangingPunct="1"/>
            <a:r>
              <a:rPr lang="en-US" altLang="en-US" sz="3200">
                <a:solidFill>
                  <a:srgbClr val="0000FF"/>
                </a:solidFill>
              </a:rPr>
              <a:t>Regulation of telomerase activity</a:t>
            </a:r>
            <a:endParaRPr lang="en-GB" altLang="en-US" sz="3200">
              <a:solidFill>
                <a:srgbClr val="0000FF"/>
              </a:solidFill>
            </a:endParaRPr>
          </a:p>
        </p:txBody>
      </p:sp>
      <p:sp>
        <p:nvSpPr>
          <p:cNvPr id="169987" name="Rectangle 3">
            <a:extLst>
              <a:ext uri="{FF2B5EF4-FFF2-40B4-BE49-F238E27FC236}">
                <a16:creationId xmlns:a16="http://schemas.microsoft.com/office/drawing/2014/main" id="{F0605F79-4973-0E9D-5FAE-930F1EBD3838}"/>
              </a:ext>
            </a:extLst>
          </p:cNvPr>
          <p:cNvSpPr>
            <a:spLocks noGrp="1" noChangeArrowheads="1"/>
          </p:cNvSpPr>
          <p:nvPr>
            <p:ph type="body" idx="1"/>
          </p:nvPr>
        </p:nvSpPr>
        <p:spPr/>
        <p:txBody>
          <a:bodyPr/>
          <a:lstStyle/>
          <a:p>
            <a:pPr eaLnBrk="1" hangingPunct="1"/>
            <a:r>
              <a:rPr lang="en-US" altLang="en-US"/>
              <a:t>NO telomerase </a:t>
            </a:r>
            <a:r>
              <a:rPr lang="en-US" altLang="en-US">
                <a:sym typeface="Symbol" pitchFamily="2" charset="2"/>
              </a:rPr>
              <a:t> NO maintenance of telomere  telomere loss </a:t>
            </a:r>
            <a:r>
              <a:rPr lang="en-US" altLang="en-US" sz="2200">
                <a:sym typeface="Symbol" pitchFamily="2" charset="2"/>
              </a:rPr>
              <a:t>(50-150 bp/end/division)</a:t>
            </a:r>
            <a:r>
              <a:rPr lang="en-US" altLang="en-US">
                <a:sym typeface="Symbol" pitchFamily="2" charset="2"/>
              </a:rPr>
              <a:t>  cell apoptosis</a:t>
            </a:r>
          </a:p>
          <a:p>
            <a:pPr eaLnBrk="1" hangingPunct="1"/>
            <a:endParaRPr lang="en-US" altLang="en-US">
              <a:sym typeface="Symbol" pitchFamily="2" charset="2"/>
            </a:endParaRPr>
          </a:p>
          <a:p>
            <a:pPr eaLnBrk="1" hangingPunct="1"/>
            <a:r>
              <a:rPr lang="en-US" altLang="en-US">
                <a:sym typeface="Symbol" pitchFamily="2" charset="2"/>
              </a:rPr>
              <a:t>Telomerase  telomere maintenance  immortal cell</a:t>
            </a:r>
          </a:p>
          <a:p>
            <a:pPr eaLnBrk="1" hangingPunct="1"/>
            <a:endParaRPr lang="en-US" altLang="en-US">
              <a:sym typeface="Symbol" pitchFamily="2" charset="2"/>
            </a:endParaRPr>
          </a:p>
          <a:p>
            <a:pPr algn="ctr" eaLnBrk="1" hangingPunct="1">
              <a:buFont typeface="Wingdings" pitchFamily="2" charset="2"/>
              <a:buNone/>
            </a:pPr>
            <a:r>
              <a:rPr lang="en-US" altLang="en-US" b="1">
                <a:solidFill>
                  <a:srgbClr val="7030A0"/>
                </a:solidFill>
                <a:sym typeface="Symbol" pitchFamily="2" charset="2"/>
              </a:rPr>
              <a:t>Telomerase is tightly regulated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5AB590B2-3CBA-1538-2BFF-7BE5BF63A93A}"/>
              </a:ext>
            </a:extLst>
          </p:cNvPr>
          <p:cNvSpPr>
            <a:spLocks noGrp="1" noChangeArrowheads="1"/>
          </p:cNvSpPr>
          <p:nvPr>
            <p:ph type="title"/>
          </p:nvPr>
        </p:nvSpPr>
        <p:spPr>
          <a:xfrm>
            <a:off x="539750" y="188913"/>
            <a:ext cx="7543800" cy="719137"/>
          </a:xfrm>
        </p:spPr>
        <p:txBody>
          <a:bodyPr/>
          <a:lstStyle/>
          <a:p>
            <a:pPr eaLnBrk="1" hangingPunct="1"/>
            <a:r>
              <a:rPr lang="en-US" altLang="en-US" sz="3000">
                <a:solidFill>
                  <a:srgbClr val="0000FF"/>
                </a:solidFill>
              </a:rPr>
              <a:t>Proteins regulating telomerase activity</a:t>
            </a:r>
            <a:endParaRPr lang="en-GB" altLang="en-US" sz="3000" i="1">
              <a:solidFill>
                <a:srgbClr val="0000FF"/>
              </a:solidFill>
            </a:endParaRPr>
          </a:p>
        </p:txBody>
      </p:sp>
      <p:sp>
        <p:nvSpPr>
          <p:cNvPr id="172035" name="Content Placeholder 4">
            <a:extLst>
              <a:ext uri="{FF2B5EF4-FFF2-40B4-BE49-F238E27FC236}">
                <a16:creationId xmlns:a16="http://schemas.microsoft.com/office/drawing/2014/main" id="{3F35D14B-7CDD-2FC5-E675-E50F1B0474C4}"/>
              </a:ext>
            </a:extLst>
          </p:cNvPr>
          <p:cNvSpPr>
            <a:spLocks noGrp="1"/>
          </p:cNvSpPr>
          <p:nvPr>
            <p:ph sz="half" idx="1"/>
          </p:nvPr>
        </p:nvSpPr>
        <p:spPr>
          <a:xfrm>
            <a:off x="457200" y="3500438"/>
            <a:ext cx="4038600" cy="3024187"/>
          </a:xfrm>
        </p:spPr>
        <p:txBody>
          <a:bodyPr/>
          <a:lstStyle/>
          <a:p>
            <a:r>
              <a:rPr lang="en-US" altLang="en-US" sz="2000"/>
              <a:t>Act as weak inhibitors of telomerase activity</a:t>
            </a:r>
          </a:p>
          <a:p>
            <a:r>
              <a:rPr lang="en-US" altLang="en-US" sz="2000"/>
              <a:t>When there are relatively </a:t>
            </a:r>
            <a:r>
              <a:rPr lang="en-US" altLang="en-US" sz="2000">
                <a:solidFill>
                  <a:srgbClr val="0000FF"/>
                </a:solidFill>
              </a:rPr>
              <a:t>few copies of the telomere</a:t>
            </a:r>
            <a:r>
              <a:rPr lang="en-US" altLang="en-US" sz="2000"/>
              <a:t> sequence repeat, </a:t>
            </a:r>
            <a:r>
              <a:rPr lang="en-US" altLang="en-US" sz="2000">
                <a:solidFill>
                  <a:srgbClr val="0000FF"/>
                </a:solidFill>
              </a:rPr>
              <a:t>few of these proteins are bound </a:t>
            </a:r>
            <a:r>
              <a:rPr lang="en-US" altLang="en-US" sz="2000"/>
              <a:t>to the telomere and</a:t>
            </a:r>
            <a:r>
              <a:rPr lang="en-US" altLang="en-US" sz="2000">
                <a:solidFill>
                  <a:srgbClr val="0000FF"/>
                </a:solidFill>
              </a:rPr>
              <a:t> telomerase can extend the 3’OH end of </a:t>
            </a:r>
            <a:r>
              <a:rPr lang="en-US" altLang="en-US" sz="2000"/>
              <a:t>telomere</a:t>
            </a:r>
          </a:p>
        </p:txBody>
      </p:sp>
      <p:pic>
        <p:nvPicPr>
          <p:cNvPr id="172036" name="Picture 6">
            <a:extLst>
              <a:ext uri="{FF2B5EF4-FFF2-40B4-BE49-F238E27FC236}">
                <a16:creationId xmlns:a16="http://schemas.microsoft.com/office/drawing/2014/main" id="{CA3D1E19-0835-9F68-8B6D-4860904D38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507"/>
          <a:stretch>
            <a:fillRect/>
          </a:stretch>
        </p:blipFill>
        <p:spPr bwMode="auto">
          <a:xfrm>
            <a:off x="107950" y="1916113"/>
            <a:ext cx="4778375"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2037" name="Picture 7">
            <a:extLst>
              <a:ext uri="{FF2B5EF4-FFF2-40B4-BE49-F238E27FC236}">
                <a16:creationId xmlns:a16="http://schemas.microsoft.com/office/drawing/2014/main" id="{F0EE78B8-DFD6-1653-2667-F5D653CF6A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2870"/>
          <a:stretch>
            <a:fillRect/>
          </a:stretch>
        </p:blipFill>
        <p:spPr bwMode="auto">
          <a:xfrm>
            <a:off x="5364163" y="1090613"/>
            <a:ext cx="3779837" cy="557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8" name="TextBox 6">
            <a:extLst>
              <a:ext uri="{FF2B5EF4-FFF2-40B4-BE49-F238E27FC236}">
                <a16:creationId xmlns:a16="http://schemas.microsoft.com/office/drawing/2014/main" id="{57C5013F-2284-99C9-744C-0E7E9FE70676}"/>
              </a:ext>
            </a:extLst>
          </p:cNvPr>
          <p:cNvSpPr txBox="1">
            <a:spLocks noChangeArrowheads="1"/>
          </p:cNvSpPr>
          <p:nvPr/>
        </p:nvSpPr>
        <p:spPr bwMode="auto">
          <a:xfrm>
            <a:off x="1042988" y="1341438"/>
            <a:ext cx="21018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b="1" i="1">
                <a:solidFill>
                  <a:srgbClr val="0000FF"/>
                </a:solidFill>
              </a:rPr>
              <a:t>S. Cerevisiae</a:t>
            </a:r>
            <a:endParaRPr lang="en-US" altLang="en-US" sz="2400" b="1"/>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A1C515BA-2A2A-3762-8C46-DAEB618C8D66}"/>
              </a:ext>
            </a:extLst>
          </p:cNvPr>
          <p:cNvSpPr>
            <a:spLocks noGrp="1" noChangeArrowheads="1"/>
          </p:cNvSpPr>
          <p:nvPr>
            <p:ph type="title"/>
          </p:nvPr>
        </p:nvSpPr>
        <p:spPr>
          <a:xfrm>
            <a:off x="179388" y="115888"/>
            <a:ext cx="8001000" cy="792162"/>
          </a:xfrm>
        </p:spPr>
        <p:txBody>
          <a:bodyPr/>
          <a:lstStyle/>
          <a:p>
            <a:pPr eaLnBrk="1" hangingPunct="1"/>
            <a:r>
              <a:rPr lang="en-US" altLang="en-US" sz="3200">
                <a:solidFill>
                  <a:srgbClr val="0000FF"/>
                </a:solidFill>
              </a:rPr>
              <a:t>Proteins regulating telomerase activity</a:t>
            </a:r>
            <a:endParaRPr lang="en-GB" altLang="en-US" sz="2800" i="1">
              <a:solidFill>
                <a:srgbClr val="0000FF"/>
              </a:solidFill>
            </a:endParaRPr>
          </a:p>
        </p:txBody>
      </p:sp>
      <p:sp>
        <p:nvSpPr>
          <p:cNvPr id="174083" name="Rectangle 3">
            <a:extLst>
              <a:ext uri="{FF2B5EF4-FFF2-40B4-BE49-F238E27FC236}">
                <a16:creationId xmlns:a16="http://schemas.microsoft.com/office/drawing/2014/main" id="{8A60D500-3201-6203-A2DC-84E74A5EA151}"/>
              </a:ext>
            </a:extLst>
          </p:cNvPr>
          <p:cNvSpPr>
            <a:spLocks noGrp="1" noChangeArrowheads="1"/>
          </p:cNvSpPr>
          <p:nvPr>
            <p:ph type="body" sz="half" idx="2"/>
          </p:nvPr>
        </p:nvSpPr>
        <p:spPr>
          <a:xfrm>
            <a:off x="395288" y="3644900"/>
            <a:ext cx="8229600" cy="2778125"/>
          </a:xfrm>
        </p:spPr>
        <p:txBody>
          <a:bodyPr/>
          <a:lstStyle/>
          <a:p>
            <a:pPr eaLnBrk="1" hangingPunct="1"/>
            <a:r>
              <a:rPr lang="en-US" altLang="en-US" sz="2200" dirty="0"/>
              <a:t>Proteins bound to dsDNA </a:t>
            </a:r>
          </a:p>
          <a:p>
            <a:pPr lvl="1" eaLnBrk="1" hangingPunct="1"/>
            <a:endParaRPr lang="en-US" altLang="en-US" sz="2000" dirty="0"/>
          </a:p>
          <a:p>
            <a:pPr eaLnBrk="1" hangingPunct="1"/>
            <a:endParaRPr lang="en-US" altLang="en-US" sz="2000" dirty="0"/>
          </a:p>
          <a:p>
            <a:pPr eaLnBrk="1" hangingPunct="1"/>
            <a:r>
              <a:rPr lang="en-US" altLang="en-US" sz="2200" dirty="0"/>
              <a:t>Proteins bound to ssDNA</a:t>
            </a:r>
          </a:p>
          <a:p>
            <a:pPr eaLnBrk="1" hangingPunct="1"/>
            <a:endParaRPr lang="en-US" altLang="en-US" sz="2200"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TRF1 &amp; TRF2 bind with TTAGGG double - stranded DNA sequence, POT binds with the ssDNA tail, when there is a high number of POT this means adequate ssDNA, and a high number of TRF this means long telomere when the number of TRF is reduced, this means short telomere, which will allow telomere to be active and then restring telomere length </a:t>
            </a:r>
            <a:endParaRPr kumimoji="0" lang="en-GB" alt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lvl="1" eaLnBrk="1" hangingPunct="1"/>
            <a:endParaRPr lang="en-US" altLang="en-US" sz="1800" dirty="0">
              <a:sym typeface="Symbol" pitchFamily="2" charset="2"/>
            </a:endParaRPr>
          </a:p>
        </p:txBody>
      </p:sp>
      <p:pic>
        <p:nvPicPr>
          <p:cNvPr id="174084" name="Picture 5">
            <a:extLst>
              <a:ext uri="{FF2B5EF4-FFF2-40B4-BE49-F238E27FC236}">
                <a16:creationId xmlns:a16="http://schemas.microsoft.com/office/drawing/2014/main" id="{56B20285-4C0E-B44C-7C57-6AEECEF25B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8606"/>
          <a:stretch>
            <a:fillRect/>
          </a:stretch>
        </p:blipFill>
        <p:spPr bwMode="auto">
          <a:xfrm>
            <a:off x="827088" y="1700213"/>
            <a:ext cx="6315075" cy="14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085" name="TextBox 4">
            <a:extLst>
              <a:ext uri="{FF2B5EF4-FFF2-40B4-BE49-F238E27FC236}">
                <a16:creationId xmlns:a16="http://schemas.microsoft.com/office/drawing/2014/main" id="{EBBFC464-AA97-BC18-C2EB-18581C8CDC28}"/>
              </a:ext>
            </a:extLst>
          </p:cNvPr>
          <p:cNvSpPr txBox="1">
            <a:spLocks noChangeArrowheads="1"/>
          </p:cNvSpPr>
          <p:nvPr/>
        </p:nvSpPr>
        <p:spPr bwMode="auto">
          <a:xfrm>
            <a:off x="2987675" y="1052513"/>
            <a:ext cx="12493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t> </a:t>
            </a:r>
            <a:r>
              <a:rPr lang="en-US" altLang="en-US" sz="2400" i="1">
                <a:solidFill>
                  <a:srgbClr val="0000FF"/>
                </a:solidFill>
              </a:rPr>
              <a:t>Human</a:t>
            </a:r>
            <a:endParaRPr lang="en-US" altLang="en-US" sz="24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6130" name="Picture 6">
            <a:extLst>
              <a:ext uri="{FF2B5EF4-FFF2-40B4-BE49-F238E27FC236}">
                <a16:creationId xmlns:a16="http://schemas.microsoft.com/office/drawing/2014/main" id="{B0603B47-B5F9-A2C8-AA48-FFD97FC500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5584" t="6308" b="3445"/>
          <a:stretch>
            <a:fillRect/>
          </a:stretch>
        </p:blipFill>
        <p:spPr bwMode="auto">
          <a:xfrm>
            <a:off x="5386388" y="2781300"/>
            <a:ext cx="3697287"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131" name="Rectangle 2">
            <a:extLst>
              <a:ext uri="{FF2B5EF4-FFF2-40B4-BE49-F238E27FC236}">
                <a16:creationId xmlns:a16="http://schemas.microsoft.com/office/drawing/2014/main" id="{9F8B123B-C211-43EE-A17A-D96DF660D511}"/>
              </a:ext>
            </a:extLst>
          </p:cNvPr>
          <p:cNvSpPr>
            <a:spLocks noGrp="1" noChangeArrowheads="1"/>
          </p:cNvSpPr>
          <p:nvPr>
            <p:ph type="title"/>
          </p:nvPr>
        </p:nvSpPr>
        <p:spPr>
          <a:xfrm>
            <a:off x="457200" y="122238"/>
            <a:ext cx="6778625" cy="785812"/>
          </a:xfrm>
        </p:spPr>
        <p:txBody>
          <a:bodyPr/>
          <a:lstStyle/>
          <a:p>
            <a:pPr eaLnBrk="1" hangingPunct="1"/>
            <a:r>
              <a:rPr lang="en-US" altLang="en-US">
                <a:solidFill>
                  <a:srgbClr val="0000FF"/>
                </a:solidFill>
              </a:rPr>
              <a:t>t-loop formation</a:t>
            </a:r>
            <a:endParaRPr lang="en-GB" altLang="en-US">
              <a:solidFill>
                <a:srgbClr val="0000FF"/>
              </a:solidFill>
            </a:endParaRPr>
          </a:p>
        </p:txBody>
      </p:sp>
      <p:sp>
        <p:nvSpPr>
          <p:cNvPr id="176132" name="Rectangle 3">
            <a:extLst>
              <a:ext uri="{FF2B5EF4-FFF2-40B4-BE49-F238E27FC236}">
                <a16:creationId xmlns:a16="http://schemas.microsoft.com/office/drawing/2014/main" id="{4598761A-6DC5-9BE7-C531-012C732682B9}"/>
              </a:ext>
            </a:extLst>
          </p:cNvPr>
          <p:cNvSpPr>
            <a:spLocks noGrp="1" noChangeArrowheads="1"/>
          </p:cNvSpPr>
          <p:nvPr>
            <p:ph type="body" sz="half" idx="1"/>
          </p:nvPr>
        </p:nvSpPr>
        <p:spPr>
          <a:xfrm>
            <a:off x="0" y="1052513"/>
            <a:ext cx="5616575" cy="5184775"/>
          </a:xfrm>
        </p:spPr>
        <p:txBody>
          <a:bodyPr/>
          <a:lstStyle/>
          <a:p>
            <a:pPr eaLnBrk="1" hangingPunct="1"/>
            <a:r>
              <a:rPr lang="en-US" altLang="en-US" sz="2400"/>
              <a:t>Normally, the presence of a DNA end is the </a:t>
            </a:r>
            <a:r>
              <a:rPr lang="en-US" altLang="en-US" sz="2400">
                <a:solidFill>
                  <a:srgbClr val="0000FF"/>
                </a:solidFill>
              </a:rPr>
              <a:t>sign of a double-stranded break </a:t>
            </a:r>
            <a:r>
              <a:rPr lang="en-US" altLang="en-US" sz="2400"/>
              <a:t>which is targeted for DNA repair (initiate recombination with other DNA in the genome)</a:t>
            </a:r>
          </a:p>
          <a:p>
            <a:pPr eaLnBrk="1" hangingPunct="1"/>
            <a:r>
              <a:rPr lang="en-US" altLang="en-US" sz="2400"/>
              <a:t>This would be disastrous for telomeres (</a:t>
            </a:r>
            <a:r>
              <a:rPr lang="en-US" altLang="en-US" sz="2400">
                <a:solidFill>
                  <a:srgbClr val="7030A0"/>
                </a:solidFill>
              </a:rPr>
              <a:t>leads to chromosome fusion</a:t>
            </a:r>
            <a:r>
              <a:rPr lang="en-US" altLang="en-US" sz="2400"/>
              <a:t>)</a:t>
            </a:r>
          </a:p>
          <a:p>
            <a:pPr eaLnBrk="1" hangingPunct="1"/>
            <a:r>
              <a:rPr lang="en-US" altLang="en-US" sz="2400">
                <a:solidFill>
                  <a:srgbClr val="0000FF"/>
                </a:solidFill>
              </a:rPr>
              <a:t>What protects the telomeres from this fate?</a:t>
            </a:r>
          </a:p>
          <a:p>
            <a:pPr eaLnBrk="1" hangingPunct="1"/>
            <a:r>
              <a:rPr lang="en-US" altLang="en-US" sz="2400">
                <a:solidFill>
                  <a:srgbClr val="C00000"/>
                </a:solidFill>
              </a:rPr>
              <a:t>Proteins bound at the telomere distinguish telomeres from other DNA ends in the cell</a:t>
            </a:r>
          </a:p>
          <a:p>
            <a:pPr eaLnBrk="1" hangingPunct="1"/>
            <a:endParaRPr lang="en-US" altLang="en-US" sz="2400">
              <a:solidFill>
                <a:srgbClr val="7030A0"/>
              </a:solidFill>
            </a:endParaRPr>
          </a:p>
        </p:txBody>
      </p:sp>
      <p:pic>
        <p:nvPicPr>
          <p:cNvPr id="176133" name="Picture 7">
            <a:extLst>
              <a:ext uri="{FF2B5EF4-FFF2-40B4-BE49-F238E27FC236}">
                <a16:creationId xmlns:a16="http://schemas.microsoft.com/office/drawing/2014/main" id="{F3E430DC-61A4-53A4-5869-9A771BF016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74" t="8492" r="58644" b="25473"/>
          <a:stretch>
            <a:fillRect/>
          </a:stretch>
        </p:blipFill>
        <p:spPr bwMode="auto">
          <a:xfrm>
            <a:off x="5867400" y="103188"/>
            <a:ext cx="3025775"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Placeholder 2">
            <a:extLst>
              <a:ext uri="{FF2B5EF4-FFF2-40B4-BE49-F238E27FC236}">
                <a16:creationId xmlns:a16="http://schemas.microsoft.com/office/drawing/2014/main" id="{48202869-18DB-3C37-D32E-1D893A3F1F0E}"/>
              </a:ext>
            </a:extLst>
          </p:cNvPr>
          <p:cNvSpPr>
            <a:spLocks noGrp="1"/>
          </p:cNvSpPr>
          <p:nvPr>
            <p:ph type="body" sz="half" idx="1"/>
          </p:nvPr>
        </p:nvSpPr>
        <p:spPr>
          <a:xfrm>
            <a:off x="395288" y="1268413"/>
            <a:ext cx="8075612" cy="4968875"/>
          </a:xfrm>
        </p:spPr>
        <p:txBody>
          <a:bodyPr/>
          <a:lstStyle/>
          <a:p>
            <a:pPr eaLnBrk="1" hangingPunct="1"/>
            <a:r>
              <a:rPr lang="en-US" altLang="en-US" sz="3200">
                <a:solidFill>
                  <a:srgbClr val="0000FF"/>
                </a:solidFill>
              </a:rPr>
              <a:t>Second possibility </a:t>
            </a:r>
            <a:r>
              <a:rPr lang="en-US" altLang="en-US" sz="3200"/>
              <a:t>telomeres observed by EM found to form a loop rather than linear structure (t-loop)</a:t>
            </a:r>
          </a:p>
          <a:p>
            <a:pPr eaLnBrk="1" hangingPunct="1"/>
            <a:r>
              <a:rPr lang="en-US" altLang="en-US" sz="3200"/>
              <a:t> formed by the 3` ssDNA end of the telomere invading dsDNA region of telomere</a:t>
            </a:r>
          </a:p>
          <a:p>
            <a:pPr eaLnBrk="1" hangingPunct="1"/>
            <a:r>
              <a:rPr lang="en-US" altLang="en-US" sz="3200"/>
              <a:t>Protect telomere from </a:t>
            </a:r>
            <a:r>
              <a:rPr lang="en-US" altLang="en-US" sz="3200">
                <a:solidFill>
                  <a:srgbClr val="0000FF"/>
                </a:solidFill>
              </a:rPr>
              <a:t>DNA repair enzymes</a:t>
            </a:r>
            <a:r>
              <a:rPr lang="en-US" altLang="en-US" sz="3200"/>
              <a:t>, also telomerase cannot recognize this  form of telomere.</a:t>
            </a:r>
          </a:p>
          <a:p>
            <a:endParaRPr lang="en-US"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AB6B7C93-6BC9-0175-D07D-1D75F9085443}"/>
              </a:ext>
            </a:extLst>
          </p:cNvPr>
          <p:cNvSpPr>
            <a:spLocks noGrp="1" noChangeArrowheads="1"/>
          </p:cNvSpPr>
          <p:nvPr>
            <p:ph type="title"/>
          </p:nvPr>
        </p:nvSpPr>
        <p:spPr/>
        <p:txBody>
          <a:bodyPr/>
          <a:lstStyle/>
          <a:p>
            <a:pPr eaLnBrk="1" hangingPunct="1"/>
            <a:r>
              <a:rPr lang="en-US" altLang="en-US">
                <a:solidFill>
                  <a:srgbClr val="0000FF"/>
                </a:solidFill>
              </a:rPr>
              <a:t>Telomerase, aging &amp; cancer</a:t>
            </a:r>
            <a:endParaRPr lang="en-GB" altLang="en-US">
              <a:solidFill>
                <a:srgbClr val="0000FF"/>
              </a:solidFill>
            </a:endParaRPr>
          </a:p>
        </p:txBody>
      </p:sp>
      <p:sp>
        <p:nvSpPr>
          <p:cNvPr id="180227" name="Rectangle 3">
            <a:extLst>
              <a:ext uri="{FF2B5EF4-FFF2-40B4-BE49-F238E27FC236}">
                <a16:creationId xmlns:a16="http://schemas.microsoft.com/office/drawing/2014/main" id="{4F0CDABA-AD77-DCED-4733-14E7B7F4DDE3}"/>
              </a:ext>
            </a:extLst>
          </p:cNvPr>
          <p:cNvSpPr>
            <a:spLocks noGrp="1" noChangeArrowheads="1"/>
          </p:cNvSpPr>
          <p:nvPr>
            <p:ph type="body" idx="1"/>
          </p:nvPr>
        </p:nvSpPr>
        <p:spPr>
          <a:xfrm>
            <a:off x="457200" y="1719263"/>
            <a:ext cx="8229600" cy="2717849"/>
          </a:xfrm>
        </p:spPr>
        <p:txBody>
          <a:bodyPr/>
          <a:lstStyle/>
          <a:p>
            <a:pPr eaLnBrk="1" hangingPunct="1">
              <a:lnSpc>
                <a:spcPct val="90000"/>
              </a:lnSpc>
            </a:pPr>
            <a:r>
              <a:rPr lang="en-US" altLang="en-US" sz="1600" dirty="0"/>
              <a:t>High level of telomerase is restricted to:</a:t>
            </a:r>
          </a:p>
          <a:p>
            <a:pPr lvl="1" eaLnBrk="1" hangingPunct="1">
              <a:lnSpc>
                <a:spcPct val="90000"/>
              </a:lnSpc>
            </a:pPr>
            <a:r>
              <a:rPr lang="en-US" altLang="en-US" sz="1600" dirty="0"/>
              <a:t>Ovaries</a:t>
            </a:r>
          </a:p>
          <a:p>
            <a:pPr lvl="1" eaLnBrk="1" hangingPunct="1">
              <a:lnSpc>
                <a:spcPct val="90000"/>
              </a:lnSpc>
            </a:pPr>
            <a:r>
              <a:rPr lang="en-US" altLang="en-US" sz="1600" dirty="0"/>
              <a:t>Testes</a:t>
            </a:r>
          </a:p>
          <a:p>
            <a:pPr lvl="1" eaLnBrk="1" hangingPunct="1">
              <a:lnSpc>
                <a:spcPct val="90000"/>
              </a:lnSpc>
            </a:pPr>
            <a:r>
              <a:rPr lang="en-US" altLang="en-US" sz="1600" dirty="0"/>
              <a:t>Rapidly dividing cells (epithelial cells)</a:t>
            </a:r>
          </a:p>
          <a:p>
            <a:pPr lvl="1" eaLnBrk="1" hangingPunct="1">
              <a:lnSpc>
                <a:spcPct val="90000"/>
              </a:lnSpc>
            </a:pPr>
            <a:endParaRPr lang="en-US" altLang="en-US" sz="1600" dirty="0"/>
          </a:p>
          <a:p>
            <a:pPr eaLnBrk="1" hangingPunct="1">
              <a:lnSpc>
                <a:spcPct val="90000"/>
              </a:lnSpc>
            </a:pPr>
            <a:r>
              <a:rPr lang="en-US" altLang="en-US" sz="1600" dirty="0"/>
              <a:t>Other cells will stop replicating after specific number of cell cycles (</a:t>
            </a:r>
            <a:r>
              <a:rPr lang="en-US" altLang="en-US" sz="1600" dirty="0">
                <a:solidFill>
                  <a:srgbClr val="0000FF"/>
                </a:solidFill>
              </a:rPr>
              <a:t>Hayflick limit</a:t>
            </a:r>
            <a:r>
              <a:rPr lang="en-US" altLang="en-US" sz="1600" dirty="0"/>
              <a:t>) WHY?</a:t>
            </a:r>
            <a:r>
              <a:rPr lang="en-US" altLang="en-US" sz="1600" dirty="0">
                <a:sym typeface="Symbol" pitchFamily="2" charset="2"/>
              </a:rPr>
              <a:t> cell senescence  apoptosis</a:t>
            </a:r>
          </a:p>
          <a:p>
            <a:pPr eaLnBrk="1" hangingPunct="1">
              <a:lnSpc>
                <a:spcPct val="90000"/>
              </a:lnSpc>
            </a:pPr>
            <a:endParaRPr lang="en-US" altLang="en-US" sz="1600" dirty="0"/>
          </a:p>
          <a:p>
            <a:pPr eaLnBrk="1" hangingPunct="1">
              <a:lnSpc>
                <a:spcPct val="90000"/>
              </a:lnSpc>
            </a:pPr>
            <a:r>
              <a:rPr lang="en-US" altLang="en-US" sz="1600" b="1" dirty="0">
                <a:solidFill>
                  <a:srgbClr val="C00000"/>
                </a:solidFill>
              </a:rPr>
              <a:t>Cancer</a:t>
            </a:r>
            <a:r>
              <a:rPr lang="en-US" altLang="en-US" sz="1600" dirty="0">
                <a:solidFill>
                  <a:srgbClr val="C00000"/>
                </a:solidFill>
              </a:rPr>
              <a:t> </a:t>
            </a:r>
            <a:r>
              <a:rPr lang="en-US" altLang="en-US" sz="1600" b="1" dirty="0">
                <a:solidFill>
                  <a:srgbClr val="C00000"/>
                </a:solidFill>
              </a:rPr>
              <a:t>cells</a:t>
            </a:r>
            <a:r>
              <a:rPr lang="en-US" altLang="en-US" sz="1600" dirty="0">
                <a:solidFill>
                  <a:srgbClr val="C00000"/>
                </a:solidFill>
              </a:rPr>
              <a:t> have high levels of telomerase </a:t>
            </a:r>
            <a:r>
              <a:rPr lang="en-US" altLang="en-US" sz="1600" dirty="0">
                <a:solidFill>
                  <a:srgbClr val="C00000"/>
                </a:solidFill>
                <a:sym typeface="Symbol" pitchFamily="2" charset="2"/>
              </a:rPr>
              <a:t> </a:t>
            </a:r>
            <a:r>
              <a:rPr lang="en-US" altLang="en-US" sz="1600" b="1" dirty="0">
                <a:solidFill>
                  <a:srgbClr val="C00000"/>
                </a:solidFill>
                <a:sym typeface="Symbol" pitchFamily="2" charset="2"/>
              </a:rPr>
              <a:t>immortal</a:t>
            </a:r>
            <a:r>
              <a:rPr lang="en-US" altLang="en-US" sz="1600" b="1" dirty="0">
                <a:solidFill>
                  <a:srgbClr val="C00000"/>
                </a:solidFill>
              </a:rPr>
              <a:t> </a:t>
            </a:r>
            <a:endParaRPr lang="en-GB" altLang="en-US" sz="1600" b="1" dirty="0">
              <a:solidFill>
                <a:srgbClr val="C00000"/>
              </a:solidFill>
            </a:endParaRPr>
          </a:p>
        </p:txBody>
      </p:sp>
      <p:sp>
        <p:nvSpPr>
          <p:cNvPr id="3" name="TextBox 2">
            <a:extLst>
              <a:ext uri="{FF2B5EF4-FFF2-40B4-BE49-F238E27FC236}">
                <a16:creationId xmlns:a16="http://schemas.microsoft.com/office/drawing/2014/main" id="{FF0F54A9-81FF-D9AC-8254-009F6352D3B1}"/>
              </a:ext>
            </a:extLst>
          </p:cNvPr>
          <p:cNvSpPr txBox="1"/>
          <p:nvPr/>
        </p:nvSpPr>
        <p:spPr>
          <a:xfrm>
            <a:off x="179512" y="4293096"/>
            <a:ext cx="8352928" cy="1815882"/>
          </a:xfrm>
          <a:prstGeom prst="rect">
            <a:avLst/>
          </a:prstGeom>
          <a:noFill/>
        </p:spPr>
        <p:txBody>
          <a:bodyPr wrap="square">
            <a:sp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en-US" sz="1600" dirty="0">
                <a:latin typeface="Arial" panose="020B0604020202020204" pitchFamily="34" charset="0"/>
                <a:cs typeface="Arial" panose="020B0604020202020204" pitchFamily="34" charset="0"/>
              </a:rPr>
              <a:t>The </a:t>
            </a:r>
            <a:r>
              <a:rPr lang="en-US" altLang="en-US" sz="1600" b="1" dirty="0">
                <a:latin typeface="Arial" panose="020B0604020202020204" pitchFamily="34" charset="0"/>
                <a:cs typeface="Arial" panose="020B0604020202020204" pitchFamily="34" charset="0"/>
              </a:rPr>
              <a:t>Hayflick limit</a:t>
            </a:r>
            <a:r>
              <a:rPr lang="en-US" altLang="en-US" sz="1600" dirty="0">
                <a:latin typeface="Arial" panose="020B0604020202020204" pitchFamily="34" charset="0"/>
                <a:cs typeface="Arial" panose="020B0604020202020204" pitchFamily="34" charset="0"/>
              </a:rPr>
              <a:t> is the number of times a normal cell population will divide before it stops </a:t>
            </a:r>
            <a:r>
              <a:rPr lang="en-US" altLang="en-US" sz="1600" b="1" dirty="0">
                <a:latin typeface="Arial" panose="020B0604020202020204" pitchFamily="34" charset="0"/>
                <a:cs typeface="Arial" panose="020B0604020202020204" pitchFamily="34" charset="0"/>
              </a:rPr>
              <a:t>Senescence</a:t>
            </a:r>
            <a:r>
              <a:rPr lang="en-US" altLang="en-US" sz="1600" dirty="0">
                <a:latin typeface="Arial" panose="020B0604020202020204" pitchFamily="34" charset="0"/>
                <a:cs typeface="Arial" panose="020B0604020202020204" pitchFamily="34" charset="0"/>
              </a:rPr>
              <a:t>, or biological aging, is the change in an organism's biology as it ages after maturity. Such changes range from those affecting its cells and their function to those affecting the whole organism. There are several theories as to why senescence occurs, including ones that claim it is programmed by gene expression changes and that it is the accumulative damage of biological processes, presumably because the </a:t>
            </a:r>
            <a:r>
              <a:rPr lang="en-US" altLang="en-US" sz="1600" dirty="0">
                <a:latin typeface="Arial" panose="020B0604020202020204" pitchFamily="34" charset="0"/>
                <a:cs typeface="Arial" panose="020B0604020202020204" pitchFamily="34" charset="0"/>
                <a:hlinkClick r:id="rId3" tooltip="Telomeres"/>
              </a:rPr>
              <a:t>telomeres</a:t>
            </a:r>
            <a:r>
              <a:rPr lang="en-US" altLang="en-US" sz="1600" dirty="0">
                <a:latin typeface="Arial" panose="020B0604020202020204" pitchFamily="34" charset="0"/>
                <a:cs typeface="Arial" panose="020B0604020202020204" pitchFamily="34" charset="0"/>
              </a:rPr>
              <a:t> reach a critical length</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TextBox 3">
            <a:extLst>
              <a:ext uri="{FF2B5EF4-FFF2-40B4-BE49-F238E27FC236}">
                <a16:creationId xmlns:a16="http://schemas.microsoft.com/office/drawing/2014/main" id="{9BEB8A63-7A9A-494B-C4B3-31DD697065D5}"/>
              </a:ext>
            </a:extLst>
          </p:cNvPr>
          <p:cNvSpPr txBox="1">
            <a:spLocks noChangeArrowheads="1"/>
          </p:cNvSpPr>
          <p:nvPr/>
        </p:nvSpPr>
        <p:spPr bwMode="auto">
          <a:xfrm>
            <a:off x="3708400" y="2997200"/>
            <a:ext cx="24336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4000" b="1">
                <a:solidFill>
                  <a:srgbClr val="0000FF"/>
                </a:solidFill>
              </a:rPr>
              <a:t>THE END</a:t>
            </a:r>
          </a:p>
        </p:txBody>
      </p:sp>
    </p:spTree>
  </p:cSld>
  <p:clrMapOvr>
    <a:masterClrMapping/>
  </p:clrMapOvr>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14508</TotalTime>
  <Words>6249</Words>
  <Application>Microsoft Macintosh PowerPoint</Application>
  <PresentationFormat>On-screen Show (4:3)</PresentationFormat>
  <Paragraphs>615</Paragraphs>
  <Slides>91</Slides>
  <Notes>87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91</vt:i4>
      </vt:variant>
    </vt:vector>
  </HeadingPairs>
  <TitlesOfParts>
    <vt:vector size="98" baseType="lpstr">
      <vt:lpstr>Arial</vt:lpstr>
      <vt:lpstr>Wingdings</vt:lpstr>
      <vt:lpstr>Symbol</vt:lpstr>
      <vt:lpstr>ＭＳ Ｐゴシック</vt:lpstr>
      <vt:lpstr>Times</vt:lpstr>
      <vt:lpstr>Times New Roman</vt:lpstr>
      <vt:lpstr>Network</vt:lpstr>
      <vt:lpstr>The replication of DNA</vt:lpstr>
      <vt:lpstr>The chemistry of DNA synthesis</vt:lpstr>
      <vt:lpstr>DNA synthesis needs:</vt:lpstr>
      <vt:lpstr>XTP + (XMP)n  (XMP)n+1 +P~P</vt:lpstr>
      <vt:lpstr>The mechanism of DNA polymerase</vt:lpstr>
      <vt:lpstr>PowerPoint Presentation</vt:lpstr>
      <vt:lpstr>PowerPoint Presentation</vt:lpstr>
      <vt:lpstr>PowerPoint Presentation</vt:lpstr>
      <vt:lpstr>DNA polymerase structure</vt:lpstr>
      <vt:lpstr>Palm</vt:lpstr>
      <vt:lpstr>Fingers</vt:lpstr>
      <vt:lpstr>PowerPoint Presentation</vt:lpstr>
      <vt:lpstr>PowerPoint Presentation</vt:lpstr>
      <vt:lpstr>PowerPoint Presentation</vt:lpstr>
      <vt:lpstr>PowerPoint Presentation</vt:lpstr>
      <vt:lpstr>Thumb</vt:lpstr>
      <vt:lpstr>Processivity</vt:lpstr>
      <vt:lpstr>PowerPoint Presentation</vt:lpstr>
      <vt:lpstr>Proofreading exonuclease</vt:lpstr>
      <vt:lpstr>Figure 9-11</vt:lpstr>
      <vt:lpstr>How replication takes place inside the cell</vt:lpstr>
      <vt:lpstr>Replication fork</vt:lpstr>
      <vt:lpstr>Figure 9-12</vt:lpstr>
      <vt:lpstr>RNA primer </vt:lpstr>
      <vt:lpstr>Removal of RNA primers by RNase H </vt:lpstr>
      <vt:lpstr>What separates the two strands?</vt:lpstr>
      <vt:lpstr>DNA helicase </vt:lpstr>
      <vt:lpstr>Suggested mechanism of action</vt:lpstr>
      <vt:lpstr>PowerPoint Presentation</vt:lpstr>
      <vt:lpstr>Structure and proposed mechanism of a DNA helicase</vt:lpstr>
      <vt:lpstr>SSB proteins stabilizes ssDNA prior to replication</vt:lpstr>
      <vt:lpstr>Problems of unwinding DNA</vt:lpstr>
      <vt:lpstr>PowerPoint Presentation</vt:lpstr>
      <vt:lpstr>Replication fork enzymes extend the range of DNA polymerase substrates</vt:lpstr>
      <vt:lpstr>The specialization of DNA polymerase</vt:lpstr>
      <vt:lpstr>DNA Polymerases in Prokaryotes</vt:lpstr>
      <vt:lpstr>DNA Polymerases in Eukaryotes</vt:lpstr>
      <vt:lpstr>PowerPoint Presentation</vt:lpstr>
      <vt:lpstr>Polymerase switching</vt:lpstr>
      <vt:lpstr>Structure of a sliding DNA clamp</vt:lpstr>
      <vt:lpstr>How does the association with the sliding clamp change the processivity of DNA polymerase?</vt:lpstr>
      <vt:lpstr>Sliding clamp increase DNA polymerase processivity</vt:lpstr>
      <vt:lpstr>Sliding DNA clamps</vt:lpstr>
      <vt:lpstr>How can the clamp encircle DNA?</vt:lpstr>
      <vt:lpstr>PowerPoint Presentation</vt:lpstr>
      <vt:lpstr>PowerPoint Presentation</vt:lpstr>
      <vt:lpstr>DNA synthesis at replication fork</vt:lpstr>
      <vt:lpstr>DNA Synthesis at replication fork in Prokaryotes</vt:lpstr>
      <vt:lpstr>How do two DNA polymerases remain linked at the replication fork while synthesizing DNA on both the leading and lagging template strands?</vt:lpstr>
      <vt:lpstr>PowerPoint Presentation</vt:lpstr>
      <vt:lpstr>PowerPoint Presentation</vt:lpstr>
      <vt:lpstr>PowerPoint Presentation</vt:lpstr>
      <vt:lpstr>PowerPoint Presentation</vt:lpstr>
      <vt:lpstr>PowerPoint Presentation</vt:lpstr>
      <vt:lpstr>PowerPoint Presentation</vt:lpstr>
      <vt:lpstr>Figure 9-23</vt:lpstr>
      <vt:lpstr>Interactions between replication fork proteins from the E.coli replisome</vt:lpstr>
      <vt:lpstr>Binding of the DNA helicase to DNA Pol III holoenzyme stimulates the rate of DNA strand separation</vt:lpstr>
      <vt:lpstr>Initiation of Replication</vt:lpstr>
      <vt:lpstr>Replicon Model of replication initiation</vt:lpstr>
      <vt:lpstr>Replicon Model</vt:lpstr>
      <vt:lpstr>Replicator</vt:lpstr>
      <vt:lpstr>Initiator </vt:lpstr>
      <vt:lpstr>Model for Initiation of Replication in E.coli</vt:lpstr>
      <vt:lpstr>PowerPoint Presentation</vt:lpstr>
      <vt:lpstr>Replication Control </vt:lpstr>
      <vt:lpstr>Replication in Eukaryotes</vt:lpstr>
      <vt:lpstr>PowerPoint Presentation</vt:lpstr>
      <vt:lpstr>Replication Control</vt:lpstr>
      <vt:lpstr>Prereplicative complex formation is the first step in the initiation of replication in eukaryotes</vt:lpstr>
      <vt:lpstr>Replicator selection (G1 phase)</vt:lpstr>
      <vt:lpstr>Origin activation (S phase)</vt:lpstr>
      <vt:lpstr>PowerPoint Presentation</vt:lpstr>
      <vt:lpstr>PowerPoint Presentation</vt:lpstr>
      <vt:lpstr>How do eukaryotic cells control the activity of thousands of origin of replications such that not even one is activated more than once during a cell cycle?</vt:lpstr>
      <vt:lpstr>Cell cycle regulation of Cdk activity and pre-RC formation</vt:lpstr>
      <vt:lpstr>Finishing Replication</vt:lpstr>
      <vt:lpstr>Finishing replication in Prokaryotes</vt:lpstr>
      <vt:lpstr>The end replication problem</vt:lpstr>
      <vt:lpstr>A priming protein binds to the last Okazaki fragment in the lagging strand</vt:lpstr>
      <vt:lpstr>Replication of telomeres by Telomerase</vt:lpstr>
      <vt:lpstr>Telomerase is a novel DNA polymerase that does not require an exogenous template</vt:lpstr>
      <vt:lpstr>Replication of telomeres by telomerase</vt:lpstr>
      <vt:lpstr>Telomerase solve the end replication problem by extending the 3’end of chromosome</vt:lpstr>
      <vt:lpstr>Regulation of telomerase activity</vt:lpstr>
      <vt:lpstr>Proteins regulating telomerase activity</vt:lpstr>
      <vt:lpstr>Proteins regulating telomerase activity</vt:lpstr>
      <vt:lpstr>t-loop formation</vt:lpstr>
      <vt:lpstr>PowerPoint Presentation</vt:lpstr>
      <vt:lpstr>Telomerase, aging &amp; cancer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chemistry of DNA Synthesis &amp;</dc:title>
  <dc:creator>Firas</dc:creator>
  <cp:lastModifiedBy>Laith Al-Eitan</cp:lastModifiedBy>
  <cp:revision>239</cp:revision>
  <dcterms:created xsi:type="dcterms:W3CDTF">2007-10-06T14:56:08Z</dcterms:created>
  <dcterms:modified xsi:type="dcterms:W3CDTF">2024-11-09T10:52:10Z</dcterms:modified>
</cp:coreProperties>
</file>