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mp4" ContentType="video/unknown"/>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9"/>
  </p:sldMasterIdLst>
  <p:sldIdLst>
    <p:sldId id="296" r:id="rId20"/>
    <p:sldId id="297" r:id="rId21"/>
    <p:sldId id="256" r:id="rId22"/>
    <p:sldId id="261" r:id="rId23"/>
    <p:sldId id="292" r:id="rId24"/>
    <p:sldId id="295" r:id="rId25"/>
    <p:sldId id="293" r:id="rId26"/>
    <p:sldId id="294" r:id="rId27"/>
    <p:sldId id="264" r:id="rId28"/>
    <p:sldId id="268" r:id="rId29"/>
    <p:sldId id="290" r:id="rId30"/>
    <p:sldId id="274" r:id="rId31"/>
    <p:sldId id="281" r:id="rId32"/>
    <p:sldId id="291" r:id="rId33"/>
    <p:sldId id="269" r:id="rId34"/>
    <p:sldId id="270" r:id="rId35"/>
    <p:sldId id="278" r:id="rId36"/>
    <p:sldId id="280" r:id="rId37"/>
    <p:sldId id="279" r:id="rId38"/>
    <p:sldId id="271"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2" d="100"/>
          <a:sy n="72" d="100"/>
        </p:scale>
        <p:origin x="-552" y="1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8.xml"/><Relationship Id="rId13" Type="http://schemas.openxmlformats.org/officeDocument/2006/relationships/customXml" Target="../customXml/item13.xml"/><Relationship Id="rId18" Type="http://schemas.openxmlformats.org/officeDocument/2006/relationships/customXml" Target="../customXml/item18.xml"/><Relationship Id="rId26" Type="http://schemas.openxmlformats.org/officeDocument/2006/relationships/slide" Target="slides/slide7.xml"/><Relationship Id="rId39"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2.xml"/><Relationship Id="rId34" Type="http://schemas.openxmlformats.org/officeDocument/2006/relationships/slide" Target="slides/slide15.xml"/><Relationship Id="rId42" Type="http://schemas.openxmlformats.org/officeDocument/2006/relationships/theme" Target="theme/theme1.xml"/><Relationship Id="rId7" Type="http://schemas.openxmlformats.org/officeDocument/2006/relationships/customXml" Target="../customXml/item7.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slide" Target="slides/slide6.xml"/><Relationship Id="rId33" Type="http://schemas.openxmlformats.org/officeDocument/2006/relationships/slide" Target="slides/slide14.xml"/><Relationship Id="rId38" Type="http://schemas.openxmlformats.org/officeDocument/2006/relationships/slide" Target="slides/slide19.xml"/><Relationship Id="rId2" Type="http://schemas.openxmlformats.org/officeDocument/2006/relationships/customXml" Target="../customXml/item2.xml"/><Relationship Id="rId16" Type="http://schemas.openxmlformats.org/officeDocument/2006/relationships/customXml" Target="../customXml/item16.xml"/><Relationship Id="rId20" Type="http://schemas.openxmlformats.org/officeDocument/2006/relationships/slide" Target="slides/slide1.xml"/><Relationship Id="rId29" Type="http://schemas.openxmlformats.org/officeDocument/2006/relationships/slide" Target="slides/slide10.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customXml" Target="../customXml/item11.xml"/><Relationship Id="rId24" Type="http://schemas.openxmlformats.org/officeDocument/2006/relationships/slide" Target="slides/slide5.xml"/><Relationship Id="rId32" Type="http://schemas.openxmlformats.org/officeDocument/2006/relationships/slide" Target="slides/slide13.xml"/><Relationship Id="rId37" Type="http://schemas.openxmlformats.org/officeDocument/2006/relationships/slide" Target="slides/slide18.xml"/><Relationship Id="rId40" Type="http://schemas.openxmlformats.org/officeDocument/2006/relationships/presProps" Target="presProps.xml"/><Relationship Id="rId5" Type="http://schemas.openxmlformats.org/officeDocument/2006/relationships/customXml" Target="../customXml/item5.xml"/><Relationship Id="rId15" Type="http://schemas.openxmlformats.org/officeDocument/2006/relationships/customXml" Target="../customXml/item15.xml"/><Relationship Id="rId23" Type="http://schemas.openxmlformats.org/officeDocument/2006/relationships/slide" Target="slides/slide4.xml"/><Relationship Id="rId28" Type="http://schemas.openxmlformats.org/officeDocument/2006/relationships/slide" Target="slides/slide9.xml"/><Relationship Id="rId36" Type="http://schemas.openxmlformats.org/officeDocument/2006/relationships/slide" Target="slides/slide17.xml"/><Relationship Id="rId10" Type="http://schemas.openxmlformats.org/officeDocument/2006/relationships/customXml" Target="../customXml/item10.xml"/><Relationship Id="rId19" Type="http://schemas.openxmlformats.org/officeDocument/2006/relationships/slideMaster" Target="slideMasters/slideMaster1.xml"/><Relationship Id="rId31" Type="http://schemas.openxmlformats.org/officeDocument/2006/relationships/slide" Target="slides/slide12.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slide" Target="slides/slide3.xml"/><Relationship Id="rId27" Type="http://schemas.openxmlformats.org/officeDocument/2006/relationships/slide" Target="slides/slide8.xml"/><Relationship Id="rId30" Type="http://schemas.openxmlformats.org/officeDocument/2006/relationships/slide" Target="slides/slide11.xml"/><Relationship Id="rId35" Type="http://schemas.openxmlformats.org/officeDocument/2006/relationships/slide" Target="slides/slide16.xml"/><Relationship Id="rId4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B32DE64-DA22-4CBC-887D-0D461ECB71FB}" type="datetimeFigureOut">
              <a:rPr lang="en-US" smtClean="0"/>
              <a:t>2/20/2021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94EE53-6676-4802-B117-DF670F4B385D}" type="slidenum">
              <a:rPr lang="en-US" smtClean="0"/>
              <a:t>‹#›</a:t>
            </a:fld>
            <a:endParaRPr lang="en-US"/>
          </a:p>
        </p:txBody>
      </p:sp>
    </p:spTree>
    <p:extLst>
      <p:ext uri="{BB962C8B-B14F-4D97-AF65-F5344CB8AC3E}">
        <p14:creationId xmlns:p14="http://schemas.microsoft.com/office/powerpoint/2010/main" val="3664797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B32DE64-DA22-4CBC-887D-0D461ECB71FB}" type="datetimeFigureOut">
              <a:rPr lang="en-US" smtClean="0"/>
              <a:t>2/20/2021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94EE53-6676-4802-B117-DF670F4B385D}" type="slidenum">
              <a:rPr lang="en-US" smtClean="0"/>
              <a:t>‹#›</a:t>
            </a:fld>
            <a:endParaRPr lang="en-US"/>
          </a:p>
        </p:txBody>
      </p:sp>
    </p:spTree>
    <p:extLst>
      <p:ext uri="{BB962C8B-B14F-4D97-AF65-F5344CB8AC3E}">
        <p14:creationId xmlns:p14="http://schemas.microsoft.com/office/powerpoint/2010/main" val="18555496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B32DE64-DA22-4CBC-887D-0D461ECB71FB}" type="datetimeFigureOut">
              <a:rPr lang="en-US" smtClean="0"/>
              <a:t>2/20/2021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94EE53-6676-4802-B117-DF670F4B385D}" type="slidenum">
              <a:rPr lang="en-US" smtClean="0"/>
              <a:t>‹#›</a:t>
            </a:fld>
            <a:endParaRPr lang="en-US"/>
          </a:p>
        </p:txBody>
      </p:sp>
    </p:spTree>
    <p:extLst>
      <p:ext uri="{BB962C8B-B14F-4D97-AF65-F5344CB8AC3E}">
        <p14:creationId xmlns:p14="http://schemas.microsoft.com/office/powerpoint/2010/main" val="11403164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B32DE64-DA22-4CBC-887D-0D461ECB71FB}" type="datetimeFigureOut">
              <a:rPr lang="en-US" smtClean="0"/>
              <a:t>2/20/2021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94EE53-6676-4802-B117-DF670F4B385D}" type="slidenum">
              <a:rPr lang="en-US" smtClean="0"/>
              <a:t>‹#›</a:t>
            </a:fld>
            <a:endParaRPr lang="en-US"/>
          </a:p>
        </p:txBody>
      </p:sp>
    </p:spTree>
    <p:extLst>
      <p:ext uri="{BB962C8B-B14F-4D97-AF65-F5344CB8AC3E}">
        <p14:creationId xmlns:p14="http://schemas.microsoft.com/office/powerpoint/2010/main" val="1375187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B32DE64-DA22-4CBC-887D-0D461ECB71FB}" type="datetimeFigureOut">
              <a:rPr lang="en-US" smtClean="0"/>
              <a:t>2/20/2021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594EE53-6676-4802-B117-DF670F4B385D}" type="slidenum">
              <a:rPr lang="en-US" smtClean="0"/>
              <a:t>‹#›</a:t>
            </a:fld>
            <a:endParaRPr lang="en-US"/>
          </a:p>
        </p:txBody>
      </p:sp>
    </p:spTree>
    <p:extLst>
      <p:ext uri="{BB962C8B-B14F-4D97-AF65-F5344CB8AC3E}">
        <p14:creationId xmlns:p14="http://schemas.microsoft.com/office/powerpoint/2010/main" val="1314527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B32DE64-DA22-4CBC-887D-0D461ECB71FB}" type="datetimeFigureOut">
              <a:rPr lang="en-US" smtClean="0"/>
              <a:t>2/20/2021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594EE53-6676-4802-B117-DF670F4B385D}" type="slidenum">
              <a:rPr lang="en-US" smtClean="0"/>
              <a:t>‹#›</a:t>
            </a:fld>
            <a:endParaRPr lang="en-US"/>
          </a:p>
        </p:txBody>
      </p:sp>
    </p:spTree>
    <p:extLst>
      <p:ext uri="{BB962C8B-B14F-4D97-AF65-F5344CB8AC3E}">
        <p14:creationId xmlns:p14="http://schemas.microsoft.com/office/powerpoint/2010/main" val="177969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32DE64-DA22-4CBC-887D-0D461ECB71FB}" type="datetimeFigureOut">
              <a:rPr lang="en-US" smtClean="0"/>
              <a:t>2/20/2021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594EE53-6676-4802-B117-DF670F4B385D}" type="slidenum">
              <a:rPr lang="en-US" smtClean="0"/>
              <a:t>‹#›</a:t>
            </a:fld>
            <a:endParaRPr lang="en-US"/>
          </a:p>
        </p:txBody>
      </p:sp>
    </p:spTree>
    <p:extLst>
      <p:ext uri="{BB962C8B-B14F-4D97-AF65-F5344CB8AC3E}">
        <p14:creationId xmlns:p14="http://schemas.microsoft.com/office/powerpoint/2010/main" val="2592657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B32DE64-DA22-4CBC-887D-0D461ECB71FB}" type="datetimeFigureOut">
              <a:rPr lang="en-US" smtClean="0"/>
              <a:t>2/20/2021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94EE53-6676-4802-B117-DF670F4B385D}" type="slidenum">
              <a:rPr lang="en-US" smtClean="0"/>
              <a:t>‹#›</a:t>
            </a:fld>
            <a:endParaRPr lang="en-US"/>
          </a:p>
        </p:txBody>
      </p:sp>
    </p:spTree>
    <p:extLst>
      <p:ext uri="{BB962C8B-B14F-4D97-AF65-F5344CB8AC3E}">
        <p14:creationId xmlns:p14="http://schemas.microsoft.com/office/powerpoint/2010/main" val="440991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B32DE64-DA22-4CBC-887D-0D461ECB71FB}" type="datetimeFigureOut">
              <a:rPr lang="en-US" smtClean="0"/>
              <a:t>2/20/2021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94EE53-6676-4802-B117-DF670F4B385D}" type="slidenum">
              <a:rPr lang="en-US" smtClean="0"/>
              <a:t>‹#›</a:t>
            </a:fld>
            <a:endParaRPr lang="en-US"/>
          </a:p>
        </p:txBody>
      </p:sp>
    </p:spTree>
    <p:extLst>
      <p:ext uri="{BB962C8B-B14F-4D97-AF65-F5344CB8AC3E}">
        <p14:creationId xmlns:p14="http://schemas.microsoft.com/office/powerpoint/2010/main" val="4463756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B32DE64-DA22-4CBC-887D-0D461ECB71FB}" type="datetimeFigureOut">
              <a:rPr lang="en-US" smtClean="0"/>
              <a:t>2/20/2021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94EE53-6676-4802-B117-DF670F4B385D}" type="slidenum">
              <a:rPr lang="en-US" smtClean="0"/>
              <a:t>‹#›</a:t>
            </a:fld>
            <a:endParaRPr lang="en-US"/>
          </a:p>
        </p:txBody>
      </p:sp>
    </p:spTree>
    <p:extLst>
      <p:ext uri="{BB962C8B-B14F-4D97-AF65-F5344CB8AC3E}">
        <p14:creationId xmlns:p14="http://schemas.microsoft.com/office/powerpoint/2010/main" val="345240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B32DE64-DA22-4CBC-887D-0D461ECB71FB}" type="datetimeFigureOut">
              <a:rPr lang="en-US" smtClean="0"/>
              <a:t>2/20/2021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94EE53-6676-4802-B117-DF670F4B385D}" type="slidenum">
              <a:rPr lang="en-US" smtClean="0"/>
              <a:t>‹#›</a:t>
            </a:fld>
            <a:endParaRPr lang="en-US"/>
          </a:p>
        </p:txBody>
      </p:sp>
    </p:spTree>
    <p:extLst>
      <p:ext uri="{BB962C8B-B14F-4D97-AF65-F5344CB8AC3E}">
        <p14:creationId xmlns:p14="http://schemas.microsoft.com/office/powerpoint/2010/main" val="1301042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32DE64-DA22-4CBC-887D-0D461ECB71FB}" type="datetimeFigureOut">
              <a:rPr lang="en-US" smtClean="0"/>
              <a:t>2/20/2021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94EE53-6676-4802-B117-DF670F4B385D}" type="slidenum">
              <a:rPr lang="en-US" smtClean="0"/>
              <a:t>‹#›</a:t>
            </a:fld>
            <a:endParaRPr lang="en-US"/>
          </a:p>
        </p:txBody>
      </p:sp>
    </p:spTree>
    <p:extLst>
      <p:ext uri="{BB962C8B-B14F-4D97-AF65-F5344CB8AC3E}">
        <p14:creationId xmlns:p14="http://schemas.microsoft.com/office/powerpoint/2010/main" val="30875233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video" Target="NULL" TargetMode="External"/><Relationship Id="rId7" Type="http://schemas.openxmlformats.org/officeDocument/2006/relationships/slideLayout" Target="../slideLayouts/slideLayout2.xml"/><Relationship Id="rId2" Type="http://schemas.openxmlformats.org/officeDocument/2006/relationships/tags" Target="../tags/tag1.xml"/><Relationship Id="rId1" Type="http://schemas.openxmlformats.org/officeDocument/2006/relationships/customXml" Target="../../customXml/item18.xml"/><Relationship Id="rId6" Type="http://schemas.microsoft.com/office/2007/relationships/media" Target="../media/media1.mp4"/><Relationship Id="rId5" Type="http://schemas.openxmlformats.org/officeDocument/2006/relationships/tags" Target="../tags/tag2.xml"/><Relationship Id="rId4" Type="http://schemas.openxmlformats.org/officeDocument/2006/relationships/customXml" Target="../../customXml/item7.xml"/></Relationships>
</file>

<file path=ppt/slides/_rels/slide3.xml.rels><?xml version="1.0" encoding="UTF-8" standalone="yes"?>
<Relationships xmlns="http://schemas.openxmlformats.org/package/2006/relationships"><Relationship Id="rId8" Type="http://schemas.openxmlformats.org/officeDocument/2006/relationships/hyperlink" Target="https://en.wikipedia.org/wiki/Polyethylene_glycol" TargetMode="External"/><Relationship Id="rId3" Type="http://schemas.openxmlformats.org/officeDocument/2006/relationships/video" Target="NULL" TargetMode="External"/><Relationship Id="rId7" Type="http://schemas.openxmlformats.org/officeDocument/2006/relationships/slideLayout" Target="../slideLayouts/slideLayout2.xml"/><Relationship Id="rId12" Type="http://schemas.openxmlformats.org/officeDocument/2006/relationships/image" Target="../media/image1.png"/><Relationship Id="rId2" Type="http://schemas.openxmlformats.org/officeDocument/2006/relationships/tags" Target="../tags/tag3.xml"/><Relationship Id="rId1" Type="http://schemas.openxmlformats.org/officeDocument/2006/relationships/customXml" Target="../../customXml/item6.xml"/><Relationship Id="rId6" Type="http://schemas.microsoft.com/office/2007/relationships/media" Target="../media/media1.mp4"/><Relationship Id="rId11" Type="http://schemas.openxmlformats.org/officeDocument/2006/relationships/hyperlink" Target="https://en.wikipedia.org/wiki/Thymidine" TargetMode="External"/><Relationship Id="rId5" Type="http://schemas.openxmlformats.org/officeDocument/2006/relationships/tags" Target="../tags/tag4.xml"/><Relationship Id="rId10" Type="http://schemas.openxmlformats.org/officeDocument/2006/relationships/hyperlink" Target="https://en.wikipedia.org/wiki/Aminopterin" TargetMode="External"/><Relationship Id="rId4" Type="http://schemas.openxmlformats.org/officeDocument/2006/relationships/customXml" Target="../../customXml/item4.xml"/><Relationship Id="rId9" Type="http://schemas.openxmlformats.org/officeDocument/2006/relationships/hyperlink" Target="https://en.wikipedia.org/wiki/Hypoxanthine"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video" Target="NULL" TargetMode="External"/><Relationship Id="rId7" Type="http://schemas.openxmlformats.org/officeDocument/2006/relationships/slideLayout" Target="../slideLayouts/slideLayout2.xml"/><Relationship Id="rId2" Type="http://schemas.openxmlformats.org/officeDocument/2006/relationships/tags" Target="../tags/tag5.xml"/><Relationship Id="rId1" Type="http://schemas.openxmlformats.org/officeDocument/2006/relationships/customXml" Target="../../customXml/item17.xml"/><Relationship Id="rId6" Type="http://schemas.microsoft.com/office/2007/relationships/media" Target="../media/media1.mp4"/><Relationship Id="rId5" Type="http://schemas.openxmlformats.org/officeDocument/2006/relationships/tags" Target="../tags/tag6.xml"/><Relationship Id="rId4" Type="http://schemas.openxmlformats.org/officeDocument/2006/relationships/customXml" Target="../../customXml/item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hyperlink" Target="https://en.wikipedia.org/wiki/Hypoxanthine" TargetMode="External"/><Relationship Id="rId13" Type="http://schemas.openxmlformats.org/officeDocument/2006/relationships/image" Target="../media/image1.png"/><Relationship Id="rId3" Type="http://schemas.openxmlformats.org/officeDocument/2006/relationships/video" Target="NULL" TargetMode="External"/><Relationship Id="rId7" Type="http://schemas.openxmlformats.org/officeDocument/2006/relationships/slideLayout" Target="../slideLayouts/slideLayout2.xml"/><Relationship Id="rId12" Type="http://schemas.openxmlformats.org/officeDocument/2006/relationships/hyperlink" Target="https://en.wikipedia.org/wiki/Cell_division" TargetMode="External"/><Relationship Id="rId2" Type="http://schemas.openxmlformats.org/officeDocument/2006/relationships/tags" Target="../tags/tag7.xml"/><Relationship Id="rId1" Type="http://schemas.openxmlformats.org/officeDocument/2006/relationships/customXml" Target="../../customXml/item8.xml"/><Relationship Id="rId6" Type="http://schemas.microsoft.com/office/2007/relationships/media" Target="../media/media1.mp4"/><Relationship Id="rId11" Type="http://schemas.openxmlformats.org/officeDocument/2006/relationships/hyperlink" Target="https://en.wikipedia.org/wiki/De_novo_synthesis" TargetMode="External"/><Relationship Id="rId5" Type="http://schemas.openxmlformats.org/officeDocument/2006/relationships/tags" Target="../tags/tag8.xml"/><Relationship Id="rId10" Type="http://schemas.openxmlformats.org/officeDocument/2006/relationships/hyperlink" Target="https://en.wikipedia.org/wiki/Thymidine" TargetMode="External"/><Relationship Id="rId4" Type="http://schemas.openxmlformats.org/officeDocument/2006/relationships/customXml" Target="../../customXml/item15.xml"/><Relationship Id="rId9" Type="http://schemas.openxmlformats.org/officeDocument/2006/relationships/hyperlink" Target="https://en.wikipedia.org/wiki/Aminopterin"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video" Target="NULL" TargetMode="External"/><Relationship Id="rId7" Type="http://schemas.openxmlformats.org/officeDocument/2006/relationships/slideLayout" Target="../slideLayouts/slideLayout2.xml"/><Relationship Id="rId2" Type="http://schemas.openxmlformats.org/officeDocument/2006/relationships/tags" Target="../tags/tag9.xml"/><Relationship Id="rId1" Type="http://schemas.openxmlformats.org/officeDocument/2006/relationships/customXml" Target="../../customXml/item13.xml"/><Relationship Id="rId6" Type="http://schemas.microsoft.com/office/2007/relationships/media" Target="../media/media1.mp4"/><Relationship Id="rId5" Type="http://schemas.openxmlformats.org/officeDocument/2006/relationships/tags" Target="../tags/tag10.xml"/><Relationship Id="rId4" Type="http://schemas.openxmlformats.org/officeDocument/2006/relationships/customXml" Target="../../customXml/item5.xml"/></Relationships>
</file>

<file path=ppt/slides/_rels/slide10.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video" Target="NULL" TargetMode="External"/><Relationship Id="rId7"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customXml" Target="../../customXml/item10.xml"/><Relationship Id="rId6" Type="http://schemas.microsoft.com/office/2007/relationships/media" Target="../media/media1.mp4"/><Relationship Id="rId5" Type="http://schemas.openxmlformats.org/officeDocument/2006/relationships/tags" Target="../tags/tag12.xml"/><Relationship Id="rId4" Type="http://schemas.openxmlformats.org/officeDocument/2006/relationships/customXml" Target="../../customXml/item1.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video" Target="NULL" TargetMode="External"/><Relationship Id="rId7" Type="http://schemas.openxmlformats.org/officeDocument/2006/relationships/slideLayout" Target="../slideLayouts/slideLayout2.xml"/><Relationship Id="rId2" Type="http://schemas.openxmlformats.org/officeDocument/2006/relationships/tags" Target="../tags/tag13.xml"/><Relationship Id="rId1" Type="http://schemas.openxmlformats.org/officeDocument/2006/relationships/customXml" Target="../../customXml/item12.xml"/><Relationship Id="rId6" Type="http://schemas.microsoft.com/office/2007/relationships/media" Target="../media/media1.mp4"/><Relationship Id="rId5" Type="http://schemas.openxmlformats.org/officeDocument/2006/relationships/tags" Target="../tags/tag14.xml"/><Relationship Id="rId4" Type="http://schemas.openxmlformats.org/officeDocument/2006/relationships/customXml" Target="../../customXml/item3.xml"/><Relationship Id="rId9" Type="http://schemas.openxmlformats.org/officeDocument/2006/relationships/image" Target="../media/image3.jpeg"/></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video" Target="NULL" TargetMode="External"/><Relationship Id="rId7" Type="http://schemas.openxmlformats.org/officeDocument/2006/relationships/slideLayout" Target="../slideLayouts/slideLayout2.xml"/><Relationship Id="rId2" Type="http://schemas.openxmlformats.org/officeDocument/2006/relationships/tags" Target="../tags/tag15.xml"/><Relationship Id="rId1" Type="http://schemas.openxmlformats.org/officeDocument/2006/relationships/customXml" Target="../../customXml/item16.xml"/><Relationship Id="rId6" Type="http://schemas.microsoft.com/office/2007/relationships/media" Target="../media/media1.mp4"/><Relationship Id="rId5" Type="http://schemas.openxmlformats.org/officeDocument/2006/relationships/tags" Target="../tags/tag16.xml"/><Relationship Id="rId4" Type="http://schemas.openxmlformats.org/officeDocument/2006/relationships/customXml" Target="../../customXml/item11.xml"/></Relationships>
</file>

<file path=ppt/slides/_rels/slide16.xml.rels><?xml version="1.0" encoding="UTF-8" standalone="yes"?>
<Relationships xmlns="http://schemas.openxmlformats.org/package/2006/relationships"><Relationship Id="rId8" Type="http://schemas.openxmlformats.org/officeDocument/2006/relationships/hyperlink" Target="https://www.ncbi.nlm.nih.gov/pmc/articles/PMC4374365/" TargetMode="External"/><Relationship Id="rId3" Type="http://schemas.openxmlformats.org/officeDocument/2006/relationships/video" Target="NULL" TargetMode="External"/><Relationship Id="rId7" Type="http://schemas.openxmlformats.org/officeDocument/2006/relationships/slideLayout" Target="../slideLayouts/slideLayout2.xml"/><Relationship Id="rId2" Type="http://schemas.openxmlformats.org/officeDocument/2006/relationships/tags" Target="../tags/tag17.xml"/><Relationship Id="rId1" Type="http://schemas.openxmlformats.org/officeDocument/2006/relationships/customXml" Target="../../customXml/item14.xml"/><Relationship Id="rId6" Type="http://schemas.microsoft.com/office/2007/relationships/media" Target="../media/media1.mp4"/><Relationship Id="rId5" Type="http://schemas.openxmlformats.org/officeDocument/2006/relationships/tags" Target="../tags/tag18.xml"/><Relationship Id="rId4" Type="http://schemas.openxmlformats.org/officeDocument/2006/relationships/customXml" Target="../../customXml/item9.xml"/><Relationship Id="rId9"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FUSION: </a:t>
            </a:r>
            <a:r>
              <a:rPr lang="en-US" b="1" dirty="0" err="1" smtClean="0">
                <a:solidFill>
                  <a:srgbClr val="FF0000"/>
                </a:solidFill>
              </a:rPr>
              <a:t>Hybridoma</a:t>
            </a:r>
            <a:r>
              <a:rPr lang="en-US" b="1" dirty="0" smtClean="0">
                <a:solidFill>
                  <a:srgbClr val="FF0000"/>
                </a:solidFill>
              </a:rPr>
              <a:t> formation</a:t>
            </a:r>
            <a:endParaRPr lang="en-US" b="1" dirty="0">
              <a:solidFill>
                <a:srgbClr val="FF0000"/>
              </a:solidFill>
            </a:endParaRP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4967310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Prior to </a:t>
            </a:r>
            <a:r>
              <a:rPr lang="en-US" b="1" dirty="0" smtClean="0">
                <a:solidFill>
                  <a:srgbClr val="FF0000"/>
                </a:solidFill>
              </a:rPr>
              <a:t>Cell fusion</a:t>
            </a:r>
            <a:endParaRPr lang="en-US" b="1" dirty="0">
              <a:solidFill>
                <a:srgbClr val="FF0000"/>
              </a:solidFill>
            </a:endParaRPr>
          </a:p>
        </p:txBody>
      </p:sp>
      <p:sp>
        <p:nvSpPr>
          <p:cNvPr id="3" name="Content Placeholder 2"/>
          <p:cNvSpPr>
            <a:spLocks noGrp="1"/>
          </p:cNvSpPr>
          <p:nvPr>
            <p:ph idx="1"/>
          </p:nvPr>
        </p:nvSpPr>
        <p:spPr/>
        <p:txBody>
          <a:bodyPr/>
          <a:lstStyle/>
          <a:p>
            <a:pPr marL="0" indent="0">
              <a:buNone/>
            </a:pPr>
            <a:r>
              <a:rPr lang="en-US" b="1" dirty="0"/>
              <a:t>Prior to Cell </a:t>
            </a:r>
            <a:r>
              <a:rPr lang="en-US" b="1" dirty="0" smtClean="0"/>
              <a:t>fusion</a:t>
            </a:r>
            <a:r>
              <a:rPr lang="en-US" b="1" dirty="0" smtClean="0">
                <a:solidFill>
                  <a:srgbClr val="FF0000"/>
                </a:solidFill>
              </a:rPr>
              <a:t>, </a:t>
            </a:r>
            <a:r>
              <a:rPr lang="en-US" dirty="0" smtClean="0"/>
              <a:t> it is essential that:</a:t>
            </a:r>
          </a:p>
          <a:p>
            <a:pPr marL="514350" indent="-514350">
              <a:buAutoNum type="alphaLcPeriod"/>
            </a:pPr>
            <a:r>
              <a:rPr lang="en-US" dirty="0" smtClean="0"/>
              <a:t>The myeloma cells are in the log phase of growth ensured by frequent dilution</a:t>
            </a:r>
          </a:p>
          <a:p>
            <a:pPr marL="514350" indent="-514350">
              <a:buAutoNum type="alphaLcPeriod"/>
            </a:pPr>
            <a:r>
              <a:rPr lang="en-US" dirty="0" smtClean="0"/>
              <a:t>Cell density: not greater than 10</a:t>
            </a:r>
            <a:r>
              <a:rPr lang="en-US" baseline="30000" dirty="0" smtClean="0"/>
              <a:t>6</a:t>
            </a:r>
            <a:r>
              <a:rPr lang="en-US" dirty="0" smtClean="0"/>
              <a:t>/ml</a:t>
            </a:r>
          </a:p>
          <a:p>
            <a:pPr marL="514350" indent="-514350">
              <a:buAutoNum type="alphaLcPeriod"/>
            </a:pPr>
            <a:r>
              <a:rPr lang="en-US" dirty="0" smtClean="0"/>
              <a:t>Cell viability: &gt;95%</a:t>
            </a:r>
          </a:p>
          <a:p>
            <a:pPr marL="0" indent="0">
              <a:buNone/>
            </a:pPr>
            <a:endParaRPr lang="en-US" dirty="0" smtClean="0"/>
          </a:p>
          <a:p>
            <a:pPr marL="0" indent="0">
              <a:buNone/>
            </a:pPr>
            <a:endParaRPr lang="en-US" dirty="0" smtClean="0"/>
          </a:p>
          <a:p>
            <a:pPr marL="514350" indent="-514350">
              <a:buAutoNum type="alphaLcPeriod"/>
            </a:pPr>
            <a:endParaRPr lang="en-US" dirty="0"/>
          </a:p>
        </p:txBody>
      </p:sp>
      <p:pic>
        <p:nvPicPr>
          <p:cNvPr id="4" name="tmp1311">
            <a:hlinkClick r:id="" action="ppaction://media"/>
          </p:cNvPr>
          <p:cNvPicPr>
            <a:picLocks noChangeAspect="1"/>
          </p:cNvPicPr>
          <p:nvPr>
            <a:videoFile r:link="rId3"/>
            <p:custDataLst>
              <p:custData r:id="rId4"/>
              <p:tags r:id="rId5"/>
            </p:custDataLst>
            <p:extLst>
              <p:ext uri="{DAA4B4D4-6D71-4841-9C94-3DE7FCFB9230}">
                <p14:media xmlns:p14="http://schemas.microsoft.com/office/powerpoint/2010/main" r:embed="rId6">
                  <p14:trim st="521227" end="278725.8299"/>
                </p14:media>
              </p:ext>
            </p:extLst>
          </p:nvPr>
        </p:nvPicPr>
        <p:blipFill>
          <a:blip r:embed="rId8"/>
          <a:stretch>
            <a:fillRect/>
          </a:stretch>
        </p:blipFill>
        <p:spPr>
          <a:xfrm>
            <a:off x="11861800" y="101600"/>
            <a:ext cx="228600" cy="228600"/>
          </a:xfrm>
          <a:prstGeom prst="rect">
            <a:avLst/>
          </a:prstGeom>
        </p:spPr>
      </p:pic>
    </p:spTree>
    <p:custDataLst>
      <p:custData r:id="rId1"/>
      <p:tags r:id="rId2"/>
    </p:custDataLst>
    <p:extLst>
      <p:ext uri="{BB962C8B-B14F-4D97-AF65-F5344CB8AC3E}">
        <p14:creationId xmlns:p14="http://schemas.microsoft.com/office/powerpoint/2010/main" val="6272373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43397"/>
          </a:xfrm>
        </p:spPr>
        <p:txBody>
          <a:bodyPr>
            <a:normAutofit fontScale="90000"/>
          </a:bodyPr>
          <a:lstStyle/>
          <a:p>
            <a:r>
              <a:rPr lang="en-US" b="1" dirty="0" smtClean="0">
                <a:solidFill>
                  <a:srgbClr val="FF0000"/>
                </a:solidFill>
              </a:rPr>
              <a:t>Fusion between B cells and Myeloma </a:t>
            </a:r>
            <a:endParaRPr lang="en-US" b="1" dirty="0">
              <a:solidFill>
                <a:srgbClr val="FF0000"/>
              </a:solidFill>
            </a:endParaRPr>
          </a:p>
        </p:txBody>
      </p:sp>
      <p:sp>
        <p:nvSpPr>
          <p:cNvPr id="3" name="Content Placeholder 2"/>
          <p:cNvSpPr>
            <a:spLocks noGrp="1"/>
          </p:cNvSpPr>
          <p:nvPr>
            <p:ph idx="1"/>
          </p:nvPr>
        </p:nvSpPr>
        <p:spPr>
          <a:xfrm>
            <a:off x="838200" y="981778"/>
            <a:ext cx="10515600" cy="5195186"/>
          </a:xfrm>
        </p:spPr>
        <p:txBody>
          <a:bodyPr>
            <a:normAutofit/>
          </a:bodyPr>
          <a:lstStyle/>
          <a:p>
            <a:r>
              <a:rPr lang="en-US" dirty="0" smtClean="0"/>
              <a:t>the </a:t>
            </a:r>
            <a:r>
              <a:rPr lang="en-US" dirty="0"/>
              <a:t>B-cells and myelomas can be made to fuse by chemical protocols, most often using </a:t>
            </a:r>
            <a:r>
              <a:rPr lang="en-US" dirty="0">
                <a:hlinkClick r:id="rId8" tooltip="Polyethylene glycol"/>
              </a:rPr>
              <a:t>polyethylene glycol</a:t>
            </a:r>
            <a:r>
              <a:rPr lang="en-US" dirty="0"/>
              <a:t>. </a:t>
            </a:r>
          </a:p>
          <a:p>
            <a:r>
              <a:rPr lang="en-US" dirty="0" smtClean="0"/>
              <a:t>Cells are incubated in </a:t>
            </a:r>
            <a:r>
              <a:rPr lang="en-US" dirty="0" smtClean="0">
                <a:solidFill>
                  <a:srgbClr val="0070C0"/>
                </a:solidFill>
              </a:rPr>
              <a:t>HAT</a:t>
            </a:r>
            <a:r>
              <a:rPr lang="en-US" dirty="0" smtClean="0"/>
              <a:t> medium (</a:t>
            </a:r>
            <a:r>
              <a:rPr lang="en-US" dirty="0" smtClean="0">
                <a:hlinkClick r:id="rId9" tooltip="Hypoxanthine"/>
              </a:rPr>
              <a:t>hypoxanthine</a:t>
            </a:r>
            <a:r>
              <a:rPr lang="en-US" dirty="0" smtClean="0"/>
              <a:t>-</a:t>
            </a:r>
            <a:r>
              <a:rPr lang="en-US" dirty="0" err="1" smtClean="0">
                <a:hlinkClick r:id="rId10" tooltip="Aminopterin"/>
              </a:rPr>
              <a:t>aminopterin</a:t>
            </a:r>
            <a:r>
              <a:rPr lang="en-US" dirty="0" smtClean="0"/>
              <a:t>-</a:t>
            </a:r>
            <a:r>
              <a:rPr lang="en-US" dirty="0" smtClean="0">
                <a:hlinkClick r:id="rId11" tooltip="Thymidine"/>
              </a:rPr>
              <a:t>thymidine</a:t>
            </a:r>
            <a:r>
              <a:rPr lang="en-US" dirty="0" smtClean="0"/>
              <a:t> medium) for roughly 10 to 14 days.</a:t>
            </a:r>
          </a:p>
          <a:p>
            <a:endParaRPr lang="en-US" dirty="0"/>
          </a:p>
        </p:txBody>
      </p:sp>
      <p:pic>
        <p:nvPicPr>
          <p:cNvPr id="4" name="tmp1311">
            <a:hlinkClick r:id="" action="ppaction://media"/>
          </p:cNvPr>
          <p:cNvPicPr>
            <a:picLocks noChangeAspect="1"/>
          </p:cNvPicPr>
          <p:nvPr>
            <a:videoFile r:link="rId3"/>
            <p:custDataLst>
              <p:custData r:id="rId4"/>
              <p:tags r:id="rId5"/>
            </p:custDataLst>
            <p:extLst>
              <p:ext uri="{DAA4B4D4-6D71-4841-9C94-3DE7FCFB9230}">
                <p14:media xmlns:p14="http://schemas.microsoft.com/office/powerpoint/2010/main" r:embed="rId6">
                  <p14:trim st="193944" end="432610.8299"/>
                </p14:media>
              </p:ext>
            </p:extLst>
          </p:nvPr>
        </p:nvPicPr>
        <p:blipFill>
          <a:blip r:embed="rId12"/>
          <a:stretch>
            <a:fillRect/>
          </a:stretch>
        </p:blipFill>
        <p:spPr>
          <a:xfrm>
            <a:off x="11861800" y="101600"/>
            <a:ext cx="228600" cy="228600"/>
          </a:xfrm>
          <a:prstGeom prst="rect">
            <a:avLst/>
          </a:prstGeom>
        </p:spPr>
      </p:pic>
    </p:spTree>
    <p:custDataLst>
      <p:custData r:id="rId1"/>
      <p:tags r:id="rId2"/>
    </p:custDataLst>
    <p:extLst>
      <p:ext uri="{BB962C8B-B14F-4D97-AF65-F5344CB8AC3E}">
        <p14:creationId xmlns:p14="http://schemas.microsoft.com/office/powerpoint/2010/main" val="38502171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356770"/>
          </a:xfrm>
        </p:spPr>
        <p:txBody>
          <a:bodyPr>
            <a:noAutofit/>
          </a:bodyPr>
          <a:lstStyle/>
          <a:p>
            <a:r>
              <a:rPr lang="en-US" sz="3200" b="1" dirty="0" smtClean="0">
                <a:solidFill>
                  <a:srgbClr val="FF0000"/>
                </a:solidFill>
              </a:rPr>
              <a:t>Polyethylene glycol</a:t>
            </a:r>
            <a:endParaRPr lang="en-US" sz="3200" b="1" dirty="0">
              <a:solidFill>
                <a:srgbClr val="FF0000"/>
              </a:solidFill>
            </a:endParaRPr>
          </a:p>
        </p:txBody>
      </p:sp>
      <p:sp>
        <p:nvSpPr>
          <p:cNvPr id="3" name="Content Placeholder 2"/>
          <p:cNvSpPr>
            <a:spLocks noGrp="1"/>
          </p:cNvSpPr>
          <p:nvPr>
            <p:ph idx="1"/>
          </p:nvPr>
        </p:nvSpPr>
        <p:spPr>
          <a:xfrm>
            <a:off x="838200" y="1001027"/>
            <a:ext cx="10515600" cy="5175936"/>
          </a:xfrm>
        </p:spPr>
        <p:txBody>
          <a:bodyPr>
            <a:normAutofit fontScale="85000" lnSpcReduction="20000"/>
          </a:bodyPr>
          <a:lstStyle/>
          <a:p>
            <a:r>
              <a:rPr lang="en-US" dirty="0" smtClean="0"/>
              <a:t>Polyethylene </a:t>
            </a:r>
            <a:r>
              <a:rPr lang="en-US" dirty="0"/>
              <a:t>glycol (PEG) induces rapid fusion of </a:t>
            </a:r>
            <a:r>
              <a:rPr lang="en-US" dirty="0" smtClean="0"/>
              <a:t>cells</a:t>
            </a:r>
            <a:r>
              <a:rPr lang="en-US" dirty="0"/>
              <a:t>. Membrane fusion, as detected by formation of </a:t>
            </a:r>
            <a:r>
              <a:rPr lang="en-US" dirty="0" err="1"/>
              <a:t>pentalaminar</a:t>
            </a:r>
            <a:r>
              <a:rPr lang="en-US" dirty="0"/>
              <a:t> membrane arrays, occurs as early as 1 min after PEG treatment</a:t>
            </a:r>
            <a:r>
              <a:rPr lang="en-US" dirty="0" smtClean="0"/>
              <a:t>.</a:t>
            </a:r>
          </a:p>
          <a:p>
            <a:r>
              <a:rPr lang="en-US" dirty="0" smtClean="0"/>
              <a:t> PEG </a:t>
            </a:r>
            <a:r>
              <a:rPr lang="en-US" dirty="0"/>
              <a:t>is the most widely used of the water-soluble </a:t>
            </a:r>
            <a:r>
              <a:rPr lang="en-US" dirty="0" err="1" smtClean="0"/>
              <a:t>fusogens</a:t>
            </a:r>
            <a:r>
              <a:rPr lang="en-US" dirty="0" smtClean="0"/>
              <a:t>. The </a:t>
            </a:r>
            <a:r>
              <a:rPr lang="en-US" dirty="0"/>
              <a:t>usefulness of PEG stems from </a:t>
            </a:r>
            <a:r>
              <a:rPr lang="en-US" dirty="0" smtClean="0"/>
              <a:t>its: </a:t>
            </a:r>
          </a:p>
          <a:p>
            <a:pPr marL="0" indent="0">
              <a:buNone/>
            </a:pPr>
            <a:r>
              <a:rPr lang="en-US" b="1" dirty="0"/>
              <a:t>	</a:t>
            </a:r>
            <a:r>
              <a:rPr lang="en-US" b="1" dirty="0" smtClean="0"/>
              <a:t>low </a:t>
            </a:r>
            <a:r>
              <a:rPr lang="en-US" b="1" dirty="0"/>
              <a:t>cytotoxicity for most </a:t>
            </a:r>
            <a:r>
              <a:rPr lang="en-US" b="1" dirty="0" smtClean="0"/>
              <a:t>cells</a:t>
            </a:r>
            <a:r>
              <a:rPr lang="en-US" dirty="0" smtClean="0"/>
              <a:t>, </a:t>
            </a:r>
          </a:p>
          <a:p>
            <a:pPr marL="0" indent="0">
              <a:buNone/>
            </a:pPr>
            <a:r>
              <a:rPr lang="en-US" dirty="0" smtClean="0"/>
              <a:t>	</a:t>
            </a:r>
            <a:r>
              <a:rPr lang="en-US" b="1" dirty="0" smtClean="0"/>
              <a:t>high fusion rate</a:t>
            </a:r>
            <a:r>
              <a:rPr lang="en-US" dirty="0" smtClean="0"/>
              <a:t>, </a:t>
            </a:r>
          </a:p>
          <a:p>
            <a:pPr marL="0" indent="0">
              <a:buNone/>
            </a:pPr>
            <a:r>
              <a:rPr lang="en-US" dirty="0" smtClean="0"/>
              <a:t>              </a:t>
            </a:r>
            <a:r>
              <a:rPr lang="en-US" b="1" dirty="0" smtClean="0"/>
              <a:t>ease </a:t>
            </a:r>
            <a:r>
              <a:rPr lang="en-US" b="1" dirty="0"/>
              <a:t>of handling </a:t>
            </a:r>
            <a:r>
              <a:rPr lang="en-US" dirty="0"/>
              <a:t>and </a:t>
            </a:r>
            <a:endParaRPr lang="en-US" dirty="0" smtClean="0"/>
          </a:p>
          <a:p>
            <a:pPr marL="0" indent="0">
              <a:buNone/>
            </a:pPr>
            <a:r>
              <a:rPr lang="en-US" dirty="0" smtClean="0"/>
              <a:t>              </a:t>
            </a:r>
            <a:r>
              <a:rPr lang="en-US" b="1" dirty="0" smtClean="0"/>
              <a:t>reproducibility</a:t>
            </a:r>
          </a:p>
          <a:p>
            <a:r>
              <a:rPr lang="en-US" dirty="0" smtClean="0"/>
              <a:t>Two somatic cells can be caused to fuse in vitro to produce a </a:t>
            </a:r>
            <a:r>
              <a:rPr lang="en-US" dirty="0" err="1" smtClean="0"/>
              <a:t>heterokaryocyte</a:t>
            </a:r>
            <a:r>
              <a:rPr lang="en-US" dirty="0" smtClean="0"/>
              <a:t> , which is a single hybrid cell containing 2 or more nuclei. The first mitotic division after fusion will lead to a population of daughter ells that carry both sets of parent cell chromosomes in the same nucleus. Often, at subsequent divisions chromosomes are lost in ones and twos until a new cell line is formed carrying some chromosomes from each parent. </a:t>
            </a:r>
          </a:p>
          <a:p>
            <a:pPr marL="0" indent="0">
              <a:buNone/>
            </a:pPr>
            <a:endParaRPr lang="en-US" b="1" dirty="0" smtClean="0"/>
          </a:p>
        </p:txBody>
      </p:sp>
      <p:pic>
        <p:nvPicPr>
          <p:cNvPr id="4" name="tmp1311">
            <a:hlinkClick r:id="" action="ppaction://media"/>
          </p:cNvPr>
          <p:cNvPicPr>
            <a:picLocks noChangeAspect="1"/>
          </p:cNvPicPr>
          <p:nvPr>
            <a:videoFile r:link="rId3"/>
            <p:custDataLst>
              <p:custData r:id="rId4"/>
              <p:tags r:id="rId5"/>
            </p:custDataLst>
            <p:extLst>
              <p:ext uri="{DAA4B4D4-6D71-4841-9C94-3DE7FCFB9230}">
                <p14:media xmlns:p14="http://schemas.microsoft.com/office/powerpoint/2010/main" r:embed="rId6">
                  <p14:trim st="421142" end="308797.8299"/>
                </p14:media>
              </p:ext>
            </p:extLst>
          </p:nvPr>
        </p:nvPicPr>
        <p:blipFill>
          <a:blip r:embed="rId8"/>
          <a:stretch>
            <a:fillRect/>
          </a:stretch>
        </p:blipFill>
        <p:spPr>
          <a:xfrm>
            <a:off x="11861800" y="101600"/>
            <a:ext cx="228600" cy="228600"/>
          </a:xfrm>
          <a:prstGeom prst="rect">
            <a:avLst/>
          </a:prstGeom>
        </p:spPr>
      </p:pic>
    </p:spTree>
    <p:custDataLst>
      <p:custData r:id="rId1"/>
      <p:tags r:id="rId2"/>
    </p:custDataLst>
    <p:extLst>
      <p:ext uri="{BB962C8B-B14F-4D97-AF65-F5344CB8AC3E}">
        <p14:creationId xmlns:p14="http://schemas.microsoft.com/office/powerpoint/2010/main" val="38595343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dirty="0"/>
              <a:t>The ideal conditions of </a:t>
            </a:r>
            <a:r>
              <a:rPr lang="en-US" b="1" dirty="0" err="1"/>
              <a:t>Polyethylelene</a:t>
            </a:r>
            <a:r>
              <a:rPr lang="en-US" b="1" dirty="0"/>
              <a:t> glycol  in cell fusion</a:t>
            </a:r>
          </a:p>
          <a:p>
            <a:r>
              <a:rPr lang="en-US" dirty="0" err="1"/>
              <a:t>MWt</a:t>
            </a:r>
            <a:r>
              <a:rPr lang="en-US" dirty="0"/>
              <a:t>: 1500-4000</a:t>
            </a:r>
          </a:p>
          <a:p>
            <a:r>
              <a:rPr lang="en-US" dirty="0"/>
              <a:t> The con Of PEG: 40-50%</a:t>
            </a:r>
          </a:p>
          <a:p>
            <a:r>
              <a:rPr lang="en-US" dirty="0"/>
              <a:t>PH: </a:t>
            </a:r>
            <a:r>
              <a:rPr lang="en-US" dirty="0" smtClean="0"/>
              <a:t> 8-8.8.2</a:t>
            </a:r>
            <a:endParaRPr lang="en-US" dirty="0"/>
          </a:p>
          <a:p>
            <a:r>
              <a:rPr lang="en-US" dirty="0"/>
              <a:t>Time of  exposure  to PEG: 1-2 min</a:t>
            </a:r>
          </a:p>
          <a:p>
            <a:r>
              <a:rPr lang="en-US" dirty="0"/>
              <a:t>Temp: 20-37</a:t>
            </a:r>
            <a:r>
              <a:rPr lang="en-US" baseline="30000" dirty="0"/>
              <a:t>o</a:t>
            </a:r>
            <a:r>
              <a:rPr lang="en-US" dirty="0"/>
              <a:t>C</a:t>
            </a:r>
          </a:p>
          <a:p>
            <a:r>
              <a:rPr lang="en-US" dirty="0"/>
              <a:t>Ratio of cells: 1:1-10:1 </a:t>
            </a:r>
            <a:r>
              <a:rPr lang="en-US" dirty="0" err="1"/>
              <a:t>Lym</a:t>
            </a:r>
            <a:r>
              <a:rPr lang="en-US" dirty="0"/>
              <a:t> to Myeloma cells</a:t>
            </a:r>
          </a:p>
          <a:p>
            <a:endParaRPr lang="en-US" dirty="0"/>
          </a:p>
          <a:p>
            <a:endParaRPr lang="en-US" dirty="0"/>
          </a:p>
        </p:txBody>
      </p:sp>
    </p:spTree>
    <p:extLst>
      <p:ext uri="{BB962C8B-B14F-4D97-AF65-F5344CB8AC3E}">
        <p14:creationId xmlns:p14="http://schemas.microsoft.com/office/powerpoint/2010/main" val="1752057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43397"/>
          </a:xfrm>
        </p:spPr>
        <p:txBody>
          <a:bodyPr>
            <a:normAutofit fontScale="90000"/>
          </a:bodyPr>
          <a:lstStyle/>
          <a:p>
            <a:r>
              <a:rPr lang="en-US" b="1" dirty="0" smtClean="0">
                <a:solidFill>
                  <a:srgbClr val="FF0000"/>
                </a:solidFill>
              </a:rPr>
              <a:t>HAT medium</a:t>
            </a:r>
            <a:endParaRPr lang="en-US" b="1" dirty="0">
              <a:solidFill>
                <a:srgbClr val="FF0000"/>
              </a:solidFill>
            </a:endParaRPr>
          </a:p>
        </p:txBody>
      </p:sp>
      <p:sp>
        <p:nvSpPr>
          <p:cNvPr id="3" name="Content Placeholder 2"/>
          <p:cNvSpPr>
            <a:spLocks noGrp="1"/>
          </p:cNvSpPr>
          <p:nvPr>
            <p:ph idx="1"/>
          </p:nvPr>
        </p:nvSpPr>
        <p:spPr>
          <a:xfrm>
            <a:off x="838200" y="1289785"/>
            <a:ext cx="10515600" cy="4887178"/>
          </a:xfrm>
        </p:spPr>
        <p:txBody>
          <a:bodyPr>
            <a:normAutofit fontScale="92500" lnSpcReduction="10000"/>
          </a:bodyPr>
          <a:lstStyle/>
          <a:p>
            <a:r>
              <a:rPr lang="en-US" b="1" dirty="0"/>
              <a:t>HAT Medium</a:t>
            </a:r>
            <a:r>
              <a:rPr lang="en-US" dirty="0"/>
              <a:t> (</a:t>
            </a:r>
            <a:r>
              <a:rPr lang="en-US" b="1" dirty="0">
                <a:hlinkClick r:id="rId8" tooltip="Hypoxanthine"/>
              </a:rPr>
              <a:t>hypoxanthine</a:t>
            </a:r>
            <a:r>
              <a:rPr lang="en-US" b="1" dirty="0"/>
              <a:t>-</a:t>
            </a:r>
            <a:r>
              <a:rPr lang="en-US" b="1" dirty="0" err="1">
                <a:hlinkClick r:id="rId9" tooltip="Aminopterin"/>
              </a:rPr>
              <a:t>aminopterin</a:t>
            </a:r>
            <a:r>
              <a:rPr lang="en-US" b="1" dirty="0"/>
              <a:t>-</a:t>
            </a:r>
            <a:r>
              <a:rPr lang="en-US" b="1" dirty="0">
                <a:hlinkClick r:id="rId10" tooltip="Thymidine"/>
              </a:rPr>
              <a:t>thymidine</a:t>
            </a:r>
            <a:r>
              <a:rPr lang="en-US" b="1" dirty="0"/>
              <a:t> medium</a:t>
            </a:r>
            <a:r>
              <a:rPr lang="en-US" dirty="0"/>
              <a:t>) is a selection medium for mammalian cell culture, which relies on the combination </a:t>
            </a:r>
            <a:r>
              <a:rPr lang="en-US" dirty="0" smtClean="0"/>
              <a:t>of: </a:t>
            </a:r>
          </a:p>
          <a:p>
            <a:pPr marL="0" indent="0">
              <a:buNone/>
            </a:pPr>
            <a:r>
              <a:rPr lang="en-US" dirty="0" smtClean="0">
                <a:hlinkClick r:id="rId8" tooltip="Hypoxanthine"/>
              </a:rPr>
              <a:t>Hypoxanthine</a:t>
            </a:r>
            <a:r>
              <a:rPr lang="en-US" dirty="0"/>
              <a:t> (a </a:t>
            </a:r>
            <a:r>
              <a:rPr lang="en-US" dirty="0">
                <a:solidFill>
                  <a:srgbClr val="002060"/>
                </a:solidFill>
              </a:rPr>
              <a:t>purine </a:t>
            </a:r>
            <a:r>
              <a:rPr lang="en-US" dirty="0"/>
              <a:t>derivative) </a:t>
            </a:r>
            <a:endParaRPr lang="en-US" dirty="0" smtClean="0"/>
          </a:p>
          <a:p>
            <a:pPr marL="0" indent="0">
              <a:buNone/>
            </a:pPr>
            <a:r>
              <a:rPr lang="en-US" dirty="0" err="1">
                <a:hlinkClick r:id="rId9" tooltip="Aminopterin"/>
              </a:rPr>
              <a:t>Aminopterin</a:t>
            </a:r>
            <a:r>
              <a:rPr lang="en-US" dirty="0"/>
              <a:t>, a drug that acts as a powerful folate metabolism inhibitor by inhibiting </a:t>
            </a:r>
            <a:r>
              <a:rPr lang="en-US" dirty="0" err="1"/>
              <a:t>dihydrofolate</a:t>
            </a:r>
            <a:r>
              <a:rPr lang="en-US" dirty="0"/>
              <a:t> </a:t>
            </a:r>
            <a:r>
              <a:rPr lang="en-US" dirty="0" smtClean="0"/>
              <a:t>reductase</a:t>
            </a:r>
          </a:p>
          <a:p>
            <a:pPr marL="0" indent="0">
              <a:buNone/>
            </a:pPr>
            <a:r>
              <a:rPr lang="en-US" dirty="0">
                <a:hlinkClick r:id="rId10" tooltip="Thymidine"/>
              </a:rPr>
              <a:t>T</a:t>
            </a:r>
            <a:r>
              <a:rPr lang="en-US" dirty="0" smtClean="0">
                <a:hlinkClick r:id="rId10" tooltip="Thymidine"/>
              </a:rPr>
              <a:t>hymidine</a:t>
            </a:r>
            <a:r>
              <a:rPr lang="en-US" dirty="0"/>
              <a:t> (a </a:t>
            </a:r>
            <a:r>
              <a:rPr lang="en-US" dirty="0" err="1"/>
              <a:t>deoxynucleoside</a:t>
            </a:r>
            <a:r>
              <a:rPr lang="en-US" dirty="0"/>
              <a:t>) which are intermediates in DNA </a:t>
            </a:r>
            <a:r>
              <a:rPr lang="en-US" dirty="0" smtClean="0"/>
              <a:t>synthesis</a:t>
            </a:r>
          </a:p>
          <a:p>
            <a:pPr marL="0" indent="0">
              <a:buNone/>
            </a:pPr>
            <a:r>
              <a:rPr lang="en-US" dirty="0" smtClean="0"/>
              <a:t> </a:t>
            </a:r>
          </a:p>
          <a:p>
            <a:r>
              <a:rPr lang="en-US" dirty="0" smtClean="0"/>
              <a:t>The </a:t>
            </a:r>
            <a:r>
              <a:rPr lang="en-US" dirty="0"/>
              <a:t>trick is that </a:t>
            </a:r>
            <a:r>
              <a:rPr lang="en-US" dirty="0" err="1"/>
              <a:t>aminopterin</a:t>
            </a:r>
            <a:r>
              <a:rPr lang="en-US" dirty="0"/>
              <a:t> blocks DNA </a:t>
            </a:r>
            <a:r>
              <a:rPr lang="en-US" i="1" dirty="0">
                <a:hlinkClick r:id="rId11" tooltip="De novo synthesis"/>
              </a:rPr>
              <a:t>de novo</a:t>
            </a:r>
            <a:r>
              <a:rPr lang="en-US" dirty="0">
                <a:hlinkClick r:id="rId11" tooltip="De novo synthesis"/>
              </a:rPr>
              <a:t> synthesis</a:t>
            </a:r>
            <a:r>
              <a:rPr lang="en-US" dirty="0"/>
              <a:t>, which is absolutely required for </a:t>
            </a:r>
            <a:r>
              <a:rPr lang="en-US" dirty="0">
                <a:hlinkClick r:id="rId12" tooltip="Cell division"/>
              </a:rPr>
              <a:t>cell division</a:t>
            </a:r>
            <a:r>
              <a:rPr lang="en-US" dirty="0"/>
              <a:t> to proceed, but hypoxanthine and thymidine provide cells with the raw material to evade the blockage (the "salvage pathway</a:t>
            </a:r>
            <a:r>
              <a:rPr lang="en-US" dirty="0" smtClean="0"/>
              <a:t>").</a:t>
            </a:r>
            <a:endParaRPr lang="en-US" dirty="0"/>
          </a:p>
          <a:p>
            <a:pPr marL="0" indent="0">
              <a:buNone/>
            </a:pPr>
            <a:endParaRPr lang="en-US" dirty="0"/>
          </a:p>
          <a:p>
            <a:endParaRPr lang="en-US" dirty="0"/>
          </a:p>
        </p:txBody>
      </p:sp>
      <p:pic>
        <p:nvPicPr>
          <p:cNvPr id="4" name="tmp1311">
            <a:hlinkClick r:id="" action="ppaction://media"/>
          </p:cNvPr>
          <p:cNvPicPr>
            <a:picLocks noChangeAspect="1"/>
          </p:cNvPicPr>
          <p:nvPr>
            <a:videoFile r:link="rId3"/>
            <p:custDataLst>
              <p:custData r:id="rId4"/>
              <p:tags r:id="rId5"/>
            </p:custDataLst>
            <p:extLst>
              <p:ext uri="{DAA4B4D4-6D71-4841-9C94-3DE7FCFB9230}">
                <p14:media xmlns:p14="http://schemas.microsoft.com/office/powerpoint/2010/main" r:embed="rId6">
                  <p14:trim st="397414" end="408882.8299"/>
                </p14:media>
              </p:ext>
            </p:extLst>
          </p:nvPr>
        </p:nvPicPr>
        <p:blipFill>
          <a:blip r:embed="rId13"/>
          <a:stretch>
            <a:fillRect/>
          </a:stretch>
        </p:blipFill>
        <p:spPr>
          <a:xfrm>
            <a:off x="11861800" y="101600"/>
            <a:ext cx="228600" cy="228600"/>
          </a:xfrm>
          <a:prstGeom prst="rect">
            <a:avLst/>
          </a:prstGeom>
        </p:spPr>
      </p:pic>
    </p:spTree>
    <p:custDataLst>
      <p:custData r:id="rId1"/>
      <p:tags r:id="rId2"/>
    </p:custDataLst>
    <p:extLst>
      <p:ext uri="{BB962C8B-B14F-4D97-AF65-F5344CB8AC3E}">
        <p14:creationId xmlns:p14="http://schemas.microsoft.com/office/powerpoint/2010/main" val="42445164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Fusion</a:t>
            </a:r>
            <a:endParaRPr lang="en-US" b="1" dirty="0">
              <a:solidFill>
                <a:srgbClr val="FF0000"/>
              </a:solidFill>
            </a:endParaRPr>
          </a:p>
        </p:txBody>
      </p:sp>
      <p:sp>
        <p:nvSpPr>
          <p:cNvPr id="3" name="Content Placeholder 2"/>
          <p:cNvSpPr>
            <a:spLocks noGrp="1"/>
          </p:cNvSpPr>
          <p:nvPr>
            <p:ph idx="1"/>
          </p:nvPr>
        </p:nvSpPr>
        <p:spPr/>
        <p:txBody>
          <a:bodyPr>
            <a:normAutofit fontScale="92500" lnSpcReduction="10000"/>
          </a:bodyPr>
          <a:lstStyle/>
          <a:p>
            <a:r>
              <a:rPr lang="en-US" dirty="0" smtClean="0"/>
              <a:t>Myeloma cells and B cells  are </a:t>
            </a:r>
            <a:r>
              <a:rPr lang="en-US" dirty="0"/>
              <a:t>incubated in HAT </a:t>
            </a:r>
            <a:r>
              <a:rPr lang="en-US" dirty="0" smtClean="0"/>
              <a:t>medium </a:t>
            </a:r>
            <a:r>
              <a:rPr lang="en-US" dirty="0"/>
              <a:t>for roughly 10 to 14 days. </a:t>
            </a:r>
            <a:r>
              <a:rPr lang="en-US" dirty="0" smtClean="0"/>
              <a:t> </a:t>
            </a:r>
            <a:endParaRPr lang="en-US" dirty="0"/>
          </a:p>
          <a:p>
            <a:r>
              <a:rPr lang="en-US" b="1" dirty="0"/>
              <a:t>Unfused myeloma cells </a:t>
            </a:r>
            <a:r>
              <a:rPr lang="en-US" dirty="0"/>
              <a:t>die, as they cannot produce nucleotides by the </a:t>
            </a:r>
            <a:r>
              <a:rPr lang="en-US" i="1" dirty="0"/>
              <a:t>de novo</a:t>
            </a:r>
            <a:r>
              <a:rPr lang="en-US" dirty="0"/>
              <a:t> or salvage pathways because they lack HGPRT. Removal of the unfused myeloma cells is necessary because they have the potential to outgrow other cells, especially weakly established </a:t>
            </a:r>
            <a:r>
              <a:rPr lang="en-US" dirty="0" err="1"/>
              <a:t>hybridomas</a:t>
            </a:r>
            <a:r>
              <a:rPr lang="en-US" dirty="0"/>
              <a:t>. </a:t>
            </a:r>
          </a:p>
          <a:p>
            <a:r>
              <a:rPr lang="en-US" b="1" dirty="0"/>
              <a:t>Unfused B cells </a:t>
            </a:r>
            <a:r>
              <a:rPr lang="en-US" dirty="0"/>
              <a:t>die as they have a short life span. </a:t>
            </a:r>
          </a:p>
          <a:p>
            <a:r>
              <a:rPr lang="en-US" b="1" dirty="0"/>
              <a:t>the B cell-myeloma </a:t>
            </a:r>
            <a:r>
              <a:rPr lang="en-US" b="1" dirty="0" err="1"/>
              <a:t>hybridomas</a:t>
            </a:r>
            <a:r>
              <a:rPr lang="en-US" b="1" dirty="0"/>
              <a:t> </a:t>
            </a:r>
            <a:r>
              <a:rPr lang="en-US" dirty="0"/>
              <a:t>Only survive, since the HGPRT gene coming from the B cells is functional. </a:t>
            </a:r>
          </a:p>
          <a:p>
            <a:r>
              <a:rPr lang="en-US" dirty="0"/>
              <a:t>These </a:t>
            </a:r>
            <a:r>
              <a:rPr lang="en-US" dirty="0" err="1"/>
              <a:t>Hybridoma</a:t>
            </a:r>
            <a:r>
              <a:rPr lang="en-US" dirty="0"/>
              <a:t> cells produce antibodies (a property of B cells) and are immortal (a property of myeloma cells)..</a:t>
            </a:r>
          </a:p>
          <a:p>
            <a:endParaRPr lang="en-US" dirty="0"/>
          </a:p>
        </p:txBody>
      </p:sp>
    </p:spTree>
    <p:extLst>
      <p:ext uri="{BB962C8B-B14F-4D97-AF65-F5344CB8AC3E}">
        <p14:creationId xmlns:p14="http://schemas.microsoft.com/office/powerpoint/2010/main" val="4291926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2209800" y="76200"/>
            <a:ext cx="7772400" cy="1143000"/>
          </a:xfrm>
          <a:solidFill>
            <a:srgbClr val="FFFF00"/>
          </a:solidFill>
          <a:ln w="38100">
            <a:solidFill>
              <a:srgbClr val="FF0000"/>
            </a:solidFill>
            <a:miter lim="800000"/>
            <a:headEnd/>
            <a:tailEnd/>
          </a:ln>
        </p:spPr>
        <p:txBody>
          <a:bodyPr/>
          <a:lstStyle/>
          <a:p>
            <a:r>
              <a:rPr lang="en-US" altLang="en-US"/>
              <a:t>Possible Fusion Products</a:t>
            </a:r>
          </a:p>
        </p:txBody>
      </p:sp>
      <p:sp>
        <p:nvSpPr>
          <p:cNvPr id="14347" name="Oval 11"/>
          <p:cNvSpPr>
            <a:spLocks noChangeArrowheads="1"/>
          </p:cNvSpPr>
          <p:nvPr/>
        </p:nvSpPr>
        <p:spPr bwMode="auto">
          <a:xfrm>
            <a:off x="6248400" y="1676400"/>
            <a:ext cx="990600" cy="91440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48" name="Oval 12"/>
          <p:cNvSpPr>
            <a:spLocks noChangeArrowheads="1"/>
          </p:cNvSpPr>
          <p:nvPr/>
        </p:nvSpPr>
        <p:spPr bwMode="auto">
          <a:xfrm>
            <a:off x="4876800" y="1676400"/>
            <a:ext cx="990600" cy="914400"/>
          </a:xfrm>
          <a:prstGeom prst="ellipse">
            <a:avLst/>
          </a:prstGeom>
          <a:solidFill>
            <a:srgbClr val="00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49" name="Oval 13"/>
          <p:cNvSpPr>
            <a:spLocks noChangeArrowheads="1"/>
          </p:cNvSpPr>
          <p:nvPr/>
        </p:nvSpPr>
        <p:spPr bwMode="auto">
          <a:xfrm>
            <a:off x="1524000" y="3429000"/>
            <a:ext cx="990600" cy="914400"/>
          </a:xfrm>
          <a:prstGeom prst="ellipse">
            <a:avLst/>
          </a:prstGeom>
          <a:solidFill>
            <a:srgbClr val="00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50" name="Oval 14"/>
          <p:cNvSpPr>
            <a:spLocks noChangeArrowheads="1"/>
          </p:cNvSpPr>
          <p:nvPr/>
        </p:nvSpPr>
        <p:spPr bwMode="auto">
          <a:xfrm>
            <a:off x="3505200" y="3429000"/>
            <a:ext cx="990600" cy="914400"/>
          </a:xfrm>
          <a:prstGeom prst="ellipse">
            <a:avLst/>
          </a:prstGeom>
          <a:solidFill>
            <a:srgbClr val="00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51" name="Oval 15"/>
          <p:cNvSpPr>
            <a:spLocks noChangeArrowheads="1"/>
          </p:cNvSpPr>
          <p:nvPr/>
        </p:nvSpPr>
        <p:spPr bwMode="auto">
          <a:xfrm>
            <a:off x="2895600" y="3429000"/>
            <a:ext cx="990600" cy="914400"/>
          </a:xfrm>
          <a:prstGeom prst="ellipse">
            <a:avLst/>
          </a:prstGeom>
          <a:solidFill>
            <a:srgbClr val="00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52" name="Oval 16"/>
          <p:cNvSpPr>
            <a:spLocks noChangeArrowheads="1"/>
          </p:cNvSpPr>
          <p:nvPr/>
        </p:nvSpPr>
        <p:spPr bwMode="auto">
          <a:xfrm>
            <a:off x="8382000" y="3429000"/>
            <a:ext cx="990600" cy="91440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53" name="Oval 17"/>
          <p:cNvSpPr>
            <a:spLocks noChangeArrowheads="1"/>
          </p:cNvSpPr>
          <p:nvPr/>
        </p:nvSpPr>
        <p:spPr bwMode="auto">
          <a:xfrm>
            <a:off x="7772400" y="3429000"/>
            <a:ext cx="990600" cy="91440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54" name="Oval 18"/>
          <p:cNvSpPr>
            <a:spLocks noChangeArrowheads="1"/>
          </p:cNvSpPr>
          <p:nvPr/>
        </p:nvSpPr>
        <p:spPr bwMode="auto">
          <a:xfrm>
            <a:off x="9677400" y="3429000"/>
            <a:ext cx="990600" cy="91440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55" name="Oval 19"/>
          <p:cNvSpPr>
            <a:spLocks noChangeArrowheads="1"/>
          </p:cNvSpPr>
          <p:nvPr/>
        </p:nvSpPr>
        <p:spPr bwMode="auto">
          <a:xfrm>
            <a:off x="5105400" y="3429000"/>
            <a:ext cx="990600" cy="914400"/>
          </a:xfrm>
          <a:prstGeom prst="ellipse">
            <a:avLst/>
          </a:prstGeom>
          <a:solidFill>
            <a:srgbClr val="00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56" name="Oval 20"/>
          <p:cNvSpPr>
            <a:spLocks noChangeArrowheads="1"/>
          </p:cNvSpPr>
          <p:nvPr/>
        </p:nvSpPr>
        <p:spPr bwMode="auto">
          <a:xfrm>
            <a:off x="5867400" y="3429000"/>
            <a:ext cx="990600" cy="91440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58" name="Text Box 22"/>
          <p:cNvSpPr txBox="1">
            <a:spLocks noGrp="1" noChangeArrowheads="1"/>
          </p:cNvSpPr>
          <p:nvPr>
            <p:ph type="body" idx="1"/>
          </p:nvPr>
        </p:nvSpPr>
        <p:spPr>
          <a:xfrm>
            <a:off x="1524000" y="1752600"/>
            <a:ext cx="9144000" cy="5105400"/>
          </a:xfrm>
          <a:noFill/>
          <a:ln/>
        </p:spPr>
        <p:txBody>
          <a:bodyPr/>
          <a:lstStyle/>
          <a:p>
            <a:pPr algn="ctr">
              <a:spcBef>
                <a:spcPct val="50000"/>
              </a:spcBef>
              <a:buFontTx/>
              <a:buNone/>
            </a:pPr>
            <a:r>
              <a:rPr lang="en-US" altLang="en-US" sz="4000">
                <a:cs typeface="Times New Roman" panose="02020603050405020304" pitchFamily="18" charset="0"/>
              </a:rPr>
              <a:t>+</a:t>
            </a:r>
            <a:endParaRPr lang="en-US" altLang="en-US" sz="4000"/>
          </a:p>
        </p:txBody>
      </p:sp>
      <p:sp>
        <p:nvSpPr>
          <p:cNvPr id="14359" name="Text Box 23"/>
          <p:cNvSpPr txBox="1">
            <a:spLocks noChangeArrowheads="1"/>
          </p:cNvSpPr>
          <p:nvPr/>
        </p:nvSpPr>
        <p:spPr bwMode="auto">
          <a:xfrm>
            <a:off x="7239000" y="1692276"/>
            <a:ext cx="30480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a:t>Myeloma HGPRT Deficient And Ig Deficient</a:t>
            </a:r>
          </a:p>
        </p:txBody>
      </p:sp>
      <p:sp>
        <p:nvSpPr>
          <p:cNvPr id="14360" name="Text Box 24"/>
          <p:cNvSpPr txBox="1">
            <a:spLocks noChangeArrowheads="1"/>
          </p:cNvSpPr>
          <p:nvPr/>
        </p:nvSpPr>
        <p:spPr bwMode="auto">
          <a:xfrm>
            <a:off x="1981200" y="1905001"/>
            <a:ext cx="27432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a:t>Plasma Cells From Immunized Animal</a:t>
            </a:r>
          </a:p>
        </p:txBody>
      </p:sp>
      <p:sp>
        <p:nvSpPr>
          <p:cNvPr id="14361" name="Text Box 25"/>
          <p:cNvSpPr txBox="1">
            <a:spLocks noChangeArrowheads="1"/>
          </p:cNvSpPr>
          <p:nvPr/>
        </p:nvSpPr>
        <p:spPr bwMode="auto">
          <a:xfrm>
            <a:off x="2133600" y="4953000"/>
            <a:ext cx="990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a:p>
        </p:txBody>
      </p:sp>
      <p:sp>
        <p:nvSpPr>
          <p:cNvPr id="14364" name="Text Box 28"/>
          <p:cNvSpPr txBox="1">
            <a:spLocks noChangeArrowheads="1"/>
          </p:cNvSpPr>
          <p:nvPr/>
        </p:nvSpPr>
        <p:spPr bwMode="auto">
          <a:xfrm>
            <a:off x="1295400" y="4083051"/>
            <a:ext cx="1524000" cy="1922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9600">
                <a:solidFill>
                  <a:srgbClr val="FF0000"/>
                </a:solidFill>
                <a:sym typeface="Webdings" panose="05030102010509060703" pitchFamily="18" charset="2"/>
              </a:rPr>
              <a:t></a:t>
            </a:r>
          </a:p>
          <a:p>
            <a:pPr algn="ctr">
              <a:spcBef>
                <a:spcPct val="50000"/>
              </a:spcBef>
            </a:pPr>
            <a:r>
              <a:rPr lang="en-US" altLang="en-US" sz="1600" b="1">
                <a:sym typeface="Webdings" panose="05030102010509060703" pitchFamily="18" charset="2"/>
              </a:rPr>
              <a:t>Senescence</a:t>
            </a:r>
          </a:p>
        </p:txBody>
      </p:sp>
      <p:sp>
        <p:nvSpPr>
          <p:cNvPr id="14365" name="Text Box 29"/>
          <p:cNvSpPr txBox="1">
            <a:spLocks noChangeArrowheads="1"/>
          </p:cNvSpPr>
          <p:nvPr/>
        </p:nvSpPr>
        <p:spPr bwMode="auto">
          <a:xfrm>
            <a:off x="5410200" y="4235450"/>
            <a:ext cx="1905000" cy="2533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9600">
                <a:solidFill>
                  <a:schemeClr val="accent2"/>
                </a:solidFill>
                <a:sym typeface="Wingdings" panose="05000000000000000000" pitchFamily="2" charset="2"/>
              </a:rPr>
              <a:t></a:t>
            </a:r>
            <a:endParaRPr lang="en-US" altLang="en-US" sz="9600">
              <a:solidFill>
                <a:schemeClr val="accent2"/>
              </a:solidFill>
              <a:sym typeface="Webdings" panose="05030102010509060703" pitchFamily="18" charset="2"/>
            </a:endParaRPr>
          </a:p>
          <a:p>
            <a:pPr algn="ctr">
              <a:spcBef>
                <a:spcPct val="50000"/>
              </a:spcBef>
            </a:pPr>
            <a:r>
              <a:rPr lang="en-US" altLang="en-US" sz="1600" b="1">
                <a:sym typeface="Webdings" panose="05030102010509060703" pitchFamily="18" charset="2"/>
              </a:rPr>
              <a:t>Can Use Salvage Pathway</a:t>
            </a:r>
          </a:p>
          <a:p>
            <a:pPr algn="ctr">
              <a:spcBef>
                <a:spcPct val="50000"/>
              </a:spcBef>
            </a:pPr>
            <a:r>
              <a:rPr lang="en-US" altLang="en-US" sz="1600" b="1">
                <a:sym typeface="Webdings" panose="05030102010509060703" pitchFamily="18" charset="2"/>
              </a:rPr>
              <a:t>No Senescence</a:t>
            </a:r>
          </a:p>
        </p:txBody>
      </p:sp>
      <p:sp>
        <p:nvSpPr>
          <p:cNvPr id="14366" name="Text Box 30"/>
          <p:cNvSpPr txBox="1">
            <a:spLocks noChangeArrowheads="1"/>
          </p:cNvSpPr>
          <p:nvPr/>
        </p:nvSpPr>
        <p:spPr bwMode="auto">
          <a:xfrm>
            <a:off x="7848600" y="4706938"/>
            <a:ext cx="1524000" cy="1922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9600">
                <a:solidFill>
                  <a:srgbClr val="FF0000"/>
                </a:solidFill>
                <a:sym typeface="Webdings" panose="05030102010509060703" pitchFamily="18" charset="2"/>
              </a:rPr>
              <a:t></a:t>
            </a:r>
          </a:p>
          <a:p>
            <a:pPr algn="ctr">
              <a:spcBef>
                <a:spcPct val="50000"/>
              </a:spcBef>
            </a:pPr>
            <a:r>
              <a:rPr lang="en-US" altLang="en-US" sz="1600" b="1">
                <a:sym typeface="Webdings" panose="05030102010509060703" pitchFamily="18" charset="2"/>
              </a:rPr>
              <a:t>HAT Medium</a:t>
            </a:r>
          </a:p>
        </p:txBody>
      </p:sp>
      <p:sp>
        <p:nvSpPr>
          <p:cNvPr id="14367" name="Text Box 31"/>
          <p:cNvSpPr txBox="1">
            <a:spLocks noChangeArrowheads="1"/>
          </p:cNvSpPr>
          <p:nvPr/>
        </p:nvSpPr>
        <p:spPr bwMode="auto">
          <a:xfrm>
            <a:off x="3276600" y="4419601"/>
            <a:ext cx="1524000" cy="1922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9600">
                <a:solidFill>
                  <a:srgbClr val="FF0000"/>
                </a:solidFill>
                <a:sym typeface="Webdings" panose="05030102010509060703" pitchFamily="18" charset="2"/>
              </a:rPr>
              <a:t></a:t>
            </a:r>
          </a:p>
          <a:p>
            <a:pPr algn="ctr">
              <a:spcBef>
                <a:spcPct val="50000"/>
              </a:spcBef>
            </a:pPr>
            <a:r>
              <a:rPr lang="en-US" altLang="en-US" sz="1600" b="1">
                <a:sym typeface="Webdings" panose="05030102010509060703" pitchFamily="18" charset="2"/>
              </a:rPr>
              <a:t>Senescence</a:t>
            </a:r>
          </a:p>
        </p:txBody>
      </p:sp>
      <p:sp>
        <p:nvSpPr>
          <p:cNvPr id="14368" name="Text Box 32"/>
          <p:cNvSpPr txBox="1">
            <a:spLocks noChangeArrowheads="1"/>
          </p:cNvSpPr>
          <p:nvPr/>
        </p:nvSpPr>
        <p:spPr bwMode="auto">
          <a:xfrm>
            <a:off x="9372600" y="4419601"/>
            <a:ext cx="1524000" cy="1922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9600">
                <a:solidFill>
                  <a:srgbClr val="FF0000"/>
                </a:solidFill>
                <a:sym typeface="Webdings" panose="05030102010509060703" pitchFamily="18" charset="2"/>
              </a:rPr>
              <a:t></a:t>
            </a:r>
          </a:p>
          <a:p>
            <a:pPr algn="ctr">
              <a:spcBef>
                <a:spcPct val="50000"/>
              </a:spcBef>
            </a:pPr>
            <a:r>
              <a:rPr lang="en-US" altLang="en-US" sz="1600" b="1">
                <a:sym typeface="Webdings" panose="05030102010509060703" pitchFamily="18" charset="2"/>
              </a:rPr>
              <a:t>HAT Medium</a:t>
            </a:r>
          </a:p>
        </p:txBody>
      </p:sp>
    </p:spTree>
    <p:extLst>
      <p:ext uri="{BB962C8B-B14F-4D97-AF65-F5344CB8AC3E}">
        <p14:creationId xmlns:p14="http://schemas.microsoft.com/office/powerpoint/2010/main" val="10028519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365125"/>
            <a:ext cx="10515600" cy="5811838"/>
          </a:xfrm>
        </p:spPr>
        <p:txBody>
          <a:bodyPr>
            <a:normAutofit fontScale="85000" lnSpcReduction="20000"/>
          </a:bodyPr>
          <a:lstStyle/>
          <a:p>
            <a:pPr marL="0" indent="0">
              <a:buNone/>
            </a:pPr>
            <a:r>
              <a:rPr lang="en-US" sz="3800" b="1" dirty="0" smtClean="0">
                <a:solidFill>
                  <a:srgbClr val="FF0000"/>
                </a:solidFill>
              </a:rPr>
              <a:t>Fusion protocol</a:t>
            </a:r>
          </a:p>
          <a:p>
            <a:endParaRPr lang="en-US" dirty="0"/>
          </a:p>
          <a:p>
            <a:pPr marL="0" indent="0">
              <a:buNone/>
            </a:pPr>
            <a:r>
              <a:rPr lang="en-US" dirty="0"/>
              <a:t>1. </a:t>
            </a:r>
            <a:r>
              <a:rPr lang="en-US" dirty="0" smtClean="0"/>
              <a:t>Add myeloma cells and B cells together</a:t>
            </a:r>
          </a:p>
          <a:p>
            <a:pPr marL="0" indent="0">
              <a:buNone/>
            </a:pPr>
            <a:r>
              <a:rPr lang="en-US" dirty="0" smtClean="0"/>
              <a:t>2. Centrifuge </a:t>
            </a:r>
            <a:r>
              <a:rPr lang="en-US" dirty="0"/>
              <a:t>mixed cells </a:t>
            </a:r>
            <a:r>
              <a:rPr lang="en-US" dirty="0" smtClean="0"/>
              <a:t>900-1000 rpm </a:t>
            </a:r>
            <a:r>
              <a:rPr lang="en-US" dirty="0"/>
              <a:t>5 min.</a:t>
            </a:r>
          </a:p>
          <a:p>
            <a:pPr marL="0" indent="0">
              <a:buNone/>
            </a:pPr>
            <a:r>
              <a:rPr lang="en-US" dirty="0" smtClean="0"/>
              <a:t>3. </a:t>
            </a:r>
            <a:r>
              <a:rPr lang="en-US" dirty="0"/>
              <a:t>Slowly add </a:t>
            </a:r>
            <a:r>
              <a:rPr lang="en-US" dirty="0" smtClean="0"/>
              <a:t>1 ml </a:t>
            </a:r>
            <a:r>
              <a:rPr lang="en-US" dirty="0"/>
              <a:t>PEG </a:t>
            </a:r>
            <a:r>
              <a:rPr lang="en-US" dirty="0" smtClean="0"/>
              <a:t>to the pelleted cells.</a:t>
            </a:r>
            <a:endParaRPr lang="en-US" dirty="0"/>
          </a:p>
          <a:p>
            <a:pPr marL="0" indent="0">
              <a:buNone/>
            </a:pPr>
            <a:r>
              <a:rPr lang="en-US" dirty="0"/>
              <a:t> </a:t>
            </a:r>
            <a:r>
              <a:rPr lang="en-US" dirty="0" smtClean="0"/>
              <a:t> </a:t>
            </a:r>
            <a:r>
              <a:rPr lang="en-US" dirty="0"/>
              <a:t>(Do at room temperature).</a:t>
            </a:r>
          </a:p>
          <a:p>
            <a:pPr marL="0" indent="0">
              <a:buNone/>
            </a:pPr>
            <a:r>
              <a:rPr lang="en-US" dirty="0" smtClean="0"/>
              <a:t>Dispense </a:t>
            </a:r>
            <a:r>
              <a:rPr lang="en-US" dirty="0"/>
              <a:t>PEG along sides of </a:t>
            </a:r>
            <a:r>
              <a:rPr lang="en-US" dirty="0" smtClean="0"/>
              <a:t>tube. After that, </a:t>
            </a:r>
            <a:r>
              <a:rPr lang="en-US" dirty="0"/>
              <a:t>mix by</a:t>
            </a:r>
          </a:p>
          <a:p>
            <a:pPr marL="0" indent="0">
              <a:buNone/>
            </a:pPr>
            <a:r>
              <a:rPr lang="en-US" dirty="0"/>
              <a:t>swirling tube</a:t>
            </a:r>
            <a:r>
              <a:rPr lang="en-US" dirty="0" smtClean="0"/>
              <a:t>.</a:t>
            </a:r>
            <a:endParaRPr lang="en-US" dirty="0"/>
          </a:p>
          <a:p>
            <a:pPr marL="0" indent="0">
              <a:buNone/>
            </a:pPr>
            <a:r>
              <a:rPr lang="en-US" dirty="0"/>
              <a:t>4</a:t>
            </a:r>
            <a:r>
              <a:rPr lang="en-US" dirty="0" smtClean="0"/>
              <a:t>. </a:t>
            </a:r>
            <a:r>
              <a:rPr lang="en-US" dirty="0"/>
              <a:t>Incubate for 1 minute at </a:t>
            </a:r>
            <a:r>
              <a:rPr lang="en-US" dirty="0" smtClean="0"/>
              <a:t>37</a:t>
            </a:r>
            <a:r>
              <a:rPr lang="en-US" baseline="30000" dirty="0" smtClean="0"/>
              <a:t>o</a:t>
            </a:r>
            <a:r>
              <a:rPr lang="en-US" dirty="0"/>
              <a:t>C7. Distribute cell mixtures in 96-well plate</a:t>
            </a:r>
          </a:p>
          <a:p>
            <a:pPr marL="0" indent="0">
              <a:buNone/>
            </a:pPr>
            <a:r>
              <a:rPr lang="en-US" dirty="0" smtClean="0"/>
              <a:t>5. </a:t>
            </a:r>
            <a:r>
              <a:rPr lang="en-US" dirty="0"/>
              <a:t>Top up medium in each well </a:t>
            </a:r>
          </a:p>
          <a:p>
            <a:pPr marL="0" indent="0">
              <a:buNone/>
            </a:pPr>
            <a:r>
              <a:rPr lang="en-US" dirty="0"/>
              <a:t>6</a:t>
            </a:r>
            <a:r>
              <a:rPr lang="en-US" dirty="0" smtClean="0"/>
              <a:t>. </a:t>
            </a:r>
            <a:r>
              <a:rPr lang="en-US" dirty="0"/>
              <a:t>Leave plate in 5% CO2, 37</a:t>
            </a:r>
            <a:r>
              <a:rPr lang="en-US" baseline="30000" dirty="0"/>
              <a:t>o</a:t>
            </a:r>
            <a:r>
              <a:rPr lang="en-US" dirty="0"/>
              <a:t>C incubator overnight before adding HAT medium</a:t>
            </a:r>
          </a:p>
          <a:p>
            <a:pPr marL="0" indent="0">
              <a:buNone/>
            </a:pPr>
            <a:endParaRPr lang="en-US" dirty="0"/>
          </a:p>
          <a:p>
            <a:r>
              <a:rPr lang="en-US" dirty="0"/>
              <a:t>Thee FCS must be pretested for its ability to support clonal growth</a:t>
            </a:r>
          </a:p>
          <a:p>
            <a:r>
              <a:rPr lang="en-US" dirty="0"/>
              <a:t>After addition of PEG all handling of the cells should be as gentle as possible to minimize dispersal of forming hybrids.</a:t>
            </a:r>
          </a:p>
          <a:p>
            <a:pPr marL="0" indent="0">
              <a:buNone/>
            </a:pPr>
            <a:endParaRPr lang="en-US" dirty="0" smtClean="0"/>
          </a:p>
          <a:p>
            <a:pPr marL="0" indent="0">
              <a:buNone/>
            </a:pPr>
            <a:endParaRPr lang="en-US" dirty="0" smtClean="0"/>
          </a:p>
          <a:p>
            <a:pPr marL="0" indent="0">
              <a:buNone/>
            </a:pPr>
            <a:endParaRPr lang="en-US" dirty="0"/>
          </a:p>
        </p:txBody>
      </p:sp>
      <p:pic>
        <p:nvPicPr>
          <p:cNvPr id="4" name="tmp1311">
            <a:hlinkClick r:id="" action="ppaction://media"/>
          </p:cNvPr>
          <p:cNvPicPr>
            <a:picLocks noChangeAspect="1"/>
          </p:cNvPicPr>
          <p:nvPr>
            <a:videoFile r:link="rId3"/>
            <p:custDataLst>
              <p:custData r:id="rId4"/>
              <p:tags r:id="rId5"/>
            </p:custDataLst>
            <p:extLst>
              <p:ext uri="{DAA4B4D4-6D71-4841-9C94-3DE7FCFB9230}">
                <p14:media xmlns:p14="http://schemas.microsoft.com/office/powerpoint/2010/main" r:embed="rId6">
                  <p14:trim st="551299" end="196286.8299"/>
                </p14:media>
              </p:ext>
            </p:extLst>
          </p:nvPr>
        </p:nvPicPr>
        <p:blipFill>
          <a:blip r:embed="rId8"/>
          <a:stretch>
            <a:fillRect/>
          </a:stretch>
        </p:blipFill>
        <p:spPr>
          <a:xfrm>
            <a:off x="11861800" y="101600"/>
            <a:ext cx="228600" cy="228600"/>
          </a:xfrm>
          <a:prstGeom prst="rect">
            <a:avLst/>
          </a:prstGeom>
        </p:spPr>
      </p:pic>
    </p:spTree>
    <p:custDataLst>
      <p:custData r:id="rId1"/>
      <p:tags r:id="rId2"/>
    </p:custDataLst>
    <p:extLst>
      <p:ext uri="{BB962C8B-B14F-4D97-AF65-F5344CB8AC3E}">
        <p14:creationId xmlns:p14="http://schemas.microsoft.com/office/powerpoint/2010/main" val="7992934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err="1" smtClean="0">
                <a:solidFill>
                  <a:srgbClr val="FF0000"/>
                </a:solidFill>
              </a:rPr>
              <a:t>Hybridoma</a:t>
            </a:r>
            <a:r>
              <a:rPr lang="en-US" sz="3200" b="1" dirty="0" smtClean="0">
                <a:solidFill>
                  <a:srgbClr val="FF0000"/>
                </a:solidFill>
              </a:rPr>
              <a:t> selection</a:t>
            </a:r>
            <a:endParaRPr lang="en-US" sz="3200" b="1" dirty="0">
              <a:solidFill>
                <a:srgbClr val="FF0000"/>
              </a:solidFill>
            </a:endParaRPr>
          </a:p>
        </p:txBody>
      </p:sp>
      <p:sp>
        <p:nvSpPr>
          <p:cNvPr id="3" name="Content Placeholder 2"/>
          <p:cNvSpPr>
            <a:spLocks noGrp="1"/>
          </p:cNvSpPr>
          <p:nvPr>
            <p:ph idx="1"/>
          </p:nvPr>
        </p:nvSpPr>
        <p:spPr/>
        <p:txBody>
          <a:bodyPr>
            <a:normAutofit fontScale="92500" lnSpcReduction="10000"/>
          </a:bodyPr>
          <a:lstStyle/>
          <a:p>
            <a:r>
              <a:rPr lang="en-US" dirty="0" smtClean="0"/>
              <a:t>On the day following fusion, half the old medium is removed and replaced with HAT</a:t>
            </a:r>
          </a:p>
          <a:p>
            <a:r>
              <a:rPr lang="en-US" dirty="0" smtClean="0"/>
              <a:t>This medium change is repeated on day 2, 4,6,8,  11 and every 3 days afterwards</a:t>
            </a:r>
          </a:p>
          <a:p>
            <a:r>
              <a:rPr lang="en-US" dirty="0" smtClean="0"/>
              <a:t>Within 3-4 days all myeloma cells should be dead. From the fifth day, hybrid s should start to become visible</a:t>
            </a:r>
          </a:p>
          <a:p>
            <a:r>
              <a:rPr lang="en-US" dirty="0" smtClean="0"/>
              <a:t>Screen for specific Ab production  (11-14 day)</a:t>
            </a:r>
          </a:p>
          <a:p>
            <a:r>
              <a:rPr lang="en-US" dirty="0" smtClean="0"/>
              <a:t>Select positive AB-secreting wells</a:t>
            </a:r>
          </a:p>
          <a:p>
            <a:r>
              <a:rPr lang="en-US" b="1" dirty="0" smtClean="0"/>
              <a:t>Testing of HAT medium</a:t>
            </a:r>
          </a:p>
          <a:p>
            <a:pPr marL="0" indent="0">
              <a:buNone/>
            </a:pPr>
            <a:r>
              <a:rPr lang="en-US" dirty="0" smtClean="0"/>
              <a:t>Grow Myeloma cells or </a:t>
            </a:r>
            <a:r>
              <a:rPr lang="en-US" dirty="0" err="1" smtClean="0"/>
              <a:t>Hybridoma</a:t>
            </a:r>
            <a:r>
              <a:rPr lang="en-US" dirty="0" smtClean="0"/>
              <a:t> cells in HAT medium: Myeloma should die while </a:t>
            </a:r>
            <a:r>
              <a:rPr lang="en-US" dirty="0" err="1" smtClean="0"/>
              <a:t>hybridoma</a:t>
            </a:r>
            <a:r>
              <a:rPr lang="en-US" dirty="0" smtClean="0"/>
              <a:t> survive</a:t>
            </a:r>
            <a:endParaRPr lang="en-US" dirty="0"/>
          </a:p>
        </p:txBody>
      </p:sp>
      <p:pic>
        <p:nvPicPr>
          <p:cNvPr id="4" name="tmp1311">
            <a:hlinkClick r:id="" action="ppaction://media"/>
          </p:cNvPr>
          <p:cNvPicPr>
            <a:picLocks noChangeAspect="1"/>
          </p:cNvPicPr>
          <p:nvPr>
            <a:videoFile r:link="rId3"/>
            <p:custDataLst>
              <p:custData r:id="rId4"/>
              <p:tags r:id="rId5"/>
            </p:custDataLst>
            <p:extLst>
              <p:ext uri="{DAA4B4D4-6D71-4841-9C94-3DE7FCFB9230}">
                <p14:media xmlns:p14="http://schemas.microsoft.com/office/powerpoint/2010/main" r:embed="rId6">
                  <p14:trim st="633738" end="109945.8299"/>
                </p14:media>
              </p:ext>
            </p:extLst>
          </p:nvPr>
        </p:nvPicPr>
        <p:blipFill>
          <a:blip r:embed="rId8"/>
          <a:stretch>
            <a:fillRect/>
          </a:stretch>
        </p:blipFill>
        <p:spPr>
          <a:xfrm>
            <a:off x="11861800" y="101600"/>
            <a:ext cx="228600" cy="228600"/>
          </a:xfrm>
          <a:prstGeom prst="rect">
            <a:avLst/>
          </a:prstGeom>
        </p:spPr>
      </p:pic>
    </p:spTree>
    <p:custDataLst>
      <p:custData r:id="rId1"/>
      <p:tags r:id="rId2"/>
    </p:custDataLst>
    <p:extLst>
      <p:ext uri="{BB962C8B-B14F-4D97-AF65-F5344CB8AC3E}">
        <p14:creationId xmlns:p14="http://schemas.microsoft.com/office/powerpoint/2010/main" val="37492670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3"/>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14807" t="19238" r="12827" b="22287"/>
          <a:stretch/>
        </p:blipFill>
        <p:spPr>
          <a:xfrm rot="5400000">
            <a:off x="1666954" y="-1158954"/>
            <a:ext cx="6786880" cy="8596788"/>
          </a:xfrm>
        </p:spPr>
      </p:pic>
    </p:spTree>
    <p:extLst>
      <p:ext uri="{BB962C8B-B14F-4D97-AF65-F5344CB8AC3E}">
        <p14:creationId xmlns:p14="http://schemas.microsoft.com/office/powerpoint/2010/main" val="8202699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3" name="tmp1311">
            <a:hlinkClick r:id="" action="ppaction://media"/>
          </p:cNvPr>
          <p:cNvPicPr>
            <a:picLocks noChangeAspect="1"/>
          </p:cNvPicPr>
          <p:nvPr>
            <a:videoFile r:link="rId3"/>
            <p:custDataLst>
              <p:custData r:id="rId4"/>
              <p:tags r:id="rId5"/>
            </p:custDataLst>
            <p:extLst>
              <p:ext uri="{DAA4B4D4-6D71-4841-9C94-3DE7FCFB9230}">
                <p14:media xmlns:p14="http://schemas.microsoft.com/office/powerpoint/2010/main" r:embed="rId6">
                  <p14:trim st="720079" end="102538.8299"/>
                </p14:media>
              </p:ext>
            </p:extLst>
          </p:nvPr>
        </p:nvPicPr>
        <p:blipFill>
          <a:blip r:embed="rId8"/>
          <a:stretch>
            <a:fillRect/>
          </a:stretch>
        </p:blipFill>
        <p:spPr>
          <a:xfrm>
            <a:off x="11861800" y="101600"/>
            <a:ext cx="228600" cy="228600"/>
          </a:xfrm>
          <a:prstGeom prst="rect">
            <a:avLst/>
          </a:prstGeom>
        </p:spPr>
      </p:pic>
      <p:pic>
        <p:nvPicPr>
          <p:cNvPr id="6" name="Picture 5"/>
          <p:cNvPicPr>
            <a:picLocks noChangeAspect="1"/>
          </p:cNvPicPr>
          <p:nvPr/>
        </p:nvPicPr>
        <p:blipFill rotWithShape="1">
          <a:blip r:embed="rId9" cstate="print">
            <a:extLst>
              <a:ext uri="{28A0092B-C50C-407E-A947-70E740481C1C}">
                <a14:useLocalDpi xmlns:a14="http://schemas.microsoft.com/office/drawing/2010/main" val="0"/>
              </a:ext>
            </a:extLst>
          </a:blip>
          <a:srcRect l="31782" t="38975" r="36767" b="13121"/>
          <a:stretch/>
        </p:blipFill>
        <p:spPr>
          <a:xfrm rot="5400000">
            <a:off x="2966207" y="-619247"/>
            <a:ext cx="5913120" cy="8574014"/>
          </a:xfrm>
          <a:prstGeom prst="rect">
            <a:avLst/>
          </a:prstGeom>
        </p:spPr>
      </p:pic>
    </p:spTree>
    <p:custDataLst>
      <p:custData r:id="rId1"/>
      <p:tags r:id="rId2"/>
    </p:custDataLst>
    <p:extLst>
      <p:ext uri="{BB962C8B-B14F-4D97-AF65-F5344CB8AC3E}">
        <p14:creationId xmlns:p14="http://schemas.microsoft.com/office/powerpoint/2010/main" val="28321792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3"/>
                                        </p:tgtEl>
                                      </p:cBhvr>
                                    </p:cmd>
                                  </p:childTnLst>
                                </p:cTn>
                              </p:par>
                            </p:childTnLst>
                          </p:cTn>
                        </p:par>
                      </p:childTnLst>
                    </p:cTn>
                  </p:par>
                </p:childTnLst>
              </p:cTn>
              <p:nextCondLst>
                <p:cond evt="onClick" delay="0">
                  <p:tgtEl>
                    <p:spTgt spid="3"/>
                  </p:tgtEl>
                </p:cond>
              </p:nextCondLst>
            </p:seq>
            <p:video>
              <p:cMediaNode vol="80000">
                <p:cTn id="7" fill="hold" display="0">
                  <p:stCondLst>
                    <p:cond delay="indefinite"/>
                  </p:stCondLst>
                </p:cTn>
                <p:tgtEl>
                  <p:spTgt spid="3"/>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descr="https://upload.wikimedia.org/wikipedia/commons/thumb/c/cd/Hybridoma_cells_grown_in_tissue_culture.jpg/800px-Hybridoma_cells_grown_in_tissue_culture.jpg"/>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143760" y="558800"/>
            <a:ext cx="7325360" cy="530352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3484959" y="6048494"/>
            <a:ext cx="5527475" cy="461665"/>
          </a:xfrm>
          <a:prstGeom prst="rect">
            <a:avLst/>
          </a:prstGeom>
        </p:spPr>
        <p:txBody>
          <a:bodyPr wrap="none">
            <a:spAutoFit/>
          </a:bodyPr>
          <a:lstStyle/>
          <a:p>
            <a:r>
              <a:rPr lang="en-US" sz="2400" dirty="0" err="1">
                <a:solidFill>
                  <a:srgbClr val="202122"/>
                </a:solidFill>
                <a:latin typeface="Arial" panose="020B0604020202020204" pitchFamily="34" charset="0"/>
              </a:rPr>
              <a:t>Hybridoma</a:t>
            </a:r>
            <a:r>
              <a:rPr lang="en-US" sz="2400" dirty="0">
                <a:solidFill>
                  <a:srgbClr val="202122"/>
                </a:solidFill>
                <a:latin typeface="Arial" panose="020B0604020202020204" pitchFamily="34" charset="0"/>
              </a:rPr>
              <a:t> cells grown in tissue culture</a:t>
            </a:r>
            <a:endParaRPr lang="en-US" sz="2400" dirty="0"/>
          </a:p>
        </p:txBody>
      </p:sp>
    </p:spTree>
    <p:extLst>
      <p:ext uri="{BB962C8B-B14F-4D97-AF65-F5344CB8AC3E}">
        <p14:creationId xmlns:p14="http://schemas.microsoft.com/office/powerpoint/2010/main" val="32529130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descr="SEM of hybridoma cells - Stock Image - G400/0051 - Science Photo Library"/>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31720" y="776289"/>
            <a:ext cx="7366000" cy="497427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027680" y="5750560"/>
            <a:ext cx="6766560" cy="584775"/>
          </a:xfrm>
          <a:prstGeom prst="rect">
            <a:avLst/>
          </a:prstGeom>
          <a:noFill/>
        </p:spPr>
        <p:txBody>
          <a:bodyPr wrap="square" rtlCol="0">
            <a:spAutoFit/>
          </a:bodyPr>
          <a:lstStyle/>
          <a:p>
            <a:r>
              <a:rPr lang="en-US" sz="3200" dirty="0" smtClean="0"/>
              <a:t>SEM of </a:t>
            </a:r>
            <a:r>
              <a:rPr lang="en-US" sz="3200" dirty="0" err="1" smtClean="0"/>
              <a:t>hybridoma</a:t>
            </a:r>
            <a:r>
              <a:rPr lang="en-US" sz="3200" dirty="0" smtClean="0"/>
              <a:t> cells</a:t>
            </a:r>
            <a:endParaRPr lang="en-US" sz="3200" dirty="0"/>
          </a:p>
        </p:txBody>
      </p:sp>
    </p:spTree>
    <p:extLst>
      <p:ext uri="{BB962C8B-B14F-4D97-AF65-F5344CB8AC3E}">
        <p14:creationId xmlns:p14="http://schemas.microsoft.com/office/powerpoint/2010/main" val="10627462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Expansion of culture prior to cloning</a:t>
            </a:r>
            <a:r>
              <a:rPr lang="en-US" dirty="0"/>
              <a:t/>
            </a:r>
            <a:br>
              <a:rPr lang="en-US" dirty="0"/>
            </a:br>
            <a:endParaRPr lang="en-US" dirty="0"/>
          </a:p>
        </p:txBody>
      </p:sp>
      <p:sp>
        <p:nvSpPr>
          <p:cNvPr id="3" name="Content Placeholder 2"/>
          <p:cNvSpPr>
            <a:spLocks noGrp="1"/>
          </p:cNvSpPr>
          <p:nvPr>
            <p:ph idx="1"/>
          </p:nvPr>
        </p:nvSpPr>
        <p:spPr/>
        <p:txBody>
          <a:bodyPr/>
          <a:lstStyle/>
          <a:p>
            <a:pPr marL="0" indent="0">
              <a:buNone/>
            </a:pPr>
            <a:r>
              <a:rPr lang="en-US" dirty="0" smtClean="0"/>
              <a:t>a. Manageable number of selected cultures should be expanded into larger wells 8-well plate</a:t>
            </a:r>
          </a:p>
          <a:p>
            <a:pPr marL="0" indent="0">
              <a:buNone/>
            </a:pPr>
            <a:r>
              <a:rPr lang="en-US" dirty="0" smtClean="0"/>
              <a:t>b. HAT media is replaced by HT media for several passages before addition of complete medium</a:t>
            </a:r>
          </a:p>
          <a:p>
            <a:pPr marL="0" indent="0">
              <a:buNone/>
            </a:pPr>
            <a:r>
              <a:rPr lang="en-US" dirty="0" smtClean="0"/>
              <a:t>c. Feeder cell suspension</a:t>
            </a:r>
          </a:p>
          <a:p>
            <a:pPr marL="0" indent="0">
              <a:buNone/>
            </a:pPr>
            <a:endParaRPr lang="en-US" dirty="0" smtClean="0"/>
          </a:p>
          <a:p>
            <a:r>
              <a:rPr lang="en-US" dirty="0" smtClean="0">
                <a:solidFill>
                  <a:srgbClr val="C00000"/>
                </a:solidFill>
              </a:rPr>
              <a:t>Fusion protocol</a:t>
            </a:r>
            <a:endParaRPr lang="en-US" dirty="0">
              <a:solidFill>
                <a:srgbClr val="C00000"/>
              </a:solidFill>
            </a:endParaRPr>
          </a:p>
          <a:p>
            <a:pPr marL="0" indent="0">
              <a:buNone/>
            </a:pPr>
            <a:r>
              <a:rPr lang="en-US" dirty="0"/>
              <a:t>https://www.youtube.com/watch?v=8iyrbv1JauY</a:t>
            </a:r>
          </a:p>
        </p:txBody>
      </p:sp>
      <p:pic>
        <p:nvPicPr>
          <p:cNvPr id="4" name="tmp1311">
            <a:hlinkClick r:id="" action="ppaction://media"/>
          </p:cNvPr>
          <p:cNvPicPr>
            <a:picLocks noChangeAspect="1"/>
          </p:cNvPicPr>
          <p:nvPr>
            <a:videoFile r:link="rId3"/>
            <p:custDataLst>
              <p:custData r:id="rId4"/>
              <p:tags r:id="rId5"/>
            </p:custDataLst>
            <p:extLst>
              <p:ext uri="{DAA4B4D4-6D71-4841-9C94-3DE7FCFB9230}">
                <p14:media xmlns:p14="http://schemas.microsoft.com/office/powerpoint/2010/main" r:embed="rId6">
                  <p14:trim st="727486" end="41222.8299"/>
                </p14:media>
              </p:ext>
            </p:extLst>
          </p:nvPr>
        </p:nvPicPr>
        <p:blipFill>
          <a:blip r:embed="rId8"/>
          <a:stretch>
            <a:fillRect/>
          </a:stretch>
        </p:blipFill>
        <p:spPr>
          <a:xfrm>
            <a:off x="11861800" y="101600"/>
            <a:ext cx="228600" cy="228600"/>
          </a:xfrm>
          <a:prstGeom prst="rect">
            <a:avLst/>
          </a:prstGeom>
        </p:spPr>
      </p:pic>
    </p:spTree>
    <p:custDataLst>
      <p:custData r:id="rId1"/>
      <p:tags r:id="rId2"/>
    </p:custDataLst>
    <p:extLst>
      <p:ext uri="{BB962C8B-B14F-4D97-AF65-F5344CB8AC3E}">
        <p14:creationId xmlns:p14="http://schemas.microsoft.com/office/powerpoint/2010/main" val="11491422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Feeder cells</a:t>
            </a:r>
            <a:endParaRPr lang="en-US" b="1" dirty="0">
              <a:solidFill>
                <a:srgbClr val="FF0000"/>
              </a:solidFill>
            </a:endParaRPr>
          </a:p>
        </p:txBody>
      </p:sp>
      <p:sp>
        <p:nvSpPr>
          <p:cNvPr id="3" name="Content Placeholder 2"/>
          <p:cNvSpPr>
            <a:spLocks noGrp="1"/>
          </p:cNvSpPr>
          <p:nvPr>
            <p:ph idx="1"/>
          </p:nvPr>
        </p:nvSpPr>
        <p:spPr/>
        <p:txBody>
          <a:bodyPr>
            <a:normAutofit fontScale="85000" lnSpcReduction="10000"/>
          </a:bodyPr>
          <a:lstStyle/>
          <a:p>
            <a:r>
              <a:rPr lang="en-US" dirty="0" smtClean="0"/>
              <a:t>Feeder cells are necessary to encourage the growth of the </a:t>
            </a:r>
            <a:r>
              <a:rPr lang="en-US" dirty="0" err="1" smtClean="0"/>
              <a:t>hybridoma</a:t>
            </a:r>
            <a:r>
              <a:rPr lang="en-US" dirty="0" smtClean="0"/>
              <a:t> cells during expansion from </a:t>
            </a:r>
            <a:r>
              <a:rPr lang="en-US" dirty="0" err="1" smtClean="0"/>
              <a:t>microwells</a:t>
            </a:r>
            <a:r>
              <a:rPr lang="en-US" dirty="0" smtClean="0"/>
              <a:t>, cloning and thawing from frozen storage.</a:t>
            </a:r>
          </a:p>
          <a:p>
            <a:r>
              <a:rPr lang="en-US" dirty="0" smtClean="0"/>
              <a:t>Three commonly used types of feeder cells are: </a:t>
            </a:r>
            <a:r>
              <a:rPr lang="en-US" dirty="0" err="1" smtClean="0"/>
              <a:t>thymocytes</a:t>
            </a:r>
            <a:r>
              <a:rPr lang="en-US" dirty="0" smtClean="0"/>
              <a:t>, </a:t>
            </a:r>
            <a:r>
              <a:rPr lang="en-US" dirty="0" err="1" smtClean="0"/>
              <a:t>splenocytes</a:t>
            </a:r>
            <a:r>
              <a:rPr lang="en-US" dirty="0" smtClean="0"/>
              <a:t>  and peritoneal macrophages</a:t>
            </a:r>
          </a:p>
          <a:p>
            <a:r>
              <a:rPr lang="en-US" dirty="0" smtClean="0"/>
              <a:t>The </a:t>
            </a:r>
            <a:r>
              <a:rPr lang="en-US" dirty="0"/>
              <a:t>source of the growth factors</a:t>
            </a:r>
          </a:p>
          <a:p>
            <a:endParaRPr lang="en-US" dirty="0" smtClean="0"/>
          </a:p>
          <a:p>
            <a:pPr marL="0" indent="0">
              <a:buNone/>
            </a:pPr>
            <a:r>
              <a:rPr lang="en-US" b="1" dirty="0" err="1" smtClean="0">
                <a:solidFill>
                  <a:srgbClr val="C00000"/>
                </a:solidFill>
              </a:rPr>
              <a:t>Thymocytes</a:t>
            </a:r>
            <a:r>
              <a:rPr lang="en-US" b="1" dirty="0" smtClean="0">
                <a:solidFill>
                  <a:srgbClr val="C00000"/>
                </a:solidFill>
              </a:rPr>
              <a:t>: </a:t>
            </a:r>
          </a:p>
          <a:p>
            <a:r>
              <a:rPr lang="en-US" dirty="0" smtClean="0"/>
              <a:t>Thymus should be obtained from young animal</a:t>
            </a:r>
          </a:p>
          <a:p>
            <a:r>
              <a:rPr lang="en-US" dirty="0" smtClean="0"/>
              <a:t>It is not necessary to use the same species (</a:t>
            </a:r>
            <a:r>
              <a:rPr lang="en-US" dirty="0" err="1" smtClean="0"/>
              <a:t>Balb</a:t>
            </a:r>
            <a:r>
              <a:rPr lang="en-US" dirty="0" smtClean="0"/>
              <a:t>/c) as the </a:t>
            </a:r>
            <a:r>
              <a:rPr lang="en-US" dirty="0" err="1" smtClean="0"/>
              <a:t>hybridoma</a:t>
            </a:r>
            <a:r>
              <a:rPr lang="en-US" dirty="0" smtClean="0"/>
              <a:t> parents</a:t>
            </a:r>
          </a:p>
          <a:p>
            <a:r>
              <a:rPr lang="en-US" dirty="0" smtClean="0"/>
              <a:t>1-2x10</a:t>
            </a:r>
            <a:r>
              <a:rPr lang="en-US" baseline="30000" dirty="0" smtClean="0"/>
              <a:t>8</a:t>
            </a:r>
            <a:r>
              <a:rPr lang="en-US" dirty="0" smtClean="0"/>
              <a:t> </a:t>
            </a:r>
            <a:r>
              <a:rPr lang="en-US" dirty="0" err="1" smtClean="0"/>
              <a:t>thymocytes</a:t>
            </a:r>
            <a:r>
              <a:rPr lang="en-US" dirty="0" smtClean="0"/>
              <a:t>/mouse should be obtained</a:t>
            </a:r>
          </a:p>
          <a:p>
            <a:r>
              <a:rPr lang="en-US" dirty="0" smtClean="0">
                <a:hlinkClick r:id="rId8"/>
              </a:rPr>
              <a:t>https</a:t>
            </a:r>
            <a:r>
              <a:rPr lang="en-US" dirty="0">
                <a:hlinkClick r:id="rId8"/>
              </a:rPr>
              <a:t>://www.ncbi.nlm.nih.gov/pmc/articles/PMC4374365/</a:t>
            </a:r>
            <a:endParaRPr lang="en-US" dirty="0" smtClean="0"/>
          </a:p>
          <a:p>
            <a:endParaRPr lang="en-US" dirty="0" smtClean="0"/>
          </a:p>
          <a:p>
            <a:endParaRPr lang="en-US" dirty="0"/>
          </a:p>
        </p:txBody>
      </p:sp>
      <p:pic>
        <p:nvPicPr>
          <p:cNvPr id="4" name="tmp1311">
            <a:hlinkClick r:id="" action="ppaction://media"/>
          </p:cNvPr>
          <p:cNvPicPr>
            <a:picLocks noChangeAspect="1"/>
          </p:cNvPicPr>
          <p:nvPr>
            <a:videoFile r:link="rId3"/>
            <p:custDataLst>
              <p:custData r:id="rId4"/>
              <p:tags r:id="rId5"/>
            </p:custDataLst>
            <p:extLst>
              <p:ext uri="{DAA4B4D4-6D71-4841-9C94-3DE7FCFB9230}">
                <p14:media xmlns:p14="http://schemas.microsoft.com/office/powerpoint/2010/main" r:embed="rId6">
                  <p14:trim st="788802" end="6.8299"/>
                </p14:media>
              </p:ext>
            </p:extLst>
          </p:nvPr>
        </p:nvPicPr>
        <p:blipFill>
          <a:blip r:embed="rId9"/>
          <a:stretch>
            <a:fillRect/>
          </a:stretch>
        </p:blipFill>
        <p:spPr>
          <a:xfrm>
            <a:off x="11861800" y="101600"/>
            <a:ext cx="228600" cy="228600"/>
          </a:xfrm>
          <a:prstGeom prst="rect">
            <a:avLst/>
          </a:prstGeom>
        </p:spPr>
      </p:pic>
    </p:spTree>
    <p:custDataLst>
      <p:custData r:id="rId1"/>
      <p:tags r:id="rId2"/>
    </p:custDataLst>
    <p:extLst>
      <p:ext uri="{BB962C8B-B14F-4D97-AF65-F5344CB8AC3E}">
        <p14:creationId xmlns:p14="http://schemas.microsoft.com/office/powerpoint/2010/main" val="8695151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838200" y="447040"/>
            <a:ext cx="10515600" cy="5729923"/>
          </a:xfrm>
        </p:spPr>
        <p:txBody>
          <a:bodyPr>
            <a:normAutofit fontScale="85000" lnSpcReduction="10000"/>
          </a:bodyPr>
          <a:lstStyle/>
          <a:p>
            <a:pPr marL="0" indent="0">
              <a:buNone/>
            </a:pPr>
            <a:endParaRPr lang="en-US" b="1" dirty="0" smtClean="0"/>
          </a:p>
          <a:p>
            <a:pPr marL="0" indent="0">
              <a:buNone/>
            </a:pPr>
            <a:r>
              <a:rPr lang="en-US" sz="3300" b="1" dirty="0" smtClean="0">
                <a:solidFill>
                  <a:srgbClr val="0070C0"/>
                </a:solidFill>
              </a:rPr>
              <a:t>                                                    Preparation of </a:t>
            </a:r>
            <a:r>
              <a:rPr lang="en-US" sz="3300" b="1" dirty="0" err="1" smtClean="0">
                <a:solidFill>
                  <a:srgbClr val="0070C0"/>
                </a:solidFill>
              </a:rPr>
              <a:t>thymic</a:t>
            </a:r>
            <a:r>
              <a:rPr lang="en-US" sz="3300" b="1" dirty="0" smtClean="0">
                <a:solidFill>
                  <a:srgbClr val="0070C0"/>
                </a:solidFill>
              </a:rPr>
              <a:t> cells</a:t>
            </a:r>
          </a:p>
          <a:p>
            <a:pPr marL="0" indent="0">
              <a:buNone/>
            </a:pPr>
            <a:endParaRPr lang="en-US" b="1" dirty="0"/>
          </a:p>
          <a:p>
            <a:pPr marL="0" indent="0">
              <a:buNone/>
            </a:pPr>
            <a:r>
              <a:rPr lang="en-US" b="1" dirty="0" smtClean="0"/>
              <a:t>Harvest of Thymus Tissue</a:t>
            </a:r>
            <a:endParaRPr lang="en-US" dirty="0"/>
          </a:p>
          <a:p>
            <a:r>
              <a:rPr lang="en-US" dirty="0"/>
              <a:t>Euthanize mouse in a CO2 chamber. Put the animal on its back on a dissection mat, pin the feet on the mat and wet the fur by spraying with 70% ethanol.</a:t>
            </a:r>
          </a:p>
          <a:p>
            <a:r>
              <a:rPr lang="en-US" dirty="0"/>
              <a:t>Make a midline incision through the skin, starting from above the urethral opening straight up to the lower jaw with scissors and extend the incision downward to the knees on both sides. The incision looks like an upside down “Y”. Pull the loose skin back on the sides, and pin it to the dissection mat.</a:t>
            </a:r>
          </a:p>
          <a:p>
            <a:r>
              <a:rPr lang="en-US" dirty="0"/>
              <a:t>Puncture the diaphragm from the xiphoid, cut the ribs on each side up to about the clavicle, then lift up the ribs with forceps and pin it to the dissection mat. The thymus is just under the ribs, and looks like two thin white lobes overlying the heart (Figure 1). Disconnect connective tissue surrounding the thymus, gently pull and remove the pair of thymus lobes with curved serrated forceps. Place thymus lobes into a 6 well plate containing 5 ml RPMI-1640.</a:t>
            </a:r>
          </a:p>
          <a:p>
            <a:endParaRPr lang="en-US" dirty="0"/>
          </a:p>
        </p:txBody>
      </p:sp>
    </p:spTree>
    <p:extLst>
      <p:ext uri="{BB962C8B-B14F-4D97-AF65-F5344CB8AC3E}">
        <p14:creationId xmlns:p14="http://schemas.microsoft.com/office/powerpoint/2010/main" val="227006343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2794000" y="1554480"/>
            <a:ext cx="6675120" cy="4856480"/>
          </a:xfrm>
          <a:prstGeom prst="rect">
            <a:avLst/>
          </a:prstGeom>
        </p:spPr>
      </p:pic>
    </p:spTree>
    <p:extLst>
      <p:ext uri="{BB962C8B-B14F-4D97-AF65-F5344CB8AC3E}">
        <p14:creationId xmlns:p14="http://schemas.microsoft.com/office/powerpoint/2010/main" val="166247526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a:solidFill>
                  <a:srgbClr val="0070C0"/>
                </a:solidFill>
              </a:rPr>
              <a:t>Preparation of </a:t>
            </a:r>
            <a:r>
              <a:rPr lang="en-US" sz="2800" b="1" dirty="0" err="1">
                <a:solidFill>
                  <a:srgbClr val="0070C0"/>
                </a:solidFill>
              </a:rPr>
              <a:t>Thymic</a:t>
            </a:r>
            <a:r>
              <a:rPr lang="en-US" sz="2800" b="1" dirty="0">
                <a:solidFill>
                  <a:srgbClr val="0070C0"/>
                </a:solidFill>
              </a:rPr>
              <a:t> Stromal Cells</a:t>
            </a:r>
            <a:br>
              <a:rPr lang="en-US" sz="2800" b="1" dirty="0">
                <a:solidFill>
                  <a:srgbClr val="0070C0"/>
                </a:solidFill>
              </a:rPr>
            </a:br>
            <a:endParaRPr lang="en-US" sz="2800" b="1" dirty="0">
              <a:solidFill>
                <a:srgbClr val="0070C0"/>
              </a:solidFill>
            </a:endParaRPr>
          </a:p>
        </p:txBody>
      </p:sp>
      <p:sp>
        <p:nvSpPr>
          <p:cNvPr id="3" name="Content Placeholder 2"/>
          <p:cNvSpPr>
            <a:spLocks noGrp="1"/>
          </p:cNvSpPr>
          <p:nvPr>
            <p:ph idx="1"/>
          </p:nvPr>
        </p:nvSpPr>
        <p:spPr/>
        <p:txBody>
          <a:bodyPr>
            <a:normAutofit fontScale="70000" lnSpcReduction="20000"/>
          </a:bodyPr>
          <a:lstStyle/>
          <a:p>
            <a:pPr marL="0" indent="0">
              <a:buNone/>
            </a:pPr>
            <a:r>
              <a:rPr lang="en-US" dirty="0" smtClean="0"/>
              <a:t>Trim </a:t>
            </a:r>
            <a:r>
              <a:rPr lang="en-US" dirty="0"/>
              <a:t>any surrounding fat and connective tissue and transfer the thymus lobes to a new well of the 6 well plate containing 5 ml freshly prepare enzyme solution.  Make small incisions in the thymus lobes with fine scissors, and incubate the plate at 37 °C for 20 min.</a:t>
            </a:r>
          </a:p>
          <a:p>
            <a:r>
              <a:rPr lang="en-US" dirty="0"/>
              <a:t>Gently pipette digesting thymus tissue up and down 2 - 3 times using 5 ml pipette for tissue dissociation. Collect supernatant fraction in a 50 ml tube containing 10 ml cold albumin-rich buffer to neutralize enzymes.  Keep the collection tube on ice.  Add 2.5 ml enzyme solution to the remaining tissue and incubate the plate at 37 °C for 15 min.</a:t>
            </a:r>
          </a:p>
          <a:p>
            <a:r>
              <a:rPr lang="en-US" dirty="0"/>
              <a:t>Perform gentle mechanical agitation with a 3 ml syringe and 18 G needle to break up aggregates.  Pool supernatant into the collection tube.  Add 2.5 ml enzyme solution to the remaining tissue and incubate the plate at 37 °C for 15 min.</a:t>
            </a:r>
          </a:p>
          <a:p>
            <a:r>
              <a:rPr lang="en-US" dirty="0"/>
              <a:t>Repeat gentle mechanical agitation with a 3 ml syringe and a 25 G needle, and incubate the plate additional 5 - 10 min.</a:t>
            </a:r>
          </a:p>
          <a:p>
            <a:r>
              <a:rPr lang="en-US" dirty="0"/>
              <a:t>After complete digestion, pool the supernatant into the collection tube.  Centrifuge the collection tube at 400 x g, 4 °C for 8 min to collect the cells.  Aspirate the liquid and suspend the pelleted cells in 10 ml albumin-rich buffer and filter the sample through 100 mm mesh.   Count cells using a hemocytometer. </a:t>
            </a:r>
          </a:p>
          <a:p>
            <a:endParaRPr lang="en-US" dirty="0"/>
          </a:p>
        </p:txBody>
      </p:sp>
    </p:spTree>
    <p:extLst>
      <p:ext uri="{BB962C8B-B14F-4D97-AF65-F5344CB8AC3E}">
        <p14:creationId xmlns:p14="http://schemas.microsoft.com/office/powerpoint/2010/main" val="3374224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558800"/>
            <a:ext cx="10515600" cy="5483226"/>
          </a:xfrm>
        </p:spPr>
        <p:txBody>
          <a:bodyPr>
            <a:normAutofit/>
          </a:bodyPr>
          <a:lstStyle/>
          <a:p>
            <a:pPr marL="0" indent="0">
              <a:buNone/>
            </a:pPr>
            <a:r>
              <a:rPr lang="en-US" b="1" dirty="0" smtClean="0">
                <a:solidFill>
                  <a:srgbClr val="C00000"/>
                </a:solidFill>
              </a:rPr>
              <a:t>Peritoneal Mac</a:t>
            </a:r>
          </a:p>
          <a:p>
            <a:r>
              <a:rPr lang="en-US" dirty="0" smtClean="0"/>
              <a:t>Swab with alcohol</a:t>
            </a:r>
          </a:p>
          <a:p>
            <a:r>
              <a:rPr lang="en-US" dirty="0" smtClean="0"/>
              <a:t>Make small incision in lower abdomen</a:t>
            </a:r>
          </a:p>
          <a:p>
            <a:r>
              <a:rPr lang="en-US" dirty="0" smtClean="0"/>
              <a:t>Insert perforated tube</a:t>
            </a:r>
          </a:p>
          <a:p>
            <a:r>
              <a:rPr lang="en-US" dirty="0" smtClean="0"/>
              <a:t>Add medium</a:t>
            </a:r>
          </a:p>
          <a:p>
            <a:r>
              <a:rPr lang="en-US" dirty="0" smtClean="0"/>
              <a:t>Gently massage abdomen for 2 min</a:t>
            </a:r>
          </a:p>
          <a:p>
            <a:r>
              <a:rPr lang="en-US" dirty="0" smtClean="0"/>
              <a:t>Remove fluid using Pasteur </a:t>
            </a:r>
            <a:r>
              <a:rPr lang="en-US" dirty="0" err="1" smtClean="0"/>
              <a:t>pipett</a:t>
            </a:r>
            <a:endParaRPr lang="en-US" dirty="0" smtClean="0"/>
          </a:p>
          <a:p>
            <a:r>
              <a:rPr lang="en-US" dirty="0" smtClean="0"/>
              <a:t>Spin</a:t>
            </a:r>
          </a:p>
          <a:p>
            <a:r>
              <a:rPr lang="en-US" dirty="0">
                <a:solidFill>
                  <a:srgbClr val="FF0000"/>
                </a:solidFill>
              </a:rPr>
              <a:t>https://</a:t>
            </a:r>
            <a:r>
              <a:rPr lang="en-US" dirty="0" smtClean="0">
                <a:solidFill>
                  <a:srgbClr val="FF0000"/>
                </a:solidFill>
              </a:rPr>
              <a:t>www.jove.com/v/1488/isolation-of-mouse-peritoneal-cavity-cells</a:t>
            </a:r>
          </a:p>
        </p:txBody>
      </p:sp>
    </p:spTree>
    <p:extLst>
      <p:ext uri="{BB962C8B-B14F-4D97-AF65-F5344CB8AC3E}">
        <p14:creationId xmlns:p14="http://schemas.microsoft.com/office/powerpoint/2010/main" val="21510363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THENA.CUSTOMXMLID" val="{FCFF5ED8-049D-4499-AF3E-45520F34CACD}"/>
  <p:tag name="ATHENA.CUSTOMXMLCONTENT" val="&lt;?xml version=&quot;1.0&quot;?&gt;&lt;athena xmlns=&quot;http://schemas.microsoft.com/edu/athena&quot; version=&quot;0.1.3517.0&quot;&gt;&lt;timings duration=&quot;30072&quot;/&gt;&lt;/athena&gt;"/>
</p:tagLst>
</file>

<file path=ppt/tags/tag2.xml><?xml version="1.0" encoding="utf-8"?>
<p:tagLst xmlns:a="http://schemas.openxmlformats.org/drawingml/2006/main" xmlns:r="http://schemas.openxmlformats.org/officeDocument/2006/relationships" xmlns:p="http://schemas.openxmlformats.org/presentationml/2006/main">
  <p:tag name="ATHENA.CUSTOMXMLID" val="{CF8D00ED-B168-4C3C-A955-7AF5D8C3C1CE}"/>
  <p:tag name="ATHENA.CUSTOMXMLCONTENT" val="&lt;?xml version=&quot;1.0&quot;?&gt;&lt;athena xmlns=&quot;http://schemas.microsoft.com/edu/athena&quot; version=&quot;0.1.3517.0&quot;&gt;&lt;media streamable=&quot;true&quot; recordStart=&quot;521227&quot; recordEnd=&quot;551299&quot; recordLength=&quot;830024&quot; audioOnly=&quot;true&quot; start=&quot;521227&quot; end=&quot;551299&quot; audioFormat=&quot;{00001610-0000-0010-8000-00AA00389B71}&quot; audioRate=&quot;44100&quot; muted=&quot;false&quot; volume=&quot;0.8&quot; fadeIn=&quot;0&quot; fadeOut=&quot;0&quot; videoFormat=&quot;{34363248-0000-0010-8000-00AA00389B71}&quot; videoRate=&quot;15&quot; videoWidth=&quot;256&quot; videoHeight=&quot;256&quot;/&gt;&lt;/athena&gt;"/>
</p:tagLst>
</file>

<file path=ppt/tags/tag3.xml><?xml version="1.0" encoding="utf-8"?>
<p:tagLst xmlns:a="http://schemas.openxmlformats.org/drawingml/2006/main" xmlns:r="http://schemas.openxmlformats.org/officeDocument/2006/relationships" xmlns:p="http://schemas.openxmlformats.org/presentationml/2006/main">
  <p:tag name="ATHENA.CUSTOMXMLID" val="{88212D59-D897-49D0-93B2-BAB023C58832}"/>
  <p:tag name="ATHENA.CUSTOMXMLCONTENT" val="&lt;?xml version=&quot;1.0&quot;?&gt;&lt;athena xmlns=&quot;http://schemas.microsoft.com/edu/athena&quot; version=&quot;0.1.3517.0&quot;&gt;&lt;timings duration=&quot;203470&quot;/&gt;&lt;/athena&gt;"/>
</p:tagLst>
</file>

<file path=ppt/tags/tag4.xml><?xml version="1.0" encoding="utf-8"?>
<p:tagLst xmlns:a="http://schemas.openxmlformats.org/drawingml/2006/main" xmlns:r="http://schemas.openxmlformats.org/officeDocument/2006/relationships" xmlns:p="http://schemas.openxmlformats.org/presentationml/2006/main">
  <p:tag name="ATHENA.CUSTOMXMLID" val="{C07CBF72-965F-49F8-B55B-504A13A6FAF0}"/>
  <p:tag name="ATHENA.CUSTOMXMLCONTENT" val="&lt;?xml version=&quot;1.0&quot;?&gt;&lt;athena xmlns=&quot;http://schemas.microsoft.com/edu/athena&quot; version=&quot;0.1.3517.0&quot;&gt;&lt;media streamable=&quot;true&quot; recordStart=&quot;193944&quot; recordEnd=&quot;397414&quot; recordLength=&quot;830024&quot; audioOnly=&quot;true&quot; start=&quot;193944&quot; end=&quot;397414&quot; audioFormat=&quot;{00001610-0000-0010-8000-00AA00389B71}&quot; audioRate=&quot;44100&quot; muted=&quot;false&quot; volume=&quot;0.8&quot; fadeIn=&quot;0&quot; fadeOut=&quot;0&quot; videoFormat=&quot;{34363248-0000-0010-8000-00AA00389B71}&quot; videoRate=&quot;15&quot; videoWidth=&quot;256&quot; videoHeight=&quot;256&quot;/&gt;&lt;/athena&gt;"/>
</p:tagLst>
</file>

<file path=ppt/tags/tag5.xml><?xml version="1.0" encoding="utf-8"?>
<p:tagLst xmlns:a="http://schemas.openxmlformats.org/drawingml/2006/main" xmlns:r="http://schemas.openxmlformats.org/officeDocument/2006/relationships" xmlns:p="http://schemas.openxmlformats.org/presentationml/2006/main">
  <p:tag name="ATHENA.CUSTOMXMLID" val="{9A39E0D2-18DB-4CA9-8CAA-F859C7F081D8}"/>
  <p:tag name="ATHENA.CUSTOMXMLCONTENT" val="&lt;?xml version=&quot;1.0&quot;?&gt;&lt;athena xmlns=&quot;http://schemas.microsoft.com/edu/athena&quot; version=&quot;0.1.3517.0&quot;&gt;&lt;timings duration=&quot;100085&quot;/&gt;&lt;/athena&gt;"/>
</p:tagLst>
</file>

<file path=ppt/tags/tag6.xml><?xml version="1.0" encoding="utf-8"?>
<p:tagLst xmlns:a="http://schemas.openxmlformats.org/drawingml/2006/main" xmlns:r="http://schemas.openxmlformats.org/officeDocument/2006/relationships" xmlns:p="http://schemas.openxmlformats.org/presentationml/2006/main">
  <p:tag name="ATHENA.CUSTOMXMLID" val="{54653E48-227E-43B6-BB80-7D1F892CE076}"/>
  <p:tag name="ATHENA.CUSTOMXMLCONTENT" val="&lt;?xml version=&quot;1.0&quot;?&gt;&lt;athena xmlns=&quot;http://schemas.microsoft.com/edu/athena&quot; version=&quot;0.1.3517.0&quot;&gt;&lt;media streamable=&quot;true&quot; recordStart=&quot;421142&quot; recordEnd=&quot;521227&quot; recordLength=&quot;830024&quot; audioOnly=&quot;true&quot; start=&quot;421142&quot; end=&quot;521227&quot; audioFormat=&quot;{00001610-0000-0010-8000-00AA00389B71}&quot; audioRate=&quot;44100&quot; muted=&quot;false&quot; volume=&quot;0.8&quot; fadeIn=&quot;0&quot; fadeOut=&quot;0&quot; videoFormat=&quot;{34363248-0000-0010-8000-00AA00389B71}&quot; videoRate=&quot;15&quot; videoWidth=&quot;256&quot; videoHeight=&quot;256&quot;/&gt;&lt;/athena&gt;"/>
</p:tagLst>
</file>

<file path=ppt/tags/tag7.xml><?xml version="1.0" encoding="utf-8"?>
<p:tagLst xmlns:a="http://schemas.openxmlformats.org/drawingml/2006/main" xmlns:r="http://schemas.openxmlformats.org/officeDocument/2006/relationships" xmlns:p="http://schemas.openxmlformats.org/presentationml/2006/main">
  <p:tag name="ATHENA.CUSTOMXMLID" val="{C086F94D-A2BF-49C2-9808-9BBE7D15A0C4}"/>
  <p:tag name="ATHENA.CUSTOMXMLCONTENT" val="&lt;?xml version=&quot;1.0&quot;?&gt;&lt;athena xmlns=&quot;http://schemas.microsoft.com/edu/athena&quot; version=&quot;0.1.3517.0&quot;&gt;&lt;timings duration=&quot;23728&quot;/&gt;&lt;/athena&gt;"/>
</p:tagLst>
</file>

<file path=ppt/tags/tag8.xml><?xml version="1.0" encoding="utf-8"?>
<p:tagLst xmlns:a="http://schemas.openxmlformats.org/drawingml/2006/main" xmlns:r="http://schemas.openxmlformats.org/officeDocument/2006/relationships" xmlns:p="http://schemas.openxmlformats.org/presentationml/2006/main">
  <p:tag name="ATHENA.CUSTOMXMLID" val="{02C3BD90-A207-4F7D-845E-D2395F8049B9}"/>
  <p:tag name="ATHENA.CUSTOMXMLCONTENT" val="&lt;?xml version=&quot;1.0&quot;?&gt;&lt;athena xmlns=&quot;http://schemas.microsoft.com/edu/athena&quot; version=&quot;0.1.3517.0&quot;&gt;&lt;media streamable=&quot;true&quot; recordStart=&quot;397414&quot; recordEnd=&quot;421142&quot; recordLength=&quot;830024&quot; audioOnly=&quot;true&quot; start=&quot;397414&quot; end=&quot;421142&quot; audioFormat=&quot;{00001610-0000-0010-8000-00AA00389B71}&quot; audioRate=&quot;44100&quot; muted=&quot;false&quot; volume=&quot;0.8&quot; fadeIn=&quot;0&quot; fadeOut=&quot;0&quot; videoFormat=&quot;{34363248-0000-0010-8000-00AA00389B71}&quot; videoRate=&quot;15&quot; videoWidth=&quot;256&quot; videoHeight=&quot;256&quot;/&gt;&lt;/athena&gt;"/>
</p:tagLst>
</file>

<file path=ppt/tags/tag9.xml><?xml version="1.0" encoding="utf-8"?>
<p:tagLst xmlns:a="http://schemas.openxmlformats.org/drawingml/2006/main" xmlns:r="http://schemas.openxmlformats.org/officeDocument/2006/relationships" xmlns:p="http://schemas.openxmlformats.org/presentationml/2006/main">
  <p:tag name="ATHENA.CUSTOMXMLID" val="{220337A3-C5C1-4F7D-8575-15B6A9560FAD}"/>
  <p:tag name="ATHENA.CUSTOMXMLCONTENT" val="&lt;?xml version=&quot;1.0&quot;?&gt;&lt;athena xmlns=&quot;http://schemas.microsoft.com/edu/athena&quot; version=&quot;0.1.3517.0&quot;&gt;&lt;timings duration=&quot;82439&quot;/&gt;&lt;/athena&gt;"/>
</p:tagLst>
</file>

<file path=ppt/tags/tag10.xml><?xml version="1.0" encoding="utf-8"?>
<p:tagLst xmlns:a="http://schemas.openxmlformats.org/drawingml/2006/main" xmlns:r="http://schemas.openxmlformats.org/officeDocument/2006/relationships" xmlns:p="http://schemas.openxmlformats.org/presentationml/2006/main">
  <p:tag name="ATHENA.CUSTOMXMLID" val="{3A1EDC6C-5706-45C4-972F-1CC8A0309361}"/>
  <p:tag name="ATHENA.CUSTOMXMLCONTENT" val="&lt;?xml version=&quot;1.0&quot;?&gt;&lt;athena xmlns=&quot;http://schemas.microsoft.com/edu/athena&quot; version=&quot;0.1.3517.0&quot;&gt;&lt;media streamable=&quot;true&quot; recordStart=&quot;551299&quot; recordEnd=&quot;633738&quot; recordLength=&quot;830024&quot; audioOnly=&quot;true&quot; start=&quot;551299&quot; end=&quot;633738&quot; audioFormat=&quot;{00001610-0000-0010-8000-00AA00389B71}&quot; audioRate=&quot;44100&quot; muted=&quot;false&quot; volume=&quot;0.8&quot; fadeIn=&quot;0&quot; fadeOut=&quot;0&quot; videoFormat=&quot;{34363248-0000-0010-8000-00AA00389B71}&quot; videoRate=&quot;15&quot; videoWidth=&quot;256&quot; videoHeight=&quot;256&quot;/&gt;&lt;/athena&gt;"/>
</p:tagLst>
</file>

<file path=ppt/tags/tag11.xml><?xml version="1.0" encoding="utf-8"?>
<p:tagLst xmlns:a="http://schemas.openxmlformats.org/drawingml/2006/main" xmlns:r="http://schemas.openxmlformats.org/officeDocument/2006/relationships" xmlns:p="http://schemas.openxmlformats.org/presentationml/2006/main">
  <p:tag name="ATHENA.CUSTOMXMLID" val="{C132E019-F194-489F-91A3-23FE25216378}"/>
  <p:tag name="ATHENA.CUSTOMXMLCONTENT" val="&lt;?xml version=&quot;1.0&quot;?&gt;&lt;athena xmlns=&quot;http://schemas.microsoft.com/edu/athena&quot; version=&quot;0.1.3517.0&quot;&gt;&lt;timings duration=&quot;86341&quot;/&gt;&lt;/athena&gt;"/>
</p:tagLst>
</file>

<file path=ppt/tags/tag12.xml><?xml version="1.0" encoding="utf-8"?>
<p:tagLst xmlns:a="http://schemas.openxmlformats.org/drawingml/2006/main" xmlns:r="http://schemas.openxmlformats.org/officeDocument/2006/relationships" xmlns:p="http://schemas.openxmlformats.org/presentationml/2006/main">
  <p:tag name="ATHENA.CUSTOMXMLID" val="{BF427311-19A6-4B3B-A17A-2C60D4495745}"/>
  <p:tag name="ATHENA.CUSTOMXMLCONTENT" val="&lt;?xml version=&quot;1.0&quot;?&gt;&lt;athena xmlns=&quot;http://schemas.microsoft.com/edu/athena&quot; version=&quot;0.1.3517.0&quot;&gt;&lt;media streamable=&quot;true&quot; recordStart=&quot;633738&quot; recordEnd=&quot;720079&quot; recordLength=&quot;830024&quot; audioOnly=&quot;true&quot; start=&quot;633738&quot; end=&quot;720079&quot; audioFormat=&quot;{00001610-0000-0010-8000-00AA00389B71}&quot; audioRate=&quot;44100&quot; muted=&quot;false&quot; volume=&quot;0.8&quot; fadeIn=&quot;0&quot; fadeOut=&quot;0&quot; videoFormat=&quot;{34363248-0000-0010-8000-00AA00389B71}&quot; videoRate=&quot;15&quot; videoWidth=&quot;256&quot; videoHeight=&quot;256&quot;/&gt;&lt;/athena&gt;"/>
</p:tagLst>
</file>

<file path=ppt/tags/tag13.xml><?xml version="1.0" encoding="utf-8"?>
<p:tagLst xmlns:a="http://schemas.openxmlformats.org/drawingml/2006/main" xmlns:r="http://schemas.openxmlformats.org/officeDocument/2006/relationships" xmlns:p="http://schemas.openxmlformats.org/presentationml/2006/main">
  <p:tag name="ATHENA.CUSTOMXMLID" val="{F370287D-40B7-455A-9E35-B68B8BAC5C89}"/>
  <p:tag name="ATHENA.CUSTOMXMLCONTENT" val="&lt;?xml version=&quot;1.0&quot;?&gt;&lt;athena xmlns=&quot;http://schemas.microsoft.com/edu/athena&quot; version=&quot;0.1.3517.0&quot;&gt;&lt;timings duration=&quot;7407&quot;/&gt;&lt;/athena&gt;"/>
</p:tagLst>
</file>

<file path=ppt/tags/tag14.xml><?xml version="1.0" encoding="utf-8"?>
<p:tagLst xmlns:a="http://schemas.openxmlformats.org/drawingml/2006/main" xmlns:r="http://schemas.openxmlformats.org/officeDocument/2006/relationships" xmlns:p="http://schemas.openxmlformats.org/presentationml/2006/main">
  <p:tag name="ATHENA.CUSTOMXMLID" val="{27B09C02-A701-40B0-908A-640AB1DE2F31}"/>
  <p:tag name="ATHENA.CUSTOMXMLCONTENT" val="&lt;?xml version=&quot;1.0&quot;?&gt;&lt;athena xmlns=&quot;http://schemas.microsoft.com/edu/athena&quot; version=&quot;0.1.3517.0&quot;&gt;&lt;media streamable=&quot;true&quot; recordStart=&quot;720079&quot; recordEnd=&quot;727486&quot; recordLength=&quot;830024&quot; audioOnly=&quot;true&quot; start=&quot;720079&quot; end=&quot;727486&quot; audioFormat=&quot;{00001610-0000-0010-8000-00AA00389B71}&quot; audioRate=&quot;44100&quot; muted=&quot;false&quot; volume=&quot;0.8&quot; fadeIn=&quot;0&quot; fadeOut=&quot;0&quot; videoFormat=&quot;{34363248-0000-0010-8000-00AA00389B71}&quot; videoRate=&quot;15&quot; videoWidth=&quot;256&quot; videoHeight=&quot;256&quot;/&gt;&lt;/athena&gt;"/>
</p:tagLst>
</file>

<file path=ppt/tags/tag15.xml><?xml version="1.0" encoding="utf-8"?>
<p:tagLst xmlns:a="http://schemas.openxmlformats.org/drawingml/2006/main" xmlns:r="http://schemas.openxmlformats.org/officeDocument/2006/relationships" xmlns:p="http://schemas.openxmlformats.org/presentationml/2006/main">
  <p:tag name="ATHENA.CUSTOMXMLID" val="{5CC8ADFA-2198-4ABB-B226-E170EAD0A601}"/>
  <p:tag name="ATHENA.CUSTOMXMLCONTENT" val="&lt;?xml version=&quot;1.0&quot;?&gt;&lt;athena xmlns=&quot;http://schemas.microsoft.com/edu/athena&quot; version=&quot;0.1.3517.0&quot;&gt;&lt;timings duration=&quot;61316&quot;/&gt;&lt;/athena&gt;"/>
</p:tagLst>
</file>

<file path=ppt/tags/tag16.xml><?xml version="1.0" encoding="utf-8"?>
<p:tagLst xmlns:a="http://schemas.openxmlformats.org/drawingml/2006/main" xmlns:r="http://schemas.openxmlformats.org/officeDocument/2006/relationships" xmlns:p="http://schemas.openxmlformats.org/presentationml/2006/main">
  <p:tag name="ATHENA.CUSTOMXMLID" val="{BB7F1969-233A-47E5-A3F9-171FE404CEEB}"/>
  <p:tag name="ATHENA.CUSTOMXMLCONTENT" val="&lt;?xml version=&quot;1.0&quot;?&gt;&lt;athena xmlns=&quot;http://schemas.microsoft.com/edu/athena&quot; version=&quot;0.1.3517.0&quot;&gt;&lt;media streamable=&quot;true&quot; recordStart=&quot;727486&quot; recordEnd=&quot;788802&quot; recordLength=&quot;830024&quot; audioOnly=&quot;true&quot; start=&quot;727486&quot; end=&quot;788802&quot; audioFormat=&quot;{00001610-0000-0010-8000-00AA00389B71}&quot; audioRate=&quot;44100&quot; muted=&quot;false&quot; volume=&quot;0.8&quot; fadeIn=&quot;0&quot; fadeOut=&quot;0&quot; videoFormat=&quot;{34363248-0000-0010-8000-00AA00389B71}&quot; videoRate=&quot;15&quot; videoWidth=&quot;256&quot; videoHeight=&quot;256&quot;/&gt;&lt;/athena&gt;"/>
</p:tagLst>
</file>

<file path=ppt/tags/tag17.xml><?xml version="1.0" encoding="utf-8"?>
<p:tagLst xmlns:a="http://schemas.openxmlformats.org/drawingml/2006/main" xmlns:r="http://schemas.openxmlformats.org/officeDocument/2006/relationships" xmlns:p="http://schemas.openxmlformats.org/presentationml/2006/main">
  <p:tag name="ATHENA.CUSTOMXMLID" val="{15B7B21B-7957-4215-8546-3BBE4B4F682B}"/>
  <p:tag name="ATHENA.CUSTOMXMLCONTENT" val="&lt;?xml version=&quot;1.0&quot;?&gt;&lt;athena xmlns=&quot;http://schemas.microsoft.com/edu/athena&quot; version=&quot;0.1.3517.0&quot;&gt;&lt;timings duration=&quot;41216&quot;/&gt;&lt;/athena&gt;"/>
</p:tagLst>
</file>

<file path=ppt/tags/tag18.xml><?xml version="1.0" encoding="utf-8"?>
<p:tagLst xmlns:a="http://schemas.openxmlformats.org/drawingml/2006/main" xmlns:r="http://schemas.openxmlformats.org/officeDocument/2006/relationships" xmlns:p="http://schemas.openxmlformats.org/presentationml/2006/main">
  <p:tag name="ATHENA.CUSTOMXMLID" val="{C69379A0-72B5-48C9-9438-D9E63C37AD0A}"/>
  <p:tag name="ATHENA.CUSTOMXMLCONTENT" val="&lt;?xml version=&quot;1.0&quot;?&gt;&lt;athena xmlns=&quot;http://schemas.microsoft.com/edu/athena&quot; version=&quot;0.1.3517.0&quot;&gt;&lt;media streamable=&quot;true&quot; recordStart=&quot;788802&quot; recordEnd=&quot;830018&quot; recordLength=&quot;830024&quot; audioOnly=&quot;true&quot; start=&quot;788802&quot; end=&quot;830018&quot; audioFormat=&quot;{00001610-0000-0010-8000-00AA00389B71}&quot; audioRate=&quot;44100&quot; muted=&quot;false&quot; volume=&quot;0.8&quot; fadeIn=&quot;0&quot; fadeOut=&quot;0&quot; videoFormat=&quot;{34363248-0000-0010-8000-00AA00389B71}&quot; videoRate=&quot;15&quot; videoWidth=&quot;256&quot; videoHeight=&quot;256&quot;/&gt;&lt;/athena&g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item1.xml><?xml version="1.0" encoding="utf-8"?>
<athena xmlns="http://schemas.microsoft.com/edu/athena" version="0.1.3517.0">
  <media streamable="true" recordStart="633738" recordEnd="720079" recordLength="830024" audioOnly="true" start="633738" end="720079" audioFormat="{00001610-0000-0010-8000-00AA00389B71}" audioRate="44100" muted="false" volume="0.8" fadeIn="0" fadeOut="0" videoFormat="{34363248-0000-0010-8000-00AA00389B71}" videoRate="15" videoWidth="256" videoHeight="256"/>
</athena>
</file>

<file path=customXml/item2.xml><?xml version="1.0" encoding="utf-8"?>
<athena xmlns="http://schemas.microsoft.com/edu/athena" version="0.1.3517.0">
  <media streamable="true" recordStart="421142" recordEnd="521227" recordLength="830024" audioOnly="true" start="421142" end="521227" audioFormat="{00001610-0000-0010-8000-00AA00389B71}" audioRate="44100" muted="false" volume="0.8" fadeIn="0" fadeOut="0" videoFormat="{34363248-0000-0010-8000-00AA00389B71}" videoRate="15" videoWidth="256" videoHeight="256"/>
</athena>
</file>

<file path=customXml/item3.xml><?xml version="1.0" encoding="utf-8"?>
<athena xmlns="http://schemas.microsoft.com/edu/athena" version="0.1.3517.0">
  <media streamable="true" recordStart="720079" recordEnd="727486" recordLength="830024" audioOnly="true" start="720079" end="727486" audioFormat="{00001610-0000-0010-8000-00AA00389B71}" audioRate="44100" muted="false" volume="0.8" fadeIn="0" fadeOut="0" videoFormat="{34363248-0000-0010-8000-00AA00389B71}" videoRate="15" videoWidth="256" videoHeight="256"/>
</athena>
</file>

<file path=customXml/item4.xml><?xml version="1.0" encoding="utf-8"?>
<athena xmlns="http://schemas.microsoft.com/edu/athena" version="0.1.3517.0">
  <media streamable="true" recordStart="193944" recordEnd="397414" recordLength="830024" audioOnly="true" start="193944" end="397414" audioFormat="{00001610-0000-0010-8000-00AA00389B71}" audioRate="44100" muted="false" volume="0.8" fadeIn="0" fadeOut="0" videoFormat="{34363248-0000-0010-8000-00AA00389B71}" videoRate="15" videoWidth="256" videoHeight="256"/>
</athena>
</file>

<file path=customXml/item5.xml><?xml version="1.0" encoding="utf-8"?>
<athena xmlns="http://schemas.microsoft.com/edu/athena" version="0.1.3517.0">
  <media streamable="true" recordStart="551299" recordEnd="633738" recordLength="830024" audioOnly="true" start="551299" end="633738" audioFormat="{00001610-0000-0010-8000-00AA00389B71}" audioRate="44100" muted="false" volume="0.8" fadeIn="0" fadeOut="0" videoFormat="{34363248-0000-0010-8000-00AA00389B71}" videoRate="15" videoWidth="256" videoHeight="256"/>
</athena>
</file>

<file path=customXml/item6.xml><?xml version="1.0" encoding="utf-8"?>
<athena xmlns="http://schemas.microsoft.com/edu/athena" version="0.1.3517.0">
  <timings duration="203470"/>
</athena>
</file>

<file path=customXml/item7.xml><?xml version="1.0" encoding="utf-8"?>
<athena xmlns="http://schemas.microsoft.com/edu/athena" version="0.1.3517.0">
  <media streamable="true" recordStart="521227" recordEnd="551299" recordLength="830024" audioOnly="true" start="521227" end="551299" audioFormat="{00001610-0000-0010-8000-00AA00389B71}" audioRate="44100" muted="false" volume="0.8" fadeIn="0" fadeOut="0" videoFormat="{34363248-0000-0010-8000-00AA00389B71}" videoRate="15" videoWidth="256" videoHeight="256"/>
</athena>
</file>

<file path=customXml/item8.xml><?xml version="1.0" encoding="utf-8"?>
<athena xmlns="http://schemas.microsoft.com/edu/athena" version="0.1.3517.0">
  <timings duration="23728"/>
</athena>
</file>

<file path=customXml/item9.xml><?xml version="1.0" encoding="utf-8"?>
<athena xmlns="http://schemas.microsoft.com/edu/athena" version="0.1.3517.0">
  <media streamable="true" recordStart="788802" recordEnd="830018" recordLength="830024" audioOnly="true" start="788802" end="830018" audioFormat="{00001610-0000-0010-8000-00AA00389B71}" audioRate="44100" muted="false" volume="0.8" fadeIn="0" fadeOut="0" videoFormat="{34363248-0000-0010-8000-00AA00389B71}" videoRate="15" videoWidth="256" videoHeight="256"/>
</athena>
</file>

<file path=customXml/item10.xml><?xml version="1.0" encoding="utf-8"?>
<athena xmlns="http://schemas.microsoft.com/edu/athena" version="0.1.3517.0">
  <timings duration="86341"/>
</athena>
</file>

<file path=customXml/item11.xml><?xml version="1.0" encoding="utf-8"?>
<athena xmlns="http://schemas.microsoft.com/edu/athena" version="0.1.3517.0">
  <media streamable="true" recordStart="727486" recordEnd="788802" recordLength="830024" audioOnly="true" start="727486" end="788802" audioFormat="{00001610-0000-0010-8000-00AA00389B71}" audioRate="44100" muted="false" volume="0.8" fadeIn="0" fadeOut="0" videoFormat="{34363248-0000-0010-8000-00AA00389B71}" videoRate="15" videoWidth="256" videoHeight="256"/>
</athena>
</file>

<file path=customXml/item12.xml><?xml version="1.0" encoding="utf-8"?>
<athena xmlns="http://schemas.microsoft.com/edu/athena" version="0.1.3517.0">
  <timings duration="7407"/>
</athena>
</file>

<file path=customXml/item13.xml><?xml version="1.0" encoding="utf-8"?>
<athena xmlns="http://schemas.microsoft.com/edu/athena" version="0.1.3517.0">
  <timings duration="82439"/>
</athena>
</file>

<file path=customXml/item14.xml><?xml version="1.0" encoding="utf-8"?>
<athena xmlns="http://schemas.microsoft.com/edu/athena" version="0.1.3517.0">
  <timings duration="41216"/>
</athena>
</file>

<file path=customXml/item15.xml><?xml version="1.0" encoding="utf-8"?>
<athena xmlns="http://schemas.microsoft.com/edu/athena" version="0.1.3517.0">
  <media streamable="true" recordStart="397414" recordEnd="421142" recordLength="830024" audioOnly="true" start="397414" end="421142" audioFormat="{00001610-0000-0010-8000-00AA00389B71}" audioRate="44100" muted="false" volume="0.8" fadeIn="0" fadeOut="0" videoFormat="{34363248-0000-0010-8000-00AA00389B71}" videoRate="15" videoWidth="256" videoHeight="256"/>
</athena>
</file>

<file path=customXml/item16.xml><?xml version="1.0" encoding="utf-8"?>
<athena xmlns="http://schemas.microsoft.com/edu/athena" version="0.1.3517.0">
  <timings duration="61316"/>
</athena>
</file>

<file path=customXml/item17.xml><?xml version="1.0" encoding="utf-8"?>
<athena xmlns="http://schemas.microsoft.com/edu/athena" version="0.1.3517.0">
  <timings duration="100085"/>
</athena>
</file>

<file path=customXml/item18.xml><?xml version="1.0" encoding="utf-8"?>
<athena xmlns="http://schemas.microsoft.com/edu/athena" version="0.1.3517.0">
  <timings duration="30072"/>
</athena>
</file>

<file path=customXml/itemProps1.xml><?xml version="1.0" encoding="utf-8"?>
<ds:datastoreItem xmlns:ds="http://schemas.openxmlformats.org/officeDocument/2006/customXml" ds:itemID="{BF427311-19A6-4B3B-A17A-2C60D4495745}">
  <ds:schemaRefs>
    <ds:schemaRef ds:uri="http://schemas.microsoft.com/edu/athena"/>
  </ds:schemaRefs>
</ds:datastoreItem>
</file>

<file path=customXml/itemProps2.xml><?xml version="1.0" encoding="utf-8"?>
<ds:datastoreItem xmlns:ds="http://schemas.openxmlformats.org/officeDocument/2006/customXml" ds:itemID="{54653E48-227E-43B6-BB80-7D1F892CE076}">
  <ds:schemaRefs>
    <ds:schemaRef ds:uri="http://schemas.microsoft.com/edu/athena"/>
  </ds:schemaRefs>
</ds:datastoreItem>
</file>

<file path=customXml/itemProps3.xml><?xml version="1.0" encoding="utf-8"?>
<ds:datastoreItem xmlns:ds="http://schemas.openxmlformats.org/officeDocument/2006/customXml" ds:itemID="{27B09C02-A701-40B0-908A-640AB1DE2F31}">
  <ds:schemaRefs>
    <ds:schemaRef ds:uri="http://schemas.microsoft.com/edu/athena"/>
  </ds:schemaRefs>
</ds:datastoreItem>
</file>

<file path=customXml/itemProps4.xml><?xml version="1.0" encoding="utf-8"?>
<ds:datastoreItem xmlns:ds="http://schemas.openxmlformats.org/officeDocument/2006/customXml" ds:itemID="{C07CBF72-965F-49F8-B55B-504A13A6FAF0}">
  <ds:schemaRefs>
    <ds:schemaRef ds:uri="http://schemas.microsoft.com/edu/athena"/>
  </ds:schemaRefs>
</ds:datastoreItem>
</file>

<file path=customXml/itemProps5.xml><?xml version="1.0" encoding="utf-8"?>
<ds:datastoreItem xmlns:ds="http://schemas.openxmlformats.org/officeDocument/2006/customXml" ds:itemID="{3A1EDC6C-5706-45C4-972F-1CC8A0309361}">
  <ds:schemaRefs>
    <ds:schemaRef ds:uri="http://schemas.microsoft.com/edu/athena"/>
  </ds:schemaRefs>
</ds:datastoreItem>
</file>

<file path=customXml/itemProps6.xml><?xml version="1.0" encoding="utf-8"?>
<ds:datastoreItem xmlns:ds="http://schemas.openxmlformats.org/officeDocument/2006/customXml" ds:itemID="{88212D59-D897-49D0-93B2-BAB023C58832}">
  <ds:schemaRefs>
    <ds:schemaRef ds:uri="http://schemas.microsoft.com/edu/athena"/>
  </ds:schemaRefs>
</ds:datastoreItem>
</file>

<file path=customXml/itemProps7.xml><?xml version="1.0" encoding="utf-8"?>
<ds:datastoreItem xmlns:ds="http://schemas.openxmlformats.org/officeDocument/2006/customXml" ds:itemID="{2E48308E-8573-4786-B443-1253B60E8470}">
  <ds:schemaRefs>
    <ds:schemaRef ds:uri="http://schemas.microsoft.com/edu/athena"/>
  </ds:schemaRefs>
</ds:datastoreItem>
</file>

<file path=customXml/itemProps8.xml><?xml version="1.0" encoding="utf-8"?>
<ds:datastoreItem xmlns:ds="http://schemas.openxmlformats.org/officeDocument/2006/customXml" ds:itemID="{41C2B7C4-5B69-4D22-9A87-6DE9D4E783DA}">
  <ds:schemaRefs>
    <ds:schemaRef ds:uri="http://schemas.microsoft.com/edu/athena"/>
  </ds:schemaRefs>
</ds:datastoreItem>
</file>

<file path=customXml/itemProps9.xml><?xml version="1.0" encoding="utf-8"?>
<ds:datastoreItem xmlns:ds="http://schemas.openxmlformats.org/officeDocument/2006/customXml" ds:itemID="{C69379A0-72B5-48C9-9438-D9E63C37AD0A}">
  <ds:schemaRefs>
    <ds:schemaRef ds:uri="http://schemas.microsoft.com/edu/athena"/>
  </ds:schemaRefs>
</ds:datastoreItem>
</file>

<file path=customXml/itemProps10.xml><?xml version="1.0" encoding="utf-8"?>
<ds:datastoreItem xmlns:ds="http://schemas.openxmlformats.org/officeDocument/2006/customXml" ds:itemID="{C132E019-F194-489F-91A3-23FE25216378}">
  <ds:schemaRefs>
    <ds:schemaRef ds:uri="http://schemas.microsoft.com/edu/athena"/>
  </ds:schemaRefs>
</ds:datastoreItem>
</file>

<file path=customXml/itemProps11.xml><?xml version="1.0" encoding="utf-8"?>
<ds:datastoreItem xmlns:ds="http://schemas.openxmlformats.org/officeDocument/2006/customXml" ds:itemID="{BB7F1969-233A-47E5-A3F9-171FE404CEEB}">
  <ds:schemaRefs>
    <ds:schemaRef ds:uri="http://schemas.microsoft.com/edu/athena"/>
  </ds:schemaRefs>
</ds:datastoreItem>
</file>

<file path=customXml/itemProps12.xml><?xml version="1.0" encoding="utf-8"?>
<ds:datastoreItem xmlns:ds="http://schemas.openxmlformats.org/officeDocument/2006/customXml" ds:itemID="{F370287D-40B7-455A-9E35-B68B8BAC5C89}">
  <ds:schemaRefs>
    <ds:schemaRef ds:uri="http://schemas.microsoft.com/edu/athena"/>
  </ds:schemaRefs>
</ds:datastoreItem>
</file>

<file path=customXml/itemProps13.xml><?xml version="1.0" encoding="utf-8"?>
<ds:datastoreItem xmlns:ds="http://schemas.openxmlformats.org/officeDocument/2006/customXml" ds:itemID="{220337A3-C5C1-4F7D-8575-15B6A9560FAD}">
  <ds:schemaRefs>
    <ds:schemaRef ds:uri="http://schemas.microsoft.com/edu/athena"/>
  </ds:schemaRefs>
</ds:datastoreItem>
</file>

<file path=customXml/itemProps14.xml><?xml version="1.0" encoding="utf-8"?>
<ds:datastoreItem xmlns:ds="http://schemas.openxmlformats.org/officeDocument/2006/customXml" ds:itemID="{15B7B21B-7957-4215-8546-3BBE4B4F682B}">
  <ds:schemaRefs>
    <ds:schemaRef ds:uri="http://schemas.microsoft.com/edu/athena"/>
  </ds:schemaRefs>
</ds:datastoreItem>
</file>

<file path=customXml/itemProps15.xml><?xml version="1.0" encoding="utf-8"?>
<ds:datastoreItem xmlns:ds="http://schemas.openxmlformats.org/officeDocument/2006/customXml" ds:itemID="{9605A1B8-DA32-4E4F-A090-E5AD51EAFD57}">
  <ds:schemaRefs>
    <ds:schemaRef ds:uri="http://schemas.microsoft.com/edu/athena"/>
  </ds:schemaRefs>
</ds:datastoreItem>
</file>

<file path=customXml/itemProps16.xml><?xml version="1.0" encoding="utf-8"?>
<ds:datastoreItem xmlns:ds="http://schemas.openxmlformats.org/officeDocument/2006/customXml" ds:itemID="{5CC8ADFA-2198-4ABB-B226-E170EAD0A601}">
  <ds:schemaRefs>
    <ds:schemaRef ds:uri="http://schemas.microsoft.com/edu/athena"/>
  </ds:schemaRefs>
</ds:datastoreItem>
</file>

<file path=customXml/itemProps17.xml><?xml version="1.0" encoding="utf-8"?>
<ds:datastoreItem xmlns:ds="http://schemas.openxmlformats.org/officeDocument/2006/customXml" ds:itemID="{9A39E0D2-18DB-4CA9-8CAA-F859C7F081D8}">
  <ds:schemaRefs>
    <ds:schemaRef ds:uri="http://schemas.microsoft.com/edu/athena"/>
  </ds:schemaRefs>
</ds:datastoreItem>
</file>

<file path=customXml/itemProps18.xml><?xml version="1.0" encoding="utf-8"?>
<ds:datastoreItem xmlns:ds="http://schemas.openxmlformats.org/officeDocument/2006/customXml" ds:itemID="{86F4FFA2-EBE3-4544-8DB1-7010E3866F21}">
  <ds:schemaRefs>
    <ds:schemaRef ds:uri="http://schemas.microsoft.com/edu/athena"/>
  </ds:schemaRefs>
</ds:datastoreItem>
</file>

<file path=docProps/app.xml><?xml version="1.0" encoding="utf-8"?>
<Properties xmlns="http://schemas.openxmlformats.org/officeDocument/2006/extended-properties" xmlns:vt="http://schemas.openxmlformats.org/officeDocument/2006/docPropsVTypes">
  <TotalTime>413</TotalTime>
  <Words>836</Words>
  <Application>Microsoft Office PowerPoint</Application>
  <PresentationFormat>مخصص</PresentationFormat>
  <Paragraphs>117</Paragraphs>
  <Slides>20</Slides>
  <Notes>0</Notes>
  <HiddenSlides>0</HiddenSlides>
  <MMClips>9</MMClips>
  <ScaleCrop>false</ScaleCrop>
  <HeadingPairs>
    <vt:vector size="4" baseType="variant">
      <vt:variant>
        <vt:lpstr>نسق</vt:lpstr>
      </vt:variant>
      <vt:variant>
        <vt:i4>1</vt:i4>
      </vt:variant>
      <vt:variant>
        <vt:lpstr>عناوين الشرائح</vt:lpstr>
      </vt:variant>
      <vt:variant>
        <vt:i4>20</vt:i4>
      </vt:variant>
    </vt:vector>
  </HeadingPairs>
  <TitlesOfParts>
    <vt:vector size="21" baseType="lpstr">
      <vt:lpstr>Office Theme</vt:lpstr>
      <vt:lpstr>FUSION: Hybridoma formation</vt:lpstr>
      <vt:lpstr>Prior to Cell fusion</vt:lpstr>
      <vt:lpstr>Fusion between B cells and Myeloma </vt:lpstr>
      <vt:lpstr>Polyethylene glycol</vt:lpstr>
      <vt:lpstr>عرض تقديمي في PowerPoint</vt:lpstr>
      <vt:lpstr>HAT medium</vt:lpstr>
      <vt:lpstr>Fusion</vt:lpstr>
      <vt:lpstr>Possible Fusion Products</vt:lpstr>
      <vt:lpstr>عرض تقديمي في PowerPoint</vt:lpstr>
      <vt:lpstr>Hybridoma selection</vt:lpstr>
      <vt:lpstr>عرض تقديمي في PowerPoint</vt:lpstr>
      <vt:lpstr>عرض تقديمي في PowerPoint</vt:lpstr>
      <vt:lpstr>عرض تقديمي في PowerPoint</vt:lpstr>
      <vt:lpstr>عرض تقديمي في PowerPoint</vt:lpstr>
      <vt:lpstr>Expansion of culture prior to cloning </vt:lpstr>
      <vt:lpstr>Feeder cells</vt:lpstr>
      <vt:lpstr>عرض تقديمي في PowerPoint</vt:lpstr>
      <vt:lpstr>عرض تقديمي في PowerPoint</vt:lpstr>
      <vt:lpstr>Preparation of Thymic Stromal Cells </vt:lpstr>
      <vt:lpstr>عرض تقديمي في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user</cp:lastModifiedBy>
  <cp:revision>53</cp:revision>
  <dcterms:created xsi:type="dcterms:W3CDTF">2020-01-22T09:45:42Z</dcterms:created>
  <dcterms:modified xsi:type="dcterms:W3CDTF">2021-02-20T08:52:11Z</dcterms:modified>
</cp:coreProperties>
</file>