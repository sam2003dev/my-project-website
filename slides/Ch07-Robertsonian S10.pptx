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4660"/>
  </p:normalViewPr>
  <p:slideViewPr>
    <p:cSldViewPr>
      <p:cViewPr varScale="1">
        <p:scale>
          <a:sx n="88" d="100"/>
          <a:sy n="88" d="100"/>
        </p:scale>
        <p:origin x="1195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B53F8-F364-42AB-8841-C465CA1BAA17}" type="datetimeFigureOut">
              <a:rPr lang="en-US" smtClean="0"/>
              <a:t>3/8/2023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EABCCD-FEE1-40BF-BCF8-532ECA86D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06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F4DA4-CC0F-428E-8414-1ABD1E2A1011}" type="datetime1">
              <a:rPr lang="en-US" smtClean="0"/>
              <a:t>3/8/2023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B3B6A-9BD6-432F-83E8-ADB93B930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39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837F0-4D33-428E-A059-0B8511164FB7}" type="datetime1">
              <a:rPr lang="en-US" smtClean="0"/>
              <a:t>3/8/2023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B3B6A-9BD6-432F-83E8-ADB93B930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1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8DDCB-6BC8-45CE-8D2F-7282747AEE70}" type="datetime1">
              <a:rPr lang="en-US" smtClean="0"/>
              <a:t>3/8/2023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B3B6A-9BD6-432F-83E8-ADB93B930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16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12751-FCC1-401A-B562-85D5AAFEE3D0}" type="datetime1">
              <a:rPr lang="en-US" smtClean="0"/>
              <a:t>3/8/2023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B3B6A-9BD6-432F-83E8-ADB93B930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14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9E05-2246-4BA7-9B49-4172FF1B9FB0}" type="datetime1">
              <a:rPr lang="en-US" smtClean="0"/>
              <a:t>3/8/2023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B3B6A-9BD6-432F-83E8-ADB93B930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47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11E7E-9A94-478E-83B2-409B78402931}" type="datetime1">
              <a:rPr lang="en-US" smtClean="0"/>
              <a:t>3/8/2023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B3B6A-9BD6-432F-83E8-ADB93B930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775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33E62-43F1-4840-A00D-9D86249DBEE9}" type="datetime1">
              <a:rPr lang="en-US" smtClean="0"/>
              <a:t>3/8/2023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B3B6A-9BD6-432F-83E8-ADB93B930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78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1446C-959B-4EFB-8B0F-ED2C1057EBBC}" type="datetime1">
              <a:rPr lang="en-US" smtClean="0"/>
              <a:t>3/8/2023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B3B6A-9BD6-432F-83E8-ADB93B930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91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E100-E5A0-41E4-8621-A7AA68EA72B6}" type="datetime1">
              <a:rPr lang="en-US" smtClean="0"/>
              <a:t>3/8/2023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B3B6A-9BD6-432F-83E8-ADB93B930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67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29212-439B-4DBE-9D76-CED76AA0CE1D}" type="datetime1">
              <a:rPr lang="en-US" smtClean="0"/>
              <a:t>3/8/2023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B3B6A-9BD6-432F-83E8-ADB93B930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293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F2C54-A965-4120-9E82-1B6E5EF5D14D}" type="datetime1">
              <a:rPr lang="en-US" smtClean="0"/>
              <a:t>3/8/2023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B3B6A-9BD6-432F-83E8-ADB93B930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404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E7C55-C4C0-48B0-AFE4-845764C6CD13}" type="datetime1">
              <a:rPr lang="en-US" smtClean="0"/>
              <a:t>3/8/2023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B3B6A-9BD6-432F-83E8-ADB93B930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5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384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/>
              <a:t>Robertsonian Translocations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23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228598"/>
            <a:ext cx="86868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Fusion of two acrocentrics</a:t>
            </a:r>
          </a:p>
          <a:p>
            <a:endParaRPr lang="en-US" sz="2400" dirty="0" smtClean="0"/>
          </a:p>
          <a:p>
            <a:r>
              <a:rPr lang="en-US" sz="2400" dirty="0" smtClean="0"/>
              <a:t>Five acrocentrics: 13,14,15,21,22</a:t>
            </a:r>
          </a:p>
          <a:p>
            <a:endParaRPr lang="en-US" sz="2400" dirty="0" smtClean="0"/>
          </a:p>
          <a:p>
            <a:r>
              <a:rPr lang="en-US" sz="2400" dirty="0" smtClean="0"/>
              <a:t>Rob Trans are among the most common balanced structural rearrangements seen in the general population with a frequency in newborn surveys of about 1 in 1000</a:t>
            </a:r>
          </a:p>
          <a:p>
            <a:endParaRPr lang="en-US" sz="2400" dirty="0"/>
          </a:p>
          <a:p>
            <a:r>
              <a:rPr lang="en-US" sz="2400" dirty="0" smtClean="0"/>
              <a:t>The most important are the ones involving 21, constitutes the bases of most familial translocation Down syndrome</a:t>
            </a:r>
          </a:p>
          <a:p>
            <a:endParaRPr lang="en-US" sz="2400" dirty="0"/>
          </a:p>
          <a:p>
            <a:r>
              <a:rPr lang="en-US" sz="2400" dirty="0" smtClean="0"/>
              <a:t>14 and 15 contain imprinted genes</a:t>
            </a:r>
          </a:p>
          <a:p>
            <a:endParaRPr lang="en-US" sz="2400" dirty="0"/>
          </a:p>
          <a:p>
            <a:r>
              <a:rPr lang="en-US" sz="2400" dirty="0" smtClean="0"/>
              <a:t>Short description:	45,XX,rob(14q21q)</a:t>
            </a:r>
          </a:p>
          <a:p>
            <a:endParaRPr lang="en-US" sz="2400" dirty="0"/>
          </a:p>
          <a:p>
            <a:r>
              <a:rPr lang="en-US" sz="2400" dirty="0" smtClean="0"/>
              <a:t>Formal designation:	 45,XX,der(14;21)(q10;q10)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	or  	45,XX,rob(14;21)(q10;q10)</a:t>
            </a:r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B3B6A-9BD6-432F-83E8-ADB93B9301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186" y="304800"/>
            <a:ext cx="860201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Most balanced Rob trans involve different chromosomes (heterologous or </a:t>
            </a:r>
            <a:r>
              <a:rPr lang="en-US" sz="2800" dirty="0" err="1" smtClean="0"/>
              <a:t>nonhomologous</a:t>
            </a:r>
            <a:r>
              <a:rPr lang="en-US" sz="2800" dirty="0" smtClean="0"/>
              <a:t> translocation)</a:t>
            </a:r>
          </a:p>
          <a:p>
            <a:endParaRPr lang="en-US" sz="2800" dirty="0"/>
          </a:p>
          <a:p>
            <a:r>
              <a:rPr lang="en-US" sz="2800" dirty="0" smtClean="0"/>
              <a:t>Fusion of homologs (homologous translocation)</a:t>
            </a:r>
          </a:p>
          <a:p>
            <a:endParaRPr lang="en-US" sz="2800" dirty="0"/>
          </a:p>
          <a:p>
            <a:r>
              <a:rPr lang="en-US" sz="2800" dirty="0" smtClean="0">
                <a:solidFill>
                  <a:srgbClr val="0070C0"/>
                </a:solidFill>
              </a:rPr>
              <a:t>rob(13q14q)</a:t>
            </a:r>
            <a:r>
              <a:rPr lang="en-US" sz="2800" dirty="0" smtClean="0"/>
              <a:t> is the most common (~75% or all Rob trans) – </a:t>
            </a:r>
            <a:r>
              <a:rPr lang="en-US" sz="2800" dirty="0" smtClean="0">
                <a:solidFill>
                  <a:srgbClr val="0070C0"/>
                </a:solidFill>
              </a:rPr>
              <a:t>the commonest single chromosome rearrangement </a:t>
            </a:r>
            <a:r>
              <a:rPr lang="en-US" sz="2800" dirty="0" smtClean="0"/>
              <a:t>in the human race (1 in 1,300 are carriers)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B3B6A-9BD6-432F-83E8-ADB93B9301F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123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p\Documents\My Scans\scan006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22"/>
          <a:stretch/>
        </p:blipFill>
        <p:spPr bwMode="auto">
          <a:xfrm>
            <a:off x="0" y="2145"/>
            <a:ext cx="9144000" cy="6855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B3B6A-9BD6-432F-83E8-ADB93B9301F2}" type="slidenum">
              <a:rPr lang="en-US" smtClean="0"/>
              <a:t>4</a:t>
            </a:fld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4038600" y="6629400"/>
            <a:ext cx="20574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222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p\Documents\My Scans\scan006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504"/>
          <a:stretch/>
        </p:blipFill>
        <p:spPr bwMode="auto">
          <a:xfrm>
            <a:off x="0" y="-1"/>
            <a:ext cx="895383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B3B6A-9BD6-432F-83E8-ADB93B9301F2}" type="slidenum">
              <a:rPr lang="en-US" smtClean="0"/>
              <a:t>5</a:t>
            </a:fld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3962400" y="6477000"/>
            <a:ext cx="20574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114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p\Documents\My Scans\scan006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B3B6A-9BD6-432F-83E8-ADB93B9301F2}" type="slidenum">
              <a:rPr lang="en-US" smtClean="0"/>
              <a:t>6</a:t>
            </a:fld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5257800" y="6553200"/>
            <a:ext cx="27432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025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p\Documents\My Scans\scan0064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5" r="3343"/>
          <a:stretch/>
        </p:blipFill>
        <p:spPr bwMode="auto">
          <a:xfrm>
            <a:off x="0" y="0"/>
            <a:ext cx="493261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52400" y="6096000"/>
            <a:ext cx="38862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191000" y="6362700"/>
            <a:ext cx="9906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34000" y="5742057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Most common mechanism of formation</a:t>
            </a:r>
            <a:endParaRPr lang="en-US" sz="24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B3B6A-9BD6-432F-83E8-ADB93B9301F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52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04800"/>
            <a:ext cx="8686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0070C0"/>
                </a:solidFill>
              </a:rPr>
              <a:t>Nucleolar organizing regions </a:t>
            </a:r>
            <a:r>
              <a:rPr lang="en-US" sz="2800" dirty="0" smtClean="0"/>
              <a:t>(NORs) are located in the “stalks” of the short arms of acrocentric chromosomes, and compromise multiple copies of genes coding for </a:t>
            </a:r>
            <a:r>
              <a:rPr lang="en-US" sz="2800" dirty="0" err="1" smtClean="0"/>
              <a:t>rRNA</a:t>
            </a:r>
            <a:endParaRPr lang="en-US" sz="2800" dirty="0" smtClean="0"/>
          </a:p>
          <a:p>
            <a:endParaRPr lang="en-US" sz="2800" dirty="0"/>
          </a:p>
          <a:p>
            <a:r>
              <a:rPr lang="en-US" sz="2800" dirty="0" smtClean="0"/>
              <a:t>Not all NORs are active, most individuals have </a:t>
            </a:r>
            <a:r>
              <a:rPr lang="en-US" sz="2800" dirty="0" smtClean="0">
                <a:solidFill>
                  <a:srgbClr val="0070C0"/>
                </a:solidFill>
              </a:rPr>
              <a:t>four to seven</a:t>
            </a:r>
            <a:r>
              <a:rPr lang="en-US" sz="2800" dirty="0" smtClean="0"/>
              <a:t> per cell that are functioning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B3B6A-9BD6-432F-83E8-ADB93B9301F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20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p\Documents\My Scans\scan0065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6" r="988"/>
          <a:stretch/>
        </p:blipFill>
        <p:spPr bwMode="auto">
          <a:xfrm>
            <a:off x="2146" y="10732"/>
            <a:ext cx="9141854" cy="6310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096000" y="5105400"/>
            <a:ext cx="17526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33400" y="6248400"/>
            <a:ext cx="7961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Only unbalanced conceptuses trisomic for 13 or 21 can survive 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7981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p\Documents\My Scans\scan0066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0" t="2395" r="3791" b="1878"/>
          <a:stretch/>
        </p:blipFill>
        <p:spPr bwMode="auto">
          <a:xfrm>
            <a:off x="-16099" y="0"/>
            <a:ext cx="484708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B3B6A-9BD6-432F-83E8-ADB93B9301F2}" type="slidenum">
              <a:rPr lang="en-US" smtClean="0"/>
              <a:t>10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193177" y="381000"/>
            <a:ext cx="4876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Postzygotic trisomic correction and associated uniparental disomy</a:t>
            </a:r>
          </a:p>
          <a:p>
            <a:endParaRPr lang="en-US" sz="2400" dirty="0" smtClean="0"/>
          </a:p>
          <a:p>
            <a:r>
              <a:rPr lang="en-US" sz="2400" dirty="0"/>
              <a:t>Chr. 14,15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 err="1" smtClean="0"/>
              <a:t>upd</a:t>
            </a:r>
            <a:r>
              <a:rPr lang="en-US" sz="2400" dirty="0" smtClean="0"/>
              <a:t>(14)mat (Temple syndrome)</a:t>
            </a:r>
          </a:p>
          <a:p>
            <a:r>
              <a:rPr lang="en-US" sz="2400" dirty="0" err="1" smtClean="0"/>
              <a:t>upd</a:t>
            </a:r>
            <a:r>
              <a:rPr lang="en-US" sz="2400" dirty="0" smtClean="0"/>
              <a:t>(14)pat (</a:t>
            </a:r>
            <a:r>
              <a:rPr lang="en-US" sz="2400" dirty="0" err="1" smtClean="0"/>
              <a:t>Kagami</a:t>
            </a:r>
            <a:r>
              <a:rPr lang="en-US" sz="2400" dirty="0" smtClean="0"/>
              <a:t>-Ogata syndrome)</a:t>
            </a:r>
          </a:p>
          <a:p>
            <a:r>
              <a:rPr lang="en-US" sz="2400" dirty="0" err="1" smtClean="0"/>
              <a:t>upd</a:t>
            </a:r>
            <a:r>
              <a:rPr lang="en-US" sz="2400" dirty="0" smtClean="0"/>
              <a:t>(15)mat (</a:t>
            </a:r>
            <a:r>
              <a:rPr lang="en-US" sz="2400" dirty="0" err="1" smtClean="0"/>
              <a:t>Prader</a:t>
            </a:r>
            <a:r>
              <a:rPr lang="en-US" sz="2400" dirty="0" smtClean="0"/>
              <a:t>-Willi syndrome)</a:t>
            </a:r>
          </a:p>
          <a:p>
            <a:r>
              <a:rPr lang="en-US" sz="2400" dirty="0" err="1" smtClean="0"/>
              <a:t>upd</a:t>
            </a:r>
            <a:r>
              <a:rPr lang="en-US" sz="2400" dirty="0" smtClean="0"/>
              <a:t>(15)pat (</a:t>
            </a:r>
            <a:r>
              <a:rPr lang="en-US" sz="2400" dirty="0" err="1"/>
              <a:t>Angelman</a:t>
            </a:r>
            <a:r>
              <a:rPr lang="en-US" sz="2400" dirty="0"/>
              <a:t> syndrome</a:t>
            </a:r>
            <a:r>
              <a:rPr lang="en-US" sz="2400" dirty="0" smtClean="0"/>
              <a:t>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381000" y="6715579"/>
            <a:ext cx="1066800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382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215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Robertsonian Translocations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Robertsonian Translocations</dc:title>
  <dc:creator>alkhateeb</dc:creator>
  <cp:lastModifiedBy>JUST</cp:lastModifiedBy>
  <cp:revision>29</cp:revision>
  <dcterms:created xsi:type="dcterms:W3CDTF">2012-04-22T17:06:11Z</dcterms:created>
  <dcterms:modified xsi:type="dcterms:W3CDTF">2023-03-08T19:22:55Z</dcterms:modified>
</cp:coreProperties>
</file>