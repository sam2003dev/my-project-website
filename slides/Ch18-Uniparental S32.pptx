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63" r:id="rId3"/>
    <p:sldId id="292" r:id="rId4"/>
    <p:sldId id="293" r:id="rId5"/>
    <p:sldId id="264" r:id="rId6"/>
    <p:sldId id="290" r:id="rId7"/>
    <p:sldId id="284" r:id="rId8"/>
    <p:sldId id="259" r:id="rId9"/>
    <p:sldId id="260" r:id="rId10"/>
    <p:sldId id="261" r:id="rId11"/>
    <p:sldId id="262" r:id="rId12"/>
    <p:sldId id="281" r:id="rId13"/>
    <p:sldId id="282" r:id="rId14"/>
    <p:sldId id="265" r:id="rId15"/>
    <p:sldId id="283" r:id="rId16"/>
    <p:sldId id="266" r:id="rId17"/>
    <p:sldId id="267" r:id="rId18"/>
    <p:sldId id="268" r:id="rId19"/>
    <p:sldId id="269" r:id="rId20"/>
    <p:sldId id="285" r:id="rId21"/>
    <p:sldId id="291" r:id="rId22"/>
    <p:sldId id="271" r:id="rId23"/>
    <p:sldId id="272" r:id="rId24"/>
    <p:sldId id="286" r:id="rId25"/>
    <p:sldId id="273" r:id="rId26"/>
    <p:sldId id="288" r:id="rId27"/>
    <p:sldId id="274" r:id="rId28"/>
    <p:sldId id="275" r:id="rId29"/>
    <p:sldId id="276" r:id="rId30"/>
    <p:sldId id="289" r:id="rId31"/>
    <p:sldId id="277" r:id="rId32"/>
    <p:sldId id="27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7743" autoAdjust="0"/>
    <p:restoredTop sz="92895" autoAdjust="0"/>
  </p:normalViewPr>
  <p:slideViewPr>
    <p:cSldViewPr>
      <p:cViewPr varScale="1">
        <p:scale>
          <a:sx n="88" d="100"/>
          <a:sy n="88" d="100"/>
        </p:scale>
        <p:origin x="13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99B32-7964-4A98-A0F4-6E50E85AB785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C1B3E-394A-4ECF-83A5-31BAA85F9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19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983F-2B54-4A2C-BBD9-493C676F2942}" type="datetime12">
              <a:rPr lang="en-US" smtClean="0"/>
              <a:t>8:32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7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0EA6-E108-4264-9391-78760EE2D664}" type="datetime12">
              <a:rPr lang="en-US" smtClean="0"/>
              <a:t>8:32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7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70F8-DE59-4F6A-A337-DA870CB74DE9}" type="datetime12">
              <a:rPr lang="en-US" smtClean="0"/>
              <a:t>8:32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8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8A583-0913-4572-BCE4-D363C3F59E34}" type="datetime12">
              <a:rPr lang="en-US" smtClean="0"/>
              <a:t>8:32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8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6FF8-92BB-4061-9C26-47040F71F52F}" type="datetime12">
              <a:rPr lang="en-US" smtClean="0"/>
              <a:t>8:32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256D-4A63-49E5-948D-6F82A2A7323C}" type="datetime12">
              <a:rPr lang="en-US" smtClean="0"/>
              <a:t>8:32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8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BEAD-9A6A-4D17-AEA4-C1C038568C01}" type="datetime12">
              <a:rPr lang="en-US" smtClean="0"/>
              <a:t>8:32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8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66B4-C9AF-4AFD-87BE-D5C68CCABBBA}" type="datetime12">
              <a:rPr lang="en-US" smtClean="0"/>
              <a:t>8:32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8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620E-A276-438F-9EC3-10C751499E0D}" type="datetime12">
              <a:rPr lang="en-US" smtClean="0"/>
              <a:t>8:32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9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FF89A-726C-4BFE-8C2B-23DDEA2B841F}" type="datetime12">
              <a:rPr lang="en-US" smtClean="0"/>
              <a:t>8:32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7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511C-7E9B-4C36-BC5C-C8203992C8BC}" type="datetime12">
              <a:rPr lang="en-US" smtClean="0"/>
              <a:t>8:32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9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9C48-FDD0-4EC5-880A-E2A672A65FF0}" type="datetime12">
              <a:rPr lang="en-US" smtClean="0"/>
              <a:t>8:32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1263A-BBCD-405E-B6B6-20C3C134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1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/>
              <a:t>Uniparental disomy and disorders of imprinting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63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228600"/>
            <a:ext cx="88392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Nine major syndromes caused by uniparental disomy:</a:t>
            </a:r>
          </a:p>
          <a:p>
            <a:endParaRPr lang="en-US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Beckwith-</a:t>
            </a:r>
            <a:r>
              <a:rPr lang="en-US" sz="2400" dirty="0" err="1"/>
              <a:t>Wiedemann</a:t>
            </a:r>
            <a:r>
              <a:rPr lang="en-US" sz="2400" dirty="0"/>
              <a:t> syndrome	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11 pat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ar-JO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Prader</a:t>
            </a:r>
            <a:r>
              <a:rPr lang="en-US" sz="2400" dirty="0" smtClean="0"/>
              <a:t>-Willi syndrome	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15 mat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Angelman</a:t>
            </a:r>
            <a:r>
              <a:rPr lang="en-US" sz="2400" dirty="0" smtClean="0"/>
              <a:t> syndrome	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15 pat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Silver-Russell syndrome	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7 mat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ar-JO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Kagami</a:t>
            </a:r>
            <a:r>
              <a:rPr lang="en-US" sz="2400" dirty="0" smtClean="0"/>
              <a:t> syndrome		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14 pat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Temple syndrome		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14 mat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Transient neonatal diabetes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6 pat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Maternal UPD 20		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20 mat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Pseudohypoparathyroidism</a:t>
            </a:r>
            <a:r>
              <a:rPr lang="en-US" sz="2400" dirty="0" smtClean="0"/>
              <a:t> type 1B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20 pat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4000" dirty="0" smtClean="0"/>
          </a:p>
          <a:p>
            <a:r>
              <a:rPr lang="en-US" sz="2400" dirty="0"/>
              <a:t>UPD can be the cause of homozygosity for an </a:t>
            </a:r>
            <a:r>
              <a:rPr lang="en-US" sz="2400" dirty="0" smtClean="0"/>
              <a:t>autosomal recessive gene</a:t>
            </a:r>
          </a:p>
          <a:p>
            <a:endParaRPr lang="en-US" sz="2400" dirty="0"/>
          </a:p>
          <a:p>
            <a:r>
              <a:rPr lang="en-US" sz="2400" dirty="0" smtClean="0"/>
              <a:t>Most </a:t>
            </a:r>
            <a:r>
              <a:rPr lang="en-US" sz="2400" dirty="0"/>
              <a:t>UPDs </a:t>
            </a:r>
            <a:r>
              <a:rPr lang="en-US" sz="2400" dirty="0" smtClean="0"/>
              <a:t>appear to </a:t>
            </a:r>
            <a:r>
              <a:rPr lang="en-US" sz="2400" dirty="0"/>
              <a:t>be without any phenotypic </a:t>
            </a:r>
            <a:r>
              <a:rPr lang="en-US" sz="2400" dirty="0" smtClean="0"/>
              <a:t>consequence</a:t>
            </a:r>
          </a:p>
        </p:txBody>
      </p:sp>
    </p:spTree>
    <p:extLst>
      <p:ext uri="{BB962C8B-B14F-4D97-AF65-F5344CB8AC3E}">
        <p14:creationId xmlns:p14="http://schemas.microsoft.com/office/powerpoint/2010/main" val="306137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81000"/>
            <a:ext cx="5033963" cy="526065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54066" y="152400"/>
            <a:ext cx="36576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In UPD both chromosomes can be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identical (uniparental </a:t>
            </a:r>
            <a:r>
              <a:rPr lang="en-US" sz="2400" dirty="0" err="1" smtClean="0">
                <a:solidFill>
                  <a:srgbClr val="0070C0"/>
                </a:solidFill>
              </a:rPr>
              <a:t>isodisomy</a:t>
            </a:r>
            <a:r>
              <a:rPr lang="en-US" sz="2400" dirty="0" smtClean="0"/>
              <a:t>, UPID) reflecting meiosis II nondisjunction or mitotic error (including monosomy rescue)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different (uniparental </a:t>
            </a:r>
            <a:r>
              <a:rPr lang="en-US" sz="2400" dirty="0" err="1" smtClean="0">
                <a:solidFill>
                  <a:srgbClr val="0070C0"/>
                </a:solidFill>
              </a:rPr>
              <a:t>heterodisomy</a:t>
            </a:r>
            <a:r>
              <a:rPr lang="en-US" sz="2400" dirty="0" smtClean="0"/>
              <a:t>, UPHD) reflecting nondisjunction at meiosis I</a:t>
            </a:r>
          </a:p>
          <a:p>
            <a:endParaRPr lang="en-US" sz="2400" dirty="0"/>
          </a:p>
          <a:p>
            <a:r>
              <a:rPr lang="en-US" sz="2400" dirty="0" smtClean="0">
                <a:solidFill>
                  <a:srgbClr val="0070C0"/>
                </a:solidFill>
              </a:rPr>
              <a:t>Partial </a:t>
            </a:r>
            <a:r>
              <a:rPr lang="en-US" sz="2400" dirty="0" err="1" smtClean="0">
                <a:solidFill>
                  <a:srgbClr val="0070C0"/>
                </a:solidFill>
              </a:rPr>
              <a:t>heterodisomy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and </a:t>
            </a:r>
            <a:r>
              <a:rPr lang="en-US" sz="2400" dirty="0" smtClean="0">
                <a:solidFill>
                  <a:srgbClr val="0070C0"/>
                </a:solidFill>
              </a:rPr>
              <a:t>partial </a:t>
            </a:r>
            <a:r>
              <a:rPr lang="en-US" sz="2400" dirty="0" err="1" smtClean="0">
                <a:solidFill>
                  <a:srgbClr val="0070C0"/>
                </a:solidFill>
              </a:rPr>
              <a:t>isodisomy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can coexist for the same chromosome pair</a:t>
            </a:r>
          </a:p>
        </p:txBody>
      </p:sp>
    </p:spTree>
    <p:extLst>
      <p:ext uri="{BB962C8B-B14F-4D97-AF65-F5344CB8AC3E}">
        <p14:creationId xmlns:p14="http://schemas.microsoft.com/office/powerpoint/2010/main" val="84697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3741"/>
            <a:ext cx="4834890" cy="61464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62600" y="182451"/>
            <a:ext cx="3429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molecular picture of a child </a:t>
            </a:r>
            <a:r>
              <a:rPr lang="en-US" sz="2400" dirty="0" smtClean="0"/>
              <a:t>with paternal </a:t>
            </a:r>
            <a:r>
              <a:rPr lang="en-US" sz="2400" dirty="0"/>
              <a:t>uniparental </a:t>
            </a:r>
            <a:r>
              <a:rPr lang="en-US" sz="2400" dirty="0" err="1"/>
              <a:t>isodisomy</a:t>
            </a:r>
            <a:r>
              <a:rPr lang="en-US" sz="2400" dirty="0"/>
              <a:t> </a:t>
            </a:r>
            <a:r>
              <a:rPr lang="en-US" sz="2400" dirty="0" smtClean="0"/>
              <a:t>1</a:t>
            </a:r>
          </a:p>
          <a:p>
            <a:endParaRPr lang="en-US" sz="2400" dirty="0"/>
          </a:p>
          <a:p>
            <a:r>
              <a:rPr lang="en-US" sz="2400" dirty="0" smtClean="0"/>
              <a:t>Homozygosity for an abnormal </a:t>
            </a:r>
            <a:r>
              <a:rPr lang="en-US" sz="2400" i="1" dirty="0" smtClean="0"/>
              <a:t>TRKA</a:t>
            </a:r>
            <a:r>
              <a:rPr lang="en-US" sz="2400" dirty="0" smtClean="0"/>
              <a:t> allele was the cause of his having the recessive condition congenital insensitivity to pain, which had led to his ascertainment.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1905000" y="1752600"/>
            <a:ext cx="3048000" cy="2286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905000" y="2168950"/>
            <a:ext cx="3048000" cy="26945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939290" y="2626150"/>
            <a:ext cx="3048000" cy="49805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969770" y="3237066"/>
            <a:ext cx="3048000" cy="19193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939290" y="3637236"/>
            <a:ext cx="3048000" cy="401363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54530" y="4175852"/>
            <a:ext cx="3048000" cy="167548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946910" y="4650726"/>
            <a:ext cx="3048000" cy="53087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939290" y="5286410"/>
            <a:ext cx="3048000" cy="352389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934936" y="6095999"/>
            <a:ext cx="3048000" cy="189881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25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381000"/>
            <a:ext cx="886710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A core consideration in </a:t>
            </a:r>
            <a:r>
              <a:rPr lang="en-US" sz="2600" b="1" dirty="0" smtClean="0">
                <a:solidFill>
                  <a:srgbClr val="0070C0"/>
                </a:solidFill>
              </a:rPr>
              <a:t>epigenetics</a:t>
            </a:r>
            <a:r>
              <a:rPr lang="en-US" sz="2600" dirty="0" smtClean="0"/>
              <a:t> is that a </a:t>
            </a:r>
            <a:r>
              <a:rPr lang="en-US" sz="2600" dirty="0"/>
              <a:t>phenotype may </a:t>
            </a:r>
            <a:r>
              <a:rPr lang="en-US" sz="2600" dirty="0" smtClean="0"/>
              <a:t>differ </a:t>
            </a:r>
            <a:r>
              <a:rPr lang="en-US" sz="2600" dirty="0"/>
              <a:t>according to whether a </a:t>
            </a:r>
            <a:r>
              <a:rPr lang="en-US" sz="2600" dirty="0" smtClean="0"/>
              <a:t>DNA sequence </a:t>
            </a:r>
            <a:r>
              <a:rPr lang="en-US" sz="2600" dirty="0"/>
              <a:t>is active, or inactive, but the DNA </a:t>
            </a:r>
            <a:r>
              <a:rPr lang="en-US" sz="2600" dirty="0" smtClean="0"/>
              <a:t>sequence itself </a:t>
            </a:r>
            <a:r>
              <a:rPr lang="en-US" sz="2600" dirty="0"/>
              <a:t>remains </a:t>
            </a:r>
            <a:r>
              <a:rPr lang="en-US" sz="2600" dirty="0" smtClean="0"/>
              <a:t>unchanged</a:t>
            </a:r>
          </a:p>
          <a:p>
            <a:endParaRPr lang="en-US" sz="2600" dirty="0"/>
          </a:p>
          <a:p>
            <a:r>
              <a:rPr lang="en-US" sz="2600" b="1" dirty="0" smtClean="0">
                <a:solidFill>
                  <a:srgbClr val="0070C0"/>
                </a:solidFill>
              </a:rPr>
              <a:t>Imprinting</a:t>
            </a:r>
            <a:r>
              <a:rPr lang="en-US" sz="2600" dirty="0" smtClean="0"/>
              <a:t> </a:t>
            </a:r>
            <a:r>
              <a:rPr lang="en-US" sz="2600" dirty="0"/>
              <a:t>refers to </a:t>
            </a:r>
            <a:r>
              <a:rPr lang="en-US" sz="2600" dirty="0" err="1" smtClean="0"/>
              <a:t>nonactivity</a:t>
            </a:r>
            <a:r>
              <a:rPr lang="en-US" sz="2600" dirty="0" smtClean="0"/>
              <a:t>: an </a:t>
            </a:r>
            <a:r>
              <a:rPr lang="en-US" sz="2600" dirty="0"/>
              <a:t>imprinted chromosome segment </a:t>
            </a:r>
            <a:r>
              <a:rPr lang="en-US" sz="2600" dirty="0" smtClean="0"/>
              <a:t>is silenced</a:t>
            </a:r>
            <a:r>
              <a:rPr lang="en-US" sz="2600" dirty="0"/>
              <a:t>, while the </a:t>
            </a:r>
            <a:r>
              <a:rPr lang="en-US" sz="2600" dirty="0" err="1"/>
              <a:t>nonimprinted</a:t>
            </a:r>
            <a:r>
              <a:rPr lang="en-US" sz="2600" dirty="0"/>
              <a:t> </a:t>
            </a:r>
            <a:r>
              <a:rPr lang="en-US" sz="2600" dirty="0" smtClean="0"/>
              <a:t>chromosome segment </a:t>
            </a:r>
            <a:r>
              <a:rPr lang="en-US" sz="2600" dirty="0"/>
              <a:t>is the active </a:t>
            </a:r>
            <a:r>
              <a:rPr lang="en-US" sz="2600" dirty="0" smtClean="0"/>
              <a:t>one depending on the “parent of origin”</a:t>
            </a:r>
          </a:p>
          <a:p>
            <a:endParaRPr lang="en-US" sz="2600" dirty="0"/>
          </a:p>
          <a:p>
            <a:r>
              <a:rPr lang="en-US" sz="2600" dirty="0" err="1"/>
              <a:t>I</a:t>
            </a:r>
            <a:r>
              <a:rPr lang="en-US" sz="2600" dirty="0" err="1" smtClean="0"/>
              <a:t>mprintable</a:t>
            </a:r>
            <a:r>
              <a:rPr lang="en-US" sz="2600" dirty="0" smtClean="0"/>
              <a:t> segments (or loci) function monoallelically</a:t>
            </a:r>
          </a:p>
          <a:p>
            <a:endParaRPr lang="en-US" sz="2600" dirty="0"/>
          </a:p>
          <a:p>
            <a:r>
              <a:rPr lang="en-US" sz="2600" dirty="0" smtClean="0"/>
              <a:t>If </a:t>
            </a:r>
            <a:r>
              <a:rPr lang="en-US" sz="2600" dirty="0"/>
              <a:t>both segments originate from one </a:t>
            </a:r>
            <a:r>
              <a:rPr lang="en-US" sz="2600" dirty="0" smtClean="0"/>
              <a:t>parent, there </a:t>
            </a:r>
            <a:r>
              <a:rPr lang="en-US" sz="2600" dirty="0"/>
              <a:t>will be </a:t>
            </a:r>
            <a:r>
              <a:rPr lang="en-US" sz="2600" dirty="0" smtClean="0"/>
              <a:t>either: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smtClean="0"/>
              <a:t>double </a:t>
            </a:r>
            <a:r>
              <a:rPr lang="en-US" sz="2600" dirty="0"/>
              <a:t>the amount (</a:t>
            </a:r>
            <a:r>
              <a:rPr lang="en-US" sz="2600" dirty="0" err="1"/>
              <a:t>biallelic</a:t>
            </a:r>
            <a:r>
              <a:rPr lang="en-US" sz="2600" dirty="0"/>
              <a:t>) </a:t>
            </a:r>
            <a:r>
              <a:rPr lang="en-US" sz="2600" dirty="0" smtClean="0"/>
              <a:t>of expression</a:t>
            </a:r>
            <a:r>
              <a:rPr lang="en-US" sz="2600" dirty="0"/>
              <a:t>, or </a:t>
            </a:r>
            <a:endParaRPr lang="en-US" sz="26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600" dirty="0" smtClean="0"/>
              <a:t>no </a:t>
            </a:r>
            <a:r>
              <a:rPr lang="en-US" sz="2600" dirty="0"/>
              <a:t>(</a:t>
            </a:r>
            <a:r>
              <a:rPr lang="en-US" sz="2600" dirty="0" err="1"/>
              <a:t>nulliallelic</a:t>
            </a:r>
            <a:r>
              <a:rPr lang="en-US" sz="2600" dirty="0"/>
              <a:t>) </a:t>
            </a:r>
            <a:r>
              <a:rPr lang="en-US" sz="2600" dirty="0" smtClean="0"/>
              <a:t>expression</a:t>
            </a:r>
          </a:p>
          <a:p>
            <a:r>
              <a:rPr lang="en-US" sz="2600" dirty="0" smtClean="0"/>
              <a:t>» the </a:t>
            </a:r>
            <a:r>
              <a:rPr lang="en-US" sz="2600" dirty="0"/>
              <a:t>root cause of </a:t>
            </a:r>
            <a:r>
              <a:rPr lang="en-US" sz="2600" dirty="0" smtClean="0"/>
              <a:t>the phenotypic effect </a:t>
            </a:r>
            <a:r>
              <a:rPr lang="en-US" sz="2600" dirty="0"/>
              <a:t>in the UPD </a:t>
            </a:r>
            <a:r>
              <a:rPr lang="en-US" sz="2600" dirty="0" smtClean="0"/>
              <a:t>syndromes </a:t>
            </a:r>
          </a:p>
        </p:txBody>
      </p:sp>
    </p:spTree>
    <p:extLst>
      <p:ext uri="{BB962C8B-B14F-4D97-AF65-F5344CB8AC3E}">
        <p14:creationId xmlns:p14="http://schemas.microsoft.com/office/powerpoint/2010/main" val="217749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0"/>
            <a:ext cx="8751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If </a:t>
            </a:r>
            <a:r>
              <a:rPr lang="en-US" sz="3000" dirty="0"/>
              <a:t>a </a:t>
            </a:r>
            <a:r>
              <a:rPr lang="en-US" sz="3000" dirty="0" smtClean="0"/>
              <a:t>chromosome is </a:t>
            </a:r>
            <a:r>
              <a:rPr lang="en-US" sz="3000" dirty="0"/>
              <a:t>not subject to imprinting, </a:t>
            </a:r>
            <a:r>
              <a:rPr lang="en-US" sz="3000" b="1" dirty="0"/>
              <a:t>UPD does </a:t>
            </a:r>
            <a:r>
              <a:rPr lang="en-US" sz="3000" b="1" dirty="0" smtClean="0"/>
              <a:t>not of </a:t>
            </a:r>
            <a:r>
              <a:rPr lang="en-US" sz="3000" b="1" dirty="0"/>
              <a:t>itself cause </a:t>
            </a:r>
            <a:r>
              <a:rPr lang="en-US" sz="3000" b="1" dirty="0" smtClean="0"/>
              <a:t>abnormality</a:t>
            </a:r>
            <a:r>
              <a:rPr lang="en-US" sz="3000" dirty="0" smtClean="0"/>
              <a:t>, unless UPID leads to homozygosity for a </a:t>
            </a:r>
            <a:r>
              <a:rPr lang="en-US" sz="3000" dirty="0"/>
              <a:t>recessive mutation (“</a:t>
            </a:r>
            <a:r>
              <a:rPr lang="en-US" sz="3000" dirty="0" err="1"/>
              <a:t>isozygosity</a:t>
            </a:r>
            <a:r>
              <a:rPr lang="en-US" sz="3000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37212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774811" cy="53286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2400" y="5625112"/>
            <a:ext cx="8915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ea typeface="Times New Roman" panose="02020603050405020304" pitchFamily="18" charset="0"/>
              </a:rPr>
              <a:t>Figure 18–2 </a:t>
            </a:r>
            <a:r>
              <a:rPr lang="en-US" sz="2400" dirty="0">
                <a:ea typeface="Times New Roman" panose="02020603050405020304" pitchFamily="18" charset="0"/>
              </a:rPr>
              <a:t>A display of autosomal segments subject to an imprinting effect, from a cohort of 57 cases of UPD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9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4" t="43481" r="14342" b="24094"/>
          <a:stretch/>
        </p:blipFill>
        <p:spPr bwMode="auto">
          <a:xfrm>
            <a:off x="304800" y="228600"/>
            <a:ext cx="8335617" cy="2371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8600" y="3105835"/>
            <a:ext cx="8763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Four mechanisms whereby complete uniparental disomy (UPD) may be generated</a:t>
            </a:r>
          </a:p>
          <a:p>
            <a:endParaRPr lang="en-US" sz="2400" dirty="0" smtClean="0"/>
          </a:p>
          <a:p>
            <a:r>
              <a:rPr lang="en-US" sz="2400" dirty="0" smtClean="0"/>
              <a:t>a) </a:t>
            </a:r>
            <a:r>
              <a:rPr lang="en-US" sz="2400" dirty="0" err="1" smtClean="0"/>
              <a:t>Gametic</a:t>
            </a:r>
            <a:r>
              <a:rPr lang="en-US" sz="2400" dirty="0" smtClean="0"/>
              <a:t> complementation</a:t>
            </a:r>
            <a:r>
              <a:rPr lang="en-US" sz="2400" dirty="0"/>
              <a:t>, with one parent producing a disomic gamete, and the other a </a:t>
            </a:r>
            <a:r>
              <a:rPr lang="en-US" sz="2400" dirty="0" err="1"/>
              <a:t>nullisomic</a:t>
            </a:r>
            <a:r>
              <a:rPr lang="en-US" sz="2400" dirty="0"/>
              <a:t> </a:t>
            </a:r>
            <a:r>
              <a:rPr lang="en-US" sz="2400" dirty="0" smtClean="0"/>
              <a:t>gamete</a:t>
            </a:r>
          </a:p>
          <a:p>
            <a:endParaRPr lang="en-US" sz="2400" dirty="0"/>
          </a:p>
          <a:p>
            <a:r>
              <a:rPr lang="en-US" sz="2400" dirty="0" smtClean="0">
                <a:solidFill>
                  <a:srgbClr val="0070C0"/>
                </a:solidFill>
              </a:rPr>
              <a:t>More of a theoretical route than a practical one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8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5" t="30106" r="14240" b="14312"/>
          <a:stretch/>
        </p:blipFill>
        <p:spPr bwMode="auto">
          <a:xfrm>
            <a:off x="367048" y="73261"/>
            <a:ext cx="8401878" cy="4065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67048" y="4267200"/>
            <a:ext cx="86245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b) Meiotic nondisjunction in one parent to produce a disomic gamete, with a </a:t>
            </a:r>
            <a:r>
              <a:rPr lang="en-US" sz="2400" dirty="0" err="1" smtClean="0"/>
              <a:t>trisomic</a:t>
            </a:r>
            <a:r>
              <a:rPr lang="en-US" sz="2400" dirty="0" smtClean="0"/>
              <a:t> conceptus following fertilization, and subsequent mitotic loss of the homolog from the other parent</a:t>
            </a:r>
          </a:p>
          <a:p>
            <a:endParaRPr lang="en-US" sz="2400" dirty="0"/>
          </a:p>
          <a:p>
            <a:r>
              <a:rPr lang="en-US" sz="2400" dirty="0" smtClean="0">
                <a:solidFill>
                  <a:srgbClr val="0070C0"/>
                </a:solidFill>
              </a:rPr>
              <a:t>Most UPDs follows this mechanism 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88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8" t="27113" r="13833" b="18478"/>
          <a:stretch/>
        </p:blipFill>
        <p:spPr bwMode="auto">
          <a:xfrm>
            <a:off x="296214" y="152400"/>
            <a:ext cx="8507896" cy="398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6214" y="4267200"/>
            <a:ext cx="8507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Meiotic nondisjunction in one parent to produce a </a:t>
            </a:r>
            <a:r>
              <a:rPr lang="en-US" sz="2400" dirty="0" err="1" smtClean="0"/>
              <a:t>nullisomic</a:t>
            </a:r>
            <a:r>
              <a:rPr lang="en-US" sz="2400" dirty="0" smtClean="0"/>
              <a:t> gamete, with </a:t>
            </a:r>
            <a:r>
              <a:rPr lang="en-US" sz="2400" dirty="0" err="1" smtClean="0"/>
              <a:t>monosomic</a:t>
            </a:r>
            <a:r>
              <a:rPr lang="en-US" sz="2400" dirty="0" smtClean="0"/>
              <a:t> conceptus following fertilization, and subsequent mitotic reduplication of the homolog from the other parent. This is uniparental </a:t>
            </a:r>
            <a:r>
              <a:rPr lang="en-US" sz="2400" b="1" dirty="0" err="1" smtClean="0"/>
              <a:t>isodisomy</a:t>
            </a:r>
            <a:r>
              <a:rPr lang="en-US" sz="2400" dirty="0" smtClean="0"/>
              <a:t>, from the parent who had contributed the normal gamete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01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5" t="22888" r="13833" b="20652"/>
          <a:stretch/>
        </p:blipFill>
        <p:spPr bwMode="auto">
          <a:xfrm>
            <a:off x="452907" y="0"/>
            <a:ext cx="8454887" cy="4130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685800" y="4571999"/>
            <a:ext cx="77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Two sequential mitotic errors. Resulting UPD </a:t>
            </a:r>
            <a:r>
              <a:rPr lang="en-US" sz="2400" dirty="0"/>
              <a:t>is </a:t>
            </a:r>
            <a:r>
              <a:rPr lang="en-US" sz="2400" dirty="0" err="1"/>
              <a:t>isodisomic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5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12</a:t>
            </a:fld>
            <a:endParaRPr lang="en-US"/>
          </a:p>
        </p:txBody>
      </p:sp>
      <p:pic>
        <p:nvPicPr>
          <p:cNvPr id="4" name="image230.jpeg"/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1795463" y="-669915"/>
            <a:ext cx="5446395" cy="7208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5707915"/>
            <a:ext cx="876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FIGURE 18–4 The several routes by which UPD may arise, and the observations on SNP array that may inform interpretation.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469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 descr="Fig. 4. Uniparental disomy resulting from meiotic errors. Columns AâE each represent 1 type f meiotic error, including (A) trisomy resulting from a meiosis I error without recombination nd (B) with recombination, (C) a meiosis II error without recombination and (D) with ecombination, and (E) a monosomy rescue resulting from either meiosis I or II error. Rows â3 model the chromosome involved in the uniparental disomy cells through various stages f development. Row 4 shows a theoretical allele plot for each of these scenarios as plotte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6"/>
          <a:stretch/>
        </p:blipFill>
        <p:spPr bwMode="auto">
          <a:xfrm rot="5400000">
            <a:off x="1213433" y="-1025344"/>
            <a:ext cx="6722364" cy="884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45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14</a:t>
            </a:fld>
            <a:endParaRPr 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2" t="19322" r="22879" b="15185"/>
          <a:stretch/>
        </p:blipFill>
        <p:spPr bwMode="auto">
          <a:xfrm>
            <a:off x="647164" y="19594"/>
            <a:ext cx="7225048" cy="4790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4876800"/>
            <a:ext cx="807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Segmental Uniparental Disomy</a:t>
            </a:r>
          </a:p>
          <a:p>
            <a:r>
              <a:rPr lang="en-US" sz="2400" dirty="0" smtClean="0"/>
              <a:t>Segmental UPD may arise as the consequence of a </a:t>
            </a:r>
            <a:r>
              <a:rPr lang="en-US" sz="2400" b="1" dirty="0" smtClean="0">
                <a:solidFill>
                  <a:srgbClr val="0070C0"/>
                </a:solidFill>
              </a:rPr>
              <a:t>postzygotic somatic recombination</a:t>
            </a:r>
            <a:r>
              <a:rPr lang="en-US" sz="2400" dirty="0" smtClean="0"/>
              <a:t>, between the maternal and paternal homolog, and in that case it will necessarily be an </a:t>
            </a:r>
            <a:r>
              <a:rPr lang="en-US" sz="2400" dirty="0" err="1" smtClean="0"/>
              <a:t>isodisomy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888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88201"/>
            <a:ext cx="8839200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Aberrant imprinting in a biparental setting</a:t>
            </a:r>
          </a:p>
          <a:p>
            <a:endParaRPr lang="en-US" sz="2400" dirty="0" smtClean="0"/>
          </a:p>
          <a:p>
            <a:r>
              <a:rPr lang="en-US" sz="2500" dirty="0"/>
              <a:t>Differential methylation at a particular imprinted locus can be due </a:t>
            </a:r>
            <a:r>
              <a:rPr lang="en-US" sz="2500" dirty="0" smtClean="0"/>
              <a:t>to:</a:t>
            </a:r>
          </a:p>
          <a:p>
            <a:pPr marL="457200" indent="-457200">
              <a:buAutoNum type="arabicParenBoth"/>
            </a:pPr>
            <a:r>
              <a:rPr lang="en-US" sz="2500" dirty="0" smtClean="0"/>
              <a:t>loss </a:t>
            </a:r>
            <a:r>
              <a:rPr lang="en-US" sz="2500" dirty="0"/>
              <a:t>of imprinting, leading to expression from both </a:t>
            </a:r>
            <a:r>
              <a:rPr lang="en-US" sz="2500" dirty="0" smtClean="0"/>
              <a:t>alleles</a:t>
            </a:r>
          </a:p>
          <a:p>
            <a:pPr marL="457200" indent="-457200">
              <a:buAutoNum type="arabicParenBoth"/>
            </a:pPr>
            <a:r>
              <a:rPr lang="en-US" sz="2500" dirty="0" smtClean="0"/>
              <a:t>gain </a:t>
            </a:r>
            <a:r>
              <a:rPr lang="en-US" sz="2500" dirty="0"/>
              <a:t>of imprinting, leading to loss of </a:t>
            </a:r>
            <a:r>
              <a:rPr lang="en-US" sz="2500" dirty="0" smtClean="0"/>
              <a:t>expression</a:t>
            </a:r>
          </a:p>
          <a:p>
            <a:pPr marL="457200" indent="-457200">
              <a:buAutoNum type="arabicParenBoth"/>
            </a:pPr>
            <a:endParaRPr lang="en-US" sz="2500" dirty="0"/>
          </a:p>
          <a:p>
            <a:r>
              <a:rPr lang="en-US" sz="2500" dirty="0" smtClean="0"/>
              <a:t>Some BWS with normal biparental inheritance show biallelic expression of two imprinted genes. Overexpression of genes contribute to the overgrowth that is characteristic of the syndrome</a:t>
            </a:r>
          </a:p>
          <a:p>
            <a:endParaRPr lang="en-US" sz="2500" dirty="0"/>
          </a:p>
          <a:p>
            <a:r>
              <a:rPr lang="en-US" sz="2500" dirty="0" smtClean="0"/>
              <a:t>One cause </a:t>
            </a:r>
            <a:r>
              <a:rPr lang="en-US" sz="2500" dirty="0"/>
              <a:t>of aberrant imprinting may relate to pregnancy following assisted reproductive technology; aspects of the process of </a:t>
            </a:r>
            <a:r>
              <a:rPr lang="en-US" sz="2500" dirty="0">
                <a:solidFill>
                  <a:srgbClr val="0070C0"/>
                </a:solidFill>
              </a:rPr>
              <a:t>artificial ovulation stimulation</a:t>
            </a:r>
            <a:r>
              <a:rPr lang="en-US" sz="2500" dirty="0"/>
              <a:t>, or of the </a:t>
            </a:r>
            <a:r>
              <a:rPr lang="en-US" sz="2500" dirty="0">
                <a:solidFill>
                  <a:srgbClr val="0070C0"/>
                </a:solidFill>
              </a:rPr>
              <a:t>embryo’s environment in vitro</a:t>
            </a:r>
            <a:r>
              <a:rPr lang="en-US" sz="2500" dirty="0"/>
              <a:t>, may disturb DNA methylation </a:t>
            </a:r>
          </a:p>
        </p:txBody>
      </p:sp>
    </p:spTree>
    <p:extLst>
      <p:ext uri="{BB962C8B-B14F-4D97-AF65-F5344CB8AC3E}">
        <p14:creationId xmlns:p14="http://schemas.microsoft.com/office/powerpoint/2010/main" val="211746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52400"/>
            <a:ext cx="89154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Uniparental disomy phenotypes</a:t>
            </a:r>
          </a:p>
          <a:p>
            <a:endParaRPr lang="en-US" sz="2400" dirty="0"/>
          </a:p>
          <a:p>
            <a:r>
              <a:rPr lang="en-US" sz="2400" dirty="0" smtClean="0"/>
              <a:t>UPD for any chromosome is estimated to be 1 in 2,800 births and has been observed for every chromosome</a:t>
            </a:r>
          </a:p>
          <a:p>
            <a:endParaRPr lang="en-US" sz="2400" dirty="0"/>
          </a:p>
          <a:p>
            <a:r>
              <a:rPr lang="en-US" sz="2400" dirty="0" smtClean="0"/>
              <a:t>For most chromosomes, there is no apparent phenotypic consequence</a:t>
            </a:r>
          </a:p>
          <a:p>
            <a:endParaRPr lang="en-US" sz="2400" dirty="0"/>
          </a:p>
          <a:p>
            <a:r>
              <a:rPr lang="en-US" sz="2400" dirty="0" smtClean="0"/>
              <a:t>UPDs of chromosomes 6,7,11,14,15, 20 result in clinical phenotypic abnormalities</a:t>
            </a:r>
          </a:p>
          <a:p>
            <a:endParaRPr lang="en-US" sz="2400" dirty="0"/>
          </a:p>
          <a:p>
            <a:r>
              <a:rPr lang="en-US" sz="2400" dirty="0" smtClean="0"/>
              <a:t>Undetected </a:t>
            </a:r>
            <a:r>
              <a:rPr lang="en-US" sz="2400" dirty="0"/>
              <a:t>residual trisomy might contribute to a phenotype, when the UPD mechanism has been trisomy </a:t>
            </a:r>
            <a:r>
              <a:rPr lang="en-US" sz="2400" dirty="0" smtClean="0"/>
              <a:t>correction</a:t>
            </a:r>
          </a:p>
          <a:p>
            <a:endParaRPr lang="en-US" sz="2400" dirty="0"/>
          </a:p>
          <a:p>
            <a:r>
              <a:rPr lang="en-US" sz="2400" dirty="0" smtClean="0">
                <a:solidFill>
                  <a:srgbClr val="0070C0"/>
                </a:solidFill>
              </a:rPr>
              <a:t>Imprinted </a:t>
            </a:r>
            <a:r>
              <a:rPr lang="en-US" sz="2400" dirty="0">
                <a:solidFill>
                  <a:srgbClr val="0070C0"/>
                </a:solidFill>
              </a:rPr>
              <a:t>loci are predicted to be present on all </a:t>
            </a:r>
            <a:r>
              <a:rPr lang="en-US" sz="2400" dirty="0" smtClean="0">
                <a:solidFill>
                  <a:srgbClr val="0070C0"/>
                </a:solidFill>
              </a:rPr>
              <a:t>chromosomes</a:t>
            </a:r>
          </a:p>
          <a:p>
            <a:r>
              <a:rPr lang="en-US" sz="2400" dirty="0" smtClean="0"/>
              <a:t>It remains </a:t>
            </a:r>
            <a:r>
              <a:rPr lang="en-US" sz="2400" dirty="0"/>
              <a:t>possible that more subtle and/or later-onset phenotypes, such as effects on behavior and intelligence, a risk for cancer, and other complex disease predisposition, may have </a:t>
            </a:r>
            <a:r>
              <a:rPr lang="en-US" sz="2400" dirty="0" smtClean="0"/>
              <a:t>escaped </a:t>
            </a:r>
            <a:r>
              <a:rPr lang="en-US" sz="2400" dirty="0"/>
              <a:t>notice</a:t>
            </a:r>
          </a:p>
        </p:txBody>
      </p:sp>
    </p:spTree>
    <p:extLst>
      <p:ext uri="{BB962C8B-B14F-4D97-AF65-F5344CB8AC3E}">
        <p14:creationId xmlns:p14="http://schemas.microsoft.com/office/powerpoint/2010/main" val="159129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52400"/>
            <a:ext cx="88392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Chromosome 6</a:t>
            </a:r>
          </a:p>
          <a:p>
            <a:endParaRPr lang="en-US" sz="1000" dirty="0"/>
          </a:p>
          <a:p>
            <a:r>
              <a:rPr lang="en-US" sz="2400" dirty="0" smtClean="0">
                <a:solidFill>
                  <a:srgbClr val="0070C0"/>
                </a:solidFill>
              </a:rPr>
              <a:t>Transient neonatal diabetes mellitus </a:t>
            </a:r>
            <a:r>
              <a:rPr lang="en-US" sz="2400" dirty="0" smtClean="0"/>
              <a:t>(TNDM), a hyperglycemia requiring treatment with insulin, with gradual resolution to normal glucose within few months.</a:t>
            </a:r>
          </a:p>
          <a:p>
            <a:endParaRPr lang="en-US" sz="1000" dirty="0"/>
          </a:p>
          <a:p>
            <a:r>
              <a:rPr lang="en-US" sz="2400" dirty="0"/>
              <a:t>The three reported mechanisms, occurring in approximately equal proportions, </a:t>
            </a:r>
            <a:r>
              <a:rPr lang="en-US" sz="2400" dirty="0" smtClean="0"/>
              <a:t>are</a:t>
            </a:r>
            <a:r>
              <a:rPr lang="ar-JO" sz="24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70C0"/>
                </a:solidFill>
              </a:rPr>
              <a:t>UPD6pat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70C0"/>
                </a:solidFill>
              </a:rPr>
              <a:t>Maternal </a:t>
            </a:r>
            <a:r>
              <a:rPr lang="en-US" sz="2400" dirty="0" err="1">
                <a:solidFill>
                  <a:srgbClr val="0070C0"/>
                </a:solidFill>
              </a:rPr>
              <a:t>hypomethylation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of the differentially methylated region (DMR) at </a:t>
            </a:r>
            <a:r>
              <a:rPr lang="en-US" sz="2400" dirty="0" smtClean="0"/>
              <a:t>6q24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70C0"/>
                </a:solidFill>
              </a:rPr>
              <a:t>Paternally </a:t>
            </a:r>
            <a:r>
              <a:rPr lang="en-US" sz="2400" dirty="0">
                <a:solidFill>
                  <a:srgbClr val="0070C0"/>
                </a:solidFill>
              </a:rPr>
              <a:t>inherited duplication </a:t>
            </a:r>
            <a:r>
              <a:rPr lang="en-US" sz="2400" dirty="0"/>
              <a:t>of 6q24, this latter accounting for all familial </a:t>
            </a:r>
            <a:r>
              <a:rPr lang="en-US" sz="2400" dirty="0" smtClean="0"/>
              <a:t>cases</a:t>
            </a:r>
            <a:endParaRPr lang="ar-JO" sz="2400" dirty="0" smtClean="0"/>
          </a:p>
          <a:p>
            <a:endParaRPr lang="en-US" sz="1000" dirty="0"/>
          </a:p>
          <a:p>
            <a:r>
              <a:rPr lang="en-US" sz="2400" dirty="0" smtClean="0"/>
              <a:t>One report showed UPD6pat case without apparent effect</a:t>
            </a:r>
          </a:p>
          <a:p>
            <a:endParaRPr lang="en-US" sz="1000" dirty="0"/>
          </a:p>
          <a:p>
            <a:r>
              <a:rPr lang="en-US" sz="2400" dirty="0"/>
              <a:t>No consistent phenotype has been associated with </a:t>
            </a:r>
            <a:r>
              <a:rPr lang="en-US" sz="2400" dirty="0" err="1">
                <a:solidFill>
                  <a:srgbClr val="FF0000"/>
                </a:solidFill>
              </a:rPr>
              <a:t>upd</a:t>
            </a:r>
            <a:r>
              <a:rPr lang="en-US" sz="2400" dirty="0">
                <a:solidFill>
                  <a:srgbClr val="FF0000"/>
                </a:solidFill>
              </a:rPr>
              <a:t>(6)mat</a:t>
            </a:r>
            <a:r>
              <a:rPr lang="en-US" sz="2400" dirty="0"/>
              <a:t>, although intrauterine growth retardation has been noted in about half of reported cases</a:t>
            </a:r>
          </a:p>
        </p:txBody>
      </p:sp>
    </p:spTree>
    <p:extLst>
      <p:ext uri="{BB962C8B-B14F-4D97-AF65-F5344CB8AC3E}">
        <p14:creationId xmlns:p14="http://schemas.microsoft.com/office/powerpoint/2010/main" val="1055459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87630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Chromosome 7</a:t>
            </a:r>
          </a:p>
          <a:p>
            <a:endParaRPr lang="en-US" sz="2000" dirty="0" smtClean="0"/>
          </a:p>
          <a:p>
            <a:r>
              <a:rPr lang="en-US" sz="2600" dirty="0" smtClean="0">
                <a:solidFill>
                  <a:srgbClr val="0070C0"/>
                </a:solidFill>
              </a:rPr>
              <a:t>Silver-Russell syndrome </a:t>
            </a:r>
            <a:r>
              <a:rPr lang="en-US" sz="2600" dirty="0" smtClean="0"/>
              <a:t>(</a:t>
            </a:r>
            <a:r>
              <a:rPr lang="en-US" sz="2600" b="1" dirty="0" smtClean="0"/>
              <a:t>SRS</a:t>
            </a:r>
            <a:r>
              <a:rPr lang="en-US" sz="2600" dirty="0" smtClean="0"/>
              <a:t>), intra-uterine and postnatal growth retardation, often associated with limb asymmetry</a:t>
            </a:r>
          </a:p>
          <a:p>
            <a:endParaRPr lang="en-US" sz="2000" dirty="0"/>
          </a:p>
          <a:p>
            <a:r>
              <a:rPr lang="en-US" sz="2600" dirty="0"/>
              <a:t>~</a:t>
            </a:r>
            <a:r>
              <a:rPr lang="en-US" sz="2600" dirty="0" smtClean="0"/>
              <a:t>10% of SRS are due to </a:t>
            </a:r>
            <a:r>
              <a:rPr lang="en-US" sz="2600" dirty="0" smtClean="0">
                <a:solidFill>
                  <a:srgbClr val="FF0000"/>
                </a:solidFill>
              </a:rPr>
              <a:t>maternal UPD7 </a:t>
            </a:r>
            <a:r>
              <a:rPr lang="en-US" sz="2600" dirty="0" smtClean="0"/>
              <a:t>(other causes include chromosome 11 abnormalities)</a:t>
            </a:r>
          </a:p>
          <a:p>
            <a:endParaRPr lang="en-US" sz="2000" dirty="0" smtClean="0"/>
          </a:p>
          <a:p>
            <a:r>
              <a:rPr lang="en-US" sz="2600" dirty="0"/>
              <a:t>SRS due to UPD7mat presents with more speech and language difficulty, but less incidence of congenital </a:t>
            </a:r>
            <a:r>
              <a:rPr lang="en-US" sz="2600" dirty="0" smtClean="0"/>
              <a:t>abnormality</a:t>
            </a:r>
          </a:p>
          <a:p>
            <a:endParaRPr lang="en-US" sz="2000" dirty="0"/>
          </a:p>
          <a:p>
            <a:r>
              <a:rPr lang="en-US" sz="2600" dirty="0" smtClean="0"/>
              <a:t>The </a:t>
            </a:r>
            <a:r>
              <a:rPr lang="en-US" sz="2600" dirty="0"/>
              <a:t>specific loci responsible for </a:t>
            </a:r>
            <a:r>
              <a:rPr lang="en-US" sz="2600" dirty="0" smtClean="0"/>
              <a:t>UPD7 </a:t>
            </a:r>
            <a:r>
              <a:rPr lang="en-US" sz="2600" dirty="0"/>
              <a:t>imprinting have not been identified</a:t>
            </a:r>
          </a:p>
          <a:p>
            <a:endParaRPr lang="en-US" sz="2000" dirty="0"/>
          </a:p>
          <a:p>
            <a:r>
              <a:rPr lang="en-US" sz="2600" dirty="0" smtClean="0"/>
              <a:t>No phenotype appears to be associated </a:t>
            </a:r>
            <a:r>
              <a:rPr lang="en-US" sz="2600" dirty="0"/>
              <a:t>with </a:t>
            </a:r>
            <a:r>
              <a:rPr lang="en-US" sz="2600" dirty="0">
                <a:solidFill>
                  <a:srgbClr val="0070C0"/>
                </a:solidFill>
              </a:rPr>
              <a:t>paternal </a:t>
            </a:r>
            <a:r>
              <a:rPr lang="en-US" sz="2600" dirty="0" smtClean="0">
                <a:solidFill>
                  <a:srgbClr val="0070C0"/>
                </a:solidFill>
              </a:rPr>
              <a:t>UPD7</a:t>
            </a:r>
            <a:endParaRPr lang="en-US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594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8763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Chromosome 11</a:t>
            </a:r>
          </a:p>
          <a:p>
            <a:endParaRPr lang="en-US" sz="2800" dirty="0"/>
          </a:p>
          <a:p>
            <a:r>
              <a:rPr lang="en-US" sz="2800" dirty="0" smtClean="0"/>
              <a:t>There are growth regulation loci in 11p15 that are expressed monoallelically, according to parent of origin</a:t>
            </a:r>
          </a:p>
          <a:p>
            <a:endParaRPr lang="en-US" sz="2400" dirty="0"/>
          </a:p>
          <a:p>
            <a:r>
              <a:rPr lang="en-US" sz="2600" dirty="0" smtClean="0">
                <a:solidFill>
                  <a:srgbClr val="0070C0"/>
                </a:solidFill>
              </a:rPr>
              <a:t>Paternally</a:t>
            </a:r>
            <a:r>
              <a:rPr lang="en-US" sz="2600" dirty="0" smtClean="0"/>
              <a:t> expressed genes:   </a:t>
            </a:r>
            <a:r>
              <a:rPr lang="en-US" sz="2600" i="1" dirty="0" smtClean="0">
                <a:solidFill>
                  <a:srgbClr val="0070C0"/>
                </a:solidFill>
              </a:rPr>
              <a:t>IGF2</a:t>
            </a:r>
            <a:r>
              <a:rPr lang="en-US" sz="2600" dirty="0" smtClean="0"/>
              <a:t> 	&amp;	</a:t>
            </a:r>
            <a:r>
              <a:rPr lang="en-US" sz="2600" i="1" dirty="0" smtClean="0">
                <a:solidFill>
                  <a:srgbClr val="0070C0"/>
                </a:solidFill>
              </a:rPr>
              <a:t>KCNQ1OT1</a:t>
            </a:r>
          </a:p>
          <a:p>
            <a:r>
              <a:rPr lang="en-US" sz="2600" dirty="0" smtClean="0">
                <a:solidFill>
                  <a:srgbClr val="FF0000"/>
                </a:solidFill>
              </a:rPr>
              <a:t>Maternally</a:t>
            </a:r>
            <a:r>
              <a:rPr lang="en-US" sz="2600" dirty="0" smtClean="0"/>
              <a:t> expressed genes: </a:t>
            </a:r>
            <a:r>
              <a:rPr lang="en-US" sz="2600" i="1" dirty="0" smtClean="0">
                <a:solidFill>
                  <a:srgbClr val="FF0000"/>
                </a:solidFill>
              </a:rPr>
              <a:t>H19  	</a:t>
            </a:r>
            <a:r>
              <a:rPr lang="en-US" sz="2600" dirty="0" smtClean="0"/>
              <a:t>&amp;	</a:t>
            </a:r>
            <a:r>
              <a:rPr lang="en-US" sz="2600" i="1" dirty="0" smtClean="0">
                <a:solidFill>
                  <a:srgbClr val="FF0000"/>
                </a:solidFill>
              </a:rPr>
              <a:t>CDKN1C</a:t>
            </a:r>
          </a:p>
          <a:p>
            <a:r>
              <a:rPr lang="en-US" sz="2600" i="1" dirty="0">
                <a:solidFill>
                  <a:srgbClr val="FF0000"/>
                </a:solidFill>
              </a:rPr>
              <a:t>	</a:t>
            </a:r>
            <a:r>
              <a:rPr lang="en-US" sz="2600" i="1" dirty="0" smtClean="0">
                <a:solidFill>
                  <a:srgbClr val="FF0000"/>
                </a:solidFill>
              </a:rPr>
              <a:t>			</a:t>
            </a:r>
            <a:r>
              <a:rPr lang="en-US" sz="2600" i="1" dirty="0">
                <a:solidFill>
                  <a:srgbClr val="FF0000"/>
                </a:solidFill>
              </a:rPr>
              <a:t> </a:t>
            </a:r>
            <a:r>
              <a:rPr lang="en-US" sz="2600" i="1" dirty="0" smtClean="0">
                <a:solidFill>
                  <a:srgbClr val="FF0000"/>
                </a:solidFill>
              </a:rPr>
              <a:t> </a:t>
            </a:r>
            <a:r>
              <a:rPr lang="en-US" sz="2600" dirty="0" smtClean="0">
                <a:solidFill>
                  <a:srgbClr val="00B050"/>
                </a:solidFill>
              </a:rPr>
              <a:t>DMR1</a:t>
            </a:r>
            <a:r>
              <a:rPr lang="en-US" sz="2600" i="1" dirty="0" smtClean="0">
                <a:solidFill>
                  <a:srgbClr val="00B050"/>
                </a:solidFill>
              </a:rPr>
              <a:t>		</a:t>
            </a:r>
            <a:r>
              <a:rPr lang="en-US" sz="2600" dirty="0" smtClean="0">
                <a:solidFill>
                  <a:srgbClr val="00B050"/>
                </a:solidFill>
              </a:rPr>
              <a:t>DMR2	</a:t>
            </a:r>
          </a:p>
          <a:p>
            <a:r>
              <a:rPr lang="en-US" sz="2600" dirty="0">
                <a:solidFill>
                  <a:srgbClr val="00B050"/>
                </a:solidFill>
              </a:rPr>
              <a:t>	</a:t>
            </a:r>
            <a:r>
              <a:rPr lang="en-US" sz="2600" dirty="0" smtClean="0">
                <a:solidFill>
                  <a:srgbClr val="00B050"/>
                </a:solidFill>
              </a:rPr>
              <a:t>						</a:t>
            </a:r>
            <a:r>
              <a:rPr lang="en-US" sz="1200" dirty="0" smtClean="0">
                <a:solidFill>
                  <a:srgbClr val="00B050"/>
                </a:solidFill>
              </a:rPr>
              <a:t>(differentially methylated region)</a:t>
            </a:r>
          </a:p>
          <a:p>
            <a:endParaRPr lang="en-US" sz="2400" dirty="0" smtClean="0"/>
          </a:p>
          <a:p>
            <a:r>
              <a:rPr lang="en-US" sz="2600" dirty="0" smtClean="0"/>
              <a:t>Beckwith-</a:t>
            </a:r>
            <a:r>
              <a:rPr lang="en-US" sz="2600" dirty="0" err="1" smtClean="0"/>
              <a:t>Wiedemann</a:t>
            </a:r>
            <a:r>
              <a:rPr lang="en-US" sz="2600" dirty="0" smtClean="0"/>
              <a:t> syndrome (</a:t>
            </a:r>
            <a:r>
              <a:rPr lang="en-US" sz="2600" b="1" dirty="0" smtClean="0"/>
              <a:t>BWS</a:t>
            </a:r>
            <a:r>
              <a:rPr lang="en-US" sz="2600" dirty="0" smtClean="0"/>
              <a:t>):	Overgrowth</a:t>
            </a:r>
          </a:p>
          <a:p>
            <a:r>
              <a:rPr lang="en-US" sz="2600" dirty="0" smtClean="0"/>
              <a:t>Silver-Russell syndrome (</a:t>
            </a:r>
            <a:r>
              <a:rPr lang="en-US" sz="2600" b="1" dirty="0" smtClean="0"/>
              <a:t>SRS</a:t>
            </a:r>
            <a:r>
              <a:rPr lang="en-US" sz="2600" dirty="0" smtClean="0"/>
              <a:t>):		Growth retardation</a:t>
            </a:r>
          </a:p>
          <a:p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4191000" y="2278518"/>
            <a:ext cx="685800" cy="845682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629400" y="2362200"/>
            <a:ext cx="1561563" cy="762000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228600"/>
            <a:ext cx="8915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20% of </a:t>
            </a:r>
            <a:r>
              <a:rPr lang="en-US" sz="2800" b="1" dirty="0"/>
              <a:t>BWS</a:t>
            </a:r>
            <a:r>
              <a:rPr lang="en-US" sz="2800" dirty="0"/>
              <a:t> due to mosaic segmental </a:t>
            </a:r>
            <a:r>
              <a:rPr lang="en-US" sz="2800" dirty="0" smtClean="0">
                <a:solidFill>
                  <a:srgbClr val="0070C0"/>
                </a:solidFill>
              </a:rPr>
              <a:t>UPD(11p)pat</a:t>
            </a:r>
          </a:p>
          <a:p>
            <a:endParaRPr lang="en-US" sz="2800" dirty="0"/>
          </a:p>
          <a:p>
            <a:r>
              <a:rPr lang="en-US" sz="2800" dirty="0"/>
              <a:t>That BWS patients with paternal UPD always show </a:t>
            </a:r>
            <a:r>
              <a:rPr lang="en-US" sz="2800" dirty="0" smtClean="0"/>
              <a:t>mosaicism </a:t>
            </a:r>
            <a:r>
              <a:rPr lang="en-US" sz="2800" dirty="0"/>
              <a:t>indicates a mitotic origin and suggests that </a:t>
            </a:r>
            <a:r>
              <a:rPr lang="en-US" sz="2800" dirty="0" err="1"/>
              <a:t>nonmosaic</a:t>
            </a:r>
            <a:r>
              <a:rPr lang="en-US" sz="2800" dirty="0"/>
              <a:t> paternal UPD 11 is an embryonic lethal</a:t>
            </a:r>
          </a:p>
          <a:p>
            <a:endParaRPr lang="en-US" sz="2800" dirty="0"/>
          </a:p>
          <a:p>
            <a:r>
              <a:rPr lang="en-US" sz="2800" dirty="0"/>
              <a:t>	</a:t>
            </a:r>
            <a:r>
              <a:rPr lang="en-US" sz="2800" i="1" dirty="0">
                <a:solidFill>
                  <a:srgbClr val="0070C0"/>
                </a:solidFill>
              </a:rPr>
              <a:t> IGF2</a:t>
            </a:r>
            <a:r>
              <a:rPr lang="en-US" sz="2800" dirty="0">
                <a:solidFill>
                  <a:prstClr val="black"/>
                </a:solidFill>
              </a:rPr>
              <a:t> &amp;	</a:t>
            </a:r>
            <a:r>
              <a:rPr lang="en-US" sz="2800" i="1" dirty="0">
                <a:solidFill>
                  <a:srgbClr val="0070C0"/>
                </a:solidFill>
              </a:rPr>
              <a:t>KCNQ1OT1 </a:t>
            </a:r>
            <a:r>
              <a:rPr lang="en-US" sz="2800" dirty="0"/>
              <a:t>expressed </a:t>
            </a:r>
            <a:r>
              <a:rPr lang="en-US" sz="2800" dirty="0" err="1"/>
              <a:t>biallelically</a:t>
            </a:r>
            <a:endParaRPr lang="en-US" sz="2800" dirty="0"/>
          </a:p>
          <a:p>
            <a:r>
              <a:rPr lang="en-US" sz="2800" dirty="0"/>
              <a:t>	</a:t>
            </a:r>
            <a:r>
              <a:rPr lang="en-US" sz="2800" i="1" dirty="0">
                <a:solidFill>
                  <a:srgbClr val="FF0000"/>
                </a:solidFill>
              </a:rPr>
              <a:t> H19  </a:t>
            </a:r>
            <a:r>
              <a:rPr lang="en-US" sz="2800" dirty="0"/>
              <a:t>&amp;	</a:t>
            </a:r>
            <a:r>
              <a:rPr lang="en-US" sz="2800" i="1" dirty="0" smtClean="0">
                <a:solidFill>
                  <a:srgbClr val="FF0000"/>
                </a:solidFill>
              </a:rPr>
              <a:t>CDKN1C      </a:t>
            </a:r>
            <a:r>
              <a:rPr lang="en-US" sz="2800" dirty="0"/>
              <a:t>silenced (</a:t>
            </a:r>
            <a:r>
              <a:rPr lang="en-US" sz="2800" dirty="0" err="1"/>
              <a:t>nulliallelic</a:t>
            </a:r>
            <a:r>
              <a:rPr lang="en-US" sz="2800" dirty="0" smtClean="0"/>
              <a:t>)</a:t>
            </a:r>
          </a:p>
          <a:p>
            <a:endParaRPr lang="en-US" sz="2800" dirty="0"/>
          </a:p>
          <a:p>
            <a:r>
              <a:rPr lang="en-US" sz="2800" dirty="0"/>
              <a:t>Epigenetic mechanisms exist due to other than UPD</a:t>
            </a:r>
          </a:p>
        </p:txBody>
      </p:sp>
    </p:spTree>
    <p:extLst>
      <p:ext uri="{BB962C8B-B14F-4D97-AF65-F5344CB8AC3E}">
        <p14:creationId xmlns:p14="http://schemas.microsoft.com/office/powerpoint/2010/main" val="1771741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3000"/>
            <a:ext cx="8831580" cy="42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53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228600"/>
            <a:ext cx="88087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SRS</a:t>
            </a:r>
            <a:r>
              <a:rPr lang="en-US" sz="2800" dirty="0" smtClean="0"/>
              <a:t> due to 11p anomaly can be considered the countertype to </a:t>
            </a:r>
            <a:r>
              <a:rPr lang="en-US" sz="2800" b="1" dirty="0" smtClean="0"/>
              <a:t>BWS</a:t>
            </a:r>
            <a:r>
              <a:rPr lang="en-US" sz="2800" dirty="0" smtClean="0"/>
              <a:t>, both clinically and at the molecular level</a:t>
            </a:r>
          </a:p>
          <a:p>
            <a:endParaRPr lang="en-US" sz="2800" dirty="0"/>
          </a:p>
          <a:p>
            <a:r>
              <a:rPr lang="en-US" sz="2800" dirty="0" smtClean="0"/>
              <a:t>In </a:t>
            </a:r>
            <a:r>
              <a:rPr lang="en-US" sz="2800" b="1" dirty="0" smtClean="0"/>
              <a:t>SRS</a:t>
            </a:r>
            <a:r>
              <a:rPr lang="en-US" sz="2800" dirty="0" smtClean="0"/>
              <a:t> due to </a:t>
            </a:r>
            <a:r>
              <a:rPr lang="en-US" sz="2800" dirty="0" smtClean="0">
                <a:solidFill>
                  <a:srgbClr val="FF0000"/>
                </a:solidFill>
              </a:rPr>
              <a:t>UPD(11p)mat</a:t>
            </a:r>
            <a:r>
              <a:rPr lang="en-US" sz="2800" dirty="0" smtClean="0"/>
              <a:t> or to 11p epimutation (hypomethylation of </a:t>
            </a:r>
            <a:r>
              <a:rPr lang="en-US" sz="2800" dirty="0" smtClean="0">
                <a:solidFill>
                  <a:srgbClr val="00B050"/>
                </a:solidFill>
              </a:rPr>
              <a:t>DMR1</a:t>
            </a:r>
            <a:r>
              <a:rPr lang="en-US" sz="2800" dirty="0" smtClean="0"/>
              <a:t>), the maternally active gene </a:t>
            </a:r>
            <a:r>
              <a:rPr lang="en-US" sz="2800" i="1" dirty="0" smtClean="0">
                <a:solidFill>
                  <a:srgbClr val="FF0000"/>
                </a:solidFill>
              </a:rPr>
              <a:t>H19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/>
              <a:t>functions biallelically, whereas </a:t>
            </a:r>
            <a:r>
              <a:rPr lang="en-US" sz="2800" i="1" dirty="0" smtClean="0">
                <a:solidFill>
                  <a:srgbClr val="0070C0"/>
                </a:solidFill>
              </a:rPr>
              <a:t>IGF2</a:t>
            </a:r>
            <a:r>
              <a:rPr lang="en-US" sz="2800" dirty="0" smtClean="0">
                <a:solidFill>
                  <a:srgbClr val="0070C0"/>
                </a:solidFill>
              </a:rPr>
              <a:t> </a:t>
            </a:r>
            <a:r>
              <a:rPr lang="en-US" sz="2800" dirty="0" smtClean="0"/>
              <a:t>is underexpressed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80354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40231"/>
            <a:ext cx="89154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 smtClean="0"/>
              <a:t>Chromosome 14</a:t>
            </a:r>
          </a:p>
          <a:p>
            <a:endParaRPr lang="en-US" sz="2300" dirty="0" smtClean="0"/>
          </a:p>
          <a:p>
            <a:r>
              <a:rPr lang="en-US" sz="2300" dirty="0" smtClean="0"/>
              <a:t>UPD14 produces different syndromes according to the paternal or maternal basis of the disomy</a:t>
            </a:r>
          </a:p>
          <a:p>
            <a:endParaRPr lang="en-US" sz="2300" dirty="0"/>
          </a:p>
          <a:p>
            <a:r>
              <a:rPr lang="en-US" sz="2300" dirty="0"/>
              <a:t>Either may be seen in </a:t>
            </a:r>
            <a:r>
              <a:rPr lang="en-US" sz="2300" dirty="0" smtClean="0"/>
              <a:t>the setting </a:t>
            </a:r>
            <a:r>
              <a:rPr lang="en-US" sz="2300" dirty="0"/>
              <a:t>of a normal karyotype or with a </a:t>
            </a:r>
            <a:r>
              <a:rPr lang="en-US" sz="2300" dirty="0" err="1" smtClean="0"/>
              <a:t>Robertsonian</a:t>
            </a:r>
            <a:r>
              <a:rPr lang="en-US" sz="2300" dirty="0" smtClean="0"/>
              <a:t> translocation </a:t>
            </a:r>
            <a:r>
              <a:rPr lang="en-US" sz="2300" dirty="0"/>
              <a:t>(or “acrocentric </a:t>
            </a:r>
            <a:r>
              <a:rPr lang="en-US" sz="2300" dirty="0" err="1"/>
              <a:t>isochromosome</a:t>
            </a:r>
            <a:r>
              <a:rPr lang="en-US" sz="2300" dirty="0" smtClean="0"/>
              <a:t>”)</a:t>
            </a:r>
          </a:p>
          <a:p>
            <a:endParaRPr lang="en-US" sz="2300" dirty="0"/>
          </a:p>
          <a:p>
            <a:r>
              <a:rPr lang="en-US" sz="2300" dirty="0" smtClean="0"/>
              <a:t>A balanced </a:t>
            </a:r>
            <a:r>
              <a:rPr lang="en-US" sz="2300" dirty="0"/>
              <a:t>45,der(13;14) </a:t>
            </a:r>
            <a:r>
              <a:rPr lang="en-US" sz="2300" dirty="0" err="1"/>
              <a:t>Robertsonian</a:t>
            </a:r>
            <a:r>
              <a:rPr lang="en-US" sz="2300" dirty="0"/>
              <a:t> </a:t>
            </a:r>
            <a:r>
              <a:rPr lang="en-US" sz="2300" dirty="0" smtClean="0"/>
              <a:t>translocation may reflect </a:t>
            </a:r>
            <a:r>
              <a:rPr lang="en-US" sz="2300" dirty="0"/>
              <a:t>correction of an initially 46,der(13;14</a:t>
            </a:r>
            <a:r>
              <a:rPr lang="en-US" sz="2300" dirty="0" smtClean="0"/>
              <a:t>),+ </a:t>
            </a:r>
            <a:r>
              <a:rPr lang="en-US" sz="2300" dirty="0"/>
              <a:t>14 </a:t>
            </a:r>
            <a:r>
              <a:rPr lang="en-US" sz="2300" dirty="0" smtClean="0"/>
              <a:t>conception</a:t>
            </a:r>
          </a:p>
          <a:p>
            <a:endParaRPr lang="en-US" sz="2300" dirty="0"/>
          </a:p>
          <a:p>
            <a:r>
              <a:rPr lang="en-US" sz="2300" dirty="0"/>
              <a:t>45,der(14;14) case </a:t>
            </a:r>
            <a:r>
              <a:rPr lang="en-US" sz="2300" dirty="0" smtClean="0"/>
              <a:t>might result </a:t>
            </a:r>
            <a:r>
              <a:rPr lang="en-US" sz="2300" dirty="0"/>
              <a:t>from a 45,–14 conception which </a:t>
            </a:r>
            <a:r>
              <a:rPr lang="en-US" sz="2300" dirty="0" smtClean="0"/>
              <a:t>then corrected </a:t>
            </a:r>
            <a:r>
              <a:rPr lang="en-US" sz="2300" dirty="0"/>
              <a:t>by reduplication of the single </a:t>
            </a:r>
            <a:r>
              <a:rPr lang="en-US" sz="2300" dirty="0" smtClean="0"/>
              <a:t>chromosome 14 </a:t>
            </a:r>
            <a:r>
              <a:rPr lang="en-US" sz="2300" dirty="0"/>
              <a:t>to give an </a:t>
            </a:r>
            <a:r>
              <a:rPr lang="en-US" sz="2300" dirty="0" err="1"/>
              <a:t>i</a:t>
            </a:r>
            <a:r>
              <a:rPr lang="en-US" sz="2300" dirty="0"/>
              <a:t>(14q) with </a:t>
            </a:r>
            <a:r>
              <a:rPr lang="en-US" sz="2300" dirty="0" err="1" smtClean="0"/>
              <a:t>isodisomy</a:t>
            </a:r>
            <a:endParaRPr lang="en-US" sz="2300" dirty="0" smtClean="0"/>
          </a:p>
          <a:p>
            <a:endParaRPr lang="en-US" sz="2300" dirty="0"/>
          </a:p>
          <a:p>
            <a:r>
              <a:rPr lang="en-US" sz="2300" dirty="0" smtClean="0">
                <a:solidFill>
                  <a:srgbClr val="0070C0"/>
                </a:solidFill>
              </a:rPr>
              <a:t>Pat UPD14 </a:t>
            </a:r>
            <a:r>
              <a:rPr lang="en-US" sz="2300" dirty="0" smtClean="0"/>
              <a:t>(</a:t>
            </a:r>
            <a:r>
              <a:rPr lang="en-US" sz="2300" dirty="0" err="1" smtClean="0"/>
              <a:t>Kagami</a:t>
            </a:r>
            <a:r>
              <a:rPr lang="en-US" sz="2300" dirty="0" smtClean="0"/>
              <a:t>-Ogata syndrome) </a:t>
            </a:r>
            <a:r>
              <a:rPr lang="en-US" sz="2300" dirty="0"/>
              <a:t>is </a:t>
            </a:r>
            <a:r>
              <a:rPr lang="en-US" sz="2300" dirty="0" smtClean="0"/>
              <a:t>more severe and survival is poor</a:t>
            </a:r>
          </a:p>
          <a:p>
            <a:r>
              <a:rPr lang="en-US" sz="2300" dirty="0" smtClean="0">
                <a:solidFill>
                  <a:srgbClr val="FF0000"/>
                </a:solidFill>
              </a:rPr>
              <a:t>Mat UPD14 </a:t>
            </a:r>
            <a:r>
              <a:rPr lang="en-US" sz="2300" dirty="0" smtClean="0"/>
              <a:t>(Temple syndrome) produces </a:t>
            </a:r>
            <a:r>
              <a:rPr lang="en-US" sz="2300" dirty="0"/>
              <a:t>a syndrome of pre- and </a:t>
            </a:r>
            <a:r>
              <a:rPr lang="en-US" sz="2300" dirty="0" smtClean="0"/>
              <a:t>postnatal growth </a:t>
            </a:r>
            <a:r>
              <a:rPr lang="en-US" sz="2300" dirty="0"/>
              <a:t>retardation</a:t>
            </a:r>
          </a:p>
        </p:txBody>
      </p:sp>
    </p:spTree>
    <p:extLst>
      <p:ext uri="{BB962C8B-B14F-4D97-AF65-F5344CB8AC3E}">
        <p14:creationId xmlns:p14="http://schemas.microsoft.com/office/powerpoint/2010/main" val="3055939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24</a:t>
            </a:fld>
            <a:endParaRPr lang="en-US"/>
          </a:p>
        </p:txBody>
      </p:sp>
      <p:pic>
        <p:nvPicPr>
          <p:cNvPr id="4" name="image155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368" y="1427058"/>
            <a:ext cx="3771265" cy="32194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1" y="4980138"/>
            <a:ext cx="8839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ea typeface="Times New Roman" panose="02020603050405020304" pitchFamily="18" charset="0"/>
              </a:rPr>
              <a:t>FIGURE 14–27 Chest X-ray of a child with </a:t>
            </a:r>
            <a:r>
              <a:rPr lang="en-US" sz="2400" dirty="0" err="1">
                <a:ea typeface="Times New Roman" panose="02020603050405020304" pitchFamily="18" charset="0"/>
              </a:rPr>
              <a:t>Kagami</a:t>
            </a:r>
            <a:r>
              <a:rPr lang="en-US" sz="2400" dirty="0">
                <a:ea typeface="Times New Roman" panose="02020603050405020304" pitchFamily="18" charset="0"/>
              </a:rPr>
              <a:t>-Ogata syndrome, in this case due to an </a:t>
            </a:r>
            <a:r>
              <a:rPr lang="en-US" sz="2400" dirty="0" err="1">
                <a:ea typeface="Times New Roman" panose="02020603050405020304" pitchFamily="18" charset="0"/>
              </a:rPr>
              <a:t>epimutation</a:t>
            </a:r>
            <a:r>
              <a:rPr lang="en-US" sz="2400" dirty="0">
                <a:ea typeface="Times New Roman" panose="02020603050405020304" pitchFamily="18" charset="0"/>
              </a:rPr>
              <a:t> in the 14q32.2 imprinted region. The thorax is narrow in its upper and mid parts, and flaring below. The ribs have an increased “coat-hanger” angle.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8600" y="139322"/>
            <a:ext cx="87630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</a:t>
            </a:r>
            <a:r>
              <a:rPr lang="en-US" sz="2800" dirty="0">
                <a:solidFill>
                  <a:srgbClr val="0070C0"/>
                </a:solidFill>
              </a:rPr>
              <a:t>bell-shaped thorax </a:t>
            </a:r>
            <a:r>
              <a:rPr lang="en-US" sz="2800" dirty="0" smtClean="0"/>
              <a:t>is </a:t>
            </a:r>
            <a:r>
              <a:rPr lang="en-US" sz="2800" dirty="0"/>
              <a:t>a particular clinical </a:t>
            </a:r>
            <a:r>
              <a:rPr lang="en-US" sz="2800" dirty="0" smtClean="0"/>
              <a:t>pointer in</a:t>
            </a:r>
            <a:r>
              <a:rPr lang="en-US" sz="2800" dirty="0" smtClean="0"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a typeface="Times New Roman" panose="02020603050405020304" pitchFamily="18" charset="0"/>
              </a:rPr>
              <a:t>Kagami</a:t>
            </a:r>
            <a:r>
              <a:rPr lang="en-US" sz="2800" b="1" dirty="0">
                <a:ea typeface="Times New Roman" panose="02020603050405020304" pitchFamily="18" charset="0"/>
              </a:rPr>
              <a:t>-Ogata syndrome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86730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40231"/>
            <a:ext cx="89154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Chromosome 15</a:t>
            </a:r>
          </a:p>
          <a:p>
            <a:endParaRPr lang="en-US" sz="2400" dirty="0" smtClean="0"/>
          </a:p>
          <a:p>
            <a:r>
              <a:rPr lang="en-US" sz="2400" dirty="0" err="1"/>
              <a:t>Prader</a:t>
            </a:r>
            <a:r>
              <a:rPr lang="en-US" sz="2400" dirty="0"/>
              <a:t>-Willi syndrome (</a:t>
            </a:r>
            <a:r>
              <a:rPr lang="en-US" sz="2400" b="1" dirty="0" smtClean="0"/>
              <a:t>PWS</a:t>
            </a:r>
            <a:r>
              <a:rPr lang="en-US" sz="2400" dirty="0" smtClean="0"/>
              <a:t>) and </a:t>
            </a:r>
            <a:r>
              <a:rPr lang="en-US" sz="2400" dirty="0" err="1"/>
              <a:t>Angelman</a:t>
            </a:r>
            <a:r>
              <a:rPr lang="en-US" sz="2400" dirty="0"/>
              <a:t> syndrome (</a:t>
            </a:r>
            <a:r>
              <a:rPr lang="en-US" sz="2400" b="1" dirty="0"/>
              <a:t>AS</a:t>
            </a:r>
            <a:r>
              <a:rPr lang="en-US" sz="2400" dirty="0"/>
              <a:t>) are the two </a:t>
            </a:r>
            <a:r>
              <a:rPr lang="en-US" sz="2400" dirty="0" smtClean="0"/>
              <a:t>UPD15 syndromes</a:t>
            </a:r>
          </a:p>
          <a:p>
            <a:endParaRPr lang="en-US" sz="2400" dirty="0"/>
          </a:p>
          <a:p>
            <a:r>
              <a:rPr lang="en-US" sz="2400" b="1" dirty="0" smtClean="0"/>
              <a:t>PWS</a:t>
            </a:r>
            <a:r>
              <a:rPr lang="en-US" sz="2400" dirty="0" smtClean="0"/>
              <a:t>: </a:t>
            </a:r>
            <a:r>
              <a:rPr lang="en-US" sz="2400" dirty="0"/>
              <a:t>phenotype </a:t>
            </a:r>
            <a:r>
              <a:rPr lang="en-US" sz="2400" dirty="0" smtClean="0"/>
              <a:t>due </a:t>
            </a:r>
            <a:r>
              <a:rPr lang="en-US" sz="2400" dirty="0"/>
              <a:t>to loss of transcription of several genes and RNA transcripts on the paternal chromosome 15. Among these, deficiency of a particular cluster of small nucleolar RNA genes (</a:t>
            </a:r>
            <a:r>
              <a:rPr lang="en-US" sz="2400" dirty="0" err="1"/>
              <a:t>snoRNAs</a:t>
            </a:r>
            <a:r>
              <a:rPr lang="en-US" sz="2400" dirty="0"/>
              <a:t>) called </a:t>
            </a:r>
            <a:r>
              <a:rPr lang="en-US" sz="2400" b="1" dirty="0">
                <a:solidFill>
                  <a:srgbClr val="0070C0"/>
                </a:solidFill>
              </a:rPr>
              <a:t>SNORD 116 </a:t>
            </a:r>
            <a:r>
              <a:rPr lang="en-US" sz="2400" dirty="0" smtClean="0"/>
              <a:t>is </a:t>
            </a:r>
            <a:r>
              <a:rPr lang="en-US" sz="2400" dirty="0"/>
              <a:t>responsible for the key features of </a:t>
            </a:r>
            <a:r>
              <a:rPr lang="en-US" sz="2400" dirty="0" smtClean="0"/>
              <a:t>PWS.</a:t>
            </a:r>
          </a:p>
          <a:p>
            <a:endParaRPr lang="en-US" sz="2400" dirty="0"/>
          </a:p>
          <a:p>
            <a:r>
              <a:rPr lang="en-US" sz="2400" dirty="0" smtClean="0"/>
              <a:t>Different </a:t>
            </a:r>
            <a:r>
              <a:rPr lang="en-US" sz="2400" dirty="0"/>
              <a:t>components of the PWS phenotype are </a:t>
            </a:r>
            <a:r>
              <a:rPr lang="en-US" sz="2400" dirty="0" smtClean="0"/>
              <a:t>mediated </a:t>
            </a:r>
            <a:r>
              <a:rPr lang="en-US" sz="2400" dirty="0"/>
              <a:t>via perturbed functioning of different genetic targets of these </a:t>
            </a:r>
            <a:r>
              <a:rPr lang="en-US" sz="2400" dirty="0" err="1"/>
              <a:t>snoRNAs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b="1" dirty="0" smtClean="0"/>
              <a:t>AS</a:t>
            </a:r>
            <a:r>
              <a:rPr lang="en-US" sz="2400" dirty="0" smtClean="0"/>
              <a:t>: absent activity of </a:t>
            </a:r>
            <a:r>
              <a:rPr lang="en-US" sz="2400" b="1" i="1" dirty="0" smtClean="0">
                <a:solidFill>
                  <a:srgbClr val="FF0000"/>
                </a:solidFill>
              </a:rPr>
              <a:t>UBE3A</a:t>
            </a:r>
            <a:r>
              <a:rPr lang="en-US" sz="2400" i="1" dirty="0" smtClean="0"/>
              <a:t> </a:t>
            </a:r>
            <a:r>
              <a:rPr lang="en-US" sz="2400" dirty="0"/>
              <a:t>gene on </a:t>
            </a:r>
            <a:r>
              <a:rPr lang="en-US" sz="2400" i="1" dirty="0" smtClean="0"/>
              <a:t>maternal </a:t>
            </a:r>
            <a:r>
              <a:rPr lang="en-US" sz="2400" dirty="0" smtClean="0"/>
              <a:t>chromosome 15</a:t>
            </a:r>
          </a:p>
          <a:p>
            <a:endParaRPr lang="en-US" sz="2400" dirty="0"/>
          </a:p>
          <a:p>
            <a:r>
              <a:rPr lang="en-US" sz="2400" dirty="0" smtClean="0"/>
              <a:t>Both </a:t>
            </a:r>
            <a:r>
              <a:rPr lang="en-US" sz="2400" dirty="0"/>
              <a:t>SNORD 116</a:t>
            </a:r>
            <a:r>
              <a:rPr lang="en-US" sz="2400" dirty="0" smtClean="0"/>
              <a:t> and </a:t>
            </a:r>
            <a:r>
              <a:rPr lang="en-US" sz="2400" i="1" dirty="0" smtClean="0"/>
              <a:t>UBE3A</a:t>
            </a:r>
            <a:r>
              <a:rPr lang="en-US" sz="2400" dirty="0" smtClean="0"/>
              <a:t> are under influence of imprinting control center (IC)</a:t>
            </a:r>
          </a:p>
        </p:txBody>
      </p:sp>
    </p:spTree>
    <p:extLst>
      <p:ext uri="{BB962C8B-B14F-4D97-AF65-F5344CB8AC3E}">
        <p14:creationId xmlns:p14="http://schemas.microsoft.com/office/powerpoint/2010/main" val="199699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26</a:t>
            </a:fld>
            <a:endParaRPr lang="en-US"/>
          </a:p>
        </p:txBody>
      </p:sp>
      <p:pic>
        <p:nvPicPr>
          <p:cNvPr id="5" name="image233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2916174" y="-2382774"/>
            <a:ext cx="3358134" cy="88856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9288" y="4198882"/>
            <a:ext cx="88392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FIGURE 18–7 </a:t>
            </a:r>
            <a:r>
              <a:rPr lang="en-US" sz="2200" dirty="0" smtClean="0"/>
              <a:t>The </a:t>
            </a:r>
            <a:r>
              <a:rPr lang="en-US" sz="2200" dirty="0"/>
              <a:t>regions and loci of interest within the segment 15q11.2q13.3. </a:t>
            </a:r>
            <a:r>
              <a:rPr lang="en-US" sz="2200" b="1" dirty="0"/>
              <a:t>AS</a:t>
            </a:r>
            <a:r>
              <a:rPr lang="en-US" sz="2200" dirty="0"/>
              <a:t>, </a:t>
            </a:r>
            <a:r>
              <a:rPr lang="en-US" sz="2200" dirty="0" err="1"/>
              <a:t>Angelman</a:t>
            </a:r>
            <a:r>
              <a:rPr lang="en-US" sz="2200" dirty="0"/>
              <a:t> syndrome; </a:t>
            </a:r>
            <a:r>
              <a:rPr lang="en-US" sz="2200" b="1" dirty="0"/>
              <a:t>BP</a:t>
            </a:r>
            <a:r>
              <a:rPr lang="en-US" sz="2200" dirty="0"/>
              <a:t>, (numbered) breakpoint; </a:t>
            </a:r>
            <a:r>
              <a:rPr lang="en-US" sz="2200" b="1" dirty="0"/>
              <a:t>PWS</a:t>
            </a:r>
            <a:r>
              <a:rPr lang="en-US" sz="2200" dirty="0"/>
              <a:t>, </a:t>
            </a:r>
            <a:r>
              <a:rPr lang="en-US" sz="2200" dirty="0" err="1"/>
              <a:t>Prader</a:t>
            </a:r>
            <a:r>
              <a:rPr lang="en-US" sz="2200" dirty="0"/>
              <a:t>-Willi syndrome; </a:t>
            </a:r>
            <a:r>
              <a:rPr lang="en-US" sz="2200" b="1" dirty="0"/>
              <a:t>T1D</a:t>
            </a:r>
            <a:r>
              <a:rPr lang="en-US" sz="2200" dirty="0"/>
              <a:t>, </a:t>
            </a:r>
            <a:r>
              <a:rPr lang="en-US" sz="2200" b="1" dirty="0"/>
              <a:t>T2D</a:t>
            </a:r>
            <a:r>
              <a:rPr lang="en-US" sz="2200" dirty="0"/>
              <a:t>, type 1, type 2 deletion. Black, white, and gray shading indicates, respectively, PWS-related, AS-related, and non-imprinted loci. </a:t>
            </a:r>
            <a:r>
              <a:rPr lang="en-US" sz="2200" b="1" dirty="0"/>
              <a:t>IC</a:t>
            </a:r>
            <a:r>
              <a:rPr lang="en-US" sz="2200" dirty="0"/>
              <a:t>, imprinting center: The black IC segment is the </a:t>
            </a:r>
            <a:r>
              <a:rPr lang="en-US" sz="2200" b="1" dirty="0"/>
              <a:t>PWS-IC</a:t>
            </a:r>
            <a:r>
              <a:rPr lang="en-US" sz="2200" dirty="0"/>
              <a:t>, influencing the black-coded loci in the PWS region; the white IC segment is the </a:t>
            </a:r>
            <a:r>
              <a:rPr lang="en-US" sz="2200" b="1" dirty="0"/>
              <a:t>AS-IC</a:t>
            </a:r>
            <a:r>
              <a:rPr lang="en-US" sz="2200" dirty="0"/>
              <a:t>, influencing the white-coded loci in the AS region.</a:t>
            </a:r>
          </a:p>
        </p:txBody>
      </p:sp>
      <p:sp>
        <p:nvSpPr>
          <p:cNvPr id="2" name="Rectangle 1"/>
          <p:cNvSpPr/>
          <p:nvPr/>
        </p:nvSpPr>
        <p:spPr>
          <a:xfrm rot="19132761">
            <a:off x="4316029" y="1368378"/>
            <a:ext cx="740544" cy="194522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rot="19132761">
            <a:off x="5895523" y="1451088"/>
            <a:ext cx="602778" cy="15185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1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228600"/>
            <a:ext cx="8915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Absence </a:t>
            </a:r>
            <a:r>
              <a:rPr lang="en-US" sz="2400" dirty="0"/>
              <a:t>of </a:t>
            </a:r>
            <a:r>
              <a:rPr lang="en-US" sz="2400" dirty="0" smtClean="0"/>
              <a:t>gene activity </a:t>
            </a:r>
            <a:r>
              <a:rPr lang="en-US" sz="2400" dirty="0"/>
              <a:t>is due either to the </a:t>
            </a:r>
            <a:r>
              <a:rPr lang="en-US" sz="2400" dirty="0" smtClean="0"/>
              <a:t>loss, or </a:t>
            </a:r>
            <a:r>
              <a:rPr lang="en-US" sz="2400" dirty="0"/>
              <a:t>to the nonfunctioning, of </a:t>
            </a:r>
            <a:r>
              <a:rPr lang="en-US" sz="2400" dirty="0" smtClean="0"/>
              <a:t>PWS/AS </a:t>
            </a:r>
            <a:r>
              <a:rPr lang="en-US" sz="2400" dirty="0"/>
              <a:t>region </a:t>
            </a:r>
            <a:r>
              <a:rPr lang="en-US" sz="2400" dirty="0" smtClean="0"/>
              <a:t>on one </a:t>
            </a:r>
            <a:r>
              <a:rPr lang="en-US" sz="2400" dirty="0"/>
              <a:t>chromosome 15 </a:t>
            </a:r>
            <a:r>
              <a:rPr lang="en-US" sz="2400" dirty="0" smtClean="0"/>
              <a:t>homolog</a:t>
            </a:r>
          </a:p>
          <a:p>
            <a:endParaRPr lang="en-US" sz="2400" dirty="0"/>
          </a:p>
          <a:p>
            <a:r>
              <a:rPr lang="en-US" sz="2400" dirty="0"/>
              <a:t>Loss </a:t>
            </a:r>
            <a:r>
              <a:rPr lang="en-US" sz="2400" dirty="0" smtClean="0"/>
              <a:t>is most commonly due </a:t>
            </a:r>
            <a:r>
              <a:rPr lang="en-US" sz="2400" dirty="0"/>
              <a:t>to a simple interstitial </a:t>
            </a:r>
            <a:r>
              <a:rPr lang="en-US" sz="2400" dirty="0" smtClean="0">
                <a:solidFill>
                  <a:srgbClr val="00B050"/>
                </a:solidFill>
              </a:rPr>
              <a:t>deletion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Whether </a:t>
            </a:r>
            <a:r>
              <a:rPr lang="en-US" sz="2400" dirty="0" smtClean="0"/>
              <a:t>the phenotype </a:t>
            </a:r>
            <a:r>
              <a:rPr lang="en-US" sz="2400" dirty="0"/>
              <a:t>comes to be PWS or AS depends </a:t>
            </a:r>
            <a:r>
              <a:rPr lang="en-US" sz="2400" dirty="0" smtClean="0"/>
              <a:t>upon which </a:t>
            </a:r>
            <a:r>
              <a:rPr lang="en-US" sz="2400" dirty="0"/>
              <a:t>parent contributed the deleted </a:t>
            </a:r>
            <a:r>
              <a:rPr lang="en-US" sz="2400" dirty="0" smtClean="0"/>
              <a:t>chromosome</a:t>
            </a:r>
          </a:p>
          <a:p>
            <a:endParaRPr lang="en-US" sz="2400" dirty="0"/>
          </a:p>
          <a:p>
            <a:r>
              <a:rPr lang="en-US" sz="2400" dirty="0"/>
              <a:t>Nonfunctioning of (structurally normal) genes </a:t>
            </a:r>
            <a:r>
              <a:rPr lang="en-US" sz="2400" dirty="0" smtClean="0"/>
              <a:t>within 15q11 </a:t>
            </a:r>
            <a:r>
              <a:rPr lang="en-US" sz="2400" dirty="0"/>
              <a:t>is due to the imprint status. </a:t>
            </a:r>
            <a:r>
              <a:rPr lang="en-US" sz="2400" dirty="0" smtClean="0"/>
              <a:t>This </a:t>
            </a:r>
            <a:r>
              <a:rPr lang="en-US" sz="2400" dirty="0"/>
              <a:t>is </a:t>
            </a:r>
            <a:r>
              <a:rPr lang="en-US" sz="2400" dirty="0" smtClean="0"/>
              <a:t>most commonly </a:t>
            </a:r>
            <a:r>
              <a:rPr lang="en-US" sz="2400" dirty="0"/>
              <a:t>the consequence of </a:t>
            </a:r>
            <a:r>
              <a:rPr lang="en-US" sz="2400" dirty="0">
                <a:solidFill>
                  <a:srgbClr val="00B050"/>
                </a:solidFill>
              </a:rPr>
              <a:t>UPD</a:t>
            </a:r>
            <a:r>
              <a:rPr lang="en-US" sz="2400" dirty="0"/>
              <a:t> 15, with </a:t>
            </a:r>
            <a:r>
              <a:rPr lang="en-US" sz="2400" dirty="0" smtClean="0"/>
              <a:t>the phenotype </a:t>
            </a:r>
            <a:r>
              <a:rPr lang="en-US" sz="2400" dirty="0"/>
              <a:t>determined according to the parent </a:t>
            </a:r>
            <a:r>
              <a:rPr lang="en-US" sz="2400" dirty="0" smtClean="0"/>
              <a:t>of origin </a:t>
            </a:r>
            <a:r>
              <a:rPr lang="en-US" sz="2400" dirty="0"/>
              <a:t>of the disomic pair of </a:t>
            </a:r>
            <a:r>
              <a:rPr lang="en-US" sz="2400" dirty="0" smtClean="0"/>
              <a:t>chromosomes</a:t>
            </a:r>
          </a:p>
          <a:p>
            <a:endParaRPr lang="en-US" sz="2400" dirty="0"/>
          </a:p>
          <a:p>
            <a:r>
              <a:rPr lang="en-US" sz="2400" dirty="0"/>
              <a:t>A </a:t>
            </a:r>
            <a:r>
              <a:rPr lang="en-US" sz="2400" dirty="0" smtClean="0"/>
              <a:t>rare cause </a:t>
            </a:r>
            <a:r>
              <a:rPr lang="en-US" sz="2400" dirty="0"/>
              <a:t>is failure of, or damage to, the chromosome </a:t>
            </a:r>
            <a:r>
              <a:rPr lang="en-US" sz="2400" dirty="0" smtClean="0"/>
              <a:t>15 </a:t>
            </a:r>
            <a:r>
              <a:rPr lang="en-US" sz="2400" dirty="0" smtClean="0">
                <a:solidFill>
                  <a:srgbClr val="00B050"/>
                </a:solidFill>
              </a:rPr>
              <a:t>IC</a:t>
            </a:r>
          </a:p>
          <a:p>
            <a:endParaRPr lang="en-US" sz="2400" dirty="0"/>
          </a:p>
          <a:p>
            <a:r>
              <a:rPr lang="en-US" sz="2400" dirty="0"/>
              <a:t>In the case of AS, </a:t>
            </a:r>
            <a:r>
              <a:rPr lang="en-US" sz="2400" dirty="0">
                <a:solidFill>
                  <a:srgbClr val="00B050"/>
                </a:solidFill>
              </a:rPr>
              <a:t>mutation</a:t>
            </a:r>
            <a:r>
              <a:rPr lang="en-US" sz="2400" dirty="0"/>
              <a:t> in the </a:t>
            </a:r>
            <a:r>
              <a:rPr lang="en-US" sz="2400" i="1" dirty="0" smtClean="0"/>
              <a:t>UBE3A</a:t>
            </a:r>
            <a:r>
              <a:rPr lang="en-US" sz="2400" dirty="0" smtClean="0"/>
              <a:t> gene </a:t>
            </a:r>
            <a:r>
              <a:rPr lang="en-US" sz="2400" dirty="0"/>
              <a:t>is a further category of mechanism</a:t>
            </a:r>
          </a:p>
        </p:txBody>
      </p:sp>
    </p:spTree>
    <p:extLst>
      <p:ext uri="{BB962C8B-B14F-4D97-AF65-F5344CB8AC3E}">
        <p14:creationId xmlns:p14="http://schemas.microsoft.com/office/powerpoint/2010/main" val="114748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17693"/>
            <a:ext cx="88392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 smtClean="0"/>
              <a:t>The 15q11 Imprinting Center</a:t>
            </a:r>
          </a:p>
          <a:p>
            <a:endParaRPr lang="en-US" sz="2300" dirty="0"/>
          </a:p>
          <a:p>
            <a:r>
              <a:rPr lang="en-US" sz="2300" dirty="0"/>
              <a:t>Normal </a:t>
            </a:r>
            <a:r>
              <a:rPr lang="en-US" sz="2300" dirty="0" smtClean="0"/>
              <a:t>persons have </a:t>
            </a:r>
            <a:r>
              <a:rPr lang="en-US" sz="2300" dirty="0"/>
              <a:t>one paternally imprinted chromosome 15</a:t>
            </a:r>
          </a:p>
          <a:p>
            <a:r>
              <a:rPr lang="en-US" sz="2300" dirty="0"/>
              <a:t>and one maternally imprinted chromosome </a:t>
            </a:r>
            <a:r>
              <a:rPr lang="en-US" sz="2300" dirty="0" smtClean="0"/>
              <a:t>15</a:t>
            </a:r>
          </a:p>
          <a:p>
            <a:endParaRPr lang="en-US" sz="2300" dirty="0"/>
          </a:p>
          <a:p>
            <a:r>
              <a:rPr lang="en-US" sz="2300" dirty="0" smtClean="0"/>
              <a:t>The imprinting </a:t>
            </a:r>
            <a:r>
              <a:rPr lang="en-US" sz="2300" dirty="0"/>
              <a:t>state of a chromosome 15 is set and </a:t>
            </a:r>
            <a:r>
              <a:rPr lang="en-US" sz="2300" dirty="0" smtClean="0"/>
              <a:t>reset as </a:t>
            </a:r>
            <a:r>
              <a:rPr lang="en-US" sz="2300" dirty="0"/>
              <a:t>it is </a:t>
            </a:r>
            <a:r>
              <a:rPr lang="en-US" sz="2300" dirty="0" smtClean="0"/>
              <a:t>transmitted </a:t>
            </a:r>
            <a:r>
              <a:rPr lang="en-US" sz="2300" dirty="0"/>
              <a:t>down the generations, </a:t>
            </a:r>
            <a:r>
              <a:rPr lang="en-US" sz="2300" dirty="0" smtClean="0"/>
              <a:t>according to </a:t>
            </a:r>
            <a:r>
              <a:rPr lang="en-US" sz="2300" dirty="0"/>
              <a:t>the sex of the </a:t>
            </a:r>
            <a:r>
              <a:rPr lang="en-US" sz="2300" dirty="0" smtClean="0"/>
              <a:t>transmitting parent</a:t>
            </a:r>
          </a:p>
          <a:p>
            <a:endParaRPr lang="en-US" sz="2300" dirty="0"/>
          </a:p>
          <a:p>
            <a:r>
              <a:rPr lang="en-US" sz="2300" dirty="0" smtClean="0"/>
              <a:t>Resetting— an </a:t>
            </a:r>
            <a:r>
              <a:rPr lang="en-US" sz="2300" dirty="0"/>
              <a:t>“epigenetic </a:t>
            </a:r>
            <a:r>
              <a:rPr lang="en-US" sz="2300" dirty="0" smtClean="0"/>
              <a:t>modification</a:t>
            </a:r>
            <a:r>
              <a:rPr lang="en-US" sz="2300" dirty="0"/>
              <a:t>”—is dictated </a:t>
            </a:r>
            <a:r>
              <a:rPr lang="en-US" sz="2300" dirty="0" smtClean="0"/>
              <a:t>during gametogenesis </a:t>
            </a:r>
            <a:r>
              <a:rPr lang="en-US" sz="2300" dirty="0"/>
              <a:t>from the </a:t>
            </a:r>
            <a:r>
              <a:rPr lang="en-US" sz="2300" dirty="0" smtClean="0"/>
              <a:t>cis-acting </a:t>
            </a:r>
            <a:r>
              <a:rPr lang="en-US" sz="2300" dirty="0"/>
              <a:t>IC, with </a:t>
            </a:r>
            <a:r>
              <a:rPr lang="en-US" sz="2300" dirty="0" smtClean="0"/>
              <a:t>methylation of genes</a:t>
            </a:r>
          </a:p>
          <a:p>
            <a:endParaRPr lang="en-US" sz="2300" dirty="0"/>
          </a:p>
          <a:p>
            <a:r>
              <a:rPr lang="en-US" sz="2300" dirty="0" smtClean="0"/>
              <a:t>The </a:t>
            </a:r>
            <a:r>
              <a:rPr lang="en-US" sz="2300" dirty="0">
                <a:solidFill>
                  <a:srgbClr val="00B050"/>
                </a:solidFill>
              </a:rPr>
              <a:t>IC is bipartite</a:t>
            </a:r>
            <a:r>
              <a:rPr lang="en-US" sz="2300" dirty="0"/>
              <a:t>, with a </a:t>
            </a:r>
            <a:r>
              <a:rPr lang="en-US" sz="2300" dirty="0" err="1" smtClean="0"/>
              <a:t>centromeric</a:t>
            </a:r>
            <a:r>
              <a:rPr lang="en-US" sz="2300" dirty="0" smtClean="0"/>
              <a:t> element</a:t>
            </a:r>
            <a:r>
              <a:rPr lang="en-US" sz="2300" dirty="0"/>
              <a:t>, the AS-IC, and 35 kb distant </a:t>
            </a:r>
            <a:r>
              <a:rPr lang="en-US" sz="2300" dirty="0" smtClean="0"/>
              <a:t>a </a:t>
            </a:r>
            <a:r>
              <a:rPr lang="en-US" sz="2300" dirty="0" err="1" smtClean="0"/>
              <a:t>telomeric</a:t>
            </a:r>
            <a:r>
              <a:rPr lang="en-US" sz="2300" dirty="0" smtClean="0"/>
              <a:t> </a:t>
            </a:r>
            <a:r>
              <a:rPr lang="en-US" sz="2300" dirty="0"/>
              <a:t>element, the </a:t>
            </a:r>
            <a:r>
              <a:rPr lang="en-US" sz="2300" dirty="0" smtClean="0"/>
              <a:t>PWS-IC</a:t>
            </a:r>
          </a:p>
          <a:p>
            <a:endParaRPr lang="en-US" sz="2300" dirty="0"/>
          </a:p>
          <a:p>
            <a:r>
              <a:rPr lang="en-US" sz="2300" dirty="0"/>
              <a:t>In maternal </a:t>
            </a:r>
            <a:r>
              <a:rPr lang="en-US" sz="2300" dirty="0" smtClean="0"/>
              <a:t>gametogenesis, the </a:t>
            </a:r>
            <a:r>
              <a:rPr lang="en-US" sz="2300" dirty="0"/>
              <a:t>AS-IC has responsibility for initiating a</a:t>
            </a:r>
          </a:p>
          <a:p>
            <a:r>
              <a:rPr lang="en-US" sz="2300" dirty="0"/>
              <a:t>paternal → maternal switch on the chromosome </a:t>
            </a:r>
            <a:r>
              <a:rPr lang="en-US" sz="2300" dirty="0" smtClean="0"/>
              <a:t>15 that </a:t>
            </a:r>
            <a:r>
              <a:rPr lang="en-US" sz="2300" dirty="0"/>
              <a:t>the mother herself had received from her father</a:t>
            </a:r>
          </a:p>
        </p:txBody>
      </p:sp>
    </p:spTree>
    <p:extLst>
      <p:ext uri="{BB962C8B-B14F-4D97-AF65-F5344CB8AC3E}">
        <p14:creationId xmlns:p14="http://schemas.microsoft.com/office/powerpoint/2010/main" val="280687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29</a:t>
            </a:fld>
            <a:endParaRPr lang="en-US"/>
          </a:p>
        </p:txBody>
      </p:sp>
      <p:pic>
        <p:nvPicPr>
          <p:cNvPr id="1026" name="Picture 2" descr="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639" y="0"/>
            <a:ext cx="4542476" cy="338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418843"/>
            <a:ext cx="4542476" cy="340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28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30</a:t>
            </a:fld>
            <a:endParaRPr lang="en-US"/>
          </a:p>
        </p:txBody>
      </p:sp>
      <p:pic>
        <p:nvPicPr>
          <p:cNvPr id="4" name="image234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0" y="129159"/>
            <a:ext cx="4134707" cy="66487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19800" y="2362200"/>
            <a:ext cx="304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FIGURE </a:t>
            </a:r>
            <a:r>
              <a:rPr lang="en-US" sz="2400" b="1" dirty="0" smtClean="0"/>
              <a:t>18–8 </a:t>
            </a:r>
            <a:r>
              <a:rPr lang="en-US" sz="2400" dirty="0" smtClean="0"/>
              <a:t>An </a:t>
            </a:r>
            <a:r>
              <a:rPr lang="en-US" sz="2400" dirty="0"/>
              <a:t>outline of the </a:t>
            </a:r>
            <a:r>
              <a:rPr lang="en-US" sz="2400" dirty="0" smtClean="0"/>
              <a:t>different </a:t>
            </a:r>
            <a:r>
              <a:rPr lang="en-US" sz="2400" dirty="0"/>
              <a:t>genetic forms of </a:t>
            </a:r>
            <a:r>
              <a:rPr lang="en-US" sz="2400" dirty="0" err="1"/>
              <a:t>Prader</a:t>
            </a:r>
            <a:r>
              <a:rPr lang="en-US" sz="2400" dirty="0"/>
              <a:t>-Willi syndrome (PWS) and </a:t>
            </a:r>
            <a:r>
              <a:rPr lang="en-US" sz="2400" dirty="0" err="1" smtClean="0"/>
              <a:t>Angelman</a:t>
            </a:r>
            <a:r>
              <a:rPr lang="en-US" sz="2400" dirty="0" smtClean="0"/>
              <a:t> syndrome </a:t>
            </a:r>
            <a:r>
              <a:rPr lang="en-US" sz="2400" dirty="0"/>
              <a:t>(AS).</a:t>
            </a:r>
          </a:p>
        </p:txBody>
      </p:sp>
    </p:spTree>
    <p:extLst>
      <p:ext uri="{BB962C8B-B14F-4D97-AF65-F5344CB8AC3E}">
        <p14:creationId xmlns:p14="http://schemas.microsoft.com/office/powerpoint/2010/main" val="423686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31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9" t="24121" r="19129" b="16484"/>
          <a:stretch/>
        </p:blipFill>
        <p:spPr bwMode="auto">
          <a:xfrm>
            <a:off x="381000" y="685800"/>
            <a:ext cx="8521148" cy="4344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00200" y="3048000"/>
            <a:ext cx="7301948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00200" y="4419600"/>
            <a:ext cx="7301948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56895" y="4692203"/>
            <a:ext cx="7301948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477000" y="3886200"/>
            <a:ext cx="457200" cy="2286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477000" y="4119093"/>
            <a:ext cx="457200" cy="2286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477000" y="2743923"/>
            <a:ext cx="457200" cy="2286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3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1263A-BBCD-405E-B6B6-20C3C13482D6}" type="slidenum">
              <a:rPr lang="en-US" smtClean="0"/>
              <a:t>32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5" t="17782" r="16685" b="11033"/>
          <a:stretch/>
        </p:blipFill>
        <p:spPr bwMode="auto">
          <a:xfrm>
            <a:off x="152400" y="304801"/>
            <a:ext cx="8799443" cy="5207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52121" y="5295900"/>
            <a:ext cx="3525080" cy="216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200400" y="5024371"/>
            <a:ext cx="5105400" cy="2286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74938" y="5252971"/>
            <a:ext cx="4377183" cy="25918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1593</Words>
  <Application>Microsoft Office PowerPoint</Application>
  <PresentationFormat>On-screen Show (4:3)</PresentationFormat>
  <Paragraphs>197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Courier New</vt:lpstr>
      <vt:lpstr>Times New Roman</vt:lpstr>
      <vt:lpstr>Wingdings</vt:lpstr>
      <vt:lpstr>Office Theme</vt:lpstr>
      <vt:lpstr>Uniparental disomy and disorders of imprinting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Uniparental disomy and disorders of imprinting</dc:title>
  <dc:creator>Asem</dc:creator>
  <cp:lastModifiedBy>JUST</cp:lastModifiedBy>
  <cp:revision>108</cp:revision>
  <dcterms:created xsi:type="dcterms:W3CDTF">2018-03-24T13:57:42Z</dcterms:created>
  <dcterms:modified xsi:type="dcterms:W3CDTF">2024-05-06T19:20:00Z</dcterms:modified>
</cp:coreProperties>
</file>