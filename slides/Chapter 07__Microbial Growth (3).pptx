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1"/>
  </p:notesMasterIdLst>
  <p:sldIdLst>
    <p:sldId id="256" r:id="rId2"/>
    <p:sldId id="257" r:id="rId3"/>
    <p:sldId id="258" r:id="rId4"/>
    <p:sldId id="260" r:id="rId5"/>
    <p:sldId id="261" r:id="rId6"/>
    <p:sldId id="262" r:id="rId7"/>
    <p:sldId id="263" r:id="rId8"/>
    <p:sldId id="264" r:id="rId9"/>
    <p:sldId id="265" r:id="rId10"/>
    <p:sldId id="266" r:id="rId11"/>
    <p:sldId id="267" r:id="rId12"/>
    <p:sldId id="379" r:id="rId13"/>
    <p:sldId id="270" r:id="rId14"/>
    <p:sldId id="272" r:id="rId15"/>
    <p:sldId id="274" r:id="rId16"/>
    <p:sldId id="368" r:id="rId17"/>
    <p:sldId id="371" r:id="rId18"/>
    <p:sldId id="372" r:id="rId19"/>
    <p:sldId id="373" r:id="rId20"/>
    <p:sldId id="275" r:id="rId21"/>
    <p:sldId id="276" r:id="rId22"/>
    <p:sldId id="278" r:id="rId23"/>
    <p:sldId id="279" r:id="rId24"/>
    <p:sldId id="280" r:id="rId25"/>
    <p:sldId id="282" r:id="rId26"/>
    <p:sldId id="284" r:id="rId27"/>
    <p:sldId id="286" r:id="rId28"/>
    <p:sldId id="287" r:id="rId29"/>
    <p:sldId id="288" r:id="rId30"/>
    <p:sldId id="290" r:id="rId31"/>
    <p:sldId id="291" r:id="rId32"/>
    <p:sldId id="294" r:id="rId33"/>
    <p:sldId id="295" r:id="rId34"/>
    <p:sldId id="374" r:id="rId35"/>
    <p:sldId id="297" r:id="rId36"/>
    <p:sldId id="299" r:id="rId37"/>
    <p:sldId id="300" r:id="rId38"/>
    <p:sldId id="301" r:id="rId39"/>
    <p:sldId id="303" r:id="rId40"/>
    <p:sldId id="304" r:id="rId41"/>
    <p:sldId id="305" r:id="rId42"/>
    <p:sldId id="307" r:id="rId43"/>
    <p:sldId id="308" r:id="rId44"/>
    <p:sldId id="309" r:id="rId45"/>
    <p:sldId id="375" r:id="rId46"/>
    <p:sldId id="311" r:id="rId47"/>
    <p:sldId id="312" r:id="rId48"/>
    <p:sldId id="313" r:id="rId49"/>
    <p:sldId id="314" r:id="rId50"/>
    <p:sldId id="315" r:id="rId51"/>
    <p:sldId id="376" r:id="rId52"/>
    <p:sldId id="380" r:id="rId53"/>
    <p:sldId id="381" r:id="rId54"/>
    <p:sldId id="318" r:id="rId55"/>
    <p:sldId id="377" r:id="rId56"/>
    <p:sldId id="382" r:id="rId57"/>
    <p:sldId id="322" r:id="rId58"/>
    <p:sldId id="323" r:id="rId59"/>
    <p:sldId id="324" r:id="rId60"/>
    <p:sldId id="325" r:id="rId61"/>
    <p:sldId id="326" r:id="rId62"/>
    <p:sldId id="327" r:id="rId63"/>
    <p:sldId id="328" r:id="rId64"/>
    <p:sldId id="330" r:id="rId65"/>
    <p:sldId id="331" r:id="rId66"/>
    <p:sldId id="332" r:id="rId67"/>
    <p:sldId id="333" r:id="rId68"/>
    <p:sldId id="383" r:id="rId69"/>
    <p:sldId id="336" r:id="rId70"/>
    <p:sldId id="338" r:id="rId71"/>
    <p:sldId id="384" r:id="rId72"/>
    <p:sldId id="385" r:id="rId73"/>
    <p:sldId id="346" r:id="rId74"/>
    <p:sldId id="347" r:id="rId75"/>
    <p:sldId id="348" r:id="rId76"/>
    <p:sldId id="386" r:id="rId77"/>
    <p:sldId id="351" r:id="rId78"/>
    <p:sldId id="352" r:id="rId79"/>
    <p:sldId id="378" r:id="rId80"/>
    <p:sldId id="354" r:id="rId81"/>
    <p:sldId id="355" r:id="rId82"/>
    <p:sldId id="387" r:id="rId83"/>
    <p:sldId id="358" r:id="rId84"/>
    <p:sldId id="359" r:id="rId85"/>
    <p:sldId id="361" r:id="rId86"/>
    <p:sldId id="362" r:id="rId87"/>
    <p:sldId id="388" r:id="rId88"/>
    <p:sldId id="365" r:id="rId89"/>
    <p:sldId id="367" r:id="rId90"/>
  </p:sldIdLst>
  <p:sldSz cx="9144000" cy="6858000" type="screen4x3"/>
  <p:notesSz cx="6858000" cy="9144000"/>
  <p:custDataLst>
    <p:tags r:id="rId9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9BEB46-376A-3AF1-C9C5-C97407441DAA}" v="23" dt="2023-02-23T11:27:43.2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09" autoAdjust="0"/>
    <p:restoredTop sz="94660"/>
  </p:normalViewPr>
  <p:slideViewPr>
    <p:cSldViewPr>
      <p:cViewPr varScale="1">
        <p:scale>
          <a:sx n="74" d="100"/>
          <a:sy n="74" d="100"/>
        </p:scale>
        <p:origin x="147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gs" Target="tags/tag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2/23/2023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15454F-ECDB-4842-AF71-F9E8195E2EAE}"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151527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CD5D7F-3933-4309-8034-0F93355438F7}"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628782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067937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8CB9A4-23AA-4DC3-A257-AD75712A2865}"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569773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9D155C-674B-4796-BBC2-FCD13546F93B}" type="datetime1">
              <a:rPr lang="en-US" smtClean="0"/>
              <a:pPr/>
              <a:t>2/23/2023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15059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70BCA5-5AC7-4B00-85A8-8E2615460E4F}" type="datetime1">
              <a:rPr lang="en-US" smtClean="0"/>
              <a:pPr/>
              <a:t>2/23/2023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9321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2/23/2023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858826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546159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694239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03F265-EC92-4E3A-8B2F-17EA75E99940}"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055716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510B38-9655-43E1-BBFD-8C7DABE26029}"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049788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2/23/2023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3004846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Chapter 7 – Microbial Growth</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pic>
        <p:nvPicPr>
          <p:cNvPr id="7" name="Picture 2" descr="X:\Graphics\Powerpoint\MH_DCM\MH_DCM-TEXTEDIT PROJECTS\WILLEY_10e\Incoming\Wille10e17tlm_nm3.jpg"/>
          <p:cNvPicPr>
            <a:picLocks noGrp="1" noChangeAspect="1" noChangeArrowheads="1"/>
          </p:cNvPicPr>
          <p:nvPr>
            <p:ph idx="1"/>
          </p:nvPr>
        </p:nvPicPr>
        <p:blipFill>
          <a:blip r:embed="rId2" cstate="print"/>
          <a:srcRect/>
          <a:stretch>
            <a:fillRect/>
          </a:stretch>
        </p:blipFill>
        <p:spPr bwMode="auto">
          <a:xfrm>
            <a:off x="2286000" y="1066800"/>
            <a:ext cx="4724399" cy="5739482"/>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7.1 Most Bacteria and Archaea </a:t>
            </a:r>
            <a:br>
              <a:rPr lang="en-US" dirty="0"/>
            </a:br>
            <a:r>
              <a:rPr lang="en-US" dirty="0"/>
              <a:t>Reproduce By Binary Fission</a:t>
            </a:r>
          </a:p>
        </p:txBody>
      </p:sp>
      <p:sp>
        <p:nvSpPr>
          <p:cNvPr id="3" name="Content Placeholder 2"/>
          <p:cNvSpPr>
            <a:spLocks noGrp="1"/>
          </p:cNvSpPr>
          <p:nvPr>
            <p:ph idx="1"/>
          </p:nvPr>
        </p:nvSpPr>
        <p:spPr>
          <a:xfrm>
            <a:off x="457200" y="1951037"/>
            <a:ext cx="8229600" cy="4525963"/>
          </a:xfrm>
        </p:spPr>
        <p:txBody>
          <a:bodyPr/>
          <a:lstStyle/>
          <a:p>
            <a:pPr marL="514350" indent="-514350">
              <a:buFont typeface="+mj-lt"/>
              <a:buAutoNum type="arabicPeriod"/>
            </a:pPr>
            <a:r>
              <a:rPr lang="en-US" dirty="0"/>
              <a:t>Describe binary fission as observed in bacteria and archaea</a:t>
            </a:r>
            <a:br>
              <a:rPr lang="en-US" dirty="0"/>
            </a:br>
            <a:endParaRPr lang="en-US" dirty="0"/>
          </a:p>
          <a:p>
            <a:pPr marL="514350" indent="-514350">
              <a:buFont typeface="+mj-lt"/>
              <a:buAutoNum type="arabicPeriod"/>
            </a:pPr>
            <a:r>
              <a:rPr lang="en-US" dirty="0"/>
              <a:t>Compare the three reproductive strategies used by bacteria with binary fission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a:p>
        </p:txBody>
      </p:sp>
    </p:spTree>
    <p:extLst>
      <p:ext uri="{BB962C8B-B14F-4D97-AF65-F5344CB8AC3E}">
        <p14:creationId xmlns:p14="http://schemas.microsoft.com/office/powerpoint/2010/main" val="2872644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5" descr="This figure shows the steps of binary fission starting with a young cell at early phase of cycle.&#10;Next, a parent cell prepares for division by enlarging its cell wall, cell membrane, and overall volume.  DNA replication then starts.&#10;Next, the septum begins to grow inward as the chromosomes move toward opposite ends of the cell.  Other cytoplasmic components are distributed to the two developing cells.&#10;Next, the septum is synthesized completely through the cell center, creating two separate cell chambers.&#10;Finally, the daughter cells are divided.  Some species separate completely (as shown here), while others remain attached, forming chains, doublets, or other cellular arrangements." title="Figure 7.1 Binary Fission."/>
          <p:cNvPicPr>
            <a:picLocks noGrp="1" noChangeAspect="1" noChangeArrowheads="1"/>
          </p:cNvPicPr>
          <p:nvPr>
            <p:ph sz="half" idx="2"/>
          </p:nvPr>
        </p:nvPicPr>
        <p:blipFill>
          <a:blip r:embed="rId2" cstate="print"/>
          <a:stretch>
            <a:fillRect/>
          </a:stretch>
        </p:blipFill>
        <p:spPr bwMode="auto">
          <a:xfrm>
            <a:off x="3740284" y="2514600"/>
            <a:ext cx="5327516" cy="40386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0"/>
            <a:ext cx="8229600" cy="1143000"/>
          </a:xfrm>
        </p:spPr>
        <p:txBody>
          <a:bodyPr/>
          <a:lstStyle/>
          <a:p>
            <a:r>
              <a:rPr lang="en-US" dirty="0"/>
              <a:t>Reproductive Strategies</a:t>
            </a:r>
          </a:p>
        </p:txBody>
      </p:sp>
      <p:sp>
        <p:nvSpPr>
          <p:cNvPr id="6" name="Content Placeholder 5"/>
          <p:cNvSpPr>
            <a:spLocks noGrp="1"/>
          </p:cNvSpPr>
          <p:nvPr>
            <p:ph sz="half" idx="1"/>
          </p:nvPr>
        </p:nvSpPr>
        <p:spPr>
          <a:xfrm>
            <a:off x="152400" y="1066800"/>
            <a:ext cx="4343400" cy="5638800"/>
          </a:xfrm>
        </p:spPr>
        <p:txBody>
          <a:bodyPr>
            <a:normAutofit lnSpcReduction="10000"/>
          </a:bodyPr>
          <a:lstStyle/>
          <a:p>
            <a:pPr>
              <a:lnSpc>
                <a:spcPct val="90000"/>
              </a:lnSpc>
            </a:pPr>
            <a:r>
              <a:rPr lang="en-US" dirty="0"/>
              <a:t>The reproductive strategies of eukaryotic microbes</a:t>
            </a:r>
          </a:p>
          <a:p>
            <a:pPr lvl="1">
              <a:lnSpc>
                <a:spcPct val="90000"/>
              </a:lnSpc>
            </a:pPr>
            <a:r>
              <a:rPr lang="en-US" dirty="0"/>
              <a:t>asexual and sexual, haploid or diploid</a:t>
            </a:r>
            <a:br>
              <a:rPr lang="en-US" dirty="0"/>
            </a:br>
            <a:endParaRPr lang="en-US" dirty="0"/>
          </a:p>
          <a:p>
            <a:pPr>
              <a:lnSpc>
                <a:spcPct val="90000"/>
              </a:lnSpc>
            </a:pPr>
            <a:r>
              <a:rPr lang="en-US" i="1" dirty="0"/>
              <a:t>Bacteria</a:t>
            </a:r>
            <a:r>
              <a:rPr lang="en-US" dirty="0"/>
              <a:t> and </a:t>
            </a:r>
            <a:r>
              <a:rPr lang="en-US" i="1" dirty="0"/>
              <a:t>Archaea</a:t>
            </a:r>
          </a:p>
          <a:p>
            <a:pPr lvl="1">
              <a:lnSpc>
                <a:spcPct val="90000"/>
              </a:lnSpc>
            </a:pPr>
            <a:r>
              <a:rPr lang="en-US" dirty="0"/>
              <a:t>haploid only, </a:t>
            </a:r>
            <a:br>
              <a:rPr lang="en-US" dirty="0"/>
            </a:br>
            <a:r>
              <a:rPr lang="en-US" dirty="0"/>
              <a:t>asexual - binary </a:t>
            </a:r>
            <a:br>
              <a:rPr lang="en-US" dirty="0"/>
            </a:br>
            <a:r>
              <a:rPr lang="en-US" dirty="0"/>
              <a:t>fission, budding, </a:t>
            </a:r>
            <a:br>
              <a:rPr lang="en-US" dirty="0"/>
            </a:br>
            <a:r>
              <a:rPr lang="en-US" dirty="0"/>
              <a:t>filamentous</a:t>
            </a:r>
          </a:p>
          <a:p>
            <a:pPr lvl="1">
              <a:lnSpc>
                <a:spcPct val="90000"/>
              </a:lnSpc>
            </a:pPr>
            <a:r>
              <a:rPr lang="en-US" dirty="0"/>
              <a:t>all must replicate </a:t>
            </a:r>
            <a:br>
              <a:rPr lang="en-US" dirty="0"/>
            </a:br>
            <a:r>
              <a:rPr lang="en-US" dirty="0"/>
              <a:t>and segregate the </a:t>
            </a:r>
          </a:p>
          <a:p>
            <a:pPr marL="457200" lvl="1" indent="0">
              <a:lnSpc>
                <a:spcPct val="90000"/>
              </a:lnSpc>
              <a:buNone/>
            </a:pPr>
            <a:r>
              <a:rPr lang="en-US" dirty="0"/>
              <a:t>   genome prior to </a:t>
            </a:r>
          </a:p>
          <a:p>
            <a:pPr marL="457200" lvl="1" indent="0">
              <a:lnSpc>
                <a:spcPct val="90000"/>
              </a:lnSpc>
              <a:buNone/>
            </a:pPr>
            <a:r>
              <a:rPr lang="en-US" dirty="0"/>
              <a:t>   division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a:t>
            </a:fld>
            <a:endParaRPr lang="en-US"/>
          </a:p>
        </p:txBody>
      </p:sp>
    </p:spTree>
    <p:extLst>
      <p:ext uri="{BB962C8B-B14F-4D97-AF65-F5344CB8AC3E}">
        <p14:creationId xmlns:p14="http://schemas.microsoft.com/office/powerpoint/2010/main" val="2568977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Bacterial Reproduction Methods Different From Binary Fission</a:t>
            </a:r>
          </a:p>
        </p:txBody>
      </p:sp>
      <p:sp>
        <p:nvSpPr>
          <p:cNvPr id="3" name="Slide Number Placeholder 2"/>
          <p:cNvSpPr>
            <a:spLocks noGrp="1"/>
          </p:cNvSpPr>
          <p:nvPr>
            <p:ph type="sldNum" sz="quarter" idx="12"/>
          </p:nvPr>
        </p:nvSpPr>
        <p:spPr/>
        <p:txBody>
          <a:bodyPr/>
          <a:lstStyle/>
          <a:p>
            <a:fld id="{3B1A82D2-719A-4A87-BECB-D74482819C19}" type="slidenum">
              <a:rPr lang="en-US" smtClean="0"/>
              <a:pPr/>
              <a:t>4</a:t>
            </a:fld>
            <a:endParaRPr lang="en-US"/>
          </a:p>
        </p:txBody>
      </p:sp>
      <p:pic>
        <p:nvPicPr>
          <p:cNvPr id="6" name="Picture 2" descr="(top) A budding Lysteria monocytogenes mother cell and bud. &#10;(middle) On the left is a drawing illustrating baeocyte formation showing a single baeocyte, division of cytoplasm to form basal cell and larger apical cell, then an apical cell that has undergone multiple rounds of division and contains multiple baeocytes. On the right is a photo of baeocytes produced by the cyanobacterium Dermocarpella. &#10;(bottom) Spore formation by Streptomyces coelicolor. Illustration shows a spore, then the germ tube, vegetative hypha, branch, aerial hypha, and then formation of spores on the aerial hypha.  The cells shown in the micrograph on the right are expressing a spore-formation related protein fused to the fluorescent molecule mCherry." title="Figure 7.2 Some Bacteria Reproduce by Methods Other than Binary Fission."/>
          <p:cNvPicPr>
            <a:picLocks noGrp="1" noChangeAspect="1" noChangeArrowheads="1"/>
          </p:cNvPicPr>
          <p:nvPr>
            <p:ph idx="1"/>
          </p:nvPr>
        </p:nvPicPr>
        <p:blipFill>
          <a:blip r:embed="rId2" cstate="print"/>
          <a:stretch>
            <a:fillRect/>
          </a:stretch>
        </p:blipFill>
        <p:spPr bwMode="auto">
          <a:xfrm>
            <a:off x="1415852" y="1295401"/>
            <a:ext cx="6365710" cy="5486400"/>
          </a:xfrm>
          <a:prstGeom prst="rect">
            <a:avLst/>
          </a:prstGeom>
          <a:noFill/>
          <a:ln w="9525">
            <a:noFill/>
            <a:miter lim="800000"/>
            <a:headEnd/>
            <a:tailEnd/>
          </a:ln>
        </p:spPr>
      </p:pic>
    </p:spTree>
    <p:extLst>
      <p:ext uri="{BB962C8B-B14F-4D97-AF65-F5344CB8AC3E}">
        <p14:creationId xmlns:p14="http://schemas.microsoft.com/office/powerpoint/2010/main" val="3554940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7.2 Bacterial Cell Cycles Can Be Divided </a:t>
            </a:r>
            <a:br>
              <a:rPr lang="en-US" dirty="0"/>
            </a:br>
            <a:r>
              <a:rPr lang="en-US" dirty="0"/>
              <a:t>Into Three Phases</a:t>
            </a:r>
          </a:p>
        </p:txBody>
      </p:sp>
      <p:sp>
        <p:nvSpPr>
          <p:cNvPr id="3" name="Content Placeholder 2"/>
          <p:cNvSpPr>
            <a:spLocks noGrp="1"/>
          </p:cNvSpPr>
          <p:nvPr>
            <p:ph idx="1"/>
          </p:nvPr>
        </p:nvSpPr>
        <p:spPr>
          <a:xfrm>
            <a:off x="457200" y="1874837"/>
            <a:ext cx="8229600" cy="4525963"/>
          </a:xfrm>
        </p:spPr>
        <p:txBody>
          <a:bodyPr>
            <a:normAutofit lnSpcReduction="10000"/>
          </a:bodyPr>
          <a:lstStyle/>
          <a:p>
            <a:pPr marL="514350" indent="-514350">
              <a:buFont typeface="+mj-lt"/>
              <a:buAutoNum type="arabicPeriod"/>
            </a:pPr>
            <a:r>
              <a:rPr lang="en-US" dirty="0"/>
              <a:t>Summarize the three phases in a typical bacterial cell cycle</a:t>
            </a:r>
            <a:br>
              <a:rPr lang="en-US" dirty="0"/>
            </a:br>
            <a:endParaRPr lang="en-US" dirty="0"/>
          </a:p>
          <a:p>
            <a:pPr marL="514350" indent="-514350">
              <a:buFont typeface="+mj-lt"/>
              <a:buAutoNum type="arabicPeriod"/>
            </a:pPr>
            <a:r>
              <a:rPr lang="en-US" dirty="0"/>
              <a:t>Summarize current models for chromosome partitioning</a:t>
            </a:r>
            <a:br>
              <a:rPr lang="en-US" dirty="0"/>
            </a:br>
            <a:endParaRPr lang="en-US" dirty="0"/>
          </a:p>
          <a:p>
            <a:pPr marL="514350" indent="-514350">
              <a:buFont typeface="+mj-lt"/>
              <a:buAutoNum type="arabicPeriod"/>
            </a:pPr>
            <a:r>
              <a:rPr lang="en-US" dirty="0"/>
              <a:t>State the functions of cytoskeletal proteins during cytokinesis and in determining cell shape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a:t>
            </a:fld>
            <a:endParaRPr lang="en-US"/>
          </a:p>
        </p:txBody>
      </p:sp>
    </p:spTree>
    <p:extLst>
      <p:ext uri="{BB962C8B-B14F-4D97-AF65-F5344CB8AC3E}">
        <p14:creationId xmlns:p14="http://schemas.microsoft.com/office/powerpoint/2010/main" val="1266284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Bacterial Cell Cycle</a:t>
            </a:r>
          </a:p>
        </p:txBody>
      </p:sp>
      <p:sp>
        <p:nvSpPr>
          <p:cNvPr id="3" name="Content Placeholder 2"/>
          <p:cNvSpPr>
            <a:spLocks noGrp="1"/>
          </p:cNvSpPr>
          <p:nvPr>
            <p:ph idx="1"/>
          </p:nvPr>
        </p:nvSpPr>
        <p:spPr/>
        <p:txBody>
          <a:bodyPr/>
          <a:lstStyle/>
          <a:p>
            <a:r>
              <a:rPr lang="en-US" dirty="0"/>
              <a:t>Cell cycle is sequence of events from formation of new cell through the next cell division</a:t>
            </a:r>
          </a:p>
          <a:p>
            <a:pPr lvl="1"/>
            <a:r>
              <a:rPr lang="en-US" dirty="0"/>
              <a:t>most bacteria divide by binary fission</a:t>
            </a:r>
          </a:p>
          <a:p>
            <a:pPr marL="457200" lvl="1" indent="0">
              <a:buNone/>
            </a:pPr>
            <a:endParaRPr lang="en-US" dirty="0"/>
          </a:p>
          <a:p>
            <a:r>
              <a:rPr lang="en-US" dirty="0"/>
              <a:t>Two pathways function during cycle</a:t>
            </a:r>
          </a:p>
          <a:p>
            <a:pPr lvl="1"/>
            <a:r>
              <a:rPr lang="en-US" dirty="0"/>
              <a:t>DNA replication and partition</a:t>
            </a:r>
          </a:p>
          <a:p>
            <a:pPr lvl="1"/>
            <a:r>
              <a:rPr lang="en-US" dirty="0"/>
              <a:t>cytokinesis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spTree>
    <p:extLst>
      <p:ext uri="{BB962C8B-B14F-4D97-AF65-F5344CB8AC3E}">
        <p14:creationId xmlns:p14="http://schemas.microsoft.com/office/powerpoint/2010/main" val="2783716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Chromosome Replication and Partitioning</a:t>
            </a:r>
          </a:p>
        </p:txBody>
      </p:sp>
      <p:sp>
        <p:nvSpPr>
          <p:cNvPr id="3" name="Content Placeholder 2"/>
          <p:cNvSpPr>
            <a:spLocks noGrp="1"/>
          </p:cNvSpPr>
          <p:nvPr>
            <p:ph idx="1"/>
          </p:nvPr>
        </p:nvSpPr>
        <p:spPr>
          <a:xfrm>
            <a:off x="457200" y="1600200"/>
            <a:ext cx="8229600" cy="5029200"/>
          </a:xfrm>
        </p:spPr>
        <p:txBody>
          <a:bodyPr>
            <a:normAutofit/>
          </a:bodyPr>
          <a:lstStyle/>
          <a:p>
            <a:pPr>
              <a:lnSpc>
                <a:spcPct val="80000"/>
              </a:lnSpc>
            </a:pPr>
            <a:r>
              <a:rPr lang="en-US" sz="2400" dirty="0"/>
              <a:t>Most bacterial chromosomes are circular</a:t>
            </a:r>
          </a:p>
          <a:p>
            <a:pPr marL="0" indent="0">
              <a:lnSpc>
                <a:spcPct val="80000"/>
              </a:lnSpc>
              <a:buNone/>
            </a:pPr>
            <a:endParaRPr lang="en-US" sz="2400" dirty="0"/>
          </a:p>
          <a:p>
            <a:pPr>
              <a:lnSpc>
                <a:spcPct val="80000"/>
              </a:lnSpc>
            </a:pPr>
            <a:r>
              <a:rPr lang="en-US" dirty="0"/>
              <a:t>S</a:t>
            </a:r>
            <a:r>
              <a:rPr lang="en-US" sz="2400" dirty="0"/>
              <a:t>ingle origin of replication – site at which replication begins</a:t>
            </a:r>
          </a:p>
          <a:p>
            <a:pPr marL="0" indent="0">
              <a:lnSpc>
                <a:spcPct val="80000"/>
              </a:lnSpc>
              <a:buNone/>
            </a:pPr>
            <a:endParaRPr lang="en-US" sz="2400" dirty="0"/>
          </a:p>
          <a:p>
            <a:pPr>
              <a:lnSpc>
                <a:spcPct val="80000"/>
              </a:lnSpc>
            </a:pPr>
            <a:r>
              <a:rPr lang="en-US" dirty="0"/>
              <a:t>T</a:t>
            </a:r>
            <a:r>
              <a:rPr lang="en-US" sz="2400" dirty="0"/>
              <a:t>erminus – site at which replication is terminated, located opposite of the origin</a:t>
            </a:r>
          </a:p>
          <a:p>
            <a:pPr marL="0" indent="0">
              <a:lnSpc>
                <a:spcPct val="80000"/>
              </a:lnSpc>
              <a:buNone/>
            </a:pPr>
            <a:endParaRPr lang="en-US" sz="2400" dirty="0"/>
          </a:p>
          <a:p>
            <a:pPr>
              <a:lnSpc>
                <a:spcPct val="80000"/>
              </a:lnSpc>
            </a:pPr>
            <a:r>
              <a:rPr lang="en-US" dirty="0"/>
              <a:t>R</a:t>
            </a:r>
            <a:r>
              <a:rPr lang="en-US" sz="2400" dirty="0"/>
              <a:t>eplisome – group of proteins needed for DNA synthesis</a:t>
            </a:r>
          </a:p>
          <a:p>
            <a:pPr marL="0" indent="0">
              <a:lnSpc>
                <a:spcPct val="80000"/>
              </a:lnSpc>
              <a:buNone/>
            </a:pPr>
            <a:endParaRPr lang="en-US" sz="2400" dirty="0"/>
          </a:p>
          <a:p>
            <a:pPr>
              <a:lnSpc>
                <a:spcPct val="80000"/>
              </a:lnSpc>
            </a:pPr>
            <a:r>
              <a:rPr lang="en-US" sz="2400" dirty="0"/>
              <a:t>DNA replication proceeds in both directions from the origin</a:t>
            </a:r>
          </a:p>
          <a:p>
            <a:pPr marL="0" indent="0">
              <a:lnSpc>
                <a:spcPct val="80000"/>
              </a:lnSpc>
              <a:buNone/>
            </a:pPr>
            <a:endParaRPr lang="en-US" sz="2400" dirty="0"/>
          </a:p>
          <a:p>
            <a:pPr>
              <a:lnSpc>
                <a:spcPct val="80000"/>
              </a:lnSpc>
            </a:pPr>
            <a:r>
              <a:rPr lang="en-US" dirty="0"/>
              <a:t>O</a:t>
            </a:r>
            <a:r>
              <a:rPr lang="en-US" sz="2400" dirty="0"/>
              <a:t>rigins move to opposite ends of the cell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a:t>
            </a:fld>
            <a:endParaRPr lang="en-US"/>
          </a:p>
        </p:txBody>
      </p:sp>
    </p:spTree>
    <p:extLst>
      <p:ext uri="{BB962C8B-B14F-4D97-AF65-F5344CB8AC3E}">
        <p14:creationId xmlns:p14="http://schemas.microsoft.com/office/powerpoint/2010/main" val="1337345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Content Placeholder 5" descr="1. Initiation Mass Reached. Initiation of the cell cycle results from an increase in the mass of a cell, which also results in the accumulation of the DnaA protein, which initiates DNA replication. &#10;2. Initiation of Replication. As the cell readies for DNA replication, the origin or replication migrates to the center of the cell and proteins that make up the replisome assemble. As DNA replication proceeds, newly synthesized chromosomes move toward poles and the cell increases in length. &#10;3. Threshold Cell Length Reached. The cell reaches a certain length (threshold length)&#10;4. Initiation of Septum Formation. Initiation of septum formation is triggered and cytokinesis occurs, producing two daughter cells that have inherited one chromosome each. &#10;In this illustration, one round of DNA replication is completed before the cell divides. In rapidly growing cultures (generation times of about 20 minutes), second and third rounds of DNA replication are initiated before division of the original cell is completed. Thus the daughter cells inherit partially replicated DNA." title="Figure 7.3 Cell Cycle of E. coli."/>
          <p:cNvPicPr>
            <a:picLocks noGrp="1" noChangeAspect="1" noChangeArrowheads="1"/>
          </p:cNvPicPr>
          <p:nvPr>
            <p:ph idx="1"/>
          </p:nvPr>
        </p:nvPicPr>
        <p:blipFill>
          <a:blip r:embed="rId2" cstate="print"/>
          <a:stretch>
            <a:fillRect/>
          </a:stretch>
        </p:blipFill>
        <p:spPr bwMode="auto">
          <a:xfrm>
            <a:off x="685800" y="990600"/>
            <a:ext cx="7890348" cy="5638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0"/>
            <a:ext cx="8229600" cy="1143000"/>
          </a:xfrm>
        </p:spPr>
        <p:txBody>
          <a:bodyPr>
            <a:normAutofit/>
          </a:bodyPr>
          <a:lstStyle/>
          <a:p>
            <a:r>
              <a:rPr lang="en-US" dirty="0"/>
              <a:t>Cell Cycle of </a:t>
            </a:r>
            <a:r>
              <a:rPr lang="en-US" i="1" dirty="0"/>
              <a:t>E. coli </a:t>
            </a:r>
            <a:r>
              <a:rPr lang="en-US" dirty="0"/>
              <a:t>Bacteria</a:t>
            </a:r>
          </a:p>
        </p:txBody>
      </p:sp>
      <p:sp>
        <p:nvSpPr>
          <p:cNvPr id="3" name="Slide Number Placeholder 2"/>
          <p:cNvSpPr>
            <a:spLocks noGrp="1"/>
          </p:cNvSpPr>
          <p:nvPr>
            <p:ph type="sldNum" sz="quarter" idx="12"/>
          </p:nvPr>
        </p:nvSpPr>
        <p:spPr>
          <a:xfrm>
            <a:off x="6858000" y="6356350"/>
            <a:ext cx="2133600" cy="365125"/>
          </a:xfrm>
        </p:spPr>
        <p:txBody>
          <a:bodyPr/>
          <a:lstStyle/>
          <a:p>
            <a:fld id="{3B1A82D2-719A-4A87-BECB-D74482819C19}" type="slidenum">
              <a:rPr lang="en-US" smtClean="0"/>
              <a:pPr/>
              <a:t>8</a:t>
            </a:fld>
            <a:endParaRPr lang="en-US" dirty="0"/>
          </a:p>
        </p:txBody>
      </p:sp>
    </p:spTree>
    <p:extLst>
      <p:ext uri="{BB962C8B-B14F-4D97-AF65-F5344CB8AC3E}">
        <p14:creationId xmlns:p14="http://schemas.microsoft.com/office/powerpoint/2010/main" val="187742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0079" y="76200"/>
            <a:ext cx="8229600" cy="781429"/>
          </a:xfrm>
        </p:spPr>
        <p:txBody>
          <a:bodyPr>
            <a:normAutofit/>
          </a:bodyPr>
          <a:lstStyle/>
          <a:p>
            <a:r>
              <a:rPr lang="en-US" sz="3600" dirty="0"/>
              <a:t>Chromosome Partitioning – An Example</a:t>
            </a:r>
          </a:p>
        </p:txBody>
      </p:sp>
      <p:sp>
        <p:nvSpPr>
          <p:cNvPr id="5" name="Content Placeholder 4"/>
          <p:cNvSpPr>
            <a:spLocks noGrp="1"/>
          </p:cNvSpPr>
          <p:nvPr>
            <p:ph sz="half" idx="1"/>
          </p:nvPr>
        </p:nvSpPr>
        <p:spPr>
          <a:xfrm>
            <a:off x="152400" y="838200"/>
            <a:ext cx="8839200" cy="3200400"/>
          </a:xfrm>
        </p:spPr>
        <p:txBody>
          <a:bodyPr>
            <a:normAutofit fontScale="70000" lnSpcReduction="20000"/>
          </a:bodyPr>
          <a:lstStyle/>
          <a:p>
            <a:r>
              <a:rPr lang="en-US" dirty="0"/>
              <a:t>Replisome pushes, or leads to condensation of, daughter chromosomes to opposite ends</a:t>
            </a:r>
            <a:br>
              <a:rPr lang="en-US" dirty="0"/>
            </a:br>
            <a:endParaRPr lang="en-US" dirty="0"/>
          </a:p>
          <a:p>
            <a:r>
              <a:rPr lang="en-US" dirty="0" err="1"/>
              <a:t>ParA</a:t>
            </a:r>
            <a:r>
              <a:rPr lang="en-US" dirty="0"/>
              <a:t>/</a:t>
            </a:r>
            <a:r>
              <a:rPr lang="en-US" dirty="0" err="1"/>
              <a:t>ParB</a:t>
            </a:r>
            <a:r>
              <a:rPr lang="en-US" dirty="0"/>
              <a:t> proteins in </a:t>
            </a:r>
            <a:r>
              <a:rPr lang="en-US" i="1" dirty="0"/>
              <a:t>C. </a:t>
            </a:r>
            <a:r>
              <a:rPr lang="en-US" i="1" dirty="0" err="1"/>
              <a:t>crescentus</a:t>
            </a:r>
            <a:br>
              <a:rPr lang="en-US" i="1" dirty="0"/>
            </a:br>
            <a:endParaRPr lang="en-US" i="1" dirty="0"/>
          </a:p>
          <a:p>
            <a:pPr lvl="1"/>
            <a:r>
              <a:rPr lang="en-US" dirty="0" err="1"/>
              <a:t>ParA</a:t>
            </a:r>
            <a:r>
              <a:rPr lang="en-US" dirty="0"/>
              <a:t> polymerizes to form filaments</a:t>
            </a:r>
          </a:p>
          <a:p>
            <a:pPr lvl="1"/>
            <a:r>
              <a:rPr lang="en-US" dirty="0" err="1"/>
              <a:t>ParB</a:t>
            </a:r>
            <a:r>
              <a:rPr lang="en-US" dirty="0"/>
              <a:t> binds DNA at </a:t>
            </a:r>
            <a:r>
              <a:rPr lang="en-US" i="1" dirty="0" err="1"/>
              <a:t>parS</a:t>
            </a:r>
            <a:r>
              <a:rPr lang="en-US" dirty="0"/>
              <a:t> site near origin of replication; technically, </a:t>
            </a:r>
            <a:r>
              <a:rPr lang="en-US" dirty="0" err="1"/>
              <a:t>ParB</a:t>
            </a:r>
            <a:r>
              <a:rPr lang="en-US" dirty="0"/>
              <a:t> binds 2 copies of </a:t>
            </a:r>
            <a:r>
              <a:rPr lang="en-US" i="1" dirty="0" err="1"/>
              <a:t>parS</a:t>
            </a:r>
            <a:r>
              <a:rPr lang="en-US" dirty="0"/>
              <a:t> site since DNA has been replicated</a:t>
            </a:r>
          </a:p>
          <a:p>
            <a:pPr lvl="1"/>
            <a:r>
              <a:rPr lang="en-US" dirty="0" err="1"/>
              <a:t>ParA</a:t>
            </a:r>
            <a:r>
              <a:rPr lang="en-US" dirty="0"/>
              <a:t> interaction with 1 of the 2 </a:t>
            </a:r>
            <a:r>
              <a:rPr lang="en-US" dirty="0" err="1"/>
              <a:t>ParB</a:t>
            </a:r>
            <a:r>
              <a:rPr lang="en-US" dirty="0"/>
              <a:t>/</a:t>
            </a:r>
            <a:r>
              <a:rPr lang="en-US" i="1" dirty="0" err="1"/>
              <a:t>parS</a:t>
            </a:r>
            <a:r>
              <a:rPr lang="en-US" dirty="0"/>
              <a:t> complexes causes it to depolymerize, pulling one copy of the DNA away</a:t>
            </a:r>
          </a:p>
          <a:p>
            <a:pPr lvl="1"/>
            <a:r>
              <a:rPr lang="en-US" dirty="0"/>
              <a:t>system in almost 70% of 400 sequenced bacterial genomes</a:t>
            </a:r>
          </a:p>
          <a:p>
            <a:pPr lvl="1"/>
            <a:r>
              <a:rPr lang="en-US" dirty="0"/>
              <a:t>more work remains to understand partitioning in bacteria</a:t>
            </a:r>
          </a:p>
          <a:p>
            <a:endParaRPr lang="en-US" dirty="0"/>
          </a:p>
        </p:txBody>
      </p:sp>
      <p:sp>
        <p:nvSpPr>
          <p:cNvPr id="4" name="Slide Number Placeholder 3"/>
          <p:cNvSpPr>
            <a:spLocks noGrp="1"/>
          </p:cNvSpPr>
          <p:nvPr>
            <p:ph type="sldNum" sz="quarter" idx="12"/>
          </p:nvPr>
        </p:nvSpPr>
        <p:spPr>
          <a:xfrm>
            <a:off x="6934200" y="6356350"/>
            <a:ext cx="2133600" cy="365125"/>
          </a:xfrm>
        </p:spPr>
        <p:txBody>
          <a:bodyPr/>
          <a:lstStyle/>
          <a:p>
            <a:fld id="{3B1A82D2-719A-4A87-BECB-D74482819C19}" type="slidenum">
              <a:rPr lang="en-US" smtClean="0"/>
              <a:pPr/>
              <a:t>9</a:t>
            </a:fld>
            <a:endParaRPr lang="en-US"/>
          </a:p>
        </p:txBody>
      </p:sp>
      <p:pic>
        <p:nvPicPr>
          <p:cNvPr id="8" name="Picture 2" descr="The mechanism by which chromosomes are partitioned to each daughter cell has not been fully elucidated, but studies of C. crescentus have provided the most complete understanding of the partitioning process.  ParA and ParB proteins work together to initiate partitioning.  ParA is able to polymerize to form filaments, and ParB is a DNA-binding protein that binds a site on the chromosome called parS, as illustrated in this figure.&#10;ParB binds each parS site on the two daughter chromosomes.  ParA is a cytoskeletal protein that pulls one daughter chromosome to the pole opposite the stalk pole of the cell.  Other proteins are involved in localizing ParA and ParB to their respective poles." title="Figure 7.4 The ParAB/parS Partitioning System of Caulobacter crescentus."/>
          <p:cNvPicPr>
            <a:picLocks noGrp="1" noChangeAspect="1" noChangeArrowheads="1"/>
          </p:cNvPicPr>
          <p:nvPr>
            <p:ph sz="half" idx="2"/>
          </p:nvPr>
        </p:nvPicPr>
        <p:blipFill>
          <a:blip r:embed="rId2" cstate="print"/>
          <a:srcRect/>
          <a:stretch>
            <a:fillRect/>
          </a:stretch>
        </p:blipFill>
        <p:spPr bwMode="auto">
          <a:xfrm>
            <a:off x="574695" y="3962400"/>
            <a:ext cx="7959705" cy="2784302"/>
          </a:xfrm>
          <a:prstGeom prst="rect">
            <a:avLst/>
          </a:prstGeom>
          <a:noFill/>
        </p:spPr>
      </p:pic>
    </p:spTree>
    <p:extLst>
      <p:ext uri="{BB962C8B-B14F-4D97-AF65-F5344CB8AC3E}">
        <p14:creationId xmlns:p14="http://schemas.microsoft.com/office/powerpoint/2010/main" val="2630405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Cytokinesis - Septation</a:t>
            </a:r>
          </a:p>
        </p:txBody>
      </p:sp>
      <p:sp>
        <p:nvSpPr>
          <p:cNvPr id="3" name="Content Placeholder 2"/>
          <p:cNvSpPr>
            <a:spLocks noGrp="1"/>
          </p:cNvSpPr>
          <p:nvPr>
            <p:ph idx="1"/>
          </p:nvPr>
        </p:nvSpPr>
        <p:spPr/>
        <p:txBody>
          <a:bodyPr/>
          <a:lstStyle/>
          <a:p>
            <a:pPr>
              <a:lnSpc>
                <a:spcPct val="90000"/>
              </a:lnSpc>
            </a:pPr>
            <a:r>
              <a:rPr lang="en-US" dirty="0"/>
              <a:t>Septation – formation of cross walls between daughter cells</a:t>
            </a:r>
          </a:p>
          <a:p>
            <a:pPr marL="0" indent="0">
              <a:lnSpc>
                <a:spcPct val="90000"/>
              </a:lnSpc>
              <a:buNone/>
            </a:pPr>
            <a:r>
              <a:rPr lang="en-US" dirty="0"/>
              <a:t> </a:t>
            </a:r>
          </a:p>
          <a:p>
            <a:pPr>
              <a:lnSpc>
                <a:spcPct val="90000"/>
              </a:lnSpc>
            </a:pPr>
            <a:r>
              <a:rPr lang="en-US" dirty="0"/>
              <a:t>Several steps</a:t>
            </a:r>
          </a:p>
          <a:p>
            <a:pPr lvl="1">
              <a:lnSpc>
                <a:spcPct val="90000"/>
              </a:lnSpc>
            </a:pPr>
            <a:r>
              <a:rPr lang="en-US" dirty="0"/>
              <a:t>selection of site for septum formation</a:t>
            </a:r>
          </a:p>
          <a:p>
            <a:pPr lvl="1">
              <a:lnSpc>
                <a:spcPct val="90000"/>
              </a:lnSpc>
            </a:pPr>
            <a:r>
              <a:rPr lang="en-US" dirty="0"/>
              <a:t>assembly of Z ring (composed of protein </a:t>
            </a:r>
            <a:r>
              <a:rPr lang="en-US" dirty="0" err="1"/>
              <a:t>FtsZ</a:t>
            </a:r>
            <a:endParaRPr lang="en-US" dirty="0"/>
          </a:p>
          <a:p>
            <a:pPr lvl="1">
              <a:lnSpc>
                <a:spcPct val="90000"/>
              </a:lnSpc>
            </a:pPr>
            <a:r>
              <a:rPr lang="en-US" dirty="0"/>
              <a:t>assembly of cell wall synthesizing machinery</a:t>
            </a:r>
          </a:p>
          <a:p>
            <a:pPr lvl="1">
              <a:lnSpc>
                <a:spcPct val="90000"/>
              </a:lnSpc>
            </a:pPr>
            <a:r>
              <a:rPr lang="en-US" dirty="0"/>
              <a:t>constriction of cell and septum formation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10</a:t>
            </a:fld>
            <a:endParaRPr lang="en-US"/>
          </a:p>
        </p:txBody>
      </p:sp>
    </p:spTree>
    <p:extLst>
      <p:ext uri="{BB962C8B-B14F-4D97-AF65-F5344CB8AC3E}">
        <p14:creationId xmlns:p14="http://schemas.microsoft.com/office/powerpoint/2010/main" val="1706906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0" y="76200"/>
            <a:ext cx="4495800" cy="1143000"/>
          </a:xfrm>
        </p:spPr>
        <p:txBody>
          <a:bodyPr>
            <a:normAutofit fontScale="90000"/>
          </a:bodyPr>
          <a:lstStyle/>
          <a:p>
            <a:r>
              <a:rPr lang="en-US" dirty="0"/>
              <a:t>Z Ring Formation - Role in Septation</a:t>
            </a:r>
          </a:p>
        </p:txBody>
      </p:sp>
      <p:sp>
        <p:nvSpPr>
          <p:cNvPr id="6" name="Content Placeholder 5"/>
          <p:cNvSpPr>
            <a:spLocks noGrp="1"/>
          </p:cNvSpPr>
          <p:nvPr>
            <p:ph sz="half" idx="2"/>
          </p:nvPr>
        </p:nvSpPr>
        <p:spPr>
          <a:xfrm>
            <a:off x="4648200" y="1371600"/>
            <a:ext cx="4038600" cy="5334000"/>
          </a:xfrm>
        </p:spPr>
        <p:txBody>
          <a:bodyPr>
            <a:normAutofit fontScale="92500" lnSpcReduction="20000"/>
          </a:bodyPr>
          <a:lstStyle/>
          <a:p>
            <a:r>
              <a:rPr lang="en-US" dirty="0"/>
              <a:t>Protein </a:t>
            </a:r>
            <a:r>
              <a:rPr lang="en-US" dirty="0" err="1"/>
              <a:t>FtsZ</a:t>
            </a:r>
            <a:endParaRPr lang="en-US" dirty="0"/>
          </a:p>
          <a:p>
            <a:pPr lvl="1"/>
            <a:r>
              <a:rPr lang="en-US" dirty="0"/>
              <a:t>tubulin homologue, found in most bacteria and archaea </a:t>
            </a:r>
          </a:p>
          <a:p>
            <a:pPr lvl="1"/>
            <a:r>
              <a:rPr lang="en-US" dirty="0"/>
              <a:t>polymerization forms Z ring, filaments of meshwork</a:t>
            </a:r>
            <a:br>
              <a:rPr lang="en-US" dirty="0"/>
            </a:br>
            <a:endParaRPr lang="en-US" dirty="0"/>
          </a:p>
          <a:p>
            <a:r>
              <a:rPr lang="en-US" dirty="0" err="1"/>
              <a:t>MinCDE</a:t>
            </a:r>
            <a:r>
              <a:rPr lang="en-US" dirty="0"/>
              <a:t> system in </a:t>
            </a:r>
            <a:r>
              <a:rPr lang="en-US" i="1" dirty="0"/>
              <a:t>E. coli</a:t>
            </a:r>
            <a:r>
              <a:rPr lang="en-US" dirty="0"/>
              <a:t> limits Z ring to cell center</a:t>
            </a:r>
          </a:p>
          <a:p>
            <a:pPr lvl="1"/>
            <a:r>
              <a:rPr lang="en-US" dirty="0" err="1"/>
              <a:t>MinC</a:t>
            </a:r>
            <a:r>
              <a:rPr lang="en-US" dirty="0"/>
              <a:t>, </a:t>
            </a:r>
            <a:r>
              <a:rPr lang="en-US" dirty="0" err="1"/>
              <a:t>MinD</a:t>
            </a:r>
            <a:r>
              <a:rPr lang="en-US" dirty="0"/>
              <a:t>, </a:t>
            </a:r>
            <a:r>
              <a:rPr lang="en-US" dirty="0" err="1"/>
              <a:t>MinE</a:t>
            </a:r>
            <a:r>
              <a:rPr lang="en-US" dirty="0"/>
              <a:t> oscillate from one side of cell to other</a:t>
            </a:r>
          </a:p>
          <a:p>
            <a:pPr lvl="1"/>
            <a:r>
              <a:rPr lang="en-US" dirty="0"/>
              <a:t>high concentration of </a:t>
            </a:r>
            <a:r>
              <a:rPr lang="en-US" dirty="0" err="1"/>
              <a:t>MinC</a:t>
            </a:r>
            <a:r>
              <a:rPr lang="en-US" dirty="0"/>
              <a:t> at poles prevents formation of Z ring at those locations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11</a:t>
            </a:fld>
            <a:endParaRPr lang="en-US"/>
          </a:p>
        </p:txBody>
      </p:sp>
      <p:pic>
        <p:nvPicPr>
          <p:cNvPr id="8" name="Picture 2" descr="Correct septation requires that the Z ring form at the proper place at the proper time.  In E. coli the MinCDE system limits Z-ring formation to the center of the cell.  Three proteins compose the system (MinC, MinD, and MinE).  These proteins oscillate from one end of the cell to the other, as shown in this illustration.  This oscillation creates high concentrations of MinC at the poles, where it prevents formation of the Z-ring; thus Z-ring formation can occur only at midcell, which lacks MinCDE." title="Figure 7.5 MinCDE Proteins and Establishment of the Site of Septum Formation."/>
          <p:cNvPicPr>
            <a:picLocks noGrp="1" noChangeAspect="1" noChangeArrowheads="1"/>
          </p:cNvPicPr>
          <p:nvPr>
            <p:ph sz="half" idx="1"/>
          </p:nvPr>
        </p:nvPicPr>
        <p:blipFill>
          <a:blip r:embed="rId2" cstate="print"/>
          <a:srcRect/>
          <a:stretch>
            <a:fillRect/>
          </a:stretch>
        </p:blipFill>
        <p:spPr bwMode="auto">
          <a:xfrm>
            <a:off x="533401" y="76200"/>
            <a:ext cx="2841716" cy="6691489"/>
          </a:xfrm>
          <a:prstGeom prst="rect">
            <a:avLst/>
          </a:prstGeom>
          <a:noFill/>
        </p:spPr>
      </p:pic>
    </p:spTree>
    <p:extLst>
      <p:ext uri="{BB962C8B-B14F-4D97-AF65-F5344CB8AC3E}">
        <p14:creationId xmlns:p14="http://schemas.microsoft.com/office/powerpoint/2010/main" val="1672087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a:bodyPr>
          <a:lstStyle/>
          <a:p>
            <a:r>
              <a:rPr lang="en-US" dirty="0" err="1"/>
              <a:t>Divisome</a:t>
            </a:r>
            <a:r>
              <a:rPr lang="en-US" dirty="0"/>
              <a:t> Formation</a:t>
            </a:r>
          </a:p>
        </p:txBody>
      </p:sp>
      <p:sp>
        <p:nvSpPr>
          <p:cNvPr id="4" name="Content Placeholder 3"/>
          <p:cNvSpPr>
            <a:spLocks noGrp="1"/>
          </p:cNvSpPr>
          <p:nvPr>
            <p:ph sz="half" idx="2"/>
          </p:nvPr>
        </p:nvSpPr>
        <p:spPr>
          <a:xfrm>
            <a:off x="152400" y="4648200"/>
            <a:ext cx="8839200" cy="2087563"/>
          </a:xfrm>
        </p:spPr>
        <p:txBody>
          <a:bodyPr>
            <a:normAutofit fontScale="85000" lnSpcReduction="20000"/>
          </a:bodyPr>
          <a:lstStyle/>
          <a:p>
            <a:r>
              <a:rPr lang="en-US" dirty="0"/>
              <a:t>Anchoring proteins link Z ring to the plasma membrane</a:t>
            </a:r>
            <a:br>
              <a:rPr lang="en-US" dirty="0"/>
            </a:br>
            <a:endParaRPr lang="en-US" dirty="0"/>
          </a:p>
          <a:p>
            <a:r>
              <a:rPr lang="en-US" dirty="0"/>
              <a:t>Cell wall-synthesizing machinery assembled</a:t>
            </a:r>
            <a:br>
              <a:rPr lang="en-US" dirty="0"/>
            </a:br>
            <a:endParaRPr lang="en-US" dirty="0"/>
          </a:p>
          <a:p>
            <a:r>
              <a:rPr lang="en-US" dirty="0"/>
              <a:t>Constriction of the Z ring, invagination of the plasma membrane, and synthesis of septal wall complete division</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12</a:t>
            </a:fld>
            <a:endParaRPr lang="en-US"/>
          </a:p>
        </p:txBody>
      </p:sp>
      <p:pic>
        <p:nvPicPr>
          <p:cNvPr id="1027" name="Picture 3" descr="The cell division apparatus is composed of numerous proteins. The first step in divisome formation is the polymerization of FtsZ to form the Z ring. FtsA and ZipA proteins anchor the Z ring to the plasma membrane, and then other proteins in the divisome assemble along the Z ring.  FtsA and ZipA proteins anchor the Z ring to the plasma membrane, and then other proteins in the divisome assemble along the Z ring.  FtsA and ZipA also stabilize the Z ring, along with ZapA, ZapB, ZapC, and ZapD.  FtsE and FtsX help recruit and activate enzymes called amidases to the divisome.  Amidases function to split newly synthesized wall so that daughter cells can separate.&#10;&#10;Table 7.1 Some E. coli Divisome Proteins and Their Functions&#10;FtsA, ZipA - Anchor Z ring to plasma membrane&#10;FtsZ - Forms Z ring&#10;FtsK - Chromosome segregation and separation of chromosome dimers&#10;FtsQLB - May provide a scaffold for assembly of proteins involved in peptidoglycan synthesis&#10;FtsI1, FtsW - Peptidoglycan synthesis&#10;FtsN - Thought to trigger constriction initiation" title="Figure 7.6 The E. coli Divisome and Table 7.1 Some E. coli Divisome Proteins and Their Functions."/>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6505" y="838200"/>
            <a:ext cx="9117495" cy="3689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3648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Autofit/>
          </a:bodyPr>
          <a:lstStyle/>
          <a:p>
            <a:r>
              <a:rPr lang="en-US" sz="3400" dirty="0"/>
              <a:t>Cellular Growth and Determination of Cell Shape</a:t>
            </a:r>
          </a:p>
        </p:txBody>
      </p:sp>
      <p:sp>
        <p:nvSpPr>
          <p:cNvPr id="6" name="Content Placeholder 5"/>
          <p:cNvSpPr>
            <a:spLocks noGrp="1"/>
          </p:cNvSpPr>
          <p:nvPr>
            <p:ph sz="half" idx="1"/>
          </p:nvPr>
        </p:nvSpPr>
        <p:spPr>
          <a:xfrm>
            <a:off x="135228" y="914400"/>
            <a:ext cx="8991600" cy="2209800"/>
          </a:xfrm>
        </p:spPr>
        <p:txBody>
          <a:bodyPr>
            <a:normAutofit fontScale="77500" lnSpcReduction="20000"/>
          </a:bodyPr>
          <a:lstStyle/>
          <a:p>
            <a:pPr>
              <a:lnSpc>
                <a:spcPct val="110000"/>
              </a:lnSpc>
            </a:pPr>
            <a:r>
              <a:rPr lang="en-US" dirty="0"/>
              <a:t>Determined by peptidoglycan synthesis in bacteria</a:t>
            </a:r>
            <a:br>
              <a:rPr lang="en-US" dirty="0"/>
            </a:br>
            <a:endParaRPr lang="en-US" dirty="0"/>
          </a:p>
          <a:p>
            <a:pPr lvl="1">
              <a:lnSpc>
                <a:spcPct val="110000"/>
              </a:lnSpc>
            </a:pPr>
            <a:r>
              <a:rPr lang="en-US" dirty="0"/>
              <a:t>penicillin binding proteins (PBPs) – link peptidoglycan strands and catalyze controlled degradation for new growth</a:t>
            </a:r>
            <a:br>
              <a:rPr lang="en-US" dirty="0"/>
            </a:br>
            <a:endParaRPr lang="en-US" dirty="0"/>
          </a:p>
          <a:p>
            <a:pPr lvl="1">
              <a:lnSpc>
                <a:spcPct val="110000"/>
              </a:lnSpc>
            </a:pPr>
            <a:r>
              <a:rPr lang="en-US" dirty="0"/>
              <a:t>autolysins – PBP enzymes that degrade peptidoglycan at site where new units are added</a:t>
            </a:r>
          </a:p>
          <a:p>
            <a:endParaRPr lang="en-US" dirty="0"/>
          </a:p>
        </p:txBody>
      </p:sp>
      <p:sp>
        <p:nvSpPr>
          <p:cNvPr id="4" name="Slide Number Placeholder 3"/>
          <p:cNvSpPr>
            <a:spLocks noGrp="1"/>
          </p:cNvSpPr>
          <p:nvPr>
            <p:ph type="sldNum" sz="quarter" idx="12"/>
          </p:nvPr>
        </p:nvSpPr>
        <p:spPr>
          <a:xfrm>
            <a:off x="6934200" y="6356350"/>
            <a:ext cx="2133600" cy="365125"/>
          </a:xfrm>
        </p:spPr>
        <p:txBody>
          <a:bodyPr/>
          <a:lstStyle/>
          <a:p>
            <a:fld id="{3B1A82D2-719A-4A87-BECB-D74482819C19}" type="slidenum">
              <a:rPr lang="en-US" smtClean="0"/>
              <a:pPr/>
              <a:t>13</a:t>
            </a:fld>
            <a:endParaRPr lang="en-US"/>
          </a:p>
        </p:txBody>
      </p:sp>
      <p:pic>
        <p:nvPicPr>
          <p:cNvPr id="8" name="Picture 5" descr="1. Peptidoglycan synthesis starts in the cytoplasm with the attachment of uridine diphosphate (UDP) to the sugar N-acetylglucosamine (NAG).  Some of the UDP-NAG molecules are converted to UDP-NAM.&#10;2. NAM is transferred from UDP to bactoprenol, a carrier embedded in the plasma membrane.  NAG is then attached to bactoprenol-NAM generating bactoprenol-NAM-NAG.  Bactoprenol carriers the NAM-NAG unit across the plasma membrane, delivering it to the periplasm.&#10;3. Autolysins located at the divisome degrade bonds in the existing peptidoglycan sacculus.  This permits the insertion of new NAM-NAG units into the sacculus." title="Figure 7.7 Components of the Peptidoglycan Synthesizing Machinery."/>
          <p:cNvPicPr>
            <a:picLocks noGrp="1" noChangeAspect="1" noChangeArrowheads="1"/>
          </p:cNvPicPr>
          <p:nvPr>
            <p:ph sz="half" idx="2"/>
          </p:nvPr>
        </p:nvPicPr>
        <p:blipFill>
          <a:blip r:embed="rId2" cstate="print"/>
          <a:stretch>
            <a:fillRect/>
          </a:stretch>
        </p:blipFill>
        <p:spPr bwMode="auto">
          <a:xfrm>
            <a:off x="838200" y="3167653"/>
            <a:ext cx="7583464" cy="361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8040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1143000"/>
          </a:xfrm>
        </p:spPr>
        <p:txBody>
          <a:bodyPr>
            <a:normAutofit/>
          </a:bodyPr>
          <a:lstStyle/>
          <a:p>
            <a:r>
              <a:rPr lang="en-US" sz="3600" dirty="0"/>
              <a:t>Cell Wall Growth and Cell Shape Determination</a:t>
            </a:r>
          </a:p>
        </p:txBody>
      </p:sp>
      <p:sp>
        <p:nvSpPr>
          <p:cNvPr id="7" name="Content Placeholder 6"/>
          <p:cNvSpPr>
            <a:spLocks noGrp="1"/>
          </p:cNvSpPr>
          <p:nvPr>
            <p:ph sz="half" idx="2"/>
          </p:nvPr>
        </p:nvSpPr>
        <p:spPr>
          <a:xfrm>
            <a:off x="0" y="4724400"/>
            <a:ext cx="9144000" cy="1919536"/>
          </a:xfrm>
        </p:spPr>
        <p:txBody>
          <a:bodyPr>
            <a:normAutofit fontScale="92500" lnSpcReduction="20000"/>
          </a:bodyPr>
          <a:lstStyle/>
          <a:p>
            <a:pPr>
              <a:lnSpc>
                <a:spcPct val="90000"/>
              </a:lnSpc>
            </a:pPr>
            <a:r>
              <a:rPr lang="en-US" dirty="0"/>
              <a:t>Cocci </a:t>
            </a:r>
            <a:r>
              <a:rPr lang="en-US" dirty="0" err="1"/>
              <a:t>divisome</a:t>
            </a:r>
            <a:r>
              <a:rPr lang="en-US" dirty="0"/>
              <a:t> - new peptidoglycan forms only at septum </a:t>
            </a:r>
          </a:p>
          <a:p>
            <a:pPr lvl="1">
              <a:lnSpc>
                <a:spcPct val="90000"/>
              </a:lnSpc>
            </a:pPr>
            <a:r>
              <a:rPr lang="en-US" dirty="0" err="1"/>
              <a:t>FtsZ</a:t>
            </a:r>
            <a:r>
              <a:rPr lang="en-US" dirty="0"/>
              <a:t> determines site of cell wall growth</a:t>
            </a:r>
          </a:p>
          <a:p>
            <a:pPr lvl="1">
              <a:lnSpc>
                <a:spcPct val="90000"/>
              </a:lnSpc>
            </a:pPr>
            <a:r>
              <a:rPr lang="en-US" dirty="0" err="1"/>
              <a:t>FtsZ</a:t>
            </a:r>
            <a:r>
              <a:rPr lang="en-US" dirty="0"/>
              <a:t> may recruit PBPs for synthesis of septum</a:t>
            </a:r>
            <a:br>
              <a:rPr lang="en-US" dirty="0"/>
            </a:br>
            <a:endParaRPr lang="en-US" dirty="0"/>
          </a:p>
          <a:p>
            <a:pPr>
              <a:lnSpc>
                <a:spcPct val="90000"/>
              </a:lnSpc>
            </a:pPr>
            <a:r>
              <a:rPr lang="en-US" dirty="0"/>
              <a:t>Rods are similar but elongate prior to </a:t>
            </a:r>
            <a:r>
              <a:rPr lang="en-US" dirty="0" err="1"/>
              <a:t>septation</a:t>
            </a:r>
            <a:endParaRPr lang="en-US" dirty="0"/>
          </a:p>
          <a:p>
            <a:pPr lvl="1">
              <a:lnSpc>
                <a:spcPct val="90000"/>
              </a:lnSpc>
            </a:pPr>
            <a:r>
              <a:rPr lang="en-US" dirty="0" err="1"/>
              <a:t>MreB</a:t>
            </a:r>
            <a:r>
              <a:rPr lang="en-US" dirty="0"/>
              <a:t> determines cell diameter/elongation as Z ring forms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14</a:t>
            </a:fld>
            <a:endParaRPr lang="en-US"/>
          </a:p>
        </p:txBody>
      </p:sp>
      <p:pic>
        <p:nvPicPr>
          <p:cNvPr id="8" name="Picture 6" descr="Spherical/Coccoid. &#10;I. Division. Spherical cells build new peptidoglycan only at midcell, where the septum will form during division.  This leads to daughter cells that have one old and one new cell wall hemisphere.&#10;&#10;Rod (common). &#10;I. Sidewall Elongation. During growth, prior to division, new cell wall is made along the side of the cell but not at the poles.  This placement is thought to be determined by the position of MreB homologues.&#10;II. Preseptal Elongation. As division begins, FtsZ polymerization forms a Z ring and new cell wall growth is confined to the midcell.&#10;III. Division. Rod-shaped daughter cells are formed with one new pole and one old pole." title="Figure 7.8 Cell Wall Biosynthesis and Determination of Cell Shape in Spherical and Rod-Shaped Cells."/>
          <p:cNvPicPr>
            <a:picLocks noGrp="1" noChangeAspect="1" noChangeArrowheads="1"/>
          </p:cNvPicPr>
          <p:nvPr>
            <p:ph sz="half" idx="1"/>
          </p:nvPr>
        </p:nvPicPr>
        <p:blipFill>
          <a:blip r:embed="rId2" cstate="print"/>
          <a:stretch>
            <a:fillRect/>
          </a:stretch>
        </p:blipFill>
        <p:spPr bwMode="auto">
          <a:xfrm>
            <a:off x="1384942" y="1066800"/>
            <a:ext cx="6149052" cy="3369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7924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Vibrio Cell Wall Growth and Cell Shape Determination</a:t>
            </a:r>
          </a:p>
        </p:txBody>
      </p:sp>
      <p:sp>
        <p:nvSpPr>
          <p:cNvPr id="6" name="Content Placeholder 5"/>
          <p:cNvSpPr>
            <a:spLocks noGrp="1"/>
          </p:cNvSpPr>
          <p:nvPr>
            <p:ph sz="half" idx="1"/>
          </p:nvPr>
        </p:nvSpPr>
        <p:spPr>
          <a:xfrm>
            <a:off x="76200" y="1371601"/>
            <a:ext cx="9067800" cy="2743200"/>
          </a:xfrm>
        </p:spPr>
        <p:txBody>
          <a:bodyPr>
            <a:normAutofit/>
          </a:bodyPr>
          <a:lstStyle/>
          <a:p>
            <a:r>
              <a:rPr lang="en-US" dirty="0"/>
              <a:t>Vibrio (comma-shaped bacteria)</a:t>
            </a:r>
            <a:endParaRPr lang="en-US" sz="3200" dirty="0"/>
          </a:p>
          <a:p>
            <a:pPr lvl="1"/>
            <a:r>
              <a:rPr lang="en-US" dirty="0" err="1"/>
              <a:t>FtsZ</a:t>
            </a:r>
            <a:r>
              <a:rPr lang="en-US" dirty="0"/>
              <a:t> – forms Z ring</a:t>
            </a:r>
          </a:p>
          <a:p>
            <a:pPr lvl="1"/>
            <a:r>
              <a:rPr lang="en-US" dirty="0" err="1"/>
              <a:t>MreB</a:t>
            </a:r>
            <a:r>
              <a:rPr lang="en-US" dirty="0"/>
              <a:t> – helical polymerization throughout cell </a:t>
            </a:r>
          </a:p>
          <a:p>
            <a:pPr lvl="1"/>
            <a:r>
              <a:rPr lang="en-US" dirty="0" err="1"/>
              <a:t>crescentin</a:t>
            </a:r>
            <a:r>
              <a:rPr lang="en-US" dirty="0"/>
              <a:t> – intermediate filament homologue</a:t>
            </a:r>
          </a:p>
          <a:p>
            <a:pPr lvl="2"/>
            <a:r>
              <a:rPr lang="en-US" sz="2400" dirty="0"/>
              <a:t>localizes to short, curved side of cell</a:t>
            </a:r>
          </a:p>
          <a:p>
            <a:pPr lvl="2"/>
            <a:r>
              <a:rPr lang="en-US" sz="2400" dirty="0"/>
              <a:t>asymmetric cell wall synthesis forms curve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pic>
        <p:nvPicPr>
          <p:cNvPr id="8" name="Picture 8" descr="The intermediate filament homologue crescentin polymerizes along the length of the inner curvature of the cell. Cells depleted of crescentin are rod-shaped. Note that C. crescentus forms all three types of cytoskeleton protein homologues (the actin homologue MreB, the tubulin-like protein FtsZ, and crescentin, a homologue of eukaryotic intermediate filaments)." title="Figure 7.9 Vibrioid Shape is Determined by Crescentin in Caulobacter crescentus."/>
          <p:cNvPicPr>
            <a:picLocks noGrp="1" noChangeAspect="1" noChangeArrowheads="1"/>
          </p:cNvPicPr>
          <p:nvPr>
            <p:ph sz="half" idx="2"/>
          </p:nvPr>
        </p:nvPicPr>
        <p:blipFill>
          <a:blip r:embed="rId2" cstate="print"/>
          <a:stretch>
            <a:fillRect/>
          </a:stretch>
        </p:blipFill>
        <p:spPr bwMode="auto">
          <a:xfrm>
            <a:off x="2209800" y="4114800"/>
            <a:ext cx="4412995" cy="271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585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7.3 Some Archaeal Cell Cycles Resemble the Eukaryotic Cell Cycle</a:t>
            </a:r>
          </a:p>
        </p:txBody>
      </p:sp>
      <p:sp>
        <p:nvSpPr>
          <p:cNvPr id="3" name="Content Placeholder 2"/>
          <p:cNvSpPr>
            <a:spLocks noGrp="1"/>
          </p:cNvSpPr>
          <p:nvPr>
            <p:ph idx="1"/>
          </p:nvPr>
        </p:nvSpPr>
        <p:spPr>
          <a:xfrm>
            <a:off x="457200" y="1874837"/>
            <a:ext cx="8229600" cy="4525963"/>
          </a:xfrm>
        </p:spPr>
        <p:txBody>
          <a:bodyPr>
            <a:normAutofit lnSpcReduction="10000"/>
          </a:bodyPr>
          <a:lstStyle/>
          <a:p>
            <a:pPr marL="514350" indent="-514350">
              <a:buFont typeface="+mj-lt"/>
              <a:buAutoNum type="arabicPeriod"/>
            </a:pPr>
            <a:r>
              <a:rPr lang="en-US" dirty="0"/>
              <a:t>Compare and contrast the </a:t>
            </a:r>
            <a:r>
              <a:rPr lang="en-US" i="1" dirty="0" err="1"/>
              <a:t>Sulfolobus</a:t>
            </a:r>
            <a:r>
              <a:rPr lang="en-US" dirty="0"/>
              <a:t> spp. cell cycle and the typical eukaryotic cell cycle</a:t>
            </a:r>
            <a:br>
              <a:rPr lang="en-US" dirty="0"/>
            </a:br>
            <a:endParaRPr lang="en-US" dirty="0"/>
          </a:p>
          <a:p>
            <a:pPr marL="514350" indent="-514350">
              <a:buFont typeface="+mj-lt"/>
              <a:buAutoNum type="arabicPeriod"/>
            </a:pPr>
            <a:r>
              <a:rPr lang="en-US" dirty="0"/>
              <a:t>Compare and contrast the </a:t>
            </a:r>
            <a:r>
              <a:rPr lang="en-US" i="1" dirty="0" err="1"/>
              <a:t>Sulfolobus</a:t>
            </a:r>
            <a:r>
              <a:rPr lang="en-US" dirty="0"/>
              <a:t> spp. cell cycle and a bacterial cell cycle</a:t>
            </a:r>
            <a:br>
              <a:rPr lang="en-US" dirty="0"/>
            </a:br>
            <a:endParaRPr lang="en-US" dirty="0"/>
          </a:p>
          <a:p>
            <a:pPr marL="514350" indent="-514350">
              <a:buFont typeface="+mj-lt"/>
              <a:buAutoNum type="arabicPeriod"/>
            </a:pPr>
            <a:r>
              <a:rPr lang="en-US" dirty="0"/>
              <a:t>Identify the evidence suggesting that the </a:t>
            </a:r>
            <a:r>
              <a:rPr lang="en-US" i="1" dirty="0" err="1"/>
              <a:t>Sulfolobus</a:t>
            </a:r>
            <a:r>
              <a:rPr lang="en-US" dirty="0"/>
              <a:t> spp. cell cycle may not be universal among archaea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spTree>
    <p:extLst>
      <p:ext uri="{BB962C8B-B14F-4D97-AF65-F5344CB8AC3E}">
        <p14:creationId xmlns:p14="http://schemas.microsoft.com/office/powerpoint/2010/main" val="2680237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8991600" cy="1341438"/>
          </a:xfrm>
        </p:spPr>
        <p:txBody>
          <a:bodyPr>
            <a:noAutofit/>
          </a:bodyPr>
          <a:lstStyle/>
          <a:p>
            <a:r>
              <a:rPr lang="en-US" sz="3400" dirty="0"/>
              <a:t>Archaeal Cell Cycles Resemble </a:t>
            </a:r>
            <a:r>
              <a:rPr lang="en-US" sz="3400" dirty="0" err="1"/>
              <a:t>Eukaryal</a:t>
            </a:r>
            <a:r>
              <a:rPr lang="en-US" sz="3400" dirty="0"/>
              <a:t> Cell Cycles – Except in Segregation of Chromosomes</a:t>
            </a:r>
          </a:p>
        </p:txBody>
      </p:sp>
      <p:sp>
        <p:nvSpPr>
          <p:cNvPr id="3" name="Content Placeholder 2"/>
          <p:cNvSpPr>
            <a:spLocks noGrp="1"/>
          </p:cNvSpPr>
          <p:nvPr>
            <p:ph idx="1"/>
          </p:nvPr>
        </p:nvSpPr>
        <p:spPr>
          <a:xfrm>
            <a:off x="457200" y="1828801"/>
            <a:ext cx="8229600" cy="4724400"/>
          </a:xfrm>
        </p:spPr>
        <p:txBody>
          <a:bodyPr>
            <a:normAutofit fontScale="92500" lnSpcReduction="20000"/>
          </a:bodyPr>
          <a:lstStyle/>
          <a:p>
            <a:r>
              <a:rPr lang="en-US" dirty="0"/>
              <a:t>Studies in </a:t>
            </a:r>
            <a:r>
              <a:rPr lang="en-US" i="1" dirty="0" err="1"/>
              <a:t>Sulfolobus</a:t>
            </a:r>
            <a:r>
              <a:rPr lang="en-US" dirty="0"/>
              <a:t> spp. indicate a cycle similar to a mitotic cycle</a:t>
            </a:r>
            <a:br>
              <a:rPr lang="en-US" dirty="0"/>
            </a:br>
            <a:endParaRPr lang="en-US" dirty="0"/>
          </a:p>
          <a:p>
            <a:pPr lvl="1"/>
            <a:r>
              <a:rPr lang="en-US" dirty="0"/>
              <a:t>G1 growth phase followed by DNA replication (S phase), then G2 phase, segregation of chromosomes, and cytokinesis</a:t>
            </a:r>
            <a:br>
              <a:rPr lang="en-US" dirty="0"/>
            </a:br>
            <a:endParaRPr lang="en-US" dirty="0"/>
          </a:p>
          <a:p>
            <a:pPr lvl="1"/>
            <a:r>
              <a:rPr lang="en-US" dirty="0"/>
              <a:t>segregation occurs via use of </a:t>
            </a:r>
            <a:r>
              <a:rPr lang="en-US" dirty="0" err="1"/>
              <a:t>SegA</a:t>
            </a:r>
            <a:r>
              <a:rPr lang="en-US" dirty="0"/>
              <a:t>/</a:t>
            </a:r>
            <a:r>
              <a:rPr lang="en-US" dirty="0" err="1"/>
              <a:t>SegB</a:t>
            </a:r>
            <a:r>
              <a:rPr lang="en-US" dirty="0"/>
              <a:t> protein system that is similar to bacterial partitioning systems</a:t>
            </a:r>
          </a:p>
          <a:p>
            <a:pPr lvl="2"/>
            <a:r>
              <a:rPr lang="en-US" dirty="0" err="1"/>
              <a:t>SegA</a:t>
            </a:r>
            <a:r>
              <a:rPr lang="en-US" dirty="0"/>
              <a:t> similar in structure and function to </a:t>
            </a:r>
            <a:r>
              <a:rPr lang="en-US" dirty="0" err="1"/>
              <a:t>ParA</a:t>
            </a:r>
            <a:r>
              <a:rPr lang="en-US" dirty="0"/>
              <a:t>; </a:t>
            </a:r>
            <a:r>
              <a:rPr lang="en-US" dirty="0" err="1"/>
              <a:t>SegB</a:t>
            </a:r>
            <a:r>
              <a:rPr lang="en-US" dirty="0"/>
              <a:t> is unique to archaea, but thought to function similarly to </a:t>
            </a:r>
            <a:r>
              <a:rPr lang="en-US" dirty="0" err="1"/>
              <a:t>ParB</a:t>
            </a:r>
            <a:endParaRPr lang="en-US" dirty="0"/>
          </a:p>
          <a:p>
            <a:pPr lvl="2"/>
            <a:r>
              <a:rPr lang="en-US" dirty="0"/>
              <a:t>DNA sequences similar to </a:t>
            </a:r>
            <a:r>
              <a:rPr lang="en-US" i="1" dirty="0" err="1"/>
              <a:t>parS</a:t>
            </a:r>
            <a:r>
              <a:rPr lang="en-US" dirty="0"/>
              <a:t> have yet to be found in archaea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17</a:t>
            </a:fld>
            <a:endParaRPr lang="en-US"/>
          </a:p>
        </p:txBody>
      </p:sp>
    </p:spTree>
    <p:extLst>
      <p:ext uri="{BB962C8B-B14F-4D97-AF65-F5344CB8AC3E}">
        <p14:creationId xmlns:p14="http://schemas.microsoft.com/office/powerpoint/2010/main" val="786278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173162"/>
          </a:xfrm>
        </p:spPr>
        <p:txBody>
          <a:bodyPr>
            <a:normAutofit fontScale="90000"/>
          </a:bodyPr>
          <a:lstStyle/>
          <a:p>
            <a:r>
              <a:rPr lang="en-US" dirty="0"/>
              <a:t>Archaeal Cytokinesis is Similar to </a:t>
            </a:r>
            <a:br>
              <a:rPr lang="en-US" dirty="0"/>
            </a:br>
            <a:r>
              <a:rPr lang="en-US" dirty="0" err="1"/>
              <a:t>Eukaryal</a:t>
            </a:r>
            <a:r>
              <a:rPr lang="en-US" dirty="0"/>
              <a:t> Cytokinesis</a:t>
            </a:r>
          </a:p>
        </p:txBody>
      </p:sp>
      <p:sp>
        <p:nvSpPr>
          <p:cNvPr id="6" name="Content Placeholder 5"/>
          <p:cNvSpPr>
            <a:spLocks noGrp="1"/>
          </p:cNvSpPr>
          <p:nvPr>
            <p:ph sz="half" idx="2"/>
          </p:nvPr>
        </p:nvSpPr>
        <p:spPr>
          <a:xfrm>
            <a:off x="152400" y="4419600"/>
            <a:ext cx="8763000" cy="2438400"/>
          </a:xfrm>
        </p:spPr>
        <p:txBody>
          <a:bodyPr>
            <a:normAutofit fontScale="92500" lnSpcReduction="20000"/>
          </a:bodyPr>
          <a:lstStyle/>
          <a:p>
            <a:r>
              <a:rPr lang="en-US" dirty="0"/>
              <a:t>Utilize proteins similar to ESCRT proteins of eukaryotes</a:t>
            </a:r>
            <a:br>
              <a:rPr lang="en-US" dirty="0"/>
            </a:br>
            <a:endParaRPr lang="en-US" dirty="0"/>
          </a:p>
          <a:p>
            <a:pPr lvl="1"/>
            <a:r>
              <a:rPr lang="en-US" dirty="0"/>
              <a:t>endosomal sorting complex required for transport</a:t>
            </a:r>
          </a:p>
          <a:p>
            <a:pPr lvl="1"/>
            <a:r>
              <a:rPr lang="en-US" dirty="0"/>
              <a:t>form four distinct complexes involved in forming </a:t>
            </a:r>
            <a:r>
              <a:rPr lang="en-US" dirty="0" err="1"/>
              <a:t>multivesicular</a:t>
            </a:r>
            <a:r>
              <a:rPr lang="en-US" dirty="0"/>
              <a:t> bodies (MVB)</a:t>
            </a:r>
          </a:p>
          <a:p>
            <a:pPr lvl="1"/>
            <a:r>
              <a:rPr lang="en-US" dirty="0"/>
              <a:t>archaeal forms of ESCRT proteins include </a:t>
            </a:r>
            <a:r>
              <a:rPr lang="en-US" dirty="0" err="1"/>
              <a:t>CdvA</a:t>
            </a:r>
            <a:r>
              <a:rPr lang="en-US" dirty="0"/>
              <a:t>, </a:t>
            </a:r>
            <a:r>
              <a:rPr lang="en-US" dirty="0" err="1"/>
              <a:t>CdvB</a:t>
            </a:r>
            <a:r>
              <a:rPr lang="en-US" dirty="0"/>
              <a:t>, and </a:t>
            </a:r>
            <a:r>
              <a:rPr lang="en-US" dirty="0" err="1"/>
              <a:t>CdvC</a:t>
            </a:r>
            <a:r>
              <a:rPr lang="en-US" dirty="0"/>
              <a:t>, with homology in form/function to </a:t>
            </a:r>
            <a:r>
              <a:rPr lang="en-US" dirty="0" err="1"/>
              <a:t>eukaryal</a:t>
            </a:r>
            <a:r>
              <a:rPr lang="en-US" dirty="0"/>
              <a:t> versions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18</a:t>
            </a:fld>
            <a:endParaRPr lang="en-US"/>
          </a:p>
        </p:txBody>
      </p:sp>
      <p:pic>
        <p:nvPicPr>
          <p:cNvPr id="8" name="Picture 2" descr="(a) ESCRT proteins (1, 2, and 3) play a critical role in the maturation of an early endosome into a multivesicular body.  ESCRT-III proteins create a scission point (b) during this process." title="Figure 7.10 Function of ESCRT Proteins in Eukaryotes."/>
          <p:cNvPicPr>
            <a:picLocks noGrp="1" noChangeAspect="1" noChangeArrowheads="1"/>
          </p:cNvPicPr>
          <p:nvPr>
            <p:ph sz="half" idx="1"/>
          </p:nvPr>
        </p:nvPicPr>
        <p:blipFill>
          <a:blip r:embed="rId2" cstate="print"/>
          <a:srcRect/>
          <a:stretch>
            <a:fillRect/>
          </a:stretch>
        </p:blipFill>
        <p:spPr bwMode="auto">
          <a:xfrm>
            <a:off x="0" y="1905000"/>
            <a:ext cx="9134016" cy="2151945"/>
          </a:xfrm>
          <a:prstGeom prst="rect">
            <a:avLst/>
          </a:prstGeom>
          <a:noFill/>
        </p:spPr>
      </p:pic>
    </p:spTree>
    <p:extLst>
      <p:ext uri="{BB962C8B-B14F-4D97-AF65-F5344CB8AC3E}">
        <p14:creationId xmlns:p14="http://schemas.microsoft.com/office/powerpoint/2010/main" val="3861778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Don’t Jump to Conclusions on Archaeal Cell Cycle Information!</a:t>
            </a:r>
          </a:p>
        </p:txBody>
      </p:sp>
      <p:sp>
        <p:nvSpPr>
          <p:cNvPr id="3" name="Content Placeholder 2"/>
          <p:cNvSpPr>
            <a:spLocks noGrp="1"/>
          </p:cNvSpPr>
          <p:nvPr>
            <p:ph idx="1"/>
          </p:nvPr>
        </p:nvSpPr>
        <p:spPr>
          <a:xfrm>
            <a:off x="457200" y="1951037"/>
            <a:ext cx="8229600" cy="4525963"/>
          </a:xfrm>
        </p:spPr>
        <p:txBody>
          <a:bodyPr>
            <a:normAutofit fontScale="77500" lnSpcReduction="20000"/>
          </a:bodyPr>
          <a:lstStyle/>
          <a:p>
            <a:r>
              <a:rPr lang="en-US" dirty="0"/>
              <a:t>Information obtained so far has been produced from a limited number of archaeal species</a:t>
            </a:r>
            <a:br>
              <a:rPr lang="en-US" dirty="0"/>
            </a:br>
            <a:endParaRPr lang="en-US" dirty="0"/>
          </a:p>
          <a:p>
            <a:r>
              <a:rPr lang="en-US" dirty="0"/>
              <a:t>Even then, contradictions exist</a:t>
            </a:r>
          </a:p>
          <a:p>
            <a:pPr lvl="1"/>
            <a:r>
              <a:rPr lang="en-US" dirty="0"/>
              <a:t>some archaea have no G2 phase</a:t>
            </a:r>
          </a:p>
          <a:p>
            <a:pPr lvl="1"/>
            <a:r>
              <a:rPr lang="en-US" dirty="0"/>
              <a:t>the </a:t>
            </a:r>
            <a:r>
              <a:rPr lang="en-US" dirty="0" err="1"/>
              <a:t>SegAB</a:t>
            </a:r>
            <a:r>
              <a:rPr lang="en-US" dirty="0"/>
              <a:t> system seems to be limited to </a:t>
            </a:r>
            <a:r>
              <a:rPr lang="en-US" dirty="0" err="1"/>
              <a:t>Sulfolobus</a:t>
            </a:r>
            <a:r>
              <a:rPr lang="en-US" dirty="0"/>
              <a:t> and a few members of the archaeal phylum </a:t>
            </a:r>
            <a:r>
              <a:rPr lang="en-US" dirty="0" err="1"/>
              <a:t>Euryarchaeota</a:t>
            </a:r>
            <a:endParaRPr lang="en-US" dirty="0"/>
          </a:p>
          <a:p>
            <a:pPr lvl="1"/>
            <a:r>
              <a:rPr lang="en-US" dirty="0"/>
              <a:t>some archaea use a system similar to the bacterial </a:t>
            </a:r>
            <a:r>
              <a:rPr lang="en-US" dirty="0" err="1"/>
              <a:t>MinD</a:t>
            </a:r>
            <a:r>
              <a:rPr lang="en-US" dirty="0"/>
              <a:t> proteins for chromosome segregation</a:t>
            </a:r>
          </a:p>
          <a:p>
            <a:pPr lvl="1"/>
            <a:r>
              <a:rPr lang="en-US" dirty="0" err="1"/>
              <a:t>FtsZ</a:t>
            </a:r>
            <a:r>
              <a:rPr lang="en-US" dirty="0"/>
              <a:t> proteins abound in archaea – a very bacterial process</a:t>
            </a:r>
            <a:br>
              <a:rPr lang="en-US" dirty="0"/>
            </a:br>
            <a:endParaRPr lang="en-US" dirty="0"/>
          </a:p>
          <a:p>
            <a:r>
              <a:rPr lang="en-US" dirty="0"/>
              <a:t>Diversity in archaeal cell cycles is obvious and abundant, and more research needs to be performed to understand the systems more thoroughly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19</a:t>
            </a:fld>
            <a:endParaRPr lang="en-US"/>
          </a:p>
        </p:txBody>
      </p:sp>
    </p:spTree>
    <p:extLst>
      <p:ext uri="{BB962C8B-B14F-4D97-AF65-F5344CB8AC3E}">
        <p14:creationId xmlns:p14="http://schemas.microsoft.com/office/powerpoint/2010/main" val="1874675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7.4 Environmental Factors Affect Microbial Growth</a:t>
            </a:r>
          </a:p>
        </p:txBody>
      </p:sp>
      <p:sp>
        <p:nvSpPr>
          <p:cNvPr id="3" name="Content Placeholder 2"/>
          <p:cNvSpPr>
            <a:spLocks noGrp="1"/>
          </p:cNvSpPr>
          <p:nvPr>
            <p:ph idx="1"/>
          </p:nvPr>
        </p:nvSpPr>
        <p:spPr>
          <a:xfrm>
            <a:off x="457200" y="1951037"/>
            <a:ext cx="8229600" cy="4525963"/>
          </a:xfrm>
        </p:spPr>
        <p:txBody>
          <a:bodyPr>
            <a:normAutofit fontScale="85000" lnSpcReduction="20000"/>
          </a:bodyPr>
          <a:lstStyle/>
          <a:p>
            <a:pPr marL="514350" indent="-514350">
              <a:buFont typeface="+mj-lt"/>
              <a:buAutoNum type="arabicPeriod"/>
            </a:pPr>
            <a:r>
              <a:rPr lang="en-US" dirty="0"/>
              <a:t>Use the terms that describe a microbe’s growth range or requirement for each of the factors that influence microbial growth</a:t>
            </a:r>
            <a:br>
              <a:rPr lang="en-US" dirty="0"/>
            </a:br>
            <a:endParaRPr lang="en-US" dirty="0"/>
          </a:p>
          <a:p>
            <a:pPr marL="514350" indent="-514350">
              <a:buFont typeface="+mj-lt"/>
              <a:buAutoNum type="arabicPeriod"/>
            </a:pPr>
            <a:r>
              <a:rPr lang="en-US" dirty="0"/>
              <a:t>Summarize the adaptations of extremophiles to their natural habitats</a:t>
            </a:r>
            <a:br>
              <a:rPr lang="en-US" dirty="0"/>
            </a:br>
            <a:endParaRPr lang="en-US" dirty="0"/>
          </a:p>
          <a:p>
            <a:pPr marL="514350" indent="-514350">
              <a:buFont typeface="+mj-lt"/>
              <a:buAutoNum type="arabicPeriod"/>
            </a:pPr>
            <a:r>
              <a:rPr lang="en-US" dirty="0"/>
              <a:t>Summarize the strategies used by </a:t>
            </a:r>
            <a:r>
              <a:rPr lang="en-US" dirty="0" err="1"/>
              <a:t>nonextremophiles</a:t>
            </a:r>
            <a:r>
              <a:rPr lang="en-US" dirty="0"/>
              <a:t> to acclimate to changes in their environment</a:t>
            </a:r>
            <a:br>
              <a:rPr lang="en-US" dirty="0"/>
            </a:br>
            <a:endParaRPr lang="en-US" dirty="0"/>
          </a:p>
          <a:p>
            <a:pPr marL="514350" indent="-514350">
              <a:buFont typeface="+mj-lt"/>
              <a:buAutoNum type="arabicPeriod"/>
            </a:pPr>
            <a:r>
              <a:rPr lang="en-US" dirty="0"/>
              <a:t>Describe the enzymes observed in microbes that protect them against toxic O</a:t>
            </a:r>
            <a:r>
              <a:rPr lang="en-US" baseline="-25000" dirty="0"/>
              <a:t>2</a:t>
            </a:r>
            <a:r>
              <a:rPr lang="en-US" dirty="0"/>
              <a:t> products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spTree>
    <p:extLst>
      <p:ext uri="{BB962C8B-B14F-4D97-AF65-F5344CB8AC3E}">
        <p14:creationId xmlns:p14="http://schemas.microsoft.com/office/powerpoint/2010/main" val="1493110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Autofit/>
          </a:bodyPr>
          <a:lstStyle/>
          <a:p>
            <a:r>
              <a:rPr lang="en-US" sz="3600" dirty="0"/>
              <a:t>The Influence of Environmental </a:t>
            </a:r>
            <a:br>
              <a:rPr lang="en-US" sz="3600" dirty="0"/>
            </a:br>
            <a:r>
              <a:rPr lang="en-US" sz="3600" dirty="0"/>
              <a:t>Factors on Growth</a:t>
            </a:r>
          </a:p>
        </p:txBody>
      </p:sp>
      <p:sp>
        <p:nvSpPr>
          <p:cNvPr id="7" name="Content Placeholder 6"/>
          <p:cNvSpPr>
            <a:spLocks noGrp="1"/>
          </p:cNvSpPr>
          <p:nvPr>
            <p:ph sz="half" idx="2"/>
          </p:nvPr>
        </p:nvSpPr>
        <p:spPr>
          <a:xfrm>
            <a:off x="5715000" y="1447800"/>
            <a:ext cx="3429000" cy="5410200"/>
          </a:xfrm>
        </p:spPr>
        <p:txBody>
          <a:bodyPr>
            <a:normAutofit/>
          </a:bodyPr>
          <a:lstStyle/>
          <a:p>
            <a:r>
              <a:rPr lang="en-US" dirty="0"/>
              <a:t>Most organisms grow in fairly moderate environmental conditions</a:t>
            </a:r>
            <a:br>
              <a:rPr lang="en-US" dirty="0"/>
            </a:br>
            <a:endParaRPr lang="en-US" dirty="0"/>
          </a:p>
          <a:p>
            <a:r>
              <a:rPr lang="en-US" dirty="0"/>
              <a:t>Extremophiles</a:t>
            </a:r>
          </a:p>
          <a:p>
            <a:pPr lvl="1"/>
            <a:r>
              <a:rPr lang="en-US" dirty="0"/>
              <a:t>grow under harsh conditions that would kill most other organisms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21</a:t>
            </a:fld>
            <a:endParaRPr lang="en-US"/>
          </a:p>
        </p:txBody>
      </p:sp>
      <p:pic>
        <p:nvPicPr>
          <p:cNvPr id="8" name="Picture 5" descr="This table lists and describes microbial response to environmental factors and offers examples of representative microorganisms.&#10;&#10;Solute Concentration and Water Activity&#10;Halophile - Requires high levels of sodium chloride, usually above about 0.2 M, to grow.  Examples: Halobacterium, Dunaliella, Ectothiorhodospira.&#10;Osmotolerant - Able to grow over wide ranges of water activity or osmotic concentration.  Examples: Staphylococcus aureus, Saccharomyces rouxii.&#10;Xerophile – Organisms that grow best at low water activity, typically with optima at 0.85 or below.  Example: Xeromyces bisporus.&#10;&#10;pH&#10;Acidophile - Growth optimum between pH 0 and 5.5. Examples: Sulfolobus, Picrophilus, Ferroplasma, Acontium.&#10;Neutrophile - Growth optimum between pH 5.5 and 8.0.  Examples: Escherichia, Euglena, Paramecium.&#10;Alkaliphile - Growth optimum between pH 8.0 and 11.5.  Examples: Bacillus alcalophilus, Natronobacterium.&#10;&#10;Temperature      &#10;Psychrophile - Grows at 0°C and has an optimum growth temperature of 15°C or lower.  Examples: Bacillus psychrophilus, Chlamydomonas nivalis.&#10;Psychrotolerant - Can grow at 0–7°C; has an optimum between 20 and 30°C and a maximum around 35°C.  Examples: Listeria monocytogenes, Pseudomonas fluorescens.&#10;Mesophile - Has growth optimum between 20 and 45°C.  Examples: Escherichia coli, Trichomonas vaginalis.&#10;Thermophile - Can grow at 55°C or higher; optimum often between 55 and 65°C.  Examples: Geobacillus stearothermophilus, Thermus aquaticus, Cyanidium caldarium, Chaetomium thermophile.&#10;Hyperthermophile - Has an optimum between 85 and about 113°C.  Examples: Sulfolobus, Pyrococcus, Pyrodictium.&#10;&#10;Oxygen Concentration&#10;Obligate aerobe - Completely dependent on atmospheric O2 for growth.  Examples: Micrococcus luteus, most protists and fungi.&#10;Facultative anaerobe - Does not require O2 for growth but grows better in its presence.  Examples: Escherichia, Enterococcus, Saccharomyces cerevisiae.&#10;Aerotolerant anaerobe - Grows equally well in presence or absence of O2.  Examples: Streptococcus pyogenes.&#10;Obligate anaerobe - Does not tolerate O2 and dies in its presence.  Examples: Clostridium, Bacteroides, Methanobacterium.&#10;Microaerophile - Requires O2 levels between 2–10% for growth and is damaged by atmospheric O2 levels (20%).  Examples: Campylobacter, Spirillum volutans, Treponema pallidum.&#10;&#10;Pressure      &#10;Piezophile (barophile) - Growth more rapid at high hydrostatic pressures.  Example: Photobacterium profundum, Shewanella benthica." title="Table 7.2 Microbial Response to Environmental Factors"/>
          <p:cNvPicPr>
            <a:picLocks noGrp="1" noChangeAspect="1" noChangeArrowheads="1"/>
          </p:cNvPicPr>
          <p:nvPr>
            <p:ph sz="half" idx="1"/>
          </p:nvPr>
        </p:nvPicPr>
        <p:blipFill>
          <a:blip r:embed="rId2" cstate="print"/>
          <a:stretch>
            <a:fillRect/>
          </a:stretch>
        </p:blipFill>
        <p:spPr bwMode="auto">
          <a:xfrm>
            <a:off x="178810" y="1219200"/>
            <a:ext cx="5155190" cy="5590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654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Solutes and Water Activity</a:t>
            </a:r>
          </a:p>
        </p:txBody>
      </p:sp>
      <p:sp>
        <p:nvSpPr>
          <p:cNvPr id="3" name="Content Placeholder 2"/>
          <p:cNvSpPr>
            <a:spLocks noGrp="1"/>
          </p:cNvSpPr>
          <p:nvPr>
            <p:ph idx="1"/>
          </p:nvPr>
        </p:nvSpPr>
        <p:spPr/>
        <p:txBody>
          <a:bodyPr>
            <a:normAutofit lnSpcReduction="10000"/>
          </a:bodyPr>
          <a:lstStyle/>
          <a:p>
            <a:pPr>
              <a:lnSpc>
                <a:spcPct val="90000"/>
              </a:lnSpc>
            </a:pPr>
            <a:r>
              <a:rPr lang="en-US" dirty="0"/>
              <a:t>Changes in osmotic concentrations in the environment may affect microbial cells</a:t>
            </a:r>
            <a:br>
              <a:rPr lang="en-US" dirty="0"/>
            </a:br>
            <a:endParaRPr lang="en-US" dirty="0"/>
          </a:p>
          <a:p>
            <a:pPr lvl="1">
              <a:lnSpc>
                <a:spcPct val="90000"/>
              </a:lnSpc>
            </a:pPr>
            <a:r>
              <a:rPr lang="en-US" dirty="0"/>
              <a:t>hypotonic solution (lower osmotic concentration) </a:t>
            </a:r>
          </a:p>
          <a:p>
            <a:pPr lvl="2">
              <a:lnSpc>
                <a:spcPct val="90000"/>
              </a:lnSpc>
            </a:pPr>
            <a:r>
              <a:rPr lang="en-US" sz="2400" dirty="0"/>
              <a:t>water enters the cell</a:t>
            </a:r>
          </a:p>
          <a:p>
            <a:pPr lvl="2">
              <a:lnSpc>
                <a:spcPct val="90000"/>
              </a:lnSpc>
            </a:pPr>
            <a:r>
              <a:rPr lang="en-US" sz="2400" dirty="0"/>
              <a:t>cell swells and may burst</a:t>
            </a:r>
            <a:br>
              <a:rPr lang="en-US" sz="2400" dirty="0"/>
            </a:br>
            <a:endParaRPr lang="en-US" sz="2400" dirty="0"/>
          </a:p>
          <a:p>
            <a:pPr lvl="1">
              <a:lnSpc>
                <a:spcPct val="90000"/>
              </a:lnSpc>
            </a:pPr>
            <a:r>
              <a:rPr lang="en-US" dirty="0"/>
              <a:t>hypertonic (higher osmotic concentration) </a:t>
            </a:r>
          </a:p>
          <a:p>
            <a:pPr lvl="2">
              <a:lnSpc>
                <a:spcPct val="90000"/>
              </a:lnSpc>
            </a:pPr>
            <a:r>
              <a:rPr lang="en-US" sz="2400" dirty="0"/>
              <a:t>water leaves the cell </a:t>
            </a:r>
          </a:p>
          <a:p>
            <a:pPr lvl="2">
              <a:lnSpc>
                <a:spcPct val="90000"/>
              </a:lnSpc>
            </a:pPr>
            <a:r>
              <a:rPr lang="en-US" sz="2400" dirty="0"/>
              <a:t>membrane shrinkage from cell wall (plasmolysis) may occur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a:p>
        </p:txBody>
      </p:sp>
    </p:spTree>
    <p:extLst>
      <p:ext uri="{BB962C8B-B14F-4D97-AF65-F5344CB8AC3E}">
        <p14:creationId xmlns:p14="http://schemas.microsoft.com/office/powerpoint/2010/main" val="3421523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Microbes Adapt to Changes in Osmotic Concentrations</a:t>
            </a:r>
          </a:p>
        </p:txBody>
      </p:sp>
      <p:sp>
        <p:nvSpPr>
          <p:cNvPr id="3" name="Content Placeholder 2"/>
          <p:cNvSpPr>
            <a:spLocks noGrp="1"/>
          </p:cNvSpPr>
          <p:nvPr>
            <p:ph idx="1"/>
          </p:nvPr>
        </p:nvSpPr>
        <p:spPr>
          <a:xfrm>
            <a:off x="457200" y="2027237"/>
            <a:ext cx="8229600" cy="4525963"/>
          </a:xfrm>
        </p:spPr>
        <p:txBody>
          <a:bodyPr/>
          <a:lstStyle/>
          <a:p>
            <a:pPr>
              <a:lnSpc>
                <a:spcPct val="80000"/>
              </a:lnSpc>
            </a:pPr>
            <a:r>
              <a:rPr lang="en-US" dirty="0"/>
              <a:t>Reduce osmotic concentration of cytoplasm in hypotonic solutions</a:t>
            </a:r>
          </a:p>
          <a:p>
            <a:pPr lvl="1">
              <a:lnSpc>
                <a:spcPct val="80000"/>
              </a:lnSpc>
            </a:pPr>
            <a:r>
              <a:rPr lang="en-US" dirty="0"/>
              <a:t>mechanosensitive (MS) channels in plasma membrane allow solutes to leave</a:t>
            </a:r>
          </a:p>
          <a:p>
            <a:pPr marL="457200" lvl="1" indent="0">
              <a:lnSpc>
                <a:spcPct val="80000"/>
              </a:lnSpc>
              <a:buNone/>
            </a:pPr>
            <a:endParaRPr lang="en-US" dirty="0"/>
          </a:p>
          <a:p>
            <a:pPr>
              <a:lnSpc>
                <a:spcPct val="80000"/>
              </a:lnSpc>
            </a:pPr>
            <a:r>
              <a:rPr lang="en-US" dirty="0"/>
              <a:t>Increase internal solute concentration with compatible solutes to increase their internal osmotic concentration in hypertonic solutions</a:t>
            </a:r>
          </a:p>
          <a:p>
            <a:pPr lvl="1">
              <a:lnSpc>
                <a:spcPct val="80000"/>
              </a:lnSpc>
            </a:pPr>
            <a:r>
              <a:rPr lang="en-US" dirty="0"/>
              <a:t>solutes compatible with metabolism and growth</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23</a:t>
            </a:fld>
            <a:endParaRPr lang="en-US"/>
          </a:p>
        </p:txBody>
      </p:sp>
    </p:spTree>
    <p:extLst>
      <p:ext uri="{BB962C8B-B14F-4D97-AF65-F5344CB8AC3E}">
        <p14:creationId xmlns:p14="http://schemas.microsoft.com/office/powerpoint/2010/main" val="2238159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Autofit/>
          </a:bodyPr>
          <a:lstStyle/>
          <a:p>
            <a:r>
              <a:rPr lang="en-US" sz="3600" dirty="0"/>
              <a:t>Extremely Adapted Microbes - Halophiles</a:t>
            </a:r>
          </a:p>
        </p:txBody>
      </p:sp>
      <p:sp>
        <p:nvSpPr>
          <p:cNvPr id="6" name="Content Placeholder 5"/>
          <p:cNvSpPr>
            <a:spLocks noGrp="1"/>
          </p:cNvSpPr>
          <p:nvPr>
            <p:ph sz="half" idx="1"/>
          </p:nvPr>
        </p:nvSpPr>
        <p:spPr>
          <a:xfrm>
            <a:off x="228600" y="1377038"/>
            <a:ext cx="4267200" cy="5328562"/>
          </a:xfrm>
        </p:spPr>
        <p:txBody>
          <a:bodyPr>
            <a:normAutofit lnSpcReduction="10000"/>
          </a:bodyPr>
          <a:lstStyle/>
          <a:p>
            <a:pPr>
              <a:lnSpc>
                <a:spcPct val="90000"/>
              </a:lnSpc>
            </a:pPr>
            <a:r>
              <a:rPr lang="en-US" dirty="0"/>
              <a:t>Halophiles</a:t>
            </a:r>
          </a:p>
          <a:p>
            <a:pPr lvl="1">
              <a:lnSpc>
                <a:spcPct val="90000"/>
              </a:lnSpc>
            </a:pPr>
            <a:r>
              <a:rPr lang="en-US" dirty="0"/>
              <a:t>grow optimally in the presence of NaCl or other salts at a concentration above about 0.2M</a:t>
            </a:r>
          </a:p>
          <a:p>
            <a:pPr marL="457200" lvl="1" indent="0">
              <a:lnSpc>
                <a:spcPct val="90000"/>
              </a:lnSpc>
              <a:buNone/>
            </a:pPr>
            <a:endParaRPr lang="en-US" dirty="0"/>
          </a:p>
          <a:p>
            <a:pPr>
              <a:lnSpc>
                <a:spcPct val="90000"/>
              </a:lnSpc>
            </a:pPr>
            <a:r>
              <a:rPr lang="en-US" dirty="0"/>
              <a:t>Extreme halophiles</a:t>
            </a:r>
          </a:p>
          <a:p>
            <a:pPr lvl="1">
              <a:lnSpc>
                <a:spcPct val="90000"/>
              </a:lnSpc>
            </a:pPr>
            <a:r>
              <a:rPr lang="en-US" dirty="0"/>
              <a:t>require salt concentrations of 2M and 6.2M</a:t>
            </a:r>
          </a:p>
          <a:p>
            <a:pPr lvl="1">
              <a:lnSpc>
                <a:spcPct val="90000"/>
              </a:lnSpc>
            </a:pPr>
            <a:r>
              <a:rPr lang="en-US" dirty="0"/>
              <a:t>extremely high concentrations of potassium</a:t>
            </a:r>
          </a:p>
          <a:p>
            <a:pPr lvl="1">
              <a:lnSpc>
                <a:spcPct val="90000"/>
              </a:lnSpc>
            </a:pPr>
            <a:r>
              <a:rPr lang="en-US" dirty="0"/>
              <a:t>cell wall, proteins, and plasma membrane require high salt to maintain stability and activity</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24</a:t>
            </a:fld>
            <a:endParaRPr lang="en-US"/>
          </a:p>
        </p:txBody>
      </p:sp>
      <p:pic>
        <p:nvPicPr>
          <p:cNvPr id="8" name="Picture 13" descr="Four different patterns of microbial dependence on NaCl concentration are depicted. The curves are only illustrative and are not meant to provide precise shapes or salt concentrations required for growth. &#10;&#10;Nonhalophile - growth only occurs at low NaCl concentraions&#10;Halotolerant - highest growth rate occurs at low NaCl concentrations; growth occurs at hgher NaCl concentrations but the growth rate is slow&#10;Moderate halophile - growth occurs over a range of NaCl concentrations but the fastest growth rate occurs at moderate NaCl concentrations&#10;Exreme halophile - Some growth occurs at moderate NaCl concentrations, but the fastest growth rate is achieved at high NaCl concentrations" title="Figure 7.11 The Effects of Sodium Chloride on Microbial Growth."/>
          <p:cNvPicPr>
            <a:picLocks noGrp="1" noChangeAspect="1" noChangeArrowheads="1"/>
          </p:cNvPicPr>
          <p:nvPr>
            <p:ph sz="half" idx="2"/>
          </p:nvPr>
        </p:nvPicPr>
        <p:blipFill>
          <a:blip r:embed="rId2" cstate="print"/>
          <a:stretch>
            <a:fillRect/>
          </a:stretch>
        </p:blipFill>
        <p:spPr bwMode="auto">
          <a:xfrm>
            <a:off x="4646098" y="1295400"/>
            <a:ext cx="4318987"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159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lstStyle/>
          <a:p>
            <a:r>
              <a:rPr lang="en-US" dirty="0"/>
              <a:t>Solutes and Water Activity (2)</a:t>
            </a:r>
          </a:p>
        </p:txBody>
      </p:sp>
      <p:sp>
        <p:nvSpPr>
          <p:cNvPr id="3" name="Content Placeholder 2"/>
          <p:cNvSpPr>
            <a:spLocks noGrp="1"/>
          </p:cNvSpPr>
          <p:nvPr>
            <p:ph idx="1"/>
          </p:nvPr>
        </p:nvSpPr>
        <p:spPr>
          <a:xfrm>
            <a:off x="457200" y="1143000"/>
            <a:ext cx="8229600" cy="5486400"/>
          </a:xfrm>
        </p:spPr>
        <p:txBody>
          <a:bodyPr>
            <a:normAutofit fontScale="85000" lnSpcReduction="20000"/>
          </a:bodyPr>
          <a:lstStyle/>
          <a:p>
            <a:r>
              <a:rPr lang="en-US" dirty="0"/>
              <a:t>Water activity (a</a:t>
            </a:r>
            <a:r>
              <a:rPr lang="en-US" baseline="-25000" dirty="0"/>
              <a:t>w</a:t>
            </a:r>
            <a:r>
              <a:rPr lang="en-US" dirty="0"/>
              <a:t>)</a:t>
            </a:r>
            <a:br>
              <a:rPr lang="en-US" dirty="0"/>
            </a:br>
            <a:endParaRPr lang="en-US" dirty="0"/>
          </a:p>
          <a:p>
            <a:pPr lvl="1">
              <a:lnSpc>
                <a:spcPct val="90000"/>
              </a:lnSpc>
            </a:pPr>
            <a:r>
              <a:rPr lang="en-US" dirty="0"/>
              <a:t>water activity of a solution is 1/100 the relative humidity of solution </a:t>
            </a:r>
          </a:p>
          <a:p>
            <a:pPr lvl="1">
              <a:lnSpc>
                <a:spcPct val="90000"/>
              </a:lnSpc>
            </a:pPr>
            <a:r>
              <a:rPr lang="en-US" dirty="0"/>
              <a:t>also equal to ratio of solution’s vapor pressure (</a:t>
            </a:r>
            <a:r>
              <a:rPr lang="en-US" dirty="0" err="1"/>
              <a:t>Psoln</a:t>
            </a:r>
            <a:r>
              <a:rPr lang="en-US" dirty="0"/>
              <a:t>) to that of pure water (</a:t>
            </a:r>
            <a:r>
              <a:rPr lang="en-US" dirty="0" err="1"/>
              <a:t>Pwater</a:t>
            </a:r>
            <a:r>
              <a:rPr lang="en-US" dirty="0"/>
              <a:t>)</a:t>
            </a:r>
          </a:p>
          <a:p>
            <a:pPr lvl="1">
              <a:lnSpc>
                <a:spcPct val="90000"/>
              </a:lnSpc>
            </a:pPr>
            <a:r>
              <a:rPr lang="en-US" dirty="0"/>
              <a:t>A</a:t>
            </a:r>
            <a:r>
              <a:rPr lang="en-US" baseline="-25000" dirty="0"/>
              <a:t>w</a:t>
            </a:r>
            <a:r>
              <a:rPr lang="en-US" dirty="0"/>
              <a:t> = </a:t>
            </a:r>
            <a:r>
              <a:rPr lang="en-US" dirty="0" err="1"/>
              <a:t>Psoln</a:t>
            </a:r>
            <a:r>
              <a:rPr lang="en-US" dirty="0"/>
              <a:t>/ </a:t>
            </a:r>
            <a:r>
              <a:rPr lang="en-US" dirty="0" err="1"/>
              <a:t>Pwater</a:t>
            </a:r>
            <a:endParaRPr lang="en-US" dirty="0"/>
          </a:p>
          <a:p>
            <a:pPr lvl="2">
              <a:lnSpc>
                <a:spcPct val="90000"/>
              </a:lnSpc>
            </a:pPr>
            <a:r>
              <a:rPr lang="en-US" dirty="0"/>
              <a:t>low water activity means most water is bound</a:t>
            </a:r>
            <a:br>
              <a:rPr lang="en-US" dirty="0"/>
            </a:br>
            <a:endParaRPr lang="en-US" dirty="0"/>
          </a:p>
          <a:p>
            <a:pPr>
              <a:lnSpc>
                <a:spcPct val="90000"/>
              </a:lnSpc>
            </a:pPr>
            <a:r>
              <a:rPr lang="en-US" dirty="0"/>
              <a:t>Osmotolerant microbes can grow over wide ranges of water activity</a:t>
            </a:r>
            <a:br>
              <a:rPr lang="en-US" dirty="0"/>
            </a:br>
            <a:endParaRPr lang="en-US" dirty="0"/>
          </a:p>
          <a:p>
            <a:pPr lvl="1"/>
            <a:r>
              <a:rPr lang="en-US" dirty="0"/>
              <a:t>amount of water available to organisms</a:t>
            </a:r>
          </a:p>
          <a:p>
            <a:pPr lvl="1"/>
            <a:r>
              <a:rPr lang="en-US" dirty="0"/>
              <a:t>reduced by interaction with solute molecules (osmotic effect)</a:t>
            </a:r>
          </a:p>
          <a:p>
            <a:pPr lvl="1" algn="ctr">
              <a:buFontTx/>
              <a:buNone/>
            </a:pPr>
            <a:r>
              <a:rPr lang="en-US" dirty="0"/>
              <a:t>higher [solute] </a:t>
            </a:r>
            <a:r>
              <a:rPr lang="en-US" dirty="0">
                <a:sym typeface="Symbol" pitchFamily="18" charset="2"/>
              </a:rPr>
              <a:t> lower a</a:t>
            </a:r>
            <a:r>
              <a:rPr lang="en-US" baseline="-25000" dirty="0">
                <a:sym typeface="Symbol" pitchFamily="18" charset="2"/>
              </a:rPr>
              <a:t>w</a:t>
            </a:r>
            <a:endParaRPr lang="en-US" baseline="-25000" dirty="0"/>
          </a:p>
          <a:p>
            <a:pPr lvl="1"/>
            <a:r>
              <a:rPr lang="en-US" dirty="0"/>
              <a:t>reduced by adsorption to surfaces (matric effect)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25</a:t>
            </a:fld>
            <a:endParaRPr lang="en-US"/>
          </a:p>
        </p:txBody>
      </p:sp>
    </p:spTree>
    <p:extLst>
      <p:ext uri="{BB962C8B-B14F-4D97-AF65-F5344CB8AC3E}">
        <p14:creationId xmlns:p14="http://schemas.microsoft.com/office/powerpoint/2010/main" val="2238159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2667000" cy="838200"/>
          </a:xfrm>
        </p:spPr>
        <p:txBody>
          <a:bodyPr/>
          <a:lstStyle/>
          <a:p>
            <a:r>
              <a:rPr lang="en-US" dirty="0"/>
              <a:t>pH</a:t>
            </a:r>
          </a:p>
        </p:txBody>
      </p:sp>
      <p:sp>
        <p:nvSpPr>
          <p:cNvPr id="6" name="Content Placeholder 5"/>
          <p:cNvSpPr>
            <a:spLocks noGrp="1"/>
          </p:cNvSpPr>
          <p:nvPr>
            <p:ph sz="half" idx="1"/>
          </p:nvPr>
        </p:nvSpPr>
        <p:spPr>
          <a:xfrm>
            <a:off x="0" y="914400"/>
            <a:ext cx="3048000" cy="5943600"/>
          </a:xfrm>
        </p:spPr>
        <p:txBody>
          <a:bodyPr>
            <a:normAutofit fontScale="85000" lnSpcReduction="20000"/>
          </a:bodyPr>
          <a:lstStyle/>
          <a:p>
            <a:r>
              <a:rPr lang="en-US" dirty="0"/>
              <a:t>Measure of the relative acidity of a solution</a:t>
            </a:r>
          </a:p>
          <a:p>
            <a:pPr lvl="1"/>
            <a:r>
              <a:rPr lang="en-US" dirty="0"/>
              <a:t>negative logarithm of the hydrogen ion concentration</a:t>
            </a:r>
            <a:br>
              <a:rPr lang="en-US" dirty="0"/>
            </a:br>
            <a:endParaRPr lang="en-US" dirty="0"/>
          </a:p>
          <a:p>
            <a:r>
              <a:rPr lang="en-US" dirty="0" err="1"/>
              <a:t>Acidophiles</a:t>
            </a:r>
            <a:endParaRPr lang="en-US" dirty="0"/>
          </a:p>
          <a:p>
            <a:pPr lvl="1"/>
            <a:r>
              <a:rPr lang="en-US" dirty="0"/>
              <a:t>growth optimum between pH 0-5.5</a:t>
            </a:r>
            <a:br>
              <a:rPr lang="en-US" dirty="0"/>
            </a:br>
            <a:endParaRPr lang="en-US" dirty="0"/>
          </a:p>
          <a:p>
            <a:r>
              <a:rPr lang="en-US" dirty="0" err="1"/>
              <a:t>Neutrophiles</a:t>
            </a:r>
            <a:endParaRPr lang="en-US" dirty="0"/>
          </a:p>
          <a:p>
            <a:pPr lvl="1"/>
            <a:r>
              <a:rPr lang="en-US" dirty="0"/>
              <a:t>growth optimum between pH 5.5-7</a:t>
            </a:r>
            <a:br>
              <a:rPr lang="en-US" dirty="0"/>
            </a:br>
            <a:endParaRPr lang="en-US" dirty="0"/>
          </a:p>
          <a:p>
            <a:r>
              <a:rPr lang="en-US" dirty="0" err="1"/>
              <a:t>Alkaliphiles</a:t>
            </a:r>
            <a:r>
              <a:rPr lang="en-US" dirty="0"/>
              <a:t> (</a:t>
            </a:r>
            <a:r>
              <a:rPr lang="en-US" dirty="0" err="1"/>
              <a:t>alkalophiles</a:t>
            </a:r>
            <a:r>
              <a:rPr lang="en-US" dirty="0"/>
              <a:t>)</a:t>
            </a:r>
          </a:p>
          <a:p>
            <a:pPr lvl="1"/>
            <a:r>
              <a:rPr lang="en-US" dirty="0"/>
              <a:t>growth optimum between pH </a:t>
            </a:r>
            <a:br>
              <a:rPr lang="en-US" dirty="0"/>
            </a:br>
            <a:r>
              <a:rPr lang="en-US" dirty="0"/>
              <a:t>8.5-11.5</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26</a:t>
            </a:fld>
            <a:endParaRPr lang="en-US"/>
          </a:p>
        </p:txBody>
      </p:sp>
      <p:pic>
        <p:nvPicPr>
          <p:cNvPr id="8" name="Picture 9" descr="The pH scale and examples of substances with different pH values.  At the low, acidic end of the scale are human stomach fluid, lemon juice, and acid mine drainage.  Milk, water, and human blood are neutral, around pH 7.  And household ammonia and bleach are at the high, alkaline end of the scale.  &#10;Many archaea are acidophiles. For example, the archaeon Sulfolobus acidocaldarius is a common inhabitant of acidic hot springs; it grows well from pH 1 to 3 and at high temperatures. The archaea Ferroplasma acidarmanus and Picrophilus oshimae can actually grow very close to pH 0. &#10;Alkaliphiles are distributed among all three domains of life. They include bacteria belonging to the genera Bacillus, Micrococcus, Pseudomonas, and Streptomyces; yeasts and filamentous fungi; and numerous archaea.  Seawater has a pH of about 8.3, so marine microorganisms are alkaliphilic." title="Figure 7.12 The pH Scale."/>
          <p:cNvPicPr>
            <a:picLocks noGrp="1" noChangeAspect="1" noChangeArrowheads="1"/>
          </p:cNvPicPr>
          <p:nvPr>
            <p:ph sz="half" idx="2"/>
          </p:nvPr>
        </p:nvPicPr>
        <p:blipFill>
          <a:blip r:embed="rId2" cstate="print"/>
          <a:stretch>
            <a:fillRect/>
          </a:stretch>
        </p:blipFill>
        <p:spPr bwMode="auto">
          <a:xfrm>
            <a:off x="3131484" y="838200"/>
            <a:ext cx="5906243"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159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 Tolerance Mechanisms of Microbes</a:t>
            </a:r>
          </a:p>
        </p:txBody>
      </p:sp>
      <p:sp>
        <p:nvSpPr>
          <p:cNvPr id="3" name="Content Placeholder 2"/>
          <p:cNvSpPr>
            <a:spLocks noGrp="1"/>
          </p:cNvSpPr>
          <p:nvPr>
            <p:ph idx="1"/>
          </p:nvPr>
        </p:nvSpPr>
        <p:spPr>
          <a:xfrm>
            <a:off x="457200" y="1600200"/>
            <a:ext cx="8229600" cy="4953000"/>
          </a:xfrm>
        </p:spPr>
        <p:txBody>
          <a:bodyPr>
            <a:normAutofit lnSpcReduction="10000"/>
          </a:bodyPr>
          <a:lstStyle/>
          <a:p>
            <a:pPr>
              <a:lnSpc>
                <a:spcPct val="90000"/>
              </a:lnSpc>
            </a:pPr>
            <a:r>
              <a:rPr lang="en-US" sz="2800" dirty="0"/>
              <a:t>Most microbes maintain an internal pH near neutrality</a:t>
            </a:r>
          </a:p>
          <a:p>
            <a:pPr lvl="1">
              <a:lnSpc>
                <a:spcPct val="90000"/>
              </a:lnSpc>
            </a:pPr>
            <a:r>
              <a:rPr lang="en-US" dirty="0"/>
              <a:t>the plasma membrane is impermeable to proton</a:t>
            </a:r>
          </a:p>
          <a:p>
            <a:pPr lvl="1">
              <a:lnSpc>
                <a:spcPct val="90000"/>
              </a:lnSpc>
            </a:pPr>
            <a:r>
              <a:rPr lang="en-US" dirty="0"/>
              <a:t>exchange potassium for protons</a:t>
            </a:r>
          </a:p>
          <a:p>
            <a:pPr marL="457200" lvl="1" indent="0">
              <a:lnSpc>
                <a:spcPct val="90000"/>
              </a:lnSpc>
              <a:buNone/>
            </a:pPr>
            <a:endParaRPr lang="en-US" dirty="0"/>
          </a:p>
          <a:p>
            <a:pPr>
              <a:lnSpc>
                <a:spcPct val="90000"/>
              </a:lnSpc>
            </a:pPr>
            <a:r>
              <a:rPr lang="en-US" sz="2800" dirty="0"/>
              <a:t>Acidic tolerance response </a:t>
            </a:r>
          </a:p>
          <a:p>
            <a:pPr lvl="1">
              <a:lnSpc>
                <a:spcPct val="90000"/>
              </a:lnSpc>
            </a:pPr>
            <a:r>
              <a:rPr lang="en-US" dirty="0"/>
              <a:t>pump protons out of the cell</a:t>
            </a:r>
          </a:p>
          <a:p>
            <a:pPr lvl="1">
              <a:lnSpc>
                <a:spcPct val="90000"/>
              </a:lnSpc>
            </a:pPr>
            <a:r>
              <a:rPr lang="en-US" dirty="0"/>
              <a:t>some synthesize acid and heat shock proteins that protect proteins</a:t>
            </a:r>
          </a:p>
          <a:p>
            <a:pPr marL="457200" lvl="1" indent="0">
              <a:lnSpc>
                <a:spcPct val="90000"/>
              </a:lnSpc>
              <a:buNone/>
            </a:pPr>
            <a:endParaRPr lang="en-US" dirty="0"/>
          </a:p>
          <a:p>
            <a:pPr>
              <a:lnSpc>
                <a:spcPct val="90000"/>
              </a:lnSpc>
            </a:pPr>
            <a:r>
              <a:rPr lang="en-US" sz="2800" dirty="0"/>
              <a:t>Many microorganisms change the pH of their habitat by producing acidic or basic waste products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a:p>
        </p:txBody>
      </p:sp>
    </p:spTree>
    <p:extLst>
      <p:ext uri="{BB962C8B-B14F-4D97-AF65-F5344CB8AC3E}">
        <p14:creationId xmlns:p14="http://schemas.microsoft.com/office/powerpoint/2010/main" val="2238159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a:t>Temperature</a:t>
            </a:r>
          </a:p>
        </p:txBody>
      </p:sp>
      <p:sp>
        <p:nvSpPr>
          <p:cNvPr id="6" name="Content Placeholder 5"/>
          <p:cNvSpPr>
            <a:spLocks noGrp="1"/>
          </p:cNvSpPr>
          <p:nvPr>
            <p:ph sz="half" idx="1"/>
          </p:nvPr>
        </p:nvSpPr>
        <p:spPr>
          <a:xfrm>
            <a:off x="0" y="914400"/>
            <a:ext cx="9144000" cy="3429000"/>
          </a:xfrm>
        </p:spPr>
        <p:txBody>
          <a:bodyPr>
            <a:normAutofit fontScale="85000" lnSpcReduction="20000"/>
          </a:bodyPr>
          <a:lstStyle/>
          <a:p>
            <a:r>
              <a:rPr lang="en-US" dirty="0"/>
              <a:t>Microbes cannot regulate their internal temperature</a:t>
            </a:r>
            <a:br>
              <a:rPr lang="en-US" dirty="0"/>
            </a:br>
            <a:endParaRPr lang="en-US" dirty="0"/>
          </a:p>
          <a:p>
            <a:r>
              <a:rPr lang="en-US" dirty="0"/>
              <a:t>Enzymes have optimal temperature at which they function optimally</a:t>
            </a:r>
            <a:br>
              <a:rPr lang="en-US" dirty="0"/>
            </a:br>
            <a:endParaRPr lang="en-US" dirty="0"/>
          </a:p>
          <a:p>
            <a:r>
              <a:rPr lang="en-US" dirty="0"/>
              <a:t>High temperatures may inhibit enzyme functioning and be lethal</a:t>
            </a:r>
            <a:br>
              <a:rPr lang="en-US" dirty="0"/>
            </a:br>
            <a:endParaRPr lang="en-US" dirty="0"/>
          </a:p>
          <a:p>
            <a:r>
              <a:rPr lang="en-US" dirty="0"/>
              <a:t>Organisms exhibit distinct cardinal growth temperatures</a:t>
            </a:r>
          </a:p>
          <a:p>
            <a:pPr lvl="1"/>
            <a:r>
              <a:rPr lang="en-US" dirty="0"/>
              <a:t>minimal</a:t>
            </a:r>
          </a:p>
          <a:p>
            <a:pPr lvl="1"/>
            <a:r>
              <a:rPr lang="en-US" dirty="0"/>
              <a:t>maximal</a:t>
            </a:r>
          </a:p>
          <a:p>
            <a:pPr lvl="1"/>
            <a:r>
              <a:rPr lang="en-US" dirty="0"/>
              <a:t>optimal</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28</a:t>
            </a:fld>
            <a:endParaRPr lang="en-US"/>
          </a:p>
        </p:txBody>
      </p:sp>
      <p:pic>
        <p:nvPicPr>
          <p:cNvPr id="8" name="Picture 11" descr="The effect of temperature on growth rate.  Microbial growth has a characteristic temperature dependence with distinct cardinal temperatures—minimum, optimum, and maximum growth temperatures. Although the shape of temperature dependence curves varies, the temperature optimum is always closer to the maximum than to the minimum." title="Figure 7.13 Temperature and Growth."/>
          <p:cNvPicPr>
            <a:picLocks noGrp="1" noChangeAspect="1" noChangeArrowheads="1"/>
          </p:cNvPicPr>
          <p:nvPr>
            <p:ph sz="half" idx="2"/>
          </p:nvPr>
        </p:nvPicPr>
        <p:blipFill>
          <a:blip r:embed="rId2" cstate="print"/>
          <a:stretch>
            <a:fillRect/>
          </a:stretch>
        </p:blipFill>
        <p:spPr bwMode="auto">
          <a:xfrm>
            <a:off x="3886200" y="3352800"/>
            <a:ext cx="4807654" cy="3389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159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839200" cy="914400"/>
          </a:xfrm>
        </p:spPr>
        <p:txBody>
          <a:bodyPr>
            <a:normAutofit/>
          </a:bodyPr>
          <a:lstStyle/>
          <a:p>
            <a:r>
              <a:rPr lang="en-US" sz="3600" dirty="0"/>
              <a:t>Temperature Ranges for Microbial Growth</a:t>
            </a:r>
          </a:p>
        </p:txBody>
      </p:sp>
      <p:sp>
        <p:nvSpPr>
          <p:cNvPr id="7" name="Content Placeholder 6"/>
          <p:cNvSpPr>
            <a:spLocks noGrp="1"/>
          </p:cNvSpPr>
          <p:nvPr>
            <p:ph sz="half" idx="2"/>
          </p:nvPr>
        </p:nvSpPr>
        <p:spPr>
          <a:xfrm>
            <a:off x="5486400" y="1066800"/>
            <a:ext cx="3581400" cy="5638800"/>
          </a:xfrm>
        </p:spPr>
        <p:txBody>
          <a:bodyPr>
            <a:normAutofit fontScale="92500" lnSpcReduction="10000"/>
          </a:bodyPr>
          <a:lstStyle/>
          <a:p>
            <a:r>
              <a:rPr lang="en-US" dirty="0" err="1"/>
              <a:t>Psychrophiles</a:t>
            </a:r>
            <a:r>
              <a:rPr lang="en-US" dirty="0"/>
              <a:t> – 0</a:t>
            </a:r>
            <a:r>
              <a:rPr lang="en-US" baseline="30000" dirty="0"/>
              <a:t>o</a:t>
            </a:r>
            <a:r>
              <a:rPr lang="en-US" dirty="0"/>
              <a:t> C to 20</a:t>
            </a:r>
            <a:r>
              <a:rPr lang="en-US" baseline="30000" dirty="0"/>
              <a:t>o </a:t>
            </a:r>
            <a:r>
              <a:rPr lang="en-US" dirty="0"/>
              <a:t>C</a:t>
            </a:r>
            <a:br>
              <a:rPr lang="en-US" dirty="0"/>
            </a:br>
            <a:endParaRPr lang="en-US" dirty="0"/>
          </a:p>
          <a:p>
            <a:r>
              <a:rPr lang="en-US" dirty="0" err="1"/>
              <a:t>Psychrotrophs</a:t>
            </a:r>
            <a:r>
              <a:rPr lang="en-US" dirty="0"/>
              <a:t> – 0</a:t>
            </a:r>
            <a:r>
              <a:rPr lang="en-US" baseline="30000" dirty="0"/>
              <a:t>o</a:t>
            </a:r>
            <a:r>
              <a:rPr lang="en-US" dirty="0"/>
              <a:t> C to 35</a:t>
            </a:r>
            <a:r>
              <a:rPr lang="en-US" baseline="30000" dirty="0"/>
              <a:t>o </a:t>
            </a:r>
            <a:r>
              <a:rPr lang="en-US" dirty="0"/>
              <a:t>C</a:t>
            </a:r>
            <a:br>
              <a:rPr lang="en-US" dirty="0"/>
            </a:br>
            <a:endParaRPr lang="en-US" dirty="0"/>
          </a:p>
          <a:p>
            <a:r>
              <a:rPr lang="en-US" dirty="0" err="1"/>
              <a:t>Mesophiles</a:t>
            </a:r>
            <a:r>
              <a:rPr lang="en-US" dirty="0"/>
              <a:t> – 20</a:t>
            </a:r>
            <a:r>
              <a:rPr lang="en-US" baseline="30000" dirty="0"/>
              <a:t>o</a:t>
            </a:r>
            <a:r>
              <a:rPr lang="en-US" dirty="0"/>
              <a:t> C to 45</a:t>
            </a:r>
            <a:r>
              <a:rPr lang="en-US" baseline="30000" dirty="0"/>
              <a:t>o </a:t>
            </a:r>
            <a:r>
              <a:rPr lang="en-US" dirty="0"/>
              <a:t>C</a:t>
            </a:r>
            <a:br>
              <a:rPr lang="en-US" dirty="0"/>
            </a:br>
            <a:endParaRPr lang="en-US" dirty="0"/>
          </a:p>
          <a:p>
            <a:r>
              <a:rPr lang="en-US" dirty="0"/>
              <a:t>Thermophiles – 55</a:t>
            </a:r>
            <a:r>
              <a:rPr lang="en-US" baseline="30000" dirty="0"/>
              <a:t>o</a:t>
            </a:r>
            <a:r>
              <a:rPr lang="en-US" dirty="0"/>
              <a:t> C to 85</a:t>
            </a:r>
            <a:r>
              <a:rPr lang="en-US" baseline="30000" dirty="0"/>
              <a:t>o </a:t>
            </a:r>
            <a:r>
              <a:rPr lang="en-US" dirty="0"/>
              <a:t>C</a:t>
            </a:r>
            <a:br>
              <a:rPr lang="en-US" dirty="0"/>
            </a:br>
            <a:endParaRPr lang="en-US" dirty="0"/>
          </a:p>
          <a:p>
            <a:r>
              <a:rPr lang="en-US" dirty="0"/>
              <a:t>Hyperthermophiles – 85</a:t>
            </a:r>
            <a:r>
              <a:rPr lang="en-US" baseline="30000" dirty="0"/>
              <a:t>o</a:t>
            </a:r>
            <a:r>
              <a:rPr lang="en-US" dirty="0"/>
              <a:t> C to 113</a:t>
            </a:r>
            <a:r>
              <a:rPr lang="en-US" baseline="30000" dirty="0"/>
              <a:t>o </a:t>
            </a:r>
            <a:r>
              <a:rPr lang="en-US" dirty="0"/>
              <a:t>C</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29</a:t>
            </a:fld>
            <a:endParaRPr lang="en-US"/>
          </a:p>
        </p:txBody>
      </p:sp>
      <p:pic>
        <p:nvPicPr>
          <p:cNvPr id="8" name="Content Placeholder 7" descr="Microorganisms are placed in different classes based on their temperature ranges for growth. They are ranked in order of increasing growth temperature range as psychrophiles, psychrotrophs, mesophiles, thermophiles, and hyperthermophiles. Representative ranges and optima for these five types are illustrated (and defined in text on the slide)." title="Figure 7.14 Temperature Ranges for Microbial Growth."/>
          <p:cNvPicPr>
            <a:picLocks noGrp="1" noChangeAspect="1" noChangeArrowheads="1"/>
          </p:cNvPicPr>
          <p:nvPr>
            <p:ph sz="half" idx="1"/>
          </p:nvPr>
        </p:nvPicPr>
        <p:blipFill>
          <a:blip r:embed="rId2" cstate="print"/>
          <a:stretch>
            <a:fillRect/>
          </a:stretch>
        </p:blipFill>
        <p:spPr bwMode="auto">
          <a:xfrm>
            <a:off x="37541" y="1706698"/>
            <a:ext cx="5372659" cy="4084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159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dirty="0"/>
              <a:t>Adaptations of Thermophiles</a:t>
            </a:r>
          </a:p>
        </p:txBody>
      </p:sp>
      <p:sp>
        <p:nvSpPr>
          <p:cNvPr id="6" name="Content Placeholder 5"/>
          <p:cNvSpPr>
            <a:spLocks noGrp="1"/>
          </p:cNvSpPr>
          <p:nvPr>
            <p:ph sz="half" idx="1"/>
          </p:nvPr>
        </p:nvSpPr>
        <p:spPr>
          <a:xfrm>
            <a:off x="152400" y="1143000"/>
            <a:ext cx="4191000" cy="5562600"/>
          </a:xfrm>
        </p:spPr>
        <p:txBody>
          <a:bodyPr>
            <a:normAutofit fontScale="92500" lnSpcReduction="20000"/>
          </a:bodyPr>
          <a:lstStyle/>
          <a:p>
            <a:pPr>
              <a:lnSpc>
                <a:spcPct val="90000"/>
              </a:lnSpc>
            </a:pPr>
            <a:r>
              <a:rPr lang="en-US" dirty="0"/>
              <a:t>Protein structure stabilized by a variety of means </a:t>
            </a:r>
          </a:p>
          <a:p>
            <a:pPr lvl="1">
              <a:lnSpc>
                <a:spcPct val="90000"/>
              </a:lnSpc>
            </a:pPr>
            <a:r>
              <a:rPr lang="en-US" dirty="0"/>
              <a:t>e.g. more H bonds</a:t>
            </a:r>
          </a:p>
          <a:p>
            <a:pPr lvl="1">
              <a:lnSpc>
                <a:spcPct val="90000"/>
              </a:lnSpc>
            </a:pPr>
            <a:r>
              <a:rPr lang="en-US" dirty="0"/>
              <a:t>e.g. more proline</a:t>
            </a:r>
          </a:p>
          <a:p>
            <a:pPr lvl="1">
              <a:lnSpc>
                <a:spcPct val="90000"/>
              </a:lnSpc>
            </a:pPr>
            <a:r>
              <a:rPr lang="en-US" dirty="0"/>
              <a:t>e.g. chaperones</a:t>
            </a:r>
            <a:br>
              <a:rPr lang="en-US" dirty="0"/>
            </a:br>
            <a:endParaRPr lang="en-US" dirty="0"/>
          </a:p>
          <a:p>
            <a:pPr>
              <a:lnSpc>
                <a:spcPct val="90000"/>
              </a:lnSpc>
            </a:pPr>
            <a:r>
              <a:rPr lang="en-US" dirty="0"/>
              <a:t>Histone-like proteins stabilize </a:t>
            </a:r>
            <a:br>
              <a:rPr lang="en-US" dirty="0"/>
            </a:br>
            <a:r>
              <a:rPr lang="en-US" dirty="0"/>
              <a:t>DNA</a:t>
            </a:r>
          </a:p>
          <a:p>
            <a:pPr marL="0" indent="0">
              <a:lnSpc>
                <a:spcPct val="90000"/>
              </a:lnSpc>
              <a:buNone/>
            </a:pPr>
            <a:endParaRPr lang="en-US" dirty="0"/>
          </a:p>
          <a:p>
            <a:pPr>
              <a:lnSpc>
                <a:spcPct val="90000"/>
              </a:lnSpc>
            </a:pPr>
            <a:r>
              <a:rPr lang="en-US" dirty="0"/>
              <a:t>Membrane stabilized by variety of means</a:t>
            </a:r>
          </a:p>
          <a:p>
            <a:pPr lvl="1">
              <a:lnSpc>
                <a:spcPct val="90000"/>
              </a:lnSpc>
            </a:pPr>
            <a:r>
              <a:rPr lang="en-US" dirty="0"/>
              <a:t>e.g. more saturated, more branched and higher molecular weight lipids</a:t>
            </a:r>
          </a:p>
          <a:p>
            <a:pPr lvl="1">
              <a:lnSpc>
                <a:spcPct val="90000"/>
              </a:lnSpc>
            </a:pPr>
            <a:r>
              <a:rPr lang="en-US" dirty="0"/>
              <a:t>e.g. ether linkages (archaeal membranes)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30</a:t>
            </a:fld>
            <a:endParaRPr lang="en-US"/>
          </a:p>
        </p:txBody>
      </p:sp>
      <p:pic>
        <p:nvPicPr>
          <p:cNvPr id="8" name="Picture 8" descr="This table is a list of microorganisms with their three cardinal temperatures for growth (minimum, optimum, maximum) in degrees C.&#10;&#10;Bacteria and Archaea&#10;Planococcus halocryophilus: -15, 25, 37&#10;Bacillus psychrophilus: 0-3, 25, 30&#10;Pseudomonas fluorescens: 4, 25–30, 40&#10;Escherichia coli: 10, 37, 45&#10;Neisseria gonorrhoeae: 30, 35–36, 38&#10;Thermus aquaticus: 40, 70–72, 79&#10;Pyrolobus fumarii: 90, 106, 113&#10;&#10;Protists         &#10;Chlamydomonas nivalis: −36, 0, 4&#10;Amoeba proteus: 4–6, 22, 35&#10;Trichomonas vaginalis: 25, 32–39, 42&#10;Cyclidium citrullus: 18, 43, 47&#10;&#10;Fungi&#10;Candida scotti: 0, 4–15, 15&#10;Saccharomyces cerevisiae: 1–3, 28, 40&#10;Mucor pusillus: 21–23, 45–50, 50–58" title="Table 7.3 Temperature Ranges for Microbial Growth"/>
          <p:cNvPicPr>
            <a:picLocks noGrp="1" noChangeAspect="1" noChangeArrowheads="1"/>
          </p:cNvPicPr>
          <p:nvPr>
            <p:ph sz="half" idx="2"/>
          </p:nvPr>
        </p:nvPicPr>
        <p:blipFill>
          <a:blip r:embed="rId2" cstate="print"/>
          <a:stretch>
            <a:fillRect/>
          </a:stretch>
        </p:blipFill>
        <p:spPr bwMode="auto">
          <a:xfrm>
            <a:off x="4876800" y="990600"/>
            <a:ext cx="3812007" cy="572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828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a:t>Oxygen Concentration</a:t>
            </a:r>
          </a:p>
        </p:txBody>
      </p:sp>
      <p:sp>
        <p:nvSpPr>
          <p:cNvPr id="3" name="Content Placeholder 2"/>
          <p:cNvSpPr>
            <a:spLocks noGrp="1"/>
          </p:cNvSpPr>
          <p:nvPr>
            <p:ph idx="1"/>
          </p:nvPr>
        </p:nvSpPr>
        <p:spPr>
          <a:xfrm>
            <a:off x="457200" y="1447800"/>
            <a:ext cx="8229600" cy="5257800"/>
          </a:xfrm>
        </p:spPr>
        <p:txBody>
          <a:bodyPr>
            <a:normAutofit fontScale="77500" lnSpcReduction="20000"/>
          </a:bodyPr>
          <a:lstStyle/>
          <a:p>
            <a:r>
              <a:rPr lang="en-US" dirty="0"/>
              <a:t>Growth in presence of different oxygen concentrations depends on a microbe’s metabolic processes, electron transport chains (ETC), terminal electron acceptor used</a:t>
            </a:r>
            <a:br>
              <a:rPr lang="en-US" dirty="0"/>
            </a:br>
            <a:endParaRPr lang="en-US" dirty="0"/>
          </a:p>
          <a:p>
            <a:pPr lvl="1">
              <a:lnSpc>
                <a:spcPct val="90000"/>
              </a:lnSpc>
            </a:pPr>
            <a:r>
              <a:rPr lang="en-US" dirty="0"/>
              <a:t>aerobe: grows in presence of atmospheric oxygen (O</a:t>
            </a:r>
            <a:r>
              <a:rPr lang="en-US" baseline="-25000" dirty="0"/>
              <a:t>2</a:t>
            </a:r>
            <a:r>
              <a:rPr lang="en-US" dirty="0"/>
              <a:t>) which is 20% O</a:t>
            </a:r>
            <a:r>
              <a:rPr lang="en-US" baseline="-25000" dirty="0"/>
              <a:t>2</a:t>
            </a:r>
            <a:br>
              <a:rPr lang="en-US" baseline="-25000" dirty="0"/>
            </a:br>
            <a:endParaRPr lang="en-US" dirty="0"/>
          </a:p>
          <a:p>
            <a:pPr lvl="1">
              <a:lnSpc>
                <a:spcPct val="90000"/>
              </a:lnSpc>
            </a:pPr>
            <a:r>
              <a:rPr lang="en-US" dirty="0"/>
              <a:t>obligate aerobe – requires O</a:t>
            </a:r>
            <a:r>
              <a:rPr lang="en-US" baseline="-25000" dirty="0"/>
              <a:t>2</a:t>
            </a:r>
            <a:br>
              <a:rPr lang="en-US" baseline="-25000" dirty="0"/>
            </a:br>
            <a:endParaRPr lang="en-US" dirty="0"/>
          </a:p>
          <a:p>
            <a:pPr lvl="1">
              <a:lnSpc>
                <a:spcPct val="90000"/>
              </a:lnSpc>
            </a:pPr>
            <a:r>
              <a:rPr lang="en-US" dirty="0"/>
              <a:t>anaerobe: grows in the absence of O</a:t>
            </a:r>
            <a:r>
              <a:rPr lang="en-US" baseline="-25000" dirty="0"/>
              <a:t>2</a:t>
            </a:r>
            <a:br>
              <a:rPr lang="en-US" baseline="-25000" dirty="0"/>
            </a:br>
            <a:endParaRPr lang="en-US" baseline="-25000" dirty="0"/>
          </a:p>
          <a:p>
            <a:pPr lvl="1">
              <a:lnSpc>
                <a:spcPct val="90000"/>
              </a:lnSpc>
            </a:pPr>
            <a:r>
              <a:rPr lang="en-US" dirty="0"/>
              <a:t>obligate anaerobe: usually killed in presence of O</a:t>
            </a:r>
            <a:r>
              <a:rPr lang="en-US" baseline="-25000" dirty="0"/>
              <a:t>2</a:t>
            </a:r>
            <a:br>
              <a:rPr lang="en-US" baseline="-25000" dirty="0"/>
            </a:br>
            <a:endParaRPr lang="en-US" baseline="-25000" dirty="0"/>
          </a:p>
          <a:p>
            <a:pPr lvl="1">
              <a:lnSpc>
                <a:spcPct val="90000"/>
              </a:lnSpc>
            </a:pPr>
            <a:r>
              <a:rPr lang="en-US" dirty="0" err="1"/>
              <a:t>microaerophile</a:t>
            </a:r>
            <a:r>
              <a:rPr lang="en-US" dirty="0"/>
              <a:t>: requires 2–10% O</a:t>
            </a:r>
            <a:r>
              <a:rPr lang="en-US" baseline="-25000" dirty="0"/>
              <a:t>2</a:t>
            </a:r>
            <a:br>
              <a:rPr lang="en-US" baseline="-25000" dirty="0"/>
            </a:br>
            <a:endParaRPr lang="en-US" baseline="-25000" dirty="0"/>
          </a:p>
          <a:p>
            <a:pPr lvl="1">
              <a:lnSpc>
                <a:spcPct val="90000"/>
              </a:lnSpc>
            </a:pPr>
            <a:r>
              <a:rPr lang="en-US" dirty="0"/>
              <a:t>facultative anaerobes: do not require O</a:t>
            </a:r>
            <a:r>
              <a:rPr lang="en-US" baseline="-25000" dirty="0"/>
              <a:t>2 </a:t>
            </a:r>
            <a:r>
              <a:rPr lang="en-US" dirty="0"/>
              <a:t>but grow better in its presence </a:t>
            </a:r>
            <a:br>
              <a:rPr lang="en-US" dirty="0"/>
            </a:br>
            <a:endParaRPr lang="en-US" dirty="0"/>
          </a:p>
          <a:p>
            <a:pPr lvl="1">
              <a:lnSpc>
                <a:spcPct val="90000"/>
              </a:lnSpc>
            </a:pPr>
            <a:r>
              <a:rPr lang="en-US" dirty="0" err="1"/>
              <a:t>aerotolerant</a:t>
            </a:r>
            <a:r>
              <a:rPr lang="en-US" dirty="0"/>
              <a:t> anaerobes: grow with or without O</a:t>
            </a:r>
            <a:r>
              <a:rPr lang="en-US" baseline="-25000" dirty="0"/>
              <a:t>2</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31</a:t>
            </a:fld>
            <a:endParaRPr lang="en-US"/>
          </a:p>
        </p:txBody>
      </p:sp>
    </p:spTree>
    <p:extLst>
      <p:ext uri="{BB962C8B-B14F-4D97-AF65-F5344CB8AC3E}">
        <p14:creationId xmlns:p14="http://schemas.microsoft.com/office/powerpoint/2010/main" val="1627012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686800" cy="1143000"/>
          </a:xfrm>
        </p:spPr>
        <p:txBody>
          <a:bodyPr>
            <a:normAutofit fontScale="90000"/>
          </a:bodyPr>
          <a:lstStyle/>
          <a:p>
            <a:r>
              <a:rPr lang="en-US" dirty="0"/>
              <a:t>Effects of Different Oxygen Levels </a:t>
            </a:r>
            <a:br>
              <a:rPr lang="en-US" dirty="0"/>
            </a:br>
            <a:r>
              <a:rPr lang="en-US" dirty="0"/>
              <a:t>on Microbe Growth</a:t>
            </a:r>
          </a:p>
        </p:txBody>
      </p:sp>
      <p:sp>
        <p:nvSpPr>
          <p:cNvPr id="3" name="Slide Number Placeholder 2"/>
          <p:cNvSpPr>
            <a:spLocks noGrp="1"/>
          </p:cNvSpPr>
          <p:nvPr>
            <p:ph type="sldNum" sz="quarter" idx="12"/>
          </p:nvPr>
        </p:nvSpPr>
        <p:spPr/>
        <p:txBody>
          <a:bodyPr/>
          <a:lstStyle/>
          <a:p>
            <a:fld id="{3B1A82D2-719A-4A87-BECB-D74482819C19}" type="slidenum">
              <a:rPr lang="en-US" smtClean="0"/>
              <a:pPr/>
              <a:t>32</a:t>
            </a:fld>
            <a:endParaRPr lang="en-US"/>
          </a:p>
        </p:txBody>
      </p:sp>
      <p:pic>
        <p:nvPicPr>
          <p:cNvPr id="6" name="Content Placeholder 5" descr="This figure shows test tubes that illustrate bacterial growth for obligate aerobes, facultative anaerobes, aerotolerant anaerobes, strict anaerobes, and microaerophiles.&#10;&#10;Each dot represents an individual bacterial colony within the agar or on its surface. The surface, which is directly exposed to atmospheric oxygen, is oxic. The oxygen content of the medium decreases with depth until the medium becomes anoxic toward the bottom of the tube. &#10;&#10;The presence and absence of the enzymes superoxide dismutase (SOD) and catalase for each type are shown.&#10;&#10;Obligate aerobes - growth occurs in the oxic zone (at the surface of the medium in the tube); +SOD, +Catalase&#10;&#10;Facultative anaerobes - growth occurs throughout the medium but is more concentrated in the oxic zone; +SOD, +Catalase&#10;&#10;Aerotolerant anaerobes - growth occurs throughout the medium; +SOD, -Catalase&#10;&#10;Strict anaerobes - growth occurs at the bottom of the test tube (oxygen is toxic to these microbes); -SOD, -Catalase&#10;&#10;Microaerophiles - growth does not occur at the surface of the test tube (where oxygen concentration is around 20%), but occurs just below that in the medium (where oxygen concentration is between 2 and 10%); +SOD, +/-Catalase (low levels)" title="Figure 7.15 Oxygen and Bacterial Growth."/>
          <p:cNvPicPr>
            <a:picLocks noGrp="1" noChangeAspect="1" noChangeArrowheads="1"/>
          </p:cNvPicPr>
          <p:nvPr>
            <p:ph idx="1"/>
          </p:nvPr>
        </p:nvPicPr>
        <p:blipFill>
          <a:blip r:embed="rId2" cstate="print"/>
          <a:stretch>
            <a:fillRect/>
          </a:stretch>
        </p:blipFill>
        <p:spPr bwMode="auto">
          <a:xfrm>
            <a:off x="67099" y="1490005"/>
            <a:ext cx="8987763" cy="4910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13336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Basis of Different Oxygen Sensitivities</a:t>
            </a:r>
          </a:p>
        </p:txBody>
      </p:sp>
      <p:sp>
        <p:nvSpPr>
          <p:cNvPr id="3" name="Content Placeholder 2"/>
          <p:cNvSpPr>
            <a:spLocks noGrp="1"/>
          </p:cNvSpPr>
          <p:nvPr>
            <p:ph idx="1"/>
          </p:nvPr>
        </p:nvSpPr>
        <p:spPr>
          <a:xfrm>
            <a:off x="457200" y="1600200"/>
            <a:ext cx="8229600" cy="4800600"/>
          </a:xfrm>
        </p:spPr>
        <p:txBody>
          <a:bodyPr>
            <a:normAutofit lnSpcReduction="10000"/>
          </a:bodyPr>
          <a:lstStyle/>
          <a:p>
            <a:pPr>
              <a:lnSpc>
                <a:spcPct val="80000"/>
              </a:lnSpc>
            </a:pPr>
            <a:r>
              <a:rPr lang="en-US" dirty="0"/>
              <a:t>Oxygen reduced to reactive oxygen species (ROS)</a:t>
            </a:r>
            <a:br>
              <a:rPr lang="en-US" dirty="0"/>
            </a:br>
            <a:endParaRPr lang="en-US" dirty="0"/>
          </a:p>
          <a:p>
            <a:pPr lvl="1">
              <a:lnSpc>
                <a:spcPct val="80000"/>
              </a:lnSpc>
            </a:pPr>
            <a:r>
              <a:rPr lang="en-US" dirty="0"/>
              <a:t>superoxide radical </a:t>
            </a:r>
          </a:p>
          <a:p>
            <a:pPr lvl="1">
              <a:lnSpc>
                <a:spcPct val="80000"/>
              </a:lnSpc>
            </a:pPr>
            <a:r>
              <a:rPr lang="en-US" dirty="0"/>
              <a:t>hydrogen peroxide</a:t>
            </a:r>
          </a:p>
          <a:p>
            <a:pPr lvl="1">
              <a:lnSpc>
                <a:spcPct val="80000"/>
              </a:lnSpc>
            </a:pPr>
            <a:r>
              <a:rPr lang="en-US" dirty="0"/>
              <a:t>hydroxyl radical</a:t>
            </a:r>
            <a:br>
              <a:rPr lang="en-US" dirty="0"/>
            </a:br>
            <a:endParaRPr lang="en-US" dirty="0"/>
          </a:p>
          <a:p>
            <a:pPr>
              <a:lnSpc>
                <a:spcPct val="80000"/>
              </a:lnSpc>
            </a:pPr>
            <a:r>
              <a:rPr lang="en-US" dirty="0"/>
              <a:t>Aerobes produce protective enzymes</a:t>
            </a:r>
            <a:br>
              <a:rPr lang="en-US" dirty="0"/>
            </a:br>
            <a:endParaRPr lang="en-US" dirty="0"/>
          </a:p>
          <a:p>
            <a:pPr lvl="1">
              <a:lnSpc>
                <a:spcPct val="80000"/>
              </a:lnSpc>
            </a:pPr>
            <a:r>
              <a:rPr lang="en-US" dirty="0"/>
              <a:t>superoxide dismutase (SOD)</a:t>
            </a:r>
          </a:p>
          <a:p>
            <a:pPr lvl="1">
              <a:lnSpc>
                <a:spcPct val="80000"/>
              </a:lnSpc>
            </a:pPr>
            <a:r>
              <a:rPr lang="en-US" dirty="0"/>
              <a:t>catalase</a:t>
            </a:r>
          </a:p>
          <a:p>
            <a:pPr lvl="1">
              <a:lnSpc>
                <a:spcPct val="80000"/>
              </a:lnSpc>
            </a:pPr>
            <a:r>
              <a:rPr lang="en-US" dirty="0"/>
              <a:t>peroxidase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33</a:t>
            </a:fld>
            <a:endParaRPr lang="en-US"/>
          </a:p>
        </p:txBody>
      </p:sp>
    </p:spTree>
    <p:extLst>
      <p:ext uri="{BB962C8B-B14F-4D97-AF65-F5344CB8AC3E}">
        <p14:creationId xmlns:p14="http://schemas.microsoft.com/office/powerpoint/2010/main" val="1737543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a:t>Strict Anaerobic Microbes</a:t>
            </a:r>
            <a:br>
              <a:rPr lang="en-US" dirty="0"/>
            </a:br>
            <a:endParaRPr lang="en-US" dirty="0"/>
          </a:p>
        </p:txBody>
      </p:sp>
      <p:sp>
        <p:nvSpPr>
          <p:cNvPr id="8" name="Content Placeholder 7"/>
          <p:cNvSpPr>
            <a:spLocks noGrp="1"/>
          </p:cNvSpPr>
          <p:nvPr>
            <p:ph idx="1"/>
          </p:nvPr>
        </p:nvSpPr>
        <p:spPr>
          <a:xfrm>
            <a:off x="457200" y="1600200"/>
            <a:ext cx="8229600" cy="4876800"/>
          </a:xfrm>
        </p:spPr>
        <p:txBody>
          <a:bodyPr/>
          <a:lstStyle/>
          <a:p>
            <a:pPr>
              <a:lnSpc>
                <a:spcPct val="90000"/>
              </a:lnSpc>
            </a:pPr>
            <a:r>
              <a:rPr lang="en-US" dirty="0"/>
              <a:t>Strict anaerobic microbes lack/have very low quantities of</a:t>
            </a:r>
          </a:p>
          <a:p>
            <a:pPr lvl="1">
              <a:lnSpc>
                <a:spcPct val="90000"/>
              </a:lnSpc>
            </a:pPr>
            <a:r>
              <a:rPr lang="en-US" dirty="0"/>
              <a:t>superoxide dismutase</a:t>
            </a:r>
          </a:p>
          <a:p>
            <a:pPr lvl="1">
              <a:lnSpc>
                <a:spcPct val="90000"/>
              </a:lnSpc>
            </a:pPr>
            <a:r>
              <a:rPr lang="en-US" dirty="0"/>
              <a:t>Catalase</a:t>
            </a:r>
            <a:br>
              <a:rPr lang="en-US" dirty="0"/>
            </a:br>
            <a:endParaRPr lang="en-US" dirty="0"/>
          </a:p>
          <a:p>
            <a:pPr>
              <a:lnSpc>
                <a:spcPct val="90000"/>
              </a:lnSpc>
            </a:pPr>
            <a:r>
              <a:rPr lang="en-US" dirty="0"/>
              <a:t>These microbes cannot tolerate O</a:t>
            </a:r>
            <a:r>
              <a:rPr lang="en-US" baseline="-25000" dirty="0"/>
              <a:t>2</a:t>
            </a:r>
            <a:br>
              <a:rPr lang="en-US" baseline="-25000" dirty="0"/>
            </a:br>
            <a:endParaRPr lang="en-US" baseline="-25000" dirty="0"/>
          </a:p>
          <a:p>
            <a:pPr>
              <a:lnSpc>
                <a:spcPct val="90000"/>
              </a:lnSpc>
            </a:pPr>
            <a:r>
              <a:rPr lang="en-US" dirty="0"/>
              <a:t>Anaerobes must be grown without O</a:t>
            </a:r>
            <a:r>
              <a:rPr lang="en-US" baseline="-25000" dirty="0"/>
              <a:t>2</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34</a:t>
            </a:fld>
            <a:endParaRPr lang="en-US"/>
          </a:p>
        </p:txBody>
      </p:sp>
    </p:spTree>
    <p:extLst>
      <p:ext uri="{BB962C8B-B14F-4D97-AF65-F5344CB8AC3E}">
        <p14:creationId xmlns:p14="http://schemas.microsoft.com/office/powerpoint/2010/main" val="339962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lstStyle/>
          <a:p>
            <a:r>
              <a:rPr lang="en-US" dirty="0"/>
              <a:t>Pressure</a:t>
            </a:r>
          </a:p>
        </p:txBody>
      </p:sp>
      <p:sp>
        <p:nvSpPr>
          <p:cNvPr id="3" name="Content Placeholder 2"/>
          <p:cNvSpPr>
            <a:spLocks noGrp="1"/>
          </p:cNvSpPr>
          <p:nvPr>
            <p:ph idx="1"/>
          </p:nvPr>
        </p:nvSpPr>
        <p:spPr>
          <a:xfrm>
            <a:off x="457200" y="1295400"/>
            <a:ext cx="8229600" cy="5334000"/>
          </a:xfrm>
        </p:spPr>
        <p:txBody>
          <a:bodyPr>
            <a:normAutofit fontScale="85000" lnSpcReduction="20000"/>
          </a:bodyPr>
          <a:lstStyle/>
          <a:p>
            <a:r>
              <a:rPr lang="en-US" dirty="0"/>
              <a:t>Microbes that live on land and water surface live at 1 atmosphere (</a:t>
            </a:r>
            <a:r>
              <a:rPr lang="en-US" dirty="0" err="1"/>
              <a:t>atm</a:t>
            </a:r>
            <a:r>
              <a:rPr lang="en-US" dirty="0"/>
              <a:t>)</a:t>
            </a:r>
          </a:p>
          <a:p>
            <a:pPr marL="0" indent="0">
              <a:buNone/>
            </a:pPr>
            <a:endParaRPr lang="en-US" dirty="0"/>
          </a:p>
          <a:p>
            <a:r>
              <a:rPr lang="en-US" dirty="0"/>
              <a:t>Some </a:t>
            </a:r>
            <a:r>
              <a:rPr lang="en-US" i="1" dirty="0"/>
              <a:t>Bacteria</a:t>
            </a:r>
            <a:r>
              <a:rPr lang="en-US" dirty="0"/>
              <a:t> and </a:t>
            </a:r>
            <a:r>
              <a:rPr lang="en-US" i="1" dirty="0"/>
              <a:t>Archaea</a:t>
            </a:r>
            <a:r>
              <a:rPr lang="en-US" dirty="0"/>
              <a:t> live in deep sea with very high hydrostatic pressures</a:t>
            </a:r>
          </a:p>
          <a:p>
            <a:pPr marL="0" indent="0">
              <a:buNone/>
            </a:pPr>
            <a:endParaRPr lang="en-US" dirty="0"/>
          </a:p>
          <a:p>
            <a:pPr>
              <a:lnSpc>
                <a:spcPct val="90000"/>
              </a:lnSpc>
            </a:pPr>
            <a:r>
              <a:rPr lang="en-US" dirty="0" err="1"/>
              <a:t>Barotolerant</a:t>
            </a:r>
            <a:endParaRPr lang="en-US" dirty="0"/>
          </a:p>
          <a:p>
            <a:pPr lvl="1">
              <a:lnSpc>
                <a:spcPct val="90000"/>
              </a:lnSpc>
            </a:pPr>
            <a:r>
              <a:rPr lang="en-US" dirty="0"/>
              <a:t>adversely affected by increased pressure, but not as severely as nontolerant organisms</a:t>
            </a:r>
          </a:p>
          <a:p>
            <a:pPr marL="457200" lvl="1" indent="0">
              <a:lnSpc>
                <a:spcPct val="90000"/>
              </a:lnSpc>
              <a:buNone/>
            </a:pPr>
            <a:endParaRPr lang="en-US" dirty="0"/>
          </a:p>
          <a:p>
            <a:pPr>
              <a:lnSpc>
                <a:spcPct val="90000"/>
              </a:lnSpc>
            </a:pPr>
            <a:r>
              <a:rPr lang="en-US" dirty="0"/>
              <a:t>Barophilic (</a:t>
            </a:r>
            <a:r>
              <a:rPr lang="en-US" dirty="0" err="1"/>
              <a:t>peizophilic</a:t>
            </a:r>
            <a:r>
              <a:rPr lang="en-US" dirty="0"/>
              <a:t>) organisms</a:t>
            </a:r>
          </a:p>
          <a:p>
            <a:pPr lvl="1">
              <a:lnSpc>
                <a:spcPct val="90000"/>
              </a:lnSpc>
            </a:pPr>
            <a:r>
              <a:rPr lang="en-US" dirty="0"/>
              <a:t>require or grow more rapidly in the presence of increased pressure</a:t>
            </a:r>
          </a:p>
          <a:p>
            <a:pPr lvl="1">
              <a:lnSpc>
                <a:spcPct val="90000"/>
              </a:lnSpc>
            </a:pPr>
            <a:r>
              <a:rPr lang="en-US" dirty="0"/>
              <a:t>change membrane fatty acids to adapt to high pressures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35</a:t>
            </a:fld>
            <a:endParaRPr lang="en-US"/>
          </a:p>
        </p:txBody>
      </p:sp>
    </p:spTree>
    <p:extLst>
      <p:ext uri="{BB962C8B-B14F-4D97-AF65-F5344CB8AC3E}">
        <p14:creationId xmlns:p14="http://schemas.microsoft.com/office/powerpoint/2010/main" val="34405206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a:bodyPr>
          <a:lstStyle/>
          <a:p>
            <a:r>
              <a:rPr lang="en-US" dirty="0"/>
              <a:t>The Electromagnetic Spectrum</a:t>
            </a:r>
          </a:p>
        </p:txBody>
      </p:sp>
      <p:sp>
        <p:nvSpPr>
          <p:cNvPr id="3" name="Slide Number Placeholder 2"/>
          <p:cNvSpPr>
            <a:spLocks noGrp="1"/>
          </p:cNvSpPr>
          <p:nvPr>
            <p:ph type="sldNum" sz="quarter" idx="12"/>
          </p:nvPr>
        </p:nvSpPr>
        <p:spPr/>
        <p:txBody>
          <a:bodyPr/>
          <a:lstStyle/>
          <a:p>
            <a:fld id="{3B1A82D2-719A-4A87-BECB-D74482819C19}" type="slidenum">
              <a:rPr lang="en-US" smtClean="0"/>
              <a:pPr/>
              <a:t>36</a:t>
            </a:fld>
            <a:endParaRPr lang="en-US"/>
          </a:p>
        </p:txBody>
      </p:sp>
      <p:pic>
        <p:nvPicPr>
          <p:cNvPr id="6" name="Picture 6" descr="Our world is bombarded with electromagnetic radiation of various types. Radiation behaves as if it were composed of waves like those traveling on the surface of water. The distance between two wave crests or troughs is the wavelength. As the wavelength of electromagnetic radiation decreases, the energy of the radiation increases; gamma rays and X rays are much more energetic than visible light or infrared waves.&#10;&#10;This figure shows the electromagnetic spectrum, with the 200-900 nm portion of the spectrum expanded to show the colors of visible light.&#10;&#10;&lt;0.01 nm are gamma rays, most X rays have wavelengths between 0.01 and 10 nm, ultraviolet are 10-390 nm, then visible light (violet, blue, green, yellow, orange, and red) from 390 to 760 nm, then infrared from 760 to 10^5 nm, and finally radio waves larger than 10^5 nm." title="Figure 7.16 The Electromagnetic Spectrum."/>
          <p:cNvPicPr>
            <a:picLocks noGrp="1" noChangeAspect="1" noChangeArrowheads="1"/>
          </p:cNvPicPr>
          <p:nvPr>
            <p:ph idx="1"/>
          </p:nvPr>
        </p:nvPicPr>
        <p:blipFill>
          <a:blip r:embed="rId2" cstate="print"/>
          <a:stretch>
            <a:fillRect/>
          </a:stretch>
        </p:blipFill>
        <p:spPr bwMode="auto">
          <a:xfrm>
            <a:off x="2025846" y="1066800"/>
            <a:ext cx="5271167" cy="5726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6000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Radiation Damage – Ionizing</a:t>
            </a:r>
          </a:p>
        </p:txBody>
      </p:sp>
      <p:sp>
        <p:nvSpPr>
          <p:cNvPr id="3" name="Content Placeholder 2"/>
          <p:cNvSpPr>
            <a:spLocks noGrp="1"/>
          </p:cNvSpPr>
          <p:nvPr>
            <p:ph idx="1"/>
          </p:nvPr>
        </p:nvSpPr>
        <p:spPr>
          <a:xfrm>
            <a:off x="457200" y="1600200"/>
            <a:ext cx="8229600" cy="4953000"/>
          </a:xfrm>
        </p:spPr>
        <p:txBody>
          <a:bodyPr>
            <a:normAutofit/>
          </a:bodyPr>
          <a:lstStyle/>
          <a:p>
            <a:pPr>
              <a:lnSpc>
                <a:spcPct val="90000"/>
              </a:lnSpc>
            </a:pPr>
            <a:r>
              <a:rPr lang="en-US" dirty="0"/>
              <a:t>Ionizing radiation</a:t>
            </a:r>
            <a:br>
              <a:rPr lang="en-US" dirty="0"/>
            </a:br>
            <a:endParaRPr lang="en-US" dirty="0"/>
          </a:p>
          <a:p>
            <a:pPr lvl="1">
              <a:lnSpc>
                <a:spcPct val="90000"/>
              </a:lnSpc>
            </a:pPr>
            <a:r>
              <a:rPr lang="en-US" dirty="0"/>
              <a:t>x-rays and gamma rays</a:t>
            </a:r>
          </a:p>
          <a:p>
            <a:pPr lvl="1">
              <a:lnSpc>
                <a:spcPct val="90000"/>
              </a:lnSpc>
            </a:pPr>
            <a:r>
              <a:rPr lang="en-US" dirty="0"/>
              <a:t>mutations </a:t>
            </a:r>
            <a:r>
              <a:rPr lang="en-US" dirty="0">
                <a:sym typeface="Symbol" pitchFamily="18" charset="2"/>
              </a:rPr>
              <a:t> death (sterilization)</a:t>
            </a:r>
          </a:p>
          <a:p>
            <a:pPr lvl="1">
              <a:lnSpc>
                <a:spcPct val="90000"/>
              </a:lnSpc>
            </a:pPr>
            <a:r>
              <a:rPr lang="en-US" dirty="0">
                <a:sym typeface="Symbol" pitchFamily="18" charset="2"/>
              </a:rPr>
              <a:t>disrupts chemical structure of many molecules, including DNA</a:t>
            </a:r>
          </a:p>
          <a:p>
            <a:pPr lvl="2">
              <a:lnSpc>
                <a:spcPct val="90000"/>
              </a:lnSpc>
            </a:pPr>
            <a:r>
              <a:rPr lang="en-US" dirty="0">
                <a:sym typeface="Symbol" pitchFamily="18" charset="2"/>
              </a:rPr>
              <a:t>damage may be repaired by DNA repair mechanisms if small dose</a:t>
            </a:r>
            <a:br>
              <a:rPr lang="en-US" dirty="0">
                <a:sym typeface="Symbol" pitchFamily="18" charset="2"/>
              </a:rPr>
            </a:br>
            <a:endParaRPr lang="en-US" dirty="0">
              <a:sym typeface="Symbol" pitchFamily="18" charset="2"/>
            </a:endParaRPr>
          </a:p>
          <a:p>
            <a:pPr lvl="1">
              <a:lnSpc>
                <a:spcPct val="90000"/>
              </a:lnSpc>
            </a:pPr>
            <a:r>
              <a:rPr lang="en-US" i="1" dirty="0" err="1"/>
              <a:t>Deinococcus</a:t>
            </a:r>
            <a:r>
              <a:rPr lang="en-US" i="1" dirty="0"/>
              <a:t> </a:t>
            </a:r>
            <a:r>
              <a:rPr lang="en-US" i="1" dirty="0" err="1"/>
              <a:t>radiodurans</a:t>
            </a:r>
            <a:r>
              <a:rPr lang="en-US" dirty="0"/>
              <a:t> </a:t>
            </a:r>
          </a:p>
          <a:p>
            <a:pPr lvl="2">
              <a:lnSpc>
                <a:spcPct val="90000"/>
              </a:lnSpc>
            </a:pPr>
            <a:r>
              <a:rPr lang="en-US" dirty="0"/>
              <a:t>extremely resistant to DNA damage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37</a:t>
            </a:fld>
            <a:endParaRPr lang="en-US"/>
          </a:p>
        </p:txBody>
      </p:sp>
    </p:spTree>
    <p:extLst>
      <p:ext uri="{BB962C8B-B14F-4D97-AF65-F5344CB8AC3E}">
        <p14:creationId xmlns:p14="http://schemas.microsoft.com/office/powerpoint/2010/main" val="1737604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686800" cy="715962"/>
          </a:xfrm>
        </p:spPr>
        <p:txBody>
          <a:bodyPr>
            <a:normAutofit fontScale="90000"/>
          </a:bodyPr>
          <a:lstStyle/>
          <a:p>
            <a:r>
              <a:rPr lang="en-US" dirty="0"/>
              <a:t>Radiation Damage – UV and Visible Light</a:t>
            </a:r>
          </a:p>
        </p:txBody>
      </p:sp>
      <p:sp>
        <p:nvSpPr>
          <p:cNvPr id="3" name="Content Placeholder 2"/>
          <p:cNvSpPr>
            <a:spLocks noGrp="1"/>
          </p:cNvSpPr>
          <p:nvPr>
            <p:ph idx="1"/>
          </p:nvPr>
        </p:nvSpPr>
        <p:spPr>
          <a:xfrm>
            <a:off x="457200" y="1295400"/>
            <a:ext cx="8229600" cy="5334000"/>
          </a:xfrm>
        </p:spPr>
        <p:txBody>
          <a:bodyPr>
            <a:normAutofit fontScale="85000" lnSpcReduction="10000"/>
          </a:bodyPr>
          <a:lstStyle/>
          <a:p>
            <a:r>
              <a:rPr lang="en-US" dirty="0"/>
              <a:t>Ultraviolet (UV) radiation</a:t>
            </a:r>
          </a:p>
          <a:p>
            <a:pPr lvl="1"/>
            <a:r>
              <a:rPr lang="en-US" dirty="0"/>
              <a:t>wavelength most effectively absorbed by DNA is 260 nm</a:t>
            </a:r>
          </a:p>
          <a:p>
            <a:pPr lvl="1"/>
            <a:r>
              <a:rPr lang="en-US" dirty="0"/>
              <a:t>mutations </a:t>
            </a:r>
            <a:r>
              <a:rPr lang="en-US" dirty="0">
                <a:sym typeface="Symbol" pitchFamily="18" charset="2"/>
              </a:rPr>
              <a:t> death</a:t>
            </a:r>
          </a:p>
          <a:p>
            <a:pPr lvl="1"/>
            <a:r>
              <a:rPr lang="en-US" dirty="0">
                <a:sym typeface="Symbol" pitchFamily="18" charset="2"/>
              </a:rPr>
              <a:t>causes formation of thymine dimers in DNA</a:t>
            </a:r>
          </a:p>
          <a:p>
            <a:pPr lvl="1"/>
            <a:r>
              <a:rPr lang="en-US" dirty="0">
                <a:sym typeface="Symbol" pitchFamily="18" charset="2"/>
              </a:rPr>
              <a:t>requires direct exposure on microbial surface</a:t>
            </a:r>
          </a:p>
          <a:p>
            <a:pPr lvl="1"/>
            <a:r>
              <a:rPr lang="en-US" dirty="0">
                <a:sym typeface="Symbol" pitchFamily="18" charset="2"/>
              </a:rPr>
              <a:t>DNA damage can be repaired by several repair mechanisms</a:t>
            </a:r>
            <a:br>
              <a:rPr lang="en-US" dirty="0">
                <a:sym typeface="Symbol" pitchFamily="18" charset="2"/>
              </a:rPr>
            </a:br>
            <a:endParaRPr lang="en-US" dirty="0">
              <a:sym typeface="Symbol" pitchFamily="18" charset="2"/>
            </a:endParaRPr>
          </a:p>
          <a:p>
            <a:r>
              <a:rPr lang="en-US" dirty="0"/>
              <a:t>Visible light</a:t>
            </a:r>
          </a:p>
          <a:p>
            <a:pPr lvl="1"/>
            <a:r>
              <a:rPr lang="en-US" dirty="0"/>
              <a:t>at high intensities generates singlet oxygen (</a:t>
            </a:r>
            <a:r>
              <a:rPr lang="en-US" baseline="30000" dirty="0"/>
              <a:t>1</a:t>
            </a:r>
            <a:r>
              <a:rPr lang="en-US" dirty="0"/>
              <a:t>O</a:t>
            </a:r>
            <a:r>
              <a:rPr lang="en-US" baseline="-25000" dirty="0"/>
              <a:t>2</a:t>
            </a:r>
            <a:r>
              <a:rPr lang="en-US" dirty="0"/>
              <a:t>)</a:t>
            </a:r>
          </a:p>
          <a:p>
            <a:pPr lvl="2"/>
            <a:r>
              <a:rPr lang="en-US" dirty="0"/>
              <a:t>powerful oxidizing agent</a:t>
            </a:r>
          </a:p>
          <a:p>
            <a:pPr lvl="1"/>
            <a:r>
              <a:rPr lang="en-US" dirty="0"/>
              <a:t>carotenoid pigments</a:t>
            </a:r>
          </a:p>
          <a:p>
            <a:pPr lvl="2"/>
            <a:r>
              <a:rPr lang="en-US" dirty="0"/>
              <a:t>protect many light-exposed microorganisms from </a:t>
            </a:r>
            <a:r>
              <a:rPr lang="en-US" dirty="0" err="1"/>
              <a:t>photooxidation</a:t>
            </a:r>
            <a:endParaRPr lang="en-US" dirty="0"/>
          </a:p>
          <a:p>
            <a:pPr lvl="1"/>
            <a:endParaRPr lang="en-US" dirty="0">
              <a:sym typeface="Symbol" pitchFamily="18" charset="2"/>
            </a:endParaRPr>
          </a:p>
        </p:txBody>
      </p:sp>
      <p:sp>
        <p:nvSpPr>
          <p:cNvPr id="4" name="Slide Number Placeholder 3"/>
          <p:cNvSpPr>
            <a:spLocks noGrp="1"/>
          </p:cNvSpPr>
          <p:nvPr>
            <p:ph type="sldNum" sz="quarter" idx="12"/>
          </p:nvPr>
        </p:nvSpPr>
        <p:spPr/>
        <p:txBody>
          <a:bodyPr/>
          <a:lstStyle/>
          <a:p>
            <a:fld id="{3B1A82D2-719A-4A87-BECB-D74482819C19}" type="slidenum">
              <a:rPr lang="en-US" smtClean="0"/>
              <a:pPr/>
              <a:t>38</a:t>
            </a:fld>
            <a:endParaRPr lang="en-US"/>
          </a:p>
        </p:txBody>
      </p:sp>
    </p:spTree>
    <p:extLst>
      <p:ext uri="{BB962C8B-B14F-4D97-AF65-F5344CB8AC3E}">
        <p14:creationId xmlns:p14="http://schemas.microsoft.com/office/powerpoint/2010/main" val="2382310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7.5 Microbial Growth In Natural Environments</a:t>
            </a:r>
          </a:p>
        </p:txBody>
      </p:sp>
      <p:sp>
        <p:nvSpPr>
          <p:cNvPr id="3" name="Content Placeholder 2"/>
          <p:cNvSpPr>
            <a:spLocks noGrp="1"/>
          </p:cNvSpPr>
          <p:nvPr>
            <p:ph idx="1"/>
          </p:nvPr>
        </p:nvSpPr>
        <p:spPr>
          <a:xfrm>
            <a:off x="457200" y="1600200"/>
            <a:ext cx="8229600" cy="5029200"/>
          </a:xfrm>
        </p:spPr>
        <p:txBody>
          <a:bodyPr>
            <a:normAutofit fontScale="85000" lnSpcReduction="20000"/>
          </a:bodyPr>
          <a:lstStyle/>
          <a:p>
            <a:pPr marL="514350" indent="-514350">
              <a:buFont typeface="+mj-lt"/>
              <a:buAutoNum type="arabicPeriod"/>
            </a:pPr>
            <a:r>
              <a:rPr lang="en-US" dirty="0"/>
              <a:t>Discuss the mechanisms used by microbes to survive starvation</a:t>
            </a:r>
            <a:br>
              <a:rPr lang="en-US" dirty="0"/>
            </a:br>
            <a:endParaRPr lang="en-US" dirty="0"/>
          </a:p>
          <a:p>
            <a:pPr marL="514350" indent="-514350">
              <a:buFont typeface="+mj-lt"/>
              <a:buAutoNum type="arabicPeriod"/>
            </a:pPr>
            <a:r>
              <a:rPr lang="en-US" dirty="0"/>
              <a:t>Distinguish sessile and planktonic microbial life styles</a:t>
            </a:r>
            <a:br>
              <a:rPr lang="en-US" dirty="0"/>
            </a:br>
            <a:endParaRPr lang="en-US" dirty="0"/>
          </a:p>
          <a:p>
            <a:pPr marL="514350" indent="-514350">
              <a:buFont typeface="+mj-lt"/>
              <a:buAutoNum type="arabicPeriod"/>
            </a:pPr>
            <a:r>
              <a:rPr lang="en-US" dirty="0"/>
              <a:t>Describe the formation of biofilms and summarize their importance in natural environments, industrial settings, and medicine</a:t>
            </a:r>
            <a:br>
              <a:rPr lang="en-US" dirty="0"/>
            </a:br>
            <a:endParaRPr lang="en-US" dirty="0"/>
          </a:p>
          <a:p>
            <a:pPr marL="514350" indent="-514350">
              <a:buFont typeface="+mj-lt"/>
              <a:buAutoNum type="arabicPeriod"/>
            </a:pPr>
            <a:r>
              <a:rPr lang="en-US" dirty="0"/>
              <a:t>Define quorum sensing and provide examples of cellular processes regulated by quorum sensing</a:t>
            </a:r>
            <a:br>
              <a:rPr lang="en-US" dirty="0"/>
            </a:br>
            <a:endParaRPr lang="en-US" dirty="0"/>
          </a:p>
          <a:p>
            <a:pPr marL="514350" indent="-514350">
              <a:buFont typeface="+mj-lt"/>
              <a:buAutoNum type="arabicPeriod"/>
            </a:pPr>
            <a:r>
              <a:rPr lang="en-US" dirty="0"/>
              <a:t>Discuss in general terms the communication that occurs between rhizobia and their plant hosts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39</a:t>
            </a:fld>
            <a:endParaRPr lang="en-US"/>
          </a:p>
        </p:txBody>
      </p:sp>
    </p:spTree>
    <p:extLst>
      <p:ext uri="{BB962C8B-B14F-4D97-AF65-F5344CB8AC3E}">
        <p14:creationId xmlns:p14="http://schemas.microsoft.com/office/powerpoint/2010/main" val="23823105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Microbial Growth in Natural Environments</a:t>
            </a:r>
          </a:p>
        </p:txBody>
      </p:sp>
      <p:sp>
        <p:nvSpPr>
          <p:cNvPr id="3" name="Content Placeholder 2"/>
          <p:cNvSpPr>
            <a:spLocks noGrp="1"/>
          </p:cNvSpPr>
          <p:nvPr>
            <p:ph idx="1"/>
          </p:nvPr>
        </p:nvSpPr>
        <p:spPr>
          <a:xfrm>
            <a:off x="457200" y="2209800"/>
            <a:ext cx="8229600" cy="3505200"/>
          </a:xfrm>
        </p:spPr>
        <p:txBody>
          <a:bodyPr>
            <a:normAutofit/>
          </a:bodyPr>
          <a:lstStyle/>
          <a:p>
            <a:pPr>
              <a:lnSpc>
                <a:spcPct val="90000"/>
              </a:lnSpc>
            </a:pPr>
            <a:r>
              <a:rPr lang="en-US" sz="2800" dirty="0"/>
              <a:t>Microbial environments are complex, constantly changing, often contain low nutrient concentrations (oligotrophic environment) and may expose a microorganism to overlapping gradients of nutrients and environmental factors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40</a:t>
            </a:fld>
            <a:endParaRPr lang="en-US"/>
          </a:p>
        </p:txBody>
      </p:sp>
    </p:spTree>
    <p:extLst>
      <p:ext uri="{BB962C8B-B14F-4D97-AF65-F5344CB8AC3E}">
        <p14:creationId xmlns:p14="http://schemas.microsoft.com/office/powerpoint/2010/main" val="2382310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dirty="0"/>
              <a:t>Biofilms</a:t>
            </a:r>
          </a:p>
        </p:txBody>
      </p:sp>
      <p:sp>
        <p:nvSpPr>
          <p:cNvPr id="6" name="Content Placeholder 5"/>
          <p:cNvSpPr>
            <a:spLocks noGrp="1"/>
          </p:cNvSpPr>
          <p:nvPr>
            <p:ph sz="half" idx="1"/>
          </p:nvPr>
        </p:nvSpPr>
        <p:spPr>
          <a:xfrm>
            <a:off x="152400" y="838200"/>
            <a:ext cx="8915400" cy="2895600"/>
          </a:xfrm>
        </p:spPr>
        <p:txBody>
          <a:bodyPr>
            <a:normAutofit fontScale="77500" lnSpcReduction="20000"/>
          </a:bodyPr>
          <a:lstStyle/>
          <a:p>
            <a:r>
              <a:rPr lang="en-US" dirty="0"/>
              <a:t>Most microbes grow attached to surfaces (sessile) rather than free floating (planktonic)</a:t>
            </a:r>
            <a:br>
              <a:rPr lang="en-US" dirty="0"/>
            </a:br>
            <a:endParaRPr lang="en-US" dirty="0"/>
          </a:p>
          <a:p>
            <a:r>
              <a:rPr lang="en-US" dirty="0"/>
              <a:t>These attached microbes are members of complex, slime enclosed communities called a biofilm </a:t>
            </a:r>
            <a:br>
              <a:rPr lang="en-US" dirty="0"/>
            </a:br>
            <a:endParaRPr lang="en-US" dirty="0"/>
          </a:p>
          <a:p>
            <a:r>
              <a:rPr lang="en-US" dirty="0"/>
              <a:t>Biofilms are ubiquitous in nature in water</a:t>
            </a:r>
            <a:br>
              <a:rPr lang="en-US" dirty="0"/>
            </a:br>
            <a:endParaRPr lang="en-US" dirty="0"/>
          </a:p>
          <a:p>
            <a:r>
              <a:rPr lang="en-US" dirty="0"/>
              <a:t>Can be formed on any conditioned surface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41</a:t>
            </a:fld>
            <a:endParaRPr lang="en-US"/>
          </a:p>
        </p:txBody>
      </p:sp>
      <p:pic>
        <p:nvPicPr>
          <p:cNvPr id="8" name="Picture 2" descr="Biofilms form on almost any surface exposed to microorganisms. (Left) Biofilm on the surface of a stromatolite in Walker Lake (Nevada, USA), an alkaline lake. The biofilm consists primarily of the cyanobacterium Calothrix. (Right) Colorized photo of Staphylococcus aureus biofilm on the luminal surface of an indwelling catheter." title="Figure 7.17 Examples of Biofilms."/>
          <p:cNvPicPr>
            <a:picLocks noGrp="1" noChangeAspect="1" noChangeArrowheads="1"/>
          </p:cNvPicPr>
          <p:nvPr>
            <p:ph sz="half" idx="2"/>
          </p:nvPr>
        </p:nvPicPr>
        <p:blipFill>
          <a:blip r:embed="rId2" cstate="print"/>
          <a:stretch>
            <a:fillRect/>
          </a:stretch>
        </p:blipFill>
        <p:spPr bwMode="auto">
          <a:xfrm>
            <a:off x="438681" y="3505200"/>
            <a:ext cx="8425416"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310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lstStyle/>
          <a:p>
            <a:r>
              <a:rPr lang="en-US" dirty="0"/>
              <a:t>Biofilm Formation</a:t>
            </a:r>
          </a:p>
        </p:txBody>
      </p:sp>
      <p:sp>
        <p:nvSpPr>
          <p:cNvPr id="7" name="Content Placeholder 6"/>
          <p:cNvSpPr>
            <a:spLocks noGrp="1"/>
          </p:cNvSpPr>
          <p:nvPr>
            <p:ph sz="half" idx="2"/>
          </p:nvPr>
        </p:nvSpPr>
        <p:spPr>
          <a:xfrm>
            <a:off x="152400" y="4648200"/>
            <a:ext cx="8839200" cy="2087563"/>
          </a:xfrm>
        </p:spPr>
        <p:txBody>
          <a:bodyPr>
            <a:normAutofit fontScale="92500" lnSpcReduction="10000"/>
          </a:bodyPr>
          <a:lstStyle/>
          <a:p>
            <a:pPr>
              <a:lnSpc>
                <a:spcPct val="90000"/>
              </a:lnSpc>
            </a:pPr>
            <a:r>
              <a:rPr lang="en-US" dirty="0"/>
              <a:t>Microbes reversibly attach to conditioned surface and release polysaccharides, proteins, and DNA to form the extracellular polymeric substance (EPS)</a:t>
            </a:r>
            <a:br>
              <a:rPr lang="en-US" dirty="0"/>
            </a:br>
            <a:endParaRPr lang="en-US" dirty="0"/>
          </a:p>
          <a:p>
            <a:pPr>
              <a:lnSpc>
                <a:spcPct val="90000"/>
              </a:lnSpc>
            </a:pPr>
            <a:r>
              <a:rPr lang="en-US" dirty="0"/>
              <a:t>Additional polymers are produced as microbes reproduce and biofilm matures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42</a:t>
            </a:fld>
            <a:endParaRPr lang="en-US"/>
          </a:p>
        </p:txBody>
      </p:sp>
      <p:pic>
        <p:nvPicPr>
          <p:cNvPr id="8" name="Picture 2" descr="1. Substratum preconditioning by ambient molecules&#10;2. Cell deposition&#10;3. Cell adsorption&#10;4. Desorption&#10;5. Cell-to-cell signaling and onset of exopolymer production&#10;6. Convective and diffusive transport of oxygen and nutrients&#10;7. Replication and growth&#10;8. Secretion of polysaccharide matrix&#10;9. Detachment, erosion, and sloughing" title="Figure 7.18 Biofilm Formation."/>
          <p:cNvPicPr>
            <a:picLocks noGrp="1" noChangeAspect="1" noChangeArrowheads="1"/>
          </p:cNvPicPr>
          <p:nvPr>
            <p:ph sz="half" idx="1"/>
          </p:nvPr>
        </p:nvPicPr>
        <p:blipFill>
          <a:blip r:embed="rId2" cstate="print"/>
          <a:stretch>
            <a:fillRect/>
          </a:stretch>
        </p:blipFill>
        <p:spPr bwMode="auto">
          <a:xfrm>
            <a:off x="802338" y="878650"/>
            <a:ext cx="7579662" cy="3556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83990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rmAutofit fontScale="90000"/>
          </a:bodyPr>
          <a:lstStyle/>
          <a:p>
            <a:r>
              <a:rPr lang="en-US" dirty="0"/>
              <a:t>Heterogeneity in Biofilms</a:t>
            </a:r>
          </a:p>
        </p:txBody>
      </p:sp>
      <p:sp>
        <p:nvSpPr>
          <p:cNvPr id="6" name="Content Placeholder 5"/>
          <p:cNvSpPr>
            <a:spLocks noGrp="1"/>
          </p:cNvSpPr>
          <p:nvPr>
            <p:ph sz="half" idx="1"/>
          </p:nvPr>
        </p:nvSpPr>
        <p:spPr>
          <a:xfrm>
            <a:off x="22538" y="1052848"/>
            <a:ext cx="4016062" cy="5791200"/>
          </a:xfrm>
        </p:spPr>
        <p:txBody>
          <a:bodyPr>
            <a:normAutofit fontScale="92500" lnSpcReduction="20000"/>
          </a:bodyPr>
          <a:lstStyle/>
          <a:p>
            <a:r>
              <a:rPr lang="en-US" dirty="0"/>
              <a:t>A mature biofilm is a complex, dynamic community of microorganisms</a:t>
            </a:r>
            <a:br>
              <a:rPr lang="en-US" dirty="0"/>
            </a:br>
            <a:endParaRPr lang="en-US" dirty="0"/>
          </a:p>
          <a:p>
            <a:r>
              <a:rPr lang="en-US" dirty="0"/>
              <a:t>Heterogeneity is differences in metabolic activity and locations of microbes</a:t>
            </a:r>
            <a:br>
              <a:rPr lang="en-US" dirty="0"/>
            </a:br>
            <a:r>
              <a:rPr lang="en-US" dirty="0"/>
              <a:t> </a:t>
            </a:r>
          </a:p>
          <a:p>
            <a:r>
              <a:rPr lang="en-US" dirty="0"/>
              <a:t>Interactions occur </a:t>
            </a:r>
            <a:br>
              <a:rPr lang="en-US" dirty="0"/>
            </a:br>
            <a:r>
              <a:rPr lang="en-US" dirty="0"/>
              <a:t>among the attached </a:t>
            </a:r>
            <a:br>
              <a:rPr lang="en-US" dirty="0"/>
            </a:br>
            <a:r>
              <a:rPr lang="en-US" dirty="0"/>
              <a:t>organisms </a:t>
            </a:r>
          </a:p>
          <a:p>
            <a:pPr lvl="1"/>
            <a:r>
              <a:rPr lang="en-US" dirty="0"/>
              <a:t>exchanges take </a:t>
            </a:r>
            <a:br>
              <a:rPr lang="en-US" dirty="0"/>
            </a:br>
            <a:r>
              <a:rPr lang="en-US" dirty="0"/>
              <a:t>place metabolically, </a:t>
            </a:r>
            <a:br>
              <a:rPr lang="en-US" dirty="0"/>
            </a:br>
            <a:r>
              <a:rPr lang="en-US" dirty="0"/>
              <a:t>DNA uptake and </a:t>
            </a:r>
            <a:br>
              <a:rPr lang="en-US" dirty="0"/>
            </a:br>
            <a:r>
              <a:rPr lang="en-US" dirty="0"/>
              <a:t>communication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43</a:t>
            </a:fld>
            <a:endParaRPr lang="en-US"/>
          </a:p>
        </p:txBody>
      </p:sp>
      <p:pic>
        <p:nvPicPr>
          <p:cNvPr id="8" name="Picture 6" descr="A mature biofilm is a complex, dynamic community of microorganisms. It exhibits considerable heterogeneity due to differences in the metabolic activity of microbes at various locations within the biofilm.&#10;&#10;This figure illustrates biofilm heterogeneity.  The surface is a negatively charged matrix (where positively charged antimicrobials can bind).  The biofilm has a nutrient and oxygen gradient (high concentration on outer surface to low concentration in the center, with fast growing species in the outer areas and slow growers in the center.  The figure also identifies cell-to-cell signals, change in cell physiology, persister cells, and genetic diversity." title="Figure 7.19 Biofilm Heterogeneity."/>
          <p:cNvPicPr>
            <a:picLocks noGrp="1" noChangeAspect="1" noChangeArrowheads="1"/>
          </p:cNvPicPr>
          <p:nvPr>
            <p:ph sz="half" idx="2"/>
          </p:nvPr>
        </p:nvPicPr>
        <p:blipFill>
          <a:blip r:embed="rId2" cstate="print"/>
          <a:stretch>
            <a:fillRect/>
          </a:stretch>
        </p:blipFill>
        <p:spPr bwMode="auto">
          <a:xfrm>
            <a:off x="3810000" y="1524000"/>
            <a:ext cx="5290283"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9086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Biofilm Microorganisms</a:t>
            </a:r>
          </a:p>
        </p:txBody>
      </p:sp>
      <p:sp>
        <p:nvSpPr>
          <p:cNvPr id="3" name="Content Placeholder 2"/>
          <p:cNvSpPr>
            <a:spLocks noGrp="1"/>
          </p:cNvSpPr>
          <p:nvPr>
            <p:ph idx="1"/>
          </p:nvPr>
        </p:nvSpPr>
        <p:spPr/>
        <p:txBody>
          <a:bodyPr>
            <a:normAutofit lnSpcReduction="10000"/>
          </a:bodyPr>
          <a:lstStyle/>
          <a:p>
            <a:pPr>
              <a:lnSpc>
                <a:spcPct val="90000"/>
              </a:lnSpc>
            </a:pPr>
            <a:r>
              <a:rPr lang="en-US" dirty="0"/>
              <a:t>The EPS and change in attached organisms’ physiology protects microbes from harmful agents</a:t>
            </a:r>
            <a:br>
              <a:rPr lang="en-US" dirty="0"/>
            </a:br>
            <a:endParaRPr lang="en-US" dirty="0"/>
          </a:p>
          <a:p>
            <a:pPr>
              <a:lnSpc>
                <a:spcPct val="90000"/>
              </a:lnSpc>
            </a:pPr>
            <a:r>
              <a:rPr lang="en-US" dirty="0"/>
              <a:t>When formed on medical devices, such as implants, illness can result</a:t>
            </a:r>
            <a:br>
              <a:rPr lang="en-US" dirty="0"/>
            </a:br>
            <a:endParaRPr lang="en-US" dirty="0"/>
          </a:p>
          <a:p>
            <a:pPr>
              <a:lnSpc>
                <a:spcPct val="90000"/>
              </a:lnSpc>
            </a:pPr>
            <a:r>
              <a:rPr lang="en-US" dirty="0"/>
              <a:t>Organism sloughing can contaminate water phase above biofilm such as in a drinking water system</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44</a:t>
            </a:fld>
            <a:endParaRPr lang="en-US"/>
          </a:p>
        </p:txBody>
      </p:sp>
    </p:spTree>
    <p:extLst>
      <p:ext uri="{BB962C8B-B14F-4D97-AF65-F5344CB8AC3E}">
        <p14:creationId xmlns:p14="http://schemas.microsoft.com/office/powerpoint/2010/main" val="21079086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br>
              <a:rPr lang="en-US" dirty="0"/>
            </a:br>
            <a:r>
              <a:rPr lang="en-US" dirty="0"/>
              <a:t>Cell to Cell Communication Within </a:t>
            </a:r>
            <a:br>
              <a:rPr lang="en-US" dirty="0"/>
            </a:br>
            <a:r>
              <a:rPr lang="en-US" dirty="0"/>
              <a:t>the Microbial Populations</a:t>
            </a:r>
            <a:br>
              <a:rPr lang="en-US" dirty="0"/>
            </a:br>
            <a:endParaRPr lang="en-US" dirty="0"/>
          </a:p>
        </p:txBody>
      </p:sp>
      <p:sp>
        <p:nvSpPr>
          <p:cNvPr id="8" name="Content Placeholder 7"/>
          <p:cNvSpPr>
            <a:spLocks noGrp="1"/>
          </p:cNvSpPr>
          <p:nvPr>
            <p:ph idx="1"/>
          </p:nvPr>
        </p:nvSpPr>
        <p:spPr>
          <a:xfrm>
            <a:off x="457200" y="2209800"/>
            <a:ext cx="8229600" cy="4525963"/>
          </a:xfrm>
        </p:spPr>
        <p:txBody>
          <a:bodyPr/>
          <a:lstStyle/>
          <a:p>
            <a:r>
              <a:rPr lang="en-US" dirty="0"/>
              <a:t>Bacterial cells in biofilms communicate in a density-dependent manner called quorum sensing </a:t>
            </a:r>
            <a:br>
              <a:rPr lang="en-US" dirty="0"/>
            </a:br>
            <a:endParaRPr lang="en-US" dirty="0"/>
          </a:p>
          <a:p>
            <a:r>
              <a:rPr lang="en-US" dirty="0"/>
              <a:t>Produce small proteins that increase in level as microbes replicate and convert a microbe to a competent state</a:t>
            </a:r>
          </a:p>
          <a:p>
            <a:pPr lvl="1"/>
            <a:r>
              <a:rPr lang="en-US" dirty="0"/>
              <a:t>DNA uptake occurs, </a:t>
            </a:r>
            <a:r>
              <a:rPr lang="en-US" dirty="0" err="1"/>
              <a:t>bacteriocins</a:t>
            </a:r>
            <a:r>
              <a:rPr lang="en-US" dirty="0"/>
              <a:t> are released</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45</a:t>
            </a:fld>
            <a:endParaRPr lang="en-US"/>
          </a:p>
        </p:txBody>
      </p:sp>
    </p:spTree>
    <p:extLst>
      <p:ext uri="{BB962C8B-B14F-4D97-AF65-F5344CB8AC3E}">
        <p14:creationId xmlns:p14="http://schemas.microsoft.com/office/powerpoint/2010/main" val="13643751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3505200" cy="1143000"/>
          </a:xfrm>
        </p:spPr>
        <p:txBody>
          <a:bodyPr>
            <a:normAutofit fontScale="90000"/>
          </a:bodyPr>
          <a:lstStyle/>
          <a:p>
            <a:r>
              <a:rPr lang="en-US" dirty="0"/>
              <a:t>Quorum Sensing</a:t>
            </a:r>
          </a:p>
        </p:txBody>
      </p:sp>
      <p:sp>
        <p:nvSpPr>
          <p:cNvPr id="6" name="Content Placeholder 5"/>
          <p:cNvSpPr>
            <a:spLocks noGrp="1"/>
          </p:cNvSpPr>
          <p:nvPr>
            <p:ph sz="half" idx="1"/>
          </p:nvPr>
        </p:nvSpPr>
        <p:spPr>
          <a:xfrm>
            <a:off x="0" y="1371600"/>
            <a:ext cx="3810000" cy="5334000"/>
          </a:xfrm>
        </p:spPr>
        <p:txBody>
          <a:bodyPr>
            <a:normAutofit lnSpcReduction="10000"/>
          </a:bodyPr>
          <a:lstStyle/>
          <a:p>
            <a:r>
              <a:rPr lang="en-US" dirty="0" err="1"/>
              <a:t>Acylhomoserine</a:t>
            </a:r>
            <a:r>
              <a:rPr lang="en-US" dirty="0"/>
              <a:t> lactone (AHL) is an </a:t>
            </a:r>
            <a:r>
              <a:rPr lang="en-US" dirty="0" err="1"/>
              <a:t>autoinducer</a:t>
            </a:r>
            <a:r>
              <a:rPr lang="en-US" dirty="0"/>
              <a:t> molecule produced by many gram-negative organisms</a:t>
            </a:r>
            <a:br>
              <a:rPr lang="en-US" dirty="0"/>
            </a:br>
            <a:endParaRPr lang="en-US" dirty="0"/>
          </a:p>
          <a:p>
            <a:pPr lvl="1"/>
            <a:r>
              <a:rPr lang="en-US" dirty="0"/>
              <a:t>diffuses across plasma membrane</a:t>
            </a:r>
            <a:br>
              <a:rPr lang="en-US" dirty="0"/>
            </a:br>
            <a:endParaRPr lang="en-US" dirty="0"/>
          </a:p>
          <a:p>
            <a:pPr lvl="1"/>
            <a:r>
              <a:rPr lang="en-US" dirty="0"/>
              <a:t>once inside the cell, induces expression of target genes regulating a variety of functions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46</a:t>
            </a:fld>
            <a:endParaRPr lang="en-US"/>
          </a:p>
        </p:txBody>
      </p:sp>
      <p:pic>
        <p:nvPicPr>
          <p:cNvPr id="8" name="Content Placeholder 7" descr="This table shows the chemical structure of common cell-to-cell communication molecules, provides examples of representative organisms, and lists the functions each regulates.&#10;&#10;N-acylhomoserine lactone (AHL).  Representative Organisms and Functions Regulated: Vibrio fischeri - bioluminescence, Agrobacterium tumefaciens - plasmid transfer, Erwinia carotovora - virulence and antibiotic production, Pseudomonas aeruginosa - virulence and biofilm formation, and Burkholderia cepacia - virulence.&#10;&#10;Furanosylborate (AI-2).  Representative Organism and Function Regulated: Vibrio harveyi - bioluminescence.&#10;&#10;Cyclic thiolactone (AIP-II).  Representative Organism and Function Regulated: Staphylococcus aureus - virulence.&#10;&#10;Hydroxy-palmitic acid methyl ester (PAME).  Representative Organism and Function Regulated: Ralstonia solanacearum - virulence.&#10;&#10;Methyl dodecenoic acid.  Representative Organism and Function Regulated: Xanthomonas campestris - virulence.&#10;&#10;Farnesoic acid.  Representative Organism and Functions Regulated: Candida albicans - dimorphic transition and virulence.&#10;&#10;3-hydroxytridecan-4-one.  Representative Organism and Function Regulated: Vibrio cholerae - virulence." title="Figure 7.20 Representative Cell-Cell Communication Molecules."/>
          <p:cNvPicPr>
            <a:picLocks noGrp="1" noChangeAspect="1" noChangeArrowheads="1"/>
          </p:cNvPicPr>
          <p:nvPr>
            <p:ph sz="half" idx="2"/>
          </p:nvPr>
        </p:nvPicPr>
        <p:blipFill>
          <a:blip r:embed="rId2" cstate="print"/>
          <a:stretch>
            <a:fillRect/>
          </a:stretch>
        </p:blipFill>
        <p:spPr bwMode="auto">
          <a:xfrm>
            <a:off x="4164803" y="375562"/>
            <a:ext cx="4906433" cy="6330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9086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dirty="0"/>
              <a:t>Quorum Sensing Systems</a:t>
            </a:r>
          </a:p>
        </p:txBody>
      </p:sp>
      <p:sp>
        <p:nvSpPr>
          <p:cNvPr id="6" name="Content Placeholder 5"/>
          <p:cNvSpPr>
            <a:spLocks noGrp="1"/>
          </p:cNvSpPr>
          <p:nvPr>
            <p:ph sz="half" idx="1"/>
          </p:nvPr>
        </p:nvSpPr>
        <p:spPr>
          <a:xfrm>
            <a:off x="152400" y="838200"/>
            <a:ext cx="8839200" cy="3048001"/>
          </a:xfrm>
        </p:spPr>
        <p:txBody>
          <a:bodyPr>
            <a:normAutofit fontScale="85000" lnSpcReduction="20000"/>
          </a:bodyPr>
          <a:lstStyle/>
          <a:p>
            <a:pPr>
              <a:lnSpc>
                <a:spcPct val="90000"/>
              </a:lnSpc>
            </a:pPr>
            <a:r>
              <a:rPr lang="en-US" dirty="0"/>
              <a:t>Processes regulated by quorum sensing involve host-microbe interactions</a:t>
            </a:r>
            <a:br>
              <a:rPr lang="en-US" dirty="0"/>
            </a:br>
            <a:endParaRPr lang="en-US" dirty="0"/>
          </a:p>
          <a:p>
            <a:pPr lvl="1">
              <a:lnSpc>
                <a:spcPct val="90000"/>
              </a:lnSpc>
            </a:pPr>
            <a:r>
              <a:rPr lang="en-US" dirty="0"/>
              <a:t>symbiosis – </a:t>
            </a:r>
            <a:r>
              <a:rPr lang="en-US" i="1" dirty="0"/>
              <a:t>Vibrio </a:t>
            </a:r>
            <a:r>
              <a:rPr lang="en-US" i="1" dirty="0" err="1"/>
              <a:t>fischeri</a:t>
            </a:r>
            <a:r>
              <a:rPr lang="en-US" dirty="0"/>
              <a:t> and bioluminescence in squid</a:t>
            </a:r>
          </a:p>
          <a:p>
            <a:pPr lvl="1">
              <a:lnSpc>
                <a:spcPct val="90000"/>
              </a:lnSpc>
            </a:pPr>
            <a:r>
              <a:rPr lang="en-US" dirty="0"/>
              <a:t>pathogenicity and increased virulence factor production</a:t>
            </a:r>
          </a:p>
          <a:p>
            <a:pPr lvl="1">
              <a:lnSpc>
                <a:spcPct val="90000"/>
              </a:lnSpc>
            </a:pPr>
            <a:r>
              <a:rPr lang="en-US" dirty="0"/>
              <a:t>DNA uptake for antibiotic resistance genes</a:t>
            </a:r>
            <a:br>
              <a:rPr lang="en-US" dirty="0"/>
            </a:br>
            <a:endParaRPr lang="en-US" dirty="0"/>
          </a:p>
          <a:p>
            <a:pPr>
              <a:lnSpc>
                <a:spcPct val="90000"/>
              </a:lnSpc>
            </a:pPr>
            <a:r>
              <a:rPr lang="en-US" dirty="0" err="1"/>
              <a:t>Interdomain</a:t>
            </a:r>
            <a:r>
              <a:rPr lang="en-US" dirty="0"/>
              <a:t> communication</a:t>
            </a:r>
            <a:br>
              <a:rPr lang="en-US" dirty="0"/>
            </a:br>
            <a:endParaRPr lang="en-US" dirty="0"/>
          </a:p>
          <a:p>
            <a:pPr lvl="1">
              <a:lnSpc>
                <a:spcPct val="90000"/>
              </a:lnSpc>
            </a:pPr>
            <a:r>
              <a:rPr lang="en-US" i="1" dirty="0"/>
              <a:t>Rhizobium</a:t>
            </a:r>
            <a:r>
              <a:rPr lang="en-US" dirty="0"/>
              <a:t> interactions with leguminous plants for nitrogen fixation (flavonoids/</a:t>
            </a:r>
            <a:r>
              <a:rPr lang="en-US" dirty="0" err="1"/>
              <a:t>NodD</a:t>
            </a:r>
            <a:r>
              <a:rPr lang="en-US" dirty="0"/>
              <a:t>/Nod factors)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47</a:t>
            </a:fld>
            <a:endParaRPr lang="en-US"/>
          </a:p>
        </p:txBody>
      </p:sp>
      <p:pic>
        <p:nvPicPr>
          <p:cNvPr id="8" name="Content Placeholder 7" descr="(Left) E. scolopes is a warm-water squid that remains buried in sand during the day and feeds at night. (Right) When feeding, it uses its light organ (located on its ventral surface) to provide camouflage by projecting light downward. Thus the outline of the squid appears as bright as the water's surface to potential predators looking up through the water column. The light organ is colonized by a large number of Vibrio fischeri cells, so autoinducer accumulates to a threshold concentration, triggering light production." title="Figure 7.21 Squid–Vibrio Symbiosis."/>
          <p:cNvPicPr>
            <a:picLocks noGrp="1" noChangeAspect="1" noChangeArrowheads="1"/>
          </p:cNvPicPr>
          <p:nvPr>
            <p:ph sz="half" idx="2"/>
          </p:nvPr>
        </p:nvPicPr>
        <p:blipFill>
          <a:blip r:embed="rId2" cstate="print"/>
          <a:stretch>
            <a:fillRect/>
          </a:stretch>
        </p:blipFill>
        <p:spPr bwMode="auto">
          <a:xfrm>
            <a:off x="1765481" y="3828463"/>
            <a:ext cx="5657033" cy="2953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9086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1143000"/>
          </a:xfrm>
        </p:spPr>
        <p:txBody>
          <a:bodyPr>
            <a:normAutofit fontScale="90000"/>
          </a:bodyPr>
          <a:lstStyle/>
          <a:p>
            <a:r>
              <a:rPr lang="en-US" dirty="0"/>
              <a:t>7.6 Laboratory Culture of Cellular Microbes</a:t>
            </a:r>
          </a:p>
        </p:txBody>
      </p:sp>
      <p:sp>
        <p:nvSpPr>
          <p:cNvPr id="3" name="Content Placeholder 2"/>
          <p:cNvSpPr>
            <a:spLocks noGrp="1"/>
          </p:cNvSpPr>
          <p:nvPr>
            <p:ph idx="1"/>
          </p:nvPr>
        </p:nvSpPr>
        <p:spPr>
          <a:xfrm>
            <a:off x="457200" y="2027237"/>
            <a:ext cx="8229600" cy="4525963"/>
          </a:xfrm>
        </p:spPr>
        <p:txBody>
          <a:bodyPr>
            <a:normAutofit fontScale="85000" lnSpcReduction="20000"/>
          </a:bodyPr>
          <a:lstStyle/>
          <a:p>
            <a:pPr marL="514350" indent="-514350">
              <a:buFont typeface="+mj-lt"/>
              <a:buAutoNum type="arabicPeriod"/>
            </a:pPr>
            <a:r>
              <a:rPr lang="en-US" dirty="0"/>
              <a:t>Describe the importance of culturing microbes to the study of microorganisms</a:t>
            </a:r>
            <a:br>
              <a:rPr lang="en-US" dirty="0"/>
            </a:br>
            <a:endParaRPr lang="en-US" dirty="0"/>
          </a:p>
          <a:p>
            <a:pPr marL="514350" indent="-514350">
              <a:buFont typeface="+mj-lt"/>
              <a:buAutoNum type="arabicPeriod"/>
            </a:pPr>
            <a:r>
              <a:rPr lang="en-US" dirty="0"/>
              <a:t>Distinguish defined (synthetic) media from complex media and the uses of liquid from solid growth media</a:t>
            </a:r>
            <a:br>
              <a:rPr lang="en-US" dirty="0"/>
            </a:br>
            <a:endParaRPr lang="en-US" dirty="0"/>
          </a:p>
          <a:p>
            <a:pPr marL="514350" indent="-514350">
              <a:buFont typeface="+mj-lt"/>
              <a:buAutoNum type="arabicPeriod"/>
            </a:pPr>
            <a:r>
              <a:rPr lang="en-US" dirty="0"/>
              <a:t>List the characteristics of agar that make it a particularly useful solidifying agent</a:t>
            </a:r>
            <a:br>
              <a:rPr lang="en-US" dirty="0"/>
            </a:br>
            <a:endParaRPr lang="en-US" dirty="0"/>
          </a:p>
          <a:p>
            <a:pPr marL="514350" indent="-514350">
              <a:buFont typeface="+mj-lt"/>
              <a:buAutoNum type="arabicPeriod"/>
            </a:pPr>
            <a:r>
              <a:rPr lang="en-US" dirty="0"/>
              <a:t>Compare and contrast supportive (general purpose), enriched, selective, and differential media, listing examples of each and describing how each is used</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48</a:t>
            </a:fld>
            <a:endParaRPr lang="en-US"/>
          </a:p>
        </p:txBody>
      </p:sp>
    </p:spTree>
    <p:extLst>
      <p:ext uri="{BB962C8B-B14F-4D97-AF65-F5344CB8AC3E}">
        <p14:creationId xmlns:p14="http://schemas.microsoft.com/office/powerpoint/2010/main" val="21079086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7.6 Laboratory Culture of Cellular Microbes - 1</a:t>
            </a:r>
          </a:p>
        </p:txBody>
      </p:sp>
      <p:sp>
        <p:nvSpPr>
          <p:cNvPr id="3" name="Content Placeholder 2"/>
          <p:cNvSpPr>
            <a:spLocks noGrp="1"/>
          </p:cNvSpPr>
          <p:nvPr>
            <p:ph idx="1"/>
          </p:nvPr>
        </p:nvSpPr>
        <p:spPr>
          <a:xfrm>
            <a:off x="457200" y="1798637"/>
            <a:ext cx="8229600" cy="4525963"/>
          </a:xfrm>
        </p:spPr>
        <p:txBody>
          <a:bodyPr>
            <a:normAutofit fontScale="92500"/>
          </a:bodyPr>
          <a:lstStyle/>
          <a:p>
            <a:pPr>
              <a:buFont typeface="+mj-lt"/>
              <a:buAutoNum type="arabicPeriod" startAt="5"/>
            </a:pPr>
            <a:r>
              <a:rPr lang="en-US" dirty="0"/>
              <a:t>Discuss the use of enrichment cultures in isolating microbes</a:t>
            </a:r>
            <a:br>
              <a:rPr lang="en-US" dirty="0"/>
            </a:br>
            <a:endParaRPr lang="en-US" dirty="0"/>
          </a:p>
          <a:p>
            <a:pPr>
              <a:buAutoNum type="arabicPeriod" startAt="5"/>
            </a:pPr>
            <a:r>
              <a:rPr lang="en-US" dirty="0"/>
              <a:t>Differentiate the streak-plate, spread-plate, and pour-plate methods for isolating pure cultures</a:t>
            </a:r>
            <a:br>
              <a:rPr lang="en-US" dirty="0"/>
            </a:br>
            <a:endParaRPr lang="en-US" dirty="0"/>
          </a:p>
          <a:p>
            <a:pPr>
              <a:buAutoNum type="arabicPeriod" startAt="5"/>
            </a:pPr>
            <a:r>
              <a:rPr lang="en-US" dirty="0"/>
              <a:t>Use the terms commonly used by microbiologists to describe colony morphology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49</a:t>
            </a:fld>
            <a:endParaRPr lang="en-US"/>
          </a:p>
        </p:txBody>
      </p:sp>
    </p:spTree>
    <p:extLst>
      <p:ext uri="{BB962C8B-B14F-4D97-AF65-F5344CB8AC3E}">
        <p14:creationId xmlns:p14="http://schemas.microsoft.com/office/powerpoint/2010/main" val="21079086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Culture Media</a:t>
            </a:r>
          </a:p>
        </p:txBody>
      </p:sp>
      <p:sp>
        <p:nvSpPr>
          <p:cNvPr id="3" name="Content Placeholder 2"/>
          <p:cNvSpPr>
            <a:spLocks noGrp="1"/>
          </p:cNvSpPr>
          <p:nvPr>
            <p:ph idx="1"/>
          </p:nvPr>
        </p:nvSpPr>
        <p:spPr/>
        <p:txBody>
          <a:bodyPr>
            <a:normAutofit/>
          </a:bodyPr>
          <a:lstStyle/>
          <a:p>
            <a:pPr>
              <a:lnSpc>
                <a:spcPct val="80000"/>
              </a:lnSpc>
            </a:pPr>
            <a:r>
              <a:rPr lang="en-US" dirty="0"/>
              <a:t>Need to grow, transport, store microorganisms in lab</a:t>
            </a:r>
            <a:br>
              <a:rPr lang="en-US" dirty="0"/>
            </a:br>
            <a:endParaRPr lang="en-US" dirty="0"/>
          </a:p>
          <a:p>
            <a:pPr>
              <a:lnSpc>
                <a:spcPct val="80000"/>
              </a:lnSpc>
            </a:pPr>
            <a:r>
              <a:rPr lang="en-US" dirty="0"/>
              <a:t>Culture media is solid or liquid preparation </a:t>
            </a:r>
            <a:br>
              <a:rPr lang="en-US" dirty="0"/>
            </a:br>
            <a:endParaRPr lang="en-US" dirty="0"/>
          </a:p>
          <a:p>
            <a:pPr>
              <a:lnSpc>
                <a:spcPct val="80000"/>
              </a:lnSpc>
            </a:pPr>
            <a:r>
              <a:rPr lang="en-US" dirty="0"/>
              <a:t>Must contain all nutrients organism requires for growth</a:t>
            </a:r>
            <a:br>
              <a:rPr lang="en-US" dirty="0"/>
            </a:br>
            <a:endParaRPr lang="en-US" dirty="0"/>
          </a:p>
          <a:p>
            <a:pPr>
              <a:lnSpc>
                <a:spcPct val="80000"/>
              </a:lnSpc>
            </a:pPr>
            <a:r>
              <a:rPr lang="en-US" dirty="0"/>
              <a:t>Classification by chemical constituents, physical nature, function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50</a:t>
            </a:fld>
            <a:endParaRPr lang="en-US"/>
          </a:p>
        </p:txBody>
      </p:sp>
    </p:spTree>
    <p:extLst>
      <p:ext uri="{BB962C8B-B14F-4D97-AF65-F5344CB8AC3E}">
        <p14:creationId xmlns:p14="http://schemas.microsoft.com/office/powerpoint/2010/main" val="21079086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763000" cy="1143000"/>
          </a:xfrm>
        </p:spPr>
        <p:txBody>
          <a:bodyPr>
            <a:normAutofit fontScale="90000"/>
          </a:bodyPr>
          <a:lstStyle/>
          <a:p>
            <a:r>
              <a:rPr lang="en-US" dirty="0"/>
              <a:t>Chemical/Physical Types of Culture Media</a:t>
            </a:r>
          </a:p>
        </p:txBody>
      </p:sp>
      <p:sp>
        <p:nvSpPr>
          <p:cNvPr id="3" name="Content Placeholder 2"/>
          <p:cNvSpPr>
            <a:spLocks noGrp="1"/>
          </p:cNvSpPr>
          <p:nvPr>
            <p:ph sz="half" idx="1"/>
          </p:nvPr>
        </p:nvSpPr>
        <p:spPr>
          <a:xfrm>
            <a:off x="457200" y="1371600"/>
            <a:ext cx="4038600" cy="4754563"/>
          </a:xfrm>
        </p:spPr>
        <p:txBody>
          <a:bodyPr/>
          <a:lstStyle/>
          <a:p>
            <a:r>
              <a:rPr lang="en-US" dirty="0"/>
              <a:t>Defined/synthetic</a:t>
            </a:r>
          </a:p>
          <a:p>
            <a:r>
              <a:rPr lang="en-US" dirty="0"/>
              <a:t>Complex</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51</a:t>
            </a:fld>
            <a:endParaRPr lang="en-US"/>
          </a:p>
        </p:txBody>
      </p:sp>
      <p:pic>
        <p:nvPicPr>
          <p:cNvPr id="9" name="Picture 2" descr="Basis for Classification: Chemical composition, Types: Defined (synthetic), complex&#10;Basis for Classification: Physical nature, Types: Liquid, semisolid, solid&#10;Basis for Classification: Function, Types: Supportive (general purpose), enriched, selective, differential" title="Table 7.4 Types of Media"/>
          <p:cNvPicPr>
            <a:picLocks noGrp="1" noChangeAspect="1" noChangeArrowheads="1"/>
          </p:cNvPicPr>
          <p:nvPr>
            <p:ph sz="half" idx="2"/>
          </p:nvPr>
        </p:nvPicPr>
        <p:blipFill>
          <a:blip r:embed="rId2" cstate="print"/>
          <a:stretch>
            <a:fillRect/>
          </a:stretch>
        </p:blipFill>
        <p:spPr bwMode="auto">
          <a:xfrm>
            <a:off x="400879" y="2947266"/>
            <a:ext cx="8285921" cy="3758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5336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Defined vs. Synthetic Media Examples</a:t>
            </a:r>
          </a:p>
        </p:txBody>
      </p:sp>
      <p:sp>
        <p:nvSpPr>
          <p:cNvPr id="3" name="Content Placeholder 2"/>
          <p:cNvSpPr>
            <a:spLocks noGrp="1"/>
          </p:cNvSpPr>
          <p:nvPr>
            <p:ph sz="half" idx="1"/>
          </p:nvPr>
        </p:nvSpPr>
        <p:spPr>
          <a:xfrm>
            <a:off x="1600200" y="1295400"/>
            <a:ext cx="6096000" cy="609600"/>
          </a:xfrm>
        </p:spPr>
        <p:txBody>
          <a:bodyPr>
            <a:normAutofit/>
          </a:bodyPr>
          <a:lstStyle/>
          <a:p>
            <a:pPr marL="0" indent="0" algn="ctr">
              <a:buNone/>
            </a:pPr>
            <a:r>
              <a:rPr lang="en-US" dirty="0"/>
              <a:t>Defined or Synthetic Media</a:t>
            </a:r>
          </a:p>
          <a:p>
            <a:pPr algn="ctr"/>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52</a:t>
            </a:fld>
            <a:endParaRPr lang="en-US"/>
          </a:p>
        </p:txBody>
      </p:sp>
      <p:pic>
        <p:nvPicPr>
          <p:cNvPr id="6" name="Picture 2" descr="BG–11 Medium for Cyanobacteria &#10;NaNO3 - 1.5 g/liter&#10;K2HPO4 · 3H2O - 0.04 g/liter&#10;MgSO4 · 7H2O - 0.075 g/liter&#10;CaCl2 · 2H2O - 0.036 g/liter&#10;Citric acid - 0.006 g/liter&#10;Ferric ammonium citrate - 0.006 g/liter&#10;EDTA (Na2Mg salt) - 0.001 g/liter&#10;Na2CO3 - 0.02 g/liter&#10;Trace metal solution - 1.0 ml/liter&#10;Final pH 7.4&#10;&#10;Medium for Escherichia coli &#10;Glucose - 1.0 g/liter&#10;Na2HPO4 - 16.4 g/liter&#10;KH2PO4 - 1.5 g/liter&#10;(NH4)2SO4 - 2.0 g/liter&#10;MgSO4 · 7H2O - 200.0 mg/liter&#10;CaCl2 - 10.0 mg/liter&#10;FeSO4 · 7H2O - 0.5 mg/liter&#10;Final pH 6.8–7.0 " title="Table 7.5 Examples of Defined Media"/>
          <p:cNvPicPr>
            <a:picLocks noGrp="1" noChangeAspect="1" noChangeArrowheads="1"/>
          </p:cNvPicPr>
          <p:nvPr>
            <p:ph sz="half" idx="2"/>
          </p:nvPr>
        </p:nvPicPr>
        <p:blipFill>
          <a:blip r:embed="rId2" cstate="print"/>
          <a:stretch>
            <a:fillRect/>
          </a:stretch>
        </p:blipFill>
        <p:spPr bwMode="auto">
          <a:xfrm>
            <a:off x="228600" y="2286000"/>
            <a:ext cx="8610600" cy="4418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9137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0" dirty="0">
                <a:solidFill>
                  <a:schemeClr val="tx1"/>
                </a:solidFill>
                <a:latin typeface="Tahoma" panose="020B0604030504040204" pitchFamily="34" charset="0"/>
                <a:ea typeface="Tahoma" panose="020B0604030504040204" pitchFamily="34" charset="0"/>
                <a:cs typeface="Tahoma" panose="020B0604030504040204" pitchFamily="34" charset="0"/>
              </a:rPr>
            </a:br>
            <a:r>
              <a:rPr lang="en-US" b="0" dirty="0">
                <a:solidFill>
                  <a:schemeClr val="tx1"/>
                </a:solidFill>
                <a:latin typeface="Tahoma" panose="020B0604030504040204" pitchFamily="34" charset="0"/>
                <a:ea typeface="Tahoma" panose="020B0604030504040204" pitchFamily="34" charset="0"/>
                <a:cs typeface="Tahoma" panose="020B0604030504040204" pitchFamily="34" charset="0"/>
              </a:rPr>
              <a:t>Complex Media</a:t>
            </a:r>
            <a:br>
              <a:rPr lang="en-US" b="0" dirty="0">
                <a:solidFill>
                  <a:schemeClr val="tx1"/>
                </a:solidFill>
                <a:latin typeface="Tahoma" panose="020B0604030504040204" pitchFamily="34" charset="0"/>
                <a:ea typeface="Tahoma" panose="020B0604030504040204" pitchFamily="34" charset="0"/>
                <a:cs typeface="Tahoma" panose="020B0604030504040204" pitchFamily="34" charset="0"/>
              </a:rPr>
            </a:br>
            <a:endParaRPr lang="en-US" dirty="0"/>
          </a:p>
        </p:txBody>
      </p:sp>
      <p:pic>
        <p:nvPicPr>
          <p:cNvPr id="6" name="Picture 3" descr="Nutrient Broth &#10;Peptone (gelatin hydrolysate) - 5 g/liter&#10;Beef extract - 3 g/liter&#10;Final pH 6.8&#10;&#10;Tryptic Soy Broth &#10;Tryptone (pancreatic digest of casein) - 17 g/liter&#10;Peptone (soybean digest) - 3 g/liter&#10;Glucose - 2.5 g/liter&#10;Sodium chloride - 5 g/liter&#10;Dipotassium phosphate - 2.5 g/liter&#10;Final pH 7.3&#10;&#10;MacConkey Agar &#10;Pancreatic digest of gelatin - 17.0 g/liter&#10;Pancreatic digest of casein - 1.5 g/liter&#10;Peptic digest of animal tissue - 1.5 g/liter&#10;Lactose - 10.0 g/liter&#10;Bile salts - 1.5 g/liter&#10;Sodium chloride - 5.0 g/liter&#10;Neutral red - 0.03 g/liter&#10;Crystal violet - 0.001 g/liter&#10;Agar - 13.5 g/liter&#10;Final pH 7.4" title="Table 7.6 Some Common Complex Media"/>
          <p:cNvPicPr>
            <a:picLocks noGrp="1" noChangeAspect="1" noChangeArrowheads="1"/>
          </p:cNvPicPr>
          <p:nvPr>
            <p:ph idx="1"/>
          </p:nvPr>
        </p:nvPicPr>
        <p:blipFill>
          <a:blip r:embed="rId2" cstate="print"/>
          <a:stretch>
            <a:fillRect/>
          </a:stretch>
        </p:blipFill>
        <p:spPr bwMode="auto">
          <a:xfrm>
            <a:off x="124211" y="1371600"/>
            <a:ext cx="8845035" cy="48006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3B1A82D2-719A-4A87-BECB-D74482819C19}" type="slidenum">
              <a:rPr lang="en-US" smtClean="0"/>
              <a:pPr/>
              <a:t>53</a:t>
            </a:fld>
            <a:endParaRPr lang="en-US"/>
          </a:p>
        </p:txBody>
      </p:sp>
    </p:spTree>
    <p:extLst>
      <p:ext uri="{BB962C8B-B14F-4D97-AF65-F5344CB8AC3E}">
        <p14:creationId xmlns:p14="http://schemas.microsoft.com/office/powerpoint/2010/main" val="26774798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Media Components</a:t>
            </a:r>
          </a:p>
        </p:txBody>
      </p:sp>
      <p:sp>
        <p:nvSpPr>
          <p:cNvPr id="3" name="Content Placeholder 2"/>
          <p:cNvSpPr>
            <a:spLocks noGrp="1"/>
          </p:cNvSpPr>
          <p:nvPr>
            <p:ph idx="1"/>
          </p:nvPr>
        </p:nvSpPr>
        <p:spPr/>
        <p:txBody>
          <a:bodyPr>
            <a:normAutofit/>
          </a:bodyPr>
          <a:lstStyle/>
          <a:p>
            <a:r>
              <a:rPr lang="en-US" dirty="0"/>
              <a:t>Peptones - protein hydrolysates from protein sources</a:t>
            </a:r>
            <a:br>
              <a:rPr lang="en-US" dirty="0"/>
            </a:br>
            <a:endParaRPr lang="en-US" dirty="0"/>
          </a:p>
          <a:p>
            <a:r>
              <a:rPr lang="en-US" dirty="0"/>
              <a:t>Extracts - aqueous extracts, usually of beef or yeast</a:t>
            </a:r>
            <a:br>
              <a:rPr lang="en-US" dirty="0"/>
            </a:br>
            <a:endParaRPr lang="en-US" dirty="0"/>
          </a:p>
          <a:p>
            <a:r>
              <a:rPr lang="en-US" dirty="0"/>
              <a:t>Agar - sulfated polysaccharide solidifying agent; most microorganisms cannot degrade it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54</a:t>
            </a:fld>
            <a:endParaRPr lang="en-US" dirty="0"/>
          </a:p>
        </p:txBody>
      </p:sp>
    </p:spTree>
    <p:extLst>
      <p:ext uri="{BB962C8B-B14F-4D97-AF65-F5344CB8AC3E}">
        <p14:creationId xmlns:p14="http://schemas.microsoft.com/office/powerpoint/2010/main" val="23543336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normAutofit fontScale="90000"/>
          </a:bodyPr>
          <a:lstStyle/>
          <a:p>
            <a:r>
              <a:rPr lang="en-US" dirty="0"/>
              <a:t>Functional Types of Media</a:t>
            </a:r>
            <a:br>
              <a:rPr lang="en-US" dirty="0"/>
            </a:br>
            <a:endParaRPr lang="en-US" dirty="0"/>
          </a:p>
        </p:txBody>
      </p:sp>
      <p:sp>
        <p:nvSpPr>
          <p:cNvPr id="3" name="Content Placeholder 2"/>
          <p:cNvSpPr>
            <a:spLocks noGrp="1"/>
          </p:cNvSpPr>
          <p:nvPr>
            <p:ph sz="half" idx="1"/>
          </p:nvPr>
        </p:nvSpPr>
        <p:spPr>
          <a:xfrm>
            <a:off x="0" y="990601"/>
            <a:ext cx="8991600" cy="4038600"/>
          </a:xfrm>
        </p:spPr>
        <p:txBody>
          <a:bodyPr>
            <a:normAutofit/>
          </a:bodyPr>
          <a:lstStyle/>
          <a:p>
            <a:pPr>
              <a:lnSpc>
                <a:spcPct val="90000"/>
              </a:lnSpc>
            </a:pPr>
            <a:r>
              <a:rPr lang="en-US" dirty="0"/>
              <a:t>Supportive or general purpose media (e.g. TSA) - support the growth of many microorganisms</a:t>
            </a:r>
            <a:br>
              <a:rPr lang="en-US" dirty="0"/>
            </a:br>
            <a:endParaRPr lang="en-US" dirty="0"/>
          </a:p>
          <a:p>
            <a:pPr>
              <a:lnSpc>
                <a:spcPct val="90000"/>
              </a:lnSpc>
            </a:pPr>
            <a:r>
              <a:rPr lang="en-US" dirty="0"/>
              <a:t>Enriched media (e.g. blood agar) – general purpose media supplemented with special nutrients</a:t>
            </a:r>
            <a:br>
              <a:rPr lang="en-US" dirty="0"/>
            </a:br>
            <a:endParaRPr lang="en-US" dirty="0"/>
          </a:p>
          <a:p>
            <a:pPr>
              <a:lnSpc>
                <a:spcPct val="90000"/>
              </a:lnSpc>
            </a:pPr>
            <a:r>
              <a:rPr lang="en-US" dirty="0"/>
              <a:t>Selective</a:t>
            </a:r>
            <a:br>
              <a:rPr lang="en-US" dirty="0"/>
            </a:br>
            <a:endParaRPr lang="en-US" dirty="0"/>
          </a:p>
          <a:p>
            <a:pPr>
              <a:lnSpc>
                <a:spcPct val="90000"/>
              </a:lnSpc>
            </a:pPr>
            <a:r>
              <a:rPr lang="en-US" dirty="0"/>
              <a:t>Differential</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55</a:t>
            </a:fld>
            <a:endParaRPr lang="en-US" dirty="0"/>
          </a:p>
        </p:txBody>
      </p:sp>
      <p:pic>
        <p:nvPicPr>
          <p:cNvPr id="9" name="Content Placeholder 8" descr="(Left) Blood agar culture of bacteria from the human throat showing area of clearing around a beta-hemolytic colony. (Right) Chocolate agar is used to grow fastidious organisms such as Neisseria gonorrhoeae. The brown color is the result of heating red blood cells and lysing them before adding them to the medium. It is called chocolate agar because of its chocolate brown color." title="Figure 7.22 Enriched Media."/>
          <p:cNvPicPr>
            <a:picLocks noGrp="1" noChangeAspect="1" noChangeArrowheads="1"/>
          </p:cNvPicPr>
          <p:nvPr>
            <p:ph sz="half" idx="2"/>
          </p:nvPr>
        </p:nvPicPr>
        <p:blipFill>
          <a:blip r:embed="rId2" cstate="print"/>
          <a:stretch>
            <a:fillRect/>
          </a:stretch>
        </p:blipFill>
        <p:spPr bwMode="auto">
          <a:xfrm>
            <a:off x="2265452" y="3505200"/>
            <a:ext cx="6804061" cy="3187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1304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a:t>Selective and Differential Media</a:t>
            </a:r>
          </a:p>
        </p:txBody>
      </p:sp>
      <p:sp>
        <p:nvSpPr>
          <p:cNvPr id="3" name="Content Placeholder 2"/>
          <p:cNvSpPr>
            <a:spLocks noGrp="1"/>
          </p:cNvSpPr>
          <p:nvPr>
            <p:ph sz="half" idx="1"/>
          </p:nvPr>
        </p:nvSpPr>
        <p:spPr>
          <a:xfrm>
            <a:off x="152400" y="838200"/>
            <a:ext cx="8991600" cy="3505200"/>
          </a:xfrm>
        </p:spPr>
        <p:txBody>
          <a:bodyPr>
            <a:normAutofit fontScale="92500" lnSpcReduction="20000"/>
          </a:bodyPr>
          <a:lstStyle/>
          <a:p>
            <a:pPr marL="0" indent="0" algn="ctr">
              <a:buNone/>
            </a:pPr>
            <a:endParaRPr lang="en-US" sz="3500" dirty="0"/>
          </a:p>
          <a:p>
            <a:pPr marL="0" indent="0" algn="ctr">
              <a:buNone/>
            </a:pPr>
            <a:r>
              <a:rPr lang="en-US" sz="3500" dirty="0"/>
              <a:t>Selective Media</a:t>
            </a:r>
            <a:endParaRPr lang="en-US" dirty="0"/>
          </a:p>
          <a:p>
            <a:pPr lvl="0"/>
            <a:r>
              <a:rPr lang="en-US" sz="2700" dirty="0">
                <a:solidFill>
                  <a:prstClr val="black"/>
                </a:solidFill>
              </a:rPr>
              <a:t>Favor the growth of some microorganisms and inhibit growth of others</a:t>
            </a:r>
            <a:br>
              <a:rPr lang="en-US" sz="2700" dirty="0">
                <a:solidFill>
                  <a:prstClr val="black"/>
                </a:solidFill>
              </a:rPr>
            </a:br>
            <a:endParaRPr lang="en-US" sz="2700" dirty="0">
              <a:solidFill>
                <a:prstClr val="black"/>
              </a:solidFill>
            </a:endParaRPr>
          </a:p>
          <a:p>
            <a:pPr lvl="1"/>
            <a:r>
              <a:rPr lang="en-US" dirty="0">
                <a:solidFill>
                  <a:prstClr val="black"/>
                </a:solidFill>
              </a:rPr>
              <a:t>e.g. MacConkey agar</a:t>
            </a:r>
          </a:p>
          <a:p>
            <a:pPr lvl="2"/>
            <a:r>
              <a:rPr lang="en-US" dirty="0">
                <a:solidFill>
                  <a:prstClr val="black"/>
                </a:solidFill>
              </a:rPr>
              <a:t>selects for Gram-negative bacteria</a:t>
            </a:r>
          </a:p>
          <a:p>
            <a:pPr marL="0" indent="0" algn="ctr">
              <a:buNone/>
            </a:pPr>
            <a:endParaRPr lang="en-US" dirty="0"/>
          </a:p>
        </p:txBody>
      </p:sp>
      <p:sp>
        <p:nvSpPr>
          <p:cNvPr id="4" name="Content Placeholder 3"/>
          <p:cNvSpPr>
            <a:spLocks noGrp="1"/>
          </p:cNvSpPr>
          <p:nvPr>
            <p:ph sz="half" idx="2"/>
          </p:nvPr>
        </p:nvSpPr>
        <p:spPr>
          <a:xfrm>
            <a:off x="152400" y="3810000"/>
            <a:ext cx="8839200" cy="2819400"/>
          </a:xfrm>
        </p:spPr>
        <p:txBody>
          <a:bodyPr>
            <a:normAutofit fontScale="92500" lnSpcReduction="20000"/>
          </a:bodyPr>
          <a:lstStyle/>
          <a:p>
            <a:pPr marL="0" indent="0" algn="ctr">
              <a:buNone/>
            </a:pPr>
            <a:r>
              <a:rPr lang="en-US" sz="3500" dirty="0"/>
              <a:t>Differential Media</a:t>
            </a:r>
          </a:p>
          <a:p>
            <a:r>
              <a:rPr lang="en-US" dirty="0"/>
              <a:t>Distinguish between different groups of microorganisms based on their biological characteristics</a:t>
            </a:r>
            <a:br>
              <a:rPr lang="en-US" dirty="0"/>
            </a:br>
            <a:endParaRPr lang="en-US" dirty="0"/>
          </a:p>
          <a:p>
            <a:pPr lvl="1"/>
            <a:r>
              <a:rPr lang="en-US" dirty="0"/>
              <a:t>e.g. blood agar</a:t>
            </a:r>
          </a:p>
          <a:p>
            <a:pPr lvl="2"/>
            <a:r>
              <a:rPr lang="en-US" dirty="0"/>
              <a:t>hemolytic versus </a:t>
            </a:r>
            <a:r>
              <a:rPr lang="en-US" dirty="0" err="1"/>
              <a:t>nonhemolytic</a:t>
            </a:r>
            <a:r>
              <a:rPr lang="en-US" dirty="0"/>
              <a:t> bacteria</a:t>
            </a:r>
          </a:p>
          <a:p>
            <a:pPr lvl="1"/>
            <a:r>
              <a:rPr lang="en-US" dirty="0"/>
              <a:t>e.g. MacConkey agar</a:t>
            </a:r>
          </a:p>
          <a:p>
            <a:pPr lvl="2"/>
            <a:r>
              <a:rPr lang="en-US" dirty="0"/>
              <a:t>lactose fermenters versus </a:t>
            </a:r>
            <a:r>
              <a:rPr lang="en-US" dirty="0" err="1"/>
              <a:t>nonfermenters</a:t>
            </a:r>
            <a:endParaRPr lang="en-US" dirty="0"/>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56</a:t>
            </a:fld>
            <a:endParaRPr lang="en-US"/>
          </a:p>
        </p:txBody>
      </p:sp>
    </p:spTree>
    <p:extLst>
      <p:ext uri="{BB962C8B-B14F-4D97-AF65-F5344CB8AC3E}">
        <p14:creationId xmlns:p14="http://schemas.microsoft.com/office/powerpoint/2010/main" val="10801532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Mechanisms of Action of Media Types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57</a:t>
            </a:fld>
            <a:endParaRPr lang="en-US"/>
          </a:p>
        </p:txBody>
      </p:sp>
      <p:pic>
        <p:nvPicPr>
          <p:cNvPr id="6" name="Picture 2" descr="Medium: Blood agar.  Functional Type: Enriched and differential.  Mechanism of Action: Blood agar supports the growth of many fastidious bacteria. These can be differentiated based on their ability to produce hemolysins—proteins that lyse red blood cells. Hemolysis appears as a clear zone (β-hemolysis) or greenish halo around the colony (α-hemolysis) (e.g., Streptococcus pyogenes, a β-hemolytic streptococcus).&#10;&#10;Medium: Eosin methylene blue (EMB) agar.  Functional Type: Selective and differential.  Mechanism of Action: Two dyes, eosin Y and methylene blue, inhibit the growth of Gram-positive bacteria. They also react with acidic products released by certain Gram-negative bacteria when they use lactose or sucrose as carbon and energy sources. Colonies of Gram-negative bacteria that produce large amounts of acidic products have a green, metallic sheen (e.g., fecal bacteria such as E. coli).&#10;&#10;Medium: MacConkey (MAC) agar.  Functional Type:  Selective and differential.  Mechanism of Action: The selective components in MAC are bile salts and crystal violet, which inhibit the growth of Gram-positive bacteria. The presence of lactose and neutral red, a pH indicator, allows the differentiation of Gram-negative bacteria based on the products released when they use lactose as a carbon and energy source. The colonies of those that release acidic products are red (e.g., E. coli).&#10;&#10;Medium: Mannitol salt agar.  Functional Type: Selective and differential.  Mechanism of Action: A concentration of 7.5% NaCl selects for the growth of staphylococci. Pathogenic staphylococci can be differentiated based on the release of acidic products when they use mannitol as a carbon and energy source. The acidic products cause a pH indicator (phenol red) in the medium to turn yellow (e.g., Staphylococcus aureus)." title="Table 7.7 Mechanisms of Action of Selective and Differential Media"/>
          <p:cNvPicPr>
            <a:picLocks noGrp="1" noChangeAspect="1" noChangeArrowheads="1"/>
          </p:cNvPicPr>
          <p:nvPr>
            <p:ph idx="1"/>
          </p:nvPr>
        </p:nvPicPr>
        <p:blipFill>
          <a:blip r:embed="rId2" cstate="print"/>
          <a:stretch>
            <a:fillRect/>
          </a:stretch>
        </p:blipFill>
        <p:spPr bwMode="auto">
          <a:xfrm>
            <a:off x="216126" y="1447800"/>
            <a:ext cx="8770588" cy="4495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33406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descr="This system (left) contains an oxygen-free work area and an incubator. The interchange compartment on the right of the work area allows materials to be transferred inside without exposing the interior to oxygen. The anoxic atmosphere is maintained largely with a vacuum pump and nitrogen purges. The remaining oxygen is removed by a palladium catalyst and hydrogen. The oxygen reacts with hydrogen to form water, which is absorbed by a desiccant.&#10;&#10;This figure (right) illustrates the GasPak anaerobic system.  The container contains a stack of Petri plates, an anaerobic indicator strip (methylene blue becomes colorless in absence of oxygen), and a GasPak gas generator envelope (water is added to chemicals in the envelope to generate hydrogen and carbon dioxide).  The lid has a catalyst chamber containing palladium pellets, a rubber gasket seal, a clamp, and a lockscrew.&#10;Here's how it works: Hydrogen and carbon dioxide are generated by a GasPak envelope. The palladium catalyst in the chamber lid catalyzes the formation of water from hydrogen and oxygen, thereby removing oxygen from the sealed chamber." title="Figures 7.23 and 7.24 An Anaerobic Workstation and Incubator and The GasPak Anaerobic System."/>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52400" y="3886200"/>
            <a:ext cx="8822890" cy="28781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457200" y="76200"/>
            <a:ext cx="8229600" cy="868362"/>
          </a:xfrm>
        </p:spPr>
        <p:txBody>
          <a:bodyPr/>
          <a:lstStyle/>
          <a:p>
            <a:r>
              <a:rPr lang="en-US" dirty="0"/>
              <a:t>Strict Anaerobic Microbes</a:t>
            </a:r>
          </a:p>
        </p:txBody>
      </p:sp>
      <p:sp>
        <p:nvSpPr>
          <p:cNvPr id="7" name="Content Placeholder 6"/>
          <p:cNvSpPr>
            <a:spLocks noGrp="1"/>
          </p:cNvSpPr>
          <p:nvPr>
            <p:ph sz="half" idx="1"/>
          </p:nvPr>
        </p:nvSpPr>
        <p:spPr>
          <a:xfrm>
            <a:off x="152400" y="1143000"/>
            <a:ext cx="8915400" cy="2819400"/>
          </a:xfrm>
        </p:spPr>
        <p:txBody>
          <a:bodyPr>
            <a:normAutofit fontScale="92500" lnSpcReduction="20000"/>
          </a:bodyPr>
          <a:lstStyle/>
          <a:p>
            <a:pPr>
              <a:lnSpc>
                <a:spcPct val="90000"/>
              </a:lnSpc>
            </a:pPr>
            <a:r>
              <a:rPr lang="en-US" dirty="0"/>
              <a:t>All strict anaerobic microorganisms lack or have very low quantities of</a:t>
            </a:r>
            <a:br>
              <a:rPr lang="en-US" dirty="0"/>
            </a:br>
            <a:endParaRPr lang="en-US" dirty="0"/>
          </a:p>
          <a:p>
            <a:pPr lvl="1">
              <a:lnSpc>
                <a:spcPct val="90000"/>
              </a:lnSpc>
            </a:pPr>
            <a:r>
              <a:rPr lang="en-US" dirty="0"/>
              <a:t>superoxide dismutase</a:t>
            </a:r>
          </a:p>
          <a:p>
            <a:pPr lvl="1">
              <a:lnSpc>
                <a:spcPct val="90000"/>
              </a:lnSpc>
            </a:pPr>
            <a:r>
              <a:rPr lang="en-US" dirty="0"/>
              <a:t>Catalase</a:t>
            </a:r>
            <a:br>
              <a:rPr lang="en-US" dirty="0"/>
            </a:br>
            <a:endParaRPr lang="en-US" dirty="0"/>
          </a:p>
          <a:p>
            <a:pPr>
              <a:lnSpc>
                <a:spcPct val="90000"/>
              </a:lnSpc>
            </a:pPr>
            <a:r>
              <a:rPr lang="en-US" dirty="0"/>
              <a:t>These microbes cannot tolerate O</a:t>
            </a:r>
            <a:r>
              <a:rPr lang="en-US" baseline="-25000" dirty="0"/>
              <a:t>2</a:t>
            </a:r>
            <a:br>
              <a:rPr lang="en-US" baseline="-25000" dirty="0"/>
            </a:br>
            <a:endParaRPr lang="en-US" baseline="-25000" dirty="0"/>
          </a:p>
          <a:p>
            <a:pPr>
              <a:lnSpc>
                <a:spcPct val="90000"/>
              </a:lnSpc>
            </a:pPr>
            <a:r>
              <a:rPr lang="en-US" dirty="0"/>
              <a:t>Anaerobes must be grown without O</a:t>
            </a:r>
            <a:r>
              <a:rPr lang="en-US" baseline="-25000" dirty="0"/>
              <a:t>2</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58</a:t>
            </a:fld>
            <a:endParaRPr lang="en-US" dirty="0"/>
          </a:p>
        </p:txBody>
      </p:sp>
    </p:spTree>
    <p:extLst>
      <p:ext uri="{BB962C8B-B14F-4D97-AF65-F5344CB8AC3E}">
        <p14:creationId xmlns:p14="http://schemas.microsoft.com/office/powerpoint/2010/main" val="24521870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Isolation of Pure Cultures</a:t>
            </a:r>
          </a:p>
        </p:txBody>
      </p:sp>
      <p:sp>
        <p:nvSpPr>
          <p:cNvPr id="3" name="Content Placeholder 2"/>
          <p:cNvSpPr>
            <a:spLocks noGrp="1"/>
          </p:cNvSpPr>
          <p:nvPr>
            <p:ph idx="1"/>
          </p:nvPr>
        </p:nvSpPr>
        <p:spPr/>
        <p:txBody>
          <a:bodyPr/>
          <a:lstStyle/>
          <a:p>
            <a:r>
              <a:rPr lang="en-US" dirty="0"/>
              <a:t>Population of cells arising from a single cell developed by Robert Koch</a:t>
            </a:r>
          </a:p>
          <a:p>
            <a:pPr marL="0" indent="0">
              <a:buNone/>
            </a:pPr>
            <a:endParaRPr lang="en-US" dirty="0"/>
          </a:p>
          <a:p>
            <a:r>
              <a:rPr lang="en-US" dirty="0"/>
              <a:t>Allows for the study of single type of microorganism in mixed culture</a:t>
            </a:r>
          </a:p>
          <a:p>
            <a:pPr marL="0" indent="0">
              <a:buNone/>
            </a:pPr>
            <a:endParaRPr lang="en-US" dirty="0"/>
          </a:p>
          <a:p>
            <a:r>
              <a:rPr lang="en-US" dirty="0"/>
              <a:t>Spread plate, streak plate, and pour plate are techniques used to isolate pure cultures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59</a:t>
            </a:fld>
            <a:endParaRPr lang="en-US"/>
          </a:p>
        </p:txBody>
      </p:sp>
    </p:spTree>
    <p:extLst>
      <p:ext uri="{BB962C8B-B14F-4D97-AF65-F5344CB8AC3E}">
        <p14:creationId xmlns:p14="http://schemas.microsoft.com/office/powerpoint/2010/main" val="41950710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dirty="0"/>
              <a:t>The Streak Plate</a:t>
            </a:r>
          </a:p>
        </p:txBody>
      </p:sp>
      <p:sp>
        <p:nvSpPr>
          <p:cNvPr id="6" name="Content Placeholder 5"/>
          <p:cNvSpPr>
            <a:spLocks noGrp="1"/>
          </p:cNvSpPr>
          <p:nvPr>
            <p:ph sz="half" idx="1"/>
          </p:nvPr>
        </p:nvSpPr>
        <p:spPr>
          <a:xfrm>
            <a:off x="76200" y="1066800"/>
            <a:ext cx="8991600" cy="2092666"/>
          </a:xfrm>
        </p:spPr>
        <p:txBody>
          <a:bodyPr>
            <a:normAutofit fontScale="85000" lnSpcReduction="20000"/>
          </a:bodyPr>
          <a:lstStyle/>
          <a:p>
            <a:pPr>
              <a:lnSpc>
                <a:spcPct val="90000"/>
              </a:lnSpc>
            </a:pPr>
            <a:r>
              <a:rPr lang="en-US" dirty="0"/>
              <a:t>Involves technique of spreading a mixture of cells on an agar surface so that individual cells are well separated from each other</a:t>
            </a:r>
            <a:br>
              <a:rPr lang="en-US" dirty="0"/>
            </a:br>
            <a:endParaRPr lang="en-US" dirty="0"/>
          </a:p>
          <a:p>
            <a:pPr lvl="1">
              <a:lnSpc>
                <a:spcPct val="90000"/>
              </a:lnSpc>
            </a:pPr>
            <a:r>
              <a:rPr lang="en-US" dirty="0"/>
              <a:t>involves use of bacteriological loop</a:t>
            </a:r>
            <a:br>
              <a:rPr lang="en-US" dirty="0"/>
            </a:br>
            <a:endParaRPr lang="en-US" dirty="0"/>
          </a:p>
          <a:p>
            <a:pPr>
              <a:lnSpc>
                <a:spcPct val="90000"/>
              </a:lnSpc>
            </a:pPr>
            <a:r>
              <a:rPr lang="en-US" dirty="0"/>
              <a:t>Each cell can reproduce to form a separate colony (visible growth or cluster of microorganisms)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60</a:t>
            </a:fld>
            <a:endParaRPr lang="en-US"/>
          </a:p>
        </p:txBody>
      </p:sp>
      <p:pic>
        <p:nvPicPr>
          <p:cNvPr id="8" name="Content Placeholder 7" descr="(Left) Steps in a streak plate.  In this technique, cells are transferred to the edge of an agar plate with an inoculating loop or swab and then streaked out over the surface in one of several patterns. After the first sector is streaked, the inoculating loop is sterilized and an inoculum for the second sector is obtained from the first sector. A similar process is followed for streaking the third sector, except that the inoculum is from the second sector. Thus this is essentially a dilution process. Eventually very few cells will be on the loop, and single cells will drop from it as it is rubbed along the agar surface. These develop into separate colonies.&#10;&#10;(Right) Photo of an example streak plate showing dilution of cells with each successive sector, and separate colonies produced in the most dilute sector." title="Figure 7.25 Streak Plate Technique."/>
          <p:cNvPicPr>
            <a:picLocks noGrp="1" noChangeAspect="1" noChangeArrowheads="1"/>
          </p:cNvPicPr>
          <p:nvPr>
            <p:ph sz="half" idx="2"/>
          </p:nvPr>
        </p:nvPicPr>
        <p:blipFill>
          <a:blip r:embed="rId2" cstate="print"/>
          <a:stretch>
            <a:fillRect/>
          </a:stretch>
        </p:blipFill>
        <p:spPr bwMode="auto">
          <a:xfrm>
            <a:off x="381000" y="3384540"/>
            <a:ext cx="8578614" cy="3321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6818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Spread Plate and Pour Plate</a:t>
            </a:r>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a:lnSpc>
                <a:spcPct val="90000"/>
              </a:lnSpc>
            </a:pPr>
            <a:r>
              <a:rPr lang="en-US" sz="2800" dirty="0"/>
              <a:t>Spread plate</a:t>
            </a:r>
          </a:p>
          <a:p>
            <a:pPr lvl="1">
              <a:lnSpc>
                <a:spcPct val="90000"/>
              </a:lnSpc>
            </a:pPr>
            <a:r>
              <a:rPr lang="en-US" dirty="0"/>
              <a:t>small volume of diluted mixture containing approximately 30–300 cells is transferred</a:t>
            </a:r>
          </a:p>
          <a:p>
            <a:pPr lvl="1">
              <a:lnSpc>
                <a:spcPct val="90000"/>
              </a:lnSpc>
            </a:pPr>
            <a:r>
              <a:rPr lang="en-US" dirty="0"/>
              <a:t>spread evenly over surface with a sterile bent rod</a:t>
            </a:r>
          </a:p>
          <a:p>
            <a:pPr marL="457200" lvl="1" indent="0">
              <a:lnSpc>
                <a:spcPct val="90000"/>
              </a:lnSpc>
              <a:buNone/>
            </a:pPr>
            <a:endParaRPr lang="en-US" dirty="0"/>
          </a:p>
          <a:p>
            <a:pPr>
              <a:lnSpc>
                <a:spcPct val="90000"/>
              </a:lnSpc>
            </a:pPr>
            <a:r>
              <a:rPr lang="en-US" dirty="0"/>
              <a:t>P</a:t>
            </a:r>
            <a:r>
              <a:rPr lang="en-US" sz="2800" dirty="0"/>
              <a:t>our plate</a:t>
            </a:r>
          </a:p>
          <a:p>
            <a:pPr lvl="1">
              <a:lnSpc>
                <a:spcPct val="90000"/>
              </a:lnSpc>
            </a:pPr>
            <a:r>
              <a:rPr lang="en-US" dirty="0"/>
              <a:t>sample is serially diluted </a:t>
            </a:r>
          </a:p>
          <a:p>
            <a:pPr lvl="1">
              <a:lnSpc>
                <a:spcPct val="90000"/>
              </a:lnSpc>
            </a:pPr>
            <a:r>
              <a:rPr lang="en-US" dirty="0"/>
              <a:t>diluted samples are mixed with liquid agar</a:t>
            </a:r>
          </a:p>
          <a:p>
            <a:pPr lvl="1">
              <a:lnSpc>
                <a:spcPct val="90000"/>
              </a:lnSpc>
            </a:pPr>
            <a:r>
              <a:rPr lang="en-US" dirty="0"/>
              <a:t>mixture of cells and agar are poured into sterile culture dishes</a:t>
            </a:r>
          </a:p>
          <a:p>
            <a:pPr marL="457200" lvl="1" indent="0">
              <a:lnSpc>
                <a:spcPct val="90000"/>
              </a:lnSpc>
              <a:buNone/>
            </a:pPr>
            <a:endParaRPr lang="en-US" dirty="0"/>
          </a:p>
          <a:p>
            <a:pPr>
              <a:lnSpc>
                <a:spcPct val="90000"/>
              </a:lnSpc>
            </a:pPr>
            <a:r>
              <a:rPr lang="en-US" dirty="0"/>
              <a:t>B</a:t>
            </a:r>
            <a:r>
              <a:rPr lang="en-US" sz="2800" dirty="0"/>
              <a:t>oth may be used to determine the number of viable microorganisms in an original sample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61</a:t>
            </a:fld>
            <a:endParaRPr lang="en-US"/>
          </a:p>
        </p:txBody>
      </p:sp>
    </p:spTree>
    <p:extLst>
      <p:ext uri="{BB962C8B-B14F-4D97-AF65-F5344CB8AC3E}">
        <p14:creationId xmlns:p14="http://schemas.microsoft.com/office/powerpoint/2010/main" val="37283341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for Spread and Pour Plates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62</a:t>
            </a:fld>
            <a:endParaRPr lang="en-US"/>
          </a:p>
        </p:txBody>
      </p:sp>
      <p:pic>
        <p:nvPicPr>
          <p:cNvPr id="8" name="Content Placeholder 7" descr="The preparation of a spread plate.  First, a small amount of the sample is pipetted to the center of a solidified medium.  Next, a glass spreader is sterilized by dipping it into ethanol and briefly flaming it.  The spreader is cooled and then used to spread the sample evenly over the surface of the medium.&#10;&#10;(Bottom right) Photo of a typical spread plate showing two different colony morphologies, with colonies growing across the surface of the medium." title="Figure 7.26 Spread-Plate Technique."/>
          <p:cNvPicPr>
            <a:picLocks noGrp="1" noChangeAspect="1" noChangeArrowheads="1"/>
          </p:cNvPicPr>
          <p:nvPr>
            <p:ph sz="half" idx="2"/>
          </p:nvPr>
        </p:nvPicPr>
        <p:blipFill>
          <a:blip r:embed="rId2" cstate="print"/>
          <a:stretch>
            <a:fillRect/>
          </a:stretch>
        </p:blipFill>
        <p:spPr bwMode="auto">
          <a:xfrm>
            <a:off x="4495800" y="2350192"/>
            <a:ext cx="4633338" cy="268174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Top) The original sample is diluted several times: 1.0 ml of the original sample is used to create a 10^-1 dilution, 1.0 ml of the 10^-1 dilution is used to create a 10^-2 dilution, and so on.  Some of the dilutions (often the most dilute) are mixed with warm agar and poured onto the plates (10^-3 and 10^-4 dilutions shown here).  Isolated cells grow into colonies on the surface (appear round) and within the medium (appear lens-shaped).  The isolated colonies can be counted or used to establish pure cultures." title="Figure 7.27 Pour-Plate Technique."/>
          <p:cNvPicPr>
            <a:picLocks noGrp="1" noChangeAspect="1" noChangeArrowheads="1"/>
          </p:cNvPicPr>
          <p:nvPr>
            <p:ph sz="half" idx="1"/>
          </p:nvPr>
        </p:nvPicPr>
        <p:blipFill>
          <a:blip r:embed="rId3" cstate="print"/>
          <a:stretch>
            <a:fillRect/>
          </a:stretch>
        </p:blipFill>
        <p:spPr bwMode="auto">
          <a:xfrm>
            <a:off x="76200" y="1697851"/>
            <a:ext cx="4267200" cy="4110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54970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a:t>Microbial Growth on Solid Surfaces</a:t>
            </a:r>
          </a:p>
        </p:txBody>
      </p:sp>
      <p:sp>
        <p:nvSpPr>
          <p:cNvPr id="6" name="Content Placeholder 5"/>
          <p:cNvSpPr>
            <a:spLocks noGrp="1"/>
          </p:cNvSpPr>
          <p:nvPr>
            <p:ph sz="half" idx="2"/>
          </p:nvPr>
        </p:nvSpPr>
        <p:spPr>
          <a:xfrm>
            <a:off x="152400" y="4267200"/>
            <a:ext cx="8839200" cy="2468563"/>
          </a:xfrm>
        </p:spPr>
        <p:txBody>
          <a:bodyPr>
            <a:normAutofit fontScale="85000" lnSpcReduction="20000"/>
          </a:bodyPr>
          <a:lstStyle/>
          <a:p>
            <a:pPr>
              <a:lnSpc>
                <a:spcPct val="90000"/>
              </a:lnSpc>
            </a:pPr>
            <a:r>
              <a:rPr lang="en-US" dirty="0"/>
              <a:t>Colony characteristics that develop when microorganisms are grown on agar surfaces aid in identification</a:t>
            </a:r>
            <a:br>
              <a:rPr lang="en-US" dirty="0"/>
            </a:br>
            <a:endParaRPr lang="en-US" dirty="0"/>
          </a:p>
          <a:p>
            <a:pPr>
              <a:lnSpc>
                <a:spcPct val="90000"/>
              </a:lnSpc>
            </a:pPr>
            <a:r>
              <a:rPr lang="en-US" dirty="0"/>
              <a:t>Microbial growth in biofilms is similar</a:t>
            </a:r>
            <a:br>
              <a:rPr lang="en-US" dirty="0"/>
            </a:br>
            <a:endParaRPr lang="en-US" dirty="0"/>
          </a:p>
          <a:p>
            <a:pPr>
              <a:lnSpc>
                <a:spcPct val="90000"/>
              </a:lnSpc>
            </a:pPr>
            <a:r>
              <a:rPr lang="en-US" dirty="0"/>
              <a:t>Differences in growth rate from edges to center is due to </a:t>
            </a:r>
          </a:p>
          <a:p>
            <a:pPr lvl="1">
              <a:lnSpc>
                <a:spcPct val="90000"/>
              </a:lnSpc>
            </a:pPr>
            <a:r>
              <a:rPr lang="en-US" dirty="0"/>
              <a:t>oxygen, nutrients, and toxic products</a:t>
            </a:r>
          </a:p>
          <a:p>
            <a:pPr lvl="1">
              <a:lnSpc>
                <a:spcPct val="90000"/>
              </a:lnSpc>
            </a:pPr>
            <a:r>
              <a:rPr lang="en-US" dirty="0"/>
              <a:t>cells may be dead in some areas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63</a:t>
            </a:fld>
            <a:endParaRPr lang="en-US"/>
          </a:p>
        </p:txBody>
      </p:sp>
      <p:pic>
        <p:nvPicPr>
          <p:cNvPr id="8" name="Picture 2" descr="(Left) Variations in bacterial colony morphology seen with the naked eye. The general form of the colony and the shape of the margin (edge) can be determined by looking down at the top of the colony. The nature of colony elevation is apparent when viewed from the side as the plate is held at eye level. &#10;&#10;This figure illustrates the definitions of bacterial colony morphology terminology (many of the terms are self-explanatory).&#10;Form: punctiform (small circular dots of varying sizes), circular, filamentous, irregular, rhizoid, and spindle.&#10;Elevation: flat, raised, convex, pulvinate (like convex, but more sharply elevated), and umbonate (irregularly elevated).&#10;Margin: entire, undulate (wavy edges), lobate (lobed edges), erose (jagged edges), filamentous, and curled (like the lines on a topographical map, layered-looking).&#10;&#10;(Right) Photo of a portion of a Petri dish showing some commonly observed colony morphologies." title="Figure 7.28 Bacterial Colony Morphology."/>
          <p:cNvPicPr>
            <a:picLocks noGrp="1" noChangeAspect="1" noChangeArrowheads="1"/>
          </p:cNvPicPr>
          <p:nvPr>
            <p:ph sz="half" idx="1"/>
          </p:nvPr>
        </p:nvPicPr>
        <p:blipFill>
          <a:blip r:embed="rId2" cstate="print"/>
          <a:srcRect/>
          <a:stretch>
            <a:fillRect/>
          </a:stretch>
        </p:blipFill>
        <p:spPr bwMode="auto">
          <a:xfrm>
            <a:off x="330931" y="990600"/>
            <a:ext cx="8516535" cy="2905259"/>
          </a:xfrm>
          <a:prstGeom prst="rect">
            <a:avLst/>
          </a:prstGeom>
          <a:noFill/>
        </p:spPr>
      </p:pic>
    </p:spTree>
    <p:extLst>
      <p:ext uri="{BB962C8B-B14F-4D97-AF65-F5344CB8AC3E}">
        <p14:creationId xmlns:p14="http://schemas.microsoft.com/office/powerpoint/2010/main" val="754333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7.7 Growth Curves Consist of Five Phases</a:t>
            </a:r>
          </a:p>
        </p:txBody>
      </p:sp>
      <p:sp>
        <p:nvSpPr>
          <p:cNvPr id="3" name="Content Placeholder 2"/>
          <p:cNvSpPr>
            <a:spLocks noGrp="1"/>
          </p:cNvSpPr>
          <p:nvPr>
            <p:ph idx="1"/>
          </p:nvPr>
        </p:nvSpPr>
        <p:spPr>
          <a:xfrm>
            <a:off x="457200" y="1951037"/>
            <a:ext cx="8229600" cy="4525963"/>
          </a:xfrm>
        </p:spPr>
        <p:txBody>
          <a:bodyPr>
            <a:normAutofit fontScale="92500" lnSpcReduction="20000"/>
          </a:bodyPr>
          <a:lstStyle/>
          <a:p>
            <a:pPr marL="514350" indent="-514350">
              <a:buFont typeface="+mj-lt"/>
              <a:buAutoNum type="arabicPeriod"/>
            </a:pPr>
            <a:r>
              <a:rPr lang="en-US" dirty="0"/>
              <a:t>Describe the five phases of a microbial growth curve observed when microbes are grown in a batch culture</a:t>
            </a:r>
            <a:br>
              <a:rPr lang="en-US" dirty="0"/>
            </a:br>
            <a:endParaRPr lang="en-US" dirty="0"/>
          </a:p>
          <a:p>
            <a:pPr marL="514350" indent="-514350">
              <a:buFont typeface="+mj-lt"/>
              <a:buAutoNum type="arabicPeriod"/>
            </a:pPr>
            <a:r>
              <a:rPr lang="en-US" dirty="0"/>
              <a:t>Describe three hypotheses proposed to account for the decline in cell numbers during the death phase of a growth curve</a:t>
            </a:r>
            <a:br>
              <a:rPr lang="en-US" dirty="0"/>
            </a:br>
            <a:endParaRPr lang="en-US" dirty="0"/>
          </a:p>
          <a:p>
            <a:pPr marL="514350" indent="-514350">
              <a:buFont typeface="+mj-lt"/>
              <a:buAutoNum type="arabicPeriod"/>
            </a:pPr>
            <a:r>
              <a:rPr lang="en-US" dirty="0"/>
              <a:t>Predict how the presence of viable but </a:t>
            </a:r>
            <a:r>
              <a:rPr lang="en-US" dirty="0" err="1"/>
              <a:t>nonculturable</a:t>
            </a:r>
            <a:r>
              <a:rPr lang="en-US" dirty="0"/>
              <a:t> cells in food or water systems might impact public health</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64</a:t>
            </a:fld>
            <a:endParaRPr lang="en-US"/>
          </a:p>
        </p:txBody>
      </p:sp>
    </p:spTree>
    <p:extLst>
      <p:ext uri="{BB962C8B-B14F-4D97-AF65-F5344CB8AC3E}">
        <p14:creationId xmlns:p14="http://schemas.microsoft.com/office/powerpoint/2010/main" val="35184733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7.7 Growth Curves Consist of Five Phases - 1</a:t>
            </a:r>
          </a:p>
        </p:txBody>
      </p:sp>
      <p:sp>
        <p:nvSpPr>
          <p:cNvPr id="3" name="Content Placeholder 2"/>
          <p:cNvSpPr>
            <a:spLocks noGrp="1"/>
          </p:cNvSpPr>
          <p:nvPr>
            <p:ph idx="1"/>
          </p:nvPr>
        </p:nvSpPr>
        <p:spPr/>
        <p:txBody>
          <a:bodyPr/>
          <a:lstStyle/>
          <a:p>
            <a:pPr>
              <a:buFont typeface="+mj-lt"/>
              <a:buAutoNum type="arabicPeriod" startAt="4"/>
            </a:pPr>
            <a:r>
              <a:rPr lang="en-US" dirty="0"/>
              <a:t>Correlate changes in nutrient concentrations in natural environments with the five phases of a microbial growth curve</a:t>
            </a:r>
            <a:br>
              <a:rPr lang="en-US" dirty="0"/>
            </a:br>
            <a:endParaRPr lang="en-US" dirty="0"/>
          </a:p>
          <a:p>
            <a:pPr>
              <a:buFont typeface="+mj-lt"/>
              <a:buAutoNum type="arabicPeriod" startAt="4"/>
            </a:pPr>
            <a:r>
              <a:rPr lang="en-US" dirty="0"/>
              <a:t>Relate growth rate constant to generation (doubling) time and suggest how these values might be used by microbiologists doing basic research or working in industrial settings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65</a:t>
            </a:fld>
            <a:endParaRPr lang="en-US"/>
          </a:p>
        </p:txBody>
      </p:sp>
    </p:spTree>
    <p:extLst>
      <p:ext uri="{BB962C8B-B14F-4D97-AF65-F5344CB8AC3E}">
        <p14:creationId xmlns:p14="http://schemas.microsoft.com/office/powerpoint/2010/main" val="29495954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Growth</a:t>
            </a:r>
          </a:p>
        </p:txBody>
      </p:sp>
      <p:sp>
        <p:nvSpPr>
          <p:cNvPr id="3" name="Content Placeholder 2"/>
          <p:cNvSpPr>
            <a:spLocks noGrp="1"/>
          </p:cNvSpPr>
          <p:nvPr>
            <p:ph idx="1"/>
          </p:nvPr>
        </p:nvSpPr>
        <p:spPr/>
        <p:txBody>
          <a:bodyPr/>
          <a:lstStyle/>
          <a:p>
            <a:r>
              <a:rPr lang="en-US" dirty="0"/>
              <a:t>Increase in cellular constituents that may result in:</a:t>
            </a:r>
          </a:p>
          <a:p>
            <a:pPr lvl="1"/>
            <a:r>
              <a:rPr lang="en-US" dirty="0"/>
              <a:t>increase in cell number</a:t>
            </a:r>
          </a:p>
          <a:p>
            <a:pPr lvl="1"/>
            <a:r>
              <a:rPr lang="en-US" dirty="0"/>
              <a:t>increase in cell size</a:t>
            </a:r>
          </a:p>
          <a:p>
            <a:pPr marL="457200" lvl="1" indent="0">
              <a:buNone/>
            </a:pPr>
            <a:endParaRPr lang="en-US" dirty="0"/>
          </a:p>
          <a:p>
            <a:r>
              <a:rPr lang="en-US" dirty="0"/>
              <a:t>Growth refers to population growth rather than growth of individual cells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66</a:t>
            </a:fld>
            <a:endParaRPr lang="en-US"/>
          </a:p>
        </p:txBody>
      </p:sp>
    </p:spTree>
    <p:extLst>
      <p:ext uri="{BB962C8B-B14F-4D97-AF65-F5344CB8AC3E}">
        <p14:creationId xmlns:p14="http://schemas.microsoft.com/office/powerpoint/2010/main" val="29495954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dirty="0"/>
              <a:t>The Growth Curve</a:t>
            </a:r>
          </a:p>
        </p:txBody>
      </p:sp>
      <p:sp>
        <p:nvSpPr>
          <p:cNvPr id="6" name="Content Placeholder 5"/>
          <p:cNvSpPr>
            <a:spLocks noGrp="1"/>
          </p:cNvSpPr>
          <p:nvPr>
            <p:ph sz="half" idx="1"/>
          </p:nvPr>
        </p:nvSpPr>
        <p:spPr>
          <a:xfrm>
            <a:off x="152400" y="838200"/>
            <a:ext cx="8839200" cy="2362200"/>
          </a:xfrm>
        </p:spPr>
        <p:txBody>
          <a:bodyPr>
            <a:normAutofit fontScale="92500" lnSpcReduction="20000"/>
          </a:bodyPr>
          <a:lstStyle/>
          <a:p>
            <a:r>
              <a:rPr lang="en-US" dirty="0"/>
              <a:t>Observed when microorganisms are cultivated in batch culture</a:t>
            </a:r>
            <a:br>
              <a:rPr lang="en-US" dirty="0"/>
            </a:br>
            <a:endParaRPr lang="en-US" dirty="0"/>
          </a:p>
          <a:p>
            <a:r>
              <a:rPr lang="en-US" dirty="0"/>
              <a:t>Usually plotted as logarithm of cell number vs. time</a:t>
            </a:r>
            <a:br>
              <a:rPr lang="en-US" dirty="0"/>
            </a:br>
            <a:endParaRPr lang="en-US" dirty="0"/>
          </a:p>
          <a:p>
            <a:r>
              <a:rPr lang="en-US" dirty="0"/>
              <a:t>Has five distinct phases</a:t>
            </a:r>
            <a:endParaRPr lang="en-US" sz="2400" dirty="0"/>
          </a:p>
          <a:p>
            <a:endParaRPr lang="en-US" dirty="0"/>
          </a:p>
        </p:txBody>
      </p:sp>
      <p:sp>
        <p:nvSpPr>
          <p:cNvPr id="4" name="Slide Number Placeholder 3"/>
          <p:cNvSpPr>
            <a:spLocks noGrp="1"/>
          </p:cNvSpPr>
          <p:nvPr>
            <p:ph type="sldNum" sz="quarter" idx="12"/>
          </p:nvPr>
        </p:nvSpPr>
        <p:spPr>
          <a:xfrm>
            <a:off x="6858000" y="6356350"/>
            <a:ext cx="2133600" cy="365125"/>
          </a:xfrm>
        </p:spPr>
        <p:txBody>
          <a:bodyPr/>
          <a:lstStyle/>
          <a:p>
            <a:fld id="{3B1A82D2-719A-4A87-BECB-D74482819C19}" type="slidenum">
              <a:rPr lang="en-US" smtClean="0"/>
              <a:pPr/>
              <a:t>67</a:t>
            </a:fld>
            <a:endParaRPr lang="en-US"/>
          </a:p>
        </p:txBody>
      </p:sp>
      <p:pic>
        <p:nvPicPr>
          <p:cNvPr id="8" name="Content Placeholder 7" descr="The microbial growth curve plots the log number of viable cells over time.&#10;&#10;The five phases of the growth curve are identified on the curve: lag phase - when organisms are introduced into fresh culture medium, but no immediate increase in cell number occurs; exponential (log) phase - where microorganisms are growing and dividing at the maximal rate possible given their genetic potential; stationary phase - where population growth ceases and the growth curve become horizontal; death phase - the number of viable cells declines exponentially; and long-term stationary phase - during this time the bacterial population continually evolves so that actively reproducing cells are those best able to use the nutrients released by their dying brethren and best able to tolerate the accumulated toxins, so this phase is marked by successive waves of genetically distinct variants." title="Figure 7.29 Microbial Growth Curve in a Closed System."/>
          <p:cNvPicPr>
            <a:picLocks noGrp="1" noChangeAspect="1" noChangeArrowheads="1"/>
          </p:cNvPicPr>
          <p:nvPr>
            <p:ph sz="half" idx="2"/>
          </p:nvPr>
        </p:nvPicPr>
        <p:blipFill>
          <a:blip r:embed="rId2" cstate="print"/>
          <a:stretch>
            <a:fillRect/>
          </a:stretch>
        </p:blipFill>
        <p:spPr bwMode="auto">
          <a:xfrm>
            <a:off x="605825" y="3352800"/>
            <a:ext cx="7819944" cy="3284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5954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br>
              <a:rPr lang="en-US" dirty="0"/>
            </a:br>
            <a:r>
              <a:rPr lang="en-US" dirty="0"/>
              <a:t>Lag Phase and Exponential Phase</a:t>
            </a:r>
            <a:br>
              <a:rPr lang="en-US" dirty="0"/>
            </a:br>
            <a:r>
              <a:rPr lang="en-US" dirty="0"/>
              <a:t> </a:t>
            </a:r>
          </a:p>
        </p:txBody>
      </p:sp>
      <p:sp>
        <p:nvSpPr>
          <p:cNvPr id="3" name="Content Placeholder 2"/>
          <p:cNvSpPr>
            <a:spLocks noGrp="1"/>
          </p:cNvSpPr>
          <p:nvPr>
            <p:ph sz="half" idx="1"/>
          </p:nvPr>
        </p:nvSpPr>
        <p:spPr>
          <a:xfrm>
            <a:off x="152400" y="1219201"/>
            <a:ext cx="8839200" cy="3428999"/>
          </a:xfrm>
        </p:spPr>
        <p:txBody>
          <a:bodyPr>
            <a:normAutofit fontScale="77500" lnSpcReduction="20000"/>
          </a:bodyPr>
          <a:lstStyle/>
          <a:p>
            <a:pPr marL="0" indent="0" algn="ctr">
              <a:buNone/>
            </a:pPr>
            <a:r>
              <a:rPr lang="en-US" sz="4600" dirty="0"/>
              <a:t>Lag Phase</a:t>
            </a:r>
          </a:p>
          <a:p>
            <a:r>
              <a:rPr lang="en-US" dirty="0"/>
              <a:t>Cell synthesizing new components</a:t>
            </a:r>
          </a:p>
          <a:p>
            <a:pPr lvl="1"/>
            <a:r>
              <a:rPr lang="en-US" dirty="0"/>
              <a:t>e.g. to replenish spent materials</a:t>
            </a:r>
          </a:p>
          <a:p>
            <a:pPr lvl="1"/>
            <a:r>
              <a:rPr lang="en-US" dirty="0"/>
              <a:t>e.g. to adapt to new medium or other conditions</a:t>
            </a:r>
            <a:br>
              <a:rPr lang="en-US" dirty="0"/>
            </a:br>
            <a:endParaRPr lang="en-US" dirty="0"/>
          </a:p>
          <a:p>
            <a:r>
              <a:rPr lang="en-US" dirty="0"/>
              <a:t>Varies in length</a:t>
            </a:r>
          </a:p>
          <a:p>
            <a:pPr lvl="1"/>
            <a:r>
              <a:rPr lang="en-US" dirty="0"/>
              <a:t>in some cases can be very short or even absent</a:t>
            </a:r>
          </a:p>
          <a:p>
            <a:endParaRPr lang="en-US" dirty="0"/>
          </a:p>
        </p:txBody>
      </p:sp>
      <p:sp>
        <p:nvSpPr>
          <p:cNvPr id="4" name="Content Placeholder 3"/>
          <p:cNvSpPr>
            <a:spLocks noGrp="1"/>
          </p:cNvSpPr>
          <p:nvPr>
            <p:ph sz="half" idx="2"/>
          </p:nvPr>
        </p:nvSpPr>
        <p:spPr>
          <a:xfrm>
            <a:off x="152400" y="3810000"/>
            <a:ext cx="8839200" cy="2819400"/>
          </a:xfrm>
        </p:spPr>
        <p:txBody>
          <a:bodyPr>
            <a:normAutofit fontScale="77500" lnSpcReduction="20000"/>
          </a:bodyPr>
          <a:lstStyle/>
          <a:p>
            <a:pPr marL="0" indent="0" algn="ctr">
              <a:buNone/>
            </a:pPr>
            <a:r>
              <a:rPr lang="en-US" sz="4600" dirty="0"/>
              <a:t>Exponential Phase</a:t>
            </a:r>
          </a:p>
          <a:p>
            <a:endParaRPr lang="en-US" dirty="0"/>
          </a:p>
          <a:p>
            <a:r>
              <a:rPr lang="en-US" dirty="0"/>
              <a:t>Also called log phase</a:t>
            </a:r>
            <a:br>
              <a:rPr lang="en-US" dirty="0"/>
            </a:br>
            <a:endParaRPr lang="en-US" dirty="0"/>
          </a:p>
          <a:p>
            <a:r>
              <a:rPr lang="en-US" dirty="0"/>
              <a:t>Rate of growth and division is constant and maximal</a:t>
            </a:r>
            <a:br>
              <a:rPr lang="en-US" dirty="0"/>
            </a:br>
            <a:endParaRPr lang="en-US" dirty="0"/>
          </a:p>
          <a:p>
            <a:r>
              <a:rPr lang="en-US" dirty="0"/>
              <a:t>Population is most uniform in terms of chemical and physical properties during this phase</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68</a:t>
            </a:fld>
            <a:endParaRPr lang="en-US"/>
          </a:p>
        </p:txBody>
      </p:sp>
    </p:spTree>
    <p:extLst>
      <p:ext uri="{BB962C8B-B14F-4D97-AF65-F5344CB8AC3E}">
        <p14:creationId xmlns:p14="http://schemas.microsoft.com/office/powerpoint/2010/main" val="2112771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dirty="0"/>
              <a:t>Nutrient Availability and Growth</a:t>
            </a:r>
          </a:p>
        </p:txBody>
      </p:sp>
      <p:sp>
        <p:nvSpPr>
          <p:cNvPr id="5" name="Content Placeholder 4"/>
          <p:cNvSpPr>
            <a:spLocks noGrp="1"/>
          </p:cNvSpPr>
          <p:nvPr>
            <p:ph sz="half" idx="1"/>
          </p:nvPr>
        </p:nvSpPr>
        <p:spPr>
          <a:xfrm>
            <a:off x="228600" y="838200"/>
            <a:ext cx="8915400" cy="2514600"/>
          </a:xfrm>
        </p:spPr>
        <p:txBody>
          <a:bodyPr>
            <a:normAutofit fontScale="92500" lnSpcReduction="10000"/>
          </a:bodyPr>
          <a:lstStyle/>
          <a:p>
            <a:r>
              <a:rPr lang="en-US" dirty="0"/>
              <a:t>During log phase, cells grow as quickly as they can for the conditions available</a:t>
            </a:r>
            <a:br>
              <a:rPr lang="en-US" dirty="0"/>
            </a:br>
            <a:endParaRPr lang="en-US" dirty="0"/>
          </a:p>
          <a:p>
            <a:pPr lvl="1"/>
            <a:r>
              <a:rPr lang="en-US" dirty="0"/>
              <a:t>nutrient concentrations may be limiting, limiting growth</a:t>
            </a:r>
            <a:br>
              <a:rPr lang="en-US" dirty="0"/>
            </a:br>
            <a:endParaRPr lang="en-US" dirty="0"/>
          </a:p>
          <a:p>
            <a:pPr lvl="1"/>
            <a:r>
              <a:rPr lang="en-US" dirty="0"/>
              <a:t>abundance of nutrients allows transport mechanisms to be saturated, so growth increase is minimal for adding in even more nutrients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69</a:t>
            </a:fld>
            <a:endParaRPr lang="en-US"/>
          </a:p>
        </p:txBody>
      </p:sp>
      <p:pic>
        <p:nvPicPr>
          <p:cNvPr id="8" name="Content Placeholder 7" descr="(Left) The effect of changes in limiting nutrient concentration on total microbial yield. The chart shows a straight line of yield to nutrient concentration.  However, at sufficiently high concentrations, total growth will plateau. (Right) The effect on growth rate.  Growth rate is lowest at low nutrient concentration, but eventually plateaus and no increase in nutrient concentration will make it rise beyond that growth rate." title="Figure 7.30 Nutrient Concentration and Growth."/>
          <p:cNvPicPr>
            <a:picLocks noGrp="1" noChangeAspect="1" noChangeArrowheads="1"/>
          </p:cNvPicPr>
          <p:nvPr>
            <p:ph sz="half" idx="2"/>
          </p:nvPr>
        </p:nvPicPr>
        <p:blipFill>
          <a:blip r:embed="rId2" cstate="print"/>
          <a:stretch>
            <a:fillRect/>
          </a:stretch>
        </p:blipFill>
        <p:spPr bwMode="auto">
          <a:xfrm>
            <a:off x="1225896" y="3505200"/>
            <a:ext cx="6622703"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5954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Stationary Phase</a:t>
            </a:r>
          </a:p>
        </p:txBody>
      </p:sp>
      <p:sp>
        <p:nvSpPr>
          <p:cNvPr id="3" name="Content Placeholder 2"/>
          <p:cNvSpPr>
            <a:spLocks noGrp="1"/>
          </p:cNvSpPr>
          <p:nvPr>
            <p:ph idx="1"/>
          </p:nvPr>
        </p:nvSpPr>
        <p:spPr/>
        <p:txBody>
          <a:bodyPr>
            <a:normAutofit fontScale="85000" lnSpcReduction="10000"/>
          </a:bodyPr>
          <a:lstStyle/>
          <a:p>
            <a:pPr>
              <a:lnSpc>
                <a:spcPct val="110000"/>
              </a:lnSpc>
            </a:pPr>
            <a:r>
              <a:rPr lang="en-US" dirty="0"/>
              <a:t>Closed system population growth eventually ceases, total number of viable cells remains constant </a:t>
            </a:r>
          </a:p>
          <a:p>
            <a:pPr lvl="1">
              <a:lnSpc>
                <a:spcPct val="110000"/>
              </a:lnSpc>
            </a:pPr>
            <a:r>
              <a:rPr lang="en-US" dirty="0"/>
              <a:t>active cells stop reproducing or reproductive rate is balanced by death rate</a:t>
            </a:r>
          </a:p>
          <a:p>
            <a:pPr marL="457200" lvl="1" indent="0">
              <a:lnSpc>
                <a:spcPct val="110000"/>
              </a:lnSpc>
              <a:buNone/>
            </a:pPr>
            <a:endParaRPr lang="en-US" dirty="0"/>
          </a:p>
          <a:p>
            <a:pPr>
              <a:lnSpc>
                <a:spcPct val="110000"/>
              </a:lnSpc>
            </a:pPr>
            <a:r>
              <a:rPr lang="en-US" dirty="0"/>
              <a:t>Possible reasons for stationary phase</a:t>
            </a:r>
          </a:p>
          <a:p>
            <a:pPr lvl="1"/>
            <a:r>
              <a:rPr lang="en-US" dirty="0"/>
              <a:t>nutrient limitation</a:t>
            </a:r>
          </a:p>
          <a:p>
            <a:pPr lvl="1"/>
            <a:r>
              <a:rPr lang="en-US" dirty="0"/>
              <a:t>limited oxygen availability</a:t>
            </a:r>
          </a:p>
          <a:p>
            <a:pPr lvl="1"/>
            <a:r>
              <a:rPr lang="en-US" dirty="0"/>
              <a:t>toxic waste accumulation</a:t>
            </a:r>
          </a:p>
          <a:p>
            <a:pPr lvl="1"/>
            <a:r>
              <a:rPr lang="en-US" dirty="0"/>
              <a:t>critical population density reached</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70</a:t>
            </a:fld>
            <a:endParaRPr lang="en-US"/>
          </a:p>
        </p:txBody>
      </p:sp>
    </p:spTree>
    <p:extLst>
      <p:ext uri="{BB962C8B-B14F-4D97-AF65-F5344CB8AC3E}">
        <p14:creationId xmlns:p14="http://schemas.microsoft.com/office/powerpoint/2010/main" val="29495954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458200" cy="715962"/>
          </a:xfrm>
        </p:spPr>
        <p:txBody>
          <a:bodyPr>
            <a:normAutofit fontScale="90000"/>
          </a:bodyPr>
          <a:lstStyle/>
          <a:p>
            <a:br>
              <a:rPr lang="en-US" sz="3800" dirty="0"/>
            </a:br>
            <a:r>
              <a:rPr lang="en-US" sz="3800" dirty="0"/>
              <a:t>Death Phase and Prolonged Decline in Growth</a:t>
            </a:r>
            <a:br>
              <a:rPr lang="en-US" sz="3800" dirty="0"/>
            </a:br>
            <a:r>
              <a:rPr lang="en-US" dirty="0"/>
              <a:t> </a:t>
            </a:r>
          </a:p>
        </p:txBody>
      </p:sp>
      <p:sp>
        <p:nvSpPr>
          <p:cNvPr id="3" name="Content Placeholder 2"/>
          <p:cNvSpPr>
            <a:spLocks noGrp="1"/>
          </p:cNvSpPr>
          <p:nvPr>
            <p:ph idx="1"/>
          </p:nvPr>
        </p:nvSpPr>
        <p:spPr>
          <a:xfrm>
            <a:off x="457200" y="914400"/>
            <a:ext cx="8229600" cy="5867400"/>
          </a:xfrm>
        </p:spPr>
        <p:txBody>
          <a:bodyPr>
            <a:normAutofit fontScale="92500" lnSpcReduction="10000"/>
          </a:bodyPr>
          <a:lstStyle/>
          <a:p>
            <a:pPr marL="0" indent="0" algn="ctr">
              <a:buNone/>
            </a:pPr>
            <a:r>
              <a:rPr lang="en-US" sz="3500" u="sng" dirty="0"/>
              <a:t>Death Phase</a:t>
            </a:r>
          </a:p>
          <a:p>
            <a:r>
              <a:rPr lang="en-US" dirty="0"/>
              <a:t>Two alternative hypotheses</a:t>
            </a:r>
          </a:p>
          <a:p>
            <a:pPr lvl="1"/>
            <a:r>
              <a:rPr lang="en-US" sz="3000" dirty="0"/>
              <a:t>cells are Viable But Not </a:t>
            </a:r>
            <a:r>
              <a:rPr lang="en-US" sz="3000" dirty="0" err="1"/>
              <a:t>Culturable</a:t>
            </a:r>
            <a:r>
              <a:rPr lang="en-US" sz="3000" dirty="0"/>
              <a:t> (VBNC)</a:t>
            </a:r>
          </a:p>
          <a:p>
            <a:pPr lvl="2"/>
            <a:r>
              <a:rPr lang="en-US" dirty="0"/>
              <a:t>cells alive, but dormant, capable of new growth when conditions are right</a:t>
            </a:r>
          </a:p>
          <a:p>
            <a:pPr lvl="1"/>
            <a:r>
              <a:rPr lang="en-US" sz="3000" dirty="0"/>
              <a:t>programmed cell death</a:t>
            </a:r>
          </a:p>
          <a:p>
            <a:pPr lvl="2"/>
            <a:r>
              <a:rPr lang="en-US" dirty="0"/>
              <a:t>fraction of population genetically programmed to die (suicide)</a:t>
            </a:r>
          </a:p>
          <a:p>
            <a:pPr marL="914400" lvl="2" indent="0" algn="ctr">
              <a:buNone/>
            </a:pPr>
            <a:r>
              <a:rPr lang="en-US" sz="3500" u="sng" dirty="0"/>
              <a:t>Prolonged Decline in Growth</a:t>
            </a:r>
          </a:p>
          <a:p>
            <a:r>
              <a:rPr lang="en-US" sz="3000" dirty="0"/>
              <a:t>Bacterial population continually evolves</a:t>
            </a:r>
          </a:p>
          <a:p>
            <a:r>
              <a:rPr lang="en-US" sz="3000" dirty="0"/>
              <a:t>Process marked by successive waves of genetically distinct variants</a:t>
            </a:r>
          </a:p>
          <a:p>
            <a:r>
              <a:rPr lang="en-US" sz="3000" dirty="0"/>
              <a:t>Natural selection occurs</a:t>
            </a:r>
          </a:p>
          <a:p>
            <a:pPr marL="914400" lvl="2" indent="0">
              <a:buNone/>
            </a:pPr>
            <a:endParaRPr lang="en-US" dirty="0"/>
          </a:p>
          <a:p>
            <a:pPr lvl="2"/>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71</a:t>
            </a:fld>
            <a:endParaRPr lang="en-US"/>
          </a:p>
        </p:txBody>
      </p:sp>
    </p:spTree>
    <p:extLst>
      <p:ext uri="{BB962C8B-B14F-4D97-AF65-F5344CB8AC3E}">
        <p14:creationId xmlns:p14="http://schemas.microsoft.com/office/powerpoint/2010/main" val="19830251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rmAutofit fontScale="90000"/>
          </a:bodyPr>
          <a:lstStyle/>
          <a:p>
            <a:r>
              <a:rPr lang="en-US" dirty="0"/>
              <a:t>The Mathematics of Growth</a:t>
            </a:r>
          </a:p>
        </p:txBody>
      </p:sp>
      <p:sp>
        <p:nvSpPr>
          <p:cNvPr id="3" name="Content Placeholder 2"/>
          <p:cNvSpPr>
            <a:spLocks noGrp="1"/>
          </p:cNvSpPr>
          <p:nvPr>
            <p:ph sz="half" idx="1"/>
          </p:nvPr>
        </p:nvSpPr>
        <p:spPr>
          <a:xfrm>
            <a:off x="152400" y="762000"/>
            <a:ext cx="8839200" cy="2362200"/>
          </a:xfrm>
        </p:spPr>
        <p:txBody>
          <a:bodyPr>
            <a:normAutofit fontScale="92500" lnSpcReduction="10000"/>
          </a:bodyPr>
          <a:lstStyle/>
          <a:p>
            <a:r>
              <a:rPr lang="en-US" dirty="0"/>
              <a:t>Generation (doubling) time</a:t>
            </a:r>
          </a:p>
          <a:p>
            <a:pPr lvl="1"/>
            <a:r>
              <a:rPr lang="en-US" dirty="0"/>
              <a:t>time required for the population to double in size</a:t>
            </a:r>
          </a:p>
          <a:p>
            <a:pPr lvl="1"/>
            <a:r>
              <a:rPr lang="en-US" dirty="0"/>
              <a:t>varies depending on species of microorganism </a:t>
            </a:r>
            <a:br>
              <a:rPr lang="en-US" dirty="0"/>
            </a:br>
            <a:r>
              <a:rPr lang="en-US" dirty="0"/>
              <a:t>and environmental conditions</a:t>
            </a:r>
          </a:p>
          <a:p>
            <a:pPr lvl="1"/>
            <a:r>
              <a:rPr lang="en-US" dirty="0"/>
              <a:t>range from 10 minutes for some </a:t>
            </a:r>
          </a:p>
          <a:p>
            <a:pPr marL="457200" lvl="1" indent="0">
              <a:buNone/>
            </a:pPr>
            <a:r>
              <a:rPr lang="en-US" dirty="0"/>
              <a:t>   bacteria to days for some eukaryotes</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72</a:t>
            </a:fld>
            <a:endParaRPr lang="en-US"/>
          </a:p>
        </p:txBody>
      </p:sp>
      <p:pic>
        <p:nvPicPr>
          <p:cNvPr id="3074" name="Picture 2" descr="(left) This table shows an example of exponential growth.&#10;Headings: Time, Division Number, 2^n, Population (number of cells in the culture) (N_0 × 2^n), and log_10_N_t_.&#10;Time 0, Division 0, 2^n: 2^0 = 1, Population: 1, log_10_N_t_: 0.000&#10;Time 20 min, Division 1, 2^n: 2^1 = 2, Population: 2, log_10_N_t_: 0.301&#10;Time 40 min, Division 2, 2^n: 2^2 = 4, Population: 4, log_10_N_t_: 0.602&#10;Time 60 min, Division 3, 2^n: 2^3 = 8, Population: 8, log_10_N_t_: 0.903&#10;Time 80 min, Division 4, 2^n: 2^4 = 16, Population: 16, log_10_N_t_: 1.204&#10;&#10;(right) Four generations of growth are plotted directly and in the logarithmic form.  The log plot is a straight line, illustrating that the growth curve is exponential." title="Table 7.8 An Example of Exponential Growth Figure 7.31 Exponential Microbial Growth."/>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57199" y="2971800"/>
            <a:ext cx="8180011" cy="38507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12835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Measurement of Growth Rate </a:t>
            </a:r>
            <a:br>
              <a:rPr lang="en-US" dirty="0"/>
            </a:br>
            <a:r>
              <a:rPr lang="en-US" dirty="0"/>
              <a:t>and Generation Time</a:t>
            </a:r>
          </a:p>
        </p:txBody>
      </p:sp>
      <p:sp>
        <p:nvSpPr>
          <p:cNvPr id="3" name="Slide Number Placeholder 2"/>
          <p:cNvSpPr>
            <a:spLocks noGrp="1"/>
          </p:cNvSpPr>
          <p:nvPr>
            <p:ph type="sldNum" sz="quarter" idx="12"/>
          </p:nvPr>
        </p:nvSpPr>
        <p:spPr/>
        <p:txBody>
          <a:bodyPr/>
          <a:lstStyle/>
          <a:p>
            <a:fld id="{3B1A82D2-719A-4A87-BECB-D74482819C19}" type="slidenum">
              <a:rPr lang="en-US" smtClean="0"/>
              <a:pPr/>
              <a:t>73</a:t>
            </a:fld>
            <a:endParaRPr lang="en-US"/>
          </a:p>
        </p:txBody>
      </p:sp>
      <p:pic>
        <p:nvPicPr>
          <p:cNvPr id="6" name="Content Placeholder 5" descr="Calculation of the growth rate constant:&#10;Let N_0_ = the initial population number&#10;N_t_ = the population at time t&#10;n = the number of generations in time t&#10;For populations reproducing by binary fission N_t_ = N_0_ x 2^n.&#10;Solving for n, the number of generations, where all logarithms are to the base 10, log N_t_ = log N_0_ + n * log 2, and n = (log N_t_ - log N_0_)/log 2 = (log N_t_ - log N_0_)/0.301.&#10;The growth rate constant (k) is the number of generations per unit time (n/t). Thus k = (n/t) = (log N_t_ - log N_0_)/0.301t.&#10;&#10;Calculation of generation (doubling) time:&#10;If a population doubles, then N_t_ = 2N_0_.&#10;Substitute 2N_0_ into the growth rate constant equation and solve for k = (log (2N_0_) - log N_0_)/0.301g = (log 2 + log N_0_ - log N_0_)/0.301g.&#10;k = 1/g&#10;The generation time is the reciprocal of the growth rate constant.&#10;g = 1/k" title="Figure 7.32 Calculation of the Growth Rate Constant and Generation Time."/>
          <p:cNvPicPr>
            <a:picLocks noGrp="1" noChangeAspect="1" noChangeArrowheads="1"/>
          </p:cNvPicPr>
          <p:nvPr>
            <p:ph idx="1"/>
          </p:nvPr>
        </p:nvPicPr>
        <p:blipFill>
          <a:blip r:embed="rId2" cstate="print"/>
          <a:stretch>
            <a:fillRect/>
          </a:stretch>
        </p:blipFill>
        <p:spPr bwMode="auto">
          <a:xfrm>
            <a:off x="152400" y="1752600"/>
            <a:ext cx="8785457"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8316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dirty="0"/>
              <a:t>Outcomes of Gen. Time Calculations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74</a:t>
            </a:fld>
            <a:endParaRPr lang="en-US"/>
          </a:p>
        </p:txBody>
      </p:sp>
      <p:pic>
        <p:nvPicPr>
          <p:cNvPr id="8" name="Picture 5" descr="The generation time can be determined from a microbial growth curve. The population data are plotted with the logarithmic axis used for the number of cells. The time to double the population number is then read directly from the plot. The log of the population number can also be plotted against time on regular axes." title="Figure 7.33 Generation Time Determination."/>
          <p:cNvPicPr>
            <a:picLocks noGrp="1" noChangeAspect="1" noChangeArrowheads="1"/>
          </p:cNvPicPr>
          <p:nvPr>
            <p:ph sz="half" idx="1"/>
          </p:nvPr>
        </p:nvPicPr>
        <p:blipFill>
          <a:blip r:embed="rId2" cstate="print"/>
          <a:stretch>
            <a:fillRect/>
          </a:stretch>
        </p:blipFill>
        <p:spPr bwMode="auto">
          <a:xfrm>
            <a:off x="533400" y="925006"/>
            <a:ext cx="3822873" cy="5780594"/>
          </a:xfrm>
          <a:prstGeom prst="rect">
            <a:avLst/>
          </a:prstGeom>
          <a:noFill/>
          <a:extLst>
            <a:ext uri="{909E8E84-426E-40DD-AFC4-6F175D3DCCD1}">
              <a14:hiddenFill xmlns:a14="http://schemas.microsoft.com/office/drawing/2010/main">
                <a:solidFill>
                  <a:srgbClr val="FFFFFF"/>
                </a:solidFill>
              </a14:hiddenFill>
            </a:ext>
          </a:extLst>
        </p:spPr>
      </p:pic>
      <p:pic>
        <p:nvPicPr>
          <p:cNvPr id="9" name="Content Placeholder 8" descr="This table lists example microorganism along with their incubation temperature in degrees C and their generation time in hours.&#10;&#10;Bacteria&#10;Escherichia coli, 40 degrees C, 0.35 hours&#10;Bacillus subtilis, 40, 0.43&#10;Staphylococcus aureus, 37, 0.47&#10;Pseudomonas aeruginosa, 37, 0.58&#10;Clostridium botulinum, 37, 0.58&#10;Mycobacterium tuberculosis, 37, ≈12&#10;Treponema pallidum, 37, 33&#10;&#10;Protists&#10;Tetrahymena geleii, 24, 2.2–4.2&#10;Chlorella pyrenoidosa, 25, 7.75&#10;Paramecium caudatum, 26, 10.4&#10;Euglena gracilis, 25, 10.9&#10;Giardia lamblia, 37, 18&#10;Ceratium tripos, 20, 82.8&#10;&#10;Fungi      &#10;Saccharomyces cerevisiae, 30, 2&#10;Monilinia fructicola, 25, 30" title="Table 7.9 Examples of Generation Times"/>
          <p:cNvPicPr>
            <a:picLocks noGrp="1" noChangeAspect="1" noChangeArrowheads="1"/>
          </p:cNvPicPr>
          <p:nvPr>
            <p:ph sz="half" idx="2"/>
          </p:nvPr>
        </p:nvPicPr>
        <p:blipFill>
          <a:blip r:embed="rId3" cstate="print"/>
          <a:stretch>
            <a:fillRect/>
          </a:stretch>
        </p:blipFill>
        <p:spPr bwMode="auto">
          <a:xfrm>
            <a:off x="4884159" y="914400"/>
            <a:ext cx="3493892" cy="586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3616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7.8 Microbial Population Size Can Be Measured Directly or Indirectly</a:t>
            </a:r>
          </a:p>
        </p:txBody>
      </p:sp>
      <p:sp>
        <p:nvSpPr>
          <p:cNvPr id="3" name="Content Placeholder 2"/>
          <p:cNvSpPr>
            <a:spLocks noGrp="1"/>
          </p:cNvSpPr>
          <p:nvPr>
            <p:ph idx="1"/>
          </p:nvPr>
        </p:nvSpPr>
        <p:spPr>
          <a:xfrm>
            <a:off x="457200" y="1951037"/>
            <a:ext cx="8229600" cy="4525963"/>
          </a:xfrm>
        </p:spPr>
        <p:txBody>
          <a:bodyPr>
            <a:normAutofit fontScale="92500"/>
          </a:bodyPr>
          <a:lstStyle/>
          <a:p>
            <a:pPr marL="514350" indent="-514350">
              <a:buFont typeface="+mj-lt"/>
              <a:buAutoNum type="arabicPeriod"/>
            </a:pPr>
            <a:r>
              <a:rPr lang="en-US" dirty="0"/>
              <a:t>Evaluate direct cell counts, viable counting methods, and cell mass measurements for determining population size</a:t>
            </a:r>
            <a:br>
              <a:rPr lang="en-US" dirty="0"/>
            </a:br>
            <a:endParaRPr lang="en-US" dirty="0"/>
          </a:p>
          <a:p>
            <a:pPr marL="514350" indent="-514350">
              <a:buFont typeface="+mj-lt"/>
              <a:buAutoNum type="arabicPeriod"/>
            </a:pPr>
            <a:r>
              <a:rPr lang="en-US" dirty="0"/>
              <a:t>Explain why plate count results are expressed in terms of colony forming units (CFUs)</a:t>
            </a:r>
            <a:br>
              <a:rPr lang="en-US" dirty="0"/>
            </a:br>
            <a:endParaRPr lang="en-US" dirty="0"/>
          </a:p>
          <a:p>
            <a:pPr marL="514350" indent="-514350">
              <a:buFont typeface="+mj-lt"/>
              <a:buAutoNum type="arabicPeriod"/>
            </a:pPr>
            <a:r>
              <a:rPr lang="en-US" dirty="0"/>
              <a:t>Design appropriate approaches for measuring the population size of different types of samples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75</a:t>
            </a:fld>
            <a:endParaRPr lang="en-US" dirty="0"/>
          </a:p>
        </p:txBody>
      </p:sp>
    </p:spTree>
    <p:extLst>
      <p:ext uri="{BB962C8B-B14F-4D97-AF65-F5344CB8AC3E}">
        <p14:creationId xmlns:p14="http://schemas.microsoft.com/office/powerpoint/2010/main" val="17629936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US" sz="3000" dirty="0"/>
              <a:t>Measurement of Microbial Growth and Direct Measurement of Cell Numbers</a:t>
            </a:r>
            <a:br>
              <a:rPr lang="en-US" sz="3000" dirty="0"/>
            </a:br>
            <a:endParaRPr lang="en-US" sz="3000" dirty="0"/>
          </a:p>
        </p:txBody>
      </p:sp>
      <p:sp>
        <p:nvSpPr>
          <p:cNvPr id="3" name="Content Placeholder 2"/>
          <p:cNvSpPr>
            <a:spLocks noGrp="1"/>
          </p:cNvSpPr>
          <p:nvPr>
            <p:ph idx="1"/>
          </p:nvPr>
        </p:nvSpPr>
        <p:spPr>
          <a:xfrm>
            <a:off x="457200" y="1066800"/>
            <a:ext cx="8229600" cy="5791200"/>
          </a:xfrm>
        </p:spPr>
        <p:txBody>
          <a:bodyPr>
            <a:normAutofit/>
          </a:bodyPr>
          <a:lstStyle/>
          <a:p>
            <a:pPr marL="0" indent="0" algn="ctr">
              <a:buNone/>
            </a:pPr>
            <a:r>
              <a:rPr lang="en-US" u="sng" dirty="0"/>
              <a:t>Measurement of Microbial Growth</a:t>
            </a:r>
          </a:p>
          <a:p>
            <a:r>
              <a:rPr lang="en-US" dirty="0"/>
              <a:t>Can measure changes in number of cells in a population</a:t>
            </a:r>
          </a:p>
          <a:p>
            <a:r>
              <a:rPr lang="en-US" dirty="0"/>
              <a:t>Can measure changes in mass of population</a:t>
            </a:r>
          </a:p>
          <a:p>
            <a:endParaRPr lang="en-US" dirty="0"/>
          </a:p>
          <a:p>
            <a:pPr marL="0" indent="0" algn="ctr">
              <a:buNone/>
            </a:pPr>
            <a:r>
              <a:rPr lang="en-US" u="sng" dirty="0"/>
              <a:t>Direct Measurement of Cell Numbers</a:t>
            </a:r>
          </a:p>
          <a:p>
            <a:r>
              <a:rPr lang="en-US" dirty="0"/>
              <a:t>Direct cell counts</a:t>
            </a:r>
          </a:p>
          <a:p>
            <a:pPr lvl="1"/>
            <a:r>
              <a:rPr lang="en-US" dirty="0"/>
              <a:t>counting chambers</a:t>
            </a:r>
          </a:p>
          <a:p>
            <a:pPr lvl="1"/>
            <a:r>
              <a:rPr lang="en-US" dirty="0"/>
              <a:t>electronic counters – flow cytometry</a:t>
            </a:r>
          </a:p>
          <a:p>
            <a:pPr lvl="1"/>
            <a:r>
              <a:rPr lang="en-US" dirty="0"/>
              <a:t>on membrane filters</a:t>
            </a:r>
          </a:p>
          <a:p>
            <a:pPr marL="0" indent="0" algn="ctr">
              <a:buNone/>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76</a:t>
            </a:fld>
            <a:endParaRPr lang="en-US"/>
          </a:p>
        </p:txBody>
      </p:sp>
    </p:spTree>
    <p:extLst>
      <p:ext uri="{BB962C8B-B14F-4D97-AF65-F5344CB8AC3E}">
        <p14:creationId xmlns:p14="http://schemas.microsoft.com/office/powerpoint/2010/main" val="19131707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4786"/>
            <a:ext cx="3810000" cy="1143000"/>
          </a:xfrm>
        </p:spPr>
        <p:txBody>
          <a:bodyPr>
            <a:normAutofit fontScale="90000"/>
          </a:bodyPr>
          <a:lstStyle/>
          <a:p>
            <a:r>
              <a:rPr lang="en-US" dirty="0"/>
              <a:t>Counting Chambers</a:t>
            </a:r>
          </a:p>
        </p:txBody>
      </p:sp>
      <p:sp>
        <p:nvSpPr>
          <p:cNvPr id="6" name="Content Placeholder 5"/>
          <p:cNvSpPr>
            <a:spLocks noGrp="1"/>
          </p:cNvSpPr>
          <p:nvPr>
            <p:ph sz="half" idx="1"/>
          </p:nvPr>
        </p:nvSpPr>
        <p:spPr>
          <a:xfrm>
            <a:off x="76200" y="1524000"/>
            <a:ext cx="4495800" cy="5101354"/>
          </a:xfrm>
        </p:spPr>
        <p:txBody>
          <a:bodyPr/>
          <a:lstStyle/>
          <a:p>
            <a:pPr>
              <a:lnSpc>
                <a:spcPct val="90000"/>
              </a:lnSpc>
            </a:pPr>
            <a:r>
              <a:rPr lang="en-US" dirty="0"/>
              <a:t>Easy, inexpensive, and quick</a:t>
            </a:r>
          </a:p>
          <a:p>
            <a:pPr marL="0" indent="0">
              <a:lnSpc>
                <a:spcPct val="90000"/>
              </a:lnSpc>
              <a:buNone/>
            </a:pPr>
            <a:endParaRPr lang="en-US" dirty="0"/>
          </a:p>
          <a:p>
            <a:pPr>
              <a:lnSpc>
                <a:spcPct val="90000"/>
              </a:lnSpc>
            </a:pPr>
            <a:r>
              <a:rPr lang="en-US" dirty="0"/>
              <a:t>Useful for counting both eukaryotes and prokaryotes</a:t>
            </a:r>
          </a:p>
          <a:p>
            <a:pPr marL="0" indent="0">
              <a:lnSpc>
                <a:spcPct val="90000"/>
              </a:lnSpc>
              <a:buNone/>
            </a:pPr>
            <a:endParaRPr lang="en-US" dirty="0"/>
          </a:p>
          <a:p>
            <a:pPr>
              <a:lnSpc>
                <a:spcPct val="90000"/>
              </a:lnSpc>
            </a:pPr>
            <a:r>
              <a:rPr lang="en-US" dirty="0"/>
              <a:t>Cannot distinguish living from dead cells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77</a:t>
            </a:fld>
            <a:endParaRPr lang="en-US"/>
          </a:p>
        </p:txBody>
      </p:sp>
      <p:pic>
        <p:nvPicPr>
          <p:cNvPr id="8" name="Picture 11" descr="(Top) Side view of the chamber showing the cover glass and the space beneath it that holds a bacterial suspension. (Middle) A top view of the chamber. The grid is located in the center of the slide. (Bottom) An enlarged view of the grid. The bacteria in several of the central squares are counted, usually at ×400 to ×500 magnification. The average number of bacteria in these squares is used to calculate the concentration of cells in the original sample." title="Figure 7.34 The Petroff-Hausser Counting Chamber."/>
          <p:cNvPicPr>
            <a:picLocks noGrp="1" noChangeAspect="1" noChangeArrowheads="1"/>
          </p:cNvPicPr>
          <p:nvPr>
            <p:ph sz="half" idx="2"/>
          </p:nvPr>
        </p:nvPicPr>
        <p:blipFill>
          <a:blip r:embed="rId2" cstate="print"/>
          <a:stretch>
            <a:fillRect/>
          </a:stretch>
        </p:blipFill>
        <p:spPr bwMode="auto">
          <a:xfrm>
            <a:off x="5257800" y="152400"/>
            <a:ext cx="3042907" cy="6605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5517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Counts on Membrane Filters</a:t>
            </a:r>
          </a:p>
        </p:txBody>
      </p:sp>
      <p:sp>
        <p:nvSpPr>
          <p:cNvPr id="3" name="Content Placeholder 2"/>
          <p:cNvSpPr>
            <a:spLocks noGrp="1"/>
          </p:cNvSpPr>
          <p:nvPr>
            <p:ph idx="1"/>
          </p:nvPr>
        </p:nvSpPr>
        <p:spPr/>
        <p:txBody>
          <a:bodyPr>
            <a:normAutofit lnSpcReduction="10000"/>
          </a:bodyPr>
          <a:lstStyle/>
          <a:p>
            <a:r>
              <a:rPr lang="en-US" dirty="0"/>
              <a:t>Cells filtered through special membrane that provides dark background for observing cells</a:t>
            </a:r>
            <a:br>
              <a:rPr lang="en-US" dirty="0"/>
            </a:br>
            <a:endParaRPr lang="en-US" dirty="0"/>
          </a:p>
          <a:p>
            <a:r>
              <a:rPr lang="en-US" dirty="0"/>
              <a:t>Cells are stained with fluorescent dyes</a:t>
            </a:r>
            <a:br>
              <a:rPr lang="en-US" dirty="0"/>
            </a:br>
            <a:endParaRPr lang="en-US" dirty="0"/>
          </a:p>
          <a:p>
            <a:r>
              <a:rPr lang="en-US" dirty="0"/>
              <a:t>Useful for counting bacteria</a:t>
            </a:r>
            <a:br>
              <a:rPr lang="en-US" dirty="0"/>
            </a:br>
            <a:endParaRPr lang="en-US" dirty="0"/>
          </a:p>
          <a:p>
            <a:r>
              <a:rPr lang="en-US" dirty="0"/>
              <a:t>With certain dyes, can distinguish living from dead cells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78</a:t>
            </a:fld>
            <a:endParaRPr lang="en-US"/>
          </a:p>
        </p:txBody>
      </p:sp>
    </p:spTree>
    <p:extLst>
      <p:ext uri="{BB962C8B-B14F-4D97-AF65-F5344CB8AC3E}">
        <p14:creationId xmlns:p14="http://schemas.microsoft.com/office/powerpoint/2010/main" val="25775517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a:t>Flow Cytometry</a:t>
            </a:r>
            <a:br>
              <a:rPr lang="en-US" dirty="0"/>
            </a:br>
            <a:endParaRPr lang="en-US" dirty="0"/>
          </a:p>
        </p:txBody>
      </p:sp>
      <p:sp>
        <p:nvSpPr>
          <p:cNvPr id="8" name="Content Placeholder 7"/>
          <p:cNvSpPr>
            <a:spLocks noGrp="1"/>
          </p:cNvSpPr>
          <p:nvPr>
            <p:ph idx="1"/>
          </p:nvPr>
        </p:nvSpPr>
        <p:spPr>
          <a:xfrm>
            <a:off x="457200" y="1600200"/>
            <a:ext cx="8229600" cy="4800600"/>
          </a:xfrm>
        </p:spPr>
        <p:txBody>
          <a:bodyPr>
            <a:normAutofit/>
          </a:bodyPr>
          <a:lstStyle/>
          <a:p>
            <a:pPr>
              <a:lnSpc>
                <a:spcPct val="90000"/>
              </a:lnSpc>
            </a:pPr>
            <a:r>
              <a:rPr lang="en-US" dirty="0"/>
              <a:t>Microbial suspension forced through small orifice with a laser light beam</a:t>
            </a:r>
            <a:br>
              <a:rPr lang="en-US" dirty="0"/>
            </a:br>
            <a:endParaRPr lang="en-US" dirty="0"/>
          </a:p>
          <a:p>
            <a:pPr>
              <a:lnSpc>
                <a:spcPct val="90000"/>
              </a:lnSpc>
            </a:pPr>
            <a:r>
              <a:rPr lang="en-US" dirty="0"/>
              <a:t>Movement of microbe through orifice impacts electric current that flows through orifice</a:t>
            </a:r>
            <a:br>
              <a:rPr lang="en-US" dirty="0"/>
            </a:br>
            <a:endParaRPr lang="en-US" dirty="0"/>
          </a:p>
          <a:p>
            <a:pPr>
              <a:lnSpc>
                <a:spcPct val="90000"/>
              </a:lnSpc>
            </a:pPr>
            <a:r>
              <a:rPr lang="en-US" dirty="0"/>
              <a:t>Instances of disruption of current are counted</a:t>
            </a:r>
            <a:br>
              <a:rPr lang="en-US" dirty="0"/>
            </a:br>
            <a:endParaRPr lang="en-US" dirty="0"/>
          </a:p>
          <a:p>
            <a:pPr>
              <a:lnSpc>
                <a:spcPct val="90000"/>
              </a:lnSpc>
            </a:pPr>
            <a:r>
              <a:rPr lang="en-US" dirty="0"/>
              <a:t>Specific antibodies can be used to determine size and internal complexity</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79</a:t>
            </a:fld>
            <a:endParaRPr lang="en-US"/>
          </a:p>
        </p:txBody>
      </p:sp>
    </p:spTree>
    <p:extLst>
      <p:ext uri="{BB962C8B-B14F-4D97-AF65-F5344CB8AC3E}">
        <p14:creationId xmlns:p14="http://schemas.microsoft.com/office/powerpoint/2010/main" val="20707570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3810000" cy="1143000"/>
          </a:xfrm>
        </p:spPr>
        <p:txBody>
          <a:bodyPr>
            <a:normAutofit fontScale="90000"/>
          </a:bodyPr>
          <a:lstStyle/>
          <a:p>
            <a:r>
              <a:rPr lang="en-US" dirty="0"/>
              <a:t>Viable counting: </a:t>
            </a:r>
            <a:br>
              <a:rPr lang="en-US" dirty="0"/>
            </a:br>
            <a:r>
              <a:rPr lang="en-US" dirty="0"/>
              <a:t>Alive or dead?</a:t>
            </a:r>
          </a:p>
        </p:txBody>
      </p:sp>
      <p:sp>
        <p:nvSpPr>
          <p:cNvPr id="6" name="Content Placeholder 5"/>
          <p:cNvSpPr>
            <a:spLocks noGrp="1"/>
          </p:cNvSpPr>
          <p:nvPr>
            <p:ph sz="half" idx="1"/>
          </p:nvPr>
        </p:nvSpPr>
        <p:spPr>
          <a:xfrm>
            <a:off x="152400" y="1676400"/>
            <a:ext cx="4343400" cy="5049702"/>
          </a:xfrm>
        </p:spPr>
        <p:txBody>
          <a:bodyPr/>
          <a:lstStyle/>
          <a:p>
            <a:r>
              <a:rPr lang="en-US" dirty="0"/>
              <a:t>Whether or not a cell is alive or dead isn’t always clear cut in microbiology</a:t>
            </a:r>
            <a:br>
              <a:rPr lang="en-US" dirty="0"/>
            </a:br>
            <a:endParaRPr lang="en-US" dirty="0"/>
          </a:p>
          <a:p>
            <a:pPr lvl="1"/>
            <a:r>
              <a:rPr lang="en-US" dirty="0"/>
              <a:t>cells can exist in a variety of states between ‘fully viable’ and ‘actually dead’</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80</a:t>
            </a:fld>
            <a:endParaRPr lang="en-US"/>
          </a:p>
        </p:txBody>
      </p:sp>
      <p:pic>
        <p:nvPicPr>
          <p:cNvPr id="8" name="Picture 2" descr="Microbiologists have traditionally defined microbes as being dead when they could not be cultured. However, they have come to realize that cells may be inactive or damaged and therefore unable to reproduce temporarily. With time and appropriate conditions, the cells may recover and begin to reproduce. Various criteria have been used to establish these states; however, microbiologists are still unable to define the point at which a microbe is truly dead and cannot be resuscitated.&#10;&#10;This figure describes states that cells can exist in, between alive and dead: actively metabolizing cell; cell with reduced metabolic activity; some metabolic activity and plasma membrane intact, but RNA content is reduced; plasma membrane intact, but no detectable metabolic activity; extensive damage to plasma membrane; cellular DNA degraded; and cell fragments." title="Figure 7.35 Alive or Dead?"/>
          <p:cNvPicPr>
            <a:picLocks noGrp="1" noChangeAspect="1" noChangeArrowheads="1"/>
          </p:cNvPicPr>
          <p:nvPr>
            <p:ph sz="half" idx="2"/>
          </p:nvPr>
        </p:nvPicPr>
        <p:blipFill>
          <a:blip r:embed="rId2" cstate="print"/>
          <a:stretch>
            <a:fillRect/>
          </a:stretch>
        </p:blipFill>
        <p:spPr bwMode="auto">
          <a:xfrm>
            <a:off x="5638800" y="152400"/>
            <a:ext cx="2348721" cy="6602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5517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Viable Counting Methods – Spread/Pour Plates</a:t>
            </a:r>
          </a:p>
        </p:txBody>
      </p:sp>
      <p:sp>
        <p:nvSpPr>
          <p:cNvPr id="3" name="Content Placeholder 2"/>
          <p:cNvSpPr>
            <a:spLocks noGrp="1"/>
          </p:cNvSpPr>
          <p:nvPr>
            <p:ph idx="1"/>
          </p:nvPr>
        </p:nvSpPr>
        <p:spPr/>
        <p:txBody>
          <a:bodyPr>
            <a:normAutofit fontScale="92500"/>
          </a:bodyPr>
          <a:lstStyle/>
          <a:p>
            <a:r>
              <a:rPr lang="en-US" dirty="0"/>
              <a:t>Spread and pour plate techniques</a:t>
            </a:r>
            <a:br>
              <a:rPr lang="en-US" dirty="0"/>
            </a:br>
            <a:endParaRPr lang="en-US" dirty="0"/>
          </a:p>
          <a:p>
            <a:pPr lvl="1"/>
            <a:r>
              <a:rPr lang="en-US" dirty="0"/>
              <a:t>diluted sample of bacteria is spread over solid agar surface or mixed with agar and poured into Petri plate</a:t>
            </a:r>
            <a:br>
              <a:rPr lang="en-US" dirty="0"/>
            </a:br>
            <a:endParaRPr lang="en-US" dirty="0"/>
          </a:p>
          <a:p>
            <a:pPr lvl="1"/>
            <a:r>
              <a:rPr lang="en-US" dirty="0"/>
              <a:t>after incubation the numbers of organisms are determined by counting the number of colonies multiplied by the dilution factor</a:t>
            </a:r>
            <a:br>
              <a:rPr lang="en-US" dirty="0"/>
            </a:br>
            <a:endParaRPr lang="en-US" dirty="0"/>
          </a:p>
          <a:p>
            <a:pPr lvl="1"/>
            <a:r>
              <a:rPr lang="en-US" dirty="0"/>
              <a:t>results expressed as colony forming units (CFU)</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81</a:t>
            </a:fld>
            <a:endParaRPr lang="en-US"/>
          </a:p>
        </p:txBody>
      </p:sp>
    </p:spTree>
    <p:extLst>
      <p:ext uri="{BB962C8B-B14F-4D97-AF65-F5344CB8AC3E}">
        <p14:creationId xmlns:p14="http://schemas.microsoft.com/office/powerpoint/2010/main" val="25775517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eft) Membranes with different pore sizes are used to trap different microorganisms. Incubation times for membranes also vary with the medium and microorganism.&#10;&#10;Steps:&#10;1. Place a membrane filter on a filter support.&#10;2. Water sample filtered through membrane filter (0.45 micrometers).&#10;3. Membrane filter removed and placed in plate containing the appropriate medium.&#10;4. Incubation for 24 hours.&#10;5. Visualization of typical colonies.&#10;&#10;(right) A sample was filtered using a membrane filter that did not let bacterial cells pass through.  The filter was then placed on a culture medium and incubated.  The resulting colonies are easily counted using the grid.  The resulting value is used to determine colony-forming units in the sample." title="Figures 7.36 and 7.37 The Membrane Filtration Procedure and Colonies on a Membrane Filte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17142" y="3537055"/>
            <a:ext cx="8874458" cy="31685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457200" y="122238"/>
            <a:ext cx="8229600" cy="792162"/>
          </a:xfrm>
        </p:spPr>
        <p:txBody>
          <a:bodyPr>
            <a:normAutofit fontScale="90000"/>
          </a:bodyPr>
          <a:lstStyle/>
          <a:p>
            <a:r>
              <a:rPr lang="en-US" dirty="0"/>
              <a:t>Viable Counting Methods – Membrane Filter Method</a:t>
            </a:r>
          </a:p>
        </p:txBody>
      </p:sp>
      <p:sp>
        <p:nvSpPr>
          <p:cNvPr id="3" name="Content Placeholder 2"/>
          <p:cNvSpPr>
            <a:spLocks noGrp="1"/>
          </p:cNvSpPr>
          <p:nvPr>
            <p:ph sz="half" idx="1"/>
          </p:nvPr>
        </p:nvSpPr>
        <p:spPr>
          <a:xfrm>
            <a:off x="152400" y="1295400"/>
            <a:ext cx="8839200" cy="2362200"/>
          </a:xfrm>
        </p:spPr>
        <p:txBody>
          <a:bodyPr vert="horz" lIns="91440" tIns="45720" rIns="91440" bIns="45720" rtlCol="0" anchor="t">
            <a:normAutofit fontScale="92500"/>
          </a:bodyPr>
          <a:lstStyle/>
          <a:p>
            <a:r>
              <a:rPr lang="en-US" dirty="0"/>
              <a:t>Membrane filter (0.2-0.45 micrometer pore size) technique</a:t>
            </a:r>
          </a:p>
          <a:p>
            <a:pPr lvl="1"/>
            <a:r>
              <a:rPr lang="en-US" dirty="0"/>
              <a:t>bacteria from aquatic samples are trapped on membranes </a:t>
            </a:r>
          </a:p>
          <a:p>
            <a:pPr lvl="1"/>
            <a:r>
              <a:rPr lang="en-US" dirty="0"/>
              <a:t>membrane soaked in culture media</a:t>
            </a:r>
          </a:p>
          <a:p>
            <a:pPr lvl="1"/>
            <a:r>
              <a:rPr lang="en-US" dirty="0"/>
              <a:t>colonies grow on membrane </a:t>
            </a:r>
          </a:p>
          <a:p>
            <a:pPr lvl="1"/>
            <a:r>
              <a:rPr lang="en-US" dirty="0"/>
              <a:t>colony count determines # of bacteria in sample</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82</a:t>
            </a:fld>
            <a:endParaRPr lang="en-US"/>
          </a:p>
        </p:txBody>
      </p:sp>
    </p:spTree>
    <p:extLst>
      <p:ext uri="{BB962C8B-B14F-4D97-AF65-F5344CB8AC3E}">
        <p14:creationId xmlns:p14="http://schemas.microsoft.com/office/powerpoint/2010/main" val="22600456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Viable Counting Methods – MPN Method</a:t>
            </a:r>
          </a:p>
        </p:txBody>
      </p:sp>
      <p:sp>
        <p:nvSpPr>
          <p:cNvPr id="3" name="Content Placeholder 2"/>
          <p:cNvSpPr>
            <a:spLocks noGrp="1"/>
          </p:cNvSpPr>
          <p:nvPr>
            <p:ph idx="1"/>
          </p:nvPr>
        </p:nvSpPr>
        <p:spPr/>
        <p:txBody>
          <a:bodyPr/>
          <a:lstStyle/>
          <a:p>
            <a:r>
              <a:rPr lang="en-US" dirty="0"/>
              <a:t>If microbe cannot be cultured on plate media</a:t>
            </a:r>
          </a:p>
          <a:p>
            <a:pPr marL="0" indent="0">
              <a:buNone/>
            </a:pPr>
            <a:endParaRPr lang="en-US" dirty="0"/>
          </a:p>
          <a:p>
            <a:r>
              <a:rPr lang="en-US" dirty="0"/>
              <a:t>Dilutions are made and added to suitable media</a:t>
            </a:r>
          </a:p>
          <a:p>
            <a:pPr marL="0" indent="0">
              <a:buNone/>
            </a:pPr>
            <a:endParaRPr lang="en-US" dirty="0"/>
          </a:p>
          <a:p>
            <a:r>
              <a:rPr lang="en-US" dirty="0"/>
              <a:t>Turbidity determined to yield the most probable number (MPN)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83</a:t>
            </a:fld>
            <a:endParaRPr lang="en-US"/>
          </a:p>
        </p:txBody>
      </p:sp>
    </p:spTree>
    <p:extLst>
      <p:ext uri="{BB962C8B-B14F-4D97-AF65-F5344CB8AC3E}">
        <p14:creationId xmlns:p14="http://schemas.microsoft.com/office/powerpoint/2010/main" val="30618926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a:t>Measurement of Cell Mass</a:t>
            </a:r>
          </a:p>
        </p:txBody>
      </p:sp>
      <p:sp>
        <p:nvSpPr>
          <p:cNvPr id="6" name="Content Placeholder 5"/>
          <p:cNvSpPr>
            <a:spLocks noGrp="1"/>
          </p:cNvSpPr>
          <p:nvPr>
            <p:ph sz="half" idx="1"/>
          </p:nvPr>
        </p:nvSpPr>
        <p:spPr>
          <a:xfrm>
            <a:off x="76200" y="1371600"/>
            <a:ext cx="4419600" cy="5334000"/>
          </a:xfrm>
        </p:spPr>
        <p:txBody>
          <a:bodyPr>
            <a:normAutofit fontScale="92500" lnSpcReduction="20000"/>
          </a:bodyPr>
          <a:lstStyle/>
          <a:p>
            <a:r>
              <a:rPr lang="en-US" dirty="0"/>
              <a:t>Dry weight</a:t>
            </a:r>
          </a:p>
          <a:p>
            <a:pPr lvl="1"/>
            <a:r>
              <a:rPr lang="en-US" dirty="0"/>
              <a:t>time consuming and not very sensitive</a:t>
            </a:r>
            <a:br>
              <a:rPr lang="en-US" dirty="0"/>
            </a:br>
            <a:endParaRPr lang="en-US" dirty="0"/>
          </a:p>
          <a:p>
            <a:r>
              <a:rPr lang="en-US" dirty="0"/>
              <a:t>Quantity of a particular cell constituent</a:t>
            </a:r>
          </a:p>
          <a:p>
            <a:pPr lvl="1"/>
            <a:r>
              <a:rPr lang="en-US" dirty="0"/>
              <a:t>e.g., protein, DNA, ATP, </a:t>
            </a:r>
            <a:br>
              <a:rPr lang="en-US" dirty="0"/>
            </a:br>
            <a:r>
              <a:rPr lang="en-US" dirty="0"/>
              <a:t>or chlorophyll</a:t>
            </a:r>
          </a:p>
          <a:p>
            <a:pPr lvl="1"/>
            <a:r>
              <a:rPr lang="en-US" dirty="0"/>
              <a:t>useful if amount of substance in </a:t>
            </a:r>
          </a:p>
          <a:p>
            <a:pPr marL="457200" lvl="1" indent="0">
              <a:buNone/>
            </a:pPr>
            <a:r>
              <a:rPr lang="en-US" dirty="0"/>
              <a:t>   each cell is constant</a:t>
            </a:r>
            <a:br>
              <a:rPr lang="en-US" dirty="0"/>
            </a:br>
            <a:endParaRPr lang="en-US" dirty="0"/>
          </a:p>
          <a:p>
            <a:r>
              <a:rPr lang="en-US" dirty="0" err="1"/>
              <a:t>Turbidometric</a:t>
            </a:r>
            <a:r>
              <a:rPr lang="en-US" dirty="0"/>
              <a:t> measures (light </a:t>
            </a:r>
          </a:p>
          <a:p>
            <a:pPr marL="0" indent="0">
              <a:buNone/>
            </a:pPr>
            <a:r>
              <a:rPr lang="en-US" dirty="0"/>
              <a:t>   scattering)</a:t>
            </a:r>
          </a:p>
          <a:p>
            <a:pPr lvl="1"/>
            <a:r>
              <a:rPr lang="en-US" dirty="0"/>
              <a:t>quick, easy, and sensitive</a:t>
            </a:r>
          </a:p>
          <a:p>
            <a:endParaRPr lang="en-US" dirty="0"/>
          </a:p>
        </p:txBody>
      </p:sp>
      <p:sp>
        <p:nvSpPr>
          <p:cNvPr id="4" name="Slide Number Placeholder 3"/>
          <p:cNvSpPr>
            <a:spLocks noGrp="1"/>
          </p:cNvSpPr>
          <p:nvPr>
            <p:ph type="sldNum" sz="quarter" idx="12"/>
          </p:nvPr>
        </p:nvSpPr>
        <p:spPr>
          <a:xfrm>
            <a:off x="6858000" y="6416675"/>
            <a:ext cx="2133600" cy="365125"/>
          </a:xfrm>
        </p:spPr>
        <p:txBody>
          <a:bodyPr/>
          <a:lstStyle/>
          <a:p>
            <a:fld id="{3B1A82D2-719A-4A87-BECB-D74482819C19}" type="slidenum">
              <a:rPr lang="en-US" smtClean="0"/>
              <a:pPr/>
              <a:t>84</a:t>
            </a:fld>
            <a:endParaRPr lang="en-US" dirty="0"/>
          </a:p>
        </p:txBody>
      </p:sp>
      <p:pic>
        <p:nvPicPr>
          <p:cNvPr id="8" name="Picture 5" descr="Determination of microbial mass by measurement of light absorption. As the population and turbidity increase, more light is scattered and the absorbance reading given by the spectrophotometer increases." title="Figure 7.38 Turbidity and Microbial Mass Measurement."/>
          <p:cNvPicPr>
            <a:picLocks noGrp="1" noChangeAspect="1" noChangeArrowheads="1"/>
          </p:cNvPicPr>
          <p:nvPr>
            <p:ph sz="half" idx="2"/>
          </p:nvPr>
        </p:nvPicPr>
        <p:blipFill>
          <a:blip r:embed="rId2" cstate="print"/>
          <a:stretch>
            <a:fillRect/>
          </a:stretch>
        </p:blipFill>
        <p:spPr bwMode="auto">
          <a:xfrm>
            <a:off x="4419600" y="1455492"/>
            <a:ext cx="4688247" cy="5021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10903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7.9 </a:t>
            </a:r>
            <a:r>
              <a:rPr lang="en-US" sz="3600" dirty="0" err="1"/>
              <a:t>Chemostats</a:t>
            </a:r>
            <a:r>
              <a:rPr lang="en-US" sz="3600" dirty="0"/>
              <a:t> and </a:t>
            </a:r>
            <a:r>
              <a:rPr lang="en-US" sz="3600" dirty="0" err="1"/>
              <a:t>Turbidostats</a:t>
            </a:r>
            <a:r>
              <a:rPr lang="en-US" sz="3600" dirty="0"/>
              <a:t> Are Used for Continuous Culture of Microorganisms</a:t>
            </a:r>
          </a:p>
        </p:txBody>
      </p:sp>
      <p:sp>
        <p:nvSpPr>
          <p:cNvPr id="3" name="Content Placeholder 2"/>
          <p:cNvSpPr>
            <a:spLocks noGrp="1"/>
          </p:cNvSpPr>
          <p:nvPr>
            <p:ph idx="1"/>
          </p:nvPr>
        </p:nvSpPr>
        <p:spPr>
          <a:xfrm>
            <a:off x="457200" y="2255837"/>
            <a:ext cx="8229600" cy="4525963"/>
          </a:xfrm>
        </p:spPr>
        <p:txBody>
          <a:bodyPr/>
          <a:lstStyle/>
          <a:p>
            <a:pPr marL="514350" indent="-514350">
              <a:buFont typeface="+mj-lt"/>
              <a:buAutoNum type="arabicPeriod"/>
            </a:pPr>
            <a:r>
              <a:rPr lang="en-US" dirty="0"/>
              <a:t>Distinguish batch culture and continuous culture</a:t>
            </a:r>
            <a:br>
              <a:rPr lang="en-US" dirty="0"/>
            </a:br>
            <a:endParaRPr lang="en-US" dirty="0"/>
          </a:p>
          <a:p>
            <a:pPr marL="514350" indent="-514350">
              <a:buFont typeface="+mj-lt"/>
              <a:buAutoNum type="arabicPeriod"/>
            </a:pPr>
            <a:r>
              <a:rPr lang="en-US" dirty="0"/>
              <a:t>Differentiate </a:t>
            </a:r>
            <a:r>
              <a:rPr lang="en-US" dirty="0" err="1"/>
              <a:t>chemostats</a:t>
            </a:r>
            <a:r>
              <a:rPr lang="en-US" dirty="0"/>
              <a:t> and </a:t>
            </a:r>
            <a:r>
              <a:rPr lang="en-US" dirty="0" err="1"/>
              <a:t>turbidostats</a:t>
            </a:r>
            <a:br>
              <a:rPr lang="en-US" dirty="0"/>
            </a:br>
            <a:endParaRPr lang="en-US" dirty="0"/>
          </a:p>
          <a:p>
            <a:pPr marL="514350" indent="-514350">
              <a:buFont typeface="+mj-lt"/>
              <a:buAutoNum type="arabicPeriod"/>
            </a:pPr>
            <a:r>
              <a:rPr lang="en-US" dirty="0"/>
              <a:t>Discuss the relationship between the dilution rate of a </a:t>
            </a:r>
            <a:r>
              <a:rPr lang="en-US" dirty="0" err="1"/>
              <a:t>chemostat</a:t>
            </a:r>
            <a:r>
              <a:rPr lang="en-US" dirty="0"/>
              <a:t> and population size and growth rate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85</a:t>
            </a:fld>
            <a:endParaRPr lang="en-US"/>
          </a:p>
        </p:txBody>
      </p:sp>
    </p:spTree>
    <p:extLst>
      <p:ext uri="{BB962C8B-B14F-4D97-AF65-F5344CB8AC3E}">
        <p14:creationId xmlns:p14="http://schemas.microsoft.com/office/powerpoint/2010/main" val="1543559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The Continuous Culture of Microorganisms</a:t>
            </a:r>
          </a:p>
        </p:txBody>
      </p:sp>
      <p:sp>
        <p:nvSpPr>
          <p:cNvPr id="3" name="Content Placeholder 2"/>
          <p:cNvSpPr>
            <a:spLocks noGrp="1"/>
          </p:cNvSpPr>
          <p:nvPr>
            <p:ph idx="1"/>
          </p:nvPr>
        </p:nvSpPr>
        <p:spPr>
          <a:xfrm>
            <a:off x="457200" y="1447800"/>
            <a:ext cx="8229600" cy="5334000"/>
          </a:xfrm>
        </p:spPr>
        <p:txBody>
          <a:bodyPr>
            <a:normAutofit fontScale="85000" lnSpcReduction="20000"/>
          </a:bodyPr>
          <a:lstStyle/>
          <a:p>
            <a:pPr>
              <a:lnSpc>
                <a:spcPct val="90000"/>
              </a:lnSpc>
            </a:pPr>
            <a:r>
              <a:rPr lang="en-US" dirty="0"/>
              <a:t>Growth in an open system</a:t>
            </a:r>
          </a:p>
          <a:p>
            <a:pPr lvl="1">
              <a:lnSpc>
                <a:spcPct val="90000"/>
              </a:lnSpc>
            </a:pPr>
            <a:r>
              <a:rPr lang="en-US" dirty="0"/>
              <a:t>continual provision of nutrients</a:t>
            </a:r>
          </a:p>
          <a:p>
            <a:pPr lvl="1">
              <a:lnSpc>
                <a:spcPct val="90000"/>
              </a:lnSpc>
            </a:pPr>
            <a:r>
              <a:rPr lang="en-US" dirty="0"/>
              <a:t>continual removal of wastes</a:t>
            </a:r>
            <a:br>
              <a:rPr lang="en-US" dirty="0"/>
            </a:br>
            <a:endParaRPr lang="en-US" dirty="0"/>
          </a:p>
          <a:p>
            <a:pPr>
              <a:lnSpc>
                <a:spcPct val="90000"/>
              </a:lnSpc>
            </a:pPr>
            <a:r>
              <a:rPr lang="en-US" dirty="0"/>
              <a:t>Maintains cells in log phase at a constant biomass concentration for extended periods</a:t>
            </a:r>
            <a:br>
              <a:rPr lang="en-US" dirty="0"/>
            </a:br>
            <a:endParaRPr lang="en-US" dirty="0"/>
          </a:p>
          <a:p>
            <a:pPr>
              <a:lnSpc>
                <a:spcPct val="90000"/>
              </a:lnSpc>
            </a:pPr>
            <a:r>
              <a:rPr lang="en-US" dirty="0"/>
              <a:t>Achieved using a continuous culture system</a:t>
            </a:r>
          </a:p>
          <a:p>
            <a:pPr lvl="1">
              <a:lnSpc>
                <a:spcPct val="90000"/>
              </a:lnSpc>
            </a:pPr>
            <a:r>
              <a:rPr lang="en-US" dirty="0"/>
              <a:t>Constant supply of cells in exponential phase growing at a known rate</a:t>
            </a:r>
          </a:p>
          <a:p>
            <a:pPr lvl="1">
              <a:lnSpc>
                <a:spcPct val="90000"/>
              </a:lnSpc>
            </a:pPr>
            <a:r>
              <a:rPr lang="en-US" dirty="0"/>
              <a:t>study of microbial growth at very low nutrient concentrations, close to those present in natural environment</a:t>
            </a:r>
          </a:p>
          <a:p>
            <a:pPr lvl="1">
              <a:lnSpc>
                <a:spcPct val="90000"/>
              </a:lnSpc>
            </a:pPr>
            <a:r>
              <a:rPr lang="en-US" dirty="0"/>
              <a:t>study of interactions of microbes under conditions resembling those in aquatic environments</a:t>
            </a:r>
          </a:p>
          <a:p>
            <a:pPr lvl="1">
              <a:lnSpc>
                <a:spcPct val="90000"/>
              </a:lnSpc>
            </a:pPr>
            <a:r>
              <a:rPr lang="en-US" dirty="0"/>
              <a:t>food and industrial microbiology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86</a:t>
            </a:fld>
            <a:endParaRPr lang="en-US"/>
          </a:p>
        </p:txBody>
      </p:sp>
    </p:spTree>
    <p:extLst>
      <p:ext uri="{BB962C8B-B14F-4D97-AF65-F5344CB8AC3E}">
        <p14:creationId xmlns:p14="http://schemas.microsoft.com/office/powerpoint/2010/main" val="41105861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br>
              <a:rPr lang="en-US" dirty="0"/>
            </a:br>
            <a:r>
              <a:rPr lang="en-US" dirty="0"/>
              <a:t>The </a:t>
            </a:r>
            <a:r>
              <a:rPr lang="en-US" dirty="0" err="1"/>
              <a:t>Chemostat</a:t>
            </a:r>
            <a:r>
              <a:rPr lang="en-US" dirty="0"/>
              <a:t> and The </a:t>
            </a:r>
            <a:r>
              <a:rPr lang="en-US" dirty="0" err="1"/>
              <a:t>Turbidostat</a:t>
            </a:r>
            <a:br>
              <a:rPr lang="en-US" dirty="0"/>
            </a:br>
            <a:r>
              <a:rPr lang="en-US" dirty="0"/>
              <a:t> </a:t>
            </a:r>
          </a:p>
        </p:txBody>
      </p:sp>
      <p:sp>
        <p:nvSpPr>
          <p:cNvPr id="4" name="Content Placeholder 3"/>
          <p:cNvSpPr>
            <a:spLocks noGrp="1"/>
          </p:cNvSpPr>
          <p:nvPr>
            <p:ph sz="half" idx="2"/>
          </p:nvPr>
        </p:nvSpPr>
        <p:spPr>
          <a:xfrm>
            <a:off x="4648200" y="990600"/>
            <a:ext cx="4038600" cy="5715000"/>
          </a:xfrm>
        </p:spPr>
        <p:txBody>
          <a:bodyPr>
            <a:normAutofit fontScale="92500" lnSpcReduction="20000"/>
          </a:bodyPr>
          <a:lstStyle/>
          <a:p>
            <a:pPr marL="0" indent="0" algn="ctr">
              <a:buNone/>
            </a:pPr>
            <a:r>
              <a:rPr lang="en-US" sz="3000" dirty="0"/>
              <a:t>The </a:t>
            </a:r>
            <a:r>
              <a:rPr lang="en-US" sz="3000" dirty="0" err="1"/>
              <a:t>Chemostat</a:t>
            </a:r>
            <a:endParaRPr lang="en-US" sz="3000" dirty="0"/>
          </a:p>
          <a:p>
            <a:r>
              <a:rPr lang="en-US" sz="2600" dirty="0"/>
              <a:t>Rate of incoming medium = rate of removal of medium from vessel</a:t>
            </a:r>
          </a:p>
          <a:p>
            <a:r>
              <a:rPr lang="en-US" sz="2600" dirty="0"/>
              <a:t>An essential nutrient is in limiting quantities</a:t>
            </a:r>
          </a:p>
          <a:p>
            <a:endParaRPr lang="en-US" sz="2600" dirty="0"/>
          </a:p>
          <a:p>
            <a:pPr marL="0" indent="0" algn="ctr">
              <a:buNone/>
            </a:pPr>
            <a:r>
              <a:rPr lang="en-US" sz="3000" dirty="0"/>
              <a:t>The </a:t>
            </a:r>
            <a:r>
              <a:rPr lang="en-US" sz="3000" dirty="0" err="1"/>
              <a:t>Turbidostat</a:t>
            </a:r>
            <a:endParaRPr lang="en-US" sz="3000" dirty="0"/>
          </a:p>
          <a:p>
            <a:pPr>
              <a:lnSpc>
                <a:spcPct val="90000"/>
              </a:lnSpc>
            </a:pPr>
            <a:r>
              <a:rPr lang="en-US" sz="2600" dirty="0"/>
              <a:t>Regulates flow rate of media through vessel to maintain predetermined turbidity or cell density</a:t>
            </a:r>
          </a:p>
          <a:p>
            <a:pPr>
              <a:lnSpc>
                <a:spcPct val="90000"/>
              </a:lnSpc>
            </a:pPr>
            <a:r>
              <a:rPr lang="en-US" sz="2600" dirty="0"/>
              <a:t>Dilution rate varies</a:t>
            </a:r>
          </a:p>
          <a:p>
            <a:pPr>
              <a:lnSpc>
                <a:spcPct val="90000"/>
              </a:lnSpc>
            </a:pPr>
            <a:r>
              <a:rPr lang="en-US" sz="2600" dirty="0"/>
              <a:t>No limiting nutrient</a:t>
            </a:r>
          </a:p>
          <a:p>
            <a:pPr>
              <a:lnSpc>
                <a:spcPct val="90000"/>
              </a:lnSpc>
            </a:pPr>
            <a:r>
              <a:rPr lang="en-US" sz="2600" dirty="0" err="1"/>
              <a:t>Turbidostat</a:t>
            </a:r>
            <a:r>
              <a:rPr lang="en-US" sz="2600" dirty="0"/>
              <a:t> operates best at high dilution rates</a:t>
            </a:r>
          </a:p>
          <a:p>
            <a:pPr marL="0" indent="0" algn="ctr">
              <a:buNone/>
            </a:pPr>
            <a:endParaRPr lang="en-US" dirty="0"/>
          </a:p>
          <a:p>
            <a:pPr marL="0" indent="0" algn="ctr">
              <a:buNone/>
            </a:pPr>
            <a:endParaRPr lang="en-US" dirty="0"/>
          </a:p>
          <a:p>
            <a:endParaRPr lang="en-US" dirty="0"/>
          </a:p>
          <a:p>
            <a:pPr marL="0" indent="0" algn="ctr">
              <a:buNone/>
            </a:pPr>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87</a:t>
            </a:fld>
            <a:endParaRPr lang="en-US"/>
          </a:p>
        </p:txBody>
      </p:sp>
      <p:pic>
        <p:nvPicPr>
          <p:cNvPr id="6" name="Picture 10" descr="Schematic diagram of the chemostat system. The fresh medium contains a limiting amount of an essential nutrient. Although not shown, usually the incoming medium is mechanically mixed with that already in the culture vessel. Growth rate is determined by the flow rate of medium through the culture vessel." title="Figure 7.39 A Chemostat."/>
          <p:cNvPicPr>
            <a:picLocks noGrp="1" noChangeAspect="1" noChangeArrowheads="1"/>
          </p:cNvPicPr>
          <p:nvPr>
            <p:ph sz="half" idx="1"/>
          </p:nvPr>
        </p:nvPicPr>
        <p:blipFill>
          <a:blip r:embed="rId2" cstate="print"/>
          <a:stretch>
            <a:fillRect/>
          </a:stretch>
        </p:blipFill>
        <p:spPr bwMode="auto">
          <a:xfrm>
            <a:off x="248630" y="914400"/>
            <a:ext cx="4037108" cy="5899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9970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Dilution Rate and Microbial Growth</a:t>
            </a:r>
          </a:p>
        </p:txBody>
      </p:sp>
      <p:sp>
        <p:nvSpPr>
          <p:cNvPr id="6" name="Content Placeholder 5"/>
          <p:cNvSpPr>
            <a:spLocks noGrp="1"/>
          </p:cNvSpPr>
          <p:nvPr>
            <p:ph sz="half" idx="1"/>
          </p:nvPr>
        </p:nvSpPr>
        <p:spPr>
          <a:xfrm>
            <a:off x="76200" y="1447800"/>
            <a:ext cx="4114800" cy="5257800"/>
          </a:xfrm>
        </p:spPr>
        <p:txBody>
          <a:bodyPr>
            <a:normAutofit fontScale="92500" lnSpcReduction="10000"/>
          </a:bodyPr>
          <a:lstStyle/>
          <a:p>
            <a:r>
              <a:rPr lang="en-US" dirty="0"/>
              <a:t>Dilution rate – rate at which medium flows through vessel</a:t>
            </a:r>
          </a:p>
          <a:p>
            <a:pPr marL="0" indent="0">
              <a:buNone/>
            </a:pPr>
            <a:endParaRPr lang="en-US" dirty="0"/>
          </a:p>
          <a:p>
            <a:r>
              <a:rPr lang="en-US" dirty="0"/>
              <a:t>Relative to vessel size</a:t>
            </a:r>
          </a:p>
          <a:p>
            <a:pPr marL="0" indent="0">
              <a:buNone/>
            </a:pPr>
            <a:endParaRPr lang="en-US" dirty="0"/>
          </a:p>
          <a:p>
            <a:r>
              <a:rPr lang="en-US" dirty="0"/>
              <a:t>Note: cell density maintained at wide range of dilution rates</a:t>
            </a:r>
          </a:p>
          <a:p>
            <a:pPr marL="0" indent="0">
              <a:buNone/>
            </a:pPr>
            <a:endParaRPr lang="en-US" dirty="0"/>
          </a:p>
          <a:p>
            <a:r>
              <a:rPr lang="en-US" dirty="0" err="1"/>
              <a:t>Chemostat</a:t>
            </a:r>
            <a:r>
              <a:rPr lang="en-US" dirty="0"/>
              <a:t> operates best at low dilution rate</a:t>
            </a:r>
          </a:p>
          <a:p>
            <a:endParaRPr lang="en-US" dirty="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88</a:t>
            </a:fld>
            <a:endParaRPr lang="en-US"/>
          </a:p>
        </p:txBody>
      </p:sp>
      <p:pic>
        <p:nvPicPr>
          <p:cNvPr id="8" name="Picture 8" descr="This chart shows the effects of changing the dilution rate in a chemostat.  &#10;&#10;Both population size and generation time are related to the dilution rate. When dilution rates are very low, only a limited supply of nutrient is available and the microbes can conserve only a limited amount of energy. Much of that energy must be used for cell maintenance, not for growth and reproduction. Slightly higher dilution rates make more nutrients available to the microbes. When the dilution rate provides enough nutrients for both maintenance and reproduction, the cell density will begin to rise. In other words, the growth rate can increase (and the generation time can decrease) when the total available energy provided by the nutrient supply exceeds the maintenance energy. For a wide range of dilution rates, the cell density remains stable. This is because the limiting nutrient is almost completely depleted by the rapid reproductive rate of the cells (as seen by the decreasing generation times). However, if the dilution rate is too high, microorganisms can actually be washed out of the culture vessel before reproducing because the dilution rate is greater than the maximum growth rate." title="Figure 7.40 Chemostat Dilution Rate and Microbial Growth."/>
          <p:cNvPicPr>
            <a:picLocks noGrp="1" noChangeAspect="1" noChangeArrowheads="1"/>
          </p:cNvPicPr>
          <p:nvPr>
            <p:ph sz="half" idx="2"/>
          </p:nvPr>
        </p:nvPicPr>
        <p:blipFill>
          <a:blip r:embed="rId2" cstate="print"/>
          <a:stretch>
            <a:fillRect/>
          </a:stretch>
        </p:blipFill>
        <p:spPr bwMode="auto">
          <a:xfrm>
            <a:off x="4180573" y="1752600"/>
            <a:ext cx="4837705"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5861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a:t>Take Home Message</a:t>
            </a:r>
          </a:p>
        </p:txBody>
      </p:sp>
      <p:sp>
        <p:nvSpPr>
          <p:cNvPr id="3" name="Content Placeholder 2"/>
          <p:cNvSpPr>
            <a:spLocks noGrp="1"/>
          </p:cNvSpPr>
          <p:nvPr>
            <p:ph idx="1"/>
          </p:nvPr>
        </p:nvSpPr>
        <p:spPr>
          <a:xfrm>
            <a:off x="457200" y="1066800"/>
            <a:ext cx="8229600" cy="5638800"/>
          </a:xfrm>
        </p:spPr>
        <p:txBody>
          <a:bodyPr>
            <a:normAutofit fontScale="77500" lnSpcReduction="20000"/>
          </a:bodyPr>
          <a:lstStyle/>
          <a:p>
            <a:r>
              <a:rPr lang="en-US" dirty="0"/>
              <a:t>Understanding how microbes grow is important to eventually either controlling or encouraging that growth for our own purposes</a:t>
            </a:r>
            <a:br>
              <a:rPr lang="en-US" dirty="0"/>
            </a:br>
            <a:endParaRPr lang="en-US" dirty="0"/>
          </a:p>
          <a:p>
            <a:r>
              <a:rPr lang="en-US" dirty="0"/>
              <a:t>The idea here is to get a better feeling for what parameters will impact the growth of different microbes, for better and for worse</a:t>
            </a:r>
            <a:br>
              <a:rPr lang="en-US" dirty="0"/>
            </a:br>
            <a:endParaRPr lang="en-US" dirty="0"/>
          </a:p>
          <a:p>
            <a:r>
              <a:rPr lang="en-US" dirty="0"/>
              <a:t>Always be thinking about conditions that could affect the growth of microbes in an area – whether you want to grow them (in the lab, for instance) or want to shut their growth down (in a patient, for instance)</a:t>
            </a:r>
            <a:br>
              <a:rPr lang="en-US" dirty="0"/>
            </a:br>
            <a:endParaRPr lang="en-US" dirty="0"/>
          </a:p>
          <a:p>
            <a:r>
              <a:rPr lang="en-US" dirty="0"/>
              <a:t>This chapter also takes you through counting methods. Make sure you’re aware of how microbes can be counted up – knowing how many are present is an important piece of information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89</a:t>
            </a:fld>
            <a:endParaRPr lang="en-US"/>
          </a:p>
        </p:txBody>
      </p:sp>
    </p:spTree>
    <p:extLst>
      <p:ext uri="{BB962C8B-B14F-4D97-AF65-F5344CB8AC3E}">
        <p14:creationId xmlns:p14="http://schemas.microsoft.com/office/powerpoint/2010/main" val="41105861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Chapter 7 – Microbial Growth&amp;quot;&quot;/&gt;&lt;property id=&quot;20307&quot; value=&quot;256&quot;/&gt;&lt;/object&gt;&lt;object type=&quot;3&quot; unique_id=&quot;10005&quot;&gt;&lt;property id=&quot;20148&quot; value=&quot;5&quot;/&gt;&lt;property id=&quot;20300&quot; value=&quot;Slide 2 - &amp;quot;7.1 Most Bacteria and Archaea &amp;#x0D;&amp;#x0A;Reproduce By Binary Fission&amp;quot;&quot;/&gt;&lt;property id=&quot;20307&quot; value=&quot;257&quot;/&gt;&lt;/object&gt;&lt;object type=&quot;3&quot; unique_id=&quot;10006&quot;&gt;&lt;property id=&quot;20148&quot; value=&quot;5&quot;/&gt;&lt;property id=&quot;20300&quot; value=&quot;Slide 3 - &amp;quot;Reproductive Strategies&amp;quot;&quot;/&gt;&lt;property id=&quot;20307&quot; value=&quot;258&quot;/&gt;&lt;/object&gt;&lt;object type=&quot;3&quot; unique_id=&quot;10007&quot;&gt;&lt;property id=&quot;20148&quot; value=&quot;5&quot;/&gt;&lt;property id=&quot;20300&quot; value=&quot;Slide 4 - &amp;quot;Bacterial Reproduction Methods Different &amp;#x0D;&amp;#x0A;From Binary Fission&amp;quot;&quot;/&gt;&lt;property id=&quot;20307&quot; value=&quot;260&quot;/&gt;&lt;/object&gt;&lt;object type=&quot;3&quot; unique_id=&quot;10008&quot;&gt;&lt;property id=&quot;20148&quot; value=&quot;5&quot;/&gt;&lt;property id=&quot;20300&quot; value=&quot;Slide 5 - &amp;quot;7.2 Bacterial Cell Cycles Can Be Divided &amp;#x0D;&amp;#x0A;Into Three Phases&amp;quot;&quot;/&gt;&lt;property id=&quot;20307&quot; value=&quot;261&quot;/&gt;&lt;/object&gt;&lt;object type=&quot;3&quot; unique_id=&quot;10009&quot;&gt;&lt;property id=&quot;20148&quot; value=&quot;5&quot;/&gt;&lt;property id=&quot;20300&quot; value=&quot;Slide 6 - &amp;quot;Bacterial Cell Cycle&amp;quot;&quot;/&gt;&lt;property id=&quot;20307&quot; value=&quot;262&quot;/&gt;&lt;/object&gt;&lt;object type=&quot;3&quot; unique_id=&quot;10010&quot;&gt;&lt;property id=&quot;20148&quot; value=&quot;5&quot;/&gt;&lt;property id=&quot;20300&quot; value=&quot;Slide 7 - &amp;quot;Chromosome Replication and Partitioning&amp;quot;&quot;/&gt;&lt;property id=&quot;20307&quot; value=&quot;263&quot;/&gt;&lt;/object&gt;&lt;object type=&quot;3&quot; unique_id=&quot;10011&quot;&gt;&lt;property id=&quot;20148&quot; value=&quot;5&quot;/&gt;&lt;property id=&quot;20300&quot; value=&quot;Slide 8 - &amp;quot;Cell Cycle of E. coli Bacteria&amp;quot;&quot;/&gt;&lt;property id=&quot;20307&quot; value=&quot;264&quot;/&gt;&lt;/object&gt;&lt;object type=&quot;3&quot; unique_id=&quot;10012&quot;&gt;&lt;property id=&quot;20148&quot; value=&quot;5&quot;/&gt;&lt;property id=&quot;20300&quot; value=&quot;Slide 9 - &amp;quot;Chromosome Partitioning – An Example&amp;quot;&quot;/&gt;&lt;property id=&quot;20307&quot; value=&quot;265&quot;/&gt;&lt;/object&gt;&lt;object type=&quot;3&quot; unique_id=&quot;10013&quot;&gt;&lt;property id=&quot;20148&quot; value=&quot;5&quot;/&gt;&lt;property id=&quot;20300&quot; value=&quot;Slide 10 - &amp;quot;Cytokinesis - Septation&amp;quot;&quot;/&gt;&lt;property id=&quot;20307&quot; value=&quot;266&quot;/&gt;&lt;/object&gt;&lt;object type=&quot;3&quot; unique_id=&quot;10014&quot;&gt;&lt;property id=&quot;20148&quot; value=&quot;5&quot;/&gt;&lt;property id=&quot;20300&quot; value=&quot;Slide 11 - &amp;quot;Z Ring Formation - Role in Septation&amp;quot;&quot;/&gt;&lt;property id=&quot;20307&quot; value=&quot;267&quot;/&gt;&lt;/object&gt;&lt;object type=&quot;3&quot; unique_id=&quot;10015&quot;&gt;&lt;property id=&quot;20148&quot; value=&quot;5&quot;/&gt;&lt;property id=&quot;20300&quot; value=&quot;Slide 12 - &amp;quot;Divisome Formation&amp;quot;&quot;/&gt;&lt;property id=&quot;20307&quot; value=&quot;370&quot;/&gt;&lt;/object&gt;&lt;object type=&quot;3&quot; unique_id=&quot;10016&quot;&gt;&lt;property id=&quot;20148&quot; value=&quot;5&quot;/&gt;&lt;property id=&quot;20300&quot; value=&quot;Slide 13 - &amp;quot;Cellular Growth and Determination of Cell Shape&amp;quot;&quot;/&gt;&lt;property id=&quot;20307&quot; value=&quot;270&quot;/&gt;&lt;/object&gt;&lt;object type=&quot;3&quot; unique_id=&quot;10017&quot;&gt;&lt;property id=&quot;20148&quot; value=&quot;5&quot;/&gt;&lt;property id=&quot;20300&quot; value=&quot;Slide 14 - &amp;quot;Cell Wall Growth and Cell Shape Determination&amp;quot;&quot;/&gt;&lt;property id=&quot;20307&quot; value=&quot;272&quot;/&gt;&lt;/object&gt;&lt;object type=&quot;3&quot; unique_id=&quot;10018&quot;&gt;&lt;property id=&quot;20148&quot; value=&quot;5&quot;/&gt;&lt;property id=&quot;20300&quot; value=&quot;Slide 15 - &amp;quot;Vibrio Cell Wall Growth and Cell Shape Determination&amp;quot;&quot;/&gt;&lt;property id=&quot;20307&quot; value=&quot;274&quot;/&gt;&lt;/object&gt;&lt;object type=&quot;3&quot; unique_id=&quot;10019&quot;&gt;&lt;property id=&quot;20148&quot; value=&quot;5&quot;/&gt;&lt;property id=&quot;20300&quot; value=&quot;Slide 16 - &amp;quot;7.3 Some Archaeal Cell Cycles Resemble &amp;#x0D;&amp;#x0A;the Eukaryotic Cell Cycle&amp;quot;&quot;/&gt;&lt;property id=&quot;20307&quot; value=&quot;368&quot;/&gt;&lt;/object&gt;&lt;object type=&quot;3&quot; unique_id=&quot;10020&quot;&gt;&lt;property id=&quot;20148&quot; value=&quot;5&quot;/&gt;&lt;property id=&quot;20300&quot; value=&quot;Slide 17 - &amp;quot;Archaeal Cell Cycles Resemble Eukaryal Cell Cycles – Except in Segregation of Chromosomes&amp;quot;&quot;/&gt;&lt;property id=&quot;20307&quot; value=&quot;371&quot;/&gt;&lt;/object&gt;&lt;object type=&quot;3&quot; unique_id=&quot;10021&quot;&gt;&lt;property id=&quot;20148&quot; value=&quot;5&quot;/&gt;&lt;property id=&quot;20300&quot; value=&quot;Slide 18 - &amp;quot;Archaeal Cytokinesis is Similar to &amp;#x0D;&amp;#x0A;Eukaryal Cytokinesis&amp;quot;&quot;/&gt;&lt;property id=&quot;20307&quot; value=&quot;372&quot;/&gt;&lt;/object&gt;&lt;object type=&quot;3&quot; unique_id=&quot;10022&quot;&gt;&lt;property id=&quot;20148&quot; value=&quot;5&quot;/&gt;&lt;property id=&quot;20300&quot; value=&quot;Slide 19 - &amp;quot;Don’t Jump to Conclusions on Archaeal Cell Cycle Information!&amp;quot;&quot;/&gt;&lt;property id=&quot;20307&quot; value=&quot;373&quot;/&gt;&lt;/object&gt;&lt;object type=&quot;3&quot; unique_id=&quot;10023&quot;&gt;&lt;property id=&quot;20148&quot; value=&quot;5&quot;/&gt;&lt;property id=&quot;20300&quot; value=&quot;Slide 20 - &amp;quot;7.4 Environmental Factors Affect Microbial Growth&amp;quot;&quot;/&gt;&lt;property id=&quot;20307&quot; value=&quot;275&quot;/&gt;&lt;/object&gt;&lt;object type=&quot;3&quot; unique_id=&quot;10024&quot;&gt;&lt;property id=&quot;20148&quot; value=&quot;5&quot;/&gt;&lt;property id=&quot;20300&quot; value=&quot;Slide 21 - &amp;quot;The Influence of Environmental &amp;#x0D;&amp;#x0A;Factors on Growth&amp;quot;&quot;/&gt;&lt;property id=&quot;20307&quot; value=&quot;276&quot;/&gt;&lt;/object&gt;&lt;object type=&quot;3&quot; unique_id=&quot;10025&quot;&gt;&lt;property id=&quot;20148&quot; value=&quot;5&quot;/&gt;&lt;property id=&quot;20300&quot; value=&quot;Slide 22 - &amp;quot;Solutes and Water Activity&amp;quot;&quot;/&gt;&lt;property id=&quot;20307&quot; value=&quot;278&quot;/&gt;&lt;/object&gt;&lt;object type=&quot;3&quot; unique_id=&quot;10026&quot;&gt;&lt;property id=&quot;20148&quot; value=&quot;5&quot;/&gt;&lt;property id=&quot;20300&quot; value=&quot;Slide 23 - &amp;quot;Microbes Adapt to Changes in Osmotic Concentrations&amp;quot;&quot;/&gt;&lt;property id=&quot;20307&quot; value=&quot;279&quot;/&gt;&lt;/object&gt;&lt;object type=&quot;3&quot; unique_id=&quot;10027&quot;&gt;&lt;property id=&quot;20148&quot; value=&quot;5&quot;/&gt;&lt;property id=&quot;20300&quot; value=&quot;Slide 24 - &amp;quot;Extremely Adapted Microbes - Halophiles&amp;quot;&quot;/&gt;&lt;property id=&quot;20307&quot; value=&quot;280&quot;/&gt;&lt;/object&gt;&lt;object type=&quot;3&quot; unique_id=&quot;10028&quot;&gt;&lt;property id=&quot;20148&quot; value=&quot;5&quot;/&gt;&lt;property id=&quot;20300&quot; value=&quot;Slide 25 - &amp;quot;Solutes and Water Activity&amp;quot;&quot;/&gt;&lt;property id=&quot;20307&quot; value=&quot;282&quot;/&gt;&lt;/object&gt;&lt;object type=&quot;3&quot; unique_id=&quot;10029&quot;&gt;&lt;property id=&quot;20148&quot; value=&quot;5&quot;/&gt;&lt;property id=&quot;20300&quot; value=&quot;Slide 26 - &amp;quot;pH&amp;quot;&quot;/&gt;&lt;property id=&quot;20307&quot; value=&quot;284&quot;/&gt;&lt;/object&gt;&lt;object type=&quot;3&quot; unique_id=&quot;10030&quot;&gt;&lt;property id=&quot;20148&quot; value=&quot;5&quot;/&gt;&lt;property id=&quot;20300&quot; value=&quot;Slide 27 - &amp;quot;pH Tolerance Mechanisms of Microbes&amp;quot;&quot;/&gt;&lt;property id=&quot;20307&quot; value=&quot;286&quot;/&gt;&lt;/object&gt;&lt;object type=&quot;3&quot; unique_id=&quot;10031&quot;&gt;&lt;property id=&quot;20148&quot; value=&quot;5&quot;/&gt;&lt;property id=&quot;20300&quot; value=&quot;Slide 28 - &amp;quot;Temperature&amp;quot;&quot;/&gt;&lt;property id=&quot;20307&quot; value=&quot;287&quot;/&gt;&lt;/object&gt;&lt;object type=&quot;3&quot; unique_id=&quot;10032&quot;&gt;&lt;property id=&quot;20148&quot; value=&quot;5&quot;/&gt;&lt;property id=&quot;20300&quot; value=&quot;Slide 29 - &amp;quot;Temperature Ranges for Microbial Growth&amp;quot;&quot;/&gt;&lt;property id=&quot;20307&quot; value=&quot;288&quot;/&gt;&lt;/object&gt;&lt;object type=&quot;3&quot; unique_id=&quot;10033&quot;&gt;&lt;property id=&quot;20148&quot; value=&quot;5&quot;/&gt;&lt;property id=&quot;20300&quot; value=&quot;Slide 30 - &amp;quot;Adaptations of Thermophiles&amp;quot;&quot;/&gt;&lt;property id=&quot;20307&quot; value=&quot;290&quot;/&gt;&lt;/object&gt;&lt;object type=&quot;3&quot; unique_id=&quot;10034&quot;&gt;&lt;property id=&quot;20148&quot; value=&quot;5&quot;/&gt;&lt;property id=&quot;20300&quot; value=&quot;Slide 31 - &amp;quot;Oxygen Concentration&amp;quot;&quot;/&gt;&lt;property id=&quot;20307&quot; value=&quot;291&quot;/&gt;&lt;/object&gt;&lt;object type=&quot;3&quot; unique_id=&quot;10035&quot;&gt;&lt;property id=&quot;20148&quot; value=&quot;5&quot;/&gt;&lt;property id=&quot;20300&quot; value=&quot;Slide 32 - &amp;quot;Effects of Different Oxygen Levels &amp;#x0D;&amp;#x0A;on Microbe Growth&amp;quot;&quot;/&gt;&lt;property id=&quot;20307&quot; value=&quot;294&quot;/&gt;&lt;/object&gt;&lt;object type=&quot;3&quot; unique_id=&quot;10036&quot;&gt;&lt;property id=&quot;20148&quot; value=&quot;5&quot;/&gt;&lt;property id=&quot;20300&quot; value=&quot;Slide 33 - &amp;quot;Basis of Different Oxygen Sensitivities&amp;quot;&quot;/&gt;&lt;property id=&quot;20307&quot; value=&quot;295&quot;/&gt;&lt;/object&gt;&lt;object type=&quot;3&quot; unique_id=&quot;10037&quot;&gt;&lt;property id=&quot;20148&quot; value=&quot;5&quot;/&gt;&lt;property id=&quot;20300&quot; value=&quot;Slide 34&quot;/&gt;&lt;property id=&quot;20307&quot; value=&quot;374&quot;/&gt;&lt;/object&gt;&lt;object type=&quot;3&quot; unique_id=&quot;10038&quot;&gt;&lt;property id=&quot;20148&quot; value=&quot;5&quot;/&gt;&lt;property id=&quot;20300&quot; value=&quot;Slide 35 - &amp;quot;Pressure&amp;quot;&quot;/&gt;&lt;property id=&quot;20307&quot; value=&quot;297&quot;/&gt;&lt;/object&gt;&lt;object type=&quot;3&quot; unique_id=&quot;10039&quot;&gt;&lt;property id=&quot;20148&quot; value=&quot;5&quot;/&gt;&lt;property id=&quot;20300&quot; value=&quot;Slide 36 - &amp;quot;The Electromagnetic Spectrum&amp;quot;&quot;/&gt;&lt;property id=&quot;20307&quot; value=&quot;299&quot;/&gt;&lt;/object&gt;&lt;object type=&quot;3&quot; unique_id=&quot;10040&quot;&gt;&lt;property id=&quot;20148&quot; value=&quot;5&quot;/&gt;&lt;property id=&quot;20300&quot; value=&quot;Slide 37 - &amp;quot;Radiation Damage – Ionizing&amp;quot;&quot;/&gt;&lt;property id=&quot;20307&quot; value=&quot;300&quot;/&gt;&lt;/object&gt;&lt;object type=&quot;3&quot; unique_id=&quot;10041&quot;&gt;&lt;property id=&quot;20148&quot; value=&quot;5&quot;/&gt;&lt;property id=&quot;20300&quot; value=&quot;Slide 38 - &amp;quot;Radiation Damage – UV and Visible Light&amp;quot;&quot;/&gt;&lt;property id=&quot;20307&quot; value=&quot;301&quot;/&gt;&lt;/object&gt;&lt;object type=&quot;3&quot; unique_id=&quot;10042&quot;&gt;&lt;property id=&quot;20148&quot; value=&quot;5&quot;/&gt;&lt;property id=&quot;20300&quot; value=&quot;Slide 39 - &amp;quot;7.5 Microbial Growth In Natural Environments&amp;quot;&quot;/&gt;&lt;property id=&quot;20307&quot; value=&quot;303&quot;/&gt;&lt;/object&gt;&lt;object type=&quot;3&quot; unique_id=&quot;10043&quot;&gt;&lt;property id=&quot;20148&quot; value=&quot;5&quot;/&gt;&lt;property id=&quot;20300&quot; value=&quot;Slide 40 - &amp;quot;Microbial Growth in Natural Environments&amp;quot;&quot;/&gt;&lt;property id=&quot;20307&quot; value=&quot;304&quot;/&gt;&lt;/object&gt;&lt;object type=&quot;3&quot; unique_id=&quot;10044&quot;&gt;&lt;property id=&quot;20148&quot; value=&quot;5&quot;/&gt;&lt;property id=&quot;20300&quot; value=&quot;Slide 41 - &amp;quot;Biofilms&amp;quot;&quot;/&gt;&lt;property id=&quot;20307&quot; value=&quot;305&quot;/&gt;&lt;/object&gt;&lt;object type=&quot;3&quot; unique_id=&quot;10045&quot;&gt;&lt;property id=&quot;20148&quot; value=&quot;5&quot;/&gt;&lt;property id=&quot;20300&quot; value=&quot;Slide 42 - &amp;quot;Biofilm Formation&amp;quot;&quot;/&gt;&lt;property id=&quot;20307&quot; value=&quot;307&quot;/&gt;&lt;/object&gt;&lt;object type=&quot;3&quot; unique_id=&quot;10046&quot;&gt;&lt;property id=&quot;20148&quot; value=&quot;5&quot;/&gt;&lt;property id=&quot;20300&quot; value=&quot;Slide 43 - &amp;quot;Heterogeneity in Biofilms&amp;quot;&quot;/&gt;&lt;property id=&quot;20307&quot; value=&quot;308&quot;/&gt;&lt;/object&gt;&lt;object type=&quot;3&quot; unique_id=&quot;10047&quot;&gt;&lt;property id=&quot;20148&quot; value=&quot;5&quot;/&gt;&lt;property id=&quot;20300&quot; value=&quot;Slide 44 - &amp;quot;Biofilm Microorganisms&amp;quot;&quot;/&gt;&lt;property id=&quot;20307&quot; value=&quot;309&quot;/&gt;&lt;/object&gt;&lt;object type=&quot;3&quot; unique_id=&quot;10048&quot;&gt;&lt;property id=&quot;20148&quot; value=&quot;5&quot;/&gt;&lt;property id=&quot;20300&quot; value=&quot;Slide 45&quot;/&gt;&lt;property id=&quot;20307&quot; value=&quot;375&quot;/&gt;&lt;/object&gt;&lt;object type=&quot;3&quot; unique_id=&quot;10049&quot;&gt;&lt;property id=&quot;20148&quot; value=&quot;5&quot;/&gt;&lt;property id=&quot;20300&quot; value=&quot;Slide 46 - &amp;quot;Quorum Sensing&amp;quot;&quot;/&gt;&lt;property id=&quot;20307&quot; value=&quot;311&quot;/&gt;&lt;/object&gt;&lt;object type=&quot;3&quot; unique_id=&quot;10050&quot;&gt;&lt;property id=&quot;20148&quot; value=&quot;5&quot;/&gt;&lt;property id=&quot;20300&quot; value=&quot;Slide 47 - &amp;quot;Quorum Sensing Systems&amp;quot;&quot;/&gt;&lt;property id=&quot;20307&quot; value=&quot;312&quot;/&gt;&lt;/object&gt;&lt;object type=&quot;3&quot; unique_id=&quot;10051&quot;&gt;&lt;property id=&quot;20148&quot; value=&quot;5&quot;/&gt;&lt;property id=&quot;20300&quot; value=&quot;Slide 48 - &amp;quot;7.6 Laboratory Culture of Cellular Microbes&amp;quot;&quot;/&gt;&lt;property id=&quot;20307&quot; value=&quot;313&quot;/&gt;&lt;/object&gt;&lt;object type=&quot;3&quot; unique_id=&quot;10052&quot;&gt;&lt;property id=&quot;20148&quot; value=&quot;5&quot;/&gt;&lt;property id=&quot;20300&quot; value=&quot;Slide 49 - &amp;quot;7.6 Laboratory Culture of Cellular Microbes - 1&amp;quot;&quot;/&gt;&lt;property id=&quot;20307&quot; value=&quot;314&quot;/&gt;&lt;/object&gt;&lt;object type=&quot;3&quot; unique_id=&quot;10053&quot;&gt;&lt;property id=&quot;20148&quot; value=&quot;5&quot;/&gt;&lt;property id=&quot;20300&quot; value=&quot;Slide 50 - &amp;quot;Culture Media&amp;quot;&quot;/&gt;&lt;property id=&quot;20307&quot; value=&quot;315&quot;/&gt;&lt;/object&gt;&lt;object type=&quot;3&quot; unique_id=&quot;10054&quot;&gt;&lt;property id=&quot;20148&quot; value=&quot;5&quot;/&gt;&lt;property id=&quot;20300&quot; value=&quot;Slide 51&quot;/&gt;&lt;property id=&quot;20307&quot; value=&quot;376&quot;/&gt;&lt;/object&gt;&lt;object type=&quot;3&quot; unique_id=&quot;10055&quot;&gt;&lt;property id=&quot;20148&quot; value=&quot;5&quot;/&gt;&lt;property id=&quot;20300&quot; value=&quot;Slide 52 - &amp;quot;Defined vs. Synthetic Media Examples&amp;quot;&quot;/&gt;&lt;property id=&quot;20307&quot; value=&quot;317&quot;/&gt;&lt;/object&gt;&lt;object type=&quot;3&quot; unique_id=&quot;10056&quot;&gt;&lt;property id=&quot;20148&quot; value=&quot;5&quot;/&gt;&lt;property id=&quot;20300&quot; value=&quot;Slide 53 - &amp;quot;Some Media Components&amp;quot;&quot;/&gt;&lt;property id=&quot;20307&quot; value=&quot;318&quot;/&gt;&lt;/object&gt;&lt;object type=&quot;3&quot; unique_id=&quot;10057&quot;&gt;&lt;property id=&quot;20148&quot; value=&quot;5&quot;/&gt;&lt;property id=&quot;20300&quot; value=&quot;Slide 54&quot;/&gt;&lt;property id=&quot;20307&quot; value=&quot;377&quot;/&gt;&lt;/object&gt;&lt;object type=&quot;3&quot; unique_id=&quot;10058&quot;&gt;&lt;property id=&quot;20148&quot; value=&quot;5&quot;/&gt;&lt;property id=&quot;20300&quot; value=&quot;Slide 55 - &amp;quot;Selective Media&amp;quot;&quot;/&gt;&lt;property id=&quot;20307&quot; value=&quot;320&quot;/&gt;&lt;/object&gt;&lt;object type=&quot;3&quot; unique_id=&quot;10059&quot;&gt;&lt;property id=&quot;20148&quot; value=&quot;5&quot;/&gt;&lt;property id=&quot;20300&quot; value=&quot;Slide 56 - &amp;quot;Mechanisms of Action of Media Types&amp;quot;&quot;/&gt;&lt;property id=&quot;20307&quot; value=&quot;322&quot;/&gt;&lt;/object&gt;&lt;object type=&quot;3&quot; unique_id=&quot;10060&quot;&gt;&lt;property id=&quot;20148&quot; value=&quot;5&quot;/&gt;&lt;property id=&quot;20300&quot; value=&quot;Slide 57 - &amp;quot;Strict Anaerobic Microbes&amp;quot;&quot;/&gt;&lt;property id=&quot;20307&quot; value=&quot;323&quot;/&gt;&lt;/object&gt;&lt;object type=&quot;3&quot; unique_id=&quot;10061&quot;&gt;&lt;property id=&quot;20148&quot; value=&quot;5&quot;/&gt;&lt;property id=&quot;20300&quot; value=&quot;Slide 58 - &amp;quot;Isolation of Pure Cultures&amp;quot;&quot;/&gt;&lt;property id=&quot;20307&quot; value=&quot;324&quot;/&gt;&lt;/object&gt;&lt;object type=&quot;3&quot; unique_id=&quot;10062&quot;&gt;&lt;property id=&quot;20148&quot; value=&quot;5&quot;/&gt;&lt;property id=&quot;20300&quot; value=&quot;Slide 59 - &amp;quot;The Streak Plate&amp;quot;&quot;/&gt;&lt;property id=&quot;20307&quot; value=&quot;325&quot;/&gt;&lt;/object&gt;&lt;object type=&quot;3&quot; unique_id=&quot;10063&quot;&gt;&lt;property id=&quot;20148&quot; value=&quot;5&quot;/&gt;&lt;property id=&quot;20300&quot; value=&quot;Slide 60 - &amp;quot;The Spread Plate and Pour Plate&amp;quot;&quot;/&gt;&lt;property id=&quot;20307&quot; value=&quot;326&quot;/&gt;&lt;/object&gt;&lt;object type=&quot;3&quot; unique_id=&quot;10064&quot;&gt;&lt;property id=&quot;20148&quot; value=&quot;5&quot;/&gt;&lt;property id=&quot;20300&quot; value=&quot;Slide 61 - &amp;quot;Method for Spread and Pour Plates&amp;quot;&quot;/&gt;&lt;property id=&quot;20307&quot; value=&quot;327&quot;/&gt;&lt;/object&gt;&lt;object type=&quot;3&quot; unique_id=&quot;10065&quot;&gt;&lt;property id=&quot;20148&quot; value=&quot;5&quot;/&gt;&lt;property id=&quot;20300&quot; value=&quot;Slide 62 - &amp;quot;Microbial Growth on Solid Surfaces&amp;quot;&quot;/&gt;&lt;property id=&quot;20307&quot; value=&quot;328&quot;/&gt;&lt;/object&gt;&lt;object type=&quot;3&quot; unique_id=&quot;10066&quot;&gt;&lt;property id=&quot;20148&quot; value=&quot;5&quot;/&gt;&lt;property id=&quot;20300&quot; value=&quot;Slide 63 - &amp;quot;7.7 Growth Curves Consist of Five Phases&amp;quot;&quot;/&gt;&lt;property id=&quot;20307&quot; value=&quot;330&quot;/&gt;&lt;/object&gt;&lt;object type=&quot;3&quot; unique_id=&quot;10067&quot;&gt;&lt;property id=&quot;20148&quot; value=&quot;5&quot;/&gt;&lt;property id=&quot;20300&quot; value=&quot;Slide 64 - &amp;quot;7.7 Growth Curves Consist of Five Phases - 1&amp;quot;&quot;/&gt;&lt;property id=&quot;20307&quot; value=&quot;331&quot;/&gt;&lt;/object&gt;&lt;object type=&quot;3&quot; unique_id=&quot;10068&quot;&gt;&lt;property id=&quot;20148&quot; value=&quot;5&quot;/&gt;&lt;property id=&quot;20300&quot; value=&quot;Slide 65 - &amp;quot;Growth&amp;quot;&quot;/&gt;&lt;property id=&quot;20307&quot; value=&quot;332&quot;/&gt;&lt;/object&gt;&lt;object type=&quot;3&quot; unique_id=&quot;10069&quot;&gt;&lt;property id=&quot;20148&quot; value=&quot;5&quot;/&gt;&lt;property id=&quot;20300&quot; value=&quot;Slide 66 - &amp;quot;The Growth Curve&amp;quot;&quot;/&gt;&lt;property id=&quot;20307&quot; value=&quot;333&quot;/&gt;&lt;/object&gt;&lt;object type=&quot;3&quot; unique_id=&quot;10070&quot;&gt;&lt;property id=&quot;20148&quot; value=&quot;5&quot;/&gt;&lt;property id=&quot;20300&quot; value=&quot;Slide 67 - &amp;quot;Lag Phase&amp;quot;&quot;/&gt;&lt;property id=&quot;20307&quot; value=&quot;334&quot;/&gt;&lt;/object&gt;&lt;object type=&quot;3&quot; unique_id=&quot;10071&quot;&gt;&lt;property id=&quot;20148&quot; value=&quot;5&quot;/&gt;&lt;property id=&quot;20300&quot; value=&quot;Slide 68 - &amp;quot;Nutrient Availability and Growth&amp;quot;&quot;/&gt;&lt;property id=&quot;20307&quot; value=&quot;336&quot;/&gt;&lt;/object&gt;&lt;object type=&quot;3&quot; unique_id=&quot;10072&quot;&gt;&lt;property id=&quot;20148&quot; value=&quot;5&quot;/&gt;&lt;property id=&quot;20300&quot; value=&quot;Slide 69 - &amp;quot;Stationary Phase&amp;quot;&quot;/&gt;&lt;property id=&quot;20307&quot; value=&quot;338&quot;/&gt;&lt;/object&gt;&lt;object type=&quot;3&quot; unique_id=&quot;10073&quot;&gt;&lt;property id=&quot;20148&quot; value=&quot;5&quot;/&gt;&lt;property id=&quot;20300&quot; value=&quot;Slide 70 - &amp;quot;Death Phase&amp;quot;&quot;/&gt;&lt;property id=&quot;20307&quot; value=&quot;342&quot;/&gt;&lt;/object&gt;&lt;object type=&quot;3&quot; unique_id=&quot;10074&quot;&gt;&lt;property id=&quot;20148&quot; value=&quot;5&quot;/&gt;&lt;property id=&quot;20300&quot; value=&quot;Slide 71 - &amp;quot;The Mathematics of Growth&amp;quot;&quot;/&gt;&lt;property id=&quot;20307&quot; value=&quot;369&quot;/&gt;&lt;/object&gt;&lt;object type=&quot;3&quot; unique_id=&quot;10075&quot;&gt;&lt;property id=&quot;20148&quot; value=&quot;5&quot;/&gt;&lt;property id=&quot;20300&quot; value=&quot;Slide 72 - &amp;quot;Measurement of Growth Rate &amp;#x0D;&amp;#x0A;and Generation Time&amp;quot;&quot;/&gt;&lt;property id=&quot;20307&quot; value=&quot;346&quot;/&gt;&lt;/object&gt;&lt;object type=&quot;3&quot; unique_id=&quot;10076&quot;&gt;&lt;property id=&quot;20148&quot; value=&quot;5&quot;/&gt;&lt;property id=&quot;20300&quot; value=&quot;Slide 73 - &amp;quot;Outcomes of Gen. Time Calculations&amp;quot;&quot;/&gt;&lt;property id=&quot;20307&quot; value=&quot;347&quot;/&gt;&lt;/object&gt;&lt;object type=&quot;3&quot; unique_id=&quot;10077&quot;&gt;&lt;property id=&quot;20148&quot; value=&quot;5&quot;/&gt;&lt;property id=&quot;20300&quot; value=&quot;Slide 74 - &amp;quot;7.8 Microbial Population Size Can Be Measured Directly or Indirectly&amp;quot;&quot;/&gt;&lt;property id=&quot;20307&quot; value=&quot;348&quot;/&gt;&lt;/object&gt;&lt;object type=&quot;3&quot; unique_id=&quot;10078&quot;&gt;&lt;property id=&quot;20148&quot; value=&quot;5&quot;/&gt;&lt;property id=&quot;20300&quot; value=&quot;Slide 75 - &amp;quot;Measurement of Microbial Growth&amp;quot;&quot;/&gt;&lt;property id=&quot;20307&quot; value=&quot;349&quot;/&gt;&lt;/object&gt;&lt;object type=&quot;3&quot; unique_id=&quot;10079&quot;&gt;&lt;property id=&quot;20148&quot; value=&quot;5&quot;/&gt;&lt;property id=&quot;20300&quot; value=&quot;Slide 76 - &amp;quot;Counting Chambers&amp;quot;&quot;/&gt;&lt;property id=&quot;20307&quot; value=&quot;351&quot;/&gt;&lt;/object&gt;&lt;object type=&quot;3&quot; unique_id=&quot;10080&quot;&gt;&lt;property id=&quot;20148&quot; value=&quot;5&quot;/&gt;&lt;property id=&quot;20300&quot; value=&quot;Slide 77 - &amp;quot;Direct Counts on Membrane Filters&amp;quot;&quot;/&gt;&lt;property id=&quot;20307&quot; value=&quot;352&quot;/&gt;&lt;/object&gt;&lt;object type=&quot;3&quot; unique_id=&quot;10081&quot;&gt;&lt;property id=&quot;20148&quot; value=&quot;5&quot;/&gt;&lt;property id=&quot;20300&quot; value=&quot;Slide 78&quot;/&gt;&lt;property id=&quot;20307&quot; value=&quot;378&quot;/&gt;&lt;/object&gt;&lt;object type=&quot;3&quot; unique_id=&quot;10082&quot;&gt;&lt;property id=&quot;20148&quot; value=&quot;5&quot;/&gt;&lt;property id=&quot;20300&quot; value=&quot;Slide 79 - &amp;quot;Viable counting: &amp;#x0D;&amp;#x0A;Alive or dead?&amp;quot;&quot;/&gt;&lt;property id=&quot;20307&quot; value=&quot;354&quot;/&gt;&lt;/object&gt;&lt;object type=&quot;3&quot; unique_id=&quot;10083&quot;&gt;&lt;property id=&quot;20148&quot; value=&quot;5&quot;/&gt;&lt;property id=&quot;20300&quot; value=&quot;Slide 80 - &amp;quot;Viable Counting Methods – Spread/Pour Plates&amp;quot;&quot;/&gt;&lt;property id=&quot;20307&quot; value=&quot;355&quot;/&gt;&lt;/object&gt;&lt;object type=&quot;3&quot; unique_id=&quot;10084&quot;&gt;&lt;property id=&quot;20148&quot; value=&quot;5&quot;/&gt;&lt;property id=&quot;20300&quot; value=&quot;Slide 81 - &amp;quot;Viable Counting Methods – Membrane Filter Method&amp;quot;&quot;/&gt;&lt;property id=&quot;20307&quot; value=&quot;356&quot;/&gt;&lt;/object&gt;&lt;object type=&quot;3&quot; unique_id=&quot;10085&quot;&gt;&lt;property id=&quot;20148&quot; value=&quot;5&quot;/&gt;&lt;property id=&quot;20300&quot; value=&quot;Slide 82 - &amp;quot;Viable Counting Methods – MPN Method&amp;quot;&quot;/&gt;&lt;property id=&quot;20307&quot; value=&quot;358&quot;/&gt;&lt;/object&gt;&lt;object type=&quot;3&quot; unique_id=&quot;10086&quot;&gt;&lt;property id=&quot;20148&quot; value=&quot;5&quot;/&gt;&lt;property id=&quot;20300&quot; value=&quot;Slide 83 - &amp;quot;Measurement of Cell Mass&amp;quot;&quot;/&gt;&lt;property id=&quot;20307&quot; value=&quot;359&quot;/&gt;&lt;/object&gt;&lt;object type=&quot;3&quot; unique_id=&quot;10087&quot;&gt;&lt;property id=&quot;20148&quot; value=&quot;5&quot;/&gt;&lt;property id=&quot;20300&quot; value=&quot;Slide 84 - &amp;quot;7.9 Chemostats and Turbidostats Are Used for Continuous Culture of Microorganisms&amp;quot;&quot;/&gt;&lt;property id=&quot;20307&quot; value=&quot;361&quot;/&gt;&lt;/object&gt;&lt;object type=&quot;3&quot; unique_id=&quot;10088&quot;&gt;&lt;property id=&quot;20148&quot; value=&quot;5&quot;/&gt;&lt;property id=&quot;20300&quot; value=&quot;Slide 85 - &amp;quot;The Continuous Culture of Microorganisms&amp;quot;&quot;/&gt;&lt;property id=&quot;20307&quot; value=&quot;362&quot;/&gt;&lt;/object&gt;&lt;object type=&quot;3&quot; unique_id=&quot;10089&quot;&gt;&lt;property id=&quot;20148&quot; value=&quot;5&quot;/&gt;&lt;property id=&quot;20300&quot; value=&quot;Slide 86 - &amp;quot;The Chemostat&amp;quot;&quot;/&gt;&lt;property id=&quot;20307&quot; value=&quot;364&quot;/&gt;&lt;/object&gt;&lt;object type=&quot;3&quot; unique_id=&quot;10090&quot;&gt;&lt;property id=&quot;20148&quot; value=&quot;5&quot;/&gt;&lt;property id=&quot;20300&quot; value=&quot;Slide 87 - &amp;quot;Dilution Rate and Microbial Growth&amp;quot;&quot;/&gt;&lt;property id=&quot;20307&quot; value=&quot;365&quot;/&gt;&lt;/object&gt;&lt;object type=&quot;3&quot; unique_id=&quot;10091&quot;&gt;&lt;property id=&quot;20148&quot; value=&quot;5&quot;/&gt;&lt;property id=&quot;20300&quot; value=&quot;Slide 88 - &amp;quot;Take Home Message&amp;quot;&quot;/&gt;&lt;property id=&quot;20307&quot; value=&quot;367&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1277</TotalTime>
  <Words>2108</Words>
  <Application>Microsoft Office PowerPoint</Application>
  <PresentationFormat>On-screen Show (4:3)</PresentationFormat>
  <Paragraphs>612</Paragraphs>
  <Slides>89</Slides>
  <Notes>0</Notes>
  <HiddenSlides>0</HiddenSlides>
  <MMClips>0</MMClips>
  <ScaleCrop>false</ScaleCrop>
  <HeadingPairs>
    <vt:vector size="4" baseType="variant">
      <vt:variant>
        <vt:lpstr>Theme</vt:lpstr>
      </vt:variant>
      <vt:variant>
        <vt:i4>1</vt:i4>
      </vt:variant>
      <vt:variant>
        <vt:lpstr>Slide Titles</vt:lpstr>
      </vt:variant>
      <vt:variant>
        <vt:i4>89</vt:i4>
      </vt:variant>
    </vt:vector>
  </HeadingPairs>
  <TitlesOfParts>
    <vt:vector size="90" baseType="lpstr">
      <vt:lpstr>Office Theme</vt:lpstr>
      <vt:lpstr>Chapter 7 – Microbial Growth</vt:lpstr>
      <vt:lpstr>7.1 Most Bacteria and Archaea  Reproduce By Binary Fission</vt:lpstr>
      <vt:lpstr>Reproductive Strategies</vt:lpstr>
      <vt:lpstr>Bacterial Reproduction Methods Different From Binary Fission</vt:lpstr>
      <vt:lpstr>7.2 Bacterial Cell Cycles Can Be Divided  Into Three Phases</vt:lpstr>
      <vt:lpstr>Bacterial Cell Cycle</vt:lpstr>
      <vt:lpstr>Chromosome Replication and Partitioning</vt:lpstr>
      <vt:lpstr>Cell Cycle of E. coli Bacteria</vt:lpstr>
      <vt:lpstr>Chromosome Partitioning – An Example</vt:lpstr>
      <vt:lpstr>Cytokinesis - Septation</vt:lpstr>
      <vt:lpstr>Z Ring Formation - Role in Septation</vt:lpstr>
      <vt:lpstr>Divisome Formation</vt:lpstr>
      <vt:lpstr>Cellular Growth and Determination of Cell Shape</vt:lpstr>
      <vt:lpstr>Cell Wall Growth and Cell Shape Determination</vt:lpstr>
      <vt:lpstr>Vibrio Cell Wall Growth and Cell Shape Determination</vt:lpstr>
      <vt:lpstr>7.3 Some Archaeal Cell Cycles Resemble the Eukaryotic Cell Cycle</vt:lpstr>
      <vt:lpstr>Archaeal Cell Cycles Resemble Eukaryal Cell Cycles – Except in Segregation of Chromosomes</vt:lpstr>
      <vt:lpstr>Archaeal Cytokinesis is Similar to  Eukaryal Cytokinesis</vt:lpstr>
      <vt:lpstr>Don’t Jump to Conclusions on Archaeal Cell Cycle Information!</vt:lpstr>
      <vt:lpstr>7.4 Environmental Factors Affect Microbial Growth</vt:lpstr>
      <vt:lpstr>The Influence of Environmental  Factors on Growth</vt:lpstr>
      <vt:lpstr>Solutes and Water Activity</vt:lpstr>
      <vt:lpstr>Microbes Adapt to Changes in Osmotic Concentrations</vt:lpstr>
      <vt:lpstr>Extremely Adapted Microbes - Halophiles</vt:lpstr>
      <vt:lpstr>Solutes and Water Activity (2)</vt:lpstr>
      <vt:lpstr>pH</vt:lpstr>
      <vt:lpstr>pH Tolerance Mechanisms of Microbes</vt:lpstr>
      <vt:lpstr>Temperature</vt:lpstr>
      <vt:lpstr>Temperature Ranges for Microbial Growth</vt:lpstr>
      <vt:lpstr>Adaptations of Thermophiles</vt:lpstr>
      <vt:lpstr>Oxygen Concentration</vt:lpstr>
      <vt:lpstr>Effects of Different Oxygen Levels  on Microbe Growth</vt:lpstr>
      <vt:lpstr>Basis of Different Oxygen Sensitivities</vt:lpstr>
      <vt:lpstr>Strict Anaerobic Microbes </vt:lpstr>
      <vt:lpstr>Pressure</vt:lpstr>
      <vt:lpstr>The Electromagnetic Spectrum</vt:lpstr>
      <vt:lpstr>Radiation Damage – Ionizing</vt:lpstr>
      <vt:lpstr>Radiation Damage – UV and Visible Light</vt:lpstr>
      <vt:lpstr>7.5 Microbial Growth In Natural Environments</vt:lpstr>
      <vt:lpstr>Microbial Growth in Natural Environments</vt:lpstr>
      <vt:lpstr>Biofilms</vt:lpstr>
      <vt:lpstr>Biofilm Formation</vt:lpstr>
      <vt:lpstr>Heterogeneity in Biofilms</vt:lpstr>
      <vt:lpstr>Biofilm Microorganisms</vt:lpstr>
      <vt:lpstr> Cell to Cell Communication Within  the Microbial Populations </vt:lpstr>
      <vt:lpstr>Quorum Sensing</vt:lpstr>
      <vt:lpstr>Quorum Sensing Systems</vt:lpstr>
      <vt:lpstr>7.6 Laboratory Culture of Cellular Microbes</vt:lpstr>
      <vt:lpstr>7.6 Laboratory Culture of Cellular Microbes - 1</vt:lpstr>
      <vt:lpstr>Culture Media</vt:lpstr>
      <vt:lpstr>Chemical/Physical Types of Culture Media</vt:lpstr>
      <vt:lpstr>Defined vs. Synthetic Media Examples</vt:lpstr>
      <vt:lpstr> Complex Media </vt:lpstr>
      <vt:lpstr>Some Media Components</vt:lpstr>
      <vt:lpstr>Functional Types of Media </vt:lpstr>
      <vt:lpstr>Selective and Differential Media</vt:lpstr>
      <vt:lpstr>Mechanisms of Action of Media Types</vt:lpstr>
      <vt:lpstr>Strict Anaerobic Microbes</vt:lpstr>
      <vt:lpstr>Isolation of Pure Cultures</vt:lpstr>
      <vt:lpstr>The Streak Plate</vt:lpstr>
      <vt:lpstr>The Spread Plate and Pour Plate</vt:lpstr>
      <vt:lpstr>Method for Spread and Pour Plates</vt:lpstr>
      <vt:lpstr>Microbial Growth on Solid Surfaces</vt:lpstr>
      <vt:lpstr>7.7 Growth Curves Consist of Five Phases</vt:lpstr>
      <vt:lpstr>7.7 Growth Curves Consist of Five Phases - 1</vt:lpstr>
      <vt:lpstr>Growth</vt:lpstr>
      <vt:lpstr>The Growth Curve</vt:lpstr>
      <vt:lpstr> Lag Phase and Exponential Phase  </vt:lpstr>
      <vt:lpstr>Nutrient Availability and Growth</vt:lpstr>
      <vt:lpstr>Stationary Phase</vt:lpstr>
      <vt:lpstr> Death Phase and Prolonged Decline in Growth  </vt:lpstr>
      <vt:lpstr>The Mathematics of Growth</vt:lpstr>
      <vt:lpstr>Measurement of Growth Rate  and Generation Time</vt:lpstr>
      <vt:lpstr>Outcomes of Gen. Time Calculations</vt:lpstr>
      <vt:lpstr>7.8 Microbial Population Size Can Be Measured Directly or Indirectly</vt:lpstr>
      <vt:lpstr>Measurement of Microbial Growth and Direct Measurement of Cell Numbers </vt:lpstr>
      <vt:lpstr>Counting Chambers</vt:lpstr>
      <vt:lpstr>Direct Counts on Membrane Filters</vt:lpstr>
      <vt:lpstr>Flow Cytometry </vt:lpstr>
      <vt:lpstr>Viable counting:  Alive or dead?</vt:lpstr>
      <vt:lpstr>Viable Counting Methods – Spread/Pour Plates</vt:lpstr>
      <vt:lpstr>Viable Counting Methods – Membrane Filter Method</vt:lpstr>
      <vt:lpstr>Viable Counting Methods – MPN Method</vt:lpstr>
      <vt:lpstr>Measurement of Cell Mass</vt:lpstr>
      <vt:lpstr>7.9 Chemostats and Turbidostats Are Used for Continuous Culture of Microorganisms</vt:lpstr>
      <vt:lpstr>The Continuous Culture of Microorganisms</vt:lpstr>
      <vt:lpstr> The Chemostat and The Turbidostat  </vt:lpstr>
      <vt:lpstr>Dilution Rate and Microbial Growth</vt:lpstr>
      <vt:lpstr>Take Home Message</vt:lpstr>
    </vt:vector>
  </TitlesOfParts>
  <Company>University of Central Arkansas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just</cp:lastModifiedBy>
  <cp:revision>77</cp:revision>
  <dcterms:created xsi:type="dcterms:W3CDTF">2016-01-04T02:13:32Z</dcterms:created>
  <dcterms:modified xsi:type="dcterms:W3CDTF">2023-02-23T11:27:54Z</dcterms:modified>
</cp:coreProperties>
</file>