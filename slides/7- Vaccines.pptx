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417" r:id="rId4"/>
    <p:sldId id="397" r:id="rId5"/>
    <p:sldId id="317" r:id="rId6"/>
    <p:sldId id="396" r:id="rId7"/>
    <p:sldId id="378" r:id="rId8"/>
    <p:sldId id="398" r:id="rId9"/>
    <p:sldId id="405" r:id="rId10"/>
    <p:sldId id="399" r:id="rId11"/>
    <p:sldId id="400" r:id="rId12"/>
    <p:sldId id="404" r:id="rId13"/>
    <p:sldId id="401" r:id="rId14"/>
    <p:sldId id="402" r:id="rId15"/>
    <p:sldId id="403" r:id="rId16"/>
    <p:sldId id="418" r:id="rId17"/>
    <p:sldId id="386" r:id="rId18"/>
    <p:sldId id="258" r:id="rId19"/>
    <p:sldId id="406" r:id="rId20"/>
    <p:sldId id="407" r:id="rId21"/>
    <p:sldId id="408" r:id="rId22"/>
    <p:sldId id="409" r:id="rId23"/>
    <p:sldId id="411" r:id="rId24"/>
    <p:sldId id="412" r:id="rId25"/>
    <p:sldId id="413" r:id="rId26"/>
    <p:sldId id="414" r:id="rId27"/>
    <p:sldId id="419" r:id="rId28"/>
    <p:sldId id="416" r:id="rId29"/>
    <p:sldId id="415" r:id="rId30"/>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5C5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50" autoAdjust="0"/>
  </p:normalViewPr>
  <p:slideViewPr>
    <p:cSldViewPr snapToGrid="0" snapToObjects="1">
      <p:cViewPr varScale="1">
        <p:scale>
          <a:sx n="87" d="100"/>
          <a:sy n="87" d="100"/>
        </p:scale>
        <p:origin x="149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DE1327-DBD9-1D4E-A4ED-BE184B65546F}" type="datetimeFigureOut">
              <a:rPr kumimoji="1" lang="ja-JP" altLang="en-US" smtClean="0"/>
              <a:t>2019/11/28</a:t>
            </a:fld>
            <a:endParaRPr kumimoji="1"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B22C4A-05CC-2C4D-BA55-606EE4608CDA}" type="slidenum">
              <a:rPr kumimoji="1" lang="ja-JP" altLang="en-US" smtClean="0"/>
              <a:t>‹#›</a:t>
            </a:fld>
            <a:endParaRPr kumimoji="1" lang="ja-JP" altLang="en-US"/>
          </a:p>
        </p:txBody>
      </p:sp>
    </p:spTree>
    <p:extLst>
      <p:ext uri="{BB962C8B-B14F-4D97-AF65-F5344CB8AC3E}">
        <p14:creationId xmlns:p14="http://schemas.microsoft.com/office/powerpoint/2010/main" val="1300279109"/>
      </p:ext>
    </p:extLst>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6</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7</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8</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9</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10</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11</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12</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13</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14</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15</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3500">
                <a:solidFill>
                  <a:schemeClr val="tx1"/>
                </a:solidFill>
                <a:latin typeface="Arial" charset="0"/>
                <a:ea typeface="ＭＳ Ｐゴシック" charset="0"/>
              </a:defRPr>
            </a:lvl1pPr>
            <a:lvl2pPr marL="729057" indent="-280406" eaLnBrk="0" hangingPunct="0">
              <a:defRPr sz="3500">
                <a:solidFill>
                  <a:schemeClr val="tx1"/>
                </a:solidFill>
                <a:latin typeface="Arial" charset="0"/>
                <a:ea typeface="ＭＳ Ｐゴシック" charset="0"/>
              </a:defRPr>
            </a:lvl2pPr>
            <a:lvl3pPr marL="1121626" indent="-224325" eaLnBrk="0" hangingPunct="0">
              <a:defRPr sz="3500">
                <a:solidFill>
                  <a:schemeClr val="tx1"/>
                </a:solidFill>
                <a:latin typeface="Arial" charset="0"/>
                <a:ea typeface="ＭＳ Ｐゴシック" charset="0"/>
              </a:defRPr>
            </a:lvl3pPr>
            <a:lvl4pPr marL="1570276" indent="-224325" eaLnBrk="0" hangingPunct="0">
              <a:defRPr sz="3500">
                <a:solidFill>
                  <a:schemeClr val="tx1"/>
                </a:solidFill>
                <a:latin typeface="Arial" charset="0"/>
                <a:ea typeface="ＭＳ Ｐゴシック" charset="0"/>
              </a:defRPr>
            </a:lvl4pPr>
            <a:lvl5pPr marL="2018927" indent="-224325" eaLnBrk="0" hangingPunct="0">
              <a:defRPr sz="3500">
                <a:solidFill>
                  <a:schemeClr val="tx1"/>
                </a:solidFill>
                <a:latin typeface="Arial" charset="0"/>
                <a:ea typeface="ＭＳ Ｐゴシック" charset="0"/>
              </a:defRPr>
            </a:lvl5pPr>
            <a:lvl6pPr marL="2467577" indent="-224325" eaLnBrk="0" fontAlgn="base" hangingPunct="0">
              <a:spcBef>
                <a:spcPct val="0"/>
              </a:spcBef>
              <a:spcAft>
                <a:spcPct val="0"/>
              </a:spcAft>
              <a:defRPr sz="3500">
                <a:solidFill>
                  <a:schemeClr val="tx1"/>
                </a:solidFill>
                <a:latin typeface="Arial" charset="0"/>
                <a:ea typeface="ＭＳ Ｐゴシック" charset="0"/>
              </a:defRPr>
            </a:lvl6pPr>
            <a:lvl7pPr marL="2916227" indent="-224325" eaLnBrk="0" fontAlgn="base" hangingPunct="0">
              <a:spcBef>
                <a:spcPct val="0"/>
              </a:spcBef>
              <a:spcAft>
                <a:spcPct val="0"/>
              </a:spcAft>
              <a:defRPr sz="3500">
                <a:solidFill>
                  <a:schemeClr val="tx1"/>
                </a:solidFill>
                <a:latin typeface="Arial" charset="0"/>
                <a:ea typeface="ＭＳ Ｐゴシック" charset="0"/>
              </a:defRPr>
            </a:lvl7pPr>
            <a:lvl8pPr marL="3364878" indent="-224325" eaLnBrk="0" fontAlgn="base" hangingPunct="0">
              <a:spcBef>
                <a:spcPct val="0"/>
              </a:spcBef>
              <a:spcAft>
                <a:spcPct val="0"/>
              </a:spcAft>
              <a:defRPr sz="3500">
                <a:solidFill>
                  <a:schemeClr val="tx1"/>
                </a:solidFill>
                <a:latin typeface="Arial" charset="0"/>
                <a:ea typeface="ＭＳ Ｐゴシック" charset="0"/>
              </a:defRPr>
            </a:lvl8pPr>
            <a:lvl9pPr marL="3813528" indent="-224325" eaLnBrk="0" fontAlgn="base" hangingPunct="0">
              <a:spcBef>
                <a:spcPct val="0"/>
              </a:spcBef>
              <a:spcAft>
                <a:spcPct val="0"/>
              </a:spcAft>
              <a:defRPr sz="3500">
                <a:solidFill>
                  <a:schemeClr val="tx1"/>
                </a:solidFill>
                <a:latin typeface="Arial" charset="0"/>
                <a:ea typeface="ＭＳ Ｐゴシック" charset="0"/>
              </a:defRPr>
            </a:lvl9pPr>
          </a:lstStyle>
          <a:p>
            <a:pPr eaLnBrk="1" hangingPunct="1"/>
            <a:fld id="{781D9BAE-DBB4-A84F-A1B1-3CAB5524CFE5}" type="slidenum">
              <a:rPr lang="en-US" altLang="ja-JP" sz="1200"/>
              <a:pPr eaLnBrk="1" hangingPunct="1"/>
              <a:t>17</a:t>
            </a:fld>
            <a:endParaRPr lang="en-US" altLang="ja-JP"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ja-JP" altLang="en-US">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kumimoji="1" lang="en-US" altLang="ja-JP" smtClean="0"/>
              <a:t>Click to edit Master title style</a:t>
            </a:r>
            <a:endParaRPr kumimoji="1" lang="ja-JP"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en-US" altLang="ja-JP" smtClean="0"/>
              <a:t>Click to edit Master subtitle style</a:t>
            </a:r>
            <a:endParaRPr kumimoji="1" lang="ja-JP" altLang="en-US"/>
          </a:p>
        </p:txBody>
      </p:sp>
      <p:sp>
        <p:nvSpPr>
          <p:cNvPr id="4" name="Date Placeholder 3"/>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3345654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smtClean="0"/>
              <a:t>Click to edit Master title style</a:t>
            </a:r>
            <a:endParaRPr kumimoji="1" lang="ja-JP" altLang="en-US"/>
          </a:p>
        </p:txBody>
      </p:sp>
      <p:sp>
        <p:nvSpPr>
          <p:cNvPr id="3" name="Content Placeholder 2"/>
          <p:cNvSpPr>
            <a:spLocks noGrp="1"/>
          </p:cNvSpPr>
          <p:nvPr>
            <p:ph idx="1"/>
          </p:nvPr>
        </p:nvSpPr>
        <p:spPr/>
        <p:txBody>
          <a:body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Date Placeholder 3"/>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159823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kumimoji="1" lang="en-US" altLang="ja-JP" smtClean="0"/>
              <a:t>Click to edit Master title style</a:t>
            </a:r>
            <a:endParaRPr kumimoji="1" lang="ja-JP"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en-US" altLang="ja-JP" smtClean="0"/>
              <a:t>Click to edit Master text styles</a:t>
            </a:r>
          </a:p>
        </p:txBody>
      </p:sp>
      <p:sp>
        <p:nvSpPr>
          <p:cNvPr id="4" name="Date Placeholder 3"/>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3270881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smtClean="0"/>
              <a:t>Click to edit Master title style</a:t>
            </a:r>
            <a:endParaRPr kumimoji="1" lang="ja-JP"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5" name="Date Placeholder 4"/>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56011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1" lang="en-US" altLang="ja-JP" smtClean="0"/>
              <a:t>Click to edit Master title style</a:t>
            </a:r>
            <a:endParaRPr kumimoji="1" lang="ja-JP"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7" name="Date Placeholder 6"/>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367229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smtClean="0"/>
              <a:t>Click to edit Master title style</a:t>
            </a:r>
            <a:endParaRPr kumimoji="1" lang="ja-JP" altLang="en-US"/>
          </a:p>
        </p:txBody>
      </p:sp>
      <p:sp>
        <p:nvSpPr>
          <p:cNvPr id="3" name="Date Placeholder 2"/>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2785676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901877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kumimoji="1" lang="en-US" altLang="ja-JP" smtClean="0"/>
              <a:t>Click to edit Master title style</a:t>
            </a:r>
            <a:endParaRPr kumimoji="1" lang="ja-JP"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en-US" altLang="ja-JP" smtClean="0"/>
              <a:t>Click to edit Master text styles</a:t>
            </a:r>
          </a:p>
        </p:txBody>
      </p:sp>
      <p:sp>
        <p:nvSpPr>
          <p:cNvPr id="5" name="Date Placeholder 4"/>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801486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kumimoji="1" lang="en-US" altLang="ja-JP" smtClean="0"/>
              <a:t>Click to edit Master title style</a:t>
            </a:r>
            <a:endParaRPr kumimoji="1" lang="ja-JP"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en-US" altLang="ja-JP" smtClean="0"/>
              <a:t>Click to edit Master text styles</a:t>
            </a:r>
          </a:p>
        </p:txBody>
      </p:sp>
      <p:sp>
        <p:nvSpPr>
          <p:cNvPr id="5" name="Date Placeholder 4"/>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150132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smtClean="0"/>
              <a:t>Click to edit Master title style</a:t>
            </a:r>
            <a:endParaRPr kumimoji="1" lang="ja-JP" altLang="en-US"/>
          </a:p>
        </p:txBody>
      </p:sp>
      <p:sp>
        <p:nvSpPr>
          <p:cNvPr id="3" name="Vertical Text Placeholder 2"/>
          <p:cNvSpPr>
            <a:spLocks noGrp="1"/>
          </p:cNvSpPr>
          <p:nvPr>
            <p:ph type="body" orient="vert" idx="1"/>
          </p:nvPr>
        </p:nvSpPr>
        <p:spPr/>
        <p:txBody>
          <a:bodyPr vert="eaVert"/>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Date Placeholder 3"/>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409902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1" lang="en-US" altLang="ja-JP" smtClean="0"/>
              <a:t>Click to edit Master title style</a:t>
            </a:r>
            <a:endParaRPr kumimoji="1" lang="ja-JP"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Date Placeholder 3"/>
          <p:cNvSpPr>
            <a:spLocks noGrp="1"/>
          </p:cNvSpPr>
          <p:nvPr>
            <p:ph type="dt" sz="half" idx="10"/>
          </p:nvPr>
        </p:nvSpPr>
        <p:spPr/>
        <p:txBody>
          <a:body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166429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en-US" altLang="ja-JP" smtClean="0"/>
              <a:t>Click to edit Master title style</a:t>
            </a:r>
            <a:endParaRPr kumimoji="1" lang="ja-JP"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en-US" altLang="ja-JP" smtClean="0"/>
              <a:t>Click to edit Master text styles</a:t>
            </a:r>
          </a:p>
          <a:p>
            <a:pPr lvl="1"/>
            <a:r>
              <a:rPr kumimoji="1" lang="en-US" altLang="ja-JP" smtClean="0"/>
              <a:t>Second level</a:t>
            </a:r>
          </a:p>
          <a:p>
            <a:pPr lvl="2"/>
            <a:r>
              <a:rPr kumimoji="1" lang="en-US" altLang="ja-JP" smtClean="0"/>
              <a:t>Third level</a:t>
            </a:r>
          </a:p>
          <a:p>
            <a:pPr lvl="3"/>
            <a:r>
              <a:rPr kumimoji="1" lang="en-US" altLang="ja-JP" smtClean="0"/>
              <a:t>Fourth level</a:t>
            </a:r>
          </a:p>
          <a:p>
            <a:pPr lvl="4"/>
            <a:r>
              <a:rPr kumimoji="1" lang="en-US" altLang="ja-JP" smtClean="0"/>
              <a:t>Fifth level</a:t>
            </a:r>
            <a:endParaRPr kumimoji="1" lang="ja-JP"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71828F-421C-4E44-B579-1CA9A818CADC}" type="datetimeFigureOut">
              <a:rPr kumimoji="1" lang="ja-JP" altLang="en-US" smtClean="0"/>
              <a:t>2019/11/28</a:t>
            </a:fld>
            <a:endParaRPr kumimoji="1" lang="ja-JP"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8205F-E862-8F41-A23C-AA35F6CC0F63}" type="slidenum">
              <a:rPr kumimoji="1" lang="ja-JP" altLang="en-US" smtClean="0"/>
              <a:t>‹#›</a:t>
            </a:fld>
            <a:endParaRPr kumimoji="1" lang="ja-JP" altLang="en-US"/>
          </a:p>
        </p:txBody>
      </p:sp>
    </p:spTree>
    <p:extLst>
      <p:ext uri="{BB962C8B-B14F-4D97-AF65-F5344CB8AC3E}">
        <p14:creationId xmlns:p14="http://schemas.microsoft.com/office/powerpoint/2010/main" val="2522834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66213" y="1208256"/>
            <a:ext cx="7769411" cy="1015663"/>
          </a:xfrm>
          <a:prstGeom prst="rect">
            <a:avLst/>
          </a:prstGeom>
          <a:noFill/>
        </p:spPr>
        <p:txBody>
          <a:bodyPr wrap="square" rtlCol="0">
            <a:spAutoFit/>
          </a:bodyPr>
          <a:lstStyle/>
          <a:p>
            <a:pPr algn="ctr"/>
            <a:r>
              <a:rPr lang="en-US" altLang="ja-JP" sz="6000" b="1" dirty="0" smtClean="0">
                <a:solidFill>
                  <a:srgbClr val="FF0000"/>
                </a:solidFill>
                <a:latin typeface="Arial"/>
                <a:cs typeface="Arial"/>
              </a:rPr>
              <a:t>Vaccines</a:t>
            </a:r>
            <a:endParaRPr lang="ar-sa" altLang="ja-JP" sz="6000" b="1" dirty="0" smtClean="0">
              <a:solidFill>
                <a:srgbClr val="FF0000"/>
              </a:solidFill>
              <a:latin typeface="Arial"/>
              <a:cs typeface="Arial"/>
            </a:endParaRPr>
          </a:p>
        </p:txBody>
      </p:sp>
      <p:pic>
        <p:nvPicPr>
          <p:cNvPr id="1026" name="Picture 2" descr="Image result for picture shows the evolution of vaccin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8347" y="2895600"/>
            <a:ext cx="4842832" cy="2711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556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4516" y="402481"/>
            <a:ext cx="7769411" cy="707886"/>
          </a:xfrm>
          <a:prstGeom prst="rect">
            <a:avLst/>
          </a:prstGeom>
          <a:noFill/>
        </p:spPr>
        <p:txBody>
          <a:bodyPr wrap="square" rtlCol="0">
            <a:spAutoFit/>
          </a:bodyPr>
          <a:lstStyle/>
          <a:p>
            <a:pPr algn="ctr"/>
            <a:r>
              <a:rPr lang="en-US" altLang="ja-JP" sz="4000" b="1" dirty="0" smtClean="0">
                <a:solidFill>
                  <a:srgbClr val="FF0000"/>
                </a:solidFill>
                <a:latin typeface="Arial"/>
                <a:cs typeface="Arial"/>
              </a:rPr>
              <a:t>Vaccines</a:t>
            </a:r>
            <a:endParaRPr lang="ar-sa" altLang="ja-JP" sz="4000" b="1" dirty="0">
              <a:solidFill>
                <a:srgbClr val="FF0000"/>
              </a:solidFill>
              <a:cs typeface="Arial"/>
            </a:endParaRPr>
          </a:p>
        </p:txBody>
      </p:sp>
      <p:sp>
        <p:nvSpPr>
          <p:cNvPr id="2" name="TextBox 1"/>
          <p:cNvSpPr txBox="1"/>
          <p:nvPr/>
        </p:nvSpPr>
        <p:spPr>
          <a:xfrm>
            <a:off x="552824" y="1513516"/>
            <a:ext cx="8273703" cy="5416868"/>
          </a:xfrm>
          <a:prstGeom prst="rect">
            <a:avLst/>
          </a:prstGeom>
          <a:noFill/>
        </p:spPr>
        <p:txBody>
          <a:bodyPr wrap="square" rtlCol="0">
            <a:spAutoFit/>
          </a:bodyPr>
          <a:lstStyle/>
          <a:p>
            <a:pPr marL="457200" indent="-457200">
              <a:spcAft>
                <a:spcPts val="2400"/>
              </a:spcAft>
              <a:buFont typeface="Arial"/>
              <a:buChar char="•"/>
            </a:pPr>
            <a:r>
              <a:rPr lang="en-US" altLang="ja-JP" sz="2600" dirty="0">
                <a:latin typeface="Times New Roman"/>
                <a:cs typeface="Times New Roman"/>
              </a:rPr>
              <a:t>Vaccines are preparations of dead or weakened pathogens, or their products, that when introduced into the body, stimulate the production of protective antibodies or T cells without causing the disease </a:t>
            </a:r>
            <a:endParaRPr lang="en-US" altLang="ja-JP" sz="2600" dirty="0" smtClean="0">
              <a:latin typeface="Times New Roman"/>
              <a:cs typeface="Times New Roman"/>
            </a:endParaRPr>
          </a:p>
          <a:p>
            <a:pPr marL="457200" indent="-457200">
              <a:spcAft>
                <a:spcPts val="2400"/>
              </a:spcAft>
              <a:buFont typeface="Arial"/>
              <a:buChar char="•"/>
            </a:pPr>
            <a:r>
              <a:rPr lang="en-US" altLang="ja-JP" sz="2600" dirty="0">
                <a:latin typeface="Times New Roman"/>
                <a:cs typeface="Times New Roman"/>
              </a:rPr>
              <a:t>The name ‘vaccine’ comes from the Latin </a:t>
            </a:r>
            <a:r>
              <a:rPr lang="en-US" altLang="ja-JP" sz="2600" dirty="0" err="1">
                <a:latin typeface="Times New Roman"/>
                <a:cs typeface="Times New Roman"/>
              </a:rPr>
              <a:t>vacca</a:t>
            </a:r>
            <a:r>
              <a:rPr lang="en-US" altLang="ja-JP" sz="2600" dirty="0">
                <a:latin typeface="Times New Roman"/>
                <a:cs typeface="Times New Roman"/>
              </a:rPr>
              <a:t> (for cow). </a:t>
            </a:r>
            <a:r>
              <a:rPr lang="en-US" altLang="ja-JP" sz="2600" dirty="0" smtClean="0">
                <a:latin typeface="Times New Roman"/>
                <a:cs typeface="Times New Roman"/>
              </a:rPr>
              <a:t>The </a:t>
            </a:r>
            <a:r>
              <a:rPr lang="en-US" altLang="ja-JP" sz="2600" dirty="0">
                <a:latin typeface="Times New Roman"/>
                <a:cs typeface="Times New Roman"/>
              </a:rPr>
              <a:t>earliest vaccination was done using the cow pox virus (which causes the disease in cow) as a vaccine against small pox in humans. </a:t>
            </a:r>
            <a:endParaRPr lang="en-US" altLang="ja-JP" sz="2600" dirty="0" smtClean="0">
              <a:latin typeface="Times New Roman"/>
              <a:cs typeface="Times New Roman"/>
            </a:endParaRPr>
          </a:p>
          <a:p>
            <a:pPr marL="457200" indent="-457200">
              <a:spcAft>
                <a:spcPts val="2400"/>
              </a:spcAft>
              <a:buFont typeface="Arial"/>
              <a:buChar char="•"/>
            </a:pPr>
            <a:r>
              <a:rPr lang="en-US" altLang="ja-JP" sz="2600" dirty="0" smtClean="0">
                <a:latin typeface="Times New Roman"/>
                <a:cs typeface="Times New Roman"/>
              </a:rPr>
              <a:t>The </a:t>
            </a:r>
            <a:r>
              <a:rPr lang="en-US" altLang="ja-JP" sz="2600" dirty="0">
                <a:latin typeface="Times New Roman"/>
                <a:cs typeface="Times New Roman"/>
              </a:rPr>
              <a:t>English physician, Edward Jenner carried out the above vaccination in the late 18th century </a:t>
            </a:r>
            <a:r>
              <a:rPr lang="en-US" altLang="ja-JP" sz="2600" dirty="0" smtClean="0">
                <a:latin typeface="Times New Roman"/>
                <a:cs typeface="Times New Roman"/>
              </a:rPr>
              <a:t>.</a:t>
            </a:r>
            <a:endParaRPr lang="en-US" altLang="ja-JP" sz="2600" dirty="0">
              <a:latin typeface="Times New Roman"/>
              <a:cs typeface="Times New Roman"/>
            </a:endParaRPr>
          </a:p>
          <a:p>
            <a:pPr marL="457200" indent="-457200">
              <a:spcAft>
                <a:spcPts val="2400"/>
              </a:spcAft>
              <a:buFont typeface="Arial"/>
              <a:buChar char="•"/>
            </a:pPr>
            <a:endParaRPr lang="en-US" altLang="ja-JP" sz="2600" dirty="0">
              <a:latin typeface="Times New Roman"/>
              <a:cs typeface="Times New Roman"/>
            </a:endParaRPr>
          </a:p>
        </p:txBody>
      </p:sp>
    </p:spTree>
    <p:extLst>
      <p:ext uri="{BB962C8B-B14F-4D97-AF65-F5344CB8AC3E}">
        <p14:creationId xmlns:p14="http://schemas.microsoft.com/office/powerpoint/2010/main" val="5045256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118" y="401758"/>
            <a:ext cx="9066882" cy="6120228"/>
          </a:xfrm>
          <a:prstGeom prst="rect">
            <a:avLst/>
          </a:prstGeom>
        </p:spPr>
      </p:pic>
    </p:spTree>
    <p:extLst>
      <p:ext uri="{BB962C8B-B14F-4D97-AF65-F5344CB8AC3E}">
        <p14:creationId xmlns:p14="http://schemas.microsoft.com/office/powerpoint/2010/main" val="28038144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66603" y="915999"/>
            <a:ext cx="7867324" cy="5769883"/>
          </a:xfrm>
          <a:prstGeom prst="rect">
            <a:avLst/>
          </a:prstGeom>
        </p:spPr>
      </p:pic>
      <p:sp>
        <p:nvSpPr>
          <p:cNvPr id="5" name="TextBox 4"/>
          <p:cNvSpPr txBox="1"/>
          <p:nvPr/>
        </p:nvSpPr>
        <p:spPr>
          <a:xfrm>
            <a:off x="764516" y="172727"/>
            <a:ext cx="7769411" cy="707886"/>
          </a:xfrm>
          <a:prstGeom prst="rect">
            <a:avLst/>
          </a:prstGeom>
          <a:noFill/>
        </p:spPr>
        <p:txBody>
          <a:bodyPr wrap="square" rtlCol="0">
            <a:spAutoFit/>
          </a:bodyPr>
          <a:lstStyle/>
          <a:p>
            <a:pPr algn="ctr"/>
            <a:r>
              <a:rPr lang="en-US" altLang="ja-JP" sz="4000" b="1" dirty="0" smtClean="0">
                <a:solidFill>
                  <a:srgbClr val="FF0000"/>
                </a:solidFill>
                <a:latin typeface="Arial"/>
                <a:cs typeface="Arial"/>
              </a:rPr>
              <a:t>Vaccines evolution</a:t>
            </a:r>
            <a:endParaRPr lang="ar-sa" altLang="ja-JP" sz="4000" b="1" dirty="0">
              <a:solidFill>
                <a:srgbClr val="FF0000"/>
              </a:solidFill>
              <a:cs typeface="Arial"/>
            </a:endParaRPr>
          </a:p>
        </p:txBody>
      </p:sp>
      <p:sp>
        <p:nvSpPr>
          <p:cNvPr id="4" name="Rectangle 3"/>
          <p:cNvSpPr/>
          <p:nvPr/>
        </p:nvSpPr>
        <p:spPr>
          <a:xfrm>
            <a:off x="666603" y="2699097"/>
            <a:ext cx="2861345" cy="243448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2148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97113"/>
            <a:ext cx="9014516" cy="6760887"/>
          </a:xfrm>
          <a:prstGeom prst="rect">
            <a:avLst/>
          </a:prstGeom>
        </p:spPr>
      </p:pic>
      <p:pic>
        <p:nvPicPr>
          <p:cNvPr id="3" name="Picture 2"/>
          <p:cNvPicPr>
            <a:picLocks noChangeAspect="1"/>
          </p:cNvPicPr>
          <p:nvPr/>
        </p:nvPicPr>
        <p:blipFill>
          <a:blip r:embed="rId3"/>
          <a:stretch>
            <a:fillRect/>
          </a:stretch>
        </p:blipFill>
        <p:spPr>
          <a:xfrm>
            <a:off x="3319655" y="1728833"/>
            <a:ext cx="1089900" cy="1517141"/>
          </a:xfrm>
          <a:prstGeom prst="rect">
            <a:avLst/>
          </a:prstGeom>
        </p:spPr>
      </p:pic>
    </p:spTree>
    <p:extLst>
      <p:ext uri="{BB962C8B-B14F-4D97-AF65-F5344CB8AC3E}">
        <p14:creationId xmlns:p14="http://schemas.microsoft.com/office/powerpoint/2010/main" val="28409561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74000"/>
            <a:ext cx="8591362" cy="914400"/>
          </a:xfrm>
        </p:spPr>
        <p:txBody>
          <a:bodyPr>
            <a:normAutofit/>
          </a:bodyPr>
          <a:lstStyle/>
          <a:p>
            <a:pPr eaLnBrk="1" hangingPunct="1"/>
            <a:r>
              <a:rPr lang="en-US" altLang="ja-JP" b="1" dirty="0" smtClean="0">
                <a:solidFill>
                  <a:srgbClr val="FF0000"/>
                </a:solidFill>
                <a:latin typeface="Arial" charset="0"/>
              </a:rPr>
              <a:t>Antigens and epitopes</a:t>
            </a:r>
            <a:endParaRPr lang="en-US" altLang="ja-JP" b="1" dirty="0">
              <a:solidFill>
                <a:srgbClr val="FF0000"/>
              </a:solidFill>
              <a:latin typeface="Arial" charset="0"/>
            </a:endParaRPr>
          </a:p>
        </p:txBody>
      </p:sp>
      <p:pic>
        <p:nvPicPr>
          <p:cNvPr id="3" name="Picture 2"/>
          <p:cNvPicPr>
            <a:picLocks noChangeAspect="1"/>
          </p:cNvPicPr>
          <p:nvPr/>
        </p:nvPicPr>
        <p:blipFill>
          <a:blip r:embed="rId3"/>
          <a:stretch>
            <a:fillRect/>
          </a:stretch>
        </p:blipFill>
        <p:spPr>
          <a:xfrm>
            <a:off x="864347" y="988400"/>
            <a:ext cx="7673287" cy="5754965"/>
          </a:xfrm>
          <a:prstGeom prst="rect">
            <a:avLst/>
          </a:prstGeom>
        </p:spPr>
      </p:pic>
    </p:spTree>
    <p:extLst>
      <p:ext uri="{BB962C8B-B14F-4D97-AF65-F5344CB8AC3E}">
        <p14:creationId xmlns:p14="http://schemas.microsoft.com/office/powerpoint/2010/main" val="14702956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197487"/>
            <a:ext cx="8591362" cy="914400"/>
          </a:xfrm>
        </p:spPr>
        <p:txBody>
          <a:bodyPr>
            <a:normAutofit/>
          </a:bodyPr>
          <a:lstStyle/>
          <a:p>
            <a:r>
              <a:rPr lang="en-US" altLang="ja-JP" b="1" dirty="0">
                <a:solidFill>
                  <a:srgbClr val="FF0000"/>
                </a:solidFill>
                <a:latin typeface="Arial" charset="0"/>
              </a:rPr>
              <a:t>Traditional vaccines </a:t>
            </a:r>
          </a:p>
        </p:txBody>
      </p:sp>
      <p:sp>
        <p:nvSpPr>
          <p:cNvPr id="4" name="TextBox 3"/>
          <p:cNvSpPr txBox="1"/>
          <p:nvPr/>
        </p:nvSpPr>
        <p:spPr>
          <a:xfrm>
            <a:off x="490112" y="1390031"/>
            <a:ext cx="8273703" cy="4647426"/>
          </a:xfrm>
          <a:prstGeom prst="rect">
            <a:avLst/>
          </a:prstGeom>
          <a:noFill/>
        </p:spPr>
        <p:txBody>
          <a:bodyPr wrap="square" rtlCol="0">
            <a:spAutoFit/>
          </a:bodyPr>
          <a:lstStyle/>
          <a:p>
            <a:pPr>
              <a:spcAft>
                <a:spcPts val="2400"/>
              </a:spcAft>
            </a:pPr>
            <a:r>
              <a:rPr lang="en-US" altLang="ja-JP" sz="3600" dirty="0">
                <a:latin typeface="Times New Roman"/>
                <a:cs typeface="Times New Roman"/>
              </a:rPr>
              <a:t>Traditional vaccines can be classified into four broad </a:t>
            </a:r>
            <a:r>
              <a:rPr lang="en-US" altLang="ja-JP" sz="3600" dirty="0" smtClean="0">
                <a:latin typeface="Times New Roman"/>
                <a:cs typeface="Times New Roman"/>
              </a:rPr>
              <a:t>groups:</a:t>
            </a:r>
          </a:p>
          <a:p>
            <a:pPr marL="742950" indent="-742950">
              <a:spcAft>
                <a:spcPts val="2400"/>
              </a:spcAft>
              <a:buFont typeface="+mj-lt"/>
              <a:buAutoNum type="arabicPeriod"/>
            </a:pPr>
            <a:r>
              <a:rPr lang="en-US" altLang="ja-JP" sz="3600" dirty="0" smtClean="0">
                <a:latin typeface="Times New Roman"/>
                <a:cs typeface="Times New Roman"/>
              </a:rPr>
              <a:t>Live attenuated bacteria/virus</a:t>
            </a:r>
          </a:p>
          <a:p>
            <a:pPr marL="742950" indent="-742950">
              <a:spcAft>
                <a:spcPts val="2400"/>
              </a:spcAft>
              <a:buFont typeface="+mj-lt"/>
              <a:buAutoNum type="arabicPeriod"/>
            </a:pPr>
            <a:r>
              <a:rPr lang="en-US" altLang="ja-JP" sz="3600" dirty="0" smtClean="0">
                <a:latin typeface="Times New Roman"/>
                <a:cs typeface="Times New Roman"/>
              </a:rPr>
              <a:t>Dead or inactivated bacteria/virus</a:t>
            </a:r>
          </a:p>
          <a:p>
            <a:pPr marL="742950" indent="-742950">
              <a:spcAft>
                <a:spcPts val="2400"/>
              </a:spcAft>
              <a:buFont typeface="+mj-lt"/>
              <a:buAutoNum type="arabicPeriod"/>
            </a:pPr>
            <a:r>
              <a:rPr lang="en-US" altLang="ja-JP" sz="3600" dirty="0" smtClean="0">
                <a:latin typeface="Times New Roman"/>
                <a:cs typeface="Times New Roman"/>
              </a:rPr>
              <a:t>Toxoids </a:t>
            </a:r>
          </a:p>
          <a:p>
            <a:pPr marL="742950" indent="-742950">
              <a:spcAft>
                <a:spcPts val="2400"/>
              </a:spcAft>
              <a:buFont typeface="+mj-lt"/>
              <a:buAutoNum type="arabicPeriod"/>
            </a:pPr>
            <a:r>
              <a:rPr lang="en-US" altLang="ja-JP" sz="3600" dirty="0" smtClean="0">
                <a:latin typeface="Times New Roman"/>
                <a:cs typeface="Times New Roman"/>
              </a:rPr>
              <a:t>Pathogen- derived antigens </a:t>
            </a:r>
            <a:endParaRPr lang="en-US" altLang="ja-JP" sz="3600" dirty="0">
              <a:latin typeface="Times New Roman"/>
              <a:cs typeface="Times New Roman"/>
            </a:endParaRPr>
          </a:p>
        </p:txBody>
      </p:sp>
    </p:spTree>
    <p:extLst>
      <p:ext uri="{BB962C8B-B14F-4D97-AF65-F5344CB8AC3E}">
        <p14:creationId xmlns:p14="http://schemas.microsoft.com/office/powerpoint/2010/main" val="22918807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15128"/>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Live attenuated </a:t>
            </a:r>
          </a:p>
        </p:txBody>
      </p:sp>
      <p:sp>
        <p:nvSpPr>
          <p:cNvPr id="4" name="TextBox 3"/>
          <p:cNvSpPr txBox="1"/>
          <p:nvPr/>
        </p:nvSpPr>
        <p:spPr>
          <a:xfrm>
            <a:off x="490112" y="1425313"/>
            <a:ext cx="8273703" cy="5847754"/>
          </a:xfrm>
          <a:prstGeom prst="rect">
            <a:avLst/>
          </a:prstGeom>
          <a:noFill/>
        </p:spPr>
        <p:txBody>
          <a:bodyPr wrap="square" rtlCol="0">
            <a:spAutoFit/>
          </a:bodyPr>
          <a:lstStyle/>
          <a:p>
            <a:pPr marL="342900" indent="-342900">
              <a:buFont typeface="Arial"/>
              <a:buChar char="•"/>
            </a:pPr>
            <a:r>
              <a:rPr lang="en-US" altLang="ja-JP" sz="2200" dirty="0" smtClean="0">
                <a:latin typeface="Times New Roman"/>
                <a:cs typeface="Times New Roman"/>
              </a:rPr>
              <a:t>Attenuation </a:t>
            </a:r>
            <a:r>
              <a:rPr lang="en-US" altLang="ja-JP" sz="2200" dirty="0">
                <a:latin typeface="Times New Roman"/>
                <a:cs typeface="Times New Roman"/>
              </a:rPr>
              <a:t>is the process of weakening or reducing the virulence of a microorganism by using empirical procedures like prolonged </a:t>
            </a:r>
            <a:r>
              <a:rPr lang="en-US" altLang="ja-JP" sz="2200" dirty="0" smtClean="0">
                <a:latin typeface="Times New Roman"/>
                <a:cs typeface="Times New Roman"/>
              </a:rPr>
              <a:t>storage </a:t>
            </a:r>
            <a:r>
              <a:rPr lang="en-US" altLang="ja-JP" sz="2200" dirty="0">
                <a:latin typeface="Times New Roman"/>
                <a:cs typeface="Times New Roman"/>
              </a:rPr>
              <a:t>and cultivation under suboptimal conditions (passaging). </a:t>
            </a:r>
            <a:endParaRPr lang="en-US" altLang="ja-JP" sz="2200" dirty="0" smtClean="0">
              <a:latin typeface="Times New Roman"/>
              <a:cs typeface="Times New Roman"/>
            </a:endParaRPr>
          </a:p>
          <a:p>
            <a:pPr marL="342900" indent="-342900">
              <a:buFont typeface="Arial"/>
              <a:buChar char="•"/>
            </a:pPr>
            <a:endParaRPr lang="en-US" altLang="ja-JP" sz="2200" dirty="0" smtClean="0">
              <a:latin typeface="Times New Roman"/>
              <a:cs typeface="Times New Roman"/>
            </a:endParaRPr>
          </a:p>
          <a:p>
            <a:pPr marL="342900" indent="-342900">
              <a:buFont typeface="Arial"/>
              <a:buChar char="•"/>
            </a:pPr>
            <a:r>
              <a:rPr lang="en-US" altLang="ja-JP" sz="2200" dirty="0" smtClean="0">
                <a:latin typeface="Times New Roman"/>
                <a:cs typeface="Times New Roman"/>
              </a:rPr>
              <a:t>Viruses </a:t>
            </a:r>
            <a:r>
              <a:rPr lang="en-US" altLang="ja-JP" sz="2200" dirty="0">
                <a:latin typeface="Times New Roman"/>
                <a:cs typeface="Times New Roman"/>
              </a:rPr>
              <a:t>are also attenuated in appropriate animal cell culture systems for </a:t>
            </a:r>
            <a:r>
              <a:rPr lang="en-US" altLang="ja-JP" sz="2200" dirty="0" smtClean="0">
                <a:latin typeface="Times New Roman"/>
                <a:cs typeface="Times New Roman"/>
              </a:rPr>
              <a:t>many generations </a:t>
            </a:r>
            <a:r>
              <a:rPr lang="en-US" altLang="ja-JP" sz="2200" dirty="0">
                <a:latin typeface="Times New Roman"/>
                <a:cs typeface="Times New Roman"/>
              </a:rPr>
              <a:t>under a stressful environment </a:t>
            </a:r>
            <a:endParaRPr lang="en-US" altLang="ja-JP" sz="2200" dirty="0" smtClean="0">
              <a:latin typeface="Times New Roman"/>
              <a:cs typeface="Times New Roman"/>
            </a:endParaRPr>
          </a:p>
          <a:p>
            <a:pPr marL="342900" indent="-342900">
              <a:buFont typeface="Arial"/>
              <a:buChar char="•"/>
            </a:pPr>
            <a:endParaRPr lang="en-US" altLang="ja-JP" sz="2200" dirty="0">
              <a:latin typeface="Times New Roman"/>
              <a:cs typeface="Times New Roman"/>
            </a:endParaRPr>
          </a:p>
          <a:p>
            <a:pPr marL="342900" indent="-342900">
              <a:buFont typeface="Arial"/>
              <a:buChar char="•"/>
            </a:pPr>
            <a:r>
              <a:rPr lang="en-US" altLang="ja-JP" sz="2200" b="1" dirty="0" smtClean="0">
                <a:latin typeface="Times New Roman"/>
                <a:cs typeface="Times New Roman"/>
              </a:rPr>
              <a:t>Advantages:</a:t>
            </a:r>
          </a:p>
          <a:p>
            <a:pPr marL="914400" lvl="1" indent="-457200">
              <a:buFont typeface="+mj-lt"/>
              <a:buAutoNum type="arabicPeriod"/>
            </a:pPr>
            <a:r>
              <a:rPr lang="en-US" altLang="ja-JP" sz="2200" dirty="0" smtClean="0">
                <a:latin typeface="Times New Roman"/>
                <a:cs typeface="Times New Roman"/>
              </a:rPr>
              <a:t>Low </a:t>
            </a:r>
            <a:r>
              <a:rPr lang="en-US" altLang="ja-JP" sz="2200" dirty="0">
                <a:latin typeface="Times New Roman"/>
                <a:cs typeface="Times New Roman"/>
              </a:rPr>
              <a:t>cost of preparation </a:t>
            </a:r>
            <a:endParaRPr lang="en-US" altLang="ja-JP" sz="2200" dirty="0" smtClean="0">
              <a:latin typeface="Times New Roman"/>
              <a:cs typeface="Times New Roman"/>
            </a:endParaRPr>
          </a:p>
          <a:p>
            <a:pPr marL="914400" lvl="1" indent="-457200">
              <a:buFont typeface="+mj-lt"/>
              <a:buAutoNum type="arabicPeriod"/>
            </a:pPr>
            <a:r>
              <a:rPr lang="en-US" altLang="ja-JP" sz="2200" dirty="0" smtClean="0">
                <a:latin typeface="Times New Roman"/>
                <a:cs typeface="Times New Roman"/>
              </a:rPr>
              <a:t>The ability </a:t>
            </a:r>
            <a:r>
              <a:rPr lang="en-US" altLang="ja-JP" sz="2200" dirty="0">
                <a:latin typeface="Times New Roman"/>
                <a:cs typeface="Times New Roman"/>
              </a:rPr>
              <a:t>to elicit the desired immunological response in a single-dose application. </a:t>
            </a:r>
            <a:endParaRPr lang="en-US" altLang="ja-JP" sz="2200" dirty="0" smtClean="0">
              <a:latin typeface="Times New Roman"/>
              <a:cs typeface="Times New Roman"/>
            </a:endParaRPr>
          </a:p>
          <a:p>
            <a:pPr marL="342900" indent="-342900">
              <a:buFont typeface="Arial"/>
              <a:buChar char="•"/>
            </a:pPr>
            <a:endParaRPr lang="en-US" altLang="ja-JP" sz="2200" dirty="0">
              <a:latin typeface="Times New Roman"/>
              <a:cs typeface="Times New Roman"/>
            </a:endParaRPr>
          </a:p>
          <a:p>
            <a:pPr marL="342900" indent="-342900">
              <a:buFont typeface="Arial"/>
              <a:buChar char="•"/>
            </a:pPr>
            <a:r>
              <a:rPr lang="en-US" altLang="ja-JP" sz="2200" b="1" dirty="0" smtClean="0">
                <a:latin typeface="Times New Roman"/>
                <a:cs typeface="Times New Roman"/>
              </a:rPr>
              <a:t>Disadvantages:</a:t>
            </a:r>
          </a:p>
          <a:p>
            <a:pPr marL="914400" lvl="1" indent="-457200">
              <a:buFont typeface="+mj-lt"/>
              <a:buAutoNum type="arabicPeriod"/>
            </a:pPr>
            <a:r>
              <a:rPr lang="en-US" altLang="ja-JP" sz="2200" dirty="0" smtClean="0">
                <a:latin typeface="Times New Roman"/>
                <a:cs typeface="Times New Roman"/>
              </a:rPr>
              <a:t>The </a:t>
            </a:r>
            <a:r>
              <a:rPr lang="en-US" altLang="ja-JP" sz="2200" dirty="0">
                <a:latin typeface="Times New Roman"/>
                <a:cs typeface="Times New Roman"/>
              </a:rPr>
              <a:t>potential to revert and become </a:t>
            </a:r>
            <a:r>
              <a:rPr lang="en-US" altLang="ja-JP" sz="2200" dirty="0" smtClean="0">
                <a:latin typeface="Times New Roman"/>
                <a:cs typeface="Times New Roman"/>
              </a:rPr>
              <a:t>virulent </a:t>
            </a:r>
          </a:p>
          <a:p>
            <a:pPr marL="914400" lvl="1" indent="-457200">
              <a:buFont typeface="+mj-lt"/>
              <a:buAutoNum type="arabicPeriod"/>
            </a:pPr>
            <a:r>
              <a:rPr lang="en-US" altLang="ja-JP" sz="2200" dirty="0" smtClean="0">
                <a:latin typeface="Times New Roman"/>
                <a:cs typeface="Times New Roman"/>
              </a:rPr>
              <a:t>Limited </a:t>
            </a:r>
            <a:r>
              <a:rPr lang="en-US" altLang="ja-JP" sz="2200" dirty="0">
                <a:latin typeface="Times New Roman"/>
                <a:cs typeface="Times New Roman"/>
              </a:rPr>
              <a:t>shelf life. </a:t>
            </a:r>
          </a:p>
          <a:p>
            <a:pPr marL="342900" indent="-342900">
              <a:buFont typeface="Arial"/>
              <a:buChar char="•"/>
            </a:pPr>
            <a:endParaRPr lang="en-US" altLang="ja-JP" sz="2200" dirty="0">
              <a:latin typeface="Times New Roman"/>
              <a:cs typeface="Times New Roman"/>
            </a:endParaRPr>
          </a:p>
          <a:p>
            <a:pPr marL="342900" indent="-342900">
              <a:buFont typeface="Arial"/>
              <a:buChar char="•"/>
            </a:pPr>
            <a:r>
              <a:rPr lang="en-US" altLang="ja-JP" sz="2200" dirty="0" smtClean="0">
                <a:latin typeface="Times New Roman"/>
                <a:cs typeface="Times New Roman"/>
              </a:rPr>
              <a:t> </a:t>
            </a:r>
            <a:endParaRPr lang="en-US" altLang="ja-JP" sz="2200" dirty="0">
              <a:latin typeface="Times New Roman"/>
              <a:cs typeface="Times New Roman"/>
            </a:endParaRPr>
          </a:p>
        </p:txBody>
      </p:sp>
    </p:spTree>
    <p:extLst>
      <p:ext uri="{BB962C8B-B14F-4D97-AF65-F5344CB8AC3E}">
        <p14:creationId xmlns:p14="http://schemas.microsoft.com/office/powerpoint/2010/main" val="37715567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15128"/>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Live attenuated </a:t>
            </a:r>
          </a:p>
        </p:txBody>
      </p:sp>
      <p:pic>
        <p:nvPicPr>
          <p:cNvPr id="2" name="Picture 1"/>
          <p:cNvPicPr>
            <a:picLocks noChangeAspect="1"/>
          </p:cNvPicPr>
          <p:nvPr/>
        </p:nvPicPr>
        <p:blipFill>
          <a:blip r:embed="rId3"/>
          <a:stretch>
            <a:fillRect/>
          </a:stretch>
        </p:blipFill>
        <p:spPr>
          <a:xfrm>
            <a:off x="293424" y="1535923"/>
            <a:ext cx="8782488" cy="4691405"/>
          </a:xfrm>
          <a:prstGeom prst="rect">
            <a:avLst/>
          </a:prstGeom>
        </p:spPr>
      </p:pic>
    </p:spTree>
    <p:extLst>
      <p:ext uri="{BB962C8B-B14F-4D97-AF65-F5344CB8AC3E}">
        <p14:creationId xmlns:p14="http://schemas.microsoft.com/office/powerpoint/2010/main" val="19738452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197487"/>
            <a:ext cx="8591362" cy="914400"/>
          </a:xfrm>
        </p:spPr>
        <p:txBody>
          <a:bodyPr>
            <a:normAutofit fontScale="90000"/>
          </a:bodyPr>
          <a:lstStyle/>
          <a:p>
            <a:r>
              <a:rPr lang="en-US" altLang="ja-JP" b="1" dirty="0">
                <a:solidFill>
                  <a:srgbClr val="FF0000"/>
                </a:solidFill>
                <a:latin typeface="Arial" charset="0"/>
              </a:rPr>
              <a:t>Traditional vaccines</a:t>
            </a:r>
            <a:br>
              <a:rPr lang="en-US" altLang="ja-JP" b="1" dirty="0">
                <a:solidFill>
                  <a:srgbClr val="FF0000"/>
                </a:solidFill>
                <a:latin typeface="Arial" charset="0"/>
              </a:rPr>
            </a:br>
            <a:r>
              <a:rPr lang="en-US" altLang="ja-JP" sz="3600" b="1" i="1" dirty="0">
                <a:solidFill>
                  <a:srgbClr val="FF0000"/>
                </a:solidFill>
                <a:latin typeface="Arial" charset="0"/>
              </a:rPr>
              <a:t>Live attenuated </a:t>
            </a:r>
          </a:p>
        </p:txBody>
      </p:sp>
      <p:pic>
        <p:nvPicPr>
          <p:cNvPr id="2" name="Picture 1"/>
          <p:cNvPicPr>
            <a:picLocks noChangeAspect="1"/>
          </p:cNvPicPr>
          <p:nvPr/>
        </p:nvPicPr>
        <p:blipFill>
          <a:blip r:embed="rId3"/>
          <a:stretch>
            <a:fillRect/>
          </a:stretch>
        </p:blipFill>
        <p:spPr>
          <a:xfrm>
            <a:off x="-153526" y="1897915"/>
            <a:ext cx="9042764" cy="4435260"/>
          </a:xfrm>
          <a:prstGeom prst="rect">
            <a:avLst/>
          </a:prstGeom>
        </p:spPr>
      </p:pic>
    </p:spTree>
    <p:extLst>
      <p:ext uri="{BB962C8B-B14F-4D97-AF65-F5344CB8AC3E}">
        <p14:creationId xmlns:p14="http://schemas.microsoft.com/office/powerpoint/2010/main" val="2342311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68051"/>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Dead</a:t>
            </a:r>
            <a:r>
              <a:rPr lang="en-US" altLang="ja-JP" sz="2400" b="1" i="1" dirty="0" smtClean="0">
                <a:solidFill>
                  <a:srgbClr val="FF0000"/>
                </a:solidFill>
                <a:latin typeface="Arial" charset="0"/>
              </a:rPr>
              <a:t>, Inactivated Vaccines </a:t>
            </a:r>
            <a:r>
              <a:rPr lang="en-US" altLang="ja-JP" sz="2400" b="1" i="1" dirty="0">
                <a:solidFill>
                  <a:srgbClr val="FF0000"/>
                </a:solidFill>
                <a:latin typeface="Arial" charset="0"/>
              </a:rPr>
              <a:t/>
            </a:r>
            <a:br>
              <a:rPr lang="en-US" altLang="ja-JP" sz="2400" b="1" i="1" dirty="0">
                <a:solidFill>
                  <a:srgbClr val="FF0000"/>
                </a:solidFill>
                <a:latin typeface="Arial" charset="0"/>
              </a:rPr>
            </a:br>
            <a:endParaRPr lang="en-US" altLang="ja-JP" sz="2400" b="1" i="1" dirty="0">
              <a:solidFill>
                <a:srgbClr val="FF0000"/>
              </a:solidFill>
              <a:latin typeface="Arial" charset="0"/>
            </a:endParaRPr>
          </a:p>
        </p:txBody>
      </p:sp>
      <p:sp>
        <p:nvSpPr>
          <p:cNvPr id="3" name="Rectangle 2"/>
          <p:cNvSpPr/>
          <p:nvPr/>
        </p:nvSpPr>
        <p:spPr>
          <a:xfrm>
            <a:off x="458633" y="1298183"/>
            <a:ext cx="8079001" cy="5847754"/>
          </a:xfrm>
          <a:prstGeom prst="rect">
            <a:avLst/>
          </a:prstGeom>
        </p:spPr>
        <p:txBody>
          <a:bodyPr wrap="square">
            <a:spAutoFit/>
          </a:bodyPr>
          <a:lstStyle/>
          <a:p>
            <a:pPr marL="342900" indent="-342900">
              <a:buFont typeface="Arial"/>
              <a:buChar char="•"/>
            </a:pPr>
            <a:r>
              <a:rPr lang="en-US" altLang="ja-JP" sz="2200" dirty="0" smtClean="0">
                <a:latin typeface="Times New Roman"/>
                <a:cs typeface="Times New Roman"/>
              </a:rPr>
              <a:t>Consist </a:t>
            </a:r>
            <a:r>
              <a:rPr lang="en-US" altLang="ja-JP" sz="2200" dirty="0">
                <a:latin typeface="Times New Roman"/>
                <a:cs typeface="Times New Roman"/>
              </a:rPr>
              <a:t>of suspensions of fully virulent organisms </a:t>
            </a:r>
            <a:r>
              <a:rPr lang="en-US" altLang="ja-JP" sz="2200" dirty="0" smtClean="0">
                <a:latin typeface="Times New Roman"/>
                <a:cs typeface="Times New Roman"/>
              </a:rPr>
              <a:t>killed </a:t>
            </a:r>
            <a:r>
              <a:rPr lang="en-US" altLang="ja-JP" sz="2200" dirty="0">
                <a:latin typeface="Times New Roman"/>
                <a:cs typeface="Times New Roman"/>
              </a:rPr>
              <a:t>as mildly as possible in order not to destroy the antigenic determinants on the organism. </a:t>
            </a:r>
            <a:endParaRPr lang="en-US" altLang="ja-JP" sz="2200" dirty="0" smtClean="0">
              <a:latin typeface="Times New Roman"/>
              <a:cs typeface="Times New Roman"/>
            </a:endParaRPr>
          </a:p>
          <a:p>
            <a:pPr marL="342900" indent="-342900">
              <a:buFont typeface="Arial"/>
              <a:buChar char="•"/>
            </a:pPr>
            <a:endParaRPr lang="en-US" altLang="ja-JP" sz="2200" dirty="0" smtClean="0">
              <a:latin typeface="Times New Roman"/>
              <a:cs typeface="Times New Roman"/>
            </a:endParaRPr>
          </a:p>
          <a:p>
            <a:pPr marL="342900" indent="-342900">
              <a:buFont typeface="Arial"/>
              <a:buChar char="•"/>
            </a:pPr>
            <a:r>
              <a:rPr lang="en-US" altLang="ja-JP" sz="2200" b="1" dirty="0" smtClean="0">
                <a:latin typeface="Times New Roman"/>
                <a:cs typeface="Times New Roman"/>
              </a:rPr>
              <a:t>Killing </a:t>
            </a:r>
            <a:r>
              <a:rPr lang="en-US" altLang="ja-JP" sz="2200" b="1" dirty="0">
                <a:latin typeface="Times New Roman"/>
                <a:cs typeface="Times New Roman"/>
              </a:rPr>
              <a:t>can be </a:t>
            </a:r>
            <a:r>
              <a:rPr lang="en-US" altLang="ja-JP" sz="2200" b="1" dirty="0" smtClean="0">
                <a:latin typeface="Times New Roman"/>
                <a:cs typeface="Times New Roman"/>
              </a:rPr>
              <a:t>achieved: </a:t>
            </a:r>
          </a:p>
          <a:p>
            <a:pPr marL="914400" lvl="1" indent="-457200">
              <a:buFont typeface="+mj-lt"/>
              <a:buAutoNum type="arabicPeriod"/>
            </a:pPr>
            <a:r>
              <a:rPr lang="en-US" altLang="ja-JP" sz="2200" dirty="0">
                <a:latin typeface="Times New Roman"/>
                <a:cs typeface="Times New Roman"/>
              </a:rPr>
              <a:t>H</a:t>
            </a:r>
            <a:r>
              <a:rPr lang="en-US" altLang="ja-JP" sz="2200" dirty="0" smtClean="0">
                <a:latin typeface="Times New Roman"/>
                <a:cs typeface="Times New Roman"/>
              </a:rPr>
              <a:t>eat </a:t>
            </a:r>
            <a:r>
              <a:rPr lang="en-US" altLang="ja-JP" sz="2200" dirty="0">
                <a:latin typeface="Times New Roman"/>
                <a:cs typeface="Times New Roman"/>
              </a:rPr>
              <a:t>(usually about 60°C for 1 hour) </a:t>
            </a:r>
          </a:p>
          <a:p>
            <a:pPr marL="914400" lvl="1" indent="-457200">
              <a:buFont typeface="+mj-lt"/>
              <a:buAutoNum type="arabicPeriod"/>
            </a:pPr>
            <a:r>
              <a:rPr lang="en-US" altLang="ja-JP" sz="2200" dirty="0" smtClean="0">
                <a:latin typeface="Times New Roman"/>
                <a:cs typeface="Times New Roman"/>
              </a:rPr>
              <a:t>Chemicals </a:t>
            </a:r>
            <a:r>
              <a:rPr lang="en-US" altLang="ja-JP" sz="2200" dirty="0">
                <a:latin typeface="Times New Roman"/>
                <a:cs typeface="Times New Roman"/>
              </a:rPr>
              <a:t>(phenol, alcohol, formalin, b-</a:t>
            </a:r>
            <a:r>
              <a:rPr lang="en-US" altLang="ja-JP" sz="2200" dirty="0" err="1">
                <a:latin typeface="Times New Roman"/>
                <a:cs typeface="Times New Roman"/>
              </a:rPr>
              <a:t>propiolactone</a:t>
            </a:r>
            <a:r>
              <a:rPr lang="en-US" altLang="ja-JP" sz="2200" dirty="0">
                <a:latin typeface="Times New Roman"/>
                <a:cs typeface="Times New Roman"/>
              </a:rPr>
              <a:t>) </a:t>
            </a:r>
            <a:endParaRPr lang="en-US" altLang="ja-JP" sz="2200" dirty="0" smtClean="0">
              <a:latin typeface="Times New Roman"/>
              <a:cs typeface="Times New Roman"/>
            </a:endParaRPr>
          </a:p>
          <a:p>
            <a:pPr marL="914400" lvl="1" indent="-457200">
              <a:buFont typeface="+mj-lt"/>
              <a:buAutoNum type="arabicPeriod"/>
            </a:pPr>
            <a:r>
              <a:rPr lang="en-US" altLang="ja-JP" sz="2200" dirty="0" smtClean="0">
                <a:latin typeface="Times New Roman"/>
                <a:cs typeface="Times New Roman"/>
              </a:rPr>
              <a:t>Ultraviolet irradiation</a:t>
            </a:r>
          </a:p>
          <a:p>
            <a:pPr lvl="1"/>
            <a:endParaRPr lang="en-US" altLang="ja-JP" sz="2200" dirty="0" smtClean="0">
              <a:latin typeface="Times New Roman"/>
              <a:cs typeface="Times New Roman"/>
            </a:endParaRPr>
          </a:p>
          <a:p>
            <a:pPr marL="457200" indent="-457200">
              <a:buFont typeface="Arial"/>
              <a:buChar char="•"/>
            </a:pPr>
            <a:r>
              <a:rPr lang="en-US" altLang="ja-JP" sz="2200" b="1" dirty="0" smtClean="0">
                <a:latin typeface="Times New Roman"/>
                <a:cs typeface="Times New Roman"/>
              </a:rPr>
              <a:t>Advantages</a:t>
            </a:r>
            <a:r>
              <a:rPr lang="en-US" altLang="ja-JP" sz="2200" dirty="0" smtClean="0">
                <a:latin typeface="Times New Roman"/>
                <a:cs typeface="Times New Roman"/>
              </a:rPr>
              <a:t>:  </a:t>
            </a:r>
          </a:p>
          <a:p>
            <a:pPr marL="914400" lvl="1" indent="-457200">
              <a:buFont typeface="+mj-lt"/>
              <a:buAutoNum type="arabicPeriod"/>
            </a:pPr>
            <a:r>
              <a:rPr lang="en-US" altLang="ja-JP" sz="2200" dirty="0" smtClean="0">
                <a:latin typeface="Times New Roman"/>
                <a:cs typeface="Times New Roman"/>
              </a:rPr>
              <a:t>No </a:t>
            </a:r>
            <a:r>
              <a:rPr lang="en-US" altLang="ja-JP" sz="2200" dirty="0">
                <a:latin typeface="Times New Roman"/>
                <a:cs typeface="Times New Roman"/>
              </a:rPr>
              <a:t>chances of reversal into a virulent strain </a:t>
            </a:r>
            <a:endParaRPr lang="en-US" altLang="ja-JP" sz="2200" dirty="0" smtClean="0">
              <a:latin typeface="Times New Roman"/>
              <a:cs typeface="Times New Roman"/>
            </a:endParaRPr>
          </a:p>
          <a:p>
            <a:pPr marL="914400" lvl="1" indent="-457200">
              <a:buFont typeface="+mj-lt"/>
              <a:buAutoNum type="arabicPeriod"/>
            </a:pPr>
            <a:r>
              <a:rPr lang="en-US" altLang="ja-JP" sz="2200" dirty="0" smtClean="0">
                <a:latin typeface="Times New Roman"/>
                <a:cs typeface="Times New Roman"/>
              </a:rPr>
              <a:t>Relatively </a:t>
            </a:r>
            <a:r>
              <a:rPr lang="en-US" altLang="ja-JP" sz="2200" dirty="0">
                <a:latin typeface="Times New Roman"/>
                <a:cs typeface="Times New Roman"/>
              </a:rPr>
              <a:t>stable shelf life. </a:t>
            </a:r>
            <a:endParaRPr lang="en-US" altLang="ja-JP" sz="2200" dirty="0" smtClean="0">
              <a:latin typeface="Times New Roman"/>
              <a:cs typeface="Times New Roman"/>
            </a:endParaRPr>
          </a:p>
          <a:p>
            <a:pPr marL="914400" lvl="1" indent="-457200">
              <a:buFont typeface="+mj-lt"/>
              <a:buAutoNum type="arabicPeriod"/>
            </a:pPr>
            <a:endParaRPr lang="en-US" altLang="ja-JP" sz="2200" dirty="0" smtClean="0">
              <a:latin typeface="Times New Roman"/>
              <a:cs typeface="Times New Roman"/>
            </a:endParaRPr>
          </a:p>
          <a:p>
            <a:pPr marL="457200" indent="-457200">
              <a:buFont typeface="Arial"/>
              <a:buChar char="•"/>
            </a:pPr>
            <a:r>
              <a:rPr lang="en-US" altLang="ja-JP" sz="2200" b="1" dirty="0" smtClean="0">
                <a:latin typeface="Times New Roman"/>
                <a:cs typeface="Times New Roman"/>
              </a:rPr>
              <a:t>Disadvantages: </a:t>
            </a:r>
          </a:p>
          <a:p>
            <a:pPr marL="914400" lvl="1" indent="-457200">
              <a:buFont typeface="+mj-lt"/>
              <a:buAutoNum type="arabicPeriod"/>
            </a:pPr>
            <a:r>
              <a:rPr lang="en-US" altLang="ja-JP" sz="2200" dirty="0" smtClean="0">
                <a:latin typeface="Times New Roman"/>
                <a:cs typeface="Times New Roman"/>
              </a:rPr>
              <a:t>The </a:t>
            </a:r>
            <a:r>
              <a:rPr lang="en-US" altLang="ja-JP" sz="2200" dirty="0">
                <a:latin typeface="Times New Roman"/>
                <a:cs typeface="Times New Roman"/>
              </a:rPr>
              <a:t>higher cost of vaccine development </a:t>
            </a:r>
            <a:endParaRPr lang="en-US" altLang="ja-JP" sz="2200" dirty="0" smtClean="0">
              <a:latin typeface="Times New Roman"/>
              <a:cs typeface="Times New Roman"/>
            </a:endParaRPr>
          </a:p>
          <a:p>
            <a:pPr marL="914400" lvl="1" indent="-457200">
              <a:buFont typeface="+mj-lt"/>
              <a:buAutoNum type="arabicPeriod"/>
            </a:pPr>
            <a:r>
              <a:rPr lang="en-US" altLang="ja-JP" sz="2200" dirty="0" smtClean="0">
                <a:latin typeface="Times New Roman"/>
                <a:cs typeface="Times New Roman"/>
              </a:rPr>
              <a:t>The </a:t>
            </a:r>
            <a:r>
              <a:rPr lang="en-US" altLang="ja-JP" sz="2200" dirty="0">
                <a:latin typeface="Times New Roman"/>
                <a:cs typeface="Times New Roman"/>
              </a:rPr>
              <a:t>possibility of reduced immune </a:t>
            </a:r>
          </a:p>
          <a:p>
            <a:pPr marL="914400" lvl="1" indent="-457200">
              <a:buFont typeface="+mj-lt"/>
              <a:buAutoNum type="arabicPeriod"/>
            </a:pPr>
            <a:endParaRPr lang="ja-JP" altLang="en-US" sz="2200" dirty="0">
              <a:latin typeface="Times New Roman"/>
              <a:cs typeface="Times New Roman"/>
            </a:endParaRPr>
          </a:p>
        </p:txBody>
      </p:sp>
    </p:spTree>
    <p:extLst>
      <p:ext uri="{BB962C8B-B14F-4D97-AF65-F5344CB8AC3E}">
        <p14:creationId xmlns:p14="http://schemas.microsoft.com/office/powerpoint/2010/main" val="2743020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68051"/>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Dead</a:t>
            </a:r>
            <a:r>
              <a:rPr lang="en-US" altLang="ja-JP" sz="2400" b="1" i="1" dirty="0" smtClean="0">
                <a:solidFill>
                  <a:srgbClr val="FF0000"/>
                </a:solidFill>
                <a:latin typeface="Arial" charset="0"/>
              </a:rPr>
              <a:t>, Inactivated Vaccines </a:t>
            </a:r>
            <a:r>
              <a:rPr lang="en-US" altLang="ja-JP" sz="2400" b="1" i="1" dirty="0">
                <a:solidFill>
                  <a:srgbClr val="FF0000"/>
                </a:solidFill>
                <a:latin typeface="Arial" charset="0"/>
              </a:rPr>
              <a:t/>
            </a:r>
            <a:br>
              <a:rPr lang="en-US" altLang="ja-JP" sz="2400" b="1" i="1" dirty="0">
                <a:solidFill>
                  <a:srgbClr val="FF0000"/>
                </a:solidFill>
                <a:latin typeface="Arial" charset="0"/>
              </a:rPr>
            </a:br>
            <a:endParaRPr lang="en-US" altLang="ja-JP" sz="2400" b="1" i="1" dirty="0">
              <a:solidFill>
                <a:srgbClr val="FF0000"/>
              </a:solidFill>
              <a:latin typeface="Arial" charset="0"/>
            </a:endParaRPr>
          </a:p>
        </p:txBody>
      </p:sp>
      <p:pic>
        <p:nvPicPr>
          <p:cNvPr id="2" name="Picture 1"/>
          <p:cNvPicPr>
            <a:picLocks noChangeAspect="1"/>
          </p:cNvPicPr>
          <p:nvPr/>
        </p:nvPicPr>
        <p:blipFill>
          <a:blip r:embed="rId3"/>
          <a:stretch>
            <a:fillRect/>
          </a:stretch>
        </p:blipFill>
        <p:spPr>
          <a:xfrm>
            <a:off x="516385" y="1781757"/>
            <a:ext cx="8054634" cy="4395405"/>
          </a:xfrm>
          <a:prstGeom prst="rect">
            <a:avLst/>
          </a:prstGeom>
        </p:spPr>
      </p:pic>
    </p:spTree>
    <p:extLst>
      <p:ext uri="{BB962C8B-B14F-4D97-AF65-F5344CB8AC3E}">
        <p14:creationId xmlns:p14="http://schemas.microsoft.com/office/powerpoint/2010/main" val="18994429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68051"/>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smtClean="0">
                <a:solidFill>
                  <a:srgbClr val="FF0000"/>
                </a:solidFill>
                <a:latin typeface="Arial" charset="0"/>
              </a:rPr>
              <a:t>Toxoids</a:t>
            </a:r>
            <a:endParaRPr lang="en-US" altLang="ja-JP" sz="2400" b="1" i="1" dirty="0">
              <a:solidFill>
                <a:srgbClr val="FF0000"/>
              </a:solidFill>
              <a:latin typeface="Arial" charset="0"/>
            </a:endParaRPr>
          </a:p>
        </p:txBody>
      </p:sp>
      <p:sp>
        <p:nvSpPr>
          <p:cNvPr id="3" name="Rectangle 2"/>
          <p:cNvSpPr/>
          <p:nvPr/>
        </p:nvSpPr>
        <p:spPr>
          <a:xfrm>
            <a:off x="458633" y="1686288"/>
            <a:ext cx="8079001" cy="4401205"/>
          </a:xfrm>
          <a:prstGeom prst="rect">
            <a:avLst/>
          </a:prstGeom>
        </p:spPr>
        <p:txBody>
          <a:bodyPr wrap="square">
            <a:spAutoFit/>
          </a:bodyPr>
          <a:lstStyle/>
          <a:p>
            <a:pPr marL="342900" indent="-342900">
              <a:buFont typeface="Arial"/>
              <a:buChar char="•"/>
            </a:pPr>
            <a:r>
              <a:rPr lang="en-US" altLang="ja-JP" sz="2800" dirty="0">
                <a:latin typeface="Times New Roman"/>
                <a:cs typeface="Times New Roman"/>
              </a:rPr>
              <a:t>A toxoid is derived from the treatment of active toxin produced by the bacterium with formaldehyde </a:t>
            </a:r>
          </a:p>
          <a:p>
            <a:pPr marL="342900" indent="-342900">
              <a:buFont typeface="Arial"/>
              <a:buChar char="•"/>
            </a:pPr>
            <a:endParaRPr lang="en-US" altLang="ja-JP" sz="2800" dirty="0" smtClean="0">
              <a:latin typeface="Times New Roman"/>
              <a:cs typeface="Times New Roman"/>
            </a:endParaRPr>
          </a:p>
          <a:p>
            <a:pPr marL="342900" indent="-342900">
              <a:buFont typeface="Arial"/>
              <a:buChar char="•"/>
            </a:pPr>
            <a:r>
              <a:rPr lang="en-US" altLang="ja-JP" sz="2800" dirty="0">
                <a:latin typeface="Times New Roman"/>
                <a:cs typeface="Times New Roman"/>
              </a:rPr>
              <a:t>Two commonly toxoid-based vaccine preparations are tetanus and diphtheria vaccines. </a:t>
            </a:r>
            <a:endParaRPr lang="en-US" altLang="ja-JP" sz="2800" dirty="0" smtClean="0">
              <a:latin typeface="Times New Roman"/>
              <a:cs typeface="Times New Roman"/>
            </a:endParaRPr>
          </a:p>
          <a:p>
            <a:pPr marL="342900" indent="-342900">
              <a:buFont typeface="Arial"/>
              <a:buChar char="•"/>
            </a:pPr>
            <a:endParaRPr lang="en-US" altLang="ja-JP" sz="2800" dirty="0">
              <a:latin typeface="Times New Roman"/>
              <a:cs typeface="Times New Roman"/>
            </a:endParaRPr>
          </a:p>
          <a:p>
            <a:pPr marL="342900" indent="-342900">
              <a:buFont typeface="Arial"/>
              <a:buChar char="•"/>
            </a:pPr>
            <a:r>
              <a:rPr lang="en-US" altLang="ja-JP" sz="2800" dirty="0" smtClean="0">
                <a:latin typeface="Times New Roman"/>
                <a:cs typeface="Times New Roman"/>
              </a:rPr>
              <a:t>Tetanus </a:t>
            </a:r>
            <a:r>
              <a:rPr lang="en-US" altLang="ja-JP" sz="2800" dirty="0">
                <a:latin typeface="Times New Roman"/>
                <a:cs typeface="Times New Roman"/>
              </a:rPr>
              <a:t>toxin is produced by </a:t>
            </a:r>
            <a:r>
              <a:rPr lang="en-US" altLang="ja-JP" sz="2800" i="1" dirty="0">
                <a:latin typeface="Times New Roman"/>
                <a:cs typeface="Times New Roman"/>
              </a:rPr>
              <a:t>Clostridium </a:t>
            </a:r>
            <a:r>
              <a:rPr lang="en-US" altLang="ja-JP" sz="2800" i="1" dirty="0" err="1">
                <a:latin typeface="Times New Roman"/>
                <a:cs typeface="Times New Roman"/>
              </a:rPr>
              <a:t>tetani</a:t>
            </a:r>
            <a:r>
              <a:rPr lang="en-US" altLang="ja-JP" sz="2800" i="1" dirty="0">
                <a:latin typeface="Times New Roman"/>
                <a:cs typeface="Times New Roman"/>
              </a:rPr>
              <a:t> </a:t>
            </a:r>
            <a:r>
              <a:rPr lang="en-US" altLang="ja-JP" sz="2800" dirty="0" smtClean="0">
                <a:latin typeface="Times New Roman"/>
                <a:cs typeface="Times New Roman"/>
              </a:rPr>
              <a:t>and diphtheria </a:t>
            </a:r>
            <a:r>
              <a:rPr lang="en-US" altLang="ja-JP" sz="2800" dirty="0">
                <a:latin typeface="Times New Roman"/>
                <a:cs typeface="Times New Roman"/>
              </a:rPr>
              <a:t>toxin </a:t>
            </a:r>
            <a:r>
              <a:rPr lang="en-US" altLang="ja-JP" sz="2800" dirty="0" smtClean="0">
                <a:latin typeface="Times New Roman"/>
                <a:cs typeface="Times New Roman"/>
              </a:rPr>
              <a:t>from </a:t>
            </a:r>
            <a:r>
              <a:rPr lang="en-US" altLang="ja-JP" sz="2800" i="1" dirty="0" err="1">
                <a:latin typeface="Times New Roman"/>
                <a:cs typeface="Times New Roman"/>
              </a:rPr>
              <a:t>Corynebacterium</a:t>
            </a:r>
            <a:r>
              <a:rPr lang="en-US" altLang="ja-JP" sz="2800" i="1" dirty="0">
                <a:latin typeface="Times New Roman"/>
                <a:cs typeface="Times New Roman"/>
              </a:rPr>
              <a:t> </a:t>
            </a:r>
            <a:r>
              <a:rPr lang="en-US" altLang="ja-JP" sz="2800" i="1" dirty="0" err="1">
                <a:latin typeface="Times New Roman"/>
                <a:cs typeface="Times New Roman"/>
              </a:rPr>
              <a:t>diphtheriae</a:t>
            </a:r>
            <a:r>
              <a:rPr lang="en-US" altLang="ja-JP" sz="2800" i="1" dirty="0">
                <a:latin typeface="Times New Roman"/>
                <a:cs typeface="Times New Roman"/>
              </a:rPr>
              <a:t> </a:t>
            </a:r>
            <a:r>
              <a:rPr lang="en-US" altLang="ja-JP" sz="2800" dirty="0" smtClean="0">
                <a:latin typeface="Times New Roman"/>
                <a:cs typeface="Times New Roman"/>
              </a:rPr>
              <a:t>which </a:t>
            </a:r>
            <a:r>
              <a:rPr lang="en-US" altLang="ja-JP" sz="2800" dirty="0">
                <a:latin typeface="Times New Roman"/>
                <a:cs typeface="Times New Roman"/>
              </a:rPr>
              <a:t>is also used as a toxoid for the treatment of whooping cough. </a:t>
            </a:r>
          </a:p>
        </p:txBody>
      </p:sp>
    </p:spTree>
    <p:extLst>
      <p:ext uri="{BB962C8B-B14F-4D97-AF65-F5344CB8AC3E}">
        <p14:creationId xmlns:p14="http://schemas.microsoft.com/office/powerpoint/2010/main" val="27259814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68051"/>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Pathogen-Derived Antigens </a:t>
            </a:r>
          </a:p>
        </p:txBody>
      </p:sp>
      <p:sp>
        <p:nvSpPr>
          <p:cNvPr id="3" name="Rectangle 2"/>
          <p:cNvSpPr/>
          <p:nvPr/>
        </p:nvSpPr>
        <p:spPr>
          <a:xfrm>
            <a:off x="458633" y="1509878"/>
            <a:ext cx="8220119" cy="4832093"/>
          </a:xfrm>
          <a:prstGeom prst="rect">
            <a:avLst/>
          </a:prstGeom>
        </p:spPr>
        <p:txBody>
          <a:bodyPr wrap="square">
            <a:spAutoFit/>
          </a:bodyPr>
          <a:lstStyle/>
          <a:p>
            <a:pPr marL="342900" indent="-342900">
              <a:buFont typeface="Arial"/>
              <a:buChar char="•"/>
            </a:pPr>
            <a:r>
              <a:rPr lang="en-US" altLang="ja-JP" sz="2800" dirty="0">
                <a:latin typeface="Times New Roman"/>
                <a:cs typeface="Times New Roman"/>
              </a:rPr>
              <a:t>The pathogen-derived antigens </a:t>
            </a:r>
            <a:r>
              <a:rPr lang="en-US" altLang="ja-JP" sz="2800" dirty="0" smtClean="0">
                <a:latin typeface="Times New Roman"/>
                <a:cs typeface="Times New Roman"/>
              </a:rPr>
              <a:t>comprise </a:t>
            </a:r>
            <a:r>
              <a:rPr lang="en-US" altLang="ja-JP" sz="2800" dirty="0">
                <a:latin typeface="Times New Roman"/>
                <a:cs typeface="Times New Roman"/>
              </a:rPr>
              <a:t>of antigenic portions of the pathogens which are generally surface derived, most commonly surface polysaccharides </a:t>
            </a:r>
          </a:p>
          <a:p>
            <a:pPr marL="342900" indent="-342900">
              <a:buFont typeface="Arial"/>
              <a:buChar char="•"/>
            </a:pPr>
            <a:endParaRPr lang="en-US" altLang="ja-JP" sz="2800" dirty="0" smtClean="0">
              <a:latin typeface="Times New Roman"/>
              <a:cs typeface="Times New Roman"/>
            </a:endParaRPr>
          </a:p>
          <a:p>
            <a:pPr marL="457200" indent="-457200">
              <a:buFont typeface="Arial"/>
              <a:buChar char="•"/>
            </a:pPr>
            <a:r>
              <a:rPr lang="en-US" altLang="ja-JP" sz="2800" dirty="0">
                <a:latin typeface="Times New Roman"/>
                <a:cs typeface="Times New Roman"/>
              </a:rPr>
              <a:t>The antigenicity of surface polysaccharides </a:t>
            </a:r>
            <a:r>
              <a:rPr lang="en-US" altLang="ja-JP" sz="2800" dirty="0" smtClean="0">
                <a:latin typeface="Times New Roman"/>
                <a:cs typeface="Times New Roman"/>
              </a:rPr>
              <a:t>can </a:t>
            </a:r>
            <a:r>
              <a:rPr lang="en-US" altLang="ja-JP" sz="2800" dirty="0">
                <a:latin typeface="Times New Roman"/>
                <a:cs typeface="Times New Roman"/>
              </a:rPr>
              <a:t>be improved by conjugating them with a protein-based antigen. </a:t>
            </a:r>
            <a:endParaRPr lang="en-US" altLang="ja-JP" sz="2800" dirty="0" smtClean="0">
              <a:latin typeface="Times New Roman"/>
              <a:cs typeface="Times New Roman"/>
            </a:endParaRPr>
          </a:p>
          <a:p>
            <a:pPr marL="457200" indent="-457200">
              <a:buFont typeface="Arial"/>
              <a:buChar char="•"/>
            </a:pPr>
            <a:endParaRPr lang="en-US" altLang="ja-JP" sz="2800" i="1" dirty="0">
              <a:latin typeface="Times New Roman"/>
              <a:cs typeface="Times New Roman"/>
            </a:endParaRPr>
          </a:p>
          <a:p>
            <a:pPr marL="457200" indent="-457200">
              <a:buFont typeface="Arial"/>
              <a:buChar char="•"/>
            </a:pPr>
            <a:r>
              <a:rPr lang="en-US" altLang="ja-JP" sz="2800" i="1" dirty="0" err="1" smtClean="0">
                <a:latin typeface="Times New Roman"/>
                <a:cs typeface="Times New Roman"/>
              </a:rPr>
              <a:t>Haemophilus</a:t>
            </a:r>
            <a:r>
              <a:rPr lang="en-US" altLang="ja-JP" sz="2800" i="1" dirty="0" smtClean="0">
                <a:latin typeface="Times New Roman"/>
                <a:cs typeface="Times New Roman"/>
              </a:rPr>
              <a:t> </a:t>
            </a:r>
            <a:r>
              <a:rPr lang="en-US" altLang="ja-JP" sz="2800" i="1" dirty="0" err="1">
                <a:latin typeface="Times New Roman"/>
                <a:cs typeface="Times New Roman"/>
              </a:rPr>
              <a:t>influenzae</a:t>
            </a:r>
            <a:r>
              <a:rPr lang="en-US" altLang="ja-JP" sz="2800" i="1" dirty="0">
                <a:latin typeface="Times New Roman"/>
                <a:cs typeface="Times New Roman"/>
              </a:rPr>
              <a:t> </a:t>
            </a:r>
            <a:r>
              <a:rPr lang="en-US" altLang="ja-JP" sz="2800" dirty="0">
                <a:latin typeface="Times New Roman"/>
                <a:cs typeface="Times New Roman"/>
              </a:rPr>
              <a:t>capsular polysaccharide has been conjugated with diphtheria toxoid or the outer membrane protein of </a:t>
            </a:r>
            <a:r>
              <a:rPr lang="en-US" altLang="ja-JP" sz="2800" i="1" dirty="0">
                <a:latin typeface="Times New Roman"/>
                <a:cs typeface="Times New Roman"/>
              </a:rPr>
              <a:t>Neisseria meningitides</a:t>
            </a:r>
            <a:r>
              <a:rPr lang="en-US" altLang="ja-JP" sz="2800" dirty="0">
                <a:latin typeface="Times New Roman"/>
                <a:cs typeface="Times New Roman"/>
              </a:rPr>
              <a:t>. </a:t>
            </a:r>
          </a:p>
        </p:txBody>
      </p:sp>
    </p:spTree>
    <p:extLst>
      <p:ext uri="{BB962C8B-B14F-4D97-AF65-F5344CB8AC3E}">
        <p14:creationId xmlns:p14="http://schemas.microsoft.com/office/powerpoint/2010/main" val="9988625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7876" y="268051"/>
            <a:ext cx="8591362" cy="914400"/>
          </a:xfrm>
        </p:spPr>
        <p:txBody>
          <a:bodyPr>
            <a:noAutofit/>
          </a:bodyPr>
          <a:lstStyle/>
          <a:p>
            <a:r>
              <a:rPr lang="en-US" altLang="ja-JP" sz="3200" b="1" dirty="0">
                <a:solidFill>
                  <a:srgbClr val="FF0000"/>
                </a:solidFill>
                <a:latin typeface="Arial" charset="0"/>
              </a:rPr>
              <a:t>Traditional vaccines</a:t>
            </a:r>
            <a:br>
              <a:rPr lang="en-US" altLang="ja-JP" sz="3200" b="1" dirty="0">
                <a:solidFill>
                  <a:srgbClr val="FF0000"/>
                </a:solidFill>
                <a:latin typeface="Arial" charset="0"/>
              </a:rPr>
            </a:br>
            <a:r>
              <a:rPr lang="en-US" altLang="ja-JP" sz="2400" b="1" i="1" dirty="0">
                <a:solidFill>
                  <a:srgbClr val="FF0000"/>
                </a:solidFill>
                <a:latin typeface="Arial" charset="0"/>
              </a:rPr>
              <a:t>Pathogen-Derived Antigens </a:t>
            </a:r>
          </a:p>
        </p:txBody>
      </p:sp>
      <p:pic>
        <p:nvPicPr>
          <p:cNvPr id="4" name="Picture 3"/>
          <p:cNvPicPr>
            <a:picLocks noChangeAspect="1"/>
          </p:cNvPicPr>
          <p:nvPr/>
        </p:nvPicPr>
        <p:blipFill>
          <a:blip r:embed="rId3"/>
          <a:stretch>
            <a:fillRect/>
          </a:stretch>
        </p:blipFill>
        <p:spPr>
          <a:xfrm>
            <a:off x="162240" y="2489199"/>
            <a:ext cx="8726998" cy="2679659"/>
          </a:xfrm>
          <a:prstGeom prst="rect">
            <a:avLst/>
          </a:prstGeom>
        </p:spPr>
      </p:pic>
    </p:spTree>
    <p:extLst>
      <p:ext uri="{BB962C8B-B14F-4D97-AF65-F5344CB8AC3E}">
        <p14:creationId xmlns:p14="http://schemas.microsoft.com/office/powerpoint/2010/main" val="4357641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comprehensive review of antigens on the equine influenza virus</a:t>
            </a:r>
            <a:endParaRPr lang="en-US" dirty="0"/>
          </a:p>
        </p:txBody>
      </p:sp>
      <p:pic>
        <p:nvPicPr>
          <p:cNvPr id="2050" name="Picture 2" descr="Image result for picture shows the evolution of vaccines&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132" y="1864890"/>
            <a:ext cx="7764821" cy="4500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309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44620" y="294101"/>
            <a:ext cx="7710778" cy="6569134"/>
          </a:xfrm>
          <a:prstGeom prst="rect">
            <a:avLst/>
          </a:prstGeom>
        </p:spPr>
      </p:pic>
    </p:spTree>
    <p:extLst>
      <p:ext uri="{BB962C8B-B14F-4D97-AF65-F5344CB8AC3E}">
        <p14:creationId xmlns:p14="http://schemas.microsoft.com/office/powerpoint/2010/main" val="28000906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314265"/>
            <a:ext cx="7891456" cy="769441"/>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Modern vaccines</a:t>
            </a:r>
            <a:endParaRPr lang="en-US" altLang="ja-JP" sz="4400" dirty="0">
              <a:solidFill>
                <a:srgbClr val="FF0000"/>
              </a:solidFill>
              <a:latin typeface="Arial"/>
              <a:cs typeface="Arial"/>
            </a:endParaRPr>
          </a:p>
        </p:txBody>
      </p:sp>
      <p:sp>
        <p:nvSpPr>
          <p:cNvPr id="23" name="TextBox 22"/>
          <p:cNvSpPr txBox="1"/>
          <p:nvPr/>
        </p:nvSpPr>
        <p:spPr>
          <a:xfrm>
            <a:off x="482758" y="1211490"/>
            <a:ext cx="8284193" cy="5632311"/>
          </a:xfrm>
          <a:prstGeom prst="rect">
            <a:avLst/>
          </a:prstGeom>
          <a:noFill/>
        </p:spPr>
        <p:txBody>
          <a:bodyPr wrap="square" rtlCol="0">
            <a:spAutoFit/>
          </a:bodyPr>
          <a:lstStyle/>
          <a:p>
            <a:r>
              <a:rPr lang="en-US" altLang="ja-JP" sz="4000" dirty="0">
                <a:latin typeface="Times New Roman"/>
                <a:cs typeface="Times New Roman"/>
              </a:rPr>
              <a:t>The modern vaccines can be </a:t>
            </a:r>
            <a:r>
              <a:rPr lang="en-US" altLang="ja-JP" sz="4000" dirty="0" smtClean="0">
                <a:latin typeface="Times New Roman"/>
                <a:cs typeface="Times New Roman"/>
              </a:rPr>
              <a:t>classified as</a:t>
            </a:r>
          </a:p>
          <a:p>
            <a:r>
              <a:rPr lang="en-US" altLang="ja-JP" sz="4000" dirty="0" smtClean="0">
                <a:latin typeface="Times New Roman"/>
                <a:cs typeface="Times New Roman"/>
              </a:rPr>
              <a:t> </a:t>
            </a:r>
          </a:p>
          <a:p>
            <a:pPr marL="742950" indent="-742950">
              <a:buFont typeface="+mj-lt"/>
              <a:buAutoNum type="arabicPeriod"/>
            </a:pPr>
            <a:r>
              <a:rPr lang="en-US" altLang="ja-JP" sz="4000" dirty="0" smtClean="0">
                <a:latin typeface="Times New Roman"/>
                <a:cs typeface="Times New Roman"/>
              </a:rPr>
              <a:t>Subunit</a:t>
            </a:r>
          </a:p>
          <a:p>
            <a:pPr marL="742950" indent="-742950">
              <a:buFont typeface="+mj-lt"/>
              <a:buAutoNum type="arabicPeriod"/>
            </a:pPr>
            <a:endParaRPr lang="en-US" altLang="ja-JP" sz="4000" dirty="0" smtClean="0">
              <a:latin typeface="Times New Roman"/>
              <a:cs typeface="Times New Roman"/>
            </a:endParaRPr>
          </a:p>
          <a:p>
            <a:pPr marL="742950" indent="-742950">
              <a:buFont typeface="+mj-lt"/>
              <a:buAutoNum type="arabicPeriod"/>
            </a:pPr>
            <a:r>
              <a:rPr lang="en-US" altLang="ja-JP" sz="4000" dirty="0" smtClean="0">
                <a:latin typeface="Times New Roman"/>
                <a:cs typeface="Times New Roman"/>
              </a:rPr>
              <a:t>DNA</a:t>
            </a:r>
            <a:r>
              <a:rPr lang="en-US" altLang="ja-JP" sz="4000" dirty="0">
                <a:latin typeface="Times New Roman"/>
                <a:cs typeface="Times New Roman"/>
              </a:rPr>
              <a:t>-based recombinant </a:t>
            </a:r>
            <a:endParaRPr lang="en-US" altLang="ja-JP" sz="4000" dirty="0" smtClean="0">
              <a:latin typeface="Times New Roman"/>
              <a:cs typeface="Times New Roman"/>
            </a:endParaRPr>
          </a:p>
          <a:p>
            <a:pPr marL="742950" indent="-742950">
              <a:buFont typeface="+mj-lt"/>
              <a:buAutoNum type="arabicPeriod"/>
            </a:pPr>
            <a:endParaRPr lang="en-US" altLang="ja-JP" sz="4000" dirty="0" smtClean="0">
              <a:latin typeface="Times New Roman"/>
              <a:cs typeface="Times New Roman"/>
            </a:endParaRPr>
          </a:p>
          <a:p>
            <a:pPr marL="742950" indent="-742950">
              <a:buFont typeface="+mj-lt"/>
              <a:buAutoNum type="arabicPeriod"/>
            </a:pPr>
            <a:r>
              <a:rPr lang="en-US" altLang="ja-JP" sz="4000" dirty="0" smtClean="0">
                <a:latin typeface="Times New Roman"/>
                <a:cs typeface="Times New Roman"/>
              </a:rPr>
              <a:t>Peptide </a:t>
            </a:r>
            <a:r>
              <a:rPr lang="en-US" altLang="ja-JP" sz="4000" dirty="0">
                <a:latin typeface="Times New Roman"/>
                <a:cs typeface="Times New Roman"/>
              </a:rPr>
              <a:t>vaccines </a:t>
            </a:r>
          </a:p>
          <a:p>
            <a:pPr marL="742950" indent="-742950">
              <a:buFont typeface="+mj-lt"/>
              <a:buAutoNum type="arabicPeriod"/>
            </a:pPr>
            <a:endParaRPr kumimoji="1" lang="ja-JP" altLang="en-US" sz="4000" dirty="0">
              <a:latin typeface="Times New Roman"/>
              <a:cs typeface="Times New Roman"/>
            </a:endParaRPr>
          </a:p>
        </p:txBody>
      </p:sp>
    </p:spTree>
    <p:extLst>
      <p:ext uri="{BB962C8B-B14F-4D97-AF65-F5344CB8AC3E}">
        <p14:creationId xmlns:p14="http://schemas.microsoft.com/office/powerpoint/2010/main" val="19908387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78983"/>
            <a:ext cx="7891456" cy="1261884"/>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Modern vaccines</a:t>
            </a:r>
          </a:p>
          <a:p>
            <a:pPr algn="ctr"/>
            <a:r>
              <a:rPr lang="en-US" altLang="ja-JP" sz="3200" b="1" i="1" dirty="0" smtClean="0">
                <a:solidFill>
                  <a:srgbClr val="FF0000"/>
                </a:solidFill>
                <a:latin typeface="Arial"/>
                <a:cs typeface="Arial"/>
              </a:rPr>
              <a:t>Subunit vaccines</a:t>
            </a:r>
            <a:endParaRPr lang="en-US" altLang="ja-JP" sz="3200" i="1" dirty="0">
              <a:solidFill>
                <a:srgbClr val="FF0000"/>
              </a:solidFill>
              <a:latin typeface="Arial"/>
              <a:cs typeface="Arial"/>
            </a:endParaRPr>
          </a:p>
        </p:txBody>
      </p:sp>
      <p:sp>
        <p:nvSpPr>
          <p:cNvPr id="23" name="TextBox 22"/>
          <p:cNvSpPr txBox="1"/>
          <p:nvPr/>
        </p:nvSpPr>
        <p:spPr>
          <a:xfrm>
            <a:off x="482758" y="1793648"/>
            <a:ext cx="8284193" cy="5201423"/>
          </a:xfrm>
          <a:prstGeom prst="rect">
            <a:avLst/>
          </a:prstGeom>
          <a:noFill/>
        </p:spPr>
        <p:txBody>
          <a:bodyPr wrap="square" rtlCol="0">
            <a:spAutoFit/>
          </a:bodyPr>
          <a:lstStyle/>
          <a:p>
            <a:pPr marL="342900" indent="-342900">
              <a:buFont typeface="Arial"/>
              <a:buChar char="•"/>
            </a:pPr>
            <a:r>
              <a:rPr lang="en-US" altLang="ja-JP" sz="2400" dirty="0" smtClean="0">
                <a:latin typeface="Times New Roman"/>
                <a:cs typeface="Times New Roman"/>
              </a:rPr>
              <a:t>Subunit </a:t>
            </a:r>
            <a:r>
              <a:rPr lang="en-US" altLang="ja-JP" sz="2400" dirty="0">
                <a:latin typeface="Times New Roman"/>
                <a:cs typeface="Times New Roman"/>
              </a:rPr>
              <a:t>vaccines comprise of a part of a bacteria or virus which can best stimulate the immune systems without rendering the person susceptible to the disease. </a:t>
            </a:r>
            <a:endParaRPr lang="en-US" altLang="ja-JP" sz="2400" dirty="0" smtClean="0">
              <a:latin typeface="Times New Roman"/>
              <a:cs typeface="Times New Roman"/>
            </a:endParaRPr>
          </a:p>
          <a:p>
            <a:pPr marL="342900" indent="-342900">
              <a:buFont typeface="Arial"/>
              <a:buChar char="•"/>
            </a:pPr>
            <a:endParaRPr lang="en-US" altLang="ja-JP" sz="2000" dirty="0" smtClean="0">
              <a:latin typeface="Times New Roman"/>
              <a:cs typeface="Times New Roman"/>
            </a:endParaRPr>
          </a:p>
          <a:p>
            <a:pPr marL="342900" indent="-342900">
              <a:buFont typeface="Arial"/>
              <a:buChar char="•"/>
            </a:pPr>
            <a:r>
              <a:rPr lang="en-US" altLang="ja-JP" sz="2400" dirty="0" smtClean="0">
                <a:latin typeface="Times New Roman"/>
                <a:cs typeface="Times New Roman"/>
              </a:rPr>
              <a:t>The </a:t>
            </a:r>
            <a:r>
              <a:rPr lang="en-US" altLang="ja-JP" sz="2400" dirty="0">
                <a:latin typeface="Times New Roman"/>
                <a:cs typeface="Times New Roman"/>
              </a:rPr>
              <a:t>subunits generally comprise of envelope proteins and anti- genic surface </a:t>
            </a:r>
            <a:r>
              <a:rPr lang="en-US" altLang="ja-JP" sz="2400" dirty="0" smtClean="0">
                <a:latin typeface="Times New Roman"/>
                <a:cs typeface="Times New Roman"/>
              </a:rPr>
              <a:t>proteins. </a:t>
            </a:r>
          </a:p>
          <a:p>
            <a:pPr marL="342900" indent="-342900">
              <a:buFont typeface="Arial"/>
              <a:buChar char="•"/>
            </a:pPr>
            <a:endParaRPr lang="en-US" altLang="ja-JP" sz="2000" dirty="0" smtClean="0">
              <a:latin typeface="Times New Roman"/>
              <a:cs typeface="Times New Roman"/>
            </a:endParaRPr>
          </a:p>
          <a:p>
            <a:pPr marL="342900" indent="-342900">
              <a:buFont typeface="Arial"/>
              <a:buChar char="•"/>
            </a:pPr>
            <a:r>
              <a:rPr lang="en-US" altLang="ja-JP" sz="2400" dirty="0" smtClean="0">
                <a:latin typeface="Times New Roman"/>
                <a:cs typeface="Times New Roman"/>
              </a:rPr>
              <a:t>There </a:t>
            </a:r>
            <a:r>
              <a:rPr lang="en-US" altLang="ja-JP" sz="2400" dirty="0">
                <a:latin typeface="Times New Roman"/>
                <a:cs typeface="Times New Roman"/>
              </a:rPr>
              <a:t>are two methods of developing a subunit </a:t>
            </a:r>
            <a:r>
              <a:rPr lang="en-US" altLang="ja-JP" sz="2400" dirty="0" smtClean="0">
                <a:latin typeface="Times New Roman"/>
                <a:cs typeface="Times New Roman"/>
              </a:rPr>
              <a:t>vaccine:</a:t>
            </a:r>
          </a:p>
          <a:p>
            <a:pPr marL="914400" lvl="1" indent="-457200">
              <a:buFont typeface="+mj-lt"/>
              <a:buAutoNum type="arabicPeriod"/>
            </a:pPr>
            <a:r>
              <a:rPr lang="en-US" altLang="ja-JP" sz="2400" dirty="0" smtClean="0">
                <a:latin typeface="Times New Roman"/>
                <a:cs typeface="Times New Roman"/>
              </a:rPr>
              <a:t>To </a:t>
            </a:r>
            <a:r>
              <a:rPr lang="en-US" altLang="ja-JP" sz="2400" dirty="0">
                <a:latin typeface="Times New Roman"/>
                <a:cs typeface="Times New Roman"/>
              </a:rPr>
              <a:t>grow the bacteria in the laboratory and then break apart to recover and purify the desired antigens </a:t>
            </a:r>
            <a:endParaRPr lang="en-US" altLang="ja-JP" sz="2400" dirty="0" smtClean="0">
              <a:latin typeface="Times New Roman"/>
              <a:cs typeface="Times New Roman"/>
            </a:endParaRPr>
          </a:p>
          <a:p>
            <a:pPr marL="914400" lvl="1" indent="-457200">
              <a:buFont typeface="+mj-lt"/>
              <a:buAutoNum type="arabicPeriod"/>
            </a:pPr>
            <a:r>
              <a:rPr lang="en-US" altLang="ja-JP" sz="2400" dirty="0">
                <a:latin typeface="Times New Roman"/>
                <a:cs typeface="Times New Roman"/>
              </a:rPr>
              <a:t>B</a:t>
            </a:r>
            <a:r>
              <a:rPr lang="en-US" altLang="ja-JP" sz="2400" dirty="0" smtClean="0">
                <a:latin typeface="Times New Roman"/>
                <a:cs typeface="Times New Roman"/>
              </a:rPr>
              <a:t>y </a:t>
            </a:r>
            <a:r>
              <a:rPr lang="en-US" altLang="ja-JP" sz="2400" dirty="0">
                <a:latin typeface="Times New Roman"/>
                <a:cs typeface="Times New Roman"/>
              </a:rPr>
              <a:t>using recombinant DNA technology clone and express the antigenic moiety in a non-pathogen, generally referred to as recombinant subunit vaccine. </a:t>
            </a:r>
          </a:p>
          <a:p>
            <a:pPr marL="742950" indent="-742950">
              <a:buFont typeface="Arial"/>
              <a:buChar char="•"/>
            </a:pPr>
            <a:endParaRPr kumimoji="1" lang="ja-JP" altLang="en-US" sz="2400" dirty="0">
              <a:latin typeface="Times New Roman"/>
              <a:cs typeface="Times New Roman"/>
            </a:endParaRPr>
          </a:p>
        </p:txBody>
      </p:sp>
    </p:spTree>
    <p:extLst>
      <p:ext uri="{BB962C8B-B14F-4D97-AF65-F5344CB8AC3E}">
        <p14:creationId xmlns:p14="http://schemas.microsoft.com/office/powerpoint/2010/main" val="13591590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78983"/>
            <a:ext cx="7891456" cy="1261884"/>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Modern vaccines</a:t>
            </a:r>
          </a:p>
          <a:p>
            <a:pPr algn="ctr"/>
            <a:r>
              <a:rPr lang="en-US" altLang="ja-JP" sz="3200" b="1" i="1" dirty="0" smtClean="0">
                <a:solidFill>
                  <a:srgbClr val="FF0000"/>
                </a:solidFill>
                <a:latin typeface="Arial"/>
                <a:cs typeface="Arial"/>
              </a:rPr>
              <a:t>Subunit vaccines</a:t>
            </a:r>
            <a:endParaRPr lang="en-US" altLang="ja-JP" sz="3200" i="1" dirty="0">
              <a:solidFill>
                <a:srgbClr val="FF0000"/>
              </a:solidFill>
              <a:latin typeface="Arial"/>
              <a:cs typeface="Arial"/>
            </a:endParaRPr>
          </a:p>
        </p:txBody>
      </p:sp>
      <p:pic>
        <p:nvPicPr>
          <p:cNvPr id="2" name="Picture 1"/>
          <p:cNvPicPr>
            <a:picLocks noChangeAspect="1"/>
          </p:cNvPicPr>
          <p:nvPr/>
        </p:nvPicPr>
        <p:blipFill>
          <a:blip r:embed="rId2"/>
          <a:stretch>
            <a:fillRect/>
          </a:stretch>
        </p:blipFill>
        <p:spPr>
          <a:xfrm>
            <a:off x="1102725" y="2228831"/>
            <a:ext cx="7126250" cy="3733882"/>
          </a:xfrm>
          <a:prstGeom prst="rect">
            <a:avLst/>
          </a:prstGeom>
        </p:spPr>
      </p:pic>
    </p:spTree>
    <p:extLst>
      <p:ext uri="{BB962C8B-B14F-4D97-AF65-F5344CB8AC3E}">
        <p14:creationId xmlns:p14="http://schemas.microsoft.com/office/powerpoint/2010/main" val="15111452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78983"/>
            <a:ext cx="7891456" cy="1261884"/>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Modern vaccines</a:t>
            </a:r>
          </a:p>
          <a:p>
            <a:pPr algn="ctr"/>
            <a:r>
              <a:rPr lang="en-US" altLang="ja-JP" sz="3200" b="1" i="1" dirty="0" smtClean="0">
                <a:solidFill>
                  <a:srgbClr val="FF0000"/>
                </a:solidFill>
                <a:latin typeface="Arial"/>
                <a:cs typeface="Arial"/>
              </a:rPr>
              <a:t>Subunit vaccines</a:t>
            </a:r>
            <a:endParaRPr lang="en-US" altLang="ja-JP" sz="3200" i="1" dirty="0">
              <a:solidFill>
                <a:srgbClr val="FF0000"/>
              </a:solidFill>
              <a:latin typeface="Arial"/>
              <a:cs typeface="Arial"/>
            </a:endParaRPr>
          </a:p>
        </p:txBody>
      </p:sp>
      <p:pic>
        <p:nvPicPr>
          <p:cNvPr id="3" name="Picture 2"/>
          <p:cNvPicPr>
            <a:picLocks noChangeAspect="1"/>
          </p:cNvPicPr>
          <p:nvPr/>
        </p:nvPicPr>
        <p:blipFill>
          <a:blip r:embed="rId2"/>
          <a:stretch>
            <a:fillRect/>
          </a:stretch>
        </p:blipFill>
        <p:spPr>
          <a:xfrm>
            <a:off x="320240" y="2028445"/>
            <a:ext cx="8647359" cy="3957265"/>
          </a:xfrm>
          <a:prstGeom prst="rect">
            <a:avLst/>
          </a:prstGeom>
        </p:spPr>
      </p:pic>
    </p:spTree>
    <p:extLst>
      <p:ext uri="{BB962C8B-B14F-4D97-AF65-F5344CB8AC3E}">
        <p14:creationId xmlns:p14="http://schemas.microsoft.com/office/powerpoint/2010/main" val="31892161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0914"/>
            <a:ext cx="7891456" cy="1015663"/>
          </a:xfrm>
          <a:prstGeom prst="rect">
            <a:avLst/>
          </a:prstGeom>
          <a:noFill/>
        </p:spPr>
        <p:txBody>
          <a:bodyPr wrap="square" rtlCol="0">
            <a:spAutoFit/>
          </a:bodyPr>
          <a:lstStyle/>
          <a:p>
            <a:pPr algn="ctr"/>
            <a:r>
              <a:rPr lang="en-US" altLang="ja-JP" sz="3600" b="1" dirty="0" smtClean="0">
                <a:solidFill>
                  <a:srgbClr val="FF0000"/>
                </a:solidFill>
                <a:latin typeface="Arial"/>
                <a:cs typeface="Arial"/>
              </a:rPr>
              <a:t>Modern vaccines</a:t>
            </a:r>
          </a:p>
          <a:p>
            <a:pPr algn="ctr"/>
            <a:r>
              <a:rPr lang="en-US" altLang="ja-JP" sz="2400" b="1" i="1" dirty="0" smtClean="0">
                <a:solidFill>
                  <a:srgbClr val="FF0000"/>
                </a:solidFill>
                <a:latin typeface="Arial"/>
                <a:cs typeface="Arial"/>
              </a:rPr>
              <a:t>Subunit vaccines</a:t>
            </a:r>
            <a:endParaRPr lang="en-US" altLang="ja-JP" sz="2400" i="1" dirty="0">
              <a:solidFill>
                <a:srgbClr val="FF0000"/>
              </a:solidFill>
              <a:latin typeface="Arial"/>
              <a:cs typeface="Arial"/>
            </a:endParaRPr>
          </a:p>
        </p:txBody>
      </p:sp>
      <p:sp>
        <p:nvSpPr>
          <p:cNvPr id="2" name="Rectangle 1"/>
          <p:cNvSpPr/>
          <p:nvPr/>
        </p:nvSpPr>
        <p:spPr>
          <a:xfrm>
            <a:off x="370435" y="1289934"/>
            <a:ext cx="8449435" cy="2554545"/>
          </a:xfrm>
          <a:prstGeom prst="rect">
            <a:avLst/>
          </a:prstGeom>
        </p:spPr>
        <p:txBody>
          <a:bodyPr wrap="square">
            <a:spAutoFit/>
          </a:bodyPr>
          <a:lstStyle/>
          <a:p>
            <a:r>
              <a:rPr lang="en-US" altLang="ja-JP" sz="2000" b="1" dirty="0">
                <a:latin typeface="Times New Roman"/>
                <a:cs typeface="Times New Roman"/>
              </a:rPr>
              <a:t>Virus-Like Particles (VLPs)</a:t>
            </a:r>
          </a:p>
          <a:p>
            <a:pPr marL="342900" indent="-342900">
              <a:buFont typeface="Arial"/>
              <a:buChar char="•"/>
            </a:pPr>
            <a:r>
              <a:rPr lang="en-US" altLang="ja-JP" sz="2000" dirty="0">
                <a:latin typeface="Times New Roman"/>
                <a:cs typeface="Times New Roman"/>
              </a:rPr>
              <a:t>Virus-like particles are basically viral structural proteins that are expressed in cells and possess native conformational epitope. </a:t>
            </a:r>
            <a:endParaRPr lang="en-US" altLang="ja-JP" sz="2000" dirty="0" smtClean="0">
              <a:latin typeface="Times New Roman"/>
              <a:cs typeface="Times New Roman"/>
            </a:endParaRPr>
          </a:p>
          <a:p>
            <a:pPr marL="342900" indent="-342900">
              <a:buFont typeface="Arial"/>
              <a:buChar char="•"/>
            </a:pPr>
            <a:endParaRPr lang="en-US" altLang="ja-JP" sz="2000" dirty="0" smtClean="0">
              <a:latin typeface="Times New Roman"/>
              <a:cs typeface="Times New Roman"/>
            </a:endParaRPr>
          </a:p>
          <a:p>
            <a:pPr marL="342900" indent="-342900">
              <a:buFont typeface="Arial"/>
              <a:buChar char="•"/>
            </a:pPr>
            <a:r>
              <a:rPr lang="en-US" altLang="ja-JP" sz="2000" b="1" dirty="0" smtClean="0">
                <a:latin typeface="Times New Roman"/>
                <a:cs typeface="Times New Roman"/>
              </a:rPr>
              <a:t>VLPs </a:t>
            </a:r>
            <a:r>
              <a:rPr lang="en-US" altLang="ja-JP" sz="2000" dirty="0" smtClean="0">
                <a:latin typeface="Times New Roman"/>
                <a:cs typeface="Times New Roman"/>
              </a:rPr>
              <a:t>do </a:t>
            </a:r>
            <a:r>
              <a:rPr lang="en-US" altLang="ja-JP" sz="2000" dirty="0">
                <a:latin typeface="Times New Roman"/>
                <a:cs typeface="Times New Roman"/>
              </a:rPr>
              <a:t>not contain the genome and therefore cannot spread infection. </a:t>
            </a:r>
            <a:endParaRPr lang="en-US" altLang="ja-JP" sz="2000" dirty="0" smtClean="0">
              <a:latin typeface="Times New Roman"/>
              <a:cs typeface="Times New Roman"/>
            </a:endParaRPr>
          </a:p>
          <a:p>
            <a:pPr marL="342900" indent="-342900">
              <a:buFont typeface="Arial"/>
              <a:buChar char="•"/>
            </a:pPr>
            <a:endParaRPr lang="en-US" altLang="ja-JP" sz="2000" dirty="0" smtClean="0">
              <a:latin typeface="Times New Roman"/>
              <a:cs typeface="Times New Roman"/>
            </a:endParaRPr>
          </a:p>
          <a:p>
            <a:pPr marL="342900" indent="-342900">
              <a:buFont typeface="Arial"/>
              <a:buChar char="•"/>
            </a:pPr>
            <a:r>
              <a:rPr lang="en-US" altLang="ja-JP" sz="2000" b="1" dirty="0" smtClean="0">
                <a:latin typeface="Times New Roman"/>
                <a:cs typeface="Times New Roman"/>
              </a:rPr>
              <a:t>VLPs</a:t>
            </a:r>
            <a:r>
              <a:rPr lang="en-US" altLang="ja-JP" sz="2000" dirty="0" smtClean="0">
                <a:latin typeface="Times New Roman"/>
                <a:cs typeface="Times New Roman"/>
              </a:rPr>
              <a:t> </a:t>
            </a:r>
            <a:r>
              <a:rPr lang="en-US" altLang="ja-JP" sz="2000" dirty="0">
                <a:latin typeface="Times New Roman"/>
                <a:cs typeface="Times New Roman"/>
              </a:rPr>
              <a:t>have the capacity to spread both cellular and humoral responses. Both </a:t>
            </a:r>
            <a:r>
              <a:rPr lang="en-US" altLang="ja-JP" sz="2000" dirty="0" err="1">
                <a:latin typeface="Times New Roman"/>
                <a:cs typeface="Times New Roman"/>
              </a:rPr>
              <a:t>Recombivax</a:t>
            </a:r>
            <a:r>
              <a:rPr lang="en-US" altLang="ja-JP" sz="2000" dirty="0">
                <a:latin typeface="Times New Roman"/>
                <a:cs typeface="Times New Roman"/>
              </a:rPr>
              <a:t> and </a:t>
            </a:r>
            <a:r>
              <a:rPr lang="en-US" altLang="ja-JP" sz="2000" dirty="0" err="1">
                <a:latin typeface="Times New Roman"/>
                <a:cs typeface="Times New Roman"/>
              </a:rPr>
              <a:t>Engerix</a:t>
            </a:r>
            <a:r>
              <a:rPr lang="en-US" altLang="ja-JP" sz="2000" dirty="0">
                <a:latin typeface="Times New Roman"/>
                <a:cs typeface="Times New Roman"/>
              </a:rPr>
              <a:t>-B were first </a:t>
            </a:r>
            <a:r>
              <a:rPr lang="en-US" altLang="ja-JP" sz="2000" dirty="0" smtClean="0">
                <a:latin typeface="Times New Roman"/>
                <a:cs typeface="Times New Roman"/>
              </a:rPr>
              <a:t>vaccines to contain </a:t>
            </a:r>
            <a:r>
              <a:rPr lang="en-US" altLang="ja-JP" sz="2000" dirty="0">
                <a:latin typeface="Times New Roman"/>
                <a:cs typeface="Times New Roman"/>
              </a:rPr>
              <a:t>virus-like particles.</a:t>
            </a:r>
          </a:p>
        </p:txBody>
      </p:sp>
      <p:pic>
        <p:nvPicPr>
          <p:cNvPr id="4" name="Picture 3"/>
          <p:cNvPicPr>
            <a:picLocks noChangeAspect="1"/>
          </p:cNvPicPr>
          <p:nvPr/>
        </p:nvPicPr>
        <p:blipFill>
          <a:blip r:embed="rId2"/>
          <a:stretch>
            <a:fillRect/>
          </a:stretch>
        </p:blipFill>
        <p:spPr>
          <a:xfrm>
            <a:off x="1599546" y="3969261"/>
            <a:ext cx="6339180" cy="2888740"/>
          </a:xfrm>
          <a:prstGeom prst="rect">
            <a:avLst/>
          </a:prstGeom>
        </p:spPr>
      </p:pic>
    </p:spTree>
    <p:extLst>
      <p:ext uri="{BB962C8B-B14F-4D97-AF65-F5344CB8AC3E}">
        <p14:creationId xmlns:p14="http://schemas.microsoft.com/office/powerpoint/2010/main" val="20792492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402470"/>
            <a:ext cx="7891456" cy="1015663"/>
          </a:xfrm>
          <a:prstGeom prst="rect">
            <a:avLst/>
          </a:prstGeom>
          <a:noFill/>
        </p:spPr>
        <p:txBody>
          <a:bodyPr wrap="square" rtlCol="0">
            <a:spAutoFit/>
          </a:bodyPr>
          <a:lstStyle/>
          <a:p>
            <a:pPr algn="ctr"/>
            <a:r>
              <a:rPr lang="en-US" altLang="ja-JP" sz="3600" b="1" dirty="0" smtClean="0">
                <a:solidFill>
                  <a:srgbClr val="FF0000"/>
                </a:solidFill>
                <a:latin typeface="Arial"/>
                <a:cs typeface="Arial"/>
              </a:rPr>
              <a:t>Modern vaccines</a:t>
            </a:r>
          </a:p>
          <a:p>
            <a:pPr algn="ctr"/>
            <a:r>
              <a:rPr lang="en-US" altLang="ja-JP" sz="2400" b="1" i="1" dirty="0" smtClean="0">
                <a:solidFill>
                  <a:srgbClr val="FF0000"/>
                </a:solidFill>
                <a:latin typeface="Arial"/>
                <a:cs typeface="Arial"/>
              </a:rPr>
              <a:t>Subunit vaccines</a:t>
            </a:r>
            <a:endParaRPr lang="en-US" altLang="ja-JP" sz="2400" i="1" dirty="0">
              <a:solidFill>
                <a:srgbClr val="FF0000"/>
              </a:solidFill>
              <a:latin typeface="Arial"/>
              <a:cs typeface="Arial"/>
            </a:endParaRPr>
          </a:p>
        </p:txBody>
      </p:sp>
      <p:pic>
        <p:nvPicPr>
          <p:cNvPr id="3" name="Picture 2"/>
          <p:cNvPicPr>
            <a:picLocks noChangeAspect="1"/>
          </p:cNvPicPr>
          <p:nvPr/>
        </p:nvPicPr>
        <p:blipFill>
          <a:blip r:embed="rId2"/>
          <a:stretch>
            <a:fillRect/>
          </a:stretch>
        </p:blipFill>
        <p:spPr>
          <a:xfrm>
            <a:off x="184796" y="2921778"/>
            <a:ext cx="8751301" cy="2882165"/>
          </a:xfrm>
          <a:prstGeom prst="rect">
            <a:avLst/>
          </a:prstGeom>
        </p:spPr>
      </p:pic>
      <p:sp>
        <p:nvSpPr>
          <p:cNvPr id="5" name="Rectangle 4"/>
          <p:cNvSpPr/>
          <p:nvPr/>
        </p:nvSpPr>
        <p:spPr>
          <a:xfrm>
            <a:off x="448416" y="1941378"/>
            <a:ext cx="2758087" cy="830997"/>
          </a:xfrm>
          <a:prstGeom prst="rect">
            <a:avLst/>
          </a:prstGeom>
        </p:spPr>
        <p:txBody>
          <a:bodyPr wrap="none">
            <a:spAutoFit/>
          </a:bodyPr>
          <a:lstStyle/>
          <a:p>
            <a:r>
              <a:rPr lang="en-US" altLang="ja-JP" sz="2400" b="1" dirty="0">
                <a:latin typeface="Times New Roman"/>
                <a:cs typeface="Times New Roman"/>
              </a:rPr>
              <a:t>Conjugate </a:t>
            </a:r>
            <a:r>
              <a:rPr lang="en-US" altLang="ja-JP" sz="2400" b="1" dirty="0" smtClean="0">
                <a:latin typeface="Times New Roman"/>
                <a:cs typeface="Times New Roman"/>
              </a:rPr>
              <a:t>Vaccines</a:t>
            </a:r>
          </a:p>
          <a:p>
            <a:endParaRPr lang="ja-JP" altLang="en-US" sz="2400" b="1" dirty="0">
              <a:latin typeface="Times New Roman"/>
              <a:cs typeface="Times New Roman"/>
            </a:endParaRPr>
          </a:p>
        </p:txBody>
      </p:sp>
    </p:spTree>
    <p:extLst>
      <p:ext uri="{BB962C8B-B14F-4D97-AF65-F5344CB8AC3E}">
        <p14:creationId xmlns:p14="http://schemas.microsoft.com/office/powerpoint/2010/main" val="23246481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667085"/>
            <a:ext cx="7891456" cy="769441"/>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Recombinant vaccines </a:t>
            </a:r>
            <a:endParaRPr lang="en-US" altLang="ja-JP" sz="3200" i="1" dirty="0">
              <a:solidFill>
                <a:srgbClr val="FF0000"/>
              </a:solidFill>
              <a:latin typeface="Arial"/>
              <a:cs typeface="Arial"/>
            </a:endParaRPr>
          </a:p>
        </p:txBody>
      </p:sp>
      <p:sp>
        <p:nvSpPr>
          <p:cNvPr id="5" name="Rectangle 4"/>
          <p:cNvSpPr/>
          <p:nvPr/>
        </p:nvSpPr>
        <p:spPr>
          <a:xfrm>
            <a:off x="448415" y="2153073"/>
            <a:ext cx="8406733" cy="3046988"/>
          </a:xfrm>
          <a:prstGeom prst="rect">
            <a:avLst/>
          </a:prstGeom>
        </p:spPr>
        <p:txBody>
          <a:bodyPr wrap="square">
            <a:spAutoFit/>
          </a:bodyPr>
          <a:lstStyle/>
          <a:p>
            <a:r>
              <a:rPr lang="en-US" altLang="ja-JP" sz="3200" dirty="0">
                <a:latin typeface="Times New Roman"/>
                <a:cs typeface="Times New Roman"/>
              </a:rPr>
              <a:t>The recombinant vaccines basically comprise </a:t>
            </a:r>
            <a:r>
              <a:rPr lang="en-US" altLang="ja-JP" sz="3200" dirty="0" smtClean="0">
                <a:latin typeface="Times New Roman"/>
                <a:cs typeface="Times New Roman"/>
              </a:rPr>
              <a:t>of:</a:t>
            </a:r>
          </a:p>
          <a:p>
            <a:endParaRPr lang="en-US" altLang="ja-JP" sz="3200" dirty="0" smtClean="0">
              <a:latin typeface="Times New Roman"/>
              <a:cs typeface="Times New Roman"/>
            </a:endParaRPr>
          </a:p>
          <a:p>
            <a:pPr marL="914400" lvl="1" indent="-457200">
              <a:buFont typeface="+mj-lt"/>
              <a:buAutoNum type="arabicPeriod"/>
            </a:pPr>
            <a:r>
              <a:rPr lang="en-US" altLang="ja-JP" sz="3200" dirty="0">
                <a:latin typeface="Times New Roman"/>
                <a:cs typeface="Times New Roman"/>
              </a:rPr>
              <a:t>L</a:t>
            </a:r>
            <a:r>
              <a:rPr lang="en-US" altLang="ja-JP" sz="3200" dirty="0" smtClean="0">
                <a:latin typeface="Times New Roman"/>
                <a:cs typeface="Times New Roman"/>
              </a:rPr>
              <a:t>ive </a:t>
            </a:r>
            <a:r>
              <a:rPr lang="en-US" altLang="ja-JP" sz="3200" dirty="0">
                <a:latin typeface="Times New Roman"/>
                <a:cs typeface="Times New Roman"/>
              </a:rPr>
              <a:t>genetically modified </a:t>
            </a:r>
            <a:r>
              <a:rPr lang="en-US" altLang="ja-JP" sz="3200" dirty="0" smtClean="0">
                <a:latin typeface="Times New Roman"/>
                <a:cs typeface="Times New Roman"/>
              </a:rPr>
              <a:t>organisms</a:t>
            </a:r>
          </a:p>
          <a:p>
            <a:pPr marL="914400" lvl="1" indent="-457200">
              <a:buFont typeface="+mj-lt"/>
              <a:buAutoNum type="arabicPeriod"/>
            </a:pPr>
            <a:endParaRPr lang="en-US" altLang="ja-JP" sz="3200" dirty="0" smtClean="0">
              <a:latin typeface="Times New Roman"/>
              <a:cs typeface="Times New Roman"/>
            </a:endParaRPr>
          </a:p>
          <a:p>
            <a:pPr marL="914400" lvl="1" indent="-457200">
              <a:buFont typeface="+mj-lt"/>
              <a:buAutoNum type="arabicPeriod"/>
            </a:pPr>
            <a:r>
              <a:rPr lang="en-US" altLang="ja-JP" sz="3200" dirty="0" smtClean="0">
                <a:latin typeface="Times New Roman"/>
                <a:cs typeface="Times New Roman"/>
              </a:rPr>
              <a:t>Recombinant (Genetic) vaccines</a:t>
            </a:r>
            <a:endParaRPr lang="en-US" altLang="ja-JP" sz="3200" dirty="0" smtClean="0">
              <a:latin typeface="Times New Roman"/>
              <a:cs typeface="Times New Roman"/>
            </a:endParaRPr>
          </a:p>
          <a:p>
            <a:pPr marL="914400" lvl="1" indent="-457200">
              <a:buFont typeface="+mj-lt"/>
              <a:buAutoNum type="arabicPeriod"/>
            </a:pPr>
            <a:endParaRPr lang="en-US" altLang="ja-JP" sz="3200" dirty="0" smtClean="0">
              <a:latin typeface="Times New Roman"/>
              <a:cs typeface="Times New Roman"/>
            </a:endParaRPr>
          </a:p>
        </p:txBody>
      </p:sp>
    </p:spTree>
    <p:extLst>
      <p:ext uri="{BB962C8B-B14F-4D97-AF65-F5344CB8AC3E}">
        <p14:creationId xmlns:p14="http://schemas.microsoft.com/office/powerpoint/2010/main" val="9370133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26060"/>
            <a:ext cx="7891456" cy="1815882"/>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Recombinant vaccines</a:t>
            </a:r>
          </a:p>
          <a:p>
            <a:pPr algn="ctr"/>
            <a:r>
              <a:rPr lang="en-US" altLang="ja-JP" sz="2400" b="1" i="1" dirty="0">
                <a:solidFill>
                  <a:srgbClr val="FF0000"/>
                </a:solidFill>
                <a:latin typeface="Arial"/>
                <a:cs typeface="Arial"/>
              </a:rPr>
              <a:t>Live Genetically Modified Organisms </a:t>
            </a:r>
          </a:p>
          <a:p>
            <a:pPr algn="ctr"/>
            <a:r>
              <a:rPr lang="en-US" altLang="ja-JP" sz="4400" b="1" dirty="0" smtClean="0">
                <a:solidFill>
                  <a:srgbClr val="FF0000"/>
                </a:solidFill>
                <a:latin typeface="Arial"/>
                <a:cs typeface="Arial"/>
              </a:rPr>
              <a:t> </a:t>
            </a:r>
            <a:endParaRPr lang="en-US" altLang="ja-JP" sz="3200" i="1" dirty="0">
              <a:solidFill>
                <a:srgbClr val="FF0000"/>
              </a:solidFill>
              <a:latin typeface="Arial"/>
              <a:cs typeface="Arial"/>
            </a:endParaRPr>
          </a:p>
        </p:txBody>
      </p:sp>
      <p:sp>
        <p:nvSpPr>
          <p:cNvPr id="5" name="Rectangle 4"/>
          <p:cNvSpPr/>
          <p:nvPr/>
        </p:nvSpPr>
        <p:spPr>
          <a:xfrm>
            <a:off x="448415" y="1729689"/>
            <a:ext cx="8406733" cy="4893647"/>
          </a:xfrm>
          <a:prstGeom prst="rect">
            <a:avLst/>
          </a:prstGeom>
        </p:spPr>
        <p:txBody>
          <a:bodyPr wrap="square">
            <a:spAutoFit/>
          </a:bodyPr>
          <a:lstStyle/>
          <a:p>
            <a:pPr marL="342900" indent="-342900">
              <a:buFont typeface="Arial"/>
              <a:buChar char="•"/>
            </a:pPr>
            <a:r>
              <a:rPr lang="en-US" altLang="ja-JP" sz="2400" dirty="0" smtClean="0">
                <a:latin typeface="Times New Roman"/>
                <a:cs typeface="Times New Roman"/>
              </a:rPr>
              <a:t>Bacteria </a:t>
            </a:r>
            <a:r>
              <a:rPr lang="en-US" altLang="ja-JP" sz="2400" dirty="0">
                <a:latin typeface="Times New Roman"/>
                <a:cs typeface="Times New Roman"/>
              </a:rPr>
              <a:t>or viruses with one or more deleted or inactivated </a:t>
            </a:r>
            <a:r>
              <a:rPr lang="en-US" altLang="ja-JP" sz="2400" dirty="0" smtClean="0">
                <a:latin typeface="Times New Roman"/>
                <a:cs typeface="Times New Roman"/>
              </a:rPr>
              <a:t>genes </a:t>
            </a:r>
            <a:r>
              <a:rPr lang="en-US" altLang="ja-JP" sz="2400" dirty="0">
                <a:latin typeface="Times New Roman"/>
                <a:cs typeface="Times New Roman"/>
              </a:rPr>
              <a:t>or else could be vaccines carrying a gene from other disease agents which are referred to as vaccine vectors. </a:t>
            </a:r>
            <a:endParaRPr lang="en-US" altLang="ja-JP" sz="2400" dirty="0" smtClean="0">
              <a:latin typeface="Times New Roman"/>
              <a:cs typeface="Times New Roman"/>
            </a:endParaRPr>
          </a:p>
          <a:p>
            <a:pPr marL="342900" indent="-342900">
              <a:buFont typeface="Arial"/>
              <a:buChar char="•"/>
            </a:pPr>
            <a:endParaRPr lang="en-US" altLang="ja-JP" sz="2400" dirty="0" smtClean="0">
              <a:latin typeface="Times New Roman"/>
              <a:cs typeface="Times New Roman"/>
            </a:endParaRPr>
          </a:p>
          <a:p>
            <a:pPr marL="342900" indent="-342900">
              <a:buFont typeface="Arial"/>
              <a:buChar char="•"/>
            </a:pPr>
            <a:r>
              <a:rPr lang="en-US" altLang="ja-JP" sz="2400" dirty="0" smtClean="0">
                <a:latin typeface="Times New Roman"/>
                <a:cs typeface="Times New Roman"/>
              </a:rPr>
              <a:t>Two </a:t>
            </a:r>
            <a:r>
              <a:rPr lang="en-US" altLang="ja-JP" sz="2400" dirty="0">
                <a:latin typeface="Times New Roman"/>
                <a:cs typeface="Times New Roman"/>
              </a:rPr>
              <a:t>(double </a:t>
            </a:r>
            <a:r>
              <a:rPr lang="en-US" altLang="ja-JP" sz="2400" dirty="0" smtClean="0">
                <a:latin typeface="Times New Roman"/>
                <a:cs typeface="Times New Roman"/>
              </a:rPr>
              <a:t>knockout</a:t>
            </a:r>
            <a:r>
              <a:rPr lang="en-US" altLang="ja-JP" sz="2400" dirty="0">
                <a:latin typeface="Times New Roman"/>
                <a:cs typeface="Times New Roman"/>
              </a:rPr>
              <a:t>) or more genes are deleted or inactivated so that the vaccine remains stable and does not revert back into a pathogenic state. </a:t>
            </a:r>
            <a:endParaRPr lang="en-US" altLang="ja-JP" sz="2400" dirty="0" smtClean="0">
              <a:latin typeface="Times New Roman"/>
              <a:cs typeface="Times New Roman"/>
            </a:endParaRPr>
          </a:p>
          <a:p>
            <a:pPr marL="342900" indent="-342900">
              <a:buFont typeface="Arial"/>
              <a:buChar char="•"/>
            </a:pPr>
            <a:endParaRPr lang="en-US" altLang="ja-JP" sz="2400" dirty="0">
              <a:latin typeface="Times New Roman"/>
              <a:cs typeface="Times New Roman"/>
            </a:endParaRPr>
          </a:p>
          <a:p>
            <a:pPr marL="342900" indent="-342900">
              <a:buFont typeface="Arial"/>
              <a:buChar char="•"/>
            </a:pPr>
            <a:r>
              <a:rPr lang="en-US" altLang="ja-JP" sz="2400" dirty="0" smtClean="0">
                <a:latin typeface="Times New Roman"/>
                <a:cs typeface="Times New Roman"/>
              </a:rPr>
              <a:t>This </a:t>
            </a:r>
            <a:r>
              <a:rPr lang="en-US" altLang="ja-JP" sz="2400" dirty="0">
                <a:latin typeface="Times New Roman"/>
                <a:cs typeface="Times New Roman"/>
              </a:rPr>
              <a:t>type of vaccine development requires knowledge about the gene(s) responsible for the pathogenicity of the organism and assumes that those genes are not the same genes governing viability and the ability of the modified organism to induce an immune response. </a:t>
            </a:r>
          </a:p>
        </p:txBody>
      </p:sp>
    </p:spTree>
    <p:extLst>
      <p:ext uri="{BB962C8B-B14F-4D97-AF65-F5344CB8AC3E}">
        <p14:creationId xmlns:p14="http://schemas.microsoft.com/office/powerpoint/2010/main" val="30185255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26060"/>
            <a:ext cx="7891456" cy="1815882"/>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Recombinant vaccines</a:t>
            </a:r>
          </a:p>
          <a:p>
            <a:pPr algn="ctr"/>
            <a:r>
              <a:rPr lang="en-US" altLang="ja-JP" sz="2400" b="1" i="1" dirty="0">
                <a:solidFill>
                  <a:srgbClr val="FF0000"/>
                </a:solidFill>
                <a:latin typeface="Arial"/>
                <a:cs typeface="Arial"/>
              </a:rPr>
              <a:t>Genetic or DNA Vaccines </a:t>
            </a:r>
          </a:p>
          <a:p>
            <a:pPr algn="ctr"/>
            <a:r>
              <a:rPr lang="en-US" altLang="ja-JP" sz="4400" b="1" dirty="0" smtClean="0">
                <a:solidFill>
                  <a:srgbClr val="FF0000"/>
                </a:solidFill>
                <a:latin typeface="Arial"/>
                <a:cs typeface="Arial"/>
              </a:rPr>
              <a:t> </a:t>
            </a:r>
            <a:endParaRPr lang="en-US" altLang="ja-JP" sz="3200" i="1" dirty="0">
              <a:solidFill>
                <a:srgbClr val="FF0000"/>
              </a:solidFill>
              <a:latin typeface="Arial"/>
              <a:cs typeface="Arial"/>
            </a:endParaRPr>
          </a:p>
        </p:txBody>
      </p:sp>
      <p:sp>
        <p:nvSpPr>
          <p:cNvPr id="5" name="Rectangle 4"/>
          <p:cNvSpPr/>
          <p:nvPr/>
        </p:nvSpPr>
        <p:spPr>
          <a:xfrm>
            <a:off x="448415" y="1694407"/>
            <a:ext cx="8406733" cy="4847480"/>
          </a:xfrm>
          <a:prstGeom prst="rect">
            <a:avLst/>
          </a:prstGeom>
        </p:spPr>
        <p:txBody>
          <a:bodyPr wrap="square">
            <a:spAutoFit/>
          </a:bodyPr>
          <a:lstStyle/>
          <a:p>
            <a:pPr marL="342900" indent="-342900">
              <a:spcAft>
                <a:spcPts val="1800"/>
              </a:spcAft>
              <a:buFont typeface="Arial"/>
              <a:buChar char="•"/>
            </a:pPr>
            <a:r>
              <a:rPr lang="en-US" altLang="ja-JP" sz="2400" dirty="0" smtClean="0">
                <a:latin typeface="Times New Roman"/>
                <a:cs typeface="Times New Roman"/>
              </a:rPr>
              <a:t>The </a:t>
            </a:r>
            <a:r>
              <a:rPr lang="en-US" altLang="ja-JP" sz="2400" dirty="0">
                <a:latin typeface="Times New Roman"/>
                <a:cs typeface="Times New Roman"/>
              </a:rPr>
              <a:t>recombinant vaccines only comprise of the DNA. </a:t>
            </a:r>
            <a:endParaRPr lang="en-US" altLang="ja-JP" sz="2400" dirty="0" smtClean="0">
              <a:latin typeface="Times New Roman"/>
              <a:cs typeface="Times New Roman"/>
            </a:endParaRPr>
          </a:p>
          <a:p>
            <a:pPr marL="342900" indent="-342900">
              <a:spcAft>
                <a:spcPts val="1800"/>
              </a:spcAft>
              <a:buFont typeface="Arial"/>
              <a:buChar char="•"/>
            </a:pPr>
            <a:r>
              <a:rPr lang="en-US" altLang="ja-JP" sz="2400" dirty="0" smtClean="0">
                <a:latin typeface="Times New Roman"/>
                <a:cs typeface="Times New Roman"/>
              </a:rPr>
              <a:t>DNA vaccines consist </a:t>
            </a:r>
            <a:r>
              <a:rPr lang="en-US" altLang="ja-JP" sz="2400" dirty="0">
                <a:latin typeface="Times New Roman"/>
                <a:cs typeface="Times New Roman"/>
              </a:rPr>
              <a:t>of circular pieces of DNA called the plasmids which contain a foreign gene from the disease- causing agent and a promoter which is helpful in expressing that gene as a protein in the target </a:t>
            </a:r>
            <a:r>
              <a:rPr lang="en-US" altLang="ja-JP" sz="2400" dirty="0" smtClean="0">
                <a:latin typeface="Times New Roman"/>
                <a:cs typeface="Times New Roman"/>
              </a:rPr>
              <a:t>animal</a:t>
            </a:r>
          </a:p>
          <a:p>
            <a:pPr marL="342900" indent="-342900">
              <a:spcAft>
                <a:spcPts val="1800"/>
              </a:spcAft>
              <a:buFont typeface="Arial"/>
              <a:buChar char="•"/>
            </a:pPr>
            <a:r>
              <a:rPr lang="en-US" altLang="ja-JP" sz="2400" dirty="0" smtClean="0">
                <a:latin typeface="Times New Roman"/>
                <a:cs typeface="Times New Roman"/>
              </a:rPr>
              <a:t>Bird </a:t>
            </a:r>
            <a:r>
              <a:rPr lang="en-US" altLang="ja-JP" sz="2400" dirty="0">
                <a:latin typeface="Times New Roman"/>
                <a:cs typeface="Times New Roman"/>
              </a:rPr>
              <a:t>flu DNA vaccine was approved in June 2006, and subsequently a veterinary vaccine for horses to prevent the West Nile virus was approved in 2007. </a:t>
            </a:r>
            <a:endParaRPr lang="en-US" altLang="ja-JP" sz="2400" dirty="0" smtClean="0">
              <a:latin typeface="Times New Roman"/>
              <a:cs typeface="Times New Roman"/>
            </a:endParaRPr>
          </a:p>
          <a:p>
            <a:pPr marL="342900" indent="-342900">
              <a:spcAft>
                <a:spcPts val="1800"/>
              </a:spcAft>
              <a:buFont typeface="Arial"/>
              <a:buChar char="•"/>
            </a:pPr>
            <a:r>
              <a:rPr lang="en-US" altLang="ja-JP" sz="2400" dirty="0" smtClean="0">
                <a:latin typeface="Times New Roman"/>
                <a:cs typeface="Times New Roman"/>
              </a:rPr>
              <a:t>The </a:t>
            </a:r>
            <a:r>
              <a:rPr lang="en-US" altLang="ja-JP" sz="2400" dirty="0">
                <a:latin typeface="Times New Roman"/>
                <a:cs typeface="Times New Roman"/>
              </a:rPr>
              <a:t>use of DNA vaccines for humans is in various stages of development for targets such as HIV, cancer and multiple </a:t>
            </a:r>
            <a:r>
              <a:rPr lang="en-US" altLang="ja-JP" sz="2400" dirty="0" smtClean="0">
                <a:latin typeface="Times New Roman"/>
                <a:cs typeface="Times New Roman"/>
              </a:rPr>
              <a:t>sclerosis </a:t>
            </a:r>
            <a:endParaRPr lang="en-US" altLang="ja-JP" sz="2400" dirty="0">
              <a:latin typeface="Times New Roman"/>
              <a:cs typeface="Times New Roman"/>
            </a:endParaRPr>
          </a:p>
        </p:txBody>
      </p:sp>
    </p:spTree>
    <p:extLst>
      <p:ext uri="{BB962C8B-B14F-4D97-AF65-F5344CB8AC3E}">
        <p14:creationId xmlns:p14="http://schemas.microsoft.com/office/powerpoint/2010/main" val="172591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upload.wikimedia.org/wikipedia/commons/thumb/d/da/Making_of_a_DNA_vaccine.jpg/250px-Making_of_a_DNA_vaccin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150" y="160671"/>
            <a:ext cx="4175392" cy="669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9761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26060"/>
            <a:ext cx="7891456" cy="1815882"/>
          </a:xfrm>
          <a:prstGeom prst="rect">
            <a:avLst/>
          </a:prstGeom>
          <a:noFill/>
        </p:spPr>
        <p:txBody>
          <a:bodyPr wrap="square" rtlCol="0">
            <a:spAutoFit/>
          </a:bodyPr>
          <a:lstStyle/>
          <a:p>
            <a:pPr algn="ctr"/>
            <a:r>
              <a:rPr lang="en-US" altLang="ja-JP" sz="4400" b="1" dirty="0" smtClean="0">
                <a:solidFill>
                  <a:srgbClr val="FF0000"/>
                </a:solidFill>
                <a:latin typeface="Arial"/>
                <a:cs typeface="Arial"/>
              </a:rPr>
              <a:t>Recombinant vaccines</a:t>
            </a:r>
          </a:p>
          <a:p>
            <a:pPr algn="ctr"/>
            <a:r>
              <a:rPr lang="en-US" altLang="ja-JP" sz="2400" b="1" i="1" dirty="0">
                <a:solidFill>
                  <a:srgbClr val="FF0000"/>
                </a:solidFill>
                <a:latin typeface="Arial"/>
                <a:cs typeface="Arial"/>
              </a:rPr>
              <a:t>Genetic or DNA Vaccines </a:t>
            </a:r>
          </a:p>
          <a:p>
            <a:pPr algn="ctr"/>
            <a:r>
              <a:rPr lang="en-US" altLang="ja-JP" sz="4400" b="1" dirty="0" smtClean="0">
                <a:solidFill>
                  <a:srgbClr val="FF0000"/>
                </a:solidFill>
                <a:latin typeface="Arial"/>
                <a:cs typeface="Arial"/>
              </a:rPr>
              <a:t> </a:t>
            </a:r>
            <a:endParaRPr lang="en-US" altLang="ja-JP" sz="3200" i="1" dirty="0">
              <a:solidFill>
                <a:srgbClr val="FF0000"/>
              </a:solidFill>
              <a:latin typeface="Arial"/>
              <a:cs typeface="Arial"/>
            </a:endParaRPr>
          </a:p>
        </p:txBody>
      </p:sp>
      <p:pic>
        <p:nvPicPr>
          <p:cNvPr id="2" name="Picture 1"/>
          <p:cNvPicPr>
            <a:picLocks noChangeAspect="1"/>
          </p:cNvPicPr>
          <p:nvPr/>
        </p:nvPicPr>
        <p:blipFill>
          <a:blip r:embed="rId2"/>
          <a:stretch>
            <a:fillRect/>
          </a:stretch>
        </p:blipFill>
        <p:spPr>
          <a:xfrm>
            <a:off x="879153" y="1327364"/>
            <a:ext cx="7252768" cy="5802214"/>
          </a:xfrm>
          <a:prstGeom prst="rect">
            <a:avLst/>
          </a:prstGeom>
        </p:spPr>
      </p:pic>
    </p:spTree>
    <p:extLst>
      <p:ext uri="{BB962C8B-B14F-4D97-AF65-F5344CB8AC3E}">
        <p14:creationId xmlns:p14="http://schemas.microsoft.com/office/powerpoint/2010/main" val="20779520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42472" y="226060"/>
            <a:ext cx="7891456" cy="1384995"/>
          </a:xfrm>
          <a:prstGeom prst="rect">
            <a:avLst/>
          </a:prstGeom>
          <a:noFill/>
        </p:spPr>
        <p:txBody>
          <a:bodyPr wrap="square" rtlCol="0">
            <a:spAutoFit/>
          </a:bodyPr>
          <a:lstStyle/>
          <a:p>
            <a:pPr algn="ctr"/>
            <a:r>
              <a:rPr lang="en-US" altLang="ja-JP" sz="4000" b="1" i="1" dirty="0" smtClean="0">
                <a:solidFill>
                  <a:srgbClr val="FF0000"/>
                </a:solidFill>
                <a:latin typeface="Arial"/>
                <a:cs typeface="Arial"/>
              </a:rPr>
              <a:t>Peptide </a:t>
            </a:r>
            <a:r>
              <a:rPr lang="en-US" altLang="ja-JP" sz="4000" b="1" i="1" dirty="0" smtClean="0">
                <a:solidFill>
                  <a:srgbClr val="FF0000"/>
                </a:solidFill>
                <a:latin typeface="Arial"/>
                <a:cs typeface="Arial"/>
              </a:rPr>
              <a:t>Vaccines </a:t>
            </a:r>
            <a:endParaRPr lang="en-US" altLang="ja-JP" sz="4000" b="1" i="1" dirty="0">
              <a:solidFill>
                <a:srgbClr val="FF0000"/>
              </a:solidFill>
              <a:latin typeface="Arial"/>
              <a:cs typeface="Arial"/>
            </a:endParaRPr>
          </a:p>
          <a:p>
            <a:pPr algn="ctr"/>
            <a:r>
              <a:rPr lang="en-US" altLang="ja-JP" sz="4400" b="1" dirty="0" smtClean="0">
                <a:solidFill>
                  <a:srgbClr val="FF0000"/>
                </a:solidFill>
                <a:latin typeface="Arial"/>
                <a:cs typeface="Arial"/>
              </a:rPr>
              <a:t> </a:t>
            </a:r>
            <a:endParaRPr lang="en-US" altLang="ja-JP" sz="3200" i="1" dirty="0">
              <a:solidFill>
                <a:srgbClr val="FF0000"/>
              </a:solidFill>
              <a:latin typeface="Arial"/>
              <a:cs typeface="Arial"/>
            </a:endParaRPr>
          </a:p>
        </p:txBody>
      </p:sp>
      <p:sp>
        <p:nvSpPr>
          <p:cNvPr id="5" name="Rectangle 4"/>
          <p:cNvSpPr/>
          <p:nvPr/>
        </p:nvSpPr>
        <p:spPr>
          <a:xfrm>
            <a:off x="448415" y="1623843"/>
            <a:ext cx="8406733" cy="4708981"/>
          </a:xfrm>
          <a:prstGeom prst="rect">
            <a:avLst/>
          </a:prstGeom>
        </p:spPr>
        <p:txBody>
          <a:bodyPr wrap="square">
            <a:spAutoFit/>
          </a:bodyPr>
          <a:lstStyle/>
          <a:p>
            <a:pPr marL="342900" indent="-342900">
              <a:spcAft>
                <a:spcPts val="2400"/>
              </a:spcAft>
              <a:buFont typeface="Arial"/>
              <a:buChar char="•"/>
            </a:pPr>
            <a:r>
              <a:rPr lang="en-US" altLang="ja-JP" sz="2400" dirty="0" smtClean="0">
                <a:latin typeface="Times New Roman"/>
                <a:cs typeface="Times New Roman"/>
              </a:rPr>
              <a:t>Chemically synthesized </a:t>
            </a:r>
            <a:r>
              <a:rPr lang="en-US" altLang="ja-JP" sz="2400" dirty="0">
                <a:latin typeface="Times New Roman"/>
                <a:cs typeface="Times New Roman"/>
              </a:rPr>
              <a:t>peptides comprising of 8–24 amino acids. </a:t>
            </a:r>
            <a:endParaRPr lang="en-US" altLang="ja-JP" sz="2400" dirty="0" smtClean="0">
              <a:latin typeface="Times New Roman"/>
              <a:cs typeface="Times New Roman"/>
            </a:endParaRPr>
          </a:p>
          <a:p>
            <a:pPr marL="342900" indent="-342900">
              <a:spcAft>
                <a:spcPts val="2400"/>
              </a:spcAft>
              <a:buFont typeface="Arial"/>
              <a:buChar char="•"/>
            </a:pPr>
            <a:r>
              <a:rPr lang="en-US" altLang="ja-JP" sz="2400" dirty="0" smtClean="0">
                <a:latin typeface="Times New Roman"/>
                <a:cs typeface="Times New Roman"/>
              </a:rPr>
              <a:t>As </a:t>
            </a:r>
            <a:r>
              <a:rPr lang="en-US" altLang="ja-JP" sz="2400" dirty="0">
                <a:latin typeface="Times New Roman"/>
                <a:cs typeface="Times New Roman"/>
              </a:rPr>
              <a:t>compared to proteins, these are relatively small and have been referred to as </a:t>
            </a:r>
            <a:r>
              <a:rPr lang="en-US" altLang="ja-JP" sz="2400" dirty="0" err="1">
                <a:latin typeface="Times New Roman"/>
                <a:cs typeface="Times New Roman"/>
              </a:rPr>
              <a:t>peptidomimetic</a:t>
            </a:r>
            <a:r>
              <a:rPr lang="en-US" altLang="ja-JP" sz="2400" dirty="0">
                <a:latin typeface="Times New Roman"/>
                <a:cs typeface="Times New Roman"/>
              </a:rPr>
              <a:t> vaccines as they mimic the epitopes. </a:t>
            </a:r>
            <a:endParaRPr lang="en-US" altLang="ja-JP" sz="2400" dirty="0" smtClean="0">
              <a:latin typeface="Times New Roman"/>
              <a:cs typeface="Times New Roman"/>
            </a:endParaRPr>
          </a:p>
          <a:p>
            <a:pPr marL="342900" indent="-342900">
              <a:spcAft>
                <a:spcPts val="2400"/>
              </a:spcAft>
              <a:buFont typeface="Arial"/>
              <a:buChar char="•"/>
            </a:pPr>
            <a:r>
              <a:rPr lang="en-US" altLang="ja-JP" sz="2400" dirty="0" smtClean="0">
                <a:latin typeface="Times New Roman"/>
                <a:cs typeface="Times New Roman"/>
              </a:rPr>
              <a:t>Complex </a:t>
            </a:r>
            <a:r>
              <a:rPr lang="en-US" altLang="ja-JP" sz="2400" dirty="0">
                <a:latin typeface="Times New Roman"/>
                <a:cs typeface="Times New Roman"/>
              </a:rPr>
              <a:t>structures of cyclic components, branched chains or other </a:t>
            </a:r>
            <a:r>
              <a:rPr lang="en-US" altLang="ja-JP" sz="2400" dirty="0" smtClean="0">
                <a:latin typeface="Times New Roman"/>
                <a:cs typeface="Times New Roman"/>
              </a:rPr>
              <a:t>configurations </a:t>
            </a:r>
            <a:r>
              <a:rPr lang="en-US" altLang="ja-JP" sz="2400" dirty="0">
                <a:latin typeface="Times New Roman"/>
                <a:cs typeface="Times New Roman"/>
              </a:rPr>
              <a:t>can be built into the peptide chain, and thus </a:t>
            </a:r>
            <a:r>
              <a:rPr lang="en-US" altLang="ja-JP" sz="2400" dirty="0" smtClean="0">
                <a:latin typeface="Times New Roman"/>
                <a:cs typeface="Times New Roman"/>
              </a:rPr>
              <a:t>with </a:t>
            </a:r>
            <a:r>
              <a:rPr lang="en-US" altLang="ja-JP" sz="2400" dirty="0">
                <a:latin typeface="Times New Roman"/>
                <a:cs typeface="Times New Roman"/>
              </a:rPr>
              <a:t>these kind of conformations, they mimic the </a:t>
            </a:r>
            <a:r>
              <a:rPr lang="en-US" altLang="ja-JP" sz="2400" dirty="0" smtClean="0">
                <a:latin typeface="Times New Roman"/>
                <a:cs typeface="Times New Roman"/>
              </a:rPr>
              <a:t>epitopes</a:t>
            </a:r>
          </a:p>
          <a:p>
            <a:pPr marL="342900" indent="-342900">
              <a:spcAft>
                <a:spcPts val="2400"/>
              </a:spcAft>
              <a:buFont typeface="Arial"/>
              <a:buChar char="•"/>
            </a:pPr>
            <a:r>
              <a:rPr lang="en-US" altLang="ja-JP" sz="2400" dirty="0" smtClean="0">
                <a:latin typeface="Times New Roman"/>
                <a:cs typeface="Times New Roman"/>
              </a:rPr>
              <a:t> </a:t>
            </a:r>
            <a:r>
              <a:rPr lang="en-US" altLang="ja-JP" sz="2400" dirty="0">
                <a:latin typeface="Times New Roman"/>
                <a:cs typeface="Times New Roman"/>
              </a:rPr>
              <a:t>A critical aspect of peptide vaccines is to produce 3D structures similar to the native epitopes of the pathogen. </a:t>
            </a:r>
          </a:p>
        </p:txBody>
      </p:sp>
    </p:spTree>
    <p:extLst>
      <p:ext uri="{BB962C8B-B14F-4D97-AF65-F5344CB8AC3E}">
        <p14:creationId xmlns:p14="http://schemas.microsoft.com/office/powerpoint/2010/main" val="39550805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25230</TotalTime>
  <Words>936</Words>
  <Application>Microsoft Office PowerPoint</Application>
  <PresentationFormat>On-screen Show (4:3)</PresentationFormat>
  <Paragraphs>132</Paragraphs>
  <Slides>29</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ＭＳ Ｐゴシック</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Antigens and epitopes</vt:lpstr>
      <vt:lpstr>Traditional vaccines </vt:lpstr>
      <vt:lpstr>Traditional vaccines Live attenuated </vt:lpstr>
      <vt:lpstr>Traditional vaccines Live attenuated </vt:lpstr>
      <vt:lpstr>Traditional vaccines Live attenuated </vt:lpstr>
      <vt:lpstr>Traditional vaccines Dead, Inactivated Vaccines  </vt:lpstr>
      <vt:lpstr>Traditional vaccines Dead, Inactivated Vaccines  </vt:lpstr>
      <vt:lpstr>Traditional vaccines Toxoids</vt:lpstr>
      <vt:lpstr>Traditional vaccines Pathogen-Derived Antigens </vt:lpstr>
      <vt:lpstr>Traditional vaccines Pathogen-Derived Antigens </vt:lpstr>
      <vt:lpstr>A comprehensive review of antigens on the equine influenza virus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qutaiba ababneh</dc:creator>
  <cp:lastModifiedBy>JUST</cp:lastModifiedBy>
  <cp:revision>180</cp:revision>
  <dcterms:created xsi:type="dcterms:W3CDTF">2015-11-08T19:51:44Z</dcterms:created>
  <dcterms:modified xsi:type="dcterms:W3CDTF">2019-12-08T09:24:20Z</dcterms:modified>
</cp:coreProperties>
</file>