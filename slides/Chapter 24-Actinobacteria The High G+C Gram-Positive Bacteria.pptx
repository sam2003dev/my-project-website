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302" r:id="rId4"/>
    <p:sldId id="258" r:id="rId5"/>
    <p:sldId id="259" r:id="rId6"/>
    <p:sldId id="260" r:id="rId7"/>
    <p:sldId id="262" r:id="rId8"/>
    <p:sldId id="263" r:id="rId9"/>
    <p:sldId id="264" r:id="rId10"/>
    <p:sldId id="266" r:id="rId11"/>
    <p:sldId id="267" r:id="rId12"/>
    <p:sldId id="269" r:id="rId13"/>
    <p:sldId id="271" r:id="rId14"/>
    <p:sldId id="272" r:id="rId15"/>
    <p:sldId id="273" r:id="rId16"/>
    <p:sldId id="274" r:id="rId17"/>
    <p:sldId id="276" r:id="rId18"/>
    <p:sldId id="277"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5" r:id="rId35"/>
    <p:sldId id="299" r:id="rId36"/>
    <p:sldId id="301" r:id="rId37"/>
  </p:sldIdLst>
  <p:sldSz cx="9144000" cy="6858000" type="screen4x3"/>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4660"/>
  </p:normalViewPr>
  <p:slideViewPr>
    <p:cSldViewPr>
      <p:cViewPr varScale="1">
        <p:scale>
          <a:sx n="66" d="100"/>
          <a:sy n="66" d="100"/>
        </p:scale>
        <p:origin x="1536"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5/6/2023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5/6/2023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5/6/2023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5/6/2023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5/6/2023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304800"/>
            <a:ext cx="7772400" cy="1470025"/>
          </a:xfrm>
        </p:spPr>
        <p:txBody>
          <a:bodyPr/>
          <a:lstStyle/>
          <a:p>
            <a:r>
              <a:rPr lang="en-US" dirty="0"/>
              <a:t>Chapter 24 – </a:t>
            </a:r>
            <a:r>
              <a:rPr lang="en-US" dirty="0" err="1"/>
              <a:t>Actinobacteria</a:t>
            </a:r>
            <a:r>
              <a:rPr lang="en-US" dirty="0"/>
              <a:t>: The High G+C Gram-Positive Bacteria</a:t>
            </a:r>
          </a:p>
        </p:txBody>
      </p:sp>
      <p:pic>
        <p:nvPicPr>
          <p:cNvPr id="7"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600200"/>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24.1 Class </a:t>
            </a:r>
            <a:r>
              <a:rPr lang="en-US" i="1" dirty="0" err="1"/>
              <a:t>Actinobacteria</a:t>
            </a:r>
            <a:r>
              <a:rPr lang="en-US" dirty="0"/>
              <a:t> </a:t>
            </a:r>
          </a:p>
        </p:txBody>
      </p:sp>
      <p:sp>
        <p:nvSpPr>
          <p:cNvPr id="3" name="Content Placeholder 2"/>
          <p:cNvSpPr>
            <a:spLocks noGrp="1"/>
          </p:cNvSpPr>
          <p:nvPr>
            <p:ph idx="1"/>
          </p:nvPr>
        </p:nvSpPr>
        <p:spPr>
          <a:xfrm>
            <a:off x="457200" y="1295400"/>
            <a:ext cx="8229600" cy="4876800"/>
          </a:xfrm>
        </p:spPr>
        <p:txBody>
          <a:bodyPr>
            <a:normAutofit/>
          </a:bodyPr>
          <a:lstStyle/>
          <a:p>
            <a:pPr marL="514350" indent="-514350">
              <a:buFont typeface="+mj-lt"/>
              <a:buAutoNum type="arabicPeriod"/>
            </a:pPr>
            <a:r>
              <a:rPr lang="en-US" dirty="0"/>
              <a:t>Draw the life cycle of at least two different </a:t>
            </a:r>
            <a:r>
              <a:rPr lang="en-US" dirty="0" err="1"/>
              <a:t>actinobacteria</a:t>
            </a:r>
            <a:br>
              <a:rPr lang="en-US" dirty="0"/>
            </a:br>
            <a:endParaRPr lang="en-US" dirty="0"/>
          </a:p>
          <a:p>
            <a:pPr marL="514350" indent="-514350">
              <a:buFont typeface="+mj-lt"/>
              <a:buAutoNum type="arabicPeriod"/>
            </a:pPr>
            <a:r>
              <a:rPr lang="en-US" dirty="0"/>
              <a:t>Distinguish an exospore from an endospore</a:t>
            </a:r>
            <a:br>
              <a:rPr lang="en-US" dirty="0"/>
            </a:br>
            <a:endParaRPr lang="en-US" dirty="0"/>
          </a:p>
          <a:p>
            <a:pPr marL="514350" indent="-514350">
              <a:buFont typeface="+mj-lt"/>
              <a:buAutoNum type="arabicPeriod"/>
            </a:pPr>
            <a:r>
              <a:rPr lang="en-US" dirty="0"/>
              <a:t>Discuss the taxonomic importance of cell wall structure</a:t>
            </a:r>
            <a:br>
              <a:rPr lang="en-US" dirty="0"/>
            </a:br>
            <a:endParaRPr lang="en-US" dirty="0"/>
          </a:p>
          <a:p>
            <a:pPr marL="514350" indent="-514350">
              <a:buFont typeface="+mj-lt"/>
              <a:buAutoNum type="arabicPeriod"/>
            </a:pPr>
            <a:r>
              <a:rPr lang="en-US" dirty="0"/>
              <a:t>List common environments in which these microbes can be found</a:t>
            </a:r>
          </a:p>
          <a:p>
            <a:pPr marL="0" indent="0">
              <a:buNone/>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1685648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24.1 Class </a:t>
            </a:r>
            <a:r>
              <a:rPr lang="en-US" i="1" dirty="0" err="1"/>
              <a:t>Actinobacteria</a:t>
            </a:r>
            <a:r>
              <a:rPr lang="en-US" dirty="0"/>
              <a:t> - 2</a:t>
            </a:r>
          </a:p>
        </p:txBody>
      </p:sp>
      <p:sp>
        <p:nvSpPr>
          <p:cNvPr id="6" name="Content Placeholder 5"/>
          <p:cNvSpPr>
            <a:spLocks noGrp="1"/>
          </p:cNvSpPr>
          <p:nvPr>
            <p:ph sz="half" idx="1"/>
          </p:nvPr>
        </p:nvSpPr>
        <p:spPr>
          <a:xfrm>
            <a:off x="457200" y="1371600"/>
            <a:ext cx="8153400" cy="5105400"/>
          </a:xfrm>
        </p:spPr>
        <p:txBody>
          <a:bodyPr>
            <a:normAutofit/>
          </a:bodyPr>
          <a:lstStyle/>
          <a:p>
            <a:pPr marL="514350" indent="-514350">
              <a:buFont typeface="+mj-lt"/>
              <a:buAutoNum type="arabicPeriod" startAt="5"/>
            </a:pPr>
            <a:r>
              <a:rPr lang="en-US" sz="2600" dirty="0"/>
              <a:t>List one veterinary and two human diseases caused by </a:t>
            </a:r>
            <a:r>
              <a:rPr lang="en-US" sz="2600" dirty="0" err="1"/>
              <a:t>actinobacteria</a:t>
            </a:r>
            <a:br>
              <a:rPr lang="en-US" sz="2600" dirty="0"/>
            </a:br>
            <a:endParaRPr lang="en-US" sz="2600" dirty="0"/>
          </a:p>
          <a:p>
            <a:pPr marL="514350" indent="-514350">
              <a:buFont typeface="+mj-lt"/>
              <a:buAutoNum type="arabicPeriod" startAt="5"/>
            </a:pPr>
            <a:r>
              <a:rPr lang="en-US" sz="2600" dirty="0"/>
              <a:t>Explain snapping division and how this results in the palisade arrangement of cells</a:t>
            </a:r>
            <a:br>
              <a:rPr lang="en-US" sz="2600" dirty="0"/>
            </a:br>
            <a:endParaRPr lang="en-US" sz="2600" dirty="0"/>
          </a:p>
          <a:p>
            <a:pPr marL="514350" indent="-514350">
              <a:buFont typeface="+mj-lt"/>
              <a:buAutoNum type="arabicPeriod" startAt="5"/>
            </a:pPr>
            <a:r>
              <a:rPr lang="en-US" sz="2600" dirty="0"/>
              <a:t>Relate the structure of mycolic acids to the properties of mycobacterial cell walls</a:t>
            </a:r>
            <a:br>
              <a:rPr lang="en-US" sz="2600" dirty="0"/>
            </a:br>
            <a:endParaRPr lang="en-US" sz="2600" dirty="0"/>
          </a:p>
          <a:p>
            <a:pPr marL="514350" indent="-514350">
              <a:buFont typeface="+mj-lt"/>
              <a:buAutoNum type="arabicPeriod" startAt="5"/>
            </a:pPr>
            <a:r>
              <a:rPr lang="en-US" sz="2600" dirty="0"/>
              <a:t>Relate the unusual carbon and energy substrates used by bacteria in the family </a:t>
            </a:r>
            <a:r>
              <a:rPr lang="en-US" sz="2600" i="1" dirty="0" err="1"/>
              <a:t>Nocardiaceae</a:t>
            </a:r>
            <a:r>
              <a:rPr lang="en-US" sz="2600" dirty="0"/>
              <a:t> and to their importance in bioremediation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2926044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24.1 Class </a:t>
            </a:r>
            <a:r>
              <a:rPr lang="en-US" i="1" dirty="0" err="1"/>
              <a:t>Actinobacteria</a:t>
            </a:r>
            <a:r>
              <a:rPr lang="en-US" dirty="0"/>
              <a:t> - 3</a:t>
            </a:r>
          </a:p>
        </p:txBody>
      </p:sp>
      <p:sp>
        <p:nvSpPr>
          <p:cNvPr id="3" name="Content Placeholder 2"/>
          <p:cNvSpPr>
            <a:spLocks noGrp="1"/>
          </p:cNvSpPr>
          <p:nvPr>
            <p:ph idx="1"/>
          </p:nvPr>
        </p:nvSpPr>
        <p:spPr>
          <a:xfrm>
            <a:off x="457200" y="1371600"/>
            <a:ext cx="8229600" cy="5181600"/>
          </a:xfrm>
        </p:spPr>
        <p:txBody>
          <a:bodyPr>
            <a:normAutofit/>
          </a:bodyPr>
          <a:lstStyle/>
          <a:p>
            <a:pPr marL="514350" indent="-514350">
              <a:buFont typeface="+mj-lt"/>
              <a:buAutoNum type="arabicPeriod" startAt="9"/>
            </a:pPr>
            <a:r>
              <a:rPr lang="en-US" dirty="0"/>
              <a:t>Describe the unusual morphology of </a:t>
            </a:r>
            <a:r>
              <a:rPr lang="en-US" dirty="0" err="1"/>
              <a:t>actinoplanete</a:t>
            </a:r>
            <a:r>
              <a:rPr lang="en-US" dirty="0"/>
              <a:t> spores</a:t>
            </a:r>
            <a:br>
              <a:rPr lang="en-US" dirty="0"/>
            </a:br>
            <a:endParaRPr lang="en-US" dirty="0"/>
          </a:p>
          <a:p>
            <a:pPr marL="514350" indent="-514350">
              <a:buFont typeface="+mj-lt"/>
              <a:buAutoNum type="arabicPeriod" startAt="9"/>
            </a:pPr>
            <a:r>
              <a:rPr lang="en-US" dirty="0"/>
              <a:t>Name two reasons </a:t>
            </a:r>
            <a:r>
              <a:rPr lang="en-US" dirty="0" err="1"/>
              <a:t>proprionibacteria</a:t>
            </a:r>
            <a:r>
              <a:rPr lang="en-US" dirty="0"/>
              <a:t> are important to humans</a:t>
            </a:r>
            <a:br>
              <a:rPr lang="en-US" dirty="0"/>
            </a:br>
            <a:endParaRPr lang="en-US" dirty="0"/>
          </a:p>
          <a:p>
            <a:pPr marL="514350" indent="-514350">
              <a:buFont typeface="+mj-lt"/>
              <a:buAutoNum type="arabicPeriod" startAt="9"/>
            </a:pPr>
            <a:r>
              <a:rPr lang="en-US" dirty="0"/>
              <a:t>Explain how </a:t>
            </a:r>
            <a:r>
              <a:rPr lang="en-US" dirty="0" err="1"/>
              <a:t>streptomycete</a:t>
            </a:r>
            <a:r>
              <a:rPr lang="en-US" dirty="0"/>
              <a:t> morphology helps this group thrive in soils</a:t>
            </a:r>
            <a:br>
              <a:rPr lang="en-US" dirty="0"/>
            </a:br>
            <a:endParaRPr lang="en-US" dirty="0"/>
          </a:p>
          <a:p>
            <a:pPr marL="514350" indent="-514350">
              <a:buFont typeface="+mj-lt"/>
              <a:buAutoNum type="arabicPeriod" startAt="9"/>
            </a:pPr>
            <a:r>
              <a:rPr lang="en-US" dirty="0"/>
              <a:t>Discuss the origin of the antibiotic streptomycin and list five other medicinal agents made by the </a:t>
            </a:r>
            <a:r>
              <a:rPr lang="en-US" dirty="0" err="1"/>
              <a:t>streptomycetes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314686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24.1 Class </a:t>
            </a:r>
            <a:r>
              <a:rPr lang="en-US" i="1" dirty="0" err="1"/>
              <a:t>Actinobacteria</a:t>
            </a:r>
            <a:r>
              <a:rPr lang="en-US" dirty="0"/>
              <a:t> - 4</a:t>
            </a:r>
          </a:p>
        </p:txBody>
      </p:sp>
      <p:sp>
        <p:nvSpPr>
          <p:cNvPr id="3" name="Content Placeholder 2"/>
          <p:cNvSpPr>
            <a:spLocks noGrp="1"/>
          </p:cNvSpPr>
          <p:nvPr>
            <p:ph idx="1"/>
          </p:nvPr>
        </p:nvSpPr>
        <p:spPr/>
        <p:txBody>
          <a:bodyPr/>
          <a:lstStyle/>
          <a:p>
            <a:pPr>
              <a:buFont typeface="+mj-lt"/>
              <a:buAutoNum type="arabicPeriod" startAt="13"/>
            </a:pPr>
            <a:r>
              <a:rPr lang="en-US" dirty="0"/>
              <a:t>Describe the morphology of </a:t>
            </a:r>
            <a:r>
              <a:rPr lang="en-US" i="1" dirty="0"/>
              <a:t>Frankia </a:t>
            </a:r>
            <a:r>
              <a:rPr lang="en-US" dirty="0"/>
              <a:t>spp., relate this to their colonization of plants, and explain the advantage these bacterial symbionts confer to plants such as alder trees</a:t>
            </a:r>
            <a:br>
              <a:rPr lang="en-US" dirty="0"/>
            </a:br>
            <a:endParaRPr lang="en-US" dirty="0"/>
          </a:p>
          <a:p>
            <a:pPr>
              <a:buFont typeface="+mj-lt"/>
              <a:buAutoNum type="arabicPeriod" startAt="13"/>
            </a:pPr>
            <a:r>
              <a:rPr lang="en-US" dirty="0"/>
              <a:t>Describe the morphology of members of </a:t>
            </a:r>
            <a:r>
              <a:rPr lang="en-US" i="1" dirty="0" err="1"/>
              <a:t>Bifidobacteriaceae</a:t>
            </a:r>
            <a:br>
              <a:rPr lang="en-US" i="1" dirty="0"/>
            </a:br>
            <a:endParaRPr lang="en-US" i="1" dirty="0"/>
          </a:p>
          <a:p>
            <a:pPr>
              <a:buFont typeface="+mj-lt"/>
              <a:buAutoNum type="arabicPeriod" startAt="13"/>
            </a:pPr>
            <a:r>
              <a:rPr lang="en-US" dirty="0"/>
              <a:t>Differentiate between the human pathogenic and nonpathogenic members of class </a:t>
            </a:r>
            <a:r>
              <a:rPr lang="en-US" i="1" dirty="0" err="1"/>
              <a:t>Actinobacteria</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spTree>
    <p:extLst>
      <p:ext uri="{BB962C8B-B14F-4D97-AF65-F5344CB8AC3E}">
        <p14:creationId xmlns:p14="http://schemas.microsoft.com/office/powerpoint/2010/main" val="326892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High G + C </a:t>
            </a:r>
            <a:r>
              <a:rPr lang="en-US" i="1" dirty="0"/>
              <a:t>Bacteria</a:t>
            </a:r>
            <a:endParaRPr lang="en-US" dirty="0"/>
          </a:p>
        </p:txBody>
      </p:sp>
      <p:sp>
        <p:nvSpPr>
          <p:cNvPr id="3" name="Content Placeholder 2"/>
          <p:cNvSpPr>
            <a:spLocks noGrp="1"/>
          </p:cNvSpPr>
          <p:nvPr>
            <p:ph sz="half" idx="1"/>
          </p:nvPr>
        </p:nvSpPr>
        <p:spPr>
          <a:xfrm>
            <a:off x="152400" y="1143000"/>
            <a:ext cx="3810000" cy="5562600"/>
          </a:xfrm>
        </p:spPr>
        <p:txBody>
          <a:bodyPr>
            <a:normAutofit fontScale="92500" lnSpcReduction="10000"/>
          </a:bodyPr>
          <a:lstStyle/>
          <a:p>
            <a:pPr>
              <a:lnSpc>
                <a:spcPct val="110000"/>
              </a:lnSpc>
              <a:spcBef>
                <a:spcPts val="600"/>
              </a:spcBef>
            </a:pPr>
            <a:r>
              <a:rPr lang="en-US" dirty="0"/>
              <a:t>Volume 4 of </a:t>
            </a:r>
            <a:r>
              <a:rPr lang="en-US" i="1" dirty="0" err="1"/>
              <a:t>Bergey’s</a:t>
            </a:r>
            <a:r>
              <a:rPr lang="en-US" i="1" dirty="0"/>
              <a:t> Manual of Systematic Bacteriology, 2</a:t>
            </a:r>
            <a:r>
              <a:rPr lang="en-US" i="1" baseline="30000" dirty="0"/>
              <a:t>nd</a:t>
            </a:r>
            <a:r>
              <a:rPr lang="en-US" i="1" dirty="0"/>
              <a:t> Edition</a:t>
            </a:r>
            <a:br>
              <a:rPr lang="en-US" i="1" dirty="0"/>
            </a:br>
            <a:endParaRPr lang="en-US" i="1" dirty="0"/>
          </a:p>
          <a:p>
            <a:pPr>
              <a:lnSpc>
                <a:spcPct val="110000"/>
              </a:lnSpc>
              <a:spcBef>
                <a:spcPts val="600"/>
              </a:spcBef>
            </a:pPr>
            <a:r>
              <a:rPr lang="en-US" dirty="0" err="1"/>
              <a:t>Actinomycetes</a:t>
            </a:r>
            <a:endParaRPr lang="en-US" dirty="0"/>
          </a:p>
          <a:p>
            <a:pPr lvl="1">
              <a:lnSpc>
                <a:spcPct val="110000"/>
              </a:lnSpc>
              <a:spcBef>
                <a:spcPts val="600"/>
              </a:spcBef>
            </a:pPr>
            <a:r>
              <a:rPr lang="en-US" dirty="0"/>
              <a:t>Gram-positive, aerobic bacteria that produce filamentous cells called hyphae and differentiate into asexual spores</a:t>
            </a:r>
          </a:p>
          <a:p>
            <a:pPr lvl="1">
              <a:lnSpc>
                <a:spcPct val="110000"/>
              </a:lnSpc>
              <a:spcBef>
                <a:spcPts val="600"/>
              </a:spcBef>
            </a:pPr>
            <a:r>
              <a:rPr lang="en-US" dirty="0"/>
              <a:t>adapt to climates similar to fungi</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pic>
        <p:nvPicPr>
          <p:cNvPr id="1026" name="Picture 2" descr="Same figure as 20.1 with the phylum Actinobacteria highlighted.&#10;&#10;Phylogenetic tree showing the relationship between the archaea Crenarchaeota, Thaumarchaeota, Euryarchaeota, and select bacteria (Aquificae, Thermotogae, Chloroflexi, Deinococcus-Thermus, Firmicutes, Actinobacteria, Proteobacteria, Spirochaetes, Cyanobacteria, Planctomycetes and Chlamydiae, Chlorobi, and Bacteroidetes).  Both groups descend from common ancestors." title="Figure 24.1 Phylogenetic Relationships Among Bacteria and Archaea."/>
          <p:cNvPicPr>
            <a:picLocks noChangeAspect="1" noChangeArrowheads="1"/>
          </p:cNvPicPr>
          <p:nvPr/>
        </p:nvPicPr>
        <p:blipFill>
          <a:blip r:embed="rId2" cstate="print"/>
          <a:srcRect/>
          <a:stretch>
            <a:fillRect/>
          </a:stretch>
        </p:blipFill>
        <p:spPr bwMode="auto">
          <a:xfrm>
            <a:off x="4294150" y="1371600"/>
            <a:ext cx="4620228" cy="4505210"/>
          </a:xfrm>
          <a:prstGeom prst="rect">
            <a:avLst/>
          </a:prstGeom>
          <a:noFill/>
        </p:spPr>
      </p:pic>
    </p:spTree>
    <p:extLst>
      <p:ext uri="{BB962C8B-B14F-4D97-AF65-F5344CB8AC3E}">
        <p14:creationId xmlns:p14="http://schemas.microsoft.com/office/powerpoint/2010/main" val="3016110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274638"/>
            <a:ext cx="2133600" cy="2849562"/>
          </a:xfrm>
        </p:spPr>
        <p:txBody>
          <a:bodyPr>
            <a:normAutofit/>
          </a:bodyPr>
          <a:lstStyle/>
          <a:p>
            <a:r>
              <a:rPr lang="en-US" sz="2400" dirty="0"/>
              <a:t>Characteristics of </a:t>
            </a:r>
            <a:r>
              <a:rPr lang="en-US" sz="2400" dirty="0" err="1"/>
              <a:t>Actinobacteria</a:t>
            </a:r>
            <a:endParaRPr lang="en-US" sz="2400"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7</a:t>
            </a:fld>
            <a:endParaRPr lang="en-US"/>
          </a:p>
        </p:txBody>
      </p:sp>
      <p:pic>
        <p:nvPicPr>
          <p:cNvPr id="2050" name="Picture 2" descr="Header Row: Genus; Dimensions (μm), Morphology and Motility; Genome Size Range (Mb); Oxygen Relationship; Other Distinctive Characteristics&#10;Actinoplanes; Nonfragmenting, branching mycelium with little aerial growth, sporangia formed, motile spores with polar flagella; 8.7-9.4; Aerobic; Hyphae often in palisade arrangement, highly colored, type II cell walls, found in soil and decaying plant material&#10;Arthrobacter; 0.8–1.2 × 1.0–8.0, young cells are irregular rods, older cells are small cocci, usually nonmotile; 3.9-5.2; Aerobic; Have rod-coccus growth cycle, metabolism respiratory, catalase positive, mainly in soil&#10;Bifidobacterium; 0.5–1.3 × 1.5–8, rods of varied shape, usually curved, nonmotile; 1.9-2.8; Anaerobic; Cells can be clubbed or branched, pairs often in V arrangement, ferment carbohydrates to acetate and lactate but no CO2, catalase negative&#10;Corynebacterium; 0.3–0.8 × 1.5–8.0, straight or slightly curved rods with tapered or clubbed ends, nonmotile; 2.3-3.4; Facultatively anaerobic; Cells often arranged in a V formation or in palisades of parallel cells, catalase positive and fermentative, polyphosphate granules&#10;Frankia; 0.5–2.0 in diameter, vegetative hyphae with limited-to-extensive branching and no aerial mycelium, multilocular sporangia formed; 5.3-9.0; Aerobic to microaerophilic; Sporangiospores nonmotile, usually fixes nitrogen, type III cell walls, most strains are symbiotic with angiosperm plants and induce nodules&#10;Micrococcus; 0.5–2.0 diameter, cocci in pairs, tetrads, or irregular clusters, usually nonmotile; 2.3-2.6; Aerobic; Colonies usually yellow or red, catalase positive with respiratory metabolism, primarily on mammalian skin and in soil&#10;Mycobacterium; 0.2–0.6 × 1.0–10, straight or slightly curved rods, sometimes branched, acid-fast, nonmotile and nonsporing; 3.3-7.0; Aerobic; Catalase positive, can form filaments that are readily fragmented, walls have high lipid content, in soil and water, some parasitic&#10;Nocardia; 0.5–1.2 in diameter, rudimentary to extensive vegetative hyphae that can fragment into rod-shaped and coccoid forms; 6.2-9.4; Aerobic; Aerial hyphae formed, catalase positive, type IV cell walls, widely distributed in soil&#10;Propionibacterium; 0.5–0.8 × 1–5, pleomorphic nonmotile rods, may be forked or branched, nonsporing; 2.5-2.6; Anaerobic to aerotolerant; Fermentation produces propionate and acetate, and often gas, catalase positive&#10;Streptomyces; 0.5–2.0 in diameter, vegetative mycelium extensively branched, aerial mycelium forms chains of three to many spores; 8.5-10.1; Aerobic; Forms discrete lichenoid or leathery colonies that often are pigmented, respiratory metabolism, uses many organic compounds as nutrients, soil organisms" title="Table 24.1 Characteristics of Actinobacteria"/>
          <p:cNvPicPr>
            <a:picLocks noChangeAspect="1" noChangeArrowheads="1"/>
          </p:cNvPicPr>
          <p:nvPr/>
        </p:nvPicPr>
        <p:blipFill>
          <a:blip r:embed="rId2" cstate="print"/>
          <a:srcRect/>
          <a:stretch>
            <a:fillRect/>
          </a:stretch>
        </p:blipFill>
        <p:spPr bwMode="auto">
          <a:xfrm>
            <a:off x="2303816" y="160867"/>
            <a:ext cx="6629438" cy="6265334"/>
          </a:xfrm>
          <a:prstGeom prst="rect">
            <a:avLst/>
          </a:prstGeom>
          <a:noFill/>
        </p:spPr>
      </p:pic>
    </p:spTree>
    <p:extLst>
      <p:ext uri="{BB962C8B-B14F-4D97-AF65-F5344CB8AC3E}">
        <p14:creationId xmlns:p14="http://schemas.microsoft.com/office/powerpoint/2010/main" val="2928951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Properties of the </a:t>
            </a:r>
            <a:r>
              <a:rPr lang="en-US" dirty="0" err="1"/>
              <a:t>Actinomycetes</a:t>
            </a:r>
            <a:endParaRPr lang="en-US" dirty="0"/>
          </a:p>
        </p:txBody>
      </p:sp>
      <p:sp>
        <p:nvSpPr>
          <p:cNvPr id="3" name="Content Placeholder 2"/>
          <p:cNvSpPr>
            <a:spLocks noGrp="1"/>
          </p:cNvSpPr>
          <p:nvPr>
            <p:ph idx="1"/>
          </p:nvPr>
        </p:nvSpPr>
        <p:spPr/>
        <p:txBody>
          <a:bodyPr/>
          <a:lstStyle/>
          <a:p>
            <a:r>
              <a:rPr lang="en-US" dirty="0"/>
              <a:t>Source of most currently used antibiotics</a:t>
            </a:r>
            <a:br>
              <a:rPr lang="en-US" dirty="0"/>
            </a:br>
            <a:endParaRPr lang="en-US" dirty="0"/>
          </a:p>
          <a:p>
            <a:r>
              <a:rPr lang="en-US" dirty="0"/>
              <a:t>Also produce metabolites that are anticancer, </a:t>
            </a:r>
            <a:r>
              <a:rPr lang="en-US" dirty="0" err="1"/>
              <a:t>antihelminthic</a:t>
            </a:r>
            <a:r>
              <a:rPr lang="en-US" dirty="0"/>
              <a:t>, and immunosuppressive</a:t>
            </a:r>
            <a:br>
              <a:rPr lang="en-US" dirty="0"/>
            </a:br>
            <a:endParaRPr lang="en-US" dirty="0"/>
          </a:p>
          <a:p>
            <a:r>
              <a:rPr lang="en-US" dirty="0"/>
              <a:t>Complex life cycle</a:t>
            </a:r>
            <a:br>
              <a:rPr lang="en-US" dirty="0"/>
            </a:br>
            <a:endParaRPr lang="en-US" dirty="0"/>
          </a:p>
          <a:p>
            <a:r>
              <a:rPr lang="en-US" dirty="0"/>
              <a:t>Most are not motile</a:t>
            </a:r>
          </a:p>
          <a:p>
            <a:pPr lvl="1"/>
            <a:r>
              <a:rPr lang="en-US" dirty="0"/>
              <a:t>motility is restricted to flagellated spores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635140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4495800" cy="1295400"/>
          </a:xfrm>
        </p:spPr>
        <p:txBody>
          <a:bodyPr>
            <a:normAutofit/>
          </a:bodyPr>
          <a:lstStyle/>
          <a:p>
            <a:r>
              <a:rPr lang="en-US" dirty="0"/>
              <a:t>Life Cycle of </a:t>
            </a:r>
            <a:r>
              <a:rPr lang="en-US" dirty="0" err="1"/>
              <a:t>Actinomycetes</a:t>
            </a:r>
            <a:endParaRPr lang="en-US" dirty="0"/>
          </a:p>
        </p:txBody>
      </p:sp>
      <p:sp>
        <p:nvSpPr>
          <p:cNvPr id="3" name="Content Placeholder 2"/>
          <p:cNvSpPr>
            <a:spLocks noGrp="1"/>
          </p:cNvSpPr>
          <p:nvPr>
            <p:ph sz="half" idx="1"/>
          </p:nvPr>
        </p:nvSpPr>
        <p:spPr>
          <a:xfrm>
            <a:off x="76200" y="1524000"/>
            <a:ext cx="4419600" cy="5181600"/>
          </a:xfrm>
        </p:spPr>
        <p:txBody>
          <a:bodyPr>
            <a:normAutofit fontScale="92500" lnSpcReduction="20000"/>
          </a:bodyPr>
          <a:lstStyle/>
          <a:p>
            <a:r>
              <a:rPr lang="en-US" dirty="0"/>
              <a:t>Involves development of filamentous cells (hyphae) and spores</a:t>
            </a:r>
            <a:br>
              <a:rPr lang="en-US" dirty="0"/>
            </a:br>
            <a:endParaRPr lang="en-US" dirty="0"/>
          </a:p>
          <a:p>
            <a:r>
              <a:rPr lang="en-US" dirty="0"/>
              <a:t>Hyphae can form branching network</a:t>
            </a:r>
          </a:p>
          <a:p>
            <a:pPr lvl="1"/>
            <a:r>
              <a:rPr lang="en-US" dirty="0"/>
              <a:t>grow on surface of substrate/into it to produce a substrate mycelium</a:t>
            </a:r>
          </a:p>
          <a:p>
            <a:pPr lvl="1"/>
            <a:r>
              <a:rPr lang="en-US" dirty="0"/>
              <a:t>some hyphae differentiate to form an aerial mycelium which extends above substratum</a:t>
            </a:r>
          </a:p>
          <a:p>
            <a:pPr lvl="1"/>
            <a:r>
              <a:rPr lang="en-US" dirty="0"/>
              <a:t>at this stage secondary metabolites form, some of which are medically useful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pic>
        <p:nvPicPr>
          <p:cNvPr id="3074" name="Picture 2" descr="(a) This photomicrograph shows Streptomyces griseus substrate hyphae (yellow) growing into the agar and the white aerial hyphae growing away from the colony surface. (b) Illustration.  The colony consists of actively growing aerial hyphae that cannibalize the substrate hyphae to obtain nutrients. " title="Figure 24.2 Cross Section of an Actinomycete Colony."/>
          <p:cNvPicPr>
            <a:picLocks noChangeAspect="1" noChangeArrowheads="1"/>
          </p:cNvPicPr>
          <p:nvPr/>
        </p:nvPicPr>
        <p:blipFill>
          <a:blip r:embed="rId2" cstate="print"/>
          <a:srcRect/>
          <a:stretch>
            <a:fillRect/>
          </a:stretch>
        </p:blipFill>
        <p:spPr bwMode="auto">
          <a:xfrm>
            <a:off x="4595813" y="490537"/>
            <a:ext cx="4243387" cy="5876926"/>
          </a:xfrm>
          <a:prstGeom prst="rect">
            <a:avLst/>
          </a:prstGeom>
          <a:noFill/>
        </p:spPr>
      </p:pic>
    </p:spTree>
    <p:extLst>
      <p:ext uri="{BB962C8B-B14F-4D97-AF65-F5344CB8AC3E}">
        <p14:creationId xmlns:p14="http://schemas.microsoft.com/office/powerpoint/2010/main" val="3599527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Life Cycle of </a:t>
            </a:r>
            <a:r>
              <a:rPr lang="en-US" dirty="0" err="1"/>
              <a:t>Actinomycetes</a:t>
            </a:r>
            <a:r>
              <a:rPr lang="en-US" dirty="0"/>
              <a:t> – Aerial Mycelia</a:t>
            </a:r>
          </a:p>
        </p:txBody>
      </p:sp>
      <p:sp>
        <p:nvSpPr>
          <p:cNvPr id="3" name="Content Placeholder 2"/>
          <p:cNvSpPr>
            <a:spLocks noGrp="1"/>
          </p:cNvSpPr>
          <p:nvPr>
            <p:ph sz="half" idx="1"/>
          </p:nvPr>
        </p:nvSpPr>
        <p:spPr>
          <a:xfrm>
            <a:off x="152400" y="1066801"/>
            <a:ext cx="8839200" cy="2209800"/>
          </a:xfrm>
        </p:spPr>
        <p:txBody>
          <a:bodyPr>
            <a:normAutofit fontScale="92500" lnSpcReduction="20000"/>
          </a:bodyPr>
          <a:lstStyle/>
          <a:p>
            <a:pPr>
              <a:lnSpc>
                <a:spcPct val="110000"/>
              </a:lnSpc>
              <a:spcBef>
                <a:spcPts val="600"/>
              </a:spcBef>
            </a:pPr>
            <a:r>
              <a:rPr lang="en-US" dirty="0"/>
              <a:t>Aerial mycelium</a:t>
            </a:r>
          </a:p>
          <a:p>
            <a:pPr lvl="1">
              <a:lnSpc>
                <a:spcPct val="110000"/>
              </a:lnSpc>
              <a:spcBef>
                <a:spcPts val="600"/>
              </a:spcBef>
            </a:pPr>
            <a:r>
              <a:rPr lang="en-US" dirty="0"/>
              <a:t>form exospores which are called </a:t>
            </a:r>
            <a:r>
              <a:rPr lang="en-US" dirty="0" err="1"/>
              <a:t>sporangiospores</a:t>
            </a:r>
            <a:r>
              <a:rPr lang="en-US" dirty="0"/>
              <a:t> if they are located in a sporangium</a:t>
            </a:r>
          </a:p>
          <a:p>
            <a:pPr lvl="2">
              <a:lnSpc>
                <a:spcPct val="110000"/>
              </a:lnSpc>
              <a:spcBef>
                <a:spcPts val="600"/>
              </a:spcBef>
            </a:pPr>
            <a:r>
              <a:rPr lang="en-US" dirty="0"/>
              <a:t>produced in response to nutrient deprivation</a:t>
            </a:r>
          </a:p>
          <a:p>
            <a:pPr lvl="2">
              <a:lnSpc>
                <a:spcPct val="110000"/>
              </a:lnSpc>
              <a:spcBef>
                <a:spcPts val="600"/>
              </a:spcBef>
            </a:pPr>
            <a:r>
              <a:rPr lang="en-US" dirty="0"/>
              <a:t>withstand desiccation but not heat resistant</a:t>
            </a:r>
          </a:p>
          <a:p>
            <a:pPr lvl="2">
              <a:lnSpc>
                <a:spcPct val="110000"/>
              </a:lnSpc>
              <a:spcBef>
                <a:spcPts val="600"/>
              </a:spcBef>
            </a:pPr>
            <a:r>
              <a:rPr lang="en-US" dirty="0"/>
              <a:t>spores dispersed by wind for new bacteria</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pic>
        <p:nvPicPr>
          <p:cNvPr id="4098" name="Picture 2" descr="(a) Spores of Pseudonocardia yunnanensis. (b) Single spores of Saccharomonospora viridis are closely spaced along aerial hyphae.  This organism causes farmer’s lung. (c) Spore chain of Streptomyces venezuelae, which produces the antibiotic chloramphenicol." title="Figure 24.3 Examples of Actinomycete Spores as Seen in the Scanning Electron Microscope."/>
          <p:cNvPicPr>
            <a:picLocks noChangeAspect="1" noChangeArrowheads="1"/>
          </p:cNvPicPr>
          <p:nvPr/>
        </p:nvPicPr>
        <p:blipFill>
          <a:blip r:embed="rId2" cstate="print"/>
          <a:srcRect/>
          <a:stretch>
            <a:fillRect/>
          </a:stretch>
        </p:blipFill>
        <p:spPr bwMode="auto">
          <a:xfrm>
            <a:off x="82197" y="3606800"/>
            <a:ext cx="8979608" cy="2592388"/>
          </a:xfrm>
          <a:prstGeom prst="rect">
            <a:avLst/>
          </a:prstGeom>
          <a:noFill/>
        </p:spPr>
      </p:pic>
    </p:spTree>
    <p:extLst>
      <p:ext uri="{BB962C8B-B14F-4D97-AF65-F5344CB8AC3E}">
        <p14:creationId xmlns:p14="http://schemas.microsoft.com/office/powerpoint/2010/main" val="53048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66" y="685800"/>
            <a:ext cx="4419600" cy="1981200"/>
          </a:xfrm>
        </p:spPr>
        <p:txBody>
          <a:bodyPr>
            <a:normAutofit/>
          </a:bodyPr>
          <a:lstStyle/>
          <a:p>
            <a:r>
              <a:rPr lang="en-US" dirty="0"/>
              <a:t>Ecological Significance of </a:t>
            </a:r>
            <a:r>
              <a:rPr lang="en-US" dirty="0" err="1"/>
              <a:t>Actinomycetes</a:t>
            </a:r>
            <a:endParaRPr lang="en-US" dirty="0"/>
          </a:p>
        </p:txBody>
      </p:sp>
      <p:sp>
        <p:nvSpPr>
          <p:cNvPr id="3" name="Content Placeholder 2"/>
          <p:cNvSpPr>
            <a:spLocks noGrp="1"/>
          </p:cNvSpPr>
          <p:nvPr>
            <p:ph sz="half" idx="1"/>
          </p:nvPr>
        </p:nvSpPr>
        <p:spPr>
          <a:xfrm>
            <a:off x="76200" y="3505200"/>
            <a:ext cx="8991600" cy="3276600"/>
          </a:xfrm>
        </p:spPr>
        <p:txBody>
          <a:bodyPr>
            <a:normAutofit fontScale="85000" lnSpcReduction="10000"/>
          </a:bodyPr>
          <a:lstStyle/>
          <a:p>
            <a:r>
              <a:rPr lang="en-US" dirty="0"/>
              <a:t>Widely distributed in soil</a:t>
            </a:r>
            <a:br>
              <a:rPr lang="en-US" dirty="0"/>
            </a:br>
            <a:endParaRPr lang="en-US" dirty="0"/>
          </a:p>
          <a:p>
            <a:r>
              <a:rPr lang="en-US" dirty="0"/>
              <a:t>Play important role in mineralization of organic matter</a:t>
            </a:r>
            <a:br>
              <a:rPr lang="en-US" dirty="0"/>
            </a:br>
            <a:endParaRPr lang="en-US" dirty="0"/>
          </a:p>
          <a:p>
            <a:r>
              <a:rPr lang="en-US" dirty="0"/>
              <a:t>Most are free living, but a few are pathogens</a:t>
            </a:r>
            <a:br>
              <a:rPr lang="en-US" dirty="0"/>
            </a:br>
            <a:endParaRPr lang="en-US" dirty="0"/>
          </a:p>
          <a:p>
            <a:r>
              <a:rPr lang="en-US" dirty="0"/>
              <a:t>Characteristics used in </a:t>
            </a:r>
            <a:r>
              <a:rPr lang="en-US" dirty="0" err="1"/>
              <a:t>Actinomycete</a:t>
            </a:r>
            <a:r>
              <a:rPr lang="en-US" dirty="0"/>
              <a:t> taxonomy</a:t>
            </a:r>
          </a:p>
          <a:p>
            <a:pPr lvl="1"/>
            <a:r>
              <a:rPr lang="en-US" dirty="0"/>
              <a:t>four major cell wall types based on peptidoglycan structure and sugar content other than N-</a:t>
            </a:r>
            <a:r>
              <a:rPr lang="en-US" dirty="0" err="1"/>
              <a:t>acetylglucosamine</a:t>
            </a:r>
            <a:r>
              <a:rPr lang="en-US" dirty="0"/>
              <a:t> and N-</a:t>
            </a:r>
            <a:r>
              <a:rPr lang="en-US" dirty="0" err="1"/>
              <a:t>acetylmuramic</a:t>
            </a:r>
            <a:r>
              <a:rPr lang="en-US" dirty="0"/>
              <a:t> acid</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5122" name="Picture 2" descr="Peptidoglycan with meso-diaminopimelic acid in position 3 and a direct cross-linkage between positions 3 and 4 of the peptide subunits is shown here. This is found in a variety of bacteria, including actinobacteria containing type III and IV cell walls (e.g., Frankia and Nocardia). Other actinobacteria have a glycine residue linking tetrapeptides." title="Figure 24.4 Actinobacterial Peptidoglycan Structure."/>
          <p:cNvPicPr>
            <a:picLocks noChangeAspect="1" noChangeArrowheads="1"/>
          </p:cNvPicPr>
          <p:nvPr/>
        </p:nvPicPr>
        <p:blipFill>
          <a:blip r:embed="rId2" cstate="print"/>
          <a:srcRect/>
          <a:stretch>
            <a:fillRect/>
          </a:stretch>
        </p:blipFill>
        <p:spPr bwMode="auto">
          <a:xfrm>
            <a:off x="3954702" y="233362"/>
            <a:ext cx="5108096" cy="3195638"/>
          </a:xfrm>
          <a:prstGeom prst="rect">
            <a:avLst/>
          </a:prstGeom>
          <a:noFill/>
        </p:spPr>
      </p:pic>
    </p:spTree>
    <p:extLst>
      <p:ext uri="{BB962C8B-B14F-4D97-AF65-F5344CB8AC3E}">
        <p14:creationId xmlns:p14="http://schemas.microsoft.com/office/powerpoint/2010/main" val="260229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Actinobacterial</a:t>
            </a:r>
            <a:r>
              <a:rPr lang="en-US" dirty="0"/>
              <a:t> Cell Wall Types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12</a:t>
            </a:fld>
            <a:endParaRPr lang="en-US"/>
          </a:p>
        </p:txBody>
      </p:sp>
      <p:pic>
        <p:nvPicPr>
          <p:cNvPr id="6146" name="Picture 2" descr="Header Row: Cell Wall Type; Diaminopimelic Acid Isomer; Glycine in Interpeptide Bridge; Characteristic Sugars; Representative Genera&#10;I; L, L; +; either not applicable or no diagnostic sugars; Nocardioides, Streptomyces&#10;II; meso; +; either not applicable or no diagnostic sugars; Micromonospora, Pilimelia, Actinoplanes&#10;III; meso; −; either not applicable or no diagnostic sugars; Actinomadura, Frankia&#10;IV; meso; −; Arabinose, galactose; Saccharomonospora, Nocardia&#10;&#10;Header Row: Whole Cell Sugar Patterns (Characteristic sugar patterns are present only in wall types II–IV, those actinomycetes with meso-diaminopimelic acid); Characteristic Sugars; Representative Genera&#10;A; Arabinose, galactose; Nocardia, Rhodococcus, Saccharomonospora&#10;B; Madurose (3-O-methyl-D-galactose); Actinomadura, Streptosporangium, Dermatophilus&#10;C; None; Thermomonospora, Actinosynnema, Geodermatophilus&#10;D; Arabinose, xylose; Micromonospora, Actinoplanes" title="Table 24.2 Actinomycete Cell Wall Types and Whole Cell Sugar Patterns"/>
          <p:cNvPicPr>
            <a:picLocks noChangeAspect="1" noChangeArrowheads="1"/>
          </p:cNvPicPr>
          <p:nvPr/>
        </p:nvPicPr>
        <p:blipFill>
          <a:blip r:embed="rId2" cstate="print"/>
          <a:srcRect/>
          <a:stretch>
            <a:fillRect/>
          </a:stretch>
        </p:blipFill>
        <p:spPr bwMode="auto">
          <a:xfrm>
            <a:off x="282014" y="1524000"/>
            <a:ext cx="8579974" cy="4706390"/>
          </a:xfrm>
          <a:prstGeom prst="rect">
            <a:avLst/>
          </a:prstGeom>
          <a:noFill/>
        </p:spPr>
      </p:pic>
    </p:spTree>
    <p:extLst>
      <p:ext uri="{BB962C8B-B14F-4D97-AF65-F5344CB8AC3E}">
        <p14:creationId xmlns:p14="http://schemas.microsoft.com/office/powerpoint/2010/main" val="3246609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75"/>
            <a:ext cx="8229600" cy="1143000"/>
          </a:xfrm>
        </p:spPr>
        <p:txBody>
          <a:bodyPr/>
          <a:lstStyle/>
          <a:p>
            <a:r>
              <a:rPr lang="en-US" dirty="0"/>
              <a:t>Order </a:t>
            </a:r>
            <a:r>
              <a:rPr lang="en-US" i="1" dirty="0" err="1"/>
              <a:t>Actinomycetales</a:t>
            </a:r>
            <a:endParaRPr lang="en-US" dirty="0"/>
          </a:p>
        </p:txBody>
      </p:sp>
      <p:sp>
        <p:nvSpPr>
          <p:cNvPr id="3" name="Content Placeholder 2"/>
          <p:cNvSpPr>
            <a:spLocks noGrp="1"/>
          </p:cNvSpPr>
          <p:nvPr>
            <p:ph sz="half" idx="1"/>
          </p:nvPr>
        </p:nvSpPr>
        <p:spPr>
          <a:xfrm>
            <a:off x="152400" y="1066801"/>
            <a:ext cx="8839200" cy="2819400"/>
          </a:xfrm>
        </p:spPr>
        <p:txBody>
          <a:bodyPr>
            <a:normAutofit fontScale="92500" lnSpcReduction="20000"/>
          </a:bodyPr>
          <a:lstStyle/>
          <a:p>
            <a:r>
              <a:rPr lang="en-US" dirty="0"/>
              <a:t>Includes genera </a:t>
            </a:r>
            <a:r>
              <a:rPr lang="en-US" i="1" dirty="0" err="1"/>
              <a:t>Actinomyces</a:t>
            </a:r>
            <a:r>
              <a:rPr lang="en-US" i="1" dirty="0"/>
              <a:t>, </a:t>
            </a:r>
            <a:r>
              <a:rPr lang="en-US" i="1" dirty="0" err="1"/>
              <a:t>Actinobaculum</a:t>
            </a:r>
            <a:r>
              <a:rPr lang="en-US" i="1" dirty="0"/>
              <a:t>, </a:t>
            </a:r>
            <a:r>
              <a:rPr lang="en-US" i="1" dirty="0" err="1"/>
              <a:t>Arcanobacterium</a:t>
            </a:r>
            <a:r>
              <a:rPr lang="en-US" dirty="0"/>
              <a:t>, and </a:t>
            </a:r>
            <a:r>
              <a:rPr lang="en-US" i="1" dirty="0" err="1"/>
              <a:t>Mobiluncus</a:t>
            </a:r>
            <a:br>
              <a:rPr lang="en-US" i="1" dirty="0"/>
            </a:br>
            <a:endParaRPr lang="en-US" i="1" dirty="0"/>
          </a:p>
          <a:p>
            <a:r>
              <a:rPr lang="en-US" dirty="0"/>
              <a:t>Irregularly shaped, non-</a:t>
            </a:r>
            <a:r>
              <a:rPr lang="en-US" dirty="0" err="1"/>
              <a:t>sporing</a:t>
            </a:r>
            <a:r>
              <a:rPr lang="en-US" dirty="0"/>
              <a:t>, Gram-positive rods</a:t>
            </a:r>
          </a:p>
          <a:p>
            <a:pPr lvl="1"/>
            <a:r>
              <a:rPr lang="en-US" dirty="0"/>
              <a:t>swelling, club shapes, or other deviations from normal rod morphology</a:t>
            </a:r>
            <a:br>
              <a:rPr lang="en-US" dirty="0"/>
            </a:br>
            <a:endParaRPr lang="en-US" dirty="0"/>
          </a:p>
          <a:p>
            <a:r>
              <a:rPr lang="en-US" dirty="0"/>
              <a:t>Aerobic, facultative, or microaerophilic metabolism</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pic>
        <p:nvPicPr>
          <p:cNvPr id="7170" name="Picture 2" descr="(a) Gram stain showing branching forms of Actinomyces species. (b) Color-enhanced scanning electron micrograph of Actinomyces showing the filamentous nature of the colony." title="Figure 24.5 Representatives of the Genus Actinomyces."/>
          <p:cNvPicPr>
            <a:picLocks noChangeAspect="1" noChangeArrowheads="1"/>
          </p:cNvPicPr>
          <p:nvPr/>
        </p:nvPicPr>
        <p:blipFill>
          <a:blip r:embed="rId2" cstate="print"/>
          <a:srcRect/>
          <a:stretch>
            <a:fillRect/>
          </a:stretch>
        </p:blipFill>
        <p:spPr bwMode="auto">
          <a:xfrm>
            <a:off x="1337733" y="3810000"/>
            <a:ext cx="6468536" cy="2822458"/>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Actinomyces</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r>
              <a:rPr lang="en-US" sz="2800" dirty="0"/>
              <a:t>Straight or slightly curved rods and slender filaments with true branching</a:t>
            </a:r>
          </a:p>
          <a:p>
            <a:pPr lvl="1"/>
            <a:r>
              <a:rPr lang="en-US" dirty="0"/>
              <a:t>may have swollen, clubbed, or </a:t>
            </a:r>
            <a:r>
              <a:rPr lang="en-US" dirty="0" err="1"/>
              <a:t>clavate</a:t>
            </a:r>
            <a:r>
              <a:rPr lang="en-US" dirty="0"/>
              <a:t> ends</a:t>
            </a:r>
            <a:br>
              <a:rPr lang="en-US" dirty="0"/>
            </a:br>
            <a:endParaRPr lang="en-US" dirty="0"/>
          </a:p>
          <a:p>
            <a:r>
              <a:rPr lang="en-US" sz="2800" dirty="0"/>
              <a:t>Facultative or obligate </a:t>
            </a:r>
            <a:r>
              <a:rPr lang="en-US" sz="2800" dirty="0" err="1"/>
              <a:t>a</a:t>
            </a:r>
            <a:r>
              <a:rPr lang="en-US" sz="2800" dirty="0" err="1">
                <a:solidFill>
                  <a:srgbClr val="FF0000"/>
                </a:solidFill>
              </a:rPr>
              <a:t>NA</a:t>
            </a:r>
            <a:r>
              <a:rPr lang="en-US" sz="2800" dirty="0" err="1"/>
              <a:t>erobes</a:t>
            </a:r>
            <a:r>
              <a:rPr lang="en-US" sz="2800" dirty="0"/>
              <a:t> (require CO</a:t>
            </a:r>
            <a:r>
              <a:rPr lang="en-US" sz="2800" baseline="-25000" dirty="0"/>
              <a:t>2</a:t>
            </a:r>
            <a:r>
              <a:rPr lang="en-US" sz="2800" dirty="0"/>
              <a:t>)</a:t>
            </a:r>
            <a:br>
              <a:rPr lang="en-US" sz="2800" dirty="0"/>
            </a:br>
            <a:endParaRPr lang="en-US" sz="2800" dirty="0"/>
          </a:p>
          <a:p>
            <a:r>
              <a:rPr lang="en-US" sz="2800" dirty="0"/>
              <a:t>Peptidoglycan contains lysine and not </a:t>
            </a:r>
            <a:r>
              <a:rPr lang="en-US" sz="2800" dirty="0" err="1"/>
              <a:t>diaminopimelic</a:t>
            </a:r>
            <a:r>
              <a:rPr lang="en-US" sz="2800" dirty="0"/>
              <a:t> acid or glycine</a:t>
            </a:r>
            <a:br>
              <a:rPr lang="en-US" sz="2800" dirty="0"/>
            </a:br>
            <a:endParaRPr lang="en-US" sz="2800" dirty="0"/>
          </a:p>
          <a:p>
            <a:r>
              <a:rPr lang="en-US" dirty="0"/>
              <a:t>N</a:t>
            </a:r>
            <a:r>
              <a:rPr lang="en-US" sz="2800" dirty="0"/>
              <a:t>ormal inhabits of oral mucosa </a:t>
            </a:r>
          </a:p>
          <a:p>
            <a:pPr lvl="1"/>
            <a:r>
              <a:rPr lang="en-US" dirty="0"/>
              <a:t>cause of lumpy jaw in cattle</a:t>
            </a:r>
          </a:p>
          <a:p>
            <a:pPr lvl="1"/>
            <a:r>
              <a:rPr lang="en-US" dirty="0"/>
              <a:t>ocular infection, </a:t>
            </a:r>
            <a:r>
              <a:rPr lang="en-US" dirty="0" err="1"/>
              <a:t>actinomycoses</a:t>
            </a:r>
            <a:r>
              <a:rPr lang="en-US" dirty="0"/>
              <a:t>, and </a:t>
            </a:r>
            <a:r>
              <a:rPr lang="en-US" dirty="0" err="1"/>
              <a:t>peridontal</a:t>
            </a:r>
            <a:r>
              <a:rPr lang="en-US" dirty="0"/>
              <a:t> disease in humans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2944904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990600"/>
          </a:xfrm>
        </p:spPr>
        <p:txBody>
          <a:bodyPr>
            <a:normAutofit/>
          </a:bodyPr>
          <a:lstStyle/>
          <a:p>
            <a:r>
              <a:rPr lang="en-US" dirty="0"/>
              <a:t>Order </a:t>
            </a:r>
            <a:r>
              <a:rPr lang="en-US" i="1" dirty="0" err="1"/>
              <a:t>Micrococcales</a:t>
            </a:r>
            <a:r>
              <a:rPr lang="en-US" dirty="0"/>
              <a:t>,</a:t>
            </a:r>
            <a:r>
              <a:rPr lang="en-US" i="1" dirty="0"/>
              <a:t> </a:t>
            </a:r>
            <a:r>
              <a:rPr lang="en-US" dirty="0"/>
              <a:t>Genus</a:t>
            </a:r>
            <a:r>
              <a:rPr lang="en-US" i="1" dirty="0"/>
              <a:t> Micrococcus</a:t>
            </a:r>
            <a:endParaRPr lang="en-US" dirty="0"/>
          </a:p>
        </p:txBody>
      </p:sp>
      <p:sp>
        <p:nvSpPr>
          <p:cNvPr id="3" name="Content Placeholder 2"/>
          <p:cNvSpPr>
            <a:spLocks noGrp="1"/>
          </p:cNvSpPr>
          <p:nvPr>
            <p:ph sz="half" idx="1"/>
          </p:nvPr>
        </p:nvSpPr>
        <p:spPr>
          <a:xfrm>
            <a:off x="152400" y="1143000"/>
            <a:ext cx="4343400" cy="5486400"/>
          </a:xfrm>
        </p:spPr>
        <p:txBody>
          <a:bodyPr>
            <a:normAutofit fontScale="77500" lnSpcReduction="20000"/>
          </a:bodyPr>
          <a:lstStyle/>
          <a:p>
            <a:pPr>
              <a:lnSpc>
                <a:spcPct val="120000"/>
              </a:lnSpc>
              <a:spcBef>
                <a:spcPts val="600"/>
              </a:spcBef>
            </a:pPr>
            <a:r>
              <a:rPr lang="en-US" dirty="0"/>
              <a:t>Aerobic, catalase-positive </a:t>
            </a:r>
            <a:r>
              <a:rPr lang="en-US" strike="sngStrike" dirty="0"/>
              <a:t>rods </a:t>
            </a:r>
            <a:r>
              <a:rPr lang="en-US" dirty="0">
                <a:highlight>
                  <a:srgbClr val="FFFF00"/>
                </a:highlight>
              </a:rPr>
              <a:t>cocci </a:t>
            </a:r>
            <a:r>
              <a:rPr lang="en-US" dirty="0"/>
              <a:t>that occur in pairs, tetrads, or irregular clusters</a:t>
            </a:r>
            <a:br>
              <a:rPr lang="en-US" dirty="0"/>
            </a:br>
            <a:endParaRPr lang="en-US" dirty="0"/>
          </a:p>
          <a:p>
            <a:pPr>
              <a:lnSpc>
                <a:spcPct val="120000"/>
              </a:lnSpc>
              <a:spcBef>
                <a:spcPts val="600"/>
              </a:spcBef>
            </a:pPr>
            <a:r>
              <a:rPr lang="en-US" dirty="0"/>
              <a:t>Usually </a:t>
            </a:r>
            <a:r>
              <a:rPr lang="en-US" dirty="0" err="1"/>
              <a:t>nonmotile</a:t>
            </a:r>
            <a:br>
              <a:rPr lang="en-US" dirty="0"/>
            </a:br>
            <a:endParaRPr lang="en-US" dirty="0"/>
          </a:p>
          <a:p>
            <a:pPr>
              <a:lnSpc>
                <a:spcPct val="120000"/>
              </a:lnSpc>
              <a:spcBef>
                <a:spcPts val="600"/>
              </a:spcBef>
            </a:pPr>
            <a:r>
              <a:rPr lang="en-US" dirty="0"/>
              <a:t>Often pigmented yellow, orange, or red</a:t>
            </a:r>
            <a:br>
              <a:rPr lang="en-US" dirty="0"/>
            </a:br>
            <a:endParaRPr lang="en-US" dirty="0"/>
          </a:p>
          <a:p>
            <a:pPr>
              <a:lnSpc>
                <a:spcPct val="120000"/>
              </a:lnSpc>
              <a:spcBef>
                <a:spcPts val="600"/>
              </a:spcBef>
            </a:pPr>
            <a:r>
              <a:rPr lang="en-US" dirty="0"/>
              <a:t>Widespread in soil, water, and on human skin</a:t>
            </a:r>
            <a:br>
              <a:rPr lang="en-US" dirty="0"/>
            </a:br>
            <a:endParaRPr lang="en-US" dirty="0"/>
          </a:p>
          <a:p>
            <a:pPr>
              <a:lnSpc>
                <a:spcPct val="120000"/>
              </a:lnSpc>
              <a:spcBef>
                <a:spcPts val="600"/>
              </a:spcBef>
            </a:pPr>
            <a:r>
              <a:rPr lang="en-US" dirty="0"/>
              <a:t>Does not undergo morphological differentiation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pic>
        <p:nvPicPr>
          <p:cNvPr id="8194" name="Picture 2" descr="Gram stain of Micrococcus luteus clusters." title="Figure 24.6 Micrococcus."/>
          <p:cNvPicPr>
            <a:picLocks noChangeAspect="1" noChangeArrowheads="1"/>
          </p:cNvPicPr>
          <p:nvPr/>
        </p:nvPicPr>
        <p:blipFill>
          <a:blip r:embed="rId2" cstate="print"/>
          <a:srcRect/>
          <a:stretch>
            <a:fillRect/>
          </a:stretch>
        </p:blipFill>
        <p:spPr bwMode="auto">
          <a:xfrm>
            <a:off x="4572000" y="1634068"/>
            <a:ext cx="4372196" cy="2862790"/>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normAutofit/>
          </a:bodyPr>
          <a:lstStyle/>
          <a:p>
            <a:r>
              <a:rPr lang="en-US" dirty="0"/>
              <a:t>Order </a:t>
            </a:r>
            <a:r>
              <a:rPr lang="en-US" i="1" dirty="0" err="1"/>
              <a:t>Micrococcales</a:t>
            </a:r>
            <a:r>
              <a:rPr lang="en-US" dirty="0"/>
              <a:t>,</a:t>
            </a:r>
            <a:br>
              <a:rPr lang="en-US" i="1" dirty="0"/>
            </a:br>
            <a:r>
              <a:rPr lang="en-US" dirty="0"/>
              <a:t>Genus </a:t>
            </a:r>
            <a:r>
              <a:rPr lang="en-US" i="1" dirty="0" err="1"/>
              <a:t>Arthrobacter</a:t>
            </a:r>
            <a:endParaRPr lang="en-US" dirty="0"/>
          </a:p>
        </p:txBody>
      </p:sp>
      <p:sp>
        <p:nvSpPr>
          <p:cNvPr id="6" name="Content Placeholder 5"/>
          <p:cNvSpPr>
            <a:spLocks noGrp="1"/>
          </p:cNvSpPr>
          <p:nvPr>
            <p:ph sz="half" idx="2"/>
          </p:nvPr>
        </p:nvSpPr>
        <p:spPr>
          <a:xfrm>
            <a:off x="4800600" y="1447800"/>
            <a:ext cx="4191000" cy="5334000"/>
          </a:xfrm>
        </p:spPr>
        <p:txBody>
          <a:bodyPr>
            <a:normAutofit fontScale="85000" lnSpcReduction="10000"/>
          </a:bodyPr>
          <a:lstStyle/>
          <a:p>
            <a:r>
              <a:rPr lang="en-US" dirty="0"/>
              <a:t>Aerobic, catalase-positive rods, respiratory</a:t>
            </a:r>
            <a:br>
              <a:rPr lang="en-US" dirty="0"/>
            </a:br>
            <a:r>
              <a:rPr lang="en-US" dirty="0"/>
              <a:t> </a:t>
            </a:r>
          </a:p>
          <a:p>
            <a:r>
              <a:rPr lang="en-US" dirty="0"/>
              <a:t>Lysine in peptidoglycan</a:t>
            </a:r>
            <a:br>
              <a:rPr lang="en-US" dirty="0"/>
            </a:br>
            <a:endParaRPr lang="en-US" dirty="0"/>
          </a:p>
          <a:p>
            <a:r>
              <a:rPr lang="en-US" dirty="0"/>
              <a:t>Rod-coccus growth cycle</a:t>
            </a:r>
          </a:p>
          <a:p>
            <a:pPr lvl="1"/>
            <a:r>
              <a:rPr lang="en-US" dirty="0"/>
              <a:t>exponential phase</a:t>
            </a:r>
          </a:p>
          <a:p>
            <a:pPr lvl="2"/>
            <a:r>
              <a:rPr lang="en-US" sz="2400" dirty="0"/>
              <a:t>irregular, branched rods</a:t>
            </a:r>
          </a:p>
          <a:p>
            <a:pPr lvl="3"/>
            <a:r>
              <a:rPr lang="en-US" dirty="0"/>
              <a:t>reproduce by snapping division</a:t>
            </a:r>
          </a:p>
          <a:p>
            <a:pPr lvl="2"/>
            <a:r>
              <a:rPr lang="en-US" sz="2400" dirty="0"/>
              <a:t>early stationary phase</a:t>
            </a:r>
          </a:p>
          <a:p>
            <a:pPr lvl="3"/>
            <a:r>
              <a:rPr lang="en-US" dirty="0"/>
              <a:t>begin to change to coccoid form</a:t>
            </a:r>
          </a:p>
          <a:p>
            <a:pPr lvl="2"/>
            <a:r>
              <a:rPr lang="en-US" sz="2400" dirty="0"/>
              <a:t>when transferred to fresh medium, coccoid cells produce outgrowths of actively growing rods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pic>
        <p:nvPicPr>
          <p:cNvPr id="9218" name="Picture 2" descr="When grown at 25°C, coccoid cells of about 1 μm in diameter (like those in stationary phase) swell and elongate to form branching rods of about 7-10 μm in length in exponential phase.  As nutrients are depleted and cells enter stationary phase, the cells become spherical and form clusters." title="Figure 24.7 The Rod-Coccus Growth Cycle of Arthrobacter spp."/>
          <p:cNvPicPr>
            <a:picLocks noChangeAspect="1" noChangeArrowheads="1"/>
          </p:cNvPicPr>
          <p:nvPr/>
        </p:nvPicPr>
        <p:blipFill>
          <a:blip r:embed="rId2" cstate="print"/>
          <a:srcRect/>
          <a:stretch>
            <a:fillRect/>
          </a:stretch>
        </p:blipFill>
        <p:spPr bwMode="auto">
          <a:xfrm>
            <a:off x="152400" y="1752600"/>
            <a:ext cx="4539112" cy="3697288"/>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Order </a:t>
            </a:r>
            <a:r>
              <a:rPr lang="en-US" i="1" dirty="0" err="1"/>
              <a:t>Corynebacteriales</a:t>
            </a:r>
            <a:r>
              <a:rPr lang="en-US" dirty="0"/>
              <a:t> Includes Important Human Pathogens</a:t>
            </a:r>
          </a:p>
        </p:txBody>
      </p:sp>
      <p:sp>
        <p:nvSpPr>
          <p:cNvPr id="3" name="Content Placeholder 2"/>
          <p:cNvSpPr>
            <a:spLocks noGrp="1"/>
          </p:cNvSpPr>
          <p:nvPr>
            <p:ph idx="1"/>
          </p:nvPr>
        </p:nvSpPr>
        <p:spPr/>
        <p:txBody>
          <a:bodyPr/>
          <a:lstStyle/>
          <a:p>
            <a:r>
              <a:rPr lang="en-US" dirty="0"/>
              <a:t>Has seven families with many known genera such as:</a:t>
            </a:r>
            <a:br>
              <a:rPr lang="en-US" dirty="0"/>
            </a:br>
            <a:endParaRPr lang="en-US" dirty="0"/>
          </a:p>
          <a:p>
            <a:pPr lvl="1"/>
            <a:r>
              <a:rPr lang="en-US" i="1" dirty="0"/>
              <a:t>Corynebacterium</a:t>
            </a:r>
            <a:br>
              <a:rPr lang="en-US" i="1" dirty="0"/>
            </a:br>
            <a:endParaRPr lang="en-US" i="1" dirty="0"/>
          </a:p>
          <a:p>
            <a:pPr lvl="1"/>
            <a:r>
              <a:rPr lang="en-US" i="1" dirty="0"/>
              <a:t>Mycobacterium</a:t>
            </a:r>
            <a:br>
              <a:rPr lang="en-US" i="1" dirty="0"/>
            </a:br>
            <a:endParaRPr lang="en-US" i="1" dirty="0"/>
          </a:p>
          <a:p>
            <a:pPr lvl="1"/>
            <a:r>
              <a:rPr lang="en-US" i="1" dirty="0" err="1"/>
              <a:t>Nocardia</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2944904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990600"/>
            <a:ext cx="3429000" cy="1371600"/>
          </a:xfrm>
        </p:spPr>
        <p:txBody>
          <a:bodyPr>
            <a:normAutofit fontScale="90000"/>
          </a:bodyPr>
          <a:lstStyle/>
          <a:p>
            <a:r>
              <a:rPr lang="en-US" dirty="0"/>
              <a:t>Genus </a:t>
            </a:r>
            <a:r>
              <a:rPr lang="en-US" i="1" dirty="0"/>
              <a:t>Corynebacterium</a:t>
            </a:r>
            <a:endParaRPr lang="en-US" dirty="0"/>
          </a:p>
        </p:txBody>
      </p:sp>
      <p:sp>
        <p:nvSpPr>
          <p:cNvPr id="3" name="Content Placeholder 2"/>
          <p:cNvSpPr>
            <a:spLocks noGrp="1"/>
          </p:cNvSpPr>
          <p:nvPr>
            <p:ph sz="half" idx="1"/>
          </p:nvPr>
        </p:nvSpPr>
        <p:spPr>
          <a:xfrm>
            <a:off x="76200" y="3581400"/>
            <a:ext cx="8991600" cy="3200400"/>
          </a:xfrm>
        </p:spPr>
        <p:txBody>
          <a:bodyPr>
            <a:normAutofit fontScale="85000" lnSpcReduction="20000"/>
          </a:bodyPr>
          <a:lstStyle/>
          <a:p>
            <a:pPr>
              <a:lnSpc>
                <a:spcPct val="120000"/>
              </a:lnSpc>
              <a:spcBef>
                <a:spcPts val="600"/>
              </a:spcBef>
            </a:pPr>
            <a:r>
              <a:rPr lang="en-US" dirty="0"/>
              <a:t>Aerobic and facultative, catalase positive</a:t>
            </a:r>
          </a:p>
          <a:p>
            <a:pPr>
              <a:lnSpc>
                <a:spcPct val="120000"/>
              </a:lnSpc>
              <a:spcBef>
                <a:spcPts val="600"/>
              </a:spcBef>
            </a:pPr>
            <a:r>
              <a:rPr lang="en-US" dirty="0"/>
              <a:t>Straight to curved rods with tapered ends and club shaped</a:t>
            </a:r>
          </a:p>
          <a:p>
            <a:pPr>
              <a:lnSpc>
                <a:spcPct val="120000"/>
              </a:lnSpc>
              <a:spcBef>
                <a:spcPts val="600"/>
              </a:spcBef>
            </a:pPr>
            <a:r>
              <a:rPr lang="en-US" dirty="0"/>
              <a:t>After snapping division bacteria often remain partially attached resulting in palisade arrangements of cells</a:t>
            </a:r>
          </a:p>
          <a:p>
            <a:pPr>
              <a:lnSpc>
                <a:spcPct val="120000"/>
              </a:lnSpc>
              <a:spcBef>
                <a:spcPts val="600"/>
              </a:spcBef>
            </a:pPr>
            <a:r>
              <a:rPr lang="en-US" dirty="0"/>
              <a:t>Some are harmless soil and water saprophytes</a:t>
            </a:r>
          </a:p>
          <a:p>
            <a:pPr>
              <a:lnSpc>
                <a:spcPct val="120000"/>
              </a:lnSpc>
              <a:spcBef>
                <a:spcPts val="600"/>
              </a:spcBef>
            </a:pPr>
            <a:r>
              <a:rPr lang="en-US" dirty="0"/>
              <a:t>Many are animal and human pathogens</a:t>
            </a:r>
          </a:p>
          <a:p>
            <a:pPr lvl="1">
              <a:lnSpc>
                <a:spcPct val="120000"/>
              </a:lnSpc>
              <a:spcBef>
                <a:spcPts val="600"/>
              </a:spcBef>
            </a:pPr>
            <a:r>
              <a:rPr lang="en-US" dirty="0"/>
              <a:t>e.g. </a:t>
            </a:r>
            <a:r>
              <a:rPr lang="en-US" i="1" dirty="0"/>
              <a:t>C. </a:t>
            </a:r>
            <a:r>
              <a:rPr lang="en-US" i="1" dirty="0" err="1"/>
              <a:t>diphtheriae</a:t>
            </a:r>
            <a:r>
              <a:rPr lang="en-US" dirty="0"/>
              <a:t> - diphtheria</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pic>
        <p:nvPicPr>
          <p:cNvPr id="10242" name="Picture 2" descr="Photos of Corynebacterium diphtheria.  (a) Following snapping division, daughter cells remain attached and at an angle. (b) This angular association of pairs of cells results in a palisade arrangement" title="Figure 24.8 Corynebacterium diphtheriae Undergoes Snapping Division, Giving Rise to Cells in Palisades."/>
          <p:cNvPicPr>
            <a:picLocks noChangeAspect="1" noChangeArrowheads="1"/>
          </p:cNvPicPr>
          <p:nvPr/>
        </p:nvPicPr>
        <p:blipFill>
          <a:blip r:embed="rId2" cstate="print"/>
          <a:srcRect/>
          <a:stretch>
            <a:fillRect/>
          </a:stretch>
        </p:blipFill>
        <p:spPr bwMode="auto">
          <a:xfrm>
            <a:off x="3505200" y="381000"/>
            <a:ext cx="5480896" cy="2909888"/>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a:t>Mycobacterium</a:t>
            </a:r>
            <a:endParaRPr lang="en-US" dirty="0"/>
          </a:p>
        </p:txBody>
      </p:sp>
      <p:sp>
        <p:nvSpPr>
          <p:cNvPr id="3" name="Content Placeholder 2"/>
          <p:cNvSpPr>
            <a:spLocks noGrp="1"/>
          </p:cNvSpPr>
          <p:nvPr>
            <p:ph sz="half" idx="1"/>
          </p:nvPr>
        </p:nvSpPr>
        <p:spPr>
          <a:xfrm>
            <a:off x="152400" y="1143000"/>
            <a:ext cx="4343400" cy="5562600"/>
          </a:xfrm>
        </p:spPr>
        <p:txBody>
          <a:bodyPr>
            <a:normAutofit fontScale="92500" lnSpcReduction="10000"/>
          </a:bodyPr>
          <a:lstStyle/>
          <a:p>
            <a:r>
              <a:rPr lang="en-US" dirty="0"/>
              <a:t>In family </a:t>
            </a:r>
            <a:r>
              <a:rPr lang="en-US" i="1" dirty="0" err="1"/>
              <a:t>Mycobacteriaceae</a:t>
            </a:r>
            <a:endParaRPr lang="en-US" i="1" dirty="0"/>
          </a:p>
          <a:p>
            <a:pPr lvl="1"/>
            <a:r>
              <a:rPr lang="en-US" dirty="0"/>
              <a:t>straight or slightly curved rods that sometimes branch or form filaments</a:t>
            </a:r>
            <a:br>
              <a:rPr lang="en-US" dirty="0"/>
            </a:br>
            <a:endParaRPr lang="en-US" dirty="0"/>
          </a:p>
          <a:p>
            <a:r>
              <a:rPr lang="en-US" dirty="0"/>
              <a:t>Aerobic and catalase positive</a:t>
            </a:r>
            <a:br>
              <a:rPr lang="en-US" dirty="0"/>
            </a:br>
            <a:endParaRPr lang="en-US" dirty="0"/>
          </a:p>
          <a:p>
            <a:r>
              <a:rPr lang="en-US" dirty="0"/>
              <a:t>Filaments readily fragment into rods and coccoid bodies</a:t>
            </a:r>
            <a:br>
              <a:rPr lang="en-US" dirty="0"/>
            </a:br>
            <a:endParaRPr lang="en-US" dirty="0"/>
          </a:p>
          <a:p>
            <a:r>
              <a:rPr lang="en-US" dirty="0"/>
              <a:t>Very slow growing on culture media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pic>
        <p:nvPicPr>
          <p:cNvPr id="11266" name="Picture 2" descr="Photo of acid-fast stain of Mycobacterium leprae from a leprosy skin lesion." title="Figure 24.9 The Mycobacteria."/>
          <p:cNvPicPr>
            <a:picLocks noChangeAspect="1" noChangeArrowheads="1"/>
          </p:cNvPicPr>
          <p:nvPr/>
        </p:nvPicPr>
        <p:blipFill>
          <a:blip r:embed="rId2" cstate="print"/>
          <a:srcRect/>
          <a:stretch>
            <a:fillRect/>
          </a:stretch>
        </p:blipFill>
        <p:spPr bwMode="auto">
          <a:xfrm>
            <a:off x="4343400" y="1447800"/>
            <a:ext cx="4606766" cy="3551236"/>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8200" y="76200"/>
            <a:ext cx="4419600" cy="1143000"/>
          </a:xfrm>
        </p:spPr>
        <p:txBody>
          <a:bodyPr>
            <a:normAutofit fontScale="90000"/>
          </a:bodyPr>
          <a:lstStyle/>
          <a:p>
            <a:r>
              <a:rPr lang="en-US" dirty="0"/>
              <a:t>Mycobacterial Cell Walls</a:t>
            </a:r>
          </a:p>
        </p:txBody>
      </p:sp>
      <p:sp>
        <p:nvSpPr>
          <p:cNvPr id="6" name="Content Placeholder 5"/>
          <p:cNvSpPr>
            <a:spLocks noGrp="1"/>
          </p:cNvSpPr>
          <p:nvPr>
            <p:ph sz="half" idx="2"/>
          </p:nvPr>
        </p:nvSpPr>
        <p:spPr>
          <a:xfrm>
            <a:off x="4572000" y="1295400"/>
            <a:ext cx="4572000" cy="5410200"/>
          </a:xfrm>
        </p:spPr>
        <p:txBody>
          <a:bodyPr>
            <a:normAutofit fontScale="92500"/>
          </a:bodyPr>
          <a:lstStyle/>
          <a:p>
            <a:r>
              <a:rPr lang="en-US" dirty="0"/>
              <a:t>Contain waxes with 60 to 90 carbon mycolic acids</a:t>
            </a:r>
            <a:br>
              <a:rPr lang="en-US" dirty="0"/>
            </a:br>
            <a:endParaRPr lang="en-US" dirty="0"/>
          </a:p>
          <a:p>
            <a:r>
              <a:rPr lang="en-US" dirty="0"/>
              <a:t>Mycolic acids linked to peptidoglycan by arabinogalactan, a polysaccharide</a:t>
            </a:r>
          </a:p>
          <a:p>
            <a:pPr lvl="1"/>
            <a:r>
              <a:rPr lang="en-US" sz="2600" dirty="0"/>
              <a:t>cell walls very hydrophobic</a:t>
            </a:r>
          </a:p>
          <a:p>
            <a:pPr lvl="1"/>
            <a:r>
              <a:rPr lang="en-US" sz="2600" dirty="0"/>
              <a:t>impenetrable by antibiotics</a:t>
            </a:r>
          </a:p>
          <a:p>
            <a:pPr lvl="1"/>
            <a:r>
              <a:rPr lang="en-US" dirty="0"/>
              <a:t>acid-fast</a:t>
            </a:r>
          </a:p>
          <a:p>
            <a:pPr lvl="2"/>
            <a:r>
              <a:rPr lang="en-US" sz="2400" dirty="0"/>
              <a:t>basic </a:t>
            </a:r>
            <a:r>
              <a:rPr lang="en-US" sz="2400" dirty="0" err="1"/>
              <a:t>fuchsin</a:t>
            </a:r>
            <a:r>
              <a:rPr lang="en-US" sz="2400" dirty="0"/>
              <a:t> dye not removed by acid alcohol treatment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pic>
        <p:nvPicPr>
          <p:cNvPr id="12290" name="Picture 2" descr="(a) The peptidoglycan layer is tethered to the plasma membrane by the glycolipids lipoarabinomannan and phosphatidylinositol mannosides.  Arabinogalactan (D-arabinose and D-galactose), which is linked to mycolic acids, is also attached to the peptidoglycan, and is covered by a lipid bilayer.  Like Gram-negative bacteria, mycobacteria have porins to regulate the passage of small molecules across the outer membrane. (b) The generic structure of mycolic acids, a family that includes over 500 different types. (c) An example mycolic acid with two cyclopropane rings." title="Figure 24.10 Mycobacterial Cell Wall."/>
          <p:cNvPicPr>
            <a:picLocks noChangeAspect="1" noChangeArrowheads="1"/>
          </p:cNvPicPr>
          <p:nvPr/>
        </p:nvPicPr>
        <p:blipFill>
          <a:blip r:embed="rId2" cstate="print"/>
          <a:srcRect/>
          <a:stretch>
            <a:fillRect/>
          </a:stretch>
        </p:blipFill>
        <p:spPr bwMode="auto">
          <a:xfrm>
            <a:off x="517525" y="440531"/>
            <a:ext cx="4054475" cy="5976938"/>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Species of </a:t>
            </a:r>
            <a:r>
              <a:rPr lang="en-US" i="1" dirty="0"/>
              <a:t>Mycobacterium</a:t>
            </a:r>
            <a:endParaRPr lang="en-US" dirty="0"/>
          </a:p>
        </p:txBody>
      </p:sp>
      <p:sp>
        <p:nvSpPr>
          <p:cNvPr id="3" name="Content Placeholder 2"/>
          <p:cNvSpPr>
            <a:spLocks noGrp="1"/>
          </p:cNvSpPr>
          <p:nvPr>
            <p:ph idx="1"/>
          </p:nvPr>
        </p:nvSpPr>
        <p:spPr/>
        <p:txBody>
          <a:bodyPr/>
          <a:lstStyle/>
          <a:p>
            <a:pPr>
              <a:lnSpc>
                <a:spcPct val="90000"/>
              </a:lnSpc>
            </a:pPr>
            <a:r>
              <a:rPr lang="en-US" i="1" dirty="0"/>
              <a:t>M. </a:t>
            </a:r>
            <a:r>
              <a:rPr lang="en-US" i="1" dirty="0" err="1"/>
              <a:t>bovis</a:t>
            </a:r>
            <a:r>
              <a:rPr lang="en-US" dirty="0"/>
              <a:t> </a:t>
            </a:r>
          </a:p>
          <a:p>
            <a:pPr lvl="1">
              <a:lnSpc>
                <a:spcPct val="90000"/>
              </a:lnSpc>
            </a:pPr>
            <a:r>
              <a:rPr lang="en-US" dirty="0"/>
              <a:t>tuberculosis in cattle, humans</a:t>
            </a:r>
            <a:br>
              <a:rPr lang="en-US" dirty="0"/>
            </a:br>
            <a:endParaRPr lang="en-US" dirty="0"/>
          </a:p>
          <a:p>
            <a:pPr>
              <a:lnSpc>
                <a:spcPct val="90000"/>
              </a:lnSpc>
            </a:pPr>
            <a:r>
              <a:rPr lang="en-US" i="1" dirty="0"/>
              <a:t>M. tuberculosis</a:t>
            </a:r>
            <a:r>
              <a:rPr lang="en-US" dirty="0"/>
              <a:t> </a:t>
            </a:r>
          </a:p>
          <a:p>
            <a:pPr lvl="1">
              <a:lnSpc>
                <a:spcPct val="90000"/>
              </a:lnSpc>
            </a:pPr>
            <a:r>
              <a:rPr lang="en-US" dirty="0"/>
              <a:t>tuberculosis in humans</a:t>
            </a:r>
            <a:br>
              <a:rPr lang="en-US" dirty="0"/>
            </a:br>
            <a:endParaRPr lang="en-US" dirty="0"/>
          </a:p>
          <a:p>
            <a:pPr>
              <a:lnSpc>
                <a:spcPct val="90000"/>
              </a:lnSpc>
            </a:pPr>
            <a:r>
              <a:rPr lang="en-US" i="1" dirty="0"/>
              <a:t>M. </a:t>
            </a:r>
            <a:r>
              <a:rPr lang="en-US" i="1" dirty="0" err="1"/>
              <a:t>avium</a:t>
            </a:r>
            <a:r>
              <a:rPr lang="en-US" dirty="0"/>
              <a:t> complex (MAC) </a:t>
            </a:r>
          </a:p>
          <a:p>
            <a:pPr lvl="1">
              <a:lnSpc>
                <a:spcPct val="90000"/>
              </a:lnSpc>
            </a:pPr>
            <a:r>
              <a:rPr lang="en-US" dirty="0"/>
              <a:t>various diseases</a:t>
            </a:r>
            <a:br>
              <a:rPr lang="en-US" dirty="0"/>
            </a:br>
            <a:endParaRPr lang="en-US" dirty="0"/>
          </a:p>
          <a:p>
            <a:pPr>
              <a:lnSpc>
                <a:spcPct val="90000"/>
              </a:lnSpc>
            </a:pPr>
            <a:r>
              <a:rPr lang="en-US" i="1" dirty="0"/>
              <a:t>M. </a:t>
            </a:r>
            <a:r>
              <a:rPr lang="en-US" i="1" dirty="0" err="1"/>
              <a:t>leprae</a:t>
            </a:r>
            <a:r>
              <a:rPr lang="en-US" dirty="0"/>
              <a:t> </a:t>
            </a:r>
          </a:p>
          <a:p>
            <a:pPr lvl="1">
              <a:lnSpc>
                <a:spcPct val="90000"/>
              </a:lnSpc>
            </a:pPr>
            <a:r>
              <a:rPr lang="en-US" dirty="0"/>
              <a:t>leprosy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spTree>
    <p:extLst>
      <p:ext uri="{BB962C8B-B14F-4D97-AF65-F5344CB8AC3E}">
        <p14:creationId xmlns:p14="http://schemas.microsoft.com/office/powerpoint/2010/main" val="2944904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dirty="0" err="1"/>
              <a:t>Nocardia</a:t>
            </a:r>
            <a:endParaRPr lang="en-US" dirty="0"/>
          </a:p>
        </p:txBody>
      </p:sp>
      <p:sp>
        <p:nvSpPr>
          <p:cNvPr id="3" name="Content Placeholder 2"/>
          <p:cNvSpPr>
            <a:spLocks noGrp="1"/>
          </p:cNvSpPr>
          <p:nvPr>
            <p:ph sz="half" idx="1"/>
          </p:nvPr>
        </p:nvSpPr>
        <p:spPr>
          <a:xfrm>
            <a:off x="457200" y="1600200"/>
            <a:ext cx="6172200" cy="4525963"/>
          </a:xfrm>
        </p:spPr>
        <p:txBody>
          <a:bodyPr>
            <a:normAutofit/>
          </a:bodyPr>
          <a:lstStyle/>
          <a:p>
            <a:r>
              <a:rPr lang="en-US" dirty="0"/>
              <a:t>Along with genus </a:t>
            </a:r>
            <a:r>
              <a:rPr lang="en-US" i="1" dirty="0" err="1"/>
              <a:t>Rhodococcus</a:t>
            </a:r>
            <a:r>
              <a:rPr lang="en-US" dirty="0"/>
              <a:t> make up the family </a:t>
            </a:r>
            <a:r>
              <a:rPr lang="en-US" i="1" dirty="0" err="1"/>
              <a:t>Nocardiaceae</a:t>
            </a:r>
            <a:br>
              <a:rPr lang="en-US" i="1" dirty="0"/>
            </a:br>
            <a:endParaRPr lang="en-US" i="1" dirty="0"/>
          </a:p>
          <a:p>
            <a:r>
              <a:rPr lang="en-US" dirty="0"/>
              <a:t>Develop a substrate mycelium that readily breaks into rods and coccoid elements</a:t>
            </a:r>
            <a:br>
              <a:rPr lang="en-US" dirty="0"/>
            </a:br>
            <a:endParaRPr lang="en-US" dirty="0"/>
          </a:p>
          <a:p>
            <a:r>
              <a:rPr lang="en-US" dirty="0"/>
              <a:t>Some also form an aerial mycelium and conidia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pic>
        <p:nvPicPr>
          <p:cNvPr id="13314" name="Picture 2" descr="These bacteria form substrate hyphae that fragment as well as aerial hyphae that differentiate into conidia." title="Figure 24.11 Nocardioforms."/>
          <p:cNvPicPr>
            <a:picLocks noChangeAspect="1" noChangeArrowheads="1"/>
          </p:cNvPicPr>
          <p:nvPr/>
        </p:nvPicPr>
        <p:blipFill>
          <a:blip r:embed="rId2" cstate="print"/>
          <a:srcRect/>
          <a:stretch>
            <a:fillRect/>
          </a:stretch>
        </p:blipFill>
        <p:spPr bwMode="auto">
          <a:xfrm>
            <a:off x="6553200" y="1600200"/>
            <a:ext cx="2382838" cy="3224213"/>
          </a:xfrm>
          <a:prstGeom prst="rect">
            <a:avLst/>
          </a:prstGeom>
          <a:noFill/>
        </p:spPr>
      </p:pic>
    </p:spTree>
    <p:extLst>
      <p:ext uri="{BB962C8B-B14F-4D97-AF65-F5344CB8AC3E}">
        <p14:creationId xmlns:p14="http://schemas.microsoft.com/office/powerpoint/2010/main" val="2944904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a:t>
            </a:r>
            <a:r>
              <a:rPr lang="en-US" i="1" dirty="0" err="1"/>
              <a:t>Nocardia</a:t>
            </a:r>
            <a:endParaRPr lang="en-US" dirty="0"/>
          </a:p>
        </p:txBody>
      </p:sp>
      <p:sp>
        <p:nvSpPr>
          <p:cNvPr id="3" name="Content Placeholder 2"/>
          <p:cNvSpPr>
            <a:spLocks noGrp="1"/>
          </p:cNvSpPr>
          <p:nvPr>
            <p:ph idx="1"/>
          </p:nvPr>
        </p:nvSpPr>
        <p:spPr/>
        <p:txBody>
          <a:bodyPr/>
          <a:lstStyle/>
          <a:p>
            <a:pPr>
              <a:lnSpc>
                <a:spcPct val="90000"/>
              </a:lnSpc>
            </a:pPr>
            <a:r>
              <a:rPr lang="en-US" dirty="0"/>
              <a:t>Most are free-living saprophytes</a:t>
            </a:r>
          </a:p>
          <a:p>
            <a:pPr lvl="1">
              <a:lnSpc>
                <a:spcPct val="90000"/>
              </a:lnSpc>
            </a:pPr>
            <a:r>
              <a:rPr lang="en-US" dirty="0"/>
              <a:t>can degrade many molecules</a:t>
            </a:r>
          </a:p>
          <a:p>
            <a:pPr lvl="2">
              <a:lnSpc>
                <a:spcPct val="90000"/>
              </a:lnSpc>
            </a:pPr>
            <a:r>
              <a:rPr lang="en-US" sz="2400" dirty="0"/>
              <a:t>e.g. petroleum hydrocarbons, detergents, benzene</a:t>
            </a:r>
          </a:p>
          <a:p>
            <a:pPr lvl="2">
              <a:lnSpc>
                <a:spcPct val="90000"/>
              </a:lnSpc>
            </a:pPr>
            <a:r>
              <a:rPr lang="en-US" sz="2400" dirty="0"/>
              <a:t>involved in biodegradation of rubber joints in water and sewage pipes</a:t>
            </a:r>
            <a:br>
              <a:rPr lang="en-US" sz="2400" dirty="0"/>
            </a:br>
            <a:endParaRPr lang="en-US" sz="2400" dirty="0"/>
          </a:p>
          <a:p>
            <a:pPr>
              <a:lnSpc>
                <a:spcPct val="90000"/>
              </a:lnSpc>
            </a:pPr>
            <a:r>
              <a:rPr lang="en-US" dirty="0"/>
              <a:t>Some are opportunistic pathogens causing </a:t>
            </a:r>
            <a:r>
              <a:rPr lang="en-US" dirty="0" err="1"/>
              <a:t>nocardiosis</a:t>
            </a:r>
            <a:endParaRPr lang="en-US" dirty="0"/>
          </a:p>
          <a:p>
            <a:pPr lvl="1">
              <a:lnSpc>
                <a:spcPct val="90000"/>
              </a:lnSpc>
            </a:pPr>
            <a:r>
              <a:rPr lang="en-US" dirty="0"/>
              <a:t>usually infect lungs; can infect central nervous system</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294490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Rhodococcus</a:t>
            </a:r>
            <a:endParaRPr lang="en-US" dirty="0"/>
          </a:p>
        </p:txBody>
      </p:sp>
      <p:sp>
        <p:nvSpPr>
          <p:cNvPr id="3" name="Content Placeholder 2"/>
          <p:cNvSpPr>
            <a:spLocks noGrp="1"/>
          </p:cNvSpPr>
          <p:nvPr>
            <p:ph idx="1"/>
          </p:nvPr>
        </p:nvSpPr>
        <p:spPr/>
        <p:txBody>
          <a:bodyPr/>
          <a:lstStyle/>
          <a:p>
            <a:r>
              <a:rPr lang="en-US" dirty="0"/>
              <a:t>Widely distributed in soils and aquatic habitats</a:t>
            </a:r>
            <a:br>
              <a:rPr lang="en-US" dirty="0"/>
            </a:br>
            <a:endParaRPr lang="en-US" dirty="0"/>
          </a:p>
          <a:p>
            <a:r>
              <a:rPr lang="en-US" dirty="0"/>
              <a:t>Degrade an enormous variety of molecules such as </a:t>
            </a:r>
          </a:p>
          <a:p>
            <a:pPr lvl="1"/>
            <a:r>
              <a:rPr lang="en-US" dirty="0"/>
              <a:t>petroleum hydrocarbons, detergents, benzene, polychlorinated biphenyls (PCBs), various pesticides</a:t>
            </a:r>
          </a:p>
          <a:p>
            <a:pPr lvl="1"/>
            <a:r>
              <a:rPr lang="en-US" dirty="0"/>
              <a:t>may reduce sulfur from fuels and reduce air pollution from sulfur oxide emissions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294490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991600" cy="1371600"/>
          </a:xfrm>
        </p:spPr>
        <p:txBody>
          <a:bodyPr>
            <a:normAutofit fontScale="90000"/>
          </a:bodyPr>
          <a:lstStyle/>
          <a:p>
            <a:r>
              <a:rPr lang="en-US" dirty="0"/>
              <a:t>Order </a:t>
            </a:r>
            <a:r>
              <a:rPr lang="en-US" dirty="0" err="1"/>
              <a:t>Micromonosporales</a:t>
            </a:r>
            <a:r>
              <a:rPr lang="en-US" dirty="0"/>
              <a:t> Includes Bacteria That Produce Morphologically Diverse Spores</a:t>
            </a:r>
          </a:p>
        </p:txBody>
      </p:sp>
      <p:sp>
        <p:nvSpPr>
          <p:cNvPr id="3" name="Content Placeholder 2"/>
          <p:cNvSpPr>
            <a:spLocks noGrp="1"/>
          </p:cNvSpPr>
          <p:nvPr>
            <p:ph idx="1"/>
          </p:nvPr>
        </p:nvSpPr>
        <p:spPr>
          <a:xfrm>
            <a:off x="304800" y="1905000"/>
            <a:ext cx="8534400" cy="4800600"/>
          </a:xfrm>
        </p:spPr>
        <p:txBody>
          <a:bodyPr>
            <a:normAutofit/>
          </a:bodyPr>
          <a:lstStyle/>
          <a:p>
            <a:r>
              <a:rPr lang="en-US" dirty="0"/>
              <a:t>Contains genera </a:t>
            </a:r>
            <a:r>
              <a:rPr lang="en-US" i="1" dirty="0" err="1"/>
              <a:t>Micromonospora</a:t>
            </a:r>
            <a:r>
              <a:rPr lang="en-US" i="1" dirty="0"/>
              <a:t>, </a:t>
            </a:r>
            <a:r>
              <a:rPr lang="en-US" i="1" dirty="0" err="1"/>
              <a:t>Dactylosporangium</a:t>
            </a:r>
            <a:r>
              <a:rPr lang="en-US" i="1" dirty="0"/>
              <a:t>, </a:t>
            </a:r>
            <a:r>
              <a:rPr lang="en-US" i="1" dirty="0" err="1"/>
              <a:t>Pilimelia</a:t>
            </a:r>
            <a:r>
              <a:rPr lang="en-US" dirty="0"/>
              <a:t>, and </a:t>
            </a:r>
            <a:r>
              <a:rPr lang="en-US" i="1" dirty="0" err="1"/>
              <a:t>Actinoplanes</a:t>
            </a:r>
            <a:br>
              <a:rPr lang="en-US" i="1" dirty="0"/>
            </a:br>
            <a:endParaRPr lang="en-US" i="1" dirty="0"/>
          </a:p>
          <a:p>
            <a:r>
              <a:rPr lang="en-US" dirty="0"/>
              <a:t>Often generally called </a:t>
            </a:r>
            <a:r>
              <a:rPr lang="en-US" dirty="0" err="1"/>
              <a:t>actinoplanetes</a:t>
            </a:r>
            <a:endParaRPr lang="en-US" dirty="0"/>
          </a:p>
          <a:p>
            <a:pPr lvl="1"/>
            <a:r>
              <a:rPr lang="en-US" dirty="0"/>
              <a:t>extensive substrate mycelia</a:t>
            </a:r>
          </a:p>
          <a:p>
            <a:pPr lvl="1"/>
            <a:r>
              <a:rPr lang="en-US" dirty="0"/>
              <a:t>lack or have rudimentary aerial mycelia</a:t>
            </a:r>
          </a:p>
          <a:p>
            <a:pPr lvl="1"/>
            <a:r>
              <a:rPr lang="en-US" dirty="0" err="1"/>
              <a:t>sporangiospores</a:t>
            </a:r>
            <a:r>
              <a:rPr lang="en-US" dirty="0"/>
              <a:t> motile or </a:t>
            </a:r>
            <a:r>
              <a:rPr lang="en-US" dirty="0" err="1"/>
              <a:t>nonmotile</a:t>
            </a:r>
            <a:endParaRPr lang="en-US" dirty="0"/>
          </a:p>
          <a:p>
            <a:pPr lvl="1"/>
            <a:r>
              <a:rPr lang="en-US" dirty="0"/>
              <a:t>found in soil and aquatic habitats (especially freshwater)</a:t>
            </a:r>
          </a:p>
          <a:p>
            <a:pPr lvl="2"/>
            <a:r>
              <a:rPr lang="en-US" sz="2400" dirty="0"/>
              <a:t>soil dwellers play important roles in plant and animal decomposition</a:t>
            </a:r>
          </a:p>
          <a:p>
            <a:pPr lvl="2"/>
            <a:r>
              <a:rPr lang="en-US" sz="2400" dirty="0"/>
              <a:t>some produce antibiotics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spTree>
    <p:extLst>
      <p:ext uri="{BB962C8B-B14F-4D97-AF65-F5344CB8AC3E}">
        <p14:creationId xmlns:p14="http://schemas.microsoft.com/office/powerpoint/2010/main" val="2944904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i="1" dirty="0" err="1"/>
              <a:t>Micromonosporaceae</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26</a:t>
            </a:fld>
            <a:endParaRPr lang="en-US"/>
          </a:p>
        </p:txBody>
      </p:sp>
      <p:pic>
        <p:nvPicPr>
          <p:cNvPr id="14338" name="Picture 2" descr="Actinoplanete morphology. (a) Actinoplanes structure. (b) A scanning electron micrograph of mature Actinoplanes capillaceus sporangia and motile spore. (c) Dactylosporangium structure." title="Figure 24.12 Family Micromonosporaceae."/>
          <p:cNvPicPr>
            <a:picLocks noChangeAspect="1" noChangeArrowheads="1"/>
          </p:cNvPicPr>
          <p:nvPr/>
        </p:nvPicPr>
        <p:blipFill>
          <a:blip r:embed="rId2" cstate="print"/>
          <a:srcRect/>
          <a:stretch>
            <a:fillRect/>
          </a:stretch>
        </p:blipFill>
        <p:spPr bwMode="auto">
          <a:xfrm>
            <a:off x="161925" y="2274888"/>
            <a:ext cx="8820150" cy="2782887"/>
          </a:xfrm>
          <a:prstGeom prst="rect">
            <a:avLst/>
          </a:prstGeom>
          <a:noFill/>
        </p:spPr>
      </p:pic>
    </p:spTree>
    <p:extLst>
      <p:ext uri="{BB962C8B-B14F-4D97-AF65-F5344CB8AC3E}">
        <p14:creationId xmlns:p14="http://schemas.microsoft.com/office/powerpoint/2010/main" val="4193585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371600"/>
          </a:xfrm>
        </p:spPr>
        <p:txBody>
          <a:bodyPr>
            <a:normAutofit/>
          </a:bodyPr>
          <a:lstStyle/>
          <a:p>
            <a:r>
              <a:rPr lang="en-US" dirty="0"/>
              <a:t>Order </a:t>
            </a:r>
            <a:r>
              <a:rPr lang="en-US" i="1" dirty="0" err="1"/>
              <a:t>Propionibacteriales</a:t>
            </a:r>
            <a:r>
              <a:rPr lang="en-US" dirty="0"/>
              <a:t>, Genus </a:t>
            </a:r>
            <a:r>
              <a:rPr lang="en-US" i="1" dirty="0"/>
              <a:t>Propionibacterium</a:t>
            </a:r>
            <a:endParaRPr lang="en-US" dirty="0"/>
          </a:p>
        </p:txBody>
      </p:sp>
      <p:sp>
        <p:nvSpPr>
          <p:cNvPr id="3" name="Content Placeholder 2"/>
          <p:cNvSpPr>
            <a:spLocks noGrp="1"/>
          </p:cNvSpPr>
          <p:nvPr>
            <p:ph idx="1"/>
          </p:nvPr>
        </p:nvSpPr>
        <p:spPr/>
        <p:txBody>
          <a:bodyPr/>
          <a:lstStyle/>
          <a:p>
            <a:r>
              <a:rPr lang="en-US" dirty="0"/>
              <a:t>Found on skin and in digestive tract of animals</a:t>
            </a:r>
          </a:p>
          <a:p>
            <a:pPr lvl="1"/>
            <a:r>
              <a:rPr lang="en-US" dirty="0"/>
              <a:t>also in dairy products such as cheese</a:t>
            </a:r>
          </a:p>
          <a:p>
            <a:pPr lvl="1"/>
            <a:r>
              <a:rPr lang="en-US" dirty="0"/>
              <a:t>used in production of Swiss cheese</a:t>
            </a:r>
            <a:br>
              <a:rPr lang="en-US" dirty="0"/>
            </a:br>
            <a:endParaRPr lang="en-US" dirty="0"/>
          </a:p>
          <a:p>
            <a:r>
              <a:rPr lang="en-US" dirty="0"/>
              <a:t>e.g. </a:t>
            </a:r>
            <a:r>
              <a:rPr lang="en-US" i="1" dirty="0"/>
              <a:t>P. acne</a:t>
            </a:r>
            <a:r>
              <a:rPr lang="en-US" b="1" i="1" dirty="0">
                <a:solidFill>
                  <a:srgbClr val="FF0000"/>
                </a:solidFill>
              </a:rPr>
              <a:t>s</a:t>
            </a:r>
            <a:r>
              <a:rPr lang="en-US" dirty="0"/>
              <a:t> – involved in development of body odor and acne vulgaris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spTree>
    <p:extLst>
      <p:ext uri="{BB962C8B-B14F-4D97-AF65-F5344CB8AC3E}">
        <p14:creationId xmlns:p14="http://schemas.microsoft.com/office/powerpoint/2010/main" val="2249228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1219200"/>
          </a:xfrm>
        </p:spPr>
        <p:txBody>
          <a:bodyPr>
            <a:normAutofit/>
          </a:bodyPr>
          <a:lstStyle/>
          <a:p>
            <a:r>
              <a:rPr lang="en-US" dirty="0"/>
              <a:t>Order </a:t>
            </a:r>
            <a:r>
              <a:rPr lang="en-US" i="1" dirty="0" err="1"/>
              <a:t>Streptomycetales</a:t>
            </a:r>
            <a:r>
              <a:rPr lang="en-US" dirty="0"/>
              <a:t>: An Important Source of Antibiotics</a:t>
            </a:r>
          </a:p>
        </p:txBody>
      </p:sp>
      <p:sp>
        <p:nvSpPr>
          <p:cNvPr id="3" name="Content Placeholder 2"/>
          <p:cNvSpPr>
            <a:spLocks noGrp="1"/>
          </p:cNvSpPr>
          <p:nvPr>
            <p:ph sz="half" idx="1"/>
          </p:nvPr>
        </p:nvSpPr>
        <p:spPr>
          <a:xfrm>
            <a:off x="152400" y="1371600"/>
            <a:ext cx="8839200" cy="2667001"/>
          </a:xfrm>
        </p:spPr>
        <p:txBody>
          <a:bodyPr>
            <a:normAutofit fontScale="85000" lnSpcReduction="20000"/>
          </a:bodyPr>
          <a:lstStyle/>
          <a:p>
            <a:r>
              <a:rPr lang="en-US" dirty="0"/>
              <a:t>One family, three genera (most important is </a:t>
            </a:r>
            <a:r>
              <a:rPr lang="en-US" i="1" dirty="0"/>
              <a:t>Streptomyces</a:t>
            </a:r>
            <a:r>
              <a:rPr lang="en-US" dirty="0"/>
              <a:t>)</a:t>
            </a:r>
          </a:p>
          <a:p>
            <a:pPr lvl="1"/>
            <a:r>
              <a:rPr lang="en-US" i="1" dirty="0"/>
              <a:t>Streptomyces</a:t>
            </a:r>
            <a:r>
              <a:rPr lang="en-US" dirty="0"/>
              <a:t> is a large genus – about 150 species, all strict aerobes</a:t>
            </a:r>
          </a:p>
          <a:p>
            <a:pPr lvl="1"/>
            <a:r>
              <a:rPr lang="en-US" dirty="0"/>
              <a:t>Microbes in this family are generally known as </a:t>
            </a:r>
            <a:r>
              <a:rPr lang="en-US" dirty="0" err="1"/>
              <a:t>streptomycetes</a:t>
            </a:r>
            <a:br>
              <a:rPr lang="en-US" dirty="0"/>
            </a:br>
            <a:endParaRPr lang="en-US" dirty="0"/>
          </a:p>
          <a:p>
            <a:r>
              <a:rPr lang="en-US" dirty="0"/>
              <a:t>Aerial hyphae that divide in single plane to form chains of spores </a:t>
            </a:r>
            <a:br>
              <a:rPr lang="en-US" dirty="0"/>
            </a:br>
            <a:endParaRPr lang="en-US" dirty="0"/>
          </a:p>
          <a:p>
            <a:r>
              <a:rPr lang="en-US" dirty="0"/>
              <a:t>Filaments grow by tip extension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15362" name="Picture 2" descr="(a) Streptomycetes form three types of cells: exospores germinate to produce vegetative (also called substrate) hyphae, which then differentiate into aerial hyphae. These give rise to chains of exospores. Scanning electron micrographs are shown of (b) S. coelicolor vegetative hyphae and (c) chains of exospores." title="Figure 24.13 Streptomyces Life Cycle."/>
          <p:cNvPicPr>
            <a:picLocks noChangeAspect="1" noChangeArrowheads="1"/>
          </p:cNvPicPr>
          <p:nvPr/>
        </p:nvPicPr>
        <p:blipFill>
          <a:blip r:embed="rId2" cstate="print"/>
          <a:srcRect/>
          <a:stretch>
            <a:fillRect/>
          </a:stretch>
        </p:blipFill>
        <p:spPr bwMode="auto">
          <a:xfrm>
            <a:off x="770467" y="3922466"/>
            <a:ext cx="7603066" cy="2554782"/>
          </a:xfrm>
          <a:prstGeom prst="rect">
            <a:avLst/>
          </a:prstGeom>
          <a:noFill/>
        </p:spPr>
      </p:pic>
    </p:spTree>
    <p:extLst>
      <p:ext uri="{BB962C8B-B14F-4D97-AF65-F5344CB8AC3E}">
        <p14:creationId xmlns:p14="http://schemas.microsoft.com/office/powerpoint/2010/main" val="283652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Streptomyces</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sz="2800" dirty="0"/>
              <a:t>Are 1 to 20% of </a:t>
            </a:r>
            <a:r>
              <a:rPr lang="en-US" sz="2800" dirty="0" err="1"/>
              <a:t>culturable</a:t>
            </a:r>
            <a:r>
              <a:rPr lang="en-US" sz="2800" dirty="0"/>
              <a:t> soil microbiota</a:t>
            </a:r>
          </a:p>
          <a:p>
            <a:pPr lvl="1">
              <a:lnSpc>
                <a:spcPct val="110000"/>
              </a:lnSpc>
            </a:pPr>
            <a:r>
              <a:rPr lang="en-US" dirty="0"/>
              <a:t>produce </a:t>
            </a:r>
            <a:r>
              <a:rPr lang="en-US" dirty="0" err="1"/>
              <a:t>geosmin</a:t>
            </a:r>
            <a:endParaRPr lang="en-US" dirty="0"/>
          </a:p>
          <a:p>
            <a:pPr lvl="2">
              <a:lnSpc>
                <a:spcPct val="110000"/>
              </a:lnSpc>
            </a:pPr>
            <a:r>
              <a:rPr lang="en-US" dirty="0"/>
              <a:t>volatile substance that is source of moist earth odor</a:t>
            </a:r>
          </a:p>
          <a:p>
            <a:pPr lvl="1">
              <a:lnSpc>
                <a:spcPct val="110000"/>
              </a:lnSpc>
            </a:pPr>
            <a:r>
              <a:rPr lang="en-US" dirty="0"/>
              <a:t>important in mineralization process</a:t>
            </a:r>
          </a:p>
          <a:p>
            <a:pPr lvl="2">
              <a:lnSpc>
                <a:spcPct val="110000"/>
              </a:lnSpc>
            </a:pPr>
            <a:r>
              <a:rPr lang="en-US" dirty="0"/>
              <a:t>aerobically degrade many resistant substances (e.g., pectin, lignin, and chitin)</a:t>
            </a:r>
            <a:br>
              <a:rPr lang="en-US" dirty="0"/>
            </a:br>
            <a:endParaRPr lang="en-US" dirty="0"/>
          </a:p>
          <a:p>
            <a:r>
              <a:rPr lang="en-US" sz="2800" dirty="0"/>
              <a:t>Produce vast array of antibiotics, other bioactive compounds, and antibiotic resistance genes</a:t>
            </a:r>
            <a:br>
              <a:rPr lang="en-US" sz="2800" dirty="0"/>
            </a:br>
            <a:endParaRPr lang="en-US" sz="2800" dirty="0"/>
          </a:p>
          <a:p>
            <a:r>
              <a:rPr lang="en-US" dirty="0"/>
              <a:t>M</a:t>
            </a:r>
            <a:r>
              <a:rPr lang="en-US" sz="2800" dirty="0"/>
              <a:t>ost are nonpathogenic saprophytes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spTree>
    <p:extLst>
      <p:ext uri="{BB962C8B-B14F-4D97-AF65-F5344CB8AC3E}">
        <p14:creationId xmlns:p14="http://schemas.microsoft.com/office/powerpoint/2010/main" val="1013019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a) Streptomyces griseus. Colonies of the actinomycete that produces streptomycin. (b) S. scabies growing on a potato." title="Figure 24.14 Streptomycetes of Practical Importance."/>
          <p:cNvPicPr>
            <a:picLocks noChangeAspect="1" noChangeArrowheads="1"/>
          </p:cNvPicPr>
          <p:nvPr/>
        </p:nvPicPr>
        <p:blipFill>
          <a:blip r:embed="rId2" cstate="print"/>
          <a:srcRect/>
          <a:stretch>
            <a:fillRect/>
          </a:stretch>
        </p:blipFill>
        <p:spPr bwMode="auto">
          <a:xfrm>
            <a:off x="5562600" y="1143000"/>
            <a:ext cx="3141098" cy="5486400"/>
          </a:xfrm>
          <a:prstGeom prst="rect">
            <a:avLst/>
          </a:prstGeom>
          <a:noFill/>
        </p:spPr>
      </p:pic>
      <p:sp>
        <p:nvSpPr>
          <p:cNvPr id="6" name="Title 5"/>
          <p:cNvSpPr>
            <a:spLocks noGrp="1"/>
          </p:cNvSpPr>
          <p:nvPr>
            <p:ph type="title"/>
          </p:nvPr>
        </p:nvSpPr>
        <p:spPr/>
        <p:txBody>
          <a:bodyPr/>
          <a:lstStyle/>
          <a:p>
            <a:r>
              <a:rPr lang="en-US" i="1" dirty="0" err="1"/>
              <a:t>Streptomycetes</a:t>
            </a:r>
            <a:r>
              <a:rPr lang="en-US" dirty="0"/>
              <a:t> and Their Products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30</a:t>
            </a:fld>
            <a:endParaRPr lang="en-US"/>
          </a:p>
        </p:txBody>
      </p:sp>
      <p:pic>
        <p:nvPicPr>
          <p:cNvPr id="1026" name="Picture 2" descr="Header Row: Microbe; Natural Product; Application&#10;Streptomyces orientals; Vancomycin; Antibiotic, cell wall inhibitor&#10;S. mediterranei; Rifamycin; Antibiotic: transcription inhibitor&#10;S. rimosus; Tetracycline; Antibiotic: protein synthesis inhibitor&#10;S. venezuelae; Chloramphenicol; Antibiotic: protein synthesis inhibitor&#10;S. clavuligerus; Clavulanic acid; β-lactamase inhibitor&#10;S. nodosis; Amphotericin B; Antifungal&#10;S. noursei; Nystatin; Antifungal&#10;S. peucetius; Daunorubicin, doxorubicin, epirubicin; Anticancer&#10;S. verticillus; Bleomycin; Anticancer" title="Table 24.3 Examples of Natural Products Made by Streptomyce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242746"/>
            <a:ext cx="4876800" cy="5355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4967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Streptomyces </a:t>
            </a:r>
            <a:r>
              <a:rPr lang="en-US" i="1" dirty="0" err="1"/>
              <a:t>coelicolor</a:t>
            </a:r>
            <a:endParaRPr lang="en-US" dirty="0"/>
          </a:p>
        </p:txBody>
      </p:sp>
      <p:sp>
        <p:nvSpPr>
          <p:cNvPr id="3" name="Content Placeholder 2"/>
          <p:cNvSpPr>
            <a:spLocks noGrp="1"/>
          </p:cNvSpPr>
          <p:nvPr>
            <p:ph idx="1"/>
          </p:nvPr>
        </p:nvSpPr>
        <p:spPr/>
        <p:txBody>
          <a:bodyPr/>
          <a:lstStyle/>
          <a:p>
            <a:r>
              <a:rPr lang="en-US" dirty="0"/>
              <a:t>One of the largest bacterial genomes, 8.67 </a:t>
            </a:r>
            <a:r>
              <a:rPr lang="en-US" dirty="0" err="1"/>
              <a:t>Mbp</a:t>
            </a:r>
            <a:br>
              <a:rPr lang="en-US" dirty="0"/>
            </a:br>
            <a:endParaRPr lang="en-US" dirty="0"/>
          </a:p>
          <a:p>
            <a:pPr lvl="1"/>
            <a:r>
              <a:rPr lang="en-US" dirty="0"/>
              <a:t>largest number of genes (7,825)</a:t>
            </a:r>
            <a:br>
              <a:rPr lang="en-US" dirty="0"/>
            </a:br>
            <a:endParaRPr lang="en-US" dirty="0"/>
          </a:p>
          <a:p>
            <a:pPr lvl="1"/>
            <a:r>
              <a:rPr lang="en-US" dirty="0"/>
              <a:t>65 RNA polymerase sigma subunits</a:t>
            </a:r>
            <a:br>
              <a:rPr lang="en-US" dirty="0"/>
            </a:br>
            <a:endParaRPr lang="en-US" dirty="0"/>
          </a:p>
          <a:p>
            <a:pPr lvl="1"/>
            <a:r>
              <a:rPr lang="en-US" dirty="0"/>
              <a:t>80 two-component regulatory systems</a:t>
            </a:r>
            <a:br>
              <a:rPr lang="en-US" dirty="0"/>
            </a:br>
            <a:endParaRPr lang="en-US" dirty="0"/>
          </a:p>
          <a:p>
            <a:pPr lvl="1"/>
            <a:r>
              <a:rPr lang="en-US" dirty="0"/>
              <a:t>Over 50 secreted degradative enzymes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spTree>
    <p:extLst>
      <p:ext uri="{BB962C8B-B14F-4D97-AF65-F5344CB8AC3E}">
        <p14:creationId xmlns:p14="http://schemas.microsoft.com/office/powerpoint/2010/main" val="3454764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Pathogenic </a:t>
            </a:r>
            <a:r>
              <a:rPr lang="en-US" dirty="0" err="1"/>
              <a:t>Streptomycetes</a:t>
            </a:r>
            <a:endParaRPr lang="en-US" dirty="0"/>
          </a:p>
        </p:txBody>
      </p:sp>
      <p:sp>
        <p:nvSpPr>
          <p:cNvPr id="3" name="Content Placeholder 2"/>
          <p:cNvSpPr>
            <a:spLocks noGrp="1"/>
          </p:cNvSpPr>
          <p:nvPr>
            <p:ph idx="1"/>
          </p:nvPr>
        </p:nvSpPr>
        <p:spPr/>
        <p:txBody>
          <a:bodyPr/>
          <a:lstStyle/>
          <a:p>
            <a:pPr>
              <a:lnSpc>
                <a:spcPct val="90000"/>
              </a:lnSpc>
            </a:pPr>
            <a:r>
              <a:rPr lang="en-US" i="1" dirty="0"/>
              <a:t>Streptomyces scabies</a:t>
            </a:r>
            <a:endParaRPr lang="en-US" dirty="0"/>
          </a:p>
          <a:p>
            <a:pPr lvl="1">
              <a:lnSpc>
                <a:spcPct val="90000"/>
              </a:lnSpc>
            </a:pPr>
            <a:r>
              <a:rPr lang="en-US" dirty="0"/>
              <a:t>scab disease in potatoes and beets</a:t>
            </a:r>
            <a:br>
              <a:rPr lang="en-US" dirty="0"/>
            </a:br>
            <a:endParaRPr lang="en-US" dirty="0"/>
          </a:p>
          <a:p>
            <a:pPr>
              <a:lnSpc>
                <a:spcPct val="90000"/>
              </a:lnSpc>
            </a:pPr>
            <a:r>
              <a:rPr lang="en-US" i="1" dirty="0"/>
              <a:t>Streptomyces </a:t>
            </a:r>
            <a:r>
              <a:rPr lang="en-US" i="1" dirty="0" err="1"/>
              <a:t>somaliensis</a:t>
            </a:r>
            <a:endParaRPr lang="en-US" dirty="0"/>
          </a:p>
          <a:p>
            <a:pPr lvl="1">
              <a:lnSpc>
                <a:spcPct val="90000"/>
              </a:lnSpc>
            </a:pPr>
            <a:r>
              <a:rPr lang="en-US" dirty="0" err="1"/>
              <a:t>actinomycetoma</a:t>
            </a:r>
            <a:endParaRPr lang="en-US" dirty="0"/>
          </a:p>
          <a:p>
            <a:pPr lvl="2">
              <a:lnSpc>
                <a:spcPct val="90000"/>
              </a:lnSpc>
            </a:pPr>
            <a:r>
              <a:rPr lang="en-US" dirty="0"/>
              <a:t>infection of subcutaneous tissues in humans</a:t>
            </a:r>
          </a:p>
          <a:p>
            <a:pPr lvl="2">
              <a:lnSpc>
                <a:spcPct val="90000"/>
              </a:lnSpc>
            </a:pPr>
            <a:r>
              <a:rPr lang="en-US" dirty="0"/>
              <a:t>leads to swelling, abscesses, and bone destruction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872837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Order </a:t>
            </a:r>
            <a:r>
              <a:rPr lang="en-US" i="1" dirty="0" err="1"/>
              <a:t>Streptosporangiales</a:t>
            </a:r>
            <a:endParaRPr lang="en-US" i="1" dirty="0"/>
          </a:p>
        </p:txBody>
      </p:sp>
      <p:sp>
        <p:nvSpPr>
          <p:cNvPr id="3" name="Content Placeholder 2"/>
          <p:cNvSpPr>
            <a:spLocks noGrp="1"/>
          </p:cNvSpPr>
          <p:nvPr>
            <p:ph sz="half" idx="1"/>
          </p:nvPr>
        </p:nvSpPr>
        <p:spPr>
          <a:xfrm>
            <a:off x="76200" y="1219200"/>
            <a:ext cx="4038600" cy="5562600"/>
          </a:xfrm>
        </p:spPr>
        <p:txBody>
          <a:bodyPr>
            <a:normAutofit fontScale="85000" lnSpcReduction="10000"/>
          </a:bodyPr>
          <a:lstStyle/>
          <a:p>
            <a:r>
              <a:rPr lang="en-US" dirty="0"/>
              <a:t>Aerial mycelia bear pairs or short chains of spores</a:t>
            </a:r>
          </a:p>
          <a:p>
            <a:pPr lvl="1"/>
            <a:r>
              <a:rPr lang="en-US" dirty="0"/>
              <a:t>whole cell homogenates contain sugar </a:t>
            </a:r>
            <a:r>
              <a:rPr lang="en-US" dirty="0" err="1"/>
              <a:t>madurose</a:t>
            </a:r>
            <a:br>
              <a:rPr lang="en-US" dirty="0"/>
            </a:br>
            <a:endParaRPr lang="en-US" dirty="0"/>
          </a:p>
          <a:p>
            <a:r>
              <a:rPr lang="en-US" dirty="0"/>
              <a:t>Members of some genera form sporangia, but their spores are not heat-resistant</a:t>
            </a:r>
            <a:br>
              <a:rPr lang="en-US" dirty="0"/>
            </a:br>
            <a:endParaRPr lang="en-US" dirty="0"/>
          </a:p>
          <a:p>
            <a:r>
              <a:rPr lang="en-US" dirty="0"/>
              <a:t>Some have been isolated from moderately high-temperature habitats such as compost piles and hay and can grow at 40-48° C</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pic>
        <p:nvPicPr>
          <p:cNvPr id="17410" name="Picture 2" descr="(a) Actinomadura madurae morphology; illustration and electron micrograph of a spore chain. (b) Streptosporangium roseum morphology; illustration and scanning electron micrograph of sporangia and hyphae." title="Figure 24.15 Maduromycetes."/>
          <p:cNvPicPr>
            <a:picLocks noChangeAspect="1" noChangeArrowheads="1"/>
          </p:cNvPicPr>
          <p:nvPr/>
        </p:nvPicPr>
        <p:blipFill>
          <a:blip r:embed="rId2" cstate="print"/>
          <a:srcRect/>
          <a:stretch>
            <a:fillRect/>
          </a:stretch>
        </p:blipFill>
        <p:spPr bwMode="auto">
          <a:xfrm>
            <a:off x="4191000" y="1599080"/>
            <a:ext cx="4775862" cy="3659840"/>
          </a:xfrm>
          <a:prstGeom prst="rect">
            <a:avLst/>
          </a:prstGeom>
          <a:noFill/>
        </p:spPr>
      </p:pic>
    </p:spTree>
    <p:extLst>
      <p:ext uri="{BB962C8B-B14F-4D97-AF65-F5344CB8AC3E}">
        <p14:creationId xmlns:p14="http://schemas.microsoft.com/office/powerpoint/2010/main" val="3940837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143000"/>
          </a:xfrm>
        </p:spPr>
        <p:txBody>
          <a:bodyPr>
            <a:normAutofit fontScale="90000"/>
          </a:bodyPr>
          <a:lstStyle/>
          <a:p>
            <a:r>
              <a:rPr lang="en-US" dirty="0"/>
              <a:t>Order </a:t>
            </a:r>
            <a:r>
              <a:rPr lang="en-US" i="1" dirty="0" err="1"/>
              <a:t>Frankiales</a:t>
            </a:r>
            <a:r>
              <a:rPr lang="en-US" dirty="0"/>
              <a:t>: Bacteria That Fix N</a:t>
            </a:r>
            <a:r>
              <a:rPr lang="en-US" baseline="-25000" dirty="0"/>
              <a:t>2</a:t>
            </a:r>
            <a:r>
              <a:rPr lang="en-US" dirty="0"/>
              <a:t> in Trees</a:t>
            </a:r>
          </a:p>
        </p:txBody>
      </p:sp>
      <p:sp>
        <p:nvSpPr>
          <p:cNvPr id="3" name="Content Placeholder 2"/>
          <p:cNvSpPr>
            <a:spLocks noGrp="1"/>
          </p:cNvSpPr>
          <p:nvPr>
            <p:ph sz="half" idx="1"/>
          </p:nvPr>
        </p:nvSpPr>
        <p:spPr>
          <a:xfrm>
            <a:off x="76200" y="3429000"/>
            <a:ext cx="8991600" cy="3352800"/>
          </a:xfrm>
        </p:spPr>
        <p:txBody>
          <a:bodyPr>
            <a:normAutofit lnSpcReduction="10000"/>
          </a:bodyPr>
          <a:lstStyle/>
          <a:p>
            <a:r>
              <a:rPr lang="en-US" dirty="0"/>
              <a:t>Genera </a:t>
            </a:r>
            <a:r>
              <a:rPr lang="en-US" i="1" dirty="0"/>
              <a:t>Frankia</a:t>
            </a:r>
            <a:r>
              <a:rPr lang="en-US" dirty="0"/>
              <a:t> and </a:t>
            </a:r>
            <a:r>
              <a:rPr lang="en-US" i="1" dirty="0" err="1"/>
              <a:t>Geodermatophilus</a:t>
            </a:r>
            <a:endParaRPr lang="en-US" i="1" dirty="0"/>
          </a:p>
          <a:p>
            <a:pPr lvl="1"/>
            <a:r>
              <a:rPr lang="en-US" dirty="0"/>
              <a:t>both form </a:t>
            </a:r>
            <a:r>
              <a:rPr lang="en-US" dirty="0" err="1"/>
              <a:t>multilocular</a:t>
            </a:r>
            <a:r>
              <a:rPr lang="en-US" dirty="0"/>
              <a:t> sporangia characterized by clusters of spores </a:t>
            </a:r>
          </a:p>
          <a:p>
            <a:pPr lvl="2">
              <a:lnSpc>
                <a:spcPct val="120000"/>
              </a:lnSpc>
            </a:pPr>
            <a:r>
              <a:rPr lang="en-US" i="1" dirty="0" err="1"/>
              <a:t>Geodermatophilus</a:t>
            </a:r>
            <a:r>
              <a:rPr lang="en-US" sz="2600" i="1" dirty="0"/>
              <a:t>	</a:t>
            </a:r>
          </a:p>
          <a:p>
            <a:pPr lvl="3">
              <a:lnSpc>
                <a:spcPct val="120000"/>
              </a:lnSpc>
            </a:pPr>
            <a:r>
              <a:rPr lang="en-US" dirty="0"/>
              <a:t>motile spores, aerobic</a:t>
            </a:r>
          </a:p>
          <a:p>
            <a:pPr lvl="2">
              <a:lnSpc>
                <a:spcPct val="120000"/>
              </a:lnSpc>
            </a:pPr>
            <a:r>
              <a:rPr lang="en-US" i="1" dirty="0"/>
              <a:t>Frankia</a:t>
            </a:r>
            <a:endParaRPr lang="en-US" dirty="0"/>
          </a:p>
          <a:p>
            <a:pPr lvl="3">
              <a:lnSpc>
                <a:spcPct val="120000"/>
              </a:lnSpc>
            </a:pPr>
            <a:r>
              <a:rPr lang="en-US" dirty="0" err="1"/>
              <a:t>nonmotile</a:t>
            </a:r>
            <a:r>
              <a:rPr lang="en-US" dirty="0"/>
              <a:t> spores, </a:t>
            </a:r>
            <a:r>
              <a:rPr lang="en-US" dirty="0" err="1"/>
              <a:t>microaerophile</a:t>
            </a:r>
            <a:r>
              <a:rPr lang="en-US" dirty="0"/>
              <a:t>, fixes nitrogen, symbiotic with </a:t>
            </a:r>
            <a:r>
              <a:rPr lang="en-US" dirty="0" err="1"/>
              <a:t>nonleguminous</a:t>
            </a:r>
            <a:r>
              <a:rPr lang="en-US" dirty="0"/>
              <a:t> plants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18434" name="Picture 2" descr="(a) A phase contrast micrograph showing hyphae, multilocular sporangia, and spores. (b) Nodules of the alder Alnus rubra." title="Figure 24.16 Frankia."/>
          <p:cNvPicPr>
            <a:picLocks noChangeAspect="1" noChangeArrowheads="1"/>
          </p:cNvPicPr>
          <p:nvPr/>
        </p:nvPicPr>
        <p:blipFill>
          <a:blip r:embed="rId2" cstate="print"/>
          <a:srcRect/>
          <a:stretch>
            <a:fillRect/>
          </a:stretch>
        </p:blipFill>
        <p:spPr bwMode="auto">
          <a:xfrm>
            <a:off x="1505743" y="838200"/>
            <a:ext cx="6132514" cy="2650026"/>
          </a:xfrm>
          <a:prstGeom prst="rect">
            <a:avLst/>
          </a:prstGeom>
          <a:noFill/>
        </p:spPr>
      </p:pic>
    </p:spTree>
    <p:extLst>
      <p:ext uri="{BB962C8B-B14F-4D97-AF65-F5344CB8AC3E}">
        <p14:creationId xmlns:p14="http://schemas.microsoft.com/office/powerpoint/2010/main" val="4267871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991600" cy="1143000"/>
          </a:xfrm>
        </p:spPr>
        <p:txBody>
          <a:bodyPr>
            <a:normAutofit fontScale="90000"/>
          </a:bodyPr>
          <a:lstStyle/>
          <a:p>
            <a:r>
              <a:rPr lang="en-US" dirty="0"/>
              <a:t>Order </a:t>
            </a:r>
            <a:r>
              <a:rPr lang="en-US" i="1" dirty="0" err="1"/>
              <a:t>Bifidobacteriales</a:t>
            </a:r>
            <a:r>
              <a:rPr lang="en-US" dirty="0"/>
              <a:t>: Pathogens and Probiotics</a:t>
            </a:r>
          </a:p>
        </p:txBody>
      </p:sp>
      <p:sp>
        <p:nvSpPr>
          <p:cNvPr id="3" name="Content Placeholder 2"/>
          <p:cNvSpPr>
            <a:spLocks noGrp="1"/>
          </p:cNvSpPr>
          <p:nvPr>
            <p:ph sz="half" idx="1"/>
          </p:nvPr>
        </p:nvSpPr>
        <p:spPr>
          <a:xfrm>
            <a:off x="152400" y="1371601"/>
            <a:ext cx="5638800" cy="5334000"/>
          </a:xfrm>
        </p:spPr>
        <p:txBody>
          <a:bodyPr>
            <a:normAutofit fontScale="92500" lnSpcReduction="10000"/>
          </a:bodyPr>
          <a:lstStyle/>
          <a:p>
            <a:pPr>
              <a:lnSpc>
                <a:spcPct val="90000"/>
              </a:lnSpc>
            </a:pPr>
            <a:r>
              <a:rPr lang="en-US" dirty="0"/>
              <a:t>Includes members of genera </a:t>
            </a:r>
            <a:r>
              <a:rPr lang="en-US" i="1" dirty="0" err="1"/>
              <a:t>Falcivibrio</a:t>
            </a:r>
            <a:r>
              <a:rPr lang="en-US" dirty="0"/>
              <a:t> and </a:t>
            </a:r>
            <a:r>
              <a:rPr lang="en-US" i="1" dirty="0" err="1"/>
              <a:t>Gardnerella</a:t>
            </a:r>
            <a:endParaRPr lang="en-US" dirty="0"/>
          </a:p>
          <a:p>
            <a:pPr lvl="1">
              <a:lnSpc>
                <a:spcPct val="90000"/>
              </a:lnSpc>
            </a:pPr>
            <a:r>
              <a:rPr lang="en-US" dirty="0"/>
              <a:t>found in human genitourinary tract</a:t>
            </a:r>
          </a:p>
          <a:p>
            <a:pPr lvl="1">
              <a:lnSpc>
                <a:spcPct val="90000"/>
              </a:lnSpc>
            </a:pPr>
            <a:r>
              <a:rPr lang="en-US" i="1" dirty="0" err="1"/>
              <a:t>Gardnerella</a:t>
            </a:r>
            <a:r>
              <a:rPr lang="en-US" dirty="0"/>
              <a:t> thought to be major cause of vaginitis</a:t>
            </a:r>
            <a:br>
              <a:rPr lang="en-US" dirty="0"/>
            </a:br>
            <a:endParaRPr lang="en-US" dirty="0"/>
          </a:p>
          <a:p>
            <a:pPr>
              <a:lnSpc>
                <a:spcPct val="90000"/>
              </a:lnSpc>
            </a:pPr>
            <a:r>
              <a:rPr lang="en-US" dirty="0"/>
              <a:t>e.g.</a:t>
            </a:r>
            <a:r>
              <a:rPr lang="en-US" i="1" dirty="0"/>
              <a:t> Bifidobacterium</a:t>
            </a:r>
            <a:endParaRPr lang="en-US" dirty="0"/>
          </a:p>
          <a:p>
            <a:pPr lvl="1">
              <a:lnSpc>
                <a:spcPct val="90000"/>
              </a:lnSpc>
            </a:pPr>
            <a:r>
              <a:rPr lang="en-US" dirty="0" err="1"/>
              <a:t>nonsporing</a:t>
            </a:r>
            <a:r>
              <a:rPr lang="en-US" dirty="0"/>
              <a:t>, anaerobic, Gram-positive rods, slightly curved or clubbed-shaped</a:t>
            </a:r>
          </a:p>
          <a:p>
            <a:pPr lvl="1">
              <a:lnSpc>
                <a:spcPct val="90000"/>
              </a:lnSpc>
            </a:pPr>
            <a:r>
              <a:rPr lang="en-US" dirty="0"/>
              <a:t>found in mouth and intestinal tract of warm-blooded animals, in sewage, and in insects</a:t>
            </a:r>
          </a:p>
          <a:p>
            <a:pPr lvl="1">
              <a:lnSpc>
                <a:spcPct val="90000"/>
              </a:lnSpc>
            </a:pPr>
            <a:r>
              <a:rPr lang="en-US" dirty="0"/>
              <a:t>May have benefits as commensal microbe in gut of humans and other animals, providing healthy benefits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pic>
        <p:nvPicPr>
          <p:cNvPr id="19458" name="Picture 2" descr="Scanning electron photomicrograph of the clubbed, branched rods of Bifidobacterium bifidum." title="Figure 24.17 Bifidobacterium."/>
          <p:cNvPicPr>
            <a:picLocks noChangeAspect="1" noChangeArrowheads="1"/>
          </p:cNvPicPr>
          <p:nvPr/>
        </p:nvPicPr>
        <p:blipFill>
          <a:blip r:embed="rId2" cstate="print"/>
          <a:srcRect/>
          <a:stretch>
            <a:fillRect/>
          </a:stretch>
        </p:blipFill>
        <p:spPr bwMode="auto">
          <a:xfrm>
            <a:off x="5791200" y="2205990"/>
            <a:ext cx="3249050" cy="2446020"/>
          </a:xfrm>
          <a:prstGeom prst="rect">
            <a:avLst/>
          </a:prstGeom>
          <a:noFill/>
        </p:spPr>
      </p:pic>
    </p:spTree>
    <p:extLst>
      <p:ext uri="{BB962C8B-B14F-4D97-AF65-F5344CB8AC3E}">
        <p14:creationId xmlns:p14="http://schemas.microsoft.com/office/powerpoint/2010/main" val="1572522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dirty="0"/>
              <a:t>Take Home Message</a:t>
            </a:r>
          </a:p>
        </p:txBody>
      </p:sp>
      <p:sp>
        <p:nvSpPr>
          <p:cNvPr id="3" name="Content Placeholder 2"/>
          <p:cNvSpPr>
            <a:spLocks noGrp="1"/>
          </p:cNvSpPr>
          <p:nvPr>
            <p:ph idx="1"/>
          </p:nvPr>
        </p:nvSpPr>
        <p:spPr>
          <a:xfrm>
            <a:off x="457200" y="1143000"/>
            <a:ext cx="8229600" cy="5486400"/>
          </a:xfrm>
        </p:spPr>
        <p:txBody>
          <a:bodyPr>
            <a:normAutofit fontScale="92500" lnSpcReduction="20000"/>
          </a:bodyPr>
          <a:lstStyle/>
          <a:p>
            <a:r>
              <a:rPr lang="en-US" dirty="0"/>
              <a:t>This may be one of the shortest chapters in this textbook, but it has information on some of the most important microbes</a:t>
            </a:r>
            <a:br>
              <a:rPr lang="en-US" dirty="0"/>
            </a:br>
            <a:endParaRPr lang="en-US" dirty="0"/>
          </a:p>
          <a:p>
            <a:r>
              <a:rPr lang="en-US" dirty="0"/>
              <a:t>Some of these microbes are used extensively to produce antibiotics; others can be part of the normal microbiome of human beings, becoming opportunistic pathogens on occasion</a:t>
            </a:r>
            <a:br>
              <a:rPr lang="en-US" dirty="0"/>
            </a:br>
            <a:endParaRPr lang="en-US" dirty="0"/>
          </a:p>
          <a:p>
            <a:r>
              <a:rPr lang="en-US" dirty="0"/>
              <a:t>Still others in these groups are important members of soil and other microbial habitats on this planet</a:t>
            </a:r>
            <a:br>
              <a:rPr lang="en-US" dirty="0"/>
            </a:br>
            <a:endParaRPr lang="en-US" dirty="0"/>
          </a:p>
          <a:p>
            <a:r>
              <a:rPr lang="en-US" dirty="0"/>
              <a:t>While they may not seem as important as some of the other microbes in other areas of the text, try to identify what might happen if these groups of microbes suddenly disappeared – it generally wouldn’t be a good outcome in many situations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spTree>
    <p:extLst>
      <p:ext uri="{BB962C8B-B14F-4D97-AF65-F5344CB8AC3E}">
        <p14:creationId xmlns:p14="http://schemas.microsoft.com/office/powerpoint/2010/main" val="36017349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6.0&quot;&gt;&lt;object type=&quot;1&quot; unique_id=&quot;10001&quot;&gt;&lt;object type=&quot;8&quot; unique_id=&quot;81797&quot;&gt;&lt;/object&gt;&lt;object type=&quot;2&quot; unique_id=&quot;81798&quot;&gt;&lt;object type=&quot;3&quot; unique_id=&quot;81799&quot;&gt;&lt;property id=&quot;20148&quot; value=&quot;5&quot;/&gt;&lt;property id=&quot;20300&quot; value=&quot;Slide 1 - &amp;quot;Chapter 24 – Actinobacteria: The High G+C Gram-Positive Bacteria&amp;quot;&quot;/&gt;&lt;property id=&quot;20307&quot; value=&quot;256&quot;/&gt;&lt;/object&gt;&lt;object type=&quot;3&quot; unique_id=&quot;81800&quot;&gt;&lt;property id=&quot;20148&quot; value=&quot;5&quot;/&gt;&lt;property id=&quot;20300&quot; value=&quot;Slide 2 - &amp;quot;24.1 Class Actinobacteria - 1&amp;quot;&quot;/&gt;&lt;property id=&quot;20307&quot; value=&quot;257&quot;/&gt;&lt;/object&gt;&lt;object type=&quot;3&quot; unique_id=&quot;81801&quot;&gt;&lt;property id=&quot;20148&quot; value=&quot;5&quot;/&gt;&lt;property id=&quot;20300&quot; value=&quot;Slide 3 - &amp;quot;24.1 Class Actinobacteria - 2&amp;quot;&quot;/&gt;&lt;property id=&quot;20307&quot; value=&quot;302&quot;/&gt;&lt;/object&gt;&lt;object type=&quot;3&quot; unique_id=&quot;81802&quot;&gt;&lt;property id=&quot;20148&quot; value=&quot;5&quot;/&gt;&lt;property id=&quot;20300&quot; value=&quot;Slide 4 - &amp;quot;24.1 Class Actinobacteria - 3&amp;quot;&quot;/&gt;&lt;property id=&quot;20307&quot; value=&quot;258&quot;/&gt;&lt;/object&gt;&lt;object type=&quot;3&quot; unique_id=&quot;81803&quot;&gt;&lt;property id=&quot;20148&quot; value=&quot;5&quot;/&gt;&lt;property id=&quot;20300&quot; value=&quot;Slide 5 - &amp;quot;24.1 Class Actinobacteria - 4&amp;quot;&quot;/&gt;&lt;property id=&quot;20307&quot; value=&quot;259&quot;/&gt;&lt;/object&gt;&lt;object type=&quot;3&quot; unique_id=&quot;81804&quot;&gt;&lt;property id=&quot;20148&quot; value=&quot;5&quot;/&gt;&lt;property id=&quot;20300&quot; value=&quot;Slide 6 - &amp;quot;High G + C Bacteria&amp;quot;&quot;/&gt;&lt;property id=&quot;20307&quot; value=&quot;260&quot;/&gt;&lt;/object&gt;&lt;object type=&quot;3&quot; unique_id=&quot;81805&quot;&gt;&lt;property id=&quot;20148&quot; value=&quot;5&quot;/&gt;&lt;property id=&quot;20300&quot; value=&quot;Slide 7 - &amp;quot;Characteristics of Actinobacteria&amp;quot;&quot;/&gt;&lt;property id=&quot;20307&quot; value=&quot;262&quot;/&gt;&lt;/object&gt;&lt;object type=&quot;3&quot; unique_id=&quot;81806&quot;&gt;&lt;property id=&quot;20148&quot; value=&quot;5&quot;/&gt;&lt;property id=&quot;20300&quot; value=&quot;Slide 8 - &amp;quot;General Properties of the Actinomycetes&amp;quot;&quot;/&gt;&lt;property id=&quot;20307&quot; value=&quot;263&quot;/&gt;&lt;/object&gt;&lt;object type=&quot;3&quot; unique_id=&quot;81807&quot;&gt;&lt;property id=&quot;20148&quot; value=&quot;5&quot;/&gt;&lt;property id=&quot;20300&quot; value=&quot;Slide 9 - &amp;quot;Life Cycle of Actinomycetes&amp;quot;&quot;/&gt;&lt;property id=&quot;20307&quot; value=&quot;264&quot;/&gt;&lt;/object&gt;&lt;object type=&quot;3&quot; unique_id=&quot;81808&quot;&gt;&lt;property id=&quot;20148&quot; value=&quot;5&quot;/&gt;&lt;property id=&quot;20300&quot; value=&quot;Slide 10 - &amp;quot;Life Cycle of Actinomycetes – Aerial Mycelia&amp;quot;&quot;/&gt;&lt;property id=&quot;20307&quot; value=&quot;266&quot;/&gt;&lt;/object&gt;&lt;object type=&quot;3&quot; unique_id=&quot;81809&quot;&gt;&lt;property id=&quot;20148&quot; value=&quot;5&quot;/&gt;&lt;property id=&quot;20300&quot; value=&quot;Slide 11 - &amp;quot;Ecological Significance of Actinomycetes&amp;quot;&quot;/&gt;&lt;property id=&quot;20307&quot; value=&quot;267&quot;/&gt;&lt;/object&gt;&lt;object type=&quot;3&quot; unique_id=&quot;81810&quot;&gt;&lt;property id=&quot;20148&quot; value=&quot;5&quot;/&gt;&lt;property id=&quot;20300&quot; value=&quot;Slide 12 - &amp;quot;Actinobacterial Cell Wall Types&amp;quot;&quot;/&gt;&lt;property id=&quot;20307&quot; value=&quot;269&quot;/&gt;&lt;/object&gt;&lt;object type=&quot;3&quot; unique_id=&quot;81811&quot;&gt;&lt;property id=&quot;20148&quot; value=&quot;5&quot;/&gt;&lt;property id=&quot;20300&quot; value=&quot;Slide 13 - &amp;quot;Order Actinomycetales&amp;quot;&quot;/&gt;&lt;property id=&quot;20307&quot; value=&quot;271&quot;/&gt;&lt;/object&gt;&lt;object type=&quot;3&quot; unique_id=&quot;81812&quot;&gt;&lt;property id=&quot;20148&quot; value=&quot;5&quot;/&gt;&lt;property id=&quot;20300&quot; value=&quot;Slide 14 - &amp;quot;Genus Actinomyces&amp;quot;&quot;/&gt;&lt;property id=&quot;20307&quot; value=&quot;272&quot;/&gt;&lt;/object&gt;&lt;object type=&quot;3&quot; unique_id=&quot;81813&quot;&gt;&lt;property id=&quot;20148&quot; value=&quot;5&quot;/&gt;&lt;property id=&quot;20300&quot; value=&quot;Slide 15 - &amp;quot;Order Micrococcales, Genus Micrococcus&amp;quot;&quot;/&gt;&lt;property id=&quot;20307&quot; value=&quot;273&quot;/&gt;&lt;/object&gt;&lt;object type=&quot;3&quot; unique_id=&quot;81814&quot;&gt;&lt;property id=&quot;20148&quot; value=&quot;5&quot;/&gt;&lt;property id=&quot;20300&quot; value=&quot;Slide 16 - &amp;quot;Order Micrococcales,&amp;#x0D;&amp;#x0A;Genus Arthrobacter&amp;quot;&quot;/&gt;&lt;property id=&quot;20307&quot; value=&quot;274&quot;/&gt;&lt;/object&gt;&lt;object type=&quot;3&quot; unique_id=&quot;81815&quot;&gt;&lt;property id=&quot;20148&quot; value=&quot;5&quot;/&gt;&lt;property id=&quot;20300&quot; value=&quot;Slide 17 - &amp;quot;Order Corynebacteriales Includes Important Human Pathogens&amp;quot;&quot;/&gt;&lt;property id=&quot;20307&quot; value=&quot;276&quot;/&gt;&lt;/object&gt;&lt;object type=&quot;3&quot; unique_id=&quot;81816&quot;&gt;&lt;property id=&quot;20148&quot; value=&quot;5&quot;/&gt;&lt;property id=&quot;20300&quot; value=&quot;Slide 18 - &amp;quot;Genus Corynebacterium&amp;quot;&quot;/&gt;&lt;property id=&quot;20307&quot; value=&quot;277&quot;/&gt;&lt;/object&gt;&lt;object type=&quot;3&quot; unique_id=&quot;81817&quot;&gt;&lt;property id=&quot;20148&quot; value=&quot;5&quot;/&gt;&lt;property id=&quot;20300&quot; value=&quot;Slide 19 - &amp;quot;Genus Mycobacterium&amp;quot;&quot;/&gt;&lt;property id=&quot;20307&quot; value=&quot;279&quot;/&gt;&lt;/object&gt;&lt;object type=&quot;3&quot; unique_id=&quot;81818&quot;&gt;&lt;property id=&quot;20148&quot; value=&quot;5&quot;/&gt;&lt;property id=&quot;20300&quot; value=&quot;Slide 20 - &amp;quot;Mycobacterial Cell Walls&amp;quot;&quot;/&gt;&lt;property id=&quot;20307&quot; value=&quot;280&quot;/&gt;&lt;/object&gt;&lt;object type=&quot;3&quot; unique_id=&quot;81819&quot;&gt;&lt;property id=&quot;20148&quot; value=&quot;5&quot;/&gt;&lt;property id=&quot;20300&quot; value=&quot;Slide 21 - &amp;quot;Important Species of Mycobacterium&amp;quot;&quot;/&gt;&lt;property id=&quot;20307&quot; value=&quot;281&quot;/&gt;&lt;/object&gt;&lt;object type=&quot;3&quot; unique_id=&quot;81820&quot;&gt;&lt;property id=&quot;20148&quot; value=&quot;5&quot;/&gt;&lt;property id=&quot;20300&quot; value=&quot;Slide 22 - &amp;quot;Genus Nocardia&amp;quot;&quot;/&gt;&lt;property id=&quot;20307&quot; value=&quot;282&quot;/&gt;&lt;/object&gt;&lt;object type=&quot;3&quot; unique_id=&quot;81821&quot;&gt;&lt;property id=&quot;20148&quot; value=&quot;5&quot;/&gt;&lt;property id=&quot;20300&quot; value=&quot;Slide 23 - &amp;quot;Impact of Nocardia&amp;quot;&quot;/&gt;&lt;property id=&quot;20307&quot; value=&quot;283&quot;/&gt;&lt;/object&gt;&lt;object type=&quot;3&quot; unique_id=&quot;81822&quot;&gt;&lt;property id=&quot;20148&quot; value=&quot;5&quot;/&gt;&lt;property id=&quot;20300&quot; value=&quot;Slide 24 - &amp;quot;Genus Rhodococcus&amp;quot;&quot;/&gt;&lt;property id=&quot;20307&quot; value=&quot;284&quot;/&gt;&lt;/object&gt;&lt;object type=&quot;3&quot; unique_id=&quot;81823&quot;&gt;&lt;property id=&quot;20148&quot; value=&quot;5&quot;/&gt;&lt;property id=&quot;20300&quot; value=&quot;Slide 25 - &amp;quot;Order Micromonosporales Includes Bacteria That Produce Morphologically Diverse Spores&amp;quot;&quot;/&gt;&lt;property id=&quot;20307&quot; value=&quot;285&quot;/&gt;&lt;/object&gt;&lt;object type=&quot;3&quot; unique_id=&quot;81824&quot;&gt;&lt;property id=&quot;20148&quot; value=&quot;5&quot;/&gt;&lt;property id=&quot;20300&quot; value=&quot;Slide 26 - &amp;quot;Micromonosporaceae&amp;quot;&quot;/&gt;&lt;property id=&quot;20307&quot; value=&quot;286&quot;/&gt;&lt;/object&gt;&lt;object type=&quot;3&quot; unique_id=&quot;81825&quot;&gt;&lt;property id=&quot;20148&quot; value=&quot;5&quot;/&gt;&lt;property id=&quot;20300&quot; value=&quot;Slide 27 - &amp;quot;Order Propionibacteriales, Genus Propionibacterium&amp;quot;&quot;/&gt;&lt;property id=&quot;20307&quot; value=&quot;287&quot;/&gt;&lt;/object&gt;&lt;object type=&quot;3&quot; unique_id=&quot;81826&quot;&gt;&lt;property id=&quot;20148&quot; value=&quot;5&quot;/&gt;&lt;property id=&quot;20300&quot; value=&quot;Slide 28 - &amp;quot;Order Streptomycetales: An Important Source of Antibiotics&amp;quot;&quot;/&gt;&lt;property id=&quot;20307&quot; value=&quot;288&quot;/&gt;&lt;/object&gt;&lt;object type=&quot;3&quot; unique_id=&quot;81827&quot;&gt;&lt;property id=&quot;20148&quot; value=&quot;5&quot;/&gt;&lt;property id=&quot;20300&quot; value=&quot;Slide 29 - &amp;quot;Genus Streptomyces&amp;quot;&quot;/&gt;&lt;property id=&quot;20307&quot; value=&quot;289&quot;/&gt;&lt;/object&gt;&lt;object type=&quot;3&quot; unique_id=&quot;81828&quot;&gt;&lt;property id=&quot;20148&quot; value=&quot;5&quot;/&gt;&lt;property id=&quot;20300&quot; value=&quot;Slide 30 - &amp;quot;Streptomycetes and Their Products&amp;quot;&quot;/&gt;&lt;property id=&quot;20307&quot; value=&quot;290&quot;/&gt;&lt;/object&gt;&lt;object type=&quot;3&quot; unique_id=&quot;81829&quot;&gt;&lt;property id=&quot;20148&quot; value=&quot;5&quot;/&gt;&lt;property id=&quot;20300&quot; value=&quot;Slide 31 - &amp;quot;Streptomyces coelicolor&amp;quot;&quot;/&gt;&lt;property id=&quot;20307&quot; value=&quot;291&quot;/&gt;&lt;/object&gt;&lt;object type=&quot;3&quot; unique_id=&quot;81830&quot;&gt;&lt;property id=&quot;20148&quot; value=&quot;5&quot;/&gt;&lt;property id=&quot;20300&quot; value=&quot;Slide 32 - &amp;quot;Pathogenic Streptomycetes&amp;quot;&quot;/&gt;&lt;property id=&quot;20307&quot; value=&quot;292&quot;/&gt;&lt;/object&gt;&lt;object type=&quot;3&quot; unique_id=&quot;81831&quot;&gt;&lt;property id=&quot;20148&quot; value=&quot;5&quot;/&gt;&lt;property id=&quot;20300&quot; value=&quot;Slide 33 - &amp;quot;Order Streptosporangiales&amp;quot;&quot;/&gt;&lt;property id=&quot;20307&quot; value=&quot;293&quot;/&gt;&lt;/object&gt;&lt;object type=&quot;3&quot; unique_id=&quot;81832&quot;&gt;&lt;property id=&quot;20148&quot; value=&quot;5&quot;/&gt;&lt;property id=&quot;20300&quot; value=&quot;Slide 34 - &amp;quot;Order Frankiales: Bacteria That Fix N2 in Trees&amp;quot;&quot;/&gt;&lt;property id=&quot;20307&quot; value=&quot;295&quot;/&gt;&lt;/object&gt;&lt;object type=&quot;3&quot; unique_id=&quot;81833&quot;&gt;&lt;property id=&quot;20148&quot; value=&quot;5&quot;/&gt;&lt;property id=&quot;20300&quot; value=&quot;Slide 35 - &amp;quot;Order Bifidobacteriales: Pathogens and Probiotics&amp;quot;&quot;/&gt;&lt;property id=&quot;20307&quot; value=&quot;299&quot;/&gt;&lt;/object&gt;&lt;object type=&quot;3&quot; unique_id=&quot;81834&quot;&gt;&lt;property id=&quot;20148&quot; value=&quot;5&quot;/&gt;&lt;property id=&quot;20300&quot; value=&quot;Slide 36 - &amp;quot;Take Home Message&amp;quot;&quot;/&gt;&lt;property id=&quot;20307&quot; value=&quot;301&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TotalTime>
  <Words>1596</Words>
  <Application>Microsoft Office PowerPoint</Application>
  <PresentationFormat>On-screen Show (4:3)</PresentationFormat>
  <Paragraphs>234</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Tahoma</vt:lpstr>
      <vt:lpstr>Office Theme</vt:lpstr>
      <vt:lpstr>Chapter 24 – Actinobacteria: The High G+C Gram-Positive Bacteria</vt:lpstr>
      <vt:lpstr>24.1 Class Actinobacteria </vt:lpstr>
      <vt:lpstr>24.1 Class Actinobacteria - 2</vt:lpstr>
      <vt:lpstr>24.1 Class Actinobacteria - 3</vt:lpstr>
      <vt:lpstr>24.1 Class Actinobacteria - 4</vt:lpstr>
      <vt:lpstr>High G + C Bacteria</vt:lpstr>
      <vt:lpstr>Characteristics of Actinobacteria</vt:lpstr>
      <vt:lpstr>General Properties of the Actinomycetes</vt:lpstr>
      <vt:lpstr>Life Cycle of Actinomycetes</vt:lpstr>
      <vt:lpstr>Life Cycle of Actinomycetes – Aerial Mycelia</vt:lpstr>
      <vt:lpstr>Ecological Significance of Actinomycetes</vt:lpstr>
      <vt:lpstr>Actinobacterial Cell Wall Types</vt:lpstr>
      <vt:lpstr>Order Actinomycetales</vt:lpstr>
      <vt:lpstr>Genus Actinomyces</vt:lpstr>
      <vt:lpstr>Order Micrococcales, Genus Micrococcus</vt:lpstr>
      <vt:lpstr>Order Micrococcales, Genus Arthrobacter</vt:lpstr>
      <vt:lpstr>Order Corynebacteriales Includes Important Human Pathogens</vt:lpstr>
      <vt:lpstr>Genus Corynebacterium</vt:lpstr>
      <vt:lpstr>Genus Mycobacterium</vt:lpstr>
      <vt:lpstr>Mycobacterial Cell Walls</vt:lpstr>
      <vt:lpstr>Important Species of Mycobacterium</vt:lpstr>
      <vt:lpstr>Genus Nocardia</vt:lpstr>
      <vt:lpstr>Impact of Nocardia</vt:lpstr>
      <vt:lpstr>Genus Rhodococcus</vt:lpstr>
      <vt:lpstr>Order Micromonosporales Includes Bacteria That Produce Morphologically Diverse Spores</vt:lpstr>
      <vt:lpstr>Micromonosporaceae</vt:lpstr>
      <vt:lpstr>Order Propionibacteriales, Genus Propionibacterium</vt:lpstr>
      <vt:lpstr>Order Streptomycetales: An Important Source of Antibiotics</vt:lpstr>
      <vt:lpstr>Genus Streptomyces</vt:lpstr>
      <vt:lpstr>Streptomycetes and Their Products</vt:lpstr>
      <vt:lpstr>Streptomyces coelicolor</vt:lpstr>
      <vt:lpstr>Pathogenic Streptomycetes</vt:lpstr>
      <vt:lpstr>Order Streptosporangiales</vt:lpstr>
      <vt:lpstr>Order Frankiales: Bacteria That Fix N2 in Trees</vt:lpstr>
      <vt:lpstr>Order Bifidobacteriales: Pathogens and Probiotics</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Homa Darmani</cp:lastModifiedBy>
  <cp:revision>40</cp:revision>
  <dcterms:created xsi:type="dcterms:W3CDTF">2016-01-04T02:13:32Z</dcterms:created>
  <dcterms:modified xsi:type="dcterms:W3CDTF">2023-05-06T17:35:51Z</dcterms:modified>
</cp:coreProperties>
</file>