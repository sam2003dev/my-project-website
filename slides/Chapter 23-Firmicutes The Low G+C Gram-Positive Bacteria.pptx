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99" r:id="rId15"/>
    <p:sldId id="300" r:id="rId16"/>
    <p:sldId id="270" r:id="rId17"/>
    <p:sldId id="271" r:id="rId18"/>
    <p:sldId id="301" r:id="rId19"/>
    <p:sldId id="273"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9" r:id="rId33"/>
    <p:sldId id="290" r:id="rId34"/>
    <p:sldId id="291" r:id="rId35"/>
    <p:sldId id="292" r:id="rId36"/>
    <p:sldId id="293" r:id="rId37"/>
    <p:sldId id="294" r:id="rId38"/>
    <p:sldId id="296" r:id="rId39"/>
    <p:sldId id="297" r:id="rId40"/>
    <p:sldId id="298" r:id="rId41"/>
  </p:sldIdLst>
  <p:sldSz cx="9144000" cy="6858000" type="screen4x3"/>
  <p:notesSz cx="6858000" cy="9144000"/>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82" autoAdjust="0"/>
    <p:restoredTop sz="94660"/>
  </p:normalViewPr>
  <p:slideViewPr>
    <p:cSldViewPr>
      <p:cViewPr varScale="1">
        <p:scale>
          <a:sx n="66" d="100"/>
          <a:sy n="66" d="100"/>
        </p:scale>
        <p:origin x="1536"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2/23/2023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3600">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5454F-ECDB-4842-AF71-F9E8195E2EAE}"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45782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0CD5D7F-3933-4309-8034-0F93355438F7}"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5788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23001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8CB9A4-23AA-4DC3-A257-AD75712A2865}"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35094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9D155C-674B-4796-BBC2-FCD13546F93B}" type="datetime1">
              <a:rPr lang="en-US" smtClean="0"/>
              <a:pPr/>
              <a:t>2/23/2023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8547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0BCA5-5AC7-4B00-85A8-8E2615460E4F}" type="datetime1">
              <a:rPr lang="en-US" smtClean="0"/>
              <a:pPr/>
              <a:t>2/23/2023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35365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2/23/2023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6456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2826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18697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03F265-EC92-4E3A-8B2F-17EA75E99940}"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1908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510B38-9655-43E1-BBFD-8C7DABE26029}"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19958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2/23/2023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76157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sp>
        <p:nvSpPr>
          <p:cNvPr id="2" name="Title 1"/>
          <p:cNvSpPr>
            <a:spLocks noGrp="1"/>
          </p:cNvSpPr>
          <p:nvPr>
            <p:ph type="ctrTitle"/>
          </p:nvPr>
        </p:nvSpPr>
        <p:spPr>
          <a:xfrm>
            <a:off x="685800" y="228600"/>
            <a:ext cx="7772400" cy="1470025"/>
          </a:xfrm>
        </p:spPr>
        <p:txBody>
          <a:bodyPr/>
          <a:lstStyle/>
          <a:p>
            <a:r>
              <a:rPr lang="en-US" dirty="0"/>
              <a:t>Chapter 23 – </a:t>
            </a:r>
            <a:r>
              <a:rPr lang="en-US" dirty="0" err="1"/>
              <a:t>Firmicutes</a:t>
            </a:r>
            <a:r>
              <a:rPr lang="en-US" dirty="0"/>
              <a:t>: The Low G+C Gram-Positive Bacteria</a:t>
            </a:r>
          </a:p>
        </p:txBody>
      </p:sp>
      <p:pic>
        <p:nvPicPr>
          <p:cNvPr id="7" name="Picture 2" descr="X:\Graphics\Powerpoint\MH_DCM\MH_DCM-TEXTEDIT PROJECTS\WILLEY_10e\Incoming\Wille10e17tlm_nm3.jpg"/>
          <p:cNvPicPr>
            <a:picLocks noChangeAspect="1" noChangeArrowheads="1"/>
          </p:cNvPicPr>
          <p:nvPr/>
        </p:nvPicPr>
        <p:blipFill>
          <a:blip r:embed="rId2" cstate="print"/>
          <a:srcRect/>
          <a:stretch>
            <a:fillRect/>
          </a:stretch>
        </p:blipFill>
        <p:spPr bwMode="auto">
          <a:xfrm>
            <a:off x="2502128" y="1600200"/>
            <a:ext cx="4139744" cy="5029200"/>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23.1 Class </a:t>
            </a:r>
            <a:r>
              <a:rPr lang="en-US" i="1" dirty="0"/>
              <a:t>Clostridia</a:t>
            </a: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10000"/>
          </a:bodyPr>
          <a:lstStyle/>
          <a:p>
            <a:pPr marL="514350" indent="-514350">
              <a:buFont typeface="+mj-lt"/>
              <a:buAutoNum type="arabicPeriod"/>
            </a:pPr>
            <a:r>
              <a:rPr lang="en-US" dirty="0"/>
              <a:t>Identify several </a:t>
            </a:r>
            <a:r>
              <a:rPr lang="en-US" i="1" dirty="0"/>
              <a:t>Clostridia</a:t>
            </a:r>
            <a:r>
              <a:rPr lang="en-US" dirty="0"/>
              <a:t> spp. that form endospores</a:t>
            </a:r>
            <a:br>
              <a:rPr lang="en-US" dirty="0"/>
            </a:br>
            <a:endParaRPr lang="en-US" dirty="0"/>
          </a:p>
          <a:p>
            <a:pPr marL="514350" indent="-514350">
              <a:buFont typeface="+mj-lt"/>
              <a:buAutoNum type="arabicPeriod"/>
            </a:pPr>
            <a:r>
              <a:rPr lang="en-US" dirty="0"/>
              <a:t>Outline the reaction by which some </a:t>
            </a:r>
            <a:r>
              <a:rPr lang="en-US" i="1" dirty="0"/>
              <a:t>Clostridia</a:t>
            </a:r>
            <a:r>
              <a:rPr lang="en-US" dirty="0"/>
              <a:t> can ferment amino acids, and relate this carbon substrate to their environmental distribution and pathogenic potential</a:t>
            </a:r>
            <a:br>
              <a:rPr lang="en-US" dirty="0"/>
            </a:br>
            <a:endParaRPr lang="en-US" dirty="0"/>
          </a:p>
          <a:p>
            <a:pPr marL="514350" indent="-514350">
              <a:buFont typeface="+mj-lt"/>
              <a:buAutoNum type="arabicPeriod"/>
            </a:pPr>
            <a:r>
              <a:rPr lang="en-US" dirty="0"/>
              <a:t>Identify the terminal electron acceptors used by </a:t>
            </a:r>
            <a:r>
              <a:rPr lang="en-US" i="1" dirty="0" err="1"/>
              <a:t>Desulfotomaculum</a:t>
            </a:r>
            <a:r>
              <a:rPr lang="en-US" i="1" dirty="0"/>
              <a:t> </a:t>
            </a:r>
            <a:r>
              <a:rPr lang="en-US" dirty="0"/>
              <a:t>spp.</a:t>
            </a:r>
            <a:br>
              <a:rPr lang="en-US" dirty="0"/>
            </a:br>
            <a:endParaRPr lang="en-US" i="1" dirty="0"/>
          </a:p>
          <a:p>
            <a:pPr marL="514350" indent="-514350">
              <a:buFont typeface="+mj-lt"/>
              <a:buAutoNum type="arabicPeriod"/>
            </a:pPr>
            <a:r>
              <a:rPr lang="en-US" dirty="0"/>
              <a:t>Distinguish </a:t>
            </a:r>
            <a:r>
              <a:rPr lang="en-US" dirty="0" err="1"/>
              <a:t>phototrophy</a:t>
            </a:r>
            <a:r>
              <a:rPr lang="en-US" dirty="0"/>
              <a:t> in the </a:t>
            </a:r>
            <a:r>
              <a:rPr lang="en-US" dirty="0" err="1"/>
              <a:t>heliobacteria</a:t>
            </a:r>
            <a:r>
              <a:rPr lang="en-US" dirty="0"/>
              <a:t> from that of other </a:t>
            </a:r>
            <a:r>
              <a:rPr lang="en-US" dirty="0" err="1"/>
              <a:t>anoxygenic</a:t>
            </a:r>
            <a:r>
              <a:rPr lang="en-US" dirty="0"/>
              <a:t> phototrophic bacteria</a:t>
            </a:r>
            <a:br>
              <a:rPr lang="en-US" dirty="0"/>
            </a:br>
            <a:endParaRPr lang="en-US" dirty="0"/>
          </a:p>
          <a:p>
            <a:pPr marL="514350" indent="-514350">
              <a:buFont typeface="+mj-lt"/>
              <a:buAutoNum type="arabicPeriod"/>
            </a:pPr>
            <a:r>
              <a:rPr lang="en-US" dirty="0"/>
              <a:t>Discuss the importance of </a:t>
            </a:r>
            <a:r>
              <a:rPr lang="en-US" i="1" dirty="0" err="1"/>
              <a:t>Veillonella</a:t>
            </a:r>
            <a:r>
              <a:rPr lang="en-US" dirty="0"/>
              <a:t> spp. to human disease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1291368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Gram-Positive </a:t>
            </a:r>
            <a:r>
              <a:rPr lang="en-US" i="1" dirty="0"/>
              <a:t>Bacteria</a:t>
            </a:r>
            <a:endParaRPr lang="en-US" dirty="0"/>
          </a:p>
        </p:txBody>
      </p:sp>
      <p:sp>
        <p:nvSpPr>
          <p:cNvPr id="3" name="Content Placeholder 2"/>
          <p:cNvSpPr>
            <a:spLocks noGrp="1"/>
          </p:cNvSpPr>
          <p:nvPr>
            <p:ph idx="1"/>
          </p:nvPr>
        </p:nvSpPr>
        <p:spPr/>
        <p:txBody>
          <a:bodyPr/>
          <a:lstStyle/>
          <a:p>
            <a:r>
              <a:rPr lang="en-US" dirty="0"/>
              <a:t>Grouped based on shape (rods, cocci, or irregular) and ability to form endospores</a:t>
            </a:r>
            <a:br>
              <a:rPr lang="en-US" dirty="0"/>
            </a:br>
            <a:endParaRPr lang="en-US" dirty="0"/>
          </a:p>
          <a:p>
            <a:r>
              <a:rPr lang="en-US" i="1" dirty="0" err="1"/>
              <a:t>Bergey’s</a:t>
            </a:r>
            <a:r>
              <a:rPr lang="en-US" i="1" dirty="0"/>
              <a:t> Manual of Systematic Bacteriology, </a:t>
            </a:r>
            <a:r>
              <a:rPr lang="en-US" dirty="0"/>
              <a:t>2</a:t>
            </a:r>
            <a:r>
              <a:rPr lang="en-US" baseline="30000" dirty="0"/>
              <a:t>nd</a:t>
            </a:r>
            <a:r>
              <a:rPr lang="en-US" dirty="0"/>
              <a:t> edition used phylogenetic relationships </a:t>
            </a:r>
          </a:p>
          <a:p>
            <a:pPr lvl="1"/>
            <a:r>
              <a:rPr lang="en-US" dirty="0"/>
              <a:t>Low G + C (Volume 3)</a:t>
            </a:r>
          </a:p>
          <a:p>
            <a:pPr lvl="1"/>
            <a:r>
              <a:rPr lang="en-US" dirty="0"/>
              <a:t>High G + C (Volume 4)</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3276228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Low G + C Gram-Positive </a:t>
            </a:r>
            <a:r>
              <a:rPr lang="en-US" i="1" dirty="0"/>
              <a:t>Bacteria</a:t>
            </a:r>
            <a:r>
              <a:rPr lang="en-US" dirty="0"/>
              <a:t> </a:t>
            </a:r>
            <a:r>
              <a:rPr lang="en-US" i="1" dirty="0" err="1"/>
              <a:t>Bergey’s</a:t>
            </a:r>
            <a:r>
              <a:rPr lang="en-US" i="1" dirty="0"/>
              <a:t> Manual</a:t>
            </a:r>
            <a:endParaRPr lang="en-US" dirty="0"/>
          </a:p>
        </p:txBody>
      </p:sp>
      <p:sp>
        <p:nvSpPr>
          <p:cNvPr id="3" name="Content Placeholder 2"/>
          <p:cNvSpPr>
            <a:spLocks noGrp="1"/>
          </p:cNvSpPr>
          <p:nvPr>
            <p:ph sz="half" idx="1"/>
          </p:nvPr>
        </p:nvSpPr>
        <p:spPr>
          <a:xfrm>
            <a:off x="76200" y="1600200"/>
            <a:ext cx="3886200" cy="4525963"/>
          </a:xfrm>
        </p:spPr>
        <p:txBody>
          <a:bodyPr/>
          <a:lstStyle/>
          <a:p>
            <a:r>
              <a:rPr lang="en-US" dirty="0"/>
              <a:t>Placed in phylum </a:t>
            </a:r>
            <a:r>
              <a:rPr lang="en-US" i="1" dirty="0" err="1"/>
              <a:t>Firmicutes</a:t>
            </a:r>
            <a:br>
              <a:rPr lang="en-US" i="1" dirty="0"/>
            </a:br>
            <a:endParaRPr lang="en-US" i="1" dirty="0"/>
          </a:p>
          <a:p>
            <a:pPr lvl="1"/>
            <a:r>
              <a:rPr lang="en-US" dirty="0"/>
              <a:t>divided into 3 classes</a:t>
            </a:r>
          </a:p>
          <a:p>
            <a:pPr lvl="2"/>
            <a:r>
              <a:rPr lang="en-US" i="1" dirty="0"/>
              <a:t>Clostridia</a:t>
            </a:r>
          </a:p>
          <a:p>
            <a:pPr lvl="2"/>
            <a:r>
              <a:rPr lang="en-US" i="1" dirty="0"/>
              <a:t>Bacilli</a:t>
            </a:r>
          </a:p>
          <a:p>
            <a:pPr lvl="2"/>
            <a:r>
              <a:rPr lang="en-US" i="1" dirty="0" err="1"/>
              <a:t>Negativicutes</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pic>
        <p:nvPicPr>
          <p:cNvPr id="1026" name="Picture 2" descr="Same figure as 20.1 with the phylum Firmicutes highlighted.&#10;&#10;Phylogenetic tree showing the relationship between the archaea Crenarchaeota, Thaumarchaeota, Euryarchaeota, and select bacteria (Aquificae, Thermotogae, Chloroflexi, Deinococcus-Thermus, Firmicutes, Actinobacteria, Proteobacteria, Spirochaetes, Cyanobacteria, Planctomycetes and Chlamydiae, Chlorobi, and Bacteroidetes).  Both groups descend from common ancestors." title="Figure 23.1 Phylogenetic Relationships Among Bacteria and Archaea."/>
          <p:cNvPicPr>
            <a:picLocks noChangeAspect="1" noChangeArrowheads="1"/>
          </p:cNvPicPr>
          <p:nvPr/>
        </p:nvPicPr>
        <p:blipFill>
          <a:blip r:embed="rId2" cstate="print"/>
          <a:srcRect/>
          <a:stretch>
            <a:fillRect/>
          </a:stretch>
        </p:blipFill>
        <p:spPr bwMode="auto">
          <a:xfrm>
            <a:off x="4114800" y="1228726"/>
            <a:ext cx="4714730" cy="5248274"/>
          </a:xfrm>
          <a:prstGeom prst="rect">
            <a:avLst/>
          </a:prstGeom>
          <a:noFill/>
        </p:spPr>
      </p:pic>
    </p:spTree>
    <p:extLst>
      <p:ext uri="{BB962C8B-B14F-4D97-AF65-F5344CB8AC3E}">
        <p14:creationId xmlns:p14="http://schemas.microsoft.com/office/powerpoint/2010/main" val="329628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00600" y="274638"/>
            <a:ext cx="4191000" cy="1935162"/>
          </a:xfrm>
        </p:spPr>
        <p:txBody>
          <a:bodyPr>
            <a:normAutofit/>
          </a:bodyPr>
          <a:lstStyle/>
          <a:p>
            <a:r>
              <a:rPr lang="en-US" dirty="0"/>
              <a:t>Phylogenetic Relationships in the Phylum </a:t>
            </a:r>
            <a:r>
              <a:rPr lang="en-US" i="1" dirty="0" err="1"/>
              <a:t>Firmicutes</a:t>
            </a:r>
            <a:endParaRPr lang="en-US" i="1"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5</a:t>
            </a:fld>
            <a:endParaRPr lang="en-US"/>
          </a:p>
        </p:txBody>
      </p:sp>
      <p:pic>
        <p:nvPicPr>
          <p:cNvPr id="2050" name="Picture 2" descr="The major phylogenetic groups are shown in the Lactobacillales and the Bacillales, as well as Clostridia." title="Figure 23.2 Phylogenetic Relationships in the Phylum Firmicutes (Low G + C Gram Positives)."/>
          <p:cNvPicPr>
            <a:picLocks noChangeAspect="1" noChangeArrowheads="1"/>
          </p:cNvPicPr>
          <p:nvPr/>
        </p:nvPicPr>
        <p:blipFill>
          <a:blip r:embed="rId2" cstate="print"/>
          <a:srcRect/>
          <a:stretch>
            <a:fillRect/>
          </a:stretch>
        </p:blipFill>
        <p:spPr bwMode="auto">
          <a:xfrm>
            <a:off x="252412" y="152400"/>
            <a:ext cx="4319588" cy="6464301"/>
          </a:xfrm>
          <a:prstGeom prst="rect">
            <a:avLst/>
          </a:prstGeom>
          <a:noFill/>
        </p:spPr>
      </p:pic>
    </p:spTree>
    <p:extLst>
      <p:ext uri="{BB962C8B-B14F-4D97-AF65-F5344CB8AC3E}">
        <p14:creationId xmlns:p14="http://schemas.microsoft.com/office/powerpoint/2010/main" val="1826874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219200"/>
          </a:xfrm>
        </p:spPr>
        <p:txBody>
          <a:bodyPr/>
          <a:lstStyle/>
          <a:p>
            <a:r>
              <a:rPr lang="en-US" dirty="0"/>
              <a:t>Class </a:t>
            </a:r>
            <a:r>
              <a:rPr lang="en-US" i="1" dirty="0"/>
              <a:t>Clostridia</a:t>
            </a:r>
            <a:endParaRPr lang="en-US" dirty="0"/>
          </a:p>
        </p:txBody>
      </p:sp>
      <p:sp>
        <p:nvSpPr>
          <p:cNvPr id="3" name="Content Placeholder 2"/>
          <p:cNvSpPr>
            <a:spLocks noGrp="1"/>
          </p:cNvSpPr>
          <p:nvPr>
            <p:ph sz="half" idx="1"/>
          </p:nvPr>
        </p:nvSpPr>
        <p:spPr>
          <a:xfrm>
            <a:off x="152400" y="1066801"/>
            <a:ext cx="8839200" cy="1905000"/>
          </a:xfrm>
        </p:spPr>
        <p:txBody>
          <a:bodyPr/>
          <a:lstStyle/>
          <a:p>
            <a:r>
              <a:rPr lang="en-US" dirty="0"/>
              <a:t>Largest genus is </a:t>
            </a:r>
            <a:r>
              <a:rPr lang="en-US" i="1" dirty="0"/>
              <a:t>Clostridium</a:t>
            </a:r>
          </a:p>
          <a:p>
            <a:pPr lvl="1"/>
            <a:r>
              <a:rPr lang="en-US" dirty="0"/>
              <a:t>over 100 species</a:t>
            </a:r>
          </a:p>
          <a:p>
            <a:pPr lvl="1"/>
            <a:r>
              <a:rPr lang="en-US" dirty="0" err="1"/>
              <a:t>obligately</a:t>
            </a:r>
            <a:r>
              <a:rPr lang="en-US" dirty="0"/>
              <a:t> anaerobic, fermentative, Gram-positive, endospore forming</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pic>
        <p:nvPicPr>
          <p:cNvPr id="1026" name="Picture 2" descr="Header Row: Genus; Dimensions (μm), Morphology, and Motility; Genome Size (Mb);  Oxygen Relationship; Other Distinctive Characteristics&#10;Clostridium; 0.3–2.0 × 1.5–20, rod-shaped, often pleomorphic, nonmotile or peritrichous flagella; Most species 3.0-4.0; Anaerobic; Usually chemoorganotrophic, fermentative, and catalase negative, form oval or spherical endospores&#10;Desulfotomaculum; 0.3–1.5 × 3–9, straight or curved rods, peritrichous or polar flagella; 2.7-3.9; Anaerobic; Reduce sulfate to H2S, form subterminal to terminal endospores, stain Gram negative but have Gram-positive wall, catalase negative&#10;Heliobacterium; 1.0 × 4–10, rods that are frequently bent, gliding motility; 3.1; Anaerobic; Photoheterotrophic with bacteriochlorophyll g, stain Gram negative but have Gram-positive wall, some form endospores" title="Table 23.1 Characteristics of Selected Members of the Class Clostri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200400"/>
            <a:ext cx="8815852"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2368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i="1" dirty="0"/>
              <a:t>Clostridium </a:t>
            </a:r>
            <a:r>
              <a:rPr lang="en-US" i="1" dirty="0" err="1"/>
              <a:t>tetani</a:t>
            </a:r>
            <a:endParaRPr lang="en-US" i="1"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7</a:t>
            </a:fld>
            <a:endParaRPr lang="en-US"/>
          </a:p>
        </p:txBody>
      </p:sp>
      <p:pic>
        <p:nvPicPr>
          <p:cNvPr id="4098" name="Picture 2" descr="Photo of Clostridium tetani showing endospores.  This pathogen makes endospores that are round and terminal.  When the mother cell surrounding each endospore lyses, the released spores remain viable for hundreds, if not thousands of years." title="Figure 23.3 Clostridium tetani."/>
          <p:cNvPicPr>
            <a:picLocks noChangeAspect="1" noChangeArrowheads="1"/>
          </p:cNvPicPr>
          <p:nvPr/>
        </p:nvPicPr>
        <p:blipFill>
          <a:blip r:embed="rId2" cstate="print"/>
          <a:srcRect/>
          <a:stretch>
            <a:fillRect/>
          </a:stretch>
        </p:blipFill>
        <p:spPr bwMode="auto">
          <a:xfrm>
            <a:off x="523999" y="1295400"/>
            <a:ext cx="8096002" cy="5181600"/>
          </a:xfrm>
          <a:prstGeom prst="rect">
            <a:avLst/>
          </a:prstGeom>
          <a:noFill/>
        </p:spPr>
      </p:pic>
    </p:spTree>
    <p:extLst>
      <p:ext uri="{BB962C8B-B14F-4D97-AF65-F5344CB8AC3E}">
        <p14:creationId xmlns:p14="http://schemas.microsoft.com/office/powerpoint/2010/main" val="174842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a:t>Clostridium</a:t>
            </a:r>
            <a:endParaRPr lang="en-US" dirty="0"/>
          </a:p>
        </p:txBody>
      </p:sp>
      <p:sp>
        <p:nvSpPr>
          <p:cNvPr id="6" name="Content Placeholder 5"/>
          <p:cNvSpPr>
            <a:spLocks noGrp="1"/>
          </p:cNvSpPr>
          <p:nvPr>
            <p:ph sz="half" idx="2"/>
          </p:nvPr>
        </p:nvSpPr>
        <p:spPr>
          <a:xfrm>
            <a:off x="4648200" y="1143000"/>
            <a:ext cx="4343400" cy="5562600"/>
          </a:xfrm>
        </p:spPr>
        <p:txBody>
          <a:bodyPr>
            <a:normAutofit fontScale="92500"/>
          </a:bodyPr>
          <a:lstStyle/>
          <a:p>
            <a:pPr>
              <a:lnSpc>
                <a:spcPct val="90000"/>
              </a:lnSpc>
            </a:pPr>
            <a:r>
              <a:rPr lang="en-US" dirty="0"/>
              <a:t>Over 100 species in distinct phylogenetic clusters</a:t>
            </a:r>
            <a:br>
              <a:rPr lang="en-US" dirty="0"/>
            </a:br>
            <a:endParaRPr lang="en-US" dirty="0"/>
          </a:p>
          <a:p>
            <a:pPr>
              <a:lnSpc>
                <a:spcPct val="90000"/>
              </a:lnSpc>
            </a:pPr>
            <a:r>
              <a:rPr lang="en-US" dirty="0"/>
              <a:t>Fermentative metabolism</a:t>
            </a:r>
          </a:p>
          <a:p>
            <a:pPr lvl="1">
              <a:lnSpc>
                <a:spcPct val="90000"/>
              </a:lnSpc>
            </a:pPr>
            <a:r>
              <a:rPr lang="en-US" dirty="0"/>
              <a:t>ferment amino acids using </a:t>
            </a:r>
            <a:r>
              <a:rPr lang="en-US" dirty="0" err="1"/>
              <a:t>Stickland</a:t>
            </a:r>
            <a:r>
              <a:rPr lang="en-US" dirty="0"/>
              <a:t> reaction</a:t>
            </a:r>
          </a:p>
          <a:p>
            <a:pPr lvl="2">
              <a:lnSpc>
                <a:spcPct val="90000"/>
              </a:lnSpc>
            </a:pPr>
            <a:r>
              <a:rPr lang="en-US" sz="2400" dirty="0"/>
              <a:t>oxidation of one amino acid using another as electron acceptor</a:t>
            </a:r>
          </a:p>
          <a:p>
            <a:pPr lvl="2">
              <a:lnSpc>
                <a:spcPct val="90000"/>
              </a:lnSpc>
            </a:pPr>
            <a:r>
              <a:rPr lang="en-US" sz="2400" dirty="0"/>
              <a:t>sodium motive force to drive amino acid uptake</a:t>
            </a:r>
          </a:p>
          <a:p>
            <a:pPr lvl="1">
              <a:lnSpc>
                <a:spcPct val="90000"/>
              </a:lnSpc>
            </a:pPr>
            <a:r>
              <a:rPr lang="en-US" dirty="0"/>
              <a:t>fermentation products responsible for unpleasant odors associated with putrefaction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pic>
        <p:nvPicPr>
          <p:cNvPr id="5122" name="Picture 2" descr="Clostridia often can ferment amino acids to produce ATP by oxidizing one amino acid while using another as an electron acceptor in a process called the Stickland reaction.  As shown in this figure, alanine is oxidized to acetate, and glycine is used to reoxidize the NADH generated during alanine degradation. The fermentation also produces some ATP." title="Figure 23.4 The Stickland Reaction."/>
          <p:cNvPicPr>
            <a:picLocks noChangeAspect="1" noChangeArrowheads="1"/>
          </p:cNvPicPr>
          <p:nvPr/>
        </p:nvPicPr>
        <p:blipFill>
          <a:blip r:embed="rId2" cstate="print"/>
          <a:srcRect/>
          <a:stretch>
            <a:fillRect/>
          </a:stretch>
        </p:blipFill>
        <p:spPr bwMode="auto">
          <a:xfrm>
            <a:off x="728133" y="1055578"/>
            <a:ext cx="3725334" cy="5559642"/>
          </a:xfrm>
          <a:prstGeom prst="rect">
            <a:avLst/>
          </a:prstGeom>
          <a:noFill/>
        </p:spPr>
      </p:pic>
    </p:spTree>
    <p:extLst>
      <p:ext uri="{BB962C8B-B14F-4D97-AF65-F5344CB8AC3E}">
        <p14:creationId xmlns:p14="http://schemas.microsoft.com/office/powerpoint/2010/main" val="548165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2400"/>
            <a:ext cx="8229600" cy="1143000"/>
          </a:xfrm>
        </p:spPr>
        <p:txBody>
          <a:bodyPr>
            <a:normAutofit fontScale="90000"/>
          </a:bodyPr>
          <a:lstStyle/>
          <a:p>
            <a:r>
              <a:rPr lang="en-US" dirty="0"/>
              <a:t>Amino Acid Fermentation and Na</a:t>
            </a:r>
            <a:r>
              <a:rPr lang="en-US" baseline="30000" dirty="0"/>
              <a:t>+</a:t>
            </a:r>
            <a:r>
              <a:rPr lang="en-US" dirty="0"/>
              <a:t> Flux in </a:t>
            </a:r>
            <a:r>
              <a:rPr lang="en-US" i="1" dirty="0"/>
              <a:t>C. </a:t>
            </a:r>
            <a:r>
              <a:rPr lang="en-US" i="1" dirty="0" err="1"/>
              <a:t>tetani</a:t>
            </a:r>
            <a:endParaRPr lang="en-US" i="1"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9</a:t>
            </a:fld>
            <a:endParaRPr lang="en-US"/>
          </a:p>
        </p:txBody>
      </p:sp>
      <p:pic>
        <p:nvPicPr>
          <p:cNvPr id="6146" name="Picture 2" descr="The fermentation of amino acids and the generation of a Na+ motive force is central to survival of this pathogen. Note that amino acids are transported into the cell by Na+-dependent uptake systems. Sugars are also transported in this manner but are used in anabolic reactions only. Several Na+-dependent transporters with unknown substrates are present. A V-type ATPase and an ATP-binding cassette transporter pump Na+ out of the cell at the expense of ATP hydrolysis. A proton translocating pyrophosphatase is used to export H+. Components of a membrane-bound electron transport chain are present, but it is thought that the NADH dehydrogenase participates in amino acid fermentation. The lack of quinones suggests that the ETC is not used to establish a proton motive force." title="Figure 23.5 Amino Acid Fermentation and Na+ Flux in Clostridium tetani."/>
          <p:cNvPicPr>
            <a:picLocks noChangeAspect="1" noChangeArrowheads="1"/>
          </p:cNvPicPr>
          <p:nvPr/>
        </p:nvPicPr>
        <p:blipFill>
          <a:blip r:embed="rId2" cstate="print"/>
          <a:srcRect/>
          <a:stretch>
            <a:fillRect/>
          </a:stretch>
        </p:blipFill>
        <p:spPr bwMode="auto">
          <a:xfrm>
            <a:off x="1193536" y="1295400"/>
            <a:ext cx="6756928" cy="5212250"/>
          </a:xfrm>
          <a:prstGeom prst="rect">
            <a:avLst/>
          </a:prstGeom>
          <a:noFill/>
        </p:spPr>
      </p:pic>
    </p:spTree>
    <p:extLst>
      <p:ext uri="{BB962C8B-B14F-4D97-AF65-F5344CB8AC3E}">
        <p14:creationId xmlns:p14="http://schemas.microsoft.com/office/powerpoint/2010/main" val="711210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Species of </a:t>
            </a:r>
            <a:r>
              <a:rPr lang="en-US" i="1" dirty="0"/>
              <a:t>Clostridium</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r>
              <a:rPr lang="en-US" dirty="0"/>
              <a:t>Great practical importance</a:t>
            </a:r>
          </a:p>
          <a:p>
            <a:pPr lvl="1"/>
            <a:r>
              <a:rPr lang="en-US" dirty="0"/>
              <a:t>food spoilage through the </a:t>
            </a:r>
            <a:r>
              <a:rPr lang="en-US" dirty="0" err="1">
                <a:highlight>
                  <a:srgbClr val="FFFF00"/>
                </a:highlight>
              </a:rPr>
              <a:t>Stickland</a:t>
            </a:r>
            <a:r>
              <a:rPr lang="en-US" dirty="0"/>
              <a:t> reaction </a:t>
            </a:r>
          </a:p>
          <a:p>
            <a:pPr lvl="1"/>
            <a:r>
              <a:rPr lang="en-US" dirty="0"/>
              <a:t>industrial production of butanol</a:t>
            </a:r>
          </a:p>
          <a:p>
            <a:pPr lvl="1"/>
            <a:r>
              <a:rPr lang="en-US" dirty="0"/>
              <a:t>toxin production</a:t>
            </a:r>
            <a:br>
              <a:rPr lang="en-US" dirty="0"/>
            </a:br>
            <a:endParaRPr lang="en-US" i="1" dirty="0"/>
          </a:p>
          <a:p>
            <a:r>
              <a:rPr lang="en-US" i="1" dirty="0"/>
              <a:t>C. botulinum</a:t>
            </a:r>
            <a:r>
              <a:rPr lang="en-US" dirty="0"/>
              <a:t> </a:t>
            </a:r>
          </a:p>
          <a:p>
            <a:pPr lvl="1"/>
            <a:r>
              <a:rPr lang="en-US" dirty="0"/>
              <a:t>food spoilage (especially canned foods); botulism</a:t>
            </a:r>
            <a:br>
              <a:rPr lang="en-US" dirty="0"/>
            </a:br>
            <a:endParaRPr lang="en-US" dirty="0"/>
          </a:p>
          <a:p>
            <a:r>
              <a:rPr lang="en-US" i="1" dirty="0"/>
              <a:t>C. </a:t>
            </a:r>
            <a:r>
              <a:rPr lang="en-US" i="1" dirty="0" err="1"/>
              <a:t>tetani</a:t>
            </a:r>
            <a:r>
              <a:rPr lang="en-US" dirty="0"/>
              <a:t> – tetanus</a:t>
            </a:r>
            <a:br>
              <a:rPr lang="en-US" dirty="0"/>
            </a:br>
            <a:endParaRPr lang="en-US" dirty="0"/>
          </a:p>
          <a:p>
            <a:r>
              <a:rPr lang="en-US" i="1" dirty="0"/>
              <a:t>C. perfringens</a:t>
            </a:r>
            <a:r>
              <a:rPr lang="en-US" dirty="0"/>
              <a:t> – gas gangrene</a:t>
            </a:r>
            <a:br>
              <a:rPr lang="en-US" dirty="0"/>
            </a:br>
            <a:endParaRPr lang="en-US" dirty="0"/>
          </a:p>
          <a:p>
            <a:r>
              <a:rPr lang="en-US" i="1" dirty="0"/>
              <a:t>C. </a:t>
            </a:r>
            <a:r>
              <a:rPr lang="en-US" i="1" dirty="0" err="1"/>
              <a:t>acetobutylicum</a:t>
            </a:r>
            <a:r>
              <a:rPr lang="en-US" dirty="0"/>
              <a:t> </a:t>
            </a:r>
          </a:p>
          <a:p>
            <a:pPr lvl="1"/>
            <a:r>
              <a:rPr lang="en-US" dirty="0"/>
              <a:t>manufacture of butanol </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spTree>
    <p:extLst>
      <p:ext uri="{BB962C8B-B14F-4D97-AF65-F5344CB8AC3E}">
        <p14:creationId xmlns:p14="http://schemas.microsoft.com/office/powerpoint/2010/main" val="1176875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a:t>Genus </a:t>
            </a:r>
            <a:r>
              <a:rPr lang="en-US" i="1" dirty="0" err="1"/>
              <a:t>Desulfotomaculum</a:t>
            </a:r>
            <a:endParaRPr lang="en-US" dirty="0"/>
          </a:p>
        </p:txBody>
      </p:sp>
      <p:sp>
        <p:nvSpPr>
          <p:cNvPr id="3" name="Content Placeholder 2"/>
          <p:cNvSpPr>
            <a:spLocks noGrp="1"/>
          </p:cNvSpPr>
          <p:nvPr>
            <p:ph sz="half" idx="1"/>
          </p:nvPr>
        </p:nvSpPr>
        <p:spPr>
          <a:xfrm>
            <a:off x="152400" y="990601"/>
            <a:ext cx="8839200" cy="2438400"/>
          </a:xfrm>
        </p:spPr>
        <p:txBody>
          <a:bodyPr>
            <a:normAutofit fontScale="85000" lnSpcReduction="20000"/>
          </a:bodyPr>
          <a:lstStyle/>
          <a:p>
            <a:r>
              <a:rPr lang="en-US" dirty="0"/>
              <a:t>Endospore forming </a:t>
            </a:r>
            <a:br>
              <a:rPr lang="en-US" dirty="0"/>
            </a:br>
            <a:endParaRPr lang="en-US" dirty="0"/>
          </a:p>
          <a:p>
            <a:r>
              <a:rPr lang="en-US" dirty="0"/>
              <a:t>Reduces sulfate and sulfite to hydrogen sulfide during anaerobic respiration</a:t>
            </a:r>
            <a:br>
              <a:rPr lang="en-US" dirty="0"/>
            </a:br>
            <a:endParaRPr lang="en-US" dirty="0"/>
          </a:p>
          <a:p>
            <a:r>
              <a:rPr lang="en-US" dirty="0"/>
              <a:t>Stains Gram-negative but in electron micrographs is seen to have a Gram-positive cell wall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pic>
        <p:nvPicPr>
          <p:cNvPr id="7170" name="Picture 2" descr="Phase contrast of Desulfotomaculum acetoxidans showing endospores as bright spheres." title="Figure 23.6 Desulfotomaculum."/>
          <p:cNvPicPr>
            <a:picLocks noChangeAspect="1" noChangeArrowheads="1"/>
          </p:cNvPicPr>
          <p:nvPr/>
        </p:nvPicPr>
        <p:blipFill>
          <a:blip r:embed="rId2" cstate="print"/>
          <a:srcRect/>
          <a:stretch>
            <a:fillRect/>
          </a:stretch>
        </p:blipFill>
        <p:spPr bwMode="auto">
          <a:xfrm>
            <a:off x="2132789" y="3200400"/>
            <a:ext cx="4406934" cy="3464530"/>
          </a:xfrm>
          <a:prstGeom prst="rect">
            <a:avLst/>
          </a:prstGeom>
          <a:noFill/>
        </p:spPr>
      </p:pic>
    </p:spTree>
    <p:extLst>
      <p:ext uri="{BB962C8B-B14F-4D97-AF65-F5344CB8AC3E}">
        <p14:creationId xmlns:p14="http://schemas.microsoft.com/office/powerpoint/2010/main" val="335579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Genera</a:t>
            </a:r>
            <a:r>
              <a:rPr lang="en-US" i="1" dirty="0"/>
              <a:t> </a:t>
            </a:r>
            <a:r>
              <a:rPr lang="en-US" i="1" dirty="0" err="1"/>
              <a:t>Heliobacterium</a:t>
            </a:r>
            <a:r>
              <a:rPr lang="en-US" i="1" dirty="0"/>
              <a:t> </a:t>
            </a:r>
            <a:r>
              <a:rPr lang="en-US" dirty="0"/>
              <a:t>and </a:t>
            </a:r>
            <a:r>
              <a:rPr lang="en-US" i="1" dirty="0" err="1"/>
              <a:t>Heliophilum</a:t>
            </a:r>
            <a:endParaRPr lang="en-US" dirty="0"/>
          </a:p>
        </p:txBody>
      </p:sp>
      <p:sp>
        <p:nvSpPr>
          <p:cNvPr id="3" name="Content Placeholder 2"/>
          <p:cNvSpPr>
            <a:spLocks noGrp="1"/>
          </p:cNvSpPr>
          <p:nvPr>
            <p:ph idx="1"/>
          </p:nvPr>
        </p:nvSpPr>
        <p:spPr>
          <a:xfrm>
            <a:off x="457200" y="1524000"/>
            <a:ext cx="8229600" cy="4602163"/>
          </a:xfrm>
        </p:spPr>
        <p:txBody>
          <a:bodyPr/>
          <a:lstStyle/>
          <a:p>
            <a:pPr>
              <a:spcBef>
                <a:spcPts val="600"/>
              </a:spcBef>
            </a:pPr>
            <a:r>
              <a:rPr lang="en-US" dirty="0"/>
              <a:t>Anaerobic, photosynthetic</a:t>
            </a:r>
          </a:p>
          <a:p>
            <a:pPr lvl="1">
              <a:spcBef>
                <a:spcPts val="600"/>
              </a:spcBef>
            </a:pPr>
            <a:r>
              <a:rPr lang="en-US" dirty="0"/>
              <a:t>bacteriochlorophyll </a:t>
            </a:r>
            <a:r>
              <a:rPr lang="en-US" i="1" dirty="0"/>
              <a:t>g</a:t>
            </a:r>
          </a:p>
          <a:p>
            <a:pPr lvl="1">
              <a:spcBef>
                <a:spcPts val="600"/>
              </a:spcBef>
            </a:pPr>
            <a:r>
              <a:rPr lang="en-US" dirty="0"/>
              <a:t>have photosystem similar to green sulfur bacteria</a:t>
            </a:r>
          </a:p>
          <a:p>
            <a:pPr lvl="1">
              <a:spcBef>
                <a:spcPts val="600"/>
              </a:spcBef>
            </a:pPr>
            <a:r>
              <a:rPr lang="en-US" dirty="0"/>
              <a:t>pigments in plasma membrane</a:t>
            </a:r>
          </a:p>
          <a:p>
            <a:pPr lvl="1">
              <a:spcBef>
                <a:spcPts val="600"/>
              </a:spcBef>
            </a:pPr>
            <a:r>
              <a:rPr lang="en-US" dirty="0"/>
              <a:t>differ from anoxygenic photosynthetic bacteria in that they </a:t>
            </a:r>
            <a:r>
              <a:rPr lang="en-US" dirty="0">
                <a:solidFill>
                  <a:srgbClr val="FF0000"/>
                </a:solidFill>
              </a:rPr>
              <a:t>cannot </a:t>
            </a:r>
            <a:r>
              <a:rPr lang="en-US" dirty="0"/>
              <a:t>grow </a:t>
            </a:r>
            <a:r>
              <a:rPr lang="en-US" dirty="0" err="1"/>
              <a:t>autotropically</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spTree>
    <p:extLst>
      <p:ext uri="{BB962C8B-B14F-4D97-AF65-F5344CB8AC3E}">
        <p14:creationId xmlns:p14="http://schemas.microsoft.com/office/powerpoint/2010/main" val="2138873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Electron Transfer in </a:t>
            </a:r>
            <a:r>
              <a:rPr lang="en-US" i="1" dirty="0" err="1"/>
              <a:t>Heliobacterium</a:t>
            </a:r>
            <a:endParaRPr lang="en-US" i="1"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13</a:t>
            </a:fld>
            <a:endParaRPr lang="en-US"/>
          </a:p>
        </p:txBody>
      </p:sp>
      <p:pic>
        <p:nvPicPr>
          <p:cNvPr id="8194" name="Picture 2" descr="Genes encoding all subunits of NADH:quinone oxidoreductase are present on the H. modesticaldum genome. This suggests that electrons flow from NADH to the NADH:menaquinonone oxidoreductase, to cytochrome bc complex, which in turn reduces a 2Fe-2S subunit and cytochrome bL. Electrons from cytochrome bc can be transferred via cytochrome c553 to the reaction center primary electron donor P798. Based on similarities between the heliobacterial reaction center and photosystem I in other anoxygenic photosynthetic bacteria, it is hypothesized that a proton motive force is generated by cyclic electron flow." title="Figure 23.7 Electron Transfer in Heliobacterium modesticaldum."/>
          <p:cNvPicPr>
            <a:picLocks noChangeAspect="1" noChangeArrowheads="1"/>
          </p:cNvPicPr>
          <p:nvPr/>
        </p:nvPicPr>
        <p:blipFill>
          <a:blip r:embed="rId2" cstate="print"/>
          <a:srcRect/>
          <a:stretch>
            <a:fillRect/>
          </a:stretch>
        </p:blipFill>
        <p:spPr bwMode="auto">
          <a:xfrm>
            <a:off x="992188" y="1103313"/>
            <a:ext cx="7159625" cy="5373687"/>
          </a:xfrm>
          <a:prstGeom prst="rect">
            <a:avLst/>
          </a:prstGeom>
          <a:noFill/>
        </p:spPr>
      </p:pic>
    </p:spTree>
    <p:extLst>
      <p:ext uri="{BB962C8B-B14F-4D97-AF65-F5344CB8AC3E}">
        <p14:creationId xmlns:p14="http://schemas.microsoft.com/office/powerpoint/2010/main" val="4099963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23.2 Class </a:t>
            </a:r>
            <a:r>
              <a:rPr lang="en-US" i="1" dirty="0" err="1"/>
              <a:t>Negativicutes</a:t>
            </a:r>
            <a:r>
              <a:rPr lang="en-US" dirty="0"/>
              <a:t>: Gram-Positive Bacteria with Outer Membranes</a:t>
            </a:r>
          </a:p>
        </p:txBody>
      </p:sp>
      <p:sp>
        <p:nvSpPr>
          <p:cNvPr id="3" name="Content Placeholder 2"/>
          <p:cNvSpPr>
            <a:spLocks noGrp="1"/>
          </p:cNvSpPr>
          <p:nvPr>
            <p:ph idx="1"/>
          </p:nvPr>
        </p:nvSpPr>
        <p:spPr/>
        <p:txBody>
          <a:bodyPr/>
          <a:lstStyle/>
          <a:p>
            <a:pPr marL="514350" indent="-514350">
              <a:buFont typeface="+mj-lt"/>
              <a:buAutoNum type="arabicPeriod"/>
            </a:pPr>
            <a:r>
              <a:rPr lang="en-US" dirty="0"/>
              <a:t>Explain why these bacteria are considered Gram-positive despite possessing outer membranes</a:t>
            </a:r>
            <a:br>
              <a:rPr lang="en-US" dirty="0"/>
            </a:br>
            <a:endParaRPr lang="en-US" dirty="0"/>
          </a:p>
          <a:p>
            <a:pPr marL="514350" indent="-514350">
              <a:buFont typeface="+mj-lt"/>
              <a:buAutoNum type="arabicPeriod"/>
            </a:pPr>
            <a:r>
              <a:rPr lang="en-US" dirty="0"/>
              <a:t>Discuss why new taxonomic ranks must be developed</a:t>
            </a:r>
            <a:br>
              <a:rPr lang="en-US" dirty="0"/>
            </a:br>
            <a:endParaRPr lang="en-US" dirty="0"/>
          </a:p>
          <a:p>
            <a:pPr marL="514350" indent="-514350">
              <a:buFont typeface="+mj-lt"/>
              <a:buAutoNum type="arabicPeriod"/>
            </a:pPr>
            <a:r>
              <a:rPr lang="en-US" dirty="0"/>
              <a:t>Identify the location where </a:t>
            </a:r>
            <a:r>
              <a:rPr lang="en-US" i="1" dirty="0" err="1"/>
              <a:t>Veillonella</a:t>
            </a:r>
            <a:r>
              <a:rPr lang="en-US" dirty="0"/>
              <a:t> spp. might be found on your body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spTree>
    <p:extLst>
      <p:ext uri="{BB962C8B-B14F-4D97-AF65-F5344CB8AC3E}">
        <p14:creationId xmlns:p14="http://schemas.microsoft.com/office/powerpoint/2010/main" val="1593820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19200"/>
          </a:xfrm>
        </p:spPr>
        <p:txBody>
          <a:bodyPr>
            <a:normAutofit/>
          </a:bodyPr>
          <a:lstStyle/>
          <a:p>
            <a:r>
              <a:rPr lang="en-US" dirty="0"/>
              <a:t>Gram-Positive Microbes with an Outer Membrane</a:t>
            </a:r>
          </a:p>
        </p:txBody>
      </p:sp>
      <p:sp>
        <p:nvSpPr>
          <p:cNvPr id="3" name="Content Placeholder 2"/>
          <p:cNvSpPr>
            <a:spLocks noGrp="1"/>
          </p:cNvSpPr>
          <p:nvPr>
            <p:ph idx="1"/>
          </p:nvPr>
        </p:nvSpPr>
        <p:spPr>
          <a:xfrm>
            <a:off x="152400" y="1447800"/>
            <a:ext cx="8839200" cy="5105400"/>
          </a:xfrm>
        </p:spPr>
        <p:txBody>
          <a:bodyPr>
            <a:normAutofit lnSpcReduction="10000"/>
          </a:bodyPr>
          <a:lstStyle/>
          <a:p>
            <a:r>
              <a:rPr lang="en-US" i="1" dirty="0" err="1"/>
              <a:t>Negativicoccus</a:t>
            </a:r>
            <a:r>
              <a:rPr lang="en-US" i="1" dirty="0"/>
              <a:t> </a:t>
            </a:r>
            <a:r>
              <a:rPr lang="en-US" i="1" dirty="0" err="1"/>
              <a:t>succinicivorans</a:t>
            </a:r>
            <a:r>
              <a:rPr lang="en-US" i="1" dirty="0"/>
              <a:t> </a:t>
            </a:r>
            <a:r>
              <a:rPr lang="en-US" dirty="0"/>
              <a:t>was isolated from human skin and soft-tissue wounds in 2010</a:t>
            </a:r>
            <a:br>
              <a:rPr lang="en-US" dirty="0"/>
            </a:br>
            <a:endParaRPr lang="en-US" dirty="0"/>
          </a:p>
          <a:p>
            <a:pPr lvl="1"/>
            <a:r>
              <a:rPr lang="en-US" dirty="0"/>
              <a:t>Possesses an outer membrane similar to Gram-negative microbes</a:t>
            </a:r>
            <a:br>
              <a:rPr lang="en-US" dirty="0"/>
            </a:br>
            <a:endParaRPr lang="en-US" dirty="0"/>
          </a:p>
          <a:p>
            <a:pPr lvl="1"/>
            <a:r>
              <a:rPr lang="en-US" dirty="0"/>
              <a:t>16S </a:t>
            </a:r>
            <a:r>
              <a:rPr lang="en-US" dirty="0" err="1"/>
              <a:t>rRNA</a:t>
            </a:r>
            <a:r>
              <a:rPr lang="en-US" dirty="0"/>
              <a:t> sequences are more similar to Gram-positive microbes of </a:t>
            </a:r>
            <a:r>
              <a:rPr lang="en-US" i="1" dirty="0" err="1"/>
              <a:t>Veillonellaceae</a:t>
            </a:r>
            <a:r>
              <a:rPr lang="en-US" dirty="0"/>
              <a:t> family</a:t>
            </a:r>
            <a:br>
              <a:rPr lang="en-US" dirty="0"/>
            </a:br>
            <a:endParaRPr lang="en-US" dirty="0"/>
          </a:p>
          <a:p>
            <a:pPr lvl="1"/>
            <a:r>
              <a:rPr lang="en-US" dirty="0"/>
              <a:t>This microbe belongs to the new class </a:t>
            </a:r>
            <a:r>
              <a:rPr lang="en-US" i="1" dirty="0" err="1"/>
              <a:t>Negativicutes</a:t>
            </a:r>
            <a:r>
              <a:rPr lang="en-US" dirty="0"/>
              <a:t> and order </a:t>
            </a:r>
            <a:r>
              <a:rPr lang="en-US" i="1" dirty="0" err="1"/>
              <a:t>Selenomonadales</a:t>
            </a:r>
            <a:endParaRPr lang="en-US" i="1" dirty="0"/>
          </a:p>
          <a:p>
            <a:pPr lvl="2"/>
            <a:r>
              <a:rPr lang="en-US" dirty="0"/>
              <a:t>Two existing families, </a:t>
            </a:r>
            <a:r>
              <a:rPr lang="en-US" i="1" dirty="0" err="1"/>
              <a:t>Acidaminococcaceae</a:t>
            </a:r>
            <a:r>
              <a:rPr lang="en-US" dirty="0"/>
              <a:t> and </a:t>
            </a:r>
            <a:r>
              <a:rPr lang="en-US" i="1" dirty="0" err="1"/>
              <a:t>Veillonellaceae</a:t>
            </a:r>
            <a:r>
              <a:rPr lang="en-US" dirty="0"/>
              <a:t>, were then assigned to this new order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spTree>
    <p:extLst>
      <p:ext uri="{BB962C8B-B14F-4D97-AF65-F5344CB8AC3E}">
        <p14:creationId xmlns:p14="http://schemas.microsoft.com/office/powerpoint/2010/main" val="3618511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a:t>Genus </a:t>
            </a:r>
            <a:r>
              <a:rPr lang="en-US" i="1" dirty="0" err="1"/>
              <a:t>Veillonella</a:t>
            </a:r>
            <a:endParaRPr lang="en-US" dirty="0"/>
          </a:p>
        </p:txBody>
      </p:sp>
      <p:sp>
        <p:nvSpPr>
          <p:cNvPr id="3" name="Content Placeholder 2"/>
          <p:cNvSpPr>
            <a:spLocks noGrp="1"/>
          </p:cNvSpPr>
          <p:nvPr>
            <p:ph sz="half" idx="1"/>
          </p:nvPr>
        </p:nvSpPr>
        <p:spPr>
          <a:xfrm>
            <a:off x="152400" y="990601"/>
            <a:ext cx="8839200" cy="2819400"/>
          </a:xfrm>
        </p:spPr>
        <p:txBody>
          <a:bodyPr>
            <a:normAutofit fontScale="92500" lnSpcReduction="10000"/>
          </a:bodyPr>
          <a:lstStyle/>
          <a:p>
            <a:r>
              <a:rPr lang="en-US" dirty="0"/>
              <a:t>Anaerobic, chemoheterotrophic </a:t>
            </a:r>
          </a:p>
          <a:p>
            <a:pPr lvl="1"/>
            <a:r>
              <a:rPr lang="en-US" dirty="0"/>
              <a:t>all have complex nutritional requirements</a:t>
            </a:r>
            <a:br>
              <a:rPr lang="en-US" dirty="0"/>
            </a:br>
            <a:endParaRPr lang="en-US" dirty="0"/>
          </a:p>
          <a:p>
            <a:r>
              <a:rPr lang="en-US" dirty="0"/>
              <a:t>Normal biota of mouth, GI tract, urogenital tract of humans and animals</a:t>
            </a:r>
            <a:br>
              <a:rPr lang="en-US" dirty="0"/>
            </a:br>
            <a:endParaRPr lang="en-US" dirty="0"/>
          </a:p>
          <a:p>
            <a:r>
              <a:rPr lang="en-US" dirty="0"/>
              <a:t>Found in infections of head, lung, female genital tract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pic>
        <p:nvPicPr>
          <p:cNvPr id="9218" name="Picture 2" descr="Header Row: Genus; Dimensions (μm), Morphology, and Motility; Genome Size (Mb); Oxygen Relationship; Other Distinctive Characteristics&#10;Veillonella; 0.3–0.5, cocci in pairs, short chains, and masses, nonmotile; 2.8; Anaerobic; Pyruvate and lactate fermented but not carbohydrates, parasitic in mouths, intestines, and respiratory tracts of animals&#10;Megasphaera; 1.7-2.6, cocci, nonmotile; 1.8-2.6; Anaerobic; Ferment a variety of carbohydrates, including lactate, isolated from mouths, intestines of animals, and spoiled beer&#10;Negativicoccus; 0.4, cocci, nonmotile; 1.45; Anaerobic and microaerophilic; Isolated from human skin and soft-tissue wounds, ferments succinate to acetate and propionate" title="Table 23.1 Characteristics of Selected Members of the Class Clostridia"/>
          <p:cNvPicPr>
            <a:picLocks noChangeAspect="1" noChangeArrowheads="1"/>
          </p:cNvPicPr>
          <p:nvPr/>
        </p:nvPicPr>
        <p:blipFill>
          <a:blip r:embed="rId2" cstate="print"/>
          <a:srcRect/>
          <a:stretch>
            <a:fillRect/>
          </a:stretch>
        </p:blipFill>
        <p:spPr bwMode="auto">
          <a:xfrm>
            <a:off x="557202" y="3810000"/>
            <a:ext cx="8029598" cy="2606146"/>
          </a:xfrm>
          <a:prstGeom prst="rect">
            <a:avLst/>
          </a:prstGeom>
          <a:noFill/>
        </p:spPr>
      </p:pic>
    </p:spTree>
    <p:extLst>
      <p:ext uri="{BB962C8B-B14F-4D97-AF65-F5344CB8AC3E}">
        <p14:creationId xmlns:p14="http://schemas.microsoft.com/office/powerpoint/2010/main" val="2963385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r>
              <a:rPr lang="en-US" dirty="0"/>
              <a:t>23.3 Class </a:t>
            </a:r>
            <a:r>
              <a:rPr lang="en-US" i="1" dirty="0"/>
              <a:t>Bacilli</a:t>
            </a:r>
            <a:r>
              <a:rPr lang="en-US" dirty="0"/>
              <a:t>: Aerobic Endospore-Forming Bacteria</a:t>
            </a:r>
          </a:p>
        </p:txBody>
      </p:sp>
      <p:sp>
        <p:nvSpPr>
          <p:cNvPr id="3" name="Content Placeholder 2"/>
          <p:cNvSpPr>
            <a:spLocks noGrp="1"/>
          </p:cNvSpPr>
          <p:nvPr>
            <p:ph idx="1"/>
          </p:nvPr>
        </p:nvSpPr>
        <p:spPr>
          <a:xfrm>
            <a:off x="152400" y="1219200"/>
            <a:ext cx="8839200" cy="5562600"/>
          </a:xfrm>
        </p:spPr>
        <p:txBody>
          <a:bodyPr>
            <a:normAutofit/>
          </a:bodyPr>
          <a:lstStyle/>
          <a:p>
            <a:pPr marL="514350" indent="-514350">
              <a:buFont typeface="+mj-lt"/>
              <a:buAutoNum type="arabicPeriod"/>
            </a:pPr>
            <a:r>
              <a:rPr lang="en-US" dirty="0"/>
              <a:t>List terminal electron acceptors and fermentation products produced by </a:t>
            </a:r>
            <a:r>
              <a:rPr lang="en-US" i="1" dirty="0"/>
              <a:t>Bacillus</a:t>
            </a:r>
            <a:r>
              <a:rPr lang="en-US" dirty="0"/>
              <a:t> spp. and staphylococci</a:t>
            </a:r>
            <a:br>
              <a:rPr lang="en-US" dirty="0"/>
            </a:br>
            <a:endParaRPr lang="en-US" dirty="0"/>
          </a:p>
          <a:p>
            <a:pPr marL="514350" indent="-514350">
              <a:buFont typeface="+mj-lt"/>
              <a:buAutoNum type="arabicPeriod"/>
            </a:pPr>
            <a:r>
              <a:rPr lang="en-US" dirty="0"/>
              <a:t>Discuss reasons that make </a:t>
            </a:r>
            <a:r>
              <a:rPr lang="en-US" i="1" dirty="0"/>
              <a:t>Bacillus subtilis </a:t>
            </a:r>
            <a:r>
              <a:rPr lang="en-US" dirty="0"/>
              <a:t>an important model organism</a:t>
            </a:r>
            <a:br>
              <a:rPr lang="en-US" dirty="0"/>
            </a:br>
            <a:endParaRPr lang="en-US" dirty="0"/>
          </a:p>
          <a:p>
            <a:pPr marL="514350" indent="-514350">
              <a:buFont typeface="+mj-lt"/>
              <a:buAutoNum type="arabicPeriod"/>
            </a:pPr>
            <a:r>
              <a:rPr lang="en-US" dirty="0"/>
              <a:t>List three reasons why </a:t>
            </a:r>
            <a:r>
              <a:rPr lang="en-US" i="1" dirty="0"/>
              <a:t>Bacillus</a:t>
            </a:r>
            <a:r>
              <a:rPr lang="en-US" dirty="0"/>
              <a:t> spp. are of practical importance</a:t>
            </a:r>
            <a:br>
              <a:rPr lang="en-US" dirty="0"/>
            </a:br>
            <a:endParaRPr lang="en-US" dirty="0"/>
          </a:p>
          <a:p>
            <a:pPr marL="514350" indent="-514350">
              <a:buFont typeface="+mj-lt"/>
              <a:buAutoNum type="arabicPeriod"/>
            </a:pPr>
            <a:r>
              <a:rPr lang="en-US" dirty="0"/>
              <a:t>Summarize the evolution and emergence of MRSA, and list at least two diseases caused by </a:t>
            </a:r>
            <a:r>
              <a:rPr lang="en-US" i="1" dirty="0"/>
              <a:t>Staphylococcus aureus</a:t>
            </a:r>
          </a:p>
          <a:p>
            <a:pPr marL="0" indent="0">
              <a:buNone/>
            </a:pP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spTree>
    <p:extLst>
      <p:ext uri="{BB962C8B-B14F-4D97-AF65-F5344CB8AC3E}">
        <p14:creationId xmlns:p14="http://schemas.microsoft.com/office/powerpoint/2010/main" val="25309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23.3 Class </a:t>
            </a:r>
            <a:r>
              <a:rPr lang="en-US" i="1" dirty="0"/>
              <a:t>Bacilli</a:t>
            </a:r>
            <a:r>
              <a:rPr lang="en-US" dirty="0"/>
              <a:t>: Aerobic Endospore-Forming Bacteria, (continued)</a:t>
            </a:r>
          </a:p>
        </p:txBody>
      </p:sp>
      <p:sp>
        <p:nvSpPr>
          <p:cNvPr id="6" name="Content Placeholder 5"/>
          <p:cNvSpPr>
            <a:spLocks noGrp="1"/>
          </p:cNvSpPr>
          <p:nvPr>
            <p:ph sz="half" idx="1"/>
          </p:nvPr>
        </p:nvSpPr>
        <p:spPr>
          <a:xfrm>
            <a:off x="457200" y="1600200"/>
            <a:ext cx="8229600" cy="4953000"/>
          </a:xfrm>
        </p:spPr>
        <p:txBody>
          <a:bodyPr>
            <a:normAutofit/>
          </a:bodyPr>
          <a:lstStyle/>
          <a:p>
            <a:pPr marL="514350" indent="-514350">
              <a:buFont typeface="+mj-lt"/>
              <a:buAutoNum type="arabicPeriod" startAt="5"/>
            </a:pPr>
            <a:r>
              <a:rPr lang="en-US" sz="2600" dirty="0"/>
              <a:t>Describe the structure and medical importance of </a:t>
            </a:r>
            <a:r>
              <a:rPr lang="en-US" sz="2600" i="1" dirty="0"/>
              <a:t>Listeria monocytogenes</a:t>
            </a:r>
            <a:br>
              <a:rPr lang="en-US" sz="2600" i="1" dirty="0"/>
            </a:br>
            <a:endParaRPr lang="en-US" sz="2600" i="1" dirty="0"/>
          </a:p>
          <a:p>
            <a:pPr marL="514350" indent="-514350">
              <a:buFont typeface="+mj-lt"/>
              <a:buAutoNum type="arabicPeriod" startAt="5"/>
            </a:pPr>
            <a:r>
              <a:rPr lang="en-US" sz="2600" dirty="0"/>
              <a:t>Identify the genera that are considered lactic acid bacteria, and discuss their importance in the food industry</a:t>
            </a:r>
            <a:br>
              <a:rPr lang="en-US" sz="2600" dirty="0"/>
            </a:br>
            <a:endParaRPr lang="en-US" sz="2600" dirty="0"/>
          </a:p>
          <a:p>
            <a:pPr marL="514350" indent="-514350">
              <a:buFont typeface="+mj-lt"/>
              <a:buAutoNum type="arabicPeriod" startAt="5"/>
            </a:pPr>
            <a:r>
              <a:rPr lang="en-US" sz="2600" dirty="0"/>
              <a:t>Distinguish between enterococci and streptococci</a:t>
            </a:r>
            <a:br>
              <a:rPr lang="en-US" sz="2600" dirty="0"/>
            </a:br>
            <a:endParaRPr lang="en-US" sz="2600" dirty="0"/>
          </a:p>
          <a:p>
            <a:pPr marL="514350" indent="-514350">
              <a:buFont typeface="+mj-lt"/>
              <a:buAutoNum type="arabicPeriod" startAt="5"/>
            </a:pPr>
            <a:r>
              <a:rPr lang="en-US" sz="2600" dirty="0"/>
              <a:t>Name bacterial genera capable of hemolysis, and differentiate between </a:t>
            </a:r>
            <a:r>
              <a:rPr lang="el-GR" sz="2600" dirty="0"/>
              <a:t>α</a:t>
            </a:r>
            <a:r>
              <a:rPr lang="en-US" sz="2600" dirty="0"/>
              <a:t>-hemolysis and </a:t>
            </a:r>
            <a:r>
              <a:rPr lang="el-GR" sz="2600" dirty="0"/>
              <a:t>β</a:t>
            </a:r>
            <a:r>
              <a:rPr lang="en-US" sz="2600" dirty="0"/>
              <a:t>-hemolysis</a:t>
            </a:r>
          </a:p>
          <a:p>
            <a:pPr marL="514350" indent="-514350">
              <a:buFont typeface="+mj-lt"/>
              <a:buAutoNum type="arabicPeriod" startAt="5"/>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spTree>
    <p:extLst>
      <p:ext uri="{BB962C8B-B14F-4D97-AF65-F5344CB8AC3E}">
        <p14:creationId xmlns:p14="http://schemas.microsoft.com/office/powerpoint/2010/main" val="1747406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2819400" cy="1143000"/>
          </a:xfrm>
        </p:spPr>
        <p:txBody>
          <a:bodyPr/>
          <a:lstStyle/>
          <a:p>
            <a:r>
              <a:rPr lang="en-US" dirty="0"/>
              <a:t>Class </a:t>
            </a:r>
            <a:r>
              <a:rPr lang="en-US" i="1" dirty="0"/>
              <a:t>Bacilli</a:t>
            </a:r>
          </a:p>
        </p:txBody>
      </p:sp>
      <p:sp>
        <p:nvSpPr>
          <p:cNvPr id="3" name="Content Placeholder 2"/>
          <p:cNvSpPr>
            <a:spLocks noGrp="1"/>
          </p:cNvSpPr>
          <p:nvPr>
            <p:ph sz="half" idx="1"/>
          </p:nvPr>
        </p:nvSpPr>
        <p:spPr>
          <a:xfrm>
            <a:off x="76200" y="1600200"/>
            <a:ext cx="2819400" cy="5105400"/>
          </a:xfrm>
        </p:spPr>
        <p:txBody>
          <a:bodyPr>
            <a:normAutofit lnSpcReduction="10000"/>
          </a:bodyPr>
          <a:lstStyle/>
          <a:p>
            <a:r>
              <a:rPr lang="en-US" dirty="0"/>
              <a:t>Large variety of Gram-positive organisms</a:t>
            </a:r>
            <a:br>
              <a:rPr lang="en-US" dirty="0"/>
            </a:br>
            <a:endParaRPr lang="en-US" dirty="0"/>
          </a:p>
          <a:p>
            <a:r>
              <a:rPr lang="en-US" dirty="0"/>
              <a:t>Contains two orders, </a:t>
            </a:r>
            <a:r>
              <a:rPr lang="en-US" i="1" dirty="0" err="1"/>
              <a:t>Bacillales</a:t>
            </a:r>
            <a:r>
              <a:rPr lang="en-US" dirty="0"/>
              <a:t> and </a:t>
            </a:r>
            <a:r>
              <a:rPr lang="en-US" i="1" dirty="0" err="1"/>
              <a:t>Lactobacillales</a:t>
            </a:r>
            <a:endParaRPr lang="en-US" sz="3200" dirty="0"/>
          </a:p>
          <a:p>
            <a:pPr lvl="1"/>
            <a:r>
              <a:rPr lang="en-US" dirty="0"/>
              <a:t>includes cocci, rods, and </a:t>
            </a:r>
            <a:r>
              <a:rPr lang="en-US" dirty="0" err="1"/>
              <a:t>nonspore</a:t>
            </a:r>
            <a:r>
              <a:rPr lang="en-US" dirty="0"/>
              <a:t> forming rods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pic>
        <p:nvPicPr>
          <p:cNvPr id="10242" name="Picture 2" descr="Header Row: Genus; Dimensions (μm), Morphology, and Motility; Genome Size (Mb); Oxygen Relationship; Other Distinctive Characteristics&#10;Bacillus; 0.5–2.5 × 1.2–10, straight rods, peritrichous flagella, spore-forming; 4.2–5.4; Aerobic or facultative; Catalase positive, chemoorganotrophic&#10;Caryophanon; 1.5–3.0 × 10–20, multicellular rods with rounded ends, peritrichous flagella, nonsporing; not yet determined; Aerobic; Acetate only major carbon source, catalase positive, trichome cells have greater width than length, trichomes can be in short chains&#10;Enterococcus; 0.6–2.0 × 0.6–2.5, spherical or ovoid cells in pairs or short chains, nonsporing, sometimes motile; 3.2; Aerotolerant; Ferment carbohydrates to lactate with no gas, complex nutritional requirements, catalase negative, occur widely, particularly in fecal material&#10;Lactobacillus; 0.5–1.2 × 1.0–10, usually long, regular rods, nonsporing, rarely motile; 1.9–3.3; Facultative or microaerophilic; Fermentative, at least half the end product is lactate, require rich, complex media, catalase and cytochrome negative&#10;Lactococcus; 0.5–1.2 × 0.5–1.5, spherical or ovoid cells in pairs or short chains, nonsporing, nonmotile; 2.4; Aerotolerant; Chemoorganotrophic with fermentative metabolism, lactate without gas produced, catalase negative, complex nutritional requirements, in dairy and plant products&#10;Leuconostoc; 0.5–0.7 × 0.7–1.2, cells spherical or ovoid, in pairs or chains, nonmotile and nonsporing; not yet determined; Facultative; Require fermentable carbohydrate and nutritionally rich medium for growth, fermentation produces lactate, ethanol, and gas, catalase and cytochrome negative&#10;Staphylococcus; 0.9–1.3, spherical cells occurring singly and in irregular clusters, nonmotile and nonsporing; 2.5–2.8; Facultative; Chemoorganotrophic with both respiratory and fermentative metabolism, usually catalase positive, associated with skin and mucous membranes of vertebrates&#10;Streptococcus; 0.5–2.0, spherical or ovoid cells in pairs or chains, nonmotile and nonsporing; 1.8–2.2; Aerotolerant; Fermentative, producing mainly lactate and no gas, catalase negative, commonly attack red blood cells (α- or β-hemolysis), complex nutritional requirements, commensals or parasites on animals&#10;Thermoactinomyces; 0.4–1.0 in diameter, branched, septate mycelium resembles those of actinomycetes; not yet determined; Aerobic; Usually thermophilic, true endospores form singly on hyphae, numerous in decaying hay, vegetable matter, and compost" title="Table 23.3 Characteristics of Members of the Class Bacilli"/>
          <p:cNvPicPr>
            <a:picLocks noChangeAspect="1" noChangeArrowheads="1"/>
          </p:cNvPicPr>
          <p:nvPr/>
        </p:nvPicPr>
        <p:blipFill>
          <a:blip r:embed="rId2" cstate="print"/>
          <a:srcRect/>
          <a:stretch>
            <a:fillRect/>
          </a:stretch>
        </p:blipFill>
        <p:spPr bwMode="auto">
          <a:xfrm>
            <a:off x="2971800" y="813078"/>
            <a:ext cx="5867400" cy="5231843"/>
          </a:xfrm>
          <a:prstGeom prst="rect">
            <a:avLst/>
          </a:prstGeom>
          <a:noFill/>
        </p:spPr>
      </p:pic>
    </p:spTree>
    <p:extLst>
      <p:ext uri="{BB962C8B-B14F-4D97-AF65-F5344CB8AC3E}">
        <p14:creationId xmlns:p14="http://schemas.microsoft.com/office/powerpoint/2010/main" val="4159368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Genus </a:t>
            </a:r>
            <a:r>
              <a:rPr lang="en-US" i="1" dirty="0"/>
              <a:t>Bacillus</a:t>
            </a:r>
          </a:p>
        </p:txBody>
      </p:sp>
      <p:sp>
        <p:nvSpPr>
          <p:cNvPr id="3" name="Content Placeholder 2"/>
          <p:cNvSpPr>
            <a:spLocks noGrp="1"/>
          </p:cNvSpPr>
          <p:nvPr>
            <p:ph sz="half" idx="1"/>
          </p:nvPr>
        </p:nvSpPr>
        <p:spPr>
          <a:xfrm>
            <a:off x="152400" y="3657600"/>
            <a:ext cx="8839200" cy="3048000"/>
          </a:xfrm>
        </p:spPr>
        <p:txBody>
          <a:bodyPr>
            <a:normAutofit fontScale="77500" lnSpcReduction="20000"/>
          </a:bodyPr>
          <a:lstStyle/>
          <a:p>
            <a:r>
              <a:rPr lang="en-US" dirty="0"/>
              <a:t>Largest in order </a:t>
            </a:r>
            <a:r>
              <a:rPr lang="en-US" i="1" dirty="0" err="1"/>
              <a:t>Bacillales</a:t>
            </a:r>
            <a:br>
              <a:rPr lang="en-US" i="1" dirty="0"/>
            </a:br>
            <a:endParaRPr lang="en-US" i="1" dirty="0"/>
          </a:p>
          <a:p>
            <a:r>
              <a:rPr lang="en-US" dirty="0"/>
              <a:t>Motile, </a:t>
            </a:r>
            <a:r>
              <a:rPr lang="en-US" dirty="0" err="1"/>
              <a:t>peritrichous</a:t>
            </a:r>
            <a:r>
              <a:rPr lang="en-US" dirty="0"/>
              <a:t> flagella, usually aerobic, catalase positive</a:t>
            </a:r>
            <a:br>
              <a:rPr lang="en-US" dirty="0"/>
            </a:br>
            <a:endParaRPr lang="en-US" dirty="0"/>
          </a:p>
          <a:p>
            <a:r>
              <a:rPr lang="en-US" dirty="0"/>
              <a:t>Various species produce antibiotics</a:t>
            </a:r>
            <a:br>
              <a:rPr lang="en-US" dirty="0"/>
            </a:br>
            <a:endParaRPr lang="en-US" dirty="0"/>
          </a:p>
          <a:p>
            <a:r>
              <a:rPr lang="en-US" i="1" dirty="0"/>
              <a:t>Bacillus subtilis</a:t>
            </a:r>
            <a:r>
              <a:rPr lang="en-US" dirty="0"/>
              <a:t> is type species</a:t>
            </a:r>
          </a:p>
          <a:p>
            <a:pPr lvl="1"/>
            <a:r>
              <a:rPr lang="en-US" dirty="0"/>
              <a:t>Gram-positive, facultative anaerobe</a:t>
            </a:r>
          </a:p>
          <a:p>
            <a:pPr lvl="1"/>
            <a:r>
              <a:rPr lang="en-US" dirty="0"/>
              <a:t>soil-dwelling, spore forming</a:t>
            </a:r>
          </a:p>
          <a:p>
            <a:pPr lvl="1"/>
            <a:r>
              <a:rPr lang="en-US" dirty="0"/>
              <a:t>may develop biofilms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pic>
        <p:nvPicPr>
          <p:cNvPr id="11266" name="Picture 2" descr="(a) Photo of Bacillus anthracis.  Endospores are elliptical and central. (b) Photo of B. cereus stained with SYTOX Green nucleic acid stain and viewed by epifluorescence and differential interference contrast microscopy. The cells that glow yellow are dead." title="Figure 23.8 Bacillus."/>
          <p:cNvPicPr>
            <a:picLocks noChangeAspect="1" noChangeArrowheads="1"/>
          </p:cNvPicPr>
          <p:nvPr/>
        </p:nvPicPr>
        <p:blipFill>
          <a:blip r:embed="rId2" cstate="print"/>
          <a:srcRect/>
          <a:stretch>
            <a:fillRect/>
          </a:stretch>
        </p:blipFill>
        <p:spPr bwMode="auto">
          <a:xfrm>
            <a:off x="2361935" y="883520"/>
            <a:ext cx="4420130" cy="2697880"/>
          </a:xfrm>
          <a:prstGeom prst="rect">
            <a:avLst/>
          </a:prstGeom>
          <a:noFill/>
        </p:spPr>
      </p:pic>
    </p:spTree>
    <p:extLst>
      <p:ext uri="{BB962C8B-B14F-4D97-AF65-F5344CB8AC3E}">
        <p14:creationId xmlns:p14="http://schemas.microsoft.com/office/powerpoint/2010/main" val="3310059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Biofilm Formation by </a:t>
            </a:r>
            <a:r>
              <a:rPr lang="en-US" i="1" dirty="0"/>
              <a:t>Bacillus subtilis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21</a:t>
            </a:fld>
            <a:endParaRPr lang="en-US"/>
          </a:p>
        </p:txBody>
      </p:sp>
      <p:pic>
        <p:nvPicPr>
          <p:cNvPr id="12290" name="Picture 2" descr="(a) Photo showing bacterial growth on surface of liquid in a beaker. When grown for several days without agitation in nutrient-limiting medium, Bacillus subtilis forms a hydrophobic biofilm or pellicle at the aqueous-air interface. (b) Photo of B. subtilis multicellular structures, or fruiting bodies, which form when grown on minimal-salts agar for several days. These cells are labeled so that the spores turn blue, demonstrating that spores are abundant at the tips of these structures." title="Figure 23.9 Biofilm Formation by Bacillus subtilis."/>
          <p:cNvPicPr>
            <a:picLocks noChangeAspect="1" noChangeArrowheads="1"/>
          </p:cNvPicPr>
          <p:nvPr/>
        </p:nvPicPr>
        <p:blipFill>
          <a:blip r:embed="rId2" cstate="print"/>
          <a:srcRect/>
          <a:stretch>
            <a:fillRect/>
          </a:stretch>
        </p:blipFill>
        <p:spPr bwMode="auto">
          <a:xfrm>
            <a:off x="316411" y="1295400"/>
            <a:ext cx="8511180" cy="5143500"/>
          </a:xfrm>
          <a:prstGeom prst="rect">
            <a:avLst/>
          </a:prstGeom>
          <a:noFill/>
        </p:spPr>
      </p:pic>
    </p:spTree>
    <p:extLst>
      <p:ext uri="{BB962C8B-B14F-4D97-AF65-F5344CB8AC3E}">
        <p14:creationId xmlns:p14="http://schemas.microsoft.com/office/powerpoint/2010/main" val="342005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5410200" cy="838200"/>
          </a:xfrm>
        </p:spPr>
        <p:txBody>
          <a:bodyPr/>
          <a:lstStyle/>
          <a:p>
            <a:r>
              <a:rPr lang="en-US" i="1" dirty="0"/>
              <a:t>Bacillus </a:t>
            </a:r>
            <a:r>
              <a:rPr lang="en-US" dirty="0"/>
              <a:t>species</a:t>
            </a:r>
          </a:p>
        </p:txBody>
      </p:sp>
      <p:sp>
        <p:nvSpPr>
          <p:cNvPr id="3" name="Content Placeholder 2"/>
          <p:cNvSpPr>
            <a:spLocks noGrp="1"/>
          </p:cNvSpPr>
          <p:nvPr>
            <p:ph sz="half" idx="1"/>
          </p:nvPr>
        </p:nvSpPr>
        <p:spPr>
          <a:xfrm>
            <a:off x="152400" y="914400"/>
            <a:ext cx="5334000" cy="5791200"/>
          </a:xfrm>
        </p:spPr>
        <p:txBody>
          <a:bodyPr>
            <a:normAutofit fontScale="92500" lnSpcReduction="20000"/>
          </a:bodyPr>
          <a:lstStyle/>
          <a:p>
            <a:r>
              <a:rPr lang="en-US" i="1" dirty="0"/>
              <a:t>Bacillus subtilis</a:t>
            </a:r>
          </a:p>
          <a:p>
            <a:pPr lvl="1"/>
            <a:r>
              <a:rPr lang="en-US" dirty="0"/>
              <a:t>Used as model organism for gene regulation, cell division, quorum sensing, cellular differentiation</a:t>
            </a:r>
          </a:p>
          <a:p>
            <a:pPr lvl="1"/>
            <a:r>
              <a:rPr lang="en-US" dirty="0"/>
              <a:t>4.2 Mb genome was one of first to be sequenced</a:t>
            </a:r>
          </a:p>
          <a:p>
            <a:pPr lvl="2"/>
            <a:r>
              <a:rPr lang="en-US" dirty="0"/>
              <a:t>families of genes expanded by gene duplication</a:t>
            </a:r>
          </a:p>
          <a:p>
            <a:pPr lvl="2"/>
            <a:r>
              <a:rPr lang="en-US" dirty="0"/>
              <a:t>18 genes for sigma factors</a:t>
            </a:r>
            <a:br>
              <a:rPr lang="en-US" dirty="0"/>
            </a:br>
            <a:endParaRPr lang="en-US" dirty="0"/>
          </a:p>
          <a:p>
            <a:r>
              <a:rPr lang="en-US" i="1" dirty="0"/>
              <a:t>B. cereus</a:t>
            </a:r>
            <a:r>
              <a:rPr lang="en-US" dirty="0"/>
              <a:t> – food poisoning</a:t>
            </a:r>
            <a:br>
              <a:rPr lang="en-US" dirty="0"/>
            </a:br>
            <a:endParaRPr lang="en-US" dirty="0"/>
          </a:p>
          <a:p>
            <a:r>
              <a:rPr lang="en-US" i="1" dirty="0"/>
              <a:t>B. anthracis</a:t>
            </a:r>
            <a:r>
              <a:rPr lang="en-US" dirty="0"/>
              <a:t> – anthrax</a:t>
            </a:r>
            <a:br>
              <a:rPr lang="en-US" dirty="0"/>
            </a:br>
            <a:endParaRPr lang="en-US" dirty="0"/>
          </a:p>
          <a:p>
            <a:r>
              <a:rPr lang="en-US" i="1" dirty="0"/>
              <a:t>B. thuringiensis</a:t>
            </a:r>
            <a:r>
              <a:rPr lang="en-US" dirty="0"/>
              <a:t> and </a:t>
            </a:r>
            <a:r>
              <a:rPr lang="en-US" i="1" dirty="0"/>
              <a:t>B. </a:t>
            </a:r>
            <a:r>
              <a:rPr lang="en-US" i="1" dirty="0" err="1"/>
              <a:t>sphaericus</a:t>
            </a:r>
            <a:r>
              <a:rPr lang="en-US" i="1" dirty="0"/>
              <a:t> – </a:t>
            </a:r>
            <a:r>
              <a:rPr lang="en-US" dirty="0"/>
              <a:t>used as insecticide</a:t>
            </a:r>
          </a:p>
          <a:p>
            <a:pPr lvl="1"/>
            <a:r>
              <a:rPr lang="en-US" dirty="0" err="1"/>
              <a:t>parasporal</a:t>
            </a:r>
            <a:r>
              <a:rPr lang="en-US" dirty="0"/>
              <a:t> body – solid protein crystal that contains toxin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pic>
        <p:nvPicPr>
          <p:cNvPr id="13314" name="Picture 2" descr="An electron micrograph of a Bacillus thuringiensis sporulating cell containing a parasporal crystal just beneath the endospore. A free spore is also shown." title="Figure 23.10 The Parasporal Body."/>
          <p:cNvPicPr>
            <a:picLocks noChangeAspect="1" noChangeArrowheads="1"/>
          </p:cNvPicPr>
          <p:nvPr/>
        </p:nvPicPr>
        <p:blipFill>
          <a:blip r:embed="rId2" cstate="print"/>
          <a:srcRect/>
          <a:stretch>
            <a:fillRect/>
          </a:stretch>
        </p:blipFill>
        <p:spPr bwMode="auto">
          <a:xfrm>
            <a:off x="5283200" y="1295400"/>
            <a:ext cx="3482904" cy="3901656"/>
          </a:xfrm>
          <a:prstGeom prst="rect">
            <a:avLst/>
          </a:prstGeom>
          <a:noFill/>
        </p:spPr>
      </p:pic>
    </p:spTree>
    <p:extLst>
      <p:ext uri="{BB962C8B-B14F-4D97-AF65-F5344CB8AC3E}">
        <p14:creationId xmlns:p14="http://schemas.microsoft.com/office/powerpoint/2010/main" val="3826863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Thermoactinomyces</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dirty="0"/>
              <a:t>Historically classified as </a:t>
            </a:r>
            <a:r>
              <a:rPr lang="en-US" dirty="0" err="1"/>
              <a:t>actinomycete</a:t>
            </a:r>
            <a:r>
              <a:rPr lang="en-US" dirty="0"/>
              <a:t> </a:t>
            </a:r>
            <a:br>
              <a:rPr lang="en-US" dirty="0"/>
            </a:br>
            <a:endParaRPr lang="en-US" dirty="0"/>
          </a:p>
          <a:p>
            <a:r>
              <a:rPr lang="en-US" dirty="0"/>
              <a:t>Phylogenetic analysis </a:t>
            </a:r>
          </a:p>
          <a:p>
            <a:pPr lvl="1"/>
            <a:r>
              <a:rPr lang="en-US" dirty="0"/>
              <a:t>places it with low G + C microbes in order </a:t>
            </a:r>
            <a:r>
              <a:rPr lang="en-US" i="1" dirty="0" err="1"/>
              <a:t>Bacillales</a:t>
            </a:r>
            <a:r>
              <a:rPr lang="en-US" dirty="0"/>
              <a:t>, family </a:t>
            </a:r>
            <a:r>
              <a:rPr lang="en-US" i="1" dirty="0" err="1"/>
              <a:t>Thermoactinomycetaceae</a:t>
            </a:r>
            <a:br>
              <a:rPr lang="en-US" i="1" dirty="0"/>
            </a:br>
            <a:endParaRPr lang="en-US" i="1" dirty="0"/>
          </a:p>
          <a:p>
            <a:r>
              <a:rPr lang="en-US" dirty="0"/>
              <a:t>True endospore former</a:t>
            </a:r>
            <a:br>
              <a:rPr lang="en-US" dirty="0"/>
            </a:br>
            <a:endParaRPr lang="en-US" dirty="0"/>
          </a:p>
          <a:p>
            <a:r>
              <a:rPr lang="en-US" dirty="0"/>
              <a:t>Found in high temperature environments such as composts</a:t>
            </a:r>
            <a:br>
              <a:rPr lang="en-US" dirty="0"/>
            </a:br>
            <a:endParaRPr lang="en-US" dirty="0"/>
          </a:p>
          <a:p>
            <a:r>
              <a:rPr lang="en-US" dirty="0"/>
              <a:t>May be cause of farmer’s lung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spTree>
    <p:extLst>
      <p:ext uri="{BB962C8B-B14F-4D97-AF65-F5344CB8AC3E}">
        <p14:creationId xmlns:p14="http://schemas.microsoft.com/office/powerpoint/2010/main" val="3300761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err="1"/>
              <a:t>Sporosarcina</a:t>
            </a:r>
            <a:endParaRPr lang="en-US" dirty="0"/>
          </a:p>
        </p:txBody>
      </p:sp>
      <p:sp>
        <p:nvSpPr>
          <p:cNvPr id="3" name="Content Placeholder 2"/>
          <p:cNvSpPr>
            <a:spLocks noGrp="1"/>
          </p:cNvSpPr>
          <p:nvPr>
            <p:ph idx="1"/>
          </p:nvPr>
        </p:nvSpPr>
        <p:spPr/>
        <p:txBody>
          <a:bodyPr/>
          <a:lstStyle/>
          <a:p>
            <a:r>
              <a:rPr lang="en-US" dirty="0"/>
              <a:t>Only known endospore - former that has coccoid and not rod shape</a:t>
            </a:r>
            <a:br>
              <a:rPr lang="en-US" dirty="0"/>
            </a:br>
            <a:endParaRPr lang="en-US" dirty="0"/>
          </a:p>
          <a:p>
            <a:r>
              <a:rPr lang="en-US" dirty="0"/>
              <a:t>Tolerates pH up to 10</a:t>
            </a:r>
          </a:p>
          <a:p>
            <a:pPr lvl="1"/>
            <a:r>
              <a:rPr lang="en-US" dirty="0"/>
              <a:t>degrades urea to ammonia and carbon dioxide</a:t>
            </a:r>
            <a:br>
              <a:rPr lang="en-US" dirty="0"/>
            </a:br>
            <a:endParaRPr lang="en-US" dirty="0"/>
          </a:p>
          <a:p>
            <a:r>
              <a:rPr lang="en-US" dirty="0"/>
              <a:t>Isolated from agricultural soils where animals urinate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spTree>
    <p:extLst>
      <p:ext uri="{BB962C8B-B14F-4D97-AF65-F5344CB8AC3E}">
        <p14:creationId xmlns:p14="http://schemas.microsoft.com/office/powerpoint/2010/main" val="3300761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41438"/>
          </a:xfrm>
        </p:spPr>
        <p:txBody>
          <a:bodyPr/>
          <a:lstStyle/>
          <a:p>
            <a:r>
              <a:rPr lang="en-US" dirty="0"/>
              <a:t>Family </a:t>
            </a:r>
            <a:r>
              <a:rPr lang="en-US" i="1" dirty="0" err="1"/>
              <a:t>Staphylococcaceae</a:t>
            </a:r>
            <a:endParaRPr lang="en-US" dirty="0"/>
          </a:p>
        </p:txBody>
      </p:sp>
      <p:sp>
        <p:nvSpPr>
          <p:cNvPr id="3" name="Content Placeholder 2"/>
          <p:cNvSpPr>
            <a:spLocks noGrp="1"/>
          </p:cNvSpPr>
          <p:nvPr>
            <p:ph sz="half" idx="1"/>
          </p:nvPr>
        </p:nvSpPr>
        <p:spPr>
          <a:xfrm>
            <a:off x="152400" y="1295400"/>
            <a:ext cx="4343400" cy="5334000"/>
          </a:xfrm>
        </p:spPr>
        <p:txBody>
          <a:bodyPr>
            <a:normAutofit fontScale="92500" lnSpcReduction="10000"/>
          </a:bodyPr>
          <a:lstStyle/>
          <a:p>
            <a:r>
              <a:rPr lang="en-US" dirty="0"/>
              <a:t>5 genera, includes </a:t>
            </a:r>
            <a:r>
              <a:rPr lang="en-US" i="1" dirty="0"/>
              <a:t>Staphylococcus</a:t>
            </a:r>
            <a:br>
              <a:rPr lang="en-US" i="1" dirty="0"/>
            </a:br>
            <a:endParaRPr lang="en-US" i="1" dirty="0"/>
          </a:p>
          <a:p>
            <a:r>
              <a:rPr lang="en-US" dirty="0" err="1"/>
              <a:t>Facultatively</a:t>
            </a:r>
            <a:r>
              <a:rPr lang="en-US" dirty="0"/>
              <a:t> anaerobic, </a:t>
            </a:r>
            <a:r>
              <a:rPr lang="en-US" dirty="0" err="1"/>
              <a:t>nonmotile</a:t>
            </a:r>
            <a:r>
              <a:rPr lang="en-US" dirty="0"/>
              <a:t>, Gram-positive cocci </a:t>
            </a:r>
            <a:br>
              <a:rPr lang="en-US" dirty="0"/>
            </a:br>
            <a:endParaRPr lang="en-US" dirty="0"/>
          </a:p>
          <a:p>
            <a:r>
              <a:rPr lang="en-US" dirty="0"/>
              <a:t>Usually form irregular clusters </a:t>
            </a:r>
            <a:br>
              <a:rPr lang="en-US" dirty="0"/>
            </a:br>
            <a:endParaRPr lang="en-US" dirty="0"/>
          </a:p>
          <a:p>
            <a:r>
              <a:rPr lang="en-US" dirty="0"/>
              <a:t>Normally associated with warm-blooded animals in skin, skin glands, and mucous membranes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pic>
        <p:nvPicPr>
          <p:cNvPr id="14338" name="Picture 2" descr="(a) Color-enhanced scanning electron micrograph of Staphylococcus aureus cocci arranged in grape-like clusters. Each cell is about 1 μm in diameter. (b) Illustration of an S. aureaus coccus identifying many virulence factors that account for its success as a pathogen: IgG bound by the Fc portion; Protein A; Capsule; Exotoxins: SE, TSST-1, ET-A, ET-B; Lytic enzymes: Leukocidin, alpha-hemolysin, beta-hemolysin; Enzymes used for invasion: Clumping factor, Staphylokinase (catalyzes the degradation of host fibrin, facilitating microbial invasion), Hyaluronidase (degrades hyaluronic acid, which is found in connective and epithelial tissues), Lipase; and Binding proteins for binding to host proteins such as vitronectin, collagen type II, fibrogen and fibronectin." title="Figure 23.11 Staphylococcus."/>
          <p:cNvPicPr>
            <a:picLocks noChangeAspect="1" noChangeArrowheads="1"/>
          </p:cNvPicPr>
          <p:nvPr/>
        </p:nvPicPr>
        <p:blipFill>
          <a:blip r:embed="rId2" cstate="print"/>
          <a:srcRect/>
          <a:stretch>
            <a:fillRect/>
          </a:stretch>
        </p:blipFill>
        <p:spPr bwMode="auto">
          <a:xfrm>
            <a:off x="4648200" y="1159933"/>
            <a:ext cx="3680680" cy="5484352"/>
          </a:xfrm>
          <a:prstGeom prst="rect">
            <a:avLst/>
          </a:prstGeom>
          <a:noFill/>
        </p:spPr>
      </p:pic>
    </p:spTree>
    <p:extLst>
      <p:ext uri="{BB962C8B-B14F-4D97-AF65-F5344CB8AC3E}">
        <p14:creationId xmlns:p14="http://schemas.microsoft.com/office/powerpoint/2010/main" val="3300761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Staphylococcus epidermidis</a:t>
            </a:r>
            <a:endParaRPr lang="en-US" dirty="0"/>
          </a:p>
        </p:txBody>
      </p:sp>
      <p:sp>
        <p:nvSpPr>
          <p:cNvPr id="3" name="Content Placeholder 2"/>
          <p:cNvSpPr>
            <a:spLocks noGrp="1"/>
          </p:cNvSpPr>
          <p:nvPr>
            <p:ph idx="1"/>
          </p:nvPr>
        </p:nvSpPr>
        <p:spPr/>
        <p:txBody>
          <a:bodyPr/>
          <a:lstStyle/>
          <a:p>
            <a:r>
              <a:rPr lang="en-US" dirty="0"/>
              <a:t>Common skin resident</a:t>
            </a:r>
            <a:br>
              <a:rPr lang="en-US" dirty="0"/>
            </a:br>
            <a:endParaRPr lang="en-US" dirty="0"/>
          </a:p>
          <a:p>
            <a:r>
              <a:rPr lang="en-US" dirty="0"/>
              <a:t>Sometimes responsible for endocarditis and for infections of patients with lowered resistance</a:t>
            </a:r>
          </a:p>
          <a:p>
            <a:pPr lvl="1"/>
            <a:r>
              <a:rPr lang="en-US" dirty="0"/>
              <a:t>e.g. wound infections, surgical infections, and urinary tract infections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spTree>
    <p:extLst>
      <p:ext uri="{BB962C8B-B14F-4D97-AF65-F5344CB8AC3E}">
        <p14:creationId xmlns:p14="http://schemas.microsoft.com/office/powerpoint/2010/main" val="3300761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t>Staphlococcus</a:t>
            </a:r>
            <a:r>
              <a:rPr lang="en-US" i="1" dirty="0"/>
              <a:t> aureus</a:t>
            </a:r>
            <a:endParaRPr lang="en-US" dirty="0"/>
          </a:p>
        </p:txBody>
      </p:sp>
      <p:sp>
        <p:nvSpPr>
          <p:cNvPr id="3" name="Content Placeholder 2"/>
          <p:cNvSpPr>
            <a:spLocks noGrp="1"/>
          </p:cNvSpPr>
          <p:nvPr>
            <p:ph idx="1"/>
          </p:nvPr>
        </p:nvSpPr>
        <p:spPr/>
        <p:txBody>
          <a:bodyPr/>
          <a:lstStyle/>
          <a:p>
            <a:pPr>
              <a:lnSpc>
                <a:spcPct val="110000"/>
              </a:lnSpc>
            </a:pPr>
            <a:r>
              <a:rPr lang="en-US" dirty="0"/>
              <a:t>Most important human </a:t>
            </a:r>
            <a:r>
              <a:rPr lang="en-US" dirty="0" err="1"/>
              <a:t>staphloccoccal</a:t>
            </a:r>
            <a:r>
              <a:rPr lang="en-US" dirty="0"/>
              <a:t> pathogen</a:t>
            </a:r>
          </a:p>
          <a:p>
            <a:pPr lvl="1">
              <a:lnSpc>
                <a:spcPct val="110000"/>
              </a:lnSpc>
            </a:pPr>
            <a:r>
              <a:rPr lang="en-US" dirty="0"/>
              <a:t>e.g. abscesses, boils, wound infections, pneumonia, toxic shock syndrome </a:t>
            </a:r>
          </a:p>
          <a:p>
            <a:pPr lvl="1"/>
            <a:r>
              <a:rPr lang="en-US" dirty="0"/>
              <a:t>major cause of common food poisoning</a:t>
            </a:r>
            <a:br>
              <a:rPr lang="en-US" dirty="0"/>
            </a:br>
            <a:endParaRPr lang="en-US" dirty="0"/>
          </a:p>
          <a:p>
            <a:r>
              <a:rPr lang="en-US" dirty="0"/>
              <a:t>Virulence factors</a:t>
            </a:r>
          </a:p>
          <a:p>
            <a:pPr lvl="1"/>
            <a:r>
              <a:rPr lang="en-US" dirty="0"/>
              <a:t>coagulase which causes blood plasma to clot</a:t>
            </a:r>
          </a:p>
          <a:p>
            <a:pPr lvl="1"/>
            <a:r>
              <a:rPr lang="en-US" dirty="0"/>
              <a:t>the toxin </a:t>
            </a:r>
            <a:r>
              <a:rPr lang="el-GR" dirty="0">
                <a:cs typeface="Times New Roman" pitchFamily="18" charset="0"/>
              </a:rPr>
              <a:t>β</a:t>
            </a:r>
            <a:r>
              <a:rPr lang="en-US" dirty="0"/>
              <a:t>-</a:t>
            </a:r>
            <a:r>
              <a:rPr lang="en-US" dirty="0" err="1"/>
              <a:t>hemolysin</a:t>
            </a:r>
            <a:r>
              <a:rPr lang="en-US" dirty="0"/>
              <a:t> lyses cells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spTree>
    <p:extLst>
      <p:ext uri="{BB962C8B-B14F-4D97-AF65-F5344CB8AC3E}">
        <p14:creationId xmlns:p14="http://schemas.microsoft.com/office/powerpoint/2010/main" val="3300761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S. aureus</a:t>
            </a:r>
            <a:r>
              <a:rPr lang="en-US" dirty="0"/>
              <a:t> Antibiotic Resistance</a:t>
            </a:r>
          </a:p>
        </p:txBody>
      </p:sp>
      <p:sp>
        <p:nvSpPr>
          <p:cNvPr id="3" name="Content Placeholder 2"/>
          <p:cNvSpPr>
            <a:spLocks noGrp="1"/>
          </p:cNvSpPr>
          <p:nvPr>
            <p:ph idx="1"/>
          </p:nvPr>
        </p:nvSpPr>
        <p:spPr/>
        <p:txBody>
          <a:bodyPr/>
          <a:lstStyle/>
          <a:p>
            <a:pPr>
              <a:lnSpc>
                <a:spcPct val="110000"/>
              </a:lnSpc>
            </a:pPr>
            <a:r>
              <a:rPr lang="en-US" dirty="0"/>
              <a:t>Methicillin-resistant </a:t>
            </a:r>
            <a:r>
              <a:rPr lang="en-US" i="1" dirty="0"/>
              <a:t>S. aureus</a:t>
            </a:r>
            <a:r>
              <a:rPr lang="en-US" dirty="0"/>
              <a:t> (MRSA) and vancomycin resistant </a:t>
            </a:r>
            <a:r>
              <a:rPr lang="en-US" i="1" dirty="0"/>
              <a:t>S. aureus </a:t>
            </a:r>
            <a:r>
              <a:rPr lang="en-US" dirty="0"/>
              <a:t>(VRSA)</a:t>
            </a:r>
          </a:p>
          <a:p>
            <a:pPr lvl="1">
              <a:lnSpc>
                <a:spcPct val="110000"/>
              </a:lnSpc>
            </a:pPr>
            <a:r>
              <a:rPr lang="en-US" dirty="0"/>
              <a:t>among most threatening antibiotic resistant </a:t>
            </a:r>
          </a:p>
          <a:p>
            <a:pPr lvl="2">
              <a:lnSpc>
                <a:spcPct val="110000"/>
              </a:lnSpc>
            </a:pPr>
            <a:r>
              <a:rPr lang="en-US" sz="2400" dirty="0"/>
              <a:t>VRSA may have no treatment</a:t>
            </a:r>
          </a:p>
          <a:p>
            <a:pPr lvl="1">
              <a:lnSpc>
                <a:spcPct val="110000"/>
              </a:lnSpc>
            </a:pPr>
            <a:r>
              <a:rPr lang="en-US" dirty="0"/>
              <a:t>obtained from genetic elements received from other organisms </a:t>
            </a:r>
          </a:p>
          <a:p>
            <a:pPr lvl="1">
              <a:lnSpc>
                <a:spcPct val="110000"/>
              </a:lnSpc>
            </a:pPr>
            <a:r>
              <a:rPr lang="en-US" dirty="0"/>
              <a:t>virulence factors also acquired from mobile genetic elements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spTree>
    <p:extLst>
      <p:ext uri="{BB962C8B-B14F-4D97-AF65-F5344CB8AC3E}">
        <p14:creationId xmlns:p14="http://schemas.microsoft.com/office/powerpoint/2010/main" val="3300761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Genus </a:t>
            </a:r>
            <a:r>
              <a:rPr lang="en-US" i="1" dirty="0"/>
              <a:t>Listeria</a:t>
            </a:r>
            <a:endParaRPr lang="en-US" dirty="0"/>
          </a:p>
        </p:txBody>
      </p:sp>
      <p:sp>
        <p:nvSpPr>
          <p:cNvPr id="3" name="Content Placeholder 2"/>
          <p:cNvSpPr>
            <a:spLocks noGrp="1"/>
          </p:cNvSpPr>
          <p:nvPr>
            <p:ph idx="1"/>
          </p:nvPr>
        </p:nvSpPr>
        <p:spPr/>
        <p:txBody>
          <a:bodyPr/>
          <a:lstStyle/>
          <a:p>
            <a:pPr>
              <a:lnSpc>
                <a:spcPct val="90000"/>
              </a:lnSpc>
            </a:pPr>
            <a:r>
              <a:rPr lang="en-US" dirty="0"/>
              <a:t>Short rods, facultative anaerobic, catalase positive</a:t>
            </a:r>
            <a:br>
              <a:rPr lang="en-US" dirty="0"/>
            </a:br>
            <a:endParaRPr lang="en-US" dirty="0"/>
          </a:p>
          <a:p>
            <a:pPr>
              <a:lnSpc>
                <a:spcPct val="90000"/>
              </a:lnSpc>
            </a:pPr>
            <a:r>
              <a:rPr lang="en-US" dirty="0"/>
              <a:t>Motile by </a:t>
            </a:r>
            <a:r>
              <a:rPr lang="en-US" dirty="0" err="1"/>
              <a:t>peritrichous</a:t>
            </a:r>
            <a:r>
              <a:rPr lang="en-US" dirty="0"/>
              <a:t> flagella</a:t>
            </a:r>
            <a:br>
              <a:rPr lang="en-US" dirty="0"/>
            </a:br>
            <a:endParaRPr lang="en-US" dirty="0"/>
          </a:p>
          <a:p>
            <a:pPr>
              <a:lnSpc>
                <a:spcPct val="90000"/>
              </a:lnSpc>
            </a:pPr>
            <a:r>
              <a:rPr lang="en-US" dirty="0"/>
              <a:t>Wide distribution in nature</a:t>
            </a:r>
          </a:p>
          <a:p>
            <a:pPr lvl="1">
              <a:lnSpc>
                <a:spcPct val="90000"/>
              </a:lnSpc>
            </a:pPr>
            <a:r>
              <a:rPr lang="en-US" dirty="0"/>
              <a:t>common in decaying matter</a:t>
            </a:r>
            <a:br>
              <a:rPr lang="en-US" dirty="0"/>
            </a:br>
            <a:endParaRPr lang="en-US" dirty="0"/>
          </a:p>
          <a:p>
            <a:pPr>
              <a:lnSpc>
                <a:spcPct val="90000"/>
              </a:lnSpc>
            </a:pPr>
            <a:r>
              <a:rPr lang="en-US" i="1" dirty="0"/>
              <a:t>L. monocytogenes</a:t>
            </a:r>
            <a:r>
              <a:rPr lang="en-US" dirty="0"/>
              <a:t> pathogen of humans and animals</a:t>
            </a:r>
          </a:p>
          <a:p>
            <a:pPr lvl="1">
              <a:lnSpc>
                <a:spcPct val="90000"/>
              </a:lnSpc>
            </a:pPr>
            <a:r>
              <a:rPr lang="en-US" dirty="0" err="1"/>
              <a:t>listeriosis</a:t>
            </a:r>
            <a:r>
              <a:rPr lang="en-US" dirty="0"/>
              <a:t> - food-borne infection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spTree>
    <p:extLst>
      <p:ext uri="{BB962C8B-B14F-4D97-AF65-F5344CB8AC3E}">
        <p14:creationId xmlns:p14="http://schemas.microsoft.com/office/powerpoint/2010/main" val="3300761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a:t>
            </a:r>
            <a:r>
              <a:rPr lang="en-US" i="1" dirty="0" err="1"/>
              <a:t>Lactobacillales</a:t>
            </a:r>
            <a:endParaRPr lang="en-US" dirty="0"/>
          </a:p>
        </p:txBody>
      </p:sp>
      <p:sp>
        <p:nvSpPr>
          <p:cNvPr id="3" name="Content Placeholder 2"/>
          <p:cNvSpPr>
            <a:spLocks noGrp="1"/>
          </p:cNvSpPr>
          <p:nvPr>
            <p:ph idx="1"/>
          </p:nvPr>
        </p:nvSpPr>
        <p:spPr/>
        <p:txBody>
          <a:bodyPr/>
          <a:lstStyle/>
          <a:p>
            <a:pPr>
              <a:lnSpc>
                <a:spcPct val="90000"/>
              </a:lnSpc>
            </a:pPr>
            <a:r>
              <a:rPr lang="en-US" dirty="0"/>
              <a:t>Also called lactic acid bacteria (LAB)</a:t>
            </a:r>
            <a:br>
              <a:rPr lang="en-US" dirty="0"/>
            </a:br>
            <a:endParaRPr lang="en-US" dirty="0"/>
          </a:p>
          <a:p>
            <a:pPr>
              <a:lnSpc>
                <a:spcPct val="90000"/>
              </a:lnSpc>
            </a:pPr>
            <a:r>
              <a:rPr lang="en-US" dirty="0"/>
              <a:t>Morphologically diverse</a:t>
            </a:r>
          </a:p>
          <a:p>
            <a:pPr lvl="1">
              <a:lnSpc>
                <a:spcPct val="90000"/>
              </a:lnSpc>
            </a:pPr>
            <a:r>
              <a:rPr lang="en-US" dirty="0" err="1"/>
              <a:t>nonsporing</a:t>
            </a:r>
            <a:endParaRPr lang="en-US" dirty="0"/>
          </a:p>
          <a:p>
            <a:pPr lvl="1">
              <a:lnSpc>
                <a:spcPct val="90000"/>
              </a:lnSpc>
            </a:pPr>
            <a:r>
              <a:rPr lang="en-US" dirty="0"/>
              <a:t>usually </a:t>
            </a:r>
            <a:r>
              <a:rPr lang="en-US" dirty="0" err="1"/>
              <a:t>nonmotile</a:t>
            </a:r>
            <a:br>
              <a:rPr lang="en-US" dirty="0"/>
            </a:br>
            <a:endParaRPr lang="en-US" dirty="0"/>
          </a:p>
          <a:p>
            <a:pPr>
              <a:lnSpc>
                <a:spcPct val="90000"/>
              </a:lnSpc>
            </a:pPr>
            <a:r>
              <a:rPr lang="en-US" dirty="0"/>
              <a:t>Ferment sugars for energy</a:t>
            </a:r>
          </a:p>
          <a:p>
            <a:pPr lvl="1">
              <a:lnSpc>
                <a:spcPct val="90000"/>
              </a:lnSpc>
            </a:pPr>
            <a:r>
              <a:rPr lang="en-US" dirty="0"/>
              <a:t>lack cytochromes</a:t>
            </a:r>
          </a:p>
          <a:p>
            <a:pPr lvl="1">
              <a:lnSpc>
                <a:spcPct val="90000"/>
              </a:lnSpc>
            </a:pPr>
            <a:r>
              <a:rPr lang="en-US" dirty="0"/>
              <a:t>Fastidious</a:t>
            </a:r>
            <a:br>
              <a:rPr lang="en-US" dirty="0"/>
            </a:br>
            <a:endParaRPr lang="en-US" dirty="0"/>
          </a:p>
          <a:p>
            <a:pPr>
              <a:lnSpc>
                <a:spcPct val="90000"/>
              </a:lnSpc>
            </a:pPr>
            <a:r>
              <a:rPr lang="en-US" dirty="0"/>
              <a:t>Contains several important genera</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spTree>
    <p:extLst>
      <p:ext uri="{BB962C8B-B14F-4D97-AF65-F5344CB8AC3E}">
        <p14:creationId xmlns:p14="http://schemas.microsoft.com/office/powerpoint/2010/main" val="3300761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74405"/>
            <a:ext cx="5181600" cy="739995"/>
          </a:xfrm>
        </p:spPr>
        <p:txBody>
          <a:bodyPr/>
          <a:lstStyle/>
          <a:p>
            <a:r>
              <a:rPr lang="en-US" dirty="0"/>
              <a:t>Lactic Acid Bacteria</a:t>
            </a:r>
          </a:p>
        </p:txBody>
      </p:sp>
      <p:sp>
        <p:nvSpPr>
          <p:cNvPr id="3" name="Content Placeholder 2"/>
          <p:cNvSpPr>
            <a:spLocks noGrp="1"/>
          </p:cNvSpPr>
          <p:nvPr>
            <p:ph sz="half" idx="1"/>
          </p:nvPr>
        </p:nvSpPr>
        <p:spPr>
          <a:xfrm>
            <a:off x="152400" y="1066800"/>
            <a:ext cx="5105400" cy="5638800"/>
          </a:xfrm>
        </p:spPr>
        <p:txBody>
          <a:bodyPr>
            <a:normAutofit fontScale="92500" lnSpcReduction="20000"/>
          </a:bodyPr>
          <a:lstStyle/>
          <a:p>
            <a:r>
              <a:rPr lang="en-US" dirty="0"/>
              <a:t>Largest genus - </a:t>
            </a:r>
            <a:r>
              <a:rPr lang="en-US" i="1" dirty="0"/>
              <a:t>Lactobacillus</a:t>
            </a:r>
          </a:p>
          <a:p>
            <a:pPr lvl="1"/>
            <a:r>
              <a:rPr lang="en-US" dirty="0"/>
              <a:t>sometimes coccobacilli</a:t>
            </a:r>
          </a:p>
          <a:p>
            <a:pPr lvl="1"/>
            <a:r>
              <a:rPr lang="en-US" dirty="0"/>
              <a:t>grow optimally in slightly acidic conditions (pH 4.5 to 6.4)</a:t>
            </a:r>
          </a:p>
          <a:p>
            <a:pPr lvl="1"/>
            <a:r>
              <a:rPr lang="en-US" dirty="0"/>
              <a:t>two fermentation pathways</a:t>
            </a:r>
          </a:p>
          <a:p>
            <a:pPr lvl="2"/>
            <a:r>
              <a:rPr lang="en-US" dirty="0" err="1"/>
              <a:t>homolactic</a:t>
            </a:r>
            <a:r>
              <a:rPr lang="en-US" dirty="0"/>
              <a:t> fermentation (via glycolytic pathway)</a:t>
            </a:r>
          </a:p>
          <a:p>
            <a:pPr lvl="2"/>
            <a:r>
              <a:rPr lang="en-US" dirty="0" err="1"/>
              <a:t>heterolactic</a:t>
            </a:r>
            <a:r>
              <a:rPr lang="en-US" dirty="0"/>
              <a:t> fermentation (via pentose phosphate pathway)</a:t>
            </a:r>
            <a:br>
              <a:rPr lang="en-US" dirty="0"/>
            </a:br>
            <a:endParaRPr lang="en-US" dirty="0"/>
          </a:p>
          <a:p>
            <a:r>
              <a:rPr lang="en-US" dirty="0"/>
              <a:t>Widely distributed in nature</a:t>
            </a:r>
          </a:p>
          <a:p>
            <a:pPr lvl="1"/>
            <a:r>
              <a:rPr lang="en-US" dirty="0"/>
              <a:t>on plant surfaces</a:t>
            </a:r>
          </a:p>
          <a:p>
            <a:pPr lvl="1"/>
            <a:r>
              <a:rPr lang="en-US" dirty="0"/>
              <a:t>in dairy products, meat, water, sewage, beer, fruits, and other materials</a:t>
            </a:r>
          </a:p>
          <a:p>
            <a:pPr lvl="1"/>
            <a:r>
              <a:rPr lang="en-US" dirty="0"/>
              <a:t>normal flora of mouth, intestinal tract, and vagina</a:t>
            </a:r>
          </a:p>
          <a:p>
            <a:pPr lvl="2"/>
            <a:r>
              <a:rPr lang="en-US" dirty="0"/>
              <a:t>usually not pathogenic</a:t>
            </a:r>
          </a:p>
          <a:p>
            <a:pPr lvl="2"/>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31</a:t>
            </a:fld>
            <a:endParaRPr lang="en-US"/>
          </a:p>
        </p:txBody>
      </p:sp>
      <p:pic>
        <p:nvPicPr>
          <p:cNvPr id="15362" name="Picture 2" descr="The phosphoketolase pathway converts glucose to lactate, ethanol, and CO2." title="Figure 23.12 Heterolactic Fermentation and the Phosphoketolase Pathway."/>
          <p:cNvPicPr>
            <a:picLocks noChangeAspect="1" noChangeArrowheads="1"/>
          </p:cNvPicPr>
          <p:nvPr/>
        </p:nvPicPr>
        <p:blipFill>
          <a:blip r:embed="rId2" cstate="print"/>
          <a:srcRect/>
          <a:stretch>
            <a:fillRect/>
          </a:stretch>
        </p:blipFill>
        <p:spPr bwMode="auto">
          <a:xfrm>
            <a:off x="5486400" y="188912"/>
            <a:ext cx="3325813" cy="6211888"/>
          </a:xfrm>
          <a:prstGeom prst="rect">
            <a:avLst/>
          </a:prstGeom>
          <a:noFill/>
        </p:spPr>
      </p:pic>
    </p:spTree>
    <p:extLst>
      <p:ext uri="{BB962C8B-B14F-4D97-AF65-F5344CB8AC3E}">
        <p14:creationId xmlns:p14="http://schemas.microsoft.com/office/powerpoint/2010/main" val="3300761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Lactobacilli</a:t>
            </a:r>
          </a:p>
        </p:txBody>
      </p:sp>
      <p:sp>
        <p:nvSpPr>
          <p:cNvPr id="3" name="Content Placeholder 2"/>
          <p:cNvSpPr>
            <a:spLocks noGrp="1"/>
          </p:cNvSpPr>
          <p:nvPr>
            <p:ph idx="1"/>
          </p:nvPr>
        </p:nvSpPr>
        <p:spPr>
          <a:xfrm>
            <a:off x="457200" y="1600200"/>
            <a:ext cx="8229600" cy="4953000"/>
          </a:xfrm>
        </p:spPr>
        <p:txBody>
          <a:bodyPr/>
          <a:lstStyle/>
          <a:p>
            <a:pPr>
              <a:lnSpc>
                <a:spcPct val="80000"/>
              </a:lnSpc>
            </a:pPr>
            <a:r>
              <a:rPr lang="en-US" dirty="0"/>
              <a:t>Fermented products</a:t>
            </a:r>
          </a:p>
          <a:p>
            <a:pPr lvl="1">
              <a:lnSpc>
                <a:spcPct val="80000"/>
              </a:lnSpc>
            </a:pPr>
            <a:r>
              <a:rPr lang="en-US" dirty="0"/>
              <a:t>vegetable products (sauerkraut, pickles, and silage)</a:t>
            </a:r>
          </a:p>
          <a:p>
            <a:pPr lvl="1">
              <a:lnSpc>
                <a:spcPct val="80000"/>
              </a:lnSpc>
            </a:pPr>
            <a:r>
              <a:rPr lang="en-US" dirty="0"/>
              <a:t>beverages (beer, wine, juices, milk)</a:t>
            </a:r>
            <a:br>
              <a:rPr lang="en-US" dirty="0"/>
            </a:br>
            <a:endParaRPr lang="en-US" dirty="0"/>
          </a:p>
          <a:p>
            <a:pPr>
              <a:lnSpc>
                <a:spcPct val="80000"/>
              </a:lnSpc>
            </a:pPr>
            <a:r>
              <a:rPr lang="en-US" dirty="0"/>
              <a:t>Sour dough bread</a:t>
            </a:r>
            <a:br>
              <a:rPr lang="en-US" dirty="0"/>
            </a:br>
            <a:endParaRPr lang="en-US" dirty="0"/>
          </a:p>
          <a:p>
            <a:pPr>
              <a:lnSpc>
                <a:spcPct val="80000"/>
              </a:lnSpc>
            </a:pPr>
            <a:r>
              <a:rPr lang="en-US" dirty="0"/>
              <a:t>Swiss cheese and other hard cheeses, yogurt</a:t>
            </a:r>
            <a:br>
              <a:rPr lang="en-US" dirty="0"/>
            </a:br>
            <a:endParaRPr lang="en-US" dirty="0"/>
          </a:p>
          <a:p>
            <a:pPr>
              <a:lnSpc>
                <a:spcPct val="80000"/>
              </a:lnSpc>
            </a:pPr>
            <a:r>
              <a:rPr lang="en-US" dirty="0"/>
              <a:t>Sausages</a:t>
            </a:r>
            <a:br>
              <a:rPr lang="en-US" dirty="0"/>
            </a:br>
            <a:endParaRPr lang="en-US" dirty="0"/>
          </a:p>
          <a:p>
            <a:pPr>
              <a:lnSpc>
                <a:spcPct val="80000"/>
              </a:lnSpc>
            </a:pPr>
            <a:r>
              <a:rPr lang="en-US" i="1" dirty="0"/>
              <a:t>L. acidophilus</a:t>
            </a:r>
            <a:r>
              <a:rPr lang="en-US" dirty="0"/>
              <a:t> – sold as probiotic agent</a:t>
            </a:r>
            <a:br>
              <a:rPr lang="en-US" dirty="0"/>
            </a:br>
            <a:endParaRPr lang="en-US" dirty="0"/>
          </a:p>
          <a:p>
            <a:pPr>
              <a:lnSpc>
                <a:spcPct val="80000"/>
              </a:lnSpc>
            </a:pPr>
            <a:r>
              <a:rPr lang="en-US" dirty="0"/>
              <a:t>Food spoilage – beer, wine, milk, meat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spTree>
    <p:extLst>
      <p:ext uri="{BB962C8B-B14F-4D97-AF65-F5344CB8AC3E}">
        <p14:creationId xmlns:p14="http://schemas.microsoft.com/office/powerpoint/2010/main" val="3300761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Family </a:t>
            </a:r>
            <a:r>
              <a:rPr lang="en-US" i="1" dirty="0" err="1"/>
              <a:t>Leuconostocaceae</a:t>
            </a:r>
            <a:br>
              <a:rPr lang="en-US" i="1" dirty="0"/>
            </a:br>
            <a:r>
              <a:rPr lang="en-US" dirty="0"/>
              <a:t>Genus </a:t>
            </a:r>
            <a:r>
              <a:rPr lang="en-US" i="1" dirty="0" err="1"/>
              <a:t>Leuconostoc</a:t>
            </a:r>
            <a:endParaRPr lang="en-US" dirty="0"/>
          </a:p>
        </p:txBody>
      </p:sp>
      <p:sp>
        <p:nvSpPr>
          <p:cNvPr id="3" name="Content Placeholder 2"/>
          <p:cNvSpPr>
            <a:spLocks noGrp="1"/>
          </p:cNvSpPr>
          <p:nvPr>
            <p:ph sz="half" idx="1"/>
          </p:nvPr>
        </p:nvSpPr>
        <p:spPr>
          <a:xfrm>
            <a:off x="152400" y="1600200"/>
            <a:ext cx="4191000" cy="5029200"/>
          </a:xfrm>
        </p:spPr>
        <p:txBody>
          <a:bodyPr/>
          <a:lstStyle/>
          <a:p>
            <a:r>
              <a:rPr lang="en-US" dirty="0"/>
              <a:t>Facultative, Gram-positive cocci</a:t>
            </a:r>
            <a:br>
              <a:rPr lang="en-US" dirty="0"/>
            </a:br>
            <a:endParaRPr lang="en-US" dirty="0"/>
          </a:p>
          <a:p>
            <a:r>
              <a:rPr lang="en-US" dirty="0" err="1"/>
              <a:t>Heterolactic</a:t>
            </a:r>
            <a:r>
              <a:rPr lang="en-US" dirty="0"/>
              <a:t> fermentation via </a:t>
            </a:r>
          </a:p>
          <a:p>
            <a:pPr lvl="1"/>
            <a:r>
              <a:rPr lang="en-US" dirty="0" err="1"/>
              <a:t>phosphoketolase</a:t>
            </a:r>
            <a:r>
              <a:rPr lang="en-US" dirty="0"/>
              <a:t> pathway</a:t>
            </a:r>
            <a:br>
              <a:rPr lang="en-US" dirty="0"/>
            </a:br>
            <a:endParaRPr lang="en-US" dirty="0"/>
          </a:p>
          <a:p>
            <a:r>
              <a:rPr lang="en-US" dirty="0"/>
              <a:t>Isolated from plants, silage, and milk</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pic>
        <p:nvPicPr>
          <p:cNvPr id="16386" name="Picture 2" descr="Scanning electron micrograph of chains of elliptical Leuconostoc mesenteroides cocci." title="Figure 23.13 Leuconostoc."/>
          <p:cNvPicPr>
            <a:picLocks noChangeAspect="1" noChangeArrowheads="1"/>
          </p:cNvPicPr>
          <p:nvPr/>
        </p:nvPicPr>
        <p:blipFill>
          <a:blip r:embed="rId2" cstate="print"/>
          <a:srcRect/>
          <a:stretch>
            <a:fillRect/>
          </a:stretch>
        </p:blipFill>
        <p:spPr bwMode="auto">
          <a:xfrm>
            <a:off x="4292600" y="1828800"/>
            <a:ext cx="4743978" cy="3526072"/>
          </a:xfrm>
          <a:prstGeom prst="rect">
            <a:avLst/>
          </a:prstGeom>
          <a:noFill/>
        </p:spPr>
      </p:pic>
    </p:spTree>
    <p:extLst>
      <p:ext uri="{BB962C8B-B14F-4D97-AF65-F5344CB8AC3E}">
        <p14:creationId xmlns:p14="http://schemas.microsoft.com/office/powerpoint/2010/main" val="3300761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a:t>
            </a:r>
            <a:r>
              <a:rPr lang="en-US" i="1" dirty="0" err="1"/>
              <a:t>Leuconostoc</a:t>
            </a:r>
            <a:endParaRPr lang="en-US" dirty="0"/>
          </a:p>
        </p:txBody>
      </p:sp>
      <p:sp>
        <p:nvSpPr>
          <p:cNvPr id="3" name="Content Placeholder 2"/>
          <p:cNvSpPr>
            <a:spLocks noGrp="1"/>
          </p:cNvSpPr>
          <p:nvPr>
            <p:ph idx="1"/>
          </p:nvPr>
        </p:nvSpPr>
        <p:spPr>
          <a:xfrm>
            <a:off x="457200" y="1600200"/>
            <a:ext cx="8229600" cy="5029200"/>
          </a:xfrm>
        </p:spPr>
        <p:txBody>
          <a:bodyPr/>
          <a:lstStyle/>
          <a:p>
            <a:r>
              <a:rPr lang="en-US" dirty="0"/>
              <a:t>Wine production</a:t>
            </a:r>
            <a:br>
              <a:rPr lang="en-US" dirty="0"/>
            </a:br>
            <a:endParaRPr lang="en-US" dirty="0"/>
          </a:p>
          <a:p>
            <a:r>
              <a:rPr lang="en-US" dirty="0"/>
              <a:t>Production of sauerkraut and pickles</a:t>
            </a:r>
            <a:br>
              <a:rPr lang="en-US" dirty="0"/>
            </a:br>
            <a:endParaRPr lang="en-US" dirty="0"/>
          </a:p>
          <a:p>
            <a:r>
              <a:rPr lang="en-US" dirty="0"/>
              <a:t>Production of buttermilk, butter, and cheese</a:t>
            </a:r>
            <a:br>
              <a:rPr lang="en-US" dirty="0"/>
            </a:br>
            <a:endParaRPr lang="en-US" dirty="0"/>
          </a:p>
          <a:p>
            <a:r>
              <a:rPr lang="en-US" dirty="0"/>
              <a:t>Synthesis of </a:t>
            </a:r>
            <a:r>
              <a:rPr lang="en-US" dirty="0" err="1"/>
              <a:t>dextrans</a:t>
            </a:r>
            <a:r>
              <a:rPr lang="en-US" dirty="0"/>
              <a:t> (</a:t>
            </a:r>
            <a:r>
              <a:rPr lang="en-US" i="1" dirty="0"/>
              <a:t>L. </a:t>
            </a:r>
            <a:r>
              <a:rPr lang="en-US" i="1" dirty="0" err="1"/>
              <a:t>mesenteroides</a:t>
            </a:r>
            <a:r>
              <a:rPr lang="en-US" dirty="0"/>
              <a:t>)</a:t>
            </a:r>
            <a:br>
              <a:rPr lang="en-US" dirty="0"/>
            </a:br>
            <a:endParaRPr lang="en-US" dirty="0"/>
          </a:p>
          <a:p>
            <a:r>
              <a:rPr lang="en-US" dirty="0"/>
              <a:t>Involved in food spoilage</a:t>
            </a:r>
          </a:p>
          <a:p>
            <a:pPr lvl="1"/>
            <a:r>
              <a:rPr lang="en-US" dirty="0"/>
              <a:t>tolerate high sugar concentrations</a:t>
            </a:r>
          </a:p>
          <a:p>
            <a:pPr lvl="1"/>
            <a:r>
              <a:rPr lang="en-US" dirty="0"/>
              <a:t>grow in heavy syrup</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spTree>
    <p:extLst>
      <p:ext uri="{BB962C8B-B14F-4D97-AF65-F5344CB8AC3E}">
        <p14:creationId xmlns:p14="http://schemas.microsoft.com/office/powerpoint/2010/main" val="3300761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41438"/>
          </a:xfrm>
        </p:spPr>
        <p:txBody>
          <a:bodyPr>
            <a:normAutofit/>
          </a:bodyPr>
          <a:lstStyle/>
          <a:p>
            <a:r>
              <a:rPr lang="en-US" dirty="0"/>
              <a:t>Families </a:t>
            </a:r>
            <a:r>
              <a:rPr lang="en-US" i="1" dirty="0" err="1"/>
              <a:t>Streptococcaceae</a:t>
            </a:r>
            <a:br>
              <a:rPr lang="en-US" i="1" dirty="0"/>
            </a:br>
            <a:r>
              <a:rPr lang="en-US" dirty="0"/>
              <a:t>and</a:t>
            </a:r>
            <a:r>
              <a:rPr lang="en-US" i="1" dirty="0"/>
              <a:t> </a:t>
            </a:r>
            <a:r>
              <a:rPr lang="en-US" i="1" dirty="0" err="1"/>
              <a:t>Enterococcaceae</a:t>
            </a:r>
            <a:endParaRPr lang="en-US" dirty="0"/>
          </a:p>
        </p:txBody>
      </p:sp>
      <p:sp>
        <p:nvSpPr>
          <p:cNvPr id="3" name="Content Placeholder 2"/>
          <p:cNvSpPr>
            <a:spLocks noGrp="1"/>
          </p:cNvSpPr>
          <p:nvPr>
            <p:ph sz="half" idx="1"/>
          </p:nvPr>
        </p:nvSpPr>
        <p:spPr>
          <a:xfrm>
            <a:off x="152400" y="1447801"/>
            <a:ext cx="8839200" cy="3581400"/>
          </a:xfrm>
        </p:spPr>
        <p:txBody>
          <a:bodyPr>
            <a:normAutofit lnSpcReduction="10000"/>
          </a:bodyPr>
          <a:lstStyle/>
          <a:p>
            <a:pPr>
              <a:spcBef>
                <a:spcPts val="600"/>
              </a:spcBef>
            </a:pPr>
            <a:r>
              <a:rPr lang="en-US" dirty="0"/>
              <a:t>Chemoheterotrophic, mesophilic, </a:t>
            </a:r>
            <a:r>
              <a:rPr lang="en-US" dirty="0" err="1"/>
              <a:t>nonsporing</a:t>
            </a:r>
            <a:r>
              <a:rPr lang="en-US" dirty="0"/>
              <a:t> cocci, usually </a:t>
            </a:r>
            <a:r>
              <a:rPr lang="en-US" dirty="0" err="1"/>
              <a:t>nonmotile</a:t>
            </a:r>
            <a:endParaRPr lang="en-US" dirty="0"/>
          </a:p>
          <a:p>
            <a:pPr>
              <a:spcBef>
                <a:spcPts val="600"/>
              </a:spcBef>
            </a:pPr>
            <a:r>
              <a:rPr lang="en-US" dirty="0"/>
              <a:t>Fermentative only </a:t>
            </a:r>
          </a:p>
          <a:p>
            <a:pPr>
              <a:spcBef>
                <a:spcPts val="600"/>
              </a:spcBef>
            </a:pPr>
            <a:r>
              <a:rPr lang="en-US" dirty="0" err="1"/>
              <a:t>Aerotolerant</a:t>
            </a:r>
            <a:r>
              <a:rPr lang="en-US" dirty="0"/>
              <a:t> and anaerobic</a:t>
            </a:r>
          </a:p>
          <a:p>
            <a:pPr>
              <a:spcBef>
                <a:spcPts val="600"/>
              </a:spcBef>
            </a:pPr>
            <a:r>
              <a:rPr lang="en-US" dirty="0"/>
              <a:t>Groups</a:t>
            </a:r>
          </a:p>
          <a:p>
            <a:pPr lvl="1">
              <a:spcBef>
                <a:spcPts val="600"/>
              </a:spcBef>
            </a:pPr>
            <a:r>
              <a:rPr lang="en-US" dirty="0"/>
              <a:t>enterococci</a:t>
            </a:r>
          </a:p>
          <a:p>
            <a:pPr lvl="1">
              <a:spcBef>
                <a:spcPts val="600"/>
              </a:spcBef>
            </a:pPr>
            <a:r>
              <a:rPr lang="en-US" dirty="0" err="1"/>
              <a:t>lactococci</a:t>
            </a:r>
            <a:endParaRPr lang="en-US" dirty="0"/>
          </a:p>
          <a:p>
            <a:pPr lvl="1">
              <a:spcBef>
                <a:spcPts val="600"/>
              </a:spcBef>
            </a:pPr>
            <a:r>
              <a:rPr lang="en-US" dirty="0"/>
              <a:t>streptococci</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pic>
        <p:nvPicPr>
          <p:cNvPr id="17410" name="Picture 2" descr="(a) Photo of Streptococcus pyogenes chains of cocci. (b) Color-enhanced scanning electron micrograph of long chains of Streptococcus agalactiae cells, the cause of Group B streptococcal infections." title="Figure 23.14 Streptococcus."/>
          <p:cNvPicPr>
            <a:picLocks noChangeAspect="1" noChangeArrowheads="1"/>
          </p:cNvPicPr>
          <p:nvPr/>
        </p:nvPicPr>
        <p:blipFill>
          <a:blip r:embed="rId2" cstate="print"/>
          <a:srcRect/>
          <a:stretch>
            <a:fillRect/>
          </a:stretch>
        </p:blipFill>
        <p:spPr bwMode="auto">
          <a:xfrm>
            <a:off x="4969248" y="2133600"/>
            <a:ext cx="4098552" cy="2011386"/>
          </a:xfrm>
          <a:prstGeom prst="rect">
            <a:avLst/>
          </a:prstGeom>
          <a:noFill/>
        </p:spPr>
      </p:pic>
    </p:spTree>
    <p:extLst>
      <p:ext uri="{BB962C8B-B14F-4D97-AF65-F5344CB8AC3E}">
        <p14:creationId xmlns:p14="http://schemas.microsoft.com/office/powerpoint/2010/main" val="3300761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2400"/>
            <a:ext cx="8229600" cy="1143000"/>
          </a:xfrm>
        </p:spPr>
        <p:txBody>
          <a:bodyPr>
            <a:normAutofit fontScale="90000"/>
          </a:bodyPr>
          <a:lstStyle/>
          <a:p>
            <a:r>
              <a:rPr lang="en-US" dirty="0"/>
              <a:t>Classification of Streptococci, Enterococci, and </a:t>
            </a:r>
            <a:r>
              <a:rPr lang="en-US" dirty="0" err="1"/>
              <a:t>Lactococci</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36</a:t>
            </a:fld>
            <a:endParaRPr lang="en-US"/>
          </a:p>
        </p:txBody>
      </p:sp>
      <p:pic>
        <p:nvPicPr>
          <p:cNvPr id="18434" name="Picture 2" descr="Streptococcus&#10;Predominant arrangement (most common first): Chains, pairs&#10;Capsule/slime layer: +&#10;Habitat: Mouth, respiratory tract&#10;Growth at 45°C: Variable&#10;Growth at 10°C: Variable&#10;Growth at 6.5% NaCl broth: Variable&#10;Growth at pH 9.6: Variable&#10;Hemolysis: Usually β (pyogenic) or α (oral)&#10;Serological group (Lancefield): Variable (A–O)&#10;Representative species  Pyogenic streptococci, S. agalactiae, S. pyogenes, S. equi, S. dysgalactiae; Oral streptococci: S. gordonii, S. salivarius, S. sanguis, S. oralis, S. pneumoniae, S. mitis, S. mutans; Other streptococci: S. bovis, S. thermophilus     &#10;&#10;Enterococcus&#10;Predominant arrangement (most common first): Pairs, chains&#10;Capsule/slime layer: −&#10;Habitat: Gastrointestinal tract&#10;Growth at 45°C: +&#10;Growth at 10°C: Usually +&#10;Growth at 6.5% NaCl broth: +&#10;Growth at pH 9.6: +&#10;Hemolysis: α, β, −&#10;Serological group (Lancefield): Usually D&#10;Representative species: E. faecalis, E. faecium, E. avium, E. durans, E. gallinarum&#10;&#10;Lactococcus&#10;Predominant arrangement (most common first): Pairs, short chains&#10;Capsule/slime layer: −&#10;Habitat: Dairy products&#10;Growth at 45°C: −&#10;Growth at 10°C: +&#10;Growth at 6.5% NaCl broth: −&#10;Growth at pH 9.6: −&#10;Hemolysis: Usually −&#10;Serological group (Lancefield): Usually N&#10;Representative species: L. lactis, L. raffinolactis, L. plantarum" title="Table 23.3 Classification of Streptococci, Entercocci, and Lactococci"/>
          <p:cNvPicPr>
            <a:picLocks noChangeAspect="1" noChangeArrowheads="1"/>
          </p:cNvPicPr>
          <p:nvPr/>
        </p:nvPicPr>
        <p:blipFill>
          <a:blip r:embed="rId2" cstate="print"/>
          <a:srcRect/>
          <a:stretch>
            <a:fillRect/>
          </a:stretch>
        </p:blipFill>
        <p:spPr bwMode="auto">
          <a:xfrm>
            <a:off x="345059" y="1524000"/>
            <a:ext cx="8453882" cy="4675188"/>
          </a:xfrm>
          <a:prstGeom prst="rect">
            <a:avLst/>
          </a:prstGeom>
          <a:noFill/>
        </p:spPr>
      </p:pic>
    </p:spTree>
    <p:extLst>
      <p:ext uri="{BB962C8B-B14F-4D97-AF65-F5344CB8AC3E}">
        <p14:creationId xmlns:p14="http://schemas.microsoft.com/office/powerpoint/2010/main" val="1520291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a:t>Genus </a:t>
            </a:r>
            <a:r>
              <a:rPr lang="en-US" i="1" dirty="0"/>
              <a:t>Streptococcus</a:t>
            </a:r>
            <a:endParaRPr lang="en-US" dirty="0"/>
          </a:p>
        </p:txBody>
      </p:sp>
      <p:sp>
        <p:nvSpPr>
          <p:cNvPr id="3" name="Content Placeholder 2"/>
          <p:cNvSpPr>
            <a:spLocks noGrp="1"/>
          </p:cNvSpPr>
          <p:nvPr>
            <p:ph sz="half" idx="1"/>
          </p:nvPr>
        </p:nvSpPr>
        <p:spPr>
          <a:xfrm>
            <a:off x="152400" y="1143001"/>
            <a:ext cx="8839200" cy="2971799"/>
          </a:xfrm>
        </p:spPr>
        <p:txBody>
          <a:bodyPr>
            <a:normAutofit fontScale="92500" lnSpcReduction="10000"/>
          </a:bodyPr>
          <a:lstStyle/>
          <a:p>
            <a:r>
              <a:rPr lang="en-US" dirty="0"/>
              <a:t>Hemolysis patterns used in Lancefield grouping</a:t>
            </a:r>
          </a:p>
          <a:p>
            <a:pPr lvl="1"/>
            <a:r>
              <a:rPr lang="en-US" dirty="0"/>
              <a:t>alpha (</a:t>
            </a:r>
            <a:r>
              <a:rPr lang="en-US" dirty="0">
                <a:latin typeface="Symbol" pitchFamily="18" charset="2"/>
                <a:sym typeface="WP Greek Century" pitchFamily="2" charset="2"/>
              </a:rPr>
              <a:t>a) </a:t>
            </a:r>
            <a:r>
              <a:rPr lang="en-US" dirty="0"/>
              <a:t>– </a:t>
            </a:r>
            <a:r>
              <a:rPr lang="en-US" dirty="0">
                <a:sym typeface="WP Greek Century" pitchFamily="2" charset="2"/>
              </a:rPr>
              <a:t>hemolysis</a:t>
            </a:r>
          </a:p>
          <a:p>
            <a:pPr lvl="2"/>
            <a:r>
              <a:rPr lang="en-US" sz="2400" dirty="0"/>
              <a:t>incomplete lysis of red blood cells</a:t>
            </a:r>
          </a:p>
          <a:p>
            <a:pPr lvl="2"/>
            <a:r>
              <a:rPr lang="en-US" sz="2400" dirty="0"/>
              <a:t>seen as greenish zone around colony on blood agar</a:t>
            </a:r>
            <a:br>
              <a:rPr lang="en-US" sz="2400" dirty="0"/>
            </a:br>
            <a:endParaRPr lang="en-US" sz="2400" dirty="0"/>
          </a:p>
          <a:p>
            <a:pPr lvl="1"/>
            <a:r>
              <a:rPr lang="en-US" dirty="0"/>
              <a:t>beta (</a:t>
            </a:r>
            <a:r>
              <a:rPr lang="en-US" dirty="0">
                <a:latin typeface="Symbol" pitchFamily="18" charset="2"/>
                <a:sym typeface="WP Greek Century" pitchFamily="2" charset="2"/>
              </a:rPr>
              <a:t>b) - </a:t>
            </a:r>
            <a:r>
              <a:rPr lang="en-US" dirty="0">
                <a:sym typeface="WP Greek Century" pitchFamily="2" charset="2"/>
              </a:rPr>
              <a:t>hemolysis</a:t>
            </a:r>
          </a:p>
          <a:p>
            <a:pPr lvl="2"/>
            <a:r>
              <a:rPr lang="en-US" sz="2400" dirty="0"/>
              <a:t>complete lysis of red blood cells</a:t>
            </a:r>
          </a:p>
          <a:p>
            <a:pPr lvl="2"/>
            <a:r>
              <a:rPr lang="en-US" sz="2400" dirty="0"/>
              <a:t>seen as clear zone around colony on blood agar</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pic>
        <p:nvPicPr>
          <p:cNvPr id="19458" name="Picture 2" descr="(a) Staphylococcus aureus on blood agar, illustrating alpha-hemolysis. (b) Streptococcus pyogenes on blood agar, illustrating beta-hemolysis. (c) Staphylococcus epidermidis on blood agar with no hemolysis, also referred to as gamma-hemolysis.&#10;In alpha-hemolysis, a 1- to 3-mm greenish zone of incomplete hemolysis forms around the colony; beta-hemolysis is characterized by a clear zone of complete lysis." title="Figure 23.15 Staphylococcal and Streptococcal Hemolytic Patterns."/>
          <p:cNvPicPr>
            <a:picLocks noChangeAspect="1" noChangeArrowheads="1"/>
          </p:cNvPicPr>
          <p:nvPr/>
        </p:nvPicPr>
        <p:blipFill>
          <a:blip r:embed="rId2" cstate="print"/>
          <a:srcRect/>
          <a:stretch>
            <a:fillRect/>
          </a:stretch>
        </p:blipFill>
        <p:spPr bwMode="auto">
          <a:xfrm>
            <a:off x="477044" y="3744913"/>
            <a:ext cx="8189913" cy="2620962"/>
          </a:xfrm>
          <a:prstGeom prst="rect">
            <a:avLst/>
          </a:prstGeom>
          <a:noFill/>
        </p:spPr>
      </p:pic>
    </p:spTree>
    <p:extLst>
      <p:ext uri="{BB962C8B-B14F-4D97-AF65-F5344CB8AC3E}">
        <p14:creationId xmlns:p14="http://schemas.microsoft.com/office/powerpoint/2010/main" val="2440389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Groups of Streptococci</a:t>
            </a:r>
          </a:p>
        </p:txBody>
      </p:sp>
      <p:sp>
        <p:nvSpPr>
          <p:cNvPr id="3" name="Content Placeholder 2"/>
          <p:cNvSpPr>
            <a:spLocks noGrp="1"/>
          </p:cNvSpPr>
          <p:nvPr>
            <p:ph idx="1"/>
          </p:nvPr>
        </p:nvSpPr>
        <p:spPr/>
        <p:txBody>
          <a:bodyPr/>
          <a:lstStyle/>
          <a:p>
            <a:pPr>
              <a:lnSpc>
                <a:spcPct val="90000"/>
              </a:lnSpc>
            </a:pPr>
            <a:r>
              <a:rPr lang="en-US" dirty="0"/>
              <a:t>Pyogenic (pus producing) streptococci</a:t>
            </a:r>
          </a:p>
          <a:p>
            <a:pPr lvl="1">
              <a:lnSpc>
                <a:spcPct val="90000"/>
              </a:lnSpc>
            </a:pPr>
            <a:r>
              <a:rPr lang="en-US" i="1" dirty="0"/>
              <a:t>e.g. S. pyogenes</a:t>
            </a:r>
            <a:r>
              <a:rPr lang="en-US" dirty="0"/>
              <a:t> – streptococcal sore throat, acute glomerulonephritis, and rheumatic fever</a:t>
            </a:r>
            <a:br>
              <a:rPr lang="en-US" dirty="0"/>
            </a:br>
            <a:endParaRPr lang="en-US" dirty="0"/>
          </a:p>
          <a:p>
            <a:pPr>
              <a:lnSpc>
                <a:spcPct val="90000"/>
              </a:lnSpc>
            </a:pPr>
            <a:r>
              <a:rPr lang="en-US" dirty="0"/>
              <a:t>Oral streptococci</a:t>
            </a:r>
          </a:p>
          <a:p>
            <a:pPr lvl="1">
              <a:lnSpc>
                <a:spcPct val="90000"/>
              </a:lnSpc>
            </a:pPr>
            <a:r>
              <a:rPr lang="en-US" i="1" dirty="0"/>
              <a:t>e.g. S. </a:t>
            </a:r>
            <a:r>
              <a:rPr lang="en-US" i="1" dirty="0" err="1"/>
              <a:t>mutans</a:t>
            </a:r>
            <a:r>
              <a:rPr lang="en-US" dirty="0"/>
              <a:t> – dental caries</a:t>
            </a:r>
            <a:br>
              <a:rPr lang="en-US" dirty="0"/>
            </a:br>
            <a:endParaRPr lang="en-US" dirty="0"/>
          </a:p>
          <a:p>
            <a:pPr>
              <a:lnSpc>
                <a:spcPct val="90000"/>
              </a:lnSpc>
            </a:pPr>
            <a:r>
              <a:rPr lang="en-US" dirty="0"/>
              <a:t>Other streptococci</a:t>
            </a:r>
          </a:p>
          <a:p>
            <a:pPr lvl="1">
              <a:lnSpc>
                <a:spcPct val="90000"/>
              </a:lnSpc>
            </a:pPr>
            <a:r>
              <a:rPr lang="en-US" i="1" dirty="0"/>
              <a:t>e.g. S. pneumoniae</a:t>
            </a:r>
            <a:r>
              <a:rPr lang="en-US" dirty="0"/>
              <a:t> – lobar pneumonia and otitis media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1314022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Important Enterococci</a:t>
            </a:r>
            <a:br>
              <a:rPr lang="en-US" dirty="0"/>
            </a:br>
            <a:r>
              <a:rPr lang="en-US" dirty="0"/>
              <a:t>and </a:t>
            </a:r>
            <a:r>
              <a:rPr lang="en-US" dirty="0" err="1"/>
              <a:t>Lactococci</a:t>
            </a:r>
            <a:endParaRPr lang="en-US" dirty="0"/>
          </a:p>
        </p:txBody>
      </p:sp>
      <p:sp>
        <p:nvSpPr>
          <p:cNvPr id="3" name="Content Placeholder 2"/>
          <p:cNvSpPr>
            <a:spLocks noGrp="1"/>
          </p:cNvSpPr>
          <p:nvPr>
            <p:ph idx="1"/>
          </p:nvPr>
        </p:nvSpPr>
        <p:spPr/>
        <p:txBody>
          <a:bodyPr/>
          <a:lstStyle/>
          <a:p>
            <a:r>
              <a:rPr lang="en-US" i="1" dirty="0"/>
              <a:t>Enterococcus </a:t>
            </a:r>
            <a:r>
              <a:rPr lang="en-US" i="1" dirty="0" err="1"/>
              <a:t>faecalis</a:t>
            </a:r>
            <a:r>
              <a:rPr lang="en-US" dirty="0"/>
              <a:t> </a:t>
            </a:r>
          </a:p>
          <a:p>
            <a:pPr lvl="1"/>
            <a:r>
              <a:rPr lang="en-US" dirty="0"/>
              <a:t>normal biotic in gastrointestinal tract </a:t>
            </a:r>
          </a:p>
          <a:p>
            <a:pPr lvl="1"/>
            <a:r>
              <a:rPr lang="en-US" dirty="0"/>
              <a:t>opportunistic pathogen (urinary tract infections and endocarditis)</a:t>
            </a:r>
            <a:br>
              <a:rPr lang="en-US" dirty="0"/>
            </a:br>
            <a:endParaRPr lang="en-US" dirty="0"/>
          </a:p>
          <a:p>
            <a:r>
              <a:rPr lang="en-US" i="1" dirty="0" err="1"/>
              <a:t>Lactococcus</a:t>
            </a:r>
            <a:r>
              <a:rPr lang="en-US" i="1" dirty="0"/>
              <a:t> </a:t>
            </a:r>
            <a:r>
              <a:rPr lang="en-US" i="1" dirty="0" err="1"/>
              <a:t>lactis</a:t>
            </a:r>
            <a:r>
              <a:rPr lang="en-US" i="1" dirty="0"/>
              <a:t> – </a:t>
            </a:r>
            <a:r>
              <a:rPr lang="en-US" dirty="0"/>
              <a:t>production of buttermilk and cheese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2807355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Take Home Message</a:t>
            </a:r>
          </a:p>
        </p:txBody>
      </p:sp>
      <p:sp>
        <p:nvSpPr>
          <p:cNvPr id="3" name="Content Placeholder 2"/>
          <p:cNvSpPr>
            <a:spLocks noGrp="1"/>
          </p:cNvSpPr>
          <p:nvPr>
            <p:ph idx="1"/>
          </p:nvPr>
        </p:nvSpPr>
        <p:spPr>
          <a:xfrm>
            <a:off x="457200" y="1295400"/>
            <a:ext cx="8229600" cy="5257800"/>
          </a:xfrm>
        </p:spPr>
        <p:txBody>
          <a:bodyPr>
            <a:normAutofit fontScale="92500" lnSpcReduction="10000"/>
          </a:bodyPr>
          <a:lstStyle/>
          <a:p>
            <a:r>
              <a:rPr lang="en-US" dirty="0"/>
              <a:t>This taxonomy chapter covers several groups of microbes, their structures, their metabolism, and their characteristics</a:t>
            </a:r>
            <a:br>
              <a:rPr lang="en-US" dirty="0"/>
            </a:br>
            <a:endParaRPr lang="en-US" dirty="0"/>
          </a:p>
          <a:p>
            <a:r>
              <a:rPr lang="en-US" dirty="0"/>
              <a:t>Taxonomy is a tricky field to study</a:t>
            </a:r>
            <a:br>
              <a:rPr lang="en-US" dirty="0"/>
            </a:br>
            <a:endParaRPr lang="en-US" dirty="0"/>
          </a:p>
          <a:p>
            <a:r>
              <a:rPr lang="en-US" dirty="0"/>
              <a:t>The best idea is to try to distill out how each microbe is different from the others, and how it could contribute to/draw from its local environment</a:t>
            </a:r>
            <a:br>
              <a:rPr lang="en-US" dirty="0"/>
            </a:br>
            <a:endParaRPr lang="en-US" dirty="0"/>
          </a:p>
          <a:p>
            <a:r>
              <a:rPr lang="en-US" dirty="0"/>
              <a:t>Once you have a feel for the local effects, try to think about the pathogenic nature of some of these microbes as well as the ways we can exploit them for our own desired purposes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40</a:t>
            </a:fld>
            <a:endParaRPr lang="en-US"/>
          </a:p>
        </p:txBody>
      </p:sp>
    </p:spTree>
    <p:extLst>
      <p:ext uri="{BB962C8B-B14F-4D97-AF65-F5344CB8AC3E}">
        <p14:creationId xmlns:p14="http://schemas.microsoft.com/office/powerpoint/2010/main" val="13199701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2"/>
  <p:tag name="MMPROD_UIDATA" val="&lt;database version=&quot;6.0&quot;&gt;&lt;object type=&quot;1&quot; unique_id=&quot;10001&quot;&gt;&lt;object type=&quot;8&quot; unique_id=&quot;81671&quot;&gt;&lt;/object&gt;&lt;object type=&quot;2&quot; unique_id=&quot;81672&quot;&gt;&lt;object type=&quot;3&quot; unique_id=&quot;81673&quot;&gt;&lt;property id=&quot;20148&quot; value=&quot;5&quot;/&gt;&lt;property id=&quot;20300&quot; value=&quot;Slide 1 - &amp;quot;Chapter 23 – Firmicutes: The Low G+C Gram-Positive Bacteria&amp;quot;&quot;/&gt;&lt;property id=&quot;20307&quot; value=&quot;256&quot;/&gt;&lt;/object&gt;&lt;object type=&quot;3&quot; unique_id=&quot;81674&quot;&gt;&lt;property id=&quot;20148&quot; value=&quot;5&quot;/&gt;&lt;property id=&quot;20300&quot; value=&quot;Slide 2 - &amp;quot;23.1 Class Clostridia&amp;quot;&quot;/&gt;&lt;property id=&quot;20307&quot; value=&quot;257&quot;/&gt;&lt;/object&gt;&lt;object type=&quot;3&quot; unique_id=&quot;81675&quot;&gt;&lt;property id=&quot;20148&quot; value=&quot;5&quot;/&gt;&lt;property id=&quot;20300&quot; value=&quot;Slide 3 - &amp;quot;Gram-Positive Bacteria&amp;quot;&quot;/&gt;&lt;property id=&quot;20307&quot; value=&quot;258&quot;/&gt;&lt;/object&gt;&lt;object type=&quot;3&quot; unique_id=&quot;81676&quot;&gt;&lt;property id=&quot;20148&quot; value=&quot;5&quot;/&gt;&lt;property id=&quot;20300&quot; value=&quot;Slide 4 - &amp;quot;Low G + C Gram-Positive Bacteria Bergey’s Manual&amp;quot;&quot;/&gt;&lt;property id=&quot;20307&quot; value=&quot;259&quot;/&gt;&lt;/object&gt;&lt;object type=&quot;3&quot; unique_id=&quot;81677&quot;&gt;&lt;property id=&quot;20148&quot; value=&quot;5&quot;/&gt;&lt;property id=&quot;20300&quot; value=&quot;Slide 5 - &amp;quot;Phylogenetic Relationships in the Phylum Firmicutes&amp;quot;&quot;/&gt;&lt;property id=&quot;20307&quot; value=&quot;260&quot;/&gt;&lt;/object&gt;&lt;object type=&quot;3&quot; unique_id=&quot;81678&quot;&gt;&lt;property id=&quot;20148&quot; value=&quot;5&quot;/&gt;&lt;property id=&quot;20300&quot; value=&quot;Slide 6 - &amp;quot;Class Clostridia&amp;quot;&quot;/&gt;&lt;property id=&quot;20307&quot; value=&quot;261&quot;/&gt;&lt;/object&gt;&lt;object type=&quot;3&quot; unique_id=&quot;81679&quot;&gt;&lt;property id=&quot;20148&quot; value=&quot;5&quot;/&gt;&lt;property id=&quot;20300&quot; value=&quot;Slide 7 - &amp;quot;Clostridium tetani&amp;quot;&quot;/&gt;&lt;property id=&quot;20307&quot; value=&quot;262&quot;/&gt;&lt;/object&gt;&lt;object type=&quot;3&quot; unique_id=&quot;81680&quot;&gt;&lt;property id=&quot;20148&quot; value=&quot;5&quot;/&gt;&lt;property id=&quot;20300&quot; value=&quot;Slide 8 - &amp;quot;Genus Clostridium&amp;quot;&quot;/&gt;&lt;property id=&quot;20307&quot; value=&quot;263&quot;/&gt;&lt;/object&gt;&lt;object type=&quot;3&quot; unique_id=&quot;81681&quot;&gt;&lt;property id=&quot;20148&quot; value=&quot;5&quot;/&gt;&lt;property id=&quot;20300&quot; value=&quot;Slide 9 - &amp;quot;Amino Acid Fermentation and Na+ Flux in C. tetani&amp;quot;&quot;/&gt;&lt;property id=&quot;20307&quot; value=&quot;264&quot;/&gt;&lt;/object&gt;&lt;object type=&quot;3&quot; unique_id=&quot;81682&quot;&gt;&lt;property id=&quot;20148&quot; value=&quot;5&quot;/&gt;&lt;property id=&quot;20300&quot; value=&quot;Slide 10 - &amp;quot;Important Species of Clostridium&amp;quot;&quot;/&gt;&lt;property id=&quot;20307&quot; value=&quot;266&quot;/&gt;&lt;/object&gt;&lt;object type=&quot;3&quot; unique_id=&quot;81683&quot;&gt;&lt;property id=&quot;20148&quot; value=&quot;5&quot;/&gt;&lt;property id=&quot;20300&quot; value=&quot;Slide 11 - &amp;quot;Genus Desulfotomaculum&amp;quot;&quot;/&gt;&lt;property id=&quot;20307&quot; value=&quot;267&quot;/&gt;&lt;/object&gt;&lt;object type=&quot;3&quot; unique_id=&quot;81684&quot;&gt;&lt;property id=&quot;20148&quot; value=&quot;5&quot;/&gt;&lt;property id=&quot;20300&quot; value=&quot;Slide 12 - &amp;quot;Genera Heliobacterium and Heliophilum&amp;quot;&quot;/&gt;&lt;property id=&quot;20307&quot; value=&quot;268&quot;/&gt;&lt;/object&gt;&lt;object type=&quot;3&quot; unique_id=&quot;81685&quot;&gt;&lt;property id=&quot;20148&quot; value=&quot;5&quot;/&gt;&lt;property id=&quot;20300&quot; value=&quot;Slide 13 - &amp;quot;Electron Transfer in Heliobacterium&amp;quot;&quot;/&gt;&lt;property id=&quot;20307&quot; value=&quot;269&quot;/&gt;&lt;/object&gt;&lt;object type=&quot;3&quot; unique_id=&quot;81686&quot;&gt;&lt;property id=&quot;20148&quot; value=&quot;5&quot;/&gt;&lt;property id=&quot;20300&quot; value=&quot;Slide 14 - &amp;quot;23.2 Class Negativicutes: Gram-Positive Bacteria with Outer Membranes&amp;quot;&quot;/&gt;&lt;property id=&quot;20307&quot; value=&quot;299&quot;/&gt;&lt;/object&gt;&lt;object type=&quot;3&quot; unique_id=&quot;81687&quot;&gt;&lt;property id=&quot;20148&quot; value=&quot;5&quot;/&gt;&lt;property id=&quot;20300&quot; value=&quot;Slide 15 - &amp;quot;Gram-Positive Microbes with an Outer Membrane&amp;quot;&quot;/&gt;&lt;property id=&quot;20307&quot; value=&quot;300&quot;/&gt;&lt;/object&gt;&lt;object type=&quot;3&quot; unique_id=&quot;81688&quot;&gt;&lt;property id=&quot;20148&quot; value=&quot;5&quot;/&gt;&lt;property id=&quot;20300&quot; value=&quot;Slide 16 - &amp;quot;Genus Veillonella&amp;quot;&quot;/&gt;&lt;property id=&quot;20307&quot; value=&quot;270&quot;/&gt;&lt;/object&gt;&lt;object type=&quot;3&quot; unique_id=&quot;81689&quot;&gt;&lt;property id=&quot;20148&quot; value=&quot;5&quot;/&gt;&lt;property id=&quot;20300&quot; value=&quot;Slide 17 - &amp;quot;23.3 Class Bacilli: Aerobic Endospore-Forming Bacteria&amp;quot;&quot;/&gt;&lt;property id=&quot;20307&quot; value=&quot;271&quot;/&gt;&lt;/object&gt;&lt;object type=&quot;3&quot; unique_id=&quot;81690&quot;&gt;&lt;property id=&quot;20148&quot; value=&quot;5&quot;/&gt;&lt;property id=&quot;20300&quot; value=&quot;Slide 18 - &amp;quot;23.3 Class Bacilli: Aerobic Endospore-Forming Bacteria, (continued)&amp;quot;&quot;/&gt;&lt;property id=&quot;20307&quot; value=&quot;301&quot;/&gt;&lt;/object&gt;&lt;object type=&quot;3&quot; unique_id=&quot;81691&quot;&gt;&lt;property id=&quot;20148&quot; value=&quot;5&quot;/&gt;&lt;property id=&quot;20300&quot; value=&quot;Slide 19 - &amp;quot;Class Bacilli&amp;quot;&quot;/&gt;&lt;property id=&quot;20307&quot; value=&quot;273&quot;/&gt;&lt;/object&gt;&lt;object type=&quot;3&quot; unique_id=&quot;81692&quot;&gt;&lt;property id=&quot;20148&quot; value=&quot;5&quot;/&gt;&lt;property id=&quot;20300&quot; value=&quot;Slide 20 - &amp;quot;Genus Bacillus&amp;quot;&quot;/&gt;&lt;property id=&quot;20307&quot; value=&quot;275&quot;/&gt;&lt;/object&gt;&lt;object type=&quot;3&quot; unique_id=&quot;81693&quot;&gt;&lt;property id=&quot;20148&quot; value=&quot;5&quot;/&gt;&lt;property id=&quot;20300&quot; value=&quot;Slide 21 - &amp;quot;Biofilm Formation by Bacillus subtilis&amp;quot;&quot;/&gt;&lt;property id=&quot;20307&quot; value=&quot;276&quot;/&gt;&lt;/object&gt;&lt;object type=&quot;3&quot; unique_id=&quot;81694&quot;&gt;&lt;property id=&quot;20148&quot; value=&quot;5&quot;/&gt;&lt;property id=&quot;20300&quot; value=&quot;Slide 22 - &amp;quot;Bacillus species&amp;quot;&quot;/&gt;&lt;property id=&quot;20307&quot; value=&quot;277&quot;/&gt;&lt;/object&gt;&lt;object type=&quot;3&quot; unique_id=&quot;81695&quot;&gt;&lt;property id=&quot;20148&quot; value=&quot;5&quot;/&gt;&lt;property id=&quot;20300&quot; value=&quot;Slide 23 - &amp;quot;Genus Thermoactinomyces&amp;quot;&quot;/&gt;&lt;property id=&quot;20307&quot; value=&quot;279&quot;/&gt;&lt;/object&gt;&lt;object type=&quot;3&quot; unique_id=&quot;81696&quot;&gt;&lt;property id=&quot;20148&quot; value=&quot;5&quot;/&gt;&lt;property id=&quot;20300&quot; value=&quot;Slide 24 - &amp;quot;Genus Sporosarcina&amp;quot;&quot;/&gt;&lt;property id=&quot;20307&quot; value=&quot;280&quot;/&gt;&lt;/object&gt;&lt;object type=&quot;3&quot; unique_id=&quot;81697&quot;&gt;&lt;property id=&quot;20148&quot; value=&quot;5&quot;/&gt;&lt;property id=&quot;20300&quot; value=&quot;Slide 25 - &amp;quot;Family Staphylococcaceae&amp;quot;&quot;/&gt;&lt;property id=&quot;20307&quot; value=&quot;281&quot;/&gt;&lt;/object&gt;&lt;object type=&quot;3&quot; unique_id=&quot;81698&quot;&gt;&lt;property id=&quot;20148&quot; value=&quot;5&quot;/&gt;&lt;property id=&quot;20300&quot; value=&quot;Slide 26 - &amp;quot;Staphylococcus epidermidis&amp;quot;&quot;/&gt;&lt;property id=&quot;20307&quot; value=&quot;282&quot;/&gt;&lt;/object&gt;&lt;object type=&quot;3&quot; unique_id=&quot;81699&quot;&gt;&lt;property id=&quot;20148&quot; value=&quot;5&quot;/&gt;&lt;property id=&quot;20300&quot; value=&quot;Slide 27 - &amp;quot;Staphlococcus aureus&amp;quot;&quot;/&gt;&lt;property id=&quot;20307&quot; value=&quot;283&quot;/&gt;&lt;/object&gt;&lt;object type=&quot;3&quot; unique_id=&quot;81700&quot;&gt;&lt;property id=&quot;20148&quot; value=&quot;5&quot;/&gt;&lt;property id=&quot;20300&quot; value=&quot;Slide 28 - &amp;quot;S. aureus Antibiotic Resistance&amp;quot;&quot;/&gt;&lt;property id=&quot;20307&quot; value=&quot;284&quot;/&gt;&lt;/object&gt;&lt;object type=&quot;3&quot; unique_id=&quot;81701&quot;&gt;&lt;property id=&quot;20148&quot; value=&quot;5&quot;/&gt;&lt;property id=&quot;20300&quot; value=&quot;Slide 29 - &amp;quot;Genus Listeria&amp;quot;&quot;/&gt;&lt;property id=&quot;20307&quot; value=&quot;285&quot;/&gt;&lt;/object&gt;&lt;object type=&quot;3&quot; unique_id=&quot;81702&quot;&gt;&lt;property id=&quot;20148&quot; value=&quot;5&quot;/&gt;&lt;property id=&quot;20300&quot; value=&quot;Slide 30 - &amp;quot;Order Lactobacillales&amp;quot;&quot;/&gt;&lt;property id=&quot;20307&quot; value=&quot;286&quot;/&gt;&lt;/object&gt;&lt;object type=&quot;3&quot; unique_id=&quot;81703&quot;&gt;&lt;property id=&quot;20148&quot; value=&quot;5&quot;/&gt;&lt;property id=&quot;20300&quot; value=&quot;Slide 31 - &amp;quot;Lactic Acid Bacteria&amp;quot;&quot;/&gt;&lt;property id=&quot;20307&quot; value=&quot;287&quot;/&gt;&lt;/object&gt;&lt;object type=&quot;3&quot; unique_id=&quot;81704&quot;&gt;&lt;property id=&quot;20148&quot; value=&quot;5&quot;/&gt;&lt;property id=&quot;20300&quot; value=&quot;Slide 32 - &amp;quot;Importance of Lactobacilli&amp;quot;&quot;/&gt;&lt;property id=&quot;20307&quot; value=&quot;289&quot;/&gt;&lt;/object&gt;&lt;object type=&quot;3&quot; unique_id=&quot;81705&quot;&gt;&lt;property id=&quot;20148&quot; value=&quot;5&quot;/&gt;&lt;property id=&quot;20300&quot; value=&quot;Slide 33 - &amp;quot;Family Leuconostocaceae&amp;#x0D;&amp;#x0A;Genus Leuconostoc&amp;quot;&quot;/&gt;&lt;property id=&quot;20307&quot; value=&quot;290&quot;/&gt;&lt;/object&gt;&lt;object type=&quot;3&quot; unique_id=&quot;81706&quot;&gt;&lt;property id=&quot;20148&quot; value=&quot;5&quot;/&gt;&lt;property id=&quot;20300&quot; value=&quot;Slide 34 - &amp;quot;Importance of Leuconostoc&amp;quot;&quot;/&gt;&lt;property id=&quot;20307&quot; value=&quot;291&quot;/&gt;&lt;/object&gt;&lt;object type=&quot;3&quot; unique_id=&quot;81707&quot;&gt;&lt;property id=&quot;20148&quot; value=&quot;5&quot;/&gt;&lt;property id=&quot;20300&quot; value=&quot;Slide 35 - &amp;quot;Families Streptococcaceae&amp;#x0D;&amp;#x0A;and Enterococcaceae&amp;quot;&quot;/&gt;&lt;property id=&quot;20307&quot; value=&quot;292&quot;/&gt;&lt;/object&gt;&lt;object type=&quot;3&quot; unique_id=&quot;81708&quot;&gt;&lt;property id=&quot;20148&quot; value=&quot;5&quot;/&gt;&lt;property id=&quot;20300&quot; value=&quot;Slide 36 - &amp;quot;Classification of Streptococci, Enterococci, and Lactococci&amp;quot;&quot;/&gt;&lt;property id=&quot;20307&quot; value=&quot;293&quot;/&gt;&lt;/object&gt;&lt;object type=&quot;3&quot; unique_id=&quot;81709&quot;&gt;&lt;property id=&quot;20148&quot; value=&quot;5&quot;/&gt;&lt;property id=&quot;20300&quot; value=&quot;Slide 37 - &amp;quot;Genus Streptococcus&amp;quot;&quot;/&gt;&lt;property id=&quot;20307&quot; value=&quot;294&quot;/&gt;&lt;/object&gt;&lt;object type=&quot;3&quot; unique_id=&quot;81710&quot;&gt;&lt;property id=&quot;20148&quot; value=&quot;5&quot;/&gt;&lt;property id=&quot;20300&quot; value=&quot;Slide 38 - &amp;quot;Three Groups of Streptococci&amp;quot;&quot;/&gt;&lt;property id=&quot;20307&quot; value=&quot;296&quot;/&gt;&lt;/object&gt;&lt;object type=&quot;3&quot; unique_id=&quot;81711&quot;&gt;&lt;property id=&quot;20148&quot; value=&quot;5&quot;/&gt;&lt;property id=&quot;20300&quot; value=&quot;Slide 39 - &amp;quot;Important Enterococci&amp;#x0D;&amp;#x0A;and Lactococci&amp;quot;&quot;/&gt;&lt;property id=&quot;20307&quot; value=&quot;297&quot;/&gt;&lt;/object&gt;&lt;object type=&quot;3&quot; unique_id=&quot;81712&quot;&gt;&lt;property id=&quot;20148&quot; value=&quot;5&quot;/&gt;&lt;property id=&quot;20300&quot; value=&quot;Slide 40 - &amp;quot;Take Home Message&amp;quot;&quot;/&gt;&lt;property id=&quot;20307&quot; value=&quot;298&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1575</Words>
  <Application>Microsoft Office PowerPoint</Application>
  <PresentationFormat>On-screen Show (4:3)</PresentationFormat>
  <Paragraphs>260</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Symbol</vt:lpstr>
      <vt:lpstr>Tahoma</vt:lpstr>
      <vt:lpstr>Office Theme</vt:lpstr>
      <vt:lpstr>Chapter 23 – Firmicutes: The Low G+C Gram-Positive Bacteria</vt:lpstr>
      <vt:lpstr>23.1 Class Clostridia</vt:lpstr>
      <vt:lpstr>Gram-Positive Bacteria</vt:lpstr>
      <vt:lpstr>Low G + C Gram-Positive Bacteria Bergey’s Manual</vt:lpstr>
      <vt:lpstr>Phylogenetic Relationships in the Phylum Firmicutes</vt:lpstr>
      <vt:lpstr>Class Clostridia</vt:lpstr>
      <vt:lpstr>Clostridium tetani</vt:lpstr>
      <vt:lpstr>Genus Clostridium</vt:lpstr>
      <vt:lpstr>Amino Acid Fermentation and Na+ Flux in C. tetani</vt:lpstr>
      <vt:lpstr>Important Species of Clostridium</vt:lpstr>
      <vt:lpstr>Genus Desulfotomaculum</vt:lpstr>
      <vt:lpstr>Genera Heliobacterium and Heliophilum</vt:lpstr>
      <vt:lpstr>Electron Transfer in Heliobacterium</vt:lpstr>
      <vt:lpstr>23.2 Class Negativicutes: Gram-Positive Bacteria with Outer Membranes</vt:lpstr>
      <vt:lpstr>Gram-Positive Microbes with an Outer Membrane</vt:lpstr>
      <vt:lpstr>Genus Veillonella</vt:lpstr>
      <vt:lpstr>23.3 Class Bacilli: Aerobic Endospore-Forming Bacteria</vt:lpstr>
      <vt:lpstr>23.3 Class Bacilli: Aerobic Endospore-Forming Bacteria, (continued)</vt:lpstr>
      <vt:lpstr>Class Bacilli</vt:lpstr>
      <vt:lpstr>Genus Bacillus</vt:lpstr>
      <vt:lpstr>Biofilm Formation by Bacillus subtilis</vt:lpstr>
      <vt:lpstr>Bacillus species</vt:lpstr>
      <vt:lpstr>Genus Thermoactinomyces</vt:lpstr>
      <vt:lpstr>Genus Sporosarcina</vt:lpstr>
      <vt:lpstr>Family Staphylococcaceae</vt:lpstr>
      <vt:lpstr>Staphylococcus epidermidis</vt:lpstr>
      <vt:lpstr>Staphlococcus aureus</vt:lpstr>
      <vt:lpstr>S. aureus Antibiotic Resistance</vt:lpstr>
      <vt:lpstr>Genus Listeria</vt:lpstr>
      <vt:lpstr>Order Lactobacillales</vt:lpstr>
      <vt:lpstr>Lactic Acid Bacteria</vt:lpstr>
      <vt:lpstr>Importance of Lactobacilli</vt:lpstr>
      <vt:lpstr>Family Leuconostocaceae Genus Leuconostoc</vt:lpstr>
      <vt:lpstr>Importance of Leuconostoc</vt:lpstr>
      <vt:lpstr>Families Streptococcaceae and Enterococcaceae</vt:lpstr>
      <vt:lpstr>Classification of Streptococci, Enterococci, and Lactococci</vt:lpstr>
      <vt:lpstr>Genus Streptococcus</vt:lpstr>
      <vt:lpstr>Three Groups of Streptococci</vt:lpstr>
      <vt:lpstr>Important Enterococci and Lactococci</vt:lpstr>
      <vt:lpstr>Take Home Message</vt:lpstr>
    </vt:vector>
  </TitlesOfParts>
  <Company>University of Central Arkansas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Homa Darmani</cp:lastModifiedBy>
  <cp:revision>35</cp:revision>
  <dcterms:created xsi:type="dcterms:W3CDTF">2016-01-04T02:13:32Z</dcterms:created>
  <dcterms:modified xsi:type="dcterms:W3CDTF">2023-02-23T12:07:26Z</dcterms:modified>
</cp:coreProperties>
</file>