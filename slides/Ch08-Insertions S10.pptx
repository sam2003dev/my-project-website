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5" r:id="rId5"/>
    <p:sldId id="260" r:id="rId6"/>
    <p:sldId id="261" r:id="rId7"/>
    <p:sldId id="262" r:id="rId8"/>
    <p:sldId id="266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58" y="40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E35481-6672-462C-B45C-02CEE6C13B47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F6524-3B16-4EDF-9851-6EC8B4D6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44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8DB5-0491-478E-B5A8-A4D7E838F5F2}" type="datetime1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7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B9F44-7288-462C-A22A-5F20592304B7}" type="datetime1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64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352C-1CFC-4893-90B2-BD694925BA2B}" type="datetime1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7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C2331-C617-44F7-B6F7-87B33E779360}" type="datetime1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28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F7953-C169-4F9C-9091-52F09BAA9C10}" type="datetime1">
              <a:rPr lang="en-US" smtClean="0"/>
              <a:t>4/20/2024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205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E139-2C82-482E-86A9-A96EEE23520A}" type="datetime1">
              <a:rPr lang="en-US" smtClean="0"/>
              <a:t>4/20/2024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16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F4B48-7097-4EFA-BCB8-7159D1D4FEA6}" type="datetime1">
              <a:rPr lang="en-US" smtClean="0"/>
              <a:t>4/20/2024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42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76E1F-32B5-499C-99AE-C6A8807D9394}" type="datetime1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1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1DA62-37D8-4E0F-8761-308A5F905B36}" type="datetime1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14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344F-8B03-4945-BC08-A99A0AC1B6B0}" type="datetime1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94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6245C-37A1-47C2-BEE9-35A6796372AE}" type="datetime1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81A46-FFA6-434A-A488-EE092E25AA5C}" type="datetime1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911CB-E3DA-43D4-B70E-0E2B24E02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82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46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Insertions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517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8534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Insertions are a type of translocation 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insertional translocation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interstitial translocation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non-reciprocal translocation</a:t>
            </a:r>
          </a:p>
          <a:p>
            <a:endParaRPr lang="en-US" sz="2400" dirty="0"/>
          </a:p>
          <a:p>
            <a:r>
              <a:rPr lang="en-US" sz="2400" i="1" dirty="0" err="1" smtClean="0">
                <a:solidFill>
                  <a:srgbClr val="0070C0"/>
                </a:solidFill>
              </a:rPr>
              <a:t>Inter</a:t>
            </a:r>
            <a:r>
              <a:rPr lang="en-US" sz="2400" dirty="0" err="1" smtClean="0"/>
              <a:t>chromosomal</a:t>
            </a:r>
            <a:r>
              <a:rPr lang="en-US" sz="2400" dirty="0" smtClean="0"/>
              <a:t> insertion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one-way or reciprocal</a:t>
            </a:r>
          </a:p>
          <a:p>
            <a:endParaRPr lang="en-US" sz="2400" dirty="0" smtClean="0"/>
          </a:p>
          <a:p>
            <a:r>
              <a:rPr lang="en-US" sz="2400" i="1" dirty="0" err="1" smtClean="0">
                <a:solidFill>
                  <a:srgbClr val="0070C0"/>
                </a:solidFill>
              </a:rPr>
              <a:t>Intra</a:t>
            </a:r>
            <a:r>
              <a:rPr lang="en-US" sz="2400" dirty="0" err="1" smtClean="0"/>
              <a:t>chromosomal</a:t>
            </a:r>
            <a:r>
              <a:rPr lang="en-US" sz="2400" dirty="0" smtClean="0"/>
              <a:t> insertion (very rare, only 70 cases published)</a:t>
            </a:r>
          </a:p>
          <a:p>
            <a:endParaRPr lang="en-US" sz="2400" dirty="0"/>
          </a:p>
          <a:p>
            <a:r>
              <a:rPr lang="en-US" sz="2400" dirty="0" smtClean="0"/>
              <a:t>Direct insertion (</a:t>
            </a:r>
            <a:r>
              <a:rPr lang="en-US" sz="2400" dirty="0" err="1" smtClean="0"/>
              <a:t>dir</a:t>
            </a:r>
            <a:r>
              <a:rPr lang="en-US" sz="2400" dirty="0" smtClean="0"/>
              <a:t> ins) or inverted insertion (</a:t>
            </a:r>
            <a:r>
              <a:rPr lang="en-US" sz="2400" dirty="0" err="1" smtClean="0"/>
              <a:t>inv</a:t>
            </a:r>
            <a:r>
              <a:rPr lang="en-US" sz="2400" dirty="0" smtClean="0"/>
              <a:t> ins)</a:t>
            </a:r>
          </a:p>
          <a:p>
            <a:endParaRPr lang="en-US" sz="2400" dirty="0"/>
          </a:p>
          <a:p>
            <a:r>
              <a:rPr lang="en-US" sz="2400" dirty="0" smtClean="0"/>
              <a:t>Insertions were classified </a:t>
            </a:r>
            <a:r>
              <a:rPr lang="en-US" sz="2400" i="1" dirty="0" smtClean="0">
                <a:solidFill>
                  <a:srgbClr val="0070C0"/>
                </a:solidFill>
              </a:rPr>
              <a:t>rare</a:t>
            </a:r>
            <a:r>
              <a:rPr lang="en-US" sz="2400" dirty="0" smtClean="0"/>
              <a:t> (1 in 80,000, classic cytogenetics detection), now classified </a:t>
            </a:r>
            <a:r>
              <a:rPr lang="en-US" sz="2400" i="1" dirty="0" smtClean="0">
                <a:solidFill>
                  <a:srgbClr val="0070C0"/>
                </a:solidFill>
              </a:rPr>
              <a:t>uncommon</a:t>
            </a:r>
            <a:r>
              <a:rPr lang="en-US" sz="2400" dirty="0" smtClean="0"/>
              <a:t> (</a:t>
            </a:r>
            <a:r>
              <a:rPr lang="en-US" sz="2400" dirty="0" err="1" smtClean="0"/>
              <a:t>sixfold</a:t>
            </a:r>
            <a:r>
              <a:rPr lang="en-US" sz="2400" dirty="0" smtClean="0"/>
              <a:t> more, microarray detection)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4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p\Documents\My Scans\scan0073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67" r="47789"/>
          <a:stretch/>
        </p:blipFill>
        <p:spPr bwMode="auto">
          <a:xfrm>
            <a:off x="-17174" y="0"/>
            <a:ext cx="73136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162800" y="76200"/>
            <a:ext cx="1893678" cy="30469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</a:rPr>
              <a:t>The simple one-way inter-chromosomal </a:t>
            </a:r>
            <a:r>
              <a:rPr lang="en-US" sz="2400" dirty="0" smtClean="0">
                <a:solidFill>
                  <a:srgbClr val="C00000"/>
                </a:solidFill>
              </a:rPr>
              <a:t>insertion </a:t>
            </a:r>
            <a:r>
              <a:rPr lang="en-US" sz="2400" dirty="0" smtClean="0">
                <a:solidFill>
                  <a:srgbClr val="C00000"/>
                </a:solidFill>
              </a:rPr>
              <a:t>is the most common form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26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hp\Documents\My Scans\scan0073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7" t="2705" r="1409" b="2417"/>
          <a:stretch/>
        </p:blipFill>
        <p:spPr bwMode="auto">
          <a:xfrm>
            <a:off x="-1" y="6625"/>
            <a:ext cx="3702113" cy="685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62400" y="228600"/>
            <a:ext cx="50292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00000"/>
                </a:solidFill>
              </a:rPr>
              <a:t>Independent synapsing of homologous pairs</a:t>
            </a:r>
          </a:p>
          <a:p>
            <a:endParaRPr lang="en-US" sz="2400" dirty="0" smtClean="0"/>
          </a:p>
          <a:p>
            <a:r>
              <a:rPr lang="en-US" sz="2400" dirty="0" smtClean="0"/>
              <a:t>Bivalents</a:t>
            </a:r>
          </a:p>
          <a:p>
            <a:endParaRPr lang="en-US" sz="2400" dirty="0"/>
          </a:p>
          <a:p>
            <a:r>
              <a:rPr lang="en-US" sz="2400" dirty="0" smtClean="0"/>
              <a:t>Independent synapsing is more likely to apply when the insertional segment is of small size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1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p\Documents\My Scans\scan0074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2" t="1410" r="2788" b="1666"/>
          <a:stretch/>
        </p:blipFill>
        <p:spPr bwMode="auto">
          <a:xfrm>
            <a:off x="0" y="0"/>
            <a:ext cx="845003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5</a:t>
            </a:fld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5029200" y="6477000"/>
            <a:ext cx="32004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721475"/>
            <a:ext cx="2362200" cy="653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334000" y="6019800"/>
            <a:ext cx="1981200" cy="212726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718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p\Documents\My Scans\scan0075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" b="16993"/>
          <a:stretch/>
        </p:blipFill>
        <p:spPr bwMode="auto">
          <a:xfrm>
            <a:off x="-1" y="0"/>
            <a:ext cx="3810001" cy="6782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886200" y="152400"/>
            <a:ext cx="5105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Formation of quadrivalent</a:t>
            </a:r>
          </a:p>
          <a:p>
            <a:endParaRPr lang="en-US" sz="2400" dirty="0" smtClean="0"/>
          </a:p>
          <a:p>
            <a:r>
              <a:rPr lang="en-US" sz="2400" dirty="0" smtClean="0"/>
              <a:t>Happen with larger insertional segments</a:t>
            </a:r>
          </a:p>
          <a:p>
            <a:endParaRPr lang="en-US" sz="2400" dirty="0"/>
          </a:p>
          <a:p>
            <a:r>
              <a:rPr lang="en-US" sz="2400" dirty="0" smtClean="0"/>
              <a:t>If no crossover happen in the inserted sequence then the result would be the same as of bivalents (independent synapsing)</a:t>
            </a:r>
          </a:p>
          <a:p>
            <a:endParaRPr lang="en-US" sz="2400" dirty="0"/>
          </a:p>
          <a:p>
            <a:r>
              <a:rPr lang="en-US" sz="2400" dirty="0" smtClean="0"/>
              <a:t>When crossover happen in the inserted segment, then 4 possibilities occur, the least imbalanced, least monosomic is the </a:t>
            </a:r>
            <a:r>
              <a:rPr lang="en-US" sz="2400" dirty="0" smtClean="0">
                <a:solidFill>
                  <a:srgbClr val="C00000"/>
                </a:solidFill>
              </a:rPr>
              <a:t>dup ins </a:t>
            </a:r>
            <a:r>
              <a:rPr lang="en-US" sz="2400" dirty="0" smtClean="0"/>
              <a:t>combination</a:t>
            </a:r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2" descr="C:\Users\hp\Documents\My Scans\scan0075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336" b="1448"/>
          <a:stretch/>
        </p:blipFill>
        <p:spPr bwMode="auto">
          <a:xfrm>
            <a:off x="4648200" y="5562600"/>
            <a:ext cx="3763495" cy="1271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685800" y="6553200"/>
            <a:ext cx="533400" cy="0"/>
          </a:xfrm>
          <a:prstGeom prst="line">
            <a:avLst/>
          </a:prstGeom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69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p\Documents\My Scans\scan0076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" t="826" r="1357" b="52210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7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6200" y="6172200"/>
            <a:ext cx="3657600" cy="2667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4572000" y="5867400"/>
            <a:ext cx="1143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010400" y="5867400"/>
            <a:ext cx="152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66999" y="5646736"/>
            <a:ext cx="1933303" cy="220663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hp\Documents\My Scans\scan0076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7" t="62366" r="4240" b="1104"/>
          <a:stretch/>
        </p:blipFill>
        <p:spPr bwMode="auto">
          <a:xfrm>
            <a:off x="-1" y="0"/>
            <a:ext cx="6934201" cy="4202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7324" y="4243415"/>
            <a:ext cx="8839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Segment of chromosome 8 is inserted into chromosome 10</a:t>
            </a:r>
          </a:p>
          <a:p>
            <a:endParaRPr lang="en-US" sz="2000" dirty="0" smtClean="0"/>
          </a:p>
          <a:p>
            <a:r>
              <a:rPr lang="en-US" sz="2000" dirty="0" smtClean="0"/>
              <a:t>In this family only duplication was observed (no deletions) with segregations ratio of 1:1:1:0 (</a:t>
            </a:r>
            <a:r>
              <a:rPr lang="en-US" sz="2000" dirty="0" err="1" smtClean="0"/>
              <a:t>normal:balanced:parial</a:t>
            </a:r>
            <a:r>
              <a:rPr lang="en-US" sz="2000" dirty="0" smtClean="0"/>
              <a:t> </a:t>
            </a:r>
            <a:r>
              <a:rPr lang="en-US" sz="2000" dirty="0" err="1" smtClean="0"/>
              <a:t>trisomy:partial</a:t>
            </a:r>
            <a:r>
              <a:rPr lang="en-US" sz="2000" dirty="0" smtClean="0"/>
              <a:t> monosomy)</a:t>
            </a:r>
          </a:p>
          <a:p>
            <a:endParaRPr lang="en-US" sz="2000" dirty="0" smtClean="0"/>
          </a:p>
          <a:p>
            <a:r>
              <a:rPr lang="en-US" sz="2000" dirty="0" smtClean="0"/>
              <a:t>Risk of having </a:t>
            </a:r>
            <a:r>
              <a:rPr lang="en-US" sz="2000" dirty="0" err="1" smtClean="0"/>
              <a:t>aneuploid</a:t>
            </a:r>
            <a:r>
              <a:rPr lang="en-US" sz="2000" dirty="0" smtClean="0"/>
              <a:t> child is 1/3 (private segregation analysis)</a:t>
            </a:r>
          </a:p>
          <a:p>
            <a:endParaRPr lang="en-US" sz="2000" dirty="0"/>
          </a:p>
          <a:p>
            <a:r>
              <a:rPr lang="en-US" sz="2000" dirty="0" smtClean="0"/>
              <a:t>If insertion is smaller, then </a:t>
            </a:r>
            <a:r>
              <a:rPr lang="en-US" sz="2000" dirty="0" err="1" smtClean="0"/>
              <a:t>monosomics</a:t>
            </a:r>
            <a:r>
              <a:rPr lang="en-US" sz="2000" dirty="0" smtClean="0"/>
              <a:t> might be viable</a:t>
            </a:r>
            <a:endParaRPr lang="en-US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6934200" y="152400"/>
            <a:ext cx="20123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00000"/>
                </a:solidFill>
              </a:rPr>
              <a:t>Segment content and viability</a:t>
            </a:r>
            <a:endParaRPr 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313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p\Documents\My Scans\scan0077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" b="1412"/>
          <a:stretch/>
        </p:blipFill>
        <p:spPr bwMode="auto">
          <a:xfrm>
            <a:off x="0" y="18244"/>
            <a:ext cx="7615936" cy="6839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9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295400" y="5676900"/>
            <a:ext cx="1676400" cy="2405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1600200" y="6096000"/>
            <a:ext cx="9906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867400" y="6096000"/>
            <a:ext cx="12192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362200" y="6351996"/>
            <a:ext cx="3429000" cy="435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086600" y="71022"/>
            <a:ext cx="1994263" cy="52629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An insertion of a very small segment may, on classical cytogenetics, be difficult to detect, although with increasing use of microarray analysis, more such cases are coming to 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5200" y="5906839"/>
            <a:ext cx="2033451" cy="189162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51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p\Documents\My Scans\scan0078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6" t="1478" r="10246" b="25741"/>
          <a:stretch/>
        </p:blipFill>
        <p:spPr bwMode="auto">
          <a:xfrm>
            <a:off x="-1" y="0"/>
            <a:ext cx="481263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11CB-E3DA-43D4-B70E-0E2B24E0243F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257800" y="152400"/>
            <a:ext cx="373380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Two-way insertion</a:t>
            </a:r>
          </a:p>
          <a:p>
            <a:endParaRPr lang="en-US" sz="2400" dirty="0" smtClean="0"/>
          </a:p>
          <a:p>
            <a:r>
              <a:rPr lang="en-US" sz="2400" dirty="0" smtClean="0"/>
              <a:t>May result </a:t>
            </a:r>
            <a:r>
              <a:rPr lang="en-US" sz="2400" dirty="0" smtClean="0">
                <a:solidFill>
                  <a:srgbClr val="0070C0"/>
                </a:solidFill>
              </a:rPr>
              <a:t>in partial monosomy</a:t>
            </a:r>
            <a:r>
              <a:rPr lang="en-US" sz="2400" dirty="0" smtClean="0"/>
              <a:t> of one chromosome with the reciprocal </a:t>
            </a:r>
            <a:r>
              <a:rPr lang="en-US" sz="2400" dirty="0" smtClean="0">
                <a:solidFill>
                  <a:srgbClr val="0070C0"/>
                </a:solidFill>
              </a:rPr>
              <a:t>partial trisomy </a:t>
            </a:r>
            <a:r>
              <a:rPr lang="en-US" sz="2400" dirty="0" smtClean="0"/>
              <a:t>of the segment from the other chromosome</a:t>
            </a:r>
          </a:p>
          <a:p>
            <a:endParaRPr lang="en-US" sz="2400" dirty="0"/>
          </a:p>
          <a:p>
            <a:r>
              <a:rPr lang="en-US" sz="2200" b="1" dirty="0" smtClean="0"/>
              <a:t>Figure. </a:t>
            </a:r>
            <a:r>
              <a:rPr lang="en-US" sz="2200" dirty="0" smtClean="0"/>
              <a:t>Insertional translocations and abnormal segregation.</a:t>
            </a:r>
          </a:p>
          <a:p>
            <a:pPr marL="457200" indent="-457200">
              <a:buAutoNum type="alphaLcParenBoth"/>
            </a:pPr>
            <a:r>
              <a:rPr lang="en-US" sz="2200" dirty="0" smtClean="0"/>
              <a:t>One-way, single segment, or nonreciprocal insertion</a:t>
            </a:r>
          </a:p>
          <a:p>
            <a:pPr marL="457200" indent="-457200">
              <a:buAutoNum type="alphaLcParenBoth"/>
            </a:pPr>
            <a:r>
              <a:rPr lang="en-US" sz="2200" dirty="0" smtClean="0"/>
              <a:t>Two-way, double-segment, or reciprocal insertion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92129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236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Insertions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Inversions</dc:title>
  <dc:creator>alkhateeb</dc:creator>
  <cp:lastModifiedBy>JUST</cp:lastModifiedBy>
  <cp:revision>42</cp:revision>
  <dcterms:created xsi:type="dcterms:W3CDTF">2012-04-24T19:53:51Z</dcterms:created>
  <dcterms:modified xsi:type="dcterms:W3CDTF">2024-04-20T20:39:45Z</dcterms:modified>
</cp:coreProperties>
</file>