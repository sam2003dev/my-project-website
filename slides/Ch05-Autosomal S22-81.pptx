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62" r:id="rId4"/>
    <p:sldId id="259" r:id="rId5"/>
    <p:sldId id="261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81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4660"/>
  </p:normalViewPr>
  <p:slideViewPr>
    <p:cSldViewPr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16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8C2C3-3CE3-45BA-9594-5B5A6F81E76E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C50D7-B840-472B-A490-C12CC06DD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1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BF0A-1DCD-48A4-B19C-847D6960DDF1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2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7089-37DC-4559-BE71-D54FC011194B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4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24F4-EF5A-41E8-A253-CEDA0DC0D313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890A-AAA4-480F-8D00-E4AB4AC532D3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91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5C497-A1E3-403C-8496-B2FA935E8012}" type="datetime1">
              <a:rPr lang="en-US" smtClean="0"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8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3D6C-E280-4EE9-BECA-78BBE7C0F2A4}" type="datetime1">
              <a:rPr lang="en-US" smtClean="0"/>
              <a:t>3/31/2024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9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FE0F-C956-4671-9C73-4B12810B7627}" type="datetime1">
              <a:rPr lang="en-US" smtClean="0"/>
              <a:t>3/31/2024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3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47F13-2014-47BA-8661-F4AEAF493F18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7648-23F4-41DF-BAEB-0C01E4C0472A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6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4AA56-D7A5-4149-BEE7-C0FFF2837D5E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4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FA9F-7055-45AD-8CFC-686422296E69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9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281F9-E224-4B3D-8C61-98924CF8B5BE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3A7F-B775-4264-94C1-FA34E322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8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Autosomal reciprocal translocations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48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458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Reciprocal translocation is an exchange of chromosomal material between non homologous chromosomes</a:t>
            </a:r>
          </a:p>
          <a:p>
            <a:endParaRPr lang="en-US" sz="2400" dirty="0"/>
          </a:p>
          <a:p>
            <a:r>
              <a:rPr lang="en-US" sz="2400" dirty="0" smtClean="0"/>
              <a:t>Distal portion exchanged is the </a:t>
            </a:r>
            <a:r>
              <a:rPr lang="en-US" sz="2400" b="1" dirty="0" smtClean="0"/>
              <a:t>translocated segment</a:t>
            </a:r>
          </a:p>
          <a:p>
            <a:r>
              <a:rPr lang="en-US" sz="2400" dirty="0" smtClean="0"/>
              <a:t>Rest of chromosome including centromere is the </a:t>
            </a:r>
            <a:r>
              <a:rPr lang="en-US" sz="2400" b="1" dirty="0" smtClean="0"/>
              <a:t>centric segment</a:t>
            </a:r>
          </a:p>
          <a:p>
            <a:endParaRPr lang="en-US" sz="2400" dirty="0"/>
          </a:p>
          <a:p>
            <a:r>
              <a:rPr lang="en-US" sz="2400" dirty="0" smtClean="0"/>
              <a:t>Rearranged chromosome is called </a:t>
            </a:r>
            <a:r>
              <a:rPr lang="en-US" sz="2400" b="1" dirty="0" smtClean="0">
                <a:solidFill>
                  <a:srgbClr val="0070C0"/>
                </a:solidFill>
              </a:rPr>
              <a:t>derivative</a:t>
            </a:r>
            <a:r>
              <a:rPr lang="en-US" sz="2400" dirty="0" smtClean="0">
                <a:solidFill>
                  <a:srgbClr val="0070C0"/>
                </a:solidFill>
              </a:rPr>
              <a:t> (der) </a:t>
            </a:r>
            <a:r>
              <a:rPr lang="en-US" sz="2400" dirty="0" smtClean="0"/>
              <a:t>chromosome</a:t>
            </a:r>
          </a:p>
          <a:p>
            <a:endParaRPr lang="en-US" sz="2400" dirty="0"/>
          </a:p>
          <a:p>
            <a:r>
              <a:rPr lang="en-US" sz="2400" dirty="0" smtClean="0"/>
              <a:t>1 person in 500 is a reciprocal translocation carrier (classic </a:t>
            </a:r>
            <a:r>
              <a:rPr lang="en-US" sz="2400" dirty="0" err="1" smtClean="0"/>
              <a:t>cyto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r>
              <a:rPr lang="en-US" sz="2400" dirty="0" smtClean="0"/>
              <a:t>Translocation may be de novo or run in families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5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45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Single segment exchange</a:t>
            </a:r>
            <a:r>
              <a:rPr lang="en-US" sz="2400" dirty="0" smtClean="0"/>
              <a:t>: one of the translocated segments is very small and comprises only the telomeric cap with the supposition of no genes contained</a:t>
            </a:r>
          </a:p>
          <a:p>
            <a:endParaRPr lang="en-US" sz="2400" dirty="0"/>
          </a:p>
          <a:p>
            <a:r>
              <a:rPr lang="en-US" sz="2400" b="1" dirty="0" smtClean="0"/>
              <a:t>Double segment exchange</a:t>
            </a:r>
            <a:r>
              <a:rPr lang="en-US" sz="2400" dirty="0" smtClean="0"/>
              <a:t>: both translocated segments are of substantial size</a:t>
            </a:r>
          </a:p>
          <a:p>
            <a:endParaRPr lang="en-US" sz="2400" dirty="0"/>
          </a:p>
          <a:p>
            <a:r>
              <a:rPr lang="en-US" sz="2400" b="1" dirty="0" smtClean="0"/>
              <a:t>Whole-arm translocation</a:t>
            </a:r>
            <a:r>
              <a:rPr lang="en-US" sz="2400" dirty="0" smtClean="0"/>
              <a:t>: rare and involves breakpoint at the centromere with an exchange of entire arms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ocuments\My Scans\scan002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" t="6571" r="2469" b="7017"/>
          <a:stretch/>
        </p:blipFill>
        <p:spPr bwMode="auto">
          <a:xfrm>
            <a:off x="1" y="0"/>
            <a:ext cx="913863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4</a:t>
            </a:fld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486400" y="6356350"/>
            <a:ext cx="1371600" cy="19685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881258" y="6367236"/>
            <a:ext cx="1225731" cy="18596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6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p\Documents\My Scans\scan002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" r="6551" b="1596"/>
          <a:stretch/>
        </p:blipFill>
        <p:spPr bwMode="auto">
          <a:xfrm>
            <a:off x="5142450" y="11806"/>
            <a:ext cx="4013357" cy="684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2" descr="C:\Users\hp\Documents\My Scans\scan0027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5" t="5266" r="6993" b="4086"/>
          <a:stretch/>
        </p:blipFill>
        <p:spPr bwMode="auto">
          <a:xfrm>
            <a:off x="-19318" y="11806"/>
            <a:ext cx="4165242" cy="432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8499" y="4724400"/>
            <a:ext cx="23135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Quadrivalent</a:t>
            </a:r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Segregation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52600"/>
            <a:ext cx="1066800" cy="4572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1066800" cy="381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772400" y="2743200"/>
            <a:ext cx="1066800" cy="381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772400" y="3913040"/>
            <a:ext cx="1219200" cy="42559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772400" y="4827440"/>
            <a:ext cx="1066800" cy="69907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68498" y="4827440"/>
            <a:ext cx="2041301" cy="35416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6</a:t>
            </a:fld>
            <a:endParaRPr lang="en-US"/>
          </a:p>
        </p:txBody>
      </p:sp>
      <p:pic>
        <p:nvPicPr>
          <p:cNvPr id="5122" name="Picture 2" descr="C:\Users\hp\Documents\My Scans\scan003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" t="1909" r="1598" b="1617"/>
          <a:stretch/>
        </p:blipFill>
        <p:spPr bwMode="auto">
          <a:xfrm>
            <a:off x="1905000" y="4292"/>
            <a:ext cx="5626975" cy="685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239000" y="0"/>
            <a:ext cx="457200" cy="6356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95600" y="1295400"/>
            <a:ext cx="533400" cy="2286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897776" y="2362200"/>
            <a:ext cx="607423" cy="1524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899953" y="3354946"/>
            <a:ext cx="607423" cy="1524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105400" y="5105400"/>
            <a:ext cx="978775" cy="1524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352800" y="6080728"/>
            <a:ext cx="990600" cy="16767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996543" y="6100291"/>
            <a:ext cx="1175657" cy="14810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581400" y="5109692"/>
            <a:ext cx="762000" cy="14810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5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7</a:t>
            </a:fld>
            <a:endParaRPr lang="en-US"/>
          </a:p>
        </p:txBody>
      </p:sp>
      <p:pic>
        <p:nvPicPr>
          <p:cNvPr id="6146" name="Picture 2" descr="C:\Users\hp\Documents\My Scans\scan003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2250" r="2441" b="2108"/>
          <a:stretch/>
        </p:blipFill>
        <p:spPr bwMode="auto">
          <a:xfrm>
            <a:off x="0" y="17170"/>
            <a:ext cx="4997575" cy="437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hp\Documents\My Scans\scan003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0"/>
            <a:ext cx="4327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4474706"/>
            <a:ext cx="45174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In a review of 1159 translocation families (1994), proportions of chromosomally unbalanced offspring were: </a:t>
            </a:r>
          </a:p>
          <a:p>
            <a:r>
              <a:rPr lang="en-US" sz="2000" dirty="0" smtClean="0"/>
              <a:t>71% adjacent-1</a:t>
            </a:r>
          </a:p>
          <a:p>
            <a:r>
              <a:rPr lang="en-US" sz="2000" dirty="0" smtClean="0"/>
              <a:t>4%   adjacent-2</a:t>
            </a:r>
          </a:p>
          <a:p>
            <a:r>
              <a:rPr lang="en-US" sz="2000" dirty="0" smtClean="0"/>
              <a:t>22% tertiary trisomy/monosomy</a:t>
            </a:r>
          </a:p>
          <a:p>
            <a:r>
              <a:rPr lang="en-US" sz="2000" dirty="0" smtClean="0"/>
              <a:t>2.5% interchange trisomy</a:t>
            </a:r>
            <a:endParaRPr lang="en-US" sz="2000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6400800" y="2590800"/>
            <a:ext cx="228600" cy="22860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7355983" y="4810397"/>
            <a:ext cx="228600" cy="22860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791200" y="4800600"/>
            <a:ext cx="228600" cy="22860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8169142" y="2579914"/>
            <a:ext cx="228600" cy="22860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86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534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Gamete studies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Sperm and oocyte karyotyping for 45 men and 9 women heterozygous for a translocation were: </a:t>
            </a:r>
          </a:p>
          <a:p>
            <a:endParaRPr lang="en-US" sz="2800" dirty="0" smtClean="0"/>
          </a:p>
          <a:p>
            <a:pPr lvl="1"/>
            <a:r>
              <a:rPr lang="en-US" sz="2800" dirty="0" smtClean="0"/>
              <a:t>		</a:t>
            </a:r>
            <a:r>
              <a:rPr lang="en-US" sz="2800" u="sng" dirty="0" smtClean="0"/>
              <a:t>male</a:t>
            </a:r>
            <a:r>
              <a:rPr lang="en-US" sz="2800" dirty="0" smtClean="0"/>
              <a:t>		</a:t>
            </a:r>
            <a:r>
              <a:rPr lang="en-US" sz="2800" u="sng" dirty="0" smtClean="0"/>
              <a:t>female</a:t>
            </a:r>
          </a:p>
          <a:p>
            <a:r>
              <a:rPr lang="en-US" sz="2800" dirty="0" smtClean="0"/>
              <a:t>ALT		44%		30%</a:t>
            </a:r>
          </a:p>
          <a:p>
            <a:r>
              <a:rPr lang="en-US" sz="2800" dirty="0" smtClean="0"/>
              <a:t>ADJ-1		31%		24%	</a:t>
            </a:r>
          </a:p>
          <a:p>
            <a:r>
              <a:rPr lang="en-US" sz="2800" dirty="0" smtClean="0"/>
              <a:t>ADJ-2		13%		16%</a:t>
            </a:r>
          </a:p>
          <a:p>
            <a:r>
              <a:rPr lang="en-US" sz="2800" dirty="0" smtClean="0"/>
              <a:t>3:1		11%		27%</a:t>
            </a:r>
          </a:p>
          <a:p>
            <a:r>
              <a:rPr lang="en-US" sz="2800" u="sng" dirty="0" smtClean="0"/>
              <a:t>4:0		0.4%		2%	</a:t>
            </a:r>
          </a:p>
          <a:p>
            <a:r>
              <a:rPr lang="en-US" sz="2800" dirty="0" smtClean="0"/>
              <a:t>Total </a:t>
            </a:r>
            <a:r>
              <a:rPr lang="en-US" sz="2800" dirty="0" err="1" smtClean="0"/>
              <a:t>abn</a:t>
            </a:r>
            <a:r>
              <a:rPr lang="en-US" sz="2800" dirty="0" smtClean="0"/>
              <a:t>.	56%		70%</a:t>
            </a:r>
          </a:p>
          <a:p>
            <a:endParaRPr lang="en-US" sz="2800" dirty="0"/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8580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52400"/>
            <a:ext cx="8763000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b="1" dirty="0" smtClean="0"/>
              <a:t>Viability in utero</a:t>
            </a:r>
          </a:p>
          <a:p>
            <a:pPr marL="342900" indent="-342900"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/>
              <a:t>Most unbalanced combinations would produce such an </a:t>
            </a:r>
            <a:r>
              <a:rPr lang="en-US" sz="2800" dirty="0" smtClean="0">
                <a:solidFill>
                  <a:srgbClr val="0070C0"/>
                </a:solidFill>
              </a:rPr>
              <a:t>enormous</a:t>
            </a:r>
            <a:r>
              <a:rPr lang="en-US" sz="2800" dirty="0" smtClean="0"/>
              <a:t> genetic imbalance that the conceptus would be </a:t>
            </a:r>
            <a:r>
              <a:rPr lang="en-US" sz="2800" dirty="0" smtClean="0">
                <a:solidFill>
                  <a:srgbClr val="0070C0"/>
                </a:solidFill>
              </a:rPr>
              <a:t>lost very early in pregnancy</a:t>
            </a:r>
          </a:p>
          <a:p>
            <a:pPr marL="342900" indent="-342900"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0070C0"/>
                </a:solidFill>
              </a:rPr>
              <a:t>Moderate</a:t>
            </a:r>
            <a:r>
              <a:rPr lang="en-US" sz="2800" dirty="0" smtClean="0"/>
              <a:t> imbalances would proceed to the stage of </a:t>
            </a:r>
            <a:r>
              <a:rPr lang="en-US" sz="2800" dirty="0" smtClean="0">
                <a:solidFill>
                  <a:srgbClr val="0070C0"/>
                </a:solidFill>
              </a:rPr>
              <a:t>recognizable miscarriage </a:t>
            </a:r>
            <a:r>
              <a:rPr lang="en-US" sz="2800" dirty="0" smtClean="0"/>
              <a:t>or to a later fetal death in utero</a:t>
            </a:r>
          </a:p>
          <a:p>
            <a:pPr marL="342900" indent="-342900"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/>
              <a:t>Only those conceptuses with </a:t>
            </a:r>
            <a:r>
              <a:rPr lang="en-US" sz="2800" dirty="0" smtClean="0">
                <a:solidFill>
                  <a:srgbClr val="0070C0"/>
                </a:solidFill>
              </a:rPr>
              <a:t>lesser</a:t>
            </a:r>
            <a:r>
              <a:rPr lang="en-US" sz="2800" dirty="0" smtClean="0"/>
              <a:t> imbalances might result in the </a:t>
            </a:r>
            <a:r>
              <a:rPr lang="en-US" sz="2800" dirty="0" smtClean="0">
                <a:solidFill>
                  <a:srgbClr val="0070C0"/>
                </a:solidFill>
              </a:rPr>
              <a:t>birth of an abnormal child</a:t>
            </a:r>
          </a:p>
          <a:p>
            <a:pPr marL="342900" indent="-342900"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/>
              <a:t>Viability is much more likely in the case of effective single-segment imbalance</a:t>
            </a:r>
          </a:p>
          <a:p>
            <a:pPr>
              <a:spcAft>
                <a:spcPts val="18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683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81000"/>
            <a:ext cx="8686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Predicting segregant outcomes:</a:t>
            </a:r>
          </a:p>
          <a:p>
            <a:endParaRPr lang="en-US" sz="2800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We assume that alternate segregation is frequent and associated with phenotypic normality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The least imbalanced, least monosomic of the imbalanced gametes is the one most likely to produce a viable conceptus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 smtClean="0"/>
              <a:t>More, next: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376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C:\Users\hp\Documents\My Scans\scan003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6" t="3192" r="17664" b="7750"/>
          <a:stretch/>
        </p:blipFill>
        <p:spPr bwMode="auto">
          <a:xfrm>
            <a:off x="4419600" y="0"/>
            <a:ext cx="4724400" cy="495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152400"/>
            <a:ext cx="3810000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(a)</a:t>
            </a:r>
            <a:r>
              <a:rPr lang="en-US" dirty="0" smtClean="0"/>
              <a:t> If the </a:t>
            </a:r>
            <a:r>
              <a:rPr lang="en-US" dirty="0" smtClean="0">
                <a:solidFill>
                  <a:srgbClr val="FF0000"/>
                </a:solidFill>
              </a:rPr>
              <a:t>translocated segments are small </a:t>
            </a:r>
            <a:r>
              <a:rPr lang="en-US" dirty="0" smtClean="0"/>
              <a:t>in genetic content, </a:t>
            </a:r>
            <a:r>
              <a:rPr lang="en-US" dirty="0" smtClean="0">
                <a:solidFill>
                  <a:srgbClr val="FF0000"/>
                </a:solidFill>
              </a:rPr>
              <a:t>adjacent-1</a:t>
            </a:r>
            <a:r>
              <a:rPr lang="en-US" dirty="0" smtClean="0"/>
              <a:t> is the most likely type of malsegregation to be capable of giving rise to viable abnormal offspring</a:t>
            </a:r>
          </a:p>
          <a:p>
            <a:endParaRPr lang="en-US" dirty="0"/>
          </a:p>
          <a:p>
            <a:r>
              <a:rPr lang="en-US" b="1" dirty="0" smtClean="0"/>
              <a:t>(b) </a:t>
            </a:r>
            <a:r>
              <a:rPr lang="en-US" dirty="0" smtClean="0"/>
              <a:t>If the </a:t>
            </a:r>
            <a:r>
              <a:rPr lang="en-US" dirty="0" smtClean="0">
                <a:solidFill>
                  <a:srgbClr val="FF0000"/>
                </a:solidFill>
              </a:rPr>
              <a:t>centric segments are small </a:t>
            </a:r>
            <a:r>
              <a:rPr lang="en-US" dirty="0" smtClean="0"/>
              <a:t>in content, </a:t>
            </a:r>
            <a:r>
              <a:rPr lang="en-US" dirty="0" smtClean="0">
                <a:solidFill>
                  <a:srgbClr val="FF0000"/>
                </a:solidFill>
              </a:rPr>
              <a:t>adjacent-2</a:t>
            </a:r>
            <a:r>
              <a:rPr lang="en-US" dirty="0" smtClean="0"/>
              <a:t> is the most likely segregation to give viable abnormal outcome</a:t>
            </a:r>
          </a:p>
          <a:p>
            <a:endParaRPr lang="en-US" dirty="0"/>
          </a:p>
          <a:p>
            <a:r>
              <a:rPr lang="en-US" b="1" dirty="0" smtClean="0"/>
              <a:t>(c) </a:t>
            </a:r>
            <a:r>
              <a:rPr lang="en-US" dirty="0" smtClean="0"/>
              <a:t>If one of the whole chromosomes of the quadrivalent is </a:t>
            </a:r>
            <a:r>
              <a:rPr lang="en-US" dirty="0" smtClean="0">
                <a:solidFill>
                  <a:srgbClr val="FF0000"/>
                </a:solidFill>
              </a:rPr>
              <a:t>small</a:t>
            </a:r>
            <a:r>
              <a:rPr lang="en-US" dirty="0" smtClean="0"/>
              <a:t> in content, </a:t>
            </a:r>
            <a:r>
              <a:rPr lang="en-US" dirty="0" smtClean="0">
                <a:solidFill>
                  <a:srgbClr val="FF0000"/>
                </a:solidFill>
              </a:rPr>
              <a:t>3:1</a:t>
            </a:r>
            <a:r>
              <a:rPr lang="en-US" dirty="0" smtClean="0"/>
              <a:t> disjunction is the most likely</a:t>
            </a:r>
          </a:p>
          <a:p>
            <a:endParaRPr lang="en-US" dirty="0"/>
          </a:p>
          <a:p>
            <a:r>
              <a:rPr lang="en-US" b="1" dirty="0" smtClean="0"/>
              <a:t>(d) </a:t>
            </a:r>
            <a:r>
              <a:rPr lang="en-US" dirty="0" smtClean="0"/>
              <a:t>If the translocated and centric segments </a:t>
            </a:r>
            <a:r>
              <a:rPr lang="en-US" dirty="0" smtClean="0">
                <a:solidFill>
                  <a:srgbClr val="FF0000"/>
                </a:solidFill>
              </a:rPr>
              <a:t>both have large content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no mode of segregation</a:t>
            </a:r>
            <a:r>
              <a:rPr lang="en-US" dirty="0" smtClean="0"/>
              <a:t> could produce an unbalanced gamete that would lead to a viable offspring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5786513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Subtelomeric translocations may not necessarily form a quadrivalent, and the pairs of homologs might simply join up as bivalents, each pair then segregate independently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8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12</a:t>
            </a:fld>
            <a:endParaRPr lang="en-US"/>
          </a:p>
        </p:txBody>
      </p:sp>
      <p:pic>
        <p:nvPicPr>
          <p:cNvPr id="2050" name="Picture 2" descr="C:\Users\hp\Documents\My Scans\scan003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6"/>
            <a:ext cx="4349712" cy="685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19600" y="228599"/>
            <a:ext cx="4565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Adjacent-1 segregation, single-segment exchange</a:t>
            </a:r>
          </a:p>
          <a:p>
            <a:endParaRPr lang="en-US" sz="2400" dirty="0"/>
          </a:p>
          <a:p>
            <a:r>
              <a:rPr lang="en-US" sz="2400" dirty="0" smtClean="0"/>
              <a:t>The scenario of a single survivable imbalanced form, due to a partial trisomy from adjacent-1 segregation in a single-segment translocation is the most commonly encountered circumstance in translocation families at risk for an abnormal child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442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C:\Users\hp\Documents\My Scans\scan003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118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791200" y="22758"/>
            <a:ext cx="33528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70C0"/>
                </a:solidFill>
              </a:rPr>
              <a:t>Adjacent-1 segregation, double-segment exchange</a:t>
            </a:r>
          </a:p>
          <a:p>
            <a:endParaRPr lang="en-US" sz="2200" b="1" dirty="0"/>
          </a:p>
          <a:p>
            <a:r>
              <a:rPr lang="en-US" sz="2200" dirty="0" smtClean="0"/>
              <a:t>Imbalanced conceptus has both a partial trisomy and a partial monosomy (dup/del)</a:t>
            </a:r>
          </a:p>
          <a:p>
            <a:endParaRPr lang="en-US" sz="2200" dirty="0"/>
          </a:p>
          <a:p>
            <a:r>
              <a:rPr lang="en-US" sz="2200" dirty="0" smtClean="0"/>
              <a:t>It </a:t>
            </a:r>
            <a:r>
              <a:rPr lang="en-US" sz="2200" dirty="0"/>
              <a:t>is infrequent that the carrier of a “</a:t>
            </a:r>
            <a:r>
              <a:rPr lang="en-US" sz="2200" dirty="0" smtClean="0"/>
              <a:t>double-segment” exchange </a:t>
            </a:r>
            <a:r>
              <a:rPr lang="en-US" sz="2200" dirty="0"/>
              <a:t>can ever have a chromosomally unbalanced </a:t>
            </a:r>
            <a:r>
              <a:rPr lang="en-US" sz="2200" dirty="0" smtClean="0"/>
              <a:t>pregnancy proceeding </a:t>
            </a:r>
            <a:r>
              <a:rPr lang="en-US" sz="2200" dirty="0"/>
              <a:t>through to </a:t>
            </a:r>
            <a:r>
              <a:rPr lang="en-US" sz="2200" dirty="0" smtClean="0"/>
              <a:t>term</a:t>
            </a:r>
          </a:p>
          <a:p>
            <a:endParaRPr lang="en-US" sz="2200" dirty="0" smtClean="0"/>
          </a:p>
          <a:p>
            <a:r>
              <a:rPr lang="en-US" sz="2200" dirty="0"/>
              <a:t>Uncle with dup(4p)/del(8p)</a:t>
            </a:r>
          </a:p>
          <a:p>
            <a:endParaRPr lang="en-US" sz="2200" dirty="0"/>
          </a:p>
          <a:p>
            <a:r>
              <a:rPr lang="en-US" sz="2200" dirty="0" smtClean="0"/>
              <a:t>Index case with del(4p)/dup(8p)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33800" y="5334000"/>
            <a:ext cx="1371600" cy="2286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9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C:\Users\hp\Documents\My Scans\scan003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73"/>
            <a:ext cx="647990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0" y="152400"/>
            <a:ext cx="2936384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Adjacent-2 segregation</a:t>
            </a:r>
          </a:p>
          <a:p>
            <a:endParaRPr lang="en-US" sz="2400" dirty="0"/>
          </a:p>
          <a:p>
            <a:r>
              <a:rPr lang="en-US" sz="2400" dirty="0" smtClean="0"/>
              <a:t>Each participant has a short arm of small genetic content, whole short arm viable in the trisomic state</a:t>
            </a:r>
          </a:p>
          <a:p>
            <a:endParaRPr lang="en-US" sz="2400" dirty="0"/>
          </a:p>
          <a:p>
            <a:r>
              <a:rPr lang="en-US" sz="2400" dirty="0" smtClean="0"/>
              <a:t>Most involve chromosome 9 and an acrocentric, or two acrocentrics</a:t>
            </a:r>
          </a:p>
        </p:txBody>
      </p:sp>
    </p:spTree>
    <p:extLst>
      <p:ext uri="{BB962C8B-B14F-4D97-AF65-F5344CB8AC3E}">
        <p14:creationId xmlns:p14="http://schemas.microsoft.com/office/powerpoint/2010/main" val="373706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15</a:t>
            </a:fld>
            <a:endParaRPr lang="en-US"/>
          </a:p>
        </p:txBody>
      </p:sp>
      <p:pic>
        <p:nvPicPr>
          <p:cNvPr id="4098" name="Picture 2" descr="C:\Users\hp\Documents\My Scans\scan003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" t="1847" r="1690" b="1999"/>
          <a:stretch/>
        </p:blipFill>
        <p:spPr bwMode="auto">
          <a:xfrm>
            <a:off x="1" y="0"/>
            <a:ext cx="9156728" cy="56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58674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Few examples of </a:t>
            </a:r>
            <a:r>
              <a:rPr lang="en-US" sz="2400" dirty="0" smtClean="0">
                <a:solidFill>
                  <a:srgbClr val="0070C0"/>
                </a:solidFill>
              </a:rPr>
              <a:t>adjacent-2</a:t>
            </a:r>
            <a:r>
              <a:rPr lang="en-US" sz="2400" dirty="0" smtClean="0"/>
              <a:t> segregation are seen because most are lethal. The above karyotype is from a </a:t>
            </a:r>
            <a:r>
              <a:rPr lang="en-US" sz="2400" b="1" dirty="0" smtClean="0"/>
              <a:t>miscarriage</a:t>
            </a:r>
            <a:endParaRPr lang="en-US" sz="24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0"/>
            <a:ext cx="1828800" cy="3048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C:\Users\hp\Documents\My Scans\scan003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1678" r="1965" b="1977"/>
          <a:stretch/>
        </p:blipFill>
        <p:spPr bwMode="auto">
          <a:xfrm>
            <a:off x="1" y="0"/>
            <a:ext cx="6619427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24600" y="152400"/>
            <a:ext cx="2819400" cy="64325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smtClean="0"/>
              <a:t>3:1 Segregation with </a:t>
            </a:r>
            <a:r>
              <a:rPr lang="en-US" sz="2400" b="1" dirty="0" smtClean="0">
                <a:solidFill>
                  <a:srgbClr val="C00000"/>
                </a:solidFill>
              </a:rPr>
              <a:t>tertiary trisomy</a:t>
            </a:r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000" dirty="0" smtClean="0"/>
              <a:t>t(11;22) is the spectacular exception to the rule that, in different families, translocations arise at different sites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 smtClean="0"/>
              <a:t>The great majority of families have a “private translocation”, and many may represent the first and only case in the whole of human evolution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 smtClean="0"/>
              <a:t>May reflect a physical proximity between the two chromosomes during meiosis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" y="6050600"/>
            <a:ext cx="632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presence of this </a:t>
            </a:r>
            <a:r>
              <a:rPr lang="en-US" sz="2000" dirty="0" smtClean="0"/>
              <a:t>47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chromosome </a:t>
            </a:r>
            <a:r>
              <a:rPr lang="en-US" sz="2000" dirty="0"/>
              <a:t>does not necessarily impose a lethal distortion </a:t>
            </a:r>
            <a:r>
              <a:rPr lang="en-US" sz="2000" dirty="0" smtClean="0"/>
              <a:t>upon intrauterine </a:t>
            </a:r>
            <a:r>
              <a:rPr lang="en-US" sz="2000" dirty="0"/>
              <a:t>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429000"/>
            <a:ext cx="121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Emanuel syndrome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Bent Arrow 9"/>
          <p:cNvSpPr/>
          <p:nvPr/>
        </p:nvSpPr>
        <p:spPr>
          <a:xfrm>
            <a:off x="533400" y="2286000"/>
            <a:ext cx="457200" cy="1112200"/>
          </a:xfrm>
          <a:prstGeom prst="bentArrow">
            <a:avLst>
              <a:gd name="adj1" fmla="val 1428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84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17</a:t>
            </a:fld>
            <a:endParaRPr lang="en-US"/>
          </a:p>
        </p:txBody>
      </p:sp>
      <p:pic>
        <p:nvPicPr>
          <p:cNvPr id="2050" name="Picture 2" descr="C:\Users\hp\Documents\My Scans\scan004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7"/>
          <a:stretch/>
        </p:blipFill>
        <p:spPr bwMode="auto">
          <a:xfrm>
            <a:off x="0" y="-13952"/>
            <a:ext cx="5937161" cy="687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37160" y="0"/>
            <a:ext cx="3206840" cy="67403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3:1 Segregation with </a:t>
            </a:r>
            <a:r>
              <a:rPr lang="en-US" sz="2400" b="1" dirty="0" smtClean="0">
                <a:solidFill>
                  <a:srgbClr val="C00000"/>
                </a:solidFill>
              </a:rPr>
              <a:t>tertiary monosomy</a:t>
            </a:r>
          </a:p>
          <a:p>
            <a:endParaRPr lang="en-US" sz="2400" dirty="0"/>
          </a:p>
          <a:p>
            <a:r>
              <a:rPr lang="en-US" sz="2000" dirty="0" smtClean="0"/>
              <a:t>If one derivative is very small, and the amount of material that is missing is “</a:t>
            </a:r>
            <a:r>
              <a:rPr lang="en-US" sz="2000" dirty="0" err="1" smtClean="0"/>
              <a:t>monosomocally</a:t>
            </a:r>
            <a:r>
              <a:rPr lang="en-US" sz="2000" dirty="0" smtClean="0"/>
              <a:t> small”, the countertype 3:1 22-chromosome gamete may lead to a viable conceptus</a:t>
            </a:r>
          </a:p>
          <a:p>
            <a:endParaRPr lang="en-US" sz="2000" dirty="0"/>
          </a:p>
          <a:p>
            <a:r>
              <a:rPr lang="en-US" sz="2000" dirty="0" smtClean="0"/>
              <a:t>The large derivative chromosome is not far from being a composite of the two complete chromosomes</a:t>
            </a:r>
          </a:p>
          <a:p>
            <a:endParaRPr lang="en-US" sz="2000" dirty="0"/>
          </a:p>
          <a:p>
            <a:r>
              <a:rPr lang="en-US" sz="2000" dirty="0"/>
              <a:t>However, the great majority of conceptions with a tertiary </a:t>
            </a:r>
            <a:r>
              <a:rPr lang="en-US" sz="2000" dirty="0" smtClean="0"/>
              <a:t>monosomy are </a:t>
            </a:r>
            <a:r>
              <a:rPr lang="en-US" sz="2000" dirty="0"/>
              <a:t>expected to be lethal in utero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5562600"/>
            <a:ext cx="1822360" cy="1524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834" y="5715000"/>
            <a:ext cx="1108166" cy="2286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371600" y="5721530"/>
            <a:ext cx="1905000" cy="222069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 descr="C:\Users\hp\Documents\My Scans\scan004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"/>
          <a:stretch/>
        </p:blipFill>
        <p:spPr bwMode="auto">
          <a:xfrm>
            <a:off x="12878" y="-1"/>
            <a:ext cx="565382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666704" y="152400"/>
            <a:ext cx="3365679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3:1 Segregation with </a:t>
            </a:r>
            <a:r>
              <a:rPr lang="en-US" sz="2400" b="1" dirty="0" smtClean="0">
                <a:solidFill>
                  <a:srgbClr val="C00000"/>
                </a:solidFill>
              </a:rPr>
              <a:t>interchange trisomy</a:t>
            </a:r>
          </a:p>
          <a:p>
            <a:endParaRPr lang="en-US" sz="2400" dirty="0"/>
          </a:p>
          <a:p>
            <a:r>
              <a:rPr lang="en-US" sz="2000" dirty="0" smtClean="0"/>
              <a:t>This mode of segregation can only produce a live-born child when a “</a:t>
            </a:r>
            <a:r>
              <a:rPr lang="en-US" sz="2000" dirty="0" err="1" smtClean="0"/>
              <a:t>trisomically</a:t>
            </a:r>
            <a:r>
              <a:rPr lang="en-US" sz="2000" dirty="0" smtClean="0"/>
              <a:t> viable chromosome” (i.e. 13, 18, or 21) participate in the translocation</a:t>
            </a:r>
          </a:p>
        </p:txBody>
      </p:sp>
    </p:spTree>
    <p:extLst>
      <p:ext uri="{BB962C8B-B14F-4D97-AF65-F5344CB8AC3E}">
        <p14:creationId xmlns:p14="http://schemas.microsoft.com/office/powerpoint/2010/main" val="53330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" y="152400"/>
            <a:ext cx="8879983" cy="41549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3:1 Segregation with </a:t>
            </a:r>
            <a:r>
              <a:rPr lang="en-US" sz="2400" b="1" dirty="0" smtClean="0">
                <a:solidFill>
                  <a:srgbClr val="C00000"/>
                </a:solidFill>
              </a:rPr>
              <a:t>interchange monosomy</a:t>
            </a:r>
          </a:p>
          <a:p>
            <a:endParaRPr lang="en-US" sz="2400" dirty="0"/>
          </a:p>
          <a:p>
            <a:r>
              <a:rPr lang="en-US" sz="2400" dirty="0" smtClean="0"/>
              <a:t>Autosomal </a:t>
            </a:r>
            <a:r>
              <a:rPr lang="en-US" sz="2400" smtClean="0"/>
              <a:t>monosomy </a:t>
            </a:r>
            <a:r>
              <a:rPr lang="en-US" sz="2400" smtClean="0"/>
              <a:t>is </a:t>
            </a:r>
            <a:r>
              <a:rPr lang="en-US" sz="2400" dirty="0" smtClean="0"/>
              <a:t>typically associated with early arrested development</a:t>
            </a:r>
          </a:p>
          <a:p>
            <a:r>
              <a:rPr lang="en-US" sz="2400" dirty="0" smtClean="0"/>
              <a:t>Only with PGD does a practical relevance possibly emerge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b="1" dirty="0" smtClean="0"/>
              <a:t>4:0 </a:t>
            </a:r>
            <a:r>
              <a:rPr lang="en-US" sz="2400" b="1" dirty="0"/>
              <a:t>Segregation 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dirty="0" smtClean="0"/>
              <a:t>Pre-implantation lethality would be the likely consequence</a:t>
            </a:r>
          </a:p>
          <a:p>
            <a:r>
              <a:rPr lang="en-US" sz="2400" dirty="0" smtClean="0"/>
              <a:t>May be detected by PGD</a:t>
            </a:r>
          </a:p>
        </p:txBody>
      </p:sp>
    </p:spTree>
    <p:extLst>
      <p:ext uri="{BB962C8B-B14F-4D97-AF65-F5344CB8AC3E}">
        <p14:creationId xmlns:p14="http://schemas.microsoft.com/office/powerpoint/2010/main" val="390222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20</a:t>
            </a:fld>
            <a:endParaRPr lang="en-US"/>
          </a:p>
        </p:txBody>
      </p:sp>
      <p:pic>
        <p:nvPicPr>
          <p:cNvPr id="4098" name="Picture 2" descr="C:\Users\hp\Documents\My Scans\scan004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r="16859" b="20751"/>
          <a:stretch/>
        </p:blipFill>
        <p:spPr bwMode="auto">
          <a:xfrm>
            <a:off x="10224" y="0"/>
            <a:ext cx="43553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0" y="152400"/>
            <a:ext cx="3698383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More than one unbalanced segregant type</a:t>
            </a:r>
            <a:endParaRPr lang="en-US" sz="2400" dirty="0"/>
          </a:p>
          <a:p>
            <a:endParaRPr lang="en-US" sz="2400" b="1" dirty="0" smtClean="0"/>
          </a:p>
          <a:p>
            <a:r>
              <a:rPr lang="en-US" sz="2400" dirty="0" smtClean="0"/>
              <a:t>This case is regarded a single-segment imbalance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Adjacent-1 segregation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3:1 tertiary trisomy</a:t>
            </a:r>
          </a:p>
          <a:p>
            <a:endParaRPr lang="en-US" sz="2400" dirty="0" smtClean="0"/>
          </a:p>
          <a:p>
            <a:r>
              <a:rPr lang="en-US" sz="2400" dirty="0" smtClean="0"/>
              <a:t>(3:1 interchange trisomy is also possible)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29528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 descr="C:\Users\hp\Documents\My Scans\scan004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1878" r="1530"/>
          <a:stretch/>
        </p:blipFill>
        <p:spPr bwMode="auto">
          <a:xfrm>
            <a:off x="0" y="0"/>
            <a:ext cx="68514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05600" y="152400"/>
            <a:ext cx="2326783" cy="48936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More than one unbalanced segregant type</a:t>
            </a:r>
            <a:endParaRPr lang="en-US" sz="2400" dirty="0"/>
          </a:p>
          <a:p>
            <a:endParaRPr lang="en-US" sz="2000" b="1" dirty="0" smtClean="0"/>
          </a:p>
          <a:p>
            <a:r>
              <a:rPr lang="en-US" sz="2000" dirty="0" smtClean="0"/>
              <a:t>Adjacent-1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Tertiary trisomy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Tertiary monosomy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Interchange trisomy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867400" y="1708596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981700" y="2667000"/>
            <a:ext cx="7239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981700" y="3886200"/>
            <a:ext cx="7239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150200" y="4800600"/>
            <a:ext cx="55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66800" y="6531"/>
            <a:ext cx="685800" cy="222069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082040" y="1066800"/>
            <a:ext cx="975360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114696" y="2247900"/>
            <a:ext cx="1171303" cy="2667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114695" y="3276600"/>
            <a:ext cx="714105" cy="2667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166948" y="4419600"/>
            <a:ext cx="1957252" cy="228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3A7F-B775-4264-94C1-FA34E322420F}" type="slidenum">
              <a:rPr lang="en-US" smtClean="0"/>
              <a:t>22</a:t>
            </a:fld>
            <a:endParaRPr lang="en-US"/>
          </a:p>
        </p:txBody>
      </p:sp>
      <p:pic>
        <p:nvPicPr>
          <p:cNvPr id="6146" name="Picture 2" descr="C:\Users\hp\Documents\My Scans\scan004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1888" r="1831" b="1953"/>
          <a:stretch/>
        </p:blipFill>
        <p:spPr bwMode="auto">
          <a:xfrm>
            <a:off x="-1" y="7511"/>
            <a:ext cx="7691553" cy="509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5209490"/>
            <a:ext cx="784860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 unbalanced mode possible</a:t>
            </a:r>
            <a:endParaRPr lang="en-US" sz="2400" dirty="0"/>
          </a:p>
          <a:p>
            <a:endParaRPr lang="en-US" sz="2000" b="1" dirty="0" smtClean="0"/>
          </a:p>
          <a:p>
            <a:r>
              <a:rPr lang="en-US" sz="2000" dirty="0" smtClean="0"/>
              <a:t>Long translocated and long centric segments </a:t>
            </a:r>
          </a:p>
          <a:p>
            <a:r>
              <a:rPr lang="en-US" sz="2000" dirty="0" smtClean="0"/>
              <a:t>&gt;&gt; no mode of segregation could produce a viable unbalanced outcome</a:t>
            </a:r>
          </a:p>
        </p:txBody>
      </p:sp>
    </p:spTree>
    <p:extLst>
      <p:ext uri="{BB962C8B-B14F-4D97-AF65-F5344CB8AC3E}">
        <p14:creationId xmlns:p14="http://schemas.microsoft.com/office/powerpoint/2010/main" val="340858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859</Words>
  <Application>Microsoft Office PowerPoint</Application>
  <PresentationFormat>On-screen Show (4:3)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Autosomal reciprocal translocations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Autosomal reciprocal translocations</dc:title>
  <dc:creator>alkhateeb</dc:creator>
  <cp:lastModifiedBy>JUST</cp:lastModifiedBy>
  <cp:revision>82</cp:revision>
  <dcterms:created xsi:type="dcterms:W3CDTF">2012-03-04T19:41:31Z</dcterms:created>
  <dcterms:modified xsi:type="dcterms:W3CDTF">2024-03-31T06:43:37Z</dcterms:modified>
</cp:coreProperties>
</file>