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66" r:id="rId4"/>
    <p:sldId id="259" r:id="rId5"/>
    <p:sldId id="267" r:id="rId6"/>
    <p:sldId id="268" r:id="rId7"/>
    <p:sldId id="269" r:id="rId8"/>
    <p:sldId id="265" r:id="rId9"/>
    <p:sldId id="271" r:id="rId10"/>
    <p:sldId id="273" r:id="rId11"/>
    <p:sldId id="262" r:id="rId12"/>
    <p:sldId id="263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262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42F1AF1-3190-4455-994B-7EA643326018}" type="datetimeFigureOut">
              <a:rPr lang="ar-JO" smtClean="0"/>
              <a:t>13/11/1445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44728AA-54B2-4162-AF9F-AE9AD9342AB4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23992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435B-14DA-47B2-B7BB-F8EE1A95D5C3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2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36D7-E8D0-4E05-9CC4-082CA970179E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0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D244-AC4E-48D9-A529-80E22068A414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1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4DCE-708E-4B90-A460-27715518FF1D}" type="datetime12">
              <a:rPr lang="en-US" smtClean="0"/>
              <a:t>9:36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0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0104E-BC3A-4DE7-8B01-DB6FC187B4F1}" type="datetime12">
              <a:rPr lang="en-US" smtClean="0"/>
              <a:t>9:36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6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CB3-65BF-49B1-ADCD-A50BF5ACE4A2}" type="datetime12">
              <a:rPr lang="en-US" smtClean="0"/>
              <a:t>9:36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5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1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BA7D-B4FE-4A96-9BB1-6B2ADAC0834E}" type="datetime12">
              <a:rPr lang="en-US" smtClean="0"/>
              <a:t>9:36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6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EC597-C288-49FE-B057-8FAA13697591}" type="datetime12">
              <a:rPr lang="en-US" smtClean="0"/>
              <a:t>9:36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0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BDC7-9EFD-4526-9738-81D2A7F71792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2385-62F4-47B3-8F31-D068A3B57CB2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78670-2BF4-448D-8C67-4FF9E4158FCE}" type="datetime12">
              <a:rPr lang="en-US" smtClean="0"/>
              <a:t>9:36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E9621-FA89-441C-B27F-0E53FC842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2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503" y="25908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/>
              <a:t>Preimplantation genetic diagnosis</a:t>
            </a:r>
            <a:br>
              <a:rPr lang="en-US" b="1" dirty="0" smtClean="0"/>
            </a:br>
            <a:r>
              <a:rPr lang="en-US" b="1" dirty="0" smtClean="0"/>
              <a:t>PGD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A87A1-E29A-4689-A2F3-358F865F1B83}" type="datetime12">
              <a:rPr lang="en-US" smtClean="0"/>
              <a:t>9:36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5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28600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hromosomal </a:t>
            </a:r>
            <a:r>
              <a:rPr lang="en-US" sz="2800" dirty="0" smtClean="0">
                <a:solidFill>
                  <a:srgbClr val="0070C0"/>
                </a:solidFill>
              </a:rPr>
              <a:t>PGD</a:t>
            </a:r>
            <a:r>
              <a:rPr lang="en-US" sz="2800" dirty="0" smtClean="0"/>
              <a:t> is done in the setting of </a:t>
            </a:r>
            <a:r>
              <a:rPr lang="en-US" sz="2800" dirty="0" smtClean="0">
                <a:solidFill>
                  <a:srgbClr val="0070C0"/>
                </a:solidFill>
              </a:rPr>
              <a:t>IVF</a:t>
            </a:r>
          </a:p>
          <a:p>
            <a:endParaRPr lang="en-US" sz="2800" dirty="0" smtClean="0"/>
          </a:p>
          <a:p>
            <a:r>
              <a:rPr lang="en-US" sz="2800" dirty="0"/>
              <a:t>I</a:t>
            </a:r>
            <a:r>
              <a:rPr lang="en-US" sz="2800" dirty="0" smtClean="0"/>
              <a:t>t enables an unaffected embryo to be transferred to the uterus, few days postconception</a:t>
            </a:r>
          </a:p>
          <a:p>
            <a:endParaRPr lang="en-US" sz="2800" dirty="0" smtClean="0"/>
          </a:p>
          <a:p>
            <a:r>
              <a:rPr lang="en-US" sz="2800" dirty="0" smtClean="0"/>
              <a:t>For couples facing a high genetic risk, the risk can be bypassed; and the prospect of pregnancy termination for the reason of genetic abnormality can be avoided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21D7-5F34-4E2E-A861-8F0584A3AF9B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0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228600"/>
            <a:ext cx="868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PGD is applied in two main settings: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Diagnosis </a:t>
            </a:r>
            <a:r>
              <a:rPr lang="en-US" sz="2800" dirty="0"/>
              <a:t>of </a:t>
            </a:r>
            <a:r>
              <a:rPr lang="en-US" sz="2800" dirty="0" smtClean="0"/>
              <a:t>chromosome abnormalities (FISH)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Detection </a:t>
            </a:r>
            <a:r>
              <a:rPr lang="en-US" sz="2800" dirty="0"/>
              <a:t>of a Mendelian </a:t>
            </a:r>
            <a:r>
              <a:rPr lang="en-US" sz="2800" dirty="0" smtClean="0"/>
              <a:t>condition (DNA testing)</a:t>
            </a:r>
          </a:p>
          <a:p>
            <a:endParaRPr lang="en-US" sz="2800" dirty="0"/>
          </a:p>
          <a:p>
            <a:r>
              <a:rPr lang="en-US" sz="2800" dirty="0" smtClean="0"/>
              <a:t>DNA-based </a:t>
            </a:r>
            <a:r>
              <a:rPr lang="en-US" sz="2800" dirty="0"/>
              <a:t>methodologies </a:t>
            </a:r>
            <a:r>
              <a:rPr lang="en-US" sz="2800" dirty="0" smtClean="0"/>
              <a:t>are now </a:t>
            </a:r>
            <a:r>
              <a:rPr lang="en-US" sz="2800" dirty="0"/>
              <a:t>the mainstay in both </a:t>
            </a:r>
            <a:r>
              <a:rPr lang="en-US" sz="2800" dirty="0" smtClean="0"/>
              <a:t>categories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6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52400"/>
            <a:ext cx="891540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/>
              <a:t>P</a:t>
            </a:r>
            <a:r>
              <a:rPr lang="en-US" sz="2800" b="1" dirty="0" smtClean="0"/>
              <a:t>atients and circumstances where chromosomal PGD may be appropriate:</a:t>
            </a:r>
          </a:p>
          <a:p>
            <a:endParaRPr lang="en-US" sz="2800" dirty="0"/>
          </a:p>
          <a:p>
            <a:r>
              <a:rPr lang="en-US" sz="2800" b="1" dirty="0" smtClean="0">
                <a:solidFill>
                  <a:srgbClr val="0070C0"/>
                </a:solidFill>
              </a:rPr>
              <a:t>I. Carriers </a:t>
            </a:r>
            <a:r>
              <a:rPr lang="en-US" sz="2800" b="1" dirty="0">
                <a:solidFill>
                  <a:srgbClr val="0070C0"/>
                </a:solidFill>
              </a:rPr>
              <a:t>of Balanced </a:t>
            </a:r>
            <a:r>
              <a:rPr lang="en-US" sz="2800" b="1" dirty="0" smtClean="0">
                <a:solidFill>
                  <a:srgbClr val="0070C0"/>
                </a:solidFill>
              </a:rPr>
              <a:t>Rearrangements</a:t>
            </a:r>
          </a:p>
          <a:p>
            <a:r>
              <a:rPr lang="en-US" sz="2800" dirty="0"/>
              <a:t>A parent who is the carrier of a balanced </a:t>
            </a:r>
            <a:r>
              <a:rPr lang="en-US" sz="2800" dirty="0" smtClean="0"/>
              <a:t>rearrangement typically </a:t>
            </a:r>
            <a:r>
              <a:rPr lang="en-US" sz="2800" dirty="0"/>
              <a:t>has a high risk to produce </a:t>
            </a:r>
            <a:r>
              <a:rPr lang="en-US" sz="2800" dirty="0" smtClean="0"/>
              <a:t>unbalanced embryos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several </a:t>
            </a:r>
            <a:r>
              <a:rPr lang="en-US" sz="2800" dirty="0" smtClean="0"/>
              <a:t>miscarriages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terminations following </a:t>
            </a:r>
            <a:r>
              <a:rPr lang="en-US" sz="2800" dirty="0" smtClean="0"/>
              <a:t>conventional prenatal </a:t>
            </a:r>
            <a:r>
              <a:rPr lang="en-US" sz="2800" dirty="0"/>
              <a:t>diagnosis of an unbalanced fetal karyotype</a:t>
            </a:r>
            <a:endParaRPr lang="ar-JO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4094-C14B-47B0-9D51-522303E90EAB}" type="datetime12">
              <a:rPr lang="en-US" smtClean="0"/>
              <a:t>9:36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9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46930"/>
            <a:ext cx="89154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II. Preimplantation </a:t>
            </a:r>
            <a:r>
              <a:rPr lang="en-US" sz="2800" b="1" dirty="0">
                <a:solidFill>
                  <a:srgbClr val="0070C0"/>
                </a:solidFill>
              </a:rPr>
              <a:t>Genetic </a:t>
            </a:r>
            <a:r>
              <a:rPr lang="en-US" sz="2800" b="1" dirty="0" smtClean="0">
                <a:solidFill>
                  <a:srgbClr val="0070C0"/>
                </a:solidFill>
              </a:rPr>
              <a:t>Screening (PGS)</a:t>
            </a:r>
          </a:p>
          <a:p>
            <a:r>
              <a:rPr lang="en-US" sz="2800" dirty="0" smtClean="0"/>
              <a:t>Evaluating </a:t>
            </a:r>
            <a:r>
              <a:rPr lang="en-US" sz="2800" dirty="0"/>
              <a:t>embryos </a:t>
            </a:r>
            <a:r>
              <a:rPr lang="en-US" sz="2800" dirty="0" smtClean="0"/>
              <a:t>for chromosome </a:t>
            </a:r>
            <a:r>
              <a:rPr lang="en-US" sz="2800" dirty="0"/>
              <a:t>aneuploidy in chromosomally normal </a:t>
            </a:r>
            <a:r>
              <a:rPr lang="en-US" sz="2800" dirty="0" smtClean="0"/>
              <a:t>parents</a:t>
            </a:r>
          </a:p>
          <a:p>
            <a:endParaRPr lang="en-US" sz="2400" dirty="0"/>
          </a:p>
          <a:p>
            <a:r>
              <a:rPr lang="en-US" sz="2800" dirty="0" smtClean="0"/>
              <a:t>Rationale behind PGS: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Proportion of IVF </a:t>
            </a:r>
            <a:r>
              <a:rPr lang="en-US" sz="2400" dirty="0"/>
              <a:t>embryos that result in pregnancy is quite </a:t>
            </a:r>
            <a:r>
              <a:rPr lang="en-US" sz="2400" dirty="0" smtClean="0"/>
              <a:t>low (less than </a:t>
            </a:r>
            <a:r>
              <a:rPr lang="en-US" sz="2400" dirty="0"/>
              <a:t>30%), IVF clinics </a:t>
            </a:r>
            <a:r>
              <a:rPr lang="en-US" sz="2400" dirty="0" smtClean="0"/>
              <a:t>sought embryos </a:t>
            </a:r>
            <a:r>
              <a:rPr lang="en-US" sz="2400" dirty="0"/>
              <a:t>with </a:t>
            </a:r>
            <a:r>
              <a:rPr lang="en-US" sz="2400" dirty="0" smtClean="0"/>
              <a:t>best </a:t>
            </a:r>
            <a:r>
              <a:rPr lang="en-US" sz="2400" dirty="0"/>
              <a:t>chances of </a:t>
            </a:r>
            <a:r>
              <a:rPr lang="en-US" sz="2400" dirty="0" smtClean="0"/>
              <a:t>resulting in pregnancy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Substantial number of human embryos </a:t>
            </a:r>
            <a:r>
              <a:rPr lang="en-US" sz="2400" dirty="0"/>
              <a:t>are aneuploid, and certain patient populations, including couples of </a:t>
            </a:r>
            <a:r>
              <a:rPr lang="en-US" sz="2400" dirty="0" smtClean="0"/>
              <a:t>advanced maternal </a:t>
            </a:r>
            <a:r>
              <a:rPr lang="en-US" sz="2400" dirty="0"/>
              <a:t>age, or with histories of recurrent miscarriage and </a:t>
            </a:r>
            <a:r>
              <a:rPr lang="en-US" sz="2400" dirty="0" smtClean="0"/>
              <a:t>repeated implantation </a:t>
            </a:r>
            <a:r>
              <a:rPr lang="en-US" sz="2400" dirty="0"/>
              <a:t>failure, may be predisposed to producing aneuploid </a:t>
            </a:r>
            <a:r>
              <a:rPr lang="en-US" sz="2400" dirty="0" smtClean="0"/>
              <a:t>embryos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400" dirty="0"/>
          </a:p>
          <a:p>
            <a:r>
              <a:rPr lang="en-US" sz="2400" dirty="0"/>
              <a:t>PGS is also used </a:t>
            </a:r>
            <a:r>
              <a:rPr lang="en-US" sz="2400" dirty="0" smtClean="0"/>
              <a:t>for couples </a:t>
            </a:r>
            <a:r>
              <a:rPr lang="en-US" sz="2400" dirty="0"/>
              <a:t>who </a:t>
            </a:r>
            <a:r>
              <a:rPr lang="en-US" sz="2400" dirty="0" smtClean="0"/>
              <a:t>had </a:t>
            </a:r>
            <a:r>
              <a:rPr lang="en-US" sz="2400" dirty="0"/>
              <a:t>a </a:t>
            </a:r>
            <a:r>
              <a:rPr lang="en-US" sz="2400" dirty="0" smtClean="0"/>
              <a:t>chromosomally </a:t>
            </a:r>
            <a:r>
              <a:rPr lang="en-US" sz="2400" dirty="0"/>
              <a:t>abnormal </a:t>
            </a:r>
            <a:r>
              <a:rPr lang="en-US" sz="2400" dirty="0" smtClean="0"/>
              <a:t>pregnancy, fertile couple: </a:t>
            </a:r>
            <a:r>
              <a:rPr lang="en-US" sz="2400" u="sng" dirty="0" smtClean="0"/>
              <a:t>questionable</a:t>
            </a:r>
            <a:r>
              <a:rPr lang="en-US" sz="2400" dirty="0" smtClean="0"/>
              <a:t>, couples already using IVF because of infertility: </a:t>
            </a:r>
            <a:r>
              <a:rPr lang="en-US" sz="2400" u="sng" dirty="0" smtClean="0"/>
              <a:t>appropriate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166636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83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III. Gender Selection</a:t>
            </a:r>
          </a:p>
          <a:p>
            <a:endParaRPr lang="en-US" sz="2800" b="1" dirty="0" smtClean="0"/>
          </a:p>
          <a:p>
            <a:r>
              <a:rPr lang="en-US" sz="2800" dirty="0" smtClean="0"/>
              <a:t>May </a:t>
            </a:r>
            <a:r>
              <a:rPr lang="en-US" sz="2800" dirty="0"/>
              <a:t>be appropriate in the context of a </a:t>
            </a:r>
            <a:r>
              <a:rPr lang="en-US" sz="2800" dirty="0" smtClean="0"/>
              <a:t>sex-related genetic risk. This is likely to decline as direct gene testing becomes feasible for more sex-linked disorders</a:t>
            </a:r>
          </a:p>
          <a:p>
            <a:endParaRPr lang="en-US" sz="2800" dirty="0"/>
          </a:p>
          <a:p>
            <a:r>
              <a:rPr lang="en-US" sz="2800" dirty="0" smtClean="0"/>
              <a:t>Males affected </a:t>
            </a:r>
            <a:r>
              <a:rPr lang="en-US" sz="2800" dirty="0"/>
              <a:t>by an X-linked disease who wish to avoid transmitting the </a:t>
            </a:r>
            <a:r>
              <a:rPr lang="en-US" sz="2800" dirty="0" smtClean="0"/>
              <a:t>faulty gene </a:t>
            </a:r>
            <a:r>
              <a:rPr lang="en-US" sz="2800" dirty="0"/>
              <a:t>to their (female) offspring, a circumstance in which sex selection </a:t>
            </a:r>
            <a:r>
              <a:rPr lang="en-US" sz="2800" dirty="0" smtClean="0"/>
              <a:t>can substitute </a:t>
            </a:r>
            <a:r>
              <a:rPr lang="en-US" sz="2800" dirty="0"/>
              <a:t>perfectly for a direct gene test</a:t>
            </a:r>
          </a:p>
        </p:txBody>
      </p:sp>
    </p:spTree>
    <p:extLst>
      <p:ext uri="{BB962C8B-B14F-4D97-AF65-F5344CB8AC3E}">
        <p14:creationId xmlns:p14="http://schemas.microsoft.com/office/powerpoint/2010/main" val="395887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8915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Three </a:t>
            </a:r>
            <a:r>
              <a:rPr lang="en-US" sz="2800" dirty="0"/>
              <a:t>types of PGD biopsy, done at three sequential stages </a:t>
            </a:r>
            <a:r>
              <a:rPr lang="en-US" sz="2800" dirty="0" smtClean="0"/>
              <a:t>of gametic </a:t>
            </a:r>
            <a:r>
              <a:rPr lang="en-US" sz="2800" dirty="0"/>
              <a:t>and embryonic development</a:t>
            </a:r>
            <a:r>
              <a:rPr lang="en-US" sz="2800" dirty="0" smtClean="0"/>
              <a:t>:</a:t>
            </a:r>
          </a:p>
          <a:p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070C0"/>
                </a:solidFill>
              </a:rPr>
              <a:t>Polar </a:t>
            </a:r>
            <a:r>
              <a:rPr lang="en-US" sz="2800" dirty="0">
                <a:solidFill>
                  <a:srgbClr val="0070C0"/>
                </a:solidFill>
              </a:rPr>
              <a:t>body </a:t>
            </a:r>
            <a:r>
              <a:rPr lang="en-US" sz="2800" dirty="0" smtClean="0">
                <a:solidFill>
                  <a:srgbClr val="0070C0"/>
                </a:solidFill>
              </a:rPr>
              <a:t>biopsy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err="1" smtClean="0">
                <a:solidFill>
                  <a:srgbClr val="0070C0"/>
                </a:solidFill>
              </a:rPr>
              <a:t>Blastomere</a:t>
            </a:r>
            <a:r>
              <a:rPr lang="en-US" sz="2800" dirty="0" smtClean="0">
                <a:solidFill>
                  <a:srgbClr val="0070C0"/>
                </a:solidFill>
              </a:rPr>
              <a:t> biopsy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070C0"/>
                </a:solidFill>
              </a:rPr>
              <a:t>Blastocyst </a:t>
            </a:r>
            <a:r>
              <a:rPr lang="en-US" sz="2800" dirty="0">
                <a:solidFill>
                  <a:srgbClr val="0070C0"/>
                </a:solidFill>
              </a:rPr>
              <a:t>(</a:t>
            </a:r>
            <a:r>
              <a:rPr lang="en-US" sz="2800" dirty="0" err="1">
                <a:solidFill>
                  <a:srgbClr val="0070C0"/>
                </a:solidFill>
              </a:rPr>
              <a:t>trophectoderm</a:t>
            </a:r>
            <a:r>
              <a:rPr lang="en-US" sz="2800" dirty="0">
                <a:solidFill>
                  <a:srgbClr val="0070C0"/>
                </a:solidFill>
              </a:rPr>
              <a:t>) </a:t>
            </a:r>
            <a:r>
              <a:rPr lang="en-US" sz="2800" dirty="0" smtClean="0">
                <a:solidFill>
                  <a:srgbClr val="0070C0"/>
                </a:solidFill>
              </a:rPr>
              <a:t>biopsy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060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" y="152400"/>
            <a:ext cx="88392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Polar Body </a:t>
            </a:r>
            <a:r>
              <a:rPr lang="en-US" sz="2800" b="1" dirty="0" smtClean="0">
                <a:solidFill>
                  <a:srgbClr val="0070C0"/>
                </a:solidFill>
              </a:rPr>
              <a:t>Analysis</a:t>
            </a:r>
          </a:p>
          <a:p>
            <a:r>
              <a:rPr lang="en-US" sz="2800" dirty="0"/>
              <a:t>Preconception diagnosis. PB analysis allows a focus on the </a:t>
            </a:r>
            <a:r>
              <a:rPr lang="en-US" sz="2800" dirty="0" smtClean="0"/>
              <a:t>vulnerable gamete, </a:t>
            </a:r>
            <a:r>
              <a:rPr lang="en-US" sz="2800" dirty="0"/>
              <a:t>the ovum, the great majority of </a:t>
            </a:r>
            <a:r>
              <a:rPr lang="en-US" sz="2800" dirty="0" smtClean="0"/>
              <a:t>segregation errors occur </a:t>
            </a:r>
            <a:r>
              <a:rPr lang="en-US" sz="2800" dirty="0"/>
              <a:t>here. Disomic </a:t>
            </a:r>
            <a:r>
              <a:rPr lang="en-US" sz="2800" dirty="0" smtClean="0"/>
              <a:t>or nullisomic </a:t>
            </a:r>
            <a:r>
              <a:rPr lang="en-US" sz="2800" dirty="0"/>
              <a:t>gametes could be </a:t>
            </a:r>
            <a:r>
              <a:rPr lang="en-US" sz="2800" dirty="0" smtClean="0"/>
              <a:t>identified</a:t>
            </a:r>
            <a:r>
              <a:rPr lang="en-US" sz="2800" dirty="0"/>
              <a:t>, and </a:t>
            </a:r>
            <a:r>
              <a:rPr lang="en-US" sz="2800" dirty="0" smtClean="0"/>
              <a:t>thus excluded </a:t>
            </a:r>
            <a:r>
              <a:rPr lang="en-US" sz="2800" dirty="0"/>
              <a:t>from fertilization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A </a:t>
            </a:r>
            <a:r>
              <a:rPr lang="en-US" sz="2800" dirty="0"/>
              <a:t>theoretical advantage of PB diagnosis is that </a:t>
            </a:r>
            <a:r>
              <a:rPr lang="en-US" sz="2800" dirty="0" smtClean="0"/>
              <a:t>the uncertainty </a:t>
            </a:r>
            <a:r>
              <a:rPr lang="en-US" sz="2800" dirty="0"/>
              <a:t>relating to aneuploidy screening at PGD, due to biopsy of </a:t>
            </a:r>
            <a:r>
              <a:rPr lang="en-US" sz="2800" dirty="0" smtClean="0"/>
              <a:t>a possibly </a:t>
            </a:r>
            <a:r>
              <a:rPr lang="en-US" sz="2800" dirty="0"/>
              <a:t>unrepresentative aneuploid </a:t>
            </a:r>
            <a:r>
              <a:rPr lang="en-US" sz="2800" dirty="0" err="1"/>
              <a:t>blastomere</a:t>
            </a:r>
            <a:r>
              <a:rPr lang="en-US" sz="2800" dirty="0"/>
              <a:t>, could be </a:t>
            </a:r>
            <a:r>
              <a:rPr lang="en-US" sz="2800" dirty="0" smtClean="0"/>
              <a:t>avoided</a:t>
            </a:r>
          </a:p>
          <a:p>
            <a:endParaRPr lang="en-US" sz="2800" dirty="0"/>
          </a:p>
          <a:p>
            <a:r>
              <a:rPr lang="en-US" sz="2800" dirty="0"/>
              <a:t>Abnormalities arising in paternal meiosis, estimated </a:t>
            </a:r>
            <a:r>
              <a:rPr lang="en-US" sz="2800" dirty="0" smtClean="0"/>
              <a:t>to represent </a:t>
            </a:r>
            <a:r>
              <a:rPr lang="en-US" sz="2800" dirty="0"/>
              <a:t>about 10% of </a:t>
            </a:r>
            <a:r>
              <a:rPr lang="en-US" sz="2800" dirty="0" smtClean="0"/>
              <a:t>aneuploidies, </a:t>
            </a:r>
            <a:r>
              <a:rPr lang="en-US" sz="2800" dirty="0"/>
              <a:t>will not be detected</a:t>
            </a:r>
          </a:p>
        </p:txBody>
      </p:sp>
    </p:spTree>
    <p:extLst>
      <p:ext uri="{BB962C8B-B14F-4D97-AF65-F5344CB8AC3E}">
        <p14:creationId xmlns:p14="http://schemas.microsoft.com/office/powerpoint/2010/main" val="417150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204" t="12501" r="16032" b="19791"/>
          <a:stretch/>
        </p:blipFill>
        <p:spPr>
          <a:xfrm>
            <a:off x="304800" y="838200"/>
            <a:ext cx="86868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2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8839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Cleavage Stage Biopsy </a:t>
            </a:r>
            <a:r>
              <a:rPr lang="en-US" sz="2800" b="1" dirty="0"/>
              <a:t>(Day-3 Biopsy of a </a:t>
            </a:r>
            <a:r>
              <a:rPr lang="en-US" sz="2800" b="1" dirty="0" err="1"/>
              <a:t>Blastomere</a:t>
            </a:r>
            <a:r>
              <a:rPr lang="en-US" sz="2800" b="1" dirty="0" smtClean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On </a:t>
            </a:r>
            <a:r>
              <a:rPr lang="en-US" sz="2800" dirty="0"/>
              <a:t>day 3, one or at most two cells (</a:t>
            </a:r>
            <a:r>
              <a:rPr lang="en-US" sz="2800" dirty="0" err="1"/>
              <a:t>blastomeres</a:t>
            </a:r>
            <a:r>
              <a:rPr lang="en-US" sz="2800" dirty="0"/>
              <a:t>) are removed from </a:t>
            </a:r>
            <a:r>
              <a:rPr lang="en-US" sz="2800" dirty="0" smtClean="0"/>
              <a:t>each Embryo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27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3326" y="9343"/>
            <a:ext cx="485067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FIGURE 26–1 </a:t>
            </a:r>
            <a:r>
              <a:rPr lang="en-US" sz="2000" b="1" dirty="0" smtClean="0"/>
              <a:t>The </a:t>
            </a:r>
            <a:r>
              <a:rPr lang="en-US" sz="2000" b="1" dirty="0"/>
              <a:t>process of in vitro fertilization (IVF) </a:t>
            </a:r>
            <a:r>
              <a:rPr lang="en-US" sz="2000" b="1" dirty="0" smtClean="0"/>
              <a:t>and </a:t>
            </a:r>
            <a:r>
              <a:rPr lang="en-US" sz="2000" b="1" dirty="0"/>
              <a:t>preimplantation genetic diagnosis (PGD) at the day-3 stage</a:t>
            </a:r>
            <a:r>
              <a:rPr lang="en-US" sz="2000" b="1" dirty="0" smtClean="0"/>
              <a:t>.</a:t>
            </a:r>
          </a:p>
          <a:p>
            <a:endParaRPr lang="en-US" sz="2000" dirty="0" smtClean="0"/>
          </a:p>
          <a:p>
            <a:pPr marL="457200" indent="-457200">
              <a:buAutoNum type="alphaLcParenBoth"/>
            </a:pPr>
            <a:r>
              <a:rPr lang="en-US" sz="2000" dirty="0" err="1" smtClean="0"/>
              <a:t>Oöcytes</a:t>
            </a:r>
            <a:r>
              <a:rPr lang="en-US" sz="2000" dirty="0" smtClean="0"/>
              <a:t> </a:t>
            </a:r>
            <a:r>
              <a:rPr lang="en-US" sz="2000" dirty="0"/>
              <a:t>are obtained from </a:t>
            </a:r>
            <a:r>
              <a:rPr lang="en-US" sz="2000" dirty="0" smtClean="0"/>
              <a:t>the woman</a:t>
            </a:r>
            <a:r>
              <a:rPr lang="en-US" sz="2000" dirty="0"/>
              <a:t>, and sperm from the man (by testicular aspiration, if necessary</a:t>
            </a:r>
            <a:r>
              <a:rPr lang="en-US" sz="2000" dirty="0" smtClean="0"/>
              <a:t>)</a:t>
            </a:r>
          </a:p>
          <a:p>
            <a:pPr marL="457200" indent="-457200">
              <a:buAutoNum type="alphaLcParenBoth"/>
            </a:pPr>
            <a:r>
              <a:rPr lang="en-US" sz="2000" dirty="0" err="1" smtClean="0"/>
              <a:t>Oöcytes</a:t>
            </a:r>
            <a:r>
              <a:rPr lang="en-US" sz="2000" dirty="0" smtClean="0"/>
              <a:t> </a:t>
            </a:r>
            <a:r>
              <a:rPr lang="en-US" sz="2000" dirty="0"/>
              <a:t>and sperm are </a:t>
            </a:r>
            <a:r>
              <a:rPr lang="en-US" sz="2000" dirty="0" smtClean="0"/>
              <a:t>mixed in </a:t>
            </a:r>
            <a:r>
              <a:rPr lang="en-US" sz="2000" dirty="0"/>
              <a:t>vitro; or, single sperm are injected into an </a:t>
            </a:r>
            <a:r>
              <a:rPr lang="en-US" sz="2000" dirty="0" err="1"/>
              <a:t>oöcyte</a:t>
            </a:r>
            <a:r>
              <a:rPr lang="en-US" sz="2000" dirty="0"/>
              <a:t> (ICSI</a:t>
            </a:r>
            <a:r>
              <a:rPr lang="en-US" sz="2000" dirty="0" smtClean="0"/>
              <a:t>)</a:t>
            </a:r>
          </a:p>
          <a:p>
            <a:pPr marL="457200" indent="-457200">
              <a:buAutoNum type="alphaLcParenBoth"/>
            </a:pPr>
            <a:r>
              <a:rPr lang="en-US" sz="2000" dirty="0" err="1" smtClean="0"/>
              <a:t>Syngamy</a:t>
            </a:r>
            <a:r>
              <a:rPr lang="en-US" sz="2000" dirty="0"/>
              <a:t>, the fusion of male and </a:t>
            </a:r>
            <a:r>
              <a:rPr lang="en-US" sz="2000" dirty="0" smtClean="0"/>
              <a:t>female </a:t>
            </a:r>
            <a:r>
              <a:rPr lang="en-US" sz="2000" dirty="0" err="1" smtClean="0"/>
              <a:t>pronuclei</a:t>
            </a:r>
            <a:r>
              <a:rPr lang="en-US" sz="2000" dirty="0"/>
              <a:t>, occurs. </a:t>
            </a:r>
            <a:endParaRPr lang="en-US" sz="2000" dirty="0" smtClean="0"/>
          </a:p>
          <a:p>
            <a:pPr marL="457200" indent="-457200">
              <a:buAutoNum type="alphaLcParenBoth"/>
            </a:pPr>
            <a:r>
              <a:rPr lang="en-US" sz="2000" dirty="0"/>
              <a:t>After incubation for 3 </a:t>
            </a:r>
            <a:r>
              <a:rPr lang="en-US" sz="2000" dirty="0" smtClean="0"/>
              <a:t>days, one </a:t>
            </a:r>
            <a:r>
              <a:rPr lang="en-US" sz="2000" dirty="0"/>
              <a:t>or two </a:t>
            </a:r>
            <a:r>
              <a:rPr lang="en-US" sz="2000" dirty="0" err="1" smtClean="0"/>
              <a:t>blastomeres</a:t>
            </a:r>
            <a:r>
              <a:rPr lang="en-US" sz="2000" dirty="0" smtClean="0"/>
              <a:t> </a:t>
            </a:r>
            <a:r>
              <a:rPr lang="en-US" sz="2000" dirty="0"/>
              <a:t>are removed from the </a:t>
            </a:r>
            <a:r>
              <a:rPr lang="en-US" sz="2000" dirty="0" smtClean="0"/>
              <a:t>embryo</a:t>
            </a:r>
          </a:p>
          <a:p>
            <a:pPr marL="457200" indent="-457200">
              <a:buAutoNum type="alphaLcParenBoth"/>
            </a:pPr>
            <a:r>
              <a:rPr lang="en-US" sz="2000" dirty="0" smtClean="0"/>
              <a:t>these </a:t>
            </a:r>
            <a:r>
              <a:rPr lang="en-US" sz="2000" dirty="0"/>
              <a:t>cells are then subject to chromosomal </a:t>
            </a:r>
            <a:r>
              <a:rPr lang="en-US" sz="2000" dirty="0" smtClean="0"/>
              <a:t>analysis</a:t>
            </a:r>
          </a:p>
          <a:p>
            <a:pPr marL="457200" indent="-457200">
              <a:buAutoNum type="alphaLcParenBoth"/>
            </a:pPr>
            <a:r>
              <a:rPr lang="en-US" sz="2000" dirty="0" smtClean="0"/>
              <a:t>Normal </a:t>
            </a:r>
            <a:r>
              <a:rPr lang="en-US" sz="2000" dirty="0"/>
              <a:t>(or balanced) embryos are chosen </a:t>
            </a:r>
            <a:r>
              <a:rPr lang="en-US" sz="2000" dirty="0" smtClean="0"/>
              <a:t>for transfer </a:t>
            </a:r>
            <a:r>
              <a:rPr lang="en-US" sz="2000" dirty="0"/>
              <a:t>to the uterus, or possibly for cryopreservation for a future </a:t>
            </a:r>
            <a:r>
              <a:rPr lang="en-US" sz="2000" dirty="0" smtClean="0"/>
              <a:t>transfer</a:t>
            </a:r>
            <a:endParaRPr lang="en-US" sz="2000" dirty="0"/>
          </a:p>
        </p:txBody>
      </p:sp>
      <p:pic>
        <p:nvPicPr>
          <p:cNvPr id="7" name="image255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66" y="34834"/>
            <a:ext cx="429768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8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7203" t="11459" r="49414" b="8333"/>
          <a:stretch/>
        </p:blipFill>
        <p:spPr>
          <a:xfrm>
            <a:off x="152400" y="152400"/>
            <a:ext cx="4343400" cy="5867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0" y="5791200"/>
            <a:ext cx="914400" cy="228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00600" y="139337"/>
            <a:ext cx="416487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Blastocyst Stage Biopsy </a:t>
            </a:r>
            <a:r>
              <a:rPr lang="en-US" sz="2800" b="1" dirty="0"/>
              <a:t>(Day-5 or -6 Biopsy </a:t>
            </a:r>
            <a:r>
              <a:rPr lang="en-US" sz="2800" b="1" dirty="0" smtClean="0"/>
              <a:t>of </a:t>
            </a:r>
            <a:r>
              <a:rPr lang="en-US" sz="2800" b="1" dirty="0" err="1" smtClean="0"/>
              <a:t>Trophectoderm</a:t>
            </a:r>
            <a:r>
              <a:rPr lang="en-US" sz="2800" b="1" dirty="0" smtClean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If </a:t>
            </a:r>
            <a:r>
              <a:rPr lang="en-US" sz="2800" dirty="0"/>
              <a:t>the embryo is incubated for </a:t>
            </a:r>
            <a:r>
              <a:rPr lang="en-US" sz="2800" dirty="0" smtClean="0"/>
              <a:t>2 or 3 </a:t>
            </a:r>
            <a:r>
              <a:rPr lang="en-US" sz="2800" dirty="0"/>
              <a:t>more days, </a:t>
            </a:r>
            <a:r>
              <a:rPr lang="en-US" sz="2800" dirty="0" smtClean="0"/>
              <a:t>it advances </a:t>
            </a:r>
            <a:r>
              <a:rPr lang="en-US" sz="2800" dirty="0"/>
              <a:t>through the </a:t>
            </a:r>
            <a:r>
              <a:rPr lang="en-US" sz="2800" dirty="0" smtClean="0"/>
              <a:t>morula (day 4) </a:t>
            </a:r>
            <a:r>
              <a:rPr lang="en-US" sz="2800" dirty="0"/>
              <a:t>and early </a:t>
            </a:r>
            <a:r>
              <a:rPr lang="en-US" sz="2800" dirty="0" smtClean="0"/>
              <a:t>blastocyst (days 5 and 6) stages</a:t>
            </a:r>
          </a:p>
          <a:p>
            <a:endParaRPr lang="en-US" sz="2800" dirty="0"/>
          </a:p>
          <a:p>
            <a:r>
              <a:rPr lang="en-US" sz="2800" dirty="0" smtClean="0"/>
              <a:t>Culture </a:t>
            </a:r>
            <a:r>
              <a:rPr lang="en-US" sz="2800" dirty="0"/>
              <a:t>to </a:t>
            </a:r>
            <a:r>
              <a:rPr lang="en-US" sz="2800" dirty="0" smtClean="0"/>
              <a:t>blastocyst, </a:t>
            </a:r>
            <a:r>
              <a:rPr lang="en-US" sz="2800" dirty="0"/>
              <a:t>may effectively act as a form </a:t>
            </a:r>
            <a:r>
              <a:rPr lang="en-US" sz="2800" dirty="0" smtClean="0"/>
              <a:t>of selection </a:t>
            </a:r>
            <a:r>
              <a:rPr lang="en-US" sz="2800" dirty="0"/>
              <a:t>in favor of </a:t>
            </a:r>
            <a:r>
              <a:rPr lang="en-US" sz="2800" dirty="0" err="1"/>
              <a:t>euploid</a:t>
            </a:r>
            <a:r>
              <a:rPr lang="en-US" sz="2800" dirty="0"/>
              <a:t> </a:t>
            </a:r>
            <a:r>
              <a:rPr lang="en-US" sz="2800" dirty="0" smtClean="0"/>
              <a:t>embryos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" y="5791200"/>
            <a:ext cx="762000" cy="1524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3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883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Implantation</a:t>
            </a:r>
            <a:r>
              <a:rPr lang="en-US" sz="2800" dirty="0" smtClean="0"/>
              <a:t> seems more </a:t>
            </a:r>
            <a:r>
              <a:rPr lang="en-US" sz="2800" dirty="0"/>
              <a:t>successful following </a:t>
            </a:r>
            <a:r>
              <a:rPr lang="en-US" sz="2800" dirty="0" smtClean="0"/>
              <a:t>blastocyst than </a:t>
            </a:r>
            <a:r>
              <a:rPr lang="en-US" sz="2800" dirty="0"/>
              <a:t>cleavage-stage </a:t>
            </a:r>
            <a:r>
              <a:rPr lang="en-US" sz="2800" dirty="0" smtClean="0"/>
              <a:t>biopsy</a:t>
            </a:r>
          </a:p>
          <a:p>
            <a:endParaRPr lang="en-US" sz="2800" dirty="0"/>
          </a:p>
          <a:p>
            <a:r>
              <a:rPr lang="en-US" sz="2800" dirty="0" smtClean="0"/>
              <a:t>One study showed </a:t>
            </a:r>
            <a:r>
              <a:rPr lang="en-US" sz="2800" dirty="0"/>
              <a:t>equivalent implantation for biopsied and </a:t>
            </a:r>
            <a:r>
              <a:rPr lang="en-US" sz="2800" dirty="0" err="1" smtClean="0"/>
              <a:t>nonbiopsied</a:t>
            </a:r>
            <a:r>
              <a:rPr lang="en-US" sz="2800" dirty="0" smtClean="0"/>
              <a:t> embryos </a:t>
            </a:r>
            <a:r>
              <a:rPr lang="en-US" sz="2800" dirty="0"/>
              <a:t>at the blastocyst stage, but reduced implantation for </a:t>
            </a:r>
            <a:r>
              <a:rPr lang="en-US" sz="2800" dirty="0" smtClean="0"/>
              <a:t>embryos biopsied </a:t>
            </a:r>
            <a:r>
              <a:rPr lang="en-US" sz="2800" dirty="0"/>
              <a:t>at cleavage-stage compared to </a:t>
            </a:r>
            <a:r>
              <a:rPr lang="en-US" sz="2800" dirty="0" err="1"/>
              <a:t>nonbiopsied</a:t>
            </a:r>
            <a:r>
              <a:rPr lang="en-US" sz="2800" dirty="0"/>
              <a:t> </a:t>
            </a:r>
            <a:r>
              <a:rPr lang="en-US" sz="2800" dirty="0" smtClean="0"/>
              <a:t>embryos </a:t>
            </a:r>
          </a:p>
          <a:p>
            <a:endParaRPr lang="en-US" sz="2800" dirty="0"/>
          </a:p>
          <a:p>
            <a:r>
              <a:rPr lang="en-US" sz="2800" dirty="0" smtClean="0"/>
              <a:t>Thus, clinical </a:t>
            </a:r>
            <a:r>
              <a:rPr lang="en-US" sz="2800" dirty="0"/>
              <a:t>pregnancy rates should be higher </a:t>
            </a:r>
            <a:r>
              <a:rPr lang="en-US" sz="2800" dirty="0" smtClean="0"/>
              <a:t>for biopsied </a:t>
            </a:r>
            <a:r>
              <a:rPr lang="en-US" sz="2800" dirty="0"/>
              <a:t>blastocysts than for cleavage-stage </a:t>
            </a:r>
            <a:r>
              <a:rPr lang="en-US" sz="2800" dirty="0" smtClean="0"/>
              <a:t>embryos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851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8915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Another attraction in delaying PGD until the blastocyst is forming </a:t>
            </a:r>
            <a:r>
              <a:rPr lang="en-US" sz="2800" dirty="0" smtClean="0"/>
              <a:t>is that </a:t>
            </a:r>
            <a:r>
              <a:rPr lang="en-US" sz="2800" dirty="0"/>
              <a:t>cell number has increased, and differentiation between </a:t>
            </a:r>
            <a:r>
              <a:rPr lang="en-US" sz="2800" b="1" dirty="0">
                <a:solidFill>
                  <a:srgbClr val="0070C0"/>
                </a:solidFill>
              </a:rPr>
              <a:t>inner cell mass </a:t>
            </a:r>
            <a:r>
              <a:rPr lang="en-US" sz="2800" dirty="0"/>
              <a:t>(which develops into the fetus) and </a:t>
            </a:r>
            <a:r>
              <a:rPr lang="en-US" sz="2800" b="1" dirty="0">
                <a:solidFill>
                  <a:srgbClr val="0070C0"/>
                </a:solidFill>
              </a:rPr>
              <a:t>trophoblast</a:t>
            </a:r>
            <a:r>
              <a:rPr lang="en-US" sz="2800" dirty="0"/>
              <a:t> (which develops into the placenta) has begun, allowing sampling to be focused on the </a:t>
            </a:r>
            <a:r>
              <a:rPr lang="en-US" sz="2800" dirty="0" err="1"/>
              <a:t>trophectoderm</a:t>
            </a:r>
            <a:r>
              <a:rPr lang="en-US" sz="2800" dirty="0"/>
              <a:t> (in a tissue-origin sense, a very early chorionic villus sampling</a:t>
            </a:r>
            <a:r>
              <a:rPr lang="en-US" sz="2800" dirty="0" smtClean="0"/>
              <a:t>)</a:t>
            </a:r>
          </a:p>
          <a:p>
            <a:endParaRPr lang="en-US" sz="2800" dirty="0"/>
          </a:p>
          <a:p>
            <a:r>
              <a:rPr lang="en-US" sz="2800" dirty="0" err="1" smtClean="0"/>
              <a:t>Trophectoderm</a:t>
            </a:r>
            <a:r>
              <a:rPr lang="en-US" sz="2800" dirty="0" smtClean="0"/>
              <a:t> </a:t>
            </a:r>
            <a:r>
              <a:rPr lang="en-US" sz="2800" dirty="0"/>
              <a:t>biopsy typically involves removal of between </a:t>
            </a:r>
            <a:r>
              <a:rPr lang="en-US" sz="2800" dirty="0">
                <a:solidFill>
                  <a:srgbClr val="0070C0"/>
                </a:solidFill>
              </a:rPr>
              <a:t>two and seven cells</a:t>
            </a:r>
            <a:r>
              <a:rPr lang="en-US" sz="2800" dirty="0"/>
              <a:t>, providing more copies of DNA template for use in testing, compared to cleavage-stage biopsy</a:t>
            </a:r>
          </a:p>
        </p:txBody>
      </p:sp>
    </p:spTree>
    <p:extLst>
      <p:ext uri="{BB962C8B-B14F-4D97-AF65-F5344CB8AC3E}">
        <p14:creationId xmlns:p14="http://schemas.microsoft.com/office/powerpoint/2010/main" val="116999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8763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counterpoint</a:t>
            </a:r>
            <a:r>
              <a:rPr lang="en-US" sz="2800" dirty="0"/>
              <a:t> to the perceived merits of blastocyst biopsy is the fact that </a:t>
            </a:r>
            <a:r>
              <a:rPr lang="en-US" sz="2800" dirty="0">
                <a:solidFill>
                  <a:srgbClr val="0070C0"/>
                </a:solidFill>
              </a:rPr>
              <a:t>some viable embryos may not survive </a:t>
            </a:r>
            <a:r>
              <a:rPr lang="en-US" sz="2800" dirty="0"/>
              <a:t>during culture in vitro between the cleavage and blastocyst stages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Maternal </a:t>
            </a:r>
            <a:r>
              <a:rPr lang="en-US" sz="2800" dirty="0"/>
              <a:t>genital tract offers a </a:t>
            </a:r>
            <a:r>
              <a:rPr lang="en-US" sz="2800" dirty="0">
                <a:solidFill>
                  <a:srgbClr val="0070C0"/>
                </a:solidFill>
              </a:rPr>
              <a:t>better environment </a:t>
            </a:r>
            <a:r>
              <a:rPr lang="en-US" sz="2800" dirty="0"/>
              <a:t>than does an IVF container, and a better chance for survival; and so, </a:t>
            </a:r>
            <a:r>
              <a:rPr lang="en-US" sz="2800" dirty="0" smtClean="0"/>
              <a:t>the </a:t>
            </a:r>
            <a:r>
              <a:rPr lang="en-US" sz="2800" dirty="0"/>
              <a:t>sooner the embryo could take up residence in its natural home, the </a:t>
            </a:r>
            <a:r>
              <a:rPr lang="en-US" sz="2800" dirty="0" smtClean="0"/>
              <a:t>better</a:t>
            </a:r>
          </a:p>
          <a:p>
            <a:endParaRPr lang="en-US" sz="2800" dirty="0"/>
          </a:p>
          <a:p>
            <a:r>
              <a:rPr lang="en-US" sz="2800" dirty="0" smtClean="0"/>
              <a:t>And a </a:t>
            </a:r>
            <a:r>
              <a:rPr lang="en-US" sz="2800" dirty="0"/>
              <a:t>controversial question is whether this longer incubation in vitro </a:t>
            </a:r>
            <a:r>
              <a:rPr lang="en-US" sz="2800" dirty="0">
                <a:solidFill>
                  <a:srgbClr val="0070C0"/>
                </a:solidFill>
              </a:rPr>
              <a:t>might disturb the epigenetic state </a:t>
            </a:r>
            <a:r>
              <a:rPr lang="en-US" sz="2800" dirty="0"/>
              <a:t>of the embryo.</a:t>
            </a:r>
          </a:p>
        </p:txBody>
      </p:sp>
    </p:spTree>
    <p:extLst>
      <p:ext uri="{BB962C8B-B14F-4D97-AF65-F5344CB8AC3E}">
        <p14:creationId xmlns:p14="http://schemas.microsoft.com/office/powerpoint/2010/main" val="892758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Genetic analysis of biopsied cells</a:t>
            </a:r>
          </a:p>
          <a:p>
            <a:endParaRPr lang="en-US" sz="2800" dirty="0"/>
          </a:p>
          <a:p>
            <a:r>
              <a:rPr lang="en-US" sz="2800" dirty="0" smtClean="0"/>
              <a:t>Factors for consideration in choosing methods: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Time required to perform the test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Ability of test to detect a range of abnormalities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Equipment and reagent cost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Test complexity</a:t>
            </a:r>
          </a:p>
          <a:p>
            <a:endParaRPr lang="en-US" sz="2800" dirty="0"/>
          </a:p>
          <a:p>
            <a:r>
              <a:rPr lang="en-US" sz="2800" dirty="0" smtClean="0"/>
              <a:t>Cost of analysis is particularly relevant in PGD (in contrast to prenatal and postnatal chromosome analysis) because of the </a:t>
            </a:r>
            <a:r>
              <a:rPr lang="en-US" sz="2800" dirty="0" smtClean="0">
                <a:solidFill>
                  <a:srgbClr val="0070C0"/>
                </a:solidFill>
              </a:rPr>
              <a:t>need to test multiple embryos</a:t>
            </a:r>
            <a:r>
              <a:rPr lang="en-US" sz="2800" dirty="0" smtClean="0"/>
              <a:t> for each IVF cycle, with one or two </a:t>
            </a:r>
            <a:r>
              <a:rPr lang="en-US" sz="2800" dirty="0" smtClean="0"/>
              <a:t>tests </a:t>
            </a:r>
            <a:r>
              <a:rPr lang="en-US" sz="2800" dirty="0" smtClean="0"/>
              <a:t>performed per embryo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7785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34834"/>
            <a:ext cx="8915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Analysis methods:</a:t>
            </a:r>
          </a:p>
          <a:p>
            <a:endParaRPr lang="en-US" sz="2800" dirty="0"/>
          </a:p>
          <a:p>
            <a:r>
              <a:rPr lang="en-US" sz="2800" dirty="0" smtClean="0"/>
              <a:t>Old methods: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Metaphase chromosome analysis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Fluorescence in situ hybridization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Comparative Genomic Hybridization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Current methods: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Array Comparative Genomic </a:t>
            </a:r>
            <a:r>
              <a:rPr lang="en-US" sz="2800" dirty="0" smtClean="0"/>
              <a:t>Hybridization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Real-Time Quantitative </a:t>
            </a:r>
            <a:r>
              <a:rPr lang="en-US" sz="2800" dirty="0" smtClean="0"/>
              <a:t>PCR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SNP Microarray </a:t>
            </a:r>
            <a:r>
              <a:rPr lang="en-US" sz="2800" dirty="0"/>
              <a:t>(“</a:t>
            </a:r>
            <a:r>
              <a:rPr lang="en-US" sz="2800" dirty="0" err="1"/>
              <a:t>Karyomapping</a:t>
            </a:r>
            <a:r>
              <a:rPr lang="en-US" sz="2800" dirty="0" smtClean="0"/>
              <a:t>”)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Next-Generation Sequencing</a:t>
            </a:r>
          </a:p>
        </p:txBody>
      </p:sp>
    </p:spTree>
    <p:extLst>
      <p:ext uri="{BB962C8B-B14F-4D97-AF65-F5344CB8AC3E}">
        <p14:creationId xmlns:p14="http://schemas.microsoft.com/office/powerpoint/2010/main" val="2120546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5943" y="152400"/>
            <a:ext cx="8915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Does PGD carry any risks to the embryo and to the child</a:t>
            </a:r>
            <a:r>
              <a:rPr lang="en-US" sz="2800" b="1" dirty="0" smtClean="0"/>
              <a:t>?</a:t>
            </a:r>
          </a:p>
          <a:p>
            <a:endParaRPr lang="en-US" sz="2800" dirty="0"/>
          </a:p>
          <a:p>
            <a:r>
              <a:rPr lang="en-US" sz="2800" dirty="0" smtClean="0"/>
              <a:t>Three </a:t>
            </a:r>
            <a:r>
              <a:rPr lang="en-US" sz="2800" dirty="0"/>
              <a:t>categories of potential </a:t>
            </a:r>
            <a:r>
              <a:rPr lang="en-US" sz="2800" dirty="0" smtClean="0"/>
              <a:t>risk: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/>
              <a:t>small risk of </a:t>
            </a:r>
            <a:r>
              <a:rPr lang="en-US" sz="2800" dirty="0" smtClean="0"/>
              <a:t>an embryo </a:t>
            </a:r>
            <a:r>
              <a:rPr lang="en-US" sz="2800" dirty="0"/>
              <a:t>not surviving the biopsy process </a:t>
            </a:r>
            <a:r>
              <a:rPr lang="en-US" sz="2800" dirty="0" smtClean="0"/>
              <a:t>(&lt;0.5%)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Ongoing question </a:t>
            </a:r>
            <a:r>
              <a:rPr lang="en-US" sz="2800" dirty="0"/>
              <a:t>of whether the biopsy procedure itself might lead to </a:t>
            </a:r>
            <a:r>
              <a:rPr lang="en-US" sz="2800" dirty="0" smtClean="0"/>
              <a:t>reduced viability </a:t>
            </a:r>
            <a:r>
              <a:rPr lang="en-US" sz="2800" dirty="0"/>
              <a:t>of biopsied embryos, compared to </a:t>
            </a:r>
            <a:r>
              <a:rPr lang="en-US" sz="2800" dirty="0" err="1"/>
              <a:t>nonbiopsied</a:t>
            </a:r>
            <a:r>
              <a:rPr lang="en-US" sz="2800" dirty="0"/>
              <a:t> </a:t>
            </a:r>
            <a:r>
              <a:rPr lang="en-US" sz="2800" dirty="0" smtClean="0"/>
              <a:t>embryos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Child </a:t>
            </a:r>
            <a:r>
              <a:rPr lang="en-US" sz="2800" dirty="0"/>
              <a:t>born from </a:t>
            </a:r>
            <a:r>
              <a:rPr lang="en-US" sz="2800" dirty="0" smtClean="0"/>
              <a:t>a PGD pregnancy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462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2F1C-DC4E-4683-9102-188EC59E451E}" type="datetime12">
              <a:rPr lang="en-US" smtClean="0"/>
              <a:t>9:36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E9621-FA89-441C-B27F-0E53FC8422DE}" type="slidenum">
              <a:rPr lang="en-US" smtClean="0"/>
              <a:t>19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8915400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There are differences in health between children conceived by IVF (without PGD) and naturally conceived </a:t>
            </a:r>
            <a:r>
              <a:rPr lang="en-US" sz="2800" dirty="0" smtClean="0"/>
              <a:t>children</a:t>
            </a:r>
          </a:p>
          <a:p>
            <a:endParaRPr lang="en-US" sz="2000" dirty="0"/>
          </a:p>
          <a:p>
            <a:r>
              <a:rPr lang="en-US" sz="2800" dirty="0"/>
              <a:t>IVF-conceived babies are at increased risk </a:t>
            </a:r>
            <a:r>
              <a:rPr lang="en-US" sz="2800" dirty="0" smtClean="0"/>
              <a:t>of: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low birth weight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preterm birth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perinatal mortality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birth defects</a:t>
            </a:r>
          </a:p>
          <a:p>
            <a:endParaRPr lang="en-US" sz="2000" dirty="0"/>
          </a:p>
          <a:p>
            <a:r>
              <a:rPr lang="en-US" sz="2800" dirty="0" smtClean="0"/>
              <a:t>In </a:t>
            </a:r>
            <a:r>
              <a:rPr lang="en-US" sz="2800" dirty="0"/>
              <a:t>the longer </a:t>
            </a:r>
            <a:r>
              <a:rPr lang="en-US" sz="2800" dirty="0" smtClean="0"/>
              <a:t>term, the </a:t>
            </a:r>
            <a:r>
              <a:rPr lang="en-US" sz="2800" dirty="0"/>
              <a:t>health of </a:t>
            </a:r>
            <a:r>
              <a:rPr lang="en-US" sz="2800" dirty="0" smtClean="0"/>
              <a:t>IVF young </a:t>
            </a:r>
            <a:r>
              <a:rPr lang="en-US" sz="2800" dirty="0"/>
              <a:t>adult </a:t>
            </a:r>
            <a:r>
              <a:rPr lang="en-US" sz="2800" dirty="0" smtClean="0"/>
              <a:t>appears </a:t>
            </a:r>
            <a:r>
              <a:rPr lang="en-US" sz="2800" dirty="0"/>
              <a:t>to be similar to that of </a:t>
            </a:r>
            <a:r>
              <a:rPr lang="en-US" sz="2800" dirty="0" smtClean="0"/>
              <a:t>their in </a:t>
            </a:r>
            <a:r>
              <a:rPr lang="en-US" sz="2800" dirty="0"/>
              <a:t>vivo conceived </a:t>
            </a:r>
            <a:r>
              <a:rPr lang="en-US" sz="2800" dirty="0" smtClean="0"/>
              <a:t>counterparts</a:t>
            </a:r>
          </a:p>
          <a:p>
            <a:endParaRPr lang="en-US" sz="2000" dirty="0"/>
          </a:p>
          <a:p>
            <a:r>
              <a:rPr lang="en-US" sz="2800" dirty="0"/>
              <a:t>To </a:t>
            </a:r>
            <a:r>
              <a:rPr lang="en-US" sz="2800" dirty="0" smtClean="0"/>
              <a:t>date, outcomes </a:t>
            </a:r>
            <a:r>
              <a:rPr lang="en-US" sz="2800" dirty="0"/>
              <a:t>in PGD pregnancies have not been </a:t>
            </a:r>
            <a:r>
              <a:rPr lang="en-US" sz="2800" dirty="0" smtClean="0"/>
              <a:t>substantially different </a:t>
            </a:r>
            <a:r>
              <a:rPr lang="en-US" sz="2800" dirty="0"/>
              <a:t>from those of IVF pregnancies; and thus we may conclude </a:t>
            </a:r>
            <a:r>
              <a:rPr lang="en-US" sz="2800" dirty="0" smtClean="0"/>
              <a:t>that, in </a:t>
            </a:r>
            <a:r>
              <a:rPr lang="en-US" sz="2800" dirty="0"/>
              <a:t>fact, </a:t>
            </a:r>
            <a:r>
              <a:rPr lang="en-US" sz="2800" i="1" dirty="0">
                <a:solidFill>
                  <a:srgbClr val="C00000"/>
                </a:solidFill>
              </a:rPr>
              <a:t>there is likely no detrimental effect of embryo biopsy per </a:t>
            </a:r>
            <a:r>
              <a:rPr lang="en-US" sz="2800" i="1" dirty="0" smtClean="0">
                <a:solidFill>
                  <a:srgbClr val="C00000"/>
                </a:solidFill>
              </a:rPr>
              <a:t>se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72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1169</Words>
  <Application>Microsoft Office PowerPoint</Application>
  <PresentationFormat>On-screen Show (4:3)</PresentationFormat>
  <Paragraphs>146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Preimplantation genetic diagnosis PGD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Preimplantation genetic diagnosis</dc:title>
  <dc:creator>Asem</dc:creator>
  <cp:lastModifiedBy>JUST</cp:lastModifiedBy>
  <cp:revision>66</cp:revision>
  <dcterms:created xsi:type="dcterms:W3CDTF">2018-04-14T17:46:50Z</dcterms:created>
  <dcterms:modified xsi:type="dcterms:W3CDTF">2024-05-20T18:42:03Z</dcterms:modified>
</cp:coreProperties>
</file>