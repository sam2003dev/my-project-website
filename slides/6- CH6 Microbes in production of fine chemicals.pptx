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17" r:id="rId4"/>
    <p:sldId id="276" r:id="rId5"/>
    <p:sldId id="321" r:id="rId6"/>
    <p:sldId id="318" r:id="rId7"/>
    <p:sldId id="323" r:id="rId8"/>
    <p:sldId id="324" r:id="rId9"/>
    <p:sldId id="258" r:id="rId10"/>
    <p:sldId id="325" r:id="rId11"/>
    <p:sldId id="329" r:id="rId12"/>
    <p:sldId id="326" r:id="rId13"/>
    <p:sldId id="328" r:id="rId14"/>
    <p:sldId id="279" r:id="rId15"/>
    <p:sldId id="330" r:id="rId16"/>
    <p:sldId id="331" r:id="rId17"/>
    <p:sldId id="332" r:id="rId18"/>
    <p:sldId id="333" r:id="rId19"/>
    <p:sldId id="334" r:id="rId20"/>
    <p:sldId id="335" r:id="rId21"/>
    <p:sldId id="337" r:id="rId22"/>
    <p:sldId id="338" r:id="rId23"/>
    <p:sldId id="339" r:id="rId24"/>
    <p:sldId id="340" r:id="rId25"/>
    <p:sldId id="345" r:id="rId26"/>
    <p:sldId id="346" r:id="rId27"/>
    <p:sldId id="347" r:id="rId28"/>
    <p:sldId id="348" r:id="rId29"/>
    <p:sldId id="349" r:id="rId30"/>
    <p:sldId id="350" r:id="rId31"/>
    <p:sldId id="352" r:id="rId32"/>
    <p:sldId id="353" r:id="rId33"/>
    <p:sldId id="351" r:id="rId34"/>
    <p:sldId id="373" r:id="rId35"/>
    <p:sldId id="354" r:id="rId36"/>
    <p:sldId id="357" r:id="rId37"/>
    <p:sldId id="358" r:id="rId38"/>
    <p:sldId id="360" r:id="rId39"/>
    <p:sldId id="359" r:id="rId40"/>
    <p:sldId id="365" r:id="rId41"/>
    <p:sldId id="362" r:id="rId42"/>
    <p:sldId id="372" r:id="rId43"/>
    <p:sldId id="374" r:id="rId44"/>
    <p:sldId id="375" r:id="rId45"/>
    <p:sldId id="356" r:id="rId46"/>
    <p:sldId id="369" r:id="rId47"/>
    <p:sldId id="363" r:id="rId48"/>
    <p:sldId id="364" r:id="rId49"/>
    <p:sldId id="366" r:id="rId50"/>
    <p:sldId id="367" r:id="rId51"/>
    <p:sldId id="368" r:id="rId52"/>
    <p:sldId id="370" r:id="rId53"/>
    <p:sldId id="371" r:id="rId5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50" autoAdjust="0"/>
  </p:normalViewPr>
  <p:slideViewPr>
    <p:cSldViewPr snapToGrid="0" snapToObjects="1">
      <p:cViewPr>
        <p:scale>
          <a:sx n="75" d="100"/>
          <a:sy n="75" d="100"/>
        </p:scale>
        <p:origin x="1236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E1327-DBD9-1D4E-A4ED-BE184B65546F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22C4A-05CC-2C4D-BA55-606EE4608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27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5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7EF41B4-1DA3-2040-8724-E36284978C78}" type="slidenum">
              <a:rPr lang="en-US" altLang="ja-JP" sz="1200"/>
              <a:pPr eaLnBrk="1" hangingPunct="1"/>
              <a:t>7</a:t>
            </a:fld>
            <a:endParaRPr lang="en-US" altLang="ja-JP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4575424-EDCF-6A4D-9D03-75D6DB0C6660}" type="slidenum">
              <a:rPr lang="en-US" altLang="ja-JP" sz="1200"/>
              <a:pPr eaLnBrk="1" hangingPunct="1"/>
              <a:t>15</a:t>
            </a:fld>
            <a:endParaRPr lang="en-US" altLang="ja-JP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6EE4A33-7E3D-5041-A5E3-9AE62E58A7FC}" type="slidenum">
              <a:rPr lang="en-US" altLang="ja-JP" sz="1200"/>
              <a:pPr eaLnBrk="1" hangingPunct="1"/>
              <a:t>16</a:t>
            </a:fld>
            <a:endParaRPr lang="en-US" altLang="ja-JP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6EE4A33-7E3D-5041-A5E3-9AE62E58A7FC}" type="slidenum">
              <a:rPr lang="en-US" altLang="ja-JP" sz="1200"/>
              <a:pPr eaLnBrk="1" hangingPunct="1"/>
              <a:t>17</a:t>
            </a:fld>
            <a:endParaRPr lang="en-US" altLang="ja-JP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6EE4A33-7E3D-5041-A5E3-9AE62E58A7FC}" type="slidenum">
              <a:rPr lang="en-US" altLang="ja-JP" sz="1200"/>
              <a:pPr eaLnBrk="1" hangingPunct="1"/>
              <a:t>18</a:t>
            </a:fld>
            <a:endParaRPr lang="en-US" altLang="ja-JP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5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88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1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7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8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4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32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2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1828F-421C-4E44-B579-1CA9A818CADC}" type="datetimeFigureOut">
              <a:rPr kumimoji="1" lang="ja-JP" altLang="en-US" smtClean="0"/>
              <a:t>2019/11/16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8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file://localhost/Users/jdecker/Documents/COURSEADMIN/MIC%20205/Mic205PP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file://localhost/Users/jdecker/Documents/COURSEADMIN/MIC%20205/Mic205P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23366"/>
            <a:ext cx="77694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Microbes in Production of Fine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Chemicals</a:t>
            </a:r>
            <a:endParaRPr lang="ar-sa" altLang="ja-JP" sz="40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ar-sa" altLang="ja-JP" sz="40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Antibiotics</a:t>
            </a:r>
            <a:endParaRPr lang="ar-sa" altLang="ja-JP" sz="40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altLang="ja-JP" sz="4000" b="1" smtClean="0">
                <a:solidFill>
                  <a:srgbClr val="FF0000"/>
                </a:solidFill>
                <a:latin typeface="Arial"/>
                <a:cs typeface="Arial"/>
              </a:rPr>
              <a:t>Drugs</a:t>
            </a:r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/>
            </a:r>
            <a:b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</a:b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Vitamins</a:t>
            </a:r>
            <a:endParaRPr lang="ar-sa" altLang="ja-JP" sz="40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Amino Acids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5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4371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Fine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Chemicals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342973"/>
            <a:ext cx="79811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Fine chemicals are single pure substances </a:t>
            </a:r>
            <a:r>
              <a:rPr lang="en-US" altLang="ja-JP" sz="2800" dirty="0" smtClean="0">
                <a:latin typeface="Times New Roman"/>
                <a:cs typeface="Times New Roman"/>
              </a:rPr>
              <a:t>produced </a:t>
            </a:r>
            <a:r>
              <a:rPr lang="en-US" altLang="ja-JP" sz="2800" dirty="0">
                <a:latin typeface="Times New Roman"/>
                <a:cs typeface="Times New Roman"/>
              </a:rPr>
              <a:t>in small to medium quantities and have a high </a:t>
            </a:r>
            <a:r>
              <a:rPr lang="en-US" altLang="ja-JP" sz="2800" dirty="0" smtClean="0">
                <a:latin typeface="Times New Roman"/>
                <a:cs typeface="Times New Roman"/>
              </a:rPr>
              <a:t>value. 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800" dirty="0" smtClea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4371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Fine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Chemicals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342973"/>
            <a:ext cx="79811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Fine chemicals are single pure substances </a:t>
            </a:r>
            <a:r>
              <a:rPr lang="en-US" altLang="ja-JP" sz="2800" dirty="0" smtClean="0">
                <a:latin typeface="Times New Roman"/>
                <a:cs typeface="Times New Roman"/>
              </a:rPr>
              <a:t>produced </a:t>
            </a:r>
            <a:r>
              <a:rPr lang="en-US" altLang="ja-JP" sz="2800" dirty="0">
                <a:latin typeface="Times New Roman"/>
                <a:cs typeface="Times New Roman"/>
              </a:rPr>
              <a:t>in small to medium quantities and have a high </a:t>
            </a:r>
            <a:r>
              <a:rPr lang="en-US" altLang="ja-JP" sz="2800" dirty="0" smtClean="0">
                <a:latin typeface="Times New Roman"/>
                <a:cs typeface="Times New Roman"/>
              </a:rPr>
              <a:t>value. 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800" dirty="0" smtClean="0">
              <a:latin typeface="Times New Roman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0" y="2399026"/>
            <a:ext cx="7413888" cy="447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5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2751"/>
            <a:ext cx="77694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Antibiotics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1942" y="1270071"/>
            <a:ext cx="841890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b="1" dirty="0" smtClean="0">
                <a:latin typeface="Times New Roman"/>
                <a:cs typeface="Times New Roman"/>
              </a:rPr>
              <a:t>Antibiotics </a:t>
            </a:r>
            <a:r>
              <a:rPr lang="en-US" altLang="ja-JP" sz="2800" dirty="0">
                <a:latin typeface="Times New Roman"/>
                <a:cs typeface="Times New Roman"/>
              </a:rPr>
              <a:t>are chemicals produced by microorganisms and which in low concentrations are capable of inhibiting the growth of, or killing, other </a:t>
            </a:r>
            <a:r>
              <a:rPr lang="en-US" altLang="ja-JP" sz="2800" dirty="0" smtClean="0">
                <a:latin typeface="Times New Roman"/>
                <a:cs typeface="Times New Roman"/>
              </a:rPr>
              <a:t>microorganisms</a:t>
            </a: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Most antibiotics are secondary metabolites produced by filamentous fungi and bacteria, particularly the </a:t>
            </a:r>
            <a:r>
              <a:rPr lang="en-US" altLang="ja-JP" sz="2800" dirty="0" err="1" smtClean="0">
                <a:latin typeface="Times New Roman"/>
                <a:cs typeface="Times New Roman"/>
              </a:rPr>
              <a:t>actinomycetes</a:t>
            </a:r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b="1" dirty="0">
                <a:latin typeface="Times New Roman"/>
                <a:cs typeface="Times New Roman"/>
              </a:rPr>
              <a:t>Antimicrobial agent: </a:t>
            </a:r>
            <a:r>
              <a:rPr lang="en-US" altLang="ja-JP" sz="2800" dirty="0">
                <a:latin typeface="Times New Roman"/>
                <a:cs typeface="Times New Roman"/>
              </a:rPr>
              <a:t>Chemical that kills or inhibits the growth of microorganisms</a:t>
            </a: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endParaRPr lang="en-US" altLang="ja-JP" sz="2800" dirty="0">
              <a:latin typeface="Times New Roman"/>
              <a:cs typeface="Times New Roman"/>
            </a:endParaRPr>
          </a:p>
          <a:p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426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ja-JP" b="1" dirty="0">
                <a:solidFill>
                  <a:srgbClr val="FF0000"/>
                </a:solidFill>
                <a:latin typeface="Arial" charset="0"/>
              </a:rPr>
              <a:t>Ehrlich</a:t>
            </a:r>
            <a:r>
              <a:rPr lang="ja-JP" altLang="en-US" b="1" dirty="0">
                <a:solidFill>
                  <a:srgbClr val="FF0000"/>
                </a:solidFill>
                <a:latin typeface="Arial" charset="0"/>
              </a:rPr>
              <a:t>’</a:t>
            </a:r>
            <a:r>
              <a:rPr lang="en-US" altLang="ja-JP" b="1" dirty="0">
                <a:solidFill>
                  <a:srgbClr val="FF0000"/>
                </a:solidFill>
                <a:latin typeface="Arial" charset="0"/>
              </a:rPr>
              <a:t>s Magic Bullets </a:t>
            </a:r>
          </a:p>
        </p:txBody>
      </p:sp>
      <p:pic>
        <p:nvPicPr>
          <p:cNvPr id="3075" name="Picture 4" descr="Ehrli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0"/>
            <a:ext cx="59499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5" descr="treponem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7"/>
          <a:stretch>
            <a:fillRect/>
          </a:stretch>
        </p:blipFill>
        <p:spPr bwMode="auto">
          <a:xfrm>
            <a:off x="838200" y="1524000"/>
            <a:ext cx="18240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46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2751"/>
            <a:ext cx="77694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Fleming &amp; Penicillin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633"/>
            <a:ext cx="5652504" cy="52116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538" y="1615030"/>
            <a:ext cx="3384419" cy="44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1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acintosh HD:Users:jdecker:Documents:COURSEADMIN:MIC 205:Mic205PP:"/>
          <p:cNvPicPr preferRelativeResize="0"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4516"/>
            <a:ext cx="9140825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540000"/>
            <a:ext cx="7772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b="1" dirty="0">
                <a:solidFill>
                  <a:srgbClr val="FF0000"/>
                </a:solidFill>
                <a:latin typeface="Arial" charset="0"/>
              </a:rPr>
              <a:t>Antibiotic Spectrum of Activity</a:t>
            </a:r>
          </a:p>
        </p:txBody>
      </p:sp>
    </p:spTree>
    <p:extLst>
      <p:ext uri="{BB962C8B-B14F-4D97-AF65-F5344CB8AC3E}">
        <p14:creationId xmlns:p14="http://schemas.microsoft.com/office/powerpoint/2010/main" val="377792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163005"/>
            <a:ext cx="789145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Antibiotics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discovered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fungi 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909" y="862394"/>
            <a:ext cx="8481618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i="1" dirty="0" err="1" smtClean="0"/>
              <a:t>Penicillium</a:t>
            </a:r>
            <a:r>
              <a:rPr lang="en-US" altLang="ja-JP" sz="2800" i="1" dirty="0" smtClean="0"/>
              <a:t> </a:t>
            </a:r>
            <a:r>
              <a:rPr lang="en-US" altLang="ja-JP" sz="2800" dirty="0" smtClean="0"/>
              <a:t>and </a:t>
            </a:r>
            <a:r>
              <a:rPr lang="en-US" altLang="ja-JP" sz="2800" i="1" dirty="0" err="1"/>
              <a:t>Acremonium</a:t>
            </a:r>
            <a:r>
              <a:rPr lang="en-US" altLang="ja-JP" sz="2800" i="1" dirty="0"/>
              <a:t> </a:t>
            </a:r>
            <a:r>
              <a:rPr lang="en-US" altLang="ja-JP" sz="2800" dirty="0"/>
              <a:t>spp. predominantly synthesize β‐lactam </a:t>
            </a:r>
            <a:r>
              <a:rPr lang="en-US" altLang="ja-JP" sz="2800" dirty="0" smtClean="0"/>
              <a:t>antibiotics</a:t>
            </a: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endParaRPr lang="en-US" altLang="ja-JP" sz="2800" dirty="0">
              <a:latin typeface="Times New Roman"/>
              <a:cs typeface="Times New Roman"/>
            </a:endParaRPr>
          </a:p>
          <a:p>
            <a:endParaRPr kumimoji="1" lang="ja-JP" altLang="en-US" sz="2800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329"/>
          <a:stretch/>
        </p:blipFill>
        <p:spPr>
          <a:xfrm>
            <a:off x="-133250" y="2210867"/>
            <a:ext cx="4450912" cy="2619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7315" y="2761959"/>
            <a:ext cx="2716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smtClean="0">
                <a:solidFill>
                  <a:srgbClr val="FF0000"/>
                </a:solidFill>
              </a:rPr>
              <a:t>Penicillin produced by </a:t>
            </a:r>
            <a:r>
              <a:rPr lang="en-US" altLang="ja-JP" sz="2000" i="1" dirty="0" err="1" smtClean="0">
                <a:solidFill>
                  <a:srgbClr val="FF0000"/>
                </a:solidFill>
              </a:rPr>
              <a:t>Penicillium</a:t>
            </a:r>
            <a:r>
              <a:rPr lang="en-US" altLang="ja-JP" sz="2000" i="1" dirty="0" smtClean="0">
                <a:solidFill>
                  <a:srgbClr val="FF0000"/>
                </a:solidFill>
              </a:rPr>
              <a:t> </a:t>
            </a:r>
            <a:r>
              <a:rPr lang="en-US" altLang="ja-JP" sz="2000" i="1" dirty="0" err="1" smtClean="0">
                <a:solidFill>
                  <a:srgbClr val="FF0000"/>
                </a:solidFill>
              </a:rPr>
              <a:t>spp</a:t>
            </a:r>
            <a:endParaRPr kumimoji="1" lang="ja-JP" altLang="en-US" sz="20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483813" y="3151662"/>
            <a:ext cx="893629" cy="0"/>
          </a:xfrm>
          <a:prstGeom prst="straightConnector1">
            <a:avLst/>
          </a:prstGeom>
          <a:ln w="57150" cmpd="sng">
            <a:solidFill>
              <a:srgbClr val="FF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6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909" y="862394"/>
            <a:ext cx="8481618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i="1" dirty="0" err="1" smtClean="0"/>
              <a:t>Penicillium</a:t>
            </a:r>
            <a:r>
              <a:rPr lang="en-US" altLang="ja-JP" sz="2800" i="1" dirty="0" smtClean="0"/>
              <a:t> </a:t>
            </a:r>
            <a:r>
              <a:rPr lang="en-US" altLang="ja-JP" sz="2800" dirty="0" smtClean="0"/>
              <a:t>and </a:t>
            </a:r>
            <a:r>
              <a:rPr lang="en-US" altLang="ja-JP" sz="2800" i="1" dirty="0" err="1"/>
              <a:t>Acremonium</a:t>
            </a:r>
            <a:r>
              <a:rPr lang="en-US" altLang="ja-JP" sz="2800" i="1" dirty="0"/>
              <a:t> </a:t>
            </a:r>
            <a:r>
              <a:rPr lang="en-US" altLang="ja-JP" sz="2800" dirty="0"/>
              <a:t>spp. predominantly synthesize β‐lactam </a:t>
            </a:r>
            <a:r>
              <a:rPr lang="en-US" altLang="ja-JP" sz="2800" dirty="0" smtClean="0"/>
              <a:t>antibiotics</a:t>
            </a: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endParaRPr lang="en-US" altLang="ja-JP" sz="2800" dirty="0">
              <a:latin typeface="Times New Roman"/>
              <a:cs typeface="Times New Roman"/>
            </a:endParaRPr>
          </a:p>
          <a:p>
            <a:endParaRPr kumimoji="1" lang="ja-JP" altLang="en-US" sz="2800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329"/>
          <a:stretch/>
        </p:blipFill>
        <p:spPr>
          <a:xfrm>
            <a:off x="-133250" y="2210867"/>
            <a:ext cx="4450912" cy="2619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7315" y="2761959"/>
            <a:ext cx="2716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smtClean="0">
                <a:solidFill>
                  <a:srgbClr val="FF0000"/>
                </a:solidFill>
              </a:rPr>
              <a:t>Penicillin produced by </a:t>
            </a:r>
            <a:r>
              <a:rPr lang="en-US" altLang="ja-JP" sz="2000" i="1" dirty="0" err="1" smtClean="0">
                <a:solidFill>
                  <a:srgbClr val="FF0000"/>
                </a:solidFill>
              </a:rPr>
              <a:t>Penicillium</a:t>
            </a:r>
            <a:r>
              <a:rPr lang="en-US" altLang="ja-JP" sz="2000" i="1" dirty="0" smtClean="0">
                <a:solidFill>
                  <a:srgbClr val="FF0000"/>
                </a:solidFill>
              </a:rPr>
              <a:t> </a:t>
            </a:r>
            <a:r>
              <a:rPr lang="en-US" altLang="ja-JP" sz="2000" i="1" dirty="0" err="1" smtClean="0">
                <a:solidFill>
                  <a:srgbClr val="FF0000"/>
                </a:solidFill>
              </a:rPr>
              <a:t>spp</a:t>
            </a:r>
            <a:endParaRPr kumimoji="1" lang="ja-JP" altLang="en-US" sz="20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8753" y="5431943"/>
            <a:ext cx="2911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err="1" smtClean="0">
                <a:solidFill>
                  <a:srgbClr val="FF0000"/>
                </a:solidFill>
              </a:rPr>
              <a:t>Cephalosporins</a:t>
            </a:r>
            <a:r>
              <a:rPr lang="en-US" altLang="ja-JP" sz="2000" dirty="0" smtClean="0">
                <a:solidFill>
                  <a:srgbClr val="FF0000"/>
                </a:solidFill>
              </a:rPr>
              <a:t> produced by </a:t>
            </a:r>
            <a:r>
              <a:rPr lang="en-US" altLang="ja-JP" sz="2000" i="1" dirty="0" err="1">
                <a:solidFill>
                  <a:srgbClr val="FF0000"/>
                </a:solidFill>
              </a:rPr>
              <a:t>Acremonium</a:t>
            </a:r>
            <a:r>
              <a:rPr lang="en-US" altLang="ja-JP" sz="2000" i="1" dirty="0">
                <a:solidFill>
                  <a:srgbClr val="FF0000"/>
                </a:solidFill>
              </a:rPr>
              <a:t>  </a:t>
            </a:r>
            <a:r>
              <a:rPr lang="en-US" altLang="ja-JP" sz="2000" i="1" dirty="0" err="1" smtClean="0">
                <a:solidFill>
                  <a:srgbClr val="FF0000"/>
                </a:solidFill>
              </a:rPr>
              <a:t>spp</a:t>
            </a:r>
            <a:endParaRPr kumimoji="1" lang="ja-JP" altLang="en-US" sz="20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483813" y="3151662"/>
            <a:ext cx="893629" cy="0"/>
          </a:xfrm>
          <a:prstGeom prst="straightConnector1">
            <a:avLst/>
          </a:prstGeom>
          <a:ln w="57150" cmpd="sng">
            <a:solidFill>
              <a:srgbClr val="FF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424033" y="5812847"/>
            <a:ext cx="893629" cy="0"/>
          </a:xfrm>
          <a:prstGeom prst="straightConnector1">
            <a:avLst/>
          </a:prstGeom>
          <a:ln w="57150" cmpd="sng">
            <a:solidFill>
              <a:srgbClr val="FF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2472" y="163005"/>
            <a:ext cx="789145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Antibiotics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discovered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fungi 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700403" y="4515814"/>
            <a:ext cx="6727719" cy="2342185"/>
            <a:chOff x="2700403" y="4515814"/>
            <a:chExt cx="6727719" cy="2342185"/>
          </a:xfrm>
        </p:grpSpPr>
        <p:grpSp>
          <p:nvGrpSpPr>
            <p:cNvPr id="13" name="Group 12"/>
            <p:cNvGrpSpPr/>
            <p:nvPr/>
          </p:nvGrpSpPr>
          <p:grpSpPr>
            <a:xfrm>
              <a:off x="2700403" y="4515814"/>
              <a:ext cx="6727719" cy="2342185"/>
              <a:chOff x="2700403" y="4515814"/>
              <a:chExt cx="6727719" cy="2342185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 rotWithShape="1">
              <a:blip r:embed="rId3"/>
              <a:srcRect l="33527" t="28376"/>
              <a:stretch/>
            </p:blipFill>
            <p:spPr>
              <a:xfrm>
                <a:off x="5377440" y="4830864"/>
                <a:ext cx="4050682" cy="2027135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/>
              <a:srcRect t="44400" r="63961" b="25369"/>
              <a:stretch/>
            </p:blipFill>
            <p:spPr>
              <a:xfrm>
                <a:off x="2700403" y="4515814"/>
                <a:ext cx="2677039" cy="1411192"/>
              </a:xfrm>
              <a:prstGeom prst="rect">
                <a:avLst/>
              </a:prstGeom>
            </p:spPr>
          </p:pic>
        </p:grpSp>
        <p:sp>
          <p:nvSpPr>
            <p:cNvPr id="18" name="Rectangle 17"/>
            <p:cNvSpPr/>
            <p:nvPr/>
          </p:nvSpPr>
          <p:spPr>
            <a:xfrm>
              <a:off x="7435505" y="4830864"/>
              <a:ext cx="1708495" cy="130896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2"/>
            <a:srcRect t="74193" r="73401"/>
            <a:stretch/>
          </p:blipFill>
          <p:spPr>
            <a:xfrm>
              <a:off x="3891864" y="5943718"/>
              <a:ext cx="1183898" cy="72182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2"/>
            <a:srcRect t="74193" r="73401"/>
            <a:stretch/>
          </p:blipFill>
          <p:spPr>
            <a:xfrm>
              <a:off x="7483702" y="5451937"/>
              <a:ext cx="1183898" cy="72182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2"/>
            <a:srcRect l="32425" t="44400" r="63961" b="25369"/>
            <a:stretch/>
          </p:blipFill>
          <p:spPr>
            <a:xfrm>
              <a:off x="7350030" y="4969022"/>
              <a:ext cx="268437" cy="14111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083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163005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Penicillins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1" y="1057504"/>
            <a:ext cx="9265502" cy="57106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01813" y="3705999"/>
            <a:ext cx="17321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Penicillin G</a:t>
            </a:r>
            <a:endParaRPr lang="ja-JP" altLang="en-US" sz="2400" b="1" dirty="0">
              <a:latin typeface="Times New Roman"/>
              <a:cs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35755" y="5567509"/>
            <a:ext cx="17321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Penicillin V</a:t>
            </a:r>
            <a:endParaRPr lang="ja-JP" alt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273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163005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</a:t>
            </a:r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Penicillins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866" y="921026"/>
            <a:ext cx="4650840" cy="605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8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163005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Cephalosporins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5606" y="6171705"/>
            <a:ext cx="24164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Cephalosporin C</a:t>
            </a:r>
            <a:endParaRPr lang="ja-JP" altLang="en-US" sz="2400" b="1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3296" t="15423"/>
          <a:stretch/>
        </p:blipFill>
        <p:spPr>
          <a:xfrm>
            <a:off x="1524444" y="3856483"/>
            <a:ext cx="6195114" cy="2310077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40627" y="1323909"/>
            <a:ext cx="6727719" cy="2342185"/>
            <a:chOff x="2700403" y="4515814"/>
            <a:chExt cx="6727719" cy="2342185"/>
          </a:xfrm>
        </p:grpSpPr>
        <p:grpSp>
          <p:nvGrpSpPr>
            <p:cNvPr id="8" name="Group 7"/>
            <p:cNvGrpSpPr/>
            <p:nvPr/>
          </p:nvGrpSpPr>
          <p:grpSpPr>
            <a:xfrm>
              <a:off x="2700403" y="4515814"/>
              <a:ext cx="6727719" cy="2342185"/>
              <a:chOff x="2700403" y="4515814"/>
              <a:chExt cx="6727719" cy="234218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/>
              <a:srcRect l="33527" t="28376"/>
              <a:stretch/>
            </p:blipFill>
            <p:spPr>
              <a:xfrm>
                <a:off x="5377440" y="4830864"/>
                <a:ext cx="4050682" cy="2027135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4"/>
              <a:srcRect t="44400" r="63961" b="25369"/>
              <a:stretch/>
            </p:blipFill>
            <p:spPr>
              <a:xfrm>
                <a:off x="2700403" y="4515814"/>
                <a:ext cx="2677039" cy="1411192"/>
              </a:xfrm>
              <a:prstGeom prst="rect">
                <a:avLst/>
              </a:prstGeom>
            </p:spPr>
          </p:pic>
        </p:grpSp>
        <p:sp>
          <p:nvSpPr>
            <p:cNvPr id="9" name="Rectangle 8"/>
            <p:cNvSpPr/>
            <p:nvPr/>
          </p:nvSpPr>
          <p:spPr>
            <a:xfrm>
              <a:off x="7435505" y="4830864"/>
              <a:ext cx="1708495" cy="130896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/>
            <a:srcRect t="74193" r="73401"/>
            <a:stretch/>
          </p:blipFill>
          <p:spPr>
            <a:xfrm>
              <a:off x="3891864" y="5943718"/>
              <a:ext cx="1183898" cy="72182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4"/>
            <a:srcRect t="74193" r="73401"/>
            <a:stretch/>
          </p:blipFill>
          <p:spPr>
            <a:xfrm>
              <a:off x="7483702" y="5451937"/>
              <a:ext cx="1183898" cy="72182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4"/>
            <a:srcRect l="32425" t="44400" r="63961" b="25369"/>
            <a:stretch/>
          </p:blipFill>
          <p:spPr>
            <a:xfrm>
              <a:off x="7350030" y="4969022"/>
              <a:ext cx="268437" cy="14111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686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1" y="279989"/>
            <a:ext cx="826342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β-lactams (Cell wall synthesis inhibitors)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454" y="1246770"/>
            <a:ext cx="8661242" cy="6863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sz="2200" b="1" dirty="0" smtClean="0">
                <a:latin typeface="Times New Roman"/>
                <a:cs typeface="Times New Roman"/>
              </a:rPr>
              <a:t>Natural </a:t>
            </a:r>
            <a:r>
              <a:rPr lang="en-US" altLang="ja-JP" sz="2200" b="1" dirty="0" err="1" smtClean="0">
                <a:latin typeface="Times New Roman"/>
                <a:cs typeface="Times New Roman"/>
              </a:rPr>
              <a:t>penicillins</a:t>
            </a:r>
            <a:r>
              <a:rPr lang="en-US" altLang="ja-JP" sz="2200" b="1" dirty="0">
                <a:latin typeface="Times New Roman"/>
                <a:cs typeface="Times New Roman"/>
              </a:rPr>
              <a:t> (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Penicillium</a:t>
            </a:r>
            <a:r>
              <a:rPr lang="en-US" altLang="ja-JP" sz="2200" b="1" i="1" dirty="0">
                <a:latin typeface="Times New Roman"/>
                <a:cs typeface="Times New Roman"/>
              </a:rPr>
              <a:t> </a:t>
            </a:r>
            <a:r>
              <a:rPr lang="en-US" altLang="ja-JP" sz="2200" b="1" i="1" dirty="0" err="1" smtClean="0">
                <a:latin typeface="Times New Roman"/>
                <a:cs typeface="Times New Roman"/>
              </a:rPr>
              <a:t>chrysogenum</a:t>
            </a:r>
            <a:r>
              <a:rPr lang="en-US" altLang="ja-JP" sz="2200" b="1" i="1" dirty="0" smtClean="0">
                <a:latin typeface="Times New Roman"/>
                <a:cs typeface="Times New Roman"/>
              </a:rPr>
              <a:t>)</a:t>
            </a:r>
            <a:endParaRPr lang="en-US" altLang="ja-JP" sz="2200" b="1" dirty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r>
              <a:rPr lang="en-US" altLang="ja-JP" sz="2200" dirty="0">
                <a:latin typeface="Times New Roman"/>
                <a:cs typeface="Times New Roman"/>
              </a:rPr>
              <a:t>Penicillin G </a:t>
            </a:r>
            <a:r>
              <a:rPr lang="en-US" altLang="ja-JP" sz="2200" dirty="0" smtClean="0">
                <a:latin typeface="Times New Roman"/>
                <a:cs typeface="Times New Roman"/>
              </a:rPr>
              <a:t>and Penicillin V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200" dirty="0" smtClean="0">
                <a:latin typeface="Times New Roman"/>
                <a:cs typeface="Times New Roman"/>
              </a:rPr>
              <a:t>Effective against Gram</a:t>
            </a:r>
            <a:r>
              <a:rPr lang="en-US" altLang="ja-JP" sz="2200" dirty="0">
                <a:latin typeface="Times New Roman"/>
                <a:cs typeface="Times New Roman"/>
              </a:rPr>
              <a:t>-positive bacteria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endParaRPr lang="en-US" altLang="ja-JP" sz="2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200" b="1" dirty="0" smtClean="0">
                <a:latin typeface="Times New Roman"/>
                <a:cs typeface="Times New Roman"/>
              </a:rPr>
              <a:t>Semi</a:t>
            </a:r>
            <a:r>
              <a:rPr lang="en-US" altLang="ja-JP" sz="2200" b="1" dirty="0">
                <a:latin typeface="Times New Roman"/>
                <a:cs typeface="Times New Roman"/>
              </a:rPr>
              <a:t>-synthetic </a:t>
            </a:r>
            <a:r>
              <a:rPr lang="en-US" altLang="ja-JP" sz="2200" b="1" dirty="0" err="1" smtClean="0">
                <a:latin typeface="Times New Roman"/>
                <a:cs typeface="Times New Roman"/>
              </a:rPr>
              <a:t>penicillins</a:t>
            </a:r>
            <a:r>
              <a:rPr lang="en-US" altLang="ja-JP" sz="2200" b="1" dirty="0" smtClean="0">
                <a:latin typeface="Times New Roman"/>
                <a:cs typeface="Times New Roman"/>
              </a:rPr>
              <a:t> </a:t>
            </a:r>
            <a:r>
              <a:rPr lang="en-US" altLang="ja-JP" sz="2200" b="1" dirty="0">
                <a:latin typeface="Times New Roman"/>
                <a:cs typeface="Times New Roman"/>
              </a:rPr>
              <a:t>(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Penicillium</a:t>
            </a:r>
            <a:r>
              <a:rPr lang="en-US" altLang="ja-JP" sz="2200" b="1" i="1" dirty="0">
                <a:latin typeface="Times New Roman"/>
                <a:cs typeface="Times New Roman"/>
              </a:rPr>
              <a:t> 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chrysogenum</a:t>
            </a:r>
            <a:r>
              <a:rPr lang="en-US" altLang="ja-JP" sz="2200" b="1" i="1" dirty="0" smtClean="0">
                <a:latin typeface="Times New Roman"/>
                <a:cs typeface="Times New Roman"/>
              </a:rPr>
              <a:t>)</a:t>
            </a:r>
            <a:endParaRPr lang="en-US" altLang="ja-JP" sz="2200" b="1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200" dirty="0" err="1" smtClean="0">
                <a:latin typeface="Times New Roman"/>
                <a:cs typeface="Times New Roman"/>
              </a:rPr>
              <a:t>Aminopenicillins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200" dirty="0" err="1" smtClean="0">
                <a:latin typeface="Times New Roman"/>
                <a:cs typeface="Times New Roman"/>
              </a:rPr>
              <a:t>Penicillinase</a:t>
            </a:r>
            <a:r>
              <a:rPr lang="en-US" altLang="ja-JP" sz="2200" dirty="0">
                <a:latin typeface="Times New Roman"/>
                <a:cs typeface="Times New Roman"/>
              </a:rPr>
              <a:t>-resistant </a:t>
            </a:r>
            <a:r>
              <a:rPr lang="en-US" altLang="ja-JP" sz="2200" dirty="0" err="1" smtClean="0">
                <a:latin typeface="Times New Roman"/>
                <a:cs typeface="Times New Roman"/>
              </a:rPr>
              <a:t>penicillins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200" dirty="0" err="1" smtClean="0">
                <a:latin typeface="Times New Roman"/>
                <a:cs typeface="Times New Roman"/>
              </a:rPr>
              <a:t>Carboxypenicillins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200" dirty="0" err="1" smtClean="0">
                <a:latin typeface="Times New Roman"/>
                <a:cs typeface="Times New Roman"/>
              </a:rPr>
              <a:t>Ureidopenicillins</a:t>
            </a:r>
            <a:r>
              <a:rPr lang="en-US" altLang="ja-JP" sz="2200" dirty="0" smtClean="0">
                <a:latin typeface="Times New Roman"/>
                <a:cs typeface="Times New Roman"/>
              </a:rPr>
              <a:t>.</a:t>
            </a:r>
          </a:p>
          <a:p>
            <a:pPr marL="971550" lvl="1" indent="-514350">
              <a:buFont typeface="Arial"/>
              <a:buChar char="•"/>
            </a:pPr>
            <a:endParaRPr lang="en-US" altLang="ja-JP" sz="22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200" b="1" dirty="0" err="1" smtClean="0">
                <a:latin typeface="Times New Roman"/>
                <a:cs typeface="Times New Roman"/>
              </a:rPr>
              <a:t>Cephalosporins</a:t>
            </a:r>
            <a:r>
              <a:rPr lang="en-US" altLang="ja-JP" sz="2200" b="1" dirty="0">
                <a:latin typeface="Times New Roman"/>
                <a:cs typeface="Times New Roman"/>
              </a:rPr>
              <a:t> (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Cephalosporium</a:t>
            </a:r>
            <a:r>
              <a:rPr lang="en-US" altLang="ja-JP" sz="2200" b="1" i="1" dirty="0">
                <a:latin typeface="Times New Roman"/>
                <a:cs typeface="Times New Roman"/>
              </a:rPr>
              <a:t> </a:t>
            </a:r>
            <a:r>
              <a:rPr lang="en-US" altLang="ja-JP" sz="2200" b="1" i="1" dirty="0" err="1" smtClean="0">
                <a:latin typeface="Times New Roman"/>
                <a:cs typeface="Times New Roman"/>
              </a:rPr>
              <a:t>acremonium</a:t>
            </a:r>
            <a:r>
              <a:rPr lang="en-US" altLang="ja-JP" sz="2200" b="1" i="1" dirty="0" smtClean="0">
                <a:latin typeface="Times New Roman"/>
                <a:cs typeface="Times New Roman"/>
              </a:rPr>
              <a:t>) </a:t>
            </a:r>
            <a:endParaRPr lang="en-US" altLang="ja-JP" sz="2200" b="1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200" dirty="0">
                <a:latin typeface="Times New Roman"/>
                <a:cs typeface="Times New Roman"/>
              </a:rPr>
              <a:t>Broad spectrum </a:t>
            </a:r>
            <a:r>
              <a:rPr lang="en-US" altLang="ja-JP" sz="2200" dirty="0" smtClean="0">
                <a:latin typeface="Times New Roman"/>
                <a:cs typeface="Times New Roman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2200" b="1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200" b="1" dirty="0" err="1" smtClean="0">
                <a:latin typeface="Times New Roman"/>
                <a:cs typeface="Times New Roman"/>
              </a:rPr>
              <a:t>Monobactams</a:t>
            </a:r>
            <a:r>
              <a:rPr lang="en-US" altLang="ja-JP" sz="2200" b="1" dirty="0">
                <a:latin typeface="Times New Roman"/>
                <a:cs typeface="Times New Roman"/>
              </a:rPr>
              <a:t> (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Chromobacterium</a:t>
            </a:r>
            <a:r>
              <a:rPr lang="en-US" altLang="ja-JP" sz="2200" b="1" i="1" dirty="0">
                <a:latin typeface="Times New Roman"/>
                <a:cs typeface="Times New Roman"/>
              </a:rPr>
              <a:t> </a:t>
            </a:r>
            <a:r>
              <a:rPr lang="en-US" altLang="ja-JP" sz="2200" b="1" i="1" dirty="0" err="1" smtClean="0">
                <a:latin typeface="Times New Roman"/>
                <a:cs typeface="Times New Roman"/>
              </a:rPr>
              <a:t>violaceum</a:t>
            </a:r>
            <a:r>
              <a:rPr lang="en-US" altLang="ja-JP" sz="2200" b="1" dirty="0" smtClean="0">
                <a:latin typeface="Times New Roman"/>
                <a:cs typeface="Times New Roman"/>
              </a:rPr>
              <a:t>) </a:t>
            </a:r>
            <a:endParaRPr lang="en-US" altLang="ja-JP" sz="2200" b="1" dirty="0">
              <a:latin typeface="Times New Roman"/>
              <a:cs typeface="Times New Roman"/>
            </a:endParaRPr>
          </a:p>
          <a:p>
            <a:pPr marL="800100" lvl="1" indent="-342900">
              <a:buFont typeface="Arial"/>
              <a:buChar char="•"/>
            </a:pPr>
            <a:r>
              <a:rPr lang="en-US" altLang="ja-JP" sz="2200" dirty="0">
                <a:latin typeface="Times New Roman"/>
                <a:cs typeface="Times New Roman"/>
              </a:rPr>
              <a:t>Gram-negative bacteria </a:t>
            </a:r>
          </a:p>
          <a:p>
            <a:endParaRPr lang="en-US" altLang="ja-JP" sz="2200" dirty="0">
              <a:latin typeface="Times New Roman"/>
              <a:cs typeface="Times New Roman"/>
            </a:endParaRPr>
          </a:p>
          <a:p>
            <a:endParaRPr lang="en-US" altLang="ja-JP" sz="2200" dirty="0" smtClean="0">
              <a:latin typeface="Times New Roman"/>
              <a:cs typeface="Times New Roman"/>
            </a:endParaRPr>
          </a:p>
          <a:p>
            <a:endParaRPr lang="en-US" altLang="ja-JP" sz="2200" dirty="0">
              <a:latin typeface="Times New Roman"/>
              <a:cs typeface="Times New Roman"/>
            </a:endParaRPr>
          </a:p>
          <a:p>
            <a:r>
              <a:rPr lang="en-US" altLang="ja-JP" sz="2200" dirty="0" smtClean="0">
                <a:latin typeface="Times New Roman"/>
                <a:cs typeface="Times New Roman"/>
              </a:rPr>
              <a:t> </a:t>
            </a:r>
            <a:endParaRPr lang="en-US" altLang="ja-JP" sz="2200" dirty="0">
              <a:latin typeface="Times New Roman"/>
              <a:cs typeface="Times New Roman"/>
            </a:endParaRPr>
          </a:p>
          <a:p>
            <a:endParaRPr kumimoji="1" lang="ja-JP" altLang="en-US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9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1017" y="507765"/>
            <a:ext cx="840462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err="1">
                <a:solidFill>
                  <a:srgbClr val="FF0000"/>
                </a:solidFill>
                <a:latin typeface="Arial"/>
                <a:cs typeface="Arial"/>
              </a:rPr>
              <a:t>Actinomycetes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 in Antibiotic Discovery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472" y="1751188"/>
            <a:ext cx="8012790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Of about 20,000 antibiotics produced via </a:t>
            </a:r>
            <a:r>
              <a:rPr lang="en-US" altLang="ja-JP" sz="2400" dirty="0" smtClean="0">
                <a:latin typeface="Times New Roman"/>
                <a:cs typeface="Times New Roman"/>
              </a:rPr>
              <a:t>microorganisms</a:t>
            </a:r>
            <a:r>
              <a:rPr lang="en-US" altLang="ja-JP" sz="2400" dirty="0">
                <a:latin typeface="Times New Roman"/>
                <a:cs typeface="Times New Roman"/>
              </a:rPr>
              <a:t>, 45 % of antibiotics come from 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actinomycetes</a:t>
            </a:r>
            <a:r>
              <a:rPr lang="en-US" altLang="ja-JP" sz="2400" dirty="0">
                <a:latin typeface="Times New Roman"/>
                <a:cs typeface="Times New Roman"/>
              </a:rPr>
              <a:t>, 80 % of which come from a single genus </a:t>
            </a:r>
            <a:r>
              <a:rPr lang="en-US" altLang="ja-JP" sz="2400" i="1" dirty="0">
                <a:latin typeface="Times New Roman"/>
                <a:cs typeface="Times New Roman"/>
              </a:rPr>
              <a:t>Streptomyces </a:t>
            </a:r>
            <a:endParaRPr lang="en-US" altLang="ja-JP" sz="2400" i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Streptomycin was the first aminoglycoside class of antibiotic discovered by Selman A. Waksman and </a:t>
            </a:r>
            <a:r>
              <a:rPr lang="en-US" altLang="ja-JP" sz="2400" dirty="0" smtClean="0">
                <a:latin typeface="Times New Roman"/>
                <a:cs typeface="Times New Roman"/>
              </a:rPr>
              <a:t>Albert </a:t>
            </a:r>
            <a:r>
              <a:rPr lang="en-US" altLang="ja-JP" sz="2400" dirty="0">
                <a:latin typeface="Times New Roman"/>
                <a:cs typeface="Times New Roman"/>
              </a:rPr>
              <a:t>Schatz </a:t>
            </a:r>
            <a:endParaRPr lang="en-US" altLang="ja-JP" sz="2400" i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i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i="1" dirty="0">
                <a:latin typeface="Times New Roman"/>
                <a:cs typeface="Times New Roman"/>
              </a:rPr>
              <a:t>Streptomyces sp. </a:t>
            </a:r>
            <a:r>
              <a:rPr lang="en-US" altLang="ja-JP" sz="2400" dirty="0">
                <a:latin typeface="Times New Roman"/>
                <a:cs typeface="Times New Roman"/>
              </a:rPr>
              <a:t>has been an important source of major classes of antibacterial drugs, namely </a:t>
            </a:r>
            <a:r>
              <a:rPr lang="en-US" altLang="ja-JP" sz="2400" dirty="0" err="1">
                <a:latin typeface="Times New Roman"/>
                <a:cs typeface="Times New Roman"/>
              </a:rPr>
              <a:t>tetracyclins</a:t>
            </a:r>
            <a:r>
              <a:rPr lang="en-US" altLang="ja-JP" sz="2400" dirty="0">
                <a:latin typeface="Times New Roman"/>
                <a:cs typeface="Times New Roman"/>
              </a:rPr>
              <a:t>, aminoglycosides, </a:t>
            </a:r>
            <a:r>
              <a:rPr lang="en-US" altLang="ja-JP" sz="2400" dirty="0" smtClean="0">
                <a:latin typeface="Times New Roman"/>
                <a:cs typeface="Times New Roman"/>
              </a:rPr>
              <a:t>macrolides</a:t>
            </a:r>
            <a:r>
              <a:rPr lang="en-US" altLang="ja-JP" sz="2400" dirty="0">
                <a:latin typeface="Times New Roman"/>
                <a:cs typeface="Times New Roman"/>
              </a:rPr>
              <a:t>, chloramphenicol (</a:t>
            </a:r>
            <a:r>
              <a:rPr lang="en-US" altLang="ja-JP" sz="2400" dirty="0" err="1">
                <a:latin typeface="Times New Roman"/>
                <a:cs typeface="Times New Roman"/>
              </a:rPr>
              <a:t>acetamide</a:t>
            </a:r>
            <a:r>
              <a:rPr lang="en-US" altLang="ja-JP" sz="2400" dirty="0">
                <a:latin typeface="Times New Roman"/>
                <a:cs typeface="Times New Roman"/>
              </a:rPr>
              <a:t>), and β-</a:t>
            </a:r>
            <a:r>
              <a:rPr lang="en-US" altLang="ja-JP" sz="2400" dirty="0" smtClean="0">
                <a:latin typeface="Times New Roman"/>
                <a:cs typeface="Times New Roman"/>
              </a:rPr>
              <a:t>lactams</a:t>
            </a:r>
            <a:endParaRPr lang="en-US" altLang="ja-JP" sz="2400" i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162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cintosh HD:Users:jdecker:Documents:COURSEADMIN:MIC 205:Mic205PP:"/>
          <p:cNvPicPr preferRelativeResize="0">
            <a:picLocks noChangeAspect="1" noChangeArrowheads="1"/>
          </p:cNvPicPr>
          <p:nvPr/>
        </p:nvPicPr>
        <p:blipFill rotWithShape="1"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3"/>
          <a:stretch/>
        </p:blipFill>
        <p:spPr bwMode="auto">
          <a:xfrm>
            <a:off x="1509808" y="887218"/>
            <a:ext cx="4985499" cy="5967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-141121"/>
            <a:ext cx="8178800" cy="10910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Microbial Sources of Antibiotics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9228" y="1614323"/>
            <a:ext cx="21853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Polypeptide antibiotic </a:t>
            </a:r>
            <a:endParaRPr lang="en-US" altLang="ja-JP" sz="1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91247" y="1900419"/>
            <a:ext cx="21853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Polypeptide antibiotic </a:t>
            </a:r>
            <a:endParaRPr lang="en-US" altLang="ja-JP" sz="1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5937" y="2602300"/>
            <a:ext cx="2002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Polyene</a:t>
            </a:r>
            <a:r>
              <a:rPr lang="en-US" altLang="ja-JP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 (Antifungal)</a:t>
            </a:r>
            <a:endParaRPr lang="en-US" altLang="ja-JP" sz="1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07956" y="2905108"/>
            <a:ext cx="17920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Chloramphenicols</a:t>
            </a:r>
            <a:endParaRPr lang="en-US" altLang="ja-JP" sz="1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9975" y="5481005"/>
            <a:ext cx="10334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β-</a:t>
            </a:r>
            <a:r>
              <a:rPr lang="en-US" altLang="ja-JP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lactams</a:t>
            </a:r>
            <a:endParaRPr lang="en-US" altLang="ja-JP" sz="1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11994" y="6087219"/>
            <a:ext cx="10334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β-</a:t>
            </a:r>
            <a:r>
              <a:rPr lang="en-US" altLang="ja-JP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lactams</a:t>
            </a:r>
            <a:endParaRPr lang="en-US" altLang="ja-JP" sz="1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07956" y="4492701"/>
            <a:ext cx="1485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Aminoglycides</a:t>
            </a:r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9975" y="4795509"/>
            <a:ext cx="1485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Aminoglycides</a:t>
            </a:r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994" y="3831596"/>
            <a:ext cx="11609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Macrolides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4013" y="4151116"/>
            <a:ext cx="1485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Aminoglycides</a:t>
            </a:r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9228" y="3280704"/>
            <a:ext cx="13395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Tetracyclines</a:t>
            </a:r>
            <a:r>
              <a:rPr lang="en-US" altLang="ja-JP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285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-227088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sz="2800" b="1" dirty="0">
                <a:solidFill>
                  <a:srgbClr val="FF0000"/>
                </a:solidFill>
                <a:latin typeface="Arial" charset="0"/>
              </a:rPr>
              <a:t>Modes of Antimicrobial 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 charset="0"/>
              </a:rPr>
              <a:t>Action &amp; Resistance</a:t>
            </a:r>
            <a:endParaRPr lang="en-US" altLang="ja-JP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50466"/>
          <a:stretch/>
        </p:blipFill>
        <p:spPr>
          <a:xfrm>
            <a:off x="33419" y="599491"/>
            <a:ext cx="4444594" cy="634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-227088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sz="2800" b="1" dirty="0">
                <a:solidFill>
                  <a:srgbClr val="FF0000"/>
                </a:solidFill>
                <a:latin typeface="Arial" charset="0"/>
              </a:rPr>
              <a:t>Modes of Antimicrobial 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 charset="0"/>
              </a:rPr>
              <a:t>Action &amp; Resistance</a:t>
            </a:r>
            <a:endParaRPr lang="en-US" altLang="ja-JP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8" y="599491"/>
            <a:ext cx="8972733" cy="634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9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635673" y="-143528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sz="2800" b="1" dirty="0" smtClean="0">
                <a:solidFill>
                  <a:srgbClr val="FF0000"/>
                </a:solidFill>
                <a:latin typeface="Arial" charset="0"/>
              </a:rPr>
              <a:t>Antimicrobial Resistance</a:t>
            </a:r>
            <a:endParaRPr lang="en-US" altLang="ja-JP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25" y="915912"/>
            <a:ext cx="7137377" cy="59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1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1942" y="2088959"/>
            <a:ext cx="8418907" cy="6740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3600" dirty="0" smtClean="0">
                <a:latin typeface="Times New Roman"/>
                <a:cs typeface="Times New Roman"/>
              </a:rPr>
              <a:t>Anti</a:t>
            </a:r>
            <a:r>
              <a:rPr lang="en-US" altLang="ja-JP" sz="3600" dirty="0">
                <a:latin typeface="Times New Roman"/>
                <a:cs typeface="Times New Roman"/>
              </a:rPr>
              <a:t>‐</a:t>
            </a:r>
            <a:r>
              <a:rPr lang="en-US" altLang="ja-JP" sz="3600" dirty="0" err="1" smtClean="0">
                <a:latin typeface="Times New Roman"/>
                <a:cs typeface="Times New Roman"/>
              </a:rPr>
              <a:t>hypercholesterolemic</a:t>
            </a:r>
            <a:endParaRPr lang="en-US" altLang="ja-JP" sz="36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3600" dirty="0" smtClean="0">
                <a:latin typeface="Times New Roman"/>
                <a:cs typeface="Times New Roman"/>
              </a:rPr>
              <a:t>Anti</a:t>
            </a:r>
            <a:r>
              <a:rPr lang="en-US" altLang="ja-JP" sz="3600" dirty="0">
                <a:latin typeface="Times New Roman"/>
                <a:cs typeface="Times New Roman"/>
              </a:rPr>
              <a:t>-</a:t>
            </a:r>
            <a:r>
              <a:rPr lang="en-US" altLang="ja-JP" sz="3600" dirty="0" smtClean="0">
                <a:latin typeface="Times New Roman"/>
                <a:cs typeface="Times New Roman"/>
              </a:rPr>
              <a:t>diabetic</a:t>
            </a:r>
          </a:p>
          <a:p>
            <a:pPr marL="457200" indent="-457200">
              <a:buFont typeface="Arial"/>
              <a:buChar char="•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3600" dirty="0" smtClean="0">
                <a:latin typeface="Times New Roman"/>
                <a:cs typeface="Times New Roman"/>
              </a:rPr>
              <a:t>Immunosuppressant</a:t>
            </a:r>
          </a:p>
          <a:p>
            <a:pPr marL="457200" indent="-457200">
              <a:buFont typeface="Arial"/>
              <a:buChar char="•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3600" dirty="0" smtClean="0">
                <a:latin typeface="Times New Roman"/>
                <a:cs typeface="Times New Roman"/>
              </a:rPr>
              <a:t>Anti‐tumor/Anti-cancer agents</a:t>
            </a:r>
            <a:endParaRPr lang="en-US" altLang="ja-JP" sz="36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3600" dirty="0">
              <a:latin typeface="Times New Roman"/>
              <a:cs typeface="Times New Roman"/>
            </a:endParaRPr>
          </a:p>
          <a:p>
            <a:endParaRPr lang="en-US" altLang="ja-JP" sz="3600" dirty="0" smtClean="0">
              <a:latin typeface="Times New Roman"/>
              <a:cs typeface="Times New Roman"/>
            </a:endParaRPr>
          </a:p>
          <a:p>
            <a:endParaRPr lang="en-US" altLang="ja-JP" sz="3600" dirty="0">
              <a:latin typeface="Times New Roman"/>
              <a:cs typeface="Times New Roman"/>
            </a:endParaRPr>
          </a:p>
          <a:p>
            <a:r>
              <a:rPr lang="en-US" altLang="ja-JP" sz="3600" dirty="0" smtClean="0">
                <a:latin typeface="Times New Roman"/>
                <a:cs typeface="Times New Roman"/>
              </a:rPr>
              <a:t> </a:t>
            </a:r>
            <a:endParaRPr lang="en-US" altLang="ja-JP" sz="3600" dirty="0">
              <a:latin typeface="Times New Roman"/>
              <a:cs typeface="Times New Roman"/>
            </a:endParaRPr>
          </a:p>
          <a:p>
            <a:endParaRPr kumimoji="1" lang="ja-JP" altLang="en-US" sz="3600" dirty="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1942" y="533839"/>
            <a:ext cx="8418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Health-products produced by microbes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042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99871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Anti‐</a:t>
            </a:r>
            <a:r>
              <a:rPr lang="en-US" altLang="ja-JP" sz="3600" b="1" dirty="0" err="1">
                <a:solidFill>
                  <a:srgbClr val="FF0000"/>
                </a:solidFill>
                <a:latin typeface="Arial"/>
                <a:cs typeface="Arial"/>
              </a:rPr>
              <a:t>hypercholesterolemic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1942" y="1387055"/>
            <a:ext cx="8418907" cy="674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Anti‐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hypercholesterolemic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are also referred to as anti-</a:t>
            </a:r>
            <a:r>
              <a:rPr lang="en-US" altLang="ja-JP" sz="2400" dirty="0" err="1">
                <a:latin typeface="Times New Roman"/>
                <a:cs typeface="Times New Roman"/>
              </a:rPr>
              <a:t>lipidemic</a:t>
            </a:r>
            <a:r>
              <a:rPr lang="en-US" altLang="ja-JP" sz="2400" dirty="0">
                <a:latin typeface="Times New Roman"/>
                <a:cs typeface="Times New Roman"/>
              </a:rPr>
              <a:t> drugs or statins and are prescribed to patients with hypercholesterolemia, i.e. excess </a:t>
            </a:r>
            <a:r>
              <a:rPr lang="en-US" altLang="ja-JP" sz="2400" dirty="0" smtClean="0">
                <a:latin typeface="Times New Roman"/>
                <a:cs typeface="Times New Roman"/>
              </a:rPr>
              <a:t>cholesterol </a:t>
            </a:r>
            <a:r>
              <a:rPr lang="en-US" altLang="ja-JP" sz="2400" dirty="0">
                <a:latin typeface="Times New Roman"/>
                <a:cs typeface="Times New Roman"/>
              </a:rPr>
              <a:t>production and deposition.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Examples: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Mevastatin</a:t>
            </a:r>
            <a:r>
              <a:rPr lang="en-US" altLang="ja-JP" sz="2400" dirty="0" smtClean="0">
                <a:latin typeface="Times New Roman"/>
                <a:cs typeface="Times New Roman"/>
              </a:rPr>
              <a:t> from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Penicillium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and </a:t>
            </a:r>
            <a:r>
              <a:rPr lang="en-US" altLang="ja-JP" sz="2400" dirty="0" smtClean="0">
                <a:latin typeface="Times New Roman"/>
                <a:cs typeface="Times New Roman"/>
              </a:rPr>
              <a:t>lovastatin from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Aspergillus</a:t>
            </a:r>
            <a:endParaRPr lang="en-US" altLang="ja-JP" sz="2400" i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i="1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Both inhibit the enzyme 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hydroxy-methylglutaryl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co-enzyme A (HMG-CoA) </a:t>
            </a:r>
            <a:r>
              <a:rPr lang="en-US" altLang="ja-JP" sz="2400" dirty="0" smtClean="0">
                <a:latin typeface="Times New Roman"/>
                <a:cs typeface="Times New Roman"/>
              </a:rPr>
              <a:t>reductase</a:t>
            </a:r>
            <a:r>
              <a:rPr lang="en-US" altLang="ja-JP" sz="2400" dirty="0">
                <a:latin typeface="Times New Roman"/>
                <a:cs typeface="Times New Roman"/>
              </a:rPr>
              <a:t>, </a:t>
            </a:r>
            <a:r>
              <a:rPr lang="en-US" altLang="ja-JP" sz="2400" dirty="0" smtClean="0">
                <a:latin typeface="Times New Roman"/>
                <a:cs typeface="Times New Roman"/>
              </a:rPr>
              <a:t>one of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enzymes </a:t>
            </a:r>
            <a:r>
              <a:rPr lang="en-US" altLang="ja-JP" sz="2400" dirty="0">
                <a:latin typeface="Times New Roman"/>
                <a:cs typeface="Times New Roman"/>
              </a:rPr>
              <a:t>responsible for conversion of mevalonate into cholesterol. </a:t>
            </a: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endParaRPr lang="en-US" altLang="ja-JP" sz="2400" dirty="0" smtClean="0">
              <a:latin typeface="Times New Roman"/>
              <a:cs typeface="Times New Roman"/>
            </a:endParaRPr>
          </a:p>
          <a:p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616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550551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Anti-diabetic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942" y="1788143"/>
            <a:ext cx="84189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3200" dirty="0" err="1" smtClean="0">
                <a:latin typeface="Times New Roman"/>
                <a:cs typeface="Times New Roman"/>
              </a:rPr>
              <a:t>Acarbose</a:t>
            </a:r>
            <a:r>
              <a:rPr lang="en-US" altLang="ja-JP" sz="3200" dirty="0" smtClean="0">
                <a:latin typeface="Times New Roman"/>
                <a:cs typeface="Times New Roman"/>
              </a:rPr>
              <a:t> </a:t>
            </a:r>
            <a:r>
              <a:rPr lang="en-US" altLang="ja-JP" sz="3200" dirty="0">
                <a:latin typeface="Times New Roman"/>
                <a:cs typeface="Times New Roman"/>
              </a:rPr>
              <a:t>and </a:t>
            </a:r>
            <a:r>
              <a:rPr lang="en-US" altLang="ja-JP" sz="3200" dirty="0" err="1">
                <a:latin typeface="Times New Roman"/>
                <a:cs typeface="Times New Roman"/>
              </a:rPr>
              <a:t>Valiolamine</a:t>
            </a:r>
            <a:r>
              <a:rPr lang="en-US" altLang="ja-JP" sz="3200" dirty="0">
                <a:latin typeface="Times New Roman"/>
                <a:cs typeface="Times New Roman"/>
              </a:rPr>
              <a:t> </a:t>
            </a:r>
            <a:r>
              <a:rPr lang="en-US" altLang="ja-JP" sz="3200" dirty="0" smtClean="0">
                <a:latin typeface="Times New Roman"/>
                <a:cs typeface="Times New Roman"/>
              </a:rPr>
              <a:t>are isolated from </a:t>
            </a:r>
            <a:r>
              <a:rPr lang="en-US" altLang="ja-JP" sz="3200" dirty="0" err="1" smtClean="0">
                <a:latin typeface="Times New Roman"/>
                <a:cs typeface="Times New Roman"/>
              </a:rPr>
              <a:t>actinomycetes</a:t>
            </a:r>
            <a:endParaRPr lang="en-US" altLang="ja-JP" sz="32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3200" dirty="0" smtClean="0">
                <a:latin typeface="Times New Roman"/>
                <a:cs typeface="Times New Roman"/>
              </a:rPr>
              <a:t>Inhibit </a:t>
            </a:r>
            <a:r>
              <a:rPr lang="en-US" altLang="ja-JP" sz="3200" dirty="0">
                <a:latin typeface="Times New Roman"/>
                <a:cs typeface="Times New Roman"/>
              </a:rPr>
              <a:t>the α-</a:t>
            </a:r>
            <a:r>
              <a:rPr lang="en-US" altLang="ja-JP" sz="3200" dirty="0" err="1">
                <a:latin typeface="Times New Roman"/>
                <a:cs typeface="Times New Roman"/>
              </a:rPr>
              <a:t>glucosidase</a:t>
            </a:r>
            <a:r>
              <a:rPr lang="en-US" altLang="ja-JP" sz="3200" dirty="0">
                <a:latin typeface="Times New Roman"/>
                <a:cs typeface="Times New Roman"/>
              </a:rPr>
              <a:t> </a:t>
            </a:r>
            <a:r>
              <a:rPr lang="en-US" altLang="ja-JP" sz="3200" dirty="0" smtClean="0">
                <a:latin typeface="Times New Roman"/>
                <a:cs typeface="Times New Roman"/>
              </a:rPr>
              <a:t>enzymes </a:t>
            </a:r>
            <a:r>
              <a:rPr lang="en-US" altLang="ja-JP" sz="3200" dirty="0">
                <a:latin typeface="Times New Roman"/>
                <a:cs typeface="Times New Roman"/>
              </a:rPr>
              <a:t>present in the </a:t>
            </a:r>
            <a:r>
              <a:rPr lang="en-US" altLang="ja-JP" sz="3200" dirty="0" smtClean="0">
                <a:latin typeface="Times New Roman"/>
                <a:cs typeface="Times New Roman"/>
              </a:rPr>
              <a:t>intestine to block </a:t>
            </a:r>
            <a:r>
              <a:rPr lang="en-US" altLang="ja-JP" sz="3200" dirty="0">
                <a:latin typeface="Times New Roman"/>
                <a:cs typeface="Times New Roman"/>
              </a:rPr>
              <a:t>the breakdown and absorption of oligosaccharide and </a:t>
            </a:r>
            <a:r>
              <a:rPr lang="en-US" altLang="ja-JP" sz="3200" dirty="0" smtClean="0">
                <a:latin typeface="Times New Roman"/>
                <a:cs typeface="Times New Roman"/>
              </a:rPr>
              <a:t>polysaccharides </a:t>
            </a:r>
            <a:endParaRPr lang="en-US" altLang="ja-JP" sz="3200" dirty="0">
              <a:latin typeface="Times New Roman"/>
              <a:cs typeface="Times New Roman"/>
            </a:endParaRPr>
          </a:p>
          <a:p>
            <a:r>
              <a:rPr lang="en-US" altLang="ja-JP" sz="3200" dirty="0" smtClean="0">
                <a:latin typeface="Times New Roman"/>
                <a:cs typeface="Times New Roman"/>
              </a:rPr>
              <a:t> </a:t>
            </a:r>
            <a:endParaRPr lang="en-US" altLang="ja-JP" sz="3200" dirty="0">
              <a:latin typeface="Times New Roman"/>
              <a:cs typeface="Times New Roman"/>
            </a:endParaRPr>
          </a:p>
          <a:p>
            <a:endParaRPr kumimoji="1" lang="ja-JP" alt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741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18544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Immunosuppressants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7506" y="1458322"/>
            <a:ext cx="80564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Immunosuppressive agents are substances that inhibit or prevent the activity of the immune </a:t>
            </a:r>
            <a:r>
              <a:rPr lang="en-US" altLang="ja-JP" sz="2400" dirty="0" smtClean="0">
                <a:latin typeface="Times New Roman"/>
                <a:cs typeface="Times New Roman"/>
              </a:rPr>
              <a:t>system</a:t>
            </a:r>
            <a:r>
              <a:rPr lang="en-US" altLang="ja-JP" sz="2400" dirty="0">
                <a:latin typeface="Times New Roman"/>
                <a:cs typeface="Times New Roman"/>
              </a:rPr>
              <a:t>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Used </a:t>
            </a:r>
            <a:r>
              <a:rPr lang="en-US" altLang="ja-JP" sz="2400" dirty="0">
                <a:latin typeface="Times New Roman"/>
                <a:cs typeface="Times New Roman"/>
              </a:rPr>
              <a:t>in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transplantation </a:t>
            </a:r>
            <a:r>
              <a:rPr lang="en-US" altLang="ja-JP" sz="2400" dirty="0">
                <a:latin typeface="Times New Roman"/>
                <a:cs typeface="Times New Roman"/>
              </a:rPr>
              <a:t>of organs or tissues to prevent rejection, in the treatment of autoimmune disorders </a:t>
            </a:r>
            <a:r>
              <a:rPr lang="en-US" altLang="ja-JP" sz="2400" dirty="0" smtClean="0">
                <a:latin typeface="Times New Roman"/>
                <a:cs typeface="Times New Roman"/>
              </a:rPr>
              <a:t>and non</a:t>
            </a:r>
            <a:r>
              <a:rPr lang="en-US" altLang="ja-JP" sz="2400" dirty="0">
                <a:latin typeface="Times New Roman"/>
                <a:cs typeface="Times New Roman"/>
              </a:rPr>
              <a:t>‐autoimmune inflammatory conditions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Examples: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Cyclosporine from </a:t>
            </a:r>
            <a:r>
              <a:rPr lang="en-US" altLang="ja-JP" sz="2400" i="1" dirty="0" err="1">
                <a:latin typeface="Times New Roman"/>
                <a:cs typeface="Times New Roman"/>
              </a:rPr>
              <a:t>Tolypocladium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r>
              <a:rPr lang="en-US" altLang="ja-JP" sz="2400" i="1" dirty="0" err="1">
                <a:latin typeface="Times New Roman"/>
                <a:cs typeface="Times New Roman"/>
              </a:rPr>
              <a:t>inflatum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r>
              <a:rPr lang="en-US" altLang="ja-JP" sz="2400" dirty="0" smtClean="0">
                <a:latin typeface="Times New Roman"/>
                <a:cs typeface="Times New Roman"/>
              </a:rPr>
              <a:t>interferes with </a:t>
            </a:r>
            <a:r>
              <a:rPr lang="en-US" altLang="ja-JP" sz="2400" dirty="0">
                <a:latin typeface="Times New Roman"/>
                <a:cs typeface="Times New Roman"/>
              </a:rPr>
              <a:t>the activity and growth of T cells. </a:t>
            </a: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642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18544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Immunosuppressants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7506" y="1224354"/>
            <a:ext cx="805642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Immunosuppressive agents are substances that inhibit or prevent the activity of the immune </a:t>
            </a:r>
            <a:r>
              <a:rPr lang="en-US" altLang="ja-JP" sz="2800" dirty="0" smtClean="0">
                <a:latin typeface="Times New Roman"/>
                <a:cs typeface="Times New Roman"/>
              </a:rPr>
              <a:t>system</a:t>
            </a:r>
            <a:r>
              <a:rPr lang="en-US" altLang="ja-JP" sz="2800" dirty="0">
                <a:latin typeface="Times New Roman"/>
                <a:cs typeface="Times New Roman"/>
              </a:rPr>
              <a:t>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Used </a:t>
            </a:r>
            <a:r>
              <a:rPr lang="en-US" altLang="ja-JP" sz="2800" dirty="0">
                <a:latin typeface="Times New Roman"/>
                <a:cs typeface="Times New Roman"/>
              </a:rPr>
              <a:t>in the </a:t>
            </a:r>
            <a:r>
              <a:rPr lang="en-US" altLang="ja-JP" sz="2800" dirty="0" smtClean="0">
                <a:latin typeface="Times New Roman"/>
                <a:cs typeface="Times New Roman"/>
              </a:rPr>
              <a:t>transplantation </a:t>
            </a:r>
            <a:r>
              <a:rPr lang="en-US" altLang="ja-JP" sz="2800" dirty="0">
                <a:latin typeface="Times New Roman"/>
                <a:cs typeface="Times New Roman"/>
              </a:rPr>
              <a:t>of organs or tissues to prevent rejection, in the treatment of autoimmune disorders </a:t>
            </a:r>
            <a:r>
              <a:rPr lang="en-US" altLang="ja-JP" sz="2800" dirty="0" smtClean="0">
                <a:latin typeface="Times New Roman"/>
                <a:cs typeface="Times New Roman"/>
              </a:rPr>
              <a:t>and non</a:t>
            </a:r>
            <a:r>
              <a:rPr lang="en-US" altLang="ja-JP" sz="2800" dirty="0">
                <a:latin typeface="Times New Roman"/>
                <a:cs typeface="Times New Roman"/>
              </a:rPr>
              <a:t>‐autoimmune inflammatory conditions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Examples: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Cyclosporine from </a:t>
            </a:r>
            <a:r>
              <a:rPr lang="en-US" altLang="ja-JP" sz="2800" i="1" dirty="0" err="1">
                <a:latin typeface="Times New Roman"/>
                <a:cs typeface="Times New Roman"/>
              </a:rPr>
              <a:t>Tolypocladium</a:t>
            </a:r>
            <a:r>
              <a:rPr lang="en-US" altLang="ja-JP" sz="2800" i="1" dirty="0">
                <a:latin typeface="Times New Roman"/>
                <a:cs typeface="Times New Roman"/>
              </a:rPr>
              <a:t> </a:t>
            </a:r>
            <a:r>
              <a:rPr lang="en-US" altLang="ja-JP" sz="2800" i="1" dirty="0" err="1">
                <a:latin typeface="Times New Roman"/>
                <a:cs typeface="Times New Roman"/>
              </a:rPr>
              <a:t>inflatum</a:t>
            </a:r>
            <a:r>
              <a:rPr lang="en-US" altLang="ja-JP" sz="2800" i="1" dirty="0">
                <a:latin typeface="Times New Roman"/>
                <a:cs typeface="Times New Roman"/>
              </a:rPr>
              <a:t> </a:t>
            </a:r>
            <a:r>
              <a:rPr lang="en-US" altLang="ja-JP" sz="2800" dirty="0" smtClean="0">
                <a:latin typeface="Times New Roman"/>
                <a:cs typeface="Times New Roman"/>
              </a:rPr>
              <a:t>interferes with </a:t>
            </a:r>
            <a:r>
              <a:rPr lang="en-US" altLang="ja-JP" sz="2800" dirty="0">
                <a:latin typeface="Times New Roman"/>
                <a:cs typeface="Times New Roman"/>
              </a:rPr>
              <a:t>the activity and growth of T cells. </a:t>
            </a: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endParaRPr lang="en-US" altLang="ja-JP" sz="2800" dirty="0">
              <a:latin typeface="Times New Roman"/>
              <a:cs typeface="Times New Roman"/>
            </a:endParaRPr>
          </a:p>
          <a:p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293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151424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Immunosuppressants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68" y="1026430"/>
            <a:ext cx="6115494" cy="508966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13733" y="6168527"/>
            <a:ext cx="19115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Cyclosporine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8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669496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Anti‐tumor/Anti-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cancer agents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7506" y="1892834"/>
            <a:ext cx="80564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Mainly produced by </a:t>
            </a:r>
            <a:r>
              <a:rPr lang="en-US" altLang="ja-JP" sz="2800" i="1" dirty="0" smtClean="0">
                <a:latin typeface="Times New Roman"/>
                <a:cs typeface="Times New Roman"/>
              </a:rPr>
              <a:t>Streptomyces sp</a:t>
            </a:r>
            <a:r>
              <a:rPr lang="en-US" altLang="ja-JP" sz="2800" dirty="0" smtClean="0">
                <a:latin typeface="Times New Roman"/>
                <a:cs typeface="Times New Roman"/>
              </a:rPr>
              <a:t>. </a:t>
            </a:r>
          </a:p>
          <a:p>
            <a:pPr marL="457200" indent="-4572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algn="ctr"/>
            <a:endParaRPr lang="en-US" altLang="ja-JP" sz="28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Drugs </a:t>
            </a:r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for Alzheimer’s </a:t>
            </a:r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Dementia</a:t>
            </a:r>
          </a:p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i="1" dirty="0">
                <a:latin typeface="Times New Roman"/>
                <a:cs typeface="Times New Roman"/>
              </a:rPr>
              <a:t>Streptomyces </a:t>
            </a:r>
            <a:r>
              <a:rPr lang="en-US" altLang="ja-JP" sz="2800" i="1" dirty="0" err="1">
                <a:latin typeface="Times New Roman"/>
                <a:cs typeface="Times New Roman"/>
              </a:rPr>
              <a:t>griseofuscus</a:t>
            </a:r>
            <a:r>
              <a:rPr lang="en-US" altLang="ja-JP" sz="2800" i="1" dirty="0">
                <a:latin typeface="Times New Roman"/>
                <a:cs typeface="Times New Roman"/>
              </a:rPr>
              <a:t> </a:t>
            </a:r>
            <a:r>
              <a:rPr lang="en-US" altLang="ja-JP" sz="2800" dirty="0">
                <a:latin typeface="Times New Roman"/>
                <a:cs typeface="Times New Roman"/>
              </a:rPr>
              <a:t>produces </a:t>
            </a:r>
            <a:r>
              <a:rPr lang="en-US" altLang="ja-JP" sz="2800" b="1" dirty="0" err="1">
                <a:latin typeface="Times New Roman"/>
                <a:cs typeface="Times New Roman"/>
              </a:rPr>
              <a:t>phytostig</a:t>
            </a:r>
            <a:r>
              <a:rPr lang="en-US" altLang="ja-JP" sz="2800" b="1" dirty="0">
                <a:latin typeface="Times New Roman"/>
                <a:cs typeface="Times New Roman"/>
              </a:rPr>
              <a:t>- mine</a:t>
            </a:r>
            <a:r>
              <a:rPr lang="en-US" altLang="ja-JP" sz="2800" dirty="0">
                <a:latin typeface="Times New Roman"/>
                <a:cs typeface="Times New Roman"/>
              </a:rPr>
              <a:t>, which improves memory function in the brain of healthy humans as well as in those with Alzheimer’s dementia. </a:t>
            </a: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endParaRPr lang="en-US" altLang="ja-JP" sz="2800" dirty="0">
              <a:latin typeface="Times New Roman"/>
              <a:cs typeface="Times New Roman"/>
            </a:endParaRPr>
          </a:p>
          <a:p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045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18544"/>
            <a:ext cx="77694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err="1">
                <a:solidFill>
                  <a:srgbClr val="FF0000"/>
                </a:solidFill>
                <a:latin typeface="Arial"/>
                <a:cs typeface="Arial"/>
              </a:rPr>
              <a:t>Endophytic</a:t>
            </a:r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 Microbes as Sources of Putative </a:t>
            </a:r>
          </a:p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Phytochemicals </a:t>
            </a:r>
          </a:p>
          <a:p>
            <a:pPr algn="ctr"/>
            <a:endParaRPr lang="en-US" altLang="ja-JP" sz="28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759138"/>
            <a:ext cx="80564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dirty="0" err="1" smtClean="0">
                <a:latin typeface="Times New Roman"/>
                <a:cs typeface="Times New Roman"/>
              </a:rPr>
              <a:t>Endophytes</a:t>
            </a:r>
            <a:r>
              <a:rPr lang="en-US" altLang="ja-JP" sz="2800" dirty="0" smtClean="0">
                <a:latin typeface="Times New Roman"/>
                <a:cs typeface="Times New Roman"/>
              </a:rPr>
              <a:t> are bacteria</a:t>
            </a:r>
            <a:r>
              <a:rPr lang="en-US" altLang="ja-JP" sz="2800" dirty="0">
                <a:latin typeface="Times New Roman"/>
                <a:cs typeface="Times New Roman"/>
              </a:rPr>
              <a:t>, fungi, and </a:t>
            </a:r>
            <a:r>
              <a:rPr lang="en-US" altLang="ja-JP" sz="2800" dirty="0" err="1">
                <a:latin typeface="Times New Roman"/>
                <a:cs typeface="Times New Roman"/>
              </a:rPr>
              <a:t>actinomycetes</a:t>
            </a:r>
            <a:r>
              <a:rPr lang="en-US" altLang="ja-JP" sz="2800" dirty="0">
                <a:latin typeface="Times New Roman"/>
                <a:cs typeface="Times New Roman"/>
              </a:rPr>
              <a:t>, which spend part of their complete life cycle colonizing in healthy plant tissues inter- or intra-</a:t>
            </a:r>
            <a:r>
              <a:rPr lang="en-US" altLang="ja-JP" sz="2800" dirty="0" err="1">
                <a:latin typeface="Times New Roman"/>
                <a:cs typeface="Times New Roman"/>
              </a:rPr>
              <a:t>cellularly</a:t>
            </a:r>
            <a:r>
              <a:rPr lang="en-US" altLang="ja-JP" sz="2800" dirty="0">
                <a:latin typeface="Times New Roman"/>
                <a:cs typeface="Times New Roman"/>
              </a:rPr>
              <a:t>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Almost all vascular plants on earth harbor </a:t>
            </a:r>
            <a:r>
              <a:rPr lang="en-US" altLang="ja-JP" sz="2800" dirty="0" err="1">
                <a:latin typeface="Times New Roman"/>
                <a:cs typeface="Times New Roman"/>
              </a:rPr>
              <a:t>endo</a:t>
            </a:r>
            <a:r>
              <a:rPr lang="en-US" altLang="ja-JP" sz="2800" dirty="0">
                <a:latin typeface="Times New Roman"/>
                <a:cs typeface="Times New Roman"/>
              </a:rPr>
              <a:t>- </a:t>
            </a:r>
            <a:r>
              <a:rPr lang="en-US" altLang="ja-JP" sz="2800" dirty="0" err="1">
                <a:latin typeface="Times New Roman"/>
                <a:cs typeface="Times New Roman"/>
              </a:rPr>
              <a:t>phytic</a:t>
            </a:r>
            <a:r>
              <a:rPr lang="en-US" altLang="ja-JP" sz="2800" dirty="0">
                <a:latin typeface="Times New Roman"/>
                <a:cs typeface="Times New Roman"/>
              </a:rPr>
              <a:t> microbes </a:t>
            </a:r>
          </a:p>
          <a:p>
            <a:pPr marL="457200" indent="-4572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err="1" smtClean="0">
                <a:latin typeface="Times New Roman"/>
                <a:cs typeface="Times New Roman"/>
              </a:rPr>
              <a:t>Endophytes</a:t>
            </a:r>
            <a:r>
              <a:rPr lang="en-US" altLang="ja-JP" sz="2800" dirty="0" smtClean="0">
                <a:latin typeface="Times New Roman"/>
                <a:cs typeface="Times New Roman"/>
              </a:rPr>
              <a:t> biosynthesize important plant </a:t>
            </a:r>
            <a:r>
              <a:rPr lang="en-US" altLang="ja-JP" sz="2800" dirty="0">
                <a:latin typeface="Times New Roman"/>
                <a:cs typeface="Times New Roman"/>
              </a:rPr>
              <a:t>compounds or phytochemicals </a:t>
            </a:r>
          </a:p>
        </p:txBody>
      </p:sp>
    </p:spTree>
    <p:extLst>
      <p:ext uri="{BB962C8B-B14F-4D97-AF65-F5344CB8AC3E}">
        <p14:creationId xmlns:p14="http://schemas.microsoft.com/office/powerpoint/2010/main" val="137357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18544"/>
            <a:ext cx="77694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err="1">
                <a:solidFill>
                  <a:srgbClr val="FF0000"/>
                </a:solidFill>
                <a:latin typeface="Arial"/>
                <a:cs typeface="Arial"/>
              </a:rPr>
              <a:t>Endophytic</a:t>
            </a:r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 Microbes as Sources of Putative </a:t>
            </a:r>
          </a:p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Phytochemicals </a:t>
            </a:r>
          </a:p>
          <a:p>
            <a:pPr algn="ctr"/>
            <a:endParaRPr lang="en-US" altLang="ja-JP" sz="28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043"/>
          <a:stretch/>
        </p:blipFill>
        <p:spPr>
          <a:xfrm>
            <a:off x="1483003" y="1403770"/>
            <a:ext cx="6186428" cy="545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18544"/>
            <a:ext cx="77694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err="1">
                <a:solidFill>
                  <a:srgbClr val="FF0000"/>
                </a:solidFill>
                <a:latin typeface="Arial"/>
                <a:cs typeface="Arial"/>
              </a:rPr>
              <a:t>Endophytic</a:t>
            </a:r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 Microbes as Sources of Putative </a:t>
            </a:r>
          </a:p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Phytochemicals </a:t>
            </a:r>
          </a:p>
          <a:p>
            <a:pPr algn="ctr"/>
            <a:endParaRPr lang="en-US" altLang="ja-JP" sz="28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592018"/>
            <a:ext cx="81777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i="1" dirty="0" err="1">
                <a:latin typeface="Times New Roman"/>
                <a:cs typeface="Times New Roman"/>
              </a:rPr>
              <a:t>Taxomyces</a:t>
            </a:r>
            <a:r>
              <a:rPr lang="en-US" altLang="ja-JP" sz="2800" i="1" dirty="0">
                <a:latin typeface="Times New Roman"/>
                <a:cs typeface="Times New Roman"/>
              </a:rPr>
              <a:t> </a:t>
            </a:r>
            <a:r>
              <a:rPr lang="en-US" altLang="ja-JP" sz="2800" i="1" dirty="0" err="1" smtClean="0">
                <a:latin typeface="Times New Roman"/>
                <a:cs typeface="Times New Roman"/>
              </a:rPr>
              <a:t>andreanae</a:t>
            </a:r>
            <a:r>
              <a:rPr lang="en-US" altLang="ja-JP" sz="28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800" dirty="0">
                <a:latin typeface="Times New Roman"/>
                <a:cs typeface="Times New Roman"/>
              </a:rPr>
              <a:t>produces the multi-billion dollar anti-cancer compound </a:t>
            </a:r>
            <a:r>
              <a:rPr lang="en-US" altLang="ja-JP" sz="2800" b="1" dirty="0" err="1" smtClean="0">
                <a:latin typeface="Times New Roman"/>
                <a:cs typeface="Times New Roman"/>
              </a:rPr>
              <a:t>Taxol</a:t>
            </a:r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r>
              <a:rPr lang="en-US" altLang="ja-JP" sz="2800" dirty="0">
                <a:latin typeface="Times New Roman"/>
                <a:cs typeface="Times New Roman"/>
              </a:rPr>
              <a:t>(generic name paclitaxel</a:t>
            </a:r>
            <a:r>
              <a:rPr lang="en-US" altLang="ja-JP" sz="2800" dirty="0" smtClean="0">
                <a:latin typeface="Times New Roman"/>
                <a:cs typeface="Times New Roman"/>
              </a:rPr>
              <a:t>)</a:t>
            </a:r>
          </a:p>
          <a:p>
            <a:pPr marL="457200" indent="-457200">
              <a:buFont typeface="Arial"/>
              <a:buChar char="•"/>
            </a:pPr>
            <a:endParaRPr lang="en-US" altLang="ja-JP" sz="20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Used to treat </a:t>
            </a:r>
            <a:r>
              <a:rPr lang="en-US" altLang="ja-JP" sz="2800" dirty="0">
                <a:latin typeface="Times New Roman"/>
                <a:cs typeface="Times New Roman"/>
              </a:rPr>
              <a:t>prostate, ovarian, breast, and lung cancer.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Many </a:t>
            </a:r>
            <a:r>
              <a:rPr lang="en-US" altLang="ja-JP" sz="2800" dirty="0">
                <a:latin typeface="Times New Roman"/>
                <a:cs typeface="Times New Roman"/>
              </a:rPr>
              <a:t>approaches (e.g. plant cell culture technology or </a:t>
            </a:r>
            <a:r>
              <a:rPr lang="en-US" altLang="ja-JP" sz="2800" dirty="0" smtClean="0">
                <a:latin typeface="Times New Roman"/>
                <a:cs typeface="Times New Roman"/>
              </a:rPr>
              <a:t>chemical </a:t>
            </a:r>
            <a:r>
              <a:rPr lang="en-US" altLang="ja-JP" sz="2800" dirty="0">
                <a:latin typeface="Times New Roman"/>
                <a:cs typeface="Times New Roman"/>
              </a:rPr>
              <a:t>synthesis for paclitaxel production) have been developed, but cost- effective bulk production is still not achievable, resulting in the high cost </a:t>
            </a:r>
            <a:r>
              <a:rPr lang="en-US" altLang="ja-JP" sz="2800" dirty="0" smtClean="0">
                <a:latin typeface="Times New Roman"/>
                <a:cs typeface="Times New Roman"/>
              </a:rPr>
              <a:t>of drug </a:t>
            </a:r>
            <a:endParaRPr lang="en-US" altLang="ja-JP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51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85392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Microbial Synthesis of Vitamins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4" y="1491746"/>
            <a:ext cx="8056421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Vitamins are </a:t>
            </a:r>
            <a:r>
              <a:rPr lang="en-US" altLang="ja-JP" sz="2800" dirty="0" smtClean="0">
                <a:latin typeface="Times New Roman"/>
                <a:cs typeface="Times New Roman"/>
              </a:rPr>
              <a:t>micronutrients </a:t>
            </a:r>
            <a:r>
              <a:rPr lang="en-US" altLang="ja-JP" sz="2800" dirty="0">
                <a:latin typeface="Times New Roman"/>
                <a:cs typeface="Times New Roman"/>
              </a:rPr>
              <a:t>that are required by all organisms in trace quantities but that cannot be synthesized by mammals and are instead synthesized by microorganisms or plants.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They </a:t>
            </a:r>
            <a:r>
              <a:rPr lang="en-US" altLang="ja-JP" sz="2800" dirty="0">
                <a:latin typeface="Times New Roman"/>
                <a:cs typeface="Times New Roman"/>
              </a:rPr>
              <a:t>are also used as food/feed additives and as therapeutic agents.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Processed </a:t>
            </a:r>
            <a:r>
              <a:rPr lang="en-US" altLang="ja-JP" sz="2800" dirty="0">
                <a:latin typeface="Times New Roman"/>
                <a:cs typeface="Times New Roman"/>
              </a:rPr>
              <a:t>foods, feeds, pharmaceuticals, cosmetics, and chemicals contain extraneously added vitamins or vitamin- related compounds. </a:t>
            </a: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533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85392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Microbial Synthesis of Vitamins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4" y="1491746"/>
            <a:ext cx="8056421" cy="581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smtClean="0">
                <a:latin typeface="Times New Roman"/>
                <a:cs typeface="Times New Roman"/>
              </a:rPr>
              <a:t>Vitamin E (</a:t>
            </a:r>
            <a:r>
              <a:rPr lang="en-US" altLang="ja-JP" sz="2400" b="1" dirty="0" err="1" smtClean="0">
                <a:latin typeface="Times New Roman"/>
                <a:cs typeface="Times New Roman"/>
              </a:rPr>
              <a:t>Tocopherols</a:t>
            </a:r>
            <a:r>
              <a:rPr lang="en-US" altLang="ja-JP" sz="2400" b="1" dirty="0" smtClean="0">
                <a:latin typeface="Times New Roman"/>
                <a:cs typeface="Times New Roman"/>
              </a:rPr>
              <a:t>)</a:t>
            </a:r>
          </a:p>
          <a:p>
            <a:endParaRPr lang="en-US" altLang="ja-JP" sz="12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Photosynthetic microorganisms are known to accumulate detectable amounts of </a:t>
            </a:r>
            <a:r>
              <a:rPr lang="en-US" altLang="ja-JP" sz="2400" dirty="0" err="1">
                <a:latin typeface="Times New Roman"/>
                <a:cs typeface="Times New Roman"/>
              </a:rPr>
              <a:t>tocopherols</a:t>
            </a:r>
            <a:r>
              <a:rPr lang="en-US" altLang="ja-JP" sz="2400" dirty="0">
                <a:latin typeface="Times New Roman"/>
                <a:cs typeface="Times New Roman"/>
              </a:rPr>
              <a:t>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1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model system for genetic engineering for over-production of </a:t>
            </a:r>
            <a:r>
              <a:rPr lang="en-US" altLang="ja-JP" sz="2400" dirty="0" err="1">
                <a:latin typeface="Times New Roman"/>
                <a:cs typeface="Times New Roman"/>
              </a:rPr>
              <a:t>tocopherols</a:t>
            </a:r>
            <a:r>
              <a:rPr lang="en-US" altLang="ja-JP" sz="2400" dirty="0">
                <a:latin typeface="Times New Roman"/>
                <a:cs typeface="Times New Roman"/>
              </a:rPr>
              <a:t> is a 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cyanobacterium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b="1" dirty="0" smtClean="0">
                <a:latin typeface="Times New Roman"/>
                <a:cs typeface="Times New Roman"/>
              </a:rPr>
              <a:t>Vitamin K</a:t>
            </a:r>
          </a:p>
          <a:p>
            <a:endParaRPr lang="en-US" altLang="ja-JP" sz="12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The major role of vitamin K is in blood coagulation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1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Required for the prevention </a:t>
            </a:r>
            <a:r>
              <a:rPr lang="en-US" altLang="ja-JP" sz="2400" dirty="0">
                <a:latin typeface="Times New Roman"/>
                <a:cs typeface="Times New Roman"/>
              </a:rPr>
              <a:t>of bone loss and bone fractures in humans, antioxidant activity, and reducing the effects of Alzheimer’s disease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582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85392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Microbial Synthesis of Vitamins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4" y="1491746"/>
            <a:ext cx="805642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Times New Roman"/>
                <a:cs typeface="Times New Roman"/>
              </a:rPr>
              <a:t>β-Carotene (</a:t>
            </a:r>
            <a:r>
              <a:rPr lang="en-US" altLang="ja-JP" sz="2400" b="1" dirty="0" err="1">
                <a:latin typeface="Times New Roman"/>
                <a:cs typeface="Times New Roman"/>
              </a:rPr>
              <a:t>Provitamin</a:t>
            </a:r>
            <a:r>
              <a:rPr lang="en-US" altLang="ja-JP" sz="2400" b="1" dirty="0">
                <a:latin typeface="Times New Roman"/>
                <a:cs typeface="Times New Roman"/>
              </a:rPr>
              <a:t> A) </a:t>
            </a:r>
          </a:p>
          <a:p>
            <a:endParaRPr lang="en-US" altLang="ja-JP" sz="12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Present </a:t>
            </a:r>
            <a:r>
              <a:rPr lang="en-US" altLang="ja-JP" sz="2400" dirty="0">
                <a:latin typeface="Times New Roman"/>
                <a:cs typeface="Times New Roman"/>
              </a:rPr>
              <a:t>in the chloroplast and </a:t>
            </a:r>
            <a:r>
              <a:rPr lang="en-US" altLang="ja-JP" sz="2400" dirty="0" err="1">
                <a:latin typeface="Times New Roman"/>
                <a:cs typeface="Times New Roman"/>
              </a:rPr>
              <a:t>chromoplasts</a:t>
            </a:r>
            <a:r>
              <a:rPr lang="en-US" altLang="ja-JP" sz="2400" dirty="0">
                <a:latin typeface="Times New Roman"/>
                <a:cs typeface="Times New Roman"/>
              </a:rPr>
              <a:t> of plants, photosynthetic bacteria, fungi, and microalgae. </a:t>
            </a:r>
          </a:p>
          <a:p>
            <a:pPr marL="457200" indent="-457200">
              <a:buFont typeface="Arial"/>
              <a:buChar char="•"/>
            </a:pPr>
            <a:endParaRPr lang="en-US" altLang="ja-JP" sz="1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Microorganisms contribute to approximately 15 % of the total industrial production </a:t>
            </a: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b="1" dirty="0" smtClean="0">
                <a:latin typeface="Times New Roman"/>
                <a:cs typeface="Times New Roman"/>
              </a:rPr>
              <a:t>Vitamin B2</a:t>
            </a:r>
          </a:p>
          <a:p>
            <a:endParaRPr lang="en-US" altLang="ja-JP" sz="12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Also known </a:t>
            </a:r>
            <a:r>
              <a:rPr lang="en-US" altLang="ja-JP" sz="2400" dirty="0">
                <a:latin typeface="Times New Roman"/>
                <a:cs typeface="Times New Roman"/>
              </a:rPr>
              <a:t>as riboflavin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Plays an important </a:t>
            </a:r>
            <a:r>
              <a:rPr lang="en-US" altLang="ja-JP" sz="2400" dirty="0">
                <a:latin typeface="Times New Roman"/>
                <a:cs typeface="Times New Roman"/>
              </a:rPr>
              <a:t>role as a precursor to </a:t>
            </a:r>
            <a:r>
              <a:rPr lang="en-US" altLang="ja-JP" sz="2400" dirty="0" err="1">
                <a:latin typeface="Times New Roman"/>
                <a:cs typeface="Times New Roman"/>
              </a:rPr>
              <a:t>flavin</a:t>
            </a:r>
            <a:r>
              <a:rPr lang="en-US" altLang="ja-JP" sz="2400" dirty="0">
                <a:latin typeface="Times New Roman"/>
                <a:cs typeface="Times New Roman"/>
              </a:rPr>
              <a:t> mononucleotide (</a:t>
            </a:r>
            <a:r>
              <a:rPr lang="en-US" altLang="ja-JP" sz="2400" dirty="0" smtClean="0">
                <a:latin typeface="Times New Roman"/>
                <a:cs typeface="Times New Roman"/>
              </a:rPr>
              <a:t>FMN) </a:t>
            </a:r>
            <a:r>
              <a:rPr lang="en-US" altLang="ja-JP" sz="2400" dirty="0">
                <a:latin typeface="Times New Roman"/>
                <a:cs typeface="Times New Roman"/>
              </a:rPr>
              <a:t>and </a:t>
            </a:r>
            <a:r>
              <a:rPr lang="en-US" altLang="ja-JP" sz="2400" dirty="0" err="1">
                <a:latin typeface="Times New Roman"/>
                <a:cs typeface="Times New Roman"/>
              </a:rPr>
              <a:t>flavin</a:t>
            </a:r>
            <a:r>
              <a:rPr lang="en-US" altLang="ja-JP" sz="2400" dirty="0">
                <a:latin typeface="Times New Roman"/>
                <a:cs typeface="Times New Roman"/>
              </a:rPr>
              <a:t> adenine dinucleotide (FAD), which function as coenzymes to a variety of enzyme catalyzed reactions in the intermediate metabolism </a:t>
            </a:r>
          </a:p>
          <a:p>
            <a:pPr marL="457200" indent="-457200">
              <a:buFont typeface="Arial"/>
              <a:buChar char="•"/>
            </a:pPr>
            <a:endParaRPr lang="en-US" altLang="ja-JP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17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85392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Microbial Synthesis of Vitamins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4" y="1257778"/>
            <a:ext cx="805642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latin typeface="Times New Roman"/>
                <a:cs typeface="Times New Roman"/>
              </a:rPr>
              <a:t>Vitamin </a:t>
            </a:r>
            <a:r>
              <a:rPr lang="en-US" altLang="ja-JP" sz="2000" b="1" dirty="0" smtClean="0">
                <a:latin typeface="Times New Roman"/>
                <a:cs typeface="Times New Roman"/>
              </a:rPr>
              <a:t>B12</a:t>
            </a:r>
          </a:p>
          <a:p>
            <a:endParaRPr lang="en-US" altLang="ja-JP" b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Also </a:t>
            </a:r>
            <a:r>
              <a:rPr lang="en-US" altLang="ja-JP" sz="2000" dirty="0">
                <a:latin typeface="Times New Roman"/>
                <a:cs typeface="Times New Roman"/>
              </a:rPr>
              <a:t>known as </a:t>
            </a:r>
            <a:r>
              <a:rPr lang="en-US" altLang="ja-JP" sz="2000" dirty="0" err="1">
                <a:latin typeface="Times New Roman"/>
                <a:cs typeface="Times New Roman"/>
              </a:rPr>
              <a:t>cobalamin</a:t>
            </a:r>
            <a:r>
              <a:rPr lang="en-US" altLang="ja-JP" sz="2000" dirty="0">
                <a:latin typeface="Times New Roman"/>
                <a:cs typeface="Times New Roman"/>
              </a:rPr>
              <a:t> and </a:t>
            </a:r>
            <a:r>
              <a:rPr lang="en-US" altLang="ja-JP" sz="2000" dirty="0" smtClean="0">
                <a:latin typeface="Times New Roman"/>
                <a:cs typeface="Times New Roman"/>
              </a:rPr>
              <a:t>performs </a:t>
            </a:r>
            <a:r>
              <a:rPr lang="en-US" altLang="ja-JP" sz="2000" dirty="0">
                <a:latin typeface="Times New Roman"/>
                <a:cs typeface="Times New Roman"/>
              </a:rPr>
              <a:t>a key role in the normal function of the brain and nervous system and in the formation of blood. </a:t>
            </a:r>
          </a:p>
          <a:p>
            <a:endParaRPr lang="en-US" altLang="ja-JP" sz="11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>
                <a:latin typeface="Times New Roman"/>
                <a:cs typeface="Times New Roman"/>
              </a:rPr>
              <a:t>Only bacteria and </a:t>
            </a:r>
            <a:r>
              <a:rPr lang="en-US" altLang="ja-JP" sz="2000" dirty="0" err="1">
                <a:latin typeface="Times New Roman"/>
                <a:cs typeface="Times New Roman"/>
              </a:rPr>
              <a:t>archaea</a:t>
            </a:r>
            <a:r>
              <a:rPr lang="en-US" altLang="ja-JP" sz="2000" dirty="0">
                <a:latin typeface="Times New Roman"/>
                <a:cs typeface="Times New Roman"/>
              </a:rPr>
              <a:t> have the enzymes required for its synthesis, although many foods are a natural source of B12 because of bacterial </a:t>
            </a:r>
            <a:r>
              <a:rPr lang="en-US" altLang="ja-JP" sz="2000" dirty="0" smtClean="0">
                <a:latin typeface="Times New Roman"/>
                <a:cs typeface="Times New Roman"/>
              </a:rPr>
              <a:t>symbiosis</a:t>
            </a:r>
            <a:endParaRPr lang="en-US" altLang="ja-JP" sz="2000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0" y="3354227"/>
            <a:ext cx="5440818" cy="350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1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85392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Microbial Synthesis of Vitamins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4" y="1491746"/>
            <a:ext cx="80564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Microorganisms utilized in biotransformation </a:t>
            </a:r>
            <a:r>
              <a:rPr lang="en-US" altLang="ja-JP" sz="2400" dirty="0">
                <a:latin typeface="Times New Roman"/>
                <a:cs typeface="Times New Roman"/>
              </a:rPr>
              <a:t>of </a:t>
            </a:r>
            <a:r>
              <a:rPr lang="en-US" altLang="ja-JP" sz="2400" dirty="0" smtClean="0">
                <a:latin typeface="Times New Roman"/>
                <a:cs typeface="Times New Roman"/>
              </a:rPr>
              <a:t>therapeutic </a:t>
            </a:r>
            <a:r>
              <a:rPr lang="en-US" altLang="ja-JP" sz="2400" dirty="0">
                <a:latin typeface="Times New Roman"/>
                <a:cs typeface="Times New Roman"/>
              </a:rPr>
              <a:t>steroids that are used for the treatment of allergies, inflammation, skin diseases and as oral contraceptives </a:t>
            </a: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029661"/>
            <a:ext cx="9067556" cy="34272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18288" y="5280848"/>
            <a:ext cx="16709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Mainly fungi &amp; mycobacteria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8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97876" y="241176"/>
            <a:ext cx="857568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 by microbes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124" y="981587"/>
            <a:ext cx="4968984" cy="578717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72169" y="1186519"/>
            <a:ext cx="794466" cy="200237"/>
          </a:xfrm>
          <a:prstGeom prst="roundRect">
            <a:avLst>
              <a:gd name="adj" fmla="val 0"/>
            </a:avLst>
          </a:prstGeom>
          <a:solidFill>
            <a:srgbClr val="5A5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284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35256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341338"/>
            <a:ext cx="8056421" cy="6001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Amino acids </a:t>
            </a:r>
            <a:r>
              <a:rPr lang="en-US" altLang="ja-JP" sz="2400" dirty="0" smtClean="0">
                <a:latin typeface="Times New Roman"/>
                <a:cs typeface="Times New Roman"/>
              </a:rPr>
              <a:t>uses include:</a:t>
            </a:r>
          </a:p>
          <a:p>
            <a:pPr marL="342900" indent="-342900">
              <a:buFont typeface="Arial"/>
              <a:buChar char="•"/>
            </a:pPr>
            <a:endParaRPr lang="en-US" altLang="ja-JP" sz="20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b="1" dirty="0">
                <a:latin typeface="Times New Roman"/>
                <a:cs typeface="Times New Roman"/>
              </a:rPr>
              <a:t>Use in human and animal nutritional </a:t>
            </a:r>
            <a:r>
              <a:rPr lang="en-US" altLang="ja-JP" sz="2400" b="1" dirty="0" smtClean="0">
                <a:latin typeface="Times New Roman"/>
                <a:cs typeface="Times New Roman"/>
              </a:rPr>
              <a:t>supplementation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Some foods </a:t>
            </a:r>
            <a:r>
              <a:rPr lang="en-US" altLang="ja-JP" sz="2400" dirty="0">
                <a:latin typeface="Times New Roman"/>
                <a:cs typeface="Times New Roman"/>
              </a:rPr>
              <a:t>such as plant </a:t>
            </a:r>
            <a:r>
              <a:rPr lang="en-US" altLang="ja-JP" sz="2400" dirty="0" smtClean="0">
                <a:latin typeface="Times New Roman"/>
                <a:cs typeface="Times New Roman"/>
              </a:rPr>
              <a:t>proteins, lacks essential </a:t>
            </a:r>
            <a:r>
              <a:rPr lang="en-US" altLang="ja-JP" sz="2400" dirty="0">
                <a:latin typeface="Times New Roman"/>
                <a:cs typeface="Times New Roman"/>
              </a:rPr>
              <a:t>amino </a:t>
            </a:r>
            <a:r>
              <a:rPr lang="en-US" altLang="ja-JP" sz="2400" dirty="0" smtClean="0">
                <a:latin typeface="Times New Roman"/>
                <a:cs typeface="Times New Roman"/>
              </a:rPr>
              <a:t>acids.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Animal feeds made from inexpensive plant proteins can be greatly improved with only a small quantity of the limiting amino </a:t>
            </a:r>
            <a:r>
              <a:rPr lang="en-US" altLang="ja-JP" sz="2400" dirty="0" smtClean="0">
                <a:latin typeface="Times New Roman"/>
                <a:cs typeface="Times New Roman"/>
              </a:rPr>
              <a:t>acids. </a:t>
            </a:r>
          </a:p>
          <a:p>
            <a:pPr marL="914400" lvl="1" indent="-457200">
              <a:buFont typeface="Arial"/>
              <a:buChar char="•"/>
            </a:pPr>
            <a:endParaRPr lang="en-US" altLang="ja-JP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b="1" dirty="0" smtClean="0">
                <a:latin typeface="Times New Roman"/>
                <a:cs typeface="Times New Roman"/>
              </a:rPr>
              <a:t>Flavor </a:t>
            </a:r>
            <a:r>
              <a:rPr lang="en-US" altLang="ja-JP" sz="2400" b="1" dirty="0">
                <a:latin typeface="Times New Roman"/>
                <a:cs typeface="Times New Roman"/>
              </a:rPr>
              <a:t>and taste enhancement in </a:t>
            </a:r>
            <a:r>
              <a:rPr lang="en-US" altLang="ja-JP" sz="2400" b="1" dirty="0" smtClean="0">
                <a:latin typeface="Times New Roman"/>
                <a:cs typeface="Times New Roman"/>
              </a:rPr>
              <a:t>foods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Mono-sodium glutamate well-known as a flavoring </a:t>
            </a:r>
            <a:r>
              <a:rPr lang="en-US" altLang="ja-JP" sz="2400" dirty="0" smtClean="0">
                <a:latin typeface="Times New Roman"/>
                <a:cs typeface="Times New Roman"/>
              </a:rPr>
              <a:t>agent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 err="1">
                <a:latin typeface="Times New Roman"/>
                <a:cs typeface="Times New Roman"/>
              </a:rPr>
              <a:t>Splenda</a:t>
            </a:r>
            <a:r>
              <a:rPr lang="en-US" altLang="ja-JP" sz="2400" dirty="0">
                <a:latin typeface="Times New Roman"/>
                <a:cs typeface="Times New Roman"/>
              </a:rPr>
              <a:t> contain a </a:t>
            </a:r>
            <a:r>
              <a:rPr lang="en-US" altLang="ja-JP" sz="2400" dirty="0" err="1">
                <a:latin typeface="Times New Roman"/>
                <a:cs typeface="Times New Roman"/>
              </a:rPr>
              <a:t>dipetide</a:t>
            </a:r>
            <a:r>
              <a:rPr lang="en-US" altLang="ja-JP" sz="2400" dirty="0">
                <a:latin typeface="Times New Roman"/>
                <a:cs typeface="Times New Roman"/>
              </a:rPr>
              <a:t> formed from aspartic acid and phenylalanine </a:t>
            </a:r>
          </a:p>
          <a:p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255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19576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341338"/>
            <a:ext cx="80564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ja-JP" sz="2400" b="1" dirty="0" smtClean="0">
                <a:latin typeface="Times New Roman"/>
                <a:cs typeface="Times New Roman"/>
              </a:rPr>
              <a:t>Medical uses: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985" y="1307914"/>
            <a:ext cx="5951399" cy="55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7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35256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341338"/>
            <a:ext cx="8056421" cy="6370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altLang="ja-JP" sz="2400" b="1" dirty="0" smtClean="0">
                <a:latin typeface="Times New Roman"/>
                <a:cs typeface="Times New Roman"/>
              </a:rPr>
              <a:t>Use </a:t>
            </a:r>
            <a:r>
              <a:rPr lang="en-US" altLang="ja-JP" sz="2400" b="1" dirty="0">
                <a:latin typeface="Times New Roman"/>
                <a:cs typeface="Times New Roman"/>
              </a:rPr>
              <a:t>as an industrial synthetic raw </a:t>
            </a:r>
            <a:r>
              <a:rPr lang="en-US" altLang="ja-JP" sz="2400" b="1" dirty="0" smtClean="0">
                <a:latin typeface="Times New Roman"/>
                <a:cs typeface="Times New Roman"/>
              </a:rPr>
              <a:t>materials</a:t>
            </a:r>
          </a:p>
          <a:p>
            <a:r>
              <a:rPr lang="en-US" altLang="ja-JP" sz="2400" b="1" dirty="0" smtClean="0">
                <a:latin typeface="Times New Roman"/>
                <a:cs typeface="Times New Roman"/>
              </a:rPr>
              <a:t> </a:t>
            </a:r>
          </a:p>
          <a:p>
            <a:pPr marL="914400" lvl="1" indent="-457200">
              <a:buAutoNum type="alphaLcParenBoth"/>
            </a:pPr>
            <a:r>
              <a:rPr lang="en-US" altLang="ja-JP" sz="2400" dirty="0">
                <a:latin typeface="Times New Roman"/>
                <a:cs typeface="Times New Roman"/>
              </a:rPr>
              <a:t> Surface-</a:t>
            </a:r>
            <a:r>
              <a:rPr lang="en-US" altLang="ja-JP" sz="2400" dirty="0" smtClean="0">
                <a:latin typeface="Times New Roman"/>
                <a:cs typeface="Times New Roman"/>
              </a:rPr>
              <a:t>active agents</a:t>
            </a:r>
          </a:p>
          <a:p>
            <a:pPr marL="914400" lvl="1" indent="-457200">
              <a:buAutoNum type="alphaLcParenBoth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lvl="1"/>
            <a:r>
              <a:rPr lang="en-US" altLang="ja-JP" sz="2400" dirty="0">
                <a:latin typeface="Times New Roman"/>
                <a:cs typeface="Times New Roman"/>
              </a:rPr>
              <a:t>(b)  Production of polymers from amino acids: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1257300" lvl="2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Polymers </a:t>
            </a:r>
            <a:r>
              <a:rPr lang="en-US" altLang="ja-JP" sz="2400" dirty="0">
                <a:latin typeface="Times New Roman"/>
                <a:cs typeface="Times New Roman"/>
              </a:rPr>
              <a:t>derived from amino acids are used in making synthetic leather, fire-resistant fabrics and anti-static materials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pPr lvl="2"/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lvl="1"/>
            <a:r>
              <a:rPr lang="en-US" altLang="ja-JP" sz="2400" dirty="0">
                <a:latin typeface="Times New Roman"/>
                <a:cs typeface="Times New Roman"/>
              </a:rPr>
              <a:t>(c</a:t>
            </a:r>
            <a:r>
              <a:rPr lang="en-US" altLang="ja-JP" sz="2400" dirty="0" smtClean="0">
                <a:latin typeface="Times New Roman"/>
                <a:cs typeface="Times New Roman"/>
              </a:rPr>
              <a:t>) Use as cosmetics</a:t>
            </a:r>
          </a:p>
          <a:p>
            <a:pPr marL="1257300" lvl="2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Amino acids exhibit a buffering action that help maintain normal </a:t>
            </a:r>
            <a:r>
              <a:rPr lang="en-US" altLang="ja-JP" sz="2400" dirty="0">
                <a:latin typeface="Times New Roman"/>
                <a:cs typeface="Times New Roman"/>
              </a:rPr>
              <a:t>skin function by regulating pH and a protective action against bacteria.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1371600" lvl="2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29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4516" y="335256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374762"/>
            <a:ext cx="8056421" cy="747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Amino </a:t>
            </a:r>
            <a:r>
              <a:rPr lang="en-US" altLang="ja-JP" sz="2800" dirty="0">
                <a:latin typeface="Times New Roman"/>
                <a:cs typeface="Times New Roman"/>
              </a:rPr>
              <a:t>acids can be </a:t>
            </a:r>
            <a:r>
              <a:rPr lang="en-US" altLang="ja-JP" sz="2800" dirty="0" smtClean="0">
                <a:latin typeface="Times New Roman"/>
                <a:cs typeface="Times New Roman"/>
              </a:rPr>
              <a:t>produced </a:t>
            </a:r>
            <a:r>
              <a:rPr lang="en-US" altLang="ja-JP" sz="2800" dirty="0">
                <a:latin typeface="Times New Roman"/>
                <a:cs typeface="Times New Roman"/>
              </a:rPr>
              <a:t>via four general methods</a:t>
            </a:r>
            <a:r>
              <a:rPr lang="en-US" altLang="ja-JP" sz="2800" dirty="0" smtClean="0">
                <a:latin typeface="Times New Roman"/>
                <a:cs typeface="Times New Roman"/>
              </a:rPr>
              <a:t>:</a:t>
            </a:r>
          </a:p>
          <a:p>
            <a:pPr marL="342900" indent="-342900">
              <a:buFont typeface="Arial"/>
              <a:buChar char="•"/>
            </a:pPr>
            <a:endParaRPr lang="ar-sa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AutoNum type="arabicParenBoth"/>
            </a:pPr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r>
              <a:rPr lang="en-US" altLang="ja-JP" sz="2800" b="1" dirty="0" smtClean="0">
                <a:latin typeface="Times New Roman"/>
                <a:cs typeface="Times New Roman"/>
              </a:rPr>
              <a:t>E</a:t>
            </a:r>
            <a:r>
              <a:rPr lang="ar-sa" altLang="ja-JP" sz="2800" b="1" dirty="0" smtClean="0">
                <a:latin typeface="Times New Roman"/>
                <a:cs typeface="Times New Roman"/>
              </a:rPr>
              <a:t>ِ</a:t>
            </a:r>
            <a:r>
              <a:rPr lang="en-US" altLang="ja-JP" sz="2800" b="1" dirty="0" err="1" smtClean="0">
                <a:latin typeface="Times New Roman"/>
                <a:cs typeface="Times New Roman"/>
              </a:rPr>
              <a:t>xtraction</a:t>
            </a:r>
            <a:r>
              <a:rPr lang="en-US" altLang="ja-JP" sz="2800" b="1" dirty="0" smtClean="0">
                <a:latin typeface="Times New Roman"/>
                <a:cs typeface="Times New Roman"/>
              </a:rPr>
              <a:t> </a:t>
            </a:r>
            <a:r>
              <a:rPr lang="en-US" altLang="ja-JP" sz="2800" b="1" dirty="0">
                <a:latin typeface="Times New Roman"/>
                <a:cs typeface="Times New Roman"/>
              </a:rPr>
              <a:t>from natural protein </a:t>
            </a:r>
            <a:r>
              <a:rPr lang="en-US" altLang="ja-JP" sz="2800" b="1" dirty="0" err="1" smtClean="0">
                <a:latin typeface="Times New Roman"/>
                <a:cs typeface="Times New Roman"/>
              </a:rPr>
              <a:t>hydrolysates</a:t>
            </a:r>
            <a:endParaRPr lang="ar-sa" altLang="ja-JP" sz="2800" b="1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AutoNum type="arabicParenBoth"/>
            </a:pPr>
            <a:r>
              <a:rPr lang="en-US" altLang="ja-JP" sz="2800" b="1" dirty="0" smtClean="0">
                <a:latin typeface="Times New Roman"/>
                <a:cs typeface="Times New Roman"/>
              </a:rPr>
              <a:t> Chemical synthesis</a:t>
            </a:r>
          </a:p>
          <a:p>
            <a:pPr marL="457200" indent="-457200">
              <a:spcAft>
                <a:spcPts val="2400"/>
              </a:spcAft>
              <a:buAutoNum type="arabicParenBoth"/>
            </a:pPr>
            <a:r>
              <a:rPr lang="en-US" altLang="ja-JP" sz="2800" b="1" dirty="0" smtClean="0">
                <a:latin typeface="Times New Roman"/>
                <a:cs typeface="Times New Roman"/>
              </a:rPr>
              <a:t> Microbiological synthesis: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Semi</a:t>
            </a:r>
            <a:r>
              <a:rPr lang="en-US" altLang="ja-JP" sz="2800" dirty="0">
                <a:latin typeface="Times New Roman"/>
                <a:cs typeface="Times New Roman"/>
              </a:rPr>
              <a:t>-</a:t>
            </a:r>
            <a:r>
              <a:rPr lang="en-US" altLang="ja-JP" sz="2800" dirty="0" smtClean="0">
                <a:latin typeface="Times New Roman"/>
                <a:cs typeface="Times New Roman"/>
              </a:rPr>
              <a:t>fermentation</a:t>
            </a:r>
            <a:endParaRPr lang="en-US" altLang="ja-JP" sz="2800" dirty="0">
              <a:latin typeface="Times New Roman"/>
              <a:cs typeface="Times New Roman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Use of microbial enzymes or immobilized cells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Direct fermentation</a:t>
            </a:r>
            <a:r>
              <a:rPr lang="en-US" altLang="ja-JP" sz="2800" dirty="0">
                <a:latin typeface="Times New Roman"/>
                <a:cs typeface="Times New Roman"/>
              </a:rPr>
              <a:t>. </a:t>
            </a:r>
          </a:p>
          <a:p>
            <a:pPr marL="457200" indent="-457200">
              <a:spcAft>
                <a:spcPts val="2400"/>
              </a:spcAft>
              <a:buAutoNum type="arabicParenBoth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AutoNum type="arabicParenBoth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3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132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 by the direct fermentation </a:t>
            </a:r>
            <a:endParaRPr lang="en-US" altLang="ja-JP" sz="28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1508458"/>
            <a:ext cx="805642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The </a:t>
            </a:r>
            <a:r>
              <a:rPr lang="en-US" altLang="ja-JP" sz="2600" dirty="0">
                <a:latin typeface="Times New Roman"/>
                <a:cs typeface="Times New Roman"/>
              </a:rPr>
              <a:t>production of amino acids by fermentation was stimulated by the discovery of an efficient L- glutamic acid producer </a:t>
            </a:r>
            <a:r>
              <a:rPr lang="en-US" altLang="ja-JP" sz="2600" i="1" dirty="0" err="1">
                <a:latin typeface="Times New Roman"/>
                <a:cs typeface="Times New Roman"/>
              </a:rPr>
              <a:t>Corynebacterium</a:t>
            </a:r>
            <a:r>
              <a:rPr lang="en-US" altLang="ja-JP" sz="2600" i="1" dirty="0">
                <a:latin typeface="Times New Roman"/>
                <a:cs typeface="Times New Roman"/>
              </a:rPr>
              <a:t> </a:t>
            </a:r>
            <a:r>
              <a:rPr lang="en-US" altLang="ja-JP" sz="2600" i="1" dirty="0" err="1">
                <a:latin typeface="Times New Roman"/>
                <a:cs typeface="Times New Roman"/>
              </a:rPr>
              <a:t>glutamincum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US" altLang="ja-JP" sz="26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The four most widely used bacteria for amino acid production </a:t>
            </a:r>
            <a:r>
              <a:rPr lang="en-US" altLang="ja-JP" sz="2600" dirty="0">
                <a:latin typeface="Times New Roman"/>
                <a:cs typeface="Times New Roman"/>
              </a:rPr>
              <a:t>by </a:t>
            </a:r>
            <a:r>
              <a:rPr lang="en-US" altLang="ja-JP" sz="2600" dirty="0" smtClean="0">
                <a:latin typeface="Times New Roman"/>
                <a:cs typeface="Times New Roman"/>
              </a:rPr>
              <a:t>fermentation are:</a:t>
            </a:r>
          </a:p>
          <a:p>
            <a:endParaRPr lang="en-US" altLang="ja-JP" sz="2600" dirty="0" smtClean="0">
              <a:latin typeface="Times New Roman"/>
              <a:cs typeface="Times New Roman"/>
            </a:endParaRPr>
          </a:p>
          <a:p>
            <a:pPr marL="800100" lvl="1" indent="-342900">
              <a:buFont typeface="Arial"/>
              <a:buChar char="•"/>
            </a:pPr>
            <a:r>
              <a:rPr lang="en-US" altLang="ja-JP" sz="2600" i="1" dirty="0" err="1" smtClean="0">
                <a:latin typeface="Times New Roman"/>
                <a:cs typeface="Times New Roman"/>
              </a:rPr>
              <a:t>Corynebacterium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600" dirty="0" smtClean="0">
                <a:latin typeface="Times New Roman"/>
                <a:cs typeface="Times New Roman"/>
              </a:rPr>
              <a:t>spp. 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ja-JP" sz="2600" i="1" dirty="0" err="1" smtClean="0">
                <a:latin typeface="Times New Roman"/>
                <a:cs typeface="Times New Roman"/>
              </a:rPr>
              <a:t>Brevibacterium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600" dirty="0" smtClean="0">
                <a:latin typeface="Times New Roman"/>
                <a:cs typeface="Times New Roman"/>
              </a:rPr>
              <a:t>spp. 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ja-JP" sz="2600" i="1" dirty="0" err="1" smtClean="0">
                <a:latin typeface="Times New Roman"/>
                <a:cs typeface="Times New Roman"/>
              </a:rPr>
              <a:t>Microbacterium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600" dirty="0" smtClean="0">
                <a:latin typeface="Times New Roman"/>
                <a:cs typeface="Times New Roman"/>
              </a:rPr>
              <a:t>spp. 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ja-JP" sz="2600" i="1" dirty="0" err="1" smtClean="0">
                <a:latin typeface="Times New Roman"/>
                <a:cs typeface="Times New Roman"/>
              </a:rPr>
              <a:t>Arthrobacter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600" dirty="0" smtClean="0">
                <a:latin typeface="Times New Roman"/>
                <a:cs typeface="Times New Roman"/>
              </a:rPr>
              <a:t>spp. </a:t>
            </a:r>
          </a:p>
          <a:p>
            <a:pPr marL="457200" indent="-457200">
              <a:buFont typeface="Arial"/>
              <a:buChar char="•"/>
            </a:pPr>
            <a:endParaRPr lang="en-US" altLang="ja-JP" sz="26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543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FF0000"/>
                </a:solidFill>
                <a:latin typeface="Arial"/>
                <a:cs typeface="Arial"/>
              </a:rPr>
              <a:t>Production of amino acids by the direct fermentation </a:t>
            </a:r>
            <a:endParaRPr lang="en-US" altLang="ja-JP" sz="2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25" y="985885"/>
            <a:ext cx="7192012" cy="58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Production of Amino Acids by the Direct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</a:p>
          <a:p>
            <a:pPr algn="ctr"/>
            <a:endParaRPr lang="en-US" altLang="ja-JP" sz="16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2800" i="1" dirty="0">
                <a:solidFill>
                  <a:srgbClr val="FF0000"/>
                </a:solidFill>
                <a:latin typeface="Arial"/>
                <a:cs typeface="Arial"/>
              </a:rPr>
              <a:t>Production of glutamic acid </a:t>
            </a:r>
            <a:r>
              <a:rPr lang="en-US" altLang="ja-JP" sz="2800" i="1" dirty="0" smtClean="0">
                <a:solidFill>
                  <a:srgbClr val="FF0000"/>
                </a:solidFill>
                <a:latin typeface="Arial"/>
                <a:cs typeface="Arial"/>
              </a:rPr>
              <a:t>as an example </a:t>
            </a:r>
            <a:endParaRPr lang="en-US" altLang="ja-JP" sz="28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2394194"/>
            <a:ext cx="80564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Production of amino acid</a:t>
            </a:r>
            <a:r>
              <a:rPr lang="en-US" altLang="ja-JP" sz="2400" dirty="0">
                <a:latin typeface="Times New Roman"/>
                <a:cs typeface="Times New Roman"/>
              </a:rPr>
              <a:t>s</a:t>
            </a:r>
            <a:r>
              <a:rPr lang="en-US" altLang="ja-JP" sz="2400" dirty="0" smtClean="0">
                <a:latin typeface="Times New Roman"/>
                <a:cs typeface="Times New Roman"/>
              </a:rPr>
              <a:t> by wild type bacteria</a:t>
            </a:r>
          </a:p>
          <a:p>
            <a:pPr marL="971550" lvl="1" indent="-51435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Example: Production </a:t>
            </a:r>
            <a:r>
              <a:rPr lang="en-US" altLang="ja-JP" sz="2400" dirty="0">
                <a:latin typeface="Times New Roman"/>
                <a:cs typeface="Times New Roman"/>
              </a:rPr>
              <a:t>of glutamic </a:t>
            </a:r>
            <a:r>
              <a:rPr lang="en-US" altLang="ja-JP" sz="2400" dirty="0" smtClean="0">
                <a:latin typeface="Times New Roman"/>
                <a:cs typeface="Times New Roman"/>
              </a:rPr>
              <a:t>acid by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Corynebacterium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400" i="1" dirty="0" err="1">
                <a:latin typeface="Times New Roman"/>
                <a:cs typeface="Times New Roman"/>
              </a:rPr>
              <a:t>glutamicum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endParaRPr lang="en-US" altLang="ja-JP" sz="2400" i="1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Two major means of regulating amino acid synthesis are feedback inhibition and repression. 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519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51152"/>
            <a:ext cx="8788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  <a:latin typeface="Arial"/>
                <a:cs typeface="Arial"/>
              </a:rPr>
              <a:t>Production of Amino Acids by the Direct </a:t>
            </a:r>
            <a:r>
              <a:rPr lang="en-US" altLang="ja-JP" sz="2400" b="1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</a:p>
          <a:p>
            <a:pPr algn="ctr"/>
            <a:endParaRPr lang="en-US" altLang="ja-JP" sz="1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2000" i="1" dirty="0">
                <a:solidFill>
                  <a:srgbClr val="FF0000"/>
                </a:solidFill>
                <a:latin typeface="Arial"/>
                <a:cs typeface="Arial"/>
              </a:rPr>
              <a:t>Production of glutamic acid </a:t>
            </a:r>
            <a:r>
              <a:rPr lang="en-US" altLang="ja-JP" sz="2000" i="1" dirty="0" smtClean="0">
                <a:solidFill>
                  <a:srgbClr val="FF0000"/>
                </a:solidFill>
                <a:latin typeface="Arial"/>
                <a:cs typeface="Arial"/>
              </a:rPr>
              <a:t>as an example </a:t>
            </a:r>
            <a:endParaRPr lang="en-US" altLang="ja-JP" sz="20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47" y="1114935"/>
            <a:ext cx="4834697" cy="559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7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51152"/>
            <a:ext cx="8788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Production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of glutamic acid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as an example</a:t>
            </a:r>
          </a:p>
          <a:p>
            <a:pPr algn="ctr"/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Biotin role </a:t>
            </a:r>
            <a:endParaRPr lang="en-US" altLang="ja-JP" sz="32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12" y="1238130"/>
            <a:ext cx="7977966" cy="572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1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51152"/>
            <a:ext cx="8788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Production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of glutamic acid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as an example</a:t>
            </a:r>
          </a:p>
          <a:p>
            <a:pPr algn="ctr"/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Biotin role </a:t>
            </a:r>
            <a:endParaRPr lang="en-US" altLang="ja-JP" sz="32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95" y="1182219"/>
            <a:ext cx="7948578" cy="567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8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344" y="463529"/>
            <a:ext cx="9602178" cy="612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8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Production of Amino Acids by the Direct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</a:p>
          <a:p>
            <a:pPr algn="ctr"/>
            <a:endParaRPr lang="en-US" altLang="ja-JP" sz="16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2800" i="1" dirty="0">
                <a:solidFill>
                  <a:srgbClr val="FF0000"/>
                </a:solidFill>
                <a:latin typeface="Arial"/>
                <a:cs typeface="Arial"/>
              </a:rPr>
              <a:t>Production of glutamic acid </a:t>
            </a:r>
            <a:r>
              <a:rPr lang="en-US" altLang="ja-JP" sz="2800" i="1" dirty="0" smtClean="0">
                <a:solidFill>
                  <a:srgbClr val="FF0000"/>
                </a:solidFill>
                <a:latin typeface="Arial"/>
                <a:cs typeface="Arial"/>
              </a:rPr>
              <a:t>as an example </a:t>
            </a:r>
            <a:endParaRPr lang="en-US" altLang="ja-JP" sz="28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924" y="2394194"/>
            <a:ext cx="805642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Production of amino acid</a:t>
            </a:r>
            <a:r>
              <a:rPr lang="en-US" altLang="ja-JP" sz="2400" dirty="0">
                <a:latin typeface="Times New Roman"/>
                <a:cs typeface="Times New Roman"/>
              </a:rPr>
              <a:t>s</a:t>
            </a:r>
            <a:r>
              <a:rPr lang="en-US" altLang="ja-JP" sz="2400" dirty="0" smtClean="0">
                <a:latin typeface="Times New Roman"/>
                <a:cs typeface="Times New Roman"/>
              </a:rPr>
              <a:t> by wild type bacteria</a:t>
            </a:r>
          </a:p>
          <a:p>
            <a:pPr marL="971550" lvl="1" indent="-51435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Example: Production </a:t>
            </a:r>
            <a:r>
              <a:rPr lang="en-US" altLang="ja-JP" sz="2400" dirty="0">
                <a:latin typeface="Times New Roman"/>
                <a:cs typeface="Times New Roman"/>
              </a:rPr>
              <a:t>of glutamic </a:t>
            </a:r>
            <a:r>
              <a:rPr lang="en-US" altLang="ja-JP" sz="2400" dirty="0" smtClean="0">
                <a:latin typeface="Times New Roman"/>
                <a:cs typeface="Times New Roman"/>
              </a:rPr>
              <a:t>acid by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Corynebacterium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400" i="1" dirty="0" err="1">
                <a:latin typeface="Times New Roman"/>
                <a:cs typeface="Times New Roman"/>
              </a:rPr>
              <a:t>glutamicum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endParaRPr lang="en-US" altLang="ja-JP" sz="2400" i="1" dirty="0" smtClean="0">
              <a:latin typeface="Times New Roman"/>
              <a:cs typeface="Times New Roman"/>
            </a:endParaRPr>
          </a:p>
          <a:p>
            <a:pPr marL="971550" lvl="1" indent="-51435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Two major means of regulating amino acid synthesis are feedback inhibition and repression. 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Production of amino acids by mutants</a:t>
            </a: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Production of amino acids by auxotrophic mutants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Production of amino acids by regulatory mutants </a:t>
            </a:r>
          </a:p>
          <a:p>
            <a:pPr marL="914400" lvl="1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10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Production of amino acids by auxotrophic mutants</a:t>
            </a:r>
          </a:p>
          <a:p>
            <a:pPr algn="ctr"/>
            <a:endParaRPr lang="en-US" altLang="ja-JP" sz="16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2000" i="1" dirty="0" smtClean="0">
                <a:solidFill>
                  <a:srgbClr val="FF0000"/>
                </a:solidFill>
                <a:latin typeface="Arial"/>
                <a:cs typeface="Arial"/>
              </a:rPr>
              <a:t>Accumulation of lysine in a mutant auxotrophic strain of </a:t>
            </a:r>
            <a:r>
              <a:rPr lang="en-US" altLang="ja-JP" sz="2000" i="1" dirty="0" err="1" smtClean="0">
                <a:solidFill>
                  <a:srgbClr val="FF0000"/>
                </a:solidFill>
                <a:latin typeface="Arial"/>
                <a:cs typeface="Arial"/>
              </a:rPr>
              <a:t>Corynebacterium</a:t>
            </a:r>
            <a:r>
              <a:rPr lang="en-US" altLang="ja-JP" sz="2000" i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ja-JP" sz="2000" i="1" dirty="0" err="1" smtClean="0">
                <a:solidFill>
                  <a:srgbClr val="FF0000"/>
                </a:solidFill>
                <a:latin typeface="Arial"/>
                <a:cs typeface="Arial"/>
              </a:rPr>
              <a:t>glutamicum</a:t>
            </a:r>
            <a:r>
              <a:rPr lang="en-US" altLang="ja-JP" sz="2000" i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20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7541"/>
          <a:stretch/>
        </p:blipFill>
        <p:spPr>
          <a:xfrm>
            <a:off x="195916" y="1887372"/>
            <a:ext cx="8729401" cy="481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2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Production of amino acids by regulatory 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mutants </a:t>
            </a:r>
            <a:endParaRPr lang="en-US" altLang="ja-JP" sz="16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endParaRPr lang="ar-sa" altLang="ja-JP" sz="2000" i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2000" i="1" dirty="0" smtClean="0">
                <a:solidFill>
                  <a:srgbClr val="FF0000"/>
                </a:solidFill>
                <a:latin typeface="Arial"/>
                <a:cs typeface="Arial"/>
              </a:rPr>
              <a:t>Lysine </a:t>
            </a:r>
            <a:r>
              <a:rPr lang="en-US" altLang="ja-JP" sz="2000" i="1" dirty="0">
                <a:solidFill>
                  <a:srgbClr val="FF0000"/>
                </a:solidFill>
                <a:latin typeface="Arial"/>
                <a:cs typeface="Arial"/>
              </a:rPr>
              <a:t>Biosynthesis in </a:t>
            </a:r>
            <a:r>
              <a:rPr lang="en-US" altLang="ja-JP" sz="2000" i="1" dirty="0" err="1">
                <a:solidFill>
                  <a:srgbClr val="FF0000"/>
                </a:solidFill>
                <a:latin typeface="Arial"/>
                <a:cs typeface="Arial"/>
              </a:rPr>
              <a:t>Brevibacteium</a:t>
            </a:r>
            <a:r>
              <a:rPr lang="en-US" altLang="ja-JP" sz="20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ja-JP" sz="2000" i="1" dirty="0" err="1">
                <a:solidFill>
                  <a:srgbClr val="FF0000"/>
                </a:solidFill>
                <a:latin typeface="Arial"/>
                <a:cs typeface="Arial"/>
              </a:rPr>
              <a:t>flavum</a:t>
            </a:r>
            <a:r>
              <a:rPr lang="en-US" altLang="ja-JP" sz="20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86" y="1603267"/>
            <a:ext cx="6810401" cy="517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0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01832"/>
            <a:ext cx="878893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Improvements in the production of amino acids using metabolically engineered organisms </a:t>
            </a:r>
          </a:p>
          <a:p>
            <a:pPr algn="ctr"/>
            <a:endParaRPr lang="ar-sa" altLang="ja-JP" sz="2000" i="1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1524" y="1831108"/>
            <a:ext cx="7986902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3600"/>
              </a:spcAft>
              <a:buFont typeface="+mj-lt"/>
              <a:buAutoNum type="arabicPeriod"/>
            </a:pPr>
            <a:r>
              <a:rPr lang="en-US" altLang="ja-JP" sz="3600" dirty="0" smtClean="0">
                <a:latin typeface="Times New Roman"/>
                <a:cs typeface="Times New Roman"/>
              </a:rPr>
              <a:t>The terminal pathways of the amino acid synthesis</a:t>
            </a:r>
          </a:p>
          <a:p>
            <a:pPr marL="514350" indent="-514350">
              <a:spcAft>
                <a:spcPts val="3600"/>
              </a:spcAft>
              <a:buFont typeface="+mj-lt"/>
              <a:buAutoNum type="arabicPeriod"/>
            </a:pPr>
            <a:r>
              <a:rPr lang="en-US" altLang="ja-JP" sz="3600" dirty="0" smtClean="0">
                <a:latin typeface="Times New Roman"/>
                <a:cs typeface="Times New Roman"/>
              </a:rPr>
              <a:t>The central metabolic pathway for producing the amino acid </a:t>
            </a:r>
          </a:p>
          <a:p>
            <a:pPr marL="514350" indent="-514350">
              <a:spcAft>
                <a:spcPts val="3600"/>
              </a:spcAft>
              <a:buFont typeface="+mj-lt"/>
              <a:buAutoNum type="arabicPeriod"/>
            </a:pPr>
            <a:r>
              <a:rPr lang="en-US" altLang="ja-JP" sz="3600" dirty="0" smtClean="0">
                <a:latin typeface="Times New Roman"/>
                <a:cs typeface="Times New Roman"/>
              </a:rPr>
              <a:t>The transport process for secreting amino acid </a:t>
            </a:r>
          </a:p>
          <a:p>
            <a:pPr marL="514350" indent="-514350">
              <a:spcAft>
                <a:spcPts val="3600"/>
              </a:spcAft>
              <a:buFont typeface="+mj-lt"/>
              <a:buAutoNum type="arabicPeriod"/>
            </a:pPr>
            <a:endParaRPr kumimoji="1" lang="ja-JP" altLang="en-US"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392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468952"/>
            <a:ext cx="8788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Strategies to modify the terminal pathways </a:t>
            </a:r>
          </a:p>
          <a:p>
            <a:pPr algn="ctr"/>
            <a:endParaRPr lang="ar-sa" altLang="ja-JP" sz="2400" i="1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1524" y="1580428"/>
            <a:ext cx="798690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Amplification of rate limiting enzyme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Amplification of branch</a:t>
            </a:r>
            <a:r>
              <a:rPr lang="en-US" altLang="ja-JP" sz="3200" dirty="0">
                <a:latin typeface="Times New Roman"/>
                <a:cs typeface="Times New Roman"/>
              </a:rPr>
              <a:t>-</a:t>
            </a:r>
            <a:r>
              <a:rPr lang="en-US" altLang="ja-JP" sz="3200" dirty="0" smtClean="0">
                <a:latin typeface="Times New Roman"/>
                <a:cs typeface="Times New Roman"/>
              </a:rPr>
              <a:t>point enzyme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Introduction of a different enzyme able to produce the same end amino acid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Introduction of a more functional enzyme than the native one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Amplification </a:t>
            </a:r>
            <a:r>
              <a:rPr lang="en-US" altLang="ja-JP" sz="3200" dirty="0">
                <a:latin typeface="Times New Roman"/>
                <a:cs typeface="Times New Roman"/>
              </a:rPr>
              <a:t>of the first enzyme in the terminal </a:t>
            </a:r>
            <a:r>
              <a:rPr lang="en-US" altLang="ja-JP" sz="3200" dirty="0" smtClean="0">
                <a:latin typeface="Times New Roman"/>
                <a:cs typeface="Times New Roman"/>
              </a:rPr>
              <a:t>pathway</a:t>
            </a:r>
            <a:endParaRPr lang="en-US" altLang="ja-JP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012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385392"/>
            <a:ext cx="8788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Strategies to modify the terminal pathways </a:t>
            </a:r>
          </a:p>
          <a:p>
            <a:pPr algn="ctr"/>
            <a:endParaRPr lang="ar-sa" altLang="ja-JP" sz="2400" i="1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836" y="1076756"/>
            <a:ext cx="9204792" cy="53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9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168136"/>
            <a:ext cx="87889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Modifying the central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metabolic pathway for producing the amino acid </a:t>
            </a:r>
          </a:p>
          <a:p>
            <a:pPr algn="ctr"/>
            <a:endParaRPr lang="en-US" altLang="ja-JP" sz="3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endParaRPr lang="ar-sa" altLang="ja-JP" sz="2400" i="1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71" y="1673735"/>
            <a:ext cx="8638553" cy="45094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0507" y="6367103"/>
            <a:ext cx="86037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400" baseline="30000" dirty="0" smtClean="0">
                <a:latin typeface="Times New Roman"/>
                <a:cs typeface="Times New Roman"/>
              </a:rPr>
              <a:t>Strategies to increase precursor availability for aromatic and L-</a:t>
            </a:r>
            <a:r>
              <a:rPr lang="en-US" altLang="ja-JP" sz="2400" baseline="30000" dirty="0" err="1">
                <a:latin typeface="Times New Roman"/>
                <a:cs typeface="Times New Roman"/>
              </a:rPr>
              <a:t>H</a:t>
            </a:r>
            <a:r>
              <a:rPr lang="en-US" altLang="ja-JP" sz="2400" baseline="30000" dirty="0" err="1" smtClean="0">
                <a:latin typeface="Times New Roman"/>
                <a:cs typeface="Times New Roman"/>
              </a:rPr>
              <a:t>istidine</a:t>
            </a:r>
            <a:r>
              <a:rPr lang="en-US" altLang="ja-JP" sz="2400" baseline="30000" dirty="0" smtClean="0">
                <a:latin typeface="Times New Roman"/>
                <a:cs typeface="Times New Roman"/>
              </a:rPr>
              <a:t> production in </a:t>
            </a:r>
            <a:r>
              <a:rPr lang="en-US" altLang="ja-JP" sz="2400" i="1" baseline="30000" dirty="0">
                <a:latin typeface="Times New Roman"/>
                <a:cs typeface="Times New Roman"/>
              </a:rPr>
              <a:t>C. </a:t>
            </a:r>
            <a:r>
              <a:rPr lang="en-US" altLang="ja-JP" sz="2400" i="1" baseline="30000" dirty="0" err="1">
                <a:latin typeface="Times New Roman"/>
                <a:cs typeface="Times New Roman"/>
              </a:rPr>
              <a:t>glutamicum</a:t>
            </a:r>
            <a:endParaRPr lang="ja-JP" altLang="en-US" sz="2400" i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733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0508" y="168136"/>
            <a:ext cx="878893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Modifying 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transport process for secreting amino acid </a:t>
            </a:r>
          </a:p>
          <a:p>
            <a:pPr algn="ctr"/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endParaRPr lang="en-US" altLang="ja-JP" sz="3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endParaRPr lang="ar-sa" altLang="ja-JP" sz="2400" i="1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0507" y="6367103"/>
            <a:ext cx="86037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400" baseline="30000" dirty="0" smtClean="0">
                <a:latin typeface="Times New Roman"/>
                <a:cs typeface="Times New Roman"/>
              </a:rPr>
              <a:t>Strategies to increase precursor availability for aromatic and L-</a:t>
            </a:r>
            <a:r>
              <a:rPr lang="en-US" altLang="ja-JP" sz="2400" baseline="30000" dirty="0" err="1">
                <a:latin typeface="Times New Roman"/>
                <a:cs typeface="Times New Roman"/>
              </a:rPr>
              <a:t>H</a:t>
            </a:r>
            <a:r>
              <a:rPr lang="en-US" altLang="ja-JP" sz="2400" baseline="30000" dirty="0" err="1" smtClean="0">
                <a:latin typeface="Times New Roman"/>
                <a:cs typeface="Times New Roman"/>
              </a:rPr>
              <a:t>istidine</a:t>
            </a:r>
            <a:r>
              <a:rPr lang="en-US" altLang="ja-JP" sz="2400" baseline="30000" dirty="0" smtClean="0">
                <a:latin typeface="Times New Roman"/>
                <a:cs typeface="Times New Roman"/>
              </a:rPr>
              <a:t> production in </a:t>
            </a:r>
            <a:r>
              <a:rPr lang="en-US" altLang="ja-JP" sz="2400" i="1" baseline="30000" dirty="0">
                <a:latin typeface="Times New Roman"/>
                <a:cs typeface="Times New Roman"/>
              </a:rPr>
              <a:t>C. </a:t>
            </a:r>
            <a:r>
              <a:rPr lang="en-US" altLang="ja-JP" sz="2400" i="1" baseline="30000" dirty="0" err="1">
                <a:latin typeface="Times New Roman"/>
                <a:cs typeface="Times New Roman"/>
              </a:rPr>
              <a:t>glutamicum</a:t>
            </a:r>
            <a:endParaRPr lang="ja-JP" altLang="en-US" sz="2400" i="1" dirty="0"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0" y="1331445"/>
            <a:ext cx="8471464" cy="485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1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7787</TotalTime>
  <Words>1521</Words>
  <Application>Microsoft Office PowerPoint</Application>
  <PresentationFormat>On-screen Show (4:3)</PresentationFormat>
  <Paragraphs>299</Paragraphs>
  <Slides>53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ＭＳ Ｐゴシック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Ehrlich’s Magic Bullets </vt:lpstr>
      <vt:lpstr>PowerPoint Presentation</vt:lpstr>
      <vt:lpstr>Antibiotic Spectrum of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Microbial Sources of Antibiotics</vt:lpstr>
      <vt:lpstr>Modes of Antimicrobial Action &amp; Resistance</vt:lpstr>
      <vt:lpstr>Modes of Antimicrobial Action &amp; Resistance</vt:lpstr>
      <vt:lpstr>Antimicrobial Resistance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qutaiba ababneh</dc:creator>
  <cp:lastModifiedBy>JUST</cp:lastModifiedBy>
  <cp:revision>131</cp:revision>
  <dcterms:created xsi:type="dcterms:W3CDTF">2015-11-08T19:51:44Z</dcterms:created>
  <dcterms:modified xsi:type="dcterms:W3CDTF">2019-11-16T22:40:05Z</dcterms:modified>
</cp:coreProperties>
</file>