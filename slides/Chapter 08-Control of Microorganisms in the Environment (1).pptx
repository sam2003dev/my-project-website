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258" r:id="rId4"/>
    <p:sldId id="259" r:id="rId5"/>
    <p:sldId id="261" r:id="rId6"/>
    <p:sldId id="262" r:id="rId7"/>
    <p:sldId id="264" r:id="rId8"/>
    <p:sldId id="265" r:id="rId9"/>
    <p:sldId id="267" r:id="rId10"/>
    <p:sldId id="270" r:id="rId11"/>
    <p:sldId id="271" r:id="rId12"/>
    <p:sldId id="307"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6" r:id="rId26"/>
    <p:sldId id="287" r:id="rId27"/>
    <p:sldId id="288" r:id="rId28"/>
    <p:sldId id="289" r:id="rId29"/>
    <p:sldId id="290" r:id="rId30"/>
    <p:sldId id="291" r:id="rId31"/>
    <p:sldId id="292" r:id="rId32"/>
    <p:sldId id="293" r:id="rId33"/>
    <p:sldId id="294" r:id="rId34"/>
    <p:sldId id="295" r:id="rId35"/>
    <p:sldId id="296" r:id="rId36"/>
    <p:sldId id="308" r:id="rId37"/>
    <p:sldId id="299" r:id="rId38"/>
    <p:sldId id="300" r:id="rId39"/>
    <p:sldId id="306" r:id="rId40"/>
    <p:sldId id="301" r:id="rId41"/>
    <p:sldId id="303" r:id="rId42"/>
    <p:sldId id="304" r:id="rId43"/>
    <p:sldId id="305" r:id="rId44"/>
  </p:sldIdLst>
  <p:sldSz cx="9144000" cy="6858000" type="screen4x3"/>
  <p:notesSz cx="6858000" cy="91440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4" d="100"/>
          <a:sy n="74" d="100"/>
        </p:scale>
        <p:origin x="126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1/24/2018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15454F-ECDB-4842-AF71-F9E8195E2EAE}"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771834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D5D7F-3933-4309-8034-0F93355438F7}"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2524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140049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8CB9A4-23AA-4DC3-A257-AD75712A2865}"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43414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9D155C-674B-4796-BBC2-FCD13546F93B}" type="datetime1">
              <a:rPr lang="en-US" smtClean="0"/>
              <a:pPr/>
              <a:t>1/24/2018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209007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70BCA5-5AC7-4B00-85A8-8E2615460E4F}" type="datetime1">
              <a:rPr lang="en-US" smtClean="0"/>
              <a:pPr/>
              <a:t>1/24/2018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889955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1/24/2018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690033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05871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17094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03F265-EC92-4E3A-8B2F-17EA75E99940}"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36972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10B38-9655-43E1-BBFD-8C7DABE26029}"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43895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1/24/2018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smtClean="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5016004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smtClean="0"/>
              <a:t>Chapter 8 – Control of Microorganisms in the Environment</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pic>
        <p:nvPicPr>
          <p:cNvPr id="7" name="Picture 2" descr="X:\Graphics\Powerpoint\MH_DCM\MH_DCM-TEXTEDIT PROJECTS\WILLEY_10e\Incoming\Wille10e17tlm_nm3.jpg"/>
          <p:cNvPicPr>
            <a:picLocks noGrp="1" noChangeAspect="1" noChangeArrowheads="1"/>
          </p:cNvPicPr>
          <p:nvPr>
            <p:ph idx="1"/>
          </p:nvPr>
        </p:nvPicPr>
        <p:blipFill>
          <a:blip r:embed="rId2" cstate="print"/>
          <a:srcRect/>
          <a:stretch>
            <a:fillRect/>
          </a:stretch>
        </p:blipFill>
        <p:spPr bwMode="auto">
          <a:xfrm>
            <a:off x="2299478" y="1254785"/>
            <a:ext cx="4549509" cy="5527015"/>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8.1 Microbial Growth and Replication Pathways: Targets for Control</a:t>
            </a:r>
            <a:endParaRPr lang="en-US" dirty="0"/>
          </a:p>
        </p:txBody>
      </p:sp>
      <p:sp>
        <p:nvSpPr>
          <p:cNvPr id="3" name="Content Placeholder 2"/>
          <p:cNvSpPr>
            <a:spLocks noGrp="1"/>
          </p:cNvSpPr>
          <p:nvPr>
            <p:ph idx="1"/>
          </p:nvPr>
        </p:nvSpPr>
        <p:spPr>
          <a:xfrm>
            <a:off x="457200" y="2027237"/>
            <a:ext cx="8229600" cy="4525963"/>
          </a:xfrm>
        </p:spPr>
        <p:txBody>
          <a:bodyPr/>
          <a:lstStyle/>
          <a:p>
            <a:pPr marL="514350" indent="-514350">
              <a:buFont typeface="+mj-lt"/>
              <a:buAutoNum type="arabicPeriod"/>
            </a:pPr>
            <a:r>
              <a:rPr lang="en-US" dirty="0"/>
              <a:t>Compare and contrast actions of disinfection, antisepsis, chemotherapy, and </a:t>
            </a:r>
            <a:r>
              <a:rPr lang="en-US" dirty="0" smtClean="0"/>
              <a:t>sterilization</a:t>
            </a:r>
          </a:p>
          <a:p>
            <a:pPr marL="514350" indent="-514350">
              <a:buFont typeface="+mj-lt"/>
              <a:buAutoNum type="arabicPeriod"/>
            </a:pPr>
            <a:endParaRPr lang="en-US" dirty="0"/>
          </a:p>
          <a:p>
            <a:pPr marL="514350" indent="-514350">
              <a:buFont typeface="+mj-lt"/>
              <a:buAutoNum type="arabicPeriod"/>
            </a:pPr>
            <a:r>
              <a:rPr lang="en-US" dirty="0"/>
              <a:t>Distinguish between </a:t>
            </a:r>
            <a:r>
              <a:rPr lang="en-US" dirty="0" err="1"/>
              <a:t>cidal</a:t>
            </a:r>
            <a:r>
              <a:rPr lang="en-US" dirty="0"/>
              <a:t> (killing) and static (inhibitory) agents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dirty="0"/>
          </a:p>
        </p:txBody>
      </p:sp>
    </p:spTree>
    <p:extLst>
      <p:ext uri="{BB962C8B-B14F-4D97-AF65-F5344CB8AC3E}">
        <p14:creationId xmlns:p14="http://schemas.microsoft.com/office/powerpoint/2010/main" val="2023146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smtClean="0"/>
              <a:t>Common Microbial Control Methods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3</a:t>
            </a:fld>
            <a:endParaRPr lang="en-US"/>
          </a:p>
        </p:txBody>
      </p:sp>
      <p:pic>
        <p:nvPicPr>
          <p:cNvPr id="6" name="Content Placeholder 5" descr="This is a flowchart of physical agents, chemical agents, mechanical removal methods, and biological agents of microbial control.&#10;&#10;Definitions:&#10;Disinfection - The destruction or removal of vegetative pathogens but not bacterial endospores.  Usually used only on inanimate objects.&#10;Sterilization - The complete removal or destruction of all viable microorganisms.  Used on inanimate objects.&#10;Antisepsis - Chemicals applied to body surfaces to destroy or inhibit vegetative pathogens.&#10;Chemotherapy - Chemicals used internally to kill or inhibit growth of microorganisms within host tissues.&#10;&#10;Physical agents&#10;Dry Heat methods include Incineration and Dry oven; both result in Sterilization.&#10;Moist Heat methods include Steam under pressure, which results in Sterilization, and Boiling water/hot water/pasteurization, which results in Disinfection.&#10;Ionizing radiation (X ray, cathode, or gamma) results in Sterilization while nonionizing radiation (UV) results in Disinfection.&#10;&#10;Chemical agents&#10;Gases may result in Sterilization or Disinfection, Liquids (Animate) may result in Chemotherapy or Antisepsis, and Liquids (Inanimate) may result in Disinfection or Sterilization.&#10;&#10;Mechanical removal methods&#10;Filtration of air or liquids results in Sterilization.&#10;&#10;Biological agents&#10;Use of Predator or Virus results in antisepsis while use of Toxin results in Sterilization." title="Figure 8.1 Microbial Control Methods."/>
          <p:cNvPicPr>
            <a:picLocks noGrp="1" noChangeAspect="1" noChangeArrowheads="1"/>
          </p:cNvPicPr>
          <p:nvPr>
            <p:ph idx="1"/>
          </p:nvPr>
        </p:nvPicPr>
        <p:blipFill>
          <a:blip r:embed="rId2" cstate="print"/>
          <a:stretch>
            <a:fillRect/>
          </a:stretch>
        </p:blipFill>
        <p:spPr bwMode="auto">
          <a:xfrm>
            <a:off x="76200" y="1362184"/>
            <a:ext cx="8903914" cy="5038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548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normAutofit fontScale="90000"/>
          </a:bodyPr>
          <a:lstStyle/>
          <a:p>
            <a:r>
              <a:rPr lang="en-US" dirty="0"/>
              <a:t>Definition of Frequently Used Terms</a:t>
            </a:r>
          </a:p>
        </p:txBody>
      </p:sp>
      <p:sp>
        <p:nvSpPr>
          <p:cNvPr id="3" name="Content Placeholder 2"/>
          <p:cNvSpPr>
            <a:spLocks noGrp="1"/>
          </p:cNvSpPr>
          <p:nvPr>
            <p:ph idx="1"/>
          </p:nvPr>
        </p:nvSpPr>
        <p:spPr>
          <a:xfrm>
            <a:off x="457200" y="990600"/>
            <a:ext cx="8229600" cy="5638800"/>
          </a:xfrm>
        </p:spPr>
        <p:txBody>
          <a:bodyPr>
            <a:normAutofit fontScale="77500" lnSpcReduction="20000"/>
          </a:bodyPr>
          <a:lstStyle/>
          <a:p>
            <a:pPr>
              <a:lnSpc>
                <a:spcPct val="90000"/>
              </a:lnSpc>
            </a:pPr>
            <a:r>
              <a:rPr lang="en-US" dirty="0"/>
              <a:t>Sterilization</a:t>
            </a:r>
          </a:p>
          <a:p>
            <a:pPr lvl="1">
              <a:lnSpc>
                <a:spcPct val="90000"/>
              </a:lnSpc>
            </a:pPr>
            <a:r>
              <a:rPr lang="en-US" dirty="0"/>
              <a:t>destruction or removal of all viable </a:t>
            </a:r>
            <a:r>
              <a:rPr lang="en-US" dirty="0" smtClean="0"/>
              <a:t>organisms</a:t>
            </a:r>
            <a:br>
              <a:rPr lang="en-US" dirty="0" smtClean="0"/>
            </a:br>
            <a:endParaRPr lang="en-US" dirty="0"/>
          </a:p>
          <a:p>
            <a:pPr>
              <a:lnSpc>
                <a:spcPct val="90000"/>
              </a:lnSpc>
            </a:pPr>
            <a:r>
              <a:rPr lang="en-US" dirty="0"/>
              <a:t>Disinfection</a:t>
            </a:r>
          </a:p>
          <a:p>
            <a:pPr lvl="1">
              <a:lnSpc>
                <a:spcPct val="90000"/>
              </a:lnSpc>
            </a:pPr>
            <a:r>
              <a:rPr lang="en-US" dirty="0"/>
              <a:t>killing, inhibition, or removal of disease causing (pathogenic) organisms </a:t>
            </a:r>
          </a:p>
          <a:p>
            <a:pPr lvl="1">
              <a:lnSpc>
                <a:spcPct val="90000"/>
              </a:lnSpc>
            </a:pPr>
            <a:r>
              <a:rPr lang="en-US" dirty="0"/>
              <a:t>disinfectants</a:t>
            </a:r>
          </a:p>
          <a:p>
            <a:pPr lvl="2">
              <a:lnSpc>
                <a:spcPct val="90000"/>
              </a:lnSpc>
            </a:pPr>
            <a:r>
              <a:rPr lang="en-US" sz="2400" dirty="0"/>
              <a:t>agents, usually chemical, used for disinfection</a:t>
            </a:r>
          </a:p>
          <a:p>
            <a:pPr lvl="2">
              <a:lnSpc>
                <a:spcPct val="90000"/>
              </a:lnSpc>
            </a:pPr>
            <a:r>
              <a:rPr lang="en-US" sz="2400" dirty="0"/>
              <a:t>usually used on inanimate </a:t>
            </a:r>
            <a:r>
              <a:rPr lang="en-US" sz="2400" dirty="0" smtClean="0"/>
              <a:t>objects</a:t>
            </a:r>
            <a:br>
              <a:rPr lang="en-US" sz="2400" dirty="0" smtClean="0"/>
            </a:br>
            <a:endParaRPr lang="en-US" sz="2400" dirty="0" smtClean="0"/>
          </a:p>
          <a:p>
            <a:pPr>
              <a:lnSpc>
                <a:spcPct val="90000"/>
              </a:lnSpc>
            </a:pPr>
            <a:r>
              <a:rPr lang="en-US" dirty="0"/>
              <a:t>Sanitization</a:t>
            </a:r>
          </a:p>
          <a:p>
            <a:pPr lvl="1">
              <a:lnSpc>
                <a:spcPct val="90000"/>
              </a:lnSpc>
            </a:pPr>
            <a:r>
              <a:rPr lang="en-US" dirty="0"/>
              <a:t>reduction of microbial population to levels deemed safe (based on public health standards</a:t>
            </a:r>
            <a:r>
              <a:rPr lang="en-US" dirty="0" smtClean="0"/>
              <a:t>)</a:t>
            </a:r>
            <a:br>
              <a:rPr lang="en-US" dirty="0" smtClean="0"/>
            </a:br>
            <a:endParaRPr lang="en-US" dirty="0"/>
          </a:p>
          <a:p>
            <a:pPr>
              <a:lnSpc>
                <a:spcPct val="90000"/>
              </a:lnSpc>
            </a:pPr>
            <a:r>
              <a:rPr lang="en-US" dirty="0"/>
              <a:t>Antisepsis</a:t>
            </a:r>
          </a:p>
          <a:p>
            <a:pPr lvl="1">
              <a:lnSpc>
                <a:spcPct val="90000"/>
              </a:lnSpc>
            </a:pPr>
            <a:r>
              <a:rPr lang="en-US" dirty="0"/>
              <a:t>prevention of infection of living tissue by microorganisms</a:t>
            </a:r>
          </a:p>
          <a:p>
            <a:pPr lvl="1">
              <a:lnSpc>
                <a:spcPct val="90000"/>
              </a:lnSpc>
            </a:pPr>
            <a:r>
              <a:rPr lang="en-US" dirty="0"/>
              <a:t>antiseptics</a:t>
            </a:r>
          </a:p>
          <a:p>
            <a:pPr lvl="2">
              <a:lnSpc>
                <a:spcPct val="90000"/>
              </a:lnSpc>
            </a:pPr>
            <a:r>
              <a:rPr lang="en-US" dirty="0"/>
              <a:t>chemical agents that kill or inhibit growth of microorganisms when applied to tissue</a:t>
            </a:r>
          </a:p>
          <a:p>
            <a:pPr lvl="2">
              <a:lnSpc>
                <a:spcPct val="90000"/>
              </a:lnSpc>
            </a:pPr>
            <a:endParaRPr lang="en-US" sz="24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3790358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smtClean="0"/>
              <a:t>Visual Differentiation of Control Definitions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5</a:t>
            </a:fld>
            <a:endParaRPr lang="en-US"/>
          </a:p>
        </p:txBody>
      </p:sp>
      <p:pic>
        <p:nvPicPr>
          <p:cNvPr id="6" name="Content Placeholder 5" descr="This figure shows three possible population reduction curves resulting from three different biocides over time. The shape of each curve reflects various conditions that influence biocide effectiveness. In each case, the eventual decline in viable microorganisms can occur as a staged decline of viability from antisepsis to sanitization to disinfection to sterilization (these four terms appear as stacked, colored bars behind the curves).&#10;&#10;All three lines start from the same level of microbial population (on a log scale).  The first line rapidly drops off in a straight line and then levels off in the sterilization level.  The second line is a sigmoidal curve gently sloping through the antisepsis layer, showing a raid, straight-line decrease through the sanitization layer, and then gently sloping and leveling off in the disinfection layer.  And the third line is a gentle arch through antisepsis, sanitization, and disinfection." title="Figure 8.2 Impact of Biocide Exposure."/>
          <p:cNvPicPr>
            <a:picLocks noGrp="1" noChangeAspect="1" noChangeArrowheads="1"/>
          </p:cNvPicPr>
          <p:nvPr>
            <p:ph idx="1"/>
          </p:nvPr>
        </p:nvPicPr>
        <p:blipFill>
          <a:blip r:embed="rId2" cstate="print"/>
          <a:stretch>
            <a:fillRect/>
          </a:stretch>
        </p:blipFill>
        <p:spPr bwMode="auto">
          <a:xfrm>
            <a:off x="687245" y="1371600"/>
            <a:ext cx="7694755" cy="5328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47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rmAutofit/>
          </a:bodyPr>
          <a:lstStyle/>
          <a:p>
            <a:r>
              <a:rPr lang="en-US" dirty="0"/>
              <a:t>Antimicrobial Agents</a:t>
            </a:r>
          </a:p>
        </p:txBody>
      </p:sp>
      <p:sp>
        <p:nvSpPr>
          <p:cNvPr id="3" name="Content Placeholder 2"/>
          <p:cNvSpPr>
            <a:spLocks noGrp="1"/>
          </p:cNvSpPr>
          <p:nvPr>
            <p:ph idx="1"/>
          </p:nvPr>
        </p:nvSpPr>
        <p:spPr>
          <a:xfrm>
            <a:off x="457200" y="1143000"/>
            <a:ext cx="8229600" cy="5486400"/>
          </a:xfrm>
        </p:spPr>
        <p:txBody>
          <a:bodyPr>
            <a:normAutofit fontScale="92500" lnSpcReduction="10000"/>
          </a:bodyPr>
          <a:lstStyle/>
          <a:p>
            <a:pPr>
              <a:lnSpc>
                <a:spcPct val="90000"/>
              </a:lnSpc>
            </a:pPr>
            <a:r>
              <a:rPr lang="en-US" dirty="0"/>
              <a:t>Chemotherapy </a:t>
            </a:r>
          </a:p>
          <a:p>
            <a:pPr lvl="1">
              <a:lnSpc>
                <a:spcPct val="90000"/>
              </a:lnSpc>
            </a:pPr>
            <a:r>
              <a:rPr lang="en-US" dirty="0"/>
              <a:t>use of chemicals to kill or inhibit growth of microorganisms within host </a:t>
            </a:r>
            <a:r>
              <a:rPr lang="en-US" dirty="0" smtClean="0"/>
              <a:t>tissue</a:t>
            </a:r>
          </a:p>
          <a:p>
            <a:pPr marL="457200" lvl="1" indent="0">
              <a:lnSpc>
                <a:spcPct val="90000"/>
              </a:lnSpc>
              <a:buNone/>
            </a:pPr>
            <a:endParaRPr lang="en-US" dirty="0"/>
          </a:p>
          <a:p>
            <a:pPr>
              <a:lnSpc>
                <a:spcPct val="90000"/>
              </a:lnSpc>
            </a:pPr>
            <a:r>
              <a:rPr lang="en-US" dirty="0"/>
              <a:t>Agents that kill microorganisms or inhibit their growth</a:t>
            </a:r>
          </a:p>
          <a:p>
            <a:pPr lvl="1">
              <a:lnSpc>
                <a:spcPct val="90000"/>
              </a:lnSpc>
            </a:pPr>
            <a:r>
              <a:rPr lang="en-US" dirty="0" err="1"/>
              <a:t>cidal</a:t>
            </a:r>
            <a:r>
              <a:rPr lang="en-US" dirty="0"/>
              <a:t> agents </a:t>
            </a:r>
            <a:r>
              <a:rPr lang="en-US" dirty="0" smtClean="0"/>
              <a:t>kill (-</a:t>
            </a:r>
            <a:r>
              <a:rPr lang="en-US" dirty="0" err="1" smtClean="0"/>
              <a:t>cide</a:t>
            </a:r>
            <a:r>
              <a:rPr lang="en-US" dirty="0" smtClean="0"/>
              <a:t> suffice indicating agent that kills)</a:t>
            </a:r>
          </a:p>
          <a:p>
            <a:pPr lvl="2">
              <a:lnSpc>
                <a:spcPct val="90000"/>
              </a:lnSpc>
            </a:pPr>
            <a:r>
              <a:rPr lang="en-US" dirty="0" smtClean="0"/>
              <a:t>germicide kills </a:t>
            </a:r>
            <a:r>
              <a:rPr lang="en-US" dirty="0"/>
              <a:t>pathogens and many </a:t>
            </a:r>
            <a:r>
              <a:rPr lang="en-US" dirty="0" err="1"/>
              <a:t>nonpathogens</a:t>
            </a:r>
            <a:r>
              <a:rPr lang="en-US" dirty="0"/>
              <a:t> but not necessarily endospores</a:t>
            </a:r>
          </a:p>
          <a:p>
            <a:pPr lvl="2"/>
            <a:r>
              <a:rPr lang="en-US" dirty="0"/>
              <a:t>include bactericides, fungicides, </a:t>
            </a:r>
            <a:r>
              <a:rPr lang="en-US" dirty="0" err="1"/>
              <a:t>algicides</a:t>
            </a:r>
            <a:r>
              <a:rPr lang="en-US" dirty="0"/>
              <a:t>, and </a:t>
            </a:r>
            <a:r>
              <a:rPr lang="en-US" dirty="0" err="1" smtClean="0"/>
              <a:t>viricides</a:t>
            </a:r>
            <a:endParaRPr lang="en-US" dirty="0"/>
          </a:p>
          <a:p>
            <a:pPr lvl="1">
              <a:lnSpc>
                <a:spcPct val="90000"/>
              </a:lnSpc>
            </a:pPr>
            <a:r>
              <a:rPr lang="en-US" dirty="0"/>
              <a:t>static agents inhibit </a:t>
            </a:r>
            <a:r>
              <a:rPr lang="en-US" dirty="0" smtClean="0"/>
              <a:t>growth (-static suffix indicates growth inhibiting agent)</a:t>
            </a:r>
            <a:endParaRPr lang="en-US" dirty="0"/>
          </a:p>
          <a:p>
            <a:pPr lvl="2"/>
            <a:r>
              <a:rPr lang="en-US" dirty="0"/>
              <a:t>include bacteriostatic and </a:t>
            </a:r>
            <a:r>
              <a:rPr lang="en-US" dirty="0" err="1"/>
              <a:t>fungistatic</a:t>
            </a:r>
            <a:endParaRPr lang="en-US" dirty="0"/>
          </a:p>
          <a:p>
            <a:pPr lvl="1">
              <a:lnSpc>
                <a:spcPct val="90000"/>
              </a:lnSpc>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161588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rmAutofit/>
          </a:bodyPr>
          <a:lstStyle/>
          <a:p>
            <a:r>
              <a:rPr lang="en-US" sz="3600" dirty="0" smtClean="0"/>
              <a:t>8.2 The Pattern of Microbial Death Mirrors the Pattern of Microbial Growth</a:t>
            </a:r>
            <a:endParaRPr lang="en-US" sz="3600" dirty="0"/>
          </a:p>
        </p:txBody>
      </p:sp>
      <p:sp>
        <p:nvSpPr>
          <p:cNvPr id="3" name="Content Placeholder 2"/>
          <p:cNvSpPr>
            <a:spLocks noGrp="1"/>
          </p:cNvSpPr>
          <p:nvPr>
            <p:ph idx="1"/>
          </p:nvPr>
        </p:nvSpPr>
        <p:spPr>
          <a:xfrm>
            <a:off x="533400" y="2362200"/>
            <a:ext cx="8229600" cy="4221163"/>
          </a:xfrm>
        </p:spPr>
        <p:txBody>
          <a:bodyPr/>
          <a:lstStyle/>
          <a:p>
            <a:pPr marL="514350" indent="-514350">
              <a:buFont typeface="+mj-lt"/>
              <a:buAutoNum type="arabicPeriod"/>
            </a:pPr>
            <a:r>
              <a:rPr lang="en-US" dirty="0"/>
              <a:t>Calculate the decimal reduction time (D value</a:t>
            </a:r>
            <a:r>
              <a:rPr lang="en-US" dirty="0" smtClean="0"/>
              <a:t>)</a:t>
            </a:r>
            <a:br>
              <a:rPr lang="en-US" dirty="0" smtClean="0"/>
            </a:br>
            <a:endParaRPr lang="en-US" dirty="0"/>
          </a:p>
          <a:p>
            <a:pPr marL="514350" indent="-514350">
              <a:buFont typeface="+mj-lt"/>
              <a:buAutoNum type="arabicPeriod"/>
            </a:pPr>
            <a:r>
              <a:rPr lang="en-US" dirty="0"/>
              <a:t>Correlate antisepsis, disinfection, and sterilization with agent effectiveness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dirty="0"/>
          </a:p>
        </p:txBody>
      </p:sp>
    </p:spTree>
    <p:extLst>
      <p:ext uri="{BB962C8B-B14F-4D97-AF65-F5344CB8AC3E}">
        <p14:creationId xmlns:p14="http://schemas.microsoft.com/office/powerpoint/2010/main" val="4175477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Pattern of Microbial Death</a:t>
            </a:r>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dirty="0"/>
              <a:t>Microorganisms are not killed </a:t>
            </a:r>
            <a:r>
              <a:rPr lang="en-US" dirty="0" smtClean="0"/>
              <a:t>instantly</a:t>
            </a:r>
          </a:p>
          <a:p>
            <a:pPr marL="0" indent="0">
              <a:buNone/>
            </a:pPr>
            <a:endParaRPr lang="en-US" dirty="0"/>
          </a:p>
          <a:p>
            <a:r>
              <a:rPr lang="en-US" dirty="0"/>
              <a:t>Population death usually occurs </a:t>
            </a:r>
            <a:r>
              <a:rPr lang="en-US" dirty="0" smtClean="0"/>
              <a:t>exponentially</a:t>
            </a:r>
          </a:p>
          <a:p>
            <a:pPr marL="0" indent="0">
              <a:buNone/>
            </a:pPr>
            <a:endParaRPr lang="en-US" dirty="0"/>
          </a:p>
          <a:p>
            <a:r>
              <a:rPr lang="en-US" dirty="0"/>
              <a:t>Measure of agent’s killing efficiency</a:t>
            </a:r>
          </a:p>
          <a:p>
            <a:pPr lvl="1"/>
            <a:r>
              <a:rPr lang="en-US" dirty="0"/>
              <a:t>decimal reduction time – time to kill 90%</a:t>
            </a:r>
          </a:p>
          <a:p>
            <a:pPr lvl="1"/>
            <a:r>
              <a:rPr lang="en-US" dirty="0"/>
              <a:t>must be sure </a:t>
            </a:r>
            <a:r>
              <a:rPr lang="en-US" dirty="0" err="1"/>
              <a:t>persister</a:t>
            </a:r>
            <a:r>
              <a:rPr lang="en-US" dirty="0"/>
              <a:t> cells (viable but </a:t>
            </a:r>
            <a:r>
              <a:rPr lang="en-US" dirty="0" err="1"/>
              <a:t>nonculturable</a:t>
            </a:r>
            <a:r>
              <a:rPr lang="en-US" dirty="0"/>
              <a:t> </a:t>
            </a:r>
            <a:r>
              <a:rPr lang="en-US" dirty="0" smtClean="0"/>
              <a:t>condition</a:t>
            </a:r>
            <a:r>
              <a:rPr lang="en-US" dirty="0"/>
              <a:t>) are dead</a:t>
            </a:r>
          </a:p>
          <a:p>
            <a:pPr lvl="2"/>
            <a:r>
              <a:rPr lang="en-US" sz="2400" dirty="0"/>
              <a:t>once they recover they may regain the ability to reproduce and cause infection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spTree>
    <p:extLst>
      <p:ext uri="{BB962C8B-B14F-4D97-AF65-F5344CB8AC3E}">
        <p14:creationId xmlns:p14="http://schemas.microsoft.com/office/powerpoint/2010/main" val="3102095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2667000" cy="2057400"/>
          </a:xfrm>
        </p:spPr>
        <p:txBody>
          <a:bodyPr>
            <a:normAutofit/>
          </a:bodyPr>
          <a:lstStyle/>
          <a:p>
            <a:r>
              <a:rPr lang="en-US" dirty="0" smtClean="0"/>
              <a:t>D and z Values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9</a:t>
            </a:fld>
            <a:endParaRPr lang="en-US"/>
          </a:p>
        </p:txBody>
      </p:sp>
      <p:pic>
        <p:nvPicPr>
          <p:cNvPr id="8" name="Picture 5" descr="(Left) An exponential plot of the survivors versus the minutes of exposure to heating at 121 degrees C. This is a straight line from 10^6 microorganisms at 0 minutes to -1 microorganisms at 7 minutes.  In this example, the D value is 1 minute. The data are from table 8.1. (Right) An exponential plot of D values versus temperature. The higher the temperature, the lower the Log_10_ D value.  The temperature change at a given D value that reduces the population by one log unit is known as the Z value." title="Figure 8.3 The Pattern of Microbial Death."/>
          <p:cNvPicPr>
            <a:picLocks noGrp="1" noChangeAspect="1" noChangeArrowheads="1"/>
          </p:cNvPicPr>
          <p:nvPr>
            <p:ph sz="half" idx="2"/>
          </p:nvPr>
        </p:nvPicPr>
        <p:blipFill>
          <a:blip r:embed="rId2" cstate="print"/>
          <a:stretch>
            <a:fillRect/>
          </a:stretch>
        </p:blipFill>
        <p:spPr bwMode="auto">
          <a:xfrm>
            <a:off x="2876999" y="76200"/>
            <a:ext cx="6183153" cy="37348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This is a table of a microbial heat-killing experiment.  Assume that the initial sample contains 10^6 vegetative microorganisms per ml and that 90% of the organisms are killed during each minute of exposure.  The temperature is 121 degrees C.&#10;&#10;Header Row: Minute, Microbial Number at Start of Minute, Microorganisms Killed in 1 Minute (90% of Total), Microorganisms at End of 1 Minute, Log_10_ of Survivors&#10;1, 10^6, 9 × 10^5, 10^5, 5&#10;2, 10^5, 9 × 10^4, 10^4, 4&#10;3, 10^4, 9 × 10^3, 10^3, 3&#10;4, 10^3, 9 × 10^2, 10^2, 2&#10;5, 10^2, 9 × 10^1, 10, 1&#10;6, 10^1, 9, 1, 0&#10;7, 1, 0.9, 0.1, −1" title="Table 8.1 A Theoretical Microbial Heat-Killing Experiment"/>
          <p:cNvPicPr>
            <a:picLocks noGrp="1" noChangeAspect="1" noChangeArrowheads="1"/>
          </p:cNvPicPr>
          <p:nvPr>
            <p:ph sz="half" idx="1"/>
          </p:nvPr>
        </p:nvPicPr>
        <p:blipFill>
          <a:blip r:embed="rId3" cstate="print"/>
          <a:stretch>
            <a:fillRect/>
          </a:stretch>
        </p:blipFill>
        <p:spPr bwMode="auto">
          <a:xfrm>
            <a:off x="152400" y="3886200"/>
            <a:ext cx="7300282"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731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8.3 Mechanical Removal Methods </a:t>
            </a:r>
            <a:br>
              <a:rPr lang="en-US" dirty="0" smtClean="0"/>
            </a:br>
            <a:r>
              <a:rPr lang="en-US" dirty="0" smtClean="0"/>
              <a:t>Rely on Barriers</a:t>
            </a:r>
            <a:endParaRPr lang="en-US" dirty="0"/>
          </a:p>
        </p:txBody>
      </p:sp>
      <p:sp>
        <p:nvSpPr>
          <p:cNvPr id="3" name="Content Placeholder 2"/>
          <p:cNvSpPr>
            <a:spLocks noGrp="1"/>
          </p:cNvSpPr>
          <p:nvPr>
            <p:ph idx="1"/>
          </p:nvPr>
        </p:nvSpPr>
        <p:spPr>
          <a:xfrm>
            <a:off x="457200" y="1874837"/>
            <a:ext cx="8229600" cy="4525963"/>
          </a:xfrm>
        </p:spPr>
        <p:txBody>
          <a:bodyPr/>
          <a:lstStyle/>
          <a:p>
            <a:pPr marL="514350" indent="-514350">
              <a:buFont typeface="+mj-lt"/>
              <a:buAutoNum type="arabicPeriod"/>
            </a:pPr>
            <a:r>
              <a:rPr lang="en-US" dirty="0"/>
              <a:t>Explain the mechanism by which filtration removes </a:t>
            </a:r>
            <a:r>
              <a:rPr lang="en-US" dirty="0" smtClean="0"/>
              <a:t>microorganisms</a:t>
            </a:r>
            <a:br>
              <a:rPr lang="en-US" dirty="0" smtClean="0"/>
            </a:br>
            <a:endParaRPr lang="en-US" dirty="0"/>
          </a:p>
          <a:p>
            <a:pPr marL="514350" indent="-514350">
              <a:buFont typeface="+mj-lt"/>
              <a:buAutoNum type="arabicPeriod"/>
            </a:pPr>
            <a:r>
              <a:rPr lang="en-US" dirty="0"/>
              <a:t>Propose filtration methods </a:t>
            </a:r>
            <a:r>
              <a:rPr lang="en-US" dirty="0" smtClean="0"/>
              <a:t>to selectively remove one type of microbe from a mixed population</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spTree>
    <p:extLst>
      <p:ext uri="{BB962C8B-B14F-4D97-AF65-F5344CB8AC3E}">
        <p14:creationId xmlns:p14="http://schemas.microsoft.com/office/powerpoint/2010/main" val="214438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Filtration</a:t>
            </a:r>
            <a:endParaRPr lang="en-US" dirty="0"/>
          </a:p>
        </p:txBody>
      </p:sp>
      <p:sp>
        <p:nvSpPr>
          <p:cNvPr id="3" name="Content Placeholder 2"/>
          <p:cNvSpPr>
            <a:spLocks noGrp="1"/>
          </p:cNvSpPr>
          <p:nvPr>
            <p:ph idx="1"/>
          </p:nvPr>
        </p:nvSpPr>
        <p:spPr/>
        <p:txBody>
          <a:bodyPr/>
          <a:lstStyle/>
          <a:p>
            <a:r>
              <a:rPr lang="en-US" dirty="0"/>
              <a:t>Reduces microbial population or sterilizes solutions of heat-sensitive materials by removing </a:t>
            </a:r>
            <a:r>
              <a:rPr lang="en-US" dirty="0" smtClean="0"/>
              <a:t>microorganisms</a:t>
            </a:r>
          </a:p>
          <a:p>
            <a:pPr marL="0" indent="0">
              <a:buNone/>
            </a:pPr>
            <a:endParaRPr lang="en-US" dirty="0"/>
          </a:p>
          <a:p>
            <a:r>
              <a:rPr lang="en-US" dirty="0"/>
              <a:t>Also used to reduce microbial populations in air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spTree>
    <p:extLst>
      <p:ext uri="{BB962C8B-B14F-4D97-AF65-F5344CB8AC3E}">
        <p14:creationId xmlns:p14="http://schemas.microsoft.com/office/powerpoint/2010/main" val="2144389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4343400" cy="3886200"/>
          </a:xfrm>
        </p:spPr>
        <p:txBody>
          <a:bodyPr>
            <a:normAutofit fontScale="90000"/>
          </a:bodyPr>
          <a:lstStyle/>
          <a:p>
            <a:pPr marL="342900" lvl="0" indent="-342900">
              <a:spcBef>
                <a:spcPct val="20000"/>
              </a:spcBef>
            </a:pPr>
            <a:r>
              <a:rPr lang="en-US" dirty="0" smtClean="0"/>
              <a:t>Filtering Liquids</a:t>
            </a:r>
            <a:br>
              <a:rPr lang="en-US" dirty="0" smtClean="0"/>
            </a:br>
            <a:r>
              <a:rPr lang="en-US" sz="3000" dirty="0" smtClean="0">
                <a:solidFill>
                  <a:prstClr val="black"/>
                </a:solidFill>
                <a:ea typeface="+mn-ea"/>
                <a:cs typeface="+mn-cs"/>
              </a:rPr>
              <a:t>Membrane </a:t>
            </a:r>
            <a:r>
              <a:rPr lang="en-US" sz="3000" dirty="0">
                <a:solidFill>
                  <a:prstClr val="black"/>
                </a:solidFill>
                <a:ea typeface="+mn-ea"/>
                <a:cs typeface="+mn-cs"/>
              </a:rPr>
              <a:t>filters</a:t>
            </a:r>
            <a:br>
              <a:rPr lang="en-US" sz="3000" dirty="0">
                <a:solidFill>
                  <a:prstClr val="black"/>
                </a:solidFill>
                <a:ea typeface="+mn-ea"/>
                <a:cs typeface="+mn-cs"/>
              </a:rPr>
            </a:br>
            <a:r>
              <a:rPr lang="en-US" sz="3000" dirty="0" smtClean="0">
                <a:solidFill>
                  <a:prstClr val="black"/>
                </a:solidFill>
                <a:ea typeface="+mn-ea"/>
                <a:cs typeface="+mn-cs"/>
              </a:rPr>
              <a:t>-</a:t>
            </a:r>
            <a:r>
              <a:rPr lang="en-US" sz="2600" dirty="0" smtClean="0">
                <a:solidFill>
                  <a:prstClr val="black"/>
                </a:solidFill>
                <a:ea typeface="+mn-ea"/>
                <a:cs typeface="+mn-cs"/>
              </a:rPr>
              <a:t>porous </a:t>
            </a:r>
            <a:r>
              <a:rPr lang="en-US" sz="2600" dirty="0">
                <a:solidFill>
                  <a:prstClr val="black"/>
                </a:solidFill>
                <a:ea typeface="+mn-ea"/>
                <a:cs typeface="+mn-cs"/>
              </a:rPr>
              <a:t>membranes with defined pore sizes that remove microorganisms primarily by physical screening</a:t>
            </a:r>
            <a:br>
              <a:rPr lang="en-US" sz="2600" dirty="0">
                <a:solidFill>
                  <a:prstClr val="black"/>
                </a:solidFill>
                <a:ea typeface="+mn-ea"/>
                <a:cs typeface="+mn-cs"/>
              </a:rPr>
            </a:br>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12</a:t>
            </a:fld>
            <a:endParaRPr lang="en-US"/>
          </a:p>
        </p:txBody>
      </p:sp>
      <p:pic>
        <p:nvPicPr>
          <p:cNvPr id="6" name="Content Placeholder 5" descr="Photo of Enterococcus faecalis cocci resting on a polycarbonate membrane filter with 0.4 μm pores (×5,900 magnification)." title="Figure 8.5 Membrane Filter."/>
          <p:cNvPicPr>
            <a:picLocks noGrp="1" noChangeAspect="1" noChangeArrowheads="1"/>
          </p:cNvPicPr>
          <p:nvPr>
            <p:ph sz="half" idx="1"/>
          </p:nvPr>
        </p:nvPicPr>
        <p:blipFill>
          <a:blip r:embed="rId2" cstate="print"/>
          <a:stretch>
            <a:fillRect/>
          </a:stretch>
        </p:blipFill>
        <p:spPr bwMode="auto">
          <a:xfrm>
            <a:off x="155329" y="3276600"/>
            <a:ext cx="4242979" cy="35556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The liquid to be sterilized is pumped through a membrane filter and into a sterile container. (Top) Schematic representation of a membrane filtration setup that uses a vacuum pump to force liquid through the filter. The inset shows a cross section of the filter and its pores, which are too small for microbes to pass through. (Bottom) Cross section of a membrane filtration unit. Several membranes are used to increase its capacity." title="Figure 8.4 Membrane Filter Sterilization."/>
          <p:cNvPicPr>
            <a:picLocks noGrp="1" noChangeAspect="1" noChangeArrowheads="1"/>
          </p:cNvPicPr>
          <p:nvPr>
            <p:ph sz="half" idx="2"/>
          </p:nvPr>
        </p:nvPicPr>
        <p:blipFill>
          <a:blip r:embed="rId3" cstate="print"/>
          <a:srcRect/>
          <a:stretch>
            <a:fillRect/>
          </a:stretch>
        </p:blipFill>
        <p:spPr bwMode="auto">
          <a:xfrm>
            <a:off x="5562600" y="152400"/>
            <a:ext cx="2536737" cy="6574268"/>
          </a:xfrm>
          <a:prstGeom prst="rect">
            <a:avLst/>
          </a:prstGeom>
          <a:noFill/>
        </p:spPr>
      </p:pic>
    </p:spTree>
    <p:extLst>
      <p:ext uri="{BB962C8B-B14F-4D97-AF65-F5344CB8AC3E}">
        <p14:creationId xmlns:p14="http://schemas.microsoft.com/office/powerpoint/2010/main" val="1321431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0" y="76200"/>
            <a:ext cx="4724400" cy="1143000"/>
          </a:xfrm>
        </p:spPr>
        <p:txBody>
          <a:bodyPr/>
          <a:lstStyle/>
          <a:p>
            <a:r>
              <a:rPr lang="en-US" dirty="0" smtClean="0"/>
              <a:t>Filtering Air</a:t>
            </a:r>
            <a:endParaRPr lang="en-US" dirty="0"/>
          </a:p>
        </p:txBody>
      </p:sp>
      <p:sp>
        <p:nvSpPr>
          <p:cNvPr id="7" name="Content Placeholder 6"/>
          <p:cNvSpPr>
            <a:spLocks noGrp="1"/>
          </p:cNvSpPr>
          <p:nvPr>
            <p:ph sz="half" idx="2"/>
          </p:nvPr>
        </p:nvSpPr>
        <p:spPr>
          <a:xfrm>
            <a:off x="4648200" y="1143000"/>
            <a:ext cx="4267200" cy="5486400"/>
          </a:xfrm>
        </p:spPr>
        <p:txBody>
          <a:bodyPr>
            <a:normAutofit/>
          </a:bodyPr>
          <a:lstStyle/>
          <a:p>
            <a:r>
              <a:rPr lang="en-US" dirty="0" smtClean="0"/>
              <a:t>Surgical masks</a:t>
            </a:r>
          </a:p>
          <a:p>
            <a:pPr marL="0" indent="0">
              <a:buNone/>
            </a:pPr>
            <a:endParaRPr lang="en-US" dirty="0" smtClean="0"/>
          </a:p>
          <a:p>
            <a:r>
              <a:rPr lang="en-US" dirty="0" smtClean="0"/>
              <a:t>Cotton plugs on culture vessels</a:t>
            </a:r>
          </a:p>
          <a:p>
            <a:pPr marL="0" indent="0">
              <a:buNone/>
            </a:pPr>
            <a:endParaRPr lang="en-US" dirty="0" smtClean="0"/>
          </a:p>
          <a:p>
            <a:r>
              <a:rPr lang="en-US" dirty="0" smtClean="0"/>
              <a:t>High-efficiency particulate air (HEPA) filters</a:t>
            </a:r>
          </a:p>
          <a:p>
            <a:pPr lvl="1"/>
            <a:r>
              <a:rPr lang="en-US" dirty="0" smtClean="0"/>
              <a:t>used in laminar flow biological safety cabinets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dirty="0"/>
          </a:p>
        </p:txBody>
      </p:sp>
      <p:pic>
        <p:nvPicPr>
          <p:cNvPr id="8" name="Picture 11" descr="(Top) A technician pipetting potentially hazardous material in a safety cabinet. (Bottom) A schematic diagram showing the airflow pattern within a class II safety cabinet.  Different colored arrows show that room air is HEPA filtered before it enters the workspace of the safety cabinet." title="Figure 8.6 A Biological Safety Cabinet."/>
          <p:cNvPicPr>
            <a:picLocks noGrp="1" noChangeAspect="1" noChangeArrowheads="1"/>
          </p:cNvPicPr>
          <p:nvPr>
            <p:ph sz="half" idx="1"/>
          </p:nvPr>
        </p:nvPicPr>
        <p:blipFill>
          <a:blip r:embed="rId2" cstate="print"/>
          <a:stretch>
            <a:fillRect/>
          </a:stretch>
        </p:blipFill>
        <p:spPr bwMode="auto">
          <a:xfrm>
            <a:off x="1143000" y="133900"/>
            <a:ext cx="2362200" cy="6606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389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8.4 Physical Control Methods Alter Microorganisms to Make Them Nonviable</a:t>
            </a:r>
            <a:endParaRPr lang="en-US" sz="3600" dirty="0"/>
          </a:p>
        </p:txBody>
      </p:sp>
      <p:sp>
        <p:nvSpPr>
          <p:cNvPr id="3" name="Content Placeholder 2"/>
          <p:cNvSpPr>
            <a:spLocks noGrp="1"/>
          </p:cNvSpPr>
          <p:nvPr>
            <p:ph idx="1"/>
          </p:nvPr>
        </p:nvSpPr>
        <p:spPr>
          <a:xfrm>
            <a:off x="457200" y="2255837"/>
            <a:ext cx="8229600" cy="4525963"/>
          </a:xfrm>
        </p:spPr>
        <p:txBody>
          <a:bodyPr>
            <a:normAutofit lnSpcReduction="10000"/>
          </a:bodyPr>
          <a:lstStyle/>
          <a:p>
            <a:pPr marL="514350" indent="-514350">
              <a:buFont typeface="+mj-lt"/>
              <a:buAutoNum type="arabicPeriod"/>
            </a:pPr>
            <a:r>
              <a:rPr lang="en-US" dirty="0"/>
              <a:t>Describe the application of heat and radiation to control </a:t>
            </a:r>
            <a:r>
              <a:rPr lang="en-US" dirty="0" smtClean="0"/>
              <a:t>microorganisms</a:t>
            </a:r>
            <a:br>
              <a:rPr lang="en-US" dirty="0" smtClean="0"/>
            </a:br>
            <a:endParaRPr lang="en-US" dirty="0"/>
          </a:p>
          <a:p>
            <a:pPr marL="514350" indent="-514350">
              <a:buFont typeface="+mj-lt"/>
              <a:buAutoNum type="arabicPeriod"/>
            </a:pPr>
            <a:r>
              <a:rPr lang="en-US" dirty="0"/>
              <a:t>Explain the mechanisms by which heat and radiation kill </a:t>
            </a:r>
            <a:r>
              <a:rPr lang="en-US" dirty="0" smtClean="0"/>
              <a:t>microbes</a:t>
            </a:r>
            <a:br>
              <a:rPr lang="en-US" dirty="0" smtClean="0"/>
            </a:br>
            <a:endParaRPr lang="en-US" dirty="0"/>
          </a:p>
          <a:p>
            <a:pPr marL="514350" indent="-514350">
              <a:buFont typeface="+mj-lt"/>
              <a:buAutoNum type="arabicPeriod"/>
            </a:pPr>
            <a:r>
              <a:rPr lang="en-US" dirty="0"/>
              <a:t>Design novel antimicrobial control applications using heat and radiation to sterilize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spTree>
    <p:extLst>
      <p:ext uri="{BB962C8B-B14F-4D97-AF65-F5344CB8AC3E}">
        <p14:creationId xmlns:p14="http://schemas.microsoft.com/office/powerpoint/2010/main" val="2144389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Control Methods </a:t>
            </a:r>
          </a:p>
        </p:txBody>
      </p:sp>
      <p:sp>
        <p:nvSpPr>
          <p:cNvPr id="3" name="Content Placeholder 2"/>
          <p:cNvSpPr>
            <a:spLocks noGrp="1"/>
          </p:cNvSpPr>
          <p:nvPr>
            <p:ph idx="1"/>
          </p:nvPr>
        </p:nvSpPr>
        <p:spPr/>
        <p:txBody>
          <a:bodyPr/>
          <a:lstStyle/>
          <a:p>
            <a:r>
              <a:rPr lang="en-US" dirty="0" smtClean="0"/>
              <a:t>Heat</a:t>
            </a:r>
          </a:p>
          <a:p>
            <a:pPr marL="0" indent="0">
              <a:buNone/>
            </a:pPr>
            <a:endParaRPr lang="en-US" dirty="0"/>
          </a:p>
          <a:p>
            <a:r>
              <a:rPr lang="en-US" dirty="0"/>
              <a:t>Radiation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2144389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t>Moist Heat</a:t>
            </a:r>
            <a:endParaRPr lang="en-US" dirty="0"/>
          </a:p>
        </p:txBody>
      </p:sp>
      <p:sp>
        <p:nvSpPr>
          <p:cNvPr id="6" name="Content Placeholder 5"/>
          <p:cNvSpPr>
            <a:spLocks noGrp="1"/>
          </p:cNvSpPr>
          <p:nvPr>
            <p:ph sz="half" idx="1"/>
          </p:nvPr>
        </p:nvSpPr>
        <p:spPr>
          <a:xfrm>
            <a:off x="76200" y="838200"/>
            <a:ext cx="8991600" cy="1828799"/>
          </a:xfrm>
        </p:spPr>
        <p:txBody>
          <a:bodyPr>
            <a:normAutofit fontScale="77500" lnSpcReduction="20000"/>
          </a:bodyPr>
          <a:lstStyle/>
          <a:p>
            <a:r>
              <a:rPr lang="en-US" dirty="0"/>
              <a:t>Destroys viruses, fungi, and bacteria</a:t>
            </a:r>
            <a:br>
              <a:rPr lang="en-US" dirty="0"/>
            </a:br>
            <a:endParaRPr lang="en-US" dirty="0"/>
          </a:p>
          <a:p>
            <a:r>
              <a:rPr lang="en-US" dirty="0"/>
              <a:t>Boiling will not destroy spores and does not sterilize</a:t>
            </a:r>
            <a:br>
              <a:rPr lang="en-US" dirty="0"/>
            </a:br>
            <a:endParaRPr lang="en-US" dirty="0"/>
          </a:p>
          <a:p>
            <a:r>
              <a:rPr lang="en-US" dirty="0"/>
              <a:t>Degrades nucleic acids, denatures proteins, and disrupts membranes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pic>
        <p:nvPicPr>
          <p:cNvPr id="8" name="Content Placeholder 7" descr="Header Row: Organism, Vegetative Cells, Spores&#10;Yeasts, 5 minutes at 50–60°C, 5 minutes at 70–80°C&#10;Molds, 30 minutes at 62°C, 30 minutes at 80°C&#10;Mesophilic Bacteria, 10 minutes at 60–70°C, 2 to over 800 minutes at 100°C or 0.5–12 minutes at 121°C&#10;Viruses, 30 minutes at 60°C, N/A" title="Table 8.2 Approximate Conditions for Moist Heat Killing"/>
          <p:cNvPicPr>
            <a:picLocks noGrp="1" noChangeAspect="1" noChangeArrowheads="1"/>
          </p:cNvPicPr>
          <p:nvPr>
            <p:ph sz="half" idx="2"/>
          </p:nvPr>
        </p:nvPicPr>
        <p:blipFill>
          <a:blip r:embed="rId2" cstate="print"/>
          <a:stretch>
            <a:fillRect/>
          </a:stretch>
        </p:blipFill>
        <p:spPr bwMode="auto">
          <a:xfrm>
            <a:off x="1658319" y="2590800"/>
            <a:ext cx="6111367" cy="417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389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Steam Sterilization</a:t>
            </a:r>
          </a:p>
        </p:txBody>
      </p:sp>
      <p:sp>
        <p:nvSpPr>
          <p:cNvPr id="6" name="Content Placeholder 5"/>
          <p:cNvSpPr>
            <a:spLocks noGrp="1"/>
          </p:cNvSpPr>
          <p:nvPr>
            <p:ph sz="half" idx="1"/>
          </p:nvPr>
        </p:nvSpPr>
        <p:spPr>
          <a:xfrm>
            <a:off x="76200" y="1600200"/>
            <a:ext cx="3505200" cy="5029200"/>
          </a:xfrm>
        </p:spPr>
        <p:txBody>
          <a:bodyPr>
            <a:normAutofit fontScale="92500" lnSpcReduction="20000"/>
          </a:bodyPr>
          <a:lstStyle/>
          <a:p>
            <a:pPr>
              <a:lnSpc>
                <a:spcPct val="90000"/>
              </a:lnSpc>
            </a:pPr>
            <a:r>
              <a:rPr lang="en-US" dirty="0"/>
              <a:t>Carried out above 100</a:t>
            </a:r>
            <a:r>
              <a:rPr lang="en-US" baseline="30000" dirty="0"/>
              <a:t>o</a:t>
            </a:r>
            <a:r>
              <a:rPr lang="en-US" dirty="0"/>
              <a:t>C which requires saturated steam under pressure</a:t>
            </a:r>
            <a:br>
              <a:rPr lang="en-US" dirty="0"/>
            </a:br>
            <a:r>
              <a:rPr lang="en-US" dirty="0"/>
              <a:t> </a:t>
            </a:r>
          </a:p>
          <a:p>
            <a:pPr>
              <a:lnSpc>
                <a:spcPct val="90000"/>
              </a:lnSpc>
            </a:pPr>
            <a:r>
              <a:rPr lang="en-US" dirty="0"/>
              <a:t>Uses an autoclave</a:t>
            </a:r>
            <a:br>
              <a:rPr lang="en-US" dirty="0"/>
            </a:br>
            <a:endParaRPr lang="en-US" dirty="0"/>
          </a:p>
          <a:p>
            <a:pPr>
              <a:lnSpc>
                <a:spcPct val="90000"/>
              </a:lnSpc>
            </a:pPr>
            <a:r>
              <a:rPr lang="en-US" dirty="0"/>
              <a:t>Effective against all types of microorganisms (including spores!)</a:t>
            </a:r>
            <a:br>
              <a:rPr lang="en-US" dirty="0"/>
            </a:br>
            <a:endParaRPr lang="en-US" dirty="0"/>
          </a:p>
          <a:p>
            <a:pPr>
              <a:lnSpc>
                <a:spcPct val="90000"/>
              </a:lnSpc>
            </a:pPr>
            <a:r>
              <a:rPr lang="en-US" dirty="0"/>
              <a:t>Quality control - includes strips with </a:t>
            </a:r>
            <a:r>
              <a:rPr lang="en-US" i="1" dirty="0" err="1"/>
              <a:t>Geobacillus</a:t>
            </a:r>
            <a:r>
              <a:rPr lang="en-US" i="1" dirty="0"/>
              <a:t> </a:t>
            </a:r>
            <a:r>
              <a:rPr lang="en-US" i="1" dirty="0" err="1"/>
              <a:t>stearothermophilus</a:t>
            </a:r>
            <a:endParaRPr lang="en-US"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pic>
        <p:nvPicPr>
          <p:cNvPr id="11" name="Picture 3" descr="(Left) Photo of the outside front of a modern, automatically controlled autoclave or sterilizer.  (Right) Longitudinal cross section of a typical autoclave identifying the pressure regulator, safety valve, steam jacket, steam supply, and door gasket and showing the pathway of steam from the jacket to the chamber." title="Figure 8.7 The Autoclave."/>
          <p:cNvPicPr>
            <a:picLocks noGrp="1" noChangeAspect="1" noChangeArrowheads="1"/>
          </p:cNvPicPr>
          <p:nvPr>
            <p:ph sz="half" idx="2"/>
          </p:nvPr>
        </p:nvPicPr>
        <p:blipFill>
          <a:blip r:embed="rId2" cstate="print"/>
          <a:stretch>
            <a:fillRect/>
          </a:stretch>
        </p:blipFill>
        <p:spPr bwMode="auto">
          <a:xfrm>
            <a:off x="3690158" y="2133600"/>
            <a:ext cx="5368340" cy="2768668"/>
          </a:xfrm>
          <a:prstGeom prst="rect">
            <a:avLst/>
          </a:prstGeom>
          <a:noFill/>
        </p:spPr>
      </p:pic>
    </p:spTree>
    <p:extLst>
      <p:ext uri="{BB962C8B-B14F-4D97-AF65-F5344CB8AC3E}">
        <p14:creationId xmlns:p14="http://schemas.microsoft.com/office/powerpoint/2010/main" val="2144389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Pasteurization</a:t>
            </a:r>
          </a:p>
        </p:txBody>
      </p:sp>
      <p:sp>
        <p:nvSpPr>
          <p:cNvPr id="3" name="Content Placeholder 2"/>
          <p:cNvSpPr>
            <a:spLocks noGrp="1"/>
          </p:cNvSpPr>
          <p:nvPr>
            <p:ph idx="1"/>
          </p:nvPr>
        </p:nvSpPr>
        <p:spPr/>
        <p:txBody>
          <a:bodyPr/>
          <a:lstStyle/>
          <a:p>
            <a:pPr>
              <a:lnSpc>
                <a:spcPct val="90000"/>
              </a:lnSpc>
            </a:pPr>
            <a:r>
              <a:rPr lang="en-US" dirty="0"/>
              <a:t>Controlled heating at temperatures well below </a:t>
            </a:r>
            <a:r>
              <a:rPr lang="en-US" dirty="0" smtClean="0"/>
              <a:t>boiling</a:t>
            </a:r>
          </a:p>
          <a:p>
            <a:pPr marL="0" indent="0">
              <a:lnSpc>
                <a:spcPct val="90000"/>
              </a:lnSpc>
              <a:buNone/>
            </a:pPr>
            <a:endParaRPr lang="en-US" dirty="0"/>
          </a:p>
          <a:p>
            <a:pPr>
              <a:lnSpc>
                <a:spcPct val="90000"/>
              </a:lnSpc>
            </a:pPr>
            <a:r>
              <a:rPr lang="en-US" dirty="0"/>
              <a:t>Used for milk, beer, and other </a:t>
            </a:r>
            <a:r>
              <a:rPr lang="en-US" dirty="0" smtClean="0"/>
              <a:t>beverages</a:t>
            </a:r>
          </a:p>
          <a:p>
            <a:pPr marL="0" indent="0">
              <a:lnSpc>
                <a:spcPct val="90000"/>
              </a:lnSpc>
              <a:buNone/>
            </a:pPr>
            <a:endParaRPr lang="en-US" dirty="0"/>
          </a:p>
          <a:p>
            <a:pPr>
              <a:lnSpc>
                <a:spcPct val="90000"/>
              </a:lnSpc>
            </a:pPr>
            <a:r>
              <a:rPr lang="en-US" dirty="0"/>
              <a:t>Process does not sterilize but does kill pathogens present and slow spoilage by reducing the total load of organisms present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spTree>
    <p:extLst>
      <p:ext uri="{BB962C8B-B14F-4D97-AF65-F5344CB8AC3E}">
        <p14:creationId xmlns:p14="http://schemas.microsoft.com/office/powerpoint/2010/main" val="2144389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Dry Heat Sterilization</a:t>
            </a:r>
          </a:p>
        </p:txBody>
      </p:sp>
      <p:sp>
        <p:nvSpPr>
          <p:cNvPr id="3" name="Content Placeholder 2"/>
          <p:cNvSpPr>
            <a:spLocks noGrp="1"/>
          </p:cNvSpPr>
          <p:nvPr>
            <p:ph idx="1"/>
          </p:nvPr>
        </p:nvSpPr>
        <p:spPr/>
        <p:txBody>
          <a:bodyPr/>
          <a:lstStyle/>
          <a:p>
            <a:r>
              <a:rPr lang="en-US" dirty="0"/>
              <a:t>Less effective than moist heat sterilization, requiring higher temperatures and longer exposure times</a:t>
            </a:r>
          </a:p>
          <a:p>
            <a:pPr lvl="1"/>
            <a:r>
              <a:rPr lang="en-US" dirty="0"/>
              <a:t>items subjected to 160–170</a:t>
            </a:r>
            <a:r>
              <a:rPr lang="en-US" baseline="30000" dirty="0"/>
              <a:t>o</a:t>
            </a:r>
            <a:r>
              <a:rPr lang="en-US" dirty="0"/>
              <a:t>C for 2 to 3 </a:t>
            </a:r>
            <a:r>
              <a:rPr lang="en-US" dirty="0" smtClean="0"/>
              <a:t>hours</a:t>
            </a:r>
          </a:p>
          <a:p>
            <a:pPr marL="457200" lvl="1" indent="0">
              <a:buNone/>
            </a:pPr>
            <a:endParaRPr lang="en-US" dirty="0"/>
          </a:p>
          <a:p>
            <a:r>
              <a:rPr lang="en-US" dirty="0"/>
              <a:t>Oxidizes cell constituents and denatures proteins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spTree>
    <p:extLst>
      <p:ext uri="{BB962C8B-B14F-4D97-AF65-F5344CB8AC3E}">
        <p14:creationId xmlns:p14="http://schemas.microsoft.com/office/powerpoint/2010/main" val="214438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Dry Heat Incineration</a:t>
            </a:r>
          </a:p>
        </p:txBody>
      </p:sp>
      <p:sp>
        <p:nvSpPr>
          <p:cNvPr id="6" name="Content Placeholder 5"/>
          <p:cNvSpPr>
            <a:spLocks noGrp="1"/>
          </p:cNvSpPr>
          <p:nvPr>
            <p:ph sz="half" idx="1"/>
          </p:nvPr>
        </p:nvSpPr>
        <p:spPr>
          <a:xfrm>
            <a:off x="152400" y="1524000"/>
            <a:ext cx="3657600" cy="5029200"/>
          </a:xfrm>
        </p:spPr>
        <p:txBody>
          <a:bodyPr>
            <a:normAutofit lnSpcReduction="10000"/>
          </a:bodyPr>
          <a:lstStyle/>
          <a:p>
            <a:r>
              <a:rPr lang="en-US" dirty="0"/>
              <a:t>Bench top incinerators are used to sterilize inoculating loops used in microbiology laboratories</a:t>
            </a:r>
            <a:br>
              <a:rPr lang="en-US" dirty="0"/>
            </a:br>
            <a:endParaRPr lang="en-US" dirty="0"/>
          </a:p>
          <a:p>
            <a:r>
              <a:rPr lang="en-US" dirty="0"/>
              <a:t>Note that dry heat sterilization and dry heat incineration are different control methods!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pic>
        <p:nvPicPr>
          <p:cNvPr id="8" name="Picture 9" descr="Photo of a dry heat incinerator.  The incinerator shown here is a bench-top appliance that reaches high enough temperature inside the chamber to sterilize inoculating loops used in microbiology laboratories." title="Figure 8.8 Dry Heat Incineration."/>
          <p:cNvPicPr>
            <a:picLocks noGrp="1" noChangeAspect="1" noChangeArrowheads="1"/>
          </p:cNvPicPr>
          <p:nvPr>
            <p:ph sz="half" idx="2"/>
          </p:nvPr>
        </p:nvPicPr>
        <p:blipFill>
          <a:blip r:embed="rId2" cstate="print"/>
          <a:stretch>
            <a:fillRect/>
          </a:stretch>
        </p:blipFill>
        <p:spPr bwMode="auto">
          <a:xfrm>
            <a:off x="3878628" y="1676400"/>
            <a:ext cx="5167534"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389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Ultraviolet (UV) Radiation</a:t>
            </a:r>
          </a:p>
        </p:txBody>
      </p:sp>
      <p:sp>
        <p:nvSpPr>
          <p:cNvPr id="3" name="Content Placeholder 2"/>
          <p:cNvSpPr>
            <a:spLocks noGrp="1"/>
          </p:cNvSpPr>
          <p:nvPr>
            <p:ph idx="1"/>
          </p:nvPr>
        </p:nvSpPr>
        <p:spPr/>
        <p:txBody>
          <a:bodyPr>
            <a:normAutofit fontScale="85000" lnSpcReduction="10000"/>
          </a:bodyPr>
          <a:lstStyle/>
          <a:p>
            <a:r>
              <a:rPr lang="en-US" dirty="0"/>
              <a:t>Wavelength of 260 is most bactericidal (DNA absorbs</a:t>
            </a:r>
            <a:r>
              <a:rPr lang="en-US" dirty="0" smtClean="0"/>
              <a:t>)</a:t>
            </a:r>
          </a:p>
          <a:p>
            <a:pPr marL="0" indent="0">
              <a:buNone/>
            </a:pPr>
            <a:endParaRPr lang="en-US" dirty="0"/>
          </a:p>
          <a:p>
            <a:r>
              <a:rPr lang="en-US" dirty="0"/>
              <a:t>Causes thymine dimers preventing replication and </a:t>
            </a:r>
            <a:r>
              <a:rPr lang="en-US" dirty="0" smtClean="0"/>
              <a:t>transcription</a:t>
            </a:r>
          </a:p>
          <a:p>
            <a:pPr marL="0" indent="0">
              <a:buNone/>
            </a:pPr>
            <a:endParaRPr lang="en-US" dirty="0"/>
          </a:p>
          <a:p>
            <a:r>
              <a:rPr lang="en-US" dirty="0"/>
              <a:t>UV limited to surface sterilization because it does not penetrate glass, dirt films, water, and other </a:t>
            </a:r>
            <a:r>
              <a:rPr lang="en-US" dirty="0" smtClean="0"/>
              <a:t>substances</a:t>
            </a:r>
          </a:p>
          <a:p>
            <a:pPr marL="0" indent="0">
              <a:buNone/>
            </a:pPr>
            <a:endParaRPr lang="en-US" dirty="0"/>
          </a:p>
          <a:p>
            <a:r>
              <a:rPr lang="en-US" dirty="0"/>
              <a:t>Has been used for water treatment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spTree>
    <p:extLst>
      <p:ext uri="{BB962C8B-B14F-4D97-AF65-F5344CB8AC3E}">
        <p14:creationId xmlns:p14="http://schemas.microsoft.com/office/powerpoint/2010/main" val="2144389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Ionizing Radiation</a:t>
            </a:r>
            <a:endParaRPr lang="en-US" dirty="0"/>
          </a:p>
        </p:txBody>
      </p:sp>
      <p:sp>
        <p:nvSpPr>
          <p:cNvPr id="6" name="Content Placeholder 5"/>
          <p:cNvSpPr>
            <a:spLocks noGrp="1"/>
          </p:cNvSpPr>
          <p:nvPr>
            <p:ph sz="half" idx="1"/>
          </p:nvPr>
        </p:nvSpPr>
        <p:spPr>
          <a:xfrm>
            <a:off x="0" y="1524000"/>
            <a:ext cx="4038600" cy="5105400"/>
          </a:xfrm>
        </p:spPr>
        <p:txBody>
          <a:bodyPr>
            <a:normAutofit lnSpcReduction="10000"/>
          </a:bodyPr>
          <a:lstStyle/>
          <a:p>
            <a:pPr>
              <a:lnSpc>
                <a:spcPct val="90000"/>
              </a:lnSpc>
            </a:pPr>
            <a:r>
              <a:rPr lang="en-US" dirty="0"/>
              <a:t>Gamma radiation penetrates deep into objects</a:t>
            </a:r>
            <a:br>
              <a:rPr lang="en-US" dirty="0"/>
            </a:br>
            <a:endParaRPr lang="en-US" dirty="0"/>
          </a:p>
          <a:p>
            <a:pPr>
              <a:lnSpc>
                <a:spcPct val="90000"/>
              </a:lnSpc>
            </a:pPr>
            <a:r>
              <a:rPr lang="en-US" dirty="0"/>
              <a:t>Destroys bacterial endospores; not always effective against viruses</a:t>
            </a:r>
            <a:br>
              <a:rPr lang="en-US" dirty="0"/>
            </a:br>
            <a:endParaRPr lang="en-US" dirty="0"/>
          </a:p>
          <a:p>
            <a:pPr>
              <a:lnSpc>
                <a:spcPct val="90000"/>
              </a:lnSpc>
            </a:pPr>
            <a:r>
              <a:rPr lang="en-US" dirty="0"/>
              <a:t>Used for sterilization and pasteurization of antibiotics, hormones, sutures, plastic disposable supplies, and food</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pic>
        <p:nvPicPr>
          <p:cNvPr id="8" name="Content Placeholder 7" descr="This figure is a cutaway view of an irradiation machine that uses radioactive cobalt 60 as a gamma radiation source to sterilize fruits, vegetables, meats, fish, and spices.  It identifies the radioactive source (underground), the radiation room, chamber with radiation shield, and conveyor system with pallets of sterilized materials being picked up by forklift for transportation and storage." title="Figure 8.9 Sterilization with Ionizing Radiation."/>
          <p:cNvPicPr>
            <a:picLocks noGrp="1" noChangeAspect="1" noChangeArrowheads="1"/>
          </p:cNvPicPr>
          <p:nvPr>
            <p:ph sz="half" idx="2"/>
          </p:nvPr>
        </p:nvPicPr>
        <p:blipFill>
          <a:blip r:embed="rId2" cstate="print"/>
          <a:stretch>
            <a:fillRect/>
          </a:stretch>
        </p:blipFill>
        <p:spPr bwMode="auto">
          <a:xfrm>
            <a:off x="4087393" y="1905000"/>
            <a:ext cx="4940424" cy="331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389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8.5 Microorganisms Are Controlled </a:t>
            </a:r>
            <a:br>
              <a:rPr lang="en-US" dirty="0" smtClean="0"/>
            </a:br>
            <a:r>
              <a:rPr lang="en-US" dirty="0" smtClean="0"/>
              <a:t>With Chemical Agents</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10000"/>
          </a:bodyPr>
          <a:lstStyle/>
          <a:p>
            <a:pPr marL="514350" indent="-514350">
              <a:buFont typeface="+mj-lt"/>
              <a:buAutoNum type="arabicPeriod"/>
            </a:pPr>
            <a:r>
              <a:rPr lang="en-US" dirty="0"/>
              <a:t>Describe the use of </a:t>
            </a:r>
            <a:r>
              <a:rPr lang="en-US" dirty="0" err="1"/>
              <a:t>phenolics</a:t>
            </a:r>
            <a:r>
              <a:rPr lang="en-US" dirty="0"/>
              <a:t>, alcohols, halogens, heavy metals, quaternary ammonium </a:t>
            </a:r>
            <a:r>
              <a:rPr lang="en-US" dirty="0" smtClean="0"/>
              <a:t>chlorides, </a:t>
            </a:r>
            <a:r>
              <a:rPr lang="en-US" dirty="0"/>
              <a:t>aldehydes, and oxides to control </a:t>
            </a:r>
            <a:r>
              <a:rPr lang="en-US" dirty="0" smtClean="0"/>
              <a:t>microorganisms</a:t>
            </a:r>
            <a:br>
              <a:rPr lang="en-US" dirty="0" smtClean="0"/>
            </a:br>
            <a:endParaRPr lang="en-US" dirty="0"/>
          </a:p>
          <a:p>
            <a:pPr marL="514350" indent="-514350">
              <a:buFont typeface="+mj-lt"/>
              <a:buAutoNum type="arabicPeriod"/>
            </a:pPr>
            <a:r>
              <a:rPr lang="en-US" dirty="0"/>
              <a:t>Explain the mechanisms of action for </a:t>
            </a:r>
            <a:r>
              <a:rPr lang="en-US" dirty="0" err="1"/>
              <a:t>phenolics</a:t>
            </a:r>
            <a:r>
              <a:rPr lang="en-US" dirty="0"/>
              <a:t>, alcohols, halogens, heavy metals, quaternary ammonium </a:t>
            </a:r>
            <a:r>
              <a:rPr lang="en-US" dirty="0" smtClean="0"/>
              <a:t>chlorides, </a:t>
            </a:r>
            <a:r>
              <a:rPr lang="en-US" dirty="0"/>
              <a:t>aldehydes, and </a:t>
            </a:r>
            <a:r>
              <a:rPr lang="en-US" dirty="0" smtClean="0"/>
              <a:t>oxides</a:t>
            </a:r>
            <a:br>
              <a:rPr lang="en-US" dirty="0" smtClean="0"/>
            </a:br>
            <a:endParaRPr lang="en-US" dirty="0"/>
          </a:p>
          <a:p>
            <a:pPr marL="514350" indent="-514350">
              <a:buFont typeface="+mj-lt"/>
              <a:buAutoNum type="arabicPeriod"/>
            </a:pPr>
            <a:r>
              <a:rPr lang="en-US" dirty="0"/>
              <a:t>Design novel antimicrobial control applications using </a:t>
            </a:r>
            <a:r>
              <a:rPr lang="en-US" dirty="0" err="1"/>
              <a:t>phenolics</a:t>
            </a:r>
            <a:r>
              <a:rPr lang="en-US" dirty="0"/>
              <a:t>, alcohols, halogens, heavy metals, quaternary ammonium </a:t>
            </a:r>
            <a:r>
              <a:rPr lang="en-US" dirty="0" smtClean="0"/>
              <a:t>chlorides, </a:t>
            </a:r>
            <a:r>
              <a:rPr lang="en-US" dirty="0"/>
              <a:t>aldehydes, and oxides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2144389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Chemical Control </a:t>
            </a:r>
            <a:r>
              <a:rPr lang="en-US" dirty="0" smtClean="0"/>
              <a:t>Agents and Their Requirements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Disinfection</a:t>
            </a:r>
          </a:p>
          <a:p>
            <a:pPr lvl="1"/>
            <a:r>
              <a:rPr lang="en-US" dirty="0"/>
              <a:t>must be effective against wide variety of infectious agents at low </a:t>
            </a:r>
            <a:r>
              <a:rPr lang="en-US" dirty="0" smtClean="0"/>
              <a:t>concentrations</a:t>
            </a:r>
          </a:p>
          <a:p>
            <a:pPr marL="457200" lvl="1" indent="0">
              <a:buNone/>
            </a:pPr>
            <a:endParaRPr lang="en-US" dirty="0"/>
          </a:p>
          <a:p>
            <a:r>
              <a:rPr lang="en-US" dirty="0" smtClean="0"/>
              <a:t>Antisepsis</a:t>
            </a:r>
          </a:p>
          <a:p>
            <a:pPr lvl="1"/>
            <a:r>
              <a:rPr lang="en-US" dirty="0"/>
              <a:t>Overuse of antiseptics such as </a:t>
            </a:r>
            <a:r>
              <a:rPr lang="en-US" dirty="0" err="1"/>
              <a:t>triclosan</a:t>
            </a:r>
            <a:r>
              <a:rPr lang="en-US" dirty="0"/>
              <a:t> has selected for </a:t>
            </a:r>
            <a:r>
              <a:rPr lang="en-US" dirty="0" err="1"/>
              <a:t>triclosan</a:t>
            </a:r>
            <a:r>
              <a:rPr lang="en-US" dirty="0"/>
              <a:t> resistant bacteria and possibly antibiotic </a:t>
            </a:r>
            <a:r>
              <a:rPr lang="en-US" dirty="0" smtClean="0"/>
              <a:t>resistant</a:t>
            </a:r>
          </a:p>
          <a:p>
            <a:pPr marL="457200" lvl="1" indent="0">
              <a:buNone/>
            </a:pPr>
            <a:endParaRPr lang="en-US" dirty="0"/>
          </a:p>
          <a:p>
            <a:r>
              <a:rPr lang="en-US" dirty="0" smtClean="0"/>
              <a:t>Sterilization</a:t>
            </a:r>
          </a:p>
          <a:p>
            <a:pPr marL="0" indent="0">
              <a:buNone/>
            </a:pPr>
            <a:endParaRPr lang="en-US" dirty="0" smtClean="0"/>
          </a:p>
          <a:p>
            <a:pPr>
              <a:lnSpc>
                <a:spcPct val="90000"/>
              </a:lnSpc>
            </a:pPr>
            <a:r>
              <a:rPr lang="en-US" dirty="0" smtClean="0"/>
              <a:t>Whichever chemical is used, it must </a:t>
            </a:r>
            <a:r>
              <a:rPr lang="en-US" dirty="0"/>
              <a:t>be effective in the presence of organic matter; should be stable in storage</a:t>
            </a:r>
          </a:p>
          <a:p>
            <a:endParaRPr lang="en-US"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spTree>
    <p:extLst>
      <p:ext uri="{BB962C8B-B14F-4D97-AF65-F5344CB8AC3E}">
        <p14:creationId xmlns:p14="http://schemas.microsoft.com/office/powerpoint/2010/main" val="2144389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305800" cy="838200"/>
          </a:xfrm>
        </p:spPr>
        <p:txBody>
          <a:bodyPr>
            <a:normAutofit fontScale="90000"/>
          </a:bodyPr>
          <a:lstStyle/>
          <a:p>
            <a:r>
              <a:rPr lang="en-US" dirty="0"/>
              <a:t>Activity Levels of Different Chemicals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25</a:t>
            </a:fld>
            <a:endParaRPr lang="en-US"/>
          </a:p>
        </p:txBody>
      </p:sp>
      <p:pic>
        <p:nvPicPr>
          <p:cNvPr id="7" name="Picture 5" descr="Header Row: Class, Use Concentration of Active Ingredient, Activity Level (see note at bottom)&#10;Subheading: Gas&#10;Ethylene oxide, 450–500 mg/L (in autoclave-type equipment at 55-60 degrees C), High&#10;Subheading: Liquid&#10;Aqueous Glutaraldehyde, 2–8%, High to intermediate&#10;Formaldehyde + alcohol, 8 + 70%, High to intermediate&#10;Stabilized hydrogen peroxide, 6–30%, High to intermediate&#10;Aqueous Formaldehyde, 6–8%, High to intermediate&#10;High concentration Iodophors, 5,000–10,000 mg/L available iodine, High to intermediate&#10;Low concentration Iodophors, 75–150 mg/L available iodine, Intermediate to low&#10;Iodine + alcohol, 0.5 + 70%, Intermediate&#10;Chlorine compounds, 500–5,000 mg/L free chlorine, Intermediate&#10;Aqueous Phenolic compounds, 0.5–3%, Intermediate to low&#10;Aqueous Iodine, 1%, Intermediate&#10;Alcohols (ethyl, isopropyl), 62–70%, Intermediate&#10;Quaternary ammonium compounds, 0.1–0.2% aqueous, Low&#10;Chlorhexidine, 0.75–4%, Low&#10;Hexachlorophene, 1–3%, Low&#10;Mercurial compounds, 0.1–0.2%, Low&#10;&#10;High-level disinfectants destroy vegetative bacterial cells including M. tuberculosis, bacterial endospores, fungi, and viruses. Intermediate-level disinfectants destroy all of the above except spores. Low-level agents kill bacterial vegetative cells except for M. tuberculosis, fungi, and medium-sized lipid-containing viruses (but not bacterial endospores or small, nonlipid viruses)." title="Table 8.3 Activity Level of Selected Biocides"/>
          <p:cNvPicPr>
            <a:picLocks noGrp="1" noChangeAspect="1" noChangeArrowheads="1"/>
          </p:cNvPicPr>
          <p:nvPr>
            <p:ph idx="1"/>
          </p:nvPr>
        </p:nvPicPr>
        <p:blipFill>
          <a:blip r:embed="rId2" cstate="print"/>
          <a:stretch>
            <a:fillRect/>
          </a:stretch>
        </p:blipFill>
        <p:spPr bwMode="auto">
          <a:xfrm>
            <a:off x="1295400" y="930467"/>
            <a:ext cx="6665852" cy="585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214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152400" y="0"/>
            <a:ext cx="8839200" cy="1143000"/>
          </a:xfrm>
        </p:spPr>
        <p:txBody>
          <a:bodyPr>
            <a:normAutofit/>
          </a:bodyPr>
          <a:lstStyle/>
          <a:p>
            <a:r>
              <a:rPr lang="en-US" sz="3600" dirty="0" smtClean="0"/>
              <a:t>Efficiency of Different Chemical Compounds</a:t>
            </a:r>
            <a:endParaRPr lang="en-US" sz="3600"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26</a:t>
            </a:fld>
            <a:endParaRPr lang="en-US"/>
          </a:p>
        </p:txBody>
      </p:sp>
      <p:pic>
        <p:nvPicPr>
          <p:cNvPr id="7" name="Picture 5" descr="Heading row: Class, Disinfectant (Subjective ratings of practical usefulness in a hospital environment: 4 is maximal usefulness; 0 is little or no usefulness; ± signifies that the substance is sometimes useful), Antiseptic, Comment&#10;Subheading: Gas&#10;Ethylene oxide, 3–4, 0, Sporicidal; toxic; good penetration; requires relative humidity of 30% or more; microbicidal activity varies with apparatus used; absorbed by porous material; dry spores highly resistant; presoaking is most desirable&#10;Subheading: Liquid   &#10;Aqueous Glutaraldehyde, 3, 0, Sporicidal; active solution unstable; toxic&#10;Stabilized hydrogen peroxide, 3, 0, Sporicidal; solution stable up to 6 weeks; toxic orally and to eyes; mildly skin toxic; little inactivation by organic matter&#10;Formaldehyde + alcohol, 3, 0, Sporicidal; noxious fumes; toxic; volatile&#10;Aqueous Formaldehyde, 1–2, 0, Sporicidal; noxious fumes; toxic&#10;Phenolic compounds, 3, 0, Stable; corrosive; little inactivation by organic matter; irritates skin&#10;Chlorine compounds, 1–2, 0, Fast action; inactivation by organic matter; corrosive; irritates skin&#10;Alcohol, 1, 3, Rapidly microbicidal except for bacterial spores and some viruses; volatile; flammable; dries and irritates skin&#10;Iodine + alcohol, 0, 4, Corrosive; very rapidly microbicidal; causes staining; irritates skin; flammable&#10;Iodophors, 1–2, 3, Somewhat unstable; relatively bland; staining temporary; corrosive&#10;Aqueous Iodine, 0, 2, Rapidly microbicidal; corrosive; stains fabrics; stains and irritates skin&#10;Quaternary ammonium compounds, 1, 0, Inactivated by soap and anionics; compounds absorbed by fabrics; old or dilute solution can support growth of Gram-negative bacteria&#10;Hexachlorophene, 0, 2, Insoluble in water, soluble in alcohol; not inactivated by soap; weakly bactericidal&#10;Chlorhexidine, 0, 3, Soluble in water and alcohol; weakly bactericidal&#10;Mercurial compounds, 0, ±, Greatly inactivated by organic matter; weakly bactericidal" title="Figure 8.4 Relative Efficacy of Commonly Used Disinfectants and Antiseptics."/>
          <p:cNvPicPr>
            <a:picLocks noGrp="1" noChangeAspect="1" noChangeArrowheads="1"/>
          </p:cNvPicPr>
          <p:nvPr>
            <p:ph idx="1"/>
          </p:nvPr>
        </p:nvPicPr>
        <p:blipFill>
          <a:blip r:embed="rId2" cstate="print"/>
          <a:stretch>
            <a:fillRect/>
          </a:stretch>
        </p:blipFill>
        <p:spPr bwMode="auto">
          <a:xfrm>
            <a:off x="1487959" y="1219200"/>
            <a:ext cx="6177353" cy="5524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9356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err="1"/>
              <a:t>Phenolics</a:t>
            </a:r>
            <a:endParaRPr lang="en-US" dirty="0"/>
          </a:p>
        </p:txBody>
      </p:sp>
      <p:sp>
        <p:nvSpPr>
          <p:cNvPr id="7" name="Content Placeholder 6"/>
          <p:cNvSpPr>
            <a:spLocks noGrp="1"/>
          </p:cNvSpPr>
          <p:nvPr>
            <p:ph sz="half" idx="2"/>
          </p:nvPr>
        </p:nvSpPr>
        <p:spPr>
          <a:xfrm>
            <a:off x="152400" y="4160837"/>
            <a:ext cx="8839200" cy="2544763"/>
          </a:xfrm>
        </p:spPr>
        <p:txBody>
          <a:bodyPr>
            <a:normAutofit fontScale="77500" lnSpcReduction="20000"/>
          </a:bodyPr>
          <a:lstStyle/>
          <a:p>
            <a:r>
              <a:rPr lang="en-US" dirty="0"/>
              <a:t>Commonly used as laboratory and hospital disinfectants</a:t>
            </a:r>
            <a:br>
              <a:rPr lang="en-US" dirty="0"/>
            </a:br>
            <a:endParaRPr lang="en-US" dirty="0"/>
          </a:p>
          <a:p>
            <a:r>
              <a:rPr lang="en-US" dirty="0"/>
              <a:t>Act by denaturing proteins and disrupting cell membranes</a:t>
            </a:r>
            <a:br>
              <a:rPr lang="en-US" dirty="0"/>
            </a:br>
            <a:endParaRPr lang="en-US" dirty="0"/>
          </a:p>
          <a:p>
            <a:r>
              <a:rPr lang="en-US" dirty="0" err="1"/>
              <a:t>Tuberculocidal</a:t>
            </a:r>
            <a:r>
              <a:rPr lang="en-US" dirty="0"/>
              <a:t>, effective in presence of organic material, and long lasting</a:t>
            </a:r>
            <a:br>
              <a:rPr lang="en-US" dirty="0"/>
            </a:br>
            <a:endParaRPr lang="en-US" dirty="0"/>
          </a:p>
          <a:p>
            <a:r>
              <a:rPr lang="en-US" dirty="0"/>
              <a:t>Disagreeable odor and can cause skin irritation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pic>
        <p:nvPicPr>
          <p:cNvPr id="8" name="Picture 2" descr="This section of the figure shows the chemical structures of some frequently used phenolics: phenol, orthocresol, triclosan, and hexachlorophene." title="Figure 8.10 Disinfectants and Antiseptics."/>
          <p:cNvPicPr>
            <a:picLocks noGrp="1" noChangeAspect="1" noChangeArrowheads="1"/>
          </p:cNvPicPr>
          <p:nvPr>
            <p:ph sz="half" idx="1"/>
          </p:nvPr>
        </p:nvPicPr>
        <p:blipFill>
          <a:blip r:embed="rId2" cstate="print"/>
          <a:stretch>
            <a:fillRect/>
          </a:stretch>
        </p:blipFill>
        <p:spPr bwMode="auto">
          <a:xfrm>
            <a:off x="228600" y="1143000"/>
            <a:ext cx="8672129" cy="2766604"/>
          </a:xfrm>
          <a:prstGeom prst="rect">
            <a:avLst/>
          </a:prstGeom>
          <a:noFill/>
        </p:spPr>
      </p:pic>
    </p:spTree>
    <p:extLst>
      <p:ext uri="{BB962C8B-B14F-4D97-AF65-F5344CB8AC3E}">
        <p14:creationId xmlns:p14="http://schemas.microsoft.com/office/powerpoint/2010/main" val="747419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smtClean="0"/>
              <a:t>Alcohols</a:t>
            </a:r>
            <a:endParaRPr lang="en-US" dirty="0"/>
          </a:p>
        </p:txBody>
      </p:sp>
      <p:sp>
        <p:nvSpPr>
          <p:cNvPr id="7" name="Content Placeholder 6"/>
          <p:cNvSpPr>
            <a:spLocks noGrp="1"/>
          </p:cNvSpPr>
          <p:nvPr>
            <p:ph sz="half" idx="2"/>
          </p:nvPr>
        </p:nvSpPr>
        <p:spPr>
          <a:xfrm>
            <a:off x="152400" y="3810000"/>
            <a:ext cx="8915400" cy="2925763"/>
          </a:xfrm>
        </p:spPr>
        <p:txBody>
          <a:bodyPr>
            <a:normAutofit fontScale="85000" lnSpcReduction="20000"/>
          </a:bodyPr>
          <a:lstStyle/>
          <a:p>
            <a:pPr>
              <a:lnSpc>
                <a:spcPct val="90000"/>
              </a:lnSpc>
            </a:pPr>
            <a:r>
              <a:rPr lang="en-US" dirty="0"/>
              <a:t>Among the most widely used disinfectants and antiseptics</a:t>
            </a:r>
            <a:br>
              <a:rPr lang="en-US" dirty="0"/>
            </a:br>
            <a:endParaRPr lang="en-US" dirty="0"/>
          </a:p>
          <a:p>
            <a:pPr>
              <a:lnSpc>
                <a:spcPct val="90000"/>
              </a:lnSpc>
            </a:pPr>
            <a:r>
              <a:rPr lang="en-US" dirty="0"/>
              <a:t>Two most common are ethanol and isopropanol</a:t>
            </a:r>
            <a:br>
              <a:rPr lang="en-US" dirty="0"/>
            </a:br>
            <a:endParaRPr lang="en-US" dirty="0"/>
          </a:p>
          <a:p>
            <a:pPr>
              <a:lnSpc>
                <a:spcPct val="90000"/>
              </a:lnSpc>
            </a:pPr>
            <a:r>
              <a:rPr lang="en-US" dirty="0"/>
              <a:t>Bactericidal, fungicidal, but not sporicidal</a:t>
            </a:r>
            <a:br>
              <a:rPr lang="en-US" dirty="0"/>
            </a:br>
            <a:endParaRPr lang="en-US" dirty="0"/>
          </a:p>
          <a:p>
            <a:pPr>
              <a:lnSpc>
                <a:spcPct val="90000"/>
              </a:lnSpc>
            </a:pPr>
            <a:r>
              <a:rPr lang="en-US" dirty="0"/>
              <a:t>Inactivate some viruses</a:t>
            </a:r>
            <a:br>
              <a:rPr lang="en-US" dirty="0"/>
            </a:br>
            <a:endParaRPr lang="en-US" dirty="0"/>
          </a:p>
          <a:p>
            <a:pPr>
              <a:lnSpc>
                <a:spcPct val="90000"/>
              </a:lnSpc>
            </a:pPr>
            <a:r>
              <a:rPr lang="en-US" dirty="0"/>
              <a:t>Denature proteins and possibly dissolve membrane lipids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pic>
        <p:nvPicPr>
          <p:cNvPr id="8" name="Picture 2" descr="This section of the figure shows the chemical structures of some frequently used alcohols: ethanol and isopropanol." title="Figure 8.10 Disinfectants and Antiseptics."/>
          <p:cNvPicPr>
            <a:picLocks noGrp="1" noChangeAspect="1" noChangeArrowheads="1"/>
          </p:cNvPicPr>
          <p:nvPr>
            <p:ph sz="half" idx="1"/>
          </p:nvPr>
        </p:nvPicPr>
        <p:blipFill>
          <a:blip r:embed="rId2" cstate="print"/>
          <a:stretch>
            <a:fillRect/>
          </a:stretch>
        </p:blipFill>
        <p:spPr bwMode="auto">
          <a:xfrm>
            <a:off x="76200" y="1447800"/>
            <a:ext cx="8935208" cy="1929862"/>
          </a:xfrm>
          <a:prstGeom prst="rect">
            <a:avLst/>
          </a:prstGeom>
          <a:noFill/>
        </p:spPr>
      </p:pic>
    </p:spTree>
    <p:extLst>
      <p:ext uri="{BB962C8B-B14F-4D97-AF65-F5344CB8AC3E}">
        <p14:creationId xmlns:p14="http://schemas.microsoft.com/office/powerpoint/2010/main" val="2557305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Halogens</a:t>
            </a:r>
          </a:p>
        </p:txBody>
      </p:sp>
      <p:sp>
        <p:nvSpPr>
          <p:cNvPr id="6" name="Content Placeholder 5"/>
          <p:cNvSpPr>
            <a:spLocks noGrp="1"/>
          </p:cNvSpPr>
          <p:nvPr>
            <p:ph sz="half" idx="1"/>
          </p:nvPr>
        </p:nvSpPr>
        <p:spPr>
          <a:xfrm>
            <a:off x="228600" y="1447801"/>
            <a:ext cx="8763000" cy="2438400"/>
          </a:xfrm>
        </p:spPr>
        <p:txBody>
          <a:bodyPr>
            <a:normAutofit/>
          </a:bodyPr>
          <a:lstStyle/>
          <a:p>
            <a:r>
              <a:rPr lang="en-US" dirty="0"/>
              <a:t>Any of five elements: fluorine, chlorine, bromine, iodine, and astatine </a:t>
            </a:r>
            <a:br>
              <a:rPr lang="en-US" dirty="0"/>
            </a:br>
            <a:endParaRPr lang="en-US" dirty="0"/>
          </a:p>
          <a:p>
            <a:r>
              <a:rPr lang="en-US" dirty="0"/>
              <a:t>Important antimicrobial agents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pic>
        <p:nvPicPr>
          <p:cNvPr id="8" name="Picture 2" descr="This section of the figure shows the chemical structures of a frequently used halogenated compound: halazone." title="Figure 8.10 Disinfectants and Antiseptics."/>
          <p:cNvPicPr>
            <a:picLocks noGrp="1" noChangeAspect="1" noChangeArrowheads="1"/>
          </p:cNvPicPr>
          <p:nvPr>
            <p:ph sz="half" idx="2"/>
          </p:nvPr>
        </p:nvPicPr>
        <p:blipFill>
          <a:blip r:embed="rId2" cstate="print"/>
          <a:stretch>
            <a:fillRect/>
          </a:stretch>
        </p:blipFill>
        <p:spPr bwMode="auto">
          <a:xfrm>
            <a:off x="76200" y="4191000"/>
            <a:ext cx="9022682" cy="2556624"/>
          </a:xfrm>
          <a:prstGeom prst="rect">
            <a:avLst/>
          </a:prstGeom>
          <a:noFill/>
        </p:spPr>
      </p:pic>
    </p:spTree>
    <p:extLst>
      <p:ext uri="{BB962C8B-B14F-4D97-AF65-F5344CB8AC3E}">
        <p14:creationId xmlns:p14="http://schemas.microsoft.com/office/powerpoint/2010/main" val="2557305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Halogens - Iodine</a:t>
            </a:r>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a:lnSpc>
                <a:spcPct val="90000"/>
              </a:lnSpc>
            </a:pPr>
            <a:r>
              <a:rPr lang="en-US" dirty="0"/>
              <a:t>Skin </a:t>
            </a:r>
            <a:r>
              <a:rPr lang="en-US" dirty="0" smtClean="0"/>
              <a:t>antiseptic</a:t>
            </a:r>
          </a:p>
          <a:p>
            <a:pPr marL="0" indent="0">
              <a:lnSpc>
                <a:spcPct val="90000"/>
              </a:lnSpc>
              <a:buNone/>
            </a:pPr>
            <a:endParaRPr lang="en-US" dirty="0"/>
          </a:p>
          <a:p>
            <a:pPr>
              <a:lnSpc>
                <a:spcPct val="90000"/>
              </a:lnSpc>
            </a:pPr>
            <a:r>
              <a:rPr lang="en-US" dirty="0"/>
              <a:t>Oxidizes cell constituents and iodinates </a:t>
            </a:r>
            <a:r>
              <a:rPr lang="en-US" dirty="0" smtClean="0"/>
              <a:t>proteins</a:t>
            </a:r>
          </a:p>
          <a:p>
            <a:pPr marL="0" indent="0">
              <a:lnSpc>
                <a:spcPct val="90000"/>
              </a:lnSpc>
              <a:buNone/>
            </a:pPr>
            <a:endParaRPr lang="en-US" dirty="0"/>
          </a:p>
          <a:p>
            <a:pPr>
              <a:lnSpc>
                <a:spcPct val="90000"/>
              </a:lnSpc>
            </a:pPr>
            <a:r>
              <a:rPr lang="en-US" dirty="0"/>
              <a:t>At high concentrations may kill </a:t>
            </a:r>
            <a:r>
              <a:rPr lang="en-US" dirty="0" smtClean="0"/>
              <a:t>spores</a:t>
            </a:r>
          </a:p>
          <a:p>
            <a:pPr marL="0" indent="0">
              <a:lnSpc>
                <a:spcPct val="90000"/>
              </a:lnSpc>
              <a:buNone/>
            </a:pPr>
            <a:endParaRPr lang="en-US" dirty="0"/>
          </a:p>
          <a:p>
            <a:pPr>
              <a:lnSpc>
                <a:spcPct val="90000"/>
              </a:lnSpc>
            </a:pPr>
            <a:r>
              <a:rPr lang="en-US" dirty="0"/>
              <a:t>Skin damage, staining, and allergies can be a </a:t>
            </a:r>
            <a:r>
              <a:rPr lang="en-US" dirty="0" smtClean="0"/>
              <a:t>problem</a:t>
            </a:r>
          </a:p>
          <a:p>
            <a:pPr marL="0" indent="0">
              <a:lnSpc>
                <a:spcPct val="90000"/>
              </a:lnSpc>
              <a:buNone/>
            </a:pPr>
            <a:endParaRPr lang="en-US" dirty="0"/>
          </a:p>
          <a:p>
            <a:pPr>
              <a:lnSpc>
                <a:spcPct val="90000"/>
              </a:lnSpc>
            </a:pPr>
            <a:r>
              <a:rPr lang="en-US" dirty="0" err="1"/>
              <a:t>Iodophore</a:t>
            </a:r>
            <a:endParaRPr lang="en-US" dirty="0"/>
          </a:p>
          <a:p>
            <a:pPr lvl="1">
              <a:lnSpc>
                <a:spcPct val="90000"/>
              </a:lnSpc>
            </a:pPr>
            <a:r>
              <a:rPr lang="en-US" dirty="0"/>
              <a:t>iodine complexed with organic carrier</a:t>
            </a:r>
          </a:p>
          <a:p>
            <a:pPr lvl="1">
              <a:lnSpc>
                <a:spcPct val="90000"/>
              </a:lnSpc>
            </a:pPr>
            <a:r>
              <a:rPr lang="en-US" dirty="0"/>
              <a:t>released slowly to minimize skin burns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spTree>
    <p:extLst>
      <p:ext uri="{BB962C8B-B14F-4D97-AF65-F5344CB8AC3E}">
        <p14:creationId xmlns:p14="http://schemas.microsoft.com/office/powerpoint/2010/main" val="2557305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Halogens - Chlorine</a:t>
            </a: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a:lnSpc>
                <a:spcPct val="90000"/>
              </a:lnSpc>
            </a:pPr>
            <a:r>
              <a:rPr lang="en-US" dirty="0"/>
              <a:t>Oxidizes cell </a:t>
            </a:r>
            <a:r>
              <a:rPr lang="en-US" dirty="0" smtClean="0"/>
              <a:t>constituents</a:t>
            </a:r>
          </a:p>
          <a:p>
            <a:pPr marL="0" indent="0">
              <a:lnSpc>
                <a:spcPct val="90000"/>
              </a:lnSpc>
              <a:buNone/>
            </a:pPr>
            <a:endParaRPr lang="en-US" dirty="0"/>
          </a:p>
          <a:p>
            <a:pPr>
              <a:lnSpc>
                <a:spcPct val="90000"/>
              </a:lnSpc>
            </a:pPr>
            <a:r>
              <a:rPr lang="en-US" dirty="0"/>
              <a:t>Important in disinfection of water supplies and swimming pools, used in dairy and food industries, effective household </a:t>
            </a:r>
            <a:r>
              <a:rPr lang="en-US" dirty="0" smtClean="0"/>
              <a:t>disinfectant</a:t>
            </a:r>
          </a:p>
          <a:p>
            <a:pPr marL="0" indent="0">
              <a:lnSpc>
                <a:spcPct val="90000"/>
              </a:lnSpc>
              <a:buNone/>
            </a:pPr>
            <a:endParaRPr lang="en-US" dirty="0"/>
          </a:p>
          <a:p>
            <a:pPr>
              <a:lnSpc>
                <a:spcPct val="90000"/>
              </a:lnSpc>
            </a:pPr>
            <a:r>
              <a:rPr lang="en-US" dirty="0"/>
              <a:t>Destroys vegetative bacteria and </a:t>
            </a:r>
            <a:r>
              <a:rPr lang="en-US" dirty="0" smtClean="0"/>
              <a:t>fungi</a:t>
            </a:r>
            <a:endParaRPr lang="en-US" dirty="0"/>
          </a:p>
          <a:p>
            <a:pPr marL="0" indent="0">
              <a:lnSpc>
                <a:spcPct val="90000"/>
              </a:lnSpc>
              <a:buNone/>
            </a:pPr>
            <a:endParaRPr lang="en-US" dirty="0"/>
          </a:p>
          <a:p>
            <a:pPr>
              <a:lnSpc>
                <a:spcPct val="90000"/>
              </a:lnSpc>
            </a:pPr>
            <a:r>
              <a:rPr lang="en-US" dirty="0"/>
              <a:t>Chlorine gas is </a:t>
            </a:r>
            <a:r>
              <a:rPr lang="en-US" dirty="0" smtClean="0"/>
              <a:t>sporicidal</a:t>
            </a:r>
          </a:p>
          <a:p>
            <a:pPr marL="0" indent="0">
              <a:lnSpc>
                <a:spcPct val="90000"/>
              </a:lnSpc>
              <a:buNone/>
            </a:pPr>
            <a:endParaRPr lang="en-US" dirty="0"/>
          </a:p>
          <a:p>
            <a:pPr>
              <a:lnSpc>
                <a:spcPct val="90000"/>
              </a:lnSpc>
            </a:pPr>
            <a:r>
              <a:rPr lang="en-US" dirty="0"/>
              <a:t>Can react with organic matter to form carcinogenic compounds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spTree>
    <p:extLst>
      <p:ext uri="{BB962C8B-B14F-4D97-AF65-F5344CB8AC3E}">
        <p14:creationId xmlns:p14="http://schemas.microsoft.com/office/powerpoint/2010/main" val="2557305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Heavy Metals</a:t>
            </a:r>
          </a:p>
        </p:txBody>
      </p:sp>
      <p:sp>
        <p:nvSpPr>
          <p:cNvPr id="3" name="Content Placeholder 2"/>
          <p:cNvSpPr>
            <a:spLocks noGrp="1"/>
          </p:cNvSpPr>
          <p:nvPr>
            <p:ph idx="1"/>
          </p:nvPr>
        </p:nvSpPr>
        <p:spPr/>
        <p:txBody>
          <a:bodyPr/>
          <a:lstStyle/>
          <a:p>
            <a:r>
              <a:rPr lang="en-US" dirty="0"/>
              <a:t>e.g</a:t>
            </a:r>
            <a:r>
              <a:rPr lang="en-US" dirty="0" smtClean="0"/>
              <a:t>. </a:t>
            </a:r>
            <a:r>
              <a:rPr lang="en-US" dirty="0"/>
              <a:t>ions of mercury, silver, arsenic, zinc, and </a:t>
            </a:r>
            <a:r>
              <a:rPr lang="en-US" dirty="0" smtClean="0"/>
              <a:t>copper</a:t>
            </a:r>
          </a:p>
          <a:p>
            <a:pPr marL="0" indent="0">
              <a:buNone/>
            </a:pPr>
            <a:endParaRPr lang="en-US" dirty="0"/>
          </a:p>
          <a:p>
            <a:r>
              <a:rPr lang="en-US" dirty="0"/>
              <a:t>Effective but usually </a:t>
            </a:r>
            <a:r>
              <a:rPr lang="en-US" dirty="0" smtClean="0"/>
              <a:t>toxic</a:t>
            </a:r>
          </a:p>
          <a:p>
            <a:pPr marL="0" indent="0">
              <a:buNone/>
            </a:pPr>
            <a:endParaRPr lang="en-US" dirty="0"/>
          </a:p>
          <a:p>
            <a:r>
              <a:rPr lang="en-US" dirty="0"/>
              <a:t>Combine with and inactivate proteins; may also precipitate proteins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2557305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Quaternary Ammonium Compounds</a:t>
            </a:r>
          </a:p>
        </p:txBody>
      </p:sp>
      <p:sp>
        <p:nvSpPr>
          <p:cNvPr id="7" name="Content Placeholder 6"/>
          <p:cNvSpPr>
            <a:spLocks noGrp="1"/>
          </p:cNvSpPr>
          <p:nvPr>
            <p:ph sz="half" idx="2"/>
          </p:nvPr>
        </p:nvSpPr>
        <p:spPr>
          <a:xfrm>
            <a:off x="152400" y="4267200"/>
            <a:ext cx="8839200" cy="2438400"/>
          </a:xfrm>
        </p:spPr>
        <p:txBody>
          <a:bodyPr>
            <a:normAutofit fontScale="85000" lnSpcReduction="20000"/>
          </a:bodyPr>
          <a:lstStyle/>
          <a:p>
            <a:pPr>
              <a:lnSpc>
                <a:spcPct val="110000"/>
              </a:lnSpc>
            </a:pPr>
            <a:r>
              <a:rPr lang="en-US" dirty="0"/>
              <a:t>Detergents that have antimicrobial activity and are effective disinfectants</a:t>
            </a:r>
          </a:p>
          <a:p>
            <a:pPr lvl="1">
              <a:lnSpc>
                <a:spcPct val="110000"/>
              </a:lnSpc>
            </a:pPr>
            <a:r>
              <a:rPr lang="en-US" dirty="0"/>
              <a:t>amphipathic organic cleansing agents</a:t>
            </a:r>
            <a:br>
              <a:rPr lang="en-US" dirty="0"/>
            </a:br>
            <a:endParaRPr lang="en-US" dirty="0"/>
          </a:p>
          <a:p>
            <a:pPr>
              <a:lnSpc>
                <a:spcPct val="110000"/>
              </a:lnSpc>
            </a:pPr>
            <a:r>
              <a:rPr lang="en-US" dirty="0"/>
              <a:t>Cationic detergents are effective disinfectants</a:t>
            </a:r>
          </a:p>
          <a:p>
            <a:pPr lvl="1">
              <a:lnSpc>
                <a:spcPct val="110000"/>
              </a:lnSpc>
            </a:pPr>
            <a:r>
              <a:rPr lang="en-US" dirty="0"/>
              <a:t>kill most bacteria, but not </a:t>
            </a:r>
            <a:r>
              <a:rPr lang="en-US" i="1" dirty="0"/>
              <a:t>M. tuberculosis</a:t>
            </a:r>
            <a:r>
              <a:rPr lang="en-US" dirty="0"/>
              <a:t> or endospores</a:t>
            </a:r>
          </a:p>
          <a:p>
            <a:pPr lvl="1">
              <a:lnSpc>
                <a:spcPct val="110000"/>
              </a:lnSpc>
            </a:pPr>
            <a:r>
              <a:rPr lang="en-US" dirty="0"/>
              <a:t>safe and easy to use, inactivated by hard water and soap</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pic>
        <p:nvPicPr>
          <p:cNvPr id="8" name="Picture 2" descr="This section of the figure shows the chemical structures of some frequently used quaternary ammonium compounds: cetylpyridinium and benzalkonium." title="Figure 8.10 Disinfectants and Antiseptics."/>
          <p:cNvPicPr>
            <a:picLocks noGrp="1" noChangeAspect="1" noChangeArrowheads="1"/>
          </p:cNvPicPr>
          <p:nvPr>
            <p:ph sz="half" idx="1"/>
          </p:nvPr>
        </p:nvPicPr>
        <p:blipFill>
          <a:blip r:embed="rId2" cstate="print"/>
          <a:stretch>
            <a:fillRect/>
          </a:stretch>
        </p:blipFill>
        <p:spPr bwMode="auto">
          <a:xfrm>
            <a:off x="192119" y="1587265"/>
            <a:ext cx="8723281" cy="2298935"/>
          </a:xfrm>
          <a:prstGeom prst="rect">
            <a:avLst/>
          </a:prstGeom>
          <a:noFill/>
        </p:spPr>
      </p:pic>
    </p:spTree>
    <p:extLst>
      <p:ext uri="{BB962C8B-B14F-4D97-AF65-F5344CB8AC3E}">
        <p14:creationId xmlns:p14="http://schemas.microsoft.com/office/powerpoint/2010/main" val="2557305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r>
              <a:rPr lang="en-US" dirty="0" smtClean="0"/>
              <a:t>Aldehydes</a:t>
            </a:r>
            <a:endParaRPr lang="en-US" dirty="0"/>
          </a:p>
        </p:txBody>
      </p:sp>
      <p:sp>
        <p:nvSpPr>
          <p:cNvPr id="7" name="Content Placeholder 6"/>
          <p:cNvSpPr>
            <a:spLocks noGrp="1"/>
          </p:cNvSpPr>
          <p:nvPr>
            <p:ph sz="half" idx="2"/>
          </p:nvPr>
        </p:nvSpPr>
        <p:spPr>
          <a:xfrm>
            <a:off x="228600" y="3200400"/>
            <a:ext cx="8763000" cy="3535363"/>
          </a:xfrm>
        </p:spPr>
        <p:txBody>
          <a:bodyPr>
            <a:normAutofit/>
          </a:bodyPr>
          <a:lstStyle/>
          <a:p>
            <a:pPr>
              <a:lnSpc>
                <a:spcPct val="90000"/>
              </a:lnSpc>
            </a:pPr>
            <a:r>
              <a:rPr lang="en-US" dirty="0"/>
              <a:t>Commonly used agents are formaldehyde and glutaraldehyde</a:t>
            </a:r>
            <a:br>
              <a:rPr lang="en-US" dirty="0"/>
            </a:br>
            <a:endParaRPr lang="en-US" dirty="0"/>
          </a:p>
          <a:p>
            <a:pPr>
              <a:lnSpc>
                <a:spcPct val="90000"/>
              </a:lnSpc>
            </a:pPr>
            <a:r>
              <a:rPr lang="en-US" dirty="0"/>
              <a:t>Highly reactive molecules</a:t>
            </a:r>
            <a:br>
              <a:rPr lang="en-US" dirty="0"/>
            </a:br>
            <a:endParaRPr lang="en-US" dirty="0"/>
          </a:p>
          <a:p>
            <a:pPr>
              <a:lnSpc>
                <a:spcPct val="90000"/>
              </a:lnSpc>
            </a:pPr>
            <a:r>
              <a:rPr lang="en-US" dirty="0"/>
              <a:t>Sporicidal and can be used as chemical sterilants</a:t>
            </a:r>
            <a:br>
              <a:rPr lang="en-US" dirty="0"/>
            </a:br>
            <a:endParaRPr lang="en-US" dirty="0"/>
          </a:p>
          <a:p>
            <a:pPr>
              <a:lnSpc>
                <a:spcPct val="90000"/>
              </a:lnSpc>
            </a:pPr>
            <a:r>
              <a:rPr lang="en-US" dirty="0"/>
              <a:t>Combine with and inactivate nucleic acids and proteins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pic>
        <p:nvPicPr>
          <p:cNvPr id="8" name="Picture 2" descr="This section of the figure shows the chemical structures of some frequently used aldehydes: formaldehyde and glutaraldehyde." title="Figure 8.10 Disinfectants and Antiseptics."/>
          <p:cNvPicPr>
            <a:picLocks noGrp="1" noChangeAspect="1" noChangeArrowheads="1"/>
          </p:cNvPicPr>
          <p:nvPr>
            <p:ph sz="half" idx="1"/>
          </p:nvPr>
        </p:nvPicPr>
        <p:blipFill>
          <a:blip r:embed="rId2" cstate="print"/>
          <a:stretch>
            <a:fillRect/>
          </a:stretch>
        </p:blipFill>
        <p:spPr bwMode="auto">
          <a:xfrm>
            <a:off x="84031" y="1066800"/>
            <a:ext cx="8984958" cy="2057400"/>
          </a:xfrm>
          <a:prstGeom prst="rect">
            <a:avLst/>
          </a:prstGeom>
          <a:noFill/>
        </p:spPr>
      </p:pic>
    </p:spTree>
    <p:extLst>
      <p:ext uri="{BB962C8B-B14F-4D97-AF65-F5344CB8AC3E}">
        <p14:creationId xmlns:p14="http://schemas.microsoft.com/office/powerpoint/2010/main" val="2557305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0" y="762000"/>
            <a:ext cx="2971800" cy="2286000"/>
          </a:xfrm>
        </p:spPr>
        <p:txBody>
          <a:bodyPr>
            <a:normAutofit/>
          </a:bodyPr>
          <a:lstStyle/>
          <a:p>
            <a:r>
              <a:rPr lang="en-US" sz="3400" dirty="0"/>
              <a:t>Effects of Glutaraldehyde</a:t>
            </a:r>
          </a:p>
        </p:txBody>
      </p:sp>
      <p:sp>
        <p:nvSpPr>
          <p:cNvPr id="3" name="Slide Number Placeholder 2"/>
          <p:cNvSpPr>
            <a:spLocks noGrp="1"/>
          </p:cNvSpPr>
          <p:nvPr>
            <p:ph type="sldNum" sz="quarter" idx="12"/>
          </p:nvPr>
        </p:nvSpPr>
        <p:spPr/>
        <p:txBody>
          <a:bodyPr/>
          <a:lstStyle/>
          <a:p>
            <a:fld id="{3B1A82D2-719A-4A87-BECB-D74482819C19}" type="slidenum">
              <a:rPr lang="en-US" smtClean="0"/>
              <a:pPr/>
              <a:t>35</a:t>
            </a:fld>
            <a:endParaRPr lang="en-US"/>
          </a:p>
        </p:txBody>
      </p:sp>
      <p:pic>
        <p:nvPicPr>
          <p:cNvPr id="7" name="Picture 5" descr="Glutaraldehyde polymerizes and then interacts with amino acids in proteins (left) or in peptidoglycan (right).  As a result, the proteins are alkylated and cross-linked to other proteins, which inactivates them.  The amino groups in peptidoglycan are also alkylated and cross-linked, which prevents them from participating in other chemical reactions such as those involved in peptidoglycan synthesis." title="Figure 8.11 Effects of Glutaraldehyde."/>
          <p:cNvPicPr>
            <a:picLocks noGrp="1" noChangeAspect="1" noChangeArrowheads="1"/>
          </p:cNvPicPr>
          <p:nvPr>
            <p:ph idx="1"/>
          </p:nvPr>
        </p:nvPicPr>
        <p:blipFill>
          <a:blip r:embed="rId2" cstate="print"/>
          <a:stretch>
            <a:fillRect/>
          </a:stretch>
        </p:blipFill>
        <p:spPr bwMode="auto">
          <a:xfrm>
            <a:off x="2899863" y="76200"/>
            <a:ext cx="6113490" cy="6713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933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3962400" cy="1143000"/>
          </a:xfrm>
        </p:spPr>
        <p:txBody>
          <a:bodyPr/>
          <a:lstStyle/>
          <a:p>
            <a:r>
              <a:rPr lang="en-US" dirty="0"/>
              <a:t>Sterilizing Gases</a:t>
            </a:r>
          </a:p>
        </p:txBody>
      </p:sp>
      <p:sp>
        <p:nvSpPr>
          <p:cNvPr id="3" name="Content Placeholder 2"/>
          <p:cNvSpPr>
            <a:spLocks noGrp="1"/>
          </p:cNvSpPr>
          <p:nvPr>
            <p:ph sz="half" idx="1"/>
          </p:nvPr>
        </p:nvSpPr>
        <p:spPr>
          <a:xfrm>
            <a:off x="76200" y="1219200"/>
            <a:ext cx="4038600" cy="5486400"/>
          </a:xfrm>
        </p:spPr>
        <p:txBody>
          <a:bodyPr>
            <a:normAutofit fontScale="85000" lnSpcReduction="10000"/>
          </a:bodyPr>
          <a:lstStyle/>
          <a:p>
            <a:r>
              <a:rPr lang="en-US" dirty="0"/>
              <a:t>Used to sterilize heat-sensitive materials</a:t>
            </a:r>
            <a:br>
              <a:rPr lang="en-US" dirty="0"/>
            </a:br>
            <a:endParaRPr lang="en-US" dirty="0"/>
          </a:p>
          <a:p>
            <a:r>
              <a:rPr lang="en-US" dirty="0"/>
              <a:t>Microbicidal and sporicidal</a:t>
            </a:r>
            <a:br>
              <a:rPr lang="en-US" dirty="0"/>
            </a:br>
            <a:endParaRPr lang="en-US" dirty="0"/>
          </a:p>
          <a:p>
            <a:r>
              <a:rPr lang="en-US" dirty="0"/>
              <a:t>Ethylene oxide sterilization is carried out in equipment resembling an autoclave</a:t>
            </a:r>
            <a:br>
              <a:rPr lang="en-US" dirty="0"/>
            </a:br>
            <a:endParaRPr lang="en-US" dirty="0"/>
          </a:p>
          <a:p>
            <a:r>
              <a:rPr lang="en-US" dirty="0" err="1"/>
              <a:t>Betapropiolactone</a:t>
            </a:r>
            <a:r>
              <a:rPr lang="en-US" dirty="0"/>
              <a:t> and vaporized hydrogen peroxide</a:t>
            </a:r>
            <a:br>
              <a:rPr lang="en-US" dirty="0"/>
            </a:br>
            <a:endParaRPr lang="en-US" dirty="0"/>
          </a:p>
          <a:p>
            <a:r>
              <a:rPr lang="en-US" dirty="0"/>
              <a:t>Combine with and inactivate DNA and proteins</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36</a:t>
            </a:fld>
            <a:endParaRPr lang="en-US"/>
          </a:p>
        </p:txBody>
      </p:sp>
      <p:pic>
        <p:nvPicPr>
          <p:cNvPr id="1026" name="Picture 2" descr="(Top) This section of Figure 8.10  shows the chemical structures of some frequently used gases: ethylene oxide, betapropiolactone, and hydrogen peroxide.&#10;&#10;(Middle) Photo of an open automatic ethylene oxide (EtO) sterilizer with a bag of laboratory waste sitting on the open door. (Bottom) Schematic of an EtO sterilizer. Items to be sterilized are placed in the chamber, and EtO and carbon dioxide are introduced. After the sterilization procedure is completed, the EtO and carbon dioxide are pumped out of the chamber and air enters." title="Figures 8.10 and 8.12 Disinfectants and Antiseptics and An Ethylene Oxide Sterilize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419600" y="152400"/>
            <a:ext cx="4559379" cy="6567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39152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8.6 Antimicrobial Agents Must Be </a:t>
            </a:r>
            <a:br>
              <a:rPr lang="en-US" dirty="0" smtClean="0"/>
            </a:br>
            <a:r>
              <a:rPr lang="en-US" dirty="0" smtClean="0"/>
              <a:t>Evaluated for Effectiveness</a:t>
            </a:r>
            <a:endParaRPr lang="en-US" dirty="0"/>
          </a:p>
        </p:txBody>
      </p:sp>
      <p:sp>
        <p:nvSpPr>
          <p:cNvPr id="3" name="Content Placeholder 2"/>
          <p:cNvSpPr>
            <a:spLocks noGrp="1"/>
          </p:cNvSpPr>
          <p:nvPr>
            <p:ph idx="1"/>
          </p:nvPr>
        </p:nvSpPr>
        <p:spPr>
          <a:xfrm>
            <a:off x="457200" y="2103437"/>
            <a:ext cx="8229600" cy="4525963"/>
          </a:xfrm>
        </p:spPr>
        <p:txBody>
          <a:bodyPr>
            <a:normAutofit lnSpcReduction="10000"/>
          </a:bodyPr>
          <a:lstStyle/>
          <a:p>
            <a:pPr marL="514350" indent="-514350">
              <a:buFont typeface="+mj-lt"/>
              <a:buAutoNum type="arabicPeriod"/>
            </a:pPr>
            <a:r>
              <a:rPr lang="en-US" dirty="0"/>
              <a:t>Predict the effects of (1) microbial population size and composition, (2) temperature, (3) exposure time, and (4) local environmental conditions on antimicrobial agent </a:t>
            </a:r>
            <a:r>
              <a:rPr lang="en-US" dirty="0" smtClean="0"/>
              <a:t>effectiveness</a:t>
            </a:r>
            <a:br>
              <a:rPr lang="en-US" dirty="0" smtClean="0"/>
            </a:br>
            <a:endParaRPr lang="en-US" dirty="0"/>
          </a:p>
          <a:p>
            <a:pPr marL="514350" indent="-514350">
              <a:buFont typeface="+mj-lt"/>
              <a:buAutoNum type="arabicPeriod"/>
            </a:pPr>
            <a:r>
              <a:rPr lang="en-US" dirty="0"/>
              <a:t>Describe the processes used to measure </a:t>
            </a:r>
            <a:r>
              <a:rPr lang="en-US" dirty="0" smtClean="0"/>
              <a:t>microbial </a:t>
            </a:r>
            <a:r>
              <a:rPr lang="en-US" dirty="0"/>
              <a:t>killing rates, dilution testing, and in-use testing of antimicrobial agents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spTree>
    <p:extLst>
      <p:ext uri="{BB962C8B-B14F-4D97-AF65-F5344CB8AC3E}">
        <p14:creationId xmlns:p14="http://schemas.microsoft.com/office/powerpoint/2010/main" val="40809322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Evaluation of Antimicrobial Agent Effectiveness</a:t>
            </a:r>
          </a:p>
        </p:txBody>
      </p:sp>
      <p:sp>
        <p:nvSpPr>
          <p:cNvPr id="3" name="Content Placeholder 2"/>
          <p:cNvSpPr>
            <a:spLocks noGrp="1"/>
          </p:cNvSpPr>
          <p:nvPr>
            <p:ph idx="1"/>
          </p:nvPr>
        </p:nvSpPr>
        <p:spPr>
          <a:xfrm>
            <a:off x="457200" y="2103437"/>
            <a:ext cx="8229600" cy="4525963"/>
          </a:xfrm>
        </p:spPr>
        <p:txBody>
          <a:bodyPr/>
          <a:lstStyle/>
          <a:p>
            <a:r>
              <a:rPr lang="en-US" dirty="0"/>
              <a:t>Complex process regulated by U.S. federal agencies</a:t>
            </a:r>
          </a:p>
          <a:p>
            <a:pPr lvl="1"/>
            <a:r>
              <a:rPr lang="en-US" dirty="0"/>
              <a:t>Environmental Protection Agency</a:t>
            </a:r>
          </a:p>
          <a:p>
            <a:pPr lvl="1"/>
            <a:r>
              <a:rPr lang="en-US" dirty="0"/>
              <a:t>Food and Drug Administration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1171291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400" dirty="0"/>
              <a:t>Conditions Influencing the Effectiveness of Antimicrobial Agent Activity</a:t>
            </a:r>
          </a:p>
        </p:txBody>
      </p:sp>
      <p:sp>
        <p:nvSpPr>
          <p:cNvPr id="3" name="Content Placeholder 2"/>
          <p:cNvSpPr>
            <a:spLocks noGrp="1"/>
          </p:cNvSpPr>
          <p:nvPr>
            <p:ph idx="1"/>
          </p:nvPr>
        </p:nvSpPr>
        <p:spPr>
          <a:xfrm>
            <a:off x="152400" y="1295400"/>
            <a:ext cx="8839200" cy="5486400"/>
          </a:xfrm>
        </p:spPr>
        <p:txBody>
          <a:bodyPr>
            <a:normAutofit fontScale="62500" lnSpcReduction="20000"/>
          </a:bodyPr>
          <a:lstStyle/>
          <a:p>
            <a:r>
              <a:rPr lang="en-US" dirty="0"/>
              <a:t>Population size</a:t>
            </a:r>
          </a:p>
          <a:p>
            <a:pPr lvl="1"/>
            <a:r>
              <a:rPr lang="en-US" dirty="0"/>
              <a:t>larger populations take longer to kill than smaller </a:t>
            </a:r>
            <a:r>
              <a:rPr lang="en-US" dirty="0" smtClean="0"/>
              <a:t>populations</a:t>
            </a:r>
            <a:br>
              <a:rPr lang="en-US" dirty="0" smtClean="0"/>
            </a:br>
            <a:endParaRPr lang="en-US" dirty="0"/>
          </a:p>
          <a:p>
            <a:r>
              <a:rPr lang="en-US" dirty="0"/>
              <a:t>Population composition</a:t>
            </a:r>
          </a:p>
          <a:p>
            <a:pPr lvl="1"/>
            <a:r>
              <a:rPr lang="en-US" dirty="0"/>
              <a:t>microorganisms differ markedly in their sensitivity to antimicrobial </a:t>
            </a:r>
            <a:r>
              <a:rPr lang="en-US" dirty="0" smtClean="0"/>
              <a:t>agents</a:t>
            </a:r>
            <a:br>
              <a:rPr lang="en-US" dirty="0" smtClean="0"/>
            </a:br>
            <a:endParaRPr lang="en-US" dirty="0" smtClean="0"/>
          </a:p>
          <a:p>
            <a:pPr>
              <a:lnSpc>
                <a:spcPct val="90000"/>
              </a:lnSpc>
            </a:pPr>
            <a:r>
              <a:rPr lang="en-US" dirty="0"/>
              <a:t>Concentration or intensity of an antimicrobial agent</a:t>
            </a:r>
          </a:p>
          <a:p>
            <a:pPr lvl="1">
              <a:lnSpc>
                <a:spcPct val="90000"/>
              </a:lnSpc>
            </a:pPr>
            <a:r>
              <a:rPr lang="en-US" dirty="0"/>
              <a:t>usually higher concentrations kill more rapidly</a:t>
            </a:r>
          </a:p>
          <a:p>
            <a:pPr lvl="1">
              <a:lnSpc>
                <a:spcPct val="90000"/>
              </a:lnSpc>
            </a:pPr>
            <a:r>
              <a:rPr lang="en-US" dirty="0"/>
              <a:t>relationship is not </a:t>
            </a:r>
            <a:r>
              <a:rPr lang="en-US" dirty="0" smtClean="0"/>
              <a:t>linear</a:t>
            </a:r>
            <a:br>
              <a:rPr lang="en-US" dirty="0" smtClean="0"/>
            </a:br>
            <a:endParaRPr lang="en-US" dirty="0"/>
          </a:p>
          <a:p>
            <a:pPr>
              <a:lnSpc>
                <a:spcPct val="90000"/>
              </a:lnSpc>
            </a:pPr>
            <a:r>
              <a:rPr lang="en-US" dirty="0"/>
              <a:t>Duration of exposure</a:t>
            </a:r>
          </a:p>
          <a:p>
            <a:pPr lvl="1">
              <a:lnSpc>
                <a:spcPct val="90000"/>
              </a:lnSpc>
              <a:buFontTx/>
              <a:buNone/>
            </a:pPr>
            <a:r>
              <a:rPr lang="en-US" dirty="0"/>
              <a:t>	longer exposure </a:t>
            </a:r>
            <a:r>
              <a:rPr lang="en-US" dirty="0">
                <a:sym typeface="Symbol" pitchFamily="18" charset="2"/>
              </a:rPr>
              <a:t> more organisms </a:t>
            </a:r>
            <a:r>
              <a:rPr lang="en-US" dirty="0" smtClean="0">
                <a:sym typeface="Symbol" pitchFamily="18" charset="2"/>
              </a:rPr>
              <a:t>killed</a:t>
            </a:r>
            <a:br>
              <a:rPr lang="en-US" dirty="0" smtClean="0">
                <a:sym typeface="Symbol" pitchFamily="18" charset="2"/>
              </a:rPr>
            </a:br>
            <a:endParaRPr lang="en-US" dirty="0">
              <a:sym typeface="Symbol" pitchFamily="18" charset="2"/>
            </a:endParaRPr>
          </a:p>
          <a:p>
            <a:pPr>
              <a:lnSpc>
                <a:spcPct val="80000"/>
              </a:lnSpc>
            </a:pPr>
            <a:r>
              <a:rPr lang="en-US" dirty="0"/>
              <a:t>Temperature</a:t>
            </a:r>
          </a:p>
          <a:p>
            <a:pPr lvl="1">
              <a:lnSpc>
                <a:spcPct val="80000"/>
              </a:lnSpc>
            </a:pPr>
            <a:r>
              <a:rPr lang="en-US" dirty="0"/>
              <a:t>higher temperatures usually increase </a:t>
            </a:r>
            <a:r>
              <a:rPr lang="en-US" dirty="0" smtClean="0"/>
              <a:t>killing</a:t>
            </a:r>
            <a:br>
              <a:rPr lang="en-US" dirty="0" smtClean="0"/>
            </a:br>
            <a:endParaRPr lang="en-US" dirty="0"/>
          </a:p>
          <a:p>
            <a:pPr>
              <a:lnSpc>
                <a:spcPct val="80000"/>
              </a:lnSpc>
            </a:pPr>
            <a:r>
              <a:rPr lang="en-US" dirty="0"/>
              <a:t>Local environment</a:t>
            </a:r>
          </a:p>
          <a:p>
            <a:pPr lvl="1">
              <a:lnSpc>
                <a:spcPct val="120000"/>
              </a:lnSpc>
            </a:pPr>
            <a:r>
              <a:rPr lang="en-US" dirty="0"/>
              <a:t>pH, viscosity, concentration of organic matter, etc. can profoundly impact effectiveness </a:t>
            </a:r>
          </a:p>
          <a:p>
            <a:pPr lvl="1">
              <a:lnSpc>
                <a:spcPct val="120000"/>
              </a:lnSpc>
            </a:pPr>
            <a:r>
              <a:rPr lang="en-US" dirty="0"/>
              <a:t>organisms in biofilms are less susceptible to many antimicrobial agents</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363747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smtClean="0"/>
              <a:t>Efficiency Evaluation of Chemical Agents </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smtClean="0"/>
              <a:t>Phenol Coefficient Test</a:t>
            </a:r>
          </a:p>
          <a:p>
            <a:pPr lvl="1"/>
            <a:r>
              <a:rPr lang="en-US" dirty="0" smtClean="0"/>
              <a:t>potency </a:t>
            </a:r>
            <a:r>
              <a:rPr lang="en-US" dirty="0"/>
              <a:t>of a disinfectant is compared to that of phenol</a:t>
            </a:r>
          </a:p>
          <a:p>
            <a:pPr lvl="1"/>
            <a:r>
              <a:rPr lang="en-US" dirty="0" smtClean="0"/>
              <a:t>useful </a:t>
            </a:r>
            <a:r>
              <a:rPr lang="en-US" dirty="0"/>
              <a:t>for screening but may be </a:t>
            </a:r>
            <a:r>
              <a:rPr lang="en-US" dirty="0" smtClean="0"/>
              <a:t>misleading</a:t>
            </a:r>
          </a:p>
          <a:p>
            <a:pPr marL="457200" lvl="1" indent="0">
              <a:buNone/>
            </a:pPr>
            <a:endParaRPr lang="en-US" dirty="0" smtClean="0"/>
          </a:p>
          <a:p>
            <a:r>
              <a:rPr lang="en-US" dirty="0"/>
              <a:t>Use dilution test</a:t>
            </a:r>
          </a:p>
          <a:p>
            <a:pPr lvl="1"/>
            <a:r>
              <a:rPr lang="en-US" dirty="0"/>
              <a:t>determines rate at which selected bacteria are destroyed by various chemical </a:t>
            </a:r>
            <a:r>
              <a:rPr lang="en-US" dirty="0" smtClean="0"/>
              <a:t>agents</a:t>
            </a:r>
          </a:p>
          <a:p>
            <a:pPr marL="457200" lvl="1" indent="0">
              <a:buNone/>
            </a:pPr>
            <a:endParaRPr lang="en-US" dirty="0"/>
          </a:p>
          <a:p>
            <a:r>
              <a:rPr lang="en-US" dirty="0"/>
              <a:t>Normal in-use testing</a:t>
            </a:r>
          </a:p>
          <a:p>
            <a:pPr lvl="1"/>
            <a:r>
              <a:rPr lang="en-US" dirty="0"/>
              <a:t>testing done using conditions that approximate normal use of disinfectant</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40</a:t>
            </a:fld>
            <a:endParaRPr lang="en-US"/>
          </a:p>
        </p:txBody>
      </p:sp>
    </p:spTree>
    <p:extLst>
      <p:ext uri="{BB962C8B-B14F-4D97-AF65-F5344CB8AC3E}">
        <p14:creationId xmlns:p14="http://schemas.microsoft.com/office/powerpoint/2010/main" val="1171291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8.7 Microorganisms Can Be Controlled </a:t>
            </a:r>
            <a:br>
              <a:rPr lang="en-US" dirty="0" smtClean="0"/>
            </a:br>
            <a:r>
              <a:rPr lang="en-US" dirty="0" smtClean="0"/>
              <a:t>by Biological Methods</a:t>
            </a:r>
            <a:endParaRPr lang="en-US" dirty="0"/>
          </a:p>
        </p:txBody>
      </p:sp>
      <p:sp>
        <p:nvSpPr>
          <p:cNvPr id="3" name="Content Placeholder 2"/>
          <p:cNvSpPr>
            <a:spLocks noGrp="1"/>
          </p:cNvSpPr>
          <p:nvPr>
            <p:ph idx="1"/>
          </p:nvPr>
        </p:nvSpPr>
        <p:spPr>
          <a:xfrm>
            <a:off x="457200" y="2027237"/>
            <a:ext cx="8229600" cy="4525963"/>
          </a:xfrm>
        </p:spPr>
        <p:txBody>
          <a:bodyPr/>
          <a:lstStyle/>
          <a:p>
            <a:pPr marL="514350" indent="-514350">
              <a:buFont typeface="+mj-lt"/>
              <a:buAutoNum type="arabicPeriod"/>
            </a:pPr>
            <a:r>
              <a:rPr lang="en-US" dirty="0"/>
              <a:t>Propose predation, competition, and other methods for biological control of </a:t>
            </a:r>
            <a:r>
              <a:rPr lang="en-US" dirty="0" smtClean="0"/>
              <a:t>microorganisms</a:t>
            </a:r>
            <a:br>
              <a:rPr lang="en-US" dirty="0" smtClean="0"/>
            </a:br>
            <a:endParaRPr lang="en-US" dirty="0" smtClean="0"/>
          </a:p>
          <a:p>
            <a:pPr marL="514350" indent="-514350">
              <a:buFont typeface="+mj-lt"/>
              <a:buAutoNum type="arabicPeriod"/>
            </a:pPr>
            <a:r>
              <a:rPr lang="en-US" dirty="0" smtClean="0"/>
              <a:t>Suggest </a:t>
            </a:r>
            <a:r>
              <a:rPr lang="en-US" dirty="0"/>
              <a:t>alternative decontamination and medical therapies using viruses of bacteria, fungi, and protozoa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spTree>
    <p:extLst>
      <p:ext uri="{BB962C8B-B14F-4D97-AF65-F5344CB8AC3E}">
        <p14:creationId xmlns:p14="http://schemas.microsoft.com/office/powerpoint/2010/main" val="11712914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Biological Control of Microorganisms</a:t>
            </a:r>
          </a:p>
        </p:txBody>
      </p:sp>
      <p:sp>
        <p:nvSpPr>
          <p:cNvPr id="3" name="Content Placeholder 2"/>
          <p:cNvSpPr>
            <a:spLocks noGrp="1"/>
          </p:cNvSpPr>
          <p:nvPr>
            <p:ph idx="1"/>
          </p:nvPr>
        </p:nvSpPr>
        <p:spPr/>
        <p:txBody>
          <a:bodyPr/>
          <a:lstStyle/>
          <a:p>
            <a:pPr>
              <a:lnSpc>
                <a:spcPct val="90000"/>
              </a:lnSpc>
            </a:pPr>
            <a:r>
              <a:rPr lang="en-US" dirty="0"/>
              <a:t>Emerging field showing great </a:t>
            </a:r>
            <a:r>
              <a:rPr lang="en-US" dirty="0" smtClean="0"/>
              <a:t>promise</a:t>
            </a:r>
          </a:p>
          <a:p>
            <a:pPr marL="0" indent="0">
              <a:lnSpc>
                <a:spcPct val="90000"/>
              </a:lnSpc>
              <a:buNone/>
            </a:pPr>
            <a:endParaRPr lang="en-US" dirty="0"/>
          </a:p>
          <a:p>
            <a:pPr>
              <a:lnSpc>
                <a:spcPct val="90000"/>
              </a:lnSpc>
            </a:pPr>
            <a:r>
              <a:rPr lang="en-US" dirty="0"/>
              <a:t>Natural control mechanisms</a:t>
            </a:r>
          </a:p>
          <a:p>
            <a:pPr lvl="1">
              <a:lnSpc>
                <a:spcPct val="90000"/>
              </a:lnSpc>
            </a:pPr>
            <a:r>
              <a:rPr lang="en-US" dirty="0"/>
              <a:t>predation by </a:t>
            </a:r>
            <a:r>
              <a:rPr lang="en-US" i="1" dirty="0" err="1"/>
              <a:t>Bdellovibrio</a:t>
            </a:r>
            <a:endParaRPr lang="en-US" i="1" dirty="0"/>
          </a:p>
          <a:p>
            <a:pPr lvl="1">
              <a:lnSpc>
                <a:spcPct val="90000"/>
              </a:lnSpc>
            </a:pPr>
            <a:r>
              <a:rPr lang="en-US" dirty="0"/>
              <a:t>viral-mediated lysis using pathogen specific bacteriophage </a:t>
            </a:r>
            <a:r>
              <a:rPr lang="en-US" dirty="0" err="1" smtClean="0"/>
              <a:t>lysins</a:t>
            </a:r>
            <a:r>
              <a:rPr lang="en-US" dirty="0" smtClean="0"/>
              <a:t> (or bacteriophages themselves, such as in a spray format recently approved by the FDA for use on food products) </a:t>
            </a:r>
            <a:endParaRPr lang="en-US" dirty="0"/>
          </a:p>
          <a:p>
            <a:pPr lvl="1">
              <a:lnSpc>
                <a:spcPct val="90000"/>
              </a:lnSpc>
            </a:pPr>
            <a:r>
              <a:rPr lang="en-US" dirty="0"/>
              <a:t>toxin-mediated killing using </a:t>
            </a:r>
            <a:r>
              <a:rPr lang="en-US" dirty="0" err="1"/>
              <a:t>bacteriocins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spTree>
    <p:extLst>
      <p:ext uri="{BB962C8B-B14F-4D97-AF65-F5344CB8AC3E}">
        <p14:creationId xmlns:p14="http://schemas.microsoft.com/office/powerpoint/2010/main" val="1171291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dirty="0" smtClean="0"/>
              <a:t>Take Home Message</a:t>
            </a:r>
            <a:endParaRPr lang="en-US" dirty="0"/>
          </a:p>
        </p:txBody>
      </p:sp>
      <p:sp>
        <p:nvSpPr>
          <p:cNvPr id="3" name="Content Placeholder 2"/>
          <p:cNvSpPr>
            <a:spLocks noGrp="1"/>
          </p:cNvSpPr>
          <p:nvPr>
            <p:ph idx="1"/>
          </p:nvPr>
        </p:nvSpPr>
        <p:spPr>
          <a:xfrm>
            <a:off x="457200" y="1295400"/>
            <a:ext cx="8229600" cy="5334000"/>
          </a:xfrm>
        </p:spPr>
        <p:txBody>
          <a:bodyPr>
            <a:normAutofit fontScale="85000" lnSpcReduction="20000"/>
          </a:bodyPr>
          <a:lstStyle/>
          <a:p>
            <a:r>
              <a:rPr lang="en-US" dirty="0" smtClean="0"/>
              <a:t>Controlling microbial growth can be achieved by many different methods – some physical, some chemical</a:t>
            </a:r>
            <a:br>
              <a:rPr lang="en-US" dirty="0" smtClean="0"/>
            </a:br>
            <a:endParaRPr lang="en-US" dirty="0" smtClean="0"/>
          </a:p>
          <a:p>
            <a:r>
              <a:rPr lang="en-US" dirty="0" smtClean="0"/>
              <a:t>Understanding what microbes need to grow and thrive is important for then understanding how to kill them off or control their growth</a:t>
            </a:r>
            <a:br>
              <a:rPr lang="en-US" dirty="0" smtClean="0"/>
            </a:br>
            <a:endParaRPr lang="en-US" dirty="0" smtClean="0"/>
          </a:p>
          <a:p>
            <a:r>
              <a:rPr lang="en-US" dirty="0" smtClean="0"/>
              <a:t>While many of these methods are useful, each has pros and cons – and each may not be suitable in particular circumstances</a:t>
            </a:r>
            <a:br>
              <a:rPr lang="en-US" dirty="0" smtClean="0"/>
            </a:br>
            <a:endParaRPr lang="en-US" dirty="0" smtClean="0"/>
          </a:p>
          <a:p>
            <a:r>
              <a:rPr lang="en-US" dirty="0" smtClean="0"/>
              <a:t>Always be thinking about what the appropriate and most useful way to control microbe growth in a given environment or situation might be using the information found in this chapter</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spTree>
    <p:extLst>
      <p:ext uri="{BB962C8B-B14F-4D97-AF65-F5344CB8AC3E}">
        <p14:creationId xmlns:p14="http://schemas.microsoft.com/office/powerpoint/2010/main" val="11712914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6.0&quot;&gt;&lt;object type=&quot;1&quot; unique_id=&quot;10001&quot;&gt;&lt;object type=&quot;8&quot; unique_id=&quot;513161&quot;&gt;&lt;/object&gt;&lt;object type=&quot;2&quot; unique_id=&quot;513162&quot;&gt;&lt;object type=&quot;3&quot; unique_id=&quot;513163&quot;&gt;&lt;property id=&quot;20148&quot; value=&quot;5&quot;/&gt;&lt;property id=&quot;20300&quot; value=&quot;Slide 1 - &amp;quot;Chapter 8 – Control of Microorganisms in the Environment&amp;quot;&quot;/&gt;&lt;property id=&quot;20307&quot; value=&quot;256&quot;/&gt;&lt;/object&gt;&lt;object type=&quot;3&quot; unique_id=&quot;513164&quot;&gt;&lt;property id=&quot;20148&quot; value=&quot;5&quot;/&gt;&lt;property id=&quot;20300&quot; value=&quot;Slide 2 - &amp;quot;8.1 Microbial Growth and Replication Pathways: Targets for Control&amp;quot;&quot;/&gt;&lt;property id=&quot;20307&quot; value=&quot;257&quot;/&gt;&lt;/object&gt;&lt;object type=&quot;3&quot; unique_id=&quot;513165&quot;&gt;&lt;property id=&quot;20148&quot; value=&quot;5&quot;/&gt;&lt;property id=&quot;20300&quot; value=&quot;Slide 3 - &amp;quot;Common Microbial Control Methods&amp;quot;&quot;/&gt;&lt;property id=&quot;20307&quot; value=&quot;258&quot;/&gt;&lt;/object&gt;&lt;object type=&quot;3&quot; unique_id=&quot;513166&quot;&gt;&lt;property id=&quot;20148&quot; value=&quot;5&quot;/&gt;&lt;property id=&quot;20300&quot; value=&quot;Slide 4 - &amp;quot;Definition of Frequently Used Terms&amp;quot;&quot;/&gt;&lt;property id=&quot;20307&quot; value=&quot;259&quot;/&gt;&lt;/object&gt;&lt;object type=&quot;3&quot; unique_id=&quot;513167&quot;&gt;&lt;property id=&quot;20148&quot; value=&quot;5&quot;/&gt;&lt;property id=&quot;20300&quot; value=&quot;Slide 5 - &amp;quot;Visual Differentiation of Control Definitions&amp;quot;&quot;/&gt;&lt;property id=&quot;20307&quot; value=&quot;261&quot;/&gt;&lt;/object&gt;&lt;object type=&quot;3&quot; unique_id=&quot;513168&quot;&gt;&lt;property id=&quot;20148&quot; value=&quot;5&quot;/&gt;&lt;property id=&quot;20300&quot; value=&quot;Slide 6 - &amp;quot;Antimicrobial Agents&amp;quot;&quot;/&gt;&lt;property id=&quot;20307&quot; value=&quot;262&quot;/&gt;&lt;/object&gt;&lt;object type=&quot;3&quot; unique_id=&quot;513169&quot;&gt;&lt;property id=&quot;20148&quot; value=&quot;5&quot;/&gt;&lt;property id=&quot;20300&quot; value=&quot;Slide 7 - &amp;quot;8.2 The Pattern of Microbial Death Mirrors the Pattern of Microbial Growth&amp;quot;&quot;/&gt;&lt;property id=&quot;20307&quot; value=&quot;264&quot;/&gt;&lt;/object&gt;&lt;object type=&quot;3&quot; unique_id=&quot;513170&quot;&gt;&lt;property id=&quot;20148&quot; value=&quot;5&quot;/&gt;&lt;property id=&quot;20300&quot; value=&quot;Slide 8 - &amp;quot;The Pattern of Microbial Death&amp;quot;&quot;/&gt;&lt;property id=&quot;20307&quot; value=&quot;265&quot;/&gt;&lt;/object&gt;&lt;object type=&quot;3&quot; unique_id=&quot;513171&quot;&gt;&lt;property id=&quot;20148&quot; value=&quot;5&quot;/&gt;&lt;property id=&quot;20300&quot; value=&quot;Slide 9 - &amp;quot;D and z Values&amp;quot;&quot;/&gt;&lt;property id=&quot;20307&quot; value=&quot;267&quot;/&gt;&lt;/object&gt;&lt;object type=&quot;3&quot; unique_id=&quot;513172&quot;&gt;&lt;property id=&quot;20148&quot; value=&quot;5&quot;/&gt;&lt;property id=&quot;20300&quot; value=&quot;Slide 10 - &amp;quot;8.3 Mechanical Removal Methods &amp;#x0D;&amp;#x0A;Rely on Barriers&amp;quot;&quot;/&gt;&lt;property id=&quot;20307&quot; value=&quot;270&quot;/&gt;&lt;/object&gt;&lt;object type=&quot;3&quot; unique_id=&quot;513173&quot;&gt;&lt;property id=&quot;20148&quot; value=&quot;5&quot;/&gt;&lt;property id=&quot;20300&quot; value=&quot;Slide 11 - &amp;quot;Filtration&amp;quot;&quot;/&gt;&lt;property id=&quot;20307&quot; value=&quot;271&quot;/&gt;&lt;/object&gt;&lt;object type=&quot;3&quot; unique_id=&quot;513174&quot;&gt;&lt;property id=&quot;20148&quot; value=&quot;5&quot;/&gt;&lt;property id=&quot;20300&quot; value=&quot;Slide 12 - &amp;quot;Filtering Liquids&amp;quot;&quot;/&gt;&lt;property id=&quot;20307&quot; value=&quot;272&quot;/&gt;&lt;/object&gt;&lt;object type=&quot;3&quot; unique_id=&quot;513175&quot;&gt;&lt;property id=&quot;20148&quot; value=&quot;5&quot;/&gt;&lt;property id=&quot;20300&quot; value=&quot;Slide 13 - &amp;quot;Filtering Air&amp;quot;&quot;/&gt;&lt;property id=&quot;20307&quot; value=&quot;273&quot;/&gt;&lt;/object&gt;&lt;object type=&quot;3&quot; unique_id=&quot;513176&quot;&gt;&lt;property id=&quot;20148&quot; value=&quot;5&quot;/&gt;&lt;property id=&quot;20300&quot; value=&quot;Slide 14 - &amp;quot;8.4 Physical Control Methods Alter Microorganisms to Make Them Nonviable&amp;quot;&quot;/&gt;&lt;property id=&quot;20307&quot; value=&quot;274&quot;/&gt;&lt;/object&gt;&lt;object type=&quot;3&quot; unique_id=&quot;513177&quot;&gt;&lt;property id=&quot;20148&quot; value=&quot;5&quot;/&gt;&lt;property id=&quot;20300&quot; value=&quot;Slide 15 - &amp;quot;Physical Control Methods &amp;quot;&quot;/&gt;&lt;property id=&quot;20307&quot; value=&quot;275&quot;/&gt;&lt;/object&gt;&lt;object type=&quot;3&quot; unique_id=&quot;513178&quot;&gt;&lt;property id=&quot;20148&quot; value=&quot;5&quot;/&gt;&lt;property id=&quot;20300&quot; value=&quot;Slide 16 - &amp;quot;Moist Heat&amp;quot;&quot;/&gt;&lt;property id=&quot;20307&quot; value=&quot;276&quot;/&gt;&lt;/object&gt;&lt;object type=&quot;3&quot; unique_id=&quot;513179&quot;&gt;&lt;property id=&quot;20148&quot; value=&quot;5&quot;/&gt;&lt;property id=&quot;20300&quot; value=&quot;Slide 17 - &amp;quot;Steam Sterilization&amp;quot;&quot;/&gt;&lt;property id=&quot;20307&quot; value=&quot;277&quot;/&gt;&lt;/object&gt;&lt;object type=&quot;3&quot; unique_id=&quot;513180&quot;&gt;&lt;property id=&quot;20148&quot; value=&quot;5&quot;/&gt;&lt;property id=&quot;20300&quot; value=&quot;Slide 18 - &amp;quot;Pasteurization&amp;quot;&quot;/&gt;&lt;property id=&quot;20307&quot; value=&quot;278&quot;/&gt;&lt;/object&gt;&lt;object type=&quot;3&quot; unique_id=&quot;513181&quot;&gt;&lt;property id=&quot;20148&quot; value=&quot;5&quot;/&gt;&lt;property id=&quot;20300&quot; value=&quot;Slide 19 - &amp;quot;Dry Heat Sterilization&amp;quot;&quot;/&gt;&lt;property id=&quot;20307&quot; value=&quot;279&quot;/&gt;&lt;/object&gt;&lt;object type=&quot;3&quot; unique_id=&quot;513182&quot;&gt;&lt;property id=&quot;20148&quot; value=&quot;5&quot;/&gt;&lt;property id=&quot;20300&quot; value=&quot;Slide 20 - &amp;quot;Dry Heat Incineration&amp;quot;&quot;/&gt;&lt;property id=&quot;20307&quot; value=&quot;280&quot;/&gt;&lt;/object&gt;&lt;object type=&quot;3&quot; unique_id=&quot;513183&quot;&gt;&lt;property id=&quot;20148&quot; value=&quot;5&quot;/&gt;&lt;property id=&quot;20300&quot; value=&quot;Slide 21 - &amp;quot;Ultraviolet (UV) Radiation&amp;quot;&quot;/&gt;&lt;property id=&quot;20307&quot; value=&quot;281&quot;/&gt;&lt;/object&gt;&lt;object type=&quot;3&quot; unique_id=&quot;513184&quot;&gt;&lt;property id=&quot;20148&quot; value=&quot;5&quot;/&gt;&lt;property id=&quot;20300&quot; value=&quot;Slide 22 - &amp;quot;Ionizing Radiation&amp;quot;&quot;/&gt;&lt;property id=&quot;20307&quot; value=&quot;282&quot;/&gt;&lt;/object&gt;&lt;object type=&quot;3&quot; unique_id=&quot;513185&quot;&gt;&lt;property id=&quot;20148&quot; value=&quot;5&quot;/&gt;&lt;property id=&quot;20300&quot; value=&quot;Slide 23 - &amp;quot;8.5 Microorganisms Are Controlled &amp;#x0D;&amp;#x0A;With Chemical Agents&amp;quot;&quot;/&gt;&lt;property id=&quot;20307&quot; value=&quot;283&quot;/&gt;&lt;/object&gt;&lt;object type=&quot;3&quot; unique_id=&quot;513186&quot;&gt;&lt;property id=&quot;20148&quot; value=&quot;5&quot;/&gt;&lt;property id=&quot;20300&quot; value=&quot;Slide 24 - &amp;quot;Chemical Control Agents and Their Requirements&amp;quot;&quot;/&gt;&lt;property id=&quot;20307&quot; value=&quot;284&quot;/&gt;&lt;/object&gt;&lt;object type=&quot;3&quot; unique_id=&quot;513187&quot;&gt;&lt;property id=&quot;20148&quot; value=&quot;5&quot;/&gt;&lt;property id=&quot;20300&quot; value=&quot;Slide 25 - &amp;quot;Activity Levels of Different Chemicals&amp;quot;&quot;/&gt;&lt;property id=&quot;20307&quot; value=&quot;286&quot;/&gt;&lt;/object&gt;&lt;object type=&quot;3&quot; unique_id=&quot;513188&quot;&gt;&lt;property id=&quot;20148&quot; value=&quot;5&quot;/&gt;&lt;property id=&quot;20300&quot; value=&quot;Slide 26 - &amp;quot;Efficiency of Different Chemical Compounds&amp;quot;&quot;/&gt;&lt;property id=&quot;20307&quot; value=&quot;287&quot;/&gt;&lt;/object&gt;&lt;object type=&quot;3&quot; unique_id=&quot;513189&quot;&gt;&lt;property id=&quot;20148&quot; value=&quot;5&quot;/&gt;&lt;property id=&quot;20300&quot; value=&quot;Slide 27 - &amp;quot;Phenolics&amp;quot;&quot;/&gt;&lt;property id=&quot;20307&quot; value=&quot;288&quot;/&gt;&lt;/object&gt;&lt;object type=&quot;3&quot; unique_id=&quot;513190&quot;&gt;&lt;property id=&quot;20148&quot; value=&quot;5&quot;/&gt;&lt;property id=&quot;20300&quot; value=&quot;Slide 28 - &amp;quot;Alcohols&amp;quot;&quot;/&gt;&lt;property id=&quot;20307&quot; value=&quot;289&quot;/&gt;&lt;/object&gt;&lt;object type=&quot;3&quot; unique_id=&quot;513191&quot;&gt;&lt;property id=&quot;20148&quot; value=&quot;5&quot;/&gt;&lt;property id=&quot;20300&quot; value=&quot;Slide 29 - &amp;quot;Halogens&amp;quot;&quot;/&gt;&lt;property id=&quot;20307&quot; value=&quot;290&quot;/&gt;&lt;/object&gt;&lt;object type=&quot;3&quot; unique_id=&quot;513192&quot;&gt;&lt;property id=&quot;20148&quot; value=&quot;5&quot;/&gt;&lt;property id=&quot;20300&quot; value=&quot;Slide 30 - &amp;quot;Halogens - Iodine&amp;quot;&quot;/&gt;&lt;property id=&quot;20307&quot; value=&quot;291&quot;/&gt;&lt;/object&gt;&lt;object type=&quot;3&quot; unique_id=&quot;513193&quot;&gt;&lt;property id=&quot;20148&quot; value=&quot;5&quot;/&gt;&lt;property id=&quot;20300&quot; value=&quot;Slide 31 - &amp;quot;Halogens - Chlorine&amp;quot;&quot;/&gt;&lt;property id=&quot;20307&quot; value=&quot;292&quot;/&gt;&lt;/object&gt;&lt;object type=&quot;3&quot; unique_id=&quot;513194&quot;&gt;&lt;property id=&quot;20148&quot; value=&quot;5&quot;/&gt;&lt;property id=&quot;20300&quot; value=&quot;Slide 32 - &amp;quot;Heavy Metals&amp;quot;&quot;/&gt;&lt;property id=&quot;20307&quot; value=&quot;293&quot;/&gt;&lt;/object&gt;&lt;object type=&quot;3&quot; unique_id=&quot;513195&quot;&gt;&lt;property id=&quot;20148&quot; value=&quot;5&quot;/&gt;&lt;property id=&quot;20300&quot; value=&quot;Slide 33 - &amp;quot;Quaternary Ammonium Compounds&amp;quot;&quot;/&gt;&lt;property id=&quot;20307&quot; value=&quot;294&quot;/&gt;&lt;/object&gt;&lt;object type=&quot;3&quot; unique_id=&quot;513196&quot;&gt;&lt;property id=&quot;20148&quot; value=&quot;5&quot;/&gt;&lt;property id=&quot;20300&quot; value=&quot;Slide 34 - &amp;quot;Aldehydes&amp;quot;&quot;/&gt;&lt;property id=&quot;20307&quot; value=&quot;295&quot;/&gt;&lt;/object&gt;&lt;object type=&quot;3&quot; unique_id=&quot;513197&quot;&gt;&lt;property id=&quot;20148&quot; value=&quot;5&quot;/&gt;&lt;property id=&quot;20300&quot; value=&quot;Slide 35 - &amp;quot;Effects of Glutaraldehyde&amp;quot;&quot;/&gt;&lt;property id=&quot;20307&quot; value=&quot;296&quot;/&gt;&lt;/object&gt;&lt;object type=&quot;3&quot; unique_id=&quot;513198&quot;&gt;&lt;property id=&quot;20148&quot; value=&quot;5&quot;/&gt;&lt;property id=&quot;20300&quot; value=&quot;Slide 36 - &amp;quot;Sterilizing Gases&amp;quot;&quot;/&gt;&lt;property id=&quot;20307&quot; value=&quot;297&quot;/&gt;&lt;/object&gt;&lt;object type=&quot;3&quot; unique_id=&quot;513199&quot;&gt;&lt;property id=&quot;20148&quot; value=&quot;5&quot;/&gt;&lt;property id=&quot;20300&quot; value=&quot;Slide 37 - &amp;quot;8.6 Antimicrobial Agents Must Be &amp;#x0D;&amp;#x0A;Evaluated for Effectiveness&amp;quot;&quot;/&gt;&lt;property id=&quot;20307&quot; value=&quot;299&quot;/&gt;&lt;/object&gt;&lt;object type=&quot;3&quot; unique_id=&quot;513200&quot;&gt;&lt;property id=&quot;20148&quot; value=&quot;5&quot;/&gt;&lt;property id=&quot;20300&quot; value=&quot;Slide 38 - &amp;quot;Evaluation of Antimicrobial Agent Effectiveness&amp;quot;&quot;/&gt;&lt;property id=&quot;20307&quot; value=&quot;300&quot;/&gt;&lt;/object&gt;&lt;object type=&quot;3&quot; unique_id=&quot;513201&quot;&gt;&lt;property id=&quot;20148&quot; value=&quot;5&quot;/&gt;&lt;property id=&quot;20300&quot; value=&quot;Slide 39 - &amp;quot;Conditions Influencing the Effectiveness of Antimicrobial Agent Activity&amp;quot;&quot;/&gt;&lt;property id=&quot;20307&quot; value=&quot;306&quot;/&gt;&lt;/object&gt;&lt;object type=&quot;3&quot; unique_id=&quot;513202&quot;&gt;&lt;property id=&quot;20148&quot; value=&quot;5&quot;/&gt;&lt;property id=&quot;20300&quot; value=&quot;Slide 40 - &amp;quot;Efficiency Evaluation of Chemical Agents &amp;quot;&quot;/&gt;&lt;property id=&quot;20307&quot; value=&quot;301&quot;/&gt;&lt;/object&gt;&lt;object type=&quot;3&quot; unique_id=&quot;513203&quot;&gt;&lt;property id=&quot;20148&quot; value=&quot;5&quot;/&gt;&lt;property id=&quot;20300&quot; value=&quot;Slide 41 - &amp;quot;8.7 Microorganisms Can Be Controlled &amp;#x0D;&amp;#x0A;by Biological Methods&amp;quot;&quot;/&gt;&lt;property id=&quot;20307&quot; value=&quot;303&quot;/&gt;&lt;/object&gt;&lt;object type=&quot;3&quot; unique_id=&quot;513204&quot;&gt;&lt;property id=&quot;20148&quot; value=&quot;5&quot;/&gt;&lt;property id=&quot;20300&quot; value=&quot;Slide 42 - &amp;quot;Biological Control of Microorganisms&amp;quot;&quot;/&gt;&lt;property id=&quot;20307&quot; value=&quot;304&quot;/&gt;&lt;/object&gt;&lt;object type=&quot;3&quot; unique_id=&quot;513205&quot;&gt;&lt;property id=&quot;20148&quot; value=&quot;5&quot;/&gt;&lt;property id=&quot;20300&quot; value=&quot;Slide 43 - &amp;quot;Take Home Message&amp;quot;&quot;/&gt;&lt;property id=&quot;20307&quot; value=&quot;305&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196</TotalTime>
  <Words>998</Words>
  <Application>Microsoft Office PowerPoint</Application>
  <PresentationFormat>On-screen Show (4:3)</PresentationFormat>
  <Paragraphs>268</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Symbol</vt:lpstr>
      <vt:lpstr>ヒラギノ角ゴ Pro W3</vt:lpstr>
      <vt:lpstr>Office Theme</vt:lpstr>
      <vt:lpstr>Chapter 8 – Control of Microorganisms in the Environment</vt:lpstr>
      <vt:lpstr>8.1 Microbial Growth and Replication Pathways: Targets for Control</vt:lpstr>
      <vt:lpstr>Common Microbial Control Methods</vt:lpstr>
      <vt:lpstr>Definition of Frequently Used Terms</vt:lpstr>
      <vt:lpstr>Visual Differentiation of Control Definitions</vt:lpstr>
      <vt:lpstr>Antimicrobial Agents</vt:lpstr>
      <vt:lpstr>8.2 The Pattern of Microbial Death Mirrors the Pattern of Microbial Growth</vt:lpstr>
      <vt:lpstr>The Pattern of Microbial Death</vt:lpstr>
      <vt:lpstr>D and z Values</vt:lpstr>
      <vt:lpstr>8.3 Mechanical Removal Methods  Rely on Barriers</vt:lpstr>
      <vt:lpstr>Filtration</vt:lpstr>
      <vt:lpstr>Filtering Liquids Membrane filters -porous membranes with defined pore sizes that remove microorganisms primarily by physical screening </vt:lpstr>
      <vt:lpstr>Filtering Air</vt:lpstr>
      <vt:lpstr>8.4 Physical Control Methods Alter Microorganisms to Make Them Nonviable</vt:lpstr>
      <vt:lpstr>Physical Control Methods </vt:lpstr>
      <vt:lpstr>Moist Heat</vt:lpstr>
      <vt:lpstr>Steam Sterilization</vt:lpstr>
      <vt:lpstr>Pasteurization</vt:lpstr>
      <vt:lpstr>Dry Heat Sterilization</vt:lpstr>
      <vt:lpstr>Dry Heat Incineration</vt:lpstr>
      <vt:lpstr>Ultraviolet (UV) Radiation</vt:lpstr>
      <vt:lpstr>Ionizing Radiation</vt:lpstr>
      <vt:lpstr>8.5 Microorganisms Are Controlled  With Chemical Agents</vt:lpstr>
      <vt:lpstr>Chemical Control Agents and Their Requirements</vt:lpstr>
      <vt:lpstr>Activity Levels of Different Chemicals</vt:lpstr>
      <vt:lpstr>Efficiency of Different Chemical Compounds</vt:lpstr>
      <vt:lpstr>Phenolics</vt:lpstr>
      <vt:lpstr>Alcohols</vt:lpstr>
      <vt:lpstr>Halogens</vt:lpstr>
      <vt:lpstr>Halogens - Iodine</vt:lpstr>
      <vt:lpstr>Halogens - Chlorine</vt:lpstr>
      <vt:lpstr>Heavy Metals</vt:lpstr>
      <vt:lpstr>Quaternary Ammonium Compounds</vt:lpstr>
      <vt:lpstr>Aldehydes</vt:lpstr>
      <vt:lpstr>Effects of Glutaraldehyde</vt:lpstr>
      <vt:lpstr>Sterilizing Gases</vt:lpstr>
      <vt:lpstr>8.6 Antimicrobial Agents Must Be  Evaluated for Effectiveness</vt:lpstr>
      <vt:lpstr>Evaluation of Antimicrobial Agent Effectiveness</vt:lpstr>
      <vt:lpstr>Conditions Influencing the Effectiveness of Antimicrobial Agent Activity</vt:lpstr>
      <vt:lpstr>Efficiency Evaluation of Chemical Agents </vt:lpstr>
      <vt:lpstr>8.7 Microorganisms Can Be Controlled  by Biological Methods</vt:lpstr>
      <vt:lpstr>Biological Control of Microorganisms</vt:lpstr>
      <vt:lpstr>Take Home Message</vt:lpstr>
    </vt:vector>
  </TitlesOfParts>
  <Company>University of Central Arkansas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31</cp:revision>
  <dcterms:created xsi:type="dcterms:W3CDTF">2016-01-04T02:13:32Z</dcterms:created>
  <dcterms:modified xsi:type="dcterms:W3CDTF">2018-01-24T10:34:37Z</dcterms:modified>
</cp:coreProperties>
</file>