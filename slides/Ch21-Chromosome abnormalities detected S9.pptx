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9131B-2587-48F6-8765-7A8AC661AA1F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351F5-20E0-46BA-9B75-093E507E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89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1125-7F8D-4753-8578-A208552A0FF0}" type="datetime12">
              <a:rPr lang="en-US" smtClean="0"/>
              <a:t>8:40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43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0EB-3F01-439E-96C0-D543D6DC0E44}" type="datetime12">
              <a:rPr lang="en-US" smtClean="0"/>
              <a:t>8:40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69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19343-6C14-4CDC-BFAE-4A0EF4131183}" type="datetime12">
              <a:rPr lang="en-US" smtClean="0"/>
              <a:t>8:40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43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A611-773F-40A0-ABEC-9086EDBA065C}" type="datetime12">
              <a:rPr lang="en-US" smtClean="0"/>
              <a:t>8:40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84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1736-6174-4886-B095-BB91E05341A6}" type="datetime12">
              <a:rPr lang="en-US" smtClean="0"/>
              <a:t>8:40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0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177-E856-43C6-A383-A0C99C9B0098}" type="datetime12">
              <a:rPr lang="en-US" smtClean="0"/>
              <a:t>8:40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03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BFBA-503E-4E3A-8813-2FBA9722D3CA}" type="datetime12">
              <a:rPr lang="en-US" smtClean="0"/>
              <a:t>8:40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45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6508F-429B-4F93-89BF-7840F7A489AF}" type="datetime12">
              <a:rPr lang="en-US" smtClean="0"/>
              <a:t>8:40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99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35476-1D76-46AB-B06E-B5FF0E64553D}" type="datetime12">
              <a:rPr lang="en-US" smtClean="0"/>
              <a:t>8:40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8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F12C-63A5-4655-A5E6-230C858C86E3}" type="datetime12">
              <a:rPr lang="en-US" smtClean="0"/>
              <a:t>8:40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19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59A6-299F-48F5-B16F-487729DC3E64}" type="datetime12">
              <a:rPr lang="en-US" smtClean="0"/>
              <a:t>8:40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4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2CF4E-FC7E-471D-9B63-17DD6E5479E6}" type="datetime12">
              <a:rPr lang="en-US" smtClean="0"/>
              <a:t>8:40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3632-1539-416B-9ED8-ABEE0FE6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30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1749" y="2391546"/>
            <a:ext cx="9144000" cy="1655762"/>
          </a:xfrm>
        </p:spPr>
        <p:txBody>
          <a:bodyPr>
            <a:noAutofit/>
          </a:bodyPr>
          <a:lstStyle/>
          <a:p>
            <a:r>
              <a:rPr lang="en-US" sz="5400" b="1" dirty="0" smtClean="0"/>
              <a:t>Chromosome abnormalities detected at prenatal diagnosis</a:t>
            </a:r>
            <a:endParaRPr lang="en-US" sz="5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A15EA-F133-4DEF-949A-99F47E8ED177}" type="datetime12">
              <a:rPr lang="en-US" smtClean="0"/>
              <a:t>8:40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99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131" y="195943"/>
            <a:ext cx="1182188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When a chromosomal abnormality is discovered, it is necessary to discuss in detail with the couple the implications of this particular abnormality, and to help them decide on a suitable course of action</a:t>
            </a:r>
          </a:p>
          <a:p>
            <a:endParaRPr lang="en-US" sz="2800" dirty="0"/>
          </a:p>
          <a:p>
            <a:r>
              <a:rPr lang="en-US" sz="2800" dirty="0" smtClean="0"/>
              <a:t>In transmitting the information, the counselor is obliged to be clear and accurate about the particular abnormality and to take care that the </a:t>
            </a:r>
            <a:r>
              <a:rPr lang="en-US" sz="2800" dirty="0" smtClean="0">
                <a:solidFill>
                  <a:srgbClr val="0070C0"/>
                </a:solidFill>
              </a:rPr>
              <a:t>couple’s autonomy in the decision-making process is not compromised</a:t>
            </a:r>
          </a:p>
          <a:p>
            <a:endParaRPr lang="en-US" sz="2800" dirty="0"/>
          </a:p>
          <a:p>
            <a:r>
              <a:rPr lang="en-US" sz="2800" dirty="0" smtClean="0"/>
              <a:t>A decision for or against termination is the immediate one to be made</a:t>
            </a:r>
          </a:p>
          <a:p>
            <a:endParaRPr lang="en-US" sz="2800" dirty="0"/>
          </a:p>
          <a:p>
            <a:r>
              <a:rPr lang="en-US" sz="2800" dirty="0" smtClean="0"/>
              <a:t>Factors usually influencing parents’ decision: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their philosophy of life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their religious views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their socioeconomic status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whether this was a first or wanted pregnancy or a later, unplanned pregnancy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6620-FE11-43BD-965F-D6239E47630B}" type="datetime12">
              <a:rPr lang="en-US" smtClean="0"/>
              <a:t>8:40 PM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7383" y="182880"/>
            <a:ext cx="1180882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Mosaicism: confined, constitutional, and pseudo</a:t>
            </a:r>
          </a:p>
          <a:p>
            <a:endParaRPr lang="en-US" sz="2800" dirty="0"/>
          </a:p>
          <a:p>
            <a:r>
              <a:rPr lang="en-US" sz="2800" dirty="0" smtClean="0"/>
              <a:t>Most times, mosaicism in villus tissue or </a:t>
            </a:r>
            <a:r>
              <a:rPr lang="en-US" sz="2800" dirty="0" err="1" smtClean="0"/>
              <a:t>amniocytes</a:t>
            </a:r>
            <a:r>
              <a:rPr lang="en-US" sz="2800" dirty="0" smtClean="0"/>
              <a:t> does not reflect a true constitutional mosaicism of the embryo</a:t>
            </a:r>
          </a:p>
          <a:p>
            <a:endParaRPr lang="en-US" sz="2800" dirty="0"/>
          </a:p>
          <a:p>
            <a:r>
              <a:rPr lang="en-US" sz="2800" dirty="0" smtClean="0"/>
              <a:t>Three categories: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Confined placental mosaicism CPM, a chromosomally abnormal cell line may exist only in the extra- embryonic tissues of the placenta (chorion, amnion), and the embryo is 46,N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True constitutional fetal mosaicism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err="1" smtClean="0"/>
              <a:t>Pseudomosaism</a:t>
            </a:r>
            <a:r>
              <a:rPr lang="en-US" sz="2800" dirty="0" smtClean="0"/>
              <a:t>, an abnormality that arose during tissue culture in vitro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r>
              <a:rPr lang="en-US" sz="2800" dirty="0" smtClean="0"/>
              <a:t>CPM is encountered at CVS rather than at amniocentesis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6F6BA-E4D8-4601-8D3A-78A803B4DEB3}" type="datetime12">
              <a:rPr lang="en-US" smtClean="0"/>
              <a:t>8:40 PM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71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3218" y="713771"/>
            <a:ext cx="1180279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</a:rPr>
              <a:t>It is uncommon that an observation of apparent CPM at CVS reflects a true constitutional mosaicism of the </a:t>
            </a:r>
            <a:r>
              <a:rPr lang="en-US" sz="2800" dirty="0" smtClean="0">
                <a:solidFill>
                  <a:prstClr val="black"/>
                </a:solidFill>
              </a:rPr>
              <a:t>fetus</a:t>
            </a:r>
          </a:p>
          <a:p>
            <a:pPr lvl="0"/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A study of ~50,000 CVS procedures, mosaicism was seen in 2.2%, of these only 13% (0.3% of the total) proved to have a true fetal mosaicism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E91-F61B-4F22-94A2-003310B56A15}" type="datetime12">
              <a:rPr lang="en-US" smtClean="0"/>
              <a:t>8:40 PM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71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49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6905" y="1041253"/>
            <a:ext cx="5391150" cy="3857625"/>
          </a:xfrm>
          <a:prstGeom prst="rect">
            <a:avLst/>
          </a:prstGeom>
        </p:spPr>
      </p:pic>
      <p:pic>
        <p:nvPicPr>
          <p:cNvPr id="3" name="image250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2737" y="831703"/>
            <a:ext cx="5400040" cy="406717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663311" y="1266091"/>
            <a:ext cx="1364566" cy="618979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0663311" y="3082484"/>
            <a:ext cx="1364566" cy="618979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4137" y="5573072"/>
            <a:ext cx="113141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FIGURE 21–1 Developmental origins of tissues sampled at prenatal diagnosis</a:t>
            </a:r>
            <a:endParaRPr lang="en-US" sz="28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ECC4-DBE3-492E-B1AF-4F5069B2128D}" type="datetime12">
              <a:rPr lang="en-US" smtClean="0"/>
              <a:t>8:40 PM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66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BFBA-503E-4E3A-8813-2FBA9722D3CA}" type="datetime12">
              <a:rPr lang="en-US" smtClean="0"/>
              <a:t>8:40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6</a:t>
            </a:fld>
            <a:endParaRPr lang="en-US"/>
          </a:p>
        </p:txBody>
      </p:sp>
      <p:pic>
        <p:nvPicPr>
          <p:cNvPr id="4" name="image252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85950" y="50200"/>
            <a:ext cx="5126171" cy="67364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30795" y="100330"/>
            <a:ext cx="48345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FIGURE 21–3 Diagram of cell lineages arising from differentiation in the very early conceptus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26609" y="3418444"/>
            <a:ext cx="250938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E, epiblast</a:t>
            </a:r>
          </a:p>
          <a:p>
            <a:r>
              <a:rPr lang="en-US" sz="2400" dirty="0" smtClean="0"/>
              <a:t>H, hypoblast</a:t>
            </a:r>
          </a:p>
          <a:p>
            <a:r>
              <a:rPr lang="en-US" sz="2400" dirty="0" smtClean="0"/>
              <a:t>P, primitive streak</a:t>
            </a:r>
          </a:p>
          <a:p>
            <a:r>
              <a:rPr lang="en-US" sz="2400" dirty="0" smtClean="0"/>
              <a:t>Y, yolk sac</a:t>
            </a:r>
            <a:endParaRPr lang="en-US" sz="2400" dirty="0"/>
          </a:p>
        </p:txBody>
      </p:sp>
      <p:sp>
        <p:nvSpPr>
          <p:cNvPr id="7" name="Oval 6"/>
          <p:cNvSpPr/>
          <p:nvPr/>
        </p:nvSpPr>
        <p:spPr>
          <a:xfrm>
            <a:off x="6051752" y="1111348"/>
            <a:ext cx="1060369" cy="2743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158523" y="5168913"/>
            <a:ext cx="953598" cy="6129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230795" y="1502688"/>
            <a:ext cx="496120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Amniocentesis</a:t>
            </a:r>
            <a:r>
              <a:rPr lang="en-US" sz="2000" dirty="0" smtClean="0"/>
              <a:t> samples cells having origin from the epiblast of the inner cell mass, these cells rather closely reflect the true constitution of the embryo</a:t>
            </a:r>
          </a:p>
          <a:p>
            <a:r>
              <a:rPr lang="en-US" sz="2000" b="1" dirty="0" smtClean="0">
                <a:solidFill>
                  <a:srgbClr val="0070C0"/>
                </a:solidFill>
              </a:rPr>
              <a:t>Chorionic villus sampling</a:t>
            </a:r>
            <a:r>
              <a:rPr lang="en-US" sz="2000" dirty="0" smtClean="0"/>
              <a:t>, samples more distantly related cells: trophoblast cells (direct and short-term culture), which were the first lineage to differentiate from totipotent cells of the morula, and villus core cells (long-term culture), which reflect the more recently separated lineage of the extra- embryonic mesoderm. </a:t>
            </a:r>
          </a:p>
          <a:p>
            <a:r>
              <a:rPr lang="en-US" sz="2000" b="1" dirty="0" smtClean="0">
                <a:solidFill>
                  <a:srgbClr val="0070C0"/>
                </a:solidFill>
              </a:rPr>
              <a:t>Noninvasive prenatal testing</a:t>
            </a:r>
            <a:r>
              <a:rPr lang="en-US" sz="2000" b="1" dirty="0" smtClean="0"/>
              <a:t>, </a:t>
            </a:r>
            <a:r>
              <a:rPr lang="en-US" sz="2000" dirty="0" smtClean="0"/>
              <a:t>samples cell-free DNA that originated from apoptotic trophoblast cells, and therefore is more closely related to CVS than to amniocentesis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21146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BFBA-503E-4E3A-8813-2FBA9722D3CA}" type="datetime12">
              <a:rPr lang="en-US" smtClean="0"/>
              <a:t>8:40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4123" y="170044"/>
            <a:ext cx="1187782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Mechanisms of Mosaicism</a:t>
            </a:r>
          </a:p>
          <a:p>
            <a:endParaRPr lang="en-US" sz="2800" dirty="0" smtClean="0"/>
          </a:p>
          <a:p>
            <a:r>
              <a:rPr lang="en-US" sz="2800" dirty="0" smtClean="0"/>
              <a:t>Distribution of the normal and abnormal cell lines in fetus and placenta depends upon time and place of the abnormal mitotic event</a:t>
            </a:r>
          </a:p>
          <a:p>
            <a:endParaRPr lang="en-US" sz="2800" dirty="0"/>
          </a:p>
          <a:p>
            <a:r>
              <a:rPr lang="en-US" sz="2800" dirty="0" smtClean="0"/>
              <a:t>If a trisomic conceptus is “rescued” by the generation of a normal cell line, at a very early stage, in a cell that is going to give rise to the inner cell mass and to some of the </a:t>
            </a:r>
            <a:r>
              <a:rPr lang="en-US" sz="2800" dirty="0" err="1" smtClean="0"/>
              <a:t>extrafetal</a:t>
            </a:r>
            <a:r>
              <a:rPr lang="en-US" sz="2800" dirty="0" smtClean="0"/>
              <a:t> tissues, then the embryo may be 46,N, and the placenta will show mosaic trisomy</a:t>
            </a:r>
          </a:p>
          <a:p>
            <a:endParaRPr lang="en-US" sz="2800" dirty="0"/>
          </a:p>
          <a:p>
            <a:r>
              <a:rPr lang="en-US" sz="2800" dirty="0" smtClean="0"/>
              <a:t>If rescue occurred at a later stage, the placenta might be entirely trisomic, with a mosaic trisomy of the fetus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028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BFBA-503E-4E3A-8813-2FBA9722D3CA}" type="datetime12">
              <a:rPr lang="en-US" smtClean="0"/>
              <a:t>8:40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8</a:t>
            </a:fld>
            <a:endParaRPr lang="en-US"/>
          </a:p>
        </p:txBody>
      </p:sp>
      <p:pic>
        <p:nvPicPr>
          <p:cNvPr id="4" name="image253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46896" y="0"/>
            <a:ext cx="5242560" cy="68153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27742" y="191644"/>
            <a:ext cx="465171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FIGURE 21–4 Types of mosaicism of the fetal-placental unit. Fetus depicted enclosed in its sac at right, with the chorionic villi comprising the placenta to left. </a:t>
            </a:r>
            <a:r>
              <a:rPr lang="en-US" sz="2800" dirty="0" smtClean="0">
                <a:solidFill>
                  <a:srgbClr val="0070C0"/>
                </a:solidFill>
              </a:rPr>
              <a:t>Gray</a:t>
            </a:r>
            <a:r>
              <a:rPr lang="en-US" sz="2800" dirty="0" smtClean="0"/>
              <a:t> areas indicate an aneuploid cell line; </a:t>
            </a:r>
            <a:r>
              <a:rPr lang="en-US" sz="2800" dirty="0" smtClean="0">
                <a:solidFill>
                  <a:srgbClr val="0070C0"/>
                </a:solidFill>
              </a:rPr>
              <a:t>white</a:t>
            </a:r>
            <a:r>
              <a:rPr lang="en-US" sz="2800" dirty="0" smtClean="0"/>
              <a:t> areas indicate </a:t>
            </a:r>
            <a:r>
              <a:rPr lang="en-US" sz="2800" dirty="0" err="1" smtClean="0"/>
              <a:t>karyotypic</a:t>
            </a:r>
            <a:r>
              <a:rPr lang="en-US" sz="2800" dirty="0" smtClean="0"/>
              <a:t> normality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51942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BFBA-503E-4E3A-8813-2FBA9722D3CA}" type="datetime12">
              <a:rPr lang="en-US" smtClean="0"/>
              <a:t>8:40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3632-1539-416B-9ED8-ABEE0FE6B568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5986" y="204711"/>
            <a:ext cx="11920025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Laboratory Assessment of Mosaicism</a:t>
            </a:r>
          </a:p>
          <a:p>
            <a:endParaRPr lang="en-US" sz="2800" dirty="0" smtClean="0"/>
          </a:p>
          <a:p>
            <a:r>
              <a:rPr lang="en-US" sz="2800" dirty="0" smtClean="0"/>
              <a:t>In terms of the laboratory result, we can apply to both CVS and amniocentesis the concept of different levels of in vitro mosaicism: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smtClean="0"/>
              <a:t>Level I</a:t>
            </a:r>
            <a:r>
              <a:rPr lang="en-US" sz="2800" dirty="0" smtClean="0"/>
              <a:t>: A single abnormal cell is seen. With near certainty this is cultural artifact, and it is thus </a:t>
            </a:r>
            <a:r>
              <a:rPr lang="en-US" sz="2800" dirty="0" err="1" smtClean="0">
                <a:solidFill>
                  <a:srgbClr val="0070C0"/>
                </a:solidFill>
              </a:rPr>
              <a:t>pseudomosaicism</a:t>
            </a:r>
            <a:endParaRPr lang="en-US" sz="2800" dirty="0" smtClean="0">
              <a:solidFill>
                <a:srgbClr val="0070C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smtClean="0"/>
              <a:t>Level II</a:t>
            </a:r>
            <a:r>
              <a:rPr lang="en-US" sz="2800" dirty="0" smtClean="0"/>
              <a:t>:</a:t>
            </a:r>
            <a:r>
              <a:rPr lang="en-US" sz="2800" b="1" dirty="0" smtClean="0"/>
              <a:t> </a:t>
            </a:r>
            <a:r>
              <a:rPr lang="en-US" sz="2800" dirty="0" smtClean="0"/>
              <a:t>Two or more cells with the same chromosomal abnormality in a dispersed culture from a single flask. The abnormality is not observed in multiple colonies from other independent cultures. This form of mosaicism is </a:t>
            </a:r>
            <a:r>
              <a:rPr lang="en-US" sz="2800" dirty="0" smtClean="0">
                <a:solidFill>
                  <a:srgbClr val="0070C0"/>
                </a:solidFill>
              </a:rPr>
              <a:t>almost always </a:t>
            </a:r>
            <a:r>
              <a:rPr lang="en-US" sz="2800" dirty="0" err="1" smtClean="0">
                <a:solidFill>
                  <a:srgbClr val="0070C0"/>
                </a:solidFill>
              </a:rPr>
              <a:t>pseudomosaicism</a:t>
            </a:r>
            <a:endParaRPr lang="en-US" sz="2800" dirty="0" smtClean="0">
              <a:solidFill>
                <a:srgbClr val="0070C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smtClean="0"/>
              <a:t>Level III</a:t>
            </a:r>
            <a:r>
              <a:rPr lang="en-US" sz="2800" dirty="0" smtClean="0"/>
              <a:t>: Two or more cells with the same chromosome abnormality, distributed over two or more independent cultures. Level III is likely to reflect </a:t>
            </a:r>
            <a:r>
              <a:rPr lang="en-US" sz="2800" dirty="0" smtClean="0">
                <a:solidFill>
                  <a:srgbClr val="0070C0"/>
                </a:solidFill>
              </a:rPr>
              <a:t>a true mosaicism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231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686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</dc:title>
  <dc:creator>asemalkhateeb</dc:creator>
  <cp:lastModifiedBy>JUST</cp:lastModifiedBy>
  <cp:revision>20</cp:revision>
  <dcterms:created xsi:type="dcterms:W3CDTF">2019-04-17T14:04:16Z</dcterms:created>
  <dcterms:modified xsi:type="dcterms:W3CDTF">2024-05-18T18:03:58Z</dcterms:modified>
</cp:coreProperties>
</file>