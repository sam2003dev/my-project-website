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1" r:id="rId4"/>
    <p:sldId id="279" r:id="rId5"/>
    <p:sldId id="282" r:id="rId6"/>
    <p:sldId id="280" r:id="rId7"/>
    <p:sldId id="276" r:id="rId8"/>
    <p:sldId id="289" r:id="rId9"/>
    <p:sldId id="290" r:id="rId10"/>
    <p:sldId id="291" r:id="rId11"/>
    <p:sldId id="277" r:id="rId12"/>
    <p:sldId id="283" r:id="rId13"/>
    <p:sldId id="284" r:id="rId14"/>
    <p:sldId id="285" r:id="rId15"/>
    <p:sldId id="286" r:id="rId16"/>
    <p:sldId id="292" r:id="rId17"/>
    <p:sldId id="288" r:id="rId18"/>
    <p:sldId id="303" r:id="rId19"/>
    <p:sldId id="260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4" r:id="rId30"/>
    <p:sldId id="307" r:id="rId31"/>
    <p:sldId id="308" r:id="rId32"/>
    <p:sldId id="306" r:id="rId33"/>
    <p:sldId id="309" r:id="rId34"/>
    <p:sldId id="313" r:id="rId35"/>
    <p:sldId id="311" r:id="rId36"/>
    <p:sldId id="312" r:id="rId37"/>
    <p:sldId id="314" r:id="rId38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6" autoAdjust="0"/>
    <p:restoredTop sz="99618" autoAdjust="0"/>
  </p:normalViewPr>
  <p:slideViewPr>
    <p:cSldViewPr snapToGrid="0" snapToObjects="1">
      <p:cViewPr varScale="1">
        <p:scale>
          <a:sx n="91" d="100"/>
          <a:sy n="91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871671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Microbes in the Food Industry </a:t>
            </a: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Fermented Foods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2824" y="1310965"/>
            <a:ext cx="798110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Fermented </a:t>
            </a:r>
            <a:r>
              <a:rPr lang="en-US" altLang="ja-JP" sz="2800" dirty="0">
                <a:latin typeface="Times New Roman"/>
                <a:cs typeface="Times New Roman"/>
              </a:rPr>
              <a:t>foods are the foods which are produced or preserved by the action of microorganisms. 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Food </a:t>
            </a:r>
            <a:r>
              <a:rPr lang="en-US" altLang="ja-JP" sz="2800" dirty="0">
                <a:latin typeface="Times New Roman"/>
                <a:cs typeface="Times New Roman"/>
              </a:rPr>
              <a:t>fermentation as a form of energy</a:t>
            </a:r>
            <a:r>
              <a:rPr lang="en-US" altLang="ja-JP" sz="2800" dirty="0" smtClean="0">
                <a:latin typeface="Times New Roman"/>
                <a:cs typeface="Times New Roman"/>
              </a:rPr>
              <a:t>-yielding </a:t>
            </a:r>
            <a:r>
              <a:rPr lang="en-US" altLang="ja-JP" sz="2800" dirty="0">
                <a:latin typeface="Times New Roman"/>
                <a:cs typeface="Times New Roman"/>
              </a:rPr>
              <a:t>microbial metabolism in which an organic substrate usually a carbohydrate is incompletely </a:t>
            </a:r>
            <a:r>
              <a:rPr lang="en-US" altLang="ja-JP" sz="2800" dirty="0" smtClean="0">
                <a:latin typeface="Times New Roman"/>
                <a:cs typeface="Times New Roman"/>
              </a:rPr>
              <a:t>oxidized </a:t>
            </a:r>
            <a:r>
              <a:rPr lang="en-US" altLang="ja-JP" sz="2800" dirty="0">
                <a:latin typeface="Times New Roman"/>
                <a:cs typeface="Times New Roman"/>
              </a:rPr>
              <a:t>and an organic </a:t>
            </a:r>
            <a:r>
              <a:rPr lang="en-US" altLang="ja-JP" sz="2800" dirty="0" smtClean="0">
                <a:latin typeface="Times New Roman"/>
                <a:cs typeface="Times New Roman"/>
              </a:rPr>
              <a:t>carbohydrate </a:t>
            </a:r>
            <a:r>
              <a:rPr lang="en-US" altLang="ja-JP" sz="2800" dirty="0">
                <a:latin typeface="Times New Roman"/>
                <a:cs typeface="Times New Roman"/>
              </a:rPr>
              <a:t>acts as an electron </a:t>
            </a:r>
            <a:r>
              <a:rPr lang="en-US" altLang="ja-JP" sz="2800" dirty="0" smtClean="0">
                <a:latin typeface="Times New Roman"/>
                <a:cs typeface="Times New Roman"/>
              </a:rPr>
              <a:t>acceptor.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Originally, food fermentations were carried with the primary </a:t>
            </a:r>
            <a:r>
              <a:rPr lang="en-US" altLang="ja-JP" sz="2800" dirty="0" smtClean="0">
                <a:latin typeface="Times New Roman"/>
                <a:cs typeface="Times New Roman"/>
              </a:rPr>
              <a:t>purpose to achieve preservation effect for long</a:t>
            </a:r>
            <a:r>
              <a:rPr lang="en-US" altLang="ja-JP" sz="2800" dirty="0">
                <a:latin typeface="Times New Roman"/>
                <a:cs typeface="Times New Roman"/>
              </a:rPr>
              <a:t>-term use 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431949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Milk constituents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3270"/>
              </p:ext>
            </p:extLst>
          </p:nvPr>
        </p:nvGraphicFramePr>
        <p:xfrm>
          <a:off x="538163" y="1926157"/>
          <a:ext cx="9734550" cy="383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Document" r:id="rId3" imgW="5638800" imgH="2222500" progId="Word.Document.12">
                  <p:embed/>
                </p:oleObj>
              </mc:Choice>
              <mc:Fallback>
                <p:oleObj name="Document" r:id="rId3" imgW="5638800" imgH="2222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8163" y="1926157"/>
                        <a:ext cx="9734550" cy="3836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854824" y="6516451"/>
            <a:ext cx="52891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Times New Roman"/>
                <a:cs typeface="Times New Roman"/>
              </a:rPr>
              <a:t>https://</a:t>
            </a:r>
            <a:r>
              <a:rPr lang="en-US" altLang="ja-JP" sz="1200" dirty="0" err="1">
                <a:latin typeface="Times New Roman"/>
                <a:cs typeface="Times New Roman"/>
              </a:rPr>
              <a:t>www.ilri.org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InfoServ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Webpub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fulldocs</a:t>
            </a:r>
            <a:r>
              <a:rPr lang="en-US" altLang="ja-JP" sz="1200" dirty="0">
                <a:latin typeface="Times New Roman"/>
                <a:cs typeface="Times New Roman"/>
              </a:rPr>
              <a:t>/ilca_manual4/</a:t>
            </a:r>
            <a:r>
              <a:rPr lang="en-US" altLang="ja-JP" sz="1200" dirty="0" err="1">
                <a:latin typeface="Times New Roman"/>
                <a:cs typeface="Times New Roman"/>
              </a:rPr>
              <a:t>Milkchemistry.htm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070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Milk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659" y="960541"/>
            <a:ext cx="5701857" cy="53946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6572554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ja-JP" sz="1050" dirty="0">
                <a:latin typeface="Times New Roman"/>
                <a:cs typeface="Times New Roman"/>
              </a:rPr>
              <a:t>https://</a:t>
            </a:r>
            <a:r>
              <a:rPr lang="en-US" altLang="ja-JP" sz="1050" dirty="0" err="1">
                <a:latin typeface="Times New Roman"/>
                <a:cs typeface="Times New Roman"/>
              </a:rPr>
              <a:t>www.uoguelph.ca</a:t>
            </a:r>
            <a:r>
              <a:rPr lang="en-US" altLang="ja-JP" sz="1050" dirty="0">
                <a:latin typeface="Times New Roman"/>
                <a:cs typeface="Times New Roman"/>
              </a:rPr>
              <a:t>/</a:t>
            </a:r>
            <a:r>
              <a:rPr lang="en-US" altLang="ja-JP" sz="1050" dirty="0" err="1">
                <a:latin typeface="Times New Roman"/>
                <a:cs typeface="Times New Roman"/>
              </a:rPr>
              <a:t>foodscience</a:t>
            </a:r>
            <a:r>
              <a:rPr lang="en-US" altLang="ja-JP" sz="1050" dirty="0">
                <a:latin typeface="Times New Roman"/>
                <a:cs typeface="Times New Roman"/>
              </a:rPr>
              <a:t>/book-page/milk-structure</a:t>
            </a:r>
            <a:endParaRPr lang="ja-JP" altLang="en-US" sz="10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2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58424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Milk Proteins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983" y="1051441"/>
            <a:ext cx="4580028" cy="54500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54824" y="6516451"/>
            <a:ext cx="52891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Times New Roman"/>
                <a:cs typeface="Times New Roman"/>
              </a:rPr>
              <a:t>https://</a:t>
            </a:r>
            <a:r>
              <a:rPr lang="en-US" altLang="ja-JP" sz="1200" dirty="0" err="1">
                <a:latin typeface="Times New Roman"/>
                <a:cs typeface="Times New Roman"/>
              </a:rPr>
              <a:t>www.ilri.org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InfoServ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Webpub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fulldocs</a:t>
            </a:r>
            <a:r>
              <a:rPr lang="en-US" altLang="ja-JP" sz="1200" dirty="0">
                <a:latin typeface="Times New Roman"/>
                <a:cs typeface="Times New Roman"/>
              </a:rPr>
              <a:t>/ilca_manual4/</a:t>
            </a:r>
            <a:r>
              <a:rPr lang="en-US" altLang="ja-JP" sz="1200" dirty="0" err="1">
                <a:latin typeface="Times New Roman"/>
                <a:cs typeface="Times New Roman"/>
              </a:rPr>
              <a:t>Milkchemistry.htm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92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Casein 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micelles 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195293"/>
            <a:ext cx="8775700" cy="5214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17933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Dairy products</a:t>
            </a:r>
          </a:p>
          <a:p>
            <a:pPr algn="ctr"/>
            <a:r>
              <a:rPr lang="en-US" altLang="ja-JP" sz="3200" b="1" i="1" dirty="0" smtClean="0">
                <a:solidFill>
                  <a:srgbClr val="FF0000"/>
                </a:solidFill>
                <a:latin typeface="Arial"/>
                <a:cs typeface="Arial"/>
              </a:rPr>
              <a:t>Yoghurt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579903"/>
            <a:ext cx="79811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000" dirty="0">
                <a:latin typeface="Times New Roman"/>
                <a:cs typeface="Times New Roman"/>
              </a:rPr>
              <a:t>Yoghurts are traditional sour milk preparations that have become major dairy products.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Inoculation </a:t>
            </a:r>
            <a:r>
              <a:rPr lang="en-US" altLang="ja-JP" sz="2000" dirty="0">
                <a:latin typeface="Times New Roman"/>
                <a:cs typeface="Times New Roman"/>
              </a:rPr>
              <a:t>involves a mixed starter culture containing </a:t>
            </a:r>
            <a:r>
              <a:rPr lang="en-US" altLang="ja-JP" sz="2000" dirty="0" err="1">
                <a:latin typeface="Times New Roman"/>
                <a:cs typeface="Times New Roman"/>
              </a:rPr>
              <a:t>thermophilic</a:t>
            </a:r>
            <a:r>
              <a:rPr lang="en-US" altLang="ja-JP" sz="2000" dirty="0">
                <a:latin typeface="Times New Roman"/>
                <a:cs typeface="Times New Roman"/>
              </a:rPr>
              <a:t> strains of </a:t>
            </a:r>
            <a:r>
              <a:rPr lang="en-US" altLang="ja-JP" sz="2000" i="1" dirty="0">
                <a:latin typeface="Times New Roman"/>
                <a:cs typeface="Times New Roman"/>
              </a:rPr>
              <a:t>Streptococcus </a:t>
            </a:r>
            <a:r>
              <a:rPr lang="en-US" altLang="ja-JP" sz="2000" i="1" dirty="0" err="1">
                <a:latin typeface="Times New Roman"/>
                <a:cs typeface="Times New Roman"/>
              </a:rPr>
              <a:t>thermophilus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and </a:t>
            </a:r>
            <a:r>
              <a:rPr lang="en-US" altLang="ja-JP" sz="2000" i="1" dirty="0">
                <a:latin typeface="Times New Roman"/>
                <a:cs typeface="Times New Roman"/>
              </a:rPr>
              <a:t>Lactobacillus </a:t>
            </a:r>
            <a:r>
              <a:rPr lang="en-US" altLang="ja-JP" sz="2000" i="1" dirty="0" err="1" smtClean="0">
                <a:latin typeface="Times New Roman"/>
                <a:cs typeface="Times New Roman"/>
              </a:rPr>
              <a:t>delbrueckii</a:t>
            </a:r>
            <a:r>
              <a:rPr lang="en-US" altLang="ja-JP" sz="20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ssp. </a:t>
            </a:r>
            <a:r>
              <a:rPr lang="en-US" altLang="ja-JP" sz="2000" i="1" dirty="0" err="1">
                <a:latin typeface="Times New Roman"/>
                <a:cs typeface="Times New Roman"/>
              </a:rPr>
              <a:t>bulgaricus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in a ratio of 1 : 1</a:t>
            </a:r>
            <a:r>
              <a:rPr lang="en-US" altLang="ja-JP" sz="2000" dirty="0" smtClean="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i="1" dirty="0">
                <a:latin typeface="Times New Roman"/>
                <a:cs typeface="Times New Roman"/>
              </a:rPr>
              <a:t>Streptococcus </a:t>
            </a:r>
            <a:r>
              <a:rPr lang="en-US" altLang="ja-JP" sz="2000" i="1" dirty="0" err="1">
                <a:latin typeface="Times New Roman"/>
                <a:cs typeface="Times New Roman"/>
              </a:rPr>
              <a:t>thermophilus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 smtClean="0">
                <a:latin typeface="Times New Roman"/>
                <a:cs typeface="Times New Roman"/>
              </a:rPr>
              <a:t>produces </a:t>
            </a:r>
            <a:r>
              <a:rPr lang="en-US" altLang="ja-JP" sz="2000" dirty="0">
                <a:latin typeface="Times New Roman"/>
                <a:cs typeface="Times New Roman"/>
              </a:rPr>
              <a:t>mainly acid,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i="1" dirty="0">
                <a:latin typeface="Times New Roman"/>
                <a:cs typeface="Times New Roman"/>
              </a:rPr>
              <a:t>Lactobacillus </a:t>
            </a:r>
            <a:r>
              <a:rPr lang="en-US" altLang="ja-JP" sz="2000" i="1" dirty="0" err="1" smtClean="0">
                <a:latin typeface="Times New Roman"/>
                <a:cs typeface="Times New Roman"/>
              </a:rPr>
              <a:t>delbrueckii</a:t>
            </a:r>
            <a:r>
              <a:rPr lang="en-US" altLang="ja-JP" sz="20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ssp. </a:t>
            </a:r>
            <a:r>
              <a:rPr lang="en-US" altLang="ja-JP" sz="2000" i="1" dirty="0" err="1">
                <a:latin typeface="Times New Roman"/>
                <a:cs typeface="Times New Roman"/>
              </a:rPr>
              <a:t>bulgaricus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generates more organoleptic compounds, particularly acetaldehyde.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i="1" dirty="0">
                <a:latin typeface="Times New Roman"/>
                <a:cs typeface="Times New Roman"/>
              </a:rPr>
              <a:t>Streptococcus </a:t>
            </a:r>
            <a:r>
              <a:rPr lang="en-US" altLang="ja-JP" sz="2000" i="1" dirty="0" err="1">
                <a:latin typeface="Times New Roman"/>
                <a:cs typeface="Times New Roman"/>
              </a:rPr>
              <a:t>thermophilus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and </a:t>
            </a:r>
            <a:r>
              <a:rPr lang="en-US" altLang="ja-JP" sz="2000" i="1" dirty="0">
                <a:latin typeface="Times New Roman"/>
                <a:cs typeface="Times New Roman"/>
              </a:rPr>
              <a:t>Lactobacillus </a:t>
            </a:r>
            <a:r>
              <a:rPr lang="en-US" altLang="ja-JP" sz="2000" i="1" dirty="0" err="1">
                <a:latin typeface="Times New Roman"/>
                <a:cs typeface="Times New Roman"/>
              </a:rPr>
              <a:t>delbrueckii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ssp. </a:t>
            </a:r>
            <a:r>
              <a:rPr lang="en-US" altLang="ja-JP" sz="2000" i="1" dirty="0" err="1">
                <a:latin typeface="Times New Roman"/>
                <a:cs typeface="Times New Roman"/>
              </a:rPr>
              <a:t>bulgaricus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dirty="0" smtClean="0">
                <a:latin typeface="Times New Roman"/>
                <a:cs typeface="Times New Roman"/>
              </a:rPr>
              <a:t>also produce </a:t>
            </a:r>
            <a:r>
              <a:rPr lang="en-US" altLang="ja-JP" sz="2000" dirty="0" err="1" smtClean="0">
                <a:latin typeface="Times New Roman"/>
                <a:cs typeface="Times New Roman"/>
              </a:rPr>
              <a:t>proteolytic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enzymes and extracellular polymers also aid protein-gel formation. </a:t>
            </a:r>
            <a:endParaRPr kumimoji="1" lang="ja-JP" alt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573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Acid coagulation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679"/>
            <a:ext cx="9144000" cy="5535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89413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Acid coagulation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79667" y="3290501"/>
            <a:ext cx="1846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aseline="30000" dirty="0"/>
              <a:t> </a:t>
            </a:r>
            <a:endParaRPr lang="ja-JP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4479667" y="3290501"/>
            <a:ext cx="1846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aseline="30000" dirty="0"/>
              <a:t> </a:t>
            </a:r>
            <a:endParaRPr lang="ja-JP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06500"/>
            <a:ext cx="8991600" cy="565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81980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Acid coagulation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79667" y="3290501"/>
            <a:ext cx="1846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aseline="30000" dirty="0"/>
              <a:t> </a:t>
            </a:r>
            <a:endParaRPr lang="ja-JP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4479667" y="3290501"/>
            <a:ext cx="1846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aseline="30000" dirty="0"/>
              <a:t> </a:t>
            </a:r>
            <a:endParaRPr lang="ja-JP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69" y="1202693"/>
            <a:ext cx="7261396" cy="5344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55759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Dairy products</a:t>
            </a:r>
          </a:p>
          <a:p>
            <a:pPr algn="ctr"/>
            <a:r>
              <a:rPr lang="en-US" altLang="ja-JP" sz="3200" b="1" i="1" dirty="0" smtClean="0">
                <a:solidFill>
                  <a:srgbClr val="FF0000"/>
                </a:solidFill>
                <a:latin typeface="Arial"/>
                <a:cs typeface="Arial"/>
              </a:rPr>
              <a:t>Cheese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609785"/>
            <a:ext cx="7981103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000" dirty="0">
                <a:latin typeface="Times New Roman"/>
                <a:cs typeface="Times New Roman"/>
              </a:rPr>
              <a:t>Cheese making </a:t>
            </a:r>
            <a:r>
              <a:rPr lang="en-US" altLang="ja-JP" sz="2000" dirty="0" smtClean="0">
                <a:latin typeface="Times New Roman"/>
                <a:cs typeface="Times New Roman"/>
              </a:rPr>
              <a:t>involves </a:t>
            </a:r>
            <a:r>
              <a:rPr lang="en-US" altLang="ja-JP" sz="2000" dirty="0">
                <a:latin typeface="Times New Roman"/>
                <a:cs typeface="Times New Roman"/>
              </a:rPr>
              <a:t>concentration of milk fat and protein by removing </a:t>
            </a:r>
            <a:r>
              <a:rPr lang="en-US" altLang="ja-JP" sz="2000" dirty="0" smtClean="0">
                <a:latin typeface="Times New Roman"/>
                <a:cs typeface="Times New Roman"/>
              </a:rPr>
              <a:t>water. </a:t>
            </a: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Numerous </a:t>
            </a:r>
            <a:r>
              <a:rPr lang="en-US" altLang="ja-JP" sz="2000" dirty="0">
                <a:latin typeface="Times New Roman"/>
                <a:cs typeface="Times New Roman"/>
              </a:rPr>
              <a:t>different types of cheese with widely varying texture and flavor </a:t>
            </a:r>
            <a:r>
              <a:rPr lang="en-US" altLang="ja-JP" sz="2000" dirty="0" smtClean="0">
                <a:latin typeface="Times New Roman"/>
                <a:cs typeface="Times New Roman"/>
              </a:rPr>
              <a:t>due to difference in:</a:t>
            </a:r>
          </a:p>
          <a:p>
            <a:pPr marL="342900" indent="-342900">
              <a:buFont typeface="Arial"/>
              <a:buChar char="•"/>
            </a:pPr>
            <a:endParaRPr lang="en-US" altLang="ja-JP" sz="11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type of milk used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diet of the milk producer, which in turn is influenced by the local soil, vegetation and climatic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particular strain of microorganisms used for inoculation at each phase of production, including starter and ripening stages, which contributes different organoleptic compounds and modifies the texture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processing methods employed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environmental conditions during ripening, particularly temperature and humidity. </a:t>
            </a: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728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Dairy products</a:t>
            </a:r>
          </a:p>
          <a:p>
            <a:pPr algn="ctr"/>
            <a:r>
              <a:rPr lang="en-US" altLang="ja-JP" sz="3200" b="1" i="1" dirty="0" smtClean="0">
                <a:solidFill>
                  <a:srgbClr val="FF0000"/>
                </a:solidFill>
                <a:latin typeface="Arial"/>
                <a:cs typeface="Arial"/>
              </a:rPr>
              <a:t>Cheese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8747"/>
          <a:stretch/>
        </p:blipFill>
        <p:spPr>
          <a:xfrm>
            <a:off x="22601" y="2360705"/>
            <a:ext cx="9007413" cy="306294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4516" y="5839097"/>
            <a:ext cx="8140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group of microorganisms, usually bacteria, that have identical genetic but different </a:t>
            </a:r>
            <a:endParaRPr lang="en-US" dirty="0" smtClean="0"/>
          </a:p>
          <a:p>
            <a:r>
              <a:rPr lang="en-US" dirty="0" smtClean="0"/>
              <a:t>biochemical </a:t>
            </a:r>
            <a:r>
              <a:rPr lang="en-US" dirty="0"/>
              <a:t>or physiological characters.</a:t>
            </a:r>
          </a:p>
        </p:txBody>
      </p:sp>
    </p:spTree>
    <p:extLst>
      <p:ext uri="{BB962C8B-B14F-4D97-AF65-F5344CB8AC3E}">
        <p14:creationId xmlns:p14="http://schemas.microsoft.com/office/powerpoint/2010/main" val="285437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92891"/>
            <a:ext cx="7769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Dairy products</a:t>
            </a:r>
          </a:p>
          <a:p>
            <a:pPr algn="ctr"/>
            <a:r>
              <a:rPr lang="en-US" altLang="ja-JP" sz="3200" b="1" i="1" dirty="0" smtClean="0">
                <a:solidFill>
                  <a:srgbClr val="FF0000"/>
                </a:solidFill>
                <a:latin typeface="Arial"/>
                <a:cs typeface="Arial"/>
              </a:rPr>
              <a:t>Cheese</a:t>
            </a:r>
            <a:endParaRPr lang="en-US" altLang="ja-JP" sz="32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609785"/>
            <a:ext cx="7981103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There is no standard method of cheese </a:t>
            </a:r>
            <a:r>
              <a:rPr lang="en-US" altLang="ja-JP" sz="2400" dirty="0" smtClean="0">
                <a:latin typeface="Times New Roman"/>
                <a:cs typeface="Times New Roman"/>
              </a:rPr>
              <a:t>making. </a:t>
            </a:r>
            <a:r>
              <a:rPr lang="en-US" altLang="ja-JP" sz="2400" dirty="0">
                <a:latin typeface="Times New Roman"/>
                <a:cs typeface="Times New Roman"/>
              </a:rPr>
              <a:t>However, for most cheeses, the process basically </a:t>
            </a:r>
            <a:r>
              <a:rPr lang="en-US" altLang="ja-JP" sz="2400" dirty="0" smtClean="0">
                <a:latin typeface="Times New Roman"/>
                <a:cs typeface="Times New Roman"/>
              </a:rPr>
              <a:t>involves: </a:t>
            </a:r>
          </a:p>
          <a:p>
            <a:pPr marL="342900" indent="-342900">
              <a:buFont typeface="Arial"/>
              <a:buChar char="•"/>
            </a:pPr>
            <a:endParaRPr lang="en-US" altLang="ja-JP" sz="100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Pretreatment of raw milk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Formation of solid curd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Removal of the liquid whey from the curd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Curd processing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Ripening and ageing</a:t>
            </a:r>
            <a:r>
              <a:rPr lang="en-US" altLang="ja-JP" sz="2400" dirty="0">
                <a:latin typeface="Times New Roman"/>
                <a:cs typeface="Times New Roman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9664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599"/>
            <a:ext cx="77694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Cheese making process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47" y="598375"/>
            <a:ext cx="3677024" cy="608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6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599"/>
            <a:ext cx="77694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Cheese making process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1171"/>
          <a:stretch/>
        </p:blipFill>
        <p:spPr>
          <a:xfrm>
            <a:off x="1300734" y="795930"/>
            <a:ext cx="7079601" cy="572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9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0384" y="273951"/>
            <a:ext cx="77694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Acidification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of the milk by lactic acid bacteria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2824" y="2015084"/>
            <a:ext cx="7981103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An inoculum of 0.5–2.0% (v/v) is added and the fermentation is </a:t>
            </a:r>
            <a:r>
              <a:rPr lang="en-US" altLang="ja-JP" sz="2400" dirty="0" smtClean="0">
                <a:latin typeface="Times New Roman"/>
                <a:cs typeface="Times New Roman"/>
              </a:rPr>
              <a:t>performed </a:t>
            </a:r>
            <a:r>
              <a:rPr lang="en-US" altLang="ja-JP" sz="2400" dirty="0">
                <a:latin typeface="Times New Roman"/>
                <a:cs typeface="Times New Roman"/>
              </a:rPr>
              <a:t>at around 32°C for 10–75 min.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For </a:t>
            </a:r>
            <a:r>
              <a:rPr lang="en-US" altLang="ja-JP" sz="2400" dirty="0">
                <a:latin typeface="Times New Roman"/>
                <a:cs typeface="Times New Roman"/>
              </a:rPr>
              <a:t>some cheeses this may be further controlled by heat treatment at 55°C, which inhibits </a:t>
            </a:r>
            <a:r>
              <a:rPr lang="en-US" altLang="ja-JP" sz="2400" dirty="0" err="1">
                <a:latin typeface="Times New Roman"/>
                <a:cs typeface="Times New Roman"/>
              </a:rPr>
              <a:t>mesophiles</a:t>
            </a:r>
            <a:r>
              <a:rPr lang="en-US" altLang="ja-JP" sz="2400" dirty="0">
                <a:latin typeface="Times New Roman"/>
                <a:cs typeface="Times New Roman"/>
              </a:rPr>
              <a:t> and promotes the action of thermophiles.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initial selection of suitable microbial strains, the amount of starter culture used, the length of </a:t>
            </a:r>
            <a:r>
              <a:rPr lang="en-US" altLang="ja-JP" sz="2400" dirty="0" smtClean="0">
                <a:latin typeface="Times New Roman"/>
                <a:cs typeface="Times New Roman"/>
              </a:rPr>
              <a:t>pre-ripening </a:t>
            </a:r>
            <a:r>
              <a:rPr lang="en-US" altLang="ja-JP" sz="2400" dirty="0">
                <a:latin typeface="Times New Roman"/>
                <a:cs typeface="Times New Roman"/>
              </a:rPr>
              <a:t>and the incubation </a:t>
            </a:r>
            <a:r>
              <a:rPr lang="en-US" altLang="ja-JP" sz="2400" dirty="0" smtClean="0">
                <a:latin typeface="Times New Roman"/>
                <a:cs typeface="Times New Roman"/>
              </a:rPr>
              <a:t>temperature </a:t>
            </a:r>
            <a:r>
              <a:rPr lang="en-US" altLang="ja-JP" sz="2400" dirty="0">
                <a:latin typeface="Times New Roman"/>
                <a:cs typeface="Times New Roman"/>
              </a:rPr>
              <a:t>are important in creating many subtle </a:t>
            </a:r>
            <a:r>
              <a:rPr lang="en-US" altLang="ja-JP" sz="2400" dirty="0" smtClean="0">
                <a:latin typeface="Times New Roman"/>
                <a:cs typeface="Times New Roman"/>
              </a:rPr>
              <a:t>differences </a:t>
            </a:r>
            <a:r>
              <a:rPr lang="en-US" altLang="ja-JP" sz="2400" dirty="0">
                <a:latin typeface="Times New Roman"/>
                <a:cs typeface="Times New Roman"/>
              </a:rPr>
              <a:t>in the final </a:t>
            </a:r>
            <a:r>
              <a:rPr lang="en-US" altLang="ja-JP" sz="2400" dirty="0" smtClean="0">
                <a:latin typeface="Times New Roman"/>
                <a:cs typeface="Times New Roman"/>
              </a:rPr>
              <a:t>color, flavor </a:t>
            </a:r>
            <a:r>
              <a:rPr lang="en-US" altLang="ja-JP" sz="2400" dirty="0">
                <a:latin typeface="Times New Roman"/>
                <a:cs typeface="Times New Roman"/>
              </a:rPr>
              <a:t>and aroma. </a:t>
            </a:r>
          </a:p>
        </p:txBody>
      </p:sp>
    </p:spTree>
    <p:extLst>
      <p:ext uri="{BB962C8B-B14F-4D97-AF65-F5344CB8AC3E}">
        <p14:creationId xmlns:p14="http://schemas.microsoft.com/office/powerpoint/2010/main" val="276363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0384" y="273951"/>
            <a:ext cx="77694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Acidification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of the milk by lactic acid bacteria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2824" y="1785415"/>
            <a:ext cx="7981103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100" dirty="0">
                <a:latin typeface="Times New Roman"/>
                <a:cs typeface="Times New Roman"/>
              </a:rPr>
              <a:t>Lactic acid has the following effects: </a:t>
            </a:r>
            <a:endParaRPr lang="en-US" altLang="ja-JP" sz="2100" dirty="0" smtClean="0">
              <a:latin typeface="Times New Roman"/>
              <a:cs typeface="Times New Roman"/>
            </a:endParaRPr>
          </a:p>
          <a:p>
            <a:endParaRPr lang="en-US" altLang="ja-JP" sz="21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100" dirty="0" smtClean="0">
                <a:latin typeface="Times New Roman"/>
                <a:cs typeface="Times New Roman"/>
              </a:rPr>
              <a:t>It causes the coagulation of casein at pH 4.6</a:t>
            </a:r>
            <a:r>
              <a:rPr lang="en-US" altLang="ja-JP" sz="2100" dirty="0">
                <a:latin typeface="Times New Roman"/>
                <a:cs typeface="Times New Roman"/>
              </a:rPr>
              <a:t>,</a:t>
            </a:r>
            <a:r>
              <a:rPr lang="en-US" altLang="ja-JP" sz="2100" dirty="0" smtClean="0">
                <a:latin typeface="Times New Roman"/>
                <a:cs typeface="Times New Roman"/>
              </a:rPr>
              <a:t>the isoelectric point of that protein</a:t>
            </a:r>
            <a:r>
              <a:rPr lang="en-US" altLang="ja-JP" sz="2100" dirty="0">
                <a:latin typeface="Times New Roman"/>
                <a:cs typeface="Times New Roman"/>
              </a:rPr>
              <a:t>, which is used in the manufacture of some cheeses, e.g. cottage cheese.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100" dirty="0" smtClean="0">
                <a:latin typeface="Times New Roman"/>
                <a:cs typeface="Times New Roman"/>
              </a:rPr>
              <a:t>It provides a favorably low pH for the action of rennin the enzyme which forms the </a:t>
            </a:r>
            <a:r>
              <a:rPr lang="en-US" altLang="ja-JP" sz="2100" dirty="0">
                <a:latin typeface="Times New Roman"/>
                <a:cs typeface="Times New Roman"/>
              </a:rPr>
              <a:t>curd from casein in other types of cheeses.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100" dirty="0" smtClean="0">
                <a:latin typeface="Times New Roman"/>
                <a:cs typeface="Times New Roman"/>
              </a:rPr>
              <a:t>The low pH eliminates </a:t>
            </a:r>
            <a:r>
              <a:rPr lang="en-US" altLang="ja-JP" sz="2100" dirty="0" err="1" smtClean="0">
                <a:latin typeface="Times New Roman"/>
                <a:cs typeface="Times New Roman"/>
              </a:rPr>
              <a:t>proteolytic</a:t>
            </a:r>
            <a:r>
              <a:rPr lang="en-US" altLang="ja-JP" sz="2100" dirty="0" smtClean="0">
                <a:latin typeface="Times New Roman"/>
                <a:cs typeface="Times New Roman"/>
              </a:rPr>
              <a:t> and other undesirable bacteria</a:t>
            </a:r>
            <a:r>
              <a:rPr lang="en-US" altLang="ja-JP" sz="2100" dirty="0">
                <a:latin typeface="Times New Roman"/>
                <a:cs typeface="Times New Roman"/>
              </a:rPr>
              <a:t>.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100" dirty="0" smtClean="0">
                <a:latin typeface="Times New Roman"/>
                <a:cs typeface="Times New Roman"/>
              </a:rPr>
              <a:t>It causes the curd to shrink and thus promotes the drainage of whey</a:t>
            </a:r>
            <a:r>
              <a:rPr lang="en-US" altLang="ja-JP" sz="2100" dirty="0">
                <a:latin typeface="Times New Roman"/>
                <a:cs typeface="Times New Roman"/>
              </a:rPr>
              <a:t>.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100" dirty="0" smtClean="0">
                <a:latin typeface="Times New Roman"/>
                <a:cs typeface="Times New Roman"/>
              </a:rPr>
              <a:t>Metabolic </a:t>
            </a:r>
            <a:r>
              <a:rPr lang="en-US" altLang="ja-JP" sz="2100" dirty="0">
                <a:latin typeface="Times New Roman"/>
                <a:cs typeface="Times New Roman"/>
              </a:rPr>
              <a:t>products from the lactic acid bacteria such as ketones, esters and aldehydes contribute to the flavor of the cheese. </a:t>
            </a:r>
            <a:endParaRPr lang="en-US" altLang="ja-JP" sz="2100" dirty="0"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822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599"/>
            <a:ext cx="77694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Cheese making process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6316"/>
          <a:stretch/>
        </p:blipFill>
        <p:spPr>
          <a:xfrm>
            <a:off x="1310630" y="657100"/>
            <a:ext cx="6783264" cy="602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5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338635"/>
            <a:ext cx="7891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862" y="1366607"/>
            <a:ext cx="828263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000" dirty="0">
                <a:latin typeface="Times New Roman"/>
                <a:cs typeface="Times New Roman"/>
              </a:rPr>
              <a:t>Curd formation </a:t>
            </a:r>
            <a:r>
              <a:rPr lang="en-US" altLang="ja-JP" sz="2000" dirty="0" smtClean="0">
                <a:latin typeface="Times New Roman"/>
                <a:cs typeface="Times New Roman"/>
              </a:rPr>
              <a:t>is promoted</a:t>
            </a:r>
            <a:r>
              <a:rPr lang="en-US" altLang="ja-JP" sz="2000" dirty="0">
                <a:latin typeface="Times New Roman"/>
                <a:cs typeface="Times New Roman"/>
              </a:rPr>
              <a:t>, in all but soft, </a:t>
            </a:r>
            <a:r>
              <a:rPr lang="en-US" altLang="ja-JP" sz="2000" dirty="0" err="1">
                <a:latin typeface="Times New Roman"/>
                <a:cs typeface="Times New Roman"/>
              </a:rPr>
              <a:t>unripened</a:t>
            </a:r>
            <a:r>
              <a:rPr lang="en-US" altLang="ja-JP" sz="2000" dirty="0">
                <a:latin typeface="Times New Roman"/>
                <a:cs typeface="Times New Roman"/>
              </a:rPr>
              <a:t> cheeses such as cottage and cream cheeses, by the addition of specific </a:t>
            </a:r>
            <a:r>
              <a:rPr lang="en-US" altLang="ja-JP" sz="2000" dirty="0" err="1">
                <a:latin typeface="Times New Roman"/>
                <a:cs typeface="Times New Roman"/>
              </a:rPr>
              <a:t>proteolytic</a:t>
            </a:r>
            <a:r>
              <a:rPr lang="en-US" altLang="ja-JP" sz="2000" dirty="0">
                <a:latin typeface="Times New Roman"/>
                <a:cs typeface="Times New Roman"/>
              </a:rPr>
              <a:t> </a:t>
            </a:r>
            <a:r>
              <a:rPr lang="en-US" altLang="ja-JP" sz="2000" dirty="0" smtClean="0">
                <a:latin typeface="Times New Roman"/>
                <a:cs typeface="Times New Roman"/>
              </a:rPr>
              <a:t>enzymes called </a:t>
            </a:r>
            <a:r>
              <a:rPr lang="en-US" altLang="ja-JP" sz="2000" dirty="0">
                <a:latin typeface="Times New Roman"/>
                <a:cs typeface="Times New Roman"/>
              </a:rPr>
              <a:t>rennin (</a:t>
            </a:r>
            <a:r>
              <a:rPr lang="en-US" altLang="ja-JP" sz="2000" dirty="0" err="1">
                <a:latin typeface="Times New Roman"/>
                <a:cs typeface="Times New Roman"/>
              </a:rPr>
              <a:t>chymosin</a:t>
            </a:r>
            <a:r>
              <a:rPr lang="en-US" altLang="ja-JP" sz="2000" dirty="0">
                <a:latin typeface="Times New Roman"/>
                <a:cs typeface="Times New Roman"/>
              </a:rPr>
              <a:t>, aspartic </a:t>
            </a:r>
            <a:r>
              <a:rPr lang="en-US" altLang="ja-JP" sz="2000" dirty="0" smtClean="0">
                <a:latin typeface="Times New Roman"/>
                <a:cs typeface="Times New Roman"/>
              </a:rPr>
              <a:t>protease).</a:t>
            </a:r>
          </a:p>
          <a:p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Traditionally, rennin is </a:t>
            </a:r>
            <a:r>
              <a:rPr lang="en-US" altLang="ja-JP" sz="2000" dirty="0">
                <a:latin typeface="Times New Roman"/>
                <a:cs typeface="Times New Roman"/>
              </a:rPr>
              <a:t>prepared in a crude form from the </a:t>
            </a:r>
            <a:r>
              <a:rPr lang="en-US" altLang="ja-JP" sz="2000" dirty="0" smtClean="0">
                <a:latin typeface="Times New Roman"/>
                <a:cs typeface="Times New Roman"/>
              </a:rPr>
              <a:t>stomach of </a:t>
            </a:r>
            <a:r>
              <a:rPr lang="en-US" altLang="ja-JP" sz="2000" dirty="0">
                <a:latin typeface="Times New Roman"/>
                <a:cs typeface="Times New Roman"/>
              </a:rPr>
              <a:t>veal calves and is referred to as rennet.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Fungal </a:t>
            </a:r>
            <a:r>
              <a:rPr lang="en-US" altLang="ja-JP" sz="2000" dirty="0">
                <a:latin typeface="Times New Roman"/>
                <a:cs typeface="Times New Roman"/>
              </a:rPr>
              <a:t>proteases </a:t>
            </a:r>
            <a:r>
              <a:rPr lang="en-US" altLang="ja-JP" sz="2000" dirty="0" smtClean="0">
                <a:latin typeface="Times New Roman"/>
                <a:cs typeface="Times New Roman"/>
              </a:rPr>
              <a:t>and </a:t>
            </a:r>
            <a:r>
              <a:rPr lang="en-US" altLang="ja-JP" sz="2000" dirty="0">
                <a:latin typeface="Times New Roman"/>
                <a:cs typeface="Times New Roman"/>
              </a:rPr>
              <a:t>recombinant </a:t>
            </a:r>
            <a:r>
              <a:rPr lang="en-US" altLang="ja-JP" sz="2000" dirty="0" smtClean="0">
                <a:latin typeface="Times New Roman"/>
                <a:cs typeface="Times New Roman"/>
              </a:rPr>
              <a:t>enzymes with </a:t>
            </a:r>
            <a:r>
              <a:rPr lang="en-US" altLang="ja-JP" sz="2000" dirty="0">
                <a:latin typeface="Times New Roman"/>
                <a:cs typeface="Times New Roman"/>
              </a:rPr>
              <a:t>similar properties to calf </a:t>
            </a:r>
            <a:r>
              <a:rPr lang="en-US" altLang="ja-JP" sz="2000" dirty="0" err="1">
                <a:latin typeface="Times New Roman"/>
                <a:cs typeface="Times New Roman"/>
              </a:rPr>
              <a:t>chymosin</a:t>
            </a:r>
            <a:r>
              <a:rPr lang="en-US" altLang="ja-JP" sz="2000" dirty="0">
                <a:latin typeface="Times New Roman"/>
                <a:cs typeface="Times New Roman"/>
              </a:rPr>
              <a:t> are now also employed.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Rennin removes the surface </a:t>
            </a:r>
            <a:r>
              <a:rPr lang="en-US" altLang="ja-JP" sz="2000" dirty="0" err="1">
                <a:latin typeface="Times New Roman"/>
                <a:cs typeface="Times New Roman"/>
              </a:rPr>
              <a:t>glycopeptide</a:t>
            </a:r>
            <a:r>
              <a:rPr lang="en-US" altLang="ja-JP" sz="2000" dirty="0">
                <a:latin typeface="Times New Roman"/>
                <a:cs typeface="Times New Roman"/>
              </a:rPr>
              <a:t> from the k </a:t>
            </a:r>
            <a:r>
              <a:rPr lang="en-US" altLang="ja-JP" sz="2000" dirty="0" smtClean="0">
                <a:latin typeface="Times New Roman"/>
                <a:cs typeface="Times New Roman"/>
              </a:rPr>
              <a:t>casein. Thus, casein </a:t>
            </a:r>
            <a:r>
              <a:rPr lang="en-US" altLang="ja-JP" sz="2000" dirty="0">
                <a:latin typeface="Times New Roman"/>
                <a:cs typeface="Times New Roman"/>
              </a:rPr>
              <a:t>becomes unstable and aggregates in the presence of calcium ions to form a gel.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gel forms it entraps fats and ultimately forms white creamy lumps, referred to as curd. </a:t>
            </a:r>
          </a:p>
        </p:txBody>
      </p:sp>
    </p:spTree>
    <p:extLst>
      <p:ext uri="{BB962C8B-B14F-4D97-AF65-F5344CB8AC3E}">
        <p14:creationId xmlns:p14="http://schemas.microsoft.com/office/powerpoint/2010/main" val="30644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Casein 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micelles 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195293"/>
            <a:ext cx="8775700" cy="52144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62513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45" y="1429399"/>
            <a:ext cx="7810500" cy="5067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36898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61" y="1576094"/>
            <a:ext cx="79629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148321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220561"/>
            <a:ext cx="8724900" cy="544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299910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497"/>
          <a:stretch/>
        </p:blipFill>
        <p:spPr>
          <a:xfrm>
            <a:off x="520700" y="1161858"/>
            <a:ext cx="8089900" cy="5696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355983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7459"/>
            <a:ext cx="9144000" cy="41575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412421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40" y="1700959"/>
            <a:ext cx="8559800" cy="469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6160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08" y="1323122"/>
            <a:ext cx="7247107" cy="5534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49342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52655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Curd formation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16" y="1295873"/>
            <a:ext cx="7588113" cy="53740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5362" y="6581001"/>
            <a:ext cx="2518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Times New Roman"/>
                <a:cs typeface="Times New Roman"/>
              </a:rPr>
              <a:t>Paul S. </a:t>
            </a:r>
            <a:r>
              <a:rPr lang="en-US" altLang="ja-JP" sz="1100" dirty="0" err="1" smtClean="0">
                <a:latin typeface="Times New Roman"/>
                <a:cs typeface="Times New Roman"/>
              </a:rPr>
              <a:t>Kindstedt</a:t>
            </a:r>
            <a:r>
              <a:rPr lang="en-US" altLang="ja-JP" sz="1100" dirty="0">
                <a:latin typeface="Times New Roman"/>
                <a:cs typeface="Times New Roman"/>
              </a:rPr>
              <a:t>,</a:t>
            </a:r>
            <a:r>
              <a:rPr lang="en-US" altLang="ja-JP" sz="1100" dirty="0" smtClean="0">
                <a:latin typeface="Times New Roman"/>
                <a:cs typeface="Times New Roman"/>
              </a:rPr>
              <a:t> </a:t>
            </a:r>
            <a:r>
              <a:rPr lang="en-US" altLang="ja-JP" sz="1100" dirty="0">
                <a:latin typeface="Times New Roman"/>
                <a:cs typeface="Times New Roman"/>
              </a:rPr>
              <a:t>University of Vermont </a:t>
            </a:r>
          </a:p>
        </p:txBody>
      </p:sp>
    </p:spTree>
    <p:extLst>
      <p:ext uri="{BB962C8B-B14F-4D97-AF65-F5344CB8AC3E}">
        <p14:creationId xmlns:p14="http://schemas.microsoft.com/office/powerpoint/2010/main" val="7290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97309"/>
            <a:ext cx="776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Vinegar Production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862" y="1312567"/>
            <a:ext cx="84177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This term is derived from the French words </a:t>
            </a:r>
            <a:r>
              <a:rPr lang="en-US" altLang="ja-JP" sz="2400" dirty="0" smtClean="0">
                <a:latin typeface="Times New Roman"/>
                <a:cs typeface="Times New Roman"/>
              </a:rPr>
              <a:t>vin (</a:t>
            </a:r>
            <a:r>
              <a:rPr lang="en-US" altLang="ja-JP" sz="2400" dirty="0">
                <a:latin typeface="Times New Roman"/>
                <a:cs typeface="Times New Roman"/>
              </a:rPr>
              <a:t>wine) and </a:t>
            </a:r>
            <a:r>
              <a:rPr lang="en-US" altLang="ja-JP" sz="2400" dirty="0" err="1">
                <a:latin typeface="Times New Roman"/>
                <a:cs typeface="Times New Roman"/>
              </a:rPr>
              <a:t>aigre</a:t>
            </a:r>
            <a:r>
              <a:rPr lang="en-US" altLang="ja-JP" sz="2400" dirty="0">
                <a:latin typeface="Times New Roman"/>
                <a:cs typeface="Times New Roman"/>
              </a:rPr>
              <a:t> (sour</a:t>
            </a:r>
            <a:r>
              <a:rPr lang="en-US" altLang="ja-JP" sz="2400" dirty="0" smtClean="0">
                <a:latin typeface="Times New Roman"/>
                <a:cs typeface="Times New Roman"/>
              </a:rPr>
              <a:t>). ????? Sour wine!!!!!!</a:t>
            </a: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Vinegar </a:t>
            </a:r>
            <a:r>
              <a:rPr lang="en-US" altLang="ja-JP" sz="2400" dirty="0">
                <a:latin typeface="Times New Roman"/>
                <a:cs typeface="Times New Roman"/>
              </a:rPr>
              <a:t>is classified </a:t>
            </a:r>
            <a:r>
              <a:rPr lang="en-US" altLang="ja-JP" sz="2400" dirty="0" smtClean="0">
                <a:latin typeface="Times New Roman"/>
                <a:cs typeface="Times New Roman"/>
              </a:rPr>
              <a:t>as a </a:t>
            </a:r>
            <a:r>
              <a:rPr lang="en-US" altLang="ja-JP" sz="2400" dirty="0">
                <a:latin typeface="Times New Roman"/>
                <a:cs typeface="Times New Roman"/>
              </a:rPr>
              <a:t>condiment that contains a minimum of 4% (w/v</a:t>
            </a:r>
            <a:r>
              <a:rPr lang="en-US" altLang="ja-JP" sz="2400" dirty="0" smtClean="0">
                <a:latin typeface="Times New Roman"/>
                <a:cs typeface="Times New Roman"/>
              </a:rPr>
              <a:t>) acetic acid.</a:t>
            </a:r>
          </a:p>
          <a:p>
            <a:pPr marL="342900" indent="-34290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Vinegars are </a:t>
            </a:r>
            <a:r>
              <a:rPr lang="en-US" altLang="ja-JP" sz="2400" dirty="0">
                <a:latin typeface="Times New Roman"/>
                <a:cs typeface="Times New Roman"/>
              </a:rPr>
              <a:t>mainly produced from fruit </a:t>
            </a:r>
            <a:r>
              <a:rPr lang="en-US" altLang="ja-JP" sz="2400" dirty="0" smtClean="0">
                <a:latin typeface="Times New Roman"/>
                <a:cs typeface="Times New Roman"/>
              </a:rPr>
              <a:t>juices, sugar syrups</a:t>
            </a:r>
            <a:r>
              <a:rPr lang="en-US" altLang="ja-JP" sz="2400" dirty="0">
                <a:latin typeface="Times New Roman"/>
                <a:cs typeface="Times New Roman"/>
              </a:rPr>
              <a:t> </a:t>
            </a:r>
            <a:r>
              <a:rPr lang="en-US" altLang="ja-JP" sz="2400" dirty="0" smtClean="0">
                <a:latin typeface="Times New Roman"/>
                <a:cs typeface="Times New Roman"/>
              </a:rPr>
              <a:t>(e.g. maple </a:t>
            </a:r>
            <a:r>
              <a:rPr lang="en-US" altLang="ja-JP" sz="2400" dirty="0">
                <a:latin typeface="Times New Roman"/>
                <a:cs typeface="Times New Roman"/>
              </a:rPr>
              <a:t>syrup, molasses </a:t>
            </a:r>
            <a:r>
              <a:rPr lang="en-US" altLang="ja-JP" sz="2400" dirty="0" smtClean="0">
                <a:latin typeface="Times New Roman"/>
                <a:cs typeface="Times New Roman"/>
              </a:rPr>
              <a:t>and honey) and  </a:t>
            </a:r>
            <a:r>
              <a:rPr lang="en-US" altLang="ja-JP" sz="2400" dirty="0">
                <a:latin typeface="Times New Roman"/>
                <a:cs typeface="Times New Roman"/>
              </a:rPr>
              <a:t>may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saccharified</a:t>
            </a:r>
            <a:r>
              <a:rPr lang="en-US" altLang="ja-JP" sz="2400" dirty="0" smtClean="0">
                <a:latin typeface="Times New Roman"/>
                <a:cs typeface="Times New Roman"/>
              </a:rPr>
              <a:t> cereal </a:t>
            </a:r>
            <a:r>
              <a:rPr lang="en-US" altLang="ja-JP" sz="2400" dirty="0">
                <a:latin typeface="Times New Roman"/>
                <a:cs typeface="Times New Roman"/>
              </a:rPr>
              <a:t>or root starch.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 Vinegar is </a:t>
            </a:r>
            <a:r>
              <a:rPr lang="en-US" altLang="ja-JP" sz="2400" dirty="0" smtClean="0">
                <a:latin typeface="Times New Roman"/>
                <a:cs typeface="Times New Roman"/>
              </a:rPr>
              <a:t>a </a:t>
            </a:r>
            <a:r>
              <a:rPr lang="en-US" altLang="ja-JP" sz="2400" dirty="0">
                <a:latin typeface="Times New Roman"/>
                <a:cs typeface="Times New Roman"/>
              </a:rPr>
              <a:t>product of two fermentations: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Alcoholic </a:t>
            </a:r>
            <a:r>
              <a:rPr lang="en-US" altLang="ja-JP" sz="2400" dirty="0">
                <a:latin typeface="Times New Roman"/>
                <a:cs typeface="Times New Roman"/>
              </a:rPr>
              <a:t>fermentation with a </a:t>
            </a:r>
            <a:r>
              <a:rPr lang="en-US" altLang="ja-JP" sz="2400" dirty="0" smtClean="0">
                <a:latin typeface="Times New Roman"/>
                <a:cs typeface="Times New Roman"/>
              </a:rPr>
              <a:t>yeast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Acetic </a:t>
            </a:r>
            <a:r>
              <a:rPr lang="en-US" altLang="ja-JP" sz="2400" dirty="0">
                <a:latin typeface="Times New Roman"/>
                <a:cs typeface="Times New Roman"/>
              </a:rPr>
              <a:t>acid </a:t>
            </a:r>
            <a:r>
              <a:rPr lang="en-US" altLang="ja-JP" sz="2400" dirty="0" smtClean="0">
                <a:latin typeface="Times New Roman"/>
                <a:cs typeface="Times New Roman"/>
              </a:rPr>
              <a:t>production from </a:t>
            </a:r>
            <a:r>
              <a:rPr lang="en-US" altLang="ja-JP" sz="2400" dirty="0">
                <a:latin typeface="Times New Roman"/>
                <a:cs typeface="Times New Roman"/>
              </a:rPr>
              <a:t>the alcohol by acetic acid bacteria</a:t>
            </a:r>
          </a:p>
        </p:txBody>
      </p:sp>
    </p:spTree>
    <p:extLst>
      <p:ext uri="{BB962C8B-B14F-4D97-AF65-F5344CB8AC3E}">
        <p14:creationId xmlns:p14="http://schemas.microsoft.com/office/powerpoint/2010/main" val="7739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16249"/>
            <a:ext cx="776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Vinegar Production</a:t>
            </a:r>
          </a:p>
          <a:p>
            <a:pPr algn="ctr"/>
            <a:r>
              <a:rPr lang="en-US" altLang="ja-JP" b="1" i="1" dirty="0" smtClean="0">
                <a:solidFill>
                  <a:srgbClr val="FF0000"/>
                </a:solidFill>
                <a:latin typeface="Arial"/>
                <a:cs typeface="Arial"/>
              </a:rPr>
              <a:t>A two step process</a:t>
            </a:r>
            <a:endParaRPr lang="en-US" altLang="ja-JP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4516" y="1337487"/>
            <a:ext cx="5263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i="1" dirty="0" smtClean="0">
                <a:latin typeface="Times New Roman"/>
                <a:cs typeface="Times New Roman"/>
              </a:rPr>
              <a:t>I.  Alcohol Fermentation (Saccharomyces spp.)</a:t>
            </a:r>
            <a:endParaRPr kumimoji="1" lang="ja-JP" altLang="en-US" sz="2000" b="1" i="1" dirty="0">
              <a:latin typeface="Times New Roman"/>
              <a:cs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37" y="1989765"/>
            <a:ext cx="5441993" cy="469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9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16249"/>
            <a:ext cx="7769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Vinegar Production</a:t>
            </a:r>
          </a:p>
          <a:p>
            <a:pPr algn="ctr"/>
            <a:r>
              <a:rPr lang="en-US" altLang="ja-JP" b="1" i="1" dirty="0" smtClean="0">
                <a:solidFill>
                  <a:srgbClr val="FF0000"/>
                </a:solidFill>
                <a:latin typeface="Arial"/>
                <a:cs typeface="Arial"/>
              </a:rPr>
              <a:t>A two step process</a:t>
            </a:r>
            <a:endParaRPr lang="en-US" altLang="ja-JP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670759"/>
            <a:ext cx="8351377" cy="3043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4516" y="1729277"/>
            <a:ext cx="7531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i="1" dirty="0" smtClean="0">
                <a:latin typeface="Times New Roman"/>
                <a:cs typeface="Times New Roman"/>
              </a:rPr>
              <a:t>II. Acetic acid fermentation </a:t>
            </a:r>
            <a:r>
              <a:rPr lang="en-US" altLang="ja-JP" sz="2000" b="1" i="1" dirty="0">
                <a:latin typeface="Times New Roman"/>
                <a:cs typeface="Times New Roman"/>
              </a:rPr>
              <a:t>(</a:t>
            </a:r>
            <a:r>
              <a:rPr lang="en-US" altLang="ja-JP" sz="2000" b="1" i="1" dirty="0" err="1">
                <a:latin typeface="Times New Roman"/>
                <a:cs typeface="Times New Roman"/>
              </a:rPr>
              <a:t>Acetobacter</a:t>
            </a:r>
            <a:r>
              <a:rPr lang="en-US" altLang="ja-JP" sz="2000" b="1" i="1" dirty="0">
                <a:latin typeface="Times New Roman"/>
                <a:cs typeface="Times New Roman"/>
              </a:rPr>
              <a:t> </a:t>
            </a:r>
            <a:r>
              <a:rPr lang="en-US" altLang="ja-JP" sz="2000" b="1" i="1" dirty="0" smtClean="0">
                <a:latin typeface="Times New Roman"/>
                <a:cs typeface="Times New Roman"/>
              </a:rPr>
              <a:t>and </a:t>
            </a:r>
            <a:r>
              <a:rPr lang="en-US" altLang="ja-JP" sz="2000" b="1" i="1" dirty="0" err="1" smtClean="0">
                <a:latin typeface="Times New Roman"/>
                <a:cs typeface="Times New Roman"/>
              </a:rPr>
              <a:t>Gluconobacters</a:t>
            </a:r>
            <a:r>
              <a:rPr lang="en-US" altLang="ja-JP" sz="2000" b="1" i="1" dirty="0" smtClean="0">
                <a:latin typeface="Times New Roman"/>
                <a:cs typeface="Times New Roman"/>
              </a:rPr>
              <a:t> </a:t>
            </a:r>
            <a:r>
              <a:rPr kumimoji="1" lang="en-US" altLang="ja-JP" sz="2000" b="1" i="1" dirty="0" smtClean="0">
                <a:latin typeface="Times New Roman"/>
                <a:cs typeface="Times New Roman"/>
              </a:rPr>
              <a:t>spp.)</a:t>
            </a:r>
            <a:endParaRPr kumimoji="1" lang="ja-JP" altLang="en-US" sz="2000" b="1" i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049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270289"/>
            <a:ext cx="8620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Methods of </a:t>
            </a:r>
            <a:r>
              <a:rPr lang="en-US" altLang="ja-JP" sz="2800" b="1" dirty="0" smtClean="0">
                <a:solidFill>
                  <a:srgbClr val="FF0000"/>
                </a:solidFill>
                <a:latin typeface="Arial"/>
                <a:cs typeface="Arial"/>
              </a:rPr>
              <a:t>acidification </a:t>
            </a:r>
            <a:r>
              <a:rPr lang="en-US" altLang="ja-JP" sz="2800" b="1" dirty="0">
                <a:solidFill>
                  <a:srgbClr val="FF0000"/>
                </a:solidFill>
                <a:latin typeface="Arial"/>
                <a:cs typeface="Arial"/>
              </a:rPr>
              <a:t>in vinegar manufacture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707" y="1535105"/>
            <a:ext cx="4664902" cy="4789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862" y="988327"/>
            <a:ext cx="8282632" cy="563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Traditional surface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Trickling generators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Submerged methods</a:t>
            </a: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905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270289"/>
            <a:ext cx="8620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Fermented Vegetables</a:t>
            </a:r>
          </a:p>
          <a:p>
            <a:pPr algn="ctr"/>
            <a:r>
              <a:rPr lang="en-US" altLang="ja-JP" sz="2800" b="1" i="1" dirty="0" smtClean="0">
                <a:solidFill>
                  <a:srgbClr val="FF0000"/>
                </a:solidFill>
                <a:latin typeface="Arial"/>
                <a:cs typeface="Arial"/>
              </a:rPr>
              <a:t>Sauerkraut &amp; Pickling</a:t>
            </a:r>
            <a:endParaRPr lang="en-US" altLang="ja-JP" sz="28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862" y="1704356"/>
            <a:ext cx="8282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Prepared </a:t>
            </a:r>
            <a:r>
              <a:rPr lang="en-US" altLang="ja-JP" sz="2800" dirty="0">
                <a:latin typeface="Times New Roman"/>
                <a:cs typeface="Times New Roman"/>
              </a:rPr>
              <a:t>from wilted shredded </a:t>
            </a:r>
            <a:r>
              <a:rPr lang="en-US" altLang="ja-JP" sz="2800" dirty="0" smtClean="0">
                <a:latin typeface="Times New Roman"/>
                <a:cs typeface="Times New Roman"/>
              </a:rPr>
              <a:t>cabbage mixed </a:t>
            </a:r>
            <a:r>
              <a:rPr lang="en-US" altLang="ja-JP" sz="2800" dirty="0">
                <a:latin typeface="Times New Roman"/>
                <a:cs typeface="Times New Roman"/>
              </a:rPr>
              <a:t>with 2–3% (w/w) salt to reduce water </a:t>
            </a:r>
            <a:r>
              <a:rPr lang="en-US" altLang="ja-JP" sz="2800" dirty="0" smtClean="0">
                <a:latin typeface="Times New Roman"/>
                <a:cs typeface="Times New Roman"/>
              </a:rPr>
              <a:t>activity and </a:t>
            </a:r>
            <a:r>
              <a:rPr lang="en-US" altLang="ja-JP" sz="2800" dirty="0">
                <a:latin typeface="Times New Roman"/>
                <a:cs typeface="Times New Roman"/>
              </a:rPr>
              <a:t>inhibit the growth of Gram-negative </a:t>
            </a:r>
            <a:r>
              <a:rPr lang="en-US" altLang="ja-JP" sz="2800" dirty="0" smtClean="0">
                <a:latin typeface="Times New Roman"/>
                <a:cs typeface="Times New Roman"/>
              </a:rPr>
              <a:t>bacteria.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Prepared using  </a:t>
            </a:r>
            <a:r>
              <a:rPr lang="en-US" altLang="ja-JP" sz="2800" dirty="0">
                <a:latin typeface="Times New Roman"/>
                <a:cs typeface="Times New Roman"/>
              </a:rPr>
              <a:t>lactic acid bacteria, </a:t>
            </a:r>
            <a:r>
              <a:rPr lang="en-US" altLang="ja-JP" sz="2800" dirty="0" smtClean="0">
                <a:latin typeface="Times New Roman"/>
                <a:cs typeface="Times New Roman"/>
              </a:rPr>
              <a:t>especially </a:t>
            </a:r>
            <a:r>
              <a:rPr lang="en-US" altLang="ja-JP" sz="2800" i="1" dirty="0" smtClean="0">
                <a:latin typeface="Times New Roman"/>
                <a:cs typeface="Times New Roman"/>
              </a:rPr>
              <a:t>Lactobacillus</a:t>
            </a:r>
            <a:r>
              <a:rPr lang="en-US" altLang="ja-JP" sz="2800" dirty="0" smtClean="0">
                <a:latin typeface="Times New Roman"/>
                <a:cs typeface="Times New Roman"/>
              </a:rPr>
              <a:t> and </a:t>
            </a:r>
            <a:r>
              <a:rPr lang="en-US" altLang="ja-JP" sz="2800" i="1" dirty="0" err="1" smtClean="0">
                <a:latin typeface="Times New Roman"/>
                <a:cs typeface="Times New Roman"/>
              </a:rPr>
              <a:t>Leuconostoc</a:t>
            </a:r>
            <a:r>
              <a:rPr lang="en-US" altLang="ja-JP" sz="2800" dirty="0" smtClean="0">
                <a:latin typeface="Times New Roman"/>
                <a:cs typeface="Times New Roman"/>
              </a:rPr>
              <a:t> spp. 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Sauerkraut fermentation lasts </a:t>
            </a:r>
            <a:r>
              <a:rPr lang="en-US" altLang="ja-JP" sz="2800" dirty="0">
                <a:latin typeface="Times New Roman"/>
                <a:cs typeface="Times New Roman"/>
              </a:rPr>
              <a:t>for 20–30 days at 18–20°C and final </a:t>
            </a:r>
            <a:r>
              <a:rPr lang="en-US" altLang="ja-JP" sz="2800" dirty="0" smtClean="0">
                <a:latin typeface="Times New Roman"/>
                <a:cs typeface="Times New Roman"/>
              </a:rPr>
              <a:t>lactic acid </a:t>
            </a:r>
            <a:r>
              <a:rPr lang="en-US" altLang="ja-JP" sz="2800" dirty="0">
                <a:latin typeface="Times New Roman"/>
                <a:cs typeface="Times New Roman"/>
              </a:rPr>
              <a:t>levels reach 1.5% (v/v).</a:t>
            </a:r>
          </a:p>
        </p:txBody>
      </p:sp>
    </p:spTree>
    <p:extLst>
      <p:ext uri="{BB962C8B-B14F-4D97-AF65-F5344CB8AC3E}">
        <p14:creationId xmlns:p14="http://schemas.microsoft.com/office/powerpoint/2010/main" val="210611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270289"/>
            <a:ext cx="862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Fermented meats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862" y="1190977"/>
            <a:ext cx="828263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Fermented </a:t>
            </a:r>
            <a:r>
              <a:rPr lang="en-US" altLang="ja-JP" sz="2600" dirty="0">
                <a:latin typeface="Times New Roman"/>
                <a:cs typeface="Times New Roman"/>
              </a:rPr>
              <a:t>sausages are produced as a result </a:t>
            </a:r>
            <a:r>
              <a:rPr lang="en-US" altLang="ja-JP" sz="2600" dirty="0" smtClean="0">
                <a:latin typeface="Times New Roman"/>
                <a:cs typeface="Times New Roman"/>
              </a:rPr>
              <a:t>of by lactic fermentation </a:t>
            </a:r>
            <a:r>
              <a:rPr lang="en-US" altLang="ja-JP" sz="2600" dirty="0">
                <a:latin typeface="Times New Roman"/>
                <a:cs typeface="Times New Roman"/>
              </a:rPr>
              <a:t>of a mixture of </a:t>
            </a:r>
            <a:r>
              <a:rPr lang="en-US" altLang="ja-JP" sz="2600" dirty="0" smtClean="0">
                <a:latin typeface="Times New Roman"/>
                <a:cs typeface="Times New Roman"/>
              </a:rPr>
              <a:t>comminuted meat </a:t>
            </a:r>
            <a:r>
              <a:rPr lang="en-US" altLang="ja-JP" sz="2600" dirty="0">
                <a:latin typeface="Times New Roman"/>
                <a:cs typeface="Times New Roman"/>
              </a:rPr>
              <a:t>mixed with fat, salt, curing </a:t>
            </a:r>
            <a:r>
              <a:rPr lang="en-US" altLang="ja-JP" sz="2600" dirty="0" smtClean="0">
                <a:latin typeface="Times New Roman"/>
                <a:cs typeface="Times New Roman"/>
              </a:rPr>
              <a:t>agents (</a:t>
            </a:r>
            <a:r>
              <a:rPr lang="en-US" altLang="ja-JP" sz="2600" dirty="0">
                <a:latin typeface="Times New Roman"/>
                <a:cs typeface="Times New Roman"/>
              </a:rPr>
              <a:t>nitrate/nitrite), sugar and </a:t>
            </a:r>
            <a:r>
              <a:rPr lang="en-US" altLang="ja-JP" sz="2600" dirty="0" smtClean="0">
                <a:latin typeface="Times New Roman"/>
                <a:cs typeface="Times New Roman"/>
              </a:rPr>
              <a:t>spices.</a:t>
            </a:r>
          </a:p>
          <a:p>
            <a:endParaRPr lang="en-US" altLang="ja-JP" sz="26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Lactic </a:t>
            </a:r>
            <a:r>
              <a:rPr lang="en-US" altLang="ja-JP" sz="2600" dirty="0">
                <a:latin typeface="Times New Roman"/>
                <a:cs typeface="Times New Roman"/>
              </a:rPr>
              <a:t>acid bacteria </a:t>
            </a:r>
            <a:r>
              <a:rPr lang="en-US" altLang="ja-JP" sz="2600" dirty="0" smtClean="0">
                <a:latin typeface="Times New Roman"/>
                <a:cs typeface="Times New Roman"/>
              </a:rPr>
              <a:t>(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Lactobacilli</a:t>
            </a:r>
            <a:r>
              <a:rPr lang="en-US" altLang="ja-JP" sz="2600" i="1" dirty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and </a:t>
            </a:r>
            <a:r>
              <a:rPr lang="en-US" altLang="ja-JP" sz="2600" i="1" dirty="0" err="1" smtClean="0">
                <a:latin typeface="Times New Roman"/>
                <a:cs typeface="Times New Roman"/>
              </a:rPr>
              <a:t>Pediococci</a:t>
            </a:r>
            <a:r>
              <a:rPr lang="en-US" altLang="ja-JP" sz="2600" dirty="0">
                <a:latin typeface="Times New Roman"/>
                <a:cs typeface="Times New Roman"/>
              </a:rPr>
              <a:t>) and catalase-positive </a:t>
            </a:r>
            <a:r>
              <a:rPr lang="en-US" altLang="ja-JP" sz="2600" dirty="0" err="1" smtClean="0">
                <a:latin typeface="Times New Roman"/>
                <a:cs typeface="Times New Roman"/>
              </a:rPr>
              <a:t>cocci</a:t>
            </a:r>
            <a:r>
              <a:rPr lang="en-US" altLang="ja-JP" sz="2600" dirty="0">
                <a:latin typeface="Times New Roman"/>
                <a:cs typeface="Times New Roman"/>
              </a:rPr>
              <a:t> </a:t>
            </a:r>
            <a:r>
              <a:rPr lang="en-US" altLang="ja-JP" sz="2600" dirty="0" smtClean="0">
                <a:latin typeface="Times New Roman"/>
                <a:cs typeface="Times New Roman"/>
              </a:rPr>
              <a:t>(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S</a:t>
            </a:r>
            <a:r>
              <a:rPr lang="en-US" altLang="ja-JP" sz="2600" i="1" dirty="0">
                <a:latin typeface="Times New Roman"/>
                <a:cs typeface="Times New Roman"/>
              </a:rPr>
              <a:t>. </a:t>
            </a:r>
            <a:r>
              <a:rPr lang="en-US" altLang="ja-JP" sz="2600" i="1" dirty="0" err="1" smtClean="0">
                <a:latin typeface="Times New Roman"/>
                <a:cs typeface="Times New Roman"/>
              </a:rPr>
              <a:t>carnosus</a:t>
            </a:r>
            <a:r>
              <a:rPr lang="en-US" altLang="ja-JP" sz="2600" dirty="0" smtClean="0">
                <a:latin typeface="Times New Roman"/>
                <a:cs typeface="Times New Roman"/>
              </a:rPr>
              <a:t>, </a:t>
            </a:r>
            <a:r>
              <a:rPr lang="en-US" altLang="ja-JP" sz="2600" i="1" dirty="0">
                <a:latin typeface="Times New Roman"/>
                <a:cs typeface="Times New Roman"/>
              </a:rPr>
              <a:t>Micrococcus </a:t>
            </a:r>
            <a:r>
              <a:rPr lang="en-US" altLang="ja-JP" sz="2600" i="1" dirty="0" err="1" smtClean="0">
                <a:latin typeface="Times New Roman"/>
                <a:cs typeface="Times New Roman"/>
              </a:rPr>
              <a:t>varians</a:t>
            </a:r>
            <a:r>
              <a:rPr lang="en-US" altLang="ja-JP" sz="2600" dirty="0" smtClean="0">
                <a:latin typeface="Times New Roman"/>
                <a:cs typeface="Times New Roman"/>
              </a:rPr>
              <a:t>)</a:t>
            </a:r>
            <a:r>
              <a:rPr lang="en-US" altLang="ja-JP" sz="2600" dirty="0">
                <a:latin typeface="Times New Roman"/>
                <a:cs typeface="Times New Roman"/>
              </a:rPr>
              <a:t>. </a:t>
            </a: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Yeasts and molds </a:t>
            </a:r>
            <a:r>
              <a:rPr lang="en-US" altLang="ja-JP" sz="2600" dirty="0">
                <a:latin typeface="Times New Roman"/>
                <a:cs typeface="Times New Roman"/>
              </a:rPr>
              <a:t>that are available as starters </a:t>
            </a:r>
            <a:r>
              <a:rPr lang="en-US" altLang="ja-JP" sz="2600" dirty="0" smtClean="0">
                <a:latin typeface="Times New Roman"/>
                <a:cs typeface="Times New Roman"/>
              </a:rPr>
              <a:t>include </a:t>
            </a:r>
            <a:r>
              <a:rPr lang="en-US" altLang="ja-JP" sz="2600" i="1" dirty="0" err="1" smtClean="0">
                <a:latin typeface="Times New Roman"/>
                <a:cs typeface="Times New Roman"/>
              </a:rPr>
              <a:t>Debaryomyces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i="1" dirty="0" err="1">
                <a:latin typeface="Times New Roman"/>
                <a:cs typeface="Times New Roman"/>
              </a:rPr>
              <a:t>hansenii</a:t>
            </a:r>
            <a:r>
              <a:rPr lang="en-US" altLang="ja-JP" sz="2600" i="1" dirty="0">
                <a:latin typeface="Times New Roman"/>
                <a:cs typeface="Times New Roman"/>
              </a:rPr>
              <a:t> </a:t>
            </a:r>
            <a:r>
              <a:rPr lang="en-US" altLang="ja-JP" sz="2600" dirty="0">
                <a:latin typeface="Times New Roman"/>
                <a:cs typeface="Times New Roman"/>
              </a:rPr>
              <a:t> , </a:t>
            </a:r>
            <a:r>
              <a:rPr lang="en-US" altLang="ja-JP" sz="2600" i="1" dirty="0">
                <a:latin typeface="Times New Roman"/>
                <a:cs typeface="Times New Roman"/>
              </a:rPr>
              <a:t>Candida </a:t>
            </a:r>
            <a:r>
              <a:rPr lang="en-US" altLang="ja-JP" sz="2600" i="1" dirty="0" err="1">
                <a:latin typeface="Times New Roman"/>
                <a:cs typeface="Times New Roman"/>
              </a:rPr>
              <a:t>famata</a:t>
            </a:r>
            <a:r>
              <a:rPr lang="en-US" altLang="ja-JP" sz="2600" i="1" dirty="0">
                <a:latin typeface="Times New Roman"/>
                <a:cs typeface="Times New Roman"/>
              </a:rPr>
              <a:t>  </a:t>
            </a:r>
            <a:r>
              <a:rPr lang="en-US" altLang="ja-JP" sz="2600" dirty="0" smtClean="0">
                <a:latin typeface="Times New Roman"/>
                <a:cs typeface="Times New Roman"/>
              </a:rPr>
              <a:t>and </a:t>
            </a:r>
            <a:r>
              <a:rPr lang="en-US" altLang="ja-JP" sz="2600" i="1" dirty="0" err="1" smtClean="0">
                <a:latin typeface="Times New Roman"/>
                <a:cs typeface="Times New Roman"/>
              </a:rPr>
              <a:t>Penicillium</a:t>
            </a:r>
            <a:r>
              <a:rPr lang="en-US" altLang="ja-JP" sz="26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600" i="1" dirty="0" err="1">
                <a:latin typeface="Times New Roman"/>
                <a:cs typeface="Times New Roman"/>
              </a:rPr>
              <a:t>nalgiovense</a:t>
            </a:r>
            <a:r>
              <a:rPr lang="en-US" altLang="ja-JP" sz="2600" i="1" dirty="0">
                <a:latin typeface="Times New Roman"/>
                <a:cs typeface="Times New Roman"/>
              </a:rPr>
              <a:t>  </a:t>
            </a:r>
            <a:r>
              <a:rPr lang="en-US" altLang="ja-JP" sz="2600" dirty="0">
                <a:latin typeface="Times New Roman"/>
                <a:cs typeface="Times New Roman"/>
              </a:rPr>
              <a:t>and </a:t>
            </a:r>
            <a:r>
              <a:rPr lang="en-US" altLang="ja-JP" sz="2600" i="1" dirty="0">
                <a:latin typeface="Times New Roman"/>
                <a:cs typeface="Times New Roman"/>
              </a:rPr>
              <a:t>P. </a:t>
            </a:r>
            <a:r>
              <a:rPr lang="en-US" altLang="ja-JP" sz="2600" i="1" dirty="0" err="1">
                <a:latin typeface="Times New Roman"/>
                <a:cs typeface="Times New Roman"/>
              </a:rPr>
              <a:t>chrysogenum</a:t>
            </a:r>
            <a:r>
              <a:rPr lang="en-US" altLang="ja-JP" sz="2600" i="1" dirty="0">
                <a:latin typeface="Times New Roman"/>
                <a:cs typeface="Times New Roman"/>
              </a:rPr>
              <a:t>  </a:t>
            </a:r>
            <a:r>
              <a:rPr lang="en-US" altLang="ja-JP" sz="2600" dirty="0" smtClean="0">
                <a:latin typeface="Times New Roman"/>
                <a:cs typeface="Times New Roman"/>
              </a:rPr>
              <a:t>, respectively.</a:t>
            </a:r>
            <a:endParaRPr lang="en-US" altLang="ja-JP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0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270289"/>
            <a:ext cx="862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Soya bean fermentations</a:t>
            </a:r>
            <a:endParaRPr lang="en-US" altLang="ja-JP" sz="28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862" y="1569256"/>
            <a:ext cx="8282632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>
                <a:latin typeface="Times New Roman"/>
                <a:cs typeface="Times New Roman"/>
              </a:rPr>
              <a:t>Fermented soya bean products are a major part of </a:t>
            </a:r>
            <a:r>
              <a:rPr lang="en-US" altLang="ja-JP" sz="2800" dirty="0" smtClean="0">
                <a:latin typeface="Times New Roman"/>
                <a:cs typeface="Times New Roman"/>
              </a:rPr>
              <a:t>the diet </a:t>
            </a:r>
            <a:r>
              <a:rPr lang="en-US" altLang="ja-JP" sz="2800" dirty="0">
                <a:latin typeface="Times New Roman"/>
                <a:cs typeface="Times New Roman"/>
              </a:rPr>
              <a:t>in south-east Asia, where they are </a:t>
            </a:r>
            <a:r>
              <a:rPr lang="en-US" altLang="ja-JP" sz="2800" dirty="0" smtClean="0">
                <a:latin typeface="Times New Roman"/>
                <a:cs typeface="Times New Roman"/>
              </a:rPr>
              <a:t>largely substitutes for </a:t>
            </a:r>
            <a:r>
              <a:rPr lang="en-US" altLang="ja-JP" sz="2800" dirty="0">
                <a:latin typeface="Times New Roman"/>
                <a:cs typeface="Times New Roman"/>
              </a:rPr>
              <a:t>fermented dairy products.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There </a:t>
            </a:r>
            <a:r>
              <a:rPr lang="en-US" altLang="ja-JP" sz="2800" dirty="0">
                <a:latin typeface="Times New Roman"/>
                <a:cs typeface="Times New Roman"/>
              </a:rPr>
              <a:t>are several </a:t>
            </a:r>
            <a:r>
              <a:rPr lang="en-US" altLang="ja-JP" sz="2800" dirty="0" smtClean="0">
                <a:latin typeface="Times New Roman"/>
                <a:cs typeface="Times New Roman"/>
              </a:rPr>
              <a:t>different solid</a:t>
            </a:r>
            <a:r>
              <a:rPr lang="en-US" altLang="ja-JP" sz="2800" dirty="0">
                <a:latin typeface="Times New Roman"/>
                <a:cs typeface="Times New Roman"/>
              </a:rPr>
              <a:t>, paste and liquid products such as tempeh</a:t>
            </a:r>
            <a:r>
              <a:rPr lang="en-US" altLang="ja-JP" sz="2800" dirty="0" smtClean="0">
                <a:latin typeface="Times New Roman"/>
                <a:cs typeface="Times New Roman"/>
              </a:rPr>
              <a:t>, miso </a:t>
            </a:r>
            <a:r>
              <a:rPr lang="en-US" altLang="ja-JP" sz="2800" dirty="0">
                <a:latin typeface="Times New Roman"/>
                <a:cs typeface="Times New Roman"/>
              </a:rPr>
              <a:t>and soy sauces, respectively.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b="1" dirty="0" smtClean="0">
                <a:latin typeface="Times New Roman"/>
                <a:cs typeface="Times New Roman"/>
              </a:rPr>
              <a:t>Tempeh:</a:t>
            </a:r>
          </a:p>
          <a:p>
            <a:pPr marL="457200" indent="-4572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Fermentation </a:t>
            </a:r>
            <a:r>
              <a:rPr lang="en-US" altLang="ja-JP" sz="2800" dirty="0">
                <a:latin typeface="Times New Roman"/>
                <a:cs typeface="Times New Roman"/>
              </a:rPr>
              <a:t>of cooked whole or </a:t>
            </a:r>
            <a:r>
              <a:rPr lang="en-US" altLang="ja-JP" sz="2800" dirty="0" err="1">
                <a:latin typeface="Times New Roman"/>
                <a:cs typeface="Times New Roman"/>
              </a:rPr>
              <a:t>dehulled</a:t>
            </a:r>
            <a:r>
              <a:rPr lang="en-US" altLang="ja-JP" sz="2800" dirty="0">
                <a:latin typeface="Times New Roman"/>
                <a:cs typeface="Times New Roman"/>
              </a:rPr>
              <a:t> </a:t>
            </a:r>
            <a:r>
              <a:rPr lang="en-US" altLang="ja-JP" sz="2800" dirty="0" smtClean="0">
                <a:latin typeface="Times New Roman"/>
                <a:cs typeface="Times New Roman"/>
              </a:rPr>
              <a:t>soya beans </a:t>
            </a:r>
            <a:r>
              <a:rPr lang="en-US" altLang="ja-JP" sz="2800" dirty="0">
                <a:latin typeface="Times New Roman"/>
                <a:cs typeface="Times New Roman"/>
              </a:rPr>
              <a:t>by </a:t>
            </a:r>
            <a:r>
              <a:rPr lang="en-US" altLang="ja-JP" sz="2800" i="1" dirty="0" err="1">
                <a:latin typeface="Times New Roman"/>
                <a:cs typeface="Times New Roman"/>
              </a:rPr>
              <a:t>Rhizopus</a:t>
            </a:r>
            <a:r>
              <a:rPr lang="en-US" altLang="ja-JP" sz="2800" i="1" dirty="0">
                <a:latin typeface="Times New Roman"/>
                <a:cs typeface="Times New Roman"/>
              </a:rPr>
              <a:t> </a:t>
            </a:r>
            <a:r>
              <a:rPr lang="en-US" altLang="ja-JP" sz="2800" dirty="0" smtClean="0">
                <a:latin typeface="Times New Roman"/>
                <a:cs typeface="Times New Roman"/>
              </a:rPr>
              <a:t>species</a:t>
            </a:r>
            <a:r>
              <a:rPr lang="en-US" altLang="ja-JP" sz="28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43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135189"/>
            <a:ext cx="862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Soya bean fermentations</a:t>
            </a:r>
            <a:endParaRPr lang="en-US" altLang="ja-JP" sz="28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862" y="880246"/>
            <a:ext cx="8282632" cy="584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smtClean="0">
                <a:latin typeface="Times New Roman"/>
                <a:cs typeface="Times New Roman"/>
              </a:rPr>
              <a:t>Soy </a:t>
            </a:r>
            <a:r>
              <a:rPr lang="en-US" altLang="ja-JP" sz="2400" b="1" dirty="0">
                <a:latin typeface="Times New Roman"/>
                <a:cs typeface="Times New Roman"/>
              </a:rPr>
              <a:t>sauces </a:t>
            </a:r>
            <a:endParaRPr lang="en-US" altLang="ja-JP" sz="2400" b="1" dirty="0" smtClean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200" dirty="0" smtClean="0">
                <a:latin typeface="Times New Roman"/>
                <a:cs typeface="Times New Roman"/>
              </a:rPr>
              <a:t>Soy sauce </a:t>
            </a:r>
            <a:r>
              <a:rPr lang="en-US" altLang="ja-JP" sz="2200" dirty="0">
                <a:latin typeface="Times New Roman"/>
                <a:cs typeface="Times New Roman"/>
              </a:rPr>
              <a:t>manufacture involves three basic </a:t>
            </a:r>
            <a:r>
              <a:rPr lang="en-US" altLang="ja-JP" sz="2200" dirty="0" smtClean="0">
                <a:latin typeface="Times New Roman"/>
                <a:cs typeface="Times New Roman"/>
              </a:rPr>
              <a:t>stages: </a:t>
            </a:r>
          </a:p>
          <a:p>
            <a:pPr marL="457200" indent="-457200">
              <a:buFont typeface="Arial"/>
              <a:buChar char="•"/>
            </a:pPr>
            <a:endParaRPr lang="en-US" altLang="ja-JP" sz="2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200" b="1" dirty="0" smtClean="0">
                <a:latin typeface="Times New Roman"/>
                <a:cs typeface="Times New Roman"/>
              </a:rPr>
              <a:t>Koji: </a:t>
            </a:r>
          </a:p>
          <a:p>
            <a:pPr marL="971550" lvl="1" indent="-514350">
              <a:buFont typeface="Arial"/>
              <a:buChar char="•"/>
            </a:pPr>
            <a:r>
              <a:rPr lang="en-US" altLang="ja-JP" sz="2200" dirty="0" smtClean="0">
                <a:latin typeface="Times New Roman"/>
                <a:cs typeface="Times New Roman"/>
              </a:rPr>
              <a:t>Is </a:t>
            </a:r>
            <a:r>
              <a:rPr lang="en-US" altLang="ja-JP" sz="2200" dirty="0">
                <a:latin typeface="Times New Roman"/>
                <a:cs typeface="Times New Roman"/>
              </a:rPr>
              <a:t>a solid substrate aerobic </a:t>
            </a:r>
            <a:r>
              <a:rPr lang="en-US" altLang="ja-JP" sz="2200" dirty="0" smtClean="0">
                <a:latin typeface="Times New Roman"/>
                <a:cs typeface="Times New Roman"/>
              </a:rPr>
              <a:t>fermentation of </a:t>
            </a:r>
            <a:r>
              <a:rPr lang="en-US" altLang="ja-JP" sz="2200" dirty="0">
                <a:latin typeface="Times New Roman"/>
                <a:cs typeface="Times New Roman"/>
              </a:rPr>
              <a:t>cooked soya beans </a:t>
            </a:r>
            <a:r>
              <a:rPr lang="en-US" altLang="ja-JP" sz="2200" dirty="0" smtClean="0">
                <a:latin typeface="Times New Roman"/>
                <a:cs typeface="Times New Roman"/>
              </a:rPr>
              <a:t>along </a:t>
            </a:r>
            <a:r>
              <a:rPr lang="en-US" altLang="ja-JP" sz="2200" dirty="0">
                <a:latin typeface="Times New Roman"/>
                <a:cs typeface="Times New Roman"/>
              </a:rPr>
              <a:t>with wheat flour or rice.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en-US" altLang="ja-JP" sz="2200" i="1" dirty="0" err="1" smtClean="0">
                <a:latin typeface="Times New Roman"/>
                <a:cs typeface="Times New Roman"/>
              </a:rPr>
              <a:t>Aspergillus</a:t>
            </a:r>
            <a:r>
              <a:rPr lang="en-US" altLang="ja-JP" sz="22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200" i="1" dirty="0" err="1">
                <a:latin typeface="Times New Roman"/>
                <a:cs typeface="Times New Roman"/>
              </a:rPr>
              <a:t>oryzae</a:t>
            </a:r>
            <a:r>
              <a:rPr lang="en-US" altLang="ja-JP" sz="2200" i="1" dirty="0">
                <a:latin typeface="Times New Roman"/>
                <a:cs typeface="Times New Roman"/>
              </a:rPr>
              <a:t> </a:t>
            </a:r>
            <a:r>
              <a:rPr lang="en-US" altLang="ja-JP" sz="2200" dirty="0">
                <a:latin typeface="Times New Roman"/>
                <a:cs typeface="Times New Roman"/>
              </a:rPr>
              <a:t>is used </a:t>
            </a:r>
            <a:r>
              <a:rPr lang="en-US" altLang="ja-JP" sz="2200" dirty="0" smtClean="0">
                <a:latin typeface="Times New Roman"/>
                <a:cs typeface="Times New Roman"/>
              </a:rPr>
              <a:t>to hydrolyze starch</a:t>
            </a:r>
            <a:r>
              <a:rPr lang="en-US" altLang="ja-JP" sz="2200" dirty="0">
                <a:latin typeface="Times New Roman"/>
                <a:cs typeface="Times New Roman"/>
              </a:rPr>
              <a:t>, </a:t>
            </a:r>
            <a:r>
              <a:rPr lang="en-US" altLang="ja-JP" sz="2200" dirty="0" smtClean="0">
                <a:latin typeface="Times New Roman"/>
                <a:cs typeface="Times New Roman"/>
              </a:rPr>
              <a:t>protein and </a:t>
            </a:r>
            <a:r>
              <a:rPr lang="en-US" altLang="ja-JP" sz="2200" dirty="0" err="1" smtClean="0">
                <a:latin typeface="Times New Roman"/>
                <a:cs typeface="Times New Roman"/>
              </a:rPr>
              <a:t>pectins</a:t>
            </a:r>
            <a:r>
              <a:rPr lang="en-US" altLang="ja-JP" sz="2200" dirty="0" smtClean="0">
                <a:latin typeface="Times New Roman"/>
                <a:cs typeface="Times New Roman"/>
              </a:rPr>
              <a:t>. </a:t>
            </a:r>
          </a:p>
          <a:p>
            <a:pPr marL="914400" lvl="1" indent="-457200">
              <a:buFont typeface="Arial"/>
              <a:buChar char="•"/>
            </a:pPr>
            <a:endParaRPr lang="en-US" altLang="ja-JP" sz="2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200" b="1" dirty="0" err="1" smtClean="0">
                <a:latin typeface="Times New Roman"/>
                <a:cs typeface="Times New Roman"/>
              </a:rPr>
              <a:t>Moromi</a:t>
            </a:r>
            <a:r>
              <a:rPr lang="en-US" altLang="ja-JP" sz="2200" b="1" dirty="0" smtClean="0">
                <a:latin typeface="Times New Roman"/>
                <a:cs typeface="Times New Roman"/>
              </a:rPr>
              <a:t> </a:t>
            </a:r>
          </a:p>
          <a:p>
            <a:pPr marL="914400" lvl="1" indent="-457200">
              <a:buFont typeface="Arial"/>
              <a:buChar char="•"/>
            </a:pPr>
            <a:r>
              <a:rPr lang="en-US" altLang="ja-JP" sz="2200" dirty="0" smtClean="0">
                <a:latin typeface="Times New Roman"/>
                <a:cs typeface="Times New Roman"/>
              </a:rPr>
              <a:t>Anaerobic </a:t>
            </a:r>
            <a:r>
              <a:rPr lang="en-US" altLang="ja-JP" sz="2200" dirty="0">
                <a:latin typeface="Times New Roman"/>
                <a:cs typeface="Times New Roman"/>
              </a:rPr>
              <a:t>fermentation </a:t>
            </a:r>
            <a:r>
              <a:rPr lang="en-US" altLang="ja-JP" sz="2200" dirty="0" smtClean="0">
                <a:latin typeface="Times New Roman"/>
                <a:cs typeface="Times New Roman"/>
              </a:rPr>
              <a:t>of the </a:t>
            </a:r>
            <a:r>
              <a:rPr lang="en-US" altLang="ja-JP" sz="2200" dirty="0">
                <a:latin typeface="Times New Roman"/>
                <a:cs typeface="Times New Roman"/>
              </a:rPr>
              <a:t>liquid slurry that results from the addition of </a:t>
            </a:r>
            <a:r>
              <a:rPr lang="en-US" altLang="ja-JP" sz="2200" dirty="0" smtClean="0">
                <a:latin typeface="Times New Roman"/>
                <a:cs typeface="Times New Roman"/>
              </a:rPr>
              <a:t>brine (</a:t>
            </a:r>
            <a:r>
              <a:rPr lang="en-US" altLang="ja-JP" sz="2200" dirty="0">
                <a:latin typeface="Times New Roman"/>
                <a:cs typeface="Times New Roman"/>
              </a:rPr>
              <a:t>24% (w/v) sodium chloride solution)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r>
              <a:rPr lang="en-US" altLang="ja-JP" sz="2200" i="1" dirty="0" err="1" smtClean="0">
                <a:latin typeface="Times New Roman"/>
                <a:cs typeface="Times New Roman"/>
              </a:rPr>
              <a:t>Pediococcus</a:t>
            </a:r>
            <a:r>
              <a:rPr lang="en-US" altLang="ja-JP" sz="22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200" i="1" dirty="0" err="1" smtClean="0">
                <a:latin typeface="Times New Roman"/>
                <a:cs typeface="Times New Roman"/>
              </a:rPr>
              <a:t>halophilus</a:t>
            </a:r>
            <a:r>
              <a:rPr lang="en-US" altLang="ja-JP" sz="2200" i="1" dirty="0">
                <a:latin typeface="Times New Roman"/>
                <a:cs typeface="Times New Roman"/>
              </a:rPr>
              <a:t> </a:t>
            </a:r>
            <a:r>
              <a:rPr lang="en-US" altLang="ja-JP" sz="2200" dirty="0" smtClean="0">
                <a:latin typeface="Times New Roman"/>
                <a:cs typeface="Times New Roman"/>
              </a:rPr>
              <a:t>initially </a:t>
            </a:r>
            <a:r>
              <a:rPr lang="en-US" altLang="ja-JP" sz="2200" dirty="0">
                <a:latin typeface="Times New Roman"/>
                <a:cs typeface="Times New Roman"/>
              </a:rPr>
              <a:t>acidify and prevent spoilage.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endParaRPr lang="en-US" altLang="ja-JP" sz="22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b="1" dirty="0" smtClean="0">
                <a:latin typeface="Times New Roman"/>
                <a:cs typeface="Times New Roman"/>
              </a:rPr>
              <a:t>Candida </a:t>
            </a:r>
            <a:r>
              <a:rPr lang="en-US" altLang="ja-JP" sz="2200" b="1" dirty="0">
                <a:latin typeface="Times New Roman"/>
                <a:cs typeface="Times New Roman"/>
              </a:rPr>
              <a:t>species or 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Zygosaccharomyces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b="1" i="1" dirty="0" err="1">
                <a:latin typeface="Times New Roman"/>
                <a:cs typeface="Times New Roman"/>
              </a:rPr>
              <a:t>rouxii</a:t>
            </a:r>
            <a:r>
              <a:rPr lang="en-US" altLang="ja-JP" sz="2200" b="1" i="1" dirty="0">
                <a:latin typeface="Times New Roman"/>
                <a:cs typeface="Times New Roman"/>
              </a:rPr>
              <a:t> </a:t>
            </a:r>
            <a:r>
              <a:rPr lang="en-US" altLang="ja-JP" sz="2200" dirty="0" smtClean="0">
                <a:latin typeface="Times New Roman"/>
                <a:cs typeface="Times New Roman"/>
              </a:rPr>
              <a:t>perform an </a:t>
            </a:r>
            <a:r>
              <a:rPr lang="en-US" altLang="ja-JP" sz="2200" dirty="0">
                <a:latin typeface="Times New Roman"/>
                <a:cs typeface="Times New Roman"/>
              </a:rPr>
              <a:t>alcoholic fermentation and produce </a:t>
            </a:r>
            <a:r>
              <a:rPr lang="en-US" altLang="ja-JP" sz="2200" dirty="0" smtClean="0">
                <a:latin typeface="Times New Roman"/>
                <a:cs typeface="Times New Roman"/>
              </a:rPr>
              <a:t>additional flavor </a:t>
            </a:r>
            <a:r>
              <a:rPr lang="en-US" altLang="ja-JP" sz="2200" dirty="0">
                <a:latin typeface="Times New Roman"/>
                <a:cs typeface="Times New Roman"/>
              </a:rPr>
              <a:t>compounds such as </a:t>
            </a:r>
            <a:r>
              <a:rPr lang="en-US" altLang="ja-JP" sz="2200" dirty="0" err="1">
                <a:latin typeface="Times New Roman"/>
                <a:cs typeface="Times New Roman"/>
              </a:rPr>
              <a:t>furanones</a:t>
            </a:r>
            <a:r>
              <a:rPr lang="en-US" altLang="ja-JP" sz="2200" dirty="0">
                <a:latin typeface="Times New Roman"/>
                <a:cs typeface="Times New Roman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835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256" y="135189"/>
            <a:ext cx="862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Coffee fermentation</a:t>
            </a:r>
            <a:endParaRPr lang="en-US" altLang="ja-JP" sz="28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862" y="947796"/>
            <a:ext cx="82826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Berries of the coffee plant (</a:t>
            </a:r>
            <a:r>
              <a:rPr lang="en-US" altLang="ja-JP" sz="2400" i="1" dirty="0" err="1">
                <a:latin typeface="Times New Roman"/>
                <a:cs typeface="Times New Roman"/>
              </a:rPr>
              <a:t>Coffea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i="1" dirty="0" err="1">
                <a:latin typeface="Times New Roman"/>
                <a:cs typeface="Times New Roman"/>
              </a:rPr>
              <a:t>arabica</a:t>
            </a:r>
            <a:r>
              <a:rPr lang="en-US" altLang="ja-JP" sz="2400" i="1" dirty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and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Coffea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 </a:t>
            </a:r>
            <a:r>
              <a:rPr lang="en-US" altLang="ja-JP" sz="2400" i="1" dirty="0" err="1" smtClean="0">
                <a:latin typeface="Times New Roman"/>
                <a:cs typeface="Times New Roman"/>
              </a:rPr>
              <a:t>canephora</a:t>
            </a:r>
            <a:r>
              <a:rPr lang="en-US" altLang="ja-JP" sz="2400" dirty="0">
                <a:latin typeface="Times New Roman"/>
                <a:cs typeface="Times New Roman"/>
              </a:rPr>
              <a:t>) are processed to obtain the bean </a:t>
            </a:r>
            <a:r>
              <a:rPr lang="en-US" altLang="ja-JP" sz="2400" dirty="0" smtClean="0">
                <a:latin typeface="Times New Roman"/>
                <a:cs typeface="Times New Roman"/>
              </a:rPr>
              <a:t>from within </a:t>
            </a:r>
            <a:r>
              <a:rPr lang="en-US" altLang="ja-JP" sz="2400" dirty="0">
                <a:latin typeface="Times New Roman"/>
                <a:cs typeface="Times New Roman"/>
              </a:rPr>
              <a:t>by either a dry or wet process.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wet process</a:t>
            </a:r>
            <a:r>
              <a:rPr lang="en-US" altLang="ja-JP" sz="2400" dirty="0" smtClean="0">
                <a:latin typeface="Times New Roman"/>
                <a:cs typeface="Times New Roman"/>
              </a:rPr>
              <a:t>, which </a:t>
            </a:r>
            <a:r>
              <a:rPr lang="en-US" altLang="ja-JP" sz="2400" dirty="0">
                <a:latin typeface="Times New Roman"/>
                <a:cs typeface="Times New Roman"/>
              </a:rPr>
              <a:t>generally produces better quality beans, </a:t>
            </a:r>
            <a:r>
              <a:rPr lang="en-US" altLang="ja-JP" sz="2400" dirty="0" smtClean="0">
                <a:latin typeface="Times New Roman"/>
                <a:cs typeface="Times New Roman"/>
              </a:rPr>
              <a:t>involves the </a:t>
            </a:r>
            <a:r>
              <a:rPr lang="en-US" altLang="ja-JP" sz="2400" dirty="0">
                <a:latin typeface="Times New Roman"/>
                <a:cs typeface="Times New Roman"/>
              </a:rPr>
              <a:t>activities of indigenous bacteria, filamentous </a:t>
            </a:r>
            <a:r>
              <a:rPr lang="en-US" altLang="ja-JP" sz="2400" dirty="0" smtClean="0">
                <a:latin typeface="Times New Roman"/>
                <a:cs typeface="Times New Roman"/>
              </a:rPr>
              <a:t>fungi and </a:t>
            </a:r>
            <a:r>
              <a:rPr lang="en-US" altLang="ja-JP" sz="2400" dirty="0">
                <a:latin typeface="Times New Roman"/>
                <a:cs typeface="Times New Roman"/>
              </a:rPr>
              <a:t>yeasts.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pulpy </a:t>
            </a:r>
            <a:r>
              <a:rPr lang="en-US" altLang="ja-JP" sz="2400" dirty="0" smtClean="0">
                <a:latin typeface="Times New Roman"/>
                <a:cs typeface="Times New Roman"/>
              </a:rPr>
              <a:t>material </a:t>
            </a:r>
            <a:r>
              <a:rPr lang="en-US" altLang="ja-JP" sz="2400" dirty="0">
                <a:latin typeface="Times New Roman"/>
                <a:cs typeface="Times New Roman"/>
              </a:rPr>
              <a:t>that </a:t>
            </a:r>
            <a:r>
              <a:rPr lang="en-US" altLang="ja-JP" sz="2400" dirty="0" smtClean="0">
                <a:latin typeface="Times New Roman"/>
                <a:cs typeface="Times New Roman"/>
              </a:rPr>
              <a:t>surrounds the </a:t>
            </a:r>
            <a:r>
              <a:rPr lang="en-US" altLang="ja-JP" sz="2400" dirty="0">
                <a:latin typeface="Times New Roman"/>
                <a:cs typeface="Times New Roman"/>
              </a:rPr>
              <a:t>beans is removed by the action of </a:t>
            </a:r>
            <a:r>
              <a:rPr lang="en-US" altLang="ja-JP" sz="2400" dirty="0" smtClean="0">
                <a:latin typeface="Times New Roman"/>
                <a:cs typeface="Times New Roman"/>
              </a:rPr>
              <a:t>endogenous plant </a:t>
            </a:r>
            <a:r>
              <a:rPr lang="en-US" altLang="ja-JP" sz="2400" dirty="0">
                <a:latin typeface="Times New Roman"/>
                <a:cs typeface="Times New Roman"/>
              </a:rPr>
              <a:t>enzymes, </a:t>
            </a:r>
            <a:r>
              <a:rPr lang="en-US" altLang="ja-JP" sz="2400" dirty="0" err="1">
                <a:latin typeface="Times New Roman"/>
                <a:cs typeface="Times New Roman"/>
              </a:rPr>
              <a:t>pectinolytic</a:t>
            </a:r>
            <a:r>
              <a:rPr lang="en-US" altLang="ja-JP" sz="2400" dirty="0">
                <a:latin typeface="Times New Roman"/>
                <a:cs typeface="Times New Roman"/>
              </a:rPr>
              <a:t> bacteria and fungi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This is followed by an acid fermentation by lactic </a:t>
            </a:r>
            <a:r>
              <a:rPr lang="en-US" altLang="ja-JP" sz="2400" dirty="0" smtClean="0">
                <a:latin typeface="Times New Roman"/>
                <a:cs typeface="Times New Roman"/>
              </a:rPr>
              <a:t>acid bacteria</a:t>
            </a:r>
            <a:r>
              <a:rPr lang="en-US" altLang="ja-JP" sz="2400" dirty="0">
                <a:latin typeface="Times New Roman"/>
                <a:cs typeface="Times New Roman"/>
              </a:rPr>
              <a:t>, primarily </a:t>
            </a:r>
            <a:r>
              <a:rPr lang="en-US" altLang="ja-JP" sz="2400" i="1" dirty="0" err="1">
                <a:latin typeface="Times New Roman"/>
                <a:cs typeface="Times New Roman"/>
              </a:rPr>
              <a:t>Leuconostoc</a:t>
            </a:r>
            <a:r>
              <a:rPr lang="en-US" altLang="ja-JP" sz="2400" dirty="0">
                <a:latin typeface="Times New Roman"/>
                <a:cs typeface="Times New Roman"/>
              </a:rPr>
              <a:t> </a:t>
            </a:r>
            <a:r>
              <a:rPr lang="en-US" altLang="ja-JP" sz="2400" dirty="0" smtClean="0">
                <a:latin typeface="Times New Roman"/>
                <a:cs typeface="Times New Roman"/>
              </a:rPr>
              <a:t>and </a:t>
            </a:r>
            <a:r>
              <a:rPr lang="en-US" altLang="ja-JP" sz="2400" i="1" dirty="0" smtClean="0">
                <a:latin typeface="Times New Roman"/>
                <a:cs typeface="Times New Roman"/>
              </a:rPr>
              <a:t>Lactobacillus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  <a:endParaRPr lang="en-US" altLang="ja-JP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376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17344</TotalTime>
  <Words>1331</Words>
  <Application>Microsoft Office PowerPoint</Application>
  <PresentationFormat>On-screen Show (4:3)</PresentationFormat>
  <Paragraphs>179</Paragraphs>
  <Slides>37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ＭＳ Ｐゴシック</vt:lpstr>
      <vt:lpstr>Arial</vt:lpstr>
      <vt:lpstr>Calibri</vt:lpstr>
      <vt:lpstr>Times New Roman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JUST</cp:lastModifiedBy>
  <cp:revision>71</cp:revision>
  <dcterms:created xsi:type="dcterms:W3CDTF">2015-11-08T19:51:44Z</dcterms:created>
  <dcterms:modified xsi:type="dcterms:W3CDTF">2019-11-05T08:58:00Z</dcterms:modified>
</cp:coreProperties>
</file>