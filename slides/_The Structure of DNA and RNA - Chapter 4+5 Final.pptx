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70"/>
  </p:notesMasterIdLst>
  <p:handoutMasterIdLst>
    <p:handoutMasterId r:id="rId71"/>
  </p:handoutMasterIdLst>
  <p:sldIdLst>
    <p:sldId id="256" r:id="rId2"/>
    <p:sldId id="257" r:id="rId3"/>
    <p:sldId id="315" r:id="rId4"/>
    <p:sldId id="258" r:id="rId5"/>
    <p:sldId id="259" r:id="rId6"/>
    <p:sldId id="260" r:id="rId7"/>
    <p:sldId id="261" r:id="rId8"/>
    <p:sldId id="262" r:id="rId9"/>
    <p:sldId id="263" r:id="rId10"/>
    <p:sldId id="264" r:id="rId11"/>
    <p:sldId id="271" r:id="rId12"/>
    <p:sldId id="272" r:id="rId13"/>
    <p:sldId id="265" r:id="rId14"/>
    <p:sldId id="266" r:id="rId15"/>
    <p:sldId id="267" r:id="rId16"/>
    <p:sldId id="268" r:id="rId17"/>
    <p:sldId id="316" r:id="rId18"/>
    <p:sldId id="321" r:id="rId19"/>
    <p:sldId id="276" r:id="rId20"/>
    <p:sldId id="323" r:id="rId21"/>
    <p:sldId id="319" r:id="rId22"/>
    <p:sldId id="336" r:id="rId23"/>
    <p:sldId id="337" r:id="rId24"/>
    <p:sldId id="338" r:id="rId25"/>
    <p:sldId id="277" r:id="rId26"/>
    <p:sldId id="278" r:id="rId27"/>
    <p:sldId id="279" r:id="rId28"/>
    <p:sldId id="281" r:id="rId29"/>
    <p:sldId id="282" r:id="rId30"/>
    <p:sldId id="283" r:id="rId31"/>
    <p:sldId id="312" r:id="rId32"/>
    <p:sldId id="285" r:id="rId33"/>
    <p:sldId id="287" r:id="rId34"/>
    <p:sldId id="339" r:id="rId35"/>
    <p:sldId id="311" r:id="rId36"/>
    <p:sldId id="289" r:id="rId37"/>
    <p:sldId id="290" r:id="rId38"/>
    <p:sldId id="324" r:id="rId39"/>
    <p:sldId id="325" r:id="rId40"/>
    <p:sldId id="340" r:id="rId41"/>
    <p:sldId id="341" r:id="rId42"/>
    <p:sldId id="293" r:id="rId43"/>
    <p:sldId id="314" r:id="rId44"/>
    <p:sldId id="291" r:id="rId45"/>
    <p:sldId id="294" r:id="rId46"/>
    <p:sldId id="345" r:id="rId47"/>
    <p:sldId id="317" r:id="rId48"/>
    <p:sldId id="342" r:id="rId49"/>
    <p:sldId id="295" r:id="rId50"/>
    <p:sldId id="296" r:id="rId51"/>
    <p:sldId id="327" r:id="rId52"/>
    <p:sldId id="297" r:id="rId53"/>
    <p:sldId id="346" r:id="rId54"/>
    <p:sldId id="344" r:id="rId55"/>
    <p:sldId id="326" r:id="rId56"/>
    <p:sldId id="298" r:id="rId57"/>
    <p:sldId id="343" r:id="rId58"/>
    <p:sldId id="299" r:id="rId59"/>
    <p:sldId id="300" r:id="rId60"/>
    <p:sldId id="301" r:id="rId61"/>
    <p:sldId id="302" r:id="rId62"/>
    <p:sldId id="328" r:id="rId63"/>
    <p:sldId id="333" r:id="rId64"/>
    <p:sldId id="329" r:id="rId65"/>
    <p:sldId id="334" r:id="rId66"/>
    <p:sldId id="330" r:id="rId67"/>
    <p:sldId id="331" r:id="rId68"/>
    <p:sldId id="332" r:id="rId69"/>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78"/>
    <p:restoredTop sz="94662" autoAdjust="0"/>
  </p:normalViewPr>
  <p:slideViewPr>
    <p:cSldViewPr>
      <p:cViewPr varScale="1">
        <p:scale>
          <a:sx n="153" d="100"/>
          <a:sy n="153" d="100"/>
        </p:scale>
        <p:origin x="1568" y="176"/>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300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FFC5AED2-8532-E841-7E69-8CBD5543A8B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GB"/>
          </a:p>
        </p:txBody>
      </p:sp>
      <p:sp>
        <p:nvSpPr>
          <p:cNvPr id="59395" name="Rectangle 3">
            <a:extLst>
              <a:ext uri="{FF2B5EF4-FFF2-40B4-BE49-F238E27FC236}">
                <a16:creationId xmlns:a16="http://schemas.microsoft.com/office/drawing/2014/main" id="{24D38358-C716-5455-E396-E05AA9342F0F}"/>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GB"/>
          </a:p>
        </p:txBody>
      </p:sp>
      <p:sp>
        <p:nvSpPr>
          <p:cNvPr id="59396" name="Rectangle 4">
            <a:extLst>
              <a:ext uri="{FF2B5EF4-FFF2-40B4-BE49-F238E27FC236}">
                <a16:creationId xmlns:a16="http://schemas.microsoft.com/office/drawing/2014/main" id="{0F02DD9E-152C-C1A4-2F01-6B9044BA4942}"/>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endParaRPr lang="en-GB"/>
          </a:p>
        </p:txBody>
      </p:sp>
      <p:sp>
        <p:nvSpPr>
          <p:cNvPr id="59397" name="Rectangle 5">
            <a:extLst>
              <a:ext uri="{FF2B5EF4-FFF2-40B4-BE49-F238E27FC236}">
                <a16:creationId xmlns:a16="http://schemas.microsoft.com/office/drawing/2014/main" id="{52515BBA-8B15-6716-72BD-21692099F66C}"/>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EA760C43-C9C3-A248-9132-70156DAA479B}"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6695718-F76B-B5C6-0FA1-70648E455B60}"/>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GB"/>
          </a:p>
        </p:txBody>
      </p:sp>
      <p:sp>
        <p:nvSpPr>
          <p:cNvPr id="15363" name="Rectangle 3">
            <a:extLst>
              <a:ext uri="{FF2B5EF4-FFF2-40B4-BE49-F238E27FC236}">
                <a16:creationId xmlns:a16="http://schemas.microsoft.com/office/drawing/2014/main" id="{10A0A55B-CC9B-06FE-C107-69F5632C0B0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GB"/>
          </a:p>
        </p:txBody>
      </p:sp>
      <p:sp>
        <p:nvSpPr>
          <p:cNvPr id="3076" name="Rectangle 4">
            <a:extLst>
              <a:ext uri="{FF2B5EF4-FFF2-40B4-BE49-F238E27FC236}">
                <a16:creationId xmlns:a16="http://schemas.microsoft.com/office/drawing/2014/main" id="{D1A573D6-3AF8-963D-7EBB-7FF2BDCFFFA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a:extLst>
              <a:ext uri="{FF2B5EF4-FFF2-40B4-BE49-F238E27FC236}">
                <a16:creationId xmlns:a16="http://schemas.microsoft.com/office/drawing/2014/main" id="{F84766B0-6E00-34BB-0A5A-C2AEFC151DA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5366" name="Rectangle 6">
            <a:extLst>
              <a:ext uri="{FF2B5EF4-FFF2-40B4-BE49-F238E27FC236}">
                <a16:creationId xmlns:a16="http://schemas.microsoft.com/office/drawing/2014/main" id="{4703E507-3011-92FC-3804-31CC1AFA80B2}"/>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endParaRPr lang="en-GB"/>
          </a:p>
        </p:txBody>
      </p:sp>
      <p:sp>
        <p:nvSpPr>
          <p:cNvPr id="15367" name="Rectangle 7">
            <a:extLst>
              <a:ext uri="{FF2B5EF4-FFF2-40B4-BE49-F238E27FC236}">
                <a16:creationId xmlns:a16="http://schemas.microsoft.com/office/drawing/2014/main" id="{85659A14-8902-165A-7ED5-94BDEA350FB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C0B666E1-3DC3-2043-8146-CF84313E70D9}"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681B894-6A85-2365-913E-7C4B2D71F6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2666D5F-36E6-1949-A5BB-47ECA96DDD81}" type="slidenum">
              <a:rPr lang="en-GB" altLang="en-US"/>
              <a:pPr>
                <a:spcBef>
                  <a:spcPct val="0"/>
                </a:spcBef>
              </a:pPr>
              <a:t>1</a:t>
            </a:fld>
            <a:endParaRPr lang="en-GB" altLang="en-US"/>
          </a:p>
        </p:txBody>
      </p:sp>
      <p:sp>
        <p:nvSpPr>
          <p:cNvPr id="6147" name="Rectangle 2">
            <a:extLst>
              <a:ext uri="{FF2B5EF4-FFF2-40B4-BE49-F238E27FC236}">
                <a16:creationId xmlns:a16="http://schemas.microsoft.com/office/drawing/2014/main" id="{6600AA4A-5C66-5C6D-6CB5-BAD496379114}"/>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6B8F31A4-28D5-5FB1-59DA-9D255CDA48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5ECCEB88-498D-EC09-E99E-734B544BD5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33394F4-D59E-494E-B037-AFFF9CF8D1F3}" type="slidenum">
              <a:rPr lang="en-GB" altLang="en-US"/>
              <a:pPr>
                <a:spcBef>
                  <a:spcPct val="0"/>
                </a:spcBef>
              </a:pPr>
              <a:t>2</a:t>
            </a:fld>
            <a:endParaRPr lang="en-GB" altLang="en-US"/>
          </a:p>
        </p:txBody>
      </p:sp>
      <p:sp>
        <p:nvSpPr>
          <p:cNvPr id="8195" name="Rectangle 2">
            <a:extLst>
              <a:ext uri="{FF2B5EF4-FFF2-40B4-BE49-F238E27FC236}">
                <a16:creationId xmlns:a16="http://schemas.microsoft.com/office/drawing/2014/main" id="{6431C487-C53E-4678-2516-F59394B8CA34}"/>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EE5199FD-B54D-3AD3-046E-8A8C6FFF94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F1C5E450-7E14-1BF0-F5F6-9E5EF2797C26}"/>
              </a:ext>
            </a:extLst>
          </p:cNvPr>
          <p:cNvSpPr>
            <a:spLocks noGrp="1" noRot="1" noChangeAspect="1" noTextEdit="1"/>
          </p:cNvSpPr>
          <p:nvPr>
            <p:ph type="sldImg"/>
          </p:nvPr>
        </p:nvSpPr>
        <p:spPr>
          <a:ln/>
        </p:spPr>
      </p:sp>
      <p:sp>
        <p:nvSpPr>
          <p:cNvPr id="10243" name="Notes Placeholder 2">
            <a:extLst>
              <a:ext uri="{FF2B5EF4-FFF2-40B4-BE49-F238E27FC236}">
                <a16:creationId xmlns:a16="http://schemas.microsoft.com/office/drawing/2014/main" id="{1EE90581-0545-1C56-4F83-2881C545C02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10244" name="Slide Number Placeholder 3">
            <a:extLst>
              <a:ext uri="{FF2B5EF4-FFF2-40B4-BE49-F238E27FC236}">
                <a16:creationId xmlns:a16="http://schemas.microsoft.com/office/drawing/2014/main" id="{25103AF6-FF6E-7F02-51B8-32272B7DC33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2DF2CBC-58B8-394F-901E-C5634B8606C4}" type="slidenum">
              <a:rPr lang="en-GB" altLang="en-US"/>
              <a:pPr>
                <a:spcBef>
                  <a:spcPct val="0"/>
                </a:spcBef>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F5F6DFE5-C5F1-6122-DAAE-90FE40F3E2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A8E2C31-4CD1-8F4A-AD4F-3AFF00D12CFA}" type="slidenum">
              <a:rPr lang="en-GB" altLang="en-US"/>
              <a:pPr>
                <a:spcBef>
                  <a:spcPct val="0"/>
                </a:spcBef>
              </a:pPr>
              <a:t>4</a:t>
            </a:fld>
            <a:endParaRPr lang="en-GB" altLang="en-US"/>
          </a:p>
        </p:txBody>
      </p:sp>
      <p:sp>
        <p:nvSpPr>
          <p:cNvPr id="12291" name="Rectangle 2">
            <a:extLst>
              <a:ext uri="{FF2B5EF4-FFF2-40B4-BE49-F238E27FC236}">
                <a16:creationId xmlns:a16="http://schemas.microsoft.com/office/drawing/2014/main" id="{C95028C9-D21E-93BB-48D1-BF4B70E7AA1B}"/>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B27D999C-8D03-38FA-0649-49F6A0A147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ADBBBFDD-49C1-69C8-7161-CAE6F51C23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FD34E52-F993-764B-B5EE-DFD8030280AD}" type="slidenum">
              <a:rPr lang="en-GB" altLang="en-US"/>
              <a:pPr>
                <a:spcBef>
                  <a:spcPct val="0"/>
                </a:spcBef>
              </a:pPr>
              <a:t>5</a:t>
            </a:fld>
            <a:endParaRPr lang="en-GB" altLang="en-US"/>
          </a:p>
        </p:txBody>
      </p:sp>
      <p:sp>
        <p:nvSpPr>
          <p:cNvPr id="14339" name="Rectangle 2">
            <a:extLst>
              <a:ext uri="{FF2B5EF4-FFF2-40B4-BE49-F238E27FC236}">
                <a16:creationId xmlns:a16="http://schemas.microsoft.com/office/drawing/2014/main" id="{57F72747-034D-4E38-E0CF-C497D7ABB18E}"/>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1B61A09D-65EB-92E9-F95E-3415FDF6EA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cs typeface="Arial" panose="020B0604020202020204" pitchFamily="34" charset="0"/>
              </a:rPr>
              <a:t>We always read the strand from 5` to 3`. Now which strand is it the right from top to bottom or the left from bottom to left depend on the gene some genes are coded by the sense strand and others by antisense strand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57A80F27-2528-32DB-6F2B-6B7B3D724B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D2089A7-0E55-4E47-9283-BBC14300C222}" type="slidenum">
              <a:rPr lang="en-GB" altLang="en-US"/>
              <a:pPr>
                <a:spcBef>
                  <a:spcPct val="0"/>
                </a:spcBef>
              </a:pPr>
              <a:t>6</a:t>
            </a:fld>
            <a:endParaRPr lang="en-GB" altLang="en-US"/>
          </a:p>
        </p:txBody>
      </p:sp>
      <p:sp>
        <p:nvSpPr>
          <p:cNvPr id="16387" name="Rectangle 2">
            <a:extLst>
              <a:ext uri="{FF2B5EF4-FFF2-40B4-BE49-F238E27FC236}">
                <a16:creationId xmlns:a16="http://schemas.microsoft.com/office/drawing/2014/main" id="{539D2793-893A-17AD-744B-459D6C99B23B}"/>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6312C96B-2A2D-9452-4D3C-8D19149F35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122158F3-6C5F-49A9-A175-9C80B9E08D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D2B7EC7-73F5-7D42-BD81-908A83BE7EAD}" type="slidenum">
              <a:rPr lang="en-GB" altLang="en-US"/>
              <a:pPr>
                <a:spcBef>
                  <a:spcPct val="0"/>
                </a:spcBef>
              </a:pPr>
              <a:t>7</a:t>
            </a:fld>
            <a:endParaRPr lang="en-GB" altLang="en-US"/>
          </a:p>
        </p:txBody>
      </p:sp>
      <p:sp>
        <p:nvSpPr>
          <p:cNvPr id="18435" name="Rectangle 2">
            <a:extLst>
              <a:ext uri="{FF2B5EF4-FFF2-40B4-BE49-F238E27FC236}">
                <a16:creationId xmlns:a16="http://schemas.microsoft.com/office/drawing/2014/main" id="{B973FDEA-9F33-302C-5208-3ABF20C18D00}"/>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5B20BF06-5056-8898-4B3A-8784AA7F0B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Watson-Crick base-pairing requires that the bases be in their preferred tautomeric states</a:t>
            </a:r>
          </a:p>
          <a:p>
            <a:pPr eaLnBrk="1" hangingPunct="1"/>
            <a:r>
              <a:rPr lang="en-US" altLang="en-US">
                <a:latin typeface="Arial" panose="020B0604020202020204" pitchFamily="34" charset="0"/>
                <a:cs typeface="Arial" panose="020B0604020202020204" pitchFamily="34" charset="0"/>
              </a:rPr>
              <a:t>The two base pairs have exactly the same geometry; having an A:T base pair or G:C base piar between the two sugars does not perturb the arrangment of the sugars because the distance between the sugar attachemnt points are the same for both bases. Niether does T:A or C:G.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31D0345F-D79F-2729-761B-3C472A52F5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1765B08-C206-AA45-90E8-29D088D5CC1B}" type="slidenum">
              <a:rPr lang="en-GB" altLang="en-US"/>
              <a:pPr>
                <a:spcBef>
                  <a:spcPct val="0"/>
                </a:spcBef>
              </a:pPr>
              <a:t>8</a:t>
            </a:fld>
            <a:endParaRPr lang="en-GB" altLang="en-US"/>
          </a:p>
        </p:txBody>
      </p:sp>
      <p:sp>
        <p:nvSpPr>
          <p:cNvPr id="20483" name="Rectangle 2">
            <a:extLst>
              <a:ext uri="{FF2B5EF4-FFF2-40B4-BE49-F238E27FC236}">
                <a16:creationId xmlns:a16="http://schemas.microsoft.com/office/drawing/2014/main" id="{ECE9F431-0D18-122E-5912-4DAB334D1974}"/>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863894CD-FB73-85A0-D1D6-5A651FB3F0E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15F2C7D3-3D94-09EE-DDCB-DA417FE343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F48903-2E1E-9444-BA8B-39E2BDE4010A}" type="slidenum">
              <a:rPr lang="en-GB" altLang="en-US"/>
              <a:pPr>
                <a:spcBef>
                  <a:spcPct val="0"/>
                </a:spcBef>
              </a:pPr>
              <a:t>9</a:t>
            </a:fld>
            <a:endParaRPr lang="en-GB" altLang="en-US"/>
          </a:p>
        </p:txBody>
      </p:sp>
      <p:sp>
        <p:nvSpPr>
          <p:cNvPr id="22531" name="Rectangle 2">
            <a:extLst>
              <a:ext uri="{FF2B5EF4-FFF2-40B4-BE49-F238E27FC236}">
                <a16:creationId xmlns:a16="http://schemas.microsoft.com/office/drawing/2014/main" id="{90092EC7-165C-56D2-5803-500D16E3F7DB}"/>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C2771979-3CCA-8816-8CCB-834A1AA1E7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4E354424-679E-8E8E-5E6D-F723B609F3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1A03826-E2F8-3448-814F-3FD6AEFB03CF}" type="slidenum">
              <a:rPr lang="en-GB" altLang="en-US"/>
              <a:pPr>
                <a:spcBef>
                  <a:spcPct val="0"/>
                </a:spcBef>
              </a:pPr>
              <a:t>10</a:t>
            </a:fld>
            <a:endParaRPr lang="en-GB" altLang="en-US"/>
          </a:p>
        </p:txBody>
      </p:sp>
      <p:sp>
        <p:nvSpPr>
          <p:cNvPr id="24579" name="Rectangle 2">
            <a:extLst>
              <a:ext uri="{FF2B5EF4-FFF2-40B4-BE49-F238E27FC236}">
                <a16:creationId xmlns:a16="http://schemas.microsoft.com/office/drawing/2014/main" id="{FB017B00-00AC-9BFC-1A5D-F5A1ECFFC1D7}"/>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541A072F-C74A-34A0-3894-017D7594F2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0ACA7269-B28B-040C-B236-D74DC52C25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BBC5A63-1A84-A94D-9E37-9E7087082DA6}" type="slidenum">
              <a:rPr lang="en-GB" altLang="en-US"/>
              <a:pPr>
                <a:spcBef>
                  <a:spcPct val="0"/>
                </a:spcBef>
              </a:pPr>
              <a:t>11</a:t>
            </a:fld>
            <a:endParaRPr lang="en-GB" altLang="en-US"/>
          </a:p>
        </p:txBody>
      </p:sp>
      <p:sp>
        <p:nvSpPr>
          <p:cNvPr id="26627" name="Rectangle 2">
            <a:extLst>
              <a:ext uri="{FF2B5EF4-FFF2-40B4-BE49-F238E27FC236}">
                <a16:creationId xmlns:a16="http://schemas.microsoft.com/office/drawing/2014/main" id="{5EDC24EA-2ACB-07FB-531C-A42920B0B8AF}"/>
              </a:ext>
            </a:extLst>
          </p:cNvPr>
          <p:cNvSpPr>
            <a:spLocks noGrp="1" noRot="1" noChangeAspect="1" noChangeArrowheads="1" noTextEdit="1"/>
          </p:cNvSpPr>
          <p:nvPr>
            <p:ph type="sldImg"/>
          </p:nvPr>
        </p:nvSpPr>
        <p:spPr>
          <a:ln/>
        </p:spPr>
      </p:sp>
      <p:sp>
        <p:nvSpPr>
          <p:cNvPr id="26628" name="Rectangle 3">
            <a:extLst>
              <a:ext uri="{FF2B5EF4-FFF2-40B4-BE49-F238E27FC236}">
                <a16:creationId xmlns:a16="http://schemas.microsoft.com/office/drawing/2014/main" id="{8466F24C-43D5-307F-6A64-C72ED3885A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F5CC4E9F-30A8-B8B4-3503-AA9DD0709F0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926CDF7-38CA-3842-B01A-355301F202DF}" type="slidenum">
              <a:rPr lang="en-GB" altLang="en-US"/>
              <a:pPr>
                <a:spcBef>
                  <a:spcPct val="0"/>
                </a:spcBef>
              </a:pPr>
              <a:t>12</a:t>
            </a:fld>
            <a:endParaRPr lang="en-GB" altLang="en-US"/>
          </a:p>
        </p:txBody>
      </p:sp>
      <p:sp>
        <p:nvSpPr>
          <p:cNvPr id="28675" name="Rectangle 2">
            <a:extLst>
              <a:ext uri="{FF2B5EF4-FFF2-40B4-BE49-F238E27FC236}">
                <a16:creationId xmlns:a16="http://schemas.microsoft.com/office/drawing/2014/main" id="{5A9744BA-F7D1-EDC0-EF5F-7513CAF62782}"/>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DE3B2B7A-8435-BAB8-5012-8E8D60C2F9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17F36D8D-DCAB-560B-3F16-ABF7CDDB11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D6DBF21-B28D-AA4F-A7FD-6F8C2DE5910A}" type="slidenum">
              <a:rPr lang="en-GB" altLang="en-US"/>
              <a:pPr>
                <a:spcBef>
                  <a:spcPct val="0"/>
                </a:spcBef>
              </a:pPr>
              <a:t>13</a:t>
            </a:fld>
            <a:endParaRPr lang="en-GB" altLang="en-US"/>
          </a:p>
        </p:txBody>
      </p:sp>
      <p:sp>
        <p:nvSpPr>
          <p:cNvPr id="30723" name="Rectangle 2">
            <a:extLst>
              <a:ext uri="{FF2B5EF4-FFF2-40B4-BE49-F238E27FC236}">
                <a16:creationId xmlns:a16="http://schemas.microsoft.com/office/drawing/2014/main" id="{82EE0D0C-DA5E-68DB-9F16-BD3299682C92}"/>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9306F264-A72C-8C97-B2C5-BB44603E09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8B6CE1DB-A524-554E-5BA7-F55CC19440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6B6929B-8D93-DB48-A80B-62CF2B9D9BD8}" type="slidenum">
              <a:rPr lang="en-GB" altLang="en-US"/>
              <a:pPr>
                <a:spcBef>
                  <a:spcPct val="0"/>
                </a:spcBef>
              </a:pPr>
              <a:t>14</a:t>
            </a:fld>
            <a:endParaRPr lang="en-GB" altLang="en-US"/>
          </a:p>
        </p:txBody>
      </p:sp>
      <p:sp>
        <p:nvSpPr>
          <p:cNvPr id="32771" name="Rectangle 2">
            <a:extLst>
              <a:ext uri="{FF2B5EF4-FFF2-40B4-BE49-F238E27FC236}">
                <a16:creationId xmlns:a16="http://schemas.microsoft.com/office/drawing/2014/main" id="{D6BC2A69-04C9-8F3D-BB0F-CD36308528E1}"/>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AF4C0517-3079-C6BD-9379-97FFB1A7F6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E7C846B6-BDFB-8B23-594A-D4A78D0696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EA67791-733F-EE43-A9BB-93D710FC4528}" type="slidenum">
              <a:rPr lang="en-GB" altLang="en-US"/>
              <a:pPr>
                <a:spcBef>
                  <a:spcPct val="0"/>
                </a:spcBef>
              </a:pPr>
              <a:t>15</a:t>
            </a:fld>
            <a:endParaRPr lang="en-GB" altLang="en-US"/>
          </a:p>
        </p:txBody>
      </p:sp>
      <p:sp>
        <p:nvSpPr>
          <p:cNvPr id="34819" name="Rectangle 2">
            <a:extLst>
              <a:ext uri="{FF2B5EF4-FFF2-40B4-BE49-F238E27FC236}">
                <a16:creationId xmlns:a16="http://schemas.microsoft.com/office/drawing/2014/main" id="{EBAA7870-DBB0-B467-696A-102FA5366CA6}"/>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3F130982-3DA6-D00B-8598-0E98F40497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2D9148CD-9883-7922-1125-4C23BFCD60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A5F9D09-2386-6D46-8F07-0C7452D702B2}" type="slidenum">
              <a:rPr lang="en-GB" altLang="en-US"/>
              <a:pPr>
                <a:spcBef>
                  <a:spcPct val="0"/>
                </a:spcBef>
              </a:pPr>
              <a:t>16</a:t>
            </a:fld>
            <a:endParaRPr lang="en-GB" altLang="en-US"/>
          </a:p>
        </p:txBody>
      </p:sp>
      <p:sp>
        <p:nvSpPr>
          <p:cNvPr id="36867" name="Rectangle 2">
            <a:extLst>
              <a:ext uri="{FF2B5EF4-FFF2-40B4-BE49-F238E27FC236}">
                <a16:creationId xmlns:a16="http://schemas.microsoft.com/office/drawing/2014/main" id="{4495182A-18C9-D84D-C2EC-2089D0AC2878}"/>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7F9B8814-6B63-A0BA-C62E-5CD99539F2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9B889672-3904-556C-7B2E-EAEF51B93013}"/>
              </a:ext>
            </a:extLst>
          </p:cNvPr>
          <p:cNvSpPr>
            <a:spLocks noGrp="1" noRot="1" noChangeAspect="1" noTextEdit="1"/>
          </p:cNvSpPr>
          <p:nvPr>
            <p:ph type="sldImg"/>
          </p:nvPr>
        </p:nvSpPr>
        <p:spPr>
          <a:ln/>
        </p:spPr>
      </p:sp>
      <p:sp>
        <p:nvSpPr>
          <p:cNvPr id="38915" name="Notes Placeholder 2">
            <a:extLst>
              <a:ext uri="{FF2B5EF4-FFF2-40B4-BE49-F238E27FC236}">
                <a16:creationId xmlns:a16="http://schemas.microsoft.com/office/drawing/2014/main" id="{39F2068A-5747-0DED-2EF3-33F30DEAD1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a:p>
            <a:r>
              <a:rPr lang="en-US" dirty="0"/>
              <a:t>The image shows a characteristic feature of </a:t>
            </a:r>
            <a:r>
              <a:rPr lang="en-US" b="1" dirty="0"/>
              <a:t>Z-DNA</a:t>
            </a:r>
            <a:r>
              <a:rPr lang="en-US" dirty="0"/>
              <a:t>, where the </a:t>
            </a:r>
            <a:r>
              <a:rPr lang="en-US" b="1" dirty="0"/>
              <a:t>anti-syn conformation</a:t>
            </a:r>
            <a:r>
              <a:rPr lang="en-US" dirty="0"/>
              <a:t> of the nucleotides gives the DNA backbone its distinctive </a:t>
            </a:r>
            <a:r>
              <a:rPr lang="en-US" b="1" dirty="0"/>
              <a:t>zigzag appearance</a:t>
            </a:r>
            <a:r>
              <a:rPr lang="en-US" dirty="0"/>
              <a:t>. This is a hallmark of Z-DNA, which is different from the smoother, right-handed helix of B-DNA.</a:t>
            </a:r>
          </a:p>
          <a:p>
            <a:r>
              <a:rPr lang="en-US" dirty="0"/>
              <a:t>In Z-DNA, the purine bases alternate between the </a:t>
            </a:r>
            <a:r>
              <a:rPr lang="en-US" b="1" dirty="0"/>
              <a:t>anti</a:t>
            </a:r>
            <a:r>
              <a:rPr lang="en-US" dirty="0"/>
              <a:t> and </a:t>
            </a:r>
            <a:r>
              <a:rPr lang="en-US" b="1" dirty="0"/>
              <a:t>syn conformations</a:t>
            </a:r>
            <a:r>
              <a:rPr lang="en-US" dirty="0"/>
              <a:t>, contributing to the zigzag pattern. The sugar-phosphate backbone of Z-DNA is twisted in such a way that it creates a left-handed helix, in contrast to the right-handed B-DNA. This structural conformation typically forms in sequences with alternating purines and pyrimidines (</a:t>
            </a:r>
            <a:r>
              <a:rPr lang="en-US" dirty="0" err="1"/>
              <a:t>pu-py</a:t>
            </a:r>
            <a:r>
              <a:rPr lang="en-US" dirty="0"/>
              <a:t>), and under conditions like high salt concentrations or supercoiling, as mentioned earlier.</a:t>
            </a:r>
          </a:p>
          <a:p>
            <a:r>
              <a:rPr lang="en-US" dirty="0"/>
              <a:t>The anti-syn switching creates a unique geometry, where the phosphate backbone appears kinked or zigzagged, hence the name "Z-DNA." This form can be involved in certain biological processes, including gene expression regulation, and it can occur transiently under physiological conditions.</a:t>
            </a:r>
          </a:p>
          <a:p>
            <a:r>
              <a:rPr lang="en-US" dirty="0"/>
              <a:t>The </a:t>
            </a:r>
            <a:r>
              <a:rPr lang="en-US" b="1" dirty="0"/>
              <a:t>syn conformation</a:t>
            </a:r>
            <a:r>
              <a:rPr lang="en-US" dirty="0"/>
              <a:t> refers to the orientation of a nucleotide base (purine or pyrimidine) relative to the sugar-phosphate backbone in the DNA molecule. In this conformation, the base is positioned </a:t>
            </a:r>
            <a:r>
              <a:rPr lang="en-US" b="1" dirty="0"/>
              <a:t>directly over the sugar ring</a:t>
            </a:r>
            <a:r>
              <a:rPr lang="en-US" dirty="0"/>
              <a:t>, creating a compact structure.</a:t>
            </a:r>
          </a:p>
          <a:p>
            <a:r>
              <a:rPr lang="en-US" dirty="0"/>
              <a:t>Here's a more detailed explanation of the </a:t>
            </a:r>
            <a:r>
              <a:rPr lang="en-US" b="1" dirty="0"/>
              <a:t>syn conformation</a:t>
            </a:r>
            <a:r>
              <a:rPr lang="en-US" dirty="0"/>
              <a:t> and its significance:</a:t>
            </a:r>
          </a:p>
          <a:p>
            <a:r>
              <a:rPr lang="en-US" b="1" dirty="0"/>
              <a:t>1. Base Orientation</a:t>
            </a:r>
          </a:p>
          <a:p>
            <a:pPr>
              <a:buFont typeface="Arial" panose="020B0604020202020204" pitchFamily="34" charset="0"/>
              <a:buChar char="•"/>
            </a:pPr>
            <a:r>
              <a:rPr lang="en-US" dirty="0"/>
              <a:t>In DNA, the nitrogenous bases (adenine, guanine, cytosine, thymine) can adopt different orientations relative to the sugar (deoxyribose) in the nucleotide.</a:t>
            </a:r>
          </a:p>
          <a:p>
            <a:pPr>
              <a:buFont typeface="Arial" panose="020B0604020202020204" pitchFamily="34" charset="0"/>
              <a:buChar char="•"/>
            </a:pPr>
            <a:r>
              <a:rPr lang="en-US" dirty="0"/>
              <a:t>In the </a:t>
            </a:r>
            <a:r>
              <a:rPr lang="en-US" b="1" dirty="0"/>
              <a:t>syn conformation</a:t>
            </a:r>
            <a:r>
              <a:rPr lang="en-US" dirty="0"/>
              <a:t>, the base is rotated such that it is positioned </a:t>
            </a:r>
            <a:r>
              <a:rPr lang="en-US" b="1" dirty="0"/>
              <a:t>over the sugar ring</a:t>
            </a:r>
            <a:r>
              <a:rPr lang="en-US" dirty="0"/>
              <a:t>, with the N-glycosidic bond (the bond between the sugar and the base) being oriented in such a way that the base "covers" the sugar.</a:t>
            </a:r>
          </a:p>
          <a:p>
            <a:r>
              <a:rPr lang="en-US" b="1" dirty="0"/>
              <a:t>2. Anti vs. Syn Conformation</a:t>
            </a:r>
          </a:p>
          <a:p>
            <a:pPr>
              <a:buFont typeface="Arial" panose="020B0604020202020204" pitchFamily="34" charset="0"/>
              <a:buChar char="•"/>
            </a:pPr>
            <a:r>
              <a:rPr lang="en-US" dirty="0"/>
              <a:t>DNA nucleotides can exist in two main conformations relative to the sugar-phosphate backbone:</a:t>
            </a:r>
          </a:p>
          <a:p>
            <a:pPr marL="742950" lvl="1" indent="-285750">
              <a:buFont typeface="Arial" panose="020B0604020202020204" pitchFamily="34" charset="0"/>
              <a:buChar char="•"/>
            </a:pPr>
            <a:r>
              <a:rPr lang="en-US" b="1" dirty="0"/>
              <a:t>Anti conformation</a:t>
            </a:r>
            <a:r>
              <a:rPr lang="en-US" dirty="0"/>
              <a:t>: The base is rotated away from the sugar, which is the most common and stable conformation in right-handed B-DNA.</a:t>
            </a:r>
          </a:p>
          <a:p>
            <a:pPr marL="742950" lvl="1" indent="-285750">
              <a:buFont typeface="Arial" panose="020B0604020202020204" pitchFamily="34" charset="0"/>
              <a:buChar char="•"/>
            </a:pPr>
            <a:r>
              <a:rPr lang="en-US" b="1" dirty="0"/>
              <a:t>Syn conformation</a:t>
            </a:r>
            <a:r>
              <a:rPr lang="en-US" dirty="0"/>
              <a:t>: The base is rotated over the sugar ring, a conformation that is less common and more energetically strained, but it is a defining feature of </a:t>
            </a:r>
            <a:r>
              <a:rPr lang="en-US" b="1" dirty="0"/>
              <a:t>Z-DNA</a:t>
            </a:r>
            <a:r>
              <a:rPr lang="en-US" dirty="0"/>
              <a:t> (left-handed DNA).</a:t>
            </a:r>
          </a:p>
          <a:p>
            <a:r>
              <a:rPr lang="en-US" b="1" dirty="0"/>
              <a:t>3. Z-DNA and the Role of Syn Conformation</a:t>
            </a:r>
          </a:p>
          <a:p>
            <a:pPr>
              <a:buFont typeface="Arial" panose="020B0604020202020204" pitchFamily="34" charset="0"/>
              <a:buChar char="•"/>
            </a:pPr>
            <a:r>
              <a:rPr lang="en-US" dirty="0"/>
              <a:t>In </a:t>
            </a:r>
            <a:r>
              <a:rPr lang="en-US" b="1" dirty="0"/>
              <a:t>Z-DNA</a:t>
            </a:r>
            <a:r>
              <a:rPr lang="en-US" dirty="0"/>
              <a:t>, alternating purine bases (like guanine) adopt the </a:t>
            </a:r>
            <a:r>
              <a:rPr lang="en-US" b="1" dirty="0"/>
              <a:t>syn conformation</a:t>
            </a:r>
            <a:r>
              <a:rPr lang="en-US" dirty="0"/>
              <a:t>, while pyrimidines (like cytosine) remain in the anti conformation. This alternating syn-anti pattern gives Z-DNA its </a:t>
            </a:r>
            <a:r>
              <a:rPr lang="en-US" b="1" dirty="0"/>
              <a:t>zigzag backbone</a:t>
            </a:r>
            <a:r>
              <a:rPr lang="en-US" dirty="0"/>
              <a:t> structure.</a:t>
            </a:r>
          </a:p>
          <a:p>
            <a:pPr>
              <a:buFont typeface="Arial" panose="020B0604020202020204" pitchFamily="34" charset="0"/>
              <a:buChar char="•"/>
            </a:pPr>
            <a:r>
              <a:rPr lang="en-US" dirty="0"/>
              <a:t>This is unique compared to the </a:t>
            </a:r>
            <a:r>
              <a:rPr lang="en-US" b="1" dirty="0"/>
              <a:t>anti conformation</a:t>
            </a:r>
            <a:r>
              <a:rPr lang="en-US" dirty="0"/>
              <a:t> that dominates in the more common </a:t>
            </a:r>
            <a:r>
              <a:rPr lang="en-US" b="1" dirty="0"/>
              <a:t>B-DNA</a:t>
            </a:r>
            <a:r>
              <a:rPr lang="en-US" dirty="0"/>
              <a:t> form.</a:t>
            </a:r>
          </a:p>
          <a:p>
            <a:r>
              <a:rPr lang="en-US" b="1" dirty="0"/>
              <a:t>4. Biological Relevance</a:t>
            </a:r>
          </a:p>
          <a:p>
            <a:pPr>
              <a:buFont typeface="Arial" panose="020B0604020202020204" pitchFamily="34" charset="0"/>
              <a:buChar char="•"/>
            </a:pPr>
            <a:r>
              <a:rPr lang="en-US" dirty="0"/>
              <a:t>The </a:t>
            </a:r>
            <a:r>
              <a:rPr lang="en-US" b="1" dirty="0"/>
              <a:t>syn conformation</a:t>
            </a:r>
            <a:r>
              <a:rPr lang="en-US" dirty="0"/>
              <a:t> occurs under specific conditions, such as high ionic strength or supercoiling, leading to the formation of Z-DNA.</a:t>
            </a:r>
          </a:p>
          <a:p>
            <a:pPr>
              <a:buFont typeface="Arial" panose="020B0604020202020204" pitchFamily="34" charset="0"/>
              <a:buChar char="•"/>
            </a:pPr>
            <a:r>
              <a:rPr lang="en-US" dirty="0"/>
              <a:t>While </a:t>
            </a:r>
            <a:r>
              <a:rPr lang="en-US" b="1" dirty="0"/>
              <a:t>B-DNA</a:t>
            </a:r>
            <a:r>
              <a:rPr lang="en-US" dirty="0"/>
              <a:t> is the prevalent form of DNA in cells, </a:t>
            </a:r>
            <a:r>
              <a:rPr lang="en-US" b="1" dirty="0"/>
              <a:t>Z-DNA</a:t>
            </a:r>
            <a:r>
              <a:rPr lang="en-US" dirty="0"/>
              <a:t> and the syn conformation play roles in regulating gene expression, DNA repair, and recombination, particularly in regions of the genome that are highly dynamic or prone to stress.</a:t>
            </a:r>
          </a:p>
          <a:p>
            <a:r>
              <a:rPr lang="en-US" dirty="0"/>
              <a:t>In summary, the </a:t>
            </a:r>
            <a:r>
              <a:rPr lang="en-US" b="1" dirty="0"/>
              <a:t>syn conformation</a:t>
            </a:r>
            <a:r>
              <a:rPr lang="en-US" dirty="0"/>
              <a:t> is when a nucleotide's base is aligned over the sugar, contrasting with the more common </a:t>
            </a:r>
            <a:r>
              <a:rPr lang="en-US" b="1" dirty="0"/>
              <a:t>anti conformation</a:t>
            </a:r>
            <a:r>
              <a:rPr lang="en-US" dirty="0"/>
              <a:t>, and is crucial for forming the unique left-handed Z-DNA structure.</a:t>
            </a:r>
          </a:p>
          <a:p>
            <a:pPr eaLnBrk="1" hangingPunct="1"/>
            <a:endParaRPr lang="en-US" altLang="en-US" dirty="0">
              <a:latin typeface="Arial" panose="020B0604020202020204" pitchFamily="34" charset="0"/>
              <a:cs typeface="Arial" panose="020B0604020202020204" pitchFamily="34" charset="0"/>
            </a:endParaRPr>
          </a:p>
        </p:txBody>
      </p:sp>
      <p:sp>
        <p:nvSpPr>
          <p:cNvPr id="38916" name="Slide Number Placeholder 3">
            <a:extLst>
              <a:ext uri="{FF2B5EF4-FFF2-40B4-BE49-F238E27FC236}">
                <a16:creationId xmlns:a16="http://schemas.microsoft.com/office/drawing/2014/main" id="{68320642-F17F-4CFD-F2C5-14B97539064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522E300-5D15-8B4E-BC36-1FB3D7EA7928}" type="slidenum">
              <a:rPr lang="en-GB" altLang="en-US"/>
              <a:pPr>
                <a:spcBef>
                  <a:spcPct val="0"/>
                </a:spcBef>
              </a:pPr>
              <a:t>17</a:t>
            </a:fld>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FDB3AE9F-C800-58E5-4CAC-28BB3D357367}"/>
              </a:ext>
            </a:extLst>
          </p:cNvPr>
          <p:cNvSpPr>
            <a:spLocks noGrp="1" noRot="1" noChangeAspect="1" noTextEdit="1"/>
          </p:cNvSpPr>
          <p:nvPr>
            <p:ph type="sldImg"/>
          </p:nvPr>
        </p:nvSpPr>
        <p:spPr>
          <a:ln/>
        </p:spPr>
      </p:sp>
      <p:sp>
        <p:nvSpPr>
          <p:cNvPr id="40963" name="Notes Placeholder 2">
            <a:extLst>
              <a:ext uri="{FF2B5EF4-FFF2-40B4-BE49-F238E27FC236}">
                <a16:creationId xmlns:a16="http://schemas.microsoft.com/office/drawing/2014/main" id="{2CA2963B-B611-E455-C71A-2BEA04FFE7D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40964" name="Slide Number Placeholder 3">
            <a:extLst>
              <a:ext uri="{FF2B5EF4-FFF2-40B4-BE49-F238E27FC236}">
                <a16:creationId xmlns:a16="http://schemas.microsoft.com/office/drawing/2014/main" id="{7F0630A3-5218-C5E4-6844-21601F1F1E8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08A0A39-1FC4-874E-9D9F-875BC50D4B5C}" type="slidenum">
              <a:rPr lang="en-GB" altLang="en-US"/>
              <a:pPr>
                <a:spcBef>
                  <a:spcPct val="0"/>
                </a:spcBef>
              </a:pPr>
              <a:t>18</a:t>
            </a:fld>
            <a:endParaRPr lang="en-GB"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C16DB4C4-47B3-7C1D-6CFF-228715BC1D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1AAA74C-F152-1241-B9BA-D309190BE8B9}" type="slidenum">
              <a:rPr lang="en-GB" altLang="en-US"/>
              <a:pPr>
                <a:spcBef>
                  <a:spcPct val="0"/>
                </a:spcBef>
              </a:pPr>
              <a:t>19</a:t>
            </a:fld>
            <a:endParaRPr lang="en-GB" altLang="en-US"/>
          </a:p>
        </p:txBody>
      </p:sp>
      <p:sp>
        <p:nvSpPr>
          <p:cNvPr id="43011" name="Rectangle 2">
            <a:extLst>
              <a:ext uri="{FF2B5EF4-FFF2-40B4-BE49-F238E27FC236}">
                <a16:creationId xmlns:a16="http://schemas.microsoft.com/office/drawing/2014/main" id="{B6D012E2-DD2B-AD89-0822-DA6962FFB674}"/>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CD8E64AA-5DDC-7B7D-712A-A0DF57AA2D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D747950F-D2C5-A445-4070-C68DF210548B}"/>
              </a:ext>
            </a:extLst>
          </p:cNvPr>
          <p:cNvSpPr>
            <a:spLocks noGrp="1" noRot="1" noChangeAspect="1" noTextEdit="1"/>
          </p:cNvSpPr>
          <p:nvPr>
            <p:ph type="sldImg"/>
          </p:nvPr>
        </p:nvSpPr>
        <p:spPr>
          <a:ln/>
        </p:spPr>
      </p:sp>
      <p:sp>
        <p:nvSpPr>
          <p:cNvPr id="45059" name="Notes Placeholder 2">
            <a:extLst>
              <a:ext uri="{FF2B5EF4-FFF2-40B4-BE49-F238E27FC236}">
                <a16:creationId xmlns:a16="http://schemas.microsoft.com/office/drawing/2014/main" id="{12A20549-A109-09DA-CBD0-E502A221653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45060" name="Slide Number Placeholder 3">
            <a:extLst>
              <a:ext uri="{FF2B5EF4-FFF2-40B4-BE49-F238E27FC236}">
                <a16:creationId xmlns:a16="http://schemas.microsoft.com/office/drawing/2014/main" id="{EF38148D-7C4A-F8EB-36D4-5C0C4E81862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0BBA3FB-EBAE-F24E-9953-BAF88A02AC8A}" type="slidenum">
              <a:rPr lang="en-GB" altLang="en-US"/>
              <a:pPr>
                <a:spcBef>
                  <a:spcPct val="0"/>
                </a:spcBef>
              </a:pPr>
              <a:t>20</a:t>
            </a:fld>
            <a:endParaRPr lang="en-GB"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a:extLst>
              <a:ext uri="{FF2B5EF4-FFF2-40B4-BE49-F238E27FC236}">
                <a16:creationId xmlns:a16="http://schemas.microsoft.com/office/drawing/2014/main" id="{736FB277-9E79-0760-EA97-D6E0885F2BFF}"/>
              </a:ext>
            </a:extLst>
          </p:cNvPr>
          <p:cNvSpPr>
            <a:spLocks noGrp="1" noRot="1" noChangeAspect="1" noTextEdit="1"/>
          </p:cNvSpPr>
          <p:nvPr>
            <p:ph type="sldImg"/>
          </p:nvPr>
        </p:nvSpPr>
        <p:spPr>
          <a:ln/>
        </p:spPr>
      </p:sp>
      <p:sp>
        <p:nvSpPr>
          <p:cNvPr id="47107" name="Notes Placeholder 2">
            <a:extLst>
              <a:ext uri="{FF2B5EF4-FFF2-40B4-BE49-F238E27FC236}">
                <a16:creationId xmlns:a16="http://schemas.microsoft.com/office/drawing/2014/main" id="{3EB33C6C-C893-350B-85FC-03B3D56CF7F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47108" name="Slide Number Placeholder 3">
            <a:extLst>
              <a:ext uri="{FF2B5EF4-FFF2-40B4-BE49-F238E27FC236}">
                <a16:creationId xmlns:a16="http://schemas.microsoft.com/office/drawing/2014/main" id="{8FD1F51A-CA7A-9587-E425-41A1665C94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221697E-580B-A247-8457-7CBD42D7DEE5}" type="slidenum">
              <a:rPr lang="en-GB" altLang="en-US"/>
              <a:pPr>
                <a:spcBef>
                  <a:spcPct val="0"/>
                </a:spcBef>
              </a:pPr>
              <a:t>21</a:t>
            </a:fld>
            <a:endParaRPr lang="en-GB"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5533CFBB-4459-ABB8-E769-2143750C08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E4406BF-87B5-734B-B691-6A0B39C1231A}" type="slidenum">
              <a:rPr lang="en-GB" altLang="en-US"/>
              <a:pPr>
                <a:spcBef>
                  <a:spcPct val="0"/>
                </a:spcBef>
              </a:pPr>
              <a:t>25</a:t>
            </a:fld>
            <a:endParaRPr lang="en-GB" altLang="en-US"/>
          </a:p>
        </p:txBody>
      </p:sp>
      <p:sp>
        <p:nvSpPr>
          <p:cNvPr id="49155" name="Rectangle 2">
            <a:extLst>
              <a:ext uri="{FF2B5EF4-FFF2-40B4-BE49-F238E27FC236}">
                <a16:creationId xmlns:a16="http://schemas.microsoft.com/office/drawing/2014/main" id="{4853BC67-25A2-95E0-4A6B-BE468F2B8EFB}"/>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841A1CB0-CED4-CB6B-5AE1-6508F22369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307A57CD-F985-A9E5-C490-39911C3F54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A3876D3-4EB5-B346-95AA-B5373442062D}" type="slidenum">
              <a:rPr lang="en-GB" altLang="en-US"/>
              <a:pPr>
                <a:spcBef>
                  <a:spcPct val="0"/>
                </a:spcBef>
              </a:pPr>
              <a:t>26</a:t>
            </a:fld>
            <a:endParaRPr lang="en-GB" altLang="en-US"/>
          </a:p>
        </p:txBody>
      </p:sp>
      <p:sp>
        <p:nvSpPr>
          <p:cNvPr id="51203" name="Rectangle 2">
            <a:extLst>
              <a:ext uri="{FF2B5EF4-FFF2-40B4-BE49-F238E27FC236}">
                <a16:creationId xmlns:a16="http://schemas.microsoft.com/office/drawing/2014/main" id="{483244D6-DA62-6AF1-A32A-2B6BFD5D72CE}"/>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8871F33F-3A6C-E2BA-7525-68773E462C8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37DEC238-C609-EAE4-9DA2-EEB19B55E0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0265963-27B6-7D47-B51C-89D2AAE5342C}" type="slidenum">
              <a:rPr lang="en-GB" altLang="en-US"/>
              <a:pPr>
                <a:spcBef>
                  <a:spcPct val="0"/>
                </a:spcBef>
              </a:pPr>
              <a:t>27</a:t>
            </a:fld>
            <a:endParaRPr lang="en-GB" altLang="en-US"/>
          </a:p>
        </p:txBody>
      </p:sp>
      <p:sp>
        <p:nvSpPr>
          <p:cNvPr id="53251" name="Rectangle 2">
            <a:extLst>
              <a:ext uri="{FF2B5EF4-FFF2-40B4-BE49-F238E27FC236}">
                <a16:creationId xmlns:a16="http://schemas.microsoft.com/office/drawing/2014/main" id="{39FAABD7-1FDE-C840-5D68-6185E9E0A1C5}"/>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8FD7AC24-DD9C-B031-373F-00333E04BE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9F68144A-15D5-44D5-924C-0077FCC7BD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15347FC-85BA-514C-9848-9DEC9DBFE689}" type="slidenum">
              <a:rPr lang="en-GB" altLang="en-US"/>
              <a:pPr>
                <a:spcBef>
                  <a:spcPct val="0"/>
                </a:spcBef>
              </a:pPr>
              <a:t>28</a:t>
            </a:fld>
            <a:endParaRPr lang="en-GB" altLang="en-US"/>
          </a:p>
        </p:txBody>
      </p:sp>
      <p:sp>
        <p:nvSpPr>
          <p:cNvPr id="55299" name="Rectangle 2">
            <a:extLst>
              <a:ext uri="{FF2B5EF4-FFF2-40B4-BE49-F238E27FC236}">
                <a16:creationId xmlns:a16="http://schemas.microsoft.com/office/drawing/2014/main" id="{F24E5B06-1C2F-9496-E73A-4BA5F5996577}"/>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EA153DE3-D090-1276-9B81-261DB488C2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A018C43B-AB4C-BB3C-FC1F-B7C69CFA7B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311DD1F-3B3E-CA48-B7D7-1C88F9E3A39A}" type="slidenum">
              <a:rPr lang="en-GB" altLang="en-US"/>
              <a:pPr>
                <a:spcBef>
                  <a:spcPct val="0"/>
                </a:spcBef>
              </a:pPr>
              <a:t>29</a:t>
            </a:fld>
            <a:endParaRPr lang="en-GB" altLang="en-US"/>
          </a:p>
        </p:txBody>
      </p:sp>
      <p:sp>
        <p:nvSpPr>
          <p:cNvPr id="57347" name="Rectangle 2">
            <a:extLst>
              <a:ext uri="{FF2B5EF4-FFF2-40B4-BE49-F238E27FC236}">
                <a16:creationId xmlns:a16="http://schemas.microsoft.com/office/drawing/2014/main" id="{7334186A-45F0-DE38-9B1D-B08F02CA8E55}"/>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8413D035-F8D5-01F6-3C48-4355EC20E6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48322CF7-EA54-356F-0A57-8D9E59596B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87C2F62-E852-BF4B-BC8F-5892A7963872}" type="slidenum">
              <a:rPr lang="en-GB" altLang="en-US"/>
              <a:pPr>
                <a:spcBef>
                  <a:spcPct val="0"/>
                </a:spcBef>
              </a:pPr>
              <a:t>30</a:t>
            </a:fld>
            <a:endParaRPr lang="en-GB" altLang="en-US"/>
          </a:p>
        </p:txBody>
      </p:sp>
      <p:sp>
        <p:nvSpPr>
          <p:cNvPr id="59395" name="Rectangle 2">
            <a:extLst>
              <a:ext uri="{FF2B5EF4-FFF2-40B4-BE49-F238E27FC236}">
                <a16:creationId xmlns:a16="http://schemas.microsoft.com/office/drawing/2014/main" id="{31E348B6-0878-8D55-6051-C01D4F853004}"/>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6A75D861-1234-C8EA-43DD-FCE0E26A92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A64707FF-D4F6-F6D4-DE86-76D9601F8D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670C5EF-E6A4-184B-804F-FB4DA807FCC3}" type="slidenum">
              <a:rPr lang="en-GB" altLang="en-US"/>
              <a:pPr>
                <a:spcBef>
                  <a:spcPct val="0"/>
                </a:spcBef>
              </a:pPr>
              <a:t>31</a:t>
            </a:fld>
            <a:endParaRPr lang="en-GB" altLang="en-US"/>
          </a:p>
        </p:txBody>
      </p:sp>
      <p:sp>
        <p:nvSpPr>
          <p:cNvPr id="61443" name="Rectangle 2">
            <a:extLst>
              <a:ext uri="{FF2B5EF4-FFF2-40B4-BE49-F238E27FC236}">
                <a16:creationId xmlns:a16="http://schemas.microsoft.com/office/drawing/2014/main" id="{009900F0-918A-AB20-2542-4BE3156C4EDD}"/>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37812D50-71B8-790E-DC15-B7F11615B8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AB73B965-BE74-952F-C8C3-96E38D3E8B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C8403C2-3785-A147-A698-BFDC324A07A1}" type="slidenum">
              <a:rPr lang="en-GB" altLang="en-US"/>
              <a:pPr>
                <a:spcBef>
                  <a:spcPct val="0"/>
                </a:spcBef>
              </a:pPr>
              <a:t>32</a:t>
            </a:fld>
            <a:endParaRPr lang="en-GB" altLang="en-US"/>
          </a:p>
        </p:txBody>
      </p:sp>
      <p:sp>
        <p:nvSpPr>
          <p:cNvPr id="63491" name="Rectangle 2">
            <a:extLst>
              <a:ext uri="{FF2B5EF4-FFF2-40B4-BE49-F238E27FC236}">
                <a16:creationId xmlns:a16="http://schemas.microsoft.com/office/drawing/2014/main" id="{119497A9-BBA5-6344-F0D0-E7F6E6721290}"/>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09F3023D-2E41-E11E-1583-08F34740F4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2AC8B2FA-8595-6C11-E5BF-01E4F222CC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C02187E-8EED-344C-AAAD-F56B3CB46F11}" type="slidenum">
              <a:rPr lang="en-GB" altLang="en-US"/>
              <a:pPr>
                <a:spcBef>
                  <a:spcPct val="0"/>
                </a:spcBef>
              </a:pPr>
              <a:t>33</a:t>
            </a:fld>
            <a:endParaRPr lang="en-GB" altLang="en-US"/>
          </a:p>
        </p:txBody>
      </p:sp>
      <p:sp>
        <p:nvSpPr>
          <p:cNvPr id="65539" name="Rectangle 2">
            <a:extLst>
              <a:ext uri="{FF2B5EF4-FFF2-40B4-BE49-F238E27FC236}">
                <a16:creationId xmlns:a16="http://schemas.microsoft.com/office/drawing/2014/main" id="{8C6FB4BE-8EAF-ECCF-FAE1-8EF15E6082E5}"/>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680CBC9E-113F-FA2D-7F52-9FB4EE778D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3D0BBE24-5DE4-A150-9555-79045AEC94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FBBE183-1783-2D4D-8EC8-A67D507CFEF9}" type="slidenum">
              <a:rPr lang="en-GB" altLang="en-US"/>
              <a:pPr>
                <a:spcBef>
                  <a:spcPct val="0"/>
                </a:spcBef>
              </a:pPr>
              <a:t>35</a:t>
            </a:fld>
            <a:endParaRPr lang="en-GB" altLang="en-US"/>
          </a:p>
        </p:txBody>
      </p:sp>
      <p:sp>
        <p:nvSpPr>
          <p:cNvPr id="67587" name="Rectangle 2">
            <a:extLst>
              <a:ext uri="{FF2B5EF4-FFF2-40B4-BE49-F238E27FC236}">
                <a16:creationId xmlns:a16="http://schemas.microsoft.com/office/drawing/2014/main" id="{0148B15B-8A75-6A82-1CA5-5F45F9C8699C}"/>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54532788-35F3-0CA8-5123-C7820E1B1F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50E04FC9-F546-A8D3-5BE0-D62C9F555A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FDCA533-2673-044C-BACF-13FD5B27EACE}" type="slidenum">
              <a:rPr lang="en-GB" altLang="en-US"/>
              <a:pPr>
                <a:spcBef>
                  <a:spcPct val="0"/>
                </a:spcBef>
              </a:pPr>
              <a:t>36</a:t>
            </a:fld>
            <a:endParaRPr lang="en-GB" altLang="en-US"/>
          </a:p>
        </p:txBody>
      </p:sp>
      <p:sp>
        <p:nvSpPr>
          <p:cNvPr id="69635" name="Rectangle 2">
            <a:extLst>
              <a:ext uri="{FF2B5EF4-FFF2-40B4-BE49-F238E27FC236}">
                <a16:creationId xmlns:a16="http://schemas.microsoft.com/office/drawing/2014/main" id="{4B779FAD-83B1-C86B-1CB4-D5C6C63EC937}"/>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BF46FB6E-A200-24CD-D3BB-4EA048D390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8E11CEDD-44B6-A590-0E5C-A98470C08B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C5B2325-FECB-FA42-8C39-F765748CF58C}" type="slidenum">
              <a:rPr lang="en-GB" altLang="en-US"/>
              <a:pPr>
                <a:spcBef>
                  <a:spcPct val="0"/>
                </a:spcBef>
              </a:pPr>
              <a:t>37</a:t>
            </a:fld>
            <a:endParaRPr lang="en-GB" altLang="en-US"/>
          </a:p>
        </p:txBody>
      </p:sp>
      <p:sp>
        <p:nvSpPr>
          <p:cNvPr id="71683" name="Rectangle 2">
            <a:extLst>
              <a:ext uri="{FF2B5EF4-FFF2-40B4-BE49-F238E27FC236}">
                <a16:creationId xmlns:a16="http://schemas.microsoft.com/office/drawing/2014/main" id="{5794D553-2DE9-82BF-9886-3B6494A67390}"/>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49440F22-0A31-55D2-E262-0D86035528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DBF694BE-C93C-2919-E9F5-2BE5F0481F0D}"/>
              </a:ext>
            </a:extLst>
          </p:cNvPr>
          <p:cNvSpPr>
            <a:spLocks noGrp="1" noRot="1" noChangeAspect="1" noTextEdit="1"/>
          </p:cNvSpPr>
          <p:nvPr>
            <p:ph type="sldImg"/>
          </p:nvPr>
        </p:nvSpPr>
        <p:spPr>
          <a:ln/>
        </p:spPr>
      </p:sp>
      <p:sp>
        <p:nvSpPr>
          <p:cNvPr id="73731" name="Notes Placeholder 2">
            <a:extLst>
              <a:ext uri="{FF2B5EF4-FFF2-40B4-BE49-F238E27FC236}">
                <a16:creationId xmlns:a16="http://schemas.microsoft.com/office/drawing/2014/main" id="{CFB7A1FB-8AA4-EF1F-7CB1-8A2AED87D9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73732" name="Slide Number Placeholder 3">
            <a:extLst>
              <a:ext uri="{FF2B5EF4-FFF2-40B4-BE49-F238E27FC236}">
                <a16:creationId xmlns:a16="http://schemas.microsoft.com/office/drawing/2014/main" id="{E193D3E5-EF4B-7914-B355-41492143374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F17CD09-73E1-D645-A197-D4059EB6E38E}" type="slidenum">
              <a:rPr lang="en-GB" altLang="en-US"/>
              <a:pPr>
                <a:spcBef>
                  <a:spcPct val="0"/>
                </a:spcBef>
              </a:pPr>
              <a:t>38</a:t>
            </a:fld>
            <a:endParaRPr lang="en-GB"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501E9142-34DB-05CA-43BD-7401054D080B}"/>
              </a:ext>
            </a:extLst>
          </p:cNvPr>
          <p:cNvSpPr>
            <a:spLocks noGrp="1" noRot="1" noChangeAspect="1" noTextEdit="1"/>
          </p:cNvSpPr>
          <p:nvPr>
            <p:ph type="sldImg"/>
          </p:nvPr>
        </p:nvSpPr>
        <p:spPr>
          <a:ln/>
        </p:spPr>
      </p:sp>
      <p:sp>
        <p:nvSpPr>
          <p:cNvPr id="75779" name="Notes Placeholder 2">
            <a:extLst>
              <a:ext uri="{FF2B5EF4-FFF2-40B4-BE49-F238E27FC236}">
                <a16:creationId xmlns:a16="http://schemas.microsoft.com/office/drawing/2014/main" id="{B81EEE1D-E208-D3C1-FDDF-87F8968E651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75780" name="Slide Number Placeholder 3">
            <a:extLst>
              <a:ext uri="{FF2B5EF4-FFF2-40B4-BE49-F238E27FC236}">
                <a16:creationId xmlns:a16="http://schemas.microsoft.com/office/drawing/2014/main" id="{0953210D-EA03-0146-7212-8AB614C225A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A9ACEE2-5AAF-3B42-A2D4-3ABE3203BA76}" type="slidenum">
              <a:rPr lang="en-GB" altLang="en-US"/>
              <a:pPr>
                <a:spcBef>
                  <a:spcPct val="0"/>
                </a:spcBef>
              </a:pPr>
              <a:t>39</a:t>
            </a:fld>
            <a:endParaRPr lang="en-GB"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4263DD30-2D07-F2EE-6667-EE9B5AB970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94FB833-EF97-6345-B068-39987BEAB70F}" type="slidenum">
              <a:rPr lang="en-GB" altLang="en-US"/>
              <a:pPr>
                <a:spcBef>
                  <a:spcPct val="0"/>
                </a:spcBef>
              </a:pPr>
              <a:t>42</a:t>
            </a:fld>
            <a:endParaRPr lang="en-GB" altLang="en-US"/>
          </a:p>
        </p:txBody>
      </p:sp>
      <p:sp>
        <p:nvSpPr>
          <p:cNvPr id="77827" name="Rectangle 2">
            <a:extLst>
              <a:ext uri="{FF2B5EF4-FFF2-40B4-BE49-F238E27FC236}">
                <a16:creationId xmlns:a16="http://schemas.microsoft.com/office/drawing/2014/main" id="{8729A970-17F9-1193-34EF-B8AFC195D795}"/>
              </a:ext>
            </a:extLst>
          </p:cNvPr>
          <p:cNvSpPr>
            <a:spLocks noGrp="1" noRot="1" noChangeAspect="1" noChangeArrowheads="1" noTextEdit="1"/>
          </p:cNvSpPr>
          <p:nvPr>
            <p:ph type="sldImg"/>
          </p:nvPr>
        </p:nvSpPr>
        <p:spPr>
          <a:ln/>
        </p:spPr>
      </p:sp>
      <p:sp>
        <p:nvSpPr>
          <p:cNvPr id="77828" name="Rectangle 3">
            <a:extLst>
              <a:ext uri="{FF2B5EF4-FFF2-40B4-BE49-F238E27FC236}">
                <a16:creationId xmlns:a16="http://schemas.microsoft.com/office/drawing/2014/main" id="{A7FE5922-AB15-9588-2583-50C42EF6A9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Topoisomerases are able to promote both DNA cleavage and rejoining without the assistance of other proteins or high energy cofactors (ATP) because they use a covalent-intermediate mechanism.</a:t>
            </a:r>
          </a:p>
          <a:p>
            <a:pPr eaLnBrk="1" hangingPunct="1"/>
            <a:r>
              <a:rPr lang="en-US" altLang="en-US" dirty="0">
                <a:latin typeface="Arial" panose="020B0604020202020204" pitchFamily="34" charset="0"/>
                <a:cs typeface="Arial" panose="020B0604020202020204" pitchFamily="34" charset="0"/>
              </a:rPr>
              <a:t>DNA cleavage occurs when a tyrosine residue in the active site of the topoisomerase attacks a phosphodiester bond in the backbone of the target DNA. This attack generates a break in the DNA, whereby the topoisomerase is covalently joined to one of the broken ends via a </a:t>
            </a:r>
            <a:r>
              <a:rPr lang="en-US" altLang="en-US" dirty="0" err="1">
                <a:latin typeface="Arial" panose="020B0604020202020204" pitchFamily="34" charset="0"/>
                <a:cs typeface="Arial" panose="020B0604020202020204" pitchFamily="34" charset="0"/>
              </a:rPr>
              <a:t>phosphotyrosine</a:t>
            </a:r>
            <a:r>
              <a:rPr lang="en-US" altLang="en-US" dirty="0">
                <a:latin typeface="Arial" panose="020B0604020202020204" pitchFamily="34" charset="0"/>
                <a:cs typeface="Arial" panose="020B0604020202020204" pitchFamily="34" charset="0"/>
              </a:rPr>
              <a:t> linkage. The other end of the DNA terminates with a free OH group</a:t>
            </a:r>
          </a:p>
          <a:p>
            <a:pPr eaLnBrk="1" hangingPunct="1"/>
            <a:r>
              <a:rPr lang="en-US" altLang="en-US" dirty="0">
                <a:latin typeface="Arial" panose="020B0604020202020204" pitchFamily="34" charset="0"/>
                <a:cs typeface="Arial" panose="020B0604020202020204" pitchFamily="34" charset="0"/>
              </a:rPr>
              <a:t>The phospho-tyrosine linkage conserves the energy of the phosphodiester bond that was cleaved. Therefore, the DNA can be resealed simply by reversing the original reaction: the OH group from one broken DNA end attacks the phospho-tyrosine bond re-forming the DNA phosphodiester bond. This reaction rejoins the DNA strand and releases the topoisomerase, which can go on to catalyze another reaction cycle.</a:t>
            </a:r>
          </a:p>
          <a:p>
            <a:pPr eaLnBrk="1" hangingPunct="1"/>
            <a:r>
              <a:rPr lang="en-US" altLang="en-US" dirty="0">
                <a:latin typeface="Arial" panose="020B0604020202020204" pitchFamily="34" charset="0"/>
                <a:cs typeface="Arial" panose="020B0604020202020204" pitchFamily="34" charset="0"/>
              </a:rPr>
              <a:t>Between the steps of DNA cleavage and DNA rejoining, the topoisomerase promotes passage of a second segment of DNA through the break.</a:t>
            </a:r>
          </a:p>
          <a:p>
            <a:pPr eaLnBrk="1" hangingPunct="1"/>
            <a:r>
              <a:rPr lang="en-US" altLang="en-US" dirty="0">
                <a:latin typeface="Arial" panose="020B0604020202020204" pitchFamily="34" charset="0"/>
                <a:cs typeface="Arial" panose="020B0604020202020204" pitchFamily="34" charset="0"/>
              </a:rPr>
              <a:t>Topoisomerase function thus requires that DNA cleavage, strand passage and DNA rejoining all occur in a highly coordinated manner.</a:t>
            </a:r>
          </a:p>
          <a:p>
            <a:pPr eaLnBrk="1" hangingPunct="1"/>
            <a:endParaRPr lang="en-US" altLang="en-US" dirty="0">
              <a:latin typeface="Arial" panose="020B0604020202020204" pitchFamily="34" charset="0"/>
              <a:cs typeface="Arial" panose="020B0604020202020204" pitchFamily="34" charset="0"/>
            </a:endParaRPr>
          </a:p>
          <a:p>
            <a:pPr eaLnBrk="1" hangingPunct="1"/>
            <a:r>
              <a:rPr lang="en-US" altLang="en-US" dirty="0">
                <a:latin typeface="Arial" panose="020B0604020202020204" pitchFamily="34" charset="0"/>
                <a:cs typeface="Arial" panose="020B0604020202020204" pitchFamily="34" charset="0"/>
              </a:rPr>
              <a:t>Melting of the DNA strands is favored in highly negatively supercoiled DNA, making the DNA an excellent substrate for relaxation</a:t>
            </a:r>
          </a:p>
          <a:p>
            <a:pPr eaLnBrk="1" hangingPunct="1"/>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28ACE9AB-6C45-7D6B-F9AB-700F306555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77DF40C-E716-BA45-9225-AC98FA783944}" type="slidenum">
              <a:rPr lang="en-GB" altLang="en-US"/>
              <a:pPr>
                <a:spcBef>
                  <a:spcPct val="0"/>
                </a:spcBef>
              </a:pPr>
              <a:t>43</a:t>
            </a:fld>
            <a:endParaRPr lang="en-GB" altLang="en-US"/>
          </a:p>
        </p:txBody>
      </p:sp>
      <p:sp>
        <p:nvSpPr>
          <p:cNvPr id="79875" name="Rectangle 2">
            <a:extLst>
              <a:ext uri="{FF2B5EF4-FFF2-40B4-BE49-F238E27FC236}">
                <a16:creationId xmlns:a16="http://schemas.microsoft.com/office/drawing/2014/main" id="{5E2B6F32-C6E5-FFFB-4C23-7C7CF2092E2C}"/>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C01CA2FE-6867-4CE9-5A50-9B665E88D7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A1A0F708-110A-8C4E-4BF6-21A6D70E9A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634E066-9741-5C4D-85AE-A70D34D22B7F}" type="slidenum">
              <a:rPr lang="en-GB" altLang="en-US"/>
              <a:pPr>
                <a:spcBef>
                  <a:spcPct val="0"/>
                </a:spcBef>
              </a:pPr>
              <a:t>44</a:t>
            </a:fld>
            <a:endParaRPr lang="en-GB" altLang="en-US"/>
          </a:p>
        </p:txBody>
      </p:sp>
      <p:sp>
        <p:nvSpPr>
          <p:cNvPr id="81923" name="Rectangle 2">
            <a:extLst>
              <a:ext uri="{FF2B5EF4-FFF2-40B4-BE49-F238E27FC236}">
                <a16:creationId xmlns:a16="http://schemas.microsoft.com/office/drawing/2014/main" id="{10D9C27E-E053-C8B8-096E-A80F5279563D}"/>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6E84EA36-364B-BCE1-F17F-6B63E6F92B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2B9906A8-BE89-48BA-4FD0-92C55E729B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D1F0F32-AA70-1A4C-8435-2086AE5C6733}" type="slidenum">
              <a:rPr lang="en-GB" altLang="en-US"/>
              <a:pPr>
                <a:spcBef>
                  <a:spcPct val="0"/>
                </a:spcBef>
              </a:pPr>
              <a:t>45</a:t>
            </a:fld>
            <a:endParaRPr lang="en-GB" altLang="en-US"/>
          </a:p>
        </p:txBody>
      </p:sp>
      <p:sp>
        <p:nvSpPr>
          <p:cNvPr id="83971" name="Rectangle 2">
            <a:extLst>
              <a:ext uri="{FF2B5EF4-FFF2-40B4-BE49-F238E27FC236}">
                <a16:creationId xmlns:a16="http://schemas.microsoft.com/office/drawing/2014/main" id="{0C708EDE-0C72-F8E6-4FBF-5B394688065B}"/>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99315898-BAC2-D153-8308-B70989F911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r>
              <a:rPr lang="en-US" sz="1800" dirty="0">
                <a:effectLst/>
                <a:latin typeface="Times New Roman" panose="02020603050405020304" pitchFamily="18" charset="0"/>
                <a:ea typeface="Times New Roman" panose="02020603050405020304" pitchFamily="18" charset="0"/>
              </a:rPr>
              <a:t>In electrophoresis, the movement of DNA is influenced by its conformation due to differences in size and compactness. Based on your image:</a:t>
            </a:r>
          </a:p>
          <a:p>
            <a:pPr marL="342900" marR="0" lvl="0" indent="-342900">
              <a:buSzPts val="1000"/>
              <a:buFont typeface="Symbol" pitchFamily="2" charset="2"/>
              <a:buChar char=""/>
              <a:tabLst>
                <a:tab pos="457200" algn="l"/>
              </a:tabLst>
            </a:pPr>
            <a:r>
              <a:rPr lang="en-US" sz="1800" b="1" dirty="0">
                <a:effectLst/>
                <a:latin typeface="Times New Roman" panose="02020603050405020304" pitchFamily="18" charset="0"/>
                <a:ea typeface="Times New Roman" panose="02020603050405020304" pitchFamily="18" charset="0"/>
              </a:rPr>
              <a:t>Lane A (Relaxed or Nicked Circular DNA)</a:t>
            </a:r>
            <a:r>
              <a:rPr lang="en-US" sz="1800" dirty="0">
                <a:effectLst/>
                <a:latin typeface="Times New Roman" panose="02020603050405020304" pitchFamily="18" charset="0"/>
                <a:ea typeface="Times New Roman" panose="02020603050405020304" pitchFamily="18" charset="0"/>
              </a:rPr>
              <a:t>: This DNA moves slower in the gel because it is less compact compared to supercoiled forms. The relaxed structure makes it larger and less efficient at moving through the pores of the gel.</a:t>
            </a:r>
          </a:p>
          <a:p>
            <a:pPr marL="342900" marR="0" lvl="0" indent="-342900">
              <a:buSzPts val="1000"/>
              <a:buFont typeface="Symbol" pitchFamily="2" charset="2"/>
              <a:buChar char=""/>
              <a:tabLst>
                <a:tab pos="457200" algn="l"/>
              </a:tabLst>
            </a:pPr>
            <a:r>
              <a:rPr lang="en-US" sz="1800" b="1" dirty="0">
                <a:effectLst/>
                <a:latin typeface="Times New Roman" panose="02020603050405020304" pitchFamily="18" charset="0"/>
                <a:ea typeface="Times New Roman" panose="02020603050405020304" pitchFamily="18" charset="0"/>
              </a:rPr>
              <a:t>Lane B (Linear DNA)</a:t>
            </a:r>
            <a:r>
              <a:rPr lang="en-US" sz="1800" dirty="0">
                <a:effectLst/>
                <a:latin typeface="Times New Roman" panose="02020603050405020304" pitchFamily="18" charset="0"/>
                <a:ea typeface="Times New Roman" panose="02020603050405020304" pitchFamily="18" charset="0"/>
              </a:rPr>
              <a:t>: Linear DNA migrates at a rate dependent on its size. It's less compact than supercoiled DNA but more than relaxed circular DNA, so it moves faster than nicked DNA but slower than highly supercoiled DNA.</a:t>
            </a:r>
          </a:p>
          <a:p>
            <a:pPr marL="342900" marR="0" lvl="0" indent="-342900">
              <a:buSzPts val="1000"/>
              <a:buFont typeface="Symbol" pitchFamily="2" charset="2"/>
              <a:buChar char=""/>
              <a:tabLst>
                <a:tab pos="457200" algn="l"/>
              </a:tabLst>
            </a:pPr>
            <a:r>
              <a:rPr lang="en-US" sz="1800" b="1" dirty="0">
                <a:effectLst/>
                <a:latin typeface="Times New Roman" panose="02020603050405020304" pitchFamily="18" charset="0"/>
                <a:ea typeface="Times New Roman" panose="02020603050405020304" pitchFamily="18" charset="0"/>
              </a:rPr>
              <a:t>Lane C (Highly Supercoiled </a:t>
            </a:r>
            <a:r>
              <a:rPr lang="en-US" sz="1800" b="1" dirty="0" err="1">
                <a:effectLst/>
                <a:latin typeface="Times New Roman" panose="02020603050405020304" pitchFamily="18" charset="0"/>
                <a:ea typeface="Times New Roman" panose="02020603050405020304" pitchFamily="18" charset="0"/>
              </a:rPr>
              <a:t>cccDNA</a:t>
            </a:r>
            <a:r>
              <a:rPr lang="en-US" sz="1800" b="1" dirty="0">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Supercoiled DNA is the most compact form. It moves fastest through the gel because its tightly wound structure allows it to navigate the pores more efficiently.</a:t>
            </a:r>
          </a:p>
          <a:p>
            <a:pPr marL="342900" marR="0" lvl="0" indent="-342900">
              <a:buSzPts val="1000"/>
              <a:buFont typeface="Symbol" pitchFamily="2" charset="2"/>
              <a:buChar char=""/>
              <a:tabLst>
                <a:tab pos="457200" algn="l"/>
              </a:tabLst>
            </a:pPr>
            <a:r>
              <a:rPr lang="en-US" sz="1800" b="1" dirty="0">
                <a:effectLst/>
                <a:latin typeface="Times New Roman" panose="02020603050405020304" pitchFamily="18" charset="0"/>
                <a:ea typeface="Times New Roman" panose="02020603050405020304" pitchFamily="18" charset="0"/>
              </a:rPr>
              <a:t>Lane D (Ladder of </a:t>
            </a:r>
            <a:r>
              <a:rPr lang="en-US" sz="1800" b="1" dirty="0" err="1">
                <a:effectLst/>
                <a:latin typeface="Times New Roman" panose="02020603050405020304" pitchFamily="18" charset="0"/>
                <a:ea typeface="Times New Roman" panose="02020603050405020304" pitchFamily="18" charset="0"/>
              </a:rPr>
              <a:t>Topoisomers</a:t>
            </a:r>
            <a:r>
              <a:rPr lang="en-US" sz="1800" b="1" dirty="0">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These are forms of DNA with varying levels of supercoiling. The different degrees of supercoiling result in a "ladder" of bands, with more highly supercoiled forms moving faster and less supercoiled forms moving slower.</a:t>
            </a:r>
          </a:p>
          <a:p>
            <a:pPr marL="0" marR="0"/>
            <a:r>
              <a:rPr lang="en-US" sz="1800" dirty="0">
                <a:effectLst/>
                <a:latin typeface="Times New Roman" panose="02020603050405020304" pitchFamily="18" charset="0"/>
                <a:ea typeface="Times New Roman" panose="02020603050405020304" pitchFamily="18" charset="0"/>
              </a:rPr>
              <a:t>In summary, the movement of DNA in your gel reflects the compactness of each form: supercoiled DNA (Lane C) moves the fastest, while relaxed or nicked DNA (Lane A) moves the slowest.</a:t>
            </a:r>
          </a:p>
          <a:p>
            <a:pPr eaLnBrk="1" hangingPunct="1"/>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a:extLst>
              <a:ext uri="{FF2B5EF4-FFF2-40B4-BE49-F238E27FC236}">
                <a16:creationId xmlns:a16="http://schemas.microsoft.com/office/drawing/2014/main" id="{AB3994E6-264A-6412-9EB9-22C8DDE6150D}"/>
              </a:ext>
            </a:extLst>
          </p:cNvPr>
          <p:cNvSpPr>
            <a:spLocks noGrp="1" noRot="1" noChangeAspect="1" noTextEdit="1"/>
          </p:cNvSpPr>
          <p:nvPr>
            <p:ph type="sldImg"/>
          </p:nvPr>
        </p:nvSpPr>
        <p:spPr>
          <a:ln/>
        </p:spPr>
      </p:sp>
      <p:sp>
        <p:nvSpPr>
          <p:cNvPr id="86019" name="Notes Placeholder 2">
            <a:extLst>
              <a:ext uri="{FF2B5EF4-FFF2-40B4-BE49-F238E27FC236}">
                <a16:creationId xmlns:a16="http://schemas.microsoft.com/office/drawing/2014/main" id="{7B37DEF6-0AA9-8F0D-70B4-52BD9DED645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Causes unwinding of the DNA by 26</a:t>
            </a:r>
            <a:r>
              <a:rPr lang="en-US" altLang="en-US" baseline="30000" dirty="0">
                <a:latin typeface="Arial" panose="020B0604020202020204" pitchFamily="34" charset="0"/>
                <a:cs typeface="Arial" panose="020B0604020202020204" pitchFamily="34" charset="0"/>
              </a:rPr>
              <a:t>o</a:t>
            </a:r>
            <a:r>
              <a:rPr lang="en-US" altLang="en-US" dirty="0">
                <a:latin typeface="Arial" panose="020B0604020202020204" pitchFamily="34" charset="0"/>
                <a:cs typeface="Arial" panose="020B0604020202020204" pitchFamily="34" charset="0"/>
              </a:rPr>
              <a:t> reducing the rotation around the bp from 36 to 10</a:t>
            </a:r>
            <a:r>
              <a:rPr lang="en-US" altLang="en-US" baseline="30000" dirty="0">
                <a:latin typeface="Arial" panose="020B0604020202020204" pitchFamily="34" charset="0"/>
                <a:cs typeface="Arial" panose="020B0604020202020204" pitchFamily="34" charset="0"/>
              </a:rPr>
              <a:t>o  </a:t>
            </a:r>
            <a:r>
              <a:rPr lang="en-US" altLang="en-US" dirty="0">
                <a:latin typeface="Arial" panose="020B0604020202020204" pitchFamily="34" charset="0"/>
                <a:cs typeface="Arial" panose="020B0604020202020204" pitchFamily="34" charset="0"/>
              </a:rPr>
              <a:t>thus </a:t>
            </a:r>
            <a:r>
              <a:rPr lang="en-US" altLang="en-US" dirty="0" err="1">
                <a:latin typeface="Arial" panose="020B0604020202020204" pitchFamily="34" charset="0"/>
                <a:cs typeface="Arial" panose="020B0604020202020204" pitchFamily="34" charset="0"/>
              </a:rPr>
              <a:t>decerase</a:t>
            </a:r>
            <a:r>
              <a:rPr lang="en-US" altLang="en-US" dirty="0">
                <a:latin typeface="Arial" panose="020B0604020202020204" pitchFamily="34" charset="0"/>
                <a:cs typeface="Arial" panose="020B0604020202020204" pitchFamily="34" charset="0"/>
              </a:rPr>
              <a:t> the twist of DNA</a:t>
            </a:r>
          </a:p>
          <a:p>
            <a:pPr eaLnBrk="1" hangingPunct="1"/>
            <a:r>
              <a:rPr lang="en-US" altLang="en-US" dirty="0">
                <a:latin typeface="Arial" panose="020B0604020202020204" pitchFamily="34" charset="0"/>
                <a:cs typeface="Arial" panose="020B0604020202020204" pitchFamily="34" charset="0"/>
              </a:rPr>
              <a:t>Negatively supercoiled are more relaxed and migrate slowly but relaxed </a:t>
            </a:r>
            <a:r>
              <a:rPr lang="en-US" altLang="en-US" dirty="0" err="1">
                <a:latin typeface="Arial" panose="020B0604020202020204" pitchFamily="34" charset="0"/>
                <a:cs typeface="Arial" panose="020B0604020202020204" pitchFamily="34" charset="0"/>
              </a:rPr>
              <a:t>cccDNA</a:t>
            </a:r>
            <a:r>
              <a:rPr lang="en-US" altLang="en-US" dirty="0">
                <a:latin typeface="Arial" panose="020B0604020202020204" pitchFamily="34" charset="0"/>
                <a:cs typeface="Arial" panose="020B0604020202020204" pitchFamily="34" charset="0"/>
              </a:rPr>
              <a:t> become positively </a:t>
            </a:r>
            <a:r>
              <a:rPr lang="en-US" altLang="en-US" dirty="0" err="1">
                <a:latin typeface="Arial" panose="020B0604020202020204" pitchFamily="34" charset="0"/>
                <a:cs typeface="Arial" panose="020B0604020202020204" pitchFamily="34" charset="0"/>
              </a:rPr>
              <a:t>supercoield</a:t>
            </a:r>
            <a:r>
              <a:rPr lang="en-US" altLang="en-US" dirty="0">
                <a:latin typeface="Arial" panose="020B0604020202020204" pitchFamily="34" charset="0"/>
                <a:cs typeface="Arial" panose="020B0604020202020204" pitchFamily="34" charset="0"/>
              </a:rPr>
              <a:t> and migrate more rapidly</a:t>
            </a:r>
          </a:p>
          <a:p>
            <a:pPr eaLnBrk="1" hangingPunct="1"/>
            <a:endParaRPr lang="en-US" altLang="en-US" dirty="0">
              <a:latin typeface="Arial" panose="020B0604020202020204" pitchFamily="34" charset="0"/>
              <a:cs typeface="Arial" panose="020B0604020202020204" pitchFamily="34" charset="0"/>
            </a:endParaRPr>
          </a:p>
        </p:txBody>
      </p:sp>
      <p:sp>
        <p:nvSpPr>
          <p:cNvPr id="86020" name="Slide Number Placeholder 3">
            <a:extLst>
              <a:ext uri="{FF2B5EF4-FFF2-40B4-BE49-F238E27FC236}">
                <a16:creationId xmlns:a16="http://schemas.microsoft.com/office/drawing/2014/main" id="{359011A2-E0FC-860F-DE1D-F936EB19A48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60B6D2E-0163-8E48-AEC1-8D3E5126B420}" type="slidenum">
              <a:rPr lang="en-GB" altLang="en-US"/>
              <a:pPr>
                <a:spcBef>
                  <a:spcPct val="0"/>
                </a:spcBef>
              </a:pPr>
              <a:t>47</a:t>
            </a:fld>
            <a:endParaRPr lang="en-GB"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C063C011-41E5-FB05-68C7-CEE3C7F339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7DB6A49-D82E-8A48-B4C2-7531CD0A5F6D}" type="slidenum">
              <a:rPr lang="en-GB" altLang="en-US"/>
              <a:pPr>
                <a:spcBef>
                  <a:spcPct val="0"/>
                </a:spcBef>
              </a:pPr>
              <a:t>49</a:t>
            </a:fld>
            <a:endParaRPr lang="en-GB" altLang="en-US"/>
          </a:p>
        </p:txBody>
      </p:sp>
      <p:sp>
        <p:nvSpPr>
          <p:cNvPr id="88067" name="Rectangle 2">
            <a:extLst>
              <a:ext uri="{FF2B5EF4-FFF2-40B4-BE49-F238E27FC236}">
                <a16:creationId xmlns:a16="http://schemas.microsoft.com/office/drawing/2014/main" id="{A14962C8-B936-74AC-BE63-F93BC7A3E403}"/>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50077568-A455-DE90-FBCB-6E22BA38FAC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73FB8DB4-0318-9CC4-66EF-A20BDA5115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B39F8B2-DE44-6A4B-8C73-488C9814C184}" type="slidenum">
              <a:rPr lang="en-GB" altLang="en-US"/>
              <a:pPr>
                <a:spcBef>
                  <a:spcPct val="0"/>
                </a:spcBef>
              </a:pPr>
              <a:t>50</a:t>
            </a:fld>
            <a:endParaRPr lang="en-GB" altLang="en-US"/>
          </a:p>
        </p:txBody>
      </p:sp>
      <p:sp>
        <p:nvSpPr>
          <p:cNvPr id="90115" name="Rectangle 2">
            <a:extLst>
              <a:ext uri="{FF2B5EF4-FFF2-40B4-BE49-F238E27FC236}">
                <a16:creationId xmlns:a16="http://schemas.microsoft.com/office/drawing/2014/main" id="{728CC9DF-9D1D-1A29-530E-035BB338BE78}"/>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1DCA0FC7-0C90-F386-88D7-71D38A75D8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82E2329B-70E7-C2DE-37CF-8DB66FEEC3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A7C68CD-4992-5142-A5B5-4DFF620EC82B}" type="slidenum">
              <a:rPr lang="en-GB" altLang="en-US"/>
              <a:pPr>
                <a:spcBef>
                  <a:spcPct val="0"/>
                </a:spcBef>
              </a:pPr>
              <a:t>51</a:t>
            </a:fld>
            <a:endParaRPr lang="en-GB" altLang="en-US"/>
          </a:p>
        </p:txBody>
      </p:sp>
      <p:sp>
        <p:nvSpPr>
          <p:cNvPr id="92163" name="Rectangle 2">
            <a:extLst>
              <a:ext uri="{FF2B5EF4-FFF2-40B4-BE49-F238E27FC236}">
                <a16:creationId xmlns:a16="http://schemas.microsoft.com/office/drawing/2014/main" id="{797A50D5-D8CA-5AF0-3028-27055899743A}"/>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FE622AA5-A7B8-772C-E860-083D03B11F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19367459-77DD-3547-98CA-C4AED0AF6C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463B201-0F3A-D344-97C5-8CEF9B388CBC}" type="slidenum">
              <a:rPr lang="en-GB" altLang="en-US"/>
              <a:pPr>
                <a:spcBef>
                  <a:spcPct val="0"/>
                </a:spcBef>
              </a:pPr>
              <a:t>52</a:t>
            </a:fld>
            <a:endParaRPr lang="en-GB" altLang="en-US"/>
          </a:p>
        </p:txBody>
      </p:sp>
      <p:sp>
        <p:nvSpPr>
          <p:cNvPr id="94211" name="Rectangle 2">
            <a:extLst>
              <a:ext uri="{FF2B5EF4-FFF2-40B4-BE49-F238E27FC236}">
                <a16:creationId xmlns:a16="http://schemas.microsoft.com/office/drawing/2014/main" id="{2FF9DBDA-4E9F-A6E1-8736-43C2F7C97964}"/>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5FB6183B-F8CD-766D-77AF-808543B4DC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D4531512-79E0-E888-B758-61456B9007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9E67B2B-56E0-E44D-BAEB-6487C5AA5FA3}" type="slidenum">
              <a:rPr lang="en-GB" altLang="en-US"/>
              <a:pPr>
                <a:spcBef>
                  <a:spcPct val="0"/>
                </a:spcBef>
              </a:pPr>
              <a:t>55</a:t>
            </a:fld>
            <a:endParaRPr lang="en-GB" altLang="en-US"/>
          </a:p>
        </p:txBody>
      </p:sp>
      <p:sp>
        <p:nvSpPr>
          <p:cNvPr id="96259" name="Rectangle 2">
            <a:extLst>
              <a:ext uri="{FF2B5EF4-FFF2-40B4-BE49-F238E27FC236}">
                <a16:creationId xmlns:a16="http://schemas.microsoft.com/office/drawing/2014/main" id="{D31860C6-7AC4-C875-BA55-820DCABF4874}"/>
              </a:ext>
            </a:extLst>
          </p:cNvPr>
          <p:cNvSpPr>
            <a:spLocks noGrp="1" noRot="1" noChangeAspect="1" noChangeArrowheads="1" noTextEdit="1"/>
          </p:cNvSpPr>
          <p:nvPr>
            <p:ph type="sldImg"/>
          </p:nvPr>
        </p:nvSpPr>
        <p:spPr>
          <a:ln/>
        </p:spPr>
      </p:sp>
      <p:sp>
        <p:nvSpPr>
          <p:cNvPr id="96260" name="Rectangle 3">
            <a:extLst>
              <a:ext uri="{FF2B5EF4-FFF2-40B4-BE49-F238E27FC236}">
                <a16:creationId xmlns:a16="http://schemas.microsoft.com/office/drawing/2014/main" id="{96658A5D-EFA0-1EE2-455C-AA1C2C13C1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58DBCD2C-153D-B48F-3BF8-3764AC285A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5A05441-2436-5245-BF2D-EFA0364DF65F}" type="slidenum">
              <a:rPr lang="en-GB" altLang="en-US"/>
              <a:pPr>
                <a:spcBef>
                  <a:spcPct val="0"/>
                </a:spcBef>
              </a:pPr>
              <a:t>56</a:t>
            </a:fld>
            <a:endParaRPr lang="en-GB" altLang="en-US"/>
          </a:p>
        </p:txBody>
      </p:sp>
      <p:sp>
        <p:nvSpPr>
          <p:cNvPr id="98307" name="Rectangle 2">
            <a:extLst>
              <a:ext uri="{FF2B5EF4-FFF2-40B4-BE49-F238E27FC236}">
                <a16:creationId xmlns:a16="http://schemas.microsoft.com/office/drawing/2014/main" id="{70C840E8-8873-7A49-A50A-B3B6E9F67EF1}"/>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A05A2FA2-F61C-8741-95FD-6A7C9FC287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cs typeface="Arial" panose="020B0604020202020204" pitchFamily="34" charset="0"/>
            </a:endParaRPr>
          </a:p>
          <a:p>
            <a:pPr eaLnBrk="1" hangingPunct="1"/>
            <a:endParaRPr lang="en-US" altLang="en-US" dirty="0">
              <a:latin typeface="Arial" panose="020B0604020202020204" pitchFamily="34" charset="0"/>
              <a:cs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516BCD9E-44C8-C47C-0452-057E8D86C6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78404D3-7C01-214F-BEC7-0F51E600C18F}" type="slidenum">
              <a:rPr lang="en-GB" altLang="en-US"/>
              <a:pPr>
                <a:spcBef>
                  <a:spcPct val="0"/>
                </a:spcBef>
              </a:pPr>
              <a:t>58</a:t>
            </a:fld>
            <a:endParaRPr lang="en-GB" altLang="en-US"/>
          </a:p>
        </p:txBody>
      </p:sp>
      <p:sp>
        <p:nvSpPr>
          <p:cNvPr id="100355" name="Rectangle 2">
            <a:extLst>
              <a:ext uri="{FF2B5EF4-FFF2-40B4-BE49-F238E27FC236}">
                <a16:creationId xmlns:a16="http://schemas.microsoft.com/office/drawing/2014/main" id="{1518B4B0-F50E-0B26-10E0-2DFDE8B181D1}"/>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EC2253F6-E2D4-5473-082C-9E9015583B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cs typeface="Arial" panose="020B0604020202020204" pitchFamily="34" charset="0"/>
              </a:rPr>
              <a:t>Proteins can assist in the formation of 3o structure  by large RNA molecules such the ones in ribosomes. Proteins shield the negative charges of phosphates</a:t>
            </a:r>
          </a:p>
          <a:p>
            <a:pPr eaLnBrk="1" hangingPunct="1"/>
            <a:r>
              <a:rPr lang="en-US" altLang="en-US" dirty="0">
                <a:latin typeface="Arial" panose="020B0604020202020204" pitchFamily="34" charset="0"/>
                <a:cs typeface="Arial" panose="020B0604020202020204" pitchFamily="34" charset="0"/>
              </a:rPr>
              <a:t>Synthetic oligoribonucleotides that can be used as affinity to small molecules </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1794D6E3-27EE-D69D-2802-72B5C8F784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2590E86-B622-4944-A459-8E36DA7BEDE5}" type="slidenum">
              <a:rPr lang="en-GB" altLang="en-US"/>
              <a:pPr>
                <a:spcBef>
                  <a:spcPct val="0"/>
                </a:spcBef>
              </a:pPr>
              <a:t>59</a:t>
            </a:fld>
            <a:endParaRPr lang="en-GB" altLang="en-US"/>
          </a:p>
        </p:txBody>
      </p:sp>
      <p:sp>
        <p:nvSpPr>
          <p:cNvPr id="102403" name="Rectangle 2">
            <a:extLst>
              <a:ext uri="{FF2B5EF4-FFF2-40B4-BE49-F238E27FC236}">
                <a16:creationId xmlns:a16="http://schemas.microsoft.com/office/drawing/2014/main" id="{88C11491-E6F6-B01E-FE65-BFA66980E5FF}"/>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4E469E68-FB62-109F-9597-362B507059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48076B4A-B232-3B3C-9CFC-44B67DB930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EA3E59C-B238-EF47-970A-81EBB31A0DCE}" type="slidenum">
              <a:rPr lang="en-GB" altLang="en-US"/>
              <a:pPr>
                <a:spcBef>
                  <a:spcPct val="0"/>
                </a:spcBef>
              </a:pPr>
              <a:t>60</a:t>
            </a:fld>
            <a:endParaRPr lang="en-GB" altLang="en-US"/>
          </a:p>
        </p:txBody>
      </p:sp>
      <p:sp>
        <p:nvSpPr>
          <p:cNvPr id="104451" name="Rectangle 2">
            <a:extLst>
              <a:ext uri="{FF2B5EF4-FFF2-40B4-BE49-F238E27FC236}">
                <a16:creationId xmlns:a16="http://schemas.microsoft.com/office/drawing/2014/main" id="{9E3293AD-1729-EC39-5D23-1182D1EE4595}"/>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C947FF5C-04FF-1CEB-AF07-B3CEA9F5B8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1CAC6EC4-A2E6-AA4B-F89C-C9AA58447F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46AF134-FFC1-8841-88E8-65391D3C479D}" type="slidenum">
              <a:rPr lang="en-GB" altLang="en-US"/>
              <a:pPr>
                <a:spcBef>
                  <a:spcPct val="0"/>
                </a:spcBef>
              </a:pPr>
              <a:t>61</a:t>
            </a:fld>
            <a:endParaRPr lang="en-GB" altLang="en-US"/>
          </a:p>
        </p:txBody>
      </p:sp>
      <p:sp>
        <p:nvSpPr>
          <p:cNvPr id="106499" name="Rectangle 2">
            <a:extLst>
              <a:ext uri="{FF2B5EF4-FFF2-40B4-BE49-F238E27FC236}">
                <a16:creationId xmlns:a16="http://schemas.microsoft.com/office/drawing/2014/main" id="{89B5FC48-F284-76AA-CB2E-593478FAC3DF}"/>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33B923FB-0EE6-43C7-401D-4D652B933D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a:extLst>
              <a:ext uri="{FF2B5EF4-FFF2-40B4-BE49-F238E27FC236}">
                <a16:creationId xmlns:a16="http://schemas.microsoft.com/office/drawing/2014/main" id="{C7502BC6-8C7C-60BF-1387-C62AE049A7A9}"/>
              </a:ext>
            </a:extLst>
          </p:cNvPr>
          <p:cNvSpPr>
            <a:spLocks noGrp="1" noRot="1" noChangeAspect="1" noTextEdit="1"/>
          </p:cNvSpPr>
          <p:nvPr>
            <p:ph type="sldImg"/>
          </p:nvPr>
        </p:nvSpPr>
        <p:spPr>
          <a:ln/>
        </p:spPr>
      </p:sp>
      <p:sp>
        <p:nvSpPr>
          <p:cNvPr id="108547" name="Notes Placeholder 2">
            <a:extLst>
              <a:ext uri="{FF2B5EF4-FFF2-40B4-BE49-F238E27FC236}">
                <a16:creationId xmlns:a16="http://schemas.microsoft.com/office/drawing/2014/main" id="{21D32BD8-0C22-CF24-BF8B-582CBCDE504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08548" name="Slide Number Placeholder 3">
            <a:extLst>
              <a:ext uri="{FF2B5EF4-FFF2-40B4-BE49-F238E27FC236}">
                <a16:creationId xmlns:a16="http://schemas.microsoft.com/office/drawing/2014/main" id="{F1A319E2-47B7-398D-0E68-2B8B958512B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EFAE4D9-862C-A046-9EF2-3A80A3C201DE}" type="slidenum">
              <a:rPr lang="en-GB" altLang="en-US"/>
              <a:pPr>
                <a:spcBef>
                  <a:spcPct val="0"/>
                </a:spcBef>
              </a:pPr>
              <a:t>62</a:t>
            </a:fld>
            <a:endParaRPr lang="en-GB"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a:extLst>
              <a:ext uri="{FF2B5EF4-FFF2-40B4-BE49-F238E27FC236}">
                <a16:creationId xmlns:a16="http://schemas.microsoft.com/office/drawing/2014/main" id="{FD51305D-0169-FD91-5943-E448C7EF0FCC}"/>
              </a:ext>
            </a:extLst>
          </p:cNvPr>
          <p:cNvSpPr>
            <a:spLocks noGrp="1" noRot="1" noChangeAspect="1" noTextEdit="1"/>
          </p:cNvSpPr>
          <p:nvPr>
            <p:ph type="sldImg"/>
          </p:nvPr>
        </p:nvSpPr>
        <p:spPr>
          <a:ln/>
        </p:spPr>
      </p:sp>
      <p:sp>
        <p:nvSpPr>
          <p:cNvPr id="111619" name="Notes Placeholder 2">
            <a:extLst>
              <a:ext uri="{FF2B5EF4-FFF2-40B4-BE49-F238E27FC236}">
                <a16:creationId xmlns:a16="http://schemas.microsoft.com/office/drawing/2014/main" id="{3D0CCD77-63E6-7435-2D58-1289DEA7967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11620" name="Slide Number Placeholder 3">
            <a:extLst>
              <a:ext uri="{FF2B5EF4-FFF2-40B4-BE49-F238E27FC236}">
                <a16:creationId xmlns:a16="http://schemas.microsoft.com/office/drawing/2014/main" id="{781DC435-2DC7-2DD0-7628-40B0CADD8B0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2E986F6-D046-C448-83DF-15A344BE9AD2}" type="slidenum">
              <a:rPr lang="en-GB" altLang="en-US"/>
              <a:pPr>
                <a:spcBef>
                  <a:spcPct val="0"/>
                </a:spcBef>
              </a:pPr>
              <a:t>64</a:t>
            </a:fld>
            <a:endParaRPr lang="en-GB"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a:extLst>
              <a:ext uri="{FF2B5EF4-FFF2-40B4-BE49-F238E27FC236}">
                <a16:creationId xmlns:a16="http://schemas.microsoft.com/office/drawing/2014/main" id="{5A023C5D-C4A0-0D01-CB14-8766E23DCC12}"/>
              </a:ext>
            </a:extLst>
          </p:cNvPr>
          <p:cNvSpPr>
            <a:spLocks noGrp="1" noRot="1" noChangeAspect="1" noTextEdit="1"/>
          </p:cNvSpPr>
          <p:nvPr>
            <p:ph type="sldImg"/>
          </p:nvPr>
        </p:nvSpPr>
        <p:spPr>
          <a:ln/>
        </p:spPr>
      </p:sp>
      <p:sp>
        <p:nvSpPr>
          <p:cNvPr id="113667" name="Notes Placeholder 2">
            <a:extLst>
              <a:ext uri="{FF2B5EF4-FFF2-40B4-BE49-F238E27FC236}">
                <a16:creationId xmlns:a16="http://schemas.microsoft.com/office/drawing/2014/main" id="{414ECF28-6CB4-9F21-90B1-E1808C1A94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13668" name="Slide Number Placeholder 3">
            <a:extLst>
              <a:ext uri="{FF2B5EF4-FFF2-40B4-BE49-F238E27FC236}">
                <a16:creationId xmlns:a16="http://schemas.microsoft.com/office/drawing/2014/main" id="{C3B313C2-610A-6254-13AD-FC59268BEB3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D12C1BB-DF77-FA4E-8E05-FF306C6535E1}" type="slidenum">
              <a:rPr lang="en-GB" altLang="en-US"/>
              <a:pPr>
                <a:spcBef>
                  <a:spcPct val="0"/>
                </a:spcBef>
              </a:pPr>
              <a:t>65</a:t>
            </a:fld>
            <a:endParaRPr lang="en-GB"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16004829-B4FF-B636-37CA-39FFE9646ACD}"/>
              </a:ext>
            </a:extLst>
          </p:cNvPr>
          <p:cNvSpPr>
            <a:spLocks noGrp="1" noRot="1" noChangeAspect="1" noChangeArrowheads="1" noTextEdit="1"/>
          </p:cNvSpPr>
          <p:nvPr>
            <p:ph type="sldImg"/>
          </p:nvPr>
        </p:nvSpPr>
        <p:spPr>
          <a:ln/>
        </p:spPr>
      </p:sp>
      <p:sp>
        <p:nvSpPr>
          <p:cNvPr id="115715" name="Rectangle 3">
            <a:extLst>
              <a:ext uri="{FF2B5EF4-FFF2-40B4-BE49-F238E27FC236}">
                <a16:creationId xmlns:a16="http://schemas.microsoft.com/office/drawing/2014/main" id="{BC891739-0734-0880-5385-B72E517142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cs typeface="Arial" panose="020B0604020202020204" pitchFamily="34" charset="0"/>
              </a:rPr>
              <a:t>scissile</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a:extLst>
              <a:ext uri="{FF2B5EF4-FFF2-40B4-BE49-F238E27FC236}">
                <a16:creationId xmlns:a16="http://schemas.microsoft.com/office/drawing/2014/main" id="{413C66CB-DEF8-2710-45BF-69B09EC10C0E}"/>
              </a:ext>
            </a:extLst>
          </p:cNvPr>
          <p:cNvSpPr>
            <a:spLocks noGrp="1" noRot="1" noChangeAspect="1" noTextEdit="1"/>
          </p:cNvSpPr>
          <p:nvPr>
            <p:ph type="sldImg"/>
          </p:nvPr>
        </p:nvSpPr>
        <p:spPr>
          <a:ln/>
        </p:spPr>
      </p:sp>
      <p:sp>
        <p:nvSpPr>
          <p:cNvPr id="117763" name="Notes Placeholder 2">
            <a:extLst>
              <a:ext uri="{FF2B5EF4-FFF2-40B4-BE49-F238E27FC236}">
                <a16:creationId xmlns:a16="http://schemas.microsoft.com/office/drawing/2014/main" id="{91ED40A7-5A2E-9A1A-E5FC-C37184D982A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17764" name="Slide Number Placeholder 3">
            <a:extLst>
              <a:ext uri="{FF2B5EF4-FFF2-40B4-BE49-F238E27FC236}">
                <a16:creationId xmlns:a16="http://schemas.microsoft.com/office/drawing/2014/main" id="{447E629E-8929-5DC9-CB62-B02994D553E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C687A19-A1C3-BE47-ADDC-0828A9751EE4}" type="slidenum">
              <a:rPr lang="en-GB" altLang="en-US"/>
              <a:pPr>
                <a:spcBef>
                  <a:spcPct val="0"/>
                </a:spcBef>
              </a:pPr>
              <a:t>67</a:t>
            </a:fld>
            <a:endParaRPr lang="en-GB"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a:extLst>
              <a:ext uri="{FF2B5EF4-FFF2-40B4-BE49-F238E27FC236}">
                <a16:creationId xmlns:a16="http://schemas.microsoft.com/office/drawing/2014/main" id="{497DF23F-4851-C269-D725-8F210B9CA4F4}"/>
              </a:ext>
            </a:extLst>
          </p:cNvPr>
          <p:cNvSpPr>
            <a:spLocks noGrp="1" noRot="1" noChangeAspect="1" noTextEdit="1"/>
          </p:cNvSpPr>
          <p:nvPr>
            <p:ph type="sldImg"/>
          </p:nvPr>
        </p:nvSpPr>
        <p:spPr>
          <a:ln/>
        </p:spPr>
      </p:sp>
      <p:sp>
        <p:nvSpPr>
          <p:cNvPr id="119811" name="Notes Placeholder 2">
            <a:extLst>
              <a:ext uri="{FF2B5EF4-FFF2-40B4-BE49-F238E27FC236}">
                <a16:creationId xmlns:a16="http://schemas.microsoft.com/office/drawing/2014/main" id="{3758D696-0A2C-E6DC-A183-6F81E5FD3EC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19812" name="Slide Number Placeholder 3">
            <a:extLst>
              <a:ext uri="{FF2B5EF4-FFF2-40B4-BE49-F238E27FC236}">
                <a16:creationId xmlns:a16="http://schemas.microsoft.com/office/drawing/2014/main" id="{6A19E9F5-750C-24BE-2FA0-1765C4B47D8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D9AF75B-0C35-8047-A43D-D92002D5E928}" type="slidenum">
              <a:rPr lang="en-GB" altLang="en-US"/>
              <a:pPr>
                <a:spcBef>
                  <a:spcPct val="0"/>
                </a:spcBef>
              </a:pPr>
              <a:t>68</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2">
            <a:extLst>
              <a:ext uri="{FF2B5EF4-FFF2-40B4-BE49-F238E27FC236}">
                <a16:creationId xmlns:a16="http://schemas.microsoft.com/office/drawing/2014/main" id="{560556B4-503A-73D4-B6CC-65E51DC11B30}"/>
              </a:ext>
            </a:extLst>
          </p:cNvPr>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3" name="Group 8">
            <a:extLst>
              <a:ext uri="{FF2B5EF4-FFF2-40B4-BE49-F238E27FC236}">
                <a16:creationId xmlns:a16="http://schemas.microsoft.com/office/drawing/2014/main" id="{12A739DE-A396-5AC8-80B2-4B1D1881AD73}"/>
              </a:ext>
            </a:extLst>
          </p:cNvPr>
          <p:cNvGrpSpPr>
            <a:grpSpLocks/>
          </p:cNvGrpSpPr>
          <p:nvPr/>
        </p:nvGrpSpPr>
        <p:grpSpPr bwMode="auto">
          <a:xfrm>
            <a:off x="7493000" y="2992438"/>
            <a:ext cx="1338263" cy="2189162"/>
            <a:chOff x="4704" y="1885"/>
            <a:chExt cx="843" cy="1379"/>
          </a:xfrm>
        </p:grpSpPr>
        <p:sp>
          <p:nvSpPr>
            <p:cNvPr id="4" name="Oval 9">
              <a:extLst>
                <a:ext uri="{FF2B5EF4-FFF2-40B4-BE49-F238E27FC236}">
                  <a16:creationId xmlns:a16="http://schemas.microsoft.com/office/drawing/2014/main" id="{74D42C1E-4A5B-EA7B-5E75-3CB0E3DE6CDB}"/>
                </a:ext>
              </a:extLst>
            </p:cNvPr>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5" name="Oval 10">
              <a:extLst>
                <a:ext uri="{FF2B5EF4-FFF2-40B4-BE49-F238E27FC236}">
                  <a16:creationId xmlns:a16="http://schemas.microsoft.com/office/drawing/2014/main" id="{E1F5F7F5-F136-B651-7D88-B6FF9856DBC6}"/>
                </a:ext>
              </a:extLst>
            </p:cNvPr>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6" name="Oval 11">
              <a:extLst>
                <a:ext uri="{FF2B5EF4-FFF2-40B4-BE49-F238E27FC236}">
                  <a16:creationId xmlns:a16="http://schemas.microsoft.com/office/drawing/2014/main" id="{279F8685-AD4A-2329-3883-120C4164782C}"/>
                </a:ext>
              </a:extLst>
            </p:cNvPr>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7" name="Oval 12">
              <a:extLst>
                <a:ext uri="{FF2B5EF4-FFF2-40B4-BE49-F238E27FC236}">
                  <a16:creationId xmlns:a16="http://schemas.microsoft.com/office/drawing/2014/main" id="{58CF9504-2522-075B-C68B-934E53FFCD6F}"/>
                </a:ext>
              </a:extLst>
            </p:cNvPr>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8" name="Oval 13">
              <a:extLst>
                <a:ext uri="{FF2B5EF4-FFF2-40B4-BE49-F238E27FC236}">
                  <a16:creationId xmlns:a16="http://schemas.microsoft.com/office/drawing/2014/main" id="{F9CF6E38-961A-7648-82A2-B144303BCFFC}"/>
                </a:ext>
              </a:extLst>
            </p:cNvPr>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9" name="Oval 14">
              <a:extLst>
                <a:ext uri="{FF2B5EF4-FFF2-40B4-BE49-F238E27FC236}">
                  <a16:creationId xmlns:a16="http://schemas.microsoft.com/office/drawing/2014/main" id="{DEA91F4D-5EB0-3C1F-5F30-C011C0B2674A}"/>
                </a:ext>
              </a:extLst>
            </p:cNvPr>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 name="Oval 15">
              <a:extLst>
                <a:ext uri="{FF2B5EF4-FFF2-40B4-BE49-F238E27FC236}">
                  <a16:creationId xmlns:a16="http://schemas.microsoft.com/office/drawing/2014/main" id="{EEE9F51F-A04D-88CF-FC1A-EA9DFA3CF70D}"/>
                </a:ext>
              </a:extLst>
            </p:cNvPr>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1" name="Oval 16">
              <a:extLst>
                <a:ext uri="{FF2B5EF4-FFF2-40B4-BE49-F238E27FC236}">
                  <a16:creationId xmlns:a16="http://schemas.microsoft.com/office/drawing/2014/main" id="{787F0586-2F16-0F24-3EE1-DE71FFB042F4}"/>
                </a:ext>
              </a:extLst>
            </p:cNvPr>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2" name="Oval 17">
              <a:extLst>
                <a:ext uri="{FF2B5EF4-FFF2-40B4-BE49-F238E27FC236}">
                  <a16:creationId xmlns:a16="http://schemas.microsoft.com/office/drawing/2014/main" id="{9056D536-E7CA-E319-BDF6-AF1A4E0CBDD8}"/>
                </a:ext>
              </a:extLst>
            </p:cNvPr>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3" name="Oval 18">
              <a:extLst>
                <a:ext uri="{FF2B5EF4-FFF2-40B4-BE49-F238E27FC236}">
                  <a16:creationId xmlns:a16="http://schemas.microsoft.com/office/drawing/2014/main" id="{535D1E92-ACC3-4FC9-8FE3-90A40E28E271}"/>
                </a:ext>
              </a:extLst>
            </p:cNvPr>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4" name="Oval 19">
              <a:extLst>
                <a:ext uri="{FF2B5EF4-FFF2-40B4-BE49-F238E27FC236}">
                  <a16:creationId xmlns:a16="http://schemas.microsoft.com/office/drawing/2014/main" id="{A74EDB2E-554F-1B42-B210-4FFF18AB6D81}"/>
                </a:ext>
              </a:extLst>
            </p:cNvPr>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5" name="Oval 20">
              <a:extLst>
                <a:ext uri="{FF2B5EF4-FFF2-40B4-BE49-F238E27FC236}">
                  <a16:creationId xmlns:a16="http://schemas.microsoft.com/office/drawing/2014/main" id="{F7406AC3-3889-A94F-A7FF-63E71F9ACFCF}"/>
                </a:ext>
              </a:extLst>
            </p:cNvPr>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6" name="Oval 21">
              <a:extLst>
                <a:ext uri="{FF2B5EF4-FFF2-40B4-BE49-F238E27FC236}">
                  <a16:creationId xmlns:a16="http://schemas.microsoft.com/office/drawing/2014/main" id="{7EEAC403-91F4-4F81-ADC4-B70BC95D3E52}"/>
                </a:ext>
              </a:extLst>
            </p:cNvPr>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7" name="Oval 22">
              <a:extLst>
                <a:ext uri="{FF2B5EF4-FFF2-40B4-BE49-F238E27FC236}">
                  <a16:creationId xmlns:a16="http://schemas.microsoft.com/office/drawing/2014/main" id="{8CDDF24C-9FD0-6124-53FB-248D69E6CFB0}"/>
                </a:ext>
              </a:extLst>
            </p:cNvPr>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8" name="Oval 23">
              <a:extLst>
                <a:ext uri="{FF2B5EF4-FFF2-40B4-BE49-F238E27FC236}">
                  <a16:creationId xmlns:a16="http://schemas.microsoft.com/office/drawing/2014/main" id="{F6CC7ABE-4F2C-6331-FA4A-DE43355AD491}"/>
                </a:ext>
              </a:extLst>
            </p:cNvPr>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9" name="Oval 24">
              <a:extLst>
                <a:ext uri="{FF2B5EF4-FFF2-40B4-BE49-F238E27FC236}">
                  <a16:creationId xmlns:a16="http://schemas.microsoft.com/office/drawing/2014/main" id="{58F50E0A-95E5-3BC7-2BBB-040107E9EE6F}"/>
                </a:ext>
              </a:extLst>
            </p:cNvPr>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0" name="Oval 25">
              <a:extLst>
                <a:ext uri="{FF2B5EF4-FFF2-40B4-BE49-F238E27FC236}">
                  <a16:creationId xmlns:a16="http://schemas.microsoft.com/office/drawing/2014/main" id="{8FD77004-3270-B0FC-1C05-AE78DFE89FD0}"/>
                </a:ext>
              </a:extLst>
            </p:cNvPr>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1" name="Oval 26">
              <a:extLst>
                <a:ext uri="{FF2B5EF4-FFF2-40B4-BE49-F238E27FC236}">
                  <a16:creationId xmlns:a16="http://schemas.microsoft.com/office/drawing/2014/main" id="{6DC83430-102E-10FF-C517-2E66757B7A25}"/>
                </a:ext>
              </a:extLst>
            </p:cNvPr>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2" name="Oval 27">
              <a:extLst>
                <a:ext uri="{FF2B5EF4-FFF2-40B4-BE49-F238E27FC236}">
                  <a16:creationId xmlns:a16="http://schemas.microsoft.com/office/drawing/2014/main" id="{53003F77-F8D7-07E1-C2DB-865CF2B7377A}"/>
                </a:ext>
              </a:extLst>
            </p:cNvPr>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3" name="Oval 28">
              <a:extLst>
                <a:ext uri="{FF2B5EF4-FFF2-40B4-BE49-F238E27FC236}">
                  <a16:creationId xmlns:a16="http://schemas.microsoft.com/office/drawing/2014/main" id="{6E4FFF54-2A5F-5881-8DDA-80FD7B2E5BD7}"/>
                </a:ext>
              </a:extLst>
            </p:cNvPr>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4" name="Oval 29">
              <a:extLst>
                <a:ext uri="{FF2B5EF4-FFF2-40B4-BE49-F238E27FC236}">
                  <a16:creationId xmlns:a16="http://schemas.microsoft.com/office/drawing/2014/main" id="{D384EF96-E95A-5B8A-04D8-E1AB0A5EFC0C}"/>
                </a:ext>
              </a:extLst>
            </p:cNvPr>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5" name="Oval 30">
              <a:extLst>
                <a:ext uri="{FF2B5EF4-FFF2-40B4-BE49-F238E27FC236}">
                  <a16:creationId xmlns:a16="http://schemas.microsoft.com/office/drawing/2014/main" id="{CD001E0E-7C7E-C0A9-09BC-AC9C1FCF8E15}"/>
                </a:ext>
              </a:extLst>
            </p:cNvPr>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6" name="Oval 31">
              <a:extLst>
                <a:ext uri="{FF2B5EF4-FFF2-40B4-BE49-F238E27FC236}">
                  <a16:creationId xmlns:a16="http://schemas.microsoft.com/office/drawing/2014/main" id="{FDEC0C6B-045F-5D94-5125-E8CF68269E39}"/>
                </a:ext>
              </a:extLst>
            </p:cNvPr>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7" name="Oval 32">
              <a:extLst>
                <a:ext uri="{FF2B5EF4-FFF2-40B4-BE49-F238E27FC236}">
                  <a16:creationId xmlns:a16="http://schemas.microsoft.com/office/drawing/2014/main" id="{F8B09FFC-3FAB-5068-D565-FCD074AE3DE9}"/>
                </a:ext>
              </a:extLst>
            </p:cNvPr>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8" name="Oval 33">
              <a:extLst>
                <a:ext uri="{FF2B5EF4-FFF2-40B4-BE49-F238E27FC236}">
                  <a16:creationId xmlns:a16="http://schemas.microsoft.com/office/drawing/2014/main" id="{513D02F0-8CDD-0A78-7718-47AAFC876BC9}"/>
                </a:ext>
              </a:extLst>
            </p:cNvPr>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29" name="Oval 34">
              <a:extLst>
                <a:ext uri="{FF2B5EF4-FFF2-40B4-BE49-F238E27FC236}">
                  <a16:creationId xmlns:a16="http://schemas.microsoft.com/office/drawing/2014/main" id="{01C36E5E-7C3F-38AC-14D0-A9A3D86AAA93}"/>
                </a:ext>
              </a:extLst>
            </p:cNvPr>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30" name="Oval 35">
              <a:extLst>
                <a:ext uri="{FF2B5EF4-FFF2-40B4-BE49-F238E27FC236}">
                  <a16:creationId xmlns:a16="http://schemas.microsoft.com/office/drawing/2014/main" id="{B0B1DEB4-E5DB-8FF0-0570-8EC5E30144C4}"/>
                </a:ext>
              </a:extLst>
            </p:cNvPr>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31" name="Oval 36">
              <a:extLst>
                <a:ext uri="{FF2B5EF4-FFF2-40B4-BE49-F238E27FC236}">
                  <a16:creationId xmlns:a16="http://schemas.microsoft.com/office/drawing/2014/main" id="{7673A737-F951-1675-65EC-C2948721FB08}"/>
                </a:ext>
              </a:extLst>
            </p:cNvPr>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32" name="Oval 37">
              <a:extLst>
                <a:ext uri="{FF2B5EF4-FFF2-40B4-BE49-F238E27FC236}">
                  <a16:creationId xmlns:a16="http://schemas.microsoft.com/office/drawing/2014/main" id="{3C6A1033-FF37-E416-FB74-F1656DE24FC4}"/>
                </a:ext>
              </a:extLst>
            </p:cNvPr>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33" name="Oval 38">
              <a:extLst>
                <a:ext uri="{FF2B5EF4-FFF2-40B4-BE49-F238E27FC236}">
                  <a16:creationId xmlns:a16="http://schemas.microsoft.com/office/drawing/2014/main" id="{1CB19C09-1ACC-E7FA-9E5A-C3AD3F76B4DB}"/>
                </a:ext>
              </a:extLst>
            </p:cNvPr>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34" name="Oval 39">
              <a:extLst>
                <a:ext uri="{FF2B5EF4-FFF2-40B4-BE49-F238E27FC236}">
                  <a16:creationId xmlns:a16="http://schemas.microsoft.com/office/drawing/2014/main" id="{F29BB314-F062-9A9C-A576-4F612EA11F49}"/>
                </a:ext>
              </a:extLst>
            </p:cNvPr>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grpSp>
      <p:sp>
        <p:nvSpPr>
          <p:cNvPr id="35" name="Line 40">
            <a:extLst>
              <a:ext uri="{FF2B5EF4-FFF2-40B4-BE49-F238E27FC236}">
                <a16:creationId xmlns:a16="http://schemas.microsoft.com/office/drawing/2014/main" id="{919F1E30-EB77-77AA-940B-910BB31B4213}"/>
              </a:ext>
            </a:extLst>
          </p:cNvPr>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9" name="Rectangle 3"/>
          <p:cNvSpPr>
            <a:spLocks noGrp="1" noChangeArrowheads="1"/>
          </p:cNvSpPr>
          <p:nvPr>
            <p:ph type="ctrTitle"/>
          </p:nvPr>
        </p:nvSpPr>
        <p:spPr>
          <a:xfrm>
            <a:off x="315913" y="466725"/>
            <a:ext cx="6781800" cy="2133600"/>
          </a:xfrm>
        </p:spPr>
        <p:txBody>
          <a:bodyPr/>
          <a:lstStyle>
            <a:lvl1pPr algn="r">
              <a:defRPr sz="4800"/>
            </a:lvl1pPr>
          </a:lstStyle>
          <a:p>
            <a:r>
              <a:rPr lang="en-GB" altLang="en-US"/>
              <a:t>Click to edit Master title style</a:t>
            </a:r>
          </a:p>
        </p:txBody>
      </p:sp>
      <p:sp>
        <p:nvSpPr>
          <p:cNvPr id="14340"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en-GB" altLang="en-US"/>
              <a:t>Click to edit Master subtitle style</a:t>
            </a:r>
          </a:p>
        </p:txBody>
      </p:sp>
      <p:sp>
        <p:nvSpPr>
          <p:cNvPr id="36" name="Rectangle 5">
            <a:extLst>
              <a:ext uri="{FF2B5EF4-FFF2-40B4-BE49-F238E27FC236}">
                <a16:creationId xmlns:a16="http://schemas.microsoft.com/office/drawing/2014/main" id="{C2CDC362-E0F0-676E-7CEE-A8F6724AA937}"/>
              </a:ext>
            </a:extLst>
          </p:cNvPr>
          <p:cNvSpPr>
            <a:spLocks noGrp="1" noChangeArrowheads="1"/>
          </p:cNvSpPr>
          <p:nvPr>
            <p:ph type="dt" sz="half" idx="10"/>
          </p:nvPr>
        </p:nvSpPr>
        <p:spPr/>
        <p:txBody>
          <a:bodyPr/>
          <a:lstStyle>
            <a:lvl1pPr>
              <a:defRPr/>
            </a:lvl1pPr>
          </a:lstStyle>
          <a:p>
            <a:pPr>
              <a:defRPr/>
            </a:pPr>
            <a:endParaRPr lang="en-GB" altLang="en-US"/>
          </a:p>
        </p:txBody>
      </p:sp>
      <p:sp>
        <p:nvSpPr>
          <p:cNvPr id="37" name="Rectangle 6">
            <a:extLst>
              <a:ext uri="{FF2B5EF4-FFF2-40B4-BE49-F238E27FC236}">
                <a16:creationId xmlns:a16="http://schemas.microsoft.com/office/drawing/2014/main" id="{54428D84-49BF-E85C-106D-80898037EBC0}"/>
              </a:ext>
            </a:extLst>
          </p:cNvPr>
          <p:cNvSpPr>
            <a:spLocks noGrp="1" noChangeArrowheads="1"/>
          </p:cNvSpPr>
          <p:nvPr>
            <p:ph type="ftr" sz="quarter" idx="11"/>
          </p:nvPr>
        </p:nvSpPr>
        <p:spPr/>
        <p:txBody>
          <a:bodyPr/>
          <a:lstStyle>
            <a:lvl1pPr>
              <a:defRPr/>
            </a:lvl1pPr>
          </a:lstStyle>
          <a:p>
            <a:pPr>
              <a:defRPr/>
            </a:pPr>
            <a:endParaRPr lang="en-GB" altLang="en-US"/>
          </a:p>
        </p:txBody>
      </p:sp>
      <p:sp>
        <p:nvSpPr>
          <p:cNvPr id="38" name="Rectangle 7">
            <a:extLst>
              <a:ext uri="{FF2B5EF4-FFF2-40B4-BE49-F238E27FC236}">
                <a16:creationId xmlns:a16="http://schemas.microsoft.com/office/drawing/2014/main" id="{B20EEFE2-0C6A-81D9-E4B3-3E148D41A5DA}"/>
              </a:ext>
            </a:extLst>
          </p:cNvPr>
          <p:cNvSpPr>
            <a:spLocks noGrp="1" noChangeArrowheads="1"/>
          </p:cNvSpPr>
          <p:nvPr>
            <p:ph type="sldNum" sz="quarter" idx="12"/>
          </p:nvPr>
        </p:nvSpPr>
        <p:spPr/>
        <p:txBody>
          <a:bodyPr/>
          <a:lstStyle>
            <a:lvl1pPr>
              <a:defRPr/>
            </a:lvl1pPr>
          </a:lstStyle>
          <a:p>
            <a:fld id="{66EF51EC-177A-9342-B59F-7E7A4FEFC0CC}" type="slidenum">
              <a:rPr lang="en-GB" altLang="en-US"/>
              <a:pPr/>
              <a:t>‹#›</a:t>
            </a:fld>
            <a:endParaRPr lang="en-GB" altLang="en-US"/>
          </a:p>
        </p:txBody>
      </p:sp>
    </p:spTree>
    <p:extLst>
      <p:ext uri="{BB962C8B-B14F-4D97-AF65-F5344CB8AC3E}">
        <p14:creationId xmlns:p14="http://schemas.microsoft.com/office/powerpoint/2010/main" val="2721373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B1DB4E0-72F6-C0BC-FD20-04FC60355B8D}"/>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48A1F4F0-4F0D-E8CC-E196-D737E92572D6}"/>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24176F69-0D1A-6E68-B891-2534766106F8}"/>
              </a:ext>
            </a:extLst>
          </p:cNvPr>
          <p:cNvSpPr>
            <a:spLocks noGrp="1" noChangeArrowheads="1"/>
          </p:cNvSpPr>
          <p:nvPr>
            <p:ph type="sldNum" sz="quarter" idx="12"/>
          </p:nvPr>
        </p:nvSpPr>
        <p:spPr>
          <a:ln/>
        </p:spPr>
        <p:txBody>
          <a:bodyPr/>
          <a:lstStyle>
            <a:lvl1pPr>
              <a:defRPr/>
            </a:lvl1pPr>
          </a:lstStyle>
          <a:p>
            <a:fld id="{D67E725A-7D52-4F43-81FE-2CD8489F187D}" type="slidenum">
              <a:rPr lang="en-GB" altLang="en-US"/>
              <a:pPr/>
              <a:t>‹#›</a:t>
            </a:fld>
            <a:endParaRPr lang="en-GB" altLang="en-US"/>
          </a:p>
        </p:txBody>
      </p:sp>
    </p:spTree>
    <p:extLst>
      <p:ext uri="{BB962C8B-B14F-4D97-AF65-F5344CB8AC3E}">
        <p14:creationId xmlns:p14="http://schemas.microsoft.com/office/powerpoint/2010/main" val="3757503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19E6136C-6369-0A49-0810-5DECB677A25B}"/>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658CE714-F874-12A5-CE94-5175266F7267}"/>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16528C2D-3F7F-0D0E-BA5A-6854CC7B0E65}"/>
              </a:ext>
            </a:extLst>
          </p:cNvPr>
          <p:cNvSpPr>
            <a:spLocks noGrp="1" noChangeArrowheads="1"/>
          </p:cNvSpPr>
          <p:nvPr>
            <p:ph type="sldNum" sz="quarter" idx="12"/>
          </p:nvPr>
        </p:nvSpPr>
        <p:spPr>
          <a:ln/>
        </p:spPr>
        <p:txBody>
          <a:bodyPr/>
          <a:lstStyle>
            <a:lvl1pPr>
              <a:defRPr/>
            </a:lvl1pPr>
          </a:lstStyle>
          <a:p>
            <a:fld id="{04368569-920D-AE4F-B2AF-B7CED383BA5A}" type="slidenum">
              <a:rPr lang="en-GB" altLang="en-US"/>
              <a:pPr/>
              <a:t>‹#›</a:t>
            </a:fld>
            <a:endParaRPr lang="en-GB" altLang="en-US"/>
          </a:p>
        </p:txBody>
      </p:sp>
    </p:spTree>
    <p:extLst>
      <p:ext uri="{BB962C8B-B14F-4D97-AF65-F5344CB8AC3E}">
        <p14:creationId xmlns:p14="http://schemas.microsoft.com/office/powerpoint/2010/main" val="625402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60943C9C-095D-1111-A501-48D8D2901B80}"/>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10767EA2-BE16-AD85-0110-F7D683A40BCC}"/>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66C0322D-5802-E918-CD1E-6720EAB46CCC}"/>
              </a:ext>
            </a:extLst>
          </p:cNvPr>
          <p:cNvSpPr>
            <a:spLocks noGrp="1" noChangeArrowheads="1"/>
          </p:cNvSpPr>
          <p:nvPr>
            <p:ph type="sldNum" sz="quarter" idx="12"/>
          </p:nvPr>
        </p:nvSpPr>
        <p:spPr>
          <a:ln/>
        </p:spPr>
        <p:txBody>
          <a:bodyPr/>
          <a:lstStyle>
            <a:lvl1pPr>
              <a:defRPr/>
            </a:lvl1pPr>
          </a:lstStyle>
          <a:p>
            <a:fld id="{2C290F44-80D9-2E4C-B4F6-6243052175B7}" type="slidenum">
              <a:rPr lang="en-GB" altLang="en-US"/>
              <a:pPr/>
              <a:t>‹#›</a:t>
            </a:fld>
            <a:endParaRPr lang="en-GB" altLang="en-US"/>
          </a:p>
        </p:txBody>
      </p:sp>
    </p:spTree>
    <p:extLst>
      <p:ext uri="{BB962C8B-B14F-4D97-AF65-F5344CB8AC3E}">
        <p14:creationId xmlns:p14="http://schemas.microsoft.com/office/powerpoint/2010/main" val="896796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744B2284-1003-D5C3-7352-78DD437AC82E}"/>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8" name="Rectangle 6">
            <a:extLst>
              <a:ext uri="{FF2B5EF4-FFF2-40B4-BE49-F238E27FC236}">
                <a16:creationId xmlns:a16="http://schemas.microsoft.com/office/drawing/2014/main" id="{512FAC53-4A9A-88EC-004A-6B602F15D42D}"/>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9" name="Rectangle 7">
            <a:extLst>
              <a:ext uri="{FF2B5EF4-FFF2-40B4-BE49-F238E27FC236}">
                <a16:creationId xmlns:a16="http://schemas.microsoft.com/office/drawing/2014/main" id="{36FBEA07-2C04-4139-616D-4DD0BE7593E6}"/>
              </a:ext>
            </a:extLst>
          </p:cNvPr>
          <p:cNvSpPr>
            <a:spLocks noGrp="1" noChangeArrowheads="1"/>
          </p:cNvSpPr>
          <p:nvPr>
            <p:ph type="sldNum" sz="quarter" idx="12"/>
          </p:nvPr>
        </p:nvSpPr>
        <p:spPr>
          <a:ln/>
        </p:spPr>
        <p:txBody>
          <a:bodyPr/>
          <a:lstStyle>
            <a:lvl1pPr>
              <a:defRPr/>
            </a:lvl1pPr>
          </a:lstStyle>
          <a:p>
            <a:fld id="{220452EF-263D-784F-895E-DB75E836780B}" type="slidenum">
              <a:rPr lang="en-GB" altLang="en-US"/>
              <a:pPr/>
              <a:t>‹#›</a:t>
            </a:fld>
            <a:endParaRPr lang="en-GB" altLang="en-US"/>
          </a:p>
        </p:txBody>
      </p:sp>
    </p:spTree>
    <p:extLst>
      <p:ext uri="{BB962C8B-B14F-4D97-AF65-F5344CB8AC3E}">
        <p14:creationId xmlns:p14="http://schemas.microsoft.com/office/powerpoint/2010/main" val="3478388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FA51FBC8-EEDE-2096-BA51-C02E936AF728}"/>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4" name="Rectangle 6">
            <a:extLst>
              <a:ext uri="{FF2B5EF4-FFF2-40B4-BE49-F238E27FC236}">
                <a16:creationId xmlns:a16="http://schemas.microsoft.com/office/drawing/2014/main" id="{8903845F-3923-77F6-3512-9017EB6626DD}"/>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5" name="Rectangle 7">
            <a:extLst>
              <a:ext uri="{FF2B5EF4-FFF2-40B4-BE49-F238E27FC236}">
                <a16:creationId xmlns:a16="http://schemas.microsoft.com/office/drawing/2014/main" id="{7CC52660-4B24-AF90-7B63-93450A16A852}"/>
              </a:ext>
            </a:extLst>
          </p:cNvPr>
          <p:cNvSpPr>
            <a:spLocks noGrp="1" noChangeArrowheads="1"/>
          </p:cNvSpPr>
          <p:nvPr>
            <p:ph type="sldNum" sz="quarter" idx="12"/>
          </p:nvPr>
        </p:nvSpPr>
        <p:spPr>
          <a:ln/>
        </p:spPr>
        <p:txBody>
          <a:bodyPr/>
          <a:lstStyle>
            <a:lvl1pPr>
              <a:defRPr/>
            </a:lvl1pPr>
          </a:lstStyle>
          <a:p>
            <a:fld id="{48000AFA-8407-4E42-897B-61EBA46F2066}" type="slidenum">
              <a:rPr lang="en-GB" altLang="en-US"/>
              <a:pPr/>
              <a:t>‹#›</a:t>
            </a:fld>
            <a:endParaRPr lang="en-GB" altLang="en-US"/>
          </a:p>
        </p:txBody>
      </p:sp>
    </p:spTree>
    <p:extLst>
      <p:ext uri="{BB962C8B-B14F-4D97-AF65-F5344CB8AC3E}">
        <p14:creationId xmlns:p14="http://schemas.microsoft.com/office/powerpoint/2010/main" val="3661738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3BF6E5EB-EFD1-B6CC-074D-0F5FCCAC9442}"/>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3" name="Rectangle 6">
            <a:extLst>
              <a:ext uri="{FF2B5EF4-FFF2-40B4-BE49-F238E27FC236}">
                <a16:creationId xmlns:a16="http://schemas.microsoft.com/office/drawing/2014/main" id="{8317FB39-D598-842E-6197-D46EFBEC9378}"/>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4" name="Rectangle 7">
            <a:extLst>
              <a:ext uri="{FF2B5EF4-FFF2-40B4-BE49-F238E27FC236}">
                <a16:creationId xmlns:a16="http://schemas.microsoft.com/office/drawing/2014/main" id="{AB2870C8-823F-A0D6-E8EC-39882544755D}"/>
              </a:ext>
            </a:extLst>
          </p:cNvPr>
          <p:cNvSpPr>
            <a:spLocks noGrp="1" noChangeArrowheads="1"/>
          </p:cNvSpPr>
          <p:nvPr>
            <p:ph type="sldNum" sz="quarter" idx="12"/>
          </p:nvPr>
        </p:nvSpPr>
        <p:spPr>
          <a:ln/>
        </p:spPr>
        <p:txBody>
          <a:bodyPr/>
          <a:lstStyle>
            <a:lvl1pPr>
              <a:defRPr/>
            </a:lvl1pPr>
          </a:lstStyle>
          <a:p>
            <a:fld id="{97C6D257-A197-D549-B377-119D56461EBC}" type="slidenum">
              <a:rPr lang="en-GB" altLang="en-US"/>
              <a:pPr/>
              <a:t>‹#›</a:t>
            </a:fld>
            <a:endParaRPr lang="en-GB" altLang="en-US"/>
          </a:p>
        </p:txBody>
      </p:sp>
    </p:spTree>
    <p:extLst>
      <p:ext uri="{BB962C8B-B14F-4D97-AF65-F5344CB8AC3E}">
        <p14:creationId xmlns:p14="http://schemas.microsoft.com/office/powerpoint/2010/main" val="725949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996E369A-D482-C4FC-87E0-634EA4AF0A31}"/>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D1AFE99E-975A-0808-EDA0-3AB6CCA25247}"/>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BD851348-AC60-A8BC-D1A5-3E659985520F}"/>
              </a:ext>
            </a:extLst>
          </p:cNvPr>
          <p:cNvSpPr>
            <a:spLocks noGrp="1" noChangeArrowheads="1"/>
          </p:cNvSpPr>
          <p:nvPr>
            <p:ph type="sldNum" sz="quarter" idx="12"/>
          </p:nvPr>
        </p:nvSpPr>
        <p:spPr>
          <a:ln/>
        </p:spPr>
        <p:txBody>
          <a:bodyPr/>
          <a:lstStyle>
            <a:lvl1pPr>
              <a:defRPr/>
            </a:lvl1pPr>
          </a:lstStyle>
          <a:p>
            <a:fld id="{2BB15A70-8BD7-CF42-839C-7AFDB4E28053}" type="slidenum">
              <a:rPr lang="en-GB" altLang="en-US"/>
              <a:pPr/>
              <a:t>‹#›</a:t>
            </a:fld>
            <a:endParaRPr lang="en-GB" altLang="en-US"/>
          </a:p>
        </p:txBody>
      </p:sp>
    </p:spTree>
    <p:extLst>
      <p:ext uri="{BB962C8B-B14F-4D97-AF65-F5344CB8AC3E}">
        <p14:creationId xmlns:p14="http://schemas.microsoft.com/office/powerpoint/2010/main" val="3353325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CEAE7CF1-1FC1-01C4-FE30-2D366836547B}"/>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F690FA26-CA84-60FB-CE87-812AC4BF0697}"/>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74F26F89-B0E4-92AE-4AC6-DC1F0DA01352}"/>
              </a:ext>
            </a:extLst>
          </p:cNvPr>
          <p:cNvSpPr>
            <a:spLocks noGrp="1" noChangeArrowheads="1"/>
          </p:cNvSpPr>
          <p:nvPr>
            <p:ph type="sldNum" sz="quarter" idx="12"/>
          </p:nvPr>
        </p:nvSpPr>
        <p:spPr>
          <a:ln/>
        </p:spPr>
        <p:txBody>
          <a:bodyPr/>
          <a:lstStyle>
            <a:lvl1pPr>
              <a:defRPr/>
            </a:lvl1pPr>
          </a:lstStyle>
          <a:p>
            <a:fld id="{57A7957D-851E-7548-B36E-A00B3B7861E3}" type="slidenum">
              <a:rPr lang="en-GB" altLang="en-US"/>
              <a:pPr/>
              <a:t>‹#›</a:t>
            </a:fld>
            <a:endParaRPr lang="en-GB" altLang="en-US"/>
          </a:p>
        </p:txBody>
      </p:sp>
    </p:spTree>
    <p:extLst>
      <p:ext uri="{BB962C8B-B14F-4D97-AF65-F5344CB8AC3E}">
        <p14:creationId xmlns:p14="http://schemas.microsoft.com/office/powerpoint/2010/main" val="1387130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2AA1DCCE-E255-252D-1D1C-37EDB3B5CBCE}"/>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3F050503-FD33-48A7-9294-E871ACEBFAE6}"/>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EEB9BC56-97F1-4624-87AA-7142844A55D6}"/>
              </a:ext>
            </a:extLst>
          </p:cNvPr>
          <p:cNvSpPr>
            <a:spLocks noGrp="1" noChangeArrowheads="1"/>
          </p:cNvSpPr>
          <p:nvPr>
            <p:ph type="sldNum" sz="quarter" idx="12"/>
          </p:nvPr>
        </p:nvSpPr>
        <p:spPr>
          <a:ln/>
        </p:spPr>
        <p:txBody>
          <a:bodyPr/>
          <a:lstStyle>
            <a:lvl1pPr>
              <a:defRPr/>
            </a:lvl1pPr>
          </a:lstStyle>
          <a:p>
            <a:fld id="{F947FF87-BCFF-B349-8494-71ADDC1E7399}" type="slidenum">
              <a:rPr lang="en-GB" altLang="en-US"/>
              <a:pPr/>
              <a:t>‹#›</a:t>
            </a:fld>
            <a:endParaRPr lang="en-GB" altLang="en-US"/>
          </a:p>
        </p:txBody>
      </p:sp>
    </p:spTree>
    <p:extLst>
      <p:ext uri="{BB962C8B-B14F-4D97-AF65-F5344CB8AC3E}">
        <p14:creationId xmlns:p14="http://schemas.microsoft.com/office/powerpoint/2010/main" val="602237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26FF57D-6E8C-4B58-470E-BD2924F0FF4D}"/>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EAF638AF-3C65-96CB-5E4D-F8C912ED9D32}"/>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3C8869DB-94D9-DD2E-5405-BECFBC6DDB94}"/>
              </a:ext>
            </a:extLst>
          </p:cNvPr>
          <p:cNvSpPr>
            <a:spLocks noGrp="1" noChangeArrowheads="1"/>
          </p:cNvSpPr>
          <p:nvPr>
            <p:ph type="sldNum" sz="quarter" idx="12"/>
          </p:nvPr>
        </p:nvSpPr>
        <p:spPr>
          <a:ln/>
        </p:spPr>
        <p:txBody>
          <a:bodyPr/>
          <a:lstStyle>
            <a:lvl1pPr>
              <a:defRPr/>
            </a:lvl1pPr>
          </a:lstStyle>
          <a:p>
            <a:fld id="{E9E832D4-F371-7648-A260-959832AD4169}" type="slidenum">
              <a:rPr lang="en-GB" altLang="en-US"/>
              <a:pPr/>
              <a:t>‹#›</a:t>
            </a:fld>
            <a:endParaRPr lang="en-GB" altLang="en-US"/>
          </a:p>
        </p:txBody>
      </p:sp>
    </p:spTree>
    <p:extLst>
      <p:ext uri="{BB962C8B-B14F-4D97-AF65-F5344CB8AC3E}">
        <p14:creationId xmlns:p14="http://schemas.microsoft.com/office/powerpoint/2010/main" val="2513325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D0A4612B-4A48-CDD2-EA47-D067EC9EA7E5}"/>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A398DDDE-25C2-54D8-B464-05C056C81AB7}"/>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60146B92-8010-030E-6DFF-B6364BAD8348}"/>
              </a:ext>
            </a:extLst>
          </p:cNvPr>
          <p:cNvSpPr>
            <a:spLocks noGrp="1" noChangeArrowheads="1"/>
          </p:cNvSpPr>
          <p:nvPr>
            <p:ph type="sldNum" sz="quarter" idx="12"/>
          </p:nvPr>
        </p:nvSpPr>
        <p:spPr>
          <a:ln/>
        </p:spPr>
        <p:txBody>
          <a:bodyPr/>
          <a:lstStyle>
            <a:lvl1pPr>
              <a:defRPr/>
            </a:lvl1pPr>
          </a:lstStyle>
          <a:p>
            <a:fld id="{900B4769-A0B0-E746-8A73-5407430842A2}" type="slidenum">
              <a:rPr lang="en-GB" altLang="en-US"/>
              <a:pPr/>
              <a:t>‹#›</a:t>
            </a:fld>
            <a:endParaRPr lang="en-GB" altLang="en-US"/>
          </a:p>
        </p:txBody>
      </p:sp>
    </p:spTree>
    <p:extLst>
      <p:ext uri="{BB962C8B-B14F-4D97-AF65-F5344CB8AC3E}">
        <p14:creationId xmlns:p14="http://schemas.microsoft.com/office/powerpoint/2010/main" val="994447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8229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4000500"/>
            <a:ext cx="8229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67D6250E-F5D0-5772-2DBB-BB9FEF1FBE12}"/>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60D7887C-B154-E88B-EC89-1A70D1836F34}"/>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CB035965-291D-2A9C-8B69-0BD41D34C46D}"/>
              </a:ext>
            </a:extLst>
          </p:cNvPr>
          <p:cNvSpPr>
            <a:spLocks noGrp="1" noChangeArrowheads="1"/>
          </p:cNvSpPr>
          <p:nvPr>
            <p:ph type="sldNum" sz="quarter" idx="12"/>
          </p:nvPr>
        </p:nvSpPr>
        <p:spPr>
          <a:ln/>
        </p:spPr>
        <p:txBody>
          <a:bodyPr/>
          <a:lstStyle>
            <a:lvl1pPr>
              <a:defRPr/>
            </a:lvl1pPr>
          </a:lstStyle>
          <a:p>
            <a:fld id="{9D976298-965F-304A-A04F-EC8729CF8D29}" type="slidenum">
              <a:rPr lang="en-GB" altLang="en-US"/>
              <a:pPr/>
              <a:t>‹#›</a:t>
            </a:fld>
            <a:endParaRPr lang="en-GB" altLang="en-US"/>
          </a:p>
        </p:txBody>
      </p:sp>
    </p:spTree>
    <p:extLst>
      <p:ext uri="{BB962C8B-B14F-4D97-AF65-F5344CB8AC3E}">
        <p14:creationId xmlns:p14="http://schemas.microsoft.com/office/powerpoint/2010/main" val="819931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Content Placeholder 2"/>
          <p:cNvSpPr>
            <a:spLocks noGrp="1"/>
          </p:cNvSpPr>
          <p:nvPr>
            <p:ph sz="half" idx="1"/>
          </p:nvPr>
        </p:nvSpPr>
        <p:spPr>
          <a:xfrm>
            <a:off x="457200" y="1719263"/>
            <a:ext cx="8229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4000500"/>
            <a:ext cx="8229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C0F5EA88-B779-2016-5079-FAA7BC7557E0}"/>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6" name="Rectangle 6">
            <a:extLst>
              <a:ext uri="{FF2B5EF4-FFF2-40B4-BE49-F238E27FC236}">
                <a16:creationId xmlns:a16="http://schemas.microsoft.com/office/drawing/2014/main" id="{51F6EC68-ED66-A511-DBEA-ABA85D7E1B54}"/>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7" name="Rectangle 7">
            <a:extLst>
              <a:ext uri="{FF2B5EF4-FFF2-40B4-BE49-F238E27FC236}">
                <a16:creationId xmlns:a16="http://schemas.microsoft.com/office/drawing/2014/main" id="{8F020395-CFDE-BC86-29D5-1CC6A293A217}"/>
              </a:ext>
            </a:extLst>
          </p:cNvPr>
          <p:cNvSpPr>
            <a:spLocks noGrp="1" noChangeArrowheads="1"/>
          </p:cNvSpPr>
          <p:nvPr>
            <p:ph type="sldNum" sz="quarter" idx="12"/>
          </p:nvPr>
        </p:nvSpPr>
        <p:spPr>
          <a:ln/>
        </p:spPr>
        <p:txBody>
          <a:bodyPr/>
          <a:lstStyle>
            <a:lvl1pPr>
              <a:defRPr/>
            </a:lvl1pPr>
          </a:lstStyle>
          <a:p>
            <a:fld id="{CAAF312F-F976-5D47-B5C6-5CB833EF6F79}" type="slidenum">
              <a:rPr lang="en-GB" altLang="en-US"/>
              <a:pPr/>
              <a:t>‹#›</a:t>
            </a:fld>
            <a:endParaRPr lang="en-GB" altLang="en-US"/>
          </a:p>
        </p:txBody>
      </p:sp>
    </p:spTree>
    <p:extLst>
      <p:ext uri="{BB962C8B-B14F-4D97-AF65-F5344CB8AC3E}">
        <p14:creationId xmlns:p14="http://schemas.microsoft.com/office/powerpoint/2010/main" val="26125116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9263"/>
            <a:ext cx="4038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0"/>
            <a:ext cx="4038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6C3103A4-17BC-92A2-CFA8-9579F5C97EF0}"/>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7" name="Rectangle 6">
            <a:extLst>
              <a:ext uri="{FF2B5EF4-FFF2-40B4-BE49-F238E27FC236}">
                <a16:creationId xmlns:a16="http://schemas.microsoft.com/office/drawing/2014/main" id="{D906847E-FBBF-0636-E5D6-A4E0E4AA779C}"/>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8" name="Rectangle 7">
            <a:extLst>
              <a:ext uri="{FF2B5EF4-FFF2-40B4-BE49-F238E27FC236}">
                <a16:creationId xmlns:a16="http://schemas.microsoft.com/office/drawing/2014/main" id="{B5C43795-EB23-4709-3828-698A9DBD9729}"/>
              </a:ext>
            </a:extLst>
          </p:cNvPr>
          <p:cNvSpPr>
            <a:spLocks noGrp="1" noChangeArrowheads="1"/>
          </p:cNvSpPr>
          <p:nvPr>
            <p:ph type="sldNum" sz="quarter" idx="12"/>
          </p:nvPr>
        </p:nvSpPr>
        <p:spPr>
          <a:ln/>
        </p:spPr>
        <p:txBody>
          <a:bodyPr/>
          <a:lstStyle>
            <a:lvl1pPr>
              <a:defRPr/>
            </a:lvl1pPr>
          </a:lstStyle>
          <a:p>
            <a:fld id="{A22D98F7-44F2-D247-A8CD-3156607BE9F8}" type="slidenum">
              <a:rPr lang="en-GB" altLang="en-US"/>
              <a:pPr/>
              <a:t>‹#›</a:t>
            </a:fld>
            <a:endParaRPr lang="en-GB" altLang="en-US"/>
          </a:p>
        </p:txBody>
      </p:sp>
    </p:spTree>
    <p:extLst>
      <p:ext uri="{BB962C8B-B14F-4D97-AF65-F5344CB8AC3E}">
        <p14:creationId xmlns:p14="http://schemas.microsoft.com/office/powerpoint/2010/main" val="1345795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950EFC31-6016-E1E3-97C2-C74AD02BFCE4}"/>
              </a:ext>
            </a:extLst>
          </p:cNvPr>
          <p:cNvSpPr>
            <a:spLocks noGrp="1" noChangeArrowheads="1"/>
          </p:cNvSpPr>
          <p:nvPr>
            <p:ph type="dt" sz="half" idx="10"/>
          </p:nvPr>
        </p:nvSpPr>
        <p:spPr>
          <a:ln/>
        </p:spPr>
        <p:txBody>
          <a:bodyPr/>
          <a:lstStyle>
            <a:lvl1pPr>
              <a:defRPr/>
            </a:lvl1pPr>
          </a:lstStyle>
          <a:p>
            <a:pPr>
              <a:defRPr/>
            </a:pPr>
            <a:endParaRPr lang="en-GB" altLang="en-US"/>
          </a:p>
        </p:txBody>
      </p:sp>
      <p:sp>
        <p:nvSpPr>
          <p:cNvPr id="5" name="Rectangle 6">
            <a:extLst>
              <a:ext uri="{FF2B5EF4-FFF2-40B4-BE49-F238E27FC236}">
                <a16:creationId xmlns:a16="http://schemas.microsoft.com/office/drawing/2014/main" id="{606C0A8D-B1AE-C6BF-4292-B876FD6A0211}"/>
              </a:ext>
            </a:extLst>
          </p:cNvPr>
          <p:cNvSpPr>
            <a:spLocks noGrp="1" noChangeArrowheads="1"/>
          </p:cNvSpPr>
          <p:nvPr>
            <p:ph type="ftr" sz="quarter" idx="11"/>
          </p:nvPr>
        </p:nvSpPr>
        <p:spPr>
          <a:ln/>
        </p:spPr>
        <p:txBody>
          <a:bodyPr/>
          <a:lstStyle>
            <a:lvl1pPr>
              <a:defRPr/>
            </a:lvl1pPr>
          </a:lstStyle>
          <a:p>
            <a:pPr>
              <a:defRPr/>
            </a:pPr>
            <a:endParaRPr lang="en-GB" altLang="en-US"/>
          </a:p>
        </p:txBody>
      </p:sp>
      <p:sp>
        <p:nvSpPr>
          <p:cNvPr id="6" name="Rectangle 7">
            <a:extLst>
              <a:ext uri="{FF2B5EF4-FFF2-40B4-BE49-F238E27FC236}">
                <a16:creationId xmlns:a16="http://schemas.microsoft.com/office/drawing/2014/main" id="{3B9F34C6-6450-7293-19EF-CF0C57C3589D}"/>
              </a:ext>
            </a:extLst>
          </p:cNvPr>
          <p:cNvSpPr>
            <a:spLocks noGrp="1" noChangeArrowheads="1"/>
          </p:cNvSpPr>
          <p:nvPr>
            <p:ph type="sldNum" sz="quarter" idx="12"/>
          </p:nvPr>
        </p:nvSpPr>
        <p:spPr>
          <a:ln/>
        </p:spPr>
        <p:txBody>
          <a:bodyPr/>
          <a:lstStyle>
            <a:lvl1pPr>
              <a:defRPr/>
            </a:lvl1pPr>
          </a:lstStyle>
          <a:p>
            <a:fld id="{47E64F1C-3321-DC45-9189-7E84FE066ED7}" type="slidenum">
              <a:rPr lang="en-GB" altLang="en-US"/>
              <a:pPr/>
              <a:t>‹#›</a:t>
            </a:fld>
            <a:endParaRPr lang="en-GB" altLang="en-US"/>
          </a:p>
        </p:txBody>
      </p:sp>
    </p:spTree>
    <p:extLst>
      <p:ext uri="{BB962C8B-B14F-4D97-AF65-F5344CB8AC3E}">
        <p14:creationId xmlns:p14="http://schemas.microsoft.com/office/powerpoint/2010/main" val="1791149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a:extLst>
              <a:ext uri="{FF2B5EF4-FFF2-40B4-BE49-F238E27FC236}">
                <a16:creationId xmlns:a16="http://schemas.microsoft.com/office/drawing/2014/main" id="{170A486F-9360-98E9-EE3D-3F81CD3A25C9}"/>
              </a:ext>
            </a:extLst>
          </p:cNvPr>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 name="Rectangle 3">
            <a:extLst>
              <a:ext uri="{FF2B5EF4-FFF2-40B4-BE49-F238E27FC236}">
                <a16:creationId xmlns:a16="http://schemas.microsoft.com/office/drawing/2014/main" id="{8846BFA6-02BD-1C1C-D2B0-4EAB9999937B}"/>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GB" altLang="en-US"/>
              <a:t>Click to edit Master title style</a:t>
            </a:r>
          </a:p>
        </p:txBody>
      </p:sp>
      <p:sp>
        <p:nvSpPr>
          <p:cNvPr id="1028" name="Rectangle 4">
            <a:extLst>
              <a:ext uri="{FF2B5EF4-FFF2-40B4-BE49-F238E27FC236}">
                <a16:creationId xmlns:a16="http://schemas.microsoft.com/office/drawing/2014/main" id="{986B33DE-7282-DBF0-5916-3F53C5F4A692}"/>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3317" name="Rectangle 5">
            <a:extLst>
              <a:ext uri="{FF2B5EF4-FFF2-40B4-BE49-F238E27FC236}">
                <a16:creationId xmlns:a16="http://schemas.microsoft.com/office/drawing/2014/main" id="{8A0B0A5D-6AC4-0D0D-F805-AC731D817E33}"/>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cs typeface="Arial" charset="0"/>
              </a:defRPr>
            </a:lvl1pPr>
          </a:lstStyle>
          <a:p>
            <a:pPr>
              <a:defRPr/>
            </a:pPr>
            <a:endParaRPr lang="en-GB" altLang="en-US"/>
          </a:p>
        </p:txBody>
      </p:sp>
      <p:sp>
        <p:nvSpPr>
          <p:cNvPr id="13318" name="Rectangle 6">
            <a:extLst>
              <a:ext uri="{FF2B5EF4-FFF2-40B4-BE49-F238E27FC236}">
                <a16:creationId xmlns:a16="http://schemas.microsoft.com/office/drawing/2014/main" id="{00B693D4-1D76-B63D-F0DC-081AE59396F1}"/>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Arial" charset="0"/>
                <a:cs typeface="Arial" charset="0"/>
              </a:defRPr>
            </a:lvl1pPr>
          </a:lstStyle>
          <a:p>
            <a:pPr>
              <a:defRPr/>
            </a:pPr>
            <a:endParaRPr lang="en-GB" altLang="en-US"/>
          </a:p>
        </p:txBody>
      </p:sp>
      <p:sp>
        <p:nvSpPr>
          <p:cNvPr id="13319" name="Rectangle 7">
            <a:extLst>
              <a:ext uri="{FF2B5EF4-FFF2-40B4-BE49-F238E27FC236}">
                <a16:creationId xmlns:a16="http://schemas.microsoft.com/office/drawing/2014/main" id="{91931F90-9A17-B64D-392A-8BBF99FEE966}"/>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960582B1-8AE9-644D-A990-BA12EB1E9B1C}" type="slidenum">
              <a:rPr lang="en-GB" altLang="en-US"/>
              <a:pPr/>
              <a:t>‹#›</a:t>
            </a:fld>
            <a:endParaRPr lang="en-GB" altLang="en-US"/>
          </a:p>
        </p:txBody>
      </p:sp>
      <p:grpSp>
        <p:nvGrpSpPr>
          <p:cNvPr id="1032" name="Group 8">
            <a:extLst>
              <a:ext uri="{FF2B5EF4-FFF2-40B4-BE49-F238E27FC236}">
                <a16:creationId xmlns:a16="http://schemas.microsoft.com/office/drawing/2014/main" id="{6159BEE6-BFC1-54C1-6ED1-B64BF9726EC1}"/>
              </a:ext>
            </a:extLst>
          </p:cNvPr>
          <p:cNvGrpSpPr>
            <a:grpSpLocks/>
          </p:cNvGrpSpPr>
          <p:nvPr/>
        </p:nvGrpSpPr>
        <p:grpSpPr bwMode="auto">
          <a:xfrm>
            <a:off x="8153400" y="152400"/>
            <a:ext cx="792163" cy="1295400"/>
            <a:chOff x="5136" y="960"/>
            <a:chExt cx="528" cy="864"/>
          </a:xfrm>
        </p:grpSpPr>
        <p:sp>
          <p:nvSpPr>
            <p:cNvPr id="1033" name="Oval 9">
              <a:extLst>
                <a:ext uri="{FF2B5EF4-FFF2-40B4-BE49-F238E27FC236}">
                  <a16:creationId xmlns:a16="http://schemas.microsoft.com/office/drawing/2014/main" id="{0EB756AA-E995-8E0E-6F64-A29FA045F700}"/>
                </a:ext>
              </a:extLst>
            </p:cNvPr>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34" name="Oval 10">
              <a:extLst>
                <a:ext uri="{FF2B5EF4-FFF2-40B4-BE49-F238E27FC236}">
                  <a16:creationId xmlns:a16="http://schemas.microsoft.com/office/drawing/2014/main" id="{FC129F7C-D769-A35F-B9AA-B078E42CC93D}"/>
                </a:ext>
              </a:extLst>
            </p:cNvPr>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35" name="Oval 11">
              <a:extLst>
                <a:ext uri="{FF2B5EF4-FFF2-40B4-BE49-F238E27FC236}">
                  <a16:creationId xmlns:a16="http://schemas.microsoft.com/office/drawing/2014/main" id="{B7C28109-6DBE-ECB9-48D2-95D6C000FB60}"/>
                </a:ext>
              </a:extLst>
            </p:cNvPr>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36" name="Oval 12">
              <a:extLst>
                <a:ext uri="{FF2B5EF4-FFF2-40B4-BE49-F238E27FC236}">
                  <a16:creationId xmlns:a16="http://schemas.microsoft.com/office/drawing/2014/main" id="{53C32DAA-E017-45F1-CB9B-F070E6D0A400}"/>
                </a:ext>
              </a:extLst>
            </p:cNvPr>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37" name="Oval 13">
              <a:extLst>
                <a:ext uri="{FF2B5EF4-FFF2-40B4-BE49-F238E27FC236}">
                  <a16:creationId xmlns:a16="http://schemas.microsoft.com/office/drawing/2014/main" id="{7CC02496-30D1-8792-7DDF-F03AC9FB485E}"/>
                </a:ext>
              </a:extLst>
            </p:cNvPr>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38" name="Oval 14">
              <a:extLst>
                <a:ext uri="{FF2B5EF4-FFF2-40B4-BE49-F238E27FC236}">
                  <a16:creationId xmlns:a16="http://schemas.microsoft.com/office/drawing/2014/main" id="{F129433F-7E43-0D97-764E-C087B9E1B7FD}"/>
                </a:ext>
              </a:extLst>
            </p:cNvPr>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39" name="Oval 15">
              <a:extLst>
                <a:ext uri="{FF2B5EF4-FFF2-40B4-BE49-F238E27FC236}">
                  <a16:creationId xmlns:a16="http://schemas.microsoft.com/office/drawing/2014/main" id="{0AD7C805-134F-8A4F-DD4B-75D865006608}"/>
                </a:ext>
              </a:extLst>
            </p:cNvPr>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0" name="Oval 16">
              <a:extLst>
                <a:ext uri="{FF2B5EF4-FFF2-40B4-BE49-F238E27FC236}">
                  <a16:creationId xmlns:a16="http://schemas.microsoft.com/office/drawing/2014/main" id="{52930558-646F-06F3-941A-A7CE1BA531F3}"/>
                </a:ext>
              </a:extLst>
            </p:cNvPr>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1" name="Oval 17">
              <a:extLst>
                <a:ext uri="{FF2B5EF4-FFF2-40B4-BE49-F238E27FC236}">
                  <a16:creationId xmlns:a16="http://schemas.microsoft.com/office/drawing/2014/main" id="{F370C9BE-3A36-966B-17EE-A3910A25A091}"/>
                </a:ext>
              </a:extLst>
            </p:cNvPr>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2" name="Oval 18">
              <a:extLst>
                <a:ext uri="{FF2B5EF4-FFF2-40B4-BE49-F238E27FC236}">
                  <a16:creationId xmlns:a16="http://schemas.microsoft.com/office/drawing/2014/main" id="{3C795FD6-8741-1628-79FB-19CA6CE750B3}"/>
                </a:ext>
              </a:extLst>
            </p:cNvPr>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3" name="Oval 19">
              <a:extLst>
                <a:ext uri="{FF2B5EF4-FFF2-40B4-BE49-F238E27FC236}">
                  <a16:creationId xmlns:a16="http://schemas.microsoft.com/office/drawing/2014/main" id="{CCA401A1-902B-4982-729E-82A04A362318}"/>
                </a:ext>
              </a:extLst>
            </p:cNvPr>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4" name="Oval 20">
              <a:extLst>
                <a:ext uri="{FF2B5EF4-FFF2-40B4-BE49-F238E27FC236}">
                  <a16:creationId xmlns:a16="http://schemas.microsoft.com/office/drawing/2014/main" id="{2540A62D-FA9C-AD15-924F-335CBF87281A}"/>
                </a:ext>
              </a:extLst>
            </p:cNvPr>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5" name="Oval 21">
              <a:extLst>
                <a:ext uri="{FF2B5EF4-FFF2-40B4-BE49-F238E27FC236}">
                  <a16:creationId xmlns:a16="http://schemas.microsoft.com/office/drawing/2014/main" id="{8510DA92-2DD5-128C-3230-3F93FEABF5E1}"/>
                </a:ext>
              </a:extLst>
            </p:cNvPr>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6" name="Oval 22">
              <a:extLst>
                <a:ext uri="{FF2B5EF4-FFF2-40B4-BE49-F238E27FC236}">
                  <a16:creationId xmlns:a16="http://schemas.microsoft.com/office/drawing/2014/main" id="{68EB6714-0D53-2F14-B237-6D572771F55A}"/>
                </a:ext>
              </a:extLst>
            </p:cNvPr>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7" name="Oval 23">
              <a:extLst>
                <a:ext uri="{FF2B5EF4-FFF2-40B4-BE49-F238E27FC236}">
                  <a16:creationId xmlns:a16="http://schemas.microsoft.com/office/drawing/2014/main" id="{2B887028-4EEA-1A10-F978-09775C032E87}"/>
                </a:ext>
              </a:extLst>
            </p:cNvPr>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8" name="Oval 24">
              <a:extLst>
                <a:ext uri="{FF2B5EF4-FFF2-40B4-BE49-F238E27FC236}">
                  <a16:creationId xmlns:a16="http://schemas.microsoft.com/office/drawing/2014/main" id="{A49D1F14-C9FD-45E8-40A3-9D6C0D65B3B2}"/>
                </a:ext>
              </a:extLst>
            </p:cNvPr>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49" name="Oval 25">
              <a:extLst>
                <a:ext uri="{FF2B5EF4-FFF2-40B4-BE49-F238E27FC236}">
                  <a16:creationId xmlns:a16="http://schemas.microsoft.com/office/drawing/2014/main" id="{20FAC964-E8E5-CB99-C06B-335CF4632498}"/>
                </a:ext>
              </a:extLst>
            </p:cNvPr>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0" name="Oval 26">
              <a:extLst>
                <a:ext uri="{FF2B5EF4-FFF2-40B4-BE49-F238E27FC236}">
                  <a16:creationId xmlns:a16="http://schemas.microsoft.com/office/drawing/2014/main" id="{A7336C3E-E0E0-30ED-F6E9-E1B2BB1ACC8C}"/>
                </a:ext>
              </a:extLst>
            </p:cNvPr>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1" name="Oval 27">
              <a:extLst>
                <a:ext uri="{FF2B5EF4-FFF2-40B4-BE49-F238E27FC236}">
                  <a16:creationId xmlns:a16="http://schemas.microsoft.com/office/drawing/2014/main" id="{E4607C36-538B-2B55-8216-EF8B56896DA3}"/>
                </a:ext>
              </a:extLst>
            </p:cNvPr>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2" name="Oval 28">
              <a:extLst>
                <a:ext uri="{FF2B5EF4-FFF2-40B4-BE49-F238E27FC236}">
                  <a16:creationId xmlns:a16="http://schemas.microsoft.com/office/drawing/2014/main" id="{D4B0851A-7DFB-C3AB-CC43-9608230DDDD0}"/>
                </a:ext>
              </a:extLst>
            </p:cNvPr>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3" name="Oval 29">
              <a:extLst>
                <a:ext uri="{FF2B5EF4-FFF2-40B4-BE49-F238E27FC236}">
                  <a16:creationId xmlns:a16="http://schemas.microsoft.com/office/drawing/2014/main" id="{A316640B-C0E2-4E30-5CC9-9EB64BE2CC59}"/>
                </a:ext>
              </a:extLst>
            </p:cNvPr>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4" name="Oval 30">
              <a:extLst>
                <a:ext uri="{FF2B5EF4-FFF2-40B4-BE49-F238E27FC236}">
                  <a16:creationId xmlns:a16="http://schemas.microsoft.com/office/drawing/2014/main" id="{D871D86B-3D0E-F557-F4B2-E61407DAF936}"/>
                </a:ext>
              </a:extLst>
            </p:cNvPr>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5" name="Oval 31">
              <a:extLst>
                <a:ext uri="{FF2B5EF4-FFF2-40B4-BE49-F238E27FC236}">
                  <a16:creationId xmlns:a16="http://schemas.microsoft.com/office/drawing/2014/main" id="{0468CC18-4202-2144-1A32-2C16B6D5F1F8}"/>
                </a:ext>
              </a:extLst>
            </p:cNvPr>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6" name="Oval 32">
              <a:extLst>
                <a:ext uri="{FF2B5EF4-FFF2-40B4-BE49-F238E27FC236}">
                  <a16:creationId xmlns:a16="http://schemas.microsoft.com/office/drawing/2014/main" id="{4A9C6F3F-C0D4-7D1C-BAEF-68E2D0A15923}"/>
                </a:ext>
              </a:extLst>
            </p:cNvPr>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7" name="Oval 33">
              <a:extLst>
                <a:ext uri="{FF2B5EF4-FFF2-40B4-BE49-F238E27FC236}">
                  <a16:creationId xmlns:a16="http://schemas.microsoft.com/office/drawing/2014/main" id="{CBCEAA36-1E86-BDD3-8282-45552DABA5FC}"/>
                </a:ext>
              </a:extLst>
            </p:cNvPr>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8" name="Oval 34">
              <a:extLst>
                <a:ext uri="{FF2B5EF4-FFF2-40B4-BE49-F238E27FC236}">
                  <a16:creationId xmlns:a16="http://schemas.microsoft.com/office/drawing/2014/main" id="{04661C66-93E4-95B0-F957-2D529057FF48}"/>
                </a:ext>
              </a:extLst>
            </p:cNvPr>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59" name="Oval 35">
              <a:extLst>
                <a:ext uri="{FF2B5EF4-FFF2-40B4-BE49-F238E27FC236}">
                  <a16:creationId xmlns:a16="http://schemas.microsoft.com/office/drawing/2014/main" id="{9DD3EDD9-1808-5409-DCE5-55B673781514}"/>
                </a:ext>
              </a:extLst>
            </p:cNvPr>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60" name="Oval 36">
              <a:extLst>
                <a:ext uri="{FF2B5EF4-FFF2-40B4-BE49-F238E27FC236}">
                  <a16:creationId xmlns:a16="http://schemas.microsoft.com/office/drawing/2014/main" id="{3D66EC07-FC89-B0AC-3F3D-C30F7001B01F}"/>
                </a:ext>
              </a:extLst>
            </p:cNvPr>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61" name="Oval 37">
              <a:extLst>
                <a:ext uri="{FF2B5EF4-FFF2-40B4-BE49-F238E27FC236}">
                  <a16:creationId xmlns:a16="http://schemas.microsoft.com/office/drawing/2014/main" id="{4854839C-2F5B-A580-A86E-BC66CEDA6C19}"/>
                </a:ext>
              </a:extLst>
            </p:cNvPr>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62" name="Oval 38">
              <a:extLst>
                <a:ext uri="{FF2B5EF4-FFF2-40B4-BE49-F238E27FC236}">
                  <a16:creationId xmlns:a16="http://schemas.microsoft.com/office/drawing/2014/main" id="{DF4FC498-B6B6-B2E7-28C0-6B34C86FAE0F}"/>
                </a:ext>
              </a:extLst>
            </p:cNvPr>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sp>
          <p:nvSpPr>
            <p:cNvPr id="1063" name="Oval 39">
              <a:extLst>
                <a:ext uri="{FF2B5EF4-FFF2-40B4-BE49-F238E27FC236}">
                  <a16:creationId xmlns:a16="http://schemas.microsoft.com/office/drawing/2014/main" id="{36C4E7E4-877C-4FD9-7B9B-C34C98D63923}"/>
                </a:ext>
              </a:extLst>
            </p:cNvPr>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endParaRPr lang="en-US" altLang="en-US"/>
            </a:p>
          </p:txBody>
        </p:sp>
      </p:grpSp>
    </p:spTree>
  </p:cSld>
  <p:clrMap bg1="lt1" tx1="dk1" bg2="lt2" tx2="dk2" accent1="accent1" accent2="accent2" accent3="accent3" accent4="accent4" accent5="accent5" accent6="accent6" hlink="hlink" folHlink="folHlink"/>
  <p:sldLayoutIdLst>
    <p:sldLayoutId id="2147483973" r:id="rId1"/>
    <p:sldLayoutId id="2147483958" r:id="rId2"/>
    <p:sldLayoutId id="2147483959" r:id="rId3"/>
    <p:sldLayoutId id="2147483960" r:id="rId4"/>
    <p:sldLayoutId id="2147483961" r:id="rId5"/>
    <p:sldLayoutId id="2147483962" r:id="rId6"/>
    <p:sldLayoutId id="2147483963" r:id="rId7"/>
    <p:sldLayoutId id="2147483964" r:id="rId8"/>
    <p:sldLayoutId id="2147483965" r:id="rId9"/>
    <p:sldLayoutId id="2147483966" r:id="rId10"/>
    <p:sldLayoutId id="2147483967" r:id="rId11"/>
    <p:sldLayoutId id="2147483968" r:id="rId12"/>
    <p:sldLayoutId id="2147483969" r:id="rId13"/>
    <p:sldLayoutId id="2147483970" r:id="rId14"/>
    <p:sldLayoutId id="2147483971" r:id="rId15"/>
    <p:sldLayoutId id="2147483972" r:id="rId16"/>
  </p:sldLayoutIdLst>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cs typeface="Arial" charset="0"/>
        </a:defRPr>
      </a:lvl2pPr>
      <a:lvl3pPr algn="l" rtl="0" eaLnBrk="0" fontAlgn="base" hangingPunct="0">
        <a:spcBef>
          <a:spcPct val="0"/>
        </a:spcBef>
        <a:spcAft>
          <a:spcPct val="0"/>
        </a:spcAft>
        <a:defRPr sz="3900" b="1">
          <a:solidFill>
            <a:schemeClr val="tx2"/>
          </a:solidFill>
          <a:latin typeface="Arial" charset="0"/>
          <a:cs typeface="Arial" charset="0"/>
        </a:defRPr>
      </a:lvl3pPr>
      <a:lvl4pPr algn="l" rtl="0" eaLnBrk="0" fontAlgn="base" hangingPunct="0">
        <a:spcBef>
          <a:spcPct val="0"/>
        </a:spcBef>
        <a:spcAft>
          <a:spcPct val="0"/>
        </a:spcAft>
        <a:defRPr sz="3900" b="1">
          <a:solidFill>
            <a:schemeClr val="tx2"/>
          </a:solidFill>
          <a:latin typeface="Arial" charset="0"/>
          <a:cs typeface="Arial" charset="0"/>
        </a:defRPr>
      </a:lvl4pPr>
      <a:lvl5pPr algn="l" rtl="0" eaLnBrk="0" fontAlgn="base" hangingPunct="0">
        <a:spcBef>
          <a:spcPct val="0"/>
        </a:spcBef>
        <a:spcAft>
          <a:spcPct val="0"/>
        </a:spcAft>
        <a:defRPr sz="3900" b="1">
          <a:solidFill>
            <a:schemeClr val="tx2"/>
          </a:solidFill>
          <a:latin typeface="Arial" charset="0"/>
          <a:cs typeface="Arial" charset="0"/>
        </a:defRPr>
      </a:lvl5pPr>
      <a:lvl6pPr marL="457200" algn="l" rtl="0" fontAlgn="base">
        <a:spcBef>
          <a:spcPct val="0"/>
        </a:spcBef>
        <a:spcAft>
          <a:spcPct val="0"/>
        </a:spcAft>
        <a:defRPr sz="3900" b="1">
          <a:solidFill>
            <a:schemeClr val="tx2"/>
          </a:solidFill>
          <a:latin typeface="Arial" charset="0"/>
          <a:cs typeface="Arial" charset="0"/>
        </a:defRPr>
      </a:lvl6pPr>
      <a:lvl7pPr marL="914400" algn="l" rtl="0" fontAlgn="base">
        <a:spcBef>
          <a:spcPct val="0"/>
        </a:spcBef>
        <a:spcAft>
          <a:spcPct val="0"/>
        </a:spcAft>
        <a:defRPr sz="3900" b="1">
          <a:solidFill>
            <a:schemeClr val="tx2"/>
          </a:solidFill>
          <a:latin typeface="Arial" charset="0"/>
          <a:cs typeface="Arial" charset="0"/>
        </a:defRPr>
      </a:lvl7pPr>
      <a:lvl8pPr marL="1371600" algn="l" rtl="0" fontAlgn="base">
        <a:spcBef>
          <a:spcPct val="0"/>
        </a:spcBef>
        <a:spcAft>
          <a:spcPct val="0"/>
        </a:spcAft>
        <a:defRPr sz="3900" b="1">
          <a:solidFill>
            <a:schemeClr val="tx2"/>
          </a:solidFill>
          <a:latin typeface="Arial" charset="0"/>
          <a:cs typeface="Arial" charset="0"/>
        </a:defRPr>
      </a:lvl8pPr>
      <a:lvl9pPr marL="1828800" algn="l" rtl="0" fontAlgn="base">
        <a:spcBef>
          <a:spcPct val="0"/>
        </a:spcBef>
        <a:spcAft>
          <a:spcPct val="0"/>
        </a:spcAft>
        <a:defRPr sz="3900" b="1">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cs typeface="+mn-cs"/>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cs typeface="+mn-cs"/>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cs typeface="+mn-cs"/>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37.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5.xml"/><Relationship Id="rId1" Type="http://schemas.openxmlformats.org/officeDocument/2006/relationships/slideLayout" Target="../slideLayouts/slideLayout14.xml"/><Relationship Id="rId4" Type="http://schemas.openxmlformats.org/officeDocument/2006/relationships/image" Target="../media/image39.jpeg"/></Relationships>
</file>

<file path=ppt/slides/_rels/slide5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8.xml"/><Relationship Id="rId1" Type="http://schemas.openxmlformats.org/officeDocument/2006/relationships/slideLayout" Target="../slideLayouts/slideLayout6.xml"/><Relationship Id="rId4" Type="http://schemas.openxmlformats.org/officeDocument/2006/relationships/image" Target="../media/image43.jpeg"/></Relationships>
</file>

<file path=ppt/slides/_rels/slide6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DA8E0FD4-39E3-8B14-C64D-7377AEA01B94}"/>
              </a:ext>
            </a:extLst>
          </p:cNvPr>
          <p:cNvSpPr>
            <a:spLocks noGrp="1" noChangeArrowheads="1"/>
          </p:cNvSpPr>
          <p:nvPr>
            <p:ph type="ctrTitle"/>
          </p:nvPr>
        </p:nvSpPr>
        <p:spPr/>
        <p:txBody>
          <a:bodyPr/>
          <a:lstStyle/>
          <a:p>
            <a:pPr algn="l" eaLnBrk="1" hangingPunct="1"/>
            <a:r>
              <a:rPr lang="en-US" altLang="en-US">
                <a:solidFill>
                  <a:srgbClr val="0000FF"/>
                </a:solidFill>
              </a:rPr>
              <a:t>DNA Structure + RNA structure</a:t>
            </a:r>
            <a:endParaRPr lang="en-GB" altLang="en-US">
              <a:solidFill>
                <a:srgbClr val="0000FF"/>
              </a:solidFill>
            </a:endParaRPr>
          </a:p>
        </p:txBody>
      </p:sp>
      <p:sp>
        <p:nvSpPr>
          <p:cNvPr id="5123" name="Rectangle 3">
            <a:extLst>
              <a:ext uri="{FF2B5EF4-FFF2-40B4-BE49-F238E27FC236}">
                <a16:creationId xmlns:a16="http://schemas.microsoft.com/office/drawing/2014/main" id="{A3696992-83E3-7BD7-080F-04DE21CAD26F}"/>
              </a:ext>
            </a:extLst>
          </p:cNvPr>
          <p:cNvSpPr>
            <a:spLocks noGrp="1" noChangeArrowheads="1"/>
          </p:cNvSpPr>
          <p:nvPr>
            <p:ph type="subTitle" idx="1"/>
          </p:nvPr>
        </p:nvSpPr>
        <p:spPr/>
        <p:txBody>
          <a:bodyPr/>
          <a:lstStyle/>
          <a:p>
            <a:pPr algn="l" eaLnBrk="1" hangingPunct="1"/>
            <a:r>
              <a:rPr lang="en-US" altLang="en-US"/>
              <a:t>BT 451</a:t>
            </a:r>
          </a:p>
          <a:p>
            <a:pPr algn="l" eaLnBrk="1" hangingPunct="1"/>
            <a:r>
              <a:rPr lang="en-US" altLang="en-US"/>
              <a:t>Chapter 4 and Chapter 5</a:t>
            </a:r>
          </a:p>
        </p:txBody>
      </p:sp>
      <p:pic>
        <p:nvPicPr>
          <p:cNvPr id="5124" name="Picture 8" descr="04_00Figure-L">
            <a:extLst>
              <a:ext uri="{FF2B5EF4-FFF2-40B4-BE49-F238E27FC236}">
                <a16:creationId xmlns:a16="http://schemas.microsoft.com/office/drawing/2014/main" id="{41F773F0-C6C4-41A2-059C-1A8B63B14B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245"/>
          <a:stretch>
            <a:fillRect/>
          </a:stretch>
        </p:blipFill>
        <p:spPr bwMode="auto">
          <a:xfrm>
            <a:off x="5795963" y="2852738"/>
            <a:ext cx="310515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5">
            <a:extLst>
              <a:ext uri="{FF2B5EF4-FFF2-40B4-BE49-F238E27FC236}">
                <a16:creationId xmlns:a16="http://schemas.microsoft.com/office/drawing/2014/main" id="{96503C6E-547F-0998-C4B8-1FC7892C574D}"/>
              </a:ext>
            </a:extLst>
          </p:cNvPr>
          <p:cNvSpPr>
            <a:spLocks noGrp="1" noChangeArrowheads="1"/>
          </p:cNvSpPr>
          <p:nvPr>
            <p:ph type="title"/>
          </p:nvPr>
        </p:nvSpPr>
        <p:spPr>
          <a:xfrm>
            <a:off x="1042988" y="115888"/>
            <a:ext cx="5772150" cy="869950"/>
          </a:xfrm>
        </p:spPr>
        <p:txBody>
          <a:bodyPr/>
          <a:lstStyle/>
          <a:p>
            <a:pPr eaLnBrk="1" hangingPunct="1"/>
            <a:r>
              <a:rPr lang="en-US" altLang="en-US" u="sng">
                <a:solidFill>
                  <a:srgbClr val="0000FF"/>
                </a:solidFill>
              </a:rPr>
              <a:t>DNA a double helix</a:t>
            </a:r>
            <a:endParaRPr lang="en-GB" altLang="en-US" u="sng">
              <a:solidFill>
                <a:srgbClr val="0000FF"/>
              </a:solidFill>
            </a:endParaRPr>
          </a:p>
        </p:txBody>
      </p:sp>
      <p:sp>
        <p:nvSpPr>
          <p:cNvPr id="7171" name="Rectangle 6">
            <a:extLst>
              <a:ext uri="{FF2B5EF4-FFF2-40B4-BE49-F238E27FC236}">
                <a16:creationId xmlns:a16="http://schemas.microsoft.com/office/drawing/2014/main" id="{E93091DC-6B21-7750-A226-6298602765C4}"/>
              </a:ext>
            </a:extLst>
          </p:cNvPr>
          <p:cNvSpPr>
            <a:spLocks noGrp="1" noChangeArrowheads="1"/>
          </p:cNvSpPr>
          <p:nvPr>
            <p:ph type="body" sz="half" idx="1"/>
          </p:nvPr>
        </p:nvSpPr>
        <p:spPr>
          <a:xfrm>
            <a:off x="457200" y="1719263"/>
            <a:ext cx="3394075" cy="4411662"/>
          </a:xfrm>
        </p:spPr>
        <p:txBody>
          <a:bodyPr/>
          <a:lstStyle/>
          <a:p>
            <a:pPr eaLnBrk="1" hangingPunct="1"/>
            <a:r>
              <a:rPr lang="en-US" altLang="en-US" sz="2600"/>
              <a:t>Back bone</a:t>
            </a:r>
          </a:p>
          <a:p>
            <a:pPr lvl="1" eaLnBrk="1" hangingPunct="1"/>
            <a:r>
              <a:rPr lang="en-US" altLang="en-US" sz="2200"/>
              <a:t>Sugar</a:t>
            </a:r>
          </a:p>
          <a:p>
            <a:pPr lvl="1" eaLnBrk="1" hangingPunct="1"/>
            <a:r>
              <a:rPr lang="en-US" altLang="en-US" sz="2200"/>
              <a:t>Phosphate</a:t>
            </a:r>
          </a:p>
          <a:p>
            <a:pPr lvl="1" eaLnBrk="1" hangingPunct="1"/>
            <a:endParaRPr lang="en-US" altLang="en-US" sz="2200"/>
          </a:p>
          <a:p>
            <a:pPr eaLnBrk="1" hangingPunct="1"/>
            <a:r>
              <a:rPr lang="en-US" altLang="en-US" sz="2600"/>
              <a:t>Bases</a:t>
            </a:r>
          </a:p>
          <a:p>
            <a:pPr lvl="1" eaLnBrk="1" hangingPunct="1"/>
            <a:r>
              <a:rPr lang="en-US" altLang="en-US" sz="2200"/>
              <a:t>Purine</a:t>
            </a:r>
          </a:p>
          <a:p>
            <a:pPr lvl="1" eaLnBrk="1" hangingPunct="1"/>
            <a:r>
              <a:rPr lang="en-US" altLang="en-US" sz="2200"/>
              <a:t>Pyramidine</a:t>
            </a:r>
          </a:p>
          <a:p>
            <a:pPr lvl="1" eaLnBrk="1" hangingPunct="1"/>
            <a:endParaRPr lang="en-US" altLang="en-US" sz="2200"/>
          </a:p>
          <a:p>
            <a:pPr eaLnBrk="1" hangingPunct="1"/>
            <a:r>
              <a:rPr lang="en-US" altLang="en-US" sz="2600"/>
              <a:t>Major &amp; minor grooves</a:t>
            </a:r>
            <a:endParaRPr lang="en-GB" altLang="en-US" sz="2600"/>
          </a:p>
        </p:txBody>
      </p:sp>
      <p:sp>
        <p:nvSpPr>
          <p:cNvPr id="7172" name="Rectangle 7">
            <a:extLst>
              <a:ext uri="{FF2B5EF4-FFF2-40B4-BE49-F238E27FC236}">
                <a16:creationId xmlns:a16="http://schemas.microsoft.com/office/drawing/2014/main" id="{D84C9D1C-6294-C30E-E364-3AC005C8D967}"/>
              </a:ext>
            </a:extLst>
          </p:cNvPr>
          <p:cNvSpPr>
            <a:spLocks noGrp="1" noChangeArrowheads="1"/>
          </p:cNvSpPr>
          <p:nvPr>
            <p:ph sz="half" idx="2"/>
          </p:nvPr>
        </p:nvSpPr>
        <p:spPr/>
        <p:txBody>
          <a:bodyPr/>
          <a:lstStyle/>
          <a:p>
            <a:pPr eaLnBrk="1" hangingPunct="1"/>
            <a:endParaRPr lang="en-US" altLang="en-US" sz="2600"/>
          </a:p>
        </p:txBody>
      </p:sp>
      <p:pic>
        <p:nvPicPr>
          <p:cNvPr id="7173" name="Picture 4" descr="02-07">
            <a:extLst>
              <a:ext uri="{FF2B5EF4-FFF2-40B4-BE49-F238E27FC236}">
                <a16:creationId xmlns:a16="http://schemas.microsoft.com/office/drawing/2014/main" id="{6B34181E-C533-F49B-D023-CA8CBFEB61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2153"/>
          <a:stretch>
            <a:fillRect/>
          </a:stretch>
        </p:blipFill>
        <p:spPr bwMode="auto">
          <a:xfrm>
            <a:off x="3492500" y="1484313"/>
            <a:ext cx="5280025" cy="465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1E4C5243-3117-E281-2763-C1774935E577}"/>
              </a:ext>
            </a:extLst>
          </p:cNvPr>
          <p:cNvSpPr>
            <a:spLocks noGrp="1" noChangeArrowheads="1"/>
          </p:cNvSpPr>
          <p:nvPr>
            <p:ph type="title"/>
          </p:nvPr>
        </p:nvSpPr>
        <p:spPr>
          <a:xfrm>
            <a:off x="395288" y="333375"/>
            <a:ext cx="5905500" cy="796925"/>
          </a:xfrm>
        </p:spPr>
        <p:txBody>
          <a:bodyPr/>
          <a:lstStyle/>
          <a:p>
            <a:pPr eaLnBrk="1" hangingPunct="1"/>
            <a:r>
              <a:rPr lang="en-GB" altLang="en-US">
                <a:solidFill>
                  <a:srgbClr val="0000FF"/>
                </a:solidFill>
              </a:rPr>
              <a:t>Building the Nucleotide</a:t>
            </a:r>
          </a:p>
        </p:txBody>
      </p:sp>
      <p:pic>
        <p:nvPicPr>
          <p:cNvPr id="9219" name="Picture 4">
            <a:extLst>
              <a:ext uri="{FF2B5EF4-FFF2-40B4-BE49-F238E27FC236}">
                <a16:creationId xmlns:a16="http://schemas.microsoft.com/office/drawing/2014/main" id="{EE8255EF-DC45-1AD6-8DEE-BAE5FECEF5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341438"/>
            <a:ext cx="6327775" cy="536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2488CDC-CB84-3555-9D6A-30FF4070EB47}"/>
              </a:ext>
            </a:extLst>
          </p:cNvPr>
          <p:cNvSpPr>
            <a:spLocks noGrp="1" noChangeArrowheads="1"/>
          </p:cNvSpPr>
          <p:nvPr>
            <p:ph type="title" idx="4294967295"/>
          </p:nvPr>
        </p:nvSpPr>
        <p:spPr>
          <a:xfrm>
            <a:off x="179388" y="260350"/>
            <a:ext cx="3671887" cy="1295400"/>
          </a:xfrm>
        </p:spPr>
        <p:txBody>
          <a:bodyPr/>
          <a:lstStyle/>
          <a:p>
            <a:pPr eaLnBrk="1" hangingPunct="1"/>
            <a:r>
              <a:rPr lang="en-US" altLang="en-US">
                <a:solidFill>
                  <a:srgbClr val="0000FF"/>
                </a:solidFill>
              </a:rPr>
              <a:t>Building blocks of DNA</a:t>
            </a:r>
            <a:endParaRPr lang="en-GB" altLang="en-US">
              <a:solidFill>
                <a:srgbClr val="0000FF"/>
              </a:solidFill>
            </a:endParaRPr>
          </a:p>
        </p:txBody>
      </p:sp>
      <p:pic>
        <p:nvPicPr>
          <p:cNvPr id="11267" name="Picture 6">
            <a:extLst>
              <a:ext uri="{FF2B5EF4-FFF2-40B4-BE49-F238E27FC236}">
                <a16:creationId xmlns:a16="http://schemas.microsoft.com/office/drawing/2014/main" id="{F9FA2500-5130-4C1D-36AA-76FA6E74EF87}"/>
              </a:ext>
            </a:extLst>
          </p:cNvPr>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3665538" y="115888"/>
            <a:ext cx="5370512" cy="6308725"/>
          </a:xfrm>
        </p:spPr>
      </p:pic>
      <p:sp>
        <p:nvSpPr>
          <p:cNvPr id="11268" name="Rectangle 8">
            <a:extLst>
              <a:ext uri="{FF2B5EF4-FFF2-40B4-BE49-F238E27FC236}">
                <a16:creationId xmlns:a16="http://schemas.microsoft.com/office/drawing/2014/main" id="{2E4C5978-FE70-3B75-60BD-E897B93D78BF}"/>
              </a:ext>
            </a:extLst>
          </p:cNvPr>
          <p:cNvSpPr>
            <a:spLocks noChangeArrowheads="1"/>
          </p:cNvSpPr>
          <p:nvPr/>
        </p:nvSpPr>
        <p:spPr bwMode="auto">
          <a:xfrm>
            <a:off x="8027988" y="4581525"/>
            <a:ext cx="1116012" cy="1428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8E1C3DD3-ACD3-007A-F9EE-8A57D8A2AC61}"/>
              </a:ext>
            </a:extLst>
          </p:cNvPr>
          <p:cNvSpPr>
            <a:spLocks noGrp="1" noChangeArrowheads="1"/>
          </p:cNvSpPr>
          <p:nvPr>
            <p:ph type="title"/>
          </p:nvPr>
        </p:nvSpPr>
        <p:spPr>
          <a:xfrm>
            <a:off x="0" y="188913"/>
            <a:ext cx="5267325" cy="819150"/>
          </a:xfrm>
        </p:spPr>
        <p:txBody>
          <a:bodyPr/>
          <a:lstStyle/>
          <a:p>
            <a:pPr marL="742950" indent="-742950" eaLnBrk="1" hangingPunct="1">
              <a:buFontTx/>
              <a:buAutoNum type="arabicPeriod"/>
            </a:pPr>
            <a:r>
              <a:rPr lang="en-US" altLang="en-US" sz="3100">
                <a:solidFill>
                  <a:srgbClr val="0000FF"/>
                </a:solidFill>
              </a:rPr>
              <a:t>5́ </a:t>
            </a:r>
            <a:r>
              <a:rPr lang="en-US" altLang="en-US" sz="3100">
                <a:solidFill>
                  <a:srgbClr val="0000FF"/>
                </a:solidFill>
                <a:sym typeface="Symbol" pitchFamily="2" charset="2"/>
              </a:rPr>
              <a:t></a:t>
            </a:r>
            <a:r>
              <a:rPr lang="en-US" altLang="en-US" sz="3100">
                <a:solidFill>
                  <a:srgbClr val="0000FF"/>
                </a:solidFill>
              </a:rPr>
              <a:t> 3́ </a:t>
            </a:r>
            <a:r>
              <a:rPr lang="en-US" altLang="en-US" sz="3500">
                <a:solidFill>
                  <a:srgbClr val="0000FF"/>
                </a:solidFill>
              </a:rPr>
              <a:t>directionality</a:t>
            </a:r>
            <a:endParaRPr lang="en-GB" altLang="en-US">
              <a:solidFill>
                <a:srgbClr val="0000FF"/>
              </a:solidFill>
            </a:endParaRPr>
          </a:p>
        </p:txBody>
      </p:sp>
      <p:pic>
        <p:nvPicPr>
          <p:cNvPr id="13315" name="Picture 12">
            <a:extLst>
              <a:ext uri="{FF2B5EF4-FFF2-40B4-BE49-F238E27FC236}">
                <a16:creationId xmlns:a16="http://schemas.microsoft.com/office/drawing/2014/main" id="{BE67014C-6D73-A7E5-7D0E-0A1EB38F3C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255" r="3925"/>
          <a:stretch>
            <a:fillRect/>
          </a:stretch>
        </p:blipFill>
        <p:spPr bwMode="auto">
          <a:xfrm>
            <a:off x="4751388" y="0"/>
            <a:ext cx="4392612" cy="667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Line 13">
            <a:extLst>
              <a:ext uri="{FF2B5EF4-FFF2-40B4-BE49-F238E27FC236}">
                <a16:creationId xmlns:a16="http://schemas.microsoft.com/office/drawing/2014/main" id="{0BD32F6D-78EB-7159-F89F-7B8FF21A1209}"/>
              </a:ext>
            </a:extLst>
          </p:cNvPr>
          <p:cNvSpPr>
            <a:spLocks noChangeShapeType="1"/>
          </p:cNvSpPr>
          <p:nvPr/>
        </p:nvSpPr>
        <p:spPr bwMode="auto">
          <a:xfrm flipV="1">
            <a:off x="4643438" y="1773238"/>
            <a:ext cx="0" cy="4103687"/>
          </a:xfrm>
          <a:prstGeom prst="line">
            <a:avLst/>
          </a:prstGeom>
          <a:noFill/>
          <a:ln w="5715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en-US"/>
          </a:p>
        </p:txBody>
      </p:sp>
      <p:sp>
        <p:nvSpPr>
          <p:cNvPr id="13317" name="TextBox 6">
            <a:extLst>
              <a:ext uri="{FF2B5EF4-FFF2-40B4-BE49-F238E27FC236}">
                <a16:creationId xmlns:a16="http://schemas.microsoft.com/office/drawing/2014/main" id="{F03583D1-C3F6-21F6-3F0C-19F868B3D120}"/>
              </a:ext>
            </a:extLst>
          </p:cNvPr>
          <p:cNvSpPr txBox="1">
            <a:spLocks noChangeArrowheads="1"/>
          </p:cNvSpPr>
          <p:nvPr/>
        </p:nvSpPr>
        <p:spPr bwMode="auto">
          <a:xfrm>
            <a:off x="395288" y="2205038"/>
            <a:ext cx="39544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Polarity is defined by the asymmetry </a:t>
            </a:r>
          </a:p>
          <a:p>
            <a:pPr eaLnBrk="1" hangingPunct="1">
              <a:spcBef>
                <a:spcPct val="0"/>
              </a:spcBef>
              <a:buClrTx/>
              <a:buSzTx/>
              <a:buFontTx/>
              <a:buNone/>
            </a:pPr>
            <a:r>
              <a:rPr lang="en-US" altLang="en-US" sz="1800"/>
              <a:t>of the nucleotides and the way they </a:t>
            </a:r>
          </a:p>
          <a:p>
            <a:pPr eaLnBrk="1" hangingPunct="1">
              <a:spcBef>
                <a:spcPct val="0"/>
              </a:spcBef>
              <a:buClrTx/>
              <a:buSzTx/>
              <a:buFontTx/>
              <a:buNone/>
            </a:pPr>
            <a:r>
              <a:rPr lang="en-US" altLang="en-US" sz="1800"/>
              <a:t>are joined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A4E765D-F10F-4AEF-EB49-F2912B4CDAB2}"/>
              </a:ext>
            </a:extLst>
          </p:cNvPr>
          <p:cNvSpPr>
            <a:spLocks noGrp="1" noChangeArrowheads="1"/>
          </p:cNvSpPr>
          <p:nvPr>
            <p:ph type="title"/>
          </p:nvPr>
        </p:nvSpPr>
        <p:spPr>
          <a:xfrm>
            <a:off x="250825" y="0"/>
            <a:ext cx="5340350" cy="652463"/>
          </a:xfrm>
        </p:spPr>
        <p:txBody>
          <a:bodyPr/>
          <a:lstStyle/>
          <a:p>
            <a:pPr marL="742950" indent="-742950" eaLnBrk="1" hangingPunct="1">
              <a:buFontTx/>
              <a:buAutoNum type="arabicPeriod" startAt="2"/>
            </a:pPr>
            <a:r>
              <a:rPr lang="en-US" altLang="en-US">
                <a:solidFill>
                  <a:srgbClr val="0000FF"/>
                </a:solidFill>
              </a:rPr>
              <a:t>Base Tautomers</a:t>
            </a:r>
            <a:endParaRPr lang="en-GB" altLang="en-US">
              <a:solidFill>
                <a:srgbClr val="0000FF"/>
              </a:solidFill>
            </a:endParaRPr>
          </a:p>
        </p:txBody>
      </p:sp>
      <p:sp>
        <p:nvSpPr>
          <p:cNvPr id="15363" name="Rectangle 3">
            <a:extLst>
              <a:ext uri="{FF2B5EF4-FFF2-40B4-BE49-F238E27FC236}">
                <a16:creationId xmlns:a16="http://schemas.microsoft.com/office/drawing/2014/main" id="{5BA92627-769C-401E-302E-CA876144C5AD}"/>
              </a:ext>
            </a:extLst>
          </p:cNvPr>
          <p:cNvSpPr>
            <a:spLocks noGrp="1" noChangeArrowheads="1"/>
          </p:cNvSpPr>
          <p:nvPr>
            <p:ph type="body" idx="1"/>
          </p:nvPr>
        </p:nvSpPr>
        <p:spPr>
          <a:xfrm>
            <a:off x="720725" y="782638"/>
            <a:ext cx="4356100" cy="2286000"/>
          </a:xfrm>
        </p:spPr>
        <p:txBody>
          <a:bodyPr/>
          <a:lstStyle/>
          <a:p>
            <a:pPr eaLnBrk="1" hangingPunct="1"/>
            <a:r>
              <a:rPr lang="en-US" altLang="en-US" sz="2600"/>
              <a:t>Two classes of bases</a:t>
            </a:r>
          </a:p>
          <a:p>
            <a:pPr eaLnBrk="1" hangingPunct="1"/>
            <a:r>
              <a:rPr lang="en-US" altLang="en-US" sz="2600"/>
              <a:t>Preferred tautomeric form</a:t>
            </a:r>
          </a:p>
          <a:p>
            <a:pPr eaLnBrk="1" hangingPunct="1"/>
            <a:r>
              <a:rPr lang="en-US" altLang="en-US" sz="2600"/>
              <a:t>Changing configuration is a source of error during DNA synthesis</a:t>
            </a:r>
            <a:endParaRPr lang="en-GB" altLang="en-US" sz="2600"/>
          </a:p>
        </p:txBody>
      </p:sp>
      <p:pic>
        <p:nvPicPr>
          <p:cNvPr id="25604" name="Picture 4">
            <a:extLst>
              <a:ext uri="{FF2B5EF4-FFF2-40B4-BE49-F238E27FC236}">
                <a16:creationId xmlns:a16="http://schemas.microsoft.com/office/drawing/2014/main" id="{C659AF1F-36AB-639D-35F3-A0FD4C35D0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2600325"/>
            <a:ext cx="3768725" cy="399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5">
            <a:extLst>
              <a:ext uri="{FF2B5EF4-FFF2-40B4-BE49-F238E27FC236}">
                <a16:creationId xmlns:a16="http://schemas.microsoft.com/office/drawing/2014/main" id="{F79AB96E-F067-EDDC-6641-236CC6C03F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44176"/>
          <a:stretch>
            <a:fillRect/>
          </a:stretch>
        </p:blipFill>
        <p:spPr bwMode="auto">
          <a:xfrm>
            <a:off x="142875" y="3292475"/>
            <a:ext cx="4716463" cy="344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25605"/>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56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464E825-A8CC-07F4-CB7F-9DA415D8F211}"/>
              </a:ext>
            </a:extLst>
          </p:cNvPr>
          <p:cNvSpPr>
            <a:spLocks noGrp="1" noChangeArrowheads="1"/>
          </p:cNvSpPr>
          <p:nvPr>
            <p:ph type="title"/>
          </p:nvPr>
        </p:nvSpPr>
        <p:spPr>
          <a:xfrm>
            <a:off x="0" y="115888"/>
            <a:ext cx="8686800" cy="1295400"/>
          </a:xfrm>
        </p:spPr>
        <p:txBody>
          <a:bodyPr/>
          <a:lstStyle/>
          <a:p>
            <a:pPr eaLnBrk="1" hangingPunct="1"/>
            <a:r>
              <a:rPr lang="en-US" altLang="en-US">
                <a:solidFill>
                  <a:srgbClr val="0000FF"/>
                </a:solidFill>
              </a:rPr>
              <a:t>Holding the two strands together</a:t>
            </a:r>
            <a:br>
              <a:rPr lang="en-US" altLang="en-US"/>
            </a:br>
            <a:endParaRPr lang="en-GB" altLang="en-US"/>
          </a:p>
        </p:txBody>
      </p:sp>
      <p:sp>
        <p:nvSpPr>
          <p:cNvPr id="9219" name="Rectangle 3">
            <a:extLst>
              <a:ext uri="{FF2B5EF4-FFF2-40B4-BE49-F238E27FC236}">
                <a16:creationId xmlns:a16="http://schemas.microsoft.com/office/drawing/2014/main" id="{5FB89A00-FAD2-C272-F159-0663B1E6548D}"/>
              </a:ext>
            </a:extLst>
          </p:cNvPr>
          <p:cNvSpPr>
            <a:spLocks noGrp="1" noChangeArrowheads="1"/>
          </p:cNvSpPr>
          <p:nvPr>
            <p:ph type="body" idx="1"/>
          </p:nvPr>
        </p:nvSpPr>
        <p:spPr>
          <a:xfrm>
            <a:off x="179388" y="1125538"/>
            <a:ext cx="4248150" cy="4843462"/>
          </a:xfrm>
        </p:spPr>
        <p:txBody>
          <a:bodyPr/>
          <a:lstStyle/>
          <a:p>
            <a:pPr eaLnBrk="1" hangingPunct="1">
              <a:defRPr/>
            </a:pPr>
            <a:r>
              <a:rPr lang="en-US" dirty="0"/>
              <a:t>Hydrogen bonding (fundamental to stability and specificity of base pairing) </a:t>
            </a:r>
          </a:p>
          <a:p>
            <a:pPr lvl="1" eaLnBrk="1" hangingPunct="1">
              <a:defRPr/>
            </a:pPr>
            <a:r>
              <a:rPr lang="en-US" dirty="0"/>
              <a:t>A</a:t>
            </a:r>
            <a:r>
              <a:rPr lang="en-US" dirty="0">
                <a:sym typeface="Symbol" pitchFamily="18" charset="2"/>
              </a:rPr>
              <a:t></a:t>
            </a:r>
            <a:r>
              <a:rPr lang="en-US" dirty="0"/>
              <a:t>T or G</a:t>
            </a:r>
            <a:r>
              <a:rPr lang="en-US" dirty="0">
                <a:sym typeface="Symbol" pitchFamily="18" charset="2"/>
              </a:rPr>
              <a:t></a:t>
            </a:r>
            <a:r>
              <a:rPr lang="en-US" dirty="0"/>
              <a:t>C </a:t>
            </a:r>
          </a:p>
          <a:p>
            <a:pPr lvl="1" eaLnBrk="1" hangingPunct="1">
              <a:defRPr/>
            </a:pPr>
            <a:endParaRPr lang="en-US" dirty="0"/>
          </a:p>
          <a:p>
            <a:pPr eaLnBrk="1" hangingPunct="1">
              <a:defRPr/>
            </a:pPr>
            <a:r>
              <a:rPr lang="en-US" dirty="0"/>
              <a:t>Hydrophobic bases &amp; hydrophilic backbone</a:t>
            </a:r>
          </a:p>
          <a:p>
            <a:pPr eaLnBrk="1" hangingPunct="1">
              <a:defRPr/>
            </a:pPr>
            <a:r>
              <a:rPr lang="en-US" dirty="0"/>
              <a:t>Base stacking</a:t>
            </a:r>
          </a:p>
          <a:p>
            <a:pPr marL="0" indent="0" eaLnBrk="1" hangingPunct="1">
              <a:buFont typeface="Wingdings" pitchFamily="2" charset="2"/>
              <a:buNone/>
              <a:defRPr/>
            </a:pPr>
            <a:r>
              <a:rPr lang="en-US" sz="1200" dirty="0"/>
              <a:t>(attractive, </a:t>
            </a:r>
            <a:r>
              <a:rPr lang="en-US" sz="1200" dirty="0" err="1"/>
              <a:t>noncovalent</a:t>
            </a:r>
            <a:r>
              <a:rPr lang="en-US" sz="1200" dirty="0"/>
              <a:t> interactions between aromatic rings)</a:t>
            </a:r>
          </a:p>
          <a:p>
            <a:pPr lvl="1" eaLnBrk="1" hangingPunct="1">
              <a:defRPr/>
            </a:pPr>
            <a:endParaRPr lang="en-GB" dirty="0"/>
          </a:p>
        </p:txBody>
      </p:sp>
      <p:pic>
        <p:nvPicPr>
          <p:cNvPr id="17412" name="Picture 4">
            <a:extLst>
              <a:ext uri="{FF2B5EF4-FFF2-40B4-BE49-F238E27FC236}">
                <a16:creationId xmlns:a16="http://schemas.microsoft.com/office/drawing/2014/main" id="{3A150813-3295-5EC2-1045-B52FCFB739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9125" y="1916113"/>
            <a:ext cx="4714875" cy="494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4">
            <a:extLst>
              <a:ext uri="{FF2B5EF4-FFF2-40B4-BE49-F238E27FC236}">
                <a16:creationId xmlns:a16="http://schemas.microsoft.com/office/drawing/2014/main" id="{DBB6DB88-10DB-FB42-903C-5682702853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206"/>
          <a:stretch>
            <a:fillRect/>
          </a:stretch>
        </p:blipFill>
        <p:spPr bwMode="auto">
          <a:xfrm>
            <a:off x="5684838" y="1341438"/>
            <a:ext cx="3433762"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Rectangle 2">
            <a:extLst>
              <a:ext uri="{FF2B5EF4-FFF2-40B4-BE49-F238E27FC236}">
                <a16:creationId xmlns:a16="http://schemas.microsoft.com/office/drawing/2014/main" id="{7A7E288B-123F-2A82-93E2-F766B135465B}"/>
              </a:ext>
            </a:extLst>
          </p:cNvPr>
          <p:cNvSpPr>
            <a:spLocks noGrp="1" noChangeArrowheads="1"/>
          </p:cNvSpPr>
          <p:nvPr>
            <p:ph type="title"/>
          </p:nvPr>
        </p:nvSpPr>
        <p:spPr>
          <a:xfrm>
            <a:off x="468313" y="333375"/>
            <a:ext cx="7543800" cy="796925"/>
          </a:xfrm>
        </p:spPr>
        <p:txBody>
          <a:bodyPr/>
          <a:lstStyle/>
          <a:p>
            <a:pPr marL="742950" indent="-742950" eaLnBrk="1" hangingPunct="1">
              <a:buFontTx/>
              <a:buAutoNum type="arabicPeriod" startAt="3"/>
            </a:pPr>
            <a:r>
              <a:rPr lang="en-US" altLang="en-US">
                <a:solidFill>
                  <a:srgbClr val="0000FF"/>
                </a:solidFill>
              </a:rPr>
              <a:t>Flipping out of the base</a:t>
            </a:r>
            <a:endParaRPr lang="en-GB" altLang="en-US">
              <a:solidFill>
                <a:srgbClr val="0000FF"/>
              </a:solidFill>
            </a:endParaRPr>
          </a:p>
        </p:txBody>
      </p:sp>
      <p:sp>
        <p:nvSpPr>
          <p:cNvPr id="19460" name="Rectangle 3">
            <a:extLst>
              <a:ext uri="{FF2B5EF4-FFF2-40B4-BE49-F238E27FC236}">
                <a16:creationId xmlns:a16="http://schemas.microsoft.com/office/drawing/2014/main" id="{7DAC01B6-4D04-BF37-C46F-1ADD9318E29C}"/>
              </a:ext>
            </a:extLst>
          </p:cNvPr>
          <p:cNvSpPr>
            <a:spLocks noGrp="1" noChangeArrowheads="1"/>
          </p:cNvSpPr>
          <p:nvPr>
            <p:ph type="body" idx="1"/>
          </p:nvPr>
        </p:nvSpPr>
        <p:spPr>
          <a:xfrm>
            <a:off x="179388" y="1719263"/>
            <a:ext cx="5770562" cy="4411662"/>
          </a:xfrm>
        </p:spPr>
        <p:txBody>
          <a:bodyPr/>
          <a:lstStyle/>
          <a:p>
            <a:pPr eaLnBrk="1" hangingPunct="1">
              <a:lnSpc>
                <a:spcPct val="90000"/>
              </a:lnSpc>
            </a:pPr>
            <a:r>
              <a:rPr lang="en-US" altLang="en-US" sz="2600" dirty="0"/>
              <a:t>Definition: </a:t>
            </a:r>
          </a:p>
          <a:p>
            <a:pPr eaLnBrk="1" hangingPunct="1">
              <a:lnSpc>
                <a:spcPct val="90000"/>
              </a:lnSpc>
              <a:buFont typeface="Wingdings" pitchFamily="2" charset="2"/>
              <a:buNone/>
            </a:pPr>
            <a:r>
              <a:rPr lang="en-US" altLang="en-US" sz="2600" dirty="0"/>
              <a:t>	protrusion of one base out of the double helix</a:t>
            </a:r>
          </a:p>
          <a:p>
            <a:pPr eaLnBrk="1" hangingPunct="1">
              <a:lnSpc>
                <a:spcPct val="90000"/>
              </a:lnSpc>
              <a:buFont typeface="Wingdings" pitchFamily="2" charset="2"/>
              <a:buNone/>
            </a:pPr>
            <a:endParaRPr lang="en-US" altLang="en-US" sz="2600" dirty="0"/>
          </a:p>
          <a:p>
            <a:pPr eaLnBrk="1" hangingPunct="1">
              <a:lnSpc>
                <a:spcPct val="90000"/>
              </a:lnSpc>
            </a:pPr>
            <a:r>
              <a:rPr lang="en-US" altLang="en-US" sz="2600" dirty="0"/>
              <a:t>Importance:</a:t>
            </a:r>
          </a:p>
          <a:p>
            <a:pPr marL="742950" lvl="1" indent="-285750" eaLnBrk="1" hangingPunct="1">
              <a:lnSpc>
                <a:spcPct val="90000"/>
              </a:lnSpc>
            </a:pPr>
            <a:r>
              <a:rPr lang="en-GB" altLang="en-US" sz="2200" dirty="0"/>
              <a:t>Easy for methylases</a:t>
            </a:r>
          </a:p>
          <a:p>
            <a:pPr marL="742950" lvl="1" indent="-285750" eaLnBrk="1" hangingPunct="1">
              <a:lnSpc>
                <a:spcPct val="90000"/>
              </a:lnSpc>
            </a:pPr>
            <a:r>
              <a:rPr lang="en-GB" altLang="en-US" sz="2200" dirty="0"/>
              <a:t>Easy to remove damaged bases</a:t>
            </a:r>
          </a:p>
          <a:p>
            <a:pPr marL="742950" lvl="1" indent="-285750" eaLnBrk="1" hangingPunct="1">
              <a:lnSpc>
                <a:spcPct val="90000"/>
              </a:lnSpc>
            </a:pPr>
            <a:r>
              <a:rPr lang="en-GB" altLang="en-US" sz="2200" dirty="0"/>
              <a:t>Enzymes involved in Homologous Recombination  (HR) and repair are believed to scan the DNA for homology or lesions by flipping out one base after another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CBE2511-8D2B-8587-D548-97E078164F64}"/>
              </a:ext>
            </a:extLst>
          </p:cNvPr>
          <p:cNvSpPr>
            <a:spLocks noGrp="1" noChangeArrowheads="1"/>
          </p:cNvSpPr>
          <p:nvPr>
            <p:ph type="title"/>
          </p:nvPr>
        </p:nvSpPr>
        <p:spPr/>
        <p:txBody>
          <a:bodyPr/>
          <a:lstStyle/>
          <a:p>
            <a:pPr marL="742950" indent="-742950" eaLnBrk="1" hangingPunct="1">
              <a:buFontTx/>
              <a:buAutoNum type="arabicPeriod" startAt="4"/>
            </a:pPr>
            <a:r>
              <a:rPr lang="en-US" altLang="en-US"/>
              <a:t>Right handedness (orientation of the helix)</a:t>
            </a:r>
            <a:endParaRPr lang="en-GB" altLang="en-US"/>
          </a:p>
        </p:txBody>
      </p:sp>
      <p:sp>
        <p:nvSpPr>
          <p:cNvPr id="21507" name="Rectangle 5">
            <a:extLst>
              <a:ext uri="{FF2B5EF4-FFF2-40B4-BE49-F238E27FC236}">
                <a16:creationId xmlns:a16="http://schemas.microsoft.com/office/drawing/2014/main" id="{7623DDA3-0F3E-BE95-4C26-AF9F3238B2CE}"/>
              </a:ext>
            </a:extLst>
          </p:cNvPr>
          <p:cNvSpPr>
            <a:spLocks noGrp="1" noChangeArrowheads="1"/>
          </p:cNvSpPr>
          <p:nvPr>
            <p:ph type="body" sz="half" idx="1"/>
          </p:nvPr>
        </p:nvSpPr>
        <p:spPr>
          <a:xfrm>
            <a:off x="395288" y="1484313"/>
            <a:ext cx="8229600" cy="630237"/>
          </a:xfrm>
        </p:spPr>
        <p:txBody>
          <a:bodyPr/>
          <a:lstStyle/>
          <a:p>
            <a:pPr eaLnBrk="1" hangingPunct="1"/>
            <a:r>
              <a:rPr lang="en-US" altLang="en-US" sz="2600"/>
              <a:t>DNA is usually right handed</a:t>
            </a:r>
          </a:p>
          <a:p>
            <a:pPr lvl="1" eaLnBrk="1" hangingPunct="1">
              <a:buFont typeface="Wingdings" pitchFamily="2" charset="2"/>
              <a:buNone/>
            </a:pPr>
            <a:endParaRPr lang="en-GB" altLang="en-US" sz="2200"/>
          </a:p>
        </p:txBody>
      </p:sp>
      <p:pic>
        <p:nvPicPr>
          <p:cNvPr id="21508" name="Picture 4">
            <a:extLst>
              <a:ext uri="{FF2B5EF4-FFF2-40B4-BE49-F238E27FC236}">
                <a16:creationId xmlns:a16="http://schemas.microsoft.com/office/drawing/2014/main" id="{3FD57342-44C9-9AF6-2EE8-644F6C0D50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2276475"/>
            <a:ext cx="8267700"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 Box 6">
            <a:extLst>
              <a:ext uri="{FF2B5EF4-FFF2-40B4-BE49-F238E27FC236}">
                <a16:creationId xmlns:a16="http://schemas.microsoft.com/office/drawing/2014/main" id="{34D0F9C7-0A1B-5661-8FEA-938574FBA1EA}"/>
              </a:ext>
            </a:extLst>
          </p:cNvPr>
          <p:cNvSpPr txBox="1">
            <a:spLocks noChangeArrowheads="1"/>
          </p:cNvSpPr>
          <p:nvPr/>
        </p:nvSpPr>
        <p:spPr bwMode="auto">
          <a:xfrm>
            <a:off x="468313" y="5969000"/>
            <a:ext cx="83391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t>Periodicity</a:t>
            </a:r>
            <a:r>
              <a:rPr lang="en-US" altLang="en-US" sz="1800"/>
              <a:t>: each base pair is displaced (twisted) from the previous one by ~ 36</a:t>
            </a:r>
            <a:r>
              <a:rPr lang="en-US" altLang="en-US" sz="1800" baseline="30000"/>
              <a:t>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E94F4B1-146D-9FF0-696E-AB70D53089A4}"/>
              </a:ext>
            </a:extLst>
          </p:cNvPr>
          <p:cNvSpPr>
            <a:spLocks noGrp="1" noChangeArrowheads="1"/>
          </p:cNvSpPr>
          <p:nvPr>
            <p:ph type="title"/>
          </p:nvPr>
        </p:nvSpPr>
        <p:spPr>
          <a:xfrm>
            <a:off x="468313" y="0"/>
            <a:ext cx="7543800" cy="868363"/>
          </a:xfrm>
        </p:spPr>
        <p:txBody>
          <a:bodyPr/>
          <a:lstStyle/>
          <a:p>
            <a:pPr marL="742950" indent="-742950" eaLnBrk="1" hangingPunct="1">
              <a:buFontTx/>
              <a:buAutoNum type="arabicPeriod" startAt="5"/>
            </a:pPr>
            <a:r>
              <a:rPr lang="en-US" altLang="en-US">
                <a:solidFill>
                  <a:srgbClr val="0000FF"/>
                </a:solidFill>
              </a:rPr>
              <a:t>Major &amp; Minor grooves</a:t>
            </a:r>
            <a:endParaRPr lang="en-GB" altLang="en-US">
              <a:solidFill>
                <a:srgbClr val="0000FF"/>
              </a:solidFill>
            </a:endParaRPr>
          </a:p>
        </p:txBody>
      </p:sp>
      <p:sp>
        <p:nvSpPr>
          <p:cNvPr id="23555" name="Rectangle 3">
            <a:extLst>
              <a:ext uri="{FF2B5EF4-FFF2-40B4-BE49-F238E27FC236}">
                <a16:creationId xmlns:a16="http://schemas.microsoft.com/office/drawing/2014/main" id="{9B7F4617-8B84-CD9C-BDBE-AF19AD8D743B}"/>
              </a:ext>
            </a:extLst>
          </p:cNvPr>
          <p:cNvSpPr>
            <a:spLocks noGrp="1" noChangeArrowheads="1"/>
          </p:cNvSpPr>
          <p:nvPr>
            <p:ph type="body" idx="1"/>
          </p:nvPr>
        </p:nvSpPr>
        <p:spPr>
          <a:xfrm>
            <a:off x="107950" y="1268413"/>
            <a:ext cx="5257800" cy="5327650"/>
          </a:xfrm>
        </p:spPr>
        <p:txBody>
          <a:bodyPr/>
          <a:lstStyle/>
          <a:p>
            <a:pPr eaLnBrk="1" hangingPunct="1">
              <a:lnSpc>
                <a:spcPct val="80000"/>
              </a:lnSpc>
            </a:pPr>
            <a:r>
              <a:rPr lang="en-US" altLang="en-US" sz="1800"/>
              <a:t>Caused by the angle between glycosidic bond</a:t>
            </a:r>
          </a:p>
          <a:p>
            <a:pPr eaLnBrk="1" hangingPunct="1">
              <a:lnSpc>
                <a:spcPct val="80000"/>
              </a:lnSpc>
            </a:pPr>
            <a:endParaRPr lang="en-US" altLang="en-US" sz="1800"/>
          </a:p>
          <a:p>
            <a:pPr eaLnBrk="1" hangingPunct="1">
              <a:lnSpc>
                <a:spcPct val="80000"/>
              </a:lnSpc>
            </a:pPr>
            <a:r>
              <a:rPr lang="en-US" altLang="en-US" sz="1800"/>
              <a:t>Major groove of </a:t>
            </a:r>
          </a:p>
          <a:p>
            <a:pPr eaLnBrk="1" hangingPunct="1">
              <a:lnSpc>
                <a:spcPct val="80000"/>
              </a:lnSpc>
              <a:buFont typeface="Wingdings" pitchFamily="2" charset="2"/>
              <a:buNone/>
            </a:pPr>
            <a:r>
              <a:rPr lang="en-US" altLang="en-US" sz="1800"/>
              <a:t>                           A:T is ADAM</a:t>
            </a:r>
          </a:p>
          <a:p>
            <a:pPr eaLnBrk="1" hangingPunct="1">
              <a:lnSpc>
                <a:spcPct val="80000"/>
              </a:lnSpc>
              <a:buFont typeface="Wingdings" pitchFamily="2" charset="2"/>
              <a:buNone/>
            </a:pPr>
            <a:r>
              <a:rPr lang="en-US" altLang="en-US" sz="1800"/>
              <a:t>                          G:C is AADH</a:t>
            </a:r>
          </a:p>
          <a:p>
            <a:pPr eaLnBrk="1" hangingPunct="1">
              <a:lnSpc>
                <a:spcPct val="80000"/>
              </a:lnSpc>
              <a:buFont typeface="Wingdings" pitchFamily="2" charset="2"/>
              <a:buNone/>
            </a:pPr>
            <a:r>
              <a:rPr lang="en-GB" altLang="en-US" sz="1800"/>
              <a:t>                          T:A is MADA</a:t>
            </a:r>
          </a:p>
          <a:p>
            <a:pPr eaLnBrk="1" hangingPunct="1">
              <a:lnSpc>
                <a:spcPct val="80000"/>
              </a:lnSpc>
              <a:buFont typeface="Wingdings" pitchFamily="2" charset="2"/>
              <a:buNone/>
            </a:pPr>
            <a:r>
              <a:rPr lang="en-GB" altLang="en-US" sz="1800"/>
              <a:t>                           C:G is HDAA</a:t>
            </a:r>
          </a:p>
          <a:p>
            <a:pPr eaLnBrk="1" hangingPunct="1">
              <a:lnSpc>
                <a:spcPct val="80000"/>
              </a:lnSpc>
              <a:buFont typeface="Wingdings" pitchFamily="2" charset="2"/>
              <a:buNone/>
            </a:pPr>
            <a:endParaRPr lang="en-GB" altLang="en-US" sz="1800"/>
          </a:p>
          <a:p>
            <a:pPr eaLnBrk="1" hangingPunct="1">
              <a:lnSpc>
                <a:spcPct val="80000"/>
              </a:lnSpc>
            </a:pPr>
            <a:r>
              <a:rPr lang="en-US" altLang="en-US" sz="1800"/>
              <a:t>The </a:t>
            </a:r>
            <a:r>
              <a:rPr lang="en-GB" altLang="en-US" sz="1800"/>
              <a:t>code specifies the identity of </a:t>
            </a:r>
          </a:p>
          <a:p>
            <a:pPr eaLnBrk="1" hangingPunct="1">
              <a:lnSpc>
                <a:spcPct val="80000"/>
              </a:lnSpc>
              <a:buFont typeface="Wingdings" pitchFamily="2" charset="2"/>
              <a:buNone/>
            </a:pPr>
            <a:r>
              <a:rPr lang="en-GB" altLang="en-US" sz="1800"/>
              <a:t>      the base pair</a:t>
            </a:r>
            <a:endParaRPr lang="en-US" altLang="en-US" sz="1800"/>
          </a:p>
          <a:p>
            <a:pPr eaLnBrk="1" hangingPunct="1">
              <a:lnSpc>
                <a:spcPct val="80000"/>
              </a:lnSpc>
            </a:pPr>
            <a:r>
              <a:rPr lang="en-US" altLang="en-US" sz="1800"/>
              <a:t>Importance: protein recognition without </a:t>
            </a:r>
          </a:p>
          <a:p>
            <a:pPr eaLnBrk="1" hangingPunct="1">
              <a:lnSpc>
                <a:spcPct val="80000"/>
              </a:lnSpc>
              <a:buFont typeface="Wingdings" pitchFamily="2" charset="2"/>
              <a:buNone/>
            </a:pPr>
            <a:r>
              <a:rPr lang="en-US" altLang="en-US" sz="1800"/>
              <a:t>     opening the helix and breaking double </a:t>
            </a:r>
          </a:p>
          <a:p>
            <a:pPr eaLnBrk="1" hangingPunct="1">
              <a:lnSpc>
                <a:spcPct val="80000"/>
              </a:lnSpc>
              <a:buFont typeface="Wingdings" pitchFamily="2" charset="2"/>
              <a:buNone/>
            </a:pPr>
            <a:r>
              <a:rPr lang="en-US" altLang="en-US" sz="1800"/>
              <a:t>     helix</a:t>
            </a:r>
          </a:p>
          <a:p>
            <a:pPr eaLnBrk="1" hangingPunct="1">
              <a:lnSpc>
                <a:spcPct val="80000"/>
              </a:lnSpc>
            </a:pPr>
            <a:endParaRPr lang="en-US" altLang="en-US" sz="1800"/>
          </a:p>
          <a:p>
            <a:pPr eaLnBrk="1" hangingPunct="1">
              <a:lnSpc>
                <a:spcPct val="80000"/>
              </a:lnSpc>
            </a:pPr>
            <a:r>
              <a:rPr lang="en-US" altLang="en-US" sz="1800"/>
              <a:t>Minor groove is less informative</a:t>
            </a:r>
          </a:p>
          <a:p>
            <a:pPr eaLnBrk="1" hangingPunct="1">
              <a:lnSpc>
                <a:spcPct val="80000"/>
              </a:lnSpc>
            </a:pPr>
            <a:r>
              <a:rPr lang="en-US" altLang="en-US" sz="1800"/>
              <a:t>Unable to accommodate amino acids due </a:t>
            </a:r>
          </a:p>
          <a:p>
            <a:pPr eaLnBrk="1" hangingPunct="1">
              <a:lnSpc>
                <a:spcPct val="80000"/>
              </a:lnSpc>
              <a:buFont typeface="Wingdings" pitchFamily="2" charset="2"/>
              <a:buNone/>
            </a:pPr>
            <a:r>
              <a:rPr lang="en-US" altLang="en-US" sz="1800"/>
              <a:t>      to small size. </a:t>
            </a:r>
          </a:p>
          <a:p>
            <a:pPr eaLnBrk="1" hangingPunct="1">
              <a:lnSpc>
                <a:spcPct val="80000"/>
              </a:lnSpc>
            </a:pPr>
            <a:r>
              <a:rPr lang="en-US" altLang="en-US" sz="1800"/>
              <a:t>All base pairs looks similar to one another </a:t>
            </a:r>
          </a:p>
          <a:p>
            <a:pPr eaLnBrk="1" hangingPunct="1">
              <a:lnSpc>
                <a:spcPct val="80000"/>
              </a:lnSpc>
              <a:buFont typeface="Wingdings" pitchFamily="2" charset="2"/>
              <a:buNone/>
            </a:pPr>
            <a:r>
              <a:rPr lang="en-US" altLang="en-US" sz="1800"/>
              <a:t>      in the minor groove e.g. A:T code is AHA and </a:t>
            </a:r>
          </a:p>
          <a:p>
            <a:pPr eaLnBrk="1" hangingPunct="1">
              <a:lnSpc>
                <a:spcPct val="80000"/>
              </a:lnSpc>
              <a:buFont typeface="Wingdings" pitchFamily="2" charset="2"/>
              <a:buNone/>
            </a:pPr>
            <a:r>
              <a:rPr lang="en-US" altLang="en-US" sz="1800"/>
              <a:t>      G:C code is ADA</a:t>
            </a:r>
          </a:p>
        </p:txBody>
      </p:sp>
      <p:pic>
        <p:nvPicPr>
          <p:cNvPr id="23556" name="Picture 4">
            <a:extLst>
              <a:ext uri="{FF2B5EF4-FFF2-40B4-BE49-F238E27FC236}">
                <a16:creationId xmlns:a16="http://schemas.microsoft.com/office/drawing/2014/main" id="{8B8FA896-098B-C212-4C72-C64273076D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1700213"/>
            <a:ext cx="4191000"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6574E5DB-B6EF-A950-FCFA-F6FB62E98E55}"/>
              </a:ext>
            </a:extLst>
          </p:cNvPr>
          <p:cNvSpPr>
            <a:spLocks noGrp="1" noChangeArrowheads="1"/>
          </p:cNvSpPr>
          <p:nvPr>
            <p:ph type="title"/>
          </p:nvPr>
        </p:nvSpPr>
        <p:spPr>
          <a:xfrm>
            <a:off x="457200" y="122238"/>
            <a:ext cx="7543800" cy="858837"/>
          </a:xfrm>
        </p:spPr>
        <p:txBody>
          <a:bodyPr/>
          <a:lstStyle/>
          <a:p>
            <a:pPr marL="742950" indent="-742950" eaLnBrk="1" hangingPunct="1">
              <a:buFontTx/>
              <a:buAutoNum type="arabicPeriod" startAt="6"/>
            </a:pPr>
            <a:r>
              <a:rPr lang="en-US" altLang="en-US" sz="3500">
                <a:solidFill>
                  <a:srgbClr val="0000FF"/>
                </a:solidFill>
              </a:rPr>
              <a:t>Can denature &amp; re-associate</a:t>
            </a:r>
            <a:endParaRPr lang="en-GB" altLang="en-US" sz="3500"/>
          </a:p>
        </p:txBody>
      </p:sp>
      <p:pic>
        <p:nvPicPr>
          <p:cNvPr id="25603" name="Picture 5">
            <a:extLst>
              <a:ext uri="{FF2B5EF4-FFF2-40B4-BE49-F238E27FC236}">
                <a16:creationId xmlns:a16="http://schemas.microsoft.com/office/drawing/2014/main" id="{F2065C36-86FB-3887-6E24-8DD1A7D1B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125538"/>
            <a:ext cx="7835900" cy="555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ext Box 6">
            <a:extLst>
              <a:ext uri="{FF2B5EF4-FFF2-40B4-BE49-F238E27FC236}">
                <a16:creationId xmlns:a16="http://schemas.microsoft.com/office/drawing/2014/main" id="{E7EEBA4F-7027-4DF6-E66C-236857F9A792}"/>
              </a:ext>
            </a:extLst>
          </p:cNvPr>
          <p:cNvSpPr txBox="1">
            <a:spLocks noChangeArrowheads="1"/>
          </p:cNvSpPr>
          <p:nvPr/>
        </p:nvSpPr>
        <p:spPr bwMode="auto">
          <a:xfrm>
            <a:off x="3419475" y="2133600"/>
            <a:ext cx="25209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t>Hyperchromic effect: increase in A260 by ~ 40%</a:t>
            </a:r>
            <a:endParaRPr lang="en-GB" altLang="en-US" sz="1800" b="1"/>
          </a:p>
        </p:txBody>
      </p:sp>
      <p:sp>
        <p:nvSpPr>
          <p:cNvPr id="25605" name="Text Box 7">
            <a:extLst>
              <a:ext uri="{FF2B5EF4-FFF2-40B4-BE49-F238E27FC236}">
                <a16:creationId xmlns:a16="http://schemas.microsoft.com/office/drawing/2014/main" id="{C06FB062-22D3-358F-993B-9DD6EE07E2EC}"/>
              </a:ext>
            </a:extLst>
          </p:cNvPr>
          <p:cNvSpPr txBox="1">
            <a:spLocks noChangeArrowheads="1"/>
          </p:cNvSpPr>
          <p:nvPr/>
        </p:nvSpPr>
        <p:spPr bwMode="auto">
          <a:xfrm>
            <a:off x="395288" y="4652963"/>
            <a:ext cx="27368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b="1"/>
              <a:t>Hypochromic effect: low A260 due to base stacking</a:t>
            </a:r>
            <a:endParaRPr lang="en-GB" altLang="en-US" sz="1800" b="1"/>
          </a:p>
        </p:txBody>
      </p:sp>
      <p:sp>
        <p:nvSpPr>
          <p:cNvPr id="25606" name="TextBox 5">
            <a:extLst>
              <a:ext uri="{FF2B5EF4-FFF2-40B4-BE49-F238E27FC236}">
                <a16:creationId xmlns:a16="http://schemas.microsoft.com/office/drawing/2014/main" id="{8C3CE746-3D53-D956-C7AB-988367D1A1ED}"/>
              </a:ext>
            </a:extLst>
          </p:cNvPr>
          <p:cNvSpPr txBox="1">
            <a:spLocks noChangeArrowheads="1"/>
          </p:cNvSpPr>
          <p:nvPr/>
        </p:nvSpPr>
        <p:spPr bwMode="auto">
          <a:xfrm>
            <a:off x="395288" y="1412875"/>
            <a:ext cx="36083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a:t>DNA absorb maximally at 260 nm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B3E045B-7164-9642-30BE-737365D1442E}"/>
              </a:ext>
            </a:extLst>
          </p:cNvPr>
          <p:cNvSpPr>
            <a:spLocks noGrp="1" noChangeArrowheads="1"/>
          </p:cNvSpPr>
          <p:nvPr>
            <p:ph type="title"/>
          </p:nvPr>
        </p:nvSpPr>
        <p:spPr>
          <a:xfrm>
            <a:off x="323850" y="115888"/>
            <a:ext cx="7543800" cy="869950"/>
          </a:xfrm>
        </p:spPr>
        <p:txBody>
          <a:bodyPr/>
          <a:lstStyle/>
          <a:p>
            <a:pPr eaLnBrk="1" hangingPunct="1"/>
            <a:r>
              <a:rPr lang="en-US" altLang="en-US">
                <a:solidFill>
                  <a:srgbClr val="0000FF"/>
                </a:solidFill>
              </a:rPr>
              <a:t>Melting Temperature (Tm)</a:t>
            </a:r>
            <a:endParaRPr lang="en-GB" altLang="en-US">
              <a:solidFill>
                <a:srgbClr val="0000FF"/>
              </a:solidFill>
            </a:endParaRPr>
          </a:p>
        </p:txBody>
      </p:sp>
      <p:sp>
        <p:nvSpPr>
          <p:cNvPr id="14339" name="Rectangle 3">
            <a:extLst>
              <a:ext uri="{FF2B5EF4-FFF2-40B4-BE49-F238E27FC236}">
                <a16:creationId xmlns:a16="http://schemas.microsoft.com/office/drawing/2014/main" id="{89C5BFDB-66EF-71F1-ECA8-8A11AAEA74B4}"/>
              </a:ext>
            </a:extLst>
          </p:cNvPr>
          <p:cNvSpPr>
            <a:spLocks noGrp="1" noChangeArrowheads="1"/>
          </p:cNvSpPr>
          <p:nvPr>
            <p:ph type="body" idx="1"/>
          </p:nvPr>
        </p:nvSpPr>
        <p:spPr>
          <a:xfrm>
            <a:off x="179388" y="908050"/>
            <a:ext cx="8713787" cy="6192838"/>
          </a:xfrm>
        </p:spPr>
        <p:txBody>
          <a:bodyPr/>
          <a:lstStyle/>
          <a:p>
            <a:pPr marL="571500" indent="-571500" eaLnBrk="1" hangingPunct="1">
              <a:defRPr/>
            </a:pPr>
            <a:r>
              <a:rPr lang="en-US" dirty="0"/>
              <a:t>Characteristic of each DNA and is determined by:</a:t>
            </a:r>
          </a:p>
          <a:p>
            <a:pPr marL="571500" indent="-571500" eaLnBrk="1" hangingPunct="1">
              <a:buFont typeface="Wingdings" pitchFamily="2" charset="2"/>
              <a:buAutoNum type="arabicPeriod"/>
              <a:defRPr/>
            </a:pPr>
            <a:r>
              <a:rPr lang="en-US" dirty="0"/>
              <a:t>Length of DNA sequence</a:t>
            </a:r>
          </a:p>
          <a:p>
            <a:pPr marL="571500" indent="-571500" eaLnBrk="1" hangingPunct="1">
              <a:buFont typeface="Wingdings" pitchFamily="2" charset="2"/>
              <a:buAutoNum type="arabicPeriod"/>
              <a:defRPr/>
            </a:pPr>
            <a:r>
              <a:rPr lang="en-US" dirty="0"/>
              <a:t>GC content</a:t>
            </a:r>
          </a:p>
          <a:p>
            <a:pPr marL="571500" indent="-571500" eaLnBrk="1" hangingPunct="1">
              <a:buFont typeface="Wingdings" pitchFamily="2" charset="2"/>
              <a:buAutoNum type="arabicPeriod"/>
              <a:defRPr/>
            </a:pPr>
            <a:r>
              <a:rPr lang="en-US" dirty="0"/>
              <a:t>Salt concentration: </a:t>
            </a:r>
          </a:p>
          <a:p>
            <a:pPr marL="0" indent="0" eaLnBrk="1" hangingPunct="1">
              <a:buFont typeface="Wingdings" pitchFamily="2" charset="2"/>
              <a:buNone/>
              <a:defRPr/>
            </a:pPr>
            <a:r>
              <a:rPr lang="en-US" sz="1400" dirty="0"/>
              <a:t>in low salt, a given DNA will melt at a lower temperature than in a higher salt concentration. This is because DNA is a </a:t>
            </a:r>
            <a:r>
              <a:rPr lang="en-US" sz="1400" dirty="0" err="1"/>
              <a:t>polyanionic</a:t>
            </a:r>
            <a:r>
              <a:rPr lang="en-US" sz="1400" dirty="0"/>
              <a:t> molecule. The salt "shields" the negative charges on each phosphate. When the charges are NOT shielded, the electrostatic repulsion makes it energetically more favorable to separate the strands.</a:t>
            </a:r>
            <a:endParaRPr lang="en-US" sz="1200" dirty="0"/>
          </a:p>
          <a:p>
            <a:pPr marL="571500" indent="-571500" eaLnBrk="1" hangingPunct="1">
              <a:defRPr/>
            </a:pPr>
            <a:r>
              <a:rPr lang="en-US" dirty="0"/>
              <a:t>Hybridization is the basis for several laboratory techniques</a:t>
            </a:r>
          </a:p>
          <a:p>
            <a:pPr marL="839788" lvl="1" indent="-495300" eaLnBrk="1" hangingPunct="1">
              <a:defRPr/>
            </a:pPr>
            <a:r>
              <a:rPr lang="en-US" dirty="0"/>
              <a:t>PCR</a:t>
            </a:r>
          </a:p>
          <a:p>
            <a:pPr marL="839788" lvl="1" indent="-495300" eaLnBrk="1" hangingPunct="1">
              <a:defRPr/>
            </a:pPr>
            <a:r>
              <a:rPr lang="en-US" dirty="0"/>
              <a:t>Southern blot </a:t>
            </a:r>
          </a:p>
          <a:p>
            <a:pPr marL="839788" lvl="1" indent="-495300" eaLnBrk="1" hangingPunct="1">
              <a:defRPr/>
            </a:pPr>
            <a:r>
              <a:rPr lang="en-US" dirty="0"/>
              <a:t>Microarray analysis</a:t>
            </a:r>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4E07F5DF-29A9-F9F1-5A15-0D530F3F61CA}"/>
              </a:ext>
            </a:extLst>
          </p:cNvPr>
          <p:cNvSpPr>
            <a:spLocks noGrp="1" noChangeArrowheads="1"/>
          </p:cNvSpPr>
          <p:nvPr>
            <p:ph type="title"/>
          </p:nvPr>
        </p:nvSpPr>
        <p:spPr>
          <a:xfrm>
            <a:off x="468313" y="260350"/>
            <a:ext cx="7543800" cy="796925"/>
          </a:xfrm>
        </p:spPr>
        <p:txBody>
          <a:bodyPr/>
          <a:lstStyle/>
          <a:p>
            <a:pPr eaLnBrk="1" hangingPunct="1"/>
            <a:r>
              <a:rPr lang="en-US" altLang="en-US">
                <a:solidFill>
                  <a:srgbClr val="0000FF"/>
                </a:solidFill>
              </a:rPr>
              <a:t>DNA different conformation</a:t>
            </a:r>
            <a:endParaRPr lang="en-GB" altLang="en-US">
              <a:solidFill>
                <a:srgbClr val="0000FF"/>
              </a:solidFill>
            </a:endParaRPr>
          </a:p>
        </p:txBody>
      </p:sp>
      <p:sp>
        <p:nvSpPr>
          <p:cNvPr id="29699" name="Rectangle 3">
            <a:extLst>
              <a:ext uri="{FF2B5EF4-FFF2-40B4-BE49-F238E27FC236}">
                <a16:creationId xmlns:a16="http://schemas.microsoft.com/office/drawing/2014/main" id="{F5E95C2B-BFA0-FA2C-56B1-35696AEF1A7A}"/>
              </a:ext>
            </a:extLst>
          </p:cNvPr>
          <p:cNvSpPr>
            <a:spLocks noGrp="1" noChangeArrowheads="1"/>
          </p:cNvSpPr>
          <p:nvPr>
            <p:ph type="body" idx="1"/>
          </p:nvPr>
        </p:nvSpPr>
        <p:spPr>
          <a:xfrm>
            <a:off x="468313" y="1557338"/>
            <a:ext cx="8229600" cy="4411662"/>
          </a:xfrm>
        </p:spPr>
        <p:txBody>
          <a:bodyPr/>
          <a:lstStyle/>
          <a:p>
            <a:pPr marL="571500" indent="-571500" eaLnBrk="1" hangingPunct="1">
              <a:buFont typeface="Wingdings" pitchFamily="2" charset="2"/>
              <a:buNone/>
            </a:pPr>
            <a:r>
              <a:rPr lang="en-US" altLang="en-US"/>
              <a:t>3 forms of DNA could be detected</a:t>
            </a:r>
          </a:p>
          <a:p>
            <a:pPr marL="571500" indent="-571500" eaLnBrk="1" hangingPunct="1">
              <a:buFont typeface="Wingdings" pitchFamily="2" charset="2"/>
              <a:buNone/>
            </a:pPr>
            <a:endParaRPr lang="en-US" altLang="en-US"/>
          </a:p>
          <a:p>
            <a:pPr marL="571500" indent="-571500" eaLnBrk="1" hangingPunct="1">
              <a:buFont typeface="Wingdings" pitchFamily="2" charset="2"/>
              <a:buAutoNum type="arabicPeriod"/>
            </a:pPr>
            <a:r>
              <a:rPr lang="en-US" altLang="en-US"/>
              <a:t>B – form (Watson &amp; Crick)</a:t>
            </a:r>
          </a:p>
          <a:p>
            <a:pPr marL="571500" indent="-571500" eaLnBrk="1" hangingPunct="1">
              <a:buFont typeface="Wingdings" pitchFamily="2" charset="2"/>
              <a:buAutoNum type="arabicPeriod"/>
            </a:pPr>
            <a:endParaRPr lang="en-US" altLang="en-US"/>
          </a:p>
          <a:p>
            <a:pPr marL="571500" indent="-571500" eaLnBrk="1" hangingPunct="1">
              <a:buFont typeface="Wingdings" pitchFamily="2" charset="2"/>
              <a:buAutoNum type="arabicPeriod"/>
            </a:pPr>
            <a:r>
              <a:rPr lang="en-US" altLang="en-US"/>
              <a:t>A – form</a:t>
            </a:r>
          </a:p>
          <a:p>
            <a:pPr marL="571500" indent="-571500" eaLnBrk="1" hangingPunct="1">
              <a:buFont typeface="Wingdings" pitchFamily="2" charset="2"/>
              <a:buAutoNum type="arabicPeriod"/>
            </a:pPr>
            <a:endParaRPr lang="en-US" altLang="en-US"/>
          </a:p>
          <a:p>
            <a:pPr marL="571500" indent="-571500" eaLnBrk="1" hangingPunct="1">
              <a:buFont typeface="Wingdings" pitchFamily="2" charset="2"/>
              <a:buAutoNum type="arabicPeriod"/>
            </a:pPr>
            <a:r>
              <a:rPr lang="en-US" altLang="en-US"/>
              <a:t>Z – form (Zigzag)</a:t>
            </a:r>
            <a:endParaRPr lang="en-GB"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9D3A66F8-1310-959F-73E5-258D5F09BDCE}"/>
              </a:ext>
            </a:extLst>
          </p:cNvPr>
          <p:cNvSpPr>
            <a:spLocks noGrp="1" noChangeArrowheads="1"/>
          </p:cNvSpPr>
          <p:nvPr>
            <p:ph type="title"/>
          </p:nvPr>
        </p:nvSpPr>
        <p:spPr>
          <a:xfrm>
            <a:off x="0" y="0"/>
            <a:ext cx="6491288" cy="796925"/>
          </a:xfrm>
        </p:spPr>
        <p:txBody>
          <a:bodyPr/>
          <a:lstStyle/>
          <a:p>
            <a:pPr eaLnBrk="1" hangingPunct="1"/>
            <a:r>
              <a:rPr lang="en-US" altLang="en-US">
                <a:solidFill>
                  <a:srgbClr val="0000FF"/>
                </a:solidFill>
              </a:rPr>
              <a:t>B -  Form </a:t>
            </a:r>
            <a:r>
              <a:rPr lang="en-US" altLang="en-US" sz="3500">
                <a:solidFill>
                  <a:srgbClr val="0000FF"/>
                </a:solidFill>
              </a:rPr>
              <a:t>(Watson &amp; Crick)</a:t>
            </a:r>
            <a:endParaRPr lang="en-GB" altLang="en-US" sz="3500">
              <a:solidFill>
                <a:srgbClr val="0000FF"/>
              </a:solidFill>
            </a:endParaRPr>
          </a:p>
        </p:txBody>
      </p:sp>
      <p:pic>
        <p:nvPicPr>
          <p:cNvPr id="31747" name="Picture 7">
            <a:extLst>
              <a:ext uri="{FF2B5EF4-FFF2-40B4-BE49-F238E27FC236}">
                <a16:creationId xmlns:a16="http://schemas.microsoft.com/office/drawing/2014/main" id="{0936DD25-EB04-24E5-6603-C2269670BB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0424" b="2710"/>
          <a:stretch>
            <a:fillRect/>
          </a:stretch>
        </p:blipFill>
        <p:spPr bwMode="auto">
          <a:xfrm>
            <a:off x="6627813" y="115888"/>
            <a:ext cx="2516187" cy="674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9">
            <a:extLst>
              <a:ext uri="{FF2B5EF4-FFF2-40B4-BE49-F238E27FC236}">
                <a16:creationId xmlns:a16="http://schemas.microsoft.com/office/drawing/2014/main" id="{CA3FBA63-E60A-9D1A-E950-AF32B4F79FAA}"/>
              </a:ext>
            </a:extLst>
          </p:cNvPr>
          <p:cNvPicPr>
            <a:picLocks noGrp="1" noChangeAspect="1" noChangeArrowheads="1"/>
          </p:cNvPicPr>
          <p:nvPr>
            <p:ph type="body" idx="1"/>
          </p:nvPr>
        </p:nvPicPr>
        <p:blipFill>
          <a:blip r:embed="rId4">
            <a:extLst>
              <a:ext uri="{28A0092B-C50C-407E-A947-70E740481C1C}">
                <a14:useLocalDpi xmlns:a14="http://schemas.microsoft.com/office/drawing/2010/main" val="0"/>
              </a:ext>
            </a:extLst>
          </a:blip>
          <a:srcRect/>
          <a:stretch>
            <a:fillRect/>
          </a:stretch>
        </p:blipFill>
        <p:spPr>
          <a:xfrm>
            <a:off x="611188" y="3860800"/>
            <a:ext cx="4554537" cy="2952750"/>
          </a:xfrm>
          <a:noFill/>
        </p:spPr>
      </p:pic>
      <p:sp>
        <p:nvSpPr>
          <p:cNvPr id="31749" name="Text Box 6">
            <a:extLst>
              <a:ext uri="{FF2B5EF4-FFF2-40B4-BE49-F238E27FC236}">
                <a16:creationId xmlns:a16="http://schemas.microsoft.com/office/drawing/2014/main" id="{51A4411F-937B-47C2-9983-01D42E8AFBB5}"/>
              </a:ext>
            </a:extLst>
          </p:cNvPr>
          <p:cNvSpPr txBox="1">
            <a:spLocks noChangeArrowheads="1"/>
          </p:cNvSpPr>
          <p:nvPr/>
        </p:nvSpPr>
        <p:spPr bwMode="auto">
          <a:xfrm>
            <a:off x="179388" y="836613"/>
            <a:ext cx="6356350"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800100" indent="-34290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 typeface="Arial" panose="020B0604020202020204" pitchFamily="34" charset="0"/>
              <a:buChar char="●"/>
            </a:pPr>
            <a:r>
              <a:rPr lang="en-US" altLang="en-US" sz="2000"/>
              <a:t>10 bp /turn, right-handed</a:t>
            </a:r>
          </a:p>
          <a:p>
            <a:pPr eaLnBrk="1" hangingPunct="1">
              <a:spcBef>
                <a:spcPct val="0"/>
              </a:spcBef>
              <a:buClrTx/>
              <a:buSzTx/>
              <a:buFont typeface="Arial" panose="020B0604020202020204" pitchFamily="34" charset="0"/>
              <a:buChar char="●"/>
            </a:pPr>
            <a:r>
              <a:rPr lang="en-US" altLang="en-US" sz="2000"/>
              <a:t>Observed at high humidity</a:t>
            </a:r>
          </a:p>
          <a:p>
            <a:pPr eaLnBrk="1" hangingPunct="1">
              <a:spcBef>
                <a:spcPct val="0"/>
              </a:spcBef>
              <a:buClrTx/>
              <a:buSzTx/>
              <a:buFont typeface="Arial" panose="020B0604020202020204" pitchFamily="34" charset="0"/>
              <a:buChar char="●"/>
            </a:pPr>
            <a:r>
              <a:rPr lang="en-US" altLang="en-US" sz="2000"/>
              <a:t>Ideal structure that deviates in two respects from the DNA in cells:</a:t>
            </a:r>
          </a:p>
          <a:p>
            <a:pPr lvl="1" eaLnBrk="1" hangingPunct="1">
              <a:spcBef>
                <a:spcPct val="0"/>
              </a:spcBef>
              <a:buClrTx/>
              <a:buSzTx/>
              <a:buFontTx/>
              <a:buAutoNum type="arabicPeriod"/>
            </a:pPr>
            <a:r>
              <a:rPr lang="en-US" altLang="en-US" sz="2000"/>
              <a:t>DNA in solution is somewhat more twisted on average than the B from having ~ 10.5 bp /turn </a:t>
            </a:r>
          </a:p>
          <a:p>
            <a:pPr eaLnBrk="1" hangingPunct="1">
              <a:spcBef>
                <a:spcPct val="0"/>
              </a:spcBef>
              <a:buClrTx/>
              <a:buSzTx/>
              <a:buFontTx/>
              <a:buNone/>
            </a:pPr>
            <a:r>
              <a:rPr lang="en-US" altLang="en-US" sz="2000"/>
              <a:t>	   2. The B form is an average structure, whereas  	real DNA is not perfectly regular. Rather , it 	exhibits variations in its precise structure from 	bp to bp</a:t>
            </a:r>
          </a:p>
        </p:txBody>
      </p:sp>
      <p:sp>
        <p:nvSpPr>
          <p:cNvPr id="31750" name="Text Box 7">
            <a:extLst>
              <a:ext uri="{FF2B5EF4-FFF2-40B4-BE49-F238E27FC236}">
                <a16:creationId xmlns:a16="http://schemas.microsoft.com/office/drawing/2014/main" id="{D7E25775-1DD9-29FC-9F70-57A63AA8C0AB}"/>
              </a:ext>
            </a:extLst>
          </p:cNvPr>
          <p:cNvSpPr txBox="1">
            <a:spLocks noChangeArrowheads="1"/>
          </p:cNvSpPr>
          <p:nvPr/>
        </p:nvSpPr>
        <p:spPr bwMode="auto">
          <a:xfrm>
            <a:off x="87313" y="4456113"/>
            <a:ext cx="641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t>W-C</a:t>
            </a:r>
          </a:p>
        </p:txBody>
      </p:sp>
      <p:sp>
        <p:nvSpPr>
          <p:cNvPr id="31751" name="Text Box 8">
            <a:extLst>
              <a:ext uri="{FF2B5EF4-FFF2-40B4-BE49-F238E27FC236}">
                <a16:creationId xmlns:a16="http://schemas.microsoft.com/office/drawing/2014/main" id="{A5B7A855-04AB-5411-5A84-A73FA89657D7}"/>
              </a:ext>
            </a:extLst>
          </p:cNvPr>
          <p:cNvSpPr txBox="1">
            <a:spLocks noChangeArrowheads="1"/>
          </p:cNvSpPr>
          <p:nvPr/>
        </p:nvSpPr>
        <p:spPr bwMode="auto">
          <a:xfrm>
            <a:off x="4859338" y="4292600"/>
            <a:ext cx="1758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1800" b="1"/>
              <a:t>Propeller twist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D11980CD-9D97-468B-4040-15A4FA303304}"/>
              </a:ext>
            </a:extLst>
          </p:cNvPr>
          <p:cNvSpPr>
            <a:spLocks noGrp="1" noChangeArrowheads="1"/>
          </p:cNvSpPr>
          <p:nvPr>
            <p:ph type="title"/>
          </p:nvPr>
        </p:nvSpPr>
        <p:spPr/>
        <p:txBody>
          <a:bodyPr/>
          <a:lstStyle/>
          <a:p>
            <a:pPr eaLnBrk="1" hangingPunct="1"/>
            <a:r>
              <a:rPr lang="en-US" altLang="en-US">
                <a:solidFill>
                  <a:srgbClr val="0000FF"/>
                </a:solidFill>
              </a:rPr>
              <a:t>A -  Form</a:t>
            </a:r>
            <a:endParaRPr lang="en-GB" altLang="en-US">
              <a:solidFill>
                <a:srgbClr val="0000FF"/>
              </a:solidFill>
            </a:endParaRPr>
          </a:p>
        </p:txBody>
      </p:sp>
      <p:pic>
        <p:nvPicPr>
          <p:cNvPr id="33795" name="Picture 7">
            <a:extLst>
              <a:ext uri="{FF2B5EF4-FFF2-40B4-BE49-F238E27FC236}">
                <a16:creationId xmlns:a16="http://schemas.microsoft.com/office/drawing/2014/main" id="{C24BED1E-1BA6-0086-7CC0-1DBBAECE41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325" y="0"/>
            <a:ext cx="2987675" cy="658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Rectangle 8">
            <a:extLst>
              <a:ext uri="{FF2B5EF4-FFF2-40B4-BE49-F238E27FC236}">
                <a16:creationId xmlns:a16="http://schemas.microsoft.com/office/drawing/2014/main" id="{7D5DFE19-00A0-4810-C244-95BD97B42723}"/>
              </a:ext>
            </a:extLst>
          </p:cNvPr>
          <p:cNvSpPr>
            <a:spLocks noGrp="1" noChangeArrowheads="1"/>
          </p:cNvSpPr>
          <p:nvPr>
            <p:ph type="body" idx="1"/>
          </p:nvPr>
        </p:nvSpPr>
        <p:spPr>
          <a:xfrm>
            <a:off x="457200" y="1719263"/>
            <a:ext cx="5770563" cy="4411662"/>
          </a:xfrm>
        </p:spPr>
        <p:txBody>
          <a:bodyPr/>
          <a:lstStyle/>
          <a:p>
            <a:pPr eaLnBrk="1" hangingPunct="1"/>
            <a:r>
              <a:rPr lang="en-US" altLang="en-US" sz="2400"/>
              <a:t>11 bp / turn, right-handed</a:t>
            </a:r>
          </a:p>
          <a:p>
            <a:pPr eaLnBrk="1" hangingPunct="1"/>
            <a:r>
              <a:rPr lang="en-US" altLang="en-US" sz="2400"/>
              <a:t>Observed in conditions of low humidity</a:t>
            </a:r>
          </a:p>
          <a:p>
            <a:pPr eaLnBrk="1" hangingPunct="1"/>
            <a:r>
              <a:rPr lang="en-US" altLang="en-US" sz="2400"/>
              <a:t>Adopted in certain DNA-protein complexes</a:t>
            </a:r>
          </a:p>
          <a:p>
            <a:pPr eaLnBrk="1" hangingPunct="1"/>
            <a:r>
              <a:rPr lang="en-US" altLang="en-US" sz="2400"/>
              <a:t>Similar to the structure that RNA </a:t>
            </a:r>
          </a:p>
          <a:p>
            <a:pPr eaLnBrk="1" hangingPunct="1">
              <a:buFont typeface="Wingdings" pitchFamily="2" charset="2"/>
              <a:buNone/>
            </a:pPr>
            <a:r>
              <a:rPr lang="en-US" altLang="en-US" sz="2400"/>
              <a:t>    adopts when double helical</a:t>
            </a:r>
          </a:p>
          <a:p>
            <a:pPr eaLnBrk="1" hangingPunct="1"/>
            <a:endParaRPr lang="en-US"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8817E3CB-29FB-EE49-A615-64CCB40EB178}"/>
              </a:ext>
            </a:extLst>
          </p:cNvPr>
          <p:cNvSpPr>
            <a:spLocks noGrp="1" noChangeArrowheads="1"/>
          </p:cNvSpPr>
          <p:nvPr>
            <p:ph type="title"/>
          </p:nvPr>
        </p:nvSpPr>
        <p:spPr>
          <a:xfrm>
            <a:off x="827088" y="333375"/>
            <a:ext cx="4835525" cy="796925"/>
          </a:xfrm>
        </p:spPr>
        <p:txBody>
          <a:bodyPr/>
          <a:lstStyle/>
          <a:p>
            <a:pPr eaLnBrk="1" hangingPunct="1"/>
            <a:r>
              <a:rPr lang="en-US" altLang="en-US">
                <a:solidFill>
                  <a:srgbClr val="0000FF"/>
                </a:solidFill>
              </a:rPr>
              <a:t>Z -  Form (ZigZag)</a:t>
            </a:r>
            <a:endParaRPr lang="en-GB" altLang="en-US">
              <a:solidFill>
                <a:srgbClr val="0000FF"/>
              </a:solidFill>
            </a:endParaRPr>
          </a:p>
        </p:txBody>
      </p:sp>
      <p:sp>
        <p:nvSpPr>
          <p:cNvPr id="35843" name="Rectangle 3">
            <a:extLst>
              <a:ext uri="{FF2B5EF4-FFF2-40B4-BE49-F238E27FC236}">
                <a16:creationId xmlns:a16="http://schemas.microsoft.com/office/drawing/2014/main" id="{5D57496A-15EC-4BCF-E57E-90135727F3FA}"/>
              </a:ext>
            </a:extLst>
          </p:cNvPr>
          <p:cNvSpPr>
            <a:spLocks noGrp="1" noChangeArrowheads="1"/>
          </p:cNvSpPr>
          <p:nvPr>
            <p:ph type="body" idx="1"/>
          </p:nvPr>
        </p:nvSpPr>
        <p:spPr>
          <a:xfrm>
            <a:off x="457200" y="1719263"/>
            <a:ext cx="6778625" cy="4411662"/>
          </a:xfrm>
        </p:spPr>
        <p:txBody>
          <a:bodyPr/>
          <a:lstStyle/>
          <a:p>
            <a:pPr eaLnBrk="1" hangingPunct="1"/>
            <a:r>
              <a:rPr lang="en-US" altLang="en-US"/>
              <a:t>Present at short sections of DNA</a:t>
            </a:r>
          </a:p>
          <a:p>
            <a:pPr eaLnBrk="1" hangingPunct="1"/>
            <a:r>
              <a:rPr lang="en-US" altLang="en-US"/>
              <a:t>Left handed</a:t>
            </a:r>
          </a:p>
          <a:p>
            <a:pPr eaLnBrk="1" hangingPunct="1"/>
            <a:r>
              <a:rPr lang="en-US" altLang="en-US"/>
              <a:t>12 bp/turn</a:t>
            </a:r>
          </a:p>
          <a:p>
            <a:pPr eaLnBrk="1" hangingPunct="1"/>
            <a:r>
              <a:rPr lang="en-US" altLang="en-US"/>
              <a:t>Major groove very shallow </a:t>
            </a:r>
            <a:r>
              <a:rPr lang="en-US" altLang="en-US" sz="2000"/>
              <a:t>(doesn’t exist)</a:t>
            </a:r>
          </a:p>
          <a:p>
            <a:pPr eaLnBrk="1" hangingPunct="1"/>
            <a:r>
              <a:rPr lang="en-US" altLang="en-US"/>
              <a:t>Deep narrow minor groove</a:t>
            </a:r>
          </a:p>
          <a:p>
            <a:pPr eaLnBrk="1" hangingPunct="1"/>
            <a:endParaRPr lang="en-GB" altLang="en-US" sz="3200"/>
          </a:p>
        </p:txBody>
      </p:sp>
      <p:pic>
        <p:nvPicPr>
          <p:cNvPr id="35844" name="Picture 6">
            <a:extLst>
              <a:ext uri="{FF2B5EF4-FFF2-40B4-BE49-F238E27FC236}">
                <a16:creationId xmlns:a16="http://schemas.microsoft.com/office/drawing/2014/main" id="{00A6B1E3-C365-C18C-2825-78B4F3FF1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8346"/>
          <a:stretch>
            <a:fillRect/>
          </a:stretch>
        </p:blipFill>
        <p:spPr bwMode="auto">
          <a:xfrm>
            <a:off x="7075488" y="0"/>
            <a:ext cx="206851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9FB82C8-0216-178A-CE7A-C4606D779987}"/>
              </a:ext>
            </a:extLst>
          </p:cNvPr>
          <p:cNvSpPr>
            <a:spLocks noGrp="1" noChangeArrowheads="1"/>
          </p:cNvSpPr>
          <p:nvPr>
            <p:ph type="title"/>
          </p:nvPr>
        </p:nvSpPr>
        <p:spPr>
          <a:xfrm>
            <a:off x="457200" y="476250"/>
            <a:ext cx="5770563" cy="941388"/>
          </a:xfrm>
        </p:spPr>
        <p:txBody>
          <a:bodyPr/>
          <a:lstStyle/>
          <a:p>
            <a:pPr eaLnBrk="1" hangingPunct="1"/>
            <a:r>
              <a:rPr lang="en-GB" altLang="en-US">
                <a:solidFill>
                  <a:srgbClr val="0000FF"/>
                </a:solidFill>
              </a:rPr>
              <a:t>How Z DNA is formed?</a:t>
            </a:r>
          </a:p>
        </p:txBody>
      </p:sp>
      <p:sp>
        <p:nvSpPr>
          <p:cNvPr id="37891" name="Rectangle 3">
            <a:extLst>
              <a:ext uri="{FF2B5EF4-FFF2-40B4-BE49-F238E27FC236}">
                <a16:creationId xmlns:a16="http://schemas.microsoft.com/office/drawing/2014/main" id="{A8B48049-6300-60D2-25B5-1B45F0A52761}"/>
              </a:ext>
            </a:extLst>
          </p:cNvPr>
          <p:cNvSpPr>
            <a:spLocks noGrp="1" noChangeArrowheads="1"/>
          </p:cNvSpPr>
          <p:nvPr>
            <p:ph type="body" idx="1"/>
          </p:nvPr>
        </p:nvSpPr>
        <p:spPr>
          <a:xfrm>
            <a:off x="107950" y="1719263"/>
            <a:ext cx="5770563" cy="5138737"/>
          </a:xfrm>
        </p:spPr>
        <p:txBody>
          <a:bodyPr/>
          <a:lstStyle/>
          <a:p>
            <a:pPr eaLnBrk="1" hangingPunct="1">
              <a:lnSpc>
                <a:spcPct val="90000"/>
              </a:lnSpc>
            </a:pPr>
            <a:r>
              <a:rPr lang="en-GB" altLang="en-US" sz="2200" dirty="0"/>
              <a:t>In right-handed DNA, the glycosidic bond is always in the anti conformation</a:t>
            </a:r>
          </a:p>
          <a:p>
            <a:pPr eaLnBrk="1" hangingPunct="1">
              <a:lnSpc>
                <a:spcPct val="90000"/>
              </a:lnSpc>
            </a:pPr>
            <a:r>
              <a:rPr lang="en-GB" altLang="en-US" sz="2200" dirty="0"/>
              <a:t>In the left-handed helix, the fundamental repeating unit usually is a purine-pyrimidine dinucleotide with the glycosidic bond in the anti-conformation at pyrimidine residues and in the </a:t>
            </a:r>
            <a:r>
              <a:rPr lang="en-GB" altLang="en-US" sz="2200" dirty="0" err="1"/>
              <a:t>syn</a:t>
            </a:r>
            <a:r>
              <a:rPr lang="en-GB" altLang="en-US" sz="2200" dirty="0"/>
              <a:t> conformation at purine residues</a:t>
            </a:r>
          </a:p>
          <a:p>
            <a:pPr eaLnBrk="1" hangingPunct="1">
              <a:lnSpc>
                <a:spcPct val="90000"/>
              </a:lnSpc>
            </a:pPr>
            <a:r>
              <a:rPr lang="en-GB" altLang="en-US" sz="2200" dirty="0"/>
              <a:t>Ant-</a:t>
            </a:r>
            <a:r>
              <a:rPr lang="en-GB" altLang="en-US" sz="2200" dirty="0" err="1"/>
              <a:t>syn</a:t>
            </a:r>
            <a:r>
              <a:rPr lang="en-GB" altLang="en-US" sz="2200" dirty="0"/>
              <a:t> conformation gives the backbone of the left-handed DNA a zigzag look</a:t>
            </a:r>
          </a:p>
          <a:p>
            <a:pPr eaLnBrk="1" hangingPunct="1">
              <a:lnSpc>
                <a:spcPct val="90000"/>
              </a:lnSpc>
            </a:pPr>
            <a:r>
              <a:rPr lang="en-GB" altLang="en-US" sz="2200" dirty="0"/>
              <a:t>In solution, alternating </a:t>
            </a:r>
            <a:r>
              <a:rPr lang="en-GB" altLang="en-US" sz="2200" dirty="0" err="1"/>
              <a:t>pu-py</a:t>
            </a:r>
            <a:r>
              <a:rPr lang="en-GB" altLang="en-US" sz="2200" dirty="0"/>
              <a:t> assume the left-handed conformation only in the presence of high </a:t>
            </a:r>
            <a:r>
              <a:rPr lang="en-GB" altLang="en-US" sz="2200" dirty="0" err="1"/>
              <a:t>conc</a:t>
            </a:r>
            <a:r>
              <a:rPr lang="en-GB" altLang="en-US" sz="2200" dirty="0"/>
              <a:t> of positively charged ions that shield the phosphate groups. </a:t>
            </a:r>
          </a:p>
        </p:txBody>
      </p:sp>
      <p:pic>
        <p:nvPicPr>
          <p:cNvPr id="37892" name="Picture 4">
            <a:extLst>
              <a:ext uri="{FF2B5EF4-FFF2-40B4-BE49-F238E27FC236}">
                <a16:creationId xmlns:a16="http://schemas.microsoft.com/office/drawing/2014/main" id="{723B439E-504D-7FD2-942C-954C3A7A41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0314" b="2870"/>
          <a:stretch>
            <a:fillRect/>
          </a:stretch>
        </p:blipFill>
        <p:spPr bwMode="auto">
          <a:xfrm>
            <a:off x="5940425" y="1412875"/>
            <a:ext cx="3016250" cy="524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5">
            <a:extLst>
              <a:ext uri="{FF2B5EF4-FFF2-40B4-BE49-F238E27FC236}">
                <a16:creationId xmlns:a16="http://schemas.microsoft.com/office/drawing/2014/main" id="{5C783DF0-1C73-F59B-10E4-FD3578D8B0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2854" t="35085" r="-1418" b="43454"/>
          <a:stretch>
            <a:fillRect/>
          </a:stretch>
        </p:blipFill>
        <p:spPr bwMode="auto">
          <a:xfrm>
            <a:off x="6767513" y="0"/>
            <a:ext cx="2376487"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EF1155E9-5DCD-7D89-DCD4-6BB6E021C4A7}"/>
              </a:ext>
            </a:extLst>
          </p:cNvPr>
          <p:cNvSpPr>
            <a:spLocks noGrp="1"/>
          </p:cNvSpPr>
          <p:nvPr>
            <p:ph type="title"/>
          </p:nvPr>
        </p:nvSpPr>
        <p:spPr>
          <a:xfrm>
            <a:off x="468313" y="836613"/>
            <a:ext cx="7543800" cy="868362"/>
          </a:xfrm>
        </p:spPr>
        <p:txBody>
          <a:bodyPr/>
          <a:lstStyle/>
          <a:p>
            <a:r>
              <a:rPr lang="en-US" altLang="en-US">
                <a:solidFill>
                  <a:srgbClr val="0000FF"/>
                </a:solidFill>
              </a:rPr>
              <a:t>Circular DNA</a:t>
            </a:r>
          </a:p>
        </p:txBody>
      </p:sp>
      <p:sp>
        <p:nvSpPr>
          <p:cNvPr id="39939" name="Content Placeholder 2">
            <a:extLst>
              <a:ext uri="{FF2B5EF4-FFF2-40B4-BE49-F238E27FC236}">
                <a16:creationId xmlns:a16="http://schemas.microsoft.com/office/drawing/2014/main" id="{E0BF4BCB-A8B9-7821-2A2F-631C763E6266}"/>
              </a:ext>
            </a:extLst>
          </p:cNvPr>
          <p:cNvSpPr>
            <a:spLocks noGrp="1"/>
          </p:cNvSpPr>
          <p:nvPr>
            <p:ph idx="1"/>
          </p:nvPr>
        </p:nvSpPr>
        <p:spPr>
          <a:xfrm>
            <a:off x="539750" y="1989138"/>
            <a:ext cx="8229600" cy="3436937"/>
          </a:xfrm>
        </p:spPr>
        <p:txBody>
          <a:bodyPr/>
          <a:lstStyle/>
          <a:p>
            <a:r>
              <a:rPr lang="en-US" altLang="en-US"/>
              <a:t>Eukaryotic chromosomes have </a:t>
            </a:r>
            <a:r>
              <a:rPr lang="en-US" altLang="en-US">
                <a:solidFill>
                  <a:srgbClr val="FF0000"/>
                </a:solidFill>
              </a:rPr>
              <a:t>linear</a:t>
            </a:r>
            <a:r>
              <a:rPr lang="en-US" altLang="en-US"/>
              <a:t> DNA with two free ends</a:t>
            </a:r>
          </a:p>
          <a:p>
            <a:r>
              <a:rPr lang="en-US" altLang="en-US"/>
              <a:t>Most bacterial DNA, DNA of small viruses and free plasmids all have </a:t>
            </a:r>
            <a:r>
              <a:rPr lang="en-US" altLang="en-US">
                <a:solidFill>
                  <a:srgbClr val="FF0000"/>
                </a:solidFill>
              </a:rPr>
              <a:t>circular</a:t>
            </a:r>
            <a:r>
              <a:rPr lang="en-US" altLang="en-US"/>
              <a:t> DNA</a:t>
            </a:r>
          </a:p>
          <a:p>
            <a:r>
              <a:rPr lang="en-US" altLang="en-US"/>
              <a:t>Some DNA molecules are sometimes linear and sometimes circular e.g. phage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9C02BCE7-3E38-2371-D080-33DB3B3381FD}"/>
              </a:ext>
            </a:extLst>
          </p:cNvPr>
          <p:cNvSpPr>
            <a:spLocks noGrp="1" noChangeArrowheads="1"/>
          </p:cNvSpPr>
          <p:nvPr>
            <p:ph type="title"/>
          </p:nvPr>
        </p:nvSpPr>
        <p:spPr>
          <a:xfrm>
            <a:off x="611188" y="549275"/>
            <a:ext cx="3970337" cy="796925"/>
          </a:xfrm>
        </p:spPr>
        <p:txBody>
          <a:bodyPr/>
          <a:lstStyle/>
          <a:p>
            <a:pPr eaLnBrk="1" hangingPunct="1"/>
            <a:r>
              <a:rPr lang="en-US" altLang="en-US" u="sng">
                <a:solidFill>
                  <a:srgbClr val="0000FF"/>
                </a:solidFill>
              </a:rPr>
              <a:t>DNA Topology</a:t>
            </a:r>
            <a:endParaRPr lang="en-GB" altLang="en-US" u="sng">
              <a:solidFill>
                <a:srgbClr val="0000FF"/>
              </a:solidFill>
            </a:endParaRPr>
          </a:p>
        </p:txBody>
      </p:sp>
      <p:sp>
        <p:nvSpPr>
          <p:cNvPr id="41987" name="Rectangle 3">
            <a:extLst>
              <a:ext uri="{FF2B5EF4-FFF2-40B4-BE49-F238E27FC236}">
                <a16:creationId xmlns:a16="http://schemas.microsoft.com/office/drawing/2014/main" id="{EC3F6411-4D5C-7BC2-C8E9-A230BA390126}"/>
              </a:ext>
            </a:extLst>
          </p:cNvPr>
          <p:cNvSpPr>
            <a:spLocks noGrp="1" noChangeArrowheads="1"/>
          </p:cNvSpPr>
          <p:nvPr>
            <p:ph type="body" idx="1"/>
          </p:nvPr>
        </p:nvSpPr>
        <p:spPr>
          <a:xfrm>
            <a:off x="395288" y="1628775"/>
            <a:ext cx="6337300" cy="3960813"/>
          </a:xfrm>
        </p:spPr>
        <p:txBody>
          <a:bodyPr/>
          <a:lstStyle/>
          <a:p>
            <a:r>
              <a:rPr lang="en-US" altLang="en-US" sz="2400" dirty="0"/>
              <a:t>DNA is a flexible structure, its exact parameters are a function of both the surrounding ionic environment and the nature of the DNA-binding proteins with which it is complexed</a:t>
            </a:r>
          </a:p>
          <a:p>
            <a:pPr eaLnBrk="1" hangingPunct="1"/>
            <a:r>
              <a:rPr lang="en-US" altLang="en-US" sz="2500" dirty="0"/>
              <a:t>Linear DNA can freely rotate to accommodate changes in the number of times the two chains of the double helix twist about each other</a:t>
            </a:r>
          </a:p>
        </p:txBody>
      </p:sp>
      <p:pic>
        <p:nvPicPr>
          <p:cNvPr id="41988" name="Picture 4">
            <a:extLst>
              <a:ext uri="{FF2B5EF4-FFF2-40B4-BE49-F238E27FC236}">
                <a16:creationId xmlns:a16="http://schemas.microsoft.com/office/drawing/2014/main" id="{E7C04D4F-B9CA-E2C3-E871-90893A1087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005" t="4410" r="5862" b="5693"/>
          <a:stretch>
            <a:fillRect/>
          </a:stretch>
        </p:blipFill>
        <p:spPr bwMode="auto">
          <a:xfrm>
            <a:off x="6659563" y="1700213"/>
            <a:ext cx="2239962"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a:extLst>
              <a:ext uri="{FF2B5EF4-FFF2-40B4-BE49-F238E27FC236}">
                <a16:creationId xmlns:a16="http://schemas.microsoft.com/office/drawing/2014/main" id="{04341705-A971-8F71-2627-A374B7D09399}"/>
              </a:ext>
            </a:extLst>
          </p:cNvPr>
          <p:cNvSpPr>
            <a:spLocks noGrp="1"/>
          </p:cNvSpPr>
          <p:nvPr>
            <p:ph idx="1"/>
          </p:nvPr>
        </p:nvSpPr>
        <p:spPr>
          <a:xfrm>
            <a:off x="323850" y="1268413"/>
            <a:ext cx="8507413" cy="4662487"/>
          </a:xfrm>
        </p:spPr>
        <p:txBody>
          <a:bodyPr/>
          <a:lstStyle/>
          <a:p>
            <a:pPr eaLnBrk="1" hangingPunct="1"/>
            <a:r>
              <a:rPr lang="en-US" altLang="en-US" sz="3200" dirty="0"/>
              <a:t>But if the two ends are covalently linked to form a circular DNA molecule (</a:t>
            </a:r>
            <a:r>
              <a:rPr lang="en-US" altLang="en-US" sz="3200" b="1" dirty="0" err="1">
                <a:solidFill>
                  <a:srgbClr val="FF0000"/>
                </a:solidFill>
              </a:rPr>
              <a:t>cccDNA</a:t>
            </a:r>
            <a:r>
              <a:rPr lang="en-US" altLang="en-US" sz="3200" dirty="0"/>
              <a:t>) then the absolute number of times the chains can twist about each other cannot change</a:t>
            </a:r>
          </a:p>
          <a:p>
            <a:pPr eaLnBrk="1" hangingPunct="1"/>
            <a:r>
              <a:rPr lang="en-US" altLang="en-US" sz="3200" dirty="0"/>
              <a:t>DNA is constrained (can’t unwind freely)</a:t>
            </a:r>
          </a:p>
          <a:p>
            <a:pPr eaLnBrk="1" hangingPunct="1"/>
            <a:r>
              <a:rPr lang="en-US" altLang="en-US" sz="3200" dirty="0"/>
              <a:t>Despite these constraints, DNA participates in numerous dynamic processes in the cell (transcription and replication).</a:t>
            </a:r>
            <a:endParaRPr lang="en-GB" altLang="en-US" sz="3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78CA7551-7096-4688-2398-BA40607BEBBA}"/>
              </a:ext>
            </a:extLst>
          </p:cNvPr>
          <p:cNvSpPr>
            <a:spLocks noGrp="1"/>
          </p:cNvSpPr>
          <p:nvPr>
            <p:ph type="title"/>
          </p:nvPr>
        </p:nvSpPr>
        <p:spPr>
          <a:xfrm>
            <a:off x="457200" y="261938"/>
            <a:ext cx="7543800" cy="1295400"/>
          </a:xfrm>
        </p:spPr>
        <p:txBody>
          <a:bodyPr/>
          <a:lstStyle/>
          <a:p>
            <a:r>
              <a:rPr lang="en-US" altLang="en-US">
                <a:solidFill>
                  <a:srgbClr val="0000FF"/>
                </a:solidFill>
              </a:rPr>
              <a:t>Linking number of covalently closed circular DNA</a:t>
            </a:r>
          </a:p>
        </p:txBody>
      </p:sp>
      <p:sp>
        <p:nvSpPr>
          <p:cNvPr id="46083" name="Content Placeholder 2">
            <a:extLst>
              <a:ext uri="{FF2B5EF4-FFF2-40B4-BE49-F238E27FC236}">
                <a16:creationId xmlns:a16="http://schemas.microsoft.com/office/drawing/2014/main" id="{827B9B27-ED56-6B7F-9FCA-626BC623E76E}"/>
              </a:ext>
            </a:extLst>
          </p:cNvPr>
          <p:cNvSpPr>
            <a:spLocks noGrp="1"/>
          </p:cNvSpPr>
          <p:nvPr>
            <p:ph idx="1"/>
          </p:nvPr>
        </p:nvSpPr>
        <p:spPr>
          <a:xfrm>
            <a:off x="457200" y="1773238"/>
            <a:ext cx="8229600" cy="4824412"/>
          </a:xfrm>
        </p:spPr>
        <p:txBody>
          <a:bodyPr/>
          <a:lstStyle/>
          <a:p>
            <a:r>
              <a:rPr lang="en-US" altLang="en-US" sz="2200" dirty="0"/>
              <a:t>Because there are no interruptions in either polynucleotide chain, the two strands of </a:t>
            </a:r>
            <a:r>
              <a:rPr lang="en-US" altLang="en-US" sz="2200" dirty="0" err="1"/>
              <a:t>cccDNA</a:t>
            </a:r>
            <a:r>
              <a:rPr lang="en-US" altLang="en-US" sz="2200" dirty="0"/>
              <a:t> cannot be separated from each other without the breaking of a covalent bond</a:t>
            </a:r>
          </a:p>
          <a:p>
            <a:r>
              <a:rPr lang="en-US" altLang="en-US" sz="2200" dirty="0"/>
              <a:t>If we wish to separate the two circular strands without permanently breaking any bonds in the sugar-phosphate backbones, we would have to </a:t>
            </a:r>
            <a:r>
              <a:rPr lang="en-US" altLang="en-US" sz="2200" dirty="0">
                <a:solidFill>
                  <a:srgbClr val="C00000"/>
                </a:solidFill>
              </a:rPr>
              <a:t>pass one strand through the other strand repeatedly </a:t>
            </a:r>
          </a:p>
          <a:p>
            <a:r>
              <a:rPr lang="en-US" altLang="en-US" sz="2200" dirty="0"/>
              <a:t>The number of times one strand would have to be passed through the other strand for the two strands to be entirely separated from each other is called the </a:t>
            </a:r>
            <a:r>
              <a:rPr lang="en-US" altLang="en-US" sz="2200" dirty="0">
                <a:solidFill>
                  <a:srgbClr val="C00000"/>
                </a:solidFill>
              </a:rPr>
              <a:t>linking number</a:t>
            </a:r>
          </a:p>
          <a:p>
            <a:r>
              <a:rPr lang="en-US" altLang="en-US" sz="2200" dirty="0">
                <a:solidFill>
                  <a:srgbClr val="C00000"/>
                </a:solidFill>
              </a:rPr>
              <a:t>The linking number is the </a:t>
            </a:r>
            <a:r>
              <a:rPr lang="en-US" altLang="en-US" sz="2200" dirty="0"/>
              <a:t>sum of two geometric components called </a:t>
            </a:r>
            <a:r>
              <a:rPr lang="en-US" altLang="en-US" sz="2200" dirty="0">
                <a:solidFill>
                  <a:srgbClr val="C00000"/>
                </a:solidFill>
              </a:rPr>
              <a:t>twist </a:t>
            </a:r>
            <a:r>
              <a:rPr lang="en-US" altLang="en-US" sz="2200" dirty="0"/>
              <a:t>and</a:t>
            </a:r>
            <a:r>
              <a:rPr lang="en-US" altLang="en-US" sz="2200" dirty="0">
                <a:solidFill>
                  <a:srgbClr val="C00000"/>
                </a:solidFill>
              </a:rPr>
              <a:t> writhe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F32A2-4299-D93B-EA5A-54FB2546EE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7D88BBD-3034-C524-15BB-A45A33D0302F}"/>
              </a:ext>
            </a:extLst>
          </p:cNvPr>
          <p:cNvSpPr>
            <a:spLocks noGrp="1"/>
          </p:cNvSpPr>
          <p:nvPr>
            <p:ph idx="1"/>
          </p:nvPr>
        </p:nvSpPr>
        <p:spPr/>
        <p:txBody>
          <a:bodyPr/>
          <a:lstStyle/>
          <a:p>
            <a:r>
              <a:rPr lang="en-US" sz="2000" dirty="0"/>
              <a:t>To clarify the concept of </a:t>
            </a:r>
            <a:r>
              <a:rPr lang="en-US" sz="2000" b="1" dirty="0"/>
              <a:t>linking number (Lk)</a:t>
            </a:r>
            <a:r>
              <a:rPr lang="en-US" sz="2000" dirty="0"/>
              <a:t>, </a:t>
            </a:r>
            <a:r>
              <a:rPr lang="en-US" sz="2000" b="1" dirty="0"/>
              <a:t>twist (Tw)</a:t>
            </a:r>
            <a:r>
              <a:rPr lang="en-US" sz="2000" dirty="0"/>
              <a:t>, and </a:t>
            </a:r>
            <a:r>
              <a:rPr lang="en-US" sz="2000" b="1" dirty="0"/>
              <a:t>writhe (</a:t>
            </a:r>
            <a:r>
              <a:rPr lang="en-US" sz="2000" b="1" dirty="0" err="1"/>
              <a:t>Wr</a:t>
            </a:r>
            <a:r>
              <a:rPr lang="en-US" sz="2000" b="1" dirty="0"/>
              <a:t>)</a:t>
            </a:r>
            <a:r>
              <a:rPr lang="en-US" sz="2000" dirty="0"/>
              <a:t> in circular DNA, let’s break it down with an example.</a:t>
            </a:r>
          </a:p>
          <a:p>
            <a:r>
              <a:rPr lang="en-US" sz="2000" b="1" dirty="0"/>
              <a:t>Definitions:</a:t>
            </a:r>
          </a:p>
          <a:p>
            <a:pPr>
              <a:buFont typeface="+mj-lt"/>
              <a:buAutoNum type="arabicPeriod"/>
            </a:pPr>
            <a:r>
              <a:rPr lang="en-US" sz="2000" b="1" dirty="0"/>
              <a:t>Linking Number (Lk)</a:t>
            </a:r>
            <a:r>
              <a:rPr lang="en-US" sz="2000" dirty="0"/>
              <a:t>: The total number of times one strand of DNA wraps around the other in a circular DNA molecule. It's the sum of twist and writhe:</a:t>
            </a:r>
          </a:p>
          <a:p>
            <a:pPr>
              <a:buFont typeface="+mj-lt"/>
              <a:buAutoNum type="arabicPeriod"/>
            </a:pPr>
            <a:r>
              <a:rPr lang="en-US" sz="2000" dirty="0"/>
              <a:t>Lk=</a:t>
            </a:r>
            <a:r>
              <a:rPr lang="en-US" sz="2000" dirty="0" err="1"/>
              <a:t>Tw+WrLk</a:t>
            </a:r>
            <a:r>
              <a:rPr lang="en-US" sz="2000" dirty="0"/>
              <a:t> = Tw + </a:t>
            </a:r>
            <a:r>
              <a:rPr lang="en-US" sz="2000" dirty="0" err="1"/>
              <a:t>WrLk</a:t>
            </a:r>
            <a:r>
              <a:rPr lang="en-US" sz="2000" dirty="0"/>
              <a:t>=</a:t>
            </a:r>
            <a:r>
              <a:rPr lang="en-US" sz="2000" dirty="0" err="1"/>
              <a:t>Tw+Wr</a:t>
            </a:r>
            <a:endParaRPr lang="en-US" sz="2000" dirty="0"/>
          </a:p>
          <a:p>
            <a:pPr>
              <a:buFont typeface="+mj-lt"/>
              <a:buAutoNum type="arabicPeriod"/>
            </a:pPr>
            <a:r>
              <a:rPr lang="en-US" sz="2000" b="1" dirty="0"/>
              <a:t>Twist (Tw)</a:t>
            </a:r>
            <a:r>
              <a:rPr lang="en-US" sz="2000" dirty="0"/>
              <a:t>: This represents how many times the two DNA strands twist around each other in a helical manner. In relaxed B-DNA, for example, there are about 10.5 base pairs per turn of the helix.</a:t>
            </a:r>
          </a:p>
          <a:p>
            <a:pPr>
              <a:buFont typeface="+mj-lt"/>
              <a:buAutoNum type="arabicPeriod"/>
            </a:pPr>
            <a:r>
              <a:rPr lang="en-US" sz="2000" b="1" dirty="0"/>
              <a:t>Writhe (</a:t>
            </a:r>
            <a:r>
              <a:rPr lang="en-US" sz="2000" b="1" dirty="0" err="1"/>
              <a:t>Wr</a:t>
            </a:r>
            <a:r>
              <a:rPr lang="en-US" sz="2000" b="1" dirty="0"/>
              <a:t>)</a:t>
            </a:r>
            <a:r>
              <a:rPr lang="en-US" sz="2000" dirty="0"/>
              <a:t>: This refers to the number of times the DNA double helix crosses over itself in space, which creates supercoiling. It can be positive (overwound) or negative (underwound).</a:t>
            </a:r>
          </a:p>
          <a:p>
            <a:endParaRPr lang="en-US" sz="1200" dirty="0"/>
          </a:p>
        </p:txBody>
      </p:sp>
    </p:spTree>
    <p:extLst>
      <p:ext uri="{BB962C8B-B14F-4D97-AF65-F5344CB8AC3E}">
        <p14:creationId xmlns:p14="http://schemas.microsoft.com/office/powerpoint/2010/main" val="31040055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2C5FE-216A-718B-AE88-19C0E8DE94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183EDB-A955-0E0B-1693-655BF05675FA}"/>
              </a:ext>
            </a:extLst>
          </p:cNvPr>
          <p:cNvSpPr>
            <a:spLocks noGrp="1"/>
          </p:cNvSpPr>
          <p:nvPr>
            <p:ph idx="1"/>
          </p:nvPr>
        </p:nvSpPr>
        <p:spPr/>
        <p:txBody>
          <a:bodyPr/>
          <a:lstStyle/>
          <a:p>
            <a:r>
              <a:rPr lang="en-US" sz="1600" b="1" dirty="0"/>
              <a:t>Example:</a:t>
            </a:r>
          </a:p>
          <a:p>
            <a:r>
              <a:rPr lang="en-US" sz="1600" dirty="0"/>
              <a:t>Imagine a circular DNA molecule that contains 210 base pairs. If this DNA is in its relaxed state (no supercoiling), the twist would be:</a:t>
            </a:r>
          </a:p>
          <a:p>
            <a:r>
              <a:rPr lang="en-US" sz="1600" dirty="0"/>
              <a:t>Tw=210 base pairs/10.5 base pairs per turn=20 </a:t>
            </a:r>
          </a:p>
          <a:p>
            <a:r>
              <a:rPr lang="en-US" sz="1600" dirty="0"/>
              <a:t>So, in this relaxed state, the linking number would simply be the twist:</a:t>
            </a:r>
          </a:p>
          <a:p>
            <a:r>
              <a:rPr lang="en-US" sz="1600" dirty="0"/>
              <a:t>Lk=Tw=20, Lk = Tw = 20Lk=Tw=20</a:t>
            </a:r>
          </a:p>
          <a:p>
            <a:r>
              <a:rPr lang="en-US" sz="1600" dirty="0"/>
              <a:t>If there is no writhe, the linking number is equal to the twist.</a:t>
            </a:r>
          </a:p>
          <a:p>
            <a:pPr marL="0" indent="0">
              <a:buNone/>
            </a:pPr>
            <a:endParaRPr lang="en-US" dirty="0"/>
          </a:p>
        </p:txBody>
      </p:sp>
    </p:spTree>
    <p:extLst>
      <p:ext uri="{BB962C8B-B14F-4D97-AF65-F5344CB8AC3E}">
        <p14:creationId xmlns:p14="http://schemas.microsoft.com/office/powerpoint/2010/main" val="26893887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EE2B9-4C76-7A8F-91DF-D411790820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348430-F125-75C3-0951-278C690B6875}"/>
              </a:ext>
            </a:extLst>
          </p:cNvPr>
          <p:cNvSpPr>
            <a:spLocks noGrp="1"/>
          </p:cNvSpPr>
          <p:nvPr>
            <p:ph idx="1"/>
          </p:nvPr>
        </p:nvSpPr>
        <p:spPr>
          <a:xfrm>
            <a:off x="457200" y="1719262"/>
            <a:ext cx="8229600" cy="5016499"/>
          </a:xfrm>
        </p:spPr>
        <p:txBody>
          <a:bodyPr/>
          <a:lstStyle/>
          <a:p>
            <a:r>
              <a:rPr lang="en-US" sz="1600" b="1" dirty="0"/>
              <a:t>Introducing Supercoiling:</a:t>
            </a:r>
          </a:p>
          <a:p>
            <a:r>
              <a:rPr lang="en-US" sz="1600" dirty="0"/>
              <a:t>Now, let’s assume the DNA becomes </a:t>
            </a:r>
            <a:r>
              <a:rPr lang="en-US" sz="1600" b="1" dirty="0"/>
              <a:t>underwound</a:t>
            </a:r>
            <a:r>
              <a:rPr lang="en-US" sz="1600" dirty="0"/>
              <a:t>, meaning that there is less twisting than normal, and supercoiling is introduced. If we remove two turns, the twist becomes:</a:t>
            </a:r>
          </a:p>
          <a:p>
            <a:r>
              <a:rPr lang="en-US" sz="1600" dirty="0"/>
              <a:t>Tw=18Tw = 18Tw=18To maintain the linking number (which remains constant unless covalent bonds are broken), the molecule compensates by introducing negative supercoils. The writhe would now be:</a:t>
            </a:r>
          </a:p>
          <a:p>
            <a:r>
              <a:rPr lang="en-US" sz="1600" dirty="0" err="1"/>
              <a:t>Wr</a:t>
            </a:r>
            <a:r>
              <a:rPr lang="en-US" sz="1600" dirty="0"/>
              <a:t>=Lk−Tw=20−18=+2 (negative supercoils)</a:t>
            </a:r>
            <a:r>
              <a:rPr lang="en-US" sz="1600" dirty="0" err="1"/>
              <a:t>Wr</a:t>
            </a:r>
            <a:r>
              <a:rPr lang="en-US" sz="1600" dirty="0"/>
              <a:t> = Lk - Tw = 20 - 18 = +2 \, \text{(negative supercoils)}</a:t>
            </a:r>
            <a:r>
              <a:rPr lang="en-US" sz="1600" dirty="0" err="1"/>
              <a:t>Wr</a:t>
            </a:r>
            <a:r>
              <a:rPr lang="en-US" sz="1600" dirty="0"/>
              <a:t>=Lk−Tw=20−18=+2(negative supercoils)</a:t>
            </a:r>
          </a:p>
          <a:p>
            <a:r>
              <a:rPr lang="en-US" sz="1600" dirty="0"/>
              <a:t>Thus, the molecule introduces writhe (supercoiling) to maintain the overall linking number of 20.</a:t>
            </a:r>
          </a:p>
          <a:p>
            <a:r>
              <a:rPr lang="en-US" sz="1600" b="1" dirty="0"/>
              <a:t>Key Concept:</a:t>
            </a:r>
          </a:p>
          <a:p>
            <a:r>
              <a:rPr lang="en-US" sz="1600" dirty="0"/>
              <a:t>In this example, if you wanted to </a:t>
            </a:r>
            <a:r>
              <a:rPr lang="en-US" sz="1600" b="1" dirty="0"/>
              <a:t>completely separate the two strands</a:t>
            </a:r>
            <a:r>
              <a:rPr lang="en-US" sz="1600" dirty="0"/>
              <a:t> without breaking any bonds, you would need to pass one strand through the other 20 times, because the linking number (Lk) is 20. This is what the linking number represents: the number of passes required to separate the strands of a circular DNA molecule.</a:t>
            </a:r>
          </a:p>
          <a:p>
            <a:endParaRPr lang="en-US" dirty="0"/>
          </a:p>
        </p:txBody>
      </p:sp>
    </p:spTree>
    <p:extLst>
      <p:ext uri="{BB962C8B-B14F-4D97-AF65-F5344CB8AC3E}">
        <p14:creationId xmlns:p14="http://schemas.microsoft.com/office/powerpoint/2010/main" val="480039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8E35174-3557-E497-5657-B512597459CD}"/>
              </a:ext>
            </a:extLst>
          </p:cNvPr>
          <p:cNvSpPr>
            <a:spLocks noGrp="1" noChangeArrowheads="1"/>
          </p:cNvSpPr>
          <p:nvPr>
            <p:ph type="title"/>
          </p:nvPr>
        </p:nvSpPr>
        <p:spPr>
          <a:xfrm>
            <a:off x="457200" y="260350"/>
            <a:ext cx="3106738" cy="725488"/>
          </a:xfrm>
        </p:spPr>
        <p:txBody>
          <a:bodyPr/>
          <a:lstStyle/>
          <a:p>
            <a:pPr eaLnBrk="1" hangingPunct="1"/>
            <a:r>
              <a:rPr lang="en-US" altLang="en-US">
                <a:solidFill>
                  <a:srgbClr val="0000FF"/>
                </a:solidFill>
              </a:rPr>
              <a:t>Twist (Tw)</a:t>
            </a:r>
            <a:endParaRPr lang="en-GB" altLang="en-US">
              <a:solidFill>
                <a:srgbClr val="0000FF"/>
              </a:solidFill>
            </a:endParaRPr>
          </a:p>
        </p:txBody>
      </p:sp>
      <p:sp>
        <p:nvSpPr>
          <p:cNvPr id="48131" name="Rectangle 3">
            <a:extLst>
              <a:ext uri="{FF2B5EF4-FFF2-40B4-BE49-F238E27FC236}">
                <a16:creationId xmlns:a16="http://schemas.microsoft.com/office/drawing/2014/main" id="{AD57CAE2-FCCE-4468-5915-DEECFEC5AB39}"/>
              </a:ext>
            </a:extLst>
          </p:cNvPr>
          <p:cNvSpPr>
            <a:spLocks noGrp="1" noChangeArrowheads="1"/>
          </p:cNvSpPr>
          <p:nvPr>
            <p:ph type="body" idx="1"/>
          </p:nvPr>
        </p:nvSpPr>
        <p:spPr>
          <a:xfrm>
            <a:off x="457200" y="1052513"/>
            <a:ext cx="4619625" cy="5184775"/>
          </a:xfrm>
        </p:spPr>
        <p:txBody>
          <a:bodyPr/>
          <a:lstStyle/>
          <a:p>
            <a:pPr eaLnBrk="1" hangingPunct="1"/>
            <a:r>
              <a:rPr lang="en-US" altLang="en-US" sz="2900"/>
              <a:t>The helical turns of </a:t>
            </a:r>
            <a:r>
              <a:rPr lang="en-US" altLang="en-US" sz="2900" u="sng"/>
              <a:t>one strand of DNA</a:t>
            </a:r>
            <a:r>
              <a:rPr lang="en-US" altLang="en-US" sz="2900"/>
              <a:t> about the other i.e. the number of times one strand completely wraps around the other strand</a:t>
            </a:r>
          </a:p>
          <a:p>
            <a:pPr eaLnBrk="1" hangingPunct="1"/>
            <a:r>
              <a:rPr lang="en-US" altLang="en-US" sz="2900"/>
              <a:t>The helical twists in a right-handed helix are defined as positive such that the LK of DNA will have positive value</a:t>
            </a:r>
          </a:p>
          <a:p>
            <a:pPr eaLnBrk="1" hangingPunct="1"/>
            <a:endParaRPr lang="en-US" altLang="en-US" sz="2400"/>
          </a:p>
          <a:p>
            <a:pPr eaLnBrk="1" hangingPunct="1"/>
            <a:endParaRPr lang="en-US" altLang="en-US" sz="2400"/>
          </a:p>
        </p:txBody>
      </p:sp>
      <p:pic>
        <p:nvPicPr>
          <p:cNvPr id="48132" name="Picture 4" descr="F29-18">
            <a:extLst>
              <a:ext uri="{FF2B5EF4-FFF2-40B4-BE49-F238E27FC236}">
                <a16:creationId xmlns:a16="http://schemas.microsoft.com/office/drawing/2014/main" id="{DCC24115-0E2D-E8C5-1D0B-8FA59460F5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2225" y="1844675"/>
            <a:ext cx="3933825" cy="396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Rectangle 5">
            <a:extLst>
              <a:ext uri="{FF2B5EF4-FFF2-40B4-BE49-F238E27FC236}">
                <a16:creationId xmlns:a16="http://schemas.microsoft.com/office/drawing/2014/main" id="{F9B7D398-967D-49E1-FC15-51B751B73C74}"/>
              </a:ext>
            </a:extLst>
          </p:cNvPr>
          <p:cNvSpPr>
            <a:spLocks noChangeArrowheads="1"/>
          </p:cNvSpPr>
          <p:nvPr/>
        </p:nvSpPr>
        <p:spPr bwMode="auto">
          <a:xfrm>
            <a:off x="6732588" y="3573463"/>
            <a:ext cx="935037" cy="5032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2301EA5-85EB-11D2-EA93-C8693C730751}"/>
              </a:ext>
            </a:extLst>
          </p:cNvPr>
          <p:cNvSpPr>
            <a:spLocks noGrp="1" noChangeArrowheads="1"/>
          </p:cNvSpPr>
          <p:nvPr>
            <p:ph type="title"/>
          </p:nvPr>
        </p:nvSpPr>
        <p:spPr>
          <a:xfrm>
            <a:off x="611188" y="260350"/>
            <a:ext cx="2098675" cy="868363"/>
          </a:xfrm>
        </p:spPr>
        <p:txBody>
          <a:bodyPr/>
          <a:lstStyle/>
          <a:p>
            <a:pPr eaLnBrk="1" hangingPunct="1"/>
            <a:r>
              <a:rPr lang="en-US" altLang="en-US">
                <a:solidFill>
                  <a:srgbClr val="0000FF"/>
                </a:solidFill>
              </a:rPr>
              <a:t>Writhe</a:t>
            </a:r>
            <a:endParaRPr lang="en-GB" altLang="en-US">
              <a:solidFill>
                <a:srgbClr val="0000FF"/>
              </a:solidFill>
            </a:endParaRPr>
          </a:p>
        </p:txBody>
      </p:sp>
      <p:sp>
        <p:nvSpPr>
          <p:cNvPr id="50179" name="Rectangle 3">
            <a:extLst>
              <a:ext uri="{FF2B5EF4-FFF2-40B4-BE49-F238E27FC236}">
                <a16:creationId xmlns:a16="http://schemas.microsoft.com/office/drawing/2014/main" id="{CD8951B2-AAED-A136-7A48-47F1A25743A5}"/>
              </a:ext>
            </a:extLst>
          </p:cNvPr>
          <p:cNvSpPr>
            <a:spLocks noGrp="1" noChangeArrowheads="1"/>
          </p:cNvSpPr>
          <p:nvPr>
            <p:ph type="body" idx="1"/>
          </p:nvPr>
        </p:nvSpPr>
        <p:spPr>
          <a:xfrm>
            <a:off x="34925" y="1484313"/>
            <a:ext cx="5329238" cy="5113337"/>
          </a:xfrm>
        </p:spPr>
        <p:txBody>
          <a:bodyPr/>
          <a:lstStyle/>
          <a:p>
            <a:pPr marL="571500" indent="-458788" eaLnBrk="1" hangingPunct="1"/>
            <a:r>
              <a:rPr lang="en-US" altLang="en-US" sz="2000" dirty="0"/>
              <a:t>Torsional stress of the DNA in which </a:t>
            </a:r>
            <a:r>
              <a:rPr lang="en-US" altLang="en-US" sz="2000" u="sng" dirty="0"/>
              <a:t>DNA double helix</a:t>
            </a:r>
            <a:r>
              <a:rPr lang="en-US" altLang="en-US" sz="2000" dirty="0"/>
              <a:t> crosses over itself in 3 dimensional space</a:t>
            </a:r>
          </a:p>
          <a:p>
            <a:pPr marL="571500" indent="-458788" eaLnBrk="1" hangingPunct="1"/>
            <a:r>
              <a:rPr lang="en-US" altLang="en-US" sz="2000" dirty="0"/>
              <a:t>Two forms</a:t>
            </a:r>
          </a:p>
          <a:p>
            <a:pPr marL="839788" lvl="1" indent="-495300" eaLnBrk="1" hangingPunct="1">
              <a:buClr>
                <a:schemeClr val="tx1"/>
              </a:buClr>
              <a:buFont typeface="Wingdings" pitchFamily="2" charset="2"/>
              <a:buAutoNum type="arabicPeriod"/>
            </a:pPr>
            <a:r>
              <a:rPr lang="en-US" altLang="en-US" sz="2000" dirty="0"/>
              <a:t>Spiral (Toroid)	</a:t>
            </a:r>
          </a:p>
          <a:p>
            <a:pPr marL="839788" lvl="1" indent="-495300" eaLnBrk="1" hangingPunct="1">
              <a:buClr>
                <a:schemeClr val="tx1"/>
              </a:buClr>
              <a:buFont typeface="Wingdings" pitchFamily="2" charset="2"/>
              <a:buAutoNum type="arabicPeriod" startAt="2"/>
            </a:pPr>
            <a:r>
              <a:rPr lang="en-US" altLang="en-US" sz="2000" dirty="0"/>
              <a:t>Interwound (</a:t>
            </a:r>
            <a:r>
              <a:rPr lang="en-US" altLang="en-US" sz="2000" dirty="0" err="1"/>
              <a:t>plectonemic</a:t>
            </a:r>
            <a:r>
              <a:rPr lang="en-US" altLang="en-US" sz="2000" dirty="0"/>
              <a:t>)</a:t>
            </a:r>
          </a:p>
          <a:p>
            <a:pPr marL="920750" lvl="2" indent="-350838" eaLnBrk="1" hangingPunct="1">
              <a:buClr>
                <a:schemeClr val="tx1"/>
              </a:buClr>
            </a:pPr>
            <a:r>
              <a:rPr lang="en-US" altLang="en-US" sz="2000" b="1" dirty="0">
                <a:solidFill>
                  <a:srgbClr val="FF0000"/>
                </a:solidFill>
              </a:rPr>
              <a:t>Right-handed interwound </a:t>
            </a:r>
            <a:r>
              <a:rPr lang="en-US" altLang="en-US" sz="2000" dirty="0"/>
              <a:t>turns are assigned </a:t>
            </a:r>
            <a:r>
              <a:rPr lang="en-US" altLang="en-US" sz="2000" dirty="0">
                <a:solidFill>
                  <a:srgbClr val="FF0000"/>
                </a:solidFill>
              </a:rPr>
              <a:t>negative writhing numbers</a:t>
            </a:r>
          </a:p>
          <a:p>
            <a:pPr marL="920750" lvl="2" indent="-350838" eaLnBrk="1" hangingPunct="1">
              <a:buClr>
                <a:schemeClr val="tx1"/>
              </a:buClr>
            </a:pPr>
            <a:r>
              <a:rPr lang="en-US" altLang="en-US" sz="2000" b="1" dirty="0">
                <a:solidFill>
                  <a:srgbClr val="7030A0"/>
                </a:solidFill>
              </a:rPr>
              <a:t>If right-handed DNA writhes </a:t>
            </a:r>
            <a:r>
              <a:rPr lang="en-US" altLang="en-US" sz="2000" dirty="0"/>
              <a:t>to form a </a:t>
            </a:r>
            <a:r>
              <a:rPr lang="en-US" altLang="en-US" sz="2000" dirty="0">
                <a:solidFill>
                  <a:srgbClr val="7030A0"/>
                </a:solidFill>
              </a:rPr>
              <a:t>left-handed interwound helix</a:t>
            </a:r>
            <a:r>
              <a:rPr lang="en-US" altLang="en-US" sz="2000" dirty="0"/>
              <a:t>, the twisting number of the DNA decreases. Therefore, left-handed interwound turns are assigned </a:t>
            </a:r>
            <a:r>
              <a:rPr lang="en-US" altLang="en-US" sz="2000" dirty="0">
                <a:solidFill>
                  <a:srgbClr val="7030A0"/>
                </a:solidFill>
              </a:rPr>
              <a:t>positive writhing numbers </a:t>
            </a:r>
            <a:r>
              <a:rPr lang="en-US" altLang="en-US" sz="2500" dirty="0">
                <a:solidFill>
                  <a:srgbClr val="7030A0"/>
                </a:solidFill>
              </a:rPr>
              <a:t> </a:t>
            </a:r>
          </a:p>
          <a:p>
            <a:pPr marL="839788" lvl="1" indent="-495300" eaLnBrk="1" hangingPunct="1"/>
            <a:endParaRPr lang="en-GB" altLang="en-US" dirty="0"/>
          </a:p>
        </p:txBody>
      </p:sp>
      <p:pic>
        <p:nvPicPr>
          <p:cNvPr id="50180" name="Picture 4" descr="F29-21">
            <a:extLst>
              <a:ext uri="{FF2B5EF4-FFF2-40B4-BE49-F238E27FC236}">
                <a16:creationId xmlns:a16="http://schemas.microsoft.com/office/drawing/2014/main" id="{BDFFE3A3-EBEB-48CB-6D5B-6F1A093E7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8775" y="2636838"/>
            <a:ext cx="3705225" cy="267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E96D4C1C-F61E-CC88-CD88-7C186466551B}"/>
              </a:ext>
            </a:extLst>
          </p:cNvPr>
          <p:cNvSpPr>
            <a:spLocks noGrp="1" noChangeArrowheads="1"/>
          </p:cNvSpPr>
          <p:nvPr>
            <p:ph type="title"/>
          </p:nvPr>
        </p:nvSpPr>
        <p:spPr>
          <a:xfrm>
            <a:off x="539750" y="0"/>
            <a:ext cx="6202363" cy="868363"/>
          </a:xfrm>
        </p:spPr>
        <p:txBody>
          <a:bodyPr/>
          <a:lstStyle/>
          <a:p>
            <a:pPr eaLnBrk="1" hangingPunct="1"/>
            <a:r>
              <a:rPr lang="en-US" altLang="en-US">
                <a:solidFill>
                  <a:srgbClr val="0000FF"/>
                </a:solidFill>
              </a:rPr>
              <a:t>Writhing number (Wr)</a:t>
            </a:r>
            <a:endParaRPr lang="en-GB" altLang="en-US">
              <a:solidFill>
                <a:srgbClr val="0000FF"/>
              </a:solidFill>
            </a:endParaRPr>
          </a:p>
        </p:txBody>
      </p:sp>
      <p:sp>
        <p:nvSpPr>
          <p:cNvPr id="52227" name="Rectangle 3">
            <a:extLst>
              <a:ext uri="{FF2B5EF4-FFF2-40B4-BE49-F238E27FC236}">
                <a16:creationId xmlns:a16="http://schemas.microsoft.com/office/drawing/2014/main" id="{EF29749E-22F9-0231-5D82-DC6AFF90257F}"/>
              </a:ext>
            </a:extLst>
          </p:cNvPr>
          <p:cNvSpPr>
            <a:spLocks noGrp="1" noChangeArrowheads="1"/>
          </p:cNvSpPr>
          <p:nvPr>
            <p:ph type="body" idx="1"/>
          </p:nvPr>
        </p:nvSpPr>
        <p:spPr>
          <a:xfrm>
            <a:off x="468313" y="908050"/>
            <a:ext cx="6346825" cy="4968875"/>
          </a:xfrm>
        </p:spPr>
        <p:txBody>
          <a:bodyPr/>
          <a:lstStyle/>
          <a:p>
            <a:pPr marL="571500" indent="-571500" eaLnBrk="1" hangingPunct="1">
              <a:buFont typeface="Wingdings" pitchFamily="2" charset="2"/>
              <a:buNone/>
            </a:pPr>
            <a:r>
              <a:rPr lang="en-US" altLang="en-US"/>
              <a:t>is the total number of interwound / spiral writhes in cccDNA</a:t>
            </a:r>
          </a:p>
          <a:p>
            <a:pPr marL="571500" indent="-571500" eaLnBrk="1" hangingPunct="1"/>
            <a:endParaRPr lang="en-US" altLang="en-US" sz="1600"/>
          </a:p>
          <a:p>
            <a:pPr marL="571500" indent="-571500" eaLnBrk="1" hangingPunct="1"/>
            <a:r>
              <a:rPr lang="en-US" altLang="en-US" sz="2400"/>
              <a:t>Interwound and spiral writhes are topologically equivalent to each other and are readily interconvertible geometric properties of cccDNA</a:t>
            </a:r>
          </a:p>
          <a:p>
            <a:pPr marL="571500" indent="-571500" eaLnBrk="1" hangingPunct="1"/>
            <a:r>
              <a:rPr lang="en-US" altLang="en-US" sz="2400"/>
              <a:t>Twist and writhe are interconvertible</a:t>
            </a:r>
          </a:p>
          <a:p>
            <a:pPr marL="571500" indent="-571500" eaLnBrk="1" hangingPunct="1"/>
            <a:r>
              <a:rPr lang="en-US" altLang="en-US" sz="2400"/>
              <a:t>The only constraint is that the </a:t>
            </a:r>
            <a:r>
              <a:rPr lang="en-US" altLang="en-US" sz="2400">
                <a:solidFill>
                  <a:srgbClr val="C00000"/>
                </a:solidFill>
              </a:rPr>
              <a:t>sum of the twist number and writhing number must remain equal to the linking number</a:t>
            </a:r>
          </a:p>
          <a:p>
            <a:pPr marL="571500" indent="-571500" eaLnBrk="1" hangingPunct="1">
              <a:buFont typeface="Wingdings" pitchFamily="2" charset="2"/>
              <a:buNone/>
            </a:pPr>
            <a:r>
              <a:rPr lang="en-US" altLang="en-US" sz="2400">
                <a:solidFill>
                  <a:srgbClr val="C00000"/>
                </a:solidFill>
              </a:rPr>
              <a:t>                         LK=Tw + Wr</a:t>
            </a:r>
          </a:p>
          <a:p>
            <a:pPr marL="571500" indent="-571500" eaLnBrk="1" hangingPunct="1"/>
            <a:endParaRPr lang="en-US" altLang="en-US" sz="2400">
              <a:solidFill>
                <a:srgbClr val="C00000"/>
              </a:solidFill>
            </a:endParaRPr>
          </a:p>
        </p:txBody>
      </p:sp>
      <p:pic>
        <p:nvPicPr>
          <p:cNvPr id="52228" name="Picture 4">
            <a:extLst>
              <a:ext uri="{FF2B5EF4-FFF2-40B4-BE49-F238E27FC236}">
                <a16:creationId xmlns:a16="http://schemas.microsoft.com/office/drawing/2014/main" id="{67A13BF1-E73C-63ED-0BE9-B6C7BCDB44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0343" t="8031" b="2327"/>
          <a:stretch>
            <a:fillRect/>
          </a:stretch>
        </p:blipFill>
        <p:spPr bwMode="auto">
          <a:xfrm>
            <a:off x="7527925" y="1844675"/>
            <a:ext cx="1323975"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9" name="Text Box 5">
            <a:extLst>
              <a:ext uri="{FF2B5EF4-FFF2-40B4-BE49-F238E27FC236}">
                <a16:creationId xmlns:a16="http://schemas.microsoft.com/office/drawing/2014/main" id="{E23DCCA1-711B-4D54-7F26-1AF5848F9B06}"/>
              </a:ext>
            </a:extLst>
          </p:cNvPr>
          <p:cNvSpPr txBox="1">
            <a:spLocks noChangeArrowheads="1"/>
          </p:cNvSpPr>
          <p:nvPr/>
        </p:nvSpPr>
        <p:spPr bwMode="auto">
          <a:xfrm>
            <a:off x="6443663" y="2708275"/>
            <a:ext cx="1081087"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t>Wr = +3</a:t>
            </a:r>
            <a:endParaRPr lang="en-GB" altLang="en-US" sz="1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39901BEB-1832-7889-2263-999F821E2D39}"/>
              </a:ext>
            </a:extLst>
          </p:cNvPr>
          <p:cNvSpPr>
            <a:spLocks noGrp="1" noChangeArrowheads="1"/>
          </p:cNvSpPr>
          <p:nvPr>
            <p:ph type="title"/>
          </p:nvPr>
        </p:nvSpPr>
        <p:spPr/>
        <p:txBody>
          <a:bodyPr/>
          <a:lstStyle/>
          <a:p>
            <a:pPr eaLnBrk="1" hangingPunct="1"/>
            <a:r>
              <a:rPr lang="en-US" altLang="en-US">
                <a:solidFill>
                  <a:srgbClr val="0000FF"/>
                </a:solidFill>
              </a:rPr>
              <a:t>Linking number (Lk)</a:t>
            </a:r>
            <a:endParaRPr lang="en-GB" altLang="en-US">
              <a:solidFill>
                <a:srgbClr val="0000FF"/>
              </a:solidFill>
            </a:endParaRPr>
          </a:p>
        </p:txBody>
      </p:sp>
      <p:sp>
        <p:nvSpPr>
          <p:cNvPr id="54275" name="Rectangle 3">
            <a:extLst>
              <a:ext uri="{FF2B5EF4-FFF2-40B4-BE49-F238E27FC236}">
                <a16:creationId xmlns:a16="http://schemas.microsoft.com/office/drawing/2014/main" id="{E1C47F07-D229-6922-4901-75516A824D9E}"/>
              </a:ext>
            </a:extLst>
          </p:cNvPr>
          <p:cNvSpPr>
            <a:spLocks noGrp="1" noChangeArrowheads="1"/>
          </p:cNvSpPr>
          <p:nvPr>
            <p:ph type="body" idx="1"/>
          </p:nvPr>
        </p:nvSpPr>
        <p:spPr>
          <a:xfrm>
            <a:off x="179388" y="1719263"/>
            <a:ext cx="4248150" cy="4411662"/>
          </a:xfrm>
        </p:spPr>
        <p:txBody>
          <a:bodyPr/>
          <a:lstStyle/>
          <a:p>
            <a:pPr eaLnBrk="1" hangingPunct="1"/>
            <a:r>
              <a:rPr lang="en-US" altLang="en-US"/>
              <a:t>The </a:t>
            </a:r>
            <a:r>
              <a:rPr lang="en-US" altLang="en-US" u="sng"/>
              <a:t>number of times</a:t>
            </a:r>
            <a:r>
              <a:rPr lang="en-US" altLang="en-US"/>
              <a:t> one strand would have to be passed through the other strand in order for the two strands to be entirely separated from each other</a:t>
            </a:r>
          </a:p>
          <a:p>
            <a:pPr eaLnBrk="1" hangingPunct="1"/>
            <a:endParaRPr lang="en-US" altLang="en-US" sz="1600"/>
          </a:p>
        </p:txBody>
      </p:sp>
      <p:pic>
        <p:nvPicPr>
          <p:cNvPr id="54276" name="Picture 4">
            <a:extLst>
              <a:ext uri="{FF2B5EF4-FFF2-40B4-BE49-F238E27FC236}">
                <a16:creationId xmlns:a16="http://schemas.microsoft.com/office/drawing/2014/main" id="{353007A8-4931-0817-3FF1-9D757CA2A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680" t="6180" r="5658" b="4965"/>
          <a:stretch>
            <a:fillRect/>
          </a:stretch>
        </p:blipFill>
        <p:spPr bwMode="auto">
          <a:xfrm>
            <a:off x="4864100" y="1916113"/>
            <a:ext cx="4046538"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7" name="Text Box 5">
            <a:extLst>
              <a:ext uri="{FF2B5EF4-FFF2-40B4-BE49-F238E27FC236}">
                <a16:creationId xmlns:a16="http://schemas.microsoft.com/office/drawing/2014/main" id="{D555030D-F2BA-454F-6E0B-1790AFD8A2F1}"/>
              </a:ext>
            </a:extLst>
          </p:cNvPr>
          <p:cNvSpPr txBox="1">
            <a:spLocks noChangeArrowheads="1"/>
          </p:cNvSpPr>
          <p:nvPr/>
        </p:nvSpPr>
        <p:spPr bwMode="auto">
          <a:xfrm>
            <a:off x="6372225" y="3644900"/>
            <a:ext cx="1079500" cy="3762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1800"/>
              <a:t>Lk = 5</a:t>
            </a:r>
            <a:endParaRPr lang="en-GB" altLang="en-US" sz="1800"/>
          </a:p>
        </p:txBody>
      </p:sp>
      <p:pic>
        <p:nvPicPr>
          <p:cNvPr id="73734" name="Picture 6">
            <a:extLst>
              <a:ext uri="{FF2B5EF4-FFF2-40B4-BE49-F238E27FC236}">
                <a16:creationId xmlns:a16="http://schemas.microsoft.com/office/drawing/2014/main" id="{697D4785-DE21-B6A3-9E17-F03A6B24CA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4005" t="4410" r="4710" b="4437"/>
          <a:stretch>
            <a:fillRect/>
          </a:stretch>
        </p:blipFill>
        <p:spPr bwMode="auto">
          <a:xfrm>
            <a:off x="4859338" y="1916113"/>
            <a:ext cx="3989387"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737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22F3EB8E-B5E7-825F-F903-422AE036AFFE}"/>
              </a:ext>
            </a:extLst>
          </p:cNvPr>
          <p:cNvSpPr>
            <a:spLocks noGrp="1" noChangeArrowheads="1"/>
          </p:cNvSpPr>
          <p:nvPr>
            <p:ph type="title"/>
          </p:nvPr>
        </p:nvSpPr>
        <p:spPr>
          <a:xfrm>
            <a:off x="457200" y="188913"/>
            <a:ext cx="7283450" cy="1228725"/>
          </a:xfrm>
        </p:spPr>
        <p:txBody>
          <a:bodyPr/>
          <a:lstStyle/>
          <a:p>
            <a:pPr eaLnBrk="1" hangingPunct="1"/>
            <a:r>
              <a:rPr lang="en-US" altLang="en-US">
                <a:solidFill>
                  <a:srgbClr val="0000FF"/>
                </a:solidFill>
              </a:rPr>
              <a:t>Linking number under physiological conditions (Lk</a:t>
            </a:r>
            <a:r>
              <a:rPr lang="en-US" altLang="en-US">
                <a:solidFill>
                  <a:srgbClr val="0000FF"/>
                </a:solidFill>
                <a:sym typeface="Symbol" pitchFamily="2" charset="2"/>
              </a:rPr>
              <a:t>)</a:t>
            </a:r>
            <a:endParaRPr lang="en-US" altLang="en-US" baseline="30000">
              <a:solidFill>
                <a:srgbClr val="0000FF"/>
              </a:solidFill>
              <a:sym typeface="Symbol" pitchFamily="2" charset="2"/>
            </a:endParaRPr>
          </a:p>
        </p:txBody>
      </p:sp>
      <p:sp>
        <p:nvSpPr>
          <p:cNvPr id="56323" name="Rectangle 3">
            <a:extLst>
              <a:ext uri="{FF2B5EF4-FFF2-40B4-BE49-F238E27FC236}">
                <a16:creationId xmlns:a16="http://schemas.microsoft.com/office/drawing/2014/main" id="{B752A844-EEEA-130F-25F6-B3BAA8536DDF}"/>
              </a:ext>
            </a:extLst>
          </p:cNvPr>
          <p:cNvSpPr>
            <a:spLocks noGrp="1" noChangeArrowheads="1"/>
          </p:cNvSpPr>
          <p:nvPr>
            <p:ph type="body" sz="half" idx="1"/>
          </p:nvPr>
        </p:nvSpPr>
        <p:spPr>
          <a:xfrm>
            <a:off x="-31750" y="1484313"/>
            <a:ext cx="5761038" cy="4968875"/>
          </a:xfrm>
        </p:spPr>
        <p:txBody>
          <a:bodyPr/>
          <a:lstStyle/>
          <a:p>
            <a:pPr eaLnBrk="1" hangingPunct="1"/>
            <a:r>
              <a:rPr lang="en-US" altLang="en-US" sz="2600"/>
              <a:t>Lk of cccDNA under physiological conditions</a:t>
            </a:r>
          </a:p>
          <a:p>
            <a:pPr eaLnBrk="1" hangingPunct="1"/>
            <a:r>
              <a:rPr lang="en-US" altLang="en-US" sz="2600"/>
              <a:t>DNA is completely </a:t>
            </a:r>
            <a:r>
              <a:rPr lang="en-US" altLang="en-US" sz="2600">
                <a:solidFill>
                  <a:srgbClr val="C00000"/>
                </a:solidFill>
              </a:rPr>
              <a:t>relaxed </a:t>
            </a:r>
            <a:r>
              <a:rPr lang="en-US" altLang="en-US" sz="2600"/>
              <a:t>(free of supercoiling</a:t>
            </a:r>
          </a:p>
          <a:p>
            <a:pPr eaLnBrk="1" hangingPunct="1"/>
            <a:r>
              <a:rPr lang="en-US" altLang="en-US" sz="2800">
                <a:solidFill>
                  <a:srgbClr val="0000FF"/>
                </a:solidFill>
              </a:rPr>
              <a:t>Lk</a:t>
            </a:r>
            <a:r>
              <a:rPr lang="en-US" altLang="en-US" sz="2800">
                <a:solidFill>
                  <a:srgbClr val="0000FF"/>
                </a:solidFill>
                <a:sym typeface="Symbol" pitchFamily="2" charset="2"/>
              </a:rPr>
              <a:t>  is the number of bp divided by </a:t>
            </a:r>
            <a:r>
              <a:rPr lang="en-US" altLang="en-US" sz="2600"/>
              <a:t>10.5 (bp/turn)</a:t>
            </a:r>
          </a:p>
          <a:p>
            <a:pPr eaLnBrk="1" hangingPunct="1"/>
            <a:r>
              <a:rPr lang="en-US" altLang="en-US" sz="2600"/>
              <a:t>Supercoils of DNA can be relaxed by mild treatment with DNAse I</a:t>
            </a:r>
          </a:p>
          <a:p>
            <a:pPr eaLnBrk="1" hangingPunct="1">
              <a:buFont typeface="Wingdings" pitchFamily="2" charset="2"/>
              <a:buNone/>
            </a:pPr>
            <a:r>
              <a:rPr lang="en-US" altLang="en-US" sz="2600"/>
              <a:t>    which breaks on average one phosphodiester bond in each DNA molecule</a:t>
            </a:r>
          </a:p>
          <a:p>
            <a:pPr eaLnBrk="1" hangingPunct="1"/>
            <a:endParaRPr lang="en-US" altLang="en-US" sz="2600">
              <a:solidFill>
                <a:schemeClr val="accent2"/>
              </a:solidFill>
            </a:endParaRPr>
          </a:p>
          <a:p>
            <a:pPr eaLnBrk="1" hangingPunct="1"/>
            <a:endParaRPr lang="en-GB" altLang="en-US" sz="2600"/>
          </a:p>
        </p:txBody>
      </p:sp>
      <p:pic>
        <p:nvPicPr>
          <p:cNvPr id="56324" name="Picture 5">
            <a:extLst>
              <a:ext uri="{FF2B5EF4-FFF2-40B4-BE49-F238E27FC236}">
                <a16:creationId xmlns:a16="http://schemas.microsoft.com/office/drawing/2014/main" id="{934E0024-ABF0-DD80-7923-14D31CC5CA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1638" y="2349500"/>
            <a:ext cx="3697287" cy="253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5BE76B2B-1554-9827-3EC4-FF0DA6501E3C}"/>
              </a:ext>
            </a:extLst>
          </p:cNvPr>
          <p:cNvSpPr>
            <a:spLocks noGrp="1" noChangeArrowheads="1"/>
          </p:cNvSpPr>
          <p:nvPr>
            <p:ph type="title"/>
          </p:nvPr>
        </p:nvSpPr>
        <p:spPr>
          <a:xfrm>
            <a:off x="457200" y="476250"/>
            <a:ext cx="7543800" cy="941388"/>
          </a:xfrm>
        </p:spPr>
        <p:txBody>
          <a:bodyPr/>
          <a:lstStyle/>
          <a:p>
            <a:pPr eaLnBrk="1" hangingPunct="1"/>
            <a:r>
              <a:rPr lang="en-US" altLang="en-US">
                <a:solidFill>
                  <a:srgbClr val="0000FF"/>
                </a:solidFill>
              </a:rPr>
              <a:t>Linking number (Lk)</a:t>
            </a:r>
            <a:endParaRPr lang="en-GB" altLang="en-US">
              <a:solidFill>
                <a:srgbClr val="0000FF"/>
              </a:solidFill>
            </a:endParaRPr>
          </a:p>
        </p:txBody>
      </p:sp>
      <p:sp>
        <p:nvSpPr>
          <p:cNvPr id="58371" name="Rectangle 3">
            <a:extLst>
              <a:ext uri="{FF2B5EF4-FFF2-40B4-BE49-F238E27FC236}">
                <a16:creationId xmlns:a16="http://schemas.microsoft.com/office/drawing/2014/main" id="{EA318F98-99EC-B50F-D6BD-BD9B78998369}"/>
              </a:ext>
            </a:extLst>
          </p:cNvPr>
          <p:cNvSpPr>
            <a:spLocks noGrp="1" noChangeArrowheads="1"/>
          </p:cNvSpPr>
          <p:nvPr>
            <p:ph type="body" idx="1"/>
          </p:nvPr>
        </p:nvSpPr>
        <p:spPr>
          <a:xfrm>
            <a:off x="179388" y="1719263"/>
            <a:ext cx="8424862" cy="4411662"/>
          </a:xfrm>
        </p:spPr>
        <p:txBody>
          <a:bodyPr/>
          <a:lstStyle/>
          <a:p>
            <a:pPr eaLnBrk="1" hangingPunct="1"/>
            <a:endParaRPr lang="en-US" altLang="en-US"/>
          </a:p>
          <a:p>
            <a:pPr algn="ctr" eaLnBrk="1" hangingPunct="1">
              <a:buFont typeface="Wingdings" pitchFamily="2" charset="2"/>
              <a:buNone/>
            </a:pPr>
            <a:r>
              <a:rPr lang="en-US" altLang="en-US" sz="3400" b="1"/>
              <a:t>Lk = Tw + Wr</a:t>
            </a:r>
          </a:p>
          <a:p>
            <a:pPr eaLnBrk="1" hangingPunct="1"/>
            <a:r>
              <a:rPr lang="en-US" altLang="en-US"/>
              <a:t>No supercoiling (Wr = 0) </a:t>
            </a:r>
            <a:r>
              <a:rPr lang="en-US" altLang="en-US">
                <a:sym typeface="Symbol" pitchFamily="2" charset="2"/>
              </a:rPr>
              <a:t> Lk = Tw</a:t>
            </a:r>
          </a:p>
        </p:txBody>
      </p:sp>
      <p:pic>
        <p:nvPicPr>
          <p:cNvPr id="58372" name="Picture 4">
            <a:extLst>
              <a:ext uri="{FF2B5EF4-FFF2-40B4-BE49-F238E27FC236}">
                <a16:creationId xmlns:a16="http://schemas.microsoft.com/office/drawing/2014/main" id="{E1B5DBE8-8C34-8759-DA7B-A9A86FD66E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005" t="4410" r="4710" b="4437"/>
          <a:stretch>
            <a:fillRect/>
          </a:stretch>
        </p:blipFill>
        <p:spPr bwMode="auto">
          <a:xfrm>
            <a:off x="468313" y="3933825"/>
            <a:ext cx="2660650"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3" name="Picture 5">
            <a:extLst>
              <a:ext uri="{FF2B5EF4-FFF2-40B4-BE49-F238E27FC236}">
                <a16:creationId xmlns:a16="http://schemas.microsoft.com/office/drawing/2014/main" id="{7993A3AF-9649-4B4D-1608-6881F31840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2680" t="6180" r="5658" b="4965"/>
          <a:stretch>
            <a:fillRect/>
          </a:stretch>
        </p:blipFill>
        <p:spPr bwMode="auto">
          <a:xfrm>
            <a:off x="6300788" y="4005263"/>
            <a:ext cx="2555875"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4" name="Text Box 6">
            <a:extLst>
              <a:ext uri="{FF2B5EF4-FFF2-40B4-BE49-F238E27FC236}">
                <a16:creationId xmlns:a16="http://schemas.microsoft.com/office/drawing/2014/main" id="{8E42FEAB-B710-27B2-A626-6984C9BC9D10}"/>
              </a:ext>
            </a:extLst>
          </p:cNvPr>
          <p:cNvSpPr txBox="1">
            <a:spLocks noChangeArrowheads="1"/>
          </p:cNvSpPr>
          <p:nvPr/>
        </p:nvSpPr>
        <p:spPr bwMode="auto">
          <a:xfrm>
            <a:off x="4067175" y="4868863"/>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ClrTx/>
              <a:buSzTx/>
              <a:buFontTx/>
              <a:buNone/>
            </a:pPr>
            <a:r>
              <a:rPr lang="en-US" altLang="en-US" sz="2400"/>
              <a:t>Lk = Tw = 5</a:t>
            </a:r>
            <a:endParaRPr lang="en-GB" altLang="en-US"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a:extLst>
              <a:ext uri="{FF2B5EF4-FFF2-40B4-BE49-F238E27FC236}">
                <a16:creationId xmlns:a16="http://schemas.microsoft.com/office/drawing/2014/main" id="{48182996-2292-2B7F-0BC6-ADAED9595F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42422"/>
          <a:stretch>
            <a:fillRect/>
          </a:stretch>
        </p:blipFill>
        <p:spPr bwMode="auto">
          <a:xfrm>
            <a:off x="1692275" y="1412875"/>
            <a:ext cx="5472113"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19" name="Rectangle 3">
            <a:extLst>
              <a:ext uri="{FF2B5EF4-FFF2-40B4-BE49-F238E27FC236}">
                <a16:creationId xmlns:a16="http://schemas.microsoft.com/office/drawing/2014/main" id="{9417E581-7CCD-D8F2-EE2E-F0C5EF3C8E95}"/>
              </a:ext>
            </a:extLst>
          </p:cNvPr>
          <p:cNvSpPr>
            <a:spLocks noGrp="1" noChangeArrowheads="1"/>
          </p:cNvSpPr>
          <p:nvPr>
            <p:ph type="title"/>
          </p:nvPr>
        </p:nvSpPr>
        <p:spPr/>
        <p:txBody>
          <a:bodyPr/>
          <a:lstStyle/>
          <a:p>
            <a:pPr eaLnBrk="1" hangingPunct="1"/>
            <a:r>
              <a:rPr lang="en-US" altLang="en-US" sz="4300" b="0"/>
              <a:t>Lk = Tw + Wr</a:t>
            </a:r>
            <a:endParaRPr lang="en-GB" altLang="en-US" sz="4300" b="0"/>
          </a:p>
        </p:txBody>
      </p:sp>
      <p:sp>
        <p:nvSpPr>
          <p:cNvPr id="141316" name="Rectangle 4">
            <a:extLst>
              <a:ext uri="{FF2B5EF4-FFF2-40B4-BE49-F238E27FC236}">
                <a16:creationId xmlns:a16="http://schemas.microsoft.com/office/drawing/2014/main" id="{C4B04C64-F403-60B9-75D1-9F97D020CE13}"/>
              </a:ext>
            </a:extLst>
          </p:cNvPr>
          <p:cNvSpPr>
            <a:spLocks noChangeArrowheads="1"/>
          </p:cNvSpPr>
          <p:nvPr/>
        </p:nvSpPr>
        <p:spPr bwMode="auto">
          <a:xfrm>
            <a:off x="6443663" y="5805488"/>
            <a:ext cx="3603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nodeType="clickEffect">
                                  <p:stCondLst>
                                    <p:cond delay="0"/>
                                  </p:stCondLst>
                                  <p:childTnLst>
                                    <p:animEffect transition="out" filter="checkerboard(across)">
                                      <p:cBhvr>
                                        <p:cTn id="6" dur="500"/>
                                        <p:tgtEl>
                                          <p:spTgt spid="141316"/>
                                        </p:tgtEl>
                                      </p:cBhvr>
                                    </p:animEffect>
                                    <p:set>
                                      <p:cBhvr>
                                        <p:cTn id="7" dur="1" fill="hold">
                                          <p:stCondLst>
                                            <p:cond delay="499"/>
                                          </p:stCondLst>
                                        </p:cTn>
                                        <p:tgtEl>
                                          <p:spTgt spid="1413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a:extLst>
              <a:ext uri="{FF2B5EF4-FFF2-40B4-BE49-F238E27FC236}">
                <a16:creationId xmlns:a16="http://schemas.microsoft.com/office/drawing/2014/main" id="{E5B8D2E4-2B7A-097F-019A-3A5C53C334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2117"/>
          <a:stretch>
            <a:fillRect/>
          </a:stretch>
        </p:blipFill>
        <p:spPr bwMode="auto">
          <a:xfrm>
            <a:off x="2339975" y="1125538"/>
            <a:ext cx="5832475" cy="539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3" name="Rectangle 3">
            <a:extLst>
              <a:ext uri="{FF2B5EF4-FFF2-40B4-BE49-F238E27FC236}">
                <a16:creationId xmlns:a16="http://schemas.microsoft.com/office/drawing/2014/main" id="{29B569B2-56FC-4AB4-5B73-65E2FCA49D60}"/>
              </a:ext>
            </a:extLst>
          </p:cNvPr>
          <p:cNvSpPr>
            <a:spLocks noGrp="1" noChangeArrowheads="1"/>
          </p:cNvSpPr>
          <p:nvPr>
            <p:ph type="body" sz="half" idx="4294967295"/>
          </p:nvPr>
        </p:nvSpPr>
        <p:spPr>
          <a:xfrm>
            <a:off x="0" y="4149725"/>
            <a:ext cx="3527425" cy="1117600"/>
          </a:xfrm>
        </p:spPr>
        <p:txBody>
          <a:bodyPr/>
          <a:lstStyle/>
          <a:p>
            <a:pPr eaLnBrk="1" hangingPunct="1">
              <a:lnSpc>
                <a:spcPct val="80000"/>
              </a:lnSpc>
            </a:pPr>
            <a:r>
              <a:rPr lang="en-US" altLang="en-US" sz="2200"/>
              <a:t>LK = Wr + Tw</a:t>
            </a:r>
          </a:p>
          <a:p>
            <a:pPr eaLnBrk="1" hangingPunct="1">
              <a:lnSpc>
                <a:spcPct val="80000"/>
              </a:lnSpc>
            </a:pPr>
            <a:endParaRPr lang="en-US" altLang="en-US" sz="2200"/>
          </a:p>
          <a:p>
            <a:pPr eaLnBrk="1" hangingPunct="1">
              <a:lnSpc>
                <a:spcPct val="80000"/>
              </a:lnSpc>
            </a:pPr>
            <a:r>
              <a:rPr lang="en-US" altLang="en-US" sz="2200"/>
              <a:t>Negatively supercoiled</a:t>
            </a:r>
            <a:endParaRPr lang="en-GB" altLang="en-US" sz="2200"/>
          </a:p>
        </p:txBody>
      </p:sp>
      <p:sp>
        <p:nvSpPr>
          <p:cNvPr id="62468" name="Rectangle 5">
            <a:extLst>
              <a:ext uri="{FF2B5EF4-FFF2-40B4-BE49-F238E27FC236}">
                <a16:creationId xmlns:a16="http://schemas.microsoft.com/office/drawing/2014/main" id="{04C820C6-C440-2DFD-6845-D2E8508BD5ED}"/>
              </a:ext>
            </a:extLst>
          </p:cNvPr>
          <p:cNvSpPr>
            <a:spLocks noGrp="1" noChangeArrowheads="1"/>
          </p:cNvSpPr>
          <p:nvPr>
            <p:ph type="title"/>
          </p:nvPr>
        </p:nvSpPr>
        <p:spPr>
          <a:xfrm>
            <a:off x="179388" y="260350"/>
            <a:ext cx="7677150" cy="652463"/>
          </a:xfrm>
          <a:noFill/>
        </p:spPr>
        <p:txBody>
          <a:bodyPr/>
          <a:lstStyle/>
          <a:p>
            <a:pPr eaLnBrk="1" hangingPunct="1"/>
            <a:r>
              <a:rPr lang="en-US" altLang="en-US" sz="2800">
                <a:solidFill>
                  <a:srgbClr val="0000FF"/>
                </a:solidFill>
              </a:rPr>
              <a:t>Writhe can convert to twist and vice versa</a:t>
            </a:r>
            <a:endParaRPr lang="en-GB" altLang="en-US" sz="2800">
              <a:solidFill>
                <a:srgbClr val="0000FF"/>
              </a:solidFill>
            </a:endParaRPr>
          </a:p>
        </p:txBody>
      </p:sp>
      <p:sp>
        <p:nvSpPr>
          <p:cNvPr id="81926" name="Rectangle 6">
            <a:extLst>
              <a:ext uri="{FF2B5EF4-FFF2-40B4-BE49-F238E27FC236}">
                <a16:creationId xmlns:a16="http://schemas.microsoft.com/office/drawing/2014/main" id="{FF49C83D-B7BD-566F-C95C-A60BED170A82}"/>
              </a:ext>
            </a:extLst>
          </p:cNvPr>
          <p:cNvSpPr>
            <a:spLocks noChangeArrowheads="1"/>
          </p:cNvSpPr>
          <p:nvPr/>
        </p:nvSpPr>
        <p:spPr bwMode="auto">
          <a:xfrm>
            <a:off x="7308850" y="5445125"/>
            <a:ext cx="358775" cy="21748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1923">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 presetClass="exit" presetSubtype="10" fill="hold" nodeType="clickEffect">
                                  <p:stCondLst>
                                    <p:cond delay="0"/>
                                  </p:stCondLst>
                                  <p:childTnLst>
                                    <p:animEffect transition="out" filter="checkerboard(across)">
                                      <p:cBhvr>
                                        <p:cTn id="10" dur="500"/>
                                        <p:tgtEl>
                                          <p:spTgt spid="81926"/>
                                        </p:tgtEl>
                                      </p:cBhvr>
                                    </p:animEffect>
                                    <p:set>
                                      <p:cBhvr>
                                        <p:cTn id="11" dur="1" fill="hold">
                                          <p:stCondLst>
                                            <p:cond delay="499"/>
                                          </p:stCondLst>
                                        </p:cTn>
                                        <p:tgtEl>
                                          <p:spTgt spid="819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4395F569-325F-BDE6-468B-0D885778CF8F}"/>
              </a:ext>
            </a:extLst>
          </p:cNvPr>
          <p:cNvSpPr>
            <a:spLocks noGrp="1" noChangeArrowheads="1"/>
          </p:cNvSpPr>
          <p:nvPr>
            <p:ph type="title"/>
          </p:nvPr>
        </p:nvSpPr>
        <p:spPr>
          <a:xfrm>
            <a:off x="539750" y="0"/>
            <a:ext cx="7543800" cy="647700"/>
          </a:xfrm>
        </p:spPr>
        <p:txBody>
          <a:bodyPr/>
          <a:lstStyle/>
          <a:p>
            <a:pPr eaLnBrk="1" hangingPunct="1"/>
            <a:r>
              <a:rPr lang="en-US" altLang="en-US" sz="3200">
                <a:solidFill>
                  <a:srgbClr val="0000FF"/>
                </a:solidFill>
              </a:rPr>
              <a:t>DNA in cells is negatively supercoiled</a:t>
            </a:r>
            <a:endParaRPr lang="en-GB" altLang="en-US" sz="3200">
              <a:solidFill>
                <a:srgbClr val="0000FF"/>
              </a:solidFill>
            </a:endParaRPr>
          </a:p>
        </p:txBody>
      </p:sp>
      <p:sp>
        <p:nvSpPr>
          <p:cNvPr id="64515" name="Rectangle 3">
            <a:extLst>
              <a:ext uri="{FF2B5EF4-FFF2-40B4-BE49-F238E27FC236}">
                <a16:creationId xmlns:a16="http://schemas.microsoft.com/office/drawing/2014/main" id="{10F1083C-C758-772F-F083-6786519C2C16}"/>
              </a:ext>
            </a:extLst>
          </p:cNvPr>
          <p:cNvSpPr>
            <a:spLocks noGrp="1" noChangeArrowheads="1"/>
          </p:cNvSpPr>
          <p:nvPr>
            <p:ph type="body" idx="1"/>
          </p:nvPr>
        </p:nvSpPr>
        <p:spPr>
          <a:xfrm>
            <a:off x="457200" y="765175"/>
            <a:ext cx="8229600" cy="5903913"/>
          </a:xfrm>
        </p:spPr>
        <p:txBody>
          <a:bodyPr/>
          <a:lstStyle/>
          <a:p>
            <a:pPr eaLnBrk="1" hangingPunct="1"/>
            <a:r>
              <a:rPr lang="en-US" altLang="en-US" sz="2800" dirty="0"/>
              <a:t>The extent of supercoiling is measured by </a:t>
            </a:r>
            <a:r>
              <a:rPr lang="en-US" altLang="en-US" sz="2800" b="1" u="sng" dirty="0"/>
              <a:t>linking difference</a:t>
            </a:r>
          </a:p>
          <a:p>
            <a:pPr eaLnBrk="1" hangingPunct="1"/>
            <a:endParaRPr lang="en-US" altLang="en-US" sz="1600" b="1" u="sng" dirty="0"/>
          </a:p>
          <a:p>
            <a:pPr algn="ctr" eaLnBrk="1" hangingPunct="1">
              <a:buFont typeface="Wingdings" pitchFamily="2" charset="2"/>
              <a:buNone/>
            </a:pPr>
            <a:r>
              <a:rPr lang="en-GB" altLang="en-US" b="1" dirty="0">
                <a:sym typeface="Symbol" pitchFamily="2" charset="2"/>
              </a:rPr>
              <a:t>Lk = Lk - Lk</a:t>
            </a:r>
            <a:r>
              <a:rPr lang="en-US" altLang="en-US" b="1" dirty="0">
                <a:sym typeface="Symbol" pitchFamily="2" charset="2"/>
              </a:rPr>
              <a:t>°</a:t>
            </a:r>
          </a:p>
          <a:p>
            <a:pPr algn="ctr" eaLnBrk="1" hangingPunct="1">
              <a:buFont typeface="Wingdings" pitchFamily="2" charset="2"/>
              <a:buNone/>
            </a:pPr>
            <a:endParaRPr lang="en-US" altLang="en-US" sz="1600" b="1" dirty="0">
              <a:solidFill>
                <a:schemeClr val="accent2"/>
              </a:solidFill>
              <a:sym typeface="Symbol" pitchFamily="2" charset="2"/>
            </a:endParaRPr>
          </a:p>
          <a:p>
            <a:pPr eaLnBrk="1" hangingPunct="1"/>
            <a:r>
              <a:rPr lang="en-US" altLang="en-US" sz="2000" dirty="0">
                <a:sym typeface="Symbol" pitchFamily="2" charset="2"/>
              </a:rPr>
              <a:t>If </a:t>
            </a:r>
            <a:r>
              <a:rPr lang="en-GB" altLang="en-US" sz="2000" b="1" dirty="0">
                <a:sym typeface="Symbol" pitchFamily="2" charset="2"/>
              </a:rPr>
              <a:t>Lk of a </a:t>
            </a:r>
            <a:r>
              <a:rPr lang="en-GB" altLang="en-US" sz="2000" b="1" dirty="0" err="1">
                <a:sym typeface="Symbol" pitchFamily="2" charset="2"/>
              </a:rPr>
              <a:t>cccDNA</a:t>
            </a:r>
            <a:r>
              <a:rPr lang="en-GB" altLang="en-US" sz="2000" b="1" dirty="0">
                <a:sym typeface="Symbol" pitchFamily="2" charset="2"/>
              </a:rPr>
              <a:t> is significantly different from 0, then the DNA is torsionally strained and hence is it is supercoiled</a:t>
            </a:r>
          </a:p>
          <a:p>
            <a:pPr eaLnBrk="1" hangingPunct="1"/>
            <a:r>
              <a:rPr lang="en-GB" altLang="en-US" sz="2000" b="1" dirty="0">
                <a:sym typeface="Symbol" pitchFamily="2" charset="2"/>
              </a:rPr>
              <a:t>If Lk &lt; </a:t>
            </a:r>
            <a:r>
              <a:rPr lang="en-GB" altLang="en-US" sz="2000" b="1" dirty="0" err="1">
                <a:sym typeface="Symbol" pitchFamily="2" charset="2"/>
              </a:rPr>
              <a:t>Lk</a:t>
            </a:r>
            <a:r>
              <a:rPr lang="en-GB" altLang="en-US" sz="2000" b="1" baseline="30000" dirty="0" err="1">
                <a:sym typeface="Symbol" pitchFamily="2" charset="2"/>
              </a:rPr>
              <a:t>o</a:t>
            </a:r>
            <a:r>
              <a:rPr lang="en-GB" altLang="en-US" sz="2000" b="1" dirty="0">
                <a:sym typeface="Symbol" pitchFamily="2" charset="2"/>
              </a:rPr>
              <a:t> and Lk &lt; 0, then the DNA is negatively supercoiled</a:t>
            </a:r>
          </a:p>
          <a:p>
            <a:pPr eaLnBrk="1" hangingPunct="1"/>
            <a:r>
              <a:rPr lang="en-GB" altLang="en-US" sz="2000" b="1" dirty="0">
                <a:sym typeface="Symbol" pitchFamily="2" charset="2"/>
              </a:rPr>
              <a:t>If Lk &gt; </a:t>
            </a:r>
            <a:r>
              <a:rPr lang="en-GB" altLang="en-US" sz="2000" b="1" dirty="0" err="1">
                <a:sym typeface="Symbol" pitchFamily="2" charset="2"/>
              </a:rPr>
              <a:t>Lk</a:t>
            </a:r>
            <a:r>
              <a:rPr lang="en-GB" altLang="en-US" sz="2000" b="1" baseline="30000" dirty="0" err="1">
                <a:sym typeface="Symbol" pitchFamily="2" charset="2"/>
              </a:rPr>
              <a:t>o</a:t>
            </a:r>
            <a:r>
              <a:rPr lang="en-GB" altLang="en-US" sz="2000" b="1" dirty="0">
                <a:sym typeface="Symbol" pitchFamily="2" charset="2"/>
              </a:rPr>
              <a:t> and Lk &gt; 0 then DNA is positively supercoiled</a:t>
            </a:r>
            <a:endParaRPr lang="en-US" altLang="en-US" sz="2000" dirty="0">
              <a:sym typeface="Symbol" pitchFamily="2" charset="2"/>
            </a:endParaRPr>
          </a:p>
          <a:p>
            <a:pPr eaLnBrk="1" hangingPunct="1"/>
            <a:r>
              <a:rPr lang="en-US" altLang="en-US" sz="2000" b="1" dirty="0">
                <a:sym typeface="Symbol" pitchFamily="2" charset="2"/>
              </a:rPr>
              <a:t>To compare two different molecules with different LK, we use </a:t>
            </a:r>
            <a:r>
              <a:rPr lang="en-US" altLang="en-US" sz="2000" b="1" dirty="0" err="1">
                <a:sym typeface="Symbol" pitchFamily="2" charset="2"/>
              </a:rPr>
              <a:t>superhelical</a:t>
            </a:r>
            <a:r>
              <a:rPr lang="en-US" altLang="en-US" sz="2000" b="1" dirty="0">
                <a:sym typeface="Symbol" pitchFamily="2" charset="2"/>
              </a:rPr>
              <a:t> density</a:t>
            </a:r>
          </a:p>
          <a:p>
            <a:pPr algn="ctr" eaLnBrk="1" hangingPunct="1">
              <a:buFont typeface="Wingdings" pitchFamily="2" charset="2"/>
              <a:buNone/>
            </a:pPr>
            <a:r>
              <a:rPr lang="en-US" altLang="en-US" sz="2000" b="1" dirty="0">
                <a:sym typeface="Symbol" pitchFamily="2" charset="2"/>
              </a:rPr>
              <a:t> =</a:t>
            </a:r>
            <a:r>
              <a:rPr lang="en-US" altLang="en-US" sz="2000" dirty="0">
                <a:sym typeface="Symbol" pitchFamily="2" charset="2"/>
              </a:rPr>
              <a:t> </a:t>
            </a:r>
            <a:r>
              <a:rPr lang="en-GB" altLang="en-US" sz="2000" b="1" dirty="0">
                <a:sym typeface="Symbol" pitchFamily="2" charset="2"/>
              </a:rPr>
              <a:t>Lk/ Lk</a:t>
            </a:r>
            <a:r>
              <a:rPr lang="en-US" altLang="en-US" sz="2000" b="1" dirty="0">
                <a:sym typeface="Symbol" pitchFamily="2" charset="2"/>
              </a:rPr>
              <a:t>°</a:t>
            </a:r>
          </a:p>
          <a:p>
            <a:pPr eaLnBrk="1" hangingPunct="1">
              <a:buSzPct val="150000"/>
              <a:buFont typeface="Arial" panose="020B0604020202020204" pitchFamily="34" charset="0"/>
              <a:buChar char="•"/>
            </a:pPr>
            <a:r>
              <a:rPr lang="en-US" altLang="en-US" sz="2000" dirty="0">
                <a:sym typeface="Symbol" pitchFamily="2" charset="2"/>
              </a:rPr>
              <a:t>Circular DNA purified from bacteria and eukaryotes are usually negatively supercoiled having </a:t>
            </a:r>
            <a:r>
              <a:rPr lang="en-US" altLang="en-US" sz="2000" b="1" dirty="0">
                <a:sym typeface="Symbol" pitchFamily="2" charset="2"/>
              </a:rPr>
              <a:t> of -0.06</a:t>
            </a:r>
            <a:endParaRPr lang="en-US" altLang="en-US" sz="2000" dirty="0">
              <a:sym typeface="Symbol" pitchFamily="2" charset="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CF70D-ACA3-0952-1141-71D6132CA0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CD80DB-1851-B2B1-93CD-0EF1E5C9BDDB}"/>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"Nucleosomes" are the basic structural units of chromatin in eukaryotic cells. They consist of a segment of DNA wound around a core of eight histone proteins, forming a bead-like structure. This configuration helps in packaging long DNA strands into a more compact form, allowing them to fit within the cell nucleus while still being accessible for transcription, replication, and repair processes.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739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A671D1F5-8615-80F6-2ADC-7017E0F6990D}"/>
              </a:ext>
            </a:extLst>
          </p:cNvPr>
          <p:cNvSpPr>
            <a:spLocks noGrp="1" noChangeArrowheads="1"/>
          </p:cNvSpPr>
          <p:nvPr>
            <p:ph type="title"/>
          </p:nvPr>
        </p:nvSpPr>
        <p:spPr/>
        <p:txBody>
          <a:bodyPr/>
          <a:lstStyle/>
          <a:p>
            <a:pPr eaLnBrk="1" hangingPunct="1"/>
            <a:r>
              <a:rPr lang="en-US" altLang="en-US" sz="3500" dirty="0">
                <a:solidFill>
                  <a:srgbClr val="0000FF"/>
                </a:solidFill>
              </a:rPr>
              <a:t>Nucleosomes introduce negative supercoiling in Eukaryotes </a:t>
            </a:r>
            <a:endParaRPr lang="en-GB" altLang="en-US" sz="3500" dirty="0">
              <a:solidFill>
                <a:srgbClr val="0000FF"/>
              </a:solidFill>
            </a:endParaRPr>
          </a:p>
        </p:txBody>
      </p:sp>
      <p:sp>
        <p:nvSpPr>
          <p:cNvPr id="66563" name="Rectangle 5">
            <a:extLst>
              <a:ext uri="{FF2B5EF4-FFF2-40B4-BE49-F238E27FC236}">
                <a16:creationId xmlns:a16="http://schemas.microsoft.com/office/drawing/2014/main" id="{49247A4D-8C34-0F4D-4850-1D1B0371B759}"/>
              </a:ext>
            </a:extLst>
          </p:cNvPr>
          <p:cNvSpPr>
            <a:spLocks noGrp="1" noChangeArrowheads="1"/>
          </p:cNvSpPr>
          <p:nvPr>
            <p:ph type="body" sz="half" idx="1"/>
          </p:nvPr>
        </p:nvSpPr>
        <p:spPr>
          <a:xfrm>
            <a:off x="468313" y="1989138"/>
            <a:ext cx="6707187" cy="4411662"/>
          </a:xfrm>
        </p:spPr>
        <p:txBody>
          <a:bodyPr/>
          <a:lstStyle/>
          <a:p>
            <a:pPr marL="495300" indent="-495300" eaLnBrk="1" hangingPunct="1"/>
            <a:r>
              <a:rPr lang="en-US" altLang="en-US" sz="2600" dirty="0"/>
              <a:t>Spiral (Toroid) writhe</a:t>
            </a:r>
          </a:p>
          <a:p>
            <a:pPr marL="495300" indent="-495300" eaLnBrk="1" hangingPunct="1"/>
            <a:endParaRPr lang="en-US" altLang="en-US" sz="2600" dirty="0"/>
          </a:p>
          <a:p>
            <a:pPr marL="495300" indent="-495300" eaLnBrk="1" hangingPunct="1"/>
            <a:r>
              <a:rPr lang="en-US" altLang="en-US" sz="2600" dirty="0"/>
              <a:t>Left handed spiral  turns </a:t>
            </a:r>
          </a:p>
          <a:p>
            <a:pPr marL="495300" indent="-495300" eaLnBrk="1" hangingPunct="1"/>
            <a:endParaRPr lang="en-US" altLang="en-US" sz="2600" dirty="0"/>
          </a:p>
          <a:p>
            <a:pPr marL="495300" indent="-495300" eaLnBrk="1" hangingPunct="1"/>
            <a:r>
              <a:rPr lang="en-US" altLang="en-US" sz="2600" dirty="0" err="1"/>
              <a:t>Wr</a:t>
            </a:r>
            <a:r>
              <a:rPr lang="en-US" altLang="en-US" sz="2600" dirty="0"/>
              <a:t> number is –</a:t>
            </a:r>
            <a:r>
              <a:rPr lang="en-US" altLang="en-US" sz="2600" dirty="0" err="1"/>
              <a:t>ve</a:t>
            </a:r>
            <a:endParaRPr lang="en-US" altLang="en-US" sz="2600" dirty="0"/>
          </a:p>
          <a:p>
            <a:pPr marL="495300" indent="-495300" eaLnBrk="1" hangingPunct="1"/>
            <a:endParaRPr lang="en-US" altLang="en-US" sz="2600" dirty="0"/>
          </a:p>
          <a:p>
            <a:pPr marL="495300" indent="-495300" eaLnBrk="1" hangingPunct="1"/>
            <a:r>
              <a:rPr lang="en-US" altLang="en-US" sz="2600" dirty="0"/>
              <a:t>Allow for replication / transcription</a:t>
            </a:r>
          </a:p>
        </p:txBody>
      </p:sp>
      <p:pic>
        <p:nvPicPr>
          <p:cNvPr id="66564" name="Picture 4" descr="DSC02241">
            <a:extLst>
              <a:ext uri="{FF2B5EF4-FFF2-40B4-BE49-F238E27FC236}">
                <a16:creationId xmlns:a16="http://schemas.microsoft.com/office/drawing/2014/main" id="{8E3CFF69-C8B6-02D4-7447-95720E23C6E4}"/>
              </a:ext>
            </a:extLst>
          </p:cNvPr>
          <p:cNvPicPr>
            <a:picLocks noChangeAspect="1" noChangeArrowheads="1"/>
          </p:cNvPicPr>
          <p:nvPr/>
        </p:nvPicPr>
        <p:blipFill>
          <a:blip r:embed="rId3">
            <a:lum bright="24000" contrast="18000"/>
            <a:extLst>
              <a:ext uri="{28A0092B-C50C-407E-A947-70E740481C1C}">
                <a14:useLocalDpi xmlns:a14="http://schemas.microsoft.com/office/drawing/2010/main" val="0"/>
              </a:ext>
            </a:extLst>
          </a:blip>
          <a:srcRect l="20546" t="2701" r="17819" b="69038"/>
          <a:stretch>
            <a:fillRect/>
          </a:stretch>
        </p:blipFill>
        <p:spPr bwMode="auto">
          <a:xfrm>
            <a:off x="5003800" y="2636838"/>
            <a:ext cx="3529013"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E603F584-F29B-45E0-2B34-FECBE6FCE127}"/>
              </a:ext>
            </a:extLst>
          </p:cNvPr>
          <p:cNvSpPr>
            <a:spLocks noGrp="1" noChangeArrowheads="1"/>
          </p:cNvSpPr>
          <p:nvPr>
            <p:ph type="title"/>
          </p:nvPr>
        </p:nvSpPr>
        <p:spPr/>
        <p:txBody>
          <a:bodyPr/>
          <a:lstStyle/>
          <a:p>
            <a:pPr eaLnBrk="1" hangingPunct="1"/>
            <a:r>
              <a:rPr lang="en-US" altLang="en-US" u="sng">
                <a:solidFill>
                  <a:srgbClr val="0000FF"/>
                </a:solidFill>
              </a:rPr>
              <a:t>Topoisomerase can relax supercoiled DNA </a:t>
            </a:r>
            <a:endParaRPr lang="en-GB" altLang="en-US" u="sng">
              <a:solidFill>
                <a:srgbClr val="0000FF"/>
              </a:solidFill>
            </a:endParaRPr>
          </a:p>
        </p:txBody>
      </p:sp>
      <p:sp>
        <p:nvSpPr>
          <p:cNvPr id="68611" name="Rectangle 3">
            <a:extLst>
              <a:ext uri="{FF2B5EF4-FFF2-40B4-BE49-F238E27FC236}">
                <a16:creationId xmlns:a16="http://schemas.microsoft.com/office/drawing/2014/main" id="{6F8313F8-4985-4C14-901A-96A567AFF25F}"/>
              </a:ext>
            </a:extLst>
          </p:cNvPr>
          <p:cNvSpPr>
            <a:spLocks noGrp="1" noChangeArrowheads="1"/>
          </p:cNvSpPr>
          <p:nvPr>
            <p:ph type="body" idx="1"/>
          </p:nvPr>
        </p:nvSpPr>
        <p:spPr/>
        <p:txBody>
          <a:bodyPr/>
          <a:lstStyle/>
          <a:p>
            <a:pPr eaLnBrk="1" hangingPunct="1"/>
            <a:r>
              <a:rPr lang="en-US" altLang="en-US"/>
              <a:t>Topoisoermase I:</a:t>
            </a:r>
          </a:p>
          <a:p>
            <a:pPr eaLnBrk="1" hangingPunct="1"/>
            <a:endParaRPr lang="en-US" altLang="en-US"/>
          </a:p>
          <a:p>
            <a:pPr lvl="1" eaLnBrk="1" hangingPunct="1"/>
            <a:endParaRPr lang="en-US" altLang="en-US"/>
          </a:p>
          <a:p>
            <a:pPr lvl="1" eaLnBrk="1" hangingPunct="1"/>
            <a:endParaRPr lang="en-US" altLang="en-US"/>
          </a:p>
          <a:p>
            <a:pPr eaLnBrk="1" hangingPunct="1"/>
            <a:r>
              <a:rPr lang="en-US" altLang="en-US"/>
              <a:t>Topoisoerase II:</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descr="F29-25b">
            <a:extLst>
              <a:ext uri="{FF2B5EF4-FFF2-40B4-BE49-F238E27FC236}">
                <a16:creationId xmlns:a16="http://schemas.microsoft.com/office/drawing/2014/main" id="{82170DD6-5D13-A2A2-7EF2-CD660BF0FD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2225" y="0"/>
            <a:ext cx="53117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9" name="Rectangle 3">
            <a:extLst>
              <a:ext uri="{FF2B5EF4-FFF2-40B4-BE49-F238E27FC236}">
                <a16:creationId xmlns:a16="http://schemas.microsoft.com/office/drawing/2014/main" id="{D8554995-0733-CDC5-8B07-38FF51BBAADF}"/>
              </a:ext>
            </a:extLst>
          </p:cNvPr>
          <p:cNvSpPr>
            <a:spLocks noGrp="1" noChangeArrowheads="1"/>
          </p:cNvSpPr>
          <p:nvPr>
            <p:ph type="title"/>
          </p:nvPr>
        </p:nvSpPr>
        <p:spPr>
          <a:xfrm>
            <a:off x="179388" y="122238"/>
            <a:ext cx="3887787" cy="1295400"/>
          </a:xfrm>
        </p:spPr>
        <p:txBody>
          <a:bodyPr/>
          <a:lstStyle/>
          <a:p>
            <a:pPr eaLnBrk="1" hangingPunct="1"/>
            <a:r>
              <a:rPr lang="en-US" altLang="en-US" sz="3500"/>
              <a:t>Topoisoermase I</a:t>
            </a:r>
            <a:endParaRPr lang="en-GB" altLang="en-US" sz="3500"/>
          </a:p>
        </p:txBody>
      </p:sp>
      <p:sp>
        <p:nvSpPr>
          <p:cNvPr id="70660" name="Rectangle 4">
            <a:extLst>
              <a:ext uri="{FF2B5EF4-FFF2-40B4-BE49-F238E27FC236}">
                <a16:creationId xmlns:a16="http://schemas.microsoft.com/office/drawing/2014/main" id="{267844C2-A4EA-2962-8F82-A02E44E0B4F0}"/>
              </a:ext>
            </a:extLst>
          </p:cNvPr>
          <p:cNvSpPr>
            <a:spLocks noGrp="1" noChangeArrowheads="1"/>
          </p:cNvSpPr>
          <p:nvPr>
            <p:ph type="body" sz="half" idx="1"/>
          </p:nvPr>
        </p:nvSpPr>
        <p:spPr>
          <a:xfrm>
            <a:off x="179388" y="1628775"/>
            <a:ext cx="3671887" cy="4411663"/>
          </a:xfrm>
        </p:spPr>
        <p:txBody>
          <a:bodyPr/>
          <a:lstStyle/>
          <a:p>
            <a:pPr eaLnBrk="1" hangingPunct="1"/>
            <a:endParaRPr lang="en-US" altLang="en-US" sz="2600" dirty="0"/>
          </a:p>
          <a:p>
            <a:pPr eaLnBrk="1" hangingPunct="1"/>
            <a:r>
              <a:rPr lang="en-US" altLang="en-US" sz="2200" dirty="0"/>
              <a:t>Causes  a transient single - strand break</a:t>
            </a:r>
          </a:p>
          <a:p>
            <a:pPr eaLnBrk="1" hangingPunct="1"/>
            <a:endParaRPr lang="en-US" altLang="en-US" sz="2200" dirty="0"/>
          </a:p>
          <a:p>
            <a:pPr eaLnBrk="1" hangingPunct="1"/>
            <a:r>
              <a:rPr lang="en-US" altLang="en-US" sz="2200" dirty="0"/>
              <a:t>Changes Lk number by 1</a:t>
            </a:r>
          </a:p>
          <a:p>
            <a:pPr eaLnBrk="1" hangingPunct="1"/>
            <a:endParaRPr lang="en-US" altLang="en-US" sz="2200" dirty="0"/>
          </a:p>
          <a:p>
            <a:pPr eaLnBrk="1" hangingPunct="1"/>
            <a:r>
              <a:rPr lang="en-US" altLang="en-US" sz="2200" dirty="0"/>
              <a:t>Doesn’t need energy</a:t>
            </a:r>
            <a:endParaRPr lang="en-GB" altLang="en-US" sz="2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Placeholder 2">
            <a:extLst>
              <a:ext uri="{FF2B5EF4-FFF2-40B4-BE49-F238E27FC236}">
                <a16:creationId xmlns:a16="http://schemas.microsoft.com/office/drawing/2014/main" id="{7411A6DE-3CFB-F6FE-8F29-B472BF663C2B}"/>
              </a:ext>
            </a:extLst>
          </p:cNvPr>
          <p:cNvSpPr>
            <a:spLocks noGrp="1"/>
          </p:cNvSpPr>
          <p:nvPr>
            <p:ph type="body" sz="half" idx="1"/>
          </p:nvPr>
        </p:nvSpPr>
        <p:spPr>
          <a:xfrm>
            <a:off x="395288" y="1125538"/>
            <a:ext cx="8147050" cy="4410075"/>
          </a:xfrm>
        </p:spPr>
        <p:txBody>
          <a:bodyPr/>
          <a:lstStyle/>
          <a:p>
            <a:r>
              <a:rPr lang="en-US" altLang="en-US" dirty="0"/>
              <a:t>Both prokaryotes and eukaryotes have type I and type II topoisomerases</a:t>
            </a:r>
          </a:p>
          <a:p>
            <a:r>
              <a:rPr lang="en-US" altLang="en-US" dirty="0"/>
              <a:t>Prokaryotes have a special type II topoisomerase called DNA gyrase that introduces rather than removes negative supercoils </a:t>
            </a:r>
          </a:p>
          <a:p>
            <a:r>
              <a:rPr lang="en-US" altLang="en-US" dirty="0"/>
              <a:t>Negative supercoils facilitates the unwinding of the DNA duplex</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4">
            <a:extLst>
              <a:ext uri="{FF2B5EF4-FFF2-40B4-BE49-F238E27FC236}">
                <a16:creationId xmlns:a16="http://schemas.microsoft.com/office/drawing/2014/main" id="{3DC3A5C1-EBC6-D7F8-A0FF-F036B8C93E0C}"/>
              </a:ext>
            </a:extLst>
          </p:cNvPr>
          <p:cNvSpPr>
            <a:spLocks noGrp="1"/>
          </p:cNvSpPr>
          <p:nvPr>
            <p:ph type="title"/>
          </p:nvPr>
        </p:nvSpPr>
        <p:spPr>
          <a:xfrm>
            <a:off x="457200" y="-100013"/>
            <a:ext cx="7543800" cy="1295401"/>
          </a:xfrm>
        </p:spPr>
        <p:txBody>
          <a:bodyPr/>
          <a:lstStyle/>
          <a:p>
            <a:r>
              <a:rPr lang="en-US" altLang="en-US" sz="3200">
                <a:solidFill>
                  <a:srgbClr val="0000FF"/>
                </a:solidFill>
              </a:rPr>
              <a:t>Topoisoemarse also unknot and disentangle DNA molecules</a:t>
            </a:r>
          </a:p>
        </p:txBody>
      </p:sp>
      <p:sp>
        <p:nvSpPr>
          <p:cNvPr id="74755" name="Content Placeholder 5">
            <a:extLst>
              <a:ext uri="{FF2B5EF4-FFF2-40B4-BE49-F238E27FC236}">
                <a16:creationId xmlns:a16="http://schemas.microsoft.com/office/drawing/2014/main" id="{13350C4E-B00D-8823-60B8-6E15F7EE2746}"/>
              </a:ext>
            </a:extLst>
          </p:cNvPr>
          <p:cNvSpPr>
            <a:spLocks noGrp="1"/>
          </p:cNvSpPr>
          <p:nvPr>
            <p:ph idx="1"/>
          </p:nvPr>
        </p:nvSpPr>
        <p:spPr>
          <a:xfrm>
            <a:off x="395288" y="1268413"/>
            <a:ext cx="8229600" cy="5473700"/>
          </a:xfrm>
        </p:spPr>
        <p:txBody>
          <a:bodyPr/>
          <a:lstStyle/>
          <a:p>
            <a:r>
              <a:rPr lang="en-US" altLang="en-US" sz="2400" dirty="0"/>
              <a:t>They can </a:t>
            </a:r>
            <a:r>
              <a:rPr lang="en-US" altLang="en-US" sz="2400" dirty="0">
                <a:solidFill>
                  <a:srgbClr val="0000FF"/>
                </a:solidFill>
              </a:rPr>
              <a:t>catenate</a:t>
            </a:r>
            <a:r>
              <a:rPr lang="en-US" altLang="en-US" sz="2400" dirty="0"/>
              <a:t> (if linked together)and </a:t>
            </a:r>
            <a:r>
              <a:rPr lang="en-US" altLang="en-US" sz="2400" dirty="0">
                <a:solidFill>
                  <a:srgbClr val="0000FF"/>
                </a:solidFill>
              </a:rPr>
              <a:t>decatenate</a:t>
            </a:r>
            <a:r>
              <a:rPr lang="en-US" altLang="en-US" sz="2400" dirty="0"/>
              <a:t> circular DNA</a:t>
            </a:r>
          </a:p>
          <a:p>
            <a:r>
              <a:rPr lang="en-US" altLang="en-US" sz="2400" b="1" dirty="0"/>
              <a:t> </a:t>
            </a:r>
            <a:r>
              <a:rPr lang="en-US" altLang="en-US" sz="2400" dirty="0"/>
              <a:t>Catenated DNA are produced as a round of DNA replication is finished</a:t>
            </a:r>
          </a:p>
          <a:p>
            <a:r>
              <a:rPr lang="en-US" altLang="en-US" sz="2400" dirty="0" err="1"/>
              <a:t>Topoisoemarse</a:t>
            </a:r>
            <a:r>
              <a:rPr lang="en-US" altLang="en-US" sz="2400" dirty="0"/>
              <a:t> play an important role of </a:t>
            </a:r>
            <a:r>
              <a:rPr lang="en-US" altLang="en-US" sz="2400" dirty="0">
                <a:solidFill>
                  <a:srgbClr val="0000FF"/>
                </a:solidFill>
              </a:rPr>
              <a:t>unlinking</a:t>
            </a:r>
            <a:r>
              <a:rPr lang="en-US" altLang="en-US" sz="2400" dirty="0"/>
              <a:t> these DNA molecules to allow them to separate into the two daughter cells for cell division</a:t>
            </a:r>
          </a:p>
          <a:p>
            <a:r>
              <a:rPr lang="en-US" altLang="en-US" sz="2400" dirty="0"/>
              <a:t>Usually carried by </a:t>
            </a:r>
            <a:r>
              <a:rPr lang="en-US" altLang="en-US" sz="2400" dirty="0">
                <a:solidFill>
                  <a:srgbClr val="0000FF"/>
                </a:solidFill>
              </a:rPr>
              <a:t>type II</a:t>
            </a:r>
            <a:r>
              <a:rPr lang="en-US" altLang="en-US" sz="2400" dirty="0"/>
              <a:t> enzyme but can be done by </a:t>
            </a:r>
            <a:r>
              <a:rPr lang="en-US" altLang="en-US" sz="2400" dirty="0">
                <a:solidFill>
                  <a:srgbClr val="0000FF"/>
                </a:solidFill>
              </a:rPr>
              <a:t>type I</a:t>
            </a:r>
            <a:r>
              <a:rPr lang="en-US" altLang="en-US" sz="2400" dirty="0"/>
              <a:t> if one of the two catenated DNA molecules carries a nick of gap</a:t>
            </a:r>
          </a:p>
          <a:p>
            <a:r>
              <a:rPr lang="en-US" altLang="en-US" sz="2400" dirty="0"/>
              <a:t>Linear DNA can be </a:t>
            </a:r>
            <a:r>
              <a:rPr lang="en-US" altLang="en-US" sz="2400" dirty="0">
                <a:solidFill>
                  <a:srgbClr val="0000FF"/>
                </a:solidFill>
              </a:rPr>
              <a:t>entangled during replication </a:t>
            </a:r>
            <a:r>
              <a:rPr lang="en-US" altLang="en-US" sz="2400" dirty="0"/>
              <a:t>of eukaryotic DNA and can be disentangled by type II</a:t>
            </a:r>
          </a:p>
          <a:p>
            <a:r>
              <a:rPr lang="en-US" altLang="en-US" sz="2400" dirty="0"/>
              <a:t>On occasion, DNA molecule </a:t>
            </a:r>
            <a:r>
              <a:rPr lang="en-US" altLang="en-US" sz="2400" dirty="0">
                <a:solidFill>
                  <a:srgbClr val="0000FF"/>
                </a:solidFill>
              </a:rPr>
              <a:t>becomes knotted </a:t>
            </a:r>
            <a:r>
              <a:rPr lang="en-US" altLang="en-US" sz="2400" dirty="0"/>
              <a:t>and can be untied by type II or type I enzymes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E3AEF-FCDD-F154-CA3D-50C5DD00BCA3}"/>
              </a:ext>
            </a:extLst>
          </p:cNvPr>
          <p:cNvSpPr>
            <a:spLocks noGrp="1"/>
          </p:cNvSpPr>
          <p:nvPr>
            <p:ph type="title"/>
          </p:nvPr>
        </p:nvSpPr>
        <p:spPr>
          <a:xfrm>
            <a:off x="457200" y="405408"/>
            <a:ext cx="7543800" cy="935360"/>
          </a:xfrm>
        </p:spPr>
        <p:txBody>
          <a:bodyPr/>
          <a:lstStyle/>
          <a:p>
            <a:r>
              <a:rPr lang="en-US" altLang="en-US" sz="2400" dirty="0">
                <a:solidFill>
                  <a:srgbClr val="0000FF"/>
                </a:solidFill>
              </a:rPr>
              <a:t>Topoisomerase uses covalent protein DNA linkage to cleave and rejoin DNA strands</a:t>
            </a:r>
            <a:endParaRPr lang="en-US" sz="2400" dirty="0"/>
          </a:p>
        </p:txBody>
      </p:sp>
      <p:sp>
        <p:nvSpPr>
          <p:cNvPr id="3" name="Content Placeholder 2">
            <a:extLst>
              <a:ext uri="{FF2B5EF4-FFF2-40B4-BE49-F238E27FC236}">
                <a16:creationId xmlns:a16="http://schemas.microsoft.com/office/drawing/2014/main" id="{C8DAB441-751A-3763-7667-790DAAEE5574}"/>
              </a:ext>
            </a:extLst>
          </p:cNvPr>
          <p:cNvSpPr>
            <a:spLocks noGrp="1"/>
          </p:cNvSpPr>
          <p:nvPr>
            <p:ph idx="1"/>
          </p:nvPr>
        </p:nvSpPr>
        <p:spPr>
          <a:xfrm>
            <a:off x="457200" y="1412776"/>
            <a:ext cx="8229600" cy="4411662"/>
          </a:xfrm>
        </p:spPr>
        <p:txBody>
          <a:bodyPr/>
          <a:lstStyle/>
          <a:p>
            <a:pPr eaLnBrk="1" hangingPunct="1"/>
            <a:r>
              <a:rPr lang="en-US" altLang="en-US" sz="1800" dirty="0">
                <a:latin typeface="Arial" panose="020B0604020202020204" pitchFamily="34" charset="0"/>
                <a:cs typeface="Arial" panose="020B0604020202020204" pitchFamily="34" charset="0"/>
              </a:rPr>
              <a:t>Topoisomerases are able to promote both DNA cleavage and rejoining without the assistance of other proteins or high-energy cofactors (ATP) because they use a covalent-intermediate mechanism.</a:t>
            </a:r>
          </a:p>
          <a:p>
            <a:pPr eaLnBrk="1" hangingPunct="1"/>
            <a:r>
              <a:rPr lang="en-US" altLang="en-US" sz="1800" dirty="0">
                <a:latin typeface="Arial" panose="020B0604020202020204" pitchFamily="34" charset="0"/>
                <a:cs typeface="Arial" panose="020B0604020202020204" pitchFamily="34" charset="0"/>
              </a:rPr>
              <a:t>DNA cleavage occurs when a tyrosine residue in the active site of the topoisomerase attacks a phosphodiester bond in the backbone of the target DNA. This attack generates a break in the DNA, whereby the topoisomerase is covalently joined to one of the broken ends via a </a:t>
            </a:r>
            <a:r>
              <a:rPr lang="en-US" altLang="en-US" sz="1800" dirty="0" err="1">
                <a:latin typeface="Arial" panose="020B0604020202020204" pitchFamily="34" charset="0"/>
                <a:cs typeface="Arial" panose="020B0604020202020204" pitchFamily="34" charset="0"/>
              </a:rPr>
              <a:t>phosphotyrosine</a:t>
            </a:r>
            <a:r>
              <a:rPr lang="en-US" altLang="en-US" sz="1800" dirty="0">
                <a:latin typeface="Arial" panose="020B0604020202020204" pitchFamily="34" charset="0"/>
                <a:cs typeface="Arial" panose="020B0604020202020204" pitchFamily="34" charset="0"/>
              </a:rPr>
              <a:t> linkage. The other end of the DNA terminates with a free OH group</a:t>
            </a:r>
          </a:p>
          <a:p>
            <a:pPr eaLnBrk="1" hangingPunct="1"/>
            <a:r>
              <a:rPr lang="en-US" altLang="en-US" sz="1800" dirty="0">
                <a:latin typeface="Arial" panose="020B0604020202020204" pitchFamily="34" charset="0"/>
                <a:cs typeface="Arial" panose="020B0604020202020204" pitchFamily="34" charset="0"/>
              </a:rPr>
              <a:t>The phospho-tyrosine linkage conserves the energy of the phosphodiester bond that was cleaved. Therefore, the DNA can be resealed simply by reversing the original reaction: the OH group from one broken DNA end attacks the phospho-tyrosine bond re-forming the DNA phosphodiester bond. This reaction rejoins the DNA strand and releases the topoisomerase, which can catalyze another reaction cycle.</a:t>
            </a:r>
          </a:p>
          <a:p>
            <a:endParaRPr lang="en-US" sz="1800" dirty="0"/>
          </a:p>
        </p:txBody>
      </p:sp>
    </p:spTree>
    <p:extLst>
      <p:ext uri="{BB962C8B-B14F-4D97-AF65-F5344CB8AC3E}">
        <p14:creationId xmlns:p14="http://schemas.microsoft.com/office/powerpoint/2010/main" val="32055412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EB41B-2731-5D7F-521E-20C79F4E55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882341-F162-5803-E758-97A8B7EA44AC}"/>
              </a:ext>
            </a:extLst>
          </p:cNvPr>
          <p:cNvSpPr>
            <a:spLocks noGrp="1"/>
          </p:cNvSpPr>
          <p:nvPr>
            <p:ph idx="1"/>
          </p:nvPr>
        </p:nvSpPr>
        <p:spPr/>
        <p:txBody>
          <a:bodyPr/>
          <a:lstStyle/>
          <a:p>
            <a:pPr eaLnBrk="1" hangingPunct="1"/>
            <a:r>
              <a:rPr lang="en-US" altLang="en-US" sz="2000" dirty="0">
                <a:latin typeface="Arial" panose="020B0604020202020204" pitchFamily="34" charset="0"/>
                <a:cs typeface="Arial" panose="020B0604020202020204" pitchFamily="34" charset="0"/>
              </a:rPr>
              <a:t>Between the steps of DNA cleavage and DNA rejoining, the topoisomerase promotes the passage of a second segment of DNA through the break.</a:t>
            </a:r>
          </a:p>
          <a:p>
            <a:pPr eaLnBrk="1" hangingPunct="1"/>
            <a:r>
              <a:rPr lang="en-US" altLang="en-US" sz="2000" dirty="0">
                <a:latin typeface="Arial" panose="020B0604020202020204" pitchFamily="34" charset="0"/>
                <a:cs typeface="Arial" panose="020B0604020202020204" pitchFamily="34" charset="0"/>
              </a:rPr>
              <a:t>Topoisomerase function thus requires that DNA cleavage, strand passage, and DNA rejoining occur in a highly coordinated manner.</a:t>
            </a:r>
          </a:p>
          <a:p>
            <a:pPr eaLnBrk="1" hangingPunct="1"/>
            <a:r>
              <a:rPr lang="en-US" altLang="en-US" sz="2000" dirty="0">
                <a:latin typeface="Arial" panose="020B0604020202020204" pitchFamily="34" charset="0"/>
                <a:cs typeface="Arial" panose="020B0604020202020204" pitchFamily="34" charset="0"/>
              </a:rPr>
              <a:t>Melting of the DNA strands is favored in highly negatively supercoiled DNA, making the DNA an excellent substrate for relaxation. </a:t>
            </a:r>
          </a:p>
          <a:p>
            <a:endParaRPr lang="en-US" sz="2000" dirty="0"/>
          </a:p>
        </p:txBody>
      </p:sp>
    </p:spTree>
    <p:extLst>
      <p:ext uri="{BB962C8B-B14F-4D97-AF65-F5344CB8AC3E}">
        <p14:creationId xmlns:p14="http://schemas.microsoft.com/office/powerpoint/2010/main" val="42858666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5">
            <a:extLst>
              <a:ext uri="{FF2B5EF4-FFF2-40B4-BE49-F238E27FC236}">
                <a16:creationId xmlns:a16="http://schemas.microsoft.com/office/drawing/2014/main" id="{E70EE5A6-D0D6-DE9E-193C-0E426BE7BE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1700213"/>
            <a:ext cx="6577012" cy="479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Rectangle 2">
            <a:extLst>
              <a:ext uri="{FF2B5EF4-FFF2-40B4-BE49-F238E27FC236}">
                <a16:creationId xmlns:a16="http://schemas.microsoft.com/office/drawing/2014/main" id="{0688F936-CAC7-9053-7F4C-DEC1DCEA761C}"/>
              </a:ext>
            </a:extLst>
          </p:cNvPr>
          <p:cNvSpPr>
            <a:spLocks noGrp="1" noChangeArrowheads="1"/>
          </p:cNvSpPr>
          <p:nvPr>
            <p:ph type="title"/>
          </p:nvPr>
        </p:nvSpPr>
        <p:spPr>
          <a:xfrm>
            <a:off x="457200" y="122238"/>
            <a:ext cx="7543800" cy="1146175"/>
          </a:xfrm>
        </p:spPr>
        <p:txBody>
          <a:bodyPr/>
          <a:lstStyle/>
          <a:p>
            <a:pPr eaLnBrk="1" hangingPunct="1"/>
            <a:r>
              <a:rPr lang="en-US" altLang="en-US" sz="2800" dirty="0">
                <a:solidFill>
                  <a:srgbClr val="0000FF"/>
                </a:solidFill>
              </a:rPr>
              <a:t>Topoisomerase use covalent protein DNA linkage to cleave and rejoin DNA strands</a:t>
            </a:r>
            <a:endParaRPr lang="en-GB" altLang="en-US" sz="2800" dirty="0">
              <a:solidFill>
                <a:srgbClr val="0000FF"/>
              </a:solidFill>
            </a:endParaRPr>
          </a:p>
        </p:txBody>
      </p:sp>
      <p:sp>
        <p:nvSpPr>
          <p:cNvPr id="76804" name="AutoShape 4">
            <a:extLst>
              <a:ext uri="{FF2B5EF4-FFF2-40B4-BE49-F238E27FC236}">
                <a16:creationId xmlns:a16="http://schemas.microsoft.com/office/drawing/2014/main" id="{D62756E2-43B5-6730-E57A-EDE3897AE2A2}"/>
              </a:ext>
            </a:extLst>
          </p:cNvPr>
          <p:cNvSpPr>
            <a:spLocks/>
          </p:cNvSpPr>
          <p:nvPr/>
        </p:nvSpPr>
        <p:spPr bwMode="auto">
          <a:xfrm>
            <a:off x="3563938" y="3141663"/>
            <a:ext cx="1579562" cy="609600"/>
          </a:xfrm>
          <a:prstGeom prst="borderCallout2">
            <a:avLst>
              <a:gd name="adj1" fmla="val 18750"/>
              <a:gd name="adj2" fmla="val -4824"/>
              <a:gd name="adj3" fmla="val 18750"/>
              <a:gd name="adj4" fmla="val -17588"/>
              <a:gd name="adj5" fmla="val 125782"/>
              <a:gd name="adj6" fmla="val -30856"/>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1000"/>
              <a:t>Phosphate tyrosine bond</a:t>
            </a:r>
            <a:endParaRPr lang="en-GB" altLang="en-US" sz="1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a:extLst>
              <a:ext uri="{FF2B5EF4-FFF2-40B4-BE49-F238E27FC236}">
                <a16:creationId xmlns:a16="http://schemas.microsoft.com/office/drawing/2014/main" id="{1908E63E-0450-1808-4368-54816B1D52D8}"/>
              </a:ext>
            </a:extLst>
          </p:cNvPr>
          <p:cNvSpPr>
            <a:spLocks noGrp="1" noChangeArrowheads="1"/>
          </p:cNvSpPr>
          <p:nvPr>
            <p:ph type="title"/>
          </p:nvPr>
        </p:nvSpPr>
        <p:spPr>
          <a:xfrm>
            <a:off x="179388" y="122238"/>
            <a:ext cx="7821612" cy="1295400"/>
          </a:xfrm>
        </p:spPr>
        <p:txBody>
          <a:bodyPr/>
          <a:lstStyle/>
          <a:p>
            <a:pPr eaLnBrk="1" hangingPunct="1"/>
            <a:r>
              <a:rPr lang="en-US" altLang="en-US">
                <a:solidFill>
                  <a:srgbClr val="0000FF"/>
                </a:solidFill>
              </a:rPr>
              <a:t>Topisomerase I action in details</a:t>
            </a:r>
            <a:endParaRPr lang="en-GB" altLang="en-US">
              <a:solidFill>
                <a:srgbClr val="0000FF"/>
              </a:solidFill>
            </a:endParaRPr>
          </a:p>
        </p:txBody>
      </p:sp>
      <p:pic>
        <p:nvPicPr>
          <p:cNvPr id="78851" name="Picture 7">
            <a:extLst>
              <a:ext uri="{FF2B5EF4-FFF2-40B4-BE49-F238E27FC236}">
                <a16:creationId xmlns:a16="http://schemas.microsoft.com/office/drawing/2014/main" id="{BBF49645-A978-857E-A67E-0CF5600CA60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166018" y="1916832"/>
            <a:ext cx="6811963" cy="4411662"/>
          </a:xfr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0F14F61A-877D-9406-A62E-3E83A329B193}"/>
              </a:ext>
            </a:extLst>
          </p:cNvPr>
          <p:cNvSpPr>
            <a:spLocks noGrp="1" noChangeArrowheads="1"/>
          </p:cNvSpPr>
          <p:nvPr>
            <p:ph type="title"/>
          </p:nvPr>
        </p:nvSpPr>
        <p:spPr/>
        <p:txBody>
          <a:bodyPr/>
          <a:lstStyle/>
          <a:p>
            <a:pPr eaLnBrk="1" hangingPunct="1"/>
            <a:r>
              <a:rPr lang="en-US" altLang="en-US" sz="3500">
                <a:solidFill>
                  <a:srgbClr val="0000FF"/>
                </a:solidFill>
              </a:rPr>
              <a:t>Topoisoermase II</a:t>
            </a:r>
            <a:endParaRPr lang="en-GB" altLang="en-US" sz="3500">
              <a:solidFill>
                <a:srgbClr val="0000FF"/>
              </a:solidFill>
            </a:endParaRPr>
          </a:p>
        </p:txBody>
      </p:sp>
      <p:sp>
        <p:nvSpPr>
          <p:cNvPr id="80899" name="Rectangle 3">
            <a:extLst>
              <a:ext uri="{FF2B5EF4-FFF2-40B4-BE49-F238E27FC236}">
                <a16:creationId xmlns:a16="http://schemas.microsoft.com/office/drawing/2014/main" id="{37EF0BC4-3D6A-25F9-CAAA-A177C2185B89}"/>
              </a:ext>
            </a:extLst>
          </p:cNvPr>
          <p:cNvSpPr>
            <a:spLocks noGrp="1" noChangeArrowheads="1"/>
          </p:cNvSpPr>
          <p:nvPr>
            <p:ph type="body" sz="half" idx="2"/>
          </p:nvPr>
        </p:nvSpPr>
        <p:spPr/>
        <p:txBody>
          <a:bodyPr/>
          <a:lstStyle/>
          <a:p>
            <a:pPr eaLnBrk="1" hangingPunct="1"/>
            <a:r>
              <a:rPr lang="en-US" altLang="en-US" sz="2600"/>
              <a:t>Dimeric protein </a:t>
            </a:r>
          </a:p>
          <a:p>
            <a:pPr eaLnBrk="1" hangingPunct="1"/>
            <a:r>
              <a:rPr lang="en-US" altLang="en-US" sz="2600"/>
              <a:t>Involves tyrosine in the active site</a:t>
            </a:r>
          </a:p>
        </p:txBody>
      </p:sp>
      <p:pic>
        <p:nvPicPr>
          <p:cNvPr id="80900" name="Picture 4" descr="F29-30">
            <a:extLst>
              <a:ext uri="{FF2B5EF4-FFF2-40B4-BE49-F238E27FC236}">
                <a16:creationId xmlns:a16="http://schemas.microsoft.com/office/drawing/2014/main" id="{195FC6B9-09D4-7923-BC62-47FED7F1B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557338"/>
            <a:ext cx="7419975"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F822C7A0-F88D-38EA-6BD3-8CAA077F54D4}"/>
              </a:ext>
            </a:extLst>
          </p:cNvPr>
          <p:cNvSpPr>
            <a:spLocks noGrp="1" noChangeArrowheads="1"/>
          </p:cNvSpPr>
          <p:nvPr>
            <p:ph type="title"/>
          </p:nvPr>
        </p:nvSpPr>
        <p:spPr/>
        <p:txBody>
          <a:bodyPr/>
          <a:lstStyle/>
          <a:p>
            <a:pPr eaLnBrk="1" hangingPunct="1"/>
            <a:r>
              <a:rPr lang="en-US" altLang="en-US">
                <a:solidFill>
                  <a:srgbClr val="0000FF"/>
                </a:solidFill>
              </a:rPr>
              <a:t>DNA Topoisomers</a:t>
            </a:r>
            <a:endParaRPr lang="en-GB" altLang="en-US">
              <a:solidFill>
                <a:srgbClr val="0000FF"/>
              </a:solidFill>
            </a:endParaRPr>
          </a:p>
        </p:txBody>
      </p:sp>
      <p:pic>
        <p:nvPicPr>
          <p:cNvPr id="82947" name="Picture 4">
            <a:extLst>
              <a:ext uri="{FF2B5EF4-FFF2-40B4-BE49-F238E27FC236}">
                <a16:creationId xmlns:a16="http://schemas.microsoft.com/office/drawing/2014/main" id="{713C013D-9CB0-A424-998A-1FDD3D1D63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145"/>
          <a:stretch>
            <a:fillRect/>
          </a:stretch>
        </p:blipFill>
        <p:spPr bwMode="auto">
          <a:xfrm>
            <a:off x="5445125" y="1341438"/>
            <a:ext cx="3698875" cy="528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Rectangle 5">
            <a:extLst>
              <a:ext uri="{FF2B5EF4-FFF2-40B4-BE49-F238E27FC236}">
                <a16:creationId xmlns:a16="http://schemas.microsoft.com/office/drawing/2014/main" id="{53A96E91-85AF-534C-AAE4-E07501C4CF94}"/>
              </a:ext>
            </a:extLst>
          </p:cNvPr>
          <p:cNvSpPr>
            <a:spLocks noGrp="1" noChangeArrowheads="1"/>
          </p:cNvSpPr>
          <p:nvPr>
            <p:ph type="body" sz="half" idx="1"/>
          </p:nvPr>
        </p:nvSpPr>
        <p:spPr>
          <a:xfrm>
            <a:off x="250825" y="1719263"/>
            <a:ext cx="4826000" cy="4733925"/>
          </a:xfrm>
        </p:spPr>
        <p:txBody>
          <a:bodyPr/>
          <a:lstStyle/>
          <a:p>
            <a:pPr marL="0" indent="0">
              <a:buFont typeface="Wingdings" pitchFamily="2" charset="2"/>
              <a:buNone/>
              <a:defRPr/>
            </a:pPr>
            <a:r>
              <a:rPr lang="en-US" sz="2800" dirty="0"/>
              <a:t>Schematic of electrophoretic separation of DNA </a:t>
            </a:r>
            <a:r>
              <a:rPr lang="en-US" sz="2800" dirty="0" err="1"/>
              <a:t>topoisomers</a:t>
            </a:r>
            <a:r>
              <a:rPr lang="en-US" sz="2800" dirty="0"/>
              <a:t>.</a:t>
            </a:r>
          </a:p>
          <a:p>
            <a:pPr>
              <a:defRPr/>
            </a:pPr>
            <a:r>
              <a:rPr lang="en-US" sz="2800" dirty="0"/>
              <a:t>(Lane A) Relaxed or nicked circular DNA</a:t>
            </a:r>
          </a:p>
          <a:p>
            <a:pPr>
              <a:defRPr/>
            </a:pPr>
            <a:r>
              <a:rPr lang="en-US" sz="2800" dirty="0"/>
              <a:t>(lane B) linear DNA</a:t>
            </a:r>
          </a:p>
          <a:p>
            <a:pPr>
              <a:defRPr/>
            </a:pPr>
            <a:r>
              <a:rPr lang="en-US" sz="2800" dirty="0"/>
              <a:t>(lane C) highly supercoiled</a:t>
            </a:r>
          </a:p>
          <a:p>
            <a:pPr marL="0" indent="0">
              <a:buFont typeface="Wingdings" pitchFamily="2" charset="2"/>
              <a:buNone/>
              <a:defRPr/>
            </a:pPr>
            <a:r>
              <a:rPr lang="en-US" sz="2800" dirty="0" err="1"/>
              <a:t>cccDNA</a:t>
            </a:r>
            <a:r>
              <a:rPr lang="en-US" sz="2800" dirty="0"/>
              <a:t> </a:t>
            </a:r>
          </a:p>
          <a:p>
            <a:pPr>
              <a:defRPr/>
            </a:pPr>
            <a:r>
              <a:rPr lang="en-US" sz="2800" dirty="0"/>
              <a:t>(lane D) a ladder of </a:t>
            </a:r>
            <a:r>
              <a:rPr lang="en-US" sz="2800" dirty="0" err="1"/>
              <a:t>topoisomers</a:t>
            </a:r>
            <a:endParaRPr lang="en-US" alt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79E616C-51CF-84F5-9F31-1D7885564B62}"/>
              </a:ext>
            </a:extLst>
          </p:cNvPr>
          <p:cNvSpPr txBox="1"/>
          <p:nvPr/>
        </p:nvSpPr>
        <p:spPr>
          <a:xfrm>
            <a:off x="179512" y="548680"/>
            <a:ext cx="8064896" cy="5355312"/>
          </a:xfrm>
          <a:prstGeom prst="rect">
            <a:avLst/>
          </a:prstGeom>
          <a:noFill/>
        </p:spPr>
        <p:txBody>
          <a:bodyPr wrap="square">
            <a:spAutoFit/>
          </a:bodyPr>
          <a:lstStyle/>
          <a:p>
            <a:r>
              <a:rPr lang="en-US" dirty="0"/>
              <a:t>In electrophoresis, the movement of DNA is influenced by its conformation due to differences in size and compactness. Based on your image:</a:t>
            </a:r>
          </a:p>
          <a:p>
            <a:pPr>
              <a:buFont typeface="Arial" panose="020B0604020202020204" pitchFamily="34" charset="0"/>
              <a:buChar char="•"/>
            </a:pPr>
            <a:r>
              <a:rPr lang="en-US" b="1" dirty="0"/>
              <a:t>Lane A (Relaxed or Nicked Circular DNA)</a:t>
            </a:r>
            <a:r>
              <a:rPr lang="en-US" dirty="0"/>
              <a:t>: This DNA moves slower in the gel because it is less compact compared to supercoiled forms. The relaxed structure makes it larger and less efficient at moving through the pores of the gel.</a:t>
            </a:r>
          </a:p>
          <a:p>
            <a:pPr>
              <a:buFont typeface="Arial" panose="020B0604020202020204" pitchFamily="34" charset="0"/>
              <a:buChar char="•"/>
            </a:pPr>
            <a:r>
              <a:rPr lang="en-US" b="1" dirty="0"/>
              <a:t>Lane B (Linear DNA)</a:t>
            </a:r>
            <a:r>
              <a:rPr lang="en-US" dirty="0"/>
              <a:t>: Linear DNA migrates at a rate dependent on its size. It's less compact than supercoiled DNA but more than relaxed circular DNA, so it moves faster than nicked DNA but slower than highly supercoiled DNA.</a:t>
            </a:r>
          </a:p>
          <a:p>
            <a:pPr>
              <a:buFont typeface="Arial" panose="020B0604020202020204" pitchFamily="34" charset="0"/>
              <a:buChar char="•"/>
            </a:pPr>
            <a:r>
              <a:rPr lang="en-US" b="1" dirty="0"/>
              <a:t>Lane C (Highly Supercoiled </a:t>
            </a:r>
            <a:r>
              <a:rPr lang="en-US" b="1" dirty="0" err="1"/>
              <a:t>cccDNA</a:t>
            </a:r>
            <a:r>
              <a:rPr lang="en-US" b="1" dirty="0"/>
              <a:t>)</a:t>
            </a:r>
            <a:r>
              <a:rPr lang="en-US" dirty="0"/>
              <a:t>: Supercoiled DNA is the most compact form. It moves fastest through the gel because its tightly wound structure allows it to navigate the pores more efficiently.</a:t>
            </a:r>
          </a:p>
          <a:p>
            <a:pPr>
              <a:buFont typeface="Arial" panose="020B0604020202020204" pitchFamily="34" charset="0"/>
              <a:buChar char="•"/>
            </a:pPr>
            <a:r>
              <a:rPr lang="en-US" b="1" dirty="0"/>
              <a:t>Lane D (Ladder of </a:t>
            </a:r>
            <a:r>
              <a:rPr lang="en-US" b="1" dirty="0" err="1"/>
              <a:t>Topoisomers</a:t>
            </a:r>
            <a:r>
              <a:rPr lang="en-US" b="1" dirty="0"/>
              <a:t>)</a:t>
            </a:r>
            <a:r>
              <a:rPr lang="en-US" dirty="0"/>
              <a:t>: These are forms of DNA with varying levels of supercoiling. The different degrees of supercoiling result in a "ladder" of bands, with more highly supercoiled forms moving faster and less supercoiled forms moving slower.</a:t>
            </a:r>
          </a:p>
          <a:p>
            <a:r>
              <a:rPr lang="en-US" dirty="0"/>
              <a:t>In summary, the movement of DNA in your gel reflects the compactness of each form: supercoiled DNA (Lane C) moves the fastest, while relaxed or nicked DNA (Lane A) moves the slowest.</a:t>
            </a:r>
          </a:p>
        </p:txBody>
      </p:sp>
    </p:spTree>
    <p:extLst>
      <p:ext uri="{BB962C8B-B14F-4D97-AF65-F5344CB8AC3E}">
        <p14:creationId xmlns:p14="http://schemas.microsoft.com/office/powerpoint/2010/main" val="42876472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7F2EC2-9CD4-EFA4-D8C0-8FF3E23CBAD3}"/>
              </a:ext>
            </a:extLst>
          </p:cNvPr>
          <p:cNvSpPr>
            <a:spLocks noGrp="1" noChangeArrowheads="1"/>
          </p:cNvSpPr>
          <p:nvPr>
            <p:ph type="title"/>
          </p:nvPr>
        </p:nvSpPr>
        <p:spPr/>
        <p:txBody>
          <a:bodyPr/>
          <a:lstStyle/>
          <a:p>
            <a:pPr eaLnBrk="1" hangingPunct="1"/>
            <a:r>
              <a:rPr lang="en-GB" altLang="en-US" dirty="0">
                <a:solidFill>
                  <a:srgbClr val="0000FF"/>
                </a:solidFill>
              </a:rPr>
              <a:t>Staining DNA with Ethidium </a:t>
            </a:r>
          </a:p>
        </p:txBody>
      </p:sp>
      <p:pic>
        <p:nvPicPr>
          <p:cNvPr id="84996" name="Picture 4">
            <a:extLst>
              <a:ext uri="{FF2B5EF4-FFF2-40B4-BE49-F238E27FC236}">
                <a16:creationId xmlns:a16="http://schemas.microsoft.com/office/drawing/2014/main" id="{CA782E6A-5CD4-33F2-98F4-DDFBB5D9F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1" y="1628775"/>
            <a:ext cx="3960366"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3">
            <a:extLst>
              <a:ext uri="{FF2B5EF4-FFF2-40B4-BE49-F238E27FC236}">
                <a16:creationId xmlns:a16="http://schemas.microsoft.com/office/drawing/2014/main" id="{63E63664-5003-65CC-EB81-EC346AE79FA4}"/>
              </a:ext>
            </a:extLst>
          </p:cNvPr>
          <p:cNvSpPr txBox="1">
            <a:spLocks noGrp="1"/>
          </p:cNvSpPr>
          <p:nvPr>
            <p:ph type="body" idx="1"/>
          </p:nvPr>
        </p:nvSpPr>
        <p:spPr>
          <a:xfrm>
            <a:off x="4777680" y="1484784"/>
            <a:ext cx="4258816" cy="4228850"/>
          </a:xfrm>
          <a:prstGeom prst="rect">
            <a:avLst/>
          </a:prstGeom>
          <a:noFill/>
        </p:spPr>
        <p:txBody>
          <a:bodyPr wrap="square">
            <a:spAutoFit/>
          </a:bodyPr>
          <a:lstStyle/>
          <a:p>
            <a:pPr eaLnBrk="1" hangingPunct="1"/>
            <a:r>
              <a:rPr lang="en-US" altLang="en-US" sz="2400" dirty="0">
                <a:latin typeface="Arial" panose="020B0604020202020204" pitchFamily="34" charset="0"/>
                <a:cs typeface="Arial" panose="020B0604020202020204" pitchFamily="34" charset="0"/>
              </a:rPr>
              <a:t>Causes unwinding of the DNA by 26</a:t>
            </a:r>
            <a:r>
              <a:rPr lang="en-US" altLang="en-US" sz="2400" baseline="30000" dirty="0">
                <a:latin typeface="Arial" panose="020B0604020202020204" pitchFamily="34" charset="0"/>
                <a:cs typeface="Arial" panose="020B0604020202020204" pitchFamily="34" charset="0"/>
              </a:rPr>
              <a:t>o</a:t>
            </a:r>
            <a:r>
              <a:rPr lang="en-US" altLang="en-US" sz="2400" dirty="0">
                <a:latin typeface="Arial" panose="020B0604020202020204" pitchFamily="34" charset="0"/>
                <a:cs typeface="Arial" panose="020B0604020202020204" pitchFamily="34" charset="0"/>
              </a:rPr>
              <a:t> reducing the rotation around the bp from 36 to 10</a:t>
            </a:r>
            <a:r>
              <a:rPr lang="en-US" altLang="en-US" sz="2400" baseline="30000" dirty="0">
                <a:latin typeface="Arial" panose="020B0604020202020204" pitchFamily="34" charset="0"/>
                <a:cs typeface="Arial" panose="020B0604020202020204" pitchFamily="34" charset="0"/>
              </a:rPr>
              <a:t>o  </a:t>
            </a:r>
            <a:r>
              <a:rPr lang="en-US" altLang="en-US" sz="2400" dirty="0">
                <a:latin typeface="Arial" panose="020B0604020202020204" pitchFamily="34" charset="0"/>
                <a:cs typeface="Arial" panose="020B0604020202020204" pitchFamily="34" charset="0"/>
              </a:rPr>
              <a:t>thus decrease the twist of DNA</a:t>
            </a:r>
          </a:p>
          <a:p>
            <a:pPr eaLnBrk="1" hangingPunct="1"/>
            <a:r>
              <a:rPr lang="en-US" altLang="en-US" sz="2400" dirty="0">
                <a:latin typeface="Arial" panose="020B0604020202020204" pitchFamily="34" charset="0"/>
                <a:cs typeface="Arial" panose="020B0604020202020204" pitchFamily="34" charset="0"/>
              </a:rPr>
              <a:t>Negatively supercoiled are more relaxed and migrate slowly but relaxed </a:t>
            </a:r>
            <a:r>
              <a:rPr lang="en-US" altLang="en-US" sz="2400" dirty="0" err="1">
                <a:latin typeface="Arial" panose="020B0604020202020204" pitchFamily="34" charset="0"/>
                <a:cs typeface="Arial" panose="020B0604020202020204" pitchFamily="34" charset="0"/>
              </a:rPr>
              <a:t>cccDNA</a:t>
            </a:r>
            <a:r>
              <a:rPr lang="en-US" altLang="en-US" sz="2400" dirty="0">
                <a:latin typeface="Arial" panose="020B0604020202020204" pitchFamily="34" charset="0"/>
                <a:cs typeface="Arial" panose="020B0604020202020204" pitchFamily="34" charset="0"/>
              </a:rPr>
              <a:t> become positively supercoiled and migrate more rapidly</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D8C872-443B-62B7-84E2-28AA0C7B6C8A}"/>
              </a:ext>
            </a:extLst>
          </p:cNvPr>
          <p:cNvSpPr>
            <a:spLocks noGrp="1"/>
          </p:cNvSpPr>
          <p:nvPr>
            <p:ph idx="1"/>
          </p:nvPr>
        </p:nvSpPr>
        <p:spPr>
          <a:xfrm>
            <a:off x="457200" y="116632"/>
            <a:ext cx="8229600" cy="6264696"/>
          </a:xfrm>
        </p:spPr>
        <p:txBody>
          <a:bodyPr/>
          <a:lstStyle/>
          <a:p>
            <a:r>
              <a:rPr lang="en-US" sz="2400" dirty="0"/>
              <a:t>Ethidium bromide (EtBr) is a fluorescent intercalating agent widely used in molecular biology for the visualization of nucleic acids, particularly DNA, in agarose gel electrophoresis. When bound to DNA, EtBr emits bright orange fluorescence under ultraviolet (UV) light, allowing for easy detection and quantification of DNA bands.</a:t>
            </a:r>
          </a:p>
          <a:p>
            <a:r>
              <a:rPr lang="en-US" sz="2400" b="1" dirty="0"/>
              <a:t>Mechanism of Action:</a:t>
            </a:r>
            <a:endParaRPr lang="en-US" sz="2400" dirty="0"/>
          </a:p>
          <a:p>
            <a:pPr>
              <a:buFont typeface="Arial" panose="020B0604020202020204" pitchFamily="34" charset="0"/>
              <a:buChar char="•"/>
            </a:pPr>
            <a:r>
              <a:rPr lang="en-US" sz="2400" b="1" dirty="0"/>
              <a:t>Intercalation:</a:t>
            </a:r>
            <a:r>
              <a:rPr lang="en-US" sz="2400" dirty="0"/>
              <a:t> Ethidium bromide intercalates between the base pairs of DNA. This insertion causes a distortion in the DNA structure, which can slightly alter the conformation of the double helix.</a:t>
            </a:r>
          </a:p>
          <a:p>
            <a:pPr>
              <a:buFont typeface="Arial" panose="020B0604020202020204" pitchFamily="34" charset="0"/>
              <a:buChar char="•"/>
            </a:pPr>
            <a:r>
              <a:rPr lang="en-US" sz="2400" b="1" dirty="0"/>
              <a:t>Fluorescence:</a:t>
            </a:r>
            <a:r>
              <a:rPr lang="en-US" sz="2400" dirty="0"/>
              <a:t> Upon excitation by UV light (typically at a wavelength of 260 nm), EtBr emits light at a wavelength of approximately 590 nm. This fluorescence is what allows for visualization of the DNA.</a:t>
            </a:r>
          </a:p>
          <a:p>
            <a:endParaRPr lang="en-US" sz="2400" dirty="0"/>
          </a:p>
        </p:txBody>
      </p:sp>
    </p:spTree>
    <p:extLst>
      <p:ext uri="{BB962C8B-B14F-4D97-AF65-F5344CB8AC3E}">
        <p14:creationId xmlns:p14="http://schemas.microsoft.com/office/powerpoint/2010/main" val="10488011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17030AF5-458E-E4A1-5E66-BDB850B457B9}"/>
              </a:ext>
            </a:extLst>
          </p:cNvPr>
          <p:cNvSpPr>
            <a:spLocks noGrp="1" noChangeArrowheads="1"/>
          </p:cNvSpPr>
          <p:nvPr>
            <p:ph type="ctrTitle"/>
          </p:nvPr>
        </p:nvSpPr>
        <p:spPr/>
        <p:txBody>
          <a:bodyPr/>
          <a:lstStyle/>
          <a:p>
            <a:pPr algn="l" eaLnBrk="1" hangingPunct="1"/>
            <a:r>
              <a:rPr lang="en-US" altLang="en-US">
                <a:solidFill>
                  <a:srgbClr val="0000FF"/>
                </a:solidFill>
              </a:rPr>
              <a:t>RNA Structure</a:t>
            </a:r>
            <a:endParaRPr lang="en-GB" altLang="en-US">
              <a:solidFill>
                <a:srgbClr val="0000FF"/>
              </a:solidFill>
            </a:endParaRPr>
          </a:p>
        </p:txBody>
      </p:sp>
      <p:pic>
        <p:nvPicPr>
          <p:cNvPr id="87043" name="Picture 1">
            <a:extLst>
              <a:ext uri="{FF2B5EF4-FFF2-40B4-BE49-F238E27FC236}">
                <a16:creationId xmlns:a16="http://schemas.microsoft.com/office/drawing/2014/main" id="{AE1E735A-4603-8D8F-0B95-9E7129F92A2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67175" y="2924175"/>
            <a:ext cx="3074988" cy="371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AB46AC55-EC83-7AE6-0BEF-85EA5FA47B96}"/>
              </a:ext>
            </a:extLst>
          </p:cNvPr>
          <p:cNvSpPr>
            <a:spLocks noGrp="1" noChangeArrowheads="1"/>
          </p:cNvSpPr>
          <p:nvPr>
            <p:ph type="title"/>
          </p:nvPr>
        </p:nvSpPr>
        <p:spPr/>
        <p:txBody>
          <a:bodyPr/>
          <a:lstStyle/>
          <a:p>
            <a:pPr eaLnBrk="1" hangingPunct="1"/>
            <a:r>
              <a:rPr lang="en-US" altLang="en-US">
                <a:solidFill>
                  <a:srgbClr val="0000FF"/>
                </a:solidFill>
              </a:rPr>
              <a:t>Basic RNA Structure</a:t>
            </a:r>
            <a:endParaRPr lang="en-GB" altLang="en-US">
              <a:solidFill>
                <a:srgbClr val="0000FF"/>
              </a:solidFill>
            </a:endParaRPr>
          </a:p>
        </p:txBody>
      </p:sp>
      <p:sp>
        <p:nvSpPr>
          <p:cNvPr id="89091" name="Rectangle 3">
            <a:extLst>
              <a:ext uri="{FF2B5EF4-FFF2-40B4-BE49-F238E27FC236}">
                <a16:creationId xmlns:a16="http://schemas.microsoft.com/office/drawing/2014/main" id="{E11E4C95-3264-2447-6875-6596D92BD0D4}"/>
              </a:ext>
            </a:extLst>
          </p:cNvPr>
          <p:cNvSpPr>
            <a:spLocks noGrp="1" noChangeArrowheads="1"/>
          </p:cNvSpPr>
          <p:nvPr>
            <p:ph type="body" sz="half" idx="1"/>
          </p:nvPr>
        </p:nvSpPr>
        <p:spPr>
          <a:xfrm>
            <a:off x="250825" y="1773238"/>
            <a:ext cx="6202363" cy="4373562"/>
          </a:xfrm>
        </p:spPr>
        <p:txBody>
          <a:bodyPr/>
          <a:lstStyle/>
          <a:p>
            <a:pPr marL="495300" indent="-495300" eaLnBrk="1" hangingPunct="1">
              <a:buFont typeface="Wingdings" pitchFamily="2" charset="2"/>
              <a:buAutoNum type="arabicPeriod"/>
            </a:pPr>
            <a:r>
              <a:rPr lang="en-US" altLang="en-US" sz="2600" dirty="0"/>
              <a:t>Ribose instead of 2`- deoxyribose</a:t>
            </a:r>
          </a:p>
          <a:p>
            <a:pPr marL="495300" indent="-495300" eaLnBrk="1" hangingPunct="1">
              <a:buFont typeface="Wingdings" pitchFamily="2" charset="2"/>
              <a:buAutoNum type="arabicPeriod"/>
            </a:pPr>
            <a:r>
              <a:rPr lang="en-US" altLang="en-US" sz="2600" dirty="0"/>
              <a:t>Uracil instead of Thymine</a:t>
            </a:r>
          </a:p>
          <a:p>
            <a:pPr marL="495300" indent="-495300" eaLnBrk="1" hangingPunct="1">
              <a:buFont typeface="Wingdings" pitchFamily="2" charset="2"/>
              <a:buAutoNum type="arabicPeriod"/>
            </a:pPr>
            <a:r>
              <a:rPr lang="en-US" altLang="en-US" sz="2600" dirty="0"/>
              <a:t>Single nucleotide chain</a:t>
            </a:r>
          </a:p>
          <a:p>
            <a:pPr marL="495300" indent="-495300" eaLnBrk="1" hangingPunct="1">
              <a:buFont typeface="Wingdings" pitchFamily="2" charset="2"/>
              <a:buAutoNum type="arabicPeriod"/>
            </a:pPr>
            <a:r>
              <a:rPr lang="en-US" altLang="en-US" sz="2600" dirty="0"/>
              <a:t>Genetic material in certain viruses</a:t>
            </a:r>
          </a:p>
          <a:p>
            <a:pPr marL="495300" indent="-495300" eaLnBrk="1" hangingPunct="1">
              <a:buFont typeface="Wingdings" pitchFamily="2" charset="2"/>
              <a:buAutoNum type="arabicPeriod"/>
            </a:pPr>
            <a:r>
              <a:rPr lang="en-US" altLang="en-US" sz="2600" dirty="0"/>
              <a:t>Intermediate mRNA</a:t>
            </a:r>
          </a:p>
          <a:p>
            <a:pPr marL="495300" indent="-495300" eaLnBrk="1" hangingPunct="1">
              <a:buFont typeface="Wingdings" pitchFamily="2" charset="2"/>
              <a:buAutoNum type="arabicPeriod"/>
            </a:pPr>
            <a:r>
              <a:rPr lang="en-US" altLang="en-US" sz="2600" dirty="0"/>
              <a:t>Adapter tRNA</a:t>
            </a:r>
          </a:p>
          <a:p>
            <a:pPr marL="495300" indent="-495300" eaLnBrk="1" hangingPunct="1">
              <a:buFont typeface="Wingdings" pitchFamily="2" charset="2"/>
              <a:buAutoNum type="arabicPeriod"/>
            </a:pPr>
            <a:r>
              <a:rPr lang="en-US" altLang="en-US" sz="2600" dirty="0"/>
              <a:t>Structural rRNA</a:t>
            </a:r>
          </a:p>
          <a:p>
            <a:pPr marL="495300" indent="-495300" eaLnBrk="1" hangingPunct="1">
              <a:buFont typeface="Wingdings" pitchFamily="2" charset="2"/>
              <a:buAutoNum type="arabicPeriod"/>
            </a:pPr>
            <a:r>
              <a:rPr lang="en-US" altLang="en-US" sz="2600" dirty="0"/>
              <a:t>Regulatory</a:t>
            </a:r>
          </a:p>
          <a:p>
            <a:pPr marL="495300" indent="-495300" eaLnBrk="1" hangingPunct="1">
              <a:buFont typeface="Wingdings" pitchFamily="2" charset="2"/>
              <a:buAutoNum type="arabicPeriod"/>
            </a:pPr>
            <a:r>
              <a:rPr lang="en-US" altLang="en-US" sz="2600" dirty="0"/>
              <a:t>Ribozyme </a:t>
            </a:r>
            <a:endParaRPr lang="en-GB" altLang="en-US" sz="2600" dirty="0"/>
          </a:p>
        </p:txBody>
      </p:sp>
      <p:pic>
        <p:nvPicPr>
          <p:cNvPr id="89092" name="Picture 4" descr="05_01Figure-L">
            <a:extLst>
              <a:ext uri="{FF2B5EF4-FFF2-40B4-BE49-F238E27FC236}">
                <a16:creationId xmlns:a16="http://schemas.microsoft.com/office/drawing/2014/main" id="{72F9BD4B-DB47-F35E-924A-FC324B4FF599}"/>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b="2605"/>
          <a:stretch>
            <a:fillRect/>
          </a:stretch>
        </p:blipFill>
        <p:spPr>
          <a:xfrm>
            <a:off x="5868144" y="2349500"/>
            <a:ext cx="3096469" cy="3819525"/>
          </a:xfr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DC6315D-BE8F-CB0A-F10A-78598885933F}"/>
              </a:ext>
            </a:extLst>
          </p:cNvPr>
          <p:cNvSpPr>
            <a:spLocks noGrp="1" noChangeArrowheads="1"/>
          </p:cNvSpPr>
          <p:nvPr>
            <p:ph type="title"/>
          </p:nvPr>
        </p:nvSpPr>
        <p:spPr/>
        <p:txBody>
          <a:bodyPr/>
          <a:lstStyle/>
          <a:p>
            <a:pPr eaLnBrk="1" hangingPunct="1"/>
            <a:r>
              <a:rPr lang="en-US" altLang="en-US">
                <a:solidFill>
                  <a:srgbClr val="0000FF"/>
                </a:solidFill>
              </a:rPr>
              <a:t>RNA functions</a:t>
            </a:r>
            <a:br>
              <a:rPr lang="en-US" altLang="en-US"/>
            </a:br>
            <a:endParaRPr lang="en-GB" altLang="en-US"/>
          </a:p>
        </p:txBody>
      </p:sp>
      <p:pic>
        <p:nvPicPr>
          <p:cNvPr id="91139" name="Picture 3">
            <a:extLst>
              <a:ext uri="{FF2B5EF4-FFF2-40B4-BE49-F238E27FC236}">
                <a16:creationId xmlns:a16="http://schemas.microsoft.com/office/drawing/2014/main" id="{5677B63D-D130-BE15-24E4-62416D6983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836613"/>
            <a:ext cx="7337425" cy="571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537CDAD6-7488-688C-D329-4CBC84945A47}"/>
              </a:ext>
            </a:extLst>
          </p:cNvPr>
          <p:cNvSpPr>
            <a:spLocks noGrp="1" noChangeArrowheads="1"/>
          </p:cNvSpPr>
          <p:nvPr>
            <p:ph type="title"/>
          </p:nvPr>
        </p:nvSpPr>
        <p:spPr>
          <a:xfrm>
            <a:off x="457200" y="-27384"/>
            <a:ext cx="7543800" cy="642466"/>
          </a:xfrm>
        </p:spPr>
        <p:txBody>
          <a:bodyPr/>
          <a:lstStyle/>
          <a:p>
            <a:pPr eaLnBrk="1" hangingPunct="1"/>
            <a:r>
              <a:rPr lang="en-US" altLang="en-US" dirty="0">
                <a:solidFill>
                  <a:srgbClr val="0000FF"/>
                </a:solidFill>
              </a:rPr>
              <a:t>Secondary RNA structure</a:t>
            </a:r>
            <a:endParaRPr lang="en-GB" altLang="en-US" dirty="0">
              <a:solidFill>
                <a:srgbClr val="0000FF"/>
              </a:solidFill>
            </a:endParaRPr>
          </a:p>
        </p:txBody>
      </p:sp>
      <p:sp>
        <p:nvSpPr>
          <p:cNvPr id="47107" name="Rectangle 3">
            <a:extLst>
              <a:ext uri="{FF2B5EF4-FFF2-40B4-BE49-F238E27FC236}">
                <a16:creationId xmlns:a16="http://schemas.microsoft.com/office/drawing/2014/main" id="{9B6CB28C-E9FC-AB66-5445-8357E9BA4BA8}"/>
              </a:ext>
            </a:extLst>
          </p:cNvPr>
          <p:cNvSpPr>
            <a:spLocks noGrp="1" noChangeArrowheads="1"/>
          </p:cNvSpPr>
          <p:nvPr>
            <p:ph type="body" sz="half" idx="1"/>
          </p:nvPr>
        </p:nvSpPr>
        <p:spPr>
          <a:xfrm>
            <a:off x="457200" y="576610"/>
            <a:ext cx="4038600" cy="4868614"/>
          </a:xfrm>
        </p:spPr>
        <p:txBody>
          <a:bodyPr/>
          <a:lstStyle/>
          <a:p>
            <a:pPr eaLnBrk="1" hangingPunct="1">
              <a:defRPr/>
            </a:pPr>
            <a:r>
              <a:rPr lang="en-US" sz="2600" dirty="0"/>
              <a:t>Because of </a:t>
            </a:r>
          </a:p>
          <a:p>
            <a:pPr lvl="1" eaLnBrk="1" hangingPunct="1">
              <a:defRPr/>
            </a:pPr>
            <a:r>
              <a:rPr lang="en-US" sz="2200" dirty="0"/>
              <a:t>Watson-Crick pairing</a:t>
            </a:r>
          </a:p>
          <a:p>
            <a:pPr lvl="1" eaLnBrk="1" hangingPunct="1">
              <a:defRPr/>
            </a:pPr>
            <a:r>
              <a:rPr lang="en-US" sz="2200" dirty="0"/>
              <a:t>Non-canonical pairing</a:t>
            </a:r>
          </a:p>
          <a:p>
            <a:pPr eaLnBrk="1" hangingPunct="1">
              <a:defRPr/>
            </a:pPr>
            <a:r>
              <a:rPr lang="en-US" sz="2600" dirty="0"/>
              <a:t>Stem-loop types:</a:t>
            </a:r>
          </a:p>
          <a:p>
            <a:pPr lvl="1" eaLnBrk="1" hangingPunct="1">
              <a:defRPr/>
            </a:pPr>
            <a:r>
              <a:rPr lang="en-GB" sz="2200" dirty="0"/>
              <a:t>Hairpin</a:t>
            </a:r>
          </a:p>
          <a:p>
            <a:pPr lvl="1" eaLnBrk="1" hangingPunct="1">
              <a:defRPr/>
            </a:pPr>
            <a:r>
              <a:rPr lang="en-GB" sz="2200" dirty="0"/>
              <a:t>Bulge</a:t>
            </a:r>
          </a:p>
          <a:p>
            <a:pPr lvl="1" eaLnBrk="1" hangingPunct="1">
              <a:defRPr/>
            </a:pPr>
            <a:r>
              <a:rPr lang="en-GB" sz="2200" dirty="0"/>
              <a:t>Loop</a:t>
            </a:r>
          </a:p>
          <a:p>
            <a:pPr marL="403225" lvl="1" indent="-349250" eaLnBrk="1" hangingPunct="1">
              <a:buClrTx/>
              <a:defRPr/>
            </a:pPr>
            <a:r>
              <a:rPr lang="en-GB" sz="2200" dirty="0"/>
              <a:t>Stability is enhanced by base-stacking in the loop e.g. UUCG</a:t>
            </a:r>
          </a:p>
          <a:p>
            <a:pPr marL="403225" lvl="1" indent="-349250" eaLnBrk="1" hangingPunct="1">
              <a:buClrTx/>
              <a:defRPr/>
            </a:pPr>
            <a:r>
              <a:rPr lang="en-GB" sz="2200" dirty="0"/>
              <a:t>Pseudoknots: between non-contiguous sequences</a:t>
            </a:r>
          </a:p>
        </p:txBody>
      </p:sp>
      <p:pic>
        <p:nvPicPr>
          <p:cNvPr id="93188" name="Content Placeholder 5" descr="05_03Figure-L">
            <a:extLst>
              <a:ext uri="{FF2B5EF4-FFF2-40B4-BE49-F238E27FC236}">
                <a16:creationId xmlns:a16="http://schemas.microsoft.com/office/drawing/2014/main" id="{D628C6C4-4E7C-47E7-9E42-5E9246512F02}"/>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b="3830"/>
          <a:stretch>
            <a:fillRect/>
          </a:stretch>
        </p:blipFill>
        <p:spPr>
          <a:xfrm>
            <a:off x="4211638" y="1340768"/>
            <a:ext cx="4573587" cy="1944216"/>
          </a:xfrm>
          <a:noFill/>
        </p:spPr>
      </p:pic>
      <p:pic>
        <p:nvPicPr>
          <p:cNvPr id="93189" name="Picture 4" descr="05_05Figure-L">
            <a:extLst>
              <a:ext uri="{FF2B5EF4-FFF2-40B4-BE49-F238E27FC236}">
                <a16:creationId xmlns:a16="http://schemas.microsoft.com/office/drawing/2014/main" id="{21EB4DFF-1BAF-9B29-0701-857DBDE528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4755"/>
          <a:stretch>
            <a:fillRect/>
          </a:stretch>
        </p:blipFill>
        <p:spPr bwMode="auto">
          <a:xfrm>
            <a:off x="4427538" y="3356521"/>
            <a:ext cx="4495800" cy="150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2E39B2FF-D517-6964-0C89-ADABC69426F8}"/>
              </a:ext>
            </a:extLst>
          </p:cNvPr>
          <p:cNvSpPr txBox="1"/>
          <p:nvPr/>
        </p:nvSpPr>
        <p:spPr>
          <a:xfrm>
            <a:off x="220662" y="5301208"/>
            <a:ext cx="8599810" cy="1477328"/>
          </a:xfrm>
          <a:prstGeom prst="rect">
            <a:avLst/>
          </a:prstGeom>
          <a:noFill/>
        </p:spPr>
        <p:txBody>
          <a:bodyPr wrap="square">
            <a:spAutoFit/>
          </a:bodyPr>
          <a:lstStyle/>
          <a:p>
            <a:r>
              <a:rPr lang="en-US" dirty="0"/>
              <a:t>Non-contiguous sequences refer to segments of nucleotides within a nucleic acid (such as RNA) that are not adjacent to each other in the primary sequence but can interact through base pairing to form secondary structures, such as pseudoknots or other complex conformations. These sequences may be separated by intervening nucleotides that do not participate in the pairing.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784CBE-6ECB-5F33-87BC-51112F550881}"/>
              </a:ext>
            </a:extLst>
          </p:cNvPr>
          <p:cNvSpPr>
            <a:spLocks noGrp="1"/>
          </p:cNvSpPr>
          <p:nvPr>
            <p:ph type="body" sz="half" idx="1"/>
          </p:nvPr>
        </p:nvSpPr>
        <p:spPr>
          <a:xfrm>
            <a:off x="457200" y="44624"/>
            <a:ext cx="4038600" cy="6480720"/>
          </a:xfrm>
        </p:spPr>
        <p:txBody>
          <a:bodyPr/>
          <a:lstStyle/>
          <a:p>
            <a:pPr>
              <a:buFont typeface="Arial" panose="020B0604020202020204" pitchFamily="34" charset="0"/>
              <a:buChar char="•"/>
            </a:pPr>
            <a:r>
              <a:rPr lang="en-US" sz="2000" dirty="0"/>
              <a:t>A </a:t>
            </a:r>
            <a:r>
              <a:rPr lang="en-US" sz="2000" b="1" dirty="0"/>
              <a:t>pseudoknot</a:t>
            </a:r>
            <a:r>
              <a:rPr lang="en-US" sz="2000" dirty="0"/>
              <a:t> is a structural motif found in RNA molecules where bases in a loop form hydrogen bonds with complementary bases outside the loop, leading to a more complex 3D structure. It typically involves interactions between a single-stranded loop and a region of double-stranded RNA. This structure can play critical roles in various biological functions, including:</a:t>
            </a:r>
          </a:p>
          <a:p>
            <a:pPr>
              <a:buFont typeface="Arial" panose="020B0604020202020204" pitchFamily="34" charset="0"/>
              <a:buChar char="•"/>
            </a:pPr>
            <a:r>
              <a:rPr lang="en-US" sz="2000" b="1" dirty="0"/>
              <a:t>Ribosomal frameshifting</a:t>
            </a:r>
            <a:r>
              <a:rPr lang="en-US" sz="2000" dirty="0"/>
              <a:t>: Pseudoknots are known to induce ribosomal pausing, leading to programmed frameshifting during translation.</a:t>
            </a:r>
          </a:p>
          <a:p>
            <a:endParaRPr lang="en-US" sz="2000" dirty="0"/>
          </a:p>
          <a:p>
            <a:endParaRPr lang="en-US" sz="2000" dirty="0"/>
          </a:p>
          <a:p>
            <a:endParaRPr lang="en-US" sz="2000" dirty="0"/>
          </a:p>
        </p:txBody>
      </p:sp>
      <p:sp>
        <p:nvSpPr>
          <p:cNvPr id="4" name="Content Placeholder 3">
            <a:extLst>
              <a:ext uri="{FF2B5EF4-FFF2-40B4-BE49-F238E27FC236}">
                <a16:creationId xmlns:a16="http://schemas.microsoft.com/office/drawing/2014/main" id="{8F9A60FD-4D9E-EC2E-808E-5D211FEEACD1}"/>
              </a:ext>
            </a:extLst>
          </p:cNvPr>
          <p:cNvSpPr>
            <a:spLocks noGrp="1"/>
          </p:cNvSpPr>
          <p:nvPr>
            <p:ph sz="half" idx="2"/>
          </p:nvPr>
        </p:nvSpPr>
        <p:spPr>
          <a:xfrm>
            <a:off x="4648200" y="116632"/>
            <a:ext cx="4038600" cy="6408712"/>
          </a:xfrm>
        </p:spPr>
        <p:txBody>
          <a:bodyPr/>
          <a:lstStyle/>
          <a:p>
            <a:pPr>
              <a:buFont typeface="Arial" panose="020B0604020202020204" pitchFamily="34" charset="0"/>
              <a:buChar char="•"/>
            </a:pPr>
            <a:r>
              <a:rPr lang="en-US" sz="2000" b="1" dirty="0"/>
              <a:t>Telomerase function</a:t>
            </a:r>
            <a:r>
              <a:rPr lang="en-US" sz="2000" dirty="0"/>
              <a:t>: Pseudoknots are present in the RNA component of telomerase and contribute to its function in maintaining chromosome ends.</a:t>
            </a:r>
          </a:p>
          <a:p>
            <a:pPr>
              <a:buFont typeface="Arial" panose="020B0604020202020204" pitchFamily="34" charset="0"/>
              <a:buChar char="•"/>
            </a:pPr>
            <a:r>
              <a:rPr lang="en-US" sz="2000" b="1" dirty="0"/>
              <a:t>RNA stability</a:t>
            </a:r>
            <a:r>
              <a:rPr lang="en-US" sz="2000" dirty="0"/>
              <a:t>: Pseudoknots can stabilize RNA structures and influence their degradation pathways.</a:t>
            </a:r>
          </a:p>
          <a:p>
            <a:r>
              <a:rPr lang="en-US" sz="2000" dirty="0"/>
              <a:t>In an electrophoresis context, pseudoknots may affect the migration of RNA by adding complexity to its secondary and tertiary structure. This can slow down RNA's movement through the gel, similar to how hairpins or other secondary structures would impact migration.</a:t>
            </a:r>
          </a:p>
          <a:p>
            <a:endParaRPr lang="en-US" sz="2000" dirty="0"/>
          </a:p>
        </p:txBody>
      </p:sp>
    </p:spTree>
    <p:extLst>
      <p:ext uri="{BB962C8B-B14F-4D97-AF65-F5344CB8AC3E}">
        <p14:creationId xmlns:p14="http://schemas.microsoft.com/office/powerpoint/2010/main" val="4973499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175CE5-CD43-7363-9B16-77054A72DA6A}"/>
              </a:ext>
            </a:extLst>
          </p:cNvPr>
          <p:cNvSpPr>
            <a:spLocks noGrp="1"/>
          </p:cNvSpPr>
          <p:nvPr>
            <p:ph type="body" sz="half" idx="1"/>
          </p:nvPr>
        </p:nvSpPr>
        <p:spPr>
          <a:xfrm>
            <a:off x="179512" y="44624"/>
            <a:ext cx="4316288" cy="5942285"/>
          </a:xfrm>
        </p:spPr>
        <p:txBody>
          <a:bodyPr/>
          <a:lstStyle/>
          <a:p>
            <a:pPr>
              <a:buFont typeface="+mj-lt"/>
              <a:buAutoNum type="arabicPeriod"/>
            </a:pPr>
            <a:r>
              <a:rPr lang="en-US" sz="2000" b="1" dirty="0"/>
              <a:t>Watson-Crick Base Pairing:</a:t>
            </a:r>
            <a:endParaRPr lang="en-US" sz="2000" dirty="0"/>
          </a:p>
          <a:p>
            <a:pPr marL="742950" lvl="1" indent="-285750">
              <a:buFont typeface="+mj-lt"/>
              <a:buAutoNum type="arabicPeriod"/>
            </a:pPr>
            <a:r>
              <a:rPr lang="en-US" sz="2000" dirty="0"/>
              <a:t>The standard pairing that occurs in DNA and RNA:</a:t>
            </a:r>
          </a:p>
          <a:p>
            <a:pPr marL="1143000" lvl="2" indent="-228600">
              <a:buFont typeface="+mj-lt"/>
              <a:buAutoNum type="arabicPeriod"/>
            </a:pPr>
            <a:r>
              <a:rPr lang="en-US" sz="2000" dirty="0"/>
              <a:t>Adenine (A) pairs with Thymine (T) in DNA or Uracil (U) in RNA via </a:t>
            </a:r>
            <a:r>
              <a:rPr lang="en-US" sz="2000" b="1" dirty="0"/>
              <a:t>two hydrogen bonds</a:t>
            </a:r>
            <a:r>
              <a:rPr lang="en-US" sz="2000" dirty="0"/>
              <a:t>.</a:t>
            </a:r>
          </a:p>
          <a:p>
            <a:pPr marL="1143000" lvl="2" indent="-228600">
              <a:buFont typeface="+mj-lt"/>
              <a:buAutoNum type="arabicPeriod"/>
            </a:pPr>
            <a:r>
              <a:rPr lang="en-US" sz="2000" dirty="0"/>
              <a:t>Guanine (G) pairs with Cytosine (C) via </a:t>
            </a:r>
            <a:r>
              <a:rPr lang="en-US" sz="2000" b="1" dirty="0"/>
              <a:t>three hydrogen bonds</a:t>
            </a:r>
            <a:r>
              <a:rPr lang="en-US" sz="2000" dirty="0"/>
              <a:t>.</a:t>
            </a:r>
          </a:p>
          <a:p>
            <a:pPr marL="742950" lvl="1" indent="-285750">
              <a:buFont typeface="+mj-lt"/>
              <a:buAutoNum type="arabicPeriod"/>
            </a:pPr>
            <a:r>
              <a:rPr lang="en-US" sz="2000" dirty="0"/>
              <a:t>These base pairs maintain the double helix structure of DNA, following strict complementarity.</a:t>
            </a:r>
          </a:p>
          <a:p>
            <a:endParaRPr lang="en-US" sz="2000" dirty="0"/>
          </a:p>
        </p:txBody>
      </p:sp>
      <p:sp>
        <p:nvSpPr>
          <p:cNvPr id="4" name="Content Placeholder 3">
            <a:extLst>
              <a:ext uri="{FF2B5EF4-FFF2-40B4-BE49-F238E27FC236}">
                <a16:creationId xmlns:a16="http://schemas.microsoft.com/office/drawing/2014/main" id="{7B492A16-9676-F562-1AA8-D7AAD6B64C05}"/>
              </a:ext>
            </a:extLst>
          </p:cNvPr>
          <p:cNvSpPr>
            <a:spLocks noGrp="1"/>
          </p:cNvSpPr>
          <p:nvPr>
            <p:ph sz="half" idx="2"/>
          </p:nvPr>
        </p:nvSpPr>
        <p:spPr>
          <a:xfrm>
            <a:off x="4495800" y="0"/>
            <a:ext cx="4180656" cy="6453336"/>
          </a:xfrm>
        </p:spPr>
        <p:txBody>
          <a:bodyPr/>
          <a:lstStyle/>
          <a:p>
            <a:pPr>
              <a:buFont typeface="+mj-lt"/>
              <a:buAutoNum type="arabicPeriod"/>
            </a:pPr>
            <a:r>
              <a:rPr lang="en-US" sz="2000" b="1" dirty="0"/>
              <a:t>Non-Canonical Pairing:</a:t>
            </a:r>
            <a:endParaRPr lang="en-US" sz="2000" dirty="0"/>
          </a:p>
          <a:p>
            <a:pPr marL="742950" lvl="1" indent="-285750">
              <a:buFont typeface="+mj-lt"/>
              <a:buAutoNum type="arabicPeriod"/>
            </a:pPr>
            <a:r>
              <a:rPr lang="en-US" sz="2000" dirty="0"/>
              <a:t>Refers to interactions between nucleotides that do not follow the standard Watson-Crick rules.</a:t>
            </a:r>
          </a:p>
          <a:p>
            <a:pPr marL="742950" lvl="1" indent="-285750">
              <a:buFont typeface="+mj-lt"/>
              <a:buAutoNum type="arabicPeriod"/>
            </a:pPr>
            <a:r>
              <a:rPr lang="en-US" sz="2000" dirty="0"/>
              <a:t>Examples include:</a:t>
            </a:r>
          </a:p>
          <a:p>
            <a:pPr marL="1143000" lvl="2" indent="-228600">
              <a:buFont typeface="+mj-lt"/>
              <a:buAutoNum type="arabicPeriod"/>
            </a:pPr>
            <a:r>
              <a:rPr lang="en-US" sz="2000" dirty="0"/>
              <a:t>G-U wobble base pairing in RNA, where guanine pairs with uracil.</a:t>
            </a:r>
          </a:p>
          <a:p>
            <a:pPr marL="1143000" lvl="2" indent="-228600">
              <a:buFont typeface="+mj-lt"/>
              <a:buAutoNum type="arabicPeriod"/>
            </a:pPr>
            <a:r>
              <a:rPr lang="en-US" sz="2000" dirty="0" err="1"/>
              <a:t>Hoogsteen</a:t>
            </a:r>
            <a:r>
              <a:rPr lang="en-US" sz="2000" dirty="0"/>
              <a:t> base pairs or other alternative hydrogen bonding configurations.</a:t>
            </a:r>
          </a:p>
          <a:p>
            <a:r>
              <a:rPr lang="en-US" sz="2000" dirty="0"/>
              <a:t>Non-canonical base pairs play a significant role in RNA secondary structures and can affect functions such as gene regulation, RNA splicing, and protein synthesis.</a:t>
            </a:r>
          </a:p>
          <a:p>
            <a:endParaRPr lang="en-US" dirty="0"/>
          </a:p>
        </p:txBody>
      </p:sp>
    </p:spTree>
    <p:extLst>
      <p:ext uri="{BB962C8B-B14F-4D97-AF65-F5344CB8AC3E}">
        <p14:creationId xmlns:p14="http://schemas.microsoft.com/office/powerpoint/2010/main" val="14795327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5234" name="Picture 4">
            <a:extLst>
              <a:ext uri="{FF2B5EF4-FFF2-40B4-BE49-F238E27FC236}">
                <a16:creationId xmlns:a16="http://schemas.microsoft.com/office/drawing/2014/main" id="{05C42A82-A97A-CEB0-061C-28A711B095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63229"/>
          <a:stretch>
            <a:fillRect/>
          </a:stretch>
        </p:blipFill>
        <p:spPr bwMode="auto">
          <a:xfrm>
            <a:off x="5940425" y="0"/>
            <a:ext cx="2801938" cy="583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5" name="Picture 5">
            <a:extLst>
              <a:ext uri="{FF2B5EF4-FFF2-40B4-BE49-F238E27FC236}">
                <a16:creationId xmlns:a16="http://schemas.microsoft.com/office/drawing/2014/main" id="{B6BAB575-864F-EC92-AFD8-BA2A4292EA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813" y="1484313"/>
            <a:ext cx="5284787" cy="383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6" name="TextBox 9">
            <a:extLst>
              <a:ext uri="{FF2B5EF4-FFF2-40B4-BE49-F238E27FC236}">
                <a16:creationId xmlns:a16="http://schemas.microsoft.com/office/drawing/2014/main" id="{0AF5B630-85B4-475E-5DC9-B20038C21EEC}"/>
              </a:ext>
            </a:extLst>
          </p:cNvPr>
          <p:cNvSpPr txBox="1">
            <a:spLocks noChangeArrowheads="1"/>
          </p:cNvSpPr>
          <p:nvPr/>
        </p:nvSpPr>
        <p:spPr bwMode="auto">
          <a:xfrm>
            <a:off x="1979613" y="5445125"/>
            <a:ext cx="16557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Tetraloop</a:t>
            </a:r>
          </a:p>
        </p:txBody>
      </p:sp>
      <p:sp>
        <p:nvSpPr>
          <p:cNvPr id="95237" name="TextBox 11">
            <a:extLst>
              <a:ext uri="{FF2B5EF4-FFF2-40B4-BE49-F238E27FC236}">
                <a16:creationId xmlns:a16="http://schemas.microsoft.com/office/drawing/2014/main" id="{98FDAFD4-E439-7F5F-2B45-756760C56792}"/>
              </a:ext>
            </a:extLst>
          </p:cNvPr>
          <p:cNvSpPr txBox="1">
            <a:spLocks noChangeArrowheads="1"/>
          </p:cNvSpPr>
          <p:nvPr/>
        </p:nvSpPr>
        <p:spPr bwMode="auto">
          <a:xfrm>
            <a:off x="6875463" y="6092825"/>
            <a:ext cx="1800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pseudoknot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CEFF6054-A5D5-748F-F86C-24DA01B2D558}"/>
              </a:ext>
            </a:extLst>
          </p:cNvPr>
          <p:cNvSpPr>
            <a:spLocks noGrp="1" noChangeArrowheads="1"/>
          </p:cNvSpPr>
          <p:nvPr>
            <p:ph type="title"/>
          </p:nvPr>
        </p:nvSpPr>
        <p:spPr/>
        <p:txBody>
          <a:bodyPr/>
          <a:lstStyle/>
          <a:p>
            <a:pPr eaLnBrk="1" hangingPunct="1"/>
            <a:r>
              <a:rPr lang="en-US" altLang="en-US">
                <a:solidFill>
                  <a:srgbClr val="0000FF"/>
                </a:solidFill>
              </a:rPr>
              <a:t>Examples on non-canonical base pairing</a:t>
            </a:r>
            <a:endParaRPr lang="en-GB" altLang="en-US">
              <a:solidFill>
                <a:srgbClr val="0000FF"/>
              </a:solidFill>
            </a:endParaRPr>
          </a:p>
        </p:txBody>
      </p:sp>
      <p:pic>
        <p:nvPicPr>
          <p:cNvPr id="97283" name="Picture 3">
            <a:extLst>
              <a:ext uri="{FF2B5EF4-FFF2-40B4-BE49-F238E27FC236}">
                <a16:creationId xmlns:a16="http://schemas.microsoft.com/office/drawing/2014/main" id="{46271A96-D75C-F96D-4323-7C602CE5A2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1700213"/>
            <a:ext cx="8135938"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14178-DBAA-BBAB-58C8-3E29ACA27C8F}"/>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67872AEA-A97E-BACB-DF6C-D0E13A7103A8}"/>
              </a:ext>
            </a:extLst>
          </p:cNvPr>
          <p:cNvSpPr txBox="1"/>
          <p:nvPr/>
        </p:nvSpPr>
        <p:spPr>
          <a:xfrm>
            <a:off x="611560" y="1720840"/>
            <a:ext cx="7992888" cy="2031325"/>
          </a:xfrm>
          <a:prstGeom prst="rect">
            <a:avLst/>
          </a:prstGeom>
          <a:noFill/>
        </p:spPr>
        <p:txBody>
          <a:bodyPr wrap="square">
            <a:spAutoFit/>
          </a:bodyPr>
          <a:lstStyle/>
          <a:p>
            <a:pPr eaLnBrk="1" hangingPunct="1"/>
            <a:r>
              <a:rPr lang="en-US" altLang="en-US" dirty="0">
                <a:latin typeface="Arial" panose="020B0604020202020204" pitchFamily="34" charset="0"/>
                <a:cs typeface="Arial" panose="020B0604020202020204" pitchFamily="34" charset="0"/>
              </a:rPr>
              <a:t>Because of the extra GU base-pairing, RNA chains have an enhanced capacity for self-complementarity</a:t>
            </a:r>
          </a:p>
          <a:p>
            <a:pPr eaLnBrk="1" hangingPunct="1"/>
            <a:r>
              <a:rPr lang="en-US" altLang="en-US" dirty="0">
                <a:latin typeface="Arial" panose="020B0604020202020204" pitchFamily="34" charset="0"/>
                <a:cs typeface="Arial" panose="020B0604020202020204" pitchFamily="34" charset="0"/>
              </a:rPr>
              <a:t>The presence of the 2;-hydroxyls in the RNA backbone prevents RNA from adopting a B-form helix. Rather the double-helical RNA resembles the A-form structure of DNA.</a:t>
            </a:r>
          </a:p>
          <a:p>
            <a:pPr eaLnBrk="1" hangingPunct="1"/>
            <a:r>
              <a:rPr lang="en-US" altLang="en-US" dirty="0">
                <a:latin typeface="Arial" panose="020B0604020202020204" pitchFamily="34" charset="0"/>
                <a:cs typeface="Arial" panose="020B0604020202020204" pitchFamily="34" charset="0"/>
              </a:rPr>
              <a:t>Minor groove is wide and shallow and hence accessible. The major groove is so narrow and deep, it is not accessible. Not suitable for binding to proteins.</a:t>
            </a:r>
          </a:p>
        </p:txBody>
      </p:sp>
    </p:spTree>
    <p:extLst>
      <p:ext uri="{BB962C8B-B14F-4D97-AF65-F5344CB8AC3E}">
        <p14:creationId xmlns:p14="http://schemas.microsoft.com/office/powerpoint/2010/main" val="3214772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A35C9BD6-8681-8861-D095-CB77E8C6D3F7}"/>
              </a:ext>
            </a:extLst>
          </p:cNvPr>
          <p:cNvSpPr>
            <a:spLocks noGrp="1" noChangeArrowheads="1"/>
          </p:cNvSpPr>
          <p:nvPr>
            <p:ph type="title"/>
          </p:nvPr>
        </p:nvSpPr>
        <p:spPr/>
        <p:txBody>
          <a:bodyPr/>
          <a:lstStyle/>
          <a:p>
            <a:pPr eaLnBrk="1" hangingPunct="1"/>
            <a:r>
              <a:rPr lang="en-US" altLang="en-US">
                <a:solidFill>
                  <a:srgbClr val="0000FF"/>
                </a:solidFill>
              </a:rPr>
              <a:t>Tertiary RNA structure</a:t>
            </a:r>
            <a:endParaRPr lang="en-GB" altLang="en-US">
              <a:solidFill>
                <a:srgbClr val="0000FF"/>
              </a:solidFill>
            </a:endParaRPr>
          </a:p>
        </p:txBody>
      </p:sp>
      <p:sp>
        <p:nvSpPr>
          <p:cNvPr id="99331" name="Rectangle 3">
            <a:extLst>
              <a:ext uri="{FF2B5EF4-FFF2-40B4-BE49-F238E27FC236}">
                <a16:creationId xmlns:a16="http://schemas.microsoft.com/office/drawing/2014/main" id="{30673662-8C6B-F961-8E51-3E2F302E06BB}"/>
              </a:ext>
            </a:extLst>
          </p:cNvPr>
          <p:cNvSpPr>
            <a:spLocks noGrp="1" noChangeArrowheads="1"/>
          </p:cNvSpPr>
          <p:nvPr>
            <p:ph type="body" sz="half" idx="1"/>
          </p:nvPr>
        </p:nvSpPr>
        <p:spPr>
          <a:xfrm>
            <a:off x="107951" y="1628775"/>
            <a:ext cx="5544170" cy="4411663"/>
          </a:xfrm>
        </p:spPr>
        <p:txBody>
          <a:bodyPr/>
          <a:lstStyle/>
          <a:p>
            <a:pPr marL="495300" indent="-495300" eaLnBrk="1" hangingPunct="1"/>
            <a:r>
              <a:rPr lang="en-US" altLang="en-US" sz="2600" dirty="0"/>
              <a:t>RNA has enormous rotational freedom in the backbone of its non-base-paired regions</a:t>
            </a:r>
          </a:p>
          <a:p>
            <a:pPr marL="495300" indent="-495300" eaLnBrk="1" hangingPunct="1"/>
            <a:r>
              <a:rPr lang="en-US" altLang="en-US" sz="2600" dirty="0"/>
              <a:t>Formed by:</a:t>
            </a:r>
          </a:p>
          <a:p>
            <a:pPr marL="763588" lvl="1" indent="-419100" eaLnBrk="1" hangingPunct="1">
              <a:buFont typeface="Wingdings" pitchFamily="2" charset="2"/>
              <a:buAutoNum type="arabicPeriod"/>
            </a:pPr>
            <a:r>
              <a:rPr lang="en-US" altLang="en-US" sz="2400" dirty="0"/>
              <a:t>Hydrogen bonding</a:t>
            </a:r>
          </a:p>
          <a:p>
            <a:pPr marL="1093788" lvl="2" indent="-400050" eaLnBrk="1" hangingPunct="1"/>
            <a:r>
              <a:rPr lang="en-US" altLang="en-US" sz="2100" dirty="0"/>
              <a:t>Triplet base paring e.g. U:A:U</a:t>
            </a:r>
          </a:p>
          <a:p>
            <a:pPr marL="1093788" lvl="2" indent="-400050" eaLnBrk="1" hangingPunct="1"/>
            <a:endParaRPr lang="en-US" altLang="en-US" sz="1300" dirty="0"/>
          </a:p>
          <a:p>
            <a:pPr marL="763588" lvl="1" indent="-419100" eaLnBrk="1" hangingPunct="1">
              <a:buFont typeface="Wingdings" pitchFamily="2" charset="2"/>
              <a:buAutoNum type="arabicPeriod"/>
            </a:pPr>
            <a:r>
              <a:rPr lang="en-US" altLang="en-US" sz="2400" dirty="0"/>
              <a:t>Interaction of stems with each other</a:t>
            </a:r>
          </a:p>
          <a:p>
            <a:pPr marL="1093788" lvl="2" indent="-400050" eaLnBrk="1" hangingPunct="1"/>
            <a:r>
              <a:rPr lang="en-US" altLang="en-US" sz="2100" dirty="0"/>
              <a:t>Base stacking</a:t>
            </a:r>
          </a:p>
          <a:p>
            <a:pPr marL="1093788" lvl="2" indent="-400050" eaLnBrk="1" hangingPunct="1"/>
            <a:endParaRPr lang="en-US" altLang="en-US" sz="1300" dirty="0"/>
          </a:p>
          <a:p>
            <a:pPr marL="763588" lvl="1" indent="-419100" eaLnBrk="1" hangingPunct="1">
              <a:buFont typeface="Wingdings" pitchFamily="2" charset="2"/>
              <a:buAutoNum type="arabicPeriod"/>
            </a:pPr>
            <a:r>
              <a:rPr lang="en-US" altLang="en-US" sz="2400" dirty="0"/>
              <a:t>Base modification</a:t>
            </a:r>
          </a:p>
          <a:p>
            <a:pPr marL="1093788" lvl="2" indent="-400050" eaLnBrk="1" hangingPunct="1"/>
            <a:endParaRPr lang="en-US" altLang="en-US" sz="1400" dirty="0"/>
          </a:p>
        </p:txBody>
      </p:sp>
      <p:pic>
        <p:nvPicPr>
          <p:cNvPr id="99332" name="Picture 4" descr="05_08Figure-L">
            <a:extLst>
              <a:ext uri="{FF2B5EF4-FFF2-40B4-BE49-F238E27FC236}">
                <a16:creationId xmlns:a16="http://schemas.microsoft.com/office/drawing/2014/main" id="{DB92AC23-D052-7DDB-6A4B-FCBB2B1E75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999"/>
          <a:stretch>
            <a:fillRect/>
          </a:stretch>
        </p:blipFill>
        <p:spPr bwMode="auto">
          <a:xfrm>
            <a:off x="5148064" y="4581525"/>
            <a:ext cx="3540324" cy="200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55D6E314-E476-7660-DE0A-6F8A0B0186F0}"/>
              </a:ext>
            </a:extLst>
          </p:cNvPr>
          <p:cNvSpPr txBox="1"/>
          <p:nvPr/>
        </p:nvSpPr>
        <p:spPr>
          <a:xfrm>
            <a:off x="5472608" y="1844824"/>
            <a:ext cx="3707904" cy="2585323"/>
          </a:xfrm>
          <a:prstGeom prst="rect">
            <a:avLst/>
          </a:prstGeom>
          <a:noFill/>
        </p:spPr>
        <p:txBody>
          <a:bodyPr wrap="square">
            <a:spAutoFit/>
          </a:bodyPr>
          <a:lstStyle/>
          <a:p>
            <a:pPr eaLnBrk="1" hangingPunct="1"/>
            <a:r>
              <a:rPr lang="en-US" altLang="en-US" dirty="0">
                <a:latin typeface="Arial" panose="020B0604020202020204" pitchFamily="34" charset="0"/>
                <a:cs typeface="Arial" panose="020B0604020202020204" pitchFamily="34" charset="0"/>
              </a:rPr>
              <a:t>Proteins can assist in the formation of a 3 D structure by large RNA molecules such as the ones in ribosomes. Proteins shield the negative charges of phosphates</a:t>
            </a:r>
          </a:p>
          <a:p>
            <a:pPr eaLnBrk="1" hangingPunct="1"/>
            <a:r>
              <a:rPr lang="en-US" altLang="en-US" dirty="0">
                <a:latin typeface="Arial" panose="020B0604020202020204" pitchFamily="34" charset="0"/>
                <a:cs typeface="Arial" panose="020B0604020202020204" pitchFamily="34" charset="0"/>
              </a:rPr>
              <a:t>Synthetic oligoribonucleotides that can be used as affinity to small molecules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52E813BC-6142-3CC4-0FC9-675F53D42A3D}"/>
              </a:ext>
            </a:extLst>
          </p:cNvPr>
          <p:cNvSpPr>
            <a:spLocks noGrp="1" noChangeArrowheads="1"/>
          </p:cNvSpPr>
          <p:nvPr>
            <p:ph type="title"/>
          </p:nvPr>
        </p:nvSpPr>
        <p:spPr>
          <a:xfrm>
            <a:off x="457200" y="122238"/>
            <a:ext cx="7543800" cy="642937"/>
          </a:xfrm>
        </p:spPr>
        <p:txBody>
          <a:bodyPr/>
          <a:lstStyle/>
          <a:p>
            <a:pPr eaLnBrk="1" hangingPunct="1"/>
            <a:r>
              <a:rPr lang="en-US" altLang="en-US">
                <a:solidFill>
                  <a:srgbClr val="0000FF"/>
                </a:solidFill>
              </a:rPr>
              <a:t>1- Triplet base pairing</a:t>
            </a:r>
            <a:endParaRPr lang="en-GB" altLang="en-US">
              <a:solidFill>
                <a:srgbClr val="0000FF"/>
              </a:solidFill>
            </a:endParaRPr>
          </a:p>
        </p:txBody>
      </p:sp>
      <p:pic>
        <p:nvPicPr>
          <p:cNvPr id="101379" name="Picture 3">
            <a:extLst>
              <a:ext uri="{FF2B5EF4-FFF2-40B4-BE49-F238E27FC236}">
                <a16:creationId xmlns:a16="http://schemas.microsoft.com/office/drawing/2014/main" id="{1B700E21-DB5A-DE24-665C-E264486C71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700" y="1052513"/>
            <a:ext cx="8498780" cy="417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0" name="Picture 4" descr="05_08Figure-L">
            <a:extLst>
              <a:ext uri="{FF2B5EF4-FFF2-40B4-BE49-F238E27FC236}">
                <a16:creationId xmlns:a16="http://schemas.microsoft.com/office/drawing/2014/main" id="{7A4E766C-AF60-65F1-79B1-4D21291AEC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3999"/>
          <a:stretch>
            <a:fillRect/>
          </a:stretch>
        </p:blipFill>
        <p:spPr bwMode="auto">
          <a:xfrm>
            <a:off x="2771775" y="4868863"/>
            <a:ext cx="3744913"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72E9DDDC-64EA-2580-14C1-4C71DC1B5302}"/>
              </a:ext>
            </a:extLst>
          </p:cNvPr>
          <p:cNvSpPr>
            <a:spLocks noGrp="1" noChangeArrowheads="1"/>
          </p:cNvSpPr>
          <p:nvPr>
            <p:ph type="title"/>
          </p:nvPr>
        </p:nvSpPr>
        <p:spPr/>
        <p:txBody>
          <a:bodyPr/>
          <a:lstStyle/>
          <a:p>
            <a:pPr eaLnBrk="1" hangingPunct="1"/>
            <a:r>
              <a:rPr lang="en-US" altLang="en-US"/>
              <a:t>2- Base staking</a:t>
            </a:r>
            <a:endParaRPr lang="en-GB" altLang="en-US"/>
          </a:p>
        </p:txBody>
      </p:sp>
      <p:pic>
        <p:nvPicPr>
          <p:cNvPr id="103427" name="Picture 3">
            <a:extLst>
              <a:ext uri="{FF2B5EF4-FFF2-40B4-BE49-F238E27FC236}">
                <a16:creationId xmlns:a16="http://schemas.microsoft.com/office/drawing/2014/main" id="{D8E24160-5282-A046-2C79-E98AB675C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700213"/>
            <a:ext cx="7705725"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C5E6267A-E3B5-A119-7688-494A10773C7D}"/>
              </a:ext>
            </a:extLst>
          </p:cNvPr>
          <p:cNvSpPr>
            <a:spLocks noGrp="1" noChangeArrowheads="1"/>
          </p:cNvSpPr>
          <p:nvPr>
            <p:ph type="title"/>
          </p:nvPr>
        </p:nvSpPr>
        <p:spPr/>
        <p:txBody>
          <a:bodyPr/>
          <a:lstStyle/>
          <a:p>
            <a:pPr eaLnBrk="1" hangingPunct="1"/>
            <a:r>
              <a:rPr lang="en-US" altLang="en-US">
                <a:solidFill>
                  <a:srgbClr val="0000FF"/>
                </a:solidFill>
              </a:rPr>
              <a:t>3- Base modification</a:t>
            </a:r>
            <a:br>
              <a:rPr lang="en-US" altLang="en-US">
                <a:solidFill>
                  <a:srgbClr val="0000FF"/>
                </a:solidFill>
              </a:rPr>
            </a:br>
            <a:endParaRPr lang="en-GB" altLang="en-US">
              <a:solidFill>
                <a:srgbClr val="0000FF"/>
              </a:solidFill>
            </a:endParaRPr>
          </a:p>
        </p:txBody>
      </p:sp>
      <p:pic>
        <p:nvPicPr>
          <p:cNvPr id="105475" name="Picture 3">
            <a:extLst>
              <a:ext uri="{FF2B5EF4-FFF2-40B4-BE49-F238E27FC236}">
                <a16:creationId xmlns:a16="http://schemas.microsoft.com/office/drawing/2014/main" id="{6A7B311D-2501-4983-FE09-4D20AF6F83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908050"/>
            <a:ext cx="6473825" cy="562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2">
            <a:extLst>
              <a:ext uri="{FF2B5EF4-FFF2-40B4-BE49-F238E27FC236}">
                <a16:creationId xmlns:a16="http://schemas.microsoft.com/office/drawing/2014/main" id="{8766C93E-1838-6551-5C68-87549C579470}"/>
              </a:ext>
            </a:extLst>
          </p:cNvPr>
          <p:cNvSpPr>
            <a:spLocks noGrp="1"/>
          </p:cNvSpPr>
          <p:nvPr>
            <p:ph type="title"/>
          </p:nvPr>
        </p:nvSpPr>
        <p:spPr>
          <a:xfrm>
            <a:off x="395288" y="404813"/>
            <a:ext cx="7543800" cy="652462"/>
          </a:xfrm>
        </p:spPr>
        <p:txBody>
          <a:bodyPr/>
          <a:lstStyle/>
          <a:p>
            <a:r>
              <a:rPr lang="en-US" altLang="en-US" sz="3200" dirty="0">
                <a:solidFill>
                  <a:srgbClr val="0000FF"/>
                </a:solidFill>
              </a:rPr>
              <a:t>Some RNA are enzymes (ribozymes)</a:t>
            </a:r>
          </a:p>
        </p:txBody>
      </p:sp>
      <p:sp>
        <p:nvSpPr>
          <p:cNvPr id="107523" name="Content Placeholder 3">
            <a:extLst>
              <a:ext uri="{FF2B5EF4-FFF2-40B4-BE49-F238E27FC236}">
                <a16:creationId xmlns:a16="http://schemas.microsoft.com/office/drawing/2014/main" id="{E23B0C1C-8295-3059-5BA6-2DDA414E990D}"/>
              </a:ext>
            </a:extLst>
          </p:cNvPr>
          <p:cNvSpPr>
            <a:spLocks noGrp="1"/>
          </p:cNvSpPr>
          <p:nvPr>
            <p:ph idx="1"/>
          </p:nvPr>
        </p:nvSpPr>
        <p:spPr>
          <a:xfrm>
            <a:off x="250825" y="1268413"/>
            <a:ext cx="8229600" cy="5040312"/>
          </a:xfrm>
        </p:spPr>
        <p:txBody>
          <a:bodyPr/>
          <a:lstStyle/>
          <a:p>
            <a:r>
              <a:rPr lang="en-US" altLang="en-US" sz="2600" dirty="0"/>
              <a:t>Have an active site, the binding site for substrate and co-factors like regular enzymes</a:t>
            </a:r>
          </a:p>
          <a:p>
            <a:r>
              <a:rPr lang="en-US" altLang="en-US" sz="2600" dirty="0">
                <a:solidFill>
                  <a:srgbClr val="FF0000"/>
                </a:solidFill>
              </a:rPr>
              <a:t>RNase P, </a:t>
            </a:r>
            <a:r>
              <a:rPr lang="en-US" altLang="en-US" sz="2600" dirty="0"/>
              <a:t>a ribonuclease that is involved in generating tRNA molecules from larger precursor RNAs</a:t>
            </a:r>
          </a:p>
          <a:p>
            <a:r>
              <a:rPr lang="en-US" altLang="en-US" sz="2600" dirty="0"/>
              <a:t>Made of RNA and proteins the RNA alone is the catalyst. The protein facilitates the reaction by </a:t>
            </a:r>
            <a:r>
              <a:rPr lang="en-US" altLang="en-US" sz="2600" dirty="0">
                <a:solidFill>
                  <a:srgbClr val="0000FF"/>
                </a:solidFill>
              </a:rPr>
              <a:t>shielding the negative charge</a:t>
            </a:r>
            <a:r>
              <a:rPr lang="en-US" altLang="en-US" sz="2600" dirty="0"/>
              <a:t> on the RNA so it can bind effectively to the negatively charged substrate</a:t>
            </a:r>
          </a:p>
          <a:p>
            <a:r>
              <a:rPr lang="en-US" altLang="en-US" sz="2600" dirty="0"/>
              <a:t>Other ribozymes carry out transesterification reactions involved in the removal of introns from precursor mRNAs (</a:t>
            </a:r>
            <a:r>
              <a:rPr lang="en-US" altLang="en-US" sz="2600" dirty="0">
                <a:solidFill>
                  <a:srgbClr val="0000FF"/>
                </a:solidFill>
              </a:rPr>
              <a:t>RNA splicing</a:t>
            </a:r>
            <a:r>
              <a:rPr lang="en-US" altLang="en-US" sz="2600" dirty="0"/>
              <a: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4" descr="05_11Figure-L">
            <a:extLst>
              <a:ext uri="{FF2B5EF4-FFF2-40B4-BE49-F238E27FC236}">
                <a16:creationId xmlns:a16="http://schemas.microsoft.com/office/drawing/2014/main" id="{B0D721F4-98D5-6570-ECDC-1A65523C7A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315"/>
          <a:stretch>
            <a:fillRect/>
          </a:stretch>
        </p:blipFill>
        <p:spPr bwMode="auto">
          <a:xfrm>
            <a:off x="4284663" y="260350"/>
            <a:ext cx="4248150" cy="643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9231950-C5B6-7706-A33D-6E1376AA3EC1}"/>
              </a:ext>
            </a:extLst>
          </p:cNvPr>
          <p:cNvSpPr txBox="1"/>
          <p:nvPr/>
        </p:nvSpPr>
        <p:spPr>
          <a:xfrm>
            <a:off x="346075" y="476250"/>
            <a:ext cx="3167063" cy="923925"/>
          </a:xfrm>
          <a:prstGeom prst="rect">
            <a:avLst/>
          </a:prstGeom>
          <a:solidFill>
            <a:schemeClr val="accent3">
              <a:lumMod val="95000"/>
            </a:schemeClr>
          </a:solidFill>
        </p:spPr>
        <p:txBody>
          <a:bodyPr>
            <a:spAutoFit/>
          </a:bodyPr>
          <a:lstStyle/>
          <a:p>
            <a:pPr eaLnBrk="1" hangingPunct="1">
              <a:defRPr/>
            </a:pPr>
            <a:r>
              <a:rPr lang="en-US" b="1" dirty="0" err="1">
                <a:solidFill>
                  <a:srgbClr val="FF0000"/>
                </a:solidFill>
                <a:latin typeface="Arial" charset="0"/>
                <a:cs typeface="Arial" charset="0"/>
              </a:rPr>
              <a:t>RNase</a:t>
            </a:r>
            <a:r>
              <a:rPr lang="en-US" b="1" dirty="0">
                <a:solidFill>
                  <a:srgbClr val="FF0000"/>
                </a:solidFill>
                <a:latin typeface="Arial" charset="0"/>
                <a:cs typeface="Arial" charset="0"/>
              </a:rPr>
              <a:t> P </a:t>
            </a:r>
            <a:r>
              <a:rPr lang="en-US" dirty="0">
                <a:latin typeface="Arial" charset="0"/>
                <a:cs typeface="Arial" charset="0"/>
              </a:rPr>
              <a:t>cleaves a segment of RNA from the 5` end of a precursor to </a:t>
            </a:r>
            <a:r>
              <a:rPr lang="en-US" dirty="0" err="1">
                <a:latin typeface="Arial" charset="0"/>
                <a:cs typeface="Arial" charset="0"/>
              </a:rPr>
              <a:t>tRNA</a:t>
            </a:r>
            <a:r>
              <a:rPr lang="en-US" dirty="0">
                <a:latin typeface="Arial" charset="0"/>
                <a:cs typeface="Arial" charset="0"/>
              </a:rPr>
              <a:t> molecules </a:t>
            </a:r>
          </a:p>
        </p:txBody>
      </p:sp>
      <p:pic>
        <p:nvPicPr>
          <p:cNvPr id="109572" name="Picture 4" descr="05_12Figure-L">
            <a:extLst>
              <a:ext uri="{FF2B5EF4-FFF2-40B4-BE49-F238E27FC236}">
                <a16:creationId xmlns:a16="http://schemas.microsoft.com/office/drawing/2014/main" id="{63AAAC2A-CE17-D7DB-26AA-116A0D3863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15"/>
          <a:stretch>
            <a:fillRect/>
          </a:stretch>
        </p:blipFill>
        <p:spPr bwMode="auto">
          <a:xfrm>
            <a:off x="346075" y="2276475"/>
            <a:ext cx="36322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E395CD0B-DB34-1552-75FD-ED65FE54E112}"/>
              </a:ext>
            </a:extLst>
          </p:cNvPr>
          <p:cNvSpPr>
            <a:spLocks noGrp="1"/>
          </p:cNvSpPr>
          <p:nvPr>
            <p:ph type="title"/>
          </p:nvPr>
        </p:nvSpPr>
        <p:spPr>
          <a:xfrm>
            <a:off x="395288" y="620713"/>
            <a:ext cx="7543800" cy="868362"/>
          </a:xfrm>
        </p:spPr>
        <p:txBody>
          <a:bodyPr/>
          <a:lstStyle/>
          <a:p>
            <a:r>
              <a:rPr lang="en-US" altLang="en-US">
                <a:solidFill>
                  <a:srgbClr val="0000FF"/>
                </a:solidFill>
              </a:rPr>
              <a:t>Hammerhead ribozyme</a:t>
            </a:r>
          </a:p>
        </p:txBody>
      </p:sp>
      <p:sp>
        <p:nvSpPr>
          <p:cNvPr id="110595" name="Rectangle 5">
            <a:extLst>
              <a:ext uri="{FF2B5EF4-FFF2-40B4-BE49-F238E27FC236}">
                <a16:creationId xmlns:a16="http://schemas.microsoft.com/office/drawing/2014/main" id="{66D5B8E6-8FBD-5AD2-6441-6125EAD7FB90}"/>
              </a:ext>
            </a:extLst>
          </p:cNvPr>
          <p:cNvSpPr>
            <a:spLocks noGrp="1" noChangeArrowheads="1"/>
          </p:cNvSpPr>
          <p:nvPr>
            <p:ph type="body" idx="4294967295"/>
          </p:nvPr>
        </p:nvSpPr>
        <p:spPr>
          <a:xfrm>
            <a:off x="323850" y="1773238"/>
            <a:ext cx="8229600" cy="4411662"/>
          </a:xfrm>
        </p:spPr>
        <p:txBody>
          <a:bodyPr/>
          <a:lstStyle/>
          <a:p>
            <a:pPr>
              <a:lnSpc>
                <a:spcPct val="80000"/>
              </a:lnSpc>
            </a:pPr>
            <a:r>
              <a:rPr lang="en-US" altLang="en-US" sz="2600"/>
              <a:t>A sequence-specific ribonuclease found in infectious RNA agent of plants known as </a:t>
            </a:r>
            <a:r>
              <a:rPr lang="en-US" altLang="en-US" sz="2600">
                <a:solidFill>
                  <a:srgbClr val="0000FF"/>
                </a:solidFill>
              </a:rPr>
              <a:t>viroids</a:t>
            </a:r>
            <a:r>
              <a:rPr lang="en-US" altLang="en-US" sz="2600"/>
              <a:t> which depends on self-cleavage to propagate.</a:t>
            </a:r>
          </a:p>
          <a:p>
            <a:pPr>
              <a:lnSpc>
                <a:spcPct val="80000"/>
              </a:lnSpc>
            </a:pPr>
            <a:r>
              <a:rPr lang="en-US" altLang="en-US" sz="2600"/>
              <a:t>When replicates, it produces multiple copies of itself in one continuous RNA chain</a:t>
            </a:r>
          </a:p>
          <a:p>
            <a:pPr>
              <a:lnSpc>
                <a:spcPct val="80000"/>
              </a:lnSpc>
            </a:pPr>
            <a:r>
              <a:rPr lang="en-US" altLang="en-US" sz="2600"/>
              <a:t>Single viroids arise by </a:t>
            </a:r>
            <a:r>
              <a:rPr lang="en-US" altLang="en-US" sz="2600">
                <a:solidFill>
                  <a:srgbClr val="0000FF"/>
                </a:solidFill>
              </a:rPr>
              <a:t>cleavage</a:t>
            </a:r>
            <a:r>
              <a:rPr lang="en-US" altLang="en-US" sz="2600"/>
              <a:t> which is carried out by the </a:t>
            </a:r>
            <a:r>
              <a:rPr lang="en-US" altLang="en-US" sz="2600">
                <a:solidFill>
                  <a:srgbClr val="0000FF"/>
                </a:solidFill>
              </a:rPr>
              <a:t>RNA sequence</a:t>
            </a:r>
            <a:r>
              <a:rPr lang="en-US" altLang="en-US" sz="2600"/>
              <a:t> around the junction</a:t>
            </a:r>
          </a:p>
          <a:p>
            <a:pPr>
              <a:lnSpc>
                <a:spcPct val="80000"/>
              </a:lnSpc>
            </a:pPr>
            <a:r>
              <a:rPr lang="en-US" altLang="en-US" sz="2600"/>
              <a:t>One such self-cleavage sequence is called the </a:t>
            </a:r>
            <a:r>
              <a:rPr lang="en-US" altLang="en-US" sz="2600">
                <a:solidFill>
                  <a:srgbClr val="0000FF"/>
                </a:solidFill>
              </a:rPr>
              <a:t>hammerhead </a:t>
            </a:r>
            <a:r>
              <a:rPr lang="en-US" altLang="en-US" sz="2600"/>
              <a:t>because of the shape of its 2</a:t>
            </a:r>
            <a:r>
              <a:rPr lang="en-US" altLang="en-US" sz="2600" baseline="30000"/>
              <a:t>o</a:t>
            </a:r>
            <a:r>
              <a:rPr lang="en-US" altLang="en-US" sz="2600"/>
              <a:t> structure which consists of 3 base-paired stems (I, II, III) surrounding a core of noncomplementary nucleotides required for catalysis.</a:t>
            </a:r>
          </a:p>
          <a:p>
            <a:pPr>
              <a:lnSpc>
                <a:spcPct val="80000"/>
              </a:lnSpc>
            </a:pPr>
            <a:endParaRPr lang="en-US" altLang="en-US" sz="26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4" descr="05_13Figure-L">
            <a:extLst>
              <a:ext uri="{FF2B5EF4-FFF2-40B4-BE49-F238E27FC236}">
                <a16:creationId xmlns:a16="http://schemas.microsoft.com/office/drawing/2014/main" id="{420C3A3F-458A-6F81-AF6A-CBE59ADB53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15"/>
          <a:stretch>
            <a:fillRect/>
          </a:stretch>
        </p:blipFill>
        <p:spPr bwMode="auto">
          <a:xfrm>
            <a:off x="2124075" y="147638"/>
            <a:ext cx="5603875" cy="655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57F0617A-562B-B75C-8650-58DF467AD62E}"/>
              </a:ext>
            </a:extLst>
          </p:cNvPr>
          <p:cNvSpPr/>
          <p:nvPr/>
        </p:nvSpPr>
        <p:spPr>
          <a:xfrm>
            <a:off x="319088" y="5437188"/>
            <a:ext cx="3852862" cy="369887"/>
          </a:xfrm>
          <a:prstGeom prst="rect">
            <a:avLst/>
          </a:prstGeom>
          <a:solidFill>
            <a:schemeClr val="accent3">
              <a:lumMod val="95000"/>
            </a:schemeClr>
          </a:solidFill>
        </p:spPr>
        <p:txBody>
          <a:bodyPr wrap="none">
            <a:spAutoFit/>
          </a:bodyPr>
          <a:lstStyle/>
          <a:p>
            <a:pPr eaLnBrk="1" hangingPunct="1">
              <a:defRPr/>
            </a:pPr>
            <a:r>
              <a:rPr lang="en-US" b="1" dirty="0">
                <a:latin typeface="Arial" charset="0"/>
                <a:cs typeface="Arial" charset="0"/>
              </a:rPr>
              <a:t>Hammerhead ribozyme structure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780AE4D4-5060-D57C-5116-C40F1AB62984}"/>
              </a:ext>
            </a:extLst>
          </p:cNvPr>
          <p:cNvSpPr>
            <a:spLocks noGrp="1" noChangeArrowheads="1"/>
          </p:cNvSpPr>
          <p:nvPr>
            <p:ph type="title"/>
          </p:nvPr>
        </p:nvSpPr>
        <p:spPr/>
        <p:txBody>
          <a:bodyPr/>
          <a:lstStyle/>
          <a:p>
            <a:r>
              <a:rPr lang="en-US" altLang="en-US" sz="3500">
                <a:solidFill>
                  <a:srgbClr val="0000FF"/>
                </a:solidFill>
              </a:rPr>
              <a:t>How RNA undergoes hydrolysis             	under alkaline conditions?</a:t>
            </a:r>
          </a:p>
        </p:txBody>
      </p:sp>
      <p:sp>
        <p:nvSpPr>
          <p:cNvPr id="114691" name="Rectangle 3">
            <a:extLst>
              <a:ext uri="{FF2B5EF4-FFF2-40B4-BE49-F238E27FC236}">
                <a16:creationId xmlns:a16="http://schemas.microsoft.com/office/drawing/2014/main" id="{0B8BD355-2CE8-1864-6098-4D82DB616FB3}"/>
              </a:ext>
            </a:extLst>
          </p:cNvPr>
          <p:cNvSpPr>
            <a:spLocks noGrp="1" noChangeArrowheads="1"/>
          </p:cNvSpPr>
          <p:nvPr>
            <p:ph type="body" idx="1"/>
          </p:nvPr>
        </p:nvSpPr>
        <p:spPr>
          <a:xfrm>
            <a:off x="457200" y="1719263"/>
            <a:ext cx="8229600" cy="5138737"/>
          </a:xfrm>
        </p:spPr>
        <p:txBody>
          <a:bodyPr/>
          <a:lstStyle/>
          <a:p>
            <a:pPr>
              <a:lnSpc>
                <a:spcPct val="80000"/>
              </a:lnSpc>
            </a:pPr>
            <a:r>
              <a:rPr lang="en-US" altLang="en-US" sz="2600"/>
              <a:t>At high pH, the </a:t>
            </a:r>
            <a:r>
              <a:rPr lang="en-US" altLang="en-US" sz="2600" u="sng"/>
              <a:t>2’-hydroxyl can become deprotonated</a:t>
            </a:r>
            <a:r>
              <a:rPr lang="en-US" altLang="en-US" sz="2600"/>
              <a:t> and the resulting negatively charged oxygen can </a:t>
            </a:r>
            <a:r>
              <a:rPr lang="en-US" altLang="en-US" sz="2600" u="sng">
                <a:solidFill>
                  <a:srgbClr val="0000FF"/>
                </a:solidFill>
              </a:rPr>
              <a:t>attack the scissile phosphate at the 3’-position</a:t>
            </a:r>
            <a:r>
              <a:rPr lang="en-US" altLang="en-US" sz="2600"/>
              <a:t> of the same ribose</a:t>
            </a:r>
          </a:p>
          <a:p>
            <a:pPr>
              <a:lnSpc>
                <a:spcPct val="80000"/>
              </a:lnSpc>
            </a:pPr>
            <a:r>
              <a:rPr lang="en-US" altLang="en-US" sz="2600"/>
              <a:t>This breaks the RAN chain, </a:t>
            </a:r>
            <a:r>
              <a:rPr lang="en-US" altLang="en-US" sz="2600" u="sng">
                <a:solidFill>
                  <a:srgbClr val="0000FF"/>
                </a:solidFill>
              </a:rPr>
              <a:t>producing a 2’,3’ cyclic phosphate and a free 5’-hydroxyl</a:t>
            </a:r>
          </a:p>
          <a:p>
            <a:pPr>
              <a:lnSpc>
                <a:spcPct val="80000"/>
              </a:lnSpc>
            </a:pPr>
            <a:r>
              <a:rPr lang="en-US" altLang="en-US" sz="2600"/>
              <a:t>Each ribose can undergoes this reaction completely cleaving the parent molecule into nucleotides</a:t>
            </a:r>
          </a:p>
          <a:p>
            <a:pPr>
              <a:lnSpc>
                <a:spcPct val="80000"/>
              </a:lnSpc>
            </a:pPr>
            <a:r>
              <a:rPr lang="en-US" altLang="en-US" sz="2600"/>
              <a:t>Many protein ribonucleases also cleave their RNA substrate via the formation of a 2’,3’ cyclic phosphate</a:t>
            </a:r>
          </a:p>
          <a:p>
            <a:pPr>
              <a:lnSpc>
                <a:spcPct val="80000"/>
              </a:lnSpc>
            </a:pPr>
            <a:r>
              <a:rPr lang="en-US" altLang="en-US" sz="2600"/>
              <a:t>Working at normal cellular pH, these protein enzymes </a:t>
            </a:r>
            <a:r>
              <a:rPr lang="en-US" altLang="en-US" sz="2600" u="sng">
                <a:solidFill>
                  <a:srgbClr val="0000FF"/>
                </a:solidFill>
              </a:rPr>
              <a:t>use a metal ion</a:t>
            </a:r>
            <a:r>
              <a:rPr lang="en-US" altLang="en-US" sz="2600"/>
              <a:t>, bound to their active site, to activate the 2’-hydroxyl of the RNA</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3">
            <a:extLst>
              <a:ext uri="{FF2B5EF4-FFF2-40B4-BE49-F238E27FC236}">
                <a16:creationId xmlns:a16="http://schemas.microsoft.com/office/drawing/2014/main" id="{B2CE514B-F440-FEAD-F548-DE63E37F0A3E}"/>
              </a:ext>
            </a:extLst>
          </p:cNvPr>
          <p:cNvSpPr>
            <a:spLocks noGrp="1" noChangeArrowheads="1"/>
          </p:cNvSpPr>
          <p:nvPr>
            <p:ph type="body" idx="1"/>
          </p:nvPr>
        </p:nvSpPr>
        <p:spPr>
          <a:xfrm>
            <a:off x="457200" y="260350"/>
            <a:ext cx="8229600" cy="6337300"/>
          </a:xfrm>
        </p:spPr>
        <p:txBody>
          <a:bodyPr/>
          <a:lstStyle/>
          <a:p>
            <a:pPr>
              <a:lnSpc>
                <a:spcPct val="90000"/>
              </a:lnSpc>
            </a:pPr>
            <a:r>
              <a:rPr lang="en-US" altLang="en-US" sz="2600"/>
              <a:t>The </a:t>
            </a:r>
            <a:r>
              <a:rPr lang="en-US" altLang="en-US" sz="2600">
                <a:solidFill>
                  <a:srgbClr val="0000FF"/>
                </a:solidFill>
              </a:rPr>
              <a:t>hammerhead</a:t>
            </a:r>
            <a:r>
              <a:rPr lang="en-US" altLang="en-US" sz="2600"/>
              <a:t> also cleaves the RNA via the </a:t>
            </a:r>
            <a:r>
              <a:rPr lang="en-US" altLang="en-US" sz="2600">
                <a:solidFill>
                  <a:srgbClr val="0000FF"/>
                </a:solidFill>
              </a:rPr>
              <a:t>formation of a 2’,3’ cyclic phosphate</a:t>
            </a:r>
            <a:r>
              <a:rPr lang="en-US" altLang="en-US" sz="2600"/>
              <a:t> but the mechanism of the cleavage is not yet understood</a:t>
            </a:r>
          </a:p>
          <a:p>
            <a:pPr>
              <a:lnSpc>
                <a:spcPct val="90000"/>
              </a:lnSpc>
            </a:pPr>
            <a:r>
              <a:rPr lang="en-US" altLang="en-US" sz="2600"/>
              <a:t>Because the </a:t>
            </a:r>
            <a:r>
              <a:rPr lang="en-US" altLang="en-US" sz="2600" u="sng">
                <a:solidFill>
                  <a:srgbClr val="0000FF"/>
                </a:solidFill>
              </a:rPr>
              <a:t>normal rxn of the hammerhead is self-cleavage</a:t>
            </a:r>
            <a:r>
              <a:rPr lang="en-US" altLang="en-US" sz="2600"/>
              <a:t>, it is </a:t>
            </a:r>
            <a:r>
              <a:rPr lang="en-US" altLang="en-US" sz="2600" u="sng">
                <a:solidFill>
                  <a:srgbClr val="0000FF"/>
                </a:solidFill>
              </a:rPr>
              <a:t>not really a catalyst</a:t>
            </a:r>
            <a:r>
              <a:rPr lang="en-US" altLang="en-US" sz="2600"/>
              <a:t>, each molecule normally promotes a rxn one time only, thus having a turnover number of 1</a:t>
            </a:r>
          </a:p>
          <a:p>
            <a:pPr>
              <a:lnSpc>
                <a:spcPct val="90000"/>
              </a:lnSpc>
            </a:pPr>
            <a:r>
              <a:rPr lang="en-US" altLang="en-US" sz="2600"/>
              <a:t>But the hammerhead can be </a:t>
            </a:r>
            <a:r>
              <a:rPr lang="en-US" altLang="en-US" sz="2600" u="sng">
                <a:solidFill>
                  <a:srgbClr val="0000FF"/>
                </a:solidFill>
              </a:rPr>
              <a:t>engineered to function</a:t>
            </a:r>
            <a:r>
              <a:rPr lang="en-US" altLang="en-US" sz="2600"/>
              <a:t> as a true ribozyme by dividing the molecule into two portions-one, </a:t>
            </a:r>
            <a:r>
              <a:rPr lang="en-US" altLang="en-US" sz="2600">
                <a:solidFill>
                  <a:srgbClr val="0000FF"/>
                </a:solidFill>
              </a:rPr>
              <a:t>the ribozyme that contains the catalytic core</a:t>
            </a:r>
            <a:r>
              <a:rPr lang="en-US" altLang="en-US" sz="2600"/>
              <a:t> and the other, the </a:t>
            </a:r>
            <a:r>
              <a:rPr lang="en-US" altLang="en-US" sz="2600">
                <a:solidFill>
                  <a:srgbClr val="0000FF"/>
                </a:solidFill>
              </a:rPr>
              <a:t>substrate that contains the cleavage site</a:t>
            </a:r>
          </a:p>
          <a:p>
            <a:pPr>
              <a:lnSpc>
                <a:spcPct val="90000"/>
              </a:lnSpc>
            </a:pPr>
            <a:r>
              <a:rPr lang="en-US" altLang="en-US" sz="2600"/>
              <a:t>The substrate binds to the ribozyme at </a:t>
            </a:r>
            <a:r>
              <a:rPr lang="en-US" altLang="en-US" sz="2600" b="1">
                <a:solidFill>
                  <a:srgbClr val="FF0000"/>
                </a:solidFill>
              </a:rPr>
              <a:t>stems I and III</a:t>
            </a:r>
            <a:r>
              <a:rPr lang="en-US" altLang="en-US" sz="2600"/>
              <a:t>. After cleavage, the substrate is released and replaced by a fresh uncut substrate thereby allowing repeated rounds of cleavage</a:t>
            </a:r>
          </a:p>
          <a:p>
            <a:pPr>
              <a:lnSpc>
                <a:spcPct val="90000"/>
              </a:lnSpc>
            </a:pPr>
            <a:endParaRPr lang="en-US" altLang="en-US" sz="26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4">
            <a:extLst>
              <a:ext uri="{FF2B5EF4-FFF2-40B4-BE49-F238E27FC236}">
                <a16:creationId xmlns:a16="http://schemas.microsoft.com/office/drawing/2014/main" id="{EE25B737-A9FC-0388-3CEF-A34244DBD0CC}"/>
              </a:ext>
            </a:extLst>
          </p:cNvPr>
          <p:cNvSpPr>
            <a:spLocks noGrp="1" noChangeArrowheads="1"/>
          </p:cNvSpPr>
          <p:nvPr>
            <p:ph type="ctrTitle"/>
          </p:nvPr>
        </p:nvSpPr>
        <p:spPr>
          <a:xfrm>
            <a:off x="2916238" y="2852738"/>
            <a:ext cx="2878137" cy="893762"/>
          </a:xfrm>
        </p:spPr>
        <p:txBody>
          <a:bodyPr/>
          <a:lstStyle/>
          <a:p>
            <a:pPr algn="ctr"/>
            <a:r>
              <a:rPr lang="en-US" altLang="en-US" sz="4800">
                <a:solidFill>
                  <a:srgbClr val="0000FF"/>
                </a:solidFill>
              </a:rPr>
              <a:t>END</a:t>
            </a:r>
          </a:p>
        </p:txBody>
      </p:sp>
    </p:spTree>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15252</TotalTime>
  <Words>5179</Words>
  <Application>Microsoft Macintosh PowerPoint</Application>
  <PresentationFormat>On-screen Show (4:3)</PresentationFormat>
  <Paragraphs>436</Paragraphs>
  <Slides>68</Slides>
  <Notes>56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68</vt:i4>
      </vt:variant>
    </vt:vector>
  </HeadingPairs>
  <TitlesOfParts>
    <vt:vector size="73" baseType="lpstr">
      <vt:lpstr>Arial</vt:lpstr>
      <vt:lpstr>Symbol</vt:lpstr>
      <vt:lpstr>Times New Roman</vt:lpstr>
      <vt:lpstr>Wingdings</vt:lpstr>
      <vt:lpstr>Network</vt:lpstr>
      <vt:lpstr>DNA Structure + RNA structure</vt:lpstr>
      <vt:lpstr>DNA a double helix</vt:lpstr>
      <vt:lpstr>Building the Nucleotide</vt:lpstr>
      <vt:lpstr>Building blocks of DNA</vt:lpstr>
      <vt:lpstr>5́  3́ directionality</vt:lpstr>
      <vt:lpstr>Base Tautomers</vt:lpstr>
      <vt:lpstr>Holding the two strands together </vt:lpstr>
      <vt:lpstr>Flipping out of the base</vt:lpstr>
      <vt:lpstr>Right handedness (orientation of the helix)</vt:lpstr>
      <vt:lpstr>Major &amp; Minor grooves</vt:lpstr>
      <vt:lpstr>Can denature &amp; re-associate</vt:lpstr>
      <vt:lpstr>Melting Temperature (Tm)</vt:lpstr>
      <vt:lpstr>DNA different conformation</vt:lpstr>
      <vt:lpstr>B -  Form (Watson &amp; Crick)</vt:lpstr>
      <vt:lpstr>A -  Form</vt:lpstr>
      <vt:lpstr>Z -  Form (ZigZag)</vt:lpstr>
      <vt:lpstr>How Z DNA is formed?</vt:lpstr>
      <vt:lpstr>Circular DNA</vt:lpstr>
      <vt:lpstr>DNA Topology</vt:lpstr>
      <vt:lpstr>PowerPoint Presentation</vt:lpstr>
      <vt:lpstr>Linking number of covalently closed circular DNA</vt:lpstr>
      <vt:lpstr>PowerPoint Presentation</vt:lpstr>
      <vt:lpstr>PowerPoint Presentation</vt:lpstr>
      <vt:lpstr>PowerPoint Presentation</vt:lpstr>
      <vt:lpstr>Twist (Tw)</vt:lpstr>
      <vt:lpstr>Writhe</vt:lpstr>
      <vt:lpstr>Writhing number (Wr)</vt:lpstr>
      <vt:lpstr>Linking number (Lk)</vt:lpstr>
      <vt:lpstr>Linking number under physiological conditions (Lk)</vt:lpstr>
      <vt:lpstr>Linking number (Lk)</vt:lpstr>
      <vt:lpstr>Lk = Tw + Wr</vt:lpstr>
      <vt:lpstr>Writhe can convert to twist and vice versa</vt:lpstr>
      <vt:lpstr>DNA in cells is negatively supercoiled</vt:lpstr>
      <vt:lpstr>PowerPoint Presentation</vt:lpstr>
      <vt:lpstr>Nucleosomes introduce negative supercoiling in Eukaryotes </vt:lpstr>
      <vt:lpstr>Topoisomerase can relax supercoiled DNA </vt:lpstr>
      <vt:lpstr>Topoisoermase I</vt:lpstr>
      <vt:lpstr>PowerPoint Presentation</vt:lpstr>
      <vt:lpstr>Topoisoemarse also unknot and disentangle DNA molecules</vt:lpstr>
      <vt:lpstr>Topoisomerase uses covalent protein DNA linkage to cleave and rejoin DNA strands</vt:lpstr>
      <vt:lpstr>PowerPoint Presentation</vt:lpstr>
      <vt:lpstr>Topoisomerase use covalent protein DNA linkage to cleave and rejoin DNA strands</vt:lpstr>
      <vt:lpstr>Topisomerase I action in details</vt:lpstr>
      <vt:lpstr>Topoisoermase II</vt:lpstr>
      <vt:lpstr>DNA Topoisomers</vt:lpstr>
      <vt:lpstr>PowerPoint Presentation</vt:lpstr>
      <vt:lpstr>Staining DNA with Ethidium </vt:lpstr>
      <vt:lpstr>PowerPoint Presentation</vt:lpstr>
      <vt:lpstr>RNA Structure</vt:lpstr>
      <vt:lpstr>Basic RNA Structure</vt:lpstr>
      <vt:lpstr>RNA functions </vt:lpstr>
      <vt:lpstr>Secondary RNA structure</vt:lpstr>
      <vt:lpstr>PowerPoint Presentation</vt:lpstr>
      <vt:lpstr>PowerPoint Presentation</vt:lpstr>
      <vt:lpstr>PowerPoint Presentation</vt:lpstr>
      <vt:lpstr>Examples on non-canonical base pairing</vt:lpstr>
      <vt:lpstr>PowerPoint Presentation</vt:lpstr>
      <vt:lpstr>Tertiary RNA structure</vt:lpstr>
      <vt:lpstr>1- Triplet base pairing</vt:lpstr>
      <vt:lpstr>2- Base staking</vt:lpstr>
      <vt:lpstr>3- Base modification </vt:lpstr>
      <vt:lpstr>Some RNA are enzymes (ribozymes)</vt:lpstr>
      <vt:lpstr>PowerPoint Presentation</vt:lpstr>
      <vt:lpstr>Hammerhead ribozyme</vt:lpstr>
      <vt:lpstr>PowerPoint Presentation</vt:lpstr>
      <vt:lpstr>How RNA undergoes hydrolysis              under alkaline conditions?</vt:lpstr>
      <vt:lpstr>PowerPoint Presentation</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DNA Structure</dc:title>
  <dc:creator>Firas</dc:creator>
  <cp:lastModifiedBy>Laith Al-Eitan</cp:lastModifiedBy>
  <cp:revision>193</cp:revision>
  <dcterms:created xsi:type="dcterms:W3CDTF">2007-09-19T07:45:40Z</dcterms:created>
  <dcterms:modified xsi:type="dcterms:W3CDTF">2024-10-18T18:34:28Z</dcterms:modified>
</cp:coreProperties>
</file>