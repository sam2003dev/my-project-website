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56" r:id="rId3"/>
    <p:sldMasterId id="2147483658" r:id="rId4"/>
    <p:sldMasterId id="2147483660" r:id="rId5"/>
    <p:sldMasterId id="2147483662" r:id="rId6"/>
    <p:sldMasterId id="2147483664" r:id="rId7"/>
    <p:sldMasterId id="2147483666" r:id="rId8"/>
    <p:sldMasterId id="2147483668" r:id="rId9"/>
    <p:sldMasterId id="2147483670" r:id="rId10"/>
    <p:sldMasterId id="2147483672" r:id="rId11"/>
    <p:sldMasterId id="2147483674" r:id="rId12"/>
    <p:sldMasterId id="2147483676" r:id="rId13"/>
    <p:sldMasterId id="2147483678" r:id="rId14"/>
    <p:sldMasterId id="2147483680" r:id="rId15"/>
    <p:sldMasterId id="2147483682" r:id="rId16"/>
    <p:sldMasterId id="2147483684" r:id="rId17"/>
    <p:sldMasterId id="2147483686" r:id="rId18"/>
    <p:sldMasterId id="2147483688" r:id="rId19"/>
    <p:sldMasterId id="2147483690" r:id="rId20"/>
    <p:sldMasterId id="2147483692" r:id="rId21"/>
    <p:sldMasterId id="2147483694" r:id="rId22"/>
    <p:sldMasterId id="2147483696" r:id="rId23"/>
    <p:sldMasterId id="2147483698" r:id="rId24"/>
    <p:sldMasterId id="2147483700" r:id="rId25"/>
    <p:sldMasterId id="2147483702" r:id="rId26"/>
    <p:sldMasterId id="2147483704" r:id="rId27"/>
    <p:sldMasterId id="2147483706" r:id="rId28"/>
    <p:sldMasterId id="2147483708" r:id="rId29"/>
    <p:sldMasterId id="2147483710" r:id="rId30"/>
    <p:sldMasterId id="2147483712" r:id="rId31"/>
    <p:sldMasterId id="2147483714" r:id="rId32"/>
    <p:sldMasterId id="2147483716" r:id="rId33"/>
    <p:sldMasterId id="2147483718" r:id="rId34"/>
    <p:sldMasterId id="2147483720" r:id="rId35"/>
    <p:sldMasterId id="2147483722" r:id="rId36"/>
    <p:sldMasterId id="2147483724" r:id="rId37"/>
    <p:sldMasterId id="2147483726" r:id="rId38"/>
    <p:sldMasterId id="2147483728" r:id="rId39"/>
    <p:sldMasterId id="2147483730" r:id="rId40"/>
    <p:sldMasterId id="2147483732" r:id="rId41"/>
    <p:sldMasterId id="2147483734" r:id="rId42"/>
  </p:sldMasterIdLst>
  <p:notesMasterIdLst>
    <p:notesMasterId r:id="rId44"/>
  </p:notesMasterIdLst>
  <p:handoutMasterIdLst>
    <p:handoutMasterId r:id="rId142"/>
  </p:handoutMasterIdLst>
  <p:sldIdLst>
    <p:sldId id="504" r:id="rId43"/>
    <p:sldId id="505" r:id="rId45"/>
    <p:sldId id="644" r:id="rId46"/>
    <p:sldId id="508" r:id="rId47"/>
    <p:sldId id="509" r:id="rId48"/>
    <p:sldId id="646" r:id="rId49"/>
    <p:sldId id="514" r:id="rId50"/>
    <p:sldId id="515" r:id="rId51"/>
    <p:sldId id="651" r:id="rId52"/>
    <p:sldId id="652" r:id="rId53"/>
    <p:sldId id="653" r:id="rId54"/>
    <p:sldId id="520" r:id="rId55"/>
    <p:sldId id="654" r:id="rId56"/>
    <p:sldId id="655" r:id="rId57"/>
    <p:sldId id="524" r:id="rId58"/>
    <p:sldId id="656" r:id="rId59"/>
    <p:sldId id="526" r:id="rId60"/>
    <p:sldId id="527" r:id="rId61"/>
    <p:sldId id="657" r:id="rId62"/>
    <p:sldId id="531" r:id="rId63"/>
    <p:sldId id="532" r:id="rId64"/>
    <p:sldId id="533" r:id="rId65"/>
    <p:sldId id="659" r:id="rId66"/>
    <p:sldId id="537" r:id="rId67"/>
    <p:sldId id="662" r:id="rId68"/>
    <p:sldId id="539" r:id="rId69"/>
    <p:sldId id="540" r:id="rId70"/>
    <p:sldId id="541" r:id="rId71"/>
    <p:sldId id="542" r:id="rId72"/>
    <p:sldId id="544" r:id="rId73"/>
    <p:sldId id="545" r:id="rId74"/>
    <p:sldId id="668" r:id="rId75"/>
    <p:sldId id="551" r:id="rId76"/>
    <p:sldId id="669" r:id="rId77"/>
    <p:sldId id="553" r:id="rId78"/>
    <p:sldId id="671" r:id="rId79"/>
    <p:sldId id="672" r:id="rId80"/>
    <p:sldId id="673" r:id="rId81"/>
    <p:sldId id="674" r:id="rId82"/>
    <p:sldId id="559" r:id="rId83"/>
    <p:sldId id="675" r:id="rId84"/>
    <p:sldId id="676" r:id="rId85"/>
    <p:sldId id="677" r:id="rId86"/>
    <p:sldId id="678" r:id="rId87"/>
    <p:sldId id="564" r:id="rId88"/>
    <p:sldId id="565" r:id="rId89"/>
    <p:sldId id="566" r:id="rId90"/>
    <p:sldId id="567" r:id="rId91"/>
    <p:sldId id="680" r:id="rId92"/>
    <p:sldId id="681" r:id="rId93"/>
    <p:sldId id="569" r:id="rId94"/>
    <p:sldId id="570" r:id="rId95"/>
    <p:sldId id="571" r:id="rId96"/>
    <p:sldId id="682" r:id="rId97"/>
    <p:sldId id="573" r:id="rId98"/>
    <p:sldId id="574" r:id="rId99"/>
    <p:sldId id="575" r:id="rId100"/>
    <p:sldId id="683" r:id="rId101"/>
    <p:sldId id="577" r:id="rId102"/>
    <p:sldId id="578" r:id="rId103"/>
    <p:sldId id="684" r:id="rId104"/>
    <p:sldId id="582" r:id="rId105"/>
    <p:sldId id="688" r:id="rId106"/>
    <p:sldId id="685" r:id="rId107"/>
    <p:sldId id="595" r:id="rId108"/>
    <p:sldId id="694" r:id="rId109"/>
    <p:sldId id="597" r:id="rId110"/>
    <p:sldId id="695" r:id="rId111"/>
    <p:sldId id="599" r:id="rId112"/>
    <p:sldId id="696" r:id="rId113"/>
    <p:sldId id="602" r:id="rId114"/>
    <p:sldId id="697" r:id="rId115"/>
    <p:sldId id="698" r:id="rId116"/>
    <p:sldId id="605" r:id="rId117"/>
    <p:sldId id="699" r:id="rId118"/>
    <p:sldId id="701" r:id="rId119"/>
    <p:sldId id="702" r:id="rId120"/>
    <p:sldId id="610" r:id="rId121"/>
    <p:sldId id="612" r:id="rId122"/>
    <p:sldId id="613" r:id="rId123"/>
    <p:sldId id="614" r:id="rId124"/>
    <p:sldId id="615" r:id="rId125"/>
    <p:sldId id="616" r:id="rId126"/>
    <p:sldId id="619" r:id="rId127"/>
    <p:sldId id="620" r:id="rId128"/>
    <p:sldId id="621" r:id="rId129"/>
    <p:sldId id="623" r:id="rId130"/>
    <p:sldId id="624" r:id="rId131"/>
    <p:sldId id="625" r:id="rId132"/>
    <p:sldId id="626" r:id="rId133"/>
    <p:sldId id="707" r:id="rId134"/>
    <p:sldId id="631" r:id="rId135"/>
    <p:sldId id="632" r:id="rId136"/>
    <p:sldId id="633" r:id="rId137"/>
    <p:sldId id="711" r:id="rId138"/>
    <p:sldId id="635" r:id="rId139"/>
    <p:sldId id="637" r:id="rId140"/>
    <p:sldId id="719" r:id="rId141"/>
  </p:sldIdLst>
  <p:sldSz cx="9144000" cy="6858000" type="screen4x3"/>
  <p:notesSz cx="6858000" cy="9144000"/>
  <p:custDataLst>
    <p:tags r:id="rId14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thleen Fitzpatrick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887E"/>
    <a:srgbClr val="D1300D"/>
    <a:srgbClr val="B9B9B9"/>
    <a:srgbClr val="AA2B15"/>
    <a:srgbClr val="AEB9B1"/>
    <a:srgbClr val="4F6F92"/>
    <a:srgbClr val="F7F7F7"/>
    <a:srgbClr val="0047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6" autoAdjust="0"/>
    <p:restoredTop sz="90585" autoAdjust="0"/>
  </p:normalViewPr>
  <p:slideViewPr>
    <p:cSldViewPr>
      <p:cViewPr varScale="1">
        <p:scale>
          <a:sx n="70" d="100"/>
          <a:sy n="70" d="100"/>
        </p:scale>
        <p:origin x="-1104" y="-108"/>
      </p:cViewPr>
      <p:guideLst>
        <p:guide orient="horz" pos="1319"/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444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329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56.xml"/><Relationship Id="rId98" Type="http://schemas.openxmlformats.org/officeDocument/2006/relationships/slide" Target="slides/slide55.xml"/><Relationship Id="rId97" Type="http://schemas.openxmlformats.org/officeDocument/2006/relationships/slide" Target="slides/slide54.xml"/><Relationship Id="rId96" Type="http://schemas.openxmlformats.org/officeDocument/2006/relationships/slide" Target="slides/slide53.xml"/><Relationship Id="rId95" Type="http://schemas.openxmlformats.org/officeDocument/2006/relationships/slide" Target="slides/slide52.xml"/><Relationship Id="rId94" Type="http://schemas.openxmlformats.org/officeDocument/2006/relationships/slide" Target="slides/slide51.xml"/><Relationship Id="rId93" Type="http://schemas.openxmlformats.org/officeDocument/2006/relationships/slide" Target="slides/slide50.xml"/><Relationship Id="rId92" Type="http://schemas.openxmlformats.org/officeDocument/2006/relationships/slide" Target="slides/slide49.xml"/><Relationship Id="rId91" Type="http://schemas.openxmlformats.org/officeDocument/2006/relationships/slide" Target="slides/slide48.xml"/><Relationship Id="rId90" Type="http://schemas.openxmlformats.org/officeDocument/2006/relationships/slide" Target="slides/slide47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46.xml"/><Relationship Id="rId88" Type="http://schemas.openxmlformats.org/officeDocument/2006/relationships/slide" Target="slides/slide45.xml"/><Relationship Id="rId87" Type="http://schemas.openxmlformats.org/officeDocument/2006/relationships/slide" Target="slides/slide44.xml"/><Relationship Id="rId86" Type="http://schemas.openxmlformats.org/officeDocument/2006/relationships/slide" Target="slides/slide43.xml"/><Relationship Id="rId85" Type="http://schemas.openxmlformats.org/officeDocument/2006/relationships/slide" Target="slides/slide42.xml"/><Relationship Id="rId84" Type="http://schemas.openxmlformats.org/officeDocument/2006/relationships/slide" Target="slides/slide41.xml"/><Relationship Id="rId83" Type="http://schemas.openxmlformats.org/officeDocument/2006/relationships/slide" Target="slides/slide40.xml"/><Relationship Id="rId82" Type="http://schemas.openxmlformats.org/officeDocument/2006/relationships/slide" Target="slides/slide39.xml"/><Relationship Id="rId81" Type="http://schemas.openxmlformats.org/officeDocument/2006/relationships/slide" Target="slides/slide38.xml"/><Relationship Id="rId80" Type="http://schemas.openxmlformats.org/officeDocument/2006/relationships/slide" Target="slides/slide37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36.xml"/><Relationship Id="rId78" Type="http://schemas.openxmlformats.org/officeDocument/2006/relationships/slide" Target="slides/slide35.xml"/><Relationship Id="rId77" Type="http://schemas.openxmlformats.org/officeDocument/2006/relationships/slide" Target="slides/slide34.xml"/><Relationship Id="rId76" Type="http://schemas.openxmlformats.org/officeDocument/2006/relationships/slide" Target="slides/slide33.xml"/><Relationship Id="rId75" Type="http://schemas.openxmlformats.org/officeDocument/2006/relationships/slide" Target="slides/slide32.xml"/><Relationship Id="rId74" Type="http://schemas.openxmlformats.org/officeDocument/2006/relationships/slide" Target="slides/slide31.xml"/><Relationship Id="rId73" Type="http://schemas.openxmlformats.org/officeDocument/2006/relationships/slide" Target="slides/slide30.xml"/><Relationship Id="rId72" Type="http://schemas.openxmlformats.org/officeDocument/2006/relationships/slide" Target="slides/slide29.xml"/><Relationship Id="rId71" Type="http://schemas.openxmlformats.org/officeDocument/2006/relationships/slide" Target="slides/slide28.xml"/><Relationship Id="rId70" Type="http://schemas.openxmlformats.org/officeDocument/2006/relationships/slide" Target="slides/slide27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6.xml"/><Relationship Id="rId68" Type="http://schemas.openxmlformats.org/officeDocument/2006/relationships/slide" Target="slides/slide25.xml"/><Relationship Id="rId67" Type="http://schemas.openxmlformats.org/officeDocument/2006/relationships/slide" Target="slides/slide24.xml"/><Relationship Id="rId66" Type="http://schemas.openxmlformats.org/officeDocument/2006/relationships/slide" Target="slides/slide23.xml"/><Relationship Id="rId65" Type="http://schemas.openxmlformats.org/officeDocument/2006/relationships/slide" Target="slides/slide22.xml"/><Relationship Id="rId64" Type="http://schemas.openxmlformats.org/officeDocument/2006/relationships/slide" Target="slides/slide21.xml"/><Relationship Id="rId63" Type="http://schemas.openxmlformats.org/officeDocument/2006/relationships/slide" Target="slides/slide20.xml"/><Relationship Id="rId62" Type="http://schemas.openxmlformats.org/officeDocument/2006/relationships/slide" Target="slides/slide19.xml"/><Relationship Id="rId61" Type="http://schemas.openxmlformats.org/officeDocument/2006/relationships/slide" Target="slides/slide18.xml"/><Relationship Id="rId60" Type="http://schemas.openxmlformats.org/officeDocument/2006/relationships/slide" Target="slides/slide17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6.xml"/><Relationship Id="rId58" Type="http://schemas.openxmlformats.org/officeDocument/2006/relationships/slide" Target="slides/slide15.xml"/><Relationship Id="rId57" Type="http://schemas.openxmlformats.org/officeDocument/2006/relationships/slide" Target="slides/slide14.xml"/><Relationship Id="rId56" Type="http://schemas.openxmlformats.org/officeDocument/2006/relationships/slide" Target="slides/slide13.xml"/><Relationship Id="rId55" Type="http://schemas.openxmlformats.org/officeDocument/2006/relationships/slide" Target="slides/slide12.xml"/><Relationship Id="rId54" Type="http://schemas.openxmlformats.org/officeDocument/2006/relationships/slide" Target="slides/slide11.xml"/><Relationship Id="rId53" Type="http://schemas.openxmlformats.org/officeDocument/2006/relationships/slide" Target="slides/slide10.xml"/><Relationship Id="rId52" Type="http://schemas.openxmlformats.org/officeDocument/2006/relationships/slide" Target="slides/slide9.xml"/><Relationship Id="rId51" Type="http://schemas.openxmlformats.org/officeDocument/2006/relationships/slide" Target="slides/slide8.xml"/><Relationship Id="rId50" Type="http://schemas.openxmlformats.org/officeDocument/2006/relationships/slide" Target="slides/slide7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6.xml"/><Relationship Id="rId48" Type="http://schemas.openxmlformats.org/officeDocument/2006/relationships/slide" Target="slides/slide5.xml"/><Relationship Id="rId47" Type="http://schemas.openxmlformats.org/officeDocument/2006/relationships/slide" Target="slides/slide4.xml"/><Relationship Id="rId46" Type="http://schemas.openxmlformats.org/officeDocument/2006/relationships/slide" Target="slides/slide3.xml"/><Relationship Id="rId45" Type="http://schemas.openxmlformats.org/officeDocument/2006/relationships/slide" Target="slides/slide2.xml"/><Relationship Id="rId44" Type="http://schemas.openxmlformats.org/officeDocument/2006/relationships/notesMaster" Target="notesMasters/notesMaster1.xml"/><Relationship Id="rId43" Type="http://schemas.openxmlformats.org/officeDocument/2006/relationships/slide" Target="slides/slide1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7" Type="http://schemas.openxmlformats.org/officeDocument/2006/relationships/tags" Target="tags/tag1.xml"/><Relationship Id="rId146" Type="http://schemas.openxmlformats.org/officeDocument/2006/relationships/commentAuthors" Target="commentAuthors.xml"/><Relationship Id="rId145" Type="http://schemas.openxmlformats.org/officeDocument/2006/relationships/tableStyles" Target="tableStyles.xml"/><Relationship Id="rId144" Type="http://schemas.openxmlformats.org/officeDocument/2006/relationships/viewProps" Target="viewProps.xml"/><Relationship Id="rId143" Type="http://schemas.openxmlformats.org/officeDocument/2006/relationships/presProps" Target="presProps.xml"/><Relationship Id="rId142" Type="http://schemas.openxmlformats.org/officeDocument/2006/relationships/handoutMaster" Target="handoutMasters/handoutMaster1.xml"/><Relationship Id="rId141" Type="http://schemas.openxmlformats.org/officeDocument/2006/relationships/slide" Target="slides/slide98.xml"/><Relationship Id="rId140" Type="http://schemas.openxmlformats.org/officeDocument/2006/relationships/slide" Target="slides/slide97.xml"/><Relationship Id="rId14" Type="http://schemas.openxmlformats.org/officeDocument/2006/relationships/slideMaster" Target="slideMasters/slideMaster13.xml"/><Relationship Id="rId139" Type="http://schemas.openxmlformats.org/officeDocument/2006/relationships/slide" Target="slides/slide96.xml"/><Relationship Id="rId138" Type="http://schemas.openxmlformats.org/officeDocument/2006/relationships/slide" Target="slides/slide95.xml"/><Relationship Id="rId137" Type="http://schemas.openxmlformats.org/officeDocument/2006/relationships/slide" Target="slides/slide94.xml"/><Relationship Id="rId136" Type="http://schemas.openxmlformats.org/officeDocument/2006/relationships/slide" Target="slides/slide93.xml"/><Relationship Id="rId135" Type="http://schemas.openxmlformats.org/officeDocument/2006/relationships/slide" Target="slides/slide92.xml"/><Relationship Id="rId134" Type="http://schemas.openxmlformats.org/officeDocument/2006/relationships/slide" Target="slides/slide91.xml"/><Relationship Id="rId133" Type="http://schemas.openxmlformats.org/officeDocument/2006/relationships/slide" Target="slides/slide90.xml"/><Relationship Id="rId132" Type="http://schemas.openxmlformats.org/officeDocument/2006/relationships/slide" Target="slides/slide89.xml"/><Relationship Id="rId131" Type="http://schemas.openxmlformats.org/officeDocument/2006/relationships/slide" Target="slides/slide88.xml"/><Relationship Id="rId130" Type="http://schemas.openxmlformats.org/officeDocument/2006/relationships/slide" Target="slides/slide87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86.xml"/><Relationship Id="rId128" Type="http://schemas.openxmlformats.org/officeDocument/2006/relationships/slide" Target="slides/slide85.xml"/><Relationship Id="rId127" Type="http://schemas.openxmlformats.org/officeDocument/2006/relationships/slide" Target="slides/slide84.xml"/><Relationship Id="rId126" Type="http://schemas.openxmlformats.org/officeDocument/2006/relationships/slide" Target="slides/slide83.xml"/><Relationship Id="rId125" Type="http://schemas.openxmlformats.org/officeDocument/2006/relationships/slide" Target="slides/slide82.xml"/><Relationship Id="rId124" Type="http://schemas.openxmlformats.org/officeDocument/2006/relationships/slide" Target="slides/slide81.xml"/><Relationship Id="rId123" Type="http://schemas.openxmlformats.org/officeDocument/2006/relationships/slide" Target="slides/slide80.xml"/><Relationship Id="rId122" Type="http://schemas.openxmlformats.org/officeDocument/2006/relationships/slide" Target="slides/slide79.xml"/><Relationship Id="rId121" Type="http://schemas.openxmlformats.org/officeDocument/2006/relationships/slide" Target="slides/slide78.xml"/><Relationship Id="rId120" Type="http://schemas.openxmlformats.org/officeDocument/2006/relationships/slide" Target="slides/slide77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76.xml"/><Relationship Id="rId118" Type="http://schemas.openxmlformats.org/officeDocument/2006/relationships/slide" Target="slides/slide75.xml"/><Relationship Id="rId117" Type="http://schemas.openxmlformats.org/officeDocument/2006/relationships/slide" Target="slides/slide74.xml"/><Relationship Id="rId116" Type="http://schemas.openxmlformats.org/officeDocument/2006/relationships/slide" Target="slides/slide73.xml"/><Relationship Id="rId115" Type="http://schemas.openxmlformats.org/officeDocument/2006/relationships/slide" Target="slides/slide72.xml"/><Relationship Id="rId114" Type="http://schemas.openxmlformats.org/officeDocument/2006/relationships/slide" Target="slides/slide71.xml"/><Relationship Id="rId113" Type="http://schemas.openxmlformats.org/officeDocument/2006/relationships/slide" Target="slides/slide70.xml"/><Relationship Id="rId112" Type="http://schemas.openxmlformats.org/officeDocument/2006/relationships/slide" Target="slides/slide69.xml"/><Relationship Id="rId111" Type="http://schemas.openxmlformats.org/officeDocument/2006/relationships/slide" Target="slides/slide68.xml"/><Relationship Id="rId110" Type="http://schemas.openxmlformats.org/officeDocument/2006/relationships/slide" Target="slides/slide67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66.xml"/><Relationship Id="rId108" Type="http://schemas.openxmlformats.org/officeDocument/2006/relationships/slide" Target="slides/slide65.xml"/><Relationship Id="rId107" Type="http://schemas.openxmlformats.org/officeDocument/2006/relationships/slide" Target="slides/slide64.xml"/><Relationship Id="rId106" Type="http://schemas.openxmlformats.org/officeDocument/2006/relationships/slide" Target="slides/slide63.xml"/><Relationship Id="rId105" Type="http://schemas.openxmlformats.org/officeDocument/2006/relationships/slide" Target="slides/slide62.xml"/><Relationship Id="rId104" Type="http://schemas.openxmlformats.org/officeDocument/2006/relationships/slide" Target="slides/slide61.xml"/><Relationship Id="rId103" Type="http://schemas.openxmlformats.org/officeDocument/2006/relationships/slide" Target="slides/slide60.xml"/><Relationship Id="rId102" Type="http://schemas.openxmlformats.org/officeDocument/2006/relationships/slide" Target="slides/slide59.xml"/><Relationship Id="rId101" Type="http://schemas.openxmlformats.org/officeDocument/2006/relationships/slide" Target="slides/slide58.xml"/><Relationship Id="rId100" Type="http://schemas.openxmlformats.org/officeDocument/2006/relationships/slide" Target="slides/slide57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ea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2FDBCFE6-7A80-4E41-8712-1C12F7B6050B}" type="datetimeFigureOut">
              <a:rPr lang="en-US" altLang="en-US"/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ea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71A23EEE-2F46-4732-8626-99218F3EFA81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 smtClean="0"/>
              <a:t>Click to 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 smtClean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>
                <a:latin typeface="Arial" panose="020B0604020202020204" pitchFamily="34" charset="0"/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6D957CC8-6916-4659-8D61-C81A523E1943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ヒラギノ角ゴ Pro W3" charset="-128"/>
        <a:cs typeface="ヒラギノ角ゴ Pro W3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ヒラギノ角ゴ Pro W3" charset="-128"/>
        <a:cs typeface="ヒラギノ角ゴ Pro W3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ヒラギノ角ゴ Pro W3" charset="-128"/>
        <a:cs typeface="ヒラギノ角ゴ Pro W3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ヒラギノ角ゴ Pro W3" charset="-128"/>
        <a:cs typeface="ヒラギノ角ゴ Pro W3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ヒラギノ角ゴ Pro W3" charset="-128"/>
        <a:cs typeface="ヒラギノ角ゴ Pro W3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charset="0"/>
                <a:ea typeface="ヒラギノ角ゴ Pro W3" charset="-128"/>
              </a:defRPr>
            </a:lvl9pPr>
          </a:lstStyle>
          <a:p>
            <a:pPr algn="r">
              <a:spcBef>
                <a:spcPct val="0"/>
              </a:spcBef>
            </a:pPr>
            <a:fld id="{0B24C727-5A10-43AF-A0C5-2F9849EF097E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FFFFFF"/>
          </a:solidFill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dirty="0" smtClean="0">
              <a:latin typeface="Times New Roman" panose="02020603050405020304" charset="0"/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4336242F-9D70-4F88-A35C-8A188D4E2436}" type="slidenum">
              <a:rPr lang="en-US" sz="1200"/>
            </a:fld>
            <a:endParaRPr lang="en-US" sz="1200" dirty="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95C30B23-EC63-44D6-A1AC-44E12C779617}" type="slidenum">
              <a:rPr lang="en-US" sz="1200"/>
            </a:fld>
            <a:endParaRPr lang="en-US" sz="1200" dirty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C8B55BB4-FE38-4360-B7FE-60BBC8867851}" type="slidenum">
              <a:rPr lang="en-US" sz="1200"/>
            </a:fld>
            <a:endParaRPr lang="en-US" sz="1200" dirty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27.2 The most common shapes of prokaryotes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019389DA-B06D-471B-A696-7E12F13AF143}" type="slidenum">
              <a:rPr lang="en-US" sz="1200"/>
            </a:fld>
            <a:endParaRPr lang="en-US" sz="1200" dirty="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3F8C3E22-8007-464C-8CE8-D871F7AFF15A}" type="slidenum">
              <a:rPr lang="en-US" sz="1200"/>
            </a:fld>
            <a:endParaRPr lang="en-US" sz="1200" dirty="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27.3a Gram staining (part 1: Gram-positive)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27.3b Gram staining (part 2: Gram-negative)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27.3c Gram staining (part 3: micrograph)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53DC2A71-419D-4B5D-BA00-BA40EE3A742C}" type="slidenum">
              <a:rPr lang="en-US" sz="1200"/>
            </a:fld>
            <a:endParaRPr lang="en-US" sz="1200" dirty="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27.4 Capsule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27.5 An endospore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2E4F0647-EED3-4F5A-81AF-1750307F3110}" type="slidenum">
              <a:rPr lang="en-US" sz="1200"/>
            </a:fld>
            <a:endParaRPr lang="en-US" sz="1200" dirty="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27.6 Fimbriae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45EB291B-0CE0-4D40-89DE-7B039E2B7BEE}" type="slidenum">
              <a:rPr lang="en-US" sz="1200"/>
            </a:fld>
            <a:endParaRPr lang="en-US" sz="1200" dirty="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22FFE05F-8184-46E8-8C09-2C2441E2134B}" type="slidenum">
              <a:rPr lang="en-US" sz="1200"/>
            </a:fld>
            <a:endParaRPr lang="en-US" sz="1200" dirty="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27.7 A prokaryotic flagellum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1E28097F-D9FC-4CDE-90BF-63D5C7176FA9}" type="slidenum">
              <a:rPr lang="en-US" sz="1200"/>
            </a:fld>
            <a:endParaRPr lang="en-US" sz="1200" dirty="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1E28097F-D9FC-4CDE-90BF-63D5C7176FA9}" type="slidenum">
              <a:rPr lang="en-US" sz="1200"/>
            </a:fld>
            <a:endParaRPr lang="en-US" sz="1200" dirty="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F0B49355-F58F-4596-9BF9-499611296F29}" type="slidenum">
              <a:rPr lang="en-US" sz="1200"/>
            </a:fld>
            <a:endParaRPr lang="en-US" sz="1200" dirty="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27.8 Specialized membranes of prokaryotes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45F8AF0A-7D45-4821-A61D-969E8305C198}" type="slidenum">
              <a:rPr lang="en-US" sz="1200"/>
            </a:fld>
            <a:endParaRPr lang="en-US" sz="1200" dirty="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27.9 A prokaryotic chromosome and plasmids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9D90B6E9-ECDD-48CA-890B-48238CA2C5A3}" type="slidenum">
              <a:rPr lang="en-US" sz="1200"/>
            </a:fld>
            <a:endParaRPr lang="en-US" sz="1200" dirty="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12A5D8E8-4DE8-48A5-8FFA-5C7116BE71FA}" type="slidenum">
              <a:rPr lang="en-US" sz="1200"/>
            </a:fld>
            <a:endParaRPr lang="en-US" sz="1200" dirty="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6481FB0E-2449-4C11-BCD9-C0D1D77179B5}" type="slidenum">
              <a:rPr lang="en-US" sz="1200"/>
            </a:fld>
            <a:endParaRPr lang="en-US" sz="1200" dirty="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B49FB618-B73B-447A-A13F-9A9C5F8DAECB}" type="slidenum">
              <a:rPr lang="en-US" sz="1200"/>
            </a:fld>
            <a:endParaRPr lang="en-US" sz="1200" dirty="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90115065-0B1F-4BF8-BAC6-E8C83681A769}" type="slidenum">
              <a:rPr lang="en-US" sz="1200"/>
            </a:fld>
            <a:endParaRPr lang="en-US" sz="1200" dirty="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E5E731DD-0536-4F10-ABB1-E3585684F70D}" type="slidenum">
              <a:rPr lang="en-US" sz="1200"/>
            </a:fld>
            <a:endParaRPr lang="en-US" sz="1200" dirty="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27.11_5 Transduction (step 5)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DDF9E4E9-AAFF-443F-AF86-F57B72877DD8}" type="slidenum">
              <a:rPr lang="en-US" sz="1200"/>
            </a:fld>
            <a:endParaRPr lang="en-US" sz="1200" dirty="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27.12 Bacterial conjugation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8F1FA298-4410-438B-AE5B-0D5B7619C1F9}" type="slidenum">
              <a:rPr lang="en-US" sz="1200"/>
            </a:fld>
            <a:endParaRPr lang="en-US" sz="1200" dirty="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/>
              </a:rPr>
              <a:t>Figure 27.13a_1 Conjugation and recombination in </a:t>
            </a:r>
            <a:r>
              <a:rPr lang="en-US" i="1" dirty="0" smtClean="0">
                <a:latin typeface="Arial" panose="020B0604020202020204"/>
              </a:rPr>
              <a:t>E. coli</a:t>
            </a:r>
            <a:r>
              <a:rPr lang="en-US" dirty="0" smtClean="0">
                <a:latin typeface="Arial" panose="020B0604020202020204"/>
              </a:rPr>
              <a:t> (part 1, step 1)</a:t>
            </a:r>
            <a:endParaRPr lang="en-US" dirty="0" smtClean="0">
              <a:latin typeface="Arial" panose="020B0604020202020204"/>
            </a:endParaRPr>
          </a:p>
          <a:p>
            <a:endParaRPr lang="en-US" dirty="0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/>
              </a:rPr>
              <a:t>Figure 27.13a_2 Conjugation and recombination in </a:t>
            </a:r>
            <a:r>
              <a:rPr lang="en-US" i="1" dirty="0" smtClean="0">
                <a:latin typeface="Arial" panose="020B0604020202020204"/>
              </a:rPr>
              <a:t>E. coli </a:t>
            </a:r>
            <a:r>
              <a:rPr lang="en-US" dirty="0" smtClean="0">
                <a:latin typeface="Arial" panose="020B0604020202020204"/>
              </a:rPr>
              <a:t>(part 1, step 2)</a:t>
            </a:r>
            <a:endParaRPr lang="en-US" dirty="0" smtClean="0">
              <a:latin typeface="Arial" panose="020B0604020202020204"/>
            </a:endParaRPr>
          </a:p>
          <a:p>
            <a:endParaRPr lang="en-US" dirty="0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/>
              </a:rPr>
              <a:t>Figure 27.13a_3 Conjugation and recombination in </a:t>
            </a:r>
            <a:r>
              <a:rPr lang="en-US" i="1" dirty="0" smtClean="0">
                <a:latin typeface="Arial" panose="020B0604020202020204"/>
              </a:rPr>
              <a:t>E. coli </a:t>
            </a:r>
            <a:r>
              <a:rPr lang="en-US" dirty="0" smtClean="0">
                <a:latin typeface="Arial" panose="020B0604020202020204"/>
              </a:rPr>
              <a:t>(part 1, step 3)</a:t>
            </a:r>
            <a:endParaRPr lang="en-US" dirty="0" smtClean="0">
              <a:latin typeface="Arial" panose="020B0604020202020204"/>
            </a:endParaRPr>
          </a:p>
          <a:p>
            <a:endParaRPr lang="en-US" dirty="0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/>
              </a:rPr>
              <a:t>Figure 27.13a_4 Conjugation and recombination in </a:t>
            </a:r>
            <a:r>
              <a:rPr lang="en-US" i="1" dirty="0" smtClean="0">
                <a:latin typeface="Arial" panose="020B0604020202020204"/>
              </a:rPr>
              <a:t>E. coli </a:t>
            </a:r>
            <a:r>
              <a:rPr lang="en-US" dirty="0" smtClean="0">
                <a:latin typeface="Arial" panose="020B0604020202020204"/>
              </a:rPr>
              <a:t>(part 1, step 4)</a:t>
            </a:r>
            <a:endParaRPr lang="en-US" dirty="0" smtClean="0">
              <a:latin typeface="Arial" panose="020B0604020202020204"/>
            </a:endParaRPr>
          </a:p>
          <a:p>
            <a:endParaRPr lang="en-US" dirty="0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AD95268B-9DCE-436D-B9D3-F9543CFFC042}" type="slidenum">
              <a:rPr lang="en-US" sz="1200"/>
            </a:fld>
            <a:endParaRPr lang="en-US" sz="1200" dirty="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/>
              </a:rPr>
              <a:t>Figure 27.13b_1 Conjugation and recombination in </a:t>
            </a:r>
            <a:r>
              <a:rPr lang="en-US" i="1" dirty="0" smtClean="0">
                <a:latin typeface="Arial" panose="020B0604020202020204"/>
              </a:rPr>
              <a:t>E. coli </a:t>
            </a:r>
            <a:r>
              <a:rPr lang="en-US" dirty="0" smtClean="0">
                <a:latin typeface="Arial" panose="020B0604020202020204"/>
              </a:rPr>
              <a:t>(part 2, step 1)</a:t>
            </a:r>
            <a:endParaRPr lang="en-US" dirty="0" smtClean="0">
              <a:latin typeface="Arial" panose="020B0604020202020204"/>
            </a:endParaRPr>
          </a:p>
          <a:p>
            <a:endParaRPr lang="en-US" dirty="0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/>
              </a:rPr>
              <a:t>Figure 27.13b_2 Conjugation and recombination in </a:t>
            </a:r>
            <a:r>
              <a:rPr lang="en-US" i="1" dirty="0" smtClean="0">
                <a:latin typeface="Arial" panose="020B0604020202020204"/>
              </a:rPr>
              <a:t>E. coli </a:t>
            </a:r>
            <a:r>
              <a:rPr lang="en-US" dirty="0" smtClean="0">
                <a:latin typeface="Arial" panose="020B0604020202020204"/>
              </a:rPr>
              <a:t>(part 2, step 2)</a:t>
            </a:r>
            <a:endParaRPr lang="en-US" dirty="0" smtClean="0">
              <a:latin typeface="Arial" panose="020B0604020202020204"/>
            </a:endParaRPr>
          </a:p>
          <a:p>
            <a:endParaRPr lang="en-US" dirty="0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/>
              </a:rPr>
              <a:t>Figure 27.13b_3 Conjugation and recombination in </a:t>
            </a:r>
            <a:r>
              <a:rPr lang="en-US" i="1" dirty="0" smtClean="0">
                <a:latin typeface="Arial" panose="020B0604020202020204"/>
              </a:rPr>
              <a:t>E. coli </a:t>
            </a:r>
            <a:r>
              <a:rPr lang="en-US" dirty="0" smtClean="0">
                <a:latin typeface="Arial" panose="020B0604020202020204"/>
              </a:rPr>
              <a:t>(part 2, step 3)</a:t>
            </a:r>
            <a:endParaRPr lang="en-US" dirty="0" smtClean="0">
              <a:latin typeface="Arial" panose="020B0604020202020204"/>
            </a:endParaRPr>
          </a:p>
          <a:p>
            <a:endParaRPr lang="en-US" dirty="0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/>
              </a:rPr>
              <a:t>Figure 27.13b_4 Conjugation and recombination in </a:t>
            </a:r>
            <a:r>
              <a:rPr lang="en-US" i="1" dirty="0" smtClean="0">
                <a:latin typeface="Arial" panose="020B0604020202020204"/>
              </a:rPr>
              <a:t>E. coli </a:t>
            </a:r>
            <a:r>
              <a:rPr lang="en-US" dirty="0" smtClean="0">
                <a:latin typeface="Arial" panose="020B0604020202020204"/>
              </a:rPr>
              <a:t>(part 2, step 4)</a:t>
            </a:r>
            <a:endParaRPr lang="en-US" dirty="0" smtClean="0">
              <a:latin typeface="Arial" panose="020B0604020202020204"/>
            </a:endParaRPr>
          </a:p>
          <a:p>
            <a:endParaRPr lang="en-US" dirty="0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6D7E8A99-DD0F-4795-889D-84301088FD61}" type="slidenum">
              <a:rPr lang="en-US" sz="1200"/>
            </a:fld>
            <a:endParaRPr lang="en-US" sz="1200" dirty="0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6D7E8A99-DD0F-4795-889D-84301088FD61}" type="slidenum">
              <a:rPr lang="en-US" sz="1200"/>
            </a:fld>
            <a:endParaRPr lang="en-US" sz="1200" dirty="0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DA9D715D-68C0-423C-9C4A-A35A0613C40A}" type="slidenum">
              <a:rPr lang="en-US" sz="1200"/>
            </a:fld>
            <a:endParaRPr lang="en-US" sz="1200" dirty="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E44E9BE5-14EB-4B95-90A3-06E411B168C8}" type="slidenum">
              <a:rPr lang="en-US" sz="1200"/>
            </a:fld>
            <a:endParaRPr lang="en-US" sz="1200" dirty="0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Table 27.1a Major nutritional modes (part 1)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Table 27.1b Major nutritional modes (part 2)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C8D76431-DA39-4B10-B651-EE6D9A7538EC}" type="slidenum">
              <a:rPr lang="en-US" sz="1200"/>
            </a:fld>
            <a:endParaRPr lang="en-US" sz="1200" dirty="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FF44910B-340B-4DB2-A70B-4321BB31507D}" type="slidenum">
              <a:rPr lang="en-US" sz="1200"/>
            </a:fld>
            <a:endParaRPr lang="en-US" sz="1200" dirty="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002A53E7-4A81-4CEC-82E0-40CBA1DC8E7E}" type="slidenum">
              <a:rPr lang="en-US" sz="1200"/>
            </a:fld>
            <a:endParaRPr lang="en-US" sz="1200" dirty="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27.14 Metabolic cooperation in a prokaryote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9C63350D-D9DF-4591-87AA-54FDF04E70DD}" type="slidenum">
              <a:rPr lang="en-US" sz="1200"/>
            </a:fld>
            <a:endParaRPr lang="en-US" sz="1200" dirty="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63E21AA4-77D5-4E14-BEEF-31C78FE208A7}" type="slidenum">
              <a:rPr lang="en-US" sz="1200"/>
            </a:fld>
            <a:endParaRPr lang="en-US" sz="1200" dirty="0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DD3B49EB-6EE2-4B68-8E59-7EC0E5FC3DEF}" type="slidenum">
              <a:rPr lang="en-US" sz="1200"/>
            </a:fld>
            <a:endParaRPr lang="en-US" sz="1200" dirty="0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27.15 A simplified phylogeny of prokaryotes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A4896C4A-E977-4BF1-86F4-F0448349B1AA}" type="slidenum">
              <a:rPr lang="en-US" sz="1200"/>
            </a:fld>
            <a:endParaRPr lang="en-US" sz="1200" dirty="0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E05F2605-69D7-4437-82C7-A3BD77BD1539}" type="slidenum">
              <a:rPr lang="en-US" sz="1200"/>
            </a:fld>
            <a:endParaRPr lang="en-US" sz="1200" dirty="0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solidFill>
                <a:srgbClr val="FF7D26"/>
              </a:solidFill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>
                <a:latin typeface="Arial" panose="020B0604020202020204"/>
              </a:rPr>
              <a:t>Figure 27.UN01 In-text figure, bacteria mini-tree, p. 635</a:t>
            </a:r>
            <a:endParaRPr lang="it-IT" dirty="0" smtClean="0">
              <a:latin typeface="Arial" panose="020B0604020202020204"/>
            </a:endParaRPr>
          </a:p>
          <a:p>
            <a:endParaRPr lang="en-US" dirty="0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54BCF3C7-EE2D-4EE2-AAE5-4EB24203B4E6}" type="slidenum">
              <a:rPr lang="en-US" sz="1200">
                <a:solidFill>
                  <a:prstClr val="black"/>
                </a:solidFill>
              </a:rPr>
            </a:fld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27.16aa Exploring selected major groups of bacteria (part 1a: proteobacteria tree)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27.16a Exploring selected major groups of bacteria (part 1)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4CF59215-C770-4625-8E9F-0E2EF7770A84}" type="slidenum">
              <a:rPr lang="en-US" sz="1200"/>
            </a:fld>
            <a:endParaRPr lang="en-US" sz="1200" dirty="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27.16ba Exploring selected major groups of bacteria (part 2a: chlamydias)</a:t>
            </a:r>
            <a:endParaRPr lang="en-US" smtClean="0">
              <a:latin typeface="Arial" panose="020B0604020202020204"/>
            </a:endParaRPr>
          </a:p>
          <a:p>
            <a:endParaRPr lang="en-US" dirty="0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ED43B266-246E-4CD3-9C7D-0DF34EA44284}" type="slidenum">
              <a:rPr lang="en-US" sz="1200"/>
            </a:fld>
            <a:endParaRPr lang="en-US" sz="1200" dirty="0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27.16bb Exploring selected major groups of bacteria (part 2b: spirochetes)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40AA4EB8-B45E-4F01-917C-74E073E2D7B9}" type="slidenum">
              <a:rPr lang="en-US" sz="1200"/>
            </a:fld>
            <a:endParaRPr lang="en-US" sz="1200" dirty="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27.16bc Exploring selected major groups of bacteria (part 2c: cyanobacteria)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C65741C6-ACE0-48B4-B25C-E9086278211C}" type="slidenum">
              <a:rPr lang="en-US" sz="1200"/>
            </a:fld>
            <a:endParaRPr lang="en-US" sz="1200" dirty="0"/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/>
              </a:rPr>
              <a:t>Figure 27.16bd Exploring selected major groups of bacteria (part 2d: Gram-positive, </a:t>
            </a:r>
            <a:r>
              <a:rPr lang="en-US" i="1" dirty="0" smtClean="0">
                <a:latin typeface="Arial" panose="020B0604020202020204"/>
              </a:rPr>
              <a:t>Streptomyces</a:t>
            </a:r>
            <a:r>
              <a:rPr lang="en-US" dirty="0" smtClean="0">
                <a:latin typeface="Arial" panose="020B0604020202020204"/>
              </a:rPr>
              <a:t>)</a:t>
            </a:r>
            <a:endParaRPr lang="en-US" dirty="0" smtClean="0">
              <a:latin typeface="Arial" panose="020B0604020202020204"/>
            </a:endParaRPr>
          </a:p>
          <a:p>
            <a:endParaRPr lang="en-US" dirty="0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27.16be Exploring selected major groups of bacteria (part 2e: Gram-positive, mycoplasmas)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9B6A6052-2FD9-41B8-A2D2-760E644881C2}" type="slidenum">
              <a:rPr lang="en-US" sz="1200"/>
            </a:fld>
            <a:endParaRPr lang="en-US" sz="1200" dirty="0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solidFill>
                <a:srgbClr val="FF7D26"/>
              </a:solidFill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>
                <a:latin typeface="Arial" panose="020B0604020202020204"/>
              </a:rPr>
              <a:t>Figure 27.UN02 In-text figure, Archaea mini-tree, p. 638</a:t>
            </a:r>
            <a:endParaRPr lang="it-IT" dirty="0" smtClean="0">
              <a:latin typeface="Arial" panose="020B0604020202020204"/>
            </a:endParaRPr>
          </a:p>
          <a:p>
            <a:endParaRPr lang="en-US" dirty="0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Table 27.2a A comparison of the three domains of life (part 1)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Table 27.2b A comparison of the three domains of life (part 2)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BB846080-564E-492C-99C6-590E6224FCD7}" type="slidenum">
              <a:rPr lang="en-US" sz="1200"/>
            </a:fld>
            <a:endParaRPr lang="en-US" sz="1200" dirty="0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FF05292C-645C-4916-B550-079EF0C30A74}" type="slidenum">
              <a:rPr lang="en-US" sz="1200"/>
            </a:fld>
            <a:endParaRPr lang="en-US" sz="1200" dirty="0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FF05292C-645C-4916-B550-079EF0C30A74}" type="slidenum">
              <a:rPr lang="en-US" sz="1200"/>
            </a:fld>
            <a:endParaRPr lang="en-US" sz="1200" dirty="0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423514D3-E0B4-4FE9-8106-E46EB517BD7D}" type="slidenum">
              <a:rPr lang="en-US" sz="1200"/>
            </a:fld>
            <a:endParaRPr lang="en-US" sz="1200" dirty="0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3672A021-062B-477B-882D-A30A74686A96}" type="slidenum">
              <a:rPr lang="en-US" sz="1200"/>
            </a:fld>
            <a:endParaRPr lang="en-US" sz="1200" dirty="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3672A021-062B-477B-882D-A30A74686A96}" type="slidenum">
              <a:rPr lang="en-US" sz="1200"/>
            </a:fld>
            <a:endParaRPr lang="en-US" sz="1200" dirty="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1CC782B0-68DB-4278-9D53-3D8AE10E3DBB}" type="slidenum">
              <a:rPr lang="en-US" sz="1200"/>
            </a:fld>
            <a:endParaRPr lang="en-US" sz="1200" dirty="0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293368E9-3D65-4258-B832-3798C2CE4647}" type="slidenum">
              <a:rPr lang="en-US" sz="1200"/>
            </a:fld>
            <a:endParaRPr lang="en-US" sz="1200" dirty="0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5C47E633-D7B6-448C-B483-2467AEA2D076}" type="slidenum">
              <a:rPr lang="en-US" sz="1200"/>
            </a:fld>
            <a:endParaRPr lang="en-US" sz="1200" dirty="0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78BF42AC-CFB9-4E61-BB86-183EF37906DB}" type="slidenum">
              <a:rPr lang="en-US" sz="1200"/>
            </a:fld>
            <a:endParaRPr lang="en-US" sz="1200" dirty="0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D0A90D33-7D40-45CF-86AA-79A9AB68E8EB}" type="slidenum">
              <a:rPr lang="en-US" sz="1200"/>
            </a:fld>
            <a:endParaRPr lang="en-US" sz="1200" dirty="0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2DC0C6B9-B606-44AB-B8E5-A5A8C405C855}" type="slidenum">
              <a:rPr lang="en-US" sz="1200"/>
            </a:fld>
            <a:endParaRPr lang="en-US" sz="1200" dirty="0"/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15C66F13-0081-4709-B324-B7EF3EA32137}" type="slidenum">
              <a:rPr lang="en-US" sz="1200"/>
            </a:fld>
            <a:endParaRPr lang="en-US" sz="1200" dirty="0"/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27.20 Lyme disease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C2333F52-63AF-4A90-A33F-B9D713D705D4}" type="slidenum">
              <a:rPr lang="en-US" sz="1200"/>
            </a:fld>
            <a:endParaRPr lang="en-US" sz="1200" dirty="0"/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B21A1019-8603-4F73-92D0-5509594CCC33}" type="slidenum">
              <a:rPr lang="en-US" sz="1200"/>
            </a:fld>
            <a:endParaRPr lang="en-US" sz="1200" dirty="0"/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115BAA83-F7F7-4A66-8314-E2240CF56FF3}" type="slidenum">
              <a:rPr lang="en-US" sz="1200"/>
            </a:fld>
            <a:endParaRPr lang="en-US" sz="1200" dirty="0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27.21 CRISPR: Opening new avenues of research for treating HIV infection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81DFD002-31AC-48A4-AC0F-5D8CAA1925A4}" type="slidenum">
              <a:rPr lang="en-US" sz="1200"/>
            </a:fld>
            <a:endParaRPr lang="en-US" sz="1200" dirty="0"/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fld id="{C56AAE13-EF46-485E-8335-9FCB8601F30A}" type="slidenum">
              <a:rPr lang="en-US" sz="1200"/>
            </a:fld>
            <a:endParaRPr lang="en-US" sz="1200" dirty="0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eaLnBrk="1" hangingPunct="1"/>
            <a:endParaRPr lang="en-US" dirty="0" smtClean="0">
              <a:latin typeface="Times New Roman" panose="0202060305040502030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/>
              </a:rPr>
              <a:t>Figure 27.UN04 Summary of key concepts: prokaryote adaptations</a:t>
            </a:r>
            <a:endParaRPr lang="en-US" smtClean="0">
              <a:latin typeface="Arial" panose="020B0604020202020204"/>
            </a:endParaRPr>
          </a:p>
          <a:p>
            <a:endParaRPr lang="en-US">
              <a:latin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Slide">
    <p:bg>
      <p:bgPr>
        <a:solidFill>
          <a:srgbClr val="F2B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45588"/>
            <a:ext cx="4495800" cy="536998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27225" y="6019800"/>
            <a:ext cx="21643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400" dirty="0" smtClean="0"/>
              <a:t>Lecture</a:t>
            </a:r>
            <a:r>
              <a:rPr lang="en-US" sz="1400" baseline="0" dirty="0" smtClean="0"/>
              <a:t> Presentations by</a:t>
            </a:r>
            <a:br>
              <a:rPr lang="en-US" sz="1400" baseline="0" dirty="0" smtClean="0"/>
            </a:br>
            <a:r>
              <a:rPr lang="en-US" sz="1400" baseline="0" dirty="0" smtClean="0"/>
              <a:t>Nicole </a:t>
            </a:r>
            <a:r>
              <a:rPr lang="en-US" sz="1400" baseline="0" dirty="0" err="1" smtClean="0"/>
              <a:t>Tunbridge</a:t>
            </a:r>
            <a:r>
              <a:rPr lang="en-US" sz="1400" baseline="0" dirty="0" smtClean="0"/>
              <a:t> and</a:t>
            </a:r>
            <a:endParaRPr lang="en-US" sz="1400" dirty="0" smtClean="0"/>
          </a:p>
          <a:p>
            <a:pPr algn="r"/>
            <a:r>
              <a:rPr lang="en-US" sz="1400" baseline="0" dirty="0" smtClean="0"/>
              <a:t>Kathleen Fitzpatrick</a:t>
            </a:r>
            <a:endParaRPr lang="en-US" sz="1400" baseline="0" dirty="0" smtClean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0" y="649009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2018 Pearson Education Ltd.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4876800" y="645587"/>
            <a:ext cx="4114800" cy="5369983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4000" b="1" dirty="0" smtClean="0">
                <a:solidFill>
                  <a:srgbClr val="DF4A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27</a:t>
            </a:r>
            <a:br>
              <a:rPr lang="en-US" sz="3200" b="1" dirty="0" smtClean="0">
                <a:solidFill>
                  <a:srgbClr val="DF4A20"/>
                </a:solidFill>
              </a:rPr>
            </a:br>
            <a:br>
              <a:rPr lang="en-US" sz="3600" dirty="0" smtClean="0"/>
            </a:br>
            <a:r>
              <a:rPr lang="en-US" sz="4000" b="1" kern="1200" baseline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ヒラギノ角ゴ Pro W3" charset="-128"/>
                <a:cs typeface="+mn-cs"/>
              </a:rPr>
              <a:t>Prokaryotes</a:t>
            </a:r>
            <a:endParaRPr lang="en-US" sz="4000" b="1" kern="1200" baseline="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ヒラギノ角ゴ Pro W3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and 2 line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345" indent="-347345">
              <a:buClr>
                <a:srgbClr val="DF4A20"/>
              </a:buClr>
              <a:defRPr/>
            </a:lvl1pPr>
            <a:lvl2pPr marL="740410" indent="-283210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line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8839199" cy="4737496"/>
          </a:xfrm>
        </p:spPr>
        <p:txBody>
          <a:bodyPr/>
          <a:lstStyle>
            <a:lvl1pPr marL="347345" indent="-347345">
              <a:buClr>
                <a:srgbClr val="DF4A20"/>
              </a:buClr>
              <a:defRPr/>
            </a:lvl1pPr>
            <a:lvl2pPr marL="740410" indent="-283210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345" indent="-347345">
              <a:buClr>
                <a:srgbClr val="DF4A20"/>
              </a:buClr>
              <a:defRPr/>
            </a:lvl1pPr>
            <a:lvl2pPr marL="740410" indent="-283210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5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6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7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8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9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0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1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2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3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24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5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6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7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8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9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30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31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32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33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34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35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6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7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8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9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40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41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42.xml"/></Relationships>
</file>

<file path=ppt/slideMasters/_rels/slideMaster37.xml.rels><?xml version="1.0" encoding="UTF-8" standalone="yes"?>
<Relationships xmlns="http://schemas.openxmlformats.org/package/2006/relationships"><Relationship Id="rId2" Type="http://schemas.openxmlformats.org/officeDocument/2006/relationships/theme" Target="../theme/theme37.xml"/><Relationship Id="rId1" Type="http://schemas.openxmlformats.org/officeDocument/2006/relationships/slideLayout" Target="../slideLayouts/slideLayout43.xml"/></Relationships>
</file>

<file path=ppt/slideMasters/_rels/slideMaster38.xml.rels><?xml version="1.0" encoding="UTF-8" standalone="yes"?>
<Relationships xmlns="http://schemas.openxmlformats.org/package/2006/relationships"><Relationship Id="rId2" Type="http://schemas.openxmlformats.org/officeDocument/2006/relationships/theme" Target="../theme/theme38.xml"/><Relationship Id="rId1" Type="http://schemas.openxmlformats.org/officeDocument/2006/relationships/slideLayout" Target="../slideLayouts/slideLayout44.xml"/></Relationships>
</file>

<file path=ppt/slideMasters/_rels/slideMaster39.xml.rels><?xml version="1.0" encoding="UTF-8" standalone="yes"?>
<Relationships xmlns="http://schemas.openxmlformats.org/package/2006/relationships"><Relationship Id="rId2" Type="http://schemas.openxmlformats.org/officeDocument/2006/relationships/theme" Target="../theme/theme39.xml"/><Relationship Id="rId1" Type="http://schemas.openxmlformats.org/officeDocument/2006/relationships/slideLayout" Target="../slideLayouts/slideLayout45.xml"/></Relationships>
</file>

<file path=ppt/slideMasters/_rels/slideMaster40.xml.rels><?xml version="1.0" encoding="UTF-8" standalone="yes"?>
<Relationships xmlns="http://schemas.openxmlformats.org/package/2006/relationships"><Relationship Id="rId2" Type="http://schemas.openxmlformats.org/officeDocument/2006/relationships/theme" Target="../theme/theme40.xml"/><Relationship Id="rId1" Type="http://schemas.openxmlformats.org/officeDocument/2006/relationships/slideLayout" Target="../slideLayouts/slideLayout46.xml"/></Relationships>
</file>

<file path=ppt/slideMasters/_rels/slideMaster4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1.xml"/><Relationship Id="rId1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272910"/>
            <a:ext cx="8839199" cy="521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37160" bIns="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26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228600" bIns="91440" numCol="1" anchor="t" anchorCtr="0" compatLnSpc="1">
            <a:sp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iming>
    <p:tnLst>
      <p:par>
        <p:cTn id="1" dur="indefinite" restart="never" nodeType="tmRoot"/>
      </p:par>
    </p:tnLst>
  </p:timing>
  <p:hf sldNum="0" hdr="0" dt="0"/>
  <p:txStyles>
    <p:titleStyle>
      <a:lvl1pPr marL="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/>
          <a:ea typeface="Arial" panose="020B0604020202020204" pitchFamily="34" charset="0"/>
          <a:cs typeface="Arial" panose="020B0604020202020204"/>
        </a:defRPr>
      </a:lvl1pPr>
      <a:lvl2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panose="02020603050405020304" charset="0"/>
          <a:ea typeface="Geneva" charset="0"/>
          <a:cs typeface="Arial" panose="020B0604020202020204" pitchFamily="34" charset="0"/>
        </a:defRPr>
      </a:lvl2pPr>
      <a:lvl3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panose="02020603050405020304" charset="0"/>
          <a:ea typeface="Geneva" charset="0"/>
          <a:cs typeface="Arial" panose="020B0604020202020204" pitchFamily="34" charset="0"/>
        </a:defRPr>
      </a:lvl3pPr>
      <a:lvl4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panose="02020603050405020304" charset="0"/>
          <a:ea typeface="Geneva" charset="0"/>
          <a:cs typeface="Arial" panose="020B0604020202020204" pitchFamily="34" charset="0"/>
        </a:defRPr>
      </a:lvl4pPr>
      <a:lvl5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panose="02020603050405020304" charset="0"/>
          <a:ea typeface="Geneva" charset="0"/>
          <a:cs typeface="Arial" panose="020B0604020202020204" pitchFamily="34" charset="0"/>
        </a:defRPr>
      </a:lvl5pPr>
      <a:lvl6pPr marL="9080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panose="02020603050405020304" charset="0"/>
          <a:ea typeface="Arial" panose="020B0604020202020204" pitchFamily="34" charset="0"/>
          <a:cs typeface="Arial" panose="020B0604020202020204" pitchFamily="34" charset="0"/>
        </a:defRPr>
      </a:lvl6pPr>
      <a:lvl7pPr marL="13652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panose="02020603050405020304" charset="0"/>
          <a:ea typeface="Arial" panose="020B0604020202020204" pitchFamily="34" charset="0"/>
          <a:cs typeface="Arial" panose="020B0604020202020204" pitchFamily="34" charset="0"/>
        </a:defRPr>
      </a:lvl7pPr>
      <a:lvl8pPr marL="18224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panose="02020603050405020304" charset="0"/>
          <a:ea typeface="Arial" panose="020B0604020202020204" pitchFamily="34" charset="0"/>
          <a:cs typeface="Arial" panose="020B0604020202020204" pitchFamily="34" charset="0"/>
        </a:defRPr>
      </a:lvl8pPr>
      <a:lvl9pPr marL="22796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panose="02020603050405020304" charset="0"/>
          <a:ea typeface="Arial" panose="020B0604020202020204" pitchFamily="34" charset="0"/>
          <a:cs typeface="Arial" panose="020B0604020202020204" pitchFamily="34" charset="0"/>
        </a:defRPr>
      </a:lvl9pPr>
    </p:titleStyle>
    <p:bodyStyle>
      <a:lvl1pPr marL="347345" indent="-347345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marL="740410" indent="-28321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panose="05000000000000000000" pitchFamily="2" charset="2"/>
        <a:buChar char="§"/>
        <a:defRPr sz="26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3316605" indent="-347980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3773805" indent="-347980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4231005" indent="-347980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4688205" indent="-347980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© 2014 Pearson Education, Inc.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© </a:t>
            </a:r>
            <a:r>
              <a:rPr lang="en-US" sz="900" dirty="0" smtClean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charset="-128"/>
              </a:rPr>
              <a:t>2018 Pearson Education Ltd.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MS PGothic" panose="020B0600070205080204" charset="-128"/>
          <a:cs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0.xml"/><Relationship Id="rId2" Type="http://schemas.openxmlformats.org/officeDocument/2006/relationships/image" Target="file:///C:\Documents%20and%20Settings\rajesh.ACEPRO\Desktop\21-OCt\Unlabeled\27_02_ProkaryoteShapes-U.jpg" TargetMode="Externa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1.xml"/><Relationship Id="rId2" Type="http://schemas.openxmlformats.org/officeDocument/2006/relationships/image" Target="file:///C:\Documents%20and%20Settings\rajesh.ACEPRO\Desktop\21-OCt\Unlabeled\27_03aGramStaining-U.jpg" TargetMode="Externa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file:///C:\Documents%20and%20Settings\rajesh.ACEPRO\Desktop\21-OCt\Unlabeled\27_03bGramStaining-U.jpg" TargetMode="Externa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3.xml"/><Relationship Id="rId2" Type="http://schemas.openxmlformats.org/officeDocument/2006/relationships/image" Target="file:///C:\Documents%20and%20Settings\rajesh.ACEPRO\Desktop\21-OCt\Unlabeled\27_03cGramStaining-U.jpg" TargetMode="Externa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4.xml"/><Relationship Id="rId2" Type="http://schemas.openxmlformats.org/officeDocument/2006/relationships/image" Target="file:///C:\Documents%20and%20Settings\rajesh.ACEPRO\Desktop\21-OCt\Unlabeled\27_04BacterialCapsule-U.jpg" TargetMode="Externa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5.xml"/><Relationship Id="rId2" Type="http://schemas.openxmlformats.org/officeDocument/2006/relationships/image" Target="file:///C:\Documents%20and%20Settings\rajesh.ACEPRO\Desktop\21-OCt\Unlabeled\27_05BacterialEndospore-U.jpg" TargetMode="Externa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6.xml"/><Relationship Id="rId2" Type="http://schemas.openxmlformats.org/officeDocument/2006/relationships/image" Target="file:///C:\Documents%20and%20Settings\rajesh.ACEPRO\Desktop\21-OCt\Unlabeled\27_06ProkaryoticFimbriae-U.jpg" TargetMode="External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7.xml"/><Relationship Id="rId2" Type="http://schemas.openxmlformats.org/officeDocument/2006/relationships/image" Target="file:///C:\Documents%20and%20Settings\rajesh.ACEPRO\Desktop\21-OCt\Unlabeled\27_07_ProkFlagellum-U.jpg" TargetMode="External"/><Relationship Id="rId1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8.xml"/><Relationship Id="rId2" Type="http://schemas.openxmlformats.org/officeDocument/2006/relationships/image" Target="file:///C:\Documents%20and%20Settings\rajesh.ACEPRO\Desktop\21-OCt\Unlabeled\27_08_SpecProkMembranes-U.jpg" TargetMode="External"/><Relationship Id="rId1" Type="http://schemas.openxmlformats.org/officeDocument/2006/relationships/image" Target="../media/image12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9.xml"/><Relationship Id="rId2" Type="http://schemas.openxmlformats.org/officeDocument/2006/relationships/image" Target="file:///C:\Documents%20and%20Settings\rajesh.ACEPRO\Desktop\21-OCt\Unlabeled\27_09ProkChromoPlasmids-U.jpg" TargetMode="External"/><Relationship Id="rId1" Type="http://schemas.openxmlformats.org/officeDocument/2006/relationships/image" Target="../media/image13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0.xml"/><Relationship Id="rId2" Type="http://schemas.openxmlformats.org/officeDocument/2006/relationships/image" Target="file:///C:\Documents%20and%20Settings\rajesh.ACEPRO\Desktop\21-OCt\Unlabeled\27_11Transduction_5-U.jpg" TargetMode="External"/><Relationship Id="rId1" Type="http://schemas.openxmlformats.org/officeDocument/2006/relationships/image" Target="../media/image14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1.xml"/><Relationship Id="rId2" Type="http://schemas.openxmlformats.org/officeDocument/2006/relationships/image" Target="file:///C:\Documents%20and%20Settings\rajesh.ACEPRO\Desktop\21-OCt\Unlabeled\27_12BactConjugation-U.jpg" TargetMode="External"/><Relationship Id="rId1" Type="http://schemas.openxmlformats.org/officeDocument/2006/relationships/image" Target="../media/image15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22.xml"/><Relationship Id="rId2" Type="http://schemas.openxmlformats.org/officeDocument/2006/relationships/image" Target="file:///C:\Documents%20and%20Settings\rajesh.ACEPRO\Desktop\21-OCt\Unlabeled\27_13aBactConjRecomb_1-U.jpg" TargetMode="External"/><Relationship Id="rId1" Type="http://schemas.openxmlformats.org/officeDocument/2006/relationships/image" Target="../media/image16.jpe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23.xml"/><Relationship Id="rId2" Type="http://schemas.openxmlformats.org/officeDocument/2006/relationships/image" Target="file:///C:\Documents%20and%20Settings\rajesh.ACEPRO\Desktop\21-OCt\Unlabeled\27_13aBactConjRecomb_2-U.jpg" TargetMode="External"/><Relationship Id="rId1" Type="http://schemas.openxmlformats.org/officeDocument/2006/relationships/image" Target="../media/image17.jpe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4.xml"/><Relationship Id="rId2" Type="http://schemas.openxmlformats.org/officeDocument/2006/relationships/image" Target="file:///C:\Documents%20and%20Settings\rajesh.ACEPRO\Desktop\21-OCt\Unlabeled\27_13aBactConjRecomb_3-U.jpg" TargetMode="External"/><Relationship Id="rId1" Type="http://schemas.openxmlformats.org/officeDocument/2006/relationships/image" Target="../media/image18.jpe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25.xml"/><Relationship Id="rId2" Type="http://schemas.openxmlformats.org/officeDocument/2006/relationships/image" Target="file:///C:\Documents%20and%20Settings\rajesh.ACEPRO\Desktop\21-OCt\Unlabeled\27_13aBactConjRecomb_4-U.jpg" TargetMode="External"/><Relationship Id="rId1" Type="http://schemas.openxmlformats.org/officeDocument/2006/relationships/image" Target="../media/image1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26.xml"/><Relationship Id="rId2" Type="http://schemas.openxmlformats.org/officeDocument/2006/relationships/image" Target="file:///C:\Documents%20and%20Settings\rajesh.ACEPRO\Desktop\21-OCt\Unlabeled\27_13bBactConjRecomb_1-U.jpg" TargetMode="External"/><Relationship Id="rId1" Type="http://schemas.openxmlformats.org/officeDocument/2006/relationships/image" Target="../media/image20.jpe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27.xml"/><Relationship Id="rId2" Type="http://schemas.openxmlformats.org/officeDocument/2006/relationships/image" Target="file:///C:\Documents%20and%20Settings\rajesh.ACEPRO\Desktop\21-OCt\Unlabeled\27_13bBactConjRecomb_2-U.jpg" TargetMode="External"/><Relationship Id="rId1" Type="http://schemas.openxmlformats.org/officeDocument/2006/relationships/image" Target="../media/image21.jpe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28.xml"/><Relationship Id="rId2" Type="http://schemas.openxmlformats.org/officeDocument/2006/relationships/image" Target="file:///C:\Documents%20and%20Settings\rajesh.ACEPRO\Desktop\21-OCt\Unlabeled\27_13bBactConjRecomb_3-U.jpg" TargetMode="External"/><Relationship Id="rId1" Type="http://schemas.openxmlformats.org/officeDocument/2006/relationships/image" Target="../media/image22.jpe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29.xml"/><Relationship Id="rId2" Type="http://schemas.openxmlformats.org/officeDocument/2006/relationships/image" Target="file:///C:\Documents%20and%20Settings\rajesh.ACEPRO\Desktop\21-OCt\Unlabeled\27_13bBactConjRecomb_4-U.jpg" TargetMode="External"/><Relationship Id="rId1" Type="http://schemas.openxmlformats.org/officeDocument/2006/relationships/image" Target="../media/image23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30.xml"/><Relationship Id="rId2" Type="http://schemas.openxmlformats.org/officeDocument/2006/relationships/image" Target="file:///C:\Documents%20and%20Settings\rajesh.ACEPRO\Desktop\21-OCt\Unlabeled\27_T01aNutritionalModes-U.jpg" TargetMode="External"/><Relationship Id="rId1" Type="http://schemas.openxmlformats.org/officeDocument/2006/relationships/image" Target="../media/image24.jpe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31.xml"/><Relationship Id="rId2" Type="http://schemas.openxmlformats.org/officeDocument/2006/relationships/image" Target="file:///C:\Documents%20and%20Settings\rajesh.ACEPRO\Desktop\21-OCt\Unlabeled\27_T01bNutritionalModes-U.jpg" TargetMode="External"/><Relationship Id="rId1" Type="http://schemas.openxmlformats.org/officeDocument/2006/relationships/image" Target="../media/image25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32.xml"/><Relationship Id="rId2" Type="http://schemas.openxmlformats.org/officeDocument/2006/relationships/image" Target="file:///C:\Documents%20and%20Settings\rajesh.ACEPRO\Desktop\21-OCt\Unlabeled\27_14ProkMetabolicCoop-U.jpg" TargetMode="External"/><Relationship Id="rId1" Type="http://schemas.openxmlformats.org/officeDocument/2006/relationships/image" Target="../media/image26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33.xml"/><Relationship Id="rId2" Type="http://schemas.openxmlformats.org/officeDocument/2006/relationships/image" Target="file:///C:\Documents%20and%20Settings\rajesh.ACEPRO\Desktop\21-OCt\Unlabeled\27_15ProkaryotePhylogeny-U.jpg" TargetMode="External"/><Relationship Id="rId1" Type="http://schemas.openxmlformats.org/officeDocument/2006/relationships/image" Target="../media/image27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1.xml"/><Relationship Id="rId3" Type="http://schemas.openxmlformats.org/officeDocument/2006/relationships/slideLayout" Target="../slideLayouts/slideLayout34.xml"/><Relationship Id="rId2" Type="http://schemas.openxmlformats.org/officeDocument/2006/relationships/image" Target="file:///C:\Documents%20and%20Settings\rajesh.ACEPRO\Desktop\21-OCt\Unlabeled\27_UN01BacteriaTree-U.jpg" TargetMode="External"/><Relationship Id="rId1" Type="http://schemas.openxmlformats.org/officeDocument/2006/relationships/image" Target="../media/image28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3.xml"/><Relationship Id="rId3" Type="http://schemas.openxmlformats.org/officeDocument/2006/relationships/slideLayout" Target="../slideLayouts/slideLayout36.xml"/><Relationship Id="rId2" Type="http://schemas.openxmlformats.org/officeDocument/2006/relationships/image" Target="file:///C:\Documents%20and%20Settings\rajesh.ACEPRO\Desktop\21-OCt\Unlabeled\27_16aaBactMajorGroups-U.jpg" TargetMode="External"/><Relationship Id="rId1" Type="http://schemas.openxmlformats.org/officeDocument/2006/relationships/image" Target="../media/image29.jpe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4.xml"/><Relationship Id="rId3" Type="http://schemas.openxmlformats.org/officeDocument/2006/relationships/slideLayout" Target="../slideLayouts/slideLayout35.xml"/><Relationship Id="rId2" Type="http://schemas.openxmlformats.org/officeDocument/2006/relationships/image" Target="file:///C:\Documents%20and%20Settings\rajesh.ACEPRO\Desktop\21-OCt\Unlabeled\27_16a_BactMajorGroups-U.jpg" TargetMode="External"/><Relationship Id="rId1" Type="http://schemas.openxmlformats.org/officeDocument/2006/relationships/image" Target="../media/image30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6.xml"/><Relationship Id="rId3" Type="http://schemas.openxmlformats.org/officeDocument/2006/relationships/slideLayout" Target="../slideLayouts/slideLayout37.xml"/><Relationship Id="rId2" Type="http://schemas.openxmlformats.org/officeDocument/2006/relationships/image" Target="file:///C:\Documents%20and%20Settings\rajesh.ACEPRO\Desktop\21-OCt\Unlabeled\27_16baBactMajorGroups-U.jpg" TargetMode="External"/><Relationship Id="rId1" Type="http://schemas.openxmlformats.org/officeDocument/2006/relationships/image" Target="../media/image31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8.xml"/><Relationship Id="rId3" Type="http://schemas.openxmlformats.org/officeDocument/2006/relationships/slideLayout" Target="../slideLayouts/slideLayout38.xml"/><Relationship Id="rId2" Type="http://schemas.openxmlformats.org/officeDocument/2006/relationships/image" Target="file:///C:\Documents%20and%20Settings\rajesh.ACEPRO\Desktop\21-OCt\Unlabeled\27_16bbBactMajorGroups-U.jpg" TargetMode="External"/><Relationship Id="rId1" Type="http://schemas.openxmlformats.org/officeDocument/2006/relationships/image" Target="../media/image32.jpe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0.xml"/><Relationship Id="rId3" Type="http://schemas.openxmlformats.org/officeDocument/2006/relationships/slideLayout" Target="../slideLayouts/slideLayout39.xml"/><Relationship Id="rId2" Type="http://schemas.openxmlformats.org/officeDocument/2006/relationships/image" Target="file:///C:\Documents%20and%20Settings\rajesh.ACEPRO\Desktop\21-OCt\Unlabeled\27_16bcBactMajorGroups-U.jpg" TargetMode="External"/><Relationship Id="rId1" Type="http://schemas.openxmlformats.org/officeDocument/2006/relationships/image" Target="../media/image33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2.xml"/><Relationship Id="rId3" Type="http://schemas.openxmlformats.org/officeDocument/2006/relationships/slideLayout" Target="../slideLayouts/slideLayout40.xml"/><Relationship Id="rId2" Type="http://schemas.openxmlformats.org/officeDocument/2006/relationships/image" Target="file:///C:\Documents%20and%20Settings\rajesh.ACEPRO\Desktop\21-OCt\Unlabeled\27_16bdBactMajorGroups-U.jpg" TargetMode="External"/><Relationship Id="rId1" Type="http://schemas.openxmlformats.org/officeDocument/2006/relationships/image" Target="../media/image34.jpe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3.xml"/><Relationship Id="rId3" Type="http://schemas.openxmlformats.org/officeDocument/2006/relationships/slideLayout" Target="../slideLayouts/slideLayout41.xml"/><Relationship Id="rId2" Type="http://schemas.openxmlformats.org/officeDocument/2006/relationships/image" Target="file:///C:\Documents%20and%20Settings\rajesh.ACEPRO\Desktop\21-OCt\Unlabeled\27_16beBactMajorGroups-U.jpg" TargetMode="External"/><Relationship Id="rId1" Type="http://schemas.openxmlformats.org/officeDocument/2006/relationships/image" Target="../media/image35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5.xml"/><Relationship Id="rId3" Type="http://schemas.openxmlformats.org/officeDocument/2006/relationships/slideLayout" Target="../slideLayouts/slideLayout42.xml"/><Relationship Id="rId2" Type="http://schemas.openxmlformats.org/officeDocument/2006/relationships/image" Target="file:///C:\Documents%20and%20Settings\rajesh.ACEPRO\Desktop\21-OCt\Unlabeled\27_UN02ArchaeaTree-U.jpg" TargetMode="External"/><Relationship Id="rId1" Type="http://schemas.openxmlformats.org/officeDocument/2006/relationships/image" Target="../media/image36.jpeg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6.xml"/><Relationship Id="rId3" Type="http://schemas.openxmlformats.org/officeDocument/2006/relationships/slideLayout" Target="../slideLayouts/slideLayout43.xml"/><Relationship Id="rId2" Type="http://schemas.openxmlformats.org/officeDocument/2006/relationships/image" Target="file:///C:\Documents%20and%20Settings\rajesh.ACEPRO\Desktop\21-OCt\Unlabeled\27_T02aDomainComparison-U.jpg" TargetMode="External"/><Relationship Id="rId1" Type="http://schemas.openxmlformats.org/officeDocument/2006/relationships/image" Target="../media/image37.jpeg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7.xml"/><Relationship Id="rId3" Type="http://schemas.openxmlformats.org/officeDocument/2006/relationships/slideLayout" Target="../slideLayouts/slideLayout44.xml"/><Relationship Id="rId2" Type="http://schemas.openxmlformats.org/officeDocument/2006/relationships/image" Target="file:///C:\Documents%20and%20Settings\rajesh.ACEPRO\Desktop\21-OCt\Unlabeled\27_T02bDomainComparison-U.jpg" TargetMode="External"/><Relationship Id="rId1" Type="http://schemas.openxmlformats.org/officeDocument/2006/relationships/image" Target="../media/image38.jpe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9.jpe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1.xml"/><Relationship Id="rId3" Type="http://schemas.openxmlformats.org/officeDocument/2006/relationships/slideLayout" Target="../slideLayouts/slideLayout45.xml"/><Relationship Id="rId2" Type="http://schemas.openxmlformats.org/officeDocument/2006/relationships/image" Target="file:///C:\Documents%20and%20Settings\rajesh.ACEPRO\Desktop\21-OCt\Unlabeled\27_20_LymeDisease-U.jpg" TargetMode="External"/><Relationship Id="rId1" Type="http://schemas.openxmlformats.org/officeDocument/2006/relationships/image" Target="../media/image40.jpe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5.xml"/><Relationship Id="rId3" Type="http://schemas.openxmlformats.org/officeDocument/2006/relationships/slideLayout" Target="../slideLayouts/slideLayout46.xml"/><Relationship Id="rId2" Type="http://schemas.openxmlformats.org/officeDocument/2006/relationships/image" Target="file:///C:\Documents%20and%20Settings\rajesh.ACEPRO\Desktop\21-OCt\Unlabeled\27_21_HIVResearchCRISPR-U.jpg" TargetMode="External"/><Relationship Id="rId1" Type="http://schemas.openxmlformats.org/officeDocument/2006/relationships/image" Target="../media/image41.jpe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2.jpe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3.jpeg"/></Relationships>
</file>

<file path=ppt/slides/_rels/slide9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8.xml"/><Relationship Id="rId3" Type="http://schemas.openxmlformats.org/officeDocument/2006/relationships/slideLayout" Target="../slideLayouts/slideLayout47.xml"/><Relationship Id="rId2" Type="http://schemas.openxmlformats.org/officeDocument/2006/relationships/image" Target="file:///C:\Documents%20and%20Settings\rajesh.ACEPRO\Desktop\21-OCt\Unlabeled\27_UN04Summary_C1-U.jpg" TargetMode="External"/><Relationship Id="rId1" Type="http://schemas.openxmlformats.org/officeDocument/2006/relationships/image" Target="../media/image4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</p:spPr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Masters of Adaptation</a:t>
            </a:r>
            <a:endParaRPr lang="en-US" dirty="0" smtClean="0"/>
          </a:p>
        </p:txBody>
      </p:sp>
      <p:sp>
        <p:nvSpPr>
          <p:cNvPr id="16385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waters of Laguna Salada de Torrevieja in Spain are many times saltier than seawater</a:t>
            </a:r>
            <a:endParaRPr lang="en-US" altLang="ja-JP" smtClean="0"/>
          </a:p>
          <a:p>
            <a:r>
              <a:rPr lang="en-US" smtClean="0"/>
              <a:t>At certain times of the year, the water appears pink</a:t>
            </a:r>
            <a:endParaRPr lang="en-US" smtClean="0"/>
          </a:p>
          <a:p>
            <a:r>
              <a:rPr lang="en-US" smtClean="0"/>
              <a:t>The color comes from trillions of living prokaryotes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93" y="1600200"/>
            <a:ext cx="8546592" cy="496214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319" y="-10275"/>
            <a:ext cx="3200400" cy="340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11"/>
          <p:cNvSpPr txBox="1">
            <a:spLocks noChangeArrowheads="1"/>
          </p:cNvSpPr>
          <p:nvPr/>
        </p:nvSpPr>
        <p:spPr bwMode="auto">
          <a:xfrm>
            <a:off x="6300614" y="2819400"/>
            <a:ext cx="233397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Archaea</a:t>
            </a: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in the genus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i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Halobacterium</a:t>
            </a:r>
            <a:endParaRPr lang="en-US" sz="1800" b="1" i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2400" y="380999"/>
            <a:ext cx="5656026" cy="83099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/>
              </a:rPr>
              <a:t>Figure </a:t>
            </a:r>
            <a:r>
              <a:rPr lang="en-US" b="1" dirty="0" smtClean="0">
                <a:latin typeface="Arial" panose="020B0604020202020204"/>
              </a:rPr>
              <a:t>27.1:  </a:t>
            </a:r>
            <a:r>
              <a:rPr lang="en-US" b="1" dirty="0">
                <a:latin typeface="Arial" panose="020B0604020202020204"/>
              </a:rPr>
              <a:t>Why is this lake’s water pink?</a:t>
            </a:r>
            <a:endParaRPr lang="en-US" b="1" dirty="0">
              <a:latin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Prokaryotes thrive almost everywhere, including places too acidic, salty, cold, or hot for most other organisms</a:t>
            </a:r>
            <a:endParaRPr lang="en-US" smtClean="0"/>
          </a:p>
          <a:p>
            <a:r>
              <a:rPr lang="en-US" smtClean="0"/>
              <a:t>Due to their ability to adapt to diverse habitats, prokaryotes are the most abundant organisms on Earth</a:t>
            </a:r>
            <a:endParaRPr lang="en-US" smtClean="0"/>
          </a:p>
          <a:p>
            <a:r>
              <a:rPr lang="en-US" smtClean="0"/>
              <a:t>Prokaryotes are divided into two domains: bacteria and archaea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smtClean="0"/>
              <a:t>Concept 27.1: Structural and functional adaptations contribute to prokaryotic success</a:t>
            </a:r>
            <a:endParaRPr lang="en-US" dirty="0" smtClean="0"/>
          </a:p>
        </p:txBody>
      </p:sp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Prokaryotes were the first organisms to inhabit the Earth</a:t>
            </a:r>
            <a:endParaRPr lang="en-US" altLang="ja-JP" dirty="0" smtClean="0"/>
          </a:p>
          <a:p>
            <a:r>
              <a:rPr lang="en-US" dirty="0" smtClean="0"/>
              <a:t>Most are unicellular, although some species form colonies</a:t>
            </a:r>
            <a:endParaRPr lang="en-US" dirty="0" smtClean="0"/>
          </a:p>
          <a:p>
            <a:r>
              <a:rPr lang="en-US" dirty="0" smtClean="0"/>
              <a:t>Most prokaryotic cells are 0.5–5 </a:t>
            </a:r>
            <a:r>
              <a:rPr lang="en-US" dirty="0" smtClean="0">
                <a:latin typeface="+mj-lt"/>
              </a:rPr>
              <a:t>µ</a:t>
            </a:r>
            <a:r>
              <a:rPr lang="en-US" dirty="0" smtClean="0"/>
              <a:t>m, much smaller than the 10–100 </a:t>
            </a:r>
            <a:r>
              <a:rPr lang="en-US" dirty="0" smtClean="0">
                <a:latin typeface="+mj-lt"/>
              </a:rPr>
              <a:t>µ</a:t>
            </a:r>
            <a:r>
              <a:rPr lang="en-US" dirty="0" smtClean="0"/>
              <a:t>m of many eukaryotic cells</a:t>
            </a:r>
            <a:endParaRPr lang="en-US" dirty="0" smtClean="0"/>
          </a:p>
          <a:p>
            <a:r>
              <a:rPr lang="en-US" dirty="0" smtClean="0"/>
              <a:t>Prokaryotic cells have a variety of shapes</a:t>
            </a:r>
            <a:endParaRPr lang="en-US" dirty="0" smtClean="0"/>
          </a:p>
          <a:p>
            <a:r>
              <a:rPr lang="en-US" dirty="0" smtClean="0"/>
              <a:t>The three most common shapes are spheres (cocci), rods (bacilli), and spirals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96"/>
          <a:stretch>
            <a:fillRect/>
          </a:stretch>
        </p:blipFill>
        <p:spPr>
          <a:xfrm>
            <a:off x="1310640" y="780288"/>
            <a:ext cx="6522720" cy="529742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27.2</a:t>
            </a:r>
            <a:endParaRPr lang="en-US"/>
          </a:p>
        </p:txBody>
      </p:sp>
      <p:sp>
        <p:nvSpPr>
          <p:cNvPr id="6" name="TextBox 13"/>
          <p:cNvSpPr txBox="1">
            <a:spLocks noChangeArrowheads="1"/>
          </p:cNvSpPr>
          <p:nvPr/>
        </p:nvSpPr>
        <p:spPr bwMode="auto">
          <a:xfrm>
            <a:off x="1340890" y="5791864"/>
            <a:ext cx="138499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(a) Spherical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15"/>
          <p:cNvSpPr txBox="1">
            <a:spLocks noChangeArrowheads="1"/>
          </p:cNvSpPr>
          <p:nvPr/>
        </p:nvSpPr>
        <p:spPr bwMode="auto">
          <a:xfrm>
            <a:off x="3569740" y="5791864"/>
            <a:ext cx="169277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(b) Rod-shaped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16"/>
          <p:cNvSpPr txBox="1">
            <a:spLocks noChangeArrowheads="1"/>
          </p:cNvSpPr>
          <p:nvPr/>
        </p:nvSpPr>
        <p:spPr bwMode="auto">
          <a:xfrm>
            <a:off x="5838277" y="5791864"/>
            <a:ext cx="98745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(c) Spiral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9" name="TextBox 13"/>
          <p:cNvSpPr txBox="1">
            <a:spLocks noChangeArrowheads="1"/>
          </p:cNvSpPr>
          <p:nvPr/>
        </p:nvSpPr>
        <p:spPr bwMode="auto">
          <a:xfrm rot="16200000">
            <a:off x="1305390" y="4963190"/>
            <a:ext cx="53860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1 </a:t>
            </a:r>
            <a:r>
              <a:rPr lang="en-US" sz="1800" b="1" dirty="0" smtClean="0">
                <a:solidFill>
                  <a:srgbClr val="FFFFFF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800" b="1" dirty="0" smtClean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800" b="1" dirty="0">
              <a:solidFill>
                <a:srgbClr val="FFFFFF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0" name="TextBox 13"/>
          <p:cNvSpPr txBox="1">
            <a:spLocks noChangeArrowheads="1"/>
          </p:cNvSpPr>
          <p:nvPr/>
        </p:nvSpPr>
        <p:spPr bwMode="auto">
          <a:xfrm rot="16200000">
            <a:off x="3570754" y="4958428"/>
            <a:ext cx="53860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1 </a:t>
            </a:r>
            <a:r>
              <a:rPr lang="en-US" sz="1800" b="1" dirty="0" smtClean="0">
                <a:solidFill>
                  <a:srgbClr val="FFFFFF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800" b="1" dirty="0" smtClean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800" b="1" dirty="0">
              <a:solidFill>
                <a:srgbClr val="FFFFFF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 rot="16200000">
            <a:off x="5798018" y="5004466"/>
            <a:ext cx="53860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3 </a:t>
            </a:r>
            <a:r>
              <a:rPr lang="en-US" sz="1800" b="1" dirty="0" smtClean="0">
                <a:solidFill>
                  <a:srgbClr val="FFFFFF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800" b="1" dirty="0" smtClean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800" b="1" dirty="0">
              <a:solidFill>
                <a:srgbClr val="FFFFFF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663658" y="4626769"/>
            <a:ext cx="137160" cy="950976"/>
            <a:chOff x="73" y="999807"/>
            <a:chExt cx="89669" cy="576732"/>
          </a:xfrm>
        </p:grpSpPr>
        <p:sp>
          <p:nvSpPr>
            <p:cNvPr id="13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14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15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916386" y="4603447"/>
            <a:ext cx="137160" cy="950976"/>
            <a:chOff x="73" y="999807"/>
            <a:chExt cx="89669" cy="576732"/>
          </a:xfrm>
        </p:grpSpPr>
        <p:sp>
          <p:nvSpPr>
            <p:cNvPr id="17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18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19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156746" y="4714362"/>
            <a:ext cx="137160" cy="865764"/>
            <a:chOff x="73" y="999807"/>
            <a:chExt cx="89669" cy="576732"/>
          </a:xfrm>
        </p:grpSpPr>
        <p:sp>
          <p:nvSpPr>
            <p:cNvPr id="21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22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23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Cell-Surface Structures</a:t>
            </a:r>
            <a:endParaRPr lang="en-US" dirty="0" smtClean="0"/>
          </a:p>
        </p:txBody>
      </p:sp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cell wall maintains cell shape, protects the cell, and prevents it from bursting in a hypotonic environment</a:t>
            </a:r>
            <a:endParaRPr lang="en-US" smtClean="0"/>
          </a:p>
          <a:p>
            <a:r>
              <a:rPr lang="en-US" smtClean="0"/>
              <a:t>Eukaryote cell walls are made of cellulose or chitin</a:t>
            </a:r>
            <a:endParaRPr lang="en-US" smtClean="0"/>
          </a:p>
          <a:p>
            <a:r>
              <a:rPr lang="en-US" smtClean="0"/>
              <a:t>Most bacterial cell walls contain </a:t>
            </a:r>
            <a:r>
              <a:rPr lang="en-US" b="1" smtClean="0"/>
              <a:t>peptidoglycan</a:t>
            </a:r>
            <a:r>
              <a:rPr lang="en-US" smtClean="0"/>
              <a:t>, a network of sugar polymers cross-linked by polypeptides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Archaea contain polysaccharides and proteins but lack peptidoglycan</a:t>
            </a:r>
            <a:endParaRPr lang="en-US" smtClean="0"/>
          </a:p>
          <a:p>
            <a:r>
              <a:rPr lang="en-US" smtClean="0"/>
              <a:t>Scientists use the </a:t>
            </a:r>
            <a:r>
              <a:rPr lang="en-US" b="1" smtClean="0"/>
              <a:t>Gram stain</a:t>
            </a:r>
            <a:r>
              <a:rPr lang="en-US" smtClean="0"/>
              <a:t> to classify bacteria by cell wall composition </a:t>
            </a:r>
            <a:endParaRPr lang="en-US" smtClean="0"/>
          </a:p>
          <a:p>
            <a:r>
              <a:rPr lang="en-US" b="1" smtClean="0"/>
              <a:t>Gram-positive </a:t>
            </a:r>
            <a:r>
              <a:rPr lang="en-US" smtClean="0"/>
              <a:t>bacteria have simpler walls with a large amount of peptidoglycan</a:t>
            </a:r>
            <a:endParaRPr lang="en-US" smtClean="0"/>
          </a:p>
          <a:p>
            <a:r>
              <a:rPr lang="en-US" b="1" smtClean="0"/>
              <a:t>Gram-negative</a:t>
            </a:r>
            <a:r>
              <a:rPr lang="en-US" smtClean="0"/>
              <a:t> bacteria have less peptidoglycan and an outer membrane that contains lipopolysaccharides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47"/>
          <a:stretch>
            <a:fillRect/>
          </a:stretch>
        </p:blipFill>
        <p:spPr>
          <a:xfrm>
            <a:off x="1993392" y="829056"/>
            <a:ext cx="5157216" cy="5199888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27.3a</a:t>
            </a:r>
            <a:endParaRPr lang="en-US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2029023" y="845961"/>
            <a:ext cx="34865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(a) Gram-positive bacteria</a:t>
            </a:r>
            <a:endParaRPr lang="en-US" sz="22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2029023" y="3520898"/>
            <a:ext cx="5338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Cell</a:t>
            </a:r>
            <a:endParaRPr lang="en-US" sz="22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wall</a:t>
            </a:r>
            <a:endParaRPr lang="en-US" sz="22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2894211" y="3330398"/>
            <a:ext cx="113172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Peptido-</a:t>
            </a:r>
            <a:endParaRPr lang="en-US" sz="22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glycan</a:t>
            </a:r>
            <a:endParaRPr lang="en-US" sz="22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layer</a:t>
            </a:r>
            <a:endParaRPr lang="en-US" sz="22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9" name="TextBox 17"/>
          <p:cNvSpPr txBox="1">
            <a:spLocks noChangeArrowheads="1"/>
          </p:cNvSpPr>
          <p:nvPr/>
        </p:nvSpPr>
        <p:spPr bwMode="auto">
          <a:xfrm>
            <a:off x="2406848" y="4463873"/>
            <a:ext cx="1426673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Plasma</a:t>
            </a:r>
            <a:endParaRPr lang="en-US" sz="22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membrane</a:t>
            </a:r>
            <a:endParaRPr lang="en-US" sz="22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0" name="TextBox 19"/>
          <p:cNvSpPr txBox="1">
            <a:spLocks noChangeArrowheads="1"/>
          </p:cNvSpPr>
          <p:nvPr/>
        </p:nvSpPr>
        <p:spPr bwMode="auto">
          <a:xfrm>
            <a:off x="2025848" y="5365573"/>
            <a:ext cx="460222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Peptidoglycan traps crystal violet,</a:t>
            </a:r>
            <a:endParaRPr lang="en-US" sz="22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which masks the red safranin dye.</a:t>
            </a:r>
            <a:endParaRPr lang="en-US" sz="22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2645818" y="3265247"/>
            <a:ext cx="215305" cy="1027556"/>
          </a:xfrm>
          <a:custGeom>
            <a:avLst/>
            <a:gdLst>
              <a:gd name="connsiteX0" fmla="*/ 202605 w 215305"/>
              <a:gd name="connsiteY0" fmla="*/ 12700 h 1027556"/>
              <a:gd name="connsiteX1" fmla="*/ 88676 w 215305"/>
              <a:gd name="connsiteY1" fmla="*/ 107962 h 1027556"/>
              <a:gd name="connsiteX2" fmla="*/ 88676 w 215305"/>
              <a:gd name="connsiteY2" fmla="*/ 393712 h 1027556"/>
              <a:gd name="connsiteX3" fmla="*/ 12700 w 215305"/>
              <a:gd name="connsiteY3" fmla="*/ 506831 h 1027556"/>
              <a:gd name="connsiteX4" fmla="*/ 88676 w 215305"/>
              <a:gd name="connsiteY4" fmla="*/ 619975 h 1027556"/>
              <a:gd name="connsiteX5" fmla="*/ 88676 w 215305"/>
              <a:gd name="connsiteY5" fmla="*/ 919581 h 1027556"/>
              <a:gd name="connsiteX6" fmla="*/ 202605 w 215305"/>
              <a:gd name="connsiteY6" fmla="*/ 1014856 h 102755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15305" h="1027556">
                <a:moveTo>
                  <a:pt x="202605" y="12700"/>
                </a:moveTo>
                <a:cubicBezTo>
                  <a:pt x="202605" y="12700"/>
                  <a:pt x="88676" y="24650"/>
                  <a:pt x="88676" y="107962"/>
                </a:cubicBezTo>
                <a:cubicBezTo>
                  <a:pt x="88676" y="191338"/>
                  <a:pt x="88676" y="328244"/>
                  <a:pt x="88676" y="393712"/>
                </a:cubicBezTo>
                <a:cubicBezTo>
                  <a:pt x="88676" y="459219"/>
                  <a:pt x="12700" y="506831"/>
                  <a:pt x="12700" y="506831"/>
                </a:cubicBezTo>
                <a:cubicBezTo>
                  <a:pt x="12700" y="506831"/>
                  <a:pt x="88676" y="554456"/>
                  <a:pt x="88676" y="619975"/>
                </a:cubicBezTo>
                <a:cubicBezTo>
                  <a:pt x="88676" y="685444"/>
                  <a:pt x="88676" y="836256"/>
                  <a:pt x="88676" y="919581"/>
                </a:cubicBezTo>
                <a:cubicBezTo>
                  <a:pt x="88676" y="1002931"/>
                  <a:pt x="202605" y="1014856"/>
                  <a:pt x="202605" y="1014856"/>
                </a:cubicBez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2" name="Freeform 3"/>
          <p:cNvSpPr/>
          <p:nvPr/>
        </p:nvSpPr>
        <p:spPr>
          <a:xfrm>
            <a:off x="3930184" y="4356138"/>
            <a:ext cx="215303" cy="816736"/>
          </a:xfrm>
          <a:custGeom>
            <a:avLst/>
            <a:gdLst>
              <a:gd name="connsiteX0" fmla="*/ 202603 w 215303"/>
              <a:gd name="connsiteY0" fmla="*/ 12700 h 816736"/>
              <a:gd name="connsiteX1" fmla="*/ 88646 w 215303"/>
              <a:gd name="connsiteY1" fmla="*/ 88671 h 816736"/>
              <a:gd name="connsiteX2" fmla="*/ 88646 w 215303"/>
              <a:gd name="connsiteY2" fmla="*/ 296456 h 816736"/>
              <a:gd name="connsiteX3" fmla="*/ 12700 w 215303"/>
              <a:gd name="connsiteY3" fmla="*/ 386676 h 816736"/>
              <a:gd name="connsiteX4" fmla="*/ 88646 w 215303"/>
              <a:gd name="connsiteY4" fmla="*/ 476885 h 816736"/>
              <a:gd name="connsiteX5" fmla="*/ 88646 w 215303"/>
              <a:gd name="connsiteY5" fmla="*/ 728065 h 816736"/>
              <a:gd name="connsiteX6" fmla="*/ 202603 w 215303"/>
              <a:gd name="connsiteY6" fmla="*/ 804037 h 81673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15303" h="816736">
                <a:moveTo>
                  <a:pt x="202603" y="12700"/>
                </a:moveTo>
                <a:cubicBezTo>
                  <a:pt x="202603" y="12700"/>
                  <a:pt x="88646" y="22199"/>
                  <a:pt x="88646" y="88671"/>
                </a:cubicBezTo>
                <a:cubicBezTo>
                  <a:pt x="88646" y="155143"/>
                  <a:pt x="88646" y="244246"/>
                  <a:pt x="88646" y="296456"/>
                </a:cubicBezTo>
                <a:cubicBezTo>
                  <a:pt x="88646" y="348703"/>
                  <a:pt x="12700" y="386676"/>
                  <a:pt x="12700" y="386676"/>
                </a:cubicBezTo>
                <a:cubicBezTo>
                  <a:pt x="12700" y="386676"/>
                  <a:pt x="88646" y="424675"/>
                  <a:pt x="88646" y="476885"/>
                </a:cubicBezTo>
                <a:cubicBezTo>
                  <a:pt x="88646" y="529107"/>
                  <a:pt x="88646" y="661606"/>
                  <a:pt x="88646" y="728065"/>
                </a:cubicBezTo>
                <a:cubicBezTo>
                  <a:pt x="88646" y="794512"/>
                  <a:pt x="202603" y="804037"/>
                  <a:pt x="202603" y="804037"/>
                </a:cubicBez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3" name="Freeform 3"/>
          <p:cNvSpPr/>
          <p:nvPr/>
        </p:nvSpPr>
        <p:spPr>
          <a:xfrm>
            <a:off x="3835328" y="3805466"/>
            <a:ext cx="529628" cy="50800"/>
          </a:xfrm>
          <a:custGeom>
            <a:avLst/>
            <a:gdLst>
              <a:gd name="connsiteX0" fmla="*/ 12700 w 529628"/>
              <a:gd name="connsiteY0" fmla="*/ 12700 h 50800"/>
              <a:gd name="connsiteX1" fmla="*/ 516928 w 529628"/>
              <a:gd name="connsiteY1" fmla="*/ 12700 h 508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529628" h="50800">
                <a:moveTo>
                  <a:pt x="12700" y="12700"/>
                </a:moveTo>
                <a:lnTo>
                  <a:pt x="516928" y="1270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35"/>
          <a:stretch>
            <a:fillRect/>
          </a:stretch>
        </p:blipFill>
        <p:spPr>
          <a:xfrm>
            <a:off x="1331976" y="499872"/>
            <a:ext cx="6480048" cy="585825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27.3b</a:t>
            </a:r>
            <a:endParaRPr lang="en-US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1376753" y="501550"/>
            <a:ext cx="358110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(b) Gram-negative bacteria</a:t>
            </a:r>
            <a:endParaRPr lang="en-US" sz="22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4913703" y="1979512"/>
            <a:ext cx="290784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Carbohydrate portion</a:t>
            </a:r>
            <a:endParaRPr lang="en-US" sz="22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of lipopolysaccharide</a:t>
            </a:r>
            <a:endParaRPr lang="en-US" sz="22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1376753" y="3687662"/>
            <a:ext cx="5338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Cell</a:t>
            </a:r>
            <a:endParaRPr lang="en-US" sz="22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wall</a:t>
            </a:r>
            <a:endParaRPr lang="en-US" sz="22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9" name="TextBox 16"/>
          <p:cNvSpPr txBox="1">
            <a:spLocks noChangeArrowheads="1"/>
          </p:cNvSpPr>
          <p:nvPr/>
        </p:nvSpPr>
        <p:spPr bwMode="auto">
          <a:xfrm>
            <a:off x="2226066" y="3378100"/>
            <a:ext cx="1426673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Outer</a:t>
            </a:r>
            <a:endParaRPr lang="en-US" sz="22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membrane</a:t>
            </a:r>
            <a:endParaRPr lang="en-US" sz="22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0" name="TextBox 18"/>
          <p:cNvSpPr txBox="1">
            <a:spLocks noChangeArrowheads="1"/>
          </p:cNvSpPr>
          <p:nvPr/>
        </p:nvSpPr>
        <p:spPr bwMode="auto">
          <a:xfrm>
            <a:off x="2226066" y="4119462"/>
            <a:ext cx="193322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Peptidoglycan</a:t>
            </a:r>
            <a:endParaRPr lang="en-US" sz="22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layer</a:t>
            </a:r>
            <a:endParaRPr lang="en-US" sz="22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1" name="TextBox 20"/>
          <p:cNvSpPr txBox="1">
            <a:spLocks noChangeArrowheads="1"/>
          </p:cNvSpPr>
          <p:nvPr/>
        </p:nvSpPr>
        <p:spPr bwMode="auto">
          <a:xfrm>
            <a:off x="1675203" y="4841775"/>
            <a:ext cx="24926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Plasma membrane</a:t>
            </a:r>
            <a:endParaRPr lang="en-US" sz="22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2" name="TextBox 21"/>
          <p:cNvSpPr txBox="1">
            <a:spLocks noChangeArrowheads="1"/>
          </p:cNvSpPr>
          <p:nvPr/>
        </p:nvSpPr>
        <p:spPr bwMode="auto">
          <a:xfrm>
            <a:off x="1378341" y="5697437"/>
            <a:ext cx="602556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Crystal violet is easily rinsed away, revealing</a:t>
            </a:r>
            <a:endParaRPr lang="en-US" sz="22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400"/>
              </a:lnSpc>
            </a:pPr>
            <a:r>
              <a:rPr lang="en-US" sz="22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the red safrinin dye.</a:t>
            </a:r>
            <a:endParaRPr lang="en-US" sz="22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4185342" y="4608991"/>
            <a:ext cx="215303" cy="801915"/>
          </a:xfrm>
          <a:custGeom>
            <a:avLst/>
            <a:gdLst>
              <a:gd name="connsiteX0" fmla="*/ 202602 w 215303"/>
              <a:gd name="connsiteY0" fmla="*/ 12700 h 801915"/>
              <a:gd name="connsiteX1" fmla="*/ 88684 w 215303"/>
              <a:gd name="connsiteY1" fmla="*/ 88683 h 801915"/>
              <a:gd name="connsiteX2" fmla="*/ 88684 w 215303"/>
              <a:gd name="connsiteY2" fmla="*/ 306793 h 801915"/>
              <a:gd name="connsiteX3" fmla="*/ 12700 w 215303"/>
              <a:gd name="connsiteY3" fmla="*/ 396963 h 801915"/>
              <a:gd name="connsiteX4" fmla="*/ 88684 w 215303"/>
              <a:gd name="connsiteY4" fmla="*/ 487171 h 801915"/>
              <a:gd name="connsiteX5" fmla="*/ 88684 w 215303"/>
              <a:gd name="connsiteY5" fmla="*/ 713270 h 801915"/>
              <a:gd name="connsiteX6" fmla="*/ 202602 w 215303"/>
              <a:gd name="connsiteY6" fmla="*/ 789215 h 80191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15303" h="801915">
                <a:moveTo>
                  <a:pt x="202602" y="12700"/>
                </a:moveTo>
                <a:cubicBezTo>
                  <a:pt x="202602" y="12700"/>
                  <a:pt x="88684" y="22212"/>
                  <a:pt x="88684" y="88683"/>
                </a:cubicBezTo>
                <a:cubicBezTo>
                  <a:pt x="88684" y="155143"/>
                  <a:pt x="88684" y="254558"/>
                  <a:pt x="88684" y="306793"/>
                </a:cubicBezTo>
                <a:cubicBezTo>
                  <a:pt x="88684" y="358978"/>
                  <a:pt x="12700" y="396963"/>
                  <a:pt x="12700" y="396963"/>
                </a:cubicBezTo>
                <a:cubicBezTo>
                  <a:pt x="12700" y="396963"/>
                  <a:pt x="88684" y="434962"/>
                  <a:pt x="88684" y="487171"/>
                </a:cubicBezTo>
                <a:cubicBezTo>
                  <a:pt x="88684" y="539394"/>
                  <a:pt x="88684" y="646785"/>
                  <a:pt x="88684" y="713270"/>
                </a:cubicBezTo>
                <a:cubicBezTo>
                  <a:pt x="88684" y="779703"/>
                  <a:pt x="202602" y="789215"/>
                  <a:pt x="202602" y="789215"/>
                </a:cubicBez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4" name="Freeform 3"/>
          <p:cNvSpPr/>
          <p:nvPr/>
        </p:nvSpPr>
        <p:spPr>
          <a:xfrm>
            <a:off x="1982935" y="3299456"/>
            <a:ext cx="198309" cy="1464881"/>
          </a:xfrm>
          <a:custGeom>
            <a:avLst/>
            <a:gdLst>
              <a:gd name="connsiteX0" fmla="*/ 185609 w 198309"/>
              <a:gd name="connsiteY0" fmla="*/ 12700 h 1464881"/>
              <a:gd name="connsiteX1" fmla="*/ 71710 w 198309"/>
              <a:gd name="connsiteY1" fmla="*/ 104406 h 1464881"/>
              <a:gd name="connsiteX2" fmla="*/ 71710 w 198309"/>
              <a:gd name="connsiteY2" fmla="*/ 552577 h 1464881"/>
              <a:gd name="connsiteX3" fmla="*/ 12700 w 198309"/>
              <a:gd name="connsiteY3" fmla="*/ 702055 h 1464881"/>
              <a:gd name="connsiteX4" fmla="*/ 71710 w 198309"/>
              <a:gd name="connsiteY4" fmla="*/ 831507 h 1464881"/>
              <a:gd name="connsiteX5" fmla="*/ 71710 w 198309"/>
              <a:gd name="connsiteY5" fmla="*/ 1360474 h 1464881"/>
              <a:gd name="connsiteX6" fmla="*/ 185609 w 198309"/>
              <a:gd name="connsiteY6" fmla="*/ 1452181 h 146488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198309" h="1464881">
                <a:moveTo>
                  <a:pt x="185609" y="12700"/>
                </a:moveTo>
                <a:cubicBezTo>
                  <a:pt x="185609" y="12700"/>
                  <a:pt x="71710" y="24180"/>
                  <a:pt x="71710" y="104406"/>
                </a:cubicBezTo>
                <a:cubicBezTo>
                  <a:pt x="71710" y="184632"/>
                  <a:pt x="71710" y="489496"/>
                  <a:pt x="71710" y="552577"/>
                </a:cubicBezTo>
                <a:cubicBezTo>
                  <a:pt x="71710" y="615607"/>
                  <a:pt x="12700" y="702055"/>
                  <a:pt x="12700" y="702055"/>
                </a:cubicBezTo>
                <a:cubicBezTo>
                  <a:pt x="12700" y="702055"/>
                  <a:pt x="71710" y="768464"/>
                  <a:pt x="71710" y="831507"/>
                </a:cubicBezTo>
                <a:cubicBezTo>
                  <a:pt x="71710" y="894562"/>
                  <a:pt x="71710" y="1280248"/>
                  <a:pt x="71710" y="1360474"/>
                </a:cubicBezTo>
                <a:cubicBezTo>
                  <a:pt x="71710" y="1440688"/>
                  <a:pt x="185609" y="1452181"/>
                  <a:pt x="185609" y="1452181"/>
                </a:cubicBez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5" name="Freeform 3"/>
          <p:cNvSpPr/>
          <p:nvPr/>
        </p:nvSpPr>
        <p:spPr>
          <a:xfrm>
            <a:off x="4185342" y="3461165"/>
            <a:ext cx="215303" cy="776528"/>
          </a:xfrm>
          <a:custGeom>
            <a:avLst/>
            <a:gdLst>
              <a:gd name="connsiteX0" fmla="*/ 202602 w 215303"/>
              <a:gd name="connsiteY0" fmla="*/ 12700 h 776528"/>
              <a:gd name="connsiteX1" fmla="*/ 88684 w 215303"/>
              <a:gd name="connsiteY1" fmla="*/ 88658 h 776528"/>
              <a:gd name="connsiteX2" fmla="*/ 88684 w 215303"/>
              <a:gd name="connsiteY2" fmla="*/ 296481 h 776528"/>
              <a:gd name="connsiteX3" fmla="*/ 12700 w 215303"/>
              <a:gd name="connsiteY3" fmla="*/ 386689 h 776528"/>
              <a:gd name="connsiteX4" fmla="*/ 88684 w 215303"/>
              <a:gd name="connsiteY4" fmla="*/ 476897 h 776528"/>
              <a:gd name="connsiteX5" fmla="*/ 88684 w 215303"/>
              <a:gd name="connsiteY5" fmla="*/ 687870 h 776528"/>
              <a:gd name="connsiteX6" fmla="*/ 202602 w 215303"/>
              <a:gd name="connsiteY6" fmla="*/ 763828 h 77652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15303" h="776528">
                <a:moveTo>
                  <a:pt x="202602" y="12700"/>
                </a:moveTo>
                <a:cubicBezTo>
                  <a:pt x="202602" y="12700"/>
                  <a:pt x="88684" y="22199"/>
                  <a:pt x="88684" y="88658"/>
                </a:cubicBezTo>
                <a:cubicBezTo>
                  <a:pt x="88684" y="155092"/>
                  <a:pt x="88684" y="244271"/>
                  <a:pt x="88684" y="296481"/>
                </a:cubicBezTo>
                <a:cubicBezTo>
                  <a:pt x="88684" y="348703"/>
                  <a:pt x="12700" y="386689"/>
                  <a:pt x="12700" y="386689"/>
                </a:cubicBezTo>
                <a:cubicBezTo>
                  <a:pt x="12700" y="386689"/>
                  <a:pt x="88684" y="424649"/>
                  <a:pt x="88684" y="476897"/>
                </a:cubicBezTo>
                <a:cubicBezTo>
                  <a:pt x="88684" y="529107"/>
                  <a:pt x="88684" y="621398"/>
                  <a:pt x="88684" y="687870"/>
                </a:cubicBezTo>
                <a:cubicBezTo>
                  <a:pt x="88684" y="754329"/>
                  <a:pt x="202602" y="763828"/>
                  <a:pt x="202602" y="763828"/>
                </a:cubicBez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6" name="Freeform 3"/>
          <p:cNvSpPr/>
          <p:nvPr/>
        </p:nvSpPr>
        <p:spPr>
          <a:xfrm>
            <a:off x="3736078" y="3832779"/>
            <a:ext cx="480707" cy="50800"/>
          </a:xfrm>
          <a:custGeom>
            <a:avLst/>
            <a:gdLst>
              <a:gd name="connsiteX0" fmla="*/ 12700 w 480707"/>
              <a:gd name="connsiteY0" fmla="*/ 16649 h 50800"/>
              <a:gd name="connsiteX1" fmla="*/ 468007 w 480707"/>
              <a:gd name="connsiteY1" fmla="*/ 12700 h 508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480707" h="50800">
                <a:moveTo>
                  <a:pt x="12700" y="16649"/>
                </a:moveTo>
                <a:lnTo>
                  <a:pt x="468007" y="12700"/>
                </a:ln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7" name="Freeform 3"/>
          <p:cNvSpPr/>
          <p:nvPr/>
        </p:nvSpPr>
        <p:spPr>
          <a:xfrm>
            <a:off x="4177100" y="4389547"/>
            <a:ext cx="379717" cy="50800"/>
          </a:xfrm>
          <a:custGeom>
            <a:avLst/>
            <a:gdLst>
              <a:gd name="connsiteX0" fmla="*/ 12700 w 379717"/>
              <a:gd name="connsiteY0" fmla="*/ 12700 h 50800"/>
              <a:gd name="connsiteX1" fmla="*/ 367017 w 379717"/>
              <a:gd name="connsiteY1" fmla="*/ 12700 h 508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79717" h="50800">
                <a:moveTo>
                  <a:pt x="12700" y="12700"/>
                </a:moveTo>
                <a:lnTo>
                  <a:pt x="367017" y="12700"/>
                </a:ln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8" name="Freeform 3"/>
          <p:cNvSpPr/>
          <p:nvPr/>
        </p:nvSpPr>
        <p:spPr>
          <a:xfrm>
            <a:off x="6299715" y="2584307"/>
            <a:ext cx="291312" cy="295579"/>
          </a:xfrm>
          <a:custGeom>
            <a:avLst/>
            <a:gdLst>
              <a:gd name="connsiteX0" fmla="*/ 12700 w 291312"/>
              <a:gd name="connsiteY0" fmla="*/ 12700 h 295579"/>
              <a:gd name="connsiteX1" fmla="*/ 278612 w 291312"/>
              <a:gd name="connsiteY1" fmla="*/ 282879 h 29557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91312" h="295579">
                <a:moveTo>
                  <a:pt x="12700" y="12700"/>
                </a:moveTo>
                <a:lnTo>
                  <a:pt x="278612" y="282879"/>
                </a:ln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55"/>
          <a:stretch>
            <a:fillRect/>
          </a:stretch>
        </p:blipFill>
        <p:spPr>
          <a:xfrm>
            <a:off x="655320" y="1420368"/>
            <a:ext cx="7833360" cy="401726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27.3c</a:t>
            </a:r>
            <a:endParaRPr lang="en-US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684128" y="1416876"/>
            <a:ext cx="189955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Gram-positive</a:t>
            </a:r>
            <a:endParaRPr lang="en-US" sz="22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400"/>
              </a:lnSpc>
            </a:pPr>
            <a:r>
              <a:rPr lang="en-US" sz="22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</a:t>
            </a:r>
            <a:endParaRPr lang="en-US" sz="22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6496761" y="1425607"/>
            <a:ext cx="1978106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Gram-negative</a:t>
            </a:r>
            <a:endParaRPr lang="en-US" sz="22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400"/>
              </a:lnSpc>
            </a:pPr>
            <a:r>
              <a:rPr lang="en-US" sz="22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</a:t>
            </a:r>
            <a:endParaRPr lang="en-US" sz="22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2841541" y="5091938"/>
            <a:ext cx="80470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10 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22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22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" name="Freeform 1"/>
          <p:cNvSpPr/>
          <p:nvPr/>
        </p:nvSpPr>
        <p:spPr>
          <a:xfrm>
            <a:off x="5353050" y="1612900"/>
            <a:ext cx="1098550" cy="1441450"/>
          </a:xfrm>
          <a:custGeom>
            <a:avLst/>
            <a:gdLst>
              <a:gd name="connsiteX0" fmla="*/ 660400 w 1098550"/>
              <a:gd name="connsiteY0" fmla="*/ 254000 h 1441450"/>
              <a:gd name="connsiteX1" fmla="*/ 1098550 w 1098550"/>
              <a:gd name="connsiteY1" fmla="*/ 0 h 1441450"/>
              <a:gd name="connsiteX2" fmla="*/ 0 w 1098550"/>
              <a:gd name="connsiteY2" fmla="*/ 1441450 h 144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8550" h="1441450">
                <a:moveTo>
                  <a:pt x="660400" y="254000"/>
                </a:moveTo>
                <a:lnTo>
                  <a:pt x="1098550" y="0"/>
                </a:lnTo>
                <a:lnTo>
                  <a:pt x="0" y="1441450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2647950" y="1612900"/>
            <a:ext cx="1270000" cy="660400"/>
          </a:xfrm>
          <a:custGeom>
            <a:avLst/>
            <a:gdLst>
              <a:gd name="connsiteX0" fmla="*/ 800100 w 1270000"/>
              <a:gd name="connsiteY0" fmla="*/ 660400 h 660400"/>
              <a:gd name="connsiteX1" fmla="*/ 0 w 1270000"/>
              <a:gd name="connsiteY1" fmla="*/ 0 h 660400"/>
              <a:gd name="connsiteX2" fmla="*/ 1270000 w 1270000"/>
              <a:gd name="connsiteY2" fmla="*/ 184150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0000" h="660400">
                <a:moveTo>
                  <a:pt x="800100" y="660400"/>
                </a:moveTo>
                <a:lnTo>
                  <a:pt x="0" y="0"/>
                </a:lnTo>
                <a:lnTo>
                  <a:pt x="1270000" y="184150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grpSp>
        <p:nvGrpSpPr>
          <p:cNvPr id="9" name="Group 8"/>
          <p:cNvGrpSpPr/>
          <p:nvPr/>
        </p:nvGrpSpPr>
        <p:grpSpPr>
          <a:xfrm rot="5400000" flipH="1" flipV="1">
            <a:off x="3177745" y="4708887"/>
            <a:ext cx="142879" cy="512031"/>
            <a:chOff x="73" y="999807"/>
            <a:chExt cx="89669" cy="576732"/>
          </a:xfrm>
        </p:grpSpPr>
        <p:sp>
          <p:nvSpPr>
            <p:cNvPr id="10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sp>
        <p:nvSpPr>
          <p:cNvPr id="14" name="Freeform 13"/>
          <p:cNvSpPr/>
          <p:nvPr/>
        </p:nvSpPr>
        <p:spPr>
          <a:xfrm>
            <a:off x="5356937" y="1616076"/>
            <a:ext cx="1098550" cy="1441450"/>
          </a:xfrm>
          <a:custGeom>
            <a:avLst/>
            <a:gdLst>
              <a:gd name="connsiteX0" fmla="*/ 660400 w 1098550"/>
              <a:gd name="connsiteY0" fmla="*/ 254000 h 1441450"/>
              <a:gd name="connsiteX1" fmla="*/ 1098550 w 1098550"/>
              <a:gd name="connsiteY1" fmla="*/ 0 h 1441450"/>
              <a:gd name="connsiteX2" fmla="*/ 0 w 1098550"/>
              <a:gd name="connsiteY2" fmla="*/ 1441450 h 144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8550" h="1441450">
                <a:moveTo>
                  <a:pt x="660400" y="254000"/>
                </a:moveTo>
                <a:lnTo>
                  <a:pt x="1098550" y="0"/>
                </a:lnTo>
                <a:lnTo>
                  <a:pt x="0" y="144145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2651837" y="1616076"/>
            <a:ext cx="1270000" cy="660400"/>
          </a:xfrm>
          <a:custGeom>
            <a:avLst/>
            <a:gdLst>
              <a:gd name="connsiteX0" fmla="*/ 800100 w 1270000"/>
              <a:gd name="connsiteY0" fmla="*/ 660400 h 660400"/>
              <a:gd name="connsiteX1" fmla="*/ 0 w 1270000"/>
              <a:gd name="connsiteY1" fmla="*/ 0 h 660400"/>
              <a:gd name="connsiteX2" fmla="*/ 1270000 w 1270000"/>
              <a:gd name="connsiteY2" fmla="*/ 184150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0000" h="660400">
                <a:moveTo>
                  <a:pt x="800100" y="660400"/>
                </a:moveTo>
                <a:lnTo>
                  <a:pt x="0" y="0"/>
                </a:lnTo>
                <a:lnTo>
                  <a:pt x="1270000" y="18415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Many antibiotics target peptidoglycan and damage bacterial cell walls</a:t>
            </a:r>
            <a:endParaRPr lang="en-US" smtClean="0"/>
          </a:p>
          <a:p>
            <a:r>
              <a:rPr lang="en-US" smtClean="0"/>
              <a:t>Gram-positive bacteria are particularly susceptible to this type of antibiotics</a:t>
            </a:r>
            <a:endParaRPr lang="en-US" smtClean="0"/>
          </a:p>
          <a:p>
            <a:r>
              <a:rPr lang="en-US" smtClean="0"/>
              <a:t>A sticky outer layer of polysaccharide or protein called a </a:t>
            </a:r>
            <a:r>
              <a:rPr lang="en-US" b="1" smtClean="0"/>
              <a:t>capsule</a:t>
            </a:r>
            <a:r>
              <a:rPr lang="en-US" smtClean="0"/>
              <a:t> is present in some prokaryotes</a:t>
            </a:r>
            <a:endParaRPr lang="en-US" smtClean="0"/>
          </a:p>
          <a:p>
            <a:r>
              <a:rPr lang="en-US" smtClean="0"/>
              <a:t>The capsule allows adherence to the substrate, or other individuals, and can shield pathogenic bacteria from the host immune system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9"/>
          <a:stretch>
            <a:fillRect/>
          </a:stretch>
        </p:blipFill>
        <p:spPr>
          <a:xfrm>
            <a:off x="1258824" y="1289304"/>
            <a:ext cx="6626352" cy="427939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27.4</a:t>
            </a:r>
            <a:endParaRPr lang="en-US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1509082" y="1698891"/>
            <a:ext cx="974626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Bacterial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cell wall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6604957" y="1424253"/>
            <a:ext cx="974626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Bacterial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capsule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6898644" y="3557853"/>
            <a:ext cx="66255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Tonsil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cell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9" name="TextBox 17"/>
          <p:cNvSpPr txBox="1">
            <a:spLocks noChangeArrowheads="1"/>
          </p:cNvSpPr>
          <p:nvPr/>
        </p:nvSpPr>
        <p:spPr bwMode="auto">
          <a:xfrm>
            <a:off x="2028194" y="5227903"/>
            <a:ext cx="79508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200 nm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" name="Freeform 1"/>
          <p:cNvSpPr/>
          <p:nvPr/>
        </p:nvSpPr>
        <p:spPr>
          <a:xfrm>
            <a:off x="6072188" y="1890713"/>
            <a:ext cx="504825" cy="461962"/>
          </a:xfrm>
          <a:custGeom>
            <a:avLst/>
            <a:gdLst>
              <a:gd name="connsiteX0" fmla="*/ 0 w 504825"/>
              <a:gd name="connsiteY0" fmla="*/ 461962 h 461962"/>
              <a:gd name="connsiteX1" fmla="*/ 504825 w 504825"/>
              <a:gd name="connsiteY1" fmla="*/ 0 h 461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4825" h="461962">
                <a:moveTo>
                  <a:pt x="0" y="461962"/>
                </a:moveTo>
                <a:lnTo>
                  <a:pt x="504825" y="0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6546850" y="4076700"/>
            <a:ext cx="514350" cy="733425"/>
          </a:xfrm>
          <a:custGeom>
            <a:avLst/>
            <a:gdLst>
              <a:gd name="connsiteX0" fmla="*/ 0 w 514350"/>
              <a:gd name="connsiteY0" fmla="*/ 733425 h 733425"/>
              <a:gd name="connsiteX1" fmla="*/ 514350 w 514350"/>
              <a:gd name="connsiteY1" fmla="*/ 0 h 733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4350" h="733425">
                <a:moveTo>
                  <a:pt x="0" y="733425"/>
                </a:moveTo>
                <a:lnTo>
                  <a:pt x="514350" y="0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900238" y="2243138"/>
            <a:ext cx="795337" cy="552450"/>
          </a:xfrm>
          <a:custGeom>
            <a:avLst/>
            <a:gdLst>
              <a:gd name="connsiteX0" fmla="*/ 0 w 795337"/>
              <a:gd name="connsiteY0" fmla="*/ 0 h 552450"/>
              <a:gd name="connsiteX1" fmla="*/ 795337 w 795337"/>
              <a:gd name="connsiteY1" fmla="*/ 552450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5337" h="552450">
                <a:moveTo>
                  <a:pt x="0" y="0"/>
                </a:moveTo>
                <a:lnTo>
                  <a:pt x="795337" y="552450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grpSp>
        <p:nvGrpSpPr>
          <p:cNvPr id="11" name="Group 10"/>
          <p:cNvGrpSpPr/>
          <p:nvPr/>
        </p:nvGrpSpPr>
        <p:grpSpPr>
          <a:xfrm rot="5400000" flipH="1" flipV="1">
            <a:off x="2362200" y="4684976"/>
            <a:ext cx="142879" cy="952497"/>
            <a:chOff x="73" y="999807"/>
            <a:chExt cx="89669" cy="576732"/>
          </a:xfrm>
        </p:grpSpPr>
        <p:sp>
          <p:nvSpPr>
            <p:cNvPr id="12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3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4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sp>
        <p:nvSpPr>
          <p:cNvPr id="16" name="Freeform 15"/>
          <p:cNvSpPr/>
          <p:nvPr/>
        </p:nvSpPr>
        <p:spPr>
          <a:xfrm>
            <a:off x="6072188" y="1890713"/>
            <a:ext cx="504825" cy="461962"/>
          </a:xfrm>
          <a:custGeom>
            <a:avLst/>
            <a:gdLst>
              <a:gd name="connsiteX0" fmla="*/ 0 w 504825"/>
              <a:gd name="connsiteY0" fmla="*/ 461962 h 461962"/>
              <a:gd name="connsiteX1" fmla="*/ 504825 w 504825"/>
              <a:gd name="connsiteY1" fmla="*/ 0 h 461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4825" h="461962">
                <a:moveTo>
                  <a:pt x="0" y="461962"/>
                </a:moveTo>
                <a:lnTo>
                  <a:pt x="50482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6546850" y="4076700"/>
            <a:ext cx="514350" cy="733425"/>
          </a:xfrm>
          <a:custGeom>
            <a:avLst/>
            <a:gdLst>
              <a:gd name="connsiteX0" fmla="*/ 0 w 514350"/>
              <a:gd name="connsiteY0" fmla="*/ 733425 h 733425"/>
              <a:gd name="connsiteX1" fmla="*/ 514350 w 514350"/>
              <a:gd name="connsiteY1" fmla="*/ 0 h 733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4350" h="733425">
                <a:moveTo>
                  <a:pt x="0" y="733425"/>
                </a:moveTo>
                <a:lnTo>
                  <a:pt x="51435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1900238" y="2243138"/>
            <a:ext cx="795337" cy="552450"/>
          </a:xfrm>
          <a:custGeom>
            <a:avLst/>
            <a:gdLst>
              <a:gd name="connsiteX0" fmla="*/ 0 w 795337"/>
              <a:gd name="connsiteY0" fmla="*/ 0 h 552450"/>
              <a:gd name="connsiteX1" fmla="*/ 795337 w 795337"/>
              <a:gd name="connsiteY1" fmla="*/ 552450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5337" h="552450">
                <a:moveTo>
                  <a:pt x="0" y="0"/>
                </a:moveTo>
                <a:lnTo>
                  <a:pt x="795337" y="55245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3"/>
          <a:stretch>
            <a:fillRect/>
          </a:stretch>
        </p:blipFill>
        <p:spPr>
          <a:xfrm>
            <a:off x="1271016" y="1298448"/>
            <a:ext cx="6601968" cy="426110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27.5</a:t>
            </a:r>
            <a:endParaRPr lang="en-US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3801269" y="1424305"/>
            <a:ext cx="120545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Endospore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2540794" y="1805305"/>
            <a:ext cx="51296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Coat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13"/>
          <p:cNvSpPr txBox="1">
            <a:spLocks noChangeArrowheads="1"/>
          </p:cNvSpPr>
          <p:nvPr/>
        </p:nvSpPr>
        <p:spPr bwMode="auto">
          <a:xfrm>
            <a:off x="5632449" y="5216843"/>
            <a:ext cx="72295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0.3 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" name="Freeform 1"/>
          <p:cNvSpPr/>
          <p:nvPr/>
        </p:nvSpPr>
        <p:spPr>
          <a:xfrm>
            <a:off x="4429125" y="1676400"/>
            <a:ext cx="704850" cy="1028700"/>
          </a:xfrm>
          <a:custGeom>
            <a:avLst/>
            <a:gdLst>
              <a:gd name="connsiteX0" fmla="*/ 0 w 704850"/>
              <a:gd name="connsiteY0" fmla="*/ 0 h 1028700"/>
              <a:gd name="connsiteX1" fmla="*/ 704850 w 704850"/>
              <a:gd name="connsiteY1" fmla="*/ 102870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04850" h="1028700">
                <a:moveTo>
                  <a:pt x="0" y="0"/>
                </a:moveTo>
                <a:lnTo>
                  <a:pt x="704850" y="1028700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076575" y="1946275"/>
            <a:ext cx="1123950" cy="708025"/>
          </a:xfrm>
          <a:custGeom>
            <a:avLst/>
            <a:gdLst>
              <a:gd name="connsiteX0" fmla="*/ 0 w 1123950"/>
              <a:gd name="connsiteY0" fmla="*/ 0 h 708025"/>
              <a:gd name="connsiteX1" fmla="*/ 1123950 w 1123950"/>
              <a:gd name="connsiteY1" fmla="*/ 708025 h 708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23950" h="708025">
                <a:moveTo>
                  <a:pt x="0" y="0"/>
                </a:moveTo>
                <a:lnTo>
                  <a:pt x="1123950" y="708025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grpSp>
        <p:nvGrpSpPr>
          <p:cNvPr id="9" name="Group 8"/>
          <p:cNvGrpSpPr/>
          <p:nvPr/>
        </p:nvGrpSpPr>
        <p:grpSpPr>
          <a:xfrm rot="5400000" flipH="1" flipV="1">
            <a:off x="5910262" y="4788952"/>
            <a:ext cx="142879" cy="795336"/>
            <a:chOff x="73" y="999807"/>
            <a:chExt cx="89669" cy="576732"/>
          </a:xfrm>
        </p:grpSpPr>
        <p:sp>
          <p:nvSpPr>
            <p:cNvPr id="10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sp>
        <p:nvSpPr>
          <p:cNvPr id="14" name="Freeform 13"/>
          <p:cNvSpPr/>
          <p:nvPr/>
        </p:nvSpPr>
        <p:spPr>
          <a:xfrm>
            <a:off x="4429125" y="1678404"/>
            <a:ext cx="704850" cy="1028700"/>
          </a:xfrm>
          <a:custGeom>
            <a:avLst/>
            <a:gdLst>
              <a:gd name="connsiteX0" fmla="*/ 0 w 704850"/>
              <a:gd name="connsiteY0" fmla="*/ 0 h 1028700"/>
              <a:gd name="connsiteX1" fmla="*/ 704850 w 704850"/>
              <a:gd name="connsiteY1" fmla="*/ 102870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04850" h="1028700">
                <a:moveTo>
                  <a:pt x="0" y="0"/>
                </a:moveTo>
                <a:lnTo>
                  <a:pt x="704850" y="102870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3076575" y="1948279"/>
            <a:ext cx="1123950" cy="708025"/>
          </a:xfrm>
          <a:custGeom>
            <a:avLst/>
            <a:gdLst>
              <a:gd name="connsiteX0" fmla="*/ 0 w 1123950"/>
              <a:gd name="connsiteY0" fmla="*/ 0 h 708025"/>
              <a:gd name="connsiteX1" fmla="*/ 1123950 w 1123950"/>
              <a:gd name="connsiteY1" fmla="*/ 708025 h 708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23950" h="708025">
                <a:moveTo>
                  <a:pt x="0" y="0"/>
                </a:moveTo>
                <a:lnTo>
                  <a:pt x="1123950" y="708025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599" y="330811"/>
            <a:ext cx="8762999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Many prokaryotes form metabolically inactive </a:t>
            </a:r>
            <a:r>
              <a:rPr lang="en-US" b="1" dirty="0"/>
              <a:t>endospores</a:t>
            </a:r>
            <a:r>
              <a:rPr lang="en-US" dirty="0"/>
              <a:t>, which can remain viable in harsh conditions for centuries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prokaryotes have </a:t>
            </a:r>
            <a:r>
              <a:rPr lang="en-US" dirty="0" err="1" smtClean="0"/>
              <a:t>hairlike</a:t>
            </a:r>
            <a:r>
              <a:rPr lang="en-US" dirty="0" smtClean="0"/>
              <a:t> appendages called </a:t>
            </a:r>
            <a:r>
              <a:rPr lang="en-US" b="1" dirty="0" smtClean="0"/>
              <a:t>fimbriae</a:t>
            </a:r>
            <a:r>
              <a:rPr lang="en-US" dirty="0" smtClean="0"/>
              <a:t> that allow them to stick to their substrate or other individuals in a colony</a:t>
            </a:r>
            <a:endParaRPr lang="en-US" dirty="0" smtClean="0"/>
          </a:p>
          <a:p>
            <a:r>
              <a:rPr lang="en-US" b="1" dirty="0" err="1" smtClean="0"/>
              <a:t>Pili</a:t>
            </a:r>
            <a:r>
              <a:rPr lang="en-US" b="1" dirty="0" smtClean="0"/>
              <a:t> </a:t>
            </a:r>
            <a:r>
              <a:rPr lang="en-US" dirty="0" smtClean="0"/>
              <a:t>(or sex </a:t>
            </a:r>
            <a:r>
              <a:rPr lang="en-US" dirty="0" err="1" smtClean="0"/>
              <a:t>pili</a:t>
            </a:r>
            <a:r>
              <a:rPr lang="en-US" dirty="0" smtClean="0"/>
              <a:t>) are longer than fimbriae and allow prokaryotes to exchange DNA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39"/>
          <a:stretch>
            <a:fillRect/>
          </a:stretch>
        </p:blipFill>
        <p:spPr>
          <a:xfrm>
            <a:off x="1258824" y="1411224"/>
            <a:ext cx="6626352" cy="403555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27.6</a:t>
            </a:r>
            <a:endParaRPr lang="en-US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1385888" y="2052638"/>
            <a:ext cx="96180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Fimbriae</a:t>
            </a:r>
            <a:endParaRPr lang="en-US" sz="1800" b="1" dirty="0">
              <a:solidFill>
                <a:srgbClr val="FFFFFF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12"/>
          <p:cNvSpPr txBox="1">
            <a:spLocks noChangeArrowheads="1"/>
          </p:cNvSpPr>
          <p:nvPr/>
        </p:nvSpPr>
        <p:spPr bwMode="auto">
          <a:xfrm>
            <a:off x="7062788" y="5019675"/>
            <a:ext cx="53059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1 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800" b="1" dirty="0">
              <a:solidFill>
                <a:srgbClr val="FFFFFF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" name="Freeform 1"/>
          <p:cNvSpPr/>
          <p:nvPr/>
        </p:nvSpPr>
        <p:spPr>
          <a:xfrm>
            <a:off x="2383631" y="2202656"/>
            <a:ext cx="842963" cy="669132"/>
          </a:xfrm>
          <a:custGeom>
            <a:avLst/>
            <a:gdLst>
              <a:gd name="connsiteX0" fmla="*/ 552450 w 842963"/>
              <a:gd name="connsiteY0" fmla="*/ 669132 h 669132"/>
              <a:gd name="connsiteX1" fmla="*/ 0 w 842963"/>
              <a:gd name="connsiteY1" fmla="*/ 7144 h 669132"/>
              <a:gd name="connsiteX2" fmla="*/ 842963 w 842963"/>
              <a:gd name="connsiteY2" fmla="*/ 0 h 669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2963" h="669132">
                <a:moveTo>
                  <a:pt x="552450" y="669132"/>
                </a:moveTo>
                <a:lnTo>
                  <a:pt x="0" y="7144"/>
                </a:lnTo>
                <a:lnTo>
                  <a:pt x="842963" y="0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FFFFFF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grpSp>
        <p:nvGrpSpPr>
          <p:cNvPr id="8" name="Group 7"/>
          <p:cNvGrpSpPr/>
          <p:nvPr/>
        </p:nvGrpSpPr>
        <p:grpSpPr>
          <a:xfrm rot="5400000" flipH="1" flipV="1">
            <a:off x="7274010" y="4618912"/>
            <a:ext cx="142879" cy="730078"/>
            <a:chOff x="73" y="999807"/>
            <a:chExt cx="89669" cy="576732"/>
          </a:xfrm>
        </p:grpSpPr>
        <p:sp>
          <p:nvSpPr>
            <p:cNvPr id="9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10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11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</p:grpSp>
      <p:sp>
        <p:nvSpPr>
          <p:cNvPr id="12" name="Freeform 11"/>
          <p:cNvSpPr/>
          <p:nvPr/>
        </p:nvSpPr>
        <p:spPr>
          <a:xfrm>
            <a:off x="2383630" y="2202656"/>
            <a:ext cx="842963" cy="669132"/>
          </a:xfrm>
          <a:custGeom>
            <a:avLst/>
            <a:gdLst>
              <a:gd name="connsiteX0" fmla="*/ 552450 w 842963"/>
              <a:gd name="connsiteY0" fmla="*/ 669132 h 669132"/>
              <a:gd name="connsiteX1" fmla="*/ 0 w 842963"/>
              <a:gd name="connsiteY1" fmla="*/ 7144 h 669132"/>
              <a:gd name="connsiteX2" fmla="*/ 842963 w 842963"/>
              <a:gd name="connsiteY2" fmla="*/ 0 h 669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2963" h="669132">
                <a:moveTo>
                  <a:pt x="552450" y="669132"/>
                </a:moveTo>
                <a:lnTo>
                  <a:pt x="0" y="7144"/>
                </a:lnTo>
                <a:lnTo>
                  <a:pt x="842963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FFFFFF"/>
              </a:solidFill>
              <a:latin typeface="Times" pitchFamily="84" charset="0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Motility</a:t>
            </a:r>
            <a:endParaRPr lang="en-US" dirty="0" smtClean="0"/>
          </a:p>
        </p:txBody>
      </p:sp>
      <p:sp>
        <p:nvSpPr>
          <p:cNvPr id="450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About half of all prokaryotes exhibit </a:t>
            </a:r>
            <a:r>
              <a:rPr lang="en-US" b="1" smtClean="0"/>
              <a:t>taxis</a:t>
            </a:r>
            <a:r>
              <a:rPr lang="en-US" smtClean="0"/>
              <a:t>, the ability to move toward or away from a stimulus</a:t>
            </a:r>
            <a:endParaRPr lang="en-US" smtClean="0"/>
          </a:p>
          <a:p>
            <a:pPr lvl="1"/>
            <a:r>
              <a:rPr lang="en-US" smtClean="0"/>
              <a:t>For example, chemotaxis is the movement toward or away from a chemical stimulus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Flagella are the most common structures used by prokaryotes for movement </a:t>
            </a:r>
            <a:endParaRPr lang="en-US" smtClean="0"/>
          </a:p>
          <a:p>
            <a:r>
              <a:rPr lang="en-US" smtClean="0"/>
              <a:t>Flagella may be scattered about the surface or concentrated at one or both ends of the cell</a:t>
            </a:r>
            <a:endParaRPr lang="en-US" smtClean="0"/>
          </a:p>
          <a:p>
            <a:r>
              <a:rPr lang="en-US" smtClean="0"/>
              <a:t>The flagella of prokaryotes and eukaryotes differ in structure, mechanism of propulsion, and molecular composition 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8"/>
          <a:stretch>
            <a:fillRect/>
          </a:stretch>
        </p:blipFill>
        <p:spPr>
          <a:xfrm>
            <a:off x="298704" y="454152"/>
            <a:ext cx="8546592" cy="594969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27.7</a:t>
            </a:r>
            <a:endParaRPr lang="en-US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2649538" y="1503363"/>
            <a:ext cx="107721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Flagellum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7908925" y="2336800"/>
            <a:ext cx="66684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20 nm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6022975" y="2419350"/>
            <a:ext cx="94897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Filament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9" name="TextBox 10"/>
          <p:cNvSpPr txBox="1">
            <a:spLocks noChangeArrowheads="1"/>
          </p:cNvSpPr>
          <p:nvPr/>
        </p:nvSpPr>
        <p:spPr bwMode="auto">
          <a:xfrm>
            <a:off x="485775" y="3295650"/>
            <a:ext cx="92333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Cell wall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0" name="TextBox 11"/>
          <p:cNvSpPr txBox="1">
            <a:spLocks noChangeArrowheads="1"/>
          </p:cNvSpPr>
          <p:nvPr/>
        </p:nvSpPr>
        <p:spPr bwMode="auto">
          <a:xfrm>
            <a:off x="5227638" y="2987675"/>
            <a:ext cx="57708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Hook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4722813" y="3281363"/>
            <a:ext cx="64120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Motor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2" name="TextBox 17"/>
          <p:cNvSpPr txBox="1">
            <a:spLocks noChangeArrowheads="1"/>
          </p:cNvSpPr>
          <p:nvPr/>
        </p:nvSpPr>
        <p:spPr bwMode="auto">
          <a:xfrm>
            <a:off x="407988" y="5834063"/>
            <a:ext cx="1166986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Plasma</a:t>
            </a:r>
            <a:endParaRPr lang="en-US" sz="18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membrane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3" name="TextBox 20"/>
          <p:cNvSpPr txBox="1">
            <a:spLocks noChangeArrowheads="1"/>
          </p:cNvSpPr>
          <p:nvPr/>
        </p:nvSpPr>
        <p:spPr bwMode="auto">
          <a:xfrm>
            <a:off x="3559175" y="6092825"/>
            <a:ext cx="44884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Rod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4" name="TextBox 21"/>
          <p:cNvSpPr txBox="1">
            <a:spLocks noChangeArrowheads="1"/>
          </p:cNvSpPr>
          <p:nvPr/>
        </p:nvSpPr>
        <p:spPr bwMode="auto">
          <a:xfrm>
            <a:off x="4337050" y="5818188"/>
            <a:ext cx="1577355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Peptidoglycan</a:t>
            </a:r>
            <a:endParaRPr lang="en-US" sz="18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layer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6037590" y="3598782"/>
            <a:ext cx="214541" cy="2692603"/>
          </a:xfrm>
          <a:custGeom>
            <a:avLst/>
            <a:gdLst>
              <a:gd name="connsiteX0" fmla="*/ 195491 w 214541"/>
              <a:gd name="connsiteY0" fmla="*/ 19050 h 2692603"/>
              <a:gd name="connsiteX1" fmla="*/ 89623 w 214541"/>
              <a:gd name="connsiteY1" fmla="*/ 89649 h 2692603"/>
              <a:gd name="connsiteX2" fmla="*/ 89623 w 214541"/>
              <a:gd name="connsiteY2" fmla="*/ 1254480 h 2692603"/>
              <a:gd name="connsiteX3" fmla="*/ 19050 w 214541"/>
              <a:gd name="connsiteY3" fmla="*/ 1338300 h 2692603"/>
              <a:gd name="connsiteX4" fmla="*/ 89623 w 214541"/>
              <a:gd name="connsiteY4" fmla="*/ 1422133 h 2692603"/>
              <a:gd name="connsiteX5" fmla="*/ 89623 w 214541"/>
              <a:gd name="connsiteY5" fmla="*/ 2602954 h 2692603"/>
              <a:gd name="connsiteX6" fmla="*/ 195491 w 214541"/>
              <a:gd name="connsiteY6" fmla="*/ 2673553 h 269260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14541" h="2692603">
                <a:moveTo>
                  <a:pt x="195491" y="19050"/>
                </a:moveTo>
                <a:cubicBezTo>
                  <a:pt x="195491" y="19050"/>
                  <a:pt x="89623" y="27876"/>
                  <a:pt x="89623" y="89649"/>
                </a:cubicBezTo>
                <a:cubicBezTo>
                  <a:pt x="89623" y="151409"/>
                  <a:pt x="89623" y="1205941"/>
                  <a:pt x="89623" y="1254480"/>
                </a:cubicBezTo>
                <a:cubicBezTo>
                  <a:pt x="89623" y="1303007"/>
                  <a:pt x="19050" y="1338300"/>
                  <a:pt x="19050" y="1338300"/>
                </a:cubicBezTo>
                <a:cubicBezTo>
                  <a:pt x="19050" y="1338300"/>
                  <a:pt x="89623" y="1373606"/>
                  <a:pt x="89623" y="1422133"/>
                </a:cubicBezTo>
                <a:cubicBezTo>
                  <a:pt x="89623" y="1470660"/>
                  <a:pt x="89623" y="2541193"/>
                  <a:pt x="89623" y="2602954"/>
                </a:cubicBezTo>
                <a:cubicBezTo>
                  <a:pt x="89623" y="2664739"/>
                  <a:pt x="195491" y="2673553"/>
                  <a:pt x="195491" y="2673553"/>
                </a:cubicBez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6" name="Freeform 3"/>
          <p:cNvSpPr/>
          <p:nvPr/>
        </p:nvSpPr>
        <p:spPr>
          <a:xfrm>
            <a:off x="4025783" y="3716346"/>
            <a:ext cx="214541" cy="2226170"/>
          </a:xfrm>
          <a:custGeom>
            <a:avLst/>
            <a:gdLst>
              <a:gd name="connsiteX0" fmla="*/ 19050 w 214541"/>
              <a:gd name="connsiteY0" fmla="*/ 19050 h 2226170"/>
              <a:gd name="connsiteX1" fmla="*/ 124917 w 214541"/>
              <a:gd name="connsiteY1" fmla="*/ 89636 h 2226170"/>
              <a:gd name="connsiteX2" fmla="*/ 124917 w 214541"/>
              <a:gd name="connsiteY2" fmla="*/ 1028992 h 2226170"/>
              <a:gd name="connsiteX3" fmla="*/ 195490 w 214541"/>
              <a:gd name="connsiteY3" fmla="*/ 1112811 h 2226170"/>
              <a:gd name="connsiteX4" fmla="*/ 124917 w 214541"/>
              <a:gd name="connsiteY4" fmla="*/ 1196644 h 2226170"/>
              <a:gd name="connsiteX5" fmla="*/ 124917 w 214541"/>
              <a:gd name="connsiteY5" fmla="*/ 2136546 h 2226170"/>
              <a:gd name="connsiteX6" fmla="*/ 19050 w 214541"/>
              <a:gd name="connsiteY6" fmla="*/ 2207120 h 222617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14541" h="2226170">
                <a:moveTo>
                  <a:pt x="19050" y="19050"/>
                </a:moveTo>
                <a:cubicBezTo>
                  <a:pt x="19050" y="19050"/>
                  <a:pt x="124917" y="27863"/>
                  <a:pt x="124917" y="89636"/>
                </a:cubicBezTo>
                <a:cubicBezTo>
                  <a:pt x="124917" y="151409"/>
                  <a:pt x="124917" y="980452"/>
                  <a:pt x="124917" y="1028992"/>
                </a:cubicBezTo>
                <a:cubicBezTo>
                  <a:pt x="124917" y="1077518"/>
                  <a:pt x="195490" y="1112811"/>
                  <a:pt x="195490" y="1112811"/>
                </a:cubicBezTo>
                <a:cubicBezTo>
                  <a:pt x="195490" y="1112811"/>
                  <a:pt x="124917" y="1148105"/>
                  <a:pt x="124917" y="1196644"/>
                </a:cubicBezTo>
                <a:cubicBezTo>
                  <a:pt x="124917" y="1245171"/>
                  <a:pt x="124917" y="2074760"/>
                  <a:pt x="124917" y="2136546"/>
                </a:cubicBezTo>
                <a:cubicBezTo>
                  <a:pt x="124917" y="2198306"/>
                  <a:pt x="19050" y="2207120"/>
                  <a:pt x="19050" y="2207120"/>
                </a:cubicBez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7" name="Freeform 3"/>
          <p:cNvSpPr/>
          <p:nvPr/>
        </p:nvSpPr>
        <p:spPr>
          <a:xfrm>
            <a:off x="1419806" y="3682615"/>
            <a:ext cx="214553" cy="879297"/>
          </a:xfrm>
          <a:custGeom>
            <a:avLst/>
            <a:gdLst>
              <a:gd name="connsiteX0" fmla="*/ 195503 w 214553"/>
              <a:gd name="connsiteY0" fmla="*/ 19050 h 879297"/>
              <a:gd name="connsiteX1" fmla="*/ 89636 w 214553"/>
              <a:gd name="connsiteY1" fmla="*/ 89636 h 879297"/>
              <a:gd name="connsiteX2" fmla="*/ 89636 w 214553"/>
              <a:gd name="connsiteY2" fmla="*/ 354037 h 879297"/>
              <a:gd name="connsiteX3" fmla="*/ 19050 w 214553"/>
              <a:gd name="connsiteY3" fmla="*/ 437845 h 879297"/>
              <a:gd name="connsiteX4" fmla="*/ 89636 w 214553"/>
              <a:gd name="connsiteY4" fmla="*/ 521677 h 879297"/>
              <a:gd name="connsiteX5" fmla="*/ 89636 w 214553"/>
              <a:gd name="connsiteY5" fmla="*/ 789660 h 879297"/>
              <a:gd name="connsiteX6" fmla="*/ 195503 w 214553"/>
              <a:gd name="connsiteY6" fmla="*/ 860247 h 87929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14553" h="879297">
                <a:moveTo>
                  <a:pt x="195503" y="19050"/>
                </a:moveTo>
                <a:cubicBezTo>
                  <a:pt x="195503" y="19050"/>
                  <a:pt x="89636" y="27863"/>
                  <a:pt x="89636" y="89636"/>
                </a:cubicBezTo>
                <a:cubicBezTo>
                  <a:pt x="89636" y="151409"/>
                  <a:pt x="89636" y="305498"/>
                  <a:pt x="89636" y="354037"/>
                </a:cubicBezTo>
                <a:cubicBezTo>
                  <a:pt x="89636" y="402564"/>
                  <a:pt x="19050" y="437845"/>
                  <a:pt x="19050" y="437845"/>
                </a:cubicBezTo>
                <a:cubicBezTo>
                  <a:pt x="19050" y="437845"/>
                  <a:pt x="89636" y="473151"/>
                  <a:pt x="89636" y="521677"/>
                </a:cubicBezTo>
                <a:cubicBezTo>
                  <a:pt x="89636" y="570204"/>
                  <a:pt x="89636" y="727887"/>
                  <a:pt x="89636" y="789660"/>
                </a:cubicBezTo>
                <a:cubicBezTo>
                  <a:pt x="89636" y="851433"/>
                  <a:pt x="195503" y="860247"/>
                  <a:pt x="195503" y="860247"/>
                </a:cubicBez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8" name="Freeform 3"/>
          <p:cNvSpPr/>
          <p:nvPr/>
        </p:nvSpPr>
        <p:spPr>
          <a:xfrm>
            <a:off x="1211240" y="3533173"/>
            <a:ext cx="249097" cy="611098"/>
          </a:xfrm>
          <a:custGeom>
            <a:avLst/>
            <a:gdLst>
              <a:gd name="connsiteX0" fmla="*/ 230047 w 249097"/>
              <a:gd name="connsiteY0" fmla="*/ 592048 h 611098"/>
              <a:gd name="connsiteX1" fmla="*/ 19050 w 249097"/>
              <a:gd name="connsiteY1" fmla="*/ 19050 h 61109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49097" h="611098">
                <a:moveTo>
                  <a:pt x="230047" y="592048"/>
                </a:moveTo>
                <a:lnTo>
                  <a:pt x="19050" y="19050"/>
                </a:ln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9" name="Freeform 3"/>
          <p:cNvSpPr/>
          <p:nvPr/>
        </p:nvSpPr>
        <p:spPr>
          <a:xfrm>
            <a:off x="3545138" y="2847260"/>
            <a:ext cx="1671027" cy="295960"/>
          </a:xfrm>
          <a:custGeom>
            <a:avLst/>
            <a:gdLst>
              <a:gd name="connsiteX0" fmla="*/ 1651977 w 1671027"/>
              <a:gd name="connsiteY0" fmla="*/ 276910 h 295960"/>
              <a:gd name="connsiteX1" fmla="*/ 19050 w 1671027"/>
              <a:gd name="connsiteY1" fmla="*/ 19050 h 29596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671027" h="295960">
                <a:moveTo>
                  <a:pt x="1651977" y="276910"/>
                </a:moveTo>
                <a:lnTo>
                  <a:pt x="19050" y="19050"/>
                </a:ln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0" name="Freeform 3"/>
          <p:cNvSpPr/>
          <p:nvPr/>
        </p:nvSpPr>
        <p:spPr>
          <a:xfrm>
            <a:off x="5828535" y="3115916"/>
            <a:ext cx="1409928" cy="76200"/>
          </a:xfrm>
          <a:custGeom>
            <a:avLst/>
            <a:gdLst>
              <a:gd name="connsiteX0" fmla="*/ 19050 w 1409928"/>
              <a:gd name="connsiteY0" fmla="*/ 19050 h 76200"/>
              <a:gd name="connsiteX1" fmla="*/ 1390878 w 1409928"/>
              <a:gd name="connsiteY1" fmla="*/ 19050 h 76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409928" h="76200">
                <a:moveTo>
                  <a:pt x="19050" y="19050"/>
                </a:moveTo>
                <a:lnTo>
                  <a:pt x="1390878" y="19050"/>
                </a:ln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1" name="Freeform 3"/>
          <p:cNvSpPr/>
          <p:nvPr/>
        </p:nvSpPr>
        <p:spPr>
          <a:xfrm>
            <a:off x="4206935" y="3515927"/>
            <a:ext cx="1861718" cy="1440205"/>
          </a:xfrm>
          <a:custGeom>
            <a:avLst/>
            <a:gdLst>
              <a:gd name="connsiteX0" fmla="*/ 1842668 w 1861718"/>
              <a:gd name="connsiteY0" fmla="*/ 1421155 h 1440205"/>
              <a:gd name="connsiteX1" fmla="*/ 821829 w 1861718"/>
              <a:gd name="connsiteY1" fmla="*/ 19050 h 1440205"/>
              <a:gd name="connsiteX2" fmla="*/ 19050 w 1861718"/>
              <a:gd name="connsiteY2" fmla="*/ 1313230 h 144020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1861718" h="1440205">
                <a:moveTo>
                  <a:pt x="1842668" y="1421155"/>
                </a:moveTo>
                <a:lnTo>
                  <a:pt x="821829" y="19050"/>
                </a:lnTo>
                <a:lnTo>
                  <a:pt x="19050" y="1313230"/>
                </a:ln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2" name="Freeform 3"/>
          <p:cNvSpPr/>
          <p:nvPr/>
        </p:nvSpPr>
        <p:spPr>
          <a:xfrm>
            <a:off x="5043421" y="4457125"/>
            <a:ext cx="76200" cy="1354785"/>
          </a:xfrm>
          <a:custGeom>
            <a:avLst/>
            <a:gdLst>
              <a:gd name="connsiteX0" fmla="*/ 19050 w 76200"/>
              <a:gd name="connsiteY0" fmla="*/ 1335735 h 1354785"/>
              <a:gd name="connsiteX1" fmla="*/ 19050 w 76200"/>
              <a:gd name="connsiteY1" fmla="*/ 19050 h 135478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6200" h="1354785">
                <a:moveTo>
                  <a:pt x="19050" y="1335735"/>
                </a:moveTo>
                <a:lnTo>
                  <a:pt x="19050" y="19050"/>
                </a:ln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3" name="Freeform 3"/>
          <p:cNvSpPr/>
          <p:nvPr/>
        </p:nvSpPr>
        <p:spPr>
          <a:xfrm>
            <a:off x="2753979" y="1168435"/>
            <a:ext cx="311810" cy="369849"/>
          </a:xfrm>
          <a:custGeom>
            <a:avLst/>
            <a:gdLst>
              <a:gd name="connsiteX0" fmla="*/ 19050 w 311810"/>
              <a:gd name="connsiteY0" fmla="*/ 19050 h 369849"/>
              <a:gd name="connsiteX1" fmla="*/ 292760 w 311810"/>
              <a:gd name="connsiteY1" fmla="*/ 350799 h 36984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11810" h="369849">
                <a:moveTo>
                  <a:pt x="19050" y="19050"/>
                </a:moveTo>
                <a:lnTo>
                  <a:pt x="292760" y="350799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4" name="Freeform 3"/>
          <p:cNvSpPr/>
          <p:nvPr/>
        </p:nvSpPr>
        <p:spPr>
          <a:xfrm>
            <a:off x="4929464" y="2543971"/>
            <a:ext cx="1076871" cy="76200"/>
          </a:xfrm>
          <a:custGeom>
            <a:avLst/>
            <a:gdLst>
              <a:gd name="connsiteX0" fmla="*/ 1057821 w 1076871"/>
              <a:gd name="connsiteY0" fmla="*/ 19050 h 76200"/>
              <a:gd name="connsiteX1" fmla="*/ 19050 w 1076871"/>
              <a:gd name="connsiteY1" fmla="*/ 19050 h 76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076871" h="76200">
                <a:moveTo>
                  <a:pt x="1057821" y="19050"/>
                </a:moveTo>
                <a:lnTo>
                  <a:pt x="19050" y="19050"/>
                </a:ln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0" name="Freeform 3"/>
          <p:cNvSpPr/>
          <p:nvPr/>
        </p:nvSpPr>
        <p:spPr>
          <a:xfrm>
            <a:off x="3035525" y="4747358"/>
            <a:ext cx="505002" cy="1496974"/>
          </a:xfrm>
          <a:custGeom>
            <a:avLst/>
            <a:gdLst>
              <a:gd name="connsiteX0" fmla="*/ 485952 w 505002"/>
              <a:gd name="connsiteY0" fmla="*/ 1477924 h 1496974"/>
              <a:gd name="connsiteX1" fmla="*/ 19050 w 505002"/>
              <a:gd name="connsiteY1" fmla="*/ 19050 h 149697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505002" h="1496974">
                <a:moveTo>
                  <a:pt x="485952" y="1477924"/>
                </a:moveTo>
                <a:lnTo>
                  <a:pt x="19050" y="19050"/>
                </a:ln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2" name="Freeform 3"/>
          <p:cNvSpPr/>
          <p:nvPr/>
        </p:nvSpPr>
        <p:spPr>
          <a:xfrm>
            <a:off x="1093921" y="5185736"/>
            <a:ext cx="357712" cy="691972"/>
          </a:xfrm>
          <a:custGeom>
            <a:avLst/>
            <a:gdLst>
              <a:gd name="connsiteX0" fmla="*/ 19050 w 357712"/>
              <a:gd name="connsiteY0" fmla="*/ 672922 h 691972"/>
              <a:gd name="connsiteX1" fmla="*/ 338662 w 357712"/>
              <a:gd name="connsiteY1" fmla="*/ 19050 h 69197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57712" h="691972">
                <a:moveTo>
                  <a:pt x="19050" y="672922"/>
                </a:moveTo>
                <a:lnTo>
                  <a:pt x="338662" y="19050"/>
                </a:ln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8" name="Freeform 3"/>
          <p:cNvSpPr/>
          <p:nvPr/>
        </p:nvSpPr>
        <p:spPr>
          <a:xfrm>
            <a:off x="1420593" y="4897865"/>
            <a:ext cx="214566" cy="596506"/>
          </a:xfrm>
          <a:custGeom>
            <a:avLst/>
            <a:gdLst>
              <a:gd name="connsiteX0" fmla="*/ 195516 w 214566"/>
              <a:gd name="connsiteY0" fmla="*/ 19050 h 596506"/>
              <a:gd name="connsiteX1" fmla="*/ 89649 w 214566"/>
              <a:gd name="connsiteY1" fmla="*/ 89636 h 596506"/>
              <a:gd name="connsiteX2" fmla="*/ 89649 w 214566"/>
              <a:gd name="connsiteY2" fmla="*/ 223101 h 596506"/>
              <a:gd name="connsiteX3" fmla="*/ 19050 w 214566"/>
              <a:gd name="connsiteY3" fmla="*/ 306921 h 596506"/>
              <a:gd name="connsiteX4" fmla="*/ 89649 w 214566"/>
              <a:gd name="connsiteY4" fmla="*/ 390753 h 596506"/>
              <a:gd name="connsiteX5" fmla="*/ 89649 w 214566"/>
              <a:gd name="connsiteY5" fmla="*/ 506857 h 596506"/>
              <a:gd name="connsiteX6" fmla="*/ 195516 w 214566"/>
              <a:gd name="connsiteY6" fmla="*/ 577456 h 59650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14566" h="596506">
                <a:moveTo>
                  <a:pt x="195516" y="19050"/>
                </a:moveTo>
                <a:cubicBezTo>
                  <a:pt x="195516" y="19050"/>
                  <a:pt x="89649" y="27876"/>
                  <a:pt x="89649" y="89636"/>
                </a:cubicBezTo>
                <a:cubicBezTo>
                  <a:pt x="89649" y="151396"/>
                  <a:pt x="89649" y="174561"/>
                  <a:pt x="89649" y="223101"/>
                </a:cubicBezTo>
                <a:cubicBezTo>
                  <a:pt x="89649" y="271627"/>
                  <a:pt x="19050" y="306921"/>
                  <a:pt x="19050" y="306921"/>
                </a:cubicBezTo>
                <a:cubicBezTo>
                  <a:pt x="19050" y="306921"/>
                  <a:pt x="89649" y="342227"/>
                  <a:pt x="89649" y="390753"/>
                </a:cubicBezTo>
                <a:cubicBezTo>
                  <a:pt x="89649" y="439280"/>
                  <a:pt x="89649" y="445096"/>
                  <a:pt x="89649" y="506857"/>
                </a:cubicBezTo>
                <a:cubicBezTo>
                  <a:pt x="89649" y="568630"/>
                  <a:pt x="195516" y="577456"/>
                  <a:pt x="195516" y="577456"/>
                </a:cubicBezTo>
              </a:path>
            </a:pathLst>
          </a:cu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 rot="5400000" flipH="1" flipV="1">
            <a:off x="8191400" y="2047248"/>
            <a:ext cx="142879" cy="1164912"/>
            <a:chOff x="73" y="999807"/>
            <a:chExt cx="89669" cy="576732"/>
          </a:xfrm>
        </p:grpSpPr>
        <p:sp>
          <p:nvSpPr>
            <p:cNvPr id="27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28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sp>
        <p:nvSpPr>
          <p:cNvPr id="31" name="Freeform 30"/>
          <p:cNvSpPr/>
          <p:nvPr/>
        </p:nvSpPr>
        <p:spPr>
          <a:xfrm>
            <a:off x="6037589" y="3602548"/>
            <a:ext cx="214541" cy="2692603"/>
          </a:xfrm>
          <a:custGeom>
            <a:avLst/>
            <a:gdLst>
              <a:gd name="connsiteX0" fmla="*/ 195491 w 214541"/>
              <a:gd name="connsiteY0" fmla="*/ 19050 h 2692603"/>
              <a:gd name="connsiteX1" fmla="*/ 89623 w 214541"/>
              <a:gd name="connsiteY1" fmla="*/ 89649 h 2692603"/>
              <a:gd name="connsiteX2" fmla="*/ 89623 w 214541"/>
              <a:gd name="connsiteY2" fmla="*/ 1254480 h 2692603"/>
              <a:gd name="connsiteX3" fmla="*/ 19050 w 214541"/>
              <a:gd name="connsiteY3" fmla="*/ 1338300 h 2692603"/>
              <a:gd name="connsiteX4" fmla="*/ 89623 w 214541"/>
              <a:gd name="connsiteY4" fmla="*/ 1422133 h 2692603"/>
              <a:gd name="connsiteX5" fmla="*/ 89623 w 214541"/>
              <a:gd name="connsiteY5" fmla="*/ 2602954 h 2692603"/>
              <a:gd name="connsiteX6" fmla="*/ 195491 w 214541"/>
              <a:gd name="connsiteY6" fmla="*/ 2673553 h 269260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14541" h="2692603">
                <a:moveTo>
                  <a:pt x="195491" y="19050"/>
                </a:moveTo>
                <a:cubicBezTo>
                  <a:pt x="195491" y="19050"/>
                  <a:pt x="89623" y="27876"/>
                  <a:pt x="89623" y="89649"/>
                </a:cubicBezTo>
                <a:cubicBezTo>
                  <a:pt x="89623" y="151409"/>
                  <a:pt x="89623" y="1205941"/>
                  <a:pt x="89623" y="1254480"/>
                </a:cubicBezTo>
                <a:cubicBezTo>
                  <a:pt x="89623" y="1303007"/>
                  <a:pt x="19050" y="1338300"/>
                  <a:pt x="19050" y="1338300"/>
                </a:cubicBezTo>
                <a:cubicBezTo>
                  <a:pt x="19050" y="1338300"/>
                  <a:pt x="89623" y="1373606"/>
                  <a:pt x="89623" y="1422133"/>
                </a:cubicBezTo>
                <a:cubicBezTo>
                  <a:pt x="89623" y="1470660"/>
                  <a:pt x="89623" y="2541193"/>
                  <a:pt x="89623" y="2602954"/>
                </a:cubicBezTo>
                <a:cubicBezTo>
                  <a:pt x="89623" y="2664739"/>
                  <a:pt x="195491" y="2673553"/>
                  <a:pt x="195491" y="2673553"/>
                </a:cubicBez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3" name="Freeform 3"/>
          <p:cNvSpPr/>
          <p:nvPr/>
        </p:nvSpPr>
        <p:spPr>
          <a:xfrm>
            <a:off x="4025782" y="3720112"/>
            <a:ext cx="214541" cy="2226170"/>
          </a:xfrm>
          <a:custGeom>
            <a:avLst/>
            <a:gdLst>
              <a:gd name="connsiteX0" fmla="*/ 19050 w 214541"/>
              <a:gd name="connsiteY0" fmla="*/ 19050 h 2226170"/>
              <a:gd name="connsiteX1" fmla="*/ 124917 w 214541"/>
              <a:gd name="connsiteY1" fmla="*/ 89636 h 2226170"/>
              <a:gd name="connsiteX2" fmla="*/ 124917 w 214541"/>
              <a:gd name="connsiteY2" fmla="*/ 1028992 h 2226170"/>
              <a:gd name="connsiteX3" fmla="*/ 195490 w 214541"/>
              <a:gd name="connsiteY3" fmla="*/ 1112811 h 2226170"/>
              <a:gd name="connsiteX4" fmla="*/ 124917 w 214541"/>
              <a:gd name="connsiteY4" fmla="*/ 1196644 h 2226170"/>
              <a:gd name="connsiteX5" fmla="*/ 124917 w 214541"/>
              <a:gd name="connsiteY5" fmla="*/ 2136546 h 2226170"/>
              <a:gd name="connsiteX6" fmla="*/ 19050 w 214541"/>
              <a:gd name="connsiteY6" fmla="*/ 2207120 h 222617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14541" h="2226170">
                <a:moveTo>
                  <a:pt x="19050" y="19050"/>
                </a:moveTo>
                <a:cubicBezTo>
                  <a:pt x="19050" y="19050"/>
                  <a:pt x="124917" y="27863"/>
                  <a:pt x="124917" y="89636"/>
                </a:cubicBezTo>
                <a:cubicBezTo>
                  <a:pt x="124917" y="151409"/>
                  <a:pt x="124917" y="980452"/>
                  <a:pt x="124917" y="1028992"/>
                </a:cubicBezTo>
                <a:cubicBezTo>
                  <a:pt x="124917" y="1077518"/>
                  <a:pt x="195490" y="1112811"/>
                  <a:pt x="195490" y="1112811"/>
                </a:cubicBezTo>
                <a:cubicBezTo>
                  <a:pt x="195490" y="1112811"/>
                  <a:pt x="124917" y="1148105"/>
                  <a:pt x="124917" y="1196644"/>
                </a:cubicBezTo>
                <a:cubicBezTo>
                  <a:pt x="124917" y="1245171"/>
                  <a:pt x="124917" y="2074760"/>
                  <a:pt x="124917" y="2136546"/>
                </a:cubicBezTo>
                <a:cubicBezTo>
                  <a:pt x="124917" y="2198306"/>
                  <a:pt x="19050" y="2207120"/>
                  <a:pt x="19050" y="2207120"/>
                </a:cubicBez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4" name="Freeform 3"/>
          <p:cNvSpPr/>
          <p:nvPr/>
        </p:nvSpPr>
        <p:spPr>
          <a:xfrm>
            <a:off x="1419805" y="3686381"/>
            <a:ext cx="214553" cy="879297"/>
          </a:xfrm>
          <a:custGeom>
            <a:avLst/>
            <a:gdLst>
              <a:gd name="connsiteX0" fmla="*/ 195503 w 214553"/>
              <a:gd name="connsiteY0" fmla="*/ 19050 h 879297"/>
              <a:gd name="connsiteX1" fmla="*/ 89636 w 214553"/>
              <a:gd name="connsiteY1" fmla="*/ 89636 h 879297"/>
              <a:gd name="connsiteX2" fmla="*/ 89636 w 214553"/>
              <a:gd name="connsiteY2" fmla="*/ 354037 h 879297"/>
              <a:gd name="connsiteX3" fmla="*/ 19050 w 214553"/>
              <a:gd name="connsiteY3" fmla="*/ 437845 h 879297"/>
              <a:gd name="connsiteX4" fmla="*/ 89636 w 214553"/>
              <a:gd name="connsiteY4" fmla="*/ 521677 h 879297"/>
              <a:gd name="connsiteX5" fmla="*/ 89636 w 214553"/>
              <a:gd name="connsiteY5" fmla="*/ 789660 h 879297"/>
              <a:gd name="connsiteX6" fmla="*/ 195503 w 214553"/>
              <a:gd name="connsiteY6" fmla="*/ 860247 h 87929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14553" h="879297">
                <a:moveTo>
                  <a:pt x="195503" y="19050"/>
                </a:moveTo>
                <a:cubicBezTo>
                  <a:pt x="195503" y="19050"/>
                  <a:pt x="89636" y="27863"/>
                  <a:pt x="89636" y="89636"/>
                </a:cubicBezTo>
                <a:cubicBezTo>
                  <a:pt x="89636" y="151409"/>
                  <a:pt x="89636" y="305498"/>
                  <a:pt x="89636" y="354037"/>
                </a:cubicBezTo>
                <a:cubicBezTo>
                  <a:pt x="89636" y="402564"/>
                  <a:pt x="19050" y="437845"/>
                  <a:pt x="19050" y="437845"/>
                </a:cubicBezTo>
                <a:cubicBezTo>
                  <a:pt x="19050" y="437845"/>
                  <a:pt x="89636" y="473151"/>
                  <a:pt x="89636" y="521677"/>
                </a:cubicBezTo>
                <a:cubicBezTo>
                  <a:pt x="89636" y="570204"/>
                  <a:pt x="89636" y="727887"/>
                  <a:pt x="89636" y="789660"/>
                </a:cubicBezTo>
                <a:cubicBezTo>
                  <a:pt x="89636" y="851433"/>
                  <a:pt x="195503" y="860247"/>
                  <a:pt x="195503" y="860247"/>
                </a:cubicBez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5" name="Freeform 3"/>
          <p:cNvSpPr/>
          <p:nvPr/>
        </p:nvSpPr>
        <p:spPr>
          <a:xfrm>
            <a:off x="1211239" y="3536939"/>
            <a:ext cx="249097" cy="611098"/>
          </a:xfrm>
          <a:custGeom>
            <a:avLst/>
            <a:gdLst>
              <a:gd name="connsiteX0" fmla="*/ 230047 w 249097"/>
              <a:gd name="connsiteY0" fmla="*/ 592048 h 611098"/>
              <a:gd name="connsiteX1" fmla="*/ 19050 w 249097"/>
              <a:gd name="connsiteY1" fmla="*/ 19050 h 61109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49097" h="611098">
                <a:moveTo>
                  <a:pt x="230047" y="592048"/>
                </a:moveTo>
                <a:lnTo>
                  <a:pt x="19050" y="190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6" name="Freeform 3"/>
          <p:cNvSpPr/>
          <p:nvPr/>
        </p:nvSpPr>
        <p:spPr>
          <a:xfrm>
            <a:off x="3545137" y="2851026"/>
            <a:ext cx="1671027" cy="295960"/>
          </a:xfrm>
          <a:custGeom>
            <a:avLst/>
            <a:gdLst>
              <a:gd name="connsiteX0" fmla="*/ 1651977 w 1671027"/>
              <a:gd name="connsiteY0" fmla="*/ 276910 h 295960"/>
              <a:gd name="connsiteX1" fmla="*/ 19050 w 1671027"/>
              <a:gd name="connsiteY1" fmla="*/ 19050 h 29596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671027" h="295960">
                <a:moveTo>
                  <a:pt x="1651977" y="276910"/>
                </a:moveTo>
                <a:lnTo>
                  <a:pt x="19050" y="190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7" name="Freeform 3"/>
          <p:cNvSpPr/>
          <p:nvPr/>
        </p:nvSpPr>
        <p:spPr>
          <a:xfrm>
            <a:off x="5828534" y="3119682"/>
            <a:ext cx="1409928" cy="76200"/>
          </a:xfrm>
          <a:custGeom>
            <a:avLst/>
            <a:gdLst>
              <a:gd name="connsiteX0" fmla="*/ 19050 w 1409928"/>
              <a:gd name="connsiteY0" fmla="*/ 19050 h 76200"/>
              <a:gd name="connsiteX1" fmla="*/ 1390878 w 1409928"/>
              <a:gd name="connsiteY1" fmla="*/ 19050 h 76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409928" h="76200">
                <a:moveTo>
                  <a:pt x="19050" y="19050"/>
                </a:moveTo>
                <a:lnTo>
                  <a:pt x="1390878" y="190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9" name="Freeform 3"/>
          <p:cNvSpPr/>
          <p:nvPr/>
        </p:nvSpPr>
        <p:spPr>
          <a:xfrm>
            <a:off x="4206934" y="3519693"/>
            <a:ext cx="1861718" cy="1440205"/>
          </a:xfrm>
          <a:custGeom>
            <a:avLst/>
            <a:gdLst>
              <a:gd name="connsiteX0" fmla="*/ 1842668 w 1861718"/>
              <a:gd name="connsiteY0" fmla="*/ 1421155 h 1440205"/>
              <a:gd name="connsiteX1" fmla="*/ 821829 w 1861718"/>
              <a:gd name="connsiteY1" fmla="*/ 19050 h 1440205"/>
              <a:gd name="connsiteX2" fmla="*/ 19050 w 1861718"/>
              <a:gd name="connsiteY2" fmla="*/ 1313230 h 144020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1861718" h="1440205">
                <a:moveTo>
                  <a:pt x="1842668" y="1421155"/>
                </a:moveTo>
                <a:lnTo>
                  <a:pt x="821829" y="19050"/>
                </a:lnTo>
                <a:lnTo>
                  <a:pt x="19050" y="131323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0" name="Freeform 3"/>
          <p:cNvSpPr/>
          <p:nvPr/>
        </p:nvSpPr>
        <p:spPr>
          <a:xfrm>
            <a:off x="5043420" y="4460891"/>
            <a:ext cx="76200" cy="1354785"/>
          </a:xfrm>
          <a:custGeom>
            <a:avLst/>
            <a:gdLst>
              <a:gd name="connsiteX0" fmla="*/ 19050 w 76200"/>
              <a:gd name="connsiteY0" fmla="*/ 1335735 h 1354785"/>
              <a:gd name="connsiteX1" fmla="*/ 19050 w 76200"/>
              <a:gd name="connsiteY1" fmla="*/ 19050 h 135478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6200" h="1354785">
                <a:moveTo>
                  <a:pt x="19050" y="1335735"/>
                </a:moveTo>
                <a:lnTo>
                  <a:pt x="19050" y="190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1" name="Freeform 3"/>
          <p:cNvSpPr/>
          <p:nvPr/>
        </p:nvSpPr>
        <p:spPr>
          <a:xfrm>
            <a:off x="4929463" y="2547737"/>
            <a:ext cx="1076871" cy="76200"/>
          </a:xfrm>
          <a:custGeom>
            <a:avLst/>
            <a:gdLst>
              <a:gd name="connsiteX0" fmla="*/ 1057821 w 1076871"/>
              <a:gd name="connsiteY0" fmla="*/ 19050 h 76200"/>
              <a:gd name="connsiteX1" fmla="*/ 19050 w 1076871"/>
              <a:gd name="connsiteY1" fmla="*/ 19050 h 762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076871" h="76200">
                <a:moveTo>
                  <a:pt x="1057821" y="19050"/>
                </a:moveTo>
                <a:lnTo>
                  <a:pt x="19050" y="190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2" name="Freeform 3"/>
          <p:cNvSpPr/>
          <p:nvPr/>
        </p:nvSpPr>
        <p:spPr>
          <a:xfrm>
            <a:off x="3035524" y="4751124"/>
            <a:ext cx="505002" cy="1496974"/>
          </a:xfrm>
          <a:custGeom>
            <a:avLst/>
            <a:gdLst>
              <a:gd name="connsiteX0" fmla="*/ 485952 w 505002"/>
              <a:gd name="connsiteY0" fmla="*/ 1477924 h 1496974"/>
              <a:gd name="connsiteX1" fmla="*/ 19050 w 505002"/>
              <a:gd name="connsiteY1" fmla="*/ 19050 h 149697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505002" h="1496974">
                <a:moveTo>
                  <a:pt x="485952" y="1477924"/>
                </a:moveTo>
                <a:lnTo>
                  <a:pt x="19050" y="190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3" name="Freeform 3"/>
          <p:cNvSpPr/>
          <p:nvPr/>
        </p:nvSpPr>
        <p:spPr>
          <a:xfrm>
            <a:off x="1093920" y="5189502"/>
            <a:ext cx="357712" cy="691972"/>
          </a:xfrm>
          <a:custGeom>
            <a:avLst/>
            <a:gdLst>
              <a:gd name="connsiteX0" fmla="*/ 19050 w 357712"/>
              <a:gd name="connsiteY0" fmla="*/ 672922 h 691972"/>
              <a:gd name="connsiteX1" fmla="*/ 338662 w 357712"/>
              <a:gd name="connsiteY1" fmla="*/ 19050 h 69197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57712" h="691972">
                <a:moveTo>
                  <a:pt x="19050" y="672922"/>
                </a:moveTo>
                <a:lnTo>
                  <a:pt x="338662" y="19050"/>
                </a:ln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4" name="Freeform 3"/>
          <p:cNvSpPr/>
          <p:nvPr/>
        </p:nvSpPr>
        <p:spPr>
          <a:xfrm>
            <a:off x="1420592" y="4901631"/>
            <a:ext cx="214566" cy="596506"/>
          </a:xfrm>
          <a:custGeom>
            <a:avLst/>
            <a:gdLst>
              <a:gd name="connsiteX0" fmla="*/ 195516 w 214566"/>
              <a:gd name="connsiteY0" fmla="*/ 19050 h 596506"/>
              <a:gd name="connsiteX1" fmla="*/ 89649 w 214566"/>
              <a:gd name="connsiteY1" fmla="*/ 89636 h 596506"/>
              <a:gd name="connsiteX2" fmla="*/ 89649 w 214566"/>
              <a:gd name="connsiteY2" fmla="*/ 223101 h 596506"/>
              <a:gd name="connsiteX3" fmla="*/ 19050 w 214566"/>
              <a:gd name="connsiteY3" fmla="*/ 306921 h 596506"/>
              <a:gd name="connsiteX4" fmla="*/ 89649 w 214566"/>
              <a:gd name="connsiteY4" fmla="*/ 390753 h 596506"/>
              <a:gd name="connsiteX5" fmla="*/ 89649 w 214566"/>
              <a:gd name="connsiteY5" fmla="*/ 506857 h 596506"/>
              <a:gd name="connsiteX6" fmla="*/ 195516 w 214566"/>
              <a:gd name="connsiteY6" fmla="*/ 577456 h 59650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14566" h="596506">
                <a:moveTo>
                  <a:pt x="195516" y="19050"/>
                </a:moveTo>
                <a:cubicBezTo>
                  <a:pt x="195516" y="19050"/>
                  <a:pt x="89649" y="27876"/>
                  <a:pt x="89649" y="89636"/>
                </a:cubicBezTo>
                <a:cubicBezTo>
                  <a:pt x="89649" y="151396"/>
                  <a:pt x="89649" y="174561"/>
                  <a:pt x="89649" y="223101"/>
                </a:cubicBezTo>
                <a:cubicBezTo>
                  <a:pt x="89649" y="271627"/>
                  <a:pt x="19050" y="306921"/>
                  <a:pt x="19050" y="306921"/>
                </a:cubicBezTo>
                <a:cubicBezTo>
                  <a:pt x="19050" y="306921"/>
                  <a:pt x="89649" y="342227"/>
                  <a:pt x="89649" y="390753"/>
                </a:cubicBezTo>
                <a:cubicBezTo>
                  <a:pt x="89649" y="439280"/>
                  <a:pt x="89649" y="445096"/>
                  <a:pt x="89649" y="506857"/>
                </a:cubicBezTo>
                <a:cubicBezTo>
                  <a:pt x="89649" y="568630"/>
                  <a:pt x="195516" y="577456"/>
                  <a:pt x="195516" y="577456"/>
                </a:cubicBez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i="1" dirty="0" smtClean="0"/>
              <a:t>Evolutionary Origins of Bacterial Flagella</a:t>
            </a:r>
            <a:endParaRPr lang="en-US" i="1" dirty="0" smtClean="0"/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Bacterial flagella are composed of 42 different kinds of proteins that form a motor, hook, and filament 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Most of the </a:t>
            </a:r>
            <a:r>
              <a:rPr lang="en-US" altLang="ja-JP" smtClean="0"/>
              <a:t>proteins in the flagella are modified versions of bacterial proteins with different functions </a:t>
            </a:r>
            <a:endParaRPr lang="en-US" altLang="ja-JP" smtClean="0"/>
          </a:p>
          <a:p>
            <a:r>
              <a:rPr lang="en-US" smtClean="0"/>
              <a:t>Flagella likely evolved as existing proteins were added to an ancestral secretory system</a:t>
            </a:r>
            <a:endParaRPr lang="en-US" smtClean="0"/>
          </a:p>
          <a:p>
            <a:r>
              <a:rPr lang="en-US" smtClean="0"/>
              <a:t>This is an example of exaptation, where structures adapted for one function take on new functions through descent with modification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Internal Organization and DNA</a:t>
            </a:r>
            <a:endParaRPr lang="en-US" dirty="0" smtClean="0"/>
          </a:p>
        </p:txBody>
      </p:sp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Prokaryotic cells usually lack complex compartmentalization</a:t>
            </a:r>
            <a:endParaRPr lang="en-US" smtClean="0"/>
          </a:p>
          <a:p>
            <a:r>
              <a:rPr lang="en-US" smtClean="0"/>
              <a:t>Some prokaryotes do have specialized membranes that perform metabolic functions</a:t>
            </a:r>
            <a:endParaRPr lang="en-US" smtClean="0"/>
          </a:p>
          <a:p>
            <a:r>
              <a:rPr lang="en-US" smtClean="0"/>
              <a:t>These are usually infoldings of the plasma membrane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66"/>
          <a:stretch>
            <a:fillRect/>
          </a:stretch>
        </p:blipFill>
        <p:spPr>
          <a:xfrm>
            <a:off x="1234440" y="1426464"/>
            <a:ext cx="6675120" cy="400507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27.8</a:t>
            </a:r>
            <a:endParaRPr lang="en-US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1318706" y="1461254"/>
            <a:ext cx="72295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0.2 </a:t>
            </a:r>
            <a:r>
              <a:rPr lang="en-US" sz="1800" b="1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4682618" y="1453317"/>
            <a:ext cx="53059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1 </a:t>
            </a:r>
            <a:r>
              <a:rPr lang="en-US" sz="1800" b="1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10"/>
          <p:cNvSpPr txBox="1">
            <a:spLocks noChangeArrowheads="1"/>
          </p:cNvSpPr>
          <p:nvPr/>
        </p:nvSpPr>
        <p:spPr bwMode="auto">
          <a:xfrm>
            <a:off x="2191831" y="3228142"/>
            <a:ext cx="128240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Respiratory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membrane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9" name="TextBox 15"/>
          <p:cNvSpPr txBox="1">
            <a:spLocks noChangeArrowheads="1"/>
          </p:cNvSpPr>
          <p:nvPr/>
        </p:nvSpPr>
        <p:spPr bwMode="auto">
          <a:xfrm>
            <a:off x="5757356" y="4372729"/>
            <a:ext cx="1295226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ln w="19050"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Thylakoid</a:t>
            </a:r>
            <a:endParaRPr lang="en-US" sz="1800" b="1" dirty="0" smtClean="0">
              <a:ln w="19050">
                <a:solidFill>
                  <a:srgbClr val="FFFFFF"/>
                </a:solidFill>
              </a:ln>
              <a:solidFill>
                <a:srgbClr val="FFFFFF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ln w="19050">
                  <a:solidFill>
                    <a:srgbClr val="FFFFFF"/>
                  </a:solidFill>
                </a:ln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membranes</a:t>
            </a:r>
            <a:endParaRPr lang="en-US" sz="1800" b="1" dirty="0">
              <a:ln w="19050">
                <a:solidFill>
                  <a:srgbClr val="FFFFFF"/>
                </a:solidFill>
              </a:ln>
              <a:solidFill>
                <a:srgbClr val="FFFFFF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1272668" y="5142667"/>
            <a:ext cx="245362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(a) Aerobic prokaryote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1" name="TextBox 19"/>
          <p:cNvSpPr txBox="1">
            <a:spLocks noChangeArrowheads="1"/>
          </p:cNvSpPr>
          <p:nvPr/>
        </p:nvSpPr>
        <p:spPr bwMode="auto">
          <a:xfrm>
            <a:off x="4625468" y="5142667"/>
            <a:ext cx="328295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(b) Photosynthetic prokaryote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" name="Freeform 1"/>
          <p:cNvSpPr/>
          <p:nvPr/>
        </p:nvSpPr>
        <p:spPr>
          <a:xfrm>
            <a:off x="5267325" y="4507706"/>
            <a:ext cx="478631" cy="390525"/>
          </a:xfrm>
          <a:custGeom>
            <a:avLst/>
            <a:gdLst>
              <a:gd name="connsiteX0" fmla="*/ 0 w 478631"/>
              <a:gd name="connsiteY0" fmla="*/ 119063 h 390525"/>
              <a:gd name="connsiteX1" fmla="*/ 478631 w 478631"/>
              <a:gd name="connsiteY1" fmla="*/ 0 h 390525"/>
              <a:gd name="connsiteX2" fmla="*/ 128588 w 478631"/>
              <a:gd name="connsiteY2" fmla="*/ 390525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8631" h="390525">
                <a:moveTo>
                  <a:pt x="0" y="119063"/>
                </a:moveTo>
                <a:lnTo>
                  <a:pt x="478631" y="0"/>
                </a:lnTo>
                <a:lnTo>
                  <a:pt x="128588" y="390525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1926431" y="3369469"/>
            <a:ext cx="219075" cy="0"/>
          </a:xfrm>
          <a:custGeom>
            <a:avLst/>
            <a:gdLst>
              <a:gd name="connsiteX0" fmla="*/ 0 w 219075"/>
              <a:gd name="connsiteY0" fmla="*/ 0 h 0"/>
              <a:gd name="connsiteX1" fmla="*/ 219075 w 2190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9075">
                <a:moveTo>
                  <a:pt x="0" y="0"/>
                </a:moveTo>
                <a:lnTo>
                  <a:pt x="21907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grpSp>
        <p:nvGrpSpPr>
          <p:cNvPr id="12" name="Group 11"/>
          <p:cNvGrpSpPr/>
          <p:nvPr/>
        </p:nvGrpSpPr>
        <p:grpSpPr>
          <a:xfrm rot="5400000" flipH="1" flipV="1">
            <a:off x="4873802" y="1557096"/>
            <a:ext cx="176274" cy="472029"/>
            <a:chOff x="73" y="999807"/>
            <a:chExt cx="89669" cy="576732"/>
          </a:xfrm>
        </p:grpSpPr>
        <p:sp>
          <p:nvSpPr>
            <p:cNvPr id="13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4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5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 rot="5400000" flipH="1" flipV="1">
            <a:off x="1596032" y="1460357"/>
            <a:ext cx="176274" cy="665507"/>
            <a:chOff x="73" y="999807"/>
            <a:chExt cx="89669" cy="576732"/>
          </a:xfrm>
        </p:grpSpPr>
        <p:sp>
          <p:nvSpPr>
            <p:cNvPr id="17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8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9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sp>
        <p:nvSpPr>
          <p:cNvPr id="21" name="Freeform 20"/>
          <p:cNvSpPr/>
          <p:nvPr/>
        </p:nvSpPr>
        <p:spPr>
          <a:xfrm>
            <a:off x="5269705" y="4507704"/>
            <a:ext cx="478631" cy="390525"/>
          </a:xfrm>
          <a:custGeom>
            <a:avLst/>
            <a:gdLst>
              <a:gd name="connsiteX0" fmla="*/ 0 w 478631"/>
              <a:gd name="connsiteY0" fmla="*/ 119063 h 390525"/>
              <a:gd name="connsiteX1" fmla="*/ 478631 w 478631"/>
              <a:gd name="connsiteY1" fmla="*/ 0 h 390525"/>
              <a:gd name="connsiteX2" fmla="*/ 128588 w 478631"/>
              <a:gd name="connsiteY2" fmla="*/ 390525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8631" h="390525">
                <a:moveTo>
                  <a:pt x="0" y="119063"/>
                </a:moveTo>
                <a:lnTo>
                  <a:pt x="478631" y="0"/>
                </a:lnTo>
                <a:lnTo>
                  <a:pt x="128588" y="390525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sp>
        <p:nvSpPr>
          <p:cNvPr id="22" name="TextBox 15"/>
          <p:cNvSpPr txBox="1">
            <a:spLocks noChangeArrowheads="1"/>
          </p:cNvSpPr>
          <p:nvPr/>
        </p:nvSpPr>
        <p:spPr bwMode="auto">
          <a:xfrm>
            <a:off x="5759741" y="4373363"/>
            <a:ext cx="1295226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Thylakoid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membranes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prokaryotic genome has less DNA than the eukaryotic genome</a:t>
            </a:r>
            <a:endParaRPr lang="en-US" smtClean="0"/>
          </a:p>
          <a:p>
            <a:r>
              <a:rPr lang="en-US" smtClean="0"/>
              <a:t>Most of the genome consists of a circular chromosome</a:t>
            </a:r>
            <a:endParaRPr lang="en-US" smtClean="0"/>
          </a:p>
          <a:p>
            <a:r>
              <a:rPr lang="en-US" smtClean="0"/>
              <a:t>The chromosome is not contained in a nucleus; it is located in the </a:t>
            </a:r>
            <a:r>
              <a:rPr lang="en-US" b="1" smtClean="0"/>
              <a:t>nucleoid</a:t>
            </a:r>
            <a:r>
              <a:rPr lang="en-US" smtClean="0"/>
              <a:t> region with no surrounding membrane </a:t>
            </a:r>
            <a:endParaRPr lang="en-US" smtClean="0"/>
          </a:p>
          <a:p>
            <a:r>
              <a:rPr lang="en-US" smtClean="0"/>
              <a:t>Typical prokaryotes also have smaller rings of independently replicating DNA called </a:t>
            </a:r>
            <a:r>
              <a:rPr lang="en-US" b="1" smtClean="0"/>
              <a:t>plasmids</a:t>
            </a:r>
            <a:endParaRPr lang="en-US" b="1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00"/>
          <a:stretch>
            <a:fillRect/>
          </a:stretch>
        </p:blipFill>
        <p:spPr>
          <a:xfrm>
            <a:off x="1258824" y="877824"/>
            <a:ext cx="6626352" cy="510235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27.9</a:t>
            </a:r>
            <a:endParaRPr lang="en-US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5375412" y="1068602"/>
            <a:ext cx="148758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Chromosome</a:t>
            </a:r>
            <a:endParaRPr lang="en-US" sz="1800" b="1" dirty="0">
              <a:solidFill>
                <a:srgbClr val="FFFFFF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5840550" y="2041740"/>
            <a:ext cx="101309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Plasmids</a:t>
            </a:r>
            <a:endParaRPr lang="en-US" sz="1800" b="1" dirty="0">
              <a:solidFill>
                <a:srgbClr val="FFFFFF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13"/>
          <p:cNvSpPr txBox="1">
            <a:spLocks noChangeArrowheads="1"/>
          </p:cNvSpPr>
          <p:nvPr/>
        </p:nvSpPr>
        <p:spPr bwMode="auto">
          <a:xfrm>
            <a:off x="6951800" y="5585040"/>
            <a:ext cx="53059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1 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800" b="1" dirty="0">
              <a:solidFill>
                <a:srgbClr val="FFFFFF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" name="Freeform 1"/>
          <p:cNvSpPr/>
          <p:nvPr/>
        </p:nvSpPr>
        <p:spPr>
          <a:xfrm>
            <a:off x="4738688" y="1209675"/>
            <a:ext cx="581025" cy="504825"/>
          </a:xfrm>
          <a:custGeom>
            <a:avLst/>
            <a:gdLst>
              <a:gd name="connsiteX0" fmla="*/ 0 w 581025"/>
              <a:gd name="connsiteY0" fmla="*/ 504825 h 504825"/>
              <a:gd name="connsiteX1" fmla="*/ 581025 w 581025"/>
              <a:gd name="connsiteY1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1025" h="504825">
                <a:moveTo>
                  <a:pt x="0" y="504825"/>
                </a:moveTo>
                <a:lnTo>
                  <a:pt x="581025" y="0"/>
                </a:lnTo>
              </a:path>
            </a:pathLst>
          </a:custGeom>
          <a:ln w="127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FFFFFF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6891338" y="1862138"/>
            <a:ext cx="285750" cy="890587"/>
          </a:xfrm>
          <a:custGeom>
            <a:avLst/>
            <a:gdLst>
              <a:gd name="connsiteX0" fmla="*/ 285750 w 285750"/>
              <a:gd name="connsiteY0" fmla="*/ 0 h 890587"/>
              <a:gd name="connsiteX1" fmla="*/ 0 w 285750"/>
              <a:gd name="connsiteY1" fmla="*/ 347662 h 890587"/>
              <a:gd name="connsiteX2" fmla="*/ 138112 w 285750"/>
              <a:gd name="connsiteY2" fmla="*/ 890587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5750" h="890587">
                <a:moveTo>
                  <a:pt x="285750" y="0"/>
                </a:moveTo>
                <a:lnTo>
                  <a:pt x="0" y="347662"/>
                </a:lnTo>
                <a:lnTo>
                  <a:pt x="138112" y="890587"/>
                </a:lnTo>
              </a:path>
            </a:pathLst>
          </a:custGeom>
          <a:ln w="127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FFFFFF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grpSp>
        <p:nvGrpSpPr>
          <p:cNvPr id="9" name="Group 8"/>
          <p:cNvGrpSpPr/>
          <p:nvPr/>
        </p:nvGrpSpPr>
        <p:grpSpPr>
          <a:xfrm rot="5400000" flipH="1" flipV="1">
            <a:off x="7167748" y="5056582"/>
            <a:ext cx="142879" cy="961656"/>
            <a:chOff x="73" y="999807"/>
            <a:chExt cx="89669" cy="576732"/>
          </a:xfrm>
        </p:grpSpPr>
        <p:sp>
          <p:nvSpPr>
            <p:cNvPr id="10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11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12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There are some differences between prokaryotes and eukaryotes in DNA replication, transcription, and translation</a:t>
            </a:r>
            <a:endParaRPr lang="en-US" smtClean="0"/>
          </a:p>
          <a:p>
            <a:r>
              <a:rPr lang="en-US" smtClean="0"/>
              <a:t>These differences allow people to use certain antibiotics to inhibit bacterial growth without harming themselves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Reproduction</a:t>
            </a:r>
            <a:endParaRPr lang="en-US" dirty="0" smtClean="0"/>
          </a:p>
        </p:txBody>
      </p:sp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Prokaryotes reproduce quickly by binary fission and can divide every 1–3 hours under optimal conditions</a:t>
            </a:r>
            <a:endParaRPr lang="en-US" smtClean="0"/>
          </a:p>
          <a:p>
            <a:r>
              <a:rPr lang="en-US" smtClean="0"/>
              <a:t>Key features of prokaryote biology:</a:t>
            </a:r>
            <a:endParaRPr lang="en-US" smtClean="0"/>
          </a:p>
          <a:p>
            <a:pPr lvl="1"/>
            <a:r>
              <a:rPr lang="en-US" smtClean="0"/>
              <a:t>They are small</a:t>
            </a:r>
            <a:endParaRPr lang="en-US" smtClean="0"/>
          </a:p>
          <a:p>
            <a:pPr lvl="1"/>
            <a:r>
              <a:rPr lang="en-US" smtClean="0"/>
              <a:t>They reproduce by binary fission</a:t>
            </a:r>
            <a:endParaRPr lang="en-US" smtClean="0"/>
          </a:p>
          <a:p>
            <a:pPr lvl="1"/>
            <a:r>
              <a:rPr lang="en-US" smtClean="0"/>
              <a:t>They have short generation times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Concept 27.2: Rapid reproduction, mutation, and genetic recombination promote genetic diversity in prokaryotes</a:t>
            </a:r>
            <a:endParaRPr lang="en-US" dirty="0" smtClean="0"/>
          </a:p>
        </p:txBody>
      </p:sp>
      <p:sp>
        <p:nvSpPr>
          <p:cNvPr id="65537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Prokaryotes have considerable genetic variation</a:t>
            </a:r>
            <a:endParaRPr lang="en-US" smtClean="0"/>
          </a:p>
          <a:p>
            <a:r>
              <a:rPr lang="en-US" smtClean="0"/>
              <a:t>Three factors contribute to this genetic diversity:</a:t>
            </a:r>
            <a:endParaRPr lang="en-US" smtClean="0"/>
          </a:p>
          <a:p>
            <a:pPr lvl="1"/>
            <a:r>
              <a:rPr lang="en-US" smtClean="0"/>
              <a:t>Rapid reproduction</a:t>
            </a:r>
            <a:endParaRPr lang="en-US" smtClean="0"/>
          </a:p>
          <a:p>
            <a:pPr lvl="1"/>
            <a:r>
              <a:rPr lang="en-US" smtClean="0"/>
              <a:t>Mutation</a:t>
            </a:r>
            <a:endParaRPr lang="en-US" smtClean="0"/>
          </a:p>
          <a:p>
            <a:pPr lvl="1"/>
            <a:r>
              <a:rPr lang="en-US" smtClean="0"/>
              <a:t>Genetic recombination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Rapid Reproduction and Mutation</a:t>
            </a:r>
            <a:endParaRPr lang="en-US" dirty="0" smtClean="0"/>
          </a:p>
        </p:txBody>
      </p:sp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Prokaryotes reproduce asexually; offspring cells are generally identical</a:t>
            </a:r>
            <a:endParaRPr lang="en-US" smtClean="0"/>
          </a:p>
          <a:p>
            <a:pPr lvl="1"/>
            <a:r>
              <a:rPr lang="en-US" smtClean="0"/>
              <a:t>For example, </a:t>
            </a:r>
            <a:r>
              <a:rPr lang="en-US" i="1" smtClean="0"/>
              <a:t>Escherichia coli </a:t>
            </a:r>
            <a:r>
              <a:rPr lang="en-US" smtClean="0"/>
              <a:t>cells reproduce using binary fission</a:t>
            </a:r>
            <a:endParaRPr lang="en-US" smtClean="0"/>
          </a:p>
          <a:p>
            <a:pPr lvl="1"/>
            <a:r>
              <a:rPr lang="en-US" smtClean="0"/>
              <a:t>Mutation rates are low, but mutations accumulate rapidly because generation times are short and populations are large</a:t>
            </a:r>
            <a:endParaRPr lang="en-US" smtClean="0"/>
          </a:p>
          <a:p>
            <a:r>
              <a:rPr lang="en-US" smtClean="0"/>
              <a:t>Prokaryotes have simpler cells than eukaryotes, but their rapid adaptation to environmental change indicates that they are highly evolved</a:t>
            </a:r>
            <a:endParaRPr lang="en-US" smtClean="0"/>
          </a:p>
          <a:p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Genetic Recombination</a:t>
            </a:r>
            <a:endParaRPr lang="en-US" dirty="0" smtClean="0"/>
          </a:p>
        </p:txBody>
      </p:sp>
      <p:sp>
        <p:nvSpPr>
          <p:cNvPr id="7168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Genetic recombination, the combining of DNA from two sources, contributes to diversity</a:t>
            </a:r>
            <a:endParaRPr lang="en-US" smtClean="0"/>
          </a:p>
          <a:p>
            <a:r>
              <a:rPr lang="en-US" smtClean="0"/>
              <a:t>Prokaryotic DNA from different individuals can be brought together by transformation, transduction, and conjugation</a:t>
            </a:r>
            <a:endParaRPr lang="en-US" smtClean="0"/>
          </a:p>
          <a:p>
            <a:r>
              <a:rPr lang="en-US" smtClean="0"/>
              <a:t>Movement of genes among individuals from different species is called horizontal gene transfer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Transformation and Transduction</a:t>
            </a:r>
            <a:endParaRPr lang="en-US" i="1" dirty="0" smtClean="0"/>
          </a:p>
        </p:txBody>
      </p:sp>
      <p:sp>
        <p:nvSpPr>
          <p:cNvPr id="737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 prokaryotic cell can take up and incorporate foreign DNA from the surrounding environment in a process called </a:t>
            </a:r>
            <a:r>
              <a:rPr lang="en-US" b="1" smtClean="0"/>
              <a:t>transformation</a:t>
            </a:r>
            <a:endParaRPr lang="en-US" b="1" smtClean="0"/>
          </a:p>
          <a:p>
            <a:r>
              <a:rPr lang="en-US" b="1" smtClean="0"/>
              <a:t>Transduction</a:t>
            </a:r>
            <a:r>
              <a:rPr lang="en-US" smtClean="0"/>
              <a:t> is the movement of genes between bacteria by phages (from “bacteriophages,” viruses that infect bacteria)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975360" y="213360"/>
            <a:ext cx="7193280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27.11_5</a:t>
            </a:r>
            <a:endParaRPr lang="en-US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1376071" y="711192"/>
            <a:ext cx="3350276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Phage infects bacterial donor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cell that carries the </a:t>
            </a:r>
            <a:r>
              <a:rPr lang="en-US" sz="18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and </a:t>
            </a:r>
            <a:r>
              <a:rPr lang="en-US" sz="18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alleles.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1376071" y="1930392"/>
            <a:ext cx="351378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Phage DNA is replicated and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phage proteins are synthesized.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19"/>
          <p:cNvSpPr txBox="1">
            <a:spLocks noChangeArrowheads="1"/>
          </p:cNvSpPr>
          <p:nvPr/>
        </p:nvSpPr>
        <p:spPr bwMode="auto">
          <a:xfrm>
            <a:off x="1376071" y="3200392"/>
            <a:ext cx="291105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Fragment of bacterial DNA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with </a:t>
            </a:r>
            <a:r>
              <a:rPr lang="en-US" sz="18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 </a:t>
            </a: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allele is packaged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within a phage capsid.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9" name="TextBox 22"/>
          <p:cNvSpPr txBox="1">
            <a:spLocks noChangeArrowheads="1"/>
          </p:cNvSpPr>
          <p:nvPr/>
        </p:nvSpPr>
        <p:spPr bwMode="auto">
          <a:xfrm>
            <a:off x="1376071" y="4554529"/>
            <a:ext cx="3024289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Phage with </a:t>
            </a:r>
            <a:r>
              <a:rPr lang="en-US" sz="18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 </a:t>
            </a: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allele infects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bacterial recipient cell.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0" name="TextBox 30"/>
          <p:cNvSpPr txBox="1">
            <a:spLocks noChangeArrowheads="1"/>
          </p:cNvSpPr>
          <p:nvPr/>
        </p:nvSpPr>
        <p:spPr bwMode="auto">
          <a:xfrm>
            <a:off x="1376071" y="5502267"/>
            <a:ext cx="323165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Incorporation of phage DNA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creates recombinant cell with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genotype </a:t>
            </a:r>
            <a:r>
              <a:rPr lang="en-US" sz="18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8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 </a:t>
            </a:r>
            <a:r>
              <a:rPr lang="en-US" sz="18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800" b="1" i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.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1" name="TextBox 3"/>
          <p:cNvSpPr txBox="1">
            <a:spLocks noChangeArrowheads="1"/>
          </p:cNvSpPr>
          <p:nvPr/>
        </p:nvSpPr>
        <p:spPr bwMode="auto">
          <a:xfrm>
            <a:off x="6067423" y="361563"/>
            <a:ext cx="12567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Phage DNA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2" name="TextBox 12"/>
          <p:cNvSpPr txBox="1">
            <a:spLocks noChangeArrowheads="1"/>
          </p:cNvSpPr>
          <p:nvPr/>
        </p:nvSpPr>
        <p:spPr bwMode="auto">
          <a:xfrm>
            <a:off x="6869111" y="1426775"/>
            <a:ext cx="1128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Donor cell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3" name="TextBox 24"/>
          <p:cNvSpPr txBox="1">
            <a:spLocks noChangeArrowheads="1"/>
          </p:cNvSpPr>
          <p:nvPr/>
        </p:nvSpPr>
        <p:spPr bwMode="auto">
          <a:xfrm>
            <a:off x="4814450" y="4307573"/>
            <a:ext cx="100027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Crossing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over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4" name="TextBox 34"/>
          <p:cNvSpPr txBox="1">
            <a:spLocks noChangeArrowheads="1"/>
          </p:cNvSpPr>
          <p:nvPr/>
        </p:nvSpPr>
        <p:spPr bwMode="auto">
          <a:xfrm>
            <a:off x="4836675" y="5504548"/>
            <a:ext cx="1461939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Recombinant</a:t>
            </a:r>
            <a:endParaRPr lang="en-US" sz="18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cell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5" name="TextBox 37"/>
          <p:cNvSpPr txBox="1">
            <a:spLocks noChangeArrowheads="1"/>
          </p:cNvSpPr>
          <p:nvPr/>
        </p:nvSpPr>
        <p:spPr bwMode="auto">
          <a:xfrm>
            <a:off x="7111563" y="5353735"/>
            <a:ext cx="1038746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Recipient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cell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33504" y="895372"/>
            <a:ext cx="16831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960" b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52572" y="897769"/>
            <a:ext cx="16831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960" b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78123" y="2021775"/>
            <a:ext cx="16831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960" b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75764" y="2043220"/>
            <a:ext cx="16831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960" b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80170" y="3826442"/>
            <a:ext cx="16831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960" b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34857" y="4737725"/>
            <a:ext cx="16831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960" b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63429" y="6312185"/>
            <a:ext cx="16831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960" b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07843" y="5040447"/>
            <a:ext cx="173124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i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endParaRPr lang="en-US" sz="960" b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87669" y="5050539"/>
            <a:ext cx="19877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i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 </a:t>
            </a:r>
            <a:endParaRPr lang="en-US" sz="960" b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41398" y="6316947"/>
            <a:ext cx="19877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i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 </a:t>
            </a:r>
            <a:endParaRPr lang="en-US" sz="960" b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1027742" y="706430"/>
            <a:ext cx="237744" cy="256480"/>
            <a:chOff x="348173" y="1075483"/>
            <a:chExt cx="237744" cy="256480"/>
          </a:xfrm>
        </p:grpSpPr>
        <p:sp>
          <p:nvSpPr>
            <p:cNvPr id="30" name="Oval 29"/>
            <p:cNvSpPr/>
            <p:nvPr/>
          </p:nvSpPr>
          <p:spPr bwMode="auto">
            <a:xfrm>
              <a:off x="348173" y="1084851"/>
              <a:ext cx="237744" cy="23774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31" name="TextBox 12"/>
            <p:cNvSpPr txBox="1">
              <a:spLocks noChangeArrowheads="1"/>
            </p:cNvSpPr>
            <p:nvPr/>
          </p:nvSpPr>
          <p:spPr bwMode="auto">
            <a:xfrm>
              <a:off x="402925" y="1075483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1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1027122" y="1923805"/>
            <a:ext cx="237744" cy="256480"/>
            <a:chOff x="348173" y="1075483"/>
            <a:chExt cx="237744" cy="256480"/>
          </a:xfrm>
        </p:grpSpPr>
        <p:sp>
          <p:nvSpPr>
            <p:cNvPr id="33" name="Oval 32"/>
            <p:cNvSpPr/>
            <p:nvPr/>
          </p:nvSpPr>
          <p:spPr bwMode="auto">
            <a:xfrm>
              <a:off x="348173" y="1084851"/>
              <a:ext cx="237744" cy="23774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34" name="TextBox 12"/>
            <p:cNvSpPr txBox="1">
              <a:spLocks noChangeArrowheads="1"/>
            </p:cNvSpPr>
            <p:nvPr/>
          </p:nvSpPr>
          <p:spPr bwMode="auto">
            <a:xfrm>
              <a:off x="402925" y="1075483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2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028280" y="3197920"/>
            <a:ext cx="237744" cy="256480"/>
            <a:chOff x="348173" y="1075483"/>
            <a:chExt cx="237744" cy="256480"/>
          </a:xfrm>
        </p:grpSpPr>
        <p:sp>
          <p:nvSpPr>
            <p:cNvPr id="36" name="Oval 35"/>
            <p:cNvSpPr/>
            <p:nvPr/>
          </p:nvSpPr>
          <p:spPr bwMode="auto">
            <a:xfrm>
              <a:off x="348173" y="1084851"/>
              <a:ext cx="237744" cy="23774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37" name="TextBox 12"/>
            <p:cNvSpPr txBox="1">
              <a:spLocks noChangeArrowheads="1"/>
            </p:cNvSpPr>
            <p:nvPr/>
          </p:nvSpPr>
          <p:spPr bwMode="auto">
            <a:xfrm>
              <a:off x="402925" y="1075483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3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026260" y="4545006"/>
            <a:ext cx="237744" cy="256480"/>
            <a:chOff x="348173" y="1075483"/>
            <a:chExt cx="237744" cy="256480"/>
          </a:xfrm>
        </p:grpSpPr>
        <p:sp>
          <p:nvSpPr>
            <p:cNvPr id="39" name="Oval 38"/>
            <p:cNvSpPr/>
            <p:nvPr/>
          </p:nvSpPr>
          <p:spPr bwMode="auto">
            <a:xfrm>
              <a:off x="348173" y="1084851"/>
              <a:ext cx="237744" cy="23774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40" name="TextBox 12"/>
            <p:cNvSpPr txBox="1">
              <a:spLocks noChangeArrowheads="1"/>
            </p:cNvSpPr>
            <p:nvPr/>
          </p:nvSpPr>
          <p:spPr bwMode="auto">
            <a:xfrm>
              <a:off x="402925" y="1075483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4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1030135" y="5493883"/>
            <a:ext cx="237744" cy="256480"/>
            <a:chOff x="348173" y="1075483"/>
            <a:chExt cx="237744" cy="256480"/>
          </a:xfrm>
        </p:grpSpPr>
        <p:sp>
          <p:nvSpPr>
            <p:cNvPr id="42" name="Oval 41"/>
            <p:cNvSpPr/>
            <p:nvPr/>
          </p:nvSpPr>
          <p:spPr bwMode="auto">
            <a:xfrm>
              <a:off x="348173" y="1084851"/>
              <a:ext cx="237744" cy="23774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43" name="TextBox 12"/>
            <p:cNvSpPr txBox="1">
              <a:spLocks noChangeArrowheads="1"/>
            </p:cNvSpPr>
            <p:nvPr/>
          </p:nvSpPr>
          <p:spPr bwMode="auto">
            <a:xfrm>
              <a:off x="402925" y="1075483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5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sp>
        <p:nvSpPr>
          <p:cNvPr id="44" name="Freeform 43"/>
          <p:cNvSpPr/>
          <p:nvPr/>
        </p:nvSpPr>
        <p:spPr>
          <a:xfrm>
            <a:off x="6032516" y="614783"/>
            <a:ext cx="216522" cy="344284"/>
          </a:xfrm>
          <a:custGeom>
            <a:avLst/>
            <a:gdLst>
              <a:gd name="connsiteX0" fmla="*/ 206997 w 216522"/>
              <a:gd name="connsiteY0" fmla="*/ 9525 h 344284"/>
              <a:gd name="connsiteX1" fmla="*/ 9525 w 216522"/>
              <a:gd name="connsiteY1" fmla="*/ 334759 h 3442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16522" h="344284">
                <a:moveTo>
                  <a:pt x="206997" y="9525"/>
                </a:moveTo>
                <a:lnTo>
                  <a:pt x="9525" y="334759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5" name="Freeform 3"/>
          <p:cNvSpPr/>
          <p:nvPr/>
        </p:nvSpPr>
        <p:spPr>
          <a:xfrm>
            <a:off x="5805199" y="4462171"/>
            <a:ext cx="421538" cy="527291"/>
          </a:xfrm>
          <a:custGeom>
            <a:avLst/>
            <a:gdLst>
              <a:gd name="connsiteX0" fmla="*/ 9525 w 421538"/>
              <a:gd name="connsiteY0" fmla="*/ 9525 h 527291"/>
              <a:gd name="connsiteX1" fmla="*/ 412013 w 421538"/>
              <a:gd name="connsiteY1" fmla="*/ 517766 h 52729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421538" h="527291">
                <a:moveTo>
                  <a:pt x="9525" y="9525"/>
                </a:moveTo>
                <a:lnTo>
                  <a:pt x="412013" y="517766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6" name="Freeform 3"/>
          <p:cNvSpPr/>
          <p:nvPr/>
        </p:nvSpPr>
        <p:spPr>
          <a:xfrm>
            <a:off x="6684750" y="1401547"/>
            <a:ext cx="151561" cy="166204"/>
          </a:xfrm>
          <a:custGeom>
            <a:avLst/>
            <a:gdLst>
              <a:gd name="connsiteX0" fmla="*/ 9525 w 151561"/>
              <a:gd name="connsiteY0" fmla="*/ 9525 h 166204"/>
              <a:gd name="connsiteX1" fmla="*/ 142036 w 151561"/>
              <a:gd name="connsiteY1" fmla="*/ 156679 h 16620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51561" h="166204">
                <a:moveTo>
                  <a:pt x="9525" y="9525"/>
                </a:moveTo>
                <a:lnTo>
                  <a:pt x="142036" y="156679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7" name="Freeform 3"/>
          <p:cNvSpPr/>
          <p:nvPr/>
        </p:nvSpPr>
        <p:spPr>
          <a:xfrm>
            <a:off x="6494034" y="5292128"/>
            <a:ext cx="567131" cy="198183"/>
          </a:xfrm>
          <a:custGeom>
            <a:avLst/>
            <a:gdLst>
              <a:gd name="connsiteX0" fmla="*/ 9525 w 567131"/>
              <a:gd name="connsiteY0" fmla="*/ 9525 h 198183"/>
              <a:gd name="connsiteX1" fmla="*/ 557606 w 567131"/>
              <a:gd name="connsiteY1" fmla="*/ 188658 h 19818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567131" h="198183">
                <a:moveTo>
                  <a:pt x="9525" y="9525"/>
                </a:moveTo>
                <a:lnTo>
                  <a:pt x="557606" y="188658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8" name="Freeform 3"/>
          <p:cNvSpPr/>
          <p:nvPr/>
        </p:nvSpPr>
        <p:spPr>
          <a:xfrm>
            <a:off x="5594413" y="5736616"/>
            <a:ext cx="289323" cy="275145"/>
          </a:xfrm>
          <a:custGeom>
            <a:avLst/>
            <a:gdLst>
              <a:gd name="connsiteX0" fmla="*/ 279798 w 289323"/>
              <a:gd name="connsiteY0" fmla="*/ 265620 h 275145"/>
              <a:gd name="connsiteX1" fmla="*/ 9525 w 289323"/>
              <a:gd name="connsiteY1" fmla="*/ 9525 h 27514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89323" h="275145">
                <a:moveTo>
                  <a:pt x="279798" y="265620"/>
                </a:moveTo>
                <a:lnTo>
                  <a:pt x="9525" y="952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9" name="Freeform 3"/>
          <p:cNvSpPr/>
          <p:nvPr/>
        </p:nvSpPr>
        <p:spPr>
          <a:xfrm>
            <a:off x="6591456" y="3917722"/>
            <a:ext cx="192443" cy="69596"/>
          </a:xfrm>
          <a:custGeom>
            <a:avLst/>
            <a:gdLst>
              <a:gd name="connsiteX0" fmla="*/ 9525 w 192443"/>
              <a:gd name="connsiteY0" fmla="*/ 60070 h 69596"/>
              <a:gd name="connsiteX1" fmla="*/ 182918 w 192443"/>
              <a:gd name="connsiteY1" fmla="*/ 9525 h 695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92443" h="69596">
                <a:moveTo>
                  <a:pt x="9525" y="60070"/>
                </a:moveTo>
                <a:lnTo>
                  <a:pt x="182918" y="952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Conjugation and Plasmids</a:t>
            </a:r>
            <a:endParaRPr lang="en-US" i="1" dirty="0" smtClean="0"/>
          </a:p>
        </p:txBody>
      </p:sp>
      <p:sp>
        <p:nvSpPr>
          <p:cNvPr id="778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Conjugation </a:t>
            </a:r>
            <a:r>
              <a:rPr lang="en-US" smtClean="0"/>
              <a:t>is the process where genetic material is transferred between prokaryotic cells</a:t>
            </a:r>
            <a:endParaRPr lang="en-US" smtClean="0"/>
          </a:p>
          <a:p>
            <a:r>
              <a:rPr lang="en-US" smtClean="0"/>
              <a:t>In bacteria, the DNA transfer is always one way</a:t>
            </a:r>
            <a:endParaRPr lang="en-US" smtClean="0"/>
          </a:p>
          <a:p>
            <a:r>
              <a:rPr lang="en-US" smtClean="0"/>
              <a:t>A donor cell attaches to a recipient by a pilus, pulls it closer, and transfers DNA through a structure called the “mating bridge”</a:t>
            </a:r>
            <a:endParaRPr lang="en-US" smtClean="0"/>
          </a:p>
          <a:p>
            <a:r>
              <a:rPr lang="en-US" smtClean="0"/>
              <a:t>A piece of DNA called the </a:t>
            </a:r>
            <a:r>
              <a:rPr lang="en-US" b="1" smtClean="0"/>
              <a:t>F factor </a:t>
            </a:r>
            <a:r>
              <a:rPr lang="en-US" smtClean="0"/>
              <a:t>is required for the production of pili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29"/>
          <a:stretch>
            <a:fillRect/>
          </a:stretch>
        </p:blipFill>
        <p:spPr>
          <a:xfrm>
            <a:off x="926592" y="1283208"/>
            <a:ext cx="7290816" cy="429158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27.12</a:t>
            </a:r>
            <a:endParaRPr lang="en-US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4600578" y="2371730"/>
            <a:ext cx="55143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Pilus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6764340" y="3867155"/>
            <a:ext cx="53059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1 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" name="Freeform 1"/>
          <p:cNvSpPr/>
          <p:nvPr/>
        </p:nvSpPr>
        <p:spPr>
          <a:xfrm>
            <a:off x="4938713" y="2645569"/>
            <a:ext cx="514350" cy="397669"/>
          </a:xfrm>
          <a:custGeom>
            <a:avLst/>
            <a:gdLst>
              <a:gd name="connsiteX0" fmla="*/ 0 w 514350"/>
              <a:gd name="connsiteY0" fmla="*/ 0 h 397669"/>
              <a:gd name="connsiteX1" fmla="*/ 514350 w 514350"/>
              <a:gd name="connsiteY1" fmla="*/ 397669 h 397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4350" h="397669">
                <a:moveTo>
                  <a:pt x="0" y="0"/>
                </a:moveTo>
                <a:lnTo>
                  <a:pt x="514350" y="397669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grpSp>
        <p:nvGrpSpPr>
          <p:cNvPr id="8" name="Group 7"/>
          <p:cNvGrpSpPr/>
          <p:nvPr/>
        </p:nvGrpSpPr>
        <p:grpSpPr>
          <a:xfrm rot="5400000" flipH="1" flipV="1">
            <a:off x="6977408" y="3438874"/>
            <a:ext cx="142879" cy="799410"/>
            <a:chOff x="73" y="999807"/>
            <a:chExt cx="89669" cy="576732"/>
          </a:xfrm>
        </p:grpSpPr>
        <p:sp>
          <p:nvSpPr>
            <p:cNvPr id="9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0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sp>
        <p:nvSpPr>
          <p:cNvPr id="13" name="Freeform 12"/>
          <p:cNvSpPr/>
          <p:nvPr/>
        </p:nvSpPr>
        <p:spPr>
          <a:xfrm>
            <a:off x="4938713" y="2647951"/>
            <a:ext cx="514350" cy="397669"/>
          </a:xfrm>
          <a:custGeom>
            <a:avLst/>
            <a:gdLst>
              <a:gd name="connsiteX0" fmla="*/ 0 w 514350"/>
              <a:gd name="connsiteY0" fmla="*/ 0 h 397669"/>
              <a:gd name="connsiteX1" fmla="*/ 514350 w 514350"/>
              <a:gd name="connsiteY1" fmla="*/ 397669 h 397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4350" h="397669">
                <a:moveTo>
                  <a:pt x="0" y="0"/>
                </a:moveTo>
                <a:lnTo>
                  <a:pt x="514350" y="397669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The F Factor as a Plasmid</a:t>
            </a:r>
            <a:endParaRPr lang="en-US" b="1" dirty="0" smtClean="0"/>
          </a:p>
          <a:p>
            <a:r>
              <a:rPr lang="en-US" dirty="0" smtClean="0"/>
              <a:t>Cells containing the </a:t>
            </a:r>
            <a:r>
              <a:rPr lang="en-US" b="1" dirty="0" smtClean="0"/>
              <a:t>F plasmid </a:t>
            </a:r>
            <a:r>
              <a:rPr lang="en-US" dirty="0" smtClean="0"/>
              <a:t>function as DNA donors during conjugation</a:t>
            </a:r>
            <a:endParaRPr lang="en-US" dirty="0" smtClean="0"/>
          </a:p>
          <a:p>
            <a:r>
              <a:rPr lang="en-US" dirty="0" smtClean="0"/>
              <a:t>Cells without the F factor function as DNA recipients during conjugation</a:t>
            </a:r>
            <a:endParaRPr lang="en-US" dirty="0" smtClean="0"/>
          </a:p>
          <a:p>
            <a:r>
              <a:rPr lang="en-US" dirty="0" smtClean="0"/>
              <a:t>The F factor is transferable during conjugation</a:t>
            </a:r>
            <a:endParaRPr lang="en-US" dirty="0" smtClean="0"/>
          </a:p>
          <a:p>
            <a:r>
              <a:rPr lang="en-US" dirty="0" smtClean="0"/>
              <a:t>Provided some of the F plasmid’s DNA is transferred, the recipient cell becomes a recombinant cell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7"/>
          <a:stretch>
            <a:fillRect/>
          </a:stretch>
        </p:blipFill>
        <p:spPr>
          <a:xfrm>
            <a:off x="298704" y="1200912"/>
            <a:ext cx="8546592" cy="445617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27.13a_1</a:t>
            </a:r>
            <a:endParaRPr lang="en-US"/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>
            <a:off x="2210691" y="1214284"/>
            <a:ext cx="1287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chromosome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5" name="TextBox 4"/>
          <p:cNvSpPr txBox="1">
            <a:spLocks noChangeArrowheads="1"/>
          </p:cNvSpPr>
          <p:nvPr/>
        </p:nvSpPr>
        <p:spPr bwMode="auto">
          <a:xfrm>
            <a:off x="1072453" y="1442884"/>
            <a:ext cx="95859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 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plasmid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515603" y="1924691"/>
            <a:ext cx="7197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 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(donor)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559690" y="2504922"/>
            <a:ext cx="6620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Mating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bridge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9" name="TextBox 11"/>
          <p:cNvSpPr txBox="1">
            <a:spLocks noChangeArrowheads="1"/>
          </p:cNvSpPr>
          <p:nvPr/>
        </p:nvSpPr>
        <p:spPr bwMode="auto">
          <a:xfrm>
            <a:off x="321581" y="3042291"/>
            <a:ext cx="9938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(recipient)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0" name="TextBox 13"/>
          <p:cNvSpPr txBox="1">
            <a:spLocks noChangeArrowheads="1"/>
          </p:cNvSpPr>
          <p:nvPr/>
        </p:nvSpPr>
        <p:spPr bwMode="auto">
          <a:xfrm>
            <a:off x="2744090" y="3449484"/>
            <a:ext cx="1287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Bacterial</a:t>
            </a:r>
            <a:endParaRPr lang="en-US" sz="16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chromosome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3" name="TextBox 26"/>
          <p:cNvSpPr txBox="1">
            <a:spLocks noChangeArrowheads="1"/>
          </p:cNvSpPr>
          <p:nvPr/>
        </p:nvSpPr>
        <p:spPr bwMode="auto">
          <a:xfrm>
            <a:off x="1487106" y="4147190"/>
            <a:ext cx="147957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One strand of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 plasmid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DNA breaks at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arrowhead.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6" name="TextBox 39"/>
          <p:cNvSpPr txBox="1">
            <a:spLocks noChangeArrowheads="1"/>
          </p:cNvSpPr>
          <p:nvPr/>
        </p:nvSpPr>
        <p:spPr bwMode="auto">
          <a:xfrm>
            <a:off x="332678" y="5394172"/>
            <a:ext cx="431368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(a) Conjugation and transfer of an F plasmid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1206253" y="4139513"/>
            <a:ext cx="192024" cy="230832"/>
            <a:chOff x="1206253" y="4151418"/>
            <a:chExt cx="192024" cy="230832"/>
          </a:xfrm>
        </p:grpSpPr>
        <p:sp>
          <p:nvSpPr>
            <p:cNvPr id="38" name="Oval 37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39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1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sp>
        <p:nvSpPr>
          <p:cNvPr id="49" name="Freeform 48"/>
          <p:cNvSpPr/>
          <p:nvPr/>
        </p:nvSpPr>
        <p:spPr>
          <a:xfrm>
            <a:off x="2565709" y="3191010"/>
            <a:ext cx="162128" cy="344893"/>
          </a:xfrm>
          <a:custGeom>
            <a:avLst/>
            <a:gdLst>
              <a:gd name="connsiteX0" fmla="*/ 155778 w 162128"/>
              <a:gd name="connsiteY0" fmla="*/ 338543 h 344893"/>
              <a:gd name="connsiteX1" fmla="*/ 6350 w 162128"/>
              <a:gd name="connsiteY1" fmla="*/ 6350 h 34489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62128" h="344893">
                <a:moveTo>
                  <a:pt x="155778" y="338543"/>
                </a:moveTo>
                <a:lnTo>
                  <a:pt x="6350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50" name="Freeform 3"/>
          <p:cNvSpPr/>
          <p:nvPr/>
        </p:nvSpPr>
        <p:spPr>
          <a:xfrm>
            <a:off x="1424347" y="1634258"/>
            <a:ext cx="303885" cy="621563"/>
          </a:xfrm>
          <a:custGeom>
            <a:avLst/>
            <a:gdLst>
              <a:gd name="connsiteX0" fmla="*/ 6350 w 303885"/>
              <a:gd name="connsiteY0" fmla="*/ 6350 h 621563"/>
              <a:gd name="connsiteX1" fmla="*/ 297535 w 303885"/>
              <a:gd name="connsiteY1" fmla="*/ 615213 h 62156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03885" h="621563">
                <a:moveTo>
                  <a:pt x="6350" y="6350"/>
                </a:moveTo>
                <a:lnTo>
                  <a:pt x="297535" y="615213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51" name="Freeform 3"/>
          <p:cNvSpPr/>
          <p:nvPr/>
        </p:nvSpPr>
        <p:spPr>
          <a:xfrm>
            <a:off x="2328536" y="1634258"/>
            <a:ext cx="399300" cy="580212"/>
          </a:xfrm>
          <a:custGeom>
            <a:avLst/>
            <a:gdLst>
              <a:gd name="connsiteX0" fmla="*/ 392950 w 399300"/>
              <a:gd name="connsiteY0" fmla="*/ 6350 h 580212"/>
              <a:gd name="connsiteX1" fmla="*/ 6350 w 399300"/>
              <a:gd name="connsiteY1" fmla="*/ 573862 h 58021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99300" h="580212">
                <a:moveTo>
                  <a:pt x="392950" y="6350"/>
                </a:moveTo>
                <a:lnTo>
                  <a:pt x="6350" y="573862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52" name="Freeform 3"/>
          <p:cNvSpPr/>
          <p:nvPr/>
        </p:nvSpPr>
        <p:spPr>
          <a:xfrm>
            <a:off x="1244932" y="2640376"/>
            <a:ext cx="833592" cy="92214"/>
          </a:xfrm>
          <a:custGeom>
            <a:avLst/>
            <a:gdLst>
              <a:gd name="connsiteX0" fmla="*/ 6350 w 833592"/>
              <a:gd name="connsiteY0" fmla="*/ 6350 h 92214"/>
              <a:gd name="connsiteX1" fmla="*/ 827242 w 833592"/>
              <a:gd name="connsiteY1" fmla="*/ 85864 h 9221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833592" h="92214">
                <a:moveTo>
                  <a:pt x="6350" y="6350"/>
                </a:moveTo>
                <a:lnTo>
                  <a:pt x="827242" y="85864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53" name="Freeform 3"/>
          <p:cNvSpPr/>
          <p:nvPr/>
        </p:nvSpPr>
        <p:spPr>
          <a:xfrm>
            <a:off x="1244932" y="2049610"/>
            <a:ext cx="186552" cy="252412"/>
          </a:xfrm>
          <a:custGeom>
            <a:avLst/>
            <a:gdLst>
              <a:gd name="connsiteX0" fmla="*/ 180202 w 186552"/>
              <a:gd name="connsiteY0" fmla="*/ 246062 h 252412"/>
              <a:gd name="connsiteX1" fmla="*/ 6350 w 186552"/>
              <a:gd name="connsiteY1" fmla="*/ 6350 h 25241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86552" h="252412">
                <a:moveTo>
                  <a:pt x="180202" y="246062"/>
                </a:moveTo>
                <a:lnTo>
                  <a:pt x="6350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54" name="Freeform 3"/>
          <p:cNvSpPr/>
          <p:nvPr/>
        </p:nvSpPr>
        <p:spPr>
          <a:xfrm>
            <a:off x="1333633" y="3122481"/>
            <a:ext cx="78381" cy="56184"/>
          </a:xfrm>
          <a:custGeom>
            <a:avLst/>
            <a:gdLst>
              <a:gd name="connsiteX0" fmla="*/ 72031 w 78381"/>
              <a:gd name="connsiteY0" fmla="*/ 6350 h 56184"/>
              <a:gd name="connsiteX1" fmla="*/ 6350 w 78381"/>
              <a:gd name="connsiteY1" fmla="*/ 49834 h 561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8381" h="56184">
                <a:moveTo>
                  <a:pt x="72031" y="6350"/>
                </a:moveTo>
                <a:lnTo>
                  <a:pt x="6350" y="49834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7"/>
          <a:stretch>
            <a:fillRect/>
          </a:stretch>
        </p:blipFill>
        <p:spPr>
          <a:xfrm>
            <a:off x="298704" y="1200912"/>
            <a:ext cx="8546592" cy="445617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27.13a_2</a:t>
            </a:r>
            <a:endParaRPr lang="en-US"/>
          </a:p>
        </p:txBody>
      </p:sp>
      <p:sp>
        <p:nvSpPr>
          <p:cNvPr id="28" name="TextBox 3"/>
          <p:cNvSpPr txBox="1">
            <a:spLocks noChangeArrowheads="1"/>
          </p:cNvSpPr>
          <p:nvPr/>
        </p:nvSpPr>
        <p:spPr bwMode="auto">
          <a:xfrm>
            <a:off x="2210691" y="1214284"/>
            <a:ext cx="1287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chromosome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9" name="TextBox 4"/>
          <p:cNvSpPr txBox="1">
            <a:spLocks noChangeArrowheads="1"/>
          </p:cNvSpPr>
          <p:nvPr/>
        </p:nvSpPr>
        <p:spPr bwMode="auto">
          <a:xfrm>
            <a:off x="1072453" y="1442884"/>
            <a:ext cx="95859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 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plasmid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0" name="TextBox 5"/>
          <p:cNvSpPr txBox="1">
            <a:spLocks noChangeArrowheads="1"/>
          </p:cNvSpPr>
          <p:nvPr/>
        </p:nvSpPr>
        <p:spPr bwMode="auto">
          <a:xfrm>
            <a:off x="515603" y="1924691"/>
            <a:ext cx="7197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 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(donor)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559690" y="2504922"/>
            <a:ext cx="6620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Mating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bridge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3" name="TextBox 11"/>
          <p:cNvSpPr txBox="1">
            <a:spLocks noChangeArrowheads="1"/>
          </p:cNvSpPr>
          <p:nvPr/>
        </p:nvSpPr>
        <p:spPr bwMode="auto">
          <a:xfrm>
            <a:off x="321581" y="3042291"/>
            <a:ext cx="9938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(recipient)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4" name="TextBox 13"/>
          <p:cNvSpPr txBox="1">
            <a:spLocks noChangeArrowheads="1"/>
          </p:cNvSpPr>
          <p:nvPr/>
        </p:nvSpPr>
        <p:spPr bwMode="auto">
          <a:xfrm>
            <a:off x="2744090" y="3449484"/>
            <a:ext cx="1287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Bacterial</a:t>
            </a:r>
            <a:endParaRPr lang="en-US" sz="16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chromosome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5" name="TextBox 15"/>
          <p:cNvSpPr txBox="1">
            <a:spLocks noChangeArrowheads="1"/>
          </p:cNvSpPr>
          <p:nvPr/>
        </p:nvSpPr>
        <p:spPr bwMode="auto">
          <a:xfrm>
            <a:off x="3631818" y="4147190"/>
            <a:ext cx="1389804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Broken strand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peels off and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enters 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7" name="TextBox 26"/>
          <p:cNvSpPr txBox="1">
            <a:spLocks noChangeArrowheads="1"/>
          </p:cNvSpPr>
          <p:nvPr/>
        </p:nvSpPr>
        <p:spPr bwMode="auto">
          <a:xfrm>
            <a:off x="1487106" y="4147190"/>
            <a:ext cx="147957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One strand of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 plasmid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DNA breaks at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arrowhead.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332678" y="5394172"/>
            <a:ext cx="431368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(a) Conjugation and transfer of an F plasmid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1206253" y="4139513"/>
            <a:ext cx="192024" cy="230832"/>
            <a:chOff x="1206253" y="4151418"/>
            <a:chExt cx="192024" cy="230832"/>
          </a:xfrm>
        </p:grpSpPr>
        <p:sp>
          <p:nvSpPr>
            <p:cNvPr id="42" name="Oval 41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43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1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3353535" y="4141894"/>
            <a:ext cx="192024" cy="230832"/>
            <a:chOff x="1206253" y="4151418"/>
            <a:chExt cx="192024" cy="230832"/>
          </a:xfrm>
        </p:grpSpPr>
        <p:sp>
          <p:nvSpPr>
            <p:cNvPr id="45" name="Oval 44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46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2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sp>
        <p:nvSpPr>
          <p:cNvPr id="53" name="Freeform 52"/>
          <p:cNvSpPr/>
          <p:nvPr/>
        </p:nvSpPr>
        <p:spPr>
          <a:xfrm>
            <a:off x="2565709" y="3191010"/>
            <a:ext cx="162128" cy="344893"/>
          </a:xfrm>
          <a:custGeom>
            <a:avLst/>
            <a:gdLst>
              <a:gd name="connsiteX0" fmla="*/ 155778 w 162128"/>
              <a:gd name="connsiteY0" fmla="*/ 338543 h 344893"/>
              <a:gd name="connsiteX1" fmla="*/ 6350 w 162128"/>
              <a:gd name="connsiteY1" fmla="*/ 6350 h 34489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62128" h="344893">
                <a:moveTo>
                  <a:pt x="155778" y="338543"/>
                </a:moveTo>
                <a:lnTo>
                  <a:pt x="6350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54" name="Freeform 3"/>
          <p:cNvSpPr/>
          <p:nvPr/>
        </p:nvSpPr>
        <p:spPr>
          <a:xfrm>
            <a:off x="1424347" y="1634258"/>
            <a:ext cx="303885" cy="621563"/>
          </a:xfrm>
          <a:custGeom>
            <a:avLst/>
            <a:gdLst>
              <a:gd name="connsiteX0" fmla="*/ 6350 w 303885"/>
              <a:gd name="connsiteY0" fmla="*/ 6350 h 621563"/>
              <a:gd name="connsiteX1" fmla="*/ 297535 w 303885"/>
              <a:gd name="connsiteY1" fmla="*/ 615213 h 62156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03885" h="621563">
                <a:moveTo>
                  <a:pt x="6350" y="6350"/>
                </a:moveTo>
                <a:lnTo>
                  <a:pt x="297535" y="615213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55" name="Freeform 3"/>
          <p:cNvSpPr/>
          <p:nvPr/>
        </p:nvSpPr>
        <p:spPr>
          <a:xfrm>
            <a:off x="2328536" y="1634258"/>
            <a:ext cx="399300" cy="580212"/>
          </a:xfrm>
          <a:custGeom>
            <a:avLst/>
            <a:gdLst>
              <a:gd name="connsiteX0" fmla="*/ 392950 w 399300"/>
              <a:gd name="connsiteY0" fmla="*/ 6350 h 580212"/>
              <a:gd name="connsiteX1" fmla="*/ 6350 w 399300"/>
              <a:gd name="connsiteY1" fmla="*/ 573862 h 58021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99300" h="580212">
                <a:moveTo>
                  <a:pt x="392950" y="6350"/>
                </a:moveTo>
                <a:lnTo>
                  <a:pt x="6350" y="573862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56" name="Freeform 3"/>
          <p:cNvSpPr/>
          <p:nvPr/>
        </p:nvSpPr>
        <p:spPr>
          <a:xfrm>
            <a:off x="1244932" y="2640376"/>
            <a:ext cx="833592" cy="92214"/>
          </a:xfrm>
          <a:custGeom>
            <a:avLst/>
            <a:gdLst>
              <a:gd name="connsiteX0" fmla="*/ 6350 w 833592"/>
              <a:gd name="connsiteY0" fmla="*/ 6350 h 92214"/>
              <a:gd name="connsiteX1" fmla="*/ 827242 w 833592"/>
              <a:gd name="connsiteY1" fmla="*/ 85864 h 9221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833592" h="92214">
                <a:moveTo>
                  <a:pt x="6350" y="6350"/>
                </a:moveTo>
                <a:lnTo>
                  <a:pt x="827242" y="85864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57" name="Freeform 3"/>
          <p:cNvSpPr/>
          <p:nvPr/>
        </p:nvSpPr>
        <p:spPr>
          <a:xfrm>
            <a:off x="1244932" y="2049610"/>
            <a:ext cx="186552" cy="252412"/>
          </a:xfrm>
          <a:custGeom>
            <a:avLst/>
            <a:gdLst>
              <a:gd name="connsiteX0" fmla="*/ 180202 w 186552"/>
              <a:gd name="connsiteY0" fmla="*/ 246062 h 252412"/>
              <a:gd name="connsiteX1" fmla="*/ 6350 w 186552"/>
              <a:gd name="connsiteY1" fmla="*/ 6350 h 25241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86552" h="252412">
                <a:moveTo>
                  <a:pt x="180202" y="246062"/>
                </a:moveTo>
                <a:lnTo>
                  <a:pt x="6350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58" name="Freeform 3"/>
          <p:cNvSpPr/>
          <p:nvPr/>
        </p:nvSpPr>
        <p:spPr>
          <a:xfrm>
            <a:off x="1333633" y="3122481"/>
            <a:ext cx="78381" cy="56184"/>
          </a:xfrm>
          <a:custGeom>
            <a:avLst/>
            <a:gdLst>
              <a:gd name="connsiteX0" fmla="*/ 72031 w 78381"/>
              <a:gd name="connsiteY0" fmla="*/ 6350 h 56184"/>
              <a:gd name="connsiteX1" fmla="*/ 6350 w 78381"/>
              <a:gd name="connsiteY1" fmla="*/ 49834 h 561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8381" h="56184">
                <a:moveTo>
                  <a:pt x="72031" y="6350"/>
                </a:moveTo>
                <a:lnTo>
                  <a:pt x="6350" y="49834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7"/>
          <a:stretch>
            <a:fillRect/>
          </a:stretch>
        </p:blipFill>
        <p:spPr>
          <a:xfrm>
            <a:off x="298704" y="1200912"/>
            <a:ext cx="8546592" cy="445617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27.13a_3</a:t>
            </a:r>
            <a:endParaRPr lang="en-US"/>
          </a:p>
        </p:txBody>
      </p:sp>
      <p:sp>
        <p:nvSpPr>
          <p:cNvPr id="34" name="TextBox 3"/>
          <p:cNvSpPr txBox="1">
            <a:spLocks noChangeArrowheads="1"/>
          </p:cNvSpPr>
          <p:nvPr/>
        </p:nvSpPr>
        <p:spPr bwMode="auto">
          <a:xfrm>
            <a:off x="2210691" y="1214284"/>
            <a:ext cx="1287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chromosome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5" name="TextBox 4"/>
          <p:cNvSpPr txBox="1">
            <a:spLocks noChangeArrowheads="1"/>
          </p:cNvSpPr>
          <p:nvPr/>
        </p:nvSpPr>
        <p:spPr bwMode="auto">
          <a:xfrm>
            <a:off x="1072453" y="1442884"/>
            <a:ext cx="95859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 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plasmid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6" name="TextBox 5"/>
          <p:cNvSpPr txBox="1">
            <a:spLocks noChangeArrowheads="1"/>
          </p:cNvSpPr>
          <p:nvPr/>
        </p:nvSpPr>
        <p:spPr bwMode="auto">
          <a:xfrm>
            <a:off x="515603" y="1924691"/>
            <a:ext cx="7197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 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(donor)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559690" y="2504922"/>
            <a:ext cx="6620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Mating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bridge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9" name="TextBox 11"/>
          <p:cNvSpPr txBox="1">
            <a:spLocks noChangeArrowheads="1"/>
          </p:cNvSpPr>
          <p:nvPr/>
        </p:nvSpPr>
        <p:spPr bwMode="auto">
          <a:xfrm>
            <a:off x="321581" y="3042291"/>
            <a:ext cx="9938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(recipient)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40" name="TextBox 13"/>
          <p:cNvSpPr txBox="1">
            <a:spLocks noChangeArrowheads="1"/>
          </p:cNvSpPr>
          <p:nvPr/>
        </p:nvSpPr>
        <p:spPr bwMode="auto">
          <a:xfrm>
            <a:off x="2744090" y="3449484"/>
            <a:ext cx="1287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Bacterial</a:t>
            </a:r>
            <a:endParaRPr lang="en-US" sz="16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chromosome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41" name="TextBox 15"/>
          <p:cNvSpPr txBox="1">
            <a:spLocks noChangeArrowheads="1"/>
          </p:cNvSpPr>
          <p:nvPr/>
        </p:nvSpPr>
        <p:spPr bwMode="auto">
          <a:xfrm>
            <a:off x="3631818" y="4147190"/>
            <a:ext cx="1389804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Broken strand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peels off and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enters 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43" name="TextBox 26"/>
          <p:cNvSpPr txBox="1">
            <a:spLocks noChangeArrowheads="1"/>
          </p:cNvSpPr>
          <p:nvPr/>
        </p:nvSpPr>
        <p:spPr bwMode="auto">
          <a:xfrm>
            <a:off x="1487106" y="4147190"/>
            <a:ext cx="147957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One strand of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 plasmid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DNA breaks at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arrowhead.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44" name="TextBox 30"/>
          <p:cNvSpPr txBox="1">
            <a:spLocks noChangeArrowheads="1"/>
          </p:cNvSpPr>
          <p:nvPr/>
        </p:nvSpPr>
        <p:spPr bwMode="auto">
          <a:xfrm>
            <a:off x="5563806" y="4147190"/>
            <a:ext cx="1516441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Donor and</a:t>
            </a:r>
            <a:endParaRPr lang="en-US" sz="16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recipient cells</a:t>
            </a:r>
            <a:endParaRPr lang="en-US" sz="16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synthesize</a:t>
            </a:r>
            <a:endParaRPr lang="en-US" sz="16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complementary</a:t>
            </a:r>
            <a:endParaRPr lang="en-US" sz="16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DNA strands.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46" name="TextBox 39"/>
          <p:cNvSpPr txBox="1">
            <a:spLocks noChangeArrowheads="1"/>
          </p:cNvSpPr>
          <p:nvPr/>
        </p:nvSpPr>
        <p:spPr bwMode="auto">
          <a:xfrm>
            <a:off x="332678" y="5394172"/>
            <a:ext cx="431368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(a) Conjugation and transfer of an F plasmid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1206253" y="4139513"/>
            <a:ext cx="192024" cy="230832"/>
            <a:chOff x="1206253" y="4151418"/>
            <a:chExt cx="192024" cy="230832"/>
          </a:xfrm>
        </p:grpSpPr>
        <p:sp>
          <p:nvSpPr>
            <p:cNvPr id="48" name="Oval 47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49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1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3353535" y="4141894"/>
            <a:ext cx="192024" cy="230832"/>
            <a:chOff x="1206253" y="4151418"/>
            <a:chExt cx="192024" cy="230832"/>
          </a:xfrm>
        </p:grpSpPr>
        <p:sp>
          <p:nvSpPr>
            <p:cNvPr id="51" name="Oval 50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52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2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287902" y="4139869"/>
            <a:ext cx="192024" cy="230832"/>
            <a:chOff x="1206253" y="4151418"/>
            <a:chExt cx="192024" cy="230832"/>
          </a:xfrm>
        </p:grpSpPr>
        <p:sp>
          <p:nvSpPr>
            <p:cNvPr id="54" name="Oval 53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55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3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sp>
        <p:nvSpPr>
          <p:cNvPr id="59" name="Freeform 58"/>
          <p:cNvSpPr/>
          <p:nvPr/>
        </p:nvSpPr>
        <p:spPr>
          <a:xfrm>
            <a:off x="2565709" y="3191010"/>
            <a:ext cx="162128" cy="344893"/>
          </a:xfrm>
          <a:custGeom>
            <a:avLst/>
            <a:gdLst>
              <a:gd name="connsiteX0" fmla="*/ 155778 w 162128"/>
              <a:gd name="connsiteY0" fmla="*/ 338543 h 344893"/>
              <a:gd name="connsiteX1" fmla="*/ 6350 w 162128"/>
              <a:gd name="connsiteY1" fmla="*/ 6350 h 34489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62128" h="344893">
                <a:moveTo>
                  <a:pt x="155778" y="338543"/>
                </a:moveTo>
                <a:lnTo>
                  <a:pt x="6350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60" name="Freeform 3"/>
          <p:cNvSpPr/>
          <p:nvPr/>
        </p:nvSpPr>
        <p:spPr>
          <a:xfrm>
            <a:off x="1424347" y="1634258"/>
            <a:ext cx="303885" cy="621563"/>
          </a:xfrm>
          <a:custGeom>
            <a:avLst/>
            <a:gdLst>
              <a:gd name="connsiteX0" fmla="*/ 6350 w 303885"/>
              <a:gd name="connsiteY0" fmla="*/ 6350 h 621563"/>
              <a:gd name="connsiteX1" fmla="*/ 297535 w 303885"/>
              <a:gd name="connsiteY1" fmla="*/ 615213 h 62156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03885" h="621563">
                <a:moveTo>
                  <a:pt x="6350" y="6350"/>
                </a:moveTo>
                <a:lnTo>
                  <a:pt x="297535" y="615213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61" name="Freeform 3"/>
          <p:cNvSpPr/>
          <p:nvPr/>
        </p:nvSpPr>
        <p:spPr>
          <a:xfrm>
            <a:off x="2328536" y="1634258"/>
            <a:ext cx="399300" cy="580212"/>
          </a:xfrm>
          <a:custGeom>
            <a:avLst/>
            <a:gdLst>
              <a:gd name="connsiteX0" fmla="*/ 392950 w 399300"/>
              <a:gd name="connsiteY0" fmla="*/ 6350 h 580212"/>
              <a:gd name="connsiteX1" fmla="*/ 6350 w 399300"/>
              <a:gd name="connsiteY1" fmla="*/ 573862 h 58021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99300" h="580212">
                <a:moveTo>
                  <a:pt x="392950" y="6350"/>
                </a:moveTo>
                <a:lnTo>
                  <a:pt x="6350" y="573862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62" name="Freeform 3"/>
          <p:cNvSpPr/>
          <p:nvPr/>
        </p:nvSpPr>
        <p:spPr>
          <a:xfrm>
            <a:off x="1244932" y="2640376"/>
            <a:ext cx="833592" cy="92214"/>
          </a:xfrm>
          <a:custGeom>
            <a:avLst/>
            <a:gdLst>
              <a:gd name="connsiteX0" fmla="*/ 6350 w 833592"/>
              <a:gd name="connsiteY0" fmla="*/ 6350 h 92214"/>
              <a:gd name="connsiteX1" fmla="*/ 827242 w 833592"/>
              <a:gd name="connsiteY1" fmla="*/ 85864 h 9221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833592" h="92214">
                <a:moveTo>
                  <a:pt x="6350" y="6350"/>
                </a:moveTo>
                <a:lnTo>
                  <a:pt x="827242" y="85864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63" name="Freeform 3"/>
          <p:cNvSpPr/>
          <p:nvPr/>
        </p:nvSpPr>
        <p:spPr>
          <a:xfrm>
            <a:off x="1244932" y="2049610"/>
            <a:ext cx="186552" cy="252412"/>
          </a:xfrm>
          <a:custGeom>
            <a:avLst/>
            <a:gdLst>
              <a:gd name="connsiteX0" fmla="*/ 180202 w 186552"/>
              <a:gd name="connsiteY0" fmla="*/ 246062 h 252412"/>
              <a:gd name="connsiteX1" fmla="*/ 6350 w 186552"/>
              <a:gd name="connsiteY1" fmla="*/ 6350 h 25241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86552" h="252412">
                <a:moveTo>
                  <a:pt x="180202" y="246062"/>
                </a:moveTo>
                <a:lnTo>
                  <a:pt x="6350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64" name="Freeform 3"/>
          <p:cNvSpPr/>
          <p:nvPr/>
        </p:nvSpPr>
        <p:spPr>
          <a:xfrm>
            <a:off x="1333633" y="3122481"/>
            <a:ext cx="78381" cy="56184"/>
          </a:xfrm>
          <a:custGeom>
            <a:avLst/>
            <a:gdLst>
              <a:gd name="connsiteX0" fmla="*/ 72031 w 78381"/>
              <a:gd name="connsiteY0" fmla="*/ 6350 h 56184"/>
              <a:gd name="connsiteX1" fmla="*/ 6350 w 78381"/>
              <a:gd name="connsiteY1" fmla="*/ 49834 h 561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8381" h="56184">
                <a:moveTo>
                  <a:pt x="72031" y="6350"/>
                </a:moveTo>
                <a:lnTo>
                  <a:pt x="6350" y="49834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7"/>
          <a:stretch>
            <a:fillRect/>
          </a:stretch>
        </p:blipFill>
        <p:spPr>
          <a:xfrm>
            <a:off x="298704" y="1200912"/>
            <a:ext cx="8546592" cy="445617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27.13a_4</a:t>
            </a:r>
            <a:endParaRPr lang="en-US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2210691" y="1214284"/>
            <a:ext cx="1287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chromosome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072453" y="1442884"/>
            <a:ext cx="95859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 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plasmid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515603" y="1924691"/>
            <a:ext cx="7197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 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(donor)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746177" y="2008829"/>
            <a:ext cx="59471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4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cell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59690" y="2504922"/>
            <a:ext cx="6620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Mating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bridge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1" name="TextBox 11"/>
          <p:cNvSpPr txBox="1">
            <a:spLocks noChangeArrowheads="1"/>
          </p:cNvSpPr>
          <p:nvPr/>
        </p:nvSpPr>
        <p:spPr bwMode="auto">
          <a:xfrm>
            <a:off x="321581" y="3042291"/>
            <a:ext cx="9938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(recipient)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2" name="TextBox 13"/>
          <p:cNvSpPr txBox="1">
            <a:spLocks noChangeArrowheads="1"/>
          </p:cNvSpPr>
          <p:nvPr/>
        </p:nvSpPr>
        <p:spPr bwMode="auto">
          <a:xfrm>
            <a:off x="2744090" y="3449484"/>
            <a:ext cx="1287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Bacterial</a:t>
            </a:r>
            <a:endParaRPr lang="en-US" sz="16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chromosome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3631818" y="4147190"/>
            <a:ext cx="1389804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Broken strand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peels off and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enters 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4" name="TextBox 18"/>
          <p:cNvSpPr txBox="1">
            <a:spLocks noChangeArrowheads="1"/>
          </p:cNvSpPr>
          <p:nvPr/>
        </p:nvSpPr>
        <p:spPr bwMode="auto">
          <a:xfrm>
            <a:off x="6746971" y="3278829"/>
            <a:ext cx="59471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4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cell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5" name="TextBox 26"/>
          <p:cNvSpPr txBox="1">
            <a:spLocks noChangeArrowheads="1"/>
          </p:cNvSpPr>
          <p:nvPr/>
        </p:nvSpPr>
        <p:spPr bwMode="auto">
          <a:xfrm>
            <a:off x="1487106" y="4147190"/>
            <a:ext cx="147957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One strand of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 plasmid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DNA breaks at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arrowhead.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6" name="TextBox 30"/>
          <p:cNvSpPr txBox="1">
            <a:spLocks noChangeArrowheads="1"/>
          </p:cNvSpPr>
          <p:nvPr/>
        </p:nvSpPr>
        <p:spPr bwMode="auto">
          <a:xfrm>
            <a:off x="5563806" y="4147190"/>
            <a:ext cx="1516441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Donor and</a:t>
            </a:r>
            <a:endParaRPr lang="en-US" sz="16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recipient cells</a:t>
            </a:r>
            <a:endParaRPr lang="en-US" sz="16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synthesize</a:t>
            </a:r>
            <a:endParaRPr lang="en-US" sz="16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complementary</a:t>
            </a:r>
            <a:endParaRPr lang="en-US" sz="16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DNA strands.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7513256" y="4147190"/>
            <a:ext cx="132408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Recipient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is now a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recombinant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8" name="TextBox 39"/>
          <p:cNvSpPr txBox="1">
            <a:spLocks noChangeArrowheads="1"/>
          </p:cNvSpPr>
          <p:nvPr/>
        </p:nvSpPr>
        <p:spPr bwMode="auto">
          <a:xfrm>
            <a:off x="332678" y="5394172"/>
            <a:ext cx="431368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(a) Conjugation and transfer of an F plasmid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1206253" y="4139513"/>
            <a:ext cx="192024" cy="230832"/>
            <a:chOff x="1206253" y="4151418"/>
            <a:chExt cx="192024" cy="230832"/>
          </a:xfrm>
        </p:grpSpPr>
        <p:sp>
          <p:nvSpPr>
            <p:cNvPr id="29" name="Oval 28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31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1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353535" y="4141894"/>
            <a:ext cx="192024" cy="230832"/>
            <a:chOff x="1206253" y="4151418"/>
            <a:chExt cx="192024" cy="230832"/>
          </a:xfrm>
        </p:grpSpPr>
        <p:sp>
          <p:nvSpPr>
            <p:cNvPr id="34" name="Oval 33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35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2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5287902" y="4139869"/>
            <a:ext cx="192024" cy="230832"/>
            <a:chOff x="1206253" y="4151418"/>
            <a:chExt cx="192024" cy="230832"/>
          </a:xfrm>
        </p:grpSpPr>
        <p:sp>
          <p:nvSpPr>
            <p:cNvPr id="37" name="Oval 36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38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3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232975" y="4143919"/>
            <a:ext cx="192024" cy="230832"/>
            <a:chOff x="1206253" y="4151418"/>
            <a:chExt cx="192024" cy="230832"/>
          </a:xfrm>
        </p:grpSpPr>
        <p:sp>
          <p:nvSpPr>
            <p:cNvPr id="40" name="Oval 39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41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4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sp>
        <p:nvSpPr>
          <p:cNvPr id="30" name="Freeform 29"/>
          <p:cNvSpPr/>
          <p:nvPr/>
        </p:nvSpPr>
        <p:spPr>
          <a:xfrm>
            <a:off x="2565709" y="3191010"/>
            <a:ext cx="162128" cy="344893"/>
          </a:xfrm>
          <a:custGeom>
            <a:avLst/>
            <a:gdLst>
              <a:gd name="connsiteX0" fmla="*/ 155778 w 162128"/>
              <a:gd name="connsiteY0" fmla="*/ 338543 h 344893"/>
              <a:gd name="connsiteX1" fmla="*/ 6350 w 162128"/>
              <a:gd name="connsiteY1" fmla="*/ 6350 h 34489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62128" h="344893">
                <a:moveTo>
                  <a:pt x="155778" y="338543"/>
                </a:moveTo>
                <a:lnTo>
                  <a:pt x="6350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2" name="Freeform 3"/>
          <p:cNvSpPr/>
          <p:nvPr/>
        </p:nvSpPr>
        <p:spPr>
          <a:xfrm>
            <a:off x="1424347" y="1634258"/>
            <a:ext cx="303885" cy="621563"/>
          </a:xfrm>
          <a:custGeom>
            <a:avLst/>
            <a:gdLst>
              <a:gd name="connsiteX0" fmla="*/ 6350 w 303885"/>
              <a:gd name="connsiteY0" fmla="*/ 6350 h 621563"/>
              <a:gd name="connsiteX1" fmla="*/ 297535 w 303885"/>
              <a:gd name="connsiteY1" fmla="*/ 615213 h 62156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03885" h="621563">
                <a:moveTo>
                  <a:pt x="6350" y="6350"/>
                </a:moveTo>
                <a:lnTo>
                  <a:pt x="297535" y="615213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3" name="Freeform 3"/>
          <p:cNvSpPr/>
          <p:nvPr/>
        </p:nvSpPr>
        <p:spPr>
          <a:xfrm>
            <a:off x="2328536" y="1634258"/>
            <a:ext cx="399300" cy="580212"/>
          </a:xfrm>
          <a:custGeom>
            <a:avLst/>
            <a:gdLst>
              <a:gd name="connsiteX0" fmla="*/ 392950 w 399300"/>
              <a:gd name="connsiteY0" fmla="*/ 6350 h 580212"/>
              <a:gd name="connsiteX1" fmla="*/ 6350 w 399300"/>
              <a:gd name="connsiteY1" fmla="*/ 573862 h 58021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399300" h="580212">
                <a:moveTo>
                  <a:pt x="392950" y="6350"/>
                </a:moveTo>
                <a:lnTo>
                  <a:pt x="6350" y="573862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4" name="Freeform 3"/>
          <p:cNvSpPr/>
          <p:nvPr/>
        </p:nvSpPr>
        <p:spPr>
          <a:xfrm>
            <a:off x="1244932" y="2640376"/>
            <a:ext cx="833592" cy="92214"/>
          </a:xfrm>
          <a:custGeom>
            <a:avLst/>
            <a:gdLst>
              <a:gd name="connsiteX0" fmla="*/ 6350 w 833592"/>
              <a:gd name="connsiteY0" fmla="*/ 6350 h 92214"/>
              <a:gd name="connsiteX1" fmla="*/ 827242 w 833592"/>
              <a:gd name="connsiteY1" fmla="*/ 85864 h 9221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833592" h="92214">
                <a:moveTo>
                  <a:pt x="6350" y="6350"/>
                </a:moveTo>
                <a:lnTo>
                  <a:pt x="827242" y="85864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5" name="Freeform 3"/>
          <p:cNvSpPr/>
          <p:nvPr/>
        </p:nvSpPr>
        <p:spPr>
          <a:xfrm>
            <a:off x="1244932" y="2049610"/>
            <a:ext cx="186552" cy="252412"/>
          </a:xfrm>
          <a:custGeom>
            <a:avLst/>
            <a:gdLst>
              <a:gd name="connsiteX0" fmla="*/ 180202 w 186552"/>
              <a:gd name="connsiteY0" fmla="*/ 246062 h 252412"/>
              <a:gd name="connsiteX1" fmla="*/ 6350 w 186552"/>
              <a:gd name="connsiteY1" fmla="*/ 6350 h 25241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86552" h="252412">
                <a:moveTo>
                  <a:pt x="180202" y="246062"/>
                </a:moveTo>
                <a:lnTo>
                  <a:pt x="6350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6" name="Freeform 3"/>
          <p:cNvSpPr/>
          <p:nvPr/>
        </p:nvSpPr>
        <p:spPr>
          <a:xfrm>
            <a:off x="1333633" y="3122481"/>
            <a:ext cx="78381" cy="56184"/>
          </a:xfrm>
          <a:custGeom>
            <a:avLst/>
            <a:gdLst>
              <a:gd name="connsiteX0" fmla="*/ 72031 w 78381"/>
              <a:gd name="connsiteY0" fmla="*/ 6350 h 56184"/>
              <a:gd name="connsiteX1" fmla="*/ 6350 w 78381"/>
              <a:gd name="connsiteY1" fmla="*/ 49834 h 5618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8381" h="56184">
                <a:moveTo>
                  <a:pt x="72031" y="6350"/>
                </a:moveTo>
                <a:lnTo>
                  <a:pt x="6350" y="49834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7" name="Freeform 3"/>
          <p:cNvSpPr/>
          <p:nvPr/>
        </p:nvSpPr>
        <p:spPr>
          <a:xfrm>
            <a:off x="7383669" y="2122508"/>
            <a:ext cx="78054" cy="279260"/>
          </a:xfrm>
          <a:custGeom>
            <a:avLst/>
            <a:gdLst>
              <a:gd name="connsiteX0" fmla="*/ 71704 w 78054"/>
              <a:gd name="connsiteY0" fmla="*/ 272910 h 279260"/>
              <a:gd name="connsiteX1" fmla="*/ 6350 w 78054"/>
              <a:gd name="connsiteY1" fmla="*/ 6350 h 27926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8054" h="279260">
                <a:moveTo>
                  <a:pt x="71704" y="272910"/>
                </a:moveTo>
                <a:lnTo>
                  <a:pt x="6350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48" name="Freeform 3"/>
          <p:cNvSpPr/>
          <p:nvPr/>
        </p:nvSpPr>
        <p:spPr>
          <a:xfrm>
            <a:off x="7383669" y="3129771"/>
            <a:ext cx="81699" cy="253606"/>
          </a:xfrm>
          <a:custGeom>
            <a:avLst/>
            <a:gdLst>
              <a:gd name="connsiteX0" fmla="*/ 75349 w 81699"/>
              <a:gd name="connsiteY0" fmla="*/ 6350 h 253606"/>
              <a:gd name="connsiteX1" fmla="*/ 6350 w 81699"/>
              <a:gd name="connsiteY1" fmla="*/ 247256 h 25360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81699" h="253606">
                <a:moveTo>
                  <a:pt x="75349" y="6350"/>
                </a:moveTo>
                <a:lnTo>
                  <a:pt x="6350" y="247256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The F Factor in the Chromosome</a:t>
            </a:r>
            <a:endParaRPr lang="en-US" b="1" dirty="0" smtClean="0"/>
          </a:p>
          <a:p>
            <a:r>
              <a:rPr lang="en-US" dirty="0" smtClean="0"/>
              <a:t>A cell with the F factor built into its chromosome functions as a donor during conjugation</a:t>
            </a:r>
            <a:endParaRPr lang="en-US" dirty="0" smtClean="0"/>
          </a:p>
          <a:p>
            <a:r>
              <a:rPr lang="en-US" dirty="0" smtClean="0"/>
              <a:t>Such cells are called </a:t>
            </a:r>
            <a:r>
              <a:rPr lang="en-US" dirty="0" err="1" smtClean="0"/>
              <a:t>Hfr</a:t>
            </a:r>
            <a:r>
              <a:rPr lang="en-US" dirty="0" smtClean="0"/>
              <a:t> cells (for </a:t>
            </a:r>
            <a:r>
              <a:rPr lang="en-US" i="1" dirty="0" smtClean="0"/>
              <a:t>h</a:t>
            </a:r>
            <a:r>
              <a:rPr lang="en-US" dirty="0" smtClean="0"/>
              <a:t>igh </a:t>
            </a:r>
            <a:r>
              <a:rPr lang="en-US" i="1" dirty="0" smtClean="0"/>
              <a:t>f</a:t>
            </a:r>
            <a:r>
              <a:rPr lang="en-US" dirty="0" smtClean="0"/>
              <a:t>requency of </a:t>
            </a:r>
            <a:r>
              <a:rPr lang="en-US" i="1" dirty="0" smtClean="0"/>
              <a:t>r</a:t>
            </a:r>
            <a:r>
              <a:rPr lang="en-US" dirty="0" smtClean="0"/>
              <a:t>ecombination)</a:t>
            </a:r>
            <a:endParaRPr lang="en-US" dirty="0" smtClean="0"/>
          </a:p>
          <a:p>
            <a:r>
              <a:rPr lang="en-US" dirty="0" smtClean="0"/>
              <a:t>The recipient becomes a recombinant bacterium, with DNA from two different cells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85"/>
          <a:stretch>
            <a:fillRect/>
          </a:stretch>
        </p:blipFill>
        <p:spPr>
          <a:xfrm>
            <a:off x="298704" y="1185672"/>
            <a:ext cx="8546592" cy="448665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27.13b_1</a:t>
            </a:r>
            <a:endParaRPr lang="en-US"/>
          </a:p>
        </p:txBody>
      </p:sp>
      <p:sp>
        <p:nvSpPr>
          <p:cNvPr id="25" name="TextBox 56"/>
          <p:cNvSpPr txBox="1">
            <a:spLocks noChangeArrowheads="1"/>
          </p:cNvSpPr>
          <p:nvPr/>
        </p:nvSpPr>
        <p:spPr bwMode="auto">
          <a:xfrm>
            <a:off x="1488721" y="3261201"/>
            <a:ext cx="146354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An </a:t>
            </a:r>
            <a:r>
              <a:rPr lang="en-US" sz="16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Hfr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forms a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mating bridge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with an 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6" name="TextBox 3"/>
          <p:cNvSpPr txBox="1">
            <a:spLocks noChangeArrowheads="1"/>
          </p:cNvSpPr>
          <p:nvPr/>
        </p:nvSpPr>
        <p:spPr bwMode="auto">
          <a:xfrm>
            <a:off x="510937" y="1302862"/>
            <a:ext cx="7181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Hfr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(donor)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7" name="TextBox 5"/>
          <p:cNvSpPr txBox="1">
            <a:spLocks noChangeArrowheads="1"/>
          </p:cNvSpPr>
          <p:nvPr/>
        </p:nvSpPr>
        <p:spPr bwMode="auto">
          <a:xfrm>
            <a:off x="442672" y="1870393"/>
            <a:ext cx="75341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 factor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8" name="TextBox 25"/>
          <p:cNvSpPr txBox="1">
            <a:spLocks noChangeArrowheads="1"/>
          </p:cNvSpPr>
          <p:nvPr/>
        </p:nvSpPr>
        <p:spPr bwMode="auto">
          <a:xfrm>
            <a:off x="329184" y="2337912"/>
            <a:ext cx="9938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(recipient)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0" name="TextBox 60"/>
          <p:cNvSpPr txBox="1">
            <a:spLocks noChangeArrowheads="1"/>
          </p:cNvSpPr>
          <p:nvPr/>
        </p:nvSpPr>
        <p:spPr bwMode="auto">
          <a:xfrm>
            <a:off x="336085" y="5210663"/>
            <a:ext cx="78306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17500" indent="-320040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(b) Conjugation and transfer of part of an </a:t>
            </a:r>
            <a:r>
              <a:rPr lang="en-US" sz="16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Hfr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bacterial chromosome, resulting in</a:t>
            </a:r>
            <a:b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</a:b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recombination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1" name="TextBox 10"/>
          <p:cNvSpPr txBox="1">
            <a:spLocks noChangeArrowheads="1"/>
          </p:cNvSpPr>
          <p:nvPr/>
        </p:nvSpPr>
        <p:spPr bwMode="auto">
          <a:xfrm>
            <a:off x="1686285" y="1481933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32" name="TextBox 10"/>
          <p:cNvSpPr txBox="1">
            <a:spLocks noChangeArrowheads="1"/>
          </p:cNvSpPr>
          <p:nvPr/>
        </p:nvSpPr>
        <p:spPr bwMode="auto">
          <a:xfrm>
            <a:off x="1895836" y="1420020"/>
            <a:ext cx="16991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33" name="TextBox 10"/>
          <p:cNvSpPr txBox="1">
            <a:spLocks noChangeArrowheads="1"/>
          </p:cNvSpPr>
          <p:nvPr/>
        </p:nvSpPr>
        <p:spPr bwMode="auto">
          <a:xfrm>
            <a:off x="2116151" y="2234207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37" name="TextBox 10"/>
          <p:cNvSpPr txBox="1">
            <a:spLocks noChangeArrowheads="1"/>
          </p:cNvSpPr>
          <p:nvPr/>
        </p:nvSpPr>
        <p:spPr bwMode="auto">
          <a:xfrm>
            <a:off x="2304273" y="2148484"/>
            <a:ext cx="1939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200" b="1" i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 </a:t>
            </a:r>
            <a:endParaRPr lang="en-US" sz="1200" b="1" i="1" baseline="30000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1212230" y="3254631"/>
            <a:ext cx="192024" cy="230832"/>
            <a:chOff x="1206253" y="4151418"/>
            <a:chExt cx="192024" cy="230832"/>
          </a:xfrm>
        </p:grpSpPr>
        <p:sp>
          <p:nvSpPr>
            <p:cNvPr id="54" name="Oval 53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55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1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sp>
        <p:nvSpPr>
          <p:cNvPr id="65" name="Freeform 64"/>
          <p:cNvSpPr/>
          <p:nvPr/>
        </p:nvSpPr>
        <p:spPr>
          <a:xfrm>
            <a:off x="1207467" y="1756120"/>
            <a:ext cx="771647" cy="253504"/>
          </a:xfrm>
          <a:custGeom>
            <a:avLst/>
            <a:gdLst>
              <a:gd name="connsiteX0" fmla="*/ 6350 w 771647"/>
              <a:gd name="connsiteY0" fmla="*/ 247154 h 253504"/>
              <a:gd name="connsiteX1" fmla="*/ 765297 w 771647"/>
              <a:gd name="connsiteY1" fmla="*/ 6350 h 25350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71647" h="253504">
                <a:moveTo>
                  <a:pt x="6350" y="247154"/>
                </a:moveTo>
                <a:lnTo>
                  <a:pt x="765297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66" name="Freeform 3"/>
          <p:cNvSpPr/>
          <p:nvPr/>
        </p:nvSpPr>
        <p:spPr>
          <a:xfrm>
            <a:off x="1226405" y="1411570"/>
            <a:ext cx="207840" cy="109131"/>
          </a:xfrm>
          <a:custGeom>
            <a:avLst/>
            <a:gdLst>
              <a:gd name="connsiteX0" fmla="*/ 201490 w 207840"/>
              <a:gd name="connsiteY0" fmla="*/ 102781 h 109131"/>
              <a:gd name="connsiteX1" fmla="*/ 6350 w 207840"/>
              <a:gd name="connsiteY1" fmla="*/ 6350 h 10913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07840" h="109131">
                <a:moveTo>
                  <a:pt x="201490" y="102781"/>
                </a:moveTo>
                <a:lnTo>
                  <a:pt x="6350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68" name="Freeform 3"/>
          <p:cNvSpPr/>
          <p:nvPr/>
        </p:nvSpPr>
        <p:spPr>
          <a:xfrm>
            <a:off x="1336392" y="2341145"/>
            <a:ext cx="78384" cy="137490"/>
          </a:xfrm>
          <a:custGeom>
            <a:avLst/>
            <a:gdLst>
              <a:gd name="connsiteX0" fmla="*/ 72034 w 78384"/>
              <a:gd name="connsiteY0" fmla="*/ 6350 h 137490"/>
              <a:gd name="connsiteX1" fmla="*/ 6350 w 78384"/>
              <a:gd name="connsiteY1" fmla="*/ 131140 h 13749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8384" h="137490">
                <a:moveTo>
                  <a:pt x="72034" y="6350"/>
                </a:moveTo>
                <a:lnTo>
                  <a:pt x="6350" y="13114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85"/>
          <a:stretch>
            <a:fillRect/>
          </a:stretch>
        </p:blipFill>
        <p:spPr>
          <a:xfrm>
            <a:off x="298704" y="1185672"/>
            <a:ext cx="8546592" cy="448665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27.13b_2</a:t>
            </a:r>
            <a:endParaRPr lang="en-US"/>
          </a:p>
        </p:txBody>
      </p:sp>
      <p:sp>
        <p:nvSpPr>
          <p:cNvPr id="28" name="TextBox 32"/>
          <p:cNvSpPr txBox="1">
            <a:spLocks noChangeArrowheads="1"/>
          </p:cNvSpPr>
          <p:nvPr/>
        </p:nvSpPr>
        <p:spPr bwMode="auto">
          <a:xfrm>
            <a:off x="3377846" y="3261201"/>
            <a:ext cx="152522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 single strand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of the F factor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breaks and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begins to move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through the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bridge.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3" name="TextBox 56"/>
          <p:cNvSpPr txBox="1">
            <a:spLocks noChangeArrowheads="1"/>
          </p:cNvSpPr>
          <p:nvPr/>
        </p:nvSpPr>
        <p:spPr bwMode="auto">
          <a:xfrm>
            <a:off x="1488721" y="3261201"/>
            <a:ext cx="146354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An </a:t>
            </a:r>
            <a:r>
              <a:rPr lang="en-US" sz="16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Hfr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forms a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mating bridge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with an 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40" name="TextBox 3"/>
          <p:cNvSpPr txBox="1">
            <a:spLocks noChangeArrowheads="1"/>
          </p:cNvSpPr>
          <p:nvPr/>
        </p:nvSpPr>
        <p:spPr bwMode="auto">
          <a:xfrm>
            <a:off x="510937" y="1302862"/>
            <a:ext cx="7181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Hfr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(donor)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41" name="TextBox 5"/>
          <p:cNvSpPr txBox="1">
            <a:spLocks noChangeArrowheads="1"/>
          </p:cNvSpPr>
          <p:nvPr/>
        </p:nvSpPr>
        <p:spPr bwMode="auto">
          <a:xfrm>
            <a:off x="442672" y="1870393"/>
            <a:ext cx="75341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 factor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42" name="TextBox 25"/>
          <p:cNvSpPr txBox="1">
            <a:spLocks noChangeArrowheads="1"/>
          </p:cNvSpPr>
          <p:nvPr/>
        </p:nvSpPr>
        <p:spPr bwMode="auto">
          <a:xfrm>
            <a:off x="329184" y="2337912"/>
            <a:ext cx="9938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(recipient)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44" name="TextBox 60"/>
          <p:cNvSpPr txBox="1">
            <a:spLocks noChangeArrowheads="1"/>
          </p:cNvSpPr>
          <p:nvPr/>
        </p:nvSpPr>
        <p:spPr bwMode="auto">
          <a:xfrm>
            <a:off x="336085" y="5210663"/>
            <a:ext cx="78306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17500" indent="-320040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(b) Conjugation and transfer of part of an </a:t>
            </a:r>
            <a:r>
              <a:rPr lang="en-US" sz="16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Hfr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bacterial chromosome, resulting in</a:t>
            </a:r>
            <a:b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</a:b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recombination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45" name="TextBox 10"/>
          <p:cNvSpPr txBox="1">
            <a:spLocks noChangeArrowheads="1"/>
          </p:cNvSpPr>
          <p:nvPr/>
        </p:nvSpPr>
        <p:spPr bwMode="auto">
          <a:xfrm>
            <a:off x="1686285" y="1481933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46" name="TextBox 10"/>
          <p:cNvSpPr txBox="1">
            <a:spLocks noChangeArrowheads="1"/>
          </p:cNvSpPr>
          <p:nvPr/>
        </p:nvSpPr>
        <p:spPr bwMode="auto">
          <a:xfrm>
            <a:off x="1895836" y="1420020"/>
            <a:ext cx="16991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47" name="TextBox 10"/>
          <p:cNvSpPr txBox="1">
            <a:spLocks noChangeArrowheads="1"/>
          </p:cNvSpPr>
          <p:nvPr/>
        </p:nvSpPr>
        <p:spPr bwMode="auto">
          <a:xfrm>
            <a:off x="2116151" y="2234207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48" name="TextBox 10"/>
          <p:cNvSpPr txBox="1">
            <a:spLocks noChangeArrowheads="1"/>
          </p:cNvSpPr>
          <p:nvPr/>
        </p:nvSpPr>
        <p:spPr bwMode="auto">
          <a:xfrm>
            <a:off x="2304273" y="2148484"/>
            <a:ext cx="1939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200" b="1" i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 </a:t>
            </a:r>
            <a:endParaRPr lang="en-US" sz="1200" b="1" i="1" baseline="30000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49" name="TextBox 10"/>
          <p:cNvSpPr txBox="1">
            <a:spLocks noChangeArrowheads="1"/>
          </p:cNvSpPr>
          <p:nvPr/>
        </p:nvSpPr>
        <p:spPr bwMode="auto">
          <a:xfrm>
            <a:off x="4011334" y="2249568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50" name="TextBox 10"/>
          <p:cNvSpPr txBox="1">
            <a:spLocks noChangeArrowheads="1"/>
          </p:cNvSpPr>
          <p:nvPr/>
        </p:nvSpPr>
        <p:spPr bwMode="auto">
          <a:xfrm>
            <a:off x="4199456" y="2163845"/>
            <a:ext cx="1939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200" b="1" i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 </a:t>
            </a:r>
            <a:endParaRPr lang="en-US" sz="1200" b="1" i="1" baseline="30000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51" name="TextBox 10"/>
          <p:cNvSpPr txBox="1">
            <a:spLocks noChangeArrowheads="1"/>
          </p:cNvSpPr>
          <p:nvPr/>
        </p:nvSpPr>
        <p:spPr bwMode="auto">
          <a:xfrm>
            <a:off x="3727018" y="1816618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55" name="TextBox 10"/>
          <p:cNvSpPr txBox="1">
            <a:spLocks noChangeArrowheads="1"/>
          </p:cNvSpPr>
          <p:nvPr/>
        </p:nvSpPr>
        <p:spPr bwMode="auto">
          <a:xfrm>
            <a:off x="3906460" y="1550361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59" name="TextBox 10"/>
          <p:cNvSpPr txBox="1">
            <a:spLocks noChangeArrowheads="1"/>
          </p:cNvSpPr>
          <p:nvPr/>
        </p:nvSpPr>
        <p:spPr bwMode="auto">
          <a:xfrm>
            <a:off x="3561862" y="1493564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1212230" y="3254631"/>
            <a:ext cx="192024" cy="230832"/>
            <a:chOff x="1206253" y="4151418"/>
            <a:chExt cx="192024" cy="230832"/>
          </a:xfrm>
        </p:grpSpPr>
        <p:sp>
          <p:nvSpPr>
            <p:cNvPr id="65" name="Oval 64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66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1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3097386" y="3254987"/>
            <a:ext cx="192024" cy="230832"/>
            <a:chOff x="1206253" y="4151418"/>
            <a:chExt cx="192024" cy="230832"/>
          </a:xfrm>
        </p:grpSpPr>
        <p:sp>
          <p:nvSpPr>
            <p:cNvPr id="68" name="Oval 67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69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2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sp>
        <p:nvSpPr>
          <p:cNvPr id="76" name="Freeform 75"/>
          <p:cNvSpPr/>
          <p:nvPr/>
        </p:nvSpPr>
        <p:spPr>
          <a:xfrm>
            <a:off x="1207467" y="1756120"/>
            <a:ext cx="771647" cy="253504"/>
          </a:xfrm>
          <a:custGeom>
            <a:avLst/>
            <a:gdLst>
              <a:gd name="connsiteX0" fmla="*/ 6350 w 771647"/>
              <a:gd name="connsiteY0" fmla="*/ 247154 h 253504"/>
              <a:gd name="connsiteX1" fmla="*/ 765297 w 771647"/>
              <a:gd name="connsiteY1" fmla="*/ 6350 h 25350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71647" h="253504">
                <a:moveTo>
                  <a:pt x="6350" y="247154"/>
                </a:moveTo>
                <a:lnTo>
                  <a:pt x="765297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77" name="Freeform 3"/>
          <p:cNvSpPr/>
          <p:nvPr/>
        </p:nvSpPr>
        <p:spPr>
          <a:xfrm>
            <a:off x="1226405" y="1411570"/>
            <a:ext cx="207840" cy="109131"/>
          </a:xfrm>
          <a:custGeom>
            <a:avLst/>
            <a:gdLst>
              <a:gd name="connsiteX0" fmla="*/ 201490 w 207840"/>
              <a:gd name="connsiteY0" fmla="*/ 102781 h 109131"/>
              <a:gd name="connsiteX1" fmla="*/ 6350 w 207840"/>
              <a:gd name="connsiteY1" fmla="*/ 6350 h 10913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07840" h="109131">
                <a:moveTo>
                  <a:pt x="201490" y="102781"/>
                </a:moveTo>
                <a:lnTo>
                  <a:pt x="6350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79" name="Freeform 3"/>
          <p:cNvSpPr/>
          <p:nvPr/>
        </p:nvSpPr>
        <p:spPr>
          <a:xfrm>
            <a:off x="1336392" y="2341145"/>
            <a:ext cx="78384" cy="137490"/>
          </a:xfrm>
          <a:custGeom>
            <a:avLst/>
            <a:gdLst>
              <a:gd name="connsiteX0" fmla="*/ 72034 w 78384"/>
              <a:gd name="connsiteY0" fmla="*/ 6350 h 137490"/>
              <a:gd name="connsiteX1" fmla="*/ 6350 w 78384"/>
              <a:gd name="connsiteY1" fmla="*/ 131140 h 13749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8384" h="137490">
                <a:moveTo>
                  <a:pt x="72034" y="6350"/>
                </a:moveTo>
                <a:lnTo>
                  <a:pt x="6350" y="13114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85"/>
          <a:stretch>
            <a:fillRect/>
          </a:stretch>
        </p:blipFill>
        <p:spPr>
          <a:xfrm>
            <a:off x="298704" y="1185672"/>
            <a:ext cx="8546592" cy="448665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27.13b_3</a:t>
            </a:r>
            <a:endParaRPr lang="en-US"/>
          </a:p>
        </p:txBody>
      </p:sp>
      <p:sp>
        <p:nvSpPr>
          <p:cNvPr id="45" name="TextBox 32"/>
          <p:cNvSpPr txBox="1">
            <a:spLocks noChangeArrowheads="1"/>
          </p:cNvSpPr>
          <p:nvPr/>
        </p:nvSpPr>
        <p:spPr bwMode="auto">
          <a:xfrm>
            <a:off x="3377846" y="3261201"/>
            <a:ext cx="152522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 single strand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of the F factor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breaks and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begins to move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through the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bridge.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47" name="TextBox 38"/>
          <p:cNvSpPr txBox="1">
            <a:spLocks noChangeArrowheads="1"/>
          </p:cNvSpPr>
          <p:nvPr/>
        </p:nvSpPr>
        <p:spPr bwMode="auto">
          <a:xfrm>
            <a:off x="5463821" y="3261201"/>
            <a:ext cx="1378583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Crossing over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can result in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exchange of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homologous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genes.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49" name="TextBox 56"/>
          <p:cNvSpPr txBox="1">
            <a:spLocks noChangeArrowheads="1"/>
          </p:cNvSpPr>
          <p:nvPr/>
        </p:nvSpPr>
        <p:spPr bwMode="auto">
          <a:xfrm>
            <a:off x="1488721" y="3261201"/>
            <a:ext cx="146354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An </a:t>
            </a:r>
            <a:r>
              <a:rPr lang="en-US" sz="16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Hfr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forms a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mating bridge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with an 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50" name="TextBox 3"/>
          <p:cNvSpPr txBox="1">
            <a:spLocks noChangeArrowheads="1"/>
          </p:cNvSpPr>
          <p:nvPr/>
        </p:nvSpPr>
        <p:spPr bwMode="auto">
          <a:xfrm>
            <a:off x="510937" y="1302862"/>
            <a:ext cx="7181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Hfr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(donor)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51" name="TextBox 5"/>
          <p:cNvSpPr txBox="1">
            <a:spLocks noChangeArrowheads="1"/>
          </p:cNvSpPr>
          <p:nvPr/>
        </p:nvSpPr>
        <p:spPr bwMode="auto">
          <a:xfrm>
            <a:off x="442672" y="1870393"/>
            <a:ext cx="75341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 factor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52" name="TextBox 25"/>
          <p:cNvSpPr txBox="1">
            <a:spLocks noChangeArrowheads="1"/>
          </p:cNvSpPr>
          <p:nvPr/>
        </p:nvSpPr>
        <p:spPr bwMode="auto">
          <a:xfrm>
            <a:off x="329184" y="2337912"/>
            <a:ext cx="9938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(recipient)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54" name="TextBox 60"/>
          <p:cNvSpPr txBox="1">
            <a:spLocks noChangeArrowheads="1"/>
          </p:cNvSpPr>
          <p:nvPr/>
        </p:nvSpPr>
        <p:spPr bwMode="auto">
          <a:xfrm>
            <a:off x="336085" y="5210663"/>
            <a:ext cx="78306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17500" indent="-320040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(b) Conjugation and transfer of part of an </a:t>
            </a:r>
            <a:r>
              <a:rPr lang="en-US" sz="16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Hfr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bacterial chromosome, resulting in</a:t>
            </a:r>
            <a:b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</a:b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recombination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55" name="TextBox 10"/>
          <p:cNvSpPr txBox="1">
            <a:spLocks noChangeArrowheads="1"/>
          </p:cNvSpPr>
          <p:nvPr/>
        </p:nvSpPr>
        <p:spPr bwMode="auto">
          <a:xfrm>
            <a:off x="1686285" y="1481933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56" name="TextBox 10"/>
          <p:cNvSpPr txBox="1">
            <a:spLocks noChangeArrowheads="1"/>
          </p:cNvSpPr>
          <p:nvPr/>
        </p:nvSpPr>
        <p:spPr bwMode="auto">
          <a:xfrm>
            <a:off x="1895836" y="1420020"/>
            <a:ext cx="16991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57" name="TextBox 10"/>
          <p:cNvSpPr txBox="1">
            <a:spLocks noChangeArrowheads="1"/>
          </p:cNvSpPr>
          <p:nvPr/>
        </p:nvSpPr>
        <p:spPr bwMode="auto">
          <a:xfrm>
            <a:off x="2116151" y="2234207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58" name="TextBox 10"/>
          <p:cNvSpPr txBox="1">
            <a:spLocks noChangeArrowheads="1"/>
          </p:cNvSpPr>
          <p:nvPr/>
        </p:nvSpPr>
        <p:spPr bwMode="auto">
          <a:xfrm>
            <a:off x="2304273" y="2148484"/>
            <a:ext cx="1939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200" b="1" i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 </a:t>
            </a:r>
            <a:endParaRPr lang="en-US" sz="1200" b="1" i="1" baseline="30000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59" name="TextBox 10"/>
          <p:cNvSpPr txBox="1">
            <a:spLocks noChangeArrowheads="1"/>
          </p:cNvSpPr>
          <p:nvPr/>
        </p:nvSpPr>
        <p:spPr bwMode="auto">
          <a:xfrm>
            <a:off x="4011334" y="2249568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60" name="TextBox 10"/>
          <p:cNvSpPr txBox="1">
            <a:spLocks noChangeArrowheads="1"/>
          </p:cNvSpPr>
          <p:nvPr/>
        </p:nvSpPr>
        <p:spPr bwMode="auto">
          <a:xfrm>
            <a:off x="4199456" y="2163845"/>
            <a:ext cx="1939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200" b="1" i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 </a:t>
            </a:r>
            <a:endParaRPr lang="en-US" sz="1200" b="1" i="1" baseline="30000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61" name="TextBox 10"/>
          <p:cNvSpPr txBox="1">
            <a:spLocks noChangeArrowheads="1"/>
          </p:cNvSpPr>
          <p:nvPr/>
        </p:nvSpPr>
        <p:spPr bwMode="auto">
          <a:xfrm>
            <a:off x="3727018" y="1816618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62" name="TextBox 10"/>
          <p:cNvSpPr txBox="1">
            <a:spLocks noChangeArrowheads="1"/>
          </p:cNvSpPr>
          <p:nvPr/>
        </p:nvSpPr>
        <p:spPr bwMode="auto">
          <a:xfrm>
            <a:off x="5522480" y="2234207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63" name="TextBox 10"/>
          <p:cNvSpPr txBox="1">
            <a:spLocks noChangeArrowheads="1"/>
          </p:cNvSpPr>
          <p:nvPr/>
        </p:nvSpPr>
        <p:spPr bwMode="auto">
          <a:xfrm>
            <a:off x="6084457" y="1474790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65" name="TextBox 10"/>
          <p:cNvSpPr txBox="1">
            <a:spLocks noChangeArrowheads="1"/>
          </p:cNvSpPr>
          <p:nvPr/>
        </p:nvSpPr>
        <p:spPr bwMode="auto">
          <a:xfrm>
            <a:off x="3906460" y="1550361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67" name="TextBox 10"/>
          <p:cNvSpPr txBox="1">
            <a:spLocks noChangeArrowheads="1"/>
          </p:cNvSpPr>
          <p:nvPr/>
        </p:nvSpPr>
        <p:spPr bwMode="auto">
          <a:xfrm>
            <a:off x="6122903" y="2150431"/>
            <a:ext cx="1939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200" b="1" i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 </a:t>
            </a:r>
            <a:endParaRPr lang="en-US" sz="1200" b="1" i="1" baseline="30000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69" name="TextBox 10"/>
          <p:cNvSpPr txBox="1">
            <a:spLocks noChangeArrowheads="1"/>
          </p:cNvSpPr>
          <p:nvPr/>
        </p:nvSpPr>
        <p:spPr bwMode="auto">
          <a:xfrm>
            <a:off x="3561862" y="1493564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70" name="TextBox 10"/>
          <p:cNvSpPr txBox="1">
            <a:spLocks noChangeArrowheads="1"/>
          </p:cNvSpPr>
          <p:nvPr/>
        </p:nvSpPr>
        <p:spPr bwMode="auto">
          <a:xfrm>
            <a:off x="5861299" y="1576647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72" name="TextBox 10"/>
          <p:cNvSpPr txBox="1">
            <a:spLocks noChangeArrowheads="1"/>
          </p:cNvSpPr>
          <p:nvPr/>
        </p:nvSpPr>
        <p:spPr bwMode="auto">
          <a:xfrm>
            <a:off x="5934353" y="2236350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1212230" y="3254631"/>
            <a:ext cx="192024" cy="230832"/>
            <a:chOff x="1206253" y="4151418"/>
            <a:chExt cx="192024" cy="230832"/>
          </a:xfrm>
        </p:grpSpPr>
        <p:sp>
          <p:nvSpPr>
            <p:cNvPr id="75" name="Oval 74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76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1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3097386" y="3254987"/>
            <a:ext cx="192024" cy="230832"/>
            <a:chOff x="1206253" y="4151418"/>
            <a:chExt cx="192024" cy="230832"/>
          </a:xfrm>
        </p:grpSpPr>
        <p:sp>
          <p:nvSpPr>
            <p:cNvPr id="78" name="Oval 77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79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2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5182565" y="3254058"/>
            <a:ext cx="192024" cy="230832"/>
            <a:chOff x="1206253" y="4151418"/>
            <a:chExt cx="192024" cy="230832"/>
          </a:xfrm>
        </p:grpSpPr>
        <p:sp>
          <p:nvSpPr>
            <p:cNvPr id="81" name="Oval 80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82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3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sp>
        <p:nvSpPr>
          <p:cNvPr id="86" name="Freeform 85"/>
          <p:cNvSpPr/>
          <p:nvPr/>
        </p:nvSpPr>
        <p:spPr>
          <a:xfrm>
            <a:off x="1207467" y="1756120"/>
            <a:ext cx="771647" cy="253504"/>
          </a:xfrm>
          <a:custGeom>
            <a:avLst/>
            <a:gdLst>
              <a:gd name="connsiteX0" fmla="*/ 6350 w 771647"/>
              <a:gd name="connsiteY0" fmla="*/ 247154 h 253504"/>
              <a:gd name="connsiteX1" fmla="*/ 765297 w 771647"/>
              <a:gd name="connsiteY1" fmla="*/ 6350 h 25350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71647" h="253504">
                <a:moveTo>
                  <a:pt x="6350" y="247154"/>
                </a:moveTo>
                <a:lnTo>
                  <a:pt x="765297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87" name="Freeform 3"/>
          <p:cNvSpPr/>
          <p:nvPr/>
        </p:nvSpPr>
        <p:spPr>
          <a:xfrm>
            <a:off x="1226405" y="1411570"/>
            <a:ext cx="207840" cy="109131"/>
          </a:xfrm>
          <a:custGeom>
            <a:avLst/>
            <a:gdLst>
              <a:gd name="connsiteX0" fmla="*/ 201490 w 207840"/>
              <a:gd name="connsiteY0" fmla="*/ 102781 h 109131"/>
              <a:gd name="connsiteX1" fmla="*/ 6350 w 207840"/>
              <a:gd name="connsiteY1" fmla="*/ 6350 h 10913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07840" h="109131">
                <a:moveTo>
                  <a:pt x="201490" y="102781"/>
                </a:moveTo>
                <a:lnTo>
                  <a:pt x="6350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89" name="Freeform 3"/>
          <p:cNvSpPr/>
          <p:nvPr/>
        </p:nvSpPr>
        <p:spPr>
          <a:xfrm>
            <a:off x="1336392" y="2341145"/>
            <a:ext cx="78384" cy="137490"/>
          </a:xfrm>
          <a:custGeom>
            <a:avLst/>
            <a:gdLst>
              <a:gd name="connsiteX0" fmla="*/ 72034 w 78384"/>
              <a:gd name="connsiteY0" fmla="*/ 6350 h 137490"/>
              <a:gd name="connsiteX1" fmla="*/ 6350 w 78384"/>
              <a:gd name="connsiteY1" fmla="*/ 131140 h 13749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8384" h="137490">
                <a:moveTo>
                  <a:pt x="72034" y="6350"/>
                </a:moveTo>
                <a:lnTo>
                  <a:pt x="6350" y="13114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85"/>
          <a:stretch>
            <a:fillRect/>
          </a:stretch>
        </p:blipFill>
        <p:spPr>
          <a:xfrm>
            <a:off x="298704" y="1185672"/>
            <a:ext cx="8546592" cy="448665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27.13b_4</a:t>
            </a:r>
            <a:endParaRPr lang="en-US"/>
          </a:p>
        </p:txBody>
      </p:sp>
      <p:sp>
        <p:nvSpPr>
          <p:cNvPr id="6" name="TextBox 32"/>
          <p:cNvSpPr txBox="1">
            <a:spLocks noChangeArrowheads="1"/>
          </p:cNvSpPr>
          <p:nvPr/>
        </p:nvSpPr>
        <p:spPr bwMode="auto">
          <a:xfrm>
            <a:off x="3377846" y="3261201"/>
            <a:ext cx="152522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 single strand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of the F factor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breaks and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begins to move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through the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bridge.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38"/>
          <p:cNvSpPr txBox="1">
            <a:spLocks noChangeArrowheads="1"/>
          </p:cNvSpPr>
          <p:nvPr/>
        </p:nvSpPr>
        <p:spPr bwMode="auto">
          <a:xfrm>
            <a:off x="5463821" y="3261201"/>
            <a:ext cx="1378583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Crossing over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can result in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exchange of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homologous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genes.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43"/>
          <p:cNvSpPr txBox="1">
            <a:spLocks noChangeArrowheads="1"/>
          </p:cNvSpPr>
          <p:nvPr/>
        </p:nvSpPr>
        <p:spPr bwMode="auto">
          <a:xfrm>
            <a:off x="7478358" y="3261201"/>
            <a:ext cx="1324080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Enzymes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degrade any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DNA not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incorporated.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Recipient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is now a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recombinant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9" name="TextBox 56"/>
          <p:cNvSpPr txBox="1">
            <a:spLocks noChangeArrowheads="1"/>
          </p:cNvSpPr>
          <p:nvPr/>
        </p:nvSpPr>
        <p:spPr bwMode="auto">
          <a:xfrm>
            <a:off x="1488721" y="3261201"/>
            <a:ext cx="146354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An </a:t>
            </a:r>
            <a:r>
              <a:rPr lang="en-US" sz="16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Hfr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forms a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mating bridge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with an 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cell.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0" name="TextBox 3"/>
          <p:cNvSpPr txBox="1">
            <a:spLocks noChangeArrowheads="1"/>
          </p:cNvSpPr>
          <p:nvPr/>
        </p:nvSpPr>
        <p:spPr bwMode="auto">
          <a:xfrm>
            <a:off x="510937" y="1302862"/>
            <a:ext cx="7181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Hfr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ct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(donor)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442672" y="1870393"/>
            <a:ext cx="75341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 factor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2" name="TextBox 25"/>
          <p:cNvSpPr txBox="1">
            <a:spLocks noChangeArrowheads="1"/>
          </p:cNvSpPr>
          <p:nvPr/>
        </p:nvSpPr>
        <p:spPr bwMode="auto">
          <a:xfrm>
            <a:off x="329184" y="2337912"/>
            <a:ext cx="9938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cell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r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(recipient)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3" name="TextBox 30"/>
          <p:cNvSpPr txBox="1">
            <a:spLocks noChangeArrowheads="1"/>
          </p:cNvSpPr>
          <p:nvPr/>
        </p:nvSpPr>
        <p:spPr bwMode="auto">
          <a:xfrm>
            <a:off x="6388653" y="2610168"/>
            <a:ext cx="13465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Recombinant</a:t>
            </a:r>
            <a:endParaRPr lang="en-US" sz="16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</a:t>
            </a:r>
            <a:r>
              <a:rPr lang="en-US" sz="16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bacterium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8" name="TextBox 60"/>
          <p:cNvSpPr txBox="1">
            <a:spLocks noChangeArrowheads="1"/>
          </p:cNvSpPr>
          <p:nvPr/>
        </p:nvSpPr>
        <p:spPr bwMode="auto">
          <a:xfrm>
            <a:off x="336085" y="5210663"/>
            <a:ext cx="78306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17500" indent="-320040">
              <a:lnSpc>
                <a:spcPts val="1820"/>
              </a:lnSpc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(b) Conjugation and transfer of part of an </a:t>
            </a:r>
            <a:r>
              <a:rPr lang="en-US" sz="16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Hfr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bacterial chromosome, resulting in</a:t>
            </a:r>
            <a:b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</a:b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recombination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9" name="TextBox 10"/>
          <p:cNvSpPr txBox="1">
            <a:spLocks noChangeArrowheads="1"/>
          </p:cNvSpPr>
          <p:nvPr/>
        </p:nvSpPr>
        <p:spPr bwMode="auto">
          <a:xfrm>
            <a:off x="1686285" y="1481933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21" name="TextBox 10"/>
          <p:cNvSpPr txBox="1">
            <a:spLocks noChangeArrowheads="1"/>
          </p:cNvSpPr>
          <p:nvPr/>
        </p:nvSpPr>
        <p:spPr bwMode="auto">
          <a:xfrm>
            <a:off x="1895836" y="1420020"/>
            <a:ext cx="16991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2116151" y="2234207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23" name="TextBox 10"/>
          <p:cNvSpPr txBox="1">
            <a:spLocks noChangeArrowheads="1"/>
          </p:cNvSpPr>
          <p:nvPr/>
        </p:nvSpPr>
        <p:spPr bwMode="auto">
          <a:xfrm>
            <a:off x="2304273" y="2148484"/>
            <a:ext cx="1939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200" b="1" i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 </a:t>
            </a:r>
            <a:endParaRPr lang="en-US" sz="1200" b="1" i="1" baseline="30000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4" name="TextBox 10"/>
          <p:cNvSpPr txBox="1">
            <a:spLocks noChangeArrowheads="1"/>
          </p:cNvSpPr>
          <p:nvPr/>
        </p:nvSpPr>
        <p:spPr bwMode="auto">
          <a:xfrm>
            <a:off x="4011334" y="2249568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25" name="TextBox 10"/>
          <p:cNvSpPr txBox="1">
            <a:spLocks noChangeArrowheads="1"/>
          </p:cNvSpPr>
          <p:nvPr/>
        </p:nvSpPr>
        <p:spPr bwMode="auto">
          <a:xfrm>
            <a:off x="4199456" y="2163845"/>
            <a:ext cx="1939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200" b="1" i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 </a:t>
            </a:r>
            <a:endParaRPr lang="en-US" sz="1200" b="1" i="1" baseline="30000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6" name="TextBox 10"/>
          <p:cNvSpPr txBox="1">
            <a:spLocks noChangeArrowheads="1"/>
          </p:cNvSpPr>
          <p:nvPr/>
        </p:nvSpPr>
        <p:spPr bwMode="auto">
          <a:xfrm>
            <a:off x="3727018" y="1816618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27" name="TextBox 10"/>
          <p:cNvSpPr txBox="1">
            <a:spLocks noChangeArrowheads="1"/>
          </p:cNvSpPr>
          <p:nvPr/>
        </p:nvSpPr>
        <p:spPr bwMode="auto">
          <a:xfrm>
            <a:off x="5522480" y="2234207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28" name="TextBox 10"/>
          <p:cNvSpPr txBox="1">
            <a:spLocks noChangeArrowheads="1"/>
          </p:cNvSpPr>
          <p:nvPr/>
        </p:nvSpPr>
        <p:spPr bwMode="auto">
          <a:xfrm>
            <a:off x="6084457" y="1474790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29" name="TextBox 10"/>
          <p:cNvSpPr txBox="1">
            <a:spLocks noChangeArrowheads="1"/>
          </p:cNvSpPr>
          <p:nvPr/>
        </p:nvSpPr>
        <p:spPr bwMode="auto">
          <a:xfrm>
            <a:off x="8360933" y="1462608"/>
            <a:ext cx="22281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 </a:t>
            </a:r>
            <a:r>
              <a:rPr lang="en-US" sz="1200" b="1" i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/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30" name="TextBox 10"/>
          <p:cNvSpPr txBox="1">
            <a:spLocks noChangeArrowheads="1"/>
          </p:cNvSpPr>
          <p:nvPr/>
        </p:nvSpPr>
        <p:spPr bwMode="auto">
          <a:xfrm>
            <a:off x="3906460" y="1550361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32" name="TextBox 10"/>
          <p:cNvSpPr txBox="1">
            <a:spLocks noChangeArrowheads="1"/>
          </p:cNvSpPr>
          <p:nvPr/>
        </p:nvSpPr>
        <p:spPr bwMode="auto">
          <a:xfrm>
            <a:off x="8219587" y="2238002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33" name="TextBox 10"/>
          <p:cNvSpPr txBox="1">
            <a:spLocks noChangeArrowheads="1"/>
          </p:cNvSpPr>
          <p:nvPr/>
        </p:nvSpPr>
        <p:spPr bwMode="auto">
          <a:xfrm>
            <a:off x="6122903" y="2150431"/>
            <a:ext cx="1939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200" b="1" i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 </a:t>
            </a:r>
            <a:endParaRPr lang="en-US" sz="1200" b="1" i="1" baseline="30000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4" name="TextBox 10"/>
          <p:cNvSpPr txBox="1">
            <a:spLocks noChangeArrowheads="1"/>
          </p:cNvSpPr>
          <p:nvPr/>
        </p:nvSpPr>
        <p:spPr bwMode="auto">
          <a:xfrm>
            <a:off x="8413315" y="2202447"/>
            <a:ext cx="1939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r>
              <a:rPr lang="en-US" sz="1200" b="1" i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 </a:t>
            </a:r>
            <a:endParaRPr lang="en-US" sz="1200" b="1" i="1" baseline="30000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35" name="TextBox 10"/>
          <p:cNvSpPr txBox="1">
            <a:spLocks noChangeArrowheads="1"/>
          </p:cNvSpPr>
          <p:nvPr/>
        </p:nvSpPr>
        <p:spPr bwMode="auto">
          <a:xfrm>
            <a:off x="3561862" y="1493564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36" name="TextBox 10"/>
          <p:cNvSpPr txBox="1">
            <a:spLocks noChangeArrowheads="1"/>
          </p:cNvSpPr>
          <p:nvPr/>
        </p:nvSpPr>
        <p:spPr bwMode="auto">
          <a:xfrm>
            <a:off x="5861299" y="1576647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37" name="TextBox 10"/>
          <p:cNvSpPr txBox="1">
            <a:spLocks noChangeArrowheads="1"/>
          </p:cNvSpPr>
          <p:nvPr/>
        </p:nvSpPr>
        <p:spPr bwMode="auto">
          <a:xfrm>
            <a:off x="8146450" y="1569252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+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38" name="TextBox 10"/>
          <p:cNvSpPr txBox="1">
            <a:spLocks noChangeArrowheads="1"/>
          </p:cNvSpPr>
          <p:nvPr/>
        </p:nvSpPr>
        <p:spPr bwMode="auto">
          <a:xfrm>
            <a:off x="5934353" y="2236350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sp>
        <p:nvSpPr>
          <p:cNvPr id="39" name="TextBox 10"/>
          <p:cNvSpPr txBox="1">
            <a:spLocks noChangeArrowheads="1"/>
          </p:cNvSpPr>
          <p:nvPr/>
        </p:nvSpPr>
        <p:spPr bwMode="auto">
          <a:xfrm>
            <a:off x="7819276" y="2237418"/>
            <a:ext cx="16831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</a:t>
            </a:r>
            <a:r>
              <a:rPr lang="en-US" sz="1200" b="1" baseline="30000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−</a:t>
            </a:r>
            <a:endParaRPr lang="en-US" sz="1200" b="1" i="1" baseline="30000" dirty="0">
              <a:solidFill>
                <a:srgbClr val="000000"/>
              </a:solidFill>
              <a:latin typeface="Times New Roman" panose="02020603050405020304" charset="0"/>
              <a:ea typeface="MS PGothic" panose="020B0600070205080204" charset="-128"/>
              <a:cs typeface="Times New Roman" panose="02020603050405020304" charset="0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1212230" y="3254631"/>
            <a:ext cx="192024" cy="230832"/>
            <a:chOff x="1206253" y="4151418"/>
            <a:chExt cx="192024" cy="230832"/>
          </a:xfrm>
        </p:grpSpPr>
        <p:sp>
          <p:nvSpPr>
            <p:cNvPr id="41" name="Oval 40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42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1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097386" y="3254987"/>
            <a:ext cx="192024" cy="230832"/>
            <a:chOff x="1206253" y="4151418"/>
            <a:chExt cx="192024" cy="230832"/>
          </a:xfrm>
        </p:grpSpPr>
        <p:sp>
          <p:nvSpPr>
            <p:cNvPr id="44" name="Oval 43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45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2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5182565" y="3254058"/>
            <a:ext cx="192024" cy="230832"/>
            <a:chOff x="1206253" y="4151418"/>
            <a:chExt cx="192024" cy="230832"/>
          </a:xfrm>
        </p:grpSpPr>
        <p:sp>
          <p:nvSpPr>
            <p:cNvPr id="47" name="Oval 46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48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3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7198695" y="3253129"/>
            <a:ext cx="192024" cy="230832"/>
            <a:chOff x="1206253" y="4151418"/>
            <a:chExt cx="192024" cy="230832"/>
          </a:xfrm>
        </p:grpSpPr>
        <p:sp>
          <p:nvSpPr>
            <p:cNvPr id="50" name="Oval 49"/>
            <p:cNvSpPr/>
            <p:nvPr/>
          </p:nvSpPr>
          <p:spPr bwMode="auto">
            <a:xfrm>
              <a:off x="1206253" y="4170822"/>
              <a:ext cx="192024" cy="192024"/>
            </a:xfrm>
            <a:prstGeom prst="ellipse">
              <a:avLst/>
            </a:prstGeom>
            <a:solidFill>
              <a:srgbClr val="0092C8"/>
            </a:solidFill>
            <a:ln w="254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en-US" smtClean="0">
                <a:solidFill>
                  <a:srgbClr val="000000"/>
                </a:solidFill>
                <a:latin typeface="Times" pitchFamily="84" charset="0"/>
                <a:ea typeface="MS PGothic" panose="020B0600070205080204" charset="-128"/>
              </a:endParaRPr>
            </a:p>
          </p:txBody>
        </p:sp>
        <p:sp>
          <p:nvSpPr>
            <p:cNvPr id="51" name="TextBox 12"/>
            <p:cNvSpPr txBox="1">
              <a:spLocks noChangeArrowheads="1"/>
            </p:cNvSpPr>
            <p:nvPr/>
          </p:nvSpPr>
          <p:spPr bwMode="auto">
            <a:xfrm>
              <a:off x="1245358" y="4151418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1800"/>
                </a:lnSpc>
              </a:pPr>
              <a:r>
                <a:rPr lang="en-US" sz="1600" b="1" dirty="0" smtClean="0">
                  <a:solidFill>
                    <a:srgbClr val="FFFFFF"/>
                  </a:solidFill>
                  <a:latin typeface="Arial" panose="020B0604020202020204"/>
                  <a:ea typeface="MS PGothic" panose="020B0600070205080204" charset="-128"/>
                </a:rPr>
                <a:t>4</a:t>
              </a:r>
              <a:endParaRPr lang="en-US" sz="16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endParaRPr>
            </a:p>
          </p:txBody>
        </p:sp>
      </p:grpSp>
      <p:sp>
        <p:nvSpPr>
          <p:cNvPr id="52" name="Freeform 51"/>
          <p:cNvSpPr/>
          <p:nvPr/>
        </p:nvSpPr>
        <p:spPr>
          <a:xfrm>
            <a:off x="1207467" y="1756120"/>
            <a:ext cx="771647" cy="253504"/>
          </a:xfrm>
          <a:custGeom>
            <a:avLst/>
            <a:gdLst>
              <a:gd name="connsiteX0" fmla="*/ 6350 w 771647"/>
              <a:gd name="connsiteY0" fmla="*/ 247154 h 253504"/>
              <a:gd name="connsiteX1" fmla="*/ 765297 w 771647"/>
              <a:gd name="connsiteY1" fmla="*/ 6350 h 25350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71647" h="253504">
                <a:moveTo>
                  <a:pt x="6350" y="247154"/>
                </a:moveTo>
                <a:lnTo>
                  <a:pt x="765297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53" name="Freeform 3"/>
          <p:cNvSpPr/>
          <p:nvPr/>
        </p:nvSpPr>
        <p:spPr>
          <a:xfrm>
            <a:off x="1226405" y="1411570"/>
            <a:ext cx="207840" cy="109131"/>
          </a:xfrm>
          <a:custGeom>
            <a:avLst/>
            <a:gdLst>
              <a:gd name="connsiteX0" fmla="*/ 201490 w 207840"/>
              <a:gd name="connsiteY0" fmla="*/ 102781 h 109131"/>
              <a:gd name="connsiteX1" fmla="*/ 6350 w 207840"/>
              <a:gd name="connsiteY1" fmla="*/ 6350 h 10913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07840" h="109131">
                <a:moveTo>
                  <a:pt x="201490" y="102781"/>
                </a:moveTo>
                <a:lnTo>
                  <a:pt x="6350" y="635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54" name="Freeform 3"/>
          <p:cNvSpPr/>
          <p:nvPr/>
        </p:nvSpPr>
        <p:spPr>
          <a:xfrm>
            <a:off x="7248432" y="2434782"/>
            <a:ext cx="220891" cy="221405"/>
          </a:xfrm>
          <a:custGeom>
            <a:avLst/>
            <a:gdLst>
              <a:gd name="connsiteX0" fmla="*/ 214541 w 220891"/>
              <a:gd name="connsiteY0" fmla="*/ 6350 h 221405"/>
              <a:gd name="connsiteX1" fmla="*/ 6350 w 220891"/>
              <a:gd name="connsiteY1" fmla="*/ 215055 h 22140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20891" h="221405">
                <a:moveTo>
                  <a:pt x="214541" y="6350"/>
                </a:moveTo>
                <a:lnTo>
                  <a:pt x="6350" y="21505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55" name="Freeform 3"/>
          <p:cNvSpPr/>
          <p:nvPr/>
        </p:nvSpPr>
        <p:spPr>
          <a:xfrm>
            <a:off x="1336392" y="2341145"/>
            <a:ext cx="78384" cy="137490"/>
          </a:xfrm>
          <a:custGeom>
            <a:avLst/>
            <a:gdLst>
              <a:gd name="connsiteX0" fmla="*/ 72034 w 78384"/>
              <a:gd name="connsiteY0" fmla="*/ 6350 h 137490"/>
              <a:gd name="connsiteX1" fmla="*/ 6350 w 78384"/>
              <a:gd name="connsiteY1" fmla="*/ 131140 h 13749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8384" h="137490">
                <a:moveTo>
                  <a:pt x="72034" y="6350"/>
                </a:moveTo>
                <a:lnTo>
                  <a:pt x="6350" y="131140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R Plasmids and Antibiotic Resistance</a:t>
            </a:r>
            <a:endParaRPr lang="en-US" b="1" dirty="0" smtClean="0"/>
          </a:p>
          <a:p>
            <a:r>
              <a:rPr lang="en-US" b="1" dirty="0" smtClean="0"/>
              <a:t>R plasmids</a:t>
            </a:r>
            <a:r>
              <a:rPr lang="en-US" dirty="0" smtClean="0"/>
              <a:t> carry genes for antibiotic resistance</a:t>
            </a:r>
            <a:endParaRPr lang="en-US" dirty="0" smtClean="0"/>
          </a:p>
          <a:p>
            <a:r>
              <a:rPr lang="en-US" dirty="0" smtClean="0"/>
              <a:t>Antibiotics kill sensitive bacteria, but not bacteria with specific R plasmids</a:t>
            </a:r>
            <a:endParaRPr lang="en-US" dirty="0" smtClean="0"/>
          </a:p>
          <a:p>
            <a:r>
              <a:rPr lang="en-US" dirty="0" smtClean="0"/>
              <a:t>Through natural selection, the fraction of bacteria with genes for resistance increases in a population exposed to antibiotics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R plasmids have genes that encode </a:t>
            </a:r>
            <a:r>
              <a:rPr lang="en-US" dirty="0" err="1" smtClean="0"/>
              <a:t>pili</a:t>
            </a:r>
            <a:r>
              <a:rPr lang="en-US" dirty="0" smtClean="0"/>
              <a:t>, making it possible for resistance genes to be transferred between bacterial cells</a:t>
            </a:r>
            <a:endParaRPr lang="en-US" dirty="0" smtClean="0"/>
          </a:p>
          <a:p>
            <a:r>
              <a:rPr lang="en-US" dirty="0" smtClean="0"/>
              <a:t>Some R plasmids carry genes for resistance to multiple antibiotics</a:t>
            </a:r>
            <a:endParaRPr lang="en-US" dirty="0" smtClean="0"/>
          </a:p>
          <a:p>
            <a:r>
              <a:rPr lang="en-US" dirty="0" smtClean="0"/>
              <a:t>Antibiotic-resistant strains of bacteria are becoming more common, and the infections they cause are now harder to treat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smtClean="0"/>
              <a:t>Concept 27.3: Diverse nutritional and metabolic adaptations have evolved in prokaryotes</a:t>
            </a:r>
            <a:endParaRPr lang="en-US" dirty="0" smtClean="0"/>
          </a:p>
        </p:txBody>
      </p:sp>
      <p:sp>
        <p:nvSpPr>
          <p:cNvPr id="901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Prokaryotes can be categorized by how they obtain energy and carbon:</a:t>
            </a:r>
            <a:endParaRPr lang="en-US" smtClean="0"/>
          </a:p>
          <a:p>
            <a:pPr lvl="1"/>
            <a:r>
              <a:rPr lang="en-US" smtClean="0"/>
              <a:t>Phototrophs obtain energy from light</a:t>
            </a:r>
            <a:endParaRPr lang="en-US" smtClean="0"/>
          </a:p>
          <a:p>
            <a:pPr lvl="1"/>
            <a:r>
              <a:rPr lang="en-US" smtClean="0"/>
              <a:t>Chemotrophs obtain energy from chemicals</a:t>
            </a:r>
            <a:endParaRPr lang="en-US" smtClean="0"/>
          </a:p>
          <a:p>
            <a:pPr lvl="1"/>
            <a:r>
              <a:rPr lang="en-US" smtClean="0"/>
              <a:t>Autotrophs require CO</a:t>
            </a:r>
            <a:r>
              <a:rPr lang="en-US" baseline="-25000" smtClean="0"/>
              <a:t>2</a:t>
            </a:r>
            <a:r>
              <a:rPr lang="en-US" smtClean="0"/>
              <a:t> or related compounds as a carbon source</a:t>
            </a:r>
            <a:endParaRPr lang="en-US" smtClean="0"/>
          </a:p>
          <a:p>
            <a:pPr lvl="1"/>
            <a:r>
              <a:rPr lang="en-US" smtClean="0"/>
              <a:t>Heterotrophs require an organic nutrient to make organic compounds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Energy and carbon sources are combined to give four major modes of nutrition:</a:t>
            </a:r>
            <a:endParaRPr lang="en-US" smtClean="0"/>
          </a:p>
          <a:p>
            <a:pPr lvl="1"/>
            <a:r>
              <a:rPr lang="en-US" smtClean="0"/>
              <a:t>Photoautotroph</a:t>
            </a:r>
            <a:endParaRPr lang="en-US" smtClean="0"/>
          </a:p>
          <a:p>
            <a:pPr lvl="1"/>
            <a:r>
              <a:rPr lang="en-US" smtClean="0"/>
              <a:t>Chemoautotroph</a:t>
            </a:r>
            <a:endParaRPr lang="en-US" smtClean="0"/>
          </a:p>
          <a:p>
            <a:pPr lvl="1"/>
            <a:r>
              <a:rPr lang="en-US" smtClean="0"/>
              <a:t>Photoheterotroph</a:t>
            </a:r>
            <a:endParaRPr lang="en-US" smtClean="0"/>
          </a:p>
          <a:p>
            <a:pPr lvl="1"/>
            <a:r>
              <a:rPr lang="en-US" smtClean="0"/>
              <a:t>Chemoheterotroph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77"/>
          <a:stretch>
            <a:fillRect/>
          </a:stretch>
        </p:blipFill>
        <p:spPr>
          <a:xfrm>
            <a:off x="298704" y="548640"/>
            <a:ext cx="8546592" cy="576072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Table 27.1a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298704" y="213360"/>
            <a:ext cx="8546592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Table 27.1b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Role of Oxygen in Metabolism</a:t>
            </a:r>
            <a:endParaRPr lang="en-US" dirty="0" smtClean="0"/>
          </a:p>
        </p:txBody>
      </p:sp>
      <p:sp>
        <p:nvSpPr>
          <p:cNvPr id="962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Prokaryotic metabolism varies with respect to O</a:t>
            </a:r>
            <a:r>
              <a:rPr lang="en-US" baseline="-25000" dirty="0" smtClean="0"/>
              <a:t>2</a:t>
            </a:r>
            <a:endParaRPr lang="en-US" baseline="-25000" dirty="0" smtClean="0"/>
          </a:p>
          <a:p>
            <a:pPr lvl="1"/>
            <a:r>
              <a:rPr lang="en-US" b="1" dirty="0" smtClean="0"/>
              <a:t>Obligate aerobes</a:t>
            </a:r>
            <a:r>
              <a:rPr lang="en-US" dirty="0" smtClean="0"/>
              <a:t> require O</a:t>
            </a:r>
            <a:r>
              <a:rPr lang="en-US" baseline="-25000" dirty="0" smtClean="0"/>
              <a:t>2</a:t>
            </a:r>
            <a:r>
              <a:rPr lang="en-US" dirty="0" smtClean="0"/>
              <a:t> for cellular respiration</a:t>
            </a:r>
            <a:endParaRPr lang="en-US" dirty="0" smtClean="0"/>
          </a:p>
          <a:p>
            <a:pPr lvl="1"/>
            <a:r>
              <a:rPr lang="en-US" b="1" dirty="0" smtClean="0"/>
              <a:t>Obligate anaerobes</a:t>
            </a:r>
            <a:r>
              <a:rPr lang="en-US" dirty="0" smtClean="0"/>
              <a:t> are poisoned by O</a:t>
            </a:r>
            <a:r>
              <a:rPr lang="en-US" baseline="-25000" dirty="0" smtClean="0"/>
              <a:t>2</a:t>
            </a:r>
            <a:r>
              <a:rPr lang="en-US" dirty="0" smtClean="0"/>
              <a:t> and live by fermentation or use substances other than O</a:t>
            </a:r>
            <a:r>
              <a:rPr lang="en-US" baseline="-25000" dirty="0" smtClean="0"/>
              <a:t>2</a:t>
            </a:r>
            <a:r>
              <a:rPr lang="en-US" dirty="0" smtClean="0"/>
              <a:t> for </a:t>
            </a:r>
            <a:r>
              <a:rPr lang="en-US" b="1" dirty="0" smtClean="0"/>
              <a:t>anaerobic respiration</a:t>
            </a:r>
            <a:endParaRPr lang="en-US" b="1" dirty="0" smtClean="0"/>
          </a:p>
          <a:p>
            <a:pPr lvl="1"/>
            <a:r>
              <a:rPr lang="en-US" b="1" dirty="0" smtClean="0"/>
              <a:t>Facultative anaerobes</a:t>
            </a:r>
            <a:r>
              <a:rPr lang="en-US" dirty="0" smtClean="0"/>
              <a:t> can use O</a:t>
            </a:r>
            <a:r>
              <a:rPr lang="en-US" baseline="-25000" dirty="0" smtClean="0"/>
              <a:t>2 </a:t>
            </a:r>
            <a:r>
              <a:rPr lang="en-US" dirty="0" smtClean="0"/>
              <a:t>if it is present or carry out fermentation or anaerobic respiration if it </a:t>
            </a:r>
            <a:br>
              <a:rPr lang="en-US" dirty="0" smtClean="0"/>
            </a:br>
            <a:r>
              <a:rPr lang="en-US" dirty="0" smtClean="0"/>
              <a:t>is not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Nitrogen Metabolism</a:t>
            </a:r>
            <a:endParaRPr lang="en-US" dirty="0" smtClean="0"/>
          </a:p>
        </p:txBody>
      </p:sp>
      <p:sp>
        <p:nvSpPr>
          <p:cNvPr id="983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Nitrogen is essential for the production of amino acids and nucleic acids in all organisms</a:t>
            </a:r>
            <a:endParaRPr lang="en-US" smtClean="0"/>
          </a:p>
          <a:p>
            <a:r>
              <a:rPr lang="en-US" smtClean="0"/>
              <a:t>Prokaryotes can metabolize nitrogen in a variety of ways</a:t>
            </a:r>
            <a:endParaRPr lang="en-US" smtClean="0"/>
          </a:p>
          <a:p>
            <a:pPr lvl="1"/>
            <a:r>
              <a:rPr lang="en-US" smtClean="0"/>
              <a:t>For example, some prokaryotes convert atmospheric nitrogen (N</a:t>
            </a:r>
            <a:r>
              <a:rPr lang="en-US" baseline="-25000" smtClean="0"/>
              <a:t>2</a:t>
            </a:r>
            <a:r>
              <a:rPr lang="en-US" smtClean="0"/>
              <a:t>) to ammonia (NH</a:t>
            </a:r>
            <a:r>
              <a:rPr lang="en-US" baseline="-25000" smtClean="0"/>
              <a:t>3</a:t>
            </a:r>
            <a:r>
              <a:rPr lang="en-US" smtClean="0"/>
              <a:t>) in a process called </a:t>
            </a:r>
            <a:r>
              <a:rPr lang="en-US" b="1" smtClean="0"/>
              <a:t>nitrogen fixation</a:t>
            </a:r>
            <a:endParaRPr lang="en-US" b="1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Metabolic Cooperation</a:t>
            </a:r>
            <a:endParaRPr lang="en-US" dirty="0" smtClean="0"/>
          </a:p>
        </p:txBody>
      </p:sp>
      <p:sp>
        <p:nvSpPr>
          <p:cNvPr id="1003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Cooperation between prokaryotes allows them to use environmental resources they could not use as individual cells</a:t>
            </a:r>
            <a:endParaRPr lang="en-US" smtClean="0"/>
          </a:p>
          <a:p>
            <a:r>
              <a:rPr lang="en-US" smtClean="0"/>
              <a:t>In the cyanobacterium </a:t>
            </a:r>
            <a:r>
              <a:rPr lang="en-US" i="1" smtClean="0"/>
              <a:t>Anabaena</a:t>
            </a:r>
            <a:r>
              <a:rPr lang="en-US" smtClean="0"/>
              <a:t>, photosynthetic cells and nitrogen-fixing cells called </a:t>
            </a:r>
            <a:r>
              <a:rPr lang="en-US" b="1" smtClean="0"/>
              <a:t>heterocysts </a:t>
            </a:r>
            <a:r>
              <a:rPr lang="en-US" smtClean="0"/>
              <a:t>(or heterocytes)</a:t>
            </a:r>
            <a:r>
              <a:rPr lang="en-US" b="1" smtClean="0"/>
              <a:t> </a:t>
            </a:r>
            <a:r>
              <a:rPr lang="en-US" smtClean="0"/>
              <a:t>exchange metabolic products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9"/>
          <a:stretch>
            <a:fillRect/>
          </a:stretch>
        </p:blipFill>
        <p:spPr>
          <a:xfrm>
            <a:off x="1258824" y="1840992"/>
            <a:ext cx="6626352" cy="317601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27.14</a:t>
            </a:r>
            <a:endParaRPr lang="en-US"/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4059361" y="2835315"/>
            <a:ext cx="166712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sz="1800" b="1" dirty="0" smtClean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Photosynthetic</a:t>
            </a:r>
            <a:endParaRPr lang="en-US" sz="1800" b="1" dirty="0" smtClean="0">
              <a:solidFill>
                <a:srgbClr val="FFFFFF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ctr"/>
            <a:r>
              <a:rPr lang="en-US" sz="1800" b="1" dirty="0" smtClean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cells</a:t>
            </a:r>
            <a:endParaRPr lang="en-US" sz="1800" b="1" dirty="0">
              <a:solidFill>
                <a:srgbClr val="FFFFFF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5313486" y="3848140"/>
            <a:ext cx="11926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Heterocyst</a:t>
            </a:r>
            <a:endParaRPr lang="en-US" sz="1800" b="1" dirty="0">
              <a:solidFill>
                <a:srgbClr val="FFFFFF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9"/>
          <p:cNvSpPr txBox="1">
            <a:spLocks noChangeArrowheads="1"/>
          </p:cNvSpPr>
          <p:nvPr/>
        </p:nvSpPr>
        <p:spPr bwMode="auto">
          <a:xfrm>
            <a:off x="1547936" y="4665703"/>
            <a:ext cx="68421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20 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800" b="1" dirty="0">
              <a:solidFill>
                <a:srgbClr val="FFFFFF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" name="Freeform 1"/>
          <p:cNvSpPr/>
          <p:nvPr/>
        </p:nvSpPr>
        <p:spPr>
          <a:xfrm>
            <a:off x="5873750" y="3492500"/>
            <a:ext cx="231775" cy="346075"/>
          </a:xfrm>
          <a:custGeom>
            <a:avLst/>
            <a:gdLst>
              <a:gd name="connsiteX0" fmla="*/ 0 w 231775"/>
              <a:gd name="connsiteY0" fmla="*/ 346075 h 346075"/>
              <a:gd name="connsiteX1" fmla="*/ 231775 w 231775"/>
              <a:gd name="connsiteY1" fmla="*/ 0 h 34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1775" h="346075">
                <a:moveTo>
                  <a:pt x="0" y="346075"/>
                </a:moveTo>
                <a:lnTo>
                  <a:pt x="231775" y="0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2879725" y="2778125"/>
            <a:ext cx="1130300" cy="460375"/>
          </a:xfrm>
          <a:custGeom>
            <a:avLst/>
            <a:gdLst>
              <a:gd name="connsiteX0" fmla="*/ 0 w 1130300"/>
              <a:gd name="connsiteY0" fmla="*/ 0 h 460375"/>
              <a:gd name="connsiteX1" fmla="*/ 1130300 w 1130300"/>
              <a:gd name="connsiteY1" fmla="*/ 206375 h 460375"/>
              <a:gd name="connsiteX2" fmla="*/ 695325 w 1130300"/>
              <a:gd name="connsiteY2" fmla="*/ 460375 h 46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0300" h="460375">
                <a:moveTo>
                  <a:pt x="0" y="0"/>
                </a:moveTo>
                <a:lnTo>
                  <a:pt x="1130300" y="206375"/>
                </a:lnTo>
                <a:lnTo>
                  <a:pt x="695325" y="460375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grpSp>
        <p:nvGrpSpPr>
          <p:cNvPr id="9" name="Group 8"/>
          <p:cNvGrpSpPr/>
          <p:nvPr/>
        </p:nvGrpSpPr>
        <p:grpSpPr>
          <a:xfrm rot="5400000" flipH="1" flipV="1">
            <a:off x="1818886" y="4174773"/>
            <a:ext cx="142879" cy="953280"/>
            <a:chOff x="73" y="999807"/>
            <a:chExt cx="89669" cy="576732"/>
          </a:xfrm>
        </p:grpSpPr>
        <p:sp>
          <p:nvSpPr>
            <p:cNvPr id="10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sp>
        <p:nvSpPr>
          <p:cNvPr id="14" name="Freeform 13"/>
          <p:cNvSpPr/>
          <p:nvPr/>
        </p:nvSpPr>
        <p:spPr>
          <a:xfrm>
            <a:off x="5873750" y="3492500"/>
            <a:ext cx="231775" cy="346075"/>
          </a:xfrm>
          <a:custGeom>
            <a:avLst/>
            <a:gdLst>
              <a:gd name="connsiteX0" fmla="*/ 0 w 231775"/>
              <a:gd name="connsiteY0" fmla="*/ 346075 h 346075"/>
              <a:gd name="connsiteX1" fmla="*/ 231775 w 231775"/>
              <a:gd name="connsiteY1" fmla="*/ 0 h 34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1775" h="346075">
                <a:moveTo>
                  <a:pt x="0" y="346075"/>
                </a:moveTo>
                <a:lnTo>
                  <a:pt x="23177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2879725" y="2778125"/>
            <a:ext cx="1130300" cy="460375"/>
          </a:xfrm>
          <a:custGeom>
            <a:avLst/>
            <a:gdLst>
              <a:gd name="connsiteX0" fmla="*/ 0 w 1130300"/>
              <a:gd name="connsiteY0" fmla="*/ 0 h 460375"/>
              <a:gd name="connsiteX1" fmla="*/ 1130300 w 1130300"/>
              <a:gd name="connsiteY1" fmla="*/ 206375 h 460375"/>
              <a:gd name="connsiteX2" fmla="*/ 695325 w 1130300"/>
              <a:gd name="connsiteY2" fmla="*/ 460375 h 46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0300" h="460375">
                <a:moveTo>
                  <a:pt x="0" y="0"/>
                </a:moveTo>
                <a:lnTo>
                  <a:pt x="1130300" y="206375"/>
                </a:lnTo>
                <a:lnTo>
                  <a:pt x="695325" y="460375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 smtClean="0">
              <a:solidFill>
                <a:srgbClr val="000000"/>
              </a:solidFill>
              <a:latin typeface="Times" pitchFamily="84" charset="0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Metabolic cooperation occurs between different prokaryotic species in surface-coating colonies called </a:t>
            </a:r>
            <a:r>
              <a:rPr lang="en-US" b="1" smtClean="0"/>
              <a:t>biofilms</a:t>
            </a:r>
            <a:endParaRPr lang="en-US" b="1" smtClean="0"/>
          </a:p>
          <a:p>
            <a:r>
              <a:rPr lang="en-US" smtClean="0"/>
              <a:t>Sulfate-consuming bacteria and methane-consuming bacteria on the ocean floor use each other</a:t>
            </a:r>
            <a:r>
              <a:rPr lang="ja-JP" altLang="en-US" smtClean="0"/>
              <a:t>’</a:t>
            </a:r>
            <a:r>
              <a:rPr lang="en-US" altLang="ja-JP" smtClean="0"/>
              <a:t>s waste products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smtClean="0"/>
              <a:t>Concept 27.4: Prokaryotes have radiated into a diverse set of lineages</a:t>
            </a:r>
            <a:endParaRPr lang="en-US" dirty="0" smtClean="0"/>
          </a:p>
        </p:txBody>
      </p:sp>
      <p:sp>
        <p:nvSpPr>
          <p:cNvPr id="1064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origin of prokaryotes dates back to 3.5 billion years ago</a:t>
            </a:r>
            <a:endParaRPr lang="en-US" smtClean="0"/>
          </a:p>
          <a:p>
            <a:r>
              <a:rPr lang="en-US" smtClean="0"/>
              <a:t>Prokaryotes now inhabit every environment known to support life</a:t>
            </a:r>
            <a:endParaRPr lang="en-US" smtClean="0"/>
          </a:p>
          <a:p>
            <a:r>
              <a:rPr lang="en-US" smtClean="0"/>
              <a:t>Advances in genomics are beginning to reveal the extent of prokaryotic diversity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An Overview of Prokaryotic Diversity</a:t>
            </a:r>
            <a:endParaRPr lang="en-US" dirty="0" smtClean="0"/>
          </a:p>
        </p:txBody>
      </p:sp>
      <p:sp>
        <p:nvSpPr>
          <p:cNvPr id="1085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Genetic analysis led to the division of prokaryotes into two domains, Bacteria and </a:t>
            </a:r>
            <a:r>
              <a:rPr lang="en-US" dirty="0" err="1" smtClean="0"/>
              <a:t>Archaea</a:t>
            </a:r>
            <a:endParaRPr lang="en-US" dirty="0" smtClean="0"/>
          </a:p>
          <a:p>
            <a:r>
              <a:rPr lang="en-US" dirty="0" smtClean="0"/>
              <a:t>A few taxonomic groups are monophyletic, but others are scattered throughout several lineages</a:t>
            </a:r>
            <a:endParaRPr lang="en-US" dirty="0" smtClean="0"/>
          </a:p>
          <a:p>
            <a:r>
              <a:rPr lang="en-US" dirty="0" smtClean="0"/>
              <a:t>Advances in molecular techniques help to add new branches to the tree of life each year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1085088" y="213360"/>
            <a:ext cx="6973824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27.15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447739" y="210522"/>
            <a:ext cx="512961" cy="961803"/>
          </a:xfrm>
          <a:prstGeom prst="rect">
            <a:avLst/>
          </a:prstGeom>
          <a:noFill/>
        </p:spPr>
        <p:txBody>
          <a:bodyPr vert="mongolianVert" wrap="none" lIns="0" tIns="0" rIns="0" bIns="0">
            <a:spAutoFit/>
          </a:bodyPr>
          <a:lstStyle/>
          <a:p>
            <a:pPr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</a:t>
            </a:r>
            <a:r>
              <a:rPr lang="en-US" sz="18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Eukarya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Domain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5321286" y="530004"/>
            <a:ext cx="124393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Eukaryotes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5333986" y="1290416"/>
            <a:ext cx="173124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Euryarchaeotes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80" y="1588135"/>
            <a:ext cx="261610" cy="1812419"/>
          </a:xfrm>
          <a:prstGeom prst="rect">
            <a:avLst/>
          </a:prstGeom>
          <a:noFill/>
        </p:spPr>
        <p:txBody>
          <a:bodyPr vert="mongolianVert" wrap="none" lIns="0" tIns="0" rIns="0" bIns="0">
            <a:spAutoFit/>
          </a:bodyPr>
          <a:lstStyle/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Domain </a:t>
            </a:r>
            <a:r>
              <a:rPr lang="en-US" sz="18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Archaea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0" name="TextBox 8"/>
          <p:cNvSpPr txBox="1">
            <a:spLocks noChangeArrowheads="1"/>
          </p:cNvSpPr>
          <p:nvPr/>
        </p:nvSpPr>
        <p:spPr bwMode="auto">
          <a:xfrm>
            <a:off x="5333986" y="1815879"/>
            <a:ext cx="197490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Thaumarchaeotes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1" name="TextBox 9"/>
          <p:cNvSpPr txBox="1">
            <a:spLocks noChangeArrowheads="1"/>
          </p:cNvSpPr>
          <p:nvPr/>
        </p:nvSpPr>
        <p:spPr bwMode="auto">
          <a:xfrm>
            <a:off x="5333986" y="2319116"/>
            <a:ext cx="159017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Aigarchaeotes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2" name="TextBox 10"/>
          <p:cNvSpPr txBox="1">
            <a:spLocks noChangeArrowheads="1"/>
          </p:cNvSpPr>
          <p:nvPr/>
        </p:nvSpPr>
        <p:spPr bwMode="auto">
          <a:xfrm>
            <a:off x="5333986" y="2849341"/>
            <a:ext cx="174406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Crenarchaeotes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3" name="TextBox 11"/>
          <p:cNvSpPr txBox="1">
            <a:spLocks noChangeArrowheads="1"/>
          </p:cNvSpPr>
          <p:nvPr/>
        </p:nvSpPr>
        <p:spPr bwMode="auto">
          <a:xfrm>
            <a:off x="5333986" y="3384329"/>
            <a:ext cx="161582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Korarchaeotes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4" name="TextBox 12"/>
          <p:cNvSpPr txBox="1">
            <a:spLocks noChangeArrowheads="1"/>
          </p:cNvSpPr>
          <p:nvPr/>
        </p:nvSpPr>
        <p:spPr bwMode="auto">
          <a:xfrm>
            <a:off x="5333986" y="3851054"/>
            <a:ext cx="161582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Proteobacteria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20198" y="2454276"/>
            <a:ext cx="256480" cy="624082"/>
          </a:xfrm>
          <a:prstGeom prst="rect">
            <a:avLst/>
          </a:prstGeom>
          <a:noFill/>
        </p:spPr>
        <p:txBody>
          <a:bodyPr vert="mongolianVert" wrap="none" lIns="0" tIns="0" rIns="0" bIns="0">
            <a:spAutoFit/>
          </a:bodyPr>
          <a:lstStyle/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TACK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6" name="TextBox 19"/>
          <p:cNvSpPr txBox="1">
            <a:spLocks noChangeArrowheads="1"/>
          </p:cNvSpPr>
          <p:nvPr/>
        </p:nvSpPr>
        <p:spPr bwMode="auto">
          <a:xfrm>
            <a:off x="1120761" y="3085879"/>
            <a:ext cx="1333698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UNIVERSAL</a:t>
            </a:r>
            <a:endParaRPr lang="en-US" sz="18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ANCESTOR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92080" y="4196889"/>
            <a:ext cx="261610" cy="1821011"/>
          </a:xfrm>
          <a:prstGeom prst="rect">
            <a:avLst/>
          </a:prstGeom>
          <a:noFill/>
        </p:spPr>
        <p:txBody>
          <a:bodyPr vert="mongolianVert" wrap="none" lIns="0" tIns="0" rIns="0" bIns="0">
            <a:spAutoFit/>
          </a:bodyPr>
          <a:lstStyle/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Domain Bacteria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5333986" y="4330479"/>
            <a:ext cx="1295226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Chlamydias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9" name="TextBox 26"/>
          <p:cNvSpPr txBox="1">
            <a:spLocks noChangeArrowheads="1"/>
          </p:cNvSpPr>
          <p:nvPr/>
        </p:nvSpPr>
        <p:spPr bwMode="auto">
          <a:xfrm>
            <a:off x="5333986" y="4833716"/>
            <a:ext cx="132087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Spirochetes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0" name="TextBox 27"/>
          <p:cNvSpPr txBox="1">
            <a:spLocks noChangeArrowheads="1"/>
          </p:cNvSpPr>
          <p:nvPr/>
        </p:nvSpPr>
        <p:spPr bwMode="auto">
          <a:xfrm>
            <a:off x="5333986" y="5384579"/>
            <a:ext cx="159017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Cyanobacteria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1" name="TextBox 28"/>
          <p:cNvSpPr txBox="1">
            <a:spLocks noChangeArrowheads="1"/>
          </p:cNvSpPr>
          <p:nvPr/>
        </p:nvSpPr>
        <p:spPr bwMode="auto">
          <a:xfrm>
            <a:off x="5333986" y="5886229"/>
            <a:ext cx="1551707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Gram-positive</a:t>
            </a:r>
            <a:endParaRPr lang="en-US" sz="1800" b="1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use of polymerase chain reaction (PCR) has allowed for more rapid sequencing of prokaryote genomes</a:t>
            </a:r>
            <a:endParaRPr lang="en-US" dirty="0" smtClean="0"/>
          </a:p>
          <a:p>
            <a:r>
              <a:rPr lang="en-US" dirty="0" smtClean="0"/>
              <a:t>A handful of soil may contain 10,000 prokaryotic species</a:t>
            </a:r>
            <a:endParaRPr lang="en-US" dirty="0" smtClean="0"/>
          </a:p>
          <a:p>
            <a:r>
              <a:rPr lang="en-US" dirty="0" smtClean="0"/>
              <a:t>Horizontal gene transfer between prokaryotes obscures the root of the tree of life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Bacteria</a:t>
            </a:r>
            <a:endParaRPr lang="en-US" dirty="0" smtClean="0"/>
          </a:p>
        </p:txBody>
      </p:sp>
      <p:sp>
        <p:nvSpPr>
          <p:cNvPr id="1146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Bacteria include the vast majority of prokaryotic species familiar to most people</a:t>
            </a:r>
            <a:endParaRPr lang="en-US" smtClean="0"/>
          </a:p>
          <a:p>
            <a:r>
              <a:rPr lang="en-US" smtClean="0"/>
              <a:t>Diverse nutritional types are represented among bacteria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89"/>
          <a:stretch>
            <a:fillRect/>
          </a:stretch>
        </p:blipFill>
        <p:spPr>
          <a:xfrm>
            <a:off x="2916936" y="2596896"/>
            <a:ext cx="3310128" cy="1664208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27.UN01</a:t>
            </a: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729481" y="2781774"/>
            <a:ext cx="1199046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 err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Eukarya</a:t>
            </a:r>
            <a:endParaRPr lang="en-US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729481" y="3264374"/>
            <a:ext cx="1216680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Archaea</a:t>
            </a:r>
            <a:endParaRPr lang="en-US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729481" y="3748561"/>
            <a:ext cx="1216680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</a:t>
            </a:r>
            <a:endParaRPr lang="en-US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 smtClean="0"/>
              <a:t>Proteobacteria</a:t>
            </a:r>
            <a:endParaRPr lang="en-US" b="1" dirty="0" smtClean="0"/>
          </a:p>
          <a:p>
            <a:r>
              <a:rPr lang="en-US" dirty="0" smtClean="0"/>
              <a:t>These gram-negative bacteria include photoautotrophs, chemoautotrophs, and heterotrophs</a:t>
            </a:r>
            <a:endParaRPr lang="en-US" dirty="0" smtClean="0"/>
          </a:p>
          <a:p>
            <a:r>
              <a:rPr lang="en-US" dirty="0" smtClean="0"/>
              <a:t>Some are anaerobic and others aerobic </a:t>
            </a:r>
            <a:endParaRPr lang="en-US" dirty="0" smtClean="0"/>
          </a:p>
          <a:p>
            <a:r>
              <a:rPr lang="en-US" dirty="0" smtClean="0"/>
              <a:t>There are currently five subgroups of </a:t>
            </a:r>
            <a:r>
              <a:rPr lang="en-US" dirty="0" err="1" smtClean="0"/>
              <a:t>proteobacteria</a:t>
            </a:r>
            <a:r>
              <a:rPr lang="en-US" dirty="0" smtClean="0"/>
              <a:t> recognized by molecular </a:t>
            </a:r>
            <a:r>
              <a:rPr lang="en-US" dirty="0" err="1" smtClean="0"/>
              <a:t>systematists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9"/>
          <a:stretch>
            <a:fillRect/>
          </a:stretch>
        </p:blipFill>
        <p:spPr>
          <a:xfrm>
            <a:off x="1652016" y="2374392"/>
            <a:ext cx="5839968" cy="210921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27.16aa</a:t>
            </a:r>
            <a:endParaRPr lang="en-US"/>
          </a:p>
        </p:txBody>
      </p:sp>
      <p:sp>
        <p:nvSpPr>
          <p:cNvPr id="6" name="TextBox 11"/>
          <p:cNvSpPr txBox="1">
            <a:spLocks noChangeArrowheads="1"/>
          </p:cNvSpPr>
          <p:nvPr/>
        </p:nvSpPr>
        <p:spPr bwMode="auto">
          <a:xfrm>
            <a:off x="3840520" y="2371349"/>
            <a:ext cx="854401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Alpha</a:t>
            </a:r>
            <a:endParaRPr lang="en-US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12"/>
          <p:cNvSpPr txBox="1">
            <a:spLocks noChangeArrowheads="1"/>
          </p:cNvSpPr>
          <p:nvPr/>
        </p:nvSpPr>
        <p:spPr bwMode="auto">
          <a:xfrm>
            <a:off x="3840520" y="2825374"/>
            <a:ext cx="668453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Beta</a:t>
            </a:r>
            <a:endParaRPr lang="en-US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13"/>
          <p:cNvSpPr txBox="1">
            <a:spLocks noChangeArrowheads="1"/>
          </p:cNvSpPr>
          <p:nvPr/>
        </p:nvSpPr>
        <p:spPr bwMode="auto">
          <a:xfrm>
            <a:off x="3840520" y="3271461"/>
            <a:ext cx="1130118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Gamma</a:t>
            </a:r>
            <a:endParaRPr lang="en-US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9" name="TextBox 14"/>
          <p:cNvSpPr txBox="1">
            <a:spLocks noChangeArrowheads="1"/>
          </p:cNvSpPr>
          <p:nvPr/>
        </p:nvSpPr>
        <p:spPr bwMode="auto">
          <a:xfrm>
            <a:off x="3840520" y="3665161"/>
            <a:ext cx="753411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Delta</a:t>
            </a:r>
            <a:endParaRPr lang="en-US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0" name="TextBox 15"/>
          <p:cNvSpPr txBox="1">
            <a:spLocks noChangeArrowheads="1"/>
          </p:cNvSpPr>
          <p:nvPr/>
        </p:nvSpPr>
        <p:spPr bwMode="auto">
          <a:xfrm>
            <a:off x="3840520" y="4119186"/>
            <a:ext cx="1109278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Epsilon</a:t>
            </a:r>
            <a:endParaRPr lang="en-US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1" name="TextBox 17"/>
          <p:cNvSpPr txBox="1">
            <a:spLocks noChangeArrowheads="1"/>
          </p:cNvSpPr>
          <p:nvPr/>
        </p:nvSpPr>
        <p:spPr bwMode="auto">
          <a:xfrm>
            <a:off x="5331183" y="3255586"/>
            <a:ext cx="2156039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Proteobacteria</a:t>
            </a:r>
            <a:endParaRPr lang="en-US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5015088" y="2429273"/>
            <a:ext cx="238576" cy="1978888"/>
          </a:xfrm>
          <a:custGeom>
            <a:avLst/>
            <a:gdLst>
              <a:gd name="connsiteX0" fmla="*/ 12700 w 238576"/>
              <a:gd name="connsiteY0" fmla="*/ 1966188 h 1978888"/>
              <a:gd name="connsiteX1" fmla="*/ 140621 w 238576"/>
              <a:gd name="connsiteY1" fmla="*/ 1879752 h 1978888"/>
              <a:gd name="connsiteX2" fmla="*/ 140621 w 238576"/>
              <a:gd name="connsiteY2" fmla="*/ 1093558 h 1978888"/>
              <a:gd name="connsiteX3" fmla="*/ 225876 w 238576"/>
              <a:gd name="connsiteY3" fmla="*/ 990879 h 1978888"/>
              <a:gd name="connsiteX4" fmla="*/ 140621 w 238576"/>
              <a:gd name="connsiteY4" fmla="*/ 888250 h 1978888"/>
              <a:gd name="connsiteX5" fmla="*/ 140621 w 238576"/>
              <a:gd name="connsiteY5" fmla="*/ 99148 h 1978888"/>
              <a:gd name="connsiteX6" fmla="*/ 12700 w 238576"/>
              <a:gd name="connsiteY6" fmla="*/ 12700 h 197888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38576" h="1978888">
                <a:moveTo>
                  <a:pt x="12700" y="1966188"/>
                </a:moveTo>
                <a:cubicBezTo>
                  <a:pt x="12700" y="1966188"/>
                  <a:pt x="140621" y="1955380"/>
                  <a:pt x="140621" y="1879752"/>
                </a:cubicBezTo>
                <a:cubicBezTo>
                  <a:pt x="140621" y="1860232"/>
                  <a:pt x="140621" y="1116977"/>
                  <a:pt x="140621" y="1093558"/>
                </a:cubicBezTo>
                <a:cubicBezTo>
                  <a:pt x="140621" y="1034135"/>
                  <a:pt x="225876" y="990879"/>
                  <a:pt x="225876" y="990879"/>
                </a:cubicBezTo>
                <a:cubicBezTo>
                  <a:pt x="225876" y="990879"/>
                  <a:pt x="140621" y="947661"/>
                  <a:pt x="140621" y="888250"/>
                </a:cubicBezTo>
                <a:cubicBezTo>
                  <a:pt x="140621" y="867892"/>
                  <a:pt x="140621" y="124218"/>
                  <a:pt x="140621" y="99148"/>
                </a:cubicBezTo>
                <a:cubicBezTo>
                  <a:pt x="140621" y="23494"/>
                  <a:pt x="12700" y="12700"/>
                  <a:pt x="12700" y="12700"/>
                </a:cubicBez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34"/>
          <a:stretch>
            <a:fillRect/>
          </a:stretch>
        </p:blipFill>
        <p:spPr>
          <a:xfrm>
            <a:off x="298704" y="908304"/>
            <a:ext cx="8546592" cy="504139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27.16a</a:t>
            </a:r>
            <a:endParaRPr lang="en-US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3226054" y="914972"/>
            <a:ext cx="157094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Alpha subgroup</a:t>
            </a:r>
            <a:endParaRPr lang="en-US" sz="16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567117" y="1326135"/>
            <a:ext cx="496931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Alpha</a:t>
            </a:r>
            <a:endParaRPr lang="en-US" sz="14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1567117" y="1586485"/>
            <a:ext cx="387927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Beta</a:t>
            </a:r>
            <a:endParaRPr lang="en-US" sz="14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1567117" y="1842072"/>
            <a:ext cx="658835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Gamma</a:t>
            </a:r>
            <a:endParaRPr lang="en-US" sz="14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1567117" y="2065910"/>
            <a:ext cx="437620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Delta</a:t>
            </a:r>
            <a:endParaRPr lang="en-US" sz="14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1567117" y="2327847"/>
            <a:ext cx="646011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Epsilon</a:t>
            </a:r>
            <a:endParaRPr lang="en-US" sz="14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2" name="TextBox 10"/>
          <p:cNvSpPr txBox="1">
            <a:spLocks noChangeArrowheads="1"/>
          </p:cNvSpPr>
          <p:nvPr/>
        </p:nvSpPr>
        <p:spPr bwMode="auto">
          <a:xfrm>
            <a:off x="6126417" y="914972"/>
            <a:ext cx="144590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Beta subgroup</a:t>
            </a:r>
            <a:endParaRPr lang="en-US" sz="16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3" name="TextBox 11"/>
          <p:cNvSpPr txBox="1">
            <a:spLocks noChangeArrowheads="1"/>
          </p:cNvSpPr>
          <p:nvPr/>
        </p:nvSpPr>
        <p:spPr bwMode="auto">
          <a:xfrm>
            <a:off x="2425955" y="1832547"/>
            <a:ext cx="686085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Proteo</a:t>
            </a:r>
            <a:r>
              <a:rPr lang="en-US" sz="14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-</a:t>
            </a:r>
            <a:endParaRPr lang="en-US" sz="14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55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</a:t>
            </a:r>
            <a:endParaRPr lang="en-US" sz="14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26054" y="2869185"/>
            <a:ext cx="1671933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Rhizobium</a:t>
            </a:r>
            <a:r>
              <a:rPr lang="en-US" sz="14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(arrows)</a:t>
            </a:r>
            <a:endParaRPr lang="en-US" sz="14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55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(TEM)</a:t>
            </a:r>
            <a:endParaRPr lang="en-US" sz="14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5" name="TextBox 18"/>
          <p:cNvSpPr txBox="1">
            <a:spLocks noChangeArrowheads="1"/>
          </p:cNvSpPr>
          <p:nvPr/>
        </p:nvSpPr>
        <p:spPr bwMode="auto">
          <a:xfrm>
            <a:off x="6126417" y="2869185"/>
            <a:ext cx="1203856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i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Nitrosomonas</a:t>
            </a:r>
            <a:endParaRPr lang="en-US" sz="1400" b="1" i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55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(TEM)</a:t>
            </a:r>
            <a:endParaRPr lang="en-US" sz="14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6" name="TextBox 23"/>
          <p:cNvSpPr txBox="1">
            <a:spLocks noChangeArrowheads="1"/>
          </p:cNvSpPr>
          <p:nvPr/>
        </p:nvSpPr>
        <p:spPr bwMode="auto">
          <a:xfrm>
            <a:off x="333629" y="3542285"/>
            <a:ext cx="175528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Gamma subgroup</a:t>
            </a:r>
            <a:endParaRPr lang="en-US" sz="16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7" name="TextBox 24"/>
          <p:cNvSpPr txBox="1">
            <a:spLocks noChangeArrowheads="1"/>
          </p:cNvSpPr>
          <p:nvPr/>
        </p:nvSpPr>
        <p:spPr bwMode="auto">
          <a:xfrm>
            <a:off x="3226054" y="3542285"/>
            <a:ext cx="150361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Delta subgroup</a:t>
            </a:r>
            <a:endParaRPr lang="en-US" sz="16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6126417" y="3542285"/>
            <a:ext cx="174246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Epsilon subgroup</a:t>
            </a:r>
            <a:endParaRPr lang="en-US" sz="16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9" name="TextBox 30"/>
          <p:cNvSpPr txBox="1">
            <a:spLocks noChangeArrowheads="1"/>
          </p:cNvSpPr>
          <p:nvPr/>
        </p:nvSpPr>
        <p:spPr bwMode="auto">
          <a:xfrm>
            <a:off x="336010" y="5506022"/>
            <a:ext cx="1460336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i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Thiomargarita</a:t>
            </a:r>
            <a:endParaRPr lang="en-US" sz="1400" b="1" i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550"/>
              </a:lnSpc>
            </a:pPr>
            <a:r>
              <a:rPr lang="en-US" sz="1400" b="1" i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namibiensis</a:t>
            </a:r>
            <a:r>
              <a:rPr lang="en-US" sz="14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</a:t>
            </a:r>
            <a:r>
              <a:rPr lang="en-US" sz="14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(LM)</a:t>
            </a:r>
            <a:endParaRPr lang="en-US" sz="14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0" name="TextBox 33"/>
          <p:cNvSpPr txBox="1">
            <a:spLocks noChangeArrowheads="1"/>
          </p:cNvSpPr>
          <p:nvPr/>
        </p:nvSpPr>
        <p:spPr bwMode="auto">
          <a:xfrm>
            <a:off x="3228435" y="5506022"/>
            <a:ext cx="1303242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i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Chondromyces</a:t>
            </a:r>
            <a:endParaRPr lang="en-US" sz="1400" b="1" i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550"/>
              </a:lnSpc>
            </a:pPr>
            <a:r>
              <a:rPr lang="en-US" sz="1400" b="1" i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crocatus</a:t>
            </a:r>
            <a:r>
              <a:rPr lang="en-US" sz="14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</a:t>
            </a:r>
            <a:r>
              <a:rPr lang="en-US" sz="14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(SEM)</a:t>
            </a:r>
            <a:endParaRPr lang="en-US" sz="14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1" name="TextBox 35"/>
          <p:cNvSpPr txBox="1">
            <a:spLocks noChangeArrowheads="1"/>
          </p:cNvSpPr>
          <p:nvPr/>
        </p:nvSpPr>
        <p:spPr bwMode="auto">
          <a:xfrm>
            <a:off x="6126417" y="5506022"/>
            <a:ext cx="1611018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Helicobacter pylori</a:t>
            </a:r>
            <a:endParaRPr lang="en-US" sz="1400" b="1" i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155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(TEM)</a:t>
            </a:r>
            <a:endParaRPr lang="en-US" sz="14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96913" y="2249839"/>
            <a:ext cx="230832" cy="644407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2.5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04971" y="4825715"/>
            <a:ext cx="230832" cy="700513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200 </a:t>
            </a: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96913" y="4855285"/>
            <a:ext cx="230832" cy="700513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300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75782" y="4984990"/>
            <a:ext cx="230832" cy="472886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2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75851" y="2285996"/>
            <a:ext cx="230832" cy="472886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1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6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499606" y="2235840"/>
            <a:ext cx="102717" cy="577062"/>
            <a:chOff x="8493256" y="2239015"/>
            <a:chExt cx="102717" cy="577062"/>
          </a:xfrm>
        </p:grpSpPr>
        <p:sp>
          <p:nvSpPr>
            <p:cNvPr id="27" name="Freeform 26"/>
            <p:cNvSpPr/>
            <p:nvPr/>
          </p:nvSpPr>
          <p:spPr>
            <a:xfrm>
              <a:off x="8493256" y="2790677"/>
              <a:ext cx="102717" cy="25400"/>
            </a:xfrm>
            <a:custGeom>
              <a:avLst/>
              <a:gdLst>
                <a:gd name="connsiteX0" fmla="*/ 6350 w 102717"/>
                <a:gd name="connsiteY0" fmla="*/ 6350 h 25400"/>
                <a:gd name="connsiteX1" fmla="*/ 96367 w 102717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02717" h="25400">
                  <a:moveTo>
                    <a:pt x="6350" y="6350"/>
                  </a:moveTo>
                  <a:lnTo>
                    <a:pt x="96367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28" name="Freeform 3"/>
            <p:cNvSpPr/>
            <p:nvPr/>
          </p:nvSpPr>
          <p:spPr>
            <a:xfrm>
              <a:off x="8493256" y="2239015"/>
              <a:ext cx="102717" cy="25400"/>
            </a:xfrm>
            <a:custGeom>
              <a:avLst/>
              <a:gdLst>
                <a:gd name="connsiteX0" fmla="*/ 6350 w 102717"/>
                <a:gd name="connsiteY0" fmla="*/ 6350 h 25400"/>
                <a:gd name="connsiteX1" fmla="*/ 96367 w 102717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02717" h="25400">
                  <a:moveTo>
                    <a:pt x="6350" y="6350"/>
                  </a:moveTo>
                  <a:lnTo>
                    <a:pt x="96367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" name="Freeform 3"/>
            <p:cNvSpPr/>
            <p:nvPr/>
          </p:nvSpPr>
          <p:spPr>
            <a:xfrm>
              <a:off x="8538252" y="2239015"/>
              <a:ext cx="25400" cy="564362"/>
            </a:xfrm>
            <a:custGeom>
              <a:avLst/>
              <a:gdLst>
                <a:gd name="connsiteX0" fmla="*/ 6350 w 25400"/>
                <a:gd name="connsiteY0" fmla="*/ 558012 h 564362"/>
                <a:gd name="connsiteX1" fmla="*/ 6350 w 25400"/>
                <a:gd name="connsiteY1" fmla="*/ 6350 h 564362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4362">
                  <a:moveTo>
                    <a:pt x="6350" y="558012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81157" y="2343171"/>
            <a:ext cx="102717" cy="467350"/>
            <a:chOff x="8493256" y="2239015"/>
            <a:chExt cx="102717" cy="577062"/>
          </a:xfrm>
        </p:grpSpPr>
        <p:sp>
          <p:nvSpPr>
            <p:cNvPr id="35" name="Freeform 34"/>
            <p:cNvSpPr/>
            <p:nvPr/>
          </p:nvSpPr>
          <p:spPr>
            <a:xfrm>
              <a:off x="8493256" y="2790677"/>
              <a:ext cx="102717" cy="25400"/>
            </a:xfrm>
            <a:custGeom>
              <a:avLst/>
              <a:gdLst>
                <a:gd name="connsiteX0" fmla="*/ 6350 w 102717"/>
                <a:gd name="connsiteY0" fmla="*/ 6350 h 25400"/>
                <a:gd name="connsiteX1" fmla="*/ 96367 w 102717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02717" h="25400">
                  <a:moveTo>
                    <a:pt x="6350" y="6350"/>
                  </a:moveTo>
                  <a:lnTo>
                    <a:pt x="96367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36" name="Freeform 3"/>
            <p:cNvSpPr/>
            <p:nvPr/>
          </p:nvSpPr>
          <p:spPr>
            <a:xfrm>
              <a:off x="8493256" y="2239015"/>
              <a:ext cx="102717" cy="25400"/>
            </a:xfrm>
            <a:custGeom>
              <a:avLst/>
              <a:gdLst>
                <a:gd name="connsiteX0" fmla="*/ 6350 w 102717"/>
                <a:gd name="connsiteY0" fmla="*/ 6350 h 25400"/>
                <a:gd name="connsiteX1" fmla="*/ 96367 w 102717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02717" h="25400">
                  <a:moveTo>
                    <a:pt x="6350" y="6350"/>
                  </a:moveTo>
                  <a:lnTo>
                    <a:pt x="96367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37" name="Freeform 3"/>
            <p:cNvSpPr/>
            <p:nvPr/>
          </p:nvSpPr>
          <p:spPr>
            <a:xfrm>
              <a:off x="8538252" y="2239015"/>
              <a:ext cx="25400" cy="564362"/>
            </a:xfrm>
            <a:custGeom>
              <a:avLst/>
              <a:gdLst>
                <a:gd name="connsiteX0" fmla="*/ 6350 w 25400"/>
                <a:gd name="connsiteY0" fmla="*/ 558012 h 564362"/>
                <a:gd name="connsiteX1" fmla="*/ 6350 w 25400"/>
                <a:gd name="connsiteY1" fmla="*/ 6350 h 564362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4362">
                  <a:moveTo>
                    <a:pt x="6350" y="558012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2706587" y="4953240"/>
            <a:ext cx="102717" cy="467350"/>
            <a:chOff x="8493256" y="2239015"/>
            <a:chExt cx="102717" cy="577062"/>
          </a:xfrm>
        </p:grpSpPr>
        <p:sp>
          <p:nvSpPr>
            <p:cNvPr id="39" name="Freeform 38"/>
            <p:cNvSpPr/>
            <p:nvPr/>
          </p:nvSpPr>
          <p:spPr>
            <a:xfrm>
              <a:off x="8493256" y="2790677"/>
              <a:ext cx="102717" cy="25400"/>
            </a:xfrm>
            <a:custGeom>
              <a:avLst/>
              <a:gdLst>
                <a:gd name="connsiteX0" fmla="*/ 6350 w 102717"/>
                <a:gd name="connsiteY0" fmla="*/ 6350 h 25400"/>
                <a:gd name="connsiteX1" fmla="*/ 96367 w 102717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02717" h="25400">
                  <a:moveTo>
                    <a:pt x="6350" y="6350"/>
                  </a:moveTo>
                  <a:lnTo>
                    <a:pt x="96367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40" name="Freeform 3"/>
            <p:cNvSpPr/>
            <p:nvPr/>
          </p:nvSpPr>
          <p:spPr>
            <a:xfrm>
              <a:off x="8493256" y="2239015"/>
              <a:ext cx="102717" cy="25400"/>
            </a:xfrm>
            <a:custGeom>
              <a:avLst/>
              <a:gdLst>
                <a:gd name="connsiteX0" fmla="*/ 6350 w 102717"/>
                <a:gd name="connsiteY0" fmla="*/ 6350 h 25400"/>
                <a:gd name="connsiteX1" fmla="*/ 96367 w 102717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02717" h="25400">
                  <a:moveTo>
                    <a:pt x="6350" y="6350"/>
                  </a:moveTo>
                  <a:lnTo>
                    <a:pt x="96367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41" name="Freeform 3"/>
            <p:cNvSpPr/>
            <p:nvPr/>
          </p:nvSpPr>
          <p:spPr>
            <a:xfrm>
              <a:off x="8538252" y="2239015"/>
              <a:ext cx="25400" cy="564362"/>
            </a:xfrm>
            <a:custGeom>
              <a:avLst/>
              <a:gdLst>
                <a:gd name="connsiteX0" fmla="*/ 6350 w 25400"/>
                <a:gd name="connsiteY0" fmla="*/ 558012 h 564362"/>
                <a:gd name="connsiteX1" fmla="*/ 6350 w 25400"/>
                <a:gd name="connsiteY1" fmla="*/ 6350 h 564362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4362">
                  <a:moveTo>
                    <a:pt x="6350" y="558012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586936" y="4983816"/>
            <a:ext cx="102717" cy="446779"/>
            <a:chOff x="8493256" y="2239015"/>
            <a:chExt cx="102717" cy="577062"/>
          </a:xfrm>
        </p:grpSpPr>
        <p:sp>
          <p:nvSpPr>
            <p:cNvPr id="43" name="Freeform 42"/>
            <p:cNvSpPr/>
            <p:nvPr/>
          </p:nvSpPr>
          <p:spPr>
            <a:xfrm>
              <a:off x="8493256" y="2790677"/>
              <a:ext cx="102717" cy="25400"/>
            </a:xfrm>
            <a:custGeom>
              <a:avLst/>
              <a:gdLst>
                <a:gd name="connsiteX0" fmla="*/ 6350 w 102717"/>
                <a:gd name="connsiteY0" fmla="*/ 6350 h 25400"/>
                <a:gd name="connsiteX1" fmla="*/ 96367 w 102717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02717" h="25400">
                  <a:moveTo>
                    <a:pt x="6350" y="6350"/>
                  </a:moveTo>
                  <a:lnTo>
                    <a:pt x="96367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44" name="Freeform 3"/>
            <p:cNvSpPr/>
            <p:nvPr/>
          </p:nvSpPr>
          <p:spPr>
            <a:xfrm>
              <a:off x="8493256" y="2239015"/>
              <a:ext cx="102717" cy="25400"/>
            </a:xfrm>
            <a:custGeom>
              <a:avLst/>
              <a:gdLst>
                <a:gd name="connsiteX0" fmla="*/ 6350 w 102717"/>
                <a:gd name="connsiteY0" fmla="*/ 6350 h 25400"/>
                <a:gd name="connsiteX1" fmla="*/ 96367 w 102717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02717" h="25400">
                  <a:moveTo>
                    <a:pt x="6350" y="6350"/>
                  </a:moveTo>
                  <a:lnTo>
                    <a:pt x="96367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45" name="Freeform 3"/>
            <p:cNvSpPr/>
            <p:nvPr/>
          </p:nvSpPr>
          <p:spPr>
            <a:xfrm>
              <a:off x="8538252" y="2239015"/>
              <a:ext cx="25400" cy="564362"/>
            </a:xfrm>
            <a:custGeom>
              <a:avLst/>
              <a:gdLst>
                <a:gd name="connsiteX0" fmla="*/ 6350 w 25400"/>
                <a:gd name="connsiteY0" fmla="*/ 558012 h 564362"/>
                <a:gd name="connsiteX1" fmla="*/ 6350 w 25400"/>
                <a:gd name="connsiteY1" fmla="*/ 6350 h 564362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4362">
                  <a:moveTo>
                    <a:pt x="6350" y="558012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8500619" y="5021536"/>
            <a:ext cx="102717" cy="409060"/>
            <a:chOff x="8493256" y="2239015"/>
            <a:chExt cx="102717" cy="577062"/>
          </a:xfrm>
        </p:grpSpPr>
        <p:sp>
          <p:nvSpPr>
            <p:cNvPr id="47" name="Freeform 46"/>
            <p:cNvSpPr/>
            <p:nvPr/>
          </p:nvSpPr>
          <p:spPr>
            <a:xfrm>
              <a:off x="8493256" y="2790677"/>
              <a:ext cx="102717" cy="25400"/>
            </a:xfrm>
            <a:custGeom>
              <a:avLst/>
              <a:gdLst>
                <a:gd name="connsiteX0" fmla="*/ 6350 w 102717"/>
                <a:gd name="connsiteY0" fmla="*/ 6350 h 25400"/>
                <a:gd name="connsiteX1" fmla="*/ 96367 w 102717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02717" h="25400">
                  <a:moveTo>
                    <a:pt x="6350" y="6350"/>
                  </a:moveTo>
                  <a:lnTo>
                    <a:pt x="96367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48" name="Freeform 3"/>
            <p:cNvSpPr/>
            <p:nvPr/>
          </p:nvSpPr>
          <p:spPr>
            <a:xfrm>
              <a:off x="8493256" y="2239015"/>
              <a:ext cx="102717" cy="25400"/>
            </a:xfrm>
            <a:custGeom>
              <a:avLst/>
              <a:gdLst>
                <a:gd name="connsiteX0" fmla="*/ 6350 w 102717"/>
                <a:gd name="connsiteY0" fmla="*/ 6350 h 25400"/>
                <a:gd name="connsiteX1" fmla="*/ 96367 w 102717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102717" h="25400">
                  <a:moveTo>
                    <a:pt x="6350" y="6350"/>
                  </a:moveTo>
                  <a:lnTo>
                    <a:pt x="96367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49" name="Freeform 3"/>
            <p:cNvSpPr/>
            <p:nvPr/>
          </p:nvSpPr>
          <p:spPr>
            <a:xfrm>
              <a:off x="8538252" y="2239015"/>
              <a:ext cx="25400" cy="564362"/>
            </a:xfrm>
            <a:custGeom>
              <a:avLst/>
              <a:gdLst>
                <a:gd name="connsiteX0" fmla="*/ 6350 w 25400"/>
                <a:gd name="connsiteY0" fmla="*/ 558012 h 564362"/>
                <a:gd name="connsiteX1" fmla="*/ 6350 w 25400"/>
                <a:gd name="connsiteY1" fmla="*/ 6350 h 564362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4362">
                  <a:moveTo>
                    <a:pt x="6350" y="558012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sp>
        <p:nvSpPr>
          <p:cNvPr id="50" name="Freeform 49"/>
          <p:cNvSpPr/>
          <p:nvPr/>
        </p:nvSpPr>
        <p:spPr>
          <a:xfrm>
            <a:off x="2224079" y="1369535"/>
            <a:ext cx="156179" cy="1143723"/>
          </a:xfrm>
          <a:custGeom>
            <a:avLst/>
            <a:gdLst>
              <a:gd name="connsiteX0" fmla="*/ 12700 w 238576"/>
              <a:gd name="connsiteY0" fmla="*/ 1966188 h 1978888"/>
              <a:gd name="connsiteX1" fmla="*/ 140621 w 238576"/>
              <a:gd name="connsiteY1" fmla="*/ 1879752 h 1978888"/>
              <a:gd name="connsiteX2" fmla="*/ 140621 w 238576"/>
              <a:gd name="connsiteY2" fmla="*/ 1093558 h 1978888"/>
              <a:gd name="connsiteX3" fmla="*/ 225876 w 238576"/>
              <a:gd name="connsiteY3" fmla="*/ 990879 h 1978888"/>
              <a:gd name="connsiteX4" fmla="*/ 140621 w 238576"/>
              <a:gd name="connsiteY4" fmla="*/ 888250 h 1978888"/>
              <a:gd name="connsiteX5" fmla="*/ 140621 w 238576"/>
              <a:gd name="connsiteY5" fmla="*/ 99148 h 1978888"/>
              <a:gd name="connsiteX6" fmla="*/ 12700 w 238576"/>
              <a:gd name="connsiteY6" fmla="*/ 12700 h 197888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238576" h="1978888">
                <a:moveTo>
                  <a:pt x="12700" y="1966188"/>
                </a:moveTo>
                <a:cubicBezTo>
                  <a:pt x="12700" y="1966188"/>
                  <a:pt x="140621" y="1955380"/>
                  <a:pt x="140621" y="1879752"/>
                </a:cubicBezTo>
                <a:cubicBezTo>
                  <a:pt x="140621" y="1860232"/>
                  <a:pt x="140621" y="1116977"/>
                  <a:pt x="140621" y="1093558"/>
                </a:cubicBezTo>
                <a:cubicBezTo>
                  <a:pt x="140621" y="1034135"/>
                  <a:pt x="225876" y="990879"/>
                  <a:pt x="225876" y="990879"/>
                </a:cubicBezTo>
                <a:cubicBezTo>
                  <a:pt x="225876" y="990879"/>
                  <a:pt x="140621" y="947661"/>
                  <a:pt x="140621" y="888250"/>
                </a:cubicBezTo>
                <a:cubicBezTo>
                  <a:pt x="140621" y="867892"/>
                  <a:pt x="140621" y="124218"/>
                  <a:pt x="140621" y="99148"/>
                </a:cubicBezTo>
                <a:cubicBezTo>
                  <a:pt x="140621" y="23494"/>
                  <a:pt x="12700" y="12700"/>
                  <a:pt x="12700" y="1270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 smtClean="0"/>
              <a:t>Chlamydias</a:t>
            </a:r>
            <a:endParaRPr lang="en-US" b="1" dirty="0" smtClean="0"/>
          </a:p>
          <a:p>
            <a:r>
              <a:rPr lang="en-US" dirty="0" smtClean="0"/>
              <a:t>These bacteria are parasites that live within animal cells</a:t>
            </a:r>
            <a:endParaRPr lang="en-US" dirty="0" smtClean="0"/>
          </a:p>
          <a:p>
            <a:r>
              <a:rPr lang="en-US" dirty="0" smtClean="0"/>
              <a:t>Example: </a:t>
            </a:r>
            <a:r>
              <a:rPr lang="en-US" i="1" dirty="0" smtClean="0"/>
              <a:t>Chlamydia trachomatis </a:t>
            </a:r>
            <a:r>
              <a:rPr lang="en-US" dirty="0" smtClean="0"/>
              <a:t>causes blindness and </a:t>
            </a:r>
            <a:r>
              <a:rPr lang="en-US" dirty="0" err="1" smtClean="0"/>
              <a:t>nongonococcal</a:t>
            </a:r>
            <a:r>
              <a:rPr lang="en-US" dirty="0" smtClean="0"/>
              <a:t> urethritis by sexual transmission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12"/>
          <a:stretch>
            <a:fillRect/>
          </a:stretch>
        </p:blipFill>
        <p:spPr>
          <a:xfrm>
            <a:off x="1014984" y="1953768"/>
            <a:ext cx="7114032" cy="295046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27.16ba</a:t>
            </a:r>
            <a:endParaRPr lang="en-US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1054711" y="1953768"/>
            <a:ext cx="1439497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Chlamydias</a:t>
            </a:r>
            <a:endParaRPr lang="en-US" sz="20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4926623" y="2271268"/>
            <a:ext cx="3206006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Chlamydia</a:t>
            </a: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 (arrows) inside an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animal cell (colorized TEM)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80727" y="4054351"/>
            <a:ext cx="256480" cy="722955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2.5 </a:t>
            </a:r>
            <a:r>
              <a:rPr lang="en-US" sz="1800" b="1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863185" y="3964277"/>
            <a:ext cx="155448" cy="922047"/>
            <a:chOff x="73" y="999807"/>
            <a:chExt cx="89669" cy="576732"/>
          </a:xfrm>
        </p:grpSpPr>
        <p:sp>
          <p:nvSpPr>
            <p:cNvPr id="14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5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6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Spirochetes</a:t>
            </a:r>
            <a:endParaRPr lang="en-US" b="1" dirty="0" smtClean="0"/>
          </a:p>
          <a:p>
            <a:r>
              <a:rPr lang="en-US" dirty="0" smtClean="0"/>
              <a:t>These bacteria are helical gram-negative heterotrophs</a:t>
            </a:r>
            <a:endParaRPr lang="en-US" dirty="0" smtClean="0"/>
          </a:p>
          <a:p>
            <a:r>
              <a:rPr lang="en-US" dirty="0" smtClean="0"/>
              <a:t>Some are parasites, including </a:t>
            </a:r>
            <a:r>
              <a:rPr lang="en-US" i="1" dirty="0" err="1" smtClean="0"/>
              <a:t>Treponema</a:t>
            </a:r>
            <a:r>
              <a:rPr lang="en-US" i="1" dirty="0" smtClean="0"/>
              <a:t> </a:t>
            </a:r>
            <a:r>
              <a:rPr lang="en-US" i="1" dirty="0" err="1" smtClean="0"/>
              <a:t>pallidum</a:t>
            </a:r>
            <a:r>
              <a:rPr lang="en-US" dirty="0" smtClean="0"/>
              <a:t>, which causes syphilis, and </a:t>
            </a:r>
            <a:r>
              <a:rPr lang="en-US" i="1" dirty="0" err="1" smtClean="0"/>
              <a:t>Borrelia</a:t>
            </a:r>
            <a:r>
              <a:rPr lang="en-US" i="1" dirty="0" smtClean="0"/>
              <a:t> </a:t>
            </a:r>
            <a:r>
              <a:rPr lang="en-US" i="1" dirty="0" err="1" smtClean="0"/>
              <a:t>burgdorferi</a:t>
            </a:r>
            <a:r>
              <a:rPr lang="en-US" dirty="0" smtClean="0"/>
              <a:t>, which causes Lyme disease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02"/>
          <a:stretch>
            <a:fillRect/>
          </a:stretch>
        </p:blipFill>
        <p:spPr>
          <a:xfrm>
            <a:off x="1277112" y="1950720"/>
            <a:ext cx="6589776" cy="295656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27.16bb</a:t>
            </a:r>
            <a:endParaRPr lang="en-US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1310446" y="1953895"/>
            <a:ext cx="1468351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Spirochetes</a:t>
            </a:r>
            <a:endParaRPr lang="en-US" sz="20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5195523" y="2271713"/>
            <a:ext cx="2667397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pt-BR" sz="18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Leptospira, </a:t>
            </a:r>
            <a:r>
              <a:rPr lang="pt-BR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 spirochete</a:t>
            </a:r>
            <a:endParaRPr lang="pt-BR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pt-BR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(colorized TEM)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53874" y="4175274"/>
            <a:ext cx="256480" cy="530594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5 </a:t>
            </a:r>
            <a:r>
              <a:rPr lang="en-US" sz="1800" b="1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5153698" y="4028571"/>
            <a:ext cx="155448" cy="855373"/>
            <a:chOff x="73" y="999807"/>
            <a:chExt cx="89669" cy="576732"/>
          </a:xfrm>
        </p:grpSpPr>
        <p:sp>
          <p:nvSpPr>
            <p:cNvPr id="11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3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Cyanobacteria</a:t>
            </a:r>
            <a:endParaRPr lang="en-US" b="1" dirty="0" smtClean="0"/>
          </a:p>
          <a:p>
            <a:r>
              <a:rPr lang="en-US" dirty="0" smtClean="0"/>
              <a:t>These are gram-negative photoautotrophs that generate O</a:t>
            </a:r>
            <a:r>
              <a:rPr lang="en-US" baseline="-25000" dirty="0" smtClean="0"/>
              <a:t>2</a:t>
            </a:r>
            <a:endParaRPr lang="en-US" baseline="-25000" dirty="0" smtClean="0"/>
          </a:p>
          <a:p>
            <a:r>
              <a:rPr lang="en-US" dirty="0" smtClean="0"/>
              <a:t>Plant chloroplasts likely evolved from cyanobacteria by the process of endosymbiosis</a:t>
            </a:r>
            <a:endParaRPr lang="en-US" dirty="0" smtClean="0"/>
          </a:p>
          <a:p>
            <a:r>
              <a:rPr lang="en-US" dirty="0" smtClean="0"/>
              <a:t>Cyanobacteria are abundant components of freshwater and marine phytoplankton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12"/>
          <a:stretch>
            <a:fillRect/>
          </a:stretch>
        </p:blipFill>
        <p:spPr>
          <a:xfrm>
            <a:off x="1179576" y="1953768"/>
            <a:ext cx="6784848" cy="295046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27.16bc</a:t>
            </a:r>
            <a:endParaRPr lang="en-US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1212917" y="1953768"/>
            <a:ext cx="1768113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Cyanobacteria</a:t>
            </a:r>
            <a:endParaRPr lang="en-US" sz="20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5092767" y="2279206"/>
            <a:ext cx="2872581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i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Oscillatoria</a:t>
            </a: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, a filamentous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err="1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cyanobacterium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70539" y="4066081"/>
            <a:ext cx="256480" cy="658835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40 </a:t>
            </a:r>
            <a:r>
              <a:rPr lang="en-US" sz="1800" b="1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044161" y="3918907"/>
            <a:ext cx="155448" cy="980563"/>
            <a:chOff x="73" y="999807"/>
            <a:chExt cx="89669" cy="576732"/>
          </a:xfrm>
        </p:grpSpPr>
        <p:sp>
          <p:nvSpPr>
            <p:cNvPr id="10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Gram-Positive Bacteria</a:t>
            </a:r>
            <a:endParaRPr lang="en-US" b="1" dirty="0" smtClean="0"/>
          </a:p>
          <a:p>
            <a:r>
              <a:rPr lang="en-US" dirty="0" smtClean="0"/>
              <a:t>Gram-positive bacteria include </a:t>
            </a:r>
            <a:endParaRPr lang="en-US" dirty="0" smtClean="0"/>
          </a:p>
          <a:p>
            <a:pPr lvl="1"/>
            <a:r>
              <a:rPr lang="en-US" dirty="0" smtClean="0"/>
              <a:t>Colony-forming groups, such as </a:t>
            </a:r>
            <a:r>
              <a:rPr lang="en-US" dirty="0" err="1" smtClean="0"/>
              <a:t>actinomycetes</a:t>
            </a:r>
            <a:r>
              <a:rPr lang="en-US" dirty="0" smtClean="0"/>
              <a:t>, many of which help decompose organic matter </a:t>
            </a:r>
            <a:endParaRPr lang="en-US" dirty="0" smtClean="0"/>
          </a:p>
          <a:p>
            <a:pPr lvl="1"/>
            <a:r>
              <a:rPr lang="en-US" dirty="0" smtClean="0"/>
              <a:t>Solitary species including </a:t>
            </a:r>
            <a:r>
              <a:rPr lang="en-US" i="1" dirty="0" smtClean="0"/>
              <a:t>Bacillus </a:t>
            </a:r>
            <a:r>
              <a:rPr lang="en-US" i="1" dirty="0" err="1" smtClean="0"/>
              <a:t>anthracis</a:t>
            </a:r>
            <a:r>
              <a:rPr lang="en-US" dirty="0" smtClean="0"/>
              <a:t>, the cause of anthrax; </a:t>
            </a:r>
            <a:r>
              <a:rPr lang="en-US" i="1" dirty="0" smtClean="0"/>
              <a:t>Clostridium </a:t>
            </a:r>
            <a:r>
              <a:rPr lang="en-US" i="1" dirty="0" err="1" smtClean="0"/>
              <a:t>botulinum</a:t>
            </a:r>
            <a:r>
              <a:rPr lang="en-US" dirty="0" smtClean="0"/>
              <a:t>, the cause of botulism; and various </a:t>
            </a:r>
            <a:r>
              <a:rPr lang="en-US" i="1" dirty="0" smtClean="0"/>
              <a:t>Staphylococcus</a:t>
            </a:r>
            <a:r>
              <a:rPr lang="en-US" dirty="0" smtClean="0"/>
              <a:t> and </a:t>
            </a:r>
            <a:r>
              <a:rPr lang="en-US" i="1" dirty="0" smtClean="0"/>
              <a:t>Streptococcus</a:t>
            </a:r>
            <a:r>
              <a:rPr lang="en-US" dirty="0" smtClean="0"/>
              <a:t> species</a:t>
            </a:r>
            <a:endParaRPr lang="en-US" dirty="0" smtClean="0"/>
          </a:p>
          <a:p>
            <a:pPr lvl="1"/>
            <a:r>
              <a:rPr lang="en-US" dirty="0" smtClean="0"/>
              <a:t>Mycoplasmas, the smallest known cells, lack cell walls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20"/>
          <a:stretch>
            <a:fillRect/>
          </a:stretch>
        </p:blipFill>
        <p:spPr>
          <a:xfrm>
            <a:off x="1103376" y="1987296"/>
            <a:ext cx="6937248" cy="2883408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27.16bd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968027" y="4056212"/>
            <a:ext cx="256480" cy="530594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5 </a:t>
            </a:r>
            <a:r>
              <a:rPr lang="en-US" sz="1800" b="1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1133560" y="1987296"/>
            <a:ext cx="2774799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Gram-positive bacteria</a:t>
            </a:r>
            <a:endParaRPr lang="en-US" sz="20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4930860" y="2309558"/>
            <a:ext cx="310341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i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Streptomyces</a:t>
            </a: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, the source of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many antibiotics (SEM)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852178" y="3802352"/>
            <a:ext cx="155448" cy="1065177"/>
            <a:chOff x="73" y="999807"/>
            <a:chExt cx="89669" cy="576732"/>
          </a:xfrm>
        </p:grpSpPr>
        <p:sp>
          <p:nvSpPr>
            <p:cNvPr id="10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10"/>
          <a:stretch>
            <a:fillRect/>
          </a:stretch>
        </p:blipFill>
        <p:spPr>
          <a:xfrm>
            <a:off x="890016" y="1984248"/>
            <a:ext cx="7363968" cy="288950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27.16be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821977" y="4068912"/>
            <a:ext cx="256480" cy="530594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2 </a:t>
            </a:r>
            <a:r>
              <a:rPr lang="en-US" sz="1800" b="1" dirty="0" smtClean="0">
                <a:solidFill>
                  <a:srgbClr val="000000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922016" y="1977898"/>
            <a:ext cx="2774799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Gram-positive bacteria</a:t>
            </a:r>
            <a:endParaRPr lang="en-US" sz="20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4727254" y="2339848"/>
            <a:ext cx="353943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Hundreds of mycoplasmas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covering a human fibroblast cell</a:t>
            </a:r>
            <a:endParaRPr lang="en-US" sz="1800" b="1" dirty="0" smtClean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pPr>
              <a:lnSpc>
                <a:spcPts val="2000"/>
              </a:lnSpc>
            </a:pPr>
            <a:r>
              <a:rPr lang="en-US" sz="1800" b="1" dirty="0" smtClean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(colorized SEM)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06914" y="3860485"/>
            <a:ext cx="155448" cy="990915"/>
            <a:chOff x="73" y="999807"/>
            <a:chExt cx="89669" cy="576732"/>
          </a:xfrm>
        </p:grpSpPr>
        <p:sp>
          <p:nvSpPr>
            <p:cNvPr id="10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Archaea</a:t>
            </a:r>
            <a:endParaRPr lang="en-US" dirty="0" smtClean="0"/>
          </a:p>
        </p:txBody>
      </p:sp>
      <p:sp>
        <p:nvSpPr>
          <p:cNvPr id="143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Archaea share certain traits with bacteria and other traits with eukaryotes</a:t>
            </a:r>
            <a:endParaRPr lang="en-US" smtClean="0"/>
          </a:p>
          <a:p>
            <a:r>
              <a:rPr lang="en-US" smtClean="0"/>
              <a:t>They also have many unique characteristics</a:t>
            </a:r>
            <a:endParaRPr lang="en-US" dirty="0" smtClean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34"/>
          <a:stretch>
            <a:fillRect/>
          </a:stretch>
        </p:blipFill>
        <p:spPr>
          <a:xfrm>
            <a:off x="3008376" y="2642616"/>
            <a:ext cx="3127248" cy="1572768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27.UN02</a:t>
            </a: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717576" y="2807965"/>
            <a:ext cx="1199046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 err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Eukarya</a:t>
            </a:r>
            <a:endParaRPr lang="en-US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719957" y="3257231"/>
            <a:ext cx="1216680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 err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Archaea</a:t>
            </a:r>
            <a:endParaRPr lang="en-US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719957" y="3717608"/>
            <a:ext cx="1216680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Bacteria</a:t>
            </a:r>
            <a:endParaRPr lang="en-US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801624" y="213360"/>
            <a:ext cx="7540752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Table 27.2a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502920" y="213360"/>
            <a:ext cx="8138160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Table 27.2b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304800"/>
            <a:ext cx="8839199" cy="5217186"/>
          </a:xfrm>
        </p:spPr>
        <p:txBody>
          <a:bodyPr/>
          <a:lstStyle/>
          <a:p>
            <a:r>
              <a:rPr lang="en-US" dirty="0" smtClean="0"/>
              <a:t>Some archaea live in extreme environments and are called </a:t>
            </a:r>
            <a:r>
              <a:rPr lang="en-US" b="1" dirty="0" smtClean="0"/>
              <a:t>extremophiles</a:t>
            </a:r>
            <a:endParaRPr lang="en-US" b="1" dirty="0" smtClean="0"/>
          </a:p>
          <a:p>
            <a:r>
              <a:rPr lang="en-US" b="1" dirty="0" smtClean="0"/>
              <a:t>Extreme halophiles </a:t>
            </a:r>
            <a:r>
              <a:rPr lang="en-US" dirty="0" smtClean="0"/>
              <a:t>live in highly saline environments</a:t>
            </a:r>
            <a:endParaRPr lang="en-US" dirty="0" smtClean="0"/>
          </a:p>
          <a:p>
            <a:r>
              <a:rPr lang="en-US" b="1" dirty="0" smtClean="0"/>
              <a:t>Extreme thermophiles </a:t>
            </a:r>
            <a:r>
              <a:rPr lang="en-US" dirty="0" smtClean="0"/>
              <a:t>thrive in very hot environments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2895600"/>
            <a:ext cx="5638800" cy="3733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Methanogens </a:t>
            </a:r>
            <a:r>
              <a:rPr lang="en-US" smtClean="0"/>
              <a:t>live in swamps and marshes and produce methane as a waste product</a:t>
            </a:r>
            <a:endParaRPr lang="en-US" smtClean="0"/>
          </a:p>
          <a:p>
            <a:r>
              <a:rPr lang="en-US" smtClean="0"/>
              <a:t>Methanogens are strict anaerobes and are poisoned by O</a:t>
            </a:r>
            <a:r>
              <a:rPr lang="en-US" baseline="-25000" smtClean="0"/>
              <a:t>2</a:t>
            </a:r>
            <a:endParaRPr lang="en-US" baseline="-2500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New research findings continue to inform our understanding of archaeal phylogeny</a:t>
            </a:r>
            <a:endParaRPr lang="en-US" smtClean="0"/>
          </a:p>
          <a:p>
            <a:pPr lvl="1"/>
            <a:r>
              <a:rPr lang="en-US" smtClean="0"/>
              <a:t>For example, a recently discovered group called Lokiarchaeota may represent the sister group of the eukaryotes</a:t>
            </a:r>
            <a:endParaRPr lang="en-US" smtClean="0"/>
          </a:p>
          <a:p>
            <a:pPr lvl="1"/>
            <a:r>
              <a:rPr lang="en-US" smtClean="0"/>
              <a:t>The characteristics of lokiarchaeotes could shed light on the evolution of eukaryotes from their prokaryotic ancestors</a:t>
            </a:r>
            <a:endParaRPr lang="en-US" smtClean="0"/>
          </a:p>
          <a:p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smtClean="0"/>
              <a:t>Concept 27.5: Prokaryotes play crucial roles in the biosphere</a:t>
            </a:r>
            <a:endParaRPr lang="en-US" dirty="0" smtClean="0"/>
          </a:p>
        </p:txBody>
      </p:sp>
      <p:sp>
        <p:nvSpPr>
          <p:cNvPr id="1556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Prokaryotes are so important that if they were to disappear, the prospects for any other life surviving on Earth would be dim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Chemical Recycling</a:t>
            </a:r>
            <a:endParaRPr lang="en-US" dirty="0" smtClean="0"/>
          </a:p>
        </p:txBody>
      </p:sp>
      <p:sp>
        <p:nvSpPr>
          <p:cNvPr id="1576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Prokaryotes play a major role in the recycling of chemical elements between the living and nonliving components of the environment</a:t>
            </a:r>
            <a:endParaRPr lang="en-US" smtClean="0"/>
          </a:p>
          <a:p>
            <a:r>
              <a:rPr lang="en-US" smtClean="0"/>
              <a:t>Some chemoheterotrophic prokaryotes function as </a:t>
            </a:r>
            <a:r>
              <a:rPr lang="en-US" b="1" smtClean="0"/>
              <a:t>decomposers</a:t>
            </a:r>
            <a:r>
              <a:rPr lang="en-US" smtClean="0"/>
              <a:t>, breaking down dead organisms and waste products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Prokaryotes can convert some molecules to forms that can be taken up by other organisms</a:t>
            </a:r>
            <a:endParaRPr lang="en-US" dirty="0" smtClean="0"/>
          </a:p>
          <a:p>
            <a:pPr lvl="1"/>
            <a:r>
              <a:rPr lang="en-US" dirty="0" smtClean="0"/>
              <a:t>For example, under some conditions, prokaryotes can increase the availability of nutrients required for plant growth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Prokaryotes can also </a:t>
            </a:r>
            <a:r>
              <a:rPr lang="ja-JP" altLang="en-US" smtClean="0"/>
              <a:t>“</a:t>
            </a:r>
            <a:r>
              <a:rPr lang="en-US" altLang="ja-JP" smtClean="0"/>
              <a:t>immobilize</a:t>
            </a:r>
            <a:r>
              <a:rPr lang="ja-JP" altLang="en-US" smtClean="0"/>
              <a:t>”</a:t>
            </a:r>
            <a:r>
              <a:rPr lang="en-US" altLang="ja-JP" smtClean="0"/>
              <a:t> or decrease the availability of nutrients by using them in their own cells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Ecological Interactions</a:t>
            </a:r>
            <a:endParaRPr lang="en-US" dirty="0" smtClean="0"/>
          </a:p>
        </p:txBody>
      </p:sp>
      <p:sp>
        <p:nvSpPr>
          <p:cNvPr id="1638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Symbiosis </a:t>
            </a:r>
            <a:r>
              <a:rPr lang="en-US" smtClean="0"/>
              <a:t>is an ecological relationship in which two species live in close contact: a larger </a:t>
            </a:r>
            <a:r>
              <a:rPr lang="en-US" b="1" smtClean="0"/>
              <a:t>host </a:t>
            </a:r>
            <a:r>
              <a:rPr lang="en-US" smtClean="0"/>
              <a:t>and smaller </a:t>
            </a:r>
            <a:r>
              <a:rPr lang="en-US" b="1" smtClean="0"/>
              <a:t>symbiont</a:t>
            </a:r>
            <a:endParaRPr lang="en-US" b="1" smtClean="0"/>
          </a:p>
          <a:p>
            <a:r>
              <a:rPr lang="en-US" smtClean="0"/>
              <a:t>Prokaryotes often form symbiotic relationships with larger organisms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 </a:t>
            </a:r>
            <a:r>
              <a:rPr lang="en-US" b="1" smtClean="0"/>
              <a:t>mutualism</a:t>
            </a:r>
            <a:r>
              <a:rPr lang="en-US" smtClean="0"/>
              <a:t>, both symbiotic organisms benefit</a:t>
            </a:r>
            <a:endParaRPr lang="en-US" smtClean="0"/>
          </a:p>
          <a:p>
            <a:r>
              <a:rPr lang="en-US" smtClean="0"/>
              <a:t>In </a:t>
            </a:r>
            <a:r>
              <a:rPr lang="en-US" b="1" smtClean="0"/>
              <a:t>commensalism</a:t>
            </a:r>
            <a:r>
              <a:rPr lang="en-US" smtClean="0"/>
              <a:t>, one organism benefits while neither harming nor helping the other in any significant way</a:t>
            </a:r>
            <a:endParaRPr lang="en-US" smtClean="0"/>
          </a:p>
          <a:p>
            <a:r>
              <a:rPr lang="en-US" smtClean="0"/>
              <a:t>In </a:t>
            </a:r>
            <a:r>
              <a:rPr lang="en-US" b="1" smtClean="0"/>
              <a:t>parasitism</a:t>
            </a:r>
            <a:r>
              <a:rPr lang="en-US" smtClean="0"/>
              <a:t>, an organism called a </a:t>
            </a:r>
            <a:r>
              <a:rPr lang="en-US" b="1" smtClean="0"/>
              <a:t>parasite</a:t>
            </a:r>
            <a:r>
              <a:rPr lang="en-US" smtClean="0"/>
              <a:t> harms but does not kill its host</a:t>
            </a:r>
            <a:endParaRPr lang="en-US" smtClean="0"/>
          </a:p>
          <a:p>
            <a:r>
              <a:rPr lang="en-US" smtClean="0"/>
              <a:t>Parasites that cause disease are called </a:t>
            </a:r>
            <a:r>
              <a:rPr lang="en-US" b="1" smtClean="0"/>
              <a:t>pathogens</a:t>
            </a:r>
            <a:endParaRPr lang="en-US" b="1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existence of some ecosystems depends on prokaryotes</a:t>
            </a:r>
            <a:endParaRPr lang="en-US" dirty="0" smtClean="0"/>
          </a:p>
          <a:p>
            <a:pPr lvl="1"/>
            <a:r>
              <a:rPr lang="en-US" dirty="0" smtClean="0"/>
              <a:t>For example, the ecological communities of hydrothermal vents depend on chemoautotrophic bacteria for energy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smtClean="0"/>
              <a:t>Concept 27.6: Prokaryotes have both beneficial and harmful impacts on humans</a:t>
            </a:r>
            <a:endParaRPr lang="en-US" dirty="0" smtClean="0"/>
          </a:p>
        </p:txBody>
      </p:sp>
      <p:sp>
        <p:nvSpPr>
          <p:cNvPr id="1720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Some prokaryotes are human pathogens, but many others have positive interactions with humans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Mutualistic Bacteria</a:t>
            </a:r>
            <a:endParaRPr lang="en-US" dirty="0" smtClean="0"/>
          </a:p>
        </p:txBody>
      </p:sp>
      <p:sp>
        <p:nvSpPr>
          <p:cNvPr id="17408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Human intestines are home to about 500–1,000 species of bacteria</a:t>
            </a:r>
            <a:endParaRPr lang="en-US" smtClean="0"/>
          </a:p>
          <a:p>
            <a:r>
              <a:rPr lang="en-US" smtClean="0"/>
              <a:t>Many of these are mutualists and break down food that is undigested by our intestines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Pathogenic Bacteria</a:t>
            </a:r>
            <a:endParaRPr lang="en-US" dirty="0" smtClean="0"/>
          </a:p>
        </p:txBody>
      </p:sp>
      <p:sp>
        <p:nvSpPr>
          <p:cNvPr id="1761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Bacteria cause about half of all human diseases</a:t>
            </a:r>
            <a:endParaRPr lang="en-US" smtClean="0"/>
          </a:p>
          <a:p>
            <a:r>
              <a:rPr lang="en-US" smtClean="0"/>
              <a:t>Some bacterial diseases are transmitted by other species</a:t>
            </a:r>
            <a:endParaRPr lang="en-US" smtClean="0"/>
          </a:p>
          <a:p>
            <a:pPr lvl="1"/>
            <a:r>
              <a:rPr lang="en-US" smtClean="0"/>
              <a:t>For example, Lyme disease is caused by a bacterium and carried by ticks 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88"/>
          <a:stretch>
            <a:fillRect/>
          </a:stretch>
        </p:blipFill>
        <p:spPr>
          <a:xfrm>
            <a:off x="685800" y="908368"/>
            <a:ext cx="7826400" cy="4572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27.20</a:t>
            </a:r>
            <a:endParaRPr lang="en-US"/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3305810" y="3287325"/>
            <a:ext cx="5305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5 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MS PGothic" panose="020B0600070205080204" charset="-128"/>
                <a:cs typeface="Times New Roman" panose="02020603050405020304" charset="0"/>
              </a:rPr>
              <a:t>µ</a:t>
            </a:r>
            <a:r>
              <a:rPr lang="en-US" sz="1800" b="1" dirty="0">
                <a:solidFill>
                  <a:srgbClr val="FFFFFF"/>
                </a:solidFill>
                <a:latin typeface="Arial" panose="020B0604020202020204"/>
                <a:ea typeface="MS PGothic" panose="020B0600070205080204" charset="-128"/>
              </a:rPr>
              <a:t>m</a:t>
            </a:r>
            <a:endParaRPr lang="en-US" sz="1800" b="1" dirty="0">
              <a:solidFill>
                <a:srgbClr val="FFFFFF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grpSp>
        <p:nvGrpSpPr>
          <p:cNvPr id="7" name="Group 6"/>
          <p:cNvGrpSpPr/>
          <p:nvPr/>
        </p:nvGrpSpPr>
        <p:grpSpPr>
          <a:xfrm rot="5400000" flipH="1" flipV="1">
            <a:off x="3520175" y="2742704"/>
            <a:ext cx="137160" cy="961608"/>
            <a:chOff x="73" y="999807"/>
            <a:chExt cx="89669" cy="576732"/>
          </a:xfrm>
        </p:grpSpPr>
        <p:sp>
          <p:nvSpPr>
            <p:cNvPr id="8" name="Freeform 3"/>
            <p:cNvSpPr/>
            <p:nvPr/>
          </p:nvSpPr>
          <p:spPr>
            <a:xfrm>
              <a:off x="73" y="1551139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9" name="Freeform 3"/>
            <p:cNvSpPr/>
            <p:nvPr/>
          </p:nvSpPr>
          <p:spPr>
            <a:xfrm>
              <a:off x="73" y="999807"/>
              <a:ext cx="89669" cy="25400"/>
            </a:xfrm>
            <a:custGeom>
              <a:avLst/>
              <a:gdLst>
                <a:gd name="connsiteX0" fmla="*/ 6350 w 89669"/>
                <a:gd name="connsiteY0" fmla="*/ 6350 h 25400"/>
                <a:gd name="connsiteX1" fmla="*/ 83319 w 89669"/>
                <a:gd name="connsiteY1" fmla="*/ 6350 h 254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89669" h="25400">
                  <a:moveTo>
                    <a:pt x="6350" y="6350"/>
                  </a:moveTo>
                  <a:lnTo>
                    <a:pt x="83319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  <p:sp>
          <p:nvSpPr>
            <p:cNvPr id="10" name="Freeform 3"/>
            <p:cNvSpPr/>
            <p:nvPr/>
          </p:nvSpPr>
          <p:spPr>
            <a:xfrm>
              <a:off x="38558" y="999807"/>
              <a:ext cx="25400" cy="566991"/>
            </a:xfrm>
            <a:custGeom>
              <a:avLst/>
              <a:gdLst>
                <a:gd name="connsiteX0" fmla="*/ 6350 w 25400"/>
                <a:gd name="connsiteY0" fmla="*/ 560641 h 566991"/>
                <a:gd name="connsiteX1" fmla="*/ 6350 w 25400"/>
                <a:gd name="connsiteY1" fmla="*/ 6350 h 566991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</a:cxnLst>
              <a:rect l="l" t="t" r="r" b="b"/>
              <a:pathLst>
                <a:path w="25400" h="566991">
                  <a:moveTo>
                    <a:pt x="6350" y="560641"/>
                  </a:moveTo>
                  <a:lnTo>
                    <a:pt x="6350" y="635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5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Pathogenic prokaryotes typically cause disease by releasing exotoxins or endotoxins</a:t>
            </a:r>
            <a:endParaRPr lang="en-US" smtClean="0"/>
          </a:p>
          <a:p>
            <a:r>
              <a:rPr lang="en-US" b="1" smtClean="0"/>
              <a:t>Exotoxins </a:t>
            </a:r>
            <a:r>
              <a:rPr lang="en-US" smtClean="0"/>
              <a:t>are secreted and cause disease even if the prokaryotes that produce them are not present</a:t>
            </a:r>
            <a:endParaRPr lang="en-US" smtClean="0"/>
          </a:p>
          <a:p>
            <a:r>
              <a:rPr lang="en-US" b="1" smtClean="0"/>
              <a:t>Endotoxins </a:t>
            </a:r>
            <a:r>
              <a:rPr lang="en-US" smtClean="0"/>
              <a:t>are released only when bacteria die and their cell walls break down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3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Horizontal gene transfer can spread genes associated with virulence</a:t>
            </a:r>
            <a:endParaRPr lang="en-US" smtClean="0"/>
          </a:p>
          <a:p>
            <a:pPr lvl="1"/>
            <a:r>
              <a:rPr lang="en-US" smtClean="0"/>
              <a:t>For example, pathogenic strains of </a:t>
            </a:r>
            <a:r>
              <a:rPr lang="en-US" i="1" smtClean="0"/>
              <a:t>E. coli</a:t>
            </a:r>
            <a:r>
              <a:rPr lang="en-US" smtClean="0"/>
              <a:t> contain genes that were acquired through transduction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Prokaryotes in Research and Technology</a:t>
            </a:r>
            <a:endParaRPr lang="en-US" dirty="0" smtClean="0"/>
          </a:p>
        </p:txBody>
      </p:sp>
      <p:sp>
        <p:nvSpPr>
          <p:cNvPr id="1843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Experiments using prokaryotes have led to important advances in DNA technology</a:t>
            </a:r>
            <a:endParaRPr lang="en-US" smtClean="0"/>
          </a:p>
          <a:p>
            <a:pPr lvl="1"/>
            <a:r>
              <a:rPr lang="en-US" smtClean="0"/>
              <a:t>For example, </a:t>
            </a:r>
            <a:r>
              <a:rPr lang="en-US" i="1" smtClean="0"/>
              <a:t>E. coli</a:t>
            </a:r>
            <a:r>
              <a:rPr lang="en-US" smtClean="0"/>
              <a:t> is used in gene cloning</a:t>
            </a:r>
            <a:endParaRPr lang="en-US" smtClean="0"/>
          </a:p>
          <a:p>
            <a:pPr lvl="1"/>
            <a:r>
              <a:rPr lang="en-US" smtClean="0"/>
              <a:t>For example, the prokaryotic CRISPR-Cas system can alter genes in other organisms</a:t>
            </a:r>
            <a:endParaRPr lang="en-US" smtClean="0"/>
          </a:p>
          <a:p>
            <a:r>
              <a:rPr lang="en-US" smtClean="0"/>
              <a:t>Bacteria can be used to make natural plastics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08"/>
          <a:stretch>
            <a:fillRect/>
          </a:stretch>
        </p:blipFill>
        <p:spPr>
          <a:xfrm>
            <a:off x="1258824" y="1920240"/>
            <a:ext cx="6626352" cy="301752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27.21</a:t>
            </a:r>
            <a:endParaRPr lang="en-US"/>
          </a:p>
        </p:txBody>
      </p:sp>
      <p:sp>
        <p:nvSpPr>
          <p:cNvPr id="6" name="TextBox 11"/>
          <p:cNvSpPr txBox="1">
            <a:spLocks noChangeArrowheads="1"/>
          </p:cNvSpPr>
          <p:nvPr/>
        </p:nvSpPr>
        <p:spPr bwMode="auto">
          <a:xfrm>
            <a:off x="1301456" y="4655085"/>
            <a:ext cx="174406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(a) Control cells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13"/>
          <p:cNvSpPr txBox="1">
            <a:spLocks noChangeArrowheads="1"/>
          </p:cNvSpPr>
          <p:nvPr/>
        </p:nvSpPr>
        <p:spPr bwMode="auto">
          <a:xfrm>
            <a:off x="4619331" y="4655085"/>
            <a:ext cx="238526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(b) Experimental cells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3" name="Rectangle 2"/>
          <p:cNvSpPr>
            <a:spLocks noGrp="1" noChangeArrowheads="1"/>
          </p:cNvSpPr>
          <p:nvPr>
            <p:ph idx="1"/>
          </p:nvPr>
        </p:nvSpPr>
        <p:spPr>
          <a:xfrm>
            <a:off x="304801" y="990600"/>
            <a:ext cx="8839199" cy="5217186"/>
          </a:xfrm>
        </p:spPr>
        <p:txBody>
          <a:bodyPr/>
          <a:lstStyle/>
          <a:p>
            <a:r>
              <a:rPr lang="en-US" dirty="0" smtClean="0"/>
              <a:t>Bacteria are also being engineered to produce ethanol from agricultural and municipal waste biomass, switchgrass, and corn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2597972"/>
            <a:ext cx="3429000" cy="30255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04801" y="4423231"/>
            <a:ext cx="5233916" cy="120032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/>
              </a:rPr>
              <a:t>Figure </a:t>
            </a:r>
            <a:r>
              <a:rPr lang="en-US" b="1" dirty="0" smtClean="0">
                <a:latin typeface="Arial" panose="020B0604020202020204"/>
              </a:rPr>
              <a:t>27.22:  </a:t>
            </a:r>
            <a:r>
              <a:rPr lang="en-US" dirty="0">
                <a:latin typeface="Arial" panose="020B0604020202020204"/>
              </a:rPr>
              <a:t>Bacteria synthesizing and storing PHA, a component of </a:t>
            </a:r>
            <a:r>
              <a:rPr lang="en-US" dirty="0" err="1">
                <a:latin typeface="Arial" panose="020B0604020202020204"/>
              </a:rPr>
              <a:t>biodegradeable</a:t>
            </a:r>
            <a:r>
              <a:rPr lang="en-US" dirty="0">
                <a:latin typeface="Arial" panose="020B0604020202020204"/>
              </a:rPr>
              <a:t> </a:t>
            </a:r>
            <a:r>
              <a:rPr lang="en-US" dirty="0" smtClean="0">
                <a:latin typeface="Arial" panose="020B0604020202020204"/>
              </a:rPr>
              <a:t>plastics.</a:t>
            </a:r>
            <a:endParaRPr lang="en-US" dirty="0">
              <a:latin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Prokaryotes can also be used in </a:t>
            </a:r>
            <a:r>
              <a:rPr lang="en-US" b="1" smtClean="0"/>
              <a:t>bioremediation</a:t>
            </a:r>
            <a:r>
              <a:rPr lang="en-US" smtClean="0"/>
              <a:t>, the use of organisms to remove pollutants from the environment </a:t>
            </a:r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© 2018 Pearson Education Ltd.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590800"/>
            <a:ext cx="4187952" cy="3596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3"/>
          <a:stretch>
            <a:fillRect/>
          </a:stretch>
        </p:blipFill>
        <p:spPr>
          <a:xfrm>
            <a:off x="1088136" y="347472"/>
            <a:ext cx="6967728" cy="616305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Figure 27.UN04</a:t>
            </a:r>
            <a:endParaRPr lang="en-US"/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1454997" y="773115"/>
            <a:ext cx="96180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Fimbriae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5366597" y="1509715"/>
            <a:ext cx="92333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Cell wall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5652347" y="2281240"/>
            <a:ext cx="238526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Circular chromosome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970935" y="2887665"/>
            <a:ext cx="89768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Capsule</a:t>
            </a:r>
            <a:endParaRPr lang="en-US" sz="1800" b="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254010" y="3276603"/>
            <a:ext cx="55143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Pilus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1" name="TextBox 16"/>
          <p:cNvSpPr txBox="1">
            <a:spLocks noChangeArrowheads="1"/>
          </p:cNvSpPr>
          <p:nvPr/>
        </p:nvSpPr>
        <p:spPr bwMode="auto">
          <a:xfrm>
            <a:off x="1113685" y="4271965"/>
            <a:ext cx="226985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Internal organization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2" name="TextBox 17"/>
          <p:cNvSpPr txBox="1">
            <a:spLocks noChangeArrowheads="1"/>
          </p:cNvSpPr>
          <p:nvPr/>
        </p:nvSpPr>
        <p:spPr bwMode="auto">
          <a:xfrm>
            <a:off x="3563197" y="5467353"/>
            <a:ext cx="85921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 panose="020B0604020202020204"/>
                <a:ea typeface="MS PGothic" panose="020B0600070205080204" charset="-128"/>
              </a:rPr>
              <a:t>Flagella</a:t>
            </a:r>
            <a:endParaRPr lang="en-US" sz="1800" b="1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4331914" y="1627802"/>
            <a:ext cx="1018501" cy="331127"/>
          </a:xfrm>
          <a:custGeom>
            <a:avLst/>
            <a:gdLst>
              <a:gd name="connsiteX0" fmla="*/ 9525 w 1018501"/>
              <a:gd name="connsiteY0" fmla="*/ 321602 h 331127"/>
              <a:gd name="connsiteX1" fmla="*/ 1008976 w 1018501"/>
              <a:gd name="connsiteY1" fmla="*/ 9525 h 33112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018501" h="331127">
                <a:moveTo>
                  <a:pt x="9525" y="321602"/>
                </a:moveTo>
                <a:lnTo>
                  <a:pt x="1008976" y="952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4" name="Freeform 3"/>
          <p:cNvSpPr/>
          <p:nvPr/>
        </p:nvSpPr>
        <p:spPr>
          <a:xfrm>
            <a:off x="2880265" y="2375464"/>
            <a:ext cx="765098" cy="665378"/>
          </a:xfrm>
          <a:custGeom>
            <a:avLst/>
            <a:gdLst>
              <a:gd name="connsiteX0" fmla="*/ 755573 w 765098"/>
              <a:gd name="connsiteY0" fmla="*/ 9525 h 665378"/>
              <a:gd name="connsiteX1" fmla="*/ 9525 w 765098"/>
              <a:gd name="connsiteY1" fmla="*/ 655853 h 66537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765098" h="665378">
                <a:moveTo>
                  <a:pt x="755573" y="9525"/>
                </a:moveTo>
                <a:lnTo>
                  <a:pt x="9525" y="655853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5" name="Freeform 3"/>
          <p:cNvSpPr/>
          <p:nvPr/>
        </p:nvSpPr>
        <p:spPr>
          <a:xfrm>
            <a:off x="3384595" y="3518794"/>
            <a:ext cx="1234287" cy="925398"/>
          </a:xfrm>
          <a:custGeom>
            <a:avLst/>
            <a:gdLst>
              <a:gd name="connsiteX0" fmla="*/ 1224762 w 1234287"/>
              <a:gd name="connsiteY0" fmla="*/ 9525 h 925398"/>
              <a:gd name="connsiteX1" fmla="*/ 9525 w 1234287"/>
              <a:gd name="connsiteY1" fmla="*/ 915873 h 92539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234287" h="925398">
                <a:moveTo>
                  <a:pt x="1224762" y="9525"/>
                </a:moveTo>
                <a:lnTo>
                  <a:pt x="9525" y="915873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6" name="Freeform 3"/>
          <p:cNvSpPr/>
          <p:nvPr/>
        </p:nvSpPr>
        <p:spPr>
          <a:xfrm>
            <a:off x="4455091" y="4630794"/>
            <a:ext cx="838974" cy="977569"/>
          </a:xfrm>
          <a:custGeom>
            <a:avLst/>
            <a:gdLst>
              <a:gd name="connsiteX0" fmla="*/ 829449 w 838974"/>
              <a:gd name="connsiteY0" fmla="*/ 9525 h 977569"/>
              <a:gd name="connsiteX1" fmla="*/ 9525 w 838974"/>
              <a:gd name="connsiteY1" fmla="*/ 968044 h 97756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838974" h="977569">
                <a:moveTo>
                  <a:pt x="829449" y="9525"/>
                </a:moveTo>
                <a:lnTo>
                  <a:pt x="9525" y="968044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7" name="Freeform 3"/>
          <p:cNvSpPr/>
          <p:nvPr/>
        </p:nvSpPr>
        <p:spPr>
          <a:xfrm>
            <a:off x="4455091" y="5154593"/>
            <a:ext cx="1043012" cy="453770"/>
          </a:xfrm>
          <a:custGeom>
            <a:avLst/>
            <a:gdLst>
              <a:gd name="connsiteX0" fmla="*/ 1033488 w 1043012"/>
              <a:gd name="connsiteY0" fmla="*/ 9525 h 453770"/>
              <a:gd name="connsiteX1" fmla="*/ 9525 w 1043012"/>
              <a:gd name="connsiteY1" fmla="*/ 444245 h 45377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043012" h="453770">
                <a:moveTo>
                  <a:pt x="1033488" y="9525"/>
                </a:moveTo>
                <a:lnTo>
                  <a:pt x="9525" y="44424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8" name="Freeform 3"/>
          <p:cNvSpPr/>
          <p:nvPr/>
        </p:nvSpPr>
        <p:spPr>
          <a:xfrm>
            <a:off x="4489051" y="2405563"/>
            <a:ext cx="1147952" cy="240322"/>
          </a:xfrm>
          <a:custGeom>
            <a:avLst/>
            <a:gdLst>
              <a:gd name="connsiteX0" fmla="*/ 9525 w 1147952"/>
              <a:gd name="connsiteY0" fmla="*/ 230797 h 240322"/>
              <a:gd name="connsiteX1" fmla="*/ 1138427 w 1147952"/>
              <a:gd name="connsiteY1" fmla="*/ 9525 h 24032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147952" h="240322">
                <a:moveTo>
                  <a:pt x="9525" y="230797"/>
                </a:moveTo>
                <a:lnTo>
                  <a:pt x="1138427" y="952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19" name="Freeform 3"/>
          <p:cNvSpPr/>
          <p:nvPr/>
        </p:nvSpPr>
        <p:spPr>
          <a:xfrm>
            <a:off x="2455909" y="911192"/>
            <a:ext cx="195986" cy="237502"/>
          </a:xfrm>
          <a:custGeom>
            <a:avLst/>
            <a:gdLst>
              <a:gd name="connsiteX0" fmla="*/ 186461 w 195986"/>
              <a:gd name="connsiteY0" fmla="*/ 227977 h 237502"/>
              <a:gd name="connsiteX1" fmla="*/ 9525 w 195986"/>
              <a:gd name="connsiteY1" fmla="*/ 9525 h 23750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195986" h="237502">
                <a:moveTo>
                  <a:pt x="186461" y="227977"/>
                </a:moveTo>
                <a:lnTo>
                  <a:pt x="9525" y="9525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0" name="Freeform 3"/>
          <p:cNvSpPr/>
          <p:nvPr/>
        </p:nvSpPr>
        <p:spPr>
          <a:xfrm>
            <a:off x="2455909" y="640709"/>
            <a:ext cx="272186" cy="289534"/>
          </a:xfrm>
          <a:custGeom>
            <a:avLst/>
            <a:gdLst>
              <a:gd name="connsiteX0" fmla="*/ 262661 w 272186"/>
              <a:gd name="connsiteY0" fmla="*/ 9525 h 289534"/>
              <a:gd name="connsiteX1" fmla="*/ 9525 w 272186"/>
              <a:gd name="connsiteY1" fmla="*/ 280009 h 28953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72186" h="289534">
                <a:moveTo>
                  <a:pt x="262661" y="9525"/>
                </a:moveTo>
                <a:lnTo>
                  <a:pt x="9525" y="280009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1" name="Freeform 3"/>
          <p:cNvSpPr/>
          <p:nvPr/>
        </p:nvSpPr>
        <p:spPr>
          <a:xfrm>
            <a:off x="5950262" y="3073710"/>
            <a:ext cx="275170" cy="320916"/>
          </a:xfrm>
          <a:custGeom>
            <a:avLst/>
            <a:gdLst>
              <a:gd name="connsiteX0" fmla="*/ 9525 w 275170"/>
              <a:gd name="connsiteY0" fmla="*/ 9525 h 320916"/>
              <a:gd name="connsiteX1" fmla="*/ 265645 w 275170"/>
              <a:gd name="connsiteY1" fmla="*/ 311391 h 32091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275170" h="320916">
                <a:moveTo>
                  <a:pt x="9525" y="9525"/>
                </a:moveTo>
                <a:lnTo>
                  <a:pt x="265645" y="311391"/>
                </a:lnTo>
              </a:path>
            </a:pathLst>
          </a:cu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Campbell11e_LectureDesign">
  <a:themeElements>
    <a:clrScheme name="1_CC4eActiveLectureQuestions 15">
      <a:dk1>
        <a:srgbClr val="000000"/>
      </a:dk1>
      <a:lt1>
        <a:srgbClr val="FFFFFF"/>
      </a:lt1>
      <a:dk2>
        <a:srgbClr val="0060AF"/>
      </a:dk2>
      <a:lt2>
        <a:srgbClr val="000000"/>
      </a:lt2>
      <a:accent1>
        <a:srgbClr val="F7955A"/>
      </a:accent1>
      <a:accent2>
        <a:srgbClr val="009247"/>
      </a:accent2>
      <a:accent3>
        <a:srgbClr val="FFFFFF"/>
      </a:accent3>
      <a:accent4>
        <a:srgbClr val="000000"/>
      </a:accent4>
      <a:accent5>
        <a:srgbClr val="FAC8B5"/>
      </a:accent5>
      <a:accent6>
        <a:srgbClr val="00843F"/>
      </a:accent6>
      <a:hlink>
        <a:srgbClr val="009999"/>
      </a:hlink>
      <a:folHlink>
        <a:srgbClr val="99CC00"/>
      </a:folHlink>
    </a:clrScheme>
    <a:fontScheme name="1_CC4eActiveLectureQuestions">
      <a:majorFont>
        <a:latin typeface="Times New Roman"/>
        <a:ea typeface="Arial"/>
        <a:cs typeface="Arial"/>
      </a:majorFont>
      <a:minorFont>
        <a:latin typeface="Tahoma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CC4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5">
        <a:dk1>
          <a:srgbClr val="000000"/>
        </a:dk1>
        <a:lt1>
          <a:srgbClr val="FFFFFF"/>
        </a:lt1>
        <a:dk2>
          <a:srgbClr val="0060AF"/>
        </a:dk2>
        <a:lt2>
          <a:srgbClr val="000000"/>
        </a:lt2>
        <a:accent1>
          <a:srgbClr val="F7955A"/>
        </a:accent1>
        <a:accent2>
          <a:srgbClr val="009247"/>
        </a:accent2>
        <a:accent3>
          <a:srgbClr val="FFFFFF"/>
        </a:accent3>
        <a:accent4>
          <a:srgbClr val="000000"/>
        </a:accent4>
        <a:accent5>
          <a:srgbClr val="FAC8B5"/>
        </a:accent5>
        <a:accent6>
          <a:srgbClr val="00843F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rtlCol="0" anchor="ctr"/>
      <a:lstStyle>
        <a:defPPr algn="ctr">
          <a:defRPr/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8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9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0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2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3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4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6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9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5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6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8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9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0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3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32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33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34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35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37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38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39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40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4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42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45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5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52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53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54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55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56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58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59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64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8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6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Campbell11e_LectureDesign</Template>
  <TotalTime>0</TotalTime>
  <Words>21249</Words>
  <Application>WPS Presentation</Application>
  <PresentationFormat>On-screen Show (4:3)</PresentationFormat>
  <Paragraphs>1212</Paragraphs>
  <Slides>98</Slides>
  <Notes>112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41</vt:i4>
      </vt:variant>
      <vt:variant>
        <vt:lpstr>幻灯片标题</vt:lpstr>
      </vt:variant>
      <vt:variant>
        <vt:i4>98</vt:i4>
      </vt:variant>
    </vt:vector>
  </HeadingPairs>
  <TitlesOfParts>
    <vt:vector size="154" baseType="lpstr">
      <vt:lpstr>Arial</vt:lpstr>
      <vt:lpstr>SimSun</vt:lpstr>
      <vt:lpstr>Wingdings</vt:lpstr>
      <vt:lpstr>ヒラギノ角ゴ Pro W3</vt:lpstr>
      <vt:lpstr>Yu Gothic</vt:lpstr>
      <vt:lpstr>Arial</vt:lpstr>
      <vt:lpstr>Times New Roman</vt:lpstr>
      <vt:lpstr>Geneva</vt:lpstr>
      <vt:lpstr>Segoe Print</vt:lpstr>
      <vt:lpstr>MS PGothic</vt:lpstr>
      <vt:lpstr>Times</vt:lpstr>
      <vt:lpstr>ヒラギノ角ゴ Pro W3</vt:lpstr>
      <vt:lpstr>Calibri</vt:lpstr>
      <vt:lpstr>Microsoft YaHei</vt:lpstr>
      <vt:lpstr>Arial Unicode MS</vt:lpstr>
      <vt:lpstr>Campbell11e_LectureDesign</vt:lpstr>
      <vt:lpstr>Blank</vt:lpstr>
      <vt:lpstr>1_Blank</vt:lpstr>
      <vt:lpstr>3_Blank</vt:lpstr>
      <vt:lpstr>8_Blank</vt:lpstr>
      <vt:lpstr>9_Blank</vt:lpstr>
      <vt:lpstr>10_Blank</vt:lpstr>
      <vt:lpstr>11_Blank</vt:lpstr>
      <vt:lpstr>12_Blank</vt:lpstr>
      <vt:lpstr>13_Blank</vt:lpstr>
      <vt:lpstr>14_Blank</vt:lpstr>
      <vt:lpstr>16_Blank</vt:lpstr>
      <vt:lpstr>19_Blank</vt:lpstr>
      <vt:lpstr>25_Blank</vt:lpstr>
      <vt:lpstr>26_Blank</vt:lpstr>
      <vt:lpstr>28_Blank</vt:lpstr>
      <vt:lpstr>29_Blank</vt:lpstr>
      <vt:lpstr>30_Blank</vt:lpstr>
      <vt:lpstr>31_Blank</vt:lpstr>
      <vt:lpstr>32_Blank</vt:lpstr>
      <vt:lpstr>33_Blank</vt:lpstr>
      <vt:lpstr>34_Blank</vt:lpstr>
      <vt:lpstr>35_Blank</vt:lpstr>
      <vt:lpstr>37_Blank</vt:lpstr>
      <vt:lpstr>38_Blank</vt:lpstr>
      <vt:lpstr>39_Blank</vt:lpstr>
      <vt:lpstr>40_Blank</vt:lpstr>
      <vt:lpstr>41_Blank</vt:lpstr>
      <vt:lpstr>42_Blank</vt:lpstr>
      <vt:lpstr>45_Blank</vt:lpstr>
      <vt:lpstr>51_Blank</vt:lpstr>
      <vt:lpstr>52_Blank</vt:lpstr>
      <vt:lpstr>53_Blank</vt:lpstr>
      <vt:lpstr>54_Blank</vt:lpstr>
      <vt:lpstr>55_Blank</vt:lpstr>
      <vt:lpstr>56_Blank</vt:lpstr>
      <vt:lpstr>58_Blank</vt:lpstr>
      <vt:lpstr>59_Blank</vt:lpstr>
      <vt:lpstr>64_Blank</vt:lpstr>
      <vt:lpstr>68_Blank</vt:lpstr>
      <vt:lpstr>76_Blank</vt:lpstr>
      <vt:lpstr>PowerPoint 演示文稿</vt:lpstr>
      <vt:lpstr>Masters of Adaptation</vt:lpstr>
      <vt:lpstr>Figure 27.1</vt:lpstr>
      <vt:lpstr>PowerPoint 演示文稿</vt:lpstr>
      <vt:lpstr>Concept 27.1: Structural and functional adaptations contribute to prokaryotic success</vt:lpstr>
      <vt:lpstr>Figure 27.2</vt:lpstr>
      <vt:lpstr>Cell-Surface Structures</vt:lpstr>
      <vt:lpstr>PowerPoint 演示文稿</vt:lpstr>
      <vt:lpstr>Figure 27.3a</vt:lpstr>
      <vt:lpstr>Figure 27.3b</vt:lpstr>
      <vt:lpstr>Figure 27.3c</vt:lpstr>
      <vt:lpstr>PowerPoint 演示文稿</vt:lpstr>
      <vt:lpstr>Figure 27.4</vt:lpstr>
      <vt:lpstr>Figure 27.5</vt:lpstr>
      <vt:lpstr>PowerPoint 演示文稿</vt:lpstr>
      <vt:lpstr>Figure 27.6</vt:lpstr>
      <vt:lpstr>Motility</vt:lpstr>
      <vt:lpstr>PowerPoint 演示文稿</vt:lpstr>
      <vt:lpstr>Figure 27.7</vt:lpstr>
      <vt:lpstr>Evolutionary Origins of Bacterial Flagella</vt:lpstr>
      <vt:lpstr>PowerPoint 演示文稿</vt:lpstr>
      <vt:lpstr>Internal Organization and DNA</vt:lpstr>
      <vt:lpstr>Figure 27.8</vt:lpstr>
      <vt:lpstr>PowerPoint 演示文稿</vt:lpstr>
      <vt:lpstr>Figure 27.9</vt:lpstr>
      <vt:lpstr>PowerPoint 演示文稿</vt:lpstr>
      <vt:lpstr>Reproduction</vt:lpstr>
      <vt:lpstr>Concept 27.2: Rapid reproduction, mutation, and genetic recombination promote genetic diversity in prokaryotes</vt:lpstr>
      <vt:lpstr>Rapid Reproduction and Mutation</vt:lpstr>
      <vt:lpstr>Genetic Recombination</vt:lpstr>
      <vt:lpstr>Transformation and Transduction</vt:lpstr>
      <vt:lpstr>Figure 27.11_5</vt:lpstr>
      <vt:lpstr>Conjugation and Plasmids</vt:lpstr>
      <vt:lpstr>Figure 27.12</vt:lpstr>
      <vt:lpstr>PowerPoint 演示文稿</vt:lpstr>
      <vt:lpstr>Figure 27.13a_1</vt:lpstr>
      <vt:lpstr>Figure 27.13a_2</vt:lpstr>
      <vt:lpstr>Figure 27.13a_3</vt:lpstr>
      <vt:lpstr>Figure 27.13a_4</vt:lpstr>
      <vt:lpstr>PowerPoint 演示文稿</vt:lpstr>
      <vt:lpstr>Figure 27.13b_1</vt:lpstr>
      <vt:lpstr>Figure 27.13b_2</vt:lpstr>
      <vt:lpstr>Figure 27.13b_3</vt:lpstr>
      <vt:lpstr>Figure 27.13b_4</vt:lpstr>
      <vt:lpstr>PowerPoint 演示文稿</vt:lpstr>
      <vt:lpstr>PowerPoint 演示文稿</vt:lpstr>
      <vt:lpstr>Concept 27.3: Diverse nutritional and metabolic adaptations have evolved in prokaryotes</vt:lpstr>
      <vt:lpstr>PowerPoint 演示文稿</vt:lpstr>
      <vt:lpstr>Table 27.1a</vt:lpstr>
      <vt:lpstr>Table 27.1b</vt:lpstr>
      <vt:lpstr>The Role of Oxygen in Metabolism</vt:lpstr>
      <vt:lpstr>Nitrogen Metabolism</vt:lpstr>
      <vt:lpstr>Metabolic Cooperation</vt:lpstr>
      <vt:lpstr>Figure 27.14</vt:lpstr>
      <vt:lpstr>PowerPoint 演示文稿</vt:lpstr>
      <vt:lpstr>Concept 27.4: Prokaryotes have radiated into a diverse set of lineages</vt:lpstr>
      <vt:lpstr>An Overview of Prokaryotic Diversity</vt:lpstr>
      <vt:lpstr>Figure 27.15</vt:lpstr>
      <vt:lpstr>PowerPoint 演示文稿</vt:lpstr>
      <vt:lpstr>Bacteria</vt:lpstr>
      <vt:lpstr>Figure 27.UN01</vt:lpstr>
      <vt:lpstr>PowerPoint 演示文稿</vt:lpstr>
      <vt:lpstr>Figure 27.16aa</vt:lpstr>
      <vt:lpstr>Figure 27.16a</vt:lpstr>
      <vt:lpstr>PowerPoint 演示文稿</vt:lpstr>
      <vt:lpstr>Figure 27.16ba</vt:lpstr>
      <vt:lpstr>PowerPoint 演示文稿</vt:lpstr>
      <vt:lpstr>Figure 27.16bb</vt:lpstr>
      <vt:lpstr>PowerPoint 演示文稿</vt:lpstr>
      <vt:lpstr>Figure 27.16bc</vt:lpstr>
      <vt:lpstr>PowerPoint 演示文稿</vt:lpstr>
      <vt:lpstr>Figure 27.16bd</vt:lpstr>
      <vt:lpstr>Figure 27.16be</vt:lpstr>
      <vt:lpstr>Archaea</vt:lpstr>
      <vt:lpstr>Figure 27.UN02</vt:lpstr>
      <vt:lpstr>Table 27.2a</vt:lpstr>
      <vt:lpstr>Table 27.2b</vt:lpstr>
      <vt:lpstr>PowerPoint 演示文稿</vt:lpstr>
      <vt:lpstr>PowerPoint 演示文稿</vt:lpstr>
      <vt:lpstr>PowerPoint 演示文稿</vt:lpstr>
      <vt:lpstr>Concept 27.5: Prokaryotes play crucial roles in the biosphere</vt:lpstr>
      <vt:lpstr>Chemical Recycling</vt:lpstr>
      <vt:lpstr>PowerPoint 演示文稿</vt:lpstr>
      <vt:lpstr>PowerPoint 演示文稿</vt:lpstr>
      <vt:lpstr>Ecological Interactions</vt:lpstr>
      <vt:lpstr>PowerPoint 演示文稿</vt:lpstr>
      <vt:lpstr>PowerPoint 演示文稿</vt:lpstr>
      <vt:lpstr>Concept 27.6: Prokaryotes have both beneficial and harmful impacts on humans</vt:lpstr>
      <vt:lpstr>Mutualistic Bacteria</vt:lpstr>
      <vt:lpstr>Pathogenic Bacteria</vt:lpstr>
      <vt:lpstr>Figure 27.20</vt:lpstr>
      <vt:lpstr>PowerPoint 演示文稿</vt:lpstr>
      <vt:lpstr>PowerPoint 演示文稿</vt:lpstr>
      <vt:lpstr>Prokaryotes in Research and Technology</vt:lpstr>
      <vt:lpstr>Figure 27.21</vt:lpstr>
      <vt:lpstr>PowerPoint 演示文稿</vt:lpstr>
      <vt:lpstr>PowerPoint 演示文稿</vt:lpstr>
      <vt:lpstr>Figure 27.UN04</vt:lpstr>
    </vt:vector>
  </TitlesOfParts>
  <Company>Jerome Burg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Jerome Burg</dc:creator>
  <cp:lastModifiedBy>adanalnaamneh</cp:lastModifiedBy>
  <cp:revision>607</cp:revision>
  <dcterms:created xsi:type="dcterms:W3CDTF">2010-08-06T18:35:00Z</dcterms:created>
  <dcterms:modified xsi:type="dcterms:W3CDTF">2023-01-01T20:43:30Z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0CBBDC2FB9CA4C15B897EC6BDAE2C302</vt:lpwstr>
  </property>
  <property fmtid="{D5CDD505-2E9C-101B-9397-08002B2CF9AE}" pid="3" name="KSOProductBuildVer">
    <vt:lpwstr>1033-11.2.0.11440</vt:lpwstr>
  </property>
</Properties>
</file>