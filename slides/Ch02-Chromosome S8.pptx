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" r:id="rId2"/>
    <p:sldId id="258" r:id="rId3"/>
    <p:sldId id="259" r:id="rId4"/>
    <p:sldId id="261" r:id="rId5"/>
    <p:sldId id="265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2" autoAdjust="0"/>
    <p:restoredTop sz="94660"/>
  </p:normalViewPr>
  <p:slideViewPr>
    <p:cSldViewPr>
      <p:cViewPr varScale="1">
        <p:scale>
          <a:sx n="88" d="100"/>
          <a:sy n="88" d="100"/>
        </p:scale>
        <p:origin x="129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8DD2F-4F3C-4F77-B549-F3068E39687C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B6407-D763-4FD3-9120-5438BB3CA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9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FADBB-4D48-4AA0-A00F-1F3E2690F873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890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2D21-717B-4CFB-958A-C354C5A74B03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805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3444-0E15-49CE-B34C-86F8DBDF6D41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34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889C3-0451-4AC1-9C16-D93BC6EE0E21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341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9078F-2B2A-4208-817D-9FC504F05DE9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174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D522-048A-4CC9-B452-711CB76640DE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102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E4BD-1A7F-4FED-B057-EC29CB02A95F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748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F1224-E4BF-4175-A238-1DD6B822B0BD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496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06F51-AE07-4BE4-8060-73DDE7280659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198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EE62-BDFB-4DFF-AE8B-B1C9D98FFF27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310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FDDF-4E8E-4EA5-BDDB-4782F4072496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76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D5E77-A17D-46E7-9514-5DC2AFFE4B5C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635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366" y="2819400"/>
            <a:ext cx="8229600" cy="1143000"/>
          </a:xfrm>
        </p:spPr>
        <p:txBody>
          <a:bodyPr/>
          <a:lstStyle/>
          <a:p>
            <a:r>
              <a:rPr lang="en-US" b="1" dirty="0" smtClean="0"/>
              <a:t>Chromosome Analysis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F858-F9ED-4307-B696-04B1BD6344E5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58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152400"/>
            <a:ext cx="3975928" cy="4962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sz="2400" b="1" dirty="0" smtClean="0"/>
              <a:t>Classic cytogenetic analysis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US" sz="2400" dirty="0" smtClean="0"/>
              <a:t>Plain staining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US" sz="2400" dirty="0" smtClean="0"/>
              <a:t>Giemsa banding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US" sz="2400" dirty="0"/>
              <a:t>Replication </a:t>
            </a:r>
            <a:r>
              <a:rPr lang="en-US" sz="2400" dirty="0" smtClean="0"/>
              <a:t>banding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US" sz="2400" dirty="0" smtClean="0"/>
              <a:t>Constitutive banding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US" sz="2400" dirty="0" smtClean="0"/>
              <a:t>Nucleolar organizing regions staining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US" sz="2400" dirty="0" smtClean="0"/>
              <a:t>Fluorescence in situ hybridization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US" sz="2400" dirty="0" smtClean="0"/>
              <a:t>Comparative genomic hybridization</a:t>
            </a:r>
            <a:endParaRPr lang="en-US" sz="2400" dirty="0"/>
          </a:p>
        </p:txBody>
      </p:sp>
      <p:cxnSp>
        <p:nvCxnSpPr>
          <p:cNvPr id="5" name="Straight Arrow Connector 4"/>
          <p:cNvCxnSpPr>
            <a:stCxn id="15" idx="3"/>
          </p:cNvCxnSpPr>
          <p:nvPr/>
        </p:nvCxnSpPr>
        <p:spPr>
          <a:xfrm flipV="1">
            <a:off x="2362200" y="762000"/>
            <a:ext cx="2286000" cy="76200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18" idx="3"/>
          </p:cNvCxnSpPr>
          <p:nvPr/>
        </p:nvCxnSpPr>
        <p:spPr>
          <a:xfrm>
            <a:off x="2743200" y="1310096"/>
            <a:ext cx="1905000" cy="532055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137728" y="1842151"/>
            <a:ext cx="1622204" cy="1205849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21" idx="3"/>
          </p:cNvCxnSpPr>
          <p:nvPr/>
        </p:nvCxnSpPr>
        <p:spPr>
          <a:xfrm>
            <a:off x="3235932" y="2286000"/>
            <a:ext cx="1524000" cy="1774321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195264" y="3048000"/>
            <a:ext cx="1564668" cy="2165642"/>
          </a:xfrm>
          <a:prstGeom prst="straightConnector1">
            <a:avLst/>
          </a:prstGeom>
          <a:ln w="127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8742-CD6C-41F3-8544-53D7AABDD476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9720"/>
            <a:ext cx="4248436" cy="6758559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20292" y="5455593"/>
            <a:ext cx="480060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/>
              <a:t>FIGURE 2–1 Chromosome pairs 1, 6, 15, 16, and Y and X stained by various techniques: plain stain (a), G-banding (b), replication banding (c), C-banding (d), Ag-NOR stain (e), and Q-banding (f).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" y="609600"/>
            <a:ext cx="2286000" cy="457200"/>
          </a:xfrm>
          <a:prstGeom prst="round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76200" y="1096191"/>
            <a:ext cx="2667000" cy="427809"/>
          </a:xfrm>
          <a:prstGeom prst="round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76200" y="1570808"/>
            <a:ext cx="3048000" cy="457200"/>
          </a:xfrm>
          <a:prstGeom prst="round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99916" y="2057400"/>
            <a:ext cx="3136016" cy="457200"/>
          </a:xfrm>
          <a:prstGeom prst="round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9728" y="2557053"/>
            <a:ext cx="3105536" cy="858303"/>
          </a:xfrm>
          <a:prstGeom prst="round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228600"/>
            <a:ext cx="85344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Microarray analysis</a:t>
            </a:r>
          </a:p>
          <a:p>
            <a:endParaRPr lang="en-US" sz="2400" dirty="0" smtClean="0"/>
          </a:p>
          <a:p>
            <a:r>
              <a:rPr lang="en-US" sz="2400" dirty="0" smtClean="0"/>
              <a:t>Chromosomal microarray is a </a:t>
            </a:r>
            <a:r>
              <a:rPr lang="en-US" sz="2400" dirty="0" smtClean="0">
                <a:solidFill>
                  <a:srgbClr val="0070C0"/>
                </a:solidFill>
              </a:rPr>
              <a:t>first-line clinical diagnostic test </a:t>
            </a:r>
            <a:r>
              <a:rPr lang="en-US" sz="2400" dirty="0" smtClean="0"/>
              <a:t>for individuals with developmental disabilities</a:t>
            </a:r>
          </a:p>
          <a:p>
            <a:endParaRPr lang="en-US" sz="2400" dirty="0"/>
          </a:p>
          <a:p>
            <a:r>
              <a:rPr lang="en-US" sz="2400" u="sng" dirty="0" smtClean="0"/>
              <a:t>Classical cytogenetics is not likely to fade from view. Reasons: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Not all array results can give a definitive construction, and FISH is often necessary to elucidate the cytogenetics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The array cannot detect balanced rearrangements (though whole genome sequencing is being used to address this shortcoming)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r>
              <a:rPr lang="en-US" sz="2400" u="sng" dirty="0" smtClean="0"/>
              <a:t>Two types of microarrays: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Use a CGH approach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Use SNPs to detect the number of alleles in a specimen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B808-3C47-434D-90A3-52D74844BCF5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07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85344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SNP microarray</a:t>
            </a:r>
          </a:p>
          <a:p>
            <a:endParaRPr lang="en-US" sz="2400" b="1" dirty="0" smtClean="0"/>
          </a:p>
          <a:p>
            <a:r>
              <a:rPr lang="en-US" sz="2400" dirty="0" smtClean="0"/>
              <a:t>Heterozygous is distinguished from homozygous and from three alleles</a:t>
            </a:r>
          </a:p>
          <a:p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Homozygosity over a stretch of consecutive SNPs may indicate deletion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Three alleles may indicate trisomy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SNP microarray may detect uniparental </a:t>
            </a:r>
            <a:r>
              <a:rPr lang="en-US" sz="2400" dirty="0"/>
              <a:t>disomy when the child’s results are compared to the </a:t>
            </a:r>
            <a:r>
              <a:rPr lang="en-US" sz="2400" dirty="0" smtClean="0"/>
              <a:t>parental genotypes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Isodisomy may be revealed, in the absence of parental samples, when the entire chromosome shows homozygosity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B6DE-7389-4E39-B6A7-FF58A3783927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4800"/>
            <a:ext cx="7343775" cy="4657725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152400" y="5136575"/>
            <a:ext cx="8915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FIGURE 2–2 </a:t>
            </a:r>
            <a:r>
              <a:rPr lang="en-US" sz="1200" b="1" dirty="0"/>
              <a:t>Interpretation of </a:t>
            </a:r>
            <a:r>
              <a:rPr lang="en-US" sz="1200" b="1" dirty="0" err="1" smtClean="0"/>
              <a:t>ArrayCGH</a:t>
            </a:r>
            <a:r>
              <a:rPr lang="en-US" sz="1200" b="1" dirty="0" smtClean="0"/>
              <a:t> </a:t>
            </a:r>
            <a:r>
              <a:rPr lang="en-US" sz="1200" b="1" dirty="0"/>
              <a:t>compared with SNP array</a:t>
            </a:r>
            <a:r>
              <a:rPr lang="en-US" sz="1200" dirty="0"/>
              <a:t>. (a) In </a:t>
            </a:r>
            <a:r>
              <a:rPr lang="en-US" sz="1200" dirty="0" err="1"/>
              <a:t>ArrayCGH</a:t>
            </a:r>
            <a:r>
              <a:rPr lang="en-US" sz="1200" dirty="0"/>
              <a:t>, the signal between the test and reference sample is converted to a log ratio (gray dots) which acts as a proxy for copy number. An increase in log ratio represents a gain in copy number. (b) SNP arrays generate log ratio (black line) by comparing the signal intensities between different SNPs analyzed and offer an additional metric, the </a:t>
            </a:r>
            <a:r>
              <a:rPr lang="en-US" sz="1200" dirty="0">
                <a:solidFill>
                  <a:srgbClr val="FF0000"/>
                </a:solidFill>
              </a:rPr>
              <a:t>B allele frequency (BAF)</a:t>
            </a:r>
            <a:r>
              <a:rPr lang="en-US" sz="1200" dirty="0"/>
              <a:t> (gray dots). The BAF is the component of the total allele signal (A + B) explained by a single allele (A): A BAF of 0 represents the genotype A/A or A/–, a BAF of 0.5 represents the genotype A/B, and a BAF of 1 represents the genotype B/B or B/–. Deletions result in the loss of heterozygous (A/B) genotypes, whereas duplications result in a separation of heterozygous genotypes into AA/B and A/BB. The BAF also allows for the detection of copy number neutral abnormalities such as uniparental disomy and identity by descent (IBD) which appear as absence of heterozygous (A/B) genotypes without change to the log ratio</a:t>
            </a:r>
          </a:p>
        </p:txBody>
      </p:sp>
    </p:spTree>
    <p:extLst>
      <p:ext uri="{BB962C8B-B14F-4D97-AF65-F5344CB8AC3E}">
        <p14:creationId xmlns:p14="http://schemas.microsoft.com/office/powerpoint/2010/main" val="1549107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3326" y="381000"/>
            <a:ext cx="8305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PCR-based applications</a:t>
            </a:r>
          </a:p>
          <a:p>
            <a:endParaRPr lang="en-US" sz="2800" dirty="0" smtClean="0"/>
          </a:p>
          <a:p>
            <a:r>
              <a:rPr lang="en-US" sz="2800" b="1" dirty="0" smtClean="0"/>
              <a:t>QF-PCR</a:t>
            </a:r>
            <a:r>
              <a:rPr lang="en-US" sz="2800" dirty="0" smtClean="0"/>
              <a:t> and </a:t>
            </a:r>
            <a:r>
              <a:rPr lang="en-US" sz="2800" b="1" dirty="0" smtClean="0"/>
              <a:t>MLPA</a:t>
            </a:r>
            <a:r>
              <a:rPr lang="en-US" sz="2800" dirty="0" smtClean="0"/>
              <a:t> are targeted approaches to assess DNA copy number</a:t>
            </a:r>
          </a:p>
          <a:p>
            <a:endParaRPr lang="en-US" sz="2800" dirty="0" smtClean="0"/>
          </a:p>
          <a:p>
            <a:endParaRPr lang="en-US" sz="2800" dirty="0"/>
          </a:p>
          <a:p>
            <a:r>
              <a:rPr lang="en-US" sz="2800" b="1" dirty="0" smtClean="0"/>
              <a:t>Next generation sequencing</a:t>
            </a:r>
          </a:p>
          <a:p>
            <a:r>
              <a:rPr lang="en-US" sz="2800" dirty="0" smtClean="0"/>
              <a:t>Massively parallel genomic next generation sequencing</a:t>
            </a:r>
          </a:p>
          <a:p>
            <a:endParaRPr lang="en-US" sz="2800" dirty="0" smtClean="0"/>
          </a:p>
          <a:p>
            <a:r>
              <a:rPr lang="en-US" sz="2800" dirty="0" smtClean="0"/>
              <a:t>Expected a single NGS-based test will generate both copy-number and sequence data, and will become the first-line test for the investigation of children with developmental disabilities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57FB9-BD5D-4CAE-B3A3-7B47ECC751AD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2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2CA7E-E89B-415B-9917-892BCFEABFFB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125839"/>
            <a:ext cx="891540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Chromosomal findings from molecular analyses are often presented in an intuitive pictorial form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11" y="1153741"/>
            <a:ext cx="7839075" cy="3781425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457200" y="5132072"/>
            <a:ext cx="838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2–3 Plot of chromosome 22 in a patient with a 22q11 deletion performed using an oligonucleotide-based array with comparative genomic hybridization. The deletion is indicated by the shaded area, which reflects a deviation from the log2 ratio of 1 (equal to zero). Distal to the classic DiGeorge deletion is a common copy number variant (CNV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1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E4BD-1A7F-4FED-B057-EC29CB02A95F}" type="datetime12">
              <a:rPr lang="en-US" smtClean="0">
                <a:solidFill>
                  <a:prstClr val="black">
                    <a:tint val="75000"/>
                  </a:prstClr>
                </a:solidFill>
              </a:rPr>
              <a:t>11:48 AM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609600"/>
            <a:ext cx="8534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Higher resolution strategies may uncover DNA changes of </a:t>
            </a:r>
            <a:r>
              <a:rPr lang="en-US" sz="2800" dirty="0" smtClean="0">
                <a:solidFill>
                  <a:srgbClr val="FF0000"/>
                </a:solidFill>
              </a:rPr>
              <a:t>unclear clinical significance</a:t>
            </a:r>
            <a:r>
              <a:rPr lang="en-US" sz="2800" dirty="0" smtClean="0"/>
              <a:t>, or </a:t>
            </a:r>
            <a:r>
              <a:rPr lang="en-US" sz="2800" dirty="0" smtClean="0">
                <a:solidFill>
                  <a:srgbClr val="FF0000"/>
                </a:solidFill>
              </a:rPr>
              <a:t>unwanted information</a:t>
            </a:r>
            <a:r>
              <a:rPr lang="en-US" sz="2800" dirty="0" smtClean="0"/>
              <a:t>, such as loci that could predispose to cancer or adult-onset disorders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995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597</Words>
  <Application>Microsoft Office PowerPoint</Application>
  <PresentationFormat>On-screen Show (4:3)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1_Office Theme</vt:lpstr>
      <vt:lpstr>Chromosome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Elements of Medical Cytogenetics</dc:title>
  <dc:creator>alkhateeb</dc:creator>
  <cp:lastModifiedBy>JUST</cp:lastModifiedBy>
  <cp:revision>46</cp:revision>
  <dcterms:created xsi:type="dcterms:W3CDTF">2012-02-12T18:36:42Z</dcterms:created>
  <dcterms:modified xsi:type="dcterms:W3CDTF">2023-03-04T08:48:28Z</dcterms:modified>
</cp:coreProperties>
</file>