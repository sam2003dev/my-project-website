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53"/>
  </p:notesMasterIdLst>
  <p:sldIdLst>
    <p:sldId id="256" r:id="rId4"/>
    <p:sldId id="298" r:id="rId5"/>
    <p:sldId id="299" r:id="rId6"/>
    <p:sldId id="300" r:id="rId7"/>
    <p:sldId id="301" r:id="rId8"/>
    <p:sldId id="257" r:id="rId9"/>
    <p:sldId id="259" r:id="rId10"/>
    <p:sldId id="260" r:id="rId11"/>
    <p:sldId id="262" r:id="rId12"/>
    <p:sldId id="266" r:id="rId13"/>
    <p:sldId id="267" r:id="rId14"/>
    <p:sldId id="287" r:id="rId15"/>
    <p:sldId id="268" r:id="rId16"/>
    <p:sldId id="269" r:id="rId17"/>
    <p:sldId id="270" r:id="rId18"/>
    <p:sldId id="286" r:id="rId19"/>
    <p:sldId id="271" r:id="rId20"/>
    <p:sldId id="272" r:id="rId21"/>
    <p:sldId id="273" r:id="rId22"/>
    <p:sldId id="274" r:id="rId23"/>
    <p:sldId id="275" r:id="rId24"/>
    <p:sldId id="281" r:id="rId25"/>
    <p:sldId id="282" r:id="rId26"/>
    <p:sldId id="303" r:id="rId27"/>
    <p:sldId id="305" r:id="rId28"/>
    <p:sldId id="307" r:id="rId29"/>
    <p:sldId id="284" r:id="rId30"/>
    <p:sldId id="308" r:id="rId31"/>
    <p:sldId id="309" r:id="rId32"/>
    <p:sldId id="311" r:id="rId33"/>
    <p:sldId id="313" r:id="rId34"/>
    <p:sldId id="315" r:id="rId35"/>
    <p:sldId id="317" r:id="rId36"/>
    <p:sldId id="319" r:id="rId37"/>
    <p:sldId id="321" r:id="rId38"/>
    <p:sldId id="323" r:id="rId39"/>
    <p:sldId id="325" r:id="rId40"/>
    <p:sldId id="327" r:id="rId41"/>
    <p:sldId id="329" r:id="rId42"/>
    <p:sldId id="331" r:id="rId43"/>
    <p:sldId id="288" r:id="rId44"/>
    <p:sldId id="289" r:id="rId45"/>
    <p:sldId id="290" r:id="rId46"/>
    <p:sldId id="291" r:id="rId47"/>
    <p:sldId id="292" r:id="rId48"/>
    <p:sldId id="293" r:id="rId49"/>
    <p:sldId id="297" r:id="rId50"/>
    <p:sldId id="294" r:id="rId51"/>
    <p:sldId id="295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4" autoAdjust="0"/>
    <p:restoredTop sz="94660"/>
  </p:normalViewPr>
  <p:slideViewPr>
    <p:cSldViewPr>
      <p:cViewPr varScale="1">
        <p:scale>
          <a:sx n="82" d="100"/>
          <a:sy n="82" d="100"/>
        </p:scale>
        <p:origin x="148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CE5F74-D61F-4BC4-BA7D-1ABA67BD00B8}" type="datetimeFigureOut">
              <a:rPr lang="en-US"/>
              <a:pPr>
                <a:defRPr/>
              </a:pPr>
              <a:t>3/27/2024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1AD4144-F442-4EEE-BBA4-3D9D83E2E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6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Figure 39.5 Inquiry: What part of a grass coleoptile senses light, and how is the signal transmitted?</a:t>
            </a:r>
          </a:p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Figure 39.5c Inquiry: What part of a grass coleoptile senses light, and how is the signal transmitted? (part 3: Boysen-Jensen)</a:t>
            </a:r>
          </a:p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Figure 39.7 Cell elongation in response to auxin: the acid growth hypothesis</a:t>
            </a:r>
          </a:p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Figure 39.9a Effects of gibberellins on stem elongation and fruit growth (part 1: bolting)</a:t>
            </a:r>
          </a:p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Figure 39.10 Mobilization of nutrients by gibberellins during the germination of grain seeds such as barley</a:t>
            </a:r>
          </a:p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871E1B9-22F0-40E2-9255-498F8FF895B6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32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B8FA2E0-53F1-4C3F-8748-0BBF278E6100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33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507508D-F073-426A-9D09-341D94C4984E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34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BB0253D-C81A-4D48-A405-CADEFEE9EB12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35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F891327-D756-4971-ADA6-7676066849E0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36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7AABDB9-BF9C-4165-9F32-A2CD01AB77D8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37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CFE5EA9-6C36-4824-B3AC-61D8DC35BC11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38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15084A9-434B-4A8B-AE3C-B033E2656CBB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39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6513DC9-2156-414A-A98E-7F1B4F31A7E0}" type="slidenum">
              <a:rPr lang="en-US" altLang="en-US" smtClean="0">
                <a:ea typeface="ヒラギノ角ゴ Pro W3"/>
                <a:cs typeface="Arial" pitchFamily="34" charset="0"/>
              </a:rPr>
              <a:pPr eaLnBrk="1" hangingPunct="1"/>
              <a:t>40</a:t>
            </a:fld>
            <a:endParaRPr lang="en-US" altLang="en-US" smtClean="0">
              <a:ea typeface="ヒラギノ角ゴ Pro W3"/>
              <a:cs typeface="Arial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latin typeface="Arial" pitchFamily="34" charset="0"/>
              </a:rPr>
              <a:t>Figure 16.2 Inquiry: Can a genetic trait be transferred between different bacterial strains?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669B8-E8A9-489D-AA1D-F134ED50B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368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231E8-9C2E-4783-A44A-5D6CBC0DD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0983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E2164-6F6C-41CC-8C6B-FD662C0210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7641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76AFA-84C4-483D-98C9-7592234641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4504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7872C-96D0-49FC-970D-A534DDE77E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0567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DD151-9289-4EE1-B673-768C364DF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6807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059BF-A90E-4A2F-8B95-EF6616272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1472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3033C-71BD-4C54-9D0F-55592A8F9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319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B0D8E-4D0D-4E88-9380-1B9729397D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0815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58483-1386-4294-B791-E167E0FFB5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3967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0798F-40D1-48A4-8DFE-5729C91372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4003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6675" y="6586538"/>
            <a:ext cx="3086100" cy="233362"/>
          </a:xfrm>
        </p:spPr>
        <p:txBody>
          <a:bodyPr rtlCol="0" anchor="ctr"/>
          <a:lstStyle>
            <a:lvl1pPr algn="l">
              <a:defRPr sz="900" dirty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701076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411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49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34C28095-ECDF-41E7-818C-A7D5326B2E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90" r:id="rId12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2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Placeholder 1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757863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1"/>
          <p:cNvSpPr>
            <a:spLocks noGrp="1"/>
          </p:cNvSpPr>
          <p:nvPr>
            <p:ph type="body" idx="1"/>
          </p:nvPr>
        </p:nvSpPr>
        <p:spPr bwMode="auto">
          <a:xfrm>
            <a:off x="0" y="0"/>
            <a:ext cx="5757863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file:///D:\Manjubharkavi\Production\August\13-Aug\CH%2039%20Cample\JPEG%20FILES\Unlabeled\39_05_ColeoptileSense-U.jp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file:///D:\Manjubharkavi\Production\August\13-Aug\CH%2039%20Cample\JPEG%20FILES\Unlabeled\39_05cColeoptileSense-U.jp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file:///D:\Manjubharkavi\Production\August\13-Aug\CH%2039%20Cample\JPEG%20FILES\Unlabeled\39_09aGibberellinEffects-U.jp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file:///D:\Manjubharkavi\Production\August\13-Aug\CH%2039%20Cample\JPEG%20FILES\Unlabeled\39_10GrainGermination-U.jpg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file:///D:\2016\Oct\02-Oct\Chapter%2016\Unlabeled\16_02GriffithExperiment-U.jpg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smtClean="0">
                <a:latin typeface="Times New Roman" pitchFamily="18" charset="0"/>
              </a:rPr>
              <a:t> HISTORY OF PLANT BIOTECHNOLOGY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991600" cy="581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Plant breeding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Humans domesticate crops.</a:t>
            </a:r>
          </a:p>
          <a:p>
            <a:pPr>
              <a:defRPr/>
            </a:pPr>
            <a:r>
              <a:rPr lang="en-US" dirty="0"/>
              <a:t>•   Breed plants to further improve desirable</a:t>
            </a:r>
          </a:p>
          <a:p>
            <a:pPr>
              <a:defRPr/>
            </a:pPr>
            <a:r>
              <a:rPr lang="en-US" dirty="0"/>
              <a:t>    Characteristics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"biotechnology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was first used in 1917 to describe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using living organisms to make a product or run a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process, such as industrial fermentations. In fact,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 began when humans started to plant their own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crops, domesticate animals, ferment juice into wine, make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cheese, and leaven bread.</a:t>
            </a:r>
          </a:p>
          <a:p>
            <a:pPr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definition of biotechnology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“Any technological application that uses biological systems,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organisms, or derivatives theory, to make or modify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or processes for specific use’’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17675"/>
            <a:ext cx="5638800" cy="4227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171" name="TextBox 3"/>
          <p:cNvSpPr txBox="1">
            <a:spLocks noChangeArrowheads="1"/>
          </p:cNvSpPr>
          <p:nvPr/>
        </p:nvSpPr>
        <p:spPr bwMode="auto">
          <a:xfrm>
            <a:off x="1893888" y="381000"/>
            <a:ext cx="5192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Plant breeding 12,000 years ago 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2027238"/>
            <a:ext cx="3108325" cy="2505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027238"/>
            <a:ext cx="2962275" cy="2505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196" name="TextBox 1"/>
          <p:cNvSpPr txBox="1">
            <a:spLocks noChangeArrowheads="1"/>
          </p:cNvSpPr>
          <p:nvPr/>
        </p:nvSpPr>
        <p:spPr bwMode="auto">
          <a:xfrm>
            <a:off x="685800" y="228600"/>
            <a:ext cx="8286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Bread-making wheat grown in Egypt, rice cultivated in China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12950"/>
            <a:ext cx="5562600" cy="3086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219" name="TextBox 1"/>
          <p:cNvSpPr txBox="1">
            <a:spLocks noChangeArrowheads="1"/>
          </p:cNvSpPr>
          <p:nvPr/>
        </p:nvSpPr>
        <p:spPr bwMode="auto">
          <a:xfrm>
            <a:off x="1752600" y="838200"/>
            <a:ext cx="60198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Artificial selection of kernel</a:t>
            </a:r>
          </a:p>
          <a:p>
            <a:pPr eaLnBrk="1" hangingPunct="1"/>
            <a:r>
              <a:rPr lang="en-US" altLang="en-US"/>
              <a:t>oil content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Plant Biotechnology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257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Plant biotechnology is founded on the principles of cellular </a:t>
            </a:r>
            <a:r>
              <a:rPr lang="en-US" altLang="en-US" dirty="0" err="1" smtClean="0">
                <a:latin typeface="Times New Roman" pitchFamily="18" charset="0"/>
              </a:rPr>
              <a:t>totipotency</a:t>
            </a:r>
            <a:r>
              <a:rPr lang="en-US" altLang="en-US" dirty="0" smtClean="0">
                <a:latin typeface="Times New Roman" pitchFamily="18" charset="0"/>
              </a:rPr>
              <a:t> and genetic transformation.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Traced back to the Cell Theory of </a:t>
            </a:r>
            <a:r>
              <a:rPr lang="en-US" altLang="en-US" dirty="0" err="1" smtClean="0">
                <a:latin typeface="Times New Roman" pitchFamily="18" charset="0"/>
              </a:rPr>
              <a:t>M.J.Schleiden</a:t>
            </a:r>
            <a:r>
              <a:rPr lang="en-US" altLang="en-US" dirty="0" smtClean="0">
                <a:latin typeface="Times New Roman" pitchFamily="18" charset="0"/>
              </a:rPr>
              <a:t> and </a:t>
            </a:r>
            <a:r>
              <a:rPr lang="en-US" altLang="en-US" dirty="0" err="1" smtClean="0">
                <a:latin typeface="Times New Roman" pitchFamily="18" charset="0"/>
              </a:rPr>
              <a:t>T.Schwann</a:t>
            </a:r>
            <a:r>
              <a:rPr lang="en-US" altLang="en-US" dirty="0" smtClean="0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Discovery of the genetic transformation in bacteria by Frederick Griffith.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Plant biotechnology</a:t>
            </a:r>
          </a:p>
          <a:p>
            <a:pPr eaLnBrk="1" hangingPunct="1"/>
            <a:r>
              <a:rPr lang="en-US" altLang="en-US" sz="2400" dirty="0" smtClean="0">
                <a:latin typeface="Times New Roman" pitchFamily="18" charset="0"/>
              </a:rPr>
              <a:t>“Plant biotechnology describes a precise process in which scientific techniques are used to develop useful and beneficial plants’’</a:t>
            </a:r>
          </a:p>
          <a:p>
            <a:pPr eaLnBrk="1" hangingPunct="1"/>
            <a:endParaRPr lang="en-US" altLang="en-US" dirty="0" smtClean="0">
              <a:latin typeface="Times New Roman" pitchFamily="18" charset="0"/>
            </a:endParaRPr>
          </a:p>
          <a:p>
            <a:pPr eaLnBrk="1" hangingPunct="1"/>
            <a:endParaRPr lang="en-US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Introduction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Eighteenth Jan 1983, three independent groups described </a:t>
            </a:r>
            <a:r>
              <a:rPr lang="en-US" altLang="en-US" i="1" smtClean="0">
                <a:latin typeface="Times New Roman" pitchFamily="18" charset="0"/>
              </a:rPr>
              <a:t>Agrobacterium tumefaciens-</a:t>
            </a:r>
            <a:r>
              <a:rPr lang="en-US" altLang="en-US" smtClean="0">
                <a:latin typeface="Times New Roman" pitchFamily="18" charset="0"/>
              </a:rPr>
              <a:t>mediated genetic transformation, leading to the production of normal, fertile transgenic plants.</a:t>
            </a: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Introduced a bacterial antibiotic resistance gene into tobacco.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Objective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Scientists believe that the new technology would allow introduction of agronomically important genes into crop species that are susceptible to agro-bacterial infections.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THE CELL THEORY</a:t>
            </a:r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Schleiden &amp; Schwann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Schleiden (1838):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Every plant and animal is “an aggregate of fully individualized, independent, separate beings”, that is, cell.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Schwann (1839):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“Some of these elementary parts (cells) which do not differ from others, are capable of being separated from the organism and continuing to grow independently.”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Cell Theory: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All living things are composed of cells. 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Cells are the basic unit of structure and function in living things. 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Cells arise from pre-existing cells. 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Virchow (1858):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“Where a cell arises, there must have been a cell before, even as an animal can come from nothing but an animal, a plant from nothing but a plant…nor can any developed tissue be traced back to anything but a cell”</a:t>
            </a:r>
            <a:r>
              <a:rPr lang="en-US" altLang="en-US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Revival of Cell Theory: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Interest in the Cell Theory was revived in 1858 by the famous aphorism of Ludwig Karl Virchow: </a:t>
            </a:r>
          </a:p>
          <a:p>
            <a:pPr eaLnBrk="1" hangingPunct="1">
              <a:buFontTx/>
              <a:buNone/>
            </a:pPr>
            <a:r>
              <a:rPr lang="en-US" altLang="en-US" smtClean="0">
                <a:latin typeface="Times New Roman" pitchFamily="18" charset="0"/>
              </a:rPr>
              <a:t>     “Omnis cellula a cellula” (all cells arise from cells). </a:t>
            </a: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He determined that diseased cells always arose from healthy cells, and rejected the prevailing view of spontaneous generation.</a:t>
            </a:r>
            <a:r>
              <a:rPr lang="en-US" altLang="en-US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Revival of Cell Theory: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Herman Vöchting (1878),  attempted to demonstrate totipotency experimentally by dissecting and growing smaller and smaller fragments of plant tissues. 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TOTIPOTENCY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Gottlieb  Haberlandt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smtClean="0">
                <a:latin typeface="Times New Roman" pitchFamily="18" charset="0"/>
              </a:rPr>
              <a:t>Totipotency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Totipotency is the ability of a single cell to divide and produce all the differentiated cells in an organism, including extra embryonic tissues. 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Totipotency of Plant Cell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525963"/>
          </a:xfrm>
        </p:spPr>
        <p:txBody>
          <a:bodyPr/>
          <a:lstStyle/>
          <a:p>
            <a:pPr eaLnBrk="1" hangingPunct="1">
              <a:buSzPct val="95000"/>
              <a:buFont typeface="Wingdings" pitchFamily="2" charset="2"/>
              <a:buNone/>
            </a:pPr>
            <a:endParaRPr lang="en-US" altLang="en-US" sz="2400" smtClean="0">
              <a:latin typeface="Times New Roman" pitchFamily="18" charset="0"/>
            </a:endParaRP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Gottlieb Haberlandt was the first to try to obtain experimental evidence of totipotency by culturing plant cells in nutrient solutions in hope of regenerating whole plants.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 smtClean="0"/>
              <a:t>Gottlieb Haberlandt Experiment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eaLnBrk="1" hangingPunct="1">
              <a:buSzPct val="95000"/>
              <a:buFont typeface="Wingdings" pitchFamily="2" charset="2"/>
              <a:buNone/>
            </a:pPr>
            <a:endParaRPr lang="en-US" altLang="en-US" sz="2400" smtClean="0">
              <a:latin typeface="Times New Roman" pitchFamily="18" charset="0"/>
            </a:endParaRP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He cultured chloroplast containing differentiated cells from leaves of Lamium purpureum in Knop’s solution in hanging drop cultures.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3581400"/>
          </a:xfrm>
        </p:spPr>
        <p:txBody>
          <a:bodyPr/>
          <a:lstStyle/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The cells grew in size but did not undergo any cell divisions. eventually the cultures were lost to infection.</a:t>
            </a:r>
          </a:p>
          <a:p>
            <a:pPr eaLnBrk="1" hangingPunct="1">
              <a:buSzPct val="95000"/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He failed largely because of his unfortunate choice of experimental material, and because of inadequacy of nutrition provided by Knop’s salt solution.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914400"/>
          </a:xfrm>
        </p:spPr>
        <p:txBody>
          <a:bodyPr/>
          <a:lstStyle/>
          <a:p>
            <a:pPr eaLnBrk="1" hangingPunct="1"/>
            <a:r>
              <a:rPr lang="en-US" altLang="en-US" sz="3600" b="1" smtClean="0">
                <a:latin typeface="Times New Roman" pitchFamily="18" charset="0"/>
              </a:rPr>
              <a:t>Predictions made by Gottlieb Haberlandt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SzPct val="95000"/>
            </a:pPr>
            <a:r>
              <a:rPr lang="en-US" altLang="en-US" sz="2800" smtClean="0">
                <a:latin typeface="Times New Roman" pitchFamily="18" charset="0"/>
              </a:rPr>
              <a:t> </a:t>
            </a:r>
            <a:r>
              <a:rPr lang="en-US" altLang="en-US" smtClean="0">
                <a:latin typeface="Times New Roman" pitchFamily="18" charset="0"/>
              </a:rPr>
              <a:t>He advocated the use of embryo sac fluids(Coenocytic liquid endosperm, such as coconut milk that was later used in tissue culture).</a:t>
            </a:r>
          </a:p>
          <a:p>
            <a:pPr eaLnBrk="1" hangingPunct="1">
              <a:buSzPct val="95000"/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Inducing cell divisions in vegetative cells.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4000" b="1" smtClean="0">
                <a:latin typeface="Times New Roman" pitchFamily="18" charset="0"/>
              </a:rPr>
              <a:t>Discovery of Plant Growth Substances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068763"/>
          </a:xfrm>
        </p:spPr>
        <p:txBody>
          <a:bodyPr/>
          <a:lstStyle/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Charles Darwin(1880) was one of the first to observe and describe the curvature of seedlings towards light.</a:t>
            </a: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Effect could be prevented by covering the tip of the colioptile.</a:t>
            </a: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The hormone later to be identified as naturally occurring auxin,IAA.</a:t>
            </a:r>
          </a:p>
          <a:p>
            <a:pPr eaLnBrk="1" hangingPunct="1">
              <a:buSzPct val="95000"/>
              <a:buFont typeface="Wingdings" pitchFamily="2" charset="2"/>
              <a:buChar char="q"/>
            </a:pPr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Auxins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30480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Auxins</a:t>
            </a:r>
            <a:r>
              <a:rPr lang="en-US" altLang="en-US" smtClean="0"/>
              <a:t> are a class of plant growth substance (often called phytohormone or plant hormone). Auxins play an essential role in coordination of many growth and behavioral processes in the plant life cycle.</a:t>
            </a:r>
          </a:p>
        </p:txBody>
      </p:sp>
      <p:sp>
        <p:nvSpPr>
          <p:cNvPr id="27652" name="TextBox 1"/>
          <p:cNvSpPr txBox="1">
            <a:spLocks noChangeArrowheads="1"/>
          </p:cNvSpPr>
          <p:nvPr/>
        </p:nvSpPr>
        <p:spPr bwMode="auto">
          <a:xfrm>
            <a:off x="1600200" y="5334000"/>
            <a:ext cx="6400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https://www.youtube.com/watch?v=AJ4OY9Jg5Kc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 descr="D:\Manjubharkavi\Production\August\13-Aug\CH 39 Cample\JPEG FILES\Unlabeled\39_05_ColeoptileSense-U.jpg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 bwMode="auto">
          <a:xfrm>
            <a:off x="298450" y="212725"/>
            <a:ext cx="854710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39.5</a:t>
            </a:r>
          </a:p>
        </p:txBody>
      </p:sp>
      <p:sp>
        <p:nvSpPr>
          <p:cNvPr id="28676" name="TextBox 2"/>
          <p:cNvSpPr txBox="1">
            <a:spLocks noChangeArrowheads="1"/>
          </p:cNvSpPr>
          <p:nvPr/>
        </p:nvSpPr>
        <p:spPr bwMode="auto">
          <a:xfrm>
            <a:off x="320675" y="212725"/>
            <a:ext cx="74136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C36F46"/>
                </a:solidFill>
                <a:ea typeface="ヒラギノ角ゴ Pro W3"/>
                <a:cs typeface="ヒラギノ角ゴ Pro W3"/>
              </a:rPr>
              <a:t>Results</a:t>
            </a:r>
          </a:p>
        </p:txBody>
      </p:sp>
      <p:sp>
        <p:nvSpPr>
          <p:cNvPr id="28677" name="TextBox 3"/>
          <p:cNvSpPr txBox="1">
            <a:spLocks noChangeArrowheads="1"/>
          </p:cNvSpPr>
          <p:nvPr/>
        </p:nvSpPr>
        <p:spPr bwMode="auto">
          <a:xfrm>
            <a:off x="330200" y="560388"/>
            <a:ext cx="730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Control</a:t>
            </a:r>
          </a:p>
        </p:txBody>
      </p:sp>
      <p:sp>
        <p:nvSpPr>
          <p:cNvPr id="28678" name="TextBox 4"/>
          <p:cNvSpPr txBox="1">
            <a:spLocks noChangeArrowheads="1"/>
          </p:cNvSpPr>
          <p:nvPr/>
        </p:nvSpPr>
        <p:spPr bwMode="auto">
          <a:xfrm>
            <a:off x="4048125" y="719138"/>
            <a:ext cx="73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Shaded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side</a:t>
            </a:r>
          </a:p>
        </p:txBody>
      </p:sp>
      <p:sp>
        <p:nvSpPr>
          <p:cNvPr id="28679" name="TextBox 6"/>
          <p:cNvSpPr txBox="1">
            <a:spLocks noChangeArrowheads="1"/>
          </p:cNvSpPr>
          <p:nvPr/>
        </p:nvSpPr>
        <p:spPr bwMode="auto">
          <a:xfrm>
            <a:off x="736600" y="1503363"/>
            <a:ext cx="5016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Light</a:t>
            </a:r>
          </a:p>
        </p:txBody>
      </p:sp>
      <p:sp>
        <p:nvSpPr>
          <p:cNvPr id="28680" name="TextBox 7"/>
          <p:cNvSpPr txBox="1">
            <a:spLocks noChangeArrowheads="1"/>
          </p:cNvSpPr>
          <p:nvPr/>
        </p:nvSpPr>
        <p:spPr bwMode="auto">
          <a:xfrm>
            <a:off x="2620963" y="2071688"/>
            <a:ext cx="1085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Illuminated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side</a:t>
            </a:r>
          </a:p>
        </p:txBody>
      </p:sp>
      <p:sp>
        <p:nvSpPr>
          <p:cNvPr id="28681" name="TextBox 9"/>
          <p:cNvSpPr txBox="1">
            <a:spLocks noChangeArrowheads="1"/>
          </p:cNvSpPr>
          <p:nvPr/>
        </p:nvSpPr>
        <p:spPr bwMode="auto">
          <a:xfrm>
            <a:off x="325438" y="3279775"/>
            <a:ext cx="18494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Darwin and Darwin</a:t>
            </a:r>
          </a:p>
        </p:txBody>
      </p:sp>
      <p:sp>
        <p:nvSpPr>
          <p:cNvPr id="28682" name="TextBox 10"/>
          <p:cNvSpPr txBox="1">
            <a:spLocks noChangeArrowheads="1"/>
          </p:cNvSpPr>
          <p:nvPr/>
        </p:nvSpPr>
        <p:spPr bwMode="auto">
          <a:xfrm>
            <a:off x="5270500" y="3279775"/>
            <a:ext cx="151447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Boysen-Jensen</a:t>
            </a:r>
          </a:p>
        </p:txBody>
      </p:sp>
      <p:sp>
        <p:nvSpPr>
          <p:cNvPr id="28683" name="TextBox 11"/>
          <p:cNvSpPr txBox="1">
            <a:spLocks noChangeArrowheads="1"/>
          </p:cNvSpPr>
          <p:nvPr/>
        </p:nvSpPr>
        <p:spPr bwMode="auto">
          <a:xfrm>
            <a:off x="325438" y="4170363"/>
            <a:ext cx="5016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Light</a:t>
            </a:r>
          </a:p>
        </p:txBody>
      </p:sp>
      <p:sp>
        <p:nvSpPr>
          <p:cNvPr id="28684" name="TextBox 12"/>
          <p:cNvSpPr txBox="1">
            <a:spLocks noChangeArrowheads="1"/>
          </p:cNvSpPr>
          <p:nvPr/>
        </p:nvSpPr>
        <p:spPr bwMode="auto">
          <a:xfrm>
            <a:off x="5270500" y="4170363"/>
            <a:ext cx="5016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013" y="5160963"/>
            <a:ext cx="828675" cy="487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91440" eaLnBrk="0" fontAlgn="auto" hangingPunc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50" b="1" dirty="0">
                <a:solidFill>
                  <a:srgbClr val="000000"/>
                </a:solidFill>
                <a:latin typeface="Arial"/>
                <a:ea typeface="ヒラギノ角ゴ Pro W3" charset="-128"/>
              </a:rPr>
              <a:t>Tip</a:t>
            </a:r>
          </a:p>
          <a:p>
            <a:pPr eaLnBrk="0" fontAlgn="auto" hangingPunc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50" b="1" dirty="0">
                <a:solidFill>
                  <a:srgbClr val="000000"/>
                </a:solidFill>
                <a:latin typeface="Arial"/>
                <a:ea typeface="ヒラギノ角ゴ Pro W3" charset="-128"/>
              </a:rPr>
              <a:t>removed</a:t>
            </a:r>
          </a:p>
        </p:txBody>
      </p:sp>
      <p:sp>
        <p:nvSpPr>
          <p:cNvPr id="28686" name="TextBox 15"/>
          <p:cNvSpPr txBox="1">
            <a:spLocks noChangeArrowheads="1"/>
          </p:cNvSpPr>
          <p:nvPr/>
        </p:nvSpPr>
        <p:spPr bwMode="auto">
          <a:xfrm>
            <a:off x="1809750" y="5167313"/>
            <a:ext cx="763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Opaque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cap</a:t>
            </a:r>
          </a:p>
        </p:txBody>
      </p:sp>
      <p:sp>
        <p:nvSpPr>
          <p:cNvPr id="28687" name="TextBox 17"/>
          <p:cNvSpPr txBox="1">
            <a:spLocks noChangeArrowheads="1"/>
          </p:cNvSpPr>
          <p:nvPr/>
        </p:nvSpPr>
        <p:spPr bwMode="auto">
          <a:xfrm>
            <a:off x="2925763" y="5167313"/>
            <a:ext cx="6270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Trans-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parent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cap</a:t>
            </a:r>
          </a:p>
        </p:txBody>
      </p:sp>
      <p:sp>
        <p:nvSpPr>
          <p:cNvPr id="28688" name="TextBox 20"/>
          <p:cNvSpPr txBox="1">
            <a:spLocks noChangeArrowheads="1"/>
          </p:cNvSpPr>
          <p:nvPr/>
        </p:nvSpPr>
        <p:spPr bwMode="auto">
          <a:xfrm>
            <a:off x="3927475" y="5167313"/>
            <a:ext cx="10842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Opaque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shield over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curvature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6488" y="5168900"/>
            <a:ext cx="1125537" cy="461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0" fontAlgn="auto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50" b="1" dirty="0">
                <a:solidFill>
                  <a:srgbClr val="000000"/>
                </a:solidFill>
                <a:latin typeface="Arial"/>
                <a:ea typeface="ヒラギノ角ゴ Pro W3" charset="-128"/>
              </a:rPr>
              <a:t>Gelatin</a:t>
            </a:r>
          </a:p>
          <a:p>
            <a:pPr eaLnBrk="0" fontAlgn="auto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50" b="1" dirty="0">
                <a:solidFill>
                  <a:srgbClr val="000000"/>
                </a:solidFill>
                <a:latin typeface="Arial"/>
                <a:ea typeface="ヒラギノ角ゴ Pro W3" charset="-128"/>
              </a:rPr>
              <a:t>(permeable)</a:t>
            </a:r>
          </a:p>
        </p:txBody>
      </p:sp>
      <p:sp>
        <p:nvSpPr>
          <p:cNvPr id="28690" name="TextBox 24"/>
          <p:cNvSpPr txBox="1">
            <a:spLocks noChangeArrowheads="1"/>
          </p:cNvSpPr>
          <p:nvPr/>
        </p:nvSpPr>
        <p:spPr bwMode="auto">
          <a:xfrm>
            <a:off x="7424738" y="5167313"/>
            <a:ext cx="1404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Mica</a:t>
            </a:r>
          </a:p>
          <a:p>
            <a:pPr>
              <a:lnSpc>
                <a:spcPts val="1825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(impermeable)</a:t>
            </a:r>
          </a:p>
        </p:txBody>
      </p:sp>
      <p:sp>
        <p:nvSpPr>
          <p:cNvPr id="28691" name="TextBox 26"/>
          <p:cNvSpPr txBox="1">
            <a:spLocks noChangeArrowheads="1"/>
          </p:cNvSpPr>
          <p:nvPr/>
        </p:nvSpPr>
        <p:spPr bwMode="auto">
          <a:xfrm>
            <a:off x="328613" y="6049963"/>
            <a:ext cx="777557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altLang="en-US" sz="12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Data from C. R. Darwin, The power of movement in plants, John Murray, London (1880). P. Boysen-Jensen,</a:t>
            </a:r>
          </a:p>
          <a:p>
            <a:pPr>
              <a:lnSpc>
                <a:spcPts val="1500"/>
              </a:lnSpc>
            </a:pPr>
            <a:r>
              <a:rPr lang="en-US" altLang="en-US" sz="12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Concerning the performance of phototropic stimuli on the Avenacoleoptile, </a:t>
            </a:r>
            <a:r>
              <a:rPr lang="en-US" altLang="en-US" sz="1200" b="1" i="1">
                <a:solidFill>
                  <a:srgbClr val="000000"/>
                </a:solidFill>
                <a:ea typeface="ヒラギノ角ゴ Pro W3"/>
                <a:cs typeface="ヒラギノ角ゴ Pro W3"/>
              </a:rPr>
              <a:t>Berichte der Deutschen</a:t>
            </a:r>
          </a:p>
          <a:p>
            <a:pPr>
              <a:lnSpc>
                <a:spcPts val="1500"/>
              </a:lnSpc>
            </a:pPr>
            <a:r>
              <a:rPr lang="en-US" altLang="en-US" sz="1200" b="1" i="1">
                <a:solidFill>
                  <a:srgbClr val="000000"/>
                </a:solidFill>
                <a:ea typeface="ヒラギノ角ゴ Pro W3"/>
                <a:cs typeface="ヒラギノ角ゴ Pro W3"/>
              </a:rPr>
              <a:t>Botanischen Gesellschaft</a:t>
            </a:r>
            <a:r>
              <a:rPr lang="en-US" altLang="en-US" sz="12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 (</a:t>
            </a:r>
            <a:r>
              <a:rPr lang="en-US" altLang="en-US" sz="1200" b="1" i="1">
                <a:solidFill>
                  <a:srgbClr val="000000"/>
                </a:solidFill>
                <a:ea typeface="ヒラギノ角ゴ Pro W3"/>
                <a:cs typeface="ヒラギノ角ゴ Pro W3"/>
              </a:rPr>
              <a:t>Reports of the German Botanical Society</a:t>
            </a:r>
            <a:r>
              <a:rPr lang="en-US" altLang="en-US" sz="12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) 31:559–566 (1913).</a:t>
            </a:r>
          </a:p>
        </p:txBody>
      </p:sp>
      <p:sp>
        <p:nvSpPr>
          <p:cNvPr id="28692" name="Freeform 21"/>
          <p:cNvSpPr>
            <a:spLocks/>
          </p:cNvSpPr>
          <p:nvPr/>
        </p:nvSpPr>
        <p:spPr bwMode="auto">
          <a:xfrm>
            <a:off x="3652838" y="857250"/>
            <a:ext cx="357187" cy="347663"/>
          </a:xfrm>
          <a:custGeom>
            <a:avLst/>
            <a:gdLst>
              <a:gd name="T0" fmla="*/ 0 w 357187"/>
              <a:gd name="T1" fmla="*/ 347663 h 347663"/>
              <a:gd name="T2" fmla="*/ 357187 w 357187"/>
              <a:gd name="T3" fmla="*/ 0 h 34766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7187" h="347663">
                <a:moveTo>
                  <a:pt x="0" y="347663"/>
                </a:moveTo>
                <a:lnTo>
                  <a:pt x="357187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3" name="Freeform 22"/>
          <p:cNvSpPr>
            <a:spLocks/>
          </p:cNvSpPr>
          <p:nvPr/>
        </p:nvSpPr>
        <p:spPr bwMode="auto">
          <a:xfrm>
            <a:off x="3128963" y="1423988"/>
            <a:ext cx="147637" cy="585787"/>
          </a:xfrm>
          <a:custGeom>
            <a:avLst/>
            <a:gdLst>
              <a:gd name="T0" fmla="*/ 147637 w 147637"/>
              <a:gd name="T1" fmla="*/ 0 h 585787"/>
              <a:gd name="T2" fmla="*/ 0 w 147637"/>
              <a:gd name="T3" fmla="*/ 585787 h 5857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7637" h="585787">
                <a:moveTo>
                  <a:pt x="147637" y="0"/>
                </a:moveTo>
                <a:lnTo>
                  <a:pt x="0" y="58578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4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" descr="D:\Manjubharkavi\Production\August\13-Aug\CH 39 Cample\JPEG FILES\Unlabeled\39_05cColeoptileSense-U.jpg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5"/>
          <a:stretch>
            <a:fillRect/>
          </a:stretch>
        </p:blipFill>
        <p:spPr bwMode="auto">
          <a:xfrm>
            <a:off x="2328863" y="1408113"/>
            <a:ext cx="4486275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39.5c</a:t>
            </a:r>
          </a:p>
        </p:txBody>
      </p:sp>
      <p:sp>
        <p:nvSpPr>
          <p:cNvPr id="29700" name="TextBox 2"/>
          <p:cNvSpPr txBox="1">
            <a:spLocks noChangeArrowheads="1"/>
          </p:cNvSpPr>
          <p:nvPr/>
        </p:nvSpPr>
        <p:spPr bwMode="auto">
          <a:xfrm>
            <a:off x="2355850" y="1416050"/>
            <a:ext cx="434181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Boysen-Jensen: Phototropism</a:t>
            </a:r>
          </a:p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occurs when the tip is separated by</a:t>
            </a:r>
          </a:p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a permeable barrier but not an</a:t>
            </a:r>
          </a:p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impermeable barrier.</a:t>
            </a:r>
          </a:p>
        </p:txBody>
      </p:sp>
      <p:sp>
        <p:nvSpPr>
          <p:cNvPr id="29701" name="TextBox 6"/>
          <p:cNvSpPr txBox="1">
            <a:spLocks noChangeArrowheads="1"/>
          </p:cNvSpPr>
          <p:nvPr/>
        </p:nvSpPr>
        <p:spPr bwMode="auto">
          <a:xfrm>
            <a:off x="2355850" y="3363913"/>
            <a:ext cx="627063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Light</a:t>
            </a:r>
          </a:p>
        </p:txBody>
      </p:sp>
      <p:sp>
        <p:nvSpPr>
          <p:cNvPr id="29702" name="TextBox 7"/>
          <p:cNvSpPr txBox="1">
            <a:spLocks noChangeArrowheads="1"/>
          </p:cNvSpPr>
          <p:nvPr/>
        </p:nvSpPr>
        <p:spPr bwMode="auto">
          <a:xfrm>
            <a:off x="3444875" y="4657725"/>
            <a:ext cx="14525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Gelatin</a:t>
            </a:r>
          </a:p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(permeable)</a:t>
            </a:r>
          </a:p>
        </p:txBody>
      </p:sp>
      <p:sp>
        <p:nvSpPr>
          <p:cNvPr id="29703" name="TextBox 8"/>
          <p:cNvSpPr txBox="1">
            <a:spLocks noChangeArrowheads="1"/>
          </p:cNvSpPr>
          <p:nvPr/>
        </p:nvSpPr>
        <p:spPr bwMode="auto">
          <a:xfrm>
            <a:off x="5049838" y="4659313"/>
            <a:ext cx="174942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Mica</a:t>
            </a:r>
          </a:p>
          <a:p>
            <a:pPr>
              <a:lnSpc>
                <a:spcPts val="2225"/>
              </a:lnSpc>
            </a:pPr>
            <a:r>
              <a:rPr lang="en-US" altLang="en-US" sz="2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(impermeable)</a:t>
            </a:r>
          </a:p>
        </p:txBody>
      </p:sp>
      <p:sp>
        <p:nvSpPr>
          <p:cNvPr id="29704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"/>
          <a:stretch>
            <a:fillRect/>
          </a:stretch>
        </p:blipFill>
        <p:spPr bwMode="auto">
          <a:xfrm>
            <a:off x="298450" y="1298575"/>
            <a:ext cx="8547100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39.7</a:t>
            </a:r>
          </a:p>
        </p:txBody>
      </p:sp>
      <p:sp>
        <p:nvSpPr>
          <p:cNvPr id="30724" name="TextBox 2"/>
          <p:cNvSpPr txBox="1">
            <a:spLocks noChangeArrowheads="1"/>
          </p:cNvSpPr>
          <p:nvPr/>
        </p:nvSpPr>
        <p:spPr bwMode="auto">
          <a:xfrm>
            <a:off x="328613" y="1292225"/>
            <a:ext cx="3095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00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Cell wall before auxin activates </a:t>
            </a:r>
            <a:b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</a:b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proton pumps</a:t>
            </a:r>
          </a:p>
        </p:txBody>
      </p:sp>
      <p:sp>
        <p:nvSpPr>
          <p:cNvPr id="30725" name="TextBox 3"/>
          <p:cNvSpPr txBox="1">
            <a:spLocks noChangeArrowheads="1"/>
          </p:cNvSpPr>
          <p:nvPr/>
        </p:nvSpPr>
        <p:spPr bwMode="auto">
          <a:xfrm>
            <a:off x="1308100" y="1887538"/>
            <a:ext cx="9763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Cellulose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microfibrils</a:t>
            </a:r>
          </a:p>
        </p:txBody>
      </p:sp>
      <p:sp>
        <p:nvSpPr>
          <p:cNvPr id="30726" name="TextBox 5"/>
          <p:cNvSpPr txBox="1">
            <a:spLocks noChangeArrowheads="1"/>
          </p:cNvSpPr>
          <p:nvPr/>
        </p:nvSpPr>
        <p:spPr bwMode="auto">
          <a:xfrm>
            <a:off x="323850" y="3008313"/>
            <a:ext cx="695325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Nucleus</a:t>
            </a:r>
          </a:p>
        </p:txBody>
      </p:sp>
      <p:sp>
        <p:nvSpPr>
          <p:cNvPr id="30727" name="TextBox 6"/>
          <p:cNvSpPr txBox="1">
            <a:spLocks noChangeArrowheads="1"/>
          </p:cNvSpPr>
          <p:nvPr/>
        </p:nvSpPr>
        <p:spPr bwMode="auto">
          <a:xfrm>
            <a:off x="1146175" y="3003550"/>
            <a:ext cx="77470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Vacuoles</a:t>
            </a:r>
          </a:p>
        </p:txBody>
      </p:sp>
      <p:sp>
        <p:nvSpPr>
          <p:cNvPr id="30728" name="TextBox 7"/>
          <p:cNvSpPr txBox="1">
            <a:spLocks noChangeArrowheads="1"/>
          </p:cNvSpPr>
          <p:nvPr/>
        </p:nvSpPr>
        <p:spPr bwMode="auto">
          <a:xfrm>
            <a:off x="2414588" y="2806700"/>
            <a:ext cx="1162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PLANT CELL 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WALL</a:t>
            </a:r>
          </a:p>
        </p:txBody>
      </p:sp>
      <p:sp>
        <p:nvSpPr>
          <p:cNvPr id="30729" name="TextBox 8"/>
          <p:cNvSpPr txBox="1">
            <a:spLocks noChangeArrowheads="1"/>
          </p:cNvSpPr>
          <p:nvPr/>
        </p:nvSpPr>
        <p:spPr bwMode="auto">
          <a:xfrm>
            <a:off x="333375" y="5121275"/>
            <a:ext cx="17208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Cellulose microfibril</a:t>
            </a:r>
          </a:p>
        </p:txBody>
      </p:sp>
      <p:sp>
        <p:nvSpPr>
          <p:cNvPr id="30730" name="TextBox 10"/>
          <p:cNvSpPr txBox="1">
            <a:spLocks noChangeArrowheads="1"/>
          </p:cNvSpPr>
          <p:nvPr/>
        </p:nvSpPr>
        <p:spPr bwMode="auto">
          <a:xfrm>
            <a:off x="2400300" y="5116513"/>
            <a:ext cx="13017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Cross-linking</a:t>
            </a:r>
          </a:p>
          <a:p>
            <a:pPr algn="ctr"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polysaccharide</a:t>
            </a:r>
          </a:p>
        </p:txBody>
      </p:sp>
      <p:sp>
        <p:nvSpPr>
          <p:cNvPr id="30731" name="Freeform 59"/>
          <p:cNvSpPr>
            <a:spLocks/>
          </p:cNvSpPr>
          <p:nvPr/>
        </p:nvSpPr>
        <p:spPr bwMode="auto">
          <a:xfrm>
            <a:off x="1042988" y="2005013"/>
            <a:ext cx="247650" cy="201612"/>
          </a:xfrm>
          <a:custGeom>
            <a:avLst/>
            <a:gdLst>
              <a:gd name="T0" fmla="*/ 0 w 247650"/>
              <a:gd name="T1" fmla="*/ 66675 h 202406"/>
              <a:gd name="T2" fmla="*/ 247650 w 247650"/>
              <a:gd name="T3" fmla="*/ 0 h 202406"/>
              <a:gd name="T4" fmla="*/ 30956 w 247650"/>
              <a:gd name="T5" fmla="*/ 202406 h 2024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7650" h="202406">
                <a:moveTo>
                  <a:pt x="0" y="66675"/>
                </a:moveTo>
                <a:lnTo>
                  <a:pt x="247650" y="0"/>
                </a:lnTo>
                <a:lnTo>
                  <a:pt x="30956" y="20240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Freeform 60"/>
          <p:cNvSpPr>
            <a:spLocks/>
          </p:cNvSpPr>
          <p:nvPr/>
        </p:nvSpPr>
        <p:spPr bwMode="auto">
          <a:xfrm>
            <a:off x="703263" y="2847975"/>
            <a:ext cx="406400" cy="190500"/>
          </a:xfrm>
          <a:custGeom>
            <a:avLst/>
            <a:gdLst>
              <a:gd name="T0" fmla="*/ 0 w 407194"/>
              <a:gd name="T1" fmla="*/ 0 h 190500"/>
              <a:gd name="T2" fmla="*/ 407194 w 407194"/>
              <a:gd name="T3" fmla="*/ 190500 h 190500"/>
              <a:gd name="T4" fmla="*/ 211931 w 407194"/>
              <a:gd name="T5" fmla="*/ 23813 h 1905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7194" h="190500">
                <a:moveTo>
                  <a:pt x="0" y="0"/>
                </a:moveTo>
                <a:lnTo>
                  <a:pt x="407194" y="190500"/>
                </a:lnTo>
                <a:lnTo>
                  <a:pt x="211931" y="23813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Freeform 61"/>
          <p:cNvSpPr>
            <a:spLocks/>
          </p:cNvSpPr>
          <p:nvPr/>
        </p:nvSpPr>
        <p:spPr bwMode="auto">
          <a:xfrm>
            <a:off x="585788" y="2643188"/>
            <a:ext cx="0" cy="404812"/>
          </a:xfrm>
          <a:custGeom>
            <a:avLst/>
            <a:gdLst>
              <a:gd name="T0" fmla="*/ 0 h 404812"/>
              <a:gd name="T1" fmla="*/ 404812 h 404812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404812">
                <a:moveTo>
                  <a:pt x="0" y="0"/>
                </a:moveTo>
                <a:lnTo>
                  <a:pt x="0" y="40481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TextBox 2"/>
          <p:cNvSpPr txBox="1">
            <a:spLocks noChangeArrowheads="1"/>
          </p:cNvSpPr>
          <p:nvPr/>
        </p:nvSpPr>
        <p:spPr bwMode="auto">
          <a:xfrm>
            <a:off x="4041775" y="1300163"/>
            <a:ext cx="41878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800"/>
              </a:lnSpc>
            </a:pPr>
            <a:r>
              <a:rPr lang="en-US" altLang="en-US" sz="16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Loosening of cell wall, enabling elongation</a:t>
            </a:r>
          </a:p>
        </p:txBody>
      </p:sp>
      <p:sp>
        <p:nvSpPr>
          <p:cNvPr id="30735" name="TextBox 3"/>
          <p:cNvSpPr txBox="1">
            <a:spLocks noChangeArrowheads="1"/>
          </p:cNvSpPr>
          <p:nvPr/>
        </p:nvSpPr>
        <p:spPr bwMode="auto">
          <a:xfrm>
            <a:off x="4276725" y="1857375"/>
            <a:ext cx="1449388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Auxin increases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activity of proton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pumps.</a:t>
            </a:r>
          </a:p>
        </p:txBody>
      </p:sp>
      <p:sp>
        <p:nvSpPr>
          <p:cNvPr id="30736" name="TextBox 6"/>
          <p:cNvSpPr txBox="1">
            <a:spLocks noChangeArrowheads="1"/>
          </p:cNvSpPr>
          <p:nvPr/>
        </p:nvSpPr>
        <p:spPr bwMode="auto">
          <a:xfrm>
            <a:off x="4951413" y="2903538"/>
            <a:ext cx="1412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</a:p>
        </p:txBody>
      </p:sp>
      <p:sp>
        <p:nvSpPr>
          <p:cNvPr id="30737" name="TextBox 7"/>
          <p:cNvSpPr txBox="1">
            <a:spLocks noChangeArrowheads="1"/>
          </p:cNvSpPr>
          <p:nvPr/>
        </p:nvSpPr>
        <p:spPr bwMode="auto">
          <a:xfrm>
            <a:off x="5464175" y="3541713"/>
            <a:ext cx="1412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38" name="TextBox 8"/>
          <p:cNvSpPr txBox="1">
            <a:spLocks noChangeArrowheads="1"/>
          </p:cNvSpPr>
          <p:nvPr/>
        </p:nvSpPr>
        <p:spPr bwMode="auto">
          <a:xfrm>
            <a:off x="5370513" y="2874963"/>
            <a:ext cx="1412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39" name="TextBox 9"/>
          <p:cNvSpPr txBox="1">
            <a:spLocks noChangeArrowheads="1"/>
          </p:cNvSpPr>
          <p:nvPr/>
        </p:nvSpPr>
        <p:spPr bwMode="auto">
          <a:xfrm>
            <a:off x="6105525" y="1857375"/>
            <a:ext cx="14605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Low pH activates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expansins (red).</a:t>
            </a:r>
          </a:p>
        </p:txBody>
      </p:sp>
      <p:sp>
        <p:nvSpPr>
          <p:cNvPr id="30740" name="TextBox 11"/>
          <p:cNvSpPr txBox="1">
            <a:spLocks noChangeArrowheads="1"/>
          </p:cNvSpPr>
          <p:nvPr/>
        </p:nvSpPr>
        <p:spPr bwMode="auto">
          <a:xfrm>
            <a:off x="6772275" y="2855913"/>
            <a:ext cx="1412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1" name="TextBox 12"/>
          <p:cNvSpPr txBox="1">
            <a:spLocks noChangeArrowheads="1"/>
          </p:cNvSpPr>
          <p:nvPr/>
        </p:nvSpPr>
        <p:spPr bwMode="auto">
          <a:xfrm>
            <a:off x="5761038" y="3063875"/>
            <a:ext cx="1412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613301" y="2538181"/>
            <a:ext cx="205184" cy="923330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ヒラギノ角ゴ Pro W3" charset="-128"/>
              </a:rPr>
              <a:t>Elongation</a:t>
            </a:r>
          </a:p>
        </p:txBody>
      </p:sp>
      <p:sp>
        <p:nvSpPr>
          <p:cNvPr id="30743" name="TextBox 14"/>
          <p:cNvSpPr txBox="1">
            <a:spLocks noChangeArrowheads="1"/>
          </p:cNvSpPr>
          <p:nvPr/>
        </p:nvSpPr>
        <p:spPr bwMode="auto">
          <a:xfrm>
            <a:off x="7196138" y="2947988"/>
            <a:ext cx="1412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4" name="TextBox 15"/>
          <p:cNvSpPr txBox="1">
            <a:spLocks noChangeArrowheads="1"/>
          </p:cNvSpPr>
          <p:nvPr/>
        </p:nvSpPr>
        <p:spPr bwMode="auto">
          <a:xfrm>
            <a:off x="4233863" y="3597275"/>
            <a:ext cx="1412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5" name="TextBox 16"/>
          <p:cNvSpPr txBox="1">
            <a:spLocks noChangeArrowheads="1"/>
          </p:cNvSpPr>
          <p:nvPr/>
        </p:nvSpPr>
        <p:spPr bwMode="auto">
          <a:xfrm>
            <a:off x="4792663" y="3427413"/>
            <a:ext cx="1412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6" name="TextBox 17"/>
          <p:cNvSpPr txBox="1">
            <a:spLocks noChangeArrowheads="1"/>
          </p:cNvSpPr>
          <p:nvPr/>
        </p:nvSpPr>
        <p:spPr bwMode="auto">
          <a:xfrm>
            <a:off x="6853238" y="3911600"/>
            <a:ext cx="1412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7" name="TextBox 18"/>
          <p:cNvSpPr txBox="1">
            <a:spLocks noChangeArrowheads="1"/>
          </p:cNvSpPr>
          <p:nvPr/>
        </p:nvSpPr>
        <p:spPr bwMode="auto">
          <a:xfrm>
            <a:off x="4146550" y="4525963"/>
            <a:ext cx="1412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8" name="TextBox 19"/>
          <p:cNvSpPr txBox="1">
            <a:spLocks noChangeArrowheads="1"/>
          </p:cNvSpPr>
          <p:nvPr/>
        </p:nvSpPr>
        <p:spPr bwMode="auto">
          <a:xfrm>
            <a:off x="7196138" y="3835400"/>
            <a:ext cx="1412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49" name="TextBox 20"/>
          <p:cNvSpPr txBox="1">
            <a:spLocks noChangeArrowheads="1"/>
          </p:cNvSpPr>
          <p:nvPr/>
        </p:nvSpPr>
        <p:spPr bwMode="auto">
          <a:xfrm>
            <a:off x="5083175" y="4229100"/>
            <a:ext cx="1412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50" name="TextBox 21"/>
          <p:cNvSpPr txBox="1">
            <a:spLocks noChangeArrowheads="1"/>
          </p:cNvSpPr>
          <p:nvPr/>
        </p:nvSpPr>
        <p:spPr bwMode="auto">
          <a:xfrm>
            <a:off x="5595938" y="4760913"/>
            <a:ext cx="1412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</a:t>
            </a:r>
            <a:r>
              <a:rPr lang="en-US" altLang="en-US" sz="1000" b="1" baseline="30000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+</a:t>
            </a:r>
            <a:endParaRPr lang="en-US" altLang="en-US" sz="1000" b="1">
              <a:solidFill>
                <a:srgbClr val="000000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30751" name="TextBox 22"/>
          <p:cNvSpPr txBox="1">
            <a:spLocks noChangeArrowheads="1"/>
          </p:cNvSpPr>
          <p:nvPr/>
        </p:nvSpPr>
        <p:spPr bwMode="auto">
          <a:xfrm>
            <a:off x="4298950" y="5119688"/>
            <a:ext cx="4511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Polysaccharides are cleaved by cell wall-loosening</a:t>
            </a:r>
          </a:p>
          <a:p>
            <a:pPr>
              <a:lnSpc>
                <a:spcPts val="1600"/>
              </a:lnSpc>
            </a:pPr>
            <a:r>
              <a:rPr lang="en-US" altLang="en-US" sz="14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enzymes (purple), loosening the microfibrils (brown).</a:t>
            </a:r>
          </a:p>
        </p:txBody>
      </p:sp>
      <p:grpSp>
        <p:nvGrpSpPr>
          <p:cNvPr id="30752" name="Group 98"/>
          <p:cNvGrpSpPr>
            <a:grpSpLocks/>
          </p:cNvGrpSpPr>
          <p:nvPr/>
        </p:nvGrpSpPr>
        <p:grpSpPr bwMode="auto">
          <a:xfrm>
            <a:off x="4059238" y="5121275"/>
            <a:ext cx="192087" cy="206375"/>
            <a:chOff x="4060030" y="5121673"/>
            <a:chExt cx="192024" cy="205184"/>
          </a:xfrm>
        </p:grpSpPr>
        <p:sp>
          <p:nvSpPr>
            <p:cNvPr id="30770" name="Oval 96"/>
            <p:cNvSpPr>
              <a:spLocks noChangeArrowheads="1"/>
            </p:cNvSpPr>
            <p:nvPr/>
          </p:nvSpPr>
          <p:spPr bwMode="auto">
            <a:xfrm>
              <a:off x="4060030" y="5128253"/>
              <a:ext cx="192024" cy="192024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0771" name="TextBox 22"/>
            <p:cNvSpPr txBox="1">
              <a:spLocks noChangeArrowheads="1"/>
            </p:cNvSpPr>
            <p:nvPr/>
          </p:nvSpPr>
          <p:spPr bwMode="auto">
            <a:xfrm>
              <a:off x="4106349" y="5121673"/>
              <a:ext cx="99386" cy="205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1600"/>
                </a:lnSpc>
              </a:pPr>
              <a:r>
                <a:rPr lang="en-US" altLang="en-US" sz="1400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3</a:t>
              </a:r>
            </a:p>
          </p:txBody>
        </p:sp>
      </p:grpSp>
      <p:grpSp>
        <p:nvGrpSpPr>
          <p:cNvPr id="30753" name="Group 99"/>
          <p:cNvGrpSpPr>
            <a:grpSpLocks/>
          </p:cNvGrpSpPr>
          <p:nvPr/>
        </p:nvGrpSpPr>
        <p:grpSpPr bwMode="auto">
          <a:xfrm>
            <a:off x="4059238" y="1863725"/>
            <a:ext cx="192087" cy="206375"/>
            <a:chOff x="4060030" y="5121673"/>
            <a:chExt cx="192024" cy="205184"/>
          </a:xfrm>
        </p:grpSpPr>
        <p:sp>
          <p:nvSpPr>
            <p:cNvPr id="30768" name="Oval 100"/>
            <p:cNvSpPr>
              <a:spLocks noChangeArrowheads="1"/>
            </p:cNvSpPr>
            <p:nvPr/>
          </p:nvSpPr>
          <p:spPr bwMode="auto">
            <a:xfrm>
              <a:off x="4060030" y="5128253"/>
              <a:ext cx="192024" cy="192024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0769" name="TextBox 22"/>
            <p:cNvSpPr txBox="1">
              <a:spLocks noChangeArrowheads="1"/>
            </p:cNvSpPr>
            <p:nvPr/>
          </p:nvSpPr>
          <p:spPr bwMode="auto">
            <a:xfrm>
              <a:off x="4106349" y="5121673"/>
              <a:ext cx="99386" cy="205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1600"/>
                </a:lnSpc>
              </a:pPr>
              <a:r>
                <a:rPr lang="en-US" altLang="en-US" sz="1400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1</a:t>
              </a:r>
            </a:p>
          </p:txBody>
        </p:sp>
      </p:grpSp>
      <p:grpSp>
        <p:nvGrpSpPr>
          <p:cNvPr id="30754" name="Group 102"/>
          <p:cNvGrpSpPr>
            <a:grpSpLocks/>
          </p:cNvGrpSpPr>
          <p:nvPr/>
        </p:nvGrpSpPr>
        <p:grpSpPr bwMode="auto">
          <a:xfrm>
            <a:off x="5888038" y="1863725"/>
            <a:ext cx="192087" cy="204788"/>
            <a:chOff x="4060030" y="5121673"/>
            <a:chExt cx="192024" cy="205184"/>
          </a:xfrm>
        </p:grpSpPr>
        <p:sp>
          <p:nvSpPr>
            <p:cNvPr id="30766" name="Oval 103"/>
            <p:cNvSpPr>
              <a:spLocks noChangeArrowheads="1"/>
            </p:cNvSpPr>
            <p:nvPr/>
          </p:nvSpPr>
          <p:spPr bwMode="auto">
            <a:xfrm>
              <a:off x="4060030" y="5128253"/>
              <a:ext cx="192024" cy="192024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0767" name="TextBox 22"/>
            <p:cNvSpPr txBox="1">
              <a:spLocks noChangeArrowheads="1"/>
            </p:cNvSpPr>
            <p:nvPr/>
          </p:nvSpPr>
          <p:spPr bwMode="auto">
            <a:xfrm>
              <a:off x="4106349" y="5121673"/>
              <a:ext cx="99386" cy="205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1600"/>
                </a:lnSpc>
              </a:pPr>
              <a:r>
                <a:rPr lang="en-US" altLang="en-US" sz="1400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2</a:t>
              </a:r>
            </a:p>
          </p:txBody>
        </p:sp>
      </p:grpSp>
      <p:sp>
        <p:nvSpPr>
          <p:cNvPr id="30755" name="Freeform 105"/>
          <p:cNvSpPr>
            <a:spLocks/>
          </p:cNvSpPr>
          <p:nvPr/>
        </p:nvSpPr>
        <p:spPr bwMode="auto">
          <a:xfrm>
            <a:off x="6610350" y="4581525"/>
            <a:ext cx="23813" cy="533400"/>
          </a:xfrm>
          <a:custGeom>
            <a:avLst/>
            <a:gdLst>
              <a:gd name="T0" fmla="*/ 23813 w 23813"/>
              <a:gd name="T1" fmla="*/ 533400 h 533400"/>
              <a:gd name="T2" fmla="*/ 0 w 23813"/>
              <a:gd name="T3" fmla="*/ 0 h 5334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813" h="533400">
                <a:moveTo>
                  <a:pt x="23813" y="53340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Freeform 106"/>
          <p:cNvSpPr>
            <a:spLocks/>
          </p:cNvSpPr>
          <p:nvPr/>
        </p:nvSpPr>
        <p:spPr bwMode="auto">
          <a:xfrm>
            <a:off x="6281738" y="2246313"/>
            <a:ext cx="377825" cy="1073150"/>
          </a:xfrm>
          <a:custGeom>
            <a:avLst/>
            <a:gdLst>
              <a:gd name="T0" fmla="*/ 0 w 378618"/>
              <a:gd name="T1" fmla="*/ 1073944 h 1073944"/>
              <a:gd name="T2" fmla="*/ 378618 w 378618"/>
              <a:gd name="T3" fmla="*/ 0 h 107394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8618" h="1073944">
                <a:moveTo>
                  <a:pt x="0" y="1073944"/>
                </a:moveTo>
                <a:lnTo>
                  <a:pt x="378618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Freeform 107"/>
          <p:cNvSpPr>
            <a:spLocks/>
          </p:cNvSpPr>
          <p:nvPr/>
        </p:nvSpPr>
        <p:spPr bwMode="auto">
          <a:xfrm>
            <a:off x="4570413" y="2459038"/>
            <a:ext cx="373062" cy="465137"/>
          </a:xfrm>
          <a:custGeom>
            <a:avLst/>
            <a:gdLst>
              <a:gd name="T0" fmla="*/ 373856 w 373856"/>
              <a:gd name="T1" fmla="*/ 464344 h 464344"/>
              <a:gd name="T2" fmla="*/ 0 w 373856"/>
              <a:gd name="T3" fmla="*/ 0 h 46434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3856" h="464344">
                <a:moveTo>
                  <a:pt x="373856" y="464344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8" name="Freeform 108"/>
          <p:cNvSpPr>
            <a:spLocks/>
          </p:cNvSpPr>
          <p:nvPr/>
        </p:nvSpPr>
        <p:spPr bwMode="auto">
          <a:xfrm>
            <a:off x="2998788" y="4887913"/>
            <a:ext cx="41275" cy="231775"/>
          </a:xfrm>
          <a:custGeom>
            <a:avLst/>
            <a:gdLst>
              <a:gd name="T0" fmla="*/ 0 w 42862"/>
              <a:gd name="T1" fmla="*/ 0 h 230982"/>
              <a:gd name="T2" fmla="*/ 42862 w 42862"/>
              <a:gd name="T3" fmla="*/ 230982 h 23098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2862" h="230982">
                <a:moveTo>
                  <a:pt x="0" y="0"/>
                </a:moveTo>
                <a:lnTo>
                  <a:pt x="42862" y="230982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9" name="Freeform 109"/>
          <p:cNvSpPr>
            <a:spLocks/>
          </p:cNvSpPr>
          <p:nvPr/>
        </p:nvSpPr>
        <p:spPr bwMode="auto">
          <a:xfrm>
            <a:off x="628650" y="4716463"/>
            <a:ext cx="534988" cy="454025"/>
          </a:xfrm>
          <a:custGeom>
            <a:avLst/>
            <a:gdLst>
              <a:gd name="T0" fmla="*/ 0 w 535781"/>
              <a:gd name="T1" fmla="*/ 0 h 452438"/>
              <a:gd name="T2" fmla="*/ 535781 w 535781"/>
              <a:gd name="T3" fmla="*/ 452438 h 45243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5781" h="452438">
                <a:moveTo>
                  <a:pt x="0" y="0"/>
                </a:moveTo>
                <a:lnTo>
                  <a:pt x="535781" y="452438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0" name="Freeform 113"/>
          <p:cNvSpPr>
            <a:spLocks/>
          </p:cNvSpPr>
          <p:nvPr/>
        </p:nvSpPr>
        <p:spPr bwMode="auto">
          <a:xfrm>
            <a:off x="6611938" y="4584700"/>
            <a:ext cx="25400" cy="533400"/>
          </a:xfrm>
          <a:custGeom>
            <a:avLst/>
            <a:gdLst>
              <a:gd name="T0" fmla="*/ 23813 w 23813"/>
              <a:gd name="T1" fmla="*/ 533400 h 533400"/>
              <a:gd name="T2" fmla="*/ 0 w 23813"/>
              <a:gd name="T3" fmla="*/ 0 h 5334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813" h="533400">
                <a:moveTo>
                  <a:pt x="23813" y="53340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1" name="Freeform 114"/>
          <p:cNvSpPr>
            <a:spLocks/>
          </p:cNvSpPr>
          <p:nvPr/>
        </p:nvSpPr>
        <p:spPr bwMode="auto">
          <a:xfrm>
            <a:off x="6284913" y="2247900"/>
            <a:ext cx="377825" cy="1074738"/>
          </a:xfrm>
          <a:custGeom>
            <a:avLst/>
            <a:gdLst>
              <a:gd name="T0" fmla="*/ 0 w 378618"/>
              <a:gd name="T1" fmla="*/ 1073944 h 1073944"/>
              <a:gd name="T2" fmla="*/ 378618 w 378618"/>
              <a:gd name="T3" fmla="*/ 0 h 107394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8618" h="1073944">
                <a:moveTo>
                  <a:pt x="0" y="1073944"/>
                </a:moveTo>
                <a:lnTo>
                  <a:pt x="37861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2" name="Freeform 115"/>
          <p:cNvSpPr>
            <a:spLocks/>
          </p:cNvSpPr>
          <p:nvPr/>
        </p:nvSpPr>
        <p:spPr bwMode="auto">
          <a:xfrm>
            <a:off x="4572000" y="2462213"/>
            <a:ext cx="373063" cy="465137"/>
          </a:xfrm>
          <a:custGeom>
            <a:avLst/>
            <a:gdLst>
              <a:gd name="T0" fmla="*/ 373856 w 373856"/>
              <a:gd name="T1" fmla="*/ 464344 h 464344"/>
              <a:gd name="T2" fmla="*/ 0 w 373856"/>
              <a:gd name="T3" fmla="*/ 0 h 46434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3856" h="464344">
                <a:moveTo>
                  <a:pt x="373856" y="46434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Freeform 116"/>
          <p:cNvSpPr>
            <a:spLocks/>
          </p:cNvSpPr>
          <p:nvPr/>
        </p:nvSpPr>
        <p:spPr bwMode="auto">
          <a:xfrm>
            <a:off x="3000375" y="4891088"/>
            <a:ext cx="42863" cy="231775"/>
          </a:xfrm>
          <a:custGeom>
            <a:avLst/>
            <a:gdLst>
              <a:gd name="T0" fmla="*/ 0 w 42862"/>
              <a:gd name="T1" fmla="*/ 0 h 230982"/>
              <a:gd name="T2" fmla="*/ 42862 w 42862"/>
              <a:gd name="T3" fmla="*/ 230982 h 23098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2862" h="230982">
                <a:moveTo>
                  <a:pt x="0" y="0"/>
                </a:moveTo>
                <a:lnTo>
                  <a:pt x="42862" y="23098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4" name="Freeform 117"/>
          <p:cNvSpPr>
            <a:spLocks/>
          </p:cNvSpPr>
          <p:nvPr/>
        </p:nvSpPr>
        <p:spPr bwMode="auto">
          <a:xfrm>
            <a:off x="630238" y="4719638"/>
            <a:ext cx="536575" cy="452437"/>
          </a:xfrm>
          <a:custGeom>
            <a:avLst/>
            <a:gdLst>
              <a:gd name="T0" fmla="*/ 0 w 535781"/>
              <a:gd name="T1" fmla="*/ 0 h 452438"/>
              <a:gd name="T2" fmla="*/ 535781 w 535781"/>
              <a:gd name="T3" fmla="*/ 452438 h 45243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5781" h="452438">
                <a:moveTo>
                  <a:pt x="0" y="0"/>
                </a:moveTo>
                <a:lnTo>
                  <a:pt x="535781" y="452438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Cytokinins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In addition to auxins another compound is cytokinins having profound impact on the culture of isolated plant cells.</a:t>
            </a:r>
          </a:p>
          <a:p>
            <a:pPr eaLnBrk="1" hangingPunct="1">
              <a:buSzPct val="95000"/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buSzPct val="95000"/>
            </a:pPr>
            <a:r>
              <a:rPr lang="en-US" altLang="en-US" smtClean="0">
                <a:latin typeface="Times New Roman" pitchFamily="18" charset="0"/>
              </a:rPr>
              <a:t>They were discovered by Folk Skoog and his colleagues at the university of Wisconsin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52400" y="533400"/>
            <a:ext cx="88392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0" tIns="0" rIns="137160" bIns="0"/>
          <a:lstStyle>
            <a:lvl1pPr marL="347472" indent="-347472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Arial" charset="0"/>
                <a:ea typeface="Arial" panose="020B0604020202020204" pitchFamily="34" charset="0"/>
                <a:cs typeface="+mn-cs"/>
              </a:defRPr>
            </a:lvl1pPr>
            <a:lvl2pPr marL="740664" indent="-283464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en-US" b="1" kern="0" smtClean="0">
                <a:solidFill>
                  <a:srgbClr val="000000"/>
                </a:solidFill>
                <a:cs typeface="Arial"/>
              </a:rPr>
              <a:t>Control of Cell Division and Differentiation</a:t>
            </a:r>
          </a:p>
          <a:p>
            <a:pPr>
              <a:defRPr/>
            </a:pPr>
            <a:r>
              <a:rPr lang="en-US" kern="0" smtClean="0">
                <a:solidFill>
                  <a:srgbClr val="000000"/>
                </a:solidFill>
                <a:cs typeface="Arial"/>
              </a:rPr>
              <a:t>Cytokinins are produced in actively growing tissues such as roots, embryos, and fruits</a:t>
            </a:r>
          </a:p>
          <a:p>
            <a:pPr>
              <a:defRPr/>
            </a:pPr>
            <a:r>
              <a:rPr lang="en-US" kern="0" smtClean="0">
                <a:solidFill>
                  <a:srgbClr val="000000"/>
                </a:solidFill>
                <a:cs typeface="Arial"/>
              </a:rPr>
              <a:t>Cytokinins work together with auxin to control cell division and differentiation</a:t>
            </a:r>
            <a:endParaRPr lang="en-US" kern="0" dirty="0" smtClean="0">
              <a:solidFill>
                <a:srgbClr val="000000"/>
              </a:solidFill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38113" y="152400"/>
            <a:ext cx="88392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0" tIns="0" rIns="137160" bIns="0"/>
          <a:lstStyle>
            <a:lvl1pPr marL="347472" indent="-347472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Arial" charset="0"/>
                <a:ea typeface="Arial" panose="020B0604020202020204" pitchFamily="34" charset="0"/>
                <a:cs typeface="+mn-cs"/>
              </a:defRPr>
            </a:lvl1pPr>
            <a:lvl2pPr marL="740664" indent="-283464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en-US" b="1" kern="0" dirty="0" smtClean="0">
                <a:solidFill>
                  <a:srgbClr val="000000"/>
                </a:solidFill>
                <a:cs typeface="Arial"/>
              </a:rPr>
              <a:t>Anti-aging Effects</a:t>
            </a:r>
          </a:p>
          <a:p>
            <a:pPr>
              <a:defRPr/>
            </a:pPr>
            <a:r>
              <a:rPr lang="en-US" sz="2400" kern="0" dirty="0" err="1" smtClean="0">
                <a:solidFill>
                  <a:srgbClr val="000000"/>
                </a:solidFill>
                <a:cs typeface="Arial"/>
              </a:rPr>
              <a:t>Cytokinins</a:t>
            </a:r>
            <a:r>
              <a:rPr lang="en-US" sz="2400" kern="0" dirty="0" smtClean="0">
                <a:solidFill>
                  <a:srgbClr val="000000"/>
                </a:solidFill>
                <a:cs typeface="Arial"/>
              </a:rPr>
              <a:t> slow the aging of some plant organs by inhibiting protein breakdown, stimulating RNA and protein synthesis, and mobilizing nutrients from surrounding tissues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-14288" y="2097088"/>
            <a:ext cx="914400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182880" tIns="91440" rIns="228600" bIns="91440">
            <a:spAutoFit/>
          </a:bodyPr>
          <a:lstStyle>
            <a:lvl1pPr marL="0" indent="-45085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/>
                <a:ea typeface="Arial" panose="020B0604020202020204" pitchFamily="34" charset="0"/>
                <a:cs typeface="Arial"/>
              </a:defRPr>
            </a:lvl1pPr>
            <a:lvl2pPr marL="4508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D002D"/>
                </a:solidFill>
                <a:latin typeface="Times New Roman" charset="0"/>
                <a:ea typeface="Geneva" charset="0"/>
                <a:cs typeface="Arial" charset="0"/>
              </a:defRPr>
            </a:lvl2pPr>
            <a:lvl3pPr marL="4508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D002D"/>
                </a:solidFill>
                <a:latin typeface="Times New Roman" charset="0"/>
                <a:ea typeface="Geneva" charset="0"/>
                <a:cs typeface="Arial" charset="0"/>
              </a:defRPr>
            </a:lvl3pPr>
            <a:lvl4pPr marL="4508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D002D"/>
                </a:solidFill>
                <a:latin typeface="Times New Roman" charset="0"/>
                <a:ea typeface="Geneva" charset="0"/>
                <a:cs typeface="Arial" charset="0"/>
              </a:defRPr>
            </a:lvl4pPr>
            <a:lvl5pPr marL="4508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9D002D"/>
                </a:solidFill>
                <a:latin typeface="Times New Roman" charset="0"/>
                <a:ea typeface="Geneva" charset="0"/>
                <a:cs typeface="Arial" charset="0"/>
              </a:defRPr>
            </a:lvl5pPr>
            <a:lvl6pPr marL="9080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13652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18224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2279650" indent="-4508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i="1" kern="0" dirty="0" smtClean="0">
                <a:solidFill>
                  <a:srgbClr val="000000"/>
                </a:solidFill>
              </a:rPr>
              <a:t>Gibberellins</a:t>
            </a:r>
            <a:endParaRPr lang="en-US" altLang="en-US" kern="0" dirty="0" smtClean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-19050" y="2760663"/>
            <a:ext cx="8839200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0" tIns="0" rIns="137160" bIns="0"/>
          <a:lstStyle>
            <a:lvl1pPr marL="347472" indent="-347472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Arial" charset="0"/>
                <a:ea typeface="Arial" panose="020B0604020202020204" pitchFamily="34" charset="0"/>
                <a:cs typeface="+mn-cs"/>
              </a:defRPr>
            </a:lvl1pPr>
            <a:lvl2pPr marL="740664" indent="-283464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 b="1" kern="0" dirty="0" smtClean="0">
                <a:solidFill>
                  <a:srgbClr val="000000"/>
                </a:solidFill>
                <a:cs typeface="Arial"/>
              </a:rPr>
              <a:t>Gibberellins</a:t>
            </a:r>
            <a:r>
              <a:rPr lang="en-US" altLang="en-US" sz="2400" kern="0" dirty="0" smtClean="0">
                <a:solidFill>
                  <a:srgbClr val="000000"/>
                </a:solidFill>
                <a:cs typeface="Arial"/>
              </a:rPr>
              <a:t> have a variety of effects, such as stem elongation, fruit growth, and seed germination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8600" y="3810000"/>
            <a:ext cx="88392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0" tIns="0" rIns="137160" bIns="0"/>
          <a:lstStyle>
            <a:lvl1pPr marL="347472" indent="-347472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800">
                <a:solidFill>
                  <a:schemeClr val="tx1"/>
                </a:solidFill>
                <a:latin typeface="Arial" charset="0"/>
                <a:ea typeface="Arial" panose="020B0604020202020204" pitchFamily="34" charset="0"/>
                <a:cs typeface="+mn-cs"/>
              </a:defRPr>
            </a:lvl1pPr>
            <a:lvl2pPr marL="740664" indent="-283464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DF4A20"/>
              </a:buClr>
              <a:buFont typeface="Wingdings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eaLnBrk="1" fontAlgn="base" hangingPunct="1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  <a:defRPr/>
            </a:pPr>
            <a:r>
              <a:rPr lang="en-US" b="1" kern="0" dirty="0" smtClean="0">
                <a:solidFill>
                  <a:srgbClr val="000000"/>
                </a:solidFill>
                <a:cs typeface="Arial"/>
              </a:rPr>
              <a:t>Stem Elongation</a:t>
            </a:r>
          </a:p>
          <a:p>
            <a:pPr>
              <a:defRPr/>
            </a:pPr>
            <a:r>
              <a:rPr lang="en-US" sz="2400" kern="0" dirty="0" smtClean="0">
                <a:solidFill>
                  <a:srgbClr val="000000"/>
                </a:solidFill>
                <a:cs typeface="Arial"/>
              </a:rPr>
              <a:t>Gibberellins are produced in young roots and leaves</a:t>
            </a:r>
          </a:p>
          <a:p>
            <a:pPr>
              <a:defRPr/>
            </a:pPr>
            <a:r>
              <a:rPr lang="en-US" sz="2400" kern="0" dirty="0" smtClean="0">
                <a:solidFill>
                  <a:srgbClr val="000000"/>
                </a:solidFill>
                <a:cs typeface="Arial"/>
              </a:rPr>
              <a:t>Gibberellins stimulate growth of leaves and stems by enhancing cell elongation and cell division</a:t>
            </a:r>
          </a:p>
          <a:p>
            <a:pPr>
              <a:defRPr/>
            </a:pPr>
            <a:r>
              <a:rPr lang="en-US" sz="2400" kern="0" dirty="0" smtClean="0">
                <a:solidFill>
                  <a:srgbClr val="000000"/>
                </a:solidFill>
                <a:cs typeface="Arial"/>
              </a:rPr>
              <a:t>Bolting, rapid growth of the floral stalk, is induced by gibberellins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D:\Manjubharkavi\Production\August\13-Aug\CH 39 Cample\JPEG FILES\Unlabeled\39_09aGibberellinEffects-U.jpg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 bwMode="auto">
          <a:xfrm>
            <a:off x="2117725" y="212725"/>
            <a:ext cx="490855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39.9a</a:t>
            </a:r>
          </a:p>
        </p:txBody>
      </p:sp>
      <p:sp>
        <p:nvSpPr>
          <p:cNvPr id="34820" name="TextBox 2"/>
          <p:cNvSpPr txBox="1">
            <a:spLocks noChangeArrowheads="1"/>
          </p:cNvSpPr>
          <p:nvPr/>
        </p:nvSpPr>
        <p:spPr bwMode="auto">
          <a:xfrm>
            <a:off x="2162175" y="5965825"/>
            <a:ext cx="470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500"/>
              </a:lnSpc>
            </a:pPr>
            <a:r>
              <a:rPr lang="en-US" altLang="en-US" sz="23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(a) Rosette form (left) and</a:t>
            </a:r>
          </a:p>
          <a:p>
            <a:pPr>
              <a:lnSpc>
                <a:spcPts val="2500"/>
              </a:lnSpc>
            </a:pPr>
            <a:r>
              <a:rPr lang="en-US" altLang="en-US" sz="23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gibberellin-induced bolting (right)</a:t>
            </a:r>
          </a:p>
        </p:txBody>
      </p:sp>
      <p:sp>
        <p:nvSpPr>
          <p:cNvPr id="34821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33" descr="D:\Manjubharkavi\Production\August\13-Aug\CH 39 Cample\JPEG FILES\Unlabeled\39_10GrainGermination-U.jpg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1"/>
          <a:stretch>
            <a:fillRect/>
          </a:stretch>
        </p:blipFill>
        <p:spPr bwMode="auto">
          <a:xfrm>
            <a:off x="298450" y="1203325"/>
            <a:ext cx="8547100" cy="4451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3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39.10</a:t>
            </a:r>
          </a:p>
        </p:txBody>
      </p:sp>
      <p:sp>
        <p:nvSpPr>
          <p:cNvPr id="35844" name="TextBox 2"/>
          <p:cNvSpPr txBox="1">
            <a:spLocks noChangeArrowheads="1"/>
          </p:cNvSpPr>
          <p:nvPr/>
        </p:nvSpPr>
        <p:spPr bwMode="auto">
          <a:xfrm>
            <a:off x="520700" y="1679575"/>
            <a:ext cx="10001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Aleurone</a:t>
            </a:r>
          </a:p>
        </p:txBody>
      </p:sp>
      <p:sp>
        <p:nvSpPr>
          <p:cNvPr id="35845" name="TextBox 3"/>
          <p:cNvSpPr txBox="1">
            <a:spLocks noChangeArrowheads="1"/>
          </p:cNvSpPr>
          <p:nvPr/>
        </p:nvSpPr>
        <p:spPr bwMode="auto">
          <a:xfrm>
            <a:off x="1327150" y="1992313"/>
            <a:ext cx="1270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Endosperm</a:t>
            </a:r>
          </a:p>
        </p:txBody>
      </p:sp>
      <p:sp>
        <p:nvSpPr>
          <p:cNvPr id="35846" name="TextBox 5"/>
          <p:cNvSpPr txBox="1">
            <a:spLocks noChangeArrowheads="1"/>
          </p:cNvSpPr>
          <p:nvPr/>
        </p:nvSpPr>
        <p:spPr bwMode="auto">
          <a:xfrm>
            <a:off x="4875213" y="2792413"/>
            <a:ext cx="11160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l-GR" altLang="en-US" b="1">
                <a:solidFill>
                  <a:srgbClr val="000000"/>
                </a:solidFill>
                <a:latin typeface="Times New Roman" pitchFamily="18" charset="0"/>
                <a:ea typeface="ヒラギノ角ゴ Pro W3"/>
                <a:cs typeface="Times New Roman" pitchFamily="18" charset="0"/>
              </a:rPr>
              <a:t>α</a:t>
            </a:r>
            <a:r>
              <a:rPr lang="en-US" altLang="en-US" b="1">
                <a:solidFill>
                  <a:srgbClr val="000000"/>
                </a:solidFill>
                <a:ea typeface="ヒラギノ角ゴ Pro W3"/>
                <a:cs typeface="Times New Roman" pitchFamily="18" charset="0"/>
              </a:rPr>
              <a:t>-amylase</a:t>
            </a:r>
          </a:p>
        </p:txBody>
      </p:sp>
      <p:sp>
        <p:nvSpPr>
          <p:cNvPr id="35847" name="TextBox 7"/>
          <p:cNvSpPr txBox="1">
            <a:spLocks noChangeArrowheads="1"/>
          </p:cNvSpPr>
          <p:nvPr/>
        </p:nvSpPr>
        <p:spPr bwMode="auto">
          <a:xfrm>
            <a:off x="6919913" y="2779713"/>
            <a:ext cx="6540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Sugar</a:t>
            </a:r>
          </a:p>
        </p:txBody>
      </p:sp>
      <p:sp>
        <p:nvSpPr>
          <p:cNvPr id="35848" name="TextBox 8"/>
          <p:cNvSpPr txBox="1">
            <a:spLocks noChangeArrowheads="1"/>
          </p:cNvSpPr>
          <p:nvPr/>
        </p:nvSpPr>
        <p:spPr bwMode="auto">
          <a:xfrm>
            <a:off x="3206750" y="3030538"/>
            <a:ext cx="3476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GA</a:t>
            </a:r>
          </a:p>
        </p:txBody>
      </p:sp>
      <p:sp>
        <p:nvSpPr>
          <p:cNvPr id="35849" name="TextBox 9"/>
          <p:cNvSpPr txBox="1">
            <a:spLocks noChangeArrowheads="1"/>
          </p:cNvSpPr>
          <p:nvPr/>
        </p:nvSpPr>
        <p:spPr bwMode="auto">
          <a:xfrm>
            <a:off x="3613150" y="3635375"/>
            <a:ext cx="3476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GA</a:t>
            </a:r>
          </a:p>
        </p:txBody>
      </p:sp>
      <p:sp>
        <p:nvSpPr>
          <p:cNvPr id="35850" name="TextBox 10"/>
          <p:cNvSpPr txBox="1">
            <a:spLocks noChangeArrowheads="1"/>
          </p:cNvSpPr>
          <p:nvPr/>
        </p:nvSpPr>
        <p:spPr bwMode="auto">
          <a:xfrm>
            <a:off x="2216150" y="3889375"/>
            <a:ext cx="6334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Water</a:t>
            </a:r>
          </a:p>
        </p:txBody>
      </p:sp>
      <p:sp>
        <p:nvSpPr>
          <p:cNvPr id="35851" name="TextBox 11"/>
          <p:cNvSpPr txBox="1">
            <a:spLocks noChangeArrowheads="1"/>
          </p:cNvSpPr>
          <p:nvPr/>
        </p:nvSpPr>
        <p:spPr bwMode="auto">
          <a:xfrm>
            <a:off x="1863725" y="4513263"/>
            <a:ext cx="12446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Scutellum</a:t>
            </a:r>
          </a:p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(cotyledon)</a:t>
            </a:r>
          </a:p>
        </p:txBody>
      </p:sp>
      <p:sp>
        <p:nvSpPr>
          <p:cNvPr id="35852" name="TextBox 13"/>
          <p:cNvSpPr txBox="1">
            <a:spLocks noChangeArrowheads="1"/>
          </p:cNvSpPr>
          <p:nvPr/>
        </p:nvSpPr>
        <p:spPr bwMode="auto">
          <a:xfrm>
            <a:off x="4103688" y="4483100"/>
            <a:ext cx="82073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en-US" b="1">
                <a:solidFill>
                  <a:srgbClr val="000000"/>
                </a:solidFill>
                <a:ea typeface="ヒラギノ角ゴ Pro W3"/>
                <a:cs typeface="ヒラギノ角ゴ Pro W3"/>
              </a:rPr>
              <a:t>Radicle</a:t>
            </a:r>
          </a:p>
        </p:txBody>
      </p:sp>
      <p:grpSp>
        <p:nvGrpSpPr>
          <p:cNvPr id="35853" name="Group 2"/>
          <p:cNvGrpSpPr>
            <a:grpSpLocks/>
          </p:cNvGrpSpPr>
          <p:nvPr/>
        </p:nvGrpSpPr>
        <p:grpSpPr bwMode="auto">
          <a:xfrm>
            <a:off x="6526213" y="1998663"/>
            <a:ext cx="274637" cy="273050"/>
            <a:chOff x="6527005" y="1997869"/>
            <a:chExt cx="274320" cy="274320"/>
          </a:xfrm>
        </p:grpSpPr>
        <p:sp>
          <p:nvSpPr>
            <p:cNvPr id="35871" name="Oval 1"/>
            <p:cNvSpPr>
              <a:spLocks noChangeArrowheads="1"/>
            </p:cNvSpPr>
            <p:nvPr/>
          </p:nvSpPr>
          <p:spPr bwMode="auto">
            <a:xfrm>
              <a:off x="6527005" y="1997869"/>
              <a:ext cx="274320" cy="274320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5872" name="TextBox 6"/>
            <p:cNvSpPr txBox="1">
              <a:spLocks noChangeArrowheads="1"/>
            </p:cNvSpPr>
            <p:nvPr/>
          </p:nvSpPr>
          <p:spPr bwMode="auto">
            <a:xfrm>
              <a:off x="6600045" y="200678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altLang="en-US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3</a:t>
              </a:r>
            </a:p>
          </p:txBody>
        </p:sp>
      </p:grpSp>
      <p:grpSp>
        <p:nvGrpSpPr>
          <p:cNvPr id="35854" name="Group 17"/>
          <p:cNvGrpSpPr>
            <a:grpSpLocks/>
          </p:cNvGrpSpPr>
          <p:nvPr/>
        </p:nvGrpSpPr>
        <p:grpSpPr bwMode="auto">
          <a:xfrm>
            <a:off x="4594225" y="1998663"/>
            <a:ext cx="274638" cy="273050"/>
            <a:chOff x="6527005" y="1997869"/>
            <a:chExt cx="274320" cy="274320"/>
          </a:xfrm>
        </p:grpSpPr>
        <p:sp>
          <p:nvSpPr>
            <p:cNvPr id="35869" name="Oval 18"/>
            <p:cNvSpPr>
              <a:spLocks noChangeArrowheads="1"/>
            </p:cNvSpPr>
            <p:nvPr/>
          </p:nvSpPr>
          <p:spPr bwMode="auto">
            <a:xfrm>
              <a:off x="6527005" y="1997869"/>
              <a:ext cx="274320" cy="274320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5870" name="TextBox 6"/>
            <p:cNvSpPr txBox="1">
              <a:spLocks noChangeArrowheads="1"/>
            </p:cNvSpPr>
            <p:nvPr/>
          </p:nvSpPr>
          <p:spPr bwMode="auto">
            <a:xfrm>
              <a:off x="6600045" y="200678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altLang="en-US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2</a:t>
              </a:r>
            </a:p>
          </p:txBody>
        </p:sp>
      </p:grpSp>
      <p:grpSp>
        <p:nvGrpSpPr>
          <p:cNvPr id="35855" name="Group 20"/>
          <p:cNvGrpSpPr>
            <a:grpSpLocks/>
          </p:cNvGrpSpPr>
          <p:nvPr/>
        </p:nvGrpSpPr>
        <p:grpSpPr bwMode="auto">
          <a:xfrm>
            <a:off x="2706688" y="1985963"/>
            <a:ext cx="274637" cy="274637"/>
            <a:chOff x="6527005" y="1997869"/>
            <a:chExt cx="274320" cy="274320"/>
          </a:xfrm>
        </p:grpSpPr>
        <p:sp>
          <p:nvSpPr>
            <p:cNvPr id="35867" name="Oval 21"/>
            <p:cNvSpPr>
              <a:spLocks noChangeArrowheads="1"/>
            </p:cNvSpPr>
            <p:nvPr/>
          </p:nvSpPr>
          <p:spPr bwMode="auto">
            <a:xfrm>
              <a:off x="6527005" y="1997869"/>
              <a:ext cx="274320" cy="274320"/>
            </a:xfrm>
            <a:prstGeom prst="ellipse">
              <a:avLst/>
            </a:prstGeom>
            <a:solidFill>
              <a:srgbClr val="0092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 sz="2400">
                <a:solidFill>
                  <a:srgbClr val="000000"/>
                </a:solidFill>
                <a:latin typeface="Times" pitchFamily="18" charset="0"/>
                <a:ea typeface="ヒラギノ角ゴ Pro W3"/>
                <a:cs typeface="ヒラギノ角ゴ Pro W3"/>
              </a:endParaRPr>
            </a:p>
          </p:txBody>
        </p:sp>
        <p:sp>
          <p:nvSpPr>
            <p:cNvPr id="35868" name="TextBox 6"/>
            <p:cNvSpPr txBox="1">
              <a:spLocks noChangeArrowheads="1"/>
            </p:cNvSpPr>
            <p:nvPr/>
          </p:nvSpPr>
          <p:spPr bwMode="auto">
            <a:xfrm>
              <a:off x="6600045" y="200678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altLang="en-US" b="1">
                  <a:solidFill>
                    <a:srgbClr val="FFFFFF"/>
                  </a:solidFill>
                  <a:ea typeface="ヒラギノ角ゴ Pro W3"/>
                  <a:cs typeface="ヒラギノ角ゴ Pro W3"/>
                </a:rPr>
                <a:t>1</a:t>
              </a:r>
            </a:p>
          </p:txBody>
        </p:sp>
      </p:grpSp>
      <p:sp>
        <p:nvSpPr>
          <p:cNvPr id="35856" name="Freeform 23"/>
          <p:cNvSpPr>
            <a:spLocks/>
          </p:cNvSpPr>
          <p:nvPr/>
        </p:nvSpPr>
        <p:spPr bwMode="auto">
          <a:xfrm>
            <a:off x="849313" y="1906588"/>
            <a:ext cx="660400" cy="609600"/>
          </a:xfrm>
          <a:custGeom>
            <a:avLst/>
            <a:gdLst>
              <a:gd name="T0" fmla="*/ 659607 w 659607"/>
              <a:gd name="T1" fmla="*/ 609600 h 609600"/>
              <a:gd name="T2" fmla="*/ 0 w 659607"/>
              <a:gd name="T3" fmla="*/ 0 h 609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9607" h="609600">
                <a:moveTo>
                  <a:pt x="659607" y="60960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Freeform 24"/>
          <p:cNvSpPr>
            <a:spLocks/>
          </p:cNvSpPr>
          <p:nvPr/>
        </p:nvSpPr>
        <p:spPr bwMode="auto">
          <a:xfrm>
            <a:off x="1687513" y="2259013"/>
            <a:ext cx="225425" cy="501650"/>
          </a:xfrm>
          <a:custGeom>
            <a:avLst/>
            <a:gdLst>
              <a:gd name="T0" fmla="*/ 0 w 223838"/>
              <a:gd name="T1" fmla="*/ 500063 h 500063"/>
              <a:gd name="T2" fmla="*/ 223838 w 223838"/>
              <a:gd name="T3" fmla="*/ 0 h 50006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23838" h="500063">
                <a:moveTo>
                  <a:pt x="0" y="500063"/>
                </a:moveTo>
                <a:lnTo>
                  <a:pt x="223838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8" name="Freeform 25"/>
          <p:cNvSpPr>
            <a:spLocks/>
          </p:cNvSpPr>
          <p:nvPr/>
        </p:nvSpPr>
        <p:spPr bwMode="auto">
          <a:xfrm>
            <a:off x="1487488" y="4160838"/>
            <a:ext cx="352425" cy="498475"/>
          </a:xfrm>
          <a:custGeom>
            <a:avLst/>
            <a:gdLst>
              <a:gd name="T0" fmla="*/ 352425 w 352425"/>
              <a:gd name="T1" fmla="*/ 500062 h 500062"/>
              <a:gd name="T2" fmla="*/ 0 w 352425"/>
              <a:gd name="T3" fmla="*/ 0 h 5000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2425" h="500062">
                <a:moveTo>
                  <a:pt x="352425" y="500062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9" name="Freeform 26"/>
          <p:cNvSpPr>
            <a:spLocks/>
          </p:cNvSpPr>
          <p:nvPr/>
        </p:nvSpPr>
        <p:spPr bwMode="auto">
          <a:xfrm>
            <a:off x="3697288" y="4000500"/>
            <a:ext cx="368300" cy="611188"/>
          </a:xfrm>
          <a:custGeom>
            <a:avLst/>
            <a:gdLst>
              <a:gd name="T0" fmla="*/ 0 w 366713"/>
              <a:gd name="T1" fmla="*/ 0 h 611981"/>
              <a:gd name="T2" fmla="*/ 366713 w 366713"/>
              <a:gd name="T3" fmla="*/ 611981 h 61198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66713" h="611981">
                <a:moveTo>
                  <a:pt x="0" y="0"/>
                </a:moveTo>
                <a:lnTo>
                  <a:pt x="366713" y="611981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0" name="Freeform 27"/>
          <p:cNvSpPr>
            <a:spLocks/>
          </p:cNvSpPr>
          <p:nvPr/>
        </p:nvSpPr>
        <p:spPr bwMode="auto">
          <a:xfrm>
            <a:off x="4962525" y="4610100"/>
            <a:ext cx="800100" cy="0"/>
          </a:xfrm>
          <a:custGeom>
            <a:avLst/>
            <a:gdLst>
              <a:gd name="T0" fmla="*/ 0 w 800100"/>
              <a:gd name="T1" fmla="*/ 800100 w 800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1" name="Freeform 28"/>
          <p:cNvSpPr>
            <a:spLocks/>
          </p:cNvSpPr>
          <p:nvPr/>
        </p:nvSpPr>
        <p:spPr bwMode="auto">
          <a:xfrm>
            <a:off x="852488" y="1908175"/>
            <a:ext cx="660400" cy="609600"/>
          </a:xfrm>
          <a:custGeom>
            <a:avLst/>
            <a:gdLst>
              <a:gd name="T0" fmla="*/ 659607 w 659607"/>
              <a:gd name="T1" fmla="*/ 609600 h 609600"/>
              <a:gd name="T2" fmla="*/ 0 w 659607"/>
              <a:gd name="T3" fmla="*/ 0 h 609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9607" h="609600">
                <a:moveTo>
                  <a:pt x="659607" y="60960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2" name="Freeform 29"/>
          <p:cNvSpPr>
            <a:spLocks/>
          </p:cNvSpPr>
          <p:nvPr/>
        </p:nvSpPr>
        <p:spPr bwMode="auto">
          <a:xfrm>
            <a:off x="1690688" y="2260600"/>
            <a:ext cx="223837" cy="500063"/>
          </a:xfrm>
          <a:custGeom>
            <a:avLst/>
            <a:gdLst>
              <a:gd name="T0" fmla="*/ 0 w 223838"/>
              <a:gd name="T1" fmla="*/ 500063 h 500063"/>
              <a:gd name="T2" fmla="*/ 223838 w 223838"/>
              <a:gd name="T3" fmla="*/ 0 h 50006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23838" h="500063">
                <a:moveTo>
                  <a:pt x="0" y="500063"/>
                </a:moveTo>
                <a:lnTo>
                  <a:pt x="22383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3" name="Freeform 30"/>
          <p:cNvSpPr>
            <a:spLocks/>
          </p:cNvSpPr>
          <p:nvPr/>
        </p:nvSpPr>
        <p:spPr bwMode="auto">
          <a:xfrm>
            <a:off x="1490663" y="4160838"/>
            <a:ext cx="352425" cy="500062"/>
          </a:xfrm>
          <a:custGeom>
            <a:avLst/>
            <a:gdLst>
              <a:gd name="T0" fmla="*/ 352425 w 352425"/>
              <a:gd name="T1" fmla="*/ 500062 h 500062"/>
              <a:gd name="T2" fmla="*/ 0 w 352425"/>
              <a:gd name="T3" fmla="*/ 0 h 5000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2425" h="500062">
                <a:moveTo>
                  <a:pt x="352425" y="50006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4" name="Freeform 31"/>
          <p:cNvSpPr>
            <a:spLocks/>
          </p:cNvSpPr>
          <p:nvPr/>
        </p:nvSpPr>
        <p:spPr bwMode="auto">
          <a:xfrm>
            <a:off x="3700463" y="4000500"/>
            <a:ext cx="366712" cy="612775"/>
          </a:xfrm>
          <a:custGeom>
            <a:avLst/>
            <a:gdLst>
              <a:gd name="T0" fmla="*/ 0 w 366713"/>
              <a:gd name="T1" fmla="*/ 0 h 611981"/>
              <a:gd name="T2" fmla="*/ 366713 w 366713"/>
              <a:gd name="T3" fmla="*/ 611981 h 61198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66713" h="611981">
                <a:moveTo>
                  <a:pt x="0" y="0"/>
                </a:moveTo>
                <a:lnTo>
                  <a:pt x="366713" y="611981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5" name="Freeform 32"/>
          <p:cNvSpPr>
            <a:spLocks/>
          </p:cNvSpPr>
          <p:nvPr/>
        </p:nvSpPr>
        <p:spPr bwMode="auto">
          <a:xfrm>
            <a:off x="4965700" y="4610100"/>
            <a:ext cx="800100" cy="0"/>
          </a:xfrm>
          <a:custGeom>
            <a:avLst/>
            <a:gdLst>
              <a:gd name="T0" fmla="*/ 0 w 800100"/>
              <a:gd name="T1" fmla="*/ 800100 w 800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6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smtClean="0"/>
              <a:t>Abscisic Acid</a:t>
            </a:r>
            <a:endParaRPr lang="en-US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smtClean="0"/>
              <a:t>Abscisic acid</a:t>
            </a:r>
            <a:r>
              <a:rPr lang="en-US" altLang="en-US" sz="2800" smtClean="0"/>
              <a:t> </a:t>
            </a:r>
            <a:r>
              <a:rPr lang="en-US" altLang="en-US" sz="2800" b="1" smtClean="0"/>
              <a:t>(ABA)</a:t>
            </a:r>
            <a:r>
              <a:rPr lang="en-US" altLang="en-US" sz="2800" smtClean="0"/>
              <a:t> slows growth, often by antagonizing the actions of growth hormones</a:t>
            </a:r>
          </a:p>
          <a:p>
            <a:r>
              <a:rPr lang="en-US" altLang="en-US" sz="2800" smtClean="0"/>
              <a:t>ABA has many other effects on plants including seed dormancy and drought tolerance</a:t>
            </a:r>
          </a:p>
        </p:txBody>
      </p:sp>
      <p:sp>
        <p:nvSpPr>
          <p:cNvPr id="36868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6675" y="6586538"/>
            <a:ext cx="3086100" cy="233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mtClean="0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381000"/>
            <a:ext cx="8610600" cy="51816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b="1" dirty="0" smtClean="0"/>
              <a:t>Seed Dormancy</a:t>
            </a:r>
          </a:p>
          <a:p>
            <a:pPr>
              <a:defRPr/>
            </a:pPr>
            <a:r>
              <a:rPr lang="en-US" sz="2800" dirty="0" smtClean="0"/>
              <a:t>Seed dormancy increases the likelihood that the seed will germinate only in optimal conditions</a:t>
            </a:r>
          </a:p>
          <a:p>
            <a:pPr>
              <a:defRPr/>
            </a:pPr>
            <a:r>
              <a:rPr lang="en-US" sz="2800" dirty="0" smtClean="0"/>
              <a:t>Many dormant seeds germinate when ABA is removed or inactivated</a:t>
            </a:r>
          </a:p>
          <a:p>
            <a:pPr>
              <a:defRPr/>
            </a:pPr>
            <a:r>
              <a:rPr lang="en-US" sz="2800" dirty="0" smtClean="0"/>
              <a:t>The ratio of ABA to gibberellins often affects whether seeds will break dormancy</a:t>
            </a:r>
          </a:p>
          <a:p>
            <a:pPr>
              <a:defRPr/>
            </a:pPr>
            <a:r>
              <a:rPr lang="en-US" sz="2800" dirty="0" smtClean="0"/>
              <a:t>Precocious (early) germination can be caused by inactive or low levels of ABA</a:t>
            </a:r>
          </a:p>
        </p:txBody>
      </p:sp>
      <p:sp>
        <p:nvSpPr>
          <p:cNvPr id="3789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228600"/>
            <a:ext cx="82296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en-US" b="1" dirty="0" smtClean="0"/>
              <a:t>Drought Tolerance</a:t>
            </a:r>
          </a:p>
          <a:p>
            <a:pPr>
              <a:defRPr/>
            </a:pPr>
            <a:r>
              <a:rPr lang="en-US" altLang="en-US" sz="2800" dirty="0" smtClean="0"/>
              <a:t>ABA is the primary internal signal that enables plants to withstand drought</a:t>
            </a:r>
          </a:p>
          <a:p>
            <a:pPr>
              <a:defRPr/>
            </a:pPr>
            <a:r>
              <a:rPr lang="en-US" altLang="en-US" sz="2800" dirty="0" smtClean="0"/>
              <a:t>ABA accumulation in wilting leaves causes stomata to close rapidly</a:t>
            </a:r>
          </a:p>
          <a:p>
            <a:pPr>
              <a:defRPr/>
            </a:pPr>
            <a:r>
              <a:rPr lang="en-US" altLang="en-US" sz="2800" dirty="0" smtClean="0"/>
              <a:t>Transport of ABA from water-stressed root systems to leaves can act as an “early warning system” </a:t>
            </a:r>
          </a:p>
        </p:txBody>
      </p:sp>
      <p:sp>
        <p:nvSpPr>
          <p:cNvPr id="38915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altLang="en-US" i="1" smtClean="0"/>
              <a:t>Ethylene</a:t>
            </a:r>
            <a:endParaRPr lang="en-US" altLang="en-US" smtClean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 smtClean="0"/>
              <a:t>Plants produce </a:t>
            </a:r>
            <a:r>
              <a:rPr lang="en-US" altLang="en-US" sz="2800" b="1" dirty="0" smtClean="0"/>
              <a:t>ethylene</a:t>
            </a:r>
            <a:r>
              <a:rPr lang="en-US" altLang="en-US" sz="2800" dirty="0" smtClean="0"/>
              <a:t> in response to stresses such as drought, flooding, mechanical pressure, injury, and infection</a:t>
            </a:r>
          </a:p>
          <a:p>
            <a:pPr marL="0" indent="0">
              <a:buFontTx/>
              <a:buNone/>
              <a:defRPr/>
            </a:pPr>
            <a:endParaRPr lang="en-US" altLang="en-US" sz="2800" dirty="0" smtClean="0"/>
          </a:p>
          <a:p>
            <a:pPr>
              <a:defRPr/>
            </a:pPr>
            <a:r>
              <a:rPr lang="en-US" altLang="en-US" sz="2800" dirty="0" smtClean="0"/>
              <a:t>The effects of ethylene include response to mechanical stress, senescence, leaf abscission, and fruit ripening</a:t>
            </a:r>
          </a:p>
        </p:txBody>
      </p:sp>
      <p:sp>
        <p:nvSpPr>
          <p:cNvPr id="39940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6675" y="6586538"/>
            <a:ext cx="3086100" cy="233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mtClean="0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52400"/>
            <a:ext cx="82296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b="1" dirty="0" smtClean="0"/>
              <a:t>The Triple Response to Mechanical Stress</a:t>
            </a:r>
          </a:p>
          <a:p>
            <a:pPr>
              <a:defRPr/>
            </a:pPr>
            <a:r>
              <a:rPr lang="en-US" sz="2800" dirty="0" smtClean="0"/>
              <a:t>Ethylene is produced when a seedling tip pushes against an obstacle </a:t>
            </a:r>
          </a:p>
          <a:p>
            <a:pPr marL="0" indent="0">
              <a:buFontTx/>
              <a:buNone/>
              <a:defRPr/>
            </a:pPr>
            <a:endParaRPr lang="en-US" sz="2800" dirty="0" smtClean="0"/>
          </a:p>
          <a:p>
            <a:pPr>
              <a:defRPr/>
            </a:pPr>
            <a:r>
              <a:rPr lang="en-US" sz="2800" dirty="0" smtClean="0"/>
              <a:t>The production of ethylene induces a </a:t>
            </a:r>
            <a:r>
              <a:rPr lang="en-US" sz="2800" b="1" dirty="0" smtClean="0"/>
              <a:t>triple response</a:t>
            </a:r>
            <a:r>
              <a:rPr lang="en-US" sz="2800" dirty="0" smtClean="0"/>
              <a:t> in which stem elongation is slowed, the stem thickens, and the stem begins to grow horizontally</a:t>
            </a:r>
          </a:p>
          <a:p>
            <a:pPr marL="0" indent="0">
              <a:buFontTx/>
              <a:buNone/>
              <a:defRPr/>
            </a:pPr>
            <a:endParaRPr lang="en-US" sz="2800" dirty="0" smtClean="0"/>
          </a:p>
          <a:p>
            <a:pPr>
              <a:defRPr/>
            </a:pPr>
            <a:r>
              <a:rPr lang="en-US" sz="2800" dirty="0" smtClean="0"/>
              <a:t>Vertical growth resumes when the effects of the ethylene wear off</a:t>
            </a:r>
          </a:p>
        </p:txBody>
      </p:sp>
      <p:sp>
        <p:nvSpPr>
          <p:cNvPr id="40963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228600"/>
            <a:ext cx="8610600" cy="5105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b="1" dirty="0" smtClean="0"/>
              <a:t>Senescence</a:t>
            </a:r>
          </a:p>
          <a:p>
            <a:pPr>
              <a:defRPr/>
            </a:pPr>
            <a:r>
              <a:rPr lang="en-US" sz="2800" b="1" dirty="0" smtClean="0"/>
              <a:t>Senescence</a:t>
            </a:r>
            <a:r>
              <a:rPr lang="en-US" sz="2800" dirty="0" smtClean="0"/>
              <a:t> is the programmed death of certain cells or organs or entire plants</a:t>
            </a:r>
          </a:p>
          <a:p>
            <a:pPr>
              <a:defRPr/>
            </a:pPr>
            <a:r>
              <a:rPr lang="en-US" sz="2800" dirty="0" smtClean="0"/>
              <a:t>A burst of ethylene is associated with the onset of apoptosis, programmed cell death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en-US" sz="2800" b="1" dirty="0">
                <a:solidFill>
                  <a:srgbClr val="000000"/>
                </a:solidFill>
                <a:cs typeface="Arial"/>
              </a:rPr>
              <a:t>Leaf Abscission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cs typeface="Arial"/>
              </a:rPr>
              <a:t>A change in the balance of auxin and ethylene controls leaf abscission, the process that occurs in autumn when a leaf falls</a:t>
            </a:r>
          </a:p>
          <a:p>
            <a:pPr>
              <a:defRPr/>
            </a:pPr>
            <a:endParaRPr lang="en-US" sz="2800" dirty="0" smtClean="0"/>
          </a:p>
        </p:txBody>
      </p:sp>
      <p:sp>
        <p:nvSpPr>
          <p:cNvPr id="41987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533400"/>
            <a:ext cx="9144001" cy="646113"/>
          </a:xfrm>
        </p:spPr>
        <p:txBody>
          <a:bodyPr/>
          <a:lstStyle/>
          <a:p>
            <a:r>
              <a:rPr lang="en-US" altLang="en-US" sz="3600" i="1" smtClean="0"/>
              <a:t>More Recently Discovered Plant Hormones</a:t>
            </a:r>
            <a:endParaRPr lang="en-US" altLang="en-US" sz="3600" smtClean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b="1" dirty="0" err="1" smtClean="0"/>
              <a:t>Brassinosteroids</a:t>
            </a:r>
            <a:r>
              <a:rPr lang="en-US" altLang="en-US" sz="2800" dirty="0" smtClean="0"/>
              <a:t> are chemically similar to cholesterol and the sex hormones of animals</a:t>
            </a:r>
          </a:p>
          <a:p>
            <a:pPr>
              <a:defRPr/>
            </a:pPr>
            <a:r>
              <a:rPr lang="en-US" altLang="en-US" sz="2800" dirty="0" smtClean="0"/>
              <a:t>They induce cell elongation and division in stem segments and seedlings at low concentration</a:t>
            </a:r>
          </a:p>
          <a:p>
            <a:pPr marL="0" indent="0">
              <a:buFontTx/>
              <a:buNone/>
              <a:defRPr/>
            </a:pPr>
            <a:endParaRPr lang="en-US" altLang="en-US" sz="2800" dirty="0" smtClean="0"/>
          </a:p>
          <a:p>
            <a:pPr>
              <a:defRPr/>
            </a:pPr>
            <a:r>
              <a:rPr lang="en-US" altLang="en-US" sz="2800" dirty="0" smtClean="0"/>
              <a:t>They slow leaf abscission and promote xylem differentiation</a:t>
            </a:r>
          </a:p>
        </p:txBody>
      </p:sp>
      <p:sp>
        <p:nvSpPr>
          <p:cNvPr id="4301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6675" y="6586538"/>
            <a:ext cx="3086100" cy="233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mtClean="0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04800"/>
            <a:ext cx="8229600" cy="4525963"/>
          </a:xfrm>
        </p:spPr>
        <p:txBody>
          <a:bodyPr/>
          <a:lstStyle/>
          <a:p>
            <a:pPr marL="346075" indent="-346075"/>
            <a:r>
              <a:rPr lang="en-US" altLang="en-US" b="1" smtClean="0"/>
              <a:t>Jasmonates</a:t>
            </a:r>
            <a:r>
              <a:rPr lang="en-US" altLang="en-US" smtClean="0"/>
              <a:t>, </a:t>
            </a:r>
            <a:r>
              <a:rPr lang="en-US" altLang="en-US" sz="2800" smtClean="0"/>
              <a:t>including jasmonate (JA) and methyl jasmonate (MeJA) play important roles in plant defense and development</a:t>
            </a:r>
          </a:p>
          <a:p>
            <a:pPr marL="346075" indent="-346075"/>
            <a:r>
              <a:rPr lang="en-US" altLang="en-US" sz="2800" smtClean="0"/>
              <a:t>They are produced in response to wounding and are involved in controlling plant defenses</a:t>
            </a:r>
          </a:p>
        </p:txBody>
      </p:sp>
      <p:sp>
        <p:nvSpPr>
          <p:cNvPr id="44035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"/>
            <a:ext cx="8229600" cy="5791200"/>
          </a:xfrm>
        </p:spPr>
        <p:txBody>
          <a:bodyPr/>
          <a:lstStyle/>
          <a:p>
            <a:pPr marL="346075" indent="-346075">
              <a:lnSpc>
                <a:spcPts val="3000"/>
              </a:lnSpc>
            </a:pPr>
            <a:r>
              <a:rPr lang="en-US" altLang="en-US" smtClean="0"/>
              <a:t>Jasmonates also regulate many other physiological processes, including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Nectar secretion 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Fruit ripening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Pollen production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Flowering time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Seed germination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Root growth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Tuber formation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Mycorrhizal symbiosis</a:t>
            </a:r>
          </a:p>
          <a:p>
            <a:pPr marL="739775" lvl="1" indent="-282575">
              <a:lnSpc>
                <a:spcPts val="2800"/>
              </a:lnSpc>
            </a:pPr>
            <a:r>
              <a:rPr lang="en-US" altLang="en-US" smtClean="0"/>
              <a:t>Tendril coiling </a:t>
            </a:r>
          </a:p>
        </p:txBody>
      </p:sp>
      <p:sp>
        <p:nvSpPr>
          <p:cNvPr id="45059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/>
              <a:t>© 2018 Pearson Education Ltd.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2200"/>
            <a:ext cx="8229600" cy="16002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Genetic Transformation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Genetic Transformation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 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  </a:t>
            </a:r>
          </a:p>
          <a:p>
            <a:pPr eaLnBrk="1" hangingPunct="1">
              <a:buFontTx/>
              <a:buNone/>
            </a:pPr>
            <a:r>
              <a:rPr lang="en-US" altLang="en-US" sz="2800" smtClean="0">
                <a:latin typeface="Times New Roman" pitchFamily="18" charset="0"/>
              </a:rPr>
              <a:t>    </a:t>
            </a:r>
            <a:r>
              <a:rPr lang="en-US" altLang="en-US" smtClean="0">
                <a:latin typeface="Times New Roman" pitchFamily="18" charset="0"/>
              </a:rPr>
              <a:t>A process by which the genetic material carried by an individual cell is altered by the incorporation of foreign (exogenous) DNA into its genome.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Times New Roman" pitchFamily="18" charset="0"/>
              </a:rPr>
              <a:t>Genetic Transformation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Genetic Transformation was discovered by chance not by design by Frederick Griffith in 1928.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He was trying to develop a vaccine for prevention of pneumonia epidemic.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 smtClean="0">
                <a:latin typeface="Times New Roman" pitchFamily="18" charset="0"/>
              </a:rPr>
              <a:t>Frederick Griffith Experiment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Organism used was </a:t>
            </a:r>
            <a:r>
              <a:rPr lang="en-US" altLang="en-US" i="1" smtClean="0">
                <a:latin typeface="Times New Roman" pitchFamily="18" charset="0"/>
              </a:rPr>
              <a:t>Streptococcus pneumoniae</a:t>
            </a:r>
          </a:p>
          <a:p>
            <a:pPr eaLnBrk="1" hangingPunct="1"/>
            <a:endParaRPr lang="en-US" altLang="en-US" i="1" smtClean="0">
              <a:latin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He used two different strains of</a:t>
            </a:r>
            <a:r>
              <a:rPr lang="en-US" altLang="en-US" i="1" smtClean="0">
                <a:latin typeface="Times New Roman" pitchFamily="18" charset="0"/>
              </a:rPr>
              <a:t> Streptococcus pneumoniae</a:t>
            </a:r>
          </a:p>
          <a:p>
            <a:pPr eaLnBrk="1" hangingPunct="1"/>
            <a:endParaRPr lang="en-US" altLang="en-US" i="1" smtClean="0">
              <a:latin typeface="Times New Roman" pitchFamily="18" charset="0"/>
            </a:endParaRPr>
          </a:p>
          <a:p>
            <a:pPr eaLnBrk="1" hangingPunct="1"/>
            <a:r>
              <a:rPr lang="en-US" altLang="en-US" i="1" smtClean="0">
                <a:latin typeface="Times New Roman" pitchFamily="18" charset="0"/>
              </a:rPr>
              <a:t>R strain (Rough type)</a:t>
            </a:r>
          </a:p>
          <a:p>
            <a:pPr eaLnBrk="1" hangingPunct="1"/>
            <a:r>
              <a:rPr lang="en-US" altLang="en-US" i="1" smtClean="0">
                <a:latin typeface="Times New Roman" pitchFamily="18" charset="0"/>
              </a:rPr>
              <a:t>S strain (Smooth type)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Griffith’s Experiment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Times New Roman" pitchFamily="18" charset="0"/>
              </a:rPr>
              <a:t>He injected mice with R strain and S strain.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Times New Roman" pitchFamily="18" charset="0"/>
              </a:rPr>
              <a:t>The mice injected with S strain develop pneumonia and died after few days, while those infected with R strain remains healthy.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Times New Roman" pitchFamily="18" charset="0"/>
              </a:rPr>
              <a:t>Mice injected with a mixture of inactivated S strain and normal R strain developed pneumonia.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Griffiths Results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smtClean="0"/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He postulated that some unknown “Transforming Principle” from the inactivated S strain had converted the non-capsulated non-virulent R strain into encapsulated and virulent S strain.</a:t>
            </a:r>
          </a:p>
          <a:p>
            <a:pPr eaLnBrk="1" hangingPunct="1">
              <a:buFontTx/>
              <a:buNone/>
            </a:pPr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D:\2016\Oct\02-Oct\Chapter 16\Unlabeled\16_02GriffithExperiment-U.jpg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 bwMode="auto">
          <a:xfrm>
            <a:off x="298450" y="212725"/>
            <a:ext cx="854710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itle 4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36115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Figure 16.2</a:t>
            </a:r>
          </a:p>
        </p:txBody>
      </p:sp>
      <p:sp>
        <p:nvSpPr>
          <p:cNvPr id="52228" name="TextBox 2"/>
          <p:cNvSpPr txBox="1">
            <a:spLocks noChangeArrowheads="1"/>
          </p:cNvSpPr>
          <p:nvPr/>
        </p:nvSpPr>
        <p:spPr bwMode="auto">
          <a:xfrm>
            <a:off x="311150" y="187325"/>
            <a:ext cx="14652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100" b="1">
                <a:solidFill>
                  <a:srgbClr val="B8694A"/>
                </a:solidFill>
                <a:ea typeface="ヒラギノ角ゴ Pro W3"/>
                <a:cs typeface="ヒラギノ角ゴ Pro W3"/>
              </a:rPr>
              <a:t>Experiment</a:t>
            </a:r>
          </a:p>
        </p:txBody>
      </p:sp>
      <p:sp>
        <p:nvSpPr>
          <p:cNvPr id="52229" name="TextBox 3"/>
          <p:cNvSpPr txBox="1">
            <a:spLocks noChangeArrowheads="1"/>
          </p:cNvSpPr>
          <p:nvPr/>
        </p:nvSpPr>
        <p:spPr bwMode="auto">
          <a:xfrm>
            <a:off x="328613" y="744538"/>
            <a:ext cx="1558925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Living S cells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(pathogenic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control)</a:t>
            </a:r>
          </a:p>
        </p:txBody>
      </p:sp>
      <p:sp>
        <p:nvSpPr>
          <p:cNvPr id="52230" name="TextBox 6"/>
          <p:cNvSpPr txBox="1">
            <a:spLocks noChangeArrowheads="1"/>
          </p:cNvSpPr>
          <p:nvPr/>
        </p:nvSpPr>
        <p:spPr bwMode="auto">
          <a:xfrm>
            <a:off x="2216150" y="744538"/>
            <a:ext cx="1831975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Living R cells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(nonpathogenic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control)</a:t>
            </a:r>
          </a:p>
        </p:txBody>
      </p:sp>
      <p:sp>
        <p:nvSpPr>
          <p:cNvPr id="52231" name="TextBox 9"/>
          <p:cNvSpPr txBox="1">
            <a:spLocks noChangeArrowheads="1"/>
          </p:cNvSpPr>
          <p:nvPr/>
        </p:nvSpPr>
        <p:spPr bwMode="auto">
          <a:xfrm>
            <a:off x="4406900" y="749300"/>
            <a:ext cx="2076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Heat-killed S cells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(nonpathogenic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control)</a:t>
            </a:r>
          </a:p>
        </p:txBody>
      </p:sp>
      <p:sp>
        <p:nvSpPr>
          <p:cNvPr id="52232" name="TextBox 12"/>
          <p:cNvSpPr txBox="1">
            <a:spLocks noChangeArrowheads="1"/>
          </p:cNvSpPr>
          <p:nvPr/>
        </p:nvSpPr>
        <p:spPr bwMode="auto">
          <a:xfrm>
            <a:off x="6784975" y="749300"/>
            <a:ext cx="1965325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Mixture of heat-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killed S cells and</a:t>
            </a: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living R cells</a:t>
            </a:r>
          </a:p>
        </p:txBody>
      </p:sp>
      <p:sp>
        <p:nvSpPr>
          <p:cNvPr id="52233" name="TextBox 15"/>
          <p:cNvSpPr txBox="1">
            <a:spLocks noChangeArrowheads="1"/>
          </p:cNvSpPr>
          <p:nvPr/>
        </p:nvSpPr>
        <p:spPr bwMode="auto">
          <a:xfrm>
            <a:off x="325438" y="3052763"/>
            <a:ext cx="97155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100" b="1">
                <a:solidFill>
                  <a:srgbClr val="B8694A"/>
                </a:solidFill>
                <a:ea typeface="ヒラギノ角ゴ Pro W3"/>
                <a:cs typeface="ヒラギノ角ゴ Pro W3"/>
              </a:rPr>
              <a:t>Results</a:t>
            </a:r>
          </a:p>
        </p:txBody>
      </p:sp>
      <p:sp>
        <p:nvSpPr>
          <p:cNvPr id="52234" name="TextBox 16"/>
          <p:cNvSpPr txBox="1">
            <a:spLocks noChangeArrowheads="1"/>
          </p:cNvSpPr>
          <p:nvPr/>
        </p:nvSpPr>
        <p:spPr bwMode="auto">
          <a:xfrm>
            <a:off x="325438" y="3729038"/>
            <a:ext cx="13303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Mouse dies</a:t>
            </a:r>
          </a:p>
        </p:txBody>
      </p:sp>
      <p:sp>
        <p:nvSpPr>
          <p:cNvPr id="52235" name="TextBox 17"/>
          <p:cNvSpPr txBox="1">
            <a:spLocks noChangeArrowheads="1"/>
          </p:cNvSpPr>
          <p:nvPr/>
        </p:nvSpPr>
        <p:spPr bwMode="auto">
          <a:xfrm>
            <a:off x="2355850" y="3729038"/>
            <a:ext cx="16986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Mouse healthy</a:t>
            </a:r>
          </a:p>
        </p:txBody>
      </p:sp>
      <p:sp>
        <p:nvSpPr>
          <p:cNvPr id="52236" name="TextBox 18"/>
          <p:cNvSpPr txBox="1">
            <a:spLocks noChangeArrowheads="1"/>
          </p:cNvSpPr>
          <p:nvPr/>
        </p:nvSpPr>
        <p:spPr bwMode="auto">
          <a:xfrm>
            <a:off x="4821238" y="3729038"/>
            <a:ext cx="16986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Mouse healthy</a:t>
            </a:r>
          </a:p>
        </p:txBody>
      </p:sp>
      <p:sp>
        <p:nvSpPr>
          <p:cNvPr id="52237" name="TextBox 19"/>
          <p:cNvSpPr txBox="1">
            <a:spLocks noChangeArrowheads="1"/>
          </p:cNvSpPr>
          <p:nvPr/>
        </p:nvSpPr>
        <p:spPr bwMode="auto">
          <a:xfrm>
            <a:off x="7319963" y="3729038"/>
            <a:ext cx="13303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Mouse dies</a:t>
            </a:r>
          </a:p>
        </p:txBody>
      </p:sp>
      <p:sp>
        <p:nvSpPr>
          <p:cNvPr id="52238" name="TextBox 20"/>
          <p:cNvSpPr txBox="1">
            <a:spLocks noChangeArrowheads="1"/>
          </p:cNvSpPr>
          <p:nvPr/>
        </p:nvSpPr>
        <p:spPr bwMode="auto">
          <a:xfrm>
            <a:off x="4848225" y="5662613"/>
            <a:ext cx="1558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900" b="1">
                <a:solidFill>
                  <a:srgbClr val="000000"/>
                </a:solidFill>
                <a:ea typeface="ヒラギノ角ゴ Pro W3"/>
                <a:cs typeface="ヒラギノ角ゴ Pro W3"/>
              </a:rPr>
              <a:t>Living S cells</a:t>
            </a:r>
          </a:p>
        </p:txBody>
      </p:sp>
      <p:sp>
        <p:nvSpPr>
          <p:cNvPr id="52239" name="Freeform 1"/>
          <p:cNvSpPr>
            <a:spLocks/>
          </p:cNvSpPr>
          <p:nvPr/>
        </p:nvSpPr>
        <p:spPr bwMode="auto">
          <a:xfrm>
            <a:off x="6451600" y="5824538"/>
            <a:ext cx="892175" cy="4762"/>
          </a:xfrm>
          <a:custGeom>
            <a:avLst/>
            <a:gdLst>
              <a:gd name="T0" fmla="*/ 0 w 892968"/>
              <a:gd name="T1" fmla="*/ 0 h 4762"/>
              <a:gd name="T2" fmla="*/ 892175 w 892968"/>
              <a:gd name="T3" fmla="*/ 4762 h 47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92968" h="4762">
                <a:moveTo>
                  <a:pt x="0" y="0"/>
                </a:moveTo>
                <a:lnTo>
                  <a:pt x="892968" y="476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0" name="Footer Placeholder 1"/>
          <p:cNvSpPr txBox="1">
            <a:spLocks/>
          </p:cNvSpPr>
          <p:nvPr/>
        </p:nvSpPr>
        <p:spPr bwMode="auto">
          <a:xfrm>
            <a:off x="66675" y="6586538"/>
            <a:ext cx="30861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900">
                <a:solidFill>
                  <a:srgbClr val="000000"/>
                </a:solidFill>
                <a:ea typeface="ヒラギノ角ゴ Pro W3"/>
                <a:cs typeface="ヒラギノ角ゴ Pro W3"/>
              </a:rPr>
              <a:t>© 2018 Pearson Education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 New Roman" pitchFamily="18" charset="0"/>
              </a:rPr>
              <a:t>Purpose of Genetic Transformation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To improve the quality of crops</a:t>
            </a:r>
          </a:p>
          <a:p>
            <a:pPr eaLnBrk="1" hangingPunct="1"/>
            <a:endParaRPr lang="en-US" altLang="en-US" smtClean="0">
              <a:latin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Times New Roman" pitchFamily="18" charset="0"/>
              </a:rPr>
              <a:t>To improve the productivity of crops in order to meet increasing demands of food.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95400"/>
            <a:ext cx="8001000" cy="2616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plant biotechnology encompasses two major areas</a:t>
            </a:r>
            <a:r>
              <a:rPr lang="en-US" dirty="0"/>
              <a:t>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342900" indent="-342900">
              <a:buFontTx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tissues culture 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genetic engineering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4880</TotalTime>
  <Words>1956</Words>
  <Application>Microsoft Office PowerPoint</Application>
  <PresentationFormat>On-screen Show (4:3)</PresentationFormat>
  <Paragraphs>316</Paragraphs>
  <Slides>49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ＭＳ Ｐゴシック</vt:lpstr>
      <vt:lpstr>Arial</vt:lpstr>
      <vt:lpstr>Calibri</vt:lpstr>
      <vt:lpstr>Times</vt:lpstr>
      <vt:lpstr>Times New Roman</vt:lpstr>
      <vt:lpstr>Wingdings</vt:lpstr>
      <vt:lpstr>ヒラギノ角ゴ Pro W3</vt:lpstr>
      <vt:lpstr>Default Design</vt:lpstr>
      <vt:lpstr>1_Blank</vt:lpstr>
      <vt:lpstr>2_Blank</vt:lpstr>
      <vt:lpstr> HISTORY OF PLANT BIOTECHNOLOGY</vt:lpstr>
      <vt:lpstr>PowerPoint Presentation</vt:lpstr>
      <vt:lpstr>PowerPoint Presentation</vt:lpstr>
      <vt:lpstr>PowerPoint Presentation</vt:lpstr>
      <vt:lpstr>PowerPoint Presentation</vt:lpstr>
      <vt:lpstr>Plant Biotechnology</vt:lpstr>
      <vt:lpstr>Introduction</vt:lpstr>
      <vt:lpstr>Objective</vt:lpstr>
      <vt:lpstr>THE CELL THEORY</vt:lpstr>
      <vt:lpstr>Schleiden (1838):</vt:lpstr>
      <vt:lpstr>Schwann (1839):</vt:lpstr>
      <vt:lpstr>Cell Theory:</vt:lpstr>
      <vt:lpstr>Virchow (1858):</vt:lpstr>
      <vt:lpstr>Revival of Cell Theory:</vt:lpstr>
      <vt:lpstr>Revival of Cell Theory:</vt:lpstr>
      <vt:lpstr>TOTIPOTENCY</vt:lpstr>
      <vt:lpstr>Totipotency</vt:lpstr>
      <vt:lpstr>Totipotency of Plant Cell</vt:lpstr>
      <vt:lpstr>Gottlieb Haberlandt Experiment</vt:lpstr>
      <vt:lpstr>Results</vt:lpstr>
      <vt:lpstr>Predictions made by Gottlieb Haberlandt</vt:lpstr>
      <vt:lpstr>Discovery of Plant Growth Substances</vt:lpstr>
      <vt:lpstr>Auxins</vt:lpstr>
      <vt:lpstr>Figure 39.5</vt:lpstr>
      <vt:lpstr>Figure 39.5c</vt:lpstr>
      <vt:lpstr>Figure 39.7</vt:lpstr>
      <vt:lpstr>Cytokinins</vt:lpstr>
      <vt:lpstr>PowerPoint Presentation</vt:lpstr>
      <vt:lpstr>PowerPoint Presentation</vt:lpstr>
      <vt:lpstr>Figure 39.9a</vt:lpstr>
      <vt:lpstr>Figure 39.10</vt:lpstr>
      <vt:lpstr>Abscisic Acid</vt:lpstr>
      <vt:lpstr>PowerPoint Presentation</vt:lpstr>
      <vt:lpstr>PowerPoint Presentation</vt:lpstr>
      <vt:lpstr>Ethylene</vt:lpstr>
      <vt:lpstr>PowerPoint Presentation</vt:lpstr>
      <vt:lpstr>PowerPoint Presentation</vt:lpstr>
      <vt:lpstr>More Recently Discovered Plant Hormones</vt:lpstr>
      <vt:lpstr>PowerPoint Presentation</vt:lpstr>
      <vt:lpstr>PowerPoint Presentation</vt:lpstr>
      <vt:lpstr>Genetic Transformation</vt:lpstr>
      <vt:lpstr>Genetic Transformation</vt:lpstr>
      <vt:lpstr>Genetic Transformation</vt:lpstr>
      <vt:lpstr>Frederick Griffith Experiment</vt:lpstr>
      <vt:lpstr>Griffith’s Experiment</vt:lpstr>
      <vt:lpstr>Griffiths Results</vt:lpstr>
      <vt:lpstr>Figure 16.2</vt:lpstr>
      <vt:lpstr>Purpose of Genetic Transformation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HISTORY OF PLANT BIOTECHNOLOGY:</dc:title>
  <dc:creator>PERFECT</dc:creator>
  <cp:lastModifiedBy>JUST</cp:lastModifiedBy>
  <cp:revision>108</cp:revision>
  <dcterms:created xsi:type="dcterms:W3CDTF">2009-02-08T20:33:29Z</dcterms:created>
  <dcterms:modified xsi:type="dcterms:W3CDTF">2024-03-27T07:29:40Z</dcterms:modified>
</cp:coreProperties>
</file>