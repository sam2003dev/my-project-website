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 id="389" r:id="rId135"/>
    <p:sldId id="390" r:id="rId136"/>
    <p:sldId id="391" r:id="rId137"/>
    <p:sldId id="392" r:id="rId138"/>
    <p:sldId id="393" r:id="rId139"/>
    <p:sldId id="394" r:id="rId140"/>
    <p:sldId id="395" r:id="rId141"/>
    <p:sldId id="396" r:id="rId142"/>
    <p:sldId id="397" r:id="rId143"/>
    <p:sldId id="398" r:id="rId144"/>
    <p:sldId id="399" r:id="rId145"/>
    <p:sldId id="400" r:id="rId146"/>
    <p:sldId id="401" r:id="rId147"/>
    <p:sldId id="402" r:id="rId148"/>
    <p:sldId id="403" r:id="rId149"/>
    <p:sldId id="404" r:id="rId150"/>
    <p:sldId id="405" r:id="rId151"/>
    <p:sldId id="406" r:id="rId152"/>
    <p:sldId id="407" r:id="rId153"/>
    <p:sldId id="408" r:id="rId154"/>
    <p:sldId id="409" r:id="rId155"/>
    <p:sldId id="410" r:id="rId156"/>
    <p:sldId id="411" r:id="rId157"/>
    <p:sldId id="412" r:id="rId158"/>
    <p:sldId id="413" r:id="rId159"/>
    <p:sldId id="414" r:id="rId160"/>
    <p:sldId id="415" r:id="rId161"/>
    <p:sldId id="416" r:id="rId162"/>
    <p:sldId id="417" r:id="rId163"/>
    <p:sldId id="418" r:id="rId164"/>
    <p:sldId id="419" r:id="rId165"/>
    <p:sldId id="420" r:id="rId166"/>
    <p:sldId id="421" r:id="rId167"/>
    <p:sldId id="422" r:id="rId168"/>
    <p:sldId id="423" r:id="rId169"/>
    <p:sldId id="424" r:id="rId170"/>
    <p:sldId id="425" r:id="rId171"/>
    <p:sldId id="426" r:id="rId172"/>
    <p:sldId id="427" r:id="rId173"/>
    <p:sldId id="428" r:id="rId174"/>
    <p:sldId id="429" r:id="rId175"/>
    <p:sldId id="430" r:id="rId176"/>
    <p:sldId id="431" r:id="rId17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5" d="100"/>
          <a:sy n="65" d="100"/>
        </p:scale>
        <p:origin x="-1440" y="-9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38" Type="http://schemas.openxmlformats.org/officeDocument/2006/relationships/slide" Target="slides/slide137.xml"/><Relationship Id="rId154" Type="http://schemas.openxmlformats.org/officeDocument/2006/relationships/slide" Target="slides/slide153.xml"/><Relationship Id="rId159" Type="http://schemas.openxmlformats.org/officeDocument/2006/relationships/slide" Target="slides/slide158.xml"/><Relationship Id="rId175" Type="http://schemas.openxmlformats.org/officeDocument/2006/relationships/slide" Target="slides/slide174.xml"/><Relationship Id="rId170" Type="http://schemas.openxmlformats.org/officeDocument/2006/relationships/slide" Target="slides/slide169.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144" Type="http://schemas.openxmlformats.org/officeDocument/2006/relationships/slide" Target="slides/slide143.xml"/><Relationship Id="rId149" Type="http://schemas.openxmlformats.org/officeDocument/2006/relationships/slide" Target="slides/slide14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160" Type="http://schemas.openxmlformats.org/officeDocument/2006/relationships/slide" Target="slides/slide159.xml"/><Relationship Id="rId165" Type="http://schemas.openxmlformats.org/officeDocument/2006/relationships/slide" Target="slides/slide164.xml"/><Relationship Id="rId181" Type="http://schemas.openxmlformats.org/officeDocument/2006/relationships/theme" Target="theme/theme1.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slide" Target="slides/slide149.xml"/><Relationship Id="rId155" Type="http://schemas.openxmlformats.org/officeDocument/2006/relationships/slide" Target="slides/slide154.xml"/><Relationship Id="rId171" Type="http://schemas.openxmlformats.org/officeDocument/2006/relationships/slide" Target="slides/slide170.xml"/><Relationship Id="rId176" Type="http://schemas.openxmlformats.org/officeDocument/2006/relationships/slide" Target="slides/slide175.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61" Type="http://schemas.openxmlformats.org/officeDocument/2006/relationships/slide" Target="slides/slide160.xml"/><Relationship Id="rId166" Type="http://schemas.openxmlformats.org/officeDocument/2006/relationships/slide" Target="slides/slide165.xml"/><Relationship Id="rId18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slide" Target="slides/slide155.xml"/><Relationship Id="rId177" Type="http://schemas.openxmlformats.org/officeDocument/2006/relationships/slide" Target="slides/slide176.xml"/><Relationship Id="rId4" Type="http://schemas.openxmlformats.org/officeDocument/2006/relationships/slide" Target="slides/slide3.xml"/><Relationship Id="rId9" Type="http://schemas.openxmlformats.org/officeDocument/2006/relationships/slide" Target="slides/slide8.xml"/><Relationship Id="rId172" Type="http://schemas.openxmlformats.org/officeDocument/2006/relationships/slide" Target="slides/slide171.xml"/><Relationship Id="rId180" Type="http://schemas.openxmlformats.org/officeDocument/2006/relationships/viewProps" Target="viewProp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slide" Target="slides/slide166.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notesMaster" Target="notesMasters/notesMaster1.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presProps" Target="presProps.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35.wmf"/><Relationship Id="rId1" Type="http://schemas.openxmlformats.org/officeDocument/2006/relationships/image" Target="../media/image34.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6.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37.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312F247-83D0-4B67-9917-B5BAFC01242E}" type="datetimeFigureOut">
              <a:rPr lang="en-US" smtClean="0"/>
              <a:t>11/21/2023</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03C8149-8562-422D-A1A1-735AD1ECF1E3}" type="slidenum">
              <a:rPr lang="en-US" smtClean="0"/>
              <a:t>‹#›</a:t>
            </a:fld>
            <a:endParaRPr lang="en-US"/>
          </a:p>
        </p:txBody>
      </p:sp>
    </p:spTree>
    <p:extLst>
      <p:ext uri="{BB962C8B-B14F-4D97-AF65-F5344CB8AC3E}">
        <p14:creationId xmlns:p14="http://schemas.microsoft.com/office/powerpoint/2010/main" val="13588541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2" Type="http://schemas.openxmlformats.org/officeDocument/2006/relationships/slide" Target="../slides/slide163.xml"/><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2" Type="http://schemas.openxmlformats.org/officeDocument/2006/relationships/slide" Target="../slides/slide164.xml"/><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2" Type="http://schemas.openxmlformats.org/officeDocument/2006/relationships/slide" Target="../slides/slide165.xml"/><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2" Type="http://schemas.openxmlformats.org/officeDocument/2006/relationships/slide" Target="../slides/slide166.xml"/><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2" Type="http://schemas.openxmlformats.org/officeDocument/2006/relationships/slide" Target="../slides/slide167.xml"/><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2" Type="http://schemas.openxmlformats.org/officeDocument/2006/relationships/slide" Target="../slides/slide168.xml"/><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2" Type="http://schemas.openxmlformats.org/officeDocument/2006/relationships/slide" Target="../slides/slide169.xml"/><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2" Type="http://schemas.openxmlformats.org/officeDocument/2006/relationships/slide" Target="../slides/slide170.xml"/><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2" Type="http://schemas.openxmlformats.org/officeDocument/2006/relationships/slide" Target="../slides/slide171.xml"/><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2" Type="http://schemas.openxmlformats.org/officeDocument/2006/relationships/slide" Target="../slides/slide172.xml"/><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2" Type="http://schemas.openxmlformats.org/officeDocument/2006/relationships/slide" Target="../slides/slide173.xml"/><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2" Type="http://schemas.openxmlformats.org/officeDocument/2006/relationships/slide" Target="../slides/slide174.xml"/><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2" Type="http://schemas.openxmlformats.org/officeDocument/2006/relationships/slide" Target="../slides/slide175.xml"/><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2" Type="http://schemas.openxmlformats.org/officeDocument/2006/relationships/slide" Target="../slides/slide17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cap="none" dirty="0">
                <a:solidFill>
                  <a:schemeClr val="dk1"/>
                </a:solidFill>
                <a:latin typeface="Arial"/>
                <a:ea typeface="Arial"/>
                <a:cs typeface="Arial"/>
                <a:sym typeface="Arial"/>
              </a:rPr>
              <a:t>If this PowerPoint presentation contains mathematical equations, you may need to check that your computer has the following installed:</a:t>
            </a:r>
          </a:p>
          <a:p>
            <a:r>
              <a:rPr lang="en-US" sz="1200" b="0" i="0" u="none" strike="noStrike" kern="1200" cap="none" dirty="0">
                <a:solidFill>
                  <a:schemeClr val="dk1"/>
                </a:solidFill>
                <a:latin typeface="Arial"/>
                <a:ea typeface="Arial"/>
                <a:cs typeface="Arial"/>
                <a:sym typeface="Arial"/>
              </a:rPr>
              <a:t>1) MathType Plugin</a:t>
            </a:r>
          </a:p>
          <a:p>
            <a:r>
              <a:rPr lang="en-US" sz="1200" b="0" i="0" u="none" strike="noStrike" kern="1200" cap="none" dirty="0">
                <a:solidFill>
                  <a:schemeClr val="dk1"/>
                </a:solidFill>
                <a:latin typeface="Arial"/>
                <a:ea typeface="Arial"/>
                <a:cs typeface="Arial"/>
                <a:sym typeface="Arial"/>
              </a:rPr>
              <a:t>2) Math Player (free versions available)</a:t>
            </a:r>
          </a:p>
          <a:p>
            <a:r>
              <a:rPr lang="en-US" sz="1200" b="0" i="0" u="none" strike="noStrike" kern="1200" cap="none" dirty="0">
                <a:solidFill>
                  <a:schemeClr val="dk1"/>
                </a:solidFill>
                <a:latin typeface="Arial"/>
                <a:ea typeface="Arial"/>
                <a:cs typeface="Arial"/>
                <a:sym typeface="Arial"/>
              </a:rPr>
              <a:t>3) NVDA Reader (free versions available)</a:t>
            </a:r>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8664720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2</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3200917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3</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7483776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r>
              <a:rPr lang="en-US" sz="1200" b="0" i="0" u="none" strike="noStrike" kern="1200" cap="none" dirty="0">
                <a:solidFill>
                  <a:schemeClr val="dk1"/>
                </a:solidFill>
                <a:effectLst/>
                <a:latin typeface="Arial"/>
                <a:ea typeface="Arial"/>
                <a:cs typeface="Arial"/>
                <a:sym typeface="Arial"/>
              </a:rPr>
              <a:t>Long Description: </a:t>
            </a:r>
            <a:endParaRPr lang="en-IN" sz="1200" b="0" i="0" u="none" strike="noStrike" kern="1200" cap="none" dirty="0">
              <a:solidFill>
                <a:schemeClr val="dk1"/>
              </a:solidFill>
              <a:effectLst/>
              <a:latin typeface="Arial"/>
              <a:ea typeface="Arial"/>
              <a:cs typeface="Arial"/>
              <a:sym typeface="Arial"/>
            </a:endParaRPr>
          </a:p>
          <a:p>
            <a:pPr lvl="0"/>
            <a:r>
              <a:rPr lang="en-US" sz="1200" b="0" i="0" u="none" strike="noStrike" kern="1200" cap="none" dirty="0">
                <a:solidFill>
                  <a:schemeClr val="dk1"/>
                </a:solidFill>
                <a:effectLst/>
                <a:latin typeface="Arial"/>
                <a:ea typeface="Arial"/>
                <a:cs typeface="Arial"/>
                <a:sym typeface="Arial"/>
              </a:rPr>
              <a:t>1. In ER lumen: Dolichol phosphate in the E R membrane acts as the carrier of oligosaccharide units for protein glycosylation. In mammals, n usually equals 18. The structure of dolichol is two C H subscript 3 each having with C double bond C H single bond C H subscript 2 single bond open square bracket C H subscript 2 single bond C single bond C H subscript 3 double bond C H single bond C H subscript 2 close square bracket base n single bond C H subscript 2 single bond C having three single bonds with H, C H subscript 3 and C H subscript 2 single bond C H subscript. This is liked with P of phosphate with 2 O negative, one O single bond, and one double bond with O.</a:t>
            </a:r>
          </a:p>
          <a:p>
            <a:pPr lvl="0"/>
            <a:endParaRPr lang="en-US" sz="1200" b="0" i="0" u="none" strike="noStrike" kern="1200" cap="none" dirty="0">
              <a:solidFill>
                <a:schemeClr val="dk1"/>
              </a:solidFill>
              <a:effectLst/>
              <a:latin typeface="Arial"/>
              <a:ea typeface="Arial"/>
              <a:cs typeface="Arial"/>
              <a:sym typeface="Arial"/>
            </a:endParaRPr>
          </a:p>
          <a:p>
            <a:pPr lvl="0"/>
            <a:r>
              <a:rPr lang="en-US" sz="1200" b="0" i="0" u="none" strike="noStrike" kern="1200" cap="none" dirty="0">
                <a:solidFill>
                  <a:schemeClr val="dk1"/>
                </a:solidFill>
                <a:effectLst/>
                <a:latin typeface="Arial"/>
                <a:ea typeface="Arial"/>
                <a:cs typeface="Arial"/>
                <a:sym typeface="Arial"/>
              </a:rPr>
              <a:t>2. In cytosol: Core oligosaccharide synthesis begins in the cytoplasm as N hyphen acetylglucosamine (N) and mannose (M) units are added to dolichol phosphate.</a:t>
            </a:r>
          </a:p>
          <a:p>
            <a:pPr lvl="0"/>
            <a:r>
              <a:rPr lang="en-US" sz="1200" b="0" i="0" u="none" strike="noStrike" kern="1200" cap="none" dirty="0">
                <a:solidFill>
                  <a:schemeClr val="dk1"/>
                </a:solidFill>
                <a:effectLst/>
                <a:latin typeface="Arial"/>
                <a:ea typeface="Arial"/>
                <a:cs typeface="Arial"/>
                <a:sym typeface="Arial"/>
              </a:rPr>
              <a:t>The following conversions happen:</a:t>
            </a:r>
          </a:p>
          <a:p>
            <a:pPr lvl="0"/>
            <a:r>
              <a:rPr lang="en-US" sz="1200" b="0" i="0" u="none" strike="noStrike" kern="1200" cap="none" dirty="0">
                <a:solidFill>
                  <a:schemeClr val="dk1"/>
                </a:solidFill>
                <a:effectLst/>
                <a:latin typeface="Arial"/>
                <a:ea typeface="Arial"/>
                <a:cs typeface="Arial"/>
                <a:sym typeface="Arial"/>
              </a:rPr>
              <a:t>a. Dolichol P to Dolichol P P N while U D P hyphen G l c N A c to U M P happens.</a:t>
            </a:r>
          </a:p>
          <a:p>
            <a:pPr lvl="0"/>
            <a:r>
              <a:rPr lang="en-US" sz="1200" b="0" i="0" u="none" strike="noStrike" kern="1200" cap="none" dirty="0">
                <a:solidFill>
                  <a:schemeClr val="dk1"/>
                </a:solidFill>
                <a:effectLst/>
                <a:latin typeface="Arial"/>
                <a:ea typeface="Arial"/>
                <a:cs typeface="Arial"/>
                <a:sym typeface="Arial"/>
              </a:rPr>
              <a:t>b. Dolichol P P N to Dolichol P P N N while U D P hyphen G l c N A c to U D P happens.</a:t>
            </a:r>
          </a:p>
          <a:p>
            <a:pPr lvl="0"/>
            <a:r>
              <a:rPr lang="en-US" sz="1200" b="0" i="0" u="none" strike="noStrike" kern="1200" cap="none" dirty="0">
                <a:solidFill>
                  <a:schemeClr val="dk1"/>
                </a:solidFill>
                <a:effectLst/>
                <a:latin typeface="Arial"/>
                <a:ea typeface="Arial"/>
                <a:cs typeface="Arial"/>
                <a:sym typeface="Arial"/>
              </a:rPr>
              <a:t>c. Dolichol P P N N to Dolichol P P N N five M molecules while five G D P hyphen mannose to five G D P happens.</a:t>
            </a:r>
          </a:p>
          <a:p>
            <a:pPr lvl="0"/>
            <a:endParaRPr lang="en-US" sz="1200" b="0" i="0" u="none" strike="noStrike" kern="1200" cap="none" dirty="0">
              <a:solidFill>
                <a:schemeClr val="dk1"/>
              </a:solidFill>
              <a:effectLst/>
              <a:latin typeface="Arial"/>
              <a:ea typeface="Arial"/>
              <a:cs typeface="Arial"/>
              <a:sym typeface="Arial"/>
            </a:endParaRPr>
          </a:p>
          <a:p>
            <a:pPr lvl="0"/>
            <a:r>
              <a:rPr lang="en-US" sz="1200" b="0" i="0" u="none" strike="noStrike" kern="1200" cap="none" dirty="0">
                <a:solidFill>
                  <a:schemeClr val="dk1"/>
                </a:solidFill>
                <a:effectLst/>
                <a:latin typeface="Arial"/>
                <a:ea typeface="Arial"/>
                <a:cs typeface="Arial"/>
                <a:sym typeface="Arial"/>
              </a:rPr>
              <a:t>3. In ER lumen: Translocation of the oligosaccharide from the cytosol to the E R lumen is catalyzed by a phospholipid translocator (flippase).</a:t>
            </a:r>
          </a:p>
          <a:p>
            <a:pPr lvl="0"/>
            <a:r>
              <a:rPr lang="en-US" sz="1200" b="0" i="0" u="none" strike="noStrike" kern="1200" cap="none" dirty="0">
                <a:solidFill>
                  <a:schemeClr val="dk1"/>
                </a:solidFill>
                <a:effectLst/>
                <a:latin typeface="Arial"/>
                <a:ea typeface="Arial"/>
                <a:cs typeface="Arial"/>
                <a:sym typeface="Arial"/>
              </a:rPr>
              <a:t>The following conversions happen</a:t>
            </a:r>
          </a:p>
          <a:p>
            <a:pPr lvl="0"/>
            <a:r>
              <a:rPr lang="en-US" sz="1200" b="0" i="0" u="none" strike="noStrike" kern="1200" cap="none" dirty="0">
                <a:solidFill>
                  <a:schemeClr val="dk1"/>
                </a:solidFill>
                <a:effectLst/>
                <a:latin typeface="Arial"/>
                <a:ea typeface="Arial"/>
                <a:cs typeface="Arial"/>
                <a:sym typeface="Arial"/>
              </a:rPr>
              <a:t>a. Dolichol P P N N five M molecules to Dolichol P P N N nine M molecules while four Dolichol hyphen P hyphen mannose is converted to four dolichol hyphen P. </a:t>
            </a:r>
          </a:p>
          <a:p>
            <a:pPr lvl="0"/>
            <a:r>
              <a:rPr lang="en-US" sz="1200" b="0" i="0" u="none" strike="noStrike" kern="1200" cap="none" dirty="0">
                <a:solidFill>
                  <a:schemeClr val="dk1"/>
                </a:solidFill>
                <a:effectLst/>
                <a:latin typeface="Arial"/>
                <a:ea typeface="Arial"/>
                <a:cs typeface="Arial"/>
                <a:sym typeface="Arial"/>
              </a:rPr>
              <a:t>b. Dolichol P P N N nine M molecules to Dolichol P P N N nine M molecules three G while three Dolichol hyphen P hyphen glucose is converted to three Dolichol hyphen P.</a:t>
            </a:r>
          </a:p>
          <a:p>
            <a:pPr lvl="0"/>
            <a:endParaRPr lang="en-US" sz="1200" b="0" i="0" u="none" strike="noStrike" kern="1200" cap="none" dirty="0">
              <a:solidFill>
                <a:schemeClr val="dk1"/>
              </a:solidFill>
              <a:effectLst/>
              <a:latin typeface="Arial"/>
              <a:ea typeface="Arial"/>
              <a:cs typeface="Arial"/>
              <a:sym typeface="Arial"/>
            </a:endParaRPr>
          </a:p>
          <a:p>
            <a:pPr lvl="0"/>
            <a:r>
              <a:rPr lang="en-US" sz="1200" b="0" i="0" u="none" strike="noStrike" kern="1200" cap="none" dirty="0">
                <a:solidFill>
                  <a:schemeClr val="dk1"/>
                </a:solidFill>
                <a:effectLst/>
                <a:latin typeface="Arial"/>
                <a:ea typeface="Arial"/>
                <a:cs typeface="Arial"/>
                <a:sym typeface="Arial"/>
              </a:rPr>
              <a:t>4. Completion of the core oligosaccharide occurs in the ER lumen as more mannose and glucose (G) units are added.</a:t>
            </a:r>
          </a:p>
          <a:p>
            <a:pPr lvl="0"/>
            <a:r>
              <a:rPr lang="en-US" sz="1200" b="0" i="0" u="none" strike="noStrike" kern="1200" cap="none" dirty="0">
                <a:solidFill>
                  <a:schemeClr val="dk1"/>
                </a:solidFill>
                <a:effectLst/>
                <a:latin typeface="Arial"/>
                <a:ea typeface="Arial"/>
                <a:cs typeface="Arial"/>
                <a:sym typeface="Arial"/>
              </a:rPr>
              <a:t>a. Structure of protein has the asparagine in protein two N nine M three G.</a:t>
            </a:r>
          </a:p>
          <a:p>
            <a:pPr lvl="0"/>
            <a:endParaRPr lang="en-US" sz="1200" b="0" i="0" u="none" strike="noStrike" kern="1200" cap="none" dirty="0">
              <a:solidFill>
                <a:schemeClr val="dk1"/>
              </a:solidFill>
              <a:effectLst/>
              <a:latin typeface="Arial"/>
              <a:ea typeface="Arial"/>
              <a:cs typeface="Arial"/>
              <a:sym typeface="Arial"/>
            </a:endParaRPr>
          </a:p>
          <a:p>
            <a:pPr lvl="0"/>
            <a:r>
              <a:rPr lang="en-US" sz="1200" b="0" i="0" u="none" strike="noStrike" kern="1200" cap="none" dirty="0">
                <a:solidFill>
                  <a:schemeClr val="dk1"/>
                </a:solidFill>
                <a:effectLst/>
                <a:latin typeface="Arial"/>
                <a:ea typeface="Arial"/>
                <a:cs typeface="Arial"/>
                <a:sym typeface="Arial"/>
              </a:rPr>
              <a:t>5. Transfer of the completed core oligosaccharide to an asparagine residue of the recipient protein is catalyzed by an oligosaccharyltransferase.</a:t>
            </a:r>
          </a:p>
          <a:p>
            <a:pPr lvl="0"/>
            <a:r>
              <a:rPr lang="en-US" sz="1200" b="0" i="0" u="none" strike="noStrike" kern="1200" cap="none" dirty="0">
                <a:solidFill>
                  <a:schemeClr val="dk1"/>
                </a:solidFill>
                <a:effectLst/>
                <a:latin typeface="Arial"/>
                <a:ea typeface="Arial"/>
                <a:cs typeface="Arial"/>
                <a:sym typeface="Arial"/>
              </a:rPr>
              <a:t>a. Structure of asparagine in protein is C H has three single bond with N H, C double bond O and C H subscript 2 single bond C double bond O single bond N single bond H.</a:t>
            </a:r>
          </a:p>
          <a:p>
            <a:pPr lvl="0"/>
            <a:endParaRPr lang="en-US" sz="1200" b="0" i="0" u="none" strike="noStrike" kern="1200" cap="none" dirty="0">
              <a:solidFill>
                <a:schemeClr val="dk1"/>
              </a:solidFill>
              <a:effectLst/>
              <a:latin typeface="Arial"/>
              <a:ea typeface="Arial"/>
              <a:cs typeface="Arial"/>
              <a:sym typeface="Arial"/>
            </a:endParaRPr>
          </a:p>
          <a:p>
            <a:pPr lvl="0"/>
            <a:r>
              <a:rPr lang="en-US" sz="1200" b="0" i="0" u="none" strike="noStrike" kern="1200" cap="none" dirty="0">
                <a:solidFill>
                  <a:schemeClr val="dk1"/>
                </a:solidFill>
                <a:effectLst/>
                <a:latin typeface="Arial"/>
                <a:ea typeface="Arial"/>
                <a:cs typeface="Arial"/>
                <a:sym typeface="Arial"/>
              </a:rPr>
              <a:t>6. Final processing involves the removal of certain glucose and mannose units in the E R before transfer of the glycoprotein to the Golgi.</a:t>
            </a:r>
          </a:p>
          <a:p>
            <a:pPr lvl="0"/>
            <a:r>
              <a:rPr lang="en-US" sz="1200" b="0" i="0" u="none" strike="noStrike" kern="1200" cap="none" dirty="0">
                <a:solidFill>
                  <a:schemeClr val="dk1"/>
                </a:solidFill>
                <a:effectLst/>
                <a:latin typeface="Arial"/>
                <a:ea typeface="Arial"/>
                <a:cs typeface="Arial"/>
                <a:sym typeface="Arial"/>
              </a:rPr>
              <a:t>a. The protein structure becomes C H has three single bond with N H, C double bond O and C H subscript 2 single bond C double bond O single bond N single bond H two N and nine M.</a:t>
            </a:r>
            <a:endParaRPr lang="en-IN" sz="1200" b="0" i="0" u="none" strike="noStrike" kern="1200" cap="none" dirty="0">
              <a:solidFill>
                <a:schemeClr val="dk1"/>
              </a:solidFill>
              <a:effectLst/>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4</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4791172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5</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7390189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6</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872993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7</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6434748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8</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89398555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9</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83307624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10</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1082825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11101643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12</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41703068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13</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691243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14</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23167475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15</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6303608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r>
              <a:rPr lang="en-US" sz="1200" b="0" i="0" u="none" strike="noStrike" kern="1200" cap="none" dirty="0">
                <a:solidFill>
                  <a:schemeClr val="dk1"/>
                </a:solidFill>
                <a:effectLst/>
                <a:latin typeface="Arial"/>
                <a:ea typeface="Arial"/>
                <a:cs typeface="Arial"/>
                <a:sym typeface="Arial"/>
              </a:rPr>
              <a:t>Long Description: </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The details of the sorting of proteins are as follows:</a:t>
            </a:r>
          </a:p>
          <a:p>
            <a:r>
              <a:rPr lang="en-US" sz="1200" b="0" i="0" u="none" strike="noStrike" kern="1200" cap="none" dirty="0">
                <a:solidFill>
                  <a:schemeClr val="dk1"/>
                </a:solidFill>
                <a:effectLst/>
                <a:latin typeface="Arial"/>
                <a:ea typeface="Arial"/>
                <a:cs typeface="Arial"/>
                <a:sym typeface="Arial"/>
              </a:rPr>
              <a:t>Posttranslational import and cotranslational import. Ribosomes initiate translation in the cytosol. The small subunits are on side of the m R N A strand which has a 5 dash and a 3 dash end, and the large subunits on the other.</a:t>
            </a:r>
          </a:p>
          <a:p>
            <a:r>
              <a:rPr lang="en-US" sz="1200" b="0" i="0" u="none" strike="noStrike" kern="1200" cap="none" dirty="0">
                <a:solidFill>
                  <a:schemeClr val="dk1"/>
                </a:solidFill>
                <a:effectLst/>
                <a:latin typeface="Arial"/>
                <a:ea typeface="Arial"/>
                <a:cs typeface="Arial"/>
                <a:sym typeface="Arial"/>
              </a:rPr>
              <a:t>The large subunits contribute to polypeptide. The newly forming polypeptide follows the route of either posttranslational import or cotranslational import.</a:t>
            </a:r>
          </a:p>
          <a:p>
            <a:r>
              <a:rPr lang="en-US" sz="1200" b="0" i="0" u="none" strike="noStrike" kern="1200" cap="none" dirty="0">
                <a:solidFill>
                  <a:schemeClr val="dk1"/>
                </a:solidFill>
                <a:effectLst/>
                <a:latin typeface="Arial"/>
                <a:ea typeface="Arial"/>
                <a:cs typeface="Arial"/>
                <a:sym typeface="Arial"/>
              </a:rPr>
              <a:t>Posttranslational import: The newly formed completed polypeptides in cytosol have C O O negative at one end and N H subscript 3 positive at the end of the strand. This polypeptide remains in cytosol, in E R, in nucleus via nuclear pores, in mitochondrion, in chloroplast, in peroxisome, or is imported into an organelle.</a:t>
            </a:r>
          </a:p>
          <a:p>
            <a:r>
              <a:rPr lang="en-US" sz="1200" b="0" i="0" u="none" strike="noStrike" kern="1200" cap="none" dirty="0">
                <a:solidFill>
                  <a:schemeClr val="dk1"/>
                </a:solidFill>
                <a:effectLst/>
                <a:latin typeface="Arial"/>
                <a:ea typeface="Arial"/>
                <a:cs typeface="Arial"/>
                <a:sym typeface="Arial"/>
              </a:rPr>
              <a:t>Cotranslational import: Ribosomes with N H subscript 3 positive attach to E R lumen. Completed polypeptide in E R with N H subscript 3 positive at one end and C O O negative at the other end. The newly formed polypetide is transferred across the E R membrane into the Golgi apparatus, secretory vesicle, lysosome, and plasma membrane as transport vesicles. The remains are found in the E R. </a:t>
            </a:r>
            <a:endParaRPr lang="en-IN" sz="1200" b="0" i="0" u="none" strike="noStrike" kern="1200" cap="none" dirty="0">
              <a:solidFill>
                <a:schemeClr val="dk1"/>
              </a:solidFill>
              <a:effectLst/>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16</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06594586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17</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13334661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18</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3850150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19</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9878619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r>
              <a:rPr lang="en-US" sz="1200" b="0" i="0" u="none" strike="noStrike" kern="1200" cap="none" dirty="0">
                <a:solidFill>
                  <a:schemeClr val="dk1"/>
                </a:solidFill>
                <a:effectLst/>
                <a:latin typeface="Arial"/>
                <a:ea typeface="Arial"/>
                <a:cs typeface="Arial"/>
                <a:sym typeface="Arial"/>
              </a:rPr>
              <a:t>Long Description: </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1. Anterograde transport</a:t>
            </a:r>
          </a:p>
          <a:p>
            <a:r>
              <a:rPr lang="en-US" sz="1200" b="0" i="0" u="none" strike="noStrike" kern="1200" cap="none" dirty="0">
                <a:solidFill>
                  <a:schemeClr val="dk1"/>
                </a:solidFill>
                <a:effectLst/>
                <a:latin typeface="Arial"/>
                <a:ea typeface="Arial"/>
                <a:cs typeface="Arial"/>
                <a:sym typeface="Arial"/>
              </a:rPr>
              <a:t>The direction is from rough E R with ribosomes on it to transition vesicles to C G N of Golgi apparatus to T G N. From here, there are two routes. The first route “4a” is from T G N to secretory vesicles to outside the cell through exocytosis. The second route “4b” is through T G N through late endosome or early endosome to T G N back forming a loop.</a:t>
            </a:r>
          </a:p>
          <a:p>
            <a:r>
              <a:rPr lang="en-US" sz="1200" b="0" i="0" u="none" strike="noStrike" kern="1200" cap="none" dirty="0">
                <a:solidFill>
                  <a:schemeClr val="dk1"/>
                </a:solidFill>
                <a:effectLst/>
                <a:latin typeface="Arial"/>
                <a:ea typeface="Arial"/>
                <a:cs typeface="Arial"/>
                <a:sym typeface="Arial"/>
              </a:rPr>
              <a:t>2. Retrograde transport</a:t>
            </a:r>
          </a:p>
          <a:p>
            <a:r>
              <a:rPr lang="en-US" sz="1200" b="0" i="0" u="none" strike="noStrike" kern="1200" cap="none" dirty="0">
                <a:solidFill>
                  <a:schemeClr val="dk1"/>
                </a:solidFill>
                <a:effectLst/>
                <a:latin typeface="Arial"/>
                <a:ea typeface="Arial"/>
                <a:cs typeface="Arial"/>
                <a:sym typeface="Arial"/>
              </a:rPr>
              <a:t>The direction is from outside the cell to the cytosol through endocytosis of plasma membrane. Then to the early endosome, late endosome, lysosome, T G N, C G N of Golgi apparatus, and endoplasmic reticulum.</a:t>
            </a:r>
            <a:endParaRPr lang="en-IN" sz="1200" b="0" i="0" u="none" strike="noStrike" kern="1200" cap="none" dirty="0">
              <a:solidFill>
                <a:schemeClr val="dk1"/>
              </a:solidFill>
              <a:effectLst/>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20</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34014806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21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5433619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22</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87102619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23</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07891017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r>
              <a:rPr lang="en-US" sz="1200" b="0" i="0" u="none" strike="noStrike" kern="1200" cap="none" dirty="0">
                <a:solidFill>
                  <a:schemeClr val="dk1"/>
                </a:solidFill>
                <a:effectLst/>
                <a:latin typeface="Arial"/>
                <a:ea typeface="Arial"/>
                <a:cs typeface="Arial"/>
                <a:sym typeface="Arial"/>
              </a:rPr>
              <a:t>Long Description: </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The X axis shows time in minutes and Y axis shows radioactivity in protein. Ribosomes start with higher radioactivity in protein than the contents of vesicles. At 5 minutes, when puromycin is added, ribosomes show a higher spike and drops down to a constant immediately. The radioactivity in protein in contents of vesicles rise up and goes to a constant. </a:t>
            </a: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24</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30251698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25</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70443637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26</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50377301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r>
              <a:rPr lang="en-US" sz="1200" b="0" i="0" u="none" strike="noStrike" kern="1200" cap="none" dirty="0">
                <a:solidFill>
                  <a:schemeClr val="dk1"/>
                </a:solidFill>
                <a:effectLst/>
                <a:latin typeface="Arial"/>
                <a:ea typeface="Arial"/>
                <a:cs typeface="Arial"/>
                <a:sym typeface="Arial"/>
              </a:rPr>
              <a:t>Long Description:</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lphaLcPeriod"/>
            </a:pPr>
            <a:r>
              <a:rPr lang="en-US" sz="1200" b="0" i="0" u="none" strike="noStrike" kern="1200" cap="none" dirty="0">
                <a:solidFill>
                  <a:schemeClr val="dk1"/>
                </a:solidFill>
                <a:effectLst/>
                <a:latin typeface="Arial"/>
                <a:ea typeface="Arial"/>
                <a:cs typeface="Arial"/>
                <a:sym typeface="Arial"/>
              </a:rPr>
              <a:t>Microsome-free ribosomes: Newly forming polypeptide with signal sequence attached to it. Polypeptide retains signal sequence with N H subscript 3 positive on one end and C O O negative on the other end.</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lphaLcPeriod"/>
            </a:pPr>
            <a:r>
              <a:rPr lang="en-US" sz="1200" b="0" i="0" u="none" strike="noStrike" kern="1200" cap="none" dirty="0">
                <a:solidFill>
                  <a:schemeClr val="dk1"/>
                </a:solidFill>
                <a:effectLst/>
                <a:latin typeface="Arial"/>
                <a:ea typeface="Arial"/>
                <a:cs typeface="Arial"/>
                <a:sym typeface="Arial"/>
              </a:rPr>
              <a:t>Microsomes present: The signal peptide is split from the polypeptide in the interior of microsome. Polypeptide with N H subscript 3 positive at one end and C O O negative at the other end lacks signal sequence.</a:t>
            </a:r>
            <a:endParaRPr lang="en-IN" sz="1200" b="0" i="0" u="none" strike="noStrike" kern="1200" cap="none" dirty="0">
              <a:solidFill>
                <a:schemeClr val="dk1"/>
              </a:solidFill>
              <a:effectLst/>
              <a:latin typeface="Arial"/>
              <a:ea typeface="Arial"/>
              <a:cs typeface="Arial"/>
              <a:sym typeface="Arial"/>
            </a:endParaRPr>
          </a:p>
          <a:p>
            <a:endParaRPr lang="en-IN" sz="1200" b="0" i="0" u="none" strike="noStrike" kern="1200" cap="none" dirty="0">
              <a:solidFill>
                <a:schemeClr val="dk1"/>
              </a:solidFill>
              <a:effectLst/>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27</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42556959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28</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23061230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29</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39823483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30</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88718183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31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80967892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32</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92583978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33</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22367124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r>
              <a:rPr lang="en-US" sz="1200" b="0" i="0" u="none" strike="noStrike" kern="1200" cap="none" dirty="0">
                <a:solidFill>
                  <a:schemeClr val="dk1"/>
                </a:solidFill>
                <a:effectLst/>
                <a:latin typeface="Arial"/>
                <a:ea typeface="Arial"/>
                <a:cs typeface="Arial"/>
                <a:sym typeface="Arial"/>
              </a:rPr>
              <a:t>Long Description: </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The steps are as below:</a:t>
            </a:r>
          </a:p>
          <a:p>
            <a:r>
              <a:rPr lang="en-US" sz="1200" b="0" i="0" u="none" strike="noStrike" kern="1200" cap="none" dirty="0">
                <a:solidFill>
                  <a:schemeClr val="dk1"/>
                </a:solidFill>
                <a:effectLst/>
                <a:latin typeface="Arial"/>
                <a:ea typeface="Arial"/>
                <a:cs typeface="Arial"/>
                <a:sym typeface="Arial"/>
              </a:rPr>
              <a:t>1. S R P binds to E R signal sequence and blocks translation.</a:t>
            </a:r>
          </a:p>
          <a:p>
            <a:r>
              <a:rPr lang="en-US" sz="1200" b="0" i="0" u="none" strike="noStrike" kern="1200" cap="none" dirty="0">
                <a:solidFill>
                  <a:schemeClr val="dk1"/>
                </a:solidFill>
                <a:effectLst/>
                <a:latin typeface="Arial"/>
                <a:ea typeface="Arial"/>
                <a:cs typeface="Arial"/>
                <a:sym typeface="Arial"/>
              </a:rPr>
              <a:t>2. S R P binds to S R P receptor; ribosome docks on membrane. The parts labeled are ribosome receptor and translocon, which has S R P receptor, pore sec 6 1, and signal peptidase.</a:t>
            </a:r>
          </a:p>
          <a:p>
            <a:r>
              <a:rPr lang="en-US" sz="1200" b="0" i="0" u="none" strike="noStrike" kern="1200" cap="none" dirty="0">
                <a:solidFill>
                  <a:schemeClr val="dk1"/>
                </a:solidFill>
                <a:effectLst/>
                <a:latin typeface="Arial"/>
                <a:ea typeface="Arial"/>
                <a:cs typeface="Arial"/>
                <a:sym typeface="Arial"/>
              </a:rPr>
              <a:t>3. G T P binds to S R P and S R P receptor; pore opens as the polypeptide is inserted. </a:t>
            </a:r>
          </a:p>
          <a:p>
            <a:r>
              <a:rPr lang="en-US" sz="1200" b="0" i="0" u="none" strike="noStrike" kern="1200" cap="none" dirty="0">
                <a:solidFill>
                  <a:schemeClr val="dk1"/>
                </a:solidFill>
                <a:effectLst/>
                <a:latin typeface="Arial"/>
                <a:ea typeface="Arial"/>
                <a:cs typeface="Arial"/>
                <a:sym typeface="Arial"/>
              </a:rPr>
              <a:t>4. Both G T P are hydrolyzed and S R P is released. G D P plus inorganic phosphate are also released.</a:t>
            </a:r>
          </a:p>
          <a:p>
            <a:r>
              <a:rPr lang="en-US" sz="1200" b="0" i="0" u="none" strike="noStrike" kern="1200" cap="none" dirty="0">
                <a:solidFill>
                  <a:schemeClr val="dk1"/>
                </a:solidFill>
                <a:effectLst/>
                <a:latin typeface="Arial"/>
                <a:ea typeface="Arial"/>
                <a:cs typeface="Arial"/>
                <a:sym typeface="Arial"/>
              </a:rPr>
              <a:t>5. Signal sequence is cleaved by signal peptidase as polypeptide elongates and translocates into E R lumen. The free end of the polypoeptide is N H subscript 3 positive as the signal sequence is cut off.</a:t>
            </a:r>
          </a:p>
          <a:p>
            <a:r>
              <a:rPr lang="en-US" sz="1200" b="0" i="0" u="none" strike="noStrike" kern="1200" cap="none" dirty="0">
                <a:solidFill>
                  <a:schemeClr val="dk1"/>
                </a:solidFill>
                <a:effectLst/>
                <a:latin typeface="Arial"/>
                <a:ea typeface="Arial"/>
                <a:cs typeface="Arial"/>
                <a:sym typeface="Arial"/>
              </a:rPr>
              <a:t>6. Completed polypeptide is released into ER lumen, ribosome is released, and translocon pore closes. The free ends of the polypeptide area C O O negative and N H subscript 3 positive.</a:t>
            </a: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34</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38807216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35</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74352850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36</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14110623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37</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16833800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38</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4882057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39</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08505838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40</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21697284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41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27094414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42</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19792328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43</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88033170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44</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94853818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45</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87024570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46</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46367236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47</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45972269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48</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66085901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0" i="0" u="none" strike="noStrike" kern="1200" cap="none" dirty="0">
                <a:solidFill>
                  <a:schemeClr val="dk1"/>
                </a:solidFill>
                <a:effectLst/>
                <a:latin typeface="Arial"/>
                <a:ea typeface="Arial"/>
                <a:cs typeface="Arial"/>
                <a:sym typeface="Arial"/>
              </a:rPr>
              <a:t>Long Description: </a:t>
            </a: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u="none" strike="noStrike" kern="1200" cap="none" dirty="0">
                <a:solidFill>
                  <a:schemeClr val="dk1"/>
                </a:solidFill>
                <a:effectLst/>
                <a:latin typeface="Arial"/>
                <a:ea typeface="Arial"/>
                <a:cs typeface="Arial"/>
                <a:sym typeface="Arial"/>
              </a:rPr>
              <a:t>The steps are in detail as below:</a:t>
            </a: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u="none" strike="noStrike" kern="1200" cap="none" dirty="0">
                <a:solidFill>
                  <a:schemeClr val="dk1"/>
                </a:solidFill>
                <a:effectLst/>
                <a:latin typeface="Arial"/>
                <a:ea typeface="Arial"/>
                <a:cs typeface="Arial"/>
                <a:sym typeface="Arial"/>
              </a:rPr>
              <a:t>1. Lysosomal enzyme is synthesized and carbohydrate is added. Rough E R shows carbohydrate and enzyme.</a:t>
            </a: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u="none" strike="noStrike" kern="1200" cap="none" dirty="0">
                <a:solidFill>
                  <a:schemeClr val="dk1"/>
                </a:solidFill>
                <a:effectLst/>
                <a:latin typeface="Arial"/>
                <a:ea typeface="Arial"/>
                <a:cs typeface="Arial"/>
                <a:sym typeface="Arial"/>
              </a:rPr>
              <a:t>2. Mannose is phosphorylated by sequential activity of two enzymes. The cis hyphen Golgi network shows phosphate molecule attached to the mannose.</a:t>
            </a: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u="none" strike="noStrike" kern="1200" cap="none" dirty="0">
                <a:solidFill>
                  <a:schemeClr val="dk1"/>
                </a:solidFill>
                <a:effectLst/>
                <a:latin typeface="Arial"/>
                <a:ea typeface="Arial"/>
                <a:cs typeface="Arial"/>
                <a:sym typeface="Arial"/>
              </a:rPr>
              <a:t>3. Mannose hyphen six hyphen phosphate binds to receptor and the tagged enzymes are packaged in transport vesicles. The trans hyphen Golgi network shows Phosphate attached to the receptor.</a:t>
            </a: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u="none" strike="noStrike" kern="1200" cap="none" dirty="0">
                <a:solidFill>
                  <a:schemeClr val="dk1"/>
                </a:solidFill>
                <a:effectLst/>
                <a:latin typeface="Arial"/>
                <a:ea typeface="Arial"/>
                <a:cs typeface="Arial"/>
                <a:sym typeface="Arial"/>
              </a:rPr>
              <a:t>4. Low p H in late endosome causes dissociation of enzyme and receptor. Two connected molecules in late endosome together form a lysosome.</a:t>
            </a: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u="none" strike="noStrike" kern="1200" cap="none" dirty="0">
                <a:solidFill>
                  <a:schemeClr val="dk1"/>
                </a:solidFill>
                <a:effectLst/>
                <a:latin typeface="Arial"/>
                <a:ea typeface="Arial"/>
                <a:cs typeface="Arial"/>
                <a:sym typeface="Arial"/>
              </a:rPr>
              <a:t>5. Receptor is recycled. </a:t>
            </a: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49</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94144477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50</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43877954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r>
              <a:rPr lang="en-US" sz="1200" b="0" i="0" u="none" strike="noStrike" kern="1200" cap="none" dirty="0">
                <a:solidFill>
                  <a:schemeClr val="dk1"/>
                </a:solidFill>
                <a:effectLst/>
                <a:latin typeface="Arial"/>
                <a:ea typeface="Arial"/>
                <a:cs typeface="Arial"/>
                <a:sym typeface="Arial"/>
              </a:rPr>
              <a:t>Long Description: </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The details are as below:</a:t>
            </a:r>
          </a:p>
          <a:p>
            <a:r>
              <a:rPr lang="en-US" sz="1200" b="0" i="0" u="none" strike="noStrike" kern="1200" cap="none" dirty="0">
                <a:solidFill>
                  <a:schemeClr val="dk1"/>
                </a:solidFill>
                <a:effectLst/>
                <a:latin typeface="Arial"/>
                <a:ea typeface="Arial"/>
                <a:cs typeface="Arial"/>
                <a:sym typeface="Arial"/>
              </a:rPr>
              <a:t>1. Type I transmembrane protein: Internal stop-transfer sequence and terminal E R signal sequence</a:t>
            </a:r>
          </a:p>
          <a:p>
            <a:r>
              <a:rPr lang="en-US" sz="1200" b="0" i="0" u="none" strike="noStrike" kern="1200" cap="none" dirty="0">
                <a:solidFill>
                  <a:schemeClr val="dk1"/>
                </a:solidFill>
                <a:effectLst/>
                <a:latin typeface="Arial"/>
                <a:ea typeface="Arial"/>
                <a:cs typeface="Arial"/>
                <a:sym typeface="Arial"/>
              </a:rPr>
              <a:t>a. Signal sequence targets polypeptide to translocon. The E R signal sequence is within the channel attached to the protein in the E R membrane. The stop-transfer sequence is attached to the protein in the cytosol.</a:t>
            </a:r>
          </a:p>
          <a:p>
            <a:r>
              <a:rPr lang="en-US" sz="1200" b="0" i="0" u="none" strike="noStrike" kern="1200" cap="none" dirty="0">
                <a:solidFill>
                  <a:schemeClr val="dk1"/>
                </a:solidFill>
                <a:effectLst/>
                <a:latin typeface="Arial"/>
                <a:ea typeface="Arial"/>
                <a:cs typeface="Arial"/>
                <a:sym typeface="Arial"/>
              </a:rPr>
              <a:t>b. Stop transfer sequence halts translocation; signal sequence removed. The stop-transfer sequence goes to the E R membrane where the translocation is halted as the signal peptidase cleaves.</a:t>
            </a:r>
          </a:p>
          <a:p>
            <a:r>
              <a:rPr lang="en-US" sz="1200" b="0" i="0" u="none" strike="noStrike" kern="1200" cap="none" dirty="0">
                <a:solidFill>
                  <a:schemeClr val="dk1"/>
                </a:solidFill>
                <a:effectLst/>
                <a:latin typeface="Arial"/>
                <a:ea typeface="Arial"/>
                <a:cs typeface="Arial"/>
                <a:sym typeface="Arial"/>
              </a:rPr>
              <a:t>c. Protein released laterally into E R membrane. N hyphen terminus is in E R lumen; C hyphen terminus is in cytosol. The C O O negative end of the polypeptide is in the cytosol and the N H subscript 3 positive end is in the E R lumen.</a:t>
            </a:r>
          </a:p>
          <a:p>
            <a:r>
              <a:rPr lang="en-US" sz="1200" b="0" i="0" u="none" strike="noStrike" kern="1200" cap="none" dirty="0">
                <a:solidFill>
                  <a:schemeClr val="dk1"/>
                </a:solidFill>
                <a:effectLst/>
                <a:latin typeface="Arial"/>
                <a:ea typeface="Arial"/>
                <a:cs typeface="Arial"/>
                <a:sym typeface="Arial"/>
              </a:rPr>
              <a:t>2. Type II transmembrane protein: Polypeptide with single internal start hyphen transfer sequence</a:t>
            </a:r>
          </a:p>
          <a:p>
            <a:r>
              <a:rPr lang="en-US" sz="1200" b="0" i="0" u="none" strike="noStrike" kern="1200" cap="none" dirty="0">
                <a:solidFill>
                  <a:schemeClr val="dk1"/>
                </a:solidFill>
                <a:effectLst/>
                <a:latin typeface="Arial"/>
                <a:ea typeface="Arial"/>
                <a:cs typeface="Arial"/>
                <a:sym typeface="Arial"/>
              </a:rPr>
              <a:t>a. Start hyphen transfer sequence starts polypeptide transfer. The N H subscript 3 positive end is in the cytosol and internal start hyphen transfer sequence in the channel in the E R membrane. </a:t>
            </a:r>
          </a:p>
          <a:p>
            <a:r>
              <a:rPr lang="en-US" sz="1200" b="0" i="0" u="none" strike="noStrike" kern="1200" cap="none" dirty="0">
                <a:solidFill>
                  <a:schemeClr val="dk1"/>
                </a:solidFill>
                <a:effectLst/>
                <a:latin typeface="Arial"/>
                <a:ea typeface="Arial"/>
                <a:cs typeface="Arial"/>
                <a:sym typeface="Arial"/>
              </a:rPr>
              <a:t>b. Protein continues translocation until the C terminus moves through translocon. The peptide chain grows longer in the E R lumen.</a:t>
            </a:r>
          </a:p>
          <a:p>
            <a:r>
              <a:rPr lang="en-US" sz="1200" b="0" i="0" u="none" strike="noStrike" kern="1200" cap="none" dirty="0">
                <a:solidFill>
                  <a:schemeClr val="dk1"/>
                </a:solidFill>
                <a:effectLst/>
                <a:latin typeface="Arial"/>
                <a:ea typeface="Arial"/>
                <a:cs typeface="Arial"/>
                <a:sym typeface="Arial"/>
              </a:rPr>
              <a:t>c. Protein is released laterally into E R membrane. The start hyphen transfer sequence is shifted out of the channel and the C O O negative end is in the E R lumen.</a:t>
            </a:r>
          </a:p>
          <a:p>
            <a:r>
              <a:rPr lang="en-US" sz="1200" b="0" i="0" u="none" strike="noStrike" kern="1200" cap="none" dirty="0">
                <a:solidFill>
                  <a:schemeClr val="dk1"/>
                </a:solidFill>
                <a:effectLst/>
                <a:latin typeface="Arial"/>
                <a:ea typeface="Arial"/>
                <a:cs typeface="Arial"/>
                <a:sym typeface="Arial"/>
              </a:rPr>
              <a:t>3. Multipass transmembrane protein: Multiple internal start hyphen and stop hyphen transfer sequences</a:t>
            </a:r>
          </a:p>
          <a:p>
            <a:r>
              <a:rPr lang="en-US" sz="1200" b="0" i="0" u="none" strike="noStrike" kern="1200" cap="none" dirty="0">
                <a:solidFill>
                  <a:schemeClr val="dk1"/>
                </a:solidFill>
                <a:effectLst/>
                <a:latin typeface="Arial"/>
                <a:ea typeface="Arial"/>
                <a:cs typeface="Arial"/>
                <a:sym typeface="Arial"/>
              </a:rPr>
              <a:t>a. Start hyphen transfer sequence starts polypeptide transfer. The internal stop hyphen transfer sequence is in the cytosol and the internal start hyphen transfer sequence is within the channel of the E R membrane. The N H subscript 3 positive end is in the cytosol.</a:t>
            </a:r>
          </a:p>
          <a:p>
            <a:r>
              <a:rPr lang="en-US" sz="1200" b="0" i="0" u="none" strike="noStrike" kern="1200" cap="none" dirty="0">
                <a:solidFill>
                  <a:schemeClr val="dk1"/>
                </a:solidFill>
                <a:effectLst/>
                <a:latin typeface="Arial"/>
                <a:ea typeface="Arial"/>
                <a:cs typeface="Arial"/>
                <a:sym typeface="Arial"/>
              </a:rPr>
              <a:t>b. Protein continues translocation until stop hyphen transfer sequence is encountered. The N H subscript 3 positive end is in the cytosol and the peptide chain extends into the E R lumen.</a:t>
            </a:r>
          </a:p>
          <a:p>
            <a:r>
              <a:rPr lang="en-US" sz="1200" b="0" i="0" u="none" strike="noStrike" kern="1200" cap="none" dirty="0">
                <a:solidFill>
                  <a:schemeClr val="dk1"/>
                </a:solidFill>
                <a:effectLst/>
                <a:latin typeface="Arial"/>
                <a:ea typeface="Arial"/>
                <a:cs typeface="Arial"/>
                <a:sym typeface="Arial"/>
              </a:rPr>
              <a:t>c. Portion of protein is released laterally into E R membrane. Next start hyphen transfer sequence repeats process to initiate a second transmembrane region. The protein peptide chain lengthens into the cytosol and then into the E R lumen and then into the cytosol with the N H subscript 3 positive end. </a:t>
            </a:r>
            <a:endParaRPr lang="en-IN" sz="1200" b="0" i="0" u="none" strike="noStrike" kern="1200" cap="none" dirty="0">
              <a:solidFill>
                <a:schemeClr val="dk1"/>
              </a:solidFill>
              <a:effectLst/>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51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73478673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52</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396231078"/>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53</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405161858"/>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54</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860873389"/>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55</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202950028"/>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56</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454537910"/>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57</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926629544"/>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58</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578318755"/>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59</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709988784"/>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r>
              <a:rPr lang="en-US" sz="1200" b="0" i="0" u="none" strike="noStrike" kern="1200" cap="none" dirty="0">
                <a:solidFill>
                  <a:schemeClr val="dk1"/>
                </a:solidFill>
                <a:effectLst/>
                <a:latin typeface="Arial"/>
                <a:ea typeface="Arial"/>
                <a:cs typeface="Arial"/>
                <a:sym typeface="Arial"/>
              </a:rPr>
              <a:t>Long Description:</a:t>
            </a:r>
          </a:p>
          <a:p>
            <a:r>
              <a:rPr lang="en-US" sz="1200" b="0" i="0" u="none" strike="noStrike" kern="1200" cap="none" dirty="0">
                <a:solidFill>
                  <a:schemeClr val="dk1"/>
                </a:solidFill>
                <a:effectLst/>
                <a:latin typeface="Arial"/>
                <a:ea typeface="Arial"/>
                <a:cs typeface="Arial"/>
                <a:sym typeface="Arial"/>
              </a:rPr>
              <a:t>The steps are as below:</a:t>
            </a:r>
          </a:p>
          <a:p>
            <a:r>
              <a:rPr lang="en-US" sz="1200" b="0" i="0" u="none" strike="noStrike" kern="1200" cap="none" dirty="0">
                <a:solidFill>
                  <a:schemeClr val="dk1"/>
                </a:solidFill>
                <a:effectLst/>
                <a:latin typeface="Arial"/>
                <a:ea typeface="Arial"/>
                <a:cs typeface="Arial"/>
                <a:sym typeface="Arial"/>
              </a:rPr>
              <a:t>1. H s p 7 0 (chaperone) binds to polypeptide. Both the C O O negative and N H subscript 3 positive ends are in the cytosol. </a:t>
            </a:r>
          </a:p>
          <a:p>
            <a:r>
              <a:rPr lang="en-US" sz="1200" b="0" i="0" u="none" strike="noStrike" kern="1200" cap="none" dirty="0">
                <a:solidFill>
                  <a:schemeClr val="dk1"/>
                </a:solidFill>
                <a:effectLst/>
                <a:latin typeface="Arial"/>
                <a:ea typeface="Arial"/>
                <a:cs typeface="Arial"/>
                <a:sym typeface="Arial"/>
              </a:rPr>
              <a:t>2. H s p 7 0 molecules detach as polypeptide passes through membrane. The N H subscript 3 positive end goes through the E R membrane into the E R lumen.</a:t>
            </a:r>
          </a:p>
          <a:p>
            <a:r>
              <a:rPr lang="en-US" sz="1200" b="0" i="0" u="none" strike="noStrike" kern="1200" cap="none" dirty="0">
                <a:solidFill>
                  <a:schemeClr val="dk1"/>
                </a:solidFill>
                <a:effectLst/>
                <a:latin typeface="Arial"/>
                <a:ea typeface="Arial"/>
                <a:cs typeface="Arial"/>
                <a:sym typeface="Arial"/>
              </a:rPr>
              <a:t>3. B i P molecules bind and release polypeptide as it enters matrix, pulling it into the E R lumen using a ratchet-like mechanism. </a:t>
            </a:r>
            <a:endParaRPr lang="en-IN" sz="1200" b="0" i="0" u="none" strike="noStrike" kern="1200" cap="none" dirty="0">
              <a:solidFill>
                <a:schemeClr val="dk1"/>
              </a:solidFill>
              <a:effectLst/>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60</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787267897"/>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61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677761264"/>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62</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06320683"/>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63</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8166796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r>
              <a:rPr lang="en-US" sz="1200" b="0" i="0" u="none" strike="noStrike" kern="1200" cap="none" dirty="0">
                <a:solidFill>
                  <a:schemeClr val="dk1"/>
                </a:solidFill>
                <a:effectLst/>
                <a:latin typeface="Arial"/>
                <a:ea typeface="Arial"/>
                <a:cs typeface="Arial"/>
                <a:sym typeface="Arial"/>
              </a:rPr>
              <a:t>Long Description:</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lphaLcPeriod"/>
            </a:pPr>
            <a:r>
              <a:rPr lang="en-US" sz="1200" b="0" i="0" u="none" strike="noStrike" kern="1200" cap="none" dirty="0">
                <a:solidFill>
                  <a:schemeClr val="dk1"/>
                </a:solidFill>
                <a:effectLst/>
                <a:latin typeface="Arial"/>
                <a:ea typeface="Arial"/>
                <a:cs typeface="Arial"/>
                <a:sym typeface="Arial"/>
              </a:rPr>
              <a:t>After 3 minutes, most of the labeled protein is found in the rough E R where it has just been synthesized.</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lphaLcPeriod"/>
            </a:pPr>
            <a:r>
              <a:rPr lang="en-US" sz="1200" b="0" i="0" u="none" strike="noStrike" kern="1200" cap="none" dirty="0">
                <a:solidFill>
                  <a:schemeClr val="dk1"/>
                </a:solidFill>
                <a:effectLst/>
                <a:latin typeface="Arial"/>
                <a:ea typeface="Arial"/>
                <a:cs typeface="Arial"/>
                <a:sym typeface="Arial"/>
              </a:rPr>
              <a:t>After 7 minutes, most of the new labeled protein has moved into the adjacent Golgi apparatuses.</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lphaLcPeriod"/>
            </a:pPr>
            <a:r>
              <a:rPr lang="en-US" sz="1200" b="0" i="0" u="none" strike="noStrike" kern="1200" cap="none" dirty="0">
                <a:solidFill>
                  <a:schemeClr val="dk1"/>
                </a:solidFill>
                <a:effectLst/>
                <a:latin typeface="Arial"/>
                <a:ea typeface="Arial"/>
                <a:cs typeface="Arial"/>
                <a:sym typeface="Arial"/>
              </a:rPr>
              <a:t>After 37 minutes, the labeled protein is being concentrated in condensing vacuoles next to the Golgi.</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lphaLcPeriod"/>
            </a:pPr>
            <a:r>
              <a:rPr lang="en-US" sz="1200" b="0" i="0" u="none" strike="noStrike" kern="1200" cap="none" dirty="0">
                <a:solidFill>
                  <a:schemeClr val="dk1"/>
                </a:solidFill>
                <a:effectLst/>
                <a:latin typeface="Arial"/>
                <a:ea typeface="Arial"/>
                <a:cs typeface="Arial"/>
                <a:sym typeface="Arial"/>
              </a:rPr>
              <a:t>After 117 minutes, the labeled protein is found in zymogen granules, ready for export from the cell to the lumen.</a:t>
            </a:r>
            <a:endParaRPr lang="en-IN" sz="1200" b="0" i="0" u="none" strike="noStrike" kern="1200" cap="none" dirty="0">
              <a:solidFill>
                <a:schemeClr val="dk1"/>
              </a:solidFill>
              <a:effectLst/>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64</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811812032"/>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65</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21303683"/>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r>
              <a:rPr lang="en-US" sz="1200" b="0" i="0" u="none" strike="noStrike" kern="1200" cap="none" dirty="0">
                <a:solidFill>
                  <a:schemeClr val="dk1"/>
                </a:solidFill>
                <a:effectLst/>
                <a:latin typeface="Arial"/>
                <a:ea typeface="Arial"/>
                <a:cs typeface="Arial"/>
                <a:sym typeface="Arial"/>
              </a:rPr>
              <a:t>Long Description: </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lphaLcPeriod"/>
            </a:pPr>
            <a:r>
              <a:rPr lang="en-US" sz="1200" b="0" i="0" u="none" strike="noStrike" kern="1200" cap="none" dirty="0">
                <a:solidFill>
                  <a:schemeClr val="dk1"/>
                </a:solidFill>
                <a:effectLst/>
                <a:latin typeface="Arial"/>
                <a:ea typeface="Arial"/>
                <a:cs typeface="Arial"/>
                <a:sym typeface="Arial"/>
              </a:rPr>
              <a:t>After 3 minutes, most of the labeled protein is found in the rough E R where it has just been synthesized.</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lphaLcPeriod"/>
            </a:pPr>
            <a:r>
              <a:rPr lang="en-US" sz="1200" b="0" i="0" u="none" strike="noStrike" kern="1200" cap="none" dirty="0">
                <a:solidFill>
                  <a:schemeClr val="dk1"/>
                </a:solidFill>
                <a:effectLst/>
                <a:latin typeface="Arial"/>
                <a:ea typeface="Arial"/>
                <a:cs typeface="Arial"/>
                <a:sym typeface="Arial"/>
              </a:rPr>
              <a:t>After 7 minutes, most of the new labeled protein has moved into the adjacent Golgi apparatuses.</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lphaLcPeriod"/>
            </a:pPr>
            <a:r>
              <a:rPr lang="en-US" sz="1200" b="0" i="0" u="none" strike="noStrike" kern="1200" cap="none" dirty="0">
                <a:solidFill>
                  <a:schemeClr val="dk1"/>
                </a:solidFill>
                <a:effectLst/>
                <a:latin typeface="Arial"/>
                <a:ea typeface="Arial"/>
                <a:cs typeface="Arial"/>
                <a:sym typeface="Arial"/>
              </a:rPr>
              <a:t>After 37 minutes, the labeled protein is being concentrated in condensing vacuoles next to the Golgi.</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lphaLcPeriod"/>
            </a:pPr>
            <a:r>
              <a:rPr lang="en-US" sz="1200" b="0" i="0" u="none" strike="noStrike" kern="1200" cap="none" dirty="0">
                <a:solidFill>
                  <a:schemeClr val="dk1"/>
                </a:solidFill>
                <a:effectLst/>
                <a:latin typeface="Arial"/>
                <a:ea typeface="Arial"/>
                <a:cs typeface="Arial"/>
                <a:sym typeface="Arial"/>
              </a:rPr>
              <a:t>After 117 minutes, the labeled protein is found in zymogen granules, ready for export from the cell to the lumen.</a:t>
            </a:r>
            <a:endParaRPr lang="en-IN" sz="1200" b="0" i="0" u="none" strike="noStrike" kern="1200" cap="none" dirty="0">
              <a:solidFill>
                <a:schemeClr val="dk1"/>
              </a:solidFill>
              <a:effectLst/>
              <a:latin typeface="Arial"/>
              <a:ea typeface="Arial"/>
              <a:cs typeface="Arial"/>
              <a:sym typeface="Arial"/>
            </a:endParaRPr>
          </a:p>
          <a:p>
            <a:endParaRPr lang="en-IN" sz="1200" b="0" i="0" u="none" strike="noStrike" kern="1200" cap="none" dirty="0">
              <a:solidFill>
                <a:schemeClr val="dk1"/>
              </a:solidFill>
              <a:effectLst/>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66</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504643640"/>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r>
              <a:rPr lang="en-US" sz="1200" b="0" i="0" u="none" strike="noStrike" kern="1200" cap="none" dirty="0">
                <a:solidFill>
                  <a:schemeClr val="dk1"/>
                </a:solidFill>
                <a:effectLst/>
                <a:latin typeface="Arial"/>
                <a:ea typeface="Arial"/>
                <a:cs typeface="Arial"/>
                <a:sym typeface="Arial"/>
              </a:rPr>
              <a:t>Long Description: </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lphaLcPeriod"/>
            </a:pPr>
            <a:r>
              <a:rPr lang="en-US" sz="1200" b="0" i="0" u="none" strike="noStrike" kern="1200" cap="none" dirty="0">
                <a:solidFill>
                  <a:schemeClr val="dk1"/>
                </a:solidFill>
                <a:effectLst/>
                <a:latin typeface="Arial"/>
                <a:ea typeface="Arial"/>
                <a:cs typeface="Arial"/>
                <a:sym typeface="Arial"/>
              </a:rPr>
              <a:t>After 3 minutes, most of the labeled protein is found in the rough E R where it has just been synthesized.</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lphaLcPeriod"/>
            </a:pPr>
            <a:r>
              <a:rPr lang="en-US" sz="1200" b="0" i="0" u="none" strike="noStrike" kern="1200" cap="none" dirty="0">
                <a:solidFill>
                  <a:schemeClr val="dk1"/>
                </a:solidFill>
                <a:effectLst/>
                <a:latin typeface="Arial"/>
                <a:ea typeface="Arial"/>
                <a:cs typeface="Arial"/>
                <a:sym typeface="Arial"/>
              </a:rPr>
              <a:t>After 7 minutes, most of the new labeled protein has moved into the adjacent Golgi apparatuses.</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lphaLcPeriod"/>
            </a:pPr>
            <a:r>
              <a:rPr lang="en-US" sz="1200" b="0" i="0" u="none" strike="noStrike" kern="1200" cap="none" dirty="0">
                <a:solidFill>
                  <a:schemeClr val="dk1"/>
                </a:solidFill>
                <a:effectLst/>
                <a:latin typeface="Arial"/>
                <a:ea typeface="Arial"/>
                <a:cs typeface="Arial"/>
                <a:sym typeface="Arial"/>
              </a:rPr>
              <a:t>After 37 minutes, the labeled protein is being concentrated in condensing vacuoles next to the Golgi.</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lphaLcPeriod"/>
            </a:pPr>
            <a:r>
              <a:rPr lang="en-US" sz="1200" b="0" i="0" u="none" strike="noStrike" kern="1200" cap="none" dirty="0">
                <a:solidFill>
                  <a:schemeClr val="dk1"/>
                </a:solidFill>
                <a:effectLst/>
                <a:latin typeface="Arial"/>
                <a:ea typeface="Arial"/>
                <a:cs typeface="Arial"/>
                <a:sym typeface="Arial"/>
              </a:rPr>
              <a:t>After 117 minutes, the labeled protein is found in zymogen granules, ready for export from the cell to the lumen.</a:t>
            </a:r>
            <a:endParaRPr lang="en-IN" sz="1200" b="0" i="0" u="none" strike="noStrike" kern="1200" cap="none" dirty="0">
              <a:solidFill>
                <a:schemeClr val="dk1"/>
              </a:solidFill>
              <a:effectLst/>
              <a:latin typeface="Arial"/>
              <a:ea typeface="Arial"/>
              <a:cs typeface="Arial"/>
              <a:sym typeface="Arial"/>
            </a:endParaRPr>
          </a:p>
          <a:p>
            <a:endParaRPr lang="en-IN" sz="1200" b="0" i="0" u="none" strike="noStrike" kern="1200" cap="none" dirty="0">
              <a:solidFill>
                <a:schemeClr val="dk1"/>
              </a:solidFill>
              <a:effectLst/>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67</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706384669"/>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68</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06332629"/>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69</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030765334"/>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70</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53459705"/>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71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265993404"/>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72</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704697393"/>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endParaRPr lang="en-IN" sz="1200" b="0" i="0" u="none" strike="noStrike" kern="1200" cap="none" dirty="0">
              <a:solidFill>
                <a:schemeClr val="dk1"/>
              </a:solidFill>
              <a:effectLst/>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73</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786099515"/>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74</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836249197"/>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75</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200605614"/>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76</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585782053"/>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r>
              <a:rPr lang="en-US" sz="1200" b="0" i="0" u="none" strike="noStrike" kern="1200" cap="none" dirty="0">
                <a:solidFill>
                  <a:schemeClr val="dk1"/>
                </a:solidFill>
                <a:effectLst/>
                <a:latin typeface="Arial"/>
                <a:ea typeface="Arial"/>
                <a:cs typeface="Arial"/>
                <a:sym typeface="Arial"/>
              </a:rPr>
              <a:t>Long Description:</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The details are as below:</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Approach of secretory vesicle to plasma membrane. The secretory vesicles are on the plasma membrane and also approaching toward it. The vesicle interior and vesicle membrane are labeled. The vesicle interior carries the secretory proteins.</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Fusion of membranes begins. The vesicles adhere to the plasma membrane. The interior and exterior membrane proteins fuse.</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Fusion of membranes completes. The plasma membrane opens to the exterior at the junction of secretory vesicles.</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Discharge of vesicle contents, like secretory proteins, to the outside of the cell. Vesicle membrane becomes integrated into plasma membrane.</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An electron micrograph shows multiple secretory vesicles approaching the plasma membrane. One of the vesicles has fused with the plasma membrane and secreted its contents outside the cell.</a:t>
            </a:r>
            <a:endParaRPr lang="en-IN" sz="1200" b="0" i="0" u="none" strike="noStrike" kern="1200" cap="none" dirty="0">
              <a:solidFill>
                <a:schemeClr val="dk1"/>
              </a:solidFill>
              <a:effectLst/>
              <a:latin typeface="Arial"/>
              <a:ea typeface="Arial"/>
              <a:cs typeface="Arial"/>
              <a:sym typeface="Arial"/>
            </a:endParaRPr>
          </a:p>
          <a:p>
            <a:endParaRPr lang="en-IN" sz="1200" b="0" i="0" u="none" strike="noStrike" kern="1200" cap="none" dirty="0">
              <a:solidFill>
                <a:schemeClr val="dk1"/>
              </a:solidFill>
              <a:effectLst/>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77</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145163857"/>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r>
              <a:rPr lang="en-US" sz="1200" b="0" i="0" u="none" strike="noStrike" kern="1200" cap="none" dirty="0">
                <a:solidFill>
                  <a:schemeClr val="dk1"/>
                </a:solidFill>
                <a:effectLst/>
                <a:latin typeface="Arial"/>
                <a:ea typeface="Arial"/>
                <a:cs typeface="Arial"/>
                <a:sym typeface="Arial"/>
              </a:rPr>
              <a:t>Long Description:</a:t>
            </a:r>
            <a:endParaRPr lang="en-IN" sz="1200" b="0" i="0" u="none" strike="noStrike" kern="1200" cap="none" dirty="0">
              <a:solidFill>
                <a:schemeClr val="dk1"/>
              </a:solidFill>
              <a:effectLst/>
              <a:latin typeface="Arial"/>
              <a:ea typeface="Arial"/>
              <a:cs typeface="Arial"/>
              <a:sym typeface="Arial"/>
            </a:endParaRPr>
          </a:p>
          <a:p>
            <a:pPr>
              <a:lnSpc>
                <a:spcPct val="115000"/>
              </a:lnSpc>
              <a:spcBef>
                <a:spcPts val="1500"/>
              </a:spcBef>
              <a:spcAft>
                <a:spcPts val="1000"/>
              </a:spcAft>
            </a:pPr>
            <a:r>
              <a:rPr lang="en-US" sz="1800" dirty="0">
                <a:effectLst/>
                <a:latin typeface="Times New Roman" panose="02020603050405020304" pitchFamily="18" charset="0"/>
                <a:ea typeface="Times New Roman" panose="02020603050405020304" pitchFamily="18" charset="0"/>
              </a:rPr>
              <a:t>The details are as below:</a:t>
            </a:r>
            <a:endParaRPr lang="en-IN" sz="1800" dirty="0">
              <a:effectLst/>
              <a:latin typeface="Calibri" panose="020F0502020204030204" pitchFamily="34" charset="0"/>
              <a:ea typeface="Calibri" panose="020F0502020204030204" pitchFamily="34" charset="0"/>
            </a:endParaRPr>
          </a:p>
          <a:p>
            <a:pPr marL="342900" lvl="0" indent="-342900">
              <a:lnSpc>
                <a:spcPct val="115000"/>
              </a:lnSpc>
              <a:spcBef>
                <a:spcPts val="1500"/>
              </a:spcBef>
              <a:spcAft>
                <a:spcPts val="1000"/>
              </a:spcAft>
              <a:buFont typeface="+mj-lt"/>
              <a:buAutoNum type="arabicPeriod"/>
            </a:pPr>
            <a:r>
              <a:rPr lang="en-US" sz="1800" dirty="0">
                <a:effectLst/>
                <a:latin typeface="Times New Roman" panose="02020603050405020304" pitchFamily="18" charset="0"/>
                <a:ea typeface="Times New Roman" panose="02020603050405020304" pitchFamily="18" charset="0"/>
              </a:rPr>
              <a:t>Approach of secretory vesicle to plasma membrane. The secretory vesicles are on the plasma membrane and also approaching toward it. The vesicle interior and vesicle membrane are labeled. The vesicle interior carries the secretory proteins.</a:t>
            </a:r>
            <a:endParaRPr lang="en-IN" sz="1800" dirty="0">
              <a:effectLst/>
              <a:latin typeface="Calibri" panose="020F0502020204030204" pitchFamily="34" charset="0"/>
              <a:ea typeface="Calibri" panose="020F0502020204030204" pitchFamily="34" charset="0"/>
            </a:endParaRPr>
          </a:p>
          <a:p>
            <a:pPr marL="342900" lvl="0" indent="-342900">
              <a:lnSpc>
                <a:spcPct val="115000"/>
              </a:lnSpc>
              <a:spcBef>
                <a:spcPts val="1500"/>
              </a:spcBef>
              <a:spcAft>
                <a:spcPts val="1000"/>
              </a:spcAft>
              <a:buFont typeface="+mj-lt"/>
              <a:buAutoNum type="arabicPeriod"/>
            </a:pPr>
            <a:r>
              <a:rPr lang="en-US" sz="1800" dirty="0">
                <a:effectLst/>
                <a:latin typeface="Times New Roman" panose="02020603050405020304" pitchFamily="18" charset="0"/>
                <a:ea typeface="Times New Roman" panose="02020603050405020304" pitchFamily="18" charset="0"/>
              </a:rPr>
              <a:t>Fusion of membranes begins. The vesicles adhere to the plasma membrane. The interior and exterior membrane proteins fuse.</a:t>
            </a:r>
            <a:endParaRPr lang="en-IN" sz="1800" dirty="0">
              <a:effectLst/>
              <a:latin typeface="Calibri" panose="020F0502020204030204" pitchFamily="34" charset="0"/>
              <a:ea typeface="Calibri" panose="020F0502020204030204" pitchFamily="34" charset="0"/>
            </a:endParaRPr>
          </a:p>
          <a:p>
            <a:pPr marL="342900" lvl="0" indent="-342900">
              <a:lnSpc>
                <a:spcPct val="115000"/>
              </a:lnSpc>
              <a:spcBef>
                <a:spcPts val="1500"/>
              </a:spcBef>
              <a:spcAft>
                <a:spcPts val="1000"/>
              </a:spcAft>
              <a:buFont typeface="+mj-lt"/>
              <a:buAutoNum type="arabicPeriod"/>
            </a:pPr>
            <a:r>
              <a:rPr lang="en-US" sz="1800" dirty="0">
                <a:effectLst/>
                <a:latin typeface="Times New Roman" panose="02020603050405020304" pitchFamily="18" charset="0"/>
                <a:ea typeface="Times New Roman" panose="02020603050405020304" pitchFamily="18" charset="0"/>
              </a:rPr>
              <a:t>Fusion of membranes completes. The plasma membrane opens to the exterior at the junction of secretory vesicles.</a:t>
            </a:r>
            <a:endParaRPr lang="en-IN" sz="1800" dirty="0">
              <a:effectLst/>
              <a:latin typeface="Calibri" panose="020F0502020204030204" pitchFamily="34" charset="0"/>
              <a:ea typeface="Calibri" panose="020F0502020204030204" pitchFamily="34" charset="0"/>
            </a:endParaRPr>
          </a:p>
          <a:p>
            <a:pPr marL="342900" lvl="0" indent="-342900">
              <a:lnSpc>
                <a:spcPct val="115000"/>
              </a:lnSpc>
              <a:spcBef>
                <a:spcPts val="1500"/>
              </a:spcBef>
              <a:spcAft>
                <a:spcPts val="1000"/>
              </a:spcAft>
              <a:buFont typeface="+mj-lt"/>
              <a:buAutoNum type="arabicPeriod"/>
            </a:pPr>
            <a:r>
              <a:rPr lang="en-US" sz="1800" dirty="0">
                <a:effectLst/>
                <a:latin typeface="Times New Roman" panose="02020603050405020304" pitchFamily="18" charset="0"/>
                <a:ea typeface="Times New Roman" panose="02020603050405020304" pitchFamily="18" charset="0"/>
              </a:rPr>
              <a:t>Discharge of vesicle contents, like secretory proteins, to the outside of the cell. Vesicle membrane becomes integrated into plasma membrane.</a:t>
            </a:r>
            <a:endParaRPr lang="en-IN" sz="1800" dirty="0">
              <a:effectLst/>
              <a:latin typeface="Calibri" panose="020F0502020204030204" pitchFamily="34" charset="0"/>
              <a:ea typeface="Calibri" panose="020F0502020204030204" pitchFamily="34" charset="0"/>
            </a:endParaRPr>
          </a:p>
          <a:p>
            <a:pPr>
              <a:lnSpc>
                <a:spcPct val="115000"/>
              </a:lnSpc>
              <a:spcBef>
                <a:spcPts val="1500"/>
              </a:spcBef>
              <a:spcAft>
                <a:spcPts val="1000"/>
              </a:spcAft>
            </a:pPr>
            <a:r>
              <a:rPr lang="en-US" sz="1800" dirty="0">
                <a:effectLst/>
                <a:latin typeface="Times New Roman" panose="02020603050405020304" pitchFamily="18" charset="0"/>
                <a:ea typeface="Times New Roman" panose="02020603050405020304" pitchFamily="18" charset="0"/>
              </a:rPr>
              <a:t>An electron micrograph shows multiple secretory vesicles approaching the plasma membrane. One of the vesicles has fused with the plasma membrane and secreted its contents outside the cell.</a:t>
            </a:r>
            <a:endParaRPr lang="en-IN" sz="1800" dirty="0">
              <a:effectLst/>
              <a:latin typeface="Calibri" panose="020F0502020204030204" pitchFamily="34" charset="0"/>
              <a:ea typeface="Calibri" panose="020F0502020204030204" pitchFamily="34" charset="0"/>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78</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19651400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79</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660758614"/>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80</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384243796"/>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81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089656544"/>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82</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511608704"/>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r>
              <a:rPr lang="en-US" sz="1200" b="0" i="0" u="none" strike="noStrike" kern="1200" cap="none" dirty="0">
                <a:solidFill>
                  <a:schemeClr val="dk1"/>
                </a:solidFill>
                <a:effectLst/>
                <a:latin typeface="Arial"/>
                <a:ea typeface="Arial"/>
                <a:cs typeface="Arial"/>
                <a:sym typeface="Arial"/>
              </a:rPr>
              <a:t>Long Description:</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The details are as below:</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Membrane invaginates, forming a pocket containing macromolecules or other materials from the exterior of the cell. Plasma membrane separates the cytosol from the exterior.</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Pocket begins to pinch off, enclosing the extracellular material. The exterior membrane proteins are found on the exterior of the cell and the interior membrane proteins on the interior of the cell. The pockets begin closing after absorbing particles from the exterior of the cell.</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Membrane closes around the invaginated material, forming a vesicle. The newly formed vesicles are closed ones lined by the interior membrane proteins in the cytosol.</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Vesicle separates from the plasma membrane, carrying material from the exterior within a membrane derived from the plasma membrane. The vesicle interior carries the particles surrounded by the vesicle membrane.</a:t>
            </a:r>
            <a:endParaRPr lang="en-IN" sz="1200" b="0" i="0" u="none" strike="noStrike" kern="1200" cap="none" dirty="0">
              <a:solidFill>
                <a:schemeClr val="dk1"/>
              </a:solidFill>
              <a:effectLst/>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83</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427589868"/>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84</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691223937"/>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85</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49789103"/>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86</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083744212"/>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87</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469750717"/>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88</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052891889"/>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89</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73133074"/>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90</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440812409"/>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91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186156208"/>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r>
              <a:rPr lang="en-US" sz="1200" b="0" i="0" u="none" strike="noStrike" kern="1200" cap="none" dirty="0">
                <a:solidFill>
                  <a:schemeClr val="dk1"/>
                </a:solidFill>
                <a:effectLst/>
                <a:latin typeface="Arial"/>
                <a:ea typeface="Arial"/>
                <a:cs typeface="Arial"/>
                <a:sym typeface="Arial"/>
              </a:rPr>
              <a:t>Long Description:</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The illustration shows the following steps:</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Bacterium attached to plasma membrane. The plasma membrane forms a pseudopod around the bacterium.</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The phagocytic vacuole fuses with an early endosome.</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The phagocytic vacuole makes transient contact with early and late endosomes during maturation.</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Mature lysosome causes bacterium to be broken down by lysosomal hydrolases.</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An electron micrograph shows phagosome being formed by the pseudopod of amoeba encircling the green algal cell.</a:t>
            </a:r>
            <a:endParaRPr lang="en-IN" sz="1200" b="0" i="0" u="none" strike="noStrike" kern="1200" cap="none" dirty="0">
              <a:solidFill>
                <a:schemeClr val="dk1"/>
              </a:solidFill>
              <a:effectLst/>
              <a:latin typeface="Arial"/>
              <a:ea typeface="Arial"/>
              <a:cs typeface="Arial"/>
              <a:sym typeface="Arial"/>
            </a:endParaRPr>
          </a:p>
          <a:p>
            <a:endParaRPr lang="en-IN" sz="1200" b="0" i="0" u="none" strike="noStrike" kern="1200" cap="none" dirty="0">
              <a:solidFill>
                <a:schemeClr val="dk1"/>
              </a:solidFill>
              <a:effectLst/>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92</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633973692"/>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r>
              <a:rPr lang="en-US" sz="1200" b="0" i="0" u="none" strike="noStrike" kern="1200" cap="none" dirty="0">
                <a:solidFill>
                  <a:schemeClr val="dk1"/>
                </a:solidFill>
                <a:effectLst/>
                <a:latin typeface="Arial"/>
                <a:ea typeface="Arial"/>
                <a:cs typeface="Arial"/>
                <a:sym typeface="Arial"/>
              </a:rPr>
              <a:t>Long Description:</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The illustration shows the following steps:</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Bacterium attached to plasma membrane. The plasma membrane forms a pseudopod around the bacterium.</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The phagocytic vacuole fuses with an early endosome.</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The phagocytic vacuole makes transient contact with early and late endosomes during maturation.</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Mature lysosome causes bacterium to be broken down by lysosomal hydrolases.</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An electron micrograph shows phagosome being formed by the pseudopod of amoeba encircling the green algal cell.</a:t>
            </a:r>
            <a:endParaRPr lang="en-IN" sz="1200" b="0" i="0" u="none" strike="noStrike" kern="1200" cap="none" dirty="0">
              <a:solidFill>
                <a:schemeClr val="dk1"/>
              </a:solidFill>
              <a:effectLst/>
              <a:latin typeface="Arial"/>
              <a:ea typeface="Arial"/>
              <a:cs typeface="Arial"/>
              <a:sym typeface="Arial"/>
            </a:endParaRPr>
          </a:p>
          <a:p>
            <a:endParaRPr lang="en-IN" sz="1200" b="0" i="0" u="none" strike="noStrike" kern="1200" cap="none" dirty="0">
              <a:solidFill>
                <a:schemeClr val="dk1"/>
              </a:solidFill>
              <a:effectLst/>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93</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417737075"/>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94</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946126777"/>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95</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586934366"/>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96</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823628578"/>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97</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243863829"/>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98</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83728302"/>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r>
              <a:rPr lang="en-US" sz="1200" b="0" i="0" u="none" strike="noStrike" kern="1200" cap="none" dirty="0">
                <a:solidFill>
                  <a:schemeClr val="dk1"/>
                </a:solidFill>
                <a:effectLst/>
                <a:latin typeface="Arial"/>
                <a:ea typeface="Arial"/>
                <a:cs typeface="Arial"/>
                <a:sym typeface="Arial"/>
              </a:rPr>
              <a:t>Long Description:</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The flow of processes is as below:</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Binding: Ligand binding to receptor on the plasma membrane forming receptor hyphen ligand complexes.</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Lateral diffusion: Clathrin coat being formed. A coated pit is formed.</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Invagination: A pit is formed on the membrane with dynamin in it.</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Vesicle formation: A coated vesicle with interior carrying particles and a membrane is formed.</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Uncoating: The coat protein is recycled into adaptor protein and clathrin and forms the coated pit for the new vesicles to be formed. The uncoated vesicle moves to the next stage.</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Fusion with early endosome and release of ligand: The uncoated vesicle fuses with an early endosome.</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The transportation occurs in three types:</a:t>
            </a:r>
            <a:endParaRPr lang="en-IN" sz="1200" b="0" i="0" u="none" strike="noStrike" kern="1200" cap="none" dirty="0">
              <a:solidFill>
                <a:schemeClr val="dk1"/>
              </a:solidFill>
              <a:effectLst/>
              <a:latin typeface="Arial"/>
              <a:ea typeface="Arial"/>
              <a:cs typeface="Arial"/>
              <a:sym typeface="Arial"/>
            </a:endParaRPr>
          </a:p>
          <a:p>
            <a:pPr marL="685800" lvl="1" indent="-228600">
              <a:buFont typeface="+mj-lt"/>
              <a:buAutoNum type="alphaLcPeriod"/>
            </a:pPr>
            <a:r>
              <a:rPr lang="en-US" sz="1200" b="0" i="0" u="none" strike="noStrike" kern="1200" cap="none" dirty="0">
                <a:solidFill>
                  <a:schemeClr val="dk1"/>
                </a:solidFill>
                <a:effectLst/>
                <a:latin typeface="Arial"/>
                <a:ea typeface="Arial"/>
                <a:cs typeface="Arial"/>
                <a:sym typeface="Arial"/>
              </a:rPr>
              <a:t>Transport to late endosome and then to lysosome for digestion is “7a”.</a:t>
            </a:r>
            <a:endParaRPr lang="en-IN" sz="1200" b="0" i="0" u="none" strike="noStrike" kern="1200" cap="none" dirty="0">
              <a:solidFill>
                <a:schemeClr val="dk1"/>
              </a:solidFill>
              <a:effectLst/>
              <a:latin typeface="Arial"/>
              <a:ea typeface="Arial"/>
              <a:cs typeface="Arial"/>
              <a:sym typeface="Arial"/>
            </a:endParaRPr>
          </a:p>
          <a:p>
            <a:pPr marL="685800" lvl="1" indent="-228600">
              <a:buFont typeface="+mj-lt"/>
              <a:buAutoNum type="alphaLcPeriod"/>
            </a:pPr>
            <a:r>
              <a:rPr lang="en-US" sz="1200" b="0" i="0" u="none" strike="noStrike" kern="1200" cap="none" dirty="0">
                <a:solidFill>
                  <a:schemeClr val="dk1"/>
                </a:solidFill>
                <a:effectLst/>
                <a:latin typeface="Arial"/>
                <a:ea typeface="Arial"/>
                <a:cs typeface="Arial"/>
                <a:sym typeface="Arial"/>
              </a:rPr>
              <a:t>Transport of receptors to cell surface for recycling is “7b”.</a:t>
            </a:r>
            <a:endParaRPr lang="en-IN" sz="1200" b="0" i="0" u="none" strike="noStrike" kern="1200" cap="none" dirty="0">
              <a:solidFill>
                <a:schemeClr val="dk1"/>
              </a:solidFill>
              <a:effectLst/>
              <a:latin typeface="Arial"/>
              <a:ea typeface="Arial"/>
              <a:cs typeface="Arial"/>
              <a:sym typeface="Arial"/>
            </a:endParaRPr>
          </a:p>
          <a:p>
            <a:pPr marL="685800" lvl="1" indent="-228600">
              <a:buFont typeface="+mj-lt"/>
              <a:buAutoNum type="alphaLcPeriod"/>
            </a:pPr>
            <a:r>
              <a:rPr lang="en-US" sz="1200" b="0" i="0" u="none" strike="noStrike" kern="1200" cap="none" dirty="0">
                <a:solidFill>
                  <a:schemeClr val="dk1"/>
                </a:solidFill>
                <a:effectLst/>
                <a:latin typeface="Arial"/>
                <a:ea typeface="Arial"/>
                <a:cs typeface="Arial"/>
                <a:sym typeface="Arial"/>
              </a:rPr>
              <a:t>Transcytosis is “7c”.</a:t>
            </a:r>
            <a:endParaRPr lang="en-IN" sz="1200" b="0" i="0" u="none" strike="noStrike" kern="1200" cap="none" dirty="0">
              <a:solidFill>
                <a:schemeClr val="dk1"/>
              </a:solidFill>
              <a:effectLst/>
              <a:latin typeface="Arial"/>
              <a:ea typeface="Arial"/>
              <a:cs typeface="Arial"/>
              <a:sym typeface="Arial"/>
            </a:endParaRPr>
          </a:p>
          <a:p>
            <a:endParaRPr lang="en-IN" sz="1200" b="0" i="0" u="none" strike="noStrike" kern="1200" cap="none" dirty="0">
              <a:solidFill>
                <a:schemeClr val="dk1"/>
              </a:solidFill>
              <a:effectLst/>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99</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234656772"/>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r>
              <a:rPr lang="en-US" sz="1200" b="0" i="0" u="none" strike="noStrike" kern="1200" cap="none" dirty="0">
                <a:solidFill>
                  <a:schemeClr val="dk1"/>
                </a:solidFill>
                <a:effectLst/>
                <a:latin typeface="Arial"/>
                <a:ea typeface="Arial"/>
                <a:cs typeface="Arial"/>
                <a:sym typeface="Arial"/>
              </a:rPr>
              <a:t>Long Description: </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The steps are as below:</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Yolk particles accumulate in a coated pit, a shallow invagination of the plasma membrane with a clathrin coat on its inner surface. The yolk particles in coated pit and clathrin coat are seen.</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A deeper coated pit forms as more clathrin is added, forcing the membrane to curve and trapping additional free particles of yolk. A coated pit is formed and measurement shows 200 nanometers.</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Additional curvature leads to the formation of a coated vesicle, shown here just before budding from the plasma membrane. The vesicle coating is in the process of closing to form a vesicle disjoint from the plasma membrane.</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A complete coated vesicle has just formed below the plasma membrane and still has an intact clathrin coat. The coated vesicle with an outer clathrin coat is seen.</a:t>
            </a:r>
            <a:endParaRPr lang="en-IN" sz="1200" b="0" i="0" u="none" strike="noStrike" kern="1200" cap="none" dirty="0">
              <a:solidFill>
                <a:schemeClr val="dk1"/>
              </a:solidFill>
              <a:effectLst/>
              <a:latin typeface="Arial"/>
              <a:ea typeface="Arial"/>
              <a:cs typeface="Arial"/>
              <a:sym typeface="Arial"/>
            </a:endParaRPr>
          </a:p>
          <a:p>
            <a:endParaRPr lang="en-IN" sz="1200" b="0" i="0" u="none" strike="noStrike" kern="1200" cap="none" dirty="0">
              <a:solidFill>
                <a:schemeClr val="dk1"/>
              </a:solidFill>
              <a:effectLst/>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100</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320507229"/>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101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444231625"/>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102</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954014500"/>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103</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312893442"/>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104</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177100009"/>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105</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035345075"/>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106</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044464244"/>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107</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194563472"/>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108</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102853473"/>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109</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180780465"/>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110</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158733173"/>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111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008749234"/>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r>
              <a:rPr lang="en-US" sz="1200" b="0" i="0" u="none" strike="noStrike" kern="1200" cap="none" dirty="0">
                <a:solidFill>
                  <a:schemeClr val="dk1"/>
                </a:solidFill>
                <a:effectLst/>
                <a:latin typeface="Arial"/>
                <a:ea typeface="Arial"/>
                <a:cs typeface="Arial"/>
                <a:sym typeface="Arial"/>
              </a:rPr>
              <a:t>Long Description: </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The structure of clathrin triskelions consists of three arms of clathrin heavy chain starting from the vertex. Clathrin light chains are attached to the sides of the three arms. The heavy chains show a bend termed as knee. Each heavy chain ends in a terminal globular domain.</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The model for assembly shows multiple individual clathrin triskelions joined together to form a hexagon or a pentagon. The process is reversible where multiple clathrin triskelions are separated out from a hexagon or pentagon.</a:t>
            </a:r>
            <a:endParaRPr lang="en-IN" sz="1200" b="0" i="0" u="none" strike="noStrike" kern="1200" cap="none" dirty="0">
              <a:solidFill>
                <a:schemeClr val="dk1"/>
              </a:solidFill>
              <a:effectLst/>
              <a:latin typeface="Arial"/>
              <a:ea typeface="Arial"/>
              <a:cs typeface="Arial"/>
              <a:sym typeface="Arial"/>
            </a:endParaRPr>
          </a:p>
          <a:p>
            <a:endParaRPr lang="en-IN" sz="1200" b="0" i="0" u="none" strike="noStrike" kern="1200" cap="none" dirty="0">
              <a:solidFill>
                <a:schemeClr val="dk1"/>
              </a:solidFill>
              <a:effectLst/>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112</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72974046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r>
              <a:rPr lang="en-US" sz="1200" b="0" i="0" u="none" strike="noStrike" kern="1200" cap="none" dirty="0">
                <a:solidFill>
                  <a:schemeClr val="dk1"/>
                </a:solidFill>
                <a:effectLst/>
                <a:latin typeface="Arial"/>
                <a:ea typeface="Arial"/>
                <a:cs typeface="Arial"/>
                <a:sym typeface="Arial"/>
              </a:rPr>
              <a:t>Long Description: </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The structure of clathrin triskelions consists of three arms of clathrin heavy chain starting from the vertex. Clathrin light chains are attached to the sides of the three arms. The heavy chains show a bend termed as knee. Each heavy chain ends in a terminal globular domain.</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The model for assembly shows multiple individual clathrin triskelions joined together to form a hexagon or a pentagon. The process is reversible where multiple clathrin triskelions are separated out from a hexagon or pentagon.</a:t>
            </a:r>
            <a:endParaRPr lang="en-IN" sz="1200" b="0" i="0" u="none" strike="noStrike" kern="1200" cap="none" dirty="0">
              <a:solidFill>
                <a:schemeClr val="dk1"/>
              </a:solidFill>
              <a:effectLst/>
              <a:latin typeface="Arial"/>
              <a:ea typeface="Arial"/>
              <a:cs typeface="Arial"/>
              <a:sym typeface="Arial"/>
            </a:endParaRPr>
          </a:p>
          <a:p>
            <a:endParaRPr lang="en-IN" sz="1200" b="0" i="0" u="none" strike="noStrike" kern="1200" cap="none" dirty="0">
              <a:solidFill>
                <a:schemeClr val="dk1"/>
              </a:solidFill>
              <a:effectLst/>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113</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006525197"/>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r>
              <a:rPr lang="en-US" sz="1200" b="0" i="0" u="none" strike="noStrike" kern="1200" cap="none" dirty="0">
                <a:solidFill>
                  <a:schemeClr val="dk1"/>
                </a:solidFill>
                <a:effectLst/>
                <a:latin typeface="Arial"/>
                <a:ea typeface="Arial"/>
                <a:cs typeface="Arial"/>
                <a:sym typeface="Arial"/>
              </a:rPr>
              <a:t>Long Description: </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The structure of clathrin triskelions consists of three arms of clathrin heavy chain starting from the vertex. Clathrin light chains are attached to the sides of the three arms. The heavy chains show a bend termed as knee. Each heavy chain ends in a terminal globular domain.</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The model for assembly shows multiple individual clathrin triskelions joined together to form a hexagon or a pentagon. The process is reversible where multiple clathrin triskelions are separated out from a hexagon or pentagon.</a:t>
            </a:r>
            <a:endParaRPr lang="en-IN" sz="1200" b="0" i="0" u="none" strike="noStrike" kern="1200" cap="none" dirty="0">
              <a:solidFill>
                <a:schemeClr val="dk1"/>
              </a:solidFill>
              <a:effectLst/>
              <a:latin typeface="Arial"/>
              <a:ea typeface="Arial"/>
              <a:cs typeface="Arial"/>
              <a:sym typeface="Arial"/>
            </a:endParaRPr>
          </a:p>
          <a:p>
            <a:endParaRPr lang="en-IN" sz="1200" b="0" i="0" u="none" strike="noStrike" kern="1200" cap="none" dirty="0">
              <a:solidFill>
                <a:schemeClr val="dk1"/>
              </a:solidFill>
              <a:effectLst/>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114</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060021284"/>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115</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064192128"/>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116</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196218005"/>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117</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611091842"/>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118</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31064577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r>
              <a:rPr lang="en-US" sz="1200" b="0" i="0" u="none" strike="noStrike" kern="1200" cap="none" dirty="0">
                <a:solidFill>
                  <a:schemeClr val="dk1"/>
                </a:solidFill>
                <a:effectLst/>
                <a:latin typeface="Arial"/>
                <a:ea typeface="Arial"/>
                <a:cs typeface="Arial"/>
                <a:sym typeface="Arial"/>
              </a:rPr>
              <a:t>Long Description: </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The measurement of freeze etch electron micrograph of a hexagonal clathrin lattice is 50 nm. The structure is a close network of clathrin with heavy and light chains. The pentagonal and hexagonal units of measurement 500 nm show multiple such distinct units. The schematic drawings highlight single clathrin with knee, vertex, heavy, and light chains in a cage structure and a hexagonal structure. </a:t>
            </a:r>
            <a:endParaRPr lang="en-IN" sz="1200" b="0" i="0" u="none" strike="noStrike" kern="1200" cap="none" dirty="0">
              <a:solidFill>
                <a:schemeClr val="dk1"/>
              </a:solidFill>
              <a:effectLst/>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119</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279737555"/>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r>
              <a:rPr lang="en-US" sz="1200" b="0" i="0" u="none" strike="noStrike" kern="1200" cap="none" dirty="0">
                <a:solidFill>
                  <a:schemeClr val="dk1"/>
                </a:solidFill>
                <a:effectLst/>
                <a:latin typeface="Arial"/>
                <a:ea typeface="Arial"/>
                <a:cs typeface="Arial"/>
                <a:sym typeface="Arial"/>
              </a:rPr>
              <a:t>Long Description: </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The measurement of freeze etch electron micrograph of a hexagonal clathrin lattice is 50 nm. The structure is a close network of clathrin with heavy and light chains. The pentagonal and hexagonal units of measurement 500 nm show multiple such distinct units. The schematic drawings highlight single clathrin with knee, vertex, heavy, and light chains in a cage structure and a hexagonal structure. </a:t>
            </a:r>
            <a:endParaRPr lang="en-IN" sz="1200" b="0" i="0" u="none" strike="noStrike" kern="1200" cap="none" dirty="0">
              <a:solidFill>
                <a:schemeClr val="dk1"/>
              </a:solidFill>
              <a:effectLst/>
              <a:latin typeface="Arial"/>
              <a:ea typeface="Arial"/>
              <a:cs typeface="Arial"/>
              <a:sym typeface="Arial"/>
            </a:endParaRPr>
          </a:p>
          <a:p>
            <a:endParaRPr lang="en-IN" sz="1200" b="0" i="0" u="none" strike="noStrike" kern="1200" cap="none" dirty="0">
              <a:solidFill>
                <a:schemeClr val="dk1"/>
              </a:solidFill>
              <a:effectLst/>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120</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287454946"/>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r>
              <a:rPr lang="en-US" sz="1200" b="0" i="0" u="none" strike="noStrike" kern="1200" cap="none" dirty="0">
                <a:solidFill>
                  <a:schemeClr val="dk1"/>
                </a:solidFill>
                <a:effectLst/>
                <a:latin typeface="Arial"/>
                <a:ea typeface="Arial"/>
                <a:cs typeface="Arial"/>
                <a:sym typeface="Arial"/>
              </a:rPr>
              <a:t>Long Description: </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The measurement of freeze etch electron micrograph of a hexagonal clathrin lattice is 50 nm. The structure is a close network of clathrin with heavy and light chains. The pentagonal and hexagonal units of measurement 500 nm show multiple such distinct units. The schematic drawings highlight single clathrin with knee, vertex, heavy, and light chains in a cage structure and a hexagonal structure. </a:t>
            </a:r>
            <a:endParaRPr lang="en-IN" sz="1200" b="0" i="0" u="none" strike="noStrike" kern="1200" cap="none" dirty="0">
              <a:solidFill>
                <a:schemeClr val="dk1"/>
              </a:solidFill>
              <a:effectLst/>
              <a:latin typeface="Arial"/>
              <a:ea typeface="Arial"/>
              <a:cs typeface="Arial"/>
              <a:sym typeface="Arial"/>
            </a:endParaRPr>
          </a:p>
          <a:p>
            <a:endParaRPr lang="en-IN" sz="1200" b="0" i="0" u="none" strike="noStrike" kern="1200" cap="none" dirty="0">
              <a:solidFill>
                <a:schemeClr val="dk1"/>
              </a:solidFill>
              <a:effectLst/>
              <a:latin typeface="Arial"/>
              <a:ea typeface="Arial"/>
              <a:cs typeface="Arial"/>
              <a:sym typeface="Arial"/>
            </a:endParaRPr>
          </a:p>
          <a:p>
            <a:endParaRPr lang="en-IN" sz="1200" b="0" i="0" u="none" strike="noStrike" kern="1200" cap="none" dirty="0">
              <a:solidFill>
                <a:schemeClr val="dk1"/>
              </a:solidFill>
              <a:effectLst/>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121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447234909"/>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r>
              <a:rPr lang="en-US" sz="1200" b="0" i="0" u="none" strike="noStrike" kern="1200" cap="none" dirty="0">
                <a:solidFill>
                  <a:schemeClr val="dk1"/>
                </a:solidFill>
                <a:effectLst/>
                <a:latin typeface="Arial"/>
                <a:ea typeface="Arial"/>
                <a:cs typeface="Arial"/>
                <a:sym typeface="Arial"/>
              </a:rPr>
              <a:t>Long Description: </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The measurement of freeze etch electron micrograph of a hexagonal clathrin lattice is 50 nm. The structure is a close network of clathrin with heavy and light chains. The pentagonal and hexagonal units of measurement 500 nm show multiple such distinct units. The schematic drawings highlight single clathrin with knee, vertex, heavy, and light chains in a cage structure and a hexagonal structure. </a:t>
            </a:r>
            <a:endParaRPr lang="en-IN" sz="1200" b="0" i="0" u="none" strike="noStrike" kern="1200" cap="none" dirty="0">
              <a:solidFill>
                <a:schemeClr val="dk1"/>
              </a:solidFill>
              <a:effectLst/>
              <a:latin typeface="Arial"/>
              <a:ea typeface="Arial"/>
              <a:cs typeface="Arial"/>
              <a:sym typeface="Arial"/>
            </a:endParaRPr>
          </a:p>
          <a:p>
            <a:endParaRPr lang="en-IN" sz="1200" b="0" i="0" u="none" strike="noStrike" kern="1200" cap="none" dirty="0">
              <a:solidFill>
                <a:schemeClr val="dk1"/>
              </a:solidFill>
              <a:effectLst/>
              <a:latin typeface="Arial"/>
              <a:ea typeface="Arial"/>
              <a:cs typeface="Arial"/>
              <a:sym typeface="Arial"/>
            </a:endParaRPr>
          </a:p>
          <a:p>
            <a:endParaRPr lang="en-IN" sz="1200" b="0" i="0" u="none" strike="noStrike" kern="1200" cap="none" dirty="0">
              <a:solidFill>
                <a:schemeClr val="dk1"/>
              </a:solidFill>
              <a:effectLst/>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122</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208535361"/>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123</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532861688"/>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124</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228472308"/>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125</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089778889"/>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126</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833703850"/>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127</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839397479"/>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128</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377814938"/>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129</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626945280"/>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130</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407542758"/>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131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310918109"/>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r>
              <a:rPr lang="en-US" sz="1200" b="0" i="0" u="none" strike="noStrike" kern="1200" cap="none" dirty="0">
                <a:solidFill>
                  <a:schemeClr val="dk1"/>
                </a:solidFill>
                <a:effectLst/>
                <a:latin typeface="Arial"/>
                <a:ea typeface="Arial"/>
                <a:cs typeface="Arial"/>
                <a:sym typeface="Arial"/>
              </a:rPr>
              <a:t>Long Description: </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The process is as below:</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The proper vesicle is recognized and bound by particular membrane hyphen anchored tethering proteins. The parts labeled in a transport vesicle are donor membrane, Rab G T Pase and v hyphen S N A R E attached to the outer membrane. The t hyphen S N A R E attaches to the target membrane. Coiled hyphen coil tethering complex and multi subunit tethering complex are also seen. </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A Rab G T Pase bound to the incoming vesicle stimulates association of v hyphen S N A R E with t hyphen S N A R E. The v hyphen S N A R E is proceeding toward the t hyphen S N A R E on the target membrane.</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Membrane fusion is promoted by the interaction of v hyphen S N A R E with t hyphen S N A R E.  </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Binding of N S F and S N A Ps promotes dissociation of the S N A R E complex. The particles inside the transport vesicle are released inside the target membrane.</a:t>
            </a:r>
            <a:endParaRPr lang="en-IN" sz="1200" b="0" i="0" u="none" strike="noStrike" kern="1200" cap="none" dirty="0">
              <a:solidFill>
                <a:schemeClr val="dk1"/>
              </a:solidFill>
              <a:effectLst/>
              <a:latin typeface="Arial"/>
              <a:ea typeface="Arial"/>
              <a:cs typeface="Arial"/>
              <a:sym typeface="Arial"/>
            </a:endParaRPr>
          </a:p>
          <a:p>
            <a:endParaRPr lang="en-IN" sz="1200" b="0" i="0" u="none" strike="noStrike" kern="1200" cap="none" dirty="0">
              <a:solidFill>
                <a:schemeClr val="dk1"/>
              </a:solidFill>
              <a:effectLst/>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132</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866163401"/>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133</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178920261"/>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134</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764304395"/>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135</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91423242"/>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136</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408494554"/>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137</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200900275"/>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138</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124810340"/>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139</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540146142"/>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140</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610930360"/>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141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613350438"/>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142</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24750970"/>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r>
              <a:rPr lang="en-US" sz="1200" b="0" i="0" u="none" strike="noStrike" kern="1200" cap="none" dirty="0">
                <a:solidFill>
                  <a:schemeClr val="dk1"/>
                </a:solidFill>
                <a:effectLst/>
                <a:latin typeface="Arial"/>
                <a:ea typeface="Arial"/>
                <a:cs typeface="Arial"/>
                <a:sym typeface="Arial"/>
              </a:rPr>
              <a:t>Long Description: </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The processes are as below:</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Phagocytosis:</a:t>
            </a:r>
            <a:r>
              <a:rPr lang="en-IN" sz="1200" b="0" i="0" u="none" strike="noStrike" kern="1200" cap="none" dirty="0">
                <a:solidFill>
                  <a:schemeClr val="dk1"/>
                </a:solidFill>
                <a:effectLst/>
                <a:latin typeface="Arial"/>
                <a:ea typeface="Arial"/>
                <a:cs typeface="Arial"/>
                <a:sym typeface="Arial"/>
              </a:rPr>
              <a:t> </a:t>
            </a:r>
            <a:r>
              <a:rPr lang="en-US" sz="1200" b="0" i="0" u="none" strike="noStrike" kern="1200" cap="none" dirty="0">
                <a:solidFill>
                  <a:schemeClr val="dk1"/>
                </a:solidFill>
                <a:effectLst/>
                <a:latin typeface="Arial"/>
                <a:ea typeface="Arial"/>
                <a:cs typeface="Arial"/>
                <a:sym typeface="Arial"/>
              </a:rPr>
              <a:t>Phagocytic vacuole with or without early endosome to mature lysosome.</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Endocytosis: endocytic vesicles to early endosomes to late endosome to mature lysosome. Additionally, multiple late endosomes contribute to mature lysosomes. </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Another pathway is Golgi apparatus to vesicles containing acid hydrolases to early endosomes to late endosomes to mature endosomes.</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Endoplasmic reticulum to autophagic vacuole forming around mitochondrion to mature lysosome.</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In all the above pathways, the mature lysosomes become lysosomes and release acid hydrolases to extracellular fluid by the process of exocytosis. Also, mature lysosomes release nutrients as digestion progresses, creates residual body, and release the particles to the exterior of the cell. Nucleus and plasma membrane are labeled.</a:t>
            </a:r>
            <a:endParaRPr lang="en-IN" sz="1200" b="0" i="0" u="none" strike="noStrike" kern="1200" cap="none" dirty="0">
              <a:solidFill>
                <a:schemeClr val="dk1"/>
              </a:solidFill>
              <a:effectLst/>
              <a:latin typeface="Arial"/>
              <a:ea typeface="Arial"/>
              <a:cs typeface="Arial"/>
              <a:sym typeface="Arial"/>
            </a:endParaRPr>
          </a:p>
          <a:p>
            <a:endParaRPr lang="en-IN" sz="1200" b="0" i="0" u="none" strike="noStrike" kern="1200" cap="none" dirty="0">
              <a:solidFill>
                <a:schemeClr val="dk1"/>
              </a:solidFill>
              <a:effectLst/>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143</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736258343"/>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144</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065861216"/>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145</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941340932"/>
      </p:ext>
    </p:extLst>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146</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169017216"/>
      </p:ext>
    </p:extLst>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147</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543855878"/>
      </p:ext>
    </p:extLst>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r>
              <a:rPr lang="en-US" sz="1200" b="0" i="0" u="none" strike="noStrike" kern="1200" cap="none" dirty="0">
                <a:solidFill>
                  <a:schemeClr val="dk1"/>
                </a:solidFill>
                <a:effectLst/>
                <a:latin typeface="Arial"/>
                <a:ea typeface="Arial"/>
                <a:cs typeface="Arial"/>
                <a:sym typeface="Arial"/>
              </a:rPr>
              <a:t>Long Description: </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The first micrograph shows a single autophagic vesicle containing peroxisome to the left and mitochondrion to the right. Another micrograph shows two autophagic vesicles, each containing rough E R.</a:t>
            </a: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148</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28598224"/>
      </p:ext>
    </p:extLst>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149</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251227796"/>
      </p:ext>
    </p:extLst>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150</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338416147"/>
      </p:ext>
    </p:extLst>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151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9032833"/>
      </p:ext>
    </p:extLst>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152</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525087810"/>
      </p:ext>
    </p:extLst>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153</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144356796"/>
      </p:ext>
    </p:extLst>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154</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401336530"/>
      </p:ext>
    </p:extLst>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155</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478666500"/>
      </p:ext>
    </p:extLst>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156</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874629680"/>
      </p:ext>
    </p:extLst>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157</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155326225"/>
      </p:ext>
    </p:extLst>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158</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13246426"/>
      </p:ext>
    </p:extLst>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endParaRPr lang="en-IN" sz="1200" b="0" i="0" u="none" strike="noStrike" kern="1200" cap="none" dirty="0">
              <a:solidFill>
                <a:schemeClr val="dk1"/>
              </a:solidFill>
              <a:effectLst/>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159</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97780729"/>
      </p:ext>
    </p:extLst>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160</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568076511"/>
      </p:ext>
    </p:extLst>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161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799715106"/>
      </p:ext>
    </p:extLst>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r>
              <a:rPr lang="en-US" sz="1200" b="0" i="0" u="none" strike="noStrike" cap="none" dirty="0">
                <a:solidFill>
                  <a:schemeClr val="dk1"/>
                </a:solidFill>
                <a:latin typeface="Arial"/>
                <a:ea typeface="Arial"/>
                <a:cs typeface="Arial"/>
                <a:sym typeface="Arial"/>
              </a:rPr>
              <a:t>Long Description:</a:t>
            </a: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162</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850675466"/>
      </p:ext>
    </p:extLst>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163</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014911974"/>
      </p:ext>
    </p:extLst>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164</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596559575"/>
      </p:ext>
    </p:extLst>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165</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255556257"/>
      </p:ext>
    </p:extLst>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166</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898511441"/>
      </p:ext>
    </p:extLst>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endParaRPr lang="en-IN" sz="1200" b="0" i="0" u="none" strike="noStrike" kern="1200" cap="none" dirty="0">
              <a:solidFill>
                <a:schemeClr val="dk1"/>
              </a:solidFill>
              <a:effectLst/>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167</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883757475"/>
      </p:ext>
    </p:extLst>
  </p:cSld>
  <p:clrMapOvr>
    <a:masterClrMapping/>
  </p:clrMapOvr>
</p:notes>
</file>

<file path=ppt/notesSlides/notesSlide1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168</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049648057"/>
      </p:ext>
    </p:extLst>
  </p:cSld>
  <p:clrMapOvr>
    <a:masterClrMapping/>
  </p:clrMapOvr>
</p:notes>
</file>

<file path=ppt/notesSlides/notesSlide1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169</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518484396"/>
      </p:ext>
    </p:extLst>
  </p:cSld>
  <p:clrMapOvr>
    <a:masterClrMapping/>
  </p:clrMapOvr>
</p:notes>
</file>

<file path=ppt/notesSlides/notesSlide1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170</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616026510"/>
      </p:ext>
    </p:extLst>
  </p:cSld>
  <p:clrMapOvr>
    <a:masterClrMapping/>
  </p:clrMapOvr>
</p:notes>
</file>

<file path=ppt/notesSlides/notesSlide1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171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753550528"/>
      </p:ext>
    </p:extLst>
  </p:cSld>
  <p:clrMapOvr>
    <a:masterClrMapping/>
  </p:clrMapOvr>
</p:notes>
</file>

<file path=ppt/notesSlides/notesSlide1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172</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070266022"/>
      </p:ext>
    </p:extLst>
  </p:cSld>
  <p:clrMapOvr>
    <a:masterClrMapping/>
  </p:clrMapOvr>
</p:notes>
</file>

<file path=ppt/notesSlides/notesSlide1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173</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654646545"/>
      </p:ext>
    </p:extLst>
  </p:cSld>
  <p:clrMapOvr>
    <a:masterClrMapping/>
  </p:clrMapOvr>
</p:notes>
</file>

<file path=ppt/notesSlides/notesSlide1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174</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013847145"/>
      </p:ext>
    </p:extLst>
  </p:cSld>
  <p:clrMapOvr>
    <a:masterClrMapping/>
  </p:clrMapOvr>
</p:notes>
</file>

<file path=ppt/notesSlides/notesSlide1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175</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556448629"/>
      </p:ext>
    </p:extLst>
  </p:cSld>
  <p:clrMapOvr>
    <a:masterClrMapping/>
  </p:clrMapOvr>
</p:notes>
</file>

<file path=ppt/notesSlides/notesSlide1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r>
              <a:rPr lang="en-US" sz="1200" b="0" i="0" u="none" strike="noStrike" kern="1200" cap="none" dirty="0">
                <a:solidFill>
                  <a:schemeClr val="dk1"/>
                </a:solidFill>
                <a:effectLst/>
                <a:latin typeface="Arial"/>
                <a:ea typeface="Arial"/>
                <a:cs typeface="Arial"/>
                <a:sym typeface="Arial"/>
              </a:rPr>
              <a:t>Long Description:</a:t>
            </a:r>
          </a:p>
          <a:p>
            <a:r>
              <a:rPr lang="en-US" sz="1200" b="0" i="0" u="none" strike="noStrike" kern="1200" cap="none" dirty="0">
                <a:solidFill>
                  <a:schemeClr val="dk1"/>
                </a:solidFill>
                <a:effectLst/>
                <a:latin typeface="Arial"/>
                <a:ea typeface="Arial"/>
                <a:cs typeface="Arial"/>
                <a:sym typeface="Arial"/>
              </a:rPr>
              <a:t>The processes are as below:</a:t>
            </a:r>
          </a:p>
          <a:p>
            <a:r>
              <a:rPr lang="en-US" sz="1200" b="0" i="0" u="none" strike="noStrike" kern="1200" cap="none" dirty="0">
                <a:solidFill>
                  <a:schemeClr val="dk1"/>
                </a:solidFill>
                <a:effectLst/>
                <a:latin typeface="Arial"/>
                <a:ea typeface="Arial"/>
                <a:cs typeface="Arial"/>
                <a:sym typeface="Arial"/>
              </a:rPr>
              <a:t>1. Phospholipid and membrane proteins are added to peroxisomes.</a:t>
            </a:r>
          </a:p>
          <a:p>
            <a:r>
              <a:rPr lang="en-US" sz="1200" b="0" i="0" u="none" strike="noStrike" kern="1200" cap="none" dirty="0">
                <a:solidFill>
                  <a:schemeClr val="dk1"/>
                </a:solidFill>
                <a:effectLst/>
                <a:latin typeface="Arial"/>
                <a:ea typeface="Arial"/>
                <a:cs typeface="Arial"/>
                <a:sym typeface="Arial"/>
              </a:rPr>
              <a:t>2. The parts labeled are cytosolic ribosomes, catalase polypeptides, peroxin on the membrane, and folded catalase subunits.</a:t>
            </a:r>
          </a:p>
          <a:p>
            <a:r>
              <a:rPr lang="en-US" sz="1200" b="0" i="0" u="none" strike="noStrike" kern="1200" cap="none" dirty="0">
                <a:solidFill>
                  <a:schemeClr val="dk1"/>
                </a:solidFill>
                <a:effectLst/>
                <a:latin typeface="Arial"/>
                <a:ea typeface="Arial"/>
                <a:cs typeface="Arial"/>
                <a:sym typeface="Arial"/>
              </a:rPr>
              <a:t>3.Heme acts as cofactors to the peroxisome.</a:t>
            </a:r>
          </a:p>
          <a:p>
            <a:r>
              <a:rPr lang="en-US" sz="1200" b="0" i="0" u="none" strike="noStrike" kern="1200" cap="none" dirty="0">
                <a:solidFill>
                  <a:schemeClr val="dk1"/>
                </a:solidFill>
                <a:effectLst/>
                <a:latin typeface="Arial"/>
                <a:ea typeface="Arial"/>
                <a:cs typeface="Arial"/>
                <a:sym typeface="Arial"/>
              </a:rPr>
              <a:t>4. New peroxisomes are formed by the division from existing peroxisomes.</a:t>
            </a:r>
          </a:p>
          <a:p>
            <a:r>
              <a:rPr lang="en-US" sz="1200" b="0" i="0" u="none" strike="noStrike" kern="1200" cap="none" dirty="0">
                <a:solidFill>
                  <a:schemeClr val="dk1"/>
                </a:solidFill>
                <a:effectLst/>
                <a:latin typeface="Arial"/>
                <a:ea typeface="Arial"/>
                <a:cs typeface="Arial"/>
                <a:sym typeface="Arial"/>
              </a:rPr>
              <a:t>5. Additionally, vesicles from the E R supply proteins to the existing peroxisomes.</a:t>
            </a:r>
            <a:endParaRPr lang="en-IN" sz="1200" b="0" i="0" u="none" strike="noStrike" kern="1200" cap="none" dirty="0">
              <a:solidFill>
                <a:schemeClr val="dk1"/>
              </a:solidFill>
              <a:effectLst/>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176</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4578342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894A57-4B02-4224-91E6-C3D5EF93429F}" type="datetimeFigureOut">
              <a:rPr lang="en-US" smtClean="0"/>
              <a:t>11/21/2023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A55F732-60D3-4CD6-BD5F-B43B93852EA7}" type="slidenum">
              <a:rPr lang="en-US" smtClean="0"/>
              <a:t>‹#›</a:t>
            </a:fld>
            <a:endParaRPr lang="en-US"/>
          </a:p>
        </p:txBody>
      </p:sp>
    </p:spTree>
    <p:extLst>
      <p:ext uri="{BB962C8B-B14F-4D97-AF65-F5344CB8AC3E}">
        <p14:creationId xmlns:p14="http://schemas.microsoft.com/office/powerpoint/2010/main" val="30776643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894A57-4B02-4224-91E6-C3D5EF93429F}" type="datetimeFigureOut">
              <a:rPr lang="en-US" smtClean="0"/>
              <a:t>11/21/2023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A55F732-60D3-4CD6-BD5F-B43B93852EA7}" type="slidenum">
              <a:rPr lang="en-US" smtClean="0"/>
              <a:t>‹#›</a:t>
            </a:fld>
            <a:endParaRPr lang="en-US"/>
          </a:p>
        </p:txBody>
      </p:sp>
    </p:spTree>
    <p:extLst>
      <p:ext uri="{BB962C8B-B14F-4D97-AF65-F5344CB8AC3E}">
        <p14:creationId xmlns:p14="http://schemas.microsoft.com/office/powerpoint/2010/main" val="17929808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894A57-4B02-4224-91E6-C3D5EF93429F}" type="datetimeFigureOut">
              <a:rPr lang="en-US" smtClean="0"/>
              <a:t>11/21/2023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A55F732-60D3-4CD6-BD5F-B43B93852EA7}" type="slidenum">
              <a:rPr lang="en-US" smtClean="0"/>
              <a:t>‹#›</a:t>
            </a:fld>
            <a:endParaRPr lang="en-US"/>
          </a:p>
        </p:txBody>
      </p:sp>
    </p:spTree>
    <p:extLst>
      <p:ext uri="{BB962C8B-B14F-4D97-AF65-F5344CB8AC3E}">
        <p14:creationId xmlns:p14="http://schemas.microsoft.com/office/powerpoint/2010/main" val="16316070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894A57-4B02-4224-91E6-C3D5EF93429F}" type="datetimeFigureOut">
              <a:rPr lang="en-US" smtClean="0"/>
              <a:t>11/21/2023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A55F732-60D3-4CD6-BD5F-B43B93852EA7}" type="slidenum">
              <a:rPr lang="en-US" smtClean="0"/>
              <a:t>‹#›</a:t>
            </a:fld>
            <a:endParaRPr lang="en-US"/>
          </a:p>
        </p:txBody>
      </p:sp>
    </p:spTree>
    <p:extLst>
      <p:ext uri="{BB962C8B-B14F-4D97-AF65-F5344CB8AC3E}">
        <p14:creationId xmlns:p14="http://schemas.microsoft.com/office/powerpoint/2010/main" val="12028222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894A57-4B02-4224-91E6-C3D5EF93429F}" type="datetimeFigureOut">
              <a:rPr lang="en-US" smtClean="0"/>
              <a:t>11/21/2023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A55F732-60D3-4CD6-BD5F-B43B93852EA7}" type="slidenum">
              <a:rPr lang="en-US" smtClean="0"/>
              <a:t>‹#›</a:t>
            </a:fld>
            <a:endParaRPr lang="en-US"/>
          </a:p>
        </p:txBody>
      </p:sp>
    </p:spTree>
    <p:extLst>
      <p:ext uri="{BB962C8B-B14F-4D97-AF65-F5344CB8AC3E}">
        <p14:creationId xmlns:p14="http://schemas.microsoft.com/office/powerpoint/2010/main" val="2021827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894A57-4B02-4224-91E6-C3D5EF93429F}" type="datetimeFigureOut">
              <a:rPr lang="en-US" smtClean="0"/>
              <a:t>11/21/2023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A55F732-60D3-4CD6-BD5F-B43B93852EA7}" type="slidenum">
              <a:rPr lang="en-US" smtClean="0"/>
              <a:t>‹#›</a:t>
            </a:fld>
            <a:endParaRPr lang="en-US"/>
          </a:p>
        </p:txBody>
      </p:sp>
    </p:spTree>
    <p:extLst>
      <p:ext uri="{BB962C8B-B14F-4D97-AF65-F5344CB8AC3E}">
        <p14:creationId xmlns:p14="http://schemas.microsoft.com/office/powerpoint/2010/main" val="12941585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894A57-4B02-4224-91E6-C3D5EF93429F}" type="datetimeFigureOut">
              <a:rPr lang="en-US" smtClean="0"/>
              <a:t>11/21/2023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A55F732-60D3-4CD6-BD5F-B43B93852EA7}" type="slidenum">
              <a:rPr lang="en-US" smtClean="0"/>
              <a:t>‹#›</a:t>
            </a:fld>
            <a:endParaRPr lang="en-US"/>
          </a:p>
        </p:txBody>
      </p:sp>
    </p:spTree>
    <p:extLst>
      <p:ext uri="{BB962C8B-B14F-4D97-AF65-F5344CB8AC3E}">
        <p14:creationId xmlns:p14="http://schemas.microsoft.com/office/powerpoint/2010/main" val="28862220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894A57-4B02-4224-91E6-C3D5EF93429F}" type="datetimeFigureOut">
              <a:rPr lang="en-US" smtClean="0"/>
              <a:t>11/21/2023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A55F732-60D3-4CD6-BD5F-B43B93852EA7}" type="slidenum">
              <a:rPr lang="en-US" smtClean="0"/>
              <a:t>‹#›</a:t>
            </a:fld>
            <a:endParaRPr lang="en-US"/>
          </a:p>
        </p:txBody>
      </p:sp>
    </p:spTree>
    <p:extLst>
      <p:ext uri="{BB962C8B-B14F-4D97-AF65-F5344CB8AC3E}">
        <p14:creationId xmlns:p14="http://schemas.microsoft.com/office/powerpoint/2010/main" val="35633800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894A57-4B02-4224-91E6-C3D5EF93429F}" type="datetimeFigureOut">
              <a:rPr lang="en-US" smtClean="0"/>
              <a:t>11/21/2023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A55F732-60D3-4CD6-BD5F-B43B93852EA7}" type="slidenum">
              <a:rPr lang="en-US" smtClean="0"/>
              <a:t>‹#›</a:t>
            </a:fld>
            <a:endParaRPr lang="en-US"/>
          </a:p>
        </p:txBody>
      </p:sp>
    </p:spTree>
    <p:extLst>
      <p:ext uri="{BB962C8B-B14F-4D97-AF65-F5344CB8AC3E}">
        <p14:creationId xmlns:p14="http://schemas.microsoft.com/office/powerpoint/2010/main" val="30235551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894A57-4B02-4224-91E6-C3D5EF93429F}" type="datetimeFigureOut">
              <a:rPr lang="en-US" smtClean="0"/>
              <a:t>11/21/2023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A55F732-60D3-4CD6-BD5F-B43B93852EA7}" type="slidenum">
              <a:rPr lang="en-US" smtClean="0"/>
              <a:t>‹#›</a:t>
            </a:fld>
            <a:endParaRPr lang="en-US"/>
          </a:p>
        </p:txBody>
      </p:sp>
    </p:spTree>
    <p:extLst>
      <p:ext uri="{BB962C8B-B14F-4D97-AF65-F5344CB8AC3E}">
        <p14:creationId xmlns:p14="http://schemas.microsoft.com/office/powerpoint/2010/main" val="19383593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894A57-4B02-4224-91E6-C3D5EF93429F}" type="datetimeFigureOut">
              <a:rPr lang="en-US" smtClean="0"/>
              <a:t>11/21/2023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A55F732-60D3-4CD6-BD5F-B43B93852EA7}" type="slidenum">
              <a:rPr lang="en-US" smtClean="0"/>
              <a:t>‹#›</a:t>
            </a:fld>
            <a:endParaRPr lang="en-US"/>
          </a:p>
        </p:txBody>
      </p:sp>
    </p:spTree>
    <p:extLst>
      <p:ext uri="{BB962C8B-B14F-4D97-AF65-F5344CB8AC3E}">
        <p14:creationId xmlns:p14="http://schemas.microsoft.com/office/powerpoint/2010/main" val="26910219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credit">
    <p:spTree>
      <p:nvGrpSpPr>
        <p:cNvPr id="1" name="Shape 37"/>
        <p:cNvGrpSpPr/>
        <p:nvPr/>
      </p:nvGrpSpPr>
      <p:grpSpPr>
        <a:xfrm>
          <a:off x="0" y="0"/>
          <a:ext cx="0" cy="0"/>
          <a:chOff x="0" y="0"/>
          <a:chExt cx="0" cy="0"/>
        </a:xfrm>
      </p:grpSpPr>
      <p:sp>
        <p:nvSpPr>
          <p:cNvPr id="38" name="Title Placeholder"/>
          <p:cNvSpPr txBox="1">
            <a:spLocks noGrp="1"/>
          </p:cNvSpPr>
          <p:nvPr>
            <p:ph type="title"/>
          </p:nvPr>
        </p:nvSpPr>
        <p:spPr>
          <a:xfrm>
            <a:off x="457200" y="215371"/>
            <a:ext cx="8229600" cy="622828"/>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9" name="Content Placeholder"/>
          <p:cNvSpPr txBox="1">
            <a:spLocks noGrp="1"/>
          </p:cNvSpPr>
          <p:nvPr>
            <p:ph type="body" idx="1"/>
          </p:nvPr>
        </p:nvSpPr>
        <p:spPr>
          <a:xfrm>
            <a:off x="457200" y="816429"/>
            <a:ext cx="8229600" cy="47897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dirty="0"/>
          </a:p>
        </p:txBody>
      </p:sp>
      <p:sp>
        <p:nvSpPr>
          <p:cNvPr id="6" name="Content Placeholder 5">
            <a:extLst>
              <a:ext uri="{FF2B5EF4-FFF2-40B4-BE49-F238E27FC236}">
                <a16:creationId xmlns:a16="http://schemas.microsoft.com/office/drawing/2014/main" xmlns="" id="{F4ED3915-2147-4382-A599-2376CC8854D1}"/>
              </a:ext>
            </a:extLst>
          </p:cNvPr>
          <p:cNvSpPr>
            <a:spLocks noGrp="1"/>
          </p:cNvSpPr>
          <p:nvPr>
            <p:ph sz="quarter" idx="14" hasCustomPrompt="1"/>
          </p:nvPr>
        </p:nvSpPr>
        <p:spPr>
          <a:xfrm>
            <a:off x="5029200" y="1600200"/>
            <a:ext cx="3657600" cy="1492250"/>
          </a:xfrm>
        </p:spPr>
        <p:txBody>
          <a:bodyPr anchor="b"/>
          <a:lstStyle>
            <a:lvl1pPr marL="101600" indent="0">
              <a:buNone/>
              <a:defRPr sz="3000"/>
            </a:lvl1pPr>
            <a:lvl2pPr marL="558800" indent="0">
              <a:buNone/>
              <a:defRPr/>
            </a:lvl2pPr>
          </a:lstStyle>
          <a:p>
            <a:pPr lvl="0"/>
            <a:r>
              <a:rPr lang="en-US" dirty="0"/>
              <a:t>Chapter #</a:t>
            </a:r>
          </a:p>
        </p:txBody>
      </p:sp>
      <p:sp>
        <p:nvSpPr>
          <p:cNvPr id="8" name="Content Placeholder 7">
            <a:extLst>
              <a:ext uri="{FF2B5EF4-FFF2-40B4-BE49-F238E27FC236}">
                <a16:creationId xmlns:a16="http://schemas.microsoft.com/office/drawing/2014/main" xmlns="" id="{3B38FD8D-0DB0-4A1A-A3F1-E26B606AC837}"/>
              </a:ext>
            </a:extLst>
          </p:cNvPr>
          <p:cNvSpPr>
            <a:spLocks noGrp="1"/>
          </p:cNvSpPr>
          <p:nvPr>
            <p:ph sz="quarter" idx="15" hasCustomPrompt="1"/>
          </p:nvPr>
        </p:nvSpPr>
        <p:spPr>
          <a:xfrm>
            <a:off x="5029200" y="3252789"/>
            <a:ext cx="3657600" cy="1088476"/>
          </a:xfrm>
        </p:spPr>
        <p:txBody>
          <a:bodyPr/>
          <a:lstStyle>
            <a:lvl1pPr marL="101600" indent="0">
              <a:buNone/>
              <a:defRPr sz="2200"/>
            </a:lvl1pPr>
          </a:lstStyle>
          <a:p>
            <a:pPr lvl="0"/>
            <a:r>
              <a:rPr lang="en-US" dirty="0"/>
              <a:t>Chapter name</a:t>
            </a:r>
          </a:p>
        </p:txBody>
      </p:sp>
      <p:sp>
        <p:nvSpPr>
          <p:cNvPr id="12" name="Shape 13">
            <a:extLst>
              <a:ext uri="{FF2B5EF4-FFF2-40B4-BE49-F238E27FC236}">
                <a16:creationId xmlns:a16="http://schemas.microsoft.com/office/drawing/2014/main" xmlns="" id="{C5328E6C-2B17-49B8-8712-6C0E107A1D99}"/>
              </a:ext>
            </a:extLst>
          </p:cNvPr>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3" name="Shape 14">
            <a:extLst>
              <a:ext uri="{FF2B5EF4-FFF2-40B4-BE49-F238E27FC236}">
                <a16:creationId xmlns:a16="http://schemas.microsoft.com/office/drawing/2014/main" xmlns="" id="{CE0B5B1C-8858-43DC-BD75-C546F4738779}"/>
              </a:ext>
            </a:extLst>
          </p:cNvPr>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
        <p:nvSpPr>
          <p:cNvPr id="9" name="Picture Placeholder 8">
            <a:extLst>
              <a:ext uri="{FF2B5EF4-FFF2-40B4-BE49-F238E27FC236}">
                <a16:creationId xmlns:a16="http://schemas.microsoft.com/office/drawing/2014/main" xmlns="" id="{51B8939D-A957-42F9-A1B5-556D29D235AB}"/>
              </a:ext>
            </a:extLst>
          </p:cNvPr>
          <p:cNvSpPr>
            <a:spLocks noGrp="1"/>
          </p:cNvSpPr>
          <p:nvPr>
            <p:ph type="pic" sz="quarter" idx="16" hasCustomPrompt="1"/>
          </p:nvPr>
        </p:nvSpPr>
        <p:spPr>
          <a:xfrm>
            <a:off x="457200" y="6400801"/>
            <a:ext cx="1001713" cy="228600"/>
          </a:xfrm>
        </p:spPr>
        <p:txBody>
          <a:bodyPr anchor="ctr"/>
          <a:lstStyle>
            <a:lvl1pPr>
              <a:buNone/>
              <a:defRPr sz="1200">
                <a:latin typeface="Verdana" panose="020B0604030504040204" pitchFamily="34" charset="0"/>
                <a:ea typeface="Verdana" panose="020B0604030504040204" pitchFamily="34" charset="0"/>
              </a:defRPr>
            </a:lvl1pPr>
          </a:lstStyle>
          <a:p>
            <a:r>
              <a:rPr lang="en-US" dirty="0"/>
              <a:t>Logo</a:t>
            </a:r>
          </a:p>
        </p:txBody>
      </p:sp>
      <p:sp>
        <p:nvSpPr>
          <p:cNvPr id="18" name="Content Placeholder 17">
            <a:extLst>
              <a:ext uri="{FF2B5EF4-FFF2-40B4-BE49-F238E27FC236}">
                <a16:creationId xmlns:a16="http://schemas.microsoft.com/office/drawing/2014/main" xmlns="" id="{0CF87F15-2C58-4DFC-BACB-0E2C6507BCDE}"/>
              </a:ext>
            </a:extLst>
          </p:cNvPr>
          <p:cNvSpPr>
            <a:spLocks noGrp="1"/>
          </p:cNvSpPr>
          <p:nvPr>
            <p:ph sz="quarter" idx="17" hasCustomPrompt="1"/>
          </p:nvPr>
        </p:nvSpPr>
        <p:spPr>
          <a:xfrm>
            <a:off x="2097088" y="6400800"/>
            <a:ext cx="6589712" cy="228600"/>
          </a:xfrm>
        </p:spPr>
        <p:txBody>
          <a:bodyPr anchor="ctr"/>
          <a:lstStyle>
            <a:lvl1pPr algn="r">
              <a:buNone/>
              <a:defRPr sz="1200">
                <a:latin typeface="Verdana" panose="020B0604030504040204" pitchFamily="34" charset="0"/>
                <a:ea typeface="Verdana" panose="020B0604030504040204" pitchFamily="34" charset="0"/>
              </a:defRPr>
            </a:lvl1pPr>
          </a:lstStyle>
          <a:p>
            <a:pPr lvl="0"/>
            <a:r>
              <a:rPr lang="en-US" dirty="0"/>
              <a:t>Copyright Information</a:t>
            </a:r>
          </a:p>
        </p:txBody>
      </p:sp>
      <p:sp>
        <p:nvSpPr>
          <p:cNvPr id="3" name="Picture Placeholder 2">
            <a:extLst>
              <a:ext uri="{FF2B5EF4-FFF2-40B4-BE49-F238E27FC236}">
                <a16:creationId xmlns:a16="http://schemas.microsoft.com/office/drawing/2014/main" xmlns="" id="{9349B39A-AC01-4073-85EF-922E8DBA6C0A}"/>
              </a:ext>
            </a:extLst>
          </p:cNvPr>
          <p:cNvSpPr>
            <a:spLocks noGrp="1"/>
          </p:cNvSpPr>
          <p:nvPr>
            <p:ph type="pic" sz="quarter" idx="18"/>
          </p:nvPr>
        </p:nvSpPr>
        <p:spPr>
          <a:xfrm>
            <a:off x="457200" y="1517650"/>
            <a:ext cx="4178300" cy="4608513"/>
          </a:xfrm>
        </p:spPr>
        <p:txBody>
          <a:bodyPr/>
          <a:lstStyle/>
          <a:p>
            <a:endParaRPr lang="en-IN" dirty="0"/>
          </a:p>
        </p:txBody>
      </p:sp>
      <p:pic>
        <p:nvPicPr>
          <p:cNvPr id="11" name="Logo" descr="Pearson Logo"/>
          <p:cNvPicPr preferRelativeResize="0"/>
          <p:nvPr userDrawn="1"/>
        </p:nvPicPr>
        <p:blipFill rotWithShape="1">
          <a:blip r:embed="rId2">
            <a:alphaModFix/>
          </a:blip>
          <a:srcRect/>
          <a:stretch/>
        </p:blipFill>
        <p:spPr>
          <a:xfrm>
            <a:off x="443972" y="6429709"/>
            <a:ext cx="917999" cy="279914"/>
          </a:xfrm>
          <a:prstGeom prst="rect">
            <a:avLst/>
          </a:prstGeom>
          <a:noFill/>
          <a:ln>
            <a:noFill/>
          </a:ln>
        </p:spPr>
      </p:pic>
      <p:sp>
        <p:nvSpPr>
          <p:cNvPr id="4" name="Content Placeholder 3">
            <a:extLst>
              <a:ext uri="{FF2B5EF4-FFF2-40B4-BE49-F238E27FC236}">
                <a16:creationId xmlns:a16="http://schemas.microsoft.com/office/drawing/2014/main" xmlns="" id="{9DBB0BF2-5162-4B6F-B06E-C4298E10EA5D}"/>
              </a:ext>
            </a:extLst>
          </p:cNvPr>
          <p:cNvSpPr>
            <a:spLocks noGrp="1"/>
          </p:cNvSpPr>
          <p:nvPr>
            <p:ph sz="quarter" idx="19"/>
          </p:nvPr>
        </p:nvSpPr>
        <p:spPr>
          <a:xfrm>
            <a:off x="5145088" y="5110163"/>
            <a:ext cx="3541712" cy="6746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17806520"/>
      </p:ext>
    </p:extLst>
  </p:cSld>
  <p:clrMapOvr>
    <a:masterClrMapping/>
  </p:clrMapOvr>
  <p:extLst>
    <p:ext uri="{DCECCB84-F9BA-43D5-87BE-67443E8EF086}">
      <p15:sldGuideLst xmlns:p15="http://schemas.microsoft.com/office/powerpoint/2012/main" xmlns=""/>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5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A9DF6EFB-3F44-496C-A842-1E0B3D3B975A}" type="datetimeFigureOut">
              <a:rPr lang="en-US" smtClean="0"/>
              <a:t>11/21/2023</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5" name="Picture Placeholder 4"/>
          <p:cNvSpPr>
            <a:spLocks noGrp="1"/>
          </p:cNvSpPr>
          <p:nvPr>
            <p:ph type="pic" sz="quarter" idx="14"/>
          </p:nvPr>
        </p:nvSpPr>
        <p:spPr>
          <a:xfrm>
            <a:off x="457200" y="5181600"/>
            <a:ext cx="8229600" cy="1066800"/>
          </a:xfrm>
        </p:spPr>
        <p:txBody>
          <a:bodyPr/>
          <a:lstStyle/>
          <a:p>
            <a:endParaRPr lang="en-IN" dirty="0"/>
          </a:p>
        </p:txBody>
      </p:sp>
    </p:spTree>
    <p:extLst>
      <p:ext uri="{BB962C8B-B14F-4D97-AF65-F5344CB8AC3E}">
        <p14:creationId xmlns:p14="http://schemas.microsoft.com/office/powerpoint/2010/main" val="134257843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_Title and Three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16" name="Content Placeholder 7">
            <a:extLst>
              <a:ext uri="{FF2B5EF4-FFF2-40B4-BE49-F238E27FC236}">
                <a16:creationId xmlns:a16="http://schemas.microsoft.com/office/drawing/2014/main" xmlns="" id="{75D3A394-A5AF-478E-AC3D-2714CFF806D2}"/>
              </a:ext>
            </a:extLst>
          </p:cNvPr>
          <p:cNvSpPr>
            <a:spLocks noGrp="1"/>
          </p:cNvSpPr>
          <p:nvPr>
            <p:ph sz="quarter" idx="14" hasCustomPrompt="1"/>
          </p:nvPr>
        </p:nvSpPr>
        <p:spPr>
          <a:xfrm>
            <a:off x="457201" y="1552575"/>
            <a:ext cx="2595603" cy="4438650"/>
          </a:xfrm>
        </p:spPr>
        <p:txBody>
          <a:bodyPr/>
          <a:lstStyle/>
          <a:p>
            <a:pPr lvl="0"/>
            <a:r>
              <a:rPr lang="en-US" dirty="0"/>
              <a:t>Click to add text</a:t>
            </a:r>
          </a:p>
        </p:txBody>
      </p:sp>
      <p:sp>
        <p:nvSpPr>
          <p:cNvPr id="8" name="Content Placeholder 7">
            <a:extLst>
              <a:ext uri="{FF2B5EF4-FFF2-40B4-BE49-F238E27FC236}">
                <a16:creationId xmlns:a16="http://schemas.microsoft.com/office/drawing/2014/main" xmlns="" id="{82CB7AFE-9851-46A0-B2FB-0A5EE6AEFCA6}"/>
              </a:ext>
            </a:extLst>
          </p:cNvPr>
          <p:cNvSpPr>
            <a:spLocks noGrp="1"/>
          </p:cNvSpPr>
          <p:nvPr>
            <p:ph sz="quarter" idx="13" hasCustomPrompt="1"/>
          </p:nvPr>
        </p:nvSpPr>
        <p:spPr>
          <a:xfrm>
            <a:off x="3274199" y="1552575"/>
            <a:ext cx="2595602" cy="4438650"/>
          </a:xfrm>
        </p:spPr>
        <p:txBody>
          <a:bodyPr/>
          <a:lstStyle>
            <a:lvl1pPr>
              <a:defRPr/>
            </a:lvl1pPr>
          </a:lstStyle>
          <a:p>
            <a:pPr lvl="0"/>
            <a:r>
              <a:rPr lang="en-US" dirty="0"/>
              <a:t>Click to add text</a:t>
            </a:r>
          </a:p>
        </p:txBody>
      </p:sp>
      <p:sp>
        <p:nvSpPr>
          <p:cNvPr id="17" name="Content Placeholder 7">
            <a:extLst>
              <a:ext uri="{FF2B5EF4-FFF2-40B4-BE49-F238E27FC236}">
                <a16:creationId xmlns:a16="http://schemas.microsoft.com/office/drawing/2014/main" xmlns="" id="{5D721EFE-2C28-4C54-8BB9-3FCF3DECD16D}"/>
              </a:ext>
            </a:extLst>
          </p:cNvPr>
          <p:cNvSpPr>
            <a:spLocks noGrp="1"/>
          </p:cNvSpPr>
          <p:nvPr>
            <p:ph sz="quarter" idx="15" hasCustomPrompt="1"/>
          </p:nvPr>
        </p:nvSpPr>
        <p:spPr>
          <a:xfrm>
            <a:off x="6091197" y="1552575"/>
            <a:ext cx="2595603" cy="4438650"/>
          </a:xfrm>
        </p:spPr>
        <p:txBody>
          <a:bodyPr/>
          <a:lstStyle/>
          <a:p>
            <a:pPr lvl="0"/>
            <a:r>
              <a:rPr lang="en-US" dirty="0"/>
              <a:t>Click to add text</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3" name="Picture Placeholder 2"/>
          <p:cNvSpPr>
            <a:spLocks noGrp="1"/>
          </p:cNvSpPr>
          <p:nvPr>
            <p:ph type="pic" sz="quarter" idx="16"/>
          </p:nvPr>
        </p:nvSpPr>
        <p:spPr>
          <a:xfrm>
            <a:off x="1092200" y="2870200"/>
            <a:ext cx="6197600" cy="2108200"/>
          </a:xfrm>
        </p:spPr>
        <p:txBody>
          <a:bodyPr/>
          <a:lstStyle/>
          <a:p>
            <a:endParaRPr lang="en-IN" dirty="0"/>
          </a:p>
        </p:txBody>
      </p:sp>
    </p:spTree>
    <p:extLst>
      <p:ext uri="{BB962C8B-B14F-4D97-AF65-F5344CB8AC3E}">
        <p14:creationId xmlns:p14="http://schemas.microsoft.com/office/powerpoint/2010/main" val="281643229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Title and Three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16" name="Content Placeholder 7">
            <a:extLst>
              <a:ext uri="{FF2B5EF4-FFF2-40B4-BE49-F238E27FC236}">
                <a16:creationId xmlns:a16="http://schemas.microsoft.com/office/drawing/2014/main" xmlns="" id="{75D3A394-A5AF-478E-AC3D-2714CFF806D2}"/>
              </a:ext>
            </a:extLst>
          </p:cNvPr>
          <p:cNvSpPr>
            <a:spLocks noGrp="1"/>
          </p:cNvSpPr>
          <p:nvPr>
            <p:ph sz="quarter" idx="14" hasCustomPrompt="1"/>
          </p:nvPr>
        </p:nvSpPr>
        <p:spPr>
          <a:xfrm>
            <a:off x="457201" y="1552575"/>
            <a:ext cx="2595603" cy="4438650"/>
          </a:xfrm>
        </p:spPr>
        <p:txBody>
          <a:bodyPr/>
          <a:lstStyle/>
          <a:p>
            <a:pPr lvl="0"/>
            <a:r>
              <a:rPr lang="en-US" dirty="0"/>
              <a:t>Click to add text</a:t>
            </a:r>
          </a:p>
        </p:txBody>
      </p:sp>
      <p:sp>
        <p:nvSpPr>
          <p:cNvPr id="8" name="Content Placeholder 7">
            <a:extLst>
              <a:ext uri="{FF2B5EF4-FFF2-40B4-BE49-F238E27FC236}">
                <a16:creationId xmlns:a16="http://schemas.microsoft.com/office/drawing/2014/main" xmlns="" id="{82CB7AFE-9851-46A0-B2FB-0A5EE6AEFCA6}"/>
              </a:ext>
            </a:extLst>
          </p:cNvPr>
          <p:cNvSpPr>
            <a:spLocks noGrp="1"/>
          </p:cNvSpPr>
          <p:nvPr>
            <p:ph sz="quarter" idx="13" hasCustomPrompt="1"/>
          </p:nvPr>
        </p:nvSpPr>
        <p:spPr>
          <a:xfrm>
            <a:off x="3274199" y="1552575"/>
            <a:ext cx="2595602" cy="4438650"/>
          </a:xfrm>
        </p:spPr>
        <p:txBody>
          <a:bodyPr/>
          <a:lstStyle>
            <a:lvl1pPr>
              <a:defRPr/>
            </a:lvl1pPr>
          </a:lstStyle>
          <a:p>
            <a:pPr lvl="0"/>
            <a:r>
              <a:rPr lang="en-US" dirty="0"/>
              <a:t>Click to add text</a:t>
            </a:r>
          </a:p>
        </p:txBody>
      </p:sp>
      <p:sp>
        <p:nvSpPr>
          <p:cNvPr id="17" name="Content Placeholder 7">
            <a:extLst>
              <a:ext uri="{FF2B5EF4-FFF2-40B4-BE49-F238E27FC236}">
                <a16:creationId xmlns:a16="http://schemas.microsoft.com/office/drawing/2014/main" xmlns="" id="{5D721EFE-2C28-4C54-8BB9-3FCF3DECD16D}"/>
              </a:ext>
            </a:extLst>
          </p:cNvPr>
          <p:cNvSpPr>
            <a:spLocks noGrp="1"/>
          </p:cNvSpPr>
          <p:nvPr>
            <p:ph sz="quarter" idx="15" hasCustomPrompt="1"/>
          </p:nvPr>
        </p:nvSpPr>
        <p:spPr>
          <a:xfrm>
            <a:off x="6091197" y="1552575"/>
            <a:ext cx="2595603" cy="4438650"/>
          </a:xfrm>
        </p:spPr>
        <p:txBody>
          <a:bodyPr/>
          <a:lstStyle/>
          <a:p>
            <a:pPr lvl="0"/>
            <a:r>
              <a:rPr lang="en-US" dirty="0"/>
              <a:t>Click to add text</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427473907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Title and Four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xmlns="" id="{82CB7AFE-9851-46A0-B2FB-0A5EE6AEFCA6}"/>
              </a:ext>
            </a:extLst>
          </p:cNvPr>
          <p:cNvSpPr>
            <a:spLocks noGrp="1"/>
          </p:cNvSpPr>
          <p:nvPr>
            <p:ph sz="quarter" idx="13" hasCustomPrompt="1"/>
          </p:nvPr>
        </p:nvSpPr>
        <p:spPr>
          <a:xfrm>
            <a:off x="457200" y="1552575"/>
            <a:ext cx="1885950" cy="4438650"/>
          </a:xfrm>
        </p:spPr>
        <p:txBody>
          <a:bodyPr/>
          <a:lstStyle>
            <a:lvl1pPr>
              <a:defRPr/>
            </a:lvl1pPr>
          </a:lstStyle>
          <a:p>
            <a:pPr lvl="0"/>
            <a:r>
              <a:rPr lang="en-US" dirty="0"/>
              <a:t>Click to add text</a:t>
            </a:r>
          </a:p>
        </p:txBody>
      </p:sp>
      <p:sp>
        <p:nvSpPr>
          <p:cNvPr id="16" name="Content Placeholder 7">
            <a:extLst>
              <a:ext uri="{FF2B5EF4-FFF2-40B4-BE49-F238E27FC236}">
                <a16:creationId xmlns:a16="http://schemas.microsoft.com/office/drawing/2014/main" xmlns="" id="{75D3A394-A5AF-478E-AC3D-2714CFF806D2}"/>
              </a:ext>
            </a:extLst>
          </p:cNvPr>
          <p:cNvSpPr>
            <a:spLocks noGrp="1"/>
          </p:cNvSpPr>
          <p:nvPr>
            <p:ph sz="quarter" idx="14" hasCustomPrompt="1"/>
          </p:nvPr>
        </p:nvSpPr>
        <p:spPr>
          <a:xfrm>
            <a:off x="2572593" y="1552575"/>
            <a:ext cx="1885950" cy="4438650"/>
          </a:xfrm>
        </p:spPr>
        <p:txBody>
          <a:bodyPr/>
          <a:lstStyle/>
          <a:p>
            <a:pPr lvl="0"/>
            <a:r>
              <a:rPr lang="en-US" dirty="0"/>
              <a:t>Click to add text</a:t>
            </a:r>
          </a:p>
        </p:txBody>
      </p:sp>
      <p:sp>
        <p:nvSpPr>
          <p:cNvPr id="17" name="Content Placeholder 7">
            <a:extLst>
              <a:ext uri="{FF2B5EF4-FFF2-40B4-BE49-F238E27FC236}">
                <a16:creationId xmlns:a16="http://schemas.microsoft.com/office/drawing/2014/main" xmlns="" id="{5D721EFE-2C28-4C54-8BB9-3FCF3DECD16D}"/>
              </a:ext>
            </a:extLst>
          </p:cNvPr>
          <p:cNvSpPr>
            <a:spLocks noGrp="1"/>
          </p:cNvSpPr>
          <p:nvPr>
            <p:ph sz="quarter" idx="15" hasCustomPrompt="1"/>
          </p:nvPr>
        </p:nvSpPr>
        <p:spPr>
          <a:xfrm>
            <a:off x="4687986" y="1552575"/>
            <a:ext cx="1885950" cy="4438650"/>
          </a:xfrm>
        </p:spPr>
        <p:txBody>
          <a:bodyPr/>
          <a:lstStyle/>
          <a:p>
            <a:pPr lvl="0"/>
            <a:r>
              <a:rPr lang="en-US" dirty="0"/>
              <a:t>Click to add text</a:t>
            </a:r>
          </a:p>
        </p:txBody>
      </p:sp>
      <p:sp>
        <p:nvSpPr>
          <p:cNvPr id="18" name="Content Placeholder 7">
            <a:extLst>
              <a:ext uri="{FF2B5EF4-FFF2-40B4-BE49-F238E27FC236}">
                <a16:creationId xmlns:a16="http://schemas.microsoft.com/office/drawing/2014/main" xmlns="" id="{99D20A0E-9225-48FB-91AF-C7D8DE4D66F4}"/>
              </a:ext>
            </a:extLst>
          </p:cNvPr>
          <p:cNvSpPr>
            <a:spLocks noGrp="1"/>
          </p:cNvSpPr>
          <p:nvPr>
            <p:ph sz="quarter" idx="16" hasCustomPrompt="1"/>
          </p:nvPr>
        </p:nvSpPr>
        <p:spPr>
          <a:xfrm>
            <a:off x="6803378" y="1552575"/>
            <a:ext cx="1885950" cy="4438650"/>
          </a:xfrm>
        </p:spPr>
        <p:txBody>
          <a:bodyPr/>
          <a:lstStyle/>
          <a:p>
            <a:pPr marL="256032" marR="0" lvl="0" indent="-154432" algn="l" defTabSz="914400" rtl="0" eaLnBrk="1" fontAlgn="auto" latinLnBrk="0" hangingPunct="1">
              <a:lnSpc>
                <a:spcPct val="100000"/>
              </a:lnSpc>
              <a:spcBef>
                <a:spcPts val="1500"/>
              </a:spcBef>
              <a:spcAft>
                <a:spcPts val="0"/>
              </a:spcAft>
              <a:buClr>
                <a:srgbClr val="007FA3"/>
              </a:buClr>
              <a:buSzPct val="100000"/>
              <a:buFont typeface="Arial"/>
              <a:buChar char="•"/>
              <a:tabLst/>
              <a:defRPr/>
            </a:pPr>
            <a:r>
              <a:rPr lang="en-US" dirty="0"/>
              <a:t>Click to add text</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5950829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894A57-4B02-4224-91E6-C3D5EF93429F}" type="datetimeFigureOut">
              <a:rPr lang="en-US" smtClean="0"/>
              <a:t>11/21/2023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A55F732-60D3-4CD6-BD5F-B43B93852EA7}" type="slidenum">
              <a:rPr lang="en-US" smtClean="0"/>
              <a:t>‹#›</a:t>
            </a:fld>
            <a:endParaRPr lang="en-US"/>
          </a:p>
        </p:txBody>
      </p:sp>
    </p:spTree>
    <p:extLst>
      <p:ext uri="{BB962C8B-B14F-4D97-AF65-F5344CB8AC3E}">
        <p14:creationId xmlns:p14="http://schemas.microsoft.com/office/powerpoint/2010/main" val="3756950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6.xml"/><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0.xml"/><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24.xml"/><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7.xml"/><Relationship Id="rId1" Type="http://schemas.openxmlformats.org/officeDocument/2006/relationships/slideLayout" Target="../slideLayouts/slideLayout1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34.xml"/><Relationship Id="rId1" Type="http://schemas.openxmlformats.org/officeDocument/2006/relationships/slideLayout" Target="../slideLayouts/slideLayout1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4.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4.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49.xml"/><Relationship Id="rId1" Type="http://schemas.openxmlformats.org/officeDocument/2006/relationships/slideLayout" Target="../slideLayouts/slideLayout14.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51.xml"/><Relationship Id="rId1" Type="http://schemas.openxmlformats.org/officeDocument/2006/relationships/slideLayout" Target="../slideLayouts/slideLayout14.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3.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3.xml"/></Relationships>
</file>

<file path=ppt/slides/_rels/slide60.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60.xml"/><Relationship Id="rId1" Type="http://schemas.openxmlformats.org/officeDocument/2006/relationships/slideLayout" Target="../slideLayouts/slideLayout14.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3.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3.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3.xml"/></Relationships>
</file>

<file path=ppt/slides/_rels/slide64.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64.xml"/><Relationship Id="rId1" Type="http://schemas.openxmlformats.org/officeDocument/2006/relationships/slideLayout" Target="../slideLayouts/slideLayout14.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3.xml"/></Relationships>
</file>

<file path=ppt/slides/_rels/slide66.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66.xml"/><Relationship Id="rId1" Type="http://schemas.openxmlformats.org/officeDocument/2006/relationships/slideLayout" Target="../slideLayouts/slideLayout14.xml"/></Relationships>
</file>

<file path=ppt/slides/_rels/slide67.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67.xml"/><Relationship Id="rId1" Type="http://schemas.openxmlformats.org/officeDocument/2006/relationships/slideLayout" Target="../slideLayouts/slideLayout14.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3.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3.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3.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3.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3.xml"/></Relationships>
</file>

<file path=ppt/slides/_rels/slide73.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73.xml"/><Relationship Id="rId1" Type="http://schemas.openxmlformats.org/officeDocument/2006/relationships/slideLayout" Target="../slideLayouts/slideLayout14.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13.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13.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13.xml"/></Relationships>
</file>

<file path=ppt/slides/_rels/slide77.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77.xml"/><Relationship Id="rId1" Type="http://schemas.openxmlformats.org/officeDocument/2006/relationships/slideLayout" Target="../slideLayouts/slideLayout14.xml"/></Relationships>
</file>

<file path=ppt/slides/_rels/slide78.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78.xml"/><Relationship Id="rId1" Type="http://schemas.openxmlformats.org/officeDocument/2006/relationships/slideLayout" Target="../slideLayouts/slideLayout14.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13.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13.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13.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13.xml"/></Relationships>
</file>

<file path=ppt/slides/_rels/slide83.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83.xml"/><Relationship Id="rId1" Type="http://schemas.openxmlformats.org/officeDocument/2006/relationships/slideLayout" Target="../slideLayouts/slideLayout14.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13.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13.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13.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13.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13.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13.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13.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13.xml"/></Relationships>
</file>

<file path=ppt/slides/_rels/slide92.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92.xml"/><Relationship Id="rId1" Type="http://schemas.openxmlformats.org/officeDocument/2006/relationships/slideLayout" Target="../slideLayouts/slideLayout14.xml"/></Relationships>
</file>

<file path=ppt/slides/_rels/slide93.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93.xml"/><Relationship Id="rId1" Type="http://schemas.openxmlformats.org/officeDocument/2006/relationships/slideLayout" Target="../slideLayouts/slideLayout14.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13.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15.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15.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13.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15.xml"/></Relationships>
</file>

<file path=ppt/slides/_rels/slide99.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99.xml"/><Relationship Id="rId1" Type="http://schemas.openxmlformats.org/officeDocument/2006/relationships/slideLayout" Target="../slideLayouts/slideLayout14.xml"/></Relationships>
</file>

<file path=ppt/slides/_rels/slide100.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100.xml"/><Relationship Id="rId1" Type="http://schemas.openxmlformats.org/officeDocument/2006/relationships/slideLayout" Target="../slideLayouts/slideLayout14.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13.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13.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13.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13.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13.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13.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13.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13.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13.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13.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13.xml"/></Relationships>
</file>

<file path=ppt/slides/_rels/slide112.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112.xml"/><Relationship Id="rId1" Type="http://schemas.openxmlformats.org/officeDocument/2006/relationships/slideLayout" Target="../slideLayouts/slideLayout14.xml"/></Relationships>
</file>

<file path=ppt/slides/_rels/slide113.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notesSlide" Target="../notesSlides/notesSlide113.xml"/><Relationship Id="rId1" Type="http://schemas.openxmlformats.org/officeDocument/2006/relationships/slideLayout" Target="../slideLayouts/slideLayout14.xml"/></Relationships>
</file>

<file path=ppt/slides/_rels/slide114.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notesSlide" Target="../notesSlides/notesSlide114.xml"/><Relationship Id="rId1" Type="http://schemas.openxmlformats.org/officeDocument/2006/relationships/slideLayout" Target="../slideLayouts/slideLayout14.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13.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116.xml"/><Relationship Id="rId1" Type="http://schemas.openxmlformats.org/officeDocument/2006/relationships/slideLayout" Target="../slideLayouts/slideLayout13.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117.xml"/><Relationship Id="rId1" Type="http://schemas.openxmlformats.org/officeDocument/2006/relationships/slideLayout" Target="../slideLayouts/slideLayout13.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118.xml"/><Relationship Id="rId1" Type="http://schemas.openxmlformats.org/officeDocument/2006/relationships/slideLayout" Target="../slideLayouts/slideLayout13.xml"/></Relationships>
</file>

<file path=ppt/slides/_rels/slide119.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notesSlide" Target="../notesSlides/notesSlide119.xml"/><Relationship Id="rId1" Type="http://schemas.openxmlformats.org/officeDocument/2006/relationships/slideLayout" Target="../slideLayouts/slideLayout14.xml"/></Relationships>
</file>

<file path=ppt/slides/_rels/slide120.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notesSlide" Target="../notesSlides/notesSlide120.xml"/><Relationship Id="rId1" Type="http://schemas.openxmlformats.org/officeDocument/2006/relationships/slideLayout" Target="../slideLayouts/slideLayout14.xml"/></Relationships>
</file>

<file path=ppt/slides/_rels/slide121.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notesSlide" Target="../notesSlides/notesSlide121.xml"/><Relationship Id="rId1" Type="http://schemas.openxmlformats.org/officeDocument/2006/relationships/slideLayout" Target="../slideLayouts/slideLayout14.xml"/></Relationships>
</file>

<file path=ppt/slides/_rels/slide122.xml.rels><?xml version="1.0" encoding="UTF-8" standalone="yes"?>
<Relationships xmlns="http://schemas.openxmlformats.org/package/2006/relationships"><Relationship Id="rId3" Type="http://schemas.openxmlformats.org/officeDocument/2006/relationships/image" Target="../media/image29.jpg"/><Relationship Id="rId2" Type="http://schemas.openxmlformats.org/officeDocument/2006/relationships/notesSlide" Target="../notesSlides/notesSlide122.xml"/><Relationship Id="rId1" Type="http://schemas.openxmlformats.org/officeDocument/2006/relationships/slideLayout" Target="../slideLayouts/slideLayout14.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123.xml"/><Relationship Id="rId1" Type="http://schemas.openxmlformats.org/officeDocument/2006/relationships/slideLayout" Target="../slideLayouts/slideLayout13.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124.xml"/><Relationship Id="rId1" Type="http://schemas.openxmlformats.org/officeDocument/2006/relationships/slideLayout" Target="../slideLayouts/slideLayout13.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125.xml"/><Relationship Id="rId1" Type="http://schemas.openxmlformats.org/officeDocument/2006/relationships/slideLayout" Target="../slideLayouts/slideLayout13.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126.xml"/><Relationship Id="rId1" Type="http://schemas.openxmlformats.org/officeDocument/2006/relationships/slideLayout" Target="../slideLayouts/slideLayout13.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127.xml"/><Relationship Id="rId1" Type="http://schemas.openxmlformats.org/officeDocument/2006/relationships/slideLayout" Target="../slideLayouts/slideLayout13.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128.xml"/><Relationship Id="rId1" Type="http://schemas.openxmlformats.org/officeDocument/2006/relationships/slideLayout" Target="../slideLayouts/slideLayout13.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129.xml"/><Relationship Id="rId1" Type="http://schemas.openxmlformats.org/officeDocument/2006/relationships/slideLayout" Target="../slideLayouts/slideLayout13.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130.xml"/><Relationship Id="rId1" Type="http://schemas.openxmlformats.org/officeDocument/2006/relationships/slideLayout" Target="../slideLayouts/slideLayout13.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131.xml"/><Relationship Id="rId1" Type="http://schemas.openxmlformats.org/officeDocument/2006/relationships/slideLayout" Target="../slideLayouts/slideLayout13.xml"/></Relationships>
</file>

<file path=ppt/slides/_rels/slide132.xml.rels><?xml version="1.0" encoding="UTF-8" standalone="yes"?>
<Relationships xmlns="http://schemas.openxmlformats.org/package/2006/relationships"><Relationship Id="rId3" Type="http://schemas.openxmlformats.org/officeDocument/2006/relationships/image" Target="../media/image30.jpg"/><Relationship Id="rId2" Type="http://schemas.openxmlformats.org/officeDocument/2006/relationships/notesSlide" Target="../notesSlides/notesSlide132.xml"/><Relationship Id="rId1" Type="http://schemas.openxmlformats.org/officeDocument/2006/relationships/slideLayout" Target="../slideLayouts/slideLayout14.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133.xml"/><Relationship Id="rId1" Type="http://schemas.openxmlformats.org/officeDocument/2006/relationships/slideLayout" Target="../slideLayouts/slideLayout13.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134.xml"/><Relationship Id="rId1" Type="http://schemas.openxmlformats.org/officeDocument/2006/relationships/slideLayout" Target="../slideLayouts/slideLayout13.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135.xml"/><Relationship Id="rId1" Type="http://schemas.openxmlformats.org/officeDocument/2006/relationships/slideLayout" Target="../slideLayouts/slideLayout13.xml"/></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136.xml"/><Relationship Id="rId1" Type="http://schemas.openxmlformats.org/officeDocument/2006/relationships/slideLayout" Target="../slideLayouts/slideLayout13.xml"/></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137.xml"/><Relationship Id="rId1" Type="http://schemas.openxmlformats.org/officeDocument/2006/relationships/slideLayout" Target="../slideLayouts/slideLayout13.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138.xml"/><Relationship Id="rId1" Type="http://schemas.openxmlformats.org/officeDocument/2006/relationships/slideLayout" Target="../slideLayouts/slideLayout13.xml"/></Relationships>
</file>

<file path=ppt/slides/_rels/slide139.xml.rels><?xml version="1.0" encoding="UTF-8" standalone="yes"?>
<Relationships xmlns="http://schemas.openxmlformats.org/package/2006/relationships"><Relationship Id="rId2" Type="http://schemas.openxmlformats.org/officeDocument/2006/relationships/notesSlide" Target="../notesSlides/notesSlide139.xml"/><Relationship Id="rId1" Type="http://schemas.openxmlformats.org/officeDocument/2006/relationships/slideLayout" Target="../slideLayouts/slideLayout13.xml"/></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140.xml"/><Relationship Id="rId1" Type="http://schemas.openxmlformats.org/officeDocument/2006/relationships/slideLayout" Target="../slideLayouts/slideLayout13.xml"/></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141.xml"/><Relationship Id="rId1" Type="http://schemas.openxmlformats.org/officeDocument/2006/relationships/slideLayout" Target="../slideLayouts/slideLayout13.xml"/></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142.xml"/><Relationship Id="rId1" Type="http://schemas.openxmlformats.org/officeDocument/2006/relationships/slideLayout" Target="../slideLayouts/slideLayout13.xml"/></Relationships>
</file>

<file path=ppt/slides/_rels/slide143.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notesSlide" Target="../notesSlides/notesSlide143.xml"/><Relationship Id="rId1" Type="http://schemas.openxmlformats.org/officeDocument/2006/relationships/slideLayout" Target="../slideLayouts/slideLayout14.xml"/></Relationships>
</file>

<file path=ppt/slides/_rels/slide144.xml.rels><?xml version="1.0" encoding="UTF-8" standalone="yes"?>
<Relationships xmlns="http://schemas.openxmlformats.org/package/2006/relationships"><Relationship Id="rId2" Type="http://schemas.openxmlformats.org/officeDocument/2006/relationships/notesSlide" Target="../notesSlides/notesSlide144.xml"/><Relationship Id="rId1" Type="http://schemas.openxmlformats.org/officeDocument/2006/relationships/slideLayout" Target="../slideLayouts/slideLayout13.xml"/></Relationships>
</file>

<file path=ppt/slides/_rels/slide145.xml.rels><?xml version="1.0" encoding="UTF-8" standalone="yes"?>
<Relationships xmlns="http://schemas.openxmlformats.org/package/2006/relationships"><Relationship Id="rId2" Type="http://schemas.openxmlformats.org/officeDocument/2006/relationships/notesSlide" Target="../notesSlides/notesSlide145.xml"/><Relationship Id="rId1" Type="http://schemas.openxmlformats.org/officeDocument/2006/relationships/slideLayout" Target="../slideLayouts/slideLayout13.xml"/></Relationships>
</file>

<file path=ppt/slides/_rels/slide146.xml.rels><?xml version="1.0" encoding="UTF-8" standalone="yes"?>
<Relationships xmlns="http://schemas.openxmlformats.org/package/2006/relationships"><Relationship Id="rId2" Type="http://schemas.openxmlformats.org/officeDocument/2006/relationships/notesSlide" Target="../notesSlides/notesSlide146.xml"/><Relationship Id="rId1" Type="http://schemas.openxmlformats.org/officeDocument/2006/relationships/slideLayout" Target="../slideLayouts/slideLayout13.xml"/></Relationships>
</file>

<file path=ppt/slides/_rels/slide147.xml.rels><?xml version="1.0" encoding="UTF-8" standalone="yes"?>
<Relationships xmlns="http://schemas.openxmlformats.org/package/2006/relationships"><Relationship Id="rId2" Type="http://schemas.openxmlformats.org/officeDocument/2006/relationships/notesSlide" Target="../notesSlides/notesSlide147.xml"/><Relationship Id="rId1" Type="http://schemas.openxmlformats.org/officeDocument/2006/relationships/slideLayout" Target="../slideLayouts/slideLayout13.xml"/></Relationships>
</file>

<file path=ppt/slides/_rels/slide148.xml.rels><?xml version="1.0" encoding="UTF-8" standalone="yes"?>
<Relationships xmlns="http://schemas.openxmlformats.org/package/2006/relationships"><Relationship Id="rId3" Type="http://schemas.openxmlformats.org/officeDocument/2006/relationships/image" Target="../media/image32.jpg"/><Relationship Id="rId2" Type="http://schemas.openxmlformats.org/officeDocument/2006/relationships/notesSlide" Target="../notesSlides/notesSlide148.xml"/><Relationship Id="rId1" Type="http://schemas.openxmlformats.org/officeDocument/2006/relationships/slideLayout" Target="../slideLayouts/slideLayout14.xml"/></Relationships>
</file>

<file path=ppt/slides/_rels/slide149.xml.rels><?xml version="1.0" encoding="UTF-8" standalone="yes"?>
<Relationships xmlns="http://schemas.openxmlformats.org/package/2006/relationships"><Relationship Id="rId2" Type="http://schemas.openxmlformats.org/officeDocument/2006/relationships/notesSlide" Target="../notesSlides/notesSlide149.xml"/><Relationship Id="rId1" Type="http://schemas.openxmlformats.org/officeDocument/2006/relationships/slideLayout" Target="../slideLayouts/slideLayout13.xml"/></Relationships>
</file>

<file path=ppt/slides/_rels/slide150.xml.rels><?xml version="1.0" encoding="UTF-8" standalone="yes"?>
<Relationships xmlns="http://schemas.openxmlformats.org/package/2006/relationships"><Relationship Id="rId2" Type="http://schemas.openxmlformats.org/officeDocument/2006/relationships/notesSlide" Target="../notesSlides/notesSlide150.xml"/><Relationship Id="rId1" Type="http://schemas.openxmlformats.org/officeDocument/2006/relationships/slideLayout" Target="../slideLayouts/slideLayout13.xml"/></Relationships>
</file>

<file path=ppt/slides/_rels/slide151.xml.rels><?xml version="1.0" encoding="UTF-8" standalone="yes"?>
<Relationships xmlns="http://schemas.openxmlformats.org/package/2006/relationships"><Relationship Id="rId2" Type="http://schemas.openxmlformats.org/officeDocument/2006/relationships/notesSlide" Target="../notesSlides/notesSlide151.xml"/><Relationship Id="rId1" Type="http://schemas.openxmlformats.org/officeDocument/2006/relationships/slideLayout" Target="../slideLayouts/slideLayout13.xml"/></Relationships>
</file>

<file path=ppt/slides/_rels/slide152.xml.rels><?xml version="1.0" encoding="UTF-8" standalone="yes"?>
<Relationships xmlns="http://schemas.openxmlformats.org/package/2006/relationships"><Relationship Id="rId2" Type="http://schemas.openxmlformats.org/officeDocument/2006/relationships/notesSlide" Target="../notesSlides/notesSlide152.xml"/><Relationship Id="rId1" Type="http://schemas.openxmlformats.org/officeDocument/2006/relationships/slideLayout" Target="../slideLayouts/slideLayout13.xml"/></Relationships>
</file>

<file path=ppt/slides/_rels/slide153.xml.rels><?xml version="1.0" encoding="UTF-8" standalone="yes"?>
<Relationships xmlns="http://schemas.openxmlformats.org/package/2006/relationships"><Relationship Id="rId2" Type="http://schemas.openxmlformats.org/officeDocument/2006/relationships/notesSlide" Target="../notesSlides/notesSlide153.xml"/><Relationship Id="rId1" Type="http://schemas.openxmlformats.org/officeDocument/2006/relationships/slideLayout" Target="../slideLayouts/slideLayout13.xml"/></Relationships>
</file>

<file path=ppt/slides/_rels/slide154.xml.rels><?xml version="1.0" encoding="UTF-8" standalone="yes"?>
<Relationships xmlns="http://schemas.openxmlformats.org/package/2006/relationships"><Relationship Id="rId2" Type="http://schemas.openxmlformats.org/officeDocument/2006/relationships/notesSlide" Target="../notesSlides/notesSlide154.xml"/><Relationship Id="rId1" Type="http://schemas.openxmlformats.org/officeDocument/2006/relationships/slideLayout" Target="../slideLayouts/slideLayout13.xml"/></Relationships>
</file>

<file path=ppt/slides/_rels/slide155.xml.rels><?xml version="1.0" encoding="UTF-8" standalone="yes"?>
<Relationships xmlns="http://schemas.openxmlformats.org/package/2006/relationships"><Relationship Id="rId2" Type="http://schemas.openxmlformats.org/officeDocument/2006/relationships/notesSlide" Target="../notesSlides/notesSlide155.xml"/><Relationship Id="rId1" Type="http://schemas.openxmlformats.org/officeDocument/2006/relationships/slideLayout" Target="../slideLayouts/slideLayout13.xml"/></Relationships>
</file>

<file path=ppt/slides/_rels/slide156.xml.rels><?xml version="1.0" encoding="UTF-8" standalone="yes"?>
<Relationships xmlns="http://schemas.openxmlformats.org/package/2006/relationships"><Relationship Id="rId2" Type="http://schemas.openxmlformats.org/officeDocument/2006/relationships/notesSlide" Target="../notesSlides/notesSlide156.xml"/><Relationship Id="rId1" Type="http://schemas.openxmlformats.org/officeDocument/2006/relationships/slideLayout" Target="../slideLayouts/slideLayout13.xml"/></Relationships>
</file>

<file path=ppt/slides/_rels/slide157.xml.rels><?xml version="1.0" encoding="UTF-8" standalone="yes"?>
<Relationships xmlns="http://schemas.openxmlformats.org/package/2006/relationships"><Relationship Id="rId2" Type="http://schemas.openxmlformats.org/officeDocument/2006/relationships/notesSlide" Target="../notesSlides/notesSlide157.xml"/><Relationship Id="rId1" Type="http://schemas.openxmlformats.org/officeDocument/2006/relationships/slideLayout" Target="../slideLayouts/slideLayout13.xml"/></Relationships>
</file>

<file path=ppt/slides/_rels/slide158.xml.rels><?xml version="1.0" encoding="UTF-8" standalone="yes"?>
<Relationships xmlns="http://schemas.openxmlformats.org/package/2006/relationships"><Relationship Id="rId2" Type="http://schemas.openxmlformats.org/officeDocument/2006/relationships/notesSlide" Target="../notesSlides/notesSlide158.xml"/><Relationship Id="rId1" Type="http://schemas.openxmlformats.org/officeDocument/2006/relationships/slideLayout" Target="../slideLayouts/slideLayout13.xml"/></Relationships>
</file>

<file path=ppt/slides/_rels/slide159.xml.rels><?xml version="1.0" encoding="UTF-8" standalone="yes"?>
<Relationships xmlns="http://schemas.openxmlformats.org/package/2006/relationships"><Relationship Id="rId3" Type="http://schemas.openxmlformats.org/officeDocument/2006/relationships/image" Target="../media/image33.jpg"/><Relationship Id="rId2" Type="http://schemas.openxmlformats.org/officeDocument/2006/relationships/notesSlide" Target="../notesSlides/notesSlide159.xml"/><Relationship Id="rId1" Type="http://schemas.openxmlformats.org/officeDocument/2006/relationships/slideLayout" Target="../slideLayouts/slideLayout14.xml"/></Relationships>
</file>

<file path=ppt/slides/_rels/slide160.xml.rels><?xml version="1.0" encoding="UTF-8" standalone="yes"?>
<Relationships xmlns="http://schemas.openxmlformats.org/package/2006/relationships"><Relationship Id="rId2" Type="http://schemas.openxmlformats.org/officeDocument/2006/relationships/notesSlide" Target="../notesSlides/notesSlide160.xml"/><Relationship Id="rId1" Type="http://schemas.openxmlformats.org/officeDocument/2006/relationships/slideLayout" Target="../slideLayouts/slideLayout13.xml"/></Relationships>
</file>

<file path=ppt/slides/_rels/slide161.xml.rels><?xml version="1.0" encoding="UTF-8" standalone="yes"?>
<Relationships xmlns="http://schemas.openxmlformats.org/package/2006/relationships"><Relationship Id="rId2" Type="http://schemas.openxmlformats.org/officeDocument/2006/relationships/notesSlide" Target="../notesSlides/notesSlide161.xml"/><Relationship Id="rId1" Type="http://schemas.openxmlformats.org/officeDocument/2006/relationships/slideLayout" Target="../slideLayouts/slideLayout13.xml"/></Relationships>
</file>

<file path=ppt/slides/_rels/slide162.xml.rels><?xml version="1.0" encoding="UTF-8" standalone="yes"?>
<Relationships xmlns="http://schemas.openxmlformats.org/package/2006/relationships"><Relationship Id="rId3" Type="http://schemas.openxmlformats.org/officeDocument/2006/relationships/notesSlide" Target="../notesSlides/notesSlide162.xml"/><Relationship Id="rId7" Type="http://schemas.openxmlformats.org/officeDocument/2006/relationships/image" Target="../media/image35.wmf"/><Relationship Id="rId2" Type="http://schemas.openxmlformats.org/officeDocument/2006/relationships/slideLayout" Target="../slideLayouts/slideLayout16.xml"/><Relationship Id="rId1" Type="http://schemas.openxmlformats.org/officeDocument/2006/relationships/vmlDrawing" Target="../drawings/vmlDrawing1.vml"/><Relationship Id="rId6" Type="http://schemas.openxmlformats.org/officeDocument/2006/relationships/oleObject" Target="../embeddings/oleObject2.bin"/><Relationship Id="rId5" Type="http://schemas.openxmlformats.org/officeDocument/2006/relationships/image" Target="../media/image34.wmf"/><Relationship Id="rId4" Type="http://schemas.openxmlformats.org/officeDocument/2006/relationships/oleObject" Target="../embeddings/oleObject1.bin"/></Relationships>
</file>

<file path=ppt/slides/_rels/slide163.xml.rels><?xml version="1.0" encoding="UTF-8" standalone="yes"?>
<Relationships xmlns="http://schemas.openxmlformats.org/package/2006/relationships"><Relationship Id="rId3" Type="http://schemas.openxmlformats.org/officeDocument/2006/relationships/notesSlide" Target="../notesSlides/notesSlide163.xml"/><Relationship Id="rId2" Type="http://schemas.openxmlformats.org/officeDocument/2006/relationships/slideLayout" Target="../slideLayouts/slideLayout16.xml"/><Relationship Id="rId1" Type="http://schemas.openxmlformats.org/officeDocument/2006/relationships/vmlDrawing" Target="../drawings/vmlDrawing2.vml"/><Relationship Id="rId5" Type="http://schemas.openxmlformats.org/officeDocument/2006/relationships/image" Target="../media/image36.wmf"/><Relationship Id="rId4" Type="http://schemas.openxmlformats.org/officeDocument/2006/relationships/oleObject" Target="../embeddings/oleObject3.bin"/></Relationships>
</file>

<file path=ppt/slides/_rels/slide164.xml.rels><?xml version="1.0" encoding="UTF-8" standalone="yes"?>
<Relationships xmlns="http://schemas.openxmlformats.org/package/2006/relationships"><Relationship Id="rId2" Type="http://schemas.openxmlformats.org/officeDocument/2006/relationships/notesSlide" Target="../notesSlides/notesSlide164.xml"/><Relationship Id="rId1" Type="http://schemas.openxmlformats.org/officeDocument/2006/relationships/slideLayout" Target="../slideLayouts/slideLayout13.xml"/></Relationships>
</file>

<file path=ppt/slides/_rels/slide165.xml.rels><?xml version="1.0" encoding="UTF-8" standalone="yes"?>
<Relationships xmlns="http://schemas.openxmlformats.org/package/2006/relationships"><Relationship Id="rId2" Type="http://schemas.openxmlformats.org/officeDocument/2006/relationships/notesSlide" Target="../notesSlides/notesSlide165.xml"/><Relationship Id="rId1" Type="http://schemas.openxmlformats.org/officeDocument/2006/relationships/slideLayout" Target="../slideLayouts/slideLayout13.xml"/></Relationships>
</file>

<file path=ppt/slides/_rels/slide166.xml.rels><?xml version="1.0" encoding="UTF-8" standalone="yes"?>
<Relationships xmlns="http://schemas.openxmlformats.org/package/2006/relationships"><Relationship Id="rId3" Type="http://schemas.openxmlformats.org/officeDocument/2006/relationships/notesSlide" Target="../notesSlides/notesSlide166.xml"/><Relationship Id="rId2" Type="http://schemas.openxmlformats.org/officeDocument/2006/relationships/slideLayout" Target="../slideLayouts/slideLayout16.xml"/><Relationship Id="rId1" Type="http://schemas.openxmlformats.org/officeDocument/2006/relationships/vmlDrawing" Target="../drawings/vmlDrawing3.vml"/><Relationship Id="rId5" Type="http://schemas.openxmlformats.org/officeDocument/2006/relationships/image" Target="../media/image37.wmf"/><Relationship Id="rId4" Type="http://schemas.openxmlformats.org/officeDocument/2006/relationships/oleObject" Target="../embeddings/oleObject4.bin"/></Relationships>
</file>

<file path=ppt/slides/_rels/slide167.xml.rels><?xml version="1.0" encoding="UTF-8" standalone="yes"?>
<Relationships xmlns="http://schemas.openxmlformats.org/package/2006/relationships"><Relationship Id="rId3" Type="http://schemas.openxmlformats.org/officeDocument/2006/relationships/image" Target="../media/image38.jpg"/><Relationship Id="rId2" Type="http://schemas.openxmlformats.org/officeDocument/2006/relationships/notesSlide" Target="../notesSlides/notesSlide167.xml"/><Relationship Id="rId1" Type="http://schemas.openxmlformats.org/officeDocument/2006/relationships/slideLayout" Target="../slideLayouts/slideLayout14.xml"/></Relationships>
</file>

<file path=ppt/slides/_rels/slide168.xml.rels><?xml version="1.0" encoding="UTF-8" standalone="yes"?>
<Relationships xmlns="http://schemas.openxmlformats.org/package/2006/relationships"><Relationship Id="rId2" Type="http://schemas.openxmlformats.org/officeDocument/2006/relationships/notesSlide" Target="../notesSlides/notesSlide168.xml"/><Relationship Id="rId1" Type="http://schemas.openxmlformats.org/officeDocument/2006/relationships/slideLayout" Target="../slideLayouts/slideLayout13.xml"/></Relationships>
</file>

<file path=ppt/slides/_rels/slide169.xml.rels><?xml version="1.0" encoding="UTF-8" standalone="yes"?>
<Relationships xmlns="http://schemas.openxmlformats.org/package/2006/relationships"><Relationship Id="rId2" Type="http://schemas.openxmlformats.org/officeDocument/2006/relationships/notesSlide" Target="../notesSlides/notesSlide169.xml"/><Relationship Id="rId1" Type="http://schemas.openxmlformats.org/officeDocument/2006/relationships/slideLayout" Target="../slideLayouts/slideLayout13.xml"/></Relationships>
</file>

<file path=ppt/slides/_rels/slide170.xml.rels><?xml version="1.0" encoding="UTF-8" standalone="yes"?>
<Relationships xmlns="http://schemas.openxmlformats.org/package/2006/relationships"><Relationship Id="rId2" Type="http://schemas.openxmlformats.org/officeDocument/2006/relationships/notesSlide" Target="../notesSlides/notesSlide170.xml"/><Relationship Id="rId1" Type="http://schemas.openxmlformats.org/officeDocument/2006/relationships/slideLayout" Target="../slideLayouts/slideLayout13.xml"/></Relationships>
</file>

<file path=ppt/slides/_rels/slide171.xml.rels><?xml version="1.0" encoding="UTF-8" standalone="yes"?>
<Relationships xmlns="http://schemas.openxmlformats.org/package/2006/relationships"><Relationship Id="rId2" Type="http://schemas.openxmlformats.org/officeDocument/2006/relationships/notesSlide" Target="../notesSlides/notesSlide171.xml"/><Relationship Id="rId1" Type="http://schemas.openxmlformats.org/officeDocument/2006/relationships/slideLayout" Target="../slideLayouts/slideLayout13.xml"/></Relationships>
</file>

<file path=ppt/slides/_rels/slide172.xml.rels><?xml version="1.0" encoding="UTF-8" standalone="yes"?>
<Relationships xmlns="http://schemas.openxmlformats.org/package/2006/relationships"><Relationship Id="rId2" Type="http://schemas.openxmlformats.org/officeDocument/2006/relationships/notesSlide" Target="../notesSlides/notesSlide172.xml"/><Relationship Id="rId1" Type="http://schemas.openxmlformats.org/officeDocument/2006/relationships/slideLayout" Target="../slideLayouts/slideLayout13.xml"/></Relationships>
</file>

<file path=ppt/slides/_rels/slide173.xml.rels><?xml version="1.0" encoding="UTF-8" standalone="yes"?>
<Relationships xmlns="http://schemas.openxmlformats.org/package/2006/relationships"><Relationship Id="rId2" Type="http://schemas.openxmlformats.org/officeDocument/2006/relationships/notesSlide" Target="../notesSlides/notesSlide173.xml"/><Relationship Id="rId1" Type="http://schemas.openxmlformats.org/officeDocument/2006/relationships/slideLayout" Target="../slideLayouts/slideLayout13.xml"/></Relationships>
</file>

<file path=ppt/slides/_rels/slide174.xml.rels><?xml version="1.0" encoding="UTF-8" standalone="yes"?>
<Relationships xmlns="http://schemas.openxmlformats.org/package/2006/relationships"><Relationship Id="rId2" Type="http://schemas.openxmlformats.org/officeDocument/2006/relationships/notesSlide" Target="../notesSlides/notesSlide174.xml"/><Relationship Id="rId1" Type="http://schemas.openxmlformats.org/officeDocument/2006/relationships/slideLayout" Target="../slideLayouts/slideLayout13.xml"/></Relationships>
</file>

<file path=ppt/slides/_rels/slide175.xml.rels><?xml version="1.0" encoding="UTF-8" standalone="yes"?>
<Relationships xmlns="http://schemas.openxmlformats.org/package/2006/relationships"><Relationship Id="rId2" Type="http://schemas.openxmlformats.org/officeDocument/2006/relationships/notesSlide" Target="../notesSlides/notesSlide175.xml"/><Relationship Id="rId1" Type="http://schemas.openxmlformats.org/officeDocument/2006/relationships/slideLayout" Target="../slideLayouts/slideLayout13.xml"/></Relationships>
</file>

<file path=ppt/slides/_rels/slide176.xml.rels><?xml version="1.0" encoding="UTF-8" standalone="yes"?>
<Relationships xmlns="http://schemas.openxmlformats.org/package/2006/relationships"><Relationship Id="rId3" Type="http://schemas.openxmlformats.org/officeDocument/2006/relationships/image" Target="../media/image39.jpg"/><Relationship Id="rId2" Type="http://schemas.openxmlformats.org/officeDocument/2006/relationships/notesSlide" Target="../notesSlides/notesSlide176.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7E98728-A241-43F4-95FF-6C49FEEA0911}"/>
              </a:ext>
            </a:extLst>
          </p:cNvPr>
          <p:cNvSpPr>
            <a:spLocks noGrp="1"/>
          </p:cNvSpPr>
          <p:nvPr>
            <p:ph type="title"/>
          </p:nvPr>
        </p:nvSpPr>
        <p:spPr>
          <a:xfrm>
            <a:off x="446314" y="150055"/>
            <a:ext cx="8229600" cy="622828"/>
          </a:xfrm>
        </p:spPr>
        <p:txBody>
          <a:bodyPr lIns="0" tIns="0" rIns="0" bIns="0" anchor="ctr"/>
          <a:lstStyle/>
          <a:p>
            <a:r>
              <a:rPr lang="en-US" dirty="0"/>
              <a:t>Becker’s World of the Cell</a:t>
            </a:r>
          </a:p>
        </p:txBody>
      </p:sp>
      <p:sp>
        <p:nvSpPr>
          <p:cNvPr id="3" name="Content Placeholder 2">
            <a:extLst>
              <a:ext uri="{FF2B5EF4-FFF2-40B4-BE49-F238E27FC236}">
                <a16:creationId xmlns:a16="http://schemas.microsoft.com/office/drawing/2014/main" xmlns="" id="{ABE18F80-D4FC-4D8F-B2BD-E7BEE7E012B5}"/>
              </a:ext>
            </a:extLst>
          </p:cNvPr>
          <p:cNvSpPr>
            <a:spLocks noGrp="1"/>
          </p:cNvSpPr>
          <p:nvPr>
            <p:ph type="body" idx="1"/>
          </p:nvPr>
        </p:nvSpPr>
        <p:spPr>
          <a:xfrm>
            <a:off x="446314" y="886872"/>
            <a:ext cx="8229600" cy="359857"/>
          </a:xfrm>
        </p:spPr>
        <p:txBody>
          <a:bodyPr lIns="0" tIns="0" rIns="0" bIns="0" anchor="ctr"/>
          <a:lstStyle/>
          <a:p>
            <a:r>
              <a:rPr lang="en-US" dirty="0">
                <a:solidFill>
                  <a:schemeClr val="tx2"/>
                </a:solidFill>
              </a:rPr>
              <a:t>Tenth Edition, Global Edition</a:t>
            </a:r>
          </a:p>
        </p:txBody>
      </p:sp>
      <p:sp>
        <p:nvSpPr>
          <p:cNvPr id="5" name="Content Placeholder 4">
            <a:extLst>
              <a:ext uri="{FF2B5EF4-FFF2-40B4-BE49-F238E27FC236}">
                <a16:creationId xmlns:a16="http://schemas.microsoft.com/office/drawing/2014/main" xmlns="" id="{2D222376-7AD7-4443-B67A-120BE12F4DDB}"/>
              </a:ext>
            </a:extLst>
          </p:cNvPr>
          <p:cNvSpPr>
            <a:spLocks noGrp="1"/>
          </p:cNvSpPr>
          <p:nvPr>
            <p:ph sz="quarter" idx="14"/>
          </p:nvPr>
        </p:nvSpPr>
        <p:spPr>
          <a:xfrm>
            <a:off x="4751388" y="2704810"/>
            <a:ext cx="3891870" cy="632859"/>
          </a:xfrm>
        </p:spPr>
        <p:txBody>
          <a:bodyPr lIns="0" tIns="0" rIns="0" bIns="0" anchor="ctr"/>
          <a:lstStyle/>
          <a:p>
            <a:pPr marL="0"/>
            <a:r>
              <a:rPr lang="en-US" dirty="0"/>
              <a:t>Chapter 12</a:t>
            </a:r>
          </a:p>
        </p:txBody>
      </p:sp>
      <p:sp>
        <p:nvSpPr>
          <p:cNvPr id="6" name="Content Placeholder 5">
            <a:extLst>
              <a:ext uri="{FF2B5EF4-FFF2-40B4-BE49-F238E27FC236}">
                <a16:creationId xmlns:a16="http://schemas.microsoft.com/office/drawing/2014/main" xmlns="" id="{82FD4EC9-4778-4E2F-B136-2A176CA2BA69}"/>
              </a:ext>
            </a:extLst>
          </p:cNvPr>
          <p:cNvSpPr>
            <a:spLocks noGrp="1"/>
          </p:cNvSpPr>
          <p:nvPr>
            <p:ph sz="quarter" idx="15"/>
          </p:nvPr>
        </p:nvSpPr>
        <p:spPr>
          <a:xfrm>
            <a:off x="4751388" y="3418277"/>
            <a:ext cx="3891868" cy="830530"/>
          </a:xfrm>
        </p:spPr>
        <p:txBody>
          <a:bodyPr lIns="0" tIns="0" rIns="0" bIns="0" anchor="ctr"/>
          <a:lstStyle/>
          <a:p>
            <a:pPr marL="0"/>
            <a:r>
              <a:rPr lang="en-US" dirty="0"/>
              <a:t>The Endomembrane System and Protein Sorting</a:t>
            </a:r>
          </a:p>
        </p:txBody>
      </p:sp>
      <p:sp>
        <p:nvSpPr>
          <p:cNvPr id="9" name="Content Placeholder 8">
            <a:extLst>
              <a:ext uri="{FF2B5EF4-FFF2-40B4-BE49-F238E27FC236}">
                <a16:creationId xmlns:a16="http://schemas.microsoft.com/office/drawing/2014/main" xmlns="" id="{7D27DE78-5C56-452E-9384-36BEE8BECDFE}"/>
              </a:ext>
            </a:extLst>
          </p:cNvPr>
          <p:cNvSpPr>
            <a:spLocks noGrp="1"/>
          </p:cNvSpPr>
          <p:nvPr>
            <p:ph sz="quarter" idx="19"/>
          </p:nvPr>
        </p:nvSpPr>
        <p:spPr>
          <a:xfrm>
            <a:off x="4882019" y="5549712"/>
            <a:ext cx="3935412" cy="557593"/>
          </a:xfrm>
        </p:spPr>
        <p:txBody>
          <a:bodyPr anchor="ctr"/>
          <a:lstStyle/>
          <a:p>
            <a:pPr marL="0" indent="0">
              <a:buNone/>
            </a:pPr>
            <a:r>
              <a:rPr lang="en-US" sz="1400" dirty="0">
                <a:latin typeface="+mn-lt"/>
              </a:rPr>
              <a:t>Lectures by Anna </a:t>
            </a:r>
            <a:r>
              <a:rPr lang="en-US" sz="1400" dirty="0" err="1">
                <a:latin typeface="+mn-lt"/>
              </a:rPr>
              <a:t>Hegsted</a:t>
            </a:r>
            <a:r>
              <a:rPr lang="en-US" sz="1400" dirty="0">
                <a:latin typeface="+mn-lt"/>
              </a:rPr>
              <a:t>, Simon Fraser University</a:t>
            </a:r>
            <a:endParaRPr lang="en-IN" sz="1400" dirty="0">
              <a:latin typeface="+mn-lt"/>
            </a:endParaRPr>
          </a:p>
        </p:txBody>
      </p:sp>
      <p:sp>
        <p:nvSpPr>
          <p:cNvPr id="8" name="Content Placeholder 7">
            <a:extLst>
              <a:ext uri="{FF2B5EF4-FFF2-40B4-BE49-F238E27FC236}">
                <a16:creationId xmlns:a16="http://schemas.microsoft.com/office/drawing/2014/main" xmlns="" id="{C8E88D28-1A9F-4FC4-946F-10B4629D1438}"/>
              </a:ext>
            </a:extLst>
          </p:cNvPr>
          <p:cNvSpPr>
            <a:spLocks noGrp="1"/>
          </p:cNvSpPr>
          <p:nvPr>
            <p:ph sz="quarter" idx="17"/>
          </p:nvPr>
        </p:nvSpPr>
        <p:spPr/>
        <p:txBody>
          <a:bodyPr>
            <a:normAutofit fontScale="92500" lnSpcReduction="20000"/>
          </a:bodyPr>
          <a:lstStyle/>
          <a:p>
            <a:r>
              <a:rPr lang="en-US" altLang="en-US" sz="1200" b="0" dirty="0">
                <a:latin typeface="Verdana"/>
                <a:ea typeface="Verdana" panose="020B0604030504040204" pitchFamily="34" charset="0"/>
                <a:cs typeface="Verdana" panose="020B0604030504040204" pitchFamily="34" charset="0"/>
              </a:rPr>
              <a:t>Copyright © 2022 Pearson Education Ltd. All Rights Reserved.</a:t>
            </a:r>
          </a:p>
        </p:txBody>
      </p:sp>
      <p:pic>
        <p:nvPicPr>
          <p:cNvPr id="11" name="Picture 10" descr="Front Cover: Becker's World of the Cell, Tenth Edition, Global Edition, by Jeff Hardin, James P Lodolce">
            <a:extLst>
              <a:ext uri="{FF2B5EF4-FFF2-40B4-BE49-F238E27FC236}">
                <a16:creationId xmlns:a16="http://schemas.microsoft.com/office/drawing/2014/main" xmlns="" id="{D18162F4-721A-41EB-BBBA-A0361B91311A}"/>
              </a:ext>
            </a:extLst>
          </p:cNvPr>
          <p:cNvPicPr>
            <a:picLocks noChangeAspect="1"/>
          </p:cNvPicPr>
          <p:nvPr/>
        </p:nvPicPr>
        <p:blipFill>
          <a:blip r:embed="rId3"/>
          <a:stretch>
            <a:fillRect/>
          </a:stretch>
        </p:blipFill>
        <p:spPr>
          <a:xfrm>
            <a:off x="500742" y="1368649"/>
            <a:ext cx="3926181" cy="4873827"/>
          </a:xfrm>
          <a:prstGeom prst="rect">
            <a:avLst/>
          </a:prstGeom>
        </p:spPr>
      </p:pic>
    </p:spTree>
    <p:extLst>
      <p:ext uri="{BB962C8B-B14F-4D97-AF65-F5344CB8AC3E}">
        <p14:creationId xmlns:p14="http://schemas.microsoft.com/office/powerpoint/2010/main" val="17778316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69394"/>
            <a:ext cx="8302240" cy="553998"/>
          </a:xfrm>
        </p:spPr>
        <p:txBody>
          <a:bodyPr lIns="0" tIns="0" rIns="0" bIns="0" anchor="ctr">
            <a:spAutoFit/>
          </a:bodyPr>
          <a:lstStyle/>
          <a:p>
            <a:r>
              <a:rPr lang="en-US" sz="3600" dirty="0">
                <a:latin typeface="+mj-lt"/>
              </a:rPr>
              <a:t>Steps of Glycosylation </a:t>
            </a:r>
            <a:r>
              <a:rPr lang="en-US" sz="2800" dirty="0">
                <a:latin typeface="+mj-lt"/>
              </a:rPr>
              <a:t>(1 of 2)</a:t>
            </a: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063575"/>
            <a:ext cx="8302240" cy="2970044"/>
          </a:xfrm>
        </p:spPr>
        <p:txBody>
          <a:bodyPr lIns="0" tIns="0" rIns="0" bIns="0">
            <a:spAutoFit/>
          </a:bodyPr>
          <a:lstStyle/>
          <a:p>
            <a:pPr marL="457200" indent="-457200">
              <a:buFont typeface="+mj-lt"/>
              <a:buAutoNum type="arabicPeriod"/>
            </a:pPr>
            <a:r>
              <a:rPr lang="en-US" sz="2400" dirty="0"/>
              <a:t>Glycosylation begins as </a:t>
            </a:r>
            <a:r>
              <a:rPr lang="en-US" sz="2400" i="1" dirty="0"/>
              <a:t>dolichol phosphate</a:t>
            </a:r>
            <a:r>
              <a:rPr lang="en-US" sz="2400" dirty="0"/>
              <a:t>, an oligosaccharide carrier, is inserted into the </a:t>
            </a:r>
            <a:r>
              <a:rPr lang="en-US" sz="2400" spc="-300" dirty="0"/>
              <a:t>E </a:t>
            </a:r>
            <a:r>
              <a:rPr lang="en-US" sz="2400" dirty="0"/>
              <a:t>R membrane.</a:t>
            </a:r>
          </a:p>
          <a:p>
            <a:pPr marL="457200" indent="-457200">
              <a:buFont typeface="+mj-lt"/>
              <a:buAutoNum type="arabicPeriod"/>
            </a:pPr>
            <a:r>
              <a:rPr lang="en-US" sz="2400" dirty="0"/>
              <a:t>GlcNAc and mannose groups are then added to the phosphate group.</a:t>
            </a:r>
          </a:p>
          <a:p>
            <a:pPr marL="457200" indent="-457200">
              <a:buFont typeface="+mj-lt"/>
              <a:buAutoNum type="arabicPeriod"/>
            </a:pPr>
            <a:r>
              <a:rPr lang="en-US" sz="2400" dirty="0"/>
              <a:t>The growing core oligosaccharide is translocated to the </a:t>
            </a:r>
            <a:r>
              <a:rPr lang="en-US" sz="2400" dirty="0">
                <a:solidFill>
                  <a:schemeClr val="tx1"/>
                </a:solidFill>
              </a:rPr>
              <a:t>ER</a:t>
            </a:r>
            <a:r>
              <a:rPr lang="en-US" sz="2400" dirty="0"/>
              <a:t> lumen by a </a:t>
            </a:r>
            <a:r>
              <a:rPr lang="en-US" sz="2400" i="1" dirty="0"/>
              <a:t>flippase</a:t>
            </a:r>
            <a:r>
              <a:rPr lang="en-US" sz="2400" dirty="0"/>
              <a:t>.</a:t>
            </a:r>
          </a:p>
        </p:txBody>
      </p:sp>
    </p:spTree>
    <p:extLst>
      <p:ext uri="{BB962C8B-B14F-4D97-AF65-F5344CB8AC3E}">
        <p14:creationId xmlns:p14="http://schemas.microsoft.com/office/powerpoint/2010/main" val="27159498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69394"/>
            <a:ext cx="8302240" cy="553998"/>
          </a:xfrm>
        </p:spPr>
        <p:txBody>
          <a:bodyPr lIns="0" tIns="0" rIns="0" bIns="0" anchor="ctr">
            <a:spAutoFit/>
          </a:bodyPr>
          <a:lstStyle/>
          <a:p>
            <a:r>
              <a:rPr lang="en-US" sz="3600" dirty="0">
                <a:latin typeface="+mj-lt"/>
              </a:rPr>
              <a:t>Steps of Glycosylation </a:t>
            </a:r>
            <a:r>
              <a:rPr lang="en-US" sz="2800" dirty="0">
                <a:latin typeface="+mj-lt"/>
              </a:rPr>
              <a:t>(2 of 2)</a:t>
            </a: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063575"/>
            <a:ext cx="8302240" cy="2600712"/>
          </a:xfrm>
        </p:spPr>
        <p:txBody>
          <a:bodyPr lIns="0" tIns="0" rIns="0" bIns="0">
            <a:spAutoFit/>
          </a:bodyPr>
          <a:lstStyle/>
          <a:p>
            <a:pPr marL="457200" indent="-457200">
              <a:buFont typeface="+mj-lt"/>
              <a:buAutoNum type="arabicPeriod" startAt="4"/>
            </a:pPr>
            <a:r>
              <a:rPr lang="en-US" sz="2400" dirty="0"/>
              <a:t>Once inside the lumen, more mannose and glucose are added. </a:t>
            </a:r>
          </a:p>
          <a:p>
            <a:pPr marL="457200" indent="-457200">
              <a:buFont typeface="+mj-lt"/>
              <a:buAutoNum type="arabicPeriod" startAt="4"/>
            </a:pPr>
            <a:r>
              <a:rPr lang="en-US" sz="2400" dirty="0"/>
              <a:t>The completed core oligosaccharide is transferred from dolichol to the asparagine residue of the recipient protein. </a:t>
            </a:r>
          </a:p>
          <a:p>
            <a:pPr marL="457200" indent="-457200">
              <a:buFont typeface="+mj-lt"/>
              <a:buAutoNum type="arabicPeriod" startAt="4"/>
            </a:pPr>
            <a:r>
              <a:rPr lang="en-US" sz="2400" dirty="0"/>
              <a:t>The core oligosaccharide attached to the protein is trimmed and modified. </a:t>
            </a:r>
          </a:p>
        </p:txBody>
      </p:sp>
    </p:spTree>
    <p:extLst>
      <p:ext uri="{BB962C8B-B14F-4D97-AF65-F5344CB8AC3E}">
        <p14:creationId xmlns:p14="http://schemas.microsoft.com/office/powerpoint/2010/main" val="19024281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30565" y="174869"/>
            <a:ext cx="8269054" cy="1107996"/>
          </a:xfrm>
        </p:spPr>
        <p:txBody>
          <a:bodyPr lIns="0" tIns="0" rIns="0" bIns="0" anchor="ctr">
            <a:spAutoFit/>
          </a:bodyPr>
          <a:lstStyle/>
          <a:p>
            <a:r>
              <a:rPr lang="en-US" dirty="0"/>
              <a:t>N-Linked Glycosylation of Proteins in the </a:t>
            </a:r>
            <a:r>
              <a:rPr lang="en-US" spc="-500" dirty="0"/>
              <a:t>E </a:t>
            </a:r>
            <a:r>
              <a:rPr lang="en-US" dirty="0"/>
              <a:t>R</a:t>
            </a:r>
          </a:p>
        </p:txBody>
      </p:sp>
      <p:sp>
        <p:nvSpPr>
          <p:cNvPr id="6" name="Content Placeholder 5"/>
          <p:cNvSpPr>
            <a:spLocks noGrp="1"/>
          </p:cNvSpPr>
          <p:nvPr>
            <p:ph sz="quarter" idx="15"/>
          </p:nvPr>
        </p:nvSpPr>
        <p:spPr>
          <a:xfrm>
            <a:off x="421689" y="1561890"/>
            <a:ext cx="4023311" cy="1107996"/>
          </a:xfrm>
        </p:spPr>
        <p:txBody>
          <a:bodyPr wrap="square" lIns="0" tIns="0" rIns="0" bIns="0">
            <a:spAutoFit/>
          </a:bodyPr>
          <a:lstStyle/>
          <a:p>
            <a:pPr marL="0" indent="0">
              <a:buNone/>
            </a:pPr>
            <a:r>
              <a:rPr lang="en-US" sz="2400" b="1" dirty="0"/>
              <a:t>Figure 12.6 </a:t>
            </a:r>
            <a:r>
              <a:rPr lang="en-US" sz="2400" dirty="0"/>
              <a:t>N-Linked Glycosylation of Proteins in the </a:t>
            </a:r>
            <a:r>
              <a:rPr lang="en-US" sz="2400" spc="-300" dirty="0"/>
              <a:t>E </a:t>
            </a:r>
            <a:r>
              <a:rPr lang="en-US" sz="2400" dirty="0"/>
              <a:t>R.</a:t>
            </a:r>
          </a:p>
        </p:txBody>
      </p:sp>
      <p:pic>
        <p:nvPicPr>
          <p:cNvPr id="8" name="Picture Placeholder 7" descr="An illustration on N hyphen linked glycosylation of proteins in the E R in five steps. Dolichol phosphate in the E R membrane acts as a carrier. Processes take place in the cytosol on one side and E R lumen on the other side of the E R membrane.&#10;Long description is available in notes, press F6"/>
          <p:cNvPicPr>
            <a:picLocks noGrp="1" noChangeAspect="1"/>
          </p:cNvPicPr>
          <p:nvPr>
            <p:ph type="pic" sz="quarter" idx="16"/>
          </p:nvPr>
        </p:nvPicPr>
        <p:blipFill rotWithShape="1">
          <a:blip r:embed="rId3">
            <a:extLst>
              <a:ext uri="{28A0092B-C50C-407E-A947-70E740481C1C}">
                <a14:useLocalDpi xmlns:a14="http://schemas.microsoft.com/office/drawing/2010/main" val="0"/>
              </a:ext>
            </a:extLst>
          </a:blip>
          <a:srcRect b="2920"/>
          <a:stretch/>
        </p:blipFill>
        <p:spPr>
          <a:xfrm>
            <a:off x="4914900" y="1562411"/>
            <a:ext cx="3772635" cy="4844232"/>
          </a:xfrm>
        </p:spPr>
      </p:pic>
    </p:spTree>
    <p:extLst>
      <p:ext uri="{BB962C8B-B14F-4D97-AF65-F5344CB8AC3E}">
        <p14:creationId xmlns:p14="http://schemas.microsoft.com/office/powerpoint/2010/main" val="24406249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69394"/>
            <a:ext cx="8302240" cy="553998"/>
          </a:xfrm>
        </p:spPr>
        <p:txBody>
          <a:bodyPr lIns="0" tIns="0" rIns="0" bIns="0" anchor="ctr">
            <a:spAutoFit/>
          </a:bodyPr>
          <a:lstStyle/>
          <a:p>
            <a:r>
              <a:rPr lang="en-US" sz="3600" dirty="0">
                <a:latin typeface="+mj-lt"/>
              </a:rPr>
              <a:t>Cotranslational Glycosylation</a:t>
            </a:r>
            <a:endParaRPr lang="en-US" sz="2800" dirty="0">
              <a:latin typeface="+mj-lt"/>
            </a:endParaRP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063575"/>
            <a:ext cx="8302240" cy="1862048"/>
          </a:xfrm>
        </p:spPr>
        <p:txBody>
          <a:bodyPr lIns="0" tIns="0" rIns="0" bIns="0">
            <a:spAutoFit/>
          </a:bodyPr>
          <a:lstStyle/>
          <a:p>
            <a:pPr marL="342900" indent="-342900"/>
            <a:r>
              <a:rPr lang="en-US" sz="2400" dirty="0"/>
              <a:t>Usually the oligosaccharide is added to the recipient protein as the polypeptide is being synthesized</a:t>
            </a:r>
            <a:r>
              <a:rPr lang="en-US" sz="2400" dirty="0">
                <a:solidFill>
                  <a:schemeClr val="tx1"/>
                </a:solidFill>
              </a:rPr>
              <a:t>.</a:t>
            </a:r>
          </a:p>
          <a:p>
            <a:pPr marL="342900" indent="-342900"/>
            <a:r>
              <a:rPr lang="en-US" sz="2400" dirty="0"/>
              <a:t>This is called </a:t>
            </a:r>
            <a:r>
              <a:rPr lang="en-US" sz="2400" i="1" dirty="0"/>
              <a:t>cotranslational</a:t>
            </a:r>
            <a:r>
              <a:rPr lang="en-US" sz="2400" dirty="0"/>
              <a:t> </a:t>
            </a:r>
            <a:r>
              <a:rPr lang="en-US" sz="2400" i="1" dirty="0"/>
              <a:t>glycosylation</a:t>
            </a:r>
            <a:r>
              <a:rPr lang="en-US" sz="2400" dirty="0">
                <a:solidFill>
                  <a:schemeClr val="tx1"/>
                </a:solidFill>
              </a:rPr>
              <a:t>.</a:t>
            </a:r>
            <a:endParaRPr lang="en-US" sz="2400" i="1" dirty="0">
              <a:solidFill>
                <a:schemeClr val="tx1"/>
              </a:solidFill>
            </a:endParaRPr>
          </a:p>
          <a:p>
            <a:pPr marL="342900" indent="-342900"/>
            <a:r>
              <a:rPr lang="en-US" sz="2400" dirty="0"/>
              <a:t>It helps to promote proper protein folding</a:t>
            </a:r>
            <a:r>
              <a:rPr lang="en-US" sz="2400" dirty="0">
                <a:solidFill>
                  <a:schemeClr val="tx1"/>
                </a:solidFill>
              </a:rPr>
              <a:t>.</a:t>
            </a:r>
          </a:p>
        </p:txBody>
      </p:sp>
    </p:spTree>
    <p:extLst>
      <p:ext uri="{BB962C8B-B14F-4D97-AF65-F5344CB8AC3E}">
        <p14:creationId xmlns:p14="http://schemas.microsoft.com/office/powerpoint/2010/main" val="40661102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75721"/>
            <a:ext cx="8302240" cy="1107996"/>
          </a:xfrm>
        </p:spPr>
        <p:txBody>
          <a:bodyPr lIns="0" tIns="0" rIns="0" bIns="0" anchor="ctr">
            <a:spAutoFit/>
          </a:bodyPr>
          <a:lstStyle/>
          <a:p>
            <a:r>
              <a:rPr lang="en-US" sz="3600" dirty="0">
                <a:latin typeface="+mj-lt"/>
              </a:rPr>
              <a:t>Two Proteins Assist with Proper Folding</a:t>
            </a:r>
            <a:endParaRPr lang="en-US" sz="2800" dirty="0">
              <a:latin typeface="+mj-lt"/>
            </a:endParaRP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380614"/>
            <a:ext cx="8302240" cy="2970044"/>
          </a:xfrm>
        </p:spPr>
        <p:txBody>
          <a:bodyPr lIns="0" tIns="0" rIns="0" bIns="0">
            <a:spAutoFit/>
          </a:bodyPr>
          <a:lstStyle/>
          <a:p>
            <a:pPr marL="342900" indent="-342900"/>
            <a:r>
              <a:rPr lang="en-US" sz="2400" dirty="0"/>
              <a:t>Two </a:t>
            </a:r>
            <a:r>
              <a:rPr lang="en-US" sz="2400" spc="-300" dirty="0"/>
              <a:t>E </a:t>
            </a:r>
            <a:r>
              <a:rPr lang="en-US" sz="2400" dirty="0"/>
              <a:t>R proteins, </a:t>
            </a:r>
            <a:r>
              <a:rPr lang="en-US" sz="2400" b="1" dirty="0"/>
              <a:t>calnexin</a:t>
            </a:r>
            <a:r>
              <a:rPr lang="en-US" sz="2400" dirty="0"/>
              <a:t> (</a:t>
            </a:r>
            <a:r>
              <a:rPr lang="en-US" sz="2400" b="1" spc="-300" dirty="0"/>
              <a:t>C N X</a:t>
            </a:r>
            <a:r>
              <a:rPr lang="en-US" sz="2400" dirty="0"/>
              <a:t>) and </a:t>
            </a:r>
            <a:r>
              <a:rPr lang="en-US" sz="2400" b="1" dirty="0"/>
              <a:t>calreticulin</a:t>
            </a:r>
            <a:r>
              <a:rPr lang="en-US" sz="2400" dirty="0"/>
              <a:t> (</a:t>
            </a:r>
            <a:r>
              <a:rPr lang="en-US" sz="2400" b="1" spc="-300" dirty="0"/>
              <a:t>C R T</a:t>
            </a:r>
            <a:r>
              <a:rPr lang="en-US" sz="2400" dirty="0"/>
              <a:t>), bind to monoglucosylated glycoproteins and promote proper folding.</a:t>
            </a:r>
          </a:p>
          <a:p>
            <a:pPr marL="342900" indent="-342900"/>
            <a:r>
              <a:rPr lang="en-US" sz="2400" dirty="0"/>
              <a:t>This occurs via a complex that includes a thiol reductase known as </a:t>
            </a:r>
            <a:r>
              <a:rPr lang="en-US" sz="2400" i="1" spc="-300" dirty="0"/>
              <a:t>E R </a:t>
            </a:r>
            <a:r>
              <a:rPr lang="en-US" sz="2400" i="1" dirty="0"/>
              <a:t>p57</a:t>
            </a:r>
            <a:r>
              <a:rPr lang="en-US" sz="2400" dirty="0"/>
              <a:t>.</a:t>
            </a:r>
          </a:p>
          <a:p>
            <a:pPr marL="342900" indent="-342900"/>
            <a:r>
              <a:rPr lang="en-US" sz="2400" dirty="0"/>
              <a:t>The complex dissociates and the final glucose is removed by </a:t>
            </a:r>
            <a:r>
              <a:rPr lang="en-US" sz="2400" i="1" dirty="0"/>
              <a:t>glucosidase </a:t>
            </a:r>
            <a:r>
              <a:rPr lang="en-US" sz="2400" i="1" dirty="0">
                <a:latin typeface="Times New Roman" panose="02020603050405020304" pitchFamily="18" charset="0"/>
                <a:cs typeface="Times New Roman" panose="02020603050405020304" pitchFamily="18" charset="0"/>
              </a:rPr>
              <a:t>Ⅱ</a:t>
            </a:r>
            <a:r>
              <a:rPr lang="en-US" sz="2400" dirty="0"/>
              <a:t>.</a:t>
            </a:r>
          </a:p>
        </p:txBody>
      </p:sp>
    </p:spTree>
    <p:extLst>
      <p:ext uri="{BB962C8B-B14F-4D97-AF65-F5344CB8AC3E}">
        <p14:creationId xmlns:p14="http://schemas.microsoft.com/office/powerpoint/2010/main" val="3071028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77707"/>
            <a:ext cx="8302240" cy="553998"/>
          </a:xfrm>
        </p:spPr>
        <p:txBody>
          <a:bodyPr lIns="0" tIns="0" rIns="0" bIns="0" anchor="ctr">
            <a:spAutoFit/>
          </a:bodyPr>
          <a:lstStyle/>
          <a:p>
            <a:r>
              <a:rPr lang="en-US" sz="3600" dirty="0">
                <a:latin typeface="+mj-lt"/>
              </a:rPr>
              <a:t>Proper Folding in the E</a:t>
            </a:r>
            <a:r>
              <a:rPr lang="en-US" sz="3600" spc="-500" dirty="0">
                <a:latin typeface="+mj-lt"/>
              </a:rPr>
              <a:t> </a:t>
            </a:r>
            <a:r>
              <a:rPr lang="en-US" sz="3600" dirty="0">
                <a:latin typeface="+mj-lt"/>
              </a:rPr>
              <a:t>R</a:t>
            </a:r>
            <a:endParaRPr lang="en-US" sz="2800" dirty="0">
              <a:latin typeface="+mj-lt"/>
            </a:endParaRP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063575"/>
            <a:ext cx="8302240" cy="2600712"/>
          </a:xfrm>
        </p:spPr>
        <p:txBody>
          <a:bodyPr lIns="0" tIns="0" rIns="0" bIns="0">
            <a:spAutoFit/>
          </a:bodyPr>
          <a:lstStyle/>
          <a:p>
            <a:pPr marL="342900" indent="-342900"/>
            <a:r>
              <a:rPr lang="en-US" sz="2400" dirty="0"/>
              <a:t>A glucosyl transferase, </a:t>
            </a:r>
            <a:r>
              <a:rPr lang="en-US" sz="2400" i="1" spc="-300" dirty="0"/>
              <a:t>U G G </a:t>
            </a:r>
            <a:r>
              <a:rPr lang="en-US" sz="2400" i="1" dirty="0"/>
              <a:t>T</a:t>
            </a:r>
            <a:r>
              <a:rPr lang="en-US" sz="2400" dirty="0"/>
              <a:t> (</a:t>
            </a:r>
            <a:r>
              <a:rPr lang="en-US" sz="2400" i="1" spc="-300" dirty="0"/>
              <a:t>U D </a:t>
            </a:r>
            <a:r>
              <a:rPr lang="en-US" sz="2400" i="1" dirty="0"/>
              <a:t>P-glucose:glycoprotein glucotransferase</a:t>
            </a:r>
            <a:r>
              <a:rPr lang="en-US" sz="2400" dirty="0"/>
              <a:t>), binds to improperly folded proteins.</a:t>
            </a:r>
          </a:p>
          <a:p>
            <a:pPr marL="342900" indent="-342900"/>
            <a:r>
              <a:rPr lang="en-US" sz="2400" dirty="0"/>
              <a:t>It adds back a single glucose unit, making the protein a substrate for </a:t>
            </a:r>
            <a:r>
              <a:rPr lang="en-US" sz="2400" spc="-300" dirty="0"/>
              <a:t>C N X / C R </a:t>
            </a:r>
            <a:r>
              <a:rPr lang="en-US" sz="2400" dirty="0"/>
              <a:t>T binding.</a:t>
            </a:r>
          </a:p>
          <a:p>
            <a:pPr marL="342900" indent="-342900"/>
            <a:r>
              <a:rPr lang="en-US" sz="2400" dirty="0"/>
              <a:t>Once proper conformation is achieved, UGGT no longer binds the new glycoprotein, which moves on to the Golgi.</a:t>
            </a:r>
          </a:p>
        </p:txBody>
      </p:sp>
    </p:spTree>
    <p:extLst>
      <p:ext uri="{BB962C8B-B14F-4D97-AF65-F5344CB8AC3E}">
        <p14:creationId xmlns:p14="http://schemas.microsoft.com/office/powerpoint/2010/main" val="38540058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80108"/>
            <a:ext cx="8302240" cy="1107996"/>
          </a:xfrm>
        </p:spPr>
        <p:txBody>
          <a:bodyPr lIns="0" tIns="0" rIns="0" bIns="0" anchor="ctr">
            <a:spAutoFit/>
          </a:bodyPr>
          <a:lstStyle/>
          <a:p>
            <a:r>
              <a:rPr lang="en-US" sz="3600" dirty="0">
                <a:latin typeface="+mj-lt"/>
              </a:rPr>
              <a:t>Further Glycosylation Occurs in the Golgi Apparatus </a:t>
            </a:r>
            <a:endParaRPr lang="en-US" sz="2800" dirty="0">
              <a:latin typeface="+mj-lt"/>
            </a:endParaRP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570223"/>
            <a:ext cx="8302240" cy="2970044"/>
          </a:xfrm>
        </p:spPr>
        <p:txBody>
          <a:bodyPr lIns="0" tIns="0" rIns="0" bIns="0">
            <a:spAutoFit/>
          </a:bodyPr>
          <a:lstStyle/>
          <a:p>
            <a:pPr marL="342900" indent="-342900"/>
            <a:r>
              <a:rPr lang="en-US" sz="2400" dirty="0"/>
              <a:t>Further processing of N-glycosylated proteins occurs in the Golgi complex as the glycoproteins move from the </a:t>
            </a:r>
            <a:r>
              <a:rPr lang="en-US" sz="2400" i="1" dirty="0"/>
              <a:t>cis</a:t>
            </a:r>
            <a:r>
              <a:rPr lang="en-US" sz="2400" dirty="0"/>
              <a:t> face through to the </a:t>
            </a:r>
            <a:r>
              <a:rPr lang="en-US" sz="2400" i="1" dirty="0"/>
              <a:t>trans</a:t>
            </a:r>
            <a:r>
              <a:rPr lang="en-US" sz="2400" dirty="0"/>
              <a:t> face</a:t>
            </a:r>
            <a:r>
              <a:rPr lang="en-US" sz="2400" dirty="0">
                <a:solidFill>
                  <a:schemeClr val="tx1"/>
                </a:solidFill>
              </a:rPr>
              <a:t>.</a:t>
            </a:r>
          </a:p>
          <a:p>
            <a:pPr marL="342900" indent="-342900"/>
            <a:r>
              <a:rPr lang="en-US" sz="2400" dirty="0"/>
              <a:t>These </a:t>
            </a:r>
            <a:r>
              <a:rPr lang="en-US" sz="2400" b="1" dirty="0"/>
              <a:t>terminal</a:t>
            </a:r>
            <a:r>
              <a:rPr lang="en-US" sz="2400" dirty="0"/>
              <a:t> </a:t>
            </a:r>
            <a:r>
              <a:rPr lang="en-US" sz="2400" b="1" dirty="0"/>
              <a:t>glycosylations</a:t>
            </a:r>
            <a:r>
              <a:rPr lang="en-US" sz="2400" dirty="0"/>
              <a:t> are variable and create great diversity</a:t>
            </a:r>
            <a:r>
              <a:rPr lang="en-US" sz="2400" dirty="0">
                <a:solidFill>
                  <a:schemeClr val="tx1"/>
                </a:solidFill>
              </a:rPr>
              <a:t>.</a:t>
            </a:r>
          </a:p>
          <a:p>
            <a:pPr marL="342900" indent="-342900"/>
            <a:r>
              <a:rPr lang="en-US" sz="2400" dirty="0"/>
              <a:t>Terminal glycosylation involves the removal of a few units of the core oligosaccharide and sometimes nothing more</a:t>
            </a:r>
            <a:r>
              <a:rPr lang="en-US" sz="2400" dirty="0">
                <a:solidFill>
                  <a:schemeClr val="tx1"/>
                </a:solidFill>
              </a:rPr>
              <a:t>.</a:t>
            </a:r>
          </a:p>
        </p:txBody>
      </p:sp>
    </p:spTree>
    <p:extLst>
      <p:ext uri="{BB962C8B-B14F-4D97-AF65-F5344CB8AC3E}">
        <p14:creationId xmlns:p14="http://schemas.microsoft.com/office/powerpoint/2010/main" val="30332870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77707"/>
            <a:ext cx="8302240" cy="553998"/>
          </a:xfrm>
        </p:spPr>
        <p:txBody>
          <a:bodyPr lIns="0" tIns="0" rIns="0" bIns="0" anchor="ctr">
            <a:spAutoFit/>
          </a:bodyPr>
          <a:lstStyle/>
          <a:p>
            <a:r>
              <a:rPr lang="en-US" sz="3600" dirty="0">
                <a:latin typeface="+mj-lt"/>
              </a:rPr>
              <a:t>Terminal Glycosylation</a:t>
            </a:r>
            <a:endParaRPr lang="en-US" sz="2800" dirty="0">
              <a:latin typeface="+mj-lt"/>
            </a:endParaRP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063575"/>
            <a:ext cx="8302240" cy="2600712"/>
          </a:xfrm>
        </p:spPr>
        <p:txBody>
          <a:bodyPr lIns="0" tIns="0" rIns="0" bIns="0">
            <a:spAutoFit/>
          </a:bodyPr>
          <a:lstStyle/>
          <a:p>
            <a:pPr marL="342900" indent="-342900"/>
            <a:r>
              <a:rPr lang="en-US" sz="2400" dirty="0"/>
              <a:t>In some cases, more complex oligosaccharides are generated by adding </a:t>
            </a:r>
            <a:r>
              <a:rPr lang="en-US" sz="2400" spc="-300" dirty="0"/>
              <a:t>G l c N A </a:t>
            </a:r>
            <a:r>
              <a:rPr lang="en-US" sz="2400" dirty="0"/>
              <a:t>c or other monosaccharides</a:t>
            </a:r>
            <a:r>
              <a:rPr lang="en-US" sz="2400" dirty="0">
                <a:solidFill>
                  <a:srgbClr val="FF0000"/>
                </a:solidFill>
              </a:rPr>
              <a:t>.</a:t>
            </a:r>
            <a:endParaRPr lang="en-US" sz="2400" dirty="0"/>
          </a:p>
          <a:p>
            <a:pPr marL="342900" indent="-342900"/>
            <a:r>
              <a:rPr lang="en-US" sz="2400" dirty="0"/>
              <a:t>Sometimes galactose units are added by </a:t>
            </a:r>
            <a:r>
              <a:rPr lang="en-US" sz="2400" i="1" dirty="0">
                <a:solidFill>
                  <a:schemeClr val="tx1"/>
                </a:solidFill>
              </a:rPr>
              <a:t>galactosyl</a:t>
            </a:r>
            <a:r>
              <a:rPr lang="en-US" sz="2400" i="1" dirty="0">
                <a:solidFill>
                  <a:srgbClr val="FF0000"/>
                </a:solidFill>
              </a:rPr>
              <a:t> </a:t>
            </a:r>
            <a:r>
              <a:rPr lang="en-US" sz="2400" i="1" dirty="0">
                <a:solidFill>
                  <a:schemeClr val="tx1"/>
                </a:solidFill>
              </a:rPr>
              <a:t>transferase</a:t>
            </a:r>
            <a:r>
              <a:rPr lang="en-US" sz="2400" dirty="0">
                <a:solidFill>
                  <a:schemeClr val="tx1"/>
                </a:solidFill>
              </a:rPr>
              <a:t>.</a:t>
            </a:r>
            <a:endParaRPr lang="en-US" sz="2400" i="1" dirty="0">
              <a:solidFill>
                <a:schemeClr val="tx1"/>
              </a:solidFill>
            </a:endParaRPr>
          </a:p>
          <a:p>
            <a:pPr marL="342900" indent="-342900"/>
            <a:r>
              <a:rPr lang="en-US" sz="2400" dirty="0"/>
              <a:t>The </a:t>
            </a:r>
            <a:r>
              <a:rPr lang="en-US" sz="2400" spc="-300" dirty="0"/>
              <a:t>E </a:t>
            </a:r>
            <a:r>
              <a:rPr lang="en-US" sz="2400" dirty="0"/>
              <a:t>R and Golgi contain hundreds of different </a:t>
            </a:r>
            <a:r>
              <a:rPr lang="en-US" sz="2400" dirty="0">
                <a:solidFill>
                  <a:schemeClr val="tx1"/>
                </a:solidFill>
              </a:rPr>
              <a:t>glycosyl transferases.</a:t>
            </a:r>
          </a:p>
        </p:txBody>
      </p:sp>
    </p:spTree>
    <p:extLst>
      <p:ext uri="{BB962C8B-B14F-4D97-AF65-F5344CB8AC3E}">
        <p14:creationId xmlns:p14="http://schemas.microsoft.com/office/powerpoint/2010/main" val="38700052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80108"/>
            <a:ext cx="8302240" cy="1107996"/>
          </a:xfrm>
        </p:spPr>
        <p:txBody>
          <a:bodyPr lIns="0" tIns="0" rIns="0" bIns="0" anchor="ctr">
            <a:spAutoFit/>
          </a:bodyPr>
          <a:lstStyle/>
          <a:p>
            <a:r>
              <a:rPr lang="en-US" sz="3600" dirty="0">
                <a:latin typeface="+mj-lt"/>
              </a:rPr>
              <a:t>12.4 Roles of the </a:t>
            </a:r>
            <a:r>
              <a:rPr lang="en-US" sz="3600" spc="-300" dirty="0">
                <a:latin typeface="+mj-lt"/>
              </a:rPr>
              <a:t>E</a:t>
            </a:r>
            <a:r>
              <a:rPr lang="en-US" sz="3600" spc="-500" dirty="0">
                <a:latin typeface="+mj-lt"/>
              </a:rPr>
              <a:t> </a:t>
            </a:r>
            <a:r>
              <a:rPr lang="en-US" sz="3600" dirty="0">
                <a:latin typeface="+mj-lt"/>
              </a:rPr>
              <a:t>R and Golgi Apparatus in Protein Trafficking</a:t>
            </a:r>
            <a:endParaRPr lang="en-US" sz="2800" dirty="0">
              <a:latin typeface="+mj-lt"/>
            </a:endParaRP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564019"/>
            <a:ext cx="8302240" cy="2600712"/>
          </a:xfrm>
        </p:spPr>
        <p:txBody>
          <a:bodyPr lIns="0" tIns="0" rIns="0" bIns="0">
            <a:spAutoFit/>
          </a:bodyPr>
          <a:lstStyle/>
          <a:p>
            <a:pPr marL="342900" indent="-342900"/>
            <a:r>
              <a:rPr lang="en-US" sz="2400" dirty="0"/>
              <a:t>Proteins synthesized in the rough </a:t>
            </a:r>
            <a:r>
              <a:rPr lang="en-US" sz="2400" spc="-300" dirty="0"/>
              <a:t>E </a:t>
            </a:r>
            <a:r>
              <a:rPr lang="en-US" sz="2400" dirty="0"/>
              <a:t>R must be directed to a variety of locations</a:t>
            </a:r>
            <a:r>
              <a:rPr lang="en-US" sz="2400" dirty="0">
                <a:solidFill>
                  <a:schemeClr val="tx1"/>
                </a:solidFill>
              </a:rPr>
              <a:t>.</a:t>
            </a:r>
          </a:p>
          <a:p>
            <a:pPr marL="342900" indent="-342900"/>
            <a:r>
              <a:rPr lang="en-US" sz="2400" dirty="0"/>
              <a:t>Once a protein reaches its destination, it must be prevented from leaving</a:t>
            </a:r>
            <a:r>
              <a:rPr lang="en-US" sz="2400" dirty="0">
                <a:solidFill>
                  <a:schemeClr val="tx1"/>
                </a:solidFill>
              </a:rPr>
              <a:t>.</a:t>
            </a:r>
          </a:p>
          <a:p>
            <a:pPr marL="342900" indent="-342900"/>
            <a:r>
              <a:rPr lang="en-US" sz="2400" dirty="0"/>
              <a:t>Each protein contains a specific “tag” targeting it to a transport vesicle that will take it to the correct location</a:t>
            </a:r>
            <a:r>
              <a:rPr lang="en-US" sz="2400" dirty="0">
                <a:solidFill>
                  <a:schemeClr val="tx1"/>
                </a:solidFill>
              </a:rPr>
              <a:t>.</a:t>
            </a:r>
          </a:p>
        </p:txBody>
      </p:sp>
    </p:spTree>
    <p:extLst>
      <p:ext uri="{BB962C8B-B14F-4D97-AF65-F5344CB8AC3E}">
        <p14:creationId xmlns:p14="http://schemas.microsoft.com/office/powerpoint/2010/main" val="38448729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77707"/>
            <a:ext cx="8302240" cy="553998"/>
          </a:xfrm>
        </p:spPr>
        <p:txBody>
          <a:bodyPr lIns="0" tIns="0" rIns="0" bIns="0" anchor="ctr">
            <a:spAutoFit/>
          </a:bodyPr>
          <a:lstStyle/>
          <a:p>
            <a:r>
              <a:rPr lang="en-US" sz="3600" dirty="0">
                <a:latin typeface="+mj-lt"/>
              </a:rPr>
              <a:t>Protein Tags</a:t>
            </a:r>
            <a:endParaRPr lang="en-US" sz="2800" dirty="0">
              <a:latin typeface="+mj-lt"/>
            </a:endParaRP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063575"/>
            <a:ext cx="8302240" cy="1300356"/>
          </a:xfrm>
        </p:spPr>
        <p:txBody>
          <a:bodyPr lIns="0" tIns="0" rIns="0" bIns="0">
            <a:spAutoFit/>
          </a:bodyPr>
          <a:lstStyle/>
          <a:p>
            <a:pPr indent="-256032"/>
            <a:r>
              <a:rPr lang="en-US" sz="2400" dirty="0"/>
              <a:t>A tag may be an amino acid sequence, a hydrophobic domain, oligosaccharide side chain, or some other feature</a:t>
            </a:r>
            <a:r>
              <a:rPr lang="en-US" sz="2400" dirty="0">
                <a:solidFill>
                  <a:schemeClr val="tx1"/>
                </a:solidFill>
              </a:rPr>
              <a:t>.</a:t>
            </a:r>
          </a:p>
          <a:p>
            <a:pPr indent="-256032"/>
            <a:r>
              <a:rPr lang="en-US" sz="2400" dirty="0"/>
              <a:t>Tags can also exclude material from certain vesicles</a:t>
            </a:r>
            <a:r>
              <a:rPr lang="en-US" sz="2400" dirty="0">
                <a:solidFill>
                  <a:schemeClr val="tx1"/>
                </a:solidFill>
              </a:rPr>
              <a:t>.</a:t>
            </a:r>
          </a:p>
        </p:txBody>
      </p:sp>
    </p:spTree>
    <p:extLst>
      <p:ext uri="{BB962C8B-B14F-4D97-AF65-F5344CB8AC3E}">
        <p14:creationId xmlns:p14="http://schemas.microsoft.com/office/powerpoint/2010/main" val="13262813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80108"/>
            <a:ext cx="8302240" cy="1107996"/>
          </a:xfrm>
        </p:spPr>
        <p:txBody>
          <a:bodyPr lIns="0" tIns="0" rIns="0" bIns="0" anchor="ctr">
            <a:spAutoFit/>
          </a:bodyPr>
          <a:lstStyle/>
          <a:p>
            <a:r>
              <a:rPr lang="en-US" sz="3600" dirty="0">
                <a:latin typeface="+mj-lt"/>
              </a:rPr>
              <a:t>Overview: Nuclear Gene to Synthesized Polypeptide</a:t>
            </a:r>
            <a:endParaRPr lang="en-US" sz="2800" dirty="0">
              <a:latin typeface="+mj-lt"/>
            </a:endParaRP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565805"/>
            <a:ext cx="8302240" cy="3339376"/>
          </a:xfrm>
        </p:spPr>
        <p:txBody>
          <a:bodyPr lIns="0" tIns="0" rIns="0" bIns="0">
            <a:spAutoFit/>
          </a:bodyPr>
          <a:lstStyle/>
          <a:p>
            <a:pPr marL="342900" indent="-342900"/>
            <a:r>
              <a:rPr lang="en-US" sz="2400" dirty="0"/>
              <a:t>Tagged polypeptides encoded by nuclear genes begin with transcription of DNA into RNAs. These </a:t>
            </a:r>
            <a:r>
              <a:rPr lang="en-US" sz="2400" spc="-300" dirty="0"/>
              <a:t>R N A </a:t>
            </a:r>
            <a:r>
              <a:rPr lang="en-US" sz="2400" dirty="0"/>
              <a:t>s are processed in the nucleus (becoming mRNAs) and then transported to the cytoplasm. </a:t>
            </a:r>
          </a:p>
          <a:p>
            <a:pPr marL="342900" indent="-342900"/>
            <a:r>
              <a:rPr lang="en-US" sz="2400" dirty="0"/>
              <a:t>mRNAs associate with </a:t>
            </a:r>
            <a:r>
              <a:rPr lang="en-US" sz="2400" i="1" dirty="0"/>
              <a:t>free</a:t>
            </a:r>
            <a:r>
              <a:rPr lang="en-US" sz="2400" dirty="0"/>
              <a:t> </a:t>
            </a:r>
            <a:r>
              <a:rPr lang="en-US" sz="2400" i="1" dirty="0"/>
              <a:t>ribosomes</a:t>
            </a:r>
            <a:r>
              <a:rPr lang="en-US" sz="2400" dirty="0"/>
              <a:t> in the cytoplasm and translation begins. </a:t>
            </a:r>
          </a:p>
          <a:p>
            <a:pPr marL="342900" indent="-342900"/>
            <a:r>
              <a:rPr lang="en-US" sz="2400" dirty="0"/>
              <a:t>Shortly after translation begins, two pathways for sorting the synthesizing polypeptide diverge. </a:t>
            </a:r>
          </a:p>
        </p:txBody>
      </p:sp>
    </p:spTree>
    <p:extLst>
      <p:ext uri="{BB962C8B-B14F-4D97-AF65-F5344CB8AC3E}">
        <p14:creationId xmlns:p14="http://schemas.microsoft.com/office/powerpoint/2010/main" val="2970364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57200" y="176761"/>
            <a:ext cx="8229600" cy="1107996"/>
          </a:xfrm>
        </p:spPr>
        <p:txBody>
          <a:bodyPr lIns="0" tIns="0" rIns="0" bIns="0" anchor="ctr">
            <a:spAutoFit/>
          </a:bodyPr>
          <a:lstStyle/>
          <a:p>
            <a:r>
              <a:rPr lang="en-US" sz="3600" dirty="0">
                <a:latin typeface="+mj-lt"/>
              </a:rPr>
              <a:t>Two Pathways for Sorting Tagged Polypeptides </a:t>
            </a:r>
            <a:r>
              <a:rPr lang="en-US" sz="2800" dirty="0">
                <a:latin typeface="+mj-lt"/>
              </a:rPr>
              <a:t>(1 of 3)</a:t>
            </a:r>
            <a:endParaRPr lang="en-US" sz="2000" dirty="0">
              <a:latin typeface="+mj-lt"/>
            </a:endParaRP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57200" y="1566948"/>
            <a:ext cx="8229600" cy="1107996"/>
          </a:xfrm>
        </p:spPr>
        <p:txBody>
          <a:bodyPr lIns="0" tIns="0" rIns="0" bIns="0">
            <a:spAutoFit/>
          </a:bodyPr>
          <a:lstStyle/>
          <a:p>
            <a:pPr marL="457200" indent="-457200">
              <a:buFont typeface="+mj-lt"/>
              <a:buAutoNum type="arabicPeriod"/>
            </a:pPr>
            <a:r>
              <a:rPr lang="en-US" sz="2400" dirty="0"/>
              <a:t>Pathway for polypeptides destined for the cytosol, mitochondria, chloroplast, peroxisome, and nuclear interior: </a:t>
            </a:r>
          </a:p>
        </p:txBody>
      </p:sp>
      <p:sp>
        <p:nvSpPr>
          <p:cNvPr id="3" name="Content Placeholder 2"/>
          <p:cNvSpPr>
            <a:spLocks noGrp="1"/>
          </p:cNvSpPr>
          <p:nvPr>
            <p:ph idx="13"/>
          </p:nvPr>
        </p:nvSpPr>
        <p:spPr>
          <a:xfrm>
            <a:off x="457200" y="2806336"/>
            <a:ext cx="8229600" cy="2600712"/>
          </a:xfrm>
          <a:noFill/>
          <a:ln>
            <a:noFill/>
          </a:ln>
        </p:spPr>
        <p:txBody>
          <a:bodyPr lIns="0" tIns="0" rIns="0" bIns="0" anchor="t" anchorCtr="0">
            <a:spAutoFit/>
          </a:bodyPr>
          <a:lstStyle/>
          <a:p>
            <a:pPr marL="342900" indent="-342900"/>
            <a:r>
              <a:rPr lang="en-US" sz="2400" dirty="0"/>
              <a:t>Free ribosomes synthesize these polypeptides. </a:t>
            </a:r>
          </a:p>
          <a:p>
            <a:pPr marL="342900" indent="-342900"/>
            <a:r>
              <a:rPr lang="en-US" sz="2400" dirty="0">
                <a:solidFill>
                  <a:schemeClr val="tx1"/>
                </a:solidFill>
              </a:rPr>
              <a:t>After</a:t>
            </a:r>
            <a:r>
              <a:rPr lang="en-US" sz="2400" dirty="0"/>
              <a:t> translation, the polypeptide is released. It remains in the cytosol or an organelle takes it up. </a:t>
            </a:r>
          </a:p>
          <a:p>
            <a:pPr marL="342900" indent="-342900"/>
            <a:r>
              <a:rPr lang="en-US" sz="2400" b="1" dirty="0"/>
              <a:t>Posttranslational</a:t>
            </a:r>
            <a:r>
              <a:rPr lang="en-US" sz="2400" dirty="0"/>
              <a:t> </a:t>
            </a:r>
            <a:r>
              <a:rPr lang="en-US" sz="2400" b="1" dirty="0"/>
              <a:t>import</a:t>
            </a:r>
            <a:r>
              <a:rPr lang="en-US" sz="2400" dirty="0"/>
              <a:t> is the uptake of completed polypeptides with special targeting signals into the organelle. </a:t>
            </a:r>
            <a:endParaRPr lang="en-IN" sz="2400" dirty="0"/>
          </a:p>
        </p:txBody>
      </p:sp>
    </p:spTree>
    <p:extLst>
      <p:ext uri="{BB962C8B-B14F-4D97-AF65-F5344CB8AC3E}">
        <p14:creationId xmlns:p14="http://schemas.microsoft.com/office/powerpoint/2010/main" val="30391158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57200" y="176761"/>
            <a:ext cx="8229600" cy="1107996"/>
          </a:xfrm>
        </p:spPr>
        <p:txBody>
          <a:bodyPr lIns="0" tIns="0" rIns="0" bIns="0" anchor="ctr">
            <a:spAutoFit/>
          </a:bodyPr>
          <a:lstStyle/>
          <a:p>
            <a:r>
              <a:rPr lang="en-US" sz="3600" dirty="0">
                <a:latin typeface="+mj-lt"/>
              </a:rPr>
              <a:t>Two Pathways for Sorting Tagged Polypeptides </a:t>
            </a:r>
            <a:r>
              <a:rPr lang="en-US" sz="2800" dirty="0">
                <a:latin typeface="+mj-lt"/>
              </a:rPr>
              <a:t>(2 of 3)</a:t>
            </a:r>
            <a:endParaRPr lang="en-US" sz="2000" dirty="0">
              <a:latin typeface="+mj-lt"/>
            </a:endParaRP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57200" y="1566949"/>
            <a:ext cx="8229600" cy="738664"/>
          </a:xfrm>
        </p:spPr>
        <p:txBody>
          <a:bodyPr lIns="0" tIns="0" rIns="0" bIns="0">
            <a:spAutoFit/>
          </a:bodyPr>
          <a:lstStyle/>
          <a:p>
            <a:pPr marL="457200" indent="-457200">
              <a:buFont typeface="+mj-lt"/>
              <a:buAutoNum type="arabicPeriod" startAt="2"/>
            </a:pPr>
            <a:r>
              <a:rPr lang="en-US" sz="2400" dirty="0"/>
              <a:t>Pathway for polypeptides destined for the endomembrane system or export from the cell: </a:t>
            </a:r>
          </a:p>
        </p:txBody>
      </p:sp>
      <p:sp>
        <p:nvSpPr>
          <p:cNvPr id="3" name="Content Placeholder 2"/>
          <p:cNvSpPr>
            <a:spLocks noGrp="1"/>
          </p:cNvSpPr>
          <p:nvPr>
            <p:ph idx="13"/>
          </p:nvPr>
        </p:nvSpPr>
        <p:spPr>
          <a:xfrm>
            <a:off x="457200" y="2477357"/>
            <a:ext cx="8229600" cy="2039020"/>
          </a:xfrm>
          <a:noFill/>
          <a:ln>
            <a:noFill/>
          </a:ln>
        </p:spPr>
        <p:txBody>
          <a:bodyPr lIns="0" tIns="0" rIns="0" bIns="0" anchor="t" anchorCtr="0">
            <a:spAutoFit/>
          </a:bodyPr>
          <a:lstStyle/>
          <a:p>
            <a:pPr marL="342900" indent="-342900"/>
            <a:r>
              <a:rPr lang="en-US" sz="2400" dirty="0"/>
              <a:t>The ribosome synthesizing these polypeptides attach to the </a:t>
            </a:r>
            <a:r>
              <a:rPr lang="en-US" sz="2400" spc="-300" dirty="0"/>
              <a:t>E </a:t>
            </a:r>
            <a:r>
              <a:rPr lang="en-US" sz="2400" dirty="0"/>
              <a:t>R membrane. </a:t>
            </a:r>
          </a:p>
          <a:p>
            <a:pPr marL="342900" indent="-342900"/>
            <a:r>
              <a:rPr lang="en-US" sz="2400" dirty="0"/>
              <a:t>The polypeptide is transferred across (or for integral membrane proteins, inserted into) the </a:t>
            </a:r>
            <a:r>
              <a:rPr lang="en-US" sz="2400" spc="-300" dirty="0"/>
              <a:t>E </a:t>
            </a:r>
            <a:r>
              <a:rPr lang="en-US" sz="2400" dirty="0"/>
              <a:t>R membrane as synthesis occurs. This is called </a:t>
            </a:r>
            <a:r>
              <a:rPr lang="en-US" sz="2400" b="1" dirty="0"/>
              <a:t>cotranslational</a:t>
            </a:r>
            <a:r>
              <a:rPr lang="en-US" sz="2400" dirty="0"/>
              <a:t> </a:t>
            </a:r>
            <a:r>
              <a:rPr lang="en-US" sz="2400" b="1" dirty="0"/>
              <a:t>import</a:t>
            </a:r>
            <a:r>
              <a:rPr lang="en-US" sz="2400" dirty="0"/>
              <a:t>. </a:t>
            </a:r>
          </a:p>
        </p:txBody>
      </p:sp>
    </p:spTree>
    <p:extLst>
      <p:ext uri="{BB962C8B-B14F-4D97-AF65-F5344CB8AC3E}">
        <p14:creationId xmlns:p14="http://schemas.microsoft.com/office/powerpoint/2010/main" val="22798945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57200" y="176761"/>
            <a:ext cx="8229600" cy="1107996"/>
          </a:xfrm>
        </p:spPr>
        <p:txBody>
          <a:bodyPr lIns="0" tIns="0" rIns="0" bIns="0" anchor="ctr">
            <a:spAutoFit/>
          </a:bodyPr>
          <a:lstStyle/>
          <a:p>
            <a:r>
              <a:rPr lang="en-US" sz="3600" dirty="0">
                <a:latin typeface="+mj-lt"/>
              </a:rPr>
              <a:t>Two Pathways for Sorting Tagged Polypeptides </a:t>
            </a:r>
            <a:r>
              <a:rPr lang="en-US" sz="2800" dirty="0">
                <a:latin typeface="+mj-lt"/>
              </a:rPr>
              <a:t>(3 of 3)</a:t>
            </a:r>
            <a:endParaRPr lang="en-US" sz="2000" dirty="0">
              <a:latin typeface="+mj-lt"/>
            </a:endParaRP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57200" y="1566948"/>
            <a:ext cx="8229600" cy="1107996"/>
          </a:xfrm>
        </p:spPr>
        <p:txBody>
          <a:bodyPr lIns="0" tIns="0" rIns="0" bIns="0">
            <a:spAutoFit/>
          </a:bodyPr>
          <a:lstStyle/>
          <a:p>
            <a:pPr marL="457200" indent="-457200">
              <a:buFont typeface="+mj-lt"/>
              <a:buAutoNum type="arabicPeriod" startAt="2"/>
            </a:pPr>
            <a:r>
              <a:rPr lang="en-US" sz="2400" dirty="0"/>
              <a:t>Pathway for polypeptides destined for the endomembrane system or export from the cell (continued):</a:t>
            </a:r>
          </a:p>
        </p:txBody>
      </p:sp>
      <p:sp>
        <p:nvSpPr>
          <p:cNvPr id="3" name="Content Placeholder 2"/>
          <p:cNvSpPr>
            <a:spLocks noGrp="1"/>
          </p:cNvSpPr>
          <p:nvPr>
            <p:ph idx="13"/>
          </p:nvPr>
        </p:nvSpPr>
        <p:spPr>
          <a:xfrm>
            <a:off x="457200" y="2792976"/>
            <a:ext cx="8229600" cy="1846659"/>
          </a:xfrm>
          <a:noFill/>
          <a:ln>
            <a:noFill/>
          </a:ln>
        </p:spPr>
        <p:txBody>
          <a:bodyPr lIns="0" tIns="0" rIns="0" bIns="0" anchor="t" anchorCtr="0">
            <a:spAutoFit/>
          </a:bodyPr>
          <a:lstStyle/>
          <a:p>
            <a:pPr marL="342900" indent="-342900"/>
            <a:r>
              <a:rPr lang="en-US" sz="2400" dirty="0"/>
              <a:t>These proteins can be directed to the ER, Golgi apparatus, endosomes and lysosome. There is also a mechanism to maintain the protein in these locations. Other proteins are incorporated in the plasma membrane or released outside the cell. </a:t>
            </a:r>
          </a:p>
        </p:txBody>
      </p:sp>
    </p:spTree>
    <p:extLst>
      <p:ext uri="{BB962C8B-B14F-4D97-AF65-F5344CB8AC3E}">
        <p14:creationId xmlns:p14="http://schemas.microsoft.com/office/powerpoint/2010/main" val="3498760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30565" y="183269"/>
            <a:ext cx="8269054" cy="553998"/>
          </a:xfrm>
        </p:spPr>
        <p:txBody>
          <a:bodyPr lIns="0" tIns="0" rIns="0" bIns="0" anchor="ctr">
            <a:spAutoFit/>
          </a:bodyPr>
          <a:lstStyle/>
          <a:p>
            <a:r>
              <a:rPr lang="en-US" dirty="0"/>
              <a:t>Intracellular Sorting of Proteins</a:t>
            </a:r>
          </a:p>
        </p:txBody>
      </p:sp>
      <p:sp>
        <p:nvSpPr>
          <p:cNvPr id="6" name="Content Placeholder 5"/>
          <p:cNvSpPr>
            <a:spLocks noGrp="1"/>
          </p:cNvSpPr>
          <p:nvPr>
            <p:ph sz="quarter" idx="15"/>
          </p:nvPr>
        </p:nvSpPr>
        <p:spPr>
          <a:xfrm>
            <a:off x="421687" y="1074213"/>
            <a:ext cx="8277931" cy="369332"/>
          </a:xfrm>
        </p:spPr>
        <p:txBody>
          <a:bodyPr wrap="square" lIns="0" tIns="0" rIns="0" bIns="0">
            <a:spAutoFit/>
          </a:bodyPr>
          <a:lstStyle/>
          <a:p>
            <a:pPr marL="0" indent="0">
              <a:buNone/>
            </a:pPr>
            <a:r>
              <a:rPr lang="en-US" sz="2400" b="1" dirty="0"/>
              <a:t>Figure 12.7 </a:t>
            </a:r>
            <a:r>
              <a:rPr lang="en-US" sz="2400" dirty="0"/>
              <a:t>Intracellular Sorting of Proteins. </a:t>
            </a:r>
          </a:p>
        </p:txBody>
      </p:sp>
      <p:pic>
        <p:nvPicPr>
          <p:cNvPr id="4" name="Picture Placeholder 3" descr="An illustration of the intracellular sorting of proteins.&#10;Long description is available in notes, press F6"/>
          <p:cNvPicPr>
            <a:picLocks noGrp="1" noChangeAspect="1"/>
          </p:cNvPicPr>
          <p:nvPr>
            <p:ph type="pic" sz="quarter" idx="16"/>
          </p:nvPr>
        </p:nvPicPr>
        <p:blipFill rotWithShape="1">
          <a:blip r:embed="rId3">
            <a:extLst>
              <a:ext uri="{28A0092B-C50C-407E-A947-70E740481C1C}">
                <a14:useLocalDpi xmlns:a14="http://schemas.microsoft.com/office/drawing/2010/main" val="0"/>
              </a:ext>
            </a:extLst>
          </a:blip>
          <a:srcRect b="2070"/>
          <a:stretch/>
        </p:blipFill>
        <p:spPr>
          <a:xfrm>
            <a:off x="1870221" y="1718896"/>
            <a:ext cx="5403558" cy="4585610"/>
          </a:xfrm>
        </p:spPr>
      </p:pic>
    </p:spTree>
    <p:extLst>
      <p:ext uri="{BB962C8B-B14F-4D97-AF65-F5344CB8AC3E}">
        <p14:creationId xmlns:p14="http://schemas.microsoft.com/office/powerpoint/2010/main" val="40821100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39642" y="182970"/>
            <a:ext cx="8302240" cy="1661993"/>
          </a:xfrm>
        </p:spPr>
        <p:txBody>
          <a:bodyPr lIns="0" tIns="0" rIns="0" bIns="0" anchor="ctr">
            <a:spAutoFit/>
          </a:bodyPr>
          <a:lstStyle/>
          <a:p>
            <a:r>
              <a:rPr lang="en-US" sz="3600" dirty="0">
                <a:latin typeface="+mj-lt"/>
              </a:rPr>
              <a:t>Trafficking Through the Endomembrane System: Anterograde Direction </a:t>
            </a:r>
            <a:r>
              <a:rPr lang="en-US" sz="2800" dirty="0">
                <a:latin typeface="+mj-lt"/>
              </a:rPr>
              <a:t>(1 of 2)</a:t>
            </a: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2073804"/>
            <a:ext cx="8302240" cy="2970044"/>
          </a:xfrm>
        </p:spPr>
        <p:txBody>
          <a:bodyPr lIns="0" tIns="0" rIns="0" bIns="0">
            <a:spAutoFit/>
          </a:bodyPr>
          <a:lstStyle/>
          <a:p>
            <a:pPr marL="457200" indent="-457200">
              <a:buFont typeface="+mj-lt"/>
              <a:buAutoNum type="arabicPeriod"/>
            </a:pPr>
            <a:r>
              <a:rPr lang="en-US" sz="2400" dirty="0"/>
              <a:t>Ribosomes of the rough </a:t>
            </a:r>
            <a:r>
              <a:rPr lang="en-US" sz="2400" spc="-300" dirty="0"/>
              <a:t>E </a:t>
            </a:r>
            <a:r>
              <a:rPr lang="en-US" sz="2400" dirty="0"/>
              <a:t>R synthesize proteins. These proteins enter the </a:t>
            </a:r>
            <a:r>
              <a:rPr lang="en-US" sz="2400" spc="-300" dirty="0"/>
              <a:t>E </a:t>
            </a:r>
            <a:r>
              <a:rPr lang="en-US" sz="2400" dirty="0"/>
              <a:t>R lumen and initial glycosylation steps occur. </a:t>
            </a:r>
          </a:p>
          <a:p>
            <a:pPr marL="457200" indent="-457200">
              <a:buFont typeface="+mj-lt"/>
              <a:buAutoNum type="arabicPeriod"/>
            </a:pPr>
            <a:r>
              <a:rPr lang="en-US" sz="2400" dirty="0"/>
              <a:t>Transition vesicles carry glycosylated proteins and lipids to the CGN. </a:t>
            </a:r>
          </a:p>
          <a:p>
            <a:pPr marL="457200" indent="-457200">
              <a:buFont typeface="+mj-lt"/>
              <a:buAutoNum type="arabicPeriod"/>
            </a:pPr>
            <a:r>
              <a:rPr lang="en-US" sz="2400" dirty="0"/>
              <a:t>Lipids and proteins move through the cisternae of the Golgi apparatus.</a:t>
            </a:r>
          </a:p>
        </p:txBody>
      </p:sp>
    </p:spTree>
    <p:extLst>
      <p:ext uri="{BB962C8B-B14F-4D97-AF65-F5344CB8AC3E}">
        <p14:creationId xmlns:p14="http://schemas.microsoft.com/office/powerpoint/2010/main" val="30955811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40574" y="174083"/>
            <a:ext cx="8229600" cy="1661993"/>
          </a:xfrm>
        </p:spPr>
        <p:txBody>
          <a:bodyPr lIns="0" tIns="0" rIns="0" bIns="0" anchor="ctr">
            <a:spAutoFit/>
          </a:bodyPr>
          <a:lstStyle/>
          <a:p>
            <a:r>
              <a:rPr lang="en-US" sz="3600" dirty="0">
                <a:latin typeface="+mj-lt"/>
              </a:rPr>
              <a:t>Trafficking Through the Endomembrane System: Anterograde Direction </a:t>
            </a:r>
            <a:r>
              <a:rPr lang="en-US" sz="2800" dirty="0">
                <a:latin typeface="+mj-lt"/>
              </a:rPr>
              <a:t>(2 of 2)</a:t>
            </a:r>
            <a:endParaRPr lang="en-US" sz="2400" dirty="0">
              <a:latin typeface="+mj-lt"/>
            </a:endParaRP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57200" y="2071648"/>
            <a:ext cx="8229600" cy="369332"/>
          </a:xfrm>
        </p:spPr>
        <p:txBody>
          <a:bodyPr lIns="0" tIns="0" rIns="0" bIns="0">
            <a:spAutoFit/>
          </a:bodyPr>
          <a:lstStyle/>
          <a:p>
            <a:pPr marL="457200" indent="-457200">
              <a:buFont typeface="+mj-lt"/>
              <a:buAutoNum type="arabicPeriod" startAt="4"/>
            </a:pPr>
            <a:r>
              <a:rPr lang="en-US" sz="2400" dirty="0"/>
              <a:t>At the </a:t>
            </a:r>
            <a:r>
              <a:rPr lang="en-US" sz="2400" spc="-300" dirty="0"/>
              <a:t>T G </a:t>
            </a:r>
            <a:r>
              <a:rPr lang="en-US" sz="2400" dirty="0"/>
              <a:t>N: </a:t>
            </a:r>
          </a:p>
        </p:txBody>
      </p:sp>
      <p:sp>
        <p:nvSpPr>
          <p:cNvPr id="3" name="Content Placeholder 2"/>
          <p:cNvSpPr>
            <a:spLocks noGrp="1"/>
          </p:cNvSpPr>
          <p:nvPr>
            <p:ph idx="13"/>
          </p:nvPr>
        </p:nvSpPr>
        <p:spPr>
          <a:xfrm>
            <a:off x="457200" y="2585090"/>
            <a:ext cx="8229600" cy="1669688"/>
          </a:xfrm>
          <a:noFill/>
          <a:ln>
            <a:noFill/>
          </a:ln>
        </p:spPr>
        <p:txBody>
          <a:bodyPr lIns="0" tIns="0" rIns="0" bIns="0" anchor="t" anchorCtr="0">
            <a:spAutoFit/>
          </a:bodyPr>
          <a:lstStyle/>
          <a:p>
            <a:pPr marL="457200" indent="-457200">
              <a:buFont typeface="+mj-lt"/>
              <a:buAutoNum type="alphaLcPeriod"/>
            </a:pPr>
            <a:r>
              <a:rPr lang="en-US" sz="2400" dirty="0"/>
              <a:t>Secretory vesicles are formed, which release their contents to the plasma membrane by exocytosis. </a:t>
            </a:r>
          </a:p>
          <a:p>
            <a:pPr marL="457200" indent="-457200">
              <a:buFont typeface="+mj-lt"/>
              <a:buAutoNum type="alphaLcPeriod"/>
            </a:pPr>
            <a:r>
              <a:rPr lang="en-US" sz="2400" dirty="0"/>
              <a:t>Vesicles bud to form endosomes that help make lysosomes. </a:t>
            </a:r>
          </a:p>
        </p:txBody>
      </p:sp>
    </p:spTree>
    <p:extLst>
      <p:ext uri="{BB962C8B-B14F-4D97-AF65-F5344CB8AC3E}">
        <p14:creationId xmlns:p14="http://schemas.microsoft.com/office/powerpoint/2010/main" val="22956346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37530" y="177431"/>
            <a:ext cx="8302240" cy="1661993"/>
          </a:xfrm>
        </p:spPr>
        <p:txBody>
          <a:bodyPr wrap="square" lIns="0" tIns="0" rIns="0" bIns="0" anchor="ctr">
            <a:spAutoFit/>
          </a:bodyPr>
          <a:lstStyle/>
          <a:p>
            <a:r>
              <a:rPr lang="en-US" sz="3600" dirty="0">
                <a:latin typeface="+mj-lt"/>
              </a:rPr>
              <a:t>Trafficking Through the Endomembrane System: Retrograde Direction</a:t>
            </a: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2080927"/>
            <a:ext cx="8302240" cy="2970044"/>
          </a:xfrm>
        </p:spPr>
        <p:txBody>
          <a:bodyPr lIns="0" tIns="0" rIns="0" bIns="0">
            <a:spAutoFit/>
          </a:bodyPr>
          <a:lstStyle/>
          <a:p>
            <a:pPr marL="457200" indent="-457200">
              <a:buFont typeface="+mj-lt"/>
              <a:buAutoNum type="arabicPeriod"/>
            </a:pPr>
            <a:r>
              <a:rPr lang="en-US" sz="2400" dirty="0"/>
              <a:t>Proteins and other materials can be brought into the cell via endocytosis. Vesicles formed by endocytosis fuse with early endosomes. </a:t>
            </a:r>
          </a:p>
          <a:p>
            <a:pPr marL="457200" indent="-457200">
              <a:buFont typeface="+mj-lt"/>
              <a:buAutoNum type="arabicPeriod"/>
            </a:pPr>
            <a:r>
              <a:rPr lang="en-US" sz="2400" dirty="0"/>
              <a:t>Early endosomes containing digestive materials mature into late endosomes and then lysosomes. </a:t>
            </a:r>
          </a:p>
          <a:p>
            <a:pPr marL="457200" indent="-457200">
              <a:buFont typeface="+mj-lt"/>
              <a:buAutoNum type="arabicPeriod"/>
            </a:pPr>
            <a:r>
              <a:rPr lang="en-US" sz="2400" dirty="0"/>
              <a:t>Retrograde traffic returns compartment specific proteins to earlier compartments. </a:t>
            </a:r>
          </a:p>
        </p:txBody>
      </p:sp>
    </p:spTree>
    <p:extLst>
      <p:ext uri="{BB962C8B-B14F-4D97-AF65-F5344CB8AC3E}">
        <p14:creationId xmlns:p14="http://schemas.microsoft.com/office/powerpoint/2010/main" val="34847745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30565" y="176896"/>
            <a:ext cx="8269054" cy="1107996"/>
          </a:xfrm>
        </p:spPr>
        <p:txBody>
          <a:bodyPr lIns="0" tIns="0" rIns="0" bIns="0" anchor="ctr">
            <a:spAutoFit/>
          </a:bodyPr>
          <a:lstStyle/>
          <a:p>
            <a:r>
              <a:rPr lang="en-US" dirty="0"/>
              <a:t>Trafficking Through the Endomembrane System</a:t>
            </a:r>
          </a:p>
        </p:txBody>
      </p:sp>
      <p:sp>
        <p:nvSpPr>
          <p:cNvPr id="6" name="Content Placeholder 5"/>
          <p:cNvSpPr>
            <a:spLocks noGrp="1"/>
          </p:cNvSpPr>
          <p:nvPr>
            <p:ph sz="quarter" idx="15"/>
          </p:nvPr>
        </p:nvSpPr>
        <p:spPr>
          <a:xfrm>
            <a:off x="421689" y="1567668"/>
            <a:ext cx="8277930" cy="369332"/>
          </a:xfrm>
        </p:spPr>
        <p:txBody>
          <a:bodyPr wrap="square" lIns="0" tIns="0" rIns="0" bIns="0">
            <a:spAutoFit/>
          </a:bodyPr>
          <a:lstStyle/>
          <a:p>
            <a:pPr marL="0" indent="0">
              <a:buNone/>
            </a:pPr>
            <a:r>
              <a:rPr lang="en-US" sz="2400" b="1" dirty="0"/>
              <a:t>Figure 12.8 </a:t>
            </a:r>
            <a:r>
              <a:rPr lang="en-US" sz="2400" dirty="0"/>
              <a:t>Trafficking Through the Endomembrane System. </a:t>
            </a:r>
          </a:p>
        </p:txBody>
      </p:sp>
      <p:pic>
        <p:nvPicPr>
          <p:cNvPr id="5" name="Picture Placeholder 4" descr="An illustration of the transportation through vesicles in anterograde and retrograde directions. The nucleus is surrounded by the nuclear envelope that is linked to the rough endoplasmic reticulum.&#10;Long description is available in notes, press F6"/>
          <p:cNvPicPr>
            <a:picLocks noGrp="1" noChangeAspect="1"/>
          </p:cNvPicPr>
          <p:nvPr>
            <p:ph type="pic" sz="quarter" idx="16"/>
          </p:nvPr>
        </p:nvPicPr>
        <p:blipFill rotWithShape="1">
          <a:blip r:embed="rId3">
            <a:extLst>
              <a:ext uri="{28A0092B-C50C-407E-A947-70E740481C1C}">
                <a14:useLocalDpi xmlns:a14="http://schemas.microsoft.com/office/drawing/2010/main" val="0"/>
              </a:ext>
            </a:extLst>
          </a:blip>
          <a:srcRect b="2527"/>
          <a:stretch/>
        </p:blipFill>
        <p:spPr>
          <a:xfrm>
            <a:off x="1250226" y="2191311"/>
            <a:ext cx="6643548" cy="4166263"/>
          </a:xfrm>
        </p:spPr>
      </p:pic>
    </p:spTree>
    <p:extLst>
      <p:ext uri="{BB962C8B-B14F-4D97-AF65-F5344CB8AC3E}">
        <p14:creationId xmlns:p14="http://schemas.microsoft.com/office/powerpoint/2010/main" val="38231643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79114"/>
            <a:ext cx="8302240" cy="1600438"/>
          </a:xfrm>
        </p:spPr>
        <p:txBody>
          <a:bodyPr wrap="square" lIns="0" tIns="0" rIns="0" bIns="0" anchor="ctr">
            <a:spAutoFit/>
          </a:bodyPr>
          <a:lstStyle/>
          <a:p>
            <a:r>
              <a:rPr lang="en-US" dirty="0">
                <a:latin typeface="+mj-lt"/>
              </a:rPr>
              <a:t>Cotranslational Import Allows Some Polypeptides to Enter the </a:t>
            </a:r>
            <a:r>
              <a:rPr lang="en-US" spc="-500" dirty="0">
                <a:latin typeface="+mj-lt"/>
              </a:rPr>
              <a:t>E </a:t>
            </a:r>
            <a:r>
              <a:rPr lang="en-US" dirty="0">
                <a:latin typeface="+mj-lt"/>
              </a:rPr>
              <a:t>R as They </a:t>
            </a:r>
            <a:r>
              <a:rPr lang="en-US" sz="3600" dirty="0">
                <a:latin typeface="+mj-lt"/>
              </a:rPr>
              <a:t>A</a:t>
            </a:r>
            <a:r>
              <a:rPr lang="en-US" dirty="0">
                <a:latin typeface="+mj-lt"/>
              </a:rPr>
              <a:t>re Being Synthesized </a:t>
            </a: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2073669"/>
            <a:ext cx="8302240" cy="2039020"/>
          </a:xfrm>
        </p:spPr>
        <p:txBody>
          <a:bodyPr lIns="0" tIns="0" rIns="0" bIns="0">
            <a:spAutoFit/>
          </a:bodyPr>
          <a:lstStyle/>
          <a:p>
            <a:pPr marL="457200" indent="-457200">
              <a:buFont typeface="Arial" panose="020B0604020202020204" pitchFamily="34" charset="0"/>
              <a:buChar char="•"/>
            </a:pPr>
            <a:r>
              <a:rPr lang="en-US" sz="2400" dirty="0"/>
              <a:t>Cotranslational import is the first step in the pathway for delivering proteins to various locations in the endomembrane system. </a:t>
            </a:r>
          </a:p>
          <a:p>
            <a:pPr marL="457200" indent="-457200">
              <a:buFont typeface="Arial" panose="020B0604020202020204" pitchFamily="34" charset="0"/>
              <a:buChar char="•"/>
            </a:pPr>
            <a:r>
              <a:rPr lang="en-US" sz="2400" dirty="0"/>
              <a:t>Proteins trafficked this way are synthesized on ribosomes become attached to the </a:t>
            </a:r>
            <a:r>
              <a:rPr lang="en-US" sz="2400" spc="-300" dirty="0"/>
              <a:t>E </a:t>
            </a:r>
            <a:r>
              <a:rPr lang="en-US" sz="2400" dirty="0"/>
              <a:t>R after translation has begun. </a:t>
            </a:r>
          </a:p>
        </p:txBody>
      </p:sp>
    </p:spTree>
    <p:extLst>
      <p:ext uri="{BB962C8B-B14F-4D97-AF65-F5344CB8AC3E}">
        <p14:creationId xmlns:p14="http://schemas.microsoft.com/office/powerpoint/2010/main" val="37686990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74800"/>
            <a:ext cx="8302240" cy="1107996"/>
          </a:xfrm>
        </p:spPr>
        <p:txBody>
          <a:bodyPr wrap="square" lIns="0" tIns="0" rIns="0" bIns="0" anchor="ctr">
            <a:spAutoFit/>
          </a:bodyPr>
          <a:lstStyle/>
          <a:p>
            <a:r>
              <a:rPr lang="en-US" sz="3600" dirty="0">
                <a:latin typeface="+mj-lt"/>
              </a:rPr>
              <a:t>The Role of the </a:t>
            </a:r>
            <a:r>
              <a:rPr lang="en-US" sz="3600" spc="-500" dirty="0">
                <a:latin typeface="+mj-lt"/>
              </a:rPr>
              <a:t>E </a:t>
            </a:r>
            <a:r>
              <a:rPr lang="en-US" sz="3600" dirty="0">
                <a:latin typeface="+mj-lt"/>
              </a:rPr>
              <a:t>R in Protein Synthesis </a:t>
            </a:r>
            <a:r>
              <a:rPr lang="en-US" sz="2800" dirty="0">
                <a:latin typeface="+mj-lt"/>
              </a:rPr>
              <a:t>(1 of 2)</a:t>
            </a:r>
            <a:endParaRPr lang="en-US" dirty="0">
              <a:latin typeface="+mj-lt"/>
            </a:endParaRP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563495"/>
            <a:ext cx="8302240" cy="3708708"/>
          </a:xfrm>
        </p:spPr>
        <p:txBody>
          <a:bodyPr lIns="0" tIns="0" rIns="0" bIns="0">
            <a:spAutoFit/>
          </a:bodyPr>
          <a:lstStyle/>
          <a:p>
            <a:pPr marL="457200" indent="-457200">
              <a:buFont typeface="Arial" panose="020B0604020202020204" pitchFamily="34" charset="0"/>
              <a:buChar char="•"/>
            </a:pPr>
            <a:r>
              <a:rPr lang="en-US" sz="2400" dirty="0"/>
              <a:t>The role of the </a:t>
            </a:r>
            <a:r>
              <a:rPr lang="en-US" sz="2400" spc="-300" dirty="0"/>
              <a:t>E </a:t>
            </a:r>
            <a:r>
              <a:rPr lang="en-US" sz="2400" dirty="0"/>
              <a:t>R in protein synthesis was elucidated when </a:t>
            </a:r>
            <a:r>
              <a:rPr lang="en-US" sz="2400" i="1" dirty="0"/>
              <a:t>microsomes</a:t>
            </a:r>
            <a:r>
              <a:rPr lang="en-US" sz="2400" dirty="0"/>
              <a:t>, vesicles of rough </a:t>
            </a:r>
            <a:r>
              <a:rPr lang="en-US" sz="2400" spc="-300" dirty="0"/>
              <a:t>E </a:t>
            </a:r>
            <a:r>
              <a:rPr lang="en-US" sz="2400" dirty="0"/>
              <a:t>R, were isolated by subcellular fractionation and centrifugation.</a:t>
            </a:r>
          </a:p>
          <a:p>
            <a:pPr marL="457200" indent="-457200">
              <a:buFont typeface="Arial" panose="020B0604020202020204" pitchFamily="34" charset="0"/>
              <a:buChar char="•"/>
            </a:pPr>
            <a:r>
              <a:rPr lang="en-US" sz="2400" dirty="0"/>
              <a:t>The microsomes were incubated with components needed for protein synthesis, including radioactive amino acids. </a:t>
            </a:r>
          </a:p>
          <a:p>
            <a:pPr marL="457200" indent="-457200">
              <a:buFont typeface="Arial" panose="020B0604020202020204" pitchFamily="34" charset="0"/>
              <a:buChar char="•"/>
            </a:pPr>
            <a:r>
              <a:rPr lang="en-US" sz="2400" dirty="0"/>
              <a:t>Protein synthesis was stopped using </a:t>
            </a:r>
            <a:r>
              <a:rPr lang="en-US" sz="2400" i="1" dirty="0"/>
              <a:t>puromycin</a:t>
            </a:r>
            <a:r>
              <a:rPr lang="en-US" sz="2400" dirty="0"/>
              <a:t>, an antibiotic that causes partially completed polypeptides to be released from ribosomes. </a:t>
            </a:r>
          </a:p>
        </p:txBody>
      </p:sp>
    </p:spTree>
    <p:extLst>
      <p:ext uri="{BB962C8B-B14F-4D97-AF65-F5344CB8AC3E}">
        <p14:creationId xmlns:p14="http://schemas.microsoft.com/office/powerpoint/2010/main" val="231692254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74800"/>
            <a:ext cx="8302240" cy="1107996"/>
          </a:xfrm>
          <a:noFill/>
          <a:ln>
            <a:noFill/>
          </a:ln>
        </p:spPr>
        <p:txBody>
          <a:bodyPr wrap="square" lIns="0" tIns="0" rIns="0" bIns="0" anchor="ctr" anchorCtr="0">
            <a:spAutoFit/>
          </a:bodyPr>
          <a:lstStyle/>
          <a:p>
            <a:r>
              <a:rPr lang="en-US" sz="3600" dirty="0">
                <a:latin typeface="+mj-lt"/>
              </a:rPr>
              <a:t>The Role of the </a:t>
            </a:r>
            <a:r>
              <a:rPr lang="en-US" sz="3600" spc="-500" dirty="0">
                <a:latin typeface="+mj-lt"/>
              </a:rPr>
              <a:t>E </a:t>
            </a:r>
            <a:r>
              <a:rPr lang="en-US" sz="3600" dirty="0">
                <a:latin typeface="+mj-lt"/>
              </a:rPr>
              <a:t>R in Protein Synthesis </a:t>
            </a:r>
            <a:r>
              <a:rPr lang="en-US" sz="2800" dirty="0">
                <a:latin typeface="+mj-lt"/>
              </a:rPr>
              <a:t>(2 of 2)</a:t>
            </a: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563493"/>
            <a:ext cx="8302240" cy="2777683"/>
          </a:xfrm>
        </p:spPr>
        <p:txBody>
          <a:bodyPr lIns="0" tIns="0" rIns="0" bIns="0">
            <a:spAutoFit/>
          </a:bodyPr>
          <a:lstStyle/>
          <a:p>
            <a:pPr marL="457200" indent="-457200">
              <a:buFont typeface="Arial" panose="020B0604020202020204" pitchFamily="34" charset="0"/>
              <a:buChar char="•"/>
            </a:pPr>
            <a:r>
              <a:rPr lang="en-US" sz="2400" dirty="0"/>
              <a:t>The ribosomes and membrane vesicles were separated and many of the radioactive polypeptides were found in the vesicle. </a:t>
            </a:r>
          </a:p>
          <a:p>
            <a:pPr marL="457200" indent="-457200">
              <a:buFont typeface="Arial" panose="020B0604020202020204" pitchFamily="34" charset="0"/>
              <a:buChar char="•"/>
            </a:pPr>
            <a:r>
              <a:rPr lang="en-US" sz="2400" dirty="0"/>
              <a:t>Conclusion: newly formed polypeptides pass into the </a:t>
            </a:r>
            <a:r>
              <a:rPr lang="en-US" sz="2400" spc="-300" dirty="0"/>
              <a:t>E </a:t>
            </a:r>
            <a:r>
              <a:rPr lang="en-US" sz="2400" dirty="0"/>
              <a:t>R lumen </a:t>
            </a:r>
            <a:r>
              <a:rPr lang="en-US" sz="2400" i="1" dirty="0"/>
              <a:t>as they are being synthesized</a:t>
            </a:r>
            <a:r>
              <a:rPr lang="en-US" sz="2400" dirty="0"/>
              <a:t>. This allows the protein to be routed through the </a:t>
            </a:r>
            <a:r>
              <a:rPr lang="en-US" sz="2400" spc="-300" dirty="0"/>
              <a:t>E </a:t>
            </a:r>
            <a:r>
              <a:rPr lang="en-US" sz="2400" dirty="0"/>
              <a:t>R to the correct destination. </a:t>
            </a:r>
          </a:p>
        </p:txBody>
      </p:sp>
    </p:spTree>
    <p:extLst>
      <p:ext uri="{BB962C8B-B14F-4D97-AF65-F5344CB8AC3E}">
        <p14:creationId xmlns:p14="http://schemas.microsoft.com/office/powerpoint/2010/main" val="81087163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30565" y="189641"/>
            <a:ext cx="8269054" cy="1569660"/>
          </a:xfrm>
        </p:spPr>
        <p:txBody>
          <a:bodyPr lIns="0" tIns="0" rIns="0" bIns="0" anchor="ctr">
            <a:spAutoFit/>
          </a:bodyPr>
          <a:lstStyle/>
          <a:p>
            <a:r>
              <a:rPr lang="en-US" sz="3400" dirty="0"/>
              <a:t>Evidence That Proteins Synthesized on Ribosomes Attached to </a:t>
            </a:r>
            <a:r>
              <a:rPr lang="en-US" sz="3400" spc="-500" dirty="0"/>
              <a:t>E </a:t>
            </a:r>
            <a:r>
              <a:rPr lang="en-US" sz="3400" dirty="0"/>
              <a:t>R Membranes Pass Directly into the </a:t>
            </a:r>
            <a:r>
              <a:rPr lang="en-US" sz="3400" spc="-500" dirty="0"/>
              <a:t>E </a:t>
            </a:r>
            <a:r>
              <a:rPr lang="en-US" sz="3400" dirty="0"/>
              <a:t>R Lumen</a:t>
            </a:r>
          </a:p>
        </p:txBody>
      </p:sp>
      <p:sp>
        <p:nvSpPr>
          <p:cNvPr id="6" name="Content Placeholder 5"/>
          <p:cNvSpPr>
            <a:spLocks noGrp="1"/>
          </p:cNvSpPr>
          <p:nvPr>
            <p:ph sz="quarter" idx="15"/>
          </p:nvPr>
        </p:nvSpPr>
        <p:spPr>
          <a:xfrm>
            <a:off x="421689" y="2007052"/>
            <a:ext cx="8267901" cy="1107996"/>
          </a:xfrm>
        </p:spPr>
        <p:txBody>
          <a:bodyPr wrap="square" lIns="0" tIns="0" rIns="0" bIns="0">
            <a:spAutoFit/>
          </a:bodyPr>
          <a:lstStyle/>
          <a:p>
            <a:pPr marL="0" indent="0">
              <a:buNone/>
            </a:pPr>
            <a:r>
              <a:rPr lang="en-US" sz="2400" b="1" dirty="0"/>
              <a:t>Figure 12.9 </a:t>
            </a:r>
            <a:r>
              <a:rPr lang="en-US" sz="2400" dirty="0"/>
              <a:t>Evidence That Proteins Synthesized on Ribosomes Attached to </a:t>
            </a:r>
            <a:r>
              <a:rPr lang="en-US" sz="2400" spc="-250" dirty="0"/>
              <a:t>E R</a:t>
            </a:r>
            <a:r>
              <a:rPr lang="en-US" sz="2400" dirty="0"/>
              <a:t> Membranes Pass Directly into the </a:t>
            </a:r>
            <a:r>
              <a:rPr lang="en-US" sz="2400" spc="-250" dirty="0"/>
              <a:t>E </a:t>
            </a:r>
            <a:r>
              <a:rPr lang="en-US" sz="2400" dirty="0"/>
              <a:t>R Lumen.</a:t>
            </a:r>
          </a:p>
        </p:txBody>
      </p:sp>
      <p:pic>
        <p:nvPicPr>
          <p:cNvPr id="4" name="Picture Placeholder 3" descr="A graph shows radioactivity in protein in ribosomes and the contents of vesicles over time. When puromycin is added, the radioactivity in protein shows a higher spike in ribosomes than the contents of vesicles.&#10;Long description is available in notes, press F6"/>
          <p:cNvPicPr>
            <a:picLocks noGrp="1" noChangeAspect="1"/>
          </p:cNvPicPr>
          <p:nvPr>
            <p:ph type="pic" sz="quarter" idx="16"/>
          </p:nvPr>
        </p:nvPicPr>
        <p:blipFill rotWithShape="1">
          <a:blip r:embed="rId3" cstate="print">
            <a:extLst>
              <a:ext uri="{28A0092B-C50C-407E-A947-70E740481C1C}">
                <a14:useLocalDpi xmlns:a14="http://schemas.microsoft.com/office/drawing/2010/main" val="0"/>
              </a:ext>
            </a:extLst>
          </a:blip>
          <a:srcRect b="2462"/>
          <a:stretch/>
        </p:blipFill>
        <p:spPr>
          <a:xfrm>
            <a:off x="3086893" y="3248543"/>
            <a:ext cx="2970214" cy="3156400"/>
          </a:xfrm>
        </p:spPr>
      </p:pic>
    </p:spTree>
    <p:extLst>
      <p:ext uri="{BB962C8B-B14F-4D97-AF65-F5344CB8AC3E}">
        <p14:creationId xmlns:p14="http://schemas.microsoft.com/office/powerpoint/2010/main" val="178235015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82094"/>
            <a:ext cx="8302240" cy="553998"/>
          </a:xfrm>
        </p:spPr>
        <p:txBody>
          <a:bodyPr wrap="square" lIns="0" tIns="0" rIns="0" bIns="0" anchor="ctr">
            <a:spAutoFit/>
          </a:bodyPr>
          <a:lstStyle/>
          <a:p>
            <a:r>
              <a:rPr lang="en-US" sz="3600" dirty="0">
                <a:latin typeface="+mj-lt"/>
              </a:rPr>
              <a:t>Signal Hypothesis</a:t>
            </a: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063575"/>
            <a:ext cx="8302240" cy="3339376"/>
          </a:xfrm>
        </p:spPr>
        <p:txBody>
          <a:bodyPr lIns="0" tIns="0" rIns="0" bIns="0">
            <a:spAutoFit/>
          </a:bodyPr>
          <a:lstStyle/>
          <a:p>
            <a:pPr marL="457200" indent="-457200">
              <a:buFont typeface="Arial" panose="020B0604020202020204" pitchFamily="34" charset="0"/>
              <a:buChar char="•"/>
            </a:pPr>
            <a:r>
              <a:rPr lang="en-US" sz="2400" i="1" dirty="0"/>
              <a:t>Signal</a:t>
            </a:r>
            <a:r>
              <a:rPr lang="en-US" sz="2400" dirty="0"/>
              <a:t> </a:t>
            </a:r>
            <a:r>
              <a:rPr lang="en-US" sz="2400" i="1" dirty="0"/>
              <a:t>hypothesis</a:t>
            </a:r>
            <a:r>
              <a:rPr lang="en-US" sz="2400" dirty="0"/>
              <a:t>: for polypeptides destined for the </a:t>
            </a:r>
            <a:r>
              <a:rPr lang="en-US" sz="2400" spc="-300" dirty="0"/>
              <a:t>E </a:t>
            </a:r>
            <a:r>
              <a:rPr lang="en-US" sz="2400" dirty="0"/>
              <a:t>R, the N-terminus contains an </a:t>
            </a:r>
            <a:r>
              <a:rPr lang="en-US" sz="2400" b="1" spc="-300" dirty="0"/>
              <a:t>E </a:t>
            </a:r>
            <a:r>
              <a:rPr lang="en-US" sz="2400" b="1" dirty="0"/>
              <a:t>R signal sequence </a:t>
            </a:r>
            <a:r>
              <a:rPr lang="en-US" sz="2400" dirty="0"/>
              <a:t>that directs ribosome</a:t>
            </a:r>
            <a:r>
              <a:rPr lang="en-US" sz="2400" dirty="0">
                <a:solidFill>
                  <a:schemeClr val="tx1"/>
                </a:solidFill>
              </a:rPr>
              <a:t>-mRNA</a:t>
            </a:r>
            <a:r>
              <a:rPr lang="en-US" sz="2400" dirty="0"/>
              <a:t>-polypeptide complexes to the surface of the rough </a:t>
            </a:r>
            <a:r>
              <a:rPr lang="en-US" sz="2400" spc="-300" dirty="0"/>
              <a:t>E </a:t>
            </a:r>
            <a:r>
              <a:rPr lang="en-US" sz="2400" dirty="0"/>
              <a:t>R. </a:t>
            </a:r>
          </a:p>
          <a:p>
            <a:pPr marL="457200" indent="-457200">
              <a:buFont typeface="Arial" panose="020B0604020202020204" pitchFamily="34" charset="0"/>
              <a:buChar char="•"/>
            </a:pPr>
            <a:r>
              <a:rPr lang="en-US" sz="2400" dirty="0"/>
              <a:t>Then as the polypeptide chain elongates, it progressively crosses the </a:t>
            </a:r>
            <a:r>
              <a:rPr lang="en-US" sz="2400" spc="-300" dirty="0"/>
              <a:t>E </a:t>
            </a:r>
            <a:r>
              <a:rPr lang="en-US" sz="2400" dirty="0"/>
              <a:t>R membrane and enters the </a:t>
            </a:r>
            <a:r>
              <a:rPr lang="en-US" sz="2400" spc="-300" dirty="0"/>
              <a:t>E </a:t>
            </a:r>
            <a:r>
              <a:rPr lang="en-US" sz="2400" dirty="0"/>
              <a:t>R lumen. </a:t>
            </a:r>
          </a:p>
          <a:p>
            <a:pPr marL="457200" indent="-457200">
              <a:buFont typeface="Arial" panose="020B0604020202020204" pitchFamily="34" charset="0"/>
              <a:buChar char="•"/>
            </a:pPr>
            <a:r>
              <a:rPr lang="en-US" sz="2400" dirty="0"/>
              <a:t>Proteins containing the </a:t>
            </a:r>
            <a:r>
              <a:rPr lang="en-US" sz="2400" spc="-300" dirty="0"/>
              <a:t>E </a:t>
            </a:r>
            <a:r>
              <a:rPr lang="en-US" sz="2400" dirty="0"/>
              <a:t>R signal sequences are often called </a:t>
            </a:r>
            <a:r>
              <a:rPr lang="en-US" sz="2400" i="1" dirty="0">
                <a:solidFill>
                  <a:schemeClr val="tx1"/>
                </a:solidFill>
              </a:rPr>
              <a:t>preproteins</a:t>
            </a:r>
            <a:r>
              <a:rPr lang="en-US" sz="2400" dirty="0">
                <a:solidFill>
                  <a:srgbClr val="FF0000"/>
                </a:solidFill>
              </a:rPr>
              <a:t> </a:t>
            </a:r>
            <a:r>
              <a:rPr lang="en-US" sz="2400" dirty="0"/>
              <a:t>(prelysozyme or preproinsulin). </a:t>
            </a:r>
          </a:p>
        </p:txBody>
      </p:sp>
    </p:spTree>
    <p:extLst>
      <p:ext uri="{BB962C8B-B14F-4D97-AF65-F5344CB8AC3E}">
        <p14:creationId xmlns:p14="http://schemas.microsoft.com/office/powerpoint/2010/main" val="398359889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83130"/>
            <a:ext cx="8302240" cy="553998"/>
          </a:xfrm>
        </p:spPr>
        <p:txBody>
          <a:bodyPr lIns="0" tIns="0" rIns="0" bIns="0" anchor="ctr">
            <a:spAutoFit/>
          </a:bodyPr>
          <a:lstStyle/>
          <a:p>
            <a:r>
              <a:rPr lang="en-US" sz="3600" dirty="0">
                <a:latin typeface="+mj-lt"/>
              </a:rPr>
              <a:t>E</a:t>
            </a:r>
            <a:r>
              <a:rPr lang="en-US" sz="3600" spc="-500" dirty="0">
                <a:latin typeface="+mj-lt"/>
              </a:rPr>
              <a:t> </a:t>
            </a:r>
            <a:r>
              <a:rPr lang="en-US" sz="3600" dirty="0">
                <a:latin typeface="+mj-lt"/>
              </a:rPr>
              <a:t>R Signaling Sequences</a:t>
            </a:r>
            <a:endParaRPr lang="en-US" sz="2400" dirty="0">
              <a:latin typeface="+mj-lt"/>
            </a:endParaRP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067654"/>
            <a:ext cx="8302240" cy="3300904"/>
          </a:xfrm>
          <a:noFill/>
          <a:ln>
            <a:noFill/>
          </a:ln>
        </p:spPr>
        <p:txBody>
          <a:bodyPr lIns="0" tIns="0" rIns="0" bIns="0" anchor="t" anchorCtr="0">
            <a:spAutoFit/>
          </a:bodyPr>
          <a:lstStyle/>
          <a:p>
            <a:pPr marL="342900" indent="-342900"/>
            <a:r>
              <a:rPr lang="en-US" sz="2400" dirty="0"/>
              <a:t>Amino acid sequence is variable but has some unifying factors:</a:t>
            </a:r>
          </a:p>
          <a:p>
            <a:pPr marL="829818" lvl="1" indent="-342900"/>
            <a:r>
              <a:rPr lang="en-US" sz="2400" dirty="0"/>
              <a:t>15</a:t>
            </a:r>
            <a:r>
              <a:rPr lang="en-US" sz="2400" b="1" dirty="0"/>
              <a:t>–</a:t>
            </a:r>
            <a:r>
              <a:rPr lang="en-US" sz="2400" dirty="0"/>
              <a:t>30 amino acids long</a:t>
            </a:r>
          </a:p>
          <a:p>
            <a:pPr marL="829818" lvl="1" indent="-342900"/>
            <a:r>
              <a:rPr lang="en-US" sz="2400" dirty="0"/>
              <a:t>Three domains: a positively charged N-terminal region, a central hydrophobic region, and a polar region next to the cleavage site.</a:t>
            </a:r>
          </a:p>
          <a:p>
            <a:pPr marL="342900" indent="-342900"/>
            <a:r>
              <a:rPr lang="en-US" sz="2400" dirty="0"/>
              <a:t>The </a:t>
            </a:r>
            <a:r>
              <a:rPr lang="en-US" sz="2400" spc="-300" dirty="0"/>
              <a:t>E </a:t>
            </a:r>
            <a:r>
              <a:rPr lang="en-US" sz="2400" dirty="0"/>
              <a:t>R signaling sequence must be present for the polypeptide to be inserted into or across the membrane.</a:t>
            </a:r>
          </a:p>
        </p:txBody>
      </p:sp>
    </p:spTree>
    <p:extLst>
      <p:ext uri="{BB962C8B-B14F-4D97-AF65-F5344CB8AC3E}">
        <p14:creationId xmlns:p14="http://schemas.microsoft.com/office/powerpoint/2010/main" val="386448509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30565" y="221291"/>
            <a:ext cx="8269054" cy="1477328"/>
          </a:xfrm>
        </p:spPr>
        <p:txBody>
          <a:bodyPr lIns="0" tIns="0" rIns="0" bIns="0" anchor="ctr">
            <a:spAutoFit/>
          </a:bodyPr>
          <a:lstStyle/>
          <a:p>
            <a:r>
              <a:rPr lang="en-US" sz="3200" dirty="0"/>
              <a:t>Evidence That Cotranslational Insertion into the </a:t>
            </a:r>
            <a:r>
              <a:rPr lang="en-US" sz="3200" spc="-500" dirty="0"/>
              <a:t>E </a:t>
            </a:r>
            <a:r>
              <a:rPr lang="en-US" sz="3200" dirty="0"/>
              <a:t>R Is Required for Normal Processing of Secreted Proteins</a:t>
            </a:r>
          </a:p>
        </p:txBody>
      </p:sp>
      <p:sp>
        <p:nvSpPr>
          <p:cNvPr id="6" name="Content Placeholder 5"/>
          <p:cNvSpPr>
            <a:spLocks noGrp="1"/>
          </p:cNvSpPr>
          <p:nvPr>
            <p:ph sz="quarter" idx="15"/>
          </p:nvPr>
        </p:nvSpPr>
        <p:spPr>
          <a:xfrm>
            <a:off x="421690" y="1880648"/>
            <a:ext cx="3954368" cy="1846659"/>
          </a:xfrm>
        </p:spPr>
        <p:txBody>
          <a:bodyPr wrap="square" lIns="0" tIns="0" rIns="0" bIns="0">
            <a:spAutoFit/>
          </a:bodyPr>
          <a:lstStyle/>
          <a:p>
            <a:pPr marL="0" indent="0">
              <a:buNone/>
            </a:pPr>
            <a:r>
              <a:rPr lang="en-US" sz="2400" b="1" dirty="0"/>
              <a:t>Figure 12.10 </a:t>
            </a:r>
            <a:r>
              <a:rPr lang="en-US" sz="2400" dirty="0"/>
              <a:t>Evidence That Cotranslational Insertion into the </a:t>
            </a:r>
            <a:r>
              <a:rPr lang="en-US" sz="2400" spc="-250" dirty="0"/>
              <a:t>E R</a:t>
            </a:r>
            <a:r>
              <a:rPr lang="en-US" sz="2400" dirty="0"/>
              <a:t> Is Required for Normal Processing of Secreted Proteins. </a:t>
            </a:r>
          </a:p>
        </p:txBody>
      </p:sp>
      <p:pic>
        <p:nvPicPr>
          <p:cNvPr id="5" name="Picture Placeholder 4" descr="Illustrations on microsome-free ribosomes and microsomes present.&#10;Long description is available in notes, press F6"/>
          <p:cNvPicPr>
            <a:picLocks noGrp="1" noChangeAspect="1"/>
          </p:cNvPicPr>
          <p:nvPr>
            <p:ph type="pic" sz="quarter" idx="16"/>
          </p:nvPr>
        </p:nvPicPr>
        <p:blipFill rotWithShape="1">
          <a:blip r:embed="rId3" cstate="print">
            <a:extLst>
              <a:ext uri="{28A0092B-C50C-407E-A947-70E740481C1C}">
                <a14:useLocalDpi xmlns:a14="http://schemas.microsoft.com/office/drawing/2010/main" val="0"/>
              </a:ext>
            </a:extLst>
          </a:blip>
          <a:srcRect b="2178"/>
          <a:stretch/>
        </p:blipFill>
        <p:spPr>
          <a:xfrm>
            <a:off x="4659536" y="1871865"/>
            <a:ext cx="4031169" cy="3791564"/>
          </a:xfrm>
        </p:spPr>
      </p:pic>
    </p:spTree>
    <p:extLst>
      <p:ext uri="{BB962C8B-B14F-4D97-AF65-F5344CB8AC3E}">
        <p14:creationId xmlns:p14="http://schemas.microsoft.com/office/powerpoint/2010/main" val="102314333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218373"/>
            <a:ext cx="8293694" cy="1477328"/>
          </a:xfrm>
        </p:spPr>
        <p:txBody>
          <a:bodyPr lIns="0" tIns="0" rIns="0" bIns="0" anchor="ctr">
            <a:spAutoFit/>
          </a:bodyPr>
          <a:lstStyle/>
          <a:p>
            <a:r>
              <a:rPr lang="en-US" sz="3200" dirty="0">
                <a:latin typeface="+mj-lt"/>
              </a:rPr>
              <a:t>The Signal Recognition Particle (</a:t>
            </a:r>
            <a:r>
              <a:rPr lang="en-US" sz="3200" spc="-500" dirty="0">
                <a:latin typeface="+mj-lt"/>
              </a:rPr>
              <a:t>S R </a:t>
            </a:r>
            <a:r>
              <a:rPr lang="en-US" sz="3200" dirty="0">
                <a:latin typeface="+mj-lt"/>
              </a:rPr>
              <a:t>P) Attaches the Ribosome-</a:t>
            </a:r>
            <a:r>
              <a:rPr lang="en-US" sz="3200" spc="-500" dirty="0">
                <a:latin typeface="+mj-lt"/>
              </a:rPr>
              <a:t>m R N </a:t>
            </a:r>
            <a:r>
              <a:rPr lang="en-US" sz="3200" dirty="0">
                <a:latin typeface="+mj-lt"/>
              </a:rPr>
              <a:t>A-Polypeptide Complex to the </a:t>
            </a:r>
            <a:r>
              <a:rPr lang="en-US" sz="3200" spc="-500" dirty="0">
                <a:latin typeface="+mj-lt"/>
              </a:rPr>
              <a:t>E </a:t>
            </a:r>
            <a:r>
              <a:rPr lang="en-US" sz="3200" dirty="0">
                <a:latin typeface="+mj-lt"/>
              </a:rPr>
              <a:t>R Membrane</a:t>
            </a: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940505"/>
            <a:ext cx="8293694" cy="2600712"/>
          </a:xfrm>
        </p:spPr>
        <p:txBody>
          <a:bodyPr lIns="0" tIns="0" rIns="0" bIns="0">
            <a:spAutoFit/>
          </a:bodyPr>
          <a:lstStyle/>
          <a:p>
            <a:pPr marL="342900" indent="-342900"/>
            <a:r>
              <a:rPr lang="en-US" sz="2400" dirty="0"/>
              <a:t>The </a:t>
            </a:r>
            <a:r>
              <a:rPr lang="en-US" sz="2400" spc="-300" dirty="0"/>
              <a:t>E </a:t>
            </a:r>
            <a:r>
              <a:rPr lang="en-US" sz="2400" dirty="0"/>
              <a:t>R signal sequence does not initiate contact of the ribosome with the </a:t>
            </a:r>
            <a:r>
              <a:rPr lang="en-US" sz="2400" spc="-300" dirty="0"/>
              <a:t>E </a:t>
            </a:r>
            <a:r>
              <a:rPr lang="en-US" sz="2400" dirty="0"/>
              <a:t>R. </a:t>
            </a:r>
          </a:p>
          <a:p>
            <a:pPr marL="342900" indent="-342900"/>
            <a:r>
              <a:rPr lang="en-US" sz="2400" dirty="0"/>
              <a:t>Contact of the ribosome with the </a:t>
            </a:r>
            <a:r>
              <a:rPr lang="en-US" sz="2400" spc="-300" dirty="0"/>
              <a:t>E </a:t>
            </a:r>
            <a:r>
              <a:rPr lang="en-US" sz="2400" dirty="0"/>
              <a:t>R is mediated by the </a:t>
            </a:r>
            <a:r>
              <a:rPr lang="en-US" sz="2400" b="1" dirty="0"/>
              <a:t>signal</a:t>
            </a:r>
            <a:r>
              <a:rPr lang="en-US" sz="2400" dirty="0"/>
              <a:t> </a:t>
            </a:r>
            <a:r>
              <a:rPr lang="en-US" sz="2400" b="1" dirty="0"/>
              <a:t>recognition</a:t>
            </a:r>
            <a:r>
              <a:rPr lang="en-US" sz="2400" dirty="0"/>
              <a:t> </a:t>
            </a:r>
            <a:r>
              <a:rPr lang="en-US" sz="2400" b="1" dirty="0"/>
              <a:t>particle</a:t>
            </a:r>
            <a:r>
              <a:rPr lang="en-US" sz="2400" dirty="0"/>
              <a:t> </a:t>
            </a:r>
            <a:r>
              <a:rPr lang="en-US" sz="2400" b="1" dirty="0">
                <a:solidFill>
                  <a:schemeClr val="tx1"/>
                </a:solidFill>
              </a:rPr>
              <a:t>(</a:t>
            </a:r>
            <a:r>
              <a:rPr lang="en-US" sz="2400" b="1" spc="-300" dirty="0"/>
              <a:t>S R </a:t>
            </a:r>
            <a:r>
              <a:rPr lang="en-US" sz="2400" b="1" dirty="0"/>
              <a:t>P</a:t>
            </a:r>
            <a:r>
              <a:rPr lang="en-US" sz="2400" b="1" dirty="0">
                <a:solidFill>
                  <a:schemeClr val="tx1"/>
                </a:solidFill>
              </a:rPr>
              <a:t>)</a:t>
            </a:r>
            <a:r>
              <a:rPr lang="en-US" sz="2400" dirty="0"/>
              <a:t>. </a:t>
            </a:r>
          </a:p>
          <a:p>
            <a:pPr marL="342900" indent="-342900"/>
            <a:r>
              <a:rPr lang="en-US" sz="2400" dirty="0"/>
              <a:t>The </a:t>
            </a:r>
            <a:r>
              <a:rPr lang="en-US" sz="2400" spc="-300" dirty="0"/>
              <a:t>S R </a:t>
            </a:r>
            <a:r>
              <a:rPr lang="en-US" sz="2400" dirty="0"/>
              <a:t>P recognizes and binds to the </a:t>
            </a:r>
            <a:r>
              <a:rPr lang="en-US" sz="2400" spc="-300" dirty="0"/>
              <a:t>E </a:t>
            </a:r>
            <a:r>
              <a:rPr lang="en-US" sz="2400" dirty="0"/>
              <a:t>R signal sequence and then binds to the </a:t>
            </a:r>
            <a:r>
              <a:rPr lang="en-US" sz="2400" spc="-300" dirty="0"/>
              <a:t>E </a:t>
            </a:r>
            <a:r>
              <a:rPr lang="en-US" sz="2400" dirty="0"/>
              <a:t>R membrane. </a:t>
            </a:r>
          </a:p>
        </p:txBody>
      </p:sp>
    </p:spTree>
    <p:extLst>
      <p:ext uri="{BB962C8B-B14F-4D97-AF65-F5344CB8AC3E}">
        <p14:creationId xmlns:p14="http://schemas.microsoft.com/office/powerpoint/2010/main" val="134591923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9904" y="176300"/>
            <a:ext cx="8229600" cy="1107996"/>
          </a:xfrm>
        </p:spPr>
        <p:txBody>
          <a:bodyPr lIns="0" tIns="0" rIns="0" bIns="0" anchor="ctr">
            <a:spAutoFit/>
          </a:bodyPr>
          <a:lstStyle/>
          <a:p>
            <a:r>
              <a:rPr lang="en-US" dirty="0"/>
              <a:t>The </a:t>
            </a:r>
            <a:r>
              <a:rPr lang="en-US" spc="-500" dirty="0"/>
              <a:t>S R </a:t>
            </a:r>
            <a:r>
              <a:rPr lang="en-US" dirty="0"/>
              <a:t>P Mechanism of Cotranslational Import</a:t>
            </a:r>
          </a:p>
        </p:txBody>
      </p:sp>
      <p:sp>
        <p:nvSpPr>
          <p:cNvPr id="3" name="Content Placeholder 2"/>
          <p:cNvSpPr>
            <a:spLocks noGrp="1"/>
          </p:cNvSpPr>
          <p:nvPr>
            <p:ph sz="quarter" idx="13"/>
          </p:nvPr>
        </p:nvSpPr>
        <p:spPr>
          <a:xfrm>
            <a:off x="457200" y="1574800"/>
            <a:ext cx="8229600" cy="1107996"/>
          </a:xfrm>
          <a:noFill/>
          <a:ln>
            <a:noFill/>
          </a:ln>
        </p:spPr>
        <p:txBody>
          <a:bodyPr wrap="square" lIns="0" tIns="0" rIns="0" bIns="0" anchor="t" anchorCtr="0">
            <a:spAutoFit/>
          </a:bodyPr>
          <a:lstStyle/>
          <a:p>
            <a:pPr marL="342900" lvl="1" indent="-342900">
              <a:buFont typeface="Arial" panose="020B0604020202020204" pitchFamily="34" charset="0"/>
              <a:buChar char="•"/>
            </a:pPr>
            <a:r>
              <a:rPr lang="en-US" sz="2400" spc="-300" dirty="0"/>
              <a:t>m R N </a:t>
            </a:r>
            <a:r>
              <a:rPr lang="en-US" sz="2400" dirty="0"/>
              <a:t>A binds to a free ribosome. The polypeptide is synthesized until the </a:t>
            </a:r>
            <a:r>
              <a:rPr lang="en-US" sz="2400" spc="-300" dirty="0"/>
              <a:t>E </a:t>
            </a:r>
            <a:r>
              <a:rPr lang="en-US" sz="2400" dirty="0"/>
              <a:t>R signal sequence has been formed. </a:t>
            </a: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4294967295"/>
          </p:nvPr>
        </p:nvSpPr>
        <p:spPr>
          <a:xfrm>
            <a:off x="456252" y="2824140"/>
            <a:ext cx="8229600" cy="2854628"/>
          </a:xfrm>
        </p:spPr>
        <p:txBody>
          <a:bodyPr lIns="0" tIns="0" rIns="0" bIns="0">
            <a:spAutoFit/>
          </a:bodyPr>
          <a:lstStyle/>
          <a:p>
            <a:pPr marL="457200" indent="-457200">
              <a:buFont typeface="+mj-lt"/>
              <a:buAutoNum type="arabicPeriod"/>
            </a:pPr>
            <a:r>
              <a:rPr lang="en-US" sz="2400" spc="-300" dirty="0"/>
              <a:t>S R </a:t>
            </a:r>
            <a:r>
              <a:rPr lang="en-US" sz="2400" dirty="0"/>
              <a:t>P binds the </a:t>
            </a:r>
            <a:r>
              <a:rPr lang="en-US" sz="2400" spc="-300" dirty="0"/>
              <a:t>E </a:t>
            </a:r>
            <a:r>
              <a:rPr lang="en-US" sz="2400" dirty="0"/>
              <a:t>R signal sequence and blocks translation. </a:t>
            </a:r>
          </a:p>
          <a:p>
            <a:pPr marL="457200" indent="-457200">
              <a:buFont typeface="+mj-lt"/>
              <a:buAutoNum type="arabicPeriod"/>
            </a:pPr>
            <a:r>
              <a:rPr lang="en-US" sz="2400" dirty="0"/>
              <a:t>The </a:t>
            </a:r>
            <a:r>
              <a:rPr lang="en-US" sz="2400" spc="-300" dirty="0"/>
              <a:t>S R </a:t>
            </a:r>
            <a:r>
              <a:rPr lang="en-US" sz="2400" dirty="0"/>
              <a:t>P binds the ribosome to a </a:t>
            </a:r>
            <a:r>
              <a:rPr lang="en-US" sz="2400" b="1" dirty="0"/>
              <a:t>translocon</a:t>
            </a:r>
            <a:r>
              <a:rPr lang="en-US" sz="2400" dirty="0"/>
              <a:t> in the </a:t>
            </a:r>
            <a:r>
              <a:rPr lang="en-US" sz="2400" spc="-300" dirty="0"/>
              <a:t>E </a:t>
            </a:r>
            <a:r>
              <a:rPr lang="en-US" sz="2400" dirty="0"/>
              <a:t>R membrane. </a:t>
            </a:r>
          </a:p>
          <a:p>
            <a:pPr marL="944118" lvl="1" indent="-457200">
              <a:buFont typeface="+mj-lt"/>
              <a:buAutoNum type="arabicPeriod"/>
            </a:pPr>
            <a:r>
              <a:rPr lang="en-US" sz="2400" dirty="0"/>
              <a:t>A translocon is a structure in the </a:t>
            </a:r>
            <a:r>
              <a:rPr lang="en-US" sz="2400" spc="-300" dirty="0"/>
              <a:t>E </a:t>
            </a:r>
            <a:r>
              <a:rPr lang="en-US" sz="2400" dirty="0"/>
              <a:t>R membrane that is responsible for the translocation of polypeptides across the </a:t>
            </a:r>
            <a:r>
              <a:rPr lang="en-US" sz="2400" spc="-300" dirty="0"/>
              <a:t>E </a:t>
            </a:r>
            <a:r>
              <a:rPr lang="en-US" sz="2400" dirty="0"/>
              <a:t>R membrane. </a:t>
            </a:r>
          </a:p>
        </p:txBody>
      </p:sp>
    </p:spTree>
    <p:extLst>
      <p:ext uri="{BB962C8B-B14F-4D97-AF65-F5344CB8AC3E}">
        <p14:creationId xmlns:p14="http://schemas.microsoft.com/office/powerpoint/2010/main" val="289968510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9904" y="173323"/>
            <a:ext cx="8229600" cy="1107996"/>
          </a:xfrm>
        </p:spPr>
        <p:txBody>
          <a:bodyPr lIns="0" tIns="0" rIns="0" bIns="0" anchor="ctr">
            <a:spAutoFit/>
          </a:bodyPr>
          <a:lstStyle/>
          <a:p>
            <a:r>
              <a:rPr lang="en-US" dirty="0"/>
              <a:t>The </a:t>
            </a:r>
            <a:r>
              <a:rPr lang="en-US" spc="-500" dirty="0"/>
              <a:t>S R </a:t>
            </a:r>
            <a:r>
              <a:rPr lang="en-US" dirty="0"/>
              <a:t>P Mechanism of Cotranslational Import: Step 1</a:t>
            </a:r>
            <a:endParaRPr lang="en-US" sz="2800" dirty="0"/>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4294967295"/>
          </p:nvPr>
        </p:nvSpPr>
        <p:spPr>
          <a:xfrm>
            <a:off x="456252" y="1571446"/>
            <a:ext cx="8229600" cy="1107996"/>
          </a:xfrm>
        </p:spPr>
        <p:txBody>
          <a:bodyPr lIns="0" tIns="0" rIns="0" bIns="0">
            <a:spAutoFit/>
          </a:bodyPr>
          <a:lstStyle/>
          <a:p>
            <a:pPr marL="342900" indent="-342900"/>
            <a:r>
              <a:rPr lang="en-US" sz="2400" spc="-300" dirty="0"/>
              <a:t>m R N </a:t>
            </a:r>
            <a:r>
              <a:rPr lang="en-US" sz="2400" dirty="0"/>
              <a:t>A binds to a free ribosome. The polypeptide is synthesized until the </a:t>
            </a:r>
            <a:r>
              <a:rPr lang="en-US" sz="2400" spc="-300" dirty="0"/>
              <a:t>E </a:t>
            </a:r>
            <a:r>
              <a:rPr lang="en-US" sz="2400" dirty="0"/>
              <a:t>R signal sequence has been formed. </a:t>
            </a:r>
          </a:p>
        </p:txBody>
      </p:sp>
      <p:sp>
        <p:nvSpPr>
          <p:cNvPr id="3" name="Content Placeholder 2"/>
          <p:cNvSpPr>
            <a:spLocks noGrp="1"/>
          </p:cNvSpPr>
          <p:nvPr>
            <p:ph sz="quarter" idx="13"/>
          </p:nvPr>
        </p:nvSpPr>
        <p:spPr>
          <a:xfrm>
            <a:off x="457200" y="2820169"/>
            <a:ext cx="8229600" cy="738664"/>
          </a:xfrm>
          <a:noFill/>
          <a:ln>
            <a:noFill/>
          </a:ln>
        </p:spPr>
        <p:txBody>
          <a:bodyPr wrap="square" lIns="0" tIns="0" rIns="0" bIns="0" anchor="t" anchorCtr="0">
            <a:spAutoFit/>
          </a:bodyPr>
          <a:lstStyle/>
          <a:p>
            <a:pPr marL="457200" indent="-457200">
              <a:buFont typeface="+mj-lt"/>
              <a:buAutoNum type="arabicPeriod"/>
            </a:pPr>
            <a:r>
              <a:rPr lang="en-US" sz="2400" spc="-300" dirty="0"/>
              <a:t>S R </a:t>
            </a:r>
            <a:r>
              <a:rPr lang="en-US" sz="2400" dirty="0"/>
              <a:t>P binds the </a:t>
            </a:r>
            <a:r>
              <a:rPr lang="en-US" sz="2400" spc="-300" dirty="0"/>
              <a:t>E </a:t>
            </a:r>
            <a:r>
              <a:rPr lang="en-US" sz="2400" dirty="0"/>
              <a:t>R signal sequence and blocks translation. </a:t>
            </a:r>
          </a:p>
        </p:txBody>
      </p:sp>
      <p:sp>
        <p:nvSpPr>
          <p:cNvPr id="6" name="Content Placeholder 5"/>
          <p:cNvSpPr>
            <a:spLocks noGrp="1"/>
          </p:cNvSpPr>
          <p:nvPr>
            <p:ph sz="quarter" idx="14"/>
          </p:nvPr>
        </p:nvSpPr>
        <p:spPr>
          <a:xfrm>
            <a:off x="457201" y="3736465"/>
            <a:ext cx="8229599" cy="1477328"/>
          </a:xfrm>
          <a:noFill/>
          <a:ln>
            <a:noFill/>
          </a:ln>
        </p:spPr>
        <p:txBody>
          <a:bodyPr wrap="square" lIns="0" tIns="0" rIns="0" bIns="0" anchor="t" anchorCtr="0">
            <a:spAutoFit/>
          </a:bodyPr>
          <a:lstStyle/>
          <a:p>
            <a:pPr marL="457200" indent="-457200">
              <a:buFont typeface="Arial" panose="020B0604020202020204" pitchFamily="34" charset="0"/>
              <a:buChar char="•"/>
            </a:pPr>
            <a:r>
              <a:rPr lang="en-US" sz="2400" dirty="0"/>
              <a:t>The </a:t>
            </a:r>
            <a:r>
              <a:rPr lang="en-US" sz="2400" spc="-300" dirty="0"/>
              <a:t>S R </a:t>
            </a:r>
            <a:r>
              <a:rPr lang="en-US" sz="2400" dirty="0"/>
              <a:t>P binds the ribosome to a </a:t>
            </a:r>
            <a:r>
              <a:rPr lang="en-US" sz="2400" b="1" dirty="0"/>
              <a:t>translocon</a:t>
            </a:r>
            <a:r>
              <a:rPr lang="en-US" sz="2400" dirty="0"/>
              <a:t> in the </a:t>
            </a:r>
            <a:r>
              <a:rPr lang="en-US" sz="2400" spc="-300" dirty="0"/>
              <a:t>E </a:t>
            </a:r>
            <a:r>
              <a:rPr lang="en-US" sz="2400" dirty="0"/>
              <a:t>R membrane, a structure in the </a:t>
            </a:r>
            <a:r>
              <a:rPr lang="en-US" sz="2400" spc="-300" dirty="0"/>
              <a:t>E </a:t>
            </a:r>
            <a:r>
              <a:rPr lang="en-US" sz="2400" dirty="0"/>
              <a:t>R membrane that is responsible for the translocation of polypeptides across the </a:t>
            </a:r>
            <a:r>
              <a:rPr lang="en-US" sz="2400" spc="-300" dirty="0"/>
              <a:t>E </a:t>
            </a:r>
            <a:r>
              <a:rPr lang="en-US" sz="2400" dirty="0"/>
              <a:t>R membrane. </a:t>
            </a:r>
            <a:endParaRPr lang="en-IN" sz="2400" dirty="0"/>
          </a:p>
        </p:txBody>
      </p:sp>
    </p:spTree>
    <p:extLst>
      <p:ext uri="{BB962C8B-B14F-4D97-AF65-F5344CB8AC3E}">
        <p14:creationId xmlns:p14="http://schemas.microsoft.com/office/powerpoint/2010/main" val="415217297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36664" y="179900"/>
            <a:ext cx="8293694" cy="1538883"/>
          </a:xfrm>
        </p:spPr>
        <p:txBody>
          <a:bodyPr lIns="0" tIns="0" rIns="0" bIns="0" anchor="ctr">
            <a:spAutoFit/>
          </a:bodyPr>
          <a:lstStyle/>
          <a:p>
            <a:r>
              <a:rPr lang="en-US" sz="3600" dirty="0">
                <a:latin typeface="+mj-lt"/>
              </a:rPr>
              <a:t>The </a:t>
            </a:r>
            <a:r>
              <a:rPr lang="en-US" sz="3600" spc="-450" dirty="0">
                <a:latin typeface="+mj-lt"/>
              </a:rPr>
              <a:t>S R </a:t>
            </a:r>
            <a:r>
              <a:rPr lang="en-US" sz="3600" dirty="0">
                <a:latin typeface="+mj-lt"/>
              </a:rPr>
              <a:t>P Mechanism of Cotranslational Import: Translocon</a:t>
            </a:r>
            <a:endParaRPr lang="en-US" sz="2800" dirty="0">
              <a:latin typeface="+mj-lt"/>
            </a:endParaRP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50312" y="1982450"/>
            <a:ext cx="8293694" cy="2893100"/>
          </a:xfrm>
        </p:spPr>
        <p:txBody>
          <a:bodyPr lIns="0" tIns="0" rIns="0" bIns="0">
            <a:spAutoFit/>
          </a:bodyPr>
          <a:lstStyle/>
          <a:p>
            <a:pPr marL="342900" indent="-342900"/>
            <a:r>
              <a:rPr lang="en-US" sz="2400" dirty="0"/>
              <a:t>The translocon is a protein complex composed of: </a:t>
            </a:r>
          </a:p>
          <a:p>
            <a:pPr marL="829818" lvl="1" indent="-342900"/>
            <a:r>
              <a:rPr lang="en-US" sz="2400" i="1" spc="-300" dirty="0"/>
              <a:t>S R </a:t>
            </a:r>
            <a:r>
              <a:rPr lang="en-US" sz="2400" i="1" dirty="0"/>
              <a:t>P receptor</a:t>
            </a:r>
            <a:r>
              <a:rPr lang="en-US" sz="2400" dirty="0"/>
              <a:t>, to which </a:t>
            </a:r>
            <a:r>
              <a:rPr lang="en-US" sz="2400" spc="-300" dirty="0"/>
              <a:t>S P </a:t>
            </a:r>
            <a:r>
              <a:rPr lang="en-US" sz="2400" dirty="0"/>
              <a:t>R binds</a:t>
            </a:r>
          </a:p>
          <a:p>
            <a:pPr marL="829818" lvl="1" indent="-342900"/>
            <a:r>
              <a:rPr lang="en-US" sz="2400" i="1" dirty="0"/>
              <a:t>Ribosome receptor</a:t>
            </a:r>
            <a:r>
              <a:rPr lang="en-US" sz="2400" dirty="0"/>
              <a:t>, that holds the ribosome in place </a:t>
            </a:r>
          </a:p>
          <a:p>
            <a:pPr marL="829818" lvl="1" indent="-342900"/>
            <a:r>
              <a:rPr lang="en-US" sz="2400" i="1" dirty="0"/>
              <a:t>Pore protein</a:t>
            </a:r>
            <a:r>
              <a:rPr lang="en-US" sz="2400" dirty="0"/>
              <a:t>, </a:t>
            </a:r>
            <a:r>
              <a:rPr lang="en-US" sz="2400" dirty="0">
                <a:solidFill>
                  <a:schemeClr val="tx1"/>
                </a:solidFill>
              </a:rPr>
              <a:t>that</a:t>
            </a:r>
            <a:r>
              <a:rPr lang="en-US" sz="2400" dirty="0"/>
              <a:t> forms a channel for the growing polypeptide to enter the </a:t>
            </a:r>
            <a:r>
              <a:rPr lang="en-US" sz="2400" spc="-300" dirty="0"/>
              <a:t>E </a:t>
            </a:r>
            <a:r>
              <a:rPr lang="en-US" sz="2400" dirty="0"/>
              <a:t>R lumen </a:t>
            </a:r>
          </a:p>
          <a:p>
            <a:pPr marL="829818" lvl="1" indent="-342900"/>
            <a:r>
              <a:rPr lang="en-US" sz="2400" i="1" dirty="0"/>
              <a:t>Signal peptidase</a:t>
            </a:r>
            <a:r>
              <a:rPr lang="en-US" sz="2400" dirty="0"/>
              <a:t>, an enzyme to remove the </a:t>
            </a:r>
            <a:r>
              <a:rPr lang="en-US" sz="2400" spc="-300" dirty="0"/>
              <a:t>E </a:t>
            </a:r>
            <a:r>
              <a:rPr lang="en-US" sz="2400" dirty="0"/>
              <a:t>R signal sequence</a:t>
            </a:r>
          </a:p>
        </p:txBody>
      </p:sp>
    </p:spTree>
    <p:extLst>
      <p:ext uri="{BB962C8B-B14F-4D97-AF65-F5344CB8AC3E}">
        <p14:creationId xmlns:p14="http://schemas.microsoft.com/office/powerpoint/2010/main" val="286418613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36664" y="181008"/>
            <a:ext cx="8293694" cy="1538883"/>
          </a:xfrm>
        </p:spPr>
        <p:txBody>
          <a:bodyPr lIns="0" tIns="0" rIns="0" bIns="0" anchor="ctr">
            <a:spAutoFit/>
          </a:bodyPr>
          <a:lstStyle/>
          <a:p>
            <a:r>
              <a:rPr lang="en-US" sz="3600" dirty="0">
                <a:latin typeface="+mj-lt"/>
              </a:rPr>
              <a:t>The </a:t>
            </a:r>
            <a:r>
              <a:rPr lang="en-US" sz="3600" spc="-500" dirty="0">
                <a:latin typeface="+mj-lt"/>
              </a:rPr>
              <a:t>S R </a:t>
            </a:r>
            <a:r>
              <a:rPr lang="en-US" sz="3600" dirty="0">
                <a:latin typeface="+mj-lt"/>
              </a:rPr>
              <a:t>P Mechanism of Cotranslational Import: Steps 2–4</a:t>
            </a:r>
            <a:endParaRPr lang="en-US" sz="2800" dirty="0">
              <a:latin typeface="+mj-lt"/>
            </a:endParaRP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991305"/>
            <a:ext cx="8293694" cy="2970044"/>
          </a:xfrm>
        </p:spPr>
        <p:txBody>
          <a:bodyPr lIns="0" tIns="0" rIns="0" bIns="0">
            <a:spAutoFit/>
          </a:bodyPr>
          <a:lstStyle/>
          <a:p>
            <a:pPr marL="457200" indent="-457200">
              <a:buFont typeface="+mj-lt"/>
              <a:buAutoNum type="arabicPeriod" startAt="2"/>
            </a:pPr>
            <a:r>
              <a:rPr lang="en-US" sz="2400" spc="-300" dirty="0"/>
              <a:t>S R </a:t>
            </a:r>
            <a:r>
              <a:rPr lang="en-US" sz="2400" dirty="0"/>
              <a:t>P binds the </a:t>
            </a:r>
            <a:r>
              <a:rPr lang="en-US" sz="2400" spc="-300" dirty="0"/>
              <a:t>S R </a:t>
            </a:r>
            <a:r>
              <a:rPr lang="en-US" sz="2400" dirty="0"/>
              <a:t>P receptor and the ribosome becomes attached to the ribosome receptor. </a:t>
            </a:r>
          </a:p>
          <a:p>
            <a:pPr marL="457200" indent="-457200">
              <a:buFont typeface="+mj-lt"/>
              <a:buAutoNum type="arabicPeriod" startAt="2"/>
            </a:pPr>
            <a:r>
              <a:rPr lang="en-US" sz="2400" spc="-300" dirty="0"/>
              <a:t>G T </a:t>
            </a:r>
            <a:r>
              <a:rPr lang="en-US" sz="2400" dirty="0"/>
              <a:t>P binds </a:t>
            </a:r>
            <a:r>
              <a:rPr lang="en-US" sz="2400" spc="-300" dirty="0"/>
              <a:t>S R </a:t>
            </a:r>
            <a:r>
              <a:rPr lang="en-US" sz="2400" dirty="0"/>
              <a:t>P and </a:t>
            </a:r>
            <a:r>
              <a:rPr lang="en-US" sz="2400" spc="-300" dirty="0"/>
              <a:t>S R </a:t>
            </a:r>
            <a:r>
              <a:rPr lang="en-US" sz="2400" dirty="0"/>
              <a:t>P receptor, unblocking translation and causing transfer of the signaling sequence to the pore protein. The core of the pore is made of the </a:t>
            </a:r>
            <a:r>
              <a:rPr lang="en-US" sz="2400" i="1" dirty="0"/>
              <a:t>Sec61 complex</a:t>
            </a:r>
            <a:r>
              <a:rPr lang="en-US" sz="2400" dirty="0"/>
              <a:t>. </a:t>
            </a:r>
          </a:p>
          <a:p>
            <a:pPr marL="457200" indent="-457200">
              <a:buFont typeface="+mj-lt"/>
              <a:buAutoNum type="arabicPeriod" startAt="2"/>
            </a:pPr>
            <a:r>
              <a:rPr lang="en-US" sz="2400" spc="-300" dirty="0"/>
              <a:t>G T </a:t>
            </a:r>
            <a:r>
              <a:rPr lang="en-US" sz="2400" dirty="0"/>
              <a:t>P is hydrolyzed and </a:t>
            </a:r>
            <a:r>
              <a:rPr lang="en-US" sz="2400" spc="-300" dirty="0"/>
              <a:t>S R </a:t>
            </a:r>
            <a:r>
              <a:rPr lang="en-US" sz="2400" dirty="0"/>
              <a:t>P is released. </a:t>
            </a:r>
          </a:p>
        </p:txBody>
      </p:sp>
    </p:spTree>
    <p:extLst>
      <p:ext uri="{BB962C8B-B14F-4D97-AF65-F5344CB8AC3E}">
        <p14:creationId xmlns:p14="http://schemas.microsoft.com/office/powerpoint/2010/main" val="66007284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36664" y="181008"/>
            <a:ext cx="8293694" cy="1538883"/>
          </a:xfrm>
        </p:spPr>
        <p:txBody>
          <a:bodyPr lIns="0" tIns="0" rIns="0" bIns="0" anchor="ctr">
            <a:spAutoFit/>
          </a:bodyPr>
          <a:lstStyle/>
          <a:p>
            <a:r>
              <a:rPr lang="en-US" sz="3600" dirty="0">
                <a:latin typeface="+mj-lt"/>
              </a:rPr>
              <a:t>The </a:t>
            </a:r>
            <a:r>
              <a:rPr lang="en-US" sz="3600" spc="-500" dirty="0">
                <a:latin typeface="+mj-lt"/>
              </a:rPr>
              <a:t>S R </a:t>
            </a:r>
            <a:r>
              <a:rPr lang="en-US" sz="3600" dirty="0">
                <a:latin typeface="+mj-lt"/>
              </a:rPr>
              <a:t>P Mechanism of Cotranslational Import: Steps 5 and 6</a:t>
            </a:r>
            <a:endParaRPr lang="en-US" sz="2800" dirty="0">
              <a:latin typeface="+mj-lt"/>
            </a:endParaRP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991305"/>
            <a:ext cx="8293694" cy="2777683"/>
          </a:xfrm>
        </p:spPr>
        <p:txBody>
          <a:bodyPr lIns="0" tIns="0" rIns="0" bIns="0">
            <a:spAutoFit/>
          </a:bodyPr>
          <a:lstStyle/>
          <a:p>
            <a:pPr marL="457200" indent="-457200">
              <a:buFont typeface="+mj-lt"/>
              <a:buAutoNum type="arabicPeriod" startAt="5"/>
            </a:pPr>
            <a:r>
              <a:rPr lang="en-US" sz="2400" dirty="0"/>
              <a:t>The elongating peptide passes into the ER lumen and signal peptidase cleaves the ER signal sequence. </a:t>
            </a:r>
          </a:p>
          <a:p>
            <a:pPr marL="457200" indent="-457200">
              <a:buFont typeface="+mj-lt"/>
              <a:buAutoNum type="arabicPeriod" startAt="5"/>
            </a:pPr>
            <a:r>
              <a:rPr lang="en-US" sz="2400" dirty="0"/>
              <a:t>After the polypeptide synthesis is complete, the polypeptide is released into the lumen, the translocon channel is closed, and the ribosome detaches from the ER membrane, dissociates into it subunits and releases the </a:t>
            </a:r>
            <a:r>
              <a:rPr lang="en-US" sz="2400" spc="-300" dirty="0"/>
              <a:t>m R N </a:t>
            </a:r>
            <a:r>
              <a:rPr lang="en-US" sz="2400" dirty="0"/>
              <a:t>A.</a:t>
            </a:r>
          </a:p>
        </p:txBody>
      </p:sp>
    </p:spTree>
    <p:extLst>
      <p:ext uri="{BB962C8B-B14F-4D97-AF65-F5344CB8AC3E}">
        <p14:creationId xmlns:p14="http://schemas.microsoft.com/office/powerpoint/2010/main" val="174486277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30566" y="175955"/>
            <a:ext cx="8229600" cy="1107996"/>
          </a:xfrm>
        </p:spPr>
        <p:txBody>
          <a:bodyPr lIns="0" tIns="0" rIns="0" bIns="0" anchor="ctr">
            <a:spAutoFit/>
          </a:bodyPr>
          <a:lstStyle/>
          <a:p>
            <a:r>
              <a:rPr lang="en-US" dirty="0"/>
              <a:t>The Signal Mechanism of Cotranslational Import</a:t>
            </a:r>
          </a:p>
        </p:txBody>
      </p:sp>
      <p:sp>
        <p:nvSpPr>
          <p:cNvPr id="6" name="Content Placeholder 5"/>
          <p:cNvSpPr>
            <a:spLocks noGrp="1"/>
          </p:cNvSpPr>
          <p:nvPr>
            <p:ph sz="quarter" idx="15"/>
          </p:nvPr>
        </p:nvSpPr>
        <p:spPr>
          <a:xfrm>
            <a:off x="421688" y="1559809"/>
            <a:ext cx="3676783" cy="1107996"/>
          </a:xfrm>
        </p:spPr>
        <p:txBody>
          <a:bodyPr wrap="square" lIns="0" tIns="0" rIns="0" bIns="0">
            <a:spAutoFit/>
          </a:bodyPr>
          <a:lstStyle/>
          <a:p>
            <a:pPr marL="0" indent="0">
              <a:buNone/>
            </a:pPr>
            <a:r>
              <a:rPr lang="en-US" sz="2400" b="1" dirty="0"/>
              <a:t>Figure 12.11 </a:t>
            </a:r>
            <a:r>
              <a:rPr lang="en-US" sz="2400" dirty="0"/>
              <a:t>The Signal Mechanism of Cotranslational Import. </a:t>
            </a:r>
          </a:p>
        </p:txBody>
      </p:sp>
      <p:pic>
        <p:nvPicPr>
          <p:cNvPr id="5" name="Picture Placeholder 4" descr="An illustration shows the six steps of co-translational import of the polypeptide between cytosol and E R lumen.&#10;Long description is available in notes, press F6"/>
          <p:cNvPicPr>
            <a:picLocks noGrp="1" noChangeAspect="1"/>
          </p:cNvPicPr>
          <p:nvPr>
            <p:ph type="pic" sz="quarter" idx="16"/>
          </p:nvPr>
        </p:nvPicPr>
        <p:blipFill rotWithShape="1">
          <a:blip r:embed="rId3">
            <a:extLst>
              <a:ext uri="{28A0092B-C50C-407E-A947-70E740481C1C}">
                <a14:useLocalDpi xmlns:a14="http://schemas.microsoft.com/office/drawing/2010/main" val="0"/>
              </a:ext>
            </a:extLst>
          </a:blip>
          <a:srcRect b="2456"/>
          <a:stretch/>
        </p:blipFill>
        <p:spPr>
          <a:xfrm>
            <a:off x="4548689" y="1566487"/>
            <a:ext cx="4133313" cy="4827203"/>
          </a:xfrm>
        </p:spPr>
      </p:pic>
    </p:spTree>
    <p:extLst>
      <p:ext uri="{BB962C8B-B14F-4D97-AF65-F5344CB8AC3E}">
        <p14:creationId xmlns:p14="http://schemas.microsoft.com/office/powerpoint/2010/main" val="144674524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200341"/>
            <a:ext cx="8302240" cy="1508105"/>
          </a:xfrm>
        </p:spPr>
        <p:txBody>
          <a:bodyPr lIns="0" tIns="0" rIns="0" bIns="0" anchor="ctr">
            <a:spAutoFit/>
          </a:bodyPr>
          <a:lstStyle/>
          <a:p>
            <a:r>
              <a:rPr lang="en-US" sz="3200" dirty="0">
                <a:latin typeface="+mj-lt"/>
              </a:rPr>
              <a:t>Proteins Released into the ER Lumen Are Routed to the Golgi Apparatus, Secretory Vesicles, or Back to the ER </a:t>
            </a:r>
            <a:r>
              <a:rPr lang="en-US" sz="2400" dirty="0">
                <a:latin typeface="+mj-lt"/>
              </a:rPr>
              <a:t>(1 of 2)</a:t>
            </a: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888614"/>
            <a:ext cx="8134130" cy="3339376"/>
          </a:xfrm>
        </p:spPr>
        <p:txBody>
          <a:bodyPr wrap="square" lIns="0" tIns="0" rIns="0" bIns="0">
            <a:spAutoFit/>
          </a:bodyPr>
          <a:lstStyle/>
          <a:p>
            <a:pPr marL="342900" indent="-342900"/>
            <a:r>
              <a:rPr lang="en-US" sz="2400" dirty="0"/>
              <a:t>Most proteins synthesized on ribosomes attached to the </a:t>
            </a:r>
            <a:r>
              <a:rPr lang="en-US" sz="2400" spc="-300" dirty="0"/>
              <a:t>E </a:t>
            </a:r>
            <a:r>
              <a:rPr lang="en-US" sz="2400" dirty="0"/>
              <a:t>R are </a:t>
            </a:r>
            <a:r>
              <a:rPr lang="en-US" sz="2400" i="1" dirty="0"/>
              <a:t>glycoproteins</a:t>
            </a:r>
            <a:r>
              <a:rPr lang="en-US" sz="2400" dirty="0"/>
              <a:t>.</a:t>
            </a:r>
          </a:p>
          <a:p>
            <a:pPr marL="342900" indent="-342900"/>
            <a:r>
              <a:rPr lang="en-US" sz="2400" dirty="0"/>
              <a:t>Glycosylation and folding occurs in the </a:t>
            </a:r>
            <a:r>
              <a:rPr lang="en-US" sz="2400" spc="-300" dirty="0"/>
              <a:t>E </a:t>
            </a:r>
            <a:r>
              <a:rPr lang="en-US" sz="2400" dirty="0"/>
              <a:t>R. The glycoprotein is then delivered to the Golgi apparatus for further glycosylation and processing of carbohydrate side chains. </a:t>
            </a:r>
          </a:p>
          <a:p>
            <a:pPr marL="342900" indent="-342900"/>
            <a:r>
              <a:rPr lang="en-US" sz="2400" dirty="0"/>
              <a:t>The Golgi apparatus then sorts and distributes the proteins. </a:t>
            </a:r>
          </a:p>
        </p:txBody>
      </p:sp>
    </p:spTree>
    <p:extLst>
      <p:ext uri="{BB962C8B-B14F-4D97-AF65-F5344CB8AC3E}">
        <p14:creationId xmlns:p14="http://schemas.microsoft.com/office/powerpoint/2010/main" val="283790076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215729"/>
            <a:ext cx="8302240" cy="1477328"/>
          </a:xfrm>
        </p:spPr>
        <p:txBody>
          <a:bodyPr lIns="0" tIns="0" rIns="0" bIns="0" anchor="ctr">
            <a:spAutoFit/>
          </a:bodyPr>
          <a:lstStyle/>
          <a:p>
            <a:r>
              <a:rPr lang="en-US" sz="3200" dirty="0">
                <a:latin typeface="+mj-lt"/>
              </a:rPr>
              <a:t>Proteins Released into the ER Lumen Are Routed to the Golgi Apparatus, Secretory Vesicles, or Back to the ER </a:t>
            </a:r>
            <a:r>
              <a:rPr lang="en-US" sz="2400" dirty="0">
                <a:latin typeface="+mj-lt"/>
              </a:rPr>
              <a:t>(2 of 2)</a:t>
            </a: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888614"/>
            <a:ext cx="8302240" cy="2600712"/>
          </a:xfrm>
        </p:spPr>
        <p:txBody>
          <a:bodyPr lIns="0" tIns="0" rIns="0" bIns="0">
            <a:spAutoFit/>
          </a:bodyPr>
          <a:lstStyle/>
          <a:p>
            <a:pPr marL="342900" indent="-342900"/>
            <a:r>
              <a:rPr lang="en-US" sz="2400" dirty="0"/>
              <a:t>Soluble proteins go from the Golgi, to secretory vesicles, to the plasms membrane where the protein is secreted. </a:t>
            </a:r>
          </a:p>
          <a:p>
            <a:pPr marL="342900" indent="-342900"/>
            <a:r>
              <a:rPr lang="en-US" sz="2400" dirty="0"/>
              <a:t>Or soluble proteins possess specific carbohydrate side chains or amino acid sequences that target them from the Golgi to other parts of the endomembrane system. </a:t>
            </a:r>
          </a:p>
          <a:p>
            <a:pPr marL="342900" indent="-342900"/>
            <a:r>
              <a:rPr lang="en-US" sz="2400" spc="-300" dirty="0"/>
              <a:t>E </a:t>
            </a:r>
            <a:r>
              <a:rPr lang="en-US" sz="2400" dirty="0"/>
              <a:t>R-bound proteins have a specific C-terminal tag. </a:t>
            </a:r>
          </a:p>
        </p:txBody>
      </p:sp>
    </p:spTree>
    <p:extLst>
      <p:ext uri="{BB962C8B-B14F-4D97-AF65-F5344CB8AC3E}">
        <p14:creationId xmlns:p14="http://schemas.microsoft.com/office/powerpoint/2010/main" val="358653690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67408"/>
            <a:ext cx="8302240" cy="1107996"/>
          </a:xfrm>
        </p:spPr>
        <p:txBody>
          <a:bodyPr lIns="0" tIns="0" rIns="0" bIns="0" anchor="ctr">
            <a:spAutoFit/>
          </a:bodyPr>
          <a:lstStyle/>
          <a:p>
            <a:r>
              <a:rPr lang="en-US" sz="3600" dirty="0">
                <a:latin typeface="+mj-lt"/>
              </a:rPr>
              <a:t>ER-Specific Proteins Contain Retention and Retrieval Tags</a:t>
            </a: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50312" y="1570986"/>
            <a:ext cx="8302240" cy="2970044"/>
          </a:xfrm>
        </p:spPr>
        <p:txBody>
          <a:bodyPr lIns="0" tIns="0" rIns="0" bIns="0">
            <a:spAutoFit/>
          </a:bodyPr>
          <a:lstStyle/>
          <a:p>
            <a:pPr marL="342900" indent="-342900"/>
            <a:r>
              <a:rPr lang="en-US" sz="2400" dirty="0"/>
              <a:t>Protein composition in the </a:t>
            </a:r>
            <a:r>
              <a:rPr lang="en-US" sz="2400" spc="-300" dirty="0"/>
              <a:t>E </a:t>
            </a:r>
            <a:r>
              <a:rPr lang="en-US" sz="2400" dirty="0"/>
              <a:t>R is maintained by preventing some proteins from escaping the </a:t>
            </a:r>
            <a:r>
              <a:rPr lang="en-US" sz="2400" spc="-300" dirty="0"/>
              <a:t>E </a:t>
            </a:r>
            <a:r>
              <a:rPr lang="en-US" sz="2400" dirty="0"/>
              <a:t>R and by retrieving others from the Golgi.</a:t>
            </a:r>
          </a:p>
          <a:p>
            <a:pPr marL="342900" indent="-342900"/>
            <a:r>
              <a:rPr lang="en-US" sz="2400" dirty="0"/>
              <a:t>Some proteins localized to the </a:t>
            </a:r>
            <a:r>
              <a:rPr lang="en-US" sz="2400" spc="-300" dirty="0"/>
              <a:t>E </a:t>
            </a:r>
            <a:r>
              <a:rPr lang="en-US" sz="2400" dirty="0"/>
              <a:t>R contain the sequence RXR (Arg-X-Arg; X is any amino acid).</a:t>
            </a:r>
          </a:p>
          <a:p>
            <a:pPr marL="342900" indent="-342900"/>
            <a:r>
              <a:rPr lang="en-US" sz="2400" dirty="0"/>
              <a:t>This is a </a:t>
            </a:r>
            <a:r>
              <a:rPr lang="en-US" sz="2400" i="1" dirty="0"/>
              <a:t>retention</a:t>
            </a:r>
            <a:r>
              <a:rPr lang="en-US" sz="2400" dirty="0"/>
              <a:t> </a:t>
            </a:r>
            <a:r>
              <a:rPr lang="en-US" sz="2400" i="1" dirty="0"/>
              <a:t>tag</a:t>
            </a:r>
            <a:r>
              <a:rPr lang="en-US" sz="2400" dirty="0"/>
              <a:t> and is also found in some proteins that are destined for the plasma membrane.</a:t>
            </a:r>
          </a:p>
        </p:txBody>
      </p:sp>
    </p:spTree>
    <p:extLst>
      <p:ext uri="{BB962C8B-B14F-4D97-AF65-F5344CB8AC3E}">
        <p14:creationId xmlns:p14="http://schemas.microsoft.com/office/powerpoint/2010/main" val="282416868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77707"/>
            <a:ext cx="8302240" cy="553998"/>
          </a:xfrm>
        </p:spPr>
        <p:txBody>
          <a:bodyPr lIns="0" tIns="0" rIns="0" bIns="0" anchor="ctr">
            <a:spAutoFit/>
          </a:bodyPr>
          <a:lstStyle/>
          <a:p>
            <a:r>
              <a:rPr lang="en-US" sz="3600" dirty="0">
                <a:latin typeface="+mj-lt"/>
              </a:rPr>
              <a:t>The RXR Tag</a:t>
            </a: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063575"/>
            <a:ext cx="8302240" cy="2970044"/>
          </a:xfrm>
        </p:spPr>
        <p:txBody>
          <a:bodyPr lIns="0" tIns="0" rIns="0" bIns="0">
            <a:spAutoFit/>
          </a:bodyPr>
          <a:lstStyle/>
          <a:p>
            <a:pPr marL="342900" indent="-342900"/>
            <a:r>
              <a:rPr lang="en-US" sz="2400" dirty="0">
                <a:solidFill>
                  <a:schemeClr val="tx1"/>
                </a:solidFill>
              </a:rPr>
              <a:t>The </a:t>
            </a:r>
            <a:r>
              <a:rPr lang="en-US" sz="2400" i="1" dirty="0">
                <a:solidFill>
                  <a:schemeClr val="tx1"/>
                </a:solidFill>
              </a:rPr>
              <a:t>N</a:t>
            </a:r>
            <a:r>
              <a:rPr lang="en-US" sz="2400" dirty="0">
                <a:solidFill>
                  <a:schemeClr val="tx1"/>
                </a:solidFill>
              </a:rPr>
              <a:t>-methyl-</a:t>
            </a:r>
            <a:r>
              <a:rPr lang="en-US" sz="2000" dirty="0">
                <a:solidFill>
                  <a:schemeClr val="tx1"/>
                </a:solidFill>
              </a:rPr>
              <a:t>D</a:t>
            </a:r>
            <a:r>
              <a:rPr lang="en-US" sz="2400" dirty="0">
                <a:solidFill>
                  <a:schemeClr val="tx1"/>
                </a:solidFill>
              </a:rPr>
              <a:t>-aspartate (</a:t>
            </a:r>
            <a:r>
              <a:rPr lang="en-US" sz="2400" spc="-300" dirty="0">
                <a:solidFill>
                  <a:schemeClr val="tx1"/>
                </a:solidFill>
              </a:rPr>
              <a:t>N M D </a:t>
            </a:r>
            <a:r>
              <a:rPr lang="en-US" sz="2400" dirty="0">
                <a:solidFill>
                  <a:schemeClr val="tx1"/>
                </a:solidFill>
              </a:rPr>
              <a:t>A) receptor, important in mammalian neurotransmission, has the </a:t>
            </a:r>
            <a:r>
              <a:rPr lang="en-US" sz="2400" spc="-300" dirty="0">
                <a:solidFill>
                  <a:schemeClr val="tx1"/>
                </a:solidFill>
              </a:rPr>
              <a:t>R X </a:t>
            </a:r>
            <a:r>
              <a:rPr lang="en-US" sz="2400" dirty="0">
                <a:solidFill>
                  <a:schemeClr val="tx1"/>
                </a:solidFill>
              </a:rPr>
              <a:t>R tag.</a:t>
            </a:r>
          </a:p>
          <a:p>
            <a:pPr marL="342900" indent="-342900"/>
            <a:r>
              <a:rPr lang="en-US" sz="2400" dirty="0"/>
              <a:t>It is thought that the tripeptide causes subunits of </a:t>
            </a:r>
            <a:r>
              <a:rPr lang="en-US" sz="2400" spc="-300" dirty="0"/>
              <a:t>N M D </a:t>
            </a:r>
            <a:r>
              <a:rPr lang="en-US" sz="2400" dirty="0"/>
              <a:t>A to be retained in the </a:t>
            </a:r>
            <a:r>
              <a:rPr lang="en-US" sz="2400" spc="-300" dirty="0"/>
              <a:t>E </a:t>
            </a:r>
            <a:r>
              <a:rPr lang="en-US" sz="2400" dirty="0"/>
              <a:t>R until the complex is completely assembled.</a:t>
            </a:r>
          </a:p>
          <a:p>
            <a:pPr marL="342900" indent="-342900"/>
            <a:r>
              <a:rPr lang="en-US" sz="2400" dirty="0"/>
              <a:t>The </a:t>
            </a:r>
            <a:r>
              <a:rPr lang="en-US" sz="2400" spc="-300" dirty="0"/>
              <a:t>R X </a:t>
            </a:r>
            <a:r>
              <a:rPr lang="en-US" sz="2400" dirty="0"/>
              <a:t>R tag must be masked to allow the assembled complex to leave the </a:t>
            </a:r>
            <a:r>
              <a:rPr lang="en-US" sz="2400" spc="-300" dirty="0"/>
              <a:t>E </a:t>
            </a:r>
            <a:r>
              <a:rPr lang="en-US" sz="2400" dirty="0"/>
              <a:t>R.</a:t>
            </a:r>
          </a:p>
        </p:txBody>
      </p:sp>
    </p:spTree>
    <p:extLst>
      <p:ext uri="{BB962C8B-B14F-4D97-AF65-F5344CB8AC3E}">
        <p14:creationId xmlns:p14="http://schemas.microsoft.com/office/powerpoint/2010/main" val="161497415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77707"/>
            <a:ext cx="8302240" cy="553998"/>
          </a:xfrm>
        </p:spPr>
        <p:txBody>
          <a:bodyPr lIns="0" tIns="0" rIns="0" bIns="0" anchor="ctr">
            <a:spAutoFit/>
          </a:bodyPr>
          <a:lstStyle/>
          <a:p>
            <a:r>
              <a:rPr lang="en-US" sz="3600" dirty="0">
                <a:latin typeface="+mj-lt"/>
              </a:rPr>
              <a:t>Retrieval Tags</a:t>
            </a: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063575"/>
            <a:ext cx="8302240" cy="3339376"/>
          </a:xfrm>
        </p:spPr>
        <p:txBody>
          <a:bodyPr lIns="0" tIns="0" rIns="0" bIns="0">
            <a:spAutoFit/>
          </a:bodyPr>
          <a:lstStyle/>
          <a:p>
            <a:pPr marL="342900" indent="-342900"/>
            <a:r>
              <a:rPr lang="en-US" sz="2400" dirty="0"/>
              <a:t>Some proteins returned from the Golgi to the </a:t>
            </a:r>
            <a:r>
              <a:rPr lang="en-US" sz="2400" spc="-300" dirty="0"/>
              <a:t>E </a:t>
            </a:r>
            <a:r>
              <a:rPr lang="en-US" sz="2400" dirty="0"/>
              <a:t>R contain </a:t>
            </a:r>
            <a:r>
              <a:rPr lang="en-US" sz="2400" i="1" dirty="0"/>
              <a:t>retrieval</a:t>
            </a:r>
            <a:r>
              <a:rPr lang="en-US" sz="2400" dirty="0"/>
              <a:t> </a:t>
            </a:r>
            <a:r>
              <a:rPr lang="en-US" sz="2400" i="1" dirty="0"/>
              <a:t>tags</a:t>
            </a:r>
            <a:r>
              <a:rPr lang="en-US" sz="2400" dirty="0">
                <a:solidFill>
                  <a:schemeClr val="tx1"/>
                </a:solidFill>
              </a:rPr>
              <a:t>.</a:t>
            </a:r>
            <a:endParaRPr lang="en-US" sz="2400" i="1" dirty="0">
              <a:solidFill>
                <a:schemeClr val="tx1"/>
              </a:solidFill>
            </a:endParaRPr>
          </a:p>
          <a:p>
            <a:pPr marL="342900" indent="-342900"/>
            <a:r>
              <a:rPr lang="en-US" sz="2400" dirty="0"/>
              <a:t>The tags are short C-terminal sequences such as </a:t>
            </a:r>
            <a:r>
              <a:rPr lang="en-US" sz="2400" spc="-300" dirty="0"/>
              <a:t>K D E </a:t>
            </a:r>
            <a:r>
              <a:rPr lang="en-US" sz="2400" dirty="0"/>
              <a:t>L (Lys-Asp-Glu-Leu) or </a:t>
            </a:r>
            <a:r>
              <a:rPr lang="en-US" sz="2400" spc="-300" dirty="0"/>
              <a:t>K K X </a:t>
            </a:r>
            <a:r>
              <a:rPr lang="en-US" sz="2400" dirty="0"/>
              <a:t>X in mammals and </a:t>
            </a:r>
            <a:r>
              <a:rPr lang="en-US" sz="2400" spc="-300" dirty="0"/>
              <a:t>H D E </a:t>
            </a:r>
            <a:r>
              <a:rPr lang="en-US" sz="2400" dirty="0"/>
              <a:t>L (His-Asp-Glu-Leu) in yeast</a:t>
            </a:r>
            <a:r>
              <a:rPr lang="en-US" sz="2400" dirty="0">
                <a:solidFill>
                  <a:schemeClr val="tx1"/>
                </a:solidFill>
              </a:rPr>
              <a:t>.</a:t>
            </a:r>
          </a:p>
          <a:p>
            <a:pPr marL="342900" indent="-342900"/>
            <a:r>
              <a:rPr lang="en-US" sz="2400" dirty="0"/>
              <a:t>When a protein with this tag binds a receptor, the receptor-ligand complex is packaged into a transport vesicle for return to the </a:t>
            </a:r>
            <a:r>
              <a:rPr lang="en-US" sz="2400" spc="-300" dirty="0"/>
              <a:t>E </a:t>
            </a:r>
            <a:r>
              <a:rPr lang="en-US" sz="2400" dirty="0"/>
              <a:t>R</a:t>
            </a:r>
            <a:r>
              <a:rPr lang="en-US" sz="2400" dirty="0">
                <a:solidFill>
                  <a:schemeClr val="tx1"/>
                </a:solidFill>
              </a:rPr>
              <a:t>.</a:t>
            </a:r>
          </a:p>
        </p:txBody>
      </p:sp>
    </p:spTree>
    <p:extLst>
      <p:ext uri="{BB962C8B-B14F-4D97-AF65-F5344CB8AC3E}">
        <p14:creationId xmlns:p14="http://schemas.microsoft.com/office/powerpoint/2010/main" val="1918042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77707"/>
            <a:ext cx="8302240" cy="553998"/>
          </a:xfrm>
        </p:spPr>
        <p:txBody>
          <a:bodyPr lIns="0" tIns="0" rIns="0" bIns="0" anchor="ctr">
            <a:spAutoFit/>
          </a:bodyPr>
          <a:lstStyle/>
          <a:p>
            <a:r>
              <a:rPr lang="en-US" sz="3600" dirty="0">
                <a:latin typeface="+mj-lt"/>
              </a:rPr>
              <a:t>Evidence Regarding Retrieval Tags</a:t>
            </a: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063575"/>
            <a:ext cx="8302240" cy="3339376"/>
          </a:xfrm>
        </p:spPr>
        <p:txBody>
          <a:bodyPr lIns="0" tIns="0" rIns="0" bIns="0">
            <a:spAutoFit/>
          </a:bodyPr>
          <a:lstStyle/>
          <a:p>
            <a:pPr marL="342900" indent="-342900"/>
            <a:r>
              <a:rPr lang="en-US" sz="2400" dirty="0"/>
              <a:t>Evidence about the importance of retrieval tags comes from experiments involving </a:t>
            </a:r>
            <a:r>
              <a:rPr lang="en-US" sz="2400" i="1" dirty="0"/>
              <a:t>chimeric</a:t>
            </a:r>
            <a:r>
              <a:rPr lang="en-US" sz="2400" dirty="0"/>
              <a:t> </a:t>
            </a:r>
            <a:r>
              <a:rPr lang="en-US" sz="2400" i="1" dirty="0"/>
              <a:t>proteins</a:t>
            </a:r>
            <a:r>
              <a:rPr lang="en-US" sz="2400" dirty="0"/>
              <a:t> (</a:t>
            </a:r>
            <a:r>
              <a:rPr lang="en-US" sz="2400" i="1" dirty="0"/>
              <a:t>fusion</a:t>
            </a:r>
            <a:r>
              <a:rPr lang="en-US" sz="2400" dirty="0"/>
              <a:t> </a:t>
            </a:r>
            <a:r>
              <a:rPr lang="en-US" sz="2400" i="1" dirty="0"/>
              <a:t>proteins</a:t>
            </a:r>
            <a:r>
              <a:rPr lang="en-US" sz="2400" dirty="0">
                <a:solidFill>
                  <a:schemeClr val="tx1"/>
                </a:solidFill>
              </a:rPr>
              <a:t>).</a:t>
            </a:r>
          </a:p>
          <a:p>
            <a:pPr marL="342900" indent="-342900"/>
            <a:r>
              <a:rPr lang="en-US" sz="2400" dirty="0"/>
              <a:t>These are made by joining the </a:t>
            </a:r>
            <a:r>
              <a:rPr lang="en-US" sz="2400" spc="-300" dirty="0"/>
              <a:t>D N </a:t>
            </a:r>
            <a:r>
              <a:rPr lang="en-US" sz="2400" dirty="0"/>
              <a:t>A sequences for two polypeptide segments to allow production of a hybrid protein</a:t>
            </a:r>
            <a:r>
              <a:rPr lang="en-US" sz="2400" dirty="0">
                <a:solidFill>
                  <a:schemeClr val="tx1"/>
                </a:solidFill>
              </a:rPr>
              <a:t>.</a:t>
            </a:r>
          </a:p>
          <a:p>
            <a:pPr marL="342900" indent="-342900"/>
            <a:r>
              <a:rPr lang="en-US" sz="2400" dirty="0"/>
              <a:t>Proteins normally secreted from the cell that are altered to contain the retrieval tag end up in the </a:t>
            </a:r>
            <a:r>
              <a:rPr lang="en-US" sz="2400" spc="-300" dirty="0"/>
              <a:t>E </a:t>
            </a:r>
            <a:r>
              <a:rPr lang="en-US" sz="2400" dirty="0"/>
              <a:t>R</a:t>
            </a:r>
            <a:r>
              <a:rPr lang="en-US" sz="2400" dirty="0">
                <a:solidFill>
                  <a:schemeClr val="tx1"/>
                </a:solidFill>
              </a:rPr>
              <a:t>.</a:t>
            </a:r>
          </a:p>
        </p:txBody>
      </p:sp>
    </p:spTree>
    <p:extLst>
      <p:ext uri="{BB962C8B-B14F-4D97-AF65-F5344CB8AC3E}">
        <p14:creationId xmlns:p14="http://schemas.microsoft.com/office/powerpoint/2010/main" val="260630344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78123"/>
            <a:ext cx="8302240" cy="1661993"/>
          </a:xfrm>
        </p:spPr>
        <p:txBody>
          <a:bodyPr lIns="0" tIns="0" rIns="0" bIns="0" anchor="ctr">
            <a:spAutoFit/>
          </a:bodyPr>
          <a:lstStyle/>
          <a:p>
            <a:r>
              <a:rPr lang="en-US" sz="3600" dirty="0">
                <a:latin typeface="+mj-lt"/>
              </a:rPr>
              <a:t>Golgi Apparatus Proteins May Be Sorted According to the Lengths of Their Membrane-Spanning Domains</a:t>
            </a: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922327"/>
            <a:ext cx="8302240" cy="2970044"/>
          </a:xfrm>
        </p:spPr>
        <p:txBody>
          <a:bodyPr lIns="0" tIns="0" rIns="0" bIns="0">
            <a:spAutoFit/>
          </a:bodyPr>
          <a:lstStyle/>
          <a:p>
            <a:pPr marL="342900" indent="-342900"/>
            <a:r>
              <a:rPr lang="en-US" sz="2400" dirty="0"/>
              <a:t>Some proteins resident to the Golgi complex also contain retention or retrieval tags</a:t>
            </a:r>
            <a:r>
              <a:rPr lang="en-US" sz="2400" dirty="0">
                <a:solidFill>
                  <a:schemeClr val="tx1"/>
                </a:solidFill>
              </a:rPr>
              <a:t>.</a:t>
            </a:r>
          </a:p>
          <a:p>
            <a:pPr marL="342900" indent="-342900"/>
            <a:r>
              <a:rPr lang="en-US" sz="2400" dirty="0"/>
              <a:t>Large complexes that are excluded from transport vesicles may play a role in maintaining the protein composition of the Golgi complex</a:t>
            </a:r>
            <a:r>
              <a:rPr lang="en-US" sz="2400" dirty="0">
                <a:solidFill>
                  <a:schemeClr val="tx1"/>
                </a:solidFill>
              </a:rPr>
              <a:t>.</a:t>
            </a:r>
          </a:p>
          <a:p>
            <a:pPr marL="342900" indent="-342900"/>
            <a:r>
              <a:rPr lang="en-US" sz="2400" dirty="0"/>
              <a:t>A third mechanism involves hydrophobic regions of Golgi proteins</a:t>
            </a:r>
            <a:r>
              <a:rPr lang="en-US" sz="2400" dirty="0">
                <a:solidFill>
                  <a:schemeClr val="tx1"/>
                </a:solidFill>
              </a:rPr>
              <a:t>.</a:t>
            </a:r>
          </a:p>
        </p:txBody>
      </p:sp>
    </p:spTree>
    <p:extLst>
      <p:ext uri="{BB962C8B-B14F-4D97-AF65-F5344CB8AC3E}">
        <p14:creationId xmlns:p14="http://schemas.microsoft.com/office/powerpoint/2010/main" val="320573998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84634"/>
            <a:ext cx="8302240" cy="553998"/>
          </a:xfrm>
        </p:spPr>
        <p:txBody>
          <a:bodyPr lIns="0" tIns="0" rIns="0" bIns="0" anchor="ctr">
            <a:spAutoFit/>
          </a:bodyPr>
          <a:lstStyle/>
          <a:p>
            <a:r>
              <a:rPr lang="en-US" sz="3600" dirty="0">
                <a:latin typeface="+mj-lt"/>
              </a:rPr>
              <a:t>Golgi-Specific Proteins</a:t>
            </a: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063575"/>
            <a:ext cx="8302240" cy="2970044"/>
          </a:xfrm>
        </p:spPr>
        <p:txBody>
          <a:bodyPr lIns="0" tIns="0" rIns="0" bIns="0">
            <a:spAutoFit/>
          </a:bodyPr>
          <a:lstStyle/>
          <a:p>
            <a:pPr marL="342900" indent="-342900"/>
            <a:r>
              <a:rPr lang="en-US" sz="2400" dirty="0"/>
              <a:t>All Golgi-specific proteins are integral membrane proteins with one or more membrane-spanning domains</a:t>
            </a:r>
            <a:r>
              <a:rPr lang="en-US" sz="2400" dirty="0">
                <a:solidFill>
                  <a:schemeClr val="tx1"/>
                </a:solidFill>
              </a:rPr>
              <a:t>.</a:t>
            </a:r>
          </a:p>
          <a:p>
            <a:pPr marL="342900" indent="-342900"/>
            <a:r>
              <a:rPr lang="en-US" sz="2400" dirty="0"/>
              <a:t>The length of the hydrophobic domains may determine into which cisternae each protein is incorporated</a:t>
            </a:r>
            <a:r>
              <a:rPr lang="en-US" sz="2400" dirty="0">
                <a:solidFill>
                  <a:schemeClr val="tx1"/>
                </a:solidFill>
              </a:rPr>
              <a:t>.</a:t>
            </a:r>
          </a:p>
          <a:p>
            <a:pPr marL="342900" indent="-342900"/>
            <a:r>
              <a:rPr lang="en-US" sz="2400" dirty="0"/>
              <a:t>The thickness of cellular membranes increases progressively from the </a:t>
            </a:r>
            <a:r>
              <a:rPr lang="en-US" sz="2400" spc="-300" dirty="0"/>
              <a:t>E </a:t>
            </a:r>
            <a:r>
              <a:rPr lang="en-US" sz="2400" dirty="0"/>
              <a:t>R (5 nm) to the plasma membrane (8 nm</a:t>
            </a:r>
            <a:r>
              <a:rPr lang="en-US" sz="2400" dirty="0">
                <a:solidFill>
                  <a:schemeClr val="tx1"/>
                </a:solidFill>
              </a:rPr>
              <a:t>).</a:t>
            </a:r>
          </a:p>
        </p:txBody>
      </p:sp>
    </p:spTree>
    <p:extLst>
      <p:ext uri="{BB962C8B-B14F-4D97-AF65-F5344CB8AC3E}">
        <p14:creationId xmlns:p14="http://schemas.microsoft.com/office/powerpoint/2010/main" val="307034854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72934"/>
            <a:ext cx="8302240" cy="1661993"/>
          </a:xfrm>
        </p:spPr>
        <p:txBody>
          <a:bodyPr lIns="0" tIns="0" rIns="0" bIns="0" anchor="ctr">
            <a:spAutoFit/>
          </a:bodyPr>
          <a:lstStyle/>
          <a:p>
            <a:r>
              <a:rPr lang="en-US" sz="3600" dirty="0">
                <a:latin typeface="+mj-lt"/>
              </a:rPr>
              <a:t>Length of Hydrophobic Domains Is Correlated with Location in the Golgi Complex</a:t>
            </a: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2067307"/>
            <a:ext cx="8302240" cy="2600712"/>
          </a:xfrm>
        </p:spPr>
        <p:txBody>
          <a:bodyPr lIns="0" tIns="0" rIns="0" bIns="0">
            <a:spAutoFit/>
          </a:bodyPr>
          <a:lstStyle/>
          <a:p>
            <a:pPr marL="342900" indent="-342900"/>
            <a:r>
              <a:rPr lang="en-US" sz="2400" dirty="0"/>
              <a:t>The thickness of membranes in the Golgi increases from the </a:t>
            </a:r>
            <a:r>
              <a:rPr lang="en-US" sz="2400" spc="-300" dirty="0"/>
              <a:t>C G </a:t>
            </a:r>
            <a:r>
              <a:rPr lang="en-US" sz="2400" dirty="0"/>
              <a:t>N to the </a:t>
            </a:r>
            <a:r>
              <a:rPr lang="en-US" sz="2400" spc="-300" dirty="0"/>
              <a:t>T G </a:t>
            </a:r>
            <a:r>
              <a:rPr lang="en-US" sz="2400" dirty="0"/>
              <a:t>N</a:t>
            </a:r>
            <a:r>
              <a:rPr lang="en-US" sz="2400" dirty="0">
                <a:solidFill>
                  <a:schemeClr val="tx1"/>
                </a:solidFill>
              </a:rPr>
              <a:t>.</a:t>
            </a:r>
          </a:p>
          <a:p>
            <a:pPr marL="342900" indent="-342900"/>
            <a:r>
              <a:rPr lang="en-US" sz="2400" dirty="0"/>
              <a:t>Proteins move from compartment to compartment until the membrane thickness exceeds the length of the transmembrane domains</a:t>
            </a:r>
            <a:r>
              <a:rPr lang="en-US" sz="2400" dirty="0">
                <a:solidFill>
                  <a:schemeClr val="tx1"/>
                </a:solidFill>
              </a:rPr>
              <a:t>.</a:t>
            </a:r>
          </a:p>
          <a:p>
            <a:pPr marL="342900" indent="-342900"/>
            <a:r>
              <a:rPr lang="en-US" sz="2400" dirty="0"/>
              <a:t>This blocks further migration</a:t>
            </a:r>
            <a:r>
              <a:rPr lang="en-US" sz="2400" dirty="0">
                <a:solidFill>
                  <a:schemeClr val="tx1"/>
                </a:solidFill>
              </a:rPr>
              <a:t>.</a:t>
            </a:r>
          </a:p>
        </p:txBody>
      </p:sp>
    </p:spTree>
    <p:extLst>
      <p:ext uri="{BB962C8B-B14F-4D97-AF65-F5344CB8AC3E}">
        <p14:creationId xmlns:p14="http://schemas.microsoft.com/office/powerpoint/2010/main" val="370302562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218319"/>
            <a:ext cx="8302240" cy="1477328"/>
          </a:xfrm>
        </p:spPr>
        <p:txBody>
          <a:bodyPr lIns="0" tIns="0" rIns="0" bIns="0" anchor="ctr">
            <a:spAutoFit/>
          </a:bodyPr>
          <a:lstStyle/>
          <a:p>
            <a:r>
              <a:rPr lang="en-US" sz="3200" dirty="0">
                <a:latin typeface="+mj-lt"/>
              </a:rPr>
              <a:t>Targeting of Soluble Lysosomal Proteins to Endosomes and Lysosomes Is a Model for Protein Sorting in the </a:t>
            </a:r>
            <a:r>
              <a:rPr lang="en-US" sz="3200" spc="-500" dirty="0">
                <a:latin typeface="+mj-lt"/>
              </a:rPr>
              <a:t>T G </a:t>
            </a:r>
            <a:r>
              <a:rPr lang="en-US" sz="3200" dirty="0">
                <a:latin typeface="+mj-lt"/>
              </a:rPr>
              <a:t>N</a:t>
            </a: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891567"/>
            <a:ext cx="8302240" cy="3339376"/>
          </a:xfrm>
        </p:spPr>
        <p:txBody>
          <a:bodyPr lIns="0" tIns="0" rIns="0" bIns="0">
            <a:spAutoFit/>
          </a:bodyPr>
          <a:lstStyle/>
          <a:p>
            <a:pPr marL="342900" indent="-342900"/>
            <a:r>
              <a:rPr lang="en-US" sz="2400" dirty="0"/>
              <a:t>Soluble lysosomal enzymes in the </a:t>
            </a:r>
            <a:r>
              <a:rPr lang="en-US" sz="2400" spc="-300" dirty="0"/>
              <a:t>E </a:t>
            </a:r>
            <a:r>
              <a:rPr lang="en-US" sz="2400" dirty="0"/>
              <a:t>R and early Golgi compartments undergo N-glycosylation followed by removal of glucose and mannose units</a:t>
            </a:r>
            <a:r>
              <a:rPr lang="en-US" sz="2400" dirty="0">
                <a:solidFill>
                  <a:schemeClr val="tx1"/>
                </a:solidFill>
              </a:rPr>
              <a:t>.</a:t>
            </a:r>
          </a:p>
          <a:p>
            <a:pPr marL="342900" indent="-342900"/>
            <a:r>
              <a:rPr lang="en-US" sz="2400" dirty="0"/>
              <a:t>The mannose residues on the side chains are phosphorylated within the Golgi complex, forming an oligosaccharide containing mannose-6-phosphate</a:t>
            </a:r>
            <a:r>
              <a:rPr lang="en-US" sz="2400" dirty="0">
                <a:solidFill>
                  <a:schemeClr val="tx1"/>
                </a:solidFill>
              </a:rPr>
              <a:t>.</a:t>
            </a:r>
          </a:p>
          <a:p>
            <a:pPr marL="342900" indent="-342900"/>
            <a:r>
              <a:rPr lang="en-US" sz="2400" dirty="0"/>
              <a:t>This tag ensures delivery of lysosomal proteins to the lysosomes</a:t>
            </a:r>
            <a:r>
              <a:rPr lang="en-US" sz="2400" dirty="0">
                <a:solidFill>
                  <a:schemeClr val="tx1"/>
                </a:solidFill>
              </a:rPr>
              <a:t>.</a:t>
            </a:r>
          </a:p>
        </p:txBody>
      </p:sp>
    </p:spTree>
    <p:extLst>
      <p:ext uri="{BB962C8B-B14F-4D97-AF65-F5344CB8AC3E}">
        <p14:creationId xmlns:p14="http://schemas.microsoft.com/office/powerpoint/2010/main" val="10358896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40461" y="218319"/>
            <a:ext cx="8302240" cy="1477328"/>
          </a:xfrm>
        </p:spPr>
        <p:txBody>
          <a:bodyPr lIns="0" tIns="0" rIns="0" bIns="0" anchor="ctr">
            <a:spAutoFit/>
          </a:bodyPr>
          <a:lstStyle/>
          <a:p>
            <a:r>
              <a:rPr lang="en-US" sz="3200" dirty="0">
                <a:latin typeface="+mj-lt"/>
              </a:rPr>
              <a:t>Targeting of Lysosomal Proteins to Endosomes and Lysosomes by Mannose-6-Phosphate Tag </a:t>
            </a:r>
            <a:r>
              <a:rPr lang="en-US" sz="2400" dirty="0">
                <a:latin typeface="+mj-lt"/>
              </a:rPr>
              <a:t>(1 of 3)</a:t>
            </a: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899880"/>
            <a:ext cx="8302240" cy="3300904"/>
          </a:xfrm>
        </p:spPr>
        <p:txBody>
          <a:bodyPr lIns="0" tIns="0" rIns="0" bIns="0">
            <a:spAutoFit/>
          </a:bodyPr>
          <a:lstStyle/>
          <a:p>
            <a:pPr marL="457200" indent="-457200">
              <a:buFont typeface="+mj-lt"/>
              <a:buAutoNum type="arabicPeriod"/>
            </a:pPr>
            <a:r>
              <a:rPr lang="en-US" sz="2400" spc="-300" dirty="0"/>
              <a:t>E </a:t>
            </a:r>
            <a:r>
              <a:rPr lang="en-US" sz="2400" dirty="0"/>
              <a:t>R: soluble lysosomal enzymes are N-glycosylated. Glucose and mannose units are removed. </a:t>
            </a:r>
          </a:p>
          <a:p>
            <a:pPr marL="457200" indent="-457200">
              <a:buFont typeface="+mj-lt"/>
              <a:buAutoNum type="arabicPeriod"/>
            </a:pPr>
            <a:r>
              <a:rPr lang="en-US" sz="2400" dirty="0"/>
              <a:t>Golgi apparatus: mannose is phosphorylated by two Golgi specific enzymes.</a:t>
            </a:r>
          </a:p>
          <a:p>
            <a:pPr marL="944118" lvl="1" indent="-457200">
              <a:buFont typeface="+mj-lt"/>
              <a:buAutoNum type="arabicPeriod"/>
            </a:pPr>
            <a:r>
              <a:rPr lang="en-US" sz="2400" dirty="0"/>
              <a:t>Early compartment of the Golgi stack: phosphotransferase adds </a:t>
            </a:r>
            <a:r>
              <a:rPr lang="en-US" sz="2400" spc="-300" dirty="0"/>
              <a:t>G l c N A </a:t>
            </a:r>
            <a:r>
              <a:rPr lang="en-US" sz="2400" dirty="0"/>
              <a:t>c-1-phosphate.</a:t>
            </a:r>
          </a:p>
          <a:p>
            <a:pPr marL="944118" lvl="1" indent="-457200">
              <a:buFont typeface="+mj-lt"/>
              <a:buAutoNum type="arabicPeriod"/>
            </a:pPr>
            <a:r>
              <a:rPr lang="en-US" sz="2400" dirty="0"/>
              <a:t>Mid-Golgi: a second enzyme removes </a:t>
            </a:r>
            <a:r>
              <a:rPr lang="en-US" sz="2400" spc="-300" dirty="0"/>
              <a:t>G l c N A </a:t>
            </a:r>
            <a:r>
              <a:rPr lang="en-US" sz="2400" dirty="0"/>
              <a:t>c. A mannose-6-phosphate remains.</a:t>
            </a:r>
          </a:p>
        </p:txBody>
      </p:sp>
    </p:spTree>
    <p:extLst>
      <p:ext uri="{BB962C8B-B14F-4D97-AF65-F5344CB8AC3E}">
        <p14:creationId xmlns:p14="http://schemas.microsoft.com/office/powerpoint/2010/main" val="312448417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16052" y="185509"/>
            <a:ext cx="8311896" cy="1569954"/>
          </a:xfrm>
        </p:spPr>
        <p:txBody>
          <a:bodyPr lIns="0" tIns="0" rIns="0" bIns="0" anchor="ctr">
            <a:spAutoFit/>
          </a:bodyPr>
          <a:lstStyle/>
          <a:p>
            <a:r>
              <a:rPr lang="en-US" sz="3200" dirty="0"/>
              <a:t>Targeting of Lysosomal Proteins to Endosomes and Lysosomes by Mannose-6-Phosphate Tag </a:t>
            </a:r>
            <a:r>
              <a:rPr lang="en-US" sz="2400" dirty="0"/>
              <a:t>(2 of 3)</a:t>
            </a:r>
          </a:p>
        </p:txBody>
      </p:sp>
      <p:sp>
        <p:nvSpPr>
          <p:cNvPr id="3" name="Content Placeholder 2">
            <a:extLst>
              <a:ext uri="{FF2B5EF4-FFF2-40B4-BE49-F238E27FC236}">
                <a16:creationId xmlns:a16="http://schemas.microsoft.com/office/drawing/2014/main" xmlns="" id="{99835633-C323-40D4-AC4E-B8938AA16365}"/>
              </a:ext>
            </a:extLst>
          </p:cNvPr>
          <p:cNvSpPr>
            <a:spLocks noGrp="1"/>
          </p:cNvSpPr>
          <p:nvPr>
            <p:ph sz="quarter" idx="14"/>
          </p:nvPr>
        </p:nvSpPr>
        <p:spPr>
          <a:xfrm>
            <a:off x="442453" y="1867623"/>
            <a:ext cx="8267699" cy="840745"/>
          </a:xfrm>
        </p:spPr>
        <p:txBody>
          <a:bodyPr/>
          <a:lstStyle/>
          <a:p>
            <a:pPr marL="457200" indent="-457200">
              <a:buFont typeface="+mj-lt"/>
              <a:buAutoNum type="arabicPeriod" startAt="3"/>
            </a:pPr>
            <a:r>
              <a:rPr lang="en-US" sz="2400" spc="-300" dirty="0"/>
              <a:t>T G </a:t>
            </a:r>
            <a:r>
              <a:rPr lang="en-US" sz="2400" dirty="0"/>
              <a:t>N: mannose-6-phosphate tagged enzymes bind mannose-6-phosphate receptors (</a:t>
            </a:r>
            <a:r>
              <a:rPr lang="en-US" sz="2400" spc="-300" dirty="0"/>
              <a:t>M P </a:t>
            </a:r>
            <a:r>
              <a:rPr lang="en-US" sz="2400" dirty="0"/>
              <a:t>R).</a:t>
            </a:r>
            <a:endParaRPr lang="en-IN" sz="2400" dirty="0"/>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sz="quarter" idx="13"/>
          </p:nvPr>
        </p:nvSpPr>
        <p:spPr>
          <a:xfrm>
            <a:off x="416052" y="2865184"/>
            <a:ext cx="8285495" cy="738664"/>
          </a:xfrm>
        </p:spPr>
        <p:txBody>
          <a:bodyPr wrap="square" lIns="0" tIns="0" rIns="0" bIns="0">
            <a:spAutoFit/>
          </a:bodyPr>
          <a:lstStyle/>
          <a:p>
            <a:pPr marL="944118" lvl="1" indent="-457200"/>
            <a:r>
              <a:rPr lang="en-US" sz="2400" dirty="0"/>
              <a:t>The receptor-ligand complex is packaged into a vesicle and conveyed to an early endosome. </a:t>
            </a:r>
          </a:p>
        </p:txBody>
      </p:sp>
      <p:sp>
        <p:nvSpPr>
          <p:cNvPr id="4" name="Content Placeholder 3">
            <a:extLst>
              <a:ext uri="{FF2B5EF4-FFF2-40B4-BE49-F238E27FC236}">
                <a16:creationId xmlns:a16="http://schemas.microsoft.com/office/drawing/2014/main" xmlns="" id="{791901E3-29B6-4B9A-A592-62AF59225B54}"/>
              </a:ext>
            </a:extLst>
          </p:cNvPr>
          <p:cNvSpPr>
            <a:spLocks noGrp="1"/>
          </p:cNvSpPr>
          <p:nvPr>
            <p:ph sz="quarter" idx="15"/>
          </p:nvPr>
        </p:nvSpPr>
        <p:spPr>
          <a:xfrm>
            <a:off x="442453" y="3789648"/>
            <a:ext cx="8244347" cy="1179508"/>
          </a:xfrm>
        </p:spPr>
        <p:txBody>
          <a:bodyPr anchor="ctr"/>
          <a:lstStyle/>
          <a:p>
            <a:pPr marL="444500" indent="-444500">
              <a:buFont typeface="+mj-lt"/>
              <a:buAutoNum type="arabicPeriod" startAt="4"/>
            </a:pPr>
            <a:r>
              <a:rPr lang="en-US" sz="2400" dirty="0"/>
              <a:t>Early endosome matures into a late endosome. The </a:t>
            </a:r>
            <a:r>
              <a:rPr lang="en-US" sz="2400" spc="-300" dirty="0"/>
              <a:t>p </a:t>
            </a:r>
            <a:r>
              <a:rPr lang="en-US" sz="2400" dirty="0"/>
              <a:t>H decreases causing the receptor and enzyme to separate. </a:t>
            </a:r>
          </a:p>
        </p:txBody>
      </p:sp>
    </p:spTree>
    <p:extLst>
      <p:ext uri="{BB962C8B-B14F-4D97-AF65-F5344CB8AC3E}">
        <p14:creationId xmlns:p14="http://schemas.microsoft.com/office/powerpoint/2010/main" val="322774033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16052" y="231822"/>
            <a:ext cx="8311896" cy="1477328"/>
          </a:xfrm>
        </p:spPr>
        <p:txBody>
          <a:bodyPr lIns="0" tIns="0" rIns="0" bIns="0" anchor="ctr">
            <a:spAutoFit/>
          </a:bodyPr>
          <a:lstStyle/>
          <a:p>
            <a:r>
              <a:rPr lang="en-US" sz="3200" dirty="0"/>
              <a:t>Targeting of Lysosomal Proteins to Endosomes and Lysosomes by Mannose-6-Phosphate Tag </a:t>
            </a:r>
            <a:r>
              <a:rPr lang="en-US" sz="2400" dirty="0"/>
              <a:t>(3 of 3)</a:t>
            </a:r>
          </a:p>
        </p:txBody>
      </p:sp>
      <p:sp>
        <p:nvSpPr>
          <p:cNvPr id="3" name="Content Placeholder 2">
            <a:extLst>
              <a:ext uri="{FF2B5EF4-FFF2-40B4-BE49-F238E27FC236}">
                <a16:creationId xmlns:a16="http://schemas.microsoft.com/office/drawing/2014/main" xmlns="" id="{99835633-C323-40D4-AC4E-B8938AA16365}"/>
              </a:ext>
            </a:extLst>
          </p:cNvPr>
          <p:cNvSpPr>
            <a:spLocks noGrp="1"/>
          </p:cNvSpPr>
          <p:nvPr>
            <p:ph sz="quarter" idx="14"/>
          </p:nvPr>
        </p:nvSpPr>
        <p:spPr>
          <a:xfrm>
            <a:off x="442453" y="1867624"/>
            <a:ext cx="8267699" cy="551112"/>
          </a:xfrm>
        </p:spPr>
        <p:txBody>
          <a:bodyPr/>
          <a:lstStyle/>
          <a:p>
            <a:pPr marL="457200" indent="-457200">
              <a:buFont typeface="+mj-lt"/>
              <a:buAutoNum type="arabicPeriod" startAt="5"/>
            </a:pPr>
            <a:r>
              <a:rPr lang="en-US" sz="2400" dirty="0"/>
              <a:t>The receptor are recycled in vesicles to the </a:t>
            </a:r>
            <a:r>
              <a:rPr lang="en-US" sz="2400" spc="-300" dirty="0"/>
              <a:t>T G </a:t>
            </a:r>
            <a:r>
              <a:rPr lang="en-US" sz="2400" dirty="0"/>
              <a:t>N. </a:t>
            </a: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sz="quarter" idx="13"/>
          </p:nvPr>
        </p:nvSpPr>
        <p:spPr>
          <a:xfrm>
            <a:off x="416052" y="2570216"/>
            <a:ext cx="8285495" cy="738664"/>
          </a:xfrm>
        </p:spPr>
        <p:txBody>
          <a:bodyPr wrap="square" lIns="0" tIns="0" rIns="0" bIns="0">
            <a:spAutoFit/>
          </a:bodyPr>
          <a:lstStyle/>
          <a:p>
            <a:pPr marL="944118" lvl="1" indent="-457200"/>
            <a:r>
              <a:rPr lang="en-US" sz="2400" dirty="0"/>
              <a:t>The late endosome either matures into a lysosome or delivers its content to an active lysosome. </a:t>
            </a:r>
          </a:p>
        </p:txBody>
      </p:sp>
    </p:spTree>
    <p:extLst>
      <p:ext uri="{BB962C8B-B14F-4D97-AF65-F5344CB8AC3E}">
        <p14:creationId xmlns:p14="http://schemas.microsoft.com/office/powerpoint/2010/main" val="24389909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81453"/>
            <a:ext cx="8302240" cy="553998"/>
          </a:xfrm>
        </p:spPr>
        <p:txBody>
          <a:bodyPr lIns="0" tIns="0" rIns="0" bIns="0" anchor="ctr">
            <a:spAutoFit/>
          </a:bodyPr>
          <a:lstStyle/>
          <a:p>
            <a:r>
              <a:rPr lang="en-US" sz="3600" dirty="0">
                <a:latin typeface="+mj-lt"/>
              </a:rPr>
              <a:t>Multivesicular Endosomes</a:t>
            </a: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062752"/>
            <a:ext cx="8302240" cy="2970044"/>
          </a:xfrm>
        </p:spPr>
        <p:txBody>
          <a:bodyPr lIns="0" tIns="0" rIns="0" bIns="0">
            <a:spAutoFit/>
          </a:bodyPr>
          <a:lstStyle/>
          <a:p>
            <a:pPr marL="342900" indent="-342900"/>
            <a:r>
              <a:rPr lang="en-US" sz="2400" dirty="0"/>
              <a:t>Degradation and recycling of unneeded or damaged components are carried out by specialized late endosomes called </a:t>
            </a:r>
            <a:r>
              <a:rPr lang="en-US" sz="2400" i="1" dirty="0"/>
              <a:t>multivesicular endosomes </a:t>
            </a:r>
            <a:r>
              <a:rPr lang="en-US" sz="2400" dirty="0">
                <a:solidFill>
                  <a:schemeClr val="tx1"/>
                </a:solidFill>
              </a:rPr>
              <a:t>(</a:t>
            </a:r>
            <a:r>
              <a:rPr lang="en-US" sz="2400" i="1" spc="-300" dirty="0"/>
              <a:t>M V E </a:t>
            </a:r>
            <a:r>
              <a:rPr lang="en-US" sz="2400" i="1" dirty="0"/>
              <a:t>s</a:t>
            </a:r>
            <a:r>
              <a:rPr lang="en-US" sz="2400" dirty="0">
                <a:solidFill>
                  <a:schemeClr val="tx1"/>
                </a:solidFill>
              </a:rPr>
              <a:t>).</a:t>
            </a:r>
            <a:endParaRPr lang="en-US" sz="2400" i="1" dirty="0">
              <a:solidFill>
                <a:schemeClr val="tx1"/>
              </a:solidFill>
            </a:endParaRPr>
          </a:p>
          <a:p>
            <a:pPr marL="342900" indent="-342900"/>
            <a:r>
              <a:rPr lang="en-US" sz="2400" dirty="0"/>
              <a:t>They are sometimes called </a:t>
            </a:r>
            <a:r>
              <a:rPr lang="en-US" sz="2400" i="1" dirty="0"/>
              <a:t>multivesicular bodies </a:t>
            </a:r>
            <a:r>
              <a:rPr lang="en-US" sz="2400" dirty="0">
                <a:solidFill>
                  <a:schemeClr val="tx1"/>
                </a:solidFill>
              </a:rPr>
              <a:t>(</a:t>
            </a:r>
            <a:r>
              <a:rPr lang="en-US" sz="2400" i="1" spc="-300" dirty="0"/>
              <a:t>M V B </a:t>
            </a:r>
            <a:r>
              <a:rPr lang="en-US" sz="2400" i="1" dirty="0"/>
              <a:t>s</a:t>
            </a:r>
            <a:r>
              <a:rPr lang="en-US" sz="2400" dirty="0">
                <a:solidFill>
                  <a:schemeClr val="tx1"/>
                </a:solidFill>
              </a:rPr>
              <a:t>).</a:t>
            </a:r>
            <a:endParaRPr lang="en-US" sz="2400" i="1" dirty="0">
              <a:solidFill>
                <a:schemeClr val="tx1"/>
              </a:solidFill>
            </a:endParaRPr>
          </a:p>
          <a:p>
            <a:pPr marL="342900" indent="-342900"/>
            <a:r>
              <a:rPr lang="en-US" sz="2400" dirty="0"/>
              <a:t>These serve as an intermediate between early endosomes and lysosomes and sequester materials destined for degradation or recycling</a:t>
            </a:r>
            <a:r>
              <a:rPr lang="en-US" sz="2400" dirty="0">
                <a:solidFill>
                  <a:schemeClr val="tx1"/>
                </a:solidFill>
              </a:rPr>
              <a:t>.</a:t>
            </a:r>
          </a:p>
        </p:txBody>
      </p:sp>
    </p:spTree>
    <p:extLst>
      <p:ext uri="{BB962C8B-B14F-4D97-AF65-F5344CB8AC3E}">
        <p14:creationId xmlns:p14="http://schemas.microsoft.com/office/powerpoint/2010/main" val="122613931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30566" y="214343"/>
            <a:ext cx="8229600" cy="1477328"/>
          </a:xfrm>
        </p:spPr>
        <p:txBody>
          <a:bodyPr lIns="0" tIns="0" rIns="0" bIns="0" anchor="ctr">
            <a:spAutoFit/>
          </a:bodyPr>
          <a:lstStyle/>
          <a:p>
            <a:r>
              <a:rPr lang="en-US" sz="3200" dirty="0"/>
              <a:t>Targeting of Soluble Lysosomal Enzymes to Endosomes and Lysosomes by Mannose-6-Phosphate Tag</a:t>
            </a:r>
          </a:p>
        </p:txBody>
      </p:sp>
      <p:sp>
        <p:nvSpPr>
          <p:cNvPr id="6" name="Content Placeholder 5"/>
          <p:cNvSpPr>
            <a:spLocks noGrp="1"/>
          </p:cNvSpPr>
          <p:nvPr>
            <p:ph sz="quarter" idx="15"/>
          </p:nvPr>
        </p:nvSpPr>
        <p:spPr>
          <a:xfrm>
            <a:off x="421688" y="1993890"/>
            <a:ext cx="3532126" cy="2215991"/>
          </a:xfrm>
        </p:spPr>
        <p:txBody>
          <a:bodyPr wrap="square" lIns="0" tIns="0" rIns="0" bIns="0">
            <a:spAutoFit/>
          </a:bodyPr>
          <a:lstStyle/>
          <a:p>
            <a:pPr marL="0" indent="0">
              <a:buNone/>
            </a:pPr>
            <a:r>
              <a:rPr lang="en-US" sz="2400" b="1" dirty="0"/>
              <a:t>Figure 12.12 </a:t>
            </a:r>
            <a:r>
              <a:rPr lang="en-US" sz="2400" dirty="0"/>
              <a:t>Targeting of Soluble Lysosomal Enzymes to Endosomes and Lysosomes by a </a:t>
            </a:r>
            <a:r>
              <a:rPr lang="en-US" sz="2400" dirty="0">
                <a:solidFill>
                  <a:schemeClr val="tx1"/>
                </a:solidFill>
              </a:rPr>
              <a:t>Mannose-6-Phosphate Tag. </a:t>
            </a:r>
          </a:p>
        </p:txBody>
      </p:sp>
      <p:pic>
        <p:nvPicPr>
          <p:cNvPr id="5" name="Picture Placeholder 4" descr="An illustration shows five steps in converting soluble lysosomal enzymes to endosomes and lysosomes.&#10;Long description is available in notes, press F6"/>
          <p:cNvPicPr>
            <a:picLocks noGrp="1" noChangeAspect="1"/>
          </p:cNvPicPr>
          <p:nvPr>
            <p:ph type="pic" sz="quarter" idx="16"/>
          </p:nvPr>
        </p:nvPicPr>
        <p:blipFill rotWithShape="1">
          <a:blip r:embed="rId3" cstate="print">
            <a:extLst>
              <a:ext uri="{28A0092B-C50C-407E-A947-70E740481C1C}">
                <a14:useLocalDpi xmlns:a14="http://schemas.microsoft.com/office/drawing/2010/main" val="0"/>
              </a:ext>
            </a:extLst>
          </a:blip>
          <a:srcRect t="2139" b="3319"/>
          <a:stretch/>
        </p:blipFill>
        <p:spPr>
          <a:xfrm>
            <a:off x="4338423" y="2023208"/>
            <a:ext cx="4339186" cy="4292917"/>
          </a:xfrm>
        </p:spPr>
      </p:pic>
    </p:spTree>
    <p:extLst>
      <p:ext uri="{BB962C8B-B14F-4D97-AF65-F5344CB8AC3E}">
        <p14:creationId xmlns:p14="http://schemas.microsoft.com/office/powerpoint/2010/main" val="321622174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86091"/>
            <a:ext cx="8302240" cy="1661993"/>
          </a:xfrm>
        </p:spPr>
        <p:txBody>
          <a:bodyPr lIns="0" tIns="0" rIns="0" bIns="0" anchor="ctr">
            <a:spAutoFit/>
          </a:bodyPr>
          <a:lstStyle/>
          <a:p>
            <a:r>
              <a:rPr lang="en-US" sz="3600" dirty="0">
                <a:latin typeface="+mj-lt"/>
              </a:rPr>
              <a:t>Stop-Transfer Sequences Mediate the Insertion of Integral Membrane Proteins</a:t>
            </a: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2065960"/>
            <a:ext cx="8302240" cy="2777683"/>
          </a:xfrm>
        </p:spPr>
        <p:txBody>
          <a:bodyPr lIns="0" tIns="0" rIns="0" bIns="0">
            <a:spAutoFit/>
          </a:bodyPr>
          <a:lstStyle/>
          <a:p>
            <a:pPr marL="342900" indent="-342900"/>
            <a:r>
              <a:rPr lang="en-US" sz="2400" dirty="0"/>
              <a:t>The polypeptide of </a:t>
            </a:r>
            <a:r>
              <a:rPr lang="en-US" sz="2400" i="1" dirty="0"/>
              <a:t>integral membrane proteins</a:t>
            </a:r>
            <a:r>
              <a:rPr lang="en-US" sz="2400" dirty="0"/>
              <a:t> are synthesized like the soluble proteins. However, the completed polypeptide chain remains in the </a:t>
            </a:r>
            <a:r>
              <a:rPr lang="en-US" sz="2400" spc="-300" dirty="0"/>
              <a:t>E </a:t>
            </a:r>
            <a:r>
              <a:rPr lang="en-US" sz="2400" dirty="0"/>
              <a:t>R membrane. </a:t>
            </a:r>
          </a:p>
          <a:p>
            <a:pPr marL="342900" indent="-342900"/>
            <a:r>
              <a:rPr lang="en-US" sz="2400" dirty="0"/>
              <a:t>Two main mechanisms to anchor newly formed polypeptide chains to the lipid bilayer of the </a:t>
            </a:r>
            <a:r>
              <a:rPr lang="en-US" sz="2400" spc="-300" dirty="0"/>
              <a:t>E </a:t>
            </a:r>
            <a:r>
              <a:rPr lang="en-US" sz="2400" dirty="0"/>
              <a:t>R membrane. </a:t>
            </a:r>
          </a:p>
        </p:txBody>
      </p:sp>
    </p:spTree>
    <p:extLst>
      <p:ext uri="{BB962C8B-B14F-4D97-AF65-F5344CB8AC3E}">
        <p14:creationId xmlns:p14="http://schemas.microsoft.com/office/powerpoint/2010/main" val="199233785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30566" y="231254"/>
            <a:ext cx="8229600" cy="954107"/>
          </a:xfrm>
        </p:spPr>
        <p:txBody>
          <a:bodyPr lIns="0" tIns="0" rIns="0" bIns="0" anchor="ctr">
            <a:spAutoFit/>
          </a:bodyPr>
          <a:lstStyle/>
          <a:p>
            <a:r>
              <a:rPr lang="en-US" sz="3000" dirty="0"/>
              <a:t>Cotranslational Insertion of Transmembrane Proteins into the ER Membrane</a:t>
            </a:r>
          </a:p>
        </p:txBody>
      </p:sp>
      <p:sp>
        <p:nvSpPr>
          <p:cNvPr id="6" name="Content Placeholder 5"/>
          <p:cNvSpPr>
            <a:spLocks noGrp="1"/>
          </p:cNvSpPr>
          <p:nvPr>
            <p:ph sz="quarter" idx="15"/>
          </p:nvPr>
        </p:nvSpPr>
        <p:spPr>
          <a:xfrm>
            <a:off x="421687" y="1332131"/>
            <a:ext cx="5407613" cy="1107996"/>
          </a:xfrm>
        </p:spPr>
        <p:txBody>
          <a:bodyPr wrap="square" lIns="0" tIns="0" rIns="0" bIns="0">
            <a:spAutoFit/>
          </a:bodyPr>
          <a:lstStyle/>
          <a:p>
            <a:pPr marL="0" indent="0">
              <a:buNone/>
            </a:pPr>
            <a:r>
              <a:rPr lang="en-US" sz="2400" b="1" dirty="0"/>
              <a:t>Figure 12.13 </a:t>
            </a:r>
            <a:r>
              <a:rPr lang="en-US" sz="2400" dirty="0"/>
              <a:t>Cotranslational Insertion of Transmembrane Proteins into the </a:t>
            </a:r>
            <a:r>
              <a:rPr lang="en-US" sz="2400" dirty="0">
                <a:solidFill>
                  <a:schemeClr val="tx1"/>
                </a:solidFill>
              </a:rPr>
              <a:t>ER </a:t>
            </a:r>
            <a:r>
              <a:rPr lang="en-US" sz="2400" dirty="0"/>
              <a:t>Membrane.</a:t>
            </a:r>
          </a:p>
        </p:txBody>
      </p:sp>
      <p:pic>
        <p:nvPicPr>
          <p:cNvPr id="4" name="Picture Placeholder 3" descr="An illustration shows co-translational insertion of type 1, type 2, and multipass transmembrane proteins into the E R membrane. &#10;Long description is available in notes, press F6"/>
          <p:cNvPicPr>
            <a:picLocks noGrp="1" noChangeAspect="1"/>
          </p:cNvPicPr>
          <p:nvPr>
            <p:ph type="pic" sz="quarter" idx="16"/>
          </p:nvPr>
        </p:nvPicPr>
        <p:blipFill rotWithShape="1">
          <a:blip r:embed="rId3">
            <a:extLst>
              <a:ext uri="{28A0092B-C50C-407E-A947-70E740481C1C}">
                <a14:useLocalDpi xmlns:a14="http://schemas.microsoft.com/office/drawing/2010/main" val="0"/>
              </a:ext>
            </a:extLst>
          </a:blip>
          <a:srcRect b="1791"/>
          <a:stretch/>
        </p:blipFill>
        <p:spPr>
          <a:xfrm>
            <a:off x="6171341" y="1309759"/>
            <a:ext cx="2474017" cy="5091041"/>
          </a:xfrm>
        </p:spPr>
      </p:pic>
    </p:spTree>
    <p:extLst>
      <p:ext uri="{BB962C8B-B14F-4D97-AF65-F5344CB8AC3E}">
        <p14:creationId xmlns:p14="http://schemas.microsoft.com/office/powerpoint/2010/main" val="376446787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73143"/>
            <a:ext cx="8302240" cy="553998"/>
          </a:xfrm>
        </p:spPr>
        <p:txBody>
          <a:bodyPr lIns="0" tIns="0" rIns="0" bIns="0" anchor="ctr">
            <a:spAutoFit/>
          </a:bodyPr>
          <a:lstStyle/>
          <a:p>
            <a:r>
              <a:rPr lang="en-US" sz="3600" dirty="0">
                <a:latin typeface="+mj-lt"/>
              </a:rPr>
              <a:t>Stop-Transfer Sequences </a:t>
            </a:r>
            <a:r>
              <a:rPr lang="en-US" sz="2800" dirty="0">
                <a:latin typeface="+mj-lt"/>
              </a:rPr>
              <a:t>(1 of 2)</a:t>
            </a: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063571"/>
            <a:ext cx="8302240" cy="2600712"/>
          </a:xfrm>
        </p:spPr>
        <p:txBody>
          <a:bodyPr lIns="0" tIns="0" rIns="0" bIns="0">
            <a:spAutoFit/>
          </a:bodyPr>
          <a:lstStyle/>
          <a:p>
            <a:pPr marL="342900" indent="-342900"/>
            <a:r>
              <a:rPr lang="en-US" sz="2400" dirty="0"/>
              <a:t>The first mechanism involves polypeptides with an </a:t>
            </a:r>
            <a:r>
              <a:rPr lang="en-US" sz="2400" spc="-300" dirty="0"/>
              <a:t>E </a:t>
            </a:r>
            <a:r>
              <a:rPr lang="en-US" sz="2400" dirty="0"/>
              <a:t>R signal sequence at their N-terminus</a:t>
            </a:r>
            <a:r>
              <a:rPr lang="en-US" sz="2400" dirty="0">
                <a:solidFill>
                  <a:schemeClr val="tx1"/>
                </a:solidFill>
              </a:rPr>
              <a:t>.</a:t>
            </a:r>
          </a:p>
          <a:p>
            <a:pPr marL="342900" indent="-342900"/>
            <a:r>
              <a:rPr lang="en-US" sz="2400" dirty="0"/>
              <a:t>This allows an </a:t>
            </a:r>
            <a:r>
              <a:rPr lang="en-US" sz="2400" spc="-300" dirty="0"/>
              <a:t>S R </a:t>
            </a:r>
            <a:r>
              <a:rPr lang="en-US" sz="2400" dirty="0"/>
              <a:t>P to bind the ribosome-</a:t>
            </a:r>
            <a:r>
              <a:rPr lang="en-US" sz="2400" spc="-300" dirty="0"/>
              <a:t>m R N </a:t>
            </a:r>
            <a:r>
              <a:rPr lang="en-US" sz="2400" dirty="0"/>
              <a:t>A complex to the </a:t>
            </a:r>
            <a:r>
              <a:rPr lang="en-US" sz="2400" spc="-300" dirty="0"/>
              <a:t>E </a:t>
            </a:r>
            <a:r>
              <a:rPr lang="en-US" sz="2400" dirty="0"/>
              <a:t>R membrane</a:t>
            </a:r>
            <a:r>
              <a:rPr lang="en-US" sz="2400" dirty="0">
                <a:solidFill>
                  <a:schemeClr val="tx1"/>
                </a:solidFill>
              </a:rPr>
              <a:t>.</a:t>
            </a:r>
          </a:p>
          <a:p>
            <a:pPr marL="342900" indent="-342900"/>
            <a:r>
              <a:rPr lang="en-US" sz="2400" dirty="0"/>
              <a:t>Elongation of the polypeptide continues until the hydrophobic transmembrane domain is synthesized</a:t>
            </a:r>
            <a:r>
              <a:rPr lang="en-US" sz="2400" dirty="0">
                <a:solidFill>
                  <a:schemeClr val="tx1"/>
                </a:solidFill>
              </a:rPr>
              <a:t>.</a:t>
            </a:r>
          </a:p>
        </p:txBody>
      </p:sp>
    </p:spTree>
    <p:extLst>
      <p:ext uri="{BB962C8B-B14F-4D97-AF65-F5344CB8AC3E}">
        <p14:creationId xmlns:p14="http://schemas.microsoft.com/office/powerpoint/2010/main" val="426180404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81456"/>
            <a:ext cx="8302240" cy="553998"/>
          </a:xfrm>
        </p:spPr>
        <p:txBody>
          <a:bodyPr lIns="0" tIns="0" rIns="0" bIns="0" anchor="ctr">
            <a:spAutoFit/>
          </a:bodyPr>
          <a:lstStyle/>
          <a:p>
            <a:r>
              <a:rPr lang="en-US" sz="3600" dirty="0">
                <a:latin typeface="+mj-lt"/>
              </a:rPr>
              <a:t>Stop-Transfer Sequences </a:t>
            </a:r>
            <a:r>
              <a:rPr lang="en-US" sz="2800" dirty="0">
                <a:latin typeface="+mj-lt"/>
              </a:rPr>
              <a:t>(2 of 2)</a:t>
            </a: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063571"/>
            <a:ext cx="8302240" cy="3339376"/>
          </a:xfrm>
        </p:spPr>
        <p:txBody>
          <a:bodyPr lIns="0" tIns="0" rIns="0" bIns="0">
            <a:spAutoFit/>
          </a:bodyPr>
          <a:lstStyle/>
          <a:p>
            <a:pPr marL="342900" indent="-342900"/>
            <a:r>
              <a:rPr lang="en-US" sz="2400" dirty="0"/>
              <a:t>The hydrophobic amino acids function as a </a:t>
            </a:r>
            <a:r>
              <a:rPr lang="en-US" sz="2400" b="1" dirty="0"/>
              <a:t>stop-transfer</a:t>
            </a:r>
            <a:r>
              <a:rPr lang="en-US" sz="2400" dirty="0"/>
              <a:t> </a:t>
            </a:r>
            <a:r>
              <a:rPr lang="en-US" sz="2400" b="1" dirty="0"/>
              <a:t>sequence</a:t>
            </a:r>
            <a:r>
              <a:rPr lang="en-US" sz="2400" dirty="0">
                <a:solidFill>
                  <a:schemeClr val="tx1"/>
                </a:solidFill>
              </a:rPr>
              <a:t>.</a:t>
            </a:r>
            <a:r>
              <a:rPr lang="en-US" sz="2400" dirty="0"/>
              <a:t> </a:t>
            </a:r>
          </a:p>
          <a:p>
            <a:pPr marL="342900" indent="-342900"/>
            <a:r>
              <a:rPr lang="en-US" sz="2400" dirty="0"/>
              <a:t>The stop-transfer sequence halts translocation of the polypeptide through the </a:t>
            </a:r>
            <a:r>
              <a:rPr lang="en-US" sz="2400" spc="-300" dirty="0"/>
              <a:t>E </a:t>
            </a:r>
            <a:r>
              <a:rPr lang="en-US" sz="2400" dirty="0"/>
              <a:t>R membrane; as translation continues, the rest of the polypeptide stays on the cytosolic side of the </a:t>
            </a:r>
            <a:r>
              <a:rPr lang="en-US" sz="2400" spc="-300" dirty="0"/>
              <a:t>E </a:t>
            </a:r>
            <a:r>
              <a:rPr lang="en-US" sz="2400" dirty="0"/>
              <a:t>R membrane</a:t>
            </a:r>
            <a:r>
              <a:rPr lang="en-US" sz="2400" dirty="0">
                <a:solidFill>
                  <a:schemeClr val="tx1"/>
                </a:solidFill>
              </a:rPr>
              <a:t>.</a:t>
            </a:r>
          </a:p>
          <a:p>
            <a:pPr marL="342900" indent="-342900"/>
            <a:r>
              <a:rPr lang="en-US" sz="2400" dirty="0"/>
              <a:t>The stop-transfer sequence moves laterally, forming a permanent transmembrane segment</a:t>
            </a:r>
            <a:r>
              <a:rPr lang="en-US" sz="2400" dirty="0">
                <a:solidFill>
                  <a:schemeClr val="tx1"/>
                </a:solidFill>
              </a:rPr>
              <a:t>.</a:t>
            </a:r>
          </a:p>
        </p:txBody>
      </p:sp>
    </p:spTree>
    <p:extLst>
      <p:ext uri="{BB962C8B-B14F-4D97-AF65-F5344CB8AC3E}">
        <p14:creationId xmlns:p14="http://schemas.microsoft.com/office/powerpoint/2010/main" val="47376555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81456"/>
            <a:ext cx="8302240" cy="553998"/>
          </a:xfrm>
        </p:spPr>
        <p:txBody>
          <a:bodyPr lIns="0" tIns="0" rIns="0" bIns="0" anchor="ctr">
            <a:spAutoFit/>
          </a:bodyPr>
          <a:lstStyle/>
          <a:p>
            <a:r>
              <a:rPr lang="en-US" sz="3600" dirty="0">
                <a:latin typeface="+mj-lt"/>
              </a:rPr>
              <a:t>Internal Start-Transfer Sequences</a:t>
            </a:r>
            <a:endParaRPr lang="en-US" sz="2800" dirty="0">
              <a:latin typeface="+mj-lt"/>
            </a:endParaRP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063571"/>
            <a:ext cx="8302240" cy="2970044"/>
          </a:xfrm>
        </p:spPr>
        <p:txBody>
          <a:bodyPr lIns="0" tIns="0" rIns="0" bIns="0">
            <a:spAutoFit/>
          </a:bodyPr>
          <a:lstStyle/>
          <a:p>
            <a:pPr marL="342900" indent="-342900"/>
            <a:r>
              <a:rPr lang="en-US" sz="2400" dirty="0"/>
              <a:t>The second mechanism involves membrane proteins without a typical signal sequence at the N-terminus</a:t>
            </a:r>
            <a:r>
              <a:rPr lang="en-US" sz="2400" dirty="0">
                <a:solidFill>
                  <a:schemeClr val="tx1"/>
                </a:solidFill>
              </a:rPr>
              <a:t>.</a:t>
            </a:r>
          </a:p>
          <a:p>
            <a:pPr marL="342900" indent="-342900"/>
            <a:r>
              <a:rPr lang="en-US" sz="2400" dirty="0"/>
              <a:t>Instead, these proteins have an </a:t>
            </a:r>
            <a:r>
              <a:rPr lang="en-US" sz="2400" i="1" dirty="0"/>
              <a:t>internal</a:t>
            </a:r>
            <a:r>
              <a:rPr lang="en-US" sz="2400" dirty="0"/>
              <a:t> </a:t>
            </a:r>
            <a:r>
              <a:rPr lang="en-US" sz="2400" b="1" dirty="0"/>
              <a:t>start-transfer</a:t>
            </a:r>
            <a:r>
              <a:rPr lang="en-US" sz="2400" dirty="0"/>
              <a:t> sequence that </a:t>
            </a:r>
            <a:r>
              <a:rPr lang="en-US" sz="2400" spc="-300" dirty="0"/>
              <a:t>S R </a:t>
            </a:r>
            <a:r>
              <a:rPr lang="en-US" sz="2400" dirty="0"/>
              <a:t>P binds and targets to the </a:t>
            </a:r>
            <a:r>
              <a:rPr lang="en-US" sz="2400" spc="-300" dirty="0"/>
              <a:t>E </a:t>
            </a:r>
            <a:r>
              <a:rPr lang="en-US" sz="2400" dirty="0"/>
              <a:t>R membrane</a:t>
            </a:r>
            <a:r>
              <a:rPr lang="en-US" sz="2400" dirty="0">
                <a:solidFill>
                  <a:schemeClr val="tx1"/>
                </a:solidFill>
              </a:rPr>
              <a:t>.</a:t>
            </a:r>
            <a:r>
              <a:rPr lang="en-US" sz="2400" dirty="0"/>
              <a:t> </a:t>
            </a:r>
          </a:p>
          <a:p>
            <a:pPr marL="342900" indent="-342900"/>
            <a:r>
              <a:rPr lang="en-US" sz="2400" dirty="0"/>
              <a:t>Then its hydrophobic region functions as a membrane ancho</a:t>
            </a:r>
            <a:r>
              <a:rPr lang="en-US" sz="2400" dirty="0">
                <a:solidFill>
                  <a:schemeClr val="tx1"/>
                </a:solidFill>
              </a:rPr>
              <a:t>r.</a:t>
            </a:r>
          </a:p>
        </p:txBody>
      </p:sp>
    </p:spTree>
    <p:extLst>
      <p:ext uri="{BB962C8B-B14F-4D97-AF65-F5344CB8AC3E}">
        <p14:creationId xmlns:p14="http://schemas.microsoft.com/office/powerpoint/2010/main" val="303068527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74914"/>
            <a:ext cx="8302240" cy="1107996"/>
          </a:xfrm>
        </p:spPr>
        <p:txBody>
          <a:bodyPr lIns="0" tIns="0" rIns="0" bIns="0" anchor="ctr">
            <a:spAutoFit/>
          </a:bodyPr>
          <a:lstStyle/>
          <a:p>
            <a:r>
              <a:rPr lang="en-US" sz="3600" dirty="0">
                <a:latin typeface="+mj-lt"/>
              </a:rPr>
              <a:t>Proteins with Seven Membrane-Spanning Domains</a:t>
            </a:r>
            <a:endParaRPr lang="en-US" sz="2800" dirty="0">
              <a:latin typeface="+mj-lt"/>
            </a:endParaRP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563858"/>
            <a:ext cx="8302240" cy="3531736"/>
          </a:xfrm>
        </p:spPr>
        <p:txBody>
          <a:bodyPr lIns="0" tIns="0" rIns="0" bIns="0">
            <a:spAutoFit/>
          </a:bodyPr>
          <a:lstStyle/>
          <a:p>
            <a:pPr marL="342900" indent="-342900"/>
            <a:r>
              <a:rPr lang="en-US" sz="2400" dirty="0"/>
              <a:t>Many important receptor proteins have </a:t>
            </a:r>
            <a:r>
              <a:rPr lang="en-US" sz="2400" i="1" dirty="0">
                <a:solidFill>
                  <a:schemeClr val="tx1"/>
                </a:solidFill>
              </a:rPr>
              <a:t>seven</a:t>
            </a:r>
            <a:r>
              <a:rPr lang="en-US" sz="2400" dirty="0"/>
              <a:t> membrane-spanning domains</a:t>
            </a:r>
            <a:r>
              <a:rPr lang="en-US" sz="2400" dirty="0">
                <a:solidFill>
                  <a:schemeClr val="tx1"/>
                </a:solidFill>
              </a:rPr>
              <a:t>.</a:t>
            </a:r>
          </a:p>
          <a:p>
            <a:pPr marL="342900" indent="-342900"/>
            <a:r>
              <a:rPr lang="en-US" sz="2400" dirty="0"/>
              <a:t>The basic mechanism involves the alternating activity of start-transfer and stop-transfer sequences</a:t>
            </a:r>
            <a:r>
              <a:rPr lang="en-US" sz="2400" dirty="0">
                <a:solidFill>
                  <a:schemeClr val="tx1"/>
                </a:solidFill>
              </a:rPr>
              <a:t>.</a:t>
            </a:r>
          </a:p>
          <a:p>
            <a:pPr marL="342900" indent="-342900"/>
            <a:r>
              <a:rPr lang="en-US" sz="2400" dirty="0"/>
              <a:t>These thread each transmembrane segment into the </a:t>
            </a:r>
            <a:r>
              <a:rPr lang="en-US" sz="2400" spc="-300" dirty="0"/>
              <a:t>E </a:t>
            </a:r>
            <a:r>
              <a:rPr lang="en-US" sz="2400" dirty="0"/>
              <a:t>R membrane</a:t>
            </a:r>
            <a:r>
              <a:rPr lang="en-US" sz="2400" dirty="0">
                <a:solidFill>
                  <a:schemeClr val="tx1"/>
                </a:solidFill>
              </a:rPr>
              <a:t>.</a:t>
            </a:r>
          </a:p>
          <a:p>
            <a:pPr marL="342900" indent="-342900"/>
            <a:r>
              <a:rPr lang="en-US" sz="2400" dirty="0"/>
              <a:t>The process continues until all transmembrane segments are inserted</a:t>
            </a:r>
            <a:r>
              <a:rPr lang="en-US" sz="2400" dirty="0">
                <a:solidFill>
                  <a:schemeClr val="tx1"/>
                </a:solidFill>
              </a:rPr>
              <a:t>.</a:t>
            </a:r>
          </a:p>
        </p:txBody>
      </p:sp>
    </p:spTree>
    <p:extLst>
      <p:ext uri="{BB962C8B-B14F-4D97-AF65-F5344CB8AC3E}">
        <p14:creationId xmlns:p14="http://schemas.microsoft.com/office/powerpoint/2010/main" val="330619863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73144"/>
            <a:ext cx="8302240" cy="553998"/>
          </a:xfrm>
        </p:spPr>
        <p:txBody>
          <a:bodyPr lIns="0" tIns="0" rIns="0" bIns="0" anchor="ctr">
            <a:spAutoFit/>
          </a:bodyPr>
          <a:lstStyle/>
          <a:p>
            <a:r>
              <a:rPr lang="en-US" sz="3600" dirty="0">
                <a:latin typeface="+mj-lt"/>
              </a:rPr>
              <a:t>Multipass Transmembrane Protein</a:t>
            </a:r>
            <a:endParaRPr lang="en-US" sz="2800" dirty="0">
              <a:latin typeface="+mj-lt"/>
            </a:endParaRP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065097"/>
            <a:ext cx="8302240" cy="3708708"/>
          </a:xfrm>
        </p:spPr>
        <p:txBody>
          <a:bodyPr lIns="0" tIns="0" rIns="0" bIns="0">
            <a:spAutoFit/>
          </a:bodyPr>
          <a:lstStyle/>
          <a:p>
            <a:pPr marL="457200" indent="-457200">
              <a:buFont typeface="+mj-lt"/>
              <a:buAutoNum type="arabicPeriod"/>
            </a:pPr>
            <a:r>
              <a:rPr lang="en-US" sz="2400" dirty="0"/>
              <a:t>The first transmembrane sequence is inserted via an internal start-transfer sequence. </a:t>
            </a:r>
          </a:p>
          <a:p>
            <a:pPr marL="457200" indent="-457200">
              <a:buFont typeface="+mj-lt"/>
              <a:buAutoNum type="arabicPeriod"/>
            </a:pPr>
            <a:r>
              <a:rPr lang="en-US" sz="2400" dirty="0"/>
              <a:t>A stop-transfer sequence halts insertion and releases its first section of membrane-spanning amino acids laterally into the </a:t>
            </a:r>
            <a:r>
              <a:rPr lang="en-US" sz="2400" spc="-300" dirty="0"/>
              <a:t>E </a:t>
            </a:r>
            <a:r>
              <a:rPr lang="en-US" sz="2400" dirty="0"/>
              <a:t>R membrane. </a:t>
            </a:r>
          </a:p>
          <a:p>
            <a:pPr marL="457200" indent="-457200">
              <a:buFont typeface="+mj-lt"/>
              <a:buAutoNum type="arabicPeriod"/>
            </a:pPr>
            <a:r>
              <a:rPr lang="en-US" sz="2400" dirty="0"/>
              <a:t>The next start-transfer sequence is threaded into the translocon and continues until the next stop-transfer sequence. This process continues until all the membrane-spanning sections are inserted. </a:t>
            </a:r>
          </a:p>
        </p:txBody>
      </p:sp>
    </p:spTree>
    <p:extLst>
      <p:ext uri="{BB962C8B-B14F-4D97-AF65-F5344CB8AC3E}">
        <p14:creationId xmlns:p14="http://schemas.microsoft.com/office/powerpoint/2010/main" val="47470481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81457"/>
            <a:ext cx="8302240" cy="553998"/>
          </a:xfrm>
        </p:spPr>
        <p:txBody>
          <a:bodyPr lIns="0" tIns="0" rIns="0" bIns="0" anchor="ctr">
            <a:spAutoFit/>
          </a:bodyPr>
          <a:lstStyle/>
          <a:p>
            <a:r>
              <a:rPr lang="en-US" sz="3600" dirty="0">
                <a:latin typeface="+mj-lt"/>
              </a:rPr>
              <a:t>The Fate of Transmembrane Proteins</a:t>
            </a:r>
            <a:endParaRPr lang="en-US" sz="2800" dirty="0">
              <a:latin typeface="+mj-lt"/>
            </a:endParaRP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067319"/>
            <a:ext cx="8302240" cy="2970044"/>
          </a:xfrm>
          <a:noFill/>
          <a:ln>
            <a:noFill/>
          </a:ln>
        </p:spPr>
        <p:txBody>
          <a:bodyPr lIns="0" tIns="0" rIns="0" bIns="0" anchor="t" anchorCtr="0">
            <a:spAutoFit/>
          </a:bodyPr>
          <a:lstStyle/>
          <a:p>
            <a:pPr marL="342900" indent="-342900"/>
            <a:r>
              <a:rPr lang="en-US" sz="2400" dirty="0"/>
              <a:t>Once the polypeptide has been incorporated into the </a:t>
            </a:r>
            <a:r>
              <a:rPr lang="en-US" sz="2400" spc="-300" dirty="0"/>
              <a:t>E </a:t>
            </a:r>
            <a:r>
              <a:rPr lang="en-US" sz="2400" dirty="0"/>
              <a:t>R membrane, it can remain in place to function as an </a:t>
            </a:r>
            <a:r>
              <a:rPr lang="en-US" sz="2400" spc="-300" dirty="0"/>
              <a:t>E </a:t>
            </a:r>
            <a:r>
              <a:rPr lang="en-US" sz="2400" dirty="0"/>
              <a:t>R protein</a:t>
            </a:r>
            <a:r>
              <a:rPr lang="en-US" sz="2400" dirty="0">
                <a:solidFill>
                  <a:schemeClr val="tx1"/>
                </a:solidFill>
              </a:rPr>
              <a:t>.</a:t>
            </a:r>
          </a:p>
          <a:p>
            <a:pPr marL="342900" indent="-342900"/>
            <a:r>
              <a:rPr lang="en-US" sz="2400" dirty="0"/>
              <a:t>Alternatively, it can be transported to other components of the endomembrane system</a:t>
            </a:r>
            <a:r>
              <a:rPr lang="en-US" sz="2400" dirty="0">
                <a:solidFill>
                  <a:schemeClr val="tx1"/>
                </a:solidFill>
              </a:rPr>
              <a:t>.</a:t>
            </a:r>
          </a:p>
          <a:p>
            <a:pPr marL="342900" indent="-342900"/>
            <a:r>
              <a:rPr lang="en-US" sz="2400" dirty="0"/>
              <a:t>Transport to the appropriate compartment is carried out by a series of membrane budding and fusion events</a:t>
            </a:r>
            <a:r>
              <a:rPr lang="en-US" sz="2400" dirty="0">
                <a:solidFill>
                  <a:schemeClr val="tx1"/>
                </a:solidFill>
              </a:rPr>
              <a:t>.</a:t>
            </a:r>
          </a:p>
        </p:txBody>
      </p:sp>
    </p:spTree>
    <p:extLst>
      <p:ext uri="{BB962C8B-B14F-4D97-AF65-F5344CB8AC3E}">
        <p14:creationId xmlns:p14="http://schemas.microsoft.com/office/powerpoint/2010/main" val="404179233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76687"/>
            <a:ext cx="8302240" cy="1661993"/>
          </a:xfrm>
        </p:spPr>
        <p:txBody>
          <a:bodyPr lIns="0" tIns="0" rIns="0" bIns="0" anchor="ctr">
            <a:spAutoFit/>
          </a:bodyPr>
          <a:lstStyle/>
          <a:p>
            <a:r>
              <a:rPr lang="en-US" sz="3600" dirty="0">
                <a:latin typeface="+mj-lt"/>
              </a:rPr>
              <a:t>Posttranslational Import Is an Alternative Mechanism for Import into the </a:t>
            </a:r>
            <a:r>
              <a:rPr lang="en-US" sz="3600" spc="-500" dirty="0">
                <a:latin typeface="+mj-lt"/>
              </a:rPr>
              <a:t>E </a:t>
            </a:r>
            <a:r>
              <a:rPr lang="en-US" sz="3600" dirty="0">
                <a:latin typeface="+mj-lt"/>
              </a:rPr>
              <a:t>R Lumen</a:t>
            </a:r>
            <a:endParaRPr lang="en-US" sz="2800" dirty="0">
              <a:latin typeface="+mj-lt"/>
            </a:endParaRP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2067305"/>
            <a:ext cx="8302240" cy="2970044"/>
          </a:xfrm>
          <a:noFill/>
          <a:ln>
            <a:noFill/>
          </a:ln>
        </p:spPr>
        <p:txBody>
          <a:bodyPr lIns="0" tIns="0" rIns="0" bIns="0" anchor="t" anchorCtr="0">
            <a:spAutoFit/>
          </a:bodyPr>
          <a:lstStyle/>
          <a:p>
            <a:pPr marL="342900" indent="-342900"/>
            <a:r>
              <a:rPr lang="en-US" sz="2400" dirty="0"/>
              <a:t>Some proteins are synthesized in the cytosol and subsequently transported into the </a:t>
            </a:r>
            <a:r>
              <a:rPr lang="en-US" sz="2400" spc="-300" dirty="0"/>
              <a:t>E </a:t>
            </a:r>
            <a:r>
              <a:rPr lang="en-US" sz="2400" dirty="0"/>
              <a:t>R lumen</a:t>
            </a:r>
            <a:r>
              <a:rPr lang="en-US" sz="2400" dirty="0">
                <a:solidFill>
                  <a:schemeClr val="tx1"/>
                </a:solidFill>
              </a:rPr>
              <a:t>.</a:t>
            </a:r>
          </a:p>
          <a:p>
            <a:pPr marL="342900" indent="-342900"/>
            <a:r>
              <a:rPr lang="en-US" sz="2400" dirty="0"/>
              <a:t>This </a:t>
            </a:r>
            <a:r>
              <a:rPr lang="en-US" sz="2400" i="1" dirty="0"/>
              <a:t>posttranslational</a:t>
            </a:r>
            <a:r>
              <a:rPr lang="en-US" sz="2400" dirty="0"/>
              <a:t> </a:t>
            </a:r>
            <a:r>
              <a:rPr lang="en-US" sz="2400" i="1" dirty="0"/>
              <a:t>import</a:t>
            </a:r>
            <a:r>
              <a:rPr lang="en-US" sz="2400" dirty="0"/>
              <a:t> occurs by a process similar to cotranslational import</a:t>
            </a:r>
            <a:r>
              <a:rPr lang="en-US" sz="2400" dirty="0">
                <a:solidFill>
                  <a:schemeClr val="tx1"/>
                </a:solidFill>
              </a:rPr>
              <a:t>.</a:t>
            </a:r>
          </a:p>
          <a:p>
            <a:pPr marL="342900" indent="-342900"/>
            <a:r>
              <a:rPr lang="en-US" sz="2400" dirty="0"/>
              <a:t>As the protein is synthesized, it associates with Hsp70 family chaperones, which initially keep the protein unfolded</a:t>
            </a:r>
            <a:r>
              <a:rPr lang="en-US" sz="2400" dirty="0">
                <a:solidFill>
                  <a:schemeClr val="tx1"/>
                </a:solidFill>
              </a:rPr>
              <a:t>.</a:t>
            </a:r>
          </a:p>
        </p:txBody>
      </p:sp>
    </p:spTree>
    <p:extLst>
      <p:ext uri="{BB962C8B-B14F-4D97-AF65-F5344CB8AC3E}">
        <p14:creationId xmlns:p14="http://schemas.microsoft.com/office/powerpoint/2010/main" val="322168854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73144"/>
            <a:ext cx="8302240" cy="553998"/>
          </a:xfrm>
        </p:spPr>
        <p:txBody>
          <a:bodyPr lIns="0" tIns="0" rIns="0" bIns="0" anchor="ctr">
            <a:spAutoFit/>
          </a:bodyPr>
          <a:lstStyle/>
          <a:p>
            <a:r>
              <a:rPr lang="en-US" sz="3600" dirty="0">
                <a:latin typeface="+mj-lt"/>
              </a:rPr>
              <a:t>Process of Posttranslational Import</a:t>
            </a:r>
            <a:endParaRPr lang="en-US" sz="2800" dirty="0">
              <a:latin typeface="+mj-lt"/>
            </a:endParaRP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067317"/>
            <a:ext cx="8302240" cy="3901068"/>
          </a:xfrm>
          <a:noFill/>
          <a:ln>
            <a:noFill/>
          </a:ln>
        </p:spPr>
        <p:txBody>
          <a:bodyPr lIns="0" tIns="0" rIns="0" bIns="0" anchor="t" anchorCtr="0">
            <a:spAutoFit/>
          </a:bodyPr>
          <a:lstStyle/>
          <a:p>
            <a:pPr marL="342900" indent="-342900"/>
            <a:r>
              <a:rPr lang="en-US" sz="2400" dirty="0"/>
              <a:t>A complex of </a:t>
            </a:r>
            <a:r>
              <a:rPr lang="en-US" sz="2400" spc="-300" dirty="0"/>
              <a:t>E </a:t>
            </a:r>
            <a:r>
              <a:rPr lang="en-US" sz="2400" dirty="0"/>
              <a:t>R membrane proteins (Sec62, 63, 71, and 72) associated with the Sec61 pore targets the protein for translocation</a:t>
            </a:r>
            <a:r>
              <a:rPr lang="en-US" sz="2400" dirty="0">
                <a:solidFill>
                  <a:schemeClr val="tx1"/>
                </a:solidFill>
              </a:rPr>
              <a:t>.</a:t>
            </a:r>
          </a:p>
          <a:p>
            <a:pPr marL="342900" indent="-342900"/>
            <a:r>
              <a:rPr lang="en-US" sz="2400" dirty="0"/>
              <a:t>The protein moves through the pore, losing the associated chaperones</a:t>
            </a:r>
            <a:r>
              <a:rPr lang="en-US" sz="2400" dirty="0">
                <a:solidFill>
                  <a:schemeClr val="tx1"/>
                </a:solidFill>
              </a:rPr>
              <a:t>.</a:t>
            </a:r>
          </a:p>
          <a:p>
            <a:pPr marL="342900" indent="-342900"/>
            <a:r>
              <a:rPr lang="en-US" sz="2400" dirty="0"/>
              <a:t>The Sec protein also recruits B</a:t>
            </a:r>
            <a:r>
              <a:rPr lang="en-US" sz="2400" dirty="0">
                <a:solidFill>
                  <a:schemeClr val="tx1"/>
                </a:solidFill>
              </a:rPr>
              <a:t>i</a:t>
            </a:r>
            <a:r>
              <a:rPr lang="en-US" sz="2400" dirty="0"/>
              <a:t>P to the site of emergence into the </a:t>
            </a:r>
            <a:r>
              <a:rPr lang="en-US" sz="2400" spc="-300" dirty="0"/>
              <a:t>E </a:t>
            </a:r>
            <a:r>
              <a:rPr lang="en-US" sz="2400" dirty="0"/>
              <a:t>R lumen</a:t>
            </a:r>
            <a:r>
              <a:rPr lang="en-US" sz="2400" dirty="0">
                <a:solidFill>
                  <a:schemeClr val="tx1"/>
                </a:solidFill>
              </a:rPr>
              <a:t>.</a:t>
            </a:r>
          </a:p>
          <a:p>
            <a:pPr marL="342900" indent="-342900"/>
            <a:r>
              <a:rPr lang="en-US" sz="2400" dirty="0"/>
              <a:t>The </a:t>
            </a:r>
            <a:r>
              <a:rPr lang="en-US" sz="2400" spc="-300" dirty="0"/>
              <a:t>B i </a:t>
            </a:r>
            <a:r>
              <a:rPr lang="en-US" sz="2400" dirty="0"/>
              <a:t>P couples </a:t>
            </a:r>
            <a:r>
              <a:rPr lang="en-US" sz="2400" spc="-300" dirty="0"/>
              <a:t>A T </a:t>
            </a:r>
            <a:r>
              <a:rPr lang="en-US" sz="2400" dirty="0"/>
              <a:t>P hydrolysis to stepwise pulling of the polypeptide into the </a:t>
            </a:r>
            <a:r>
              <a:rPr lang="en-US" sz="2400" spc="-300" dirty="0"/>
              <a:t>E </a:t>
            </a:r>
            <a:r>
              <a:rPr lang="en-US" sz="2400" dirty="0"/>
              <a:t>R lumen</a:t>
            </a:r>
            <a:r>
              <a:rPr lang="en-US" sz="2400" dirty="0">
                <a:solidFill>
                  <a:schemeClr val="tx1"/>
                </a:solidFill>
              </a:rPr>
              <a:t>.</a:t>
            </a:r>
          </a:p>
        </p:txBody>
      </p:sp>
    </p:spTree>
    <p:extLst>
      <p:ext uri="{BB962C8B-B14F-4D97-AF65-F5344CB8AC3E}">
        <p14:creationId xmlns:p14="http://schemas.microsoft.com/office/powerpoint/2010/main" val="315069686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30566" y="178249"/>
            <a:ext cx="8229600" cy="1077218"/>
          </a:xfrm>
        </p:spPr>
        <p:txBody>
          <a:bodyPr lIns="0" tIns="0" rIns="0" bIns="0" anchor="ctr">
            <a:spAutoFit/>
          </a:bodyPr>
          <a:lstStyle/>
          <a:p>
            <a:r>
              <a:rPr lang="en-US" sz="3400" dirty="0"/>
              <a:t>Posttranslational Import of Polypeptides into the </a:t>
            </a:r>
            <a:r>
              <a:rPr lang="en-US" sz="3400" spc="-500" dirty="0"/>
              <a:t>E R</a:t>
            </a:r>
            <a:r>
              <a:rPr lang="en-US" sz="3400" dirty="0"/>
              <a:t> Lumen</a:t>
            </a:r>
          </a:p>
        </p:txBody>
      </p:sp>
      <p:sp>
        <p:nvSpPr>
          <p:cNvPr id="6" name="Content Placeholder 5"/>
          <p:cNvSpPr>
            <a:spLocks noGrp="1"/>
          </p:cNvSpPr>
          <p:nvPr>
            <p:ph sz="quarter" idx="15"/>
          </p:nvPr>
        </p:nvSpPr>
        <p:spPr>
          <a:xfrm>
            <a:off x="421689" y="1418848"/>
            <a:ext cx="4999398" cy="1107996"/>
          </a:xfrm>
        </p:spPr>
        <p:txBody>
          <a:bodyPr wrap="square" lIns="0" tIns="0" rIns="0" bIns="0">
            <a:spAutoFit/>
          </a:bodyPr>
          <a:lstStyle/>
          <a:p>
            <a:pPr marL="0" indent="0">
              <a:buNone/>
            </a:pPr>
            <a:r>
              <a:rPr lang="en-US" sz="2400" b="1" dirty="0"/>
              <a:t>Figure 12.14 </a:t>
            </a:r>
            <a:r>
              <a:rPr lang="en-US" sz="2400" dirty="0"/>
              <a:t>Posttranslational Import of Polypeptides into the </a:t>
            </a:r>
            <a:r>
              <a:rPr lang="en-US" sz="2400" spc="-250" dirty="0"/>
              <a:t>E </a:t>
            </a:r>
            <a:r>
              <a:rPr lang="en-US" sz="2400" dirty="0"/>
              <a:t>R Lumen.</a:t>
            </a:r>
          </a:p>
        </p:txBody>
      </p:sp>
      <p:pic>
        <p:nvPicPr>
          <p:cNvPr id="4" name="Picture Placeholder 3" descr="An illustration shows posttranslational import of polypeptides into the E R lumen in three steps. S e c 6 2, 6 3, 7 1, 7 2 complex on the E R membrane holds the S e c 6 1 translocator.&#10;Long description is available in notes, press F6"/>
          <p:cNvPicPr>
            <a:picLocks noGrp="1" noChangeAspect="1"/>
          </p:cNvPicPr>
          <p:nvPr>
            <p:ph type="pic" sz="quarter" idx="16"/>
          </p:nvPr>
        </p:nvPicPr>
        <p:blipFill rotWithShape="1">
          <a:blip r:embed="rId3">
            <a:extLst>
              <a:ext uri="{28A0092B-C50C-407E-A947-70E740481C1C}">
                <a14:useLocalDpi xmlns:a14="http://schemas.microsoft.com/office/drawing/2010/main" val="0"/>
              </a:ext>
            </a:extLst>
          </a:blip>
          <a:srcRect b="2371"/>
          <a:stretch/>
        </p:blipFill>
        <p:spPr>
          <a:xfrm>
            <a:off x="5799152" y="1339402"/>
            <a:ext cx="2912530" cy="5063461"/>
          </a:xfrm>
        </p:spPr>
      </p:pic>
    </p:spTree>
    <p:extLst>
      <p:ext uri="{BB962C8B-B14F-4D97-AF65-F5344CB8AC3E}">
        <p14:creationId xmlns:p14="http://schemas.microsoft.com/office/powerpoint/2010/main" val="359033302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72938"/>
            <a:ext cx="8302240" cy="1661993"/>
          </a:xfrm>
        </p:spPr>
        <p:txBody>
          <a:bodyPr lIns="0" tIns="0" rIns="0" bIns="0" anchor="ctr">
            <a:spAutoFit/>
          </a:bodyPr>
          <a:lstStyle/>
          <a:p>
            <a:r>
              <a:rPr lang="en-US" sz="3600" dirty="0">
                <a:latin typeface="+mj-lt"/>
              </a:rPr>
              <a:t>12.5 Exocytosis and Endocytosis: Transporting Material Across the Plasma Membrane</a:t>
            </a:r>
            <a:endParaRPr lang="en-US" sz="2800" dirty="0">
              <a:latin typeface="+mj-lt"/>
            </a:endParaRP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2071050"/>
            <a:ext cx="8302240" cy="2369880"/>
          </a:xfrm>
          <a:noFill/>
          <a:ln>
            <a:noFill/>
          </a:ln>
        </p:spPr>
        <p:txBody>
          <a:bodyPr lIns="0" tIns="0" rIns="0" bIns="0" anchor="t" anchorCtr="0">
            <a:spAutoFit/>
          </a:bodyPr>
          <a:lstStyle/>
          <a:p>
            <a:pPr marL="342900" indent="-342900"/>
            <a:r>
              <a:rPr lang="en-US" sz="2400" dirty="0"/>
              <a:t>Two methods (unique to eukaryotes) for transporting materials across the plasma membrane are</a:t>
            </a:r>
            <a:r>
              <a:rPr lang="en-US" sz="2400" dirty="0">
                <a:solidFill>
                  <a:schemeClr val="tx1"/>
                </a:solidFill>
              </a:rPr>
              <a:t>:</a:t>
            </a:r>
          </a:p>
          <a:p>
            <a:pPr marL="829818" lvl="1" indent="-342900"/>
            <a:r>
              <a:rPr lang="en-US" sz="2400" i="1" dirty="0"/>
              <a:t>Exocytosis</a:t>
            </a:r>
            <a:r>
              <a:rPr lang="en-US" sz="2400" dirty="0"/>
              <a:t>, the process by which secretory vesicles release their contents outside the cell</a:t>
            </a:r>
          </a:p>
          <a:p>
            <a:pPr marL="829818" lvl="1" indent="-342900"/>
            <a:r>
              <a:rPr lang="en-US" sz="2400" i="1" dirty="0"/>
              <a:t>Endocytosis</a:t>
            </a:r>
            <a:r>
              <a:rPr lang="en-US" sz="2400" dirty="0"/>
              <a:t>, the process by which cells internalize external materials</a:t>
            </a:r>
          </a:p>
        </p:txBody>
      </p:sp>
    </p:spTree>
    <p:extLst>
      <p:ext uri="{BB962C8B-B14F-4D97-AF65-F5344CB8AC3E}">
        <p14:creationId xmlns:p14="http://schemas.microsoft.com/office/powerpoint/2010/main" val="240319610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74913"/>
            <a:ext cx="8302240" cy="1107996"/>
          </a:xfrm>
        </p:spPr>
        <p:txBody>
          <a:bodyPr lIns="0" tIns="0" rIns="0" bIns="0" anchor="ctr">
            <a:spAutoFit/>
          </a:bodyPr>
          <a:lstStyle/>
          <a:p>
            <a:r>
              <a:rPr lang="en-US" sz="3600" dirty="0">
                <a:latin typeface="+mj-lt"/>
              </a:rPr>
              <a:t>Secretory Pathways Transport Molecules to the Exterior of the Cell</a:t>
            </a:r>
            <a:endParaRPr lang="en-US" sz="2800" dirty="0">
              <a:latin typeface="+mj-lt"/>
            </a:endParaRP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557338"/>
            <a:ext cx="8302240" cy="2970044"/>
          </a:xfrm>
          <a:noFill/>
          <a:ln>
            <a:noFill/>
          </a:ln>
        </p:spPr>
        <p:txBody>
          <a:bodyPr lIns="0" tIns="0" rIns="0" bIns="0" anchor="t" anchorCtr="0">
            <a:spAutoFit/>
          </a:bodyPr>
          <a:lstStyle/>
          <a:p>
            <a:pPr marL="342900" indent="-342900"/>
            <a:r>
              <a:rPr lang="en-US" sz="2400" b="1" dirty="0"/>
              <a:t>Secretory</a:t>
            </a:r>
            <a:r>
              <a:rPr lang="en-US" sz="2400" dirty="0"/>
              <a:t> </a:t>
            </a:r>
            <a:r>
              <a:rPr lang="en-US" sz="2400" b="1" dirty="0"/>
              <a:t>pathways</a:t>
            </a:r>
            <a:r>
              <a:rPr lang="en-US" sz="2400" dirty="0"/>
              <a:t> move proteins from the </a:t>
            </a:r>
            <a:r>
              <a:rPr lang="en-US" sz="2400" spc="-300" dirty="0"/>
              <a:t>E </a:t>
            </a:r>
            <a:r>
              <a:rPr lang="en-US" sz="2400" dirty="0"/>
              <a:t>R through the Golgi complex to </a:t>
            </a:r>
            <a:r>
              <a:rPr lang="en-US" sz="2400" b="1" dirty="0"/>
              <a:t>secretory</a:t>
            </a:r>
            <a:r>
              <a:rPr lang="en-US" sz="2400" dirty="0"/>
              <a:t> </a:t>
            </a:r>
            <a:r>
              <a:rPr lang="en-US" sz="2400" b="1" dirty="0"/>
              <a:t>vesicles</a:t>
            </a:r>
            <a:r>
              <a:rPr lang="en-US" sz="2400" dirty="0"/>
              <a:t> and </a:t>
            </a:r>
            <a:r>
              <a:rPr lang="en-US" sz="2400" b="1" dirty="0"/>
              <a:t>secretory</a:t>
            </a:r>
            <a:r>
              <a:rPr lang="en-US" sz="2400" dirty="0"/>
              <a:t> </a:t>
            </a:r>
            <a:r>
              <a:rPr lang="en-US" sz="2400" b="1" dirty="0"/>
              <a:t>granules</a:t>
            </a:r>
            <a:r>
              <a:rPr lang="en-US" sz="2400" dirty="0">
                <a:solidFill>
                  <a:schemeClr val="tx1"/>
                </a:solidFill>
              </a:rPr>
              <a:t>.</a:t>
            </a:r>
            <a:endParaRPr lang="en-US" sz="2400" b="1" dirty="0">
              <a:solidFill>
                <a:schemeClr val="tx1"/>
              </a:solidFill>
            </a:endParaRPr>
          </a:p>
          <a:p>
            <a:pPr marL="342900" indent="-342900"/>
            <a:r>
              <a:rPr lang="en-US" sz="2400" dirty="0"/>
              <a:t>The secretory granules then discharge their contents to the exterior of the cell</a:t>
            </a:r>
            <a:r>
              <a:rPr lang="en-US" sz="2400" dirty="0">
                <a:solidFill>
                  <a:schemeClr val="tx1"/>
                </a:solidFill>
              </a:rPr>
              <a:t>.</a:t>
            </a:r>
          </a:p>
          <a:p>
            <a:pPr marL="342900" indent="-342900"/>
            <a:r>
              <a:rPr lang="en-US" sz="2400" dirty="0"/>
              <a:t>Experiments using microscopic autoradiography to show the movement of proteins through secretory pathways</a:t>
            </a:r>
            <a:r>
              <a:rPr lang="en-US" sz="2400" dirty="0">
                <a:solidFill>
                  <a:schemeClr val="tx1"/>
                </a:solidFill>
              </a:rPr>
              <a:t>.</a:t>
            </a:r>
          </a:p>
        </p:txBody>
      </p:sp>
    </p:spTree>
    <p:extLst>
      <p:ext uri="{BB962C8B-B14F-4D97-AF65-F5344CB8AC3E}">
        <p14:creationId xmlns:p14="http://schemas.microsoft.com/office/powerpoint/2010/main" val="390443867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73144"/>
            <a:ext cx="8302240" cy="553998"/>
          </a:xfrm>
        </p:spPr>
        <p:txBody>
          <a:bodyPr lIns="0" tIns="0" rIns="0" bIns="0" anchor="ctr">
            <a:spAutoFit/>
          </a:bodyPr>
          <a:lstStyle/>
          <a:p>
            <a:r>
              <a:rPr lang="en-US" sz="3600" dirty="0">
                <a:latin typeface="+mj-lt"/>
              </a:rPr>
              <a:t>Results of the Experiment </a:t>
            </a:r>
            <a:r>
              <a:rPr lang="en-US" sz="2800" dirty="0">
                <a:latin typeface="+mj-lt"/>
              </a:rPr>
              <a:t>(1 of 2)</a:t>
            </a: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067317"/>
            <a:ext cx="8302240" cy="2231380"/>
          </a:xfrm>
          <a:noFill/>
          <a:ln>
            <a:noFill/>
          </a:ln>
        </p:spPr>
        <p:txBody>
          <a:bodyPr lIns="0" tIns="0" rIns="0" bIns="0" anchor="t" anchorCtr="0">
            <a:spAutoFit/>
          </a:bodyPr>
          <a:lstStyle/>
          <a:p>
            <a:pPr marL="342900" indent="-342900"/>
            <a:r>
              <a:rPr lang="en-US" sz="2400" dirty="0"/>
              <a:t>Proteins were radioactively labeled briefly</a:t>
            </a:r>
            <a:r>
              <a:rPr lang="en-US" sz="2400" dirty="0">
                <a:solidFill>
                  <a:schemeClr val="tx1"/>
                </a:solidFill>
              </a:rPr>
              <a:t>.</a:t>
            </a:r>
          </a:p>
          <a:p>
            <a:pPr marL="342900" indent="-342900"/>
            <a:r>
              <a:rPr lang="en-US" sz="2400" dirty="0"/>
              <a:t>After three minutes, the labeled proteins could be seen primarily in the rough </a:t>
            </a:r>
            <a:r>
              <a:rPr lang="en-US" sz="2400" spc="-300" dirty="0"/>
              <a:t>E </a:t>
            </a:r>
            <a:r>
              <a:rPr lang="en-US" sz="2400" dirty="0"/>
              <a:t>R.</a:t>
            </a:r>
          </a:p>
          <a:p>
            <a:pPr marL="342900" indent="-342900"/>
            <a:r>
              <a:rPr lang="en-US" sz="2400" dirty="0"/>
              <a:t>A few minutes later, the labeled proteins began to appear in the Golgi apparatus.</a:t>
            </a:r>
          </a:p>
        </p:txBody>
      </p:sp>
    </p:spTree>
    <p:extLst>
      <p:ext uri="{BB962C8B-B14F-4D97-AF65-F5344CB8AC3E}">
        <p14:creationId xmlns:p14="http://schemas.microsoft.com/office/powerpoint/2010/main" val="85338946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30566" y="300389"/>
            <a:ext cx="8229600" cy="861774"/>
          </a:xfrm>
        </p:spPr>
        <p:txBody>
          <a:bodyPr lIns="0" tIns="0" rIns="0" bIns="0" anchor="ctr">
            <a:spAutoFit/>
          </a:bodyPr>
          <a:lstStyle/>
          <a:p>
            <a:r>
              <a:rPr lang="en-US" sz="2800" dirty="0"/>
              <a:t>Autoradiographic Evidence of the Secretory Pathway: 3 and 7 Minutes After Radiolabeling</a:t>
            </a:r>
          </a:p>
        </p:txBody>
      </p:sp>
      <p:sp>
        <p:nvSpPr>
          <p:cNvPr id="6" name="Content Placeholder 5"/>
          <p:cNvSpPr>
            <a:spLocks noGrp="1"/>
          </p:cNvSpPr>
          <p:nvPr>
            <p:ph sz="quarter" idx="15"/>
          </p:nvPr>
        </p:nvSpPr>
        <p:spPr>
          <a:xfrm>
            <a:off x="421688" y="1396526"/>
            <a:ext cx="3268569" cy="1477328"/>
          </a:xfrm>
        </p:spPr>
        <p:txBody>
          <a:bodyPr wrap="square" lIns="0" tIns="0" rIns="0" bIns="0">
            <a:spAutoFit/>
          </a:bodyPr>
          <a:lstStyle/>
          <a:p>
            <a:pPr marL="0" indent="0">
              <a:buNone/>
            </a:pPr>
            <a:r>
              <a:rPr lang="en-US" sz="2400" b="1" dirty="0"/>
              <a:t>Figure 12.15 </a:t>
            </a:r>
            <a:r>
              <a:rPr lang="en-US" sz="2400" dirty="0"/>
              <a:t>Autoradiographic Evidence of a Secretory Pathway.</a:t>
            </a:r>
          </a:p>
        </p:txBody>
      </p:sp>
      <p:pic>
        <p:nvPicPr>
          <p:cNvPr id="5" name="Picture Placeholder 4" descr="Electron microscopic autoradiogaphy images of secretory pathway of a radioactively labeled protein after 3 minutes, after 7 minutes, after 37 minutes, and after 117 minutes. The measurement is 1 micrometer. &#10;Long description is available in notes, press F6"/>
          <p:cNvPicPr>
            <a:picLocks noGrp="1" noChangeAspect="1"/>
          </p:cNvPicPr>
          <p:nvPr>
            <p:ph type="pic" sz="quarter" idx="16"/>
          </p:nvPr>
        </p:nvPicPr>
        <p:blipFill rotWithShape="1">
          <a:blip r:embed="rId3">
            <a:extLst>
              <a:ext uri="{28A0092B-C50C-407E-A947-70E740481C1C}">
                <a14:useLocalDpi xmlns:a14="http://schemas.microsoft.com/office/drawing/2010/main" val="0"/>
              </a:ext>
            </a:extLst>
          </a:blip>
          <a:srcRect b="4041"/>
          <a:stretch/>
        </p:blipFill>
        <p:spPr>
          <a:xfrm>
            <a:off x="3992471" y="1390919"/>
            <a:ext cx="4701143" cy="4479036"/>
          </a:xfrm>
        </p:spPr>
      </p:pic>
    </p:spTree>
    <p:extLst>
      <p:ext uri="{BB962C8B-B14F-4D97-AF65-F5344CB8AC3E}">
        <p14:creationId xmlns:p14="http://schemas.microsoft.com/office/powerpoint/2010/main" val="230090296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81453"/>
            <a:ext cx="8302240" cy="553998"/>
          </a:xfrm>
        </p:spPr>
        <p:txBody>
          <a:bodyPr lIns="0" tIns="0" rIns="0" bIns="0" anchor="ctr">
            <a:spAutoFit/>
          </a:bodyPr>
          <a:lstStyle/>
          <a:p>
            <a:r>
              <a:rPr lang="en-US" sz="3600" dirty="0">
                <a:latin typeface="+mj-lt"/>
              </a:rPr>
              <a:t>Results of the Experiment </a:t>
            </a:r>
            <a:r>
              <a:rPr lang="en-US" sz="2800" dirty="0">
                <a:latin typeface="+mj-lt"/>
              </a:rPr>
              <a:t>(2 of 2)</a:t>
            </a:r>
            <a:endParaRPr lang="en-US" sz="2000" dirty="0">
              <a:latin typeface="+mj-lt"/>
            </a:endParaRP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067314"/>
            <a:ext cx="8302240" cy="2408352"/>
          </a:xfrm>
          <a:noFill/>
          <a:ln>
            <a:noFill/>
          </a:ln>
        </p:spPr>
        <p:txBody>
          <a:bodyPr lIns="0" tIns="0" rIns="0" bIns="0" anchor="t" anchorCtr="0">
            <a:spAutoFit/>
          </a:bodyPr>
          <a:lstStyle/>
          <a:p>
            <a:pPr marL="342900" indent="-342900"/>
            <a:r>
              <a:rPr lang="en-US" sz="2400" dirty="0"/>
              <a:t>After 37 minutes, the protein was detected in vesicles budding from the Golgi (named </a:t>
            </a:r>
            <a:r>
              <a:rPr lang="en-US" sz="2400" i="1" dirty="0"/>
              <a:t>condensing vacuoles</a:t>
            </a:r>
            <a:r>
              <a:rPr lang="en-US" sz="2400" dirty="0"/>
              <a:t> by the researchers)</a:t>
            </a:r>
            <a:r>
              <a:rPr lang="en-US" sz="2400" dirty="0">
                <a:solidFill>
                  <a:schemeClr val="tx1"/>
                </a:solidFill>
              </a:rPr>
              <a:t>.</a:t>
            </a:r>
          </a:p>
          <a:p>
            <a:pPr marL="342900" indent="-342900"/>
            <a:r>
              <a:rPr lang="en-US" sz="2400" dirty="0"/>
              <a:t>After 117 minutes, the protein began to accumulate in dense </a:t>
            </a:r>
            <a:r>
              <a:rPr lang="en-US" sz="2400" i="1" dirty="0"/>
              <a:t>zymogen granules</a:t>
            </a:r>
            <a:r>
              <a:rPr lang="en-US" sz="2400" dirty="0"/>
              <a:t>, vesicles that discharge their contents out of the cell</a:t>
            </a:r>
            <a:r>
              <a:rPr lang="en-US" sz="2400" dirty="0">
                <a:solidFill>
                  <a:schemeClr val="tx1"/>
                </a:solidFill>
              </a:rPr>
              <a:t>.</a:t>
            </a:r>
          </a:p>
        </p:txBody>
      </p:sp>
    </p:spTree>
    <p:extLst>
      <p:ext uri="{BB962C8B-B14F-4D97-AF65-F5344CB8AC3E}">
        <p14:creationId xmlns:p14="http://schemas.microsoft.com/office/powerpoint/2010/main" val="42654774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30566" y="298032"/>
            <a:ext cx="8229600" cy="861774"/>
          </a:xfrm>
        </p:spPr>
        <p:txBody>
          <a:bodyPr lIns="0" tIns="0" rIns="0" bIns="0" anchor="ctr">
            <a:spAutoFit/>
          </a:bodyPr>
          <a:lstStyle/>
          <a:p>
            <a:r>
              <a:rPr lang="en-US" sz="2800" dirty="0"/>
              <a:t>Autoradiographic Evidence of the Secretory Pathway: 7 and 37 Minutes After Radiolabeling</a:t>
            </a:r>
          </a:p>
        </p:txBody>
      </p:sp>
      <p:sp>
        <p:nvSpPr>
          <p:cNvPr id="6" name="Content Placeholder 5"/>
          <p:cNvSpPr>
            <a:spLocks noGrp="1"/>
          </p:cNvSpPr>
          <p:nvPr>
            <p:ph sz="quarter" idx="15"/>
          </p:nvPr>
        </p:nvSpPr>
        <p:spPr>
          <a:xfrm>
            <a:off x="421689" y="1396526"/>
            <a:ext cx="3415526" cy="1477328"/>
          </a:xfrm>
        </p:spPr>
        <p:txBody>
          <a:bodyPr wrap="square" lIns="0" tIns="0" rIns="0" bIns="0">
            <a:spAutoFit/>
          </a:bodyPr>
          <a:lstStyle/>
          <a:p>
            <a:pPr marL="0" indent="0">
              <a:buNone/>
            </a:pPr>
            <a:r>
              <a:rPr lang="en-US" sz="2400" b="1" dirty="0"/>
              <a:t>Figure 12.15 </a:t>
            </a:r>
            <a:r>
              <a:rPr lang="en-US" sz="2400" dirty="0"/>
              <a:t>Autoradiographic Evidence of a Secretory Pathway.</a:t>
            </a:r>
          </a:p>
        </p:txBody>
      </p:sp>
      <p:pic>
        <p:nvPicPr>
          <p:cNvPr id="4" name="Picture Placeholder 3" descr="Electron microscopic autoradiogaphy images of secretory pathway of a radioactively labeled protein after 3 minutes, after 7 minutes, after 37 minutes, and after 117 minutes. The measurement is 1 micrometer. &#10;Long description is available in notes, press F6"/>
          <p:cNvPicPr>
            <a:picLocks noGrp="1" noChangeAspect="1"/>
          </p:cNvPicPr>
          <p:nvPr>
            <p:ph type="pic" sz="quarter" idx="16"/>
          </p:nvPr>
        </p:nvPicPr>
        <p:blipFill rotWithShape="1">
          <a:blip r:embed="rId3">
            <a:extLst>
              <a:ext uri="{28A0092B-C50C-407E-A947-70E740481C1C}">
                <a14:useLocalDpi xmlns:a14="http://schemas.microsoft.com/office/drawing/2010/main" val="0"/>
              </a:ext>
            </a:extLst>
          </a:blip>
          <a:srcRect b="3992"/>
          <a:stretch/>
        </p:blipFill>
        <p:spPr>
          <a:xfrm>
            <a:off x="4082603" y="1394227"/>
            <a:ext cx="4612431" cy="4409322"/>
          </a:xfrm>
        </p:spPr>
      </p:pic>
    </p:spTree>
    <p:extLst>
      <p:ext uri="{BB962C8B-B14F-4D97-AF65-F5344CB8AC3E}">
        <p14:creationId xmlns:p14="http://schemas.microsoft.com/office/powerpoint/2010/main" val="386226608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30565" y="288652"/>
            <a:ext cx="8265401" cy="1292662"/>
          </a:xfrm>
          <a:noFill/>
          <a:ln>
            <a:noFill/>
          </a:ln>
        </p:spPr>
        <p:txBody>
          <a:bodyPr wrap="square" lIns="0" tIns="0" rIns="0" bIns="0" anchor="ctr" anchorCtr="0">
            <a:spAutoFit/>
          </a:bodyPr>
          <a:lstStyle/>
          <a:p>
            <a:r>
              <a:rPr lang="en-US" sz="2800" dirty="0"/>
              <a:t>Autoradiographic Evidence of the Secretory Pathway: 37 and 117 Minutes After Radiolabeling</a:t>
            </a:r>
          </a:p>
        </p:txBody>
      </p:sp>
      <p:sp>
        <p:nvSpPr>
          <p:cNvPr id="6" name="Content Placeholder 5"/>
          <p:cNvSpPr>
            <a:spLocks noGrp="1"/>
          </p:cNvSpPr>
          <p:nvPr>
            <p:ph sz="quarter" idx="15"/>
          </p:nvPr>
        </p:nvSpPr>
        <p:spPr>
          <a:xfrm>
            <a:off x="421688" y="1705621"/>
            <a:ext cx="3431855" cy="1477328"/>
          </a:xfrm>
        </p:spPr>
        <p:txBody>
          <a:bodyPr wrap="square" lIns="0" tIns="0" rIns="0" bIns="0">
            <a:spAutoFit/>
          </a:bodyPr>
          <a:lstStyle/>
          <a:p>
            <a:pPr marL="0" indent="0">
              <a:buNone/>
            </a:pPr>
            <a:r>
              <a:rPr lang="en-US" sz="2400" b="1" dirty="0"/>
              <a:t>Figure 12.15 </a:t>
            </a:r>
            <a:r>
              <a:rPr lang="en-US" sz="2400" dirty="0"/>
              <a:t>Autoradiographic Evidence of a Secretory Pathway. </a:t>
            </a:r>
          </a:p>
        </p:txBody>
      </p:sp>
      <p:pic>
        <p:nvPicPr>
          <p:cNvPr id="5" name="Picture Placeholder 4" descr="Electron microscopic autoradiogaphy images of secretory pathway of a radioactively labeled protein after 3 minutes, after 7 minutes, after 37 minutes, and after 117 minutes. The measurement is 1 micrometer. &#10;Long description is available in notes, press F6"/>
          <p:cNvPicPr>
            <a:picLocks noGrp="1" noChangeAspect="1"/>
          </p:cNvPicPr>
          <p:nvPr>
            <p:ph type="pic" sz="quarter" idx="16"/>
          </p:nvPr>
        </p:nvPicPr>
        <p:blipFill rotWithShape="1">
          <a:blip r:embed="rId3">
            <a:extLst>
              <a:ext uri="{28A0092B-C50C-407E-A947-70E740481C1C}">
                <a14:useLocalDpi xmlns:a14="http://schemas.microsoft.com/office/drawing/2010/main" val="0"/>
              </a:ext>
            </a:extLst>
          </a:blip>
          <a:srcRect b="2828"/>
          <a:stretch/>
        </p:blipFill>
        <p:spPr>
          <a:xfrm>
            <a:off x="4090072" y="1699490"/>
            <a:ext cx="4605895" cy="4443735"/>
          </a:xfrm>
        </p:spPr>
      </p:pic>
    </p:spTree>
    <p:extLst>
      <p:ext uri="{BB962C8B-B14F-4D97-AF65-F5344CB8AC3E}">
        <p14:creationId xmlns:p14="http://schemas.microsoft.com/office/powerpoint/2010/main" val="56770387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81453"/>
            <a:ext cx="8302240" cy="553998"/>
          </a:xfrm>
        </p:spPr>
        <p:txBody>
          <a:bodyPr lIns="0" tIns="0" rIns="0" bIns="0" anchor="ctr">
            <a:spAutoFit/>
          </a:bodyPr>
          <a:lstStyle/>
          <a:p>
            <a:r>
              <a:rPr lang="en-US" sz="3600" dirty="0">
                <a:latin typeface="+mj-lt"/>
              </a:rPr>
              <a:t>Constitutive Secretion </a:t>
            </a:r>
            <a:r>
              <a:rPr lang="en-US" sz="2800" dirty="0">
                <a:latin typeface="+mj-lt"/>
              </a:rPr>
              <a:t>(1 of 2)</a:t>
            </a:r>
            <a:endParaRPr lang="en-US" sz="2000" dirty="0">
              <a:latin typeface="+mj-lt"/>
            </a:endParaRP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067314"/>
            <a:ext cx="8302240" cy="2970044"/>
          </a:xfrm>
          <a:noFill/>
          <a:ln>
            <a:noFill/>
          </a:ln>
        </p:spPr>
        <p:txBody>
          <a:bodyPr lIns="0" tIns="0" rIns="0" bIns="0" anchor="t" anchorCtr="0">
            <a:spAutoFit/>
          </a:bodyPr>
          <a:lstStyle/>
          <a:p>
            <a:pPr marL="342900" indent="-342900"/>
            <a:r>
              <a:rPr lang="en-US" sz="2400" dirty="0"/>
              <a:t>After budding from the </a:t>
            </a:r>
            <a:r>
              <a:rPr lang="en-US" sz="2400" spc="-300" dirty="0"/>
              <a:t>T G </a:t>
            </a:r>
            <a:r>
              <a:rPr lang="en-US" sz="2400" dirty="0"/>
              <a:t>N, some vesicles move directly to the cell surface and immediately fuse with the plasma membrane</a:t>
            </a:r>
            <a:r>
              <a:rPr lang="en-US" sz="2400" dirty="0">
                <a:solidFill>
                  <a:schemeClr val="tx1"/>
                </a:solidFill>
              </a:rPr>
              <a:t>.</a:t>
            </a:r>
          </a:p>
          <a:p>
            <a:pPr marL="342900" indent="-342900"/>
            <a:r>
              <a:rPr lang="en-US" sz="2400" dirty="0"/>
              <a:t>This unregulated process is continuous and independent of external signals</a:t>
            </a:r>
            <a:r>
              <a:rPr lang="en-US" sz="2400" dirty="0">
                <a:solidFill>
                  <a:schemeClr val="tx1"/>
                </a:solidFill>
              </a:rPr>
              <a:t>.</a:t>
            </a:r>
          </a:p>
          <a:p>
            <a:pPr marL="342900" indent="-342900"/>
            <a:r>
              <a:rPr lang="en-US" sz="2400" dirty="0"/>
              <a:t>It is called </a:t>
            </a:r>
            <a:r>
              <a:rPr lang="en-US" sz="2400" b="1" dirty="0"/>
              <a:t>constitutive</a:t>
            </a:r>
            <a:r>
              <a:rPr lang="en-US" sz="2400" dirty="0"/>
              <a:t> </a:t>
            </a:r>
            <a:r>
              <a:rPr lang="en-US" sz="2400" b="1" dirty="0"/>
              <a:t>secretion</a:t>
            </a:r>
            <a:r>
              <a:rPr lang="en-US" sz="2400" dirty="0"/>
              <a:t>; one example is mucus secretion by the intestinal lining</a:t>
            </a:r>
            <a:r>
              <a:rPr lang="en-US" sz="2400" dirty="0">
                <a:solidFill>
                  <a:schemeClr val="tx1"/>
                </a:solidFill>
              </a:rPr>
              <a:t>.</a:t>
            </a:r>
          </a:p>
        </p:txBody>
      </p:sp>
    </p:spTree>
    <p:extLst>
      <p:ext uri="{BB962C8B-B14F-4D97-AF65-F5344CB8AC3E}">
        <p14:creationId xmlns:p14="http://schemas.microsoft.com/office/powerpoint/2010/main" val="395620477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81453"/>
            <a:ext cx="8302240" cy="553998"/>
          </a:xfrm>
        </p:spPr>
        <p:txBody>
          <a:bodyPr lIns="0" tIns="0" rIns="0" bIns="0" anchor="ctr">
            <a:spAutoFit/>
          </a:bodyPr>
          <a:lstStyle/>
          <a:p>
            <a:r>
              <a:rPr lang="en-US" sz="3600" dirty="0">
                <a:latin typeface="+mj-lt"/>
              </a:rPr>
              <a:t>Constitutive Secretion </a:t>
            </a:r>
            <a:r>
              <a:rPr lang="en-US" sz="2800" dirty="0">
                <a:latin typeface="+mj-lt"/>
              </a:rPr>
              <a:t>(2 of 2)</a:t>
            </a:r>
            <a:endParaRPr lang="en-US" sz="2000" dirty="0">
              <a:latin typeface="+mj-lt"/>
            </a:endParaRP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067314"/>
            <a:ext cx="8302240" cy="2970044"/>
          </a:xfrm>
          <a:noFill/>
          <a:ln>
            <a:noFill/>
          </a:ln>
        </p:spPr>
        <p:txBody>
          <a:bodyPr lIns="0" tIns="0" rIns="0" bIns="0" anchor="t" anchorCtr="0">
            <a:spAutoFit/>
          </a:bodyPr>
          <a:lstStyle/>
          <a:p>
            <a:pPr marL="342900" indent="-342900"/>
            <a:r>
              <a:rPr lang="en-US" sz="2400" dirty="0"/>
              <a:t>Constitutive secretion was once thought to be a </a:t>
            </a:r>
            <a:r>
              <a:rPr lang="en-US" sz="2400" i="1" dirty="0"/>
              <a:t>default</a:t>
            </a:r>
            <a:r>
              <a:rPr lang="en-US" sz="2400" dirty="0"/>
              <a:t> </a:t>
            </a:r>
            <a:r>
              <a:rPr lang="en-US" sz="2400" i="1" dirty="0"/>
              <a:t>pathway</a:t>
            </a:r>
            <a:r>
              <a:rPr lang="en-US" sz="2400" dirty="0"/>
              <a:t> for proteins synthesized by rough </a:t>
            </a:r>
            <a:r>
              <a:rPr lang="en-US" sz="2400" spc="-300" dirty="0"/>
              <a:t>E </a:t>
            </a:r>
            <a:r>
              <a:rPr lang="en-US" sz="2400" dirty="0"/>
              <a:t>R</a:t>
            </a:r>
            <a:r>
              <a:rPr lang="en-US" sz="2400" dirty="0">
                <a:solidFill>
                  <a:schemeClr val="tx1"/>
                </a:solidFill>
              </a:rPr>
              <a:t>.</a:t>
            </a:r>
            <a:r>
              <a:rPr lang="en-US" sz="2400" dirty="0"/>
              <a:t> </a:t>
            </a:r>
          </a:p>
          <a:p>
            <a:pPr marL="342900" indent="-342900"/>
            <a:r>
              <a:rPr lang="en-US" sz="2400" dirty="0"/>
              <a:t>It was thought that proteins destined to stay in the endomembrane system must have a tag to avoid constitutive secretion</a:t>
            </a:r>
            <a:r>
              <a:rPr lang="en-US" sz="2400" dirty="0">
                <a:solidFill>
                  <a:schemeClr val="tx1"/>
                </a:solidFill>
              </a:rPr>
              <a:t>.</a:t>
            </a:r>
          </a:p>
          <a:p>
            <a:pPr marL="342900" indent="-342900"/>
            <a:r>
              <a:rPr lang="en-US" sz="2400" dirty="0"/>
              <a:t>Current evidence suggests that some tags may be required for constitutive secretion</a:t>
            </a:r>
            <a:r>
              <a:rPr lang="en-US" sz="2400" dirty="0">
                <a:solidFill>
                  <a:schemeClr val="tx1"/>
                </a:solidFill>
              </a:rPr>
              <a:t>.</a:t>
            </a:r>
          </a:p>
        </p:txBody>
      </p:sp>
    </p:spTree>
    <p:extLst>
      <p:ext uri="{BB962C8B-B14F-4D97-AF65-F5344CB8AC3E}">
        <p14:creationId xmlns:p14="http://schemas.microsoft.com/office/powerpoint/2010/main" val="350974374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81453"/>
            <a:ext cx="8302240" cy="553998"/>
          </a:xfrm>
        </p:spPr>
        <p:txBody>
          <a:bodyPr lIns="0" tIns="0" rIns="0" bIns="0" anchor="ctr">
            <a:spAutoFit/>
          </a:bodyPr>
          <a:lstStyle/>
          <a:p>
            <a:r>
              <a:rPr lang="en-US" sz="3600" dirty="0">
                <a:latin typeface="+mj-lt"/>
              </a:rPr>
              <a:t>Regulated Secretion </a:t>
            </a:r>
            <a:r>
              <a:rPr lang="en-US" sz="2800" dirty="0">
                <a:latin typeface="+mj-lt"/>
              </a:rPr>
              <a:t>(1 of 2)</a:t>
            </a:r>
            <a:endParaRPr lang="en-US" sz="1600" dirty="0">
              <a:latin typeface="+mj-lt"/>
            </a:endParaRP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7" y="1067314"/>
            <a:ext cx="7915766" cy="2600712"/>
          </a:xfrm>
          <a:noFill/>
          <a:ln>
            <a:noFill/>
          </a:ln>
        </p:spPr>
        <p:txBody>
          <a:bodyPr wrap="square" lIns="0" tIns="0" rIns="0" bIns="0" anchor="t" anchorCtr="0">
            <a:spAutoFit/>
          </a:bodyPr>
          <a:lstStyle/>
          <a:p>
            <a:pPr marL="342900" indent="-342900"/>
            <a:r>
              <a:rPr lang="en-US" sz="2400" dirty="0"/>
              <a:t>Secretory vesicles involved in </a:t>
            </a:r>
            <a:r>
              <a:rPr lang="en-US" sz="2400" b="1" dirty="0"/>
              <a:t>regulated</a:t>
            </a:r>
            <a:r>
              <a:rPr lang="en-US" sz="2400" dirty="0"/>
              <a:t> </a:t>
            </a:r>
            <a:r>
              <a:rPr lang="en-US" sz="2400" b="1" dirty="0"/>
              <a:t>secretion</a:t>
            </a:r>
            <a:r>
              <a:rPr lang="en-US" sz="2400" dirty="0"/>
              <a:t> accumulate in the cell and fuse with the plasma membrane only in response to specific signals</a:t>
            </a:r>
            <a:r>
              <a:rPr lang="en-US" sz="2400" dirty="0">
                <a:solidFill>
                  <a:schemeClr val="tx1"/>
                </a:solidFill>
              </a:rPr>
              <a:t>.</a:t>
            </a:r>
          </a:p>
          <a:p>
            <a:pPr marL="342900" indent="-342900"/>
            <a:r>
              <a:rPr lang="en-US" sz="2400" dirty="0"/>
              <a:t>An important example is neurotransmitter release</a:t>
            </a:r>
            <a:r>
              <a:rPr lang="en-US" sz="2400" dirty="0">
                <a:solidFill>
                  <a:schemeClr val="tx1"/>
                </a:solidFill>
              </a:rPr>
              <a:t>.</a:t>
            </a:r>
          </a:p>
          <a:p>
            <a:pPr marL="342900" indent="-342900"/>
            <a:r>
              <a:rPr lang="en-US" sz="2400" dirty="0"/>
              <a:t>Regulated secretory vesicles form by budding from the </a:t>
            </a:r>
            <a:r>
              <a:rPr lang="en-US" sz="2400" spc="-300" dirty="0"/>
              <a:t>T G </a:t>
            </a:r>
            <a:r>
              <a:rPr lang="en-US" sz="2400" dirty="0"/>
              <a:t>N as immature secretory vesicles</a:t>
            </a:r>
            <a:r>
              <a:rPr lang="en-US" sz="2400" dirty="0">
                <a:solidFill>
                  <a:schemeClr val="tx1"/>
                </a:solidFill>
              </a:rPr>
              <a:t>.</a:t>
            </a:r>
          </a:p>
        </p:txBody>
      </p:sp>
    </p:spTree>
    <p:extLst>
      <p:ext uri="{BB962C8B-B14F-4D97-AF65-F5344CB8AC3E}">
        <p14:creationId xmlns:p14="http://schemas.microsoft.com/office/powerpoint/2010/main" val="33901518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81453"/>
            <a:ext cx="8302240" cy="553998"/>
          </a:xfrm>
        </p:spPr>
        <p:txBody>
          <a:bodyPr lIns="0" tIns="0" rIns="0" bIns="0" anchor="ctr">
            <a:spAutoFit/>
          </a:bodyPr>
          <a:lstStyle/>
          <a:p>
            <a:r>
              <a:rPr lang="en-US" sz="3600" dirty="0">
                <a:latin typeface="+mj-lt"/>
              </a:rPr>
              <a:t>Regulated Secretion </a:t>
            </a:r>
            <a:r>
              <a:rPr lang="en-US" sz="2800" dirty="0">
                <a:latin typeface="+mj-lt"/>
              </a:rPr>
              <a:t>(2 of 2)</a:t>
            </a:r>
            <a:endParaRPr lang="en-US" sz="1600" dirty="0">
              <a:latin typeface="+mj-lt"/>
            </a:endParaRP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067314"/>
            <a:ext cx="8302240" cy="2970044"/>
          </a:xfrm>
          <a:noFill/>
          <a:ln>
            <a:noFill/>
          </a:ln>
        </p:spPr>
        <p:txBody>
          <a:bodyPr lIns="0" tIns="0" rIns="0" bIns="0" anchor="t" anchorCtr="0">
            <a:spAutoFit/>
          </a:bodyPr>
          <a:lstStyle/>
          <a:p>
            <a:pPr marL="342900" indent="-342900"/>
            <a:r>
              <a:rPr lang="en-US" sz="2400" dirty="0"/>
              <a:t>Maturation of secretory proteins involves their concentration, called </a:t>
            </a:r>
            <a:r>
              <a:rPr lang="en-US" sz="2400" i="1" dirty="0"/>
              <a:t>condensation</a:t>
            </a:r>
            <a:r>
              <a:rPr lang="en-US" sz="2400" dirty="0"/>
              <a:t>, and sometimes proteolytic processing</a:t>
            </a:r>
            <a:r>
              <a:rPr lang="en-US" sz="2400" dirty="0">
                <a:solidFill>
                  <a:schemeClr val="tx1"/>
                </a:solidFill>
              </a:rPr>
              <a:t>.</a:t>
            </a:r>
          </a:p>
          <a:p>
            <a:pPr marL="342900" indent="-342900"/>
            <a:r>
              <a:rPr lang="en-US" sz="2400" dirty="0"/>
              <a:t>The mature secretory vesicles move close to the site of secretion and remain there until receiving a signal</a:t>
            </a:r>
            <a:r>
              <a:rPr lang="en-US" sz="2400" dirty="0">
                <a:solidFill>
                  <a:schemeClr val="tx1"/>
                </a:solidFill>
              </a:rPr>
              <a:t>.</a:t>
            </a:r>
          </a:p>
          <a:p>
            <a:pPr marL="342900" indent="-342900"/>
            <a:r>
              <a:rPr lang="en-US" sz="2400" dirty="0"/>
              <a:t>The signal triggers vesicles to release their contents by fusion with the plasma membrane</a:t>
            </a:r>
            <a:r>
              <a:rPr lang="en-US" sz="2400" dirty="0">
                <a:solidFill>
                  <a:schemeClr val="tx1"/>
                </a:solidFill>
              </a:rPr>
              <a:t>.</a:t>
            </a:r>
          </a:p>
        </p:txBody>
      </p:sp>
    </p:spTree>
    <p:extLst>
      <p:ext uri="{BB962C8B-B14F-4D97-AF65-F5344CB8AC3E}">
        <p14:creationId xmlns:p14="http://schemas.microsoft.com/office/powerpoint/2010/main" val="413432570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74913"/>
            <a:ext cx="8302240" cy="1107996"/>
          </a:xfrm>
        </p:spPr>
        <p:txBody>
          <a:bodyPr lIns="0" tIns="0" rIns="0" bIns="0" anchor="ctr">
            <a:spAutoFit/>
          </a:bodyPr>
          <a:lstStyle/>
          <a:p>
            <a:r>
              <a:rPr lang="en-US" sz="3600" dirty="0">
                <a:latin typeface="+mj-lt"/>
              </a:rPr>
              <a:t>Excluding Nonsecretory Proteins from Vesicles</a:t>
            </a:r>
            <a:endParaRPr lang="en-US" sz="2000" dirty="0">
              <a:latin typeface="+mj-lt"/>
            </a:endParaRP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376408"/>
            <a:ext cx="8302240" cy="2600712"/>
          </a:xfrm>
          <a:noFill/>
          <a:ln>
            <a:noFill/>
          </a:ln>
        </p:spPr>
        <p:txBody>
          <a:bodyPr lIns="0" tIns="0" rIns="0" bIns="0" anchor="t" anchorCtr="0">
            <a:spAutoFit/>
          </a:bodyPr>
          <a:lstStyle/>
          <a:p>
            <a:pPr marL="342900" indent="-342900"/>
            <a:r>
              <a:rPr lang="en-US" sz="2400" dirty="0"/>
              <a:t>Evidence suggests that high concentrations of secretory proteins lead to formation of </a:t>
            </a:r>
            <a:r>
              <a:rPr lang="en-US" sz="2400" i="1" dirty="0"/>
              <a:t>protein</a:t>
            </a:r>
            <a:r>
              <a:rPr lang="en-US" sz="2400" dirty="0"/>
              <a:t> </a:t>
            </a:r>
            <a:r>
              <a:rPr lang="en-US" sz="2400" i="1" dirty="0"/>
              <a:t>aggregates</a:t>
            </a:r>
            <a:r>
              <a:rPr lang="en-US" sz="2400" dirty="0">
                <a:solidFill>
                  <a:schemeClr val="tx1"/>
                </a:solidFill>
              </a:rPr>
              <a:t>.</a:t>
            </a:r>
            <a:endParaRPr lang="en-US" sz="2400" i="1" dirty="0">
              <a:solidFill>
                <a:schemeClr val="tx1"/>
              </a:solidFill>
            </a:endParaRPr>
          </a:p>
          <a:p>
            <a:pPr marL="342900" indent="-342900"/>
            <a:r>
              <a:rPr lang="en-US" sz="2400" dirty="0"/>
              <a:t>These aggregates, formed in the </a:t>
            </a:r>
            <a:r>
              <a:rPr lang="en-US" sz="2400" spc="-300" dirty="0"/>
              <a:t>T G </a:t>
            </a:r>
            <a:r>
              <a:rPr lang="en-US" sz="2400" dirty="0"/>
              <a:t>N, act to exclude nonsecretory proteins from the forming secretory vesicles</a:t>
            </a:r>
            <a:r>
              <a:rPr lang="en-US" sz="2400" dirty="0">
                <a:solidFill>
                  <a:schemeClr val="tx1"/>
                </a:solidFill>
              </a:rPr>
              <a:t>.</a:t>
            </a:r>
            <a:r>
              <a:rPr lang="en-US" sz="2400" dirty="0"/>
              <a:t> </a:t>
            </a:r>
          </a:p>
          <a:p>
            <a:pPr marL="342900" indent="-342900"/>
            <a:r>
              <a:rPr lang="en-US" sz="2400" dirty="0"/>
              <a:t>Proteins that do not form aggregates or enter secretory vesicles would be transported elsewhere</a:t>
            </a:r>
            <a:r>
              <a:rPr lang="en-US" sz="2400" dirty="0">
                <a:solidFill>
                  <a:schemeClr val="tx1"/>
                </a:solidFill>
              </a:rPr>
              <a:t>.</a:t>
            </a:r>
          </a:p>
        </p:txBody>
      </p:sp>
    </p:spTree>
    <p:extLst>
      <p:ext uri="{BB962C8B-B14F-4D97-AF65-F5344CB8AC3E}">
        <p14:creationId xmlns:p14="http://schemas.microsoft.com/office/powerpoint/2010/main" val="192939050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30566" y="177717"/>
            <a:ext cx="8229600" cy="553998"/>
          </a:xfrm>
        </p:spPr>
        <p:txBody>
          <a:bodyPr lIns="0" tIns="0" rIns="0" bIns="0" anchor="ctr">
            <a:spAutoFit/>
          </a:bodyPr>
          <a:lstStyle/>
          <a:p>
            <a:r>
              <a:rPr lang="en-US" dirty="0"/>
              <a:t>Zymogen Granules</a:t>
            </a:r>
          </a:p>
        </p:txBody>
      </p:sp>
      <p:sp>
        <p:nvSpPr>
          <p:cNvPr id="6" name="Content Placeholder 5"/>
          <p:cNvSpPr>
            <a:spLocks noGrp="1"/>
          </p:cNvSpPr>
          <p:nvPr>
            <p:ph sz="quarter" idx="15"/>
          </p:nvPr>
        </p:nvSpPr>
        <p:spPr>
          <a:xfrm>
            <a:off x="421688" y="997278"/>
            <a:ext cx="8238478" cy="369332"/>
          </a:xfrm>
        </p:spPr>
        <p:txBody>
          <a:bodyPr wrap="square" lIns="0" tIns="0" rIns="0" bIns="0">
            <a:spAutoFit/>
          </a:bodyPr>
          <a:lstStyle/>
          <a:p>
            <a:pPr marL="0" indent="0">
              <a:buNone/>
            </a:pPr>
            <a:r>
              <a:rPr lang="en-US" sz="2400" b="1" dirty="0"/>
              <a:t>Figure 12.16 </a:t>
            </a:r>
            <a:r>
              <a:rPr lang="en-US" sz="2400" dirty="0"/>
              <a:t>Zymogen Granules. </a:t>
            </a:r>
          </a:p>
        </p:txBody>
      </p:sp>
      <p:pic>
        <p:nvPicPr>
          <p:cNvPr id="8" name="Picture Placeholder 7" descr="An electron micrograph shows circular Zymogen granules and pancreatic duct lumen. The measurement is marked as 2.5 micrometers.&#10;"/>
          <p:cNvPicPr>
            <a:picLocks noGrp="1" noChangeAspect="1"/>
          </p:cNvPicPr>
          <p:nvPr>
            <p:ph type="pic" sz="quarter" idx="16"/>
          </p:nvPr>
        </p:nvPicPr>
        <p:blipFill rotWithShape="1">
          <a:blip r:embed="rId3">
            <a:extLst>
              <a:ext uri="{28A0092B-C50C-407E-A947-70E740481C1C}">
                <a14:useLocalDpi xmlns:a14="http://schemas.microsoft.com/office/drawing/2010/main" val="0"/>
              </a:ext>
            </a:extLst>
          </a:blip>
          <a:srcRect b="2170"/>
          <a:stretch/>
        </p:blipFill>
        <p:spPr>
          <a:xfrm>
            <a:off x="2069067" y="1622292"/>
            <a:ext cx="5005855" cy="4470847"/>
          </a:xfrm>
        </p:spPr>
      </p:pic>
    </p:spTree>
    <p:extLst>
      <p:ext uri="{BB962C8B-B14F-4D97-AF65-F5344CB8AC3E}">
        <p14:creationId xmlns:p14="http://schemas.microsoft.com/office/powerpoint/2010/main" val="420020358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81454"/>
            <a:ext cx="8302240" cy="553998"/>
          </a:xfrm>
        </p:spPr>
        <p:txBody>
          <a:bodyPr lIns="0" tIns="0" rIns="0" bIns="0" anchor="ctr">
            <a:spAutoFit/>
          </a:bodyPr>
          <a:lstStyle/>
          <a:p>
            <a:r>
              <a:rPr lang="en-US" sz="3600" dirty="0">
                <a:latin typeface="+mj-lt"/>
              </a:rPr>
              <a:t>Polarized Secretion</a:t>
            </a:r>
            <a:endParaRPr lang="en-US" sz="2000" dirty="0">
              <a:latin typeface="+mj-lt"/>
            </a:endParaRP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063566"/>
            <a:ext cx="8302240" cy="2231380"/>
          </a:xfrm>
          <a:noFill/>
          <a:ln>
            <a:noFill/>
          </a:ln>
        </p:spPr>
        <p:txBody>
          <a:bodyPr lIns="0" tIns="0" rIns="0" bIns="0" anchor="t" anchorCtr="0">
            <a:spAutoFit/>
          </a:bodyPr>
          <a:lstStyle/>
          <a:p>
            <a:pPr marL="342900" indent="-342900"/>
            <a:r>
              <a:rPr lang="en-US" sz="2400" dirty="0"/>
              <a:t>In many cases, exocytosis of specific proteins is limited to a specific surface of the cell</a:t>
            </a:r>
            <a:r>
              <a:rPr lang="en-US" sz="2400" dirty="0">
                <a:solidFill>
                  <a:schemeClr val="tx1"/>
                </a:solidFill>
              </a:rPr>
              <a:t>.</a:t>
            </a:r>
          </a:p>
          <a:p>
            <a:pPr marL="342900" indent="-342900"/>
            <a:r>
              <a:rPr lang="en-US" sz="2400" dirty="0"/>
              <a:t>For example, intestinal cells secrete digestive enzymes only on the side of the cell that faces into the intestine</a:t>
            </a:r>
            <a:r>
              <a:rPr lang="en-US" sz="2400" dirty="0">
                <a:solidFill>
                  <a:schemeClr val="tx1"/>
                </a:solidFill>
              </a:rPr>
              <a:t>.</a:t>
            </a:r>
          </a:p>
          <a:p>
            <a:pPr marL="342900" indent="-342900"/>
            <a:r>
              <a:rPr lang="en-US" sz="2400" dirty="0"/>
              <a:t>This is called </a:t>
            </a:r>
            <a:r>
              <a:rPr lang="en-US" sz="2400" b="1" dirty="0"/>
              <a:t>polarized</a:t>
            </a:r>
            <a:r>
              <a:rPr lang="en-US" sz="2400" dirty="0"/>
              <a:t> </a:t>
            </a:r>
            <a:r>
              <a:rPr lang="en-US" sz="2400" b="1" dirty="0"/>
              <a:t>secretion</a:t>
            </a:r>
            <a:r>
              <a:rPr lang="en-US" sz="2400" dirty="0">
                <a:solidFill>
                  <a:schemeClr val="tx1"/>
                </a:solidFill>
              </a:rPr>
              <a:t>.</a:t>
            </a:r>
            <a:endParaRPr lang="en-US" sz="2400" b="1" dirty="0">
              <a:solidFill>
                <a:schemeClr val="tx1"/>
              </a:solidFill>
            </a:endParaRPr>
          </a:p>
        </p:txBody>
      </p:sp>
    </p:spTree>
    <p:extLst>
      <p:ext uri="{BB962C8B-B14F-4D97-AF65-F5344CB8AC3E}">
        <p14:creationId xmlns:p14="http://schemas.microsoft.com/office/powerpoint/2010/main" val="272294577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66600"/>
            <a:ext cx="8302240" cy="1107996"/>
          </a:xfrm>
        </p:spPr>
        <p:txBody>
          <a:bodyPr lIns="0" tIns="0" rIns="0" bIns="0" anchor="ctr">
            <a:spAutoFit/>
          </a:bodyPr>
          <a:lstStyle/>
          <a:p>
            <a:r>
              <a:rPr lang="en-US" sz="3600" dirty="0">
                <a:latin typeface="+mj-lt"/>
              </a:rPr>
              <a:t>Exocytosis Releases Intracellular Molecules Outside the Cell</a:t>
            </a:r>
            <a:endParaRPr lang="en-US" sz="2000" dirty="0">
              <a:latin typeface="+mj-lt"/>
            </a:endParaRP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559287"/>
            <a:ext cx="8302240" cy="2970044"/>
          </a:xfrm>
          <a:noFill/>
          <a:ln>
            <a:noFill/>
          </a:ln>
        </p:spPr>
        <p:txBody>
          <a:bodyPr lIns="0" tIns="0" rIns="0" bIns="0" anchor="t" anchorCtr="0">
            <a:spAutoFit/>
          </a:bodyPr>
          <a:lstStyle/>
          <a:p>
            <a:pPr marL="342900" indent="-342900"/>
            <a:r>
              <a:rPr lang="en-US" sz="2400" dirty="0"/>
              <a:t>In </a:t>
            </a:r>
            <a:r>
              <a:rPr lang="en-US" sz="2400" b="1" dirty="0"/>
              <a:t>exocytosis</a:t>
            </a:r>
            <a:r>
              <a:rPr lang="en-US" sz="2400" dirty="0"/>
              <a:t>, proteins in a vesicle are released to the exterior of the cell as the vesicle fuses with the plasma membrane</a:t>
            </a:r>
            <a:r>
              <a:rPr lang="en-US" sz="2400" dirty="0">
                <a:solidFill>
                  <a:schemeClr val="tx1"/>
                </a:solidFill>
              </a:rPr>
              <a:t>.</a:t>
            </a:r>
          </a:p>
          <a:p>
            <a:pPr marL="342900" indent="-342900"/>
            <a:r>
              <a:rPr lang="en-US" sz="2400" dirty="0"/>
              <a:t>Animal cells secrete hormones, mucus, milk proteins, and digestive enzymes this way</a:t>
            </a:r>
            <a:r>
              <a:rPr lang="en-US" sz="2400" dirty="0">
                <a:solidFill>
                  <a:schemeClr val="tx1"/>
                </a:solidFill>
              </a:rPr>
              <a:t>.</a:t>
            </a:r>
          </a:p>
          <a:p>
            <a:pPr marL="342900" indent="-342900"/>
            <a:r>
              <a:rPr lang="en-US" sz="2400" dirty="0"/>
              <a:t>Plant and fungal cells secrete enzyme and structural proteins for the cell wall</a:t>
            </a:r>
            <a:r>
              <a:rPr lang="en-US" sz="2400" dirty="0">
                <a:solidFill>
                  <a:schemeClr val="tx1"/>
                </a:solidFill>
              </a:rPr>
              <a:t>.</a:t>
            </a:r>
          </a:p>
        </p:txBody>
      </p:sp>
    </p:spTree>
    <p:extLst>
      <p:ext uri="{BB962C8B-B14F-4D97-AF65-F5344CB8AC3E}">
        <p14:creationId xmlns:p14="http://schemas.microsoft.com/office/powerpoint/2010/main" val="137161362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81453"/>
            <a:ext cx="8302240" cy="553998"/>
          </a:xfrm>
        </p:spPr>
        <p:txBody>
          <a:bodyPr lIns="0" tIns="0" rIns="0" bIns="0" anchor="ctr">
            <a:spAutoFit/>
          </a:bodyPr>
          <a:lstStyle/>
          <a:p>
            <a:r>
              <a:rPr lang="en-US" sz="3600" dirty="0">
                <a:latin typeface="+mj-lt"/>
              </a:rPr>
              <a:t>The Process of Exocytosis</a:t>
            </a:r>
            <a:endParaRPr lang="en-US" sz="2000" dirty="0">
              <a:latin typeface="+mj-lt"/>
            </a:endParaRP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063566"/>
            <a:ext cx="8302240" cy="3901068"/>
          </a:xfrm>
          <a:noFill/>
          <a:ln>
            <a:noFill/>
          </a:ln>
        </p:spPr>
        <p:txBody>
          <a:bodyPr lIns="0" tIns="0" rIns="0" bIns="0" anchor="t" anchorCtr="0">
            <a:spAutoFit/>
          </a:bodyPr>
          <a:lstStyle/>
          <a:p>
            <a:pPr marL="457200" indent="-457200">
              <a:buFont typeface="+mj-lt"/>
              <a:buAutoNum type="arabicPeriod"/>
            </a:pPr>
            <a:r>
              <a:rPr lang="en-US" sz="2400" dirty="0"/>
              <a:t>Vesicles containing products for secretion move to the cell surface. </a:t>
            </a:r>
          </a:p>
          <a:p>
            <a:pPr marL="457200" indent="-457200">
              <a:buFont typeface="+mj-lt"/>
              <a:buAutoNum type="arabicPeriod"/>
            </a:pPr>
            <a:r>
              <a:rPr lang="en-US" sz="2400" dirty="0"/>
              <a:t>The membrane of the vesicle fuses with the plasma membrane. </a:t>
            </a:r>
          </a:p>
          <a:p>
            <a:pPr marL="457200" indent="-457200">
              <a:buFont typeface="+mj-lt"/>
              <a:buAutoNum type="arabicPeriod"/>
            </a:pPr>
            <a:r>
              <a:rPr lang="en-US" sz="2400" dirty="0"/>
              <a:t>Fusion with the plasma membrane discharges the contents of the vesicle. </a:t>
            </a:r>
          </a:p>
          <a:p>
            <a:pPr marL="457200" indent="-457200">
              <a:buFont typeface="+mj-lt"/>
              <a:buAutoNum type="arabicPeriod"/>
            </a:pPr>
            <a:r>
              <a:rPr lang="en-US" sz="2400" dirty="0"/>
              <a:t>The membrane of the vesicle becomes part of the cell membrane. The </a:t>
            </a:r>
            <a:r>
              <a:rPr lang="en-US" sz="2400" i="1" dirty="0"/>
              <a:t>inner</a:t>
            </a:r>
            <a:r>
              <a:rPr lang="en-US" sz="2400" dirty="0"/>
              <a:t> (lumenal) surface of the vesicle becomes the </a:t>
            </a:r>
            <a:r>
              <a:rPr lang="en-US" sz="2400" i="1" dirty="0"/>
              <a:t>outer</a:t>
            </a:r>
            <a:r>
              <a:rPr lang="en-US" sz="2400" dirty="0"/>
              <a:t> (extracellular) surface.</a:t>
            </a:r>
          </a:p>
        </p:txBody>
      </p:sp>
    </p:spTree>
    <p:extLst>
      <p:ext uri="{BB962C8B-B14F-4D97-AF65-F5344CB8AC3E}">
        <p14:creationId xmlns:p14="http://schemas.microsoft.com/office/powerpoint/2010/main" val="158976918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30566" y="177717"/>
            <a:ext cx="8229600" cy="553998"/>
          </a:xfrm>
        </p:spPr>
        <p:txBody>
          <a:bodyPr lIns="0" tIns="0" rIns="0" bIns="0" anchor="ctr">
            <a:spAutoFit/>
          </a:bodyPr>
          <a:lstStyle/>
          <a:p>
            <a:r>
              <a:rPr lang="en-US" dirty="0"/>
              <a:t>Exocytosis </a:t>
            </a:r>
            <a:r>
              <a:rPr lang="en-US" sz="2800" dirty="0"/>
              <a:t>(1 of 2)</a:t>
            </a:r>
            <a:endParaRPr lang="en-US" dirty="0"/>
          </a:p>
        </p:txBody>
      </p:sp>
      <p:sp>
        <p:nvSpPr>
          <p:cNvPr id="6" name="Content Placeholder 5"/>
          <p:cNvSpPr>
            <a:spLocks noGrp="1"/>
          </p:cNvSpPr>
          <p:nvPr>
            <p:ph sz="quarter" idx="15"/>
          </p:nvPr>
        </p:nvSpPr>
        <p:spPr>
          <a:xfrm>
            <a:off x="421689" y="1100313"/>
            <a:ext cx="3287426" cy="738664"/>
          </a:xfrm>
        </p:spPr>
        <p:txBody>
          <a:bodyPr wrap="square" lIns="0" tIns="0" rIns="0" bIns="0">
            <a:spAutoFit/>
          </a:bodyPr>
          <a:lstStyle/>
          <a:p>
            <a:pPr marL="0" indent="0">
              <a:buNone/>
            </a:pPr>
            <a:r>
              <a:rPr lang="en-US" sz="2400" b="1" dirty="0"/>
              <a:t>Figure 12.17 </a:t>
            </a:r>
            <a:r>
              <a:rPr lang="en-US" sz="2400" dirty="0"/>
              <a:t>Exocytosis.</a:t>
            </a:r>
          </a:p>
        </p:txBody>
      </p:sp>
      <p:pic>
        <p:nvPicPr>
          <p:cNvPr id="8" name="Picture Placeholder 7" descr="An illustration on exocytosis shows the transfer of secretory proteins in four steps from the cytosol within the cell to the exterior of the cell through the plasma membrane. An electron micrograph also shows the process of exocytosis in the cell.&#10;Long description is available in notes, press F6"/>
          <p:cNvPicPr>
            <a:picLocks noGrp="1" noChangeAspect="1"/>
          </p:cNvPicPr>
          <p:nvPr>
            <p:ph type="pic" sz="quarter" idx="16"/>
          </p:nvPr>
        </p:nvPicPr>
        <p:blipFill rotWithShape="1">
          <a:blip r:embed="rId3">
            <a:extLst>
              <a:ext uri="{28A0092B-C50C-407E-A947-70E740481C1C}">
                <a14:useLocalDpi xmlns:a14="http://schemas.microsoft.com/office/drawing/2010/main" val="0"/>
              </a:ext>
            </a:extLst>
          </a:blip>
          <a:srcRect b="2034"/>
          <a:stretch/>
        </p:blipFill>
        <p:spPr>
          <a:xfrm>
            <a:off x="3823249" y="1095665"/>
            <a:ext cx="4871763" cy="5310616"/>
          </a:xfrm>
        </p:spPr>
      </p:pic>
    </p:spTree>
    <p:extLst>
      <p:ext uri="{BB962C8B-B14F-4D97-AF65-F5344CB8AC3E}">
        <p14:creationId xmlns:p14="http://schemas.microsoft.com/office/powerpoint/2010/main" val="325718889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30566" y="177717"/>
            <a:ext cx="8229600" cy="553998"/>
          </a:xfrm>
        </p:spPr>
        <p:txBody>
          <a:bodyPr lIns="0" tIns="0" rIns="0" bIns="0" anchor="ctr">
            <a:spAutoFit/>
          </a:bodyPr>
          <a:lstStyle/>
          <a:p>
            <a:r>
              <a:rPr lang="en-US" dirty="0"/>
              <a:t>Exocytosis </a:t>
            </a:r>
            <a:r>
              <a:rPr lang="en-US" sz="2800" dirty="0"/>
              <a:t>(2 of 2)</a:t>
            </a:r>
            <a:endParaRPr lang="en-US" dirty="0"/>
          </a:p>
        </p:txBody>
      </p:sp>
      <p:sp>
        <p:nvSpPr>
          <p:cNvPr id="6" name="Content Placeholder 5"/>
          <p:cNvSpPr>
            <a:spLocks noGrp="1"/>
          </p:cNvSpPr>
          <p:nvPr>
            <p:ph sz="quarter" idx="15"/>
          </p:nvPr>
        </p:nvSpPr>
        <p:spPr>
          <a:xfrm>
            <a:off x="421688" y="1100310"/>
            <a:ext cx="8238478" cy="369332"/>
          </a:xfrm>
        </p:spPr>
        <p:txBody>
          <a:bodyPr wrap="square" lIns="0" tIns="0" rIns="0" bIns="0">
            <a:spAutoFit/>
          </a:bodyPr>
          <a:lstStyle/>
          <a:p>
            <a:pPr marL="0" indent="0">
              <a:buNone/>
            </a:pPr>
            <a:r>
              <a:rPr lang="en-US" sz="2400" b="1" dirty="0"/>
              <a:t>Figure 12.17 </a:t>
            </a:r>
            <a:r>
              <a:rPr lang="en-US" sz="2400" dirty="0"/>
              <a:t>Exocytosis.</a:t>
            </a:r>
          </a:p>
        </p:txBody>
      </p:sp>
      <p:pic>
        <p:nvPicPr>
          <p:cNvPr id="4" name="Picture Placeholder 3" descr="An illustration on exocytosis shows the transfer of secretory proteins in four steps from the cytosol within the cell to the exterior of the cell through the plasma membrane. An electron micrograph also shows the process of exocytosis in the cell.&#10;Long description is available in notes, press F6"/>
          <p:cNvPicPr>
            <a:picLocks noGrp="1" noChangeAspect="1"/>
          </p:cNvPicPr>
          <p:nvPr>
            <p:ph type="pic" sz="quarter" idx="16"/>
          </p:nvPr>
        </p:nvPicPr>
        <p:blipFill rotWithShape="1">
          <a:blip r:embed="rId3"/>
          <a:srcRect b="2067"/>
          <a:stretch/>
        </p:blipFill>
        <p:spPr>
          <a:xfrm>
            <a:off x="1750586" y="1635635"/>
            <a:ext cx="5643931" cy="4713426"/>
          </a:xfrm>
        </p:spPr>
      </p:pic>
    </p:spTree>
    <p:extLst>
      <p:ext uri="{BB962C8B-B14F-4D97-AF65-F5344CB8AC3E}">
        <p14:creationId xmlns:p14="http://schemas.microsoft.com/office/powerpoint/2010/main" val="164934148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81453"/>
            <a:ext cx="8302240" cy="553998"/>
          </a:xfrm>
        </p:spPr>
        <p:txBody>
          <a:bodyPr lIns="0" tIns="0" rIns="0" bIns="0" anchor="ctr">
            <a:spAutoFit/>
          </a:bodyPr>
          <a:lstStyle/>
          <a:p>
            <a:r>
              <a:rPr lang="en-US" sz="3600" dirty="0">
                <a:latin typeface="+mj-lt"/>
              </a:rPr>
              <a:t>Orientation of Membrane</a:t>
            </a:r>
            <a:endParaRPr lang="en-US" sz="2000" dirty="0">
              <a:latin typeface="+mj-lt"/>
            </a:endParaRP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063566"/>
            <a:ext cx="8302240" cy="2369880"/>
          </a:xfrm>
          <a:noFill/>
          <a:ln>
            <a:noFill/>
          </a:ln>
        </p:spPr>
        <p:txBody>
          <a:bodyPr lIns="0" tIns="0" rIns="0" bIns="0" anchor="t" anchorCtr="0">
            <a:spAutoFit/>
          </a:bodyPr>
          <a:lstStyle/>
          <a:p>
            <a:pPr marL="342900" indent="-342900"/>
            <a:r>
              <a:rPr lang="en-US" sz="2400" dirty="0"/>
              <a:t>When the vesicle fuses with the plasma membrane</a:t>
            </a:r>
            <a:r>
              <a:rPr lang="en-US" sz="2400" dirty="0">
                <a:solidFill>
                  <a:srgbClr val="FF0000"/>
                </a:solidFill>
              </a:rPr>
              <a:t>:</a:t>
            </a:r>
          </a:p>
          <a:p>
            <a:pPr marL="829818" lvl="1" indent="-342900"/>
            <a:r>
              <a:rPr lang="en-US" sz="2400" dirty="0"/>
              <a:t>The lumenal (</a:t>
            </a:r>
            <a:r>
              <a:rPr lang="en-US" sz="2400" i="1" dirty="0">
                <a:solidFill>
                  <a:schemeClr val="tx1"/>
                </a:solidFill>
              </a:rPr>
              <a:t>inner</a:t>
            </a:r>
            <a:r>
              <a:rPr lang="en-US" sz="2400" dirty="0"/>
              <a:t>) membrane of the vesicle becomes part of the </a:t>
            </a:r>
            <a:r>
              <a:rPr lang="en-US" sz="2400" i="1" dirty="0">
                <a:solidFill>
                  <a:schemeClr val="tx1"/>
                </a:solidFill>
              </a:rPr>
              <a:t>outer</a:t>
            </a:r>
            <a:r>
              <a:rPr lang="en-US" sz="2400" dirty="0">
                <a:solidFill>
                  <a:schemeClr val="tx1"/>
                </a:solidFill>
              </a:rPr>
              <a:t> </a:t>
            </a:r>
            <a:r>
              <a:rPr lang="en-US" sz="2400" dirty="0"/>
              <a:t>surface of the plasma membrane</a:t>
            </a:r>
          </a:p>
          <a:p>
            <a:pPr marL="829818" lvl="1" indent="-342900"/>
            <a:r>
              <a:rPr lang="en-US" sz="2400" dirty="0"/>
              <a:t>So, glycolipids and glycoproteins that were formed in the </a:t>
            </a:r>
            <a:r>
              <a:rPr lang="en-US" sz="2400" spc="-300" dirty="0"/>
              <a:t>E </a:t>
            </a:r>
            <a:r>
              <a:rPr lang="en-US" sz="2400" dirty="0"/>
              <a:t>R and Golgi lumens will face the extracellular space</a:t>
            </a:r>
          </a:p>
        </p:txBody>
      </p:sp>
    </p:spTree>
    <p:extLst>
      <p:ext uri="{BB962C8B-B14F-4D97-AF65-F5344CB8AC3E}">
        <p14:creationId xmlns:p14="http://schemas.microsoft.com/office/powerpoint/2010/main" val="117348658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81453"/>
            <a:ext cx="8302240" cy="553998"/>
          </a:xfrm>
        </p:spPr>
        <p:txBody>
          <a:bodyPr lIns="0" tIns="0" rIns="0" bIns="0" anchor="ctr">
            <a:spAutoFit/>
          </a:bodyPr>
          <a:lstStyle/>
          <a:p>
            <a:r>
              <a:rPr lang="en-US" sz="3600" dirty="0">
                <a:latin typeface="+mj-lt"/>
              </a:rPr>
              <a:t>Mechanism of Exocytosis</a:t>
            </a:r>
            <a:endParaRPr lang="en-US" sz="2000" dirty="0">
              <a:latin typeface="+mj-lt"/>
            </a:endParaRP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063566"/>
            <a:ext cx="8302240" cy="2600712"/>
          </a:xfrm>
          <a:noFill/>
          <a:ln>
            <a:noFill/>
          </a:ln>
        </p:spPr>
        <p:txBody>
          <a:bodyPr lIns="0" tIns="0" rIns="0" bIns="0" anchor="t" anchorCtr="0">
            <a:spAutoFit/>
          </a:bodyPr>
          <a:lstStyle/>
          <a:p>
            <a:pPr marL="342900" indent="-342900"/>
            <a:r>
              <a:rPr lang="en-US" sz="2400" dirty="0"/>
              <a:t>The mechanism of the movement of </a:t>
            </a:r>
            <a:r>
              <a:rPr lang="en-US" sz="2400" dirty="0">
                <a:solidFill>
                  <a:schemeClr val="tx1"/>
                </a:solidFill>
              </a:rPr>
              <a:t>exocytic </a:t>
            </a:r>
            <a:r>
              <a:rPr lang="en-US" sz="2400" dirty="0"/>
              <a:t>vesicles to the cell surface is not clear</a:t>
            </a:r>
            <a:r>
              <a:rPr lang="en-US" sz="2400" dirty="0">
                <a:solidFill>
                  <a:schemeClr val="tx1"/>
                </a:solidFill>
              </a:rPr>
              <a:t>.</a:t>
            </a:r>
          </a:p>
          <a:p>
            <a:pPr marL="342900" indent="-342900"/>
            <a:r>
              <a:rPr lang="en-US" sz="2400" dirty="0"/>
              <a:t>Evidence points to the involvement of microtubules in vesicle movement</a:t>
            </a:r>
            <a:r>
              <a:rPr lang="en-US" sz="2400" dirty="0">
                <a:solidFill>
                  <a:schemeClr val="tx1"/>
                </a:solidFill>
              </a:rPr>
              <a:t>.</a:t>
            </a:r>
          </a:p>
          <a:p>
            <a:pPr marL="342900" indent="-342900"/>
            <a:r>
              <a:rPr lang="en-US" sz="2400" dirty="0"/>
              <a:t>Vesicle movement stops when cells are treated with </a:t>
            </a:r>
            <a:r>
              <a:rPr lang="en-US" sz="2400" i="1" dirty="0"/>
              <a:t>colchicine</a:t>
            </a:r>
            <a:r>
              <a:rPr lang="en-US" sz="2400" dirty="0"/>
              <a:t>, a microtubule assembly inhibitor</a:t>
            </a:r>
            <a:r>
              <a:rPr lang="en-US" sz="2400" dirty="0">
                <a:solidFill>
                  <a:schemeClr val="tx1"/>
                </a:solidFill>
              </a:rPr>
              <a:t>.</a:t>
            </a:r>
          </a:p>
        </p:txBody>
      </p:sp>
    </p:spTree>
    <p:extLst>
      <p:ext uri="{BB962C8B-B14F-4D97-AF65-F5344CB8AC3E}">
        <p14:creationId xmlns:p14="http://schemas.microsoft.com/office/powerpoint/2010/main" val="207737361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79479"/>
            <a:ext cx="8302240" cy="1107996"/>
          </a:xfrm>
        </p:spPr>
        <p:txBody>
          <a:bodyPr lIns="0" tIns="0" rIns="0" bIns="0" anchor="ctr">
            <a:spAutoFit/>
          </a:bodyPr>
          <a:lstStyle/>
          <a:p>
            <a:r>
              <a:rPr lang="en-US" sz="3600" dirty="0">
                <a:latin typeface="+mj-lt"/>
              </a:rPr>
              <a:t>The Role of Calcium in Triggering Exocytosis</a:t>
            </a: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562564"/>
            <a:ext cx="8302240" cy="2970044"/>
          </a:xfrm>
          <a:noFill/>
          <a:ln>
            <a:noFill/>
          </a:ln>
        </p:spPr>
        <p:txBody>
          <a:bodyPr lIns="0" tIns="0" rIns="0" bIns="0" anchor="t" anchorCtr="0">
            <a:spAutoFit/>
          </a:bodyPr>
          <a:lstStyle/>
          <a:p>
            <a:pPr marL="342900" indent="-342900"/>
            <a:r>
              <a:rPr lang="en-US" sz="2400" dirty="0"/>
              <a:t>Fusion of regulated secretory vesicles with the plasma membrane is generally triggered by an extracellular signal</a:t>
            </a:r>
            <a:r>
              <a:rPr lang="en-US" sz="2400" dirty="0">
                <a:solidFill>
                  <a:schemeClr val="tx1"/>
                </a:solidFill>
              </a:rPr>
              <a:t>.</a:t>
            </a:r>
          </a:p>
          <a:p>
            <a:pPr marL="342900" indent="-342900"/>
            <a:r>
              <a:rPr lang="en-US" sz="2400" dirty="0"/>
              <a:t>In most cases, a hormone or neurotransmitter binds receptors on the cell surface and triggers a </a:t>
            </a:r>
            <a:r>
              <a:rPr lang="en-US" sz="2400" i="1" dirty="0"/>
              <a:t>second</a:t>
            </a:r>
            <a:r>
              <a:rPr lang="en-US" sz="2400" dirty="0"/>
              <a:t> </a:t>
            </a:r>
            <a:r>
              <a:rPr lang="en-US" sz="2400" i="1" dirty="0"/>
              <a:t>messenger</a:t>
            </a:r>
            <a:r>
              <a:rPr lang="en-US" sz="2400" dirty="0"/>
              <a:t> inside the cell</a:t>
            </a:r>
            <a:r>
              <a:rPr lang="en-US" sz="2400" dirty="0">
                <a:solidFill>
                  <a:schemeClr val="tx1"/>
                </a:solidFill>
              </a:rPr>
              <a:t>.</a:t>
            </a:r>
          </a:p>
          <a:p>
            <a:pPr marL="342900" indent="-342900"/>
            <a:r>
              <a:rPr lang="en-US" sz="2400" dirty="0"/>
              <a:t>A transient elevation in Ca</a:t>
            </a:r>
            <a:r>
              <a:rPr lang="en-US" sz="2400" baseline="30000" dirty="0"/>
              <a:t>2+</a:t>
            </a:r>
            <a:r>
              <a:rPr lang="en-US" sz="2400" dirty="0"/>
              <a:t> appears to be an essential step in the signaling cascade</a:t>
            </a:r>
            <a:r>
              <a:rPr lang="en-US" sz="2400" dirty="0">
                <a:solidFill>
                  <a:schemeClr val="tx1"/>
                </a:solidFill>
              </a:rPr>
              <a:t>.</a:t>
            </a:r>
          </a:p>
        </p:txBody>
      </p:sp>
    </p:spTree>
    <p:extLst>
      <p:ext uri="{BB962C8B-B14F-4D97-AF65-F5344CB8AC3E}">
        <p14:creationId xmlns:p14="http://schemas.microsoft.com/office/powerpoint/2010/main" val="1789864436"/>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65447"/>
            <a:ext cx="8302240" cy="1661993"/>
          </a:xfrm>
        </p:spPr>
        <p:txBody>
          <a:bodyPr lIns="0" tIns="0" rIns="0" bIns="0" anchor="ctr">
            <a:spAutoFit/>
          </a:bodyPr>
          <a:lstStyle/>
          <a:p>
            <a:r>
              <a:rPr lang="en-US" sz="3600" dirty="0">
                <a:latin typeface="+mj-lt"/>
              </a:rPr>
              <a:t>Endocytosis Imports Extracellular Molecules by Forming Vesicles from the Plasma Membrane</a:t>
            </a: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2071048"/>
            <a:ext cx="8302240" cy="2600712"/>
          </a:xfrm>
          <a:noFill/>
          <a:ln>
            <a:noFill/>
          </a:ln>
        </p:spPr>
        <p:txBody>
          <a:bodyPr lIns="0" tIns="0" rIns="0" bIns="0" anchor="t" anchorCtr="0">
            <a:spAutoFit/>
          </a:bodyPr>
          <a:lstStyle/>
          <a:p>
            <a:pPr marL="342900" indent="-342900"/>
            <a:r>
              <a:rPr lang="en-US" sz="2400" dirty="0"/>
              <a:t>Most eukaryotic cells carry out one or more forms of </a:t>
            </a:r>
            <a:r>
              <a:rPr lang="en-US" sz="2400" b="1" dirty="0"/>
              <a:t>endocytosis</a:t>
            </a:r>
            <a:r>
              <a:rPr lang="en-US" sz="2400" dirty="0"/>
              <a:t> for uptake of extracellular material</a:t>
            </a:r>
            <a:r>
              <a:rPr lang="en-US" sz="2400" dirty="0">
                <a:solidFill>
                  <a:schemeClr val="tx1"/>
                </a:solidFill>
              </a:rPr>
              <a:t>.</a:t>
            </a:r>
          </a:p>
          <a:p>
            <a:pPr marL="342900" indent="-342900"/>
            <a:r>
              <a:rPr lang="en-US" sz="2400" dirty="0"/>
              <a:t>A small segment of the plasma membrane folds inward (step 1)</a:t>
            </a:r>
            <a:r>
              <a:rPr lang="en-US" sz="2400" dirty="0">
                <a:solidFill>
                  <a:schemeClr val="tx1"/>
                </a:solidFill>
              </a:rPr>
              <a:t>.</a:t>
            </a:r>
          </a:p>
          <a:p>
            <a:pPr marL="342900" indent="-342900"/>
            <a:r>
              <a:rPr lang="en-US" sz="2400" dirty="0"/>
              <a:t>Then it pinches off to form an </a:t>
            </a:r>
            <a:r>
              <a:rPr lang="en-US" sz="2400" b="1" dirty="0"/>
              <a:t>endocytic</a:t>
            </a:r>
            <a:r>
              <a:rPr lang="en-US" sz="2400" dirty="0"/>
              <a:t> </a:t>
            </a:r>
            <a:r>
              <a:rPr lang="en-US" sz="2400" b="1" dirty="0"/>
              <a:t>vesicle</a:t>
            </a:r>
            <a:r>
              <a:rPr lang="en-US" sz="2400" dirty="0"/>
              <a:t> containing ingested substances or particles (steps 2–4</a:t>
            </a:r>
            <a:r>
              <a:rPr lang="en-US" sz="2400" dirty="0">
                <a:solidFill>
                  <a:schemeClr val="tx1"/>
                </a:solidFill>
              </a:rPr>
              <a:t>).</a:t>
            </a:r>
          </a:p>
        </p:txBody>
      </p:sp>
    </p:spTree>
    <p:extLst>
      <p:ext uri="{BB962C8B-B14F-4D97-AF65-F5344CB8AC3E}">
        <p14:creationId xmlns:p14="http://schemas.microsoft.com/office/powerpoint/2010/main" val="2050641532"/>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30566" y="194343"/>
            <a:ext cx="8229600" cy="553998"/>
          </a:xfrm>
        </p:spPr>
        <p:txBody>
          <a:bodyPr lIns="0" tIns="0" rIns="0" bIns="0" anchor="ctr">
            <a:spAutoFit/>
          </a:bodyPr>
          <a:lstStyle/>
          <a:p>
            <a:r>
              <a:rPr lang="en-US" dirty="0"/>
              <a:t>Endocytosis</a:t>
            </a:r>
          </a:p>
        </p:txBody>
      </p:sp>
      <p:sp>
        <p:nvSpPr>
          <p:cNvPr id="6" name="Content Placeholder 5"/>
          <p:cNvSpPr>
            <a:spLocks noGrp="1"/>
          </p:cNvSpPr>
          <p:nvPr>
            <p:ph sz="quarter" idx="15"/>
          </p:nvPr>
        </p:nvSpPr>
        <p:spPr>
          <a:xfrm>
            <a:off x="421688" y="1100310"/>
            <a:ext cx="3480611" cy="738664"/>
          </a:xfrm>
        </p:spPr>
        <p:txBody>
          <a:bodyPr wrap="square" lIns="0" tIns="0" rIns="0" bIns="0">
            <a:spAutoFit/>
          </a:bodyPr>
          <a:lstStyle/>
          <a:p>
            <a:pPr marL="0" indent="0">
              <a:buNone/>
            </a:pPr>
            <a:r>
              <a:rPr lang="en-US" sz="2400" b="1" dirty="0"/>
              <a:t>Figure 12.18 </a:t>
            </a:r>
            <a:r>
              <a:rPr lang="en-US" sz="2400" dirty="0"/>
              <a:t>Endocytosis.</a:t>
            </a:r>
          </a:p>
        </p:txBody>
      </p:sp>
      <p:pic>
        <p:nvPicPr>
          <p:cNvPr id="5" name="Picture Placeholder 4" descr="An illustration explains the process of endocytosis from the exterior of the cell to the cytosol through the plasma membrane.&#10;Long description is available in notes, press F6"/>
          <p:cNvPicPr>
            <a:picLocks noGrp="1" noChangeAspect="1"/>
          </p:cNvPicPr>
          <p:nvPr>
            <p:ph type="pic" sz="quarter" idx="16"/>
          </p:nvPr>
        </p:nvPicPr>
        <p:blipFill rotWithShape="1">
          <a:blip r:embed="rId3">
            <a:extLst>
              <a:ext uri="{28A0092B-C50C-407E-A947-70E740481C1C}">
                <a14:useLocalDpi xmlns:a14="http://schemas.microsoft.com/office/drawing/2010/main" val="0"/>
              </a:ext>
            </a:extLst>
          </a:blip>
          <a:srcRect b="2828"/>
          <a:stretch/>
        </p:blipFill>
        <p:spPr>
          <a:xfrm>
            <a:off x="4119092" y="1096814"/>
            <a:ext cx="4589175" cy="4793159"/>
          </a:xfrm>
        </p:spPr>
      </p:pic>
    </p:spTree>
    <p:extLst>
      <p:ext uri="{BB962C8B-B14F-4D97-AF65-F5344CB8AC3E}">
        <p14:creationId xmlns:p14="http://schemas.microsoft.com/office/powerpoint/2010/main" val="3360118225"/>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81456"/>
            <a:ext cx="8302240" cy="553998"/>
          </a:xfrm>
        </p:spPr>
        <p:txBody>
          <a:bodyPr lIns="0" tIns="0" rIns="0" bIns="0" anchor="ctr">
            <a:spAutoFit/>
          </a:bodyPr>
          <a:lstStyle/>
          <a:p>
            <a:r>
              <a:rPr lang="en-US" sz="3600" dirty="0">
                <a:latin typeface="+mj-lt"/>
              </a:rPr>
              <a:t>Membrane Flow</a:t>
            </a: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061932"/>
            <a:ext cx="8302240" cy="2600712"/>
          </a:xfrm>
          <a:noFill/>
          <a:ln>
            <a:noFill/>
          </a:ln>
        </p:spPr>
        <p:txBody>
          <a:bodyPr lIns="0" tIns="0" rIns="0" bIns="0" anchor="t" anchorCtr="0">
            <a:spAutoFit/>
          </a:bodyPr>
          <a:lstStyle/>
          <a:p>
            <a:pPr marL="342900" indent="-342900"/>
            <a:r>
              <a:rPr lang="en-US" sz="2400" dirty="0"/>
              <a:t>Endocytosis and exocytosis have opposite effects in terms of membrane flow</a:t>
            </a:r>
            <a:r>
              <a:rPr lang="en-US" sz="2400" dirty="0">
                <a:solidFill>
                  <a:schemeClr val="tx1"/>
                </a:solidFill>
              </a:rPr>
              <a:t>.</a:t>
            </a:r>
          </a:p>
          <a:p>
            <a:pPr marL="342900" indent="-342900"/>
            <a:r>
              <a:rPr lang="en-US" sz="2400" dirty="0"/>
              <a:t>Exocytosis adds lipids and proteins to the plasma membrane, whereas endocytosis removes them</a:t>
            </a:r>
            <a:r>
              <a:rPr lang="en-US" sz="2400" dirty="0">
                <a:solidFill>
                  <a:schemeClr val="tx1"/>
                </a:solidFill>
              </a:rPr>
              <a:t>.</a:t>
            </a:r>
          </a:p>
          <a:p>
            <a:pPr marL="342900" indent="-342900"/>
            <a:r>
              <a:rPr lang="en-US" sz="2400" dirty="0"/>
              <a:t>The steady-state composition of the plasma membrane results from a balance between the two processes</a:t>
            </a:r>
            <a:r>
              <a:rPr lang="en-US" sz="2400" dirty="0">
                <a:solidFill>
                  <a:schemeClr val="tx1"/>
                </a:solidFill>
              </a:rPr>
              <a:t>.</a:t>
            </a:r>
          </a:p>
        </p:txBody>
      </p:sp>
    </p:spTree>
    <p:extLst>
      <p:ext uri="{BB962C8B-B14F-4D97-AF65-F5344CB8AC3E}">
        <p14:creationId xmlns:p14="http://schemas.microsoft.com/office/powerpoint/2010/main" val="1910866296"/>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81456"/>
            <a:ext cx="8302240" cy="553998"/>
          </a:xfrm>
        </p:spPr>
        <p:txBody>
          <a:bodyPr lIns="0" tIns="0" rIns="0" bIns="0" anchor="ctr">
            <a:spAutoFit/>
          </a:bodyPr>
          <a:lstStyle/>
          <a:p>
            <a:r>
              <a:rPr lang="en-US" sz="3600" dirty="0">
                <a:latin typeface="+mj-lt"/>
              </a:rPr>
              <a:t>Endocytic Vesicles</a:t>
            </a: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061932"/>
            <a:ext cx="8302240" cy="2423740"/>
          </a:xfrm>
          <a:noFill/>
          <a:ln>
            <a:noFill/>
          </a:ln>
        </p:spPr>
        <p:txBody>
          <a:bodyPr lIns="0" tIns="0" rIns="0" bIns="0" anchor="t" anchorCtr="0">
            <a:spAutoFit/>
          </a:bodyPr>
          <a:lstStyle/>
          <a:p>
            <a:pPr marL="342900" indent="-342900"/>
            <a:r>
              <a:rPr lang="en-US" sz="2400" dirty="0"/>
              <a:t>Most endocytic vesicles develop into early endosomes, which fuse with vesicles from the </a:t>
            </a:r>
            <a:r>
              <a:rPr lang="en-US" sz="2400" spc="-300" dirty="0"/>
              <a:t>T G </a:t>
            </a:r>
            <a:r>
              <a:rPr lang="en-US" sz="2400" dirty="0"/>
              <a:t>N</a:t>
            </a:r>
            <a:r>
              <a:rPr lang="en-US" sz="2400" dirty="0">
                <a:solidFill>
                  <a:schemeClr val="tx1"/>
                </a:solidFill>
              </a:rPr>
              <a:t>.</a:t>
            </a:r>
          </a:p>
          <a:p>
            <a:pPr marL="342900" indent="-342900"/>
            <a:r>
              <a:rPr lang="en-US" sz="2400" dirty="0"/>
              <a:t>They acquire digestive enzymes and form new lysosomes</a:t>
            </a:r>
            <a:r>
              <a:rPr lang="en-US" sz="2400" dirty="0">
                <a:solidFill>
                  <a:srgbClr val="FF0000"/>
                </a:solidFill>
              </a:rPr>
              <a:t>.</a:t>
            </a:r>
            <a:endParaRPr lang="en-US" sz="2400" dirty="0"/>
          </a:p>
          <a:p>
            <a:pPr marL="342900" indent="-342900"/>
            <a:r>
              <a:rPr lang="en-US" sz="2400" dirty="0"/>
              <a:t>In </a:t>
            </a:r>
            <a:r>
              <a:rPr lang="en-US" sz="2400" i="1" dirty="0"/>
              <a:t>phagocytosis</a:t>
            </a:r>
            <a:r>
              <a:rPr lang="en-US" sz="2400" dirty="0"/>
              <a:t>, solid particles are ingested</a:t>
            </a:r>
            <a:r>
              <a:rPr lang="en-US" sz="2400" dirty="0">
                <a:solidFill>
                  <a:schemeClr val="tx1"/>
                </a:solidFill>
              </a:rPr>
              <a:t>.</a:t>
            </a:r>
          </a:p>
          <a:p>
            <a:pPr marL="342900" indent="-342900"/>
            <a:r>
              <a:rPr lang="en-US" sz="2400" dirty="0"/>
              <a:t>In </a:t>
            </a:r>
            <a:r>
              <a:rPr lang="en-US" sz="2400" i="1" dirty="0"/>
              <a:t>pinocytosis</a:t>
            </a:r>
            <a:r>
              <a:rPr lang="en-US" sz="2400" dirty="0"/>
              <a:t>, liquids are taken up</a:t>
            </a:r>
            <a:r>
              <a:rPr lang="en-US" sz="2400" dirty="0">
                <a:solidFill>
                  <a:schemeClr val="tx1"/>
                </a:solidFill>
              </a:rPr>
              <a:t>.</a:t>
            </a:r>
          </a:p>
        </p:txBody>
      </p:sp>
    </p:spTree>
    <p:extLst>
      <p:ext uri="{BB962C8B-B14F-4D97-AF65-F5344CB8AC3E}">
        <p14:creationId xmlns:p14="http://schemas.microsoft.com/office/powerpoint/2010/main" val="284274417"/>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81456"/>
            <a:ext cx="8302240" cy="553998"/>
          </a:xfrm>
        </p:spPr>
        <p:txBody>
          <a:bodyPr lIns="0" tIns="0" rIns="0" bIns="0" anchor="ctr">
            <a:spAutoFit/>
          </a:bodyPr>
          <a:lstStyle/>
          <a:p>
            <a:r>
              <a:rPr lang="en-US" sz="3600" dirty="0">
                <a:latin typeface="+mj-lt"/>
              </a:rPr>
              <a:t>Selected Functions of Endocytosis</a:t>
            </a: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061932"/>
            <a:ext cx="8302240" cy="2616101"/>
          </a:xfrm>
          <a:noFill/>
          <a:ln>
            <a:noFill/>
          </a:ln>
        </p:spPr>
        <p:txBody>
          <a:bodyPr lIns="0" tIns="0" rIns="0" bIns="0" anchor="t" anchorCtr="0">
            <a:spAutoFit/>
          </a:bodyPr>
          <a:lstStyle/>
          <a:p>
            <a:pPr marL="342900" indent="-342900"/>
            <a:r>
              <a:rPr lang="en-US" sz="2400" dirty="0"/>
              <a:t>Maintaining normal cell homeostasis. </a:t>
            </a:r>
          </a:p>
          <a:p>
            <a:pPr marL="342900" indent="-342900"/>
            <a:r>
              <a:rPr lang="en-US" sz="2400" dirty="0"/>
              <a:t>Bringing in nutrients. </a:t>
            </a:r>
          </a:p>
          <a:p>
            <a:pPr marL="342900" indent="-342900"/>
            <a:r>
              <a:rPr lang="en-US" sz="2400" dirty="0"/>
              <a:t>Recycling cell receptors. </a:t>
            </a:r>
          </a:p>
          <a:p>
            <a:pPr marL="342900" indent="-342900"/>
            <a:r>
              <a:rPr lang="en-US" sz="2400" dirty="0"/>
              <a:t>Protecting from bacterial invasion. </a:t>
            </a:r>
          </a:p>
          <a:p>
            <a:pPr marL="342900" indent="-342900"/>
            <a:r>
              <a:rPr lang="en-US" sz="2400" dirty="0"/>
              <a:t>Communication with other cells. </a:t>
            </a:r>
          </a:p>
        </p:txBody>
      </p:sp>
    </p:spTree>
    <p:extLst>
      <p:ext uri="{BB962C8B-B14F-4D97-AF65-F5344CB8AC3E}">
        <p14:creationId xmlns:p14="http://schemas.microsoft.com/office/powerpoint/2010/main" val="881430718"/>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74916"/>
            <a:ext cx="8302240" cy="1107996"/>
          </a:xfrm>
        </p:spPr>
        <p:txBody>
          <a:bodyPr lIns="0" tIns="0" rIns="0" bIns="0" anchor="ctr">
            <a:spAutoFit/>
          </a:bodyPr>
          <a:lstStyle/>
          <a:p>
            <a:r>
              <a:rPr lang="en-US" sz="3600" dirty="0">
                <a:latin typeface="+mj-lt"/>
              </a:rPr>
              <a:t>Viruses Have Manipulated Endocytosis to Increase Infectivity</a:t>
            </a: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559291"/>
            <a:ext cx="8302240" cy="2816156"/>
          </a:xfrm>
          <a:noFill/>
          <a:ln>
            <a:noFill/>
          </a:ln>
        </p:spPr>
        <p:txBody>
          <a:bodyPr lIns="0" tIns="0" rIns="0" bIns="0" anchor="t" anchorCtr="0">
            <a:spAutoFit/>
          </a:bodyPr>
          <a:lstStyle/>
          <a:p>
            <a:pPr marL="342900" indent="-342900"/>
            <a:r>
              <a:rPr lang="en-US" sz="2400" dirty="0"/>
              <a:t>Some viruses: </a:t>
            </a:r>
          </a:p>
          <a:p>
            <a:pPr marL="829818" lvl="1" indent="-342900"/>
            <a:r>
              <a:rPr lang="en-US" sz="2400" dirty="0"/>
              <a:t>Co-opt endocytic machinery to enter the cell. </a:t>
            </a:r>
          </a:p>
          <a:p>
            <a:pPr marL="829818" lvl="1" indent="-342900"/>
            <a:r>
              <a:rPr lang="en-US" sz="2400" dirty="0"/>
              <a:t>Some viruses replicate their genome within the endocytic vesicle. </a:t>
            </a:r>
          </a:p>
          <a:p>
            <a:pPr marL="829818" lvl="1" indent="-342900"/>
            <a:r>
              <a:rPr lang="en-US" sz="2400" dirty="0"/>
              <a:t>Some viruses encode fusion proteins that allow vesicles to uncoated and release the virus in the cytoplasm. </a:t>
            </a:r>
          </a:p>
        </p:txBody>
      </p:sp>
    </p:spTree>
    <p:extLst>
      <p:ext uri="{BB962C8B-B14F-4D97-AF65-F5344CB8AC3E}">
        <p14:creationId xmlns:p14="http://schemas.microsoft.com/office/powerpoint/2010/main" val="1332626563"/>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77710"/>
            <a:ext cx="8302240" cy="553998"/>
          </a:xfrm>
        </p:spPr>
        <p:txBody>
          <a:bodyPr lIns="0" tIns="0" rIns="0" bIns="0" anchor="ctr">
            <a:spAutoFit/>
          </a:bodyPr>
          <a:lstStyle/>
          <a:p>
            <a:r>
              <a:rPr lang="en-US" sz="3600" dirty="0">
                <a:latin typeface="+mj-lt"/>
              </a:rPr>
              <a:t>Phagocytosis</a:t>
            </a: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067318"/>
            <a:ext cx="8302240" cy="2600712"/>
          </a:xfrm>
          <a:noFill/>
          <a:ln>
            <a:noFill/>
          </a:ln>
        </p:spPr>
        <p:txBody>
          <a:bodyPr lIns="0" tIns="0" rIns="0" bIns="0" anchor="t" anchorCtr="0">
            <a:spAutoFit/>
          </a:bodyPr>
          <a:lstStyle/>
          <a:p>
            <a:pPr marL="342900" indent="-342900"/>
            <a:r>
              <a:rPr lang="en-US" sz="2400" dirty="0"/>
              <a:t>The ingestion of large particles up to and including whole cells or microorganisms is called </a:t>
            </a:r>
            <a:r>
              <a:rPr lang="en-US" sz="2400" b="1" dirty="0"/>
              <a:t>phagocytosis</a:t>
            </a:r>
            <a:r>
              <a:rPr lang="en-US" sz="2400" dirty="0">
                <a:solidFill>
                  <a:schemeClr val="tx1"/>
                </a:solidFill>
              </a:rPr>
              <a:t>.</a:t>
            </a:r>
            <a:endParaRPr lang="en-US" sz="2400" b="1" dirty="0">
              <a:solidFill>
                <a:schemeClr val="tx1"/>
              </a:solidFill>
            </a:endParaRPr>
          </a:p>
          <a:p>
            <a:pPr marL="342900" indent="-342900"/>
            <a:r>
              <a:rPr lang="en-US" sz="2400" dirty="0"/>
              <a:t>For many unicellular organisms, it is a means of acquiring food</a:t>
            </a:r>
            <a:r>
              <a:rPr lang="en-US" sz="2400" dirty="0">
                <a:solidFill>
                  <a:schemeClr val="tx1"/>
                </a:solidFill>
              </a:rPr>
              <a:t>.</a:t>
            </a:r>
          </a:p>
          <a:p>
            <a:pPr marL="342900" indent="-342900"/>
            <a:r>
              <a:rPr lang="en-US" sz="2400" dirty="0"/>
              <a:t>For more complex organisms, it is usually restricted to specialized cells called </a:t>
            </a:r>
            <a:r>
              <a:rPr lang="en-US" sz="2400" b="1" dirty="0"/>
              <a:t>phagocytes</a:t>
            </a:r>
            <a:r>
              <a:rPr lang="en-US" sz="2400" dirty="0">
                <a:solidFill>
                  <a:schemeClr val="tx1"/>
                </a:solidFill>
              </a:rPr>
              <a:t>.</a:t>
            </a:r>
            <a:endParaRPr lang="en-US" sz="2400" b="1" dirty="0">
              <a:solidFill>
                <a:schemeClr val="tx1"/>
              </a:solidFill>
            </a:endParaRPr>
          </a:p>
        </p:txBody>
      </p:sp>
    </p:spTree>
    <p:extLst>
      <p:ext uri="{BB962C8B-B14F-4D97-AF65-F5344CB8AC3E}">
        <p14:creationId xmlns:p14="http://schemas.microsoft.com/office/powerpoint/2010/main" val="2126146224"/>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91358"/>
            <a:ext cx="8302240" cy="553998"/>
          </a:xfrm>
        </p:spPr>
        <p:txBody>
          <a:bodyPr lIns="0" tIns="0" rIns="0" bIns="0" anchor="ctr">
            <a:spAutoFit/>
          </a:bodyPr>
          <a:lstStyle/>
          <a:p>
            <a:r>
              <a:rPr lang="en-US" sz="3600" dirty="0">
                <a:latin typeface="+mj-lt"/>
              </a:rPr>
              <a:t>Phagocytes in Immune Function</a:t>
            </a: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067318"/>
            <a:ext cx="8302240" cy="2970044"/>
          </a:xfrm>
          <a:noFill/>
          <a:ln>
            <a:noFill/>
          </a:ln>
        </p:spPr>
        <p:txBody>
          <a:bodyPr lIns="0" tIns="0" rIns="0" bIns="0" anchor="t" anchorCtr="0">
            <a:spAutoFit/>
          </a:bodyPr>
          <a:lstStyle/>
          <a:p>
            <a:pPr marL="342900" indent="-342900"/>
            <a:r>
              <a:rPr lang="en-US" sz="2400" dirty="0"/>
              <a:t>In humans, two types of white blood cells use phagocytosis as a means of defense</a:t>
            </a:r>
            <a:r>
              <a:rPr lang="en-US" sz="2400" dirty="0">
                <a:solidFill>
                  <a:schemeClr val="tx1"/>
                </a:solidFill>
              </a:rPr>
              <a:t>.</a:t>
            </a:r>
          </a:p>
          <a:p>
            <a:pPr marL="342900" indent="-342900"/>
            <a:r>
              <a:rPr lang="en-US" sz="2400" i="1" dirty="0"/>
              <a:t>Neutrophils</a:t>
            </a:r>
            <a:r>
              <a:rPr lang="en-US" sz="2400" dirty="0"/>
              <a:t> and </a:t>
            </a:r>
            <a:r>
              <a:rPr lang="en-US" sz="2400" i="1" dirty="0"/>
              <a:t>macrophages</a:t>
            </a:r>
            <a:r>
              <a:rPr lang="en-US" sz="2400" dirty="0"/>
              <a:t> engulf and digest foreign materials or invasive microorganisms found in the bloodstream or injured tissues</a:t>
            </a:r>
            <a:r>
              <a:rPr lang="en-US" sz="2400" dirty="0">
                <a:solidFill>
                  <a:schemeClr val="tx1"/>
                </a:solidFill>
              </a:rPr>
              <a:t>.</a:t>
            </a:r>
          </a:p>
          <a:p>
            <a:pPr marL="342900" indent="-342900"/>
            <a:r>
              <a:rPr lang="en-US" sz="2400" dirty="0"/>
              <a:t>Macrophages are also scavengers, ingesting cellular debris and damaged cells</a:t>
            </a:r>
            <a:r>
              <a:rPr lang="en-US" sz="2400" dirty="0">
                <a:solidFill>
                  <a:schemeClr val="tx1"/>
                </a:solidFill>
              </a:rPr>
              <a:t>.</a:t>
            </a:r>
          </a:p>
        </p:txBody>
      </p:sp>
    </p:spTree>
    <p:extLst>
      <p:ext uri="{BB962C8B-B14F-4D97-AF65-F5344CB8AC3E}">
        <p14:creationId xmlns:p14="http://schemas.microsoft.com/office/powerpoint/2010/main" val="1100359205"/>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91358"/>
            <a:ext cx="8302240" cy="553998"/>
          </a:xfrm>
        </p:spPr>
        <p:txBody>
          <a:bodyPr lIns="0" tIns="0" rIns="0" bIns="0" anchor="ctr">
            <a:spAutoFit/>
          </a:bodyPr>
          <a:lstStyle/>
          <a:p>
            <a:r>
              <a:rPr lang="en-US" sz="3600" dirty="0">
                <a:latin typeface="+mj-lt"/>
              </a:rPr>
              <a:t>Phagocytes in the Amoeba </a:t>
            </a:r>
            <a:r>
              <a:rPr lang="en-US" sz="2800" dirty="0">
                <a:latin typeface="+mj-lt"/>
              </a:rPr>
              <a:t>(1 of 2)</a:t>
            </a:r>
            <a:endParaRPr lang="en-US" sz="3600" dirty="0">
              <a:latin typeface="+mj-lt"/>
            </a:endParaRP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067318"/>
            <a:ext cx="8302240" cy="2600712"/>
          </a:xfrm>
          <a:noFill/>
          <a:ln>
            <a:noFill/>
          </a:ln>
        </p:spPr>
        <p:txBody>
          <a:bodyPr lIns="0" tIns="0" rIns="0" bIns="0" anchor="t" anchorCtr="0">
            <a:spAutoFit/>
          </a:bodyPr>
          <a:lstStyle/>
          <a:p>
            <a:pPr marL="342900" indent="-342900"/>
            <a:r>
              <a:rPr lang="en-US" sz="2400" dirty="0"/>
              <a:t>Phagocytosis is most extensively studied in amoebae, which use it for nutrition</a:t>
            </a:r>
            <a:r>
              <a:rPr lang="en-US" sz="2400" dirty="0">
                <a:solidFill>
                  <a:schemeClr val="tx1"/>
                </a:solidFill>
              </a:rPr>
              <a:t>.</a:t>
            </a:r>
          </a:p>
          <a:p>
            <a:pPr marL="342900" indent="-342900"/>
            <a:r>
              <a:rPr lang="en-US" sz="2400" dirty="0"/>
              <a:t>Contact with food or other particles triggers the formation of </a:t>
            </a:r>
            <a:r>
              <a:rPr lang="en-US" sz="2400" i="1" dirty="0"/>
              <a:t>pseudopods</a:t>
            </a:r>
            <a:r>
              <a:rPr lang="en-US" sz="2400" dirty="0"/>
              <a:t>, folds of membrane</a:t>
            </a:r>
            <a:r>
              <a:rPr lang="en-US" sz="2400" dirty="0">
                <a:solidFill>
                  <a:schemeClr val="tx1"/>
                </a:solidFill>
              </a:rPr>
              <a:t>.</a:t>
            </a:r>
          </a:p>
          <a:p>
            <a:pPr marL="342900" indent="-342900"/>
            <a:r>
              <a:rPr lang="en-US" sz="2400" dirty="0"/>
              <a:t>These surround the object and engulf it, forming an intracellular </a:t>
            </a:r>
            <a:r>
              <a:rPr lang="en-US" sz="2400" b="1" dirty="0"/>
              <a:t>phagocytic</a:t>
            </a:r>
            <a:r>
              <a:rPr lang="en-US" sz="2400" dirty="0"/>
              <a:t> </a:t>
            </a:r>
            <a:r>
              <a:rPr lang="en-US" sz="2400" b="1" dirty="0"/>
              <a:t>vacuole</a:t>
            </a:r>
            <a:r>
              <a:rPr lang="en-US" sz="2400" dirty="0"/>
              <a:t> (</a:t>
            </a:r>
            <a:r>
              <a:rPr lang="en-US" sz="2400" i="1" dirty="0"/>
              <a:t>phagosome</a:t>
            </a:r>
            <a:r>
              <a:rPr lang="en-US" sz="2400" dirty="0"/>
              <a:t>)</a:t>
            </a:r>
            <a:r>
              <a:rPr lang="en-US" sz="2400" dirty="0">
                <a:solidFill>
                  <a:schemeClr val="tx1"/>
                </a:solidFill>
              </a:rPr>
              <a:t>.</a:t>
            </a:r>
          </a:p>
        </p:txBody>
      </p:sp>
    </p:spTree>
    <p:extLst>
      <p:ext uri="{BB962C8B-B14F-4D97-AF65-F5344CB8AC3E}">
        <p14:creationId xmlns:p14="http://schemas.microsoft.com/office/powerpoint/2010/main" val="1687075756"/>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86023"/>
            <a:ext cx="8302240" cy="553998"/>
          </a:xfrm>
        </p:spPr>
        <p:txBody>
          <a:bodyPr lIns="0" tIns="0" rIns="0" bIns="0" anchor="ctr">
            <a:spAutoFit/>
          </a:bodyPr>
          <a:lstStyle/>
          <a:p>
            <a:r>
              <a:rPr lang="en-US" sz="3600" dirty="0">
                <a:latin typeface="+mj-lt"/>
              </a:rPr>
              <a:t>Phagocytes in the Amoeba </a:t>
            </a:r>
            <a:r>
              <a:rPr lang="en-US" sz="2800" dirty="0">
                <a:latin typeface="+mj-lt"/>
              </a:rPr>
              <a:t>(2 of 2)</a:t>
            </a:r>
            <a:endParaRPr lang="en-US" sz="3600" dirty="0">
              <a:latin typeface="+mj-lt"/>
            </a:endParaRP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067318"/>
            <a:ext cx="8302240" cy="2600712"/>
          </a:xfrm>
          <a:noFill/>
          <a:ln>
            <a:noFill/>
          </a:ln>
        </p:spPr>
        <p:txBody>
          <a:bodyPr lIns="0" tIns="0" rIns="0" bIns="0" anchor="t" anchorCtr="0">
            <a:spAutoFit/>
          </a:bodyPr>
          <a:lstStyle/>
          <a:p>
            <a:pPr marL="342900" indent="-342900"/>
            <a:r>
              <a:rPr lang="en-US" sz="2400" dirty="0"/>
              <a:t>The phagosome fuses with a late endosome or matures directly into a lysosome</a:t>
            </a:r>
            <a:r>
              <a:rPr lang="en-US" sz="2400" dirty="0">
                <a:solidFill>
                  <a:schemeClr val="tx1"/>
                </a:solidFill>
              </a:rPr>
              <a:t>.</a:t>
            </a:r>
          </a:p>
          <a:p>
            <a:pPr marL="342900" indent="-342900"/>
            <a:r>
              <a:rPr lang="en-US" sz="2400" dirty="0"/>
              <a:t>In the lysosome, the engulfed material is digested</a:t>
            </a:r>
            <a:r>
              <a:rPr lang="en-US" sz="2400" dirty="0">
                <a:solidFill>
                  <a:schemeClr val="tx1"/>
                </a:solidFill>
              </a:rPr>
              <a:t>.</a:t>
            </a:r>
          </a:p>
          <a:p>
            <a:pPr marL="342900" indent="-342900"/>
            <a:r>
              <a:rPr lang="en-US" sz="2400" dirty="0"/>
              <a:t>In the human immune system, phagocytes generate toxic amounts of oxidants in the phagosome to kill microorganisms</a:t>
            </a:r>
            <a:r>
              <a:rPr lang="en-US" sz="2400" dirty="0">
                <a:solidFill>
                  <a:schemeClr val="tx1"/>
                </a:solidFill>
              </a:rPr>
              <a:t>.</a:t>
            </a:r>
          </a:p>
        </p:txBody>
      </p:sp>
    </p:spTree>
    <p:extLst>
      <p:ext uri="{BB962C8B-B14F-4D97-AF65-F5344CB8AC3E}">
        <p14:creationId xmlns:p14="http://schemas.microsoft.com/office/powerpoint/2010/main" val="3702515577"/>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30566" y="170394"/>
            <a:ext cx="8277598" cy="553998"/>
          </a:xfrm>
        </p:spPr>
        <p:txBody>
          <a:bodyPr lIns="0" tIns="0" rIns="0" bIns="0" anchor="ctr">
            <a:spAutoFit/>
          </a:bodyPr>
          <a:lstStyle/>
          <a:p>
            <a:r>
              <a:rPr lang="en-US" dirty="0"/>
              <a:t>Phagocytosis </a:t>
            </a:r>
            <a:r>
              <a:rPr lang="en-US" sz="2800" dirty="0"/>
              <a:t>(1 of 2)</a:t>
            </a:r>
            <a:endParaRPr lang="en-US" dirty="0"/>
          </a:p>
        </p:txBody>
      </p:sp>
      <p:sp>
        <p:nvSpPr>
          <p:cNvPr id="6" name="Content Placeholder 5"/>
          <p:cNvSpPr>
            <a:spLocks noGrp="1"/>
          </p:cNvSpPr>
          <p:nvPr>
            <p:ph sz="quarter" idx="15"/>
          </p:nvPr>
        </p:nvSpPr>
        <p:spPr>
          <a:xfrm>
            <a:off x="421687" y="1078928"/>
            <a:ext cx="4509542" cy="369332"/>
          </a:xfrm>
        </p:spPr>
        <p:txBody>
          <a:bodyPr wrap="square" lIns="0" tIns="0" rIns="0" bIns="0">
            <a:spAutoFit/>
          </a:bodyPr>
          <a:lstStyle/>
          <a:p>
            <a:pPr marL="0" indent="0">
              <a:buNone/>
            </a:pPr>
            <a:r>
              <a:rPr lang="en-US" sz="2400" b="1" dirty="0"/>
              <a:t>Figure 12.19 </a:t>
            </a:r>
            <a:r>
              <a:rPr lang="en-US" sz="2400" dirty="0"/>
              <a:t>Phagocytosis.</a:t>
            </a:r>
          </a:p>
        </p:txBody>
      </p:sp>
      <p:pic>
        <p:nvPicPr>
          <p:cNvPr id="5" name="Picture Placeholder 4" descr="An illustration on phagocytosis shows bacterium attaching to plasma membrane and being broken down by lysosomal hydrolases in the cytosol. An electron micrograph of measurement 1 micrometer shows phagosome being formed.&#10;Long description is available in notes, press F6"/>
          <p:cNvPicPr>
            <a:picLocks noGrp="1" noChangeAspect="1"/>
          </p:cNvPicPr>
          <p:nvPr>
            <p:ph type="pic" sz="quarter" idx="16"/>
          </p:nvPr>
        </p:nvPicPr>
        <p:blipFill rotWithShape="1">
          <a:blip r:embed="rId3">
            <a:extLst>
              <a:ext uri="{28A0092B-C50C-407E-A947-70E740481C1C}">
                <a14:useLocalDpi xmlns:a14="http://schemas.microsoft.com/office/drawing/2010/main" val="0"/>
              </a:ext>
            </a:extLst>
          </a:blip>
          <a:srcRect b="2620"/>
          <a:stretch/>
        </p:blipFill>
        <p:spPr>
          <a:xfrm>
            <a:off x="5303063" y="1081823"/>
            <a:ext cx="3405101" cy="5109804"/>
          </a:xfrm>
        </p:spPr>
      </p:pic>
    </p:spTree>
    <p:extLst>
      <p:ext uri="{BB962C8B-B14F-4D97-AF65-F5344CB8AC3E}">
        <p14:creationId xmlns:p14="http://schemas.microsoft.com/office/powerpoint/2010/main" val="1126169781"/>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30566" y="170394"/>
            <a:ext cx="8277598" cy="553998"/>
          </a:xfrm>
        </p:spPr>
        <p:txBody>
          <a:bodyPr lIns="0" tIns="0" rIns="0" bIns="0" anchor="ctr">
            <a:spAutoFit/>
          </a:bodyPr>
          <a:lstStyle/>
          <a:p>
            <a:r>
              <a:rPr lang="en-US" dirty="0"/>
              <a:t>Phagocytosis </a:t>
            </a:r>
            <a:r>
              <a:rPr lang="en-US" sz="2800" dirty="0"/>
              <a:t>(2 of 2)</a:t>
            </a:r>
            <a:endParaRPr lang="en-US" dirty="0"/>
          </a:p>
        </p:txBody>
      </p:sp>
      <p:sp>
        <p:nvSpPr>
          <p:cNvPr id="6" name="Content Placeholder 5"/>
          <p:cNvSpPr>
            <a:spLocks noGrp="1"/>
          </p:cNvSpPr>
          <p:nvPr>
            <p:ph sz="quarter" idx="15"/>
          </p:nvPr>
        </p:nvSpPr>
        <p:spPr>
          <a:xfrm>
            <a:off x="421686" y="1066874"/>
            <a:ext cx="8286477" cy="369332"/>
          </a:xfrm>
        </p:spPr>
        <p:txBody>
          <a:bodyPr wrap="square" lIns="0" tIns="0" rIns="0" bIns="0">
            <a:spAutoFit/>
          </a:bodyPr>
          <a:lstStyle/>
          <a:p>
            <a:pPr marL="0" indent="0">
              <a:buNone/>
            </a:pPr>
            <a:r>
              <a:rPr lang="en-US" sz="2400" b="1" dirty="0"/>
              <a:t>Figure 12.19 </a:t>
            </a:r>
            <a:r>
              <a:rPr lang="en-US" sz="2400" dirty="0"/>
              <a:t>Phagocytosis.</a:t>
            </a:r>
          </a:p>
        </p:txBody>
      </p:sp>
      <p:pic>
        <p:nvPicPr>
          <p:cNvPr id="4" name="Picture Placeholder 3" descr="An illustration on phagocytosis shows bacterium attaching to plasma membrane and being broken down by lysosomal hydrolases in the cytosol. An electron micrograph of measurement 1 micrometer shows phagosome being formed.&#10;Long description is available in notes, press F6"/>
          <p:cNvPicPr>
            <a:picLocks noGrp="1" noChangeAspect="1"/>
          </p:cNvPicPr>
          <p:nvPr>
            <p:ph type="pic" sz="quarter" idx="16"/>
          </p:nvPr>
        </p:nvPicPr>
        <p:blipFill rotWithShape="1">
          <a:blip r:embed="rId3">
            <a:extLst>
              <a:ext uri="{28A0092B-C50C-407E-A947-70E740481C1C}">
                <a14:useLocalDpi xmlns:a14="http://schemas.microsoft.com/office/drawing/2010/main" val="0"/>
              </a:ext>
            </a:extLst>
          </a:blip>
          <a:srcRect b="3121"/>
          <a:stretch/>
        </p:blipFill>
        <p:spPr>
          <a:xfrm>
            <a:off x="823139" y="1697088"/>
            <a:ext cx="7497723" cy="4515734"/>
          </a:xfrm>
        </p:spPr>
      </p:pic>
    </p:spTree>
    <p:extLst>
      <p:ext uri="{BB962C8B-B14F-4D97-AF65-F5344CB8AC3E}">
        <p14:creationId xmlns:p14="http://schemas.microsoft.com/office/powerpoint/2010/main" val="1926586255"/>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75962"/>
            <a:ext cx="8263784" cy="553998"/>
          </a:xfrm>
        </p:spPr>
        <p:txBody>
          <a:bodyPr lIns="0" tIns="0" rIns="0" bIns="0" anchor="ctr">
            <a:spAutoFit/>
          </a:bodyPr>
          <a:lstStyle/>
          <a:p>
            <a:r>
              <a:rPr lang="en-IN" sz="3600" dirty="0">
                <a:latin typeface="+mj-lt"/>
              </a:rPr>
              <a:t>Receptor-Mediated Endocytosis </a:t>
            </a:r>
            <a:r>
              <a:rPr lang="en-US" sz="2800" dirty="0">
                <a:latin typeface="+mj-lt"/>
              </a:rPr>
              <a:t>(1 of 2)</a:t>
            </a:r>
            <a:r>
              <a:rPr lang="en-IN" sz="3600" dirty="0">
                <a:latin typeface="+mj-lt"/>
              </a:rPr>
              <a:t> </a:t>
            </a:r>
            <a:endParaRPr lang="en-US" sz="3600" dirty="0">
              <a:latin typeface="+mj-lt"/>
            </a:endParaRP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067565"/>
            <a:ext cx="8263784" cy="2970044"/>
          </a:xfrm>
        </p:spPr>
        <p:txBody>
          <a:bodyPr lIns="0" tIns="0" rIns="0" bIns="0">
            <a:spAutoFit/>
          </a:bodyPr>
          <a:lstStyle/>
          <a:p>
            <a:pPr marL="342900" indent="-342900"/>
            <a:r>
              <a:rPr lang="en-US" sz="2400" dirty="0"/>
              <a:t>Cells acquire some substances by </a:t>
            </a:r>
            <a:r>
              <a:rPr lang="en-US" sz="2400" b="1" dirty="0"/>
              <a:t>receptor-mediated</a:t>
            </a:r>
            <a:r>
              <a:rPr lang="en-US" sz="2400" dirty="0"/>
              <a:t> </a:t>
            </a:r>
            <a:r>
              <a:rPr lang="en-US" sz="2400" b="1" dirty="0"/>
              <a:t>endocytosis</a:t>
            </a:r>
            <a:r>
              <a:rPr lang="en-US" sz="2400" dirty="0"/>
              <a:t> (or </a:t>
            </a:r>
            <a:r>
              <a:rPr lang="en-US" sz="2400" i="1" dirty="0"/>
              <a:t>clathrin-dependent</a:t>
            </a:r>
            <a:r>
              <a:rPr lang="en-US" sz="2400" dirty="0"/>
              <a:t> </a:t>
            </a:r>
            <a:r>
              <a:rPr lang="en-US" sz="2400" i="1" dirty="0"/>
              <a:t>endocytosis</a:t>
            </a:r>
            <a:r>
              <a:rPr lang="en-US" sz="2400" dirty="0"/>
              <a:t>)</a:t>
            </a:r>
            <a:r>
              <a:rPr lang="en-US" sz="2400" dirty="0">
                <a:solidFill>
                  <a:schemeClr val="tx1"/>
                </a:solidFill>
              </a:rPr>
              <a:t>.</a:t>
            </a:r>
          </a:p>
          <a:p>
            <a:pPr marL="342900" indent="-342900"/>
            <a:r>
              <a:rPr lang="en-US" sz="2400" dirty="0"/>
              <a:t>Cells use receptors on the outer cell surface to internalize many macromolecules</a:t>
            </a:r>
            <a:r>
              <a:rPr lang="en-US" sz="2400" dirty="0">
                <a:solidFill>
                  <a:schemeClr val="tx1"/>
                </a:solidFill>
              </a:rPr>
              <a:t>.</a:t>
            </a:r>
          </a:p>
          <a:p>
            <a:pPr marL="342900" indent="-342900"/>
            <a:r>
              <a:rPr lang="en-US" sz="2400" dirty="0"/>
              <a:t>Mammalian cells can ingest hormones, growth factors, serum proteins, enzymes, cholesterol, antibodies, iron, viruses, bacterial toxins</a:t>
            </a:r>
            <a:r>
              <a:rPr lang="en-US" sz="2400" dirty="0">
                <a:solidFill>
                  <a:schemeClr val="tx1"/>
                </a:solidFill>
              </a:rPr>
              <a:t>.</a:t>
            </a:r>
          </a:p>
        </p:txBody>
      </p:sp>
    </p:spTree>
    <p:extLst>
      <p:ext uri="{BB962C8B-B14F-4D97-AF65-F5344CB8AC3E}">
        <p14:creationId xmlns:p14="http://schemas.microsoft.com/office/powerpoint/2010/main" val="2985347043"/>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44321" y="176301"/>
            <a:ext cx="8229600" cy="1107996"/>
          </a:xfrm>
        </p:spPr>
        <p:txBody>
          <a:bodyPr lIns="0" tIns="0" rIns="0" bIns="0" anchor="ctr">
            <a:spAutoFit/>
          </a:bodyPr>
          <a:lstStyle/>
          <a:p>
            <a:r>
              <a:rPr lang="en-US" dirty="0"/>
              <a:t>Process of Receptor-Mediated Endocytosis </a:t>
            </a:r>
            <a:r>
              <a:rPr lang="en-US" sz="2800" dirty="0"/>
              <a:t>(1 of 4)</a:t>
            </a: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4294967295"/>
          </p:nvPr>
        </p:nvSpPr>
        <p:spPr>
          <a:xfrm>
            <a:off x="469900" y="1566068"/>
            <a:ext cx="8229600" cy="2039020"/>
          </a:xfrm>
        </p:spPr>
        <p:txBody>
          <a:bodyPr lIns="0" tIns="0" rIns="0" bIns="0">
            <a:spAutoFit/>
          </a:bodyPr>
          <a:lstStyle/>
          <a:p>
            <a:pPr marL="457200" indent="-457200">
              <a:buFont typeface="+mj-lt"/>
              <a:buAutoNum type="arabicPeriod"/>
            </a:pPr>
            <a:r>
              <a:rPr lang="en-US" sz="2400" dirty="0"/>
              <a:t>Specific molecules (</a:t>
            </a:r>
            <a:r>
              <a:rPr lang="en-US" sz="2400" i="1" dirty="0"/>
              <a:t>ligands</a:t>
            </a:r>
            <a:r>
              <a:rPr lang="en-US" sz="2400" dirty="0"/>
              <a:t>) bind to their </a:t>
            </a:r>
            <a:r>
              <a:rPr lang="en-US" sz="2400" i="1" dirty="0"/>
              <a:t>receptors</a:t>
            </a:r>
            <a:r>
              <a:rPr lang="en-US" sz="2400" dirty="0"/>
              <a:t> on the outer surface of the cell.</a:t>
            </a:r>
          </a:p>
          <a:p>
            <a:pPr marL="457200" indent="-457200">
              <a:buFont typeface="+mj-lt"/>
              <a:buAutoNum type="arabicPeriod"/>
            </a:pPr>
            <a:r>
              <a:rPr lang="en-US" sz="2400" dirty="0"/>
              <a:t>Receptor-ligand complexes diffuse laterally and encounter specialized regions called </a:t>
            </a:r>
            <a:r>
              <a:rPr lang="en-US" sz="2400" i="1" dirty="0"/>
              <a:t>coated pits</a:t>
            </a:r>
            <a:r>
              <a:rPr lang="en-US" sz="2400" dirty="0"/>
              <a:t>, sites for collection and internalization of these complexes.</a:t>
            </a:r>
          </a:p>
        </p:txBody>
      </p:sp>
      <p:sp>
        <p:nvSpPr>
          <p:cNvPr id="6" name="Content Placeholder 5"/>
          <p:cNvSpPr>
            <a:spLocks noGrp="1"/>
          </p:cNvSpPr>
          <p:nvPr>
            <p:ph sz="quarter" idx="14"/>
          </p:nvPr>
        </p:nvSpPr>
        <p:spPr>
          <a:xfrm>
            <a:off x="457201" y="3763199"/>
            <a:ext cx="8229599" cy="738664"/>
          </a:xfrm>
          <a:noFill/>
          <a:ln>
            <a:noFill/>
          </a:ln>
        </p:spPr>
        <p:txBody>
          <a:bodyPr wrap="square" lIns="0" tIns="0" rIns="0" bIns="0" anchor="t" anchorCtr="0">
            <a:spAutoFit/>
          </a:bodyPr>
          <a:lstStyle/>
          <a:p>
            <a:pPr marL="457200" indent="-457200">
              <a:buFont typeface="Arial" panose="020B0604020202020204" pitchFamily="34" charset="0"/>
              <a:buChar char="•"/>
            </a:pPr>
            <a:r>
              <a:rPr lang="en-US" sz="2400" dirty="0"/>
              <a:t>In a typical mammalian cell, coated pits occupy about 20% of the total surface area</a:t>
            </a:r>
            <a:r>
              <a:rPr lang="en-US" sz="2400" dirty="0">
                <a:solidFill>
                  <a:schemeClr val="tx1"/>
                </a:solidFill>
              </a:rPr>
              <a:t>.</a:t>
            </a:r>
          </a:p>
        </p:txBody>
      </p:sp>
    </p:spTree>
    <p:extLst>
      <p:ext uri="{BB962C8B-B14F-4D97-AF65-F5344CB8AC3E}">
        <p14:creationId xmlns:p14="http://schemas.microsoft.com/office/powerpoint/2010/main" val="3777359181"/>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40574" y="176761"/>
            <a:ext cx="8229600" cy="1107996"/>
          </a:xfrm>
        </p:spPr>
        <p:txBody>
          <a:bodyPr lIns="0" tIns="0" rIns="0" bIns="0" anchor="ctr">
            <a:spAutoFit/>
          </a:bodyPr>
          <a:lstStyle/>
          <a:p>
            <a:r>
              <a:rPr lang="en-US" dirty="0"/>
              <a:t>Process of Receptor-Mediated Endocytosis </a:t>
            </a:r>
            <a:r>
              <a:rPr lang="en-US" sz="2800" dirty="0"/>
              <a:t>(2 of 4)</a:t>
            </a: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sz="quarter" idx="13"/>
          </p:nvPr>
        </p:nvSpPr>
        <p:spPr>
          <a:xfrm>
            <a:off x="457200" y="1560888"/>
            <a:ext cx="8229599" cy="1107996"/>
          </a:xfrm>
        </p:spPr>
        <p:txBody>
          <a:bodyPr wrap="square" lIns="0" tIns="0" rIns="0" bIns="0">
            <a:spAutoFit/>
          </a:bodyPr>
          <a:lstStyle/>
          <a:p>
            <a:pPr marL="457200" indent="-457200">
              <a:buFont typeface="+mj-lt"/>
              <a:buAutoNum type="arabicPeriod" startAt="3"/>
            </a:pPr>
            <a:r>
              <a:rPr lang="en-US" sz="2400" dirty="0"/>
              <a:t>Accumulation of receptor-ligand complexes in the pits triggers the accumulation of additional proteins on the cytosolic surface of the membrane</a:t>
            </a:r>
            <a:r>
              <a:rPr lang="en-US" sz="2400" dirty="0">
                <a:solidFill>
                  <a:schemeClr val="tx1"/>
                </a:solidFill>
              </a:rPr>
              <a:t>.</a:t>
            </a:r>
            <a:r>
              <a:rPr lang="en-US" sz="2400" dirty="0"/>
              <a:t> </a:t>
            </a:r>
          </a:p>
        </p:txBody>
      </p:sp>
      <p:sp>
        <p:nvSpPr>
          <p:cNvPr id="6" name="Content Placeholder 5"/>
          <p:cNvSpPr>
            <a:spLocks noGrp="1"/>
          </p:cNvSpPr>
          <p:nvPr>
            <p:ph sz="quarter" idx="14"/>
          </p:nvPr>
        </p:nvSpPr>
        <p:spPr>
          <a:xfrm>
            <a:off x="457201" y="2854978"/>
            <a:ext cx="8229599" cy="738664"/>
          </a:xfrm>
          <a:noFill/>
          <a:ln>
            <a:noFill/>
          </a:ln>
        </p:spPr>
        <p:txBody>
          <a:bodyPr wrap="square" lIns="0" tIns="0" rIns="0" bIns="0" anchor="t" anchorCtr="0">
            <a:spAutoFit/>
          </a:bodyPr>
          <a:lstStyle/>
          <a:p>
            <a:pPr marL="457200" indent="-457200">
              <a:buFont typeface="Arial" panose="020B0604020202020204" pitchFamily="34" charset="0"/>
              <a:buChar char="•"/>
            </a:pPr>
            <a:r>
              <a:rPr lang="en-US" sz="2400" dirty="0"/>
              <a:t>These proteins—</a:t>
            </a:r>
            <a:r>
              <a:rPr lang="en-US" sz="2400" i="1" dirty="0"/>
              <a:t>adaptor protein, clathrin, dynamin</a:t>
            </a:r>
            <a:r>
              <a:rPr lang="en-US" sz="2400" dirty="0"/>
              <a:t>—induce curvature and invagination of the pit. </a:t>
            </a:r>
          </a:p>
        </p:txBody>
      </p:sp>
      <p:sp>
        <p:nvSpPr>
          <p:cNvPr id="3" name="Content Placeholder 2"/>
          <p:cNvSpPr>
            <a:spLocks noGrp="1"/>
          </p:cNvSpPr>
          <p:nvPr>
            <p:ph sz="quarter" idx="15"/>
          </p:nvPr>
        </p:nvSpPr>
        <p:spPr>
          <a:xfrm>
            <a:off x="457201" y="3786826"/>
            <a:ext cx="8229600" cy="369332"/>
          </a:xfrm>
          <a:noFill/>
          <a:ln>
            <a:noFill/>
          </a:ln>
        </p:spPr>
        <p:txBody>
          <a:bodyPr wrap="square" lIns="0" tIns="0" rIns="0" bIns="0" anchor="t" anchorCtr="0">
            <a:spAutoFit/>
          </a:bodyPr>
          <a:lstStyle/>
          <a:p>
            <a:pPr marL="457200" indent="-457200">
              <a:buFont typeface="+mj-lt"/>
              <a:buAutoNum type="arabicPeriod" startAt="4"/>
            </a:pPr>
            <a:r>
              <a:rPr lang="en-US" sz="2400" dirty="0"/>
              <a:t>Eventually, the pit pinches off, forming a </a:t>
            </a:r>
            <a:r>
              <a:rPr lang="en-US" sz="2400" i="1" dirty="0"/>
              <a:t>coated vesicle</a:t>
            </a:r>
            <a:r>
              <a:rPr lang="en-US" sz="2400" dirty="0">
                <a:solidFill>
                  <a:schemeClr val="tx1"/>
                </a:solidFill>
              </a:rPr>
              <a:t>.</a:t>
            </a:r>
            <a:endParaRPr lang="en-IN" sz="2400" i="1" dirty="0">
              <a:solidFill>
                <a:schemeClr val="tx1"/>
              </a:solidFill>
            </a:endParaRPr>
          </a:p>
        </p:txBody>
      </p:sp>
    </p:spTree>
    <p:extLst>
      <p:ext uri="{BB962C8B-B14F-4D97-AF65-F5344CB8AC3E}">
        <p14:creationId xmlns:p14="http://schemas.microsoft.com/office/powerpoint/2010/main" val="1906812975"/>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39642" y="173989"/>
            <a:ext cx="8263784" cy="1107996"/>
          </a:xfrm>
        </p:spPr>
        <p:txBody>
          <a:bodyPr lIns="0" tIns="0" rIns="0" bIns="0" anchor="ctr">
            <a:spAutoFit/>
          </a:bodyPr>
          <a:lstStyle/>
          <a:p>
            <a:r>
              <a:rPr lang="en-US" sz="3600" dirty="0">
                <a:latin typeface="+mj-lt"/>
              </a:rPr>
              <a:t>Process of Receptor-Mediated Endocytosis </a:t>
            </a:r>
            <a:r>
              <a:rPr lang="en-US" sz="2800" dirty="0">
                <a:latin typeface="+mj-lt"/>
              </a:rPr>
              <a:t>(3 of 4)</a:t>
            </a:r>
            <a:endParaRPr lang="en-US" sz="3600" dirty="0">
              <a:latin typeface="+mj-lt"/>
            </a:endParaRP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562351"/>
            <a:ext cx="8263784" cy="1300356"/>
          </a:xfrm>
          <a:noFill/>
          <a:ln>
            <a:noFill/>
          </a:ln>
        </p:spPr>
        <p:txBody>
          <a:bodyPr lIns="0" tIns="0" rIns="0" bIns="0" anchor="t" anchorCtr="0">
            <a:spAutoFit/>
          </a:bodyPr>
          <a:lstStyle/>
          <a:p>
            <a:pPr marL="457200" indent="-457200">
              <a:buFont typeface="+mj-lt"/>
              <a:buAutoNum type="arabicPeriod" startAt="5"/>
            </a:pPr>
            <a:r>
              <a:rPr lang="en-US" sz="2400" dirty="0"/>
              <a:t>The clathrin coat is released, leaving an uncoated vesicle. </a:t>
            </a:r>
          </a:p>
          <a:p>
            <a:pPr marL="457200" indent="-457200">
              <a:buFont typeface="+mj-lt"/>
              <a:buAutoNum type="arabicPeriod" startAt="5"/>
            </a:pPr>
            <a:r>
              <a:rPr lang="en-US" sz="2400" dirty="0"/>
              <a:t>The uncoated vesicle fuses with an early endosome.</a:t>
            </a:r>
          </a:p>
        </p:txBody>
      </p:sp>
    </p:spTree>
    <p:extLst>
      <p:ext uri="{BB962C8B-B14F-4D97-AF65-F5344CB8AC3E}">
        <p14:creationId xmlns:p14="http://schemas.microsoft.com/office/powerpoint/2010/main" val="3575511911"/>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40574" y="176761"/>
            <a:ext cx="8229600" cy="1107996"/>
          </a:xfrm>
        </p:spPr>
        <p:txBody>
          <a:bodyPr lIns="0" tIns="0" rIns="0" bIns="0" anchor="ctr">
            <a:spAutoFit/>
          </a:bodyPr>
          <a:lstStyle/>
          <a:p>
            <a:r>
              <a:rPr lang="en-US" dirty="0"/>
              <a:t>Process of Receptor-Mediated Endocytosis </a:t>
            </a:r>
            <a:r>
              <a:rPr lang="en-US" sz="2800" dirty="0"/>
              <a:t>(4 of 4)</a:t>
            </a: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sz="quarter" idx="13"/>
          </p:nvPr>
        </p:nvSpPr>
        <p:spPr>
          <a:xfrm>
            <a:off x="457200" y="1560888"/>
            <a:ext cx="8229599" cy="369332"/>
          </a:xfrm>
        </p:spPr>
        <p:txBody>
          <a:bodyPr wrap="square" lIns="0" tIns="0" rIns="0" bIns="0">
            <a:spAutoFit/>
          </a:bodyPr>
          <a:lstStyle/>
          <a:p>
            <a:pPr marL="457200" indent="-457200">
              <a:buFont typeface="+mj-lt"/>
              <a:buAutoNum type="arabicPeriod" startAt="7"/>
            </a:pPr>
            <a:r>
              <a:rPr lang="en-US" sz="2400" dirty="0"/>
              <a:t>Transport vesicles often: </a:t>
            </a:r>
          </a:p>
        </p:txBody>
      </p:sp>
      <p:sp>
        <p:nvSpPr>
          <p:cNvPr id="6" name="Content Placeholder 5"/>
          <p:cNvSpPr>
            <a:spLocks noGrp="1"/>
          </p:cNvSpPr>
          <p:nvPr>
            <p:ph sz="quarter" idx="14"/>
          </p:nvPr>
        </p:nvSpPr>
        <p:spPr>
          <a:xfrm>
            <a:off x="457201" y="2063515"/>
            <a:ext cx="8229599" cy="2000548"/>
          </a:xfrm>
          <a:noFill/>
          <a:ln>
            <a:noFill/>
          </a:ln>
        </p:spPr>
        <p:txBody>
          <a:bodyPr wrap="square" lIns="0" tIns="0" rIns="0" bIns="0" anchor="t" anchorCtr="0">
            <a:spAutoFit/>
          </a:bodyPr>
          <a:lstStyle/>
          <a:p>
            <a:pPr marL="944118" lvl="1" indent="-457200">
              <a:buFont typeface="+mj-lt"/>
              <a:buAutoNum type="alphaLcPeriod"/>
            </a:pPr>
            <a:r>
              <a:rPr lang="en-US" sz="2400" dirty="0"/>
              <a:t>Carry material to the late endosome and then a lysosome for digestion, </a:t>
            </a:r>
          </a:p>
          <a:p>
            <a:pPr marL="944118" lvl="1" indent="-457200">
              <a:buFont typeface="+mj-lt"/>
              <a:buAutoNum type="alphaLcPeriod"/>
            </a:pPr>
            <a:r>
              <a:rPr lang="en-US" sz="2400" dirty="0"/>
              <a:t>Recycle receptors to the plasma membrane, or</a:t>
            </a:r>
          </a:p>
          <a:p>
            <a:pPr marL="944118" lvl="1" indent="-457200">
              <a:buFont typeface="+mj-lt"/>
              <a:buAutoNum type="alphaLcPeriod"/>
            </a:pPr>
            <a:r>
              <a:rPr lang="en-US" sz="2400" dirty="0"/>
              <a:t>Transport material to the plasma membrane on the opposite side of the cell (transcytosis). </a:t>
            </a:r>
          </a:p>
        </p:txBody>
      </p:sp>
    </p:spTree>
    <p:extLst>
      <p:ext uri="{BB962C8B-B14F-4D97-AF65-F5344CB8AC3E}">
        <p14:creationId xmlns:p14="http://schemas.microsoft.com/office/powerpoint/2010/main" val="3450673638"/>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30566" y="161442"/>
            <a:ext cx="8277598" cy="599132"/>
          </a:xfrm>
        </p:spPr>
        <p:txBody>
          <a:bodyPr lIns="0" tIns="0" rIns="0" bIns="0" anchor="ctr"/>
          <a:lstStyle/>
          <a:p>
            <a:r>
              <a:rPr lang="en-US" dirty="0"/>
              <a:t>Receptor-Mediated Endocytosis </a:t>
            </a:r>
            <a:r>
              <a:rPr lang="en-US" sz="2800" dirty="0"/>
              <a:t>(2 of 2)</a:t>
            </a:r>
          </a:p>
        </p:txBody>
      </p:sp>
      <p:sp>
        <p:nvSpPr>
          <p:cNvPr id="6" name="Content Placeholder 5"/>
          <p:cNvSpPr>
            <a:spLocks noGrp="1"/>
          </p:cNvSpPr>
          <p:nvPr>
            <p:ph sz="quarter" idx="15"/>
          </p:nvPr>
        </p:nvSpPr>
        <p:spPr>
          <a:xfrm>
            <a:off x="421687" y="922941"/>
            <a:ext cx="8286477" cy="432330"/>
          </a:xfrm>
          <a:noFill/>
          <a:ln>
            <a:noFill/>
          </a:ln>
        </p:spPr>
        <p:txBody>
          <a:bodyPr lIns="0" tIns="0" rIns="0" bIns="0" anchor="t" anchorCtr="0"/>
          <a:lstStyle/>
          <a:p>
            <a:pPr marL="0" indent="0">
              <a:buNone/>
            </a:pPr>
            <a:r>
              <a:rPr lang="en-IN" sz="2400" b="1" dirty="0"/>
              <a:t>Figure 12.20 </a:t>
            </a:r>
            <a:r>
              <a:rPr lang="en-IN" sz="2400" dirty="0"/>
              <a:t>Receptor-Mediated Endocytosis.</a:t>
            </a:r>
          </a:p>
        </p:txBody>
      </p:sp>
      <p:pic>
        <p:nvPicPr>
          <p:cNvPr id="4" name="Picture Placeholder 3" descr="An illustration on receptor-mediated endocytosis shows the processes of binding, lateral diffusion, invagination, vesicle formation, uncoating, fusion with early endosome and release of ligand, and transportation. &#10;Long description is available in notes, press F6"/>
          <p:cNvPicPr>
            <a:picLocks noGrp="1" noChangeAspect="1"/>
          </p:cNvPicPr>
          <p:nvPr>
            <p:ph type="pic" sz="quarter" idx="16"/>
          </p:nvPr>
        </p:nvPicPr>
        <p:blipFill rotWithShape="1">
          <a:blip r:embed="rId3">
            <a:extLst>
              <a:ext uri="{28A0092B-C50C-407E-A947-70E740481C1C}">
                <a14:useLocalDpi xmlns:a14="http://schemas.microsoft.com/office/drawing/2010/main" val="0"/>
              </a:ext>
            </a:extLst>
          </a:blip>
          <a:srcRect b="6916"/>
          <a:stretch/>
        </p:blipFill>
        <p:spPr>
          <a:xfrm>
            <a:off x="1168715" y="1633411"/>
            <a:ext cx="6316693" cy="4510706"/>
          </a:xfrm>
        </p:spPr>
      </p:pic>
    </p:spTree>
    <p:extLst>
      <p:ext uri="{BB962C8B-B14F-4D97-AF65-F5344CB8AC3E}">
        <p14:creationId xmlns:p14="http://schemas.microsoft.com/office/powerpoint/2010/main" val="3129014382"/>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30566" y="184391"/>
            <a:ext cx="8277598" cy="1107996"/>
          </a:xfrm>
        </p:spPr>
        <p:txBody>
          <a:bodyPr lIns="0" tIns="0" rIns="0" bIns="0" anchor="ctr">
            <a:spAutoFit/>
          </a:bodyPr>
          <a:lstStyle/>
          <a:p>
            <a:r>
              <a:rPr lang="en-US" dirty="0"/>
              <a:t>Receptor-Mediated Endocytosis of Yolk Protein by a Chicken Oocyte</a:t>
            </a:r>
          </a:p>
        </p:txBody>
      </p:sp>
      <p:sp>
        <p:nvSpPr>
          <p:cNvPr id="6" name="Content Placeholder 5"/>
          <p:cNvSpPr>
            <a:spLocks noGrp="1"/>
          </p:cNvSpPr>
          <p:nvPr>
            <p:ph sz="quarter" idx="15"/>
          </p:nvPr>
        </p:nvSpPr>
        <p:spPr>
          <a:xfrm>
            <a:off x="421687" y="1364668"/>
            <a:ext cx="8286477" cy="738664"/>
          </a:xfrm>
          <a:noFill/>
          <a:ln>
            <a:noFill/>
          </a:ln>
        </p:spPr>
        <p:txBody>
          <a:bodyPr lIns="0" tIns="0" rIns="0" bIns="0" anchor="t" anchorCtr="0">
            <a:spAutoFit/>
          </a:bodyPr>
          <a:lstStyle/>
          <a:p>
            <a:pPr marL="0" indent="0">
              <a:buNone/>
            </a:pPr>
            <a:r>
              <a:rPr lang="en-US" sz="2400" b="1" dirty="0"/>
              <a:t>Figure 12.21 </a:t>
            </a:r>
            <a:r>
              <a:rPr lang="en-US" sz="2400" dirty="0"/>
              <a:t>Receptor-Mediated Endocytosis of Yolk Protein by a Chicken Oocyte.</a:t>
            </a:r>
          </a:p>
        </p:txBody>
      </p:sp>
      <p:pic>
        <p:nvPicPr>
          <p:cNvPr id="5" name="Picture Placeholder 4" descr="A series of electron micrographs show receptor-mediated endocytosis of yolk protein by a chicken oocyte. It shows vesicle formation from the extracellular space into the cytoplasm.&#10;Long description is available in notes, press F6"/>
          <p:cNvPicPr>
            <a:picLocks noGrp="1" noChangeAspect="1"/>
          </p:cNvPicPr>
          <p:nvPr>
            <p:ph type="pic" sz="quarter" idx="16"/>
          </p:nvPr>
        </p:nvPicPr>
        <p:blipFill rotWithShape="1">
          <a:blip r:embed="rId3">
            <a:extLst>
              <a:ext uri="{28A0092B-C50C-407E-A947-70E740481C1C}">
                <a14:useLocalDpi xmlns:a14="http://schemas.microsoft.com/office/drawing/2010/main" val="0"/>
              </a:ext>
            </a:extLst>
          </a:blip>
          <a:srcRect b="3533"/>
          <a:stretch/>
        </p:blipFill>
        <p:spPr>
          <a:xfrm>
            <a:off x="925786" y="2333740"/>
            <a:ext cx="7292429" cy="3843596"/>
          </a:xfrm>
        </p:spPr>
      </p:pic>
    </p:spTree>
    <p:extLst>
      <p:ext uri="{BB962C8B-B14F-4D97-AF65-F5344CB8AC3E}">
        <p14:creationId xmlns:p14="http://schemas.microsoft.com/office/powerpoint/2010/main" val="2271294114"/>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31562" y="179519"/>
            <a:ext cx="8302240" cy="1108252"/>
          </a:xfrm>
        </p:spPr>
        <p:txBody>
          <a:bodyPr lIns="0" tIns="0" rIns="0" bIns="0" anchor="ctr">
            <a:spAutoFit/>
          </a:bodyPr>
          <a:lstStyle/>
          <a:p>
            <a:r>
              <a:rPr lang="en-US" sz="3600" dirty="0">
                <a:latin typeface="+mj-lt"/>
              </a:rPr>
              <a:t>Variations of Receptor-Mediated Endocytosis </a:t>
            </a:r>
            <a:r>
              <a:rPr lang="en-US" sz="2800" dirty="0">
                <a:latin typeface="+mj-lt"/>
              </a:rPr>
              <a:t>(1 of 2)</a:t>
            </a: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562341"/>
            <a:ext cx="8302240" cy="2970044"/>
          </a:xfrm>
        </p:spPr>
        <p:txBody>
          <a:bodyPr lIns="0" tIns="0" rIns="0" bIns="0">
            <a:spAutoFit/>
          </a:bodyPr>
          <a:lstStyle/>
          <a:p>
            <a:pPr marL="342900" indent="-342900"/>
            <a:r>
              <a:rPr lang="en-US" sz="2400" dirty="0"/>
              <a:t>Epidermal growth factor undergoes endocytosis and is a signal that stimulates cell division</a:t>
            </a:r>
            <a:r>
              <a:rPr lang="en-US" sz="2400" dirty="0">
                <a:solidFill>
                  <a:schemeClr val="tx1"/>
                </a:solidFill>
              </a:rPr>
              <a:t>.</a:t>
            </a:r>
          </a:p>
          <a:p>
            <a:pPr marL="342900" indent="-342900"/>
            <a:r>
              <a:rPr lang="en-US" sz="2400" dirty="0"/>
              <a:t>As </a:t>
            </a:r>
            <a:r>
              <a:rPr lang="en-US" sz="2400" spc="-300" dirty="0"/>
              <a:t>E G </a:t>
            </a:r>
            <a:r>
              <a:rPr lang="en-US" sz="2400" dirty="0"/>
              <a:t>F receptors are internalized, the cell becomes less responsive to </a:t>
            </a:r>
            <a:r>
              <a:rPr lang="en-US" sz="2400" spc="-300" dirty="0"/>
              <a:t>E G </a:t>
            </a:r>
            <a:r>
              <a:rPr lang="en-US" sz="2400" dirty="0"/>
              <a:t>F, a process known as </a:t>
            </a:r>
            <a:r>
              <a:rPr lang="en-US" sz="2400" i="1" dirty="0"/>
              <a:t>desensitization</a:t>
            </a:r>
            <a:r>
              <a:rPr lang="en-US" sz="2400" dirty="0">
                <a:solidFill>
                  <a:schemeClr val="tx1"/>
                </a:solidFill>
              </a:rPr>
              <a:t>.</a:t>
            </a:r>
            <a:endParaRPr lang="en-US" sz="2400" i="1" dirty="0">
              <a:solidFill>
                <a:schemeClr val="tx1"/>
              </a:solidFill>
            </a:endParaRPr>
          </a:p>
          <a:p>
            <a:pPr marL="342900" indent="-342900"/>
            <a:r>
              <a:rPr lang="en-US" sz="2400" dirty="0"/>
              <a:t>Defective desensitization through failure to endocytose the receptor can lead to excess cell proliferation and possible tumor formation</a:t>
            </a:r>
            <a:r>
              <a:rPr lang="en-US" sz="2400" dirty="0">
                <a:solidFill>
                  <a:schemeClr val="tx1"/>
                </a:solidFill>
              </a:rPr>
              <a:t>.</a:t>
            </a:r>
          </a:p>
        </p:txBody>
      </p:sp>
    </p:spTree>
    <p:extLst>
      <p:ext uri="{BB962C8B-B14F-4D97-AF65-F5344CB8AC3E}">
        <p14:creationId xmlns:p14="http://schemas.microsoft.com/office/powerpoint/2010/main" val="2247534160"/>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31562" y="179519"/>
            <a:ext cx="8302240" cy="1108252"/>
          </a:xfrm>
        </p:spPr>
        <p:txBody>
          <a:bodyPr lIns="0" tIns="0" rIns="0" bIns="0" anchor="ctr">
            <a:spAutoFit/>
          </a:bodyPr>
          <a:lstStyle/>
          <a:p>
            <a:r>
              <a:rPr lang="en-US" sz="3600" dirty="0">
                <a:latin typeface="+mj-lt"/>
              </a:rPr>
              <a:t>Variations of Receptor-Mediated Endocytosis </a:t>
            </a:r>
            <a:r>
              <a:rPr lang="en-US" sz="2800" dirty="0">
                <a:latin typeface="+mj-lt"/>
              </a:rPr>
              <a:t>(2 of 2)</a:t>
            </a: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562341"/>
            <a:ext cx="8188721" cy="2600712"/>
          </a:xfrm>
        </p:spPr>
        <p:txBody>
          <a:bodyPr wrap="square" lIns="0" tIns="0" rIns="0" bIns="0">
            <a:spAutoFit/>
          </a:bodyPr>
          <a:lstStyle/>
          <a:p>
            <a:pPr marL="342900" indent="-342900"/>
            <a:r>
              <a:rPr lang="en-US" sz="2400" dirty="0"/>
              <a:t>Receptors may be concentrated in coated pits independent of ligand binding</a:t>
            </a:r>
            <a:r>
              <a:rPr lang="en-US" sz="2400" dirty="0">
                <a:solidFill>
                  <a:schemeClr val="tx1"/>
                </a:solidFill>
              </a:rPr>
              <a:t>.</a:t>
            </a:r>
          </a:p>
          <a:p>
            <a:pPr marL="342900" indent="-342900"/>
            <a:r>
              <a:rPr lang="en-US" sz="2400" dirty="0"/>
              <a:t>In this case, ligand binding triggers internalization</a:t>
            </a:r>
            <a:r>
              <a:rPr lang="en-US" sz="2400" dirty="0">
                <a:solidFill>
                  <a:schemeClr val="tx1"/>
                </a:solidFill>
              </a:rPr>
              <a:t>.</a:t>
            </a:r>
          </a:p>
          <a:p>
            <a:pPr marL="342900" indent="-342900"/>
            <a:r>
              <a:rPr lang="en-US" sz="2400" dirty="0"/>
              <a:t>In another variation (for example, </a:t>
            </a:r>
            <a:r>
              <a:rPr lang="en-US" sz="2400" spc="-300" dirty="0"/>
              <a:t>L D </a:t>
            </a:r>
            <a:r>
              <a:rPr lang="en-US" sz="2400" dirty="0"/>
              <a:t>L receptors), receptors are constitutively concentrated and constitutively internalized independent of ligand binding</a:t>
            </a:r>
            <a:r>
              <a:rPr lang="en-US" sz="2400" dirty="0">
                <a:solidFill>
                  <a:schemeClr val="tx1"/>
                </a:solidFill>
              </a:rPr>
              <a:t>.</a:t>
            </a:r>
          </a:p>
        </p:txBody>
      </p:sp>
    </p:spTree>
    <p:extLst>
      <p:ext uri="{BB962C8B-B14F-4D97-AF65-F5344CB8AC3E}">
        <p14:creationId xmlns:p14="http://schemas.microsoft.com/office/powerpoint/2010/main" val="264698273"/>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84275"/>
            <a:ext cx="8263784" cy="553998"/>
          </a:xfrm>
        </p:spPr>
        <p:txBody>
          <a:bodyPr lIns="0" tIns="0" rIns="0" bIns="0" anchor="ctr">
            <a:spAutoFit/>
          </a:bodyPr>
          <a:lstStyle/>
          <a:p>
            <a:r>
              <a:rPr lang="en-US" sz="3600" dirty="0">
                <a:latin typeface="+mj-lt"/>
              </a:rPr>
              <a:t>After Internalization</a:t>
            </a:r>
            <a:endParaRPr lang="en-US" sz="2800" dirty="0">
              <a:latin typeface="+mj-lt"/>
            </a:endParaRP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067565"/>
            <a:ext cx="8263784" cy="2991919"/>
          </a:xfrm>
        </p:spPr>
        <p:txBody>
          <a:bodyPr lIns="0" tIns="0" rIns="0" bIns="0">
            <a:spAutoFit/>
          </a:bodyPr>
          <a:lstStyle/>
          <a:p>
            <a:pPr marL="342900" indent="-342900"/>
            <a:r>
              <a:rPr lang="en-US" sz="2400" dirty="0"/>
              <a:t>Uncoated vesicles fuse with vesicles budding from the TGN to form early endosomes</a:t>
            </a:r>
            <a:r>
              <a:rPr lang="en-US" sz="2400" dirty="0">
                <a:solidFill>
                  <a:schemeClr val="tx1"/>
                </a:solidFill>
              </a:rPr>
              <a:t>.</a:t>
            </a:r>
          </a:p>
          <a:p>
            <a:pPr marL="342900" indent="-342900"/>
            <a:r>
              <a:rPr lang="en-US" sz="2400" i="1" dirty="0"/>
              <a:t>Early endosomes</a:t>
            </a:r>
            <a:r>
              <a:rPr lang="en-US" sz="2400" dirty="0"/>
              <a:t> are sites for sorting and recycling of materials brought into the cell</a:t>
            </a:r>
            <a:r>
              <a:rPr lang="en-US" sz="2400" dirty="0">
                <a:solidFill>
                  <a:schemeClr val="tx1"/>
                </a:solidFill>
              </a:rPr>
              <a:t>.</a:t>
            </a:r>
          </a:p>
          <a:p>
            <a:pPr marL="342900" indent="-342900"/>
            <a:r>
              <a:rPr lang="en-US" sz="2400" dirty="0"/>
              <a:t>Early endosomes continue to acquire lysosomal proteins from the TGN and mature to form late endosomes, which then develop into lysosomes</a:t>
            </a:r>
            <a:r>
              <a:rPr lang="en-US" sz="2400" dirty="0">
                <a:solidFill>
                  <a:schemeClr val="tx1"/>
                </a:solidFill>
              </a:rPr>
              <a:t>.</a:t>
            </a:r>
          </a:p>
        </p:txBody>
      </p:sp>
    </p:spTree>
    <p:extLst>
      <p:ext uri="{BB962C8B-B14F-4D97-AF65-F5344CB8AC3E}">
        <p14:creationId xmlns:p14="http://schemas.microsoft.com/office/powerpoint/2010/main" val="2216988138"/>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73989"/>
            <a:ext cx="8263784" cy="1107996"/>
          </a:xfrm>
        </p:spPr>
        <p:txBody>
          <a:bodyPr lIns="0" tIns="0" rIns="0" bIns="0" anchor="ctr">
            <a:spAutoFit/>
          </a:bodyPr>
          <a:lstStyle/>
          <a:p>
            <a:r>
              <a:rPr lang="en-US" sz="3600" dirty="0">
                <a:latin typeface="+mj-lt"/>
              </a:rPr>
              <a:t>Recycling Plasma Membrane Receptors</a:t>
            </a:r>
            <a:endParaRPr lang="en-US" sz="2800" dirty="0">
              <a:latin typeface="+mj-lt"/>
            </a:endParaRP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559541"/>
            <a:ext cx="8263784" cy="2600712"/>
          </a:xfrm>
        </p:spPr>
        <p:txBody>
          <a:bodyPr lIns="0" tIns="0" rIns="0" bIns="0">
            <a:spAutoFit/>
          </a:bodyPr>
          <a:lstStyle/>
          <a:p>
            <a:pPr marL="342900" indent="-342900"/>
            <a:r>
              <a:rPr lang="en-US" sz="2400" dirty="0"/>
              <a:t>Receptors from the plasma membrane are recycled as a result of acidification of the early endosome</a:t>
            </a:r>
            <a:r>
              <a:rPr lang="en-US" sz="2400" dirty="0">
                <a:solidFill>
                  <a:schemeClr val="tx1"/>
                </a:solidFill>
              </a:rPr>
              <a:t>.</a:t>
            </a:r>
          </a:p>
          <a:p>
            <a:pPr marL="342900" indent="-342900"/>
            <a:r>
              <a:rPr lang="en-US" sz="2400" dirty="0"/>
              <a:t>The </a:t>
            </a:r>
            <a:r>
              <a:rPr lang="en-US" sz="2400" spc="-300" dirty="0"/>
              <a:t>p </a:t>
            </a:r>
            <a:r>
              <a:rPr lang="en-US" sz="2400" dirty="0"/>
              <a:t>H gradually declines as the endosome matures, facilitated by an </a:t>
            </a:r>
            <a:r>
              <a:rPr lang="en-US" sz="2400" i="1" spc="-300" dirty="0"/>
              <a:t>A T </a:t>
            </a:r>
            <a:r>
              <a:rPr lang="en-US" sz="2400" i="1" dirty="0"/>
              <a:t>P-dependent proton pump</a:t>
            </a:r>
            <a:r>
              <a:rPr lang="en-US" sz="2400" dirty="0">
                <a:solidFill>
                  <a:schemeClr val="tx1"/>
                </a:solidFill>
              </a:rPr>
              <a:t>.</a:t>
            </a:r>
            <a:endParaRPr lang="en-US" sz="2400" i="1" dirty="0">
              <a:solidFill>
                <a:schemeClr val="tx1"/>
              </a:solidFill>
            </a:endParaRPr>
          </a:p>
          <a:p>
            <a:pPr marL="342900" indent="-342900"/>
            <a:r>
              <a:rPr lang="en-US" sz="2400" dirty="0"/>
              <a:t>The lower </a:t>
            </a:r>
            <a:r>
              <a:rPr lang="en-US" sz="2400" spc="-300" dirty="0"/>
              <a:t>p </a:t>
            </a:r>
            <a:r>
              <a:rPr lang="en-US" sz="2400" dirty="0"/>
              <a:t>H dissociates ligand and receptors, allowing receptors to be returned to the membrane</a:t>
            </a:r>
            <a:r>
              <a:rPr lang="en-US" sz="2400" dirty="0">
                <a:solidFill>
                  <a:schemeClr val="tx1"/>
                </a:solidFill>
              </a:rPr>
              <a:t>.</a:t>
            </a:r>
          </a:p>
        </p:txBody>
      </p:sp>
    </p:spTree>
    <p:extLst>
      <p:ext uri="{BB962C8B-B14F-4D97-AF65-F5344CB8AC3E}">
        <p14:creationId xmlns:p14="http://schemas.microsoft.com/office/powerpoint/2010/main" val="2280710837"/>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73986"/>
            <a:ext cx="8263784" cy="1107996"/>
          </a:xfrm>
        </p:spPr>
        <p:txBody>
          <a:bodyPr lIns="0" tIns="0" rIns="0" bIns="0" anchor="ctr">
            <a:spAutoFit/>
          </a:bodyPr>
          <a:lstStyle/>
          <a:p>
            <a:r>
              <a:rPr lang="en-US" sz="3600" dirty="0">
                <a:latin typeface="+mj-lt"/>
              </a:rPr>
              <a:t>Alternative Fates for Receptor-Ligand Complexes</a:t>
            </a:r>
            <a:endParaRPr lang="en-US" sz="2800" dirty="0">
              <a:latin typeface="+mj-lt"/>
            </a:endParaRP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559539"/>
            <a:ext cx="8263784" cy="3339376"/>
          </a:xfrm>
        </p:spPr>
        <p:txBody>
          <a:bodyPr lIns="0" tIns="0" rIns="0" bIns="0">
            <a:spAutoFit/>
          </a:bodyPr>
          <a:lstStyle/>
          <a:p>
            <a:pPr marL="457200" indent="-457200">
              <a:buFont typeface="+mj-lt"/>
              <a:buAutoNum type="arabicPeriod"/>
            </a:pPr>
            <a:r>
              <a:rPr lang="en-US" sz="2400" dirty="0"/>
              <a:t>Some complexes are carried to a lysosome for degradation.</a:t>
            </a:r>
          </a:p>
          <a:p>
            <a:pPr marL="457200" indent="-457200">
              <a:buFont typeface="+mj-lt"/>
              <a:buAutoNum type="arabicPeriod"/>
            </a:pPr>
            <a:r>
              <a:rPr lang="en-US" sz="2400" dirty="0"/>
              <a:t>Some complexes are carried to the </a:t>
            </a:r>
            <a:r>
              <a:rPr lang="en-US" sz="2400" spc="-300" dirty="0"/>
              <a:t>T G </a:t>
            </a:r>
            <a:r>
              <a:rPr lang="en-US" sz="2400" dirty="0"/>
              <a:t>N, where they enter a variety of pathways in the endomembrane system. </a:t>
            </a:r>
          </a:p>
          <a:p>
            <a:pPr marL="457200" indent="-457200">
              <a:buFont typeface="+mj-lt"/>
              <a:buAutoNum type="arabicPeriod"/>
            </a:pPr>
            <a:r>
              <a:rPr lang="en-US" sz="2400" dirty="0"/>
              <a:t>Complexes can also travel by transport vesicles to a different region of the plasma membrane, where they are secreted (</a:t>
            </a:r>
            <a:r>
              <a:rPr lang="en-US" sz="2400" b="1" dirty="0"/>
              <a:t>transcytosis</a:t>
            </a:r>
            <a:r>
              <a:rPr lang="en-US" sz="2400" dirty="0">
                <a:solidFill>
                  <a:schemeClr val="tx1"/>
                </a:solidFill>
              </a:rPr>
              <a:t>).</a:t>
            </a:r>
          </a:p>
        </p:txBody>
      </p:sp>
    </p:spTree>
    <p:extLst>
      <p:ext uri="{BB962C8B-B14F-4D97-AF65-F5344CB8AC3E}">
        <p14:creationId xmlns:p14="http://schemas.microsoft.com/office/powerpoint/2010/main" val="1373599894"/>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84276"/>
            <a:ext cx="8263784" cy="553998"/>
          </a:xfrm>
        </p:spPr>
        <p:txBody>
          <a:bodyPr lIns="0" tIns="0" rIns="0" bIns="0" anchor="ctr">
            <a:spAutoFit/>
          </a:bodyPr>
          <a:lstStyle/>
          <a:p>
            <a:r>
              <a:rPr lang="en-US" sz="3600" dirty="0">
                <a:latin typeface="+mj-lt"/>
              </a:rPr>
              <a:t>Clathrin-Independent Endocytosis</a:t>
            </a:r>
            <a:endParaRPr lang="en-US" sz="2800" dirty="0">
              <a:latin typeface="+mj-lt"/>
            </a:endParaRP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060776"/>
            <a:ext cx="8263784" cy="2600712"/>
          </a:xfrm>
        </p:spPr>
        <p:txBody>
          <a:bodyPr lIns="0" tIns="0" rIns="0" bIns="0">
            <a:spAutoFit/>
          </a:bodyPr>
          <a:lstStyle/>
          <a:p>
            <a:pPr marL="457200" indent="-457200">
              <a:buFont typeface="Arial" panose="020B0604020202020204" pitchFamily="34" charset="0"/>
              <a:buChar char="•"/>
            </a:pPr>
            <a:r>
              <a:rPr lang="en-US" sz="2400" b="1" dirty="0"/>
              <a:t>Fluid-phase endocytosis </a:t>
            </a:r>
            <a:r>
              <a:rPr lang="en-US" sz="2400" dirty="0"/>
              <a:t>is a type of pinocytosis for nonspecific internalization of extracellular fluid</a:t>
            </a:r>
            <a:r>
              <a:rPr lang="en-US" sz="2400" dirty="0">
                <a:solidFill>
                  <a:schemeClr val="tx1"/>
                </a:solidFill>
              </a:rPr>
              <a:t>.</a:t>
            </a:r>
          </a:p>
          <a:p>
            <a:pPr marL="457200" indent="-457200">
              <a:buFont typeface="Arial" panose="020B0604020202020204" pitchFamily="34" charset="0"/>
              <a:buChar char="•"/>
            </a:pPr>
            <a:r>
              <a:rPr lang="en-US" sz="2400" dirty="0"/>
              <a:t>This process does not concentrate the ingested material, and contents are routed to early endosomes</a:t>
            </a:r>
            <a:r>
              <a:rPr lang="en-US" sz="2400" dirty="0">
                <a:solidFill>
                  <a:schemeClr val="tx1"/>
                </a:solidFill>
              </a:rPr>
              <a:t>.</a:t>
            </a:r>
          </a:p>
          <a:p>
            <a:pPr marL="457200" indent="-457200">
              <a:buFont typeface="Arial" panose="020B0604020202020204" pitchFamily="34" charset="0"/>
              <a:buChar char="•"/>
            </a:pPr>
            <a:r>
              <a:rPr lang="en-US" sz="2400" dirty="0"/>
              <a:t>It proceeds at a constant rate and compensates for membrane segments added by exocytosis</a:t>
            </a:r>
            <a:r>
              <a:rPr lang="en-US" sz="2400" dirty="0">
                <a:solidFill>
                  <a:schemeClr val="tx1"/>
                </a:solidFill>
              </a:rPr>
              <a:t>.</a:t>
            </a:r>
          </a:p>
        </p:txBody>
      </p:sp>
    </p:spTree>
    <p:extLst>
      <p:ext uri="{BB962C8B-B14F-4D97-AF65-F5344CB8AC3E}">
        <p14:creationId xmlns:p14="http://schemas.microsoft.com/office/powerpoint/2010/main" val="1327527696"/>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78553"/>
            <a:ext cx="8263784" cy="1107996"/>
          </a:xfrm>
        </p:spPr>
        <p:txBody>
          <a:bodyPr lIns="0" tIns="0" rIns="0" bIns="0" anchor="ctr">
            <a:spAutoFit/>
          </a:bodyPr>
          <a:lstStyle/>
          <a:p>
            <a:r>
              <a:rPr lang="en-US" sz="3600" dirty="0">
                <a:latin typeface="+mj-lt"/>
              </a:rPr>
              <a:t>12.6 Coated Vesicles in Cellular Transport Processes</a:t>
            </a:r>
            <a:endParaRPr lang="en-US" sz="2800" dirty="0">
              <a:latin typeface="+mj-lt"/>
            </a:endParaRP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559538"/>
            <a:ext cx="8263784" cy="2970044"/>
          </a:xfrm>
        </p:spPr>
        <p:txBody>
          <a:bodyPr lIns="0" tIns="0" rIns="0" bIns="0">
            <a:spAutoFit/>
          </a:bodyPr>
          <a:lstStyle/>
          <a:p>
            <a:pPr marL="457200" indent="-457200">
              <a:buFont typeface="Arial" panose="020B0604020202020204" pitchFamily="34" charset="0"/>
              <a:buChar char="•"/>
            </a:pPr>
            <a:r>
              <a:rPr lang="en-US" sz="2400" dirty="0"/>
              <a:t>Most vesicles in protein and lipid transport are called </a:t>
            </a:r>
            <a:r>
              <a:rPr lang="en-US" sz="2400" b="1" dirty="0"/>
              <a:t>coated</a:t>
            </a:r>
            <a:r>
              <a:rPr lang="en-US" sz="2400" dirty="0"/>
              <a:t> </a:t>
            </a:r>
            <a:r>
              <a:rPr lang="en-US" sz="2400" b="1" dirty="0"/>
              <a:t>vesicles</a:t>
            </a:r>
            <a:r>
              <a:rPr lang="en-US" sz="2400" dirty="0"/>
              <a:t> because of the layers of proteins covering their cytosolic surfaces</a:t>
            </a:r>
            <a:r>
              <a:rPr lang="en-US" sz="2400" dirty="0">
                <a:solidFill>
                  <a:schemeClr val="tx1"/>
                </a:solidFill>
              </a:rPr>
              <a:t>.</a:t>
            </a:r>
          </a:p>
          <a:p>
            <a:pPr marL="457200" indent="-457200">
              <a:buFont typeface="Arial" panose="020B0604020202020204" pitchFamily="34" charset="0"/>
              <a:buChar char="•"/>
            </a:pPr>
            <a:r>
              <a:rPr lang="en-US" sz="2400" dirty="0"/>
              <a:t>Coated vesicles are involved in vesicular traffic throughout the endomembrane system, as well as in exocytosis and endocytosis</a:t>
            </a:r>
            <a:r>
              <a:rPr lang="en-US" sz="2400" dirty="0">
                <a:solidFill>
                  <a:schemeClr val="tx1"/>
                </a:solidFill>
              </a:rPr>
              <a:t>.</a:t>
            </a:r>
          </a:p>
          <a:p>
            <a:pPr marL="457200" indent="-457200">
              <a:buFont typeface="Arial" panose="020B0604020202020204" pitchFamily="34" charset="0"/>
              <a:buChar char="•"/>
            </a:pPr>
            <a:r>
              <a:rPr lang="en-US" sz="2400" dirty="0"/>
              <a:t>There are several types of coat proteins</a:t>
            </a:r>
            <a:r>
              <a:rPr lang="en-US" sz="2400" dirty="0">
                <a:solidFill>
                  <a:schemeClr val="tx1"/>
                </a:solidFill>
              </a:rPr>
              <a:t>.</a:t>
            </a:r>
          </a:p>
        </p:txBody>
      </p:sp>
    </p:spTree>
    <p:extLst>
      <p:ext uri="{BB962C8B-B14F-4D97-AF65-F5344CB8AC3E}">
        <p14:creationId xmlns:p14="http://schemas.microsoft.com/office/powerpoint/2010/main" val="3046614162"/>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84275"/>
            <a:ext cx="8263784" cy="553998"/>
          </a:xfrm>
        </p:spPr>
        <p:txBody>
          <a:bodyPr lIns="0" tIns="0" rIns="0" bIns="0" anchor="ctr">
            <a:spAutoFit/>
          </a:bodyPr>
          <a:lstStyle/>
          <a:p>
            <a:r>
              <a:rPr lang="en-US" sz="3600" dirty="0">
                <a:latin typeface="+mj-lt"/>
              </a:rPr>
              <a:t>Coat Proteins</a:t>
            </a:r>
            <a:endParaRPr lang="en-US" sz="2800" dirty="0">
              <a:latin typeface="+mj-lt"/>
            </a:endParaRP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060776"/>
            <a:ext cx="8052244" cy="2970044"/>
          </a:xfrm>
        </p:spPr>
        <p:txBody>
          <a:bodyPr wrap="square" lIns="0" tIns="0" rIns="0" bIns="0">
            <a:spAutoFit/>
          </a:bodyPr>
          <a:lstStyle/>
          <a:p>
            <a:pPr marL="457200" indent="-457200">
              <a:buFont typeface="Arial" panose="020B0604020202020204" pitchFamily="34" charset="0"/>
              <a:buChar char="•"/>
            </a:pPr>
            <a:r>
              <a:rPr lang="en-US" sz="2400" dirty="0"/>
              <a:t>The most studied coat proteins are </a:t>
            </a:r>
            <a:r>
              <a:rPr lang="en-US" sz="2400" i="1" dirty="0"/>
              <a:t>clathrin</a:t>
            </a:r>
            <a:r>
              <a:rPr lang="en-US" sz="2400" dirty="0"/>
              <a:t>, </a:t>
            </a:r>
            <a:r>
              <a:rPr lang="en-US" sz="2400" i="1" spc="-300" dirty="0"/>
              <a:t>C O P </a:t>
            </a:r>
            <a:r>
              <a:rPr lang="en-US" sz="2400" i="1" dirty="0"/>
              <a:t>I</a:t>
            </a:r>
            <a:r>
              <a:rPr lang="en-US" sz="2400" dirty="0"/>
              <a:t>, and </a:t>
            </a:r>
            <a:r>
              <a:rPr lang="en-US" sz="2400" i="1" spc="-300" dirty="0"/>
              <a:t>C O P I </a:t>
            </a:r>
            <a:r>
              <a:rPr lang="en-US" sz="2400" i="1" dirty="0"/>
              <a:t>I</a:t>
            </a:r>
            <a:r>
              <a:rPr lang="en-US" sz="2400" dirty="0">
                <a:solidFill>
                  <a:schemeClr val="tx1"/>
                </a:solidFill>
              </a:rPr>
              <a:t>.</a:t>
            </a:r>
            <a:endParaRPr lang="en-US" sz="2400" i="1" dirty="0">
              <a:solidFill>
                <a:schemeClr val="tx1"/>
              </a:solidFill>
            </a:endParaRPr>
          </a:p>
          <a:p>
            <a:pPr marL="457200" indent="-457200">
              <a:buFont typeface="Arial" panose="020B0604020202020204" pitchFamily="34" charset="0"/>
              <a:buChar char="•"/>
            </a:pPr>
            <a:r>
              <a:rPr lang="en-US" sz="2400" dirty="0"/>
              <a:t>The type of coat protein on a vesicle helps to determine the destination of the vesicle</a:t>
            </a:r>
            <a:r>
              <a:rPr lang="en-US" sz="2400" dirty="0">
                <a:solidFill>
                  <a:schemeClr val="tx1"/>
                </a:solidFill>
              </a:rPr>
              <a:t>.</a:t>
            </a:r>
          </a:p>
          <a:p>
            <a:pPr marL="457200" indent="-457200">
              <a:buFont typeface="Arial" panose="020B0604020202020204" pitchFamily="34" charset="0"/>
              <a:buChar char="•"/>
            </a:pPr>
            <a:r>
              <a:rPr lang="en-US" sz="2400" dirty="0"/>
              <a:t>They also induce curvature needed for the formation of the vesicles and prevent nonspecific fusion of the vesicle with another membrane</a:t>
            </a:r>
            <a:r>
              <a:rPr lang="en-US" sz="2400" dirty="0">
                <a:solidFill>
                  <a:schemeClr val="tx1"/>
                </a:solidFill>
              </a:rPr>
              <a:t>.</a:t>
            </a:r>
          </a:p>
        </p:txBody>
      </p:sp>
    </p:spTree>
    <p:extLst>
      <p:ext uri="{BB962C8B-B14F-4D97-AF65-F5344CB8AC3E}">
        <p14:creationId xmlns:p14="http://schemas.microsoft.com/office/powerpoint/2010/main" val="3485251196"/>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57200" y="176761"/>
            <a:ext cx="8229600" cy="1107996"/>
          </a:xfrm>
        </p:spPr>
        <p:txBody>
          <a:bodyPr lIns="0" tIns="0" rIns="0" bIns="0" anchor="ctr">
            <a:spAutoFit/>
          </a:bodyPr>
          <a:lstStyle/>
          <a:p>
            <a:r>
              <a:rPr lang="en-US" sz="3600" dirty="0">
                <a:latin typeface="+mj-lt"/>
              </a:rPr>
              <a:t>Coated Vesicles Found Within Eukaryotic Cells</a:t>
            </a:r>
            <a:endParaRPr lang="en-US" sz="2800" dirty="0">
              <a:latin typeface="+mj-lt"/>
            </a:endParaRP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57200" y="1562851"/>
            <a:ext cx="8229600" cy="307777"/>
          </a:xfrm>
        </p:spPr>
        <p:txBody>
          <a:bodyPr lIns="0" tIns="0" rIns="0" bIns="0">
            <a:spAutoFit/>
          </a:bodyPr>
          <a:lstStyle/>
          <a:p>
            <a:pPr marL="0" indent="0">
              <a:buNone/>
            </a:pPr>
            <a:r>
              <a:rPr lang="en-US" sz="2000" b="1" dirty="0"/>
              <a:t>Table 12.2 </a:t>
            </a:r>
            <a:r>
              <a:rPr lang="en-US" sz="2000" dirty="0"/>
              <a:t>Coated Vesicles Found Within Eukaryotic Cells</a:t>
            </a:r>
          </a:p>
        </p:txBody>
      </p:sp>
      <p:sp>
        <p:nvSpPr>
          <p:cNvPr id="3" name="Content Placeholder 2"/>
          <p:cNvSpPr>
            <a:spLocks noGrp="1"/>
          </p:cNvSpPr>
          <p:nvPr>
            <p:ph idx="13"/>
          </p:nvPr>
        </p:nvSpPr>
        <p:spPr>
          <a:xfrm>
            <a:off x="457200" y="5363732"/>
            <a:ext cx="8229600" cy="923330"/>
          </a:xfrm>
          <a:noFill/>
          <a:ln>
            <a:noFill/>
          </a:ln>
        </p:spPr>
        <p:txBody>
          <a:bodyPr lIns="0" tIns="0" rIns="0" bIns="0" anchor="t" anchorCtr="0">
            <a:spAutoFit/>
          </a:bodyPr>
          <a:lstStyle/>
          <a:p>
            <a:pPr marL="0" indent="0">
              <a:buNone/>
            </a:pPr>
            <a:r>
              <a:rPr lang="en-US" sz="2000" dirty="0"/>
              <a:t>*</a:t>
            </a:r>
            <a:r>
              <a:rPr lang="en-US" sz="2000" spc="-250" dirty="0"/>
              <a:t>A R </a:t>
            </a:r>
            <a:r>
              <a:rPr lang="en-US" sz="2000" dirty="0"/>
              <a:t>F designates </a:t>
            </a:r>
            <a:r>
              <a:rPr lang="en-US" sz="2000" spc="-250" dirty="0"/>
              <a:t>A D </a:t>
            </a:r>
            <a:r>
              <a:rPr lang="en-US" sz="2000" dirty="0"/>
              <a:t>P ribosylation factor 1; </a:t>
            </a:r>
            <a:r>
              <a:rPr lang="en-US" sz="2000" spc="-250" dirty="0"/>
              <a:t>A </a:t>
            </a:r>
            <a:r>
              <a:rPr lang="en-US" sz="2000" dirty="0"/>
              <a:t>P1 and </a:t>
            </a:r>
            <a:r>
              <a:rPr lang="en-US" sz="2000" spc="-250" dirty="0"/>
              <a:t>A </a:t>
            </a:r>
            <a:r>
              <a:rPr lang="en-US" sz="2000" dirty="0"/>
              <a:t>P2 designate different adaptor protein complexes (also called assembly protein complexes).</a:t>
            </a:r>
            <a:endParaRPr lang="en-IN" sz="2000" dirty="0"/>
          </a:p>
        </p:txBody>
      </p:sp>
      <p:graphicFrame>
        <p:nvGraphicFramePr>
          <p:cNvPr id="6" name="Table 5"/>
          <p:cNvGraphicFramePr>
            <a:graphicFrameLocks noGrp="1"/>
          </p:cNvGraphicFramePr>
          <p:nvPr>
            <p:extLst>
              <p:ext uri="{D42A27DB-BD31-4B8C-83A1-F6EECF244321}">
                <p14:modId xmlns:p14="http://schemas.microsoft.com/office/powerpoint/2010/main" val="1377032056"/>
              </p:ext>
            </p:extLst>
          </p:nvPr>
        </p:nvGraphicFramePr>
        <p:xfrm>
          <a:off x="457200" y="2041407"/>
          <a:ext cx="8229600" cy="2433320"/>
        </p:xfrm>
        <a:graphic>
          <a:graphicData uri="http://schemas.openxmlformats.org/drawingml/2006/table">
            <a:tbl>
              <a:tblPr firstRow="1" bandRow="1">
                <a:tableStyleId>{3C2FFA5D-87B4-456A-9821-1D502468CF0F}</a:tableStyleId>
              </a:tblPr>
              <a:tblGrid>
                <a:gridCol w="1704109">
                  <a:extLst>
                    <a:ext uri="{9D8B030D-6E8A-4147-A177-3AD203B41FA5}">
                      <a16:colId xmlns:a16="http://schemas.microsoft.com/office/drawing/2014/main" xmlns="" val="3540283066"/>
                    </a:ext>
                  </a:extLst>
                </a:gridCol>
                <a:gridCol w="2797057">
                  <a:extLst>
                    <a:ext uri="{9D8B030D-6E8A-4147-A177-3AD203B41FA5}">
                      <a16:colId xmlns:a16="http://schemas.microsoft.com/office/drawing/2014/main" xmlns="" val="3716235228"/>
                    </a:ext>
                  </a:extLst>
                </a:gridCol>
                <a:gridCol w="1764406">
                  <a:extLst>
                    <a:ext uri="{9D8B030D-6E8A-4147-A177-3AD203B41FA5}">
                      <a16:colId xmlns:a16="http://schemas.microsoft.com/office/drawing/2014/main" xmlns="" val="2641535519"/>
                    </a:ext>
                  </a:extLst>
                </a:gridCol>
                <a:gridCol w="1964028">
                  <a:extLst>
                    <a:ext uri="{9D8B030D-6E8A-4147-A177-3AD203B41FA5}">
                      <a16:colId xmlns:a16="http://schemas.microsoft.com/office/drawing/2014/main" xmlns="" val="3584089410"/>
                    </a:ext>
                  </a:extLst>
                </a:gridCol>
              </a:tblGrid>
              <a:tr h="370840">
                <a:tc>
                  <a:txBody>
                    <a:bodyPr/>
                    <a:lstStyle/>
                    <a:p>
                      <a:r>
                        <a:rPr lang="en-IN" sz="1600" b="1" i="0" u="none" strike="noStrike" cap="none" baseline="0" dirty="0">
                          <a:solidFill>
                            <a:schemeClr val="lt1"/>
                          </a:solidFill>
                          <a:latin typeface="+mn-lt"/>
                          <a:ea typeface="+mn-ea"/>
                          <a:cs typeface="+mn-cs"/>
                          <a:sym typeface="Arial"/>
                        </a:rPr>
                        <a:t>Coated Vesicle</a:t>
                      </a:r>
                      <a:endParaRPr lang="en-IN" sz="1600" dirty="0"/>
                    </a:p>
                  </a:txBody>
                  <a:tcPr>
                    <a:lnL w="9525" cap="flat" cmpd="sng" algn="ctr">
                      <a:noFill/>
                      <a:prstDash val="solid"/>
                    </a:lnL>
                    <a:lnR>
                      <a:noFill/>
                    </a:lnR>
                    <a:lnT w="9525" cap="flat" cmpd="sng" algn="ctr">
                      <a:noFill/>
                      <a:prstDash val="solid"/>
                    </a:lnT>
                    <a:lnB w="25400" cap="flat" cmpd="sng" algn="ctr">
                      <a:noFill/>
                      <a:prstDash val="solid"/>
                    </a:lnB>
                    <a:lnTlToBr w="12700" cmpd="sng">
                      <a:noFill/>
                      <a:prstDash val="solid"/>
                    </a:lnTlToBr>
                    <a:lnBlToTr w="12700" cmpd="sng">
                      <a:noFill/>
                      <a:prstDash val="solid"/>
                    </a:lnBlToTr>
                    <a:solidFill>
                      <a:schemeClr val="accent2"/>
                    </a:solidFill>
                  </a:tcPr>
                </a:tc>
                <a:tc>
                  <a:txBody>
                    <a:bodyPr/>
                    <a:lstStyle/>
                    <a:p>
                      <a:r>
                        <a:rPr lang="en-IN" sz="1600" b="1" i="0" u="none" strike="noStrike" cap="none" baseline="0" dirty="0">
                          <a:solidFill>
                            <a:schemeClr val="lt1"/>
                          </a:solidFill>
                          <a:latin typeface="+mn-lt"/>
                          <a:ea typeface="+mn-ea"/>
                          <a:cs typeface="+mn-cs"/>
                          <a:sym typeface="Arial"/>
                        </a:rPr>
                        <a:t>Coat Proteins*</a:t>
                      </a:r>
                      <a:endParaRPr lang="en-IN" sz="1600" dirty="0"/>
                    </a:p>
                  </a:txBody>
                  <a:tcPr>
                    <a:lnL>
                      <a:noFill/>
                    </a:lnL>
                    <a:lnR>
                      <a:noFill/>
                    </a:lnR>
                    <a:lnT w="9525" cap="flat" cmpd="sng" algn="ctr">
                      <a:noFill/>
                      <a:prstDash val="solid"/>
                    </a:lnT>
                    <a:lnB w="25400" cap="flat" cmpd="sng" algn="ctr">
                      <a:noFill/>
                      <a:prstDash val="solid"/>
                    </a:lnB>
                    <a:lnTlToBr w="12700" cmpd="sng">
                      <a:noFill/>
                      <a:prstDash val="solid"/>
                    </a:lnTlToBr>
                    <a:lnBlToTr w="12700" cmpd="sng">
                      <a:noFill/>
                      <a:prstDash val="solid"/>
                    </a:lnBlToTr>
                    <a:solidFill>
                      <a:schemeClr val="accent2"/>
                    </a:solidFill>
                  </a:tcPr>
                </a:tc>
                <a:tc>
                  <a:txBody>
                    <a:bodyPr/>
                    <a:lstStyle/>
                    <a:p>
                      <a:r>
                        <a:rPr lang="en-IN" sz="1600" b="1" i="0" u="none" strike="noStrike" cap="none" baseline="0" dirty="0">
                          <a:solidFill>
                            <a:schemeClr val="lt1"/>
                          </a:solidFill>
                          <a:latin typeface="+mn-lt"/>
                          <a:ea typeface="+mn-ea"/>
                          <a:cs typeface="+mn-cs"/>
                          <a:sym typeface="Arial"/>
                        </a:rPr>
                        <a:t>Origin</a:t>
                      </a:r>
                      <a:endParaRPr lang="en-IN" sz="1600" dirty="0"/>
                    </a:p>
                  </a:txBody>
                  <a:tcPr>
                    <a:lnL>
                      <a:noFill/>
                    </a:lnL>
                    <a:lnR>
                      <a:noFill/>
                    </a:lnR>
                    <a:lnT w="9525" cap="flat" cmpd="sng" algn="ctr">
                      <a:noFill/>
                      <a:prstDash val="solid"/>
                    </a:lnT>
                    <a:lnB w="25400" cap="flat" cmpd="sng" algn="ctr">
                      <a:noFill/>
                      <a:prstDash val="solid"/>
                    </a:lnB>
                    <a:lnTlToBr w="12700" cmpd="sng">
                      <a:noFill/>
                      <a:prstDash val="solid"/>
                    </a:lnTlToBr>
                    <a:lnBlToTr w="12700" cmpd="sng">
                      <a:noFill/>
                      <a:prstDash val="solid"/>
                    </a:lnBlToTr>
                    <a:solidFill>
                      <a:schemeClr val="accent2"/>
                    </a:solidFill>
                  </a:tcPr>
                </a:tc>
                <a:tc>
                  <a:txBody>
                    <a:bodyPr/>
                    <a:lstStyle/>
                    <a:p>
                      <a:r>
                        <a:rPr lang="en-IN" sz="1600" b="1" i="0" u="none" strike="noStrike" cap="none" baseline="0" dirty="0">
                          <a:solidFill>
                            <a:schemeClr val="lt1"/>
                          </a:solidFill>
                          <a:latin typeface="+mn-lt"/>
                          <a:ea typeface="+mn-ea"/>
                          <a:cs typeface="+mn-cs"/>
                          <a:sym typeface="Arial"/>
                        </a:rPr>
                        <a:t>Destination</a:t>
                      </a:r>
                      <a:endParaRPr lang="en-IN" sz="1600" dirty="0"/>
                    </a:p>
                  </a:txBody>
                  <a:tcPr>
                    <a:lnL>
                      <a:noFill/>
                    </a:lnL>
                    <a:lnR w="9525" cap="flat" cmpd="sng" algn="ctr">
                      <a:noFill/>
                      <a:prstDash val="solid"/>
                    </a:lnR>
                    <a:lnT w="9525" cap="flat" cmpd="sng" algn="ctr">
                      <a:noFill/>
                      <a:prstDash val="solid"/>
                    </a:lnT>
                    <a:lnB w="25400" cap="flat" cmpd="sng" algn="ctr">
                      <a:noFill/>
                      <a:prstDash val="solid"/>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xmlns="" val="2530915690"/>
                  </a:ext>
                </a:extLst>
              </a:tr>
              <a:tr h="370840">
                <a:tc>
                  <a:txBody>
                    <a:bodyPr/>
                    <a:lstStyle/>
                    <a:p>
                      <a:r>
                        <a:rPr lang="en-IN" sz="1600" b="0" i="0" u="none" strike="noStrike" cap="none" baseline="0" dirty="0">
                          <a:solidFill>
                            <a:schemeClr val="dk1"/>
                          </a:solidFill>
                          <a:latin typeface="+mn-lt"/>
                          <a:ea typeface="+mn-ea"/>
                          <a:cs typeface="+mn-cs"/>
                          <a:sym typeface="Arial"/>
                        </a:rPr>
                        <a:t>Clathrin</a:t>
                      </a:r>
                      <a:endParaRPr lang="en-IN" sz="1600" dirty="0"/>
                    </a:p>
                  </a:txBody>
                  <a:tcPr>
                    <a:lnL w="9525" cap="flat" cmpd="sng" algn="ctr">
                      <a:noFill/>
                      <a:prstDash val="solid"/>
                    </a:lnL>
                    <a:lnR w="9525" cap="flat" cmpd="sng" algn="ctr">
                      <a:noFill/>
                      <a:prstDash val="solid"/>
                    </a:lnR>
                    <a:lnT w="25400" cap="flat" cmpd="sng" algn="ctr">
                      <a:noFill/>
                      <a:prstDash val="solid"/>
                    </a:lnT>
                    <a:lnB w="9525" cap="flat" cmpd="sng" algn="ctr">
                      <a:noFill/>
                      <a:prstDash val="solid"/>
                    </a:lnB>
                    <a:lnTlToBr w="12700" cmpd="sng">
                      <a:noFill/>
                      <a:prstDash val="solid"/>
                    </a:lnTlToBr>
                    <a:lnBlToTr w="12700" cmpd="sng">
                      <a:noFill/>
                      <a:prstDash val="solid"/>
                    </a:lnBlToTr>
                    <a:solidFill>
                      <a:srgbClr val="D5EAE4"/>
                    </a:solidFill>
                  </a:tcPr>
                </a:tc>
                <a:tc>
                  <a:txBody>
                    <a:bodyPr/>
                    <a:lstStyle/>
                    <a:p>
                      <a:r>
                        <a:rPr lang="en-IN" sz="1600" b="0" i="0" u="none" strike="noStrike" cap="none" baseline="0" dirty="0">
                          <a:solidFill>
                            <a:schemeClr val="dk1"/>
                          </a:solidFill>
                          <a:latin typeface="+mn-lt"/>
                          <a:ea typeface="+mn-ea"/>
                          <a:cs typeface="+mn-cs"/>
                          <a:sym typeface="Arial"/>
                        </a:rPr>
                        <a:t>Clathrin, </a:t>
                      </a:r>
                      <a:r>
                        <a:rPr lang="en-IN" sz="1600" b="0" i="0" u="none" strike="noStrike" cap="none" spc="-200" baseline="0" dirty="0">
                          <a:solidFill>
                            <a:schemeClr val="dk1"/>
                          </a:solidFill>
                          <a:latin typeface="+mn-lt"/>
                          <a:ea typeface="+mn-ea"/>
                          <a:cs typeface="+mn-cs"/>
                          <a:sym typeface="Arial"/>
                        </a:rPr>
                        <a:t>A </a:t>
                      </a:r>
                      <a:r>
                        <a:rPr lang="en-IN" sz="1600" b="0" i="0" u="none" strike="noStrike" cap="none" baseline="0" dirty="0">
                          <a:solidFill>
                            <a:schemeClr val="dk1"/>
                          </a:solidFill>
                          <a:latin typeface="+mn-lt"/>
                          <a:ea typeface="+mn-ea"/>
                          <a:cs typeface="+mn-cs"/>
                          <a:sym typeface="Arial"/>
                        </a:rPr>
                        <a:t>P1, </a:t>
                      </a:r>
                      <a:r>
                        <a:rPr lang="en-IN" sz="1600" b="0" i="0" u="none" strike="noStrike" cap="none" spc="-200" baseline="0" dirty="0">
                          <a:solidFill>
                            <a:schemeClr val="dk1"/>
                          </a:solidFill>
                          <a:latin typeface="+mn-lt"/>
                          <a:ea typeface="+mn-ea"/>
                          <a:cs typeface="+mn-cs"/>
                          <a:sym typeface="Arial"/>
                        </a:rPr>
                        <a:t>A R </a:t>
                      </a:r>
                      <a:r>
                        <a:rPr lang="en-IN" sz="1600" b="0" i="0" u="none" strike="noStrike" cap="none" baseline="0" dirty="0">
                          <a:solidFill>
                            <a:schemeClr val="dk1"/>
                          </a:solidFill>
                          <a:latin typeface="+mn-lt"/>
                          <a:ea typeface="+mn-ea"/>
                          <a:cs typeface="+mn-cs"/>
                          <a:sym typeface="Arial"/>
                        </a:rPr>
                        <a:t>F</a:t>
                      </a:r>
                      <a:endParaRPr lang="en-IN" sz="1600" dirty="0"/>
                    </a:p>
                  </a:txBody>
                  <a:tcPr>
                    <a:lnL w="9525" cap="flat" cmpd="sng" algn="ctr">
                      <a:noFill/>
                      <a:prstDash val="solid"/>
                    </a:lnL>
                    <a:lnR w="9525" cap="flat" cmpd="sng" algn="ctr">
                      <a:noFill/>
                      <a:prstDash val="solid"/>
                    </a:lnR>
                    <a:lnT w="25400" cap="flat" cmpd="sng" algn="ctr">
                      <a:noFill/>
                      <a:prstDash val="solid"/>
                    </a:lnT>
                    <a:lnB w="9525" cap="flat" cmpd="sng" algn="ctr">
                      <a:noFill/>
                      <a:prstDash val="solid"/>
                    </a:lnB>
                    <a:lnTlToBr w="12700" cmpd="sng">
                      <a:noFill/>
                      <a:prstDash val="solid"/>
                    </a:lnTlToBr>
                    <a:lnBlToTr w="12700" cmpd="sng">
                      <a:noFill/>
                      <a:prstDash val="solid"/>
                    </a:lnBlToTr>
                    <a:solidFill>
                      <a:srgbClr val="D5EAE4"/>
                    </a:solidFill>
                  </a:tcPr>
                </a:tc>
                <a:tc>
                  <a:txBody>
                    <a:bodyPr/>
                    <a:lstStyle/>
                    <a:p>
                      <a:r>
                        <a:rPr lang="en-IN" sz="1600" b="0" i="0" u="none" strike="noStrike" cap="none" spc="-200" baseline="0" dirty="0">
                          <a:solidFill>
                            <a:schemeClr val="dk1"/>
                          </a:solidFill>
                          <a:latin typeface="+mn-lt"/>
                          <a:ea typeface="+mn-ea"/>
                          <a:cs typeface="+mn-cs"/>
                          <a:sym typeface="Arial"/>
                        </a:rPr>
                        <a:t>T G </a:t>
                      </a:r>
                      <a:r>
                        <a:rPr lang="en-IN" sz="1600" b="0" i="0" u="none" strike="noStrike" cap="none" baseline="0" dirty="0">
                          <a:solidFill>
                            <a:schemeClr val="dk1"/>
                          </a:solidFill>
                          <a:latin typeface="+mn-lt"/>
                          <a:ea typeface="+mn-ea"/>
                          <a:cs typeface="+mn-cs"/>
                          <a:sym typeface="Arial"/>
                        </a:rPr>
                        <a:t>N</a:t>
                      </a:r>
                      <a:endParaRPr lang="en-IN" sz="1600" dirty="0"/>
                    </a:p>
                  </a:txBody>
                  <a:tcPr>
                    <a:lnL w="9525" cap="flat" cmpd="sng" algn="ctr">
                      <a:noFill/>
                      <a:prstDash val="solid"/>
                    </a:lnL>
                    <a:lnR w="9525" cap="flat" cmpd="sng" algn="ctr">
                      <a:noFill/>
                      <a:prstDash val="solid"/>
                    </a:lnR>
                    <a:lnT w="25400" cap="flat" cmpd="sng" algn="ctr">
                      <a:noFill/>
                      <a:prstDash val="solid"/>
                    </a:lnT>
                    <a:lnB w="9525" cap="flat" cmpd="sng" algn="ctr">
                      <a:noFill/>
                      <a:prstDash val="solid"/>
                    </a:lnB>
                    <a:lnTlToBr w="12700" cmpd="sng">
                      <a:noFill/>
                      <a:prstDash val="solid"/>
                    </a:lnTlToBr>
                    <a:lnBlToTr w="12700" cmpd="sng">
                      <a:noFill/>
                      <a:prstDash val="solid"/>
                    </a:lnBlToTr>
                    <a:solidFill>
                      <a:srgbClr val="D5EAE4"/>
                    </a:solidFill>
                  </a:tcPr>
                </a:tc>
                <a:tc>
                  <a:txBody>
                    <a:bodyPr/>
                    <a:lstStyle/>
                    <a:p>
                      <a:r>
                        <a:rPr lang="en-IN" sz="1600" b="0" i="0" u="none" strike="noStrike" cap="none" baseline="0" dirty="0">
                          <a:solidFill>
                            <a:schemeClr val="dk1"/>
                          </a:solidFill>
                          <a:latin typeface="+mn-lt"/>
                          <a:ea typeface="+mn-ea"/>
                          <a:cs typeface="+mn-cs"/>
                          <a:sym typeface="Arial"/>
                        </a:rPr>
                        <a:t>Endosomes</a:t>
                      </a:r>
                      <a:endParaRPr lang="en-IN" sz="1600" dirty="0"/>
                    </a:p>
                  </a:txBody>
                  <a:tcPr>
                    <a:lnL w="9525" cap="flat" cmpd="sng" algn="ctr">
                      <a:noFill/>
                      <a:prstDash val="solid"/>
                    </a:lnL>
                    <a:lnR w="9525" cap="flat" cmpd="sng" algn="ctr">
                      <a:noFill/>
                      <a:prstDash val="solid"/>
                    </a:lnR>
                    <a:lnT w="25400" cap="flat" cmpd="sng" algn="ctr">
                      <a:noFill/>
                      <a:prstDash val="solid"/>
                    </a:lnT>
                    <a:lnB w="9525" cap="flat" cmpd="sng" algn="ctr">
                      <a:noFill/>
                      <a:prstDash val="solid"/>
                    </a:lnB>
                    <a:lnTlToBr w="12700" cmpd="sng">
                      <a:noFill/>
                      <a:prstDash val="solid"/>
                    </a:lnTlToBr>
                    <a:lnBlToTr w="12700" cmpd="sng">
                      <a:noFill/>
                      <a:prstDash val="solid"/>
                    </a:lnBlToTr>
                    <a:solidFill>
                      <a:srgbClr val="D5EAE4"/>
                    </a:solidFill>
                  </a:tcPr>
                </a:tc>
                <a:extLst>
                  <a:ext uri="{0D108BD9-81ED-4DB2-BD59-A6C34878D82A}">
                    <a16:rowId xmlns:a16="http://schemas.microsoft.com/office/drawing/2014/main" xmlns="" val="1530156084"/>
                  </a:ext>
                </a:extLst>
              </a:tr>
              <a:tr h="370840">
                <a:tc>
                  <a:txBody>
                    <a:bodyPr/>
                    <a:lstStyle/>
                    <a:p>
                      <a:r>
                        <a:rPr lang="en-IN" sz="1600" dirty="0"/>
                        <a:t>Clathrin</a:t>
                      </a:r>
                    </a:p>
                  </a:txBody>
                  <a:tcP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rgbClr val="D5EAE4"/>
                    </a:solidFill>
                  </a:tcPr>
                </a:tc>
                <a:tc>
                  <a:txBody>
                    <a:bodyPr/>
                    <a:lstStyle/>
                    <a:p>
                      <a:r>
                        <a:rPr lang="en-IN" sz="1600" b="0" i="0" u="none" strike="noStrike" cap="none" baseline="0" dirty="0">
                          <a:solidFill>
                            <a:schemeClr val="dk1"/>
                          </a:solidFill>
                          <a:latin typeface="+mn-lt"/>
                          <a:ea typeface="+mn-ea"/>
                          <a:cs typeface="+mn-cs"/>
                          <a:sym typeface="Arial"/>
                        </a:rPr>
                        <a:t>Clathrin, </a:t>
                      </a:r>
                      <a:r>
                        <a:rPr lang="en-IN" sz="1600" b="0" i="0" u="none" strike="noStrike" cap="none" spc="-200" baseline="0" dirty="0">
                          <a:solidFill>
                            <a:schemeClr val="dk1"/>
                          </a:solidFill>
                          <a:latin typeface="+mn-lt"/>
                          <a:ea typeface="+mn-ea"/>
                          <a:cs typeface="+mn-cs"/>
                          <a:sym typeface="Arial"/>
                        </a:rPr>
                        <a:t>A </a:t>
                      </a:r>
                      <a:r>
                        <a:rPr lang="en-IN" sz="1600" b="0" i="0" u="none" strike="noStrike" cap="none" baseline="0" dirty="0">
                          <a:solidFill>
                            <a:schemeClr val="dk1"/>
                          </a:solidFill>
                          <a:latin typeface="+mn-lt"/>
                          <a:ea typeface="+mn-ea"/>
                          <a:cs typeface="+mn-cs"/>
                          <a:sym typeface="Arial"/>
                        </a:rPr>
                        <a:t>P2</a:t>
                      </a:r>
                      <a:endParaRPr lang="en-IN" sz="1600" dirty="0"/>
                    </a:p>
                  </a:txBody>
                  <a:tcP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rgbClr val="D5EAE4"/>
                    </a:solidFill>
                  </a:tcPr>
                </a:tc>
                <a:tc>
                  <a:txBody>
                    <a:bodyPr/>
                    <a:lstStyle/>
                    <a:p>
                      <a:r>
                        <a:rPr lang="en-IN" sz="1600" b="0" i="0" u="none" strike="noStrike" cap="none" baseline="0" dirty="0">
                          <a:solidFill>
                            <a:schemeClr val="dk1"/>
                          </a:solidFill>
                          <a:latin typeface="+mn-lt"/>
                          <a:ea typeface="+mn-ea"/>
                          <a:cs typeface="+mn-cs"/>
                          <a:sym typeface="Arial"/>
                        </a:rPr>
                        <a:t>Plasma membrane</a:t>
                      </a:r>
                      <a:endParaRPr lang="en-IN" sz="1600" dirty="0"/>
                    </a:p>
                  </a:txBody>
                  <a:tcP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rgbClr val="D5EAE4"/>
                    </a:solidFill>
                  </a:tcPr>
                </a:tc>
                <a:tc>
                  <a:txBody>
                    <a:bodyPr/>
                    <a:lstStyle/>
                    <a:p>
                      <a:r>
                        <a:rPr lang="en-IN" sz="1600" b="0" i="0" u="none" strike="noStrike" cap="none" baseline="0" dirty="0">
                          <a:solidFill>
                            <a:schemeClr val="dk1"/>
                          </a:solidFill>
                          <a:latin typeface="+mn-lt"/>
                          <a:ea typeface="+mn-ea"/>
                          <a:cs typeface="+mn-cs"/>
                          <a:sym typeface="Arial"/>
                        </a:rPr>
                        <a:t>Endosomes</a:t>
                      </a:r>
                      <a:endParaRPr lang="en-IN" sz="1600" dirty="0"/>
                    </a:p>
                  </a:txBody>
                  <a:tcP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rgbClr val="D5EAE4"/>
                    </a:solidFill>
                  </a:tcPr>
                </a:tc>
                <a:extLst>
                  <a:ext uri="{0D108BD9-81ED-4DB2-BD59-A6C34878D82A}">
                    <a16:rowId xmlns:a16="http://schemas.microsoft.com/office/drawing/2014/main" xmlns="" val="1266761461"/>
                  </a:ext>
                </a:extLst>
              </a:tr>
              <a:tr h="370840">
                <a:tc>
                  <a:txBody>
                    <a:bodyPr/>
                    <a:lstStyle/>
                    <a:p>
                      <a:r>
                        <a:rPr lang="en-IN" sz="1600" b="0" i="0" u="none" strike="noStrike" cap="none" spc="-300" baseline="0" dirty="0">
                          <a:solidFill>
                            <a:schemeClr val="dk1"/>
                          </a:solidFill>
                          <a:latin typeface="+mn-lt"/>
                          <a:ea typeface="+mn-ea"/>
                          <a:cs typeface="+mn-cs"/>
                          <a:sym typeface="Arial"/>
                        </a:rPr>
                        <a:t>C O P </a:t>
                      </a:r>
                      <a:r>
                        <a:rPr lang="en-IN" sz="1600" b="0" i="0" u="none" strike="noStrike" cap="none" baseline="0" dirty="0">
                          <a:solidFill>
                            <a:schemeClr val="dk1"/>
                          </a:solidFill>
                          <a:latin typeface="+mn-lt"/>
                          <a:ea typeface="+mn-ea"/>
                          <a:cs typeface="+mn-cs"/>
                          <a:sym typeface="Arial"/>
                        </a:rPr>
                        <a:t>I</a:t>
                      </a:r>
                      <a:endParaRPr lang="en-IN" sz="1600" dirty="0"/>
                    </a:p>
                  </a:txBody>
                  <a:tcP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rgbClr val="D5EAE4"/>
                    </a:solidFill>
                  </a:tcPr>
                </a:tc>
                <a:tc>
                  <a:txBody>
                    <a:bodyPr/>
                    <a:lstStyle/>
                    <a:p>
                      <a:r>
                        <a:rPr lang="en-IN" sz="1600" b="0" i="0" u="none" strike="noStrike" cap="none" spc="-200" baseline="0" dirty="0">
                          <a:solidFill>
                            <a:schemeClr val="dk1"/>
                          </a:solidFill>
                          <a:latin typeface="+mn-lt"/>
                          <a:ea typeface="+mn-ea"/>
                          <a:cs typeface="+mn-cs"/>
                          <a:sym typeface="Arial"/>
                        </a:rPr>
                        <a:t>C O P </a:t>
                      </a:r>
                      <a:r>
                        <a:rPr lang="en-IN" sz="1600" b="0" i="0" u="none" strike="noStrike" cap="none" baseline="0" dirty="0">
                          <a:solidFill>
                            <a:schemeClr val="dk1"/>
                          </a:solidFill>
                          <a:latin typeface="+mn-lt"/>
                          <a:ea typeface="+mn-ea"/>
                          <a:cs typeface="+mn-cs"/>
                          <a:sym typeface="Arial"/>
                        </a:rPr>
                        <a:t>I, </a:t>
                      </a:r>
                      <a:r>
                        <a:rPr lang="en-IN" sz="1600" b="0" i="0" u="none" strike="noStrike" cap="none" spc="-200" baseline="0" dirty="0">
                          <a:solidFill>
                            <a:schemeClr val="dk1"/>
                          </a:solidFill>
                          <a:latin typeface="+mn-lt"/>
                          <a:ea typeface="+mn-ea"/>
                          <a:cs typeface="+mn-cs"/>
                          <a:sym typeface="Arial"/>
                        </a:rPr>
                        <a:t>A R </a:t>
                      </a:r>
                      <a:r>
                        <a:rPr lang="en-IN" sz="1600" b="0" i="0" u="none" strike="noStrike" cap="none" baseline="0" dirty="0">
                          <a:solidFill>
                            <a:schemeClr val="dk1"/>
                          </a:solidFill>
                          <a:latin typeface="+mn-lt"/>
                          <a:ea typeface="+mn-ea"/>
                          <a:cs typeface="+mn-cs"/>
                          <a:sym typeface="Arial"/>
                        </a:rPr>
                        <a:t>F</a:t>
                      </a:r>
                      <a:endParaRPr lang="en-IN" sz="1600" dirty="0"/>
                    </a:p>
                  </a:txBody>
                  <a:tcP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rgbClr val="D5EAE4"/>
                    </a:solidFill>
                  </a:tcPr>
                </a:tc>
                <a:tc>
                  <a:txBody>
                    <a:bodyPr/>
                    <a:lstStyle/>
                    <a:p>
                      <a:r>
                        <a:rPr lang="en-IN" sz="1600" b="0" i="0" u="none" strike="noStrike" cap="none" baseline="0" dirty="0">
                          <a:solidFill>
                            <a:schemeClr val="dk1"/>
                          </a:solidFill>
                          <a:latin typeface="+mn-lt"/>
                          <a:ea typeface="+mn-ea"/>
                          <a:cs typeface="+mn-cs"/>
                          <a:sym typeface="Arial"/>
                        </a:rPr>
                        <a:t>Golgi apparatus</a:t>
                      </a:r>
                      <a:endParaRPr lang="en-IN" sz="1600" dirty="0"/>
                    </a:p>
                  </a:txBody>
                  <a:tcP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rgbClr val="D5EAE4"/>
                    </a:solidFill>
                  </a:tcPr>
                </a:tc>
                <a:tc>
                  <a:txBody>
                    <a:bodyPr/>
                    <a:lstStyle/>
                    <a:p>
                      <a:r>
                        <a:rPr lang="en-IN" sz="1600" b="0" i="0" u="none" strike="noStrike" cap="none" spc="-200" baseline="0" dirty="0">
                          <a:solidFill>
                            <a:schemeClr val="dk1"/>
                          </a:solidFill>
                          <a:latin typeface="+mn-lt"/>
                          <a:ea typeface="+mn-ea"/>
                          <a:cs typeface="+mn-cs"/>
                          <a:sym typeface="Arial"/>
                        </a:rPr>
                        <a:t>E </a:t>
                      </a:r>
                      <a:r>
                        <a:rPr lang="en-IN" sz="1600" b="0" i="0" u="none" strike="noStrike" cap="none" baseline="0" dirty="0">
                          <a:solidFill>
                            <a:schemeClr val="dk1"/>
                          </a:solidFill>
                          <a:latin typeface="+mn-lt"/>
                          <a:ea typeface="+mn-ea"/>
                          <a:cs typeface="+mn-cs"/>
                          <a:sym typeface="Arial"/>
                        </a:rPr>
                        <a:t>R or Golgi apparatus</a:t>
                      </a:r>
                      <a:endParaRPr lang="en-IN" sz="1600" dirty="0"/>
                    </a:p>
                  </a:txBody>
                  <a:tcP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rgbClr val="D5EAE4"/>
                    </a:solidFill>
                  </a:tcPr>
                </a:tc>
                <a:extLst>
                  <a:ext uri="{0D108BD9-81ED-4DB2-BD59-A6C34878D82A}">
                    <a16:rowId xmlns:a16="http://schemas.microsoft.com/office/drawing/2014/main" xmlns="" val="3567506474"/>
                  </a:ext>
                </a:extLst>
              </a:tr>
              <a:tr h="370840">
                <a:tc>
                  <a:txBody>
                    <a:bodyPr/>
                    <a:lstStyle/>
                    <a:p>
                      <a:r>
                        <a:rPr lang="en-IN" sz="1600" b="0" i="0" u="none" strike="noStrike" cap="none" spc="-300" baseline="0" dirty="0">
                          <a:solidFill>
                            <a:schemeClr val="dk1"/>
                          </a:solidFill>
                          <a:latin typeface="+mn-lt"/>
                          <a:ea typeface="+mn-ea"/>
                          <a:cs typeface="+mn-cs"/>
                          <a:sym typeface="Arial"/>
                        </a:rPr>
                        <a:t>C O P I </a:t>
                      </a:r>
                      <a:r>
                        <a:rPr lang="en-IN" sz="1600" b="0" i="0" u="none" strike="noStrike" cap="none" baseline="0" dirty="0">
                          <a:solidFill>
                            <a:schemeClr val="dk1"/>
                          </a:solidFill>
                          <a:latin typeface="+mn-lt"/>
                          <a:ea typeface="+mn-ea"/>
                          <a:cs typeface="+mn-cs"/>
                          <a:sym typeface="Arial"/>
                        </a:rPr>
                        <a:t>I</a:t>
                      </a:r>
                      <a:endParaRPr lang="en-IN" sz="1600" dirty="0"/>
                    </a:p>
                  </a:txBody>
                  <a:tcP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rgbClr val="D5EAE4"/>
                    </a:solidFill>
                  </a:tcPr>
                </a:tc>
                <a:tc>
                  <a:txBody>
                    <a:bodyPr/>
                    <a:lstStyle/>
                    <a:p>
                      <a:r>
                        <a:rPr lang="en-IN" sz="1600" b="0" i="0" u="none" strike="noStrike" cap="none" spc="-200" baseline="0" dirty="0">
                          <a:solidFill>
                            <a:schemeClr val="dk1"/>
                          </a:solidFill>
                          <a:latin typeface="+mn-lt"/>
                          <a:ea typeface="+mn-ea"/>
                          <a:cs typeface="+mn-cs"/>
                          <a:sym typeface="Arial"/>
                        </a:rPr>
                        <a:t>C O P I </a:t>
                      </a:r>
                      <a:r>
                        <a:rPr lang="en-IN" sz="1600" b="0" i="0" u="none" strike="noStrike" cap="none" baseline="0" dirty="0">
                          <a:solidFill>
                            <a:schemeClr val="dk1"/>
                          </a:solidFill>
                          <a:latin typeface="+mn-lt"/>
                          <a:ea typeface="+mn-ea"/>
                          <a:cs typeface="+mn-cs"/>
                          <a:sym typeface="Arial"/>
                        </a:rPr>
                        <a:t>I (Sec13/31 and Sec23/24), Sar1</a:t>
                      </a:r>
                      <a:endParaRPr lang="en-IN" sz="1600" dirty="0"/>
                    </a:p>
                  </a:txBody>
                  <a:tcP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rgbClr val="D5EAE4"/>
                    </a:solidFill>
                  </a:tcPr>
                </a:tc>
                <a:tc>
                  <a:txBody>
                    <a:bodyPr/>
                    <a:lstStyle/>
                    <a:p>
                      <a:r>
                        <a:rPr lang="en-IN" sz="1600" b="0" i="0" u="none" strike="noStrike" cap="none" spc="-200" baseline="0" dirty="0">
                          <a:solidFill>
                            <a:schemeClr val="dk1"/>
                          </a:solidFill>
                          <a:latin typeface="+mn-lt"/>
                          <a:ea typeface="+mn-ea"/>
                          <a:cs typeface="+mn-cs"/>
                          <a:sym typeface="Arial"/>
                        </a:rPr>
                        <a:t>E </a:t>
                      </a:r>
                      <a:r>
                        <a:rPr lang="en-IN" sz="1600" b="0" i="0" u="none" strike="noStrike" cap="none" baseline="0" dirty="0">
                          <a:solidFill>
                            <a:schemeClr val="dk1"/>
                          </a:solidFill>
                          <a:latin typeface="+mn-lt"/>
                          <a:ea typeface="+mn-ea"/>
                          <a:cs typeface="+mn-cs"/>
                          <a:sym typeface="Arial"/>
                        </a:rPr>
                        <a:t>R</a:t>
                      </a:r>
                      <a:endParaRPr lang="en-IN" sz="1600" dirty="0"/>
                    </a:p>
                  </a:txBody>
                  <a:tcP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rgbClr val="D5EAE4"/>
                    </a:solidFill>
                  </a:tcPr>
                </a:tc>
                <a:tc>
                  <a:txBody>
                    <a:bodyPr/>
                    <a:lstStyle/>
                    <a:p>
                      <a:r>
                        <a:rPr lang="en-IN" sz="1600" b="0" i="0" u="none" strike="noStrike" cap="none" baseline="0" dirty="0">
                          <a:solidFill>
                            <a:schemeClr val="dk1"/>
                          </a:solidFill>
                          <a:latin typeface="+mn-lt"/>
                          <a:ea typeface="+mn-ea"/>
                          <a:cs typeface="+mn-cs"/>
                          <a:sym typeface="Arial"/>
                        </a:rPr>
                        <a:t>Golgi apparatus</a:t>
                      </a:r>
                      <a:endParaRPr lang="en-IN" sz="1600" dirty="0"/>
                    </a:p>
                  </a:txBody>
                  <a:tcP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rgbClr val="D5EAE4"/>
                    </a:solidFill>
                  </a:tcPr>
                </a:tc>
                <a:extLst>
                  <a:ext uri="{0D108BD9-81ED-4DB2-BD59-A6C34878D82A}">
                    <a16:rowId xmlns:a16="http://schemas.microsoft.com/office/drawing/2014/main" xmlns="" val="4263162808"/>
                  </a:ext>
                </a:extLst>
              </a:tr>
              <a:tr h="370840">
                <a:tc>
                  <a:txBody>
                    <a:bodyPr/>
                    <a:lstStyle/>
                    <a:p>
                      <a:r>
                        <a:rPr lang="en-IN" sz="1600" b="0" i="0" u="none" strike="noStrike" cap="none" baseline="0" dirty="0">
                          <a:solidFill>
                            <a:schemeClr val="dk1"/>
                          </a:solidFill>
                          <a:latin typeface="+mn-lt"/>
                          <a:ea typeface="+mn-ea"/>
                          <a:cs typeface="+mn-cs"/>
                          <a:sym typeface="Arial"/>
                        </a:rPr>
                        <a:t>Caveolin</a:t>
                      </a:r>
                      <a:endParaRPr lang="en-IN" sz="1600" dirty="0"/>
                    </a:p>
                  </a:txBody>
                  <a:tcP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rgbClr val="D5EAE4"/>
                    </a:solidFill>
                  </a:tcPr>
                </a:tc>
                <a:tc>
                  <a:txBody>
                    <a:bodyPr/>
                    <a:lstStyle/>
                    <a:p>
                      <a:r>
                        <a:rPr lang="en-IN" sz="1600" b="0" i="0" u="none" strike="noStrike" cap="none" baseline="0" dirty="0">
                          <a:solidFill>
                            <a:schemeClr val="dk1"/>
                          </a:solidFill>
                          <a:latin typeface="+mn-lt"/>
                          <a:ea typeface="+mn-ea"/>
                          <a:cs typeface="+mn-cs"/>
                          <a:sym typeface="Arial"/>
                        </a:rPr>
                        <a:t>Caveolin</a:t>
                      </a:r>
                      <a:endParaRPr lang="en-IN" sz="1600" dirty="0"/>
                    </a:p>
                  </a:txBody>
                  <a:tcP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rgbClr val="D5EAE4"/>
                    </a:solidFill>
                  </a:tcPr>
                </a:tc>
                <a:tc>
                  <a:txBody>
                    <a:bodyPr/>
                    <a:lstStyle/>
                    <a:p>
                      <a:r>
                        <a:rPr lang="en-IN" sz="1600" b="0" i="0" u="none" strike="noStrike" cap="none" baseline="0" dirty="0">
                          <a:solidFill>
                            <a:schemeClr val="dk1"/>
                          </a:solidFill>
                          <a:latin typeface="+mn-lt"/>
                          <a:ea typeface="+mn-ea"/>
                          <a:cs typeface="+mn-cs"/>
                          <a:sym typeface="Arial"/>
                        </a:rPr>
                        <a:t>Plasma membrane</a:t>
                      </a:r>
                      <a:endParaRPr lang="en-IN" sz="1600" dirty="0"/>
                    </a:p>
                  </a:txBody>
                  <a:tcP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rgbClr val="D5EAE4"/>
                    </a:solidFill>
                  </a:tcPr>
                </a:tc>
                <a:tc>
                  <a:txBody>
                    <a:bodyPr/>
                    <a:lstStyle/>
                    <a:p>
                      <a:r>
                        <a:rPr lang="en-IN" sz="1600" b="0" i="0" u="none" strike="noStrike" cap="none" spc="-200" baseline="0" dirty="0">
                          <a:solidFill>
                            <a:schemeClr val="dk1"/>
                          </a:solidFill>
                          <a:latin typeface="+mn-lt"/>
                          <a:ea typeface="+mn-ea"/>
                          <a:cs typeface="+mn-cs"/>
                          <a:sym typeface="Arial"/>
                        </a:rPr>
                        <a:t>E </a:t>
                      </a:r>
                      <a:r>
                        <a:rPr lang="en-IN" sz="1600" b="0" i="0" u="none" strike="noStrike" cap="none" baseline="0" dirty="0">
                          <a:solidFill>
                            <a:schemeClr val="dk1"/>
                          </a:solidFill>
                          <a:latin typeface="+mn-lt"/>
                          <a:ea typeface="+mn-ea"/>
                          <a:cs typeface="+mn-cs"/>
                          <a:sym typeface="Arial"/>
                        </a:rPr>
                        <a:t>R?</a:t>
                      </a:r>
                      <a:endParaRPr lang="en-IN" sz="1600" dirty="0"/>
                    </a:p>
                  </a:txBody>
                  <a:tcP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rgbClr val="D5EAE4"/>
                    </a:solidFill>
                  </a:tcPr>
                </a:tc>
                <a:extLst>
                  <a:ext uri="{0D108BD9-81ED-4DB2-BD59-A6C34878D82A}">
                    <a16:rowId xmlns:a16="http://schemas.microsoft.com/office/drawing/2014/main" xmlns="" val="2755716753"/>
                  </a:ext>
                </a:extLst>
              </a:tr>
            </a:tbl>
          </a:graphicData>
        </a:graphic>
      </p:graphicFrame>
    </p:spTree>
    <p:extLst>
      <p:ext uri="{BB962C8B-B14F-4D97-AF65-F5344CB8AC3E}">
        <p14:creationId xmlns:p14="http://schemas.microsoft.com/office/powerpoint/2010/main" val="1135031511"/>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84275"/>
            <a:ext cx="8263784" cy="553998"/>
          </a:xfrm>
        </p:spPr>
        <p:txBody>
          <a:bodyPr lIns="0" tIns="0" rIns="0" bIns="0" anchor="ctr">
            <a:spAutoFit/>
          </a:bodyPr>
          <a:lstStyle/>
          <a:p>
            <a:r>
              <a:rPr lang="en-US" sz="3600" dirty="0">
                <a:latin typeface="+mj-lt"/>
              </a:rPr>
              <a:t>Caveolae</a:t>
            </a:r>
            <a:endParaRPr lang="en-US" sz="2800" dirty="0">
              <a:latin typeface="+mj-lt"/>
            </a:endParaRP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067565"/>
            <a:ext cx="8263784" cy="2231380"/>
          </a:xfrm>
        </p:spPr>
        <p:txBody>
          <a:bodyPr lIns="0" tIns="0" rIns="0" bIns="0">
            <a:spAutoFit/>
          </a:bodyPr>
          <a:lstStyle/>
          <a:p>
            <a:pPr marL="342900" indent="-342900"/>
            <a:r>
              <a:rPr lang="en-US" sz="2400" dirty="0"/>
              <a:t>A recently discovered coat protein is </a:t>
            </a:r>
            <a:r>
              <a:rPr lang="en-US" sz="2400" i="1" dirty="0">
                <a:solidFill>
                  <a:schemeClr val="tx1"/>
                </a:solidFill>
              </a:rPr>
              <a:t>caveolin</a:t>
            </a:r>
            <a:r>
              <a:rPr lang="en-US" sz="2400" dirty="0">
                <a:solidFill>
                  <a:schemeClr val="tx1"/>
                </a:solidFill>
              </a:rPr>
              <a:t>.</a:t>
            </a:r>
          </a:p>
          <a:p>
            <a:pPr marL="342900" indent="-342900"/>
            <a:r>
              <a:rPr lang="en-US" sz="2400" i="1" dirty="0"/>
              <a:t>Caveolin-coated vesicles</a:t>
            </a:r>
            <a:r>
              <a:rPr lang="en-US" sz="2400" dirty="0"/>
              <a:t> are </a:t>
            </a:r>
            <a:r>
              <a:rPr lang="en-US" sz="2400" b="1" dirty="0"/>
              <a:t>caveolae</a:t>
            </a:r>
            <a:r>
              <a:rPr lang="en-US" sz="2400" dirty="0">
                <a:solidFill>
                  <a:schemeClr val="tx1"/>
                </a:solidFill>
              </a:rPr>
              <a:t>.</a:t>
            </a:r>
            <a:endParaRPr lang="en-US" sz="2400" b="1" dirty="0">
              <a:solidFill>
                <a:schemeClr val="tx1"/>
              </a:solidFill>
            </a:endParaRPr>
          </a:p>
          <a:p>
            <a:pPr marL="342900" indent="-342900"/>
            <a:r>
              <a:rPr lang="en-US" sz="2400" dirty="0"/>
              <a:t>They are a type of lipid raft rich in cholesterol and sphingolipids and may be involved in cholesterol uptake by cells</a:t>
            </a:r>
            <a:r>
              <a:rPr lang="en-US" sz="2400" dirty="0">
                <a:solidFill>
                  <a:schemeClr val="tx1"/>
                </a:solidFill>
              </a:rPr>
              <a:t>.</a:t>
            </a:r>
          </a:p>
        </p:txBody>
      </p:sp>
    </p:spTree>
    <p:extLst>
      <p:ext uri="{BB962C8B-B14F-4D97-AF65-F5344CB8AC3E}">
        <p14:creationId xmlns:p14="http://schemas.microsoft.com/office/powerpoint/2010/main" val="1773977716"/>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75761"/>
            <a:ext cx="8263784" cy="1661993"/>
          </a:xfrm>
        </p:spPr>
        <p:txBody>
          <a:bodyPr lIns="0" tIns="0" rIns="0" bIns="0" anchor="ctr">
            <a:spAutoFit/>
          </a:bodyPr>
          <a:lstStyle/>
          <a:p>
            <a:r>
              <a:rPr lang="en-US" sz="3600" dirty="0">
                <a:latin typeface="+mj-lt"/>
              </a:rPr>
              <a:t>Clathrin-Coated Vesicles Are Surrounded by Lattices Composed of Clathrin and Adaptor Protein</a:t>
            </a:r>
            <a:endParaRPr lang="en-US" sz="2800" dirty="0">
              <a:latin typeface="+mj-lt"/>
            </a:endParaRP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2076334"/>
            <a:ext cx="8147778" cy="2970044"/>
          </a:xfrm>
        </p:spPr>
        <p:txBody>
          <a:bodyPr wrap="square" lIns="0" tIns="0" rIns="0" bIns="0">
            <a:spAutoFit/>
          </a:bodyPr>
          <a:lstStyle/>
          <a:p>
            <a:pPr marL="457200" indent="-457200">
              <a:buFont typeface="Arial" panose="020B0604020202020204" pitchFamily="34" charset="0"/>
              <a:buChar char="•"/>
            </a:pPr>
            <a:r>
              <a:rPr lang="en-US" sz="2400" dirty="0"/>
              <a:t>Clathrin-coated vesicles are surrounded by coats made of two multimeric proteins, </a:t>
            </a:r>
            <a:r>
              <a:rPr lang="en-US" sz="2400" b="1" dirty="0"/>
              <a:t>clathrin</a:t>
            </a:r>
            <a:r>
              <a:rPr lang="en-US" sz="2400" dirty="0"/>
              <a:t> and </a:t>
            </a:r>
            <a:r>
              <a:rPr lang="en-US" sz="2400" i="1" dirty="0"/>
              <a:t>adaptor protein </a:t>
            </a:r>
            <a:r>
              <a:rPr lang="en-US" sz="2400" dirty="0">
                <a:solidFill>
                  <a:schemeClr val="tx1"/>
                </a:solidFill>
              </a:rPr>
              <a:t>(</a:t>
            </a:r>
            <a:r>
              <a:rPr lang="en-US" sz="2400" i="1" spc="-300" dirty="0">
                <a:solidFill>
                  <a:schemeClr val="tx1"/>
                </a:solidFill>
              </a:rPr>
              <a:t>A </a:t>
            </a:r>
            <a:r>
              <a:rPr lang="en-US" sz="2400" i="1" dirty="0">
                <a:solidFill>
                  <a:schemeClr val="tx1"/>
                </a:solidFill>
              </a:rPr>
              <a:t>P</a:t>
            </a:r>
            <a:r>
              <a:rPr lang="en-US" sz="2400" dirty="0">
                <a:solidFill>
                  <a:schemeClr val="tx1"/>
                </a:solidFill>
              </a:rPr>
              <a:t>).</a:t>
            </a:r>
          </a:p>
          <a:p>
            <a:pPr marL="457200" indent="-457200">
              <a:buFont typeface="Arial" panose="020B0604020202020204" pitchFamily="34" charset="0"/>
              <a:buChar char="•"/>
            </a:pPr>
            <a:r>
              <a:rPr lang="en-US" sz="2400" dirty="0"/>
              <a:t>The shape of clathrin proteins and the way they assemble provides the driving force to induce a flat membrane to form a spherical vesicle</a:t>
            </a:r>
            <a:r>
              <a:rPr lang="en-US" sz="2400" dirty="0">
                <a:solidFill>
                  <a:schemeClr val="tx1"/>
                </a:solidFill>
              </a:rPr>
              <a:t>.</a:t>
            </a:r>
          </a:p>
          <a:p>
            <a:pPr marL="457200" indent="-457200">
              <a:buFont typeface="Arial" panose="020B0604020202020204" pitchFamily="34" charset="0"/>
              <a:buChar char="•"/>
            </a:pPr>
            <a:r>
              <a:rPr lang="en-US" sz="2400" dirty="0">
                <a:solidFill>
                  <a:schemeClr val="tx1"/>
                </a:solidFill>
              </a:rPr>
              <a:t>The basic unit of clathrin lattices is a </a:t>
            </a:r>
            <a:r>
              <a:rPr lang="en-US" sz="2400" b="1" dirty="0">
                <a:solidFill>
                  <a:schemeClr val="tx1"/>
                </a:solidFill>
              </a:rPr>
              <a:t>triskelion</a:t>
            </a:r>
            <a:r>
              <a:rPr lang="en-US" sz="2400" dirty="0">
                <a:solidFill>
                  <a:schemeClr val="tx1"/>
                </a:solidFill>
              </a:rPr>
              <a:t>.</a:t>
            </a:r>
            <a:endParaRPr lang="en-US" sz="2400" b="1" dirty="0">
              <a:solidFill>
                <a:schemeClr val="tx1"/>
              </a:solidFill>
            </a:endParaRPr>
          </a:p>
        </p:txBody>
      </p:sp>
    </p:spTree>
    <p:extLst>
      <p:ext uri="{BB962C8B-B14F-4D97-AF65-F5344CB8AC3E}">
        <p14:creationId xmlns:p14="http://schemas.microsoft.com/office/powerpoint/2010/main" val="46933797"/>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30566" y="184009"/>
            <a:ext cx="8277598" cy="553998"/>
          </a:xfrm>
        </p:spPr>
        <p:txBody>
          <a:bodyPr lIns="0" tIns="0" rIns="0" bIns="0" anchor="ctr">
            <a:spAutoFit/>
          </a:bodyPr>
          <a:lstStyle/>
          <a:p>
            <a:r>
              <a:rPr lang="en-US" dirty="0"/>
              <a:t>Clathrin Triskelions </a:t>
            </a:r>
            <a:r>
              <a:rPr lang="en-US" sz="2800" dirty="0"/>
              <a:t>(1 of 3)</a:t>
            </a:r>
            <a:endParaRPr lang="en-US" dirty="0"/>
          </a:p>
        </p:txBody>
      </p:sp>
      <p:sp>
        <p:nvSpPr>
          <p:cNvPr id="6" name="Content Placeholder 5"/>
          <p:cNvSpPr>
            <a:spLocks noGrp="1"/>
          </p:cNvSpPr>
          <p:nvPr>
            <p:ph sz="quarter" idx="15"/>
          </p:nvPr>
        </p:nvSpPr>
        <p:spPr>
          <a:xfrm>
            <a:off x="421688" y="922940"/>
            <a:ext cx="8286476" cy="369332"/>
          </a:xfrm>
        </p:spPr>
        <p:txBody>
          <a:bodyPr wrap="square" lIns="0" tIns="0" rIns="0" bIns="0">
            <a:spAutoFit/>
          </a:bodyPr>
          <a:lstStyle/>
          <a:p>
            <a:pPr marL="0" indent="0">
              <a:buNone/>
            </a:pPr>
            <a:r>
              <a:rPr lang="en-US" sz="2400" b="1" dirty="0"/>
              <a:t>Figure 12.22 </a:t>
            </a:r>
            <a:r>
              <a:rPr lang="en-US" sz="2400" dirty="0"/>
              <a:t>Clathrin Triskelions.</a:t>
            </a:r>
          </a:p>
        </p:txBody>
      </p:sp>
      <p:pic>
        <p:nvPicPr>
          <p:cNvPr id="5" name="Picture Placeholder 4" descr="An electron micrograph of measurement 50 nanometer shows multiple Clathrin triskelions with three distinct arms and a terminal dot in each. An illustration describes the structure and model for assembly of clathrin triskelions.&#10;Long description is available in notes, press F6"/>
          <p:cNvPicPr>
            <a:picLocks noGrp="1" noChangeAspect="1"/>
          </p:cNvPicPr>
          <p:nvPr>
            <p:ph type="pic" sz="quarter" idx="16"/>
          </p:nvPr>
        </p:nvPicPr>
        <p:blipFill rotWithShape="1">
          <a:blip r:embed="rId3">
            <a:extLst>
              <a:ext uri="{28A0092B-C50C-407E-A947-70E740481C1C}">
                <a14:useLocalDpi xmlns:a14="http://schemas.microsoft.com/office/drawing/2010/main" val="0"/>
              </a:ext>
            </a:extLst>
          </a:blip>
          <a:srcRect b="2595"/>
          <a:stretch/>
        </p:blipFill>
        <p:spPr>
          <a:xfrm>
            <a:off x="3046189" y="1672941"/>
            <a:ext cx="2908748" cy="4469587"/>
          </a:xfrm>
        </p:spPr>
      </p:pic>
    </p:spTree>
    <p:extLst>
      <p:ext uri="{BB962C8B-B14F-4D97-AF65-F5344CB8AC3E}">
        <p14:creationId xmlns:p14="http://schemas.microsoft.com/office/powerpoint/2010/main" val="1558277875"/>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30566" y="184009"/>
            <a:ext cx="8277598" cy="553998"/>
          </a:xfrm>
        </p:spPr>
        <p:txBody>
          <a:bodyPr lIns="0" tIns="0" rIns="0" bIns="0" anchor="ctr">
            <a:spAutoFit/>
          </a:bodyPr>
          <a:lstStyle/>
          <a:p>
            <a:r>
              <a:rPr lang="en-US" dirty="0"/>
              <a:t>Clathrin Triskelions </a:t>
            </a:r>
            <a:r>
              <a:rPr lang="en-US" sz="2800" dirty="0"/>
              <a:t>(2 of 3)</a:t>
            </a:r>
            <a:endParaRPr lang="en-US" dirty="0"/>
          </a:p>
        </p:txBody>
      </p:sp>
      <p:sp>
        <p:nvSpPr>
          <p:cNvPr id="6" name="Content Placeholder 5"/>
          <p:cNvSpPr>
            <a:spLocks noGrp="1"/>
          </p:cNvSpPr>
          <p:nvPr>
            <p:ph sz="quarter" idx="15"/>
          </p:nvPr>
        </p:nvSpPr>
        <p:spPr>
          <a:xfrm>
            <a:off x="421688" y="922940"/>
            <a:ext cx="8286476" cy="369332"/>
          </a:xfrm>
        </p:spPr>
        <p:txBody>
          <a:bodyPr wrap="square" lIns="0" tIns="0" rIns="0" bIns="0">
            <a:spAutoFit/>
          </a:bodyPr>
          <a:lstStyle/>
          <a:p>
            <a:pPr marL="0" indent="0">
              <a:buNone/>
            </a:pPr>
            <a:r>
              <a:rPr lang="en-US" sz="2400" b="1" dirty="0"/>
              <a:t>Figure 12.22 </a:t>
            </a:r>
            <a:r>
              <a:rPr lang="en-US" sz="2400" dirty="0"/>
              <a:t>Clathrin Triskelions.</a:t>
            </a:r>
          </a:p>
        </p:txBody>
      </p:sp>
      <p:pic>
        <p:nvPicPr>
          <p:cNvPr id="4" name="Picture Placeholder 3" descr="An electron micrograph of measurement 50 nanometer shows multiple Clathrin triskelions with three distinct arms and a terminal dot in each. An illustration describes the structure and model for assembly of clathrin triskelions.&#10;Long description is available in notes, press F6"/>
          <p:cNvPicPr>
            <a:picLocks noGrp="1" noChangeAspect="1"/>
          </p:cNvPicPr>
          <p:nvPr>
            <p:ph type="pic" sz="quarter" idx="16"/>
          </p:nvPr>
        </p:nvPicPr>
        <p:blipFill rotWithShape="1">
          <a:blip r:embed="rId3">
            <a:extLst>
              <a:ext uri="{28A0092B-C50C-407E-A947-70E740481C1C}">
                <a14:useLocalDpi xmlns:a14="http://schemas.microsoft.com/office/drawing/2010/main" val="0"/>
              </a:ext>
            </a:extLst>
          </a:blip>
          <a:srcRect b="3761"/>
          <a:stretch/>
        </p:blipFill>
        <p:spPr>
          <a:xfrm>
            <a:off x="2382528" y="1701178"/>
            <a:ext cx="4378945" cy="4488703"/>
          </a:xfrm>
        </p:spPr>
      </p:pic>
    </p:spTree>
    <p:extLst>
      <p:ext uri="{BB962C8B-B14F-4D97-AF65-F5344CB8AC3E}">
        <p14:creationId xmlns:p14="http://schemas.microsoft.com/office/powerpoint/2010/main" val="4287388962"/>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30566" y="184009"/>
            <a:ext cx="8277598" cy="553998"/>
          </a:xfrm>
        </p:spPr>
        <p:txBody>
          <a:bodyPr lIns="0" tIns="0" rIns="0" bIns="0" anchor="ctr">
            <a:spAutoFit/>
          </a:bodyPr>
          <a:lstStyle/>
          <a:p>
            <a:r>
              <a:rPr lang="en-US" dirty="0"/>
              <a:t>Clathrin Triskelions </a:t>
            </a:r>
            <a:r>
              <a:rPr lang="en-US" sz="2800" dirty="0"/>
              <a:t>(3 of 3)</a:t>
            </a:r>
            <a:endParaRPr lang="en-US" dirty="0"/>
          </a:p>
        </p:txBody>
      </p:sp>
      <p:sp>
        <p:nvSpPr>
          <p:cNvPr id="6" name="Content Placeholder 5"/>
          <p:cNvSpPr>
            <a:spLocks noGrp="1"/>
          </p:cNvSpPr>
          <p:nvPr>
            <p:ph sz="quarter" idx="15"/>
          </p:nvPr>
        </p:nvSpPr>
        <p:spPr>
          <a:xfrm>
            <a:off x="421688" y="922940"/>
            <a:ext cx="8286476" cy="369332"/>
          </a:xfrm>
        </p:spPr>
        <p:txBody>
          <a:bodyPr wrap="square" lIns="0" tIns="0" rIns="0" bIns="0">
            <a:spAutoFit/>
          </a:bodyPr>
          <a:lstStyle/>
          <a:p>
            <a:pPr marL="0" indent="0">
              <a:buNone/>
            </a:pPr>
            <a:r>
              <a:rPr lang="en-US" sz="2400" b="1" dirty="0"/>
              <a:t>Figure 12.22 </a:t>
            </a:r>
            <a:r>
              <a:rPr lang="en-US" sz="2400" dirty="0"/>
              <a:t>Clathrin Triskelions.</a:t>
            </a:r>
          </a:p>
        </p:txBody>
      </p:sp>
      <p:pic>
        <p:nvPicPr>
          <p:cNvPr id="4" name="Picture Placeholder 3" descr="An electron micrograph of measurement 50 nanometer shows multiple Clathrin triskelions with three distinct arms and a terminal dot in each. An illustration describes the structure and model for assembly of clathrin triskelions.&#10;Long description is available in notes, press F6"/>
          <p:cNvPicPr>
            <a:picLocks noGrp="1" noChangeAspect="1"/>
          </p:cNvPicPr>
          <p:nvPr>
            <p:ph type="pic" sz="quarter" idx="16"/>
          </p:nvPr>
        </p:nvPicPr>
        <p:blipFill rotWithShape="1">
          <a:blip r:embed="rId3">
            <a:extLst>
              <a:ext uri="{28A0092B-C50C-407E-A947-70E740481C1C}">
                <a14:useLocalDpi xmlns:a14="http://schemas.microsoft.com/office/drawing/2010/main" val="0"/>
              </a:ext>
            </a:extLst>
          </a:blip>
          <a:srcRect b="2748"/>
          <a:stretch/>
        </p:blipFill>
        <p:spPr>
          <a:xfrm>
            <a:off x="2670009" y="1503362"/>
            <a:ext cx="3803982" cy="4755064"/>
          </a:xfrm>
        </p:spPr>
      </p:pic>
    </p:spTree>
    <p:extLst>
      <p:ext uri="{BB962C8B-B14F-4D97-AF65-F5344CB8AC3E}">
        <p14:creationId xmlns:p14="http://schemas.microsoft.com/office/powerpoint/2010/main" val="1829963985"/>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92780"/>
            <a:ext cx="8263784" cy="736989"/>
          </a:xfrm>
        </p:spPr>
        <p:txBody>
          <a:bodyPr lIns="0" tIns="0" rIns="0" bIns="0" anchor="ctr"/>
          <a:lstStyle/>
          <a:p>
            <a:r>
              <a:rPr lang="en-US" sz="3600" dirty="0">
                <a:latin typeface="+mj-lt"/>
              </a:rPr>
              <a:t>Structure of a Triskelion</a:t>
            </a:r>
            <a:endParaRPr lang="en-US" sz="2800" dirty="0">
              <a:latin typeface="+mj-lt"/>
            </a:endParaRP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067565"/>
            <a:ext cx="8263784" cy="2658634"/>
          </a:xfrm>
        </p:spPr>
        <p:txBody>
          <a:bodyPr lIns="0" tIns="0" rIns="0" bIns="0"/>
          <a:lstStyle/>
          <a:p>
            <a:pPr marL="342900" indent="-342900"/>
            <a:r>
              <a:rPr lang="en-US" sz="2400" dirty="0">
                <a:solidFill>
                  <a:schemeClr val="tx1"/>
                </a:solidFill>
              </a:rPr>
              <a:t>Each is a multimeric protein composed of three heavy chains and three light chains.</a:t>
            </a:r>
          </a:p>
          <a:p>
            <a:pPr marL="342900" indent="-342900"/>
            <a:r>
              <a:rPr lang="en-US" sz="2400" dirty="0">
                <a:solidFill>
                  <a:schemeClr val="tx1"/>
                </a:solidFill>
              </a:rPr>
              <a:t>These radiate from a central vertex, with the light chains associated with the inner half of each “leg.”</a:t>
            </a:r>
          </a:p>
          <a:p>
            <a:pPr marL="342900" indent="-342900"/>
            <a:r>
              <a:rPr lang="en-US" sz="2400" dirty="0">
                <a:solidFill>
                  <a:schemeClr val="tx1"/>
                </a:solidFill>
              </a:rPr>
              <a:t>Triskelions assemble into the hexagons and pentagons of the lattice around clathrin-coated pits and vesicles.</a:t>
            </a:r>
          </a:p>
        </p:txBody>
      </p:sp>
    </p:spTree>
    <p:extLst>
      <p:ext uri="{BB962C8B-B14F-4D97-AF65-F5344CB8AC3E}">
        <p14:creationId xmlns:p14="http://schemas.microsoft.com/office/powerpoint/2010/main" val="3840913629"/>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84275"/>
            <a:ext cx="8263784" cy="553998"/>
          </a:xfrm>
        </p:spPr>
        <p:txBody>
          <a:bodyPr lIns="0" tIns="0" rIns="0" bIns="0" anchor="ctr">
            <a:spAutoFit/>
          </a:bodyPr>
          <a:lstStyle/>
          <a:p>
            <a:r>
              <a:rPr lang="en-US" sz="3600" dirty="0">
                <a:latin typeface="+mj-lt"/>
              </a:rPr>
              <a:t>Adaptor Protein Complexes</a:t>
            </a:r>
            <a:endParaRPr lang="en-US" sz="2800" dirty="0">
              <a:latin typeface="+mj-lt"/>
            </a:endParaRP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067565"/>
            <a:ext cx="8263784" cy="3901068"/>
          </a:xfrm>
        </p:spPr>
        <p:txBody>
          <a:bodyPr lIns="0" tIns="0" rIns="0" bIns="0">
            <a:spAutoFit/>
          </a:bodyPr>
          <a:lstStyle/>
          <a:p>
            <a:pPr marL="342900" indent="-342900"/>
            <a:r>
              <a:rPr lang="en-US" sz="2400" dirty="0">
                <a:solidFill>
                  <a:schemeClr val="tx1"/>
                </a:solidFill>
              </a:rPr>
              <a:t>The components of </a:t>
            </a:r>
            <a:r>
              <a:rPr lang="en-US" sz="2400" b="1" dirty="0">
                <a:solidFill>
                  <a:schemeClr val="tx1"/>
                </a:solidFill>
              </a:rPr>
              <a:t>adaptor</a:t>
            </a:r>
            <a:r>
              <a:rPr lang="en-US" sz="2400" dirty="0">
                <a:solidFill>
                  <a:schemeClr val="tx1"/>
                </a:solidFill>
              </a:rPr>
              <a:t> </a:t>
            </a:r>
            <a:r>
              <a:rPr lang="en-US" sz="2400" b="1" dirty="0">
                <a:solidFill>
                  <a:schemeClr val="tx1"/>
                </a:solidFill>
              </a:rPr>
              <a:t>protein</a:t>
            </a:r>
            <a:r>
              <a:rPr lang="en-US" sz="2400" dirty="0">
                <a:solidFill>
                  <a:schemeClr val="tx1"/>
                </a:solidFill>
              </a:rPr>
              <a:t> </a:t>
            </a:r>
            <a:r>
              <a:rPr lang="en-US" sz="2400" b="1" dirty="0">
                <a:solidFill>
                  <a:schemeClr val="tx1"/>
                </a:solidFill>
              </a:rPr>
              <a:t>(AP)</a:t>
            </a:r>
            <a:r>
              <a:rPr lang="en-US" sz="2400" dirty="0">
                <a:solidFill>
                  <a:schemeClr val="tx1"/>
                </a:solidFill>
              </a:rPr>
              <a:t> </a:t>
            </a:r>
            <a:r>
              <a:rPr lang="en-US" sz="2400" b="1" dirty="0">
                <a:solidFill>
                  <a:schemeClr val="tx1"/>
                </a:solidFill>
              </a:rPr>
              <a:t>complexes</a:t>
            </a:r>
            <a:r>
              <a:rPr lang="en-US" sz="2400" dirty="0">
                <a:solidFill>
                  <a:schemeClr val="tx1"/>
                </a:solidFill>
              </a:rPr>
              <a:t> were identified by their ability to promote assembly of clathrin coats around vesicles.</a:t>
            </a:r>
          </a:p>
          <a:p>
            <a:pPr marL="342900" indent="-342900"/>
            <a:r>
              <a:rPr lang="en-US" sz="2400" dirty="0">
                <a:solidFill>
                  <a:schemeClr val="tx1"/>
                </a:solidFill>
              </a:rPr>
              <a:t>There are four types of AP complexes, each composed of four polypeptides: two of adaptin, one medium chain, and one small chain.</a:t>
            </a:r>
          </a:p>
          <a:p>
            <a:pPr marL="342900" indent="-342900"/>
            <a:r>
              <a:rPr lang="en-US" sz="2400" dirty="0">
                <a:solidFill>
                  <a:schemeClr val="tx1"/>
                </a:solidFill>
              </a:rPr>
              <a:t>Each polypeptide binds to a different receptor.</a:t>
            </a:r>
          </a:p>
          <a:p>
            <a:pPr marL="342900" indent="-342900"/>
            <a:r>
              <a:rPr lang="en-US" sz="2400" dirty="0">
                <a:solidFill>
                  <a:schemeClr val="tx1"/>
                </a:solidFill>
              </a:rPr>
              <a:t>AP complexes are sites of regulation of clathrin assembly and disassembly. </a:t>
            </a:r>
          </a:p>
        </p:txBody>
      </p:sp>
    </p:spTree>
    <p:extLst>
      <p:ext uri="{BB962C8B-B14F-4D97-AF65-F5344CB8AC3E}">
        <p14:creationId xmlns:p14="http://schemas.microsoft.com/office/powerpoint/2010/main" val="3824997101"/>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75756"/>
            <a:ext cx="8263784" cy="1661993"/>
          </a:xfrm>
        </p:spPr>
        <p:txBody>
          <a:bodyPr lIns="0" tIns="0" rIns="0" bIns="0" anchor="ctr">
            <a:spAutoFit/>
          </a:bodyPr>
          <a:lstStyle/>
          <a:p>
            <a:r>
              <a:rPr lang="en-US" sz="3600" dirty="0">
                <a:latin typeface="+mj-lt"/>
              </a:rPr>
              <a:t>The Assembly of Clathrin Coats Drives the Formation of Vesicles from the Plasma Membrane and </a:t>
            </a:r>
            <a:r>
              <a:rPr lang="en-US" sz="3600" spc="-400" dirty="0">
                <a:latin typeface="+mj-lt"/>
              </a:rPr>
              <a:t>T G </a:t>
            </a:r>
            <a:r>
              <a:rPr lang="en-US" sz="3600" dirty="0">
                <a:latin typeface="+mj-lt"/>
              </a:rPr>
              <a:t>N</a:t>
            </a:r>
            <a:endParaRPr lang="en-US" sz="2800" dirty="0">
              <a:latin typeface="+mj-lt"/>
            </a:endParaRP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2068018"/>
            <a:ext cx="8263784" cy="2039020"/>
          </a:xfrm>
        </p:spPr>
        <p:txBody>
          <a:bodyPr lIns="0" tIns="0" rIns="0" bIns="0">
            <a:spAutoFit/>
          </a:bodyPr>
          <a:lstStyle/>
          <a:p>
            <a:pPr marL="342900" indent="-342900"/>
            <a:r>
              <a:rPr lang="en-US" sz="2400" dirty="0">
                <a:solidFill>
                  <a:schemeClr val="tx1"/>
                </a:solidFill>
              </a:rPr>
              <a:t>Binding of AP complexes to the plasma membrane and concentration of receptors or receptor-ligand complexes require </a:t>
            </a:r>
            <a:r>
              <a:rPr lang="en-US" sz="2400" spc="-300" dirty="0">
                <a:solidFill>
                  <a:schemeClr val="tx1"/>
                </a:solidFill>
              </a:rPr>
              <a:t>A T </a:t>
            </a:r>
            <a:r>
              <a:rPr lang="en-US" sz="2400" dirty="0">
                <a:solidFill>
                  <a:schemeClr val="tx1"/>
                </a:solidFill>
              </a:rPr>
              <a:t>P and </a:t>
            </a:r>
            <a:r>
              <a:rPr lang="en-US" sz="2400" spc="-300" dirty="0">
                <a:solidFill>
                  <a:schemeClr val="tx1"/>
                </a:solidFill>
              </a:rPr>
              <a:t>G T </a:t>
            </a:r>
            <a:r>
              <a:rPr lang="en-US" sz="2400" dirty="0">
                <a:solidFill>
                  <a:schemeClr val="tx1"/>
                </a:solidFill>
              </a:rPr>
              <a:t>P.</a:t>
            </a:r>
          </a:p>
          <a:p>
            <a:pPr marL="342900" indent="-342900"/>
            <a:r>
              <a:rPr lang="en-US" sz="2400" dirty="0">
                <a:solidFill>
                  <a:schemeClr val="tx1"/>
                </a:solidFill>
              </a:rPr>
              <a:t>The assembly of the clathrin coat appears to provide some of the driving force for vesicle formation.</a:t>
            </a:r>
          </a:p>
        </p:txBody>
      </p:sp>
    </p:spTree>
    <p:extLst>
      <p:ext uri="{BB962C8B-B14F-4D97-AF65-F5344CB8AC3E}">
        <p14:creationId xmlns:p14="http://schemas.microsoft.com/office/powerpoint/2010/main" val="835656843"/>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84275"/>
            <a:ext cx="8263784" cy="553998"/>
          </a:xfrm>
        </p:spPr>
        <p:txBody>
          <a:bodyPr lIns="0" tIns="0" rIns="0" bIns="0" anchor="ctr">
            <a:spAutoFit/>
          </a:bodyPr>
          <a:lstStyle/>
          <a:p>
            <a:r>
              <a:rPr lang="en-US" sz="3600" dirty="0">
                <a:latin typeface="+mj-lt"/>
              </a:rPr>
              <a:t>Clathrin Coat Assembly</a:t>
            </a:r>
            <a:endParaRPr lang="en-US" sz="2800" dirty="0">
              <a:latin typeface="+mj-lt"/>
            </a:endParaRP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067565"/>
            <a:ext cx="8263784" cy="2600712"/>
          </a:xfrm>
        </p:spPr>
        <p:txBody>
          <a:bodyPr lIns="0" tIns="0" rIns="0" bIns="0">
            <a:spAutoFit/>
          </a:bodyPr>
          <a:lstStyle/>
          <a:p>
            <a:pPr marL="342900" indent="-342900"/>
            <a:r>
              <a:rPr lang="en-US" sz="2400" dirty="0">
                <a:solidFill>
                  <a:schemeClr val="tx1"/>
                </a:solidFill>
              </a:rPr>
              <a:t>Initially all clathrin units are hexagonal and form a planar structure.</a:t>
            </a:r>
          </a:p>
          <a:p>
            <a:pPr marL="342900" indent="-342900"/>
            <a:r>
              <a:rPr lang="en-US" sz="2400" dirty="0">
                <a:solidFill>
                  <a:schemeClr val="tx1"/>
                </a:solidFill>
              </a:rPr>
              <a:t>As more triskelions are incorporated into the growing lattice, some pentagons are formed.</a:t>
            </a:r>
          </a:p>
          <a:p>
            <a:pPr marL="342900" indent="-342900"/>
            <a:r>
              <a:rPr lang="en-US" sz="2400" dirty="0">
                <a:solidFill>
                  <a:schemeClr val="tx1"/>
                </a:solidFill>
              </a:rPr>
              <a:t>The mixture of pentagons and hexagons allows the new coat to curve around the budding vesicle.</a:t>
            </a:r>
          </a:p>
        </p:txBody>
      </p:sp>
    </p:spTree>
    <p:extLst>
      <p:ext uri="{BB962C8B-B14F-4D97-AF65-F5344CB8AC3E}">
        <p14:creationId xmlns:p14="http://schemas.microsoft.com/office/powerpoint/2010/main" val="1780709007"/>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30566" y="187019"/>
            <a:ext cx="8251961" cy="553998"/>
          </a:xfrm>
        </p:spPr>
        <p:txBody>
          <a:bodyPr lIns="0" tIns="0" rIns="0" bIns="0" anchor="ctr">
            <a:spAutoFit/>
          </a:bodyPr>
          <a:lstStyle/>
          <a:p>
            <a:r>
              <a:rPr lang="en-US" dirty="0"/>
              <a:t>Clathrin Lattices </a:t>
            </a:r>
            <a:r>
              <a:rPr lang="en-US" sz="2800" dirty="0"/>
              <a:t>(1 of 4)</a:t>
            </a:r>
            <a:endParaRPr lang="en-US" dirty="0"/>
          </a:p>
        </p:txBody>
      </p:sp>
      <p:sp>
        <p:nvSpPr>
          <p:cNvPr id="6" name="Content Placeholder 5"/>
          <p:cNvSpPr>
            <a:spLocks noGrp="1"/>
          </p:cNvSpPr>
          <p:nvPr>
            <p:ph sz="quarter" idx="15"/>
          </p:nvPr>
        </p:nvSpPr>
        <p:spPr>
          <a:xfrm>
            <a:off x="421689" y="1065818"/>
            <a:ext cx="4832891" cy="369332"/>
          </a:xfrm>
        </p:spPr>
        <p:txBody>
          <a:bodyPr wrap="square" lIns="0" tIns="0" rIns="0" bIns="0">
            <a:spAutoFit/>
          </a:bodyPr>
          <a:lstStyle/>
          <a:p>
            <a:pPr marL="0" indent="0">
              <a:buNone/>
            </a:pPr>
            <a:r>
              <a:rPr lang="en-US" sz="2400" b="1" dirty="0"/>
              <a:t>Figure 12.23 </a:t>
            </a:r>
            <a:r>
              <a:rPr lang="en-US" sz="2400" dirty="0"/>
              <a:t>Clathrin Lattices. </a:t>
            </a:r>
          </a:p>
        </p:txBody>
      </p:sp>
      <p:pic>
        <p:nvPicPr>
          <p:cNvPr id="4" name="Picture Placeholder 3" descr="A freeze-etch electron micrograph of a hexagonal clathrin lattice shows a cage or hive-like appearance. Another electron micrograph shows pentagonal and hexagonal units. Schematic drawings of the lattice and clathrin cages are seen.&#10;Long description is available in notes, press F6"/>
          <p:cNvPicPr>
            <a:picLocks noGrp="1" noChangeAspect="1"/>
          </p:cNvPicPr>
          <p:nvPr>
            <p:ph type="pic" sz="quarter" idx="16"/>
          </p:nvPr>
        </p:nvPicPr>
        <p:blipFill rotWithShape="1">
          <a:blip r:embed="rId3">
            <a:extLst>
              <a:ext uri="{28A0092B-C50C-407E-A947-70E740481C1C}">
                <a14:useLocalDpi xmlns:a14="http://schemas.microsoft.com/office/drawing/2010/main" val="0"/>
              </a:ext>
            </a:extLst>
          </a:blip>
          <a:srcRect b="1903"/>
          <a:stretch/>
        </p:blipFill>
        <p:spPr>
          <a:xfrm>
            <a:off x="5394796" y="1063792"/>
            <a:ext cx="3299901" cy="5218879"/>
          </a:xfrm>
        </p:spPr>
      </p:pic>
    </p:spTree>
    <p:extLst>
      <p:ext uri="{BB962C8B-B14F-4D97-AF65-F5344CB8AC3E}">
        <p14:creationId xmlns:p14="http://schemas.microsoft.com/office/powerpoint/2010/main" val="493374382"/>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30566" y="187019"/>
            <a:ext cx="8251961" cy="553998"/>
          </a:xfrm>
        </p:spPr>
        <p:txBody>
          <a:bodyPr lIns="0" tIns="0" rIns="0" bIns="0" anchor="ctr">
            <a:spAutoFit/>
          </a:bodyPr>
          <a:lstStyle/>
          <a:p>
            <a:r>
              <a:rPr lang="en-US" dirty="0"/>
              <a:t>Clathrin Lattices </a:t>
            </a:r>
            <a:r>
              <a:rPr lang="en-US" sz="2800" dirty="0"/>
              <a:t>(2 of 4)</a:t>
            </a:r>
            <a:endParaRPr lang="en-US" dirty="0"/>
          </a:p>
        </p:txBody>
      </p:sp>
      <p:sp>
        <p:nvSpPr>
          <p:cNvPr id="6" name="Content Placeholder 5"/>
          <p:cNvSpPr>
            <a:spLocks noGrp="1"/>
          </p:cNvSpPr>
          <p:nvPr>
            <p:ph sz="quarter" idx="15"/>
          </p:nvPr>
        </p:nvSpPr>
        <p:spPr>
          <a:xfrm>
            <a:off x="421689" y="1065818"/>
            <a:ext cx="4832891" cy="369332"/>
          </a:xfrm>
        </p:spPr>
        <p:txBody>
          <a:bodyPr wrap="square" lIns="0" tIns="0" rIns="0" bIns="0">
            <a:spAutoFit/>
          </a:bodyPr>
          <a:lstStyle/>
          <a:p>
            <a:pPr marL="0" indent="0">
              <a:buNone/>
            </a:pPr>
            <a:r>
              <a:rPr lang="en-US" sz="2400" b="1" dirty="0"/>
              <a:t>Figure 12.23 </a:t>
            </a:r>
            <a:r>
              <a:rPr lang="en-US" sz="2400" dirty="0"/>
              <a:t>Clathrin Lattices. </a:t>
            </a:r>
          </a:p>
        </p:txBody>
      </p:sp>
      <p:pic>
        <p:nvPicPr>
          <p:cNvPr id="5" name="Picture Placeholder 4" descr="A freeze-etch electron micrograph of a hexagonal clathrin lattice shows a cage or hive-like appearance. Another electron micrograph shows pentagonal and hexagonal units. Schematic drawings of the lattice and clathrin cages are seen.&#10;Long description is available in notes, press F6"/>
          <p:cNvPicPr>
            <a:picLocks noGrp="1" noChangeAspect="1"/>
          </p:cNvPicPr>
          <p:nvPr>
            <p:ph type="pic" sz="quarter" idx="16"/>
          </p:nvPr>
        </p:nvPicPr>
        <p:blipFill rotWithShape="1">
          <a:blip r:embed="rId3">
            <a:extLst>
              <a:ext uri="{28A0092B-C50C-407E-A947-70E740481C1C}">
                <a14:useLocalDpi xmlns:a14="http://schemas.microsoft.com/office/drawing/2010/main" val="0"/>
              </a:ext>
            </a:extLst>
          </a:blip>
          <a:srcRect b="1931"/>
          <a:stretch/>
        </p:blipFill>
        <p:spPr>
          <a:xfrm>
            <a:off x="5368867" y="1062564"/>
            <a:ext cx="3320053" cy="5256924"/>
          </a:xfrm>
        </p:spPr>
      </p:pic>
    </p:spTree>
    <p:extLst>
      <p:ext uri="{BB962C8B-B14F-4D97-AF65-F5344CB8AC3E}">
        <p14:creationId xmlns:p14="http://schemas.microsoft.com/office/powerpoint/2010/main" val="3741479943"/>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30566" y="187019"/>
            <a:ext cx="8251961" cy="553998"/>
          </a:xfrm>
        </p:spPr>
        <p:txBody>
          <a:bodyPr lIns="0" tIns="0" rIns="0" bIns="0" anchor="ctr">
            <a:spAutoFit/>
          </a:bodyPr>
          <a:lstStyle/>
          <a:p>
            <a:r>
              <a:rPr lang="en-US" dirty="0"/>
              <a:t>Clathrin Lattices </a:t>
            </a:r>
            <a:r>
              <a:rPr lang="en-US" sz="2800" dirty="0"/>
              <a:t>(3 of 4)</a:t>
            </a:r>
            <a:endParaRPr lang="en-US" dirty="0"/>
          </a:p>
        </p:txBody>
      </p:sp>
      <p:sp>
        <p:nvSpPr>
          <p:cNvPr id="6" name="Content Placeholder 5"/>
          <p:cNvSpPr>
            <a:spLocks noGrp="1"/>
          </p:cNvSpPr>
          <p:nvPr>
            <p:ph sz="quarter" idx="15"/>
          </p:nvPr>
        </p:nvSpPr>
        <p:spPr>
          <a:xfrm>
            <a:off x="421689" y="1065819"/>
            <a:ext cx="4113799" cy="738664"/>
          </a:xfrm>
        </p:spPr>
        <p:txBody>
          <a:bodyPr wrap="square" lIns="0" tIns="0" rIns="0" bIns="0">
            <a:spAutoFit/>
          </a:bodyPr>
          <a:lstStyle/>
          <a:p>
            <a:pPr marL="0" indent="0">
              <a:buNone/>
            </a:pPr>
            <a:r>
              <a:rPr lang="en-US" sz="2400" b="1" dirty="0"/>
              <a:t>Figure 12.23 </a:t>
            </a:r>
            <a:r>
              <a:rPr lang="en-US" sz="2400" dirty="0"/>
              <a:t>Clathrin Lattices.</a:t>
            </a:r>
          </a:p>
        </p:txBody>
      </p:sp>
      <p:pic>
        <p:nvPicPr>
          <p:cNvPr id="4" name="Picture Placeholder 3" descr="A freeze-etch electron micrograph of a hexagonal clathrin lattice shows a cage or hive-like appearance. Another electron micrograph shows pentagonal and hexagonal units. Schematic drawings of the lattice and clathrin cages are seen.&#10;Long description is available in notes, press F6"/>
          <p:cNvPicPr>
            <a:picLocks noGrp="1" noChangeAspect="1"/>
          </p:cNvPicPr>
          <p:nvPr>
            <p:ph type="pic" sz="quarter" idx="16"/>
          </p:nvPr>
        </p:nvPicPr>
        <p:blipFill rotWithShape="1">
          <a:blip r:embed="rId3">
            <a:extLst>
              <a:ext uri="{28A0092B-C50C-407E-A947-70E740481C1C}">
                <a14:useLocalDpi xmlns:a14="http://schemas.microsoft.com/office/drawing/2010/main" val="0"/>
              </a:ext>
            </a:extLst>
          </a:blip>
          <a:srcRect b="3016"/>
          <a:stretch/>
        </p:blipFill>
        <p:spPr>
          <a:xfrm>
            <a:off x="4760693" y="1064733"/>
            <a:ext cx="3935732" cy="5203176"/>
          </a:xfrm>
        </p:spPr>
      </p:pic>
    </p:spTree>
    <p:extLst>
      <p:ext uri="{BB962C8B-B14F-4D97-AF65-F5344CB8AC3E}">
        <p14:creationId xmlns:p14="http://schemas.microsoft.com/office/powerpoint/2010/main" val="3200990356"/>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30566" y="187019"/>
            <a:ext cx="8251961" cy="553998"/>
          </a:xfrm>
        </p:spPr>
        <p:txBody>
          <a:bodyPr lIns="0" tIns="0" rIns="0" bIns="0" anchor="ctr">
            <a:spAutoFit/>
          </a:bodyPr>
          <a:lstStyle/>
          <a:p>
            <a:r>
              <a:rPr lang="en-US" dirty="0"/>
              <a:t>Clathrin Lattices </a:t>
            </a:r>
            <a:r>
              <a:rPr lang="en-US" sz="2800" dirty="0"/>
              <a:t>(4 of 4)</a:t>
            </a:r>
            <a:endParaRPr lang="en-US" dirty="0"/>
          </a:p>
        </p:txBody>
      </p:sp>
      <p:sp>
        <p:nvSpPr>
          <p:cNvPr id="6" name="Content Placeholder 5"/>
          <p:cNvSpPr>
            <a:spLocks noGrp="1"/>
          </p:cNvSpPr>
          <p:nvPr>
            <p:ph sz="quarter" idx="15"/>
          </p:nvPr>
        </p:nvSpPr>
        <p:spPr>
          <a:xfrm>
            <a:off x="421689" y="1065820"/>
            <a:ext cx="4113799" cy="738664"/>
          </a:xfrm>
        </p:spPr>
        <p:txBody>
          <a:bodyPr wrap="square" lIns="0" tIns="0" rIns="0" bIns="0">
            <a:spAutoFit/>
          </a:bodyPr>
          <a:lstStyle/>
          <a:p>
            <a:pPr marL="0" indent="0">
              <a:buNone/>
            </a:pPr>
            <a:r>
              <a:rPr lang="en-US" sz="2400" b="1" dirty="0"/>
              <a:t>Figure 12.23 </a:t>
            </a:r>
            <a:r>
              <a:rPr lang="en-US" sz="2400" dirty="0"/>
              <a:t>Clathrin Lattices.</a:t>
            </a:r>
          </a:p>
        </p:txBody>
      </p:sp>
      <p:pic>
        <p:nvPicPr>
          <p:cNvPr id="5" name="Picture Placeholder 4" descr="A freeze-etch electron micrograph of a hexagonal clathrin lattice shows a cage or hive-like appearance. Another electron micrograph shows pentagonal and hexagonal units. Schematic drawings of the lattice and clathrin cages are seen.&#10;Long description is available in notes, press F6"/>
          <p:cNvPicPr>
            <a:picLocks noGrp="1" noChangeAspect="1"/>
          </p:cNvPicPr>
          <p:nvPr>
            <p:ph type="pic" sz="quarter" idx="16"/>
          </p:nvPr>
        </p:nvPicPr>
        <p:blipFill rotWithShape="1">
          <a:blip r:embed="rId3">
            <a:extLst>
              <a:ext uri="{28A0092B-C50C-407E-A947-70E740481C1C}">
                <a14:useLocalDpi xmlns:a14="http://schemas.microsoft.com/office/drawing/2010/main" val="0"/>
              </a:ext>
            </a:extLst>
          </a:blip>
          <a:srcRect b="2882"/>
          <a:stretch/>
        </p:blipFill>
        <p:spPr>
          <a:xfrm>
            <a:off x="4710575" y="1063912"/>
            <a:ext cx="3971952" cy="5228823"/>
          </a:xfrm>
        </p:spPr>
      </p:pic>
    </p:spTree>
    <p:extLst>
      <p:ext uri="{BB962C8B-B14F-4D97-AF65-F5344CB8AC3E}">
        <p14:creationId xmlns:p14="http://schemas.microsoft.com/office/powerpoint/2010/main" val="2010388588"/>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84275"/>
            <a:ext cx="8263784" cy="553998"/>
          </a:xfrm>
        </p:spPr>
        <p:txBody>
          <a:bodyPr lIns="0" tIns="0" rIns="0" bIns="0" anchor="ctr">
            <a:spAutoFit/>
          </a:bodyPr>
          <a:lstStyle/>
          <a:p>
            <a:r>
              <a:rPr lang="en-US" sz="3600" dirty="0">
                <a:latin typeface="+mj-lt"/>
              </a:rPr>
              <a:t>Dynamin</a:t>
            </a:r>
            <a:endParaRPr lang="en-US" sz="2800" dirty="0">
              <a:latin typeface="+mj-lt"/>
            </a:endParaRP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067565"/>
            <a:ext cx="8263784" cy="2408352"/>
          </a:xfrm>
        </p:spPr>
        <p:txBody>
          <a:bodyPr lIns="0" tIns="0" rIns="0" bIns="0">
            <a:spAutoFit/>
          </a:bodyPr>
          <a:lstStyle/>
          <a:p>
            <a:pPr marL="342900" indent="-342900"/>
            <a:r>
              <a:rPr lang="en-US" sz="2400" dirty="0">
                <a:solidFill>
                  <a:schemeClr val="tx1"/>
                </a:solidFill>
              </a:rPr>
              <a:t>As clathrin accumulates around the budding vesicle, </a:t>
            </a:r>
            <a:r>
              <a:rPr lang="en-US" sz="2400" b="1" dirty="0">
                <a:solidFill>
                  <a:schemeClr val="tx1"/>
                </a:solidFill>
              </a:rPr>
              <a:t>dynamin</a:t>
            </a:r>
            <a:r>
              <a:rPr lang="en-US" sz="2400" dirty="0">
                <a:solidFill>
                  <a:schemeClr val="tx1"/>
                </a:solidFill>
              </a:rPr>
              <a:t> is required for constricting and closing the vesicle.</a:t>
            </a:r>
          </a:p>
          <a:p>
            <a:pPr marL="342900" indent="-342900"/>
            <a:r>
              <a:rPr lang="en-US" sz="2400" dirty="0">
                <a:solidFill>
                  <a:schemeClr val="tx1"/>
                </a:solidFill>
              </a:rPr>
              <a:t>Dynamin is a cytosolic GTPase; as GTP is hydrolyzed, dynamin rings tighten and separate the vesicle from the plasma membrane.</a:t>
            </a:r>
          </a:p>
        </p:txBody>
      </p:sp>
    </p:spTree>
    <p:extLst>
      <p:ext uri="{BB962C8B-B14F-4D97-AF65-F5344CB8AC3E}">
        <p14:creationId xmlns:p14="http://schemas.microsoft.com/office/powerpoint/2010/main" val="2957233977"/>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84275"/>
            <a:ext cx="8263784" cy="553998"/>
          </a:xfrm>
        </p:spPr>
        <p:txBody>
          <a:bodyPr lIns="0" tIns="0" rIns="0" bIns="0" anchor="ctr">
            <a:spAutoFit/>
          </a:bodyPr>
          <a:lstStyle/>
          <a:p>
            <a:r>
              <a:rPr lang="en-US" sz="3600" dirty="0">
                <a:latin typeface="+mj-lt"/>
              </a:rPr>
              <a:t>Uncoating the Vesicle</a:t>
            </a:r>
            <a:endParaRPr lang="en-US" sz="2800" dirty="0">
              <a:latin typeface="+mj-lt"/>
            </a:endParaRP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067565"/>
            <a:ext cx="7711050" cy="2231380"/>
          </a:xfrm>
        </p:spPr>
        <p:txBody>
          <a:bodyPr wrap="square" lIns="0" tIns="0" rIns="0" bIns="0">
            <a:spAutoFit/>
          </a:bodyPr>
          <a:lstStyle/>
          <a:p>
            <a:pPr marL="342900" indent="-342900"/>
            <a:r>
              <a:rPr lang="en-US" sz="2400" dirty="0">
                <a:solidFill>
                  <a:schemeClr val="tx1"/>
                </a:solidFill>
              </a:rPr>
              <a:t>A mechanism is required to remove the clathrin coat (</a:t>
            </a:r>
            <a:r>
              <a:rPr lang="en-US" sz="2400" i="1" dirty="0">
                <a:solidFill>
                  <a:schemeClr val="tx1"/>
                </a:solidFill>
              </a:rPr>
              <a:t>uncoat</a:t>
            </a:r>
            <a:r>
              <a:rPr lang="en-US" sz="2400" dirty="0">
                <a:solidFill>
                  <a:schemeClr val="tx1"/>
                </a:solidFill>
              </a:rPr>
              <a:t>) from the newly formed vesicle.</a:t>
            </a:r>
          </a:p>
          <a:p>
            <a:pPr marL="342900" indent="-342900"/>
            <a:r>
              <a:rPr lang="en-US" sz="2400" dirty="0">
                <a:solidFill>
                  <a:schemeClr val="tx1"/>
                </a:solidFill>
              </a:rPr>
              <a:t>Clathrin dissociates rapidly once the vesicle is formed.</a:t>
            </a:r>
          </a:p>
          <a:p>
            <a:pPr marL="342900" indent="-342900"/>
            <a:r>
              <a:rPr lang="en-US" sz="2400" dirty="0">
                <a:solidFill>
                  <a:schemeClr val="tx1"/>
                </a:solidFill>
              </a:rPr>
              <a:t>Uncoating requires energy, provided by an </a:t>
            </a:r>
            <a:r>
              <a:rPr lang="en-US" sz="2400" i="1" dirty="0">
                <a:solidFill>
                  <a:schemeClr val="tx1"/>
                </a:solidFill>
              </a:rPr>
              <a:t>uncoating </a:t>
            </a:r>
            <a:r>
              <a:rPr lang="en-US" sz="2400" i="1" spc="-300" dirty="0">
                <a:solidFill>
                  <a:schemeClr val="tx1"/>
                </a:solidFill>
              </a:rPr>
              <a:t>A T </a:t>
            </a:r>
            <a:r>
              <a:rPr lang="en-US" sz="2400" i="1" dirty="0">
                <a:solidFill>
                  <a:schemeClr val="tx1"/>
                </a:solidFill>
              </a:rPr>
              <a:t>Pase</a:t>
            </a:r>
            <a:r>
              <a:rPr lang="en-US" sz="2400" dirty="0">
                <a:solidFill>
                  <a:schemeClr val="tx1"/>
                </a:solidFill>
              </a:rPr>
              <a:t>.</a:t>
            </a:r>
            <a:endParaRPr lang="en-US" sz="2400" i="1" dirty="0">
              <a:solidFill>
                <a:schemeClr val="tx1"/>
              </a:solidFill>
            </a:endParaRPr>
          </a:p>
        </p:txBody>
      </p:sp>
    </p:spTree>
    <p:extLst>
      <p:ext uri="{BB962C8B-B14F-4D97-AF65-F5344CB8AC3E}">
        <p14:creationId xmlns:p14="http://schemas.microsoft.com/office/powerpoint/2010/main" val="334326820"/>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84275"/>
            <a:ext cx="8263784" cy="553998"/>
          </a:xfrm>
        </p:spPr>
        <p:txBody>
          <a:bodyPr lIns="0" tIns="0" rIns="0" bIns="0" anchor="ctr">
            <a:spAutoFit/>
          </a:bodyPr>
          <a:lstStyle/>
          <a:p>
            <a:r>
              <a:rPr lang="en-US" sz="3600" dirty="0">
                <a:latin typeface="+mj-lt"/>
              </a:rPr>
              <a:t>Clathrin Cages</a:t>
            </a:r>
            <a:endParaRPr lang="en-US" sz="2800" dirty="0">
              <a:latin typeface="+mj-lt"/>
            </a:endParaRP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067565"/>
            <a:ext cx="8263784" cy="1300356"/>
          </a:xfrm>
        </p:spPr>
        <p:txBody>
          <a:bodyPr lIns="0" tIns="0" rIns="0" bIns="0">
            <a:spAutoFit/>
          </a:bodyPr>
          <a:lstStyle/>
          <a:p>
            <a:pPr marL="342900" indent="-342900"/>
            <a:r>
              <a:rPr lang="en-US" sz="2400" dirty="0">
                <a:solidFill>
                  <a:schemeClr val="tx1"/>
                </a:solidFill>
              </a:rPr>
              <a:t>In acidic conditions, with calcium present, clathrin can spontaneously form empty shells called </a:t>
            </a:r>
            <a:r>
              <a:rPr lang="en-US" sz="2400" i="1" dirty="0">
                <a:solidFill>
                  <a:schemeClr val="tx1"/>
                </a:solidFill>
              </a:rPr>
              <a:t>clathrin</a:t>
            </a:r>
            <a:r>
              <a:rPr lang="en-US" sz="2400" dirty="0">
                <a:solidFill>
                  <a:schemeClr val="tx1"/>
                </a:solidFill>
              </a:rPr>
              <a:t> </a:t>
            </a:r>
            <a:r>
              <a:rPr lang="en-US" sz="2400" i="1" dirty="0">
                <a:solidFill>
                  <a:schemeClr val="tx1"/>
                </a:solidFill>
              </a:rPr>
              <a:t>cages</a:t>
            </a:r>
            <a:r>
              <a:rPr lang="en-US" sz="2400" dirty="0">
                <a:solidFill>
                  <a:schemeClr val="tx1"/>
                </a:solidFill>
              </a:rPr>
              <a:t>.</a:t>
            </a:r>
            <a:endParaRPr lang="en-US" sz="2400" i="1" dirty="0">
              <a:solidFill>
                <a:schemeClr val="tx1"/>
              </a:solidFill>
            </a:endParaRPr>
          </a:p>
          <a:p>
            <a:pPr marL="342900" indent="-342900"/>
            <a:r>
              <a:rPr lang="en-US" sz="2400" dirty="0">
                <a:solidFill>
                  <a:schemeClr val="tx1"/>
                </a:solidFill>
              </a:rPr>
              <a:t>Assembly and disassembly occur very quickly.</a:t>
            </a:r>
          </a:p>
        </p:txBody>
      </p:sp>
    </p:spTree>
    <p:extLst>
      <p:ext uri="{BB962C8B-B14F-4D97-AF65-F5344CB8AC3E}">
        <p14:creationId xmlns:p14="http://schemas.microsoft.com/office/powerpoint/2010/main" val="955741521"/>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54580"/>
            <a:ext cx="8302240" cy="1108252"/>
          </a:xfrm>
        </p:spPr>
        <p:txBody>
          <a:bodyPr lIns="0" tIns="0" rIns="0" bIns="0" anchor="ctr"/>
          <a:lstStyle/>
          <a:p>
            <a:r>
              <a:rPr lang="en-US" sz="3000" spc="-400" dirty="0">
                <a:latin typeface="+mj-lt"/>
              </a:rPr>
              <a:t>C O P </a:t>
            </a:r>
            <a:r>
              <a:rPr lang="en-US" sz="3000" dirty="0">
                <a:latin typeface="+mj-lt"/>
              </a:rPr>
              <a:t>I- and </a:t>
            </a:r>
            <a:r>
              <a:rPr lang="en-US" sz="3000" spc="-400" dirty="0">
                <a:latin typeface="+mj-lt"/>
              </a:rPr>
              <a:t>C O P I I</a:t>
            </a:r>
            <a:r>
              <a:rPr lang="en-US" sz="3000" dirty="0">
                <a:latin typeface="+mj-lt"/>
              </a:rPr>
              <a:t>-Coated Vesicles Travel Between the </a:t>
            </a:r>
            <a:r>
              <a:rPr lang="en-US" sz="3000" spc="-400" dirty="0">
                <a:latin typeface="+mj-lt"/>
              </a:rPr>
              <a:t>E R</a:t>
            </a:r>
            <a:r>
              <a:rPr lang="en-US" sz="3000" dirty="0">
                <a:latin typeface="+mj-lt"/>
              </a:rPr>
              <a:t> and Golgi Complex Cisternae</a:t>
            </a: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562340"/>
            <a:ext cx="8302240" cy="3180110"/>
          </a:xfrm>
        </p:spPr>
        <p:txBody>
          <a:bodyPr lIns="0" tIns="0" rIns="0" bIns="0"/>
          <a:lstStyle/>
          <a:p>
            <a:pPr marL="342900" indent="-342900"/>
            <a:r>
              <a:rPr lang="en-US" sz="2400" i="1" spc="-300" dirty="0">
                <a:solidFill>
                  <a:schemeClr val="tx1"/>
                </a:solidFill>
              </a:rPr>
              <a:t>C O P </a:t>
            </a:r>
            <a:r>
              <a:rPr lang="en-US" sz="2400" i="1" dirty="0">
                <a:solidFill>
                  <a:schemeClr val="tx1"/>
                </a:solidFill>
              </a:rPr>
              <a:t>I-coated vesicles </a:t>
            </a:r>
            <a:r>
              <a:rPr lang="en-US" sz="2400" dirty="0">
                <a:solidFill>
                  <a:schemeClr val="tx1"/>
                </a:solidFill>
              </a:rPr>
              <a:t>are found in all eukaryotic cells examined and are involved in retrograde transport from the Golgi back to the </a:t>
            </a:r>
            <a:r>
              <a:rPr lang="en-US" sz="2400" spc="-300" dirty="0">
                <a:solidFill>
                  <a:schemeClr val="tx1"/>
                </a:solidFill>
              </a:rPr>
              <a:t>E </a:t>
            </a:r>
            <a:r>
              <a:rPr lang="en-US" sz="2400" dirty="0">
                <a:solidFill>
                  <a:schemeClr val="tx1"/>
                </a:solidFill>
              </a:rPr>
              <a:t>R as well as bidirectional transport between Golgi cisternae. </a:t>
            </a:r>
          </a:p>
          <a:p>
            <a:pPr marL="342900" indent="-342900"/>
            <a:r>
              <a:rPr lang="en-US" sz="2400" dirty="0">
                <a:solidFill>
                  <a:schemeClr val="tx1"/>
                </a:solidFill>
              </a:rPr>
              <a:t>The vesicles are coated with </a:t>
            </a:r>
            <a:r>
              <a:rPr lang="en-US" sz="2400" b="1" spc="-300" dirty="0">
                <a:solidFill>
                  <a:schemeClr val="tx1"/>
                </a:solidFill>
              </a:rPr>
              <a:t>C O P </a:t>
            </a:r>
            <a:r>
              <a:rPr lang="en-US" sz="2400" b="1" dirty="0">
                <a:solidFill>
                  <a:schemeClr val="tx1"/>
                </a:solidFill>
              </a:rPr>
              <a:t>I</a:t>
            </a:r>
            <a:r>
              <a:rPr lang="en-US" sz="2400" dirty="0">
                <a:solidFill>
                  <a:schemeClr val="tx1"/>
                </a:solidFill>
              </a:rPr>
              <a:t> and an </a:t>
            </a:r>
            <a:r>
              <a:rPr lang="en-US" sz="2400" b="1" spc="-300" dirty="0">
                <a:solidFill>
                  <a:schemeClr val="tx1"/>
                </a:solidFill>
              </a:rPr>
              <a:t>A D </a:t>
            </a:r>
            <a:r>
              <a:rPr lang="en-US" sz="2400" b="1" dirty="0">
                <a:solidFill>
                  <a:schemeClr val="tx1"/>
                </a:solidFill>
              </a:rPr>
              <a:t>P</a:t>
            </a:r>
            <a:r>
              <a:rPr lang="en-US" sz="2400" dirty="0">
                <a:solidFill>
                  <a:schemeClr val="tx1"/>
                </a:solidFill>
              </a:rPr>
              <a:t> </a:t>
            </a:r>
            <a:r>
              <a:rPr lang="en-US" sz="2400" b="1" dirty="0">
                <a:solidFill>
                  <a:schemeClr val="tx1"/>
                </a:solidFill>
              </a:rPr>
              <a:t>ribosylation</a:t>
            </a:r>
            <a:r>
              <a:rPr lang="en-US" sz="2400" dirty="0">
                <a:solidFill>
                  <a:schemeClr val="tx1"/>
                </a:solidFill>
              </a:rPr>
              <a:t> </a:t>
            </a:r>
            <a:r>
              <a:rPr lang="en-US" sz="2400" b="1" dirty="0">
                <a:solidFill>
                  <a:schemeClr val="tx1"/>
                </a:solidFill>
              </a:rPr>
              <a:t>factor</a:t>
            </a:r>
            <a:r>
              <a:rPr lang="en-US" sz="2400" dirty="0">
                <a:solidFill>
                  <a:schemeClr val="tx1"/>
                </a:solidFill>
              </a:rPr>
              <a:t> </a:t>
            </a:r>
            <a:r>
              <a:rPr lang="en-US" sz="2400" b="1" dirty="0">
                <a:solidFill>
                  <a:schemeClr val="tx1"/>
                </a:solidFill>
              </a:rPr>
              <a:t>(</a:t>
            </a:r>
            <a:r>
              <a:rPr lang="en-US" sz="2400" b="1" spc="-300" dirty="0">
                <a:solidFill>
                  <a:schemeClr val="tx1"/>
                </a:solidFill>
              </a:rPr>
              <a:t>A R </a:t>
            </a:r>
            <a:r>
              <a:rPr lang="en-US" sz="2400" b="1" dirty="0">
                <a:solidFill>
                  <a:schemeClr val="tx1"/>
                </a:solidFill>
              </a:rPr>
              <a:t>F)</a:t>
            </a:r>
            <a:r>
              <a:rPr lang="en-US" sz="2400" dirty="0">
                <a:solidFill>
                  <a:schemeClr val="tx1"/>
                </a:solidFill>
              </a:rPr>
              <a:t>, a small </a:t>
            </a:r>
            <a:r>
              <a:rPr lang="en-US" sz="2400" spc="-300" dirty="0">
                <a:solidFill>
                  <a:schemeClr val="tx1"/>
                </a:solidFill>
              </a:rPr>
              <a:t>G T </a:t>
            </a:r>
            <a:r>
              <a:rPr lang="en-US" sz="2400" dirty="0">
                <a:solidFill>
                  <a:schemeClr val="tx1"/>
                </a:solidFill>
              </a:rPr>
              <a:t>P-binding protein.</a:t>
            </a:r>
          </a:p>
          <a:p>
            <a:pPr marL="342900" indent="-342900"/>
            <a:r>
              <a:rPr lang="en-US" sz="2400" dirty="0">
                <a:solidFill>
                  <a:schemeClr val="tx1"/>
                </a:solidFill>
              </a:rPr>
              <a:t>Assembly of the coat is mediated by </a:t>
            </a:r>
            <a:r>
              <a:rPr lang="en-US" sz="2400" spc="-300" dirty="0">
                <a:solidFill>
                  <a:schemeClr val="tx1"/>
                </a:solidFill>
              </a:rPr>
              <a:t>A R </a:t>
            </a:r>
            <a:r>
              <a:rPr lang="en-US" sz="2400" dirty="0">
                <a:solidFill>
                  <a:schemeClr val="tx1"/>
                </a:solidFill>
              </a:rPr>
              <a:t>F.</a:t>
            </a:r>
          </a:p>
        </p:txBody>
      </p:sp>
    </p:spTree>
    <p:extLst>
      <p:ext uri="{BB962C8B-B14F-4D97-AF65-F5344CB8AC3E}">
        <p14:creationId xmlns:p14="http://schemas.microsoft.com/office/powerpoint/2010/main" val="2184019850"/>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84275"/>
            <a:ext cx="8263784" cy="553998"/>
          </a:xfrm>
        </p:spPr>
        <p:txBody>
          <a:bodyPr lIns="0" tIns="0" rIns="0" bIns="0" anchor="ctr">
            <a:spAutoFit/>
          </a:bodyPr>
          <a:lstStyle/>
          <a:p>
            <a:r>
              <a:rPr lang="en-US" sz="3600" dirty="0">
                <a:latin typeface="+mj-lt"/>
              </a:rPr>
              <a:t>Role of </a:t>
            </a:r>
            <a:r>
              <a:rPr lang="en-US" sz="3600" spc="-450" dirty="0">
                <a:latin typeface="+mj-lt"/>
              </a:rPr>
              <a:t>A R </a:t>
            </a:r>
            <a:r>
              <a:rPr lang="en-US" sz="3600" dirty="0">
                <a:latin typeface="+mj-lt"/>
              </a:rPr>
              <a:t>F </a:t>
            </a:r>
            <a:r>
              <a:rPr lang="en-US" sz="2800" dirty="0">
                <a:latin typeface="+mj-lt"/>
              </a:rPr>
              <a:t>(1 of 2)</a:t>
            </a: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067565"/>
            <a:ext cx="8263784" cy="2970044"/>
          </a:xfrm>
        </p:spPr>
        <p:txBody>
          <a:bodyPr lIns="0" tIns="0" rIns="0" bIns="0">
            <a:spAutoFit/>
          </a:bodyPr>
          <a:lstStyle/>
          <a:p>
            <a:pPr marL="342900" indent="-342900"/>
            <a:r>
              <a:rPr lang="en-US" sz="2400" dirty="0">
                <a:solidFill>
                  <a:schemeClr val="tx1"/>
                </a:solidFill>
              </a:rPr>
              <a:t>In the cytosol, </a:t>
            </a:r>
            <a:r>
              <a:rPr lang="en-US" sz="2400" spc="-300" dirty="0">
                <a:solidFill>
                  <a:schemeClr val="tx1"/>
                </a:solidFill>
              </a:rPr>
              <a:t>A R </a:t>
            </a:r>
            <a:r>
              <a:rPr lang="en-US" sz="2400" dirty="0">
                <a:solidFill>
                  <a:schemeClr val="tx1"/>
                </a:solidFill>
              </a:rPr>
              <a:t>F exists as part of an </a:t>
            </a:r>
            <a:r>
              <a:rPr lang="en-US" sz="2400" spc="-300" dirty="0">
                <a:solidFill>
                  <a:schemeClr val="tx1"/>
                </a:solidFill>
              </a:rPr>
              <a:t>A R F - G D </a:t>
            </a:r>
            <a:r>
              <a:rPr lang="en-US" sz="2400" dirty="0">
                <a:solidFill>
                  <a:schemeClr val="tx1"/>
                </a:solidFill>
              </a:rPr>
              <a:t>P complex.</a:t>
            </a:r>
          </a:p>
          <a:p>
            <a:pPr marL="342900" indent="-342900"/>
            <a:r>
              <a:rPr lang="en-US" sz="2400" dirty="0">
                <a:solidFill>
                  <a:schemeClr val="tx1"/>
                </a:solidFill>
              </a:rPr>
              <a:t>Upon meeting a </a:t>
            </a:r>
            <a:r>
              <a:rPr lang="en-US" sz="2400" i="1" dirty="0">
                <a:solidFill>
                  <a:schemeClr val="tx1"/>
                </a:solidFill>
              </a:rPr>
              <a:t>guanine</a:t>
            </a:r>
            <a:r>
              <a:rPr lang="en-US" sz="2400" dirty="0">
                <a:solidFill>
                  <a:schemeClr val="tx1"/>
                </a:solidFill>
              </a:rPr>
              <a:t> </a:t>
            </a:r>
            <a:r>
              <a:rPr lang="en-US" sz="2400" i="1" dirty="0">
                <a:solidFill>
                  <a:schemeClr val="tx1"/>
                </a:solidFill>
              </a:rPr>
              <a:t>nucleotide</a:t>
            </a:r>
            <a:r>
              <a:rPr lang="en-US" sz="2400" dirty="0">
                <a:solidFill>
                  <a:schemeClr val="tx1"/>
                </a:solidFill>
              </a:rPr>
              <a:t> </a:t>
            </a:r>
            <a:r>
              <a:rPr lang="en-US" sz="2400" i="1" dirty="0">
                <a:solidFill>
                  <a:schemeClr val="tx1"/>
                </a:solidFill>
              </a:rPr>
              <a:t>exchange</a:t>
            </a:r>
            <a:r>
              <a:rPr lang="en-US" sz="2400" dirty="0">
                <a:solidFill>
                  <a:schemeClr val="tx1"/>
                </a:solidFill>
              </a:rPr>
              <a:t> </a:t>
            </a:r>
            <a:r>
              <a:rPr lang="en-US" sz="2400" i="1" dirty="0">
                <a:solidFill>
                  <a:schemeClr val="tx1"/>
                </a:solidFill>
              </a:rPr>
              <a:t>factor</a:t>
            </a:r>
            <a:r>
              <a:rPr lang="en-US" sz="2400" dirty="0">
                <a:solidFill>
                  <a:schemeClr val="tx1"/>
                </a:solidFill>
              </a:rPr>
              <a:t> associated with the membrane, the </a:t>
            </a:r>
            <a:r>
              <a:rPr lang="en-US" sz="2400" spc="-300" dirty="0">
                <a:solidFill>
                  <a:schemeClr val="tx1"/>
                </a:solidFill>
              </a:rPr>
              <a:t>G D </a:t>
            </a:r>
            <a:r>
              <a:rPr lang="en-US" sz="2400" dirty="0">
                <a:solidFill>
                  <a:schemeClr val="tx1"/>
                </a:solidFill>
              </a:rPr>
              <a:t>P is exchanged for </a:t>
            </a:r>
            <a:r>
              <a:rPr lang="en-US" sz="2400" spc="-300" dirty="0">
                <a:solidFill>
                  <a:schemeClr val="tx1"/>
                </a:solidFill>
              </a:rPr>
              <a:t>G T </a:t>
            </a:r>
            <a:r>
              <a:rPr lang="en-US" sz="2400" dirty="0">
                <a:solidFill>
                  <a:schemeClr val="tx1"/>
                </a:solidFill>
              </a:rPr>
              <a:t>P.</a:t>
            </a:r>
          </a:p>
          <a:p>
            <a:pPr marL="342900" indent="-342900"/>
            <a:r>
              <a:rPr lang="en-US" sz="2400" dirty="0">
                <a:solidFill>
                  <a:schemeClr val="tx1"/>
                </a:solidFill>
              </a:rPr>
              <a:t>The resulting conformational change in </a:t>
            </a:r>
            <a:r>
              <a:rPr lang="en-US" sz="2400" spc="-300" dirty="0">
                <a:solidFill>
                  <a:schemeClr val="tx1"/>
                </a:solidFill>
              </a:rPr>
              <a:t>A R </a:t>
            </a:r>
            <a:r>
              <a:rPr lang="en-US" sz="2400" dirty="0">
                <a:solidFill>
                  <a:schemeClr val="tx1"/>
                </a:solidFill>
              </a:rPr>
              <a:t>F attaches it to the lipid bilayer.</a:t>
            </a:r>
          </a:p>
        </p:txBody>
      </p:sp>
    </p:spTree>
    <p:extLst>
      <p:ext uri="{BB962C8B-B14F-4D97-AF65-F5344CB8AC3E}">
        <p14:creationId xmlns:p14="http://schemas.microsoft.com/office/powerpoint/2010/main" val="388420012"/>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84275"/>
            <a:ext cx="8263784" cy="553998"/>
          </a:xfrm>
        </p:spPr>
        <p:txBody>
          <a:bodyPr lIns="0" tIns="0" rIns="0" bIns="0" anchor="ctr">
            <a:spAutoFit/>
          </a:bodyPr>
          <a:lstStyle/>
          <a:p>
            <a:r>
              <a:rPr lang="en-US" sz="3600" dirty="0">
                <a:latin typeface="+mj-lt"/>
              </a:rPr>
              <a:t>Role of </a:t>
            </a:r>
            <a:r>
              <a:rPr lang="en-US" sz="3600" spc="-450" dirty="0">
                <a:latin typeface="+mj-lt"/>
              </a:rPr>
              <a:t>A R </a:t>
            </a:r>
            <a:r>
              <a:rPr lang="en-US" sz="3600" dirty="0">
                <a:latin typeface="+mj-lt"/>
              </a:rPr>
              <a:t>F </a:t>
            </a:r>
            <a:r>
              <a:rPr lang="en-US" sz="2800" dirty="0">
                <a:latin typeface="+mj-lt"/>
              </a:rPr>
              <a:t>(2 of 2)</a:t>
            </a: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067565"/>
            <a:ext cx="8263784" cy="2600712"/>
          </a:xfrm>
        </p:spPr>
        <p:txBody>
          <a:bodyPr lIns="0" tIns="0" rIns="0" bIns="0">
            <a:spAutoFit/>
          </a:bodyPr>
          <a:lstStyle/>
          <a:p>
            <a:pPr marL="342900" indent="-342900"/>
            <a:r>
              <a:rPr lang="en-US" sz="2400" dirty="0">
                <a:solidFill>
                  <a:schemeClr val="tx1"/>
                </a:solidFill>
              </a:rPr>
              <a:t>Once firmly anchored, </a:t>
            </a:r>
            <a:r>
              <a:rPr lang="en-US" sz="2400" spc="-300" dirty="0">
                <a:solidFill>
                  <a:schemeClr val="tx1"/>
                </a:solidFill>
              </a:rPr>
              <a:t>A R </a:t>
            </a:r>
            <a:r>
              <a:rPr lang="en-US" sz="2400" dirty="0">
                <a:solidFill>
                  <a:schemeClr val="tx1"/>
                </a:solidFill>
              </a:rPr>
              <a:t>F binds </a:t>
            </a:r>
            <a:r>
              <a:rPr lang="en-US" sz="2400" spc="-300" dirty="0">
                <a:solidFill>
                  <a:schemeClr val="tx1"/>
                </a:solidFill>
              </a:rPr>
              <a:t>C O P </a:t>
            </a:r>
            <a:r>
              <a:rPr lang="en-US" sz="2400" dirty="0">
                <a:solidFill>
                  <a:schemeClr val="tx1"/>
                </a:solidFill>
                <a:latin typeface="Times New Roman" panose="02020603050405020304" pitchFamily="18" charset="0"/>
                <a:cs typeface="Times New Roman" panose="02020603050405020304" pitchFamily="18" charset="0"/>
              </a:rPr>
              <a:t>I</a:t>
            </a:r>
            <a:r>
              <a:rPr lang="en-US" sz="2400" dirty="0">
                <a:solidFill>
                  <a:schemeClr val="tx1"/>
                </a:solidFill>
              </a:rPr>
              <a:t> multimers. </a:t>
            </a:r>
          </a:p>
          <a:p>
            <a:pPr marL="342900" indent="-342900"/>
            <a:r>
              <a:rPr lang="en-US" sz="2400" dirty="0">
                <a:solidFill>
                  <a:schemeClr val="tx1"/>
                </a:solidFill>
              </a:rPr>
              <a:t>Assembly of the coat drives vesicle formation.</a:t>
            </a:r>
          </a:p>
          <a:p>
            <a:pPr marL="342900" indent="-342900"/>
            <a:r>
              <a:rPr lang="en-US" sz="2400" dirty="0">
                <a:solidFill>
                  <a:schemeClr val="tx1"/>
                </a:solidFill>
              </a:rPr>
              <a:t>Once the vesicle is formed, a protein in the donor membrane triggers hydrolysis of </a:t>
            </a:r>
            <a:r>
              <a:rPr lang="en-US" sz="2400" spc="-300" dirty="0">
                <a:solidFill>
                  <a:schemeClr val="tx1"/>
                </a:solidFill>
              </a:rPr>
              <a:t>G T </a:t>
            </a:r>
            <a:r>
              <a:rPr lang="en-US" sz="2400" dirty="0">
                <a:solidFill>
                  <a:schemeClr val="tx1"/>
                </a:solidFill>
              </a:rPr>
              <a:t>P to </a:t>
            </a:r>
            <a:r>
              <a:rPr lang="en-US" sz="2400" spc="-300" dirty="0">
                <a:solidFill>
                  <a:schemeClr val="tx1"/>
                </a:solidFill>
              </a:rPr>
              <a:t>G D </a:t>
            </a:r>
            <a:r>
              <a:rPr lang="en-US" sz="2400" dirty="0">
                <a:solidFill>
                  <a:schemeClr val="tx1"/>
                </a:solidFill>
              </a:rPr>
              <a:t>P, a conformational change in </a:t>
            </a:r>
            <a:r>
              <a:rPr lang="en-US" sz="2400" spc="-300" dirty="0">
                <a:solidFill>
                  <a:schemeClr val="tx1"/>
                </a:solidFill>
              </a:rPr>
              <a:t>A R </a:t>
            </a:r>
            <a:r>
              <a:rPr lang="en-US" sz="2400" dirty="0">
                <a:solidFill>
                  <a:schemeClr val="tx1"/>
                </a:solidFill>
              </a:rPr>
              <a:t>F, and release of </a:t>
            </a:r>
            <a:br>
              <a:rPr lang="en-US" sz="2400" dirty="0">
                <a:solidFill>
                  <a:schemeClr val="tx1"/>
                </a:solidFill>
              </a:rPr>
            </a:br>
            <a:r>
              <a:rPr lang="en-US" sz="2400" dirty="0">
                <a:solidFill>
                  <a:schemeClr val="tx1"/>
                </a:solidFill>
              </a:rPr>
              <a:t>the coat.</a:t>
            </a:r>
          </a:p>
        </p:txBody>
      </p:sp>
    </p:spTree>
    <p:extLst>
      <p:ext uri="{BB962C8B-B14F-4D97-AF65-F5344CB8AC3E}">
        <p14:creationId xmlns:p14="http://schemas.microsoft.com/office/powerpoint/2010/main" val="3917435660"/>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84275"/>
            <a:ext cx="8263784" cy="553998"/>
          </a:xfrm>
        </p:spPr>
        <p:txBody>
          <a:bodyPr lIns="0" tIns="0" rIns="0" bIns="0" anchor="ctr">
            <a:spAutoFit/>
          </a:bodyPr>
          <a:lstStyle/>
          <a:p>
            <a:r>
              <a:rPr lang="en-US" sz="3600" spc="-450" dirty="0">
                <a:latin typeface="+mj-lt"/>
              </a:rPr>
              <a:t>C O </a:t>
            </a:r>
            <a:r>
              <a:rPr lang="en-US" sz="3600" dirty="0">
                <a:latin typeface="+mj-lt"/>
              </a:rPr>
              <a:t>P</a:t>
            </a:r>
            <a:r>
              <a:rPr lang="en-US" sz="3600" dirty="0">
                <a:latin typeface="Times New Roman" panose="02020603050405020304" pitchFamily="18" charset="0"/>
                <a:cs typeface="Times New Roman" panose="02020603050405020304" pitchFamily="18" charset="0"/>
              </a:rPr>
              <a:t>Ⅱ</a:t>
            </a:r>
            <a:r>
              <a:rPr lang="en-US" sz="3600" dirty="0">
                <a:latin typeface="+mj-lt"/>
              </a:rPr>
              <a:t>-Coated Vesicles</a:t>
            </a:r>
            <a:endParaRPr lang="en-US" sz="2800" dirty="0">
              <a:latin typeface="+mj-lt"/>
            </a:endParaRP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067565"/>
            <a:ext cx="7629163" cy="2970044"/>
          </a:xfrm>
        </p:spPr>
        <p:txBody>
          <a:bodyPr wrap="square" lIns="0" tIns="0" rIns="0" bIns="0">
            <a:spAutoFit/>
          </a:bodyPr>
          <a:lstStyle/>
          <a:p>
            <a:pPr marL="342900" indent="-342900"/>
            <a:r>
              <a:rPr lang="en-US" sz="2400" i="1" spc="-300" dirty="0">
                <a:solidFill>
                  <a:schemeClr val="tx1"/>
                </a:solidFill>
              </a:rPr>
              <a:t>C O P </a:t>
            </a:r>
            <a:r>
              <a:rPr lang="en-US" sz="2400" i="1" dirty="0">
                <a:solidFill>
                  <a:schemeClr val="tx1"/>
                </a:solidFill>
                <a:latin typeface="Times New Roman" panose="02020603050405020304" pitchFamily="18" charset="0"/>
                <a:cs typeface="Times New Roman" panose="02020603050405020304" pitchFamily="18" charset="0"/>
              </a:rPr>
              <a:t>Ⅱ</a:t>
            </a:r>
            <a:r>
              <a:rPr lang="en-US" sz="2400" i="1" dirty="0">
                <a:solidFill>
                  <a:schemeClr val="tx1"/>
                </a:solidFill>
              </a:rPr>
              <a:t>-coated</a:t>
            </a:r>
            <a:r>
              <a:rPr lang="en-US" sz="2400" dirty="0">
                <a:solidFill>
                  <a:schemeClr val="tx1"/>
                </a:solidFill>
              </a:rPr>
              <a:t> </a:t>
            </a:r>
            <a:r>
              <a:rPr lang="en-US" sz="2400" i="1" dirty="0">
                <a:solidFill>
                  <a:schemeClr val="tx1"/>
                </a:solidFill>
              </a:rPr>
              <a:t>vesicles</a:t>
            </a:r>
            <a:r>
              <a:rPr lang="en-US" sz="2400" dirty="0">
                <a:solidFill>
                  <a:schemeClr val="tx1"/>
                </a:solidFill>
              </a:rPr>
              <a:t> have a role in transport from the </a:t>
            </a:r>
            <a:r>
              <a:rPr lang="en-US" sz="2400" spc="-300" dirty="0">
                <a:solidFill>
                  <a:schemeClr val="tx1"/>
                </a:solidFill>
              </a:rPr>
              <a:t>E </a:t>
            </a:r>
            <a:r>
              <a:rPr lang="en-US" sz="2400" dirty="0">
                <a:solidFill>
                  <a:schemeClr val="tx1"/>
                </a:solidFill>
              </a:rPr>
              <a:t>R to the Golgi.</a:t>
            </a:r>
          </a:p>
          <a:p>
            <a:pPr marL="342900" indent="-342900"/>
            <a:r>
              <a:rPr lang="en-US" sz="2400" dirty="0">
                <a:solidFill>
                  <a:schemeClr val="tx1"/>
                </a:solidFill>
              </a:rPr>
              <a:t>In yeast, the </a:t>
            </a:r>
            <a:r>
              <a:rPr lang="en-US" sz="2400" b="1" spc="-300" dirty="0">
                <a:solidFill>
                  <a:schemeClr val="tx1"/>
                </a:solidFill>
              </a:rPr>
              <a:t>C O P </a:t>
            </a:r>
            <a:r>
              <a:rPr lang="en-US" sz="2400" b="1" dirty="0">
                <a:solidFill>
                  <a:schemeClr val="tx1"/>
                </a:solidFill>
                <a:latin typeface="Times New Roman" panose="02020603050405020304" pitchFamily="18" charset="0"/>
                <a:cs typeface="Times New Roman" panose="02020603050405020304" pitchFamily="18" charset="0"/>
              </a:rPr>
              <a:t>Ⅱ</a:t>
            </a:r>
            <a:r>
              <a:rPr lang="en-US" sz="2400" dirty="0">
                <a:solidFill>
                  <a:schemeClr val="tx1"/>
                </a:solidFill>
              </a:rPr>
              <a:t> coat is assembled from two protein complexes (</a:t>
            </a:r>
            <a:r>
              <a:rPr lang="en-US" sz="2400" i="1" dirty="0">
                <a:solidFill>
                  <a:schemeClr val="tx1"/>
                </a:solidFill>
              </a:rPr>
              <a:t>Sec13/31 and Sec23/24</a:t>
            </a:r>
            <a:r>
              <a:rPr lang="en-US" sz="2400" dirty="0">
                <a:solidFill>
                  <a:schemeClr val="tx1"/>
                </a:solidFill>
              </a:rPr>
              <a:t>) and a small </a:t>
            </a:r>
            <a:r>
              <a:rPr lang="en-US" sz="2400" spc="-300" dirty="0">
                <a:solidFill>
                  <a:schemeClr val="tx1"/>
                </a:solidFill>
              </a:rPr>
              <a:t>G T </a:t>
            </a:r>
            <a:r>
              <a:rPr lang="en-US" sz="2400" dirty="0">
                <a:solidFill>
                  <a:schemeClr val="tx1"/>
                </a:solidFill>
              </a:rPr>
              <a:t>P-binding protein called </a:t>
            </a:r>
            <a:r>
              <a:rPr lang="en-US" sz="2400" i="1" dirty="0">
                <a:solidFill>
                  <a:schemeClr val="tx1"/>
                </a:solidFill>
              </a:rPr>
              <a:t>SarI</a:t>
            </a:r>
            <a:r>
              <a:rPr lang="en-US" sz="2400" dirty="0">
                <a:solidFill>
                  <a:schemeClr val="tx1"/>
                </a:solidFill>
              </a:rPr>
              <a:t>.</a:t>
            </a:r>
            <a:endParaRPr lang="en-US" sz="2400" i="1" dirty="0">
              <a:solidFill>
                <a:schemeClr val="tx1"/>
              </a:solidFill>
            </a:endParaRPr>
          </a:p>
          <a:p>
            <a:pPr marL="342900" indent="-342900"/>
            <a:r>
              <a:rPr lang="en-US" sz="2400" dirty="0">
                <a:solidFill>
                  <a:schemeClr val="tx1"/>
                </a:solidFill>
              </a:rPr>
              <a:t>SarI is similar to </a:t>
            </a:r>
            <a:r>
              <a:rPr lang="en-US" sz="2400" spc="-300" dirty="0">
                <a:solidFill>
                  <a:schemeClr val="tx1"/>
                </a:solidFill>
              </a:rPr>
              <a:t>A R </a:t>
            </a:r>
            <a:r>
              <a:rPr lang="en-US" sz="2400" dirty="0">
                <a:solidFill>
                  <a:schemeClr val="tx1"/>
                </a:solidFill>
              </a:rPr>
              <a:t>F, and the process of coat formation is similar to </a:t>
            </a:r>
            <a:r>
              <a:rPr lang="en-US" sz="2400" spc="-300" dirty="0">
                <a:solidFill>
                  <a:schemeClr val="tx1"/>
                </a:solidFill>
              </a:rPr>
              <a:t>C O P </a:t>
            </a:r>
            <a:r>
              <a:rPr lang="en-US" sz="2400" dirty="0">
                <a:solidFill>
                  <a:schemeClr val="tx1"/>
                </a:solidFill>
                <a:latin typeface="Times New Roman" panose="02020603050405020304" pitchFamily="18" charset="0"/>
                <a:cs typeface="Times New Roman" panose="02020603050405020304" pitchFamily="18" charset="0"/>
              </a:rPr>
              <a:t>I</a:t>
            </a:r>
            <a:r>
              <a:rPr lang="en-US" sz="2400" dirty="0">
                <a:solidFill>
                  <a:schemeClr val="tx1"/>
                </a:solidFill>
              </a:rPr>
              <a:t>-coated vesicles.</a:t>
            </a:r>
          </a:p>
        </p:txBody>
      </p:sp>
    </p:spTree>
    <p:extLst>
      <p:ext uri="{BB962C8B-B14F-4D97-AF65-F5344CB8AC3E}">
        <p14:creationId xmlns:p14="http://schemas.microsoft.com/office/powerpoint/2010/main" val="3621224939"/>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54580"/>
            <a:ext cx="8302240" cy="1108252"/>
          </a:xfrm>
        </p:spPr>
        <p:txBody>
          <a:bodyPr lIns="0" tIns="0" rIns="0" bIns="0" anchor="ctr"/>
          <a:lstStyle/>
          <a:p>
            <a:r>
              <a:rPr lang="en-US" sz="3200" spc="-450" dirty="0">
                <a:latin typeface="+mj-lt"/>
              </a:rPr>
              <a:t>S N A R </a:t>
            </a:r>
            <a:r>
              <a:rPr lang="en-US" sz="3200" dirty="0">
                <a:latin typeface="+mj-lt"/>
              </a:rPr>
              <a:t>E Proteins Mediate Fusion Between Vesicles and Target Membranes</a:t>
            </a: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562340"/>
            <a:ext cx="8052244" cy="3180110"/>
          </a:xfrm>
        </p:spPr>
        <p:txBody>
          <a:bodyPr lIns="0" tIns="0" rIns="0" bIns="0"/>
          <a:lstStyle/>
          <a:p>
            <a:pPr marL="342900" indent="-342900"/>
            <a:r>
              <a:rPr lang="en-US" sz="2400" dirty="0">
                <a:solidFill>
                  <a:schemeClr val="tx1"/>
                </a:solidFill>
              </a:rPr>
              <a:t>Once vesicles form, additional proteins ensure delivery to the correct destination.</a:t>
            </a:r>
          </a:p>
          <a:p>
            <a:pPr marL="342900" indent="-342900"/>
            <a:r>
              <a:rPr lang="en-US" sz="2400" dirty="0">
                <a:solidFill>
                  <a:schemeClr val="tx1"/>
                </a:solidFill>
              </a:rPr>
              <a:t>The </a:t>
            </a:r>
            <a:r>
              <a:rPr lang="en-US" sz="2400" b="1" spc="-300" dirty="0">
                <a:solidFill>
                  <a:schemeClr val="tx1"/>
                </a:solidFill>
              </a:rPr>
              <a:t>S N A R </a:t>
            </a:r>
            <a:r>
              <a:rPr lang="en-US" sz="2400" b="1" dirty="0">
                <a:solidFill>
                  <a:schemeClr val="tx1"/>
                </a:solidFill>
              </a:rPr>
              <a:t>E</a:t>
            </a:r>
            <a:r>
              <a:rPr lang="en-US" sz="2400" dirty="0">
                <a:solidFill>
                  <a:schemeClr val="tx1"/>
                </a:solidFill>
              </a:rPr>
              <a:t> </a:t>
            </a:r>
            <a:r>
              <a:rPr lang="en-US" sz="2400" b="1" dirty="0">
                <a:solidFill>
                  <a:schemeClr val="tx1"/>
                </a:solidFill>
              </a:rPr>
              <a:t>hypothesis</a:t>
            </a:r>
            <a:r>
              <a:rPr lang="en-US" sz="2400" dirty="0">
                <a:solidFill>
                  <a:schemeClr val="tx1"/>
                </a:solidFill>
              </a:rPr>
              <a:t> provides a model for the sorting and targeting step of intracellular transport. </a:t>
            </a:r>
          </a:p>
          <a:p>
            <a:pPr marL="342900" indent="-342900"/>
            <a:r>
              <a:rPr lang="en-US" sz="2400" dirty="0">
                <a:solidFill>
                  <a:schemeClr val="tx1"/>
                </a:solidFill>
              </a:rPr>
              <a:t>Proteins necessary for secretion include </a:t>
            </a:r>
            <a:br>
              <a:rPr lang="en-US" sz="2400" dirty="0">
                <a:solidFill>
                  <a:schemeClr val="tx1"/>
                </a:solidFill>
              </a:rPr>
            </a:br>
            <a:r>
              <a:rPr lang="en-US" sz="2400" b="1" i="1" dirty="0">
                <a:solidFill>
                  <a:schemeClr val="tx1"/>
                </a:solidFill>
              </a:rPr>
              <a:t>N</a:t>
            </a:r>
            <a:r>
              <a:rPr lang="en-US" sz="2400" b="1" dirty="0">
                <a:solidFill>
                  <a:schemeClr val="tx1"/>
                </a:solidFill>
              </a:rPr>
              <a:t>-ethylmaleimide-sensitive factor (</a:t>
            </a:r>
            <a:r>
              <a:rPr lang="en-US" sz="2400" b="1" spc="-300" dirty="0">
                <a:solidFill>
                  <a:schemeClr val="tx1"/>
                </a:solidFill>
              </a:rPr>
              <a:t>N S </a:t>
            </a:r>
            <a:r>
              <a:rPr lang="en-US" sz="2400" b="1" dirty="0">
                <a:solidFill>
                  <a:schemeClr val="tx1"/>
                </a:solidFill>
              </a:rPr>
              <a:t>F) </a:t>
            </a:r>
            <a:r>
              <a:rPr lang="en-US" sz="2400" dirty="0">
                <a:solidFill>
                  <a:schemeClr val="tx1"/>
                </a:solidFill>
              </a:rPr>
              <a:t>and</a:t>
            </a:r>
            <a:r>
              <a:rPr lang="en-US" sz="2400" b="1" dirty="0">
                <a:solidFill>
                  <a:schemeClr val="tx1"/>
                </a:solidFill>
              </a:rPr>
              <a:t> soluble </a:t>
            </a:r>
            <a:r>
              <a:rPr lang="en-US" sz="2400" b="1" spc="-300" dirty="0">
                <a:solidFill>
                  <a:schemeClr val="tx1"/>
                </a:solidFill>
              </a:rPr>
              <a:t>N S </a:t>
            </a:r>
            <a:r>
              <a:rPr lang="en-US" sz="2400" b="1" dirty="0">
                <a:solidFill>
                  <a:schemeClr val="tx1"/>
                </a:solidFill>
              </a:rPr>
              <a:t>F attachment proteins (</a:t>
            </a:r>
            <a:r>
              <a:rPr lang="en-US" sz="2400" b="1" spc="-300" dirty="0">
                <a:solidFill>
                  <a:schemeClr val="tx1"/>
                </a:solidFill>
              </a:rPr>
              <a:t>S N A P </a:t>
            </a:r>
            <a:r>
              <a:rPr lang="en-US" sz="2400" b="1" dirty="0">
                <a:solidFill>
                  <a:schemeClr val="tx1"/>
                </a:solidFill>
              </a:rPr>
              <a:t>s)</a:t>
            </a:r>
            <a:r>
              <a:rPr lang="en-US" sz="2400" dirty="0">
                <a:solidFill>
                  <a:schemeClr val="tx1"/>
                </a:solidFill>
              </a:rPr>
              <a:t>.</a:t>
            </a:r>
            <a:endParaRPr lang="en-US" sz="2400" b="1" dirty="0">
              <a:solidFill>
                <a:schemeClr val="tx1"/>
              </a:solidFill>
            </a:endParaRPr>
          </a:p>
        </p:txBody>
      </p:sp>
    </p:spTree>
    <p:extLst>
      <p:ext uri="{BB962C8B-B14F-4D97-AF65-F5344CB8AC3E}">
        <p14:creationId xmlns:p14="http://schemas.microsoft.com/office/powerpoint/2010/main" val="495391403"/>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84275"/>
            <a:ext cx="8263784" cy="553998"/>
          </a:xfrm>
        </p:spPr>
        <p:txBody>
          <a:bodyPr lIns="0" tIns="0" rIns="0" bIns="0" anchor="ctr">
            <a:spAutoFit/>
          </a:bodyPr>
          <a:lstStyle/>
          <a:p>
            <a:r>
              <a:rPr lang="en-US" sz="3600" spc="-450" dirty="0">
                <a:latin typeface="+mj-lt"/>
              </a:rPr>
              <a:t>S N A R </a:t>
            </a:r>
            <a:r>
              <a:rPr lang="en-US" sz="3600" dirty="0">
                <a:latin typeface="+mj-lt"/>
              </a:rPr>
              <a:t>E Proteins</a:t>
            </a:r>
            <a:endParaRPr lang="en-US" sz="2800" dirty="0">
              <a:latin typeface="+mj-lt"/>
            </a:endParaRP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067565"/>
            <a:ext cx="8263784" cy="3300904"/>
          </a:xfrm>
        </p:spPr>
        <p:txBody>
          <a:bodyPr lIns="0" tIns="0" rIns="0" bIns="0">
            <a:spAutoFit/>
          </a:bodyPr>
          <a:lstStyle/>
          <a:p>
            <a:pPr marL="342900" indent="-342900"/>
            <a:r>
              <a:rPr lang="en-US" sz="2400" dirty="0">
                <a:solidFill>
                  <a:schemeClr val="tx1"/>
                </a:solidFill>
              </a:rPr>
              <a:t>Proper sorting and targeting of vesicles involves two families of </a:t>
            </a:r>
            <a:r>
              <a:rPr lang="en-US" sz="2400" b="1" spc="-300" dirty="0">
                <a:solidFill>
                  <a:schemeClr val="tx1"/>
                </a:solidFill>
              </a:rPr>
              <a:t>S N A R </a:t>
            </a:r>
            <a:r>
              <a:rPr lang="en-US" sz="2400" b="1" dirty="0">
                <a:solidFill>
                  <a:schemeClr val="tx1"/>
                </a:solidFill>
              </a:rPr>
              <a:t>E</a:t>
            </a:r>
            <a:r>
              <a:rPr lang="en-US" sz="2400" dirty="0">
                <a:solidFill>
                  <a:schemeClr val="tx1"/>
                </a:solidFill>
              </a:rPr>
              <a:t> (</a:t>
            </a:r>
            <a:r>
              <a:rPr lang="en-US" sz="2400" b="1" u="sng" spc="-300" dirty="0">
                <a:solidFill>
                  <a:schemeClr val="tx1"/>
                </a:solidFill>
              </a:rPr>
              <a:t>S N A </a:t>
            </a:r>
            <a:r>
              <a:rPr lang="en-US" sz="2400" b="1" u="sng" dirty="0">
                <a:solidFill>
                  <a:schemeClr val="tx1"/>
                </a:solidFill>
              </a:rPr>
              <a:t>P</a:t>
            </a:r>
            <a:r>
              <a:rPr lang="en-US" sz="2400" dirty="0">
                <a:solidFill>
                  <a:schemeClr val="tx1"/>
                </a:solidFill>
              </a:rPr>
              <a:t> </a:t>
            </a:r>
            <a:r>
              <a:rPr lang="en-US" sz="2400" b="1" u="sng" dirty="0">
                <a:solidFill>
                  <a:schemeClr val="tx1"/>
                </a:solidFill>
              </a:rPr>
              <a:t>re</a:t>
            </a:r>
            <a:r>
              <a:rPr lang="en-US" sz="2400" b="1" dirty="0">
                <a:solidFill>
                  <a:schemeClr val="tx1"/>
                </a:solidFill>
              </a:rPr>
              <a:t>ceptor</a:t>
            </a:r>
            <a:r>
              <a:rPr lang="en-US" sz="2400" dirty="0">
                <a:solidFill>
                  <a:schemeClr val="tx1"/>
                </a:solidFill>
              </a:rPr>
              <a:t>) proteins:</a:t>
            </a:r>
          </a:p>
          <a:p>
            <a:pPr marL="829818" lvl="1" indent="-342900"/>
            <a:r>
              <a:rPr lang="en-US" sz="2400" b="1" dirty="0">
                <a:solidFill>
                  <a:schemeClr val="tx1"/>
                </a:solidFill>
              </a:rPr>
              <a:t>v-</a:t>
            </a:r>
            <a:r>
              <a:rPr lang="en-US" sz="2400" b="1" spc="-300" dirty="0">
                <a:solidFill>
                  <a:schemeClr val="tx1"/>
                </a:solidFill>
              </a:rPr>
              <a:t>S N A R </a:t>
            </a:r>
            <a:r>
              <a:rPr lang="en-US" sz="2400" b="1" dirty="0">
                <a:solidFill>
                  <a:schemeClr val="tx1"/>
                </a:solidFill>
              </a:rPr>
              <a:t>Es (vesicle-</a:t>
            </a:r>
            <a:r>
              <a:rPr lang="en-US" sz="2400" b="1" spc="-300" dirty="0">
                <a:solidFill>
                  <a:schemeClr val="tx1"/>
                </a:solidFill>
              </a:rPr>
              <a:t>S N A </a:t>
            </a:r>
            <a:r>
              <a:rPr lang="en-US" sz="2400" b="1" dirty="0">
                <a:solidFill>
                  <a:schemeClr val="tx1"/>
                </a:solidFill>
              </a:rPr>
              <a:t>P receptors) </a:t>
            </a:r>
            <a:r>
              <a:rPr lang="en-US" sz="2400" dirty="0">
                <a:solidFill>
                  <a:schemeClr val="tx1"/>
                </a:solidFill>
              </a:rPr>
              <a:t>are found on vesicles</a:t>
            </a:r>
          </a:p>
          <a:p>
            <a:pPr marL="829818" lvl="1" indent="-342900"/>
            <a:r>
              <a:rPr lang="en-US" sz="2400" b="1" dirty="0">
                <a:solidFill>
                  <a:schemeClr val="tx1"/>
                </a:solidFill>
              </a:rPr>
              <a:t>t-</a:t>
            </a:r>
            <a:r>
              <a:rPr lang="en-US" sz="2400" b="1" spc="-300" dirty="0">
                <a:solidFill>
                  <a:schemeClr val="tx1"/>
                </a:solidFill>
              </a:rPr>
              <a:t>S N A R </a:t>
            </a:r>
            <a:r>
              <a:rPr lang="en-US" sz="2400" b="1" dirty="0">
                <a:solidFill>
                  <a:schemeClr val="tx1"/>
                </a:solidFill>
              </a:rPr>
              <a:t>Es (target-</a:t>
            </a:r>
            <a:r>
              <a:rPr lang="en-US" sz="2400" b="1" spc="-300" dirty="0">
                <a:solidFill>
                  <a:schemeClr val="tx1"/>
                </a:solidFill>
              </a:rPr>
              <a:t>S N A </a:t>
            </a:r>
            <a:r>
              <a:rPr lang="en-US" sz="2400" b="1" dirty="0">
                <a:solidFill>
                  <a:schemeClr val="tx1"/>
                </a:solidFill>
              </a:rPr>
              <a:t>P receptors) </a:t>
            </a:r>
            <a:r>
              <a:rPr lang="en-US" sz="2400" dirty="0">
                <a:solidFill>
                  <a:schemeClr val="tx1"/>
                </a:solidFill>
              </a:rPr>
              <a:t>are found on target membranes</a:t>
            </a:r>
          </a:p>
          <a:p>
            <a:pPr marL="829818" lvl="1" indent="-342900"/>
            <a:r>
              <a:rPr lang="en-US" sz="2400" dirty="0">
                <a:solidFill>
                  <a:schemeClr val="tx1"/>
                </a:solidFill>
              </a:rPr>
              <a:t>v- and t-</a:t>
            </a:r>
            <a:r>
              <a:rPr lang="en-US" sz="2400" spc="-300" dirty="0">
                <a:solidFill>
                  <a:schemeClr val="tx1"/>
                </a:solidFill>
              </a:rPr>
              <a:t>S N A R </a:t>
            </a:r>
            <a:r>
              <a:rPr lang="en-US" sz="2400" dirty="0">
                <a:solidFill>
                  <a:schemeClr val="tx1"/>
                </a:solidFill>
              </a:rPr>
              <a:t>Es are complementary molecules that allow recognition between vesicles and their targets</a:t>
            </a:r>
          </a:p>
        </p:txBody>
      </p:sp>
    </p:spTree>
    <p:extLst>
      <p:ext uri="{BB962C8B-B14F-4D97-AF65-F5344CB8AC3E}">
        <p14:creationId xmlns:p14="http://schemas.microsoft.com/office/powerpoint/2010/main" val="2319956766"/>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30566" y="172163"/>
            <a:ext cx="8251961" cy="1107996"/>
          </a:xfrm>
        </p:spPr>
        <p:txBody>
          <a:bodyPr lIns="0" tIns="0" rIns="0" bIns="0" anchor="ctr">
            <a:spAutoFit/>
          </a:bodyPr>
          <a:lstStyle/>
          <a:p>
            <a:r>
              <a:rPr lang="en-US" dirty="0"/>
              <a:t>The </a:t>
            </a:r>
            <a:r>
              <a:rPr lang="en-US" spc="-400" dirty="0"/>
              <a:t>S N A R </a:t>
            </a:r>
            <a:r>
              <a:rPr lang="en-US" dirty="0"/>
              <a:t>E Hypothesis for Transport Vesicle Targeting and Fusion</a:t>
            </a:r>
          </a:p>
        </p:txBody>
      </p:sp>
      <p:sp>
        <p:nvSpPr>
          <p:cNvPr id="6" name="Content Placeholder 5"/>
          <p:cNvSpPr>
            <a:spLocks noGrp="1"/>
          </p:cNvSpPr>
          <p:nvPr>
            <p:ph sz="quarter" idx="15"/>
          </p:nvPr>
        </p:nvSpPr>
        <p:spPr>
          <a:xfrm>
            <a:off x="421689" y="1379949"/>
            <a:ext cx="8260838" cy="738664"/>
          </a:xfrm>
        </p:spPr>
        <p:txBody>
          <a:bodyPr lIns="0" tIns="0" rIns="0" bIns="0">
            <a:spAutoFit/>
          </a:bodyPr>
          <a:lstStyle/>
          <a:p>
            <a:pPr marL="0" indent="0">
              <a:buNone/>
            </a:pPr>
            <a:r>
              <a:rPr lang="en-US" sz="2400" b="1" dirty="0"/>
              <a:t>Figure 12.24 </a:t>
            </a:r>
            <a:r>
              <a:rPr lang="en-US" sz="2400" dirty="0"/>
              <a:t>The </a:t>
            </a:r>
            <a:r>
              <a:rPr lang="en-US" sz="2400" spc="-300" dirty="0"/>
              <a:t>S N A R </a:t>
            </a:r>
            <a:r>
              <a:rPr lang="en-US" sz="2400" dirty="0"/>
              <a:t>E Hypothesis for Transport Vesicle Targeting and Fusion.</a:t>
            </a:r>
          </a:p>
        </p:txBody>
      </p:sp>
      <p:pic>
        <p:nvPicPr>
          <p:cNvPr id="5" name="Picture Placeholder 4" descr="An illustration on S N A R E hypothesis shows the process of dissociation of S N A R E complex by N S F and S N A Ps.&#10;Long description is available in notes, press F6"/>
          <p:cNvPicPr>
            <a:picLocks noGrp="1" noChangeAspect="1"/>
          </p:cNvPicPr>
          <p:nvPr>
            <p:ph type="pic" sz="quarter" idx="16"/>
          </p:nvPr>
        </p:nvPicPr>
        <p:blipFill rotWithShape="1">
          <a:blip r:embed="rId3">
            <a:extLst>
              <a:ext uri="{28A0092B-C50C-407E-A947-70E740481C1C}">
                <a14:useLocalDpi xmlns:a14="http://schemas.microsoft.com/office/drawing/2010/main" val="0"/>
              </a:ext>
            </a:extLst>
          </a:blip>
          <a:srcRect b="4179"/>
          <a:stretch/>
        </p:blipFill>
        <p:spPr>
          <a:xfrm>
            <a:off x="536692" y="2404014"/>
            <a:ext cx="8135933" cy="3570105"/>
          </a:xfrm>
        </p:spPr>
      </p:pic>
    </p:spTree>
    <p:extLst>
      <p:ext uri="{BB962C8B-B14F-4D97-AF65-F5344CB8AC3E}">
        <p14:creationId xmlns:p14="http://schemas.microsoft.com/office/powerpoint/2010/main" val="1930645735"/>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84275"/>
            <a:ext cx="8263784" cy="553998"/>
          </a:xfrm>
        </p:spPr>
        <p:txBody>
          <a:bodyPr lIns="0" tIns="0" rIns="0" bIns="0" anchor="ctr">
            <a:spAutoFit/>
          </a:bodyPr>
          <a:lstStyle/>
          <a:p>
            <a:r>
              <a:rPr lang="en-US" sz="3600" dirty="0">
                <a:latin typeface="+mj-lt"/>
              </a:rPr>
              <a:t>Rab GTPases</a:t>
            </a: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067565"/>
            <a:ext cx="8263784" cy="1669688"/>
          </a:xfrm>
        </p:spPr>
        <p:txBody>
          <a:bodyPr lIns="0" tIns="0" rIns="0" bIns="0">
            <a:spAutoFit/>
          </a:bodyPr>
          <a:lstStyle/>
          <a:p>
            <a:pPr marL="342900" indent="-342900"/>
            <a:r>
              <a:rPr lang="en-US" sz="2400" dirty="0">
                <a:solidFill>
                  <a:schemeClr val="tx1"/>
                </a:solidFill>
              </a:rPr>
              <a:t>When a vesicle reaches its destination, </a:t>
            </a:r>
            <a:r>
              <a:rPr lang="en-US" sz="2400" b="1" dirty="0">
                <a:solidFill>
                  <a:schemeClr val="tx1"/>
                </a:solidFill>
              </a:rPr>
              <a:t>Rab</a:t>
            </a:r>
            <a:r>
              <a:rPr lang="en-US" sz="2400" dirty="0">
                <a:solidFill>
                  <a:schemeClr val="tx1"/>
                </a:solidFill>
              </a:rPr>
              <a:t> </a:t>
            </a:r>
            <a:r>
              <a:rPr lang="en-US" sz="2400" b="1" dirty="0">
                <a:solidFill>
                  <a:schemeClr val="tx1"/>
                </a:solidFill>
              </a:rPr>
              <a:t>GTPases </a:t>
            </a:r>
            <a:r>
              <a:rPr lang="en-US" sz="2400" dirty="0">
                <a:solidFill>
                  <a:schemeClr val="tx1"/>
                </a:solidFill>
              </a:rPr>
              <a:t>(specific for different destinations) lock the complementary </a:t>
            </a:r>
            <a:r>
              <a:rPr lang="en-US" sz="2400" spc="-300" dirty="0">
                <a:solidFill>
                  <a:schemeClr val="tx1"/>
                </a:solidFill>
              </a:rPr>
              <a:t>S N A R </a:t>
            </a:r>
            <a:r>
              <a:rPr lang="en-US" sz="2400" dirty="0">
                <a:solidFill>
                  <a:schemeClr val="tx1"/>
                </a:solidFill>
              </a:rPr>
              <a:t>E proteins together.</a:t>
            </a:r>
          </a:p>
          <a:p>
            <a:pPr marL="342900" indent="-342900"/>
            <a:r>
              <a:rPr lang="en-US" sz="2400" dirty="0">
                <a:solidFill>
                  <a:schemeClr val="tx1"/>
                </a:solidFill>
              </a:rPr>
              <a:t>This facilitates membrane fusion.</a:t>
            </a:r>
          </a:p>
        </p:txBody>
      </p:sp>
    </p:spTree>
    <p:extLst>
      <p:ext uri="{BB962C8B-B14F-4D97-AF65-F5344CB8AC3E}">
        <p14:creationId xmlns:p14="http://schemas.microsoft.com/office/powerpoint/2010/main" val="728478345"/>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84275"/>
            <a:ext cx="8263784" cy="553998"/>
          </a:xfrm>
        </p:spPr>
        <p:txBody>
          <a:bodyPr lIns="0" tIns="0" rIns="0" bIns="0" anchor="ctr">
            <a:spAutoFit/>
          </a:bodyPr>
          <a:lstStyle/>
          <a:p>
            <a:r>
              <a:rPr lang="en-US" sz="3600" dirty="0">
                <a:latin typeface="+mj-lt"/>
              </a:rPr>
              <a:t>Release of </a:t>
            </a:r>
            <a:r>
              <a:rPr lang="en-US" sz="3600" spc="-500" dirty="0">
                <a:latin typeface="+mj-lt"/>
              </a:rPr>
              <a:t>S N A R E </a:t>
            </a:r>
            <a:r>
              <a:rPr lang="en-US" sz="3600" dirty="0">
                <a:latin typeface="+mj-lt"/>
              </a:rPr>
              <a:t>s</a:t>
            </a:r>
            <a:endParaRPr lang="en-US" sz="2800" dirty="0">
              <a:latin typeface="+mj-lt"/>
            </a:endParaRP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067565"/>
            <a:ext cx="8263784" cy="2231380"/>
          </a:xfrm>
        </p:spPr>
        <p:txBody>
          <a:bodyPr lIns="0" tIns="0" rIns="0" bIns="0">
            <a:spAutoFit/>
          </a:bodyPr>
          <a:lstStyle/>
          <a:p>
            <a:pPr marL="342900" indent="-342900"/>
            <a:r>
              <a:rPr lang="en-US" sz="2400" dirty="0">
                <a:solidFill>
                  <a:schemeClr val="tx1"/>
                </a:solidFill>
              </a:rPr>
              <a:t>Following vesicle fusion, </a:t>
            </a:r>
            <a:r>
              <a:rPr lang="en-US" sz="2400" spc="-300" dirty="0">
                <a:solidFill>
                  <a:schemeClr val="tx1"/>
                </a:solidFill>
              </a:rPr>
              <a:t>N S </a:t>
            </a:r>
            <a:r>
              <a:rPr lang="en-US" sz="2400" dirty="0">
                <a:solidFill>
                  <a:schemeClr val="tx1"/>
                </a:solidFill>
              </a:rPr>
              <a:t>F and a group of SNAPs mediate release of the SNAREs of the donor and target membranes.</a:t>
            </a:r>
          </a:p>
          <a:p>
            <a:pPr marL="342900" indent="-342900"/>
            <a:r>
              <a:rPr lang="en-US" sz="2400" dirty="0">
                <a:solidFill>
                  <a:schemeClr val="tx1"/>
                </a:solidFill>
              </a:rPr>
              <a:t>ATP hydrolysis may be needed, though its role is unclear.</a:t>
            </a:r>
          </a:p>
          <a:p>
            <a:pPr marL="342900" indent="-342900"/>
            <a:r>
              <a:rPr lang="en-US" sz="2400" dirty="0">
                <a:solidFill>
                  <a:schemeClr val="tx1"/>
                </a:solidFill>
              </a:rPr>
              <a:t>NSF and SNAPs are nonspecific.</a:t>
            </a:r>
          </a:p>
        </p:txBody>
      </p:sp>
    </p:spTree>
    <p:extLst>
      <p:ext uri="{BB962C8B-B14F-4D97-AF65-F5344CB8AC3E}">
        <p14:creationId xmlns:p14="http://schemas.microsoft.com/office/powerpoint/2010/main" val="3314476119"/>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84275"/>
            <a:ext cx="8263784" cy="553998"/>
          </a:xfrm>
        </p:spPr>
        <p:txBody>
          <a:bodyPr lIns="0" tIns="0" rIns="0" bIns="0" anchor="ctr">
            <a:spAutoFit/>
          </a:bodyPr>
          <a:lstStyle/>
          <a:p>
            <a:r>
              <a:rPr lang="en-US" sz="3600" spc="-450" dirty="0">
                <a:latin typeface="+mj-lt"/>
              </a:rPr>
              <a:t>S N A R </a:t>
            </a:r>
            <a:r>
              <a:rPr lang="en-US" sz="3600" dirty="0">
                <a:latin typeface="+mj-lt"/>
              </a:rPr>
              <a:t>Es May Not Be the Whole Story</a:t>
            </a:r>
            <a:endParaRPr lang="en-US" sz="2800" dirty="0">
              <a:latin typeface="+mj-lt"/>
            </a:endParaRP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067565"/>
            <a:ext cx="8263784" cy="2600712"/>
          </a:xfrm>
        </p:spPr>
        <p:txBody>
          <a:bodyPr lIns="0" tIns="0" rIns="0" bIns="0">
            <a:spAutoFit/>
          </a:bodyPr>
          <a:lstStyle/>
          <a:p>
            <a:pPr marL="342900" indent="-342900"/>
            <a:r>
              <a:rPr lang="en-US" sz="2400" dirty="0">
                <a:solidFill>
                  <a:schemeClr val="tx1"/>
                </a:solidFill>
              </a:rPr>
              <a:t>Recent research suggests that SNAREs are not solely responsible for targeting specificity.</a:t>
            </a:r>
          </a:p>
          <a:p>
            <a:pPr marL="342900" indent="-342900"/>
            <a:r>
              <a:rPr lang="en-US" sz="2400" b="1" dirty="0">
                <a:solidFill>
                  <a:schemeClr val="tx1"/>
                </a:solidFill>
              </a:rPr>
              <a:t>Tethering</a:t>
            </a:r>
            <a:r>
              <a:rPr lang="en-US" sz="2400" dirty="0">
                <a:solidFill>
                  <a:schemeClr val="tx1"/>
                </a:solidFill>
              </a:rPr>
              <a:t> </a:t>
            </a:r>
            <a:r>
              <a:rPr lang="en-US" sz="2400" b="1" dirty="0">
                <a:solidFill>
                  <a:schemeClr val="tx1"/>
                </a:solidFill>
              </a:rPr>
              <a:t>proteins</a:t>
            </a:r>
            <a:r>
              <a:rPr lang="en-US" sz="2400" dirty="0">
                <a:solidFill>
                  <a:schemeClr val="tx1"/>
                </a:solidFill>
              </a:rPr>
              <a:t> act over longer distances and attach vesicles to their targets before the SNAREs interact.</a:t>
            </a:r>
          </a:p>
          <a:p>
            <a:pPr marL="342900" indent="-342900"/>
            <a:r>
              <a:rPr lang="en-US" sz="2400" dirty="0">
                <a:solidFill>
                  <a:schemeClr val="tx1"/>
                </a:solidFill>
              </a:rPr>
              <a:t>Chemical blocking of SNARE complex formation does not abolish vesicle-target interaction.</a:t>
            </a:r>
          </a:p>
        </p:txBody>
      </p:sp>
    </p:spTree>
    <p:extLst>
      <p:ext uri="{BB962C8B-B14F-4D97-AF65-F5344CB8AC3E}">
        <p14:creationId xmlns:p14="http://schemas.microsoft.com/office/powerpoint/2010/main" val="1273148253"/>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84275"/>
            <a:ext cx="8263784" cy="553998"/>
          </a:xfrm>
        </p:spPr>
        <p:txBody>
          <a:bodyPr lIns="0" tIns="0" rIns="0" bIns="0" anchor="ctr">
            <a:spAutoFit/>
          </a:bodyPr>
          <a:lstStyle/>
          <a:p>
            <a:r>
              <a:rPr lang="en-US" sz="3600" dirty="0">
                <a:latin typeface="+mj-lt"/>
              </a:rPr>
              <a:t>Tethering Proteins</a:t>
            </a:r>
            <a:endParaRPr lang="en-US" sz="2800" dirty="0">
              <a:latin typeface="+mj-lt"/>
            </a:endParaRP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067565"/>
            <a:ext cx="8263784" cy="3339376"/>
          </a:xfrm>
        </p:spPr>
        <p:txBody>
          <a:bodyPr lIns="0" tIns="0" rIns="0" bIns="0">
            <a:spAutoFit/>
          </a:bodyPr>
          <a:lstStyle/>
          <a:p>
            <a:pPr marL="342900" indent="-342900"/>
            <a:r>
              <a:rPr lang="en-US" sz="2400" dirty="0">
                <a:solidFill>
                  <a:schemeClr val="tx1"/>
                </a:solidFill>
              </a:rPr>
              <a:t>Two main groups of tethering proteins are </a:t>
            </a:r>
            <a:r>
              <a:rPr lang="en-US" sz="2400" i="1" dirty="0">
                <a:solidFill>
                  <a:schemeClr val="tx1"/>
                </a:solidFill>
              </a:rPr>
              <a:t>coiled-coil</a:t>
            </a:r>
            <a:r>
              <a:rPr lang="en-US" sz="2400" dirty="0">
                <a:solidFill>
                  <a:schemeClr val="tx1"/>
                </a:solidFill>
              </a:rPr>
              <a:t> </a:t>
            </a:r>
            <a:r>
              <a:rPr lang="en-US" sz="2400" i="1" dirty="0">
                <a:solidFill>
                  <a:schemeClr val="tx1"/>
                </a:solidFill>
              </a:rPr>
              <a:t>proteins</a:t>
            </a:r>
            <a:r>
              <a:rPr lang="en-US" sz="2400" dirty="0">
                <a:solidFill>
                  <a:schemeClr val="tx1"/>
                </a:solidFill>
              </a:rPr>
              <a:t> and </a:t>
            </a:r>
            <a:r>
              <a:rPr lang="en-US" sz="2400" i="1" dirty="0">
                <a:solidFill>
                  <a:schemeClr val="tx1"/>
                </a:solidFill>
              </a:rPr>
              <a:t>multisubunit</a:t>
            </a:r>
            <a:r>
              <a:rPr lang="en-US" sz="2400" dirty="0">
                <a:solidFill>
                  <a:schemeClr val="tx1"/>
                </a:solidFill>
              </a:rPr>
              <a:t> </a:t>
            </a:r>
            <a:r>
              <a:rPr lang="en-US" sz="2400" i="1" dirty="0">
                <a:solidFill>
                  <a:schemeClr val="tx1"/>
                </a:solidFill>
              </a:rPr>
              <a:t>complexes</a:t>
            </a:r>
            <a:r>
              <a:rPr lang="en-US" sz="2400" dirty="0">
                <a:solidFill>
                  <a:schemeClr val="tx1"/>
                </a:solidFill>
              </a:rPr>
              <a:t>.</a:t>
            </a:r>
            <a:endParaRPr lang="en-US" sz="2400" i="1" dirty="0">
              <a:solidFill>
                <a:schemeClr val="tx1"/>
              </a:solidFill>
            </a:endParaRPr>
          </a:p>
          <a:p>
            <a:pPr marL="342900" indent="-342900"/>
            <a:r>
              <a:rPr lang="en-US" sz="2400" dirty="0">
                <a:solidFill>
                  <a:schemeClr val="tx1"/>
                </a:solidFill>
              </a:rPr>
              <a:t>Coiled-coil proteins such as </a:t>
            </a:r>
            <a:r>
              <a:rPr lang="en-US" sz="2400" b="1" dirty="0">
                <a:solidFill>
                  <a:schemeClr val="tx1"/>
                </a:solidFill>
              </a:rPr>
              <a:t>golgins</a:t>
            </a:r>
            <a:r>
              <a:rPr lang="en-US" sz="2400" dirty="0">
                <a:solidFill>
                  <a:schemeClr val="tx1"/>
                </a:solidFill>
              </a:rPr>
              <a:t> are important in recognition and binding of </a:t>
            </a:r>
            <a:r>
              <a:rPr lang="en-US" sz="2400" spc="-300" dirty="0">
                <a:solidFill>
                  <a:schemeClr val="tx1"/>
                </a:solidFill>
              </a:rPr>
              <a:t>C O P </a:t>
            </a:r>
            <a:r>
              <a:rPr lang="en-US" sz="2400" spc="-300" dirty="0">
                <a:solidFill>
                  <a:schemeClr val="tx1"/>
                </a:solidFill>
                <a:latin typeface="Times New Roman" panose="02020603050405020304" pitchFamily="18" charset="0"/>
                <a:cs typeface="Times New Roman" panose="02020603050405020304" pitchFamily="18" charset="0"/>
              </a:rPr>
              <a:t>I</a:t>
            </a:r>
            <a:r>
              <a:rPr lang="en-US" sz="2400" dirty="0">
                <a:solidFill>
                  <a:schemeClr val="tx1"/>
                </a:solidFill>
              </a:rPr>
              <a:t> or </a:t>
            </a:r>
            <a:r>
              <a:rPr lang="en-US" sz="2400" spc="-300" dirty="0">
                <a:solidFill>
                  <a:schemeClr val="tx1"/>
                </a:solidFill>
              </a:rPr>
              <a:t>C O P </a:t>
            </a:r>
            <a:r>
              <a:rPr lang="en-US" sz="2400" dirty="0">
                <a:solidFill>
                  <a:schemeClr val="tx1"/>
                </a:solidFill>
                <a:latin typeface="Times New Roman" panose="02020603050405020304" pitchFamily="18" charset="0"/>
                <a:cs typeface="Times New Roman" panose="02020603050405020304" pitchFamily="18" charset="0"/>
              </a:rPr>
              <a:t>Ⅱ</a:t>
            </a:r>
            <a:r>
              <a:rPr lang="en-US" sz="2400" dirty="0">
                <a:solidFill>
                  <a:schemeClr val="tx1"/>
                </a:solidFill>
              </a:rPr>
              <a:t> vesicles to the Golgi.</a:t>
            </a:r>
          </a:p>
          <a:p>
            <a:pPr marL="342900" indent="-342900"/>
            <a:r>
              <a:rPr lang="en-US" sz="2400" dirty="0">
                <a:solidFill>
                  <a:schemeClr val="tx1"/>
                </a:solidFill>
              </a:rPr>
              <a:t>Multisubunit protein complexes such as the </a:t>
            </a:r>
            <a:r>
              <a:rPr lang="en-US" sz="2400" i="1" dirty="0">
                <a:solidFill>
                  <a:schemeClr val="tx1"/>
                </a:solidFill>
              </a:rPr>
              <a:t>exocyst</a:t>
            </a:r>
            <a:r>
              <a:rPr lang="en-US" sz="2400" dirty="0">
                <a:solidFill>
                  <a:schemeClr val="tx1"/>
                </a:solidFill>
              </a:rPr>
              <a:t> complex are important for protein secretion. 								</a:t>
            </a:r>
          </a:p>
        </p:txBody>
      </p:sp>
    </p:spTree>
    <p:extLst>
      <p:ext uri="{BB962C8B-B14F-4D97-AF65-F5344CB8AC3E}">
        <p14:creationId xmlns:p14="http://schemas.microsoft.com/office/powerpoint/2010/main" val="1876559"/>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78553"/>
            <a:ext cx="8263784" cy="1107996"/>
          </a:xfrm>
        </p:spPr>
        <p:txBody>
          <a:bodyPr lIns="0" tIns="0" rIns="0" bIns="0" anchor="ctr">
            <a:spAutoFit/>
          </a:bodyPr>
          <a:lstStyle/>
          <a:p>
            <a:r>
              <a:rPr lang="en-US" sz="3600" dirty="0">
                <a:latin typeface="+mj-lt"/>
              </a:rPr>
              <a:t>12.7 Lysosomes and Cellular Digestion</a:t>
            </a:r>
            <a:endParaRPr lang="en-US" sz="2800" dirty="0">
              <a:latin typeface="+mj-lt"/>
            </a:endParaRP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564107"/>
            <a:ext cx="8263784" cy="2115964"/>
          </a:xfrm>
        </p:spPr>
        <p:txBody>
          <a:bodyPr lIns="0" tIns="0" rIns="0" bIns="0">
            <a:spAutoFit/>
          </a:bodyPr>
          <a:lstStyle/>
          <a:p>
            <a:pPr marL="342900" indent="-342900"/>
            <a:r>
              <a:rPr lang="en-US" sz="2400" dirty="0">
                <a:solidFill>
                  <a:schemeClr val="tx1"/>
                </a:solidFill>
              </a:rPr>
              <a:t>The </a:t>
            </a:r>
            <a:r>
              <a:rPr lang="en-US" sz="2400" b="1" dirty="0">
                <a:solidFill>
                  <a:schemeClr val="tx1"/>
                </a:solidFill>
              </a:rPr>
              <a:t>lysosome</a:t>
            </a:r>
            <a:r>
              <a:rPr lang="en-US" sz="2400" dirty="0">
                <a:solidFill>
                  <a:schemeClr val="tx1"/>
                </a:solidFill>
              </a:rPr>
              <a:t> is an organelle of the endomembrane system that contains digestive enzymes.</a:t>
            </a:r>
          </a:p>
          <a:p>
            <a:pPr marL="342900" indent="-342900"/>
            <a:r>
              <a:rPr lang="en-US" sz="2400" dirty="0">
                <a:solidFill>
                  <a:schemeClr val="tx1"/>
                </a:solidFill>
              </a:rPr>
              <a:t>It can degrade all the major classes of biological macromolecules: </a:t>
            </a:r>
          </a:p>
          <a:p>
            <a:pPr marL="829818" lvl="1" indent="-342900"/>
            <a:r>
              <a:rPr lang="en-US" sz="2400" dirty="0">
                <a:solidFill>
                  <a:schemeClr val="tx1"/>
                </a:solidFill>
              </a:rPr>
              <a:t>Lipids, carbohydrates, nucleic acids, and proteins </a:t>
            </a:r>
          </a:p>
        </p:txBody>
      </p:sp>
    </p:spTree>
    <p:extLst>
      <p:ext uri="{BB962C8B-B14F-4D97-AF65-F5344CB8AC3E}">
        <p14:creationId xmlns:p14="http://schemas.microsoft.com/office/powerpoint/2010/main" val="2888100589"/>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70240"/>
            <a:ext cx="8263784" cy="1107996"/>
          </a:xfrm>
        </p:spPr>
        <p:txBody>
          <a:bodyPr lIns="0" tIns="0" rIns="0" bIns="0" anchor="ctr">
            <a:spAutoFit/>
          </a:bodyPr>
          <a:lstStyle/>
          <a:p>
            <a:r>
              <a:rPr lang="en-US" sz="3600" dirty="0">
                <a:latin typeface="+mj-lt"/>
              </a:rPr>
              <a:t>Lysosomes Isolate Digestive Enzymes from the Rest of the Cell</a:t>
            </a:r>
            <a:endParaRPr lang="en-US" sz="2800" dirty="0">
              <a:latin typeface="+mj-lt"/>
            </a:endParaRP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564108"/>
            <a:ext cx="8263784" cy="2600712"/>
          </a:xfrm>
        </p:spPr>
        <p:txBody>
          <a:bodyPr lIns="0" tIns="0" rIns="0" bIns="0">
            <a:spAutoFit/>
          </a:bodyPr>
          <a:lstStyle/>
          <a:p>
            <a:pPr marL="342900" indent="-342900"/>
            <a:r>
              <a:rPr lang="en-US" sz="2400" dirty="0">
                <a:solidFill>
                  <a:schemeClr val="tx1"/>
                </a:solidFill>
              </a:rPr>
              <a:t>Lysosomes contain acid phosphatase and several other hydrolytic enzymes.</a:t>
            </a:r>
          </a:p>
          <a:p>
            <a:pPr marL="342900" indent="-342900"/>
            <a:r>
              <a:rPr lang="en-US" sz="2400" dirty="0">
                <a:solidFill>
                  <a:schemeClr val="tx1"/>
                </a:solidFill>
              </a:rPr>
              <a:t>They vary in size and shape but are usually about 0.5 </a:t>
            </a:r>
            <a:r>
              <a:rPr lang="en-US" sz="2400" i="1" dirty="0">
                <a:solidFill>
                  <a:schemeClr val="tx1"/>
                </a:solidFill>
              </a:rPr>
              <a:t>µ</a:t>
            </a:r>
            <a:r>
              <a:rPr lang="en-US" sz="2400" dirty="0">
                <a:solidFill>
                  <a:schemeClr val="tx1"/>
                </a:solidFill>
              </a:rPr>
              <a:t>m</a:t>
            </a:r>
            <a:r>
              <a:rPr lang="en-US" sz="2400" i="1" dirty="0">
                <a:solidFill>
                  <a:schemeClr val="tx1"/>
                </a:solidFill>
              </a:rPr>
              <a:t> </a:t>
            </a:r>
            <a:r>
              <a:rPr lang="en-US" sz="2400" dirty="0">
                <a:solidFill>
                  <a:schemeClr val="tx1"/>
                </a:solidFill>
              </a:rPr>
              <a:t>in diameter, bounded by a single membrane.</a:t>
            </a:r>
          </a:p>
          <a:p>
            <a:pPr marL="342900" indent="-342900"/>
            <a:r>
              <a:rPr lang="en-US" sz="2400" dirty="0">
                <a:solidFill>
                  <a:schemeClr val="tx1"/>
                </a:solidFill>
              </a:rPr>
              <a:t>The lumenal side of the membrane is coated with glycoproteins to protect the membrane from degradation.</a:t>
            </a:r>
          </a:p>
        </p:txBody>
      </p:sp>
    </p:spTree>
    <p:extLst>
      <p:ext uri="{BB962C8B-B14F-4D97-AF65-F5344CB8AC3E}">
        <p14:creationId xmlns:p14="http://schemas.microsoft.com/office/powerpoint/2010/main" val="416509545"/>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75962"/>
            <a:ext cx="8263784" cy="553998"/>
          </a:xfrm>
        </p:spPr>
        <p:txBody>
          <a:bodyPr lIns="0" tIns="0" rIns="0" bIns="0" anchor="ctr">
            <a:spAutoFit/>
          </a:bodyPr>
          <a:lstStyle/>
          <a:p>
            <a:r>
              <a:rPr lang="en-US" sz="3600" dirty="0">
                <a:latin typeface="+mj-lt"/>
              </a:rPr>
              <a:t>Lysosomes Are Highly Acidic Inside</a:t>
            </a:r>
            <a:endParaRPr lang="en-US" sz="2800" dirty="0">
              <a:latin typeface="+mj-lt"/>
            </a:endParaRP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067566"/>
            <a:ext cx="8263784" cy="2600712"/>
          </a:xfrm>
        </p:spPr>
        <p:txBody>
          <a:bodyPr lIns="0" tIns="0" rIns="0" bIns="0">
            <a:spAutoFit/>
          </a:bodyPr>
          <a:lstStyle/>
          <a:p>
            <a:pPr marL="342900" indent="-342900"/>
            <a:r>
              <a:rPr lang="en-US" sz="2400" dirty="0">
                <a:solidFill>
                  <a:schemeClr val="tx1"/>
                </a:solidFill>
              </a:rPr>
              <a:t>Lysosomes maintain an acidic environment </a:t>
            </a:r>
            <a:br>
              <a:rPr lang="en-US" sz="2400" dirty="0">
                <a:solidFill>
                  <a:schemeClr val="tx1"/>
                </a:solidFill>
              </a:rPr>
            </a:br>
            <a:r>
              <a:rPr lang="en-US" sz="2400" dirty="0">
                <a:solidFill>
                  <a:schemeClr val="tx1"/>
                </a:solidFill>
              </a:rPr>
              <a:t>(pH 4.0–5.0) inside.</a:t>
            </a:r>
          </a:p>
          <a:p>
            <a:pPr marL="342900" indent="-342900"/>
            <a:r>
              <a:rPr lang="en-US" sz="2400" spc="-300" dirty="0">
                <a:solidFill>
                  <a:schemeClr val="tx1"/>
                </a:solidFill>
              </a:rPr>
              <a:t>A T </a:t>
            </a:r>
            <a:r>
              <a:rPr lang="en-US" sz="2400" dirty="0">
                <a:solidFill>
                  <a:schemeClr val="tx1"/>
                </a:solidFill>
              </a:rPr>
              <a:t>P-dependent proton pumps in the membrane are responsible for this.</a:t>
            </a:r>
          </a:p>
          <a:p>
            <a:pPr marL="342900" indent="-342900"/>
            <a:r>
              <a:rPr lang="en-US" sz="2400" dirty="0">
                <a:solidFill>
                  <a:schemeClr val="tx1"/>
                </a:solidFill>
              </a:rPr>
              <a:t>There are numerous enzymes inside lysosomes; </a:t>
            </a:r>
            <a:br>
              <a:rPr lang="en-US" sz="2400" dirty="0">
                <a:solidFill>
                  <a:schemeClr val="tx1"/>
                </a:solidFill>
              </a:rPr>
            </a:br>
            <a:r>
              <a:rPr lang="en-US" sz="2400" dirty="0">
                <a:solidFill>
                  <a:schemeClr val="tx1"/>
                </a:solidFill>
              </a:rPr>
              <a:t>all are </a:t>
            </a:r>
            <a:r>
              <a:rPr lang="en-US" sz="2400" i="1" dirty="0">
                <a:solidFill>
                  <a:schemeClr val="tx1"/>
                </a:solidFill>
              </a:rPr>
              <a:t>acid hydrolases</a:t>
            </a:r>
            <a:r>
              <a:rPr lang="en-US" sz="2400" dirty="0">
                <a:solidFill>
                  <a:schemeClr val="tx1"/>
                </a:solidFill>
              </a:rPr>
              <a:t>.</a:t>
            </a:r>
            <a:endParaRPr lang="en-US" sz="2400" i="1" dirty="0">
              <a:solidFill>
                <a:schemeClr val="tx1"/>
              </a:solidFill>
            </a:endParaRPr>
          </a:p>
        </p:txBody>
      </p:sp>
    </p:spTree>
    <p:extLst>
      <p:ext uri="{BB962C8B-B14F-4D97-AF65-F5344CB8AC3E}">
        <p14:creationId xmlns:p14="http://schemas.microsoft.com/office/powerpoint/2010/main" val="1747585127"/>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71917"/>
            <a:ext cx="8263784" cy="1107996"/>
          </a:xfrm>
        </p:spPr>
        <p:txBody>
          <a:bodyPr lIns="0" tIns="0" rIns="0" bIns="0" anchor="ctr">
            <a:spAutoFit/>
          </a:bodyPr>
          <a:lstStyle/>
          <a:p>
            <a:r>
              <a:rPr lang="en-US" sz="3600" dirty="0">
                <a:latin typeface="+mj-lt"/>
              </a:rPr>
              <a:t>Lysosomes Develop from Endosomes</a:t>
            </a:r>
            <a:endParaRPr lang="en-US" sz="2800" dirty="0">
              <a:latin typeface="+mj-lt"/>
            </a:endParaRP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557338"/>
            <a:ext cx="8263784" cy="2600712"/>
          </a:xfrm>
        </p:spPr>
        <p:txBody>
          <a:bodyPr lIns="0" tIns="0" rIns="0" bIns="0">
            <a:spAutoFit/>
          </a:bodyPr>
          <a:lstStyle/>
          <a:p>
            <a:pPr marL="342900" indent="-342900"/>
            <a:r>
              <a:rPr lang="en-US" sz="2400" dirty="0">
                <a:solidFill>
                  <a:schemeClr val="tx1"/>
                </a:solidFill>
              </a:rPr>
              <a:t>Lysosomal enzymes are synthesized by ribosomes on rough</a:t>
            </a:r>
            <a:r>
              <a:rPr lang="en-US" sz="2400" spc="-300" dirty="0">
                <a:solidFill>
                  <a:schemeClr val="tx1"/>
                </a:solidFill>
              </a:rPr>
              <a:t> E </a:t>
            </a:r>
            <a:r>
              <a:rPr lang="en-US" sz="2400" dirty="0">
                <a:solidFill>
                  <a:schemeClr val="tx1"/>
                </a:solidFill>
              </a:rPr>
              <a:t>R and translocated inside.</a:t>
            </a:r>
          </a:p>
          <a:p>
            <a:pPr marL="342900" indent="-342900"/>
            <a:r>
              <a:rPr lang="en-US" sz="2400" dirty="0">
                <a:solidFill>
                  <a:schemeClr val="tx1"/>
                </a:solidFill>
              </a:rPr>
              <a:t>Lysosomal enzymes are delivered from the</a:t>
            </a:r>
            <a:r>
              <a:rPr lang="en-US" sz="2400" spc="-300" dirty="0">
                <a:solidFill>
                  <a:schemeClr val="tx1"/>
                </a:solidFill>
              </a:rPr>
              <a:t> T G </a:t>
            </a:r>
            <a:r>
              <a:rPr lang="en-US" sz="2400" dirty="0">
                <a:solidFill>
                  <a:schemeClr val="tx1"/>
                </a:solidFill>
              </a:rPr>
              <a:t>N to endosomes in transport vesicles.</a:t>
            </a:r>
          </a:p>
          <a:p>
            <a:pPr marL="342900" indent="-342900"/>
            <a:r>
              <a:rPr lang="en-US" sz="2400" dirty="0">
                <a:solidFill>
                  <a:schemeClr val="tx1"/>
                </a:solidFill>
              </a:rPr>
              <a:t>Over time, endosomes mature into late endosomes, with all the enzymes, but not engaged in digestion.</a:t>
            </a:r>
          </a:p>
        </p:txBody>
      </p:sp>
    </p:spTree>
    <p:extLst>
      <p:ext uri="{BB962C8B-B14F-4D97-AF65-F5344CB8AC3E}">
        <p14:creationId xmlns:p14="http://schemas.microsoft.com/office/powerpoint/2010/main" val="4265050720"/>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84275"/>
            <a:ext cx="8263784" cy="553998"/>
          </a:xfrm>
        </p:spPr>
        <p:txBody>
          <a:bodyPr lIns="0" tIns="0" rIns="0" bIns="0" anchor="ctr">
            <a:spAutoFit/>
          </a:bodyPr>
          <a:lstStyle/>
          <a:p>
            <a:r>
              <a:rPr lang="en-US" sz="3600" dirty="0">
                <a:latin typeface="+mj-lt"/>
              </a:rPr>
              <a:t>Endosome Development</a:t>
            </a:r>
            <a:endParaRPr lang="en-US" sz="2800" dirty="0">
              <a:latin typeface="+mj-lt"/>
            </a:endParaRP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067566"/>
            <a:ext cx="8093187" cy="3162404"/>
          </a:xfrm>
        </p:spPr>
        <p:txBody>
          <a:bodyPr wrap="square" lIns="0" tIns="0" rIns="0" bIns="0">
            <a:spAutoFit/>
          </a:bodyPr>
          <a:lstStyle/>
          <a:p>
            <a:pPr marL="342900" indent="-342900"/>
            <a:r>
              <a:rPr lang="en-US" sz="2400" dirty="0">
                <a:solidFill>
                  <a:schemeClr val="tx1"/>
                </a:solidFill>
              </a:rPr>
              <a:t>The pH of the early endosome lumen drops from about 6.0 to 5.5.</a:t>
            </a:r>
          </a:p>
          <a:p>
            <a:pPr marL="342900" indent="-342900"/>
            <a:r>
              <a:rPr lang="en-US" sz="2400" dirty="0">
                <a:solidFill>
                  <a:schemeClr val="tx1"/>
                </a:solidFill>
              </a:rPr>
              <a:t>The endosome loses its ability to fuse with endocytic vesicles.</a:t>
            </a:r>
          </a:p>
          <a:p>
            <a:pPr marL="342900" indent="-342900"/>
            <a:r>
              <a:rPr lang="en-US" sz="2400" dirty="0">
                <a:solidFill>
                  <a:schemeClr val="tx1"/>
                </a:solidFill>
              </a:rPr>
              <a:t>The late endosome is packaged with material to be digested and newly synthesized digestive enzymes.</a:t>
            </a:r>
          </a:p>
          <a:p>
            <a:pPr marL="342900" indent="-342900"/>
            <a:r>
              <a:rPr lang="en-US" sz="2400" dirty="0">
                <a:solidFill>
                  <a:schemeClr val="tx1"/>
                </a:solidFill>
              </a:rPr>
              <a:t>This protects the cell from hydrolytic enzymes.</a:t>
            </a:r>
          </a:p>
        </p:txBody>
      </p:sp>
    </p:spTree>
    <p:extLst>
      <p:ext uri="{BB962C8B-B14F-4D97-AF65-F5344CB8AC3E}">
        <p14:creationId xmlns:p14="http://schemas.microsoft.com/office/powerpoint/2010/main" val="1839680488"/>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84275"/>
            <a:ext cx="8263784" cy="553998"/>
          </a:xfrm>
        </p:spPr>
        <p:txBody>
          <a:bodyPr lIns="0" tIns="0" rIns="0" bIns="0" anchor="ctr">
            <a:spAutoFit/>
          </a:bodyPr>
          <a:lstStyle/>
          <a:p>
            <a:r>
              <a:rPr lang="en-US" sz="3600" dirty="0">
                <a:latin typeface="+mj-lt"/>
              </a:rPr>
              <a:t>Final Step of Lysosome Development</a:t>
            </a:r>
            <a:endParaRPr lang="en-US" sz="2800" dirty="0">
              <a:latin typeface="+mj-lt"/>
            </a:endParaRP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067566"/>
            <a:ext cx="7956709" cy="2600712"/>
          </a:xfrm>
        </p:spPr>
        <p:txBody>
          <a:bodyPr wrap="square" lIns="0" tIns="0" rIns="0" bIns="0">
            <a:spAutoFit/>
          </a:bodyPr>
          <a:lstStyle/>
          <a:p>
            <a:pPr marL="342900" indent="-342900"/>
            <a:r>
              <a:rPr lang="en-US" sz="2400" dirty="0">
                <a:solidFill>
                  <a:schemeClr val="tx1"/>
                </a:solidFill>
              </a:rPr>
              <a:t>The last step in development of a lysosome is activation of the acid hydrolases.</a:t>
            </a:r>
          </a:p>
          <a:p>
            <a:pPr marL="342900" indent="-342900"/>
            <a:r>
              <a:rPr lang="en-US" sz="2400" dirty="0">
                <a:solidFill>
                  <a:schemeClr val="tx1"/>
                </a:solidFill>
              </a:rPr>
              <a:t>This occurs as the internal environment becomes more acidic (pH 4.0–5.0).</a:t>
            </a:r>
          </a:p>
          <a:p>
            <a:pPr marL="342900" indent="-342900"/>
            <a:r>
              <a:rPr lang="en-US" sz="2400" dirty="0">
                <a:solidFill>
                  <a:schemeClr val="tx1"/>
                </a:solidFill>
              </a:rPr>
              <a:t>This occurs through the pumping of protons or through fusion with an existing lysosome.</a:t>
            </a:r>
          </a:p>
        </p:txBody>
      </p:sp>
    </p:spTree>
    <p:extLst>
      <p:ext uri="{BB962C8B-B14F-4D97-AF65-F5344CB8AC3E}">
        <p14:creationId xmlns:p14="http://schemas.microsoft.com/office/powerpoint/2010/main" val="4078788319"/>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30566" y="194631"/>
            <a:ext cx="8251961" cy="1046440"/>
          </a:xfrm>
        </p:spPr>
        <p:txBody>
          <a:bodyPr lIns="0" tIns="0" rIns="0" bIns="0" anchor="ctr">
            <a:spAutoFit/>
          </a:bodyPr>
          <a:lstStyle/>
          <a:p>
            <a:r>
              <a:rPr lang="en-US" sz="3400" dirty="0"/>
              <a:t>The Formation of Lysosomes and Their Roles in Cellular Digestive Properties</a:t>
            </a:r>
          </a:p>
        </p:txBody>
      </p:sp>
      <p:sp>
        <p:nvSpPr>
          <p:cNvPr id="6" name="Content Placeholder 5"/>
          <p:cNvSpPr>
            <a:spLocks noGrp="1"/>
          </p:cNvSpPr>
          <p:nvPr>
            <p:ph sz="quarter" idx="15"/>
          </p:nvPr>
        </p:nvSpPr>
        <p:spPr>
          <a:xfrm>
            <a:off x="421689" y="1379952"/>
            <a:ext cx="8260838" cy="738664"/>
          </a:xfrm>
        </p:spPr>
        <p:txBody>
          <a:bodyPr lIns="0" tIns="0" rIns="0" bIns="0">
            <a:spAutoFit/>
          </a:bodyPr>
          <a:lstStyle/>
          <a:p>
            <a:pPr marL="0" indent="0">
              <a:buNone/>
            </a:pPr>
            <a:r>
              <a:rPr lang="en-US" sz="2400" b="1" dirty="0"/>
              <a:t>Figure 12.25 </a:t>
            </a:r>
            <a:r>
              <a:rPr lang="en-US" sz="2400" dirty="0"/>
              <a:t>The Formation of Lysosomes and Their Roles in Cellular Digestive Processes.</a:t>
            </a:r>
          </a:p>
        </p:txBody>
      </p:sp>
      <p:pic>
        <p:nvPicPr>
          <p:cNvPr id="4" name="Picture Placeholder 3" descr="Major roles of lysosomes in the digestive processes that includes phagocytosis, receptor-mediated endocytosis, autophagy, and extracellular digestion.&#10;Long description is available in notes, press F6"/>
          <p:cNvPicPr>
            <a:picLocks noGrp="1" noChangeAspect="1"/>
          </p:cNvPicPr>
          <p:nvPr>
            <p:ph type="pic" sz="quarter" idx="16"/>
          </p:nvPr>
        </p:nvPicPr>
        <p:blipFill rotWithShape="1">
          <a:blip r:embed="rId3">
            <a:extLst>
              <a:ext uri="{28A0092B-C50C-407E-A947-70E740481C1C}">
                <a14:useLocalDpi xmlns:a14="http://schemas.microsoft.com/office/drawing/2010/main" val="0"/>
              </a:ext>
            </a:extLst>
          </a:blip>
          <a:srcRect l="3271" t="2989" r="977" b="8366"/>
          <a:stretch/>
        </p:blipFill>
        <p:spPr>
          <a:xfrm>
            <a:off x="1748927" y="2323830"/>
            <a:ext cx="5646147" cy="3888301"/>
          </a:xfrm>
        </p:spPr>
      </p:pic>
    </p:spTree>
    <p:extLst>
      <p:ext uri="{BB962C8B-B14F-4D97-AF65-F5344CB8AC3E}">
        <p14:creationId xmlns:p14="http://schemas.microsoft.com/office/powerpoint/2010/main" val="3678293611"/>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76189"/>
            <a:ext cx="8263784" cy="1661993"/>
          </a:xfrm>
        </p:spPr>
        <p:txBody>
          <a:bodyPr lIns="0" tIns="0" rIns="0" bIns="0" anchor="ctr">
            <a:spAutoFit/>
          </a:bodyPr>
          <a:lstStyle/>
          <a:p>
            <a:r>
              <a:rPr lang="en-US" sz="3600" dirty="0">
                <a:latin typeface="+mj-lt"/>
              </a:rPr>
              <a:t>Lysosomal Enzymes Are Important for Several Different Digestive Properties</a:t>
            </a:r>
            <a:endParaRPr lang="en-US" sz="2800" dirty="0">
              <a:latin typeface="+mj-lt"/>
            </a:endParaRP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2091147"/>
            <a:ext cx="7956709" cy="1669688"/>
          </a:xfrm>
        </p:spPr>
        <p:txBody>
          <a:bodyPr wrap="square" lIns="0" tIns="0" rIns="0" bIns="0">
            <a:spAutoFit/>
          </a:bodyPr>
          <a:lstStyle/>
          <a:p>
            <a:pPr marL="342900" indent="-342900"/>
            <a:r>
              <a:rPr lang="en-US" sz="2400" dirty="0">
                <a:solidFill>
                  <a:schemeClr val="tx1"/>
                </a:solidFill>
              </a:rPr>
              <a:t>Lysosomes containing substances that originated outside the cell are called </a:t>
            </a:r>
            <a:r>
              <a:rPr lang="en-US" sz="2400" b="1" dirty="0">
                <a:solidFill>
                  <a:schemeClr val="tx1"/>
                </a:solidFill>
              </a:rPr>
              <a:t>heterophagic lysosomes</a:t>
            </a:r>
            <a:r>
              <a:rPr lang="en-US" sz="2400" dirty="0">
                <a:solidFill>
                  <a:schemeClr val="tx1"/>
                </a:solidFill>
              </a:rPr>
              <a:t>.</a:t>
            </a:r>
            <a:endParaRPr lang="en-US" sz="2400" b="1" dirty="0">
              <a:solidFill>
                <a:schemeClr val="tx1"/>
              </a:solidFill>
            </a:endParaRPr>
          </a:p>
          <a:p>
            <a:pPr marL="342900" indent="-342900"/>
            <a:r>
              <a:rPr lang="en-US" sz="2400" dirty="0">
                <a:solidFill>
                  <a:schemeClr val="tx1"/>
                </a:solidFill>
              </a:rPr>
              <a:t>Those with materials that originated inside the cell are called </a:t>
            </a:r>
            <a:r>
              <a:rPr lang="en-US" sz="2400" b="1" dirty="0">
                <a:solidFill>
                  <a:schemeClr val="tx1"/>
                </a:solidFill>
              </a:rPr>
              <a:t>autophagic lysosomes</a:t>
            </a:r>
            <a:r>
              <a:rPr lang="en-US" sz="2400" dirty="0">
                <a:solidFill>
                  <a:schemeClr val="tx1"/>
                </a:solidFill>
              </a:rPr>
              <a:t>.</a:t>
            </a:r>
            <a:endParaRPr lang="en-US" sz="2400" b="1" dirty="0">
              <a:solidFill>
                <a:schemeClr val="tx1"/>
              </a:solidFill>
            </a:endParaRPr>
          </a:p>
        </p:txBody>
      </p:sp>
    </p:spTree>
    <p:extLst>
      <p:ext uri="{BB962C8B-B14F-4D97-AF65-F5344CB8AC3E}">
        <p14:creationId xmlns:p14="http://schemas.microsoft.com/office/powerpoint/2010/main" val="507978419"/>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76189"/>
            <a:ext cx="8263784" cy="1661993"/>
          </a:xfrm>
        </p:spPr>
        <p:txBody>
          <a:bodyPr lIns="0" tIns="0" rIns="0" bIns="0" anchor="ctr">
            <a:spAutoFit/>
          </a:bodyPr>
          <a:lstStyle/>
          <a:p>
            <a:r>
              <a:rPr lang="en-US" sz="3600" dirty="0">
                <a:latin typeface="+mj-lt"/>
              </a:rPr>
              <a:t>Phagocytosis and Receptor-Mediated Endocytosis: Lysosomes in Defense and Nutrition</a:t>
            </a:r>
            <a:endParaRPr lang="en-US" sz="2800" dirty="0">
              <a:latin typeface="+mj-lt"/>
            </a:endParaRP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2091147"/>
            <a:ext cx="7956709" cy="2970044"/>
          </a:xfrm>
        </p:spPr>
        <p:txBody>
          <a:bodyPr wrap="square" lIns="0" tIns="0" rIns="0" bIns="0">
            <a:spAutoFit/>
          </a:bodyPr>
          <a:lstStyle/>
          <a:p>
            <a:pPr marL="342900" indent="-342900"/>
            <a:r>
              <a:rPr lang="en-US" sz="2400" dirty="0">
                <a:solidFill>
                  <a:schemeClr val="tx1"/>
                </a:solidFill>
              </a:rPr>
              <a:t>The degradation of external materials brought into the cell by </a:t>
            </a:r>
            <a:r>
              <a:rPr lang="en-US" sz="2400" i="1" dirty="0">
                <a:solidFill>
                  <a:schemeClr val="tx1"/>
                </a:solidFill>
              </a:rPr>
              <a:t>phagocytosis</a:t>
            </a:r>
            <a:r>
              <a:rPr lang="en-US" sz="2400" dirty="0">
                <a:solidFill>
                  <a:schemeClr val="tx1"/>
                </a:solidFill>
              </a:rPr>
              <a:t> and </a:t>
            </a:r>
            <a:r>
              <a:rPr lang="en-US" sz="2400" i="1" dirty="0">
                <a:solidFill>
                  <a:schemeClr val="tx1"/>
                </a:solidFill>
              </a:rPr>
              <a:t>receptor-mediated endocytosis</a:t>
            </a:r>
            <a:r>
              <a:rPr lang="en-US" sz="2400" dirty="0">
                <a:solidFill>
                  <a:schemeClr val="tx1"/>
                </a:solidFill>
              </a:rPr>
              <a:t>.</a:t>
            </a:r>
            <a:endParaRPr lang="en-US" sz="2400" i="1" dirty="0">
              <a:solidFill>
                <a:schemeClr val="tx1"/>
              </a:solidFill>
            </a:endParaRPr>
          </a:p>
          <a:p>
            <a:pPr marL="342900" indent="-342900"/>
            <a:r>
              <a:rPr lang="en-US" sz="2400" dirty="0">
                <a:solidFill>
                  <a:schemeClr val="tx1"/>
                </a:solidFill>
              </a:rPr>
              <a:t>Phagocytic vacuoles become lysosomes by fusion with endosomes.</a:t>
            </a:r>
          </a:p>
          <a:p>
            <a:pPr marL="342900" indent="-342900"/>
            <a:r>
              <a:rPr lang="en-US" sz="2400" dirty="0">
                <a:solidFill>
                  <a:schemeClr val="tx1"/>
                </a:solidFill>
              </a:rPr>
              <a:t>Vesicles formed by receptor-mediated endocytosis fuse with vesicles of the</a:t>
            </a:r>
            <a:r>
              <a:rPr lang="en-US" sz="2400" spc="-300" dirty="0">
                <a:solidFill>
                  <a:schemeClr val="tx1"/>
                </a:solidFill>
              </a:rPr>
              <a:t> </a:t>
            </a:r>
            <a:r>
              <a:rPr lang="en-US" sz="2400" dirty="0">
                <a:solidFill>
                  <a:schemeClr val="tx1"/>
                </a:solidFill>
              </a:rPr>
              <a:t>TGN containing acid hydrolases.</a:t>
            </a:r>
          </a:p>
        </p:txBody>
      </p:sp>
    </p:spTree>
    <p:extLst>
      <p:ext uri="{BB962C8B-B14F-4D97-AF65-F5344CB8AC3E}">
        <p14:creationId xmlns:p14="http://schemas.microsoft.com/office/powerpoint/2010/main" val="3736986582"/>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84275"/>
            <a:ext cx="8263784" cy="553998"/>
          </a:xfrm>
        </p:spPr>
        <p:txBody>
          <a:bodyPr lIns="0" tIns="0" rIns="0" bIns="0" anchor="ctr">
            <a:spAutoFit/>
          </a:bodyPr>
          <a:lstStyle/>
          <a:p>
            <a:r>
              <a:rPr lang="en-US" sz="3600" dirty="0">
                <a:latin typeface="+mj-lt"/>
              </a:rPr>
              <a:t>After Digestion Is Complete</a:t>
            </a:r>
            <a:endParaRPr lang="en-US" sz="2800" dirty="0">
              <a:latin typeface="+mj-lt"/>
            </a:endParaRP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067566"/>
            <a:ext cx="8079539" cy="2970044"/>
          </a:xfrm>
        </p:spPr>
        <p:txBody>
          <a:bodyPr wrap="square" lIns="0" tIns="0" rIns="0" bIns="0">
            <a:spAutoFit/>
          </a:bodyPr>
          <a:lstStyle/>
          <a:p>
            <a:pPr marL="342900" indent="-342900"/>
            <a:r>
              <a:rPr lang="en-US" sz="2400" dirty="0">
                <a:solidFill>
                  <a:schemeClr val="tx1"/>
                </a:solidFill>
              </a:rPr>
              <a:t>Eventually, indigestible material is all that remains in a lysosome.</a:t>
            </a:r>
          </a:p>
          <a:p>
            <a:pPr marL="342900" indent="-342900"/>
            <a:r>
              <a:rPr lang="en-US" sz="2400" dirty="0">
                <a:solidFill>
                  <a:schemeClr val="tx1"/>
                </a:solidFill>
              </a:rPr>
              <a:t>The lysosome becomes a </a:t>
            </a:r>
            <a:r>
              <a:rPr lang="en-US" sz="2400" b="1" dirty="0">
                <a:solidFill>
                  <a:schemeClr val="tx1"/>
                </a:solidFill>
              </a:rPr>
              <a:t>residual</a:t>
            </a:r>
            <a:r>
              <a:rPr lang="en-US" sz="2400" dirty="0">
                <a:solidFill>
                  <a:schemeClr val="tx1"/>
                </a:solidFill>
              </a:rPr>
              <a:t> </a:t>
            </a:r>
            <a:r>
              <a:rPr lang="en-US" sz="2400" b="1" dirty="0">
                <a:solidFill>
                  <a:schemeClr val="tx1"/>
                </a:solidFill>
              </a:rPr>
              <a:t>body</a:t>
            </a:r>
            <a:r>
              <a:rPr lang="en-US" sz="2400" dirty="0">
                <a:solidFill>
                  <a:schemeClr val="tx1"/>
                </a:solidFill>
              </a:rPr>
              <a:t> when digestion ceases.</a:t>
            </a:r>
          </a:p>
          <a:p>
            <a:pPr marL="342900" indent="-342900"/>
            <a:r>
              <a:rPr lang="en-US" sz="2400" dirty="0">
                <a:solidFill>
                  <a:schemeClr val="tx1"/>
                </a:solidFill>
              </a:rPr>
              <a:t>Some cells release the contents by exocytosis; </a:t>
            </a:r>
            <a:br>
              <a:rPr lang="en-US" sz="2400" dirty="0">
                <a:solidFill>
                  <a:schemeClr val="tx1"/>
                </a:solidFill>
              </a:rPr>
            </a:br>
            <a:r>
              <a:rPr lang="en-US" sz="2400" dirty="0">
                <a:solidFill>
                  <a:schemeClr val="tx1"/>
                </a:solidFill>
              </a:rPr>
              <a:t>in others, accumulation of debris may contribute to cellular aging.</a:t>
            </a:r>
          </a:p>
        </p:txBody>
      </p:sp>
    </p:spTree>
    <p:extLst>
      <p:ext uri="{BB962C8B-B14F-4D97-AF65-F5344CB8AC3E}">
        <p14:creationId xmlns:p14="http://schemas.microsoft.com/office/powerpoint/2010/main" val="160983223"/>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73985"/>
            <a:ext cx="8263784" cy="1107996"/>
          </a:xfrm>
        </p:spPr>
        <p:txBody>
          <a:bodyPr lIns="0" tIns="0" rIns="0" bIns="0" anchor="ctr">
            <a:spAutoFit/>
          </a:bodyPr>
          <a:lstStyle/>
          <a:p>
            <a:r>
              <a:rPr lang="en-US" sz="3600" dirty="0">
                <a:latin typeface="+mj-lt"/>
              </a:rPr>
              <a:t>Autophagy: A Biological Recycling System</a:t>
            </a:r>
            <a:endParaRPr lang="en-US" sz="2800" dirty="0">
              <a:latin typeface="+mj-lt"/>
            </a:endParaRP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557338"/>
            <a:ext cx="7984005" cy="2970044"/>
          </a:xfrm>
        </p:spPr>
        <p:txBody>
          <a:bodyPr wrap="square" lIns="0" tIns="0" rIns="0" bIns="0">
            <a:spAutoFit/>
          </a:bodyPr>
          <a:lstStyle/>
          <a:p>
            <a:pPr marL="342900" indent="-342900"/>
            <a:r>
              <a:rPr lang="en-US" sz="2400" dirty="0">
                <a:solidFill>
                  <a:schemeClr val="tx1"/>
                </a:solidFill>
              </a:rPr>
              <a:t>Cellular structures that are damaged or unneeded must be broken down via </a:t>
            </a:r>
            <a:r>
              <a:rPr lang="en-US" sz="2400" b="1" dirty="0">
                <a:solidFill>
                  <a:schemeClr val="tx1"/>
                </a:solidFill>
              </a:rPr>
              <a:t>autophagy</a:t>
            </a:r>
            <a:r>
              <a:rPr lang="en-US" sz="2400" dirty="0">
                <a:solidFill>
                  <a:schemeClr val="tx1"/>
                </a:solidFill>
              </a:rPr>
              <a:t>.</a:t>
            </a:r>
            <a:endParaRPr lang="en-US" sz="2400" b="1" dirty="0">
              <a:solidFill>
                <a:schemeClr val="tx1"/>
              </a:solidFill>
            </a:endParaRPr>
          </a:p>
          <a:p>
            <a:pPr marL="342900" indent="-342900"/>
            <a:r>
              <a:rPr lang="en-US" sz="2400" b="1" dirty="0">
                <a:solidFill>
                  <a:schemeClr val="tx1"/>
                </a:solidFill>
              </a:rPr>
              <a:t>Macrophagy</a:t>
            </a:r>
            <a:r>
              <a:rPr lang="en-US" sz="2400" dirty="0">
                <a:solidFill>
                  <a:schemeClr val="tx1"/>
                </a:solidFill>
              </a:rPr>
              <a:t>: an organelle is wrapped in a double membrane derived from the </a:t>
            </a:r>
            <a:r>
              <a:rPr lang="en-US" sz="2400" spc="-300" dirty="0">
                <a:solidFill>
                  <a:schemeClr val="tx1"/>
                </a:solidFill>
              </a:rPr>
              <a:t>E </a:t>
            </a:r>
            <a:r>
              <a:rPr lang="en-US" sz="2400" dirty="0">
                <a:solidFill>
                  <a:schemeClr val="tx1"/>
                </a:solidFill>
              </a:rPr>
              <a:t>R, forming an </a:t>
            </a:r>
            <a:r>
              <a:rPr lang="en-US" sz="2400" b="1" dirty="0">
                <a:solidFill>
                  <a:schemeClr val="tx1"/>
                </a:solidFill>
              </a:rPr>
              <a:t>autophagic</a:t>
            </a:r>
            <a:r>
              <a:rPr lang="en-US" sz="2400" dirty="0">
                <a:solidFill>
                  <a:schemeClr val="tx1"/>
                </a:solidFill>
              </a:rPr>
              <a:t> </a:t>
            </a:r>
            <a:r>
              <a:rPr lang="en-US" sz="2400" b="1" dirty="0">
                <a:solidFill>
                  <a:schemeClr val="tx1"/>
                </a:solidFill>
              </a:rPr>
              <a:t>vacuole</a:t>
            </a:r>
            <a:r>
              <a:rPr lang="en-US" sz="2400" dirty="0">
                <a:solidFill>
                  <a:schemeClr val="tx1"/>
                </a:solidFill>
              </a:rPr>
              <a:t> (</a:t>
            </a:r>
            <a:r>
              <a:rPr lang="en-US" sz="2400" b="1" dirty="0">
                <a:solidFill>
                  <a:schemeClr val="tx1"/>
                </a:solidFill>
              </a:rPr>
              <a:t>autophagosome</a:t>
            </a:r>
            <a:r>
              <a:rPr lang="en-US" sz="2400" dirty="0">
                <a:solidFill>
                  <a:schemeClr val="tx1"/>
                </a:solidFill>
              </a:rPr>
              <a:t>).</a:t>
            </a:r>
          </a:p>
          <a:p>
            <a:pPr marL="342900" indent="-342900"/>
            <a:r>
              <a:rPr lang="en-US" sz="2400" b="1" dirty="0">
                <a:solidFill>
                  <a:schemeClr val="tx1"/>
                </a:solidFill>
              </a:rPr>
              <a:t>Microphagy</a:t>
            </a:r>
            <a:r>
              <a:rPr lang="en-US" sz="2400" dirty="0">
                <a:solidFill>
                  <a:schemeClr val="tx1"/>
                </a:solidFill>
              </a:rPr>
              <a:t>: a much smaller vacuole is formed, surrounded by a single-membrane bilayer.</a:t>
            </a:r>
          </a:p>
        </p:txBody>
      </p:sp>
    </p:spTree>
    <p:extLst>
      <p:ext uri="{BB962C8B-B14F-4D97-AF65-F5344CB8AC3E}">
        <p14:creationId xmlns:p14="http://schemas.microsoft.com/office/powerpoint/2010/main" val="268145058"/>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30566" y="194338"/>
            <a:ext cx="8251961" cy="553998"/>
          </a:xfrm>
        </p:spPr>
        <p:txBody>
          <a:bodyPr lIns="0" tIns="0" rIns="0" bIns="0" anchor="ctr">
            <a:spAutoFit/>
          </a:bodyPr>
          <a:lstStyle/>
          <a:p>
            <a:r>
              <a:rPr lang="en-US" dirty="0"/>
              <a:t>Autophagic Digestion</a:t>
            </a:r>
          </a:p>
        </p:txBody>
      </p:sp>
      <p:sp>
        <p:nvSpPr>
          <p:cNvPr id="6" name="Content Placeholder 5"/>
          <p:cNvSpPr>
            <a:spLocks noGrp="1"/>
          </p:cNvSpPr>
          <p:nvPr>
            <p:ph sz="quarter" idx="15"/>
          </p:nvPr>
        </p:nvSpPr>
        <p:spPr>
          <a:xfrm>
            <a:off x="421689" y="1063722"/>
            <a:ext cx="4872982" cy="369332"/>
          </a:xfrm>
        </p:spPr>
        <p:txBody>
          <a:bodyPr wrap="square" lIns="0" tIns="0" rIns="0" bIns="0">
            <a:spAutoFit/>
          </a:bodyPr>
          <a:lstStyle/>
          <a:p>
            <a:pPr marL="0" indent="0">
              <a:buNone/>
            </a:pPr>
            <a:r>
              <a:rPr lang="en-US" sz="2400" b="1" dirty="0"/>
              <a:t>Figure 12.26 </a:t>
            </a:r>
            <a:r>
              <a:rPr lang="en-US" sz="2400" dirty="0"/>
              <a:t>Autophagic Digestion.</a:t>
            </a:r>
          </a:p>
        </p:txBody>
      </p:sp>
      <p:pic>
        <p:nvPicPr>
          <p:cNvPr id="5" name="Picture Placeholder 4" descr="Two electron micrographs of early and late autophagic digestion of measurement 500 nm. &#10;Long description is available in notes, press F6"/>
          <p:cNvPicPr>
            <a:picLocks noGrp="1" noChangeAspect="1"/>
          </p:cNvPicPr>
          <p:nvPr>
            <p:ph type="pic" sz="quarter" idx="16"/>
          </p:nvPr>
        </p:nvPicPr>
        <p:blipFill rotWithShape="1">
          <a:blip r:embed="rId3">
            <a:extLst>
              <a:ext uri="{28A0092B-C50C-407E-A947-70E740481C1C}">
                <a14:useLocalDpi xmlns:a14="http://schemas.microsoft.com/office/drawing/2010/main" val="0"/>
              </a:ext>
            </a:extLst>
          </a:blip>
          <a:srcRect b="1979"/>
          <a:stretch/>
        </p:blipFill>
        <p:spPr>
          <a:xfrm>
            <a:off x="5540657" y="1068946"/>
            <a:ext cx="3154749" cy="5306096"/>
          </a:xfrm>
        </p:spPr>
      </p:pic>
    </p:spTree>
    <p:extLst>
      <p:ext uri="{BB962C8B-B14F-4D97-AF65-F5344CB8AC3E}">
        <p14:creationId xmlns:p14="http://schemas.microsoft.com/office/powerpoint/2010/main" val="2720303834"/>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84275"/>
            <a:ext cx="8263784" cy="553998"/>
          </a:xfrm>
        </p:spPr>
        <p:txBody>
          <a:bodyPr lIns="0" tIns="0" rIns="0" bIns="0" anchor="ctr">
            <a:spAutoFit/>
          </a:bodyPr>
          <a:lstStyle/>
          <a:p>
            <a:r>
              <a:rPr lang="en-US" sz="3600" dirty="0">
                <a:latin typeface="+mj-lt"/>
              </a:rPr>
              <a:t>Autophagy and Cancer</a:t>
            </a:r>
            <a:endParaRPr lang="en-US" sz="2800" dirty="0">
              <a:latin typeface="+mj-lt"/>
            </a:endParaRP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067565"/>
            <a:ext cx="8263784" cy="2039020"/>
          </a:xfrm>
        </p:spPr>
        <p:txBody>
          <a:bodyPr lIns="0" tIns="0" rIns="0" bIns="0">
            <a:spAutoFit/>
          </a:bodyPr>
          <a:lstStyle/>
          <a:p>
            <a:pPr marL="342900" indent="-342900"/>
            <a:r>
              <a:rPr lang="en-US" sz="2400" dirty="0">
                <a:solidFill>
                  <a:schemeClr val="tx1"/>
                </a:solidFill>
              </a:rPr>
              <a:t>Recent works suggests a direct link between autophagy and cancer.</a:t>
            </a:r>
          </a:p>
          <a:p>
            <a:pPr marL="342900" indent="-342900"/>
            <a:r>
              <a:rPr lang="en-US" sz="2400" dirty="0">
                <a:solidFill>
                  <a:schemeClr val="tx1"/>
                </a:solidFill>
              </a:rPr>
              <a:t>In mice, knockout of a gene required for autophagy in yeast causes decrease in autophagy and an increase in breast and lung tumors.</a:t>
            </a:r>
          </a:p>
        </p:txBody>
      </p:sp>
    </p:spTree>
    <p:extLst>
      <p:ext uri="{BB962C8B-B14F-4D97-AF65-F5344CB8AC3E}">
        <p14:creationId xmlns:p14="http://schemas.microsoft.com/office/powerpoint/2010/main" val="3442271166"/>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84275"/>
            <a:ext cx="8263784" cy="553998"/>
          </a:xfrm>
        </p:spPr>
        <p:txBody>
          <a:bodyPr lIns="0" tIns="0" rIns="0" bIns="0" anchor="ctr">
            <a:spAutoFit/>
          </a:bodyPr>
          <a:lstStyle/>
          <a:p>
            <a:r>
              <a:rPr lang="en-US" sz="3600" dirty="0">
                <a:latin typeface="+mj-lt"/>
              </a:rPr>
              <a:t>Extracellular Digestion</a:t>
            </a:r>
            <a:endParaRPr lang="en-US" sz="2800" dirty="0">
              <a:latin typeface="+mj-lt"/>
            </a:endParaRP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067565"/>
            <a:ext cx="8263784" cy="2231380"/>
          </a:xfrm>
        </p:spPr>
        <p:txBody>
          <a:bodyPr lIns="0" tIns="0" rIns="0" bIns="0">
            <a:spAutoFit/>
          </a:bodyPr>
          <a:lstStyle/>
          <a:p>
            <a:pPr marL="342900" indent="-342900"/>
            <a:r>
              <a:rPr lang="en-US" sz="2400" dirty="0">
                <a:solidFill>
                  <a:schemeClr val="tx1"/>
                </a:solidFill>
              </a:rPr>
              <a:t>Most lysosomal digestion occurs inside the cell.</a:t>
            </a:r>
          </a:p>
          <a:p>
            <a:pPr marL="342900" indent="-342900"/>
            <a:r>
              <a:rPr lang="en-US" sz="2400" dirty="0">
                <a:solidFill>
                  <a:schemeClr val="tx1"/>
                </a:solidFill>
              </a:rPr>
              <a:t>In some cases, lysosomes discharge their contents outside the cell, resulting in </a:t>
            </a:r>
            <a:r>
              <a:rPr lang="en-US" sz="2400" b="1" dirty="0">
                <a:solidFill>
                  <a:schemeClr val="tx1"/>
                </a:solidFill>
              </a:rPr>
              <a:t>extracellular</a:t>
            </a:r>
            <a:r>
              <a:rPr lang="en-US" sz="2400" dirty="0">
                <a:solidFill>
                  <a:schemeClr val="tx1"/>
                </a:solidFill>
              </a:rPr>
              <a:t> </a:t>
            </a:r>
            <a:r>
              <a:rPr lang="en-US" sz="2400" b="1" dirty="0">
                <a:solidFill>
                  <a:schemeClr val="tx1"/>
                </a:solidFill>
              </a:rPr>
              <a:t>digestion</a:t>
            </a:r>
            <a:r>
              <a:rPr lang="en-US" sz="2400" dirty="0">
                <a:solidFill>
                  <a:schemeClr val="tx1"/>
                </a:solidFill>
              </a:rPr>
              <a:t>.</a:t>
            </a:r>
            <a:endParaRPr lang="en-US" sz="2400" b="1" dirty="0">
              <a:solidFill>
                <a:schemeClr val="tx1"/>
              </a:solidFill>
            </a:endParaRPr>
          </a:p>
          <a:p>
            <a:pPr marL="342900" indent="-342900"/>
            <a:r>
              <a:rPr lang="en-US" sz="2400" dirty="0">
                <a:solidFill>
                  <a:schemeClr val="tx1"/>
                </a:solidFill>
              </a:rPr>
              <a:t>For example, the head of a sperm releases digestive enzymes to degrade barriers protecting an egg.</a:t>
            </a:r>
          </a:p>
        </p:txBody>
      </p:sp>
    </p:spTree>
    <p:extLst>
      <p:ext uri="{BB962C8B-B14F-4D97-AF65-F5344CB8AC3E}">
        <p14:creationId xmlns:p14="http://schemas.microsoft.com/office/powerpoint/2010/main" val="1536520687"/>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67444"/>
            <a:ext cx="8263784" cy="1661993"/>
          </a:xfrm>
        </p:spPr>
        <p:txBody>
          <a:bodyPr lIns="0" tIns="0" rIns="0" bIns="0" anchor="ctr">
            <a:spAutoFit/>
          </a:bodyPr>
          <a:lstStyle/>
          <a:p>
            <a:r>
              <a:rPr lang="en-US" sz="3600" dirty="0">
                <a:latin typeface="+mj-lt"/>
              </a:rPr>
              <a:t>Lysosomal Storage Diseases Are Usually Characterized by the Accumulation of Indigestible Material</a:t>
            </a: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2067555"/>
            <a:ext cx="8263784" cy="2231380"/>
          </a:xfrm>
        </p:spPr>
        <p:txBody>
          <a:bodyPr lIns="0" tIns="0" rIns="0" bIns="0">
            <a:spAutoFit/>
          </a:bodyPr>
          <a:lstStyle/>
          <a:p>
            <a:pPr marL="342900" indent="-342900"/>
            <a:r>
              <a:rPr lang="en-US" sz="2400" dirty="0">
                <a:solidFill>
                  <a:schemeClr val="tx1"/>
                </a:solidFill>
              </a:rPr>
              <a:t>Over 40 </a:t>
            </a:r>
            <a:r>
              <a:rPr lang="en-US" sz="2400" b="1" dirty="0">
                <a:solidFill>
                  <a:schemeClr val="tx1"/>
                </a:solidFill>
              </a:rPr>
              <a:t>lysosomal</a:t>
            </a:r>
            <a:r>
              <a:rPr lang="en-US" sz="2400" dirty="0">
                <a:solidFill>
                  <a:schemeClr val="tx1"/>
                </a:solidFill>
              </a:rPr>
              <a:t> </a:t>
            </a:r>
            <a:r>
              <a:rPr lang="en-US" sz="2400" b="1" dirty="0">
                <a:solidFill>
                  <a:schemeClr val="tx1"/>
                </a:solidFill>
              </a:rPr>
              <a:t>storage</a:t>
            </a:r>
            <a:r>
              <a:rPr lang="en-US" sz="2400" dirty="0">
                <a:solidFill>
                  <a:schemeClr val="tx1"/>
                </a:solidFill>
              </a:rPr>
              <a:t> </a:t>
            </a:r>
            <a:r>
              <a:rPr lang="en-US" sz="2400" b="1" dirty="0">
                <a:solidFill>
                  <a:schemeClr val="tx1"/>
                </a:solidFill>
              </a:rPr>
              <a:t>diseases</a:t>
            </a:r>
            <a:r>
              <a:rPr lang="en-US" sz="2400" dirty="0">
                <a:solidFill>
                  <a:schemeClr val="tx1"/>
                </a:solidFill>
              </a:rPr>
              <a:t> are known, in which certain lysosomal proteins are absent.</a:t>
            </a:r>
          </a:p>
          <a:p>
            <a:pPr marL="342900" indent="-342900"/>
            <a:r>
              <a:rPr lang="en-US" sz="2400" dirty="0">
                <a:solidFill>
                  <a:schemeClr val="tx1"/>
                </a:solidFill>
              </a:rPr>
              <a:t>The diseases are characterized by the accumulation of substances that cannot be broken down as needed.</a:t>
            </a:r>
          </a:p>
          <a:p>
            <a:pPr marL="342900" indent="-342900"/>
            <a:r>
              <a:rPr lang="en-US" sz="2400" dirty="0">
                <a:solidFill>
                  <a:schemeClr val="tx1"/>
                </a:solidFill>
              </a:rPr>
              <a:t>Most are not treatable yet.</a:t>
            </a:r>
          </a:p>
        </p:txBody>
      </p:sp>
    </p:spTree>
    <p:extLst>
      <p:ext uri="{BB962C8B-B14F-4D97-AF65-F5344CB8AC3E}">
        <p14:creationId xmlns:p14="http://schemas.microsoft.com/office/powerpoint/2010/main" val="2885215011"/>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73984"/>
            <a:ext cx="8263784" cy="1107996"/>
          </a:xfrm>
        </p:spPr>
        <p:txBody>
          <a:bodyPr lIns="0" tIns="0" rIns="0" bIns="0" anchor="ctr">
            <a:spAutoFit/>
          </a:bodyPr>
          <a:lstStyle/>
          <a:p>
            <a:r>
              <a:rPr lang="en-US" sz="3600" dirty="0">
                <a:latin typeface="+mj-lt"/>
              </a:rPr>
              <a:t>Examples of Lysosomal Storage Diseases</a:t>
            </a: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563523"/>
            <a:ext cx="8263784" cy="2600712"/>
          </a:xfrm>
        </p:spPr>
        <p:txBody>
          <a:bodyPr lIns="0" tIns="0" rIns="0" bIns="0">
            <a:spAutoFit/>
          </a:bodyPr>
          <a:lstStyle/>
          <a:p>
            <a:pPr marL="342900" indent="-342900"/>
            <a:r>
              <a:rPr lang="en-US" sz="2400" i="1" dirty="0">
                <a:solidFill>
                  <a:schemeClr val="tx1"/>
                </a:solidFill>
              </a:rPr>
              <a:t>Type </a:t>
            </a:r>
            <a:r>
              <a:rPr lang="en-US" sz="2400" i="1" dirty="0">
                <a:solidFill>
                  <a:schemeClr val="tx1"/>
                </a:solidFill>
                <a:latin typeface="Times New Roman" panose="02020603050405020304" pitchFamily="18" charset="0"/>
                <a:cs typeface="Times New Roman" panose="02020603050405020304" pitchFamily="18" charset="0"/>
              </a:rPr>
              <a:t>Ⅱ</a:t>
            </a:r>
            <a:r>
              <a:rPr lang="en-US" sz="2400" i="1" dirty="0">
                <a:solidFill>
                  <a:schemeClr val="tx1"/>
                </a:solidFill>
              </a:rPr>
              <a:t> glycogenosis</a:t>
            </a:r>
            <a:r>
              <a:rPr lang="en-US" sz="2400" dirty="0">
                <a:solidFill>
                  <a:schemeClr val="tx1"/>
                </a:solidFill>
              </a:rPr>
              <a:t>—accumulation of excessive glycogen.</a:t>
            </a:r>
          </a:p>
          <a:p>
            <a:pPr marL="342900" indent="-342900"/>
            <a:r>
              <a:rPr lang="en-US" sz="2400" i="1" dirty="0">
                <a:solidFill>
                  <a:schemeClr val="tx1"/>
                </a:solidFill>
              </a:rPr>
              <a:t>Hurler</a:t>
            </a:r>
            <a:r>
              <a:rPr lang="en-US" sz="2400" dirty="0">
                <a:solidFill>
                  <a:schemeClr val="tx1"/>
                </a:solidFill>
              </a:rPr>
              <a:t> </a:t>
            </a:r>
            <a:r>
              <a:rPr lang="en-US" sz="2400" i="1" dirty="0">
                <a:solidFill>
                  <a:schemeClr val="tx1"/>
                </a:solidFill>
              </a:rPr>
              <a:t>syndrome</a:t>
            </a:r>
            <a:r>
              <a:rPr lang="en-US" sz="2400" dirty="0">
                <a:solidFill>
                  <a:schemeClr val="tx1"/>
                </a:solidFill>
              </a:rPr>
              <a:t>, </a:t>
            </a:r>
            <a:r>
              <a:rPr lang="en-US" sz="2400" i="1" dirty="0">
                <a:solidFill>
                  <a:schemeClr val="tx1"/>
                </a:solidFill>
              </a:rPr>
              <a:t>Hunter</a:t>
            </a:r>
            <a:r>
              <a:rPr lang="en-US" sz="2400" dirty="0">
                <a:solidFill>
                  <a:schemeClr val="tx1"/>
                </a:solidFill>
              </a:rPr>
              <a:t> </a:t>
            </a:r>
            <a:r>
              <a:rPr lang="en-US" sz="2400" i="1" dirty="0">
                <a:solidFill>
                  <a:schemeClr val="tx1"/>
                </a:solidFill>
              </a:rPr>
              <a:t>syndrome—</a:t>
            </a:r>
            <a:r>
              <a:rPr lang="en-US" sz="2400" dirty="0">
                <a:solidFill>
                  <a:schemeClr val="tx1"/>
                </a:solidFill>
              </a:rPr>
              <a:t>accumulation of glycosaminoglycans.</a:t>
            </a:r>
          </a:p>
          <a:p>
            <a:pPr marL="342900" indent="-342900"/>
            <a:r>
              <a:rPr lang="en-US" sz="2400" i="1" dirty="0">
                <a:solidFill>
                  <a:schemeClr val="tx1"/>
                </a:solidFill>
              </a:rPr>
              <a:t>Tay-Sachs disease</a:t>
            </a:r>
            <a:r>
              <a:rPr lang="en-US" sz="2400" dirty="0">
                <a:solidFill>
                  <a:schemeClr val="tx1"/>
                </a:solidFill>
              </a:rPr>
              <a:t>—accumulation of a ganglioside in the nervous system.</a:t>
            </a:r>
          </a:p>
        </p:txBody>
      </p:sp>
    </p:spTree>
    <p:extLst>
      <p:ext uri="{BB962C8B-B14F-4D97-AF65-F5344CB8AC3E}">
        <p14:creationId xmlns:p14="http://schemas.microsoft.com/office/powerpoint/2010/main" val="3487420039"/>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73984"/>
            <a:ext cx="8263784" cy="1107996"/>
          </a:xfrm>
        </p:spPr>
        <p:txBody>
          <a:bodyPr lIns="0" tIns="0" rIns="0" bIns="0" anchor="ctr">
            <a:spAutoFit/>
          </a:bodyPr>
          <a:lstStyle/>
          <a:p>
            <a:r>
              <a:rPr lang="en-US" sz="3600" dirty="0">
                <a:latin typeface="+mj-lt"/>
              </a:rPr>
              <a:t>Treatment of Lysosomal Storage Diseases</a:t>
            </a: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559541"/>
            <a:ext cx="8263784" cy="2793072"/>
          </a:xfrm>
        </p:spPr>
        <p:txBody>
          <a:bodyPr lIns="0" tIns="0" rIns="0" bIns="0">
            <a:spAutoFit/>
          </a:bodyPr>
          <a:lstStyle/>
          <a:p>
            <a:pPr marL="342900" indent="-342900"/>
            <a:r>
              <a:rPr lang="en-US" sz="2400" dirty="0">
                <a:solidFill>
                  <a:schemeClr val="tx1"/>
                </a:solidFill>
              </a:rPr>
              <a:t>Lysosomal storage diseases can be diagnosed prenatally.</a:t>
            </a:r>
          </a:p>
          <a:p>
            <a:pPr marL="342900" indent="-342900"/>
            <a:r>
              <a:rPr lang="en-US" sz="2400" dirty="0">
                <a:solidFill>
                  <a:schemeClr val="tx1"/>
                </a:solidFill>
              </a:rPr>
              <a:t>It is hoped that treatments that replace the missing enzyme will be developed.</a:t>
            </a:r>
          </a:p>
          <a:p>
            <a:pPr marL="342900" indent="-342900"/>
            <a:r>
              <a:rPr lang="en-US" sz="2400" dirty="0">
                <a:solidFill>
                  <a:schemeClr val="tx1"/>
                </a:solidFill>
              </a:rPr>
              <a:t>This is known as </a:t>
            </a:r>
            <a:r>
              <a:rPr lang="en-US" sz="2400" i="1" dirty="0">
                <a:solidFill>
                  <a:schemeClr val="tx1"/>
                </a:solidFill>
              </a:rPr>
              <a:t>enzyme replacement therapy</a:t>
            </a:r>
            <a:r>
              <a:rPr lang="en-US" sz="2400" dirty="0">
                <a:solidFill>
                  <a:schemeClr val="tx1"/>
                </a:solidFill>
              </a:rPr>
              <a:t>.</a:t>
            </a:r>
            <a:endParaRPr lang="en-US" sz="2400" i="1" dirty="0">
              <a:solidFill>
                <a:schemeClr val="tx1"/>
              </a:solidFill>
            </a:endParaRPr>
          </a:p>
          <a:p>
            <a:pPr marL="342900" indent="-342900"/>
            <a:r>
              <a:rPr lang="en-US" sz="2400" dirty="0">
                <a:solidFill>
                  <a:schemeClr val="tx1"/>
                </a:solidFill>
              </a:rPr>
              <a:t>Or, altering the </a:t>
            </a:r>
            <a:r>
              <a:rPr lang="en-US" sz="2400" spc="-300" dirty="0">
                <a:solidFill>
                  <a:schemeClr val="tx1"/>
                </a:solidFill>
              </a:rPr>
              <a:t>D N </a:t>
            </a:r>
            <a:r>
              <a:rPr lang="en-US" sz="2400" dirty="0">
                <a:solidFill>
                  <a:schemeClr val="tx1"/>
                </a:solidFill>
              </a:rPr>
              <a:t>A of patients (</a:t>
            </a:r>
            <a:r>
              <a:rPr lang="en-US" sz="2400" i="1" dirty="0">
                <a:solidFill>
                  <a:schemeClr val="tx1"/>
                </a:solidFill>
              </a:rPr>
              <a:t>gene therapy</a:t>
            </a:r>
            <a:r>
              <a:rPr lang="en-US" sz="2400" dirty="0">
                <a:solidFill>
                  <a:schemeClr val="tx1"/>
                </a:solidFill>
              </a:rPr>
              <a:t>) is another possible approach.</a:t>
            </a:r>
          </a:p>
        </p:txBody>
      </p:sp>
    </p:spTree>
    <p:extLst>
      <p:ext uri="{BB962C8B-B14F-4D97-AF65-F5344CB8AC3E}">
        <p14:creationId xmlns:p14="http://schemas.microsoft.com/office/powerpoint/2010/main" val="2834602957"/>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73984"/>
            <a:ext cx="8263784" cy="1107996"/>
          </a:xfrm>
        </p:spPr>
        <p:txBody>
          <a:bodyPr lIns="0" tIns="0" rIns="0" bIns="0" anchor="ctr">
            <a:spAutoFit/>
          </a:bodyPr>
          <a:lstStyle/>
          <a:p>
            <a:r>
              <a:rPr lang="en-US" sz="3600" dirty="0">
                <a:latin typeface="+mj-lt"/>
              </a:rPr>
              <a:t>The Plant Vacuole: A Multifunctional Digestive Organelle</a:t>
            </a: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559540"/>
            <a:ext cx="8263784" cy="2600712"/>
          </a:xfrm>
        </p:spPr>
        <p:txBody>
          <a:bodyPr lIns="0" tIns="0" rIns="0" bIns="0">
            <a:spAutoFit/>
          </a:bodyPr>
          <a:lstStyle/>
          <a:p>
            <a:pPr marL="342900" indent="-342900"/>
            <a:r>
              <a:rPr lang="en-US" sz="2400" dirty="0">
                <a:solidFill>
                  <a:schemeClr val="tx1"/>
                </a:solidFill>
              </a:rPr>
              <a:t>Plant cells have acidic </a:t>
            </a:r>
            <a:r>
              <a:rPr lang="en-US" sz="2400" i="1" dirty="0">
                <a:solidFill>
                  <a:schemeClr val="tx1"/>
                </a:solidFill>
              </a:rPr>
              <a:t>vacuoles</a:t>
            </a:r>
            <a:r>
              <a:rPr lang="en-US" sz="2400" dirty="0">
                <a:solidFill>
                  <a:schemeClr val="tx1"/>
                </a:solidFill>
              </a:rPr>
              <a:t> that perform the function of lysosomes.</a:t>
            </a:r>
          </a:p>
          <a:p>
            <a:pPr marL="342900" indent="-342900"/>
            <a:r>
              <a:rPr lang="en-US" sz="2400" dirty="0">
                <a:solidFill>
                  <a:schemeClr val="tx1"/>
                </a:solidFill>
              </a:rPr>
              <a:t>However, these have additional roles as well.</a:t>
            </a:r>
          </a:p>
          <a:p>
            <a:pPr marL="342900" indent="-342900"/>
            <a:r>
              <a:rPr lang="en-US" sz="2400" dirty="0">
                <a:solidFill>
                  <a:schemeClr val="tx1"/>
                </a:solidFill>
              </a:rPr>
              <a:t>Vacuole development is similar to that of lysosomes, with coated vesicles conveying materials for the vacuole to a </a:t>
            </a:r>
            <a:r>
              <a:rPr lang="en-US" sz="2400" b="1" dirty="0">
                <a:solidFill>
                  <a:schemeClr val="tx1"/>
                </a:solidFill>
              </a:rPr>
              <a:t>provacuole</a:t>
            </a:r>
            <a:r>
              <a:rPr lang="en-US" sz="2400" dirty="0">
                <a:solidFill>
                  <a:schemeClr val="tx1"/>
                </a:solidFill>
              </a:rPr>
              <a:t>, similar to an endosome.</a:t>
            </a:r>
          </a:p>
        </p:txBody>
      </p:sp>
    </p:spTree>
    <p:extLst>
      <p:ext uri="{BB962C8B-B14F-4D97-AF65-F5344CB8AC3E}">
        <p14:creationId xmlns:p14="http://schemas.microsoft.com/office/powerpoint/2010/main" val="1186464837"/>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76645"/>
            <a:ext cx="7565515" cy="984885"/>
          </a:xfrm>
        </p:spPr>
        <p:txBody>
          <a:bodyPr wrap="square" lIns="0" tIns="0" rIns="0" bIns="0" anchor="ctr">
            <a:spAutoFit/>
          </a:bodyPr>
          <a:lstStyle/>
          <a:p>
            <a:r>
              <a:rPr lang="en-US" sz="3600" dirty="0">
                <a:latin typeface="+mj-lt"/>
              </a:rPr>
              <a:t>Additional Functions of Vacuoles </a:t>
            </a:r>
            <a:r>
              <a:rPr lang="en-US" sz="2800" dirty="0">
                <a:latin typeface="+mj-lt"/>
              </a:rPr>
              <a:t>(1 of 2)</a:t>
            </a: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561762"/>
            <a:ext cx="8263784" cy="2600712"/>
          </a:xfrm>
        </p:spPr>
        <p:txBody>
          <a:bodyPr lIns="0" tIns="0" rIns="0" bIns="0">
            <a:spAutoFit/>
          </a:bodyPr>
          <a:lstStyle/>
          <a:p>
            <a:pPr marL="342900" indent="-342900"/>
            <a:r>
              <a:rPr lang="en-US" sz="2400" dirty="0">
                <a:solidFill>
                  <a:schemeClr val="tx1"/>
                </a:solidFill>
              </a:rPr>
              <a:t>Vacuoles mature to form a structure that can fill up to 90% of the cell’s total volume.</a:t>
            </a:r>
          </a:p>
          <a:p>
            <a:pPr marL="342900" indent="-342900"/>
            <a:r>
              <a:rPr lang="en-US" sz="2400" dirty="0">
                <a:solidFill>
                  <a:schemeClr val="tx1"/>
                </a:solidFill>
              </a:rPr>
              <a:t>Vacuoles maintain </a:t>
            </a:r>
            <a:r>
              <a:rPr lang="en-US" sz="2400" i="1" dirty="0">
                <a:solidFill>
                  <a:schemeClr val="tx1"/>
                </a:solidFill>
              </a:rPr>
              <a:t>turgor</a:t>
            </a:r>
            <a:r>
              <a:rPr lang="en-US" sz="2400" dirty="0">
                <a:solidFill>
                  <a:schemeClr val="tx1"/>
                </a:solidFill>
              </a:rPr>
              <a:t> </a:t>
            </a:r>
            <a:r>
              <a:rPr lang="en-US" sz="2400" i="1" dirty="0">
                <a:solidFill>
                  <a:schemeClr val="tx1"/>
                </a:solidFill>
              </a:rPr>
              <a:t>pressure</a:t>
            </a:r>
            <a:r>
              <a:rPr lang="en-US" sz="2400" dirty="0">
                <a:solidFill>
                  <a:schemeClr val="tx1"/>
                </a:solidFill>
              </a:rPr>
              <a:t>, the osmotic pressure preventing plant cells from collapsing.</a:t>
            </a:r>
          </a:p>
          <a:p>
            <a:pPr marL="342900" indent="-342900"/>
            <a:r>
              <a:rPr lang="en-US" sz="2400" dirty="0">
                <a:solidFill>
                  <a:schemeClr val="tx1"/>
                </a:solidFill>
              </a:rPr>
              <a:t>They regulate cytosolic </a:t>
            </a:r>
            <a:r>
              <a:rPr lang="en-US" sz="2400" spc="-300" dirty="0">
                <a:solidFill>
                  <a:schemeClr val="tx1"/>
                </a:solidFill>
              </a:rPr>
              <a:t>p </a:t>
            </a:r>
            <a:r>
              <a:rPr lang="en-US" sz="2400" dirty="0">
                <a:solidFill>
                  <a:schemeClr val="tx1"/>
                </a:solidFill>
              </a:rPr>
              <a:t>H, using </a:t>
            </a:r>
            <a:r>
              <a:rPr lang="en-US" sz="2400" spc="-300" dirty="0">
                <a:solidFill>
                  <a:schemeClr val="tx1"/>
                </a:solidFill>
              </a:rPr>
              <a:t>A T </a:t>
            </a:r>
            <a:r>
              <a:rPr lang="en-US" sz="2400" dirty="0">
                <a:solidFill>
                  <a:schemeClr val="tx1"/>
                </a:solidFill>
              </a:rPr>
              <a:t>P-dependent proton pumps.</a:t>
            </a:r>
          </a:p>
        </p:txBody>
      </p:sp>
    </p:spTree>
    <p:extLst>
      <p:ext uri="{BB962C8B-B14F-4D97-AF65-F5344CB8AC3E}">
        <p14:creationId xmlns:p14="http://schemas.microsoft.com/office/powerpoint/2010/main" val="3836239719"/>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76645"/>
            <a:ext cx="7467371" cy="984885"/>
          </a:xfrm>
        </p:spPr>
        <p:txBody>
          <a:bodyPr wrap="square" lIns="0" tIns="0" rIns="0" bIns="0" anchor="ctr">
            <a:spAutoFit/>
          </a:bodyPr>
          <a:lstStyle/>
          <a:p>
            <a:r>
              <a:rPr lang="en-US" sz="3600" dirty="0">
                <a:latin typeface="+mj-lt"/>
              </a:rPr>
              <a:t>Additional Functions of Vacuoles </a:t>
            </a:r>
            <a:r>
              <a:rPr lang="en-US" sz="2800" dirty="0">
                <a:latin typeface="+mj-lt"/>
              </a:rPr>
              <a:t>(2 of 2)</a:t>
            </a: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561762"/>
            <a:ext cx="8263784" cy="3085460"/>
          </a:xfrm>
        </p:spPr>
        <p:txBody>
          <a:bodyPr lIns="0" tIns="0" rIns="0" bIns="0">
            <a:spAutoFit/>
          </a:bodyPr>
          <a:lstStyle/>
          <a:p>
            <a:pPr marL="342900" indent="-342900"/>
            <a:r>
              <a:rPr lang="en-US" sz="2400" dirty="0"/>
              <a:t>Vacuoles serve as a storage compartment for such substances as</a:t>
            </a:r>
          </a:p>
          <a:p>
            <a:pPr marL="829818" lvl="1" indent="-342900"/>
            <a:r>
              <a:rPr lang="en-US" sz="2400" dirty="0"/>
              <a:t>Seed storage proteins</a:t>
            </a:r>
          </a:p>
          <a:p>
            <a:pPr marL="829818" lvl="1" indent="-342900"/>
            <a:r>
              <a:rPr lang="en-US" sz="2400" dirty="0"/>
              <a:t>Malate (in </a:t>
            </a:r>
            <a:r>
              <a:rPr lang="en-US" sz="2400" spc="-300" dirty="0"/>
              <a:t>C A </a:t>
            </a:r>
            <a:r>
              <a:rPr lang="en-US" sz="2400" dirty="0"/>
              <a:t>M plants)</a:t>
            </a:r>
          </a:p>
          <a:p>
            <a:pPr marL="829818" lvl="1" indent="-342900"/>
            <a:r>
              <a:rPr lang="en-US" sz="2400" dirty="0"/>
              <a:t>Anthocyanins</a:t>
            </a:r>
          </a:p>
          <a:p>
            <a:pPr marL="829818" lvl="1" indent="-342900"/>
            <a:r>
              <a:rPr lang="en-US" sz="2400" dirty="0"/>
              <a:t>Toxic component to deter predators</a:t>
            </a:r>
          </a:p>
          <a:p>
            <a:pPr marL="829818" lvl="1" indent="-342900"/>
            <a:r>
              <a:rPr lang="en-US" sz="2400" dirty="0"/>
              <a:t>Soluble and insoluble waste</a:t>
            </a:r>
          </a:p>
        </p:txBody>
      </p:sp>
    </p:spTree>
    <p:extLst>
      <p:ext uri="{BB962C8B-B14F-4D97-AF65-F5344CB8AC3E}">
        <p14:creationId xmlns:p14="http://schemas.microsoft.com/office/powerpoint/2010/main" val="3112860138"/>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84270"/>
            <a:ext cx="8263784" cy="553998"/>
          </a:xfrm>
        </p:spPr>
        <p:txBody>
          <a:bodyPr lIns="0" tIns="0" rIns="0" bIns="0" anchor="ctr">
            <a:spAutoFit/>
          </a:bodyPr>
          <a:lstStyle/>
          <a:p>
            <a:r>
              <a:rPr lang="en-US" sz="3600" dirty="0">
                <a:latin typeface="+mj-lt"/>
              </a:rPr>
              <a:t>12.8 Peroxisomes</a:t>
            </a:r>
            <a:endParaRPr lang="en-US" sz="3200" dirty="0">
              <a:latin typeface="+mj-lt"/>
            </a:endParaRP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062998"/>
            <a:ext cx="8263784" cy="3531736"/>
          </a:xfrm>
        </p:spPr>
        <p:txBody>
          <a:bodyPr lIns="0" tIns="0" rIns="0" bIns="0">
            <a:spAutoFit/>
          </a:bodyPr>
          <a:lstStyle/>
          <a:p>
            <a:pPr marL="342900" indent="-342900"/>
            <a:r>
              <a:rPr lang="en-US" sz="2400" b="1" dirty="0"/>
              <a:t>Peroxisomes</a:t>
            </a:r>
            <a:r>
              <a:rPr lang="en-US" sz="2400" dirty="0"/>
              <a:t> are bounded by single membranes. </a:t>
            </a:r>
          </a:p>
          <a:p>
            <a:pPr marL="342900" indent="-342900"/>
            <a:r>
              <a:rPr lang="en-US" sz="2400" dirty="0"/>
              <a:t>These membranes were not originally thought to be supplied by the ER, but growing evidence suggests the </a:t>
            </a:r>
            <a:r>
              <a:rPr lang="en-US" sz="2400" dirty="0">
                <a:solidFill>
                  <a:schemeClr val="tx1"/>
                </a:solidFill>
              </a:rPr>
              <a:t>ER</a:t>
            </a:r>
            <a:r>
              <a:rPr lang="en-US" sz="2400" dirty="0"/>
              <a:t> supplies membrane for growth and division. </a:t>
            </a:r>
          </a:p>
          <a:p>
            <a:pPr marL="342900" indent="-342900"/>
            <a:r>
              <a:rPr lang="en-US" sz="2400" dirty="0"/>
              <a:t>Thus, they can be discussed as part of the endomembrane system. </a:t>
            </a:r>
          </a:p>
          <a:p>
            <a:pPr marL="342900" indent="-342900"/>
            <a:r>
              <a:rPr lang="en-US" sz="2400" dirty="0"/>
              <a:t>The defining characteristic of peroxisomes is the presence of </a:t>
            </a:r>
            <a:r>
              <a:rPr lang="en-US" sz="2400" i="1" dirty="0"/>
              <a:t>catalase</a:t>
            </a:r>
            <a:r>
              <a:rPr lang="en-US" sz="2400" dirty="0"/>
              <a:t> for degrading H</a:t>
            </a:r>
            <a:r>
              <a:rPr lang="en-US" sz="2400" baseline="-25000" dirty="0"/>
              <a:t>2</a:t>
            </a:r>
            <a:r>
              <a:rPr lang="en-US" sz="2400" dirty="0"/>
              <a:t>O</a:t>
            </a:r>
            <a:r>
              <a:rPr lang="en-US" sz="2400" baseline="-25000" dirty="0">
                <a:solidFill>
                  <a:schemeClr val="tx1"/>
                </a:solidFill>
              </a:rPr>
              <a:t>2</a:t>
            </a:r>
            <a:r>
              <a:rPr lang="en-US" sz="2400" dirty="0">
                <a:solidFill>
                  <a:schemeClr val="tx1"/>
                </a:solidFill>
              </a:rPr>
              <a:t>.</a:t>
            </a:r>
            <a:endParaRPr lang="en-US" sz="2400" baseline="-25000" dirty="0">
              <a:solidFill>
                <a:schemeClr val="tx1"/>
              </a:solidFill>
            </a:endParaRPr>
          </a:p>
        </p:txBody>
      </p:sp>
    </p:spTree>
    <p:extLst>
      <p:ext uri="{BB962C8B-B14F-4D97-AF65-F5344CB8AC3E}">
        <p14:creationId xmlns:p14="http://schemas.microsoft.com/office/powerpoint/2010/main" val="1407183389"/>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84270"/>
            <a:ext cx="8263784" cy="553998"/>
          </a:xfrm>
        </p:spPr>
        <p:txBody>
          <a:bodyPr lIns="0" tIns="0" rIns="0" bIns="0" anchor="ctr">
            <a:spAutoFit/>
          </a:bodyPr>
          <a:lstStyle/>
          <a:p>
            <a:r>
              <a:rPr lang="en-US" sz="3600" dirty="0">
                <a:latin typeface="+mj-lt"/>
              </a:rPr>
              <a:t>Peroxisome Structure</a:t>
            </a:r>
            <a:endParaRPr lang="en-US" sz="3200" dirty="0">
              <a:latin typeface="+mj-lt"/>
            </a:endParaRP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062998"/>
            <a:ext cx="8263784" cy="2231380"/>
          </a:xfrm>
        </p:spPr>
        <p:txBody>
          <a:bodyPr lIns="0" tIns="0" rIns="0" bIns="0">
            <a:spAutoFit/>
          </a:bodyPr>
          <a:lstStyle/>
          <a:p>
            <a:pPr marL="342900" indent="-342900"/>
            <a:r>
              <a:rPr lang="en-US" sz="2400" dirty="0">
                <a:solidFill>
                  <a:schemeClr val="tx1"/>
                </a:solidFill>
              </a:rPr>
              <a:t>Animal peroxisomes contain a crystalline core, consisting of crystalline urate oxidase.</a:t>
            </a:r>
          </a:p>
          <a:p>
            <a:pPr marL="342900" indent="-342900"/>
            <a:r>
              <a:rPr lang="en-US" sz="2400" dirty="0">
                <a:solidFill>
                  <a:schemeClr val="tx1"/>
                </a:solidFill>
              </a:rPr>
              <a:t>Plant peroxisomes may contain crystalline catalase.</a:t>
            </a:r>
          </a:p>
          <a:p>
            <a:pPr marL="342900" indent="-342900"/>
            <a:r>
              <a:rPr lang="en-US" sz="2400" dirty="0">
                <a:solidFill>
                  <a:schemeClr val="tx1"/>
                </a:solidFill>
              </a:rPr>
              <a:t>Peroxisomes without the crystalline cores may be difficult to identify microscopically.</a:t>
            </a:r>
          </a:p>
        </p:txBody>
      </p:sp>
    </p:spTree>
    <p:extLst>
      <p:ext uri="{BB962C8B-B14F-4D97-AF65-F5344CB8AC3E}">
        <p14:creationId xmlns:p14="http://schemas.microsoft.com/office/powerpoint/2010/main" val="2908845760"/>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30566" y="171277"/>
            <a:ext cx="8251961" cy="553998"/>
          </a:xfrm>
        </p:spPr>
        <p:txBody>
          <a:bodyPr lIns="0" tIns="0" rIns="0" bIns="0" anchor="ctr">
            <a:spAutoFit/>
          </a:bodyPr>
          <a:lstStyle/>
          <a:p>
            <a:r>
              <a:rPr lang="en-US" dirty="0"/>
              <a:t>Peroxisomes in Animal Cells</a:t>
            </a:r>
          </a:p>
        </p:txBody>
      </p:sp>
      <p:sp>
        <p:nvSpPr>
          <p:cNvPr id="6" name="Content Placeholder 5"/>
          <p:cNvSpPr>
            <a:spLocks noGrp="1"/>
          </p:cNvSpPr>
          <p:nvPr>
            <p:ph sz="quarter" idx="15"/>
          </p:nvPr>
        </p:nvSpPr>
        <p:spPr>
          <a:xfrm>
            <a:off x="421689" y="894663"/>
            <a:ext cx="8260838" cy="369332"/>
          </a:xfrm>
        </p:spPr>
        <p:txBody>
          <a:bodyPr wrap="square" lIns="0" tIns="0" rIns="0" bIns="0">
            <a:spAutoFit/>
          </a:bodyPr>
          <a:lstStyle/>
          <a:p>
            <a:pPr marL="0" indent="0">
              <a:buNone/>
            </a:pPr>
            <a:r>
              <a:rPr lang="en-US" sz="2400" b="1" dirty="0"/>
              <a:t>Figure 12.27 </a:t>
            </a:r>
            <a:r>
              <a:rPr lang="en-US" sz="2400" dirty="0"/>
              <a:t>Peroxisomes in Animal Cells. </a:t>
            </a:r>
          </a:p>
        </p:txBody>
      </p:sp>
      <p:pic>
        <p:nvPicPr>
          <p:cNvPr id="4" name="Picture Placeholder 3" descr="An electron micrograph of peroxisomes in animal cell of measurement 1 micrometer. Several peroxisomes show crystalline cores within the peroxisome."/>
          <p:cNvPicPr>
            <a:picLocks noGrp="1" noChangeAspect="1"/>
          </p:cNvPicPr>
          <p:nvPr>
            <p:ph type="pic" sz="quarter" idx="16"/>
          </p:nvPr>
        </p:nvPicPr>
        <p:blipFill rotWithShape="1">
          <a:blip r:embed="rId3">
            <a:extLst>
              <a:ext uri="{28A0092B-C50C-407E-A947-70E740481C1C}">
                <a14:useLocalDpi xmlns:a14="http://schemas.microsoft.com/office/drawing/2010/main" val="0"/>
              </a:ext>
            </a:extLst>
          </a:blip>
          <a:srcRect b="2399"/>
          <a:stretch/>
        </p:blipFill>
        <p:spPr>
          <a:xfrm>
            <a:off x="2121868" y="1524864"/>
            <a:ext cx="4757391" cy="4768770"/>
          </a:xfrm>
        </p:spPr>
      </p:pic>
    </p:spTree>
    <p:extLst>
      <p:ext uri="{BB962C8B-B14F-4D97-AF65-F5344CB8AC3E}">
        <p14:creationId xmlns:p14="http://schemas.microsoft.com/office/powerpoint/2010/main" val="3207680551"/>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31562" y="179519"/>
            <a:ext cx="8302240" cy="1108252"/>
          </a:xfrm>
        </p:spPr>
        <p:txBody>
          <a:bodyPr lIns="0" tIns="0" rIns="0" bIns="0" anchor="ctr">
            <a:spAutoFit/>
          </a:bodyPr>
          <a:lstStyle/>
          <a:p>
            <a:r>
              <a:rPr lang="en-US" sz="3600" dirty="0">
                <a:latin typeface="+mj-lt"/>
              </a:rPr>
              <a:t>Chemical Identification of Peroxisomes in Plant Cells</a:t>
            </a: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562340"/>
            <a:ext cx="8302240" cy="1669688"/>
          </a:xfrm>
        </p:spPr>
        <p:txBody>
          <a:bodyPr lIns="0" tIns="0" rIns="0" bIns="0">
            <a:spAutoFit/>
          </a:bodyPr>
          <a:lstStyle/>
          <a:p>
            <a:pPr marL="342900" indent="-342900"/>
            <a:r>
              <a:rPr lang="en-US" sz="2400" dirty="0">
                <a:solidFill>
                  <a:schemeClr val="tx1"/>
                </a:solidFill>
              </a:rPr>
              <a:t>Catalase oxidizes diaminobenzidine (</a:t>
            </a:r>
            <a:r>
              <a:rPr lang="en-US" sz="2400" spc="-300" dirty="0">
                <a:solidFill>
                  <a:schemeClr val="tx1"/>
                </a:solidFill>
              </a:rPr>
              <a:t>D A </a:t>
            </a:r>
            <a:r>
              <a:rPr lang="en-US" sz="2400" dirty="0">
                <a:solidFill>
                  <a:schemeClr val="tx1"/>
                </a:solidFill>
              </a:rPr>
              <a:t>B) to a form that causes deposition of osmium ions.</a:t>
            </a:r>
          </a:p>
          <a:p>
            <a:pPr marL="342900" indent="-342900"/>
            <a:r>
              <a:rPr lang="en-US" sz="2400" dirty="0">
                <a:solidFill>
                  <a:schemeClr val="tx1"/>
                </a:solidFill>
              </a:rPr>
              <a:t>These electron-dense deposits can be seen via electron microscopy.</a:t>
            </a:r>
          </a:p>
        </p:txBody>
      </p:sp>
    </p:spTree>
    <p:extLst>
      <p:ext uri="{BB962C8B-B14F-4D97-AF65-F5344CB8AC3E}">
        <p14:creationId xmlns:p14="http://schemas.microsoft.com/office/powerpoint/2010/main" val="877000055"/>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31562" y="185985"/>
            <a:ext cx="8302240" cy="1661993"/>
          </a:xfrm>
        </p:spPr>
        <p:txBody>
          <a:bodyPr lIns="0" tIns="0" rIns="0" bIns="0" anchor="ctr">
            <a:spAutoFit/>
          </a:bodyPr>
          <a:lstStyle/>
          <a:p>
            <a:r>
              <a:rPr lang="en-US" sz="3600" dirty="0">
                <a:latin typeface="+mj-lt"/>
              </a:rPr>
              <a:t>Most Peroxisomal Functions Are Linked to Hydrogen Peroxide Metabolism</a:t>
            </a: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2073397"/>
            <a:ext cx="8302240" cy="2600712"/>
          </a:xfrm>
        </p:spPr>
        <p:txBody>
          <a:bodyPr lIns="0" tIns="0" rIns="0" bIns="0">
            <a:spAutoFit/>
          </a:bodyPr>
          <a:lstStyle/>
          <a:p>
            <a:pPr marL="342900" indent="-342900"/>
            <a:r>
              <a:rPr lang="en-US" sz="2400" dirty="0">
                <a:solidFill>
                  <a:schemeClr val="tx1"/>
                </a:solidFill>
              </a:rPr>
              <a:t>The essential roles of peroxisomes include:</a:t>
            </a:r>
          </a:p>
          <a:p>
            <a:pPr marL="829818" lvl="1" indent="-342900"/>
            <a:r>
              <a:rPr lang="en-US" sz="2400" dirty="0">
                <a:solidFill>
                  <a:schemeClr val="tx1"/>
                </a:solidFill>
              </a:rPr>
              <a:t>Hydrogen peroxide metabolism</a:t>
            </a:r>
          </a:p>
          <a:p>
            <a:pPr marL="829818" lvl="1" indent="-342900"/>
            <a:r>
              <a:rPr lang="en-US" sz="2400" dirty="0">
                <a:solidFill>
                  <a:schemeClr val="tx1"/>
                </a:solidFill>
              </a:rPr>
              <a:t>Detoxification of harmful compounds</a:t>
            </a:r>
          </a:p>
          <a:p>
            <a:pPr marL="829818" lvl="1" indent="-342900"/>
            <a:r>
              <a:rPr lang="en-US" sz="2400" dirty="0">
                <a:solidFill>
                  <a:schemeClr val="tx1"/>
                </a:solidFill>
              </a:rPr>
              <a:t>Oxidation of fatty acids</a:t>
            </a:r>
          </a:p>
          <a:p>
            <a:pPr marL="829818" lvl="1" indent="-342900"/>
            <a:r>
              <a:rPr lang="en-US" sz="2400" dirty="0">
                <a:solidFill>
                  <a:schemeClr val="tx1"/>
                </a:solidFill>
              </a:rPr>
              <a:t>Metabolism of nitrogen-containing compounds</a:t>
            </a:r>
          </a:p>
          <a:p>
            <a:pPr marL="829818" lvl="1" indent="-342900"/>
            <a:r>
              <a:rPr lang="en-US" sz="2400" dirty="0">
                <a:solidFill>
                  <a:schemeClr val="tx1"/>
                </a:solidFill>
              </a:rPr>
              <a:t>Catabolism of unusual substances</a:t>
            </a:r>
          </a:p>
        </p:txBody>
      </p:sp>
    </p:spTree>
    <p:extLst>
      <p:ext uri="{BB962C8B-B14F-4D97-AF65-F5344CB8AC3E}">
        <p14:creationId xmlns:p14="http://schemas.microsoft.com/office/powerpoint/2010/main" val="3390813267"/>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57200" y="190794"/>
            <a:ext cx="8229600" cy="553998"/>
          </a:xfrm>
        </p:spPr>
        <p:txBody>
          <a:bodyPr lIns="0" tIns="0" rIns="0" bIns="0" anchor="ctr">
            <a:spAutoFit/>
          </a:bodyPr>
          <a:lstStyle/>
          <a:p>
            <a:r>
              <a:rPr lang="en-US" sz="3600" dirty="0">
                <a:latin typeface="+mj-lt"/>
              </a:rPr>
              <a:t>Hydrogen Peroxide Metabolism</a:t>
            </a:r>
            <a:endParaRPr lang="en-US" sz="3200" dirty="0">
              <a:latin typeface="+mj-lt"/>
            </a:endParaRP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4294967295"/>
          </p:nvPr>
        </p:nvSpPr>
        <p:spPr>
          <a:xfrm>
            <a:off x="463640" y="1061922"/>
            <a:ext cx="8229600" cy="368300"/>
          </a:xfrm>
          <a:noFill/>
          <a:ln>
            <a:noFill/>
          </a:ln>
        </p:spPr>
        <p:txBody>
          <a:bodyPr lIns="0" tIns="0" rIns="0" bIns="0" anchor="t" anchorCtr="0">
            <a:spAutoFit/>
          </a:bodyPr>
          <a:lstStyle/>
          <a:p>
            <a:pPr marL="342900" indent="-342900"/>
            <a:r>
              <a:rPr lang="en-US" sz="2400" dirty="0"/>
              <a:t>Oxidases generate H</a:t>
            </a:r>
            <a:r>
              <a:rPr lang="en-US" sz="2400" baseline="-25000" dirty="0"/>
              <a:t>2</a:t>
            </a:r>
            <a:r>
              <a:rPr lang="en-US" sz="2400" dirty="0"/>
              <a:t>O</a:t>
            </a:r>
            <a:r>
              <a:rPr lang="en-US" sz="2400" baseline="-25000" dirty="0"/>
              <a:t>2</a:t>
            </a:r>
            <a:r>
              <a:rPr lang="en-US" sz="2400" dirty="0"/>
              <a:t> in peroxisomes</a:t>
            </a:r>
          </a:p>
        </p:txBody>
      </p:sp>
      <p:graphicFrame>
        <p:nvGraphicFramePr>
          <p:cNvPr id="6" name="Object 5" descr="R H subscript two plus O subscript two gives R plus H subscript two O subscript two.&#10;"/>
          <p:cNvGraphicFramePr>
            <a:graphicFrameLocks noChangeAspect="1"/>
          </p:cNvGraphicFramePr>
          <p:nvPr>
            <p:extLst>
              <p:ext uri="{D42A27DB-BD31-4B8C-83A1-F6EECF244321}">
                <p14:modId xmlns:p14="http://schemas.microsoft.com/office/powerpoint/2010/main" val="2866681224"/>
              </p:ext>
            </p:extLst>
          </p:nvPr>
        </p:nvGraphicFramePr>
        <p:xfrm>
          <a:off x="2590479" y="1708150"/>
          <a:ext cx="3128962" cy="515938"/>
        </p:xfrm>
        <a:graphic>
          <a:graphicData uri="http://schemas.openxmlformats.org/presentationml/2006/ole">
            <mc:AlternateContent xmlns:mc="http://schemas.openxmlformats.org/markup-compatibility/2006">
              <mc:Choice xmlns:v="urn:schemas-microsoft-com:vml" Requires="v">
                <p:oleObj spid="_x0000_s1026" name="Equation" r:id="rId4" imgW="1384200" imgH="228600" progId="Equation.DSMT4">
                  <p:embed/>
                </p:oleObj>
              </mc:Choice>
              <mc:Fallback>
                <p:oleObj name="Equation" r:id="rId4" imgW="1384200" imgH="228600" progId="Equation.DSMT4">
                  <p:embed/>
                  <p:pic>
                    <p:nvPicPr>
                      <p:cNvPr id="0" name=""/>
                      <p:cNvPicPr>
                        <a:picLocks noChangeAspect="1" noChangeArrowheads="1"/>
                      </p:cNvPicPr>
                      <p:nvPr/>
                    </p:nvPicPr>
                    <p:blipFill>
                      <a:blip r:embed="rId5"/>
                      <a:srcRect/>
                      <a:stretch>
                        <a:fillRect/>
                      </a:stretch>
                    </p:blipFill>
                    <p:spPr bwMode="auto">
                      <a:xfrm>
                        <a:off x="2590479" y="1708150"/>
                        <a:ext cx="3128962" cy="5159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Content Placeholder 2"/>
          <p:cNvSpPr>
            <a:spLocks noGrp="1"/>
          </p:cNvSpPr>
          <p:nvPr>
            <p:ph sz="quarter" idx="13"/>
          </p:nvPr>
        </p:nvSpPr>
        <p:spPr>
          <a:xfrm>
            <a:off x="457199" y="2501659"/>
            <a:ext cx="8229601" cy="369332"/>
          </a:xfrm>
          <a:noFill/>
          <a:ln>
            <a:noFill/>
          </a:ln>
        </p:spPr>
        <p:txBody>
          <a:bodyPr lIns="0" tIns="0" rIns="0" bIns="0" anchor="t" anchorCtr="0">
            <a:spAutoFit/>
          </a:bodyPr>
          <a:lstStyle/>
          <a:p>
            <a:pPr marL="342900" indent="-342900"/>
            <a:r>
              <a:rPr lang="en-US" sz="2400" dirty="0"/>
              <a:t>The hydrogen peroxide is detoxified by catalase</a:t>
            </a:r>
          </a:p>
        </p:txBody>
      </p:sp>
      <p:graphicFrame>
        <p:nvGraphicFramePr>
          <p:cNvPr id="11" name="Object 10" descr="Two H subscript two O subscript two gives O subscript two plus two H subscript two O."/>
          <p:cNvGraphicFramePr>
            <a:graphicFrameLocks noChangeAspect="1"/>
          </p:cNvGraphicFramePr>
          <p:nvPr/>
        </p:nvGraphicFramePr>
        <p:xfrm>
          <a:off x="2590479" y="3148246"/>
          <a:ext cx="3146591" cy="543295"/>
        </p:xfrm>
        <a:graphic>
          <a:graphicData uri="http://schemas.openxmlformats.org/presentationml/2006/ole">
            <mc:AlternateContent xmlns:mc="http://schemas.openxmlformats.org/markup-compatibility/2006">
              <mc:Choice xmlns:v="urn:schemas-microsoft-com:vml" Requires="v">
                <p:oleObj spid="_x0000_s1027" name="Equation" r:id="rId6" imgW="1320800" imgH="228600" progId="Equation.DSMT4">
                  <p:embed/>
                </p:oleObj>
              </mc:Choice>
              <mc:Fallback>
                <p:oleObj name="Equation" r:id="rId6" imgW="1320800" imgH="228600" progId="Equation.DSMT4">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590479" y="3148246"/>
                        <a:ext cx="3146591" cy="54329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Content Placeholder 4"/>
          <p:cNvSpPr>
            <a:spLocks noGrp="1"/>
          </p:cNvSpPr>
          <p:nvPr>
            <p:ph sz="quarter" idx="14"/>
          </p:nvPr>
        </p:nvSpPr>
        <p:spPr>
          <a:xfrm>
            <a:off x="463640" y="3968796"/>
            <a:ext cx="8223160" cy="369332"/>
          </a:xfrm>
          <a:noFill/>
          <a:ln>
            <a:noFill/>
          </a:ln>
        </p:spPr>
        <p:txBody>
          <a:bodyPr lIns="0" tIns="0" rIns="0" bIns="0" anchor="t" anchorCtr="0">
            <a:spAutoFit/>
          </a:bodyPr>
          <a:lstStyle/>
          <a:p>
            <a:pPr marL="342900" indent="-342900"/>
            <a:r>
              <a:rPr lang="en-US" sz="2400" dirty="0"/>
              <a:t>Where </a:t>
            </a:r>
            <a:r>
              <a:rPr lang="en-US" sz="2400" spc="-300" dirty="0"/>
              <a:t>R </a:t>
            </a:r>
            <a:r>
              <a:rPr lang="en-US" sz="2400" dirty="0"/>
              <a:t>H</a:t>
            </a:r>
            <a:r>
              <a:rPr lang="en-US" sz="2400" baseline="-25000" dirty="0"/>
              <a:t>2</a:t>
            </a:r>
            <a:r>
              <a:rPr lang="en-US" sz="2400" dirty="0"/>
              <a:t> represents an oxidizable substance.</a:t>
            </a:r>
            <a:endParaRPr lang="en-IN" sz="2400" dirty="0"/>
          </a:p>
        </p:txBody>
      </p:sp>
    </p:spTree>
    <p:extLst>
      <p:ext uri="{BB962C8B-B14F-4D97-AF65-F5344CB8AC3E}">
        <p14:creationId xmlns:p14="http://schemas.microsoft.com/office/powerpoint/2010/main" val="2180295432"/>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57200" y="190689"/>
            <a:ext cx="8229600" cy="1107996"/>
          </a:xfrm>
        </p:spPr>
        <p:txBody>
          <a:bodyPr lIns="0" tIns="0" rIns="0" bIns="0" anchor="ctr">
            <a:spAutoFit/>
          </a:bodyPr>
          <a:lstStyle/>
          <a:p>
            <a:r>
              <a:rPr lang="en-US" dirty="0"/>
              <a:t>Hydrogen Peroxide Can Be Detoxified Another Way</a:t>
            </a:r>
            <a:endParaRPr lang="en-US" sz="3200" dirty="0">
              <a:latin typeface="+mj-lt"/>
            </a:endParaRP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4294967295"/>
          </p:nvPr>
        </p:nvSpPr>
        <p:spPr>
          <a:xfrm>
            <a:off x="463640" y="1565958"/>
            <a:ext cx="8229600" cy="368300"/>
          </a:xfrm>
          <a:noFill/>
          <a:ln>
            <a:noFill/>
          </a:ln>
        </p:spPr>
        <p:txBody>
          <a:bodyPr lIns="0" tIns="0" rIns="0" bIns="0" anchor="t" anchorCtr="0">
            <a:spAutoFit/>
          </a:bodyPr>
          <a:lstStyle/>
          <a:p>
            <a:pPr marL="342900" indent="-342900"/>
            <a:r>
              <a:rPr lang="en-US" sz="2400" dirty="0"/>
              <a:t>Alternatively, catalase can function as a </a:t>
            </a:r>
            <a:r>
              <a:rPr lang="en-US" sz="2400" i="1" dirty="0"/>
              <a:t>peroxidase</a:t>
            </a:r>
          </a:p>
        </p:txBody>
      </p:sp>
      <p:graphicFrame>
        <p:nvGraphicFramePr>
          <p:cNvPr id="4" name="Object 3" descr="R dash H subscript two plus H subscript two O subscript two gives R dash plus two H subscript two O."/>
          <p:cNvGraphicFramePr>
            <a:graphicFrameLocks noChangeAspect="1"/>
          </p:cNvGraphicFramePr>
          <p:nvPr/>
        </p:nvGraphicFramePr>
        <p:xfrm>
          <a:off x="1843088" y="2111375"/>
          <a:ext cx="5314950" cy="717550"/>
        </p:xfrm>
        <a:graphic>
          <a:graphicData uri="http://schemas.openxmlformats.org/presentationml/2006/ole">
            <mc:AlternateContent xmlns:mc="http://schemas.openxmlformats.org/markup-compatibility/2006">
              <mc:Choice xmlns:v="urn:schemas-microsoft-com:vml" Requires="v">
                <p:oleObj spid="_x0000_s2050" name="Equation" r:id="rId4" imgW="1688760" imgH="228600" progId="Equation.DSMT4">
                  <p:embed/>
                </p:oleObj>
              </mc:Choice>
              <mc:Fallback>
                <p:oleObj name="Equation" r:id="rId4" imgW="1688760" imgH="228600" progId="Equation.DSMT4">
                  <p:embed/>
                  <p:pic>
                    <p:nvPicPr>
                      <p:cNvPr id="0" name=""/>
                      <p:cNvPicPr>
                        <a:picLocks noChangeAspect="1" noChangeArrowheads="1"/>
                      </p:cNvPicPr>
                      <p:nvPr/>
                    </p:nvPicPr>
                    <p:blipFill>
                      <a:blip r:embed="rId5"/>
                      <a:srcRect/>
                      <a:stretch>
                        <a:fillRect/>
                      </a:stretch>
                    </p:blipFill>
                    <p:spPr bwMode="auto">
                      <a:xfrm>
                        <a:off x="1843088" y="2111375"/>
                        <a:ext cx="5314950" cy="7175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Content Placeholder 4"/>
          <p:cNvSpPr>
            <a:spLocks noGrp="1"/>
          </p:cNvSpPr>
          <p:nvPr>
            <p:ph sz="quarter" idx="14"/>
          </p:nvPr>
        </p:nvSpPr>
        <p:spPr>
          <a:xfrm>
            <a:off x="463640" y="2927604"/>
            <a:ext cx="8223160" cy="738664"/>
          </a:xfrm>
          <a:noFill/>
          <a:ln>
            <a:noFill/>
          </a:ln>
        </p:spPr>
        <p:txBody>
          <a:bodyPr lIns="0" tIns="0" rIns="0" bIns="0" anchor="t" anchorCtr="0">
            <a:spAutoFit/>
          </a:bodyPr>
          <a:lstStyle/>
          <a:p>
            <a:pPr indent="-256032"/>
            <a:r>
              <a:rPr lang="en-US" sz="2400" dirty="0">
                <a:solidFill>
                  <a:schemeClr val="tx1"/>
                </a:solidFill>
              </a:rPr>
              <a:t>The result is the same in either case—hydrogen peroxide is degraded while still inside the peroxisome.</a:t>
            </a:r>
          </a:p>
        </p:txBody>
      </p:sp>
    </p:spTree>
    <p:extLst>
      <p:ext uri="{BB962C8B-B14F-4D97-AF65-F5344CB8AC3E}">
        <p14:creationId xmlns:p14="http://schemas.microsoft.com/office/powerpoint/2010/main" val="332784142"/>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31562" y="182325"/>
            <a:ext cx="8302240" cy="553998"/>
          </a:xfrm>
        </p:spPr>
        <p:txBody>
          <a:bodyPr lIns="0" tIns="0" rIns="0" bIns="0" anchor="ctr">
            <a:spAutoFit/>
          </a:bodyPr>
          <a:lstStyle/>
          <a:p>
            <a:r>
              <a:rPr lang="en-US" sz="3600" dirty="0">
                <a:latin typeface="+mj-lt"/>
              </a:rPr>
              <a:t>Detoxification of Harmful Compounds</a:t>
            </a: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063574"/>
            <a:ext cx="8302240" cy="2970044"/>
          </a:xfrm>
        </p:spPr>
        <p:txBody>
          <a:bodyPr lIns="0" tIns="0" rIns="0" bIns="0">
            <a:spAutoFit/>
          </a:bodyPr>
          <a:lstStyle/>
          <a:p>
            <a:pPr marL="342900" indent="-342900"/>
            <a:r>
              <a:rPr lang="en-US" sz="2400" dirty="0">
                <a:solidFill>
                  <a:schemeClr val="tx1"/>
                </a:solidFill>
              </a:rPr>
              <a:t>Peroxidase can use methanol, ethanol, formic acid, formaldehyde, nitrates, and phenols (all toxic) as electron donors. This oxidative detoxification protects the cell. </a:t>
            </a:r>
          </a:p>
          <a:p>
            <a:pPr marL="342900" indent="-342900"/>
            <a:r>
              <a:rPr lang="en-US" sz="2400" dirty="0">
                <a:solidFill>
                  <a:schemeClr val="tx1"/>
                </a:solidFill>
              </a:rPr>
              <a:t>Peroxisomes detoxify </a:t>
            </a:r>
            <a:r>
              <a:rPr lang="en-US" sz="2400" b="1" dirty="0">
                <a:solidFill>
                  <a:schemeClr val="tx1"/>
                </a:solidFill>
              </a:rPr>
              <a:t>reactive</a:t>
            </a:r>
            <a:r>
              <a:rPr lang="en-US" sz="2400" dirty="0">
                <a:solidFill>
                  <a:schemeClr val="tx1"/>
                </a:solidFill>
              </a:rPr>
              <a:t> </a:t>
            </a:r>
            <a:r>
              <a:rPr lang="en-US" sz="2400" b="1" dirty="0">
                <a:solidFill>
                  <a:schemeClr val="tx1"/>
                </a:solidFill>
              </a:rPr>
              <a:t>oxygen</a:t>
            </a:r>
            <a:r>
              <a:rPr lang="en-US" sz="2400" dirty="0">
                <a:solidFill>
                  <a:schemeClr val="tx1"/>
                </a:solidFill>
              </a:rPr>
              <a:t> </a:t>
            </a:r>
            <a:r>
              <a:rPr lang="en-US" sz="2400" b="1" dirty="0">
                <a:solidFill>
                  <a:schemeClr val="tx1"/>
                </a:solidFill>
              </a:rPr>
              <a:t>species</a:t>
            </a:r>
            <a:r>
              <a:rPr lang="en-US" sz="2400" dirty="0">
                <a:solidFill>
                  <a:schemeClr val="tx1"/>
                </a:solidFill>
              </a:rPr>
              <a:t>. If these accumulate, they can cause </a:t>
            </a:r>
            <a:r>
              <a:rPr lang="en-US" sz="2400" i="1" dirty="0">
                <a:solidFill>
                  <a:schemeClr val="tx1"/>
                </a:solidFill>
              </a:rPr>
              <a:t>oxidative</a:t>
            </a:r>
            <a:r>
              <a:rPr lang="en-US" sz="2400" dirty="0">
                <a:solidFill>
                  <a:schemeClr val="tx1"/>
                </a:solidFill>
              </a:rPr>
              <a:t> </a:t>
            </a:r>
            <a:r>
              <a:rPr lang="en-US" sz="2400" i="1" dirty="0">
                <a:solidFill>
                  <a:schemeClr val="tx1"/>
                </a:solidFill>
              </a:rPr>
              <a:t>stress</a:t>
            </a:r>
            <a:r>
              <a:rPr lang="en-US" sz="2400" dirty="0">
                <a:solidFill>
                  <a:schemeClr val="tx1"/>
                </a:solidFill>
              </a:rPr>
              <a:t>.</a:t>
            </a:r>
            <a:endParaRPr lang="en-US" sz="2400" i="1" dirty="0">
              <a:solidFill>
                <a:schemeClr val="tx1"/>
              </a:solidFill>
            </a:endParaRPr>
          </a:p>
          <a:p>
            <a:pPr marL="342900" indent="-342900"/>
            <a:r>
              <a:rPr lang="en-US" sz="2400" dirty="0">
                <a:solidFill>
                  <a:schemeClr val="tx1"/>
                </a:solidFill>
              </a:rPr>
              <a:t>Peroxisomal enzymes such as </a:t>
            </a:r>
            <a:r>
              <a:rPr lang="en-US" sz="2400" i="1" dirty="0">
                <a:solidFill>
                  <a:schemeClr val="tx1"/>
                </a:solidFill>
              </a:rPr>
              <a:t>superoxide</a:t>
            </a:r>
            <a:r>
              <a:rPr lang="en-US" sz="2400" dirty="0">
                <a:solidFill>
                  <a:schemeClr val="tx1"/>
                </a:solidFill>
              </a:rPr>
              <a:t> </a:t>
            </a:r>
            <a:r>
              <a:rPr lang="en-US" sz="2400" i="1" dirty="0">
                <a:solidFill>
                  <a:schemeClr val="tx1"/>
                </a:solidFill>
              </a:rPr>
              <a:t>dismutase</a:t>
            </a:r>
            <a:r>
              <a:rPr lang="en-US" sz="2400" dirty="0">
                <a:solidFill>
                  <a:schemeClr val="tx1"/>
                </a:solidFill>
              </a:rPr>
              <a:t> and others detoxify reactive oxygen species.</a:t>
            </a:r>
          </a:p>
        </p:txBody>
      </p:sp>
    </p:spTree>
    <p:extLst>
      <p:ext uri="{BB962C8B-B14F-4D97-AF65-F5344CB8AC3E}">
        <p14:creationId xmlns:p14="http://schemas.microsoft.com/office/powerpoint/2010/main" val="3475750851"/>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31562" y="182441"/>
            <a:ext cx="8302240" cy="553998"/>
          </a:xfrm>
        </p:spPr>
        <p:txBody>
          <a:bodyPr lIns="0" tIns="0" rIns="0" bIns="0" anchor="ctr">
            <a:spAutoFit/>
          </a:bodyPr>
          <a:lstStyle/>
          <a:p>
            <a:r>
              <a:rPr lang="en-US" sz="3600" dirty="0">
                <a:latin typeface="+mj-lt"/>
              </a:rPr>
              <a:t>Oxidation of Fatty Acids</a:t>
            </a: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061702"/>
            <a:ext cx="8302240" cy="2970044"/>
          </a:xfrm>
        </p:spPr>
        <p:txBody>
          <a:bodyPr lIns="0" tIns="0" rIns="0" bIns="0">
            <a:spAutoFit/>
          </a:bodyPr>
          <a:lstStyle/>
          <a:p>
            <a:pPr marL="342900" indent="-342900"/>
            <a:r>
              <a:rPr lang="en-US" sz="2400" dirty="0">
                <a:solidFill>
                  <a:schemeClr val="tx1"/>
                </a:solidFill>
              </a:rPr>
              <a:t>Peroxisomes contain enzymes for </a:t>
            </a:r>
            <a:r>
              <a:rPr lang="en-US" sz="2400" i="1" dirty="0">
                <a:solidFill>
                  <a:schemeClr val="tx1"/>
                </a:solidFill>
              </a:rPr>
              <a:t>β oxidation</a:t>
            </a:r>
            <a:r>
              <a:rPr lang="en-US" sz="2400" dirty="0">
                <a:solidFill>
                  <a:schemeClr val="tx1"/>
                </a:solidFill>
              </a:rPr>
              <a:t> of fatty acids.</a:t>
            </a:r>
          </a:p>
          <a:p>
            <a:pPr marL="342900" indent="-342900"/>
            <a:r>
              <a:rPr lang="en-US" sz="2400" dirty="0">
                <a:solidFill>
                  <a:schemeClr val="tx1"/>
                </a:solidFill>
              </a:rPr>
              <a:t>In animals, the primary product of </a:t>
            </a:r>
            <a:r>
              <a:rPr lang="en-US" sz="2400" i="1" dirty="0">
                <a:solidFill>
                  <a:schemeClr val="tx1"/>
                </a:solidFill>
              </a:rPr>
              <a:t>β </a:t>
            </a:r>
            <a:r>
              <a:rPr lang="en-US" sz="2400" dirty="0">
                <a:solidFill>
                  <a:schemeClr val="tx1"/>
                </a:solidFill>
              </a:rPr>
              <a:t>oxidation, acetyl-CoA, is exported to the cytosol and enters biosynthetic pathways or the citric acid cycle.</a:t>
            </a:r>
          </a:p>
          <a:p>
            <a:pPr marL="342900" indent="-342900"/>
            <a:r>
              <a:rPr lang="en-US" sz="2400" dirty="0">
                <a:solidFill>
                  <a:schemeClr val="tx1"/>
                </a:solidFill>
              </a:rPr>
              <a:t>In plants and yeast, fatty acids are completely oxidized in peroxisomes.</a:t>
            </a:r>
          </a:p>
        </p:txBody>
      </p:sp>
    </p:spTree>
    <p:extLst>
      <p:ext uri="{BB962C8B-B14F-4D97-AF65-F5344CB8AC3E}">
        <p14:creationId xmlns:p14="http://schemas.microsoft.com/office/powerpoint/2010/main" val="3086859717"/>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p:txBody>
          <a:bodyPr lIns="0" tIns="0" rIns="0" bIns="0" anchor="ctr">
            <a:spAutoFit/>
          </a:bodyPr>
          <a:lstStyle/>
          <a:p>
            <a:r>
              <a:rPr lang="en-US" dirty="0"/>
              <a:t>Metabolism of Nitrogen-Containing Compounds</a:t>
            </a:r>
            <a:endParaRPr lang="en-US" sz="3200" dirty="0">
              <a:latin typeface="+mj-lt"/>
            </a:endParaRP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sz="quarter" idx="13"/>
          </p:nvPr>
        </p:nvSpPr>
        <p:spPr>
          <a:xfrm>
            <a:off x="457200" y="1552575"/>
            <a:ext cx="8232128" cy="1107996"/>
          </a:xfrm>
          <a:noFill/>
          <a:ln>
            <a:noFill/>
          </a:ln>
        </p:spPr>
        <p:txBody>
          <a:bodyPr wrap="square" lIns="0" tIns="0" rIns="0" bIns="0" anchor="t" anchorCtr="0">
            <a:spAutoFit/>
          </a:bodyPr>
          <a:lstStyle/>
          <a:p>
            <a:pPr marL="342900" indent="-342900"/>
            <a:r>
              <a:rPr lang="en-US" sz="2400" dirty="0"/>
              <a:t>Most animals (not primates) require </a:t>
            </a:r>
            <a:r>
              <a:rPr lang="en-US" sz="2400" i="1" dirty="0"/>
              <a:t>urate</a:t>
            </a:r>
            <a:r>
              <a:rPr lang="en-US" sz="2400" dirty="0"/>
              <a:t> </a:t>
            </a:r>
            <a:r>
              <a:rPr lang="en-US" sz="2400" i="1" dirty="0"/>
              <a:t>oxidase</a:t>
            </a:r>
            <a:r>
              <a:rPr lang="en-US" sz="2400" dirty="0"/>
              <a:t> to oxidize urate, formed during catabolism of nucleic acids and some proteins.</a:t>
            </a:r>
          </a:p>
        </p:txBody>
      </p:sp>
      <p:sp>
        <p:nvSpPr>
          <p:cNvPr id="5" name="Content Placeholder 4"/>
          <p:cNvSpPr>
            <a:spLocks noGrp="1"/>
          </p:cNvSpPr>
          <p:nvPr>
            <p:ph sz="quarter" idx="14"/>
          </p:nvPr>
        </p:nvSpPr>
        <p:spPr>
          <a:xfrm>
            <a:off x="435428" y="2796938"/>
            <a:ext cx="193221" cy="369332"/>
          </a:xfrm>
          <a:noFill/>
          <a:ln>
            <a:noFill/>
          </a:ln>
        </p:spPr>
        <p:txBody>
          <a:bodyPr wrap="square" lIns="0" tIns="0" rIns="0" bIns="0" anchor="t" anchorCtr="0">
            <a:spAutoFit/>
          </a:bodyPr>
          <a:lstStyle/>
          <a:p>
            <a:pPr indent="-256032"/>
            <a:r>
              <a:rPr lang="en-US" sz="2400" dirty="0"/>
              <a:t> </a:t>
            </a:r>
          </a:p>
        </p:txBody>
      </p:sp>
      <p:graphicFrame>
        <p:nvGraphicFramePr>
          <p:cNvPr id="3" name="Object 2" descr="Urate plus O subscript two gives allantoin plus H subscript two O subscript two.&#10;"/>
          <p:cNvGraphicFramePr>
            <a:graphicFrameLocks noChangeAspect="1"/>
          </p:cNvGraphicFramePr>
          <p:nvPr>
            <p:extLst>
              <p:ext uri="{D42A27DB-BD31-4B8C-83A1-F6EECF244321}">
                <p14:modId xmlns:p14="http://schemas.microsoft.com/office/powerpoint/2010/main" val="3034847879"/>
              </p:ext>
            </p:extLst>
          </p:nvPr>
        </p:nvGraphicFramePr>
        <p:xfrm>
          <a:off x="763480" y="2772294"/>
          <a:ext cx="4314653" cy="539331"/>
        </p:xfrm>
        <a:graphic>
          <a:graphicData uri="http://schemas.openxmlformats.org/presentationml/2006/ole">
            <mc:AlternateContent xmlns:mc="http://schemas.openxmlformats.org/markup-compatibility/2006">
              <mc:Choice xmlns:v="urn:schemas-microsoft-com:vml" Requires="v">
                <p:oleObj spid="_x0000_s3074" name="Equation" r:id="rId4" imgW="1828800" imgH="228600" progId="Equation.DSMT4">
                  <p:embed/>
                </p:oleObj>
              </mc:Choice>
              <mc:Fallback>
                <p:oleObj name="Equation" r:id="rId4" imgW="1828800" imgH="228600" progId="Equation.DSMT4">
                  <p:embed/>
                  <p:pic>
                    <p:nvPicPr>
                      <p:cNvPr id="0" name=""/>
                      <p:cNvPicPr/>
                      <p:nvPr/>
                    </p:nvPicPr>
                    <p:blipFill>
                      <a:blip r:embed="rId5"/>
                      <a:stretch>
                        <a:fillRect/>
                      </a:stretch>
                    </p:blipFill>
                    <p:spPr>
                      <a:xfrm>
                        <a:off x="763480" y="2772294"/>
                        <a:ext cx="4314653" cy="539331"/>
                      </a:xfrm>
                      <a:prstGeom prst="rect">
                        <a:avLst/>
                      </a:prstGeom>
                    </p:spPr>
                  </p:pic>
                </p:oleObj>
              </mc:Fallback>
            </mc:AlternateContent>
          </a:graphicData>
        </a:graphic>
      </p:graphicFrame>
      <p:sp>
        <p:nvSpPr>
          <p:cNvPr id="6" name="Content Placeholder 5">
            <a:extLst>
              <a:ext uri="{FF2B5EF4-FFF2-40B4-BE49-F238E27FC236}">
                <a16:creationId xmlns:a16="http://schemas.microsoft.com/office/drawing/2014/main" xmlns="" id="{DD658546-2C59-43EB-AE97-228F371C77BE}"/>
              </a:ext>
            </a:extLst>
          </p:cNvPr>
          <p:cNvSpPr>
            <a:spLocks noGrp="1"/>
          </p:cNvSpPr>
          <p:nvPr>
            <p:ph sz="quarter" idx="16"/>
          </p:nvPr>
        </p:nvSpPr>
        <p:spPr>
          <a:xfrm>
            <a:off x="434064" y="3440384"/>
            <a:ext cx="8305800" cy="539331"/>
          </a:xfrm>
        </p:spPr>
        <p:txBody>
          <a:bodyPr lIns="0" tIns="0" rIns="0" bIns="0"/>
          <a:lstStyle/>
          <a:p>
            <a:pPr marL="255588" indent="-423863"/>
            <a:r>
              <a:rPr lang="en-US" sz="2400" dirty="0"/>
              <a:t>The H</a:t>
            </a:r>
            <a:r>
              <a:rPr lang="en-US" sz="2400" baseline="-25000" dirty="0"/>
              <a:t>2</a:t>
            </a:r>
            <a:r>
              <a:rPr lang="en-US" sz="2400" dirty="0"/>
              <a:t>O</a:t>
            </a:r>
            <a:r>
              <a:rPr lang="en-US" sz="2400" baseline="-25000" dirty="0"/>
              <a:t>2</a:t>
            </a:r>
            <a:r>
              <a:rPr lang="en-US" sz="2400" dirty="0"/>
              <a:t> is immediately degraded by catalase.  </a:t>
            </a:r>
            <a:endParaRPr lang="en-IN" sz="2400" dirty="0"/>
          </a:p>
        </p:txBody>
      </p:sp>
    </p:spTree>
    <p:extLst>
      <p:ext uri="{BB962C8B-B14F-4D97-AF65-F5344CB8AC3E}">
        <p14:creationId xmlns:p14="http://schemas.microsoft.com/office/powerpoint/2010/main" val="1111243795"/>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57200" y="173244"/>
            <a:ext cx="8267700" cy="553998"/>
          </a:xfrm>
        </p:spPr>
        <p:txBody>
          <a:bodyPr wrap="square" lIns="0" tIns="0" rIns="0" bIns="0" anchor="ctr">
            <a:spAutoFit/>
          </a:bodyPr>
          <a:lstStyle/>
          <a:p>
            <a:r>
              <a:rPr lang="en-US" dirty="0"/>
              <a:t>Aminotransferases</a:t>
            </a:r>
          </a:p>
        </p:txBody>
      </p:sp>
      <p:sp>
        <p:nvSpPr>
          <p:cNvPr id="4" name="Content Placeholder 3">
            <a:extLst>
              <a:ext uri="{FF2B5EF4-FFF2-40B4-BE49-F238E27FC236}">
                <a16:creationId xmlns:a16="http://schemas.microsoft.com/office/drawing/2014/main" xmlns="" id="{0B25B0BC-7F4C-41BE-BF5F-172FD8DE9068}"/>
              </a:ext>
            </a:extLst>
          </p:cNvPr>
          <p:cNvSpPr>
            <a:spLocks noGrp="1"/>
          </p:cNvSpPr>
          <p:nvPr>
            <p:ph sz="quarter" idx="14"/>
          </p:nvPr>
        </p:nvSpPr>
        <p:spPr>
          <a:xfrm>
            <a:off x="419101" y="953861"/>
            <a:ext cx="8305800" cy="1234168"/>
          </a:xfrm>
        </p:spPr>
        <p:txBody>
          <a:bodyPr lIns="0" tIns="0" rIns="0" bIns="0"/>
          <a:lstStyle/>
          <a:p>
            <a:pPr marL="255588" indent="-255588"/>
            <a:r>
              <a:rPr lang="en-US" sz="2400" i="1" dirty="0"/>
              <a:t>Aminotransferases</a:t>
            </a:r>
            <a:r>
              <a:rPr lang="en-US" sz="2400" dirty="0"/>
              <a:t> catalyze the transfer of amino groups from amino acids to </a:t>
            </a:r>
            <a:r>
              <a:rPr lang="en-US" sz="2400" i="1" dirty="0"/>
              <a:t>α</a:t>
            </a:r>
            <a:r>
              <a:rPr lang="en-US" sz="2400" dirty="0"/>
              <a:t>-keto acids in the degradation and synthesis of amino acids</a:t>
            </a:r>
          </a:p>
        </p:txBody>
      </p:sp>
      <p:sp>
        <p:nvSpPr>
          <p:cNvPr id="6" name="Content Placeholder 5"/>
          <p:cNvSpPr>
            <a:spLocks noGrp="1"/>
          </p:cNvSpPr>
          <p:nvPr>
            <p:ph sz="quarter" idx="15"/>
          </p:nvPr>
        </p:nvSpPr>
        <p:spPr>
          <a:xfrm>
            <a:off x="435429" y="2530124"/>
            <a:ext cx="316403" cy="369332"/>
          </a:xfrm>
        </p:spPr>
        <p:txBody>
          <a:bodyPr wrap="square" lIns="0" tIns="0" rIns="0" bIns="0">
            <a:spAutoFit/>
          </a:bodyPr>
          <a:lstStyle/>
          <a:p>
            <a:pPr marL="342900" indent="-342900"/>
            <a:r>
              <a:rPr lang="en-US" sz="2400" dirty="0"/>
              <a:t> </a:t>
            </a:r>
          </a:p>
        </p:txBody>
      </p:sp>
      <p:pic>
        <p:nvPicPr>
          <p:cNvPr id="5" name="Picture Placeholder 4" descr="Amino acid plus α-keto acid is in equilibrium with α-keto acid plus amino acid."/>
          <p:cNvPicPr>
            <a:picLocks noGrp="1" noChangeAspect="1"/>
          </p:cNvPicPr>
          <p:nvPr>
            <p:ph type="pic" sz="quarter" idx="16"/>
          </p:nvPr>
        </p:nvPicPr>
        <p:blipFill>
          <a:blip r:embed="rId3">
            <a:extLst>
              <a:ext uri="{28A0092B-C50C-407E-A947-70E740481C1C}">
                <a14:useLocalDpi xmlns:a14="http://schemas.microsoft.com/office/drawing/2010/main" val="0"/>
              </a:ext>
            </a:extLst>
          </a:blip>
          <a:stretch>
            <a:fillRect/>
          </a:stretch>
        </p:blipFill>
        <p:spPr>
          <a:xfrm>
            <a:off x="853046" y="2528165"/>
            <a:ext cx="7442552" cy="3073953"/>
          </a:xfrm>
          <a:prstGeom prst="rect">
            <a:avLst/>
          </a:prstGeom>
        </p:spPr>
      </p:pic>
    </p:spTree>
    <p:extLst>
      <p:ext uri="{BB962C8B-B14F-4D97-AF65-F5344CB8AC3E}">
        <p14:creationId xmlns:p14="http://schemas.microsoft.com/office/powerpoint/2010/main" val="3699317352"/>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84155"/>
            <a:ext cx="8263784" cy="553998"/>
          </a:xfrm>
        </p:spPr>
        <p:txBody>
          <a:bodyPr lIns="0" tIns="0" rIns="0" bIns="0" anchor="ctr">
            <a:spAutoFit/>
          </a:bodyPr>
          <a:lstStyle/>
          <a:p>
            <a:r>
              <a:rPr lang="en-US" sz="3600" dirty="0">
                <a:latin typeface="+mj-lt"/>
              </a:rPr>
              <a:t>Catabolism of Unusual Substances</a:t>
            </a: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067565"/>
            <a:ext cx="8301884" cy="2600712"/>
          </a:xfrm>
        </p:spPr>
        <p:txBody>
          <a:bodyPr wrap="square" lIns="0" tIns="0" rIns="0" bIns="0">
            <a:spAutoFit/>
          </a:bodyPr>
          <a:lstStyle/>
          <a:p>
            <a:pPr marL="342900" indent="-342900"/>
            <a:r>
              <a:rPr lang="en-US" sz="2000" dirty="0">
                <a:solidFill>
                  <a:schemeClr val="tx1"/>
                </a:solidFill>
              </a:rPr>
              <a:t>D</a:t>
            </a:r>
            <a:r>
              <a:rPr lang="en-US" sz="2400" dirty="0">
                <a:solidFill>
                  <a:schemeClr val="tx1"/>
                </a:solidFill>
              </a:rPr>
              <a:t>-amino acids are rare substances for which the cell has no degradative pathways, except in the peroxisome.</a:t>
            </a:r>
          </a:p>
          <a:p>
            <a:pPr marL="342900" indent="-342900"/>
            <a:r>
              <a:rPr lang="en-US" sz="2400" dirty="0">
                <a:solidFill>
                  <a:schemeClr val="tx1"/>
                </a:solidFill>
              </a:rPr>
              <a:t>In some cells, peroxisomes also contain enzymes that break down </a:t>
            </a:r>
            <a:r>
              <a:rPr lang="en-US" sz="2400" b="1" dirty="0">
                <a:solidFill>
                  <a:schemeClr val="tx1"/>
                </a:solidFill>
              </a:rPr>
              <a:t>xenobiotics</a:t>
            </a:r>
            <a:r>
              <a:rPr lang="en-US" sz="2400" dirty="0">
                <a:solidFill>
                  <a:schemeClr val="tx1"/>
                </a:solidFill>
              </a:rPr>
              <a:t>, compounds foreign to living organisms.</a:t>
            </a:r>
          </a:p>
          <a:p>
            <a:pPr marL="342900" indent="-342900"/>
            <a:r>
              <a:rPr lang="en-US" sz="2400" dirty="0">
                <a:solidFill>
                  <a:schemeClr val="tx1"/>
                </a:solidFill>
              </a:rPr>
              <a:t>This includes short-chain hydrocarbons such as </a:t>
            </a:r>
            <a:r>
              <a:rPr lang="en-US" sz="2400" i="1" dirty="0">
                <a:solidFill>
                  <a:schemeClr val="tx1"/>
                </a:solidFill>
              </a:rPr>
              <a:t>alkanes</a:t>
            </a:r>
            <a:r>
              <a:rPr lang="en-US" sz="2400" dirty="0">
                <a:solidFill>
                  <a:schemeClr val="tx1"/>
                </a:solidFill>
              </a:rPr>
              <a:t>.</a:t>
            </a:r>
            <a:endParaRPr lang="en-US" sz="2400" i="1" dirty="0">
              <a:solidFill>
                <a:schemeClr val="tx1"/>
              </a:solidFill>
            </a:endParaRPr>
          </a:p>
        </p:txBody>
      </p:sp>
    </p:spTree>
    <p:extLst>
      <p:ext uri="{BB962C8B-B14F-4D97-AF65-F5344CB8AC3E}">
        <p14:creationId xmlns:p14="http://schemas.microsoft.com/office/powerpoint/2010/main" val="2820850859"/>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84155"/>
            <a:ext cx="8263784" cy="553998"/>
          </a:xfrm>
        </p:spPr>
        <p:txBody>
          <a:bodyPr lIns="0" tIns="0" rIns="0" bIns="0" anchor="ctr">
            <a:spAutoFit/>
          </a:bodyPr>
          <a:lstStyle/>
          <a:p>
            <a:r>
              <a:rPr lang="en-US" sz="3600" dirty="0">
                <a:latin typeface="+mj-lt"/>
              </a:rPr>
              <a:t>Peroxisomal Disorders</a:t>
            </a:r>
            <a:endParaRPr lang="en-US" sz="2800" dirty="0">
              <a:latin typeface="+mj-lt"/>
            </a:endParaRP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067565"/>
            <a:ext cx="8263784" cy="2600712"/>
          </a:xfrm>
        </p:spPr>
        <p:txBody>
          <a:bodyPr lIns="0" tIns="0" rIns="0" bIns="0">
            <a:spAutoFit/>
          </a:bodyPr>
          <a:lstStyle/>
          <a:p>
            <a:pPr marL="342900" indent="-342900"/>
            <a:r>
              <a:rPr lang="en-US" sz="2400" dirty="0">
                <a:solidFill>
                  <a:schemeClr val="tx1"/>
                </a:solidFill>
              </a:rPr>
              <a:t>A large number of disorders arise from defects in peroxisomal proteins.</a:t>
            </a:r>
          </a:p>
          <a:p>
            <a:pPr marL="342900" indent="-342900"/>
            <a:r>
              <a:rPr lang="en-US" sz="2400" dirty="0">
                <a:solidFill>
                  <a:schemeClr val="tx1"/>
                </a:solidFill>
              </a:rPr>
              <a:t>The most common is </a:t>
            </a:r>
            <a:r>
              <a:rPr lang="en-US" sz="2400" i="1" dirty="0">
                <a:solidFill>
                  <a:schemeClr val="tx1"/>
                </a:solidFill>
              </a:rPr>
              <a:t>X</a:t>
            </a:r>
            <a:r>
              <a:rPr lang="en-US" sz="2400" dirty="0">
                <a:solidFill>
                  <a:schemeClr val="tx1"/>
                </a:solidFill>
              </a:rPr>
              <a:t>-</a:t>
            </a:r>
            <a:r>
              <a:rPr lang="en-US" sz="2400" i="1" dirty="0">
                <a:solidFill>
                  <a:schemeClr val="tx1"/>
                </a:solidFill>
              </a:rPr>
              <a:t>linked adrenoleukodystrophy</a:t>
            </a:r>
            <a:r>
              <a:rPr lang="en-US" sz="2400" dirty="0">
                <a:solidFill>
                  <a:schemeClr val="tx1"/>
                </a:solidFill>
              </a:rPr>
              <a:t>.</a:t>
            </a:r>
            <a:endParaRPr lang="en-US" sz="2400" i="1" dirty="0">
              <a:solidFill>
                <a:schemeClr val="tx1"/>
              </a:solidFill>
            </a:endParaRPr>
          </a:p>
          <a:p>
            <a:pPr marL="342900" indent="-342900"/>
            <a:r>
              <a:rPr lang="en-US" sz="2400" dirty="0">
                <a:solidFill>
                  <a:schemeClr val="tx1"/>
                </a:solidFill>
              </a:rPr>
              <a:t>The defective protein in this case may be responsible for transporting long-chain fatty acids into the peroxisome for degradation.</a:t>
            </a:r>
          </a:p>
        </p:txBody>
      </p:sp>
    </p:spTree>
    <p:extLst>
      <p:ext uri="{BB962C8B-B14F-4D97-AF65-F5344CB8AC3E}">
        <p14:creationId xmlns:p14="http://schemas.microsoft.com/office/powerpoint/2010/main" val="812743176"/>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90384"/>
            <a:ext cx="8301884" cy="1661993"/>
          </a:xfrm>
        </p:spPr>
        <p:txBody>
          <a:bodyPr wrap="square" lIns="0" tIns="0" rIns="0" bIns="0" anchor="ctr">
            <a:spAutoFit/>
          </a:bodyPr>
          <a:lstStyle/>
          <a:p>
            <a:r>
              <a:rPr lang="en-US" sz="3600" dirty="0">
                <a:latin typeface="+mj-lt"/>
              </a:rPr>
              <a:t>Plant Cells Contain Types of Peroxisomes Not Found in Animal Cells</a:t>
            </a: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2068842"/>
            <a:ext cx="8263784" cy="738664"/>
          </a:xfrm>
        </p:spPr>
        <p:txBody>
          <a:bodyPr lIns="0" tIns="0" rIns="0" bIns="0">
            <a:spAutoFit/>
          </a:bodyPr>
          <a:lstStyle/>
          <a:p>
            <a:pPr marL="342900" indent="-342900"/>
            <a:r>
              <a:rPr lang="en-US" sz="2400" dirty="0">
                <a:solidFill>
                  <a:schemeClr val="tx1"/>
                </a:solidFill>
              </a:rPr>
              <a:t>In plants and algae, peroxisomes are involved in several aspects of cell energy metabolism.</a:t>
            </a:r>
          </a:p>
        </p:txBody>
      </p:sp>
    </p:spTree>
    <p:extLst>
      <p:ext uri="{BB962C8B-B14F-4D97-AF65-F5344CB8AC3E}">
        <p14:creationId xmlns:p14="http://schemas.microsoft.com/office/powerpoint/2010/main" val="3970412770"/>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84155"/>
            <a:ext cx="8263784" cy="553998"/>
          </a:xfrm>
        </p:spPr>
        <p:txBody>
          <a:bodyPr lIns="0" tIns="0" rIns="0" bIns="0" anchor="ctr">
            <a:spAutoFit/>
          </a:bodyPr>
          <a:lstStyle/>
          <a:p>
            <a:r>
              <a:rPr lang="en-US" sz="3600" dirty="0">
                <a:latin typeface="+mj-lt"/>
              </a:rPr>
              <a:t>Leaf Peroxisomes</a:t>
            </a:r>
            <a:endParaRPr lang="en-US" sz="2800" dirty="0">
              <a:latin typeface="+mj-lt"/>
            </a:endParaRP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067565"/>
            <a:ext cx="8263784" cy="1669688"/>
          </a:xfrm>
        </p:spPr>
        <p:txBody>
          <a:bodyPr lIns="0" tIns="0" rIns="0" bIns="0">
            <a:spAutoFit/>
          </a:bodyPr>
          <a:lstStyle/>
          <a:p>
            <a:pPr marL="342900" indent="-342900"/>
            <a:r>
              <a:rPr lang="en-US" sz="2400" dirty="0">
                <a:solidFill>
                  <a:schemeClr val="tx1"/>
                </a:solidFill>
              </a:rPr>
              <a:t>Cells of photosynthetic tissues contain </a:t>
            </a:r>
            <a:r>
              <a:rPr lang="en-US" sz="2400" b="1" dirty="0">
                <a:solidFill>
                  <a:schemeClr val="tx1"/>
                </a:solidFill>
              </a:rPr>
              <a:t>leaf</a:t>
            </a:r>
            <a:r>
              <a:rPr lang="en-US" sz="2400" dirty="0">
                <a:solidFill>
                  <a:schemeClr val="tx1"/>
                </a:solidFill>
              </a:rPr>
              <a:t> </a:t>
            </a:r>
            <a:r>
              <a:rPr lang="en-US" sz="2400" b="1" dirty="0">
                <a:solidFill>
                  <a:schemeClr val="tx1"/>
                </a:solidFill>
              </a:rPr>
              <a:t>peroxisomes</a:t>
            </a:r>
            <a:r>
              <a:rPr lang="en-US" sz="2400" dirty="0">
                <a:solidFill>
                  <a:schemeClr val="tx1"/>
                </a:solidFill>
              </a:rPr>
              <a:t> in close contact with mitochondria and chloroplasts.</a:t>
            </a:r>
          </a:p>
          <a:p>
            <a:pPr marL="342900" indent="-342900"/>
            <a:r>
              <a:rPr lang="en-US" sz="2400" dirty="0">
                <a:solidFill>
                  <a:schemeClr val="tx1"/>
                </a:solidFill>
              </a:rPr>
              <a:t>They are involved in the </a:t>
            </a:r>
            <a:r>
              <a:rPr lang="en-US" sz="2400" i="1" dirty="0">
                <a:solidFill>
                  <a:schemeClr val="tx1"/>
                </a:solidFill>
              </a:rPr>
              <a:t>glycolate</a:t>
            </a:r>
            <a:r>
              <a:rPr lang="en-US" sz="2400" dirty="0">
                <a:solidFill>
                  <a:schemeClr val="tx1"/>
                </a:solidFill>
              </a:rPr>
              <a:t> </a:t>
            </a:r>
            <a:r>
              <a:rPr lang="en-US" sz="2400" i="1" dirty="0">
                <a:solidFill>
                  <a:schemeClr val="tx1"/>
                </a:solidFill>
              </a:rPr>
              <a:t>pathway</a:t>
            </a:r>
            <a:r>
              <a:rPr lang="en-US" sz="2400" dirty="0">
                <a:solidFill>
                  <a:schemeClr val="tx1"/>
                </a:solidFill>
              </a:rPr>
              <a:t>, also called the </a:t>
            </a:r>
            <a:r>
              <a:rPr lang="en-US" sz="2400" i="1" dirty="0">
                <a:solidFill>
                  <a:schemeClr val="tx1"/>
                </a:solidFill>
              </a:rPr>
              <a:t>photorespiratory</a:t>
            </a:r>
            <a:r>
              <a:rPr lang="en-US" sz="2400" dirty="0">
                <a:solidFill>
                  <a:schemeClr val="tx1"/>
                </a:solidFill>
              </a:rPr>
              <a:t> </a:t>
            </a:r>
            <a:r>
              <a:rPr lang="en-US" sz="2400" i="1" dirty="0">
                <a:solidFill>
                  <a:schemeClr val="tx1"/>
                </a:solidFill>
              </a:rPr>
              <a:t>pathway</a:t>
            </a:r>
            <a:r>
              <a:rPr lang="en-US" sz="2400" dirty="0">
                <a:solidFill>
                  <a:schemeClr val="tx1"/>
                </a:solidFill>
              </a:rPr>
              <a:t>.</a:t>
            </a:r>
            <a:endParaRPr lang="en-US" sz="2400" i="1" dirty="0">
              <a:solidFill>
                <a:schemeClr val="tx1"/>
              </a:solidFill>
            </a:endParaRPr>
          </a:p>
        </p:txBody>
      </p:sp>
    </p:spTree>
    <p:extLst>
      <p:ext uri="{BB962C8B-B14F-4D97-AF65-F5344CB8AC3E}">
        <p14:creationId xmlns:p14="http://schemas.microsoft.com/office/powerpoint/2010/main" val="2228519104"/>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90590"/>
            <a:ext cx="8263784" cy="553998"/>
          </a:xfrm>
        </p:spPr>
        <p:txBody>
          <a:bodyPr lIns="0" tIns="0" rIns="0" bIns="0" anchor="ctr">
            <a:spAutoFit/>
          </a:bodyPr>
          <a:lstStyle/>
          <a:p>
            <a:r>
              <a:rPr lang="en-US" sz="3600" dirty="0">
                <a:latin typeface="+mj-lt"/>
              </a:rPr>
              <a:t>Glyoxysomes</a:t>
            </a: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067565"/>
            <a:ext cx="8263784" cy="2970044"/>
          </a:xfrm>
        </p:spPr>
        <p:txBody>
          <a:bodyPr lIns="0" tIns="0" rIns="0" bIns="0">
            <a:spAutoFit/>
          </a:bodyPr>
          <a:lstStyle/>
          <a:p>
            <a:pPr marL="342900" indent="-342900"/>
            <a:r>
              <a:rPr lang="en-US" sz="2400" b="1" dirty="0">
                <a:solidFill>
                  <a:schemeClr val="tx1"/>
                </a:solidFill>
              </a:rPr>
              <a:t>Glyoxysomes</a:t>
            </a:r>
            <a:r>
              <a:rPr lang="en-US" sz="2400" dirty="0">
                <a:solidFill>
                  <a:schemeClr val="tx1"/>
                </a:solidFill>
              </a:rPr>
              <a:t> occur transiently in seedlings. </a:t>
            </a:r>
          </a:p>
          <a:p>
            <a:pPr marL="342900" indent="-342900"/>
            <a:r>
              <a:rPr lang="en-US" sz="2400" dirty="0">
                <a:solidFill>
                  <a:schemeClr val="tx1"/>
                </a:solidFill>
              </a:rPr>
              <a:t>They contain enzymes needed to convert stored triacylglycerols to sucrose, </a:t>
            </a:r>
            <a:r>
              <a:rPr lang="en-US" sz="2400" i="1" dirty="0">
                <a:solidFill>
                  <a:schemeClr val="tx1"/>
                </a:solidFill>
              </a:rPr>
              <a:t>β</a:t>
            </a:r>
            <a:r>
              <a:rPr lang="en-US" sz="2400" dirty="0">
                <a:solidFill>
                  <a:schemeClr val="tx1"/>
                </a:solidFill>
              </a:rPr>
              <a:t> oxidation of fatty acids, and the glyoxylate cycle.</a:t>
            </a:r>
          </a:p>
          <a:p>
            <a:pPr marL="342900" indent="-342900"/>
            <a:r>
              <a:rPr lang="en-US" sz="2400" dirty="0">
                <a:solidFill>
                  <a:schemeClr val="tx1"/>
                </a:solidFill>
              </a:rPr>
              <a:t>They are found only in tissues where fat is stored, and when no longer needed they are converted to peroxisomes.</a:t>
            </a:r>
          </a:p>
        </p:txBody>
      </p:sp>
    </p:spTree>
    <p:extLst>
      <p:ext uri="{BB962C8B-B14F-4D97-AF65-F5344CB8AC3E}">
        <p14:creationId xmlns:p14="http://schemas.microsoft.com/office/powerpoint/2010/main" val="3642515661"/>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90384"/>
            <a:ext cx="8263784" cy="1661993"/>
          </a:xfrm>
        </p:spPr>
        <p:txBody>
          <a:bodyPr lIns="0" tIns="0" rIns="0" bIns="0" anchor="ctr">
            <a:spAutoFit/>
          </a:bodyPr>
          <a:lstStyle/>
          <a:p>
            <a:r>
              <a:rPr lang="en-US" sz="3600" dirty="0">
                <a:latin typeface="+mj-lt"/>
              </a:rPr>
              <a:t>Peroxisome Biogenesis Occurs by Division of Preexisting Peroxisomes or by Vesicle Fusion</a:t>
            </a: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2068843"/>
            <a:ext cx="8263784" cy="2600712"/>
          </a:xfrm>
        </p:spPr>
        <p:txBody>
          <a:bodyPr lIns="0" tIns="0" rIns="0" bIns="0">
            <a:spAutoFit/>
          </a:bodyPr>
          <a:lstStyle/>
          <a:p>
            <a:pPr marL="342900" indent="-342900"/>
            <a:r>
              <a:rPr lang="en-US" sz="2400" dirty="0"/>
              <a:t>Peroxisomes increase in number as cells grow and divide; this proliferation is </a:t>
            </a:r>
            <a:r>
              <a:rPr lang="en-US" sz="2400" i="1" dirty="0"/>
              <a:t>biogenesis</a:t>
            </a:r>
            <a:r>
              <a:rPr lang="en-US" sz="2400" dirty="0"/>
              <a:t>.</a:t>
            </a:r>
          </a:p>
          <a:p>
            <a:pPr marL="342900" indent="-342900"/>
            <a:r>
              <a:rPr lang="en-US" sz="2400" dirty="0"/>
              <a:t>Proteins required for this process are </a:t>
            </a:r>
            <a:r>
              <a:rPr lang="en-US" sz="2400" i="1" dirty="0"/>
              <a:t>peroxins</a:t>
            </a:r>
            <a:r>
              <a:rPr lang="en-US" sz="2400" dirty="0"/>
              <a:t>.</a:t>
            </a:r>
          </a:p>
          <a:p>
            <a:pPr marL="342900" indent="-342900"/>
            <a:r>
              <a:rPr lang="en-US" sz="2400" dirty="0"/>
              <a:t>Peroxisomes are also formed by fusion of vesicles budding from the Golgi apparatus and by division of existing peroxisomes. </a:t>
            </a:r>
          </a:p>
        </p:txBody>
      </p:sp>
    </p:spTree>
    <p:extLst>
      <p:ext uri="{BB962C8B-B14F-4D97-AF65-F5344CB8AC3E}">
        <p14:creationId xmlns:p14="http://schemas.microsoft.com/office/powerpoint/2010/main" val="582167638"/>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84155"/>
            <a:ext cx="8263784" cy="553998"/>
          </a:xfrm>
        </p:spPr>
        <p:txBody>
          <a:bodyPr lIns="0" tIns="0" rIns="0" bIns="0" anchor="ctr">
            <a:spAutoFit/>
          </a:bodyPr>
          <a:lstStyle/>
          <a:p>
            <a:r>
              <a:rPr lang="en-US" sz="3600" dirty="0">
                <a:latin typeface="+mj-lt"/>
              </a:rPr>
              <a:t>Peroxisome Biogenesis </a:t>
            </a:r>
            <a:r>
              <a:rPr lang="en-US" sz="2800" dirty="0">
                <a:latin typeface="+mj-lt"/>
              </a:rPr>
              <a:t>(1 of 2)</a:t>
            </a:r>
            <a:endParaRPr lang="en-US" sz="3600" dirty="0">
              <a:latin typeface="+mj-lt"/>
            </a:endParaRP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067565"/>
            <a:ext cx="8263784" cy="3708708"/>
          </a:xfrm>
        </p:spPr>
        <p:txBody>
          <a:bodyPr lIns="0" tIns="0" rIns="0" bIns="0">
            <a:spAutoFit/>
          </a:bodyPr>
          <a:lstStyle/>
          <a:p>
            <a:pPr marL="457200" indent="-457200">
              <a:buFont typeface="+mj-lt"/>
              <a:buAutoNum type="arabicPeriod"/>
            </a:pPr>
            <a:r>
              <a:rPr lang="en-US" sz="2400" dirty="0"/>
              <a:t>Lipids and membrane proteins can be added to peroxisomes via cytosolic sources. </a:t>
            </a:r>
          </a:p>
          <a:p>
            <a:pPr marL="457200" indent="-457200">
              <a:buFont typeface="+mj-lt"/>
              <a:buAutoNum type="arabicPeriod"/>
            </a:pPr>
            <a:r>
              <a:rPr lang="en-US" sz="2400" dirty="0"/>
              <a:t>Polypeptides for peroxisomal matrix enzymes are synthesized on cytosolic ribosomes and are threaded through the membrane via transmembrane peroxin transport protein. </a:t>
            </a:r>
          </a:p>
          <a:p>
            <a:pPr marL="457200" indent="-457200">
              <a:buFont typeface="+mj-lt"/>
              <a:buAutoNum type="arabicPeriod"/>
            </a:pPr>
            <a:r>
              <a:rPr lang="en-US" sz="2400" dirty="0"/>
              <a:t>Heme enters the peroxisomal lumen via a separate pathway and the catalase polypeptides are folded and assembled. </a:t>
            </a:r>
          </a:p>
        </p:txBody>
      </p:sp>
    </p:spTree>
    <p:extLst>
      <p:ext uri="{BB962C8B-B14F-4D97-AF65-F5344CB8AC3E}">
        <p14:creationId xmlns:p14="http://schemas.microsoft.com/office/powerpoint/2010/main" val="1741056789"/>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84155"/>
            <a:ext cx="8301884" cy="553998"/>
          </a:xfrm>
        </p:spPr>
        <p:txBody>
          <a:bodyPr wrap="square" lIns="0" tIns="0" rIns="0" bIns="0" anchor="ctr">
            <a:spAutoFit/>
          </a:bodyPr>
          <a:lstStyle/>
          <a:p>
            <a:r>
              <a:rPr lang="en-US" sz="3600" dirty="0">
                <a:latin typeface="+mj-lt"/>
              </a:rPr>
              <a:t>Peroxisome Biogenesis </a:t>
            </a:r>
            <a:r>
              <a:rPr lang="en-US" sz="2800" dirty="0">
                <a:latin typeface="+mj-lt"/>
              </a:rPr>
              <a:t>(2 of 2)</a:t>
            </a:r>
            <a:endParaRPr lang="en-US" sz="3600" dirty="0">
              <a:latin typeface="+mj-lt"/>
            </a:endParaRP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067565"/>
            <a:ext cx="8301884" cy="1669688"/>
          </a:xfrm>
        </p:spPr>
        <p:txBody>
          <a:bodyPr wrap="square" lIns="0" tIns="0" rIns="0" bIns="0">
            <a:spAutoFit/>
          </a:bodyPr>
          <a:lstStyle/>
          <a:p>
            <a:pPr marL="457200" indent="-457200">
              <a:buFont typeface="+mj-lt"/>
              <a:buAutoNum type="arabicPeriod" startAt="4"/>
            </a:pPr>
            <a:r>
              <a:rPr lang="en-US" sz="2400" dirty="0"/>
              <a:t>After new lipids and proteins are added, new peroxisomes are formed by the division of existing peroxisomes. </a:t>
            </a:r>
          </a:p>
          <a:p>
            <a:pPr marL="457200" indent="-457200">
              <a:buFont typeface="+mj-lt"/>
              <a:buAutoNum type="arabicPeriod" startAt="4"/>
            </a:pPr>
            <a:r>
              <a:rPr lang="en-US" sz="2400" dirty="0"/>
              <a:t>Recent evidence suggests peroxisomes can obtain new proteins or form de novo from vesicles from the </a:t>
            </a:r>
            <a:r>
              <a:rPr lang="en-US" sz="2400" spc="-300" dirty="0"/>
              <a:t>E </a:t>
            </a:r>
            <a:r>
              <a:rPr lang="en-US" sz="2400" dirty="0"/>
              <a:t>R. </a:t>
            </a:r>
          </a:p>
        </p:txBody>
      </p:sp>
    </p:spTree>
    <p:extLst>
      <p:ext uri="{BB962C8B-B14F-4D97-AF65-F5344CB8AC3E}">
        <p14:creationId xmlns:p14="http://schemas.microsoft.com/office/powerpoint/2010/main" val="3277464811"/>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30566" y="184143"/>
            <a:ext cx="8251961" cy="1107996"/>
          </a:xfrm>
        </p:spPr>
        <p:txBody>
          <a:bodyPr lIns="0" tIns="0" rIns="0" bIns="0" anchor="ctr">
            <a:spAutoFit/>
          </a:bodyPr>
          <a:lstStyle/>
          <a:p>
            <a:r>
              <a:rPr lang="en-US" dirty="0"/>
              <a:t>Biogenesis of Peroxisomes and Protein Import</a:t>
            </a:r>
          </a:p>
        </p:txBody>
      </p:sp>
      <p:sp>
        <p:nvSpPr>
          <p:cNvPr id="6" name="Content Placeholder 5"/>
          <p:cNvSpPr>
            <a:spLocks noGrp="1"/>
          </p:cNvSpPr>
          <p:nvPr>
            <p:ph sz="quarter" idx="15"/>
          </p:nvPr>
        </p:nvSpPr>
        <p:spPr>
          <a:xfrm>
            <a:off x="421689" y="1581344"/>
            <a:ext cx="3519246" cy="1107996"/>
          </a:xfrm>
        </p:spPr>
        <p:txBody>
          <a:bodyPr wrap="square" lIns="0" tIns="0" rIns="0" bIns="0">
            <a:spAutoFit/>
          </a:bodyPr>
          <a:lstStyle/>
          <a:p>
            <a:pPr marL="0" indent="0">
              <a:buNone/>
            </a:pPr>
            <a:r>
              <a:rPr lang="en-US" sz="2400" b="1" dirty="0"/>
              <a:t>Figure 12.28 </a:t>
            </a:r>
            <a:r>
              <a:rPr lang="en-US" sz="2400" dirty="0"/>
              <a:t>Biogenesis of Peroxisomes and Protein Import. </a:t>
            </a:r>
          </a:p>
        </p:txBody>
      </p:sp>
      <p:pic>
        <p:nvPicPr>
          <p:cNvPr id="4" name="Picture Placeholder 3" descr="An illustration of the biogenesis of peroxisomes and protein support from vesicles. The existing peroxisomes contain active catalase.&#10;Long description is available in notes, press F6"/>
          <p:cNvPicPr>
            <a:picLocks noGrp="1" noChangeAspect="1"/>
          </p:cNvPicPr>
          <p:nvPr>
            <p:ph type="pic" sz="quarter" idx="16"/>
          </p:nvPr>
        </p:nvPicPr>
        <p:blipFill rotWithShape="1">
          <a:blip r:embed="rId3">
            <a:extLst>
              <a:ext uri="{28A0092B-C50C-407E-A947-70E740481C1C}">
                <a14:useLocalDpi xmlns:a14="http://schemas.microsoft.com/office/drawing/2010/main" val="0"/>
              </a:ext>
            </a:extLst>
          </a:blip>
          <a:srcRect b="2313"/>
          <a:stretch/>
        </p:blipFill>
        <p:spPr>
          <a:xfrm>
            <a:off x="4063307" y="1545092"/>
            <a:ext cx="4648716" cy="4805195"/>
          </a:xfrm>
        </p:spPr>
      </p:pic>
    </p:spTree>
    <p:extLst>
      <p:ext uri="{BB962C8B-B14F-4D97-AF65-F5344CB8AC3E}">
        <p14:creationId xmlns:p14="http://schemas.microsoft.com/office/powerpoint/2010/main" val="26122605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12705</Words>
  <Application>Microsoft Office PowerPoint</Application>
  <PresentationFormat>On-screen Show (4:3)</PresentationFormat>
  <Paragraphs>1027</Paragraphs>
  <Slides>176</Slides>
  <Notes>176</Notes>
  <HiddenSlides>0</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176</vt:i4>
      </vt:variant>
    </vt:vector>
  </HeadingPairs>
  <TitlesOfParts>
    <vt:vector size="178" baseType="lpstr">
      <vt:lpstr>Office Theme</vt:lpstr>
      <vt:lpstr>Equation</vt:lpstr>
      <vt:lpstr>Becker’s World of the Cell</vt:lpstr>
      <vt:lpstr>Steps of Glycosylation (1 of 2)</vt:lpstr>
      <vt:lpstr>Steps of Glycosylation (2 of 2)</vt:lpstr>
      <vt:lpstr>N-Linked Glycosylation of Proteins in the E R</vt:lpstr>
      <vt:lpstr>Cotranslational Glycosylation</vt:lpstr>
      <vt:lpstr>Two Proteins Assist with Proper Folding</vt:lpstr>
      <vt:lpstr>Proper Folding in the E R</vt:lpstr>
      <vt:lpstr>Further Glycosylation Occurs in the Golgi Apparatus </vt:lpstr>
      <vt:lpstr>Terminal Glycosylation</vt:lpstr>
      <vt:lpstr>12.4 Roles of the E R and Golgi Apparatus in Protein Trafficking</vt:lpstr>
      <vt:lpstr>Protein Tags</vt:lpstr>
      <vt:lpstr>Overview: Nuclear Gene to Synthesized Polypeptide</vt:lpstr>
      <vt:lpstr>Two Pathways for Sorting Tagged Polypeptides (1 of 3)</vt:lpstr>
      <vt:lpstr>Two Pathways for Sorting Tagged Polypeptides (2 of 3)</vt:lpstr>
      <vt:lpstr>Two Pathways for Sorting Tagged Polypeptides (3 of 3)</vt:lpstr>
      <vt:lpstr>Intracellular Sorting of Proteins</vt:lpstr>
      <vt:lpstr>Trafficking Through the Endomembrane System: Anterograde Direction (1 of 2)</vt:lpstr>
      <vt:lpstr>Trafficking Through the Endomembrane System: Anterograde Direction (2 of 2)</vt:lpstr>
      <vt:lpstr>Trafficking Through the Endomembrane System: Retrograde Direction</vt:lpstr>
      <vt:lpstr>Trafficking Through the Endomembrane System</vt:lpstr>
      <vt:lpstr>Cotranslational Import Allows Some Polypeptides to Enter the E R as They Are Being Synthesized </vt:lpstr>
      <vt:lpstr>The Role of the E R in Protein Synthesis (1 of 2)</vt:lpstr>
      <vt:lpstr>The Role of the E R in Protein Synthesis (2 of 2)</vt:lpstr>
      <vt:lpstr>Evidence That Proteins Synthesized on Ribosomes Attached to E R Membranes Pass Directly into the E R Lumen</vt:lpstr>
      <vt:lpstr>Signal Hypothesis</vt:lpstr>
      <vt:lpstr>E R Signaling Sequences</vt:lpstr>
      <vt:lpstr>Evidence That Cotranslational Insertion into the E R Is Required for Normal Processing of Secreted Proteins</vt:lpstr>
      <vt:lpstr>The Signal Recognition Particle (S R P) Attaches the Ribosome-m R N A-Polypeptide Complex to the E R Membrane</vt:lpstr>
      <vt:lpstr>The S R P Mechanism of Cotranslational Import</vt:lpstr>
      <vt:lpstr>The S R P Mechanism of Cotranslational Import: Step 1</vt:lpstr>
      <vt:lpstr>The S R P Mechanism of Cotranslational Import: Translocon</vt:lpstr>
      <vt:lpstr>The S R P Mechanism of Cotranslational Import: Steps 2–4</vt:lpstr>
      <vt:lpstr>The S R P Mechanism of Cotranslational Import: Steps 5 and 6</vt:lpstr>
      <vt:lpstr>The Signal Mechanism of Cotranslational Import</vt:lpstr>
      <vt:lpstr>Proteins Released into the ER Lumen Are Routed to the Golgi Apparatus, Secretory Vesicles, or Back to the ER (1 of 2)</vt:lpstr>
      <vt:lpstr>Proteins Released into the ER Lumen Are Routed to the Golgi Apparatus, Secretory Vesicles, or Back to the ER (2 of 2)</vt:lpstr>
      <vt:lpstr>ER-Specific Proteins Contain Retention and Retrieval Tags</vt:lpstr>
      <vt:lpstr>The RXR Tag</vt:lpstr>
      <vt:lpstr>Retrieval Tags</vt:lpstr>
      <vt:lpstr>Evidence Regarding Retrieval Tags</vt:lpstr>
      <vt:lpstr>Golgi Apparatus Proteins May Be Sorted According to the Lengths of Their Membrane-Spanning Domains</vt:lpstr>
      <vt:lpstr>Golgi-Specific Proteins</vt:lpstr>
      <vt:lpstr>Length of Hydrophobic Domains Is Correlated with Location in the Golgi Complex</vt:lpstr>
      <vt:lpstr>Targeting of Soluble Lysosomal Proteins to Endosomes and Lysosomes Is a Model for Protein Sorting in the T G N</vt:lpstr>
      <vt:lpstr>Targeting of Lysosomal Proteins to Endosomes and Lysosomes by Mannose-6-Phosphate Tag (1 of 3)</vt:lpstr>
      <vt:lpstr>Targeting of Lysosomal Proteins to Endosomes and Lysosomes by Mannose-6-Phosphate Tag (2 of 3)</vt:lpstr>
      <vt:lpstr>Targeting of Lysosomal Proteins to Endosomes and Lysosomes by Mannose-6-Phosphate Tag (3 of 3)</vt:lpstr>
      <vt:lpstr>Multivesicular Endosomes</vt:lpstr>
      <vt:lpstr>Targeting of Soluble Lysosomal Enzymes to Endosomes and Lysosomes by Mannose-6-Phosphate Tag</vt:lpstr>
      <vt:lpstr>Stop-Transfer Sequences Mediate the Insertion of Integral Membrane Proteins</vt:lpstr>
      <vt:lpstr>Cotranslational Insertion of Transmembrane Proteins into the ER Membrane</vt:lpstr>
      <vt:lpstr>Stop-Transfer Sequences (1 of 2)</vt:lpstr>
      <vt:lpstr>Stop-Transfer Sequences (2 of 2)</vt:lpstr>
      <vt:lpstr>Internal Start-Transfer Sequences</vt:lpstr>
      <vt:lpstr>Proteins with Seven Membrane-Spanning Domains</vt:lpstr>
      <vt:lpstr>Multipass Transmembrane Protein</vt:lpstr>
      <vt:lpstr>The Fate of Transmembrane Proteins</vt:lpstr>
      <vt:lpstr>Posttranslational Import Is an Alternative Mechanism for Import into the E R Lumen</vt:lpstr>
      <vt:lpstr>Process of Posttranslational Import</vt:lpstr>
      <vt:lpstr>Posttranslational Import of Polypeptides into the E R Lumen</vt:lpstr>
      <vt:lpstr>12.5 Exocytosis and Endocytosis: Transporting Material Across the Plasma Membrane</vt:lpstr>
      <vt:lpstr>Secretory Pathways Transport Molecules to the Exterior of the Cell</vt:lpstr>
      <vt:lpstr>Results of the Experiment (1 of 2)</vt:lpstr>
      <vt:lpstr>Autoradiographic Evidence of the Secretory Pathway: 3 and 7 Minutes After Radiolabeling</vt:lpstr>
      <vt:lpstr>Results of the Experiment (2 of 2)</vt:lpstr>
      <vt:lpstr>Autoradiographic Evidence of the Secretory Pathway: 7 and 37 Minutes After Radiolabeling</vt:lpstr>
      <vt:lpstr>Autoradiographic Evidence of the Secretory Pathway: 37 and 117 Minutes After Radiolabeling</vt:lpstr>
      <vt:lpstr>Constitutive Secretion (1 of 2)</vt:lpstr>
      <vt:lpstr>Constitutive Secretion (2 of 2)</vt:lpstr>
      <vt:lpstr>Regulated Secretion (1 of 2)</vt:lpstr>
      <vt:lpstr>Regulated Secretion (2 of 2)</vt:lpstr>
      <vt:lpstr>Excluding Nonsecretory Proteins from Vesicles</vt:lpstr>
      <vt:lpstr>Zymogen Granules</vt:lpstr>
      <vt:lpstr>Polarized Secretion</vt:lpstr>
      <vt:lpstr>Exocytosis Releases Intracellular Molecules Outside the Cell</vt:lpstr>
      <vt:lpstr>The Process of Exocytosis</vt:lpstr>
      <vt:lpstr>Exocytosis (1 of 2)</vt:lpstr>
      <vt:lpstr>Exocytosis (2 of 2)</vt:lpstr>
      <vt:lpstr>Orientation of Membrane</vt:lpstr>
      <vt:lpstr>Mechanism of Exocytosis</vt:lpstr>
      <vt:lpstr>The Role of Calcium in Triggering Exocytosis</vt:lpstr>
      <vt:lpstr>Endocytosis Imports Extracellular Molecules by Forming Vesicles from the Plasma Membrane</vt:lpstr>
      <vt:lpstr>Endocytosis</vt:lpstr>
      <vt:lpstr>Membrane Flow</vt:lpstr>
      <vt:lpstr>Endocytic Vesicles</vt:lpstr>
      <vt:lpstr>Selected Functions of Endocytosis</vt:lpstr>
      <vt:lpstr>Viruses Have Manipulated Endocytosis to Increase Infectivity</vt:lpstr>
      <vt:lpstr>Phagocytosis</vt:lpstr>
      <vt:lpstr>Phagocytes in Immune Function</vt:lpstr>
      <vt:lpstr>Phagocytes in the Amoeba (1 of 2)</vt:lpstr>
      <vt:lpstr>Phagocytes in the Amoeba (2 of 2)</vt:lpstr>
      <vt:lpstr>Phagocytosis (1 of 2)</vt:lpstr>
      <vt:lpstr>Phagocytosis (2 of 2)</vt:lpstr>
      <vt:lpstr>Receptor-Mediated Endocytosis (1 of 2) </vt:lpstr>
      <vt:lpstr>Process of Receptor-Mediated Endocytosis (1 of 4)</vt:lpstr>
      <vt:lpstr>Process of Receptor-Mediated Endocytosis (2 of 4)</vt:lpstr>
      <vt:lpstr>Process of Receptor-Mediated Endocytosis (3 of 4)</vt:lpstr>
      <vt:lpstr>Process of Receptor-Mediated Endocytosis (4 of 4)</vt:lpstr>
      <vt:lpstr>Receptor-Mediated Endocytosis (2 of 2)</vt:lpstr>
      <vt:lpstr>Receptor-Mediated Endocytosis of Yolk Protein by a Chicken Oocyte</vt:lpstr>
      <vt:lpstr>Variations of Receptor-Mediated Endocytosis (1 of 2)</vt:lpstr>
      <vt:lpstr>Variations of Receptor-Mediated Endocytosis (2 of 2)</vt:lpstr>
      <vt:lpstr>After Internalization</vt:lpstr>
      <vt:lpstr>Recycling Plasma Membrane Receptors</vt:lpstr>
      <vt:lpstr>Alternative Fates for Receptor-Ligand Complexes</vt:lpstr>
      <vt:lpstr>Clathrin-Independent Endocytosis</vt:lpstr>
      <vt:lpstr>12.6 Coated Vesicles in Cellular Transport Processes</vt:lpstr>
      <vt:lpstr>Coat Proteins</vt:lpstr>
      <vt:lpstr>Coated Vesicles Found Within Eukaryotic Cells</vt:lpstr>
      <vt:lpstr>Caveolae</vt:lpstr>
      <vt:lpstr>Clathrin-Coated Vesicles Are Surrounded by Lattices Composed of Clathrin and Adaptor Protein</vt:lpstr>
      <vt:lpstr>Clathrin Triskelions (1 of 3)</vt:lpstr>
      <vt:lpstr>Clathrin Triskelions (2 of 3)</vt:lpstr>
      <vt:lpstr>Clathrin Triskelions (3 of 3)</vt:lpstr>
      <vt:lpstr>Structure of a Triskelion</vt:lpstr>
      <vt:lpstr>Adaptor Protein Complexes</vt:lpstr>
      <vt:lpstr>The Assembly of Clathrin Coats Drives the Formation of Vesicles from the Plasma Membrane and T G N</vt:lpstr>
      <vt:lpstr>Clathrin Coat Assembly</vt:lpstr>
      <vt:lpstr>Clathrin Lattices (1 of 4)</vt:lpstr>
      <vt:lpstr>Clathrin Lattices (2 of 4)</vt:lpstr>
      <vt:lpstr>Clathrin Lattices (3 of 4)</vt:lpstr>
      <vt:lpstr>Clathrin Lattices (4 of 4)</vt:lpstr>
      <vt:lpstr>Dynamin</vt:lpstr>
      <vt:lpstr>Uncoating the Vesicle</vt:lpstr>
      <vt:lpstr>Clathrin Cages</vt:lpstr>
      <vt:lpstr>C O P I- and C O P I I-Coated Vesicles Travel Between the E R and Golgi Complex Cisternae</vt:lpstr>
      <vt:lpstr>Role of A R F (1 of 2)</vt:lpstr>
      <vt:lpstr>Role of A R F (2 of 2)</vt:lpstr>
      <vt:lpstr>C O PⅡ-Coated Vesicles</vt:lpstr>
      <vt:lpstr>S N A R E Proteins Mediate Fusion Between Vesicles and Target Membranes</vt:lpstr>
      <vt:lpstr>S N A R E Proteins</vt:lpstr>
      <vt:lpstr>The S N A R E Hypothesis for Transport Vesicle Targeting and Fusion</vt:lpstr>
      <vt:lpstr>Rab GTPases</vt:lpstr>
      <vt:lpstr>Release of S N A R E s</vt:lpstr>
      <vt:lpstr>S N A R Es May Not Be the Whole Story</vt:lpstr>
      <vt:lpstr>Tethering Proteins</vt:lpstr>
      <vt:lpstr>12.7 Lysosomes and Cellular Digestion</vt:lpstr>
      <vt:lpstr>Lysosomes Isolate Digestive Enzymes from the Rest of the Cell</vt:lpstr>
      <vt:lpstr>Lysosomes Are Highly Acidic Inside</vt:lpstr>
      <vt:lpstr>Lysosomes Develop from Endosomes</vt:lpstr>
      <vt:lpstr>Endosome Development</vt:lpstr>
      <vt:lpstr>Final Step of Lysosome Development</vt:lpstr>
      <vt:lpstr>The Formation of Lysosomes and Their Roles in Cellular Digestive Properties</vt:lpstr>
      <vt:lpstr>Lysosomal Enzymes Are Important for Several Different Digestive Properties</vt:lpstr>
      <vt:lpstr>Phagocytosis and Receptor-Mediated Endocytosis: Lysosomes in Defense and Nutrition</vt:lpstr>
      <vt:lpstr>After Digestion Is Complete</vt:lpstr>
      <vt:lpstr>Autophagy: A Biological Recycling System</vt:lpstr>
      <vt:lpstr>Autophagic Digestion</vt:lpstr>
      <vt:lpstr>Autophagy and Cancer</vt:lpstr>
      <vt:lpstr>Extracellular Digestion</vt:lpstr>
      <vt:lpstr>Lysosomal Storage Diseases Are Usually Characterized by the Accumulation of Indigestible Material</vt:lpstr>
      <vt:lpstr>Examples of Lysosomal Storage Diseases</vt:lpstr>
      <vt:lpstr>Treatment of Lysosomal Storage Diseases</vt:lpstr>
      <vt:lpstr>The Plant Vacuole: A Multifunctional Digestive Organelle</vt:lpstr>
      <vt:lpstr>Additional Functions of Vacuoles (1 of 2)</vt:lpstr>
      <vt:lpstr>Additional Functions of Vacuoles (2 of 2)</vt:lpstr>
      <vt:lpstr>12.8 Peroxisomes</vt:lpstr>
      <vt:lpstr>Peroxisome Structure</vt:lpstr>
      <vt:lpstr>Peroxisomes in Animal Cells</vt:lpstr>
      <vt:lpstr>Chemical Identification of Peroxisomes in Plant Cells</vt:lpstr>
      <vt:lpstr>Most Peroxisomal Functions Are Linked to Hydrogen Peroxide Metabolism</vt:lpstr>
      <vt:lpstr>Hydrogen Peroxide Metabolism</vt:lpstr>
      <vt:lpstr>Hydrogen Peroxide Can Be Detoxified Another Way</vt:lpstr>
      <vt:lpstr>Detoxification of Harmful Compounds</vt:lpstr>
      <vt:lpstr>Oxidation of Fatty Acids</vt:lpstr>
      <vt:lpstr>Metabolism of Nitrogen-Containing Compounds</vt:lpstr>
      <vt:lpstr>Aminotransferases</vt:lpstr>
      <vt:lpstr>Catabolism of Unusual Substances</vt:lpstr>
      <vt:lpstr>Peroxisomal Disorders</vt:lpstr>
      <vt:lpstr>Plant Cells Contain Types of Peroxisomes Not Found in Animal Cells</vt:lpstr>
      <vt:lpstr>Leaf Peroxisomes</vt:lpstr>
      <vt:lpstr>Glyoxysomes</vt:lpstr>
      <vt:lpstr>Peroxisome Biogenesis Occurs by Division of Preexisting Peroxisomes or by Vesicle Fusion</vt:lpstr>
      <vt:lpstr>Peroxisome Biogenesis (1 of 2)</vt:lpstr>
      <vt:lpstr>Peroxisome Biogenesis (2 of 2)</vt:lpstr>
      <vt:lpstr>Biogenesis of Peroxisomes and Protein Import</vt:lpstr>
    </vt:vector>
  </TitlesOfParts>
  <Company>فراس الصعيو</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Becker’s World of the Cell</dc:title>
  <dc:creator>Designer</dc:creator>
  <cp:lastModifiedBy>Designer</cp:lastModifiedBy>
  <cp:revision>1</cp:revision>
  <dcterms:created xsi:type="dcterms:W3CDTF">2023-11-20T22:52:20Z</dcterms:created>
  <dcterms:modified xsi:type="dcterms:W3CDTF">2023-11-20T22:53:30Z</dcterms:modified>
</cp:coreProperties>
</file>