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440"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8BD03A4-451C-4E1D-96E3-1C94D3C2024C}" type="datetimeFigureOut">
              <a:rPr lang="en-US" smtClean="0"/>
              <a:t>11/14/2023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AE697B-F235-4008-9F37-13217C9CE5B8}" type="slidenum">
              <a:rPr lang="en-US" smtClean="0"/>
              <a:t>‹#›</a:t>
            </a:fld>
            <a:endParaRPr lang="en-US"/>
          </a:p>
        </p:txBody>
      </p:sp>
    </p:spTree>
    <p:extLst>
      <p:ext uri="{BB962C8B-B14F-4D97-AF65-F5344CB8AC3E}">
        <p14:creationId xmlns:p14="http://schemas.microsoft.com/office/powerpoint/2010/main" val="39141863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66472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a:t>
            </a:fld>
            <a:endParaRPr lang="en-US" sz="1200" b="0" i="0" u="none" strike="noStrike" cap="none" dirty="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92388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 </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different components that are labeled are </a:t>
            </a:r>
          </a:p>
          <a:p>
            <a:r>
              <a:rPr lang="en-US" sz="1200" b="0" i="0" u="none" strike="noStrike" kern="1200" cap="none" dirty="0">
                <a:solidFill>
                  <a:schemeClr val="dk1"/>
                </a:solidFill>
                <a:effectLst/>
                <a:latin typeface="Arial"/>
                <a:ea typeface="Arial"/>
                <a:cs typeface="Arial"/>
                <a:sym typeface="Arial"/>
              </a:rPr>
              <a:t>a. The plasma membrane forms the outer covering of the cell and is exposed to the exterior of the cell. </a:t>
            </a:r>
          </a:p>
          <a:p>
            <a:r>
              <a:rPr lang="en-US" sz="1200" b="0" i="0" u="none" strike="noStrike" kern="1200" cap="none" dirty="0">
                <a:solidFill>
                  <a:schemeClr val="dk1"/>
                </a:solidFill>
                <a:effectLst/>
                <a:latin typeface="Arial"/>
                <a:ea typeface="Arial"/>
                <a:cs typeface="Arial"/>
                <a:sym typeface="Arial"/>
              </a:rPr>
              <a:t>b. </a:t>
            </a:r>
            <a:r>
              <a:rPr lang="en-US" sz="1200" b="0" i="0" u="none" strike="noStrike" kern="1200" cap="none" dirty="0" err="1">
                <a:solidFill>
                  <a:schemeClr val="dk1"/>
                </a:solidFill>
                <a:effectLst/>
                <a:latin typeface="Arial"/>
                <a:ea typeface="Arial"/>
                <a:cs typeface="Arial"/>
                <a:sym typeface="Arial"/>
              </a:rPr>
              <a:t>Endocytic</a:t>
            </a:r>
            <a:r>
              <a:rPr lang="en-US" sz="1200" b="0" i="0" u="none" strike="noStrike" kern="1200" cap="none" dirty="0">
                <a:solidFill>
                  <a:schemeClr val="dk1"/>
                </a:solidFill>
                <a:effectLst/>
                <a:latin typeface="Arial"/>
                <a:ea typeface="Arial"/>
                <a:cs typeface="Arial"/>
                <a:sym typeface="Arial"/>
              </a:rPr>
              <a:t> vesicle to an early endosome to a late endosome to a lysosome.</a:t>
            </a:r>
          </a:p>
          <a:p>
            <a:r>
              <a:rPr lang="en-US" sz="1200" b="0" i="0" u="none" strike="noStrike" kern="1200" cap="none" dirty="0">
                <a:solidFill>
                  <a:schemeClr val="dk1"/>
                </a:solidFill>
                <a:effectLst/>
                <a:latin typeface="Arial"/>
                <a:ea typeface="Arial"/>
                <a:cs typeface="Arial"/>
                <a:sym typeface="Arial"/>
              </a:rPr>
              <a:t>c. Nucleus enclosed by a nuclear envelope</a:t>
            </a:r>
          </a:p>
          <a:p>
            <a:r>
              <a:rPr lang="en-US" sz="1200" b="0" i="0" u="none" strike="noStrike" kern="1200" cap="none" dirty="0">
                <a:solidFill>
                  <a:schemeClr val="dk1"/>
                </a:solidFill>
                <a:effectLst/>
                <a:latin typeface="Arial"/>
                <a:ea typeface="Arial"/>
                <a:cs typeface="Arial"/>
                <a:sym typeface="Arial"/>
              </a:rPr>
              <a:t>d. Transport vesicles</a:t>
            </a:r>
          </a:p>
          <a:p>
            <a:r>
              <a:rPr lang="en-US" sz="1200" b="0" i="0" u="none" strike="noStrike" kern="1200" cap="none" dirty="0">
                <a:solidFill>
                  <a:schemeClr val="dk1"/>
                </a:solidFill>
                <a:effectLst/>
                <a:latin typeface="Arial"/>
                <a:ea typeface="Arial"/>
                <a:cs typeface="Arial"/>
                <a:sym typeface="Arial"/>
              </a:rPr>
              <a:t>e. Golgi apparatus to secretory vesicles </a:t>
            </a:r>
          </a:p>
          <a:p>
            <a:r>
              <a:rPr lang="en-US" sz="1200" b="0" i="0" u="none" strike="noStrike" kern="1200" cap="none" dirty="0">
                <a:solidFill>
                  <a:schemeClr val="dk1"/>
                </a:solidFill>
                <a:effectLst/>
                <a:latin typeface="Arial"/>
                <a:ea typeface="Arial"/>
                <a:cs typeface="Arial"/>
                <a:sym typeface="Arial"/>
              </a:rPr>
              <a:t>f. ER lumen in rough endoplasmic reticulum linked to transition vesicles.</a:t>
            </a:r>
          </a:p>
          <a:p>
            <a:r>
              <a:rPr lang="en-US" sz="1200" b="0" i="0" u="none" strike="noStrike" kern="1200" cap="none" dirty="0">
                <a:solidFill>
                  <a:schemeClr val="dk1"/>
                </a:solidFill>
                <a:effectLst/>
                <a:latin typeface="Arial"/>
                <a:ea typeface="Arial"/>
                <a:cs typeface="Arial"/>
                <a:sym typeface="Arial"/>
              </a:rPr>
              <a:t>g. Ribosomes looking like spots of the endoplasmic reticulum</a:t>
            </a:r>
          </a:p>
          <a:p>
            <a:r>
              <a:rPr lang="en-US" sz="1200" b="0" i="0" u="none" strike="noStrike" kern="1200" cap="none" dirty="0">
                <a:solidFill>
                  <a:schemeClr val="dk1"/>
                </a:solidFill>
                <a:effectLst/>
                <a:latin typeface="Arial"/>
                <a:ea typeface="Arial"/>
                <a:cs typeface="Arial"/>
                <a:sym typeface="Arial"/>
              </a:rPr>
              <a:t>h. Smooth endoplasmic reticulum</a:t>
            </a:r>
          </a:p>
          <a:p>
            <a:r>
              <a:rPr lang="en-US" sz="1200" b="0" i="0" u="none" strike="noStrike" kern="1200" cap="none" dirty="0" err="1">
                <a:solidFill>
                  <a:schemeClr val="dk1"/>
                </a:solidFill>
                <a:effectLst/>
                <a:latin typeface="Arial"/>
                <a:ea typeface="Arial"/>
                <a:cs typeface="Arial"/>
                <a:sym typeface="Arial"/>
              </a:rPr>
              <a:t>i</a:t>
            </a:r>
            <a:r>
              <a:rPr lang="en-US" sz="1200" b="0" i="0" u="none" strike="noStrike" kern="1200" cap="none" dirty="0">
                <a:solidFill>
                  <a:schemeClr val="dk1"/>
                </a:solidFill>
                <a:effectLst/>
                <a:latin typeface="Arial"/>
                <a:ea typeface="Arial"/>
                <a:cs typeface="Arial"/>
                <a:sym typeface="Arial"/>
              </a:rPr>
              <a:t>. Peroxisomes</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086942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797661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361424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857581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49951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234023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596903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074657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307037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742453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843681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US"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15893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398821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383163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756001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330241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261973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 </a:t>
            </a:r>
          </a:p>
          <a:p>
            <a:r>
              <a:rPr lang="en-US" sz="1200" b="0" i="0" u="none" strike="noStrike" kern="1200" cap="none" dirty="0">
                <a:solidFill>
                  <a:schemeClr val="dk1"/>
                </a:solidFill>
                <a:effectLst/>
                <a:latin typeface="Arial"/>
                <a:ea typeface="Arial"/>
                <a:cs typeface="Arial"/>
                <a:sym typeface="Arial"/>
              </a:rPr>
              <a:t>The process of glycogen breakdown in liver cell is as below:</a:t>
            </a:r>
          </a:p>
          <a:p>
            <a:r>
              <a:rPr lang="en-US" sz="1200" b="0" i="0" u="none" strike="noStrike" kern="1200" cap="none" dirty="0">
                <a:solidFill>
                  <a:schemeClr val="dk1"/>
                </a:solidFill>
                <a:effectLst/>
                <a:latin typeface="Arial"/>
                <a:ea typeface="Arial"/>
                <a:cs typeface="Arial"/>
                <a:sym typeface="Arial"/>
              </a:rPr>
              <a:t>1. Glycogen granules in the presence of glycogen phosphorylase give Glucose hyphen one hyphen P with hexagon and a phosphate bond structure. </a:t>
            </a:r>
          </a:p>
          <a:p>
            <a:r>
              <a:rPr lang="en-US" sz="1200" b="0" i="0" u="none" strike="noStrike" kern="1200" cap="none" dirty="0">
                <a:solidFill>
                  <a:schemeClr val="dk1"/>
                </a:solidFill>
                <a:effectLst/>
                <a:latin typeface="Arial"/>
                <a:ea typeface="Arial"/>
                <a:cs typeface="Arial"/>
                <a:sym typeface="Arial"/>
              </a:rPr>
              <a:t>2. Glucose hyphen one hyphen P in the presence of Phosphoglucomutase gives Glucose hyphen six hyphen P with hexagon and a phosphate bond structure.</a:t>
            </a:r>
          </a:p>
          <a:p>
            <a:r>
              <a:rPr lang="en-US" sz="1200" b="0" i="0" u="none" strike="noStrike" kern="1200" cap="none" dirty="0">
                <a:solidFill>
                  <a:schemeClr val="dk1"/>
                </a:solidFill>
                <a:effectLst/>
                <a:latin typeface="Arial"/>
                <a:ea typeface="Arial"/>
                <a:cs typeface="Arial"/>
                <a:sym typeface="Arial"/>
              </a:rPr>
              <a:t>3. Glucose hyphen six hyphen P in the presence of Glucose hyphen six hyphen phosphatase that is associated with smooth endoplasmic reticulum gives Glucose with a hexagon structure and inorganic phosphate.</a:t>
            </a:r>
          </a:p>
          <a:p>
            <a:r>
              <a:rPr lang="en-US" sz="1200" b="0" i="0" u="none" strike="noStrike" kern="1200" cap="none" dirty="0">
                <a:solidFill>
                  <a:schemeClr val="dk1"/>
                </a:solidFill>
                <a:effectLst/>
                <a:latin typeface="Arial"/>
                <a:ea typeface="Arial"/>
                <a:cs typeface="Arial"/>
                <a:sym typeface="Arial"/>
              </a:rPr>
              <a:t>4. Glucose is transmitted out of the liver by the glucose transporter present in the plasma membrane and glucose is seen in the blood.</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117628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 </a:t>
            </a:r>
          </a:p>
          <a:p>
            <a:r>
              <a:rPr lang="en-US" sz="1200" b="0" i="0" u="none" strike="noStrike" kern="1200" cap="none" dirty="0">
                <a:solidFill>
                  <a:schemeClr val="dk1"/>
                </a:solidFill>
                <a:effectLst/>
                <a:latin typeface="Arial"/>
                <a:ea typeface="Arial"/>
                <a:cs typeface="Arial"/>
                <a:sym typeface="Arial"/>
              </a:rPr>
              <a:t>The process of glycogen breakdown in liver cell is as below:</a:t>
            </a:r>
          </a:p>
          <a:p>
            <a:r>
              <a:rPr lang="en-US" sz="1200" b="0" i="0" u="none" strike="noStrike" kern="1200" cap="none" dirty="0">
                <a:solidFill>
                  <a:schemeClr val="dk1"/>
                </a:solidFill>
                <a:effectLst/>
                <a:latin typeface="Arial"/>
                <a:ea typeface="Arial"/>
                <a:cs typeface="Arial"/>
                <a:sym typeface="Arial"/>
              </a:rPr>
              <a:t>1. Glycogen granules in the presence of glycogen phosphorylase give Glucose hyphen one hyphen P with hexagon and a phosphate bond structure. </a:t>
            </a:r>
          </a:p>
          <a:p>
            <a:r>
              <a:rPr lang="en-US" sz="1200" b="0" i="0" u="none" strike="noStrike" kern="1200" cap="none" dirty="0">
                <a:solidFill>
                  <a:schemeClr val="dk1"/>
                </a:solidFill>
                <a:effectLst/>
                <a:latin typeface="Arial"/>
                <a:ea typeface="Arial"/>
                <a:cs typeface="Arial"/>
                <a:sym typeface="Arial"/>
              </a:rPr>
              <a:t>2. Glucose hyphen one hyphen P in the presence of Phosphoglucomutase gives Glucose hyphen six hyphen P with hexagon and a phosphate bond structure.</a:t>
            </a:r>
          </a:p>
          <a:p>
            <a:r>
              <a:rPr lang="en-US" sz="1200" b="0" i="0" u="none" strike="noStrike" kern="1200" cap="none" dirty="0">
                <a:solidFill>
                  <a:schemeClr val="dk1"/>
                </a:solidFill>
                <a:effectLst/>
                <a:latin typeface="Arial"/>
                <a:ea typeface="Arial"/>
                <a:cs typeface="Arial"/>
                <a:sym typeface="Arial"/>
              </a:rPr>
              <a:t>3. Glucose hyphen six hyphen P in the presence of Glucose hyphen six hyphen phosphatase that is associated with smooth endoplasmic reticulum gives Glucose with a hexagon structure and inorganic phosphate.</a:t>
            </a:r>
          </a:p>
          <a:p>
            <a:r>
              <a:rPr lang="en-US" sz="1200" b="0" i="0" u="none" strike="noStrike" kern="1200" cap="none" dirty="0">
                <a:solidFill>
                  <a:schemeClr val="dk1"/>
                </a:solidFill>
                <a:effectLst/>
                <a:latin typeface="Arial"/>
                <a:ea typeface="Arial"/>
                <a:cs typeface="Arial"/>
                <a:sym typeface="Arial"/>
              </a:rPr>
              <a:t>4. Glucose is transmitted out of the liver by the glucose transporter present in the plasma membrane and glucose is seen in the blood.</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29018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647927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201978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710440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848322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413316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474881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US" sz="1200" b="0" i="0" u="none" strike="noStrike" cap="none" dirty="0">
                <a:solidFill>
                  <a:schemeClr val="dk1"/>
                </a:solidFill>
                <a:latin typeface="Arial"/>
                <a:ea typeface="Arial"/>
                <a:cs typeface="Arial"/>
                <a:sym typeface="Arial"/>
              </a:rPr>
              <a:t>Long Description:</a:t>
            </a:r>
          </a:p>
          <a:p>
            <a:r>
              <a:rPr lang="en-US" sz="1200" b="1" i="0" u="none" strike="noStrike" kern="1200" cap="none" dirty="0">
                <a:solidFill>
                  <a:schemeClr val="dk1"/>
                </a:solidFill>
                <a:effectLst/>
                <a:latin typeface="Arial"/>
                <a:ea typeface="Arial"/>
                <a:cs typeface="Arial"/>
                <a:sym typeface="Arial"/>
              </a:rPr>
              <a:t>Membrane Components</a:t>
            </a:r>
            <a:endParaRPr lang="en-US" sz="1200" b="0" i="0" u="none" strike="noStrike" kern="1200" cap="none" dirty="0">
              <a:solidFill>
                <a:schemeClr val="dk1"/>
              </a:solidFill>
              <a:effectLst/>
              <a:latin typeface="Arial"/>
              <a:ea typeface="Arial"/>
              <a:cs typeface="Arial"/>
              <a:sym typeface="Arial"/>
            </a:endParaRPr>
          </a:p>
          <a:p>
            <a:r>
              <a:rPr lang="en-US" sz="1200" b="1" i="0" u="none" strike="noStrike" kern="1200" cap="none" dirty="0">
                <a:solidFill>
                  <a:schemeClr val="dk1"/>
                </a:solidFill>
                <a:effectLst/>
                <a:latin typeface="Arial"/>
                <a:ea typeface="Arial"/>
                <a:cs typeface="Arial"/>
                <a:sym typeface="Arial"/>
              </a:rPr>
              <a:t>ER Membrane</a:t>
            </a:r>
            <a:endParaRPr lang="en-US" sz="1200" b="0" i="0" u="none" strike="noStrike" kern="1200" cap="none" dirty="0">
              <a:solidFill>
                <a:schemeClr val="dk1"/>
              </a:solidFill>
              <a:effectLst/>
              <a:latin typeface="Arial"/>
              <a:ea typeface="Arial"/>
              <a:cs typeface="Arial"/>
              <a:sym typeface="Arial"/>
            </a:endParaRPr>
          </a:p>
          <a:p>
            <a:r>
              <a:rPr lang="en-US" sz="1200" b="1" i="0" u="none" strike="noStrike" kern="1200" cap="none" dirty="0">
                <a:solidFill>
                  <a:schemeClr val="dk1"/>
                </a:solidFill>
                <a:effectLst/>
                <a:latin typeface="Arial"/>
                <a:ea typeface="Arial"/>
                <a:cs typeface="Arial"/>
                <a:sym typeface="Arial"/>
              </a:rPr>
              <a:t>Plasma Membrane</a:t>
            </a:r>
            <a:endParaRPr lang="en-US" sz="1200" b="0" i="0" u="none" strike="noStrike" kern="1200" cap="none" dirty="0">
              <a:solidFill>
                <a:schemeClr val="dk1"/>
              </a:solidFill>
              <a:effectLst/>
              <a:latin typeface="Arial"/>
              <a:ea typeface="Arial"/>
              <a:cs typeface="Arial"/>
              <a:sym typeface="Arial"/>
            </a:endParaRPr>
          </a:p>
          <a:p>
            <a:r>
              <a:rPr lang="en-US" sz="1200" b="1" i="0" u="none" strike="noStrike" kern="1200" cap="none" dirty="0">
                <a:solidFill>
                  <a:schemeClr val="dk1"/>
                </a:solidFill>
                <a:effectLst/>
                <a:latin typeface="Arial"/>
                <a:ea typeface="Arial"/>
                <a:cs typeface="Arial"/>
                <a:sym typeface="Arial"/>
              </a:rPr>
              <a:t>Membrane components as % of membrane by weight</a:t>
            </a:r>
            <a:endParaRPr lang="en-US"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Carbohydrate </a:t>
            </a:r>
          </a:p>
          <a:p>
            <a:r>
              <a:rPr lang="en-US" sz="1200" b="0" i="0" u="none" strike="noStrike" kern="1200" cap="none" dirty="0">
                <a:solidFill>
                  <a:schemeClr val="dk1"/>
                </a:solidFill>
                <a:effectLst/>
                <a:latin typeface="Arial"/>
                <a:ea typeface="Arial"/>
                <a:cs typeface="Arial"/>
                <a:sym typeface="Arial"/>
              </a:rPr>
              <a:t>10</a:t>
            </a:r>
          </a:p>
          <a:p>
            <a:r>
              <a:rPr lang="en-US" sz="1200" b="0" i="0" u="none" strike="noStrike" kern="1200" cap="none" dirty="0">
                <a:solidFill>
                  <a:schemeClr val="dk1"/>
                </a:solidFill>
                <a:effectLst/>
                <a:latin typeface="Arial"/>
                <a:ea typeface="Arial"/>
                <a:cs typeface="Arial"/>
                <a:sym typeface="Arial"/>
              </a:rPr>
              <a:t>10</a:t>
            </a:r>
          </a:p>
          <a:p>
            <a:r>
              <a:rPr lang="en-US" sz="1200" b="0" i="0" u="none" strike="noStrike" kern="1200" cap="none" dirty="0">
                <a:solidFill>
                  <a:schemeClr val="dk1"/>
                </a:solidFill>
                <a:effectLst/>
                <a:latin typeface="Arial"/>
                <a:ea typeface="Arial"/>
                <a:cs typeface="Arial"/>
                <a:sym typeface="Arial"/>
              </a:rPr>
              <a:t>Protein </a:t>
            </a:r>
          </a:p>
          <a:p>
            <a:r>
              <a:rPr lang="en-US" sz="1200" b="0" i="0" u="none" strike="noStrike" kern="1200" cap="none" dirty="0">
                <a:solidFill>
                  <a:schemeClr val="dk1"/>
                </a:solidFill>
                <a:effectLst/>
                <a:latin typeface="Arial"/>
                <a:ea typeface="Arial"/>
                <a:cs typeface="Arial"/>
                <a:sym typeface="Arial"/>
              </a:rPr>
              <a:t>62</a:t>
            </a:r>
          </a:p>
          <a:p>
            <a:r>
              <a:rPr lang="en-US" sz="1200" b="0" i="0" u="none" strike="noStrike" kern="1200" cap="none" dirty="0">
                <a:solidFill>
                  <a:schemeClr val="dk1"/>
                </a:solidFill>
                <a:effectLst/>
                <a:latin typeface="Arial"/>
                <a:ea typeface="Arial"/>
                <a:cs typeface="Arial"/>
                <a:sym typeface="Arial"/>
              </a:rPr>
              <a:t>54</a:t>
            </a:r>
          </a:p>
          <a:p>
            <a:r>
              <a:rPr lang="en-US" sz="1200" b="0" i="0" u="none" strike="noStrike" kern="1200" cap="none" dirty="0">
                <a:solidFill>
                  <a:schemeClr val="dk1"/>
                </a:solidFill>
                <a:effectLst/>
                <a:latin typeface="Arial"/>
                <a:ea typeface="Arial"/>
                <a:cs typeface="Arial"/>
                <a:sym typeface="Arial"/>
              </a:rPr>
              <a:t>Total lipid </a:t>
            </a:r>
          </a:p>
          <a:p>
            <a:r>
              <a:rPr lang="en-US" sz="1200" b="0" i="0" u="none" strike="noStrike" kern="1200" cap="none" dirty="0">
                <a:solidFill>
                  <a:schemeClr val="dk1"/>
                </a:solidFill>
                <a:effectLst/>
                <a:latin typeface="Arial"/>
                <a:ea typeface="Arial"/>
                <a:cs typeface="Arial"/>
                <a:sym typeface="Arial"/>
              </a:rPr>
              <a:t>27</a:t>
            </a:r>
          </a:p>
          <a:p>
            <a:r>
              <a:rPr lang="en-US" sz="1200" b="0" i="0" u="none" strike="noStrike" kern="1200" cap="none" dirty="0">
                <a:solidFill>
                  <a:schemeClr val="dk1"/>
                </a:solidFill>
                <a:effectLst/>
                <a:latin typeface="Arial"/>
                <a:ea typeface="Arial"/>
                <a:cs typeface="Arial"/>
                <a:sym typeface="Arial"/>
              </a:rPr>
              <a:t>36</a:t>
            </a:r>
          </a:p>
          <a:p>
            <a:r>
              <a:rPr lang="en-US" sz="1200" b="1" i="0" u="none" strike="noStrike" kern="1200" cap="none" dirty="0">
                <a:solidFill>
                  <a:schemeClr val="dk1"/>
                </a:solidFill>
                <a:effectLst/>
                <a:latin typeface="Arial"/>
                <a:ea typeface="Arial"/>
                <a:cs typeface="Arial"/>
                <a:sym typeface="Arial"/>
              </a:rPr>
              <a:t>Membrane lipids as % of total lipids by weight</a:t>
            </a:r>
            <a:endParaRPr lang="en-US"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Phosphatidylcholine</a:t>
            </a:r>
          </a:p>
          <a:p>
            <a:r>
              <a:rPr lang="en-US" sz="1200" b="0" i="0" u="none" strike="noStrike" kern="1200" cap="none" dirty="0">
                <a:solidFill>
                  <a:schemeClr val="dk1"/>
                </a:solidFill>
                <a:effectLst/>
                <a:latin typeface="Arial"/>
                <a:ea typeface="Arial"/>
                <a:cs typeface="Arial"/>
                <a:sym typeface="Arial"/>
              </a:rPr>
              <a:t>40</a:t>
            </a:r>
          </a:p>
          <a:p>
            <a:r>
              <a:rPr lang="en-US" sz="1200" b="0" i="0" u="none" strike="noStrike" kern="1200" cap="none" dirty="0">
                <a:solidFill>
                  <a:schemeClr val="dk1"/>
                </a:solidFill>
                <a:effectLst/>
                <a:latin typeface="Arial"/>
                <a:ea typeface="Arial"/>
                <a:cs typeface="Arial"/>
                <a:sym typeface="Arial"/>
              </a:rPr>
              <a:t>24</a:t>
            </a:r>
          </a:p>
          <a:p>
            <a:r>
              <a:rPr lang="en-US" sz="1200" b="0" i="0" u="none" strike="noStrike" kern="1200" cap="none" dirty="0">
                <a:solidFill>
                  <a:schemeClr val="dk1"/>
                </a:solidFill>
                <a:effectLst/>
                <a:latin typeface="Arial"/>
                <a:ea typeface="Arial"/>
                <a:cs typeface="Arial"/>
                <a:sym typeface="Arial"/>
              </a:rPr>
              <a:t>Phosphatidylethanolamine</a:t>
            </a:r>
          </a:p>
          <a:p>
            <a:r>
              <a:rPr lang="en-US" sz="1200" b="0" i="0" u="none" strike="noStrike" kern="1200" cap="none" dirty="0">
                <a:solidFill>
                  <a:schemeClr val="dk1"/>
                </a:solidFill>
                <a:effectLst/>
                <a:latin typeface="Arial"/>
                <a:ea typeface="Arial"/>
                <a:cs typeface="Arial"/>
                <a:sym typeface="Arial"/>
              </a:rPr>
              <a:t>17</a:t>
            </a:r>
          </a:p>
          <a:p>
            <a:r>
              <a:rPr lang="en-US" sz="1200" b="0" i="0" u="none" strike="noStrike" kern="1200" cap="none" dirty="0">
                <a:solidFill>
                  <a:schemeClr val="dk1"/>
                </a:solidFill>
                <a:effectLst/>
                <a:latin typeface="Arial"/>
                <a:ea typeface="Arial"/>
                <a:cs typeface="Arial"/>
                <a:sym typeface="Arial"/>
              </a:rPr>
              <a:t>7</a:t>
            </a:r>
          </a:p>
          <a:p>
            <a:r>
              <a:rPr lang="en-US" sz="1200" b="0" i="0" u="none" strike="noStrike" kern="1200" cap="none" dirty="0">
                <a:solidFill>
                  <a:schemeClr val="dk1"/>
                </a:solidFill>
                <a:effectLst/>
                <a:latin typeface="Arial"/>
                <a:ea typeface="Arial"/>
                <a:cs typeface="Arial"/>
                <a:sym typeface="Arial"/>
              </a:rPr>
              <a:t>Phosphatidylserine</a:t>
            </a:r>
          </a:p>
          <a:p>
            <a:r>
              <a:rPr lang="en-US" sz="1200" b="0" i="0" u="none" strike="noStrike" kern="1200" cap="none" dirty="0">
                <a:solidFill>
                  <a:schemeClr val="dk1"/>
                </a:solidFill>
                <a:effectLst/>
                <a:latin typeface="Arial"/>
                <a:ea typeface="Arial"/>
                <a:cs typeface="Arial"/>
                <a:sym typeface="Arial"/>
              </a:rPr>
              <a:t>5</a:t>
            </a:r>
          </a:p>
          <a:p>
            <a:r>
              <a:rPr lang="en-US" sz="1200" b="0" i="0" u="none" strike="noStrike" kern="1200" cap="none" dirty="0">
                <a:solidFill>
                  <a:schemeClr val="dk1"/>
                </a:solidFill>
                <a:effectLst/>
                <a:latin typeface="Arial"/>
                <a:ea typeface="Arial"/>
                <a:cs typeface="Arial"/>
                <a:sym typeface="Arial"/>
              </a:rPr>
              <a:t>4</a:t>
            </a:r>
          </a:p>
          <a:p>
            <a:r>
              <a:rPr lang="en-US" sz="1200" b="0" i="0" u="none" strike="noStrike" kern="1200" cap="none" dirty="0">
                <a:solidFill>
                  <a:schemeClr val="dk1"/>
                </a:solidFill>
                <a:effectLst/>
                <a:latin typeface="Arial"/>
                <a:ea typeface="Arial"/>
                <a:cs typeface="Arial"/>
                <a:sym typeface="Arial"/>
              </a:rPr>
              <a:t>Cholesterol</a:t>
            </a:r>
          </a:p>
          <a:p>
            <a:r>
              <a:rPr lang="en-US" sz="1200" b="0" i="0" u="none" strike="noStrike" kern="1200" cap="none" dirty="0">
                <a:solidFill>
                  <a:schemeClr val="dk1"/>
                </a:solidFill>
                <a:effectLst/>
                <a:latin typeface="Arial"/>
                <a:ea typeface="Arial"/>
                <a:cs typeface="Arial"/>
                <a:sym typeface="Arial"/>
              </a:rPr>
              <a:t>6</a:t>
            </a:r>
          </a:p>
          <a:p>
            <a:r>
              <a:rPr lang="en-US" sz="1200" b="0" i="0" u="none" strike="noStrike" kern="1200" cap="none" dirty="0">
                <a:solidFill>
                  <a:schemeClr val="dk1"/>
                </a:solidFill>
                <a:effectLst/>
                <a:latin typeface="Arial"/>
                <a:ea typeface="Arial"/>
                <a:cs typeface="Arial"/>
                <a:sym typeface="Arial"/>
              </a:rPr>
              <a:t>17</a:t>
            </a:r>
          </a:p>
          <a:p>
            <a:r>
              <a:rPr lang="en-US" sz="1200" b="0" i="0" u="none" strike="noStrike" kern="1200" cap="none" dirty="0">
                <a:solidFill>
                  <a:schemeClr val="dk1"/>
                </a:solidFill>
                <a:effectLst/>
                <a:latin typeface="Arial"/>
                <a:ea typeface="Arial"/>
                <a:cs typeface="Arial"/>
                <a:sym typeface="Arial"/>
              </a:rPr>
              <a:t>Sphingomyelin</a:t>
            </a:r>
          </a:p>
          <a:p>
            <a:r>
              <a:rPr lang="en-US" sz="1200" b="0" i="0" u="none" strike="noStrike" kern="1200" cap="none" dirty="0">
                <a:solidFill>
                  <a:schemeClr val="dk1"/>
                </a:solidFill>
                <a:effectLst/>
                <a:latin typeface="Arial"/>
                <a:ea typeface="Arial"/>
                <a:cs typeface="Arial"/>
                <a:sym typeface="Arial"/>
              </a:rPr>
              <a:t>5</a:t>
            </a:r>
          </a:p>
          <a:p>
            <a:r>
              <a:rPr lang="en-US" sz="1200" b="0" i="0" u="none" strike="noStrike" kern="1200" cap="none" dirty="0">
                <a:solidFill>
                  <a:schemeClr val="dk1"/>
                </a:solidFill>
                <a:effectLst/>
                <a:latin typeface="Arial"/>
                <a:ea typeface="Arial"/>
                <a:cs typeface="Arial"/>
                <a:sym typeface="Arial"/>
              </a:rPr>
              <a:t>19</a:t>
            </a:r>
          </a:p>
          <a:p>
            <a:r>
              <a:rPr lang="en-US" sz="1200" b="0" i="0" u="none" strike="noStrike" kern="1200" cap="none" dirty="0">
                <a:solidFill>
                  <a:schemeClr val="dk1"/>
                </a:solidFill>
                <a:effectLst/>
                <a:latin typeface="Arial"/>
                <a:ea typeface="Arial"/>
                <a:cs typeface="Arial"/>
                <a:sym typeface="Arial"/>
              </a:rPr>
              <a:t>Glycolipids</a:t>
            </a:r>
          </a:p>
          <a:p>
            <a:r>
              <a:rPr lang="en-US" sz="1200" b="0" i="0" u="none" strike="noStrike" kern="1200" cap="none" dirty="0">
                <a:solidFill>
                  <a:schemeClr val="dk1"/>
                </a:solidFill>
                <a:effectLst/>
                <a:latin typeface="Arial"/>
                <a:ea typeface="Arial"/>
                <a:cs typeface="Arial"/>
                <a:sym typeface="Arial"/>
              </a:rPr>
              <a:t>trace</a:t>
            </a:r>
          </a:p>
          <a:p>
            <a:r>
              <a:rPr lang="en-US" sz="1200" b="0" i="0" u="none" strike="noStrike" kern="1200" cap="none" dirty="0">
                <a:solidFill>
                  <a:schemeClr val="dk1"/>
                </a:solidFill>
                <a:effectLst/>
                <a:latin typeface="Arial"/>
                <a:ea typeface="Arial"/>
                <a:cs typeface="Arial"/>
                <a:sym typeface="Arial"/>
              </a:rPr>
              <a:t>7</a:t>
            </a:r>
          </a:p>
          <a:p>
            <a:r>
              <a:rPr lang="en-US" sz="1200" b="0" i="0" u="none" strike="noStrike" kern="1200" cap="none" dirty="0">
                <a:solidFill>
                  <a:schemeClr val="dk1"/>
                </a:solidFill>
                <a:effectLst/>
                <a:latin typeface="Arial"/>
                <a:ea typeface="Arial"/>
                <a:cs typeface="Arial"/>
                <a:sym typeface="Arial"/>
              </a:rPr>
              <a:t>Other lipids</a:t>
            </a:r>
          </a:p>
          <a:p>
            <a:r>
              <a:rPr lang="en-US" sz="1200" b="0" i="0" u="none" strike="noStrike" kern="1200" cap="none" dirty="0">
                <a:solidFill>
                  <a:schemeClr val="dk1"/>
                </a:solidFill>
                <a:effectLst/>
                <a:latin typeface="Arial"/>
                <a:ea typeface="Arial"/>
                <a:cs typeface="Arial"/>
                <a:sym typeface="Arial"/>
              </a:rPr>
              <a:t>27</a:t>
            </a:r>
          </a:p>
          <a:p>
            <a:r>
              <a:rPr lang="en-US" sz="1200" b="0" i="0" u="none" strike="noStrike" kern="1200" cap="none" dirty="0">
                <a:solidFill>
                  <a:schemeClr val="dk1"/>
                </a:solidFill>
                <a:effectLst/>
                <a:latin typeface="Arial"/>
                <a:ea typeface="Arial"/>
                <a:cs typeface="Arial"/>
                <a:sym typeface="Arial"/>
              </a:rPr>
              <a:t>22</a:t>
            </a: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749821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370390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382221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638291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 </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a. Stationary cisternae model:</a:t>
            </a:r>
          </a:p>
          <a:p>
            <a:pPr lvl="0"/>
            <a:r>
              <a:rPr lang="en-US" sz="1200" b="0" i="0" u="none" strike="noStrike" kern="1200" cap="none" dirty="0">
                <a:solidFill>
                  <a:schemeClr val="dk1"/>
                </a:solidFill>
                <a:effectLst/>
                <a:latin typeface="Arial"/>
                <a:ea typeface="Arial"/>
                <a:cs typeface="Arial"/>
                <a:sym typeface="Arial"/>
              </a:rPr>
              <a:t>Shuttle vesicles are found on the tip of the Golgi compartments. The shuttle vesicles carry material forward from ER to successive </a:t>
            </a:r>
            <a:r>
              <a:rPr lang="en-US" sz="1200" b="0" i="0" u="none" strike="noStrike" kern="1200" cap="none" dirty="0" err="1">
                <a:solidFill>
                  <a:schemeClr val="dk1"/>
                </a:solidFill>
                <a:effectLst/>
                <a:latin typeface="Arial"/>
                <a:ea typeface="Arial"/>
                <a:cs typeface="Arial"/>
                <a:sym typeface="Arial"/>
              </a:rPr>
              <a:t>golgi</a:t>
            </a:r>
            <a:r>
              <a:rPr lang="en-US" sz="1200" b="0" i="0" u="none" strike="noStrike" kern="1200" cap="none" dirty="0">
                <a:solidFill>
                  <a:schemeClr val="dk1"/>
                </a:solidFill>
                <a:effectLst/>
                <a:latin typeface="Arial"/>
                <a:ea typeface="Arial"/>
                <a:cs typeface="Arial"/>
                <a:sym typeface="Arial"/>
              </a:rPr>
              <a:t> compartments, which remain in place.</a:t>
            </a:r>
          </a:p>
          <a:p>
            <a:pPr lvl="0"/>
            <a:r>
              <a:rPr lang="en-US" sz="1200" b="0" i="0" u="none" strike="noStrike" kern="1200" cap="none" dirty="0">
                <a:solidFill>
                  <a:schemeClr val="dk1"/>
                </a:solidFill>
                <a:effectLst/>
                <a:latin typeface="Arial"/>
                <a:ea typeface="Arial"/>
                <a:cs typeface="Arial"/>
                <a:sym typeface="Arial"/>
              </a:rPr>
              <a:t>There is anterograde movement from C G N to T G N through the shuttle vesicles that open outside the cell through the plasma membrane. The cell is covered by plasma membrane. There is retrograde movement from T G N to C G N. </a:t>
            </a: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73293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 </a:t>
            </a:r>
          </a:p>
          <a:p>
            <a:r>
              <a:rPr lang="en-US" sz="1200" b="0" i="0" u="none" strike="noStrike" kern="1200" cap="none" dirty="0">
                <a:solidFill>
                  <a:schemeClr val="dk1"/>
                </a:solidFill>
                <a:effectLst/>
                <a:latin typeface="Arial"/>
                <a:ea typeface="Arial"/>
                <a:cs typeface="Arial"/>
                <a:sym typeface="Arial"/>
              </a:rPr>
              <a:t>b. </a:t>
            </a:r>
            <a:r>
              <a:rPr lang="en-US" sz="1200" b="0" i="0" u="none" strike="noStrike" kern="1200" cap="none" dirty="0" err="1">
                <a:solidFill>
                  <a:schemeClr val="dk1"/>
                </a:solidFill>
                <a:effectLst/>
                <a:latin typeface="Arial"/>
                <a:ea typeface="Arial"/>
                <a:cs typeface="Arial"/>
                <a:sym typeface="Arial"/>
              </a:rPr>
              <a:t>Cisternal</a:t>
            </a:r>
            <a:r>
              <a:rPr lang="en-US" sz="1200" b="0" i="0" u="none" strike="noStrike" kern="1200" cap="none" dirty="0">
                <a:solidFill>
                  <a:schemeClr val="dk1"/>
                </a:solidFill>
                <a:effectLst/>
                <a:latin typeface="Arial"/>
                <a:ea typeface="Arial"/>
                <a:cs typeface="Arial"/>
                <a:sym typeface="Arial"/>
              </a:rPr>
              <a:t> maturation model:</a:t>
            </a:r>
          </a:p>
          <a:p>
            <a:r>
              <a:rPr lang="en-US" sz="1200" b="0" i="0" u="none" strike="noStrike" kern="1200" cap="none" dirty="0">
                <a:solidFill>
                  <a:schemeClr val="dk1"/>
                </a:solidFill>
                <a:effectLst/>
                <a:latin typeface="Arial"/>
                <a:ea typeface="Arial"/>
                <a:cs typeface="Arial"/>
                <a:sym typeface="Arial"/>
              </a:rPr>
              <a:t>The retrograde movement is at the ends of the Golgi apparatus from T G N to C G N. The anterograde movement is from CGN to TGN through the cisternae of the Golgi stack. It opens to the exterior of the cell through the plasma membrane. ER moves from  C G N to T G N and then released outside the cell through plasma membrane.</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4814365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254704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1041266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307859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7242342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175679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114833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 </a:t>
            </a:r>
            <a:endParaRPr lang="en-IN" sz="1200" b="0" i="0" u="none" strike="noStrike" kern="1200" cap="none" dirty="0">
              <a:solidFill>
                <a:schemeClr val="dk1"/>
              </a:solidFill>
              <a:effectLst/>
              <a:latin typeface="Arial"/>
              <a:ea typeface="Arial"/>
              <a:cs typeface="Arial"/>
              <a:sym typeface="Arial"/>
            </a:endParaRPr>
          </a:p>
          <a:p>
            <a:pPr marL="342900" lvl="0" indent="-342900">
              <a:lnSpc>
                <a:spcPct val="115000"/>
              </a:lnSpc>
              <a:spcBef>
                <a:spcPts val="1500"/>
              </a:spcBef>
              <a:buFont typeface="+mj-lt"/>
              <a:buAutoNum type="alphaLcPeriod"/>
            </a:pPr>
            <a:r>
              <a:rPr lang="en-US" sz="1800" dirty="0">
                <a:effectLst/>
                <a:latin typeface="Times New Roman" panose="02020603050405020304" pitchFamily="18" charset="0"/>
                <a:ea typeface="Times New Roman" panose="02020603050405020304" pitchFamily="18" charset="0"/>
              </a:rPr>
              <a:t>Stationary cisternae model:</a:t>
            </a:r>
            <a:endParaRPr lang="en-IN" sz="1800" dirty="0">
              <a:effectLst/>
              <a:latin typeface="Calibri" panose="020F0502020204030204" pitchFamily="34" charset="0"/>
              <a:ea typeface="Calibri" panose="020F0502020204030204" pitchFamily="34" charset="0"/>
            </a:endParaRPr>
          </a:p>
          <a:p>
            <a:pPr marL="457200">
              <a:lnSpc>
                <a:spcPct val="115000"/>
              </a:lnSpc>
              <a:spcBef>
                <a:spcPts val="1500"/>
              </a:spcBef>
              <a:spcAft>
                <a:spcPts val="1000"/>
              </a:spcAft>
            </a:pPr>
            <a:r>
              <a:rPr lang="en-US" sz="1800" dirty="0">
                <a:effectLst/>
                <a:latin typeface="Times New Roman" panose="02020603050405020304" pitchFamily="18" charset="0"/>
                <a:ea typeface="Times New Roman" panose="02020603050405020304" pitchFamily="18" charset="0"/>
              </a:rPr>
              <a:t>Shuttle vesicles are found on the tip of the Golgi compartments. The shuttle vesicles carry material forward from ER to successive </a:t>
            </a:r>
            <a:r>
              <a:rPr lang="en-US" sz="1800" dirty="0" err="1">
                <a:effectLst/>
                <a:latin typeface="Times New Roman" panose="02020603050405020304" pitchFamily="18" charset="0"/>
                <a:ea typeface="Times New Roman" panose="02020603050405020304" pitchFamily="18" charset="0"/>
              </a:rPr>
              <a:t>golgi</a:t>
            </a:r>
            <a:r>
              <a:rPr lang="en-US" sz="1800" dirty="0">
                <a:effectLst/>
                <a:latin typeface="Times New Roman" panose="02020603050405020304" pitchFamily="18" charset="0"/>
                <a:ea typeface="Times New Roman" panose="02020603050405020304" pitchFamily="18" charset="0"/>
              </a:rPr>
              <a:t> compartments, which remain in place.</a:t>
            </a:r>
            <a:endParaRPr lang="en-IN" sz="1800" dirty="0">
              <a:effectLst/>
              <a:latin typeface="Calibri" panose="020F0502020204030204" pitchFamily="34" charset="0"/>
              <a:ea typeface="Calibri" panose="020F0502020204030204" pitchFamily="34" charset="0"/>
            </a:endParaRPr>
          </a:p>
          <a:p>
            <a:pPr marL="457200">
              <a:lnSpc>
                <a:spcPct val="107000"/>
              </a:lnSpc>
              <a:spcBef>
                <a:spcPts val="1500"/>
              </a:spcBef>
              <a:spcAft>
                <a:spcPts val="80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There is anterograde movement from </a:t>
            </a:r>
            <a:r>
              <a:rPr lang="en-IN" sz="1800" dirty="0">
                <a:effectLst/>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rPr>
              <a:t>C G N</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to </a:t>
            </a:r>
            <a:r>
              <a:rPr lang="en-IN" sz="1800" dirty="0">
                <a:effectLst/>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rPr>
              <a:t>T G N</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through the shuttle vesicles that open outside the cell through the plasma membrane. The cell is covered by plasma membrane. There is retrograde movement from </a:t>
            </a:r>
            <a:r>
              <a:rPr lang="en-IN" sz="1800" dirty="0">
                <a:effectLst/>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rPr>
              <a:t>T G N to C G N</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Bef>
                <a:spcPts val="1500"/>
              </a:spcBef>
              <a:buFont typeface="+mj-lt"/>
              <a:buAutoNum type="alphaLcPeriod" startAt="2"/>
            </a:pPr>
            <a:r>
              <a:rPr lang="en-US" sz="1800" dirty="0">
                <a:effectLst/>
                <a:latin typeface="Times New Roman" panose="02020603050405020304" pitchFamily="18" charset="0"/>
                <a:ea typeface="Times New Roman" panose="02020603050405020304" pitchFamily="18" charset="0"/>
              </a:rPr>
              <a:t>Cisternal maturation model:</a:t>
            </a:r>
            <a:endParaRPr lang="en-IN" sz="1800" dirty="0">
              <a:effectLst/>
              <a:latin typeface="Calibri" panose="020F0502020204030204" pitchFamily="34" charset="0"/>
              <a:ea typeface="Calibri" panose="020F0502020204030204" pitchFamily="34" charset="0"/>
            </a:endParaRPr>
          </a:p>
          <a:p>
            <a:pPr marL="457200">
              <a:lnSpc>
                <a:spcPct val="115000"/>
              </a:lnSpc>
              <a:spcBef>
                <a:spcPts val="1500"/>
              </a:spcBef>
              <a:spcAft>
                <a:spcPts val="1000"/>
              </a:spcAft>
            </a:pPr>
            <a:r>
              <a:rPr lang="en-US" sz="1800" dirty="0">
                <a:effectLst/>
                <a:latin typeface="Times New Roman" panose="02020603050405020304" pitchFamily="18" charset="0"/>
                <a:ea typeface="Times New Roman" panose="02020603050405020304" pitchFamily="18" charset="0"/>
              </a:rPr>
              <a:t>The retrograde movement is at the ends of the Golgi apparatus from </a:t>
            </a:r>
            <a:r>
              <a:rPr lang="en-US" sz="1800" dirty="0">
                <a:effectLst/>
                <a:highlight>
                  <a:srgbClr val="FFFF00"/>
                </a:highlight>
                <a:latin typeface="Times New Roman" panose="02020603050405020304" pitchFamily="18" charset="0"/>
                <a:ea typeface="Times New Roman" panose="02020603050405020304" pitchFamily="18" charset="0"/>
              </a:rPr>
              <a:t>T G N to C G N</a:t>
            </a:r>
            <a:r>
              <a:rPr lang="en-US" sz="1800" dirty="0">
                <a:effectLst/>
                <a:latin typeface="Times New Roman" panose="02020603050405020304" pitchFamily="18" charset="0"/>
                <a:ea typeface="Times New Roman" panose="02020603050405020304" pitchFamily="18" charset="0"/>
              </a:rPr>
              <a:t>. The anterograde movement is from CGN to TGN through the cisternae of the Golgi stack. It opens to the exterior of the cell through the plasma membrane. ER moves from  C G N to T G N and then released outside the cell through plasma membrane.</a:t>
            </a:r>
            <a:endParaRPr lang="en-IN" sz="1800" dirty="0">
              <a:effectLst/>
              <a:latin typeface="Calibri" panose="020F0502020204030204" pitchFamily="34" charset="0"/>
              <a:ea typeface="Calibri" panose="020F0502020204030204" pitchFamily="34" charset="0"/>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8760593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729160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5393271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0019702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8854012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271779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7016888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7967563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3246385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4762268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 </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process in the E R is as below:</a:t>
            </a:r>
          </a:p>
          <a:p>
            <a:r>
              <a:rPr lang="en-US" sz="1200" b="0" i="0" u="none" strike="noStrike" kern="1200" cap="none" dirty="0">
                <a:solidFill>
                  <a:schemeClr val="dk1"/>
                </a:solidFill>
                <a:effectLst/>
                <a:latin typeface="Arial"/>
                <a:ea typeface="Arial"/>
                <a:cs typeface="Arial"/>
                <a:sym typeface="Arial"/>
              </a:rPr>
              <a:t>• Biosynthesis of core oligosaccharide</a:t>
            </a:r>
          </a:p>
          <a:p>
            <a:r>
              <a:rPr lang="en-US" sz="1200" b="0" i="0" u="none" strike="noStrike" kern="1200" cap="none" dirty="0">
                <a:solidFill>
                  <a:schemeClr val="dk1"/>
                </a:solidFill>
                <a:effectLst/>
                <a:latin typeface="Arial"/>
                <a:ea typeface="Arial"/>
                <a:cs typeface="Arial"/>
                <a:sym typeface="Arial"/>
              </a:rPr>
              <a:t>• Transfer of core oligosaccharide to recipient proteins</a:t>
            </a:r>
          </a:p>
          <a:p>
            <a:r>
              <a:rPr lang="en-US" sz="1200" b="0" i="0" u="none" strike="noStrike" kern="1200" cap="none" dirty="0">
                <a:solidFill>
                  <a:schemeClr val="dk1"/>
                </a:solidFill>
                <a:effectLst/>
                <a:latin typeface="Arial"/>
                <a:ea typeface="Arial"/>
                <a:cs typeface="Arial"/>
                <a:sym typeface="Arial"/>
              </a:rPr>
              <a:t>• Processing of core oligosaccharide</a:t>
            </a:r>
          </a:p>
          <a:p>
            <a:r>
              <a:rPr lang="en-US" sz="1200" b="0" i="0" u="none" strike="noStrike" kern="1200" cap="none" dirty="0">
                <a:solidFill>
                  <a:schemeClr val="dk1"/>
                </a:solidFill>
                <a:effectLst/>
                <a:latin typeface="Arial"/>
                <a:ea typeface="Arial"/>
                <a:cs typeface="Arial"/>
                <a:sym typeface="Arial"/>
              </a:rPr>
              <a:t>• Removal of misfolded proteins</a:t>
            </a:r>
          </a:p>
          <a:p>
            <a:r>
              <a:rPr lang="en-US" sz="1200" b="0" i="0" u="none" strike="noStrike" kern="1200" cap="none" dirty="0">
                <a:solidFill>
                  <a:schemeClr val="dk1"/>
                </a:solidFill>
                <a:effectLst/>
                <a:latin typeface="Arial"/>
                <a:ea typeface="Arial"/>
                <a:cs typeface="Arial"/>
                <a:sym typeface="Arial"/>
              </a:rPr>
              <a:t>The process in the C G N is as below:</a:t>
            </a:r>
          </a:p>
          <a:p>
            <a:r>
              <a:rPr lang="en-US" sz="1200" b="0" i="0" u="none" strike="noStrike" kern="1200" cap="none" dirty="0">
                <a:solidFill>
                  <a:schemeClr val="dk1"/>
                </a:solidFill>
                <a:effectLst/>
                <a:latin typeface="Arial"/>
                <a:ea typeface="Arial"/>
                <a:cs typeface="Arial"/>
                <a:sym typeface="Arial"/>
              </a:rPr>
              <a:t>• Attachment of N hyphen acetylgalactosamine</a:t>
            </a:r>
          </a:p>
          <a:p>
            <a:r>
              <a:rPr lang="en-US" sz="1200" b="0" i="0" u="none" strike="noStrike" kern="1200" cap="none" dirty="0">
                <a:solidFill>
                  <a:schemeClr val="dk1"/>
                </a:solidFill>
                <a:effectLst/>
                <a:latin typeface="Arial"/>
                <a:ea typeface="Arial"/>
                <a:cs typeface="Arial"/>
                <a:sym typeface="Arial"/>
              </a:rPr>
              <a:t>• Phosphorylation of lysosomal proteins</a:t>
            </a:r>
          </a:p>
          <a:p>
            <a:r>
              <a:rPr lang="en-US" sz="1200" b="0" i="0" u="none" strike="noStrike" kern="1200" cap="none" dirty="0">
                <a:solidFill>
                  <a:schemeClr val="dk1"/>
                </a:solidFill>
                <a:effectLst/>
                <a:latin typeface="Arial"/>
                <a:ea typeface="Arial"/>
                <a:cs typeface="Arial"/>
                <a:sym typeface="Arial"/>
              </a:rPr>
              <a:t>The process in the medial cisternae is as below:</a:t>
            </a:r>
          </a:p>
          <a:p>
            <a:r>
              <a:rPr lang="en-US" sz="1200" b="0" i="0" u="none" strike="noStrike" kern="1200" cap="none" dirty="0">
                <a:solidFill>
                  <a:schemeClr val="dk1"/>
                </a:solidFill>
                <a:effectLst/>
                <a:latin typeface="Arial"/>
                <a:ea typeface="Arial"/>
                <a:cs typeface="Arial"/>
                <a:sym typeface="Arial"/>
              </a:rPr>
              <a:t>• Removal of mannose</a:t>
            </a:r>
          </a:p>
          <a:p>
            <a:r>
              <a:rPr lang="en-US" sz="1200" b="0" i="0" u="none" strike="noStrike" kern="1200" cap="none" dirty="0">
                <a:solidFill>
                  <a:schemeClr val="dk1"/>
                </a:solidFill>
                <a:effectLst/>
                <a:latin typeface="Arial"/>
                <a:ea typeface="Arial"/>
                <a:cs typeface="Arial"/>
                <a:sym typeface="Arial"/>
              </a:rPr>
              <a:t>• Attachment of N hyphen acetylglucosamine</a:t>
            </a:r>
          </a:p>
          <a:p>
            <a:r>
              <a:rPr lang="en-US" sz="1200" b="0" i="0" u="none" strike="noStrike" kern="1200" cap="none" dirty="0">
                <a:solidFill>
                  <a:schemeClr val="dk1"/>
                </a:solidFill>
                <a:effectLst/>
                <a:latin typeface="Arial"/>
                <a:ea typeface="Arial"/>
                <a:cs typeface="Arial"/>
                <a:sym typeface="Arial"/>
              </a:rPr>
              <a:t>• Addition of galactose</a:t>
            </a:r>
          </a:p>
          <a:p>
            <a:r>
              <a:rPr lang="en-US" sz="1200" b="0" i="0" u="none" strike="noStrike" kern="1200" cap="none" dirty="0">
                <a:solidFill>
                  <a:schemeClr val="dk1"/>
                </a:solidFill>
                <a:effectLst/>
                <a:latin typeface="Arial"/>
                <a:ea typeface="Arial"/>
                <a:cs typeface="Arial"/>
                <a:sym typeface="Arial"/>
              </a:rPr>
              <a:t>• Addition of sialic acid</a:t>
            </a:r>
          </a:p>
          <a:p>
            <a:r>
              <a:rPr lang="en-US" sz="1200" b="0" i="0" u="none" strike="noStrike" kern="1200" cap="none" dirty="0">
                <a:solidFill>
                  <a:schemeClr val="dk1"/>
                </a:solidFill>
                <a:effectLst/>
                <a:latin typeface="Arial"/>
                <a:ea typeface="Arial"/>
                <a:cs typeface="Arial"/>
                <a:sym typeface="Arial"/>
              </a:rPr>
              <a:t>The process in the T G N is as below:</a:t>
            </a:r>
          </a:p>
          <a:p>
            <a:r>
              <a:rPr lang="en-US" sz="1200" b="0" i="0" u="none" strike="noStrike" kern="1200" cap="none" dirty="0">
                <a:solidFill>
                  <a:schemeClr val="dk1"/>
                </a:solidFill>
                <a:effectLst/>
                <a:latin typeface="Arial"/>
                <a:ea typeface="Arial"/>
                <a:cs typeface="Arial"/>
                <a:sym typeface="Arial"/>
              </a:rPr>
              <a:t>• Attachment of sulfate to tyrosine </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7209248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2009177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4837764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 </a:t>
            </a:r>
            <a:endParaRPr lang="en-IN"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1. In ER lumen: Dolichol phosphate in the E R membrane acts as the carrier of oligosaccharide units for protein glycosylation. In mammals, n usually equals 18. The structure of dolichol is two C H subscript 3 each having with C double bond C H single bond C H subscript 2 single bond open square bracket C H subscript 2 single bond C single bond C H subscript 3 double bond C H single bond C H subscript 2 close square bracket base n single bond C H subscript 2 single bond C having three single bonds with H, C H subscript 3 and C H subscript 2 single bond C H subscript. This is liked with P of phosphate with 2 O negative, one O single bond, and one double bond with O.</a:t>
            </a:r>
          </a:p>
          <a:p>
            <a:pPr lvl="0"/>
            <a:endParaRPr lang="en-US"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2. In cytosol: Core oligosaccharide synthesis begins in the cytoplasm as N hyphen acetylglucosamine (N) and mannose (M) units are added to dolichol phosphate.</a:t>
            </a:r>
          </a:p>
          <a:p>
            <a:pPr lvl="0"/>
            <a:r>
              <a:rPr lang="en-US" sz="1200" b="0" i="0" u="none" strike="noStrike" kern="1200" cap="none" dirty="0">
                <a:solidFill>
                  <a:schemeClr val="dk1"/>
                </a:solidFill>
                <a:effectLst/>
                <a:latin typeface="Arial"/>
                <a:ea typeface="Arial"/>
                <a:cs typeface="Arial"/>
                <a:sym typeface="Arial"/>
              </a:rPr>
              <a:t>The following conversions happen:</a:t>
            </a:r>
          </a:p>
          <a:p>
            <a:pPr lvl="0"/>
            <a:r>
              <a:rPr lang="en-US" sz="1200" b="0" i="0" u="none" strike="noStrike" kern="1200" cap="none" dirty="0">
                <a:solidFill>
                  <a:schemeClr val="dk1"/>
                </a:solidFill>
                <a:effectLst/>
                <a:latin typeface="Arial"/>
                <a:ea typeface="Arial"/>
                <a:cs typeface="Arial"/>
                <a:sym typeface="Arial"/>
              </a:rPr>
              <a:t>a. Dolichol P to Dolichol P P N while U D P hyphen G l c N A c to U M P happens.</a:t>
            </a:r>
          </a:p>
          <a:p>
            <a:pPr lvl="0"/>
            <a:r>
              <a:rPr lang="en-US" sz="1200" b="0" i="0" u="none" strike="noStrike" kern="1200" cap="none" dirty="0">
                <a:solidFill>
                  <a:schemeClr val="dk1"/>
                </a:solidFill>
                <a:effectLst/>
                <a:latin typeface="Arial"/>
                <a:ea typeface="Arial"/>
                <a:cs typeface="Arial"/>
                <a:sym typeface="Arial"/>
              </a:rPr>
              <a:t>b. Dolichol P P N to Dolichol P P N N while U D P hyphen G l c N A c to U D P happens.</a:t>
            </a:r>
          </a:p>
          <a:p>
            <a:pPr lvl="0"/>
            <a:r>
              <a:rPr lang="en-US" sz="1200" b="0" i="0" u="none" strike="noStrike" kern="1200" cap="none" dirty="0">
                <a:solidFill>
                  <a:schemeClr val="dk1"/>
                </a:solidFill>
                <a:effectLst/>
                <a:latin typeface="Arial"/>
                <a:ea typeface="Arial"/>
                <a:cs typeface="Arial"/>
                <a:sym typeface="Arial"/>
              </a:rPr>
              <a:t>c. Dolichol P P N N to Dolichol P P N N five M molecules while five G D P hyphen mannose to five G D P happens.</a:t>
            </a:r>
          </a:p>
          <a:p>
            <a:pPr lvl="0"/>
            <a:endParaRPr lang="en-US"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3. In ER lumen: Translocation of the oligosaccharide from the cytosol to the E R lumen is catalyzed by a phospholipid translocator (flippase).</a:t>
            </a:r>
          </a:p>
          <a:p>
            <a:pPr lvl="0"/>
            <a:r>
              <a:rPr lang="en-US" sz="1200" b="0" i="0" u="none" strike="noStrike" kern="1200" cap="none" dirty="0">
                <a:solidFill>
                  <a:schemeClr val="dk1"/>
                </a:solidFill>
                <a:effectLst/>
                <a:latin typeface="Arial"/>
                <a:ea typeface="Arial"/>
                <a:cs typeface="Arial"/>
                <a:sym typeface="Arial"/>
              </a:rPr>
              <a:t>The following conversions happen</a:t>
            </a:r>
          </a:p>
          <a:p>
            <a:pPr lvl="0"/>
            <a:r>
              <a:rPr lang="en-US" sz="1200" b="0" i="0" u="none" strike="noStrike" kern="1200" cap="none" dirty="0">
                <a:solidFill>
                  <a:schemeClr val="dk1"/>
                </a:solidFill>
                <a:effectLst/>
                <a:latin typeface="Arial"/>
                <a:ea typeface="Arial"/>
                <a:cs typeface="Arial"/>
                <a:sym typeface="Arial"/>
              </a:rPr>
              <a:t>a. Dolichol P P N N five M molecules to Dolichol P P N N nine M molecules while four Dolichol hyphen P hyphen mannose is converted to four dolichol hyphen P. </a:t>
            </a:r>
          </a:p>
          <a:p>
            <a:pPr lvl="0"/>
            <a:r>
              <a:rPr lang="en-US" sz="1200" b="0" i="0" u="none" strike="noStrike" kern="1200" cap="none" dirty="0">
                <a:solidFill>
                  <a:schemeClr val="dk1"/>
                </a:solidFill>
                <a:effectLst/>
                <a:latin typeface="Arial"/>
                <a:ea typeface="Arial"/>
                <a:cs typeface="Arial"/>
                <a:sym typeface="Arial"/>
              </a:rPr>
              <a:t>b. Dolichol P P N N nine M molecules to Dolichol P P N N nine M molecules three G while three Dolichol hyphen P hyphen glucose is converted to three Dolichol hyphen P.</a:t>
            </a:r>
          </a:p>
          <a:p>
            <a:pPr lvl="0"/>
            <a:endParaRPr lang="en-US"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4. Completion of the core oligosaccharide occurs in the ER lumen as more mannose and glucose (G) units are added.</a:t>
            </a:r>
          </a:p>
          <a:p>
            <a:pPr lvl="0"/>
            <a:r>
              <a:rPr lang="en-US" sz="1200" b="0" i="0" u="none" strike="noStrike" kern="1200" cap="none" dirty="0">
                <a:solidFill>
                  <a:schemeClr val="dk1"/>
                </a:solidFill>
                <a:effectLst/>
                <a:latin typeface="Arial"/>
                <a:ea typeface="Arial"/>
                <a:cs typeface="Arial"/>
                <a:sym typeface="Arial"/>
              </a:rPr>
              <a:t>a. Structure of protein has the asparagine in protein two N nine M three G.</a:t>
            </a:r>
          </a:p>
          <a:p>
            <a:pPr lvl="0"/>
            <a:endParaRPr lang="en-US"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5. Transfer of the completed core oligosaccharide to an asparagine residue of the recipient protein is catalyzed by an oligosaccharyltransferase.</a:t>
            </a:r>
          </a:p>
          <a:p>
            <a:pPr lvl="0"/>
            <a:r>
              <a:rPr lang="en-US" sz="1200" b="0" i="0" u="none" strike="noStrike" kern="1200" cap="none" dirty="0">
                <a:solidFill>
                  <a:schemeClr val="dk1"/>
                </a:solidFill>
                <a:effectLst/>
                <a:latin typeface="Arial"/>
                <a:ea typeface="Arial"/>
                <a:cs typeface="Arial"/>
                <a:sym typeface="Arial"/>
              </a:rPr>
              <a:t>a. Structure of asparagine in protein is C H has three single bond with N H, C double bond O and C H subscript 2 single bond C double bond O single bond N single bond H.</a:t>
            </a:r>
          </a:p>
          <a:p>
            <a:pPr lvl="0"/>
            <a:endParaRPr lang="en-US" sz="1200" b="0" i="0" u="none" strike="noStrike" kern="1200" cap="none" dirty="0">
              <a:solidFill>
                <a:schemeClr val="dk1"/>
              </a:solidFill>
              <a:effectLst/>
              <a:latin typeface="Arial"/>
              <a:ea typeface="Arial"/>
              <a:cs typeface="Arial"/>
              <a:sym typeface="Arial"/>
            </a:endParaRPr>
          </a:p>
          <a:p>
            <a:pPr lvl="0"/>
            <a:r>
              <a:rPr lang="en-US" sz="1200" b="0" i="0" u="none" strike="noStrike" kern="1200" cap="none" dirty="0">
                <a:solidFill>
                  <a:schemeClr val="dk1"/>
                </a:solidFill>
                <a:effectLst/>
                <a:latin typeface="Arial"/>
                <a:ea typeface="Arial"/>
                <a:cs typeface="Arial"/>
                <a:sym typeface="Arial"/>
              </a:rPr>
              <a:t>6. Final processing involves the removal of certain glucose and mannose units in the E R before transfer of the glycoprotein to the Golgi.</a:t>
            </a:r>
          </a:p>
          <a:p>
            <a:pPr lvl="0"/>
            <a:r>
              <a:rPr lang="en-US" sz="1200" b="0" i="0" u="none" strike="noStrike" kern="1200" cap="none" dirty="0">
                <a:solidFill>
                  <a:schemeClr val="dk1"/>
                </a:solidFill>
                <a:effectLst/>
                <a:latin typeface="Arial"/>
                <a:ea typeface="Arial"/>
                <a:cs typeface="Arial"/>
                <a:sym typeface="Arial"/>
              </a:rPr>
              <a:t>a. The protein structure becomes C H has three single bond with N H, C double bond O and C H subscript 2 single bond C double bond O single bond N single bond H two N and nine M.</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7911723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3901893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8729938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4347484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9398555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330762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013729D-2F99-449C-9D22-A12B53B9F663}" type="datetimeFigureOut">
              <a:rPr lang="en-US" smtClean="0"/>
              <a:t>11/14/2023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9C376D-4FC4-4A59-AF52-DAB90E65700B}" type="slidenum">
              <a:rPr lang="en-US" smtClean="0"/>
              <a:t>‹#›</a:t>
            </a:fld>
            <a:endParaRPr lang="en-US"/>
          </a:p>
        </p:txBody>
      </p:sp>
    </p:spTree>
    <p:extLst>
      <p:ext uri="{BB962C8B-B14F-4D97-AF65-F5344CB8AC3E}">
        <p14:creationId xmlns:p14="http://schemas.microsoft.com/office/powerpoint/2010/main" val="1480981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013729D-2F99-449C-9D22-A12B53B9F663}" type="datetimeFigureOut">
              <a:rPr lang="en-US" smtClean="0"/>
              <a:t>11/14/2023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9C376D-4FC4-4A59-AF52-DAB90E65700B}" type="slidenum">
              <a:rPr lang="en-US" smtClean="0"/>
              <a:t>‹#›</a:t>
            </a:fld>
            <a:endParaRPr lang="en-US"/>
          </a:p>
        </p:txBody>
      </p:sp>
    </p:spTree>
    <p:extLst>
      <p:ext uri="{BB962C8B-B14F-4D97-AF65-F5344CB8AC3E}">
        <p14:creationId xmlns:p14="http://schemas.microsoft.com/office/powerpoint/2010/main" val="1898281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013729D-2F99-449C-9D22-A12B53B9F663}" type="datetimeFigureOut">
              <a:rPr lang="en-US" smtClean="0"/>
              <a:t>11/14/2023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9C376D-4FC4-4A59-AF52-DAB90E65700B}" type="slidenum">
              <a:rPr lang="en-US" smtClean="0"/>
              <a:t>‹#›</a:t>
            </a:fld>
            <a:endParaRPr lang="en-US"/>
          </a:p>
        </p:txBody>
      </p:sp>
    </p:spTree>
    <p:extLst>
      <p:ext uri="{BB962C8B-B14F-4D97-AF65-F5344CB8AC3E}">
        <p14:creationId xmlns:p14="http://schemas.microsoft.com/office/powerpoint/2010/main" val="101955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013729D-2F99-449C-9D22-A12B53B9F663}" type="datetimeFigureOut">
              <a:rPr lang="en-US" smtClean="0"/>
              <a:t>11/14/2023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9C376D-4FC4-4A59-AF52-DAB90E65700B}" type="slidenum">
              <a:rPr lang="en-US" smtClean="0"/>
              <a:t>‹#›</a:t>
            </a:fld>
            <a:endParaRPr lang="en-US"/>
          </a:p>
        </p:txBody>
      </p:sp>
    </p:spTree>
    <p:extLst>
      <p:ext uri="{BB962C8B-B14F-4D97-AF65-F5344CB8AC3E}">
        <p14:creationId xmlns:p14="http://schemas.microsoft.com/office/powerpoint/2010/main" val="316618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013729D-2F99-449C-9D22-A12B53B9F663}" type="datetimeFigureOut">
              <a:rPr lang="en-US" smtClean="0"/>
              <a:t>11/14/2023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9C376D-4FC4-4A59-AF52-DAB90E65700B}" type="slidenum">
              <a:rPr lang="en-US" smtClean="0"/>
              <a:t>‹#›</a:t>
            </a:fld>
            <a:endParaRPr lang="en-US"/>
          </a:p>
        </p:txBody>
      </p:sp>
    </p:spTree>
    <p:extLst>
      <p:ext uri="{BB962C8B-B14F-4D97-AF65-F5344CB8AC3E}">
        <p14:creationId xmlns:p14="http://schemas.microsoft.com/office/powerpoint/2010/main" val="41498366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013729D-2F99-449C-9D22-A12B53B9F663}" type="datetimeFigureOut">
              <a:rPr lang="en-US" smtClean="0"/>
              <a:t>11/14/2023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9C376D-4FC4-4A59-AF52-DAB90E65700B}" type="slidenum">
              <a:rPr lang="en-US" smtClean="0"/>
              <a:t>‹#›</a:t>
            </a:fld>
            <a:endParaRPr lang="en-US"/>
          </a:p>
        </p:txBody>
      </p:sp>
    </p:spTree>
    <p:extLst>
      <p:ext uri="{BB962C8B-B14F-4D97-AF65-F5344CB8AC3E}">
        <p14:creationId xmlns:p14="http://schemas.microsoft.com/office/powerpoint/2010/main" val="40274037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13729D-2F99-449C-9D22-A12B53B9F663}" type="datetimeFigureOut">
              <a:rPr lang="en-US" smtClean="0"/>
              <a:t>11/14/2023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49C376D-4FC4-4A59-AF52-DAB90E65700B}" type="slidenum">
              <a:rPr lang="en-US" smtClean="0"/>
              <a:t>‹#›</a:t>
            </a:fld>
            <a:endParaRPr lang="en-US"/>
          </a:p>
        </p:txBody>
      </p:sp>
    </p:spTree>
    <p:extLst>
      <p:ext uri="{BB962C8B-B14F-4D97-AF65-F5344CB8AC3E}">
        <p14:creationId xmlns:p14="http://schemas.microsoft.com/office/powerpoint/2010/main" val="682262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013729D-2F99-449C-9D22-A12B53B9F663}" type="datetimeFigureOut">
              <a:rPr lang="en-US" smtClean="0"/>
              <a:t>11/14/2023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9C376D-4FC4-4A59-AF52-DAB90E65700B}" type="slidenum">
              <a:rPr lang="en-US" smtClean="0"/>
              <a:t>‹#›</a:t>
            </a:fld>
            <a:endParaRPr lang="en-US"/>
          </a:p>
        </p:txBody>
      </p:sp>
    </p:spTree>
    <p:extLst>
      <p:ext uri="{BB962C8B-B14F-4D97-AF65-F5344CB8AC3E}">
        <p14:creationId xmlns:p14="http://schemas.microsoft.com/office/powerpoint/2010/main" val="1369653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013729D-2F99-449C-9D22-A12B53B9F663}" type="datetimeFigureOut">
              <a:rPr lang="en-US" smtClean="0"/>
              <a:t>11/14/2023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9C376D-4FC4-4A59-AF52-DAB90E65700B}" type="slidenum">
              <a:rPr lang="en-US" smtClean="0"/>
              <a:t>‹#›</a:t>
            </a:fld>
            <a:endParaRPr lang="en-US"/>
          </a:p>
        </p:txBody>
      </p:sp>
    </p:spTree>
    <p:extLst>
      <p:ext uri="{BB962C8B-B14F-4D97-AF65-F5344CB8AC3E}">
        <p14:creationId xmlns:p14="http://schemas.microsoft.com/office/powerpoint/2010/main" val="6234045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013729D-2F99-449C-9D22-A12B53B9F663}" type="datetimeFigureOut">
              <a:rPr lang="en-US" smtClean="0"/>
              <a:t>11/14/2023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9C376D-4FC4-4A59-AF52-DAB90E65700B}" type="slidenum">
              <a:rPr lang="en-US" smtClean="0"/>
              <a:t>‹#›</a:t>
            </a:fld>
            <a:endParaRPr lang="en-US"/>
          </a:p>
        </p:txBody>
      </p:sp>
    </p:spTree>
    <p:extLst>
      <p:ext uri="{BB962C8B-B14F-4D97-AF65-F5344CB8AC3E}">
        <p14:creationId xmlns:p14="http://schemas.microsoft.com/office/powerpoint/2010/main" val="2118456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013729D-2F99-449C-9D22-A12B53B9F663}" type="datetimeFigureOut">
              <a:rPr lang="en-US" smtClean="0"/>
              <a:t>11/14/2023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9C376D-4FC4-4A59-AF52-DAB90E65700B}" type="slidenum">
              <a:rPr lang="en-US" smtClean="0"/>
              <a:t>‹#›</a:t>
            </a:fld>
            <a:endParaRPr lang="en-US"/>
          </a:p>
        </p:txBody>
      </p:sp>
    </p:spTree>
    <p:extLst>
      <p:ext uri="{BB962C8B-B14F-4D97-AF65-F5344CB8AC3E}">
        <p14:creationId xmlns:p14="http://schemas.microsoft.com/office/powerpoint/2010/main" val="34495188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redi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6" name="Content Placeholder 5">
            <a:extLst>
              <a:ext uri="{FF2B5EF4-FFF2-40B4-BE49-F238E27FC236}">
                <a16:creationId xmlns:a16="http://schemas.microsoft.com/office/drawing/2014/main" xmlns=""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xmlns="" id="{3B38FD8D-0DB0-4A1A-A3F1-E26B606AC837}"/>
              </a:ext>
            </a:extLst>
          </p:cNvPr>
          <p:cNvSpPr>
            <a:spLocks noGrp="1"/>
          </p:cNvSpPr>
          <p:nvPr>
            <p:ph sz="quarter" idx="15" hasCustomPrompt="1"/>
          </p:nvPr>
        </p:nvSpPr>
        <p:spPr>
          <a:xfrm>
            <a:off x="5029200" y="3252789"/>
            <a:ext cx="3657600" cy="1088476"/>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xmlns=""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xmlns=""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xmlns=""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xmlns=""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
        <p:nvSpPr>
          <p:cNvPr id="3" name="Picture Placeholder 2">
            <a:extLst>
              <a:ext uri="{FF2B5EF4-FFF2-40B4-BE49-F238E27FC236}">
                <a16:creationId xmlns:a16="http://schemas.microsoft.com/office/drawing/2014/main" xmlns="" id="{9349B39A-AC01-4073-85EF-922E8DBA6C0A}"/>
              </a:ext>
            </a:extLst>
          </p:cNvPr>
          <p:cNvSpPr>
            <a:spLocks noGrp="1"/>
          </p:cNvSpPr>
          <p:nvPr>
            <p:ph type="pic" sz="quarter" idx="18"/>
          </p:nvPr>
        </p:nvSpPr>
        <p:spPr>
          <a:xfrm>
            <a:off x="457200" y="1517650"/>
            <a:ext cx="4178300" cy="4608513"/>
          </a:xfrm>
        </p:spPr>
        <p:txBody>
          <a:bodyPr/>
          <a:lstStyle/>
          <a:p>
            <a:endParaRPr lang="en-IN" dirty="0"/>
          </a:p>
        </p:txBody>
      </p:sp>
      <p:pic>
        <p:nvPicPr>
          <p:cNvPr id="11" name="Logo" descr="Pearson Logo"/>
          <p:cNvPicPr preferRelativeResize="0"/>
          <p:nvPr userDrawn="1"/>
        </p:nvPicPr>
        <p:blipFill rotWithShape="1">
          <a:blip r:embed="rId2">
            <a:alphaModFix/>
          </a:blip>
          <a:srcRect/>
          <a:stretch/>
        </p:blipFill>
        <p:spPr>
          <a:xfrm>
            <a:off x="443972" y="6429709"/>
            <a:ext cx="917999" cy="279914"/>
          </a:xfrm>
          <a:prstGeom prst="rect">
            <a:avLst/>
          </a:prstGeom>
          <a:noFill/>
          <a:ln>
            <a:noFill/>
          </a:ln>
        </p:spPr>
      </p:pic>
      <p:sp>
        <p:nvSpPr>
          <p:cNvPr id="4" name="Content Placeholder 3">
            <a:extLst>
              <a:ext uri="{FF2B5EF4-FFF2-40B4-BE49-F238E27FC236}">
                <a16:creationId xmlns:a16="http://schemas.microsoft.com/office/drawing/2014/main" xmlns="" id="{9DBB0BF2-5162-4B6F-B06E-C4298E10EA5D}"/>
              </a:ext>
            </a:extLst>
          </p:cNvPr>
          <p:cNvSpPr>
            <a:spLocks noGrp="1"/>
          </p:cNvSpPr>
          <p:nvPr>
            <p:ph sz="quarter" idx="19"/>
          </p:nvPr>
        </p:nvSpPr>
        <p:spPr>
          <a:xfrm>
            <a:off x="5145088" y="5110163"/>
            <a:ext cx="3541712" cy="674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942549855"/>
      </p:ext>
    </p:extLst>
  </p:cSld>
  <p:clrMapOvr>
    <a:masterClrMapping/>
  </p:clrMapOvr>
  <p:extLst>
    <p:ext uri="{DCECCB84-F9BA-43D5-87BE-67443E8EF086}">
      <p15:sldGuideLst xmlns:p15="http://schemas.microsoft.com/office/powerpoint/2012/main" xmlns=""/>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11/14/2023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dirty="0"/>
          </a:p>
        </p:txBody>
      </p:sp>
    </p:spTree>
    <p:extLst>
      <p:ext uri="{BB962C8B-B14F-4D97-AF65-F5344CB8AC3E}">
        <p14:creationId xmlns:p14="http://schemas.microsoft.com/office/powerpoint/2010/main" val="2809929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xmlns=""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xmlns=""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xmlns=""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Picture Placeholder 2"/>
          <p:cNvSpPr>
            <a:spLocks noGrp="1"/>
          </p:cNvSpPr>
          <p:nvPr>
            <p:ph type="pic" sz="quarter" idx="16"/>
          </p:nvPr>
        </p:nvSpPr>
        <p:spPr>
          <a:xfrm>
            <a:off x="1092200" y="2870200"/>
            <a:ext cx="6197600" cy="2108200"/>
          </a:xfrm>
        </p:spPr>
        <p:txBody>
          <a:bodyPr/>
          <a:lstStyle/>
          <a:p>
            <a:endParaRPr lang="en-IN" dirty="0"/>
          </a:p>
        </p:txBody>
      </p:sp>
    </p:spTree>
    <p:extLst>
      <p:ext uri="{BB962C8B-B14F-4D97-AF65-F5344CB8AC3E}">
        <p14:creationId xmlns:p14="http://schemas.microsoft.com/office/powerpoint/2010/main" val="5065982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xmlns=""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xmlns=""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xmlns=""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xmlns=""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714977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13729D-2F99-449C-9D22-A12B53B9F663}" type="datetimeFigureOut">
              <a:rPr lang="en-US" smtClean="0"/>
              <a:t>11/14/2023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9C376D-4FC4-4A59-AF52-DAB90E65700B}" type="slidenum">
              <a:rPr lang="en-US" smtClean="0"/>
              <a:t>‹#›</a:t>
            </a:fld>
            <a:endParaRPr lang="en-US"/>
          </a:p>
        </p:txBody>
      </p:sp>
    </p:spTree>
    <p:extLst>
      <p:ext uri="{BB962C8B-B14F-4D97-AF65-F5344CB8AC3E}">
        <p14:creationId xmlns:p14="http://schemas.microsoft.com/office/powerpoint/2010/main" val="31595848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5.xml"/><Relationship Id="rId1" Type="http://schemas.openxmlformats.org/officeDocument/2006/relationships/vmlDrawing" Target="../drawings/vmlDrawing1.vml"/><Relationship Id="rId5" Type="http://schemas.openxmlformats.org/officeDocument/2006/relationships/image" Target="../media/image4.w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5.xml"/><Relationship Id="rId1" Type="http://schemas.openxmlformats.org/officeDocument/2006/relationships/vmlDrawing" Target="../drawings/vmlDrawing2.vml"/><Relationship Id="rId5" Type="http://schemas.openxmlformats.org/officeDocument/2006/relationships/image" Target="../media/image5.wmf"/><Relationship Id="rId4" Type="http://schemas.openxmlformats.org/officeDocument/2006/relationships/oleObject" Target="../embeddings/oleObject2.bin"/></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51.xml"/><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4.xm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E98728-A241-43F4-95FF-6C49FEEA0911}"/>
              </a:ext>
            </a:extLst>
          </p:cNvPr>
          <p:cNvSpPr>
            <a:spLocks noGrp="1"/>
          </p:cNvSpPr>
          <p:nvPr>
            <p:ph type="title"/>
          </p:nvPr>
        </p:nvSpPr>
        <p:spPr>
          <a:xfrm>
            <a:off x="446314" y="150055"/>
            <a:ext cx="8229600" cy="622828"/>
          </a:xfrm>
        </p:spPr>
        <p:txBody>
          <a:bodyPr lIns="0" tIns="0" rIns="0" bIns="0" anchor="ctr"/>
          <a:lstStyle/>
          <a:p>
            <a:r>
              <a:rPr lang="en-US" dirty="0"/>
              <a:t>Becker’s World of the Cell</a:t>
            </a:r>
          </a:p>
        </p:txBody>
      </p:sp>
      <p:sp>
        <p:nvSpPr>
          <p:cNvPr id="3" name="Content Placeholder 2">
            <a:extLst>
              <a:ext uri="{FF2B5EF4-FFF2-40B4-BE49-F238E27FC236}">
                <a16:creationId xmlns:a16="http://schemas.microsoft.com/office/drawing/2014/main" xmlns="" id="{ABE18F80-D4FC-4D8F-B2BD-E7BEE7E012B5}"/>
              </a:ext>
            </a:extLst>
          </p:cNvPr>
          <p:cNvSpPr>
            <a:spLocks noGrp="1"/>
          </p:cNvSpPr>
          <p:nvPr>
            <p:ph type="body" idx="1"/>
          </p:nvPr>
        </p:nvSpPr>
        <p:spPr>
          <a:xfrm>
            <a:off x="446314" y="886872"/>
            <a:ext cx="8229600" cy="359857"/>
          </a:xfrm>
        </p:spPr>
        <p:txBody>
          <a:bodyPr lIns="0" tIns="0" rIns="0" bIns="0" anchor="ctr"/>
          <a:lstStyle/>
          <a:p>
            <a:r>
              <a:rPr lang="en-US" dirty="0">
                <a:solidFill>
                  <a:schemeClr val="tx2"/>
                </a:solidFill>
              </a:rPr>
              <a:t>Tenth Edition, Global Edition</a:t>
            </a:r>
          </a:p>
        </p:txBody>
      </p:sp>
      <p:sp>
        <p:nvSpPr>
          <p:cNvPr id="5" name="Content Placeholder 4">
            <a:extLst>
              <a:ext uri="{FF2B5EF4-FFF2-40B4-BE49-F238E27FC236}">
                <a16:creationId xmlns:a16="http://schemas.microsoft.com/office/drawing/2014/main" xmlns="" id="{2D222376-7AD7-4443-B67A-120BE12F4DDB}"/>
              </a:ext>
            </a:extLst>
          </p:cNvPr>
          <p:cNvSpPr>
            <a:spLocks noGrp="1"/>
          </p:cNvSpPr>
          <p:nvPr>
            <p:ph sz="quarter" idx="14"/>
          </p:nvPr>
        </p:nvSpPr>
        <p:spPr>
          <a:xfrm>
            <a:off x="4751388" y="2704810"/>
            <a:ext cx="3891870" cy="632859"/>
          </a:xfrm>
        </p:spPr>
        <p:txBody>
          <a:bodyPr lIns="0" tIns="0" rIns="0" bIns="0" anchor="ctr"/>
          <a:lstStyle/>
          <a:p>
            <a:pPr marL="0"/>
            <a:r>
              <a:rPr lang="en-US" dirty="0"/>
              <a:t>Chapter 12</a:t>
            </a:r>
          </a:p>
        </p:txBody>
      </p:sp>
      <p:sp>
        <p:nvSpPr>
          <p:cNvPr id="6" name="Content Placeholder 5">
            <a:extLst>
              <a:ext uri="{FF2B5EF4-FFF2-40B4-BE49-F238E27FC236}">
                <a16:creationId xmlns:a16="http://schemas.microsoft.com/office/drawing/2014/main" xmlns="" id="{82FD4EC9-4778-4E2F-B136-2A176CA2BA69}"/>
              </a:ext>
            </a:extLst>
          </p:cNvPr>
          <p:cNvSpPr>
            <a:spLocks noGrp="1"/>
          </p:cNvSpPr>
          <p:nvPr>
            <p:ph sz="quarter" idx="15"/>
          </p:nvPr>
        </p:nvSpPr>
        <p:spPr>
          <a:xfrm>
            <a:off x="4751388" y="3418277"/>
            <a:ext cx="3891868" cy="830530"/>
          </a:xfrm>
        </p:spPr>
        <p:txBody>
          <a:bodyPr lIns="0" tIns="0" rIns="0" bIns="0" anchor="ctr"/>
          <a:lstStyle/>
          <a:p>
            <a:pPr marL="0"/>
            <a:r>
              <a:rPr lang="en-US" dirty="0"/>
              <a:t>The Endomembrane System and Protein Sorting</a:t>
            </a:r>
          </a:p>
        </p:txBody>
      </p:sp>
      <p:sp>
        <p:nvSpPr>
          <p:cNvPr id="9" name="Content Placeholder 8">
            <a:extLst>
              <a:ext uri="{FF2B5EF4-FFF2-40B4-BE49-F238E27FC236}">
                <a16:creationId xmlns:a16="http://schemas.microsoft.com/office/drawing/2014/main" xmlns="" id="{7D27DE78-5C56-452E-9384-36BEE8BECDFE}"/>
              </a:ext>
            </a:extLst>
          </p:cNvPr>
          <p:cNvSpPr>
            <a:spLocks noGrp="1"/>
          </p:cNvSpPr>
          <p:nvPr>
            <p:ph sz="quarter" idx="19"/>
          </p:nvPr>
        </p:nvSpPr>
        <p:spPr>
          <a:xfrm>
            <a:off x="4882019" y="5549712"/>
            <a:ext cx="3935412" cy="557593"/>
          </a:xfrm>
        </p:spPr>
        <p:txBody>
          <a:bodyPr anchor="ctr"/>
          <a:lstStyle/>
          <a:p>
            <a:pPr marL="0" indent="0">
              <a:buNone/>
            </a:pPr>
            <a:r>
              <a:rPr lang="en-US" sz="1400" dirty="0">
                <a:latin typeface="+mn-lt"/>
              </a:rPr>
              <a:t>Lectures by Anna </a:t>
            </a:r>
            <a:r>
              <a:rPr lang="en-US" sz="1400" dirty="0" err="1">
                <a:latin typeface="+mn-lt"/>
              </a:rPr>
              <a:t>Hegsted</a:t>
            </a:r>
            <a:r>
              <a:rPr lang="en-US" sz="1400" dirty="0">
                <a:latin typeface="+mn-lt"/>
              </a:rPr>
              <a:t>, Simon Fraser University</a:t>
            </a:r>
            <a:endParaRPr lang="en-IN" sz="1400" dirty="0">
              <a:latin typeface="+mn-lt"/>
            </a:endParaRPr>
          </a:p>
        </p:txBody>
      </p:sp>
      <p:sp>
        <p:nvSpPr>
          <p:cNvPr id="8" name="Content Placeholder 7">
            <a:extLst>
              <a:ext uri="{FF2B5EF4-FFF2-40B4-BE49-F238E27FC236}">
                <a16:creationId xmlns:a16="http://schemas.microsoft.com/office/drawing/2014/main" xmlns="" id="{C8E88D28-1A9F-4FC4-946F-10B4629D1438}"/>
              </a:ext>
            </a:extLst>
          </p:cNvPr>
          <p:cNvSpPr>
            <a:spLocks noGrp="1"/>
          </p:cNvSpPr>
          <p:nvPr>
            <p:ph sz="quarter" idx="17"/>
          </p:nvPr>
        </p:nvSpPr>
        <p:spPr/>
        <p:txBody>
          <a:bodyPr>
            <a:normAutofit fontScale="92500" lnSpcReduction="20000"/>
          </a:bodyPr>
          <a:lstStyle/>
          <a:p>
            <a:r>
              <a:rPr lang="en-US" altLang="en-US" sz="1200" b="0" dirty="0">
                <a:latin typeface="Verdana"/>
                <a:ea typeface="Verdana" panose="020B0604030504040204" pitchFamily="34" charset="0"/>
                <a:cs typeface="Verdana" panose="020B0604030504040204" pitchFamily="34" charset="0"/>
              </a:rPr>
              <a:t>Copyright © 2022 Pearson Education Ltd. All Rights Reserved.</a:t>
            </a:r>
          </a:p>
        </p:txBody>
      </p:sp>
      <p:pic>
        <p:nvPicPr>
          <p:cNvPr id="11" name="Picture 10" descr="Front Cover: Becker's World of the Cell, Tenth Edition, Global Edition, by Jeff Hardin, James P Lodolce">
            <a:extLst>
              <a:ext uri="{FF2B5EF4-FFF2-40B4-BE49-F238E27FC236}">
                <a16:creationId xmlns:a16="http://schemas.microsoft.com/office/drawing/2014/main" xmlns="" id="{D18162F4-721A-41EB-BBBA-A0361B91311A}"/>
              </a:ext>
            </a:extLst>
          </p:cNvPr>
          <p:cNvPicPr>
            <a:picLocks noChangeAspect="1"/>
          </p:cNvPicPr>
          <p:nvPr/>
        </p:nvPicPr>
        <p:blipFill>
          <a:blip r:embed="rId3"/>
          <a:stretch>
            <a:fillRect/>
          </a:stretch>
        </p:blipFill>
        <p:spPr>
          <a:xfrm>
            <a:off x="500742" y="1368649"/>
            <a:ext cx="3926181" cy="4873827"/>
          </a:xfrm>
          <a:prstGeom prst="rect">
            <a:avLst/>
          </a:prstGeom>
        </p:spPr>
      </p:pic>
    </p:spTree>
    <p:extLst>
      <p:ext uri="{BB962C8B-B14F-4D97-AF65-F5344CB8AC3E}">
        <p14:creationId xmlns:p14="http://schemas.microsoft.com/office/powerpoint/2010/main" val="2034014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The Endomembrane System</a:t>
            </a:r>
            <a:r>
              <a:rPr lang="en-US" sz="3600" dirty="0">
                <a:solidFill>
                  <a:srgbClr val="FF0000"/>
                </a:solidFill>
              </a:rPr>
              <a:t> </a:t>
            </a:r>
            <a:r>
              <a:rPr lang="en-US" sz="2800" dirty="0">
                <a:latin typeface="+mj-lt"/>
              </a:rPr>
              <a:t>(1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5"/>
            <a:ext cx="8301884" cy="2039020"/>
          </a:xfrm>
        </p:spPr>
        <p:txBody>
          <a:bodyPr lIns="0" tIns="0" rIns="0" bIns="0">
            <a:spAutoFit/>
          </a:bodyPr>
          <a:lstStyle/>
          <a:p>
            <a:pPr marL="342900" indent="-342900"/>
            <a:r>
              <a:rPr lang="en-US" sz="2400" dirty="0"/>
              <a:t>An appreciation of eukaryotic cells depends on understanding the role of intercellular membranes and the compartmentalization of function within </a:t>
            </a:r>
            <a:r>
              <a:rPr lang="en-US" sz="2400" i="1" dirty="0"/>
              <a:t>organelles</a:t>
            </a:r>
            <a:r>
              <a:rPr lang="en-US" sz="2400" i="1" dirty="0">
                <a:solidFill>
                  <a:schemeClr val="tx1"/>
                </a:solidFill>
              </a:rPr>
              <a:t>.</a:t>
            </a:r>
          </a:p>
          <a:p>
            <a:pPr marL="342900" indent="-342900"/>
            <a:r>
              <a:rPr lang="en-US" sz="2400" dirty="0"/>
              <a:t>Movement of lipids and proteins between organelles (called </a:t>
            </a:r>
            <a:r>
              <a:rPr lang="en-US" sz="2400" i="1" dirty="0"/>
              <a:t>trafficking</a:t>
            </a:r>
            <a:r>
              <a:rPr lang="en-US" sz="2400" dirty="0"/>
              <a:t>) must be tightly regulated</a:t>
            </a:r>
            <a:r>
              <a:rPr lang="en-US" sz="2400" dirty="0">
                <a:solidFill>
                  <a:schemeClr val="tx1"/>
                </a:solidFill>
              </a:rPr>
              <a:t>.</a:t>
            </a:r>
          </a:p>
        </p:txBody>
      </p:sp>
    </p:spTree>
    <p:extLst>
      <p:ext uri="{BB962C8B-B14F-4D97-AF65-F5344CB8AC3E}">
        <p14:creationId xmlns:p14="http://schemas.microsoft.com/office/powerpoint/2010/main" val="3700557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65676"/>
            <a:ext cx="8263784" cy="1107996"/>
          </a:xfrm>
        </p:spPr>
        <p:txBody>
          <a:bodyPr lIns="0" tIns="0" rIns="0" bIns="0" anchor="ctr">
            <a:spAutoFit/>
          </a:bodyPr>
          <a:lstStyle/>
          <a:p>
            <a:r>
              <a:rPr lang="en-US" sz="3600" dirty="0">
                <a:latin typeface="+mj-lt"/>
              </a:rPr>
              <a:t>Components of the Endomembrane System</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59542"/>
            <a:ext cx="8263784" cy="3162404"/>
          </a:xfrm>
        </p:spPr>
        <p:txBody>
          <a:bodyPr lIns="0" tIns="0" rIns="0" bIns="0">
            <a:spAutoFit/>
          </a:bodyPr>
          <a:lstStyle/>
          <a:p>
            <a:pPr marL="342900" indent="-342900"/>
            <a:r>
              <a:rPr lang="en-US" sz="2400" spc="-1" dirty="0">
                <a:solidFill>
                  <a:schemeClr val="tx1"/>
                </a:solidFill>
                <a:ea typeface="Times New Roman"/>
              </a:rPr>
              <a:t>The </a:t>
            </a:r>
            <a:r>
              <a:rPr lang="en-US" sz="2400" i="1" spc="-1" dirty="0">
                <a:solidFill>
                  <a:schemeClr val="tx1"/>
                </a:solidFill>
                <a:ea typeface="Times New Roman"/>
              </a:rPr>
              <a:t>endoplasmic reticulum</a:t>
            </a:r>
            <a:r>
              <a:rPr lang="en-US" sz="2400" spc="-1" dirty="0">
                <a:solidFill>
                  <a:schemeClr val="tx1"/>
                </a:solidFill>
                <a:ea typeface="Times New Roman"/>
              </a:rPr>
              <a:t> and the </a:t>
            </a:r>
            <a:r>
              <a:rPr lang="en-US" sz="2400" i="1" spc="-1" dirty="0">
                <a:solidFill>
                  <a:schemeClr val="tx1"/>
                </a:solidFill>
                <a:ea typeface="Times New Roman"/>
              </a:rPr>
              <a:t>Golgi complex</a:t>
            </a:r>
            <a:r>
              <a:rPr lang="en-US" sz="2400" spc="-1" dirty="0">
                <a:solidFill>
                  <a:schemeClr val="tx1"/>
                </a:solidFill>
                <a:ea typeface="Times New Roman"/>
              </a:rPr>
              <a:t> are sites for protein synthesis, processing, and sorting.</a:t>
            </a:r>
          </a:p>
          <a:p>
            <a:pPr marL="342900" indent="-342900"/>
            <a:r>
              <a:rPr lang="en-US" sz="2400" i="1" spc="-1" dirty="0">
                <a:solidFill>
                  <a:schemeClr val="tx1"/>
                </a:solidFill>
                <a:ea typeface="Times New Roman"/>
              </a:rPr>
              <a:t>Endosomes</a:t>
            </a:r>
            <a:r>
              <a:rPr lang="en-US" sz="2400" spc="-1" dirty="0">
                <a:solidFill>
                  <a:schemeClr val="tx1"/>
                </a:solidFill>
                <a:ea typeface="Times New Roman"/>
              </a:rPr>
              <a:t> carry and sort material brought into </a:t>
            </a:r>
            <a:br>
              <a:rPr lang="en-US" sz="2400" spc="-1" dirty="0">
                <a:solidFill>
                  <a:schemeClr val="tx1"/>
                </a:solidFill>
                <a:ea typeface="Times New Roman"/>
              </a:rPr>
            </a:br>
            <a:r>
              <a:rPr lang="en-US" sz="2400" spc="-1" dirty="0">
                <a:solidFill>
                  <a:schemeClr val="tx1"/>
                </a:solidFill>
                <a:ea typeface="Times New Roman"/>
              </a:rPr>
              <a:t>the cell.</a:t>
            </a:r>
          </a:p>
          <a:p>
            <a:pPr marL="342900" indent="-342900"/>
            <a:r>
              <a:rPr lang="en-US" sz="2400" i="1" spc="-1" dirty="0">
                <a:solidFill>
                  <a:schemeClr val="tx1"/>
                </a:solidFill>
                <a:ea typeface="Times New Roman"/>
              </a:rPr>
              <a:t>Lysosomes</a:t>
            </a:r>
            <a:r>
              <a:rPr lang="en-US" sz="2400" spc="-1" dirty="0">
                <a:solidFill>
                  <a:schemeClr val="tx1"/>
                </a:solidFill>
                <a:ea typeface="Times New Roman"/>
              </a:rPr>
              <a:t> digest ingested material and unneeded cellular components.</a:t>
            </a:r>
          </a:p>
          <a:p>
            <a:pPr marL="342900" indent="-342900"/>
            <a:r>
              <a:rPr lang="en-US" sz="2400" spc="-1" dirty="0">
                <a:solidFill>
                  <a:schemeClr val="tx1"/>
                </a:solidFill>
                <a:ea typeface="Times New Roman"/>
              </a:rPr>
              <a:t>These form the </a:t>
            </a:r>
            <a:r>
              <a:rPr lang="en-US" sz="2400" b="1" spc="-1" dirty="0">
                <a:solidFill>
                  <a:schemeClr val="tx1"/>
                </a:solidFill>
                <a:ea typeface="Times New Roman"/>
              </a:rPr>
              <a:t>endomembrane</a:t>
            </a:r>
            <a:r>
              <a:rPr lang="en-US" sz="2400" spc="-1" dirty="0">
                <a:solidFill>
                  <a:schemeClr val="tx1"/>
                </a:solidFill>
                <a:ea typeface="Times New Roman"/>
              </a:rPr>
              <a:t> </a:t>
            </a:r>
            <a:r>
              <a:rPr lang="en-US" sz="2400" b="1" spc="-1" dirty="0">
                <a:solidFill>
                  <a:schemeClr val="tx1"/>
                </a:solidFill>
                <a:ea typeface="Times New Roman"/>
              </a:rPr>
              <a:t>system.</a:t>
            </a:r>
          </a:p>
        </p:txBody>
      </p:sp>
    </p:spTree>
    <p:extLst>
      <p:ext uri="{BB962C8B-B14F-4D97-AF65-F5344CB8AC3E}">
        <p14:creationId xmlns:p14="http://schemas.microsoft.com/office/powerpoint/2010/main" val="819269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5" y="112127"/>
            <a:ext cx="8247357" cy="695698"/>
          </a:xfrm>
        </p:spPr>
        <p:txBody>
          <a:bodyPr lIns="0" tIns="0" rIns="0" bIns="0" anchor="ctr"/>
          <a:lstStyle/>
          <a:p>
            <a:r>
              <a:rPr lang="en-US" dirty="0"/>
              <a:t>The Endomembrane System </a:t>
            </a:r>
            <a:r>
              <a:rPr lang="en-US" sz="2800" dirty="0"/>
              <a:t>(2 of 2)</a:t>
            </a:r>
          </a:p>
        </p:txBody>
      </p:sp>
      <p:sp>
        <p:nvSpPr>
          <p:cNvPr id="6" name="Content Placeholder 5"/>
          <p:cNvSpPr>
            <a:spLocks noGrp="1"/>
          </p:cNvSpPr>
          <p:nvPr>
            <p:ph sz="quarter" idx="15"/>
          </p:nvPr>
        </p:nvSpPr>
        <p:spPr>
          <a:xfrm>
            <a:off x="421689" y="1061962"/>
            <a:ext cx="8256234" cy="369332"/>
          </a:xfrm>
        </p:spPr>
        <p:txBody>
          <a:bodyPr lIns="0" tIns="0" rIns="0" bIns="0">
            <a:spAutoFit/>
          </a:bodyPr>
          <a:lstStyle/>
          <a:p>
            <a:pPr marL="0" indent="0">
              <a:buNone/>
            </a:pPr>
            <a:r>
              <a:rPr lang="en-US" sz="2400" b="1" dirty="0"/>
              <a:t>Figure 12.1 </a:t>
            </a:r>
            <a:r>
              <a:rPr lang="en-US" sz="2400" dirty="0"/>
              <a:t>The Endomembrane System. </a:t>
            </a:r>
          </a:p>
        </p:txBody>
      </p:sp>
      <p:pic>
        <p:nvPicPr>
          <p:cNvPr id="5" name="Picture Placeholder 4" descr="An illustration of the endomembrane system shows a cell surrounded by the plasma membrane. The inside of the cell is made of cytosol and the cell components are suspended in it.&#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t="1382" b="4192"/>
          <a:stretch/>
        </p:blipFill>
        <p:spPr>
          <a:xfrm>
            <a:off x="1634807" y="1700143"/>
            <a:ext cx="5874386" cy="4519875"/>
          </a:xfrm>
        </p:spPr>
      </p:pic>
    </p:spTree>
    <p:extLst>
      <p:ext uri="{BB962C8B-B14F-4D97-AF65-F5344CB8AC3E}">
        <p14:creationId xmlns:p14="http://schemas.microsoft.com/office/powerpoint/2010/main" val="3398679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99897"/>
            <a:ext cx="8263784" cy="523220"/>
          </a:xfrm>
        </p:spPr>
        <p:txBody>
          <a:bodyPr lIns="0" tIns="0" rIns="0" bIns="0" anchor="ctr">
            <a:spAutoFit/>
          </a:bodyPr>
          <a:lstStyle/>
          <a:p>
            <a:r>
              <a:rPr lang="en-US" dirty="0">
                <a:latin typeface="+mj-lt"/>
              </a:rPr>
              <a:t>12.1 The Endoplasmic Reticulum</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7566"/>
            <a:ext cx="8263784" cy="2408352"/>
          </a:xfrm>
        </p:spPr>
        <p:txBody>
          <a:bodyPr lIns="0" tIns="0" rIns="0" bIns="0">
            <a:spAutoFit/>
          </a:bodyPr>
          <a:lstStyle/>
          <a:p>
            <a:pPr marL="342900" indent="-342900"/>
            <a:r>
              <a:rPr lang="en-US" sz="2400" dirty="0"/>
              <a:t>The </a:t>
            </a:r>
            <a:r>
              <a:rPr lang="en-US" sz="2400" b="1" dirty="0"/>
              <a:t>endoplasmic</a:t>
            </a:r>
            <a:r>
              <a:rPr lang="en-US" sz="2400" dirty="0"/>
              <a:t> </a:t>
            </a:r>
            <a:r>
              <a:rPr lang="en-US" sz="2400" b="1" dirty="0"/>
              <a:t>reticulum</a:t>
            </a:r>
            <a:r>
              <a:rPr lang="en-US" sz="2400" dirty="0"/>
              <a:t> </a:t>
            </a:r>
            <a:r>
              <a:rPr lang="en-US" sz="2400" b="1" dirty="0">
                <a:solidFill>
                  <a:schemeClr val="tx1"/>
                </a:solidFill>
              </a:rPr>
              <a:t>(</a:t>
            </a:r>
            <a:r>
              <a:rPr lang="en-US" sz="2400" b="1" spc="-300" dirty="0"/>
              <a:t>E </a:t>
            </a:r>
            <a:r>
              <a:rPr lang="en-US" sz="2400" b="1" dirty="0"/>
              <a:t>R</a:t>
            </a:r>
            <a:r>
              <a:rPr lang="en-US" sz="2400" b="1" dirty="0">
                <a:solidFill>
                  <a:schemeClr val="tx1"/>
                </a:solidFill>
              </a:rPr>
              <a:t>)</a:t>
            </a:r>
            <a:r>
              <a:rPr lang="en-US" sz="2400" dirty="0"/>
              <a:t> is a continuous network of flattened sacs, tubules, and vesicles through the cytoplasm of a eukaryotic cell</a:t>
            </a:r>
            <a:r>
              <a:rPr lang="en-US" sz="2400" dirty="0">
                <a:solidFill>
                  <a:schemeClr val="tx1"/>
                </a:solidFill>
              </a:rPr>
              <a:t>.</a:t>
            </a:r>
          </a:p>
          <a:p>
            <a:pPr marL="342900" indent="-342900"/>
            <a:r>
              <a:rPr lang="en-US" sz="2400" dirty="0"/>
              <a:t>The membrane-bound sacs are called </a:t>
            </a:r>
            <a:r>
              <a:rPr lang="en-US" sz="2400" b="1" spc="-300" dirty="0"/>
              <a:t>E</a:t>
            </a:r>
            <a:r>
              <a:rPr lang="en-US" sz="2400" spc="-300" dirty="0"/>
              <a:t> </a:t>
            </a:r>
            <a:r>
              <a:rPr lang="en-US" sz="2400" b="1" dirty="0"/>
              <a:t>R</a:t>
            </a:r>
            <a:r>
              <a:rPr lang="en-US" sz="2400" dirty="0"/>
              <a:t> </a:t>
            </a:r>
            <a:r>
              <a:rPr lang="en-US" sz="2400" b="1" dirty="0"/>
              <a:t>cisternae</a:t>
            </a:r>
            <a:r>
              <a:rPr lang="en-US" sz="2400" dirty="0"/>
              <a:t> (singular: </a:t>
            </a:r>
            <a:r>
              <a:rPr lang="en-US" sz="2400" b="1" spc="-300" dirty="0"/>
              <a:t>E </a:t>
            </a:r>
            <a:r>
              <a:rPr lang="en-US" sz="2400" b="1" dirty="0"/>
              <a:t>R</a:t>
            </a:r>
            <a:r>
              <a:rPr lang="en-US" sz="2400" dirty="0"/>
              <a:t> </a:t>
            </a:r>
            <a:r>
              <a:rPr lang="en-US" sz="2400" b="1" dirty="0"/>
              <a:t>cisterna</a:t>
            </a:r>
            <a:r>
              <a:rPr lang="en-US" sz="2400" dirty="0"/>
              <a:t>), and the space inside them is the </a:t>
            </a:r>
            <a:r>
              <a:rPr lang="en-US" sz="2400" b="1" dirty="0"/>
              <a:t>ER</a:t>
            </a:r>
            <a:r>
              <a:rPr lang="en-US" sz="2400" dirty="0"/>
              <a:t> </a:t>
            </a:r>
            <a:r>
              <a:rPr lang="en-US" sz="2400" b="1" dirty="0"/>
              <a:t>lumen</a:t>
            </a:r>
            <a:r>
              <a:rPr lang="en-US" sz="2400" b="1" dirty="0">
                <a:solidFill>
                  <a:schemeClr val="tx1"/>
                </a:solidFill>
              </a:rPr>
              <a:t>.</a:t>
            </a:r>
          </a:p>
        </p:txBody>
      </p:sp>
    </p:spTree>
    <p:extLst>
      <p:ext uri="{BB962C8B-B14F-4D97-AF65-F5344CB8AC3E}">
        <p14:creationId xmlns:p14="http://schemas.microsoft.com/office/powerpoint/2010/main" val="3611785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4276"/>
            <a:ext cx="8293694" cy="553998"/>
          </a:xfrm>
        </p:spPr>
        <p:txBody>
          <a:bodyPr lIns="0" tIns="0" rIns="0" bIns="0" anchor="ctr">
            <a:spAutoFit/>
          </a:bodyPr>
          <a:lstStyle/>
          <a:p>
            <a:r>
              <a:rPr lang="en-US" sz="3600" dirty="0">
                <a:latin typeface="+mj-lt"/>
              </a:rPr>
              <a:t>Functions of the </a:t>
            </a:r>
            <a:r>
              <a:rPr lang="en-US" sz="3600" spc="-500" dirty="0">
                <a:latin typeface="+mj-lt"/>
              </a:rPr>
              <a:t>E </a:t>
            </a:r>
            <a:r>
              <a:rPr lang="en-US" sz="3600" dirty="0">
                <a:latin typeface="+mj-lt"/>
              </a:rPr>
              <a:t>R</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4206"/>
            <a:ext cx="8293694" cy="2562240"/>
          </a:xfrm>
        </p:spPr>
        <p:txBody>
          <a:bodyPr lIns="0" tIns="0" rIns="0" bIns="0">
            <a:spAutoFit/>
          </a:bodyPr>
          <a:lstStyle/>
          <a:p>
            <a:pPr marL="342900" indent="-342900"/>
            <a:r>
              <a:rPr lang="en-US" sz="2400" dirty="0"/>
              <a:t>The enzymes associated with the </a:t>
            </a:r>
            <a:r>
              <a:rPr lang="en-US" sz="2400" spc="-300" dirty="0"/>
              <a:t>E </a:t>
            </a:r>
            <a:r>
              <a:rPr lang="en-US" sz="2400" dirty="0"/>
              <a:t>R are involved in bio synthesis of proteins for</a:t>
            </a:r>
            <a:r>
              <a:rPr lang="en-US" sz="2400" dirty="0">
                <a:solidFill>
                  <a:schemeClr val="tx1"/>
                </a:solidFill>
              </a:rPr>
              <a:t>:</a:t>
            </a:r>
          </a:p>
          <a:p>
            <a:pPr marL="829818" lvl="1" indent="-342900"/>
            <a:r>
              <a:rPr lang="en-US" sz="2400" dirty="0"/>
              <a:t>Incorporation into the plasma membrane or into the organelles of the endomembrane system</a:t>
            </a:r>
          </a:p>
          <a:p>
            <a:pPr marL="829818" lvl="1" indent="-342900"/>
            <a:r>
              <a:rPr lang="en-US" sz="2400" dirty="0"/>
              <a:t>Export from the cell</a:t>
            </a:r>
          </a:p>
          <a:p>
            <a:pPr marL="342900" indent="-342900"/>
            <a:r>
              <a:rPr lang="en-US" sz="2400" dirty="0"/>
              <a:t>The </a:t>
            </a:r>
            <a:r>
              <a:rPr lang="en-US" sz="2400" spc="-300" dirty="0"/>
              <a:t>E </a:t>
            </a:r>
            <a:r>
              <a:rPr lang="en-US" sz="2400" dirty="0"/>
              <a:t>R is also involved in lipid synthesis</a:t>
            </a:r>
            <a:r>
              <a:rPr lang="en-US" sz="2400" dirty="0">
                <a:solidFill>
                  <a:schemeClr val="tx1"/>
                </a:solidFill>
              </a:rPr>
              <a:t>.</a:t>
            </a:r>
          </a:p>
        </p:txBody>
      </p:sp>
    </p:spTree>
    <p:extLst>
      <p:ext uri="{BB962C8B-B14F-4D97-AF65-F5344CB8AC3E}">
        <p14:creationId xmlns:p14="http://schemas.microsoft.com/office/powerpoint/2010/main" val="2446944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2512"/>
            <a:ext cx="8302240" cy="1661993"/>
          </a:xfrm>
        </p:spPr>
        <p:txBody>
          <a:bodyPr lIns="0" tIns="0" rIns="0" bIns="0" anchor="ctr">
            <a:spAutoFit/>
          </a:bodyPr>
          <a:lstStyle/>
          <a:p>
            <a:r>
              <a:rPr lang="en-US" sz="3600" dirty="0">
                <a:latin typeface="+mj-lt"/>
              </a:rPr>
              <a:t>The Two Basic Kinds of Endoplasmic Reticulum Differ in Structure and Function</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061115"/>
            <a:ext cx="8302240" cy="3708708"/>
          </a:xfrm>
          <a:noFill/>
          <a:ln>
            <a:noFill/>
          </a:ln>
        </p:spPr>
        <p:txBody>
          <a:bodyPr lIns="0" tIns="0" rIns="0" bIns="0" anchor="t" anchorCtr="0">
            <a:spAutoFit/>
          </a:bodyPr>
          <a:lstStyle/>
          <a:p>
            <a:pPr marL="342900" indent="-342900"/>
            <a:r>
              <a:rPr lang="en-US" sz="2400" b="1" dirty="0"/>
              <a:t>Rough</a:t>
            </a:r>
            <a:r>
              <a:rPr lang="en-US" sz="2400" dirty="0"/>
              <a:t> </a:t>
            </a:r>
            <a:r>
              <a:rPr lang="en-US" sz="2400" b="1" dirty="0"/>
              <a:t>endoplasmic</a:t>
            </a:r>
            <a:r>
              <a:rPr lang="en-US" sz="2400" dirty="0"/>
              <a:t> </a:t>
            </a:r>
            <a:r>
              <a:rPr lang="en-US" sz="2400" b="1" dirty="0"/>
              <a:t>reticulum</a:t>
            </a:r>
            <a:r>
              <a:rPr lang="en-US" sz="2400" dirty="0"/>
              <a:t> </a:t>
            </a:r>
            <a:r>
              <a:rPr lang="en-US" sz="2400" b="1" dirty="0">
                <a:solidFill>
                  <a:schemeClr val="tx1"/>
                </a:solidFill>
              </a:rPr>
              <a:t>(</a:t>
            </a:r>
            <a:r>
              <a:rPr lang="en-US" sz="2400" b="1" dirty="0"/>
              <a:t>rough</a:t>
            </a:r>
            <a:r>
              <a:rPr lang="en-US" sz="2400" dirty="0"/>
              <a:t> </a:t>
            </a:r>
            <a:r>
              <a:rPr lang="en-US" sz="2400" b="1" spc="-300" dirty="0"/>
              <a:t>E </a:t>
            </a:r>
            <a:r>
              <a:rPr lang="en-US" sz="2400" b="1" dirty="0"/>
              <a:t>R</a:t>
            </a:r>
            <a:r>
              <a:rPr lang="en-US" sz="2400" b="1" dirty="0">
                <a:solidFill>
                  <a:schemeClr val="tx1"/>
                </a:solidFill>
              </a:rPr>
              <a:t>)</a:t>
            </a:r>
            <a:r>
              <a:rPr lang="en-US" sz="2400" dirty="0"/>
              <a:t> is characterized by ribosomes on the cytosolic side of the membrane</a:t>
            </a:r>
            <a:r>
              <a:rPr lang="en-US" sz="2400" dirty="0">
                <a:solidFill>
                  <a:schemeClr val="tx1"/>
                </a:solidFill>
              </a:rPr>
              <a:t>.</a:t>
            </a:r>
          </a:p>
          <a:p>
            <a:pPr marL="342900" indent="-342900"/>
            <a:r>
              <a:rPr lang="en-US" sz="2400" dirty="0"/>
              <a:t>A subdomain of rough </a:t>
            </a:r>
            <a:r>
              <a:rPr lang="en-US" sz="2400" spc="-300" dirty="0"/>
              <a:t>E </a:t>
            </a:r>
            <a:r>
              <a:rPr lang="en-US" sz="2400" dirty="0"/>
              <a:t>R, the </a:t>
            </a:r>
            <a:r>
              <a:rPr lang="en-US" sz="2400" i="1" dirty="0"/>
              <a:t>transitional</a:t>
            </a:r>
            <a:r>
              <a:rPr lang="en-US" sz="2400" dirty="0"/>
              <a:t> </a:t>
            </a:r>
            <a:r>
              <a:rPr lang="en-US" sz="2400" i="1" dirty="0"/>
              <a:t>elements</a:t>
            </a:r>
            <a:r>
              <a:rPr lang="en-US" sz="2400" dirty="0"/>
              <a:t> (</a:t>
            </a:r>
            <a:r>
              <a:rPr lang="en-US" sz="2400" i="1" spc="-300" dirty="0"/>
              <a:t>T </a:t>
            </a:r>
            <a:r>
              <a:rPr lang="en-US" sz="2400" i="1" dirty="0"/>
              <a:t>Es</a:t>
            </a:r>
            <a:r>
              <a:rPr lang="en-US" sz="2400" dirty="0"/>
              <a:t>)</a:t>
            </a:r>
            <a:r>
              <a:rPr lang="en-US" sz="2400" dirty="0">
                <a:solidFill>
                  <a:schemeClr val="tx1"/>
                </a:solidFill>
              </a:rPr>
              <a:t>,</a:t>
            </a:r>
            <a:r>
              <a:rPr lang="en-US" sz="2400" dirty="0"/>
              <a:t> play a role in the formation of </a:t>
            </a:r>
            <a:r>
              <a:rPr lang="en-US" sz="2400" b="1" dirty="0"/>
              <a:t>transition</a:t>
            </a:r>
            <a:r>
              <a:rPr lang="en-US" sz="2400" dirty="0"/>
              <a:t> </a:t>
            </a:r>
            <a:r>
              <a:rPr lang="en-US" sz="2400" b="1" dirty="0"/>
              <a:t>vesicles</a:t>
            </a:r>
            <a:r>
              <a:rPr lang="en-US" sz="2400" dirty="0"/>
              <a:t> that shuttle lipids and proteins from the </a:t>
            </a:r>
            <a:r>
              <a:rPr lang="en-US" sz="2400" spc="-300" dirty="0"/>
              <a:t>E </a:t>
            </a:r>
            <a:r>
              <a:rPr lang="en-US" sz="2400" dirty="0"/>
              <a:t>R to the Golgi complex</a:t>
            </a:r>
            <a:r>
              <a:rPr lang="en-US" sz="2400" dirty="0">
                <a:solidFill>
                  <a:schemeClr val="tx1"/>
                </a:solidFill>
              </a:rPr>
              <a:t>.</a:t>
            </a:r>
          </a:p>
          <a:p>
            <a:pPr marL="342900" indent="-342900"/>
            <a:r>
              <a:rPr lang="en-US" sz="2400" b="1" dirty="0"/>
              <a:t>Smooth </a:t>
            </a:r>
            <a:r>
              <a:rPr lang="en-US" sz="2400" b="1" spc="-300" dirty="0"/>
              <a:t>E </a:t>
            </a:r>
            <a:r>
              <a:rPr lang="en-US" sz="2400" b="1" dirty="0"/>
              <a:t>R</a:t>
            </a:r>
            <a:r>
              <a:rPr lang="en-US" sz="2400" dirty="0"/>
              <a:t> lacks ribosomes and has other roles in the cell involving the processing and storage of nonproteins</a:t>
            </a:r>
            <a:r>
              <a:rPr lang="en-US" sz="2400" dirty="0">
                <a:solidFill>
                  <a:srgbClr val="FF0000"/>
                </a:solidFill>
              </a:rPr>
              <a:t>.</a:t>
            </a:r>
            <a:endParaRPr lang="en-US" sz="2400" dirty="0"/>
          </a:p>
        </p:txBody>
      </p:sp>
    </p:spTree>
    <p:extLst>
      <p:ext uri="{BB962C8B-B14F-4D97-AF65-F5344CB8AC3E}">
        <p14:creationId xmlns:p14="http://schemas.microsoft.com/office/powerpoint/2010/main" val="448103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9651"/>
            <a:ext cx="8293694" cy="1107996"/>
          </a:xfrm>
        </p:spPr>
        <p:txBody>
          <a:bodyPr lIns="0" tIns="0" rIns="0" bIns="0" anchor="ctr">
            <a:spAutoFit/>
          </a:bodyPr>
          <a:lstStyle/>
          <a:p>
            <a:r>
              <a:rPr lang="en-US" sz="3600" dirty="0">
                <a:latin typeface="+mj-lt"/>
              </a:rPr>
              <a:t>Rough and Smooth </a:t>
            </a:r>
            <a:r>
              <a:rPr lang="en-US" sz="3600" spc="-500" dirty="0">
                <a:latin typeface="+mj-lt"/>
              </a:rPr>
              <a:t>E </a:t>
            </a:r>
            <a:r>
              <a:rPr lang="en-US" sz="3600" dirty="0">
                <a:latin typeface="+mj-lt"/>
              </a:rPr>
              <a:t>R Are Easily Distinguished</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66508"/>
            <a:ext cx="8293694" cy="2793072"/>
          </a:xfrm>
        </p:spPr>
        <p:txBody>
          <a:bodyPr lIns="0" tIns="0" rIns="0" bIns="0">
            <a:spAutoFit/>
          </a:bodyPr>
          <a:lstStyle/>
          <a:p>
            <a:pPr marL="342900" indent="-342900"/>
            <a:r>
              <a:rPr lang="en-US" sz="2400" dirty="0"/>
              <a:t>Rough </a:t>
            </a:r>
            <a:r>
              <a:rPr lang="en-US" sz="2400" spc="-300" dirty="0"/>
              <a:t>E </a:t>
            </a:r>
            <a:r>
              <a:rPr lang="en-US" sz="2400" dirty="0"/>
              <a:t>R membranes form large flattened sheets</a:t>
            </a:r>
            <a:r>
              <a:rPr lang="en-US" sz="2400" dirty="0">
                <a:solidFill>
                  <a:schemeClr val="tx1"/>
                </a:solidFill>
              </a:rPr>
              <a:t>.</a:t>
            </a:r>
          </a:p>
          <a:p>
            <a:pPr marL="342900" indent="-342900"/>
            <a:r>
              <a:rPr lang="en-US" sz="2400" dirty="0"/>
              <a:t>Smooth </a:t>
            </a:r>
            <a:r>
              <a:rPr lang="en-US" sz="2400" spc="-300" dirty="0"/>
              <a:t>E </a:t>
            </a:r>
            <a:r>
              <a:rPr lang="en-US" sz="2400" dirty="0"/>
              <a:t>R membranes form tubular structures</a:t>
            </a:r>
            <a:r>
              <a:rPr lang="en-US" sz="2400" dirty="0">
                <a:solidFill>
                  <a:schemeClr val="tx1"/>
                </a:solidFill>
              </a:rPr>
              <a:t>.</a:t>
            </a:r>
          </a:p>
          <a:p>
            <a:pPr marL="342900" indent="-342900"/>
            <a:r>
              <a:rPr lang="en-US" sz="2400" dirty="0"/>
              <a:t>Transitional elements of the rough </a:t>
            </a:r>
            <a:r>
              <a:rPr lang="en-US" sz="2400" spc="-300" dirty="0"/>
              <a:t>E </a:t>
            </a:r>
            <a:r>
              <a:rPr lang="en-US" sz="2400" dirty="0"/>
              <a:t>R are an exception; they resemble the smooth </a:t>
            </a:r>
            <a:r>
              <a:rPr lang="en-US" sz="2400" spc="-300" dirty="0"/>
              <a:t>E </a:t>
            </a:r>
            <a:r>
              <a:rPr lang="en-US" sz="2400" dirty="0"/>
              <a:t>R</a:t>
            </a:r>
            <a:r>
              <a:rPr lang="en-US" sz="2400" dirty="0">
                <a:solidFill>
                  <a:schemeClr val="tx1"/>
                </a:solidFill>
              </a:rPr>
              <a:t>.</a:t>
            </a:r>
          </a:p>
          <a:p>
            <a:pPr marL="342900" indent="-342900"/>
            <a:r>
              <a:rPr lang="en-US" sz="2400" dirty="0"/>
              <a:t>The lumenal spaces of rough and smooth </a:t>
            </a:r>
            <a:r>
              <a:rPr lang="en-US" sz="2400" spc="-300" dirty="0"/>
              <a:t>E </a:t>
            </a:r>
            <a:r>
              <a:rPr lang="en-US" sz="2400" dirty="0"/>
              <a:t>R are continuous</a:t>
            </a:r>
            <a:r>
              <a:rPr lang="en-US" sz="2400" dirty="0">
                <a:solidFill>
                  <a:schemeClr val="tx1"/>
                </a:solidFill>
              </a:rPr>
              <a:t>.</a:t>
            </a:r>
          </a:p>
        </p:txBody>
      </p:sp>
    </p:spTree>
    <p:extLst>
      <p:ext uri="{BB962C8B-B14F-4D97-AF65-F5344CB8AC3E}">
        <p14:creationId xmlns:p14="http://schemas.microsoft.com/office/powerpoint/2010/main" val="3669145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9648"/>
            <a:ext cx="8302240" cy="1107996"/>
          </a:xfrm>
        </p:spPr>
        <p:txBody>
          <a:bodyPr lIns="0" tIns="0" rIns="0" bIns="0" anchor="ctr">
            <a:spAutoFit/>
          </a:bodyPr>
          <a:lstStyle/>
          <a:p>
            <a:r>
              <a:rPr lang="en-US" sz="3600" dirty="0">
                <a:latin typeface="+mj-lt"/>
              </a:rPr>
              <a:t>Variation in Amounts of Rough and Smooth </a:t>
            </a:r>
            <a:r>
              <a:rPr lang="en-US" sz="3600" spc="-500" dirty="0">
                <a:latin typeface="+mj-lt"/>
              </a:rPr>
              <a:t>E </a:t>
            </a:r>
            <a:r>
              <a:rPr lang="en-US" sz="3600" dirty="0">
                <a:latin typeface="+mj-lt"/>
              </a:rPr>
              <a:t>R</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62341"/>
            <a:ext cx="8302240" cy="2600712"/>
          </a:xfrm>
          <a:noFill/>
          <a:ln>
            <a:noFill/>
          </a:ln>
        </p:spPr>
        <p:txBody>
          <a:bodyPr lIns="0" tIns="0" rIns="0" bIns="0" anchor="t" anchorCtr="0">
            <a:spAutoFit/>
          </a:bodyPr>
          <a:lstStyle/>
          <a:p>
            <a:pPr marL="342900" indent="-342900"/>
            <a:r>
              <a:rPr lang="en-US" sz="2400" dirty="0"/>
              <a:t>Both types of </a:t>
            </a:r>
            <a:r>
              <a:rPr lang="en-US" sz="2400" spc="-300" dirty="0"/>
              <a:t>E </a:t>
            </a:r>
            <a:r>
              <a:rPr lang="en-US" sz="2400" dirty="0"/>
              <a:t>R are present in most eukaryotic cells, but there is variation in the relative amounts</a:t>
            </a:r>
            <a:r>
              <a:rPr lang="en-US" sz="2400" dirty="0">
                <a:solidFill>
                  <a:schemeClr val="tx1"/>
                </a:solidFill>
              </a:rPr>
              <a:t>.</a:t>
            </a:r>
          </a:p>
          <a:p>
            <a:pPr marL="342900" indent="-342900"/>
            <a:r>
              <a:rPr lang="en-US" sz="2400" dirty="0"/>
              <a:t>Cells involved in synthesis of secretory proteins have prominent rough </a:t>
            </a:r>
            <a:r>
              <a:rPr lang="en-US" sz="2400" spc="-300" dirty="0"/>
              <a:t>E </a:t>
            </a:r>
            <a:r>
              <a:rPr lang="en-US" sz="2400" dirty="0"/>
              <a:t>R networks</a:t>
            </a:r>
            <a:r>
              <a:rPr lang="en-US" sz="2400" dirty="0">
                <a:solidFill>
                  <a:schemeClr val="tx1"/>
                </a:solidFill>
              </a:rPr>
              <a:t>.</a:t>
            </a:r>
          </a:p>
          <a:p>
            <a:pPr marL="342900" indent="-342900"/>
            <a:r>
              <a:rPr lang="en-US" sz="2400" dirty="0"/>
              <a:t>Cells producing steroid hormones tend to have extensive networks of smooth </a:t>
            </a:r>
            <a:r>
              <a:rPr lang="en-US" sz="2400" spc="-300" dirty="0"/>
              <a:t>E </a:t>
            </a:r>
            <a:r>
              <a:rPr lang="en-US" sz="2400" dirty="0"/>
              <a:t>R</a:t>
            </a:r>
            <a:r>
              <a:rPr lang="en-US" sz="2400" dirty="0">
                <a:solidFill>
                  <a:schemeClr val="tx1"/>
                </a:solidFill>
              </a:rPr>
              <a:t>.</a:t>
            </a:r>
          </a:p>
        </p:txBody>
      </p:sp>
    </p:spTree>
    <p:extLst>
      <p:ext uri="{BB962C8B-B14F-4D97-AF65-F5344CB8AC3E}">
        <p14:creationId xmlns:p14="http://schemas.microsoft.com/office/powerpoint/2010/main" val="150748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2515"/>
            <a:ext cx="8302240" cy="1661993"/>
          </a:xfrm>
        </p:spPr>
        <p:txBody>
          <a:bodyPr lIns="0" tIns="0" rIns="0" bIns="0" anchor="ctr">
            <a:spAutoFit/>
          </a:bodyPr>
          <a:lstStyle/>
          <a:p>
            <a:r>
              <a:rPr lang="en-US" sz="3600" dirty="0">
                <a:latin typeface="+mj-lt"/>
              </a:rPr>
              <a:t>Rough </a:t>
            </a:r>
            <a:r>
              <a:rPr lang="en-US" sz="3600" spc="-500" dirty="0">
                <a:latin typeface="+mj-lt"/>
              </a:rPr>
              <a:t>E </a:t>
            </a:r>
            <a:r>
              <a:rPr lang="en-US" sz="3600" dirty="0">
                <a:latin typeface="+mj-lt"/>
              </a:rPr>
              <a:t>R Is Involved in the Biosynthesis and Processing of Proteins </a:t>
            </a:r>
            <a:r>
              <a:rPr lang="en-US" sz="2800" dirty="0">
                <a:latin typeface="+mj-lt"/>
              </a:rPr>
              <a:t>(1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074953"/>
            <a:ext cx="8302240" cy="2408352"/>
          </a:xfrm>
          <a:noFill/>
          <a:ln>
            <a:noFill/>
          </a:ln>
        </p:spPr>
        <p:txBody>
          <a:bodyPr lIns="0" tIns="0" rIns="0" bIns="0" anchor="t" anchorCtr="0">
            <a:spAutoFit/>
          </a:bodyPr>
          <a:lstStyle/>
          <a:p>
            <a:pPr marL="342900" indent="-342900"/>
            <a:r>
              <a:rPr lang="en-US" sz="2400" dirty="0"/>
              <a:t>Ribosomes on the cytosolic side of the rough </a:t>
            </a:r>
            <a:r>
              <a:rPr lang="en-US" sz="2400" spc="-300" dirty="0"/>
              <a:t>E </a:t>
            </a:r>
            <a:r>
              <a:rPr lang="en-US" sz="2400" dirty="0"/>
              <a:t>R membrane synthesize both membrane-bound and soluble proteins for the endomembrane system</a:t>
            </a:r>
            <a:r>
              <a:rPr lang="en-US" sz="2400" dirty="0">
                <a:solidFill>
                  <a:schemeClr val="tx1"/>
                </a:solidFill>
              </a:rPr>
              <a:t>.</a:t>
            </a:r>
          </a:p>
          <a:p>
            <a:pPr marL="342900" indent="-342900"/>
            <a:r>
              <a:rPr lang="en-US" sz="2400" dirty="0"/>
              <a:t>Newly synthesized proteins are inserted into the endomembrane system through a pore complex as they are synthesized (</a:t>
            </a:r>
            <a:r>
              <a:rPr lang="en-US" sz="2400" i="1" dirty="0"/>
              <a:t>cotranslationally</a:t>
            </a:r>
            <a:r>
              <a:rPr lang="en-US" sz="2400" dirty="0"/>
              <a:t>)</a:t>
            </a:r>
            <a:r>
              <a:rPr lang="en-US" sz="2400" dirty="0">
                <a:solidFill>
                  <a:schemeClr val="tx1"/>
                </a:solidFill>
              </a:rPr>
              <a:t>.</a:t>
            </a:r>
          </a:p>
        </p:txBody>
      </p:sp>
    </p:spTree>
    <p:extLst>
      <p:ext uri="{BB962C8B-B14F-4D97-AF65-F5344CB8AC3E}">
        <p14:creationId xmlns:p14="http://schemas.microsoft.com/office/powerpoint/2010/main" val="2538646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9744"/>
            <a:ext cx="8302240" cy="1661993"/>
          </a:xfrm>
        </p:spPr>
        <p:txBody>
          <a:bodyPr lIns="0" tIns="0" rIns="0" bIns="0" anchor="ctr">
            <a:spAutoFit/>
          </a:bodyPr>
          <a:lstStyle/>
          <a:p>
            <a:r>
              <a:rPr lang="en-US" sz="3600" dirty="0">
                <a:latin typeface="+mj-lt"/>
              </a:rPr>
              <a:t>Rough </a:t>
            </a:r>
            <a:r>
              <a:rPr lang="en-US" sz="3600" spc="-500" dirty="0">
                <a:latin typeface="+mj-lt"/>
              </a:rPr>
              <a:t>E </a:t>
            </a:r>
            <a:r>
              <a:rPr lang="en-US" sz="3600" dirty="0">
                <a:latin typeface="+mj-lt"/>
              </a:rPr>
              <a:t>R Is Involved in the Biosynthesis and Processing of Proteins </a:t>
            </a:r>
            <a:r>
              <a:rPr lang="en-US" sz="2800" dirty="0">
                <a:latin typeface="+mj-lt"/>
              </a:rPr>
              <a:t>(2 of 2)</a:t>
            </a:r>
            <a:endParaRPr lang="en-US" sz="36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074960"/>
            <a:ext cx="8302240" cy="2523768"/>
          </a:xfrm>
          <a:noFill/>
          <a:ln>
            <a:noFill/>
          </a:ln>
        </p:spPr>
        <p:txBody>
          <a:bodyPr lIns="0" tIns="0" rIns="0" bIns="0" anchor="t" anchorCtr="0">
            <a:spAutoFit/>
          </a:bodyPr>
          <a:lstStyle/>
          <a:p>
            <a:pPr marL="342900" indent="-342900"/>
            <a:r>
              <a:rPr lang="en-US" sz="2400" dirty="0"/>
              <a:t>Rough </a:t>
            </a:r>
            <a:r>
              <a:rPr lang="en-US" sz="2400" spc="-300" dirty="0"/>
              <a:t>E </a:t>
            </a:r>
            <a:r>
              <a:rPr lang="en-US" sz="2400" dirty="0"/>
              <a:t>R is the site for</a:t>
            </a:r>
          </a:p>
          <a:p>
            <a:pPr marL="829818" lvl="1" indent="-342900"/>
            <a:r>
              <a:rPr lang="en-US" sz="2400" dirty="0"/>
              <a:t>The initial steps of addition of carbohydrates to glycoproteins</a:t>
            </a:r>
          </a:p>
          <a:p>
            <a:pPr marL="829818" lvl="1" indent="-342900"/>
            <a:r>
              <a:rPr lang="en-US" sz="2400" dirty="0"/>
              <a:t>The folding of polypeptides</a:t>
            </a:r>
          </a:p>
          <a:p>
            <a:pPr marL="829818" lvl="1" indent="-342900"/>
            <a:r>
              <a:rPr lang="en-US" sz="2400" dirty="0"/>
              <a:t>Recognition and removal of misfolded proteins</a:t>
            </a:r>
          </a:p>
          <a:p>
            <a:pPr marL="829818" lvl="1" indent="-342900"/>
            <a:r>
              <a:rPr lang="en-US" sz="2400" dirty="0"/>
              <a:t>Assembly of multimeric proteins</a:t>
            </a:r>
          </a:p>
        </p:txBody>
      </p:sp>
    </p:spTree>
    <p:extLst>
      <p:ext uri="{BB962C8B-B14F-4D97-AF65-F5344CB8AC3E}">
        <p14:creationId xmlns:p14="http://schemas.microsoft.com/office/powerpoint/2010/main" val="4188034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9649"/>
            <a:ext cx="8302240" cy="1107996"/>
          </a:xfrm>
        </p:spPr>
        <p:txBody>
          <a:bodyPr lIns="0" tIns="0" rIns="0" bIns="0" anchor="ctr">
            <a:spAutoFit/>
          </a:bodyPr>
          <a:lstStyle/>
          <a:p>
            <a:r>
              <a:rPr lang="en-US" sz="3600" dirty="0">
                <a:latin typeface="+mj-lt"/>
              </a:rPr>
              <a:t>Rough </a:t>
            </a:r>
            <a:r>
              <a:rPr lang="en-US" sz="3600" spc="-500" dirty="0">
                <a:latin typeface="+mj-lt"/>
              </a:rPr>
              <a:t>E </a:t>
            </a:r>
            <a:r>
              <a:rPr lang="en-US" sz="3600" dirty="0">
                <a:latin typeface="+mj-lt"/>
              </a:rPr>
              <a:t>R Has a Role in Quality Control</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62341"/>
            <a:ext cx="8302240" cy="1300356"/>
          </a:xfrm>
          <a:noFill/>
          <a:ln>
            <a:noFill/>
          </a:ln>
        </p:spPr>
        <p:txBody>
          <a:bodyPr lIns="0" tIns="0" rIns="0" bIns="0" anchor="t" anchorCtr="0">
            <a:spAutoFit/>
          </a:bodyPr>
          <a:lstStyle/>
          <a:p>
            <a:pPr marL="342900" indent="-342900"/>
            <a:r>
              <a:rPr lang="en-US" sz="2400" dirty="0"/>
              <a:t>Proteins that are incorrectly folded, modified, or assembled are exported for degradation. </a:t>
            </a:r>
          </a:p>
          <a:p>
            <a:pPr marL="342900" indent="-342900"/>
            <a:r>
              <a:rPr lang="en-US" sz="2400" dirty="0"/>
              <a:t>Degradation occurs in cytosolic </a:t>
            </a:r>
            <a:r>
              <a:rPr lang="en-US" sz="2400" i="1" dirty="0"/>
              <a:t>proteasomes</a:t>
            </a:r>
            <a:r>
              <a:rPr lang="en-US" sz="2400" dirty="0">
                <a:solidFill>
                  <a:schemeClr val="tx1"/>
                </a:solidFill>
              </a:rPr>
              <a:t>.</a:t>
            </a:r>
            <a:endParaRPr lang="en-US" sz="2400" i="1" dirty="0">
              <a:solidFill>
                <a:schemeClr val="tx1"/>
              </a:solidFill>
            </a:endParaRPr>
          </a:p>
        </p:txBody>
      </p:sp>
    </p:spTree>
    <p:extLst>
      <p:ext uri="{BB962C8B-B14F-4D97-AF65-F5344CB8AC3E}">
        <p14:creationId xmlns:p14="http://schemas.microsoft.com/office/powerpoint/2010/main" val="4786459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214745"/>
            <a:ext cx="8302240" cy="1477328"/>
          </a:xfrm>
        </p:spPr>
        <p:txBody>
          <a:bodyPr lIns="0" tIns="0" rIns="0" bIns="0" anchor="ctr">
            <a:spAutoFit/>
          </a:bodyPr>
          <a:lstStyle/>
          <a:p>
            <a:r>
              <a:rPr lang="en-US" sz="3200" dirty="0">
                <a:latin typeface="+mj-lt"/>
              </a:rPr>
              <a:t>Smooth </a:t>
            </a:r>
            <a:r>
              <a:rPr lang="en-US" sz="3200" spc="-500" dirty="0">
                <a:latin typeface="+mj-lt"/>
              </a:rPr>
              <a:t>E </a:t>
            </a:r>
            <a:r>
              <a:rPr lang="en-US" sz="3200" dirty="0">
                <a:latin typeface="+mj-lt"/>
              </a:rPr>
              <a:t>R Is Involved in Drug Detoxification, Carbohydrate Metabolism, Calcium Storage, and Steroid Biosynthesis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075824"/>
            <a:ext cx="8302240" cy="1300356"/>
          </a:xfrm>
          <a:noFill/>
          <a:ln>
            <a:noFill/>
          </a:ln>
        </p:spPr>
        <p:txBody>
          <a:bodyPr lIns="0" tIns="0" rIns="0" bIns="0" anchor="t" anchorCtr="0">
            <a:spAutoFit/>
          </a:bodyPr>
          <a:lstStyle/>
          <a:p>
            <a:pPr marL="342900" indent="-342900"/>
            <a:r>
              <a:rPr lang="en-US" sz="2400" dirty="0"/>
              <a:t>The functions of smooth </a:t>
            </a:r>
            <a:r>
              <a:rPr lang="en-US" sz="2400" spc="-300" dirty="0"/>
              <a:t>E </a:t>
            </a:r>
            <a:r>
              <a:rPr lang="en-US" sz="2400" dirty="0"/>
              <a:t>R differ from that of rough </a:t>
            </a:r>
            <a:r>
              <a:rPr lang="en-US" sz="2400" spc="-300" dirty="0"/>
              <a:t>E </a:t>
            </a:r>
            <a:r>
              <a:rPr lang="en-US" sz="2400" dirty="0"/>
              <a:t>R</a:t>
            </a:r>
            <a:r>
              <a:rPr lang="en-US" sz="2400" dirty="0">
                <a:solidFill>
                  <a:schemeClr val="tx1"/>
                </a:solidFill>
              </a:rPr>
              <a:t>.</a:t>
            </a:r>
          </a:p>
          <a:p>
            <a:pPr marL="342900" indent="-342900"/>
            <a:r>
              <a:rPr lang="en-US" sz="2400" dirty="0"/>
              <a:t>Smooth </a:t>
            </a:r>
            <a:r>
              <a:rPr lang="en-US" sz="2400" spc="-300" dirty="0"/>
              <a:t>E </a:t>
            </a:r>
            <a:r>
              <a:rPr lang="en-US" sz="2400" dirty="0"/>
              <a:t>R is primarily involved in processing or storing nonprotein molecules within cells</a:t>
            </a:r>
            <a:r>
              <a:rPr lang="en-US" sz="2400" dirty="0">
                <a:solidFill>
                  <a:schemeClr val="tx1"/>
                </a:solidFill>
              </a:rPr>
              <a:t>.</a:t>
            </a:r>
          </a:p>
        </p:txBody>
      </p:sp>
    </p:spTree>
    <p:extLst>
      <p:ext uri="{BB962C8B-B14F-4D97-AF65-F5344CB8AC3E}">
        <p14:creationId xmlns:p14="http://schemas.microsoft.com/office/powerpoint/2010/main" val="2158210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7882"/>
            <a:ext cx="8302240" cy="553998"/>
          </a:xfrm>
        </p:spPr>
        <p:txBody>
          <a:bodyPr lIns="0" tIns="0" rIns="0" bIns="0" anchor="ctr">
            <a:spAutoFit/>
          </a:bodyPr>
          <a:lstStyle/>
          <a:p>
            <a:r>
              <a:rPr lang="en-US" sz="3600" dirty="0">
                <a:latin typeface="+mj-lt"/>
              </a:rPr>
              <a:t>Drug Detoxification</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5454"/>
            <a:ext cx="8302240" cy="2970044"/>
          </a:xfrm>
          <a:noFill/>
          <a:ln>
            <a:noFill/>
          </a:ln>
        </p:spPr>
        <p:txBody>
          <a:bodyPr lIns="0" tIns="0" rIns="0" bIns="0" anchor="t" anchorCtr="0">
            <a:spAutoFit/>
          </a:bodyPr>
          <a:lstStyle/>
          <a:p>
            <a:pPr marL="342900" indent="-342900"/>
            <a:r>
              <a:rPr lang="en-US" sz="2400" dirty="0"/>
              <a:t>Drug detoxification often involves </a:t>
            </a:r>
            <a:r>
              <a:rPr lang="en-US" sz="2400" b="1" dirty="0"/>
              <a:t>hydroxylation</a:t>
            </a:r>
            <a:r>
              <a:rPr lang="en-US" sz="2400" b="1" dirty="0">
                <a:solidFill>
                  <a:schemeClr val="tx1"/>
                </a:solidFill>
              </a:rPr>
              <a:t>.</a:t>
            </a:r>
          </a:p>
          <a:p>
            <a:pPr marL="342900" indent="-342900"/>
            <a:r>
              <a:rPr lang="en-US" sz="2400" dirty="0"/>
              <a:t>Adding hydroxyl groups to hydrophobic drugs increases their solubility, making them easier to excrete from the body</a:t>
            </a:r>
            <a:r>
              <a:rPr lang="en-US" sz="2400" dirty="0">
                <a:solidFill>
                  <a:schemeClr val="tx1"/>
                </a:solidFill>
              </a:rPr>
              <a:t>.</a:t>
            </a:r>
          </a:p>
          <a:p>
            <a:pPr marL="342900" indent="-342900"/>
            <a:r>
              <a:rPr lang="en-US" sz="2400" dirty="0"/>
              <a:t>Hydroxylation is catalyzed by a member of the </a:t>
            </a:r>
            <a:r>
              <a:rPr lang="en-US" sz="2400" b="1" dirty="0"/>
              <a:t>cytochrome</a:t>
            </a:r>
            <a:r>
              <a:rPr lang="en-US" sz="2400" dirty="0"/>
              <a:t> </a:t>
            </a:r>
            <a:r>
              <a:rPr lang="en-US" sz="2400" b="1" dirty="0"/>
              <a:t>P-450</a:t>
            </a:r>
            <a:r>
              <a:rPr lang="en-US" sz="2400" dirty="0"/>
              <a:t> family of proteins, also called </a:t>
            </a:r>
            <a:r>
              <a:rPr lang="en-US" sz="2400" i="1" dirty="0"/>
              <a:t>monooxygenases</a:t>
            </a:r>
            <a:r>
              <a:rPr lang="en-US" sz="2400" dirty="0">
                <a:solidFill>
                  <a:schemeClr val="tx1"/>
                </a:solidFill>
              </a:rPr>
              <a:t>.</a:t>
            </a:r>
          </a:p>
        </p:txBody>
      </p:sp>
    </p:spTree>
    <p:extLst>
      <p:ext uri="{BB962C8B-B14F-4D97-AF65-F5344CB8AC3E}">
        <p14:creationId xmlns:p14="http://schemas.microsoft.com/office/powerpoint/2010/main" val="5809269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57200" y="210013"/>
            <a:ext cx="8270228" cy="1107996"/>
          </a:xfrm>
        </p:spPr>
        <p:txBody>
          <a:bodyPr wrap="square" lIns="0" tIns="0" rIns="0" bIns="0" anchor="ctr">
            <a:spAutoFit/>
          </a:bodyPr>
          <a:lstStyle/>
          <a:p>
            <a:r>
              <a:rPr lang="fr-FR" dirty="0"/>
              <a:t>Hydroxylation Occurs via Electron Transport</a:t>
            </a:r>
            <a:endParaRPr lang="en-US" dirty="0"/>
          </a:p>
        </p:txBody>
      </p:sp>
      <p:sp>
        <p:nvSpPr>
          <p:cNvPr id="3" name="Content Placeholder 2"/>
          <p:cNvSpPr>
            <a:spLocks noGrp="1"/>
          </p:cNvSpPr>
          <p:nvPr>
            <p:ph sz="quarter" idx="13"/>
          </p:nvPr>
        </p:nvSpPr>
        <p:spPr>
          <a:xfrm>
            <a:off x="419100" y="1552575"/>
            <a:ext cx="8305800" cy="2039020"/>
          </a:xfrm>
          <a:noFill/>
          <a:ln>
            <a:noFill/>
          </a:ln>
        </p:spPr>
        <p:txBody>
          <a:bodyPr wrap="square" lIns="0" tIns="0" rIns="0" bIns="0" anchor="t" anchorCtr="0">
            <a:spAutoFit/>
          </a:bodyPr>
          <a:lstStyle/>
          <a:p>
            <a:pPr marL="342900" indent="-342900"/>
            <a:r>
              <a:rPr lang="en-US" sz="2400" dirty="0"/>
              <a:t>Electrons from </a:t>
            </a:r>
            <a:r>
              <a:rPr lang="en-US" sz="2400" spc="-300" dirty="0"/>
              <a:t>N A D P </a:t>
            </a:r>
            <a:r>
              <a:rPr lang="en-US" sz="2400" dirty="0"/>
              <a:t>H or </a:t>
            </a:r>
            <a:r>
              <a:rPr lang="en-US" sz="2400" spc="-300" dirty="0"/>
              <a:t>N A D </a:t>
            </a:r>
            <a:r>
              <a:rPr lang="en-US" sz="2400" dirty="0"/>
              <a:t>H are transferred to a heme group in cytochrome P-450</a:t>
            </a:r>
            <a:r>
              <a:rPr lang="en-US" sz="2400" dirty="0">
                <a:solidFill>
                  <a:schemeClr val="tx1"/>
                </a:solidFill>
              </a:rPr>
              <a:t>.</a:t>
            </a:r>
          </a:p>
          <a:p>
            <a:pPr marL="342900" indent="-342900"/>
            <a:r>
              <a:rPr lang="en-US" sz="2400" dirty="0"/>
              <a:t>An electron is donated to O</a:t>
            </a:r>
            <a:r>
              <a:rPr lang="en-US" sz="2400" baseline="-25000" dirty="0"/>
              <a:t>2</a:t>
            </a:r>
            <a:r>
              <a:rPr lang="en-US" sz="2400" dirty="0"/>
              <a:t>, where one oxygen atom forms H</a:t>
            </a:r>
            <a:r>
              <a:rPr lang="en-US" sz="2400" baseline="-25000" dirty="0"/>
              <a:t>2</a:t>
            </a:r>
            <a:r>
              <a:rPr lang="en-US" sz="2400" dirty="0"/>
              <a:t>O and the other is added to the substrate as a hydroxyl group</a:t>
            </a:r>
            <a:r>
              <a:rPr lang="en-US" sz="2400" dirty="0">
                <a:solidFill>
                  <a:schemeClr val="tx1"/>
                </a:solidFill>
              </a:rPr>
              <a:t>:</a:t>
            </a:r>
          </a:p>
        </p:txBody>
      </p:sp>
      <p:graphicFrame>
        <p:nvGraphicFramePr>
          <p:cNvPr id="6" name="Object 5" descr="R H plus N A D open bracket P bracket closed H plus H positive ion plus O subscript two gives R O H plus N A D open bracket P bracket closed positive plus H subscript two O.&#10;Long description is available in notes, press F6"/>
          <p:cNvGraphicFramePr>
            <a:graphicFrameLocks noChangeAspect="1"/>
          </p:cNvGraphicFramePr>
          <p:nvPr>
            <p:extLst>
              <p:ext uri="{D42A27DB-BD31-4B8C-83A1-F6EECF244321}">
                <p14:modId xmlns:p14="http://schemas.microsoft.com/office/powerpoint/2010/main" val="2859730791"/>
              </p:ext>
            </p:extLst>
          </p:nvPr>
        </p:nvGraphicFramePr>
        <p:xfrm>
          <a:off x="765053" y="3822733"/>
          <a:ext cx="6287508" cy="1166057"/>
        </p:xfrm>
        <a:graphic>
          <a:graphicData uri="http://schemas.openxmlformats.org/presentationml/2006/ole">
            <mc:AlternateContent xmlns:mc="http://schemas.openxmlformats.org/markup-compatibility/2006">
              <mc:Choice xmlns:v="urn:schemas-microsoft-com:vml" Requires="v">
                <p:oleObj spid="_x0000_s1026" name="Equation" r:id="rId4" imgW="2616120" imgH="482400" progId="Equation.DSMT4">
                  <p:embed/>
                </p:oleObj>
              </mc:Choice>
              <mc:Fallback>
                <p:oleObj name="Equation" r:id="rId4" imgW="2616120" imgH="482400" progId="Equation.DSMT4">
                  <p:embed/>
                  <p:pic>
                    <p:nvPicPr>
                      <p:cNvPr id="0" name=""/>
                      <p:cNvPicPr>
                        <a:picLocks noChangeAspect="1" noChangeArrowheads="1"/>
                      </p:cNvPicPr>
                      <p:nvPr/>
                    </p:nvPicPr>
                    <p:blipFill>
                      <a:blip r:embed="rId5"/>
                      <a:srcRect/>
                      <a:stretch>
                        <a:fillRect/>
                      </a:stretch>
                    </p:blipFill>
                    <p:spPr bwMode="auto">
                      <a:xfrm>
                        <a:off x="765053" y="3822733"/>
                        <a:ext cx="6287508" cy="11660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Content Placeholder 6">
            <a:extLst>
              <a:ext uri="{FF2B5EF4-FFF2-40B4-BE49-F238E27FC236}">
                <a16:creationId xmlns:a16="http://schemas.microsoft.com/office/drawing/2014/main" xmlns="" id="{C3C35CAB-F552-47AA-8A69-D6C5F993CAA0}"/>
              </a:ext>
            </a:extLst>
          </p:cNvPr>
          <p:cNvSpPr>
            <a:spLocks noGrp="1"/>
          </p:cNvSpPr>
          <p:nvPr>
            <p:ph sz="quarter" idx="16"/>
          </p:nvPr>
        </p:nvSpPr>
        <p:spPr>
          <a:xfrm>
            <a:off x="454672" y="5093867"/>
            <a:ext cx="8270228" cy="423115"/>
          </a:xfrm>
        </p:spPr>
        <p:txBody>
          <a:bodyPr/>
          <a:lstStyle/>
          <a:p>
            <a:pPr marL="342900" indent="-342900"/>
            <a:r>
              <a:rPr lang="en-US" sz="2400" dirty="0"/>
              <a:t>Where R is the drug being hydroxylated. </a:t>
            </a:r>
          </a:p>
        </p:txBody>
      </p:sp>
    </p:spTree>
    <p:extLst>
      <p:ext uri="{BB962C8B-B14F-4D97-AF65-F5344CB8AC3E}">
        <p14:creationId xmlns:p14="http://schemas.microsoft.com/office/powerpoint/2010/main" val="27760188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7882"/>
            <a:ext cx="8302240" cy="553998"/>
          </a:xfrm>
        </p:spPr>
        <p:txBody>
          <a:bodyPr lIns="0" tIns="0" rIns="0" bIns="0" anchor="ctr">
            <a:spAutoFit/>
          </a:bodyPr>
          <a:lstStyle/>
          <a:p>
            <a:r>
              <a:rPr lang="en-US" sz="3600" dirty="0">
                <a:latin typeface="+mj-lt"/>
              </a:rPr>
              <a:t>Drug Tolerance</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5454"/>
            <a:ext cx="8302240" cy="3339376"/>
          </a:xfrm>
          <a:noFill/>
          <a:ln>
            <a:noFill/>
          </a:ln>
        </p:spPr>
        <p:txBody>
          <a:bodyPr lIns="0" tIns="0" rIns="0" bIns="0" anchor="t" anchorCtr="0">
            <a:spAutoFit/>
          </a:bodyPr>
          <a:lstStyle/>
          <a:p>
            <a:pPr marL="342900" indent="-342900"/>
            <a:r>
              <a:rPr lang="en-US" sz="2400" dirty="0"/>
              <a:t>Injection of phenobarbital into rats causes rapid increases in the barbiturate-detoxifying enzymes and a proliferation of smooth </a:t>
            </a:r>
            <a:r>
              <a:rPr lang="en-US" sz="2400" spc="-300" dirty="0"/>
              <a:t>E </a:t>
            </a:r>
            <a:r>
              <a:rPr lang="en-US" sz="2400" dirty="0"/>
              <a:t>R</a:t>
            </a:r>
            <a:r>
              <a:rPr lang="en-US" sz="2400" dirty="0">
                <a:solidFill>
                  <a:schemeClr val="tx1"/>
                </a:solidFill>
              </a:rPr>
              <a:t>.</a:t>
            </a:r>
          </a:p>
          <a:p>
            <a:pPr marL="342900" indent="-342900"/>
            <a:r>
              <a:rPr lang="en-US" sz="2400" dirty="0"/>
              <a:t>This means that higher doses of the drug are needed to achieve the same effect, a phenomenon known as </a:t>
            </a:r>
            <a:r>
              <a:rPr lang="en-US" sz="2400" i="1" dirty="0"/>
              <a:t>tolerance</a:t>
            </a:r>
            <a:r>
              <a:rPr lang="en-US" sz="2400" dirty="0">
                <a:solidFill>
                  <a:schemeClr val="tx1"/>
                </a:solidFill>
              </a:rPr>
              <a:t>.</a:t>
            </a:r>
          </a:p>
          <a:p>
            <a:pPr marL="342900" indent="-342900"/>
            <a:r>
              <a:rPr lang="en-US" sz="2400" dirty="0"/>
              <a:t>The enzymes involved can decrease the effectiveness of other drugs as well by hydroxylating them</a:t>
            </a:r>
            <a:r>
              <a:rPr lang="en-US" sz="2400" dirty="0">
                <a:solidFill>
                  <a:schemeClr val="tx1"/>
                </a:solidFill>
              </a:rPr>
              <a:t>.</a:t>
            </a:r>
          </a:p>
        </p:txBody>
      </p:sp>
    </p:spTree>
    <p:extLst>
      <p:ext uri="{BB962C8B-B14F-4D97-AF65-F5344CB8AC3E}">
        <p14:creationId xmlns:p14="http://schemas.microsoft.com/office/powerpoint/2010/main" val="2929035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7882"/>
            <a:ext cx="8302240" cy="553998"/>
          </a:xfrm>
        </p:spPr>
        <p:txBody>
          <a:bodyPr lIns="0" tIns="0" rIns="0" bIns="0" anchor="ctr">
            <a:spAutoFit/>
          </a:bodyPr>
          <a:lstStyle/>
          <a:p>
            <a:r>
              <a:rPr lang="en-US" sz="3600" dirty="0">
                <a:latin typeface="+mj-lt"/>
              </a:rPr>
              <a:t>Drug Detoxification in the Smooth </a:t>
            </a:r>
            <a:r>
              <a:rPr lang="en-US" sz="3600" spc="-500" dirty="0">
                <a:latin typeface="+mj-lt"/>
              </a:rPr>
              <a:t>E </a:t>
            </a:r>
            <a:r>
              <a:rPr lang="en-US" sz="3600" dirty="0">
                <a:latin typeface="+mj-lt"/>
              </a:rPr>
              <a:t>R</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5454"/>
            <a:ext cx="8302240" cy="3339376"/>
          </a:xfrm>
          <a:noFill/>
          <a:ln>
            <a:noFill/>
          </a:ln>
        </p:spPr>
        <p:txBody>
          <a:bodyPr lIns="0" tIns="0" rIns="0" bIns="0" anchor="t" anchorCtr="0">
            <a:spAutoFit/>
          </a:bodyPr>
          <a:lstStyle/>
          <a:p>
            <a:pPr marL="342900" indent="-342900"/>
            <a:r>
              <a:rPr lang="en-US" sz="2400" dirty="0"/>
              <a:t>Another cytochrome P-450 is part of a complex called </a:t>
            </a:r>
            <a:r>
              <a:rPr lang="en-US" sz="2400" i="1" dirty="0"/>
              <a:t>aryl hydrocarbon hydroxylase</a:t>
            </a:r>
            <a:r>
              <a:rPr lang="en-US" sz="2400" dirty="0"/>
              <a:t>, which metabolizes </a:t>
            </a:r>
            <a:r>
              <a:rPr lang="en-US" sz="2400" i="1" dirty="0"/>
              <a:t>polycyclic</a:t>
            </a:r>
            <a:r>
              <a:rPr lang="en-US" sz="2400" dirty="0"/>
              <a:t> </a:t>
            </a:r>
            <a:r>
              <a:rPr lang="en-US" sz="2400" i="1" dirty="0"/>
              <a:t>hydrocarbons</a:t>
            </a:r>
            <a:r>
              <a:rPr lang="en-US" sz="2400" i="1" dirty="0">
                <a:solidFill>
                  <a:schemeClr val="tx1"/>
                </a:solidFill>
              </a:rPr>
              <a:t>.</a:t>
            </a:r>
          </a:p>
          <a:p>
            <a:pPr marL="342900" indent="-342900"/>
            <a:r>
              <a:rPr lang="en-US" sz="2400" dirty="0"/>
              <a:t>The products can be more toxic than the original compounds; some are associated with spontaneous cancers in mice</a:t>
            </a:r>
            <a:r>
              <a:rPr lang="en-US" sz="2400" dirty="0">
                <a:solidFill>
                  <a:schemeClr val="tx1"/>
                </a:solidFill>
              </a:rPr>
              <a:t>.</a:t>
            </a:r>
          </a:p>
          <a:p>
            <a:pPr marL="342900" indent="-342900"/>
            <a:r>
              <a:rPr lang="en-US" sz="2400" dirty="0"/>
              <a:t>Cigarette smoke is a potent inducer of aryl hydrocarbon </a:t>
            </a:r>
            <a:r>
              <a:rPr lang="en-US" sz="2400" dirty="0">
                <a:solidFill>
                  <a:schemeClr val="tx1"/>
                </a:solidFill>
              </a:rPr>
              <a:t>hydroxylase.</a:t>
            </a:r>
          </a:p>
        </p:txBody>
      </p:sp>
    </p:spTree>
    <p:extLst>
      <p:ext uri="{BB962C8B-B14F-4D97-AF65-F5344CB8AC3E}">
        <p14:creationId xmlns:p14="http://schemas.microsoft.com/office/powerpoint/2010/main" val="36694782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7882"/>
            <a:ext cx="8302240" cy="553998"/>
          </a:xfrm>
          <a:noFill/>
          <a:ln>
            <a:noFill/>
          </a:ln>
        </p:spPr>
        <p:txBody>
          <a:bodyPr lIns="0" tIns="0" rIns="0" bIns="0" anchor="ctr" anchorCtr="0">
            <a:spAutoFit/>
          </a:bodyPr>
          <a:lstStyle/>
          <a:p>
            <a:r>
              <a:rPr lang="en-US" sz="3600" dirty="0">
                <a:latin typeface="+mj-lt"/>
              </a:rPr>
              <a:t>Pharmacogenetics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5454"/>
            <a:ext cx="8302240" cy="2777683"/>
          </a:xfrm>
          <a:noFill/>
          <a:ln>
            <a:noFill/>
          </a:ln>
        </p:spPr>
        <p:txBody>
          <a:bodyPr lIns="0" tIns="0" rIns="0" bIns="0" anchor="t" anchorCtr="0">
            <a:spAutoFit/>
          </a:bodyPr>
          <a:lstStyle/>
          <a:p>
            <a:pPr marL="342900" indent="-342900"/>
            <a:r>
              <a:rPr lang="en-US" sz="2400" dirty="0"/>
              <a:t>Differences in activities and side effects of certain medications can result from differences in presence or activity of particular cytochrome P-450 genes in different patients</a:t>
            </a:r>
            <a:r>
              <a:rPr lang="en-US" sz="2400" dirty="0">
                <a:solidFill>
                  <a:schemeClr val="tx1"/>
                </a:solidFill>
              </a:rPr>
              <a:t>.</a:t>
            </a:r>
          </a:p>
          <a:p>
            <a:pPr marL="342900" indent="-342900"/>
            <a:r>
              <a:rPr lang="en-US" sz="2400" dirty="0"/>
              <a:t>This field of study, called </a:t>
            </a:r>
            <a:r>
              <a:rPr lang="en-US" sz="2400" b="1" dirty="0"/>
              <a:t>pharmacogenetics</a:t>
            </a:r>
            <a:r>
              <a:rPr lang="en-US" sz="2400" dirty="0"/>
              <a:t>, investigates how inherited differences in genes, like P-450, can lead to differential responses to drugs and medications</a:t>
            </a:r>
            <a:r>
              <a:rPr lang="en-US" sz="2400" dirty="0">
                <a:solidFill>
                  <a:schemeClr val="tx1"/>
                </a:solidFill>
              </a:rPr>
              <a:t>.</a:t>
            </a:r>
          </a:p>
        </p:txBody>
      </p:sp>
    </p:spTree>
    <p:extLst>
      <p:ext uri="{BB962C8B-B14F-4D97-AF65-F5344CB8AC3E}">
        <p14:creationId xmlns:p14="http://schemas.microsoft.com/office/powerpoint/2010/main" val="41210732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9100" y="176290"/>
            <a:ext cx="8305800" cy="553998"/>
          </a:xfrm>
        </p:spPr>
        <p:txBody>
          <a:bodyPr wrap="square" lIns="0" tIns="0" rIns="0" bIns="0" anchor="ctr">
            <a:spAutoFit/>
          </a:bodyPr>
          <a:lstStyle/>
          <a:p>
            <a:r>
              <a:rPr lang="fr-FR" dirty="0"/>
              <a:t>Carbohydrate Metabolism </a:t>
            </a:r>
            <a:r>
              <a:rPr lang="fr-FR" sz="2800" dirty="0"/>
              <a:t>(1 of 2)</a:t>
            </a:r>
            <a:endParaRPr lang="en-US" sz="2800" dirty="0"/>
          </a:p>
        </p:txBody>
      </p:sp>
      <p:sp>
        <p:nvSpPr>
          <p:cNvPr id="3" name="Content Placeholder 2"/>
          <p:cNvSpPr>
            <a:spLocks noGrp="1"/>
          </p:cNvSpPr>
          <p:nvPr>
            <p:ph sz="quarter" idx="13"/>
          </p:nvPr>
        </p:nvSpPr>
        <p:spPr>
          <a:xfrm>
            <a:off x="419100" y="895628"/>
            <a:ext cx="8305800" cy="2039020"/>
          </a:xfrm>
          <a:noFill/>
          <a:ln>
            <a:noFill/>
          </a:ln>
        </p:spPr>
        <p:txBody>
          <a:bodyPr wrap="square" lIns="0" tIns="0" rIns="0" bIns="0" anchor="t" anchorCtr="0">
            <a:spAutoFit/>
          </a:bodyPr>
          <a:lstStyle/>
          <a:p>
            <a:pPr marL="342900" indent="-342900"/>
            <a:r>
              <a:rPr lang="en-US" sz="2400" dirty="0"/>
              <a:t>Smooth </a:t>
            </a:r>
            <a:r>
              <a:rPr lang="en-US" sz="2400" spc="-300" dirty="0"/>
              <a:t>E </a:t>
            </a:r>
            <a:r>
              <a:rPr lang="en-US" sz="2400" dirty="0"/>
              <a:t>R in liver cells is involved in breakdown of stored glycogen; it contains </a:t>
            </a:r>
            <a:r>
              <a:rPr lang="en-US" sz="2400" i="1" dirty="0"/>
              <a:t>glucose-6-phosphatase</a:t>
            </a:r>
            <a:r>
              <a:rPr lang="en-US" sz="2400" dirty="0"/>
              <a:t>, an enzyme unique to smooth </a:t>
            </a:r>
            <a:r>
              <a:rPr lang="en-US" sz="2400" spc="-300" dirty="0"/>
              <a:t>E </a:t>
            </a:r>
            <a:r>
              <a:rPr lang="en-US" sz="2400" dirty="0"/>
              <a:t>R</a:t>
            </a:r>
            <a:r>
              <a:rPr lang="en-US" sz="2400" dirty="0">
                <a:solidFill>
                  <a:schemeClr val="tx1"/>
                </a:solidFill>
              </a:rPr>
              <a:t>.</a:t>
            </a:r>
          </a:p>
          <a:p>
            <a:pPr marL="342900" indent="-342900"/>
            <a:r>
              <a:rPr lang="en-US" sz="2400" dirty="0"/>
              <a:t>Glucose-6-phosphatase hydrolyzes the phosphate from glucose-6-phosphate to form free glucose</a:t>
            </a:r>
            <a:r>
              <a:rPr lang="en-US" sz="2400" dirty="0">
                <a:solidFill>
                  <a:schemeClr val="tx1"/>
                </a:solidFill>
              </a:rPr>
              <a:t>:</a:t>
            </a:r>
          </a:p>
        </p:txBody>
      </p:sp>
      <p:graphicFrame>
        <p:nvGraphicFramePr>
          <p:cNvPr id="5" name="Object 4" descr="Glucose hyphen six hyphen phosphate plus H subscript two O give rise to glucose plus P subscript i.&#10;"/>
          <p:cNvGraphicFramePr>
            <a:graphicFrameLocks noChangeAspect="1"/>
          </p:cNvGraphicFramePr>
          <p:nvPr>
            <p:extLst>
              <p:ext uri="{D42A27DB-BD31-4B8C-83A1-F6EECF244321}">
                <p14:modId xmlns:p14="http://schemas.microsoft.com/office/powerpoint/2010/main" val="1070417761"/>
              </p:ext>
            </p:extLst>
          </p:nvPr>
        </p:nvGraphicFramePr>
        <p:xfrm>
          <a:off x="923925" y="3190875"/>
          <a:ext cx="6299200" cy="538163"/>
        </p:xfrm>
        <a:graphic>
          <a:graphicData uri="http://schemas.openxmlformats.org/presentationml/2006/ole">
            <mc:AlternateContent xmlns:mc="http://schemas.openxmlformats.org/markup-compatibility/2006">
              <mc:Choice xmlns:v="urn:schemas-microsoft-com:vml" Requires="v">
                <p:oleObj spid="_x0000_s2050" name="Equation" r:id="rId4" imgW="2679480" imgH="228600" progId="Equation.DSMT4">
                  <p:embed/>
                </p:oleObj>
              </mc:Choice>
              <mc:Fallback>
                <p:oleObj name="Equation" r:id="rId4" imgW="2679480" imgH="228600" progId="Equation.DSMT4">
                  <p:embed/>
                  <p:pic>
                    <p:nvPicPr>
                      <p:cNvPr id="0" name=""/>
                      <p:cNvPicPr>
                        <a:picLocks noChangeAspect="1" noChangeArrowheads="1"/>
                      </p:cNvPicPr>
                      <p:nvPr/>
                    </p:nvPicPr>
                    <p:blipFill>
                      <a:blip r:embed="rId5"/>
                      <a:srcRect/>
                      <a:stretch>
                        <a:fillRect/>
                      </a:stretch>
                    </p:blipFill>
                    <p:spPr bwMode="auto">
                      <a:xfrm>
                        <a:off x="923925" y="3190875"/>
                        <a:ext cx="6299200" cy="538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472061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45027" y="177882"/>
            <a:ext cx="8302240" cy="553998"/>
          </a:xfrm>
          <a:noFill/>
          <a:ln>
            <a:noFill/>
          </a:ln>
        </p:spPr>
        <p:txBody>
          <a:bodyPr lIns="0" tIns="0" rIns="0" bIns="0" anchor="ctr" anchorCtr="0">
            <a:spAutoFit/>
          </a:bodyPr>
          <a:lstStyle/>
          <a:p>
            <a:r>
              <a:rPr lang="en-US" sz="3600" dirty="0">
                <a:latin typeface="+mj-lt"/>
              </a:rPr>
              <a:t>Carbohydrate Metabolism </a:t>
            </a:r>
            <a:r>
              <a:rPr lang="en-US" sz="2800" dirty="0">
                <a:latin typeface="+mj-lt"/>
              </a:rPr>
              <a:t>(2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56268" y="1065454"/>
            <a:ext cx="8302240" cy="2600712"/>
          </a:xfrm>
          <a:noFill/>
          <a:ln>
            <a:noFill/>
          </a:ln>
        </p:spPr>
        <p:txBody>
          <a:bodyPr lIns="0" tIns="0" rIns="0" bIns="0" anchor="t" anchorCtr="0">
            <a:spAutoFit/>
          </a:bodyPr>
          <a:lstStyle/>
          <a:p>
            <a:pPr marL="342900" indent="-342900"/>
            <a:r>
              <a:rPr lang="en-US" sz="2400" dirty="0"/>
              <a:t>The liver stores glucose as glycogen in granules associated with smooth </a:t>
            </a:r>
            <a:r>
              <a:rPr lang="en-US" sz="2400" spc="-300" dirty="0"/>
              <a:t>E </a:t>
            </a:r>
            <a:r>
              <a:rPr lang="en-US" sz="2400" dirty="0"/>
              <a:t>R</a:t>
            </a:r>
            <a:r>
              <a:rPr lang="en-US" sz="2400" dirty="0">
                <a:solidFill>
                  <a:schemeClr val="tx1"/>
                </a:solidFill>
              </a:rPr>
              <a:t>.</a:t>
            </a:r>
          </a:p>
          <a:p>
            <a:pPr marL="342900" indent="-342900"/>
            <a:r>
              <a:rPr lang="en-US" sz="2400" dirty="0"/>
              <a:t>When glucose is needed by the body, glycogen is broken down by phosphorolysis, producing glucose-6-phosphate</a:t>
            </a:r>
            <a:r>
              <a:rPr lang="en-US" sz="2400" dirty="0">
                <a:solidFill>
                  <a:schemeClr val="tx1"/>
                </a:solidFill>
              </a:rPr>
              <a:t>.</a:t>
            </a:r>
          </a:p>
          <a:p>
            <a:pPr marL="342900" indent="-342900"/>
            <a:r>
              <a:rPr lang="en-US" sz="2400" dirty="0"/>
              <a:t>This must be converted to free glucose in order to leave the cell and enter the bloodstream</a:t>
            </a:r>
            <a:r>
              <a:rPr lang="en-US" sz="2400" dirty="0">
                <a:solidFill>
                  <a:schemeClr val="tx1"/>
                </a:solidFill>
              </a:rPr>
              <a:t>.</a:t>
            </a:r>
          </a:p>
        </p:txBody>
      </p:sp>
    </p:spTree>
    <p:extLst>
      <p:ext uri="{BB962C8B-B14F-4D97-AF65-F5344CB8AC3E}">
        <p14:creationId xmlns:p14="http://schemas.microsoft.com/office/powerpoint/2010/main" val="3993753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5" y="221494"/>
            <a:ext cx="8269054" cy="1017880"/>
          </a:xfrm>
        </p:spPr>
        <p:txBody>
          <a:bodyPr lIns="0" tIns="0" rIns="0" bIns="0" anchor="ctr"/>
          <a:lstStyle/>
          <a:p>
            <a:r>
              <a:rPr lang="en-US" dirty="0"/>
              <a:t>The Role of the Smooth </a:t>
            </a:r>
            <a:r>
              <a:rPr lang="en-US" spc="-500" dirty="0"/>
              <a:t>E </a:t>
            </a:r>
            <a:r>
              <a:rPr lang="en-US" dirty="0"/>
              <a:t>R in the Catabolism of Liver Glycogen </a:t>
            </a:r>
            <a:r>
              <a:rPr lang="en-US" sz="2800" dirty="0"/>
              <a:t>(1 of 2)</a:t>
            </a:r>
            <a:endParaRPr lang="en-US" dirty="0"/>
          </a:p>
        </p:txBody>
      </p:sp>
      <p:sp>
        <p:nvSpPr>
          <p:cNvPr id="6" name="Content Placeholder 5"/>
          <p:cNvSpPr>
            <a:spLocks noGrp="1"/>
          </p:cNvSpPr>
          <p:nvPr>
            <p:ph sz="quarter" idx="15"/>
          </p:nvPr>
        </p:nvSpPr>
        <p:spPr>
          <a:xfrm>
            <a:off x="435544" y="1570877"/>
            <a:ext cx="8277930" cy="738664"/>
          </a:xfrm>
        </p:spPr>
        <p:txBody>
          <a:bodyPr wrap="square" lIns="0" tIns="0" rIns="0" bIns="0">
            <a:spAutoFit/>
          </a:bodyPr>
          <a:lstStyle/>
          <a:p>
            <a:pPr marL="0" indent="0">
              <a:buNone/>
            </a:pPr>
            <a:r>
              <a:rPr lang="en-US" sz="2400" b="1" dirty="0"/>
              <a:t>Figure 12.2 </a:t>
            </a:r>
            <a:r>
              <a:rPr lang="en-US" sz="2400" dirty="0"/>
              <a:t>The Role of the Smooth </a:t>
            </a:r>
            <a:r>
              <a:rPr lang="en-US" sz="2400" spc="-300" dirty="0"/>
              <a:t>E </a:t>
            </a:r>
            <a:r>
              <a:rPr lang="en-US" sz="2400" dirty="0"/>
              <a:t>R in the Catabolism of Liver Glycogen.</a:t>
            </a:r>
          </a:p>
        </p:txBody>
      </p:sp>
      <p:pic>
        <p:nvPicPr>
          <p:cNvPr id="5" name="Picture Placeholder 4" descr="A micrograph shows glycogen granules located very closely to smooth endoplasmic reticulum. Mitochondrion is also labeled. The measurement is 0.5 micrometer. An illustration shows the process of glycogen breakdown in the liver.&#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3044"/>
          <a:stretch/>
        </p:blipFill>
        <p:spPr>
          <a:xfrm>
            <a:off x="1954511" y="2565903"/>
            <a:ext cx="5234978" cy="3737901"/>
          </a:xfrm>
        </p:spPr>
      </p:pic>
    </p:spTree>
    <p:extLst>
      <p:ext uri="{BB962C8B-B14F-4D97-AF65-F5344CB8AC3E}">
        <p14:creationId xmlns:p14="http://schemas.microsoft.com/office/powerpoint/2010/main" val="14947396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5" y="221494"/>
            <a:ext cx="8269054" cy="1017880"/>
          </a:xfrm>
        </p:spPr>
        <p:txBody>
          <a:bodyPr lIns="0" tIns="0" rIns="0" bIns="0" anchor="ctr"/>
          <a:lstStyle/>
          <a:p>
            <a:r>
              <a:rPr lang="en-US" dirty="0"/>
              <a:t>The Role of the Smooth </a:t>
            </a:r>
            <a:r>
              <a:rPr lang="en-US" spc="-500" dirty="0"/>
              <a:t>E </a:t>
            </a:r>
            <a:r>
              <a:rPr lang="en-US" dirty="0"/>
              <a:t>R in the Catabolism of Liver Glycogen </a:t>
            </a:r>
            <a:r>
              <a:rPr lang="en-US" sz="2800" dirty="0"/>
              <a:t>(2 of 2)</a:t>
            </a:r>
            <a:endParaRPr lang="en-US" dirty="0"/>
          </a:p>
        </p:txBody>
      </p:sp>
      <p:sp>
        <p:nvSpPr>
          <p:cNvPr id="6" name="Content Placeholder 5"/>
          <p:cNvSpPr>
            <a:spLocks noGrp="1"/>
          </p:cNvSpPr>
          <p:nvPr>
            <p:ph sz="quarter" idx="15"/>
          </p:nvPr>
        </p:nvSpPr>
        <p:spPr>
          <a:xfrm>
            <a:off x="435544" y="1560961"/>
            <a:ext cx="4424631" cy="1107996"/>
          </a:xfrm>
        </p:spPr>
        <p:txBody>
          <a:bodyPr wrap="square" lIns="0" tIns="0" rIns="0" bIns="0">
            <a:spAutoFit/>
          </a:bodyPr>
          <a:lstStyle/>
          <a:p>
            <a:pPr marL="0" indent="0">
              <a:buNone/>
            </a:pPr>
            <a:r>
              <a:rPr lang="en-US" sz="2400" b="1" dirty="0"/>
              <a:t>Figure 12.2 </a:t>
            </a:r>
            <a:r>
              <a:rPr lang="en-US" sz="2400" dirty="0"/>
              <a:t>The Role of the Smooth </a:t>
            </a:r>
            <a:r>
              <a:rPr lang="en-US" sz="2400" spc="-300" dirty="0"/>
              <a:t>E </a:t>
            </a:r>
            <a:r>
              <a:rPr lang="en-US" sz="2400" dirty="0"/>
              <a:t>R in the Catabolism of Liver Glycogen. </a:t>
            </a:r>
          </a:p>
        </p:txBody>
      </p:sp>
      <p:pic>
        <p:nvPicPr>
          <p:cNvPr id="4" name="Picture Placeholder 3" descr="A micrograph shows glycogen granules located very closely to smooth endoplasmic reticulum. Mitochondrion is also labeled. The measurement is 0.5 micrometer. An illustration shows the process of glycogen breakdown in the liver.&#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703"/>
          <a:stretch/>
        </p:blipFill>
        <p:spPr>
          <a:xfrm>
            <a:off x="5073283" y="1633951"/>
            <a:ext cx="3566175" cy="4689022"/>
          </a:xfrm>
        </p:spPr>
      </p:pic>
    </p:spTree>
    <p:extLst>
      <p:ext uri="{BB962C8B-B14F-4D97-AF65-F5344CB8AC3E}">
        <p14:creationId xmlns:p14="http://schemas.microsoft.com/office/powerpoint/2010/main" val="17519397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98952"/>
            <a:ext cx="8302240" cy="553998"/>
          </a:xfrm>
        </p:spPr>
        <p:txBody>
          <a:bodyPr lIns="0" tIns="0" rIns="0" bIns="0" anchor="ctr">
            <a:spAutoFit/>
          </a:bodyPr>
          <a:lstStyle/>
          <a:p>
            <a:r>
              <a:rPr lang="en-US" sz="3600" dirty="0">
                <a:latin typeface="+mj-lt"/>
              </a:rPr>
              <a:t>Calcium Storage</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74"/>
            <a:ext cx="8302240" cy="2970044"/>
          </a:xfrm>
        </p:spPr>
        <p:txBody>
          <a:bodyPr lIns="0" tIns="0" rIns="0" bIns="0">
            <a:spAutoFit/>
          </a:bodyPr>
          <a:lstStyle/>
          <a:p>
            <a:pPr marL="342900" indent="-342900"/>
            <a:r>
              <a:rPr lang="en-US" sz="2400" dirty="0"/>
              <a:t>The </a:t>
            </a:r>
            <a:r>
              <a:rPr lang="en-US" sz="2400" i="1" dirty="0"/>
              <a:t>sarcoplasmic</a:t>
            </a:r>
            <a:r>
              <a:rPr lang="en-US" sz="2400" dirty="0"/>
              <a:t> </a:t>
            </a:r>
            <a:r>
              <a:rPr lang="en-US" sz="2400" i="1" dirty="0"/>
              <a:t>reticulum</a:t>
            </a:r>
            <a:r>
              <a:rPr lang="en-US" sz="2400" dirty="0"/>
              <a:t> of muscle cells is an example of smooth </a:t>
            </a:r>
            <a:r>
              <a:rPr lang="en-US" sz="2400" spc="-300" dirty="0"/>
              <a:t>E </a:t>
            </a:r>
            <a:r>
              <a:rPr lang="en-US" sz="2400" dirty="0"/>
              <a:t>R that specializes in calcium storage</a:t>
            </a:r>
            <a:r>
              <a:rPr lang="en-US" sz="2400" dirty="0">
                <a:solidFill>
                  <a:schemeClr val="tx1"/>
                </a:solidFill>
              </a:rPr>
              <a:t>.</a:t>
            </a:r>
          </a:p>
          <a:p>
            <a:pPr marL="342900" indent="-342900"/>
            <a:r>
              <a:rPr lang="en-US" sz="2400" dirty="0"/>
              <a:t>The </a:t>
            </a:r>
            <a:r>
              <a:rPr lang="en-US" sz="2400" spc="-300" dirty="0"/>
              <a:t>E </a:t>
            </a:r>
            <a:r>
              <a:rPr lang="en-US" sz="2400" dirty="0"/>
              <a:t>R lumen contains high concentrations of calcium-binding proteins</a:t>
            </a:r>
            <a:r>
              <a:rPr lang="en-US" sz="2400" dirty="0">
                <a:solidFill>
                  <a:schemeClr val="tx1"/>
                </a:solidFill>
              </a:rPr>
              <a:t>.</a:t>
            </a:r>
          </a:p>
          <a:p>
            <a:pPr marL="342900" indent="-342900"/>
            <a:r>
              <a:rPr lang="en-US" sz="2400" dirty="0"/>
              <a:t>Calcium ions are pumped into the </a:t>
            </a:r>
            <a:r>
              <a:rPr lang="en-US" sz="2400" spc="-300" dirty="0"/>
              <a:t>E </a:t>
            </a:r>
            <a:r>
              <a:rPr lang="en-US" sz="2400" dirty="0"/>
              <a:t>R by </a:t>
            </a:r>
            <a:r>
              <a:rPr lang="en-US" sz="2400" i="1" spc="-300" dirty="0"/>
              <a:t>A T </a:t>
            </a:r>
            <a:r>
              <a:rPr lang="en-US" sz="2400" i="1" dirty="0"/>
              <a:t>P-dependent</a:t>
            </a:r>
            <a:r>
              <a:rPr lang="en-US" sz="2400" dirty="0"/>
              <a:t> </a:t>
            </a:r>
            <a:r>
              <a:rPr lang="en-US" sz="2400" i="1" dirty="0"/>
              <a:t>calcium</a:t>
            </a:r>
            <a:r>
              <a:rPr lang="en-US" sz="2400" dirty="0"/>
              <a:t> </a:t>
            </a:r>
            <a:r>
              <a:rPr lang="en-US" sz="2400" i="1" spc="-300" dirty="0"/>
              <a:t>A T </a:t>
            </a:r>
            <a:r>
              <a:rPr lang="en-US" sz="2400" i="1" dirty="0"/>
              <a:t>Pases</a:t>
            </a:r>
            <a:r>
              <a:rPr lang="en-US" sz="2400" dirty="0"/>
              <a:t> and are released when needed for muscle contraction</a:t>
            </a:r>
            <a:r>
              <a:rPr lang="en-US" sz="2400" dirty="0">
                <a:solidFill>
                  <a:schemeClr val="tx1"/>
                </a:solidFill>
              </a:rPr>
              <a:t>.</a:t>
            </a:r>
          </a:p>
        </p:txBody>
      </p:sp>
    </p:spTree>
    <p:extLst>
      <p:ext uri="{BB962C8B-B14F-4D97-AF65-F5344CB8AC3E}">
        <p14:creationId xmlns:p14="http://schemas.microsoft.com/office/powerpoint/2010/main" val="24079687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98952"/>
            <a:ext cx="8302240" cy="553998"/>
          </a:xfrm>
        </p:spPr>
        <p:txBody>
          <a:bodyPr lIns="0" tIns="0" rIns="0" bIns="0" anchor="ctr">
            <a:spAutoFit/>
          </a:bodyPr>
          <a:lstStyle/>
          <a:p>
            <a:r>
              <a:rPr lang="en-US" sz="3600" dirty="0">
                <a:latin typeface="+mj-lt"/>
              </a:rPr>
              <a:t>Steroid Biosynthesis </a:t>
            </a:r>
            <a:r>
              <a:rPr lang="en-US" sz="2800" dirty="0">
                <a:latin typeface="+mj-lt"/>
              </a:rPr>
              <a:t>(1 of 2)</a:t>
            </a:r>
            <a:endParaRPr lang="en-US" sz="36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76"/>
            <a:ext cx="8302240" cy="2970044"/>
          </a:xfrm>
        </p:spPr>
        <p:txBody>
          <a:bodyPr lIns="0" tIns="0" rIns="0" bIns="0">
            <a:spAutoFit/>
          </a:bodyPr>
          <a:lstStyle/>
          <a:p>
            <a:pPr marL="342900" indent="-342900"/>
            <a:r>
              <a:rPr lang="en-US" sz="2400" dirty="0"/>
              <a:t>Smooth </a:t>
            </a:r>
            <a:r>
              <a:rPr lang="en-US" sz="2400" spc="-300" dirty="0"/>
              <a:t>E </a:t>
            </a:r>
            <a:r>
              <a:rPr lang="en-US" sz="2400" dirty="0"/>
              <a:t>R in some cells is the site of cholesterol and steroid hormone synthesis</a:t>
            </a:r>
            <a:r>
              <a:rPr lang="en-US" sz="2400" dirty="0">
                <a:solidFill>
                  <a:schemeClr val="tx1"/>
                </a:solidFill>
              </a:rPr>
              <a:t>.</a:t>
            </a:r>
          </a:p>
          <a:p>
            <a:pPr marL="342900" indent="-342900"/>
            <a:r>
              <a:rPr lang="en-US" sz="2400" dirty="0"/>
              <a:t>Large amounts of smooth </a:t>
            </a:r>
            <a:r>
              <a:rPr lang="en-US" sz="2400" spc="-300" dirty="0"/>
              <a:t>E </a:t>
            </a:r>
            <a:r>
              <a:rPr lang="en-US" sz="2400" dirty="0"/>
              <a:t>R are found in cells that synthesize these</a:t>
            </a:r>
            <a:r>
              <a:rPr lang="en-US" sz="2400" dirty="0">
                <a:solidFill>
                  <a:schemeClr val="tx1"/>
                </a:solidFill>
              </a:rPr>
              <a:t>.</a:t>
            </a:r>
            <a:r>
              <a:rPr lang="en-US" sz="2400" dirty="0"/>
              <a:t> </a:t>
            </a:r>
          </a:p>
          <a:p>
            <a:pPr marL="342900" indent="-342900"/>
            <a:r>
              <a:rPr lang="en-US" sz="2400" dirty="0"/>
              <a:t>Smooth </a:t>
            </a:r>
            <a:r>
              <a:rPr lang="en-US" sz="2400" spc="-300" dirty="0"/>
              <a:t>E </a:t>
            </a:r>
            <a:r>
              <a:rPr lang="en-US" sz="2400" dirty="0"/>
              <a:t>R has also been found associated with plastids in some plants and may be involved in plant hormone synthesis</a:t>
            </a:r>
            <a:r>
              <a:rPr lang="en-US" sz="2400" dirty="0">
                <a:solidFill>
                  <a:schemeClr val="tx1"/>
                </a:solidFill>
              </a:rPr>
              <a:t>.</a:t>
            </a:r>
            <a:r>
              <a:rPr lang="en-US" sz="2400" dirty="0"/>
              <a:t> </a:t>
            </a:r>
          </a:p>
        </p:txBody>
      </p:sp>
    </p:spTree>
    <p:extLst>
      <p:ext uri="{BB962C8B-B14F-4D97-AF65-F5344CB8AC3E}">
        <p14:creationId xmlns:p14="http://schemas.microsoft.com/office/powerpoint/2010/main" val="11518437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98952"/>
            <a:ext cx="8302240" cy="553998"/>
          </a:xfrm>
        </p:spPr>
        <p:txBody>
          <a:bodyPr lIns="0" tIns="0" rIns="0" bIns="0" anchor="ctr">
            <a:spAutoFit/>
          </a:bodyPr>
          <a:lstStyle/>
          <a:p>
            <a:r>
              <a:rPr lang="en-US" sz="3600" dirty="0">
                <a:latin typeface="+mj-lt"/>
              </a:rPr>
              <a:t>Steroid Biosynthesis </a:t>
            </a:r>
            <a:r>
              <a:rPr lang="en-US" sz="2800" dirty="0">
                <a:latin typeface="+mj-lt"/>
              </a:rPr>
              <a:t>(2 of 2)</a:t>
            </a:r>
            <a:endParaRPr lang="en-US" sz="36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76"/>
            <a:ext cx="8302240" cy="3339376"/>
          </a:xfrm>
        </p:spPr>
        <p:txBody>
          <a:bodyPr lIns="0" tIns="0" rIns="0" bIns="0">
            <a:spAutoFit/>
          </a:bodyPr>
          <a:lstStyle/>
          <a:p>
            <a:pPr marL="342900" indent="-342900"/>
            <a:r>
              <a:rPr lang="en-US" sz="2400" dirty="0"/>
              <a:t>Cholesterol, cortisol, and steroid hormones share a four-ring structure but differ in the number and arrangement of carbon side chains and hydroxyl groups</a:t>
            </a:r>
            <a:r>
              <a:rPr lang="en-US" sz="2400" dirty="0">
                <a:solidFill>
                  <a:schemeClr val="tx1"/>
                </a:solidFill>
              </a:rPr>
              <a:t>.</a:t>
            </a:r>
          </a:p>
          <a:p>
            <a:pPr marL="342900" indent="-342900"/>
            <a:r>
              <a:rPr lang="en-US" sz="2400" i="1" dirty="0"/>
              <a:t>Hydroxymethylglutary</a:t>
            </a:r>
            <a:r>
              <a:rPr lang="en-US" sz="2400" i="1" dirty="0">
                <a:solidFill>
                  <a:schemeClr val="tx1"/>
                </a:solidFill>
              </a:rPr>
              <a:t>l-CoA</a:t>
            </a:r>
            <a:r>
              <a:rPr lang="en-US" sz="2400" i="1" dirty="0">
                <a:solidFill>
                  <a:srgbClr val="FF0000"/>
                </a:solidFill>
              </a:rPr>
              <a:t> </a:t>
            </a:r>
            <a:r>
              <a:rPr lang="en-US" sz="2400" i="1" dirty="0"/>
              <a:t>reductase</a:t>
            </a:r>
            <a:r>
              <a:rPr lang="en-US" sz="2400" dirty="0"/>
              <a:t> (</a:t>
            </a:r>
            <a:r>
              <a:rPr lang="en-US" sz="2400" i="1" spc="-300" dirty="0"/>
              <a:t>H M G </a:t>
            </a:r>
            <a:r>
              <a:rPr lang="en-US" sz="2400" i="1" dirty="0">
                <a:solidFill>
                  <a:schemeClr val="tx1"/>
                </a:solidFill>
              </a:rPr>
              <a:t>-CoA  </a:t>
            </a:r>
            <a:r>
              <a:rPr lang="en-US" sz="2400" i="1" dirty="0"/>
              <a:t>reductase</a:t>
            </a:r>
            <a:r>
              <a:rPr lang="en-US" sz="2400" dirty="0"/>
              <a:t>) is the committed step in cholesterol biosynthesis</a:t>
            </a:r>
            <a:r>
              <a:rPr lang="en-US" sz="2400" dirty="0">
                <a:solidFill>
                  <a:schemeClr val="tx1"/>
                </a:solidFill>
              </a:rPr>
              <a:t>. </a:t>
            </a:r>
          </a:p>
          <a:p>
            <a:pPr marL="342900" indent="-342900"/>
            <a:r>
              <a:rPr lang="en-US" sz="2400" dirty="0"/>
              <a:t>It is found in smooth </a:t>
            </a:r>
            <a:r>
              <a:rPr lang="en-US" sz="2400" spc="-300" dirty="0"/>
              <a:t>E </a:t>
            </a:r>
            <a:r>
              <a:rPr lang="en-US" sz="2400" dirty="0"/>
              <a:t>R of liver cells and is targeted by cholesterol-lowering drugs called </a:t>
            </a:r>
            <a:r>
              <a:rPr lang="en-US" sz="2400" i="1" dirty="0"/>
              <a:t>statins</a:t>
            </a:r>
            <a:r>
              <a:rPr lang="en-US" sz="2400" dirty="0">
                <a:solidFill>
                  <a:schemeClr val="tx1"/>
                </a:solidFill>
              </a:rPr>
              <a:t>.</a:t>
            </a:r>
            <a:endParaRPr lang="en-US" sz="2400" i="1" dirty="0">
              <a:solidFill>
                <a:schemeClr val="tx1"/>
              </a:solidFill>
            </a:endParaRPr>
          </a:p>
        </p:txBody>
      </p:sp>
    </p:spTree>
    <p:extLst>
      <p:ext uri="{BB962C8B-B14F-4D97-AF65-F5344CB8AC3E}">
        <p14:creationId xmlns:p14="http://schemas.microsoft.com/office/powerpoint/2010/main" val="20456839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5785"/>
            <a:ext cx="8302240" cy="1107996"/>
          </a:xfrm>
        </p:spPr>
        <p:txBody>
          <a:bodyPr lIns="0" tIns="0" rIns="0" bIns="0" anchor="ctr">
            <a:spAutoFit/>
          </a:bodyPr>
          <a:lstStyle/>
          <a:p>
            <a:r>
              <a:rPr lang="en-US" sz="3600" dirty="0">
                <a:latin typeface="+mj-lt"/>
              </a:rPr>
              <a:t>The </a:t>
            </a:r>
            <a:r>
              <a:rPr lang="en-US" sz="3600" spc="-500" dirty="0">
                <a:latin typeface="+mj-lt"/>
              </a:rPr>
              <a:t>E R</a:t>
            </a:r>
            <a:r>
              <a:rPr lang="en-US" sz="3600" dirty="0">
                <a:latin typeface="+mj-lt"/>
              </a:rPr>
              <a:t> Plays a Central Role in the Biosynthesis of Membranes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62340"/>
            <a:ext cx="8302240" cy="2793072"/>
          </a:xfrm>
          <a:noFill/>
          <a:ln>
            <a:noFill/>
          </a:ln>
        </p:spPr>
        <p:txBody>
          <a:bodyPr lIns="0" tIns="0" rIns="0" bIns="0" anchor="t" anchorCtr="0">
            <a:spAutoFit/>
          </a:bodyPr>
          <a:lstStyle/>
          <a:p>
            <a:pPr marL="342900" indent="-342900"/>
            <a:r>
              <a:rPr lang="en-US" sz="2400" dirty="0"/>
              <a:t>In eukaryotic cells, the </a:t>
            </a:r>
            <a:r>
              <a:rPr lang="en-US" sz="2400" spc="-300" dirty="0"/>
              <a:t>E </a:t>
            </a:r>
            <a:r>
              <a:rPr lang="en-US" sz="2400" dirty="0"/>
              <a:t>R is the primary source of membrane lipids, with a few exceptions</a:t>
            </a:r>
            <a:r>
              <a:rPr lang="en-US" sz="2400" dirty="0">
                <a:solidFill>
                  <a:schemeClr val="tx1"/>
                </a:solidFill>
              </a:rPr>
              <a:t>.</a:t>
            </a:r>
          </a:p>
          <a:p>
            <a:pPr marL="342900" indent="-342900"/>
            <a:r>
              <a:rPr lang="en-US" sz="2400" dirty="0"/>
              <a:t>Mitochondria synthesize phosphatidylethanolamine</a:t>
            </a:r>
            <a:r>
              <a:rPr lang="en-US" sz="2400" dirty="0">
                <a:solidFill>
                  <a:schemeClr val="tx1"/>
                </a:solidFill>
              </a:rPr>
              <a:t>.</a:t>
            </a:r>
          </a:p>
          <a:p>
            <a:pPr marL="342900" indent="-342900"/>
            <a:r>
              <a:rPr lang="en-US" sz="2400" dirty="0"/>
              <a:t>Peroxisomes synthesize cholestero</a:t>
            </a:r>
            <a:r>
              <a:rPr lang="en-US" sz="2400" dirty="0">
                <a:solidFill>
                  <a:schemeClr val="tx1"/>
                </a:solidFill>
              </a:rPr>
              <a:t>l.</a:t>
            </a:r>
          </a:p>
          <a:p>
            <a:pPr marL="342900" indent="-342900"/>
            <a:r>
              <a:rPr lang="en-US" sz="2400" dirty="0"/>
              <a:t>Chloroplasts contain enzymes for chloroplast-specific lipids</a:t>
            </a:r>
            <a:r>
              <a:rPr lang="en-US" sz="2400" dirty="0">
                <a:solidFill>
                  <a:schemeClr val="tx1"/>
                </a:solidFill>
              </a:rPr>
              <a:t>.</a:t>
            </a:r>
          </a:p>
        </p:txBody>
      </p:sp>
    </p:spTree>
    <p:extLst>
      <p:ext uri="{BB962C8B-B14F-4D97-AF65-F5344CB8AC3E}">
        <p14:creationId xmlns:p14="http://schemas.microsoft.com/office/powerpoint/2010/main" val="35433552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7760"/>
            <a:ext cx="8302240" cy="553998"/>
          </a:xfrm>
        </p:spPr>
        <p:txBody>
          <a:bodyPr lIns="0" tIns="0" rIns="0" bIns="0" anchor="ctr">
            <a:spAutoFit/>
          </a:bodyPr>
          <a:lstStyle/>
          <a:p>
            <a:r>
              <a:rPr lang="en-US" sz="3600" dirty="0">
                <a:latin typeface="+mj-lt"/>
              </a:rPr>
              <a:t>Membrane Biosynthesis </a:t>
            </a:r>
            <a:r>
              <a:rPr lang="en-US" sz="2800" dirty="0">
                <a:latin typeface="+mj-lt"/>
              </a:rPr>
              <a:t>(1 of 2)</a:t>
            </a:r>
            <a:endParaRPr lang="en-US" sz="36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76"/>
            <a:ext cx="8302240" cy="3339376"/>
          </a:xfrm>
        </p:spPr>
        <p:txBody>
          <a:bodyPr lIns="0" tIns="0" rIns="0" bIns="0">
            <a:spAutoFit/>
          </a:bodyPr>
          <a:lstStyle/>
          <a:p>
            <a:pPr marL="342900" indent="-342900"/>
            <a:r>
              <a:rPr lang="en-US" sz="2400" dirty="0"/>
              <a:t>Fatty acids for membrane phospholipids are synthesized in the cytoplasm and incorporated into the </a:t>
            </a:r>
            <a:r>
              <a:rPr lang="en-US" sz="2400" spc="-300" dirty="0"/>
              <a:t>E </a:t>
            </a:r>
            <a:r>
              <a:rPr lang="en-US" sz="2400" dirty="0"/>
              <a:t>R membrane on the cytosolic side</a:t>
            </a:r>
            <a:r>
              <a:rPr lang="en-US" sz="2400" dirty="0">
                <a:solidFill>
                  <a:schemeClr val="tx1"/>
                </a:solidFill>
              </a:rPr>
              <a:t>.</a:t>
            </a:r>
          </a:p>
          <a:p>
            <a:pPr marL="342900" indent="-342900"/>
            <a:r>
              <a:rPr lang="en-US" sz="2400" dirty="0"/>
              <a:t>They are transferred to the lumenal side of the </a:t>
            </a:r>
            <a:r>
              <a:rPr lang="en-US" sz="2400" i="1" dirty="0"/>
              <a:t>bilayer</a:t>
            </a:r>
            <a:r>
              <a:rPr lang="en-US" sz="2400" dirty="0"/>
              <a:t> by enzymes called </a:t>
            </a:r>
            <a:r>
              <a:rPr lang="en-US" sz="2400" b="1" dirty="0"/>
              <a:t>phospholipid</a:t>
            </a:r>
            <a:r>
              <a:rPr lang="en-US" sz="2400" dirty="0"/>
              <a:t> </a:t>
            </a:r>
            <a:r>
              <a:rPr lang="en-US" sz="2400" b="1" dirty="0"/>
              <a:t>translocators</a:t>
            </a:r>
            <a:r>
              <a:rPr lang="en-US" sz="2400" dirty="0"/>
              <a:t> (</a:t>
            </a:r>
            <a:r>
              <a:rPr lang="en-US" sz="2400" b="1" dirty="0"/>
              <a:t>flippases</a:t>
            </a:r>
            <a:r>
              <a:rPr lang="en-US" sz="2400" dirty="0"/>
              <a:t>)</a:t>
            </a:r>
            <a:r>
              <a:rPr lang="en-US" sz="2400" dirty="0">
                <a:solidFill>
                  <a:schemeClr val="tx1"/>
                </a:solidFill>
              </a:rPr>
              <a:t>.</a:t>
            </a:r>
          </a:p>
          <a:p>
            <a:pPr marL="342900" indent="-342900"/>
            <a:r>
              <a:rPr lang="en-US" sz="2400" dirty="0"/>
              <a:t>The type of phospholipid molecules transferred across the membrane depends on the particular translocator present, leading to </a:t>
            </a:r>
            <a:r>
              <a:rPr lang="en-US" sz="2400" i="1" dirty="0"/>
              <a:t>membrane</a:t>
            </a:r>
            <a:r>
              <a:rPr lang="en-US" sz="2400" dirty="0"/>
              <a:t> </a:t>
            </a:r>
            <a:r>
              <a:rPr lang="en-US" sz="2400" i="1" dirty="0"/>
              <a:t>asymmetry</a:t>
            </a:r>
            <a:r>
              <a:rPr lang="en-US" sz="2400" dirty="0">
                <a:solidFill>
                  <a:schemeClr val="tx1"/>
                </a:solidFill>
              </a:rPr>
              <a:t>.</a:t>
            </a:r>
            <a:endParaRPr lang="en-US" sz="2400" i="1" dirty="0">
              <a:solidFill>
                <a:schemeClr val="tx1"/>
              </a:solidFill>
            </a:endParaRPr>
          </a:p>
        </p:txBody>
      </p:sp>
    </p:spTree>
    <p:extLst>
      <p:ext uri="{BB962C8B-B14F-4D97-AF65-F5344CB8AC3E}">
        <p14:creationId xmlns:p14="http://schemas.microsoft.com/office/powerpoint/2010/main" val="3963201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7760"/>
            <a:ext cx="8302240" cy="553998"/>
          </a:xfrm>
        </p:spPr>
        <p:txBody>
          <a:bodyPr lIns="0" tIns="0" rIns="0" bIns="0" anchor="ctr">
            <a:spAutoFit/>
          </a:bodyPr>
          <a:lstStyle/>
          <a:p>
            <a:r>
              <a:rPr lang="en-US" sz="3600" dirty="0">
                <a:latin typeface="+mj-lt"/>
              </a:rPr>
              <a:t>Membrane Biosynthesis </a:t>
            </a:r>
            <a:r>
              <a:rPr lang="en-US" sz="2800" dirty="0">
                <a:latin typeface="+mj-lt"/>
              </a:rPr>
              <a:t>(2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75"/>
            <a:ext cx="8302240" cy="3339376"/>
          </a:xfrm>
        </p:spPr>
        <p:txBody>
          <a:bodyPr lIns="0" tIns="0" rIns="0" bIns="0">
            <a:spAutoFit/>
          </a:bodyPr>
          <a:lstStyle/>
          <a:p>
            <a:pPr marL="342900" indent="-342900"/>
            <a:r>
              <a:rPr lang="en-US" sz="2400" dirty="0"/>
              <a:t>The distinct composition of cytosolic and lumenal monolayers established in the </a:t>
            </a:r>
            <a:r>
              <a:rPr lang="en-US" sz="2400" spc="-300" dirty="0"/>
              <a:t>E </a:t>
            </a:r>
            <a:r>
              <a:rPr lang="en-US" sz="2400" dirty="0"/>
              <a:t>R is transferred to other cellular membranes</a:t>
            </a:r>
            <a:r>
              <a:rPr lang="en-US" sz="2400" dirty="0">
                <a:solidFill>
                  <a:schemeClr val="tx1"/>
                </a:solidFill>
              </a:rPr>
              <a:t>.</a:t>
            </a:r>
          </a:p>
          <a:p>
            <a:pPr marL="342900" indent="-342900"/>
            <a:r>
              <a:rPr lang="en-US" sz="2400" dirty="0"/>
              <a:t>Movement of phospholipids from </a:t>
            </a:r>
            <a:r>
              <a:rPr lang="en-US" sz="2400" spc="-300" dirty="0"/>
              <a:t>E </a:t>
            </a:r>
            <a:r>
              <a:rPr lang="en-US" sz="2400" dirty="0"/>
              <a:t>R to mitochondria, chloroplasts, or peroxisomes is problematic</a:t>
            </a:r>
            <a:r>
              <a:rPr lang="en-US" sz="2400" dirty="0">
                <a:solidFill>
                  <a:schemeClr val="tx1"/>
                </a:solidFill>
              </a:rPr>
              <a:t>.</a:t>
            </a:r>
          </a:p>
          <a:p>
            <a:pPr marL="342900" indent="-342900"/>
            <a:r>
              <a:rPr lang="en-US" sz="2400" b="1" dirty="0"/>
              <a:t>Phospholipid exchange proteins </a:t>
            </a:r>
            <a:r>
              <a:rPr lang="en-US" sz="2400" dirty="0"/>
              <a:t>(</a:t>
            </a:r>
            <a:r>
              <a:rPr lang="en-US" sz="2400" i="1" dirty="0"/>
              <a:t>phospholipid transfer proteins</a:t>
            </a:r>
            <a:r>
              <a:rPr lang="en-US" sz="2400" dirty="0"/>
              <a:t>) convey specific phospholipids to these organelles</a:t>
            </a:r>
            <a:r>
              <a:rPr lang="en-US" sz="2400" dirty="0">
                <a:solidFill>
                  <a:schemeClr val="tx1"/>
                </a:solidFill>
              </a:rPr>
              <a:t>.</a:t>
            </a:r>
          </a:p>
        </p:txBody>
      </p:sp>
    </p:spTree>
    <p:extLst>
      <p:ext uri="{BB962C8B-B14F-4D97-AF65-F5344CB8AC3E}">
        <p14:creationId xmlns:p14="http://schemas.microsoft.com/office/powerpoint/2010/main" val="974556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0351"/>
            <a:ext cx="8302240" cy="1107996"/>
          </a:xfrm>
        </p:spPr>
        <p:txBody>
          <a:bodyPr lIns="0" tIns="0" rIns="0" bIns="0" anchor="ctr">
            <a:spAutoFit/>
          </a:bodyPr>
          <a:lstStyle/>
          <a:p>
            <a:r>
              <a:rPr lang="en-US" sz="3600" dirty="0">
                <a:latin typeface="+mj-lt"/>
              </a:rPr>
              <a:t>Composition of the </a:t>
            </a:r>
            <a:r>
              <a:rPr lang="en-US" sz="3600" spc="-500" dirty="0">
                <a:latin typeface="+mj-lt"/>
              </a:rPr>
              <a:t>E </a:t>
            </a:r>
            <a:r>
              <a:rPr lang="en-US" sz="3600" dirty="0">
                <a:latin typeface="+mj-lt"/>
              </a:rPr>
              <a:t>R and Plasma Membranes of Rat Liver Cells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383369"/>
            <a:ext cx="8302240" cy="738664"/>
          </a:xfrm>
        </p:spPr>
        <p:txBody>
          <a:bodyPr lIns="0" tIns="0" rIns="0" bIns="0">
            <a:spAutoFit/>
          </a:bodyPr>
          <a:lstStyle/>
          <a:p>
            <a:pPr marL="0" indent="0">
              <a:buNone/>
            </a:pPr>
            <a:r>
              <a:rPr lang="en-US" sz="2400" b="1" dirty="0"/>
              <a:t>Table 12.1 </a:t>
            </a:r>
            <a:r>
              <a:rPr lang="en-US" sz="2400" dirty="0"/>
              <a:t>Composition of the </a:t>
            </a:r>
            <a:r>
              <a:rPr lang="en-US" sz="2400" spc="-300" dirty="0"/>
              <a:t>E </a:t>
            </a:r>
            <a:r>
              <a:rPr lang="en-US" sz="2400" dirty="0"/>
              <a:t>R and Plasma Membranes of Rat Liver Cells</a:t>
            </a:r>
          </a:p>
        </p:txBody>
      </p:sp>
      <p:graphicFrame>
        <p:nvGraphicFramePr>
          <p:cNvPr id="5" name="Table 4" descr="Table showing data on composition of the ER and plasma membranes of Rat liver cell.&#10;Long description is available in notes, press F6">
            <a:extLst>
              <a:ext uri="{FF2B5EF4-FFF2-40B4-BE49-F238E27FC236}">
                <a16:creationId xmlns:a16="http://schemas.microsoft.com/office/drawing/2014/main" xmlns="" id="{FA2CA942-6C77-4F2E-98A9-C402C86A0648}"/>
              </a:ext>
            </a:extLst>
          </p:cNvPr>
          <p:cNvGraphicFramePr>
            <a:graphicFrameLocks noGrp="1"/>
          </p:cNvGraphicFramePr>
          <p:nvPr>
            <p:extLst>
              <p:ext uri="{D42A27DB-BD31-4B8C-83A1-F6EECF244321}">
                <p14:modId xmlns:p14="http://schemas.microsoft.com/office/powerpoint/2010/main" val="2646588747"/>
              </p:ext>
            </p:extLst>
          </p:nvPr>
        </p:nvGraphicFramePr>
        <p:xfrm>
          <a:off x="419100" y="2217053"/>
          <a:ext cx="8275449" cy="4074890"/>
        </p:xfrm>
        <a:graphic>
          <a:graphicData uri="http://schemas.openxmlformats.org/drawingml/2006/table">
            <a:tbl>
              <a:tblPr firstRow="1" bandRow="1">
                <a:effectLst/>
                <a:tableStyleId>{284E427A-3D55-4303-BF80-6455036E1DE7}</a:tableStyleId>
              </a:tblPr>
              <a:tblGrid>
                <a:gridCol w="4724400">
                  <a:extLst>
                    <a:ext uri="{9D8B030D-6E8A-4147-A177-3AD203B41FA5}">
                      <a16:colId xmlns:a16="http://schemas.microsoft.com/office/drawing/2014/main" xmlns="" val="1658984426"/>
                    </a:ext>
                  </a:extLst>
                </a:gridCol>
                <a:gridCol w="1567543">
                  <a:extLst>
                    <a:ext uri="{9D8B030D-6E8A-4147-A177-3AD203B41FA5}">
                      <a16:colId xmlns:a16="http://schemas.microsoft.com/office/drawing/2014/main" xmlns="" val="1145553899"/>
                    </a:ext>
                  </a:extLst>
                </a:gridCol>
                <a:gridCol w="1983506">
                  <a:extLst>
                    <a:ext uri="{9D8B030D-6E8A-4147-A177-3AD203B41FA5}">
                      <a16:colId xmlns:a16="http://schemas.microsoft.com/office/drawing/2014/main" xmlns="" val="2656271566"/>
                    </a:ext>
                  </a:extLst>
                </a:gridCol>
              </a:tblGrid>
              <a:tr h="3741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i="0" u="none" strike="noStrike" cap="none" baseline="0" dirty="0">
                          <a:solidFill>
                            <a:schemeClr val="lt1"/>
                          </a:solidFill>
                          <a:latin typeface="+mn-lt"/>
                          <a:ea typeface="+mn-ea"/>
                          <a:cs typeface="+mn-cs"/>
                          <a:sym typeface="Arial"/>
                        </a:rPr>
                        <a:t>Membrane Components</a:t>
                      </a:r>
                      <a:endParaRPr lang="en-IN" sz="1400" dirty="0">
                        <a:latin typeface="+mn-lt"/>
                      </a:endParaRPr>
                    </a:p>
                  </a:txBody>
                  <a:tcPr>
                    <a:lnL w="9525" cap="flat" cmpd="sng" algn="ctr">
                      <a:noFill/>
                      <a:prstDash val="solid"/>
                    </a:lnL>
                    <a:lnR>
                      <a:noFill/>
                    </a:lnR>
                    <a:lnT w="9525" cap="flat" cmpd="sng" algn="ctr">
                      <a:noFill/>
                      <a:prstDash val="solid"/>
                    </a:lnT>
                    <a:lnB w="25400" cap="flat" cmpd="sng" algn="ctr">
                      <a:noFill/>
                      <a:prstDash val="solid"/>
                    </a:lnB>
                    <a:lnTlToBr w="12700" cmpd="sng">
                      <a:noFill/>
                      <a:prstDash val="solid"/>
                    </a:lnTlToBr>
                    <a:lnBlToTr w="12700" cmpd="sng">
                      <a:noFill/>
                      <a:prstDash val="solid"/>
                    </a:lnBlToTr>
                    <a:solidFill>
                      <a:srgbClr val="007FA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i="0" u="none" strike="noStrike" baseline="0" dirty="0">
                          <a:latin typeface="+mn-lt"/>
                        </a:rPr>
                        <a:t>ER Membrane</a:t>
                      </a:r>
                    </a:p>
                  </a:txBody>
                  <a:tcPr>
                    <a:lnL>
                      <a:noFill/>
                    </a:lnL>
                    <a:lnR>
                      <a:noFill/>
                    </a:lnR>
                    <a:lnT w="9525" cap="flat" cmpd="sng" algn="ctr">
                      <a:noFill/>
                      <a:prstDash val="solid"/>
                    </a:lnT>
                    <a:lnB w="25400" cap="flat" cmpd="sng" algn="ctr">
                      <a:noFill/>
                      <a:prstDash val="solid"/>
                    </a:lnB>
                    <a:lnTlToBr w="12700" cmpd="sng">
                      <a:noFill/>
                      <a:prstDash val="solid"/>
                    </a:lnTlToBr>
                    <a:lnBlToTr w="12700" cmpd="sng">
                      <a:noFill/>
                      <a:prstDash val="solid"/>
                    </a:lnBlToTr>
                    <a:solidFill>
                      <a:srgbClr val="007FA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i="0" u="none" strike="noStrike" baseline="0" dirty="0">
                          <a:latin typeface="+mn-lt"/>
                        </a:rPr>
                        <a:t>Plasma Membrane</a:t>
                      </a:r>
                      <a:endParaRPr lang="en-IN" sz="1400" dirty="0">
                        <a:latin typeface="+mn-lt"/>
                      </a:endParaRPr>
                    </a:p>
                  </a:txBody>
                  <a:tcPr>
                    <a:lnL>
                      <a:noFill/>
                    </a:lnL>
                    <a:lnR w="9525" cap="flat" cmpd="sng" algn="ctr">
                      <a:noFill/>
                      <a:prstDash val="solid"/>
                    </a:lnR>
                    <a:lnT w="9525" cap="flat" cmpd="sng" algn="ctr">
                      <a:noFill/>
                      <a:prstDash val="solid"/>
                    </a:lnT>
                    <a:lnB w="25400" cap="flat" cmpd="sng" algn="ctr">
                      <a:noFill/>
                      <a:prstDash val="soli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xmlns="" val="250596479"/>
                  </a:ext>
                </a:extLst>
              </a:tr>
              <a:tr h="3479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u="none" strike="noStrike" cap="none" baseline="0" dirty="0">
                          <a:solidFill>
                            <a:schemeClr val="dk1"/>
                          </a:solidFill>
                          <a:latin typeface="+mn-lt"/>
                          <a:ea typeface="+mn-ea"/>
                          <a:cs typeface="+mn-cs"/>
                          <a:sym typeface="Arial"/>
                        </a:rPr>
                        <a:t>Membrane components as % of membrane by weight</a:t>
                      </a:r>
                      <a:endParaRPr lang="en-IN" sz="1400" dirty="0">
                        <a:latin typeface="+mn-lt"/>
                      </a:endParaRPr>
                    </a:p>
                  </a:txBody>
                  <a:tcPr>
                    <a:lnL w="9525" cap="flat" cmpd="sng" algn="ctr">
                      <a:noFill/>
                      <a:prstDash val="solid"/>
                    </a:lnL>
                    <a:lnR w="9525" cap="flat" cmpd="sng" algn="ctr">
                      <a:noFill/>
                      <a:prstDash val="solid"/>
                    </a:lnR>
                    <a:lnT w="25400"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pPr algn="ctr"/>
                      <a:endParaRPr lang="en-US" sz="100" dirty="0">
                        <a:latin typeface="Arial Black" panose="020B0A04020102020204" pitchFamily="34" charset="0"/>
                      </a:endParaRPr>
                    </a:p>
                  </a:txBody>
                  <a:tcPr>
                    <a:lnL w="9525" cap="flat" cmpd="sng" algn="ctr">
                      <a:noFill/>
                      <a:prstDash val="solid"/>
                    </a:lnL>
                    <a:lnR w="9525" cap="flat" cmpd="sng" algn="ctr">
                      <a:noFill/>
                      <a:prstDash val="solid"/>
                    </a:lnR>
                    <a:lnT w="25400"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pPr algn="ctr"/>
                      <a:endParaRPr lang="en-US" dirty="0"/>
                    </a:p>
                  </a:txBody>
                  <a:tcPr>
                    <a:lnL w="9525" cap="flat" cmpd="sng" algn="ctr">
                      <a:noFill/>
                      <a:prstDash val="solid"/>
                    </a:lnL>
                    <a:lnR w="9525" cap="flat" cmpd="sng" algn="ctr">
                      <a:noFill/>
                      <a:prstDash val="solid"/>
                    </a:lnR>
                    <a:lnT w="25400"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xmlns="" val="200346216"/>
                  </a:ext>
                </a:extLst>
              </a:tr>
              <a:tr h="293538">
                <a:tc>
                  <a:txBody>
                    <a:bodyPr/>
                    <a:lstStyle/>
                    <a:p>
                      <a:r>
                        <a:rPr lang="en-IN" sz="1400" b="0" i="0" u="none" strike="noStrike" cap="none" baseline="0" dirty="0">
                          <a:solidFill>
                            <a:schemeClr val="dk1"/>
                          </a:solidFill>
                          <a:latin typeface="+mn-lt"/>
                          <a:ea typeface="+mn-ea"/>
                          <a:cs typeface="+mn-cs"/>
                          <a:sym typeface="Arial"/>
                        </a:rPr>
                        <a:t>Carbohydrate</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pPr algn="ctr"/>
                      <a:r>
                        <a:rPr lang="en-US" sz="1400" dirty="0">
                          <a:latin typeface="+mn-lt"/>
                        </a:rPr>
                        <a:t>10</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pPr algn="ctr"/>
                      <a:r>
                        <a:rPr lang="en-US" sz="1400" dirty="0">
                          <a:latin typeface="+mn-lt"/>
                        </a:rPr>
                        <a:t>10</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xmlns="" val="3514101768"/>
                  </a:ext>
                </a:extLst>
              </a:tr>
              <a:tr h="293538">
                <a:tc>
                  <a:txBody>
                    <a:bodyPr/>
                    <a:lstStyle/>
                    <a:p>
                      <a:r>
                        <a:rPr lang="en-IN" sz="1400" b="0" i="0" u="none" strike="noStrike" cap="none" baseline="0" dirty="0">
                          <a:solidFill>
                            <a:schemeClr val="dk1"/>
                          </a:solidFill>
                          <a:latin typeface="+mn-lt"/>
                          <a:ea typeface="+mn-ea"/>
                          <a:cs typeface="+mn-cs"/>
                          <a:sym typeface="Arial"/>
                        </a:rPr>
                        <a:t>Protein</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pPr algn="ctr"/>
                      <a:r>
                        <a:rPr lang="en-IN" sz="1400" b="0" i="0" u="none" strike="noStrike" cap="none" baseline="0" dirty="0">
                          <a:solidFill>
                            <a:schemeClr val="dk1"/>
                          </a:solidFill>
                          <a:latin typeface="+mn-lt"/>
                          <a:ea typeface="+mn-ea"/>
                          <a:cs typeface="+mn-cs"/>
                          <a:sym typeface="Arial"/>
                        </a:rPr>
                        <a:t>62</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pPr algn="ctr"/>
                      <a:r>
                        <a:rPr lang="en-US" sz="1400" dirty="0">
                          <a:latin typeface="+mn-lt"/>
                        </a:rPr>
                        <a:t>54</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xmlns="" val="3740630900"/>
                  </a:ext>
                </a:extLst>
              </a:tr>
              <a:tr h="293538">
                <a:tc>
                  <a:txBody>
                    <a:bodyPr/>
                    <a:lstStyle/>
                    <a:p>
                      <a:r>
                        <a:rPr lang="en-IN" sz="1400" b="0" i="0" u="none" strike="noStrike" cap="none" baseline="0" dirty="0">
                          <a:solidFill>
                            <a:schemeClr val="dk1"/>
                          </a:solidFill>
                          <a:latin typeface="+mn-lt"/>
                          <a:ea typeface="+mn-ea"/>
                          <a:cs typeface="+mn-cs"/>
                          <a:sym typeface="Arial"/>
                        </a:rPr>
                        <a:t>Total lipid</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pPr algn="ctr"/>
                      <a:r>
                        <a:rPr lang="en-US" sz="1400" dirty="0">
                          <a:latin typeface="+mn-lt"/>
                        </a:rPr>
                        <a:t>27</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pPr algn="ctr"/>
                      <a:r>
                        <a:rPr lang="en-US" sz="1400" dirty="0">
                          <a:latin typeface="+mn-lt"/>
                        </a:rPr>
                        <a:t>36</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xmlns="" val="573464267"/>
                  </a:ext>
                </a:extLst>
              </a:tr>
              <a:tr h="293538">
                <a:tc>
                  <a:txBody>
                    <a:bodyPr/>
                    <a:lstStyle/>
                    <a:p>
                      <a:r>
                        <a:rPr lang="en-US" sz="1400" b="1" i="0" u="none" strike="noStrike" cap="none" baseline="0" dirty="0">
                          <a:solidFill>
                            <a:schemeClr val="dk1"/>
                          </a:solidFill>
                          <a:latin typeface="+mn-lt"/>
                          <a:ea typeface="+mn-ea"/>
                          <a:cs typeface="+mn-cs"/>
                          <a:sym typeface="Arial"/>
                        </a:rPr>
                        <a:t>Membrane lipids as % of total lipids by weight</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pPr algn="ctr"/>
                      <a:endParaRPr lang="en-US"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pPr algn="ctr"/>
                      <a:endParaRPr lang="en-US" dirty="0"/>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xmlns="" val="1782726457"/>
                  </a:ext>
                </a:extLst>
              </a:tr>
              <a:tr h="293538">
                <a:tc>
                  <a:txBody>
                    <a:bodyPr/>
                    <a:lstStyle/>
                    <a:p>
                      <a:r>
                        <a:rPr lang="en-IN" sz="1400" b="0" i="0" u="none" strike="noStrike" cap="none" baseline="0" dirty="0">
                          <a:solidFill>
                            <a:schemeClr val="dk1"/>
                          </a:solidFill>
                          <a:latin typeface="+mn-lt"/>
                          <a:ea typeface="+mn-ea"/>
                          <a:cs typeface="+mn-cs"/>
                          <a:sym typeface="Arial"/>
                        </a:rPr>
                        <a:t>Phosphatidylcholine</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pPr algn="ctr"/>
                      <a:r>
                        <a:rPr lang="en-US" sz="1400" dirty="0">
                          <a:latin typeface="+mn-lt"/>
                        </a:rPr>
                        <a:t>40</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pPr algn="ctr"/>
                      <a:r>
                        <a:rPr lang="en-US" sz="1400" dirty="0">
                          <a:latin typeface="+mn-lt"/>
                        </a:rPr>
                        <a:t>24</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xmlns="" val="3457940212"/>
                  </a:ext>
                </a:extLst>
              </a:tr>
              <a:tr h="293538">
                <a:tc>
                  <a:txBody>
                    <a:bodyPr/>
                    <a:lstStyle/>
                    <a:p>
                      <a:r>
                        <a:rPr lang="en-IN" sz="1400" b="0" i="0" u="none" strike="noStrike" cap="none" baseline="0" dirty="0">
                          <a:solidFill>
                            <a:schemeClr val="dk1"/>
                          </a:solidFill>
                          <a:latin typeface="+mn-lt"/>
                          <a:ea typeface="+mn-ea"/>
                          <a:cs typeface="+mn-cs"/>
                          <a:sym typeface="Arial"/>
                        </a:rPr>
                        <a:t>Phosphatidylethanolamine</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pPr algn="ctr"/>
                      <a:r>
                        <a:rPr lang="en-US" sz="1400" dirty="0">
                          <a:latin typeface="+mn-lt"/>
                        </a:rPr>
                        <a:t>17</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pPr algn="ctr"/>
                      <a:r>
                        <a:rPr lang="en-US" sz="1400" dirty="0">
                          <a:latin typeface="+mn-lt"/>
                        </a:rPr>
                        <a:t>  7</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xmlns="" val="3542977339"/>
                  </a:ext>
                </a:extLst>
              </a:tr>
              <a:tr h="293538">
                <a:tc>
                  <a:txBody>
                    <a:bodyPr/>
                    <a:lstStyle/>
                    <a:p>
                      <a:r>
                        <a:rPr lang="en-IN" sz="1400" b="0" i="0" u="none" strike="noStrike" cap="none" baseline="0" dirty="0">
                          <a:solidFill>
                            <a:schemeClr val="dk1"/>
                          </a:solidFill>
                          <a:latin typeface="+mn-lt"/>
                          <a:ea typeface="+mn-ea"/>
                          <a:cs typeface="+mn-cs"/>
                          <a:sym typeface="Arial"/>
                        </a:rPr>
                        <a:t>Phosphatidylserine</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pPr algn="ctr"/>
                      <a:r>
                        <a:rPr lang="en-US" sz="1400" dirty="0">
                          <a:latin typeface="+mn-lt"/>
                        </a:rPr>
                        <a:t> 5</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pPr algn="ctr"/>
                      <a:r>
                        <a:rPr lang="en-US" sz="1400" dirty="0">
                          <a:latin typeface="+mn-lt"/>
                        </a:rPr>
                        <a:t>  4</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xmlns="" val="945286920"/>
                  </a:ext>
                </a:extLst>
              </a:tr>
              <a:tr h="293538">
                <a:tc>
                  <a:txBody>
                    <a:bodyPr/>
                    <a:lstStyle/>
                    <a:p>
                      <a:r>
                        <a:rPr lang="en-IN" sz="1400" b="0" i="0" u="none" strike="noStrike" cap="none" baseline="0" dirty="0">
                          <a:solidFill>
                            <a:schemeClr val="dk1"/>
                          </a:solidFill>
                          <a:latin typeface="+mn-lt"/>
                          <a:ea typeface="+mn-ea"/>
                          <a:cs typeface="+mn-cs"/>
                          <a:sym typeface="Arial"/>
                        </a:rPr>
                        <a:t>Cholesterol</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pPr algn="ctr"/>
                      <a:r>
                        <a:rPr lang="en-US" sz="1400" dirty="0">
                          <a:latin typeface="+mn-lt"/>
                        </a:rPr>
                        <a:t> 6</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pPr algn="ctr"/>
                      <a:r>
                        <a:rPr lang="en-US" sz="1400" dirty="0">
                          <a:latin typeface="+mn-lt"/>
                        </a:rPr>
                        <a:t>17</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xmlns="" val="1542347795"/>
                  </a:ext>
                </a:extLst>
              </a:tr>
              <a:tr h="293538">
                <a:tc>
                  <a:txBody>
                    <a:bodyPr/>
                    <a:lstStyle/>
                    <a:p>
                      <a:r>
                        <a:rPr lang="en-IN" sz="1400" b="0" i="0" u="none" strike="noStrike" cap="none" baseline="0" dirty="0">
                          <a:solidFill>
                            <a:schemeClr val="dk1"/>
                          </a:solidFill>
                          <a:latin typeface="+mn-lt"/>
                          <a:ea typeface="+mn-ea"/>
                          <a:cs typeface="+mn-cs"/>
                          <a:sym typeface="Arial"/>
                        </a:rPr>
                        <a:t>Sphingomyelin</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pPr algn="ctr"/>
                      <a:r>
                        <a:rPr lang="en-US" sz="1400" dirty="0">
                          <a:latin typeface="+mn-lt"/>
                        </a:rPr>
                        <a:t> 5</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pPr algn="ctr"/>
                      <a:r>
                        <a:rPr lang="en-US" sz="1400" dirty="0">
                          <a:latin typeface="+mn-lt"/>
                        </a:rPr>
                        <a:t>19</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xmlns="" val="742154935"/>
                  </a:ext>
                </a:extLst>
              </a:tr>
              <a:tr h="293538">
                <a:tc>
                  <a:txBody>
                    <a:bodyPr/>
                    <a:lstStyle/>
                    <a:p>
                      <a:r>
                        <a:rPr lang="en-IN" sz="1400" b="0" i="0" u="none" strike="noStrike" cap="none" baseline="0" dirty="0">
                          <a:solidFill>
                            <a:schemeClr val="dk1"/>
                          </a:solidFill>
                          <a:latin typeface="+mn-lt"/>
                          <a:ea typeface="+mn-ea"/>
                          <a:cs typeface="+mn-cs"/>
                          <a:sym typeface="Arial"/>
                        </a:rPr>
                        <a:t>Glycolipids</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pPr algn="ctr"/>
                      <a:r>
                        <a:rPr lang="en-IN" sz="1400" b="0" i="0" u="none" strike="noStrike" cap="none" baseline="0" dirty="0">
                          <a:solidFill>
                            <a:schemeClr val="dk1"/>
                          </a:solidFill>
                          <a:latin typeface="+mn-lt"/>
                          <a:ea typeface="+mn-ea"/>
                          <a:cs typeface="+mn-cs"/>
                          <a:sym typeface="Arial"/>
                        </a:rPr>
                        <a:t>trace</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pPr algn="ctr"/>
                      <a:r>
                        <a:rPr lang="en-US" sz="1400" dirty="0">
                          <a:latin typeface="+mn-lt"/>
                        </a:rPr>
                        <a:t>  7</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xmlns="" val="1474351097"/>
                  </a:ext>
                </a:extLst>
              </a:tr>
              <a:tr h="293538">
                <a:tc>
                  <a:txBody>
                    <a:bodyPr/>
                    <a:lstStyle/>
                    <a:p>
                      <a:r>
                        <a:rPr lang="en-IN" sz="1400" b="0" i="0" u="none" strike="noStrike" cap="none" baseline="0" dirty="0">
                          <a:solidFill>
                            <a:schemeClr val="dk1"/>
                          </a:solidFill>
                          <a:latin typeface="+mn-lt"/>
                          <a:ea typeface="+mn-ea"/>
                          <a:cs typeface="+mn-cs"/>
                          <a:sym typeface="Arial"/>
                        </a:rPr>
                        <a:t>Other lipids</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pPr algn="ctr"/>
                      <a:r>
                        <a:rPr lang="en-IN" sz="1400" b="0" i="0" u="none" strike="noStrike" cap="none" baseline="0" dirty="0">
                          <a:solidFill>
                            <a:schemeClr val="dk1"/>
                          </a:solidFill>
                          <a:latin typeface="+mn-lt"/>
                          <a:ea typeface="+mn-ea"/>
                          <a:cs typeface="+mn-cs"/>
                          <a:sym typeface="Arial"/>
                        </a:rPr>
                        <a:t>27</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tc>
                  <a:txBody>
                    <a:bodyPr/>
                    <a:lstStyle/>
                    <a:p>
                      <a:pPr algn="ctr"/>
                      <a:r>
                        <a:rPr lang="en-US" sz="1400" dirty="0">
                          <a:latin typeface="+mn-lt"/>
                        </a:rPr>
                        <a:t>22</a:t>
                      </a:r>
                      <a:endParaRPr lang="en-IN" sz="1400" dirty="0">
                        <a:latin typeface="+mn-lt"/>
                      </a:endParaRP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rgbClr val="D5EAE4"/>
                    </a:solidFill>
                  </a:tcPr>
                </a:tc>
                <a:extLst>
                  <a:ext uri="{0D108BD9-81ED-4DB2-BD59-A6C34878D82A}">
                    <a16:rowId xmlns:a16="http://schemas.microsoft.com/office/drawing/2014/main" xmlns="" val="1990124485"/>
                  </a:ext>
                </a:extLst>
              </a:tr>
            </a:tbl>
          </a:graphicData>
        </a:graphic>
      </p:graphicFrame>
    </p:spTree>
    <p:extLst>
      <p:ext uri="{BB962C8B-B14F-4D97-AF65-F5344CB8AC3E}">
        <p14:creationId xmlns:p14="http://schemas.microsoft.com/office/powerpoint/2010/main" val="1431776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6073"/>
            <a:ext cx="8302240" cy="553998"/>
          </a:xfrm>
        </p:spPr>
        <p:txBody>
          <a:bodyPr lIns="0" tIns="0" rIns="0" bIns="0" anchor="ctr">
            <a:spAutoFit/>
          </a:bodyPr>
          <a:lstStyle/>
          <a:p>
            <a:r>
              <a:rPr lang="en-US" sz="3600" dirty="0">
                <a:latin typeface="+mj-lt"/>
              </a:rPr>
              <a:t>12.2 The Golgi Apparatus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75"/>
            <a:ext cx="8302240" cy="2970044"/>
          </a:xfrm>
        </p:spPr>
        <p:txBody>
          <a:bodyPr lIns="0" tIns="0" rIns="0" bIns="0">
            <a:spAutoFit/>
          </a:bodyPr>
          <a:lstStyle/>
          <a:p>
            <a:pPr marL="342900" indent="-342900"/>
            <a:r>
              <a:rPr lang="en-US" sz="2400" dirty="0"/>
              <a:t>The </a:t>
            </a:r>
            <a:r>
              <a:rPr lang="en-US" sz="2400" b="1" dirty="0"/>
              <a:t>Golgi</a:t>
            </a:r>
            <a:r>
              <a:rPr lang="en-US" sz="2400" dirty="0"/>
              <a:t> </a:t>
            </a:r>
            <a:r>
              <a:rPr lang="en-US" sz="2400" b="1" dirty="0"/>
              <a:t>apparatus</a:t>
            </a:r>
            <a:r>
              <a:rPr lang="en-US" sz="2400" dirty="0"/>
              <a:t> (or </a:t>
            </a:r>
            <a:r>
              <a:rPr lang="en-US" sz="2400" i="1" dirty="0"/>
              <a:t>Golgi</a:t>
            </a:r>
            <a:r>
              <a:rPr lang="en-US" sz="2400" dirty="0"/>
              <a:t> </a:t>
            </a:r>
            <a:r>
              <a:rPr lang="en-US" sz="2400" i="1" dirty="0"/>
              <a:t>complex</a:t>
            </a:r>
            <a:r>
              <a:rPr lang="en-US" sz="2400" dirty="0"/>
              <a:t>) is functionally and physically linked to the </a:t>
            </a:r>
            <a:r>
              <a:rPr lang="en-US" sz="2400" spc="-300" dirty="0"/>
              <a:t>E </a:t>
            </a:r>
            <a:r>
              <a:rPr lang="en-US" sz="2400" dirty="0"/>
              <a:t>R</a:t>
            </a:r>
            <a:r>
              <a:rPr lang="en-US" sz="2400" dirty="0">
                <a:solidFill>
                  <a:schemeClr val="tx1"/>
                </a:solidFill>
              </a:rPr>
              <a:t>.</a:t>
            </a:r>
          </a:p>
          <a:p>
            <a:pPr marL="342900" indent="-342900"/>
            <a:r>
              <a:rPr lang="en-US" sz="2400" dirty="0"/>
              <a:t>Here, glycoproteins and membrane lipids from the </a:t>
            </a:r>
            <a:r>
              <a:rPr lang="en-US" sz="2400" spc="-300" dirty="0"/>
              <a:t>E </a:t>
            </a:r>
            <a:r>
              <a:rPr lang="en-US" sz="2400" dirty="0"/>
              <a:t>R undergo further processing and are sorted and packaged for transport</a:t>
            </a:r>
            <a:r>
              <a:rPr lang="en-US" sz="2400" dirty="0">
                <a:solidFill>
                  <a:schemeClr val="tx1"/>
                </a:solidFill>
              </a:rPr>
              <a:t>.</a:t>
            </a:r>
          </a:p>
          <a:p>
            <a:pPr marL="342900" indent="-342900"/>
            <a:r>
              <a:rPr lang="en-US" sz="2400" dirty="0"/>
              <a:t>Thus the Golgi complex plays a central role in </a:t>
            </a:r>
            <a:r>
              <a:rPr lang="en-US" sz="2400" i="1" dirty="0"/>
              <a:t>membrane</a:t>
            </a:r>
            <a:r>
              <a:rPr lang="en-US" sz="2400" dirty="0"/>
              <a:t> and </a:t>
            </a:r>
            <a:r>
              <a:rPr lang="en-US" sz="2400" i="1" dirty="0"/>
              <a:t>protein</a:t>
            </a:r>
            <a:r>
              <a:rPr lang="en-US" sz="2400" dirty="0"/>
              <a:t> </a:t>
            </a:r>
            <a:r>
              <a:rPr lang="en-US" sz="2400" i="1" dirty="0"/>
              <a:t>trafficking</a:t>
            </a:r>
            <a:r>
              <a:rPr lang="en-US" sz="2400" dirty="0"/>
              <a:t> in eukaryotic cells</a:t>
            </a:r>
            <a:r>
              <a:rPr lang="en-US" sz="2400" dirty="0">
                <a:solidFill>
                  <a:schemeClr val="tx1"/>
                </a:solidFill>
              </a:rPr>
              <a:t>.</a:t>
            </a:r>
          </a:p>
        </p:txBody>
      </p:sp>
    </p:spTree>
    <p:extLst>
      <p:ext uri="{BB962C8B-B14F-4D97-AF65-F5344CB8AC3E}">
        <p14:creationId xmlns:p14="http://schemas.microsoft.com/office/powerpoint/2010/main" val="6812490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6855"/>
            <a:ext cx="8302240" cy="1661993"/>
          </a:xfrm>
        </p:spPr>
        <p:txBody>
          <a:bodyPr lIns="0" tIns="0" rIns="0" bIns="0" anchor="ctr">
            <a:spAutoFit/>
          </a:bodyPr>
          <a:lstStyle/>
          <a:p>
            <a:r>
              <a:rPr lang="en-US" sz="3600" dirty="0">
                <a:latin typeface="+mj-lt"/>
              </a:rPr>
              <a:t>The Golgi Apparatus Consists of a Series of Membrane-Bounded Cisternae</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979500"/>
            <a:ext cx="8302240" cy="2600712"/>
          </a:xfrm>
        </p:spPr>
        <p:txBody>
          <a:bodyPr lIns="0" tIns="0" rIns="0" bIns="0">
            <a:spAutoFit/>
          </a:bodyPr>
          <a:lstStyle/>
          <a:p>
            <a:pPr marL="342900" indent="-342900"/>
            <a:r>
              <a:rPr lang="en-US" sz="2400" dirty="0"/>
              <a:t>The Golgi apparatus is a series of flattened membrane-bounded </a:t>
            </a:r>
            <a:r>
              <a:rPr lang="en-US" sz="2400" i="1" dirty="0"/>
              <a:t>cisternae</a:t>
            </a:r>
            <a:r>
              <a:rPr lang="en-US" sz="2400" dirty="0">
                <a:solidFill>
                  <a:schemeClr val="tx1"/>
                </a:solidFill>
              </a:rPr>
              <a:t>.</a:t>
            </a:r>
            <a:endParaRPr lang="en-US" sz="2400" i="1" dirty="0">
              <a:solidFill>
                <a:schemeClr val="tx1"/>
              </a:solidFill>
            </a:endParaRPr>
          </a:p>
          <a:p>
            <a:pPr marL="342900" indent="-342900"/>
            <a:r>
              <a:rPr lang="en-US" sz="2400" dirty="0"/>
              <a:t>A series of cisternae, usually three to eight, is called a </a:t>
            </a:r>
            <a:r>
              <a:rPr lang="en-US" sz="2400" i="1" dirty="0"/>
              <a:t>Golgi</a:t>
            </a:r>
            <a:r>
              <a:rPr lang="en-US" sz="2400" dirty="0"/>
              <a:t> </a:t>
            </a:r>
            <a:r>
              <a:rPr lang="en-US" sz="2400" i="1" dirty="0"/>
              <a:t>stack</a:t>
            </a:r>
            <a:r>
              <a:rPr lang="en-US" sz="2400" dirty="0">
                <a:solidFill>
                  <a:schemeClr val="tx1"/>
                </a:solidFill>
              </a:rPr>
              <a:t>.</a:t>
            </a:r>
            <a:endParaRPr lang="en-US" sz="2400" i="1" dirty="0">
              <a:solidFill>
                <a:schemeClr val="tx1"/>
              </a:solidFill>
            </a:endParaRPr>
          </a:p>
          <a:p>
            <a:pPr marL="342900" indent="-342900"/>
            <a:r>
              <a:rPr lang="en-US" sz="2400" dirty="0"/>
              <a:t>Some cells have one large stack, and others, especially secretory cells, have hundreds or thousands of stacks</a:t>
            </a:r>
            <a:r>
              <a:rPr lang="en-US" sz="2400" dirty="0">
                <a:solidFill>
                  <a:schemeClr val="tx1"/>
                </a:solidFill>
              </a:rPr>
              <a:t>.</a:t>
            </a:r>
          </a:p>
        </p:txBody>
      </p:sp>
    </p:spTree>
    <p:extLst>
      <p:ext uri="{BB962C8B-B14F-4D97-AF65-F5344CB8AC3E}">
        <p14:creationId xmlns:p14="http://schemas.microsoft.com/office/powerpoint/2010/main" val="11011756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8579"/>
            <a:ext cx="8302240" cy="553998"/>
          </a:xfrm>
        </p:spPr>
        <p:txBody>
          <a:bodyPr lIns="0" tIns="0" rIns="0" bIns="0" anchor="ctr">
            <a:spAutoFit/>
          </a:bodyPr>
          <a:lstStyle/>
          <a:p>
            <a:r>
              <a:rPr lang="en-US" sz="3600" dirty="0">
                <a:latin typeface="+mj-lt"/>
              </a:rPr>
              <a:t>Transport Vesicles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5102"/>
            <a:ext cx="8302240" cy="2408352"/>
          </a:xfrm>
        </p:spPr>
        <p:txBody>
          <a:bodyPr lIns="0" tIns="0" rIns="0" bIns="0">
            <a:spAutoFit/>
          </a:bodyPr>
          <a:lstStyle/>
          <a:p>
            <a:pPr marL="342900" indent="-342900"/>
            <a:r>
              <a:rPr lang="en-US" sz="2400" dirty="0"/>
              <a:t>Both </a:t>
            </a:r>
            <a:r>
              <a:rPr lang="en-US" sz="2400" spc="-300" dirty="0"/>
              <a:t>E </a:t>
            </a:r>
            <a:r>
              <a:rPr lang="en-US" sz="2400" dirty="0"/>
              <a:t>R and the Golgi complex are surrounded by numerous vesicles that carry lipids and proteins from the ER to the Golgi complex and then to various destinations in the cell</a:t>
            </a:r>
            <a:r>
              <a:rPr lang="en-US" sz="2400" dirty="0">
                <a:solidFill>
                  <a:schemeClr val="tx1"/>
                </a:solidFill>
              </a:rPr>
              <a:t>.</a:t>
            </a:r>
          </a:p>
          <a:p>
            <a:pPr marL="342900" indent="-342900"/>
            <a:r>
              <a:rPr lang="en-US" sz="2400" dirty="0"/>
              <a:t>The Golgi complex lumen (</a:t>
            </a:r>
            <a:r>
              <a:rPr lang="en-US" sz="2400" i="1" dirty="0"/>
              <a:t>intracisternal space</a:t>
            </a:r>
            <a:r>
              <a:rPr lang="en-US" sz="2400" dirty="0"/>
              <a:t>) is part of the endomembrane system</a:t>
            </a:r>
            <a:r>
              <a:rPr lang="en-US" sz="2400" dirty="0">
                <a:solidFill>
                  <a:schemeClr val="tx1"/>
                </a:solidFill>
              </a:rPr>
              <a:t>.</a:t>
            </a:r>
          </a:p>
        </p:txBody>
      </p:sp>
    </p:spTree>
    <p:extLst>
      <p:ext uri="{BB962C8B-B14F-4D97-AF65-F5344CB8AC3E}">
        <p14:creationId xmlns:p14="http://schemas.microsoft.com/office/powerpoint/2010/main" val="16027197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5" y="199159"/>
            <a:ext cx="8269054" cy="553998"/>
          </a:xfrm>
        </p:spPr>
        <p:txBody>
          <a:bodyPr lIns="0" tIns="0" rIns="0" bIns="0" anchor="ctr">
            <a:spAutoFit/>
          </a:bodyPr>
          <a:lstStyle/>
          <a:p>
            <a:r>
              <a:rPr lang="en-US" dirty="0"/>
              <a:t>Golgi Structure </a:t>
            </a:r>
            <a:r>
              <a:rPr lang="en-US" sz="2800" dirty="0"/>
              <a:t>(1 of 2)</a:t>
            </a:r>
            <a:endParaRPr lang="en-US" sz="3400" dirty="0"/>
          </a:p>
        </p:txBody>
      </p:sp>
      <p:sp>
        <p:nvSpPr>
          <p:cNvPr id="6" name="Content Placeholder 5"/>
          <p:cNvSpPr>
            <a:spLocks noGrp="1"/>
          </p:cNvSpPr>
          <p:nvPr>
            <p:ph sz="quarter" idx="15"/>
          </p:nvPr>
        </p:nvSpPr>
        <p:spPr>
          <a:xfrm>
            <a:off x="421689" y="984614"/>
            <a:ext cx="8277930" cy="369332"/>
          </a:xfrm>
        </p:spPr>
        <p:txBody>
          <a:bodyPr wrap="square" lIns="0" tIns="0" rIns="0" bIns="0">
            <a:spAutoFit/>
          </a:bodyPr>
          <a:lstStyle/>
          <a:p>
            <a:pPr marL="0" indent="0">
              <a:buNone/>
            </a:pPr>
            <a:r>
              <a:rPr lang="en-US" sz="2400" b="1" dirty="0"/>
              <a:t>Figure 12.4 </a:t>
            </a:r>
            <a:r>
              <a:rPr lang="en-US" sz="2400" dirty="0"/>
              <a:t>Two Models for Movement Through the Golgi. </a:t>
            </a:r>
          </a:p>
        </p:txBody>
      </p:sp>
      <p:pic>
        <p:nvPicPr>
          <p:cNvPr id="5" name="Picture Placeholder 4" descr="An illustration of stationary cisternae model and cisternal maturation model of movement through the Golgi in the cytosol.&#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3326"/>
          <a:stretch/>
        </p:blipFill>
        <p:spPr>
          <a:xfrm>
            <a:off x="1234104" y="1584318"/>
            <a:ext cx="6820932" cy="4698585"/>
          </a:xfrm>
        </p:spPr>
      </p:pic>
    </p:spTree>
    <p:extLst>
      <p:ext uri="{BB962C8B-B14F-4D97-AF65-F5344CB8AC3E}">
        <p14:creationId xmlns:p14="http://schemas.microsoft.com/office/powerpoint/2010/main" val="29693730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5" y="199159"/>
            <a:ext cx="8269054" cy="553998"/>
          </a:xfrm>
        </p:spPr>
        <p:txBody>
          <a:bodyPr lIns="0" tIns="0" rIns="0" bIns="0" anchor="ctr">
            <a:spAutoFit/>
          </a:bodyPr>
          <a:lstStyle/>
          <a:p>
            <a:r>
              <a:rPr lang="en-US" dirty="0"/>
              <a:t>Golgi Structure </a:t>
            </a:r>
            <a:r>
              <a:rPr lang="en-US" sz="2800" dirty="0"/>
              <a:t>(2 of 2)</a:t>
            </a:r>
            <a:endParaRPr lang="en-US" sz="3400" dirty="0"/>
          </a:p>
        </p:txBody>
      </p:sp>
      <p:sp>
        <p:nvSpPr>
          <p:cNvPr id="6" name="Content Placeholder 5"/>
          <p:cNvSpPr>
            <a:spLocks noGrp="1"/>
          </p:cNvSpPr>
          <p:nvPr>
            <p:ph sz="quarter" idx="15"/>
          </p:nvPr>
        </p:nvSpPr>
        <p:spPr>
          <a:xfrm>
            <a:off x="421689" y="984615"/>
            <a:ext cx="8277930" cy="369332"/>
          </a:xfrm>
        </p:spPr>
        <p:txBody>
          <a:bodyPr wrap="square" lIns="0" tIns="0" rIns="0" bIns="0">
            <a:spAutoFit/>
          </a:bodyPr>
          <a:lstStyle/>
          <a:p>
            <a:pPr marL="0" indent="0">
              <a:buNone/>
            </a:pPr>
            <a:r>
              <a:rPr lang="en-US" sz="2400" b="1" dirty="0"/>
              <a:t>Figure 12.4 </a:t>
            </a:r>
            <a:r>
              <a:rPr lang="en-US" sz="2400" dirty="0"/>
              <a:t>Two Models for Movement Through the Golgi. </a:t>
            </a:r>
          </a:p>
        </p:txBody>
      </p:sp>
      <p:pic>
        <p:nvPicPr>
          <p:cNvPr id="5" name="Picture Placeholder 4" descr="An illustration of cisternal maturation model of movement through the Golgi in the cytosol.&#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4152"/>
          <a:stretch/>
        </p:blipFill>
        <p:spPr>
          <a:xfrm>
            <a:off x="1255296" y="1606255"/>
            <a:ext cx="6633408" cy="4615840"/>
          </a:xfrm>
        </p:spPr>
      </p:pic>
    </p:spTree>
    <p:extLst>
      <p:ext uri="{BB962C8B-B14F-4D97-AF65-F5344CB8AC3E}">
        <p14:creationId xmlns:p14="http://schemas.microsoft.com/office/powerpoint/2010/main" val="9308057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8579"/>
            <a:ext cx="8302240" cy="553998"/>
          </a:xfrm>
        </p:spPr>
        <p:txBody>
          <a:bodyPr lIns="0" tIns="0" rIns="0" bIns="0" anchor="ctr">
            <a:spAutoFit/>
          </a:bodyPr>
          <a:lstStyle/>
          <a:p>
            <a:r>
              <a:rPr lang="en-US" sz="3600" dirty="0">
                <a:latin typeface="+mj-lt"/>
              </a:rPr>
              <a:t>The Two Faces of the Golgi Stack</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945"/>
            <a:ext cx="8302240" cy="2970044"/>
          </a:xfrm>
        </p:spPr>
        <p:txBody>
          <a:bodyPr lIns="0" tIns="0" rIns="0" bIns="0">
            <a:spAutoFit/>
          </a:bodyPr>
          <a:lstStyle/>
          <a:p>
            <a:pPr marL="342900" indent="-342900"/>
            <a:r>
              <a:rPr lang="en-US" sz="2400" dirty="0">
                <a:solidFill>
                  <a:schemeClr val="tx1"/>
                </a:solidFill>
              </a:rPr>
              <a:t>Each Golgi stack has two distinct sides, or </a:t>
            </a:r>
            <a:r>
              <a:rPr lang="en-US" sz="2400" i="1" dirty="0">
                <a:solidFill>
                  <a:schemeClr val="tx1"/>
                </a:solidFill>
              </a:rPr>
              <a:t>faces</a:t>
            </a:r>
            <a:r>
              <a:rPr lang="en-US" sz="2400" dirty="0">
                <a:solidFill>
                  <a:schemeClr val="tx1"/>
                </a:solidFill>
              </a:rPr>
              <a:t>.</a:t>
            </a:r>
            <a:endParaRPr lang="en-US" sz="2400" i="1" dirty="0">
              <a:solidFill>
                <a:schemeClr val="tx1"/>
              </a:solidFill>
            </a:endParaRPr>
          </a:p>
          <a:p>
            <a:pPr marL="342900" indent="-342900"/>
            <a:r>
              <a:rPr lang="en-US" sz="2400" dirty="0">
                <a:solidFill>
                  <a:schemeClr val="tx1"/>
                </a:solidFill>
              </a:rPr>
              <a:t>The </a:t>
            </a:r>
            <a:r>
              <a:rPr lang="en-US" sz="2400" i="1" dirty="0">
                <a:solidFill>
                  <a:schemeClr val="tx1"/>
                </a:solidFill>
              </a:rPr>
              <a:t>cis</a:t>
            </a:r>
            <a:r>
              <a:rPr lang="en-US" sz="2400" dirty="0">
                <a:solidFill>
                  <a:schemeClr val="tx1"/>
                </a:solidFill>
              </a:rPr>
              <a:t> </a:t>
            </a:r>
            <a:r>
              <a:rPr lang="en-US" sz="2400" i="1" dirty="0">
                <a:solidFill>
                  <a:schemeClr val="tx1"/>
                </a:solidFill>
              </a:rPr>
              <a:t>face</a:t>
            </a:r>
            <a:r>
              <a:rPr lang="en-US" sz="2400" dirty="0">
                <a:solidFill>
                  <a:schemeClr val="tx1"/>
                </a:solidFill>
              </a:rPr>
              <a:t> is oriented toward the </a:t>
            </a:r>
            <a:r>
              <a:rPr lang="en-US" sz="2400" spc="-300" dirty="0">
                <a:solidFill>
                  <a:schemeClr val="tx1"/>
                </a:solidFill>
              </a:rPr>
              <a:t>E </a:t>
            </a:r>
            <a:r>
              <a:rPr lang="en-US" sz="2400" dirty="0">
                <a:solidFill>
                  <a:schemeClr val="tx1"/>
                </a:solidFill>
              </a:rPr>
              <a:t>R, and the Golgi compartment on this side is called the </a:t>
            </a:r>
            <a:r>
              <a:rPr lang="en-US" sz="2400" b="1" i="1" dirty="0">
                <a:solidFill>
                  <a:schemeClr val="tx1"/>
                </a:solidFill>
              </a:rPr>
              <a:t>cis</a:t>
            </a:r>
            <a:r>
              <a:rPr lang="en-US" sz="2400" b="1" dirty="0">
                <a:solidFill>
                  <a:schemeClr val="tx1"/>
                </a:solidFill>
              </a:rPr>
              <a:t>-Golgi network (</a:t>
            </a:r>
            <a:r>
              <a:rPr lang="en-US" sz="2400" b="1" spc="-300" dirty="0">
                <a:solidFill>
                  <a:schemeClr val="tx1"/>
                </a:solidFill>
              </a:rPr>
              <a:t>C G </a:t>
            </a:r>
            <a:r>
              <a:rPr lang="en-US" sz="2400" b="1" dirty="0">
                <a:solidFill>
                  <a:schemeClr val="tx1"/>
                </a:solidFill>
              </a:rPr>
              <a:t>N)</a:t>
            </a:r>
            <a:r>
              <a:rPr lang="en-US" sz="2400" dirty="0">
                <a:solidFill>
                  <a:schemeClr val="tx1"/>
                </a:solidFill>
              </a:rPr>
              <a:t>.</a:t>
            </a:r>
            <a:endParaRPr lang="en-US" sz="2400" b="1" dirty="0">
              <a:solidFill>
                <a:schemeClr val="tx1"/>
              </a:solidFill>
            </a:endParaRPr>
          </a:p>
          <a:p>
            <a:pPr marL="342900" indent="-342900"/>
            <a:r>
              <a:rPr lang="en-US" sz="2400" dirty="0">
                <a:solidFill>
                  <a:schemeClr val="tx1"/>
                </a:solidFill>
              </a:rPr>
              <a:t>The opposite side is called the </a:t>
            </a:r>
            <a:r>
              <a:rPr lang="en-US" sz="2400" i="1" dirty="0">
                <a:solidFill>
                  <a:schemeClr val="tx1"/>
                </a:solidFill>
              </a:rPr>
              <a:t>trans</a:t>
            </a:r>
            <a:r>
              <a:rPr lang="en-US" sz="2400" dirty="0">
                <a:solidFill>
                  <a:schemeClr val="tx1"/>
                </a:solidFill>
              </a:rPr>
              <a:t> </a:t>
            </a:r>
            <a:r>
              <a:rPr lang="en-US" sz="2400" i="1" dirty="0">
                <a:solidFill>
                  <a:schemeClr val="tx1"/>
                </a:solidFill>
              </a:rPr>
              <a:t>face</a:t>
            </a:r>
            <a:r>
              <a:rPr lang="en-US" sz="2400" dirty="0">
                <a:solidFill>
                  <a:schemeClr val="tx1"/>
                </a:solidFill>
              </a:rPr>
              <a:t>, and the compartment on this side is called the </a:t>
            </a:r>
            <a:r>
              <a:rPr lang="en-US" sz="2400" b="1" i="1" dirty="0">
                <a:solidFill>
                  <a:schemeClr val="tx1"/>
                </a:solidFill>
              </a:rPr>
              <a:t>trans-</a:t>
            </a:r>
            <a:r>
              <a:rPr lang="en-US" sz="2400" b="1" dirty="0">
                <a:solidFill>
                  <a:schemeClr val="tx1"/>
                </a:solidFill>
              </a:rPr>
              <a:t>Golgi network (</a:t>
            </a:r>
            <a:r>
              <a:rPr lang="en-US" sz="2400" b="1" spc="-300" dirty="0">
                <a:solidFill>
                  <a:schemeClr val="tx1"/>
                </a:solidFill>
              </a:rPr>
              <a:t>T G </a:t>
            </a:r>
            <a:r>
              <a:rPr lang="en-US" sz="2400" b="1" dirty="0">
                <a:solidFill>
                  <a:schemeClr val="tx1"/>
                </a:solidFill>
              </a:rPr>
              <a:t>N)</a:t>
            </a:r>
            <a:r>
              <a:rPr lang="en-US" sz="2400" dirty="0">
                <a:solidFill>
                  <a:schemeClr val="tx1"/>
                </a:solidFill>
              </a:rPr>
              <a:t>.</a:t>
            </a:r>
            <a:endParaRPr lang="en-US" sz="2400" b="1" dirty="0">
              <a:solidFill>
                <a:schemeClr val="tx1"/>
              </a:solidFill>
            </a:endParaRPr>
          </a:p>
        </p:txBody>
      </p:sp>
    </p:spTree>
    <p:extLst>
      <p:ext uri="{BB962C8B-B14F-4D97-AF65-F5344CB8AC3E}">
        <p14:creationId xmlns:p14="http://schemas.microsoft.com/office/powerpoint/2010/main" val="20342047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8579"/>
            <a:ext cx="8302240" cy="553998"/>
          </a:xfrm>
        </p:spPr>
        <p:txBody>
          <a:bodyPr lIns="0" tIns="0" rIns="0" bIns="0" anchor="ctr">
            <a:spAutoFit/>
          </a:bodyPr>
          <a:lstStyle/>
          <a:p>
            <a:r>
              <a:rPr lang="en-US" sz="3600" dirty="0">
                <a:latin typeface="+mj-lt"/>
              </a:rPr>
              <a:t>The Golgi Network</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945"/>
            <a:ext cx="8302240" cy="2970044"/>
          </a:xfrm>
        </p:spPr>
        <p:txBody>
          <a:bodyPr lIns="0" tIns="0" rIns="0" bIns="0">
            <a:spAutoFit/>
          </a:bodyPr>
          <a:lstStyle/>
          <a:p>
            <a:pPr marL="342900" indent="-342900"/>
            <a:r>
              <a:rPr lang="en-US" sz="2400" dirty="0"/>
              <a:t>Proteins and lipids leave the Golgi in </a:t>
            </a:r>
            <a:r>
              <a:rPr lang="en-US" sz="2400" b="1" dirty="0"/>
              <a:t>transport</a:t>
            </a:r>
            <a:r>
              <a:rPr lang="en-US" sz="2400" dirty="0"/>
              <a:t> </a:t>
            </a:r>
            <a:r>
              <a:rPr lang="en-US" sz="2400" b="1" dirty="0"/>
              <a:t>vesicles</a:t>
            </a:r>
            <a:r>
              <a:rPr lang="en-US" sz="2400" dirty="0"/>
              <a:t> that continuously bud from the tips of the </a:t>
            </a:r>
            <a:r>
              <a:rPr lang="en-US" sz="2400" spc="-300" dirty="0"/>
              <a:t>T G </a:t>
            </a:r>
            <a:r>
              <a:rPr lang="en-US" sz="2400" dirty="0"/>
              <a:t>N</a:t>
            </a:r>
            <a:r>
              <a:rPr lang="en-US" sz="2400" dirty="0">
                <a:solidFill>
                  <a:schemeClr val="tx1"/>
                </a:solidFill>
              </a:rPr>
              <a:t>.</a:t>
            </a:r>
          </a:p>
          <a:p>
            <a:pPr marL="342900" indent="-342900"/>
            <a:r>
              <a:rPr lang="en-US" sz="2400" dirty="0"/>
              <a:t>Between the </a:t>
            </a:r>
            <a:r>
              <a:rPr lang="en-US" sz="2400" spc="-300" dirty="0"/>
              <a:t>T G </a:t>
            </a:r>
            <a:r>
              <a:rPr lang="en-US" sz="2400" dirty="0"/>
              <a:t>N and </a:t>
            </a:r>
            <a:r>
              <a:rPr lang="en-US" sz="2400" spc="-300" dirty="0"/>
              <a:t>C G </a:t>
            </a:r>
            <a:r>
              <a:rPr lang="en-US" sz="2400" dirty="0"/>
              <a:t>N are </a:t>
            </a:r>
            <a:r>
              <a:rPr lang="en-US" sz="2400" b="1" dirty="0"/>
              <a:t>medial</a:t>
            </a:r>
            <a:r>
              <a:rPr lang="en-US" sz="2400" dirty="0"/>
              <a:t> </a:t>
            </a:r>
            <a:r>
              <a:rPr lang="en-US" sz="2400" b="1" dirty="0"/>
              <a:t>cisternae</a:t>
            </a:r>
            <a:r>
              <a:rPr lang="en-US" sz="2400" dirty="0"/>
              <a:t>, where much of the processing of proteins occurs</a:t>
            </a:r>
            <a:r>
              <a:rPr lang="en-US" sz="2400" dirty="0">
                <a:solidFill>
                  <a:schemeClr val="tx1"/>
                </a:solidFill>
              </a:rPr>
              <a:t>.</a:t>
            </a:r>
          </a:p>
          <a:p>
            <a:pPr marL="342900" indent="-342900"/>
            <a:r>
              <a:rPr lang="en-US" sz="2400" dirty="0"/>
              <a:t>Each compartment are biochemically and functionally distinct, containing specific receptor proteins unique to each portion of the network</a:t>
            </a:r>
            <a:r>
              <a:rPr lang="en-US" sz="2400" dirty="0">
                <a:solidFill>
                  <a:schemeClr val="tx1"/>
                </a:solidFill>
              </a:rPr>
              <a:t>.</a:t>
            </a:r>
          </a:p>
        </p:txBody>
      </p:sp>
    </p:spTree>
    <p:extLst>
      <p:ext uri="{BB962C8B-B14F-4D97-AF65-F5344CB8AC3E}">
        <p14:creationId xmlns:p14="http://schemas.microsoft.com/office/powerpoint/2010/main" val="26035512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7841"/>
            <a:ext cx="8302240" cy="1661993"/>
          </a:xfrm>
        </p:spPr>
        <p:txBody>
          <a:bodyPr lIns="0" tIns="0" rIns="0" bIns="0" anchor="ctr">
            <a:spAutoFit/>
          </a:bodyPr>
          <a:lstStyle/>
          <a:p>
            <a:r>
              <a:rPr lang="en-US" sz="3600" dirty="0">
                <a:latin typeface="+mj-lt"/>
              </a:rPr>
              <a:t>Two Models Account for the Flow of Lipids and Proteins Through the Golgi Apparatus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080965"/>
            <a:ext cx="8302240" cy="2192908"/>
          </a:xfrm>
        </p:spPr>
        <p:txBody>
          <a:bodyPr lIns="0" tIns="0" rIns="0" bIns="0">
            <a:spAutoFit/>
          </a:bodyPr>
          <a:lstStyle/>
          <a:p>
            <a:pPr marL="342900" indent="-342900"/>
            <a:r>
              <a:rPr lang="en-US" sz="2400" dirty="0"/>
              <a:t>Two models have been proposed to explain the movement of lipids and proteins from the Golgi</a:t>
            </a:r>
            <a:r>
              <a:rPr lang="en-US" sz="2400" dirty="0">
                <a:solidFill>
                  <a:schemeClr val="tx1"/>
                </a:solidFill>
              </a:rPr>
              <a:t>.</a:t>
            </a:r>
          </a:p>
          <a:p>
            <a:pPr marL="342900" indent="-342900"/>
            <a:r>
              <a:rPr lang="en-US" sz="2400" dirty="0"/>
              <a:t>These are</a:t>
            </a:r>
          </a:p>
          <a:p>
            <a:pPr marL="829818" lvl="1" indent="-342900"/>
            <a:r>
              <a:rPr lang="en-US" sz="2400" dirty="0"/>
              <a:t>The </a:t>
            </a:r>
            <a:r>
              <a:rPr lang="en-US" sz="2400" b="1" dirty="0"/>
              <a:t>stationary cisternae model</a:t>
            </a:r>
          </a:p>
          <a:p>
            <a:pPr marL="829818" lvl="1" indent="-342900"/>
            <a:r>
              <a:rPr lang="en-US" sz="2400" dirty="0"/>
              <a:t>The </a:t>
            </a:r>
            <a:r>
              <a:rPr lang="en-US" sz="2400" b="1" dirty="0"/>
              <a:t>cisternal maturation model</a:t>
            </a:r>
          </a:p>
        </p:txBody>
      </p:sp>
    </p:spTree>
    <p:extLst>
      <p:ext uri="{BB962C8B-B14F-4D97-AF65-F5344CB8AC3E}">
        <p14:creationId xmlns:p14="http://schemas.microsoft.com/office/powerpoint/2010/main" val="36575491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2506"/>
            <a:ext cx="8302240" cy="553998"/>
          </a:xfrm>
        </p:spPr>
        <p:txBody>
          <a:bodyPr lIns="0" tIns="0" rIns="0" bIns="0" anchor="ctr">
            <a:spAutoFit/>
          </a:bodyPr>
          <a:lstStyle/>
          <a:p>
            <a:r>
              <a:rPr lang="en-US" sz="3600" dirty="0">
                <a:latin typeface="+mj-lt"/>
              </a:rPr>
              <a:t>The Stationary Cisternae Model</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5099"/>
            <a:ext cx="8302240" cy="2600712"/>
          </a:xfrm>
        </p:spPr>
        <p:txBody>
          <a:bodyPr lIns="0" tIns="0" rIns="0" bIns="0">
            <a:spAutoFit/>
          </a:bodyPr>
          <a:lstStyle/>
          <a:p>
            <a:pPr marL="342900" indent="-342900"/>
            <a:r>
              <a:rPr lang="en-US" sz="2400" dirty="0"/>
              <a:t>In this model, each cisterna in the Golgi stack is a stable structure</a:t>
            </a:r>
            <a:r>
              <a:rPr lang="en-US" sz="2400" dirty="0">
                <a:solidFill>
                  <a:schemeClr val="tx1"/>
                </a:solidFill>
              </a:rPr>
              <a:t>.</a:t>
            </a:r>
          </a:p>
          <a:p>
            <a:pPr marL="342900" indent="-342900"/>
            <a:r>
              <a:rPr lang="en-US" sz="2400" dirty="0"/>
              <a:t>Transport of materials from one cisterna to another is mediated by </a:t>
            </a:r>
            <a:r>
              <a:rPr lang="en-US" sz="2400" i="1" dirty="0"/>
              <a:t>shuttle vesicles</a:t>
            </a:r>
            <a:r>
              <a:rPr lang="en-US" sz="2400" dirty="0">
                <a:solidFill>
                  <a:schemeClr val="tx1"/>
                </a:solidFill>
              </a:rPr>
              <a:t>.</a:t>
            </a:r>
            <a:endParaRPr lang="en-US" sz="2400" i="1" dirty="0">
              <a:solidFill>
                <a:schemeClr val="tx1"/>
              </a:solidFill>
            </a:endParaRPr>
          </a:p>
          <a:p>
            <a:pPr marL="342900" indent="-342900"/>
            <a:r>
              <a:rPr lang="en-US" sz="2400" dirty="0"/>
              <a:t>These bud off from one cisterna and fuse with the next cisterna in a </a:t>
            </a:r>
            <a:r>
              <a:rPr lang="en-US" sz="2400" i="1" dirty="0"/>
              <a:t>cis</a:t>
            </a:r>
            <a:r>
              <a:rPr lang="en-US" sz="2400" dirty="0"/>
              <a:t>-to-</a:t>
            </a:r>
            <a:r>
              <a:rPr lang="en-US" sz="2400" i="1" dirty="0"/>
              <a:t>trans</a:t>
            </a:r>
            <a:r>
              <a:rPr lang="en-US" sz="2400" dirty="0"/>
              <a:t> sequence</a:t>
            </a:r>
            <a:r>
              <a:rPr lang="en-US" sz="2400" dirty="0">
                <a:solidFill>
                  <a:schemeClr val="tx1"/>
                </a:solidFill>
              </a:rPr>
              <a:t>.</a:t>
            </a:r>
          </a:p>
        </p:txBody>
      </p:sp>
    </p:spTree>
    <p:extLst>
      <p:ext uri="{BB962C8B-B14F-4D97-AF65-F5344CB8AC3E}">
        <p14:creationId xmlns:p14="http://schemas.microsoft.com/office/powerpoint/2010/main" val="7044068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2506"/>
            <a:ext cx="8302240" cy="553998"/>
          </a:xfrm>
        </p:spPr>
        <p:txBody>
          <a:bodyPr lIns="0" tIns="0" rIns="0" bIns="0" anchor="ctr">
            <a:spAutoFit/>
          </a:bodyPr>
          <a:lstStyle/>
          <a:p>
            <a:r>
              <a:rPr lang="en-US" sz="3600" dirty="0">
                <a:latin typeface="+mj-lt"/>
              </a:rPr>
              <a:t>The Cisternal Maturation Model</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5100"/>
            <a:ext cx="8302240" cy="2600712"/>
          </a:xfrm>
        </p:spPr>
        <p:txBody>
          <a:bodyPr lIns="0" tIns="0" rIns="0" bIns="0">
            <a:spAutoFit/>
          </a:bodyPr>
          <a:lstStyle/>
          <a:p>
            <a:pPr marL="342900" indent="-342900"/>
            <a:r>
              <a:rPr lang="en-US" sz="2400" dirty="0"/>
              <a:t>In this model, the Golgi cisternae are transient compartments</a:t>
            </a:r>
            <a:r>
              <a:rPr lang="en-US" sz="2400" dirty="0">
                <a:solidFill>
                  <a:schemeClr val="tx1"/>
                </a:solidFill>
              </a:rPr>
              <a:t>.</a:t>
            </a:r>
          </a:p>
          <a:p>
            <a:pPr marL="342900" indent="-342900"/>
            <a:r>
              <a:rPr lang="en-US" sz="2400" dirty="0"/>
              <a:t>These gradually change from </a:t>
            </a:r>
            <a:r>
              <a:rPr lang="en-US" sz="2400" spc="-300" dirty="0"/>
              <a:t>C G </a:t>
            </a:r>
            <a:r>
              <a:rPr lang="en-US" sz="2400" dirty="0"/>
              <a:t>N through medial cisternae to TGN</a:t>
            </a:r>
            <a:r>
              <a:rPr lang="en-US" sz="2400" dirty="0">
                <a:solidFill>
                  <a:schemeClr val="tx1"/>
                </a:solidFill>
              </a:rPr>
              <a:t>.</a:t>
            </a:r>
          </a:p>
          <a:p>
            <a:pPr marL="342900" indent="-342900"/>
            <a:r>
              <a:rPr lang="en-US" sz="2400" dirty="0"/>
              <a:t>Enzymes not needed in later compartments are returned to earlier compartments in vesicles</a:t>
            </a:r>
            <a:r>
              <a:rPr lang="en-US" sz="2400" dirty="0">
                <a:solidFill>
                  <a:schemeClr val="tx1"/>
                </a:solidFill>
              </a:rPr>
              <a:t>.</a:t>
            </a:r>
          </a:p>
        </p:txBody>
      </p:sp>
    </p:spTree>
    <p:extLst>
      <p:ext uri="{BB962C8B-B14F-4D97-AF65-F5344CB8AC3E}">
        <p14:creationId xmlns:p14="http://schemas.microsoft.com/office/powerpoint/2010/main" val="5602859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9827"/>
            <a:ext cx="8302240" cy="1107996"/>
          </a:xfrm>
        </p:spPr>
        <p:txBody>
          <a:bodyPr lIns="0" tIns="0" rIns="0" bIns="0" anchor="ctr">
            <a:spAutoFit/>
          </a:bodyPr>
          <a:lstStyle/>
          <a:p>
            <a:r>
              <a:rPr lang="en-US" sz="3600" dirty="0">
                <a:latin typeface="+mj-lt"/>
              </a:rPr>
              <a:t>The Models Are Not Mutually Exclusive</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63864"/>
            <a:ext cx="8302240" cy="2970044"/>
          </a:xfrm>
        </p:spPr>
        <p:txBody>
          <a:bodyPr lIns="0" tIns="0" rIns="0" bIns="0">
            <a:spAutoFit/>
          </a:bodyPr>
          <a:lstStyle/>
          <a:p>
            <a:pPr marL="342900" indent="-342900"/>
            <a:r>
              <a:rPr lang="en-US" sz="2400" dirty="0"/>
              <a:t>Both models involve the formation of transport vesicles containing sorted cargo targeted for various destinations</a:t>
            </a:r>
            <a:r>
              <a:rPr lang="en-US" sz="2400" dirty="0">
                <a:solidFill>
                  <a:schemeClr val="tx1"/>
                </a:solidFill>
              </a:rPr>
              <a:t>.</a:t>
            </a:r>
            <a:r>
              <a:rPr lang="en-US" sz="2400" dirty="0"/>
              <a:t> </a:t>
            </a:r>
          </a:p>
          <a:p>
            <a:pPr marL="342900" indent="-342900"/>
            <a:r>
              <a:rPr lang="en-US" sz="2400" dirty="0"/>
              <a:t>Experimental evidence suggests that these models are not mutually exclusiv</a:t>
            </a:r>
            <a:r>
              <a:rPr lang="en-US" sz="2400" dirty="0">
                <a:solidFill>
                  <a:schemeClr val="tx1"/>
                </a:solidFill>
              </a:rPr>
              <a:t>e.</a:t>
            </a:r>
          </a:p>
          <a:p>
            <a:pPr marL="342900" indent="-342900"/>
            <a:r>
              <a:rPr lang="en-US" sz="2400" dirty="0"/>
              <a:t>Experiments involve tracking the movement of substances between the compartments and time-lapse fluorescence microscopy</a:t>
            </a:r>
            <a:r>
              <a:rPr lang="en-US" sz="2400" dirty="0">
                <a:solidFill>
                  <a:schemeClr val="tx1"/>
                </a:solidFill>
              </a:rPr>
              <a:t>.</a:t>
            </a:r>
          </a:p>
        </p:txBody>
      </p:sp>
    </p:spTree>
    <p:extLst>
      <p:ext uri="{BB962C8B-B14F-4D97-AF65-F5344CB8AC3E}">
        <p14:creationId xmlns:p14="http://schemas.microsoft.com/office/powerpoint/2010/main" val="7424435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5" y="178794"/>
            <a:ext cx="8269054" cy="1107996"/>
          </a:xfrm>
        </p:spPr>
        <p:txBody>
          <a:bodyPr lIns="0" tIns="0" rIns="0" bIns="0" anchor="ctr">
            <a:spAutoFit/>
          </a:bodyPr>
          <a:lstStyle/>
          <a:p>
            <a:r>
              <a:rPr lang="en-US" dirty="0"/>
              <a:t>Two Models for Movement Through the Golgi</a:t>
            </a:r>
          </a:p>
        </p:txBody>
      </p:sp>
      <p:sp>
        <p:nvSpPr>
          <p:cNvPr id="6" name="Content Placeholder 5"/>
          <p:cNvSpPr>
            <a:spLocks noGrp="1"/>
          </p:cNvSpPr>
          <p:nvPr>
            <p:ph sz="quarter" idx="15"/>
          </p:nvPr>
        </p:nvSpPr>
        <p:spPr>
          <a:xfrm>
            <a:off x="421690" y="1565387"/>
            <a:ext cx="4078874" cy="738664"/>
          </a:xfrm>
        </p:spPr>
        <p:txBody>
          <a:bodyPr wrap="square" lIns="0" tIns="0" rIns="0" bIns="0">
            <a:spAutoFit/>
          </a:bodyPr>
          <a:lstStyle/>
          <a:p>
            <a:pPr marL="0" indent="0">
              <a:buNone/>
            </a:pPr>
            <a:r>
              <a:rPr lang="en-US" sz="2400" b="1" dirty="0"/>
              <a:t>Figure 12.4 </a:t>
            </a:r>
            <a:r>
              <a:rPr lang="en-US" sz="2400" dirty="0"/>
              <a:t>Two Models for Movement Through the Golgi. </a:t>
            </a:r>
          </a:p>
        </p:txBody>
      </p:sp>
      <p:pic>
        <p:nvPicPr>
          <p:cNvPr id="5" name="Picture Placeholder 4" descr="An illustration of stationary cisternae model and cisternal maturation model of movement through the Golgi in the cytosol.&#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661"/>
          <a:stretch/>
        </p:blipFill>
        <p:spPr>
          <a:xfrm>
            <a:off x="5296167" y="1375987"/>
            <a:ext cx="3394205" cy="5014731"/>
          </a:xfrm>
        </p:spPr>
      </p:pic>
    </p:spTree>
    <p:extLst>
      <p:ext uri="{BB962C8B-B14F-4D97-AF65-F5344CB8AC3E}">
        <p14:creationId xmlns:p14="http://schemas.microsoft.com/office/powerpoint/2010/main" val="14308509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9519"/>
            <a:ext cx="8302240" cy="1108252"/>
          </a:xfrm>
        </p:spPr>
        <p:txBody>
          <a:bodyPr lIns="0" tIns="0" rIns="0" bIns="0" anchor="ctr">
            <a:spAutoFit/>
          </a:bodyPr>
          <a:lstStyle/>
          <a:p>
            <a:r>
              <a:rPr lang="en-US" sz="3600" dirty="0">
                <a:latin typeface="+mj-lt"/>
              </a:rPr>
              <a:t>Anterograde and Retrograde Transport </a:t>
            </a:r>
            <a:r>
              <a:rPr lang="en-US" sz="2800" dirty="0">
                <a:latin typeface="+mj-lt"/>
              </a:rPr>
              <a:t>(1 of 2)</a:t>
            </a:r>
            <a:endParaRPr lang="en-US" sz="36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59337"/>
            <a:ext cx="8302240" cy="3339376"/>
          </a:xfrm>
        </p:spPr>
        <p:txBody>
          <a:bodyPr lIns="0" tIns="0" rIns="0" bIns="0">
            <a:spAutoFit/>
          </a:bodyPr>
          <a:lstStyle/>
          <a:p>
            <a:pPr marL="342900" indent="-342900"/>
            <a:r>
              <a:rPr lang="en-US" sz="2400" dirty="0"/>
              <a:t>Movement of material toward the plasma membrane is called </a:t>
            </a:r>
            <a:r>
              <a:rPr lang="en-US" sz="2400" b="1" dirty="0"/>
              <a:t>anterograde</a:t>
            </a:r>
            <a:r>
              <a:rPr lang="en-US" sz="2400" dirty="0"/>
              <a:t> </a:t>
            </a:r>
            <a:r>
              <a:rPr lang="en-US" sz="2400" b="1" dirty="0"/>
              <a:t>transport</a:t>
            </a:r>
            <a:r>
              <a:rPr lang="en-US" sz="2400" dirty="0">
                <a:solidFill>
                  <a:schemeClr val="tx1"/>
                </a:solidFill>
              </a:rPr>
              <a:t>.</a:t>
            </a:r>
            <a:endParaRPr lang="en-US" sz="2400" b="1" dirty="0">
              <a:solidFill>
                <a:schemeClr val="tx1"/>
              </a:solidFill>
            </a:endParaRPr>
          </a:p>
          <a:p>
            <a:pPr marL="342900" indent="-342900"/>
            <a:r>
              <a:rPr lang="en-US" sz="2400" dirty="0"/>
              <a:t>As a secretory granule fuses with the plasma membrane and discharges its contents (exocytosis), a bit of membrane from the </a:t>
            </a:r>
            <a:r>
              <a:rPr lang="en-US" sz="2400" spc="-300" dirty="0"/>
              <a:t>E </a:t>
            </a:r>
            <a:r>
              <a:rPr lang="en-US" sz="2400" dirty="0"/>
              <a:t>R becomes part of the plasma membrane</a:t>
            </a:r>
            <a:r>
              <a:rPr lang="en-US" sz="2400" dirty="0">
                <a:solidFill>
                  <a:schemeClr val="tx1"/>
                </a:solidFill>
              </a:rPr>
              <a:t>.</a:t>
            </a:r>
          </a:p>
          <a:p>
            <a:pPr marL="342900" indent="-342900"/>
            <a:r>
              <a:rPr lang="en-US" sz="2400" dirty="0"/>
              <a:t>This flow of lipids toward the plasma membrane must be balanced</a:t>
            </a:r>
            <a:r>
              <a:rPr lang="en-US" sz="2400" dirty="0">
                <a:solidFill>
                  <a:schemeClr val="tx1"/>
                </a:solidFill>
              </a:rPr>
              <a:t>.</a:t>
            </a:r>
          </a:p>
        </p:txBody>
      </p:sp>
    </p:spTree>
    <p:extLst>
      <p:ext uri="{BB962C8B-B14F-4D97-AF65-F5344CB8AC3E}">
        <p14:creationId xmlns:p14="http://schemas.microsoft.com/office/powerpoint/2010/main" val="28891325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6606"/>
            <a:ext cx="8302240" cy="1107996"/>
          </a:xfrm>
        </p:spPr>
        <p:txBody>
          <a:bodyPr lIns="0" tIns="0" rIns="0" bIns="0" anchor="ctr">
            <a:spAutoFit/>
          </a:bodyPr>
          <a:lstStyle/>
          <a:p>
            <a:r>
              <a:rPr lang="en-US" sz="3600" dirty="0">
                <a:latin typeface="+mj-lt"/>
              </a:rPr>
              <a:t>Anterograde and Retrograde Transport </a:t>
            </a:r>
            <a:r>
              <a:rPr lang="en-US" sz="2800" dirty="0">
                <a:latin typeface="+mj-lt"/>
              </a:rPr>
              <a:t>(2 of 2)</a:t>
            </a:r>
            <a:endParaRPr lang="en-US" sz="36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65075"/>
            <a:ext cx="8302240" cy="2600712"/>
          </a:xfrm>
        </p:spPr>
        <p:txBody>
          <a:bodyPr lIns="0" tIns="0" rIns="0" bIns="0">
            <a:spAutoFit/>
          </a:bodyPr>
          <a:lstStyle/>
          <a:p>
            <a:pPr marL="342900" indent="-342900"/>
            <a:r>
              <a:rPr lang="en-US" sz="2400" b="1" dirty="0"/>
              <a:t>Retrograde</a:t>
            </a:r>
            <a:r>
              <a:rPr lang="en-US" sz="2400" dirty="0"/>
              <a:t> </a:t>
            </a:r>
            <a:r>
              <a:rPr lang="en-US" sz="2400" b="1" dirty="0"/>
              <a:t>transport</a:t>
            </a:r>
            <a:r>
              <a:rPr lang="en-US" sz="2400" dirty="0"/>
              <a:t> is the flow of vesicles from Golgi cisternae back to the </a:t>
            </a:r>
            <a:r>
              <a:rPr lang="en-US" sz="2400" spc="-300" dirty="0"/>
              <a:t>E </a:t>
            </a:r>
            <a:r>
              <a:rPr lang="en-US" sz="2400" dirty="0"/>
              <a:t>R</a:t>
            </a:r>
            <a:r>
              <a:rPr lang="en-US" sz="2400" dirty="0">
                <a:solidFill>
                  <a:schemeClr val="tx1"/>
                </a:solidFill>
              </a:rPr>
              <a:t>.</a:t>
            </a:r>
          </a:p>
          <a:p>
            <a:pPr marL="342900" indent="-342900"/>
            <a:r>
              <a:rPr lang="en-US" sz="2400" dirty="0"/>
              <a:t>This allows the cell to balance the flow of lipids toward the plasma membrane</a:t>
            </a:r>
            <a:r>
              <a:rPr lang="en-US" sz="2400" dirty="0">
                <a:solidFill>
                  <a:schemeClr val="tx1"/>
                </a:solidFill>
              </a:rPr>
              <a:t>.</a:t>
            </a:r>
            <a:r>
              <a:rPr lang="en-US" sz="2400" dirty="0"/>
              <a:t> </a:t>
            </a:r>
          </a:p>
          <a:p>
            <a:pPr marL="342900" indent="-342900"/>
            <a:r>
              <a:rPr lang="en-US" sz="2400" dirty="0"/>
              <a:t>It also ensures a supply of materials for forming new vesicles</a:t>
            </a:r>
            <a:r>
              <a:rPr lang="en-US" sz="2400" dirty="0">
                <a:solidFill>
                  <a:schemeClr val="tx1"/>
                </a:solidFill>
              </a:rPr>
              <a:t>.</a:t>
            </a:r>
          </a:p>
        </p:txBody>
      </p:sp>
    </p:spTree>
    <p:extLst>
      <p:ext uri="{BB962C8B-B14F-4D97-AF65-F5344CB8AC3E}">
        <p14:creationId xmlns:p14="http://schemas.microsoft.com/office/powerpoint/2010/main" val="21088712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5721"/>
            <a:ext cx="8302240" cy="1107996"/>
          </a:xfrm>
        </p:spPr>
        <p:txBody>
          <a:bodyPr lIns="0" tIns="0" rIns="0" bIns="0" anchor="ctr">
            <a:spAutoFit/>
          </a:bodyPr>
          <a:lstStyle/>
          <a:p>
            <a:r>
              <a:rPr lang="en-US" sz="3600" dirty="0">
                <a:latin typeface="+mj-lt"/>
              </a:rPr>
              <a:t>12.3 Roles of the </a:t>
            </a:r>
            <a:r>
              <a:rPr lang="en-US" sz="3600" spc="-500" dirty="0">
                <a:latin typeface="+mj-lt"/>
              </a:rPr>
              <a:t>E </a:t>
            </a:r>
            <a:r>
              <a:rPr lang="en-US" sz="3600" dirty="0">
                <a:latin typeface="+mj-lt"/>
              </a:rPr>
              <a:t>R and Golgi Apparatus in Protein Processing</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59337"/>
            <a:ext cx="8302240" cy="2446824"/>
          </a:xfrm>
        </p:spPr>
        <p:txBody>
          <a:bodyPr lIns="0" tIns="0" rIns="0" bIns="0">
            <a:spAutoFit/>
          </a:bodyPr>
          <a:lstStyle/>
          <a:p>
            <a:pPr marL="342900" indent="-342900"/>
            <a:r>
              <a:rPr lang="en-US" sz="2400" dirty="0"/>
              <a:t>Protein processing in the </a:t>
            </a:r>
            <a:r>
              <a:rPr lang="en-US" sz="2400" spc="-300" dirty="0"/>
              <a:t>E </a:t>
            </a:r>
            <a:r>
              <a:rPr lang="en-US" sz="2400" dirty="0"/>
              <a:t>R and Golgi apparatus includes:</a:t>
            </a:r>
          </a:p>
          <a:p>
            <a:pPr marL="829818" lvl="1" indent="-342900"/>
            <a:r>
              <a:rPr lang="en-US" sz="2400" dirty="0"/>
              <a:t>Protein folding, </a:t>
            </a:r>
          </a:p>
          <a:p>
            <a:pPr marL="829818" lvl="1" indent="-342900"/>
            <a:r>
              <a:rPr lang="en-US" sz="2400" dirty="0"/>
              <a:t>Quality control, and </a:t>
            </a:r>
          </a:p>
          <a:p>
            <a:pPr marL="829818" lvl="1" indent="-342900"/>
            <a:r>
              <a:rPr lang="en-US" sz="2400" b="1" dirty="0"/>
              <a:t>Glycosylation</a:t>
            </a:r>
            <a:r>
              <a:rPr lang="en-US" sz="2400" dirty="0"/>
              <a:t>, the addition of carbohydrate side chains to proteins to form </a:t>
            </a:r>
            <a:r>
              <a:rPr lang="en-US" sz="2400" b="1" dirty="0"/>
              <a:t>glycoproteins</a:t>
            </a:r>
            <a:r>
              <a:rPr lang="en-US" sz="2400" dirty="0"/>
              <a:t>. </a:t>
            </a:r>
          </a:p>
        </p:txBody>
      </p:sp>
    </p:spTree>
    <p:extLst>
      <p:ext uri="{BB962C8B-B14F-4D97-AF65-F5344CB8AC3E}">
        <p14:creationId xmlns:p14="http://schemas.microsoft.com/office/powerpoint/2010/main" val="40012885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7707"/>
            <a:ext cx="8302240" cy="553998"/>
          </a:xfrm>
        </p:spPr>
        <p:txBody>
          <a:bodyPr lIns="0" tIns="0" rIns="0" bIns="0" anchor="ctr">
            <a:spAutoFit/>
          </a:bodyPr>
          <a:lstStyle/>
          <a:p>
            <a:r>
              <a:rPr lang="en-US" sz="3600" dirty="0">
                <a:latin typeface="+mj-lt"/>
              </a:rPr>
              <a:t>Two General Kinds of Glycosylation</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0571"/>
            <a:ext cx="8302240" cy="2408352"/>
          </a:xfrm>
        </p:spPr>
        <p:txBody>
          <a:bodyPr lIns="0" tIns="0" rIns="0" bIns="0">
            <a:spAutoFit/>
          </a:bodyPr>
          <a:lstStyle/>
          <a:p>
            <a:pPr marL="342900" indent="-342900"/>
            <a:r>
              <a:rPr lang="en-US" sz="2400" b="1" dirty="0"/>
              <a:t>N-linked glycosylation (N-glycosylation) </a:t>
            </a:r>
            <a:r>
              <a:rPr lang="en-US" sz="2400" dirty="0"/>
              <a:t>involves the addition of an oligosaccharide to the </a:t>
            </a:r>
            <a:r>
              <a:rPr lang="en-US" sz="2400" i="1" dirty="0"/>
              <a:t>nitrogen</a:t>
            </a:r>
            <a:r>
              <a:rPr lang="en-US" sz="2400" dirty="0"/>
              <a:t> atom of certain asparagine residues</a:t>
            </a:r>
            <a:r>
              <a:rPr lang="en-US" sz="2400" dirty="0">
                <a:solidFill>
                  <a:schemeClr val="tx1"/>
                </a:solidFill>
              </a:rPr>
              <a:t>.</a:t>
            </a:r>
          </a:p>
          <a:p>
            <a:pPr marL="342900" indent="-342900"/>
            <a:r>
              <a:rPr lang="en-US" sz="2400" b="1" dirty="0"/>
              <a:t>O-linked glycosylation </a:t>
            </a:r>
            <a:r>
              <a:rPr lang="en-US" sz="2400" dirty="0"/>
              <a:t>involves addition of the oligosaccharide to the </a:t>
            </a:r>
            <a:r>
              <a:rPr lang="en-US" sz="2400" i="1" dirty="0"/>
              <a:t>oxygen</a:t>
            </a:r>
            <a:r>
              <a:rPr lang="en-US" sz="2400" dirty="0"/>
              <a:t> atom on the hydroxyl group of certain serine, threonine, and rarely tyrosine residues</a:t>
            </a:r>
            <a:r>
              <a:rPr lang="en-US" sz="2400" dirty="0">
                <a:solidFill>
                  <a:srgbClr val="FF0000"/>
                </a:solidFill>
              </a:rPr>
              <a:t>.</a:t>
            </a:r>
            <a:endParaRPr lang="en-US" sz="2400" dirty="0"/>
          </a:p>
        </p:txBody>
      </p:sp>
    </p:spTree>
    <p:extLst>
      <p:ext uri="{BB962C8B-B14F-4D97-AF65-F5344CB8AC3E}">
        <p14:creationId xmlns:p14="http://schemas.microsoft.com/office/powerpoint/2010/main" val="23122783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5721"/>
            <a:ext cx="8302240" cy="1107996"/>
          </a:xfrm>
        </p:spPr>
        <p:txBody>
          <a:bodyPr lIns="0" tIns="0" rIns="0" bIns="0" anchor="ctr">
            <a:spAutoFit/>
          </a:bodyPr>
          <a:lstStyle/>
          <a:p>
            <a:r>
              <a:rPr lang="en-US" sz="3600" dirty="0">
                <a:latin typeface="+mj-lt"/>
              </a:rPr>
              <a:t>Protein Folding and Quality Control Take Place Within the </a:t>
            </a:r>
            <a:r>
              <a:rPr lang="en-US" sz="3600" spc="-500" dirty="0">
                <a:latin typeface="+mj-lt"/>
              </a:rPr>
              <a:t>E </a:t>
            </a:r>
            <a:r>
              <a:rPr lang="en-US" sz="3600" dirty="0">
                <a:latin typeface="+mj-lt"/>
              </a:rPr>
              <a:t>R</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59336"/>
            <a:ext cx="8302240" cy="2039020"/>
          </a:xfrm>
        </p:spPr>
        <p:txBody>
          <a:bodyPr lIns="0" tIns="0" rIns="0" bIns="0">
            <a:spAutoFit/>
          </a:bodyPr>
          <a:lstStyle/>
          <a:p>
            <a:pPr marL="342900" indent="-342900"/>
            <a:r>
              <a:rPr lang="en-US" sz="2400" dirty="0"/>
              <a:t>Polypeptides fold into their final shapes and assemble with other polypeptides to form multisubunit proteins in the </a:t>
            </a:r>
            <a:r>
              <a:rPr lang="en-US" sz="2400" spc="-300" dirty="0"/>
              <a:t>E </a:t>
            </a:r>
            <a:r>
              <a:rPr lang="en-US" sz="2400" dirty="0"/>
              <a:t>R lumen. </a:t>
            </a:r>
          </a:p>
          <a:p>
            <a:pPr marL="342900" indent="-342900"/>
            <a:r>
              <a:rPr lang="en-US" sz="2400" i="1" dirty="0"/>
              <a:t>Molecular</a:t>
            </a:r>
            <a:r>
              <a:rPr lang="en-US" sz="2400" dirty="0"/>
              <a:t> </a:t>
            </a:r>
            <a:r>
              <a:rPr lang="en-US" sz="2400" i="1" dirty="0"/>
              <a:t>chaperones</a:t>
            </a:r>
            <a:r>
              <a:rPr lang="en-US" sz="2400" dirty="0"/>
              <a:t> facilitate these folding and assembly events. </a:t>
            </a:r>
          </a:p>
        </p:txBody>
      </p:sp>
    </p:spTree>
    <p:extLst>
      <p:ext uri="{BB962C8B-B14F-4D97-AF65-F5344CB8AC3E}">
        <p14:creationId xmlns:p14="http://schemas.microsoft.com/office/powerpoint/2010/main" val="10816773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7707"/>
            <a:ext cx="8302240" cy="553998"/>
          </a:xfrm>
        </p:spPr>
        <p:txBody>
          <a:bodyPr lIns="0" tIns="0" rIns="0" bIns="0" anchor="ctr">
            <a:spAutoFit/>
          </a:bodyPr>
          <a:lstStyle/>
          <a:p>
            <a:r>
              <a:rPr lang="en-US" sz="3600" spc="-500" dirty="0">
                <a:latin typeface="+mj-lt"/>
              </a:rPr>
              <a:t>B i </a:t>
            </a:r>
            <a:r>
              <a:rPr lang="en-US" sz="3600" dirty="0">
                <a:latin typeface="+mj-lt"/>
              </a:rPr>
              <a:t>P: an Hsp70 Chaperone Protein</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75"/>
            <a:ext cx="8302240" cy="3901068"/>
          </a:xfrm>
        </p:spPr>
        <p:txBody>
          <a:bodyPr lIns="0" tIns="0" rIns="0" bIns="0">
            <a:spAutoFit/>
          </a:bodyPr>
          <a:lstStyle/>
          <a:p>
            <a:pPr marL="342900" indent="-342900"/>
            <a:r>
              <a:rPr lang="en-US" sz="2400" b="1" spc="-300" dirty="0"/>
              <a:t>B i </a:t>
            </a:r>
            <a:r>
              <a:rPr lang="en-US" sz="2400" b="1" dirty="0"/>
              <a:t>P</a:t>
            </a:r>
            <a:r>
              <a:rPr lang="en-US" sz="2400" dirty="0"/>
              <a:t> binds the hydrophobic region of a polypeptide, which prevents aggregation. </a:t>
            </a:r>
          </a:p>
          <a:p>
            <a:pPr marL="342900" indent="-342900"/>
            <a:r>
              <a:rPr lang="en-US" sz="2400" spc="-300" dirty="0"/>
              <a:t>B i </a:t>
            </a:r>
            <a:r>
              <a:rPr lang="en-US" sz="2400" dirty="0"/>
              <a:t>P releases the polypeptide, accompanied by </a:t>
            </a:r>
            <a:r>
              <a:rPr lang="en-US" sz="2400" spc="-300" dirty="0"/>
              <a:t>A T </a:t>
            </a:r>
            <a:r>
              <a:rPr lang="en-US" sz="2400" dirty="0"/>
              <a:t>P hydrolysis, allowing the protein to fold. This folding can be aided by other chaperone proteins. </a:t>
            </a:r>
          </a:p>
          <a:p>
            <a:pPr marL="342900" indent="-342900"/>
            <a:r>
              <a:rPr lang="en-US" sz="2400" dirty="0"/>
              <a:t>If the protein folds correctly, the hydrophobic regions are buried and </a:t>
            </a:r>
            <a:r>
              <a:rPr lang="en-US" sz="2400" spc="-300" dirty="0"/>
              <a:t>B i </a:t>
            </a:r>
            <a:r>
              <a:rPr lang="en-US" sz="2400" dirty="0"/>
              <a:t>P cannot bind. </a:t>
            </a:r>
          </a:p>
          <a:p>
            <a:pPr marL="342900" indent="-342900"/>
            <a:r>
              <a:rPr lang="en-US" sz="2400" dirty="0"/>
              <a:t>If the protein folds incorrectly, </a:t>
            </a:r>
            <a:r>
              <a:rPr lang="en-US" sz="2400" spc="-300" dirty="0"/>
              <a:t>B i </a:t>
            </a:r>
            <a:r>
              <a:rPr lang="en-US" sz="2400" dirty="0"/>
              <a:t>P rebinds the hydrophobic residues and the process is repeated. </a:t>
            </a:r>
          </a:p>
        </p:txBody>
      </p:sp>
    </p:spTree>
    <p:extLst>
      <p:ext uri="{BB962C8B-B14F-4D97-AF65-F5344CB8AC3E}">
        <p14:creationId xmlns:p14="http://schemas.microsoft.com/office/powerpoint/2010/main" val="32026054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7707"/>
            <a:ext cx="8302240" cy="553998"/>
          </a:xfrm>
        </p:spPr>
        <p:txBody>
          <a:bodyPr lIns="0" tIns="0" rIns="0" bIns="0" anchor="ctr">
            <a:spAutoFit/>
          </a:bodyPr>
          <a:lstStyle/>
          <a:p>
            <a:r>
              <a:rPr lang="en-US" sz="3600" dirty="0">
                <a:latin typeface="+mj-lt"/>
              </a:rPr>
              <a:t>Disulfide Bonds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75"/>
            <a:ext cx="8302240" cy="2777683"/>
          </a:xfrm>
        </p:spPr>
        <p:txBody>
          <a:bodyPr lIns="0" tIns="0" rIns="0" bIns="0">
            <a:spAutoFit/>
          </a:bodyPr>
          <a:lstStyle/>
          <a:p>
            <a:pPr marL="342900" indent="-342900"/>
            <a:r>
              <a:rPr lang="en-US" sz="2400" b="1" dirty="0"/>
              <a:t>Protein</a:t>
            </a:r>
            <a:r>
              <a:rPr lang="en-US" sz="2400" dirty="0"/>
              <a:t> </a:t>
            </a:r>
            <a:r>
              <a:rPr lang="en-US" sz="2400" b="1" dirty="0"/>
              <a:t>disulfide</a:t>
            </a:r>
            <a:r>
              <a:rPr lang="en-US" sz="2400" dirty="0"/>
              <a:t> </a:t>
            </a:r>
            <a:r>
              <a:rPr lang="en-US" sz="2400" b="1" dirty="0"/>
              <a:t>isomerase</a:t>
            </a:r>
            <a:r>
              <a:rPr lang="en-US" sz="2400" dirty="0"/>
              <a:t> is an enzyme that leads to the formation (and breakage) of disulfide bonds between cysteines. </a:t>
            </a:r>
          </a:p>
          <a:p>
            <a:pPr marL="342900" indent="-342900"/>
            <a:r>
              <a:rPr lang="en-US" sz="2400" dirty="0"/>
              <a:t>Disulfide bonds begin forming before synthesis of the polypeptide is complete. Allowing for the formation and breakage of disulfide bonds until the most stable arrangement can be found. </a:t>
            </a:r>
          </a:p>
        </p:txBody>
      </p:sp>
    </p:spTree>
    <p:extLst>
      <p:ext uri="{BB962C8B-B14F-4D97-AF65-F5344CB8AC3E}">
        <p14:creationId xmlns:p14="http://schemas.microsoft.com/office/powerpoint/2010/main" val="18979646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7707"/>
            <a:ext cx="8302240" cy="553998"/>
          </a:xfrm>
        </p:spPr>
        <p:txBody>
          <a:bodyPr lIns="0" tIns="0" rIns="0" bIns="0" anchor="ctr">
            <a:spAutoFit/>
          </a:bodyPr>
          <a:lstStyle/>
          <a:p>
            <a:r>
              <a:rPr lang="en-US" sz="3600" dirty="0">
                <a:latin typeface="+mj-lt"/>
              </a:rPr>
              <a:t>Protein Quality Control Mechanisms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75"/>
            <a:ext cx="8302240" cy="3147015"/>
          </a:xfrm>
        </p:spPr>
        <p:txBody>
          <a:bodyPr lIns="0" tIns="0" rIns="0" bIns="0">
            <a:spAutoFit/>
          </a:bodyPr>
          <a:lstStyle/>
          <a:p>
            <a:pPr marL="342900" indent="-342900"/>
            <a:r>
              <a:rPr lang="en-US" sz="2400" dirty="0"/>
              <a:t>The </a:t>
            </a:r>
            <a:r>
              <a:rPr lang="en-US" sz="2400" b="1" dirty="0"/>
              <a:t>unfolded protein response (</a:t>
            </a:r>
            <a:r>
              <a:rPr lang="en-US" sz="2400" b="1" spc="-300" dirty="0"/>
              <a:t>U P </a:t>
            </a:r>
            <a:r>
              <a:rPr lang="en-US" sz="2400" b="1" dirty="0"/>
              <a:t>R) </a:t>
            </a:r>
            <a:r>
              <a:rPr lang="en-US" sz="2400" dirty="0"/>
              <a:t>uses sensor molecules in the </a:t>
            </a:r>
            <a:r>
              <a:rPr lang="en-US" sz="2400" spc="-300" dirty="0"/>
              <a:t>E </a:t>
            </a:r>
            <a:r>
              <a:rPr lang="en-US" sz="2400" dirty="0"/>
              <a:t>R membrane to detect misfolded proteins. The sensors activate signaling pathways that shut down the production of protein except for those required for protein folding and degradation. </a:t>
            </a:r>
          </a:p>
          <a:p>
            <a:pPr marL="342900" indent="-342900"/>
            <a:r>
              <a:rPr lang="en-US" sz="2400" b="1" spc="-300" dirty="0"/>
              <a:t>E </a:t>
            </a:r>
            <a:r>
              <a:rPr lang="en-US" sz="2400" b="1" dirty="0"/>
              <a:t>R-associated degradation (</a:t>
            </a:r>
            <a:r>
              <a:rPr lang="en-US" sz="2400" b="1" spc="-300" dirty="0"/>
              <a:t>E R A </a:t>
            </a:r>
            <a:r>
              <a:rPr lang="en-US" sz="2400" b="1" dirty="0"/>
              <a:t>D) </a:t>
            </a:r>
            <a:r>
              <a:rPr lang="en-US" sz="2400" dirty="0"/>
              <a:t>recognizes misfolded</a:t>
            </a:r>
            <a:r>
              <a:rPr lang="en-US" sz="2400" dirty="0">
                <a:solidFill>
                  <a:schemeClr val="tx1"/>
                </a:solidFill>
              </a:rPr>
              <a:t> or </a:t>
            </a:r>
            <a:r>
              <a:rPr lang="en-US" sz="2400" dirty="0"/>
              <a:t>unassembled proteins and exports them to the cytosol to be degraded by </a:t>
            </a:r>
            <a:r>
              <a:rPr lang="en-US" sz="2400" i="1" dirty="0">
                <a:solidFill>
                  <a:schemeClr val="tx1"/>
                </a:solidFill>
              </a:rPr>
              <a:t>proteasomes</a:t>
            </a:r>
            <a:r>
              <a:rPr lang="en-US" sz="2400" dirty="0">
                <a:solidFill>
                  <a:schemeClr val="tx1"/>
                </a:solidFill>
              </a:rPr>
              <a:t>. </a:t>
            </a:r>
          </a:p>
        </p:txBody>
      </p:sp>
    </p:spTree>
    <p:extLst>
      <p:ext uri="{BB962C8B-B14F-4D97-AF65-F5344CB8AC3E}">
        <p14:creationId xmlns:p14="http://schemas.microsoft.com/office/powerpoint/2010/main" val="36053070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69394"/>
            <a:ext cx="8302240" cy="553998"/>
          </a:xfrm>
        </p:spPr>
        <p:txBody>
          <a:bodyPr lIns="0" tIns="0" rIns="0" bIns="0" anchor="ctr">
            <a:spAutoFit/>
          </a:bodyPr>
          <a:lstStyle/>
          <a:p>
            <a:r>
              <a:rPr lang="en-US" sz="3600" dirty="0">
                <a:latin typeface="+mj-lt"/>
              </a:rPr>
              <a:t>Initial Glycosylation Occurs in the </a:t>
            </a:r>
            <a:r>
              <a:rPr lang="en-US" sz="3600" spc="-500" dirty="0">
                <a:latin typeface="+mj-lt"/>
              </a:rPr>
              <a:t>E </a:t>
            </a:r>
            <a:r>
              <a:rPr lang="en-US" sz="3600" dirty="0">
                <a:latin typeface="+mj-lt"/>
              </a:rPr>
              <a:t>R</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75"/>
            <a:ext cx="8302240" cy="2970044"/>
          </a:xfrm>
        </p:spPr>
        <p:txBody>
          <a:bodyPr lIns="0" tIns="0" rIns="0" bIns="0">
            <a:spAutoFit/>
          </a:bodyPr>
          <a:lstStyle/>
          <a:p>
            <a:pPr marL="342900" indent="-342900"/>
            <a:r>
              <a:rPr lang="en-US" sz="2400" dirty="0"/>
              <a:t>The initial steps of N-glycosylation take place on the cytosolic surface of the </a:t>
            </a:r>
            <a:r>
              <a:rPr lang="en-US" sz="2400" spc="-300" dirty="0"/>
              <a:t>E </a:t>
            </a:r>
            <a:r>
              <a:rPr lang="en-US" sz="2400" dirty="0"/>
              <a:t>R membrane</a:t>
            </a:r>
            <a:r>
              <a:rPr lang="en-US" sz="2400" dirty="0">
                <a:solidFill>
                  <a:schemeClr val="tx1"/>
                </a:solidFill>
              </a:rPr>
              <a:t>.</a:t>
            </a:r>
          </a:p>
          <a:p>
            <a:pPr marL="342900" indent="-342900"/>
            <a:r>
              <a:rPr lang="en-US" sz="2400" dirty="0"/>
              <a:t>Later steps take place in the </a:t>
            </a:r>
            <a:r>
              <a:rPr lang="en-US" sz="2400" spc="-300" dirty="0"/>
              <a:t>E </a:t>
            </a:r>
            <a:r>
              <a:rPr lang="en-US" sz="2400" dirty="0"/>
              <a:t>R lumen</a:t>
            </a:r>
            <a:r>
              <a:rPr lang="en-US" sz="2400" dirty="0">
                <a:solidFill>
                  <a:schemeClr val="tx1"/>
                </a:solidFill>
              </a:rPr>
              <a:t>.</a:t>
            </a:r>
          </a:p>
          <a:p>
            <a:pPr marL="342900" indent="-342900"/>
            <a:r>
              <a:rPr lang="en-US" sz="2400" dirty="0"/>
              <a:t>All carbohydrate side chains initially have a common   </a:t>
            </a:r>
            <a:r>
              <a:rPr lang="en-US" sz="2400" b="1" dirty="0"/>
              <a:t>core</a:t>
            </a:r>
            <a:r>
              <a:rPr lang="en-US" sz="2400" dirty="0"/>
              <a:t> </a:t>
            </a:r>
            <a:r>
              <a:rPr lang="en-US" sz="2400" b="1" dirty="0"/>
              <a:t>oligosaccharide</a:t>
            </a:r>
            <a:r>
              <a:rPr lang="en-US" sz="2400" dirty="0"/>
              <a:t> consisting of two units of </a:t>
            </a:r>
            <a:r>
              <a:rPr lang="en-US" sz="2400" i="1" dirty="0">
                <a:solidFill>
                  <a:schemeClr val="tx1"/>
                </a:solidFill>
              </a:rPr>
              <a:t>N</a:t>
            </a:r>
            <a:r>
              <a:rPr lang="en-US" sz="2400" dirty="0"/>
              <a:t>-</a:t>
            </a:r>
            <a:r>
              <a:rPr lang="en-US" sz="2400" dirty="0" err="1"/>
              <a:t>acetylglucosamine</a:t>
            </a:r>
            <a:r>
              <a:rPr lang="en-US" sz="2400" dirty="0"/>
              <a:t>, nine mannose units, and three  glucose units</a:t>
            </a:r>
            <a:r>
              <a:rPr lang="en-US" sz="2400" dirty="0">
                <a:solidFill>
                  <a:srgbClr val="FF0000"/>
                </a:solidFill>
              </a:rPr>
              <a:t>.</a:t>
            </a:r>
            <a:endParaRPr lang="en-US" sz="2400" dirty="0"/>
          </a:p>
        </p:txBody>
      </p:sp>
    </p:spTree>
    <p:extLst>
      <p:ext uri="{BB962C8B-B14F-4D97-AF65-F5344CB8AC3E}">
        <p14:creationId xmlns:p14="http://schemas.microsoft.com/office/powerpoint/2010/main" val="23870714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5" y="165165"/>
            <a:ext cx="8269054" cy="1661993"/>
          </a:xfrm>
        </p:spPr>
        <p:txBody>
          <a:bodyPr lIns="0" tIns="0" rIns="0" bIns="0" anchor="ctr">
            <a:spAutoFit/>
          </a:bodyPr>
          <a:lstStyle/>
          <a:p>
            <a:r>
              <a:rPr lang="en-US" dirty="0"/>
              <a:t>Compartmentalization of the Steps of Glycosylation and Subsequent Modification of Proteins</a:t>
            </a:r>
          </a:p>
        </p:txBody>
      </p:sp>
      <p:sp>
        <p:nvSpPr>
          <p:cNvPr id="6" name="Content Placeholder 5"/>
          <p:cNvSpPr>
            <a:spLocks noGrp="1"/>
          </p:cNvSpPr>
          <p:nvPr>
            <p:ph sz="quarter" idx="15"/>
          </p:nvPr>
        </p:nvSpPr>
        <p:spPr>
          <a:xfrm>
            <a:off x="421690" y="2069000"/>
            <a:ext cx="4078874" cy="1846659"/>
          </a:xfrm>
        </p:spPr>
        <p:txBody>
          <a:bodyPr wrap="square" lIns="0" tIns="0" rIns="0" bIns="0">
            <a:spAutoFit/>
          </a:bodyPr>
          <a:lstStyle/>
          <a:p>
            <a:pPr marL="0" indent="0">
              <a:buNone/>
            </a:pPr>
            <a:r>
              <a:rPr lang="en-US" sz="2400" b="1" dirty="0"/>
              <a:t>Figure 12.5 </a:t>
            </a:r>
            <a:r>
              <a:rPr lang="en-US" sz="2400" dirty="0"/>
              <a:t>Compartmentalization of the Steps of Glycosylation and Subsequent Modification of Proteins. </a:t>
            </a:r>
          </a:p>
        </p:txBody>
      </p:sp>
      <p:pic>
        <p:nvPicPr>
          <p:cNvPr id="5" name="Picture Placeholder 4" descr="Migration from the endoplasmic reticulum through the Golgi apparatus consisting of C G N, medial cisternae, and T G N. &#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134"/>
          <a:stretch/>
        </p:blipFill>
        <p:spPr>
          <a:xfrm>
            <a:off x="4881343" y="2047163"/>
            <a:ext cx="3805576" cy="4351883"/>
          </a:xfrm>
        </p:spPr>
      </p:pic>
    </p:spTree>
    <p:extLst>
      <p:ext uri="{BB962C8B-B14F-4D97-AF65-F5344CB8AC3E}">
        <p14:creationId xmlns:p14="http://schemas.microsoft.com/office/powerpoint/2010/main" val="7807137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69394"/>
            <a:ext cx="8302240" cy="553998"/>
          </a:xfrm>
        </p:spPr>
        <p:txBody>
          <a:bodyPr lIns="0" tIns="0" rIns="0" bIns="0" anchor="ctr">
            <a:spAutoFit/>
          </a:bodyPr>
          <a:lstStyle/>
          <a:p>
            <a:r>
              <a:rPr lang="en-US" sz="3600" dirty="0">
                <a:latin typeface="+mj-lt"/>
              </a:rPr>
              <a:t>Steps of Glycosylation </a:t>
            </a:r>
            <a:r>
              <a:rPr lang="en-US" sz="2800" dirty="0">
                <a:latin typeface="+mj-lt"/>
              </a:rPr>
              <a:t>(1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75"/>
            <a:ext cx="8302240" cy="2970044"/>
          </a:xfrm>
        </p:spPr>
        <p:txBody>
          <a:bodyPr lIns="0" tIns="0" rIns="0" bIns="0">
            <a:spAutoFit/>
          </a:bodyPr>
          <a:lstStyle/>
          <a:p>
            <a:pPr marL="457200" indent="-457200">
              <a:buFont typeface="+mj-lt"/>
              <a:buAutoNum type="arabicPeriod"/>
            </a:pPr>
            <a:r>
              <a:rPr lang="en-US" sz="2400" dirty="0"/>
              <a:t>Glycosylation begins as </a:t>
            </a:r>
            <a:r>
              <a:rPr lang="en-US" sz="2400" i="1" dirty="0"/>
              <a:t>dolichol phosphate</a:t>
            </a:r>
            <a:r>
              <a:rPr lang="en-US" sz="2400" dirty="0"/>
              <a:t>, an oligosaccharide carrier, is inserted into the </a:t>
            </a:r>
            <a:r>
              <a:rPr lang="en-US" sz="2400" spc="-300" dirty="0"/>
              <a:t>E </a:t>
            </a:r>
            <a:r>
              <a:rPr lang="en-US" sz="2400" dirty="0"/>
              <a:t>R membrane.</a:t>
            </a:r>
          </a:p>
          <a:p>
            <a:pPr marL="457200" indent="-457200">
              <a:buFont typeface="+mj-lt"/>
              <a:buAutoNum type="arabicPeriod"/>
            </a:pPr>
            <a:r>
              <a:rPr lang="en-US" sz="2400" dirty="0"/>
              <a:t>GlcNAc and mannose groups are then added to the phosphate group.</a:t>
            </a:r>
          </a:p>
          <a:p>
            <a:pPr marL="457200" indent="-457200">
              <a:buFont typeface="+mj-lt"/>
              <a:buAutoNum type="arabicPeriod"/>
            </a:pPr>
            <a:r>
              <a:rPr lang="en-US" sz="2400" dirty="0"/>
              <a:t>The growing core oligosaccharide is translocated to the </a:t>
            </a:r>
            <a:r>
              <a:rPr lang="en-US" sz="2400" dirty="0">
                <a:solidFill>
                  <a:schemeClr val="tx1"/>
                </a:solidFill>
              </a:rPr>
              <a:t>ER</a:t>
            </a:r>
            <a:r>
              <a:rPr lang="en-US" sz="2400" dirty="0"/>
              <a:t> lumen by a </a:t>
            </a:r>
            <a:r>
              <a:rPr lang="en-US" sz="2400" i="1" dirty="0"/>
              <a:t>flippase</a:t>
            </a:r>
            <a:r>
              <a:rPr lang="en-US" sz="2400" dirty="0"/>
              <a:t>.</a:t>
            </a:r>
          </a:p>
        </p:txBody>
      </p:sp>
    </p:spTree>
    <p:extLst>
      <p:ext uri="{BB962C8B-B14F-4D97-AF65-F5344CB8AC3E}">
        <p14:creationId xmlns:p14="http://schemas.microsoft.com/office/powerpoint/2010/main" val="22890726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69394"/>
            <a:ext cx="8302240" cy="553998"/>
          </a:xfrm>
        </p:spPr>
        <p:txBody>
          <a:bodyPr lIns="0" tIns="0" rIns="0" bIns="0" anchor="ctr">
            <a:spAutoFit/>
          </a:bodyPr>
          <a:lstStyle/>
          <a:p>
            <a:r>
              <a:rPr lang="en-US" sz="3600" dirty="0">
                <a:latin typeface="+mj-lt"/>
              </a:rPr>
              <a:t>Steps of Glycosylation </a:t>
            </a:r>
            <a:r>
              <a:rPr lang="en-US" sz="2800" dirty="0">
                <a:latin typeface="+mj-lt"/>
              </a:rPr>
              <a:t>(2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75"/>
            <a:ext cx="8302240" cy="2600712"/>
          </a:xfrm>
        </p:spPr>
        <p:txBody>
          <a:bodyPr lIns="0" tIns="0" rIns="0" bIns="0">
            <a:spAutoFit/>
          </a:bodyPr>
          <a:lstStyle/>
          <a:p>
            <a:pPr marL="457200" indent="-457200">
              <a:buFont typeface="+mj-lt"/>
              <a:buAutoNum type="arabicPeriod" startAt="4"/>
            </a:pPr>
            <a:r>
              <a:rPr lang="en-US" sz="2400" dirty="0"/>
              <a:t>Once inside the lumen, more mannose and glucose are added. </a:t>
            </a:r>
          </a:p>
          <a:p>
            <a:pPr marL="457200" indent="-457200">
              <a:buFont typeface="+mj-lt"/>
              <a:buAutoNum type="arabicPeriod" startAt="4"/>
            </a:pPr>
            <a:r>
              <a:rPr lang="en-US" sz="2400" dirty="0"/>
              <a:t>The completed core oligosaccharide is transferred from dolichol to the asparagine residue of the recipient protein. </a:t>
            </a:r>
          </a:p>
          <a:p>
            <a:pPr marL="457200" indent="-457200">
              <a:buFont typeface="+mj-lt"/>
              <a:buAutoNum type="arabicPeriod" startAt="4"/>
            </a:pPr>
            <a:r>
              <a:rPr lang="en-US" sz="2400" dirty="0"/>
              <a:t>The core oligosaccharide attached to the protein is trimmed and modified. </a:t>
            </a:r>
          </a:p>
        </p:txBody>
      </p:sp>
    </p:spTree>
    <p:extLst>
      <p:ext uri="{BB962C8B-B14F-4D97-AF65-F5344CB8AC3E}">
        <p14:creationId xmlns:p14="http://schemas.microsoft.com/office/powerpoint/2010/main" val="10554452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5" y="174869"/>
            <a:ext cx="8269054" cy="1107996"/>
          </a:xfrm>
        </p:spPr>
        <p:txBody>
          <a:bodyPr lIns="0" tIns="0" rIns="0" bIns="0" anchor="ctr">
            <a:spAutoFit/>
          </a:bodyPr>
          <a:lstStyle/>
          <a:p>
            <a:r>
              <a:rPr lang="en-US" dirty="0"/>
              <a:t>N-Linked Glycosylation of Proteins in the </a:t>
            </a:r>
            <a:r>
              <a:rPr lang="en-US" spc="-500" dirty="0"/>
              <a:t>E </a:t>
            </a:r>
            <a:r>
              <a:rPr lang="en-US" dirty="0"/>
              <a:t>R</a:t>
            </a:r>
          </a:p>
        </p:txBody>
      </p:sp>
      <p:sp>
        <p:nvSpPr>
          <p:cNvPr id="6" name="Content Placeholder 5"/>
          <p:cNvSpPr>
            <a:spLocks noGrp="1"/>
          </p:cNvSpPr>
          <p:nvPr>
            <p:ph sz="quarter" idx="15"/>
          </p:nvPr>
        </p:nvSpPr>
        <p:spPr>
          <a:xfrm>
            <a:off x="421689" y="1561890"/>
            <a:ext cx="4023311" cy="1107996"/>
          </a:xfrm>
        </p:spPr>
        <p:txBody>
          <a:bodyPr wrap="square" lIns="0" tIns="0" rIns="0" bIns="0">
            <a:spAutoFit/>
          </a:bodyPr>
          <a:lstStyle/>
          <a:p>
            <a:pPr marL="0" indent="0">
              <a:buNone/>
            </a:pPr>
            <a:r>
              <a:rPr lang="en-US" sz="2400" b="1" dirty="0"/>
              <a:t>Figure 12.6 </a:t>
            </a:r>
            <a:r>
              <a:rPr lang="en-US" sz="2400" dirty="0"/>
              <a:t>N-Linked Glycosylation of Proteins in the </a:t>
            </a:r>
            <a:r>
              <a:rPr lang="en-US" sz="2400" spc="-300" dirty="0"/>
              <a:t>E </a:t>
            </a:r>
            <a:r>
              <a:rPr lang="en-US" sz="2400" dirty="0"/>
              <a:t>R.</a:t>
            </a:r>
          </a:p>
        </p:txBody>
      </p:sp>
      <p:pic>
        <p:nvPicPr>
          <p:cNvPr id="8" name="Picture Placeholder 7" descr="An illustration on N hyphen linked glycosylation of proteins in the E R in five steps. Dolichol phosphate in the E R membrane acts as a carrier. Processes take place in the cytosol on one side and E R lumen on the other side of the E R membrane.&#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920"/>
          <a:stretch/>
        </p:blipFill>
        <p:spPr>
          <a:xfrm>
            <a:off x="4914900" y="1562411"/>
            <a:ext cx="3772635" cy="4844232"/>
          </a:xfrm>
        </p:spPr>
      </p:pic>
    </p:spTree>
    <p:extLst>
      <p:ext uri="{BB962C8B-B14F-4D97-AF65-F5344CB8AC3E}">
        <p14:creationId xmlns:p14="http://schemas.microsoft.com/office/powerpoint/2010/main" val="33149457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69394"/>
            <a:ext cx="8302240" cy="553998"/>
          </a:xfrm>
        </p:spPr>
        <p:txBody>
          <a:bodyPr lIns="0" tIns="0" rIns="0" bIns="0" anchor="ctr">
            <a:spAutoFit/>
          </a:bodyPr>
          <a:lstStyle/>
          <a:p>
            <a:r>
              <a:rPr lang="en-US" sz="3600" dirty="0">
                <a:latin typeface="+mj-lt"/>
              </a:rPr>
              <a:t>Cotranslational Glycosylation</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75"/>
            <a:ext cx="8302240" cy="1862048"/>
          </a:xfrm>
        </p:spPr>
        <p:txBody>
          <a:bodyPr lIns="0" tIns="0" rIns="0" bIns="0">
            <a:spAutoFit/>
          </a:bodyPr>
          <a:lstStyle/>
          <a:p>
            <a:pPr marL="342900" indent="-342900"/>
            <a:r>
              <a:rPr lang="en-US" sz="2400" dirty="0"/>
              <a:t>Usually the oligosaccharide is added to the recipient protein as the polypeptide is being synthesized</a:t>
            </a:r>
            <a:r>
              <a:rPr lang="en-US" sz="2400" dirty="0">
                <a:solidFill>
                  <a:schemeClr val="tx1"/>
                </a:solidFill>
              </a:rPr>
              <a:t>.</a:t>
            </a:r>
          </a:p>
          <a:p>
            <a:pPr marL="342900" indent="-342900"/>
            <a:r>
              <a:rPr lang="en-US" sz="2400" dirty="0"/>
              <a:t>This is called </a:t>
            </a:r>
            <a:r>
              <a:rPr lang="en-US" sz="2400" i="1" dirty="0"/>
              <a:t>cotranslational</a:t>
            </a:r>
            <a:r>
              <a:rPr lang="en-US" sz="2400" dirty="0"/>
              <a:t> </a:t>
            </a:r>
            <a:r>
              <a:rPr lang="en-US" sz="2400" i="1" dirty="0"/>
              <a:t>glycosylation</a:t>
            </a:r>
            <a:r>
              <a:rPr lang="en-US" sz="2400" dirty="0">
                <a:solidFill>
                  <a:schemeClr val="tx1"/>
                </a:solidFill>
              </a:rPr>
              <a:t>.</a:t>
            </a:r>
            <a:endParaRPr lang="en-US" sz="2400" i="1" dirty="0">
              <a:solidFill>
                <a:schemeClr val="tx1"/>
              </a:solidFill>
            </a:endParaRPr>
          </a:p>
          <a:p>
            <a:pPr marL="342900" indent="-342900"/>
            <a:r>
              <a:rPr lang="en-US" sz="2400" dirty="0"/>
              <a:t>It helps to promote proper protein folding</a:t>
            </a:r>
            <a:r>
              <a:rPr lang="en-US" sz="2400" dirty="0">
                <a:solidFill>
                  <a:schemeClr val="tx1"/>
                </a:solidFill>
              </a:rPr>
              <a:t>.</a:t>
            </a:r>
          </a:p>
        </p:txBody>
      </p:sp>
    </p:spTree>
    <p:extLst>
      <p:ext uri="{BB962C8B-B14F-4D97-AF65-F5344CB8AC3E}">
        <p14:creationId xmlns:p14="http://schemas.microsoft.com/office/powerpoint/2010/main" val="10865502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5721"/>
            <a:ext cx="8302240" cy="1107996"/>
          </a:xfrm>
        </p:spPr>
        <p:txBody>
          <a:bodyPr lIns="0" tIns="0" rIns="0" bIns="0" anchor="ctr">
            <a:spAutoFit/>
          </a:bodyPr>
          <a:lstStyle/>
          <a:p>
            <a:r>
              <a:rPr lang="en-US" sz="3600" dirty="0">
                <a:latin typeface="+mj-lt"/>
              </a:rPr>
              <a:t>Two Proteins Assist with Proper Folding</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380614"/>
            <a:ext cx="8302240" cy="2970044"/>
          </a:xfrm>
        </p:spPr>
        <p:txBody>
          <a:bodyPr lIns="0" tIns="0" rIns="0" bIns="0">
            <a:spAutoFit/>
          </a:bodyPr>
          <a:lstStyle/>
          <a:p>
            <a:pPr marL="342900" indent="-342900"/>
            <a:r>
              <a:rPr lang="en-US" sz="2400" dirty="0"/>
              <a:t>Two </a:t>
            </a:r>
            <a:r>
              <a:rPr lang="en-US" sz="2400" spc="-300" dirty="0"/>
              <a:t>E </a:t>
            </a:r>
            <a:r>
              <a:rPr lang="en-US" sz="2400" dirty="0"/>
              <a:t>R proteins, </a:t>
            </a:r>
            <a:r>
              <a:rPr lang="en-US" sz="2400" b="1" dirty="0"/>
              <a:t>calnexin</a:t>
            </a:r>
            <a:r>
              <a:rPr lang="en-US" sz="2400" dirty="0"/>
              <a:t> (</a:t>
            </a:r>
            <a:r>
              <a:rPr lang="en-US" sz="2400" b="1" spc="-300" dirty="0"/>
              <a:t>C N X</a:t>
            </a:r>
            <a:r>
              <a:rPr lang="en-US" sz="2400" dirty="0"/>
              <a:t>) and </a:t>
            </a:r>
            <a:r>
              <a:rPr lang="en-US" sz="2400" b="1" dirty="0"/>
              <a:t>calreticulin</a:t>
            </a:r>
            <a:r>
              <a:rPr lang="en-US" sz="2400" dirty="0"/>
              <a:t> (</a:t>
            </a:r>
            <a:r>
              <a:rPr lang="en-US" sz="2400" b="1" spc="-300" dirty="0"/>
              <a:t>C R T</a:t>
            </a:r>
            <a:r>
              <a:rPr lang="en-US" sz="2400" dirty="0"/>
              <a:t>), bind to monoglucosylated glycoproteins and promote proper folding.</a:t>
            </a:r>
          </a:p>
          <a:p>
            <a:pPr marL="342900" indent="-342900"/>
            <a:r>
              <a:rPr lang="en-US" sz="2400" dirty="0"/>
              <a:t>This occurs via a complex that includes a thiol reductase known as </a:t>
            </a:r>
            <a:r>
              <a:rPr lang="en-US" sz="2400" i="1" spc="-300" dirty="0"/>
              <a:t>E R </a:t>
            </a:r>
            <a:r>
              <a:rPr lang="en-US" sz="2400" i="1" dirty="0"/>
              <a:t>p57</a:t>
            </a:r>
            <a:r>
              <a:rPr lang="en-US" sz="2400" dirty="0"/>
              <a:t>.</a:t>
            </a:r>
          </a:p>
          <a:p>
            <a:pPr marL="342900" indent="-342900"/>
            <a:r>
              <a:rPr lang="en-US" sz="2400" dirty="0"/>
              <a:t>The complex dissociates and the final glucose is removed by </a:t>
            </a:r>
            <a:r>
              <a:rPr lang="en-US" sz="2400" i="1" dirty="0"/>
              <a:t>glucosidase </a:t>
            </a:r>
            <a:r>
              <a:rPr lang="en-US" sz="2400" i="1" dirty="0">
                <a:latin typeface="Times New Roman" panose="02020603050405020304" pitchFamily="18" charset="0"/>
                <a:cs typeface="Times New Roman" panose="02020603050405020304" pitchFamily="18" charset="0"/>
              </a:rPr>
              <a:t>Ⅱ</a:t>
            </a:r>
            <a:r>
              <a:rPr lang="en-US" sz="2400" dirty="0"/>
              <a:t>.</a:t>
            </a:r>
          </a:p>
        </p:txBody>
      </p:sp>
    </p:spTree>
    <p:extLst>
      <p:ext uri="{BB962C8B-B14F-4D97-AF65-F5344CB8AC3E}">
        <p14:creationId xmlns:p14="http://schemas.microsoft.com/office/powerpoint/2010/main" val="9073195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7707"/>
            <a:ext cx="8302240" cy="553998"/>
          </a:xfrm>
        </p:spPr>
        <p:txBody>
          <a:bodyPr lIns="0" tIns="0" rIns="0" bIns="0" anchor="ctr">
            <a:spAutoFit/>
          </a:bodyPr>
          <a:lstStyle/>
          <a:p>
            <a:r>
              <a:rPr lang="en-US" sz="3600" dirty="0">
                <a:latin typeface="+mj-lt"/>
              </a:rPr>
              <a:t>Proper Folding in the E</a:t>
            </a:r>
            <a:r>
              <a:rPr lang="en-US" sz="3600" spc="-500" dirty="0">
                <a:latin typeface="+mj-lt"/>
              </a:rPr>
              <a:t> </a:t>
            </a:r>
            <a:r>
              <a:rPr lang="en-US" sz="3600" dirty="0">
                <a:latin typeface="+mj-lt"/>
              </a:rPr>
              <a:t>R</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75"/>
            <a:ext cx="8302240" cy="2600712"/>
          </a:xfrm>
        </p:spPr>
        <p:txBody>
          <a:bodyPr lIns="0" tIns="0" rIns="0" bIns="0">
            <a:spAutoFit/>
          </a:bodyPr>
          <a:lstStyle/>
          <a:p>
            <a:pPr marL="342900" indent="-342900"/>
            <a:r>
              <a:rPr lang="en-US" sz="2400" dirty="0"/>
              <a:t>A glucosyl transferase, </a:t>
            </a:r>
            <a:r>
              <a:rPr lang="en-US" sz="2400" i="1" spc="-300" dirty="0"/>
              <a:t>U G G </a:t>
            </a:r>
            <a:r>
              <a:rPr lang="en-US" sz="2400" i="1" dirty="0"/>
              <a:t>T</a:t>
            </a:r>
            <a:r>
              <a:rPr lang="en-US" sz="2400" dirty="0"/>
              <a:t> (</a:t>
            </a:r>
            <a:r>
              <a:rPr lang="en-US" sz="2400" i="1" spc="-300" dirty="0"/>
              <a:t>U D </a:t>
            </a:r>
            <a:r>
              <a:rPr lang="en-US" sz="2400" i="1" dirty="0"/>
              <a:t>P-glucose:glycoprotein glucotransferase</a:t>
            </a:r>
            <a:r>
              <a:rPr lang="en-US" sz="2400" dirty="0"/>
              <a:t>), binds to improperly folded proteins.</a:t>
            </a:r>
          </a:p>
          <a:p>
            <a:pPr marL="342900" indent="-342900"/>
            <a:r>
              <a:rPr lang="en-US" sz="2400" dirty="0"/>
              <a:t>It adds back a single glucose unit, making the protein a substrate for </a:t>
            </a:r>
            <a:r>
              <a:rPr lang="en-US" sz="2400" spc="-300" dirty="0"/>
              <a:t>C N X / C R </a:t>
            </a:r>
            <a:r>
              <a:rPr lang="en-US" sz="2400" dirty="0"/>
              <a:t>T binding.</a:t>
            </a:r>
          </a:p>
          <a:p>
            <a:pPr marL="342900" indent="-342900"/>
            <a:r>
              <a:rPr lang="en-US" sz="2400" dirty="0"/>
              <a:t>Once proper conformation is achieved, UGGT no longer binds the new glycoprotein, which moves on to the Golgi.</a:t>
            </a:r>
          </a:p>
        </p:txBody>
      </p:sp>
    </p:spTree>
    <p:extLst>
      <p:ext uri="{BB962C8B-B14F-4D97-AF65-F5344CB8AC3E}">
        <p14:creationId xmlns:p14="http://schemas.microsoft.com/office/powerpoint/2010/main" val="41239706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80108"/>
            <a:ext cx="8302240" cy="1107996"/>
          </a:xfrm>
        </p:spPr>
        <p:txBody>
          <a:bodyPr lIns="0" tIns="0" rIns="0" bIns="0" anchor="ctr">
            <a:spAutoFit/>
          </a:bodyPr>
          <a:lstStyle/>
          <a:p>
            <a:r>
              <a:rPr lang="en-US" sz="3600" dirty="0">
                <a:latin typeface="+mj-lt"/>
              </a:rPr>
              <a:t>Further Glycosylation Occurs in the Golgi Apparatus </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70223"/>
            <a:ext cx="8302240" cy="2970044"/>
          </a:xfrm>
        </p:spPr>
        <p:txBody>
          <a:bodyPr lIns="0" tIns="0" rIns="0" bIns="0">
            <a:spAutoFit/>
          </a:bodyPr>
          <a:lstStyle/>
          <a:p>
            <a:pPr marL="342900" indent="-342900"/>
            <a:r>
              <a:rPr lang="en-US" sz="2400" dirty="0"/>
              <a:t>Further processing of N-glycosylated proteins occurs in the Golgi complex as the glycoproteins move from the </a:t>
            </a:r>
            <a:r>
              <a:rPr lang="en-US" sz="2400" i="1" dirty="0"/>
              <a:t>cis</a:t>
            </a:r>
            <a:r>
              <a:rPr lang="en-US" sz="2400" dirty="0"/>
              <a:t> face through to the </a:t>
            </a:r>
            <a:r>
              <a:rPr lang="en-US" sz="2400" i="1" dirty="0"/>
              <a:t>trans</a:t>
            </a:r>
            <a:r>
              <a:rPr lang="en-US" sz="2400" dirty="0"/>
              <a:t> face</a:t>
            </a:r>
            <a:r>
              <a:rPr lang="en-US" sz="2400" dirty="0">
                <a:solidFill>
                  <a:schemeClr val="tx1"/>
                </a:solidFill>
              </a:rPr>
              <a:t>.</a:t>
            </a:r>
          </a:p>
          <a:p>
            <a:pPr marL="342900" indent="-342900"/>
            <a:r>
              <a:rPr lang="en-US" sz="2400" dirty="0"/>
              <a:t>These </a:t>
            </a:r>
            <a:r>
              <a:rPr lang="en-US" sz="2400" b="1" dirty="0"/>
              <a:t>terminal</a:t>
            </a:r>
            <a:r>
              <a:rPr lang="en-US" sz="2400" dirty="0"/>
              <a:t> </a:t>
            </a:r>
            <a:r>
              <a:rPr lang="en-US" sz="2400" b="1" dirty="0"/>
              <a:t>glycosylations</a:t>
            </a:r>
            <a:r>
              <a:rPr lang="en-US" sz="2400" dirty="0"/>
              <a:t> are variable and create great diversity</a:t>
            </a:r>
            <a:r>
              <a:rPr lang="en-US" sz="2400" dirty="0">
                <a:solidFill>
                  <a:schemeClr val="tx1"/>
                </a:solidFill>
              </a:rPr>
              <a:t>.</a:t>
            </a:r>
          </a:p>
          <a:p>
            <a:pPr marL="342900" indent="-342900"/>
            <a:r>
              <a:rPr lang="en-US" sz="2400" dirty="0"/>
              <a:t>Terminal glycosylation involves the removal of a few units of the core oligosaccharide and sometimes nothing more</a:t>
            </a:r>
            <a:r>
              <a:rPr lang="en-US" sz="2400" dirty="0">
                <a:solidFill>
                  <a:schemeClr val="tx1"/>
                </a:solidFill>
              </a:rPr>
              <a:t>.</a:t>
            </a:r>
          </a:p>
        </p:txBody>
      </p:sp>
    </p:spTree>
    <p:extLst>
      <p:ext uri="{BB962C8B-B14F-4D97-AF65-F5344CB8AC3E}">
        <p14:creationId xmlns:p14="http://schemas.microsoft.com/office/powerpoint/2010/main" val="13901325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7707"/>
            <a:ext cx="8302240" cy="553998"/>
          </a:xfrm>
        </p:spPr>
        <p:txBody>
          <a:bodyPr lIns="0" tIns="0" rIns="0" bIns="0" anchor="ctr">
            <a:spAutoFit/>
          </a:bodyPr>
          <a:lstStyle/>
          <a:p>
            <a:r>
              <a:rPr lang="en-US" sz="3600" dirty="0">
                <a:latin typeface="+mj-lt"/>
              </a:rPr>
              <a:t>Terminal Glycosylation</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63575"/>
            <a:ext cx="8302240" cy="2600712"/>
          </a:xfrm>
        </p:spPr>
        <p:txBody>
          <a:bodyPr lIns="0" tIns="0" rIns="0" bIns="0">
            <a:spAutoFit/>
          </a:bodyPr>
          <a:lstStyle/>
          <a:p>
            <a:pPr marL="342900" indent="-342900"/>
            <a:r>
              <a:rPr lang="en-US" sz="2400" dirty="0"/>
              <a:t>In some cases, more complex oligosaccharides are generated by adding </a:t>
            </a:r>
            <a:r>
              <a:rPr lang="en-US" sz="2400" spc="-300" dirty="0"/>
              <a:t>G l c N A </a:t>
            </a:r>
            <a:r>
              <a:rPr lang="en-US" sz="2400" dirty="0"/>
              <a:t>c or other monosaccharides</a:t>
            </a:r>
            <a:r>
              <a:rPr lang="en-US" sz="2400" dirty="0">
                <a:solidFill>
                  <a:srgbClr val="FF0000"/>
                </a:solidFill>
              </a:rPr>
              <a:t>.</a:t>
            </a:r>
            <a:endParaRPr lang="en-US" sz="2400" dirty="0"/>
          </a:p>
          <a:p>
            <a:pPr marL="342900" indent="-342900"/>
            <a:r>
              <a:rPr lang="en-US" sz="2400" dirty="0"/>
              <a:t>Sometimes galactose units are added by </a:t>
            </a:r>
            <a:r>
              <a:rPr lang="en-US" sz="2400" i="1" dirty="0">
                <a:solidFill>
                  <a:schemeClr val="tx1"/>
                </a:solidFill>
              </a:rPr>
              <a:t>galactosyl</a:t>
            </a:r>
            <a:r>
              <a:rPr lang="en-US" sz="2400" i="1" dirty="0">
                <a:solidFill>
                  <a:srgbClr val="FF0000"/>
                </a:solidFill>
              </a:rPr>
              <a:t> </a:t>
            </a:r>
            <a:r>
              <a:rPr lang="en-US" sz="2400" i="1" dirty="0">
                <a:solidFill>
                  <a:schemeClr val="tx1"/>
                </a:solidFill>
              </a:rPr>
              <a:t>transferase</a:t>
            </a:r>
            <a:r>
              <a:rPr lang="en-US" sz="2400" dirty="0">
                <a:solidFill>
                  <a:schemeClr val="tx1"/>
                </a:solidFill>
              </a:rPr>
              <a:t>.</a:t>
            </a:r>
            <a:endParaRPr lang="en-US" sz="2400" i="1" dirty="0">
              <a:solidFill>
                <a:schemeClr val="tx1"/>
              </a:solidFill>
            </a:endParaRPr>
          </a:p>
          <a:p>
            <a:pPr marL="342900" indent="-342900"/>
            <a:r>
              <a:rPr lang="en-US" sz="2400" dirty="0"/>
              <a:t>The </a:t>
            </a:r>
            <a:r>
              <a:rPr lang="en-US" sz="2400" spc="-300" dirty="0"/>
              <a:t>E </a:t>
            </a:r>
            <a:r>
              <a:rPr lang="en-US" sz="2400" dirty="0"/>
              <a:t>R and Golgi contain hundreds of different </a:t>
            </a:r>
            <a:r>
              <a:rPr lang="en-US" sz="2400" dirty="0">
                <a:solidFill>
                  <a:schemeClr val="tx1"/>
                </a:solidFill>
              </a:rPr>
              <a:t>glycosyl transferases.</a:t>
            </a:r>
          </a:p>
        </p:txBody>
      </p:sp>
    </p:spTree>
    <p:extLst>
      <p:ext uri="{BB962C8B-B14F-4D97-AF65-F5344CB8AC3E}">
        <p14:creationId xmlns:p14="http://schemas.microsoft.com/office/powerpoint/2010/main" val="4472084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4456</Words>
  <Application>Microsoft Office PowerPoint</Application>
  <PresentationFormat>On-screen Show (4:3)</PresentationFormat>
  <Paragraphs>425</Paragraphs>
  <Slides>59</Slides>
  <Notes>59</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59</vt:i4>
      </vt:variant>
    </vt:vector>
  </HeadingPairs>
  <TitlesOfParts>
    <vt:vector size="61" baseType="lpstr">
      <vt:lpstr>Office Theme</vt:lpstr>
      <vt:lpstr>Equation</vt:lpstr>
      <vt:lpstr>Becker’s World of the Cell</vt:lpstr>
      <vt:lpstr>The Endomembrane System (1 of 2)</vt:lpstr>
      <vt:lpstr>Components of the Endomembrane System</vt:lpstr>
      <vt:lpstr>The Endomembrane System (2 of 2)</vt:lpstr>
      <vt:lpstr>12.1 The Endoplasmic Reticulum</vt:lpstr>
      <vt:lpstr>Functions of the E R</vt:lpstr>
      <vt:lpstr>The Two Basic Kinds of Endoplasmic Reticulum Differ in Structure and Function</vt:lpstr>
      <vt:lpstr>Rough and Smooth E R Are Easily Distinguished</vt:lpstr>
      <vt:lpstr>Variation in Amounts of Rough and Smooth E R</vt:lpstr>
      <vt:lpstr>Rough E R Is Involved in the Biosynthesis and Processing of Proteins (1 of 2)</vt:lpstr>
      <vt:lpstr>Rough E R Is Involved in the Biosynthesis and Processing of Proteins (2 of 2)</vt:lpstr>
      <vt:lpstr>Rough E R Has a Role in Quality Control</vt:lpstr>
      <vt:lpstr>Smooth E R Is Involved in Drug Detoxification, Carbohydrate Metabolism, Calcium Storage, and Steroid Biosynthesis</vt:lpstr>
      <vt:lpstr>Drug Detoxification</vt:lpstr>
      <vt:lpstr>Hydroxylation Occurs via Electron Transport</vt:lpstr>
      <vt:lpstr>Drug Tolerance</vt:lpstr>
      <vt:lpstr>Drug Detoxification in the Smooth E R</vt:lpstr>
      <vt:lpstr>Pharmacogenetics</vt:lpstr>
      <vt:lpstr>Carbohydrate Metabolism (1 of 2)</vt:lpstr>
      <vt:lpstr>Carbohydrate Metabolism (2 of 2)</vt:lpstr>
      <vt:lpstr>The Role of the Smooth E R in the Catabolism of Liver Glycogen (1 of 2)</vt:lpstr>
      <vt:lpstr>The Role of the Smooth E R in the Catabolism of Liver Glycogen (2 of 2)</vt:lpstr>
      <vt:lpstr>Calcium Storage</vt:lpstr>
      <vt:lpstr>Steroid Biosynthesis (1 of 2)</vt:lpstr>
      <vt:lpstr>Steroid Biosynthesis (2 of 2)</vt:lpstr>
      <vt:lpstr>The E R Plays a Central Role in the Biosynthesis of Membranes</vt:lpstr>
      <vt:lpstr>Membrane Biosynthesis (1 of 2)</vt:lpstr>
      <vt:lpstr>Membrane Biosynthesis (2 of 2)</vt:lpstr>
      <vt:lpstr>Composition of the E R and Plasma Membranes of Rat Liver Cells</vt:lpstr>
      <vt:lpstr>12.2 The Golgi Apparatus</vt:lpstr>
      <vt:lpstr>The Golgi Apparatus Consists of a Series of Membrane-Bounded Cisternae</vt:lpstr>
      <vt:lpstr>Transport Vesicles</vt:lpstr>
      <vt:lpstr>Golgi Structure (1 of 2)</vt:lpstr>
      <vt:lpstr>Golgi Structure (2 of 2)</vt:lpstr>
      <vt:lpstr>The Two Faces of the Golgi Stack</vt:lpstr>
      <vt:lpstr>The Golgi Network</vt:lpstr>
      <vt:lpstr>Two Models Account for the Flow of Lipids and Proteins Through the Golgi Apparatus</vt:lpstr>
      <vt:lpstr>The Stationary Cisternae Model</vt:lpstr>
      <vt:lpstr>The Cisternal Maturation Model</vt:lpstr>
      <vt:lpstr>The Models Are Not Mutually Exclusive</vt:lpstr>
      <vt:lpstr>Two Models for Movement Through the Golgi</vt:lpstr>
      <vt:lpstr>Anterograde and Retrograde Transport (1 of 2)</vt:lpstr>
      <vt:lpstr>Anterograde and Retrograde Transport (2 of 2)</vt:lpstr>
      <vt:lpstr>12.3 Roles of the E R and Golgi Apparatus in Protein Processing</vt:lpstr>
      <vt:lpstr>Two General Kinds of Glycosylation</vt:lpstr>
      <vt:lpstr>Protein Folding and Quality Control Take Place Within the E R</vt:lpstr>
      <vt:lpstr>B i P: an Hsp70 Chaperone Protein</vt:lpstr>
      <vt:lpstr>Disulfide Bonds</vt:lpstr>
      <vt:lpstr>Protein Quality Control Mechanisms</vt:lpstr>
      <vt:lpstr>Initial Glycosylation Occurs in the E R</vt:lpstr>
      <vt:lpstr>Compartmentalization of the Steps of Glycosylation and Subsequent Modification of Proteins</vt:lpstr>
      <vt:lpstr>Steps of Glycosylation (1 of 2)</vt:lpstr>
      <vt:lpstr>Steps of Glycosylation (2 of 2)</vt:lpstr>
      <vt:lpstr>N-Linked Glycosylation of Proteins in the E R</vt:lpstr>
      <vt:lpstr>Cotranslational Glycosylation</vt:lpstr>
      <vt:lpstr>Two Proteins Assist with Proper Folding</vt:lpstr>
      <vt:lpstr>Proper Folding in the E R</vt:lpstr>
      <vt:lpstr>Further Glycosylation Occurs in the Golgi Apparatus </vt:lpstr>
      <vt:lpstr>Terminal Glycosylation</vt:lpstr>
    </vt:vector>
  </TitlesOfParts>
  <Company>فراس الصعيو</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Becker’s World of the Cell</dc:title>
  <dc:creator>Designer</dc:creator>
  <cp:lastModifiedBy>Designer</cp:lastModifiedBy>
  <cp:revision>1</cp:revision>
  <dcterms:created xsi:type="dcterms:W3CDTF">2023-11-14T00:13:57Z</dcterms:created>
  <dcterms:modified xsi:type="dcterms:W3CDTF">2023-11-14T00:14:30Z</dcterms:modified>
</cp:coreProperties>
</file>