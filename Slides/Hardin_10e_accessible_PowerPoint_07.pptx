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129"/>
  </p:notesMasterIdLst>
  <p:handoutMasterIdLst>
    <p:handoutMasterId r:id="rId130"/>
  </p:handoutMasterIdLst>
  <p:sldIdLst>
    <p:sldId id="1996" r:id="rId3"/>
    <p:sldId id="272" r:id="rId4"/>
    <p:sldId id="1706" r:id="rId5"/>
    <p:sldId id="1705" r:id="rId6"/>
    <p:sldId id="1862" r:id="rId7"/>
    <p:sldId id="1863" r:id="rId8"/>
    <p:sldId id="1762" r:id="rId9"/>
    <p:sldId id="1864" r:id="rId10"/>
    <p:sldId id="1865" r:id="rId11"/>
    <p:sldId id="1866" r:id="rId12"/>
    <p:sldId id="1867" r:id="rId13"/>
    <p:sldId id="1868" r:id="rId14"/>
    <p:sldId id="1871" r:id="rId15"/>
    <p:sldId id="1872" r:id="rId16"/>
    <p:sldId id="1873" r:id="rId17"/>
    <p:sldId id="1874" r:id="rId18"/>
    <p:sldId id="1875" r:id="rId19"/>
    <p:sldId id="1876" r:id="rId20"/>
    <p:sldId id="1877" r:id="rId21"/>
    <p:sldId id="1878" r:id="rId22"/>
    <p:sldId id="1886" r:id="rId23"/>
    <p:sldId id="1879" r:id="rId24"/>
    <p:sldId id="1880" r:id="rId25"/>
    <p:sldId id="1991" r:id="rId26"/>
    <p:sldId id="1882" r:id="rId27"/>
    <p:sldId id="1883" r:id="rId28"/>
    <p:sldId id="1884" r:id="rId29"/>
    <p:sldId id="1885" r:id="rId30"/>
    <p:sldId id="1887" r:id="rId31"/>
    <p:sldId id="1888" r:id="rId32"/>
    <p:sldId id="1889" r:id="rId33"/>
    <p:sldId id="1890" r:id="rId34"/>
    <p:sldId id="1891" r:id="rId35"/>
    <p:sldId id="1892" r:id="rId36"/>
    <p:sldId id="1997" r:id="rId37"/>
    <p:sldId id="1895" r:id="rId38"/>
    <p:sldId id="1896" r:id="rId39"/>
    <p:sldId id="1897" r:id="rId40"/>
    <p:sldId id="1898" r:id="rId41"/>
    <p:sldId id="1899" r:id="rId42"/>
    <p:sldId id="1902" r:id="rId43"/>
    <p:sldId id="1903" r:id="rId44"/>
    <p:sldId id="1904" r:id="rId45"/>
    <p:sldId id="1905" r:id="rId46"/>
    <p:sldId id="1906" r:id="rId47"/>
    <p:sldId id="1907" r:id="rId48"/>
    <p:sldId id="1908" r:id="rId49"/>
    <p:sldId id="1909" r:id="rId50"/>
    <p:sldId id="1910" r:id="rId51"/>
    <p:sldId id="1911" r:id="rId52"/>
    <p:sldId id="1912" r:id="rId53"/>
    <p:sldId id="1913" r:id="rId54"/>
    <p:sldId id="1914" r:id="rId55"/>
    <p:sldId id="1915" r:id="rId56"/>
    <p:sldId id="1916" r:id="rId57"/>
    <p:sldId id="1917" r:id="rId58"/>
    <p:sldId id="1918" r:id="rId59"/>
    <p:sldId id="1919" r:id="rId60"/>
    <p:sldId id="1920" r:id="rId61"/>
    <p:sldId id="1921" r:id="rId62"/>
    <p:sldId id="1922" r:id="rId63"/>
    <p:sldId id="1923" r:id="rId64"/>
    <p:sldId id="1924" r:id="rId65"/>
    <p:sldId id="1925" r:id="rId66"/>
    <p:sldId id="1927" r:id="rId67"/>
    <p:sldId id="1928" r:id="rId68"/>
    <p:sldId id="1929" r:id="rId69"/>
    <p:sldId id="1930" r:id="rId70"/>
    <p:sldId id="1931" r:id="rId71"/>
    <p:sldId id="1932" r:id="rId72"/>
    <p:sldId id="1933" r:id="rId73"/>
    <p:sldId id="1934" r:id="rId74"/>
    <p:sldId id="1935" r:id="rId75"/>
    <p:sldId id="1936" r:id="rId76"/>
    <p:sldId id="1937" r:id="rId77"/>
    <p:sldId id="1938" r:id="rId78"/>
    <p:sldId id="1939" r:id="rId79"/>
    <p:sldId id="1940" r:id="rId80"/>
    <p:sldId id="1941" r:id="rId81"/>
    <p:sldId id="1942" r:id="rId82"/>
    <p:sldId id="1943" r:id="rId83"/>
    <p:sldId id="1944" r:id="rId84"/>
    <p:sldId id="1945" r:id="rId85"/>
    <p:sldId id="1946" r:id="rId86"/>
    <p:sldId id="1947" r:id="rId87"/>
    <p:sldId id="1948" r:id="rId88"/>
    <p:sldId id="1949" r:id="rId89"/>
    <p:sldId id="1950" r:id="rId90"/>
    <p:sldId id="1951" r:id="rId91"/>
    <p:sldId id="1952" r:id="rId92"/>
    <p:sldId id="1953" r:id="rId93"/>
    <p:sldId id="1954" r:id="rId94"/>
    <p:sldId id="1955" r:id="rId95"/>
    <p:sldId id="1956" r:id="rId96"/>
    <p:sldId id="1957" r:id="rId97"/>
    <p:sldId id="1958" r:id="rId98"/>
    <p:sldId id="1959" r:id="rId99"/>
    <p:sldId id="1960" r:id="rId100"/>
    <p:sldId id="1961" r:id="rId101"/>
    <p:sldId id="1962" r:id="rId102"/>
    <p:sldId id="1963" r:id="rId103"/>
    <p:sldId id="1964" r:id="rId104"/>
    <p:sldId id="1965" r:id="rId105"/>
    <p:sldId id="1966" r:id="rId106"/>
    <p:sldId id="1967" r:id="rId107"/>
    <p:sldId id="1968" r:id="rId108"/>
    <p:sldId id="1969" r:id="rId109"/>
    <p:sldId id="1970" r:id="rId110"/>
    <p:sldId id="1971" r:id="rId111"/>
    <p:sldId id="1972" r:id="rId112"/>
    <p:sldId id="1973" r:id="rId113"/>
    <p:sldId id="1974" r:id="rId114"/>
    <p:sldId id="1975" r:id="rId115"/>
    <p:sldId id="1976" r:id="rId116"/>
    <p:sldId id="1977" r:id="rId117"/>
    <p:sldId id="1978" r:id="rId118"/>
    <p:sldId id="1979" r:id="rId119"/>
    <p:sldId id="1980" r:id="rId120"/>
    <p:sldId id="1981" r:id="rId121"/>
    <p:sldId id="1982" r:id="rId122"/>
    <p:sldId id="1983" r:id="rId123"/>
    <p:sldId id="1984" r:id="rId124"/>
    <p:sldId id="1985" r:id="rId125"/>
    <p:sldId id="1986" r:id="rId126"/>
    <p:sldId id="1987" r:id="rId127"/>
    <p:sldId id="1988" r:id="rId128"/>
  </p:sldIdLst>
  <p:sldSz cx="9144000" cy="6858000" type="screen4x3"/>
  <p:notesSz cx="6858000" cy="9144000"/>
  <p:embeddedFontLst>
    <p:embeddedFont>
      <p:font typeface="Calibri" panose="020F0502020204030204" pitchFamily="34" charset="0"/>
      <p:regular r:id="rId131"/>
      <p:bold r:id="rId132"/>
      <p:italic r:id="rId133"/>
      <p:boldItalic r:id="rId134"/>
    </p:embeddedFont>
    <p:embeddedFont>
      <p:font typeface="Verdana" panose="020B0604030504040204" pitchFamily="34" charset="0"/>
      <p:regular r:id="rId135"/>
      <p:bold r:id="rId136"/>
      <p:italic r:id="rId137"/>
      <p:boldItalic r:id="rId1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32" userDrawn="1">
          <p15:clr>
            <a:srgbClr val="A4A3A4"/>
          </p15:clr>
        </p15:guide>
        <p15:guide id="2" pos="264" userDrawn="1">
          <p15:clr>
            <a:srgbClr val="A4A3A4"/>
          </p15:clr>
        </p15:guide>
        <p15:guide id="3" orient="horz" pos="39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62" autoAdjust="0"/>
    <p:restoredTop sz="85451" autoAdjust="0"/>
  </p:normalViewPr>
  <p:slideViewPr>
    <p:cSldViewPr snapToGrid="0" snapToObjects="1">
      <p:cViewPr varScale="1">
        <p:scale>
          <a:sx n="58" d="100"/>
          <a:sy n="58" d="100"/>
        </p:scale>
        <p:origin x="1458" y="66"/>
      </p:cViewPr>
      <p:guideLst>
        <p:guide orient="horz" pos="4032"/>
        <p:guide pos="264"/>
        <p:guide orient="horz" pos="396"/>
      </p:guideLst>
    </p:cSldViewPr>
  </p:slideViewPr>
  <p:outlineViewPr>
    <p:cViewPr>
      <p:scale>
        <a:sx n="33" d="100"/>
        <a:sy n="33" d="100"/>
      </p:scale>
      <p:origin x="0" y="-56322"/>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font" Target="fonts/font8.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font" Target="fonts/font4.fntdata"/><Relationship Id="rId139" Type="http://schemas.openxmlformats.org/officeDocument/2006/relationships/commentAuthors" Target="commentAuthor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notesMaster" Target="notesMasters/notes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handoutMaster" Target="handoutMasters/handoutMaster1.xml"/><Relationship Id="rId135" Type="http://schemas.openxmlformats.org/officeDocument/2006/relationships/font" Target="fonts/font5.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font" Target="fonts/font1.fntdata"/><Relationship Id="rId136" Type="http://schemas.openxmlformats.org/officeDocument/2006/relationships/font" Target="fonts/font6.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font" Target="fonts/font2.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font" Target="fonts/font3.fntdata"/><Relationship Id="rId16"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12/14/2021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460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p>
          <a:p>
            <a:r>
              <a:rPr lang="en-US" sz="1200" b="0" i="0" u="none" strike="noStrike" kern="1200" cap="none" dirty="0">
                <a:solidFill>
                  <a:schemeClr val="dk1"/>
                </a:solidFill>
                <a:effectLst/>
                <a:latin typeface="Arial"/>
                <a:ea typeface="Arial"/>
                <a:cs typeface="Arial"/>
                <a:sym typeface="Arial"/>
              </a:rPr>
              <a:t>The measurement at the bottom left end of the micrographs read 5 micrometers.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Rat pancreas cells:</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The plasma membrane is the outer layer of the cell.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The innermost nucleus is surrounded by a nuclear envelope.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Endoplasmic reticulum (ER) and mitochondria are outside the nucleus.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Plant leaf cell: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The plasma membrane is the outer layer of the cell.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The other parts found within the plasma membrane are nucleus within a nuclear envelope, mitochondrion, and chloroplast.</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7133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9766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08174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p>
          <a:p>
            <a:r>
              <a:rPr lang="en-US" sz="1200" b="0" i="0" u="none" strike="noStrike" kern="1200" cap="none" dirty="0">
                <a:solidFill>
                  <a:schemeClr val="dk1"/>
                </a:solidFill>
                <a:effectLst/>
                <a:latin typeface="Arial"/>
                <a:ea typeface="Arial"/>
                <a:cs typeface="Arial"/>
                <a:sym typeface="Arial"/>
              </a:rPr>
              <a:t>The five functions are as below:</a:t>
            </a:r>
          </a:p>
          <a:p>
            <a:r>
              <a:rPr lang="en-US" sz="1200" b="0" i="0" u="none" strike="noStrike" kern="1200" cap="none" dirty="0">
                <a:solidFill>
                  <a:schemeClr val="dk1"/>
                </a:solidFill>
                <a:effectLst/>
                <a:latin typeface="Arial"/>
                <a:ea typeface="Arial"/>
                <a:cs typeface="Arial"/>
                <a:sym typeface="Arial"/>
              </a:rPr>
              <a:t>Nucleus present in center of the membrane.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Boundary and permeability barrier. Na plus</a:t>
            </a:r>
            <a:r>
              <a:rPr lang="en-US" sz="1200" b="0" i="0" u="none" strike="noStrike" kern="1200" cap="none" baseline="30000"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ion deflected back from entering the cell.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Organization and localization of function. Like in mitochondria and endoplasmic reticulum.</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Transport processes. Nutrients are absorbed into the cell. Na plus are pushed outside the cell. K plus are absorbed into the cell.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Signal detection. Receptors detect extracellular signals.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Cell-to-cell interactions. Adhesion and communication between two adjoining cells are aided by the plasma membrane.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22867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58996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16404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2677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5999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24788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65760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90877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06653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chronology is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nature of membrane. 1880 to 1900. Overton. Polar is radiated back and nonpolar is absorbed by the lipid layer.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monolayer. 1900 to 1920. Langmuir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1920 to 1930. </a:t>
            </a:r>
            <a:r>
              <a:rPr lang="en-US" sz="1200" b="0" i="0" u="none" strike="noStrike" kern="1200" cap="none" dirty="0" err="1">
                <a:solidFill>
                  <a:schemeClr val="dk1"/>
                </a:solidFill>
                <a:effectLst/>
                <a:latin typeface="Arial"/>
                <a:ea typeface="Arial"/>
                <a:cs typeface="Arial"/>
                <a:sym typeface="Arial"/>
              </a:rPr>
              <a:t>Gorter</a:t>
            </a:r>
            <a:r>
              <a:rPr lang="en-US" sz="1200" b="0" i="0" u="none" strike="noStrike" kern="1200" cap="none" dirty="0">
                <a:solidFill>
                  <a:schemeClr val="dk1"/>
                </a:solidFill>
                <a:effectLst/>
                <a:latin typeface="Arial"/>
                <a:ea typeface="Arial"/>
                <a:cs typeface="Arial"/>
                <a:sym typeface="Arial"/>
              </a:rPr>
              <a:t> and Grendel.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plus protein sheets. 1930 to 1940. </a:t>
            </a:r>
            <a:r>
              <a:rPr lang="en-US" sz="1200" b="0" i="0" u="none" strike="noStrike" kern="1200" cap="none" dirty="0" err="1">
                <a:solidFill>
                  <a:schemeClr val="dk1"/>
                </a:solidFill>
                <a:effectLst/>
                <a:latin typeface="Arial"/>
                <a:ea typeface="Arial"/>
                <a:cs typeface="Arial"/>
                <a:sym typeface="Arial"/>
              </a:rPr>
              <a:t>Davson</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Danielli</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Unit membrane. 1960. Robertson.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Fluid mosaic model. 1970 to 1980. Singer and Nicolson. </a:t>
            </a:r>
            <a:r>
              <a:rPr lang="en-US" sz="1200" b="0" i="0" u="none" strike="noStrike" kern="1200" cap="none" dirty="0" err="1">
                <a:solidFill>
                  <a:schemeClr val="dk1"/>
                </a:solidFill>
                <a:effectLst/>
                <a:latin typeface="Arial"/>
                <a:ea typeface="Arial"/>
                <a:cs typeface="Arial"/>
                <a:sym typeface="Arial"/>
              </a:rPr>
              <a:t>Unwin</a:t>
            </a:r>
            <a:r>
              <a:rPr lang="en-US" sz="1200" b="0" i="0" u="none" strike="noStrike" kern="1200" cap="none" dirty="0">
                <a:solidFill>
                  <a:schemeClr val="dk1"/>
                </a:solidFill>
                <a:effectLst/>
                <a:latin typeface="Arial"/>
                <a:ea typeface="Arial"/>
                <a:cs typeface="Arial"/>
                <a:sym typeface="Arial"/>
              </a:rPr>
              <a:t> and Henderson.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Membrane protein structure. 1980 to 2000. An alpha helix protein structure through the two layers of the lipid bilayer.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78839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12506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chronology is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nature of membrane. 1880 to 1900. Overton. Polar is radiated back and nonpolar is absorbed by the lipid layer.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monolayer. 1900 to 1920. Langmuir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1920 to 1930. </a:t>
            </a:r>
            <a:r>
              <a:rPr lang="en-US" sz="1200" b="0" i="0" u="none" strike="noStrike" kern="1200" cap="none" dirty="0" err="1">
                <a:solidFill>
                  <a:schemeClr val="dk1"/>
                </a:solidFill>
                <a:effectLst/>
                <a:latin typeface="Arial"/>
                <a:ea typeface="Arial"/>
                <a:cs typeface="Arial"/>
                <a:sym typeface="Arial"/>
              </a:rPr>
              <a:t>Gorter</a:t>
            </a:r>
            <a:r>
              <a:rPr lang="en-US" sz="1200" b="0" i="0" u="none" strike="noStrike" kern="1200" cap="none" dirty="0">
                <a:solidFill>
                  <a:schemeClr val="dk1"/>
                </a:solidFill>
                <a:effectLst/>
                <a:latin typeface="Arial"/>
                <a:ea typeface="Arial"/>
                <a:cs typeface="Arial"/>
                <a:sym typeface="Arial"/>
              </a:rPr>
              <a:t> and Grendel.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plus protein sheets. 1930 to 1940. </a:t>
            </a:r>
            <a:r>
              <a:rPr lang="en-US" sz="1200" b="0" i="0" u="none" strike="noStrike" kern="1200" cap="none" dirty="0" err="1">
                <a:solidFill>
                  <a:schemeClr val="dk1"/>
                </a:solidFill>
                <a:effectLst/>
                <a:latin typeface="Arial"/>
                <a:ea typeface="Arial"/>
                <a:cs typeface="Arial"/>
                <a:sym typeface="Arial"/>
              </a:rPr>
              <a:t>Davson</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Danielli</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Unit membrane. 1960. Robertson.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Fluid mosaic model. 1970 to 1980. Singer and Nicolson. </a:t>
            </a:r>
            <a:r>
              <a:rPr lang="en-US" sz="1200" b="0" i="0" u="none" strike="noStrike" kern="1200" cap="none" dirty="0" err="1">
                <a:solidFill>
                  <a:schemeClr val="dk1"/>
                </a:solidFill>
                <a:effectLst/>
                <a:latin typeface="Arial"/>
                <a:ea typeface="Arial"/>
                <a:cs typeface="Arial"/>
                <a:sym typeface="Arial"/>
              </a:rPr>
              <a:t>Unwin</a:t>
            </a:r>
            <a:r>
              <a:rPr lang="en-US" sz="1200" b="0" i="0" u="none" strike="noStrike" kern="1200" cap="none" dirty="0">
                <a:solidFill>
                  <a:schemeClr val="dk1"/>
                </a:solidFill>
                <a:effectLst/>
                <a:latin typeface="Arial"/>
                <a:ea typeface="Arial"/>
                <a:cs typeface="Arial"/>
                <a:sym typeface="Arial"/>
              </a:rPr>
              <a:t> and Henderson.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Membrane protein structure. 1980 to 2000. An alpha helix protein structure through the two layers of the lipid bilayer.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09184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35804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chronology is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nature of membrane. 1880 to 1900. Overton. Polar is radiated back and nonpolar is absorbed by the lipid layer.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monolayer. 1900 to 1920. Langmuir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1920 to 1930. </a:t>
            </a:r>
            <a:r>
              <a:rPr lang="en-US" sz="1200" b="0" i="0" u="none" strike="noStrike" kern="1200" cap="none" dirty="0" err="1">
                <a:solidFill>
                  <a:schemeClr val="dk1"/>
                </a:solidFill>
                <a:effectLst/>
                <a:latin typeface="Arial"/>
                <a:ea typeface="Arial"/>
                <a:cs typeface="Arial"/>
                <a:sym typeface="Arial"/>
              </a:rPr>
              <a:t>Gorter</a:t>
            </a:r>
            <a:r>
              <a:rPr lang="en-US" sz="1200" b="0" i="0" u="none" strike="noStrike" kern="1200" cap="none" dirty="0">
                <a:solidFill>
                  <a:schemeClr val="dk1"/>
                </a:solidFill>
                <a:effectLst/>
                <a:latin typeface="Arial"/>
                <a:ea typeface="Arial"/>
                <a:cs typeface="Arial"/>
                <a:sym typeface="Arial"/>
              </a:rPr>
              <a:t> and Grendel.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plus protein sheets. 1930 to 1940. </a:t>
            </a:r>
            <a:r>
              <a:rPr lang="en-US" sz="1200" b="0" i="0" u="none" strike="noStrike" kern="1200" cap="none" dirty="0" err="1">
                <a:solidFill>
                  <a:schemeClr val="dk1"/>
                </a:solidFill>
                <a:effectLst/>
                <a:latin typeface="Arial"/>
                <a:ea typeface="Arial"/>
                <a:cs typeface="Arial"/>
                <a:sym typeface="Arial"/>
              </a:rPr>
              <a:t>Davson</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Danielli</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Unit membrane. 1960. Robertson.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Fluid mosaic model. 1970 to 1980. Singer and Nicolson. </a:t>
            </a:r>
            <a:r>
              <a:rPr lang="en-US" sz="1200" b="0" i="0" u="none" strike="noStrike" kern="1200" cap="none" dirty="0" err="1">
                <a:solidFill>
                  <a:schemeClr val="dk1"/>
                </a:solidFill>
                <a:effectLst/>
                <a:latin typeface="Arial"/>
                <a:ea typeface="Arial"/>
                <a:cs typeface="Arial"/>
                <a:sym typeface="Arial"/>
              </a:rPr>
              <a:t>Unwin</a:t>
            </a:r>
            <a:r>
              <a:rPr lang="en-US" sz="1200" b="0" i="0" u="none" strike="noStrike" kern="1200" cap="none" dirty="0">
                <a:solidFill>
                  <a:schemeClr val="dk1"/>
                </a:solidFill>
                <a:effectLst/>
                <a:latin typeface="Arial"/>
                <a:ea typeface="Arial"/>
                <a:cs typeface="Arial"/>
                <a:sym typeface="Arial"/>
              </a:rPr>
              <a:t> and Henderson.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Membrane protein structure. 1980 to 2000. An alpha helix protein structure through the two layers of the lipid bilayer.</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29216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08047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An electron micrograph of the </a:t>
            </a:r>
            <a:r>
              <a:rPr lang="en-US" sz="1200" b="0" i="0" u="none" strike="noStrike" kern="1200" cap="none" dirty="0" err="1">
                <a:solidFill>
                  <a:schemeClr val="dk1"/>
                </a:solidFill>
                <a:effectLst/>
                <a:latin typeface="Arial"/>
                <a:ea typeface="Arial"/>
                <a:cs typeface="Arial"/>
                <a:sym typeface="Arial"/>
              </a:rPr>
              <a:t>trilaminar</a:t>
            </a:r>
            <a:r>
              <a:rPr lang="en-US" sz="1200" b="0" i="0" u="none" strike="noStrike" kern="1200" cap="none" dirty="0">
                <a:solidFill>
                  <a:schemeClr val="dk1"/>
                </a:solidFill>
                <a:effectLst/>
                <a:latin typeface="Arial"/>
                <a:ea typeface="Arial"/>
                <a:cs typeface="Arial"/>
                <a:sym typeface="Arial"/>
              </a:rPr>
              <a:t> appearance of cellular membranes showing the small intercellular space between the plasma membranes of two adjacent cells named cell 1 and cell 2. The two dark lines are the plasma membranes of the adjacent cells and are separated by a slightly stained central part.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05183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chronology is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nature of membrane. 1880 to 1900. Overton. Polar is radiated back and nonpolar is absorbed by the lipid layer.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monolayer. 1900 to 1920. Langmuir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1920 to 1930. </a:t>
            </a:r>
            <a:r>
              <a:rPr lang="en-US" sz="1200" b="0" i="0" u="none" strike="noStrike" kern="1200" cap="none" dirty="0" err="1">
                <a:solidFill>
                  <a:schemeClr val="dk1"/>
                </a:solidFill>
                <a:effectLst/>
                <a:latin typeface="Arial"/>
                <a:ea typeface="Arial"/>
                <a:cs typeface="Arial"/>
                <a:sym typeface="Arial"/>
              </a:rPr>
              <a:t>Gorter</a:t>
            </a:r>
            <a:r>
              <a:rPr lang="en-US" sz="1200" b="0" i="0" u="none" strike="noStrike" kern="1200" cap="none" dirty="0">
                <a:solidFill>
                  <a:schemeClr val="dk1"/>
                </a:solidFill>
                <a:effectLst/>
                <a:latin typeface="Arial"/>
                <a:ea typeface="Arial"/>
                <a:cs typeface="Arial"/>
                <a:sym typeface="Arial"/>
              </a:rPr>
              <a:t> and Grendel.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plus protein sheets. 1930 to 1940. </a:t>
            </a:r>
            <a:r>
              <a:rPr lang="en-US" sz="1200" b="0" i="0" u="none" strike="noStrike" kern="1200" cap="none" dirty="0" err="1">
                <a:solidFill>
                  <a:schemeClr val="dk1"/>
                </a:solidFill>
                <a:effectLst/>
                <a:latin typeface="Arial"/>
                <a:ea typeface="Arial"/>
                <a:cs typeface="Arial"/>
                <a:sym typeface="Arial"/>
              </a:rPr>
              <a:t>Davson</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Danielli</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Unit membrane. 1960. Robertson.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Fluid mosaic model. 1970 to 1980. Singer and Nicolson. </a:t>
            </a:r>
            <a:r>
              <a:rPr lang="en-US" sz="1200" b="0" i="0" u="none" strike="noStrike" kern="1200" cap="none" dirty="0" err="1">
                <a:solidFill>
                  <a:schemeClr val="dk1"/>
                </a:solidFill>
                <a:effectLst/>
                <a:latin typeface="Arial"/>
                <a:ea typeface="Arial"/>
                <a:cs typeface="Arial"/>
                <a:sym typeface="Arial"/>
              </a:rPr>
              <a:t>Unwin</a:t>
            </a:r>
            <a:r>
              <a:rPr lang="en-US" sz="1200" b="0" i="0" u="none" strike="noStrike" kern="1200" cap="none" dirty="0">
                <a:solidFill>
                  <a:schemeClr val="dk1"/>
                </a:solidFill>
                <a:effectLst/>
                <a:latin typeface="Arial"/>
                <a:ea typeface="Arial"/>
                <a:cs typeface="Arial"/>
                <a:sym typeface="Arial"/>
              </a:rPr>
              <a:t> and Henderson.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Membrane protein structure. 1980 to 2000. An alpha helix protein structure through the two layers of the lipid bilayer.</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423435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046901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a:t>
            </a:r>
            <a:r>
              <a:rPr lang="en-US" sz="1200" b="0" i="0" u="none" strike="noStrike" kern="1200" cap="none">
                <a:solidFill>
                  <a:schemeClr val="dk1"/>
                </a:solidFill>
                <a:effectLst/>
                <a:latin typeface="Arial"/>
                <a:ea typeface="Arial"/>
                <a:cs typeface="Arial"/>
                <a:sym typeface="Arial"/>
              </a:rPr>
              <a:t>Description:</a:t>
            </a:r>
            <a:endParaRPr lang="en-IN"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Approximate Percentage by Weight</a:t>
            </a:r>
            <a:endParaRPr lang="en-IN"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Membrane </a:t>
            </a:r>
            <a:endParaRPr lang="en-IN"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Protein </a:t>
            </a:r>
            <a:endParaRPr lang="en-IN"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Lipid </a:t>
            </a:r>
            <a:endParaRPr lang="en-IN"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Protein /Lipid Ratio</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Plasma membrane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Human erythrocytes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49</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43</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1.14:1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Mammalian liver cell</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54</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36</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1.50:1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Amoeba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54</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42</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1.29:1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Myelin sheath of nerve axon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18</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79</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0.23:1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Nuclear envelope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66</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32</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2.06:1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Endoplasmic reticulum</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63</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27</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2.33:1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Golgi apparatus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64</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26</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2.46:1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Chloroplast thylakoids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70</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30</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2.33:1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Mitochondrial outer membrane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55</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45</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1.22:1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Mitochondrial inner membrane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78</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22</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3.54:1</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Gram-positive bacterium</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75</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25</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3.00:1</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502666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175781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chronology is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nature of membrane. 1880 to 1900. Overton. Polar is radiated back and nonpolar is absorbed by the lipid layer.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monolayer. 1900 to 1920. Langmuir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1920 to 1930. </a:t>
            </a:r>
            <a:r>
              <a:rPr lang="en-US" sz="1200" b="0" i="0" u="none" strike="noStrike" kern="1200" cap="none" dirty="0" err="1">
                <a:solidFill>
                  <a:schemeClr val="dk1"/>
                </a:solidFill>
                <a:effectLst/>
                <a:latin typeface="Arial"/>
                <a:ea typeface="Arial"/>
                <a:cs typeface="Arial"/>
                <a:sym typeface="Arial"/>
              </a:rPr>
              <a:t>Gorter</a:t>
            </a:r>
            <a:r>
              <a:rPr lang="en-US" sz="1200" b="0" i="0" u="none" strike="noStrike" kern="1200" cap="none" dirty="0">
                <a:solidFill>
                  <a:schemeClr val="dk1"/>
                </a:solidFill>
                <a:effectLst/>
                <a:latin typeface="Arial"/>
                <a:ea typeface="Arial"/>
                <a:cs typeface="Arial"/>
                <a:sym typeface="Arial"/>
              </a:rPr>
              <a:t> and Grendel.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plus protein sheets. 1930 to 1940. </a:t>
            </a:r>
            <a:r>
              <a:rPr lang="en-US" sz="1200" b="0" i="0" u="none" strike="noStrike" kern="1200" cap="none" dirty="0" err="1">
                <a:solidFill>
                  <a:schemeClr val="dk1"/>
                </a:solidFill>
                <a:effectLst/>
                <a:latin typeface="Arial"/>
                <a:ea typeface="Arial"/>
                <a:cs typeface="Arial"/>
                <a:sym typeface="Arial"/>
              </a:rPr>
              <a:t>Davson</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Danielli</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Unit membrane. 1960. Robertson.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Fluid mosaic model. 1970 to 1980. Singer and Nicolson. </a:t>
            </a:r>
            <a:r>
              <a:rPr lang="en-US" sz="1200" b="0" i="0" u="none" strike="noStrike" kern="1200" cap="none" dirty="0" err="1">
                <a:solidFill>
                  <a:schemeClr val="dk1"/>
                </a:solidFill>
                <a:effectLst/>
                <a:latin typeface="Arial"/>
                <a:ea typeface="Arial"/>
                <a:cs typeface="Arial"/>
                <a:sym typeface="Arial"/>
              </a:rPr>
              <a:t>Unwin</a:t>
            </a:r>
            <a:r>
              <a:rPr lang="en-US" sz="1200" b="0" i="0" u="none" strike="noStrike" kern="1200" cap="none" dirty="0">
                <a:solidFill>
                  <a:schemeClr val="dk1"/>
                </a:solidFill>
                <a:effectLst/>
                <a:latin typeface="Arial"/>
                <a:ea typeface="Arial"/>
                <a:cs typeface="Arial"/>
                <a:sym typeface="Arial"/>
              </a:rPr>
              <a:t> and Henderson.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Membrane protein structure. 1980 to 2000. An alpha helix protein structure through the two layers of the lipid bilayer.</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841048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718363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chronology is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nature of membrane. 1880 to 1900. Overton. Polar is radiated back and nonpolar is absorbed by the lipid layer.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monolayer. 1900 to 1920. Langmuir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1920 to 1930. </a:t>
            </a:r>
            <a:r>
              <a:rPr lang="en-US" sz="1200" b="0" i="0" u="none" strike="noStrike" kern="1200" cap="none" dirty="0" err="1">
                <a:solidFill>
                  <a:schemeClr val="dk1"/>
                </a:solidFill>
                <a:effectLst/>
                <a:latin typeface="Arial"/>
                <a:ea typeface="Arial"/>
                <a:cs typeface="Arial"/>
                <a:sym typeface="Arial"/>
              </a:rPr>
              <a:t>Gorter</a:t>
            </a:r>
            <a:r>
              <a:rPr lang="en-US" sz="1200" b="0" i="0" u="none" strike="noStrike" kern="1200" cap="none" dirty="0">
                <a:solidFill>
                  <a:schemeClr val="dk1"/>
                </a:solidFill>
                <a:effectLst/>
                <a:latin typeface="Arial"/>
                <a:ea typeface="Arial"/>
                <a:cs typeface="Arial"/>
                <a:sym typeface="Arial"/>
              </a:rPr>
              <a:t> and Grendel.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Lipid bilayer plus protein sheets. 1930 to 1940. </a:t>
            </a:r>
            <a:r>
              <a:rPr lang="en-US" sz="1200" b="0" i="0" u="none" strike="noStrike" kern="1200" cap="none" dirty="0" err="1">
                <a:solidFill>
                  <a:schemeClr val="dk1"/>
                </a:solidFill>
                <a:effectLst/>
                <a:latin typeface="Arial"/>
                <a:ea typeface="Arial"/>
                <a:cs typeface="Arial"/>
                <a:sym typeface="Arial"/>
              </a:rPr>
              <a:t>Davson</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Danielli</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Unit membrane. 1960. Robertson.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Fluid mosaic model. 1970 to 1980. Singer and Nicolson. </a:t>
            </a:r>
            <a:r>
              <a:rPr lang="en-US" sz="1200" b="0" i="0" u="none" strike="noStrike" kern="1200" cap="none" dirty="0" err="1">
                <a:solidFill>
                  <a:schemeClr val="dk1"/>
                </a:solidFill>
                <a:effectLst/>
                <a:latin typeface="Arial"/>
                <a:ea typeface="Arial"/>
                <a:cs typeface="Arial"/>
                <a:sym typeface="Arial"/>
              </a:rPr>
              <a:t>Unwin</a:t>
            </a:r>
            <a:r>
              <a:rPr lang="en-US" sz="1200" b="0" i="0" u="none" strike="noStrike" kern="1200" cap="none" dirty="0">
                <a:solidFill>
                  <a:schemeClr val="dk1"/>
                </a:solidFill>
                <a:effectLst/>
                <a:latin typeface="Arial"/>
                <a:ea typeface="Arial"/>
                <a:cs typeface="Arial"/>
                <a:sym typeface="Arial"/>
              </a:rPr>
              <a:t> and Henderson.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Membrane protein structure. 1980 to 2000. An alpha helix protein structure through the two layers of the lipid bilayer.</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879418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 Singer and Nicolson’s fluid mosaic model: Envisions the membrane as a fluid bilayer of lipids with a mosaic of associated proteins: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There is a phospholipid bilayer with integral protein membrane through the layers. They are polypeptide strings of amino acid. The cell is bound by a plasma membrane. The protein membrane has strands of hydrophilic region on the outside and hydrophobic region between the layers.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An integral membrane protein: An integral membrane protein with multiple alpha-helical transmembrane segments. Many integral membrane proteins of the plasma membrane have carbohydrate side chains attached to the hydrophilic segments on the outer membrane surface. The phospholipid bilayer is 7 to 8 nanometer in height. Both the inner and outer membrane surfaces are made of phospholipids. The inner membrane surface shows alpha-helical </a:t>
            </a:r>
            <a:r>
              <a:rPr lang="en-US" sz="1200" b="0" i="0" u="none" strike="noStrike" kern="1200" cap="none" dirty="0" err="1">
                <a:solidFill>
                  <a:schemeClr val="dk1"/>
                </a:solidFill>
                <a:effectLst/>
                <a:latin typeface="Arial"/>
                <a:ea typeface="Arial"/>
                <a:cs typeface="Arial"/>
                <a:sym typeface="Arial"/>
              </a:rPr>
              <a:t>transmembrane</a:t>
            </a:r>
            <a:r>
              <a:rPr lang="en-US" sz="1200" b="0" i="0" u="none" strike="noStrike" kern="1200" cap="none" dirty="0">
                <a:solidFill>
                  <a:schemeClr val="dk1"/>
                </a:solidFill>
                <a:effectLst/>
                <a:latin typeface="Arial"/>
                <a:ea typeface="Arial"/>
                <a:cs typeface="Arial"/>
                <a:sym typeface="Arial"/>
              </a:rPr>
              <a:t> segments. The outer membrane surface shows hydrophilic regions.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A single transmembrane segment: A single transmembrane segment of an integral membrane is usually alpha-helical in structure. Each helix typically consists of about 20–30 mostly hydrophobic amino acids, represented by small circles. These small circles form a chain along the helical structure.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120437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20126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49828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476488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806862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phospholipids: The flow is as follows: Choline to phosphate to glycerol to multiple fatty acids. The corresponding compounds are: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Phosphatidylcholine</a:t>
            </a:r>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Phosphatidylserine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Phosphatidylthreonine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Phosphatidylinositol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Phosphatidylglycerol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Diphosphatidylglycerol</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cardiolipin</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phospholipids: N has three single bonds to C H subscript 3, and a single bond to C H subscript 2. The C of C H subscript 2 bonds with C H subscript 2 single bond O to P double bond with O and two single bonds with O and O negative respectively. This is choline and phosphate structure. The structures of glycerol and fatty acids are as follows: There is a C single bond C in which one C has single bonds with H, O and a C H subscript 2 which bonds with the O of phosphate. This O single bonds with C which have two single bonds with an O and fourteen C H subscript 2 molecules in a chain and ends with a C H subscript 3. In the same way, the other C has two single bonds with H and a single bond with O which bonds with C double bond O followed by fourteen C H subscript 2 chain and ends with C H subscript 3.</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The second schematic diagram of phospholipids: The flow is as follows: Choline to phosphate to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to a single fatty acid. </a:t>
            </a:r>
            <a:r>
              <a:rPr lang="en-US" sz="1200" b="0" i="0" u="none" strike="noStrike" kern="1200" cap="none" dirty="0" err="1">
                <a:solidFill>
                  <a:schemeClr val="dk1"/>
                </a:solidFill>
                <a:effectLst/>
                <a:latin typeface="Arial"/>
                <a:ea typeface="Arial"/>
                <a:cs typeface="Arial"/>
                <a:sym typeface="Arial"/>
              </a:rPr>
              <a:t>Sphingomyelin</a:t>
            </a:r>
            <a:r>
              <a:rPr lang="en-US" sz="1200" b="0" i="0" u="none" strike="noStrike" kern="1200" cap="none" dirty="0">
                <a:solidFill>
                  <a:schemeClr val="dk1"/>
                </a:solidFill>
                <a:effectLst/>
                <a:latin typeface="Arial"/>
                <a:ea typeface="Arial"/>
                <a:cs typeface="Arial"/>
                <a:sym typeface="Arial"/>
              </a:rPr>
              <a:t> is a </a:t>
            </a:r>
            <a:r>
              <a:rPr lang="en-US" sz="1200" b="0" i="0" u="none" strike="noStrike" kern="1200" cap="none" dirty="0" err="1">
                <a:solidFill>
                  <a:schemeClr val="dk1"/>
                </a:solidFill>
                <a:effectLst/>
                <a:latin typeface="Arial"/>
                <a:ea typeface="Arial"/>
                <a:cs typeface="Arial"/>
                <a:sym typeface="Arial"/>
              </a:rPr>
              <a:t>sphingolipid</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phospholipids: N has three single bonds to C H subscript 3 and a single bond with C H subscript 2. The C of C H subscript 2 bonds with C H subscript 2 single bond O to P which double bonds with O and two single bonds with O and O negative respectively. This is choline and phosphate structure. The structures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and fatty acid are as follows: The O of phosphate bonds with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C H subscript 2 whose C single bonds with C H single bond C. In this, C H single bonds with N H, and this N single bonds with C double bond O and a chain of sixteen C H subscript 2 molecules and ends with a C H subscript 3. The other C has three single bonds with o H, H, C H which has a double bond with C H and the chain continues with twelve C H subscript 2 molecules and ends with a C H subscript 3.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glycolipids: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to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to a single fatty acid. </a:t>
            </a:r>
            <a:r>
              <a:rPr lang="en-US" sz="1200" b="0" i="0" u="none" strike="noStrike" kern="1200" cap="none" dirty="0" err="1">
                <a:solidFill>
                  <a:schemeClr val="dk1"/>
                </a:solidFill>
                <a:effectLst/>
                <a:latin typeface="Arial"/>
                <a:ea typeface="Arial"/>
                <a:cs typeface="Arial"/>
                <a:sym typeface="Arial"/>
              </a:rPr>
              <a:t>Cerebrosides</a:t>
            </a:r>
            <a:r>
              <a:rPr lang="en-US" sz="1200" b="0" i="0" u="none" strike="noStrike" kern="1200" cap="none" dirty="0">
                <a:solidFill>
                  <a:schemeClr val="dk1"/>
                </a:solidFill>
                <a:effectLst/>
                <a:latin typeface="Arial"/>
                <a:ea typeface="Arial"/>
                <a:cs typeface="Arial"/>
                <a:sym typeface="Arial"/>
              </a:rPr>
              <a:t> is a </a:t>
            </a:r>
            <a:r>
              <a:rPr lang="en-US" sz="1200" b="0" i="0" u="none" strike="noStrike" kern="1200" cap="none" dirty="0" err="1">
                <a:solidFill>
                  <a:schemeClr val="dk1"/>
                </a:solidFill>
                <a:effectLst/>
                <a:latin typeface="Arial"/>
                <a:ea typeface="Arial"/>
                <a:cs typeface="Arial"/>
                <a:sym typeface="Arial"/>
              </a:rPr>
              <a:t>galactocerebroside</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Gangliosides</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glycolipids: There is a hexagon bond where three vertex shows H bond O H bond. One of the vertexes shows C H subscript 2 O H. Another vertex shows O and the last vertex shows O H. This is the structure of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The structure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and fatty acid is The O of the last vertex of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bonds with C H subscript 2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This C bonds with C H single bond C H. One of the C H single bonds with N H. This N single bonds with C which had double bonds with O and a C H subscript chain of fourteen C H subscript 2 and ends with C H subscript 3. The other C H has two single bonds with OH and C H. This C H has double bonds with C H and continues with a chain of twelve C H subscript 2 molecules and ends with a C H subscript 3.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sterols: The structure shows three hexagon bonds with a pentagon bond and a double line. The first hexagon shows a ring structure equivalent to O H in the chemical structure. The chain structure is as follows: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Cholesterol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Phytosterols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Ergosterol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Hopanoids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sterols (Cholesterol): There is one C H subscript 3 bond between the first and the second hexagon and the other is between the third hexagon and pentagon. The second hexagon has one double bond in it. The final pentagon bonds with C H single bond C H subscript 3 and this C H has three C H subscript 2 bonds in a chain and continues with C H bond which in turn has two C H subscript 3 bonds.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10170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different membranes are plasma membranes of rat liver, potato, </a:t>
            </a:r>
            <a:r>
              <a:rPr lang="en-US" sz="1200" b="0" i="0" u="none" strike="noStrike" kern="1200" cap="none" dirty="0" err="1">
                <a:solidFill>
                  <a:schemeClr val="dk1"/>
                </a:solidFill>
                <a:effectLst/>
                <a:latin typeface="Arial"/>
                <a:ea typeface="Arial"/>
                <a:cs typeface="Arial"/>
                <a:sym typeface="Arial"/>
              </a:rPr>
              <a:t>E.coli</a:t>
            </a:r>
            <a:r>
              <a:rPr lang="en-US" sz="1200" b="0" i="0" u="none" strike="noStrike" kern="1200" cap="none" dirty="0">
                <a:solidFill>
                  <a:schemeClr val="dk1"/>
                </a:solidFill>
                <a:effectLst/>
                <a:latin typeface="Arial"/>
                <a:ea typeface="Arial"/>
                <a:cs typeface="Arial"/>
                <a:sym typeface="Arial"/>
              </a:rPr>
              <a:t>, myelin sheath of human, chloroplast thylakoid membrane of spinach, and inner mitochondrial membrane of rat liver.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Y axis shows the percentage of total phospholipid and the X axis shows the different phospholipids.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relative abundance of different kinds of phospholipids varies with different sources and the approximate data of the bar chart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Plasma membrane of rat liver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18 percent of </a:t>
            </a:r>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37 percent of </a:t>
            </a:r>
            <a:r>
              <a:rPr lang="en-US" sz="1200" b="0" i="0" u="none" strike="noStrike" kern="1200" cap="none" dirty="0" err="1">
                <a:solidFill>
                  <a:schemeClr val="dk1"/>
                </a:solidFill>
                <a:effectLst/>
                <a:latin typeface="Arial"/>
                <a:ea typeface="Arial"/>
                <a:cs typeface="Arial"/>
                <a:sym typeface="Arial"/>
              </a:rPr>
              <a:t>Phosphatidylcholine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9 percent of </a:t>
            </a:r>
            <a:r>
              <a:rPr lang="en-US" sz="1200" b="0" i="0" u="none" strike="noStrike" kern="1200" cap="none" dirty="0" err="1">
                <a:solidFill>
                  <a:schemeClr val="dk1"/>
                </a:solidFill>
                <a:effectLst/>
                <a:latin typeface="Arial"/>
                <a:ea typeface="Arial"/>
                <a:cs typeface="Arial"/>
                <a:sym typeface="Arial"/>
              </a:rPr>
              <a:t>Phosphatidylserine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19 percent of </a:t>
            </a:r>
            <a:r>
              <a:rPr lang="en-US" sz="1200" b="0" i="0" u="none" strike="noStrike" kern="1200" cap="none" dirty="0" err="1">
                <a:solidFill>
                  <a:schemeClr val="dk1"/>
                </a:solidFill>
                <a:effectLst/>
                <a:latin typeface="Arial"/>
                <a:ea typeface="Arial"/>
                <a:cs typeface="Arial"/>
                <a:sym typeface="Arial"/>
              </a:rPr>
              <a:t>Sphingomyelin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6 percent of Phosphatidylinositol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5 percent of </a:t>
            </a:r>
            <a:r>
              <a:rPr lang="en-US" sz="1200" b="0" i="0" u="none" strike="noStrike" kern="1200" cap="none" dirty="0" err="1">
                <a:solidFill>
                  <a:schemeClr val="dk1"/>
                </a:solidFill>
                <a:effectLst/>
                <a:latin typeface="Arial"/>
                <a:ea typeface="Arial"/>
                <a:cs typeface="Arial"/>
                <a:sym typeface="Arial"/>
              </a:rPr>
              <a:t>Phosphatidylglycerol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Plasma membrane of potato</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48 percent of </a:t>
            </a:r>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31 percent of </a:t>
            </a:r>
            <a:r>
              <a:rPr lang="en-US" sz="1200" b="0" i="0" u="none" strike="noStrike" kern="1200" cap="none" dirty="0" err="1">
                <a:solidFill>
                  <a:schemeClr val="dk1"/>
                </a:solidFill>
                <a:effectLst/>
                <a:latin typeface="Arial"/>
                <a:ea typeface="Arial"/>
                <a:cs typeface="Arial"/>
                <a:sym typeface="Arial"/>
              </a:rPr>
              <a:t>Phosphatidylcholine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20 percent of Phosphatidylinositol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Plasma membrane of </a:t>
            </a:r>
            <a:r>
              <a:rPr lang="en-US" sz="1200" b="0" i="0" u="none" strike="noStrike" kern="1200" cap="none" dirty="0" err="1">
                <a:solidFill>
                  <a:schemeClr val="dk1"/>
                </a:solidFill>
                <a:effectLst/>
                <a:latin typeface="Arial"/>
                <a:ea typeface="Arial"/>
                <a:cs typeface="Arial"/>
                <a:sym typeface="Arial"/>
              </a:rPr>
              <a:t>E.coli</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62 percent of </a:t>
            </a:r>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35 percent of </a:t>
            </a:r>
            <a:r>
              <a:rPr lang="en-US" sz="1200" b="0" i="0" u="none" strike="noStrike" kern="1200" cap="none" dirty="0" err="1">
                <a:solidFill>
                  <a:schemeClr val="dk1"/>
                </a:solidFill>
                <a:effectLst/>
                <a:latin typeface="Arial"/>
                <a:ea typeface="Arial"/>
                <a:cs typeface="Arial"/>
                <a:sym typeface="Arial"/>
              </a:rPr>
              <a:t>Phosphatidylglycerol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7 percent of </a:t>
            </a:r>
            <a:r>
              <a:rPr lang="en-US" sz="1200" b="0" i="0" u="none" strike="noStrike" kern="1200" cap="none" dirty="0" err="1">
                <a:solidFill>
                  <a:schemeClr val="dk1"/>
                </a:solidFill>
                <a:effectLst/>
                <a:latin typeface="Arial"/>
                <a:ea typeface="Arial"/>
                <a:cs typeface="Arial"/>
                <a:sym typeface="Arial"/>
              </a:rPr>
              <a:t>Diphosphatidylglycerol</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cardiolipin</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Myelin sheath of human</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40 percent of </a:t>
            </a:r>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35 percent of </a:t>
            </a:r>
            <a:r>
              <a:rPr lang="en-US" sz="1200" b="0" i="0" u="none" strike="noStrike" kern="1200" cap="none" dirty="0" err="1">
                <a:solidFill>
                  <a:schemeClr val="dk1"/>
                </a:solidFill>
                <a:effectLst/>
                <a:latin typeface="Arial"/>
                <a:ea typeface="Arial"/>
                <a:cs typeface="Arial"/>
                <a:sym typeface="Arial"/>
              </a:rPr>
              <a:t>Phosphatidylcholine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10 percent of </a:t>
            </a:r>
            <a:r>
              <a:rPr lang="en-US" sz="1200" b="0" i="0" u="none" strike="noStrike" kern="1200" cap="none" dirty="0" err="1">
                <a:solidFill>
                  <a:schemeClr val="dk1"/>
                </a:solidFill>
                <a:effectLst/>
                <a:latin typeface="Arial"/>
                <a:ea typeface="Arial"/>
                <a:cs typeface="Arial"/>
                <a:sym typeface="Arial"/>
              </a:rPr>
              <a:t>Phosphatidylserine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10 percent of </a:t>
            </a:r>
            <a:r>
              <a:rPr lang="en-US" sz="1200" b="0" i="0" u="none" strike="noStrike" kern="1200" cap="none" dirty="0" err="1">
                <a:solidFill>
                  <a:schemeClr val="dk1"/>
                </a:solidFill>
                <a:effectLst/>
                <a:latin typeface="Arial"/>
                <a:ea typeface="Arial"/>
                <a:cs typeface="Arial"/>
                <a:sym typeface="Arial"/>
              </a:rPr>
              <a:t>Sphingomyelin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Chloroplast thylakoid membrane of spinach</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6 percent of </a:t>
            </a:r>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38 percent of </a:t>
            </a:r>
            <a:r>
              <a:rPr lang="en-US" sz="1200" b="0" i="0" u="none" strike="noStrike" kern="1200" cap="none" dirty="0" err="1">
                <a:solidFill>
                  <a:schemeClr val="dk1"/>
                </a:solidFill>
                <a:effectLst/>
                <a:latin typeface="Arial"/>
                <a:ea typeface="Arial"/>
                <a:cs typeface="Arial"/>
                <a:sym typeface="Arial"/>
              </a:rPr>
              <a:t>Phosphatidylcholine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18 percent of Phosphatidylinositol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49 percent of </a:t>
            </a:r>
            <a:r>
              <a:rPr lang="en-US" sz="1200" b="0" i="0" u="none" strike="noStrike" kern="1200" cap="none" dirty="0" err="1">
                <a:solidFill>
                  <a:schemeClr val="dk1"/>
                </a:solidFill>
                <a:effectLst/>
                <a:latin typeface="Arial"/>
                <a:ea typeface="Arial"/>
                <a:cs typeface="Arial"/>
                <a:sym typeface="Arial"/>
              </a:rPr>
              <a:t>Phosphatidylglycerol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5 percent of </a:t>
            </a:r>
            <a:r>
              <a:rPr lang="en-US" sz="1200" b="0" i="0" u="none" strike="noStrike" kern="1200" cap="none" dirty="0" err="1">
                <a:solidFill>
                  <a:schemeClr val="dk1"/>
                </a:solidFill>
                <a:effectLst/>
                <a:latin typeface="Arial"/>
                <a:ea typeface="Arial"/>
                <a:cs typeface="Arial"/>
                <a:sym typeface="Arial"/>
              </a:rPr>
              <a:t>Diphosphatidylglycerol</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cardiolipin</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Inner mitochondrial membrane of rat liver</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25 percent of </a:t>
            </a:r>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48 percent of </a:t>
            </a:r>
            <a:r>
              <a:rPr lang="en-US" sz="1200" b="0" i="0" u="none" strike="noStrike" kern="1200" cap="none" dirty="0" err="1">
                <a:solidFill>
                  <a:schemeClr val="dk1"/>
                </a:solidFill>
                <a:effectLst/>
                <a:latin typeface="Arial"/>
                <a:ea typeface="Arial"/>
                <a:cs typeface="Arial"/>
                <a:sym typeface="Arial"/>
              </a:rPr>
              <a:t>Phosphatidylcholine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2 percent of </a:t>
            </a:r>
            <a:r>
              <a:rPr lang="en-US" sz="1200" b="0" i="0" u="none" strike="noStrike" kern="1200" cap="none" dirty="0" err="1">
                <a:solidFill>
                  <a:schemeClr val="dk1"/>
                </a:solidFill>
                <a:effectLst/>
                <a:latin typeface="Arial"/>
                <a:ea typeface="Arial"/>
                <a:cs typeface="Arial"/>
                <a:sym typeface="Arial"/>
              </a:rPr>
              <a:t>Phosphatidylserine</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3 percent of </a:t>
            </a:r>
            <a:r>
              <a:rPr lang="en-US" sz="1200" b="0" i="0" u="none" strike="noStrike" kern="1200" cap="none" dirty="0" err="1">
                <a:solidFill>
                  <a:schemeClr val="dk1"/>
                </a:solidFill>
                <a:effectLst/>
                <a:latin typeface="Arial"/>
                <a:ea typeface="Arial"/>
                <a:cs typeface="Arial"/>
                <a:sym typeface="Arial"/>
              </a:rPr>
              <a:t>Sphingomyelin</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7 percent of Phosphatidylinositol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3 percent of </a:t>
            </a:r>
            <a:r>
              <a:rPr lang="en-US" sz="1200" b="0" i="0" u="none" strike="noStrike" kern="1200" cap="none" dirty="0" err="1">
                <a:solidFill>
                  <a:schemeClr val="dk1"/>
                </a:solidFill>
                <a:effectLst/>
                <a:latin typeface="Arial"/>
                <a:ea typeface="Arial"/>
                <a:cs typeface="Arial"/>
                <a:sym typeface="Arial"/>
              </a:rPr>
              <a:t>Phosphatidylglycerol</a:t>
            </a:r>
            <a:endParaRPr lang="en-IN" sz="1200" b="0" i="0" u="none" strike="noStrike" kern="1200" cap="none" dirty="0">
              <a:solidFill>
                <a:schemeClr val="dk1"/>
              </a:solidFill>
              <a:effectLst/>
              <a:latin typeface="Arial"/>
              <a:ea typeface="Arial"/>
              <a:cs typeface="Arial"/>
              <a:sym typeface="Arial"/>
            </a:endParaRPr>
          </a:p>
          <a:p>
            <a:pPr lvl="1"/>
            <a:r>
              <a:rPr lang="en-US" sz="1200" b="0" i="0" u="none" strike="noStrike" kern="1200" cap="none" dirty="0">
                <a:solidFill>
                  <a:schemeClr val="dk1"/>
                </a:solidFill>
                <a:effectLst/>
                <a:latin typeface="Arial"/>
                <a:ea typeface="Arial"/>
                <a:cs typeface="Arial"/>
                <a:sym typeface="Arial"/>
              </a:rPr>
              <a:t>20 percent of </a:t>
            </a:r>
            <a:r>
              <a:rPr lang="en-US" sz="1200" b="0" i="0" u="none" strike="noStrike" kern="1200" cap="none" dirty="0" err="1">
                <a:solidFill>
                  <a:schemeClr val="dk1"/>
                </a:solidFill>
                <a:effectLst/>
                <a:latin typeface="Arial"/>
                <a:ea typeface="Arial"/>
                <a:cs typeface="Arial"/>
                <a:sym typeface="Arial"/>
              </a:rPr>
              <a:t>Diphosphatidylglycerol</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cardiolipin</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556430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0554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3163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phospholipids: The flow is as follows: Choline to phosphate to glycerol to multiple fatty acids. The corresponding compounds are: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Phosphatidylcholine</a:t>
            </a:r>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Phosphatidylserine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Phosphatidylthreonine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Phosphatidylinositol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Phosphatidylglycerol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Diphosphatidylglycerol</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cardiolipin</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phospholipids: N has three single bonds to C H subscript 3, and a single bond to C H subscript 2. The C of C H subscript 2 bonds with C H subscript 2 single bond O to P double bond with O and two single bonds with O and O negative respectively. This is choline and phosphate structure. The structures of glycerol and fatty acids are as follows: There is a C single bond C in which one C has single bonds with H, O and a C H subscript 2 which bonds with the O of phosphate. This O single bonds with C which have two single bonds with an O and fourteen C H subscript 2 molecules in a chain and ends with a C H subscript 3. In the same way, the other C has two single bonds with H and a single bond with O which bonds with C double bond O followed by fourteen C H subscript 2 chain and ends with C H subscript 3.</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The second schematic diagram of phospholipids: The flow is as follows: Choline to phosphate to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to a single fatty acid. </a:t>
            </a:r>
            <a:r>
              <a:rPr lang="en-US" sz="1200" b="0" i="0" u="none" strike="noStrike" kern="1200" cap="none" dirty="0" err="1">
                <a:solidFill>
                  <a:schemeClr val="dk1"/>
                </a:solidFill>
                <a:effectLst/>
                <a:latin typeface="Arial"/>
                <a:ea typeface="Arial"/>
                <a:cs typeface="Arial"/>
                <a:sym typeface="Arial"/>
              </a:rPr>
              <a:t>Sphingomyelin</a:t>
            </a:r>
            <a:r>
              <a:rPr lang="en-US" sz="1200" b="0" i="0" u="none" strike="noStrike" kern="1200" cap="none" dirty="0">
                <a:solidFill>
                  <a:schemeClr val="dk1"/>
                </a:solidFill>
                <a:effectLst/>
                <a:latin typeface="Arial"/>
                <a:ea typeface="Arial"/>
                <a:cs typeface="Arial"/>
                <a:sym typeface="Arial"/>
              </a:rPr>
              <a:t> is a </a:t>
            </a:r>
            <a:r>
              <a:rPr lang="en-US" sz="1200" b="0" i="0" u="none" strike="noStrike" kern="1200" cap="none" dirty="0" err="1">
                <a:solidFill>
                  <a:schemeClr val="dk1"/>
                </a:solidFill>
                <a:effectLst/>
                <a:latin typeface="Arial"/>
                <a:ea typeface="Arial"/>
                <a:cs typeface="Arial"/>
                <a:sym typeface="Arial"/>
              </a:rPr>
              <a:t>sphingolipid</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phospholipids: N has three single bonds to C H subscript 3 and a single bond with C H subscript 2. The C of C H subscript 2 bonds with C H subscript 2 single bond O to P which double bonds with O and two single bonds with O and O negative respectively. This is choline and phosphate structure. The structures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and fatty acid are as follows: The O of phosphate bonds with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C H subscript 2 whose C single bonds with C H single bond C. In this, C H single bonds with N H, and this N single bonds with C double bond O and a chain of sixteen C H subscript 2 molecules and ends with a C H subscript 3. The other C has three single bonds with o H, H, C H which has a double bond with C H and the chain continues with twelve C H subscript 2 molecules and ends with a C H subscript 3.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glycolipids: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to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to a single fatty acid. </a:t>
            </a:r>
            <a:r>
              <a:rPr lang="en-US" sz="1200" b="0" i="0" u="none" strike="noStrike" kern="1200" cap="none" dirty="0" err="1">
                <a:solidFill>
                  <a:schemeClr val="dk1"/>
                </a:solidFill>
                <a:effectLst/>
                <a:latin typeface="Arial"/>
                <a:ea typeface="Arial"/>
                <a:cs typeface="Arial"/>
                <a:sym typeface="Arial"/>
              </a:rPr>
              <a:t>Cerebrosides</a:t>
            </a:r>
            <a:r>
              <a:rPr lang="en-US" sz="1200" b="0" i="0" u="none" strike="noStrike" kern="1200" cap="none" dirty="0">
                <a:solidFill>
                  <a:schemeClr val="dk1"/>
                </a:solidFill>
                <a:effectLst/>
                <a:latin typeface="Arial"/>
                <a:ea typeface="Arial"/>
                <a:cs typeface="Arial"/>
                <a:sym typeface="Arial"/>
              </a:rPr>
              <a:t> is a </a:t>
            </a:r>
            <a:r>
              <a:rPr lang="en-US" sz="1200" b="0" i="0" u="none" strike="noStrike" kern="1200" cap="none" dirty="0" err="1">
                <a:solidFill>
                  <a:schemeClr val="dk1"/>
                </a:solidFill>
                <a:effectLst/>
                <a:latin typeface="Arial"/>
                <a:ea typeface="Arial"/>
                <a:cs typeface="Arial"/>
                <a:sym typeface="Arial"/>
              </a:rPr>
              <a:t>galactocerebroside</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Gangliosides</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glycolipids: There is a hexagon bond where three vertex shows H bond O H bond. One of the vertexes shows C H subscript 2 O H. Another vertex shows O and the last vertex shows O H. This is the structure of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The structure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and fatty acid is The O of the last vertex of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bonds with C H subscript 2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This C bonds with C H single bond C H. One of the C H single bonds with N H. This N single bonds with C which had double bonds with O and a C H subscript chain of fourteen C H subscript 2 and ends with C H subscript 3. The other C H has two single bonds with OH and C H. This C H has double bonds with C H and continues with a chain of twelve C H subscript 2 molecules and ends with a C H subscript 3.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sterols: The structure shows three hexagon bonds with a pentagon bond and a double line. The first hexagon shows a ring structure equivalent to O H in the chemical structure. The chain structure is as follows: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Cholesterol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Phytosterols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Ergosterol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Hopanoids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sterols (Cholesterol): There is one C H subscript 3 bond between the first and the second hexagon and the other is between the third hexagon and pentagon. The second hexagon has one double bond in it. The final pentagon bonds with C H single bond C H subscript 3 and this C H has three C H subscript 2 bonds in a chain and continues with C H bond which in turn has two C H subscript 3 bonds.</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946883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22651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phospholipids: The flow is as follows: Choline to phosphate to glycerol to multiple fatty acids. The corresponding compounds are: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Phosphatidylcholine</a:t>
            </a:r>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Phosphatidylethanolamine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Phosphatidylserine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Phosphatidylthreonine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Phosphatidylinositol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Phosphatidylglycerol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Diphosphatidylglycerol</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cardiolipin</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phospholipids: N has three single bonds to C H subscript 3, and a single bond to C H subscript 2. The C of C H subscript 2 bonds with C H subscript 2 single bond O to P double bond with O and two single bonds with O and O negative respectively. This is choline and phosphate structure. The structures of glycerol and fatty acids are as follows: There is a C single bond C in which one C has single bonds with H, O and a C H subscript 2 which bonds with the O of phosphate. This O single bonds with C which have two single bonds with an O and fourteen C H subscript 2 molecules in a chain and ends with a C H subscript 3. In the same way, the other C has two single bonds with H and a single bond with O which bonds with C double bond O followed by fourteen C H subscript 2 chain and ends with C H subscript 3.</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The second schematic diagram of phospholipids: The flow is as follows: Choline to phosphate to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to a single fatty acid. </a:t>
            </a:r>
            <a:r>
              <a:rPr lang="en-US" sz="1200" b="0" i="0" u="none" strike="noStrike" kern="1200" cap="none" dirty="0" err="1">
                <a:solidFill>
                  <a:schemeClr val="dk1"/>
                </a:solidFill>
                <a:effectLst/>
                <a:latin typeface="Arial"/>
                <a:ea typeface="Arial"/>
                <a:cs typeface="Arial"/>
                <a:sym typeface="Arial"/>
              </a:rPr>
              <a:t>Sphingomyelin</a:t>
            </a:r>
            <a:r>
              <a:rPr lang="en-US" sz="1200" b="0" i="0" u="none" strike="noStrike" kern="1200" cap="none" dirty="0">
                <a:solidFill>
                  <a:schemeClr val="dk1"/>
                </a:solidFill>
                <a:effectLst/>
                <a:latin typeface="Arial"/>
                <a:ea typeface="Arial"/>
                <a:cs typeface="Arial"/>
                <a:sym typeface="Arial"/>
              </a:rPr>
              <a:t> is a </a:t>
            </a:r>
            <a:r>
              <a:rPr lang="en-US" sz="1200" b="0" i="0" u="none" strike="noStrike" kern="1200" cap="none" dirty="0" err="1">
                <a:solidFill>
                  <a:schemeClr val="dk1"/>
                </a:solidFill>
                <a:effectLst/>
                <a:latin typeface="Arial"/>
                <a:ea typeface="Arial"/>
                <a:cs typeface="Arial"/>
                <a:sym typeface="Arial"/>
              </a:rPr>
              <a:t>sphingolipid</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phospholipids: N has three single bonds to C H subscript 3 and a single bond with C H subscript 2. The C of C H subscript 2 bonds with C H subscript 2 single bond O to P which double bonds with O and two single bonds with O and O negative respectively. This is choline and phosphate structure. The structures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and fatty acid are as follows: The O of phosphate bonds with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C H subscript 2 whose C single bonds with C H single bond C. In this, C H single bonds with N H, and this N single bonds with C double bond O and a chain of sixteen C H subscript 2 molecules and ends with a C H subscript 3. The other C has three single bonds with o H, H, C H which has a double bond with C H and the chain continues with twelve C H subscript 2 molecules and ends with a C H subscript 3.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glycolipids: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to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to a single fatty acid. </a:t>
            </a:r>
            <a:r>
              <a:rPr lang="en-US" sz="1200" b="0" i="0" u="none" strike="noStrike" kern="1200" cap="none" dirty="0" err="1">
                <a:solidFill>
                  <a:schemeClr val="dk1"/>
                </a:solidFill>
                <a:effectLst/>
                <a:latin typeface="Arial"/>
                <a:ea typeface="Arial"/>
                <a:cs typeface="Arial"/>
                <a:sym typeface="Arial"/>
              </a:rPr>
              <a:t>Cerebrosides</a:t>
            </a:r>
            <a:r>
              <a:rPr lang="en-US" sz="1200" b="0" i="0" u="none" strike="noStrike" kern="1200" cap="none" dirty="0">
                <a:solidFill>
                  <a:schemeClr val="dk1"/>
                </a:solidFill>
                <a:effectLst/>
                <a:latin typeface="Arial"/>
                <a:ea typeface="Arial"/>
                <a:cs typeface="Arial"/>
                <a:sym typeface="Arial"/>
              </a:rPr>
              <a:t> is a </a:t>
            </a:r>
            <a:r>
              <a:rPr lang="en-US" sz="1200" b="0" i="0" u="none" strike="noStrike" kern="1200" cap="none" dirty="0" err="1">
                <a:solidFill>
                  <a:schemeClr val="dk1"/>
                </a:solidFill>
                <a:effectLst/>
                <a:latin typeface="Arial"/>
                <a:ea typeface="Arial"/>
                <a:cs typeface="Arial"/>
                <a:sym typeface="Arial"/>
              </a:rPr>
              <a:t>galactocerebroside</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Gangliosides</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glycolipids: There is a hexagon bond where three vertex shows H bond O H bond. One of the vertexes shows C H subscript 2 O H. Another vertex shows O and the last vertex shows O H. This is the structure of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The structure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and fatty acid is The O of the last vertex of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bonds with C H subscript 2 of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This C bonds with C H single bond C H. One of the C H single bonds with N H. This N single bonds with C which had double bonds with O and a C H subscript chain of fourteen C H subscript 2 and ends with C H subscript 3. The other C H has two single bonds with OH and C H. This C H has double bonds with C H and continues with a chain of twelve C H subscript 2 molecules and ends with a C H subscript 3.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Schematic diagram of sterols: The structure shows three hexagon bonds with a pentagon bond and a double line. The first hexagon shows a ring structure equivalent to O H in the chemical structure. The chain structure is as follows: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Cholesterol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Phytosterols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Ergosterol</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Hopanoids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Chemical structure of sterols (Cholesterol): There is one C H subscript 3 bond between the first and the second hexagon and the other is between the third hexagon and pentagon. The second hexagon has one double bond in it. The final pentagon bonds with C H single bond C H subscript 3 and this C H has three C H subscript 2 bonds in a chain and continues with C H bond which in turn has two C H subscript 3 bonds.</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902441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771134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996056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048387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 </a:t>
            </a:r>
          </a:p>
          <a:p>
            <a:pPr>
              <a:lnSpc>
                <a:spcPct val="107000"/>
              </a:lnSpc>
              <a:spcBef>
                <a:spcPts val="1500"/>
              </a:spcBef>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structures are as below: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1500"/>
              </a:spcBef>
              <a:buFont typeface="+mj-lt"/>
              <a:buAutoNum type="arabicPeriod"/>
            </a:pPr>
            <a:r>
              <a:rPr lang="en-US" sz="1800" dirty="0">
                <a:effectLst/>
                <a:latin typeface="Times New Roman" panose="02020603050405020304" pitchFamily="18" charset="0"/>
                <a:ea typeface="Times New Roman" panose="02020603050405020304" pitchFamily="18" charset="0"/>
              </a:rPr>
              <a:t>Palmitate which has 16 carbons and 0 double bonds: A linear structure that has a C double bond O and a single bond O negative. </a:t>
            </a:r>
            <a:r>
              <a:rPr lang="en-US" sz="1800" dirty="0">
                <a:effectLst/>
                <a:highlight>
                  <a:srgbClr val="FFFF00"/>
                </a:highlight>
                <a:latin typeface="Times New Roman" panose="02020603050405020304" pitchFamily="18" charset="0"/>
                <a:ea typeface="Times New Roman" panose="02020603050405020304" pitchFamily="18" charset="0"/>
              </a:rPr>
              <a:t>The C has fourteen C H subscript 2 molecules connected with single bonds in a chain and a C H subscript 3 bond at the end.</a:t>
            </a:r>
            <a:r>
              <a:rPr lang="en-US" sz="1800" dirty="0">
                <a:effectLst/>
                <a:latin typeface="Times New Roman" panose="02020603050405020304" pitchFamily="18" charset="0"/>
                <a:ea typeface="Times New Roman" panose="02020603050405020304" pitchFamily="18" charset="0"/>
              </a:rPr>
              <a:t> The structure represented with red molecules at the head </a:t>
            </a:r>
            <a:r>
              <a:rPr lang="en-US" sz="1800" dirty="0">
                <a:effectLst/>
                <a:highlight>
                  <a:srgbClr val="FFFF00"/>
                </a:highlight>
                <a:latin typeface="Times New Roman" panose="02020603050405020304" pitchFamily="18" charset="0"/>
                <a:ea typeface="Times New Roman" panose="02020603050405020304" pitchFamily="18" charset="0"/>
              </a:rPr>
              <a:t>depicts</a:t>
            </a:r>
            <a:r>
              <a:rPr lang="en-US" sz="1800" dirty="0">
                <a:effectLst/>
                <a:latin typeface="Times New Roman" panose="02020603050405020304" pitchFamily="18" charset="0"/>
                <a:ea typeface="Times New Roman" panose="02020603050405020304" pitchFamily="18" charset="0"/>
              </a:rPr>
              <a:t> oxygen and a linear blue and black </a:t>
            </a:r>
            <a:r>
              <a:rPr lang="en-US" sz="1800" dirty="0">
                <a:effectLst/>
                <a:highlight>
                  <a:srgbClr val="FFFF00"/>
                </a:highlight>
                <a:latin typeface="Times New Roman" panose="02020603050405020304" pitchFamily="18" charset="0"/>
                <a:ea typeface="Times New Roman" panose="02020603050405020304" pitchFamily="18" charset="0"/>
              </a:rPr>
              <a:t>depicts the</a:t>
            </a:r>
            <a:r>
              <a:rPr lang="en-US" sz="1800" dirty="0">
                <a:effectLst/>
                <a:latin typeface="Times New Roman" panose="02020603050405020304" pitchFamily="18" charset="0"/>
                <a:ea typeface="Times New Roman" panose="02020603050405020304" pitchFamily="18" charset="0"/>
              </a:rPr>
              <a:t> hydrocarbon structure.</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mj-lt"/>
              <a:buAutoNum type="arabicPeriod"/>
            </a:pPr>
            <a:r>
              <a:rPr lang="en-US" sz="1800" dirty="0">
                <a:effectLst/>
                <a:latin typeface="Times New Roman" panose="02020603050405020304" pitchFamily="18" charset="0"/>
                <a:ea typeface="Times New Roman" panose="02020603050405020304" pitchFamily="18" charset="0"/>
              </a:rPr>
              <a:t>Stearate which has 18 carbons and 0 double bonds: </a:t>
            </a:r>
            <a:r>
              <a:rPr lang="en-US" sz="1800" dirty="0">
                <a:effectLst/>
                <a:highlight>
                  <a:srgbClr val="FFFF00"/>
                </a:highlight>
                <a:latin typeface="Times New Roman" panose="02020603050405020304" pitchFamily="18" charset="0"/>
                <a:ea typeface="Times New Roman" panose="02020603050405020304" pitchFamily="18" charset="0"/>
              </a:rPr>
              <a:t>A linear structure has a C double bonded with O and single bonded with O negative. The C has sixteen C H subscript 2 connected with single bonds in a chain and a C H subscript 3 at the end. The structure represented with red molecules at the head depicts oxygen and a linear blue and black depicts the hydrocarbon structure.</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mj-lt"/>
              <a:buAutoNum type="arabicPeriod"/>
            </a:pPr>
            <a:r>
              <a:rPr lang="en-US" sz="1800" dirty="0">
                <a:effectLst/>
                <a:latin typeface="Times New Roman" panose="02020603050405020304" pitchFamily="18" charset="0"/>
                <a:ea typeface="Times New Roman" panose="02020603050405020304" pitchFamily="18" charset="0"/>
              </a:rPr>
              <a:t>Oleate which has 18 carbons and 2 double bonds: A curved structure that has a C double bond O and a single bond O negative. </a:t>
            </a:r>
            <a:r>
              <a:rPr lang="en-US" sz="1800" dirty="0">
                <a:effectLst/>
                <a:highlight>
                  <a:srgbClr val="FFFF00"/>
                </a:highlight>
                <a:latin typeface="Times New Roman" panose="02020603050405020304" pitchFamily="18" charset="0"/>
                <a:ea typeface="Times New Roman" panose="02020603050405020304" pitchFamily="18" charset="0"/>
              </a:rPr>
              <a:t>The C has seven C H subscript 2 single bonds. Then a C is bonded to a C double bond C with a H bond to each C bond. The C then has seven C H subscript 2 bonds and a final C H subscript 3 bond.</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mj-lt"/>
              <a:buAutoNum type="arabicPeriod"/>
            </a:pPr>
            <a:r>
              <a:rPr lang="en-US" sz="1800" dirty="0">
                <a:effectLst/>
                <a:latin typeface="Times New Roman" panose="02020603050405020304" pitchFamily="18" charset="0"/>
                <a:ea typeface="Times New Roman" panose="02020603050405020304" pitchFamily="18" charset="0"/>
              </a:rPr>
              <a:t>Linoleate with 18 carbons and 3 double bonds: A </a:t>
            </a:r>
            <a:r>
              <a:rPr lang="en-US" sz="1800" dirty="0">
                <a:effectLst/>
                <a:highlight>
                  <a:srgbClr val="FFFF00"/>
                </a:highlight>
                <a:latin typeface="Times New Roman" panose="02020603050405020304" pitchFamily="18" charset="0"/>
                <a:ea typeface="Times New Roman" panose="02020603050405020304" pitchFamily="18" charset="0"/>
              </a:rPr>
              <a:t>curved</a:t>
            </a:r>
            <a:r>
              <a:rPr lang="en-US" sz="1800" dirty="0">
                <a:effectLst/>
                <a:latin typeface="Times New Roman" panose="02020603050405020304" pitchFamily="18" charset="0"/>
                <a:ea typeface="Times New Roman" panose="02020603050405020304" pitchFamily="18" charset="0"/>
              </a:rPr>
              <a:t> structure that has </a:t>
            </a:r>
            <a:r>
              <a:rPr lang="en-US" sz="1800" dirty="0">
                <a:effectLst/>
                <a:highlight>
                  <a:srgbClr val="FFFF00"/>
                </a:highlight>
                <a:latin typeface="Times New Roman" panose="02020603050405020304" pitchFamily="18" charset="0"/>
                <a:ea typeface="Times New Roman" panose="02020603050405020304" pitchFamily="18" charset="0"/>
              </a:rPr>
              <a:t>a C double bonded with O and single bonded with O negative</a:t>
            </a:r>
            <a:r>
              <a:rPr lang="en-US" sz="1800" dirty="0">
                <a:effectLst/>
                <a:latin typeface="Times New Roman" panose="02020603050405020304" pitchFamily="18" charset="0"/>
                <a:ea typeface="Times New Roman" panose="02020603050405020304" pitchFamily="18" charset="0"/>
              </a:rPr>
              <a:t>. </a:t>
            </a:r>
            <a:r>
              <a:rPr lang="en-US" sz="1800" dirty="0">
                <a:effectLst/>
                <a:highlight>
                  <a:srgbClr val="FFFF00"/>
                </a:highlight>
                <a:latin typeface="Times New Roman" panose="02020603050405020304" pitchFamily="18" charset="0"/>
                <a:ea typeface="Times New Roman" panose="02020603050405020304" pitchFamily="18" charset="0"/>
              </a:rPr>
              <a:t>The C has 7 C H subscript 2 single bonds. Then a C is double bonded to a C with a H bond to each C. The C has a C H subscript 2  bond and the chain repeats with two C double bond C, each with a H bond followed by four C H subscript 2 single bonds and a final C H subscript 3 bond. The structure has two curves or bends and it is where the two C double bonds are present.</a:t>
            </a:r>
            <a:endParaRPr lang="en-IN"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640670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285723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443594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Image “a” shows a syringe with a sample solution being placed on a spot on a small area of a glass TLC plate and is the point of origin.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Image “b” shows the order of the components moving upward from more polar toward less polar when the TLC plate is placed in a solvent system. The components are in the order of PS, PC, PE, and cholesterol. The solvent front is above the cholesterol level. </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84446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117315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21330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582429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091246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Transverse diffusion of a phospholipid molecule happens from one monolayer to the other layer. Rotation happens along the long axis. Lateral diffusion happens when a molecule exchanges place with a neighboring molecule in the same monolayer.</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344289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038961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226524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31690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X axis shows temperature in degree Celsius from 0 to 80, in increments of 20, and heat absorption on the Y axis.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of the graphs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Normal membrane: The heat absorption is a normal curve from about 18 degrees to 39 degrees. The T sub m, which is the peak value of heat absorption is at 28 degrees Celsius. Below this is the gel state and above the T sub m is the fluid state. The T sub m is the transition from gel to fluid state.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Membranes enriched in unsaturated or saturated fatty acids: </a:t>
            </a:r>
            <a:r>
              <a:rPr lang="en-US" sz="1200" b="0" i="0" u="none" strike="noStrike" kern="1200" cap="none" dirty="0" err="1">
                <a:solidFill>
                  <a:schemeClr val="dk1"/>
                </a:solidFill>
                <a:effectLst/>
                <a:latin typeface="Arial"/>
                <a:ea typeface="Arial"/>
                <a:cs typeface="Arial"/>
                <a:sym typeface="Arial"/>
              </a:rPr>
              <a:t>Oleate</a:t>
            </a:r>
            <a:r>
              <a:rPr lang="en-US" sz="1200" b="0" i="0" u="none" strike="noStrike" kern="1200" cap="none" dirty="0">
                <a:solidFill>
                  <a:schemeClr val="dk1"/>
                </a:solidFill>
                <a:effectLst/>
                <a:latin typeface="Arial"/>
                <a:ea typeface="Arial"/>
                <a:cs typeface="Arial"/>
                <a:sym typeface="Arial"/>
              </a:rPr>
              <a:t> enriched with 18 carbons and 1 double bond shows a normal curve for heat absorption from 0 to 25 degrees Celsius. The T sub m is at 16 degrees Celsius, which is the peak. More unsaturated, more fluid it is.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Another example is Stearate enriched with 18 carbons and 0 double bonds. It shows a normal curve for heat absorption from 60 to 80 degrees Celsius. The T sub m, which is the peak, is at 70 degrees Celsius. More saturated, less fluid it is.</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316715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290989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of the graph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Effect of chain length on the melting point: The X axis shows number of carbon atoms for fully saturated fatty acids from 10 to 20, in increments of 2. The Y axis shows transition temperature in degree Celsius from negative 20 to 80, in increments of 10. The data points are approximately (10, 31); (12, 45); (14, 55); (16, 65); (18, 70); and (20, 78). When the number of carbon atoms is less, it is more fluid and when it is more, it is less fluid.</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Effect of unsaturation on the melting point: The X axis shows number of double bonds with 18 carbon fatty acids. The data points for transition temperature are approximately (0, 70); (1, 16); (2, 5); and (3, 10). More the number of double bonds, less fluid it is and lesser number of double bonds, more fluid it is.</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845708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475909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The lipids with saturated fatty acids pack together well. There is a common stem of hydrocarbons, followed by red yellow represented molecules. It then branches into two parallel linear hydrocarbon chains.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The lipids with unsaturated fatty acids do not pack well together. There is a common stem of hydrocarbons, followed by red yellow represented molecules. It then branches into hydrocarbon chains, where one is linear and vertical and the lower half of the other is bent outward.</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23266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71101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lvl="0"/>
            <a:r>
              <a:rPr lang="en-IN" sz="1200" b="0" i="0" u="none" strike="noStrike" kern="1200" cap="none" dirty="0" err="1">
                <a:solidFill>
                  <a:schemeClr val="dk1"/>
                </a:solidFill>
                <a:effectLst/>
                <a:latin typeface="Arial"/>
                <a:ea typeface="Arial"/>
                <a:cs typeface="Arial"/>
                <a:sym typeface="Arial"/>
              </a:rPr>
              <a:t>Cis</a:t>
            </a:r>
            <a:r>
              <a:rPr lang="en-IN" sz="1200" b="0" i="0" u="none" strike="noStrike" kern="1200" cap="none" dirty="0">
                <a:solidFill>
                  <a:schemeClr val="dk1"/>
                </a:solidFill>
                <a:effectLst/>
                <a:latin typeface="Arial"/>
                <a:ea typeface="Arial"/>
                <a:cs typeface="Arial"/>
                <a:sym typeface="Arial"/>
              </a:rPr>
              <a:t> configuration shows a C to C double bond. Each carbon atom has an R bonded to it. In trans configuration, the R attached to each C atom is on the opposite side.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831132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816910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image description is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The phospholipid molecules are on both the layers of the plasma membrane. Cholesterol are seen as strands within the bilayer.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Each cholesterol is bound to the phospholipid molecule with a O single bond H and a hydrogen bond with O double bond C single bond O single bond C H single bond C H subscript 2. The C of the C H is bond to a C H subscript single bond O single bond C and is double bonded with O. The phospholipid has a P to O and O negative bond, O and R positive bond. The P has a double bond with O too.</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54569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412449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333898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725495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5395430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397036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366493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68529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783895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Separation of membrane monolayers: A note reads, “Notice how the fracture plane has passed through the hydrophobic interior of the membrane, revealing the inner surfaces of the two monolayers. Integral membrane proteins that remain with the outer monolayer are seen on the E (</a:t>
            </a:r>
            <a:r>
              <a:rPr lang="en-US" sz="1200" b="0" i="0" u="none" strike="noStrike" kern="1200" cap="none" dirty="0" err="1">
                <a:solidFill>
                  <a:schemeClr val="dk1"/>
                </a:solidFill>
                <a:effectLst/>
                <a:latin typeface="Arial"/>
                <a:ea typeface="Arial"/>
                <a:cs typeface="Arial"/>
                <a:sym typeface="Arial"/>
              </a:rPr>
              <a:t>exoplasmic</a:t>
            </a:r>
            <a:r>
              <a:rPr lang="en-US" sz="1200" b="0" i="0" u="none" strike="noStrike" kern="1200" cap="none" dirty="0">
                <a:solidFill>
                  <a:schemeClr val="dk1"/>
                </a:solidFill>
                <a:effectLst/>
                <a:latin typeface="Arial"/>
                <a:ea typeface="Arial"/>
                <a:cs typeface="Arial"/>
                <a:sym typeface="Arial"/>
              </a:rPr>
              <a:t>) face, whereas those that remain with the inner monolayer are seen on the P (protoplasmic) face.”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 fracture plane view shows outer monolayer, E-face below the outer monolayer, a network of helical integral membrane protein, inner monolayer, P-face above the inner monolayer, and plasma membrane.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Surface view of monolayers: A note reads, “This sketch of a freeze-fractured membrane shows electron micrographs of the E and P faces from the plasma membrane of a mouse kidney tubule cell. Individual proteins embedded in either face show up as small particles (TEMs).”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layers labeled are cytosolic surface of membrane, exterior surface of membrane, outer monolayer, E-face, P-face, and inner monolayer.</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899785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Erythrocyte plasma membrane: The electron micrographs show no patches on the top</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Chloroplast thylakoid membrane: It has rough patches on the top.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at the bottom left bottom reads 0.2 micrometers.</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316451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276666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17231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layers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Integral membrane proteins</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Integral </a:t>
            </a:r>
            <a:r>
              <a:rPr lang="en-US" sz="1200" b="0" i="0" u="none" strike="noStrike" kern="1200" cap="none" dirty="0" err="1">
                <a:solidFill>
                  <a:schemeClr val="dk1"/>
                </a:solidFill>
                <a:effectLst/>
                <a:latin typeface="Arial"/>
                <a:ea typeface="Arial"/>
                <a:cs typeface="Arial"/>
                <a:sym typeface="Arial"/>
              </a:rPr>
              <a:t>monotopic</a:t>
            </a:r>
            <a:r>
              <a:rPr lang="en-US" sz="1200" b="0" i="0" u="none" strike="noStrike" kern="1200" cap="none" dirty="0">
                <a:solidFill>
                  <a:schemeClr val="dk1"/>
                </a:solidFill>
                <a:effectLst/>
                <a:latin typeface="Arial"/>
                <a:ea typeface="Arial"/>
                <a:cs typeface="Arial"/>
                <a:sym typeface="Arial"/>
              </a:rPr>
              <a:t> protein</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err="1">
                <a:solidFill>
                  <a:schemeClr val="dk1"/>
                </a:solidFill>
                <a:effectLst/>
                <a:latin typeface="Arial"/>
                <a:ea typeface="Arial"/>
                <a:cs typeface="Arial"/>
                <a:sym typeface="Arial"/>
              </a:rPr>
              <a:t>Singlepass</a:t>
            </a:r>
            <a:r>
              <a:rPr lang="en-US" sz="1200" b="0" i="0" u="none" strike="noStrike" kern="1200" cap="none" dirty="0">
                <a:solidFill>
                  <a:schemeClr val="dk1"/>
                </a:solidFill>
                <a:effectLst/>
                <a:latin typeface="Arial"/>
                <a:ea typeface="Arial"/>
                <a:cs typeface="Arial"/>
                <a:sym typeface="Arial"/>
              </a:rPr>
              <a:t> protein</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err="1">
                <a:solidFill>
                  <a:schemeClr val="dk1"/>
                </a:solidFill>
                <a:effectLst/>
                <a:latin typeface="Arial"/>
                <a:ea typeface="Arial"/>
                <a:cs typeface="Arial"/>
                <a:sym typeface="Arial"/>
              </a:rPr>
              <a:t>Multipass</a:t>
            </a:r>
            <a:r>
              <a:rPr lang="en-US" sz="1200" b="0" i="0" u="none" strike="noStrike" kern="1200" cap="none" dirty="0">
                <a:solidFill>
                  <a:schemeClr val="dk1"/>
                </a:solidFill>
                <a:effectLst/>
                <a:latin typeface="Arial"/>
                <a:ea typeface="Arial"/>
                <a:cs typeface="Arial"/>
                <a:sym typeface="Arial"/>
              </a:rPr>
              <a:t> protein</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Multi-subunit protein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Peripheral membrane protein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Lipid-anchored membrane proteins</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Fatty acid or </a:t>
            </a:r>
            <a:r>
              <a:rPr lang="en-US" sz="1200" b="0" i="0" u="none" strike="noStrike" kern="1200" cap="none" dirty="0" err="1">
                <a:solidFill>
                  <a:schemeClr val="dk1"/>
                </a:solidFill>
                <a:effectLst/>
                <a:latin typeface="Arial"/>
                <a:ea typeface="Arial"/>
                <a:cs typeface="Arial"/>
                <a:sym typeface="Arial"/>
              </a:rPr>
              <a:t>isoprenyl</a:t>
            </a:r>
            <a:r>
              <a:rPr lang="en-US" sz="1200" b="0" i="0" u="none" strike="noStrike" kern="1200" cap="none" dirty="0">
                <a:solidFill>
                  <a:schemeClr val="dk1"/>
                </a:solidFill>
                <a:effectLst/>
                <a:latin typeface="Arial"/>
                <a:ea typeface="Arial"/>
                <a:cs typeface="Arial"/>
                <a:sym typeface="Arial"/>
              </a:rPr>
              <a:t> anchor</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GPI anchor</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295401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4342858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7999135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3942540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02218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6135857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Glycophorin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 single helical protein structure passes through the outer and inner surfaces. The outer surface of the protein structure shows N H subscript 3 positive and the inner surface shows C double bond O and single bond O negative. There are carbohydrate side chains on the protein structure on the outer surface.</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Bacteriorhodopsin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 group of multiple helical protein structures passes through the outer and inner surfaces. The outer surface of the protein structure shows N H subscript 3 positive and the inner surface shows C double bond O and single bond O negative. The ends of these protein structures are hydrophilic segments on the outer and inner surface. A trans-membrane segment surrounds the protein structure. A proton channel from the inner to outer layer showing H plus passes through the layer.</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1195588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4982774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5539212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748992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300926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768261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633021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4692951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4075590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2946814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2036426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2453569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5509612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2154715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Hydropathy</a:t>
            </a:r>
            <a:r>
              <a:rPr lang="en-US" sz="1200" b="0" i="0" u="none" strike="noStrike" kern="1200" cap="none" dirty="0">
                <a:solidFill>
                  <a:schemeClr val="dk1"/>
                </a:solidFill>
                <a:effectLst/>
                <a:latin typeface="Arial"/>
                <a:ea typeface="Arial"/>
                <a:cs typeface="Arial"/>
                <a:sym typeface="Arial"/>
              </a:rPr>
              <a:t> plot of </a:t>
            </a:r>
            <a:r>
              <a:rPr lang="en-US" sz="1200" b="0" i="0" u="none" strike="noStrike" kern="1200" cap="none" dirty="0" err="1">
                <a:solidFill>
                  <a:schemeClr val="dk1"/>
                </a:solidFill>
                <a:effectLst/>
                <a:latin typeface="Arial"/>
                <a:ea typeface="Arial"/>
                <a:cs typeface="Arial"/>
                <a:sym typeface="Arial"/>
              </a:rPr>
              <a:t>connexin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X axis shows amino acid number from 0 to 200, in increments of 50. The Y axis shows average </a:t>
            </a:r>
            <a:r>
              <a:rPr lang="en-US" sz="1200" b="0" i="0" u="none" strike="noStrike" kern="1200" cap="none" dirty="0" err="1">
                <a:solidFill>
                  <a:schemeClr val="dk1"/>
                </a:solidFill>
                <a:effectLst/>
                <a:latin typeface="Arial"/>
                <a:ea typeface="Arial"/>
                <a:cs typeface="Arial"/>
                <a:sym typeface="Arial"/>
              </a:rPr>
              <a:t>hydropathy</a:t>
            </a:r>
            <a:r>
              <a:rPr lang="en-US" sz="1200" b="0" i="0" u="none" strike="noStrike" kern="1200" cap="none" dirty="0">
                <a:solidFill>
                  <a:schemeClr val="dk1"/>
                </a:solidFill>
                <a:effectLst/>
                <a:latin typeface="Arial"/>
                <a:ea typeface="Arial"/>
                <a:cs typeface="Arial"/>
                <a:sym typeface="Arial"/>
              </a:rPr>
              <a:t> index from negative 4 to 4, in increments of 2. The hydrophilic region is below 0 and hydrophobic region is above 0. The hydrophobic region shows a consistent up-down pattern with peak of 2 and a low of 0 at regular intervals. The hydrophilic region shows increasing </a:t>
            </a:r>
            <a:r>
              <a:rPr lang="en-US" sz="1200" b="0" i="0" u="none" strike="noStrike" kern="1200" cap="none" dirty="0" err="1">
                <a:solidFill>
                  <a:schemeClr val="dk1"/>
                </a:solidFill>
                <a:effectLst/>
                <a:latin typeface="Arial"/>
                <a:ea typeface="Arial"/>
                <a:cs typeface="Arial"/>
                <a:sym typeface="Arial"/>
              </a:rPr>
              <a:t>hydropathy</a:t>
            </a:r>
            <a:r>
              <a:rPr lang="en-US" sz="1200" b="0" i="0" u="none" strike="noStrike" kern="1200" cap="none" dirty="0">
                <a:solidFill>
                  <a:schemeClr val="dk1"/>
                </a:solidFill>
                <a:effectLst/>
                <a:latin typeface="Arial"/>
                <a:ea typeface="Arial"/>
                <a:cs typeface="Arial"/>
                <a:sym typeface="Arial"/>
              </a:rPr>
              <a:t> index from 1 to 3 as the amino acid number increases. It shows an up-down pattern between peak and 0.</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Transmembrane</a:t>
            </a:r>
            <a:r>
              <a:rPr lang="en-US" sz="1200" b="0" i="0" u="none" strike="noStrike" kern="1200" cap="none" dirty="0">
                <a:solidFill>
                  <a:schemeClr val="dk1"/>
                </a:solidFill>
                <a:effectLst/>
                <a:latin typeface="Arial"/>
                <a:ea typeface="Arial"/>
                <a:cs typeface="Arial"/>
                <a:sym typeface="Arial"/>
              </a:rPr>
              <a:t> structure of </a:t>
            </a:r>
            <a:r>
              <a:rPr lang="en-US" sz="1200" b="0" i="0" u="none" strike="noStrike" kern="1200" cap="none" dirty="0" err="1">
                <a:solidFill>
                  <a:schemeClr val="dk1"/>
                </a:solidFill>
                <a:effectLst/>
                <a:latin typeface="Arial"/>
                <a:ea typeface="Arial"/>
                <a:cs typeface="Arial"/>
                <a:sym typeface="Arial"/>
              </a:rPr>
              <a:t>connexion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err="1">
                <a:solidFill>
                  <a:schemeClr val="dk1"/>
                </a:solidFill>
                <a:effectLst/>
                <a:latin typeface="Arial"/>
                <a:ea typeface="Arial"/>
                <a:cs typeface="Arial"/>
                <a:sym typeface="Arial"/>
              </a:rPr>
              <a:t>Connexin</a:t>
            </a:r>
            <a:r>
              <a:rPr lang="en-US" sz="1200" b="0" i="0" u="none" strike="noStrike" kern="1200" cap="none" dirty="0">
                <a:solidFill>
                  <a:schemeClr val="dk1"/>
                </a:solidFill>
                <a:effectLst/>
                <a:latin typeface="Arial"/>
                <a:ea typeface="Arial"/>
                <a:cs typeface="Arial"/>
                <a:sym typeface="Arial"/>
              </a:rPr>
              <a:t> has four distinct hydrophobic regions, which correspond to the four a-helical segments that span the plasma membrane. Single strands of interconnected protein structures pass through the two layers of the membrane. The starting end shows N H subscript 3 positive and the final end shows C that double bonds with O and single bonds with O negative.</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1987298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3645318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206622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5204933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57151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3647852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3634614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4566743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7349325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487804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process is as follows: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err="1">
                <a:solidFill>
                  <a:schemeClr val="dk1"/>
                </a:solidFill>
                <a:effectLst/>
                <a:latin typeface="Arial"/>
                <a:ea typeface="Arial"/>
                <a:cs typeface="Arial"/>
                <a:sym typeface="Arial"/>
              </a:rPr>
              <a:t>Lactoperoxidase</a:t>
            </a:r>
            <a:r>
              <a:rPr lang="en-US" sz="1200" b="0" i="0" u="none" strike="noStrike" kern="1200" cap="none" dirty="0">
                <a:solidFill>
                  <a:schemeClr val="dk1"/>
                </a:solidFill>
                <a:effectLst/>
                <a:latin typeface="Arial"/>
                <a:ea typeface="Arial"/>
                <a:cs typeface="Arial"/>
                <a:sym typeface="Arial"/>
              </a:rPr>
              <a:t> of superscript 125 I: Membrane proteins on the outer surface of the membrane vesicle, A and B are superscript 125 I.</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Hypotonic medium: </a:t>
            </a:r>
            <a:r>
              <a:rPr lang="en-US" sz="1200" b="0" i="0" u="none" strike="noStrike" kern="1200" cap="none" dirty="0" err="1">
                <a:solidFill>
                  <a:schemeClr val="dk1"/>
                </a:solidFill>
                <a:effectLst/>
                <a:latin typeface="Arial"/>
                <a:ea typeface="Arial"/>
                <a:cs typeface="Arial"/>
                <a:sym typeface="Arial"/>
              </a:rPr>
              <a:t>Lactoperoxidase</a:t>
            </a:r>
            <a:r>
              <a:rPr lang="en-US" sz="1200" b="0" i="0" u="none" strike="noStrike" kern="1200" cap="none" dirty="0">
                <a:solidFill>
                  <a:schemeClr val="dk1"/>
                </a:solidFill>
                <a:effectLst/>
                <a:latin typeface="Arial"/>
                <a:ea typeface="Arial"/>
                <a:cs typeface="Arial"/>
                <a:sym typeface="Arial"/>
              </a:rPr>
              <a:t>. “A” and “C” are only labeled.</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Isotonic medium: B and C are superscript 125 I.</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6416863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53284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990296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879326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carbohydrate groups are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N-linked (to amino group of asparagine)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carbohydrate group is linked to asparagine, which is C H single bond C H subscript 2 single bond C single bond N bond with a C double bond O and N single bond H. The C of C H has a N to H bond and a C double bond O bond. The carbohydrate group is linked to 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O-linked (to hydroxyl group of serine or threonine)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carbohydrate group is linked to serine, which is C H single bond C H subscript 2 single bond O bond. The C of C H has a N to H bond and a C double bond O bond. The carbohydrate group is linked to O.</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carbohydrate group is linked to threonine, which is C H single bond C H bond. The C of C H has a C double bond O and a N H bond. The C of the other C H is bond to C H subscript 3 and O. The carbohydrate group is linked at O.</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O-linked (to hydroxyl group of </a:t>
            </a:r>
            <a:r>
              <a:rPr lang="en-US" sz="1200" b="0" i="0" u="none" strike="noStrike" kern="1200" cap="none" dirty="0" err="1">
                <a:solidFill>
                  <a:schemeClr val="dk1"/>
                </a:solidFill>
                <a:effectLst/>
                <a:latin typeface="Arial"/>
                <a:ea typeface="Arial"/>
                <a:cs typeface="Arial"/>
                <a:sym typeface="Arial"/>
              </a:rPr>
              <a:t>hydroxylysine</a:t>
            </a:r>
            <a:r>
              <a:rPr lang="en-US" sz="1200" b="0" i="0" u="none" strike="noStrike" kern="1200" cap="none" dirty="0">
                <a:solidFill>
                  <a:schemeClr val="dk1"/>
                </a:solidFill>
                <a:effectLst/>
                <a:latin typeface="Arial"/>
                <a:ea typeface="Arial"/>
                <a:cs typeface="Arial"/>
                <a:sym typeface="Arial"/>
              </a:rPr>
              <a:t> or </a:t>
            </a:r>
            <a:r>
              <a:rPr lang="en-US" sz="1200" b="0" i="0" u="none" strike="noStrike" kern="1200" cap="none" dirty="0" err="1">
                <a:solidFill>
                  <a:schemeClr val="dk1"/>
                </a:solidFill>
                <a:effectLst/>
                <a:latin typeface="Arial"/>
                <a:ea typeface="Arial"/>
                <a:cs typeface="Arial"/>
                <a:sym typeface="Arial"/>
              </a:rPr>
              <a:t>hydroxyproline</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carbohydrate group is linked to </a:t>
            </a:r>
            <a:r>
              <a:rPr lang="en-US" sz="1200" b="0" i="0" u="none" strike="noStrike" kern="1200" cap="none" dirty="0" err="1">
                <a:solidFill>
                  <a:schemeClr val="dk1"/>
                </a:solidFill>
                <a:effectLst/>
                <a:latin typeface="Arial"/>
                <a:ea typeface="Arial"/>
                <a:cs typeface="Arial"/>
                <a:sym typeface="Arial"/>
              </a:rPr>
              <a:t>hydroxylysine</a:t>
            </a:r>
            <a:r>
              <a:rPr lang="en-US" sz="1200" b="0" i="0" u="none" strike="noStrike" kern="1200" cap="none" dirty="0">
                <a:solidFill>
                  <a:schemeClr val="dk1"/>
                </a:solidFill>
                <a:effectLst/>
                <a:latin typeface="Arial"/>
                <a:ea typeface="Arial"/>
                <a:cs typeface="Arial"/>
                <a:sym typeface="Arial"/>
              </a:rPr>
              <a:t>, which is C H single bond C H subscript 2 single bond C H subscript 2 single bond C H bond. The first C of C H has a N to H bond and a C double bond O bond. The last C of C H is linked to C H subscript 2 single bond N H subscript 3 and O bonds. The carbohydrate group is linked to O.</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carbohydrate group is linked to </a:t>
            </a:r>
            <a:r>
              <a:rPr lang="en-US" sz="1200" b="0" i="0" u="none" strike="noStrike" kern="1200" cap="none" dirty="0" err="1">
                <a:solidFill>
                  <a:schemeClr val="dk1"/>
                </a:solidFill>
                <a:effectLst/>
                <a:latin typeface="Arial"/>
                <a:ea typeface="Arial"/>
                <a:cs typeface="Arial"/>
                <a:sym typeface="Arial"/>
              </a:rPr>
              <a:t>hydroxyproline</a:t>
            </a:r>
            <a:r>
              <a:rPr lang="en-US" sz="1200" b="0" i="0" u="none" strike="noStrike" kern="1200" cap="none" dirty="0">
                <a:solidFill>
                  <a:schemeClr val="dk1"/>
                </a:solidFill>
                <a:effectLst/>
                <a:latin typeface="Arial"/>
                <a:ea typeface="Arial"/>
                <a:cs typeface="Arial"/>
                <a:sym typeface="Arial"/>
              </a:rPr>
              <a:t>, which is a circular bond of C H single bond N single bond C H subscript 2 single bond C H single bond C H single bond 2. The first C of C H has a C double bond O. The C of the other C H is bond to O. The carbohydrate group is linked at O.</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The carbohydrate group of </a:t>
            </a:r>
            <a:r>
              <a:rPr lang="en-US" sz="1200" b="0" i="0" u="none" strike="noStrike" kern="1200" cap="none" dirty="0" err="1">
                <a:solidFill>
                  <a:schemeClr val="dk1"/>
                </a:solidFill>
                <a:effectLst/>
                <a:latin typeface="Arial"/>
                <a:ea typeface="Arial"/>
                <a:cs typeface="Arial"/>
                <a:sym typeface="Arial"/>
              </a:rPr>
              <a:t>glycophorin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carbonate group consists of </a:t>
            </a:r>
            <a:r>
              <a:rPr lang="en-US" sz="1200" b="0" i="0" u="none" strike="noStrike" kern="1200" cap="none" dirty="0" err="1">
                <a:solidFill>
                  <a:schemeClr val="dk1"/>
                </a:solidFill>
                <a:effectLst/>
                <a:latin typeface="Arial"/>
                <a:ea typeface="Arial"/>
                <a:cs typeface="Arial"/>
                <a:sym typeface="Arial"/>
              </a:rPr>
              <a:t>Sia</a:t>
            </a:r>
            <a:r>
              <a:rPr lang="en-US" sz="1200" b="0" i="0" u="none" strike="noStrike" kern="1200" cap="none" dirty="0">
                <a:solidFill>
                  <a:schemeClr val="dk1"/>
                </a:solidFill>
                <a:effectLst/>
                <a:latin typeface="Arial"/>
                <a:ea typeface="Arial"/>
                <a:cs typeface="Arial"/>
                <a:sym typeface="Arial"/>
              </a:rPr>
              <a:t> negative to O to Gal to O to </a:t>
            </a:r>
            <a:r>
              <a:rPr lang="en-US" sz="1200" b="0" i="0" u="none" strike="noStrike" kern="1200" cap="none" dirty="0" err="1">
                <a:solidFill>
                  <a:schemeClr val="dk1"/>
                </a:solidFill>
                <a:effectLst/>
                <a:latin typeface="Arial"/>
                <a:ea typeface="Arial"/>
                <a:cs typeface="Arial"/>
                <a:sym typeface="Arial"/>
              </a:rPr>
              <a:t>GlcNAc</a:t>
            </a:r>
            <a:r>
              <a:rPr lang="en-US" sz="1200" b="0" i="0" u="none" strike="noStrike" kern="1200" cap="none" dirty="0">
                <a:solidFill>
                  <a:schemeClr val="dk1"/>
                </a:solidFill>
                <a:effectLst/>
                <a:latin typeface="Arial"/>
                <a:ea typeface="Arial"/>
                <a:cs typeface="Arial"/>
                <a:sym typeface="Arial"/>
              </a:rPr>
              <a:t> to O to Man to O to Man to </a:t>
            </a:r>
            <a:r>
              <a:rPr lang="en-US" sz="1200" b="0" i="0" u="none" strike="noStrike" kern="1200" cap="none" dirty="0" err="1">
                <a:solidFill>
                  <a:schemeClr val="dk1"/>
                </a:solidFill>
                <a:effectLst/>
                <a:latin typeface="Arial"/>
                <a:ea typeface="Arial"/>
                <a:cs typeface="Arial"/>
                <a:sym typeface="Arial"/>
              </a:rPr>
              <a:t>GlcNAc</a:t>
            </a:r>
            <a:r>
              <a:rPr lang="en-US" sz="1200" b="0" i="0" u="none" strike="noStrike" kern="1200" cap="none" dirty="0">
                <a:solidFill>
                  <a:schemeClr val="dk1"/>
                </a:solidFill>
                <a:effectLst/>
                <a:latin typeface="Arial"/>
                <a:ea typeface="Arial"/>
                <a:cs typeface="Arial"/>
                <a:sym typeface="Arial"/>
              </a:rPr>
              <a:t> to O to Gal to O to Gal to </a:t>
            </a:r>
            <a:r>
              <a:rPr lang="en-US" sz="1200" b="0" i="0" u="none" strike="noStrike" kern="1200" cap="none" dirty="0" err="1">
                <a:solidFill>
                  <a:schemeClr val="dk1"/>
                </a:solidFill>
                <a:effectLst/>
                <a:latin typeface="Arial"/>
                <a:ea typeface="Arial"/>
                <a:cs typeface="Arial"/>
                <a:sym typeface="Arial"/>
              </a:rPr>
              <a:t>SiA</a:t>
            </a:r>
            <a:r>
              <a:rPr lang="en-US" sz="1200" b="0" i="0" u="none" strike="noStrike" kern="1200" cap="none" dirty="0">
                <a:solidFill>
                  <a:schemeClr val="dk1"/>
                </a:solidFill>
                <a:effectLst/>
                <a:latin typeface="Arial"/>
                <a:ea typeface="Arial"/>
                <a:cs typeface="Arial"/>
                <a:sym typeface="Arial"/>
              </a:rPr>
              <a:t> negative. The carbohydrate chain is connected to serine, which is C H single bond C H subscript 2 single bond O bond. The C of C H has a N to H bond and a C double bond O bond. The carbohydrate group is linked to O.</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5870831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734108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1872628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1917228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electron micrograph of an intestinal epithelial cell shows finger-like projections called microvilli and the cell surface with </a:t>
            </a:r>
            <a:r>
              <a:rPr lang="en-US" sz="1200" b="0" i="0" u="none" strike="noStrike" kern="1200" cap="none" dirty="0" err="1">
                <a:solidFill>
                  <a:schemeClr val="dk1"/>
                </a:solidFill>
                <a:effectLst/>
                <a:latin typeface="Arial"/>
                <a:ea typeface="Arial"/>
                <a:cs typeface="Arial"/>
                <a:sym typeface="Arial"/>
              </a:rPr>
              <a:t>glycocalyx</a:t>
            </a:r>
            <a:r>
              <a:rPr lang="en-US" sz="1200" b="0" i="0" u="none" strike="noStrike" kern="1200" cap="none" dirty="0">
                <a:solidFill>
                  <a:schemeClr val="dk1"/>
                </a:solidFill>
                <a:effectLst/>
                <a:latin typeface="Arial"/>
                <a:ea typeface="Arial"/>
                <a:cs typeface="Arial"/>
                <a:sym typeface="Arial"/>
              </a:rPr>
              <a:t>. The measurement at the bottom left end reads 500 nanometers.</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9698294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879616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2716100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0885257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process is explained as below:</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Mouse and human cells with mouse-specific (m) membrane proteins and human-specific (h) membrane proteins are added.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On treatment with virus, hybrid cell is produced by virus-induced fusion.</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On exposure to fluorescent antibodies, membrane proteins labeled with specific fluorescent antibodies is formed. It shows distinct molecules of mouse cell and human cell on two sides joined at the center.</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In a short time of 5 minutes, the labeled proteins begin to mix. The molecules mix together forming a circular chain of molecules.</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After a longer time of 40 minutes, labeled proteins completely mix.</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0053079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072943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4716030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5062420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6762741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88431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0112579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description is as below:</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Human erythrocytes are small red-colored disc-shaped cells. The measurement at the bottom left end reads 5 micrometers.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parts labeled on the erythrocyte plasma membrane are </a:t>
            </a:r>
            <a:r>
              <a:rPr lang="en-US" sz="1200" b="0" i="0" u="none" strike="noStrike" kern="1200" cap="none" dirty="0" err="1">
                <a:solidFill>
                  <a:schemeClr val="dk1"/>
                </a:solidFill>
                <a:effectLst/>
                <a:latin typeface="Arial"/>
                <a:ea typeface="Arial"/>
                <a:cs typeface="Arial"/>
                <a:sym typeface="Arial"/>
              </a:rPr>
              <a:t>spectrin</a:t>
            </a:r>
            <a:r>
              <a:rPr lang="en-US" sz="1200" b="0" i="0" u="none" strike="noStrike" kern="1200" cap="none" dirty="0">
                <a:solidFill>
                  <a:schemeClr val="dk1"/>
                </a:solidFill>
                <a:effectLst/>
                <a:latin typeface="Arial"/>
                <a:ea typeface="Arial"/>
                <a:cs typeface="Arial"/>
                <a:sym typeface="Arial"/>
              </a:rPr>
              <a:t> or tetramer, band 4.1 protein, band 3 protein or dimers, </a:t>
            </a:r>
            <a:r>
              <a:rPr lang="en-US" sz="1200" b="0" i="0" u="none" strike="noStrike" kern="1200" cap="none" dirty="0" err="1">
                <a:solidFill>
                  <a:schemeClr val="dk1"/>
                </a:solidFill>
                <a:effectLst/>
                <a:latin typeface="Arial"/>
                <a:ea typeface="Arial"/>
                <a:cs typeface="Arial"/>
                <a:sym typeface="Arial"/>
              </a:rPr>
              <a:t>ankyrin</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glycophorins</a:t>
            </a:r>
            <a:r>
              <a:rPr lang="en-US" sz="1200" b="0" i="0" u="none" strike="noStrike" kern="1200" cap="none" dirty="0">
                <a:solidFill>
                  <a:schemeClr val="dk1"/>
                </a:solidFill>
                <a:effectLst/>
                <a:latin typeface="Arial"/>
                <a:ea typeface="Arial"/>
                <a:cs typeface="Arial"/>
                <a:sym typeface="Arial"/>
              </a:rPr>
              <a:t>, and actin. The inner surface of the lipid bilayer is the inner membrane surface and the outer layer is the outer membrane surface. </a:t>
            </a:r>
            <a:endParaRPr lang="en-IN"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03893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redi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088476"/>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Picture Placeholder 2">
            <a:extLst>
              <a:ext uri="{FF2B5EF4-FFF2-40B4-BE49-F238E27FC236}">
                <a16:creationId xmlns:a16="http://schemas.microsoft.com/office/drawing/2014/main" id="{9349B39A-AC01-4073-85EF-922E8DBA6C0A}"/>
              </a:ext>
            </a:extLst>
          </p:cNvPr>
          <p:cNvSpPr>
            <a:spLocks noGrp="1"/>
          </p:cNvSpPr>
          <p:nvPr>
            <p:ph type="pic" sz="quarter" idx="18"/>
          </p:nvPr>
        </p:nvSpPr>
        <p:spPr>
          <a:xfrm>
            <a:off x="457200" y="1517650"/>
            <a:ext cx="4178300" cy="4608513"/>
          </a:xfrm>
        </p:spPr>
        <p:txBody>
          <a:bodyPr/>
          <a:lstStyle/>
          <a:p>
            <a:endParaRPr lang="en-IN" dirty="0"/>
          </a:p>
        </p:txBody>
      </p:sp>
      <p:pic>
        <p:nvPicPr>
          <p:cNvPr id="11" name="Logo" descr="Pearson Logo"/>
          <p:cNvPicPr preferRelativeResize="0"/>
          <p:nvPr userDrawn="1"/>
        </p:nvPicPr>
        <p:blipFill rotWithShape="1">
          <a:blip r:embed="rId2">
            <a:alphaModFix/>
          </a:blip>
          <a:srcRect/>
          <a:stretch/>
        </p:blipFill>
        <p:spPr>
          <a:xfrm>
            <a:off x="443972" y="6429709"/>
            <a:ext cx="917999" cy="279914"/>
          </a:xfrm>
          <a:prstGeom prst="rect">
            <a:avLst/>
          </a:prstGeom>
          <a:noFill/>
          <a:ln>
            <a:noFill/>
          </a:ln>
        </p:spPr>
      </p:pic>
      <p:sp>
        <p:nvSpPr>
          <p:cNvPr id="4" name="Content Placeholder 3">
            <a:extLst>
              <a:ext uri="{FF2B5EF4-FFF2-40B4-BE49-F238E27FC236}">
                <a16:creationId xmlns:a16="http://schemas.microsoft.com/office/drawing/2014/main" id="{9DBB0BF2-5162-4B6F-B06E-C4298E10EA5D}"/>
              </a:ext>
            </a:extLst>
          </p:cNvPr>
          <p:cNvSpPr>
            <a:spLocks noGrp="1"/>
          </p:cNvSpPr>
          <p:nvPr>
            <p:ph sz="quarter" idx="19"/>
          </p:nvPr>
        </p:nvSpPr>
        <p:spPr>
          <a:xfrm>
            <a:off x="5145088" y="5110163"/>
            <a:ext cx="3541712" cy="674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52702911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a:p>
        </p:txBody>
      </p:sp>
    </p:spTree>
    <p:extLst>
      <p:ext uri="{BB962C8B-B14F-4D97-AF65-F5344CB8AC3E}">
        <p14:creationId xmlns:p14="http://schemas.microsoft.com/office/powerpoint/2010/main" val="127863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12/14/2021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27242072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pic>
        <p:nvPicPr>
          <p:cNvPr id="15" name="Logo" descr="Pearson Logo"/>
          <p:cNvPicPr preferRelativeResize="0"/>
          <p:nvPr userDrawn="1"/>
        </p:nvPicPr>
        <p:blipFill rotWithShape="1">
          <a:blip r:embed="rId14">
            <a:alphaModFix/>
          </a:blip>
          <a:srcRect/>
          <a:stretch/>
        </p:blipFill>
        <p:spPr>
          <a:xfrm>
            <a:off x="443972" y="6429709"/>
            <a:ext cx="917999" cy="279914"/>
          </a:xfrm>
          <a:prstGeom prst="rect">
            <a:avLst/>
          </a:prstGeom>
          <a:noFill/>
          <a:ln>
            <a:noFill/>
          </a:ln>
        </p:spPr>
      </p:pic>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82" r:id="rId5"/>
    <p:sldLayoutId id="2147483679"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73.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74.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97.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07.xml"/><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11.xml"/><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15.xml"/><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46314" y="150055"/>
            <a:ext cx="8229600" cy="622828"/>
          </a:xfrm>
        </p:spPr>
        <p:txBody>
          <a:bodyPr lIns="0" tIns="0" rIns="0" bIns="0" anchor="ctr"/>
          <a:lstStyle/>
          <a:p>
            <a:r>
              <a:rPr lang="en-US" dirty="0"/>
              <a:t>Becker’s World of the Cell</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46314" y="886872"/>
            <a:ext cx="8229600" cy="359857"/>
          </a:xfrm>
        </p:spPr>
        <p:txBody>
          <a:bodyPr lIns="0" tIns="0" rIns="0" bIns="0" anchor="ctr"/>
          <a:lstStyle/>
          <a:p>
            <a:r>
              <a:rPr lang="en-US" dirty="0">
                <a:solidFill>
                  <a:schemeClr val="tx2"/>
                </a:solidFill>
              </a:rPr>
              <a:t>Tenth Edition, Global Edition</a:t>
            </a:r>
          </a:p>
        </p:txBody>
      </p:sp>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751388" y="2704810"/>
            <a:ext cx="3891870" cy="632859"/>
          </a:xfrm>
        </p:spPr>
        <p:txBody>
          <a:bodyPr lIns="0" tIns="0" rIns="0" bIns="0" anchor="ctr"/>
          <a:lstStyle/>
          <a:p>
            <a:pPr marL="0"/>
            <a:r>
              <a:rPr lang="en-US" dirty="0"/>
              <a:t>Chapter 7</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751388" y="3488060"/>
            <a:ext cx="3891868" cy="743444"/>
          </a:xfrm>
        </p:spPr>
        <p:txBody>
          <a:bodyPr lIns="0" tIns="0" rIns="0" bIns="0" anchor="ctr"/>
          <a:lstStyle/>
          <a:p>
            <a:pPr marL="0"/>
            <a:r>
              <a:rPr lang="en-US" dirty="0"/>
              <a:t>Membranes: Their Structure, Function, and Chemistry</a:t>
            </a:r>
          </a:p>
        </p:txBody>
      </p:sp>
      <p:sp>
        <p:nvSpPr>
          <p:cNvPr id="9" name="Content Placeholder 8">
            <a:extLst>
              <a:ext uri="{FF2B5EF4-FFF2-40B4-BE49-F238E27FC236}">
                <a16:creationId xmlns:a16="http://schemas.microsoft.com/office/drawing/2014/main" id="{7D27DE78-5C56-452E-9384-36BEE8BECDFE}"/>
              </a:ext>
            </a:extLst>
          </p:cNvPr>
          <p:cNvSpPr>
            <a:spLocks noGrp="1"/>
          </p:cNvSpPr>
          <p:nvPr>
            <p:ph sz="quarter" idx="19"/>
          </p:nvPr>
        </p:nvSpPr>
        <p:spPr>
          <a:xfrm>
            <a:off x="4771179" y="5549712"/>
            <a:ext cx="3935412" cy="557593"/>
          </a:xfrm>
        </p:spPr>
        <p:txBody>
          <a:bodyPr anchor="ctr"/>
          <a:lstStyle/>
          <a:p>
            <a:pPr marL="0" indent="0">
              <a:buNone/>
            </a:pPr>
            <a:r>
              <a:rPr lang="en-US" sz="1400" dirty="0">
                <a:latin typeface="+mn-lt"/>
              </a:rPr>
              <a:t>Lectures by Anna </a:t>
            </a:r>
            <a:r>
              <a:rPr lang="en-US" sz="1400" dirty="0" err="1">
                <a:latin typeface="+mn-lt"/>
              </a:rPr>
              <a:t>Hegsted</a:t>
            </a:r>
            <a:r>
              <a:rPr lang="en-US" sz="1400" dirty="0">
                <a:latin typeface="+mn-lt"/>
              </a:rPr>
              <a:t>, Simon Fraser University</a:t>
            </a:r>
            <a:endParaRPr lang="en-IN" sz="1400" dirty="0">
              <a:latin typeface="+mn-lt"/>
            </a:endParaRPr>
          </a:p>
        </p:txBody>
      </p:sp>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p:txBody>
          <a:bodyPr/>
          <a:lstStyle/>
          <a:p>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pic>
        <p:nvPicPr>
          <p:cNvPr id="11" name="Picture 10" descr="Front Cover: Becker's World of the Cell, Tenth Edition, Global Edition, by Jeff Hardin, James P Lodolce">
            <a:extLst>
              <a:ext uri="{FF2B5EF4-FFF2-40B4-BE49-F238E27FC236}">
                <a16:creationId xmlns:a16="http://schemas.microsoft.com/office/drawing/2014/main" id="{A0207618-6F6F-48F6-90DF-AFF5D0C60CC3}"/>
              </a:ext>
            </a:extLst>
          </p:cNvPr>
          <p:cNvPicPr>
            <a:picLocks noChangeAspect="1"/>
          </p:cNvPicPr>
          <p:nvPr/>
        </p:nvPicPr>
        <p:blipFill>
          <a:blip r:embed="rId3"/>
          <a:stretch>
            <a:fillRect/>
          </a:stretch>
        </p:blipFill>
        <p:spPr>
          <a:xfrm>
            <a:off x="500742" y="1368649"/>
            <a:ext cx="3926181" cy="4873827"/>
          </a:xfrm>
          <a:prstGeom prst="rect">
            <a:avLst/>
          </a:prstGeom>
        </p:spPr>
      </p:pic>
    </p:spTree>
    <p:extLst>
      <p:ext uri="{BB962C8B-B14F-4D97-AF65-F5344CB8AC3E}">
        <p14:creationId xmlns:p14="http://schemas.microsoft.com/office/powerpoint/2010/main" val="256311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2859"/>
            <a:ext cx="8263784" cy="1107996"/>
          </a:xfrm>
        </p:spPr>
        <p:txBody>
          <a:bodyPr lIns="0" tIns="0" rIns="0" bIns="0" anchor="ctr">
            <a:spAutoFit/>
          </a:bodyPr>
          <a:lstStyle/>
          <a:p>
            <a:r>
              <a:rPr lang="en-US" sz="3600" dirty="0">
                <a:latin typeface="+mj-lt"/>
              </a:rPr>
              <a:t>Membranes: Their Structure, Function, and Chemistry</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66070"/>
            <a:ext cx="8229600" cy="1300356"/>
          </a:xfrm>
        </p:spPr>
        <p:txBody>
          <a:bodyPr lIns="0" tIns="0" rIns="0" bIns="0">
            <a:spAutoFit/>
          </a:bodyPr>
          <a:lstStyle/>
          <a:p>
            <a:pPr marL="334800" indent="-334800"/>
            <a:r>
              <a:rPr lang="en-US" sz="2400" b="1" dirty="0"/>
              <a:t>Membranes</a:t>
            </a:r>
            <a:r>
              <a:rPr lang="en-US" sz="2400" dirty="0"/>
              <a:t> define the boundaries of a cell and its internal compartments.</a:t>
            </a:r>
          </a:p>
          <a:p>
            <a:pPr marL="334800" indent="-334800"/>
            <a:r>
              <a:rPr lang="en-US" sz="2400" dirty="0"/>
              <a:t>Membranes play multiple roles in the life of a cell.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227594"/>
            <a:ext cx="8229600" cy="984885"/>
          </a:xfrm>
        </p:spPr>
        <p:txBody>
          <a:bodyPr lIns="0" tIns="0" rIns="0" bIns="0" anchor="ctr">
            <a:spAutoFit/>
          </a:bodyPr>
          <a:lstStyle/>
          <a:p>
            <a:r>
              <a:rPr lang="en-US" sz="3200" dirty="0"/>
              <a:t>The Prominence of Membranes Around and Within Eukaryotic Cells</a:t>
            </a:r>
            <a:endParaRPr lang="en-US" sz="3000" dirty="0"/>
          </a:p>
        </p:txBody>
      </p:sp>
      <p:sp>
        <p:nvSpPr>
          <p:cNvPr id="5"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526548"/>
            <a:ext cx="8263784" cy="738664"/>
          </a:xfrm>
          <a:prstGeom prst="rect">
            <a:avLst/>
          </a:prstGeom>
        </p:spPr>
        <p:txBody>
          <a:bodyPr lIns="0" tIns="0" rIns="0" bIns="0">
            <a:spAutoFit/>
          </a:bodyPr>
          <a:lstStyle/>
          <a:p>
            <a:pPr marL="0" indent="0">
              <a:buNone/>
            </a:pPr>
            <a:r>
              <a:rPr lang="en-US" sz="2400" b="1" dirty="0"/>
              <a:t>Figure 7.1 </a:t>
            </a:r>
            <a:r>
              <a:rPr lang="en-US" sz="2400" dirty="0"/>
              <a:t>The Prominence of Membranes Around and Within Eukaryotic Cells.</a:t>
            </a:r>
          </a:p>
        </p:txBody>
      </p:sp>
      <p:pic>
        <p:nvPicPr>
          <p:cNvPr id="11" name="Picture Placeholder 10" descr="The image shows the electron micrograph of the membranes around and within eukaryotic cells. The image “a” is of rat pancreas cells and the image “b” is of a plant leaf cell show the multiple parts of a cell within the plasma membran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03"/>
          <a:stretch/>
        </p:blipFill>
        <p:spPr>
          <a:xfrm>
            <a:off x="813258" y="2589192"/>
            <a:ext cx="7517484" cy="3502009"/>
          </a:xfrm>
        </p:spPr>
      </p:pic>
    </p:spTree>
    <p:extLst>
      <p:ext uri="{BB962C8B-B14F-4D97-AF65-F5344CB8AC3E}">
        <p14:creationId xmlns:p14="http://schemas.microsoft.com/office/powerpoint/2010/main" val="3288742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201854"/>
            <a:ext cx="8263784" cy="523220"/>
          </a:xfrm>
        </p:spPr>
        <p:txBody>
          <a:bodyPr lIns="0" tIns="0" rIns="0" bIns="0" anchor="ctr">
            <a:spAutoFit/>
          </a:bodyPr>
          <a:lstStyle/>
          <a:p>
            <a:r>
              <a:rPr lang="en-US" dirty="0">
                <a:latin typeface="+mj-lt"/>
              </a:rPr>
              <a:t>7.1 The Functions of Membranes </a:t>
            </a:r>
            <a:r>
              <a:rPr lang="en-US" sz="26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6852"/>
            <a:ext cx="8263784" cy="2970044"/>
          </a:xfrm>
        </p:spPr>
        <p:txBody>
          <a:bodyPr lIns="0" tIns="0" rIns="0" bIns="0">
            <a:spAutoFit/>
          </a:bodyPr>
          <a:lstStyle/>
          <a:p>
            <a:pPr marL="334800" indent="-334800">
              <a:buFont typeface="+mj-lt"/>
              <a:buAutoNum type="arabicPeriod"/>
            </a:pPr>
            <a:r>
              <a:rPr lang="en-US" sz="2400" dirty="0">
                <a:solidFill>
                  <a:schemeClr val="tx1"/>
                </a:solidFill>
              </a:rPr>
              <a:t>Define boundaries of a cell and organelles and act as permeability barriers.</a:t>
            </a:r>
          </a:p>
          <a:p>
            <a:pPr marL="334800" indent="-334800">
              <a:buFont typeface="+mj-lt"/>
              <a:buAutoNum type="arabicPeriod"/>
            </a:pPr>
            <a:r>
              <a:rPr lang="en-US" sz="2400" dirty="0">
                <a:solidFill>
                  <a:schemeClr val="tx1"/>
                </a:solidFill>
              </a:rPr>
              <a:t>Serve as sites for biological functions, such as electron transport in the mitochondria or protein processing in the ER.</a:t>
            </a:r>
          </a:p>
          <a:p>
            <a:pPr marL="334800" indent="-334800">
              <a:buFont typeface="+mj-lt"/>
              <a:buAutoNum type="arabicPeriod"/>
            </a:pPr>
            <a:r>
              <a:rPr lang="en-US" sz="2400" dirty="0">
                <a:solidFill>
                  <a:schemeClr val="tx1"/>
                </a:solidFill>
              </a:rPr>
              <a:t>Possess transport proteins that regulate the movement of substances into and out of cells and organelles.</a:t>
            </a:r>
          </a:p>
        </p:txBody>
      </p:sp>
    </p:spTree>
    <p:extLst>
      <p:ext uri="{BB962C8B-B14F-4D97-AF65-F5344CB8AC3E}">
        <p14:creationId xmlns:p14="http://schemas.microsoft.com/office/powerpoint/2010/main" val="1541142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201855"/>
            <a:ext cx="8263784" cy="523220"/>
          </a:xfrm>
        </p:spPr>
        <p:txBody>
          <a:bodyPr lIns="0" tIns="0" rIns="0" bIns="0" anchor="ctr">
            <a:spAutoFit/>
          </a:bodyPr>
          <a:lstStyle/>
          <a:p>
            <a:r>
              <a:rPr lang="en-US" dirty="0">
                <a:latin typeface="+mj-lt"/>
              </a:rPr>
              <a:t>7.1 The Functions of Membranes </a:t>
            </a:r>
            <a:r>
              <a:rPr lang="en-US" sz="2600" dirty="0">
                <a:latin typeface="+mj-lt"/>
              </a:rPr>
              <a:t>(2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6852"/>
            <a:ext cx="8263784" cy="1669688"/>
          </a:xfrm>
        </p:spPr>
        <p:txBody>
          <a:bodyPr lIns="0" tIns="0" rIns="0" bIns="0">
            <a:spAutoFit/>
          </a:bodyPr>
          <a:lstStyle/>
          <a:p>
            <a:pPr marL="334800" indent="-334800">
              <a:buFont typeface="+mj-lt"/>
              <a:buAutoNum type="arabicPeriod" startAt="4"/>
            </a:pPr>
            <a:r>
              <a:rPr lang="en-US" sz="2400" dirty="0"/>
              <a:t>Contain protein molecules that act as receptors to detect external signals.</a:t>
            </a:r>
          </a:p>
          <a:p>
            <a:pPr marL="334800" indent="-334800">
              <a:buFont typeface="+mj-lt"/>
              <a:buAutoNum type="arabicPeriod" startAt="4"/>
            </a:pPr>
            <a:r>
              <a:rPr lang="en-US" sz="2400" dirty="0"/>
              <a:t>Provide mechanisms for cell-to-cell contact, adhesion, and communication.</a:t>
            </a:r>
          </a:p>
        </p:txBody>
      </p:sp>
    </p:spTree>
    <p:extLst>
      <p:ext uri="{BB962C8B-B14F-4D97-AF65-F5344CB8AC3E}">
        <p14:creationId xmlns:p14="http://schemas.microsoft.com/office/powerpoint/2010/main" val="3806754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0071"/>
            <a:ext cx="8229600" cy="553998"/>
          </a:xfrm>
        </p:spPr>
        <p:txBody>
          <a:bodyPr lIns="0" tIns="0" rIns="0" bIns="0" anchor="ctr">
            <a:spAutoFit/>
          </a:bodyPr>
          <a:lstStyle/>
          <a:p>
            <a:r>
              <a:rPr lang="en-US" dirty="0"/>
              <a:t>Functions of Membranes</a:t>
            </a:r>
          </a:p>
        </p:txBody>
      </p:sp>
      <p:sp>
        <p:nvSpPr>
          <p:cNvPr id="5"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22199" y="1149477"/>
            <a:ext cx="8263784" cy="369332"/>
          </a:xfrm>
          <a:prstGeom prst="rect">
            <a:avLst/>
          </a:prstGeom>
        </p:spPr>
        <p:txBody>
          <a:bodyPr lIns="0" tIns="0" rIns="0" bIns="0">
            <a:spAutoFit/>
          </a:bodyPr>
          <a:lstStyle/>
          <a:p>
            <a:pPr marL="0" indent="0">
              <a:buNone/>
            </a:pPr>
            <a:r>
              <a:rPr lang="en-US" sz="2400" b="1" dirty="0"/>
              <a:t>Figure 7.2</a:t>
            </a:r>
            <a:r>
              <a:rPr lang="en-US" sz="2400" dirty="0"/>
              <a:t> Functions of Membranes.</a:t>
            </a:r>
          </a:p>
        </p:txBody>
      </p:sp>
      <p:pic>
        <p:nvPicPr>
          <p:cNvPr id="11" name="Picture Placeholder 10" descr="The illustration shows five functions of a cell membrane. A cell has an adjoining cell, a nucleus at the center, and various ions and nutrients aroun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78"/>
          <a:stretch/>
        </p:blipFill>
        <p:spPr>
          <a:xfrm>
            <a:off x="2160719" y="1913321"/>
            <a:ext cx="4822563" cy="4397218"/>
          </a:xfrm>
        </p:spPr>
      </p:pic>
    </p:spTree>
    <p:extLst>
      <p:ext uri="{BB962C8B-B14F-4D97-AF65-F5344CB8AC3E}">
        <p14:creationId xmlns:p14="http://schemas.microsoft.com/office/powerpoint/2010/main" val="3088990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a:latin typeface="+mj-lt"/>
              </a:rPr>
              <a:t>Membranes Define Boundaries and Serve as Permeability Barriers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2970044"/>
          </a:xfrm>
        </p:spPr>
        <p:txBody>
          <a:bodyPr lIns="0" tIns="0" rIns="0" bIns="0">
            <a:spAutoFit/>
          </a:bodyPr>
          <a:lstStyle/>
          <a:p>
            <a:pPr marL="334800" indent="-334800"/>
            <a:r>
              <a:rPr lang="en-US" sz="2400" dirty="0"/>
              <a:t>Membranes define boundaries of the cell and its components.</a:t>
            </a:r>
          </a:p>
          <a:p>
            <a:pPr marL="334800" indent="-334800"/>
            <a:r>
              <a:rPr lang="en-US" sz="2400" dirty="0"/>
              <a:t>They are effective permeability barriers because their interior is hydrophobic.</a:t>
            </a:r>
          </a:p>
          <a:p>
            <a:pPr marL="334800" indent="-334800"/>
            <a:r>
              <a:rPr lang="en-US" sz="2400" dirty="0"/>
              <a:t>The </a:t>
            </a:r>
            <a:r>
              <a:rPr lang="en-US" sz="2400" b="1" dirty="0"/>
              <a:t>plasma membrane</a:t>
            </a:r>
            <a:r>
              <a:rPr lang="en-US" sz="2400" dirty="0"/>
              <a:t> surrounds the whole cell, whereas </a:t>
            </a:r>
            <a:r>
              <a:rPr lang="en-US" sz="2400" b="1" dirty="0"/>
              <a:t>intracellular membranes</a:t>
            </a:r>
            <a:r>
              <a:rPr lang="en-US" sz="2400" dirty="0"/>
              <a:t> compartmentalize functions within the cell.</a:t>
            </a:r>
          </a:p>
        </p:txBody>
      </p:sp>
    </p:spTree>
    <p:extLst>
      <p:ext uri="{BB962C8B-B14F-4D97-AF65-F5344CB8AC3E}">
        <p14:creationId xmlns:p14="http://schemas.microsoft.com/office/powerpoint/2010/main" val="2951516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a:latin typeface="+mj-lt"/>
              </a:rPr>
              <a:t>Membranes Contain Specific Proteins and Therefore of Specific Functions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2408352"/>
          </a:xfrm>
        </p:spPr>
        <p:txBody>
          <a:bodyPr lIns="0" tIns="0" rIns="0" bIns="0">
            <a:spAutoFit/>
          </a:bodyPr>
          <a:lstStyle/>
          <a:p>
            <a:pPr marL="334800" indent="-334800"/>
            <a:r>
              <a:rPr lang="en-US" sz="2400" dirty="0"/>
              <a:t>Membranes are associated with specific functions because the molecules responsible for the functions are embedded in or localized on membranes.</a:t>
            </a:r>
          </a:p>
          <a:p>
            <a:pPr marL="334800" indent="-334800"/>
            <a:r>
              <a:rPr lang="en-US" sz="2400" dirty="0"/>
              <a:t>The specific enzymes associated with particular membranes can be used to characterize a specific membrane.</a:t>
            </a:r>
          </a:p>
        </p:txBody>
      </p:sp>
    </p:spTree>
    <p:extLst>
      <p:ext uri="{BB962C8B-B14F-4D97-AF65-F5344CB8AC3E}">
        <p14:creationId xmlns:p14="http://schemas.microsoft.com/office/powerpoint/2010/main" val="1792945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a:latin typeface="+mj-lt"/>
              </a:rPr>
              <a:t>Membrane Proteins Regulate the Transport of Solutes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2970044"/>
          </a:xfrm>
        </p:spPr>
        <p:txBody>
          <a:bodyPr lIns="0" tIns="0" rIns="0" bIns="0">
            <a:spAutoFit/>
          </a:bodyPr>
          <a:lstStyle/>
          <a:p>
            <a:pPr marL="334800" indent="-334800"/>
            <a:r>
              <a:rPr lang="en-US" sz="2400" dirty="0"/>
              <a:t>Membrane proteins carry out and regulate the </a:t>
            </a:r>
            <a:r>
              <a:rPr lang="en-US" sz="2400" i="1" dirty="0"/>
              <a:t>transport</a:t>
            </a:r>
            <a:r>
              <a:rPr lang="en-US" sz="2400" dirty="0"/>
              <a:t> of substances across the membrane.</a:t>
            </a:r>
          </a:p>
          <a:p>
            <a:pPr marL="334800" indent="-334800"/>
            <a:r>
              <a:rPr lang="en-US" sz="2400" dirty="0"/>
              <a:t>Cells and organelles take up nutrients, ions, gases, water, and other substances, and they expel products and wastes.</a:t>
            </a:r>
          </a:p>
          <a:p>
            <a:pPr marL="334800" indent="-334800"/>
            <a:r>
              <a:rPr lang="en-US" sz="2400" dirty="0"/>
              <a:t>Some substances diffuse directly across membranes, whereas others must be moved by specific transporters.</a:t>
            </a:r>
          </a:p>
        </p:txBody>
      </p:sp>
    </p:spTree>
    <p:extLst>
      <p:ext uri="{BB962C8B-B14F-4D97-AF65-F5344CB8AC3E}">
        <p14:creationId xmlns:p14="http://schemas.microsoft.com/office/powerpoint/2010/main" val="220034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1423"/>
            <a:ext cx="8263784" cy="1661993"/>
          </a:xfrm>
        </p:spPr>
        <p:txBody>
          <a:bodyPr lIns="0" tIns="0" rIns="0" bIns="0" anchor="ctr">
            <a:spAutoFit/>
          </a:bodyPr>
          <a:lstStyle/>
          <a:p>
            <a:r>
              <a:rPr lang="en-US" sz="3600" dirty="0">
                <a:latin typeface="+mj-lt"/>
              </a:rPr>
              <a:t>Membrane Proteins Detect and Transmit Electrical and Chemical Signals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2228277"/>
            <a:ext cx="8263784" cy="3339376"/>
          </a:xfrm>
        </p:spPr>
        <p:txBody>
          <a:bodyPr lIns="0" tIns="0" rIns="0" bIns="0">
            <a:spAutoFit/>
          </a:bodyPr>
          <a:lstStyle/>
          <a:p>
            <a:pPr marL="334800" indent="-334800"/>
            <a:r>
              <a:rPr lang="en-US" sz="2400" dirty="0"/>
              <a:t>A cell receives information from its environment as electrical or chemical signals at its surface.</a:t>
            </a:r>
          </a:p>
          <a:p>
            <a:pPr marL="334800" indent="-334800"/>
            <a:r>
              <a:rPr lang="en-US" sz="2400" i="1" dirty="0"/>
              <a:t>Signal transduction</a:t>
            </a:r>
            <a:r>
              <a:rPr lang="en-US" sz="2400" dirty="0"/>
              <a:t> describes the mechanisms by which signals are transmitted from the outer surface to the interior of a cell.</a:t>
            </a:r>
          </a:p>
          <a:p>
            <a:pPr marL="334800" indent="-334800"/>
            <a:r>
              <a:rPr lang="en-US" sz="2400" dirty="0"/>
              <a:t>Chemical signal molecules usually bind to membrane proteins, known as </a:t>
            </a:r>
            <a:r>
              <a:rPr lang="en-US" sz="2400" i="1" dirty="0"/>
              <a:t>receptors</a:t>
            </a:r>
            <a:r>
              <a:rPr lang="en-US" sz="2400" dirty="0"/>
              <a:t>, on the outer surface of the plasma membrane.</a:t>
            </a:r>
          </a:p>
        </p:txBody>
      </p:sp>
    </p:spTree>
    <p:extLst>
      <p:ext uri="{BB962C8B-B14F-4D97-AF65-F5344CB8AC3E}">
        <p14:creationId xmlns:p14="http://schemas.microsoft.com/office/powerpoint/2010/main" val="268448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6466"/>
            <a:ext cx="8263784" cy="553998"/>
          </a:xfrm>
        </p:spPr>
        <p:txBody>
          <a:bodyPr lIns="0" tIns="0" rIns="0" bIns="0" anchor="ctr">
            <a:spAutoFit/>
          </a:bodyPr>
          <a:lstStyle/>
          <a:p>
            <a:r>
              <a:rPr lang="en-US" sz="3600" dirty="0">
                <a:latin typeface="+mj-lt"/>
              </a:rPr>
              <a:t>Signal Transduction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6852"/>
            <a:ext cx="8263784" cy="2408352"/>
          </a:xfrm>
        </p:spPr>
        <p:txBody>
          <a:bodyPr lIns="0" tIns="0" rIns="0" bIns="0">
            <a:spAutoFit/>
          </a:bodyPr>
          <a:lstStyle/>
          <a:p>
            <a:pPr marL="334800" indent="-334800"/>
            <a:r>
              <a:rPr lang="en-US" sz="2400" dirty="0"/>
              <a:t>Binding of signal molecules to their receptors triggers chemical events on the inner membrane surface that ultimately lead to changes in cell function.</a:t>
            </a:r>
          </a:p>
          <a:p>
            <a:pPr marL="334800" indent="-334800"/>
            <a:r>
              <a:rPr lang="en-US" sz="2400" dirty="0"/>
              <a:t>Membrane receptors allow cells to recognize, transmit, and respond to a variety of specific signals in nearly all types of cells.</a:t>
            </a:r>
          </a:p>
        </p:txBody>
      </p:sp>
    </p:spTree>
    <p:extLst>
      <p:ext uri="{BB962C8B-B14F-4D97-AF65-F5344CB8AC3E}">
        <p14:creationId xmlns:p14="http://schemas.microsoft.com/office/powerpoint/2010/main" val="368423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1423"/>
            <a:ext cx="8263784" cy="1661993"/>
          </a:xfrm>
        </p:spPr>
        <p:txBody>
          <a:bodyPr lIns="0" tIns="0" rIns="0" bIns="0" anchor="ctr">
            <a:spAutoFit/>
          </a:bodyPr>
          <a:lstStyle/>
          <a:p>
            <a:r>
              <a:rPr lang="en-US" sz="3600" dirty="0">
                <a:latin typeface="+mj-lt"/>
              </a:rPr>
              <a:t>Membrane Proteins Mediate Cell Adhesion and Cell-to-Cell Communication</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2228277"/>
            <a:ext cx="8263784" cy="3901068"/>
          </a:xfrm>
        </p:spPr>
        <p:txBody>
          <a:bodyPr lIns="0" tIns="0" rIns="0" bIns="0">
            <a:spAutoFit/>
          </a:bodyPr>
          <a:lstStyle/>
          <a:p>
            <a:pPr marL="334800" indent="-334800"/>
            <a:r>
              <a:rPr lang="en-US" sz="2400" dirty="0"/>
              <a:t>In multicellular organisms, cells are generally in contact with other cells.</a:t>
            </a:r>
          </a:p>
          <a:p>
            <a:pPr marL="334800" indent="-334800"/>
            <a:r>
              <a:rPr lang="en-US" sz="2400" i="1" dirty="0"/>
              <a:t>Adhesive junctions</a:t>
            </a:r>
            <a:r>
              <a:rPr lang="en-US" sz="2400" dirty="0"/>
              <a:t> hold cells together and are mediated by </a:t>
            </a:r>
            <a:r>
              <a:rPr lang="en-US" sz="2400" i="1" dirty="0" err="1"/>
              <a:t>cadherins</a:t>
            </a:r>
            <a:r>
              <a:rPr lang="en-US" sz="2400" dirty="0"/>
              <a:t>.</a:t>
            </a:r>
          </a:p>
          <a:p>
            <a:pPr marL="334800" indent="-334800"/>
            <a:r>
              <a:rPr lang="en-US" sz="2400" i="1" dirty="0"/>
              <a:t>Tight junctions</a:t>
            </a:r>
            <a:r>
              <a:rPr lang="en-US" sz="2400" dirty="0"/>
              <a:t> form seals that block the passage of fluids between cells.</a:t>
            </a:r>
          </a:p>
          <a:p>
            <a:pPr marL="334800" indent="-334800"/>
            <a:r>
              <a:rPr lang="en-US" sz="2400" i="1" dirty="0"/>
              <a:t>Gap junctions</a:t>
            </a:r>
            <a:r>
              <a:rPr lang="en-US" sz="2400" dirty="0"/>
              <a:t> allow for communication between adjacent animal cells and </a:t>
            </a:r>
            <a:r>
              <a:rPr lang="en-US" sz="2400" i="1" dirty="0" err="1"/>
              <a:t>plasmodesmata</a:t>
            </a:r>
            <a:r>
              <a:rPr lang="en-US" sz="2400" dirty="0"/>
              <a:t> perform a similar function in plant cells.</a:t>
            </a:r>
          </a:p>
        </p:txBody>
      </p:sp>
    </p:spTree>
    <p:extLst>
      <p:ext uri="{BB962C8B-B14F-4D97-AF65-F5344CB8AC3E}">
        <p14:creationId xmlns:p14="http://schemas.microsoft.com/office/powerpoint/2010/main" val="2725529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a:latin typeface="+mj-lt"/>
              </a:rPr>
              <a:t>7.2 Models of Membrane Structure:  An Experimental Perspective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3531736"/>
          </a:xfrm>
        </p:spPr>
        <p:txBody>
          <a:bodyPr lIns="0" tIns="0" rIns="0" bIns="0">
            <a:spAutoFit/>
          </a:bodyPr>
          <a:lstStyle/>
          <a:p>
            <a:pPr marL="334800" indent="-334800"/>
            <a:r>
              <a:rPr lang="en-US" sz="2400" dirty="0"/>
              <a:t>The </a:t>
            </a:r>
            <a:r>
              <a:rPr lang="en-US" sz="2400" i="1" dirty="0"/>
              <a:t>fluid mosaic model </a:t>
            </a:r>
            <a:r>
              <a:rPr lang="en-US" sz="2400" dirty="0"/>
              <a:t>is thought to be descriptive of all biological membranes.</a:t>
            </a:r>
          </a:p>
          <a:p>
            <a:pPr marL="334800" indent="-334800"/>
            <a:r>
              <a:rPr lang="en-US" sz="2400" dirty="0"/>
              <a:t>The model envisions a membrane as two fluid layers of lipids with proteins within and on the layers.</a:t>
            </a:r>
          </a:p>
          <a:p>
            <a:pPr marL="334800" indent="-334800"/>
            <a:r>
              <a:rPr lang="en-US" sz="2400" dirty="0"/>
              <a:t>It is fluid because lipids and proteins can easily move laterally in the membrane. </a:t>
            </a:r>
          </a:p>
          <a:p>
            <a:pPr marL="334800" indent="-334800"/>
            <a:r>
              <a:rPr lang="en-US" sz="2400" dirty="0"/>
              <a:t>It is mosaic because of the presence of proteins within the membrane.</a:t>
            </a:r>
          </a:p>
        </p:txBody>
      </p:sp>
    </p:spTree>
    <p:extLst>
      <p:ext uri="{BB962C8B-B14F-4D97-AF65-F5344CB8AC3E}">
        <p14:creationId xmlns:p14="http://schemas.microsoft.com/office/powerpoint/2010/main" val="70536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a:latin typeface="+mj-lt"/>
              </a:rPr>
              <a:t>Overton and Langmuir: Lipids Are Important Components of Membranes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2777683"/>
          </a:xfrm>
        </p:spPr>
        <p:txBody>
          <a:bodyPr lIns="0" tIns="0" rIns="0" bIns="0">
            <a:spAutoFit/>
          </a:bodyPr>
          <a:lstStyle/>
          <a:p>
            <a:pPr marL="334800" indent="-334800"/>
            <a:r>
              <a:rPr lang="en-US" sz="2400" dirty="0"/>
              <a:t>In the 1890s, Charles Overton observed the easy penetration of lipid-soluble substances into cells and concluded that the cell surface had a lipid </a:t>
            </a:r>
            <a:r>
              <a:rPr lang="en-US" altLang="ja-JP" sz="2400" dirty="0"/>
              <a:t>“coat” on it.</a:t>
            </a:r>
          </a:p>
          <a:p>
            <a:pPr marL="334800" indent="-334800"/>
            <a:r>
              <a:rPr lang="en-US" sz="2400" dirty="0"/>
              <a:t>Irving Langmuir dissolved phospholipids in benzene and found that they formed a monolayer on water. Because they are </a:t>
            </a:r>
            <a:r>
              <a:rPr lang="en-US" sz="2400" i="1" dirty="0"/>
              <a:t>amphipathic</a:t>
            </a:r>
            <a:r>
              <a:rPr lang="en-US" sz="2400" dirty="0"/>
              <a:t>,</a:t>
            </a:r>
            <a:r>
              <a:rPr lang="en-US" sz="2400" i="1" dirty="0"/>
              <a:t> </a:t>
            </a:r>
            <a:r>
              <a:rPr lang="en-US" sz="2400" dirty="0"/>
              <a:t>he reasoned that they must orient on water, with the hydrophobic tails away from the water.</a:t>
            </a:r>
          </a:p>
        </p:txBody>
      </p:sp>
    </p:spTree>
    <p:extLst>
      <p:ext uri="{BB962C8B-B14F-4D97-AF65-F5344CB8AC3E}">
        <p14:creationId xmlns:p14="http://schemas.microsoft.com/office/powerpoint/2010/main" val="2506763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292070"/>
            <a:ext cx="8243312" cy="800219"/>
          </a:xfrm>
        </p:spPr>
        <p:txBody>
          <a:bodyPr wrap="square" lIns="0" tIns="0" rIns="0" bIns="0" anchor="ctr">
            <a:spAutoFit/>
          </a:bodyPr>
          <a:lstStyle/>
          <a:p>
            <a:r>
              <a:rPr lang="en-US" sz="2600" dirty="0"/>
              <a:t>Timeline for Development of the Fluid Mosaic Model: Lipid Nature of Membrane and Monolayer</a:t>
            </a:r>
          </a:p>
        </p:txBody>
      </p:sp>
      <p:sp>
        <p:nvSpPr>
          <p:cNvPr id="5"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388940"/>
            <a:ext cx="3580816" cy="1107996"/>
          </a:xfrm>
          <a:prstGeom prst="rect">
            <a:avLst/>
          </a:prstGeom>
        </p:spPr>
        <p:txBody>
          <a:bodyPr wrap="square" lIns="0" tIns="0" rIns="0" bIns="0">
            <a:spAutoFit/>
          </a:bodyPr>
          <a:lstStyle/>
          <a:p>
            <a:pPr marL="0" indent="0">
              <a:buNone/>
            </a:pPr>
            <a:r>
              <a:rPr lang="en-US" sz="2400" b="1" dirty="0"/>
              <a:t>Figure 7.3 </a:t>
            </a:r>
            <a:r>
              <a:rPr lang="en-US" sz="2400" dirty="0"/>
              <a:t>Timeline for Development of the Fluid Mosaic Model.</a:t>
            </a:r>
          </a:p>
        </p:txBody>
      </p:sp>
      <p:pic>
        <p:nvPicPr>
          <p:cNvPr id="12" name="Picture Placeholder 11" descr="The image shows the timeline for the development of fluid mosaic model with seven steps from 1880 to 2000. It shows the chronology of membrane studies and the researchers involv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726"/>
          <a:stretch/>
        </p:blipFill>
        <p:spPr>
          <a:xfrm>
            <a:off x="5497625" y="1287420"/>
            <a:ext cx="2343377" cy="5046085"/>
          </a:xfrm>
        </p:spPr>
      </p:pic>
    </p:spTree>
    <p:extLst>
      <p:ext uri="{BB962C8B-B14F-4D97-AF65-F5344CB8AC3E}">
        <p14:creationId xmlns:p14="http://schemas.microsoft.com/office/powerpoint/2010/main" val="990717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err="1">
                <a:latin typeface="+mj-lt"/>
              </a:rPr>
              <a:t>Gorter</a:t>
            </a:r>
            <a:r>
              <a:rPr lang="en-US" sz="3600" dirty="0">
                <a:latin typeface="+mj-lt"/>
              </a:rPr>
              <a:t> and Grendel: The Basis of Membrane Structure Is a Lipid Bilayer</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3708708"/>
          </a:xfrm>
        </p:spPr>
        <p:txBody>
          <a:bodyPr lIns="0" tIns="0" rIns="0" bIns="0">
            <a:spAutoFit/>
          </a:bodyPr>
          <a:lstStyle/>
          <a:p>
            <a:pPr marL="334800" indent="-334800"/>
            <a:r>
              <a:rPr lang="en-US" sz="2400" dirty="0"/>
              <a:t>In 1925, these two physiologists extracted lipids from red blood cells and spread the lipids in a monolayer on a water surface.</a:t>
            </a:r>
          </a:p>
          <a:p>
            <a:pPr marL="334800" indent="-334800"/>
            <a:r>
              <a:rPr lang="en-US" sz="2400" dirty="0"/>
              <a:t>The film on the water was twice the surface area of the blood cells, suggesting that lipids on the cell surface consisted of two layers.</a:t>
            </a:r>
          </a:p>
          <a:p>
            <a:pPr marL="334800" indent="-334800"/>
            <a:r>
              <a:rPr lang="en-US" sz="2400" dirty="0"/>
              <a:t>They suggested that the most favorable structure would be a </a:t>
            </a:r>
            <a:r>
              <a:rPr lang="en-US" sz="2400" b="1" dirty="0"/>
              <a:t>lipid bilayer</a:t>
            </a:r>
            <a:r>
              <a:rPr lang="en-US" sz="2400" dirty="0"/>
              <a:t>, with the nonpolar regions of the lipids facing inward.</a:t>
            </a:r>
          </a:p>
        </p:txBody>
      </p:sp>
    </p:spTree>
    <p:extLst>
      <p:ext uri="{BB962C8B-B14F-4D97-AF65-F5344CB8AC3E}">
        <p14:creationId xmlns:p14="http://schemas.microsoft.com/office/powerpoint/2010/main" val="2353638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292628"/>
            <a:ext cx="8229600" cy="800219"/>
          </a:xfrm>
        </p:spPr>
        <p:txBody>
          <a:bodyPr lIns="0" tIns="0" rIns="0" bIns="0" anchor="ctr">
            <a:spAutoFit/>
          </a:bodyPr>
          <a:lstStyle/>
          <a:p>
            <a:r>
              <a:rPr lang="en-US" sz="2600" dirty="0">
                <a:latin typeface="+mn-lt"/>
              </a:rPr>
              <a:t>Timeline for Development of the Fluid Mosaic Model: Lipid Bilayer</a:t>
            </a:r>
          </a:p>
        </p:txBody>
      </p:sp>
      <p:sp>
        <p:nvSpPr>
          <p:cNvPr id="5"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517119"/>
            <a:ext cx="3744589" cy="1107996"/>
          </a:xfrm>
          <a:prstGeom prst="rect">
            <a:avLst/>
          </a:prstGeom>
        </p:spPr>
        <p:txBody>
          <a:bodyPr wrap="square" lIns="0" tIns="0" rIns="0" bIns="0">
            <a:spAutoFit/>
          </a:bodyPr>
          <a:lstStyle/>
          <a:p>
            <a:pPr marL="0" indent="0">
              <a:buNone/>
            </a:pPr>
            <a:r>
              <a:rPr lang="en-US" sz="2400" b="1" dirty="0">
                <a:latin typeface="+mn-lt"/>
              </a:rPr>
              <a:t>Figure 7.3</a:t>
            </a:r>
            <a:r>
              <a:rPr lang="en-US" sz="2400" dirty="0">
                <a:latin typeface="+mn-lt"/>
              </a:rPr>
              <a:t> Timeline for Development of the Fluid Mosaic Model. </a:t>
            </a:r>
          </a:p>
        </p:txBody>
      </p:sp>
      <p:pic>
        <p:nvPicPr>
          <p:cNvPr id="4" name="Picture Placeholder 3" descr="The image shows the timeline for the development of fluid mosaic model with seven steps from 1880 to 2000. It shows the chronology of membrane studies and the researchers involved. 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34"/>
          <a:stretch/>
        </p:blipFill>
        <p:spPr>
          <a:xfrm>
            <a:off x="5827448" y="1460791"/>
            <a:ext cx="2229643" cy="4840270"/>
          </a:xfrm>
        </p:spPr>
      </p:pic>
    </p:spTree>
    <p:extLst>
      <p:ext uri="{BB962C8B-B14F-4D97-AF65-F5344CB8AC3E}">
        <p14:creationId xmlns:p14="http://schemas.microsoft.com/office/powerpoint/2010/main" val="1758463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err="1">
                <a:latin typeface="+mj-lt"/>
              </a:rPr>
              <a:t>Davson</a:t>
            </a:r>
            <a:r>
              <a:rPr lang="en-US" sz="3600" dirty="0">
                <a:latin typeface="+mj-lt"/>
              </a:rPr>
              <a:t> and </a:t>
            </a:r>
            <a:r>
              <a:rPr lang="en-US" sz="3600" dirty="0" err="1">
                <a:latin typeface="+mj-lt"/>
              </a:rPr>
              <a:t>Danielli</a:t>
            </a:r>
            <a:r>
              <a:rPr lang="en-US" sz="3600" dirty="0">
                <a:latin typeface="+mj-lt"/>
              </a:rPr>
              <a:t>: Membranes Also Contain Proteins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3377848"/>
          </a:xfrm>
        </p:spPr>
        <p:txBody>
          <a:bodyPr lIns="0" tIns="0" rIns="0" bIns="0">
            <a:spAutoFit/>
          </a:bodyPr>
          <a:lstStyle/>
          <a:p>
            <a:pPr marL="334800" indent="-334800"/>
            <a:r>
              <a:rPr lang="en-US" sz="2400" dirty="0"/>
              <a:t>Hugh </a:t>
            </a:r>
            <a:r>
              <a:rPr lang="en-US" sz="2400" dirty="0" err="1"/>
              <a:t>Davson</a:t>
            </a:r>
            <a:r>
              <a:rPr lang="en-US" sz="2400" dirty="0"/>
              <a:t> and James </a:t>
            </a:r>
            <a:r>
              <a:rPr lang="en-US" sz="2400" dirty="0" err="1"/>
              <a:t>Danielli</a:t>
            </a:r>
            <a:r>
              <a:rPr lang="en-US" sz="2400" dirty="0"/>
              <a:t> showed that the bilayer alone could not account for all properties of membranes, especially</a:t>
            </a:r>
          </a:p>
          <a:p>
            <a:pPr lvl="1" indent="-334800"/>
            <a:r>
              <a:rPr lang="en-US" sz="2400" i="1" dirty="0"/>
              <a:t>Surface tension</a:t>
            </a:r>
          </a:p>
          <a:p>
            <a:pPr lvl="1" indent="-334800"/>
            <a:r>
              <a:rPr lang="en-US" sz="2400" i="1" dirty="0"/>
              <a:t>Solute permeability</a:t>
            </a:r>
          </a:p>
          <a:p>
            <a:pPr lvl="1" indent="-334800"/>
            <a:r>
              <a:rPr lang="en-US" sz="2400" i="1" dirty="0"/>
              <a:t>Electrical resistance</a:t>
            </a:r>
          </a:p>
          <a:p>
            <a:pPr marL="334800" indent="-334800"/>
            <a:r>
              <a:rPr lang="en-US" sz="2400" dirty="0"/>
              <a:t>They suggested that proteins are present in membranes, as thin sheets, coating the lipids.</a:t>
            </a:r>
          </a:p>
        </p:txBody>
      </p:sp>
    </p:spTree>
    <p:extLst>
      <p:ext uri="{BB962C8B-B14F-4D97-AF65-F5344CB8AC3E}">
        <p14:creationId xmlns:p14="http://schemas.microsoft.com/office/powerpoint/2010/main" val="400021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288589"/>
            <a:ext cx="8229600" cy="861774"/>
          </a:xfrm>
        </p:spPr>
        <p:txBody>
          <a:bodyPr lIns="0" tIns="0" rIns="0" bIns="0" anchor="ctr">
            <a:spAutoFit/>
          </a:bodyPr>
          <a:lstStyle/>
          <a:p>
            <a:r>
              <a:rPr lang="en-US" sz="2800" dirty="0"/>
              <a:t>Timeline for Development of the Fluid Mosaic Model: Lipid Bilayer Plus Protein Sheets</a:t>
            </a:r>
          </a:p>
        </p:txBody>
      </p:sp>
      <p:sp>
        <p:nvSpPr>
          <p:cNvPr id="5"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523737"/>
            <a:ext cx="3840123" cy="1107996"/>
          </a:xfrm>
          <a:prstGeom prst="rect">
            <a:avLst/>
          </a:prstGeom>
        </p:spPr>
        <p:txBody>
          <a:bodyPr wrap="square" lIns="0" tIns="0" rIns="0" bIns="0">
            <a:spAutoFit/>
          </a:bodyPr>
          <a:lstStyle/>
          <a:p>
            <a:pPr marL="0" indent="0">
              <a:buNone/>
            </a:pPr>
            <a:r>
              <a:rPr lang="en-US" sz="2400" b="1" dirty="0"/>
              <a:t>Figure 7.3</a:t>
            </a:r>
            <a:r>
              <a:rPr lang="en-US" sz="2400" dirty="0"/>
              <a:t> Timeline for Development of the Fluid Mosaic Model. </a:t>
            </a:r>
          </a:p>
        </p:txBody>
      </p:sp>
      <p:pic>
        <p:nvPicPr>
          <p:cNvPr id="11" name="Picture Placeholder 10" descr="The image shows the timeline for the development of fluid mosaic model with seven steps from 1880 to 2000. It shows the chronology of membrane studies and the researchers involv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01"/>
          <a:stretch/>
        </p:blipFill>
        <p:spPr>
          <a:xfrm>
            <a:off x="5667983" y="1367626"/>
            <a:ext cx="2284503" cy="4935731"/>
          </a:xfrm>
        </p:spPr>
      </p:pic>
    </p:spTree>
    <p:extLst>
      <p:ext uri="{BB962C8B-B14F-4D97-AF65-F5344CB8AC3E}">
        <p14:creationId xmlns:p14="http://schemas.microsoft.com/office/powerpoint/2010/main" val="3821467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5038"/>
            <a:ext cx="8263784" cy="1107996"/>
          </a:xfrm>
        </p:spPr>
        <p:txBody>
          <a:bodyPr lIns="0" tIns="0" rIns="0" bIns="0" anchor="ctr">
            <a:spAutoFit/>
          </a:bodyPr>
          <a:lstStyle/>
          <a:p>
            <a:r>
              <a:rPr lang="en-US" sz="3600" dirty="0">
                <a:latin typeface="+mj-lt"/>
              </a:rPr>
              <a:t>Robertson: All Membranes Share a Common Underlying Structure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87245"/>
            <a:ext cx="8263784" cy="2777683"/>
          </a:xfrm>
        </p:spPr>
        <p:txBody>
          <a:bodyPr lIns="0" tIns="0" rIns="0" bIns="0">
            <a:spAutoFit/>
          </a:bodyPr>
          <a:lstStyle/>
          <a:p>
            <a:pPr marL="334800" indent="-334800"/>
            <a:r>
              <a:rPr lang="en-US" sz="2400" dirty="0"/>
              <a:t>Using electron microscopy, biologists could </a:t>
            </a:r>
            <a:br>
              <a:rPr lang="en-US" sz="2400" dirty="0"/>
            </a:br>
            <a:r>
              <a:rPr lang="en-US" sz="2400" dirty="0"/>
              <a:t>verify the presence of membranes around cells </a:t>
            </a:r>
            <a:br>
              <a:rPr lang="en-US" sz="2400" dirty="0"/>
            </a:br>
            <a:r>
              <a:rPr lang="en-US" sz="2400" dirty="0"/>
              <a:t>and organelles.</a:t>
            </a:r>
          </a:p>
          <a:p>
            <a:pPr marL="334800" indent="-334800"/>
            <a:r>
              <a:rPr lang="en-US" sz="2400" dirty="0"/>
              <a:t>A </a:t>
            </a:r>
            <a:r>
              <a:rPr lang="en-US" sz="2400" dirty="0" err="1"/>
              <a:t>trilaminar</a:t>
            </a:r>
            <a:r>
              <a:rPr lang="en-US" sz="2400" dirty="0"/>
              <a:t> structure, visible under the TEM, </a:t>
            </a:r>
            <a:br>
              <a:rPr lang="en-US" sz="2400" dirty="0"/>
            </a:br>
            <a:r>
              <a:rPr lang="en-US" sz="2400" dirty="0"/>
              <a:t>was observed for all membranes, leading to the suggestion of a common membrane structure, called the </a:t>
            </a:r>
            <a:r>
              <a:rPr lang="en-US" sz="2400" i="1" dirty="0"/>
              <a:t>unit membrane</a:t>
            </a:r>
            <a:r>
              <a:rPr lang="en-US" sz="2400" dirty="0"/>
              <a:t>.</a:t>
            </a:r>
          </a:p>
        </p:txBody>
      </p:sp>
    </p:spTree>
    <p:extLst>
      <p:ext uri="{BB962C8B-B14F-4D97-AF65-F5344CB8AC3E}">
        <p14:creationId xmlns:p14="http://schemas.microsoft.com/office/powerpoint/2010/main" val="490080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234568"/>
            <a:ext cx="8229600" cy="984885"/>
          </a:xfrm>
        </p:spPr>
        <p:txBody>
          <a:bodyPr lIns="0" tIns="0" rIns="0" bIns="0" anchor="ctr">
            <a:spAutoFit/>
          </a:bodyPr>
          <a:lstStyle/>
          <a:p>
            <a:r>
              <a:rPr lang="en-US" sz="3200" dirty="0" err="1"/>
              <a:t>Trilaminar</a:t>
            </a:r>
            <a:r>
              <a:rPr lang="en-US" sz="3200" dirty="0"/>
              <a:t> Appearance of Cellular Membranes</a:t>
            </a:r>
            <a:endParaRPr lang="en-US" sz="3000" dirty="0"/>
          </a:p>
        </p:txBody>
      </p:sp>
      <p:sp>
        <p:nvSpPr>
          <p:cNvPr id="5"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609037"/>
            <a:ext cx="8263784" cy="369332"/>
          </a:xfrm>
          <a:prstGeom prst="rect">
            <a:avLst/>
          </a:prstGeom>
        </p:spPr>
        <p:txBody>
          <a:bodyPr lIns="0" tIns="0" rIns="0" bIns="0">
            <a:spAutoFit/>
          </a:bodyPr>
          <a:lstStyle/>
          <a:p>
            <a:pPr marL="0" indent="0">
              <a:buNone/>
            </a:pPr>
            <a:r>
              <a:rPr lang="en-US" sz="2400" b="1" dirty="0"/>
              <a:t>Figure 7.4 </a:t>
            </a:r>
            <a:r>
              <a:rPr lang="en-US" sz="2400" dirty="0" err="1"/>
              <a:t>Trilaminar</a:t>
            </a:r>
            <a:r>
              <a:rPr lang="en-US" sz="2400" dirty="0"/>
              <a:t> Appearance of Cellular Membranes. </a:t>
            </a:r>
          </a:p>
        </p:txBody>
      </p:sp>
      <p:pic>
        <p:nvPicPr>
          <p:cNvPr id="11" name="Picture Placeholder 10" descr="An electron micrograph of the trilaminar appearance of cellular membranes. It shows an intercellular space between the plasma membranes of two adjacent cells named cell 1 and cell 2.&#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04"/>
          <a:stretch/>
        </p:blipFill>
        <p:spPr>
          <a:xfrm>
            <a:off x="1295363" y="2373105"/>
            <a:ext cx="6562010" cy="3595878"/>
          </a:xfrm>
        </p:spPr>
      </p:pic>
    </p:spTree>
    <p:extLst>
      <p:ext uri="{BB962C8B-B14F-4D97-AF65-F5344CB8AC3E}">
        <p14:creationId xmlns:p14="http://schemas.microsoft.com/office/powerpoint/2010/main" val="3577037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6256" y="174427"/>
            <a:ext cx="8229600" cy="1097279"/>
          </a:xfrm>
        </p:spPr>
        <p:txBody>
          <a:bodyPr lIns="0" tIns="0" rIns="0" bIns="0" anchor="ctr">
            <a:spAutoFit/>
          </a:bodyPr>
          <a:lstStyle/>
          <a:p>
            <a:r>
              <a:rPr lang="en-US" sz="3200" dirty="0"/>
              <a:t>Timeline for Development of the Fluid Mosaic Model: Unit Membrane</a:t>
            </a:r>
            <a:endParaRPr lang="en-US" sz="3000" dirty="0"/>
          </a:p>
        </p:txBody>
      </p:sp>
      <p:sp>
        <p:nvSpPr>
          <p:cNvPr id="5" name="Content Placeholder 4"/>
          <p:cNvSpPr>
            <a:spLocks noGrp="1"/>
          </p:cNvSpPr>
          <p:nvPr>
            <p:ph sz="quarter" idx="15"/>
          </p:nvPr>
        </p:nvSpPr>
        <p:spPr>
          <a:xfrm>
            <a:off x="419100" y="1552575"/>
            <a:ext cx="5027154" cy="726601"/>
          </a:xfrm>
        </p:spPr>
        <p:txBody>
          <a:bodyPr lIns="0" tIns="0" rIns="0" bIns="0"/>
          <a:lstStyle/>
          <a:p>
            <a:pPr marL="0" indent="0">
              <a:buNone/>
            </a:pPr>
            <a:r>
              <a:rPr lang="en-US" sz="2400" b="1" dirty="0"/>
              <a:t>Figure 7.3 </a:t>
            </a:r>
            <a:r>
              <a:rPr lang="en-US" sz="2400" dirty="0"/>
              <a:t>Timeline for Development of the Fluid Mosaic Model.</a:t>
            </a:r>
          </a:p>
        </p:txBody>
      </p:sp>
      <p:pic>
        <p:nvPicPr>
          <p:cNvPr id="11" name="Picture Placeholder 10" descr="The image shows the timeline for the development of fluid mosaic model with seven steps from 1880 to 2000. It shows the chronology of membrane studies and the researchers involv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54"/>
          <a:stretch/>
        </p:blipFill>
        <p:spPr>
          <a:xfrm>
            <a:off x="6183234" y="1465377"/>
            <a:ext cx="2173162" cy="4697471"/>
          </a:xfrm>
        </p:spPr>
      </p:pic>
    </p:spTree>
    <p:extLst>
      <p:ext uri="{BB962C8B-B14F-4D97-AF65-F5344CB8AC3E}">
        <p14:creationId xmlns:p14="http://schemas.microsoft.com/office/powerpoint/2010/main" val="888577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4740"/>
            <a:ext cx="8263784" cy="1661993"/>
          </a:xfrm>
        </p:spPr>
        <p:txBody>
          <a:bodyPr lIns="0" tIns="0" rIns="0" bIns="0" anchor="ctr">
            <a:spAutoFit/>
          </a:bodyPr>
          <a:lstStyle/>
          <a:p>
            <a:r>
              <a:rPr lang="en-US" sz="3600" dirty="0">
                <a:latin typeface="+mj-lt"/>
              </a:rPr>
              <a:t>Further Research Revealed Major Shortcomings of the </a:t>
            </a:r>
            <a:r>
              <a:rPr lang="en-US" sz="3600" dirty="0" err="1">
                <a:latin typeface="+mj-lt"/>
              </a:rPr>
              <a:t>Davson</a:t>
            </a:r>
            <a:r>
              <a:rPr lang="en-US" sz="3600" dirty="0">
                <a:latin typeface="+mj-lt"/>
              </a:rPr>
              <a:t>–</a:t>
            </a:r>
            <a:r>
              <a:rPr lang="en-US" sz="3600" dirty="0" err="1">
                <a:latin typeface="+mj-lt"/>
              </a:rPr>
              <a:t>Danielli</a:t>
            </a:r>
            <a:r>
              <a:rPr lang="en-US" sz="3600" dirty="0">
                <a:latin typeface="+mj-lt"/>
              </a:rPr>
              <a:t> Model</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2196845"/>
            <a:ext cx="8263784" cy="3531736"/>
          </a:xfrm>
        </p:spPr>
        <p:txBody>
          <a:bodyPr lIns="0" tIns="0" rIns="0" bIns="0">
            <a:spAutoFit/>
          </a:bodyPr>
          <a:lstStyle/>
          <a:p>
            <a:pPr marL="334800" indent="-334800"/>
            <a:r>
              <a:rPr lang="en-US" sz="2400" dirty="0"/>
              <a:t>There is not enough space on either side of the bilayer for a protein coat. </a:t>
            </a:r>
          </a:p>
          <a:p>
            <a:pPr marL="334800" indent="-334800"/>
            <a:r>
              <a:rPr lang="en-US" sz="2400" dirty="0"/>
              <a:t>The chemical composition of membranes, especially the protein/lipid ratio varied.</a:t>
            </a:r>
          </a:p>
          <a:p>
            <a:pPr marL="334800" indent="-334800"/>
            <a:r>
              <a:rPr lang="en-US" sz="2400" i="1" dirty="0"/>
              <a:t>Phospholipases </a:t>
            </a:r>
            <a:r>
              <a:rPr lang="en-US" sz="2400" dirty="0"/>
              <a:t>digest the head group of phospholipids. This could not occur if the membrane was coated in protein.</a:t>
            </a:r>
          </a:p>
          <a:p>
            <a:pPr marL="334800" indent="-334800"/>
            <a:r>
              <a:rPr lang="en-US" sz="2400" dirty="0"/>
              <a:t>Membrane proteins are hydrophobic or amphipathic.</a:t>
            </a:r>
          </a:p>
        </p:txBody>
      </p:sp>
    </p:spTree>
    <p:extLst>
      <p:ext uri="{BB962C8B-B14F-4D97-AF65-F5344CB8AC3E}">
        <p14:creationId xmlns:p14="http://schemas.microsoft.com/office/powerpoint/2010/main" val="690242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83612"/>
            <a:ext cx="8229600" cy="849154"/>
          </a:xfrm>
        </p:spPr>
        <p:txBody>
          <a:bodyPr lIns="0" tIns="0" rIns="0" bIns="0" anchor="ctr"/>
          <a:lstStyle/>
          <a:p>
            <a:r>
              <a:rPr lang="en-US" sz="2800" dirty="0"/>
              <a:t>Protein, Lipid, and Carbohydrate Content of Biological Membranes</a:t>
            </a:r>
            <a:endParaRPr lang="en-IN" sz="2800" dirty="0"/>
          </a:p>
        </p:txBody>
      </p:sp>
      <p:sp>
        <p:nvSpPr>
          <p:cNvPr id="12" name="Content Placeholder 11"/>
          <p:cNvSpPr>
            <a:spLocks noGrp="1"/>
          </p:cNvSpPr>
          <p:nvPr>
            <p:ph sz="quarter" idx="13"/>
          </p:nvPr>
        </p:nvSpPr>
        <p:spPr>
          <a:xfrm>
            <a:off x="457200" y="1347855"/>
            <a:ext cx="8229600" cy="426350"/>
          </a:xfrm>
        </p:spPr>
        <p:txBody>
          <a:bodyPr lIns="0" tIns="0" rIns="0" bIns="0"/>
          <a:lstStyle/>
          <a:p>
            <a:pPr marL="0" indent="0">
              <a:buNone/>
            </a:pPr>
            <a:r>
              <a:rPr lang="en-IN" sz="2000" b="1" dirty="0"/>
              <a:t>Table 7.1 </a:t>
            </a:r>
            <a:r>
              <a:rPr lang="en-US" sz="2000" dirty="0"/>
              <a:t>Protein and Lipid Content of Biological </a:t>
            </a:r>
            <a:r>
              <a:rPr lang="en-IN" sz="2000" dirty="0"/>
              <a:t>Membranes</a:t>
            </a:r>
          </a:p>
        </p:txBody>
      </p:sp>
      <p:pic>
        <p:nvPicPr>
          <p:cNvPr id="8" name="Picture Placeholder 7" descr="Table representing protein and lipid content in percentage by weight of different biological membrane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t="11436" b="2195"/>
          <a:stretch/>
        </p:blipFill>
        <p:spPr>
          <a:xfrm>
            <a:off x="2407939" y="1881441"/>
            <a:ext cx="4351532" cy="4419421"/>
          </a:xfrm>
        </p:spPr>
      </p:pic>
    </p:spTree>
    <p:extLst>
      <p:ext uri="{BB962C8B-B14F-4D97-AF65-F5344CB8AC3E}">
        <p14:creationId xmlns:p14="http://schemas.microsoft.com/office/powerpoint/2010/main" val="1707926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4740"/>
            <a:ext cx="8263784" cy="1661993"/>
          </a:xfrm>
        </p:spPr>
        <p:txBody>
          <a:bodyPr lIns="0" tIns="0" rIns="0" bIns="0" anchor="ctr">
            <a:spAutoFit/>
          </a:bodyPr>
          <a:lstStyle/>
          <a:p>
            <a:r>
              <a:rPr lang="en-US" sz="3600" dirty="0">
                <a:latin typeface="+mj-lt"/>
              </a:rPr>
              <a:t>Singer and Nicholson: A Membrane Consists of a Mosaic of Proteins in a Fluid Lipid Bilayer</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2196845"/>
            <a:ext cx="8263784" cy="2562240"/>
          </a:xfrm>
        </p:spPr>
        <p:txBody>
          <a:bodyPr lIns="0" tIns="0" rIns="0" bIns="0">
            <a:spAutoFit/>
          </a:bodyPr>
          <a:lstStyle/>
          <a:p>
            <a:pPr marL="334800" indent="-334800"/>
            <a:r>
              <a:rPr lang="en-US" sz="2400" dirty="0"/>
              <a:t>The </a:t>
            </a:r>
            <a:r>
              <a:rPr lang="en-US" sz="2400" b="1" dirty="0"/>
              <a:t>fluid mosaic bilayer</a:t>
            </a:r>
            <a:r>
              <a:rPr lang="en-US" sz="2400" dirty="0"/>
              <a:t> model accounts for all the inconsistencies with previous models.</a:t>
            </a:r>
          </a:p>
          <a:p>
            <a:pPr marL="334800" indent="-334800"/>
            <a:r>
              <a:rPr lang="en-US" sz="2400" dirty="0"/>
              <a:t>The model has two key features:</a:t>
            </a:r>
          </a:p>
          <a:p>
            <a:pPr lvl="1" indent="-334800"/>
            <a:r>
              <a:rPr lang="en-US" sz="2400" dirty="0"/>
              <a:t>A </a:t>
            </a:r>
            <a:r>
              <a:rPr lang="en-US" sz="2400" i="1" dirty="0"/>
              <a:t>mosaic</a:t>
            </a:r>
            <a:r>
              <a:rPr lang="en-US" sz="2400" dirty="0"/>
              <a:t> of proteins attached to or embedded in the bilayer</a:t>
            </a:r>
          </a:p>
          <a:p>
            <a:pPr lvl="1" indent="-334800"/>
            <a:r>
              <a:rPr lang="en-US" sz="2400" dirty="0"/>
              <a:t>A </a:t>
            </a:r>
            <a:r>
              <a:rPr lang="en-US" sz="2400" i="1" dirty="0"/>
              <a:t>fluid</a:t>
            </a:r>
            <a:r>
              <a:rPr lang="en-US" sz="2400" dirty="0"/>
              <a:t> lipid bilayer</a:t>
            </a:r>
          </a:p>
        </p:txBody>
      </p:sp>
    </p:spTree>
    <p:extLst>
      <p:ext uri="{BB962C8B-B14F-4D97-AF65-F5344CB8AC3E}">
        <p14:creationId xmlns:p14="http://schemas.microsoft.com/office/powerpoint/2010/main" val="1062715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6256" y="174427"/>
            <a:ext cx="8229600" cy="1097279"/>
          </a:xfrm>
        </p:spPr>
        <p:txBody>
          <a:bodyPr lIns="0" tIns="0" rIns="0" bIns="0" anchor="ctr">
            <a:spAutoFit/>
          </a:bodyPr>
          <a:lstStyle/>
          <a:p>
            <a:r>
              <a:rPr lang="en-US" sz="3200" dirty="0"/>
              <a:t>Timeline for Development of the Fluid Mosaic Model: Fluid Mosaic Model</a:t>
            </a:r>
            <a:endParaRPr lang="en-US" sz="3000" dirty="0"/>
          </a:p>
        </p:txBody>
      </p:sp>
      <p:sp>
        <p:nvSpPr>
          <p:cNvPr id="4" name="Content Placeholder 3"/>
          <p:cNvSpPr>
            <a:spLocks noGrp="1"/>
          </p:cNvSpPr>
          <p:nvPr>
            <p:ph sz="quarter" idx="14"/>
          </p:nvPr>
        </p:nvSpPr>
        <p:spPr>
          <a:xfrm>
            <a:off x="457201" y="1552575"/>
            <a:ext cx="5097438" cy="726601"/>
          </a:xfrm>
        </p:spPr>
        <p:txBody>
          <a:bodyPr lIns="0" tIns="0" rIns="0" bIns="0"/>
          <a:lstStyle/>
          <a:p>
            <a:pPr marL="0" indent="0">
              <a:buNone/>
            </a:pPr>
            <a:r>
              <a:rPr lang="en-US" sz="2400" b="1" dirty="0"/>
              <a:t>Figure 7.3 </a:t>
            </a:r>
            <a:r>
              <a:rPr lang="en-US" sz="2400" dirty="0"/>
              <a:t>Timeline for Development of the Fluid Mosaic Model.</a:t>
            </a:r>
          </a:p>
        </p:txBody>
      </p:sp>
      <p:pic>
        <p:nvPicPr>
          <p:cNvPr id="11" name="Picture Placeholder 10" descr="The image shows the timeline for the development of fluid mosaic model with seven steps from 1880 to 2000. It shows the chronology of membrane studies and the researchers involv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773"/>
          <a:stretch/>
        </p:blipFill>
        <p:spPr>
          <a:xfrm>
            <a:off x="6113881" y="1438450"/>
            <a:ext cx="2207567" cy="4751332"/>
          </a:xfrm>
        </p:spPr>
      </p:pic>
    </p:spTree>
    <p:extLst>
      <p:ext uri="{BB962C8B-B14F-4D97-AF65-F5344CB8AC3E}">
        <p14:creationId xmlns:p14="http://schemas.microsoft.com/office/powerpoint/2010/main" val="1346728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4740"/>
            <a:ext cx="8263784" cy="1661993"/>
          </a:xfrm>
        </p:spPr>
        <p:txBody>
          <a:bodyPr lIns="0" tIns="0" rIns="0" bIns="0" anchor="ctr">
            <a:spAutoFit/>
          </a:bodyPr>
          <a:lstStyle/>
          <a:p>
            <a:r>
              <a:rPr lang="en-US" sz="3600" dirty="0">
                <a:latin typeface="+mj-lt"/>
              </a:rPr>
              <a:t>Unwin and Henderson: Most Membrane Proteins Contain Transmembrane Segments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2196845"/>
            <a:ext cx="8263784" cy="3162404"/>
          </a:xfrm>
        </p:spPr>
        <p:txBody>
          <a:bodyPr lIns="0" tIns="0" rIns="0" bIns="0">
            <a:spAutoFit/>
          </a:bodyPr>
          <a:lstStyle/>
          <a:p>
            <a:pPr marL="334800" indent="-334800"/>
            <a:r>
              <a:rPr lang="en-US" sz="2400" dirty="0">
                <a:solidFill>
                  <a:schemeClr val="tx1"/>
                </a:solidFill>
              </a:rPr>
              <a:t>Most integral membrane proteins have one or more hydrophobic segments that span the lipid bilayer.</a:t>
            </a:r>
          </a:p>
          <a:p>
            <a:pPr marL="334800" indent="-334800"/>
            <a:r>
              <a:rPr lang="en-US" sz="2400" dirty="0">
                <a:solidFill>
                  <a:schemeClr val="tx1"/>
                </a:solidFill>
              </a:rPr>
              <a:t>These </a:t>
            </a:r>
            <a:r>
              <a:rPr lang="en-US" sz="2400" i="1" dirty="0">
                <a:solidFill>
                  <a:schemeClr val="tx1"/>
                </a:solidFill>
              </a:rPr>
              <a:t>transmembrane segments</a:t>
            </a:r>
            <a:r>
              <a:rPr lang="en-US" sz="2400" dirty="0">
                <a:solidFill>
                  <a:schemeClr val="tx1"/>
                </a:solidFill>
              </a:rPr>
              <a:t> anchor the protein to the membrane.</a:t>
            </a:r>
          </a:p>
          <a:p>
            <a:pPr marL="334800" indent="-334800"/>
            <a:r>
              <a:rPr lang="en-US" sz="2400" i="1" dirty="0">
                <a:solidFill>
                  <a:schemeClr val="tx1"/>
                </a:solidFill>
              </a:rPr>
              <a:t>Bacteriorhodopsin</a:t>
            </a:r>
            <a:r>
              <a:rPr lang="en-US" sz="2400" dirty="0">
                <a:solidFill>
                  <a:schemeClr val="tx1"/>
                </a:solidFill>
              </a:rPr>
              <a:t> was the first membrane protein shown to possess this structural feature.</a:t>
            </a:r>
          </a:p>
          <a:p>
            <a:pPr marL="334800" indent="-334800"/>
            <a:r>
              <a:rPr lang="en-US" sz="2400" dirty="0">
                <a:solidFill>
                  <a:schemeClr val="tx1"/>
                </a:solidFill>
              </a:rPr>
              <a:t>Recent findings suggest membranes are not homogenous.</a:t>
            </a:r>
          </a:p>
        </p:txBody>
      </p:sp>
    </p:spTree>
    <p:extLst>
      <p:ext uri="{BB962C8B-B14F-4D97-AF65-F5344CB8AC3E}">
        <p14:creationId xmlns:p14="http://schemas.microsoft.com/office/powerpoint/2010/main" val="783687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6256" y="261404"/>
            <a:ext cx="8229600" cy="923330"/>
          </a:xfrm>
        </p:spPr>
        <p:txBody>
          <a:bodyPr lIns="0" tIns="0" rIns="0" bIns="0" anchor="ctr">
            <a:spAutoFit/>
          </a:bodyPr>
          <a:lstStyle/>
          <a:p>
            <a:r>
              <a:rPr lang="en-US" sz="3000" dirty="0"/>
              <a:t>Timeline for Development of the Fluid Mosaic Model: Membrane Protein Structure</a:t>
            </a:r>
          </a:p>
        </p:txBody>
      </p:sp>
      <p:sp>
        <p:nvSpPr>
          <p:cNvPr id="4" name="Content Placeholder 3"/>
          <p:cNvSpPr>
            <a:spLocks noGrp="1"/>
          </p:cNvSpPr>
          <p:nvPr>
            <p:ph sz="quarter" idx="14"/>
          </p:nvPr>
        </p:nvSpPr>
        <p:spPr>
          <a:xfrm>
            <a:off x="416257" y="1497980"/>
            <a:ext cx="5192972" cy="822135"/>
          </a:xfrm>
        </p:spPr>
        <p:txBody>
          <a:bodyPr lIns="0" tIns="0" rIns="0" bIns="0"/>
          <a:lstStyle/>
          <a:p>
            <a:pPr marL="0" indent="0">
              <a:buNone/>
            </a:pPr>
            <a:r>
              <a:rPr lang="en-US" sz="2400" b="1" dirty="0"/>
              <a:t>Figure 7.3 </a:t>
            </a:r>
            <a:r>
              <a:rPr lang="en-US" sz="2400" dirty="0"/>
              <a:t>Timeline for Development of the Fluid Mosaic Model.</a:t>
            </a:r>
          </a:p>
        </p:txBody>
      </p:sp>
      <p:pic>
        <p:nvPicPr>
          <p:cNvPr id="11" name="Picture Placeholder 10" descr="The image shows the timeline for the development of fluid mosaic model with seven steps from 1880 to 2000. It shows the chronology of membrane studies and the researchers involv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67"/>
          <a:stretch/>
        </p:blipFill>
        <p:spPr>
          <a:xfrm>
            <a:off x="6160450" y="1430536"/>
            <a:ext cx="2246027" cy="4874218"/>
          </a:xfrm>
        </p:spPr>
      </p:pic>
    </p:spTree>
    <p:extLst>
      <p:ext uri="{BB962C8B-B14F-4D97-AF65-F5344CB8AC3E}">
        <p14:creationId xmlns:p14="http://schemas.microsoft.com/office/powerpoint/2010/main" val="1582236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234568"/>
            <a:ext cx="8229600" cy="984885"/>
          </a:xfrm>
        </p:spPr>
        <p:txBody>
          <a:bodyPr lIns="0" tIns="0" rIns="0" bIns="0" anchor="ctr">
            <a:spAutoFit/>
          </a:bodyPr>
          <a:lstStyle/>
          <a:p>
            <a:r>
              <a:rPr lang="en-US" sz="3200" dirty="0"/>
              <a:t>The Fluid Mosaic Model of Membrane Structure</a:t>
            </a:r>
            <a:endParaRPr lang="en-US" sz="3000" dirty="0"/>
          </a:p>
        </p:txBody>
      </p:sp>
      <p:sp>
        <p:nvSpPr>
          <p:cNvPr id="5"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417965"/>
            <a:ext cx="8263784" cy="369332"/>
          </a:xfrm>
          <a:prstGeom prst="rect">
            <a:avLst/>
          </a:prstGeom>
        </p:spPr>
        <p:txBody>
          <a:bodyPr lIns="0" tIns="0" rIns="0" bIns="0">
            <a:spAutoFit/>
          </a:bodyPr>
          <a:lstStyle/>
          <a:p>
            <a:pPr marL="0" indent="0">
              <a:buNone/>
            </a:pPr>
            <a:r>
              <a:rPr lang="en-US" sz="2400" b="1" dirty="0"/>
              <a:t>Figure 7.5 </a:t>
            </a:r>
            <a:r>
              <a:rPr lang="en-US" sz="2400" dirty="0"/>
              <a:t>The Fluid Mosaic Model of Membrane Structure.</a:t>
            </a:r>
          </a:p>
        </p:txBody>
      </p:sp>
      <p:pic>
        <p:nvPicPr>
          <p:cNvPr id="11" name="Picture Placeholder 10" descr="The illustrations “a” shows Singer and Nicolson’s fluid mosaic model, “b” shows an integral membrane protein, and “c” shows a single transmembrane segment.&#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06"/>
          <a:stretch/>
        </p:blipFill>
        <p:spPr>
          <a:xfrm>
            <a:off x="1984519" y="2166138"/>
            <a:ext cx="5174962" cy="4132290"/>
          </a:xfrm>
        </p:spPr>
      </p:pic>
    </p:spTree>
    <p:extLst>
      <p:ext uri="{BB962C8B-B14F-4D97-AF65-F5344CB8AC3E}">
        <p14:creationId xmlns:p14="http://schemas.microsoft.com/office/powerpoint/2010/main" val="3026199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5513"/>
            <a:ext cx="8263784" cy="1107996"/>
          </a:xfrm>
        </p:spPr>
        <p:txBody>
          <a:bodyPr lIns="0" tIns="0" rIns="0" bIns="0" anchor="ctr">
            <a:spAutoFit/>
          </a:bodyPr>
          <a:lstStyle/>
          <a:p>
            <a:r>
              <a:rPr lang="en-US" sz="3600" dirty="0">
                <a:latin typeface="+mj-lt"/>
              </a:rPr>
              <a:t>7.3 Membrane Lipids: The “Fluid” Part of the Model</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1558670"/>
            <a:ext cx="8263784" cy="738664"/>
          </a:xfrm>
        </p:spPr>
        <p:txBody>
          <a:bodyPr lIns="0" tIns="0" rIns="0" bIns="0">
            <a:spAutoFit/>
          </a:bodyPr>
          <a:lstStyle/>
          <a:p>
            <a:pPr marL="334800" indent="-334800"/>
            <a:r>
              <a:rPr lang="en-US" sz="2400" dirty="0"/>
              <a:t>Membrane lipids are important components of the </a:t>
            </a:r>
            <a:r>
              <a:rPr lang="en-US" altLang="ja-JP" sz="2400" dirty="0"/>
              <a:t>“fluid” part of the fluid mosaic model.</a:t>
            </a:r>
          </a:p>
        </p:txBody>
      </p:sp>
    </p:spTree>
    <p:extLst>
      <p:ext uri="{BB962C8B-B14F-4D97-AF65-F5344CB8AC3E}">
        <p14:creationId xmlns:p14="http://schemas.microsoft.com/office/powerpoint/2010/main" val="1829342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5513"/>
            <a:ext cx="8263784" cy="1107996"/>
          </a:xfrm>
        </p:spPr>
        <p:txBody>
          <a:bodyPr lIns="0" tIns="0" rIns="0" bIns="0" anchor="ctr">
            <a:spAutoFit/>
          </a:bodyPr>
          <a:lstStyle/>
          <a:p>
            <a:r>
              <a:rPr lang="en-US" sz="3600" dirty="0">
                <a:latin typeface="+mj-lt"/>
              </a:rPr>
              <a:t>Membranes Contain Several Major Classes of Lipids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1558670"/>
            <a:ext cx="8263784" cy="2600712"/>
          </a:xfrm>
        </p:spPr>
        <p:txBody>
          <a:bodyPr lIns="0" tIns="0" rIns="0" bIns="0">
            <a:spAutoFit/>
          </a:bodyPr>
          <a:lstStyle/>
          <a:p>
            <a:pPr marL="334800" indent="-334800"/>
            <a:r>
              <a:rPr lang="en-US" sz="2400" dirty="0"/>
              <a:t>The fluid mosaic model of membrane structure retains the lipid bilayer of earlier models.</a:t>
            </a:r>
          </a:p>
          <a:p>
            <a:pPr marL="334800" indent="-334800"/>
            <a:r>
              <a:rPr lang="en-US" sz="2400" dirty="0"/>
              <a:t>However, there is a greater diversity and fluidity of lipids than originally thought.</a:t>
            </a:r>
          </a:p>
          <a:p>
            <a:pPr marL="334800" indent="-334800"/>
            <a:r>
              <a:rPr lang="en-US" sz="2400" dirty="0"/>
              <a:t>The main classes of membrane lipids are </a:t>
            </a:r>
            <a:r>
              <a:rPr lang="en-US" sz="2400" i="1" dirty="0"/>
              <a:t>phospholipids,</a:t>
            </a:r>
            <a:r>
              <a:rPr lang="en-US" sz="2400" dirty="0"/>
              <a:t> </a:t>
            </a:r>
            <a:r>
              <a:rPr lang="en-US" sz="2400" i="1" dirty="0"/>
              <a:t>glycolipids,</a:t>
            </a:r>
            <a:r>
              <a:rPr lang="en-US" sz="2400" dirty="0"/>
              <a:t> and </a:t>
            </a:r>
            <a:r>
              <a:rPr lang="en-US" sz="2400" i="1" dirty="0"/>
              <a:t>sterols.</a:t>
            </a:r>
            <a:endParaRPr lang="en-US" sz="2400" dirty="0"/>
          </a:p>
        </p:txBody>
      </p:sp>
    </p:spTree>
    <p:extLst>
      <p:ext uri="{BB962C8B-B14F-4D97-AF65-F5344CB8AC3E}">
        <p14:creationId xmlns:p14="http://schemas.microsoft.com/office/powerpoint/2010/main" val="55825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6287"/>
            <a:ext cx="8263784" cy="553998"/>
          </a:xfrm>
        </p:spPr>
        <p:txBody>
          <a:bodyPr lIns="0" tIns="0" rIns="0" bIns="0" anchor="ctr">
            <a:spAutoFit/>
          </a:bodyPr>
          <a:lstStyle/>
          <a:p>
            <a:r>
              <a:rPr lang="en-US" sz="3600" dirty="0">
                <a:latin typeface="+mj-lt"/>
              </a:rPr>
              <a:t>Phospholipids </a:t>
            </a:r>
            <a:r>
              <a:rPr lang="en-US" sz="2800" dirty="0">
                <a:latin typeface="+mj-lt"/>
              </a:rPr>
              <a:t>(1 of 3)</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1072895"/>
            <a:ext cx="8263784" cy="2970044"/>
          </a:xfrm>
        </p:spPr>
        <p:txBody>
          <a:bodyPr lIns="0" tIns="0" rIns="0" bIns="0">
            <a:spAutoFit/>
          </a:bodyPr>
          <a:lstStyle/>
          <a:p>
            <a:pPr marL="334800" indent="-334800"/>
            <a:r>
              <a:rPr lang="en-US" sz="2400" dirty="0">
                <a:solidFill>
                  <a:schemeClr val="tx1"/>
                </a:solidFill>
              </a:rPr>
              <a:t>Phospholipids are the most abundant lipid in cell membranes.</a:t>
            </a:r>
          </a:p>
          <a:p>
            <a:pPr marL="334800" indent="-334800"/>
            <a:r>
              <a:rPr lang="en-US" sz="2400" dirty="0">
                <a:solidFill>
                  <a:schemeClr val="tx1"/>
                </a:solidFill>
              </a:rPr>
              <a:t>Phospholipid consists of a backbone with two fatty acids, a negatively charged phosphate group, and a charged head group attached to the phosphate.</a:t>
            </a:r>
          </a:p>
          <a:p>
            <a:pPr marL="334800" indent="-334800"/>
            <a:r>
              <a:rPr lang="en-US" sz="2400" dirty="0">
                <a:solidFill>
                  <a:schemeClr val="tx1"/>
                </a:solidFill>
              </a:rPr>
              <a:t>Amphipathic nature comes from the polar head and the two non-polar tails. This is critical for membrane structure. </a:t>
            </a:r>
          </a:p>
        </p:txBody>
      </p:sp>
    </p:spTree>
    <p:extLst>
      <p:ext uri="{BB962C8B-B14F-4D97-AF65-F5344CB8AC3E}">
        <p14:creationId xmlns:p14="http://schemas.microsoft.com/office/powerpoint/2010/main" val="2872207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6287"/>
            <a:ext cx="8263784" cy="553998"/>
          </a:xfrm>
        </p:spPr>
        <p:txBody>
          <a:bodyPr lIns="0" tIns="0" rIns="0" bIns="0" anchor="ctr">
            <a:spAutoFit/>
          </a:bodyPr>
          <a:lstStyle/>
          <a:p>
            <a:r>
              <a:rPr lang="en-US" sz="3600" dirty="0">
                <a:latin typeface="+mj-lt"/>
              </a:rPr>
              <a:t>Phospholipids </a:t>
            </a:r>
            <a:r>
              <a:rPr lang="en-US" sz="2800" dirty="0">
                <a:latin typeface="+mj-lt"/>
              </a:rPr>
              <a:t>(2 of 3)</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1072895"/>
            <a:ext cx="8263784" cy="3708708"/>
          </a:xfrm>
        </p:spPr>
        <p:txBody>
          <a:bodyPr lIns="0" tIns="0" rIns="0" bIns="0">
            <a:spAutoFit/>
          </a:bodyPr>
          <a:lstStyle/>
          <a:p>
            <a:pPr marL="334800" indent="-334800"/>
            <a:r>
              <a:rPr lang="en-US" sz="2400" dirty="0"/>
              <a:t>The backbone is either glycerol, a three-carbon alcohol, or sphingosine.</a:t>
            </a:r>
          </a:p>
          <a:p>
            <a:pPr marL="334800" indent="-334800"/>
            <a:r>
              <a:rPr lang="en-US" sz="2400" dirty="0"/>
              <a:t>Many types of phospholipids in membranes including the glycerol-based </a:t>
            </a:r>
            <a:r>
              <a:rPr lang="en-US" sz="2400" i="1" dirty="0" err="1"/>
              <a:t>phosphoglycerolipids</a:t>
            </a:r>
            <a:r>
              <a:rPr lang="en-US" sz="2400" dirty="0"/>
              <a:t>, </a:t>
            </a:r>
            <a:r>
              <a:rPr lang="en-US" sz="2400" b="1" dirty="0" err="1"/>
              <a:t>phosphoglycerides</a:t>
            </a:r>
            <a:r>
              <a:rPr lang="en-US" sz="2400" dirty="0"/>
              <a:t>, and the sphingosine-based </a:t>
            </a:r>
            <a:r>
              <a:rPr lang="en-US" sz="2400" b="1" dirty="0" err="1"/>
              <a:t>phosphosphingolipids</a:t>
            </a:r>
            <a:r>
              <a:rPr lang="en-US" sz="2400" dirty="0"/>
              <a:t>.</a:t>
            </a:r>
          </a:p>
          <a:p>
            <a:pPr marL="334800" indent="-334800"/>
            <a:r>
              <a:rPr lang="en-US" sz="2400" dirty="0"/>
              <a:t>Because phospholipids are amphipathic, other amphipathic molecules, like detergents, can disrupt membranes. </a:t>
            </a:r>
          </a:p>
        </p:txBody>
      </p:sp>
    </p:spTree>
    <p:extLst>
      <p:ext uri="{BB962C8B-B14F-4D97-AF65-F5344CB8AC3E}">
        <p14:creationId xmlns:p14="http://schemas.microsoft.com/office/powerpoint/2010/main" val="3298886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68610"/>
            <a:ext cx="8229600" cy="553998"/>
          </a:xfrm>
          <a:noFill/>
          <a:ln>
            <a:noFill/>
          </a:ln>
        </p:spPr>
        <p:txBody>
          <a:bodyPr lIns="0" tIns="0" rIns="0" bIns="0" anchor="ctr" anchorCtr="0">
            <a:spAutoFit/>
          </a:bodyPr>
          <a:lstStyle/>
          <a:p>
            <a:r>
              <a:rPr lang="en-US" dirty="0"/>
              <a:t>Phospholipids </a:t>
            </a:r>
            <a:r>
              <a:rPr lang="en-US" sz="2800" dirty="0"/>
              <a:t>(3 of 3)</a:t>
            </a:r>
          </a:p>
        </p:txBody>
      </p:sp>
      <p:sp>
        <p:nvSpPr>
          <p:cNvPr id="4"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056301"/>
            <a:ext cx="8263784" cy="369332"/>
          </a:xfrm>
          <a:prstGeom prst="rect">
            <a:avLst/>
          </a:prstGeom>
        </p:spPr>
        <p:txBody>
          <a:bodyPr lIns="0" tIns="0" rIns="0" bIns="0">
            <a:spAutoFit/>
          </a:bodyPr>
          <a:lstStyle/>
          <a:p>
            <a:pPr marL="0" indent="0">
              <a:buNone/>
            </a:pPr>
            <a:r>
              <a:rPr lang="en-US" sz="2400" b="1" dirty="0"/>
              <a:t>Figure 7.6</a:t>
            </a:r>
            <a:r>
              <a:rPr lang="en-US" sz="2400" dirty="0"/>
              <a:t> The Three Major Classes of Membrane Lipids.</a:t>
            </a:r>
          </a:p>
        </p:txBody>
      </p:sp>
      <p:pic>
        <p:nvPicPr>
          <p:cNvPr id="11" name="Picture Placeholder 10" descr="Schematic diagram and chemical structures of phospholipids, glycolipids, and sterols.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061"/>
          <a:stretch/>
        </p:blipFill>
        <p:spPr>
          <a:xfrm>
            <a:off x="653415" y="1820292"/>
            <a:ext cx="7837170" cy="4015405"/>
          </a:xfrm>
        </p:spPr>
      </p:pic>
    </p:spTree>
    <p:extLst>
      <p:ext uri="{BB962C8B-B14F-4D97-AF65-F5344CB8AC3E}">
        <p14:creationId xmlns:p14="http://schemas.microsoft.com/office/powerpoint/2010/main" val="2054799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67836"/>
            <a:ext cx="8229600" cy="1107996"/>
          </a:xfrm>
          <a:noFill/>
          <a:ln>
            <a:noFill/>
          </a:ln>
        </p:spPr>
        <p:txBody>
          <a:bodyPr lIns="0" tIns="0" rIns="0" bIns="0" anchor="ctr" anchorCtr="0">
            <a:spAutoFit/>
          </a:bodyPr>
          <a:lstStyle/>
          <a:p>
            <a:r>
              <a:rPr lang="en-US" dirty="0"/>
              <a:t>Phospholipid Composition of Several Types of Membranes</a:t>
            </a:r>
          </a:p>
        </p:txBody>
      </p:sp>
      <p:sp>
        <p:nvSpPr>
          <p:cNvPr id="4"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1561412"/>
            <a:ext cx="8263784" cy="738664"/>
          </a:xfrm>
          <a:prstGeom prst="rect">
            <a:avLst/>
          </a:prstGeom>
        </p:spPr>
        <p:txBody>
          <a:bodyPr lIns="0" tIns="0" rIns="0" bIns="0">
            <a:spAutoFit/>
          </a:bodyPr>
          <a:lstStyle/>
          <a:p>
            <a:pPr marL="0" indent="0">
              <a:buNone/>
            </a:pPr>
            <a:r>
              <a:rPr lang="en-US" sz="2400" b="1" dirty="0"/>
              <a:t>Figure 7.7</a:t>
            </a:r>
            <a:r>
              <a:rPr lang="en-US" sz="2400" dirty="0"/>
              <a:t> Phospholipid Composition of Several Kinds of Membranes.</a:t>
            </a:r>
          </a:p>
        </p:txBody>
      </p:sp>
      <p:pic>
        <p:nvPicPr>
          <p:cNvPr id="11" name="Picture Placeholder 10" descr="A bar chart showing the phospholipid composition of several kinds of membranes with a color-coded legend. The different membrane samples are plasma membranes of rat liver, potato, E.coli, myelin sheath of human, chloroplast thylakoid membrane of spinach, and inner mitochondrial membrane of rat liver.&#10;Long description is available in notes, press F6"/>
          <p:cNvPicPr>
            <a:picLocks noGrp="1" noChangeAspect="1"/>
          </p:cNvPicPr>
          <p:nvPr>
            <p:ph type="pic" sz="quarter" idx="16"/>
          </p:nvPr>
        </p:nvPicPr>
        <p:blipFill rotWithShape="1">
          <a:blip r:embed="rId3"/>
          <a:srcRect b="4715"/>
          <a:stretch/>
        </p:blipFill>
        <p:spPr>
          <a:xfrm>
            <a:off x="551908" y="2787746"/>
            <a:ext cx="8057018" cy="3069745"/>
          </a:xfrm>
        </p:spPr>
      </p:pic>
    </p:spTree>
    <p:extLst>
      <p:ext uri="{BB962C8B-B14F-4D97-AF65-F5344CB8AC3E}">
        <p14:creationId xmlns:p14="http://schemas.microsoft.com/office/powerpoint/2010/main" val="56463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6287"/>
            <a:ext cx="8263784" cy="553998"/>
          </a:xfrm>
        </p:spPr>
        <p:txBody>
          <a:bodyPr lIns="0" tIns="0" rIns="0" bIns="0" anchor="ctr">
            <a:spAutoFit/>
          </a:bodyPr>
          <a:lstStyle/>
          <a:p>
            <a:r>
              <a:rPr lang="en-US" sz="3600" dirty="0">
                <a:latin typeface="+mj-lt"/>
              </a:rPr>
              <a:t>Glycolipids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1072895"/>
            <a:ext cx="8263784" cy="2485296"/>
          </a:xfrm>
        </p:spPr>
        <p:txBody>
          <a:bodyPr lIns="0" tIns="0" rIns="0" bIns="0">
            <a:spAutoFit/>
          </a:bodyPr>
          <a:lstStyle/>
          <a:p>
            <a:pPr marL="342900" indent="-342900"/>
            <a:r>
              <a:rPr lang="en-US" sz="2400" b="1" dirty="0"/>
              <a:t>Glycolipids</a:t>
            </a:r>
            <a:r>
              <a:rPr lang="en-US" sz="2400" dirty="0"/>
              <a:t> are formed by the addition of carbohydrates to lipids.</a:t>
            </a:r>
          </a:p>
          <a:p>
            <a:pPr marL="342900" indent="-342900"/>
            <a:r>
              <a:rPr lang="en-US" sz="2400" dirty="0"/>
              <a:t>Some are glycerol based (the </a:t>
            </a:r>
            <a:r>
              <a:rPr lang="en-US" sz="2400" i="1" dirty="0" err="1"/>
              <a:t>glycoglycerolipids</a:t>
            </a:r>
            <a:r>
              <a:rPr lang="en-US" sz="2400" dirty="0"/>
              <a:t>), and some are sphingosine based (the</a:t>
            </a:r>
            <a:r>
              <a:rPr lang="en-US" sz="2400" i="1" dirty="0"/>
              <a:t> glycosphingolipids</a:t>
            </a:r>
            <a:r>
              <a:rPr lang="en-US" sz="2400" dirty="0"/>
              <a:t>).</a:t>
            </a:r>
          </a:p>
          <a:p>
            <a:pPr marL="751050" lvl="1" indent="-342900"/>
            <a:r>
              <a:rPr lang="en-US" sz="2400" dirty="0"/>
              <a:t>The most common glycosphingolipids are </a:t>
            </a:r>
            <a:r>
              <a:rPr lang="en-US" sz="2400" b="1" dirty="0" err="1"/>
              <a:t>cerebrosides</a:t>
            </a:r>
            <a:r>
              <a:rPr lang="en-US" sz="2400" dirty="0"/>
              <a:t> and </a:t>
            </a:r>
            <a:r>
              <a:rPr lang="en-US" sz="2400" b="1" dirty="0"/>
              <a:t>gangliosides</a:t>
            </a:r>
            <a:r>
              <a:rPr lang="en-US" sz="2400" dirty="0"/>
              <a:t>.</a:t>
            </a:r>
          </a:p>
        </p:txBody>
      </p:sp>
    </p:spTree>
    <p:extLst>
      <p:ext uri="{BB962C8B-B14F-4D97-AF65-F5344CB8AC3E}">
        <p14:creationId xmlns:p14="http://schemas.microsoft.com/office/powerpoint/2010/main" val="6915949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6287"/>
            <a:ext cx="8263784" cy="553998"/>
          </a:xfrm>
        </p:spPr>
        <p:txBody>
          <a:bodyPr lIns="0" tIns="0" rIns="0" bIns="0" anchor="ctr">
            <a:spAutoFit/>
          </a:bodyPr>
          <a:lstStyle/>
          <a:p>
            <a:r>
              <a:rPr lang="en-US" sz="3600" dirty="0" err="1">
                <a:latin typeface="+mj-lt"/>
              </a:rPr>
              <a:t>Cerebrosides</a:t>
            </a:r>
            <a:r>
              <a:rPr lang="en-US" sz="3600" dirty="0">
                <a:latin typeface="+mj-lt"/>
              </a:rPr>
              <a:t> and Gangliosides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1072895"/>
            <a:ext cx="8263784" cy="3531736"/>
          </a:xfrm>
        </p:spPr>
        <p:txBody>
          <a:bodyPr lIns="0" tIns="0" rIns="0" bIns="0">
            <a:spAutoFit/>
          </a:bodyPr>
          <a:lstStyle/>
          <a:p>
            <a:pPr marL="334800" indent="-334800"/>
            <a:r>
              <a:rPr lang="en-US" sz="2400" dirty="0" err="1"/>
              <a:t>Cerebrosides</a:t>
            </a:r>
            <a:r>
              <a:rPr lang="en-US" sz="2400" dirty="0"/>
              <a:t> are </a:t>
            </a:r>
            <a:r>
              <a:rPr lang="en-US" sz="2400" i="1" dirty="0"/>
              <a:t>neutral glycolipids</a:t>
            </a:r>
            <a:r>
              <a:rPr lang="en-US" sz="2400" dirty="0"/>
              <a:t>; each molecule has an uncharged sugar as its head group.</a:t>
            </a:r>
          </a:p>
          <a:p>
            <a:pPr marL="334800" indent="-334800"/>
            <a:r>
              <a:rPr lang="en-US" sz="2400" dirty="0"/>
              <a:t>A ganglioside has an oligosaccharide head group with one or more negatively charged sialic acid.</a:t>
            </a:r>
          </a:p>
          <a:p>
            <a:pPr marL="334800" indent="-334800"/>
            <a:r>
              <a:rPr lang="en-US" sz="2400" dirty="0" err="1"/>
              <a:t>Cerebrosides</a:t>
            </a:r>
            <a:r>
              <a:rPr lang="en-US" sz="2400" dirty="0"/>
              <a:t> and gangliosides are especially prominent in brain and nerve cells.</a:t>
            </a:r>
          </a:p>
          <a:p>
            <a:pPr marL="334800" indent="-334800"/>
            <a:r>
              <a:rPr lang="en-US" sz="2400" dirty="0"/>
              <a:t>Gangliosides function as antigens on the plasma membrane surface.</a:t>
            </a:r>
          </a:p>
        </p:txBody>
      </p:sp>
    </p:spTree>
    <p:extLst>
      <p:ext uri="{BB962C8B-B14F-4D97-AF65-F5344CB8AC3E}">
        <p14:creationId xmlns:p14="http://schemas.microsoft.com/office/powerpoint/2010/main" val="30818216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82258"/>
            <a:ext cx="8229600" cy="553998"/>
          </a:xfrm>
          <a:noFill/>
          <a:ln>
            <a:noFill/>
          </a:ln>
        </p:spPr>
        <p:txBody>
          <a:bodyPr lIns="0" tIns="0" rIns="0" bIns="0" anchor="ctr" anchorCtr="0">
            <a:spAutoFit/>
          </a:bodyPr>
          <a:lstStyle/>
          <a:p>
            <a:r>
              <a:rPr lang="en-US" dirty="0"/>
              <a:t>Glycolipids </a:t>
            </a:r>
            <a:r>
              <a:rPr lang="en-US" sz="2800" dirty="0"/>
              <a:t>(2 of 2)</a:t>
            </a:r>
          </a:p>
        </p:txBody>
      </p:sp>
      <p:sp>
        <p:nvSpPr>
          <p:cNvPr id="4" name="Content Placeholder 6">
            <a:extLst>
              <a:ext uri="{FF2B5EF4-FFF2-40B4-BE49-F238E27FC236}">
                <a16:creationId xmlns:a16="http://schemas.microsoft.com/office/drawing/2014/main" id="{61CD29A1-E95F-436C-81C6-76B881A53D2A}"/>
              </a:ext>
            </a:extLst>
          </p:cNvPr>
          <p:cNvSpPr>
            <a:spLocks noGrp="1"/>
          </p:cNvSpPr>
          <p:nvPr>
            <p:ph idx="4294967295"/>
          </p:nvPr>
        </p:nvSpPr>
        <p:spPr>
          <a:xfrm>
            <a:off x="431626" y="974414"/>
            <a:ext cx="8263784" cy="369332"/>
          </a:xfrm>
          <a:prstGeom prst="rect">
            <a:avLst/>
          </a:prstGeom>
        </p:spPr>
        <p:txBody>
          <a:bodyPr lIns="0" tIns="0" rIns="0" bIns="0">
            <a:spAutoFit/>
          </a:bodyPr>
          <a:lstStyle/>
          <a:p>
            <a:pPr marL="0" indent="0">
              <a:buNone/>
            </a:pPr>
            <a:r>
              <a:rPr lang="en-US" sz="2400" b="1" dirty="0"/>
              <a:t>Figure 7.6 </a:t>
            </a:r>
            <a:r>
              <a:rPr lang="en-US" sz="2400" dirty="0"/>
              <a:t>The Three Major Classes of Membrane Lipids. </a:t>
            </a:r>
          </a:p>
        </p:txBody>
      </p:sp>
      <p:pic>
        <p:nvPicPr>
          <p:cNvPr id="11" name="Picture Placeholder 10" descr="Schematic diagram and chemical structures of phospholipids, glycolipids, and sterol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01"/>
          <a:stretch/>
        </p:blipFill>
        <p:spPr>
          <a:xfrm>
            <a:off x="1800177" y="1599545"/>
            <a:ext cx="5543646" cy="4691919"/>
          </a:xfrm>
        </p:spPr>
      </p:pic>
    </p:spTree>
    <p:extLst>
      <p:ext uri="{BB962C8B-B14F-4D97-AF65-F5344CB8AC3E}">
        <p14:creationId xmlns:p14="http://schemas.microsoft.com/office/powerpoint/2010/main" val="3646245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32541" y="176287"/>
            <a:ext cx="8263784" cy="553998"/>
          </a:xfrm>
        </p:spPr>
        <p:txBody>
          <a:bodyPr lIns="0" tIns="0" rIns="0" bIns="0" anchor="ctr">
            <a:spAutoFit/>
          </a:bodyPr>
          <a:lstStyle/>
          <a:p>
            <a:r>
              <a:rPr lang="en-US" sz="3600" dirty="0">
                <a:latin typeface="+mj-lt"/>
              </a:rPr>
              <a:t>Sterols </a:t>
            </a:r>
            <a:r>
              <a:rPr lang="en-US" sz="2800" dirty="0">
                <a:latin typeface="+mj-lt"/>
              </a:rPr>
              <a:t>(1 of 2)</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32541" y="1072895"/>
            <a:ext cx="8263784" cy="2970044"/>
          </a:xfrm>
        </p:spPr>
        <p:txBody>
          <a:bodyPr lIns="0" tIns="0" rIns="0" bIns="0">
            <a:spAutoFit/>
          </a:bodyPr>
          <a:lstStyle/>
          <a:p>
            <a:pPr marL="334800" indent="-334800"/>
            <a:r>
              <a:rPr lang="en-US" sz="2400" dirty="0"/>
              <a:t>The membranes of most eukaryotes contain significant amounts of </a:t>
            </a:r>
            <a:r>
              <a:rPr lang="en-US" sz="2400" b="1" dirty="0"/>
              <a:t>sterols</a:t>
            </a:r>
            <a:r>
              <a:rPr lang="en-US" sz="2400" dirty="0"/>
              <a:t>.</a:t>
            </a:r>
          </a:p>
          <a:p>
            <a:pPr marL="334800" indent="-334800"/>
            <a:r>
              <a:rPr lang="en-US" sz="2400" dirty="0"/>
              <a:t>The main sterol in animal cell membranes is </a:t>
            </a:r>
            <a:r>
              <a:rPr lang="en-US" sz="2400" b="1" dirty="0"/>
              <a:t>cholesterol, </a:t>
            </a:r>
            <a:r>
              <a:rPr lang="en-US" sz="2400" dirty="0"/>
              <a:t>which is needed to stabilize and maintain membranes.</a:t>
            </a:r>
          </a:p>
          <a:p>
            <a:pPr marL="334800" indent="-334800"/>
            <a:r>
              <a:rPr lang="en-US" sz="2400" dirty="0"/>
              <a:t>Plant cell membranes contain small amounts of </a:t>
            </a:r>
            <a:r>
              <a:rPr lang="en-US" sz="2400" b="1" dirty="0" err="1"/>
              <a:t>phytosterols</a:t>
            </a:r>
            <a:r>
              <a:rPr lang="en-US" sz="2400" b="1" dirty="0"/>
              <a:t>,</a:t>
            </a:r>
            <a:r>
              <a:rPr lang="en-US" sz="2400" dirty="0"/>
              <a:t> whereas fungal cell membranes contain </a:t>
            </a:r>
            <a:r>
              <a:rPr lang="en-US" sz="2400" b="1" dirty="0" err="1"/>
              <a:t>ergosterol</a:t>
            </a:r>
            <a:r>
              <a:rPr lang="en-US" sz="2400" b="1" dirty="0"/>
              <a:t>,</a:t>
            </a:r>
            <a:r>
              <a:rPr lang="en-US" sz="2400" dirty="0"/>
              <a:t> similar to cholesterol.</a:t>
            </a:r>
          </a:p>
        </p:txBody>
      </p:sp>
    </p:spTree>
    <p:extLst>
      <p:ext uri="{BB962C8B-B14F-4D97-AF65-F5344CB8AC3E}">
        <p14:creationId xmlns:p14="http://schemas.microsoft.com/office/powerpoint/2010/main" val="4151710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60779"/>
            <a:ext cx="8229600" cy="562551"/>
          </a:xfrm>
        </p:spPr>
        <p:txBody>
          <a:bodyPr lIns="0" tIns="0" rIns="0" bIns="0"/>
          <a:lstStyle/>
          <a:p>
            <a:r>
              <a:rPr lang="en-US" dirty="0"/>
              <a:t>Sterols </a:t>
            </a:r>
            <a:r>
              <a:rPr lang="en-US" sz="2800" dirty="0"/>
              <a:t>(2 of 2)</a:t>
            </a:r>
            <a:endParaRPr lang="en-IN" sz="2800" dirty="0"/>
          </a:p>
        </p:txBody>
      </p:sp>
      <p:sp>
        <p:nvSpPr>
          <p:cNvPr id="9" name="Content Placeholder 8"/>
          <p:cNvSpPr>
            <a:spLocks noGrp="1"/>
          </p:cNvSpPr>
          <p:nvPr>
            <p:ph sz="quarter" idx="14"/>
          </p:nvPr>
        </p:nvSpPr>
        <p:spPr>
          <a:xfrm>
            <a:off x="402609" y="982639"/>
            <a:ext cx="8229599" cy="395785"/>
          </a:xfrm>
        </p:spPr>
        <p:txBody>
          <a:bodyPr lIns="0" tIns="0" rIns="0" bIns="0"/>
          <a:lstStyle/>
          <a:p>
            <a:pPr marL="0" indent="0">
              <a:buNone/>
            </a:pPr>
            <a:r>
              <a:rPr lang="en-US" sz="2400" b="1" dirty="0"/>
              <a:t>Figure 7.6</a:t>
            </a:r>
            <a:r>
              <a:rPr lang="en-US" sz="2400" dirty="0"/>
              <a:t> The Three Major Classes of Membrane Lipids. </a:t>
            </a:r>
          </a:p>
        </p:txBody>
      </p:sp>
      <p:pic>
        <p:nvPicPr>
          <p:cNvPr id="12" name="Content Placeholder 11" descr="Schematic diagram and chemical structures of phospholipids, glycolipids, and sterols.&#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3551"/>
          <a:stretch/>
        </p:blipFill>
        <p:spPr>
          <a:xfrm>
            <a:off x="1736733" y="1556644"/>
            <a:ext cx="5681691" cy="4747956"/>
          </a:xfrm>
        </p:spPr>
      </p:pic>
    </p:spTree>
    <p:extLst>
      <p:ext uri="{BB962C8B-B14F-4D97-AF65-F5344CB8AC3E}">
        <p14:creationId xmlns:p14="http://schemas.microsoft.com/office/powerpoint/2010/main" val="15126623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Fatty Acids Are Essential to Membrane Structure and Function</a:t>
            </a:r>
            <a:endParaRPr lang="en-IN" dirty="0"/>
          </a:p>
        </p:txBody>
      </p:sp>
      <p:sp>
        <p:nvSpPr>
          <p:cNvPr id="7" name="Content Placeholder 6"/>
          <p:cNvSpPr>
            <a:spLocks noGrp="1"/>
          </p:cNvSpPr>
          <p:nvPr>
            <p:ph sz="quarter" idx="13"/>
          </p:nvPr>
        </p:nvSpPr>
        <p:spPr>
          <a:xfrm>
            <a:off x="420624" y="1441451"/>
            <a:ext cx="8232775" cy="2994072"/>
          </a:xfrm>
        </p:spPr>
        <p:txBody>
          <a:bodyPr lIns="0" tIns="0" rIns="0" bIns="0"/>
          <a:lstStyle/>
          <a:p>
            <a:pPr marL="342000" indent="-342000"/>
            <a:r>
              <a:rPr lang="en-US" sz="2400" b="1" dirty="0"/>
              <a:t>Fatty acids </a:t>
            </a:r>
            <a:r>
              <a:rPr lang="en-US" sz="2400" dirty="0"/>
              <a:t>are components of all membrane lipids except the sterols.</a:t>
            </a:r>
          </a:p>
          <a:p>
            <a:pPr marL="342000" indent="-342000"/>
            <a:r>
              <a:rPr lang="en-US" sz="2400" dirty="0"/>
              <a:t>Their long hydrocarbon tails provide a barrier to diffusion of polar solutes.</a:t>
            </a:r>
          </a:p>
          <a:p>
            <a:pPr marL="342000" indent="-342000"/>
            <a:r>
              <a:rPr lang="en-US" sz="2400" dirty="0"/>
              <a:t>The sizes of membrane fatty acids range between 12 and 20 carbons long, which is optimal for bilayer formation and dictates the usual thickness of membranes (6–8 nm).</a:t>
            </a:r>
          </a:p>
        </p:txBody>
      </p:sp>
    </p:spTree>
    <p:extLst>
      <p:ext uri="{BB962C8B-B14F-4D97-AF65-F5344CB8AC3E}">
        <p14:creationId xmlns:p14="http://schemas.microsoft.com/office/powerpoint/2010/main" val="1000759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Fatty Acids Vary in Degree of Saturation</a:t>
            </a:r>
            <a:endParaRPr lang="en-IN" dirty="0"/>
          </a:p>
        </p:txBody>
      </p:sp>
      <p:sp>
        <p:nvSpPr>
          <p:cNvPr id="7" name="Content Placeholder 6"/>
          <p:cNvSpPr>
            <a:spLocks noGrp="1"/>
          </p:cNvSpPr>
          <p:nvPr>
            <p:ph sz="quarter" idx="13"/>
          </p:nvPr>
        </p:nvSpPr>
        <p:spPr>
          <a:xfrm>
            <a:off x="420624" y="1441450"/>
            <a:ext cx="8232775" cy="2978150"/>
          </a:xfrm>
        </p:spPr>
        <p:txBody>
          <a:bodyPr lIns="0" tIns="0" rIns="0" bIns="0"/>
          <a:lstStyle/>
          <a:p>
            <a:pPr marL="342000" indent="-342000"/>
            <a:r>
              <a:rPr lang="en-US" sz="2400" dirty="0"/>
              <a:t>Fatty acids vary considerably in the presence and number of double bonds.</a:t>
            </a:r>
          </a:p>
          <a:p>
            <a:pPr marL="342000" indent="-342000"/>
            <a:r>
              <a:rPr lang="en-US" sz="2400" i="1" dirty="0" err="1"/>
              <a:t>Palmitate</a:t>
            </a:r>
            <a:r>
              <a:rPr lang="en-US" sz="2400" dirty="0"/>
              <a:t> (16 carbons) and </a:t>
            </a:r>
            <a:r>
              <a:rPr lang="en-US" sz="2400" i="1" dirty="0"/>
              <a:t>stearate </a:t>
            </a:r>
            <a:r>
              <a:rPr lang="en-US" sz="2400" dirty="0"/>
              <a:t>(18 carbons) are common </a:t>
            </a:r>
            <a:r>
              <a:rPr lang="en-US" sz="2400" b="1" dirty="0"/>
              <a:t>saturated fatty acids</a:t>
            </a:r>
            <a:r>
              <a:rPr lang="en-US" sz="2400" dirty="0"/>
              <a:t>.</a:t>
            </a:r>
          </a:p>
          <a:p>
            <a:pPr marL="342000" indent="-342000"/>
            <a:r>
              <a:rPr lang="en-US" sz="2400" i="1" dirty="0" err="1"/>
              <a:t>Oleate</a:t>
            </a:r>
            <a:r>
              <a:rPr lang="en-US" sz="2400" dirty="0"/>
              <a:t> (one double bond) and </a:t>
            </a:r>
            <a:r>
              <a:rPr lang="en-US" sz="2400" i="1" dirty="0" err="1"/>
              <a:t>linoleate</a:t>
            </a:r>
            <a:r>
              <a:rPr lang="en-US" sz="2400" dirty="0"/>
              <a:t> (two </a:t>
            </a:r>
            <a:br>
              <a:rPr lang="en-US" sz="2400" dirty="0"/>
            </a:br>
            <a:r>
              <a:rPr lang="en-US" sz="2400" dirty="0"/>
              <a:t>double bonds) are both 18-carbon </a:t>
            </a:r>
            <a:r>
              <a:rPr lang="en-US" sz="2400" b="1" dirty="0"/>
              <a:t>unsaturated fatty acids</a:t>
            </a:r>
            <a:r>
              <a:rPr lang="en-US" sz="2400" dirty="0"/>
              <a:t>.</a:t>
            </a:r>
          </a:p>
        </p:txBody>
      </p:sp>
    </p:spTree>
    <p:extLst>
      <p:ext uri="{BB962C8B-B14F-4D97-AF65-F5344CB8AC3E}">
        <p14:creationId xmlns:p14="http://schemas.microsoft.com/office/powerpoint/2010/main" val="1000759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47131"/>
            <a:ext cx="8229600" cy="562551"/>
          </a:xfrm>
        </p:spPr>
        <p:txBody>
          <a:bodyPr lIns="0" tIns="0" rIns="0" bIns="0"/>
          <a:lstStyle/>
          <a:p>
            <a:r>
              <a:rPr lang="en-US" dirty="0"/>
              <a:t>Polyunsaturated Fatty Acids</a:t>
            </a:r>
            <a:endParaRPr lang="en-IN" dirty="0"/>
          </a:p>
        </p:txBody>
      </p:sp>
      <p:sp>
        <p:nvSpPr>
          <p:cNvPr id="7" name="Content Placeholder 6"/>
          <p:cNvSpPr>
            <a:spLocks noGrp="1"/>
          </p:cNvSpPr>
          <p:nvPr>
            <p:ph sz="quarter" idx="13"/>
          </p:nvPr>
        </p:nvSpPr>
        <p:spPr>
          <a:xfrm>
            <a:off x="420624" y="968990"/>
            <a:ext cx="8232775" cy="4053386"/>
          </a:xfrm>
        </p:spPr>
        <p:txBody>
          <a:bodyPr lIns="0" tIns="0" rIns="0" bIns="0"/>
          <a:lstStyle/>
          <a:p>
            <a:pPr marL="342000" indent="-342000"/>
            <a:r>
              <a:rPr lang="en-US" sz="2400" dirty="0"/>
              <a:t>Polyunsaturated fatty acids have more than one double bond.</a:t>
            </a:r>
          </a:p>
          <a:p>
            <a:pPr marL="342000" indent="-342000"/>
            <a:r>
              <a:rPr lang="en-US" sz="2400" dirty="0"/>
              <a:t>Polyunsaturated fatty acids found in membranes include</a:t>
            </a:r>
            <a:r>
              <a:rPr lang="en-US" sz="2400" i="1" dirty="0"/>
              <a:t> </a:t>
            </a:r>
            <a:r>
              <a:rPr lang="en-US" sz="2400" i="1" dirty="0" err="1"/>
              <a:t>linoleate</a:t>
            </a:r>
            <a:r>
              <a:rPr lang="en-US" sz="2400" dirty="0"/>
              <a:t>, has 18 carbons and 3 double bonds (18:3) and </a:t>
            </a:r>
            <a:r>
              <a:rPr lang="en-US" sz="2400" i="1" dirty="0" err="1"/>
              <a:t>arachidonate</a:t>
            </a:r>
            <a:r>
              <a:rPr lang="en-US" sz="2400" i="1" dirty="0"/>
              <a:t> </a:t>
            </a:r>
            <a:r>
              <a:rPr lang="en-US" sz="2400" dirty="0"/>
              <a:t>(20:4).</a:t>
            </a:r>
          </a:p>
          <a:p>
            <a:pPr marL="342000" indent="-342000"/>
            <a:r>
              <a:rPr lang="en-US" sz="2400" i="1" dirty="0"/>
              <a:t>Omega-3 fatty acids </a:t>
            </a:r>
            <a:r>
              <a:rPr lang="en-US" sz="2400" dirty="0"/>
              <a:t>are polyunsaturated fatty acids with a double bond on the third carbon. </a:t>
            </a:r>
          </a:p>
          <a:p>
            <a:pPr marL="342000" indent="-342000"/>
            <a:r>
              <a:rPr lang="en-US" sz="2400" dirty="0"/>
              <a:t>They are essential for normal human development and may reduce the risk of heart disease.</a:t>
            </a:r>
          </a:p>
        </p:txBody>
      </p:sp>
    </p:spTree>
    <p:extLst>
      <p:ext uri="{BB962C8B-B14F-4D97-AF65-F5344CB8AC3E}">
        <p14:creationId xmlns:p14="http://schemas.microsoft.com/office/powerpoint/2010/main" val="10007595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2608" y="174427"/>
            <a:ext cx="8229600" cy="1097279"/>
          </a:xfrm>
        </p:spPr>
        <p:txBody>
          <a:bodyPr lIns="0" tIns="0" rIns="0" bIns="0"/>
          <a:lstStyle/>
          <a:p>
            <a:r>
              <a:rPr lang="en-US" dirty="0"/>
              <a:t>Structures of Some Common Fatty Acids Found in Membranes</a:t>
            </a:r>
            <a:endParaRPr lang="en-IN" dirty="0"/>
          </a:p>
        </p:txBody>
      </p:sp>
      <p:sp>
        <p:nvSpPr>
          <p:cNvPr id="3" name="Content Placeholder 2"/>
          <p:cNvSpPr>
            <a:spLocks noGrp="1"/>
          </p:cNvSpPr>
          <p:nvPr>
            <p:ph sz="quarter" idx="14"/>
          </p:nvPr>
        </p:nvSpPr>
        <p:spPr>
          <a:xfrm>
            <a:off x="416257" y="1552575"/>
            <a:ext cx="8270543" cy="755196"/>
          </a:xfrm>
        </p:spPr>
        <p:txBody>
          <a:bodyPr lIns="0" tIns="0" rIns="0" bIns="0"/>
          <a:lstStyle/>
          <a:p>
            <a:pPr marL="0" indent="0">
              <a:buNone/>
            </a:pPr>
            <a:r>
              <a:rPr lang="en-IN" sz="2400" b="1" dirty="0"/>
              <a:t>Figure 7.8</a:t>
            </a:r>
            <a:r>
              <a:rPr lang="en-IN" sz="2400" dirty="0"/>
              <a:t> Structures of Some Common Fatty Acids Found in Membranes. </a:t>
            </a:r>
          </a:p>
        </p:txBody>
      </p:sp>
      <p:pic>
        <p:nvPicPr>
          <p:cNvPr id="8" name="Content Placeholder 7" descr="Structures of common fatty acids like palmitate (16 is to 0), stearate (18 is to 0), oleate (18 is to 1), and linoleate (18 is to 2).&#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3161"/>
          <a:stretch/>
        </p:blipFill>
        <p:spPr>
          <a:xfrm>
            <a:off x="1756316" y="2577670"/>
            <a:ext cx="5451461" cy="3689672"/>
          </a:xfrm>
        </p:spPr>
      </p:pic>
    </p:spTree>
    <p:extLst>
      <p:ext uri="{BB962C8B-B14F-4D97-AF65-F5344CB8AC3E}">
        <p14:creationId xmlns:p14="http://schemas.microsoft.com/office/powerpoint/2010/main" val="10007595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47131"/>
            <a:ext cx="8229600" cy="1681668"/>
          </a:xfrm>
        </p:spPr>
        <p:txBody>
          <a:bodyPr lIns="0" tIns="0" rIns="0" bIns="0"/>
          <a:lstStyle/>
          <a:p>
            <a:r>
              <a:rPr lang="en-US" dirty="0"/>
              <a:t>Thin-Layer Chromatography Is an Important Technique for Lipid Analysis </a:t>
            </a:r>
            <a:endParaRPr lang="en-IN" dirty="0"/>
          </a:p>
        </p:txBody>
      </p:sp>
      <p:sp>
        <p:nvSpPr>
          <p:cNvPr id="7" name="Content Placeholder 6"/>
          <p:cNvSpPr>
            <a:spLocks noGrp="1"/>
          </p:cNvSpPr>
          <p:nvPr>
            <p:ph sz="quarter" idx="13"/>
          </p:nvPr>
        </p:nvSpPr>
        <p:spPr>
          <a:xfrm>
            <a:off x="420624" y="1965278"/>
            <a:ext cx="8232775" cy="3070746"/>
          </a:xfrm>
        </p:spPr>
        <p:txBody>
          <a:bodyPr lIns="0" tIns="0" rIns="0" bIns="0"/>
          <a:lstStyle/>
          <a:p>
            <a:pPr marL="342000" indent="-342000"/>
            <a:r>
              <a:rPr lang="en-US" sz="2400" dirty="0"/>
              <a:t>Lipids can be isolated, separated, and studied using nonpolar solvents such as acetone and chloroform.</a:t>
            </a:r>
          </a:p>
          <a:p>
            <a:pPr marL="342000" indent="-342000"/>
            <a:r>
              <a:rPr lang="en-US" sz="2400" b="1" dirty="0"/>
              <a:t>Thin-layer chromatography</a:t>
            </a:r>
            <a:r>
              <a:rPr lang="en-US" sz="2400" dirty="0"/>
              <a:t> (</a:t>
            </a:r>
            <a:r>
              <a:rPr lang="en-US" sz="2400" b="1" spc="-350" dirty="0"/>
              <a:t>T L C</a:t>
            </a:r>
            <a:r>
              <a:rPr lang="en-US" sz="2400" dirty="0"/>
              <a:t>) is used to separate different kinds of lipids based on their relative polarities.</a:t>
            </a:r>
          </a:p>
          <a:p>
            <a:pPr marL="342000" indent="-342000"/>
            <a:r>
              <a:rPr lang="en-US" sz="2400" dirty="0"/>
              <a:t>A glass plate is coated with silicic acid, and lipids are spotted onto a position near the bottom of the plate called the </a:t>
            </a:r>
            <a:r>
              <a:rPr lang="en-US" sz="2400" i="1" dirty="0"/>
              <a:t>origin.</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60779"/>
            <a:ext cx="8229600" cy="1097279"/>
          </a:xfrm>
        </p:spPr>
        <p:txBody>
          <a:bodyPr lIns="0" tIns="0" rIns="0" bIns="0"/>
          <a:lstStyle/>
          <a:p>
            <a:r>
              <a:rPr lang="en-US" dirty="0"/>
              <a:t>Principle of Separation of Lipids via </a:t>
            </a:r>
            <a:br>
              <a:rPr lang="en-US" dirty="0"/>
            </a:br>
            <a:r>
              <a:rPr lang="en-US" spc="-450" dirty="0"/>
              <a:t>T L C</a:t>
            </a:r>
            <a:endParaRPr lang="en-IN" spc="-450" dirty="0"/>
          </a:p>
        </p:txBody>
      </p:sp>
      <p:sp>
        <p:nvSpPr>
          <p:cNvPr id="7" name="Content Placeholder 6"/>
          <p:cNvSpPr>
            <a:spLocks noGrp="1"/>
          </p:cNvSpPr>
          <p:nvPr>
            <p:ph sz="quarter" idx="13"/>
          </p:nvPr>
        </p:nvSpPr>
        <p:spPr>
          <a:xfrm>
            <a:off x="420624" y="1441450"/>
            <a:ext cx="8232775" cy="3499040"/>
          </a:xfrm>
        </p:spPr>
        <p:txBody>
          <a:bodyPr lIns="0" tIns="0" rIns="0" bIns="0"/>
          <a:lstStyle/>
          <a:p>
            <a:pPr marL="342000" indent="-342000"/>
            <a:r>
              <a:rPr lang="en-US" sz="2400" dirty="0"/>
              <a:t>A nonpolar organic solvent moves up the plate by </a:t>
            </a:r>
            <a:r>
              <a:rPr lang="en-US" sz="2400" dirty="0" err="1"/>
              <a:t>capilary</a:t>
            </a:r>
            <a:r>
              <a:rPr lang="en-US" sz="2400" dirty="0"/>
              <a:t> action, taking different lipids with it to varying degrees.</a:t>
            </a:r>
          </a:p>
          <a:p>
            <a:pPr marL="342000" indent="-342000"/>
            <a:r>
              <a:rPr lang="en-US" sz="2400" dirty="0"/>
              <a:t>Nonpolar lipids have little affinity for the silicic acid on the plate, so they move readily with the solvent, near the </a:t>
            </a:r>
            <a:r>
              <a:rPr lang="en-US" sz="2400" i="1" dirty="0"/>
              <a:t>solvent front.</a:t>
            </a:r>
            <a:endParaRPr lang="en-US" sz="2400" dirty="0"/>
          </a:p>
          <a:p>
            <a:pPr marL="342000" indent="-342000"/>
            <a:r>
              <a:rPr lang="en-US" sz="2400" dirty="0"/>
              <a:t>Polar lipids will interact variably (depending on how polar they are) with the silicic acid, and their movement will be slowed proportionately.</a:t>
            </a:r>
          </a:p>
        </p:txBody>
      </p:sp>
    </p:spTree>
    <p:extLst>
      <p:ext uri="{BB962C8B-B14F-4D97-AF65-F5344CB8AC3E}">
        <p14:creationId xmlns:p14="http://schemas.microsoft.com/office/powerpoint/2010/main" val="10007595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06187"/>
            <a:ext cx="8229600" cy="1097279"/>
          </a:xfrm>
        </p:spPr>
        <p:txBody>
          <a:bodyPr lIns="0" tIns="0" rIns="0" bIns="0"/>
          <a:lstStyle/>
          <a:p>
            <a:r>
              <a:rPr lang="en-US" sz="3200" dirty="0"/>
              <a:t>Using Thin-Layer Chromatography to Separate and Analyze Membrane Lipids</a:t>
            </a:r>
            <a:endParaRPr lang="en-IN" sz="3200" dirty="0"/>
          </a:p>
        </p:txBody>
      </p:sp>
      <p:sp>
        <p:nvSpPr>
          <p:cNvPr id="3" name="Content Placeholder 2"/>
          <p:cNvSpPr>
            <a:spLocks noGrp="1"/>
          </p:cNvSpPr>
          <p:nvPr>
            <p:ph sz="quarter" idx="14"/>
          </p:nvPr>
        </p:nvSpPr>
        <p:spPr>
          <a:xfrm>
            <a:off x="416257" y="1429743"/>
            <a:ext cx="8229599" cy="753899"/>
          </a:xfrm>
        </p:spPr>
        <p:txBody>
          <a:bodyPr lIns="0" tIns="0" rIns="0" bIns="0"/>
          <a:lstStyle/>
          <a:p>
            <a:pPr marL="0" indent="0">
              <a:buNone/>
            </a:pPr>
            <a:r>
              <a:rPr lang="en-IN" sz="2400" b="1" dirty="0"/>
              <a:t>Figure 7.9</a:t>
            </a:r>
            <a:r>
              <a:rPr lang="en-IN" sz="2400" dirty="0"/>
              <a:t> Using Thin-Layer Chromatography to Separate and </a:t>
            </a:r>
            <a:r>
              <a:rPr lang="en-IN" sz="2400" dirty="0" err="1"/>
              <a:t>Analyze</a:t>
            </a:r>
            <a:r>
              <a:rPr lang="en-IN" sz="2400" dirty="0"/>
              <a:t> Membrane Lipids.</a:t>
            </a:r>
          </a:p>
        </p:txBody>
      </p:sp>
      <p:pic>
        <p:nvPicPr>
          <p:cNvPr id="8" name="Content Placeholder 7" descr="An experiment showing thin-layer chromatography which is used to separate and analyze membrane lipids. Image “a” shows a sample spotted on a glass TLC plate. Image “b” shows the mobile phase of the components where the TLC plate is placed in a solvent system.&#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158"/>
          <a:stretch/>
        </p:blipFill>
        <p:spPr>
          <a:xfrm>
            <a:off x="1515258" y="2563091"/>
            <a:ext cx="6323916" cy="3710709"/>
          </a:xfrm>
        </p:spPr>
      </p:pic>
    </p:spTree>
    <p:extLst>
      <p:ext uri="{BB962C8B-B14F-4D97-AF65-F5344CB8AC3E}">
        <p14:creationId xmlns:p14="http://schemas.microsoft.com/office/powerpoint/2010/main" val="10007595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42667"/>
            <a:ext cx="8229600" cy="1586133"/>
          </a:xfrm>
        </p:spPr>
        <p:txBody>
          <a:bodyPr lIns="0" tIns="0" rIns="0" bIns="0"/>
          <a:lstStyle/>
          <a:p>
            <a:r>
              <a:rPr lang="en-US" dirty="0"/>
              <a:t>Membrane Asymmetry: Most Lipids Are Distributed Unequally Between the Two Monolayers</a:t>
            </a:r>
            <a:endParaRPr lang="en-IN" dirty="0"/>
          </a:p>
        </p:txBody>
      </p:sp>
      <p:sp>
        <p:nvSpPr>
          <p:cNvPr id="7" name="Content Placeholder 6"/>
          <p:cNvSpPr>
            <a:spLocks noGrp="1"/>
          </p:cNvSpPr>
          <p:nvPr>
            <p:ph sz="quarter" idx="13"/>
          </p:nvPr>
        </p:nvSpPr>
        <p:spPr>
          <a:xfrm>
            <a:off x="420624" y="2019868"/>
            <a:ext cx="8232775" cy="3009333"/>
          </a:xfrm>
        </p:spPr>
        <p:txBody>
          <a:bodyPr lIns="0" tIns="0" rIns="0" bIns="0"/>
          <a:lstStyle/>
          <a:p>
            <a:pPr marL="342000" indent="-342000"/>
            <a:r>
              <a:rPr lang="en-US" sz="2400" b="1" dirty="0"/>
              <a:t>Membrane asymmetry </a:t>
            </a:r>
            <a:r>
              <a:rPr lang="en-US" sz="2400" dirty="0"/>
              <a:t>is the difference between the monolayers regarding the kind of lipids present and the degree of saturation of fatty acids in the phospholipids.</a:t>
            </a:r>
          </a:p>
          <a:p>
            <a:pPr marL="342000" indent="-342000"/>
            <a:r>
              <a:rPr lang="en-US" sz="2400" dirty="0"/>
              <a:t>Most of the glycolipids in the plasma membrane of animal cells are in the outer layer.</a:t>
            </a:r>
          </a:p>
          <a:p>
            <a:pPr marL="342000" indent="-342000"/>
            <a:r>
              <a:rPr lang="en-US" sz="2400" dirty="0"/>
              <a:t>Membrane asymmetry is established during the synthesis of the membrane.</a:t>
            </a:r>
          </a:p>
        </p:txBody>
      </p:sp>
    </p:spTree>
    <p:extLst>
      <p:ext uri="{BB962C8B-B14F-4D97-AF65-F5344CB8AC3E}">
        <p14:creationId xmlns:p14="http://schemas.microsoft.com/office/powerpoint/2010/main" val="1000759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Membrane Asymmetry Tends to Be Maintained</a:t>
            </a:r>
            <a:endParaRPr lang="en-IN" dirty="0"/>
          </a:p>
        </p:txBody>
      </p:sp>
      <p:sp>
        <p:nvSpPr>
          <p:cNvPr id="7" name="Content Placeholder 6"/>
          <p:cNvSpPr>
            <a:spLocks noGrp="1"/>
          </p:cNvSpPr>
          <p:nvPr>
            <p:ph sz="quarter" idx="13"/>
          </p:nvPr>
        </p:nvSpPr>
        <p:spPr>
          <a:xfrm>
            <a:off x="420624" y="1441450"/>
            <a:ext cx="8232775" cy="2775708"/>
          </a:xfrm>
        </p:spPr>
        <p:txBody>
          <a:bodyPr lIns="0" tIns="0" rIns="0" bIns="0"/>
          <a:lstStyle/>
          <a:p>
            <a:pPr marL="342000" indent="-342000"/>
            <a:r>
              <a:rPr lang="en-US" sz="2400" dirty="0"/>
              <a:t>Once established, membrane asymmetry does not change much.</a:t>
            </a:r>
          </a:p>
          <a:p>
            <a:pPr marL="342000" indent="-342000"/>
            <a:r>
              <a:rPr lang="en-US" sz="2400" dirty="0"/>
              <a:t>The movement of lipids from one monolayer to another requires their hydrophilic heads to move all the way through the hydrophobic interior of the bilayer.</a:t>
            </a:r>
          </a:p>
          <a:p>
            <a:pPr marL="342000" indent="-342000"/>
            <a:r>
              <a:rPr lang="en-US" sz="2400" dirty="0"/>
              <a:t>This </a:t>
            </a:r>
            <a:r>
              <a:rPr lang="en-US" sz="2400" b="1" dirty="0"/>
              <a:t>transverse diffusion</a:t>
            </a:r>
            <a:r>
              <a:rPr lang="en-US" sz="2400" dirty="0"/>
              <a:t> (or </a:t>
            </a:r>
            <a:r>
              <a:rPr lang="en-US" altLang="ja-JP" sz="2400" dirty="0"/>
              <a:t>“flip-flop”) is relatively rare.</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Lipids Move Freely Within Their Monolayer</a:t>
            </a:r>
            <a:endParaRPr lang="en-IN" dirty="0"/>
          </a:p>
        </p:txBody>
      </p:sp>
      <p:sp>
        <p:nvSpPr>
          <p:cNvPr id="7" name="Content Placeholder 6"/>
          <p:cNvSpPr>
            <a:spLocks noGrp="1"/>
          </p:cNvSpPr>
          <p:nvPr>
            <p:ph sz="quarter" idx="13"/>
          </p:nvPr>
        </p:nvSpPr>
        <p:spPr>
          <a:xfrm>
            <a:off x="420624" y="1441450"/>
            <a:ext cx="8232775" cy="2502753"/>
          </a:xfrm>
        </p:spPr>
        <p:txBody>
          <a:bodyPr lIns="0" tIns="0" rIns="0" bIns="0"/>
          <a:lstStyle/>
          <a:p>
            <a:pPr marL="342000" indent="-342000"/>
            <a:r>
              <a:rPr lang="en-US" sz="2400" dirty="0"/>
              <a:t>Lipids are mobile within their monolayer.</a:t>
            </a:r>
          </a:p>
          <a:p>
            <a:pPr marL="342000" indent="-342000"/>
            <a:r>
              <a:rPr lang="en-US" sz="2400" b="1" dirty="0"/>
              <a:t>Rotation</a:t>
            </a:r>
            <a:r>
              <a:rPr lang="en-US" sz="2400" dirty="0"/>
              <a:t> of phospholipids about their axes can occur.</a:t>
            </a:r>
          </a:p>
          <a:p>
            <a:pPr marL="342000" indent="-342000"/>
            <a:r>
              <a:rPr lang="en-US" sz="2400" dirty="0"/>
              <a:t>Phospholipids can also move within the monolayer, via </a:t>
            </a:r>
            <a:r>
              <a:rPr lang="en-US" sz="2400" b="1" dirty="0"/>
              <a:t>lateral diffusion.</a:t>
            </a:r>
          </a:p>
          <a:p>
            <a:pPr marL="342000" indent="-342000"/>
            <a:r>
              <a:rPr lang="en-US" sz="2400" dirty="0"/>
              <a:t>Both types of movement are rapid and random.</a:t>
            </a:r>
          </a:p>
        </p:txBody>
      </p:sp>
    </p:spTree>
    <p:extLst>
      <p:ext uri="{BB962C8B-B14F-4D97-AF65-F5344CB8AC3E}">
        <p14:creationId xmlns:p14="http://schemas.microsoft.com/office/powerpoint/2010/main" val="10007595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8"/>
            <a:ext cx="8229600" cy="548904"/>
          </a:xfrm>
        </p:spPr>
        <p:txBody>
          <a:bodyPr lIns="0" tIns="0" rIns="0" bIns="0"/>
          <a:lstStyle/>
          <a:p>
            <a:r>
              <a:rPr lang="en-US" dirty="0"/>
              <a:t>Transverse Diffusion Does Occur</a:t>
            </a:r>
            <a:endParaRPr lang="en-IN" dirty="0"/>
          </a:p>
        </p:txBody>
      </p:sp>
      <p:sp>
        <p:nvSpPr>
          <p:cNvPr id="7" name="Content Placeholder 6"/>
          <p:cNvSpPr>
            <a:spLocks noGrp="1"/>
          </p:cNvSpPr>
          <p:nvPr>
            <p:ph sz="quarter" idx="13"/>
          </p:nvPr>
        </p:nvSpPr>
        <p:spPr>
          <a:xfrm>
            <a:off x="420624" y="982640"/>
            <a:ext cx="8232775" cy="3179927"/>
          </a:xfrm>
        </p:spPr>
        <p:txBody>
          <a:bodyPr lIns="0" tIns="0" rIns="0" bIns="0"/>
          <a:lstStyle/>
          <a:p>
            <a:pPr marL="342000" indent="-342000"/>
            <a:r>
              <a:rPr lang="en-US" sz="2400" dirty="0"/>
              <a:t>Though rare, phospholipid flip-flop does occur in natural membranes.</a:t>
            </a:r>
          </a:p>
          <a:p>
            <a:pPr marL="342000" indent="-342000"/>
            <a:r>
              <a:rPr lang="en-US" sz="2400" dirty="0"/>
              <a:t>Some membranes, in particular the smooth ER membrane, have proteins that catalyze the flip-flop of membrane lipids.</a:t>
            </a:r>
          </a:p>
          <a:p>
            <a:pPr marL="342000" indent="-342000"/>
            <a:r>
              <a:rPr lang="en-US" sz="2400" dirty="0"/>
              <a:t>These proteins are called </a:t>
            </a:r>
            <a:r>
              <a:rPr lang="en-US" sz="2400" b="1" dirty="0"/>
              <a:t>phospholipid </a:t>
            </a:r>
            <a:r>
              <a:rPr lang="en-US" sz="2400" b="1" dirty="0" err="1"/>
              <a:t>translocators</a:t>
            </a:r>
            <a:r>
              <a:rPr lang="en-US" sz="2400" b="1" dirty="0"/>
              <a:t>,</a:t>
            </a:r>
            <a:r>
              <a:rPr lang="en-US" sz="2400" dirty="0"/>
              <a:t> or </a:t>
            </a:r>
            <a:r>
              <a:rPr lang="en-US" sz="2400" b="1" dirty="0" err="1"/>
              <a:t>flippases</a:t>
            </a:r>
            <a:r>
              <a:rPr lang="en-US" sz="2400" dirty="0"/>
              <a:t>.</a:t>
            </a:r>
          </a:p>
        </p:txBody>
      </p:sp>
    </p:spTree>
    <p:extLst>
      <p:ext uri="{BB962C8B-B14F-4D97-AF65-F5344CB8AC3E}">
        <p14:creationId xmlns:p14="http://schemas.microsoft.com/office/powerpoint/2010/main" val="10007595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74427"/>
            <a:ext cx="8229600" cy="1097279"/>
          </a:xfrm>
        </p:spPr>
        <p:txBody>
          <a:bodyPr lIns="0" tIns="0" rIns="0" bIns="0"/>
          <a:lstStyle/>
          <a:p>
            <a:r>
              <a:rPr lang="en-US" dirty="0"/>
              <a:t>Movements of Phospholipid Molecules Within Membranes</a:t>
            </a:r>
            <a:endParaRPr lang="en-IN" dirty="0"/>
          </a:p>
        </p:txBody>
      </p:sp>
      <p:sp>
        <p:nvSpPr>
          <p:cNvPr id="3" name="Content Placeholder 2"/>
          <p:cNvSpPr>
            <a:spLocks noGrp="1"/>
          </p:cNvSpPr>
          <p:nvPr>
            <p:ph sz="quarter" idx="14"/>
          </p:nvPr>
        </p:nvSpPr>
        <p:spPr>
          <a:xfrm>
            <a:off x="416257" y="1552576"/>
            <a:ext cx="8270543" cy="740682"/>
          </a:xfrm>
        </p:spPr>
        <p:txBody>
          <a:bodyPr lIns="0" tIns="0" rIns="0" bIns="0"/>
          <a:lstStyle/>
          <a:p>
            <a:pPr marL="0" indent="0">
              <a:buNone/>
            </a:pPr>
            <a:r>
              <a:rPr lang="en-IN" sz="2400" b="1" dirty="0"/>
              <a:t>Figure 7.10</a:t>
            </a:r>
            <a:r>
              <a:rPr lang="en-IN" sz="2400" dirty="0"/>
              <a:t> Movements of Phospholipid Molecules Within Membranes. </a:t>
            </a:r>
          </a:p>
        </p:txBody>
      </p:sp>
      <p:pic>
        <p:nvPicPr>
          <p:cNvPr id="8" name="Content Placeholder 7" descr="An illustration of the phospholipid bilayer showing transverse diffusion or flip-flop, rotation, and lateral diffusion of a phospholipid molecule.&#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t="1" b="2894"/>
          <a:stretch/>
        </p:blipFill>
        <p:spPr>
          <a:xfrm>
            <a:off x="1544308" y="2576962"/>
            <a:ext cx="6056574" cy="3597145"/>
          </a:xfrm>
        </p:spPr>
      </p:pic>
    </p:spTree>
    <p:extLst>
      <p:ext uri="{BB962C8B-B14F-4D97-AF65-F5344CB8AC3E}">
        <p14:creationId xmlns:p14="http://schemas.microsoft.com/office/powerpoint/2010/main" val="10007595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93328" y="174428"/>
            <a:ext cx="8229600" cy="548904"/>
          </a:xfrm>
        </p:spPr>
        <p:txBody>
          <a:bodyPr lIns="0" tIns="0" rIns="0" bIns="0"/>
          <a:lstStyle/>
          <a:p>
            <a:r>
              <a:rPr lang="en-US" dirty="0"/>
              <a:t>The Lipid Bilayer Is Fluid</a:t>
            </a:r>
            <a:endParaRPr lang="en-IN" dirty="0"/>
          </a:p>
        </p:txBody>
      </p:sp>
      <p:sp>
        <p:nvSpPr>
          <p:cNvPr id="7" name="Content Placeholder 6"/>
          <p:cNvSpPr>
            <a:spLocks noGrp="1"/>
          </p:cNvSpPr>
          <p:nvPr>
            <p:ph sz="quarter" idx="13"/>
          </p:nvPr>
        </p:nvSpPr>
        <p:spPr>
          <a:xfrm>
            <a:off x="420624" y="968990"/>
            <a:ext cx="8232775" cy="2825088"/>
          </a:xfrm>
        </p:spPr>
        <p:txBody>
          <a:bodyPr lIns="0" tIns="0" rIns="0" bIns="0"/>
          <a:lstStyle/>
          <a:p>
            <a:pPr marL="342000" indent="-342000"/>
            <a:r>
              <a:rPr lang="en-US" sz="2400" dirty="0">
                <a:latin typeface="+mn-lt"/>
              </a:rPr>
              <a:t>The lipid bilayer behaves as a fluid that permits the movement of both lipids and proteins.</a:t>
            </a:r>
          </a:p>
          <a:p>
            <a:pPr marL="342000" indent="-342000"/>
            <a:r>
              <a:rPr lang="en-US" sz="2400" dirty="0">
                <a:latin typeface="+mn-lt"/>
              </a:rPr>
              <a:t>Lipids can move as much as several </a:t>
            </a:r>
            <a:r>
              <a:rPr lang="el-GR" sz="2400" dirty="0">
                <a:latin typeface="+mn-lt"/>
                <a:cs typeface="Times New Roman" panose="02020603050405020304" pitchFamily="18" charset="0"/>
              </a:rPr>
              <a:t>μ</a:t>
            </a:r>
            <a:r>
              <a:rPr lang="en-US" sz="2400" dirty="0">
                <a:latin typeface="+mn-lt"/>
              </a:rPr>
              <a:t>m per second within the monolayer.</a:t>
            </a:r>
          </a:p>
          <a:p>
            <a:pPr marL="342000" indent="-342000"/>
            <a:r>
              <a:rPr lang="en-US" sz="2400" dirty="0">
                <a:latin typeface="+mn-lt"/>
              </a:rPr>
              <a:t>Lateral diffusion can be demonstrated using </a:t>
            </a:r>
            <a:r>
              <a:rPr lang="en-US" sz="2400" b="1" u="sng" dirty="0">
                <a:latin typeface="+mn-lt"/>
              </a:rPr>
              <a:t>f</a:t>
            </a:r>
            <a:r>
              <a:rPr lang="en-US" sz="2400" b="1" dirty="0">
                <a:latin typeface="+mn-lt"/>
              </a:rPr>
              <a:t>luorescence </a:t>
            </a:r>
            <a:r>
              <a:rPr lang="en-US" sz="2400" b="1" u="sng" dirty="0">
                <a:latin typeface="+mn-lt"/>
              </a:rPr>
              <a:t>r</a:t>
            </a:r>
            <a:r>
              <a:rPr lang="en-US" sz="2400" b="1" dirty="0">
                <a:latin typeface="+mn-lt"/>
              </a:rPr>
              <a:t>ecovery </a:t>
            </a:r>
            <a:r>
              <a:rPr lang="en-US" sz="2400" b="1" u="sng" dirty="0">
                <a:latin typeface="+mn-lt"/>
              </a:rPr>
              <a:t>a</a:t>
            </a:r>
            <a:r>
              <a:rPr lang="en-US" sz="2400" b="1" dirty="0">
                <a:latin typeface="+mn-lt"/>
              </a:rPr>
              <a:t>fter </a:t>
            </a:r>
            <a:r>
              <a:rPr lang="en-US" sz="2400" b="1" u="sng" dirty="0" err="1">
                <a:latin typeface="+mn-lt"/>
              </a:rPr>
              <a:t>p</a:t>
            </a:r>
            <a:r>
              <a:rPr lang="en-US" sz="2400" b="1" dirty="0" err="1">
                <a:latin typeface="+mn-lt"/>
              </a:rPr>
              <a:t>hotobleaching</a:t>
            </a:r>
            <a:r>
              <a:rPr lang="en-US" sz="2400" b="1" dirty="0">
                <a:latin typeface="+mn-lt"/>
              </a:rPr>
              <a:t> </a:t>
            </a:r>
            <a:r>
              <a:rPr lang="en-US" sz="2400" dirty="0">
                <a:latin typeface="+mn-lt"/>
              </a:rPr>
              <a:t>(</a:t>
            </a:r>
            <a:r>
              <a:rPr lang="en-US" sz="2400" b="1" spc="-350" dirty="0">
                <a:latin typeface="+mn-lt"/>
              </a:rPr>
              <a:t>F R A P</a:t>
            </a:r>
            <a:r>
              <a:rPr lang="en-US" sz="2400" dirty="0">
                <a:latin typeface="+mn-lt"/>
              </a:rPr>
              <a:t>).</a:t>
            </a:r>
          </a:p>
        </p:txBody>
      </p:sp>
    </p:spTree>
    <p:extLst>
      <p:ext uri="{BB962C8B-B14F-4D97-AF65-F5344CB8AC3E}">
        <p14:creationId xmlns:p14="http://schemas.microsoft.com/office/powerpoint/2010/main" val="10007595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Membranes Function Properly Only in the Fluid State</a:t>
            </a:r>
            <a:endParaRPr lang="en-IN" dirty="0"/>
          </a:p>
        </p:txBody>
      </p:sp>
      <p:sp>
        <p:nvSpPr>
          <p:cNvPr id="7" name="Content Placeholder 6"/>
          <p:cNvSpPr>
            <a:spLocks noGrp="1"/>
          </p:cNvSpPr>
          <p:nvPr>
            <p:ph sz="quarter" idx="13"/>
          </p:nvPr>
        </p:nvSpPr>
        <p:spPr>
          <a:xfrm>
            <a:off x="420624" y="1441450"/>
            <a:ext cx="8232775" cy="4709968"/>
          </a:xfrm>
        </p:spPr>
        <p:txBody>
          <a:bodyPr lIns="0" tIns="0" rIns="0" bIns="0"/>
          <a:lstStyle/>
          <a:p>
            <a:pPr marL="342000" indent="-342000"/>
            <a:r>
              <a:rPr lang="en-US" sz="2400" dirty="0"/>
              <a:t>Membrane fluidity changes with temperature, decreasing as temperature falls and vice versa.</a:t>
            </a:r>
          </a:p>
          <a:p>
            <a:pPr marL="342000" indent="-342000"/>
            <a:r>
              <a:rPr lang="en-US" sz="2400" dirty="0"/>
              <a:t>Every lipid bilayer has a characteristic </a:t>
            </a:r>
            <a:r>
              <a:rPr lang="en-US" sz="2400" b="1" dirty="0"/>
              <a:t>transition temperature </a:t>
            </a:r>
            <a:r>
              <a:rPr lang="en-US" sz="2400" b="1" i="1" dirty="0"/>
              <a:t>T</a:t>
            </a:r>
            <a:r>
              <a:rPr lang="en-US" sz="2400" b="1" baseline="-25000" dirty="0"/>
              <a:t>m</a:t>
            </a:r>
            <a:r>
              <a:rPr lang="en-US" sz="2400" b="1" dirty="0"/>
              <a:t>,</a:t>
            </a:r>
            <a:r>
              <a:rPr lang="en-US" sz="2400" dirty="0"/>
              <a:t>  the temperature at which it becomes fluid.</a:t>
            </a:r>
          </a:p>
          <a:p>
            <a:pPr marL="342000" indent="-342000"/>
            <a:r>
              <a:rPr lang="en-US" sz="2400" dirty="0"/>
              <a:t>This change of state is called a </a:t>
            </a:r>
            <a:r>
              <a:rPr lang="en-US" sz="2400" b="1" dirty="0"/>
              <a:t>phase transition,</a:t>
            </a:r>
            <a:r>
              <a:rPr lang="en-US" sz="2400" dirty="0"/>
              <a:t> in this case from solid to liquid.</a:t>
            </a:r>
            <a:endParaRPr lang="en-US" sz="2400" b="1" dirty="0"/>
          </a:p>
          <a:p>
            <a:pPr marL="342000" indent="-342000"/>
            <a:r>
              <a:rPr lang="en-US" sz="2400" dirty="0"/>
              <a:t>Below the </a:t>
            </a:r>
            <a:r>
              <a:rPr lang="en-US" sz="2400" i="1" dirty="0"/>
              <a:t>T</a:t>
            </a:r>
            <a:r>
              <a:rPr lang="en-US" sz="2400" baseline="-25000" dirty="0"/>
              <a:t>m</a:t>
            </a:r>
            <a:r>
              <a:rPr lang="en-US" sz="2400" dirty="0"/>
              <a:t>, any functions that rely on membrane fluidity will be disrupted.</a:t>
            </a:r>
          </a:p>
        </p:txBody>
      </p:sp>
    </p:spTree>
    <p:extLst>
      <p:ext uri="{BB962C8B-B14F-4D97-AF65-F5344CB8AC3E}">
        <p14:creationId xmlns:p14="http://schemas.microsoft.com/office/powerpoint/2010/main" val="10007595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Measuring the Transition Temperature of a Membrane</a:t>
            </a:r>
            <a:endParaRPr lang="en-IN" dirty="0"/>
          </a:p>
        </p:txBody>
      </p:sp>
      <p:sp>
        <p:nvSpPr>
          <p:cNvPr id="7" name="Content Placeholder 6"/>
          <p:cNvSpPr>
            <a:spLocks noGrp="1"/>
          </p:cNvSpPr>
          <p:nvPr>
            <p:ph sz="quarter" idx="13"/>
          </p:nvPr>
        </p:nvSpPr>
        <p:spPr>
          <a:xfrm>
            <a:off x="420624" y="1441450"/>
            <a:ext cx="8232775" cy="2534805"/>
          </a:xfrm>
        </p:spPr>
        <p:txBody>
          <a:bodyPr lIns="0" tIns="0" rIns="0" bIns="0"/>
          <a:lstStyle/>
          <a:p>
            <a:pPr marL="342900" lvl="1" indent="-342900">
              <a:buFont typeface="Arial" panose="020B0604020202020204" pitchFamily="34" charset="0"/>
              <a:buChar char="•"/>
            </a:pPr>
            <a:r>
              <a:rPr lang="en-US" sz="2400" dirty="0">
                <a:cs typeface="ＭＳ Ｐゴシック" charset="0"/>
              </a:rPr>
              <a:t>The transition temperature can be measured by </a:t>
            </a:r>
            <a:r>
              <a:rPr lang="en-US" sz="2400" b="1" dirty="0">
                <a:cs typeface="ＭＳ Ｐゴシック" charset="0"/>
              </a:rPr>
              <a:t>differential scanning </a:t>
            </a:r>
            <a:r>
              <a:rPr lang="en-US" sz="2400" b="1" dirty="0" err="1">
                <a:cs typeface="ＭＳ Ｐゴシック" charset="0"/>
              </a:rPr>
              <a:t>calorimetry</a:t>
            </a:r>
            <a:r>
              <a:rPr lang="en-US" sz="2400" dirty="0">
                <a:cs typeface="ＭＳ Ｐゴシック" charset="0"/>
              </a:rPr>
              <a:t>.</a:t>
            </a:r>
          </a:p>
          <a:p>
            <a:pPr marL="342900" lvl="1" indent="-342900">
              <a:buFont typeface="Arial" panose="020B0604020202020204" pitchFamily="34" charset="0"/>
              <a:buChar char="•"/>
            </a:pPr>
            <a:r>
              <a:rPr lang="en-US" sz="2400" dirty="0"/>
              <a:t>The membrane is placed inside a </a:t>
            </a:r>
            <a:r>
              <a:rPr lang="en-US" sz="2400" i="1" dirty="0"/>
              <a:t>calorimeter,</a:t>
            </a:r>
            <a:r>
              <a:rPr lang="en-US" sz="2400" dirty="0"/>
              <a:t> and the uptake of heat is measured as temperature is increased.</a:t>
            </a:r>
          </a:p>
          <a:p>
            <a:pPr marL="342900" lvl="1" indent="-342900">
              <a:buFont typeface="Arial" panose="020B0604020202020204" pitchFamily="34" charset="0"/>
              <a:buChar char="•"/>
            </a:pPr>
            <a:r>
              <a:rPr lang="en-US" sz="2400" dirty="0"/>
              <a:t>The </a:t>
            </a:r>
            <a:r>
              <a:rPr lang="en-US" sz="2400" i="1" dirty="0"/>
              <a:t>T</a:t>
            </a:r>
            <a:r>
              <a:rPr lang="en-US" sz="2400" baseline="-25000" dirty="0"/>
              <a:t>m</a:t>
            </a:r>
            <a:r>
              <a:rPr lang="en-US" sz="2400" dirty="0"/>
              <a:t> is the point of maximum heat absorption as  the membrane changes from the gel to the fluid state.</a:t>
            </a:r>
          </a:p>
        </p:txBody>
      </p:sp>
    </p:spTree>
    <p:extLst>
      <p:ext uri="{BB962C8B-B14F-4D97-AF65-F5344CB8AC3E}">
        <p14:creationId xmlns:p14="http://schemas.microsoft.com/office/powerpoint/2010/main" val="10007595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60779"/>
            <a:ext cx="8229600" cy="1668017"/>
          </a:xfrm>
        </p:spPr>
        <p:txBody>
          <a:bodyPr lIns="0" tIns="0" rIns="0" bIns="0"/>
          <a:lstStyle/>
          <a:p>
            <a:r>
              <a:rPr lang="en-US" dirty="0"/>
              <a:t>Determination of Membrane Transition Temperature by Differential Scanning </a:t>
            </a:r>
            <a:r>
              <a:rPr lang="en-US" dirty="0" err="1"/>
              <a:t>Calorimetry</a:t>
            </a:r>
            <a:r>
              <a:rPr lang="en-US" dirty="0"/>
              <a:t> </a:t>
            </a:r>
            <a:endParaRPr lang="en-IN" dirty="0"/>
          </a:p>
        </p:txBody>
      </p:sp>
      <p:sp>
        <p:nvSpPr>
          <p:cNvPr id="3" name="Content Placeholder 2"/>
          <p:cNvSpPr>
            <a:spLocks noGrp="1"/>
          </p:cNvSpPr>
          <p:nvPr>
            <p:ph sz="quarter" idx="14"/>
          </p:nvPr>
        </p:nvSpPr>
        <p:spPr>
          <a:xfrm>
            <a:off x="429905" y="2088108"/>
            <a:ext cx="8270543" cy="777922"/>
          </a:xfrm>
        </p:spPr>
        <p:txBody>
          <a:bodyPr lIns="0" tIns="0" rIns="0" bIns="0"/>
          <a:lstStyle/>
          <a:p>
            <a:pPr marL="0" indent="0">
              <a:buNone/>
            </a:pPr>
            <a:r>
              <a:rPr lang="en-IN" sz="2400" b="1" dirty="0"/>
              <a:t>Figure 7.11 </a:t>
            </a:r>
            <a:r>
              <a:rPr lang="en-IN" sz="2400" dirty="0"/>
              <a:t>Determination of Membrane Transition Temperature by Differential Scanning Calorimetry.</a:t>
            </a:r>
          </a:p>
        </p:txBody>
      </p:sp>
      <p:pic>
        <p:nvPicPr>
          <p:cNvPr id="8" name="Content Placeholder 7" descr="Image “a” shows heat absorption by a normal membrane and the image “b” shows the heat absorption by membranes enriched in unsaturated or saturated fatty acids like oleate and stearate. &#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4477"/>
          <a:stretch/>
        </p:blipFill>
        <p:spPr>
          <a:xfrm>
            <a:off x="1245241" y="3161639"/>
            <a:ext cx="6746569" cy="3007149"/>
          </a:xfrm>
        </p:spPr>
      </p:pic>
    </p:spTree>
    <p:extLst>
      <p:ext uri="{BB962C8B-B14F-4D97-AF65-F5344CB8AC3E}">
        <p14:creationId xmlns:p14="http://schemas.microsoft.com/office/powerpoint/2010/main" val="10007595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Effects of Fatty Acid Composition on Membrane Fluidity</a:t>
            </a:r>
            <a:endParaRPr lang="en-IN" dirty="0"/>
          </a:p>
        </p:txBody>
      </p:sp>
      <p:sp>
        <p:nvSpPr>
          <p:cNvPr id="7" name="Content Placeholder 6"/>
          <p:cNvSpPr>
            <a:spLocks noGrp="1"/>
          </p:cNvSpPr>
          <p:nvPr>
            <p:ph sz="quarter" idx="13"/>
          </p:nvPr>
        </p:nvSpPr>
        <p:spPr>
          <a:xfrm>
            <a:off x="420624" y="1441450"/>
            <a:ext cx="8232775" cy="2853459"/>
          </a:xfrm>
        </p:spPr>
        <p:txBody>
          <a:bodyPr lIns="0" tIns="0" rIns="0" bIns="0"/>
          <a:lstStyle/>
          <a:p>
            <a:pPr marL="342900" lvl="1" indent="-342900">
              <a:buFont typeface="Arial" panose="020B0604020202020204" pitchFamily="34" charset="0"/>
              <a:buChar char="•"/>
            </a:pPr>
            <a:r>
              <a:rPr lang="en-US" sz="2400" dirty="0"/>
              <a:t>Fluidity of a membrane depends mainly on the fatty acids that it contains.</a:t>
            </a:r>
          </a:p>
          <a:p>
            <a:pPr marL="342900" lvl="1" indent="-342900">
              <a:buFont typeface="Arial" panose="020B0604020202020204" pitchFamily="34" charset="0"/>
              <a:buChar char="•"/>
            </a:pPr>
            <a:r>
              <a:rPr lang="en-US" sz="2400" dirty="0"/>
              <a:t>The length of fatty acid chains and the degree of saturation both affect the fluidity of the membrane.</a:t>
            </a:r>
          </a:p>
          <a:p>
            <a:pPr marL="342900" lvl="1" indent="-342900">
              <a:buFont typeface="Arial" panose="020B0604020202020204" pitchFamily="34" charset="0"/>
              <a:buChar char="•"/>
            </a:pPr>
            <a:r>
              <a:rPr lang="en-US" sz="2400" dirty="0"/>
              <a:t>Long-chain and saturated fatty acids have higher </a:t>
            </a:r>
            <a:r>
              <a:rPr lang="en-US" sz="2400" i="1" dirty="0"/>
              <a:t>T</a:t>
            </a:r>
            <a:r>
              <a:rPr lang="en-US" sz="2400" baseline="-25000" dirty="0"/>
              <a:t>m</a:t>
            </a:r>
            <a:r>
              <a:rPr lang="en-US" sz="2400" dirty="0"/>
              <a:t> values, whereas short-chain and unsaturated fatty acids have lower </a:t>
            </a:r>
            <a:r>
              <a:rPr lang="en-US" sz="2400" i="1" dirty="0"/>
              <a:t>T</a:t>
            </a:r>
            <a:r>
              <a:rPr lang="en-US" sz="2400" baseline="-25000" dirty="0"/>
              <a:t>m</a:t>
            </a:r>
            <a:r>
              <a:rPr lang="en-US" sz="2400" dirty="0"/>
              <a:t> values.</a:t>
            </a:r>
          </a:p>
        </p:txBody>
      </p:sp>
    </p:spTree>
    <p:extLst>
      <p:ext uri="{BB962C8B-B14F-4D97-AF65-F5344CB8AC3E}">
        <p14:creationId xmlns:p14="http://schemas.microsoft.com/office/powerpoint/2010/main" val="10007595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2608" y="229019"/>
            <a:ext cx="8229600" cy="1599781"/>
          </a:xfrm>
        </p:spPr>
        <p:txBody>
          <a:bodyPr lIns="0" tIns="0" rIns="0" bIns="0"/>
          <a:lstStyle/>
          <a:p>
            <a:r>
              <a:rPr lang="en-US" dirty="0"/>
              <a:t>Chain Length and Degree of Unsaturation Affect the Melting Point of Fatty Acids </a:t>
            </a:r>
            <a:endParaRPr lang="en-IN" dirty="0"/>
          </a:p>
        </p:txBody>
      </p:sp>
      <p:sp>
        <p:nvSpPr>
          <p:cNvPr id="3" name="Content Placeholder 2"/>
          <p:cNvSpPr>
            <a:spLocks noGrp="1"/>
          </p:cNvSpPr>
          <p:nvPr>
            <p:ph sz="quarter" idx="14"/>
          </p:nvPr>
        </p:nvSpPr>
        <p:spPr>
          <a:xfrm>
            <a:off x="416256" y="2210937"/>
            <a:ext cx="4879075" cy="1037230"/>
          </a:xfrm>
        </p:spPr>
        <p:txBody>
          <a:bodyPr lIns="0" tIns="0" rIns="0" bIns="0"/>
          <a:lstStyle/>
          <a:p>
            <a:pPr marL="0" indent="0">
              <a:buNone/>
            </a:pPr>
            <a:r>
              <a:rPr lang="en-IN" sz="2200" b="1" dirty="0"/>
              <a:t>Figure 7.12</a:t>
            </a:r>
            <a:r>
              <a:rPr lang="en-IN" sz="2200" dirty="0"/>
              <a:t> Chain Length and Degree of Unsaturation Affect the Melting Point of Fatty Acids. </a:t>
            </a:r>
          </a:p>
        </p:txBody>
      </p:sp>
      <p:pic>
        <p:nvPicPr>
          <p:cNvPr id="8" name="Content Placeholder 7" descr="The image “a” shows the bar graph of the effect of chain length on the melting point based on the number of carbon atoms and the image “b” shows the bar graph of the effect of unsaturation on the melting point based on the number of double bonds. &#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380"/>
          <a:stretch/>
        </p:blipFill>
        <p:spPr>
          <a:xfrm>
            <a:off x="5710343" y="2086502"/>
            <a:ext cx="2838728" cy="3930124"/>
          </a:xfrm>
        </p:spPr>
      </p:pic>
    </p:spTree>
    <p:extLst>
      <p:ext uri="{BB962C8B-B14F-4D97-AF65-F5344CB8AC3E}">
        <p14:creationId xmlns:p14="http://schemas.microsoft.com/office/powerpoint/2010/main" val="1000759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Fatty Acid Saturation and Membrane Fluidity</a:t>
            </a:r>
            <a:endParaRPr lang="en-IN" dirty="0"/>
          </a:p>
        </p:txBody>
      </p:sp>
      <p:sp>
        <p:nvSpPr>
          <p:cNvPr id="7" name="Content Placeholder 6"/>
          <p:cNvSpPr>
            <a:spLocks noGrp="1"/>
          </p:cNvSpPr>
          <p:nvPr>
            <p:ph sz="quarter" idx="13"/>
          </p:nvPr>
        </p:nvSpPr>
        <p:spPr>
          <a:xfrm>
            <a:off x="420624" y="1441450"/>
            <a:ext cx="8232775" cy="2229798"/>
          </a:xfrm>
        </p:spPr>
        <p:txBody>
          <a:bodyPr lIns="0" tIns="0" rIns="0" bIns="0"/>
          <a:lstStyle/>
          <a:p>
            <a:pPr marL="342900" lvl="1" indent="-342900">
              <a:buFont typeface="Arial" panose="020B0604020202020204" pitchFamily="34" charset="0"/>
              <a:buChar char="•"/>
            </a:pPr>
            <a:r>
              <a:rPr lang="en-US" sz="2400" dirty="0"/>
              <a:t>Saturated fatty acids pack together well in the membrane.</a:t>
            </a:r>
          </a:p>
          <a:p>
            <a:pPr marL="342900" lvl="1" indent="-342900">
              <a:buFont typeface="Arial" panose="020B0604020202020204" pitchFamily="34" charset="0"/>
              <a:buChar char="•"/>
            </a:pPr>
            <a:r>
              <a:rPr lang="en-US" sz="2400" dirty="0"/>
              <a:t>Fatty acids with one or more double bonds have bends in the chains that prevent them from packing together neatly.</a:t>
            </a:r>
          </a:p>
          <a:p>
            <a:pPr marL="342900" lvl="1" indent="-342900">
              <a:buFont typeface="Arial" panose="020B0604020202020204" pitchFamily="34" charset="0"/>
              <a:buChar char="•"/>
            </a:pPr>
            <a:r>
              <a:rPr lang="en-US" sz="2400" dirty="0"/>
              <a:t>Thus, unsaturated fatty acids are more fluid than saturated fatty acids and have lower </a:t>
            </a:r>
            <a:r>
              <a:rPr lang="en-US" sz="2400" i="1" dirty="0"/>
              <a:t>T</a:t>
            </a:r>
            <a:r>
              <a:rPr lang="en-US" sz="2400" baseline="-25000" dirty="0"/>
              <a:t>m </a:t>
            </a:r>
            <a:r>
              <a:rPr lang="en-US" sz="2400" dirty="0"/>
              <a:t>values.</a:t>
            </a:r>
          </a:p>
        </p:txBody>
      </p:sp>
    </p:spTree>
    <p:extLst>
      <p:ext uri="{BB962C8B-B14F-4D97-AF65-F5344CB8AC3E}">
        <p14:creationId xmlns:p14="http://schemas.microsoft.com/office/powerpoint/2010/main" val="10007595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2608" y="174427"/>
            <a:ext cx="8229600" cy="1097279"/>
          </a:xfrm>
        </p:spPr>
        <p:txBody>
          <a:bodyPr lIns="0" tIns="0" rIns="0" bIns="0"/>
          <a:lstStyle/>
          <a:p>
            <a:r>
              <a:rPr lang="en-US" dirty="0"/>
              <a:t>The Effect of Unsaturated Fatty Acids on the Packing of Membrane Lipids</a:t>
            </a:r>
            <a:endParaRPr lang="en-IN" dirty="0"/>
          </a:p>
        </p:txBody>
      </p:sp>
      <p:sp>
        <p:nvSpPr>
          <p:cNvPr id="3" name="Content Placeholder 2"/>
          <p:cNvSpPr>
            <a:spLocks noGrp="1"/>
          </p:cNvSpPr>
          <p:nvPr>
            <p:ph sz="quarter" idx="14"/>
          </p:nvPr>
        </p:nvSpPr>
        <p:spPr>
          <a:xfrm>
            <a:off x="457201" y="1552575"/>
            <a:ext cx="8229599" cy="822135"/>
          </a:xfrm>
        </p:spPr>
        <p:txBody>
          <a:bodyPr lIns="0" tIns="0" rIns="0" bIns="0"/>
          <a:lstStyle/>
          <a:p>
            <a:pPr marL="0" indent="0">
              <a:buNone/>
            </a:pPr>
            <a:r>
              <a:rPr lang="en-IN" sz="2400" b="1" dirty="0"/>
              <a:t>Figure 7.13 </a:t>
            </a:r>
            <a:r>
              <a:rPr lang="en-IN" sz="2400" dirty="0"/>
              <a:t>The Effect of Unsaturated Fatty Acids on the Packing of Membrane Lipids.</a:t>
            </a:r>
          </a:p>
        </p:txBody>
      </p:sp>
      <p:pic>
        <p:nvPicPr>
          <p:cNvPr id="8" name="Content Placeholder 7" descr="The image “a” shows chemical structures of lipids with saturated fatty acids and image “b” shows the chemical structures of lipids with unsaturated fatty acids.&#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601"/>
          <a:stretch/>
        </p:blipFill>
        <p:spPr>
          <a:xfrm>
            <a:off x="1847583" y="2526135"/>
            <a:ext cx="5459996" cy="3754114"/>
          </a:xfrm>
        </p:spPr>
      </p:pic>
    </p:spTree>
    <p:extLst>
      <p:ext uri="{BB962C8B-B14F-4D97-AF65-F5344CB8AC3E}">
        <p14:creationId xmlns:p14="http://schemas.microsoft.com/office/powerpoint/2010/main" val="10007595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8"/>
            <a:ext cx="8229600" cy="548904"/>
          </a:xfrm>
        </p:spPr>
        <p:txBody>
          <a:bodyPr lIns="0" tIns="0" rIns="0" bIns="0"/>
          <a:lstStyle/>
          <a:p>
            <a:r>
              <a:rPr lang="en-US" dirty="0"/>
              <a:t>Membrane Composition </a:t>
            </a:r>
            <a:endParaRPr lang="en-IN" dirty="0"/>
          </a:p>
        </p:txBody>
      </p:sp>
      <p:sp>
        <p:nvSpPr>
          <p:cNvPr id="7" name="Content Placeholder 6"/>
          <p:cNvSpPr>
            <a:spLocks noGrp="1"/>
          </p:cNvSpPr>
          <p:nvPr>
            <p:ph sz="quarter" idx="13"/>
          </p:nvPr>
        </p:nvSpPr>
        <p:spPr>
          <a:xfrm>
            <a:off x="420624" y="968990"/>
            <a:ext cx="8232775" cy="3152634"/>
          </a:xfrm>
        </p:spPr>
        <p:txBody>
          <a:bodyPr lIns="0" tIns="0" rIns="0" bIns="0"/>
          <a:lstStyle/>
          <a:p>
            <a:pPr marL="342000" indent="-342000"/>
            <a:r>
              <a:rPr lang="en-US" sz="2400" dirty="0"/>
              <a:t>Most plasma membrane fatty acids vary in chain length and degree of saturation.</a:t>
            </a:r>
          </a:p>
          <a:p>
            <a:pPr marL="342000" indent="-342000"/>
            <a:r>
              <a:rPr lang="en-US" sz="2400" dirty="0"/>
              <a:t>This helps to ensure that membranes are fluid at physiological temperatures.</a:t>
            </a:r>
          </a:p>
          <a:p>
            <a:pPr marL="342000" indent="-342000"/>
            <a:r>
              <a:rPr lang="en-US" sz="2400" dirty="0"/>
              <a:t>Most unsaturated fatty acids have </a:t>
            </a:r>
            <a:r>
              <a:rPr lang="en-US" sz="2400" i="1" dirty="0" err="1"/>
              <a:t>cis</a:t>
            </a:r>
            <a:r>
              <a:rPr lang="en-US" sz="2400" dirty="0"/>
              <a:t> double bonds, unlike the commercially produced </a:t>
            </a:r>
            <a:r>
              <a:rPr lang="en-US" sz="2400" i="1" dirty="0"/>
              <a:t>trans </a:t>
            </a:r>
            <a:r>
              <a:rPr lang="en-US" sz="2400" dirty="0"/>
              <a:t>fats, which pack together like saturated fats do.</a:t>
            </a:r>
          </a:p>
        </p:txBody>
      </p:sp>
    </p:spTree>
    <p:extLst>
      <p:ext uri="{BB962C8B-B14F-4D97-AF65-F5344CB8AC3E}">
        <p14:creationId xmlns:p14="http://schemas.microsoft.com/office/powerpoint/2010/main" val="10007595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312" y="106188"/>
            <a:ext cx="8229600" cy="617142"/>
          </a:xfrm>
        </p:spPr>
        <p:txBody>
          <a:bodyPr lIns="0" tIns="0" rIns="0" bIns="0"/>
          <a:lstStyle/>
          <a:p>
            <a:r>
              <a:rPr lang="en-US" i="1" dirty="0" err="1"/>
              <a:t>Cis</a:t>
            </a:r>
            <a:r>
              <a:rPr lang="en-US" dirty="0"/>
              <a:t> and </a:t>
            </a:r>
            <a:r>
              <a:rPr lang="en-US" i="1" dirty="0"/>
              <a:t>Trans</a:t>
            </a:r>
            <a:r>
              <a:rPr lang="en-US" dirty="0"/>
              <a:t> Configuration</a:t>
            </a:r>
            <a:endParaRPr lang="en-IN" dirty="0"/>
          </a:p>
        </p:txBody>
      </p:sp>
      <p:pic>
        <p:nvPicPr>
          <p:cNvPr id="9" name="Content Placeholder 5" descr="The chemical structures of “cis configuration” and “trans configuration.” Both have a C to C double bond with R. &#10;Long description is available in notes, press F6">
            <a:extLst>
              <a:ext uri="{FF2B5EF4-FFF2-40B4-BE49-F238E27FC236}">
                <a16:creationId xmlns:a16="http://schemas.microsoft.com/office/drawing/2014/main" id="{102278E9-E350-47BC-A205-A71A0E61004C}"/>
              </a:ext>
            </a:extLst>
          </p:cNvPr>
          <p:cNvPicPr>
            <a:picLocks noGrp="1" noChangeAspect="1"/>
          </p:cNvPicPr>
          <p:nvPr>
            <p:ph sz="quarter" idx="14"/>
          </p:nvPr>
        </p:nvPicPr>
        <p:blipFill rotWithShape="1">
          <a:blip r:embed="rId3">
            <a:extLst>
              <a:ext uri="{28A0092B-C50C-407E-A947-70E740481C1C}">
                <a14:useLocalDpi xmlns:a14="http://schemas.microsoft.com/office/drawing/2010/main" val="0"/>
              </a:ext>
            </a:extLst>
          </a:blip>
          <a:srcRect b="10937"/>
          <a:stretch/>
        </p:blipFill>
        <p:spPr>
          <a:xfrm>
            <a:off x="704733" y="2238752"/>
            <a:ext cx="7832560" cy="2056360"/>
          </a:xfrm>
          <a:prstGeom prst="rect">
            <a:avLst/>
          </a:prstGeom>
        </p:spPr>
      </p:pic>
    </p:spTree>
    <p:extLst>
      <p:ext uri="{BB962C8B-B14F-4D97-AF65-F5344CB8AC3E}">
        <p14:creationId xmlns:p14="http://schemas.microsoft.com/office/powerpoint/2010/main" val="10007595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Effects of Sterols on Membrane Fluidity</a:t>
            </a:r>
            <a:endParaRPr lang="en-IN" dirty="0"/>
          </a:p>
        </p:txBody>
      </p:sp>
      <p:sp>
        <p:nvSpPr>
          <p:cNvPr id="7" name="Content Placeholder 6"/>
          <p:cNvSpPr>
            <a:spLocks noGrp="1"/>
          </p:cNvSpPr>
          <p:nvPr>
            <p:ph sz="quarter" idx="13"/>
          </p:nvPr>
        </p:nvSpPr>
        <p:spPr>
          <a:xfrm>
            <a:off x="420624" y="1441450"/>
            <a:ext cx="8232775" cy="3726295"/>
          </a:xfrm>
        </p:spPr>
        <p:txBody>
          <a:bodyPr lIns="0" tIns="0" rIns="0" bIns="0"/>
          <a:lstStyle/>
          <a:p>
            <a:pPr marL="342000" indent="-342000">
              <a:lnSpc>
                <a:spcPts val="3100"/>
              </a:lnSpc>
            </a:pPr>
            <a:r>
              <a:rPr lang="en-US" sz="2400" dirty="0"/>
              <a:t>Membrane fluidity is influenced by sterols.</a:t>
            </a:r>
          </a:p>
          <a:p>
            <a:pPr marL="342000" indent="-342000">
              <a:lnSpc>
                <a:spcPts val="3100"/>
              </a:lnSpc>
            </a:pPr>
            <a:r>
              <a:rPr lang="en-US" sz="2400" dirty="0"/>
              <a:t>The intercalation of rigid cholesterol molecules into a membrane decreases its fluidity and increases the </a:t>
            </a:r>
            <a:r>
              <a:rPr lang="en-US" sz="2400" i="1" dirty="0"/>
              <a:t>T</a:t>
            </a:r>
            <a:r>
              <a:rPr lang="en-US" sz="2400" baseline="-25000" dirty="0"/>
              <a:t>m</a:t>
            </a:r>
            <a:r>
              <a:rPr lang="en-US" sz="2400" dirty="0"/>
              <a:t>.</a:t>
            </a:r>
          </a:p>
          <a:p>
            <a:pPr marL="342000" indent="-342000">
              <a:lnSpc>
                <a:spcPts val="3100"/>
              </a:lnSpc>
            </a:pPr>
            <a:r>
              <a:rPr lang="en-US" sz="2400" dirty="0"/>
              <a:t>However, cholesterol also prevents hydrocarbon chains of phospholipids from packing together tightly and so reduces the tendency of membranes to gel upon cooling.</a:t>
            </a:r>
          </a:p>
          <a:p>
            <a:pPr marL="342000" indent="-342000">
              <a:lnSpc>
                <a:spcPts val="3100"/>
              </a:lnSpc>
            </a:pPr>
            <a:r>
              <a:rPr lang="en-US" sz="2400" dirty="0"/>
              <a:t>Therefore, cholesterol is a fluidity buffer; sterols in other organisms may function similarly.</a:t>
            </a:r>
          </a:p>
        </p:txBody>
      </p:sp>
    </p:spTree>
    <p:extLst>
      <p:ext uri="{BB962C8B-B14F-4D97-AF65-F5344CB8AC3E}">
        <p14:creationId xmlns:p14="http://schemas.microsoft.com/office/powerpoint/2010/main" val="10007595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368" y="174427"/>
            <a:ext cx="8229600" cy="1097279"/>
          </a:xfrm>
        </p:spPr>
        <p:txBody>
          <a:bodyPr anchor="ctr"/>
          <a:lstStyle/>
          <a:p>
            <a:r>
              <a:rPr lang="en-US" dirty="0"/>
              <a:t>Orientation of Cholesterol Molecules in a Lipid Bilayer</a:t>
            </a:r>
            <a:endParaRPr lang="en-IN" dirty="0"/>
          </a:p>
        </p:txBody>
      </p:sp>
      <p:sp>
        <p:nvSpPr>
          <p:cNvPr id="4" name="Content Placeholder 3"/>
          <p:cNvSpPr>
            <a:spLocks noGrp="1"/>
          </p:cNvSpPr>
          <p:nvPr>
            <p:ph sz="quarter" idx="14"/>
          </p:nvPr>
        </p:nvSpPr>
        <p:spPr>
          <a:xfrm>
            <a:off x="416255" y="1538927"/>
            <a:ext cx="5233917" cy="794840"/>
          </a:xfrm>
        </p:spPr>
        <p:txBody>
          <a:bodyPr lIns="0" tIns="0" rIns="0" bIns="0"/>
          <a:lstStyle/>
          <a:p>
            <a:pPr marL="0" indent="0">
              <a:buNone/>
            </a:pPr>
            <a:r>
              <a:rPr lang="en-IN" sz="2400" b="1" dirty="0"/>
              <a:t>Figure 7.14</a:t>
            </a:r>
            <a:r>
              <a:rPr lang="en-IN" sz="2400" dirty="0"/>
              <a:t> Orientation of Cholesterol Molecules in a Lipid Bilayer.</a:t>
            </a:r>
          </a:p>
        </p:txBody>
      </p:sp>
      <p:pic>
        <p:nvPicPr>
          <p:cNvPr id="9" name="Content Placeholder 8" descr="Image “a” explains the structure of cholesterol in plasma membrane and image “b” shows the bonding of cholesterol to phospholipid.&#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1656"/>
          <a:stretch/>
        </p:blipFill>
        <p:spPr>
          <a:xfrm>
            <a:off x="6036866" y="1544350"/>
            <a:ext cx="2595120" cy="4542411"/>
          </a:xfrm>
        </p:spPr>
      </p:pic>
    </p:spTree>
    <p:extLst>
      <p:ext uri="{BB962C8B-B14F-4D97-AF65-F5344CB8AC3E}">
        <p14:creationId xmlns:p14="http://schemas.microsoft.com/office/powerpoint/2010/main" val="10007595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Other Effects of Sterols on Membranes</a:t>
            </a:r>
            <a:endParaRPr lang="en-IN" dirty="0"/>
          </a:p>
        </p:txBody>
      </p:sp>
      <p:sp>
        <p:nvSpPr>
          <p:cNvPr id="7" name="Content Placeholder 6"/>
          <p:cNvSpPr>
            <a:spLocks noGrp="1"/>
          </p:cNvSpPr>
          <p:nvPr>
            <p:ph sz="quarter" idx="13"/>
          </p:nvPr>
        </p:nvSpPr>
        <p:spPr>
          <a:xfrm>
            <a:off x="420624" y="1441450"/>
            <a:ext cx="8232775" cy="2775708"/>
          </a:xfrm>
        </p:spPr>
        <p:txBody>
          <a:bodyPr lIns="0" tIns="0" rIns="0" bIns="0"/>
          <a:lstStyle/>
          <a:p>
            <a:pPr marL="342000" indent="-342000"/>
            <a:r>
              <a:rPr lang="en-US" sz="2400" dirty="0"/>
              <a:t>Sterols decrease the permeability of membranes to ions and small polar molecules.</a:t>
            </a:r>
          </a:p>
          <a:p>
            <a:pPr marL="342000" indent="-342000"/>
            <a:r>
              <a:rPr lang="en-US" sz="2400" dirty="0"/>
              <a:t>This is likely because they fill spaces between the hydrocarbon chains of phospholipids.</a:t>
            </a:r>
          </a:p>
          <a:p>
            <a:pPr marL="342000" indent="-342000"/>
            <a:r>
              <a:rPr lang="en-US" sz="2400" dirty="0"/>
              <a:t>This effectively blocks the routes that ions and small molecules would take through the membrane.</a:t>
            </a:r>
          </a:p>
        </p:txBody>
      </p:sp>
    </p:spTree>
    <p:extLst>
      <p:ext uri="{BB962C8B-B14F-4D97-AF65-F5344CB8AC3E}">
        <p14:creationId xmlns:p14="http://schemas.microsoft.com/office/powerpoint/2010/main" val="10007595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Most Organisms Can Regulate Membrane Fluidity</a:t>
            </a:r>
            <a:endParaRPr lang="en-IN" dirty="0"/>
          </a:p>
        </p:txBody>
      </p:sp>
      <p:sp>
        <p:nvSpPr>
          <p:cNvPr id="7" name="Content Placeholder 6"/>
          <p:cNvSpPr>
            <a:spLocks noGrp="1"/>
          </p:cNvSpPr>
          <p:nvPr>
            <p:ph sz="quarter" idx="13"/>
          </p:nvPr>
        </p:nvSpPr>
        <p:spPr>
          <a:xfrm>
            <a:off x="420624" y="1441450"/>
            <a:ext cx="8232775" cy="3366077"/>
          </a:xfrm>
        </p:spPr>
        <p:txBody>
          <a:bodyPr lIns="0" tIns="0" rIns="0" bIns="0"/>
          <a:lstStyle/>
          <a:p>
            <a:pPr marL="342000" indent="-342000"/>
            <a:r>
              <a:rPr lang="en-US" sz="2400" dirty="0"/>
              <a:t>Most organisms can regulate membrane fluidity by varying the lipid composition of the membranes.</a:t>
            </a:r>
          </a:p>
          <a:p>
            <a:pPr marL="342000" indent="-342000"/>
            <a:r>
              <a:rPr lang="en-US" sz="2400" dirty="0"/>
              <a:t>This is most important in </a:t>
            </a:r>
            <a:r>
              <a:rPr lang="en-US" sz="2400" i="1" dirty="0" err="1"/>
              <a:t>poikilotherms</a:t>
            </a:r>
            <a:r>
              <a:rPr lang="en-US" sz="2400" i="1" dirty="0"/>
              <a:t>,</a:t>
            </a:r>
            <a:r>
              <a:rPr lang="en-US" sz="2400" dirty="0"/>
              <a:t> organisms that cannot regulate their body temperature.</a:t>
            </a:r>
          </a:p>
          <a:p>
            <a:pPr marL="342000" indent="-342000"/>
            <a:r>
              <a:rPr lang="en-US" sz="2400" dirty="0" err="1"/>
              <a:t>Poikilotherms</a:t>
            </a:r>
            <a:r>
              <a:rPr lang="en-US" sz="2400" dirty="0"/>
              <a:t> use</a:t>
            </a:r>
            <a:r>
              <a:rPr lang="en-US" sz="2400" b="1" dirty="0"/>
              <a:t> </a:t>
            </a:r>
            <a:r>
              <a:rPr lang="en-US" sz="2400" b="1" dirty="0" err="1"/>
              <a:t>homeoviscous</a:t>
            </a:r>
            <a:r>
              <a:rPr lang="en-US" sz="2400" b="1" dirty="0"/>
              <a:t> adaptation, </a:t>
            </a:r>
            <a:r>
              <a:rPr lang="en-US" sz="2400" dirty="0"/>
              <a:t>compensating for changes in temperature by altering</a:t>
            </a:r>
            <a:r>
              <a:rPr lang="en-US" sz="2400" b="1" dirty="0"/>
              <a:t> </a:t>
            </a:r>
            <a:r>
              <a:rPr lang="en-US" sz="2400" dirty="0"/>
              <a:t>the length and degree of saturation of fatty acids in their membranes.</a:t>
            </a:r>
          </a:p>
        </p:txBody>
      </p:sp>
    </p:spTree>
    <p:extLst>
      <p:ext uri="{BB962C8B-B14F-4D97-AF65-F5344CB8AC3E}">
        <p14:creationId xmlns:p14="http://schemas.microsoft.com/office/powerpoint/2010/main" val="10007595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78892"/>
            <a:ext cx="8229600" cy="644438"/>
          </a:xfrm>
        </p:spPr>
        <p:txBody>
          <a:bodyPr lIns="0" tIns="0" rIns="0" bIns="0"/>
          <a:lstStyle/>
          <a:p>
            <a:r>
              <a:rPr lang="en-US" dirty="0"/>
              <a:t>Oxygen and </a:t>
            </a:r>
            <a:r>
              <a:rPr lang="en-US" dirty="0" err="1"/>
              <a:t>Desaturase</a:t>
            </a:r>
            <a:r>
              <a:rPr lang="en-US" dirty="0"/>
              <a:t> Enzyme</a:t>
            </a:r>
            <a:endParaRPr lang="en-IN" dirty="0"/>
          </a:p>
        </p:txBody>
      </p:sp>
      <p:sp>
        <p:nvSpPr>
          <p:cNvPr id="7" name="Content Placeholder 6"/>
          <p:cNvSpPr>
            <a:spLocks noGrp="1"/>
          </p:cNvSpPr>
          <p:nvPr>
            <p:ph sz="quarter" idx="13"/>
          </p:nvPr>
        </p:nvSpPr>
        <p:spPr>
          <a:xfrm>
            <a:off x="420624" y="968990"/>
            <a:ext cx="8232775" cy="3466532"/>
          </a:xfrm>
        </p:spPr>
        <p:txBody>
          <a:bodyPr lIns="0" tIns="0" rIns="0" bIns="0"/>
          <a:lstStyle/>
          <a:p>
            <a:pPr marL="342000" indent="-342000"/>
            <a:r>
              <a:rPr lang="en-US" sz="2400" dirty="0"/>
              <a:t>Some organisms have a </a:t>
            </a:r>
            <a:r>
              <a:rPr lang="en-US" sz="2400" i="1" dirty="0" err="1"/>
              <a:t>desaturase</a:t>
            </a:r>
            <a:r>
              <a:rPr lang="en-US" sz="2400" dirty="0"/>
              <a:t> enzyme, which introduces double bonds into fatty acids as needed. </a:t>
            </a:r>
          </a:p>
          <a:p>
            <a:pPr marL="342000" indent="-342000"/>
            <a:r>
              <a:rPr lang="en-US" sz="2400" dirty="0"/>
              <a:t>In plants and yeasts, temperature-related fluidity changes are tied to the increased solubility of oxygen at lower temperatures.</a:t>
            </a:r>
          </a:p>
          <a:p>
            <a:pPr marL="342000" indent="-342000"/>
            <a:r>
              <a:rPr lang="en-US" sz="2400" dirty="0"/>
              <a:t>More oxygen is available at low temperatures, and oxygen acts as a substrate for </a:t>
            </a:r>
            <a:r>
              <a:rPr lang="en-US" sz="2400" dirty="0" err="1"/>
              <a:t>desaturase</a:t>
            </a:r>
            <a:r>
              <a:rPr lang="en-US" sz="2400" dirty="0"/>
              <a:t>, allowing membrane fluidity to be maintained at lower temperatures.</a:t>
            </a:r>
          </a:p>
        </p:txBody>
      </p:sp>
    </p:spTree>
    <p:extLst>
      <p:ext uri="{BB962C8B-B14F-4D97-AF65-F5344CB8AC3E}">
        <p14:creationId xmlns:p14="http://schemas.microsoft.com/office/powerpoint/2010/main" val="10007595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29020"/>
            <a:ext cx="8229600" cy="971984"/>
          </a:xfrm>
        </p:spPr>
        <p:txBody>
          <a:bodyPr lIns="0" tIns="0" rIns="0" bIns="0"/>
          <a:lstStyle/>
          <a:p>
            <a:r>
              <a:rPr lang="en-US" sz="3200" dirty="0"/>
              <a:t>Lipid Micro- and </a:t>
            </a:r>
            <a:r>
              <a:rPr lang="en-US" sz="3200" dirty="0" err="1"/>
              <a:t>Nanodomains</a:t>
            </a:r>
            <a:r>
              <a:rPr lang="en-US" sz="3200" dirty="0"/>
              <a:t> May Localize Molecules in Membranes </a:t>
            </a:r>
            <a:r>
              <a:rPr lang="en-US" sz="2800" dirty="0"/>
              <a:t>(1 of 2)</a:t>
            </a:r>
            <a:endParaRPr lang="en-IN" sz="2800" dirty="0"/>
          </a:p>
        </p:txBody>
      </p:sp>
      <p:sp>
        <p:nvSpPr>
          <p:cNvPr id="7" name="Content Placeholder 6"/>
          <p:cNvSpPr>
            <a:spLocks noGrp="1"/>
          </p:cNvSpPr>
          <p:nvPr>
            <p:ph sz="quarter" idx="13"/>
          </p:nvPr>
        </p:nvSpPr>
        <p:spPr>
          <a:xfrm>
            <a:off x="420624" y="1441450"/>
            <a:ext cx="8232775" cy="2775708"/>
          </a:xfrm>
        </p:spPr>
        <p:txBody>
          <a:bodyPr lIns="0" tIns="0" rIns="0" bIns="0"/>
          <a:lstStyle/>
          <a:p>
            <a:pPr marL="342000" indent="-342000"/>
            <a:r>
              <a:rPr lang="en-US" sz="2400" dirty="0"/>
              <a:t>Lipid components of the membrane are not homogenous. </a:t>
            </a:r>
          </a:p>
          <a:p>
            <a:pPr marL="342000" indent="-342000"/>
            <a:r>
              <a:rPr lang="en-US" sz="2400" dirty="0"/>
              <a:t>Lipid rafts (or </a:t>
            </a:r>
            <a:r>
              <a:rPr lang="en-US" sz="2400" dirty="0" err="1"/>
              <a:t>microdomains</a:t>
            </a:r>
            <a:r>
              <a:rPr lang="en-US" sz="2400" dirty="0"/>
              <a:t>) are areas of a membrane that are localized, nonhomogeneous regions within a monolayer that sequester proteins. </a:t>
            </a:r>
          </a:p>
          <a:p>
            <a:pPr marL="342000" indent="-342000"/>
            <a:r>
              <a:rPr lang="en-US" sz="2400" dirty="0"/>
              <a:t>These are dynamic structures that change in composition as lipids and proteins move in and out of them.</a:t>
            </a:r>
          </a:p>
        </p:txBody>
      </p:sp>
    </p:spTree>
    <p:extLst>
      <p:ext uri="{BB962C8B-B14F-4D97-AF65-F5344CB8AC3E}">
        <p14:creationId xmlns:p14="http://schemas.microsoft.com/office/powerpoint/2010/main" val="10007595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42668"/>
            <a:ext cx="8229600" cy="958336"/>
          </a:xfrm>
        </p:spPr>
        <p:txBody>
          <a:bodyPr lIns="0" tIns="0" rIns="0" bIns="0"/>
          <a:lstStyle/>
          <a:p>
            <a:r>
              <a:rPr lang="en-US" sz="3200" dirty="0"/>
              <a:t>Lipid Micro- and </a:t>
            </a:r>
            <a:r>
              <a:rPr lang="en-US" sz="3200" dirty="0" err="1"/>
              <a:t>Nanodomains</a:t>
            </a:r>
            <a:r>
              <a:rPr lang="en-US" sz="3200" dirty="0"/>
              <a:t> May Localize Molecules in Membranes </a:t>
            </a:r>
            <a:r>
              <a:rPr lang="en-US" sz="2800" dirty="0"/>
              <a:t>(2 of 2)</a:t>
            </a:r>
            <a:endParaRPr lang="en-IN" sz="2800" dirty="0"/>
          </a:p>
        </p:txBody>
      </p:sp>
      <p:sp>
        <p:nvSpPr>
          <p:cNvPr id="7" name="Content Placeholder 6"/>
          <p:cNvSpPr>
            <a:spLocks noGrp="1"/>
          </p:cNvSpPr>
          <p:nvPr>
            <p:ph sz="quarter" idx="13"/>
          </p:nvPr>
        </p:nvSpPr>
        <p:spPr>
          <a:xfrm>
            <a:off x="420624" y="1441450"/>
            <a:ext cx="8232775" cy="1506466"/>
          </a:xfrm>
        </p:spPr>
        <p:txBody>
          <a:bodyPr lIns="0" tIns="0" rIns="0" bIns="0"/>
          <a:lstStyle/>
          <a:p>
            <a:pPr marL="342000" indent="-342000"/>
            <a:r>
              <a:rPr lang="en-US" sz="2400" dirty="0">
                <a:solidFill>
                  <a:schemeClr val="tx1"/>
                </a:solidFill>
              </a:rPr>
              <a:t>This area of study is still under investigation and debate.</a:t>
            </a:r>
          </a:p>
          <a:p>
            <a:pPr marL="342000" indent="-342000"/>
            <a:r>
              <a:rPr lang="en-US" sz="2400" dirty="0">
                <a:solidFill>
                  <a:schemeClr val="tx1"/>
                </a:solidFill>
              </a:rPr>
              <a:t>Many cell biologists currently think membranes are organized in transient lipid “</a:t>
            </a:r>
            <a:r>
              <a:rPr lang="en-US" sz="2400" dirty="0" err="1">
                <a:solidFill>
                  <a:schemeClr val="tx1"/>
                </a:solidFill>
              </a:rPr>
              <a:t>nanodomains</a:t>
            </a:r>
            <a:r>
              <a:rPr lang="en-US" sz="2400" dirty="0">
                <a:solidFill>
                  <a:schemeClr val="tx1"/>
                </a:solidFill>
              </a:rPr>
              <a:t>.” </a:t>
            </a:r>
          </a:p>
        </p:txBody>
      </p:sp>
    </p:spTree>
    <p:extLst>
      <p:ext uri="{BB962C8B-B14F-4D97-AF65-F5344CB8AC3E}">
        <p14:creationId xmlns:p14="http://schemas.microsoft.com/office/powerpoint/2010/main" val="10007595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7.4 Membrane Proteins: The </a:t>
            </a:r>
            <a:r>
              <a:rPr lang="en-US" altLang="ja-JP" dirty="0"/>
              <a:t>“Mosaic” Part of the Model</a:t>
            </a:r>
            <a:endParaRPr lang="en-IN" dirty="0"/>
          </a:p>
        </p:txBody>
      </p:sp>
      <p:sp>
        <p:nvSpPr>
          <p:cNvPr id="7" name="Content Placeholder 6"/>
          <p:cNvSpPr>
            <a:spLocks noGrp="1"/>
          </p:cNvSpPr>
          <p:nvPr>
            <p:ph sz="quarter" idx="13"/>
          </p:nvPr>
        </p:nvSpPr>
        <p:spPr>
          <a:xfrm>
            <a:off x="420624" y="1441450"/>
            <a:ext cx="8232775" cy="1547410"/>
          </a:xfrm>
        </p:spPr>
        <p:txBody>
          <a:bodyPr lIns="0" tIns="0" rIns="0" bIns="0"/>
          <a:lstStyle/>
          <a:p>
            <a:pPr marL="342000" indent="-342000"/>
            <a:r>
              <a:rPr lang="en-US" sz="2400" dirty="0"/>
              <a:t>The mosaic part of the fluid mosaic model includes lipid domains.</a:t>
            </a:r>
          </a:p>
          <a:p>
            <a:pPr marL="342000" indent="-342000"/>
            <a:r>
              <a:rPr lang="en-US" sz="2400" dirty="0"/>
              <a:t>However, membrane proteins are the main components.</a:t>
            </a:r>
          </a:p>
        </p:txBody>
      </p:sp>
    </p:spTree>
    <p:extLst>
      <p:ext uri="{BB962C8B-B14F-4D97-AF65-F5344CB8AC3E}">
        <p14:creationId xmlns:p14="http://schemas.microsoft.com/office/powerpoint/2010/main" val="10007595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33483"/>
            <a:ext cx="8229600" cy="1695316"/>
          </a:xfrm>
        </p:spPr>
        <p:txBody>
          <a:bodyPr lIns="0" tIns="0" rIns="0" bIns="0"/>
          <a:lstStyle/>
          <a:p>
            <a:r>
              <a:rPr lang="en-US" dirty="0"/>
              <a:t>The Membrane Consists of a Mosaic of Proteins: Evidence from Freeze-Fracture Microscopy</a:t>
            </a:r>
            <a:endParaRPr lang="en-IN" dirty="0"/>
          </a:p>
        </p:txBody>
      </p:sp>
      <p:sp>
        <p:nvSpPr>
          <p:cNvPr id="7" name="Content Placeholder 6"/>
          <p:cNvSpPr>
            <a:spLocks noGrp="1"/>
          </p:cNvSpPr>
          <p:nvPr>
            <p:ph sz="quarter" idx="13"/>
          </p:nvPr>
        </p:nvSpPr>
        <p:spPr>
          <a:xfrm>
            <a:off x="420624" y="2183642"/>
            <a:ext cx="8232775" cy="2838734"/>
          </a:xfrm>
        </p:spPr>
        <p:txBody>
          <a:bodyPr lIns="0" tIns="0" rIns="0" bIns="0"/>
          <a:lstStyle/>
          <a:p>
            <a:pPr marL="342000" indent="-342000"/>
            <a:r>
              <a:rPr lang="en-US" sz="2400" dirty="0"/>
              <a:t>Support for the fluid mosaic model came from studies involving</a:t>
            </a:r>
            <a:r>
              <a:rPr lang="en-US" sz="2400" b="1" dirty="0"/>
              <a:t> freeze fracturing</a:t>
            </a:r>
            <a:r>
              <a:rPr lang="en-US" sz="2400" dirty="0"/>
              <a:t>.</a:t>
            </a:r>
          </a:p>
          <a:p>
            <a:pPr marL="342000" indent="-342000"/>
            <a:r>
              <a:rPr lang="en-US" sz="2400" dirty="0"/>
              <a:t>A bilayer or membrane is frozen and then hit sharply with a diamond knife.</a:t>
            </a:r>
          </a:p>
          <a:p>
            <a:pPr marL="342000" indent="-342000"/>
            <a:r>
              <a:rPr lang="en-US" sz="2400" dirty="0"/>
              <a:t>The resulting fracture often follows the plane between the two layers of membrane lipid.</a:t>
            </a:r>
          </a:p>
        </p:txBody>
      </p:sp>
    </p:spTree>
    <p:extLst>
      <p:ext uri="{BB962C8B-B14F-4D97-AF65-F5344CB8AC3E}">
        <p14:creationId xmlns:p14="http://schemas.microsoft.com/office/powerpoint/2010/main" val="10007595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Freeze-Fracture Analysis of Membranes </a:t>
            </a:r>
            <a:r>
              <a:rPr lang="en-US" sz="2800" dirty="0"/>
              <a:t>(1 of 2)</a:t>
            </a:r>
            <a:endParaRPr lang="en-IN" sz="2800" dirty="0"/>
          </a:p>
        </p:txBody>
      </p:sp>
      <p:sp>
        <p:nvSpPr>
          <p:cNvPr id="7" name="Content Placeholder 6"/>
          <p:cNvSpPr>
            <a:spLocks noGrp="1"/>
          </p:cNvSpPr>
          <p:nvPr>
            <p:ph sz="quarter" idx="13"/>
          </p:nvPr>
        </p:nvSpPr>
        <p:spPr>
          <a:xfrm>
            <a:off x="420624" y="1441450"/>
            <a:ext cx="8232775" cy="2775708"/>
          </a:xfrm>
        </p:spPr>
        <p:txBody>
          <a:bodyPr lIns="0" tIns="0" rIns="0" bIns="0"/>
          <a:lstStyle/>
          <a:p>
            <a:pPr marL="342000" indent="-342000"/>
            <a:r>
              <a:rPr lang="en-US" sz="2400" dirty="0"/>
              <a:t>When a fracture plane splits a membrane into its two layers, particles the size and shape of globular proteins can be seen.</a:t>
            </a:r>
          </a:p>
          <a:p>
            <a:pPr marL="342000" indent="-342000"/>
            <a:r>
              <a:rPr lang="en-US" sz="2400" dirty="0"/>
              <a:t>The </a:t>
            </a:r>
            <a:r>
              <a:rPr lang="en-US" sz="2400" i="1" dirty="0"/>
              <a:t>E</a:t>
            </a:r>
            <a:r>
              <a:rPr lang="en-US" sz="2400" dirty="0"/>
              <a:t> surface is the </a:t>
            </a:r>
            <a:r>
              <a:rPr lang="en-US" sz="2400" i="1" dirty="0" err="1"/>
              <a:t>exoplasmic</a:t>
            </a:r>
            <a:r>
              <a:rPr lang="en-US" sz="2400" i="1" dirty="0"/>
              <a:t> face,</a:t>
            </a:r>
            <a:r>
              <a:rPr lang="en-US" sz="2400" dirty="0"/>
              <a:t> and the </a:t>
            </a:r>
            <a:r>
              <a:rPr lang="en-US" sz="2400" i="1" dirty="0"/>
              <a:t>P</a:t>
            </a:r>
            <a:r>
              <a:rPr lang="en-US" sz="2400" dirty="0"/>
              <a:t> surface is the </a:t>
            </a:r>
            <a:r>
              <a:rPr lang="en-US" sz="2400" i="1" dirty="0"/>
              <a:t>protoplasmic face.</a:t>
            </a:r>
          </a:p>
          <a:p>
            <a:pPr marL="342000" indent="-342000"/>
            <a:r>
              <a:rPr lang="en-US" sz="2400" dirty="0"/>
              <a:t>The protein/lipid ratio varies among cell types.</a:t>
            </a:r>
          </a:p>
        </p:txBody>
      </p:sp>
    </p:spTree>
    <p:extLst>
      <p:ext uri="{BB962C8B-B14F-4D97-AF65-F5344CB8AC3E}">
        <p14:creationId xmlns:p14="http://schemas.microsoft.com/office/powerpoint/2010/main" val="10007595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74427"/>
            <a:ext cx="8229600" cy="1097279"/>
          </a:xfrm>
        </p:spPr>
        <p:txBody>
          <a:bodyPr lIns="0" tIns="0" rIns="0" bIns="0"/>
          <a:lstStyle/>
          <a:p>
            <a:r>
              <a:rPr lang="en-US" dirty="0"/>
              <a:t>Freeze-Fracture Analysis of a Membrane </a:t>
            </a:r>
            <a:r>
              <a:rPr lang="en-US" sz="2800" dirty="0"/>
              <a:t>(2 of 2)</a:t>
            </a:r>
            <a:endParaRPr lang="en-IN" sz="2800" dirty="0"/>
          </a:p>
        </p:txBody>
      </p:sp>
      <p:sp>
        <p:nvSpPr>
          <p:cNvPr id="3" name="Content Placeholder 2"/>
          <p:cNvSpPr>
            <a:spLocks noGrp="1"/>
          </p:cNvSpPr>
          <p:nvPr>
            <p:ph sz="quarter" idx="14"/>
          </p:nvPr>
        </p:nvSpPr>
        <p:spPr>
          <a:xfrm>
            <a:off x="416256" y="1511631"/>
            <a:ext cx="8270543" cy="426351"/>
          </a:xfrm>
        </p:spPr>
        <p:txBody>
          <a:bodyPr lIns="0" tIns="0" rIns="0" bIns="0"/>
          <a:lstStyle/>
          <a:p>
            <a:pPr marL="0" indent="0">
              <a:buNone/>
            </a:pPr>
            <a:r>
              <a:rPr lang="en-IN" sz="2400" b="1" dirty="0"/>
              <a:t>Figure 7.15</a:t>
            </a:r>
            <a:r>
              <a:rPr lang="en-IN" sz="2400" dirty="0"/>
              <a:t> Freeze-Fracture Analysis of a Membrane.</a:t>
            </a:r>
          </a:p>
        </p:txBody>
      </p:sp>
      <p:pic>
        <p:nvPicPr>
          <p:cNvPr id="8" name="Content Placeholder 7" descr="The illustration “a” shows the separation of membrane monolayers and the image “b” shows the surface view of monolayers. &#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830"/>
          <a:stretch/>
        </p:blipFill>
        <p:spPr>
          <a:xfrm>
            <a:off x="2095083" y="2207482"/>
            <a:ext cx="4992291" cy="3903954"/>
          </a:xfrm>
        </p:spPr>
      </p:pic>
    </p:spTree>
    <p:extLst>
      <p:ext uri="{BB962C8B-B14F-4D97-AF65-F5344CB8AC3E}">
        <p14:creationId xmlns:p14="http://schemas.microsoft.com/office/powerpoint/2010/main" val="10007595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74427"/>
            <a:ext cx="8229600" cy="1097279"/>
          </a:xfrm>
        </p:spPr>
        <p:txBody>
          <a:bodyPr lIns="0" tIns="0" rIns="0" bIns="0"/>
          <a:lstStyle/>
          <a:p>
            <a:r>
              <a:rPr lang="en-US" dirty="0"/>
              <a:t>Membrane Proteins Visualized by Freeze-Fracture Electron Microscopy</a:t>
            </a:r>
            <a:endParaRPr lang="en-IN" dirty="0"/>
          </a:p>
        </p:txBody>
      </p:sp>
      <p:sp>
        <p:nvSpPr>
          <p:cNvPr id="3" name="Content Placeholder 2"/>
          <p:cNvSpPr>
            <a:spLocks noGrp="1"/>
          </p:cNvSpPr>
          <p:nvPr>
            <p:ph sz="quarter" idx="14"/>
          </p:nvPr>
        </p:nvSpPr>
        <p:spPr>
          <a:xfrm>
            <a:off x="388961" y="1552575"/>
            <a:ext cx="8229599" cy="753897"/>
          </a:xfrm>
        </p:spPr>
        <p:txBody>
          <a:bodyPr lIns="0" tIns="0" rIns="0" bIns="0"/>
          <a:lstStyle/>
          <a:p>
            <a:pPr marL="0" indent="0">
              <a:buNone/>
            </a:pPr>
            <a:r>
              <a:rPr lang="en-IN" sz="2200" b="1" dirty="0"/>
              <a:t>Figure 7.16</a:t>
            </a:r>
            <a:r>
              <a:rPr lang="en-IN" sz="2200" dirty="0"/>
              <a:t> Membrane Proteins Visualized by Freeze-Fracture Electron Microscopy.</a:t>
            </a:r>
          </a:p>
        </p:txBody>
      </p:sp>
      <p:pic>
        <p:nvPicPr>
          <p:cNvPr id="8" name="Content Placeholder 7" descr="The image “a” shows electron micrographs of erythrocyte plasma membrane and image “b” shows chloroplast thylakoid membrane.&#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5605"/>
          <a:stretch/>
        </p:blipFill>
        <p:spPr>
          <a:xfrm>
            <a:off x="536317" y="2759603"/>
            <a:ext cx="8082525" cy="2705303"/>
          </a:xfrm>
        </p:spPr>
      </p:pic>
    </p:spTree>
    <p:extLst>
      <p:ext uri="{BB962C8B-B14F-4D97-AF65-F5344CB8AC3E}">
        <p14:creationId xmlns:p14="http://schemas.microsoft.com/office/powerpoint/2010/main" val="10007595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88074"/>
            <a:ext cx="8229600" cy="1640725"/>
          </a:xfrm>
        </p:spPr>
        <p:txBody>
          <a:bodyPr lIns="0" tIns="0" rIns="0" bIns="0"/>
          <a:lstStyle/>
          <a:p>
            <a:r>
              <a:rPr lang="en-US" dirty="0"/>
              <a:t>Membranes Contain Integral, Peripheral, and Lipid-Anchored Proteins</a:t>
            </a:r>
            <a:endParaRPr lang="en-IN" dirty="0"/>
          </a:p>
        </p:txBody>
      </p:sp>
      <p:sp>
        <p:nvSpPr>
          <p:cNvPr id="7" name="Content Placeholder 6"/>
          <p:cNvSpPr>
            <a:spLocks noGrp="1"/>
          </p:cNvSpPr>
          <p:nvPr>
            <p:ph sz="quarter" idx="13"/>
          </p:nvPr>
        </p:nvSpPr>
        <p:spPr>
          <a:xfrm>
            <a:off x="420624" y="2019869"/>
            <a:ext cx="8232775" cy="2688610"/>
          </a:xfrm>
        </p:spPr>
        <p:txBody>
          <a:bodyPr lIns="0" tIns="0" rIns="0" bIns="0"/>
          <a:lstStyle/>
          <a:p>
            <a:pPr marL="342000" indent="-342000"/>
            <a:r>
              <a:rPr lang="en-US" sz="2400" dirty="0"/>
              <a:t>Membrane proteins have different </a:t>
            </a:r>
            <a:r>
              <a:rPr lang="en-US" sz="2400" dirty="0" err="1"/>
              <a:t>hydrophobicities</a:t>
            </a:r>
            <a:r>
              <a:rPr lang="en-US" sz="2400" dirty="0"/>
              <a:t>  and so occupy different positions in or on membranes.</a:t>
            </a:r>
          </a:p>
          <a:p>
            <a:pPr marL="342000" indent="-342000"/>
            <a:r>
              <a:rPr lang="en-US" sz="2400" dirty="0"/>
              <a:t>This, in turn, determines how easily such proteins can be extracted from membranes.</a:t>
            </a:r>
          </a:p>
          <a:p>
            <a:pPr marL="342000" indent="-342000"/>
            <a:r>
              <a:rPr lang="en-US" sz="2400" dirty="0"/>
              <a:t>Membrane proteins fall into three categories: </a:t>
            </a:r>
            <a:r>
              <a:rPr lang="en-US" sz="2400" i="1" dirty="0"/>
              <a:t>integral,</a:t>
            </a:r>
            <a:r>
              <a:rPr lang="en-US" sz="2400" dirty="0"/>
              <a:t> </a:t>
            </a:r>
            <a:r>
              <a:rPr lang="en-US" sz="2400" i="1" dirty="0"/>
              <a:t>peripheral,</a:t>
            </a:r>
            <a:r>
              <a:rPr lang="en-US" sz="2400" dirty="0"/>
              <a:t> and </a:t>
            </a:r>
            <a:r>
              <a:rPr lang="en-US" sz="2400" i="1" dirty="0"/>
              <a:t>lipid anchored.</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19835"/>
            <a:ext cx="8229600" cy="603495"/>
          </a:xfrm>
        </p:spPr>
        <p:txBody>
          <a:bodyPr lIns="0" tIns="0" rIns="0" bIns="0"/>
          <a:lstStyle/>
          <a:p>
            <a:r>
              <a:rPr lang="en-US" dirty="0"/>
              <a:t>Classes of Membrane Proteins</a:t>
            </a:r>
            <a:endParaRPr lang="en-IN" dirty="0"/>
          </a:p>
        </p:txBody>
      </p:sp>
      <p:sp>
        <p:nvSpPr>
          <p:cNvPr id="7" name="Content Placeholder 6"/>
          <p:cNvSpPr>
            <a:spLocks noGrp="1"/>
          </p:cNvSpPr>
          <p:nvPr>
            <p:ph sz="quarter" idx="13"/>
          </p:nvPr>
        </p:nvSpPr>
        <p:spPr>
          <a:xfrm>
            <a:off x="420624" y="968992"/>
            <a:ext cx="8232775" cy="2988859"/>
          </a:xfrm>
        </p:spPr>
        <p:txBody>
          <a:bodyPr lIns="0" tIns="0" rIns="0" bIns="0"/>
          <a:lstStyle/>
          <a:p>
            <a:pPr marL="342000" indent="-342000">
              <a:buFont typeface="+mj-lt"/>
              <a:buAutoNum type="arabicPeriod"/>
              <a:tabLst>
                <a:tab pos="225425" algn="l"/>
                <a:tab pos="515938" algn="l"/>
              </a:tabLst>
            </a:pPr>
            <a:r>
              <a:rPr lang="en-US" sz="2400" dirty="0"/>
              <a:t>	</a:t>
            </a:r>
            <a:r>
              <a:rPr lang="en-US" sz="2400" i="1" dirty="0"/>
              <a:t>Integral membrane proteins</a:t>
            </a:r>
            <a:r>
              <a:rPr lang="en-US" sz="2400" dirty="0"/>
              <a:t> are embedded in the lipid</a:t>
            </a:r>
            <a:br>
              <a:rPr lang="en-US" sz="2400" dirty="0"/>
            </a:br>
            <a:r>
              <a:rPr lang="en-US" sz="2400" dirty="0"/>
              <a:t>  bilayer because of their hydrophobic regions.</a:t>
            </a:r>
          </a:p>
          <a:p>
            <a:pPr marL="342000" indent="-342000">
              <a:buFont typeface="+mj-lt"/>
              <a:buAutoNum type="arabicPeriod"/>
              <a:tabLst>
                <a:tab pos="515938" algn="l"/>
              </a:tabLst>
            </a:pPr>
            <a:r>
              <a:rPr lang="en-US" sz="2400" dirty="0"/>
              <a:t>	</a:t>
            </a:r>
            <a:r>
              <a:rPr lang="en-US" sz="2400" i="1" dirty="0"/>
              <a:t>Peripheral proteins</a:t>
            </a:r>
            <a:r>
              <a:rPr lang="en-US" sz="2400" dirty="0"/>
              <a:t> are hydrophilic and located on the</a:t>
            </a:r>
            <a:br>
              <a:rPr lang="en-US" sz="2400" dirty="0"/>
            </a:br>
            <a:r>
              <a:rPr lang="en-US" sz="2400" dirty="0"/>
              <a:t>  surface of the bilayer.</a:t>
            </a:r>
          </a:p>
          <a:p>
            <a:pPr marL="342000" indent="-342000">
              <a:buFont typeface="+mj-lt"/>
              <a:buAutoNum type="arabicPeriod"/>
              <a:tabLst>
                <a:tab pos="515938" algn="l"/>
              </a:tabLst>
            </a:pPr>
            <a:r>
              <a:rPr lang="en-US" sz="2400" dirty="0"/>
              <a:t>	</a:t>
            </a:r>
            <a:r>
              <a:rPr lang="en-US" sz="2400" i="1" dirty="0"/>
              <a:t>Lipid-anchored proteins</a:t>
            </a:r>
            <a:r>
              <a:rPr lang="en-US" sz="2400" dirty="0"/>
              <a:t> are hydrophilic and attached to</a:t>
            </a:r>
            <a:br>
              <a:rPr lang="en-US" sz="2400" dirty="0"/>
            </a:br>
            <a:r>
              <a:rPr lang="en-US" sz="2400" dirty="0"/>
              <a:t>  the bilayer by covalent attachments to lipid molecules </a:t>
            </a:r>
            <a:br>
              <a:rPr lang="en-US" sz="2400" dirty="0"/>
            </a:br>
            <a:r>
              <a:rPr lang="en-US" sz="2400" dirty="0"/>
              <a:t>  embedded in the bilayer.</a:t>
            </a:r>
          </a:p>
        </p:txBody>
      </p:sp>
    </p:spTree>
    <p:extLst>
      <p:ext uri="{BB962C8B-B14F-4D97-AF65-F5344CB8AC3E}">
        <p14:creationId xmlns:p14="http://schemas.microsoft.com/office/powerpoint/2010/main" val="10007595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74427"/>
            <a:ext cx="8229600" cy="1097279"/>
          </a:xfrm>
        </p:spPr>
        <p:txBody>
          <a:bodyPr lIns="0" tIns="0" rIns="0" bIns="0"/>
          <a:lstStyle/>
          <a:p>
            <a:r>
              <a:rPr lang="en-US" dirty="0"/>
              <a:t>The Main Classes of Membrane Proteins</a:t>
            </a:r>
            <a:endParaRPr lang="en-IN" dirty="0"/>
          </a:p>
        </p:txBody>
      </p:sp>
      <p:sp>
        <p:nvSpPr>
          <p:cNvPr id="3" name="Content Placeholder 2"/>
          <p:cNvSpPr>
            <a:spLocks noGrp="1"/>
          </p:cNvSpPr>
          <p:nvPr>
            <p:ph sz="quarter" idx="14"/>
          </p:nvPr>
        </p:nvSpPr>
        <p:spPr>
          <a:xfrm>
            <a:off x="416257" y="1552575"/>
            <a:ext cx="8270543" cy="480941"/>
          </a:xfrm>
        </p:spPr>
        <p:txBody>
          <a:bodyPr lIns="0" tIns="0" rIns="0" bIns="0"/>
          <a:lstStyle/>
          <a:p>
            <a:pPr marL="0" indent="0">
              <a:buNone/>
            </a:pPr>
            <a:r>
              <a:rPr lang="en-IN" sz="2400" b="1" dirty="0"/>
              <a:t>Figure 7.17</a:t>
            </a:r>
            <a:r>
              <a:rPr lang="en-IN" sz="2400" dirty="0"/>
              <a:t> The Main Classes of Membrane Proteins.</a:t>
            </a:r>
          </a:p>
        </p:txBody>
      </p:sp>
      <p:pic>
        <p:nvPicPr>
          <p:cNvPr id="8" name="Content Placeholder 7" descr="An illustration on the main classes of membrane proteins: integral membrane proteins, peripheral membrane protein, and lipid-anchored membrane proteins. The layers are between the outer and inner surfaces of the membrane.&#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5358"/>
          <a:stretch/>
        </p:blipFill>
        <p:spPr>
          <a:xfrm>
            <a:off x="622144" y="2311835"/>
            <a:ext cx="7910882" cy="2737834"/>
          </a:xfrm>
        </p:spPr>
      </p:pic>
    </p:spTree>
    <p:extLst>
      <p:ext uri="{BB962C8B-B14F-4D97-AF65-F5344CB8AC3E}">
        <p14:creationId xmlns:p14="http://schemas.microsoft.com/office/powerpoint/2010/main" val="10007595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60779"/>
            <a:ext cx="8229600" cy="562551"/>
          </a:xfrm>
        </p:spPr>
        <p:txBody>
          <a:bodyPr lIns="0" tIns="0" rIns="0" bIns="0"/>
          <a:lstStyle/>
          <a:p>
            <a:r>
              <a:rPr lang="en-US" dirty="0"/>
              <a:t>Integral Membrane Proteins </a:t>
            </a:r>
            <a:r>
              <a:rPr lang="en-US" sz="2800" dirty="0"/>
              <a:t>(1 of 2)</a:t>
            </a:r>
            <a:endParaRPr lang="en-IN" sz="2800" dirty="0"/>
          </a:p>
        </p:txBody>
      </p:sp>
      <p:sp>
        <p:nvSpPr>
          <p:cNvPr id="7" name="Content Placeholder 6"/>
          <p:cNvSpPr>
            <a:spLocks noGrp="1"/>
          </p:cNvSpPr>
          <p:nvPr>
            <p:ph sz="quarter" idx="13"/>
          </p:nvPr>
        </p:nvSpPr>
        <p:spPr>
          <a:xfrm>
            <a:off x="420624" y="968991"/>
            <a:ext cx="8232775" cy="3398293"/>
          </a:xfrm>
        </p:spPr>
        <p:txBody>
          <a:bodyPr lIns="0" tIns="0" rIns="0" bIns="0"/>
          <a:lstStyle/>
          <a:p>
            <a:pPr marL="342000" indent="-342000"/>
            <a:r>
              <a:rPr lang="en-US" sz="2400" dirty="0"/>
              <a:t>Most membrane proteins possess one or more hydrophobic regions with an affinity for the interior of the lipid bilayer.</a:t>
            </a:r>
          </a:p>
          <a:p>
            <a:pPr marL="342000" indent="-342000"/>
            <a:r>
              <a:rPr lang="en-US" sz="2400" dirty="0"/>
              <a:t>These are </a:t>
            </a:r>
            <a:r>
              <a:rPr lang="en-US" sz="2400" b="1" dirty="0"/>
              <a:t>integral membrane proteins,</a:t>
            </a:r>
            <a:r>
              <a:rPr lang="en-US" sz="2400" dirty="0"/>
              <a:t> with hydrophobic regions embedded in the interior membrane bilayer.</a:t>
            </a:r>
          </a:p>
          <a:p>
            <a:pPr marL="342000" indent="-342000"/>
            <a:r>
              <a:rPr lang="en-US" sz="2400" dirty="0"/>
              <a:t>They are difficult to remove from membranes by standard isolation procedures.</a:t>
            </a:r>
          </a:p>
        </p:txBody>
      </p:sp>
    </p:spTree>
    <p:extLst>
      <p:ext uri="{BB962C8B-B14F-4D97-AF65-F5344CB8AC3E}">
        <p14:creationId xmlns:p14="http://schemas.microsoft.com/office/powerpoint/2010/main" val="10007595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33483"/>
            <a:ext cx="8229600" cy="589847"/>
          </a:xfrm>
        </p:spPr>
        <p:txBody>
          <a:bodyPr lIns="0" tIns="0" rIns="0" bIns="0"/>
          <a:lstStyle/>
          <a:p>
            <a:r>
              <a:rPr lang="en-US" dirty="0"/>
              <a:t>Integral Membrane Proteins </a:t>
            </a:r>
            <a:r>
              <a:rPr lang="en-US" sz="2800" dirty="0"/>
              <a:t>(2 of 2)</a:t>
            </a:r>
            <a:endParaRPr lang="en-IN" dirty="0"/>
          </a:p>
        </p:txBody>
      </p:sp>
      <p:sp>
        <p:nvSpPr>
          <p:cNvPr id="7" name="Content Placeholder 6"/>
          <p:cNvSpPr>
            <a:spLocks noGrp="1"/>
          </p:cNvSpPr>
          <p:nvPr>
            <p:ph sz="quarter" idx="13"/>
          </p:nvPr>
        </p:nvSpPr>
        <p:spPr>
          <a:xfrm>
            <a:off x="420624" y="977418"/>
            <a:ext cx="8232775" cy="3089607"/>
          </a:xfrm>
        </p:spPr>
        <p:txBody>
          <a:bodyPr lIns="0" tIns="0" rIns="0" bIns="0"/>
          <a:lstStyle/>
          <a:p>
            <a:pPr marL="342000" indent="-342000"/>
            <a:r>
              <a:rPr lang="en-US" sz="2400" dirty="0"/>
              <a:t>Some integral membrane proteins, called </a:t>
            </a:r>
            <a:r>
              <a:rPr lang="en-US" sz="2400" b="1" dirty="0"/>
              <a:t>integral </a:t>
            </a:r>
            <a:r>
              <a:rPr lang="en-US" sz="2400" b="1" dirty="0" err="1"/>
              <a:t>monotopic</a:t>
            </a:r>
            <a:r>
              <a:rPr lang="en-US" sz="2400" b="1" dirty="0"/>
              <a:t> proteins,</a:t>
            </a:r>
            <a:r>
              <a:rPr lang="en-US" sz="2400" dirty="0"/>
              <a:t> are embedded in just one side of the bilayer.</a:t>
            </a:r>
          </a:p>
          <a:p>
            <a:pPr marL="342000" indent="-342000"/>
            <a:r>
              <a:rPr lang="en-US" sz="2400" dirty="0"/>
              <a:t>However, most are </a:t>
            </a:r>
            <a:r>
              <a:rPr lang="en-US" sz="2400" b="1" dirty="0" err="1"/>
              <a:t>transmembrane</a:t>
            </a:r>
            <a:r>
              <a:rPr lang="en-US" sz="2400" b="1" dirty="0"/>
              <a:t> proteins</a:t>
            </a:r>
            <a:r>
              <a:rPr lang="en-US" sz="2400" dirty="0"/>
              <a:t> that span the membrane and protrude on both sides.</a:t>
            </a:r>
          </a:p>
          <a:p>
            <a:pPr marL="342000" indent="-342000"/>
            <a:r>
              <a:rPr lang="en-US" sz="2400" dirty="0" err="1"/>
              <a:t>Transmembrane</a:t>
            </a:r>
            <a:r>
              <a:rPr lang="en-US" sz="2400" dirty="0"/>
              <a:t> proteins cross either once (</a:t>
            </a:r>
            <a:r>
              <a:rPr lang="en-US" sz="2400" i="1" dirty="0" err="1"/>
              <a:t>singlepass</a:t>
            </a:r>
            <a:r>
              <a:rPr lang="en-US" sz="2400" i="1" dirty="0"/>
              <a:t> proteins</a:t>
            </a:r>
            <a:r>
              <a:rPr lang="en-US" sz="2400" dirty="0"/>
              <a:t>) or several times (</a:t>
            </a:r>
            <a:r>
              <a:rPr lang="en-US" sz="2400" i="1" dirty="0" err="1"/>
              <a:t>multipass</a:t>
            </a:r>
            <a:r>
              <a:rPr lang="en-US" sz="2400" i="1" dirty="0"/>
              <a:t> proteins</a:t>
            </a:r>
            <a:r>
              <a:rPr lang="en-US" sz="2400" dirty="0"/>
              <a:t>).</a:t>
            </a:r>
          </a:p>
        </p:txBody>
      </p:sp>
    </p:spTree>
    <p:extLst>
      <p:ext uri="{BB962C8B-B14F-4D97-AF65-F5344CB8AC3E}">
        <p14:creationId xmlns:p14="http://schemas.microsoft.com/office/powerpoint/2010/main" val="10007595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93328" y="160779"/>
            <a:ext cx="8229600" cy="562551"/>
          </a:xfrm>
        </p:spPr>
        <p:txBody>
          <a:bodyPr lIns="0" tIns="0" rIns="0" bIns="0"/>
          <a:lstStyle/>
          <a:p>
            <a:r>
              <a:rPr lang="en-US" dirty="0" err="1"/>
              <a:t>Transmembrane</a:t>
            </a:r>
            <a:r>
              <a:rPr lang="en-US" dirty="0"/>
              <a:t> Proteins</a:t>
            </a:r>
            <a:endParaRPr lang="en-IN" dirty="0"/>
          </a:p>
        </p:txBody>
      </p:sp>
      <p:sp>
        <p:nvSpPr>
          <p:cNvPr id="7" name="Content Placeholder 6"/>
          <p:cNvSpPr>
            <a:spLocks noGrp="1"/>
          </p:cNvSpPr>
          <p:nvPr>
            <p:ph sz="quarter" idx="13"/>
          </p:nvPr>
        </p:nvSpPr>
        <p:spPr>
          <a:xfrm>
            <a:off x="420624" y="963770"/>
            <a:ext cx="8232775" cy="3458096"/>
          </a:xfrm>
        </p:spPr>
        <p:txBody>
          <a:bodyPr lIns="0" tIns="0" rIns="0" bIns="0"/>
          <a:lstStyle/>
          <a:p>
            <a:pPr marL="342000" indent="-342000"/>
            <a:r>
              <a:rPr lang="en-US" sz="2400" dirty="0">
                <a:latin typeface="+mn-lt"/>
              </a:rPr>
              <a:t>The </a:t>
            </a:r>
            <a:r>
              <a:rPr lang="en-US" sz="2400" b="1" dirty="0" err="1">
                <a:latin typeface="+mn-lt"/>
              </a:rPr>
              <a:t>transmembrane</a:t>
            </a:r>
            <a:r>
              <a:rPr lang="en-US" sz="2400" b="1" dirty="0">
                <a:latin typeface="+mn-lt"/>
              </a:rPr>
              <a:t> segments </a:t>
            </a:r>
            <a:r>
              <a:rPr lang="en-US" sz="2400" dirty="0">
                <a:latin typeface="+mn-lt"/>
              </a:rPr>
              <a:t>of </a:t>
            </a:r>
            <a:r>
              <a:rPr lang="en-US" sz="2400" dirty="0" err="1">
                <a:latin typeface="+mn-lt"/>
              </a:rPr>
              <a:t>transmembrane</a:t>
            </a:r>
            <a:r>
              <a:rPr lang="en-US" sz="2400" dirty="0">
                <a:latin typeface="+mn-lt"/>
              </a:rPr>
              <a:t> proteins is the hydrophobic portion that crosses the lipid bilayer.</a:t>
            </a:r>
          </a:p>
          <a:p>
            <a:pPr marL="342000" indent="-342000"/>
            <a:r>
              <a:rPr lang="en-US" sz="2400" dirty="0">
                <a:latin typeface="+mn-lt"/>
              </a:rPr>
              <a:t>In most cases, the polypeptide chain appears to span the membrane in an </a:t>
            </a:r>
            <a:r>
              <a:rPr lang="en-US" sz="2400" i="1" dirty="0">
                <a:latin typeface="+mn-lt"/>
                <a:cs typeface="Times New Roman" panose="02020603050405020304" pitchFamily="18" charset="0"/>
                <a:sym typeface="Symbol" pitchFamily="18" charset="2"/>
              </a:rPr>
              <a:t>α</a:t>
            </a:r>
            <a:r>
              <a:rPr lang="en-US" sz="2400" dirty="0">
                <a:latin typeface="+mn-lt"/>
              </a:rPr>
              <a:t>-helical conformation about 20–30 amino acids long with hydrophobic R groups.</a:t>
            </a:r>
          </a:p>
          <a:p>
            <a:pPr marL="342000" indent="-342000"/>
            <a:r>
              <a:rPr lang="en-US" sz="2400" dirty="0">
                <a:latin typeface="+mn-lt"/>
              </a:rPr>
              <a:t>Some are arranged as a closed </a:t>
            </a:r>
            <a:r>
              <a:rPr lang="en-US" sz="2400" i="1" dirty="0">
                <a:latin typeface="+mn-lt"/>
                <a:cs typeface="Times New Roman" panose="02020603050405020304" pitchFamily="18" charset="0"/>
                <a:sym typeface="Symbol" pitchFamily="18" charset="2"/>
              </a:rPr>
              <a:t>β</a:t>
            </a:r>
            <a:r>
              <a:rPr lang="en-US" sz="2400" i="1" dirty="0">
                <a:latin typeface="+mn-lt"/>
                <a:sym typeface="Symbol" pitchFamily="18" charset="2"/>
              </a:rPr>
              <a:t> </a:t>
            </a:r>
            <a:r>
              <a:rPr lang="en-US" sz="2400" dirty="0">
                <a:latin typeface="+mn-lt"/>
              </a:rPr>
              <a:t>sheet called a </a:t>
            </a:r>
            <a:r>
              <a:rPr lang="en-US" sz="2400" i="1" dirty="0">
                <a:latin typeface="+mn-lt"/>
                <a:cs typeface="Times New Roman" panose="02020603050405020304" pitchFamily="18" charset="0"/>
                <a:sym typeface="Symbol" pitchFamily="18" charset="2"/>
              </a:rPr>
              <a:t>β</a:t>
            </a:r>
            <a:r>
              <a:rPr lang="en-US" sz="2400" i="1" dirty="0">
                <a:latin typeface="+mn-lt"/>
                <a:sym typeface="Symbol" pitchFamily="18" charset="2"/>
              </a:rPr>
              <a:t> </a:t>
            </a:r>
            <a:r>
              <a:rPr lang="en-US" sz="2400" i="1" dirty="0">
                <a:latin typeface="+mn-lt"/>
              </a:rPr>
              <a:t>barrel</a:t>
            </a:r>
            <a:r>
              <a:rPr lang="en-US" sz="2400" dirty="0">
                <a:latin typeface="+mn-lt"/>
              </a:rPr>
              <a:t>, especially those that form pores.</a:t>
            </a:r>
          </a:p>
        </p:txBody>
      </p:sp>
    </p:spTree>
    <p:extLst>
      <p:ext uri="{BB962C8B-B14F-4D97-AF65-F5344CB8AC3E}">
        <p14:creationId xmlns:p14="http://schemas.microsoft.com/office/powerpoint/2010/main" val="10007595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88076"/>
            <a:ext cx="8229600" cy="535256"/>
          </a:xfrm>
        </p:spPr>
        <p:txBody>
          <a:bodyPr lIns="0" tIns="0" rIns="0" bIns="0"/>
          <a:lstStyle/>
          <a:p>
            <a:r>
              <a:rPr lang="en-US" dirty="0" err="1"/>
              <a:t>Singlepass</a:t>
            </a:r>
            <a:r>
              <a:rPr lang="en-US" dirty="0"/>
              <a:t> Membrane Proteins</a:t>
            </a:r>
            <a:endParaRPr lang="en-IN" dirty="0"/>
          </a:p>
        </p:txBody>
      </p:sp>
      <p:sp>
        <p:nvSpPr>
          <p:cNvPr id="7" name="Content Placeholder 6"/>
          <p:cNvSpPr>
            <a:spLocks noGrp="1"/>
          </p:cNvSpPr>
          <p:nvPr>
            <p:ph sz="quarter" idx="13"/>
          </p:nvPr>
        </p:nvSpPr>
        <p:spPr>
          <a:xfrm>
            <a:off x="420624" y="968990"/>
            <a:ext cx="8232775" cy="2866031"/>
          </a:xfrm>
        </p:spPr>
        <p:txBody>
          <a:bodyPr lIns="0" tIns="0" rIns="0" bIns="0"/>
          <a:lstStyle/>
          <a:p>
            <a:pPr marL="342000" indent="-342000"/>
            <a:r>
              <a:rPr lang="en-US" sz="2400" dirty="0" err="1"/>
              <a:t>Singlepass</a:t>
            </a:r>
            <a:r>
              <a:rPr lang="en-US" sz="2400" dirty="0"/>
              <a:t> membrane proteins have the C-terminus extending from one surface of the membrane and the N-terminus from the other.</a:t>
            </a:r>
          </a:p>
          <a:p>
            <a:pPr marL="342000" indent="-342000"/>
            <a:r>
              <a:rPr lang="en-US" sz="2400" dirty="0"/>
              <a:t>For example, </a:t>
            </a:r>
            <a:r>
              <a:rPr lang="en-US" sz="2400" i="1" dirty="0" err="1"/>
              <a:t>glycophorin</a:t>
            </a:r>
            <a:r>
              <a:rPr lang="en-US" sz="2400" dirty="0"/>
              <a:t> is a </a:t>
            </a:r>
            <a:r>
              <a:rPr lang="en-US" sz="2400" dirty="0" err="1"/>
              <a:t>singlepass</a:t>
            </a:r>
            <a:r>
              <a:rPr lang="en-US" sz="2400" dirty="0"/>
              <a:t> protein on the erythrocyte plasma membrane that is oriented so the C-terminus is on the inner surface and the</a:t>
            </a:r>
            <a:br>
              <a:rPr lang="en-US" sz="2400" dirty="0"/>
            </a:br>
            <a:r>
              <a:rPr lang="en-US" sz="2400" dirty="0"/>
              <a:t>N-terminus is on the outer.</a:t>
            </a:r>
          </a:p>
        </p:txBody>
      </p:sp>
    </p:spTree>
    <p:extLst>
      <p:ext uri="{BB962C8B-B14F-4D97-AF65-F5344CB8AC3E}">
        <p14:creationId xmlns:p14="http://schemas.microsoft.com/office/powerpoint/2010/main" val="10007595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01724"/>
            <a:ext cx="8229600" cy="521608"/>
          </a:xfrm>
        </p:spPr>
        <p:txBody>
          <a:bodyPr lIns="0" tIns="0" rIns="0" bIns="0"/>
          <a:lstStyle/>
          <a:p>
            <a:r>
              <a:rPr lang="en-US" dirty="0" err="1"/>
              <a:t>Multipass</a:t>
            </a:r>
            <a:r>
              <a:rPr lang="en-US" dirty="0"/>
              <a:t> Membrane Proteins</a:t>
            </a:r>
            <a:endParaRPr lang="en-IN" dirty="0"/>
          </a:p>
        </p:txBody>
      </p:sp>
      <p:sp>
        <p:nvSpPr>
          <p:cNvPr id="7" name="Content Placeholder 6"/>
          <p:cNvSpPr>
            <a:spLocks noGrp="1"/>
          </p:cNvSpPr>
          <p:nvPr>
            <p:ph sz="quarter" idx="13"/>
          </p:nvPr>
        </p:nvSpPr>
        <p:spPr>
          <a:xfrm>
            <a:off x="420624" y="963769"/>
            <a:ext cx="8232775" cy="1959539"/>
          </a:xfrm>
        </p:spPr>
        <p:txBody>
          <a:bodyPr lIns="0" tIns="0" rIns="0" bIns="0"/>
          <a:lstStyle/>
          <a:p>
            <a:pPr marL="342900" indent="-342900"/>
            <a:r>
              <a:rPr lang="en-US" sz="2400" dirty="0" err="1"/>
              <a:t>Multipass</a:t>
            </a:r>
            <a:r>
              <a:rPr lang="en-US" sz="2400" dirty="0"/>
              <a:t> membrane proteins have 2–20 (or more) transmembrane segments.</a:t>
            </a:r>
          </a:p>
          <a:p>
            <a:pPr marL="829818" lvl="1" indent="-342900"/>
            <a:r>
              <a:rPr lang="en-US" sz="2400" dirty="0"/>
              <a:t>For example, </a:t>
            </a:r>
            <a:r>
              <a:rPr lang="en-US" sz="2400" i="1" dirty="0"/>
              <a:t>bacteriorhodopsin</a:t>
            </a:r>
            <a:r>
              <a:rPr lang="en-US" sz="2400" dirty="0"/>
              <a:t> has seven transmembrane segments positioned to form a channel.</a:t>
            </a:r>
          </a:p>
        </p:txBody>
      </p:sp>
    </p:spTree>
    <p:extLst>
      <p:ext uri="{BB962C8B-B14F-4D97-AF65-F5344CB8AC3E}">
        <p14:creationId xmlns:p14="http://schemas.microsoft.com/office/powerpoint/2010/main" val="10007595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608" y="174427"/>
            <a:ext cx="8229600" cy="1097279"/>
          </a:xfrm>
        </p:spPr>
        <p:txBody>
          <a:bodyPr lIns="0" tIns="0" rIns="0" bIns="0" anchor="ctr"/>
          <a:lstStyle/>
          <a:p>
            <a:r>
              <a:rPr lang="en-US" dirty="0"/>
              <a:t>The Structures of Two Integral Membrane Proteins</a:t>
            </a:r>
            <a:endParaRPr lang="en-IN" dirty="0"/>
          </a:p>
        </p:txBody>
      </p:sp>
      <p:sp>
        <p:nvSpPr>
          <p:cNvPr id="4" name="Content Placeholder 3"/>
          <p:cNvSpPr>
            <a:spLocks noGrp="1"/>
          </p:cNvSpPr>
          <p:nvPr>
            <p:ph sz="quarter" idx="14"/>
          </p:nvPr>
        </p:nvSpPr>
        <p:spPr>
          <a:xfrm>
            <a:off x="416257" y="1552575"/>
            <a:ext cx="8270543" cy="685658"/>
          </a:xfrm>
        </p:spPr>
        <p:txBody>
          <a:bodyPr lIns="0" tIns="0" rIns="0" bIns="0"/>
          <a:lstStyle/>
          <a:p>
            <a:pPr marL="0" indent="0">
              <a:buNone/>
            </a:pPr>
            <a:r>
              <a:rPr lang="en-IN" sz="2400" b="1" dirty="0"/>
              <a:t>Figure 7.18 </a:t>
            </a:r>
            <a:r>
              <a:rPr lang="en-IN" sz="2400" dirty="0"/>
              <a:t>The Structures of Two Integral Membrane Proteins.</a:t>
            </a:r>
          </a:p>
        </p:txBody>
      </p:sp>
      <p:pic>
        <p:nvPicPr>
          <p:cNvPr id="9" name="Content Placeholder 8" descr="The illustration “a” shows the protein structures on the plasma membrane of glycophorin and the image “b” shows that of bacteriorhodopsin.&#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376"/>
          <a:stretch/>
        </p:blipFill>
        <p:spPr>
          <a:xfrm>
            <a:off x="2120340" y="2471560"/>
            <a:ext cx="4914487" cy="3662012"/>
          </a:xfrm>
        </p:spPr>
      </p:pic>
    </p:spTree>
    <p:extLst>
      <p:ext uri="{BB962C8B-B14F-4D97-AF65-F5344CB8AC3E}">
        <p14:creationId xmlns:p14="http://schemas.microsoft.com/office/powerpoint/2010/main" val="10007595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88076"/>
            <a:ext cx="8229600" cy="535256"/>
          </a:xfrm>
        </p:spPr>
        <p:txBody>
          <a:bodyPr lIns="0" tIns="0" rIns="0" bIns="0"/>
          <a:lstStyle/>
          <a:p>
            <a:r>
              <a:rPr lang="en-US" dirty="0"/>
              <a:t>Peripheral Membrane Proteins</a:t>
            </a:r>
            <a:endParaRPr lang="en-IN" dirty="0"/>
          </a:p>
        </p:txBody>
      </p:sp>
      <p:sp>
        <p:nvSpPr>
          <p:cNvPr id="7" name="Content Placeholder 6"/>
          <p:cNvSpPr>
            <a:spLocks noGrp="1"/>
          </p:cNvSpPr>
          <p:nvPr>
            <p:ph sz="quarter" idx="13"/>
          </p:nvPr>
        </p:nvSpPr>
        <p:spPr>
          <a:xfrm>
            <a:off x="420624" y="955342"/>
            <a:ext cx="8232775" cy="3957852"/>
          </a:xfrm>
        </p:spPr>
        <p:txBody>
          <a:bodyPr lIns="0" tIns="0" rIns="0" bIns="0"/>
          <a:lstStyle/>
          <a:p>
            <a:pPr marL="342000" indent="-342000"/>
            <a:r>
              <a:rPr lang="en-US" sz="2400" dirty="0"/>
              <a:t>Membrane proteins that lack discrete hydrophobic regions do not penetrate the lipid bilayer.</a:t>
            </a:r>
          </a:p>
          <a:p>
            <a:pPr marL="342000" indent="-342000"/>
            <a:r>
              <a:rPr lang="en-US" sz="2400" dirty="0"/>
              <a:t>These </a:t>
            </a:r>
            <a:r>
              <a:rPr lang="en-US" sz="2400" b="1" dirty="0"/>
              <a:t>peripheral membrane</a:t>
            </a:r>
            <a:r>
              <a:rPr lang="en-US" sz="2400" dirty="0"/>
              <a:t> proteins are bound to membrane surfaces through weak electrostatic forces and hydrogen bonds.</a:t>
            </a:r>
          </a:p>
          <a:p>
            <a:pPr marL="342000" indent="-342000"/>
            <a:r>
              <a:rPr lang="en-US" sz="2400" dirty="0"/>
              <a:t>Some hydrophobic residues play a role in anchoring them to the membrane surface.</a:t>
            </a:r>
          </a:p>
          <a:p>
            <a:pPr marL="342000" indent="-342000"/>
            <a:r>
              <a:rPr lang="en-US" sz="2400" dirty="0"/>
              <a:t>Can be removed from a membrane by changing pH or ionic strength.</a:t>
            </a:r>
          </a:p>
        </p:txBody>
      </p:sp>
    </p:spTree>
    <p:extLst>
      <p:ext uri="{BB962C8B-B14F-4D97-AF65-F5344CB8AC3E}">
        <p14:creationId xmlns:p14="http://schemas.microsoft.com/office/powerpoint/2010/main" val="10007595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88076"/>
            <a:ext cx="8229600" cy="535256"/>
          </a:xfrm>
        </p:spPr>
        <p:txBody>
          <a:bodyPr lIns="0" tIns="0" rIns="0" bIns="0"/>
          <a:lstStyle/>
          <a:p>
            <a:r>
              <a:rPr lang="en-US" dirty="0"/>
              <a:t>Lipid-Anchored Membrane Proteins</a:t>
            </a:r>
            <a:endParaRPr lang="en-IN" dirty="0"/>
          </a:p>
        </p:txBody>
      </p:sp>
      <p:sp>
        <p:nvSpPr>
          <p:cNvPr id="7" name="Content Placeholder 6"/>
          <p:cNvSpPr>
            <a:spLocks noGrp="1"/>
          </p:cNvSpPr>
          <p:nvPr>
            <p:ph sz="quarter" idx="13"/>
          </p:nvPr>
        </p:nvSpPr>
        <p:spPr>
          <a:xfrm>
            <a:off x="420624" y="968990"/>
            <a:ext cx="8232775" cy="2743201"/>
          </a:xfrm>
        </p:spPr>
        <p:txBody>
          <a:bodyPr lIns="0" tIns="0" rIns="0" bIns="0"/>
          <a:lstStyle/>
          <a:p>
            <a:pPr marL="342000" indent="-342000"/>
            <a:r>
              <a:rPr lang="en-US" sz="2400" dirty="0"/>
              <a:t>The polypeptide chains of </a:t>
            </a:r>
            <a:r>
              <a:rPr lang="en-US" sz="2400" b="1" dirty="0"/>
              <a:t>lipid-anchored membrane proteins </a:t>
            </a:r>
            <a:r>
              <a:rPr lang="en-US" sz="2400" dirty="0"/>
              <a:t>are located on the surfaces of membranes.</a:t>
            </a:r>
          </a:p>
          <a:p>
            <a:pPr marL="342000" indent="-342000"/>
            <a:r>
              <a:rPr lang="en-US" sz="2400" dirty="0"/>
              <a:t>They are covalently bound to lipid molecules embedded in the bilayer.</a:t>
            </a:r>
          </a:p>
          <a:p>
            <a:pPr marL="342000" indent="-342000"/>
            <a:r>
              <a:rPr lang="en-US" sz="2400" dirty="0"/>
              <a:t>Proteins bound to the inner surface of the  plasma membrane are linked to fatty acids, or </a:t>
            </a:r>
            <a:r>
              <a:rPr lang="en-US" sz="2400" i="1" dirty="0" err="1"/>
              <a:t>isoprenyl</a:t>
            </a:r>
            <a:r>
              <a:rPr lang="en-US" sz="2400" i="1" dirty="0"/>
              <a:t> groups.</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Types of Lipid-Anchored Membrane Proteins</a:t>
            </a:r>
            <a:endParaRPr lang="en-IN" dirty="0"/>
          </a:p>
        </p:txBody>
      </p:sp>
      <p:sp>
        <p:nvSpPr>
          <p:cNvPr id="7" name="Content Placeholder 6"/>
          <p:cNvSpPr>
            <a:spLocks noGrp="1"/>
          </p:cNvSpPr>
          <p:nvPr>
            <p:ph sz="quarter" idx="13"/>
          </p:nvPr>
        </p:nvSpPr>
        <p:spPr>
          <a:xfrm>
            <a:off x="420624" y="1441450"/>
            <a:ext cx="8232775" cy="3785643"/>
          </a:xfrm>
        </p:spPr>
        <p:txBody>
          <a:bodyPr lIns="0" tIns="0" rIns="0" bIns="0"/>
          <a:lstStyle/>
          <a:p>
            <a:pPr marL="342000" indent="-342000"/>
            <a:r>
              <a:rPr lang="en-US" sz="2400" b="1" dirty="0"/>
              <a:t>Fatty acid-anchored membrane</a:t>
            </a:r>
            <a:r>
              <a:rPr lang="en-US" sz="2400" dirty="0"/>
              <a:t> </a:t>
            </a:r>
            <a:r>
              <a:rPr lang="en-US" sz="2400" b="1" dirty="0"/>
              <a:t>proteins</a:t>
            </a:r>
            <a:r>
              <a:rPr lang="en-US" sz="2400" dirty="0"/>
              <a:t> are attached to a saturated fatty acid, usually </a:t>
            </a:r>
            <a:r>
              <a:rPr lang="en-US" sz="2400" i="1" dirty="0"/>
              <a:t>myristic acid</a:t>
            </a:r>
            <a:r>
              <a:rPr lang="en-US" sz="2400" dirty="0"/>
              <a:t> (14C) or </a:t>
            </a:r>
            <a:r>
              <a:rPr lang="en-US" sz="2400" i="1" dirty="0"/>
              <a:t>palmitic acid</a:t>
            </a:r>
            <a:r>
              <a:rPr lang="en-US" sz="2400" dirty="0"/>
              <a:t> (16C).</a:t>
            </a:r>
          </a:p>
          <a:p>
            <a:pPr marL="342000" indent="-342000"/>
            <a:r>
              <a:rPr lang="en-US" sz="2400" b="1" dirty="0" err="1"/>
              <a:t>Isoprenylated</a:t>
            </a:r>
            <a:r>
              <a:rPr lang="en-US" sz="2400" b="1" dirty="0"/>
              <a:t> membrane proteins</a:t>
            </a:r>
            <a:r>
              <a:rPr lang="en-US" sz="2400" dirty="0"/>
              <a:t> are synthesized in the cytosol and then modified by addition of multiple </a:t>
            </a:r>
            <a:r>
              <a:rPr lang="en-US" sz="2400" i="1" dirty="0" err="1"/>
              <a:t>isoprenyl</a:t>
            </a:r>
            <a:r>
              <a:rPr lang="en-US" sz="2400" i="1" dirty="0"/>
              <a:t> groups</a:t>
            </a:r>
            <a:r>
              <a:rPr lang="en-US" sz="2400" dirty="0"/>
              <a:t> (5C) usually </a:t>
            </a:r>
            <a:r>
              <a:rPr lang="en-US" sz="2400" i="1" dirty="0"/>
              <a:t>farnesyl</a:t>
            </a:r>
            <a:r>
              <a:rPr lang="en-US" sz="2400" dirty="0"/>
              <a:t> (15C) or geranylgeranyl (20C) groups.</a:t>
            </a:r>
          </a:p>
          <a:p>
            <a:pPr marL="342000" indent="-342000"/>
            <a:r>
              <a:rPr lang="en-US" sz="2400" b="1" dirty="0"/>
              <a:t>GPI-anchored membrane proteins</a:t>
            </a:r>
            <a:r>
              <a:rPr lang="en-US" sz="2400" dirty="0"/>
              <a:t> are covalently linked to </a:t>
            </a:r>
            <a:r>
              <a:rPr lang="en-US" sz="2400" i="1" dirty="0"/>
              <a:t>glycosylphosphatidylinositol.</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Membrane Proteins Can Be Isolated and Analyzed</a:t>
            </a:r>
            <a:endParaRPr lang="en-IN" dirty="0"/>
          </a:p>
        </p:txBody>
      </p:sp>
      <p:sp>
        <p:nvSpPr>
          <p:cNvPr id="7" name="Content Placeholder 6"/>
          <p:cNvSpPr>
            <a:spLocks noGrp="1"/>
          </p:cNvSpPr>
          <p:nvPr>
            <p:ph sz="quarter" idx="13"/>
          </p:nvPr>
        </p:nvSpPr>
        <p:spPr>
          <a:xfrm>
            <a:off x="420624" y="1441450"/>
            <a:ext cx="8232775" cy="1465523"/>
          </a:xfrm>
        </p:spPr>
        <p:txBody>
          <a:bodyPr lIns="0" tIns="0" rIns="0" bIns="0"/>
          <a:lstStyle/>
          <a:p>
            <a:pPr marL="342000" indent="-342000"/>
            <a:r>
              <a:rPr lang="en-US" sz="2400" dirty="0"/>
              <a:t>Membrane proteins can be solubilized and extracted from membranes so that they can be studied.</a:t>
            </a:r>
          </a:p>
        </p:txBody>
      </p:sp>
    </p:spTree>
    <p:extLst>
      <p:ext uri="{BB962C8B-B14F-4D97-AF65-F5344CB8AC3E}">
        <p14:creationId xmlns:p14="http://schemas.microsoft.com/office/powerpoint/2010/main" val="10007595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01724"/>
            <a:ext cx="8229600" cy="521608"/>
          </a:xfrm>
        </p:spPr>
        <p:txBody>
          <a:bodyPr lIns="0" tIns="0" rIns="0" bIns="0"/>
          <a:lstStyle/>
          <a:p>
            <a:r>
              <a:rPr lang="en-US" dirty="0"/>
              <a:t>Isolation of Membrane Proteins</a:t>
            </a:r>
            <a:endParaRPr lang="en-IN" dirty="0"/>
          </a:p>
        </p:txBody>
      </p:sp>
      <p:sp>
        <p:nvSpPr>
          <p:cNvPr id="7" name="Content Placeholder 6"/>
          <p:cNvSpPr>
            <a:spLocks noGrp="1"/>
          </p:cNvSpPr>
          <p:nvPr>
            <p:ph sz="quarter" idx="13"/>
          </p:nvPr>
        </p:nvSpPr>
        <p:spPr>
          <a:xfrm>
            <a:off x="420624" y="963770"/>
            <a:ext cx="8232775" cy="2434523"/>
          </a:xfrm>
        </p:spPr>
        <p:txBody>
          <a:bodyPr lIns="0" tIns="0" rIns="0" bIns="0"/>
          <a:lstStyle/>
          <a:p>
            <a:pPr marL="342000" indent="-342000"/>
            <a:r>
              <a:rPr lang="en-US" sz="2400" dirty="0"/>
              <a:t>Peripheral membrane proteins are usually easy to isolate by altering pH or ionic strength.</a:t>
            </a:r>
          </a:p>
          <a:p>
            <a:pPr marL="342000" indent="-342000"/>
            <a:r>
              <a:rPr lang="en-US" sz="2400" dirty="0"/>
              <a:t>Chelating (</a:t>
            </a:r>
            <a:r>
              <a:rPr lang="en-US" sz="2400" dirty="0" err="1"/>
              <a:t>cation</a:t>
            </a:r>
            <a:r>
              <a:rPr lang="en-US" sz="2400" dirty="0"/>
              <a:t>-binding) agents are also used to solubilize peripheral membrane proteins.</a:t>
            </a:r>
          </a:p>
          <a:p>
            <a:pPr marL="342000" indent="-342000"/>
            <a:r>
              <a:rPr lang="en-US" sz="2400" dirty="0"/>
              <a:t>Lipid-anchored proteins are isolated by similar means.</a:t>
            </a:r>
          </a:p>
        </p:txBody>
      </p:sp>
    </p:spTree>
    <p:extLst>
      <p:ext uri="{BB962C8B-B14F-4D97-AF65-F5344CB8AC3E}">
        <p14:creationId xmlns:p14="http://schemas.microsoft.com/office/powerpoint/2010/main" val="10007595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201724"/>
            <a:ext cx="8229600" cy="521608"/>
          </a:xfrm>
        </p:spPr>
        <p:txBody>
          <a:bodyPr lIns="0" tIns="0" rIns="0" bIns="0"/>
          <a:lstStyle/>
          <a:p>
            <a:r>
              <a:rPr lang="en-US" dirty="0"/>
              <a:t>Isolating Integral Membrane Proteins</a:t>
            </a:r>
            <a:endParaRPr lang="en-IN" dirty="0"/>
          </a:p>
        </p:txBody>
      </p:sp>
      <p:sp>
        <p:nvSpPr>
          <p:cNvPr id="7" name="Content Placeholder 6"/>
          <p:cNvSpPr>
            <a:spLocks noGrp="1"/>
          </p:cNvSpPr>
          <p:nvPr>
            <p:ph sz="quarter" idx="13"/>
          </p:nvPr>
        </p:nvSpPr>
        <p:spPr>
          <a:xfrm>
            <a:off x="420624" y="982640"/>
            <a:ext cx="8232775" cy="2756848"/>
          </a:xfrm>
        </p:spPr>
        <p:txBody>
          <a:bodyPr lIns="0" tIns="0" rIns="0" bIns="0"/>
          <a:lstStyle/>
          <a:p>
            <a:pPr marL="342000" indent="-342000"/>
            <a:r>
              <a:rPr lang="en-US" sz="2400" dirty="0"/>
              <a:t>Integral membrane proteins are difficult to isolate from membranes. </a:t>
            </a:r>
          </a:p>
          <a:p>
            <a:pPr marL="342000" indent="-342000"/>
            <a:r>
              <a:rPr lang="en-US" sz="2400" dirty="0"/>
              <a:t>Often detergents are used that disrupt hydrophobic interactions and dissolve the lipid bilayer. </a:t>
            </a:r>
          </a:p>
          <a:p>
            <a:pPr marL="342000" indent="-342000"/>
            <a:r>
              <a:rPr lang="en-US" sz="2400" dirty="0"/>
              <a:t>This can lead to a disruption in biological function of the integral membrane protein.</a:t>
            </a:r>
          </a:p>
        </p:txBody>
      </p:sp>
    </p:spTree>
    <p:extLst>
      <p:ext uri="{BB962C8B-B14F-4D97-AF65-F5344CB8AC3E}">
        <p14:creationId xmlns:p14="http://schemas.microsoft.com/office/powerpoint/2010/main" val="10007595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88076"/>
            <a:ext cx="8229600" cy="535256"/>
          </a:xfrm>
        </p:spPr>
        <p:txBody>
          <a:bodyPr lIns="0" tIns="0" rIns="0" bIns="0"/>
          <a:lstStyle/>
          <a:p>
            <a:r>
              <a:rPr lang="en-US" dirty="0"/>
              <a:t>Separation </a:t>
            </a:r>
            <a:r>
              <a:rPr lang="en-US" sz="2800" dirty="0"/>
              <a:t>(1 of 2)</a:t>
            </a:r>
            <a:endParaRPr lang="en-IN" sz="2800" dirty="0"/>
          </a:p>
        </p:txBody>
      </p:sp>
      <p:sp>
        <p:nvSpPr>
          <p:cNvPr id="7" name="Content Placeholder 6"/>
          <p:cNvSpPr>
            <a:spLocks noGrp="1"/>
          </p:cNvSpPr>
          <p:nvPr>
            <p:ph sz="quarter" idx="13"/>
          </p:nvPr>
        </p:nvSpPr>
        <p:spPr>
          <a:xfrm>
            <a:off x="403801" y="963779"/>
            <a:ext cx="8232775" cy="4004006"/>
          </a:xfrm>
        </p:spPr>
        <p:txBody>
          <a:bodyPr lIns="0" tIns="0" rIns="0" bIns="0"/>
          <a:lstStyle/>
          <a:p>
            <a:pPr marL="342000" indent="-342000"/>
            <a:r>
              <a:rPr lang="en-US" sz="2400" dirty="0"/>
              <a:t>Solubilized membrane proteins can be analyzed using </a:t>
            </a:r>
            <a:r>
              <a:rPr lang="en-US" sz="2400" i="1" dirty="0"/>
              <a:t>gel electrophoresis</a:t>
            </a:r>
            <a:r>
              <a:rPr lang="en-US" sz="2400" dirty="0"/>
              <a:t>. </a:t>
            </a:r>
          </a:p>
          <a:p>
            <a:pPr marL="342000" indent="-342000"/>
            <a:r>
              <a:rPr lang="en-US" sz="2400" b="1" dirty="0"/>
              <a:t>Electrophoresis</a:t>
            </a:r>
            <a:r>
              <a:rPr lang="en-US" sz="2400" dirty="0"/>
              <a:t> is a group of techniques that use an electric field to separate charged molecules according to size.</a:t>
            </a:r>
          </a:p>
          <a:p>
            <a:pPr marL="342000" indent="-342000"/>
            <a:r>
              <a:rPr lang="en-US" sz="2400" dirty="0"/>
              <a:t>How quickly a molecule moves during electrophoresis depends on both charge and size.</a:t>
            </a:r>
          </a:p>
          <a:p>
            <a:pPr marL="342000" indent="-342000"/>
            <a:r>
              <a:rPr lang="en-US" sz="2400" dirty="0"/>
              <a:t>Electrophoresis uses various support media, most commonly polyacrylamide or </a:t>
            </a:r>
            <a:r>
              <a:rPr lang="en-US" sz="2400" dirty="0" err="1"/>
              <a:t>agarose</a:t>
            </a:r>
            <a:r>
              <a:rPr lang="en-US" sz="2400" dirty="0"/>
              <a:t>.</a:t>
            </a:r>
          </a:p>
        </p:txBody>
      </p:sp>
    </p:spTree>
    <p:extLst>
      <p:ext uri="{BB962C8B-B14F-4D97-AF65-F5344CB8AC3E}">
        <p14:creationId xmlns:p14="http://schemas.microsoft.com/office/powerpoint/2010/main" val="10007595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47131"/>
            <a:ext cx="8229600" cy="589847"/>
          </a:xfrm>
        </p:spPr>
        <p:txBody>
          <a:bodyPr lIns="0" tIns="0" rIns="0" bIns="0"/>
          <a:lstStyle/>
          <a:p>
            <a:r>
              <a:rPr lang="en-US" dirty="0"/>
              <a:t>Separation </a:t>
            </a:r>
            <a:r>
              <a:rPr lang="en-US" sz="2800" dirty="0"/>
              <a:t>(2 of 2)</a:t>
            </a:r>
            <a:endParaRPr lang="en-IN" dirty="0"/>
          </a:p>
        </p:txBody>
      </p:sp>
      <p:sp>
        <p:nvSpPr>
          <p:cNvPr id="7" name="Content Placeholder 6"/>
          <p:cNvSpPr>
            <a:spLocks noGrp="1"/>
          </p:cNvSpPr>
          <p:nvPr>
            <p:ph sz="quarter" idx="13"/>
          </p:nvPr>
        </p:nvSpPr>
        <p:spPr>
          <a:xfrm>
            <a:off x="420624" y="968990"/>
            <a:ext cx="8232775" cy="2825088"/>
          </a:xfrm>
        </p:spPr>
        <p:txBody>
          <a:bodyPr lIns="0" tIns="0" rIns="0" bIns="0"/>
          <a:lstStyle/>
          <a:p>
            <a:pPr marL="342000" indent="-342000"/>
            <a:r>
              <a:rPr lang="en-US" sz="2400" dirty="0"/>
              <a:t>During electrophoresis, proteins are separated by size and charged.</a:t>
            </a:r>
          </a:p>
          <a:p>
            <a:pPr marL="342000" indent="-342000"/>
            <a:r>
              <a:rPr lang="en-US" sz="2400" dirty="0"/>
              <a:t>After electrophoresis, polypeptides can be identified by </a:t>
            </a:r>
            <a:r>
              <a:rPr lang="en-US" sz="2400" b="1" dirty="0"/>
              <a:t>Western blotting.</a:t>
            </a:r>
          </a:p>
          <a:p>
            <a:pPr marL="342000" indent="-342000"/>
            <a:r>
              <a:rPr lang="en-US" sz="2400" dirty="0"/>
              <a:t>This technique is important for identifying which proteins are in a sample and their relative abundance.</a:t>
            </a:r>
          </a:p>
        </p:txBody>
      </p:sp>
    </p:spTree>
    <p:extLst>
      <p:ext uri="{BB962C8B-B14F-4D97-AF65-F5344CB8AC3E}">
        <p14:creationId xmlns:p14="http://schemas.microsoft.com/office/powerpoint/2010/main" val="10007595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01724"/>
            <a:ext cx="8229600" cy="521608"/>
          </a:xfrm>
        </p:spPr>
        <p:txBody>
          <a:bodyPr lIns="0" tIns="0" rIns="0" bIns="0"/>
          <a:lstStyle/>
          <a:p>
            <a:r>
              <a:rPr lang="en-US" dirty="0"/>
              <a:t>Affinity Labeling</a:t>
            </a:r>
            <a:endParaRPr lang="en-IN" dirty="0"/>
          </a:p>
        </p:txBody>
      </p:sp>
      <p:sp>
        <p:nvSpPr>
          <p:cNvPr id="7" name="Content Placeholder 6"/>
          <p:cNvSpPr>
            <a:spLocks noGrp="1"/>
          </p:cNvSpPr>
          <p:nvPr>
            <p:ph sz="quarter" idx="13"/>
          </p:nvPr>
        </p:nvSpPr>
        <p:spPr>
          <a:xfrm>
            <a:off x="420624" y="955344"/>
            <a:ext cx="8232775" cy="3111689"/>
          </a:xfrm>
        </p:spPr>
        <p:txBody>
          <a:bodyPr lIns="0" tIns="0" rIns="0" bIns="0"/>
          <a:lstStyle/>
          <a:p>
            <a:pPr marL="342000" indent="-342000"/>
            <a:r>
              <a:rPr lang="en-US" sz="2400" i="1" dirty="0"/>
              <a:t>Affinity labeling</a:t>
            </a:r>
            <a:r>
              <a:rPr lang="en-US" sz="2400" dirty="0"/>
              <a:t> utilizes radioactive molecules that bind to certain proteins based on function.</a:t>
            </a:r>
          </a:p>
          <a:p>
            <a:pPr marL="342000" indent="-342000"/>
            <a:r>
              <a:rPr lang="en-US" sz="2400" dirty="0"/>
              <a:t>For example, </a:t>
            </a:r>
            <a:r>
              <a:rPr lang="en-US" sz="2400" i="1" dirty="0"/>
              <a:t>cytochalasin B</a:t>
            </a:r>
            <a:r>
              <a:rPr lang="en-US" sz="2400" dirty="0"/>
              <a:t> is an inhibitor of glucose transport.</a:t>
            </a:r>
          </a:p>
          <a:p>
            <a:pPr marL="342000" indent="-342000"/>
            <a:r>
              <a:rPr lang="en-US" sz="2400" dirty="0"/>
              <a:t>Membranes exposed to radioactive </a:t>
            </a:r>
            <a:r>
              <a:rPr lang="en-US" sz="2400" dirty="0" err="1"/>
              <a:t>cytochalasin</a:t>
            </a:r>
            <a:r>
              <a:rPr lang="en-US" sz="2400" dirty="0"/>
              <a:t> B will likely have the radioactivity bound to proteins involved in glucose transport.</a:t>
            </a:r>
          </a:p>
        </p:txBody>
      </p:sp>
    </p:spTree>
    <p:extLst>
      <p:ext uri="{BB962C8B-B14F-4D97-AF65-F5344CB8AC3E}">
        <p14:creationId xmlns:p14="http://schemas.microsoft.com/office/powerpoint/2010/main" val="10007595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88076"/>
            <a:ext cx="8229600" cy="535256"/>
          </a:xfrm>
        </p:spPr>
        <p:txBody>
          <a:bodyPr lIns="0" tIns="0" rIns="0" bIns="0"/>
          <a:lstStyle/>
          <a:p>
            <a:r>
              <a:rPr lang="en-US" dirty="0"/>
              <a:t>Membrane Reconstitution</a:t>
            </a:r>
            <a:endParaRPr lang="en-IN" dirty="0"/>
          </a:p>
        </p:txBody>
      </p:sp>
      <p:sp>
        <p:nvSpPr>
          <p:cNvPr id="7" name="Content Placeholder 6"/>
          <p:cNvSpPr>
            <a:spLocks noGrp="1"/>
          </p:cNvSpPr>
          <p:nvPr>
            <p:ph sz="quarter" idx="13"/>
          </p:nvPr>
        </p:nvSpPr>
        <p:spPr>
          <a:xfrm>
            <a:off x="420624" y="955344"/>
            <a:ext cx="8232775" cy="2743200"/>
          </a:xfrm>
        </p:spPr>
        <p:txBody>
          <a:bodyPr lIns="0" tIns="0" rIns="0" bIns="0"/>
          <a:lstStyle/>
          <a:p>
            <a:pPr marL="342000" indent="-342000"/>
            <a:r>
              <a:rPr lang="en-US" sz="2400" dirty="0"/>
              <a:t>In </a:t>
            </a:r>
            <a:r>
              <a:rPr lang="en-US" sz="2400" i="1" dirty="0"/>
              <a:t>membrane reconstitution</a:t>
            </a:r>
            <a:r>
              <a:rPr lang="en-US" sz="2400" dirty="0"/>
              <a:t>, proteins are extracted from membranes and separated individually.</a:t>
            </a:r>
          </a:p>
          <a:p>
            <a:pPr marL="342000" indent="-342000"/>
            <a:r>
              <a:rPr lang="en-US" sz="2400" dirty="0"/>
              <a:t>The purified proteins are mixed with phospholipids to form vesicles call </a:t>
            </a:r>
            <a:r>
              <a:rPr lang="en-US" sz="2400" i="1" dirty="0"/>
              <a:t>liposomes.</a:t>
            </a:r>
          </a:p>
          <a:p>
            <a:pPr marL="342000" indent="-342000"/>
            <a:r>
              <a:rPr lang="en-US" sz="2400" dirty="0"/>
              <a:t>Liposomes can be loaded with specific molecules and tested for their ability to carry out certain functions.</a:t>
            </a:r>
          </a:p>
        </p:txBody>
      </p:sp>
    </p:spTree>
    <p:extLst>
      <p:ext uri="{BB962C8B-B14F-4D97-AF65-F5344CB8AC3E}">
        <p14:creationId xmlns:p14="http://schemas.microsoft.com/office/powerpoint/2010/main" val="10007595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654372"/>
          </a:xfrm>
        </p:spPr>
        <p:txBody>
          <a:bodyPr lIns="0" tIns="0" rIns="0" bIns="0"/>
          <a:lstStyle/>
          <a:p>
            <a:r>
              <a:rPr lang="en-US" dirty="0"/>
              <a:t>Determining the Three-Dimensional Structure of Membrane Proteins Is Becoming Easier</a:t>
            </a:r>
            <a:endParaRPr lang="en-IN" dirty="0"/>
          </a:p>
        </p:txBody>
      </p:sp>
      <p:sp>
        <p:nvSpPr>
          <p:cNvPr id="7" name="Content Placeholder 6"/>
          <p:cNvSpPr>
            <a:spLocks noGrp="1"/>
          </p:cNvSpPr>
          <p:nvPr>
            <p:ph sz="quarter" idx="13"/>
          </p:nvPr>
        </p:nvSpPr>
        <p:spPr>
          <a:xfrm>
            <a:off x="420624" y="2129050"/>
            <a:ext cx="8232775" cy="2743201"/>
          </a:xfrm>
        </p:spPr>
        <p:txBody>
          <a:bodyPr lIns="0" tIns="0" rIns="0" bIns="0"/>
          <a:lstStyle/>
          <a:p>
            <a:pPr marL="342000" indent="-342000"/>
            <a:r>
              <a:rPr lang="en-US" sz="2400" i="1" dirty="0"/>
              <a:t>X-ray crystallography</a:t>
            </a:r>
            <a:r>
              <a:rPr lang="en-US" sz="2400" dirty="0"/>
              <a:t> can be used to determine the structure of proteins that can be isolated in crystalline form.</a:t>
            </a:r>
          </a:p>
          <a:p>
            <a:pPr marL="342000" indent="-342000"/>
            <a:r>
              <a:rPr lang="en-US" sz="2400" dirty="0"/>
              <a:t>Membrane proteins are hard to isolate and crystallize.</a:t>
            </a:r>
          </a:p>
          <a:p>
            <a:pPr marL="342000" indent="-342000"/>
            <a:r>
              <a:rPr lang="en-US" sz="2400" dirty="0"/>
              <a:t>An alternative approach called </a:t>
            </a:r>
            <a:r>
              <a:rPr lang="en-US" sz="2400" i="1" dirty="0" err="1"/>
              <a:t>hydropathy</a:t>
            </a:r>
            <a:r>
              <a:rPr lang="en-US" sz="2400" i="1" dirty="0"/>
              <a:t> analysis</a:t>
            </a:r>
            <a:r>
              <a:rPr lang="en-US" sz="2400" dirty="0"/>
              <a:t> can be used.</a:t>
            </a:r>
          </a:p>
        </p:txBody>
      </p:sp>
    </p:spTree>
    <p:extLst>
      <p:ext uri="{BB962C8B-B14F-4D97-AF65-F5344CB8AC3E}">
        <p14:creationId xmlns:p14="http://schemas.microsoft.com/office/powerpoint/2010/main" val="10007595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60779"/>
            <a:ext cx="8229600" cy="562551"/>
          </a:xfrm>
        </p:spPr>
        <p:txBody>
          <a:bodyPr lIns="0" tIns="0" rIns="0" bIns="0"/>
          <a:lstStyle/>
          <a:p>
            <a:r>
              <a:rPr lang="en-US" dirty="0"/>
              <a:t>X-Ray Crystallography</a:t>
            </a:r>
            <a:endParaRPr lang="en-IN" dirty="0"/>
          </a:p>
        </p:txBody>
      </p:sp>
      <p:sp>
        <p:nvSpPr>
          <p:cNvPr id="7" name="Content Placeholder 6"/>
          <p:cNvSpPr>
            <a:spLocks noGrp="1"/>
          </p:cNvSpPr>
          <p:nvPr>
            <p:ph sz="quarter" idx="13"/>
          </p:nvPr>
        </p:nvSpPr>
        <p:spPr>
          <a:xfrm>
            <a:off x="420624" y="950122"/>
            <a:ext cx="8232775" cy="2734765"/>
          </a:xfrm>
        </p:spPr>
        <p:txBody>
          <a:bodyPr lIns="0" tIns="0" rIns="0" bIns="0"/>
          <a:lstStyle/>
          <a:p>
            <a:pPr marL="342000" indent="-342000"/>
            <a:r>
              <a:rPr lang="en-US" sz="2400" b="1" dirty="0"/>
              <a:t>X-ray crystallography </a:t>
            </a:r>
            <a:r>
              <a:rPr lang="en-US" sz="2400" dirty="0"/>
              <a:t>is widely used to determine the three-dimensional structure of proteins.</a:t>
            </a:r>
          </a:p>
          <a:p>
            <a:pPr marL="342000" indent="-342000"/>
            <a:r>
              <a:rPr lang="en-US" sz="2400" dirty="0"/>
              <a:t>Integral membrane proteins are difficult to isolate and crystallize, but recent techniques have improved.</a:t>
            </a:r>
          </a:p>
          <a:p>
            <a:pPr marL="342000" indent="-342000"/>
            <a:r>
              <a:rPr lang="en-US" sz="2400" dirty="0"/>
              <a:t>Now, over 900 membrane proteins have been studied using this method.</a:t>
            </a:r>
          </a:p>
        </p:txBody>
      </p:sp>
    </p:spTree>
    <p:extLst>
      <p:ext uri="{BB962C8B-B14F-4D97-AF65-F5344CB8AC3E}">
        <p14:creationId xmlns:p14="http://schemas.microsoft.com/office/powerpoint/2010/main" val="10007595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60779"/>
            <a:ext cx="8229600" cy="562551"/>
          </a:xfrm>
        </p:spPr>
        <p:txBody>
          <a:bodyPr lIns="0" tIns="0" rIns="0" bIns="0"/>
          <a:lstStyle/>
          <a:p>
            <a:r>
              <a:rPr lang="en-US" dirty="0" err="1"/>
              <a:t>Hydropathy</a:t>
            </a:r>
            <a:r>
              <a:rPr lang="en-US" dirty="0"/>
              <a:t> Analysis</a:t>
            </a:r>
            <a:endParaRPr lang="en-IN" dirty="0"/>
          </a:p>
        </p:txBody>
      </p:sp>
      <p:sp>
        <p:nvSpPr>
          <p:cNvPr id="7" name="Content Placeholder 6"/>
          <p:cNvSpPr>
            <a:spLocks noGrp="1"/>
          </p:cNvSpPr>
          <p:nvPr>
            <p:ph sz="quarter" idx="13"/>
          </p:nvPr>
        </p:nvSpPr>
        <p:spPr>
          <a:xfrm>
            <a:off x="420624" y="968990"/>
            <a:ext cx="8232775" cy="3084395"/>
          </a:xfrm>
        </p:spPr>
        <p:txBody>
          <a:bodyPr lIns="0" tIns="0" rIns="0" bIns="0"/>
          <a:lstStyle/>
          <a:p>
            <a:pPr marL="342000" indent="-342000"/>
            <a:r>
              <a:rPr lang="en-US" sz="2400" dirty="0"/>
              <a:t>The number and location of </a:t>
            </a:r>
            <a:r>
              <a:rPr lang="en-US" sz="2400" dirty="0" err="1"/>
              <a:t>transmembrane</a:t>
            </a:r>
            <a:r>
              <a:rPr lang="en-US" sz="2400" dirty="0"/>
              <a:t> segments in a membrane protein can be inferred if the protein sequence is known.</a:t>
            </a:r>
          </a:p>
          <a:p>
            <a:pPr marL="342000" indent="-342000"/>
            <a:r>
              <a:rPr lang="en-US" sz="2400" dirty="0"/>
              <a:t>A</a:t>
            </a:r>
            <a:r>
              <a:rPr lang="en-US" sz="2400" b="1" dirty="0"/>
              <a:t> </a:t>
            </a:r>
            <a:r>
              <a:rPr lang="en-US" sz="2400" b="1" dirty="0" err="1"/>
              <a:t>hydropathy</a:t>
            </a:r>
            <a:r>
              <a:rPr lang="en-US" sz="2400" dirty="0"/>
              <a:t> (or </a:t>
            </a:r>
            <a:r>
              <a:rPr lang="en-US" sz="2400" b="1" dirty="0"/>
              <a:t>hydrophobicity</a:t>
            </a:r>
            <a:r>
              <a:rPr lang="en-US" sz="2400" dirty="0"/>
              <a:t>) </a:t>
            </a:r>
            <a:r>
              <a:rPr lang="en-US" sz="2400" b="1" dirty="0"/>
              <a:t>plot</a:t>
            </a:r>
            <a:r>
              <a:rPr lang="en-US" sz="2400" dirty="0"/>
              <a:t> is used for this.</a:t>
            </a:r>
          </a:p>
          <a:p>
            <a:pPr marL="342000" indent="-342000"/>
            <a:r>
              <a:rPr lang="en-US" sz="2400" dirty="0"/>
              <a:t>A computer program identifies clusters of hydrophobic residues, calculating a </a:t>
            </a:r>
            <a:r>
              <a:rPr lang="en-US" sz="2400" b="1" dirty="0" err="1"/>
              <a:t>hydropathy</a:t>
            </a:r>
            <a:r>
              <a:rPr lang="en-US" sz="2400" dirty="0"/>
              <a:t> </a:t>
            </a:r>
            <a:r>
              <a:rPr lang="en-US" sz="2400" b="1" dirty="0"/>
              <a:t>index</a:t>
            </a:r>
            <a:r>
              <a:rPr lang="en-US" sz="2400" dirty="0"/>
              <a:t> for successive </a:t>
            </a:r>
            <a:r>
              <a:rPr lang="en-US" altLang="ja-JP" sz="2400" dirty="0"/>
              <a:t>“windows” along the protein.</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256" y="174427"/>
            <a:ext cx="8229600" cy="1097279"/>
          </a:xfrm>
        </p:spPr>
        <p:txBody>
          <a:bodyPr lIns="0" tIns="0" rIns="0" bIns="0" anchor="ctr"/>
          <a:lstStyle/>
          <a:p>
            <a:r>
              <a:rPr lang="en-US" dirty="0" err="1"/>
              <a:t>Hydropathy</a:t>
            </a:r>
            <a:r>
              <a:rPr lang="en-US" dirty="0"/>
              <a:t> Analysis of an Integral Membrane Protein</a:t>
            </a:r>
            <a:endParaRPr lang="en-IN" dirty="0"/>
          </a:p>
        </p:txBody>
      </p:sp>
      <p:sp>
        <p:nvSpPr>
          <p:cNvPr id="4" name="Content Placeholder 3"/>
          <p:cNvSpPr>
            <a:spLocks noGrp="1"/>
          </p:cNvSpPr>
          <p:nvPr>
            <p:ph sz="quarter" idx="14"/>
          </p:nvPr>
        </p:nvSpPr>
        <p:spPr>
          <a:xfrm>
            <a:off x="416257" y="1552575"/>
            <a:ext cx="5097439" cy="798739"/>
          </a:xfrm>
        </p:spPr>
        <p:txBody>
          <a:bodyPr lIns="0" tIns="0" rIns="0" bIns="0"/>
          <a:lstStyle/>
          <a:p>
            <a:pPr marL="0" indent="0">
              <a:buNone/>
            </a:pPr>
            <a:r>
              <a:rPr lang="en-IN" sz="2400" b="1" dirty="0"/>
              <a:t>Figure 7.19 </a:t>
            </a:r>
            <a:r>
              <a:rPr lang="en-IN" sz="2400" dirty="0" err="1"/>
              <a:t>Hydropathy</a:t>
            </a:r>
            <a:r>
              <a:rPr lang="en-IN" sz="2400" dirty="0"/>
              <a:t> Analysis of an Integral Membrane Protein.</a:t>
            </a:r>
          </a:p>
        </p:txBody>
      </p:sp>
      <p:pic>
        <p:nvPicPr>
          <p:cNvPr id="9" name="Content Placeholder 8" descr="Graph “a” shows the hydropathy plot of connexion for hydrophobic and hydrophilic components. Illustration “b” shows a transmembrane structure of connexion with four distinct hydrophobic regions.&#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412"/>
          <a:stretch/>
        </p:blipFill>
        <p:spPr>
          <a:xfrm>
            <a:off x="5874790" y="1541061"/>
            <a:ext cx="2782794" cy="4407302"/>
          </a:xfrm>
        </p:spPr>
      </p:pic>
    </p:spTree>
    <p:extLst>
      <p:ext uri="{BB962C8B-B14F-4D97-AF65-F5344CB8AC3E}">
        <p14:creationId xmlns:p14="http://schemas.microsoft.com/office/powerpoint/2010/main" val="10007595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29019"/>
            <a:ext cx="8229600" cy="1599781"/>
          </a:xfrm>
        </p:spPr>
        <p:txBody>
          <a:bodyPr lIns="0" tIns="0" rIns="0" bIns="0"/>
          <a:lstStyle/>
          <a:p>
            <a:r>
              <a:rPr lang="en-US" dirty="0"/>
              <a:t>Molecular Biology Has Contributed Greatly to Our Understanding of Membrane Proteins</a:t>
            </a:r>
            <a:endParaRPr lang="en-IN" dirty="0"/>
          </a:p>
        </p:txBody>
      </p:sp>
      <p:sp>
        <p:nvSpPr>
          <p:cNvPr id="7" name="Content Placeholder 6"/>
          <p:cNvSpPr>
            <a:spLocks noGrp="1"/>
          </p:cNvSpPr>
          <p:nvPr>
            <p:ph sz="quarter" idx="13"/>
          </p:nvPr>
        </p:nvSpPr>
        <p:spPr>
          <a:xfrm>
            <a:off x="420624" y="2142696"/>
            <a:ext cx="8232775" cy="2743201"/>
          </a:xfrm>
        </p:spPr>
        <p:txBody>
          <a:bodyPr lIns="0" tIns="0" rIns="0" bIns="0"/>
          <a:lstStyle/>
          <a:p>
            <a:pPr marL="342000" indent="-342000"/>
            <a:r>
              <a:rPr lang="en-US" sz="2400" dirty="0"/>
              <a:t>The study of membrane proteins has been revolutionized by </a:t>
            </a:r>
            <a:r>
              <a:rPr lang="en-US" sz="2400" spc="-350" dirty="0"/>
              <a:t>D N A</a:t>
            </a:r>
            <a:r>
              <a:rPr lang="en-US" sz="2400" dirty="0"/>
              <a:t> sequencing and recombinant </a:t>
            </a:r>
            <a:r>
              <a:rPr lang="en-US" sz="2400" spc="-350" dirty="0"/>
              <a:t>D N A</a:t>
            </a:r>
            <a:r>
              <a:rPr lang="en-US" sz="2400" dirty="0"/>
              <a:t> technology.</a:t>
            </a:r>
          </a:p>
          <a:p>
            <a:pPr marL="342000" indent="-342000"/>
            <a:r>
              <a:rPr lang="en-US" sz="2400" dirty="0"/>
              <a:t>Amino acid sequence can be deduced from </a:t>
            </a:r>
            <a:r>
              <a:rPr lang="en-US" sz="2400" spc="-350" dirty="0"/>
              <a:t>D N A</a:t>
            </a:r>
            <a:r>
              <a:rPr lang="en-US" sz="2400" dirty="0"/>
              <a:t> sequence.</a:t>
            </a:r>
          </a:p>
          <a:p>
            <a:pPr marL="342000" indent="-342000"/>
            <a:r>
              <a:rPr lang="en-US" sz="2400" i="1" dirty="0"/>
              <a:t>Site-specific mutagenesis </a:t>
            </a:r>
            <a:r>
              <a:rPr lang="en-US" sz="2400" dirty="0"/>
              <a:t>allows determination of how certain amino acids affect protein function.</a:t>
            </a:r>
          </a:p>
        </p:txBody>
      </p:sp>
    </p:spTree>
    <p:extLst>
      <p:ext uri="{BB962C8B-B14F-4D97-AF65-F5344CB8AC3E}">
        <p14:creationId xmlns:p14="http://schemas.microsoft.com/office/powerpoint/2010/main" val="10007595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Membrane Proteins Have a Variety of Functions</a:t>
            </a:r>
            <a:endParaRPr lang="en-IN" dirty="0"/>
          </a:p>
        </p:txBody>
      </p:sp>
      <p:sp>
        <p:nvSpPr>
          <p:cNvPr id="7" name="Content Placeholder 6"/>
          <p:cNvSpPr>
            <a:spLocks noGrp="1"/>
          </p:cNvSpPr>
          <p:nvPr>
            <p:ph sz="quarter" idx="13"/>
          </p:nvPr>
        </p:nvSpPr>
        <p:spPr>
          <a:xfrm>
            <a:off x="420624" y="1441450"/>
            <a:ext cx="8232775" cy="2229798"/>
          </a:xfrm>
        </p:spPr>
        <p:txBody>
          <a:bodyPr lIns="0" tIns="0" rIns="0" bIns="0"/>
          <a:lstStyle/>
          <a:p>
            <a:pPr marL="342000" indent="-342000"/>
            <a:r>
              <a:rPr lang="en-US" sz="2400" dirty="0"/>
              <a:t>Some membrane proteins are </a:t>
            </a:r>
            <a:r>
              <a:rPr lang="en-US" sz="2400" i="1" dirty="0"/>
              <a:t>enzymes,</a:t>
            </a:r>
            <a:r>
              <a:rPr lang="en-US" sz="2400" dirty="0"/>
              <a:t> which accounts for the localization of specific functions to specific membranes.</a:t>
            </a:r>
          </a:p>
          <a:p>
            <a:pPr marL="342000" indent="-342000"/>
            <a:r>
              <a:rPr lang="en-US" sz="2400" i="1" dirty="0"/>
              <a:t>Electron transport proteins</a:t>
            </a:r>
            <a:r>
              <a:rPr lang="en-US" sz="2400" dirty="0"/>
              <a:t> such as cytochromes and iron-sulfur proteins involved in energy production.</a:t>
            </a:r>
          </a:p>
        </p:txBody>
      </p:sp>
    </p:spTree>
    <p:extLst>
      <p:ext uri="{BB962C8B-B14F-4D97-AF65-F5344CB8AC3E}">
        <p14:creationId xmlns:p14="http://schemas.microsoft.com/office/powerpoint/2010/main" val="10007595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8"/>
            <a:ext cx="8229600" cy="548904"/>
          </a:xfrm>
        </p:spPr>
        <p:txBody>
          <a:bodyPr lIns="0" tIns="0" rIns="0" bIns="0"/>
          <a:lstStyle/>
          <a:p>
            <a:r>
              <a:rPr lang="en-US" dirty="0"/>
              <a:t>Solute Transport Across Membranes</a:t>
            </a:r>
            <a:endParaRPr lang="en-IN" dirty="0"/>
          </a:p>
        </p:txBody>
      </p:sp>
      <p:sp>
        <p:nvSpPr>
          <p:cNvPr id="7" name="Content Placeholder 6"/>
          <p:cNvSpPr>
            <a:spLocks noGrp="1"/>
          </p:cNvSpPr>
          <p:nvPr>
            <p:ph sz="quarter" idx="13"/>
          </p:nvPr>
        </p:nvSpPr>
        <p:spPr>
          <a:xfrm>
            <a:off x="420624" y="968992"/>
            <a:ext cx="8232775" cy="2743200"/>
          </a:xfrm>
        </p:spPr>
        <p:txBody>
          <a:bodyPr lIns="0" tIns="0" rIns="0" bIns="0"/>
          <a:lstStyle/>
          <a:p>
            <a:pPr marL="342000" indent="-342000"/>
            <a:r>
              <a:rPr lang="en-US" sz="2400" i="1" dirty="0"/>
              <a:t>Transport proteins</a:t>
            </a:r>
            <a:r>
              <a:rPr lang="en-US" sz="2400" dirty="0"/>
              <a:t> facilitate the movement of nutrients across membranes.</a:t>
            </a:r>
          </a:p>
          <a:p>
            <a:pPr marL="342000" indent="-342000"/>
            <a:r>
              <a:rPr lang="en-US" sz="2400" i="1" dirty="0"/>
              <a:t>Channel proteins</a:t>
            </a:r>
            <a:r>
              <a:rPr lang="en-US" sz="2400" dirty="0"/>
              <a:t> provide hydrophilic passageways through hydrophobic membranes.</a:t>
            </a:r>
          </a:p>
          <a:p>
            <a:pPr marL="342000" indent="-342000"/>
            <a:r>
              <a:rPr lang="en-US" sz="2400" i="1" dirty="0"/>
              <a:t>Transport </a:t>
            </a:r>
            <a:r>
              <a:rPr lang="en-US" sz="2400" i="1" spc="-300" dirty="0"/>
              <a:t>A T P </a:t>
            </a:r>
            <a:r>
              <a:rPr lang="en-US" sz="2400" i="1" dirty="0" err="1"/>
              <a:t>ases</a:t>
            </a:r>
            <a:r>
              <a:rPr lang="en-US" sz="2400" dirty="0"/>
              <a:t> use the energy of </a:t>
            </a:r>
            <a:r>
              <a:rPr lang="en-US" sz="2400" spc="-300" dirty="0"/>
              <a:t>A T </a:t>
            </a:r>
            <a:r>
              <a:rPr lang="en-US" sz="2400" spc="-350" dirty="0"/>
              <a:t>P</a:t>
            </a:r>
            <a:r>
              <a:rPr lang="en-US" sz="2400" dirty="0"/>
              <a:t> to transport ions across membranes.</a:t>
            </a:r>
          </a:p>
        </p:txBody>
      </p:sp>
    </p:spTree>
    <p:extLst>
      <p:ext uri="{BB962C8B-B14F-4D97-AF65-F5344CB8AC3E}">
        <p14:creationId xmlns:p14="http://schemas.microsoft.com/office/powerpoint/2010/main" val="10007595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47131"/>
            <a:ext cx="8229600" cy="576199"/>
          </a:xfrm>
        </p:spPr>
        <p:txBody>
          <a:bodyPr lIns="0" tIns="0" rIns="0" bIns="0"/>
          <a:lstStyle/>
          <a:p>
            <a:r>
              <a:rPr lang="en-US" dirty="0"/>
              <a:t>Signaling Across Membranes</a:t>
            </a:r>
            <a:endParaRPr lang="en-IN" dirty="0"/>
          </a:p>
        </p:txBody>
      </p:sp>
      <p:sp>
        <p:nvSpPr>
          <p:cNvPr id="7" name="Content Placeholder 6"/>
          <p:cNvSpPr>
            <a:spLocks noGrp="1"/>
          </p:cNvSpPr>
          <p:nvPr>
            <p:ph sz="quarter" idx="13"/>
          </p:nvPr>
        </p:nvSpPr>
        <p:spPr>
          <a:xfrm>
            <a:off x="420624" y="968990"/>
            <a:ext cx="8232775" cy="1897040"/>
          </a:xfrm>
        </p:spPr>
        <p:txBody>
          <a:bodyPr lIns="0" tIns="0" rIns="0" bIns="0"/>
          <a:lstStyle/>
          <a:p>
            <a:pPr marL="342000" indent="-342000"/>
            <a:r>
              <a:rPr lang="en-US" sz="2400" i="1" dirty="0"/>
              <a:t>Receptors </a:t>
            </a:r>
            <a:r>
              <a:rPr lang="en-US" sz="2400" dirty="0"/>
              <a:t>recognize and mediate the effects of specific chemical signals on the surface of the cell.</a:t>
            </a:r>
          </a:p>
          <a:p>
            <a:pPr marL="342000" indent="-342000"/>
            <a:r>
              <a:rPr lang="en-US" sz="2400" dirty="0"/>
              <a:t>Hormones, neurotransmitters, and growth-promoting substances are examples of chemical signals.</a:t>
            </a:r>
          </a:p>
        </p:txBody>
      </p:sp>
    </p:spTree>
    <p:extLst>
      <p:ext uri="{BB962C8B-B14F-4D97-AF65-F5344CB8AC3E}">
        <p14:creationId xmlns:p14="http://schemas.microsoft.com/office/powerpoint/2010/main" val="100075951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548904"/>
          </a:xfrm>
        </p:spPr>
        <p:txBody>
          <a:bodyPr lIns="0" tIns="0" rIns="0" bIns="0" anchor="ctr"/>
          <a:lstStyle/>
          <a:p>
            <a:r>
              <a:rPr lang="en-US" dirty="0"/>
              <a:t>Communication Between Cells</a:t>
            </a:r>
            <a:endParaRPr lang="en-IN" dirty="0"/>
          </a:p>
        </p:txBody>
      </p:sp>
      <p:sp>
        <p:nvSpPr>
          <p:cNvPr id="7" name="Content Placeholder 6"/>
          <p:cNvSpPr>
            <a:spLocks noGrp="1"/>
          </p:cNvSpPr>
          <p:nvPr>
            <p:ph sz="quarter" idx="13"/>
          </p:nvPr>
        </p:nvSpPr>
        <p:spPr>
          <a:xfrm>
            <a:off x="420624" y="968992"/>
            <a:ext cx="8232775" cy="2183642"/>
          </a:xfrm>
        </p:spPr>
        <p:txBody>
          <a:bodyPr lIns="0" tIns="0" rIns="0" bIns="0"/>
          <a:lstStyle/>
          <a:p>
            <a:pPr marL="342900" indent="-342900"/>
            <a:r>
              <a:rPr lang="en-US" sz="2400" dirty="0"/>
              <a:t>Membrane proteins involved with intercellular communication include</a:t>
            </a:r>
          </a:p>
          <a:p>
            <a:pPr marL="829818" lvl="1" indent="-342900"/>
            <a:r>
              <a:rPr lang="en-US" sz="2400" dirty="0"/>
              <a:t>Proteins that form </a:t>
            </a:r>
            <a:r>
              <a:rPr lang="en-US" sz="2400" i="1" dirty="0" err="1"/>
              <a:t>connexons</a:t>
            </a:r>
            <a:r>
              <a:rPr lang="en-US" sz="2400" dirty="0"/>
              <a:t> at </a:t>
            </a:r>
            <a:r>
              <a:rPr lang="en-US" sz="2400" i="1" dirty="0"/>
              <a:t>gap junctions </a:t>
            </a:r>
            <a:r>
              <a:rPr lang="en-US" sz="2400" dirty="0"/>
              <a:t>in animal cells </a:t>
            </a:r>
          </a:p>
          <a:p>
            <a:pPr marL="829818" lvl="1" indent="-342900"/>
            <a:r>
              <a:rPr lang="en-US" sz="2400" dirty="0"/>
              <a:t>Proteins that make up </a:t>
            </a:r>
            <a:r>
              <a:rPr lang="en-US" sz="2400" i="1" dirty="0" err="1"/>
              <a:t>plasmodesmata</a:t>
            </a:r>
            <a:r>
              <a:rPr lang="en-US" sz="2400" dirty="0"/>
              <a:t> in plant cells</a:t>
            </a:r>
          </a:p>
        </p:txBody>
      </p:sp>
    </p:spTree>
    <p:extLst>
      <p:ext uri="{BB962C8B-B14F-4D97-AF65-F5344CB8AC3E}">
        <p14:creationId xmlns:p14="http://schemas.microsoft.com/office/powerpoint/2010/main" val="10007595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88075"/>
            <a:ext cx="8229600" cy="1097279"/>
          </a:xfrm>
        </p:spPr>
        <p:txBody>
          <a:bodyPr lIns="0" tIns="0" rIns="0" bIns="0"/>
          <a:lstStyle/>
          <a:p>
            <a:r>
              <a:rPr lang="en-US" dirty="0"/>
              <a:t>Membrane Proteins Play Roles in Other Cell Functions</a:t>
            </a:r>
            <a:endParaRPr lang="en-IN" dirty="0"/>
          </a:p>
        </p:txBody>
      </p:sp>
      <p:sp>
        <p:nvSpPr>
          <p:cNvPr id="7" name="Content Placeholder 6"/>
          <p:cNvSpPr>
            <a:spLocks noGrp="1"/>
          </p:cNvSpPr>
          <p:nvPr>
            <p:ph sz="quarter" idx="13"/>
          </p:nvPr>
        </p:nvSpPr>
        <p:spPr>
          <a:xfrm>
            <a:off x="420624" y="1441450"/>
            <a:ext cx="8232775" cy="3267028"/>
          </a:xfrm>
        </p:spPr>
        <p:txBody>
          <a:bodyPr lIns="0" tIns="0" rIns="0" bIns="0"/>
          <a:lstStyle/>
          <a:p>
            <a:pPr marL="342000" indent="-342000"/>
            <a:r>
              <a:rPr lang="en-US" sz="2400" dirty="0"/>
              <a:t>Membrane proteins play roles in uptake and secretion of substances by endocytosis and exocytosis.</a:t>
            </a:r>
          </a:p>
          <a:p>
            <a:pPr marL="342000" indent="-342000"/>
            <a:r>
              <a:rPr lang="en-US" sz="2400" dirty="0"/>
              <a:t>They take part in targeting, sorting, and modifying proteins in the endoplasmic reticulum and Golgi complex.</a:t>
            </a:r>
          </a:p>
          <a:p>
            <a:pPr marL="342000" indent="-342000"/>
            <a:r>
              <a:rPr lang="en-US" sz="2400" dirty="0"/>
              <a:t>They detect light.</a:t>
            </a:r>
          </a:p>
          <a:p>
            <a:pPr marL="342000" indent="-342000"/>
            <a:r>
              <a:rPr lang="en-US" sz="2400" dirty="0"/>
              <a:t>They participate in </a:t>
            </a:r>
            <a:r>
              <a:rPr lang="en-US" sz="2400" i="1" dirty="0"/>
              <a:t>autophagy,</a:t>
            </a:r>
            <a:r>
              <a:rPr lang="en-US" sz="2400" dirty="0"/>
              <a:t> the digestion of a cell’</a:t>
            </a:r>
            <a:r>
              <a:rPr lang="en-US" altLang="ja-JP" sz="2400" dirty="0"/>
              <a:t>s own organelles or structures.</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7"/>
            <a:ext cx="8229600" cy="1097279"/>
          </a:xfrm>
        </p:spPr>
        <p:txBody>
          <a:bodyPr lIns="0" tIns="0" rIns="0" bIns="0"/>
          <a:lstStyle/>
          <a:p>
            <a:r>
              <a:rPr lang="en-US" dirty="0"/>
              <a:t>Stabilizing and Shaping the Cell Membrane</a:t>
            </a:r>
            <a:endParaRPr lang="en-IN" dirty="0"/>
          </a:p>
        </p:txBody>
      </p:sp>
      <p:sp>
        <p:nvSpPr>
          <p:cNvPr id="7" name="Content Placeholder 6"/>
          <p:cNvSpPr>
            <a:spLocks noGrp="1"/>
          </p:cNvSpPr>
          <p:nvPr>
            <p:ph sz="quarter" idx="13"/>
          </p:nvPr>
        </p:nvSpPr>
        <p:spPr>
          <a:xfrm>
            <a:off x="420624" y="1441450"/>
            <a:ext cx="8232775" cy="2147911"/>
          </a:xfrm>
        </p:spPr>
        <p:txBody>
          <a:bodyPr lIns="0" tIns="0" rIns="0" bIns="0"/>
          <a:lstStyle/>
          <a:p>
            <a:pPr marL="342000" indent="-342000"/>
            <a:r>
              <a:rPr lang="en-US" sz="2400" dirty="0"/>
              <a:t>Membrane-associated proteins play structural roles in stabilizing and shaping the cell membrane.</a:t>
            </a:r>
          </a:p>
          <a:p>
            <a:pPr marL="342000" indent="-342000"/>
            <a:r>
              <a:rPr lang="en-US" sz="2400" dirty="0"/>
              <a:t>In animal cells, a cytoskeletal meshwork of peripheral membrane proteins underlies the plasma membrane of many kinds of cells.</a:t>
            </a:r>
          </a:p>
        </p:txBody>
      </p:sp>
    </p:spTree>
    <p:extLst>
      <p:ext uri="{BB962C8B-B14F-4D97-AF65-F5344CB8AC3E}">
        <p14:creationId xmlns:p14="http://schemas.microsoft.com/office/powerpoint/2010/main" val="100075951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06187"/>
            <a:ext cx="8229600" cy="1097279"/>
          </a:xfrm>
        </p:spPr>
        <p:txBody>
          <a:bodyPr lIns="0" tIns="0" rIns="0" bIns="0"/>
          <a:lstStyle/>
          <a:p>
            <a:r>
              <a:rPr lang="en-US" sz="3200" dirty="0"/>
              <a:t>Membrane Proteins Are Oriented Asymmetrically Across the Lipid Bilayer</a:t>
            </a:r>
            <a:endParaRPr lang="en-IN" sz="3200" dirty="0"/>
          </a:p>
        </p:txBody>
      </p:sp>
      <p:sp>
        <p:nvSpPr>
          <p:cNvPr id="7" name="Content Placeholder 6"/>
          <p:cNvSpPr>
            <a:spLocks noGrp="1"/>
          </p:cNvSpPr>
          <p:nvPr>
            <p:ph sz="quarter" idx="13"/>
          </p:nvPr>
        </p:nvSpPr>
        <p:spPr>
          <a:xfrm>
            <a:off x="420624" y="1441450"/>
            <a:ext cx="8232775" cy="3035016"/>
          </a:xfrm>
        </p:spPr>
        <p:txBody>
          <a:bodyPr lIns="0" tIns="0" rIns="0" bIns="0"/>
          <a:lstStyle/>
          <a:p>
            <a:pPr marL="342000" indent="-342000"/>
            <a:r>
              <a:rPr lang="en-US" sz="2400" dirty="0"/>
              <a:t>Membrane proteins exhibit asymmetric orientation with respect to the lipid bilayer.</a:t>
            </a:r>
          </a:p>
          <a:p>
            <a:pPr marL="342000" indent="-342000"/>
            <a:r>
              <a:rPr lang="en-US" sz="2400" dirty="0"/>
              <a:t>Once in place, in or on one of the monolayers, proteins cannot move across the membrane from one surface to the other.</a:t>
            </a:r>
          </a:p>
          <a:p>
            <a:pPr marL="342000" indent="-342000"/>
            <a:r>
              <a:rPr lang="en-US" sz="2400" dirty="0"/>
              <a:t>All the molecules of a particular protein are oriented the same way in the membrane.</a:t>
            </a:r>
          </a:p>
        </p:txBody>
      </p:sp>
    </p:spTree>
    <p:extLst>
      <p:ext uri="{BB962C8B-B14F-4D97-AF65-F5344CB8AC3E}">
        <p14:creationId xmlns:p14="http://schemas.microsoft.com/office/powerpoint/2010/main" val="100075951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Detecting Proteins on Specific Membrane Proteins</a:t>
            </a:r>
            <a:endParaRPr lang="en-IN" dirty="0"/>
          </a:p>
        </p:txBody>
      </p:sp>
      <p:sp>
        <p:nvSpPr>
          <p:cNvPr id="7" name="Content Placeholder 6"/>
          <p:cNvSpPr>
            <a:spLocks noGrp="1"/>
          </p:cNvSpPr>
          <p:nvPr>
            <p:ph sz="quarter" idx="13"/>
          </p:nvPr>
        </p:nvSpPr>
        <p:spPr>
          <a:xfrm>
            <a:off x="420624" y="1441450"/>
            <a:ext cx="8232775" cy="4167780"/>
          </a:xfrm>
        </p:spPr>
        <p:txBody>
          <a:bodyPr lIns="0" tIns="0" rIns="0" bIns="0"/>
          <a:lstStyle/>
          <a:p>
            <a:pPr marL="342000" indent="-342000"/>
            <a:r>
              <a:rPr lang="en-US" sz="2400" dirty="0"/>
              <a:t>Radioactive labeling procedures are used to distinguish between proteins on inner and outer surfaces of membrane vesicles.</a:t>
            </a:r>
          </a:p>
          <a:p>
            <a:pPr marL="342000" indent="-342000"/>
            <a:r>
              <a:rPr lang="en-US" sz="2400" dirty="0"/>
              <a:t>The enzyme </a:t>
            </a:r>
            <a:r>
              <a:rPr lang="en-US" sz="2400" i="1" dirty="0" err="1"/>
              <a:t>lactoperoxidase</a:t>
            </a:r>
            <a:r>
              <a:rPr lang="en-US" sz="2400" dirty="0"/>
              <a:t> (</a:t>
            </a:r>
            <a:r>
              <a:rPr lang="en-US" sz="2400" i="1" dirty="0"/>
              <a:t>LP</a:t>
            </a:r>
            <a:r>
              <a:rPr lang="en-US" sz="2400" dirty="0"/>
              <a:t>) can be used to attach </a:t>
            </a:r>
            <a:r>
              <a:rPr lang="en-US" sz="2400" baseline="30000" dirty="0"/>
              <a:t>125</a:t>
            </a:r>
            <a:r>
              <a:rPr lang="en-US" sz="2400" dirty="0"/>
              <a:t>I to proteins on the outer surface.</a:t>
            </a:r>
          </a:p>
          <a:p>
            <a:pPr marL="342000" indent="-342000"/>
            <a:r>
              <a:rPr lang="en-US" sz="2400" i="1" dirty="0"/>
              <a:t>LP</a:t>
            </a:r>
            <a:r>
              <a:rPr lang="en-US" sz="2400" dirty="0"/>
              <a:t> and </a:t>
            </a:r>
            <a:r>
              <a:rPr lang="en-US" sz="2400" baseline="30000" dirty="0"/>
              <a:t>125</a:t>
            </a:r>
            <a:r>
              <a:rPr lang="en-US" sz="2400" dirty="0"/>
              <a:t>I can be used to label the inner surface. This can be accomplished by </a:t>
            </a:r>
            <a:r>
              <a:rPr lang="en-US" sz="2400" dirty="0" err="1"/>
              <a:t>permeabilizing</a:t>
            </a:r>
            <a:r>
              <a:rPr lang="en-US" sz="2400" dirty="0"/>
              <a:t> the vesicle so </a:t>
            </a:r>
            <a:r>
              <a:rPr lang="en-US" sz="2400" i="1" dirty="0"/>
              <a:t>LP</a:t>
            </a:r>
            <a:r>
              <a:rPr lang="en-US" sz="2400" dirty="0"/>
              <a:t> enters. The vesicle is transferred to an isotonic solution with </a:t>
            </a:r>
            <a:r>
              <a:rPr lang="en-US" sz="2400" baseline="30000" dirty="0"/>
              <a:t>125</a:t>
            </a:r>
            <a:r>
              <a:rPr lang="en-US" sz="2400" dirty="0"/>
              <a:t>I present. </a:t>
            </a:r>
            <a:r>
              <a:rPr lang="en-US" sz="2400" baseline="30000" dirty="0"/>
              <a:t>125</a:t>
            </a:r>
            <a:r>
              <a:rPr lang="en-US" sz="2400" dirty="0"/>
              <a:t>I enters the cells and labels the inner surface.</a:t>
            </a:r>
          </a:p>
        </p:txBody>
      </p:sp>
    </p:spTree>
    <p:extLst>
      <p:ext uri="{BB962C8B-B14F-4D97-AF65-F5344CB8AC3E}">
        <p14:creationId xmlns:p14="http://schemas.microsoft.com/office/powerpoint/2010/main" val="10007595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9904" y="215371"/>
            <a:ext cx="8229600" cy="1545190"/>
          </a:xfrm>
        </p:spPr>
        <p:txBody>
          <a:bodyPr lIns="0" tIns="0" rIns="0" bIns="0" anchor="ctr"/>
          <a:lstStyle/>
          <a:p>
            <a:r>
              <a:rPr lang="en-US" dirty="0"/>
              <a:t>A Method for Labeling Proteins Exposed on One or Both Surfaces of a Membrane Vesicle</a:t>
            </a:r>
            <a:endParaRPr lang="en-IN" dirty="0"/>
          </a:p>
        </p:txBody>
      </p:sp>
      <p:sp>
        <p:nvSpPr>
          <p:cNvPr id="3" name="Content Placeholder 2"/>
          <p:cNvSpPr>
            <a:spLocks noGrp="1"/>
          </p:cNvSpPr>
          <p:nvPr>
            <p:ph sz="quarter" idx="14"/>
          </p:nvPr>
        </p:nvSpPr>
        <p:spPr>
          <a:xfrm>
            <a:off x="416258" y="2060811"/>
            <a:ext cx="3896436" cy="1460312"/>
          </a:xfrm>
        </p:spPr>
        <p:txBody>
          <a:bodyPr lIns="0" tIns="0" rIns="0" bIns="0"/>
          <a:lstStyle/>
          <a:p>
            <a:pPr marL="0" indent="0">
              <a:buNone/>
            </a:pPr>
            <a:r>
              <a:rPr lang="en-IN" sz="2400" b="1" dirty="0"/>
              <a:t>Figure 7.20</a:t>
            </a:r>
            <a:r>
              <a:rPr lang="en-IN" sz="2400" dirty="0"/>
              <a:t> A Method for </a:t>
            </a:r>
            <a:r>
              <a:rPr lang="en-IN" sz="2400" dirty="0" err="1"/>
              <a:t>Labeling</a:t>
            </a:r>
            <a:r>
              <a:rPr lang="en-IN" sz="2400" dirty="0"/>
              <a:t> Proteins Exposed on One or Both Surfaces of a Membrane Vesicle.</a:t>
            </a:r>
          </a:p>
        </p:txBody>
      </p:sp>
      <p:pic>
        <p:nvPicPr>
          <p:cNvPr id="8" name="Content Placeholder 7" descr="Labeling proteins on one or both surfaces of a membrane vesicle. A membrane vesicle has two concentric circular layers of lipid bilayer surrounding the vesicle. A rod-shaped superscript 125 I and two circular proteins A and B are shown.&#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559"/>
          <a:stretch/>
        </p:blipFill>
        <p:spPr>
          <a:xfrm>
            <a:off x="4488523" y="2080558"/>
            <a:ext cx="4184629" cy="3801484"/>
          </a:xfrm>
        </p:spPr>
      </p:pic>
    </p:spTree>
    <p:extLst>
      <p:ext uri="{BB962C8B-B14F-4D97-AF65-F5344CB8AC3E}">
        <p14:creationId xmlns:p14="http://schemas.microsoft.com/office/powerpoint/2010/main" val="10007595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Many Membrane Proteins and Lipids Are Glycosylated</a:t>
            </a:r>
            <a:endParaRPr lang="en-IN" dirty="0"/>
          </a:p>
        </p:txBody>
      </p:sp>
      <p:sp>
        <p:nvSpPr>
          <p:cNvPr id="7" name="Content Placeholder 6"/>
          <p:cNvSpPr>
            <a:spLocks noGrp="1"/>
          </p:cNvSpPr>
          <p:nvPr>
            <p:ph sz="quarter" idx="13"/>
          </p:nvPr>
        </p:nvSpPr>
        <p:spPr>
          <a:xfrm>
            <a:off x="420624" y="1441450"/>
            <a:ext cx="8232775" cy="3307971"/>
          </a:xfrm>
        </p:spPr>
        <p:txBody>
          <a:bodyPr lIns="0" tIns="0" rIns="0" bIns="0"/>
          <a:lstStyle/>
          <a:p>
            <a:pPr marL="342000" indent="-342000"/>
            <a:r>
              <a:rPr lang="en-US" sz="2400" dirty="0"/>
              <a:t>Many membranes contain small amounts of carbohydrates.</a:t>
            </a:r>
          </a:p>
          <a:p>
            <a:pPr marL="342000" indent="-342000"/>
            <a:r>
              <a:rPr lang="en-US" sz="2400" b="1" dirty="0"/>
              <a:t>Glycoproteins</a:t>
            </a:r>
            <a:r>
              <a:rPr lang="en-US" sz="2400" dirty="0"/>
              <a:t> are membrane proteins with carbohydrate chains covalently linked to amino acid side chains.</a:t>
            </a:r>
          </a:p>
          <a:p>
            <a:pPr marL="342000" indent="-342000"/>
            <a:r>
              <a:rPr lang="en-US" sz="2400" dirty="0"/>
              <a:t>The addition of a carbohydrate side chain to a protein is called </a:t>
            </a:r>
            <a:r>
              <a:rPr lang="en-US" sz="2400" b="1" dirty="0"/>
              <a:t>glycosylation.</a:t>
            </a:r>
          </a:p>
          <a:p>
            <a:pPr marL="342000" indent="-342000"/>
            <a:r>
              <a:rPr lang="en-US" sz="2400" dirty="0"/>
              <a:t>Glycosylation occurs in the ER and Golgi compartments.</a:t>
            </a:r>
          </a:p>
        </p:txBody>
      </p:sp>
    </p:spTree>
    <p:extLst>
      <p:ext uri="{BB962C8B-B14F-4D97-AF65-F5344CB8AC3E}">
        <p14:creationId xmlns:p14="http://schemas.microsoft.com/office/powerpoint/2010/main" val="100075951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60779"/>
            <a:ext cx="8229600" cy="562551"/>
          </a:xfrm>
        </p:spPr>
        <p:txBody>
          <a:bodyPr lIns="0" tIns="0" rIns="0" bIns="0"/>
          <a:lstStyle/>
          <a:p>
            <a:r>
              <a:rPr lang="en-US" dirty="0"/>
              <a:t>Glycosylation</a:t>
            </a:r>
            <a:endParaRPr lang="en-IN" dirty="0"/>
          </a:p>
        </p:txBody>
      </p:sp>
      <p:sp>
        <p:nvSpPr>
          <p:cNvPr id="7" name="Content Placeholder 6"/>
          <p:cNvSpPr>
            <a:spLocks noGrp="1"/>
          </p:cNvSpPr>
          <p:nvPr>
            <p:ph sz="quarter" idx="13"/>
          </p:nvPr>
        </p:nvSpPr>
        <p:spPr>
          <a:xfrm>
            <a:off x="420624" y="968992"/>
            <a:ext cx="8232775" cy="2947916"/>
          </a:xfrm>
        </p:spPr>
        <p:txBody>
          <a:bodyPr lIns="0" tIns="0" rIns="0" bIns="0"/>
          <a:lstStyle/>
          <a:p>
            <a:pPr marL="342900" indent="-342900"/>
            <a:r>
              <a:rPr lang="en-US" sz="2400" dirty="0"/>
              <a:t>Glycosylation involves linkage of the </a:t>
            </a:r>
            <a:br>
              <a:rPr lang="en-US" sz="2400" dirty="0"/>
            </a:br>
            <a:r>
              <a:rPr lang="en-US" sz="2400" dirty="0"/>
              <a:t>carbohydrate to either:</a:t>
            </a:r>
          </a:p>
          <a:p>
            <a:pPr marL="829818" lvl="1" indent="-342900"/>
            <a:r>
              <a:rPr lang="en-US" sz="2400" dirty="0"/>
              <a:t>The nitrogen atom of an amino group (</a:t>
            </a:r>
            <a:r>
              <a:rPr lang="en-US" sz="2400" i="1" dirty="0"/>
              <a:t>N-linked glycosylation</a:t>
            </a:r>
            <a:r>
              <a:rPr lang="en-US" sz="2400" dirty="0"/>
              <a:t>) of an asparagine residue.</a:t>
            </a:r>
          </a:p>
          <a:p>
            <a:pPr marL="829818" lvl="1" indent="-342900"/>
            <a:r>
              <a:rPr lang="en-US" sz="2400" dirty="0"/>
              <a:t>The oxygen atom of a </a:t>
            </a:r>
            <a:r>
              <a:rPr lang="en-US" sz="2400" dirty="0" err="1"/>
              <a:t>hydroxl</a:t>
            </a:r>
            <a:r>
              <a:rPr lang="en-US" sz="2400" dirty="0"/>
              <a:t> group (</a:t>
            </a:r>
            <a:r>
              <a:rPr lang="en-US" sz="2400" i="1" dirty="0"/>
              <a:t>O-linked glycosylation</a:t>
            </a:r>
            <a:r>
              <a:rPr lang="en-US" sz="2400" dirty="0"/>
              <a:t>) of a serine, threonine, or modified lysine or </a:t>
            </a:r>
            <a:r>
              <a:rPr lang="en-US" sz="2400" dirty="0" err="1"/>
              <a:t>proline</a:t>
            </a:r>
            <a:r>
              <a:rPr lang="en-US" sz="2400" dirty="0"/>
              <a:t> residue (</a:t>
            </a:r>
            <a:r>
              <a:rPr lang="en-US" sz="2400" dirty="0" err="1"/>
              <a:t>hydroxylysine</a:t>
            </a:r>
            <a:r>
              <a:rPr lang="en-US" sz="2400" dirty="0"/>
              <a:t> or </a:t>
            </a:r>
            <a:r>
              <a:rPr lang="en-US" sz="2400" dirty="0" err="1"/>
              <a:t>hydroxyproline</a:t>
            </a:r>
            <a:r>
              <a:rPr lang="en-US" sz="2400" dirty="0"/>
              <a:t>).</a:t>
            </a:r>
          </a:p>
        </p:txBody>
      </p:sp>
    </p:spTree>
    <p:extLst>
      <p:ext uri="{BB962C8B-B14F-4D97-AF65-F5344CB8AC3E}">
        <p14:creationId xmlns:p14="http://schemas.microsoft.com/office/powerpoint/2010/main" val="100075951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Carbohydrate Chains Attached to Proteins</a:t>
            </a:r>
            <a:endParaRPr lang="en-IN" dirty="0"/>
          </a:p>
        </p:txBody>
      </p:sp>
      <p:sp>
        <p:nvSpPr>
          <p:cNvPr id="7" name="Content Placeholder 6"/>
          <p:cNvSpPr>
            <a:spLocks noGrp="1"/>
          </p:cNvSpPr>
          <p:nvPr>
            <p:ph sz="quarter" idx="13"/>
          </p:nvPr>
        </p:nvSpPr>
        <p:spPr>
          <a:xfrm>
            <a:off x="420624" y="1441450"/>
            <a:ext cx="8232775" cy="2229798"/>
          </a:xfrm>
        </p:spPr>
        <p:txBody>
          <a:bodyPr lIns="0" tIns="0" rIns="0" bIns="0"/>
          <a:lstStyle/>
          <a:p>
            <a:pPr marL="342000" indent="-342000"/>
            <a:r>
              <a:rPr lang="en-US" sz="2400" dirty="0"/>
              <a:t>Carbohydrate chains attached to peptides can be either straight or branched and range in length from 2 to about 60 sugar units.</a:t>
            </a:r>
          </a:p>
          <a:p>
            <a:pPr marL="342000" indent="-342000"/>
            <a:r>
              <a:rPr lang="en-US" sz="2400" dirty="0"/>
              <a:t>The most common sugars are </a:t>
            </a:r>
            <a:r>
              <a:rPr lang="en-US" sz="2400" i="1" dirty="0" err="1"/>
              <a:t>galactose</a:t>
            </a:r>
            <a:r>
              <a:rPr lang="en-US" sz="2400" i="1" dirty="0"/>
              <a:t>,</a:t>
            </a:r>
            <a:r>
              <a:rPr lang="en-US" sz="2400" dirty="0"/>
              <a:t> </a:t>
            </a:r>
            <a:r>
              <a:rPr lang="en-US" sz="2400" i="1" dirty="0"/>
              <a:t>mannose,</a:t>
            </a:r>
            <a:r>
              <a:rPr lang="en-US" sz="2400" dirty="0"/>
              <a:t> </a:t>
            </a:r>
            <a:r>
              <a:rPr lang="en-US" sz="2400" i="1" dirty="0"/>
              <a:t>N-</a:t>
            </a:r>
            <a:r>
              <a:rPr lang="en-US" sz="2400" i="1" dirty="0" err="1"/>
              <a:t>acetylglucosamine</a:t>
            </a:r>
            <a:r>
              <a:rPr lang="en-US" sz="2400" i="1" dirty="0"/>
              <a:t>,</a:t>
            </a:r>
            <a:r>
              <a:rPr lang="en-US" sz="2400" dirty="0"/>
              <a:t> and </a:t>
            </a:r>
            <a:r>
              <a:rPr lang="en-US" sz="2400" i="1" dirty="0" err="1"/>
              <a:t>sialic</a:t>
            </a:r>
            <a:r>
              <a:rPr lang="en-US" sz="2400" i="1" dirty="0"/>
              <a:t> acid.</a:t>
            </a:r>
            <a:endParaRPr lang="en-US" sz="2400" dirty="0"/>
          </a:p>
        </p:txBody>
      </p:sp>
    </p:spTree>
    <p:extLst>
      <p:ext uri="{BB962C8B-B14F-4D97-AF65-F5344CB8AC3E}">
        <p14:creationId xmlns:p14="http://schemas.microsoft.com/office/powerpoint/2010/main" val="10007595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74427"/>
            <a:ext cx="8229600" cy="1097279"/>
          </a:xfrm>
        </p:spPr>
        <p:txBody>
          <a:bodyPr lIns="0" tIns="0" rIns="0" bIns="0"/>
          <a:lstStyle/>
          <a:p>
            <a:r>
              <a:rPr lang="en-US" dirty="0"/>
              <a:t>N-Linked and O-Linked Glycosylation of Membrane Proteins</a:t>
            </a:r>
            <a:endParaRPr lang="en-IN" dirty="0"/>
          </a:p>
        </p:txBody>
      </p:sp>
      <p:sp>
        <p:nvSpPr>
          <p:cNvPr id="3" name="Content Placeholder 2"/>
          <p:cNvSpPr>
            <a:spLocks noGrp="1"/>
          </p:cNvSpPr>
          <p:nvPr>
            <p:ph sz="quarter" idx="14"/>
          </p:nvPr>
        </p:nvSpPr>
        <p:spPr>
          <a:xfrm>
            <a:off x="416257" y="1552575"/>
            <a:ext cx="5097439" cy="822135"/>
          </a:xfrm>
        </p:spPr>
        <p:txBody>
          <a:bodyPr lIns="0" tIns="0" rIns="0" bIns="0"/>
          <a:lstStyle/>
          <a:p>
            <a:pPr marL="0" indent="0">
              <a:buNone/>
            </a:pPr>
            <a:r>
              <a:rPr lang="en-IN" sz="2400" b="1" dirty="0"/>
              <a:t>Figure 7.21</a:t>
            </a:r>
            <a:r>
              <a:rPr lang="en-IN" sz="2400" dirty="0"/>
              <a:t> N-Linked and O-Linked Glycosylation of Membrane Proteins.</a:t>
            </a:r>
          </a:p>
        </p:txBody>
      </p:sp>
      <p:pic>
        <p:nvPicPr>
          <p:cNvPr id="8" name="Content Placeholder 7" descr="The image shows the chemical structure of the N-Linked and O-Linked glycosylation of membrane proteins with asparagine, serine, threonine, Hydroxylysine, Hydroxyproline, and glycophorin.&#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164"/>
          <a:stretch/>
        </p:blipFill>
        <p:spPr>
          <a:xfrm>
            <a:off x="6930293" y="1501667"/>
            <a:ext cx="1620027" cy="4655892"/>
          </a:xfrm>
        </p:spPr>
      </p:pic>
    </p:spTree>
    <p:extLst>
      <p:ext uri="{BB962C8B-B14F-4D97-AF65-F5344CB8AC3E}">
        <p14:creationId xmlns:p14="http://schemas.microsoft.com/office/powerpoint/2010/main" val="100075951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47131"/>
            <a:ext cx="8229600" cy="576199"/>
          </a:xfrm>
        </p:spPr>
        <p:txBody>
          <a:bodyPr lIns="0" tIns="0" rIns="0" bIns="0"/>
          <a:lstStyle/>
          <a:p>
            <a:r>
              <a:rPr lang="en-US" dirty="0"/>
              <a:t>Roles of Glycoproteins</a:t>
            </a:r>
            <a:endParaRPr lang="en-IN" dirty="0"/>
          </a:p>
        </p:txBody>
      </p:sp>
      <p:sp>
        <p:nvSpPr>
          <p:cNvPr id="7" name="Content Placeholder 6"/>
          <p:cNvSpPr>
            <a:spLocks noGrp="1"/>
          </p:cNvSpPr>
          <p:nvPr>
            <p:ph sz="quarter" idx="13"/>
          </p:nvPr>
        </p:nvSpPr>
        <p:spPr>
          <a:xfrm>
            <a:off x="420624" y="941694"/>
            <a:ext cx="8232775" cy="3193578"/>
          </a:xfrm>
        </p:spPr>
        <p:txBody>
          <a:bodyPr lIns="0" tIns="0" rIns="0" bIns="0"/>
          <a:lstStyle/>
          <a:p>
            <a:pPr marL="342000" indent="-342000"/>
            <a:r>
              <a:rPr lang="en-US" sz="2400" dirty="0"/>
              <a:t>Glycoproteins are most prominent in plasma membranes, where they play a role in cell-cell recognition.</a:t>
            </a:r>
          </a:p>
          <a:p>
            <a:pPr marL="342000" indent="-342000"/>
            <a:r>
              <a:rPr lang="en-US" sz="2400" dirty="0"/>
              <a:t>The carbohydrate groups protrude on the outer surface of the cell membrane.</a:t>
            </a:r>
          </a:p>
          <a:p>
            <a:pPr marL="342000" indent="-342000"/>
            <a:r>
              <a:rPr lang="en-US" sz="2400" i="1" dirty="0" err="1"/>
              <a:t>Lectins</a:t>
            </a:r>
            <a:r>
              <a:rPr lang="en-US" sz="2400" dirty="0"/>
              <a:t> are plant proteins that bind specific sugar groups very tightly and can be used to study membrane glycoproteins.</a:t>
            </a:r>
          </a:p>
        </p:txBody>
      </p:sp>
    </p:spTree>
    <p:extLst>
      <p:ext uri="{BB962C8B-B14F-4D97-AF65-F5344CB8AC3E}">
        <p14:creationId xmlns:p14="http://schemas.microsoft.com/office/powerpoint/2010/main" val="10007595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19835"/>
            <a:ext cx="8229600" cy="603495"/>
          </a:xfrm>
        </p:spPr>
        <p:txBody>
          <a:bodyPr lIns="0" tIns="0" rIns="0" bIns="0"/>
          <a:lstStyle/>
          <a:p>
            <a:r>
              <a:rPr lang="en-US" dirty="0"/>
              <a:t>Roles of Glycolipids</a:t>
            </a:r>
            <a:endParaRPr lang="en-IN" dirty="0"/>
          </a:p>
        </p:txBody>
      </p:sp>
      <p:sp>
        <p:nvSpPr>
          <p:cNvPr id="7" name="Content Placeholder 6"/>
          <p:cNvSpPr>
            <a:spLocks noGrp="1"/>
          </p:cNvSpPr>
          <p:nvPr>
            <p:ph sz="quarter" idx="13"/>
          </p:nvPr>
        </p:nvSpPr>
        <p:spPr>
          <a:xfrm>
            <a:off x="420624" y="955342"/>
            <a:ext cx="8232775" cy="2238234"/>
          </a:xfrm>
        </p:spPr>
        <p:txBody>
          <a:bodyPr lIns="0" tIns="0" rIns="0" bIns="0"/>
          <a:lstStyle/>
          <a:p>
            <a:pPr marL="342000" indent="-342000"/>
            <a:r>
              <a:rPr lang="en-US" sz="2400" dirty="0"/>
              <a:t>Play a role in cell-cell recognition.</a:t>
            </a:r>
          </a:p>
          <a:p>
            <a:pPr marL="342000" indent="-342000"/>
            <a:r>
              <a:rPr lang="en-US" sz="2400" dirty="0"/>
              <a:t>The </a:t>
            </a:r>
            <a:r>
              <a:rPr lang="en-US" sz="2400" i="1" dirty="0"/>
              <a:t>ABO blood group</a:t>
            </a:r>
            <a:r>
              <a:rPr lang="en-US" sz="2400" dirty="0"/>
              <a:t> system depends on genetically determined structural differences in the branched carbohydrate attached to a specific glycolipid in red blood cells.</a:t>
            </a:r>
          </a:p>
        </p:txBody>
      </p:sp>
    </p:spTree>
    <p:extLst>
      <p:ext uri="{BB962C8B-B14F-4D97-AF65-F5344CB8AC3E}">
        <p14:creationId xmlns:p14="http://schemas.microsoft.com/office/powerpoint/2010/main" val="10007595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60780"/>
            <a:ext cx="8229600" cy="548904"/>
          </a:xfrm>
        </p:spPr>
        <p:txBody>
          <a:bodyPr lIns="0" tIns="0" rIns="0" bIns="0"/>
          <a:lstStyle/>
          <a:p>
            <a:r>
              <a:rPr lang="en-US" dirty="0" err="1"/>
              <a:t>Glycocalyx</a:t>
            </a:r>
            <a:endParaRPr lang="en-IN" dirty="0"/>
          </a:p>
        </p:txBody>
      </p:sp>
      <p:sp>
        <p:nvSpPr>
          <p:cNvPr id="7" name="Content Placeholder 6"/>
          <p:cNvSpPr>
            <a:spLocks noGrp="1"/>
          </p:cNvSpPr>
          <p:nvPr>
            <p:ph sz="quarter" idx="13"/>
          </p:nvPr>
        </p:nvSpPr>
        <p:spPr>
          <a:xfrm>
            <a:off x="420624" y="941696"/>
            <a:ext cx="8232775" cy="2674962"/>
          </a:xfrm>
        </p:spPr>
        <p:txBody>
          <a:bodyPr lIns="0" tIns="0" rIns="0" bIns="0"/>
          <a:lstStyle/>
          <a:p>
            <a:pPr marL="342000" indent="-342000"/>
            <a:r>
              <a:rPr lang="en-US" sz="2400" dirty="0"/>
              <a:t>In animal cells, the carbohydrate groups of plasma membrane glycoproteins and glycolipids form a surface coat called a </a:t>
            </a:r>
            <a:r>
              <a:rPr lang="en-US" sz="2400" b="1" dirty="0" err="1"/>
              <a:t>glycocalyx</a:t>
            </a:r>
            <a:r>
              <a:rPr lang="en-US" sz="2400" b="1" dirty="0"/>
              <a:t>.</a:t>
            </a:r>
          </a:p>
          <a:p>
            <a:pPr marL="342000" indent="-342000"/>
            <a:r>
              <a:rPr lang="en-US" sz="2400" dirty="0"/>
              <a:t>Functions of the </a:t>
            </a:r>
            <a:r>
              <a:rPr lang="en-US" sz="2400" dirty="0" err="1"/>
              <a:t>glycocalyx</a:t>
            </a:r>
            <a:r>
              <a:rPr lang="en-US" sz="2400" dirty="0"/>
              <a:t> include cell-cell recognition and adhesion, protection of the cell surface, and the creation of permeability barriers.</a:t>
            </a:r>
          </a:p>
        </p:txBody>
      </p:sp>
    </p:spTree>
    <p:extLst>
      <p:ext uri="{BB962C8B-B14F-4D97-AF65-F5344CB8AC3E}">
        <p14:creationId xmlns:p14="http://schemas.microsoft.com/office/powerpoint/2010/main" val="100075951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2608" y="174427"/>
            <a:ext cx="8356836" cy="1097279"/>
          </a:xfrm>
        </p:spPr>
        <p:txBody>
          <a:bodyPr lIns="0" tIns="0" rIns="0" bIns="0"/>
          <a:lstStyle/>
          <a:p>
            <a:r>
              <a:rPr lang="en-US" dirty="0"/>
              <a:t>The </a:t>
            </a:r>
            <a:r>
              <a:rPr lang="en-US" dirty="0" err="1"/>
              <a:t>Glycocalyx</a:t>
            </a:r>
            <a:r>
              <a:rPr lang="en-US" dirty="0"/>
              <a:t> of an Intestinal Epithelial Cell</a:t>
            </a:r>
            <a:endParaRPr lang="en-IN" dirty="0"/>
          </a:p>
        </p:txBody>
      </p:sp>
      <p:sp>
        <p:nvSpPr>
          <p:cNvPr id="3" name="Content Placeholder 2"/>
          <p:cNvSpPr>
            <a:spLocks noGrp="1"/>
          </p:cNvSpPr>
          <p:nvPr>
            <p:ph sz="quarter" idx="14"/>
          </p:nvPr>
        </p:nvSpPr>
        <p:spPr>
          <a:xfrm>
            <a:off x="416258" y="1497983"/>
            <a:ext cx="8343186" cy="467295"/>
          </a:xfrm>
        </p:spPr>
        <p:txBody>
          <a:bodyPr lIns="0" tIns="0" rIns="0" bIns="0"/>
          <a:lstStyle/>
          <a:p>
            <a:pPr marL="0" indent="0">
              <a:buNone/>
            </a:pPr>
            <a:r>
              <a:rPr lang="en-IN" sz="2400" b="1" dirty="0"/>
              <a:t>Figure 7.22</a:t>
            </a:r>
            <a:r>
              <a:rPr lang="en-IN" sz="2400" dirty="0"/>
              <a:t> The </a:t>
            </a:r>
            <a:r>
              <a:rPr lang="en-IN" sz="2400" dirty="0" err="1"/>
              <a:t>Glycocalyx</a:t>
            </a:r>
            <a:r>
              <a:rPr lang="en-IN" sz="2400" dirty="0"/>
              <a:t> of an Intestinal Epithelial Cell. </a:t>
            </a:r>
          </a:p>
        </p:txBody>
      </p:sp>
      <p:pic>
        <p:nvPicPr>
          <p:cNvPr id="8" name="Content Placeholder 7" descr="The image shows the electron micrograph of an intestinal epithelial cell.&#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2124"/>
          <a:stretch/>
        </p:blipFill>
        <p:spPr>
          <a:xfrm>
            <a:off x="2760790" y="2239061"/>
            <a:ext cx="3640472" cy="4036440"/>
          </a:xfrm>
        </p:spPr>
      </p:pic>
    </p:spTree>
    <p:extLst>
      <p:ext uri="{BB962C8B-B14F-4D97-AF65-F5344CB8AC3E}">
        <p14:creationId xmlns:p14="http://schemas.microsoft.com/office/powerpoint/2010/main" val="10007595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Membrane Proteins Vary in Their Mobility</a:t>
            </a:r>
            <a:endParaRPr lang="en-IN" dirty="0"/>
          </a:p>
        </p:txBody>
      </p:sp>
      <p:sp>
        <p:nvSpPr>
          <p:cNvPr id="7" name="Content Placeholder 6"/>
          <p:cNvSpPr>
            <a:spLocks noGrp="1"/>
          </p:cNvSpPr>
          <p:nvPr>
            <p:ph sz="quarter" idx="13"/>
          </p:nvPr>
        </p:nvSpPr>
        <p:spPr>
          <a:xfrm>
            <a:off x="420624" y="1441450"/>
            <a:ext cx="8232775" cy="2270741"/>
          </a:xfrm>
        </p:spPr>
        <p:txBody>
          <a:bodyPr lIns="0" tIns="0" rIns="0" bIns="0"/>
          <a:lstStyle/>
          <a:p>
            <a:pPr marL="342000" indent="-342000"/>
            <a:r>
              <a:rPr lang="en-US" sz="2400" dirty="0"/>
              <a:t>Membrane proteins are more variable than lipids in their ability to move freely within the membrane.</a:t>
            </a:r>
          </a:p>
          <a:p>
            <a:pPr marL="342000" indent="-342000"/>
            <a:r>
              <a:rPr lang="en-US" sz="2400" dirty="0"/>
              <a:t>Some proteins can move freely, whereas others are constrained because they are anchored to protein complexes.</a:t>
            </a:r>
          </a:p>
        </p:txBody>
      </p:sp>
    </p:spTree>
    <p:extLst>
      <p:ext uri="{BB962C8B-B14F-4D97-AF65-F5344CB8AC3E}">
        <p14:creationId xmlns:p14="http://schemas.microsoft.com/office/powerpoint/2010/main" val="10007595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Experimental Evidence for Protein Mobility</a:t>
            </a:r>
            <a:endParaRPr lang="en-IN" dirty="0"/>
          </a:p>
        </p:txBody>
      </p:sp>
      <p:sp>
        <p:nvSpPr>
          <p:cNvPr id="7" name="Content Placeholder 6"/>
          <p:cNvSpPr>
            <a:spLocks noGrp="1"/>
          </p:cNvSpPr>
          <p:nvPr>
            <p:ph sz="quarter" idx="13"/>
          </p:nvPr>
        </p:nvSpPr>
        <p:spPr>
          <a:xfrm>
            <a:off x="420624" y="1441450"/>
            <a:ext cx="8232775" cy="1929547"/>
          </a:xfrm>
        </p:spPr>
        <p:txBody>
          <a:bodyPr lIns="0" tIns="0" rIns="0" bIns="0"/>
          <a:lstStyle/>
          <a:p>
            <a:pPr marL="342000" indent="-342000"/>
            <a:r>
              <a:rPr lang="en-US" sz="2400" dirty="0"/>
              <a:t>Evidence for mobility of some membrane proteins comes from </a:t>
            </a:r>
            <a:r>
              <a:rPr lang="en-US" sz="2400" i="1" dirty="0"/>
              <a:t>cell fusion experiments.</a:t>
            </a:r>
          </a:p>
          <a:p>
            <a:pPr marL="342000" indent="-342000"/>
            <a:r>
              <a:rPr lang="en-US" sz="2400" dirty="0"/>
              <a:t>These experiments were performed by David Frye and Michael </a:t>
            </a:r>
            <a:r>
              <a:rPr lang="en-US" sz="2400" dirty="0" err="1"/>
              <a:t>Edidin</a:t>
            </a:r>
            <a:r>
              <a:rPr lang="en-US" sz="2400" dirty="0"/>
              <a:t>.</a:t>
            </a:r>
          </a:p>
        </p:txBody>
      </p:sp>
    </p:spTree>
    <p:extLst>
      <p:ext uri="{BB962C8B-B14F-4D97-AF65-F5344CB8AC3E}">
        <p14:creationId xmlns:p14="http://schemas.microsoft.com/office/powerpoint/2010/main" val="10007595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60779"/>
            <a:ext cx="8229600" cy="562551"/>
          </a:xfrm>
        </p:spPr>
        <p:txBody>
          <a:bodyPr lIns="0" tIns="0" rIns="0" bIns="0"/>
          <a:lstStyle/>
          <a:p>
            <a:r>
              <a:rPr lang="en-US" dirty="0"/>
              <a:t>The Frye and </a:t>
            </a:r>
            <a:r>
              <a:rPr lang="en-US" dirty="0" err="1"/>
              <a:t>Edidin</a:t>
            </a:r>
            <a:r>
              <a:rPr lang="en-US" dirty="0"/>
              <a:t> Experiments</a:t>
            </a:r>
            <a:endParaRPr lang="en-IN" dirty="0"/>
          </a:p>
        </p:txBody>
      </p:sp>
      <p:sp>
        <p:nvSpPr>
          <p:cNvPr id="7" name="Content Placeholder 6"/>
          <p:cNvSpPr>
            <a:spLocks noGrp="1"/>
          </p:cNvSpPr>
          <p:nvPr>
            <p:ph sz="quarter" idx="13"/>
          </p:nvPr>
        </p:nvSpPr>
        <p:spPr>
          <a:xfrm>
            <a:off x="420624" y="955342"/>
            <a:ext cx="8232775" cy="3398294"/>
          </a:xfrm>
        </p:spPr>
        <p:txBody>
          <a:bodyPr lIns="0" tIns="0" rIns="0" bIns="0"/>
          <a:lstStyle/>
          <a:p>
            <a:pPr marL="342000" indent="-342000"/>
            <a:r>
              <a:rPr lang="en-US" sz="2400" dirty="0"/>
              <a:t>Frye and </a:t>
            </a:r>
            <a:r>
              <a:rPr lang="en-US" sz="2400" dirty="0" err="1"/>
              <a:t>Edidin</a:t>
            </a:r>
            <a:r>
              <a:rPr lang="en-US" sz="2400" dirty="0"/>
              <a:t> fused human and mouse cells and used two </a:t>
            </a:r>
            <a:r>
              <a:rPr lang="en-US" sz="2400" b="1" dirty="0"/>
              <a:t>fluorescent antibodies,</a:t>
            </a:r>
            <a:r>
              <a:rPr lang="en-US" sz="2400" dirty="0"/>
              <a:t> each with a differently colored dye linked to it.</a:t>
            </a:r>
            <a:endParaRPr lang="en-US" sz="2400" b="1" dirty="0"/>
          </a:p>
          <a:p>
            <a:pPr marL="342000" indent="-342000"/>
            <a:r>
              <a:rPr lang="en-US" sz="2400" dirty="0"/>
              <a:t>The anti-mouse antibodies were linked to </a:t>
            </a:r>
            <a:r>
              <a:rPr lang="en-US" sz="2400" i="1" dirty="0"/>
              <a:t>fluorescein,</a:t>
            </a:r>
            <a:r>
              <a:rPr lang="en-US" sz="2400" dirty="0"/>
              <a:t> a green dye; and the anti-human antibodies were linked to </a:t>
            </a:r>
            <a:r>
              <a:rPr lang="en-US" sz="2400" i="1" dirty="0" err="1"/>
              <a:t>rhodamine</a:t>
            </a:r>
            <a:r>
              <a:rPr lang="en-US" sz="2400" i="1" dirty="0"/>
              <a:t>,</a:t>
            </a:r>
            <a:r>
              <a:rPr lang="en-US" sz="2400" dirty="0"/>
              <a:t> a red dye.</a:t>
            </a:r>
          </a:p>
          <a:p>
            <a:pPr marL="342000" indent="-342000"/>
            <a:r>
              <a:rPr lang="en-US" sz="2400" dirty="0"/>
              <a:t>Within a few minutes of fusion, the red and green region proteins began to intermix.</a:t>
            </a:r>
          </a:p>
        </p:txBody>
      </p:sp>
    </p:spTree>
    <p:extLst>
      <p:ext uri="{BB962C8B-B14F-4D97-AF65-F5344CB8AC3E}">
        <p14:creationId xmlns:p14="http://schemas.microsoft.com/office/powerpoint/2010/main" val="10007595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256" y="174427"/>
            <a:ext cx="8229600" cy="1097279"/>
          </a:xfrm>
        </p:spPr>
        <p:txBody>
          <a:bodyPr lIns="0" tIns="0" rIns="0" bIns="0" anchor="ctr"/>
          <a:lstStyle/>
          <a:p>
            <a:r>
              <a:rPr lang="en-US" dirty="0"/>
              <a:t>Demonstration of Mobility of Membrane Proteins by Cell Fusion</a:t>
            </a:r>
            <a:endParaRPr lang="en-IN" dirty="0"/>
          </a:p>
        </p:txBody>
      </p:sp>
      <p:sp>
        <p:nvSpPr>
          <p:cNvPr id="4" name="Content Placeholder 3"/>
          <p:cNvSpPr>
            <a:spLocks noGrp="1"/>
          </p:cNvSpPr>
          <p:nvPr>
            <p:ph sz="quarter" idx="14"/>
          </p:nvPr>
        </p:nvSpPr>
        <p:spPr>
          <a:xfrm>
            <a:off x="416257" y="1497983"/>
            <a:ext cx="8229599" cy="751731"/>
          </a:xfrm>
        </p:spPr>
        <p:txBody>
          <a:bodyPr lIns="0" tIns="0" rIns="0" bIns="0"/>
          <a:lstStyle/>
          <a:p>
            <a:pPr marL="0" indent="0">
              <a:buNone/>
            </a:pPr>
            <a:r>
              <a:rPr lang="en-IN" sz="2400" b="1" dirty="0"/>
              <a:t>Figure 7.23</a:t>
            </a:r>
            <a:r>
              <a:rPr lang="en-IN" sz="2400" dirty="0"/>
              <a:t> Demonstration of the Mobility of Membrane Proteins by Cell Fusion.</a:t>
            </a:r>
          </a:p>
        </p:txBody>
      </p:sp>
      <p:pic>
        <p:nvPicPr>
          <p:cNvPr id="9" name="Content Placeholder 8" descr="An illustration of the 5 stages of mobility of membrane proteins by cell fusion. The mouse cell m and human cell h are combined.&#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3327"/>
          <a:stretch/>
        </p:blipFill>
        <p:spPr>
          <a:xfrm>
            <a:off x="927742" y="2494328"/>
            <a:ext cx="7317003" cy="3498895"/>
          </a:xfrm>
        </p:spPr>
      </p:pic>
    </p:spTree>
    <p:extLst>
      <p:ext uri="{BB962C8B-B14F-4D97-AF65-F5344CB8AC3E}">
        <p14:creationId xmlns:p14="http://schemas.microsoft.com/office/powerpoint/2010/main" val="10007595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Experimental Evidence for Restricted Mobility</a:t>
            </a:r>
            <a:endParaRPr lang="en-IN" dirty="0"/>
          </a:p>
        </p:txBody>
      </p:sp>
      <p:sp>
        <p:nvSpPr>
          <p:cNvPr id="7" name="Content Placeholder 6"/>
          <p:cNvSpPr>
            <a:spLocks noGrp="1"/>
          </p:cNvSpPr>
          <p:nvPr>
            <p:ph sz="quarter" idx="13"/>
          </p:nvPr>
        </p:nvSpPr>
        <p:spPr>
          <a:xfrm>
            <a:off x="420624" y="1441450"/>
            <a:ext cx="8232775" cy="2789356"/>
          </a:xfrm>
        </p:spPr>
        <p:txBody>
          <a:bodyPr lIns="0" tIns="0" rIns="0" bIns="0"/>
          <a:lstStyle/>
          <a:p>
            <a:pPr marL="342000" indent="-342000"/>
            <a:r>
              <a:rPr lang="en-US" sz="2400" dirty="0"/>
              <a:t>Although many types of membrane proteins do move freely through the bilayer, their rates of movement vary.</a:t>
            </a:r>
          </a:p>
          <a:p>
            <a:pPr marL="342000" indent="-342000"/>
            <a:r>
              <a:rPr lang="en-US" sz="2400" dirty="0"/>
              <a:t>Fluorescence recovery after </a:t>
            </a:r>
            <a:r>
              <a:rPr lang="en-US" sz="2400" dirty="0" err="1"/>
              <a:t>photobleaching</a:t>
            </a:r>
            <a:r>
              <a:rPr lang="en-US" sz="2400" dirty="0"/>
              <a:t> (</a:t>
            </a:r>
            <a:r>
              <a:rPr lang="en-US" sz="2400" spc="-350" dirty="0"/>
              <a:t>F R A P</a:t>
            </a:r>
            <a:r>
              <a:rPr lang="en-US" sz="2400" dirty="0"/>
              <a:t>) experiments can be used to determine diffusion rates. </a:t>
            </a:r>
          </a:p>
          <a:p>
            <a:pPr marL="342000" indent="-342000"/>
            <a:r>
              <a:rPr lang="en-US" sz="2400" dirty="0"/>
              <a:t>Membrane proteins are much more variable in diffusion rates compared to lipids.</a:t>
            </a:r>
          </a:p>
        </p:txBody>
      </p:sp>
    </p:spTree>
    <p:extLst>
      <p:ext uri="{BB962C8B-B14F-4D97-AF65-F5344CB8AC3E}">
        <p14:creationId xmlns:p14="http://schemas.microsoft.com/office/powerpoint/2010/main" val="10007595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60779"/>
            <a:ext cx="8229600" cy="562551"/>
          </a:xfrm>
        </p:spPr>
        <p:txBody>
          <a:bodyPr lIns="0" tIns="0" rIns="0" bIns="0"/>
          <a:lstStyle/>
          <a:p>
            <a:r>
              <a:rPr lang="en-US" dirty="0"/>
              <a:t>Membrane Domains</a:t>
            </a:r>
            <a:endParaRPr lang="en-IN" dirty="0"/>
          </a:p>
        </p:txBody>
      </p:sp>
      <p:sp>
        <p:nvSpPr>
          <p:cNvPr id="7" name="Content Placeholder 6"/>
          <p:cNvSpPr>
            <a:spLocks noGrp="1"/>
          </p:cNvSpPr>
          <p:nvPr>
            <p:ph sz="quarter" idx="13"/>
          </p:nvPr>
        </p:nvSpPr>
        <p:spPr>
          <a:xfrm>
            <a:off x="420624" y="963770"/>
            <a:ext cx="8232775" cy="2202502"/>
          </a:xfrm>
        </p:spPr>
        <p:txBody>
          <a:bodyPr lIns="0" tIns="0" rIns="0" bIns="0"/>
          <a:lstStyle/>
          <a:p>
            <a:pPr marL="342000" indent="-342000"/>
            <a:r>
              <a:rPr lang="en-US" sz="2400" dirty="0"/>
              <a:t>Diffusion of many membrane proteins is restricted to a limited area of the membrane.</a:t>
            </a:r>
          </a:p>
          <a:p>
            <a:pPr marL="342000" indent="-342000"/>
            <a:r>
              <a:rPr lang="en-US" sz="2400" dirty="0"/>
              <a:t>Some membranes consist of separate </a:t>
            </a:r>
            <a:r>
              <a:rPr lang="en-US" sz="2400" i="1" dirty="0"/>
              <a:t>membrane domains</a:t>
            </a:r>
            <a:r>
              <a:rPr lang="en-US" sz="2400" dirty="0"/>
              <a:t> that differ in protein composition and therefore in function.</a:t>
            </a:r>
          </a:p>
        </p:txBody>
      </p:sp>
    </p:spTree>
    <p:extLst>
      <p:ext uri="{BB962C8B-B14F-4D97-AF65-F5344CB8AC3E}">
        <p14:creationId xmlns:p14="http://schemas.microsoft.com/office/powerpoint/2010/main" val="10007595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Mechanisms for Restricting Protein Mobility</a:t>
            </a:r>
            <a:endParaRPr lang="en-IN" dirty="0"/>
          </a:p>
        </p:txBody>
      </p:sp>
      <p:sp>
        <p:nvSpPr>
          <p:cNvPr id="7" name="Content Placeholder 6"/>
          <p:cNvSpPr>
            <a:spLocks noGrp="1"/>
          </p:cNvSpPr>
          <p:nvPr>
            <p:ph sz="quarter" idx="13"/>
          </p:nvPr>
        </p:nvSpPr>
        <p:spPr>
          <a:xfrm>
            <a:off x="420624" y="1441450"/>
            <a:ext cx="8232775" cy="1874956"/>
          </a:xfrm>
        </p:spPr>
        <p:txBody>
          <a:bodyPr lIns="0" tIns="0" rIns="0" bIns="0"/>
          <a:lstStyle/>
          <a:p>
            <a:pPr marL="342000" indent="-342000"/>
            <a:r>
              <a:rPr lang="en-US" sz="2400" dirty="0"/>
              <a:t>Membrane proteins aggregate within the membrane, forming large, slow-moving complexes.</a:t>
            </a:r>
          </a:p>
          <a:p>
            <a:pPr marL="342000" indent="-342000"/>
            <a:r>
              <a:rPr lang="en-US" sz="2400" dirty="0"/>
              <a:t>Membrane proteins also form structures that become barriers to diffusion, creating membrane domains.</a:t>
            </a:r>
          </a:p>
        </p:txBody>
      </p:sp>
    </p:spTree>
    <p:extLst>
      <p:ext uri="{BB962C8B-B14F-4D97-AF65-F5344CB8AC3E}">
        <p14:creationId xmlns:p14="http://schemas.microsoft.com/office/powerpoint/2010/main" val="100075951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174428"/>
            <a:ext cx="8229600" cy="548904"/>
          </a:xfrm>
        </p:spPr>
        <p:txBody>
          <a:bodyPr lIns="0" tIns="0" rIns="0" bIns="0"/>
          <a:lstStyle/>
          <a:p>
            <a:r>
              <a:rPr lang="en-US" dirty="0"/>
              <a:t>Membrane Protein Anchoring</a:t>
            </a:r>
            <a:endParaRPr lang="en-IN" dirty="0"/>
          </a:p>
        </p:txBody>
      </p:sp>
      <p:sp>
        <p:nvSpPr>
          <p:cNvPr id="7" name="Content Placeholder 6"/>
          <p:cNvSpPr>
            <a:spLocks noGrp="1"/>
          </p:cNvSpPr>
          <p:nvPr>
            <p:ph sz="quarter" idx="13"/>
          </p:nvPr>
        </p:nvSpPr>
        <p:spPr>
          <a:xfrm>
            <a:off x="420624" y="968990"/>
            <a:ext cx="8232775" cy="2511189"/>
          </a:xfrm>
        </p:spPr>
        <p:txBody>
          <a:bodyPr lIns="0" tIns="0" rIns="0" bIns="0"/>
          <a:lstStyle/>
          <a:p>
            <a:pPr marL="342000" indent="-342000"/>
            <a:r>
              <a:rPr lang="en-US" sz="2400" dirty="0"/>
              <a:t>The most common restraint on mobility of membrane proteins is anchoring of such proteins to structures to one side of the membrane or the other.</a:t>
            </a:r>
          </a:p>
          <a:p>
            <a:pPr marL="342000" indent="-342000"/>
            <a:r>
              <a:rPr lang="en-US" sz="2400" dirty="0"/>
              <a:t>For example, many proteins of the plasma membrane are anchored either to cytoskeleton or to extracellular structures.</a:t>
            </a:r>
          </a:p>
        </p:txBody>
      </p:sp>
    </p:spTree>
    <p:extLst>
      <p:ext uri="{BB962C8B-B14F-4D97-AF65-F5344CB8AC3E}">
        <p14:creationId xmlns:p14="http://schemas.microsoft.com/office/powerpoint/2010/main" val="100075951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0624" y="215371"/>
            <a:ext cx="8229600" cy="1613429"/>
          </a:xfrm>
        </p:spPr>
        <p:txBody>
          <a:bodyPr lIns="0" tIns="0" rIns="0" bIns="0"/>
          <a:lstStyle/>
          <a:p>
            <a:r>
              <a:rPr lang="en-US" dirty="0"/>
              <a:t>The Erythrocyte Membrane Contains an Interconnected Network of Membrane-Associated Proteins</a:t>
            </a:r>
            <a:endParaRPr lang="en-IN" dirty="0"/>
          </a:p>
        </p:txBody>
      </p:sp>
      <p:sp>
        <p:nvSpPr>
          <p:cNvPr id="7" name="Content Placeholder 6"/>
          <p:cNvSpPr>
            <a:spLocks noGrp="1"/>
          </p:cNvSpPr>
          <p:nvPr>
            <p:ph sz="quarter" idx="13"/>
          </p:nvPr>
        </p:nvSpPr>
        <p:spPr>
          <a:xfrm>
            <a:off x="420624" y="2129050"/>
            <a:ext cx="8232775" cy="3070747"/>
          </a:xfrm>
        </p:spPr>
        <p:txBody>
          <a:bodyPr lIns="0" tIns="0" rIns="0" bIns="0"/>
          <a:lstStyle/>
          <a:p>
            <a:pPr marL="342000" indent="-342000"/>
            <a:r>
              <a:rPr lang="en-US" sz="2400" dirty="0"/>
              <a:t>The plasma membrane of erythrocytes is one of the most widely studied.</a:t>
            </a:r>
          </a:p>
          <a:p>
            <a:pPr marL="342000" indent="-342000"/>
            <a:r>
              <a:rPr lang="en-US" sz="2400" dirty="0"/>
              <a:t>An intricate meshwork of peripheral and integral membrane proteins is associated with the inner surface of the plasma membrane.</a:t>
            </a:r>
          </a:p>
          <a:p>
            <a:pPr marL="342000" indent="-342000"/>
            <a:r>
              <a:rPr lang="en-US" sz="2400" dirty="0"/>
              <a:t>This meshwork supports the membrane, helps maintain cell shape, and helps the cell withstand stress.</a:t>
            </a:r>
          </a:p>
        </p:txBody>
      </p:sp>
    </p:spTree>
    <p:extLst>
      <p:ext uri="{BB962C8B-B14F-4D97-AF65-F5344CB8AC3E}">
        <p14:creationId xmlns:p14="http://schemas.microsoft.com/office/powerpoint/2010/main" val="100075951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6976" y="174427"/>
            <a:ext cx="8229600" cy="1097279"/>
          </a:xfrm>
        </p:spPr>
        <p:txBody>
          <a:bodyPr lIns="0" tIns="0" rIns="0" bIns="0"/>
          <a:lstStyle/>
          <a:p>
            <a:r>
              <a:rPr lang="en-US" dirty="0"/>
              <a:t>Peripheral Proteins of the Erythrocyte Plasma Membrane</a:t>
            </a:r>
            <a:endParaRPr lang="en-IN" dirty="0"/>
          </a:p>
        </p:txBody>
      </p:sp>
      <p:sp>
        <p:nvSpPr>
          <p:cNvPr id="7" name="Content Placeholder 6"/>
          <p:cNvSpPr>
            <a:spLocks noGrp="1"/>
          </p:cNvSpPr>
          <p:nvPr>
            <p:ph sz="quarter" idx="13"/>
          </p:nvPr>
        </p:nvSpPr>
        <p:spPr>
          <a:xfrm>
            <a:off x="420624" y="1441450"/>
            <a:ext cx="8232775" cy="2980425"/>
          </a:xfrm>
        </p:spPr>
        <p:txBody>
          <a:bodyPr lIns="0" tIns="0" rIns="0" bIns="0"/>
          <a:lstStyle/>
          <a:p>
            <a:pPr marL="342000" indent="-342000"/>
            <a:r>
              <a:rPr lang="en-US" sz="2400" dirty="0"/>
              <a:t>The main peripheral proteins of the erythrocyte plasma membrane are </a:t>
            </a:r>
            <a:r>
              <a:rPr lang="en-US" sz="2400" i="1" dirty="0" err="1"/>
              <a:t>spectrin</a:t>
            </a:r>
            <a:r>
              <a:rPr lang="en-US" sz="2400" dirty="0"/>
              <a:t>, </a:t>
            </a:r>
            <a:r>
              <a:rPr lang="en-US" sz="2400" i="1" dirty="0" err="1"/>
              <a:t>ankyrin</a:t>
            </a:r>
            <a:r>
              <a:rPr lang="en-US" sz="2400" i="1" dirty="0"/>
              <a:t>,</a:t>
            </a:r>
            <a:r>
              <a:rPr lang="en-US" sz="2400" dirty="0"/>
              <a:t> and </a:t>
            </a:r>
            <a:r>
              <a:rPr lang="en-US" sz="2400" i="1" dirty="0"/>
              <a:t>band 4.1 protein.</a:t>
            </a:r>
          </a:p>
          <a:p>
            <a:pPr marL="342000" indent="-342000"/>
            <a:r>
              <a:rPr lang="en-US" sz="2400" dirty="0" err="1"/>
              <a:t>Spectrin</a:t>
            </a:r>
            <a:r>
              <a:rPr lang="en-US" sz="2400" dirty="0"/>
              <a:t> and its associated proteins provide mechanical support to the plasma membrane.</a:t>
            </a:r>
          </a:p>
          <a:p>
            <a:pPr marL="342000" indent="-342000"/>
            <a:r>
              <a:rPr lang="en-US" sz="2400" i="1" dirty="0"/>
              <a:t>Glyceraldehyde-3-phosphate dehydrogenase </a:t>
            </a:r>
            <a:r>
              <a:rPr lang="en-US" sz="2400" dirty="0"/>
              <a:t>(</a:t>
            </a:r>
            <a:r>
              <a:rPr lang="en-US" sz="2400" i="1" spc="-350" dirty="0"/>
              <a:t>G A P D H</a:t>
            </a:r>
            <a:r>
              <a:rPr lang="en-US" sz="2400" dirty="0"/>
              <a:t>) is a peripheral membrane protein with a role in catabolism of blood glucose.</a:t>
            </a:r>
          </a:p>
        </p:txBody>
      </p:sp>
    </p:spTree>
    <p:extLst>
      <p:ext uri="{BB962C8B-B14F-4D97-AF65-F5344CB8AC3E}">
        <p14:creationId xmlns:p14="http://schemas.microsoft.com/office/powerpoint/2010/main" val="100075951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608" y="174427"/>
            <a:ext cx="8229600" cy="1097279"/>
          </a:xfrm>
        </p:spPr>
        <p:txBody>
          <a:bodyPr lIns="0" tIns="0" rIns="0" bIns="0" anchor="ctr"/>
          <a:lstStyle/>
          <a:p>
            <a:r>
              <a:rPr lang="en-US" dirty="0"/>
              <a:t>Structural Features of the Erythrocyte Plasma Membrane</a:t>
            </a:r>
            <a:endParaRPr lang="en-IN" dirty="0"/>
          </a:p>
        </p:txBody>
      </p:sp>
      <p:sp>
        <p:nvSpPr>
          <p:cNvPr id="4" name="Content Placeholder 3"/>
          <p:cNvSpPr>
            <a:spLocks noGrp="1"/>
          </p:cNvSpPr>
          <p:nvPr>
            <p:ph sz="quarter" idx="14"/>
          </p:nvPr>
        </p:nvSpPr>
        <p:spPr>
          <a:xfrm>
            <a:off x="416257" y="1484335"/>
            <a:ext cx="8229599" cy="822137"/>
          </a:xfrm>
        </p:spPr>
        <p:txBody>
          <a:bodyPr lIns="0" tIns="0" rIns="0" bIns="0"/>
          <a:lstStyle/>
          <a:p>
            <a:pPr marL="0" indent="0">
              <a:buNone/>
            </a:pPr>
            <a:r>
              <a:rPr lang="en-IN" sz="2400" b="1" dirty="0"/>
              <a:t>Figure 7.24 </a:t>
            </a:r>
            <a:r>
              <a:rPr lang="en-IN" sz="2400" dirty="0"/>
              <a:t>Structural Features of the Erythrocyte Plasma Membrane.</a:t>
            </a:r>
          </a:p>
        </p:txBody>
      </p:sp>
      <p:pic>
        <p:nvPicPr>
          <p:cNvPr id="9" name="Content Placeholder 8" descr="The image “a” shows a group of small human erythrocytes. The image “b” shows the plasma membrane of the erythrocyte. &#10;Long description is available in notes, press F6"/>
          <p:cNvPicPr>
            <a:picLocks noGrp="1" noChangeAspect="1"/>
          </p:cNvPicPr>
          <p:nvPr>
            <p:ph sz="quarter" idx="15"/>
          </p:nvPr>
        </p:nvPicPr>
        <p:blipFill rotWithShape="1">
          <a:blip r:embed="rId3">
            <a:extLst>
              <a:ext uri="{28A0092B-C50C-407E-A947-70E740481C1C}">
                <a14:useLocalDpi xmlns:a14="http://schemas.microsoft.com/office/drawing/2010/main" val="0"/>
              </a:ext>
            </a:extLst>
          </a:blip>
          <a:srcRect b="4222"/>
          <a:stretch/>
        </p:blipFill>
        <p:spPr>
          <a:xfrm>
            <a:off x="582589" y="2645162"/>
            <a:ext cx="7989991" cy="2946256"/>
          </a:xfrm>
        </p:spPr>
      </p:pic>
    </p:spTree>
    <p:extLst>
      <p:ext uri="{BB962C8B-B14F-4D97-AF65-F5344CB8AC3E}">
        <p14:creationId xmlns:p14="http://schemas.microsoft.com/office/powerpoint/2010/main" val="1000759518"/>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146900</TotalTime>
  <Words>12004</Words>
  <Application>Microsoft Office PowerPoint</Application>
  <PresentationFormat>On-screen Show (4:3)</PresentationFormat>
  <Paragraphs>889</Paragraphs>
  <Slides>126</Slides>
  <Notes>126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126</vt:i4>
      </vt:variant>
    </vt:vector>
  </HeadingPairs>
  <TitlesOfParts>
    <vt:vector size="133" baseType="lpstr">
      <vt:lpstr>Verdana</vt:lpstr>
      <vt:lpstr>Calibri</vt:lpstr>
      <vt:lpstr>Noto Sans Symbols</vt:lpstr>
      <vt:lpstr>Arial</vt:lpstr>
      <vt:lpstr>Times New Roman</vt:lpstr>
      <vt:lpstr>USHE</vt:lpstr>
      <vt:lpstr>USHE_slide options</vt:lpstr>
      <vt:lpstr>Becker’s World of the Cell</vt:lpstr>
      <vt:lpstr>Membranes: Their Structure, Function, and Chemistry</vt:lpstr>
      <vt:lpstr>The Prominence of Membranes Around and Within Eukaryotic Cells</vt:lpstr>
      <vt:lpstr>7.1 The Functions of Membranes (1 of 2)</vt:lpstr>
      <vt:lpstr>7.1 The Functions of Membranes (2 of 2)</vt:lpstr>
      <vt:lpstr>Functions of Membranes</vt:lpstr>
      <vt:lpstr>Membranes Define Boundaries and Serve as Permeability Barriers</vt:lpstr>
      <vt:lpstr>Membranes Contain Specific Proteins and Therefore of Specific Functions</vt:lpstr>
      <vt:lpstr>Membrane Proteins Regulate the Transport of Solutes</vt:lpstr>
      <vt:lpstr>Membrane Proteins Detect and Transmit Electrical and Chemical Signals</vt:lpstr>
      <vt:lpstr>Signal Transduction</vt:lpstr>
      <vt:lpstr>Membrane Proteins Mediate Cell Adhesion and Cell-to-Cell Communication</vt:lpstr>
      <vt:lpstr>7.2 Models of Membrane Structure:  An Experimental Perspective</vt:lpstr>
      <vt:lpstr>Overton and Langmuir: Lipids Are Important Components of Membranes</vt:lpstr>
      <vt:lpstr>Timeline for Development of the Fluid Mosaic Model: Lipid Nature of Membrane and Monolayer</vt:lpstr>
      <vt:lpstr>Gorter and Grendel: The Basis of Membrane Structure Is a Lipid Bilayer</vt:lpstr>
      <vt:lpstr>Timeline for Development of the Fluid Mosaic Model: Lipid Bilayer</vt:lpstr>
      <vt:lpstr>Davson and Danielli: Membranes Also Contain Proteins</vt:lpstr>
      <vt:lpstr>Timeline for Development of the Fluid Mosaic Model: Lipid Bilayer Plus Protein Sheets</vt:lpstr>
      <vt:lpstr>Robertson: All Membranes Share a Common Underlying Structure</vt:lpstr>
      <vt:lpstr>Trilaminar Appearance of Cellular Membranes</vt:lpstr>
      <vt:lpstr>Timeline for Development of the Fluid Mosaic Model: Unit Membrane</vt:lpstr>
      <vt:lpstr>Further Research Revealed Major Shortcomings of the Davson–Danielli Model</vt:lpstr>
      <vt:lpstr>Protein, Lipid, and Carbohydrate Content of Biological Membranes</vt:lpstr>
      <vt:lpstr>Singer and Nicholson: A Membrane Consists of a Mosaic of Proteins in a Fluid Lipid Bilayer</vt:lpstr>
      <vt:lpstr>Timeline for Development of the Fluid Mosaic Model: Fluid Mosaic Model</vt:lpstr>
      <vt:lpstr>Unwin and Henderson: Most Membrane Proteins Contain Transmembrane Segments</vt:lpstr>
      <vt:lpstr>Timeline for Development of the Fluid Mosaic Model: Membrane Protein Structure</vt:lpstr>
      <vt:lpstr>The Fluid Mosaic Model of Membrane Structure</vt:lpstr>
      <vt:lpstr>7.3 Membrane Lipids: The “Fluid” Part of the Model</vt:lpstr>
      <vt:lpstr>Membranes Contain Several Major Classes of Lipids</vt:lpstr>
      <vt:lpstr>Phospholipids (1 of 3)</vt:lpstr>
      <vt:lpstr>Phospholipids (2 of 3)</vt:lpstr>
      <vt:lpstr>Phospholipids (3 of 3)</vt:lpstr>
      <vt:lpstr>Phospholipid Composition of Several Types of Membranes</vt:lpstr>
      <vt:lpstr>Glycolipids (1 of 2)</vt:lpstr>
      <vt:lpstr>Cerebrosides and Gangliosides</vt:lpstr>
      <vt:lpstr>Glycolipids (2 of 2)</vt:lpstr>
      <vt:lpstr>Sterols (1 of 2)</vt:lpstr>
      <vt:lpstr>Sterols (2 of 2)</vt:lpstr>
      <vt:lpstr>Fatty Acids Are Essential to Membrane Structure and Function</vt:lpstr>
      <vt:lpstr>Fatty Acids Vary in Degree of Saturation</vt:lpstr>
      <vt:lpstr>Polyunsaturated Fatty Acids</vt:lpstr>
      <vt:lpstr>Structures of Some Common Fatty Acids Found in Membranes</vt:lpstr>
      <vt:lpstr>Thin-Layer Chromatography Is an Important Technique for Lipid Analysis </vt:lpstr>
      <vt:lpstr>Principle of Separation of Lipids via  T L C</vt:lpstr>
      <vt:lpstr>Using Thin-Layer Chromatography to Separate and Analyze Membrane Lipids</vt:lpstr>
      <vt:lpstr>Membrane Asymmetry: Most Lipids Are Distributed Unequally Between the Two Monolayers</vt:lpstr>
      <vt:lpstr>Membrane Asymmetry Tends to Be Maintained</vt:lpstr>
      <vt:lpstr>Lipids Move Freely Within Their Monolayer</vt:lpstr>
      <vt:lpstr>Transverse Diffusion Does Occur</vt:lpstr>
      <vt:lpstr>Movements of Phospholipid Molecules Within Membranes</vt:lpstr>
      <vt:lpstr>The Lipid Bilayer Is Fluid</vt:lpstr>
      <vt:lpstr>Membranes Function Properly Only in the Fluid State</vt:lpstr>
      <vt:lpstr>Measuring the Transition Temperature of a Membrane</vt:lpstr>
      <vt:lpstr>Determination of Membrane Transition Temperature by Differential Scanning Calorimetry </vt:lpstr>
      <vt:lpstr>Effects of Fatty Acid Composition on Membrane Fluidity</vt:lpstr>
      <vt:lpstr>Chain Length and Degree of Unsaturation Affect the Melting Point of Fatty Acids </vt:lpstr>
      <vt:lpstr>Fatty Acid Saturation and Membrane Fluidity</vt:lpstr>
      <vt:lpstr>The Effect of Unsaturated Fatty Acids on the Packing of Membrane Lipids</vt:lpstr>
      <vt:lpstr>Membrane Composition </vt:lpstr>
      <vt:lpstr>Cis and Trans Configuration</vt:lpstr>
      <vt:lpstr>Effects of Sterols on Membrane Fluidity</vt:lpstr>
      <vt:lpstr>Orientation of Cholesterol Molecules in a Lipid Bilayer</vt:lpstr>
      <vt:lpstr>Other Effects of Sterols on Membranes</vt:lpstr>
      <vt:lpstr>Most Organisms Can Regulate Membrane Fluidity</vt:lpstr>
      <vt:lpstr>Oxygen and Desaturase Enzyme</vt:lpstr>
      <vt:lpstr>Lipid Micro- and Nanodomains May Localize Molecules in Membranes (1 of 2)</vt:lpstr>
      <vt:lpstr>Lipid Micro- and Nanodomains May Localize Molecules in Membranes (2 of 2)</vt:lpstr>
      <vt:lpstr>7.4 Membrane Proteins: The “Mosaic” Part of the Model</vt:lpstr>
      <vt:lpstr>The Membrane Consists of a Mosaic of Proteins: Evidence from Freeze-Fracture Microscopy</vt:lpstr>
      <vt:lpstr>Freeze-Fracture Analysis of Membranes (1 of 2)</vt:lpstr>
      <vt:lpstr>Freeze-Fracture Analysis of a Membrane (2 of 2)</vt:lpstr>
      <vt:lpstr>Membrane Proteins Visualized by Freeze-Fracture Electron Microscopy</vt:lpstr>
      <vt:lpstr>Membranes Contain Integral, Peripheral, and Lipid-Anchored Proteins</vt:lpstr>
      <vt:lpstr>Classes of Membrane Proteins</vt:lpstr>
      <vt:lpstr>The Main Classes of Membrane Proteins</vt:lpstr>
      <vt:lpstr>Integral Membrane Proteins (1 of 2)</vt:lpstr>
      <vt:lpstr>Integral Membrane Proteins (2 of 2)</vt:lpstr>
      <vt:lpstr>Transmembrane Proteins</vt:lpstr>
      <vt:lpstr>Singlepass Membrane Proteins</vt:lpstr>
      <vt:lpstr>Multipass Membrane Proteins</vt:lpstr>
      <vt:lpstr>The Structures of Two Integral Membrane Proteins</vt:lpstr>
      <vt:lpstr>Peripheral Membrane Proteins</vt:lpstr>
      <vt:lpstr>Lipid-Anchored Membrane Proteins</vt:lpstr>
      <vt:lpstr>Types of Lipid-Anchored Membrane Proteins</vt:lpstr>
      <vt:lpstr>Membrane Proteins Can Be Isolated and Analyzed</vt:lpstr>
      <vt:lpstr>Isolation of Membrane Proteins</vt:lpstr>
      <vt:lpstr>Isolating Integral Membrane Proteins</vt:lpstr>
      <vt:lpstr>Separation (1 of 2)</vt:lpstr>
      <vt:lpstr>Separation (2 of 2)</vt:lpstr>
      <vt:lpstr>Affinity Labeling</vt:lpstr>
      <vt:lpstr>Membrane Reconstitution</vt:lpstr>
      <vt:lpstr>Determining the Three-Dimensional Structure of Membrane Proteins Is Becoming Easier</vt:lpstr>
      <vt:lpstr>X-Ray Crystallography</vt:lpstr>
      <vt:lpstr>Hydropathy Analysis</vt:lpstr>
      <vt:lpstr>Hydropathy Analysis of an Integral Membrane Protein</vt:lpstr>
      <vt:lpstr>Molecular Biology Has Contributed Greatly to Our Understanding of Membrane Proteins</vt:lpstr>
      <vt:lpstr>Membrane Proteins Have a Variety of Functions</vt:lpstr>
      <vt:lpstr>Solute Transport Across Membranes</vt:lpstr>
      <vt:lpstr>Signaling Across Membranes</vt:lpstr>
      <vt:lpstr>Communication Between Cells</vt:lpstr>
      <vt:lpstr>Membrane Proteins Play Roles in Other Cell Functions</vt:lpstr>
      <vt:lpstr>Stabilizing and Shaping the Cell Membrane</vt:lpstr>
      <vt:lpstr>Membrane Proteins Are Oriented Asymmetrically Across the Lipid Bilayer</vt:lpstr>
      <vt:lpstr>Detecting Proteins on Specific Membrane Proteins</vt:lpstr>
      <vt:lpstr>A Method for Labeling Proteins Exposed on One or Both Surfaces of a Membrane Vesicle</vt:lpstr>
      <vt:lpstr>Many Membrane Proteins and Lipids Are Glycosylated</vt:lpstr>
      <vt:lpstr>Glycosylation</vt:lpstr>
      <vt:lpstr>Carbohydrate Chains Attached to Proteins</vt:lpstr>
      <vt:lpstr>N-Linked and O-Linked Glycosylation of Membrane Proteins</vt:lpstr>
      <vt:lpstr>Roles of Glycoproteins</vt:lpstr>
      <vt:lpstr>Roles of Glycolipids</vt:lpstr>
      <vt:lpstr>Glycocalyx</vt:lpstr>
      <vt:lpstr>The Glycocalyx of an Intestinal Epithelial Cell</vt:lpstr>
      <vt:lpstr>Membrane Proteins Vary in Their Mobility</vt:lpstr>
      <vt:lpstr>Experimental Evidence for Protein Mobility</vt:lpstr>
      <vt:lpstr>The Frye and Edidin Experiments</vt:lpstr>
      <vt:lpstr>Demonstration of Mobility of Membrane Proteins by Cell Fusion</vt:lpstr>
      <vt:lpstr>Experimental Evidence for Restricted Mobility</vt:lpstr>
      <vt:lpstr>Membrane Domains</vt:lpstr>
      <vt:lpstr>Mechanisms for Restricting Protein Mobility</vt:lpstr>
      <vt:lpstr>Membrane Protein Anchoring</vt:lpstr>
      <vt:lpstr>The Erythrocyte Membrane Contains an Interconnected Network of Membrane-Associated Proteins</vt:lpstr>
      <vt:lpstr>Peripheral Proteins of the Erythrocyte Plasma Membrane</vt:lpstr>
      <vt:lpstr>Structural Features of the Erythrocyte Plasma Membrane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 Tenth Edition, Chapter 7, Membranes: Their Structure, Function, and Chemistry</dc:title>
  <dc:subject>Science</dc:subject>
  <dc:creator>Jeff Hardin, James P Lodolce</dc:creator>
  <cp:keywords/>
  <dc:description/>
  <cp:lastModifiedBy>Rakshit, Nikhil</cp:lastModifiedBy>
  <cp:revision>770</cp:revision>
  <dcterms:modified xsi:type="dcterms:W3CDTF">2021-12-14T07:46:27Z</dcterms:modified>
</cp:coreProperties>
</file>