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3" r:id="rId1"/>
    <p:sldMasterId id="2147483659" r:id="rId2"/>
  </p:sldMasterIdLst>
  <p:notesMasterIdLst>
    <p:notesMasterId r:id="rId133"/>
  </p:notesMasterIdLst>
  <p:handoutMasterIdLst>
    <p:handoutMasterId r:id="rId134"/>
  </p:handoutMasterIdLst>
  <p:sldIdLst>
    <p:sldId id="2032" r:id="rId3"/>
    <p:sldId id="272" r:id="rId4"/>
    <p:sldId id="1705" r:id="rId5"/>
    <p:sldId id="1763" r:id="rId6"/>
    <p:sldId id="1764" r:id="rId7"/>
    <p:sldId id="1896" r:id="rId8"/>
    <p:sldId id="1897" r:id="rId9"/>
    <p:sldId id="1898" r:id="rId10"/>
    <p:sldId id="1899" r:id="rId11"/>
    <p:sldId id="1900" r:id="rId12"/>
    <p:sldId id="1712" r:id="rId13"/>
    <p:sldId id="1765" r:id="rId14"/>
    <p:sldId id="1766" r:id="rId15"/>
    <p:sldId id="1902" r:id="rId16"/>
    <p:sldId id="1903" r:id="rId17"/>
    <p:sldId id="1901" r:id="rId18"/>
    <p:sldId id="2033" r:id="rId19"/>
    <p:sldId id="2030" r:id="rId20"/>
    <p:sldId id="1708" r:id="rId21"/>
    <p:sldId id="1905" r:id="rId22"/>
    <p:sldId id="1906" r:id="rId23"/>
    <p:sldId id="1904" r:id="rId24"/>
    <p:sldId id="1909" r:id="rId25"/>
    <p:sldId id="1910" r:id="rId26"/>
    <p:sldId id="1911" r:id="rId27"/>
    <p:sldId id="1912" r:id="rId28"/>
    <p:sldId id="1913" r:id="rId29"/>
    <p:sldId id="1907" r:id="rId30"/>
    <p:sldId id="2031" r:id="rId31"/>
    <p:sldId id="1916" r:id="rId32"/>
    <p:sldId id="1917" r:id="rId33"/>
    <p:sldId id="1918" r:id="rId34"/>
    <p:sldId id="1919" r:id="rId35"/>
    <p:sldId id="1920" r:id="rId36"/>
    <p:sldId id="1921" r:id="rId37"/>
    <p:sldId id="1922" r:id="rId38"/>
    <p:sldId id="1923" r:id="rId39"/>
    <p:sldId id="1914" r:id="rId40"/>
    <p:sldId id="1710" r:id="rId41"/>
    <p:sldId id="1926" r:id="rId42"/>
    <p:sldId id="1927" r:id="rId43"/>
    <p:sldId id="1928" r:id="rId44"/>
    <p:sldId id="1768" r:id="rId45"/>
    <p:sldId id="1924" r:id="rId46"/>
    <p:sldId id="1932" r:id="rId47"/>
    <p:sldId id="1933" r:id="rId48"/>
    <p:sldId id="1934" r:id="rId49"/>
    <p:sldId id="1769" r:id="rId50"/>
    <p:sldId id="1935" r:id="rId51"/>
    <p:sldId id="1936" r:id="rId52"/>
    <p:sldId id="1937" r:id="rId53"/>
    <p:sldId id="1938" r:id="rId54"/>
    <p:sldId id="1939" r:id="rId55"/>
    <p:sldId id="1931" r:id="rId56"/>
    <p:sldId id="1770" r:id="rId57"/>
    <p:sldId id="1943" r:id="rId58"/>
    <p:sldId id="2029" r:id="rId59"/>
    <p:sldId id="1945" r:id="rId60"/>
    <p:sldId id="1771" r:id="rId61"/>
    <p:sldId id="1946" r:id="rId62"/>
    <p:sldId id="1947" r:id="rId63"/>
    <p:sldId id="1948" r:id="rId64"/>
    <p:sldId id="1767" r:id="rId65"/>
    <p:sldId id="1773" r:id="rId66"/>
    <p:sldId id="1950" r:id="rId67"/>
    <p:sldId id="1940" r:id="rId68"/>
    <p:sldId id="1774" r:id="rId69"/>
    <p:sldId id="1953" r:id="rId70"/>
    <p:sldId id="1954" r:id="rId71"/>
    <p:sldId id="1955" r:id="rId72"/>
    <p:sldId id="1956" r:id="rId73"/>
    <p:sldId id="1957" r:id="rId74"/>
    <p:sldId id="1958" r:id="rId75"/>
    <p:sldId id="1959" r:id="rId76"/>
    <p:sldId id="1960" r:id="rId77"/>
    <p:sldId id="1961" r:id="rId78"/>
    <p:sldId id="1775" r:id="rId79"/>
    <p:sldId id="1962" r:id="rId80"/>
    <p:sldId id="1963" r:id="rId81"/>
    <p:sldId id="1964" r:id="rId82"/>
    <p:sldId id="1965" r:id="rId83"/>
    <p:sldId id="1966" r:id="rId84"/>
    <p:sldId id="1951" r:id="rId85"/>
    <p:sldId id="1971" r:id="rId86"/>
    <p:sldId id="1972" r:id="rId87"/>
    <p:sldId id="1973" r:id="rId88"/>
    <p:sldId id="1974" r:id="rId89"/>
    <p:sldId id="1977" r:id="rId90"/>
    <p:sldId id="1979" r:id="rId91"/>
    <p:sldId id="1975" r:id="rId92"/>
    <p:sldId id="1981" r:id="rId93"/>
    <p:sldId id="1982" r:id="rId94"/>
    <p:sldId id="1984" r:id="rId95"/>
    <p:sldId id="1985" r:id="rId96"/>
    <p:sldId id="2021" r:id="rId97"/>
    <p:sldId id="1987" r:id="rId98"/>
    <p:sldId id="1986" r:id="rId99"/>
    <p:sldId id="1988" r:id="rId100"/>
    <p:sldId id="1980" r:id="rId101"/>
    <p:sldId id="1990" r:id="rId102"/>
    <p:sldId id="1991" r:id="rId103"/>
    <p:sldId id="1989" r:id="rId104"/>
    <p:sldId id="1994" r:id="rId105"/>
    <p:sldId id="1995" r:id="rId106"/>
    <p:sldId id="1996" r:id="rId107"/>
    <p:sldId id="1997" r:id="rId108"/>
    <p:sldId id="1992" r:id="rId109"/>
    <p:sldId id="1999" r:id="rId110"/>
    <p:sldId id="2000" r:id="rId111"/>
    <p:sldId id="2001" r:id="rId112"/>
    <p:sldId id="2002" r:id="rId113"/>
    <p:sldId id="1998" r:id="rId114"/>
    <p:sldId id="2007" r:id="rId115"/>
    <p:sldId id="2008" r:id="rId116"/>
    <p:sldId id="2009" r:id="rId117"/>
    <p:sldId id="2010" r:id="rId118"/>
    <p:sldId id="2011" r:id="rId119"/>
    <p:sldId id="2003" r:id="rId120"/>
    <p:sldId id="2013" r:id="rId121"/>
    <p:sldId id="2014" r:id="rId122"/>
    <p:sldId id="2015" r:id="rId123"/>
    <p:sldId id="2016" r:id="rId124"/>
    <p:sldId id="2017" r:id="rId125"/>
    <p:sldId id="2018" r:id="rId126"/>
    <p:sldId id="2019" r:id="rId127"/>
    <p:sldId id="2012" r:id="rId128"/>
    <p:sldId id="1978" r:id="rId129"/>
    <p:sldId id="1777" r:id="rId130"/>
    <p:sldId id="1778" r:id="rId131"/>
    <p:sldId id="1893" r:id="rId132"/>
  </p:sldIdLst>
  <p:sldSz cx="9144000" cy="6858000" type="screen4x3"/>
  <p:notesSz cx="6858000" cy="9144000"/>
  <p:embeddedFontLst>
    <p:embeddedFont>
      <p:font typeface="Calibri" panose="020F0502020204030204" pitchFamily="34" charset="0"/>
      <p:regular r:id="rId135"/>
      <p:bold r:id="rId136"/>
      <p:italic r:id="rId137"/>
      <p:boldItalic r:id="rId138"/>
    </p:embeddedFont>
    <p:embeddedFont>
      <p:font typeface="Verdana" panose="020B0604030504040204" pitchFamily="34" charset="0"/>
      <p:regular r:id="rId139"/>
      <p:bold r:id="rId140"/>
      <p:italic r:id="rId141"/>
      <p:boldItalic r:id="rId14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4065" userDrawn="1">
          <p15:clr>
            <a:srgbClr val="A4A3A4"/>
          </p15:clr>
        </p15:guide>
        <p15:guide id="2" pos="272" userDrawn="1">
          <p15:clr>
            <a:srgbClr val="A4A3A4"/>
          </p15:clr>
        </p15:guide>
        <p15:guide id="3" orient="horz" pos="96" userDrawn="1">
          <p15:clr>
            <a:srgbClr val="A4A3A4"/>
          </p15:clr>
        </p15:guide>
        <p15:guide id="4" orient="horz" pos="1117" userDrawn="1">
          <p15:clr>
            <a:srgbClr val="A4A3A4"/>
          </p15:clr>
        </p15:guide>
        <p15:guide id="5" orient="horz" pos="391"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Jeffrey Holcomb" initials="" lastIdx="3" clrIdx="0"/>
  <p:cmAuthor id="1" name="Ruchi Sachdev" initials="" lastIdx="8" clrIdx="1"/>
  <p:cmAuthor id="2" name="Sarah Reusché" initials="" lastIdx="13" clrIdx="2"/>
  <p:cmAuthor id="3" name="Nitin Shankar" initials="" lastIdx="6" clrIdx="3"/>
  <p:cmAuthor id="4" name="Kristen Flathman" initials="" lastIdx="1" clrIdx="4"/>
  <p:cmAuthor id="5" name="Ben Schroeter" initials="" lastIdx="0" clrIdx="5"/>
  <p:cmAuthor id="6" name="AnnMarie Short" initials="AS" lastIdx="35" clrIdx="6"/>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FA3"/>
    <a:srgbClr val="D5EAE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0F9630F-82C1-40B7-BC3A-925EFCFF5E92}">
  <a:tblStyle styleId="{40F9630F-82C1-40B7-BC3A-925EFCFF5E92}" styleName="Table_0">
    <a:wholeTbl>
      <a:tcTxStyle b="off" i="off">
        <a:font>
          <a:latin typeface="Arial"/>
          <a:ea typeface="Arial"/>
          <a:cs typeface="Arial"/>
        </a:font>
        <a:schemeClr val="dk1"/>
      </a:tcTxStyle>
      <a:tcStyle>
        <a:tcBdr>
          <a:left>
            <a:ln w="9525" cap="flat" cmpd="sng">
              <a:solidFill>
                <a:srgbClr val="000000">
                  <a:alpha val="0"/>
                </a:srgbClr>
              </a:solidFill>
              <a:prstDash val="solid"/>
              <a:round/>
              <a:headEnd type="none" w="med" len="med"/>
              <a:tailEnd type="none" w="med" len="med"/>
            </a:ln>
          </a:left>
          <a:right>
            <a:ln w="9525" cap="flat" cmpd="sng">
              <a:solidFill>
                <a:srgbClr val="000000">
                  <a:alpha val="0"/>
                </a:srgbClr>
              </a:solidFill>
              <a:prstDash val="solid"/>
              <a:round/>
              <a:headEnd type="none" w="med" len="med"/>
              <a:tailEnd type="none" w="med" len="med"/>
            </a:ln>
          </a:right>
          <a:top>
            <a:ln w="12700" cap="flat" cmpd="sng">
              <a:solidFill>
                <a:schemeClr val="accent1"/>
              </a:solidFill>
              <a:prstDash val="solid"/>
              <a:round/>
              <a:headEnd type="none" w="med" len="med"/>
              <a:tailEnd type="none" w="med" len="med"/>
            </a:ln>
          </a:top>
          <a:bottom>
            <a:ln w="12700" cap="flat" cmpd="sng">
              <a:solidFill>
                <a:schemeClr val="accent1"/>
              </a:solidFill>
              <a:prstDash val="solid"/>
              <a:round/>
              <a:headEnd type="none" w="med" len="med"/>
              <a:tailEnd type="none" w="med" len="med"/>
            </a:ln>
          </a:bottom>
          <a:insideH>
            <a:ln w="9525" cap="flat" cmpd="sng">
              <a:solidFill>
                <a:srgbClr val="000000">
                  <a:alpha val="0"/>
                </a:srgbClr>
              </a:solidFill>
              <a:prstDash val="solid"/>
              <a:round/>
              <a:headEnd type="none" w="med" len="med"/>
              <a:tailEnd type="none" w="med" len="med"/>
            </a:ln>
          </a:insideH>
          <a:insideV>
            <a:ln w="9525" cap="flat" cmpd="sng">
              <a:solidFill>
                <a:srgbClr val="000000">
                  <a:alpha val="0"/>
                </a:srgbClr>
              </a:solidFill>
              <a:prstDash val="solid"/>
              <a:round/>
              <a:headEnd type="none" w="med" len="med"/>
              <a:tailEnd type="none" w="med" len="med"/>
            </a:ln>
          </a:insideV>
        </a:tcBdr>
        <a:fill>
          <a:solidFill>
            <a:srgbClr val="FFFFFF">
              <a:alpha val="0"/>
            </a:srgbClr>
          </a:solid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i="off"/>
      <a:tcStyle>
        <a:tcBdr/>
      </a:tcStyle>
    </a:lastCol>
    <a:firstCol>
      <a:tcTxStyle b="on" i="off"/>
      <a:tcStyle>
        <a:tcBdr/>
      </a:tcStyle>
    </a:firstCol>
    <a:lastRow>
      <a:tcTxStyle b="on" i="off"/>
      <a:tcStyle>
        <a:tcBdr>
          <a:top>
            <a:ln w="12700" cap="flat" cmpd="sng">
              <a:solidFill>
                <a:schemeClr val="accent1"/>
              </a:solidFill>
              <a:prstDash val="solid"/>
              <a:round/>
              <a:headEnd type="none" w="med" len="med"/>
              <a:tailEnd type="none" w="med" len="med"/>
            </a:ln>
          </a:top>
        </a:tcBdr>
        <a:fill>
          <a:solidFill>
            <a:srgbClr val="FFFFFF">
              <a:alpha val="0"/>
            </a:srgbClr>
          </a:solidFill>
        </a:fill>
      </a:tcStyle>
    </a:lastRow>
    <a:firstRow>
      <a:tcTxStyle b="on" i="off"/>
      <a:tcStyle>
        <a:tcBdr>
          <a:bottom>
            <a:ln w="12700" cap="flat" cmpd="sng">
              <a:solidFill>
                <a:schemeClr val="accent1"/>
              </a:solidFill>
              <a:prstDash val="solid"/>
              <a:round/>
              <a:headEnd type="none" w="med" len="med"/>
              <a:tailEnd type="none" w="med" len="med"/>
            </a:ln>
          </a:bottom>
        </a:tcBdr>
        <a:fill>
          <a:solidFill>
            <a:srgbClr val="FFFFFF">
              <a:alpha val="0"/>
            </a:srgb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721" autoAdjust="0"/>
    <p:restoredTop sz="92022" autoAdjust="0"/>
  </p:normalViewPr>
  <p:slideViewPr>
    <p:cSldViewPr snapToGrid="0" snapToObjects="1">
      <p:cViewPr varScale="1">
        <p:scale>
          <a:sx n="63" d="100"/>
          <a:sy n="63" d="100"/>
        </p:scale>
        <p:origin x="1428" y="60"/>
      </p:cViewPr>
      <p:guideLst>
        <p:guide orient="horz" pos="4065"/>
        <p:guide pos="272"/>
        <p:guide orient="horz" pos="96"/>
        <p:guide orient="horz" pos="1117"/>
        <p:guide orient="horz" pos="391"/>
      </p:guideLst>
    </p:cSldViewPr>
  </p:slideViewPr>
  <p:outlineViewPr>
    <p:cViewPr>
      <p:scale>
        <a:sx n="33" d="100"/>
        <a:sy n="33" d="100"/>
      </p:scale>
      <p:origin x="0" y="-13752"/>
    </p:cViewPr>
  </p:outlineViewPr>
  <p:notesTextViewPr>
    <p:cViewPr>
      <p:scale>
        <a:sx n="125" d="100"/>
        <a:sy n="125" d="100"/>
      </p:scale>
      <p:origin x="0" y="0"/>
    </p:cViewPr>
  </p:notesTextViewPr>
  <p:sorterViewPr>
    <p:cViewPr>
      <p:scale>
        <a:sx n="100" d="100"/>
        <a:sy n="100" d="100"/>
      </p:scale>
      <p:origin x="0" y="-3346"/>
    </p:cViewPr>
  </p:sorterViewPr>
  <p:notesViewPr>
    <p:cSldViewPr snapToGrid="0" snapToObjects="1">
      <p:cViewPr varScale="1">
        <p:scale>
          <a:sx n="68" d="100"/>
          <a:sy n="68" d="100"/>
        </p:scale>
        <p:origin x="3060" y="72"/>
      </p:cViewPr>
      <p:guideLst/>
    </p:cSldViewPr>
  </p:notes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5.xml"/><Relationship Id="rId21" Type="http://schemas.openxmlformats.org/officeDocument/2006/relationships/slide" Target="slides/slide19.xml"/><Relationship Id="rId42" Type="http://schemas.openxmlformats.org/officeDocument/2006/relationships/slide" Target="slides/slide40.xml"/><Relationship Id="rId63" Type="http://schemas.openxmlformats.org/officeDocument/2006/relationships/slide" Target="slides/slide61.xml"/><Relationship Id="rId84" Type="http://schemas.openxmlformats.org/officeDocument/2006/relationships/slide" Target="slides/slide82.xml"/><Relationship Id="rId138" Type="http://schemas.openxmlformats.org/officeDocument/2006/relationships/font" Target="fonts/font4.fntdata"/><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53" Type="http://schemas.openxmlformats.org/officeDocument/2006/relationships/slide" Target="slides/slide51.xml"/><Relationship Id="rId74" Type="http://schemas.openxmlformats.org/officeDocument/2006/relationships/slide" Target="slides/slide72.xml"/><Relationship Id="rId128" Type="http://schemas.openxmlformats.org/officeDocument/2006/relationships/slide" Target="slides/slide126.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113" Type="http://schemas.openxmlformats.org/officeDocument/2006/relationships/slide" Target="slides/slide111.xml"/><Relationship Id="rId118" Type="http://schemas.openxmlformats.org/officeDocument/2006/relationships/slide" Target="slides/slide116.xml"/><Relationship Id="rId134" Type="http://schemas.openxmlformats.org/officeDocument/2006/relationships/handoutMaster" Target="handoutMasters/handoutMaster1.xml"/><Relationship Id="rId139" Type="http://schemas.openxmlformats.org/officeDocument/2006/relationships/font" Target="fonts/font5.fntdata"/><Relationship Id="rId80" Type="http://schemas.openxmlformats.org/officeDocument/2006/relationships/slide" Target="slides/slide78.xml"/><Relationship Id="rId85" Type="http://schemas.openxmlformats.org/officeDocument/2006/relationships/slide" Target="slides/slide83.xml"/><Relationship Id="rId12" Type="http://schemas.openxmlformats.org/officeDocument/2006/relationships/slide" Target="slides/slide10.xml"/><Relationship Id="rId17" Type="http://schemas.openxmlformats.org/officeDocument/2006/relationships/slide" Target="slides/slide15.xml"/><Relationship Id="rId33" Type="http://schemas.openxmlformats.org/officeDocument/2006/relationships/slide" Target="slides/slide31.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08" Type="http://schemas.openxmlformats.org/officeDocument/2006/relationships/slide" Target="slides/slide106.xml"/><Relationship Id="rId124" Type="http://schemas.openxmlformats.org/officeDocument/2006/relationships/slide" Target="slides/slide122.xml"/><Relationship Id="rId129" Type="http://schemas.openxmlformats.org/officeDocument/2006/relationships/slide" Target="slides/slide127.xml"/><Relationship Id="rId54" Type="http://schemas.openxmlformats.org/officeDocument/2006/relationships/slide" Target="slides/slide52.xml"/><Relationship Id="rId70" Type="http://schemas.openxmlformats.org/officeDocument/2006/relationships/slide" Target="slides/slide68.xml"/><Relationship Id="rId75" Type="http://schemas.openxmlformats.org/officeDocument/2006/relationships/slide" Target="slides/slide73.xml"/><Relationship Id="rId91" Type="http://schemas.openxmlformats.org/officeDocument/2006/relationships/slide" Target="slides/slide89.xml"/><Relationship Id="rId96" Type="http://schemas.openxmlformats.org/officeDocument/2006/relationships/slide" Target="slides/slide94.xml"/><Relationship Id="rId140" Type="http://schemas.openxmlformats.org/officeDocument/2006/relationships/font" Target="fonts/font6.fntdata"/><Relationship Id="rId145"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23" Type="http://schemas.openxmlformats.org/officeDocument/2006/relationships/slide" Target="slides/slide21.xml"/><Relationship Id="rId28" Type="http://schemas.openxmlformats.org/officeDocument/2006/relationships/slide" Target="slides/slide26.xml"/><Relationship Id="rId49" Type="http://schemas.openxmlformats.org/officeDocument/2006/relationships/slide" Target="slides/slide47.xml"/><Relationship Id="rId114" Type="http://schemas.openxmlformats.org/officeDocument/2006/relationships/slide" Target="slides/slide112.xml"/><Relationship Id="rId119" Type="http://schemas.openxmlformats.org/officeDocument/2006/relationships/slide" Target="slides/slide117.xml"/><Relationship Id="rId44" Type="http://schemas.openxmlformats.org/officeDocument/2006/relationships/slide" Target="slides/slide42.xml"/><Relationship Id="rId60" Type="http://schemas.openxmlformats.org/officeDocument/2006/relationships/slide" Target="slides/slide58.xml"/><Relationship Id="rId65" Type="http://schemas.openxmlformats.org/officeDocument/2006/relationships/slide" Target="slides/slide63.xml"/><Relationship Id="rId81" Type="http://schemas.openxmlformats.org/officeDocument/2006/relationships/slide" Target="slides/slide79.xml"/><Relationship Id="rId86" Type="http://schemas.openxmlformats.org/officeDocument/2006/relationships/slide" Target="slides/slide84.xml"/><Relationship Id="rId130" Type="http://schemas.openxmlformats.org/officeDocument/2006/relationships/slide" Target="slides/slide128.xml"/><Relationship Id="rId135" Type="http://schemas.openxmlformats.org/officeDocument/2006/relationships/font" Target="fonts/font1.fntdata"/><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slide" Target="slides/slide10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120" Type="http://schemas.openxmlformats.org/officeDocument/2006/relationships/slide" Target="slides/slide118.xml"/><Relationship Id="rId125" Type="http://schemas.openxmlformats.org/officeDocument/2006/relationships/slide" Target="slides/slide123.xml"/><Relationship Id="rId141" Type="http://schemas.openxmlformats.org/officeDocument/2006/relationships/font" Target="fonts/font7.fntdata"/><Relationship Id="rId146" Type="http://schemas.openxmlformats.org/officeDocument/2006/relationships/theme" Target="theme/theme1.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15" Type="http://schemas.openxmlformats.org/officeDocument/2006/relationships/slide" Target="slides/slide113.xml"/><Relationship Id="rId131" Type="http://schemas.openxmlformats.org/officeDocument/2006/relationships/slide" Target="slides/slide129.xml"/><Relationship Id="rId136" Type="http://schemas.openxmlformats.org/officeDocument/2006/relationships/font" Target="fonts/font2.fntdata"/><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126" Type="http://schemas.openxmlformats.org/officeDocument/2006/relationships/slide" Target="slides/slide124.xml"/><Relationship Id="rId147" Type="http://schemas.openxmlformats.org/officeDocument/2006/relationships/tableStyles" Target="tableStyles.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121" Type="http://schemas.openxmlformats.org/officeDocument/2006/relationships/slide" Target="slides/slide119.xml"/><Relationship Id="rId142" Type="http://schemas.openxmlformats.org/officeDocument/2006/relationships/font" Target="fonts/font8.fntdata"/><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116" Type="http://schemas.openxmlformats.org/officeDocument/2006/relationships/slide" Target="slides/slide114.xml"/><Relationship Id="rId137" Type="http://schemas.openxmlformats.org/officeDocument/2006/relationships/font" Target="fonts/font3.fntdata"/><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slide" Target="slides/slide109.xml"/><Relationship Id="rId132" Type="http://schemas.openxmlformats.org/officeDocument/2006/relationships/slide" Target="slides/slide130.xml"/><Relationship Id="rId15" Type="http://schemas.openxmlformats.org/officeDocument/2006/relationships/slide" Target="slides/slide13.xml"/><Relationship Id="rId36" Type="http://schemas.openxmlformats.org/officeDocument/2006/relationships/slide" Target="slides/slide34.xml"/><Relationship Id="rId57" Type="http://schemas.openxmlformats.org/officeDocument/2006/relationships/slide" Target="slides/slide55.xml"/><Relationship Id="rId106" Type="http://schemas.openxmlformats.org/officeDocument/2006/relationships/slide" Target="slides/slide104.xml"/><Relationship Id="rId127" Type="http://schemas.openxmlformats.org/officeDocument/2006/relationships/slide" Target="slides/slide125.xml"/><Relationship Id="rId10" Type="http://schemas.openxmlformats.org/officeDocument/2006/relationships/slide" Target="slides/slide8.xml"/><Relationship Id="rId31" Type="http://schemas.openxmlformats.org/officeDocument/2006/relationships/slide" Target="slides/slide29.xml"/><Relationship Id="rId52" Type="http://schemas.openxmlformats.org/officeDocument/2006/relationships/slide" Target="slides/slide50.xml"/><Relationship Id="rId73" Type="http://schemas.openxmlformats.org/officeDocument/2006/relationships/slide" Target="slides/slide71.xml"/><Relationship Id="rId78" Type="http://schemas.openxmlformats.org/officeDocument/2006/relationships/slide" Target="slides/slide76.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slide" Target="slides/slide120.xml"/><Relationship Id="rId143" Type="http://schemas.openxmlformats.org/officeDocument/2006/relationships/commentAuthors" Target="commentAuthors.xml"/><Relationship Id="rId4" Type="http://schemas.openxmlformats.org/officeDocument/2006/relationships/slide" Target="slides/slide2.xml"/><Relationship Id="rId9" Type="http://schemas.openxmlformats.org/officeDocument/2006/relationships/slide" Target="slides/slide7.xml"/><Relationship Id="rId26" Type="http://schemas.openxmlformats.org/officeDocument/2006/relationships/slide" Target="slides/slide24.xml"/><Relationship Id="rId47" Type="http://schemas.openxmlformats.org/officeDocument/2006/relationships/slide" Target="slides/slide45.xml"/><Relationship Id="rId68" Type="http://schemas.openxmlformats.org/officeDocument/2006/relationships/slide" Target="slides/slide66.xml"/><Relationship Id="rId89" Type="http://schemas.openxmlformats.org/officeDocument/2006/relationships/slide" Target="slides/slide87.xml"/><Relationship Id="rId112" Type="http://schemas.openxmlformats.org/officeDocument/2006/relationships/slide" Target="slides/slide110.xml"/><Relationship Id="rId133" Type="http://schemas.openxmlformats.org/officeDocument/2006/relationships/notesMaster" Target="notesMasters/notesMaster1.xml"/><Relationship Id="rId16" Type="http://schemas.openxmlformats.org/officeDocument/2006/relationships/slide" Target="slides/slide14.xml"/><Relationship Id="rId37" Type="http://schemas.openxmlformats.org/officeDocument/2006/relationships/slide" Target="slides/slide35.xml"/><Relationship Id="rId58" Type="http://schemas.openxmlformats.org/officeDocument/2006/relationships/slide" Target="slides/slide56.xml"/><Relationship Id="rId79" Type="http://schemas.openxmlformats.org/officeDocument/2006/relationships/slide" Target="slides/slide77.xml"/><Relationship Id="rId102" Type="http://schemas.openxmlformats.org/officeDocument/2006/relationships/slide" Target="slides/slide100.xml"/><Relationship Id="rId123" Type="http://schemas.openxmlformats.org/officeDocument/2006/relationships/slide" Target="slides/slide121.xml"/><Relationship Id="rId144"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885CB01-6679-D646-ACB3-8B04B786C15F}" type="datetimeFigureOut">
              <a:rPr lang="en-US" smtClean="0"/>
              <a:t>12/14/2021</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82AC0F4D-8A6F-1C4A-B6BF-1558431E4F79}" type="slidenum">
              <a:rPr lang="en-US" smtClean="0"/>
              <a:t>‹#›</a:t>
            </a:fld>
            <a:endParaRPr lang="en-US"/>
          </a:p>
        </p:txBody>
      </p:sp>
    </p:spTree>
    <p:extLst>
      <p:ext uri="{BB962C8B-B14F-4D97-AF65-F5344CB8AC3E}">
        <p14:creationId xmlns:p14="http://schemas.microsoft.com/office/powerpoint/2010/main" val="35540630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Shape 3"/>
          <p:cNvSpPr txBox="1">
            <a:spLocks noGrp="1"/>
          </p:cNvSpPr>
          <p:nvPr>
            <p:ph type="hdr" idx="2"/>
          </p:nvPr>
        </p:nvSpPr>
        <p:spPr>
          <a:xfrm>
            <a:off x="0" y="0"/>
            <a:ext cx="2971799" cy="4572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 name="Shape 4"/>
          <p:cNvSpPr txBox="1">
            <a:spLocks noGrp="1"/>
          </p:cNvSpPr>
          <p:nvPr>
            <p:ph type="dt" idx="10"/>
          </p:nvPr>
        </p:nvSpPr>
        <p:spPr>
          <a:xfrm>
            <a:off x="3884612" y="0"/>
            <a:ext cx="2971799" cy="457200"/>
          </a:xfrm>
          <a:prstGeom prst="rect">
            <a:avLst/>
          </a:prstGeom>
          <a:noFill/>
          <a:ln>
            <a:noFill/>
          </a:ln>
        </p:spPr>
        <p:txBody>
          <a:bodyPr lIns="91425" tIns="91425" rIns="91425" bIns="91425" anchor="t" anchorCtr="0"/>
          <a:lstStyle>
            <a:lvl1pPr marL="0" marR="0" lvl="0" indent="0" algn="r"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5" name="Shape 5"/>
          <p:cNvSpPr>
            <a:spLocks noGrp="1" noRot="1" noChangeAspect="1"/>
          </p:cNvSpPr>
          <p:nvPr>
            <p:ph type="sldImg" idx="3"/>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6" name="Shape 6"/>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200" b="0" i="0" u="none" strike="noStrike" cap="none">
                <a:solidFill>
                  <a:schemeClr val="dk1"/>
                </a:solidFill>
                <a:latin typeface="Arial"/>
                <a:ea typeface="Arial"/>
                <a:cs typeface="Arial"/>
                <a:sym typeface="Arial"/>
              </a:defRPr>
            </a:lvl2pPr>
            <a:lvl3pPr marL="914400" marR="0" lvl="2" indent="0" algn="l" rtl="0">
              <a:spcBef>
                <a:spcPts val="0"/>
              </a:spcBef>
              <a:buNone/>
              <a:defRPr sz="1200" b="0" i="0" u="none" strike="noStrike" cap="none">
                <a:solidFill>
                  <a:schemeClr val="dk1"/>
                </a:solidFill>
                <a:latin typeface="Arial"/>
                <a:ea typeface="Arial"/>
                <a:cs typeface="Arial"/>
                <a:sym typeface="Arial"/>
              </a:defRPr>
            </a:lvl3pPr>
            <a:lvl4pPr marL="1371600" marR="0" lvl="3" indent="0" algn="l" rtl="0">
              <a:spcBef>
                <a:spcPts val="0"/>
              </a:spcBef>
              <a:buNone/>
              <a:defRPr sz="1200" b="0" i="0" u="none" strike="noStrike" cap="none">
                <a:solidFill>
                  <a:schemeClr val="dk1"/>
                </a:solidFill>
                <a:latin typeface="Arial"/>
                <a:ea typeface="Arial"/>
                <a:cs typeface="Arial"/>
                <a:sym typeface="Arial"/>
              </a:defRPr>
            </a:lvl4pPr>
            <a:lvl5pPr marL="1828800" marR="0" lvl="4" indent="0" algn="l" rtl="0">
              <a:spcBef>
                <a:spcPts val="0"/>
              </a:spcBef>
              <a:buNone/>
              <a:defRPr sz="1200" b="0" i="0" u="none" strike="noStrike" cap="none">
                <a:solidFill>
                  <a:schemeClr val="dk1"/>
                </a:solidFill>
                <a:latin typeface="Arial"/>
                <a:ea typeface="Arial"/>
                <a:cs typeface="Arial"/>
                <a:sym typeface="Arial"/>
              </a:defRPr>
            </a:lvl5pPr>
            <a:lvl6pPr marL="2286000" marR="0" lvl="5" indent="0" algn="l" rtl="0">
              <a:spcBef>
                <a:spcPts val="0"/>
              </a:spcBef>
              <a:buNone/>
              <a:defRPr sz="1200" b="0" i="0" u="none" strike="noStrike" cap="none">
                <a:solidFill>
                  <a:schemeClr val="dk1"/>
                </a:solidFill>
                <a:latin typeface="Arial"/>
                <a:ea typeface="Arial"/>
                <a:cs typeface="Arial"/>
                <a:sym typeface="Arial"/>
              </a:defRPr>
            </a:lvl6pPr>
            <a:lvl7pPr marL="2743200" marR="0" lvl="6" indent="0" algn="l" rtl="0">
              <a:spcBef>
                <a:spcPts val="0"/>
              </a:spcBef>
              <a:buNone/>
              <a:defRPr sz="1200" b="0" i="0" u="none" strike="noStrike" cap="none">
                <a:solidFill>
                  <a:schemeClr val="dk1"/>
                </a:solidFill>
                <a:latin typeface="Arial"/>
                <a:ea typeface="Arial"/>
                <a:cs typeface="Arial"/>
                <a:sym typeface="Arial"/>
              </a:defRPr>
            </a:lvl7pPr>
            <a:lvl8pPr marL="3200400" marR="0" lvl="7" indent="0" algn="l" rtl="0">
              <a:spcBef>
                <a:spcPts val="0"/>
              </a:spcBef>
              <a:buNone/>
              <a:defRPr sz="1200" b="0" i="0" u="none" strike="noStrike" cap="none">
                <a:solidFill>
                  <a:schemeClr val="dk1"/>
                </a:solidFill>
                <a:latin typeface="Arial"/>
                <a:ea typeface="Arial"/>
                <a:cs typeface="Arial"/>
                <a:sym typeface="Arial"/>
              </a:defRPr>
            </a:lvl8pPr>
            <a:lvl9pPr marL="3657600" marR="0" lvl="8" indent="0" algn="l" rtl="0">
              <a:spcBef>
                <a:spcPts val="0"/>
              </a:spcBef>
              <a:buNone/>
              <a:defRPr sz="1200" b="0" i="0" u="none" strike="noStrike" cap="none">
                <a:solidFill>
                  <a:schemeClr val="dk1"/>
                </a:solidFill>
                <a:latin typeface="Arial"/>
                <a:ea typeface="Arial"/>
                <a:cs typeface="Arial"/>
                <a:sym typeface="Arial"/>
              </a:defRPr>
            </a:lvl9pPr>
          </a:lstStyle>
          <a:p>
            <a:endParaRPr/>
          </a:p>
        </p:txBody>
      </p:sp>
      <p:sp>
        <p:nvSpPr>
          <p:cNvPr id="7" name="Shape 7"/>
          <p:cNvSpPr txBox="1">
            <a:spLocks noGrp="1"/>
          </p:cNvSpPr>
          <p:nvPr>
            <p:ph type="ftr" idx="11"/>
          </p:nvPr>
        </p:nvSpPr>
        <p:spPr>
          <a:xfrm>
            <a:off x="0" y="8685213"/>
            <a:ext cx="2971799" cy="457200"/>
          </a:xfrm>
          <a:prstGeom prst="rect">
            <a:avLst/>
          </a:prstGeom>
          <a:noFill/>
          <a:ln>
            <a:noFill/>
          </a:ln>
        </p:spPr>
        <p:txBody>
          <a:bodyPr lIns="91425" tIns="91425" rIns="91425" bIns="91425" anchor="b"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8" name="Shape 8"/>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457102709"/>
      </p:ext>
    </p:extLst>
  </p:cSld>
  <p:clrMap bg1="lt1" tx1="dk1" bg2="dk2" tx2="lt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cap="none" dirty="0">
                <a:solidFill>
                  <a:schemeClr val="dk1"/>
                </a:solidFill>
                <a:latin typeface="Arial"/>
                <a:ea typeface="Arial"/>
                <a:cs typeface="Arial"/>
                <a:sym typeface="Arial"/>
              </a:rPr>
              <a:t>If this PowerPoint presentation contains mathematical equations, you may need to check that your computer has the following installed:</a:t>
            </a:r>
          </a:p>
          <a:p>
            <a:r>
              <a:rPr lang="en-US" sz="1200" b="0" i="0" u="none" strike="noStrike" kern="1200" cap="none" dirty="0">
                <a:solidFill>
                  <a:schemeClr val="dk1"/>
                </a:solidFill>
                <a:latin typeface="Arial"/>
                <a:ea typeface="Arial"/>
                <a:cs typeface="Arial"/>
                <a:sym typeface="Arial"/>
              </a:rPr>
              <a:t>1) MathType Plugin</a:t>
            </a:r>
          </a:p>
          <a:p>
            <a:r>
              <a:rPr lang="en-US" sz="1200" b="0" i="0" u="none" strike="noStrike" kern="1200" cap="none" dirty="0">
                <a:solidFill>
                  <a:schemeClr val="dk1"/>
                </a:solidFill>
                <a:latin typeface="Arial"/>
                <a:ea typeface="Arial"/>
                <a:cs typeface="Arial"/>
                <a:sym typeface="Arial"/>
              </a:rPr>
              <a:t>2) Math Player (free versions available)</a:t>
            </a:r>
          </a:p>
          <a:p>
            <a:r>
              <a:rPr lang="en-US" sz="1200" b="0" i="0" u="none" strike="noStrike" kern="1200" cap="none" dirty="0">
                <a:solidFill>
                  <a:schemeClr val="dk1"/>
                </a:solidFill>
                <a:latin typeface="Arial"/>
                <a:ea typeface="Arial"/>
                <a:cs typeface="Arial"/>
                <a:sym typeface="Arial"/>
              </a:rPr>
              <a:t>3) NVDA Reader (free versions available)</a:t>
            </a:r>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4846016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2</a:t>
            </a:fld>
            <a:endParaRPr lang="en-US" sz="1200" b="0" i="0" u="none" strike="noStrike" cap="none">
              <a:solidFill>
                <a:schemeClr val="dk1"/>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3</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1797661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4</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1291151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5</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06110258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r>
              <a:rPr lang="en-US" sz="1200" b="0" i="0" u="none" strike="noStrike" kern="1200" cap="none" dirty="0">
                <a:solidFill>
                  <a:schemeClr val="dk1"/>
                </a:solidFill>
                <a:effectLst/>
                <a:latin typeface="Arial"/>
                <a:ea typeface="Arial"/>
                <a:cs typeface="Arial"/>
                <a:sym typeface="Arial"/>
              </a:rPr>
              <a:t>Long Description:</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The tube from the lower flask forms a “U” shaped trap and connects to the flask at the top with an inlet for cold water and an outlet for cold water. The top flask simulated atmosphere with H subscript 2, H subscript 2 O, and electrical discharge. There are two outlets for C H subscript 4 and N H subscript 3.</a:t>
            </a:r>
            <a:endParaRPr lang="en-IN" sz="1200" b="0" i="0" u="none" strike="noStrike" kern="1200" cap="none" dirty="0">
              <a:solidFill>
                <a:schemeClr val="dk1"/>
              </a:solidFill>
              <a:effectLst/>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6</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6088960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7</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42532568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8</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37219066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9</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5742400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10</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65181099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r>
              <a:rPr lang="en-US" sz="1200" b="0" i="0" u="none" strike="noStrike" kern="1200" cap="none" dirty="0">
                <a:solidFill>
                  <a:schemeClr val="dk1"/>
                </a:solidFill>
                <a:effectLst/>
                <a:latin typeface="Arial"/>
                <a:ea typeface="Arial"/>
                <a:cs typeface="Arial"/>
                <a:sym typeface="Arial"/>
              </a:rPr>
              <a:t>Long Description:</a:t>
            </a:r>
            <a:endParaRPr lang="en-IN" sz="1200" b="0" i="0" u="none" strike="noStrike" kern="1200" cap="none" dirty="0">
              <a:solidFill>
                <a:schemeClr val="dk1"/>
              </a:solidFill>
              <a:effectLst/>
              <a:latin typeface="Arial"/>
              <a:ea typeface="Arial"/>
              <a:cs typeface="Arial"/>
              <a:sym typeface="Arial"/>
            </a:endParaRPr>
          </a:p>
          <a:p>
            <a:r>
              <a:rPr lang="en-IN" sz="1200" b="0" i="0" u="none" strike="noStrike" kern="1200" cap="none" dirty="0">
                <a:solidFill>
                  <a:schemeClr val="dk1"/>
                </a:solidFill>
                <a:effectLst/>
                <a:latin typeface="Arial"/>
                <a:ea typeface="Arial"/>
                <a:cs typeface="Arial"/>
                <a:sym typeface="Arial"/>
              </a:rPr>
              <a:t>Image “a” of liposomes shows two smaller vesicles within a bigger one and another vesicle on the circumference of the bigger vesicle. A small vesicle is also found next to the bigger one. Both these vesicles along with liposome are enclosed by lipid bilayer. It shows a measurement of 20 </a:t>
            </a:r>
            <a:r>
              <a:rPr lang="en-IN" sz="1200" b="0" i="0" u="none" strike="noStrike" kern="1200" cap="none" dirty="0" err="1">
                <a:solidFill>
                  <a:schemeClr val="dk1"/>
                </a:solidFill>
                <a:effectLst/>
                <a:latin typeface="Arial"/>
                <a:ea typeface="Arial"/>
                <a:cs typeface="Arial"/>
                <a:sym typeface="Arial"/>
              </a:rPr>
              <a:t>micrometer</a:t>
            </a:r>
            <a:r>
              <a:rPr lang="en-IN" sz="1200" b="0" i="0" u="none" strike="noStrike" kern="1200" cap="none" dirty="0">
                <a:solidFill>
                  <a:schemeClr val="dk1"/>
                </a:solidFill>
                <a:effectLst/>
                <a:latin typeface="Arial"/>
                <a:ea typeface="Arial"/>
                <a:cs typeface="Arial"/>
                <a:sym typeface="Arial"/>
              </a:rPr>
              <a:t> at the left end. Image “b” shows a measurement of 1 </a:t>
            </a:r>
            <a:r>
              <a:rPr lang="en-IN" sz="1200" b="0" i="0" u="none" strike="noStrike" kern="1200" cap="none" dirty="0" err="1">
                <a:solidFill>
                  <a:schemeClr val="dk1"/>
                </a:solidFill>
                <a:effectLst/>
                <a:latin typeface="Arial"/>
                <a:ea typeface="Arial"/>
                <a:cs typeface="Arial"/>
                <a:sym typeface="Arial"/>
              </a:rPr>
              <a:t>micrometer</a:t>
            </a:r>
            <a:r>
              <a:rPr lang="en-IN" sz="1200" b="0" i="0" u="none" strike="noStrike" kern="1200" cap="none" dirty="0">
                <a:solidFill>
                  <a:schemeClr val="dk1"/>
                </a:solidFill>
                <a:effectLst/>
                <a:latin typeface="Arial"/>
                <a:ea typeface="Arial"/>
                <a:cs typeface="Arial"/>
                <a:sym typeface="Arial"/>
              </a:rPr>
              <a:t> at the left end and shows liposomes enclosed in a circular body. The R N A is shown in yellow coloured round shaped bodies inside liposomes.</a:t>
            </a: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421386063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12</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16245023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13</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06090018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14</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21692679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15</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62923332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r>
              <a:rPr lang="en-US" sz="1200" b="0" i="0" u="none" strike="noStrike" kern="1200" cap="none" dirty="0">
                <a:solidFill>
                  <a:schemeClr val="dk1"/>
                </a:solidFill>
                <a:effectLst/>
                <a:latin typeface="Arial"/>
                <a:ea typeface="Arial"/>
                <a:cs typeface="Arial"/>
                <a:sym typeface="Arial"/>
              </a:rPr>
              <a:t>Long Description:</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The composition of each domain is as below:</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Bacteria: The components are green </a:t>
            </a:r>
            <a:r>
              <a:rPr lang="en-US" sz="1200" b="0" i="0" u="none" strike="noStrike" kern="1200" cap="none" dirty="0" err="1">
                <a:solidFill>
                  <a:schemeClr val="dk1"/>
                </a:solidFill>
                <a:effectLst/>
                <a:latin typeface="Arial"/>
                <a:ea typeface="Arial"/>
                <a:cs typeface="Arial"/>
                <a:sym typeface="Arial"/>
              </a:rPr>
              <a:t>nonsulfur</a:t>
            </a:r>
            <a:r>
              <a:rPr lang="en-US" sz="1200" b="0" i="0" u="none" strike="noStrike" kern="1200" cap="none" dirty="0">
                <a:solidFill>
                  <a:schemeClr val="dk1"/>
                </a:solidFill>
                <a:effectLst/>
                <a:latin typeface="Arial"/>
                <a:ea typeface="Arial"/>
                <a:cs typeface="Arial"/>
                <a:sym typeface="Arial"/>
              </a:rPr>
              <a:t> bacteria with mitochondria, spirochetes, chlamydia, green sulfur bacteria, and cyanobacteria with plastids, including chloroplasts.</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Eukarya: The main components are land plants, animals, and fungi. The other parts shown as branches are dinoflagellates, diatoms, ciliates, euglena, trypanosomes, </a:t>
            </a:r>
            <a:r>
              <a:rPr lang="en-US" sz="1200" b="0" i="0" u="none" strike="noStrike" kern="1200" cap="none" dirty="0" err="1">
                <a:solidFill>
                  <a:schemeClr val="dk1"/>
                </a:solidFill>
                <a:effectLst/>
                <a:latin typeface="Arial"/>
                <a:ea typeface="Arial"/>
                <a:cs typeface="Arial"/>
                <a:sym typeface="Arial"/>
              </a:rPr>
              <a:t>leishmania</a:t>
            </a:r>
            <a:r>
              <a:rPr lang="en-US" sz="1200" b="0" i="0" u="none" strike="noStrike" kern="1200" cap="none" dirty="0">
                <a:solidFill>
                  <a:schemeClr val="dk1"/>
                </a:solidFill>
                <a:effectLst/>
                <a:latin typeface="Arial"/>
                <a:ea typeface="Arial"/>
                <a:cs typeface="Arial"/>
                <a:sym typeface="Arial"/>
              </a:rPr>
              <a:t>, cellular slime molds, amoebae, green algae, red algae, and </a:t>
            </a:r>
            <a:r>
              <a:rPr lang="en-US" sz="1200" b="0" i="0" u="none" strike="noStrike" kern="1200" cap="none" dirty="0" err="1">
                <a:solidFill>
                  <a:schemeClr val="dk1"/>
                </a:solidFill>
                <a:effectLst/>
                <a:latin typeface="Arial"/>
                <a:ea typeface="Arial"/>
                <a:cs typeface="Arial"/>
                <a:sym typeface="Arial"/>
              </a:rPr>
              <a:t>forams</a:t>
            </a:r>
            <a:r>
              <a:rPr lang="en-US" sz="1200" b="0" i="0" u="none" strike="noStrike" kern="1200" cap="none" dirty="0">
                <a:solidFill>
                  <a:schemeClr val="dk1"/>
                </a:solidFill>
                <a:effectLst/>
                <a:latin typeface="Arial"/>
                <a:ea typeface="Arial"/>
                <a:cs typeface="Arial"/>
                <a:sym typeface="Arial"/>
              </a:rPr>
              <a:t>.</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Archaea: The components are </a:t>
            </a:r>
            <a:r>
              <a:rPr lang="en-US" sz="1200" b="0" i="0" u="none" strike="noStrike" kern="1200" cap="none" dirty="0" err="1">
                <a:solidFill>
                  <a:schemeClr val="dk1"/>
                </a:solidFill>
                <a:effectLst/>
                <a:latin typeface="Arial"/>
                <a:ea typeface="Arial"/>
                <a:cs typeface="Arial"/>
                <a:sym typeface="Arial"/>
              </a:rPr>
              <a:t>sulfolobus</a:t>
            </a:r>
            <a:r>
              <a:rPr lang="en-US" sz="1200" b="0" i="0" u="none" strike="noStrike" kern="1200" cap="none" dirty="0">
                <a:solidFill>
                  <a:schemeClr val="dk1"/>
                </a:solidFill>
                <a:effectLst/>
                <a:latin typeface="Arial"/>
                <a:ea typeface="Arial"/>
                <a:cs typeface="Arial"/>
                <a:sym typeface="Arial"/>
              </a:rPr>
              <a:t>, thermophiles, halophiles, and </a:t>
            </a:r>
            <a:r>
              <a:rPr lang="en-US" sz="1200" b="0" i="0" u="none" strike="noStrike" kern="1200" cap="none" dirty="0" err="1">
                <a:solidFill>
                  <a:schemeClr val="dk1"/>
                </a:solidFill>
                <a:effectLst/>
                <a:latin typeface="Arial"/>
                <a:ea typeface="Arial"/>
                <a:cs typeface="Arial"/>
                <a:sym typeface="Arial"/>
              </a:rPr>
              <a:t>methanobacterium</a:t>
            </a:r>
            <a:r>
              <a:rPr lang="en-US" sz="1200" b="0" i="0" u="none" strike="noStrike" kern="1200" cap="none" dirty="0">
                <a:solidFill>
                  <a:schemeClr val="dk1"/>
                </a:solidFill>
                <a:effectLst/>
                <a:latin typeface="Arial"/>
                <a:ea typeface="Arial"/>
                <a:cs typeface="Arial"/>
                <a:sym typeface="Arial"/>
              </a:rPr>
              <a:t>.</a:t>
            </a:r>
            <a:endParaRPr lang="en-IN" sz="1200" b="0" i="0" u="none" strike="noStrike" kern="1200" cap="none" dirty="0">
              <a:solidFill>
                <a:schemeClr val="dk1"/>
              </a:solidFill>
              <a:effectLst/>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16</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45352236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17</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91286041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18</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7519388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19</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33614242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20</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54940198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21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57784507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endParaRPr lang="en-IN" sz="1200" b="0" i="0" u="none" strike="noStrike" kern="1200" cap="none" dirty="0">
              <a:solidFill>
                <a:schemeClr val="dk1"/>
              </a:solidFill>
              <a:effectLst/>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22</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91896832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23</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91750034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24</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76988510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25</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3135184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26</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32499484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27</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01796132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r>
              <a:rPr lang="en-US" sz="1200" b="0" i="0" u="none" strike="noStrike" kern="1200" cap="none" dirty="0">
                <a:solidFill>
                  <a:schemeClr val="dk1"/>
                </a:solidFill>
                <a:effectLst/>
                <a:latin typeface="Arial"/>
                <a:ea typeface="Arial"/>
                <a:cs typeface="Arial"/>
                <a:sym typeface="Arial"/>
              </a:rPr>
              <a:t>Long Description:</a:t>
            </a:r>
            <a:endParaRPr lang="en-IN" sz="1200" b="0" i="0" u="none" strike="noStrike" kern="1200" cap="none" dirty="0">
              <a:solidFill>
                <a:schemeClr val="dk1"/>
              </a:solidFill>
              <a:effectLst/>
              <a:latin typeface="Arial"/>
              <a:ea typeface="Arial"/>
              <a:cs typeface="Arial"/>
              <a:sym typeface="Arial"/>
            </a:endParaRPr>
          </a:p>
          <a:p>
            <a:pPr>
              <a:lnSpc>
                <a:spcPct val="107000"/>
              </a:lnSpc>
              <a:spcBef>
                <a:spcPts val="1500"/>
              </a:spcBef>
              <a:spcAft>
                <a:spcPts val="800"/>
              </a:spcAft>
            </a:pP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The first cube with the greatest surface area comprises of multiple smaller cubes, each of side 2 </a:t>
            </a:r>
            <a:r>
              <a:rPr lang="en-IN" sz="1800" dirty="0" err="1">
                <a:effectLst/>
                <a:latin typeface="Times New Roman" panose="02020603050405020304" pitchFamily="18" charset="0"/>
                <a:ea typeface="Times New Roman" panose="02020603050405020304" pitchFamily="18" charset="0"/>
                <a:cs typeface="Times New Roman" panose="02020603050405020304" pitchFamily="18" charset="0"/>
              </a:rPr>
              <a:t>micrometers</a:t>
            </a: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 The second is made of many cubes of side 10 </a:t>
            </a:r>
            <a:r>
              <a:rPr lang="en-IN" sz="1800" dirty="0" err="1">
                <a:effectLst/>
                <a:latin typeface="Times New Roman" panose="02020603050405020304" pitchFamily="18" charset="0"/>
                <a:ea typeface="Times New Roman" panose="02020603050405020304" pitchFamily="18" charset="0"/>
                <a:cs typeface="Times New Roman" panose="02020603050405020304" pitchFamily="18" charset="0"/>
              </a:rPr>
              <a:t>micrometers</a:t>
            </a: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 The third with the least surface area is a single cube of side 20 </a:t>
            </a:r>
            <a:r>
              <a:rPr lang="en-IN" sz="1800" dirty="0" err="1">
                <a:effectLst/>
                <a:latin typeface="Times New Roman" panose="02020603050405020304" pitchFamily="18" charset="0"/>
                <a:ea typeface="Times New Roman" panose="02020603050405020304" pitchFamily="18" charset="0"/>
                <a:cs typeface="Times New Roman" panose="02020603050405020304" pitchFamily="18" charset="0"/>
              </a:rPr>
              <a:t>micrometers</a:t>
            </a: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Bef>
                <a:spcPts val="1500"/>
              </a:spcBef>
              <a:spcAft>
                <a:spcPts val="800"/>
              </a:spcAft>
            </a:pP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The properties in the order of cubes with 2 </a:t>
            </a:r>
            <a:r>
              <a:rPr lang="en-IN" sz="1800" dirty="0" err="1">
                <a:effectLst/>
                <a:latin typeface="Times New Roman" panose="02020603050405020304" pitchFamily="18" charset="0"/>
                <a:ea typeface="Times New Roman" panose="02020603050405020304" pitchFamily="18" charset="0"/>
                <a:cs typeface="Times New Roman" panose="02020603050405020304" pitchFamily="18" charset="0"/>
              </a:rPr>
              <a:t>micrometer</a:t>
            </a: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 10 </a:t>
            </a:r>
            <a:r>
              <a:rPr lang="en-IN" sz="1800" dirty="0" err="1">
                <a:effectLst/>
                <a:latin typeface="Times New Roman" panose="02020603050405020304" pitchFamily="18" charset="0"/>
                <a:ea typeface="Times New Roman" panose="02020603050405020304" pitchFamily="18" charset="0"/>
                <a:cs typeface="Times New Roman" panose="02020603050405020304" pitchFamily="18" charset="0"/>
              </a:rPr>
              <a:t>micrometers</a:t>
            </a: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 and 20 </a:t>
            </a:r>
            <a:r>
              <a:rPr lang="en-IN" sz="1800" dirty="0" err="1">
                <a:effectLst/>
                <a:latin typeface="Times New Roman" panose="02020603050405020304" pitchFamily="18" charset="0"/>
                <a:ea typeface="Times New Roman" panose="02020603050405020304" pitchFamily="18" charset="0"/>
                <a:cs typeface="Times New Roman" panose="02020603050405020304" pitchFamily="18" charset="0"/>
              </a:rPr>
              <a:t>micrometers</a:t>
            </a: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 are as below:</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spcBef>
                <a:spcPts val="1500"/>
              </a:spcBef>
              <a:buFont typeface="Symbol" panose="05050102010706020507" pitchFamily="18" charset="2"/>
              <a:buChar char=""/>
            </a:pPr>
            <a:r>
              <a:rPr lang="en-US" sz="1800" dirty="0">
                <a:effectLst/>
                <a:latin typeface="Times New Roman" panose="02020603050405020304" pitchFamily="18" charset="0"/>
                <a:ea typeface="Times New Roman" panose="02020603050405020304" pitchFamily="18" charset="0"/>
              </a:rPr>
              <a:t>Number of cells: 1000, 8, and 1</a:t>
            </a:r>
            <a:endParaRPr lang="en-IN" sz="1800" dirty="0">
              <a:effectLst/>
              <a:latin typeface="Calibri" panose="020F0502020204030204" pitchFamily="34" charset="0"/>
              <a:ea typeface="Calibri" panose="020F0502020204030204" pitchFamily="34" charset="0"/>
            </a:endParaRPr>
          </a:p>
          <a:p>
            <a:pPr marL="342900" lvl="0" indent="-342900">
              <a:lnSpc>
                <a:spcPct val="115000"/>
              </a:lnSpc>
              <a:spcBef>
                <a:spcPts val="1500"/>
              </a:spcBef>
              <a:buFont typeface="Symbol" panose="05050102010706020507" pitchFamily="18" charset="2"/>
              <a:buChar char=""/>
            </a:pPr>
            <a:r>
              <a:rPr lang="en-US" sz="1800" dirty="0">
                <a:effectLst/>
                <a:latin typeface="Times New Roman" panose="02020603050405020304" pitchFamily="18" charset="0"/>
                <a:ea typeface="Times New Roman" panose="02020603050405020304" pitchFamily="18" charset="0"/>
              </a:rPr>
              <a:t>Length of one side: 2 micrometer, 10 micrometer, and 20 micrometer</a:t>
            </a:r>
            <a:endParaRPr lang="en-IN" sz="1800" dirty="0">
              <a:effectLst/>
              <a:latin typeface="Calibri" panose="020F0502020204030204" pitchFamily="34" charset="0"/>
              <a:ea typeface="Calibri" panose="020F0502020204030204" pitchFamily="34" charset="0"/>
            </a:endParaRPr>
          </a:p>
          <a:p>
            <a:pPr marL="342900" lvl="0" indent="-342900">
              <a:lnSpc>
                <a:spcPct val="115000"/>
              </a:lnSpc>
              <a:spcBef>
                <a:spcPts val="1500"/>
              </a:spcBef>
              <a:buFont typeface="Symbol" panose="05050102010706020507" pitchFamily="18" charset="2"/>
              <a:buChar char=""/>
            </a:pPr>
            <a:r>
              <a:rPr lang="en-US" sz="1800" dirty="0">
                <a:effectLst/>
                <a:latin typeface="Times New Roman" panose="02020603050405020304" pitchFamily="18" charset="0"/>
                <a:ea typeface="Times New Roman" panose="02020603050405020304" pitchFamily="18" charset="0"/>
              </a:rPr>
              <a:t>Total volume: 8000 micrometer cubed, 8000 micrometer cubed, and 8000 micrometer cubed</a:t>
            </a:r>
            <a:endParaRPr lang="en-IN" sz="1800" dirty="0">
              <a:effectLst/>
              <a:latin typeface="Calibri" panose="020F0502020204030204" pitchFamily="34" charset="0"/>
              <a:ea typeface="Calibri" panose="020F0502020204030204" pitchFamily="34" charset="0"/>
            </a:endParaRPr>
          </a:p>
          <a:p>
            <a:pPr marL="342900" lvl="0" indent="-342900">
              <a:lnSpc>
                <a:spcPct val="115000"/>
              </a:lnSpc>
              <a:spcBef>
                <a:spcPts val="1500"/>
              </a:spcBef>
              <a:buFont typeface="Symbol" panose="05050102010706020507" pitchFamily="18" charset="2"/>
              <a:buChar char=""/>
            </a:pPr>
            <a:r>
              <a:rPr lang="en-US" sz="1800" dirty="0">
                <a:effectLst/>
                <a:latin typeface="Times New Roman" panose="02020603050405020304" pitchFamily="18" charset="0"/>
                <a:ea typeface="Times New Roman" panose="02020603050405020304" pitchFamily="18" charset="0"/>
              </a:rPr>
              <a:t>Total surface area: 24,000 micrometer square, 4800 micrometer square, and 2400 micrometer square.</a:t>
            </a:r>
            <a:endParaRPr lang="en-IN" sz="1800" dirty="0">
              <a:effectLst/>
              <a:latin typeface="Calibri" panose="020F0502020204030204" pitchFamily="34" charset="0"/>
              <a:ea typeface="Calibri" panose="020F0502020204030204" pitchFamily="34" charset="0"/>
            </a:endParaRPr>
          </a:p>
          <a:p>
            <a:pPr marL="342900" lvl="0" indent="-342900">
              <a:lnSpc>
                <a:spcPct val="115000"/>
              </a:lnSpc>
              <a:spcBef>
                <a:spcPts val="1500"/>
              </a:spcBef>
              <a:spcAft>
                <a:spcPts val="1000"/>
              </a:spcAft>
              <a:buFont typeface="Symbol" panose="05050102010706020507" pitchFamily="18" charset="2"/>
              <a:buChar char=""/>
            </a:pPr>
            <a:r>
              <a:rPr lang="en-US" sz="1800">
                <a:effectLst/>
                <a:latin typeface="Times New Roman" panose="02020603050405020304" pitchFamily="18" charset="0"/>
                <a:ea typeface="Times New Roman" panose="02020603050405020304" pitchFamily="18" charset="0"/>
              </a:rPr>
              <a:t>Surface area to volume ratio: 3.0, 0.6, and 0.3</a:t>
            </a:r>
            <a:endParaRPr lang="en-IN" sz="1800">
              <a:effectLst/>
              <a:latin typeface="Calibri" panose="020F0502020204030204" pitchFamily="34" charset="0"/>
              <a:ea typeface="Calibri" panose="020F0502020204030204" pitchFamily="34" charset="0"/>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28</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6251934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29</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46588960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r>
              <a:rPr lang="en-US" sz="1200" b="0" i="0" u="none" strike="noStrike" kern="1200" cap="none" dirty="0">
                <a:solidFill>
                  <a:schemeClr val="dk1"/>
                </a:solidFill>
                <a:effectLst/>
                <a:latin typeface="Arial"/>
                <a:ea typeface="Arial"/>
                <a:cs typeface="Arial"/>
                <a:sym typeface="Arial"/>
              </a:rPr>
              <a:t>Long Description:</a:t>
            </a:r>
            <a:endParaRPr lang="en-IN" sz="1200" b="0" i="0" u="none" strike="noStrike" kern="1200" cap="none" dirty="0">
              <a:solidFill>
                <a:schemeClr val="dk1"/>
              </a:solidFill>
              <a:effectLst/>
              <a:latin typeface="Arial"/>
              <a:ea typeface="Arial"/>
              <a:cs typeface="Arial"/>
              <a:sym typeface="Arial"/>
            </a:endParaRPr>
          </a:p>
          <a:p>
            <a:r>
              <a:rPr lang="en-IN" sz="1200" b="0" i="0" u="none" strike="noStrike" kern="1200" cap="none" dirty="0">
                <a:solidFill>
                  <a:schemeClr val="dk1"/>
                </a:solidFill>
                <a:effectLst/>
                <a:latin typeface="Arial"/>
                <a:ea typeface="Arial"/>
                <a:cs typeface="Arial"/>
                <a:sym typeface="Arial"/>
              </a:rPr>
              <a:t>The measurement shows 5 </a:t>
            </a:r>
            <a:r>
              <a:rPr lang="en-IN" sz="1200" b="0" i="0" u="none" strike="noStrike" kern="1200" cap="none" dirty="0" err="1">
                <a:solidFill>
                  <a:schemeClr val="dk1"/>
                </a:solidFill>
                <a:effectLst/>
                <a:latin typeface="Arial"/>
                <a:ea typeface="Arial"/>
                <a:cs typeface="Arial"/>
                <a:sym typeface="Arial"/>
              </a:rPr>
              <a:t>micrometer</a:t>
            </a:r>
            <a:r>
              <a:rPr lang="en-IN" sz="1200" b="0" i="0" u="none" strike="noStrike" kern="1200" cap="none" dirty="0">
                <a:solidFill>
                  <a:schemeClr val="dk1"/>
                </a:solidFill>
                <a:effectLst/>
                <a:latin typeface="Arial"/>
                <a:ea typeface="Arial"/>
                <a:cs typeface="Arial"/>
                <a:sym typeface="Arial"/>
              </a:rPr>
              <a:t> at the right bottom corner.</a:t>
            </a:r>
          </a:p>
          <a:p>
            <a:endParaRPr lang="en-IN" sz="1200" b="0" i="0" u="none" strike="noStrike" kern="1200" cap="none" dirty="0">
              <a:solidFill>
                <a:schemeClr val="dk1"/>
              </a:solidFill>
              <a:effectLst/>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30</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68052950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31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29956911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32</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47506585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33</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87318418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34</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38805581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35</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45768837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36</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99835119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37</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88466539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r>
              <a:rPr lang="en-US" sz="1200" b="0" i="0" u="none" strike="noStrike" kern="1200" cap="none" dirty="0">
                <a:solidFill>
                  <a:schemeClr val="dk1"/>
                </a:solidFill>
                <a:effectLst/>
                <a:latin typeface="Arial"/>
                <a:ea typeface="Arial"/>
                <a:cs typeface="Arial"/>
                <a:sym typeface="Arial"/>
              </a:rPr>
              <a:t>Long Description:</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Image “a” shows the following parts of a rod shaped bacterial cell: cell wall, internal cytosol, a network of nucleoid, multiple ribosomes, plasma membrane, and flagella from the outer cell wall. The electron micrograph shows ribosomes, nucleoid, inner membrane, peptidoglycan layer, and an outer membrane of a rod shaped bacterium and the measurement is of 1 micrometer.</a:t>
            </a:r>
            <a:endParaRPr lang="en-IN" sz="1200" b="0" i="0" u="none" strike="noStrike" kern="1200" cap="none" dirty="0">
              <a:solidFill>
                <a:schemeClr val="dk1"/>
              </a:solidFill>
              <a:effectLst/>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38</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86789339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39</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408575814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40</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8815474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r>
              <a:rPr lang="en-US" sz="1200" b="0" i="0" u="none" strike="noStrike" kern="1200" cap="none" dirty="0">
                <a:solidFill>
                  <a:schemeClr val="dk1"/>
                </a:solidFill>
                <a:effectLst/>
                <a:latin typeface="Arial"/>
                <a:ea typeface="Arial"/>
                <a:cs typeface="Arial"/>
                <a:sym typeface="Arial"/>
              </a:rPr>
              <a:t>Long Description:</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The parts of an animal cell are lysosome, peroxisome, mitochondrion, nucleus, ribosome, rough endoplasmic reticulum, smooth endoplasmic reticulum, Golgi apparatus, centrosome, microtubule, and actin filaments. The nucleus comprises of an inner nucleolus and an outer nuclear envelope.</a:t>
            </a:r>
            <a:endParaRPr lang="en-IN" sz="1200" b="0" i="0" u="none" strike="noStrike" kern="1200" cap="none" dirty="0">
              <a:solidFill>
                <a:schemeClr val="dk1"/>
              </a:solidFill>
              <a:effectLst/>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41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69596011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r>
              <a:rPr lang="en-US" sz="1200" b="0" i="0" u="none" strike="noStrike" kern="1200" cap="none" dirty="0">
                <a:solidFill>
                  <a:schemeClr val="dk1"/>
                </a:solidFill>
                <a:effectLst/>
                <a:latin typeface="Arial"/>
                <a:ea typeface="Arial"/>
                <a:cs typeface="Arial"/>
                <a:sym typeface="Arial"/>
              </a:rPr>
              <a:t>Long Description:</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The different parts that are labeled are a large part of vacuole, chloroplast, granum or stack of thylakoids, mitochondrion, peroxisome, Golgi apparatus, smooth endoplasmic reticulum, rough endoplasmic reticulum, nucleus, and ribosome. The nucleus comprises of nucleolus and nuclear envelope.</a:t>
            </a:r>
            <a:endParaRPr lang="en-IN" sz="1200" b="0" i="0" u="none" strike="noStrike" kern="1200" cap="none" dirty="0">
              <a:solidFill>
                <a:schemeClr val="dk1"/>
              </a:solidFill>
              <a:effectLst/>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42</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94477353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43</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70688008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endParaRPr lang="en-IN" sz="1200" b="0" i="0" u="none" strike="noStrike" kern="1200" cap="none" dirty="0">
              <a:solidFill>
                <a:schemeClr val="dk1"/>
              </a:solidFill>
              <a:effectLst/>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44</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56190214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45</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69599949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46</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1876321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r>
              <a:rPr lang="en-US" sz="1200" b="0" i="0" u="none" strike="noStrike" kern="1200" cap="none" dirty="0">
                <a:solidFill>
                  <a:schemeClr val="dk1"/>
                </a:solidFill>
                <a:effectLst/>
                <a:latin typeface="Arial"/>
                <a:ea typeface="Arial"/>
                <a:cs typeface="Arial"/>
                <a:sym typeface="Arial"/>
              </a:rPr>
              <a:t>Long Description:</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The measurement at the bottom left corner reads 2 micrometer.</a:t>
            </a:r>
            <a:endParaRPr lang="en-IN" sz="1200" b="0" i="0" u="none" strike="noStrike" kern="1200" cap="none" dirty="0">
              <a:solidFill>
                <a:schemeClr val="dk1"/>
              </a:solidFill>
              <a:effectLst/>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47</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3631879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48</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8345508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49</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8801367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50</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758949825"/>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51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220152426"/>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52</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4145492569"/>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53</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962747163"/>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r>
              <a:rPr lang="en-US" sz="1200" b="0" i="0" u="none" strike="noStrike" kern="1200" cap="none" dirty="0">
                <a:solidFill>
                  <a:schemeClr val="dk1"/>
                </a:solidFill>
                <a:effectLst/>
                <a:latin typeface="Arial"/>
                <a:ea typeface="Arial"/>
                <a:cs typeface="Arial"/>
                <a:sym typeface="Arial"/>
              </a:rPr>
              <a:t>Long Description:</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The details are as below:</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lphaLcPeriod"/>
            </a:pPr>
            <a:r>
              <a:rPr lang="en-US" sz="1200" b="0" i="0" u="none" strike="noStrike" kern="1200" cap="none" dirty="0">
                <a:solidFill>
                  <a:schemeClr val="dk1"/>
                </a:solidFill>
                <a:effectLst/>
                <a:latin typeface="Arial"/>
                <a:ea typeface="Arial"/>
                <a:cs typeface="Arial"/>
                <a:sym typeface="Arial"/>
              </a:rPr>
              <a:t>Cutaway view of a cell: A cell. A cutaway view of an animal cell, showing the orientation of the piece of membrane shown in the next image, a close-up view. The cell is surrounded by a plasma membrane.</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lphaLcPeriod"/>
            </a:pPr>
            <a:r>
              <a:rPr lang="en-US" sz="1200" b="0" i="0" u="none" strike="noStrike" kern="1200" cap="none" dirty="0">
                <a:solidFill>
                  <a:schemeClr val="dk1"/>
                </a:solidFill>
                <a:effectLst/>
                <a:latin typeface="Arial"/>
                <a:ea typeface="Arial"/>
                <a:cs typeface="Arial"/>
                <a:sym typeface="Arial"/>
              </a:rPr>
              <a:t>Close-up view of a section of plasma membrane: Plasma membrane with membrane proteins. The plasma membrane consists of a lipid bilayer with membrane proteins suspended in it. Their hydrophobic regions are associated with the interior of the bilayer and their hydrophilic regions protrude from the membrane on one or both sides of the bilayer. The parts labeled are: a lipid bilayer, carbohydrate side chains on the top of the lipid bilayer, and hydrophilic regions passing through the lipid bilayer.</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lphaLcPeriod"/>
            </a:pPr>
            <a:r>
              <a:rPr lang="en-US" sz="1200" b="0" i="0" u="none" strike="noStrike" kern="1200" cap="none" dirty="0">
                <a:solidFill>
                  <a:schemeClr val="dk1"/>
                </a:solidFill>
                <a:effectLst/>
                <a:latin typeface="Arial"/>
                <a:ea typeface="Arial"/>
                <a:cs typeface="Arial"/>
                <a:sym typeface="Arial"/>
              </a:rPr>
              <a:t>Membrane section view: Lipid bilayer with a glycoprotein. Most membrane proteins have at least one hydrophobic membrane-spanning domain. Proteins in the plasma membrane are typically glycoproteins with short carbohydrate side chains attached to the protein on the external side of the membrane. The parts labeled on the outside of the cell are carbohydrate side chains and N H subscript 3 at one end of the hydrophobic region. The other end that passes through the lipid bilayer shows C double bond O and single bond O negative.</a:t>
            </a:r>
            <a:endParaRPr lang="en-IN" sz="1200" b="0" i="0" u="none" strike="noStrike" kern="1200" cap="none" dirty="0">
              <a:solidFill>
                <a:schemeClr val="dk1"/>
              </a:solidFill>
              <a:effectLst/>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54</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970766429"/>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55</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381673190"/>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56</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134580946"/>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57</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549155839"/>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r>
              <a:rPr lang="en-US" sz="1200" b="0" i="0" u="none" strike="noStrike" kern="1200" cap="none" dirty="0">
                <a:solidFill>
                  <a:schemeClr val="dk1"/>
                </a:solidFill>
                <a:effectLst/>
                <a:latin typeface="Arial"/>
                <a:ea typeface="Arial"/>
                <a:cs typeface="Arial"/>
                <a:sym typeface="Arial"/>
              </a:rPr>
              <a:t>Long Description:</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The details are as below:</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A cell: It shows a nucleus surrounded by a nuclear envelope at the center.</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Nucleus of a rat liver and nucleus of the embryo of a fruit fly: Both the nuclei show the following parts in common: nucleus, nuclear envelope, and nuclear pores. The animal nucleus additionally shows chromatin and a central nucleolus surrounded by nucleoplasm. The animal nucleus shows a measurement of 1 micrometer at the left bottom corner and the plant nucleus shows 2.5 micro meter.</a:t>
            </a:r>
            <a:endParaRPr lang="en-IN" sz="1200" b="0" i="0" u="none" strike="noStrike" kern="1200" cap="none" dirty="0">
              <a:solidFill>
                <a:schemeClr val="dk1"/>
              </a:solidFill>
              <a:effectLst/>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58</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603564213"/>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59</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28789985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60</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05214082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61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907463752"/>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62</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972240035"/>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r>
              <a:rPr lang="en-US" sz="1200" b="0" i="0" u="none" strike="noStrike" kern="1200" cap="none" dirty="0">
                <a:solidFill>
                  <a:schemeClr val="dk1"/>
                </a:solidFill>
                <a:effectLst/>
                <a:latin typeface="Arial"/>
                <a:ea typeface="Arial"/>
                <a:cs typeface="Arial"/>
                <a:sym typeface="Arial"/>
              </a:rPr>
              <a:t>Long Description:</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The details are as below:</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Cutaway view: The cutaway view of a cell shows multiple mitochondria surrounding the nucleus, suspended in the cytoplasm.</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Schematic illustration: It shows an outer membrane, an inner membrane, matrix, cristae, and an intermembrane space. </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Mitochondrion in pancreas cell: The electron microscopic view shows an outer membrane, an inner membrane, matrix, cristae, and an intermembrane space. The measurement at the left bottom corner reads 0.25 micrometer.</a:t>
            </a:r>
            <a:endParaRPr lang="en-IN" sz="1200" b="0" i="0" u="none" strike="noStrike" kern="1200" cap="none" dirty="0">
              <a:solidFill>
                <a:schemeClr val="dk1"/>
              </a:solidFill>
              <a:effectLst/>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63</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728765597"/>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64</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197304645"/>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65</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2512347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r>
              <a:rPr lang="en-US" sz="1200" b="0" i="0" u="none" strike="noStrike" kern="1200" cap="none" dirty="0">
                <a:solidFill>
                  <a:schemeClr val="dk1"/>
                </a:solidFill>
                <a:effectLst/>
                <a:latin typeface="Arial"/>
                <a:ea typeface="Arial"/>
                <a:cs typeface="Arial"/>
                <a:sym typeface="Arial"/>
              </a:rPr>
              <a:t>Long Description:</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The details are as below:</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Cutaway view: The cutaway view of a cell shows the orientation of the chloroplast highlighted in green.</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The electron microscopic view of chloroplast shows the grana which is the stack of thylakoids in rows and are joined by the stroma thylakoids. Stroma is found between the granum. The inner and the outer membranes are labeled. The measurements at the bottom right corner is 1 micrometer.</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Schematic illustration: It shows an outer membrane, an inner membrane, the intermembrane space, the stroma, granum which is the stack of thylakoids, a thylakoid and the stroma thylakoids connecting the granum. </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A cutaway view of the chloroplast grana shows two granum which is the stack of thylakoids connected by stroma thylakoid.</a:t>
            </a:r>
            <a:endParaRPr lang="en-IN" sz="1200" b="0" i="0" u="none" strike="noStrike" kern="1200" cap="none" dirty="0">
              <a:solidFill>
                <a:schemeClr val="dk1"/>
              </a:solidFill>
              <a:effectLst/>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66</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145751852"/>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67</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15506664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68</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719002427"/>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69</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860662160"/>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70</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755642813"/>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71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374212693"/>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72</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4201167390"/>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73</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302772564"/>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74</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419220472"/>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75</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790860227"/>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76</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594079305"/>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r>
              <a:rPr lang="en-US" sz="1200" b="0" i="0" u="none" strike="noStrike" kern="1200" cap="none" dirty="0">
                <a:solidFill>
                  <a:schemeClr val="dk1"/>
                </a:solidFill>
                <a:effectLst/>
                <a:latin typeface="Arial"/>
                <a:ea typeface="Arial"/>
                <a:cs typeface="Arial"/>
                <a:sym typeface="Arial"/>
              </a:rPr>
              <a:t>Long Description:</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Outside-in theory: The process involves the following steps.</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lphaLcPeriod"/>
            </a:pPr>
            <a:r>
              <a:rPr lang="en-US" sz="1200" b="0" i="0" u="none" strike="noStrike" kern="1200" cap="none" dirty="0" err="1">
                <a:solidFill>
                  <a:schemeClr val="dk1"/>
                </a:solidFill>
                <a:effectLst/>
                <a:latin typeface="Arial"/>
                <a:ea typeface="Arial"/>
                <a:cs typeface="Arial"/>
                <a:sym typeface="Arial"/>
              </a:rPr>
              <a:t>Protoeukaryote</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lphaLcPeriod"/>
            </a:pPr>
            <a:r>
              <a:rPr lang="en-US" sz="1200" b="0" i="0" u="none" strike="noStrike" kern="1200" cap="none" dirty="0" err="1">
                <a:solidFill>
                  <a:schemeClr val="dk1"/>
                </a:solidFill>
                <a:effectLst/>
                <a:latin typeface="Arial"/>
                <a:ea typeface="Arial"/>
                <a:cs typeface="Arial"/>
                <a:sym typeface="Arial"/>
              </a:rPr>
              <a:t>Inpocketings</a:t>
            </a:r>
            <a:r>
              <a:rPr lang="en-US" sz="1200" b="0" i="0" u="none" strike="noStrike" kern="1200" cap="none" dirty="0">
                <a:solidFill>
                  <a:schemeClr val="dk1"/>
                </a:solidFill>
                <a:effectLst/>
                <a:latin typeface="Arial"/>
                <a:ea typeface="Arial"/>
                <a:cs typeface="Arial"/>
                <a:sym typeface="Arial"/>
              </a:rPr>
              <a:t> of plasma membrane become nuclear envelope and endomembrane system. </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lphaLcPeriod"/>
            </a:pPr>
            <a:r>
              <a:rPr lang="en-US" sz="1200" b="0" i="0" u="none" strike="noStrike" kern="1200" cap="none" dirty="0">
                <a:solidFill>
                  <a:schemeClr val="dk1"/>
                </a:solidFill>
                <a:effectLst/>
                <a:latin typeface="Arial"/>
                <a:ea typeface="Arial"/>
                <a:cs typeface="Arial"/>
                <a:sym typeface="Arial"/>
              </a:rPr>
              <a:t>Future mitochondrion is being engulfed.</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lphaLcPeriod"/>
            </a:pPr>
            <a:r>
              <a:rPr lang="en-US" sz="1200" b="0" i="0" u="none" strike="noStrike" kern="1200" cap="none" dirty="0">
                <a:solidFill>
                  <a:schemeClr val="dk1"/>
                </a:solidFill>
                <a:effectLst/>
                <a:latin typeface="Arial"/>
                <a:ea typeface="Arial"/>
                <a:cs typeface="Arial"/>
                <a:sym typeface="Arial"/>
              </a:rPr>
              <a:t>Further </a:t>
            </a:r>
            <a:r>
              <a:rPr lang="en-US" sz="1200" b="0" i="0" u="none" strike="noStrike" kern="1200" cap="none" dirty="0" err="1">
                <a:solidFill>
                  <a:schemeClr val="dk1"/>
                </a:solidFill>
                <a:effectLst/>
                <a:latin typeface="Arial"/>
                <a:ea typeface="Arial"/>
                <a:cs typeface="Arial"/>
                <a:sym typeface="Arial"/>
              </a:rPr>
              <a:t>inpocketing</a:t>
            </a:r>
            <a:r>
              <a:rPr lang="en-US" sz="1200" b="0" i="0" u="none" strike="noStrike" kern="1200" cap="none" dirty="0">
                <a:solidFill>
                  <a:schemeClr val="dk1"/>
                </a:solidFill>
                <a:effectLst/>
                <a:latin typeface="Arial"/>
                <a:ea typeface="Arial"/>
                <a:cs typeface="Arial"/>
                <a:sym typeface="Arial"/>
              </a:rPr>
              <a:t>; cell wall lost. </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lphaLcPeriod"/>
            </a:pPr>
            <a:r>
              <a:rPr lang="en-US" sz="1200" b="0" i="0" u="none" strike="noStrike" kern="1200" cap="none" dirty="0">
                <a:solidFill>
                  <a:schemeClr val="dk1"/>
                </a:solidFill>
                <a:effectLst/>
                <a:latin typeface="Arial"/>
                <a:ea typeface="Arial"/>
                <a:cs typeface="Arial"/>
                <a:sym typeface="Arial"/>
              </a:rPr>
              <a:t>Finally, there is a primitive endomembrane system, primitive nucleus, and primitive mitochondrion.</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Inside-out theory: The process involves the following steps.</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lphaLcPeriod"/>
            </a:pPr>
            <a:r>
              <a:rPr lang="en-US" sz="1200" b="0" i="0" u="none" strike="noStrike" kern="1200" cap="none" dirty="0" err="1">
                <a:solidFill>
                  <a:schemeClr val="dk1"/>
                </a:solidFill>
                <a:effectLst/>
                <a:latin typeface="Arial"/>
                <a:ea typeface="Arial"/>
                <a:cs typeface="Arial"/>
                <a:sym typeface="Arial"/>
              </a:rPr>
              <a:t>Protoeukaryote</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lphaLcPeriod"/>
            </a:pPr>
            <a:r>
              <a:rPr lang="en-US" sz="1200" b="0" i="0" u="none" strike="noStrike" kern="1200" cap="none" dirty="0">
                <a:solidFill>
                  <a:schemeClr val="dk1"/>
                </a:solidFill>
                <a:effectLst/>
                <a:latin typeface="Arial"/>
                <a:ea typeface="Arial"/>
                <a:cs typeface="Arial"/>
                <a:sym typeface="Arial"/>
              </a:rPr>
              <a:t>Weakening of cell wall leads to protruding membrane</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lphaLcPeriod"/>
            </a:pPr>
            <a:r>
              <a:rPr lang="en-US" sz="1200" b="0" i="0" u="none" strike="noStrike" kern="1200" cap="none" dirty="0">
                <a:solidFill>
                  <a:schemeClr val="dk1"/>
                </a:solidFill>
                <a:effectLst/>
                <a:latin typeface="Arial"/>
                <a:ea typeface="Arial"/>
                <a:cs typeface="Arial"/>
                <a:sym typeface="Arial"/>
              </a:rPr>
              <a:t>Future mitochondrion attached to protrusion</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lphaLcPeriod"/>
            </a:pPr>
            <a:r>
              <a:rPr lang="en-US" sz="1200" b="0" i="0" u="none" strike="noStrike" kern="1200" cap="none" dirty="0">
                <a:solidFill>
                  <a:schemeClr val="dk1"/>
                </a:solidFill>
                <a:effectLst/>
                <a:latin typeface="Arial"/>
                <a:ea typeface="Arial"/>
                <a:cs typeface="Arial"/>
                <a:sym typeface="Arial"/>
              </a:rPr>
              <a:t>Further expansion of membrane; cell wall lost</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lphaLcPeriod"/>
            </a:pPr>
            <a:r>
              <a:rPr lang="en-US" sz="1200" b="0" i="0" u="none" strike="noStrike" kern="1200" cap="none" dirty="0">
                <a:solidFill>
                  <a:schemeClr val="dk1"/>
                </a:solidFill>
                <a:effectLst/>
                <a:latin typeface="Arial"/>
                <a:ea typeface="Arial"/>
                <a:cs typeface="Arial"/>
                <a:sym typeface="Arial"/>
              </a:rPr>
              <a:t>Finally, there is a primitive endomembrane system, primitive nucleus, and primitive mitochondrion.</a:t>
            </a:r>
            <a:endParaRPr lang="en-IN" sz="1200" b="0" i="0" u="none" strike="noStrike" kern="1200" cap="none" dirty="0">
              <a:solidFill>
                <a:schemeClr val="dk1"/>
              </a:solidFill>
              <a:effectLst/>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77</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542713229"/>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78</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27546962"/>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79</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274659084"/>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80</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458431857"/>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81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588599946"/>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82</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945911379"/>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r>
              <a:rPr lang="en-US" sz="1200" b="0" i="0" u="none" strike="noStrike" kern="1200" cap="none" dirty="0">
                <a:solidFill>
                  <a:schemeClr val="dk1"/>
                </a:solidFill>
                <a:effectLst/>
                <a:latin typeface="Arial"/>
                <a:ea typeface="Arial"/>
                <a:cs typeface="Arial"/>
                <a:sym typeface="Arial"/>
              </a:rPr>
              <a:t>Long Description:</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The details are as below:</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A cell: The nucleus in the center is surrounded by rough endoplasmic reticulum and smooth endoplasmic reticulum.</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Rough E R: The nuclear envelope is at the center. It is surrounded by layers of E R membrane and the space inside the E R is the E R lumen. Many membrane-bound ribosomes are studded on the outer membrane of the E R and makes it appear rough.</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Smooth E R: An electron micrograph shows multiple smooth E R in a cell. There are no membrane-bound ribosomes. The measurement at the bottom left corner reads 1 micro meter.</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Rough E R: An electron micrograph shows multiple rough E R surrounding the nucleus in a cell. The membrane bound ribosomes and free ribosomes are seen. The measurement at the bottom left corner reads 0.5 micro meter.</a:t>
            </a:r>
            <a:endParaRPr lang="en-IN" sz="1200" b="0" i="0" u="none" strike="noStrike" kern="1200" cap="none" dirty="0">
              <a:solidFill>
                <a:schemeClr val="dk1"/>
              </a:solidFill>
              <a:effectLst/>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83</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163342516"/>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84</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679464905"/>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85</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992638893"/>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86</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383530984"/>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87</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098148586"/>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r>
              <a:rPr lang="en-US" sz="1200" b="0" i="0" u="none" strike="noStrike" kern="1200" cap="none" dirty="0">
                <a:solidFill>
                  <a:schemeClr val="dk1"/>
                </a:solidFill>
                <a:effectLst/>
                <a:latin typeface="Arial"/>
                <a:ea typeface="Arial"/>
                <a:cs typeface="Arial"/>
                <a:sym typeface="Arial"/>
              </a:rPr>
              <a:t>Long Description:</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The cell shows flattened vesicles in continuous layers termed as Golgi stack and free vesicles too. Together, this is termed Golgi apparatus.</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The electron microscope shows vesicle being formed, free vesicles, and Golgi stack. The measurement at the bottom left corner is 0.2 micro meter.</a:t>
            </a:r>
            <a:endParaRPr lang="en-IN" sz="1200" b="0" i="0" u="none" strike="noStrike" kern="1200" cap="none" dirty="0">
              <a:solidFill>
                <a:schemeClr val="dk1"/>
              </a:solidFill>
              <a:effectLst/>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88</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053889406"/>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89</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054937359"/>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r>
              <a:rPr lang="en-US" sz="1200" b="0" i="0" u="none" strike="noStrike" kern="1200" cap="none" dirty="0">
                <a:solidFill>
                  <a:schemeClr val="dk1"/>
                </a:solidFill>
                <a:effectLst/>
                <a:latin typeface="Arial"/>
                <a:ea typeface="Arial"/>
                <a:cs typeface="Arial"/>
                <a:sym typeface="Arial"/>
              </a:rPr>
              <a:t>Long Description:</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The plasma membrane is labeled as the outer layer of the cell. The nucleus is also labeled.</a:t>
            </a:r>
            <a:endParaRPr lang="en-IN" sz="1200" b="0" i="0" u="none" strike="noStrike" kern="1200" cap="none" dirty="0">
              <a:solidFill>
                <a:schemeClr val="dk1"/>
              </a:solidFill>
              <a:effectLst/>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90</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063245436"/>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91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921367414"/>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endParaRPr lang="en-IN" sz="1200" b="0" i="0" u="none" strike="noStrike" kern="1200" cap="none" dirty="0">
              <a:solidFill>
                <a:schemeClr val="dk1"/>
              </a:solidFill>
              <a:effectLst/>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92</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779673144"/>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93</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822076735"/>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94</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308140965"/>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95</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235398498"/>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endParaRPr lang="en-IN" sz="1200" b="0" i="0" u="none" strike="noStrike" kern="1200" cap="none" dirty="0">
              <a:solidFill>
                <a:schemeClr val="dk1"/>
              </a:solidFill>
              <a:effectLst/>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96</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46651094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97</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4269506296"/>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98</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407839914"/>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r>
              <a:rPr lang="en-US" sz="1200" b="0" i="0" u="none" strike="noStrike" kern="1200" cap="none" dirty="0">
                <a:solidFill>
                  <a:schemeClr val="dk1"/>
                </a:solidFill>
                <a:effectLst/>
                <a:latin typeface="Arial"/>
                <a:ea typeface="Arial"/>
                <a:cs typeface="Arial"/>
                <a:sym typeface="Arial"/>
              </a:rPr>
              <a:t>Long Description:</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The cutaway view shows mitochondrion, peroxisome, and chloroplast surrounding the vacuole. An enlarged view of the peroxisome in a microscopic view shows crystalline core catalase in it. It lies closer to chloroplast and mitochondrion. The measurement at the bottom left corner reads 1 micro meter.</a:t>
            </a:r>
            <a:endParaRPr lang="en-IN" sz="1200" b="0" i="0" u="none" strike="noStrike" kern="1200" cap="none" dirty="0">
              <a:solidFill>
                <a:schemeClr val="dk1"/>
              </a:solidFill>
              <a:effectLst/>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99</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4289003473"/>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100</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873203747"/>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101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246158785"/>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r>
              <a:rPr lang="en-US" sz="1200" b="0" i="0" u="none" strike="noStrike" kern="1200" cap="none" dirty="0">
                <a:solidFill>
                  <a:schemeClr val="dk1"/>
                </a:solidFill>
                <a:effectLst/>
                <a:latin typeface="Arial"/>
                <a:ea typeface="Arial"/>
                <a:cs typeface="Arial"/>
                <a:sym typeface="Arial"/>
              </a:rPr>
              <a:t>Long Description:</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The micrograph shows an outer cell wall, then a plasma membrane surrounding a vacuole. The vacuole is surrounded by a vacuole membrane. The other parts labeled are nucleus, leaf peroxisome, and chloroplast. The measurement reads 5 micro meter at the bottom left corner.</a:t>
            </a:r>
            <a:endParaRPr lang="en-IN" sz="1200" b="0" i="0" u="none" strike="noStrike" kern="1200" cap="none" dirty="0">
              <a:solidFill>
                <a:schemeClr val="dk1"/>
              </a:solidFill>
              <a:effectLst/>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102</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155917727"/>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103</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05295425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104</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565595633"/>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105</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484378759"/>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106</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888208438"/>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endParaRPr lang="en-IN" sz="1200" b="0" i="0" u="none" strike="noStrike" kern="1200" cap="none" dirty="0">
              <a:solidFill>
                <a:schemeClr val="dk1"/>
              </a:solidFill>
              <a:effectLst/>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107</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5563705"/>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108</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20634090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109</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828846639"/>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110</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741335327"/>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111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74295974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endParaRPr lang="en-IN" sz="1200" b="0" i="0" u="none" strike="noStrike" kern="1200" cap="none" dirty="0">
              <a:solidFill>
                <a:schemeClr val="dk1"/>
              </a:solidFill>
              <a:effectLst/>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112</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41045123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113</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961448170"/>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114</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630937594"/>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115</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254766339"/>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116</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77740750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117</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566785360"/>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endParaRPr lang="en-IN" sz="1200" b="0" i="0" u="none" strike="noStrike" kern="1200" cap="none" dirty="0">
              <a:solidFill>
                <a:schemeClr val="dk1"/>
              </a:solidFill>
              <a:effectLst/>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118</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355897013"/>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119</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549174900"/>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120</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411743225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121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4060935156"/>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122</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787190126"/>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123</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761739444"/>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124</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314859004"/>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125</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731053535"/>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r>
              <a:rPr lang="en-US" sz="1200" b="0" i="0" u="none" strike="noStrike" kern="1200" cap="none" dirty="0">
                <a:solidFill>
                  <a:schemeClr val="dk1"/>
                </a:solidFill>
                <a:effectLst/>
                <a:latin typeface="Arial"/>
                <a:ea typeface="Arial"/>
                <a:cs typeface="Arial"/>
                <a:sym typeface="Arial"/>
              </a:rPr>
              <a:t>Long Description:</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The three R N A hyphen containing viruses are circular polio, rod shaped tobacco mosaic, and irregularly spherical shaped human immuno-deficiency. The measurements at the left bottom corner for polio is 0.1 micro meter, tobacco mosaic is 0.1 micro meter, and human immune-deficiency is 0.5 micro meter. </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The three D N A hyphen containing viruses are papilloma which are spherical and studded, herpes simplex, which is polygonal, and T 4 bacteriophage, which is T shaped. The measurements at the left bottom corner for all the three types is 0.1 micro meter.</a:t>
            </a:r>
            <a:endParaRPr lang="en-IN" sz="1200" b="0" i="0" u="none" strike="noStrike" kern="1200" cap="none" dirty="0">
              <a:solidFill>
                <a:schemeClr val="dk1"/>
              </a:solidFill>
              <a:effectLst/>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126</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570872183"/>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127</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637561965"/>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128</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128826234"/>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129</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546714987"/>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130</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40840785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hapter Opener-add copyright">
    <p:spTree>
      <p:nvGrpSpPr>
        <p:cNvPr id="1" name="Shape 37"/>
        <p:cNvGrpSpPr/>
        <p:nvPr/>
      </p:nvGrpSpPr>
      <p:grpSpPr>
        <a:xfrm>
          <a:off x="0" y="0"/>
          <a:ext cx="0" cy="0"/>
          <a:chOff x="0" y="0"/>
          <a:chExt cx="0" cy="0"/>
        </a:xfrm>
      </p:grpSpPr>
      <p:sp>
        <p:nvSpPr>
          <p:cNvPr id="38" name="Title Placeholder"/>
          <p:cNvSpPr txBox="1">
            <a:spLocks noGrp="1"/>
          </p:cNvSpPr>
          <p:nvPr>
            <p:ph type="title"/>
          </p:nvPr>
        </p:nvSpPr>
        <p:spPr>
          <a:xfrm>
            <a:off x="457200" y="215371"/>
            <a:ext cx="8229600" cy="622828"/>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9" name="Content Placeholder"/>
          <p:cNvSpPr txBox="1">
            <a:spLocks noGrp="1"/>
          </p:cNvSpPr>
          <p:nvPr>
            <p:ph type="body" idx="1"/>
          </p:nvPr>
        </p:nvSpPr>
        <p:spPr>
          <a:xfrm>
            <a:off x="457200" y="816429"/>
            <a:ext cx="8229600" cy="47897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dirty="0"/>
          </a:p>
        </p:txBody>
      </p:sp>
      <p:sp>
        <p:nvSpPr>
          <p:cNvPr id="4" name="Content Placeholder 3">
            <a:extLst>
              <a:ext uri="{FF2B5EF4-FFF2-40B4-BE49-F238E27FC236}">
                <a16:creationId xmlns:a16="http://schemas.microsoft.com/office/drawing/2014/main" id="{6EE677B9-EC76-47FA-B8D6-49D033518C61}"/>
              </a:ext>
            </a:extLst>
          </p:cNvPr>
          <p:cNvSpPr>
            <a:spLocks noGrp="1"/>
          </p:cNvSpPr>
          <p:nvPr>
            <p:ph sz="quarter" idx="13" hasCustomPrompt="1"/>
          </p:nvPr>
        </p:nvSpPr>
        <p:spPr>
          <a:xfrm>
            <a:off x="457200" y="1600200"/>
            <a:ext cx="4397375" cy="4525963"/>
          </a:xfrm>
        </p:spPr>
        <p:txBody>
          <a:bodyPr/>
          <a:lstStyle>
            <a:lvl1pPr marL="101600" indent="0">
              <a:buNone/>
              <a:defRPr/>
            </a:lvl1pPr>
          </a:lstStyle>
          <a:p>
            <a:pPr lvl="0"/>
            <a:r>
              <a:rPr lang="en-US" dirty="0"/>
              <a:t>Image of front cover</a:t>
            </a:r>
          </a:p>
        </p:txBody>
      </p:sp>
      <p:sp>
        <p:nvSpPr>
          <p:cNvPr id="6" name="Content Placeholder 5">
            <a:extLst>
              <a:ext uri="{FF2B5EF4-FFF2-40B4-BE49-F238E27FC236}">
                <a16:creationId xmlns:a16="http://schemas.microsoft.com/office/drawing/2014/main" id="{F4ED3915-2147-4382-A599-2376CC8854D1}"/>
              </a:ext>
            </a:extLst>
          </p:cNvPr>
          <p:cNvSpPr>
            <a:spLocks noGrp="1"/>
          </p:cNvSpPr>
          <p:nvPr>
            <p:ph sz="quarter" idx="14" hasCustomPrompt="1"/>
          </p:nvPr>
        </p:nvSpPr>
        <p:spPr>
          <a:xfrm>
            <a:off x="5029200" y="1600200"/>
            <a:ext cx="3657600" cy="1492250"/>
          </a:xfrm>
        </p:spPr>
        <p:txBody>
          <a:bodyPr anchor="b"/>
          <a:lstStyle>
            <a:lvl1pPr marL="101600" indent="0">
              <a:buNone/>
              <a:defRPr sz="3000"/>
            </a:lvl1pPr>
            <a:lvl2pPr marL="558800" indent="0">
              <a:buNone/>
              <a:defRPr/>
            </a:lvl2pPr>
          </a:lstStyle>
          <a:p>
            <a:pPr lvl="0"/>
            <a:r>
              <a:rPr lang="en-US" dirty="0"/>
              <a:t>Chapter #</a:t>
            </a:r>
          </a:p>
        </p:txBody>
      </p:sp>
      <p:sp>
        <p:nvSpPr>
          <p:cNvPr id="8" name="Content Placeholder 7">
            <a:extLst>
              <a:ext uri="{FF2B5EF4-FFF2-40B4-BE49-F238E27FC236}">
                <a16:creationId xmlns:a16="http://schemas.microsoft.com/office/drawing/2014/main" id="{3B38FD8D-0DB0-4A1A-A3F1-E26B606AC837}"/>
              </a:ext>
            </a:extLst>
          </p:cNvPr>
          <p:cNvSpPr>
            <a:spLocks noGrp="1"/>
          </p:cNvSpPr>
          <p:nvPr>
            <p:ph sz="quarter" idx="15" hasCustomPrompt="1"/>
          </p:nvPr>
        </p:nvSpPr>
        <p:spPr>
          <a:xfrm>
            <a:off x="5029200" y="3252788"/>
            <a:ext cx="3657600" cy="2873375"/>
          </a:xfrm>
        </p:spPr>
        <p:txBody>
          <a:bodyPr/>
          <a:lstStyle>
            <a:lvl1pPr marL="101600" indent="0">
              <a:buNone/>
              <a:defRPr sz="2200"/>
            </a:lvl1pPr>
          </a:lstStyle>
          <a:p>
            <a:pPr lvl="0"/>
            <a:r>
              <a:rPr lang="en-US" dirty="0"/>
              <a:t>Chapter name</a:t>
            </a:r>
          </a:p>
        </p:txBody>
      </p:sp>
      <p:sp>
        <p:nvSpPr>
          <p:cNvPr id="12" name="Shape 13">
            <a:extLst>
              <a:ext uri="{FF2B5EF4-FFF2-40B4-BE49-F238E27FC236}">
                <a16:creationId xmlns:a16="http://schemas.microsoft.com/office/drawing/2014/main" id="{C5328E6C-2B17-49B8-8712-6C0E107A1D99}"/>
              </a:ext>
            </a:extLst>
          </p:cNvPr>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3" name="Shape 14">
            <a:extLst>
              <a:ext uri="{FF2B5EF4-FFF2-40B4-BE49-F238E27FC236}">
                <a16:creationId xmlns:a16="http://schemas.microsoft.com/office/drawing/2014/main" id="{CE0B5B1C-8858-43DC-BD75-C546F4738779}"/>
              </a:ext>
            </a:extLst>
          </p:cNvPr>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
        <p:nvSpPr>
          <p:cNvPr id="9" name="Picture Placeholder 8">
            <a:extLst>
              <a:ext uri="{FF2B5EF4-FFF2-40B4-BE49-F238E27FC236}">
                <a16:creationId xmlns:a16="http://schemas.microsoft.com/office/drawing/2014/main" id="{51B8939D-A957-42F9-A1B5-556D29D235AB}"/>
              </a:ext>
            </a:extLst>
          </p:cNvPr>
          <p:cNvSpPr>
            <a:spLocks noGrp="1"/>
          </p:cNvSpPr>
          <p:nvPr>
            <p:ph type="pic" sz="quarter" idx="16" hasCustomPrompt="1"/>
          </p:nvPr>
        </p:nvSpPr>
        <p:spPr>
          <a:xfrm>
            <a:off x="457200" y="6400801"/>
            <a:ext cx="1001713" cy="228600"/>
          </a:xfrm>
        </p:spPr>
        <p:txBody>
          <a:bodyPr anchor="ctr"/>
          <a:lstStyle>
            <a:lvl1pPr>
              <a:buNone/>
              <a:defRPr sz="1200">
                <a:latin typeface="Verdana" panose="020B0604030504040204" pitchFamily="34" charset="0"/>
                <a:ea typeface="Verdana" panose="020B0604030504040204" pitchFamily="34" charset="0"/>
              </a:defRPr>
            </a:lvl1pPr>
          </a:lstStyle>
          <a:p>
            <a:r>
              <a:rPr lang="en-US" dirty="0"/>
              <a:t>Logo</a:t>
            </a:r>
          </a:p>
        </p:txBody>
      </p:sp>
      <p:sp>
        <p:nvSpPr>
          <p:cNvPr id="18" name="Content Placeholder 17">
            <a:extLst>
              <a:ext uri="{FF2B5EF4-FFF2-40B4-BE49-F238E27FC236}">
                <a16:creationId xmlns:a16="http://schemas.microsoft.com/office/drawing/2014/main" id="{0CF87F15-2C58-4DFC-BACB-0E2C6507BCDE}"/>
              </a:ext>
            </a:extLst>
          </p:cNvPr>
          <p:cNvSpPr>
            <a:spLocks noGrp="1"/>
          </p:cNvSpPr>
          <p:nvPr>
            <p:ph sz="quarter" idx="17" hasCustomPrompt="1"/>
          </p:nvPr>
        </p:nvSpPr>
        <p:spPr>
          <a:xfrm>
            <a:off x="2097088" y="6400800"/>
            <a:ext cx="6589712" cy="228600"/>
          </a:xfrm>
        </p:spPr>
        <p:txBody>
          <a:bodyPr anchor="ctr"/>
          <a:lstStyle>
            <a:lvl1pPr algn="r">
              <a:buNone/>
              <a:defRPr sz="1200">
                <a:latin typeface="Verdana" panose="020B0604030504040204" pitchFamily="34" charset="0"/>
                <a:ea typeface="Verdana" panose="020B0604030504040204" pitchFamily="34" charset="0"/>
              </a:defRPr>
            </a:lvl1pPr>
          </a:lstStyle>
          <a:p>
            <a:pPr lvl="0"/>
            <a:r>
              <a:rPr lang="en-US" dirty="0"/>
              <a:t>Copyright Information</a:t>
            </a:r>
          </a:p>
        </p:txBody>
      </p:sp>
    </p:spTree>
    <p:extLst>
      <p:ext uri="{BB962C8B-B14F-4D97-AF65-F5344CB8AC3E}">
        <p14:creationId xmlns:p14="http://schemas.microsoft.com/office/powerpoint/2010/main" val="839355990"/>
      </p:ext>
    </p:extLst>
  </p:cSld>
  <p:clrMapOvr>
    <a:masterClrMapping/>
  </p:clrMapOvr>
  <p:extLst>
    <p:ext uri="{DCECCB84-F9BA-43D5-87BE-67443E8EF086}">
      <p15:sldGuideLst xmlns:p15="http://schemas.microsoft.com/office/powerpoint/2012/main">
        <p15:guide id="1" orient="horz" pos="4176" userDrawn="1">
          <p15:clr>
            <a:srgbClr val="FBAE40"/>
          </p15:clr>
        </p15:guide>
        <p15:guide id="2"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add copyright">
    <p:spTree>
      <p:nvGrpSpPr>
        <p:cNvPr id="1" name="Shape 17"/>
        <p:cNvGrpSpPr/>
        <p:nvPr/>
      </p:nvGrpSpPr>
      <p:grpSpPr>
        <a:xfrm>
          <a:off x="0" y="0"/>
          <a:ext cx="0" cy="0"/>
          <a:chOff x="0" y="0"/>
          <a:chExt cx="0" cy="0"/>
        </a:xfrm>
      </p:grpSpPr>
      <p:sp>
        <p:nvSpPr>
          <p:cNvPr id="18" name="Shape 18"/>
          <p:cNvSpPr/>
          <p:nvPr/>
        </p:nvSpPr>
        <p:spPr>
          <a:xfrm>
            <a:off x="0" y="0"/>
            <a:ext cx="9144000" cy="3886200"/>
          </a:xfrm>
          <a:prstGeom prst="rect">
            <a:avLst/>
          </a:prstGeom>
          <a:solidFill>
            <a:srgbClr val="007FA3"/>
          </a:solidFill>
          <a:ln w="25400" cap="flat" cmpd="sng">
            <a:solidFill>
              <a:srgbClr val="007FA3"/>
            </a:solidFill>
            <a:prstDash val="solid"/>
            <a:round/>
            <a:headEnd type="none" w="med" len="med"/>
            <a:tailEnd type="none" w="med" len="med"/>
          </a:ln>
        </p:spPr>
        <p:txBody>
          <a:bodyPr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19" name="Title Placeholder"/>
          <p:cNvSpPr txBox="1">
            <a:spLocks noGrp="1"/>
          </p:cNvSpPr>
          <p:nvPr>
            <p:ph type="ctrTitle"/>
          </p:nvPr>
        </p:nvSpPr>
        <p:spPr>
          <a:xfrm>
            <a:off x="685800" y="762000"/>
            <a:ext cx="7772400" cy="2838451"/>
          </a:xfrm>
          <a:prstGeom prst="rect">
            <a:avLst/>
          </a:prstGeom>
          <a:noFill/>
          <a:ln>
            <a:noFill/>
          </a:ln>
        </p:spPr>
        <p:txBody>
          <a:bodyPr lIns="91425" tIns="91425" rIns="91425" bIns="91425" anchor="b" anchorCtr="0"/>
          <a:lstStyle>
            <a:lvl1pPr marL="0" marR="0" lvl="0" indent="0" algn="l" rtl="0">
              <a:lnSpc>
                <a:spcPct val="100000"/>
              </a:lnSpc>
              <a:spcBef>
                <a:spcPts val="0"/>
              </a:spcBef>
              <a:buClr>
                <a:schemeClr val="lt1"/>
              </a:buClr>
              <a:buFont typeface="Times New Roman"/>
              <a:buNone/>
              <a:defRPr sz="3600" b="1" i="0" u="none" strike="noStrike" cap="none">
                <a:solidFill>
                  <a:schemeClr val="lt1"/>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0" name="Content Placeholder"/>
          <p:cNvSpPr txBox="1">
            <a:spLocks noGrp="1"/>
          </p:cNvSpPr>
          <p:nvPr>
            <p:ph type="subTitle" idx="1"/>
          </p:nvPr>
        </p:nvSpPr>
        <p:spPr>
          <a:xfrm>
            <a:off x="674687" y="3962400"/>
            <a:ext cx="7794625"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400" b="0" i="0" u="none" strike="noStrike" cap="none">
                <a:solidFill>
                  <a:schemeClr val="dk1"/>
                </a:solidFill>
                <a:latin typeface="Arial"/>
                <a:ea typeface="Arial"/>
                <a:cs typeface="Arial"/>
                <a:sym typeface="Arial"/>
              </a:defRPr>
            </a:lvl1pPr>
            <a:lvl2pPr marL="457200" marR="0" lvl="1"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2pPr>
            <a:lvl3pPr marL="914400" marR="0" lvl="2" indent="0" algn="ctr"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4pPr>
            <a:lvl5pPr marL="1828800" marR="0" lvl="4"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5pPr>
            <a:lvl6pPr marL="2286000" marR="0" lvl="5"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6pPr>
            <a:lvl7pPr marL="2743200" marR="0" lvl="6"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7pPr>
            <a:lvl8pPr marL="3200400" marR="0" lvl="7"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8pPr>
            <a:lvl9pPr marL="3657600" marR="0" lvl="8"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9pPr>
          </a:lstStyle>
          <a:p>
            <a:endParaRPr dirty="0"/>
          </a:p>
        </p:txBody>
      </p:sp>
      <p:sp>
        <p:nvSpPr>
          <p:cNvPr id="22" name="Shape 2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sz="900" b="0" i="0" u="none" strike="noStrike" kern="0" cap="none" spc="0" normalizeH="0" baseline="0" noProof="0">
              <a:ln>
                <a:noFill/>
              </a:ln>
              <a:solidFill>
                <a:srgbClr val="FFFFFF"/>
              </a:solidFill>
              <a:effectLst/>
              <a:uLnTx/>
              <a:uFillTx/>
              <a:latin typeface="Arial"/>
              <a:cs typeface="Arial"/>
              <a:sym typeface="Arial"/>
            </a:endParaRPr>
          </a:p>
        </p:txBody>
      </p:sp>
      <p:sp>
        <p:nvSpPr>
          <p:cNvPr id="23" name="Shape 2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Tx/>
              <a:buSzPct val="25000"/>
              <a:buFontTx/>
              <a:buNone/>
              <a:tabLst/>
              <a:defRPr/>
            </a:pPr>
            <a:fld id="{00000000-1234-1234-1234-123412341234}" type="slidenum">
              <a:rPr kumimoji="0" lang="en-US" sz="900" b="0" i="0" u="none" strike="noStrike" kern="0" cap="none" spc="0" normalizeH="0" baseline="0" noProof="0">
                <a:ln>
                  <a:noFill/>
                </a:ln>
                <a:solidFill>
                  <a:srgbClr val="FFFFFF"/>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Tx/>
                <a:buSzPct val="25000"/>
                <a:buFontTx/>
                <a:buNone/>
                <a:tabLst/>
                <a:defRPr/>
              </a:pPr>
              <a:t>‹#›</a:t>
            </a:fld>
            <a:endParaRPr kumimoji="0" lang="en-US" sz="9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13" name="Picture Placeholder 8">
            <a:extLst>
              <a:ext uri="{FF2B5EF4-FFF2-40B4-BE49-F238E27FC236}">
                <a16:creationId xmlns:a16="http://schemas.microsoft.com/office/drawing/2014/main" id="{C6122C06-0248-45C8-9890-FDA2C7B0CDBA}"/>
              </a:ext>
            </a:extLst>
          </p:cNvPr>
          <p:cNvSpPr>
            <a:spLocks noGrp="1"/>
          </p:cNvSpPr>
          <p:nvPr>
            <p:ph type="pic" sz="quarter" idx="16" hasCustomPrompt="1"/>
          </p:nvPr>
        </p:nvSpPr>
        <p:spPr>
          <a:xfrm>
            <a:off x="457200" y="6400801"/>
            <a:ext cx="1001713" cy="228600"/>
          </a:xfrm>
        </p:spPr>
        <p:txBody>
          <a:bodyPr anchor="ctr"/>
          <a:lstStyle>
            <a:lvl1pPr>
              <a:buNone/>
              <a:defRPr sz="1200">
                <a:latin typeface="Verdana" panose="020B0604030504040204" pitchFamily="34" charset="0"/>
                <a:ea typeface="Verdana" panose="020B0604030504040204" pitchFamily="34" charset="0"/>
              </a:defRPr>
            </a:lvl1pPr>
          </a:lstStyle>
          <a:p>
            <a:r>
              <a:rPr lang="en-US" dirty="0"/>
              <a:t>Logo</a:t>
            </a:r>
          </a:p>
        </p:txBody>
      </p:sp>
      <p:sp>
        <p:nvSpPr>
          <p:cNvPr id="3" name="Content Placeholder 2">
            <a:extLst>
              <a:ext uri="{FF2B5EF4-FFF2-40B4-BE49-F238E27FC236}">
                <a16:creationId xmlns:a16="http://schemas.microsoft.com/office/drawing/2014/main" id="{B3F9E3F0-3064-41BA-BF34-B5D9350D8D48}"/>
              </a:ext>
            </a:extLst>
          </p:cNvPr>
          <p:cNvSpPr>
            <a:spLocks noGrp="1"/>
          </p:cNvSpPr>
          <p:nvPr>
            <p:ph sz="quarter" idx="17" hasCustomPrompt="1"/>
          </p:nvPr>
        </p:nvSpPr>
        <p:spPr>
          <a:xfrm>
            <a:off x="1836402" y="6400801"/>
            <a:ext cx="6908800" cy="228600"/>
          </a:xfrm>
        </p:spPr>
        <p:txBody>
          <a:bodyPr anchor="ctr"/>
          <a:lstStyle>
            <a:lvl1pPr algn="r">
              <a:buNone/>
              <a:defRPr sz="1200">
                <a:latin typeface="Verdana" panose="020B0604030504040204" pitchFamily="34" charset="0"/>
                <a:ea typeface="Verdana" panose="020B0604030504040204" pitchFamily="34" charset="0"/>
              </a:defRPr>
            </a:lvl1pPr>
          </a:lstStyle>
          <a:p>
            <a:pPr lvl="0"/>
            <a:r>
              <a:rPr lang="en-US" dirty="0"/>
              <a:t>Copyright Information</a:t>
            </a:r>
          </a:p>
        </p:txBody>
      </p:sp>
    </p:spTree>
    <p:extLst>
      <p:ext uri="{BB962C8B-B14F-4D97-AF65-F5344CB8AC3E}">
        <p14:creationId xmlns:p14="http://schemas.microsoft.com/office/powerpoint/2010/main" val="42159409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credit">
    <p:spTree>
      <p:nvGrpSpPr>
        <p:cNvPr id="1" name="Shape 37"/>
        <p:cNvGrpSpPr/>
        <p:nvPr/>
      </p:nvGrpSpPr>
      <p:grpSpPr>
        <a:xfrm>
          <a:off x="0" y="0"/>
          <a:ext cx="0" cy="0"/>
          <a:chOff x="0" y="0"/>
          <a:chExt cx="0" cy="0"/>
        </a:xfrm>
      </p:grpSpPr>
      <p:sp>
        <p:nvSpPr>
          <p:cNvPr id="38" name="Title Placeholder"/>
          <p:cNvSpPr txBox="1">
            <a:spLocks noGrp="1"/>
          </p:cNvSpPr>
          <p:nvPr>
            <p:ph type="title"/>
          </p:nvPr>
        </p:nvSpPr>
        <p:spPr>
          <a:xfrm>
            <a:off x="457200" y="215371"/>
            <a:ext cx="8229600" cy="622828"/>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9" name="Content Placeholder"/>
          <p:cNvSpPr txBox="1">
            <a:spLocks noGrp="1"/>
          </p:cNvSpPr>
          <p:nvPr>
            <p:ph type="body" idx="1"/>
          </p:nvPr>
        </p:nvSpPr>
        <p:spPr>
          <a:xfrm>
            <a:off x="457200" y="816429"/>
            <a:ext cx="8229600" cy="47897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dirty="0"/>
          </a:p>
        </p:txBody>
      </p:sp>
      <p:sp>
        <p:nvSpPr>
          <p:cNvPr id="6" name="Content Placeholder 5">
            <a:extLst>
              <a:ext uri="{FF2B5EF4-FFF2-40B4-BE49-F238E27FC236}">
                <a16:creationId xmlns:a16="http://schemas.microsoft.com/office/drawing/2014/main" id="{F4ED3915-2147-4382-A599-2376CC8854D1}"/>
              </a:ext>
            </a:extLst>
          </p:cNvPr>
          <p:cNvSpPr>
            <a:spLocks noGrp="1"/>
          </p:cNvSpPr>
          <p:nvPr>
            <p:ph sz="quarter" idx="14" hasCustomPrompt="1"/>
          </p:nvPr>
        </p:nvSpPr>
        <p:spPr>
          <a:xfrm>
            <a:off x="5029200" y="1600200"/>
            <a:ext cx="3657600" cy="1492250"/>
          </a:xfrm>
        </p:spPr>
        <p:txBody>
          <a:bodyPr anchor="b"/>
          <a:lstStyle>
            <a:lvl1pPr marL="101600" indent="0">
              <a:buNone/>
              <a:defRPr sz="3000"/>
            </a:lvl1pPr>
            <a:lvl2pPr marL="558800" indent="0">
              <a:buNone/>
              <a:defRPr/>
            </a:lvl2pPr>
          </a:lstStyle>
          <a:p>
            <a:pPr lvl="0"/>
            <a:r>
              <a:rPr lang="en-US" dirty="0"/>
              <a:t>Chapter #</a:t>
            </a:r>
          </a:p>
        </p:txBody>
      </p:sp>
      <p:sp>
        <p:nvSpPr>
          <p:cNvPr id="8" name="Content Placeholder 7">
            <a:extLst>
              <a:ext uri="{FF2B5EF4-FFF2-40B4-BE49-F238E27FC236}">
                <a16:creationId xmlns:a16="http://schemas.microsoft.com/office/drawing/2014/main" id="{3B38FD8D-0DB0-4A1A-A3F1-E26B606AC837}"/>
              </a:ext>
            </a:extLst>
          </p:cNvPr>
          <p:cNvSpPr>
            <a:spLocks noGrp="1"/>
          </p:cNvSpPr>
          <p:nvPr>
            <p:ph sz="quarter" idx="15" hasCustomPrompt="1"/>
          </p:nvPr>
        </p:nvSpPr>
        <p:spPr>
          <a:xfrm>
            <a:off x="5029200" y="3252789"/>
            <a:ext cx="3657600" cy="1088476"/>
          </a:xfrm>
        </p:spPr>
        <p:txBody>
          <a:bodyPr/>
          <a:lstStyle>
            <a:lvl1pPr marL="101600" indent="0">
              <a:buNone/>
              <a:defRPr sz="2200"/>
            </a:lvl1pPr>
          </a:lstStyle>
          <a:p>
            <a:pPr lvl="0"/>
            <a:r>
              <a:rPr lang="en-US" dirty="0"/>
              <a:t>Chapter name</a:t>
            </a:r>
          </a:p>
        </p:txBody>
      </p:sp>
      <p:sp>
        <p:nvSpPr>
          <p:cNvPr id="12" name="Shape 13">
            <a:extLst>
              <a:ext uri="{FF2B5EF4-FFF2-40B4-BE49-F238E27FC236}">
                <a16:creationId xmlns:a16="http://schemas.microsoft.com/office/drawing/2014/main" id="{C5328E6C-2B17-49B8-8712-6C0E107A1D99}"/>
              </a:ext>
            </a:extLst>
          </p:cNvPr>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3" name="Shape 14">
            <a:extLst>
              <a:ext uri="{FF2B5EF4-FFF2-40B4-BE49-F238E27FC236}">
                <a16:creationId xmlns:a16="http://schemas.microsoft.com/office/drawing/2014/main" id="{CE0B5B1C-8858-43DC-BD75-C546F4738779}"/>
              </a:ext>
            </a:extLst>
          </p:cNvPr>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
        <p:nvSpPr>
          <p:cNvPr id="9" name="Picture Placeholder 8">
            <a:extLst>
              <a:ext uri="{FF2B5EF4-FFF2-40B4-BE49-F238E27FC236}">
                <a16:creationId xmlns:a16="http://schemas.microsoft.com/office/drawing/2014/main" id="{51B8939D-A957-42F9-A1B5-556D29D235AB}"/>
              </a:ext>
            </a:extLst>
          </p:cNvPr>
          <p:cNvSpPr>
            <a:spLocks noGrp="1"/>
          </p:cNvSpPr>
          <p:nvPr>
            <p:ph type="pic" sz="quarter" idx="16" hasCustomPrompt="1"/>
          </p:nvPr>
        </p:nvSpPr>
        <p:spPr>
          <a:xfrm>
            <a:off x="457200" y="6400801"/>
            <a:ext cx="1001713" cy="228600"/>
          </a:xfrm>
        </p:spPr>
        <p:txBody>
          <a:bodyPr anchor="ctr"/>
          <a:lstStyle>
            <a:lvl1pPr>
              <a:buNone/>
              <a:defRPr sz="1200">
                <a:latin typeface="Verdana" panose="020B0604030504040204" pitchFamily="34" charset="0"/>
                <a:ea typeface="Verdana" panose="020B0604030504040204" pitchFamily="34" charset="0"/>
              </a:defRPr>
            </a:lvl1pPr>
          </a:lstStyle>
          <a:p>
            <a:r>
              <a:rPr lang="en-US" dirty="0"/>
              <a:t>Logo</a:t>
            </a:r>
          </a:p>
        </p:txBody>
      </p:sp>
      <p:sp>
        <p:nvSpPr>
          <p:cNvPr id="18" name="Content Placeholder 17">
            <a:extLst>
              <a:ext uri="{FF2B5EF4-FFF2-40B4-BE49-F238E27FC236}">
                <a16:creationId xmlns:a16="http://schemas.microsoft.com/office/drawing/2014/main" id="{0CF87F15-2C58-4DFC-BACB-0E2C6507BCDE}"/>
              </a:ext>
            </a:extLst>
          </p:cNvPr>
          <p:cNvSpPr>
            <a:spLocks noGrp="1"/>
          </p:cNvSpPr>
          <p:nvPr>
            <p:ph sz="quarter" idx="17" hasCustomPrompt="1"/>
          </p:nvPr>
        </p:nvSpPr>
        <p:spPr>
          <a:xfrm>
            <a:off x="2097088" y="6400800"/>
            <a:ext cx="6589712" cy="228600"/>
          </a:xfrm>
        </p:spPr>
        <p:txBody>
          <a:bodyPr anchor="ctr"/>
          <a:lstStyle>
            <a:lvl1pPr algn="r">
              <a:buNone/>
              <a:defRPr sz="1200">
                <a:latin typeface="Verdana" panose="020B0604030504040204" pitchFamily="34" charset="0"/>
                <a:ea typeface="Verdana" panose="020B0604030504040204" pitchFamily="34" charset="0"/>
              </a:defRPr>
            </a:lvl1pPr>
          </a:lstStyle>
          <a:p>
            <a:pPr lvl="0"/>
            <a:r>
              <a:rPr lang="en-US" dirty="0"/>
              <a:t>Copyright Information</a:t>
            </a:r>
          </a:p>
        </p:txBody>
      </p:sp>
      <p:sp>
        <p:nvSpPr>
          <p:cNvPr id="3" name="Picture Placeholder 2">
            <a:extLst>
              <a:ext uri="{FF2B5EF4-FFF2-40B4-BE49-F238E27FC236}">
                <a16:creationId xmlns:a16="http://schemas.microsoft.com/office/drawing/2014/main" id="{9349B39A-AC01-4073-85EF-922E8DBA6C0A}"/>
              </a:ext>
            </a:extLst>
          </p:cNvPr>
          <p:cNvSpPr>
            <a:spLocks noGrp="1"/>
          </p:cNvSpPr>
          <p:nvPr>
            <p:ph type="pic" sz="quarter" idx="18"/>
          </p:nvPr>
        </p:nvSpPr>
        <p:spPr>
          <a:xfrm>
            <a:off x="457200" y="1517650"/>
            <a:ext cx="4178300" cy="4608513"/>
          </a:xfrm>
        </p:spPr>
        <p:txBody>
          <a:bodyPr/>
          <a:lstStyle/>
          <a:p>
            <a:endParaRPr lang="en-IN" dirty="0"/>
          </a:p>
        </p:txBody>
      </p:sp>
      <p:pic>
        <p:nvPicPr>
          <p:cNvPr id="11" name="Logo" descr="Pearson Logo"/>
          <p:cNvPicPr preferRelativeResize="0"/>
          <p:nvPr userDrawn="1"/>
        </p:nvPicPr>
        <p:blipFill rotWithShape="1">
          <a:blip r:embed="rId2">
            <a:alphaModFix/>
          </a:blip>
          <a:srcRect/>
          <a:stretch/>
        </p:blipFill>
        <p:spPr>
          <a:xfrm>
            <a:off x="443972" y="6429709"/>
            <a:ext cx="917999" cy="279914"/>
          </a:xfrm>
          <a:prstGeom prst="rect">
            <a:avLst/>
          </a:prstGeom>
          <a:noFill/>
          <a:ln>
            <a:noFill/>
          </a:ln>
        </p:spPr>
      </p:pic>
      <p:sp>
        <p:nvSpPr>
          <p:cNvPr id="4" name="Content Placeholder 3">
            <a:extLst>
              <a:ext uri="{FF2B5EF4-FFF2-40B4-BE49-F238E27FC236}">
                <a16:creationId xmlns:a16="http://schemas.microsoft.com/office/drawing/2014/main" id="{9DBB0BF2-5162-4B6F-B06E-C4298E10EA5D}"/>
              </a:ext>
            </a:extLst>
          </p:cNvPr>
          <p:cNvSpPr>
            <a:spLocks noGrp="1"/>
          </p:cNvSpPr>
          <p:nvPr>
            <p:ph sz="quarter" idx="19"/>
          </p:nvPr>
        </p:nvSpPr>
        <p:spPr>
          <a:xfrm>
            <a:off x="5145088" y="5110163"/>
            <a:ext cx="3541712" cy="6746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1636171827"/>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Three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 name="Content Placeholder 2">
            <a:extLst>
              <a:ext uri="{FF2B5EF4-FFF2-40B4-BE49-F238E27FC236}">
                <a16:creationId xmlns:a16="http://schemas.microsoft.com/office/drawing/2014/main" id="{6F503D41-401A-43DB-9BC0-38F51965B892}"/>
              </a:ext>
            </a:extLst>
          </p:cNvPr>
          <p:cNvSpPr>
            <a:spLocks noGrp="1"/>
          </p:cNvSpPr>
          <p:nvPr>
            <p:ph sz="quarter" idx="15"/>
          </p:nvPr>
        </p:nvSpPr>
        <p:spPr>
          <a:xfrm>
            <a:off x="457200" y="1556327"/>
            <a:ext cx="3635375" cy="4520623"/>
          </a:xfrm>
        </p:spPr>
        <p:txBody>
          <a:bodyPr/>
          <a:lstStyle/>
          <a:p>
            <a:pPr lvl="0"/>
            <a:r>
              <a:rPr lang="en-US" dirty="0"/>
              <a:t>Edit Master text styles</a:t>
            </a:r>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234542" y="1556327"/>
            <a:ext cx="4452257" cy="2267528"/>
          </a:xfrm>
        </p:spPr>
        <p:txBody>
          <a:bodyPr/>
          <a:lstStyle/>
          <a:p>
            <a:pPr lvl="0"/>
            <a:r>
              <a:rPr lang="en-US" dirty="0"/>
              <a:t>Edit Master text styles</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234542" y="3971925"/>
            <a:ext cx="4452258" cy="2105025"/>
          </a:xfrm>
        </p:spPr>
        <p:txBody>
          <a:bodyPr/>
          <a:lstStyle/>
          <a:p>
            <a:pPr lvl="0"/>
            <a:r>
              <a:rPr lang="en-US" dirty="0"/>
              <a:t>Edit Master text styles</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27690625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Two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hasCustomPrompt="1"/>
          </p:nvPr>
        </p:nvSpPr>
        <p:spPr>
          <a:xfrm>
            <a:off x="457200" y="1552575"/>
            <a:ext cx="3991970" cy="4438650"/>
          </a:xfrm>
        </p:spPr>
        <p:txBody>
          <a:bodyPr/>
          <a:lstStyle>
            <a:lvl1pPr>
              <a:defRPr/>
            </a:lvl1pPr>
          </a:lstStyle>
          <a:p>
            <a:pPr lvl="0"/>
            <a:r>
              <a:rPr lang="en-US" dirty="0"/>
              <a:t>Click to add text</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hasCustomPrompt="1"/>
          </p:nvPr>
        </p:nvSpPr>
        <p:spPr>
          <a:xfrm>
            <a:off x="4694830" y="1552575"/>
            <a:ext cx="3991970" cy="4438650"/>
          </a:xfrm>
        </p:spPr>
        <p:txBody>
          <a:bodyPr/>
          <a:lstStyle/>
          <a:p>
            <a:pPr lvl="0"/>
            <a:r>
              <a:rPr lang="en-US" dirty="0"/>
              <a:t>Click to add text</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41261101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Three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hasCustomPrompt="1"/>
          </p:nvPr>
        </p:nvSpPr>
        <p:spPr>
          <a:xfrm>
            <a:off x="457201" y="1552575"/>
            <a:ext cx="2595603" cy="4438650"/>
          </a:xfrm>
        </p:spPr>
        <p:txBody>
          <a:bodyPr/>
          <a:lstStyle/>
          <a:p>
            <a:pPr lvl="0"/>
            <a:r>
              <a:rPr lang="en-US" dirty="0"/>
              <a:t>Click to add text</a:t>
            </a:r>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hasCustomPrompt="1"/>
          </p:nvPr>
        </p:nvSpPr>
        <p:spPr>
          <a:xfrm>
            <a:off x="3274199" y="1552575"/>
            <a:ext cx="2595602" cy="4438650"/>
          </a:xfrm>
        </p:spPr>
        <p:txBody>
          <a:bodyPr/>
          <a:lstStyle>
            <a:lvl1pPr>
              <a:defRPr/>
            </a:lvl1pPr>
          </a:lstStyle>
          <a:p>
            <a:pPr lvl="0"/>
            <a:r>
              <a:rPr lang="en-US" dirty="0"/>
              <a:t>Click to add text</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hasCustomPrompt="1"/>
          </p:nvPr>
        </p:nvSpPr>
        <p:spPr>
          <a:xfrm>
            <a:off x="6091197" y="1552575"/>
            <a:ext cx="2595603" cy="4438650"/>
          </a:xfrm>
        </p:spPr>
        <p:txBody>
          <a:bodyPr/>
          <a:lstStyle/>
          <a:p>
            <a:pPr lvl="0"/>
            <a:r>
              <a:rPr lang="en-US" dirty="0"/>
              <a:t>Click to add text</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41644338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Title and Three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hasCustomPrompt="1"/>
          </p:nvPr>
        </p:nvSpPr>
        <p:spPr>
          <a:xfrm>
            <a:off x="457201" y="1552575"/>
            <a:ext cx="2595603" cy="4438650"/>
          </a:xfrm>
        </p:spPr>
        <p:txBody>
          <a:bodyPr/>
          <a:lstStyle/>
          <a:p>
            <a:pPr lvl="0"/>
            <a:r>
              <a:rPr lang="en-US" dirty="0"/>
              <a:t>Click to add text</a:t>
            </a:r>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hasCustomPrompt="1"/>
          </p:nvPr>
        </p:nvSpPr>
        <p:spPr>
          <a:xfrm>
            <a:off x="3274199" y="1552575"/>
            <a:ext cx="2595602" cy="4438650"/>
          </a:xfrm>
        </p:spPr>
        <p:txBody>
          <a:bodyPr/>
          <a:lstStyle>
            <a:lvl1pPr>
              <a:defRPr/>
            </a:lvl1pPr>
          </a:lstStyle>
          <a:p>
            <a:pPr lvl="0"/>
            <a:r>
              <a:rPr lang="en-US" dirty="0"/>
              <a:t>Click to add text</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hasCustomPrompt="1"/>
          </p:nvPr>
        </p:nvSpPr>
        <p:spPr>
          <a:xfrm>
            <a:off x="6091197" y="1552575"/>
            <a:ext cx="2595603" cy="4438650"/>
          </a:xfrm>
        </p:spPr>
        <p:txBody>
          <a:bodyPr/>
          <a:lstStyle/>
          <a:p>
            <a:pPr lvl="0"/>
            <a:r>
              <a:rPr lang="en-US" dirty="0"/>
              <a:t>Click to add text</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3" name="Picture Placeholder 2"/>
          <p:cNvSpPr>
            <a:spLocks noGrp="1"/>
          </p:cNvSpPr>
          <p:nvPr>
            <p:ph type="pic" sz="quarter" idx="16"/>
          </p:nvPr>
        </p:nvSpPr>
        <p:spPr>
          <a:xfrm>
            <a:off x="1092200" y="2870200"/>
            <a:ext cx="6197600" cy="2108200"/>
          </a:xfrm>
        </p:spPr>
        <p:txBody>
          <a:bodyPr/>
          <a:lstStyle/>
          <a:p>
            <a:endParaRPr lang="en-IN"/>
          </a:p>
        </p:txBody>
      </p:sp>
    </p:spTree>
    <p:extLst>
      <p:ext uri="{BB962C8B-B14F-4D97-AF65-F5344CB8AC3E}">
        <p14:creationId xmlns:p14="http://schemas.microsoft.com/office/powerpoint/2010/main" val="12786354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Title and Three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4" name="Media Placeholder 3"/>
          <p:cNvSpPr>
            <a:spLocks noGrp="1"/>
          </p:cNvSpPr>
          <p:nvPr>
            <p:ph type="media" sz="quarter" idx="13"/>
          </p:nvPr>
        </p:nvSpPr>
        <p:spPr>
          <a:xfrm>
            <a:off x="457200" y="1693863"/>
            <a:ext cx="8229600" cy="3954462"/>
          </a:xfrm>
        </p:spPr>
        <p:txBody>
          <a:bodyPr/>
          <a:lstStyle/>
          <a:p>
            <a:endParaRPr lang="en-IN"/>
          </a:p>
        </p:txBody>
      </p:sp>
    </p:spTree>
    <p:extLst>
      <p:ext uri="{BB962C8B-B14F-4D97-AF65-F5344CB8AC3E}">
        <p14:creationId xmlns:p14="http://schemas.microsoft.com/office/powerpoint/2010/main" val="7840193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Four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hasCustomPrompt="1"/>
          </p:nvPr>
        </p:nvSpPr>
        <p:spPr>
          <a:xfrm>
            <a:off x="457200" y="1552575"/>
            <a:ext cx="1885950" cy="4438650"/>
          </a:xfrm>
        </p:spPr>
        <p:txBody>
          <a:bodyPr/>
          <a:lstStyle>
            <a:lvl1pPr>
              <a:defRPr/>
            </a:lvl1pPr>
          </a:lstStyle>
          <a:p>
            <a:pPr lvl="0"/>
            <a:r>
              <a:rPr lang="en-US" dirty="0"/>
              <a:t>Click to add text</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hasCustomPrompt="1"/>
          </p:nvPr>
        </p:nvSpPr>
        <p:spPr>
          <a:xfrm>
            <a:off x="2572593" y="1552575"/>
            <a:ext cx="1885950" cy="4438650"/>
          </a:xfrm>
        </p:spPr>
        <p:txBody>
          <a:bodyPr/>
          <a:lstStyle/>
          <a:p>
            <a:pPr lvl="0"/>
            <a:r>
              <a:rPr lang="en-US" dirty="0"/>
              <a:t>Click to add text</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hasCustomPrompt="1"/>
          </p:nvPr>
        </p:nvSpPr>
        <p:spPr>
          <a:xfrm>
            <a:off x="4687986" y="1552575"/>
            <a:ext cx="1885950" cy="4438650"/>
          </a:xfrm>
        </p:spPr>
        <p:txBody>
          <a:bodyPr/>
          <a:lstStyle/>
          <a:p>
            <a:pPr lvl="0"/>
            <a:r>
              <a:rPr lang="en-US" dirty="0"/>
              <a:t>Click to add text</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hasCustomPrompt="1"/>
          </p:nvPr>
        </p:nvSpPr>
        <p:spPr>
          <a:xfrm>
            <a:off x="6803378" y="1552575"/>
            <a:ext cx="1885950" cy="4438650"/>
          </a:xfrm>
        </p:spPr>
        <p:txBody>
          <a:bodyPr/>
          <a:lstStyle/>
          <a:p>
            <a:pPr marL="256032" marR="0" lvl="0" indent="-154432" algn="l" defTabSz="914400" rtl="0" eaLnBrk="1" fontAlgn="auto" latinLnBrk="0" hangingPunct="1">
              <a:lnSpc>
                <a:spcPct val="100000"/>
              </a:lnSpc>
              <a:spcBef>
                <a:spcPts val="1500"/>
              </a:spcBef>
              <a:spcAft>
                <a:spcPts val="0"/>
              </a:spcAft>
              <a:buClr>
                <a:srgbClr val="007FA3"/>
              </a:buClr>
              <a:buSzPct val="100000"/>
              <a:buFont typeface="Arial"/>
              <a:buChar char="•"/>
              <a:tabLst/>
              <a:defRPr/>
            </a:pPr>
            <a:r>
              <a:rPr lang="en-US" dirty="0"/>
              <a:t>Click to add text</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30112147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Figure + Caption">
    <p:spTree>
      <p:nvGrpSpPr>
        <p:cNvPr id="1" name="Shape 53"/>
        <p:cNvGrpSpPr/>
        <p:nvPr/>
      </p:nvGrpSpPr>
      <p:grpSpPr>
        <a:xfrm>
          <a:off x="0" y="0"/>
          <a:ext cx="0" cy="0"/>
          <a:chOff x="0" y="0"/>
          <a:chExt cx="0" cy="0"/>
        </a:xfrm>
      </p:grpSpPr>
      <p:sp>
        <p:nvSpPr>
          <p:cNvPr id="54" name="Tile Placeholder"/>
          <p:cNvSpPr txBox="1">
            <a:spLocks noGrp="1"/>
          </p:cNvSpPr>
          <p:nvPr>
            <p:ph type="title" hasCustomPrompt="1"/>
          </p:nvPr>
        </p:nvSpPr>
        <p:spPr>
          <a:xfrm>
            <a:off x="457200" y="228600"/>
            <a:ext cx="8229600" cy="106679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dirty="0"/>
              <a:t>Click to add figure number and title</a:t>
            </a:r>
            <a:endParaRPr dirty="0"/>
          </a:p>
        </p:txBody>
      </p:sp>
      <p:sp>
        <p:nvSpPr>
          <p:cNvPr id="3" name="Picture Placeholder 2">
            <a:extLst>
              <a:ext uri="{FF2B5EF4-FFF2-40B4-BE49-F238E27FC236}">
                <a16:creationId xmlns:a16="http://schemas.microsoft.com/office/drawing/2014/main" id="{AD3CB993-AC2C-41C5-BFB7-F2499EC1A14C}"/>
              </a:ext>
            </a:extLst>
          </p:cNvPr>
          <p:cNvSpPr>
            <a:spLocks noGrp="1"/>
          </p:cNvSpPr>
          <p:nvPr>
            <p:ph type="pic" sz="quarter" idx="13"/>
          </p:nvPr>
        </p:nvSpPr>
        <p:spPr>
          <a:xfrm>
            <a:off x="457200" y="1512888"/>
            <a:ext cx="8232775" cy="3417887"/>
          </a:xfrm>
        </p:spPr>
        <p:txBody>
          <a:bodyPr/>
          <a:lstStyle/>
          <a:p>
            <a:endParaRPr lang="en-US" dirty="0"/>
          </a:p>
        </p:txBody>
      </p:sp>
      <p:sp>
        <p:nvSpPr>
          <p:cNvPr id="55" name="Content Placeholder"/>
          <p:cNvSpPr txBox="1">
            <a:spLocks noGrp="1"/>
          </p:cNvSpPr>
          <p:nvPr>
            <p:ph type="body" idx="1" hasCustomPrompt="1"/>
          </p:nvPr>
        </p:nvSpPr>
        <p:spPr>
          <a:xfrm>
            <a:off x="457200" y="5050971"/>
            <a:ext cx="8229600" cy="1018367"/>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1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r>
              <a:rPr lang="en-US" dirty="0"/>
              <a:t>Click to add caption</a:t>
            </a:r>
            <a:endParaRPr dirty="0"/>
          </a:p>
        </p:txBody>
      </p:sp>
      <p:sp>
        <p:nvSpPr>
          <p:cNvPr id="57" name="Shape 57"/>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58" name="Shape 58"/>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dk1"/>
                </a:solidFill>
                <a:latin typeface="Arial"/>
                <a:ea typeface="Arial"/>
                <a:cs typeface="Arial"/>
                <a:sym typeface="Arial"/>
              </a:rPr>
              <a:t>‹#›</a:t>
            </a:fld>
            <a:endParaRPr lang="en-US" sz="9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8850975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_Figure + Caption">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14F033AD-BE5C-406D-991C-6AC56003E70C}"/>
              </a:ext>
            </a:extLst>
          </p:cNvPr>
          <p:cNvSpPr>
            <a:spLocks noGrp="1"/>
          </p:cNvSpPr>
          <p:nvPr>
            <p:ph type="title" hasCustomPrompt="1"/>
          </p:nvPr>
        </p:nvSpPr>
        <p:spPr/>
        <p:txBody>
          <a:bodyPr/>
          <a:lstStyle>
            <a:lvl1pPr>
              <a:defRPr sz="3600">
                <a:latin typeface="+mj-lt"/>
              </a:defRPr>
            </a:lvl1pPr>
          </a:lstStyle>
          <a:p>
            <a:r>
              <a:rPr lang="en-US" dirty="0"/>
              <a:t>Click to add figure number and title</a:t>
            </a:r>
          </a:p>
        </p:txBody>
      </p:sp>
      <p:sp>
        <p:nvSpPr>
          <p:cNvPr id="7" name="Content Placeholder 6">
            <a:extLst>
              <a:ext uri="{FF2B5EF4-FFF2-40B4-BE49-F238E27FC236}">
                <a16:creationId xmlns:a16="http://schemas.microsoft.com/office/drawing/2014/main" id="{9E6B7D3D-89C9-4133-8D8A-D779EB3D311D}"/>
              </a:ext>
            </a:extLst>
          </p:cNvPr>
          <p:cNvSpPr>
            <a:spLocks noGrp="1"/>
          </p:cNvSpPr>
          <p:nvPr>
            <p:ph sz="quarter" idx="13" hasCustomPrompt="1"/>
          </p:nvPr>
        </p:nvSpPr>
        <p:spPr>
          <a:xfrm>
            <a:off x="457200" y="1481138"/>
            <a:ext cx="4484688" cy="3754437"/>
          </a:xfrm>
        </p:spPr>
        <p:txBody>
          <a:bodyPr/>
          <a:lstStyle>
            <a:lvl1pPr>
              <a:defRPr/>
            </a:lvl1pPr>
          </a:lstStyle>
          <a:p>
            <a:pPr lvl="0"/>
            <a:r>
              <a:rPr lang="en-US" dirty="0"/>
              <a:t>Figure</a:t>
            </a:r>
          </a:p>
        </p:txBody>
      </p:sp>
      <p:sp>
        <p:nvSpPr>
          <p:cNvPr id="12" name="Content Placeholder 11">
            <a:extLst>
              <a:ext uri="{FF2B5EF4-FFF2-40B4-BE49-F238E27FC236}">
                <a16:creationId xmlns:a16="http://schemas.microsoft.com/office/drawing/2014/main" id="{5CAF3FDC-1BE7-4A19-A3D7-02B55407B90B}"/>
              </a:ext>
            </a:extLst>
          </p:cNvPr>
          <p:cNvSpPr>
            <a:spLocks noGrp="1"/>
          </p:cNvSpPr>
          <p:nvPr>
            <p:ph sz="quarter" idx="15" hasCustomPrompt="1"/>
          </p:nvPr>
        </p:nvSpPr>
        <p:spPr>
          <a:xfrm>
            <a:off x="5048250" y="1481138"/>
            <a:ext cx="3638550" cy="3754437"/>
          </a:xfrm>
        </p:spPr>
        <p:txBody>
          <a:bodyPr/>
          <a:lstStyle/>
          <a:p>
            <a:pPr lvl="0"/>
            <a:r>
              <a:rPr lang="en-US" dirty="0"/>
              <a:t>Click to add text</a:t>
            </a:r>
          </a:p>
        </p:txBody>
      </p:sp>
      <p:sp>
        <p:nvSpPr>
          <p:cNvPr id="8" name="Content Placeholder 7">
            <a:extLst>
              <a:ext uri="{FF2B5EF4-FFF2-40B4-BE49-F238E27FC236}">
                <a16:creationId xmlns:a16="http://schemas.microsoft.com/office/drawing/2014/main" id="{BF40E849-7663-4A75-9BC8-012C23AC44DF}"/>
              </a:ext>
            </a:extLst>
          </p:cNvPr>
          <p:cNvSpPr>
            <a:spLocks noGrp="1"/>
          </p:cNvSpPr>
          <p:nvPr>
            <p:ph sz="quarter" idx="14" hasCustomPrompt="1"/>
          </p:nvPr>
        </p:nvSpPr>
        <p:spPr>
          <a:xfrm>
            <a:off x="457200" y="5343525"/>
            <a:ext cx="8229600" cy="533400"/>
          </a:xfrm>
        </p:spPr>
        <p:txBody>
          <a:bodyPr/>
          <a:lstStyle>
            <a:lvl1pPr>
              <a:defRPr/>
            </a:lvl1pPr>
          </a:lstStyle>
          <a:p>
            <a:pPr lvl="0"/>
            <a:r>
              <a:rPr lang="en-US" dirty="0"/>
              <a:t>Caption</a:t>
            </a:r>
          </a:p>
        </p:txBody>
      </p:sp>
      <p:sp>
        <p:nvSpPr>
          <p:cNvPr id="3" name="Date Placeholder 2">
            <a:extLst>
              <a:ext uri="{FF2B5EF4-FFF2-40B4-BE49-F238E27FC236}">
                <a16:creationId xmlns:a16="http://schemas.microsoft.com/office/drawing/2014/main" id="{A50D4E5D-00F7-4DC6-9BB0-713B8A0DA354}"/>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18AF4094-2296-458C-908A-D778D0DF5AF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16604282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Label Layout 1">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065091D3-E16C-46AB-9A90-0F52CA812534}"/>
              </a:ext>
            </a:extLst>
          </p:cNvPr>
          <p:cNvSpPr>
            <a:spLocks noGrp="1"/>
          </p:cNvSpPr>
          <p:nvPr>
            <p:ph type="title" hasCustomPrompt="1"/>
          </p:nvPr>
        </p:nvSpPr>
        <p:spPr/>
        <p:txBody>
          <a:bodyPr/>
          <a:lstStyle>
            <a:lvl1pPr>
              <a:defRPr sz="3600">
                <a:latin typeface="+mj-lt"/>
              </a:defRPr>
            </a:lvl1pPr>
          </a:lstStyle>
          <a:p>
            <a:r>
              <a:rPr lang="en-US" dirty="0"/>
              <a:t>Click to add title</a:t>
            </a:r>
          </a:p>
        </p:txBody>
      </p:sp>
      <p:sp>
        <p:nvSpPr>
          <p:cNvPr id="7" name="Image title">
            <a:extLst>
              <a:ext uri="{FF2B5EF4-FFF2-40B4-BE49-F238E27FC236}">
                <a16:creationId xmlns:a16="http://schemas.microsoft.com/office/drawing/2014/main" id="{CB345607-C53C-44AF-8929-3BDC4C617AB6}"/>
              </a:ext>
            </a:extLst>
          </p:cNvPr>
          <p:cNvSpPr>
            <a:spLocks noGrp="1"/>
          </p:cNvSpPr>
          <p:nvPr>
            <p:ph type="body" sz="quarter" idx="13" hasCustomPrompt="1"/>
          </p:nvPr>
        </p:nvSpPr>
        <p:spPr>
          <a:xfrm>
            <a:off x="2982913" y="4359275"/>
            <a:ext cx="3482975" cy="600075"/>
          </a:xfrm>
        </p:spPr>
        <p:txBody>
          <a:bodyPr/>
          <a:lstStyle>
            <a:lvl1pPr marL="101600" indent="0">
              <a:buNone/>
              <a:defRPr/>
            </a:lvl1pPr>
          </a:lstStyle>
          <a:p>
            <a:pPr lvl="0"/>
            <a:r>
              <a:rPr lang="en-US" dirty="0"/>
              <a:t>Image title</a:t>
            </a:r>
          </a:p>
        </p:txBody>
      </p:sp>
      <p:sp>
        <p:nvSpPr>
          <p:cNvPr id="9" name="Image">
            <a:extLst>
              <a:ext uri="{FF2B5EF4-FFF2-40B4-BE49-F238E27FC236}">
                <a16:creationId xmlns:a16="http://schemas.microsoft.com/office/drawing/2014/main" id="{C2661E64-2E71-47E6-A5A0-AC5348C08F51}"/>
              </a:ext>
            </a:extLst>
          </p:cNvPr>
          <p:cNvSpPr>
            <a:spLocks noGrp="1"/>
          </p:cNvSpPr>
          <p:nvPr>
            <p:ph type="pic" sz="quarter" idx="14" hasCustomPrompt="1"/>
          </p:nvPr>
        </p:nvSpPr>
        <p:spPr>
          <a:xfrm>
            <a:off x="2982912" y="1681163"/>
            <a:ext cx="3482975" cy="2559050"/>
          </a:xfrm>
        </p:spPr>
        <p:txBody>
          <a:bodyPr/>
          <a:lstStyle>
            <a:lvl1pPr marL="101600" indent="0">
              <a:buNone/>
              <a:defRPr/>
            </a:lvl1pPr>
          </a:lstStyle>
          <a:p>
            <a:r>
              <a:rPr lang="en-US" dirty="0"/>
              <a:t>Image</a:t>
            </a:r>
          </a:p>
        </p:txBody>
      </p:sp>
      <p:sp>
        <p:nvSpPr>
          <p:cNvPr id="11" name="Label 1">
            <a:extLst>
              <a:ext uri="{FF2B5EF4-FFF2-40B4-BE49-F238E27FC236}">
                <a16:creationId xmlns:a16="http://schemas.microsoft.com/office/drawing/2014/main" id="{3D0F2ED9-E212-40DC-A528-BE4A28DE88FD}"/>
              </a:ext>
            </a:extLst>
          </p:cNvPr>
          <p:cNvSpPr>
            <a:spLocks noGrp="1"/>
          </p:cNvSpPr>
          <p:nvPr>
            <p:ph type="body" sz="quarter" idx="15" hasCustomPrompt="1"/>
          </p:nvPr>
        </p:nvSpPr>
        <p:spPr>
          <a:xfrm>
            <a:off x="808109" y="1681163"/>
            <a:ext cx="1220716" cy="627062"/>
          </a:xfrm>
        </p:spPr>
        <p:txBody>
          <a:bodyPr/>
          <a:lstStyle>
            <a:lvl1pPr marL="101600" indent="0">
              <a:buNone/>
              <a:defRPr/>
            </a:lvl1pPr>
          </a:lstStyle>
          <a:p>
            <a:pPr lvl="0"/>
            <a:r>
              <a:rPr lang="en-US" dirty="0"/>
              <a:t>Label 1</a:t>
            </a:r>
          </a:p>
        </p:txBody>
      </p:sp>
      <p:sp>
        <p:nvSpPr>
          <p:cNvPr id="13" name="Label 2">
            <a:extLst>
              <a:ext uri="{FF2B5EF4-FFF2-40B4-BE49-F238E27FC236}">
                <a16:creationId xmlns:a16="http://schemas.microsoft.com/office/drawing/2014/main" id="{E8D9AEEF-5E99-48D4-B8C3-C5A995764DCA}"/>
              </a:ext>
            </a:extLst>
          </p:cNvPr>
          <p:cNvSpPr>
            <a:spLocks noGrp="1"/>
          </p:cNvSpPr>
          <p:nvPr>
            <p:ph type="body" sz="quarter" idx="16" hasCustomPrompt="1"/>
          </p:nvPr>
        </p:nvSpPr>
        <p:spPr>
          <a:xfrm>
            <a:off x="808109" y="2647157"/>
            <a:ext cx="1206500" cy="627062"/>
          </a:xfrm>
        </p:spPr>
        <p:txBody>
          <a:bodyPr/>
          <a:lstStyle>
            <a:lvl1pPr marL="101600" indent="0">
              <a:buNone/>
              <a:defRPr/>
            </a:lvl1pPr>
          </a:lstStyle>
          <a:p>
            <a:pPr lvl="0"/>
            <a:r>
              <a:rPr lang="en-US" dirty="0"/>
              <a:t>Label 2</a:t>
            </a:r>
          </a:p>
        </p:txBody>
      </p:sp>
      <p:sp>
        <p:nvSpPr>
          <p:cNvPr id="15" name="Label 3">
            <a:extLst>
              <a:ext uri="{FF2B5EF4-FFF2-40B4-BE49-F238E27FC236}">
                <a16:creationId xmlns:a16="http://schemas.microsoft.com/office/drawing/2014/main" id="{99D329CE-18C4-40A9-A508-1684979AC205}"/>
              </a:ext>
            </a:extLst>
          </p:cNvPr>
          <p:cNvSpPr>
            <a:spLocks noGrp="1"/>
          </p:cNvSpPr>
          <p:nvPr>
            <p:ph type="body" sz="quarter" idx="17" hasCustomPrompt="1"/>
          </p:nvPr>
        </p:nvSpPr>
        <p:spPr>
          <a:xfrm>
            <a:off x="808109" y="3613151"/>
            <a:ext cx="1206500" cy="627062"/>
          </a:xfrm>
        </p:spPr>
        <p:txBody>
          <a:bodyPr/>
          <a:lstStyle>
            <a:lvl1pPr marL="101600" indent="0">
              <a:buNone/>
              <a:defRPr/>
            </a:lvl1pPr>
          </a:lstStyle>
          <a:p>
            <a:pPr lvl="0"/>
            <a:r>
              <a:rPr lang="en-US" dirty="0"/>
              <a:t>Label 3</a:t>
            </a:r>
          </a:p>
        </p:txBody>
      </p:sp>
      <p:sp>
        <p:nvSpPr>
          <p:cNvPr id="17" name="Label 4">
            <a:extLst>
              <a:ext uri="{FF2B5EF4-FFF2-40B4-BE49-F238E27FC236}">
                <a16:creationId xmlns:a16="http://schemas.microsoft.com/office/drawing/2014/main" id="{AAE735D1-F9F4-4525-9ED5-F10A99DECCB8}"/>
              </a:ext>
            </a:extLst>
          </p:cNvPr>
          <p:cNvSpPr>
            <a:spLocks noGrp="1"/>
          </p:cNvSpPr>
          <p:nvPr>
            <p:ph type="body" sz="quarter" idx="18" hasCustomPrompt="1"/>
          </p:nvPr>
        </p:nvSpPr>
        <p:spPr>
          <a:xfrm>
            <a:off x="7381874" y="1681163"/>
            <a:ext cx="1304925" cy="627062"/>
          </a:xfrm>
        </p:spPr>
        <p:txBody>
          <a:bodyPr/>
          <a:lstStyle>
            <a:lvl1pPr marL="101600" indent="0">
              <a:buNone/>
              <a:defRPr/>
            </a:lvl1pPr>
          </a:lstStyle>
          <a:p>
            <a:pPr lvl="0"/>
            <a:r>
              <a:rPr lang="en-US" dirty="0"/>
              <a:t>Label 4</a:t>
            </a:r>
          </a:p>
        </p:txBody>
      </p:sp>
      <p:sp>
        <p:nvSpPr>
          <p:cNvPr id="19" name="Label 5">
            <a:extLst>
              <a:ext uri="{FF2B5EF4-FFF2-40B4-BE49-F238E27FC236}">
                <a16:creationId xmlns:a16="http://schemas.microsoft.com/office/drawing/2014/main" id="{43259E0C-9247-446E-9183-FBF70F8FD41C}"/>
              </a:ext>
            </a:extLst>
          </p:cNvPr>
          <p:cNvSpPr>
            <a:spLocks noGrp="1"/>
          </p:cNvSpPr>
          <p:nvPr>
            <p:ph type="body" sz="quarter" idx="19" hasCustomPrompt="1"/>
          </p:nvPr>
        </p:nvSpPr>
        <p:spPr>
          <a:xfrm>
            <a:off x="7381874" y="2651590"/>
            <a:ext cx="1304925" cy="618196"/>
          </a:xfrm>
        </p:spPr>
        <p:txBody>
          <a:bodyPr/>
          <a:lstStyle>
            <a:lvl1pPr marL="101600" indent="0">
              <a:buNone/>
              <a:defRPr/>
            </a:lvl1pPr>
          </a:lstStyle>
          <a:p>
            <a:pPr lvl="0"/>
            <a:r>
              <a:rPr lang="en-US" dirty="0"/>
              <a:t>Label 5</a:t>
            </a:r>
          </a:p>
        </p:txBody>
      </p:sp>
      <p:sp>
        <p:nvSpPr>
          <p:cNvPr id="21" name="Label 6">
            <a:extLst>
              <a:ext uri="{FF2B5EF4-FFF2-40B4-BE49-F238E27FC236}">
                <a16:creationId xmlns:a16="http://schemas.microsoft.com/office/drawing/2014/main" id="{111F58DF-A1C1-4DD6-ADE5-FC54A39F6757}"/>
              </a:ext>
            </a:extLst>
          </p:cNvPr>
          <p:cNvSpPr>
            <a:spLocks noGrp="1"/>
          </p:cNvSpPr>
          <p:nvPr>
            <p:ph type="body" sz="quarter" idx="20" hasCustomPrompt="1"/>
          </p:nvPr>
        </p:nvSpPr>
        <p:spPr>
          <a:xfrm>
            <a:off x="7381874" y="3613151"/>
            <a:ext cx="1304925" cy="627063"/>
          </a:xfrm>
        </p:spPr>
        <p:txBody>
          <a:bodyPr/>
          <a:lstStyle>
            <a:lvl1pPr marL="101600" indent="0">
              <a:buNone/>
              <a:defRPr/>
            </a:lvl1pPr>
          </a:lstStyle>
          <a:p>
            <a:pPr lvl="0"/>
            <a:r>
              <a:rPr lang="en-US" dirty="0"/>
              <a:t>Label 6</a:t>
            </a:r>
          </a:p>
        </p:txBody>
      </p:sp>
      <p:sp>
        <p:nvSpPr>
          <p:cNvPr id="3" name="Date Placeholder 2">
            <a:extLst>
              <a:ext uri="{FF2B5EF4-FFF2-40B4-BE49-F238E27FC236}">
                <a16:creationId xmlns:a16="http://schemas.microsoft.com/office/drawing/2014/main" id="{D0CEC9E9-2CDA-42DF-A6E1-55B455A7E67B}"/>
              </a:ext>
            </a:extLst>
          </p:cNvPr>
          <p:cNvSpPr>
            <a:spLocks noGrp="1"/>
          </p:cNvSpPr>
          <p:nvPr>
            <p:ph type="dt" idx="10"/>
          </p:nvPr>
        </p:nvSpPr>
        <p:spPr/>
        <p:txBody>
          <a:bodyPr/>
          <a:lstStyle/>
          <a:p>
            <a:endParaRPr lang="en-US"/>
          </a:p>
        </p:txBody>
      </p:sp>
      <p:sp>
        <p:nvSpPr>
          <p:cNvPr id="4" name="Slide Number Placeholder 3">
            <a:extLst>
              <a:ext uri="{FF2B5EF4-FFF2-40B4-BE49-F238E27FC236}">
                <a16:creationId xmlns:a16="http://schemas.microsoft.com/office/drawing/2014/main" id="{5429F10E-ACBA-4EA4-B23A-AC32FC5A681B}"/>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202789916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Label Layout 2">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5AF36A59-5DE4-46F3-8035-460E546D5673}"/>
              </a:ext>
            </a:extLst>
          </p:cNvPr>
          <p:cNvSpPr>
            <a:spLocks noGrp="1"/>
          </p:cNvSpPr>
          <p:nvPr>
            <p:ph type="title"/>
          </p:nvPr>
        </p:nvSpPr>
        <p:spPr/>
        <p:txBody>
          <a:bodyPr/>
          <a:lstStyle>
            <a:lvl1pPr>
              <a:defRPr sz="3600">
                <a:latin typeface="+mj-lt"/>
              </a:defRPr>
            </a:lvl1pPr>
          </a:lstStyle>
          <a:p>
            <a:r>
              <a:rPr lang="en-US" dirty="0"/>
              <a:t>Click to edit Master title style</a:t>
            </a:r>
          </a:p>
        </p:txBody>
      </p:sp>
      <p:sp>
        <p:nvSpPr>
          <p:cNvPr id="7" name="Image 1 title">
            <a:extLst>
              <a:ext uri="{FF2B5EF4-FFF2-40B4-BE49-F238E27FC236}">
                <a16:creationId xmlns:a16="http://schemas.microsoft.com/office/drawing/2014/main" id="{2BEC12FB-EC67-436F-875F-0A306862EF78}"/>
              </a:ext>
            </a:extLst>
          </p:cNvPr>
          <p:cNvSpPr>
            <a:spLocks noGrp="1"/>
          </p:cNvSpPr>
          <p:nvPr>
            <p:ph type="body" sz="quarter" idx="13" hasCustomPrompt="1"/>
          </p:nvPr>
        </p:nvSpPr>
        <p:spPr>
          <a:xfrm>
            <a:off x="457201" y="4392613"/>
            <a:ext cx="2107323" cy="504825"/>
          </a:xfrm>
        </p:spPr>
        <p:txBody>
          <a:bodyPr/>
          <a:lstStyle>
            <a:lvl1pPr marL="101600" indent="0">
              <a:buNone/>
              <a:defRPr/>
            </a:lvl1pPr>
          </a:lstStyle>
          <a:p>
            <a:pPr lvl="0"/>
            <a:r>
              <a:rPr lang="en-US" dirty="0"/>
              <a:t>Image 1 title</a:t>
            </a:r>
          </a:p>
        </p:txBody>
      </p:sp>
      <p:sp>
        <p:nvSpPr>
          <p:cNvPr id="9" name="Image 1">
            <a:extLst>
              <a:ext uri="{FF2B5EF4-FFF2-40B4-BE49-F238E27FC236}">
                <a16:creationId xmlns:a16="http://schemas.microsoft.com/office/drawing/2014/main" id="{1E9C9C32-F8ED-4AA8-AA00-26A2357E73E9}"/>
              </a:ext>
            </a:extLst>
          </p:cNvPr>
          <p:cNvSpPr>
            <a:spLocks noGrp="1"/>
          </p:cNvSpPr>
          <p:nvPr>
            <p:ph type="pic" sz="quarter" idx="14" hasCustomPrompt="1"/>
          </p:nvPr>
        </p:nvSpPr>
        <p:spPr>
          <a:xfrm>
            <a:off x="457200" y="1817688"/>
            <a:ext cx="2107324" cy="2386012"/>
          </a:xfrm>
        </p:spPr>
        <p:txBody>
          <a:bodyPr/>
          <a:lstStyle>
            <a:lvl1pPr marL="101600" indent="0">
              <a:buNone/>
              <a:defRPr/>
            </a:lvl1pPr>
          </a:lstStyle>
          <a:p>
            <a:r>
              <a:rPr lang="en-US" dirty="0"/>
              <a:t>Image 1</a:t>
            </a:r>
          </a:p>
        </p:txBody>
      </p:sp>
      <p:sp>
        <p:nvSpPr>
          <p:cNvPr id="11" name="Label 1.1">
            <a:extLst>
              <a:ext uri="{FF2B5EF4-FFF2-40B4-BE49-F238E27FC236}">
                <a16:creationId xmlns:a16="http://schemas.microsoft.com/office/drawing/2014/main" id="{BD50A136-2F5A-4764-ADDC-D48D703981CC}"/>
              </a:ext>
            </a:extLst>
          </p:cNvPr>
          <p:cNvSpPr>
            <a:spLocks noGrp="1"/>
          </p:cNvSpPr>
          <p:nvPr>
            <p:ph type="body" sz="quarter" idx="15" hasCustomPrompt="1"/>
          </p:nvPr>
        </p:nvSpPr>
        <p:spPr>
          <a:xfrm>
            <a:off x="2774622" y="1794947"/>
            <a:ext cx="1534619" cy="591855"/>
          </a:xfrm>
        </p:spPr>
        <p:txBody>
          <a:bodyPr/>
          <a:lstStyle>
            <a:lvl1pPr marL="101600" indent="0">
              <a:buNone/>
              <a:defRPr/>
            </a:lvl1pPr>
          </a:lstStyle>
          <a:p>
            <a:pPr lvl="0"/>
            <a:r>
              <a:rPr lang="en-US" dirty="0"/>
              <a:t>Label 1.1</a:t>
            </a:r>
          </a:p>
        </p:txBody>
      </p:sp>
      <p:sp>
        <p:nvSpPr>
          <p:cNvPr id="13" name="Label 1.2">
            <a:extLst>
              <a:ext uri="{FF2B5EF4-FFF2-40B4-BE49-F238E27FC236}">
                <a16:creationId xmlns:a16="http://schemas.microsoft.com/office/drawing/2014/main" id="{16926224-3F90-4884-9AC1-A5381D78801B}"/>
              </a:ext>
            </a:extLst>
          </p:cNvPr>
          <p:cNvSpPr>
            <a:spLocks noGrp="1"/>
          </p:cNvSpPr>
          <p:nvPr>
            <p:ph type="body" sz="quarter" idx="16" hasCustomPrompt="1"/>
          </p:nvPr>
        </p:nvSpPr>
        <p:spPr>
          <a:xfrm>
            <a:off x="2774622" y="2707481"/>
            <a:ext cx="1534619" cy="606425"/>
          </a:xfrm>
        </p:spPr>
        <p:txBody>
          <a:bodyPr/>
          <a:lstStyle>
            <a:lvl1pPr marL="101600" indent="0">
              <a:buNone/>
              <a:defRPr/>
            </a:lvl1pPr>
          </a:lstStyle>
          <a:p>
            <a:pPr lvl="0"/>
            <a:r>
              <a:rPr lang="en-US" dirty="0"/>
              <a:t>Label 1.2</a:t>
            </a:r>
          </a:p>
        </p:txBody>
      </p:sp>
      <p:sp>
        <p:nvSpPr>
          <p:cNvPr id="15" name="Label 1.3">
            <a:extLst>
              <a:ext uri="{FF2B5EF4-FFF2-40B4-BE49-F238E27FC236}">
                <a16:creationId xmlns:a16="http://schemas.microsoft.com/office/drawing/2014/main" id="{D4719473-9C3F-493C-B20E-27CDBBA38B68}"/>
              </a:ext>
            </a:extLst>
          </p:cNvPr>
          <p:cNvSpPr>
            <a:spLocks noGrp="1"/>
          </p:cNvSpPr>
          <p:nvPr>
            <p:ph type="body" sz="quarter" idx="17" hasCustomPrompt="1"/>
          </p:nvPr>
        </p:nvSpPr>
        <p:spPr>
          <a:xfrm>
            <a:off x="2774622" y="3597275"/>
            <a:ext cx="1534619" cy="606425"/>
          </a:xfrm>
        </p:spPr>
        <p:txBody>
          <a:bodyPr/>
          <a:lstStyle>
            <a:lvl1pPr marL="101600" indent="0">
              <a:buNone/>
              <a:defRPr/>
            </a:lvl1pPr>
          </a:lstStyle>
          <a:p>
            <a:pPr lvl="0"/>
            <a:r>
              <a:rPr lang="en-US" dirty="0"/>
              <a:t>Label 1.3</a:t>
            </a:r>
          </a:p>
        </p:txBody>
      </p:sp>
      <p:sp>
        <p:nvSpPr>
          <p:cNvPr id="17" name="Image 2 title">
            <a:extLst>
              <a:ext uri="{FF2B5EF4-FFF2-40B4-BE49-F238E27FC236}">
                <a16:creationId xmlns:a16="http://schemas.microsoft.com/office/drawing/2014/main" id="{DC526974-AF8C-4228-AAAA-33D0B8AB71C7}"/>
              </a:ext>
            </a:extLst>
          </p:cNvPr>
          <p:cNvSpPr>
            <a:spLocks noGrp="1"/>
          </p:cNvSpPr>
          <p:nvPr>
            <p:ph type="body" sz="quarter" idx="18" hasCustomPrompt="1"/>
          </p:nvPr>
        </p:nvSpPr>
        <p:spPr>
          <a:xfrm>
            <a:off x="4931596" y="4347439"/>
            <a:ext cx="2107323" cy="504825"/>
          </a:xfrm>
        </p:spPr>
        <p:txBody>
          <a:bodyPr/>
          <a:lstStyle>
            <a:lvl1pPr marL="101600" indent="0">
              <a:buNone/>
              <a:defRPr/>
            </a:lvl1pPr>
          </a:lstStyle>
          <a:p>
            <a:pPr lvl="0"/>
            <a:r>
              <a:rPr lang="en-US" dirty="0"/>
              <a:t>Image 2 title</a:t>
            </a:r>
          </a:p>
        </p:txBody>
      </p:sp>
      <p:sp>
        <p:nvSpPr>
          <p:cNvPr id="19" name="Image 2">
            <a:extLst>
              <a:ext uri="{FF2B5EF4-FFF2-40B4-BE49-F238E27FC236}">
                <a16:creationId xmlns:a16="http://schemas.microsoft.com/office/drawing/2014/main" id="{812D2BB4-4991-47F8-9E82-9C9B41B052FB}"/>
              </a:ext>
            </a:extLst>
          </p:cNvPr>
          <p:cNvSpPr>
            <a:spLocks noGrp="1"/>
          </p:cNvSpPr>
          <p:nvPr>
            <p:ph type="pic" sz="quarter" idx="19" hasCustomPrompt="1"/>
          </p:nvPr>
        </p:nvSpPr>
        <p:spPr>
          <a:xfrm>
            <a:off x="4931596" y="1806537"/>
            <a:ext cx="2107323" cy="2397164"/>
          </a:xfrm>
        </p:spPr>
        <p:txBody>
          <a:bodyPr/>
          <a:lstStyle>
            <a:lvl1pPr marL="101600" indent="0">
              <a:buNone/>
              <a:defRPr/>
            </a:lvl1pPr>
          </a:lstStyle>
          <a:p>
            <a:r>
              <a:rPr lang="en-US" dirty="0"/>
              <a:t>Image 2</a:t>
            </a:r>
          </a:p>
        </p:txBody>
      </p:sp>
      <p:sp>
        <p:nvSpPr>
          <p:cNvPr id="21" name="Label 2.1">
            <a:extLst>
              <a:ext uri="{FF2B5EF4-FFF2-40B4-BE49-F238E27FC236}">
                <a16:creationId xmlns:a16="http://schemas.microsoft.com/office/drawing/2014/main" id="{15D9E78D-62D4-4D7C-8E37-E1A000DA23A2}"/>
              </a:ext>
            </a:extLst>
          </p:cNvPr>
          <p:cNvSpPr>
            <a:spLocks noGrp="1"/>
          </p:cNvSpPr>
          <p:nvPr>
            <p:ph type="body" sz="quarter" idx="20" hasCustomPrompt="1"/>
          </p:nvPr>
        </p:nvSpPr>
        <p:spPr>
          <a:xfrm>
            <a:off x="7304580" y="1794947"/>
            <a:ext cx="1534619" cy="608524"/>
          </a:xfrm>
        </p:spPr>
        <p:txBody>
          <a:bodyPr/>
          <a:lstStyle>
            <a:lvl1pPr marL="101600" indent="0">
              <a:buNone/>
              <a:defRPr/>
            </a:lvl1pPr>
          </a:lstStyle>
          <a:p>
            <a:pPr lvl="0"/>
            <a:r>
              <a:rPr lang="en-US" dirty="0"/>
              <a:t>Label 2.1</a:t>
            </a:r>
          </a:p>
        </p:txBody>
      </p:sp>
      <p:sp>
        <p:nvSpPr>
          <p:cNvPr id="23" name="Label 2.2">
            <a:extLst>
              <a:ext uri="{FF2B5EF4-FFF2-40B4-BE49-F238E27FC236}">
                <a16:creationId xmlns:a16="http://schemas.microsoft.com/office/drawing/2014/main" id="{0ECEA5DA-0702-46DA-A4DD-66B7E7FF424B}"/>
              </a:ext>
            </a:extLst>
          </p:cNvPr>
          <p:cNvSpPr>
            <a:spLocks noGrp="1"/>
          </p:cNvSpPr>
          <p:nvPr>
            <p:ph type="body" sz="quarter" idx="21" hasCustomPrompt="1"/>
          </p:nvPr>
        </p:nvSpPr>
        <p:spPr>
          <a:xfrm>
            <a:off x="7304579" y="2707481"/>
            <a:ext cx="1534619" cy="608524"/>
          </a:xfrm>
        </p:spPr>
        <p:txBody>
          <a:bodyPr/>
          <a:lstStyle>
            <a:lvl1pPr marL="101600" indent="0">
              <a:buNone/>
              <a:defRPr/>
            </a:lvl1pPr>
          </a:lstStyle>
          <a:p>
            <a:pPr lvl="0"/>
            <a:r>
              <a:rPr lang="en-US" dirty="0"/>
              <a:t>Label 2.2</a:t>
            </a:r>
          </a:p>
        </p:txBody>
      </p:sp>
      <p:sp>
        <p:nvSpPr>
          <p:cNvPr id="25" name="Label 2.3">
            <a:extLst>
              <a:ext uri="{FF2B5EF4-FFF2-40B4-BE49-F238E27FC236}">
                <a16:creationId xmlns:a16="http://schemas.microsoft.com/office/drawing/2014/main" id="{64C63D68-E200-46DF-8E34-92DC66FE879B}"/>
              </a:ext>
            </a:extLst>
          </p:cNvPr>
          <p:cNvSpPr>
            <a:spLocks noGrp="1"/>
          </p:cNvSpPr>
          <p:nvPr>
            <p:ph type="body" sz="quarter" idx="22" hasCustomPrompt="1"/>
          </p:nvPr>
        </p:nvSpPr>
        <p:spPr>
          <a:xfrm>
            <a:off x="7304579" y="3579818"/>
            <a:ext cx="1534620" cy="608524"/>
          </a:xfrm>
        </p:spPr>
        <p:txBody>
          <a:bodyPr/>
          <a:lstStyle>
            <a:lvl1pPr marL="101600" indent="0">
              <a:buNone/>
              <a:defRPr/>
            </a:lvl1pPr>
          </a:lstStyle>
          <a:p>
            <a:pPr lvl="0"/>
            <a:r>
              <a:rPr lang="en-US" dirty="0"/>
              <a:t>Label 2.3</a:t>
            </a:r>
          </a:p>
        </p:txBody>
      </p:sp>
      <p:sp>
        <p:nvSpPr>
          <p:cNvPr id="3" name="Date Placeholder 2">
            <a:extLst>
              <a:ext uri="{FF2B5EF4-FFF2-40B4-BE49-F238E27FC236}">
                <a16:creationId xmlns:a16="http://schemas.microsoft.com/office/drawing/2014/main" id="{D8A4DA0A-BA94-4C4E-A521-FB23D113A856}"/>
              </a:ext>
            </a:extLst>
          </p:cNvPr>
          <p:cNvSpPr>
            <a:spLocks noGrp="1"/>
          </p:cNvSpPr>
          <p:nvPr>
            <p:ph type="dt" idx="10"/>
          </p:nvPr>
        </p:nvSpPr>
        <p:spPr/>
        <p:txBody>
          <a:bodyPr/>
          <a:lstStyle/>
          <a:p>
            <a:endParaRPr lang="en-US"/>
          </a:p>
        </p:txBody>
      </p:sp>
      <p:sp>
        <p:nvSpPr>
          <p:cNvPr id="4" name="Slide Number Placeholder 3">
            <a:extLst>
              <a:ext uri="{FF2B5EF4-FFF2-40B4-BE49-F238E27FC236}">
                <a16:creationId xmlns:a16="http://schemas.microsoft.com/office/drawing/2014/main" id="{44569933-5FC5-4C73-96ED-E1AC0FC867FE}"/>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64872148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Shape 68"/>
        <p:cNvGrpSpPr/>
        <p:nvPr/>
      </p:nvGrpSpPr>
      <p:grpSpPr>
        <a:xfrm>
          <a:off x="0" y="0"/>
          <a:ext cx="0" cy="0"/>
          <a:chOff x="0" y="0"/>
          <a:chExt cx="0" cy="0"/>
        </a:xfrm>
      </p:grpSpPr>
      <p:sp>
        <p:nvSpPr>
          <p:cNvPr id="69" name="Title Placeholder"/>
          <p:cNvSpPr txBox="1">
            <a:spLocks noGrp="1"/>
          </p:cNvSpPr>
          <p:nvPr>
            <p:ph type="title" hasCustomPrompt="1"/>
          </p:nvPr>
        </p:nvSpPr>
        <p:spPr>
          <a:xfrm>
            <a:off x="685800" y="1447800"/>
            <a:ext cx="7772400" cy="2152651"/>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	</a:t>
            </a:r>
            <a:endParaRPr dirty="0"/>
          </a:p>
        </p:txBody>
      </p:sp>
      <p:sp>
        <p:nvSpPr>
          <p:cNvPr id="70" name="Content Placeholder"/>
          <p:cNvSpPr txBox="1">
            <a:spLocks noGrp="1"/>
          </p:cNvSpPr>
          <p:nvPr>
            <p:ph type="body" idx="1"/>
          </p:nvPr>
        </p:nvSpPr>
        <p:spPr>
          <a:xfrm>
            <a:off x="674687" y="3962400"/>
            <a:ext cx="7794626"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457200" marR="0" lvl="1" indent="0" algn="l" rtl="0">
              <a:spcBef>
                <a:spcPts val="600"/>
              </a:spcBef>
              <a:buClr>
                <a:srgbClr val="007FA3"/>
              </a:buClr>
              <a:buFont typeface="Arial"/>
              <a:buNone/>
              <a:defRPr sz="1800" b="0" i="0" u="none" strike="noStrike" cap="none">
                <a:solidFill>
                  <a:srgbClr val="888888"/>
                </a:solidFill>
                <a:latin typeface="Arial"/>
                <a:ea typeface="Arial"/>
                <a:cs typeface="Arial"/>
                <a:sym typeface="Arial"/>
              </a:defRPr>
            </a:lvl2pPr>
            <a:lvl3pPr marL="914400" marR="0" lvl="2" indent="0" algn="l"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4pPr>
            <a:lvl5pPr marL="1828800" marR="0" lvl="4"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5pPr>
            <a:lvl6pPr marL="2286000" marR="0" lvl="5"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6pPr>
            <a:lvl7pPr marL="2743200" marR="0" lvl="6"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7pPr>
            <a:lvl8pPr marL="3200400" marR="0" lvl="7"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8pPr>
            <a:lvl9pPr marL="3657600" marR="0" lvl="8"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9pPr>
          </a:lstStyle>
          <a:p>
            <a:endParaRPr dirty="0"/>
          </a:p>
        </p:txBody>
      </p:sp>
      <p:sp>
        <p:nvSpPr>
          <p:cNvPr id="72" name="Shape 7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73" name="Shape 7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5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A9DF6EFB-3F44-496C-A842-1E0B3D3B975A}" type="datetimeFigureOut">
              <a:rPr lang="en-US" smtClean="0"/>
              <a:t>12/14/2021</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5" name="Picture Placeholder 4"/>
          <p:cNvSpPr>
            <a:spLocks noGrp="1"/>
          </p:cNvSpPr>
          <p:nvPr>
            <p:ph type="pic" sz="quarter" idx="14"/>
          </p:nvPr>
        </p:nvSpPr>
        <p:spPr>
          <a:xfrm>
            <a:off x="457200" y="5181600"/>
            <a:ext cx="8229600" cy="1066800"/>
          </a:xfrm>
        </p:spPr>
        <p:txBody>
          <a:bodyPr/>
          <a:lstStyle/>
          <a:p>
            <a:endParaRPr lang="en-IN" dirty="0"/>
          </a:p>
        </p:txBody>
      </p:sp>
    </p:spTree>
    <p:extLst>
      <p:ext uri="{BB962C8B-B14F-4D97-AF65-F5344CB8AC3E}">
        <p14:creationId xmlns:p14="http://schemas.microsoft.com/office/powerpoint/2010/main" val="272420728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1.xml"/><Relationship Id="rId13" Type="http://schemas.openxmlformats.org/officeDocument/2006/relationships/theme" Target="../theme/theme2.xml"/><Relationship Id="rId3" Type="http://schemas.openxmlformats.org/officeDocument/2006/relationships/slideLayout" Target="../slideLayouts/slideLayout6.xml"/><Relationship Id="rId7" Type="http://schemas.openxmlformats.org/officeDocument/2006/relationships/slideLayout" Target="../slideLayouts/slideLayout10.xml"/><Relationship Id="rId12" Type="http://schemas.openxmlformats.org/officeDocument/2006/relationships/slideLayout" Target="../slideLayouts/slideLayout15.xml"/><Relationship Id="rId2" Type="http://schemas.openxmlformats.org/officeDocument/2006/relationships/slideLayout" Target="../slideLayouts/slideLayout5.xml"/><Relationship Id="rId1" Type="http://schemas.openxmlformats.org/officeDocument/2006/relationships/slideLayout" Target="../slideLayouts/slideLayout4.xml"/><Relationship Id="rId6" Type="http://schemas.openxmlformats.org/officeDocument/2006/relationships/slideLayout" Target="../slideLayouts/slideLayout9.xml"/><Relationship Id="rId11" Type="http://schemas.openxmlformats.org/officeDocument/2006/relationships/slideLayout" Target="../slideLayouts/slideLayout14.xml"/><Relationship Id="rId5" Type="http://schemas.openxmlformats.org/officeDocument/2006/relationships/slideLayout" Target="../slideLayouts/slideLayout8.xml"/><Relationship Id="rId10" Type="http://schemas.openxmlformats.org/officeDocument/2006/relationships/slideLayout" Target="../slideLayouts/slideLayout13.xml"/><Relationship Id="rId4" Type="http://schemas.openxmlformats.org/officeDocument/2006/relationships/slideLayout" Target="../slideLayouts/slideLayout7.xml"/><Relationship Id="rId9" Type="http://schemas.openxmlformats.org/officeDocument/2006/relationships/slideLayout" Target="../slideLayouts/slideLayout12.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Shape 11"/>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3246644562"/>
      </p:ext>
    </p:extLst>
  </p:cSld>
  <p:clrMap bg1="lt1" tx1="dk1" bg2="dk2" tx2="lt2" accent1="accent1" accent2="accent2" accent3="accent3" accent4="accent4" accent5="accent5" accent6="accent6" hlink="hlink" folHlink="folHlink"/>
  <p:sldLayoutIdLst>
    <p:sldLayoutId id="2147483675" r:id="rId1"/>
    <p:sldLayoutId id="2147483664" r:id="rId2"/>
    <p:sldLayoutId id="2147483684" r:id="rId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6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Content Placeholder"/>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pic>
        <p:nvPicPr>
          <p:cNvPr id="15" name="Logo" descr="Pearson Logo"/>
          <p:cNvPicPr preferRelativeResize="0"/>
          <p:nvPr userDrawn="1"/>
        </p:nvPicPr>
        <p:blipFill rotWithShape="1">
          <a:blip r:embed="rId14">
            <a:alphaModFix/>
          </a:blip>
          <a:srcRect/>
          <a:stretch/>
        </p:blipFill>
        <p:spPr>
          <a:xfrm>
            <a:off x="443972" y="6429709"/>
            <a:ext cx="917999" cy="279914"/>
          </a:xfrm>
          <a:prstGeom prst="rect">
            <a:avLst/>
          </a:prstGeom>
          <a:noFill/>
          <a:ln>
            <a:noFill/>
          </a:ln>
        </p:spPr>
      </p:pic>
      <p:sp>
        <p:nvSpPr>
          <p:cNvPr id="16" name="Copyright"/>
          <p:cNvSpPr txBox="1"/>
          <p:nvPr/>
        </p:nvSpPr>
        <p:spPr>
          <a:xfrm>
            <a:off x="1600200" y="6429344"/>
            <a:ext cx="7162799" cy="200054"/>
          </a:xfrm>
          <a:prstGeom prst="rect">
            <a:avLst/>
          </a:prstGeom>
          <a:noFill/>
          <a:ln>
            <a:noFill/>
          </a:ln>
        </p:spPr>
        <p:txBody>
          <a:bodyPr lIns="91425" tIns="45700" rIns="91425" bIns="45700" anchor="ctr" anchorCtr="0">
            <a:no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sz="1200" b="0" dirty="0">
                <a:latin typeface="Verdana"/>
                <a:ea typeface="Verdana" panose="020B0604030504040204" pitchFamily="34" charset="0"/>
                <a:cs typeface="Verdana" panose="020B0604030504040204" pitchFamily="34" charset="0"/>
              </a:rPr>
              <a:t>Copyright © 2022 Pearson Education Ltd. All Rights Reserved.</a:t>
            </a:r>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76" r:id="rId1"/>
    <p:sldLayoutId id="2147483677" r:id="rId2"/>
    <p:sldLayoutId id="2147483678" r:id="rId3"/>
    <p:sldLayoutId id="2147483682" r:id="rId4"/>
    <p:sldLayoutId id="2147483683" r:id="rId5"/>
    <p:sldLayoutId id="2147483679" r:id="rId6"/>
    <p:sldLayoutId id="2147483671" r:id="rId7"/>
    <p:sldLayoutId id="2147483673" r:id="rId8"/>
    <p:sldLayoutId id="2147483670" r:id="rId9"/>
    <p:sldLayoutId id="2147483669" r:id="rId10"/>
    <p:sldLayoutId id="2147483655" r:id="rId11"/>
    <p:sldLayoutId id="2147483681"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5.xml"/></Relationships>
</file>

<file path=ppt/slides/_rels/slide28.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5.xml"/></Relationships>
</file>

<file path=ppt/slides/_rels/slide30.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5.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5.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5.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5.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5.xml"/></Relationships>
</file>

<file path=ppt/slides/_rels/slide38.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5.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5.xml"/></Relationships>
</file>

<file path=ppt/slides/_rels/slide41.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5.xml"/></Relationships>
</file>

<file path=ppt/slides/_rels/slide44.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5.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5.xml"/></Relationships>
</file>

<file path=ppt/slides/_rels/slide47.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5.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5.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5.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5.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5.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5.xml"/></Relationships>
</file>

<file path=ppt/slides/_rels/slide54.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54.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5.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5.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5.xml"/></Relationships>
</file>

<file path=ppt/slides/_rels/slide58.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58.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5.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5.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5.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5.xml"/></Relationships>
</file>

<file path=ppt/slides/_rels/slide63.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63.xml"/><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5.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5.xml"/></Relationships>
</file>

<file path=ppt/slides/_rels/slide66.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66.xml"/><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5.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5.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5.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5.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5.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5.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5.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15.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15.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15.xml"/></Relationships>
</file>

<file path=ppt/slides/_rels/slide77.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77.xml"/><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15.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15.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15.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15.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15.xml"/></Relationships>
</file>

<file path=ppt/slides/_rels/slide83.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83.xml"/><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15.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15.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15.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15.xml"/></Relationships>
</file>

<file path=ppt/slides/_rels/slide88.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88.xml"/><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15.xml"/></Relationships>
</file>

<file path=ppt/slides/_rels/slide90.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90.xml"/><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15.xml"/></Relationships>
</file>

<file path=ppt/slides/_rels/slide92.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92.xml"/><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15.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15.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15.xml"/></Relationships>
</file>

<file path=ppt/slides/_rels/slide96.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96.xml"/><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15.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15.xml"/></Relationships>
</file>

<file path=ppt/slides/_rels/slide99.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notesSlide" Target="../notesSlides/notesSlide99.xml"/><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15.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15.xml"/></Relationships>
</file>

<file path=ppt/slides/_rels/slide102.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notesSlide" Target="../notesSlides/notesSlide102.xml"/><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15.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15.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15.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15.xml"/></Relationships>
</file>

<file path=ppt/slides/_rels/slide107.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notesSlide" Target="../notesSlides/notesSlide107.xml"/><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15.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15.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15.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15.xml"/></Relationships>
</file>

<file path=ppt/slides/_rels/slide112.xml.rels><?xml version="1.0" encoding="UTF-8" standalone="yes"?>
<Relationships xmlns="http://schemas.openxmlformats.org/package/2006/relationships"><Relationship Id="rId3" Type="http://schemas.openxmlformats.org/officeDocument/2006/relationships/image" Target="../media/image27.jpg"/><Relationship Id="rId2" Type="http://schemas.openxmlformats.org/officeDocument/2006/relationships/notesSlide" Target="../notesSlides/notesSlide112.xml"/><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15.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15.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15.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116.xml"/><Relationship Id="rId1" Type="http://schemas.openxmlformats.org/officeDocument/2006/relationships/slideLayout" Target="../slideLayouts/slideLayout15.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117.xml"/><Relationship Id="rId1" Type="http://schemas.openxmlformats.org/officeDocument/2006/relationships/slideLayout" Target="../slideLayouts/slideLayout15.xml"/></Relationships>
</file>

<file path=ppt/slides/_rels/slide118.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notesSlide" Target="../notesSlides/notesSlide118.xml"/><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119.xml"/><Relationship Id="rId1" Type="http://schemas.openxmlformats.org/officeDocument/2006/relationships/slideLayout" Target="../slideLayouts/slideLayout15.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120.xml"/><Relationship Id="rId1" Type="http://schemas.openxmlformats.org/officeDocument/2006/relationships/slideLayout" Target="../slideLayouts/slideLayout15.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121.xml"/><Relationship Id="rId1" Type="http://schemas.openxmlformats.org/officeDocument/2006/relationships/slideLayout" Target="../slideLayouts/slideLayout15.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122.xml"/><Relationship Id="rId1" Type="http://schemas.openxmlformats.org/officeDocument/2006/relationships/slideLayout" Target="../slideLayouts/slideLayout15.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123.xml"/><Relationship Id="rId1" Type="http://schemas.openxmlformats.org/officeDocument/2006/relationships/slideLayout" Target="../slideLayouts/slideLayout15.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124.xml"/><Relationship Id="rId1" Type="http://schemas.openxmlformats.org/officeDocument/2006/relationships/slideLayout" Target="../slideLayouts/slideLayout15.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125.xml"/><Relationship Id="rId1" Type="http://schemas.openxmlformats.org/officeDocument/2006/relationships/slideLayout" Target="../slideLayouts/slideLayout15.xml"/></Relationships>
</file>

<file path=ppt/slides/_rels/slide126.xml.rels><?xml version="1.0" encoding="UTF-8" standalone="yes"?>
<Relationships xmlns="http://schemas.openxmlformats.org/package/2006/relationships"><Relationship Id="rId3" Type="http://schemas.openxmlformats.org/officeDocument/2006/relationships/image" Target="../media/image29.jpg"/><Relationship Id="rId2" Type="http://schemas.openxmlformats.org/officeDocument/2006/relationships/notesSlide" Target="../notesSlides/notesSlide126.xml"/><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127.xml"/><Relationship Id="rId1" Type="http://schemas.openxmlformats.org/officeDocument/2006/relationships/slideLayout" Target="../slideLayouts/slideLayout15.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128.xml"/><Relationship Id="rId1" Type="http://schemas.openxmlformats.org/officeDocument/2006/relationships/slideLayout" Target="../slideLayouts/slideLayout15.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129.xml"/><Relationship Id="rId1" Type="http://schemas.openxmlformats.org/officeDocument/2006/relationships/slideLayout" Target="../slideLayouts/slideLayout15.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130.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98728-A241-43F4-95FF-6C49FEEA0911}"/>
              </a:ext>
            </a:extLst>
          </p:cNvPr>
          <p:cNvSpPr>
            <a:spLocks noGrp="1"/>
          </p:cNvSpPr>
          <p:nvPr>
            <p:ph type="title"/>
          </p:nvPr>
        </p:nvSpPr>
        <p:spPr>
          <a:xfrm>
            <a:off x="446314" y="150055"/>
            <a:ext cx="8229600" cy="622828"/>
          </a:xfrm>
        </p:spPr>
        <p:txBody>
          <a:bodyPr lIns="0" tIns="0" rIns="0" bIns="0" anchor="ctr"/>
          <a:lstStyle/>
          <a:p>
            <a:r>
              <a:rPr lang="en-US" dirty="0"/>
              <a:t>Becker’s World of the Cell</a:t>
            </a:r>
          </a:p>
        </p:txBody>
      </p:sp>
      <p:sp>
        <p:nvSpPr>
          <p:cNvPr id="3" name="Content Placeholder 2">
            <a:extLst>
              <a:ext uri="{FF2B5EF4-FFF2-40B4-BE49-F238E27FC236}">
                <a16:creationId xmlns:a16="http://schemas.microsoft.com/office/drawing/2014/main" id="{ABE18F80-D4FC-4D8F-B2BD-E7BEE7E012B5}"/>
              </a:ext>
            </a:extLst>
          </p:cNvPr>
          <p:cNvSpPr>
            <a:spLocks noGrp="1"/>
          </p:cNvSpPr>
          <p:nvPr>
            <p:ph type="body" idx="1"/>
          </p:nvPr>
        </p:nvSpPr>
        <p:spPr>
          <a:xfrm>
            <a:off x="446314" y="886872"/>
            <a:ext cx="8229600" cy="359857"/>
          </a:xfrm>
        </p:spPr>
        <p:txBody>
          <a:bodyPr lIns="0" tIns="0" rIns="0" bIns="0" anchor="ctr"/>
          <a:lstStyle/>
          <a:p>
            <a:r>
              <a:rPr lang="en-US" dirty="0">
                <a:solidFill>
                  <a:schemeClr val="tx2"/>
                </a:solidFill>
              </a:rPr>
              <a:t>Tenth Edition, Global Edition</a:t>
            </a:r>
          </a:p>
        </p:txBody>
      </p:sp>
      <p:sp>
        <p:nvSpPr>
          <p:cNvPr id="5" name="Content Placeholder 4">
            <a:extLst>
              <a:ext uri="{FF2B5EF4-FFF2-40B4-BE49-F238E27FC236}">
                <a16:creationId xmlns:a16="http://schemas.microsoft.com/office/drawing/2014/main" id="{2D222376-7AD7-4443-B67A-120BE12F4DDB}"/>
              </a:ext>
            </a:extLst>
          </p:cNvPr>
          <p:cNvSpPr>
            <a:spLocks noGrp="1"/>
          </p:cNvSpPr>
          <p:nvPr>
            <p:ph sz="quarter" idx="14"/>
          </p:nvPr>
        </p:nvSpPr>
        <p:spPr>
          <a:xfrm>
            <a:off x="4751388" y="2704810"/>
            <a:ext cx="3891870" cy="632859"/>
          </a:xfrm>
        </p:spPr>
        <p:txBody>
          <a:bodyPr lIns="0" tIns="0" rIns="0" bIns="0" anchor="ctr"/>
          <a:lstStyle/>
          <a:p>
            <a:pPr marL="0"/>
            <a:r>
              <a:rPr lang="en-US" dirty="0"/>
              <a:t>Chapter 4</a:t>
            </a:r>
          </a:p>
        </p:txBody>
      </p:sp>
      <p:sp>
        <p:nvSpPr>
          <p:cNvPr id="6" name="Content Placeholder 5">
            <a:extLst>
              <a:ext uri="{FF2B5EF4-FFF2-40B4-BE49-F238E27FC236}">
                <a16:creationId xmlns:a16="http://schemas.microsoft.com/office/drawing/2014/main" id="{82FD4EC9-4778-4E2F-B136-2A176CA2BA69}"/>
              </a:ext>
            </a:extLst>
          </p:cNvPr>
          <p:cNvSpPr>
            <a:spLocks noGrp="1"/>
          </p:cNvSpPr>
          <p:nvPr>
            <p:ph sz="quarter" idx="15"/>
          </p:nvPr>
        </p:nvSpPr>
        <p:spPr>
          <a:xfrm>
            <a:off x="4751388" y="3566217"/>
            <a:ext cx="3891868" cy="461620"/>
          </a:xfrm>
        </p:spPr>
        <p:txBody>
          <a:bodyPr lIns="0" tIns="0" rIns="0" bIns="0" anchor="ctr"/>
          <a:lstStyle/>
          <a:p>
            <a:pPr marL="0"/>
            <a:r>
              <a:rPr lang="en-US" dirty="0"/>
              <a:t>Cells and Organelles</a:t>
            </a:r>
          </a:p>
        </p:txBody>
      </p:sp>
      <p:sp>
        <p:nvSpPr>
          <p:cNvPr id="9" name="Content Placeholder 8">
            <a:extLst>
              <a:ext uri="{FF2B5EF4-FFF2-40B4-BE49-F238E27FC236}">
                <a16:creationId xmlns:a16="http://schemas.microsoft.com/office/drawing/2014/main" id="{7D27DE78-5C56-452E-9384-36BEE8BECDFE}"/>
              </a:ext>
            </a:extLst>
          </p:cNvPr>
          <p:cNvSpPr>
            <a:spLocks noGrp="1"/>
          </p:cNvSpPr>
          <p:nvPr>
            <p:ph sz="quarter" idx="19"/>
          </p:nvPr>
        </p:nvSpPr>
        <p:spPr>
          <a:xfrm>
            <a:off x="4720658" y="5549712"/>
            <a:ext cx="3935412" cy="557593"/>
          </a:xfrm>
        </p:spPr>
        <p:txBody>
          <a:bodyPr anchor="ctr"/>
          <a:lstStyle/>
          <a:p>
            <a:pPr marL="0" indent="0">
              <a:buNone/>
            </a:pPr>
            <a:r>
              <a:rPr lang="en-US" sz="1400" dirty="0">
                <a:latin typeface="+mn-lt"/>
              </a:rPr>
              <a:t>Lectures by Anna </a:t>
            </a:r>
            <a:r>
              <a:rPr lang="en-US" sz="1400" dirty="0" err="1">
                <a:latin typeface="+mn-lt"/>
              </a:rPr>
              <a:t>Hegsted</a:t>
            </a:r>
            <a:r>
              <a:rPr lang="en-US" sz="1400" dirty="0">
                <a:latin typeface="+mn-lt"/>
              </a:rPr>
              <a:t>, Simon Fraser University</a:t>
            </a:r>
            <a:endParaRPr lang="en-IN" sz="1400" dirty="0">
              <a:latin typeface="+mn-lt"/>
            </a:endParaRPr>
          </a:p>
        </p:txBody>
      </p:sp>
      <p:sp>
        <p:nvSpPr>
          <p:cNvPr id="8" name="Content Placeholder 7">
            <a:extLst>
              <a:ext uri="{FF2B5EF4-FFF2-40B4-BE49-F238E27FC236}">
                <a16:creationId xmlns:a16="http://schemas.microsoft.com/office/drawing/2014/main" id="{C8E88D28-1A9F-4FC4-946F-10B4629D1438}"/>
              </a:ext>
            </a:extLst>
          </p:cNvPr>
          <p:cNvSpPr>
            <a:spLocks noGrp="1"/>
          </p:cNvSpPr>
          <p:nvPr>
            <p:ph sz="quarter" idx="17"/>
          </p:nvPr>
        </p:nvSpPr>
        <p:spPr>
          <a:xfrm>
            <a:off x="2173288" y="6419850"/>
            <a:ext cx="6589712" cy="228600"/>
          </a:xfrm>
        </p:spPr>
        <p:txBody>
          <a:bodyPr/>
          <a:lstStyle/>
          <a:p>
            <a:r>
              <a:rPr lang="en-US" altLang="en-US" sz="1200" b="0" dirty="0">
                <a:latin typeface="Verdana"/>
                <a:ea typeface="Verdana" panose="020B0604030504040204" pitchFamily="34" charset="0"/>
                <a:cs typeface="Verdana" panose="020B0604030504040204" pitchFamily="34" charset="0"/>
              </a:rPr>
              <a:t>Copyright © 2022 Pearson Education Ltd. All Rights Reserved.</a:t>
            </a:r>
          </a:p>
        </p:txBody>
      </p:sp>
      <p:pic>
        <p:nvPicPr>
          <p:cNvPr id="11" name="Picture 10" descr="Front Cover: Becker's World of the Cell, Tenth Edition, Global Edition, by Jeff Hardin, James P Lodolce">
            <a:extLst>
              <a:ext uri="{FF2B5EF4-FFF2-40B4-BE49-F238E27FC236}">
                <a16:creationId xmlns:a16="http://schemas.microsoft.com/office/drawing/2014/main" id="{3F3D577D-FEF0-4524-9D55-8553DA2C2DB4}"/>
              </a:ext>
            </a:extLst>
          </p:cNvPr>
          <p:cNvPicPr>
            <a:picLocks noChangeAspect="1"/>
          </p:cNvPicPr>
          <p:nvPr/>
        </p:nvPicPr>
        <p:blipFill>
          <a:blip r:embed="rId3"/>
          <a:stretch>
            <a:fillRect/>
          </a:stretch>
        </p:blipFill>
        <p:spPr>
          <a:xfrm>
            <a:off x="500742" y="1368649"/>
            <a:ext cx="3926181" cy="4873827"/>
          </a:xfrm>
          <a:prstGeom prst="rect">
            <a:avLst/>
          </a:prstGeom>
        </p:spPr>
      </p:pic>
    </p:spTree>
    <p:extLst>
      <p:ext uri="{BB962C8B-B14F-4D97-AF65-F5344CB8AC3E}">
        <p14:creationId xmlns:p14="http://schemas.microsoft.com/office/powerpoint/2010/main" val="38151529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40434" y="163882"/>
            <a:ext cx="8263784" cy="553998"/>
          </a:xfrm>
        </p:spPr>
        <p:txBody>
          <a:bodyPr lIns="0" tIns="0" rIns="0" bIns="0" anchor="ctr">
            <a:spAutoFit/>
          </a:bodyPr>
          <a:lstStyle/>
          <a:p>
            <a:r>
              <a:rPr lang="en-US" sz="3600" dirty="0">
                <a:latin typeface="+mj-lt"/>
              </a:rPr>
              <a:t>Cells and Organelles</a:t>
            </a: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40434" y="1083721"/>
            <a:ext cx="8229600" cy="1261884"/>
          </a:xfrm>
          <a:noFill/>
          <a:ln>
            <a:noFill/>
          </a:ln>
        </p:spPr>
        <p:txBody>
          <a:bodyPr lIns="0" tIns="0" rIns="0" bIns="0" anchor="t" anchorCtr="0">
            <a:spAutoFit/>
          </a:bodyPr>
          <a:lstStyle/>
          <a:p>
            <a:pPr marL="342900" indent="-342900"/>
            <a:r>
              <a:rPr lang="en-US" sz="2400" dirty="0"/>
              <a:t>Two questions to consider</a:t>
            </a:r>
          </a:p>
          <a:p>
            <a:pPr marL="829818" lvl="1" indent="-342900"/>
            <a:r>
              <a:rPr lang="en-US" sz="2400" dirty="0"/>
              <a:t>Where did the first cells come from?</a:t>
            </a:r>
          </a:p>
          <a:p>
            <a:pPr marL="829818" lvl="1" indent="-342900"/>
            <a:r>
              <a:rPr lang="en-US" sz="2400" dirty="0"/>
              <a:t>How do today’s cells function?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57200" y="157791"/>
            <a:ext cx="8229600" cy="553998"/>
          </a:xfrm>
        </p:spPr>
        <p:txBody>
          <a:bodyPr lIns="0" tIns="0" rIns="0" bIns="0" anchor="ctr">
            <a:spAutoFit/>
          </a:bodyPr>
          <a:lstStyle/>
          <a:p>
            <a:r>
              <a:rPr lang="en-US" sz="3600" dirty="0">
                <a:latin typeface="+mj-lt"/>
              </a:rPr>
              <a:t>4.1 The Origins of the First Cells</a:t>
            </a: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43552" y="1082618"/>
            <a:ext cx="8229600" cy="369332"/>
          </a:xfrm>
          <a:noFill/>
          <a:ln>
            <a:noFill/>
          </a:ln>
        </p:spPr>
        <p:txBody>
          <a:bodyPr lIns="0" tIns="0" rIns="0" bIns="0" anchor="t" anchorCtr="0">
            <a:spAutoFit/>
          </a:bodyPr>
          <a:lstStyle/>
          <a:p>
            <a:pPr marL="342900" indent="-342900"/>
            <a:r>
              <a:rPr lang="en-US" sz="2400" dirty="0"/>
              <a:t>The appearance of cells involved four phases:</a:t>
            </a:r>
          </a:p>
        </p:txBody>
      </p:sp>
      <p:sp>
        <p:nvSpPr>
          <p:cNvPr id="3" name="Content Placeholder 2"/>
          <p:cNvSpPr>
            <a:spLocks noGrp="1"/>
          </p:cNvSpPr>
          <p:nvPr>
            <p:ph idx="13"/>
          </p:nvPr>
        </p:nvSpPr>
        <p:spPr>
          <a:xfrm>
            <a:off x="431800" y="1702284"/>
            <a:ext cx="8237747" cy="2816156"/>
          </a:xfrm>
        </p:spPr>
        <p:txBody>
          <a:bodyPr wrap="square" lIns="0" tIns="0" rIns="0" bIns="0">
            <a:spAutoFit/>
          </a:bodyPr>
          <a:lstStyle/>
          <a:p>
            <a:pPr marL="1018731" lvl="1" indent="-531813">
              <a:buFont typeface="+mj-lt"/>
              <a:buAutoNum type="arabicPeriod"/>
            </a:pPr>
            <a:r>
              <a:rPr lang="en-US" sz="2400" dirty="0"/>
              <a:t>Abiotic (nonliving) synthesis of simple organic compounds</a:t>
            </a:r>
          </a:p>
          <a:p>
            <a:pPr marL="1018731" lvl="1" indent="-531813">
              <a:buFont typeface="+mj-lt"/>
              <a:buAutoNum type="arabicPeriod"/>
            </a:pPr>
            <a:r>
              <a:rPr lang="en-US" sz="2400" dirty="0"/>
              <a:t>Abiotic polymerization of these into macromolecules</a:t>
            </a:r>
          </a:p>
          <a:p>
            <a:pPr marL="1018731" lvl="1" indent="-531813">
              <a:buFont typeface="+mj-lt"/>
              <a:buAutoNum type="arabicPeriod"/>
            </a:pPr>
            <a:r>
              <a:rPr lang="en-US" sz="2400" dirty="0"/>
              <a:t>Emergence of a macromolecule capable of replication and storing genetic information</a:t>
            </a:r>
          </a:p>
          <a:p>
            <a:pPr marL="1018731" lvl="1" indent="-531813">
              <a:buFont typeface="+mj-lt"/>
              <a:buAutoNum type="arabicPeriod"/>
            </a:pPr>
            <a:r>
              <a:rPr lang="en-US" sz="2400" dirty="0"/>
              <a:t>Encapsulation of the first living molecule within a simple membrane</a:t>
            </a:r>
            <a:endParaRPr lang="en-IN" sz="2400" dirty="0"/>
          </a:p>
        </p:txBody>
      </p:sp>
    </p:spTree>
    <p:extLst>
      <p:ext uri="{BB962C8B-B14F-4D97-AF65-F5344CB8AC3E}">
        <p14:creationId xmlns:p14="http://schemas.microsoft.com/office/powerpoint/2010/main" val="15411424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40434" y="187287"/>
            <a:ext cx="8263784" cy="1046440"/>
          </a:xfrm>
        </p:spPr>
        <p:txBody>
          <a:bodyPr lIns="0" tIns="0" rIns="0" bIns="0" anchor="ctr">
            <a:spAutoFit/>
          </a:bodyPr>
          <a:lstStyle/>
          <a:p>
            <a:r>
              <a:rPr lang="en-US" dirty="0">
                <a:latin typeface="+mj-lt"/>
              </a:rPr>
              <a:t>Simple Organic Molecules May Have Formed </a:t>
            </a:r>
            <a:r>
              <a:rPr lang="en-US" dirty="0" err="1">
                <a:latin typeface="+mj-lt"/>
              </a:rPr>
              <a:t>Abiotically</a:t>
            </a:r>
            <a:r>
              <a:rPr lang="en-US" dirty="0">
                <a:latin typeface="+mj-lt"/>
              </a:rPr>
              <a:t> in the Young Earth</a:t>
            </a: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40434" y="1489160"/>
            <a:ext cx="8263784" cy="2850828"/>
          </a:xfrm>
          <a:noFill/>
          <a:ln>
            <a:noFill/>
          </a:ln>
        </p:spPr>
        <p:txBody>
          <a:bodyPr lIns="0" tIns="0" rIns="0" bIns="0" anchor="t" anchorCtr="0"/>
          <a:lstStyle/>
          <a:p>
            <a:pPr marL="342900" indent="-342900"/>
            <a:r>
              <a:rPr lang="en-US" sz="2400" dirty="0"/>
              <a:t>In a classic experiment, Stanley Miller (1953) tested the hypothesis that energy from lightning could have powered production of simple organic compounds from atmospheric gases.</a:t>
            </a:r>
          </a:p>
          <a:p>
            <a:pPr marL="342900" indent="-342900"/>
            <a:r>
              <a:rPr lang="en-US" sz="2400" dirty="0"/>
              <a:t>The early atmosphere was thought to consist largely of reduced gases such as hydrogen (H</a:t>
            </a:r>
            <a:r>
              <a:rPr lang="en-US" sz="2400" baseline="-25000" dirty="0"/>
              <a:t>2</a:t>
            </a:r>
            <a:r>
              <a:rPr lang="en-US" sz="2400" dirty="0"/>
              <a:t>), methane (</a:t>
            </a:r>
            <a:r>
              <a:rPr lang="en-US" sz="2400" spc="-300" dirty="0"/>
              <a:t>C </a:t>
            </a:r>
            <a:r>
              <a:rPr lang="en-US" sz="2400" dirty="0"/>
              <a:t>H</a:t>
            </a:r>
            <a:r>
              <a:rPr lang="en-US" sz="2400" baseline="-25000" dirty="0"/>
              <a:t>4</a:t>
            </a:r>
            <a:r>
              <a:rPr lang="en-US" sz="2400" dirty="0"/>
              <a:t>), ammonia (</a:t>
            </a:r>
            <a:r>
              <a:rPr lang="en-US" sz="2400" spc="-300" dirty="0"/>
              <a:t>N </a:t>
            </a:r>
            <a:r>
              <a:rPr lang="en-US" sz="2400" dirty="0"/>
              <a:t>H</a:t>
            </a:r>
            <a:r>
              <a:rPr lang="en-US" sz="2400" baseline="-25000" dirty="0"/>
              <a:t>3</a:t>
            </a:r>
            <a:r>
              <a:rPr lang="en-US" sz="2400" dirty="0"/>
              <a:t>), and water vapor (H</a:t>
            </a:r>
            <a:r>
              <a:rPr lang="en-US" sz="2400" baseline="-25000" dirty="0"/>
              <a:t>2</a:t>
            </a:r>
            <a:r>
              <a:rPr lang="en-US" sz="2400" dirty="0"/>
              <a:t>O).</a:t>
            </a:r>
          </a:p>
        </p:txBody>
      </p:sp>
    </p:spTree>
    <p:extLst>
      <p:ext uri="{BB962C8B-B14F-4D97-AF65-F5344CB8AC3E}">
        <p14:creationId xmlns:p14="http://schemas.microsoft.com/office/powerpoint/2010/main" val="25547051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40434" y="163250"/>
            <a:ext cx="8263784" cy="553998"/>
          </a:xfrm>
        </p:spPr>
        <p:txBody>
          <a:bodyPr lIns="0" tIns="0" rIns="0" bIns="0" anchor="ctr">
            <a:spAutoFit/>
          </a:bodyPr>
          <a:lstStyle/>
          <a:p>
            <a:r>
              <a:rPr lang="en-US" sz="3600" dirty="0">
                <a:latin typeface="+mj-lt"/>
              </a:rPr>
              <a:t>Results of the Experiment</a:t>
            </a: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40434" y="1083725"/>
            <a:ext cx="8263784" cy="2600712"/>
          </a:xfrm>
          <a:noFill/>
          <a:ln>
            <a:noFill/>
          </a:ln>
        </p:spPr>
        <p:txBody>
          <a:bodyPr lIns="0" tIns="0" rIns="0" bIns="0" anchor="t" anchorCtr="0">
            <a:spAutoFit/>
          </a:bodyPr>
          <a:lstStyle/>
          <a:p>
            <a:pPr marL="342900" indent="-342900"/>
            <a:r>
              <a:rPr lang="en-US" sz="2400" dirty="0"/>
              <a:t>After a week of continuous exposure of gases to electrical discharge, Miller checked the flask.</a:t>
            </a:r>
          </a:p>
          <a:p>
            <a:pPr marL="342900" indent="-342900"/>
            <a:r>
              <a:rPr lang="en-US" sz="2400" dirty="0"/>
              <a:t>He detected two simple amino acids (alanine and glycine) in the flask.</a:t>
            </a:r>
          </a:p>
          <a:p>
            <a:pPr marL="342900" indent="-342900"/>
            <a:r>
              <a:rPr lang="en-US" sz="2400" dirty="0"/>
              <a:t>This suggested that some organic compounds could be produced under abiotic conditions.</a:t>
            </a:r>
          </a:p>
        </p:txBody>
      </p:sp>
    </p:spTree>
    <p:extLst>
      <p:ext uri="{BB962C8B-B14F-4D97-AF65-F5344CB8AC3E}">
        <p14:creationId xmlns:p14="http://schemas.microsoft.com/office/powerpoint/2010/main" val="38217773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39358" y="191156"/>
            <a:ext cx="8229600" cy="1046440"/>
          </a:xfrm>
        </p:spPr>
        <p:txBody>
          <a:bodyPr lIns="0" tIns="0" rIns="0" bIns="0" anchor="ctr">
            <a:spAutoFit/>
          </a:bodyPr>
          <a:lstStyle/>
          <a:p>
            <a:r>
              <a:rPr lang="en-US" sz="3400" dirty="0"/>
              <a:t>Miller’s Apparatus for Abiotic Synthesis of Simple Organic Compounds</a:t>
            </a:r>
          </a:p>
        </p:txBody>
      </p:sp>
      <p:sp>
        <p:nvSpPr>
          <p:cNvPr id="6" name="Content Placeholder 5"/>
          <p:cNvSpPr>
            <a:spLocks noGrp="1"/>
          </p:cNvSpPr>
          <p:nvPr>
            <p:ph sz="quarter" idx="15"/>
          </p:nvPr>
        </p:nvSpPr>
        <p:spPr>
          <a:xfrm>
            <a:off x="439191" y="1441606"/>
            <a:ext cx="3201158" cy="1477328"/>
          </a:xfrm>
        </p:spPr>
        <p:txBody>
          <a:bodyPr wrap="square" lIns="0" tIns="0" rIns="0" bIns="0">
            <a:spAutoFit/>
          </a:bodyPr>
          <a:lstStyle/>
          <a:p>
            <a:pPr marL="0" indent="0">
              <a:buNone/>
            </a:pPr>
            <a:r>
              <a:rPr lang="en-US" sz="2400" b="1" dirty="0"/>
              <a:t>Figure 4.1</a:t>
            </a:r>
            <a:r>
              <a:rPr lang="en-US" sz="2400" dirty="0"/>
              <a:t> Miller’s Apparatus for Abiotic Synthesis of Simple Organic Compounds. </a:t>
            </a:r>
          </a:p>
        </p:txBody>
      </p:sp>
      <p:pic>
        <p:nvPicPr>
          <p:cNvPr id="4" name="Picture Placeholder 3" descr="Miller’s apparatus shows a smaller boiling flask at a lower level connected by tubes to a bigger boiling flask at the top level. There is a sampling port as an inlet to the lower flask.&#10;Long description is available in notes, press F6"/>
          <p:cNvPicPr>
            <a:picLocks noGrp="1" noChangeAspect="1"/>
          </p:cNvPicPr>
          <p:nvPr>
            <p:ph type="pic" sz="quarter" idx="16"/>
          </p:nvPr>
        </p:nvPicPr>
        <p:blipFill rotWithShape="1">
          <a:blip r:embed="rId3">
            <a:extLst>
              <a:ext uri="{28A0092B-C50C-407E-A947-70E740481C1C}">
                <a14:useLocalDpi xmlns:a14="http://schemas.microsoft.com/office/drawing/2010/main" val="0"/>
              </a:ext>
            </a:extLst>
          </a:blip>
          <a:srcRect b="2417"/>
          <a:stretch/>
        </p:blipFill>
        <p:spPr>
          <a:xfrm>
            <a:off x="3764817" y="1410931"/>
            <a:ext cx="4911075" cy="4894145"/>
          </a:xfrm>
        </p:spPr>
      </p:pic>
    </p:spTree>
    <p:extLst>
      <p:ext uri="{BB962C8B-B14F-4D97-AF65-F5344CB8AC3E}">
        <p14:creationId xmlns:p14="http://schemas.microsoft.com/office/powerpoint/2010/main" val="27656302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40434" y="163250"/>
            <a:ext cx="8263784" cy="553998"/>
          </a:xfrm>
        </p:spPr>
        <p:txBody>
          <a:bodyPr lIns="0" tIns="0" rIns="0" bIns="0" anchor="ctr">
            <a:spAutoFit/>
          </a:bodyPr>
          <a:lstStyle/>
          <a:p>
            <a:r>
              <a:rPr lang="en-US" sz="3600" dirty="0">
                <a:latin typeface="+mj-lt"/>
              </a:rPr>
              <a:t>Additional Experiments</a:t>
            </a: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40434" y="1083725"/>
            <a:ext cx="8263784" cy="1669688"/>
          </a:xfrm>
          <a:noFill/>
          <a:ln>
            <a:noFill/>
          </a:ln>
        </p:spPr>
        <p:txBody>
          <a:bodyPr lIns="0" tIns="0" rIns="0" bIns="0" anchor="t" anchorCtr="0">
            <a:spAutoFit/>
          </a:bodyPr>
          <a:lstStyle/>
          <a:p>
            <a:pPr marL="342900" indent="-342900"/>
            <a:r>
              <a:rPr lang="en-US" sz="2400" dirty="0"/>
              <a:t>Other researchers have tested different proposed atmospheres exposed to electrical discharge.</a:t>
            </a:r>
          </a:p>
          <a:p>
            <a:pPr marL="342900" indent="-342900"/>
            <a:r>
              <a:rPr lang="en-US" sz="2400" dirty="0"/>
              <a:t>They have detected a variety of simple organic compounds produced in this way.</a:t>
            </a:r>
          </a:p>
        </p:txBody>
      </p:sp>
    </p:spTree>
    <p:extLst>
      <p:ext uri="{BB962C8B-B14F-4D97-AF65-F5344CB8AC3E}">
        <p14:creationId xmlns:p14="http://schemas.microsoft.com/office/powerpoint/2010/main" val="18922715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40434" y="163711"/>
            <a:ext cx="8263784" cy="1107996"/>
          </a:xfrm>
        </p:spPr>
        <p:txBody>
          <a:bodyPr lIns="0" tIns="0" rIns="0" bIns="0" anchor="ctr">
            <a:spAutoFit/>
          </a:bodyPr>
          <a:lstStyle/>
          <a:p>
            <a:r>
              <a:rPr lang="en-US" sz="3600" dirty="0">
                <a:latin typeface="+mj-lt"/>
              </a:rPr>
              <a:t>Models for Formation of Organic Compounds</a:t>
            </a: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40434" y="1489161"/>
            <a:ext cx="8263784" cy="2408352"/>
          </a:xfrm>
          <a:noFill/>
          <a:ln>
            <a:noFill/>
          </a:ln>
        </p:spPr>
        <p:txBody>
          <a:bodyPr lIns="0" tIns="0" rIns="0" bIns="0" anchor="t" anchorCtr="0">
            <a:spAutoFit/>
          </a:bodyPr>
          <a:lstStyle/>
          <a:p>
            <a:pPr marL="342900" indent="-342900"/>
            <a:r>
              <a:rPr lang="en-US" sz="2400" dirty="0"/>
              <a:t>Formation in the atmosphere, precipitation into the oceans, and concentration into “primordial soup” as simulated by Miller’s experiments</a:t>
            </a:r>
          </a:p>
          <a:p>
            <a:pPr marL="342900" indent="-342900"/>
            <a:r>
              <a:rPr lang="en-US" sz="2400" dirty="0"/>
              <a:t>Deep-sea hydrothermal vents provided a catalytic environment for combining dissolved gases into organic molecules.</a:t>
            </a:r>
          </a:p>
        </p:txBody>
      </p:sp>
    </p:spTree>
    <p:extLst>
      <p:ext uri="{BB962C8B-B14F-4D97-AF65-F5344CB8AC3E}">
        <p14:creationId xmlns:p14="http://schemas.microsoft.com/office/powerpoint/2010/main" val="10836766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40434" y="163711"/>
            <a:ext cx="8263784" cy="1107996"/>
          </a:xfrm>
        </p:spPr>
        <p:txBody>
          <a:bodyPr lIns="0" tIns="0" rIns="0" bIns="0" anchor="ctr">
            <a:spAutoFit/>
          </a:bodyPr>
          <a:lstStyle/>
          <a:p>
            <a:r>
              <a:rPr lang="en-US" sz="3600" dirty="0">
                <a:latin typeface="+mj-lt"/>
              </a:rPr>
              <a:t>RNA May Have Been the First Informational Molecule</a:t>
            </a: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40434" y="1489167"/>
            <a:ext cx="8263784" cy="2970044"/>
          </a:xfrm>
          <a:noFill/>
          <a:ln>
            <a:noFill/>
          </a:ln>
        </p:spPr>
        <p:txBody>
          <a:bodyPr lIns="0" tIns="0" rIns="0" bIns="0" anchor="t" anchorCtr="0">
            <a:spAutoFit/>
          </a:bodyPr>
          <a:lstStyle/>
          <a:p>
            <a:pPr marL="342900" indent="-342900"/>
            <a:r>
              <a:rPr lang="en-US" sz="2400" dirty="0"/>
              <a:t>Deoxyribonucleic acids, used to form </a:t>
            </a:r>
            <a:r>
              <a:rPr lang="en-US" sz="2400" spc="-300" dirty="0"/>
              <a:t>D N </a:t>
            </a:r>
            <a:r>
              <a:rPr lang="en-US" sz="2400" dirty="0"/>
              <a:t>A, are derived enzymatically from the corresponding ribonucleotides.</a:t>
            </a:r>
          </a:p>
          <a:p>
            <a:pPr marL="342900" indent="-342900"/>
            <a:r>
              <a:rPr lang="en-US" sz="2400" spc="-300" dirty="0"/>
              <a:t>R N A </a:t>
            </a:r>
            <a:r>
              <a:rPr lang="en-US" sz="2400" dirty="0"/>
              <a:t>s called </a:t>
            </a:r>
            <a:r>
              <a:rPr lang="en-US" sz="2400" i="1" dirty="0"/>
              <a:t>ribozymes</a:t>
            </a:r>
            <a:r>
              <a:rPr lang="en-US" sz="2400" dirty="0"/>
              <a:t> are capable of performing certain enzymatic reactions; for example, the formation of the peptide bonds during translation.</a:t>
            </a:r>
          </a:p>
          <a:p>
            <a:pPr marL="342900" indent="-342900"/>
            <a:r>
              <a:rPr lang="en-US" sz="2400" dirty="0"/>
              <a:t>This suggests that an “</a:t>
            </a:r>
            <a:r>
              <a:rPr lang="en-US" sz="2400" spc="-300" dirty="0"/>
              <a:t>R N </a:t>
            </a:r>
            <a:r>
              <a:rPr lang="en-US" sz="2400" dirty="0"/>
              <a:t>A world” existed before the appearance of </a:t>
            </a:r>
            <a:r>
              <a:rPr lang="en-US" sz="2400" spc="-300" dirty="0"/>
              <a:t>D N </a:t>
            </a:r>
            <a:r>
              <a:rPr lang="en-US" sz="2400" dirty="0"/>
              <a:t>A and proteins.</a:t>
            </a:r>
          </a:p>
        </p:txBody>
      </p:sp>
    </p:spTree>
    <p:extLst>
      <p:ext uri="{BB962C8B-B14F-4D97-AF65-F5344CB8AC3E}">
        <p14:creationId xmlns:p14="http://schemas.microsoft.com/office/powerpoint/2010/main" val="29330131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40434" y="163711"/>
            <a:ext cx="8263784" cy="1107996"/>
          </a:xfrm>
        </p:spPr>
        <p:txBody>
          <a:bodyPr lIns="0" tIns="0" rIns="0" bIns="0" anchor="ctr">
            <a:spAutoFit/>
          </a:bodyPr>
          <a:lstStyle/>
          <a:p>
            <a:r>
              <a:rPr lang="en-US" sz="3600" dirty="0">
                <a:latin typeface="+mj-lt"/>
              </a:rPr>
              <a:t>Liposomes May Have Defined the First Primitive Protocells</a:t>
            </a: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40434" y="1480540"/>
            <a:ext cx="8263784" cy="2600712"/>
          </a:xfrm>
          <a:noFill/>
          <a:ln>
            <a:noFill/>
          </a:ln>
        </p:spPr>
        <p:txBody>
          <a:bodyPr lIns="0" tIns="0" rIns="0" bIns="0" anchor="t" anchorCtr="0">
            <a:spAutoFit/>
          </a:bodyPr>
          <a:lstStyle/>
          <a:p>
            <a:pPr marL="342900" indent="-342900"/>
            <a:r>
              <a:rPr lang="en-US" sz="2400" dirty="0"/>
              <a:t>Using lipids, scientists have produced hollow, membrane-bound vesicles called </a:t>
            </a:r>
            <a:r>
              <a:rPr lang="en-US" sz="2400" b="1" dirty="0"/>
              <a:t>liposomes</a:t>
            </a:r>
            <a:r>
              <a:rPr lang="en-US" sz="2400" dirty="0"/>
              <a:t>.</a:t>
            </a:r>
          </a:p>
          <a:p>
            <a:pPr marL="342900" indent="-342900"/>
            <a:r>
              <a:rPr lang="en-US" sz="2400" dirty="0"/>
              <a:t>Under some circumstances, these can carry out simple metabolic reactions.</a:t>
            </a:r>
          </a:p>
          <a:p>
            <a:pPr marL="342900" indent="-342900"/>
            <a:r>
              <a:rPr lang="en-US" sz="2400" dirty="0"/>
              <a:t>Primordial lipids may have come together in an early ocean, trapping </a:t>
            </a:r>
            <a:r>
              <a:rPr lang="en-US" sz="2400" spc="-300" dirty="0"/>
              <a:t>R N A </a:t>
            </a:r>
            <a:r>
              <a:rPr lang="en-US" sz="2400" dirty="0"/>
              <a:t>s and forming the first “protocells.”</a:t>
            </a:r>
          </a:p>
        </p:txBody>
      </p:sp>
    </p:spTree>
    <p:extLst>
      <p:ext uri="{BB962C8B-B14F-4D97-AF65-F5344CB8AC3E}">
        <p14:creationId xmlns:p14="http://schemas.microsoft.com/office/powerpoint/2010/main" val="37486971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47984" y="158496"/>
            <a:ext cx="8229600" cy="553998"/>
          </a:xfrm>
        </p:spPr>
        <p:txBody>
          <a:bodyPr lIns="0" tIns="0" rIns="0" bIns="0" anchor="ctr">
            <a:spAutoFit/>
          </a:bodyPr>
          <a:lstStyle/>
          <a:p>
            <a:r>
              <a:rPr lang="en-US" dirty="0"/>
              <a:t>Artificial Liposomes</a:t>
            </a:r>
          </a:p>
        </p:txBody>
      </p:sp>
      <p:sp>
        <p:nvSpPr>
          <p:cNvPr id="6" name="Content Placeholder 5"/>
          <p:cNvSpPr>
            <a:spLocks noGrp="1"/>
          </p:cNvSpPr>
          <p:nvPr>
            <p:ph sz="quarter" idx="15"/>
          </p:nvPr>
        </p:nvSpPr>
        <p:spPr>
          <a:xfrm>
            <a:off x="447815" y="924018"/>
            <a:ext cx="8229769" cy="369332"/>
          </a:xfrm>
        </p:spPr>
        <p:txBody>
          <a:bodyPr wrap="square" lIns="0" tIns="0" rIns="0" bIns="0">
            <a:spAutoFit/>
          </a:bodyPr>
          <a:lstStyle/>
          <a:p>
            <a:pPr marL="0" indent="0">
              <a:buNone/>
            </a:pPr>
            <a:r>
              <a:rPr lang="en-US" sz="2400" b="1" dirty="0"/>
              <a:t>Figure 4.2</a:t>
            </a:r>
            <a:r>
              <a:rPr lang="en-US" sz="2400" dirty="0"/>
              <a:t> Artificial Liposomes. </a:t>
            </a:r>
          </a:p>
        </p:txBody>
      </p:sp>
      <p:pic>
        <p:nvPicPr>
          <p:cNvPr id="4" name="Picture Placeholder 3" descr="A light micrograph of liposomes shows circular membrane-bound vesicles, which are bubble-like structures of different sizes. Another micrograph shows R N A in orange dye against a green backdrop of liposome.&#10;Long description is available in notes, press F6"/>
          <p:cNvPicPr>
            <a:picLocks noGrp="1" noChangeAspect="1"/>
          </p:cNvPicPr>
          <p:nvPr>
            <p:ph type="pic" sz="quarter" idx="16"/>
          </p:nvPr>
        </p:nvPicPr>
        <p:blipFill rotWithShape="1">
          <a:blip r:embed="rId3">
            <a:extLst>
              <a:ext uri="{28A0092B-C50C-407E-A947-70E740481C1C}">
                <a14:useLocalDpi xmlns:a14="http://schemas.microsoft.com/office/drawing/2010/main" val="0"/>
              </a:ext>
            </a:extLst>
          </a:blip>
          <a:srcRect b="2168"/>
          <a:stretch/>
        </p:blipFill>
        <p:spPr>
          <a:xfrm>
            <a:off x="2755879" y="1496697"/>
            <a:ext cx="3659020" cy="4842302"/>
          </a:xfrm>
        </p:spPr>
      </p:pic>
    </p:spTree>
    <p:extLst>
      <p:ext uri="{BB962C8B-B14F-4D97-AF65-F5344CB8AC3E}">
        <p14:creationId xmlns:p14="http://schemas.microsoft.com/office/powerpoint/2010/main" val="19608511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40434" y="163251"/>
            <a:ext cx="8263784" cy="553998"/>
          </a:xfrm>
        </p:spPr>
        <p:txBody>
          <a:bodyPr lIns="0" tIns="0" rIns="0" bIns="0" anchor="ctr">
            <a:spAutoFit/>
          </a:bodyPr>
          <a:lstStyle/>
          <a:p>
            <a:r>
              <a:rPr lang="en-US" sz="3600" dirty="0">
                <a:latin typeface="+mj-lt"/>
              </a:rPr>
              <a:t>4.2 Basic Properties of Cells</a:t>
            </a: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40434" y="1083722"/>
            <a:ext cx="8263784" cy="2154436"/>
          </a:xfrm>
          <a:noFill/>
          <a:ln>
            <a:noFill/>
          </a:ln>
        </p:spPr>
        <p:txBody>
          <a:bodyPr lIns="0" tIns="0" rIns="0" bIns="0" anchor="t" anchorCtr="0">
            <a:spAutoFit/>
          </a:bodyPr>
          <a:lstStyle/>
          <a:p>
            <a:pPr marL="342900" indent="-342900"/>
            <a:r>
              <a:rPr lang="en-US" sz="2400" dirty="0"/>
              <a:t>Several general characteristics of cells</a:t>
            </a:r>
          </a:p>
          <a:p>
            <a:pPr marL="829818" lvl="1" indent="-342900"/>
            <a:r>
              <a:rPr lang="en-US" sz="2400" dirty="0"/>
              <a:t>Organizational complexity</a:t>
            </a:r>
          </a:p>
          <a:p>
            <a:pPr marL="829818" lvl="1" indent="-342900"/>
            <a:r>
              <a:rPr lang="en-US" sz="2400" dirty="0"/>
              <a:t>Molecular components</a:t>
            </a:r>
          </a:p>
          <a:p>
            <a:pPr marL="829818" lvl="1" indent="-342900"/>
            <a:r>
              <a:rPr lang="en-US" sz="2400" dirty="0"/>
              <a:t>Sizes and shapes</a:t>
            </a:r>
          </a:p>
          <a:p>
            <a:pPr marL="829818" lvl="1" indent="-342900"/>
            <a:r>
              <a:rPr lang="en-US" sz="2400" dirty="0"/>
              <a:t>Specialization</a:t>
            </a:r>
          </a:p>
        </p:txBody>
      </p:sp>
    </p:spTree>
    <p:extLst>
      <p:ext uri="{BB962C8B-B14F-4D97-AF65-F5344CB8AC3E}">
        <p14:creationId xmlns:p14="http://schemas.microsoft.com/office/powerpoint/2010/main" val="22323738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40434" y="160915"/>
            <a:ext cx="8263784" cy="1107996"/>
          </a:xfrm>
        </p:spPr>
        <p:txBody>
          <a:bodyPr lIns="0" tIns="0" rIns="0" bIns="0" anchor="ctr">
            <a:spAutoFit/>
          </a:bodyPr>
          <a:lstStyle/>
          <a:p>
            <a:r>
              <a:rPr lang="en-US" sz="3600" dirty="0">
                <a:latin typeface="+mj-lt"/>
              </a:rPr>
              <a:t>The Three Domains of Life Are Bacteria, Archaea, and Eukaryotes</a:t>
            </a: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40434" y="1494003"/>
            <a:ext cx="8263784" cy="2970044"/>
          </a:xfrm>
          <a:noFill/>
          <a:ln>
            <a:noFill/>
          </a:ln>
        </p:spPr>
        <p:txBody>
          <a:bodyPr lIns="0" tIns="0" rIns="0" bIns="0" anchor="t" anchorCtr="0">
            <a:spAutoFit/>
          </a:bodyPr>
          <a:lstStyle/>
          <a:p>
            <a:pPr marL="342900" indent="-342900"/>
            <a:r>
              <a:rPr lang="en-US" sz="2400" dirty="0"/>
              <a:t>Biologists recognized two types of cells.</a:t>
            </a:r>
          </a:p>
          <a:p>
            <a:pPr marL="342900" indent="-342900"/>
            <a:r>
              <a:rPr lang="en-US" sz="2400" dirty="0"/>
              <a:t>The simpler type is characteristic of bacteria and archaea (</a:t>
            </a:r>
            <a:r>
              <a:rPr lang="en-US" sz="2400" b="1" dirty="0"/>
              <a:t>prokaryotes</a:t>
            </a:r>
            <a:r>
              <a:rPr lang="en-US" sz="2400" dirty="0"/>
              <a:t>), and the more complex type is characteristic of plants, animals, fungi, algae, and protozoa (</a:t>
            </a:r>
            <a:r>
              <a:rPr lang="en-US" sz="2400" b="1" dirty="0"/>
              <a:t>eukaryotes</a:t>
            </a:r>
            <a:r>
              <a:rPr lang="en-US" sz="2400" dirty="0"/>
              <a:t>).</a:t>
            </a:r>
          </a:p>
          <a:p>
            <a:pPr marL="342900" indent="-342900"/>
            <a:r>
              <a:rPr lang="en-US" sz="2400" dirty="0"/>
              <a:t>The main distinction between the two cell types is the membrane-bounded nucleus of eukaryotic cells.</a:t>
            </a:r>
          </a:p>
        </p:txBody>
      </p:sp>
    </p:spTree>
    <p:extLst>
      <p:ext uri="{BB962C8B-B14F-4D97-AF65-F5344CB8AC3E}">
        <p14:creationId xmlns:p14="http://schemas.microsoft.com/office/powerpoint/2010/main" val="20777351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40434" y="160453"/>
            <a:ext cx="8263784" cy="553998"/>
          </a:xfrm>
        </p:spPr>
        <p:txBody>
          <a:bodyPr lIns="0" tIns="0" rIns="0" bIns="0" anchor="ctr">
            <a:spAutoFit/>
          </a:bodyPr>
          <a:lstStyle/>
          <a:p>
            <a:r>
              <a:rPr lang="en-US" sz="3600" dirty="0">
                <a:latin typeface="+mj-lt"/>
              </a:rPr>
              <a:t>A Changing View of Prokaryotes</a:t>
            </a: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40434" y="1088563"/>
            <a:ext cx="8263784" cy="2600712"/>
          </a:xfrm>
          <a:noFill/>
          <a:ln>
            <a:noFill/>
          </a:ln>
        </p:spPr>
        <p:txBody>
          <a:bodyPr lIns="0" tIns="0" rIns="0" bIns="0" anchor="t" anchorCtr="0">
            <a:spAutoFit/>
          </a:bodyPr>
          <a:lstStyle/>
          <a:p>
            <a:pPr marL="342900" indent="-342900"/>
            <a:r>
              <a:rPr lang="en-US" sz="2400" dirty="0"/>
              <a:t>Recently, the term </a:t>
            </a:r>
            <a:r>
              <a:rPr lang="en-US" sz="2400" i="1" dirty="0"/>
              <a:t>prokaryote</a:t>
            </a:r>
            <a:r>
              <a:rPr lang="en-US" sz="2400" dirty="0"/>
              <a:t> has become unsatisfactory in describing the non-nucleated cells.</a:t>
            </a:r>
          </a:p>
          <a:p>
            <a:pPr marL="342900" indent="-342900"/>
            <a:r>
              <a:rPr lang="en-US" sz="2400" dirty="0"/>
              <a:t>Sharing of a gross structural feature is not necessarily evidence of relatedness.</a:t>
            </a:r>
          </a:p>
          <a:p>
            <a:pPr marL="342900" indent="-342900"/>
            <a:r>
              <a:rPr lang="en-US" sz="2400" dirty="0"/>
              <a:t>Based on </a:t>
            </a:r>
            <a:r>
              <a:rPr lang="en-US" sz="2400" spc="-300" dirty="0"/>
              <a:t>r </a:t>
            </a:r>
            <a:r>
              <a:rPr lang="en-US" sz="2400" spc="-300" dirty="0" err="1"/>
              <a:t>R</a:t>
            </a:r>
            <a:r>
              <a:rPr lang="en-US" sz="2400" spc="-300" dirty="0"/>
              <a:t> N </a:t>
            </a:r>
            <a:r>
              <a:rPr lang="en-US" sz="2400" dirty="0"/>
              <a:t>A sequence analysis, prokaryotic cells can be divided into the widely divergent </a:t>
            </a:r>
            <a:r>
              <a:rPr lang="en-US" sz="2400" b="1" dirty="0"/>
              <a:t>bacteria</a:t>
            </a:r>
            <a:r>
              <a:rPr lang="en-US" sz="2400" dirty="0"/>
              <a:t> and </a:t>
            </a:r>
            <a:r>
              <a:rPr lang="en-US" sz="2400" b="1" dirty="0"/>
              <a:t>archaea</a:t>
            </a:r>
            <a:r>
              <a:rPr lang="en-US" sz="2400" dirty="0"/>
              <a:t>.</a:t>
            </a:r>
          </a:p>
        </p:txBody>
      </p:sp>
    </p:spTree>
    <p:extLst>
      <p:ext uri="{BB962C8B-B14F-4D97-AF65-F5344CB8AC3E}">
        <p14:creationId xmlns:p14="http://schemas.microsoft.com/office/powerpoint/2010/main" val="20348877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40434" y="160453"/>
            <a:ext cx="8263784" cy="553998"/>
          </a:xfrm>
        </p:spPr>
        <p:txBody>
          <a:bodyPr lIns="0" tIns="0" rIns="0" bIns="0" anchor="ctr">
            <a:spAutoFit/>
          </a:bodyPr>
          <a:lstStyle/>
          <a:p>
            <a:r>
              <a:rPr lang="en-US" sz="3600" dirty="0">
                <a:latin typeface="+mj-lt"/>
              </a:rPr>
              <a:t>Three Domains</a:t>
            </a: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40434" y="1088561"/>
            <a:ext cx="8263784" cy="1669688"/>
          </a:xfrm>
          <a:noFill/>
          <a:ln>
            <a:noFill/>
          </a:ln>
        </p:spPr>
        <p:txBody>
          <a:bodyPr lIns="0" tIns="0" rIns="0" bIns="0" anchor="t" anchorCtr="0">
            <a:spAutoFit/>
          </a:bodyPr>
          <a:lstStyle/>
          <a:p>
            <a:pPr marL="342900" indent="-342900"/>
            <a:r>
              <a:rPr lang="en-US" sz="2400" dirty="0"/>
              <a:t>Bacteria and archaea are as divergent from one another as humans and bacteria are.</a:t>
            </a:r>
          </a:p>
          <a:p>
            <a:pPr marL="342900" indent="-342900"/>
            <a:r>
              <a:rPr lang="en-US" sz="2400" dirty="0"/>
              <a:t>Biologists now recognize three domains, the Archaea, Bacteria, and </a:t>
            </a:r>
            <a:r>
              <a:rPr lang="en-US" sz="2400" b="1" dirty="0"/>
              <a:t>Eukarya</a:t>
            </a:r>
            <a:r>
              <a:rPr lang="en-US" sz="2400" dirty="0"/>
              <a:t> (</a:t>
            </a:r>
            <a:r>
              <a:rPr lang="en-US" sz="2400" i="1" dirty="0"/>
              <a:t>eukaryotes</a:t>
            </a:r>
            <a:r>
              <a:rPr lang="en-US" sz="2400" dirty="0"/>
              <a:t>).</a:t>
            </a:r>
          </a:p>
        </p:txBody>
      </p:sp>
    </p:spTree>
    <p:extLst>
      <p:ext uri="{BB962C8B-B14F-4D97-AF65-F5344CB8AC3E}">
        <p14:creationId xmlns:p14="http://schemas.microsoft.com/office/powerpoint/2010/main" val="8508262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47984" y="158496"/>
            <a:ext cx="8229600" cy="553998"/>
          </a:xfrm>
        </p:spPr>
        <p:txBody>
          <a:bodyPr lIns="0" tIns="0" rIns="0" bIns="0" anchor="ctr">
            <a:spAutoFit/>
          </a:bodyPr>
          <a:lstStyle/>
          <a:p>
            <a:r>
              <a:rPr lang="en-US" dirty="0"/>
              <a:t>The Three Domains of Life</a:t>
            </a:r>
          </a:p>
        </p:txBody>
      </p:sp>
      <p:sp>
        <p:nvSpPr>
          <p:cNvPr id="6" name="Content Placeholder 5"/>
          <p:cNvSpPr>
            <a:spLocks noGrp="1"/>
          </p:cNvSpPr>
          <p:nvPr>
            <p:ph sz="quarter" idx="15"/>
          </p:nvPr>
        </p:nvSpPr>
        <p:spPr>
          <a:xfrm>
            <a:off x="447816" y="949900"/>
            <a:ext cx="8256234" cy="369332"/>
          </a:xfrm>
        </p:spPr>
        <p:txBody>
          <a:bodyPr lIns="0" tIns="0" rIns="0" bIns="0">
            <a:spAutoFit/>
          </a:bodyPr>
          <a:lstStyle/>
          <a:p>
            <a:pPr marL="0" indent="0">
              <a:buNone/>
            </a:pPr>
            <a:r>
              <a:rPr lang="en-US" sz="2400" b="1" dirty="0"/>
              <a:t>Figure 4.3</a:t>
            </a:r>
            <a:r>
              <a:rPr lang="en-US" sz="2400" dirty="0"/>
              <a:t> The Three Domains of Life.</a:t>
            </a:r>
          </a:p>
        </p:txBody>
      </p:sp>
      <p:pic>
        <p:nvPicPr>
          <p:cNvPr id="4" name="Picture Placeholder 3" descr="An illustration on the three domains of life: Eukarya, Archaea, and Bacteria. All three domains branch out from the same origin and the branch leading to bacteria is labeled as “Common ancestor of all life.” &#10;Long description is available in notes, press F6"/>
          <p:cNvPicPr>
            <a:picLocks noGrp="1" noChangeAspect="1"/>
          </p:cNvPicPr>
          <p:nvPr>
            <p:ph type="pic" sz="quarter" idx="16"/>
          </p:nvPr>
        </p:nvPicPr>
        <p:blipFill rotWithShape="1">
          <a:blip r:embed="rId3">
            <a:extLst>
              <a:ext uri="{28A0092B-C50C-407E-A947-70E740481C1C}">
                <a14:useLocalDpi xmlns:a14="http://schemas.microsoft.com/office/drawing/2010/main" val="0"/>
              </a:ext>
            </a:extLst>
          </a:blip>
          <a:srcRect b="2638"/>
          <a:stretch/>
        </p:blipFill>
        <p:spPr>
          <a:xfrm>
            <a:off x="766448" y="1565041"/>
            <a:ext cx="7611104" cy="4755086"/>
          </a:xfrm>
        </p:spPr>
      </p:pic>
    </p:spTree>
    <p:extLst>
      <p:ext uri="{BB962C8B-B14F-4D97-AF65-F5344CB8AC3E}">
        <p14:creationId xmlns:p14="http://schemas.microsoft.com/office/powerpoint/2010/main" val="35861376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39948" y="255923"/>
            <a:ext cx="8229600" cy="861774"/>
          </a:xfrm>
        </p:spPr>
        <p:txBody>
          <a:bodyPr lIns="0" tIns="0" rIns="0" bIns="0" anchor="ctr">
            <a:spAutoFit/>
          </a:bodyPr>
          <a:lstStyle/>
          <a:p>
            <a:r>
              <a:rPr lang="en-US" sz="2800" dirty="0">
                <a:latin typeface="+mj-lt"/>
              </a:rPr>
              <a:t>A Comparison of Some Properties of Bacterial, Archaeal, and Eukaryotic Cells </a:t>
            </a:r>
            <a:r>
              <a:rPr lang="en-US" sz="2000" dirty="0">
                <a:latin typeface="+mj-lt"/>
              </a:rPr>
              <a:t>(1 of 2)</a:t>
            </a:r>
            <a:endParaRPr lang="en-US" sz="2800" dirty="0">
              <a:latin typeface="+mj-lt"/>
            </a:endParaRP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39948" y="1220642"/>
            <a:ext cx="8229600" cy="246221"/>
          </a:xfrm>
        </p:spPr>
        <p:txBody>
          <a:bodyPr lIns="0" tIns="0" rIns="0" bIns="0">
            <a:spAutoFit/>
          </a:bodyPr>
          <a:lstStyle/>
          <a:p>
            <a:pPr marL="0" indent="0">
              <a:buNone/>
            </a:pPr>
            <a:r>
              <a:rPr lang="en-US" b="1" dirty="0"/>
              <a:t>Table 4.1 </a:t>
            </a:r>
            <a:r>
              <a:rPr lang="en-US" dirty="0"/>
              <a:t>A Comparison of Some Properties of Bacterial, Archaeal, and Eukaryotic Cells*</a:t>
            </a:r>
          </a:p>
        </p:txBody>
      </p:sp>
      <p:graphicFrame>
        <p:nvGraphicFramePr>
          <p:cNvPr id="4" name="Table 3"/>
          <p:cNvGraphicFramePr>
            <a:graphicFrameLocks noGrp="1"/>
          </p:cNvGraphicFramePr>
          <p:nvPr/>
        </p:nvGraphicFramePr>
        <p:xfrm>
          <a:off x="517585" y="1557576"/>
          <a:ext cx="8169215" cy="4072722"/>
        </p:xfrm>
        <a:graphic>
          <a:graphicData uri="http://schemas.openxmlformats.org/drawingml/2006/table">
            <a:tbl>
              <a:tblPr firstRow="1" bandRow="1">
                <a:tableStyleId>{3C2FFA5D-87B4-456A-9821-1D502468CF0F}</a:tableStyleId>
              </a:tblPr>
              <a:tblGrid>
                <a:gridCol w="1500996">
                  <a:extLst>
                    <a:ext uri="{9D8B030D-6E8A-4147-A177-3AD203B41FA5}">
                      <a16:colId xmlns:a16="http://schemas.microsoft.com/office/drawing/2014/main" val="2030563763"/>
                    </a:ext>
                  </a:extLst>
                </a:gridCol>
                <a:gridCol w="1604513">
                  <a:extLst>
                    <a:ext uri="{9D8B030D-6E8A-4147-A177-3AD203B41FA5}">
                      <a16:colId xmlns:a16="http://schemas.microsoft.com/office/drawing/2014/main" val="391061987"/>
                    </a:ext>
                  </a:extLst>
                </a:gridCol>
                <a:gridCol w="1656272">
                  <a:extLst>
                    <a:ext uri="{9D8B030D-6E8A-4147-A177-3AD203B41FA5}">
                      <a16:colId xmlns:a16="http://schemas.microsoft.com/office/drawing/2014/main" val="1841151341"/>
                    </a:ext>
                  </a:extLst>
                </a:gridCol>
                <a:gridCol w="2380891">
                  <a:extLst>
                    <a:ext uri="{9D8B030D-6E8A-4147-A177-3AD203B41FA5}">
                      <a16:colId xmlns:a16="http://schemas.microsoft.com/office/drawing/2014/main" val="1141542864"/>
                    </a:ext>
                  </a:extLst>
                </a:gridCol>
                <a:gridCol w="1026543">
                  <a:extLst>
                    <a:ext uri="{9D8B030D-6E8A-4147-A177-3AD203B41FA5}">
                      <a16:colId xmlns:a16="http://schemas.microsoft.com/office/drawing/2014/main" val="1071231835"/>
                    </a:ext>
                  </a:extLst>
                </a:gridCol>
              </a:tblGrid>
              <a:tr h="315912">
                <a:tc>
                  <a:txBody>
                    <a:bodyPr/>
                    <a:lstStyle/>
                    <a:p>
                      <a:r>
                        <a:rPr lang="en-IN" sz="1200" b="1" i="0" u="none" strike="noStrike" cap="none" baseline="0" dirty="0">
                          <a:solidFill>
                            <a:schemeClr val="lt1"/>
                          </a:solidFill>
                          <a:latin typeface="+mn-lt"/>
                          <a:ea typeface="+mn-ea"/>
                          <a:cs typeface="+mn-cs"/>
                          <a:sym typeface="Arial"/>
                        </a:rPr>
                        <a:t>Property</a:t>
                      </a:r>
                      <a:endParaRPr lang="en-IN" sz="1200" dirty="0"/>
                    </a:p>
                  </a:txBody>
                  <a:tcPr>
                    <a:lnL w="9525" cap="flat" cmpd="sng" algn="ctr">
                      <a:noFill/>
                      <a:prstDash val="solid"/>
                    </a:lnL>
                    <a:lnR>
                      <a:noFill/>
                    </a:lnR>
                    <a:lnT w="9525" cap="flat" cmpd="sng" algn="ctr">
                      <a:noFill/>
                      <a:prstDash val="solid"/>
                    </a:lnT>
                    <a:lnB w="25400" cap="flat" cmpd="sng" algn="ctr">
                      <a:noFill/>
                      <a:prstDash val="solid"/>
                    </a:lnB>
                    <a:lnTlToBr w="12700" cmpd="sng">
                      <a:noFill/>
                      <a:prstDash val="solid"/>
                    </a:lnTlToBr>
                    <a:lnBlToTr w="12700" cmpd="sng">
                      <a:noFill/>
                      <a:prstDash val="solid"/>
                    </a:lnBlToTr>
                    <a:solidFill>
                      <a:srgbClr val="007FA3"/>
                    </a:solidFill>
                  </a:tcPr>
                </a:tc>
                <a:tc>
                  <a:txBody>
                    <a:bodyPr/>
                    <a:lstStyle/>
                    <a:p>
                      <a:r>
                        <a:rPr lang="en-IN" sz="1200" b="1" i="0" u="none" strike="noStrike" cap="none" baseline="0" dirty="0">
                          <a:solidFill>
                            <a:schemeClr val="lt1"/>
                          </a:solidFill>
                          <a:latin typeface="+mn-lt"/>
                          <a:ea typeface="+mn-ea"/>
                          <a:cs typeface="+mn-cs"/>
                          <a:sym typeface="Arial"/>
                        </a:rPr>
                        <a:t>Bacteria</a:t>
                      </a:r>
                      <a:endParaRPr lang="en-IN" sz="1200" dirty="0"/>
                    </a:p>
                  </a:txBody>
                  <a:tcPr>
                    <a:lnL>
                      <a:noFill/>
                    </a:lnL>
                    <a:lnR>
                      <a:noFill/>
                    </a:lnR>
                    <a:lnT w="9525" cap="flat" cmpd="sng" algn="ctr">
                      <a:noFill/>
                      <a:prstDash val="solid"/>
                    </a:lnT>
                    <a:lnB w="25400" cap="flat" cmpd="sng" algn="ctr">
                      <a:noFill/>
                      <a:prstDash val="solid"/>
                    </a:lnB>
                    <a:lnTlToBr w="12700" cmpd="sng">
                      <a:noFill/>
                      <a:prstDash val="solid"/>
                    </a:lnTlToBr>
                    <a:lnBlToTr w="12700" cmpd="sng">
                      <a:noFill/>
                      <a:prstDash val="solid"/>
                    </a:lnBlToTr>
                    <a:solidFill>
                      <a:srgbClr val="007FA3"/>
                    </a:solidFill>
                  </a:tcPr>
                </a:tc>
                <a:tc>
                  <a:txBody>
                    <a:bodyPr/>
                    <a:lstStyle/>
                    <a:p>
                      <a:r>
                        <a:rPr lang="en-IN" sz="1200" b="1" i="0" u="none" strike="noStrike" cap="none" baseline="0" dirty="0">
                          <a:solidFill>
                            <a:schemeClr val="lt1"/>
                          </a:solidFill>
                          <a:latin typeface="+mn-lt"/>
                          <a:ea typeface="+mn-ea"/>
                          <a:cs typeface="+mn-cs"/>
                          <a:sym typeface="Arial"/>
                        </a:rPr>
                        <a:t>Archaea</a:t>
                      </a:r>
                      <a:endParaRPr lang="en-IN" sz="1200" dirty="0"/>
                    </a:p>
                  </a:txBody>
                  <a:tcPr>
                    <a:lnL>
                      <a:noFill/>
                    </a:lnL>
                    <a:lnR>
                      <a:noFill/>
                    </a:lnR>
                    <a:lnT w="9525" cap="flat" cmpd="sng" algn="ctr">
                      <a:noFill/>
                      <a:prstDash val="solid"/>
                    </a:lnT>
                    <a:lnB w="25400" cap="flat" cmpd="sng" algn="ctr">
                      <a:noFill/>
                      <a:prstDash val="solid"/>
                    </a:lnB>
                    <a:lnTlToBr w="12700" cmpd="sng">
                      <a:noFill/>
                      <a:prstDash val="solid"/>
                    </a:lnTlToBr>
                    <a:lnBlToTr w="12700" cmpd="sng">
                      <a:noFill/>
                      <a:prstDash val="solid"/>
                    </a:lnBlToTr>
                    <a:solidFill>
                      <a:srgbClr val="007FA3"/>
                    </a:solidFill>
                  </a:tcPr>
                </a:tc>
                <a:tc>
                  <a:txBody>
                    <a:bodyPr/>
                    <a:lstStyle/>
                    <a:p>
                      <a:r>
                        <a:rPr lang="en-IN" sz="1200" b="1" i="0" u="none" strike="noStrike" cap="none" baseline="0" dirty="0">
                          <a:solidFill>
                            <a:schemeClr val="lt1"/>
                          </a:solidFill>
                          <a:latin typeface="+mn-lt"/>
                          <a:ea typeface="+mn-ea"/>
                          <a:cs typeface="+mn-cs"/>
                          <a:sym typeface="Arial"/>
                        </a:rPr>
                        <a:t>Eukaryotes</a:t>
                      </a:r>
                      <a:endParaRPr lang="en-IN" sz="1200" dirty="0"/>
                    </a:p>
                  </a:txBody>
                  <a:tcPr>
                    <a:lnL>
                      <a:noFill/>
                    </a:lnL>
                    <a:lnR>
                      <a:noFill/>
                    </a:lnR>
                    <a:lnT w="9525" cap="flat" cmpd="sng" algn="ctr">
                      <a:noFill/>
                      <a:prstDash val="solid"/>
                    </a:lnT>
                    <a:lnB w="25400" cap="flat" cmpd="sng" algn="ctr">
                      <a:noFill/>
                      <a:prstDash val="solid"/>
                    </a:lnB>
                    <a:lnTlToBr w="12700" cmpd="sng">
                      <a:noFill/>
                      <a:prstDash val="solid"/>
                    </a:lnTlToBr>
                    <a:lnBlToTr w="12700" cmpd="sng">
                      <a:noFill/>
                      <a:prstDash val="solid"/>
                    </a:lnBlToTr>
                    <a:solidFill>
                      <a:srgbClr val="007FA3"/>
                    </a:solidFill>
                  </a:tcPr>
                </a:tc>
                <a:tc>
                  <a:txBody>
                    <a:bodyPr/>
                    <a:lstStyle/>
                    <a:p>
                      <a:r>
                        <a:rPr lang="en-IN" sz="1200" b="1" i="0" u="none" strike="noStrike" cap="none" baseline="0" dirty="0">
                          <a:solidFill>
                            <a:schemeClr val="lt1"/>
                          </a:solidFill>
                          <a:latin typeface="+mn-lt"/>
                          <a:ea typeface="+mn-ea"/>
                          <a:cs typeface="+mn-cs"/>
                          <a:sym typeface="Arial"/>
                        </a:rPr>
                        <a:t>Refer to</a:t>
                      </a:r>
                      <a:endParaRPr lang="en-IN" sz="1200" dirty="0"/>
                    </a:p>
                  </a:txBody>
                  <a:tcPr>
                    <a:lnL>
                      <a:noFill/>
                    </a:lnL>
                    <a:lnR w="9525" cap="flat" cmpd="sng" algn="ctr">
                      <a:noFill/>
                      <a:prstDash val="solid"/>
                    </a:lnR>
                    <a:lnT w="9525" cap="flat" cmpd="sng" algn="ctr">
                      <a:noFill/>
                      <a:prstDash val="solid"/>
                    </a:lnT>
                    <a:lnB w="25400" cap="flat" cmpd="sng" algn="ctr">
                      <a:noFill/>
                      <a:prstDash val="solid"/>
                    </a:lnB>
                    <a:lnTlToBr w="12700" cmpd="sng">
                      <a:noFill/>
                      <a:prstDash val="solid"/>
                    </a:lnTlToBr>
                    <a:lnBlToTr w="12700" cmpd="sng">
                      <a:noFill/>
                      <a:prstDash val="solid"/>
                    </a:lnBlToTr>
                    <a:solidFill>
                      <a:srgbClr val="007FA3"/>
                    </a:solidFill>
                  </a:tcPr>
                </a:tc>
                <a:extLst>
                  <a:ext uri="{0D108BD9-81ED-4DB2-BD59-A6C34878D82A}">
                    <a16:rowId xmlns:a16="http://schemas.microsoft.com/office/drawing/2014/main" val="2317122038"/>
                  </a:ext>
                </a:extLst>
              </a:tr>
              <a:tr h="315912">
                <a:tc>
                  <a:txBody>
                    <a:bodyPr/>
                    <a:lstStyle/>
                    <a:p>
                      <a:r>
                        <a:rPr lang="en-IN" sz="1200" b="0" i="0" u="none" strike="noStrike" cap="none" baseline="0" dirty="0">
                          <a:solidFill>
                            <a:schemeClr val="dk1"/>
                          </a:solidFill>
                          <a:latin typeface="+mn-lt"/>
                          <a:ea typeface="+mn-ea"/>
                          <a:cs typeface="+mn-cs"/>
                          <a:sym typeface="Arial"/>
                        </a:rPr>
                        <a:t>Typical size</a:t>
                      </a:r>
                      <a:endParaRPr lang="en-IN" sz="1200" dirty="0"/>
                    </a:p>
                  </a:txBody>
                  <a:tcPr>
                    <a:lnL w="9525" cap="flat" cmpd="sng" algn="ctr">
                      <a:noFill/>
                      <a:prstDash val="solid"/>
                    </a:lnL>
                    <a:lnR w="9525" cap="flat" cmpd="sng" algn="ctr">
                      <a:noFill/>
                      <a:prstDash val="solid"/>
                    </a:lnR>
                    <a:lnT w="25400" cap="flat" cmpd="sng" algn="ctr">
                      <a:noFill/>
                      <a:prstDash val="solid"/>
                    </a:lnT>
                    <a:lnB w="9525" cap="flat" cmpd="sng" algn="ctr">
                      <a:noFill/>
                      <a:prstDash val="solid"/>
                    </a:lnB>
                    <a:lnTlToBr w="12700" cmpd="sng">
                      <a:noFill/>
                      <a:prstDash val="solid"/>
                    </a:lnTlToBr>
                    <a:lnBlToTr w="12700" cmpd="sng">
                      <a:noFill/>
                      <a:prstDash val="solid"/>
                    </a:lnBlToTr>
                    <a:solidFill>
                      <a:srgbClr val="D5EAE4"/>
                    </a:solidFill>
                  </a:tcPr>
                </a:tc>
                <a:tc>
                  <a:txBody>
                    <a:bodyPr/>
                    <a:lstStyle/>
                    <a:p>
                      <a:r>
                        <a:rPr lang="en-IN" sz="1200" b="0" i="0" u="none" strike="noStrike" cap="none" baseline="0" dirty="0">
                          <a:solidFill>
                            <a:schemeClr val="dk1"/>
                          </a:solidFill>
                          <a:latin typeface="+mn-lt"/>
                          <a:ea typeface="+mn-ea"/>
                          <a:cs typeface="+mn-cs"/>
                          <a:sym typeface="Arial"/>
                        </a:rPr>
                        <a:t>Small ( 1–5 </a:t>
                      </a:r>
                      <a:r>
                        <a:rPr lang="el-GR" sz="1200" b="0" i="1" u="none" strike="noStrike" cap="none" baseline="0" dirty="0">
                          <a:solidFill>
                            <a:schemeClr val="dk1"/>
                          </a:solidFill>
                          <a:latin typeface="+mn-lt"/>
                          <a:ea typeface="+mn-ea"/>
                          <a:cs typeface="+mn-cs"/>
                          <a:sym typeface="Arial"/>
                        </a:rPr>
                        <a:t>μ </a:t>
                      </a:r>
                      <a:r>
                        <a:rPr lang="en-IN" sz="1200" b="0" i="0" u="none" strike="noStrike" cap="none" baseline="0" dirty="0">
                          <a:solidFill>
                            <a:schemeClr val="dk1"/>
                          </a:solidFill>
                          <a:latin typeface="+mn-lt"/>
                          <a:ea typeface="+mn-ea"/>
                          <a:cs typeface="+mn-cs"/>
                          <a:sym typeface="Arial"/>
                        </a:rPr>
                        <a:t>m)</a:t>
                      </a:r>
                      <a:endParaRPr lang="en-IN" sz="1200" dirty="0"/>
                    </a:p>
                  </a:txBody>
                  <a:tcPr>
                    <a:lnL w="9525" cap="flat" cmpd="sng" algn="ctr">
                      <a:noFill/>
                      <a:prstDash val="solid"/>
                    </a:lnL>
                    <a:lnR w="9525" cap="flat" cmpd="sng" algn="ctr">
                      <a:noFill/>
                      <a:prstDash val="solid"/>
                    </a:lnR>
                    <a:lnT w="25400" cap="flat" cmpd="sng" algn="ctr">
                      <a:noFill/>
                      <a:prstDash val="solid"/>
                    </a:lnT>
                    <a:lnB w="9525" cap="flat" cmpd="sng" algn="ctr">
                      <a:noFill/>
                      <a:prstDash val="solid"/>
                    </a:lnB>
                    <a:lnTlToBr w="12700" cmpd="sng">
                      <a:noFill/>
                      <a:prstDash val="solid"/>
                    </a:lnTlToBr>
                    <a:lnBlToTr w="12700" cmpd="sng">
                      <a:noFill/>
                      <a:prstDash val="solid"/>
                    </a:lnBlToTr>
                    <a:solidFill>
                      <a:srgbClr val="D5EAE4"/>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b="0" i="0" u="none" strike="noStrike" cap="none" baseline="0" dirty="0">
                          <a:solidFill>
                            <a:schemeClr val="dk1"/>
                          </a:solidFill>
                          <a:latin typeface="+mn-lt"/>
                          <a:ea typeface="+mn-ea"/>
                          <a:cs typeface="+mn-cs"/>
                          <a:sym typeface="Arial"/>
                        </a:rPr>
                        <a:t>Small ( 1–5 </a:t>
                      </a:r>
                      <a:r>
                        <a:rPr lang="el-GR" sz="1200" b="0" i="1" u="none" strike="noStrike" cap="none" baseline="0" dirty="0">
                          <a:solidFill>
                            <a:schemeClr val="dk1"/>
                          </a:solidFill>
                          <a:latin typeface="+mn-lt"/>
                          <a:ea typeface="+mn-ea"/>
                          <a:cs typeface="+mn-cs"/>
                          <a:sym typeface="Arial"/>
                        </a:rPr>
                        <a:t>μ </a:t>
                      </a:r>
                      <a:r>
                        <a:rPr lang="en-IN" sz="1200" b="0" i="0" u="none" strike="noStrike" cap="none" baseline="0" dirty="0">
                          <a:solidFill>
                            <a:schemeClr val="dk1"/>
                          </a:solidFill>
                          <a:latin typeface="+mn-lt"/>
                          <a:ea typeface="+mn-ea"/>
                          <a:cs typeface="+mn-cs"/>
                          <a:sym typeface="Arial"/>
                        </a:rPr>
                        <a:t>m)</a:t>
                      </a:r>
                      <a:endParaRPr lang="en-IN" sz="1200" dirty="0"/>
                    </a:p>
                  </a:txBody>
                  <a:tcPr>
                    <a:lnL w="9525" cap="flat" cmpd="sng" algn="ctr">
                      <a:noFill/>
                      <a:prstDash val="solid"/>
                    </a:lnL>
                    <a:lnR w="9525" cap="flat" cmpd="sng" algn="ctr">
                      <a:noFill/>
                      <a:prstDash val="solid"/>
                    </a:lnR>
                    <a:lnT w="25400" cap="flat" cmpd="sng" algn="ctr">
                      <a:noFill/>
                      <a:prstDash val="solid"/>
                    </a:lnT>
                    <a:lnB w="9525" cap="flat" cmpd="sng" algn="ctr">
                      <a:noFill/>
                      <a:prstDash val="solid"/>
                    </a:lnB>
                    <a:lnTlToBr w="12700" cmpd="sng">
                      <a:noFill/>
                      <a:prstDash val="solid"/>
                    </a:lnTlToBr>
                    <a:lnBlToTr w="12700" cmpd="sng">
                      <a:noFill/>
                      <a:prstDash val="solid"/>
                    </a:lnBlToTr>
                    <a:solidFill>
                      <a:srgbClr val="D5EAE4"/>
                    </a:solidFill>
                  </a:tcPr>
                </a:tc>
                <a:tc>
                  <a:txBody>
                    <a:bodyPr/>
                    <a:lstStyle/>
                    <a:p>
                      <a:r>
                        <a:rPr lang="en-IN" sz="1200" b="0" i="0" u="none" strike="noStrike" cap="none" baseline="0" dirty="0">
                          <a:solidFill>
                            <a:schemeClr val="dk1"/>
                          </a:solidFill>
                          <a:latin typeface="+mn-lt"/>
                          <a:ea typeface="+mn-ea"/>
                          <a:cs typeface="+mn-cs"/>
                          <a:sym typeface="Arial"/>
                        </a:rPr>
                        <a:t>Large (10–100 </a:t>
                      </a:r>
                      <a:r>
                        <a:rPr lang="el-GR" sz="1200" b="0" i="1" u="none" strike="noStrike" cap="none" baseline="0" dirty="0">
                          <a:solidFill>
                            <a:schemeClr val="dk1"/>
                          </a:solidFill>
                          <a:latin typeface="+mn-lt"/>
                          <a:ea typeface="+mn-ea"/>
                          <a:cs typeface="+mn-cs"/>
                          <a:sym typeface="Arial"/>
                        </a:rPr>
                        <a:t>μ </a:t>
                      </a:r>
                      <a:r>
                        <a:rPr lang="en-IN" sz="1200" b="0" i="0" u="none" strike="noStrike" cap="none" baseline="0" dirty="0">
                          <a:solidFill>
                            <a:schemeClr val="dk1"/>
                          </a:solidFill>
                          <a:latin typeface="+mn-lt"/>
                          <a:ea typeface="+mn-ea"/>
                          <a:cs typeface="+mn-cs"/>
                          <a:sym typeface="Arial"/>
                        </a:rPr>
                        <a:t>m)</a:t>
                      </a:r>
                      <a:endParaRPr lang="en-IN" sz="1200" dirty="0"/>
                    </a:p>
                  </a:txBody>
                  <a:tcPr>
                    <a:lnL w="9525" cap="flat" cmpd="sng" algn="ctr">
                      <a:noFill/>
                      <a:prstDash val="solid"/>
                    </a:lnL>
                    <a:lnR w="9525" cap="flat" cmpd="sng" algn="ctr">
                      <a:noFill/>
                      <a:prstDash val="solid"/>
                    </a:lnR>
                    <a:lnT w="25400" cap="flat" cmpd="sng" algn="ctr">
                      <a:noFill/>
                      <a:prstDash val="solid"/>
                    </a:lnT>
                    <a:lnB w="9525" cap="flat" cmpd="sng" algn="ctr">
                      <a:noFill/>
                      <a:prstDash val="solid"/>
                    </a:lnB>
                    <a:lnTlToBr w="12700" cmpd="sng">
                      <a:noFill/>
                      <a:prstDash val="solid"/>
                    </a:lnTlToBr>
                    <a:lnBlToTr w="12700" cmpd="sng">
                      <a:noFill/>
                      <a:prstDash val="solid"/>
                    </a:lnBlToTr>
                    <a:solidFill>
                      <a:srgbClr val="D5EAE4"/>
                    </a:solidFill>
                  </a:tcPr>
                </a:tc>
                <a:tc>
                  <a:txBody>
                    <a:bodyPr/>
                    <a:lstStyle/>
                    <a:p>
                      <a:r>
                        <a:rPr lang="en-IN" sz="1200" b="0" i="0" u="none" strike="noStrike" cap="none" baseline="0" dirty="0">
                          <a:solidFill>
                            <a:schemeClr val="dk1"/>
                          </a:solidFill>
                          <a:latin typeface="+mn-lt"/>
                          <a:ea typeface="+mn-ea"/>
                          <a:cs typeface="+mn-cs"/>
                          <a:sym typeface="Arial"/>
                        </a:rPr>
                        <a:t>—</a:t>
                      </a:r>
                      <a:endParaRPr lang="en-IN" sz="1200" dirty="0"/>
                    </a:p>
                  </a:txBody>
                  <a:tcPr>
                    <a:lnL w="9525" cap="flat" cmpd="sng" algn="ctr">
                      <a:noFill/>
                      <a:prstDash val="solid"/>
                    </a:lnL>
                    <a:lnR w="9525" cap="flat" cmpd="sng" algn="ctr">
                      <a:noFill/>
                      <a:prstDash val="solid"/>
                    </a:lnR>
                    <a:lnT w="25400" cap="flat" cmpd="sng" algn="ctr">
                      <a:noFill/>
                      <a:prstDash val="solid"/>
                    </a:lnT>
                    <a:lnB w="9525" cap="flat" cmpd="sng" algn="ctr">
                      <a:noFill/>
                      <a:prstDash val="solid"/>
                    </a:lnB>
                    <a:lnTlToBr w="12700" cmpd="sng">
                      <a:noFill/>
                      <a:prstDash val="solid"/>
                    </a:lnTlToBr>
                    <a:lnBlToTr w="12700" cmpd="sng">
                      <a:noFill/>
                      <a:prstDash val="solid"/>
                    </a:lnBlToTr>
                    <a:solidFill>
                      <a:srgbClr val="D5EAE4"/>
                    </a:solidFill>
                  </a:tcPr>
                </a:tc>
                <a:extLst>
                  <a:ext uri="{0D108BD9-81ED-4DB2-BD59-A6C34878D82A}">
                    <a16:rowId xmlns:a16="http://schemas.microsoft.com/office/drawing/2014/main" val="353290609"/>
                  </a:ext>
                </a:extLst>
              </a:tr>
              <a:tr h="389481">
                <a:tc>
                  <a:txBody>
                    <a:bodyPr/>
                    <a:lstStyle/>
                    <a:p>
                      <a:r>
                        <a:rPr lang="en-IN" sz="1200" b="0" i="0" u="none" strike="noStrike" cap="none" baseline="0" dirty="0">
                          <a:solidFill>
                            <a:schemeClr val="dk1"/>
                          </a:solidFill>
                          <a:latin typeface="+mn-lt"/>
                          <a:ea typeface="+mn-ea"/>
                          <a:cs typeface="+mn-cs"/>
                          <a:sym typeface="Arial"/>
                        </a:rPr>
                        <a:t>Nucleus and organelles</a:t>
                      </a:r>
                      <a:endParaRPr lang="en-IN" sz="1200" dirty="0"/>
                    </a:p>
                  </a:txBody>
                  <a:tcP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rgbClr val="D5EAE4"/>
                    </a:solidFill>
                  </a:tcPr>
                </a:tc>
                <a:tc>
                  <a:txBody>
                    <a:bodyPr/>
                    <a:lstStyle/>
                    <a:p>
                      <a:r>
                        <a:rPr lang="en-IN" sz="1200" b="0" i="0" u="none" strike="noStrike" cap="none" baseline="0" dirty="0">
                          <a:solidFill>
                            <a:schemeClr val="dk1"/>
                          </a:solidFill>
                          <a:latin typeface="+mn-lt"/>
                          <a:ea typeface="+mn-ea"/>
                          <a:cs typeface="+mn-cs"/>
                          <a:sym typeface="Arial"/>
                        </a:rPr>
                        <a:t>No</a:t>
                      </a:r>
                      <a:endParaRPr lang="en-IN" sz="1200" dirty="0"/>
                    </a:p>
                  </a:txBody>
                  <a:tcP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rgbClr val="D5EAE4"/>
                    </a:solidFill>
                  </a:tcPr>
                </a:tc>
                <a:tc>
                  <a:txBody>
                    <a:bodyPr/>
                    <a:lstStyle/>
                    <a:p>
                      <a:r>
                        <a:rPr lang="en-IN" sz="1200" b="0" i="0" u="none" strike="noStrike" cap="none" baseline="0" dirty="0">
                          <a:solidFill>
                            <a:schemeClr val="dk1"/>
                          </a:solidFill>
                          <a:latin typeface="+mn-lt"/>
                          <a:ea typeface="+mn-ea"/>
                          <a:cs typeface="+mn-cs"/>
                          <a:sym typeface="Arial"/>
                        </a:rPr>
                        <a:t>No</a:t>
                      </a:r>
                      <a:endParaRPr lang="en-IN" sz="1200" dirty="0"/>
                    </a:p>
                  </a:txBody>
                  <a:tcP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rgbClr val="D5EAE4"/>
                    </a:solidFill>
                  </a:tcPr>
                </a:tc>
                <a:tc>
                  <a:txBody>
                    <a:bodyPr/>
                    <a:lstStyle/>
                    <a:p>
                      <a:r>
                        <a:rPr lang="en-IN" sz="1200" b="0" i="0" u="none" strike="noStrike" cap="none" baseline="0" dirty="0">
                          <a:solidFill>
                            <a:schemeClr val="dk1"/>
                          </a:solidFill>
                          <a:latin typeface="+mn-lt"/>
                          <a:ea typeface="+mn-ea"/>
                          <a:cs typeface="+mn-cs"/>
                          <a:sym typeface="Arial"/>
                        </a:rPr>
                        <a:t>Yes</a:t>
                      </a:r>
                      <a:endParaRPr lang="en-IN" sz="1200" dirty="0"/>
                    </a:p>
                  </a:txBody>
                  <a:tcP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rgbClr val="D5EAE4"/>
                    </a:solidFill>
                  </a:tcPr>
                </a:tc>
                <a:tc>
                  <a:txBody>
                    <a:bodyPr/>
                    <a:lstStyle/>
                    <a:p>
                      <a:r>
                        <a:rPr lang="en-IN" sz="1200" b="0" i="0" u="none" strike="noStrike" cap="none" baseline="0" dirty="0">
                          <a:solidFill>
                            <a:schemeClr val="dk1"/>
                          </a:solidFill>
                          <a:latin typeface="+mn-lt"/>
                          <a:ea typeface="+mn-ea"/>
                          <a:cs typeface="+mn-cs"/>
                          <a:sym typeface="Arial"/>
                        </a:rPr>
                        <a:t>—</a:t>
                      </a:r>
                      <a:endParaRPr lang="en-IN" sz="1200" dirty="0"/>
                    </a:p>
                  </a:txBody>
                  <a:tcP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rgbClr val="D5EAE4"/>
                    </a:solidFill>
                  </a:tcPr>
                </a:tc>
                <a:extLst>
                  <a:ext uri="{0D108BD9-81ED-4DB2-BD59-A6C34878D82A}">
                    <a16:rowId xmlns:a16="http://schemas.microsoft.com/office/drawing/2014/main" val="2369535941"/>
                  </a:ext>
                </a:extLst>
              </a:tr>
              <a:tr h="389481">
                <a:tc>
                  <a:txBody>
                    <a:bodyPr/>
                    <a:lstStyle/>
                    <a:p>
                      <a:r>
                        <a:rPr lang="en-IN" sz="1200" b="0" i="0" u="none" strike="noStrike" cap="none" baseline="0" dirty="0">
                          <a:solidFill>
                            <a:schemeClr val="dk1"/>
                          </a:solidFill>
                          <a:latin typeface="+mn-lt"/>
                          <a:ea typeface="+mn-ea"/>
                          <a:cs typeface="+mn-cs"/>
                          <a:sym typeface="Arial"/>
                        </a:rPr>
                        <a:t>Microtubules and</a:t>
                      </a:r>
                    </a:p>
                    <a:p>
                      <a:r>
                        <a:rPr lang="en-IN" sz="1200" b="0" i="0" u="none" strike="noStrike" cap="none" baseline="0" dirty="0">
                          <a:solidFill>
                            <a:schemeClr val="dk1"/>
                          </a:solidFill>
                          <a:latin typeface="+mn-lt"/>
                          <a:ea typeface="+mn-ea"/>
                          <a:cs typeface="+mn-cs"/>
                          <a:sym typeface="Arial"/>
                        </a:rPr>
                        <a:t>microfilaments</a:t>
                      </a:r>
                      <a:endParaRPr lang="en-IN" sz="1200" dirty="0"/>
                    </a:p>
                  </a:txBody>
                  <a:tcP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rgbClr val="D5EAE4"/>
                    </a:solidFill>
                  </a:tcPr>
                </a:tc>
                <a:tc>
                  <a:txBody>
                    <a:bodyPr/>
                    <a:lstStyle/>
                    <a:p>
                      <a:r>
                        <a:rPr lang="en-IN" sz="1200" b="0" i="0" u="none" strike="noStrike" cap="none" baseline="0" dirty="0">
                          <a:solidFill>
                            <a:schemeClr val="dk1"/>
                          </a:solidFill>
                          <a:latin typeface="+mn-lt"/>
                          <a:ea typeface="+mn-ea"/>
                          <a:cs typeface="+mn-cs"/>
                          <a:sym typeface="Arial"/>
                        </a:rPr>
                        <a:t>Actin-like and tubulin-like proteins</a:t>
                      </a:r>
                      <a:endParaRPr lang="en-IN" sz="1200" dirty="0"/>
                    </a:p>
                  </a:txBody>
                  <a:tcP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rgbClr val="D5EAE4"/>
                    </a:solidFill>
                  </a:tcPr>
                </a:tc>
                <a:tc>
                  <a:txBody>
                    <a:bodyPr/>
                    <a:lstStyle/>
                    <a:p>
                      <a:r>
                        <a:rPr lang="en-IN" sz="1200" b="0" i="0" u="none" strike="noStrike" cap="none" baseline="0" dirty="0">
                          <a:solidFill>
                            <a:schemeClr val="dk1"/>
                          </a:solidFill>
                          <a:latin typeface="+mn-lt"/>
                          <a:ea typeface="+mn-ea"/>
                          <a:cs typeface="+mn-cs"/>
                          <a:sym typeface="Arial"/>
                        </a:rPr>
                        <a:t>Actin-like and tubulin-like proteins</a:t>
                      </a:r>
                      <a:endParaRPr lang="en-IN" sz="1200" dirty="0"/>
                    </a:p>
                  </a:txBody>
                  <a:tcP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rgbClr val="D5EAE4"/>
                    </a:solidFill>
                  </a:tcPr>
                </a:tc>
                <a:tc>
                  <a:txBody>
                    <a:bodyPr/>
                    <a:lstStyle/>
                    <a:p>
                      <a:r>
                        <a:rPr lang="en-IN" sz="1200" b="0" i="0" u="none" strike="noStrike" cap="none" baseline="0" dirty="0">
                          <a:solidFill>
                            <a:schemeClr val="dk1"/>
                          </a:solidFill>
                          <a:latin typeface="+mn-lt"/>
                          <a:ea typeface="+mn-ea"/>
                          <a:cs typeface="+mn-cs"/>
                          <a:sym typeface="Arial"/>
                        </a:rPr>
                        <a:t>Actin and tubulin proteins</a:t>
                      </a:r>
                      <a:endParaRPr lang="en-IN" sz="1200" dirty="0"/>
                    </a:p>
                  </a:txBody>
                  <a:tcP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rgbClr val="D5EAE4"/>
                    </a:solidFill>
                  </a:tcPr>
                </a:tc>
                <a:tc>
                  <a:txBody>
                    <a:bodyPr/>
                    <a:lstStyle/>
                    <a:p>
                      <a:r>
                        <a:rPr lang="en-IN" sz="1200" b="0" i="0" u="none" strike="noStrike" cap="none" baseline="0" dirty="0">
                          <a:solidFill>
                            <a:schemeClr val="dk1"/>
                          </a:solidFill>
                          <a:latin typeface="+mn-lt"/>
                          <a:ea typeface="+mn-ea"/>
                          <a:cs typeface="+mn-cs"/>
                          <a:sym typeface="Arial"/>
                        </a:rPr>
                        <a:t>Chapter 13</a:t>
                      </a:r>
                      <a:endParaRPr lang="en-IN" sz="1200" dirty="0"/>
                    </a:p>
                  </a:txBody>
                  <a:tcP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rgbClr val="D5EAE4"/>
                    </a:solidFill>
                  </a:tcPr>
                </a:tc>
                <a:extLst>
                  <a:ext uri="{0D108BD9-81ED-4DB2-BD59-A6C34878D82A}">
                    <a16:rowId xmlns:a16="http://schemas.microsoft.com/office/drawing/2014/main" val="1515733495"/>
                  </a:ext>
                </a:extLst>
              </a:tr>
              <a:tr h="389481">
                <a:tc>
                  <a:txBody>
                    <a:bodyPr/>
                    <a:lstStyle/>
                    <a:p>
                      <a:r>
                        <a:rPr lang="en-IN" sz="1200" b="0" i="0" u="none" strike="noStrike" cap="none" baseline="0" dirty="0">
                          <a:solidFill>
                            <a:schemeClr val="dk1"/>
                          </a:solidFill>
                          <a:latin typeface="+mn-lt"/>
                          <a:ea typeface="+mn-ea"/>
                          <a:cs typeface="+mn-cs"/>
                          <a:sym typeface="Arial"/>
                        </a:rPr>
                        <a:t>Exocytosis and endocytosis</a:t>
                      </a:r>
                      <a:endParaRPr lang="en-IN" sz="1200" dirty="0"/>
                    </a:p>
                  </a:txBody>
                  <a:tcP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rgbClr val="D5EAE4"/>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b="0" i="0" u="none" strike="noStrike" cap="none" baseline="0" dirty="0">
                          <a:solidFill>
                            <a:schemeClr val="dk1"/>
                          </a:solidFill>
                          <a:latin typeface="+mn-lt"/>
                          <a:ea typeface="+mn-ea"/>
                          <a:cs typeface="+mn-cs"/>
                          <a:sym typeface="Arial"/>
                        </a:rPr>
                        <a:t>No</a:t>
                      </a:r>
                      <a:endParaRPr lang="en-IN" sz="1200" dirty="0"/>
                    </a:p>
                  </a:txBody>
                  <a:tcP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rgbClr val="D5EAE4"/>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b="0" i="0" u="none" strike="noStrike" cap="none" baseline="0" dirty="0">
                          <a:solidFill>
                            <a:schemeClr val="dk1"/>
                          </a:solidFill>
                          <a:latin typeface="+mn-lt"/>
                          <a:ea typeface="+mn-ea"/>
                          <a:cs typeface="+mn-cs"/>
                          <a:sym typeface="Arial"/>
                        </a:rPr>
                        <a:t>No</a:t>
                      </a:r>
                      <a:endParaRPr lang="en-IN" sz="1200" dirty="0"/>
                    </a:p>
                  </a:txBody>
                  <a:tcP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rgbClr val="D5EAE4"/>
                    </a:solidFill>
                  </a:tcPr>
                </a:tc>
                <a:tc>
                  <a:txBody>
                    <a:bodyPr/>
                    <a:lstStyle/>
                    <a:p>
                      <a:r>
                        <a:rPr lang="en-IN" sz="1200" b="0" i="0" u="none" strike="noStrike" cap="none" baseline="0" dirty="0">
                          <a:solidFill>
                            <a:schemeClr val="dk1"/>
                          </a:solidFill>
                          <a:latin typeface="+mn-lt"/>
                          <a:ea typeface="+mn-ea"/>
                          <a:cs typeface="+mn-cs"/>
                          <a:sym typeface="Arial"/>
                        </a:rPr>
                        <a:t>Yes</a:t>
                      </a:r>
                      <a:endParaRPr lang="en-IN" sz="1200" dirty="0"/>
                    </a:p>
                  </a:txBody>
                  <a:tcP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rgbClr val="D5EAE4"/>
                    </a:solidFill>
                  </a:tcPr>
                </a:tc>
                <a:tc>
                  <a:txBody>
                    <a:bodyPr/>
                    <a:lstStyle/>
                    <a:p>
                      <a:r>
                        <a:rPr lang="en-IN" sz="1200" b="0" i="0" u="none" strike="noStrike" cap="none" baseline="0" dirty="0">
                          <a:solidFill>
                            <a:schemeClr val="dk1"/>
                          </a:solidFill>
                          <a:latin typeface="+mn-lt"/>
                          <a:ea typeface="+mn-ea"/>
                          <a:cs typeface="+mn-cs"/>
                          <a:sym typeface="Arial"/>
                        </a:rPr>
                        <a:t>Chapter 12</a:t>
                      </a:r>
                      <a:endParaRPr lang="en-IN" sz="1200" dirty="0"/>
                    </a:p>
                  </a:txBody>
                  <a:tcP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rgbClr val="D5EAE4"/>
                    </a:solidFill>
                  </a:tcPr>
                </a:tc>
                <a:extLst>
                  <a:ext uri="{0D108BD9-81ED-4DB2-BD59-A6C34878D82A}">
                    <a16:rowId xmlns:a16="http://schemas.microsoft.com/office/drawing/2014/main" val="1602904088"/>
                  </a:ext>
                </a:extLst>
              </a:tr>
              <a:tr h="701065">
                <a:tc>
                  <a:txBody>
                    <a:bodyPr/>
                    <a:lstStyle/>
                    <a:p>
                      <a:r>
                        <a:rPr lang="en-IN" sz="1200" b="0" i="0" u="none" strike="noStrike" cap="none" baseline="0" dirty="0">
                          <a:solidFill>
                            <a:schemeClr val="dk1"/>
                          </a:solidFill>
                          <a:latin typeface="+mn-lt"/>
                          <a:ea typeface="+mn-ea"/>
                          <a:cs typeface="+mn-cs"/>
                          <a:sym typeface="Arial"/>
                        </a:rPr>
                        <a:t>Cell wall</a:t>
                      </a:r>
                      <a:endParaRPr lang="en-IN" sz="1200" dirty="0"/>
                    </a:p>
                  </a:txBody>
                  <a:tcP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rgbClr val="D5EAE4"/>
                    </a:solidFill>
                  </a:tcPr>
                </a:tc>
                <a:tc>
                  <a:txBody>
                    <a:bodyPr/>
                    <a:lstStyle/>
                    <a:p>
                      <a:r>
                        <a:rPr lang="en-IN" sz="1200" b="0" i="0" u="none" strike="noStrike" cap="none" baseline="0" dirty="0">
                          <a:solidFill>
                            <a:schemeClr val="dk1"/>
                          </a:solidFill>
                          <a:latin typeface="+mn-lt"/>
                          <a:ea typeface="+mn-ea"/>
                          <a:cs typeface="+mn-cs"/>
                          <a:sym typeface="Arial"/>
                        </a:rPr>
                        <a:t>Peptidoglycan</a:t>
                      </a:r>
                      <a:endParaRPr lang="en-IN" sz="1200" dirty="0"/>
                    </a:p>
                  </a:txBody>
                  <a:tcP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rgbClr val="D5EAE4"/>
                    </a:solidFill>
                  </a:tcPr>
                </a:tc>
                <a:tc>
                  <a:txBody>
                    <a:bodyPr/>
                    <a:lstStyle/>
                    <a:p>
                      <a:r>
                        <a:rPr lang="en-IN" sz="1200" b="0" i="0" u="none" strike="noStrike" cap="none" baseline="0" dirty="0">
                          <a:solidFill>
                            <a:schemeClr val="dk1"/>
                          </a:solidFill>
                          <a:latin typeface="+mn-lt"/>
                          <a:ea typeface="+mn-ea"/>
                          <a:cs typeface="+mn-cs"/>
                          <a:sym typeface="Arial"/>
                        </a:rPr>
                        <a:t>Varies from proteinaceous to</a:t>
                      </a:r>
                    </a:p>
                    <a:p>
                      <a:r>
                        <a:rPr lang="en-IN" sz="1200" b="0" i="0" u="none" strike="noStrike" cap="none" baseline="0" dirty="0">
                          <a:solidFill>
                            <a:schemeClr val="dk1"/>
                          </a:solidFill>
                          <a:latin typeface="+mn-lt"/>
                          <a:ea typeface="+mn-ea"/>
                          <a:cs typeface="+mn-cs"/>
                          <a:sym typeface="Arial"/>
                        </a:rPr>
                        <a:t>peptidoglycan-like</a:t>
                      </a:r>
                      <a:endParaRPr lang="en-IN" sz="1200" dirty="0"/>
                    </a:p>
                  </a:txBody>
                  <a:tcP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rgbClr val="D5EAE4"/>
                    </a:solidFill>
                  </a:tcPr>
                </a:tc>
                <a:tc>
                  <a:txBody>
                    <a:bodyPr/>
                    <a:lstStyle/>
                    <a:p>
                      <a:r>
                        <a:rPr lang="en-US" sz="1200" b="0" i="0" u="none" strike="noStrike" cap="none" baseline="0" dirty="0">
                          <a:solidFill>
                            <a:schemeClr val="dk1"/>
                          </a:solidFill>
                          <a:latin typeface="+mn-lt"/>
                          <a:ea typeface="+mn-ea"/>
                          <a:cs typeface="+mn-cs"/>
                          <a:sym typeface="Arial"/>
                        </a:rPr>
                        <a:t>Cellulose and pectin in plants, </a:t>
                      </a:r>
                      <a:r>
                        <a:rPr lang="en-IN" sz="1200" b="0" i="0" u="none" strike="noStrike" cap="none" baseline="0" dirty="0">
                          <a:solidFill>
                            <a:schemeClr val="dk1"/>
                          </a:solidFill>
                          <a:latin typeface="+mn-lt"/>
                          <a:ea typeface="+mn-ea"/>
                          <a:cs typeface="+mn-cs"/>
                          <a:sym typeface="Arial"/>
                        </a:rPr>
                        <a:t>cellulose or chitin in fungi; none in animals, protozoa</a:t>
                      </a:r>
                      <a:endParaRPr lang="en-IN" sz="1200" dirty="0"/>
                    </a:p>
                  </a:txBody>
                  <a:tcP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rgbClr val="D5EAE4"/>
                    </a:solidFill>
                  </a:tcPr>
                </a:tc>
                <a:tc>
                  <a:txBody>
                    <a:bodyPr/>
                    <a:lstStyle/>
                    <a:p>
                      <a:r>
                        <a:rPr lang="en-IN" sz="1200" b="0" i="0" u="none" strike="noStrike" cap="none" baseline="0" dirty="0">
                          <a:solidFill>
                            <a:schemeClr val="dk1"/>
                          </a:solidFill>
                          <a:latin typeface="+mn-lt"/>
                          <a:ea typeface="+mn-ea"/>
                          <a:cs typeface="+mn-cs"/>
                          <a:sym typeface="Arial"/>
                        </a:rPr>
                        <a:t>Chapter 15</a:t>
                      </a:r>
                      <a:endParaRPr lang="en-IN" sz="1200" dirty="0"/>
                    </a:p>
                  </a:txBody>
                  <a:tcP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rgbClr val="D5EAE4"/>
                    </a:solidFill>
                  </a:tcPr>
                </a:tc>
                <a:extLst>
                  <a:ext uri="{0D108BD9-81ED-4DB2-BD59-A6C34878D82A}">
                    <a16:rowId xmlns:a16="http://schemas.microsoft.com/office/drawing/2014/main" val="3736884639"/>
                  </a:ext>
                </a:extLst>
              </a:tr>
              <a:tr h="545273">
                <a:tc>
                  <a:txBody>
                    <a:bodyPr/>
                    <a:lstStyle/>
                    <a:p>
                      <a:r>
                        <a:rPr lang="en-IN" sz="1200" b="0" i="0" u="none" strike="noStrike" cap="none" baseline="0" dirty="0">
                          <a:solidFill>
                            <a:schemeClr val="dk1"/>
                          </a:solidFill>
                          <a:latin typeface="+mn-lt"/>
                          <a:ea typeface="+mn-ea"/>
                          <a:cs typeface="+mn-cs"/>
                          <a:sym typeface="Arial"/>
                        </a:rPr>
                        <a:t>Mode of cell division</a:t>
                      </a:r>
                      <a:endParaRPr lang="en-IN" sz="1200" dirty="0"/>
                    </a:p>
                  </a:txBody>
                  <a:tcP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rgbClr val="D5EAE4"/>
                    </a:solidFill>
                  </a:tcPr>
                </a:tc>
                <a:tc>
                  <a:txBody>
                    <a:bodyPr/>
                    <a:lstStyle/>
                    <a:p>
                      <a:r>
                        <a:rPr lang="en-IN" sz="1200" b="0" i="0" u="none" strike="noStrike" cap="none" baseline="0" dirty="0">
                          <a:solidFill>
                            <a:schemeClr val="dk1"/>
                          </a:solidFill>
                          <a:latin typeface="+mn-lt"/>
                          <a:ea typeface="+mn-ea"/>
                          <a:cs typeface="+mn-cs"/>
                          <a:sym typeface="Arial"/>
                        </a:rPr>
                        <a:t>Binary fission</a:t>
                      </a:r>
                      <a:endParaRPr lang="en-IN" sz="1200" dirty="0"/>
                    </a:p>
                  </a:txBody>
                  <a:tcP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rgbClr val="D5EAE4"/>
                    </a:solidFill>
                  </a:tcPr>
                </a:tc>
                <a:tc>
                  <a:txBody>
                    <a:bodyPr/>
                    <a:lstStyle/>
                    <a:p>
                      <a:r>
                        <a:rPr lang="en-IN" sz="1200" b="0" i="0" u="none" strike="noStrike" cap="none" baseline="0" dirty="0">
                          <a:solidFill>
                            <a:schemeClr val="dk1"/>
                          </a:solidFill>
                          <a:latin typeface="+mn-lt"/>
                          <a:ea typeface="+mn-ea"/>
                          <a:cs typeface="+mn-cs"/>
                          <a:sym typeface="Arial"/>
                        </a:rPr>
                        <a:t>Binary fission</a:t>
                      </a:r>
                      <a:endParaRPr lang="en-IN" sz="1200" dirty="0"/>
                    </a:p>
                  </a:txBody>
                  <a:tcP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rgbClr val="D5EAE4"/>
                    </a:solidFill>
                  </a:tcPr>
                </a:tc>
                <a:tc>
                  <a:txBody>
                    <a:bodyPr/>
                    <a:lstStyle/>
                    <a:p>
                      <a:r>
                        <a:rPr lang="en-IN" sz="1200" b="0" i="0" u="none" strike="noStrike" cap="none" baseline="0" dirty="0">
                          <a:solidFill>
                            <a:schemeClr val="dk1"/>
                          </a:solidFill>
                          <a:latin typeface="+mn-lt"/>
                          <a:ea typeface="+mn-ea"/>
                          <a:cs typeface="+mn-cs"/>
                          <a:sym typeface="Arial"/>
                        </a:rPr>
                        <a:t>Mitosis or meiosis plus</a:t>
                      </a:r>
                    </a:p>
                    <a:p>
                      <a:r>
                        <a:rPr lang="en-IN" sz="1200" b="0" i="0" u="none" strike="noStrike" cap="none" baseline="0" dirty="0">
                          <a:solidFill>
                            <a:schemeClr val="dk1"/>
                          </a:solidFill>
                          <a:latin typeface="+mn-lt"/>
                          <a:ea typeface="+mn-ea"/>
                          <a:cs typeface="+mn-cs"/>
                          <a:sym typeface="Arial"/>
                        </a:rPr>
                        <a:t>cytokinesis</a:t>
                      </a:r>
                      <a:endParaRPr lang="en-IN" sz="1200" dirty="0"/>
                    </a:p>
                  </a:txBody>
                  <a:tcP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rgbClr val="D5EAE4"/>
                    </a:solidFill>
                  </a:tcPr>
                </a:tc>
                <a:tc>
                  <a:txBody>
                    <a:bodyPr/>
                    <a:lstStyle/>
                    <a:p>
                      <a:r>
                        <a:rPr lang="en-IN" sz="1200" b="0" i="0" u="none" strike="noStrike" cap="none" baseline="0" dirty="0">
                          <a:solidFill>
                            <a:schemeClr val="dk1"/>
                          </a:solidFill>
                          <a:latin typeface="+mn-lt"/>
                          <a:ea typeface="+mn-ea"/>
                          <a:cs typeface="+mn-cs"/>
                          <a:sym typeface="Arial"/>
                        </a:rPr>
                        <a:t>Chapter 24</a:t>
                      </a:r>
                      <a:endParaRPr lang="en-IN" sz="1200" dirty="0"/>
                    </a:p>
                  </a:txBody>
                  <a:tcP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rgbClr val="D5EAE4"/>
                    </a:solidFill>
                  </a:tcPr>
                </a:tc>
                <a:extLst>
                  <a:ext uri="{0D108BD9-81ED-4DB2-BD59-A6C34878D82A}">
                    <a16:rowId xmlns:a16="http://schemas.microsoft.com/office/drawing/2014/main" val="175918390"/>
                  </a:ext>
                </a:extLst>
              </a:tr>
              <a:tr h="701065">
                <a:tc>
                  <a:txBody>
                    <a:bodyPr/>
                    <a:lstStyle/>
                    <a:p>
                      <a:r>
                        <a:rPr lang="en-IN" sz="1200" b="0" i="0" u="none" strike="noStrike" cap="none" baseline="0" dirty="0">
                          <a:solidFill>
                            <a:schemeClr val="dk1"/>
                          </a:solidFill>
                          <a:latin typeface="+mn-lt"/>
                          <a:ea typeface="+mn-ea"/>
                          <a:cs typeface="+mn-cs"/>
                          <a:sym typeface="Arial"/>
                        </a:rPr>
                        <a:t>Typical form of</a:t>
                      </a:r>
                    </a:p>
                    <a:p>
                      <a:r>
                        <a:rPr lang="en-IN" sz="1200" b="0" i="0" u="none" strike="noStrike" cap="none" baseline="0" dirty="0">
                          <a:solidFill>
                            <a:schemeClr val="dk1"/>
                          </a:solidFill>
                          <a:latin typeface="+mn-lt"/>
                          <a:ea typeface="+mn-ea"/>
                          <a:cs typeface="+mn-cs"/>
                          <a:sym typeface="Arial"/>
                        </a:rPr>
                        <a:t>chromosomal </a:t>
                      </a:r>
                      <a:r>
                        <a:rPr lang="en-IN" sz="1200" b="0" i="0" u="none" strike="noStrike" cap="none" spc="-250" baseline="0" dirty="0">
                          <a:solidFill>
                            <a:schemeClr val="dk1"/>
                          </a:solidFill>
                          <a:latin typeface="+mn-lt"/>
                          <a:ea typeface="+mn-ea"/>
                          <a:cs typeface="+mn-cs"/>
                          <a:sym typeface="Arial"/>
                        </a:rPr>
                        <a:t>D N </a:t>
                      </a:r>
                      <a:r>
                        <a:rPr lang="en-IN" sz="1200" b="0" i="0" u="none" strike="noStrike" cap="none" baseline="0" dirty="0">
                          <a:solidFill>
                            <a:schemeClr val="dk1"/>
                          </a:solidFill>
                          <a:latin typeface="+mn-lt"/>
                          <a:ea typeface="+mn-ea"/>
                          <a:cs typeface="+mn-cs"/>
                          <a:sym typeface="Arial"/>
                        </a:rPr>
                        <a:t>A</a:t>
                      </a:r>
                      <a:endParaRPr lang="en-IN" sz="1200" dirty="0"/>
                    </a:p>
                  </a:txBody>
                  <a:tcP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rgbClr val="D5EAE4"/>
                    </a:solidFill>
                  </a:tcPr>
                </a:tc>
                <a:tc>
                  <a:txBody>
                    <a:bodyPr/>
                    <a:lstStyle/>
                    <a:p>
                      <a:r>
                        <a:rPr lang="en-IN" sz="1200" b="0" i="0" u="none" strike="noStrike" cap="none" baseline="0" dirty="0">
                          <a:solidFill>
                            <a:schemeClr val="dk1"/>
                          </a:solidFill>
                          <a:latin typeface="+mn-lt"/>
                          <a:ea typeface="+mn-ea"/>
                          <a:cs typeface="+mn-cs"/>
                          <a:sym typeface="Arial"/>
                        </a:rPr>
                        <a:t>Usually circular, few</a:t>
                      </a:r>
                    </a:p>
                    <a:p>
                      <a:r>
                        <a:rPr lang="en-IN" sz="1200" b="0" i="0" u="none" strike="noStrike" cap="none" baseline="0" dirty="0">
                          <a:solidFill>
                            <a:schemeClr val="dk1"/>
                          </a:solidFill>
                          <a:latin typeface="+mn-lt"/>
                          <a:ea typeface="+mn-ea"/>
                          <a:cs typeface="+mn-cs"/>
                          <a:sym typeface="Arial"/>
                        </a:rPr>
                        <a:t>associated proteins</a:t>
                      </a:r>
                      <a:endParaRPr lang="en-IN" sz="1200" dirty="0"/>
                    </a:p>
                  </a:txBody>
                  <a:tcP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rgbClr val="D5EAE4"/>
                    </a:solidFill>
                  </a:tcPr>
                </a:tc>
                <a:tc>
                  <a:txBody>
                    <a:bodyPr/>
                    <a:lstStyle/>
                    <a:p>
                      <a:r>
                        <a:rPr lang="en-IN" sz="1200" b="0" i="0" u="none" strike="noStrike" cap="none" baseline="0" dirty="0">
                          <a:solidFill>
                            <a:schemeClr val="dk1"/>
                          </a:solidFill>
                          <a:latin typeface="+mn-lt"/>
                          <a:ea typeface="+mn-ea"/>
                          <a:cs typeface="+mn-cs"/>
                          <a:sym typeface="Arial"/>
                        </a:rPr>
                        <a:t>Usually circular, associated</a:t>
                      </a:r>
                    </a:p>
                    <a:p>
                      <a:r>
                        <a:rPr lang="en-IN" sz="1200" b="0" i="0" u="none" strike="noStrike" cap="none" baseline="0" dirty="0">
                          <a:solidFill>
                            <a:schemeClr val="dk1"/>
                          </a:solidFill>
                          <a:latin typeface="+mn-lt"/>
                          <a:ea typeface="+mn-ea"/>
                          <a:cs typeface="+mn-cs"/>
                          <a:sym typeface="Arial"/>
                        </a:rPr>
                        <a:t>with histone-like proteins</a:t>
                      </a:r>
                      <a:endParaRPr lang="en-IN" sz="1200" dirty="0"/>
                    </a:p>
                  </a:txBody>
                  <a:tcP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rgbClr val="D5EAE4"/>
                    </a:solidFill>
                  </a:tcPr>
                </a:tc>
                <a:tc>
                  <a:txBody>
                    <a:bodyPr/>
                    <a:lstStyle/>
                    <a:p>
                      <a:r>
                        <a:rPr lang="en-IN" sz="1200" b="0" i="0" u="none" strike="noStrike" cap="none" baseline="0" dirty="0">
                          <a:solidFill>
                            <a:schemeClr val="dk1"/>
                          </a:solidFill>
                          <a:latin typeface="+mn-lt"/>
                          <a:ea typeface="+mn-ea"/>
                          <a:cs typeface="+mn-cs"/>
                          <a:sym typeface="Arial"/>
                        </a:rPr>
                        <a:t>Linear, associated with histone</a:t>
                      </a:r>
                    </a:p>
                    <a:p>
                      <a:r>
                        <a:rPr lang="en-IN" sz="1200" b="0" i="0" u="none" strike="noStrike" cap="none" baseline="0" dirty="0">
                          <a:solidFill>
                            <a:schemeClr val="dk1"/>
                          </a:solidFill>
                          <a:latin typeface="+mn-lt"/>
                          <a:ea typeface="+mn-ea"/>
                          <a:cs typeface="+mn-cs"/>
                          <a:sym typeface="Arial"/>
                        </a:rPr>
                        <a:t>proteins</a:t>
                      </a:r>
                      <a:endParaRPr lang="en-IN" sz="1200" dirty="0"/>
                    </a:p>
                  </a:txBody>
                  <a:tcP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rgbClr val="D5EAE4"/>
                    </a:solidFill>
                  </a:tcPr>
                </a:tc>
                <a:tc>
                  <a:txBody>
                    <a:bodyPr/>
                    <a:lstStyle/>
                    <a:p>
                      <a:r>
                        <a:rPr lang="en-IN" sz="1200" b="0" i="0" u="none" strike="noStrike" cap="none" baseline="0" dirty="0">
                          <a:solidFill>
                            <a:schemeClr val="dk1"/>
                          </a:solidFill>
                          <a:latin typeface="+mn-lt"/>
                          <a:ea typeface="+mn-ea"/>
                          <a:cs typeface="+mn-cs"/>
                          <a:sym typeface="Arial"/>
                        </a:rPr>
                        <a:t>Chapter 16</a:t>
                      </a:r>
                      <a:endParaRPr lang="en-IN" sz="1200" dirty="0"/>
                    </a:p>
                  </a:txBody>
                  <a:tcP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rgbClr val="D5EAE4"/>
                    </a:solidFill>
                  </a:tcPr>
                </a:tc>
                <a:extLst>
                  <a:ext uri="{0D108BD9-81ED-4DB2-BD59-A6C34878D82A}">
                    <a16:rowId xmlns:a16="http://schemas.microsoft.com/office/drawing/2014/main" val="780096833"/>
                  </a:ext>
                </a:extLst>
              </a:tr>
            </a:tbl>
          </a:graphicData>
        </a:graphic>
      </p:graphicFrame>
    </p:spTree>
    <p:extLst>
      <p:ext uri="{BB962C8B-B14F-4D97-AF65-F5344CB8AC3E}">
        <p14:creationId xmlns:p14="http://schemas.microsoft.com/office/powerpoint/2010/main" val="5486367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39948" y="255923"/>
            <a:ext cx="8229600" cy="861774"/>
          </a:xfrm>
        </p:spPr>
        <p:txBody>
          <a:bodyPr lIns="0" tIns="0" rIns="0" bIns="0" anchor="ctr">
            <a:spAutoFit/>
          </a:bodyPr>
          <a:lstStyle/>
          <a:p>
            <a:r>
              <a:rPr lang="en-US" sz="2800" dirty="0">
                <a:latin typeface="+mj-lt"/>
              </a:rPr>
              <a:t>A Comparison of Some Properties of Bacterial, Archaeal, and Eukaryotic Cells </a:t>
            </a:r>
            <a:r>
              <a:rPr lang="en-US" sz="2000" dirty="0">
                <a:latin typeface="+mj-lt"/>
              </a:rPr>
              <a:t>(2 of 2)</a:t>
            </a:r>
            <a:endParaRPr lang="en-US" sz="2800" dirty="0">
              <a:latin typeface="+mj-lt"/>
            </a:endParaRP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39948" y="1220642"/>
            <a:ext cx="8229600" cy="492443"/>
          </a:xfrm>
        </p:spPr>
        <p:txBody>
          <a:bodyPr lIns="0" tIns="0" rIns="0" bIns="0">
            <a:spAutoFit/>
          </a:bodyPr>
          <a:lstStyle/>
          <a:p>
            <a:pPr marL="0" indent="0">
              <a:buNone/>
            </a:pPr>
            <a:r>
              <a:rPr lang="en-US" b="1" dirty="0">
                <a:solidFill>
                  <a:schemeClr val="tx1"/>
                </a:solidFill>
              </a:rPr>
              <a:t>Table 4.1 </a:t>
            </a:r>
            <a:r>
              <a:rPr lang="en-US" dirty="0">
                <a:solidFill>
                  <a:schemeClr val="tx1"/>
                </a:solidFill>
              </a:rPr>
              <a:t>A Comparison of Some Properties of Bacterial, Archaeal, and Eukaryotic Cells* (Continued)</a:t>
            </a:r>
          </a:p>
        </p:txBody>
      </p:sp>
      <p:graphicFrame>
        <p:nvGraphicFramePr>
          <p:cNvPr id="4" name="Table 3"/>
          <p:cNvGraphicFramePr>
            <a:graphicFrameLocks noGrp="1"/>
          </p:cNvGraphicFramePr>
          <p:nvPr/>
        </p:nvGraphicFramePr>
        <p:xfrm>
          <a:off x="517585" y="1799114"/>
          <a:ext cx="8169215" cy="3499477"/>
        </p:xfrm>
        <a:graphic>
          <a:graphicData uri="http://schemas.openxmlformats.org/drawingml/2006/table">
            <a:tbl>
              <a:tblPr firstRow="1" bandRow="1">
                <a:tableStyleId>{3C2FFA5D-87B4-456A-9821-1D502468CF0F}</a:tableStyleId>
              </a:tblPr>
              <a:tblGrid>
                <a:gridCol w="1889185">
                  <a:extLst>
                    <a:ext uri="{9D8B030D-6E8A-4147-A177-3AD203B41FA5}">
                      <a16:colId xmlns:a16="http://schemas.microsoft.com/office/drawing/2014/main" val="2030563763"/>
                    </a:ext>
                  </a:extLst>
                </a:gridCol>
                <a:gridCol w="1733909">
                  <a:extLst>
                    <a:ext uri="{9D8B030D-6E8A-4147-A177-3AD203B41FA5}">
                      <a16:colId xmlns:a16="http://schemas.microsoft.com/office/drawing/2014/main" val="391061987"/>
                    </a:ext>
                  </a:extLst>
                </a:gridCol>
                <a:gridCol w="1949570">
                  <a:extLst>
                    <a:ext uri="{9D8B030D-6E8A-4147-A177-3AD203B41FA5}">
                      <a16:colId xmlns:a16="http://schemas.microsoft.com/office/drawing/2014/main" val="1841151341"/>
                    </a:ext>
                  </a:extLst>
                </a:gridCol>
                <a:gridCol w="1621766">
                  <a:extLst>
                    <a:ext uri="{9D8B030D-6E8A-4147-A177-3AD203B41FA5}">
                      <a16:colId xmlns:a16="http://schemas.microsoft.com/office/drawing/2014/main" val="1141542864"/>
                    </a:ext>
                  </a:extLst>
                </a:gridCol>
                <a:gridCol w="974785">
                  <a:extLst>
                    <a:ext uri="{9D8B030D-6E8A-4147-A177-3AD203B41FA5}">
                      <a16:colId xmlns:a16="http://schemas.microsoft.com/office/drawing/2014/main" val="1071231835"/>
                    </a:ext>
                  </a:extLst>
                </a:gridCol>
              </a:tblGrid>
              <a:tr h="315912">
                <a:tc>
                  <a:txBody>
                    <a:bodyPr/>
                    <a:lstStyle/>
                    <a:p>
                      <a:r>
                        <a:rPr lang="en-IN" sz="1200" b="1" i="0" u="none" strike="noStrike" cap="none" baseline="0" dirty="0">
                          <a:solidFill>
                            <a:schemeClr val="lt1"/>
                          </a:solidFill>
                          <a:latin typeface="+mn-lt"/>
                          <a:ea typeface="+mn-ea"/>
                          <a:cs typeface="+mn-cs"/>
                          <a:sym typeface="Arial"/>
                        </a:rPr>
                        <a:t>Property</a:t>
                      </a:r>
                      <a:endParaRPr lang="en-IN" sz="1200" dirty="0"/>
                    </a:p>
                  </a:txBody>
                  <a:tcPr>
                    <a:lnL w="9525" cap="flat" cmpd="sng" algn="ctr">
                      <a:noFill/>
                      <a:prstDash val="solid"/>
                    </a:lnL>
                    <a:lnR>
                      <a:noFill/>
                    </a:lnR>
                    <a:lnT w="9525" cap="flat" cmpd="sng" algn="ctr">
                      <a:noFill/>
                      <a:prstDash val="solid"/>
                    </a:lnT>
                    <a:lnB w="25400" cap="flat" cmpd="sng" algn="ctr">
                      <a:noFill/>
                      <a:prstDash val="solid"/>
                    </a:lnB>
                    <a:lnTlToBr w="12700" cmpd="sng">
                      <a:noFill/>
                      <a:prstDash val="solid"/>
                    </a:lnTlToBr>
                    <a:lnBlToTr w="12700" cmpd="sng">
                      <a:noFill/>
                      <a:prstDash val="solid"/>
                    </a:lnBlToTr>
                    <a:solidFill>
                      <a:srgbClr val="007FA3"/>
                    </a:solidFill>
                  </a:tcPr>
                </a:tc>
                <a:tc>
                  <a:txBody>
                    <a:bodyPr/>
                    <a:lstStyle/>
                    <a:p>
                      <a:r>
                        <a:rPr lang="en-IN" sz="1200" b="1" i="0" u="none" strike="noStrike" cap="none" baseline="0" dirty="0">
                          <a:solidFill>
                            <a:schemeClr val="lt1"/>
                          </a:solidFill>
                          <a:latin typeface="+mn-lt"/>
                          <a:ea typeface="+mn-ea"/>
                          <a:cs typeface="+mn-cs"/>
                          <a:sym typeface="Arial"/>
                        </a:rPr>
                        <a:t>Bacteria</a:t>
                      </a:r>
                      <a:endParaRPr lang="en-IN" sz="1200" dirty="0"/>
                    </a:p>
                  </a:txBody>
                  <a:tcPr>
                    <a:lnL>
                      <a:noFill/>
                    </a:lnL>
                    <a:lnR>
                      <a:noFill/>
                    </a:lnR>
                    <a:lnT w="9525" cap="flat" cmpd="sng" algn="ctr">
                      <a:noFill/>
                      <a:prstDash val="solid"/>
                    </a:lnT>
                    <a:lnB w="25400" cap="flat" cmpd="sng" algn="ctr">
                      <a:noFill/>
                      <a:prstDash val="solid"/>
                    </a:lnB>
                    <a:lnTlToBr w="12700" cmpd="sng">
                      <a:noFill/>
                      <a:prstDash val="solid"/>
                    </a:lnTlToBr>
                    <a:lnBlToTr w="12700" cmpd="sng">
                      <a:noFill/>
                      <a:prstDash val="solid"/>
                    </a:lnBlToTr>
                    <a:solidFill>
                      <a:srgbClr val="007FA3"/>
                    </a:solidFill>
                  </a:tcPr>
                </a:tc>
                <a:tc>
                  <a:txBody>
                    <a:bodyPr/>
                    <a:lstStyle/>
                    <a:p>
                      <a:r>
                        <a:rPr lang="en-IN" sz="1200" b="1" i="0" u="none" strike="noStrike" cap="none" baseline="0" dirty="0">
                          <a:solidFill>
                            <a:schemeClr val="lt1"/>
                          </a:solidFill>
                          <a:latin typeface="+mn-lt"/>
                          <a:ea typeface="+mn-ea"/>
                          <a:cs typeface="+mn-cs"/>
                          <a:sym typeface="Arial"/>
                        </a:rPr>
                        <a:t>Archaea</a:t>
                      </a:r>
                      <a:endParaRPr lang="en-IN" sz="1200" dirty="0"/>
                    </a:p>
                  </a:txBody>
                  <a:tcPr>
                    <a:lnL>
                      <a:noFill/>
                    </a:lnL>
                    <a:lnR>
                      <a:noFill/>
                    </a:lnR>
                    <a:lnT w="9525" cap="flat" cmpd="sng" algn="ctr">
                      <a:noFill/>
                      <a:prstDash val="solid"/>
                    </a:lnT>
                    <a:lnB w="25400" cap="flat" cmpd="sng" algn="ctr">
                      <a:noFill/>
                      <a:prstDash val="solid"/>
                    </a:lnB>
                    <a:lnTlToBr w="12700" cmpd="sng">
                      <a:noFill/>
                      <a:prstDash val="solid"/>
                    </a:lnTlToBr>
                    <a:lnBlToTr w="12700" cmpd="sng">
                      <a:noFill/>
                      <a:prstDash val="solid"/>
                    </a:lnBlToTr>
                    <a:solidFill>
                      <a:srgbClr val="007FA3"/>
                    </a:solidFill>
                  </a:tcPr>
                </a:tc>
                <a:tc>
                  <a:txBody>
                    <a:bodyPr/>
                    <a:lstStyle/>
                    <a:p>
                      <a:r>
                        <a:rPr lang="en-IN" sz="1200" b="1" i="0" u="none" strike="noStrike" cap="none" baseline="0" dirty="0">
                          <a:solidFill>
                            <a:schemeClr val="lt1"/>
                          </a:solidFill>
                          <a:latin typeface="+mn-lt"/>
                          <a:ea typeface="+mn-ea"/>
                          <a:cs typeface="+mn-cs"/>
                          <a:sym typeface="Arial"/>
                        </a:rPr>
                        <a:t>Eukaryotes</a:t>
                      </a:r>
                      <a:endParaRPr lang="en-IN" sz="1200" dirty="0"/>
                    </a:p>
                  </a:txBody>
                  <a:tcPr>
                    <a:lnL>
                      <a:noFill/>
                    </a:lnL>
                    <a:lnR>
                      <a:noFill/>
                    </a:lnR>
                    <a:lnT w="9525" cap="flat" cmpd="sng" algn="ctr">
                      <a:noFill/>
                      <a:prstDash val="solid"/>
                    </a:lnT>
                    <a:lnB w="25400" cap="flat" cmpd="sng" algn="ctr">
                      <a:noFill/>
                      <a:prstDash val="solid"/>
                    </a:lnB>
                    <a:lnTlToBr w="12700" cmpd="sng">
                      <a:noFill/>
                      <a:prstDash val="solid"/>
                    </a:lnTlToBr>
                    <a:lnBlToTr w="12700" cmpd="sng">
                      <a:noFill/>
                      <a:prstDash val="solid"/>
                    </a:lnBlToTr>
                    <a:solidFill>
                      <a:srgbClr val="007FA3"/>
                    </a:solidFill>
                  </a:tcPr>
                </a:tc>
                <a:tc>
                  <a:txBody>
                    <a:bodyPr/>
                    <a:lstStyle/>
                    <a:p>
                      <a:r>
                        <a:rPr lang="en-IN" sz="1200" b="1" i="0" u="none" strike="noStrike" cap="none" baseline="0" dirty="0">
                          <a:solidFill>
                            <a:schemeClr val="lt1"/>
                          </a:solidFill>
                          <a:latin typeface="+mn-lt"/>
                          <a:ea typeface="+mn-ea"/>
                          <a:cs typeface="+mn-cs"/>
                          <a:sym typeface="Arial"/>
                        </a:rPr>
                        <a:t>Refer to</a:t>
                      </a:r>
                      <a:endParaRPr lang="en-IN" sz="1200" dirty="0"/>
                    </a:p>
                  </a:txBody>
                  <a:tcPr>
                    <a:lnL>
                      <a:noFill/>
                    </a:lnL>
                    <a:lnR w="9525" cap="flat" cmpd="sng" algn="ctr">
                      <a:noFill/>
                      <a:prstDash val="solid"/>
                    </a:lnR>
                    <a:lnT w="9525" cap="flat" cmpd="sng" algn="ctr">
                      <a:noFill/>
                      <a:prstDash val="solid"/>
                    </a:lnT>
                    <a:lnB w="25400" cap="flat" cmpd="sng" algn="ctr">
                      <a:noFill/>
                      <a:prstDash val="solid"/>
                    </a:lnB>
                    <a:lnTlToBr w="12700" cmpd="sng">
                      <a:noFill/>
                      <a:prstDash val="solid"/>
                    </a:lnTlToBr>
                    <a:lnBlToTr w="12700" cmpd="sng">
                      <a:noFill/>
                      <a:prstDash val="solid"/>
                    </a:lnBlToTr>
                    <a:solidFill>
                      <a:srgbClr val="007FA3"/>
                    </a:solidFill>
                  </a:tcPr>
                </a:tc>
                <a:extLst>
                  <a:ext uri="{0D108BD9-81ED-4DB2-BD59-A6C34878D82A}">
                    <a16:rowId xmlns:a16="http://schemas.microsoft.com/office/drawing/2014/main" val="2317122038"/>
                  </a:ext>
                </a:extLst>
              </a:tr>
              <a:tr h="389481">
                <a:tc>
                  <a:txBody>
                    <a:bodyPr/>
                    <a:lstStyle/>
                    <a:p>
                      <a:r>
                        <a:rPr lang="en-IN" sz="1200" b="0" i="0" u="none" strike="noStrike" cap="none" baseline="0" dirty="0">
                          <a:solidFill>
                            <a:schemeClr val="dk1"/>
                          </a:solidFill>
                          <a:latin typeface="+mn-lt"/>
                          <a:ea typeface="+mn-ea"/>
                          <a:cs typeface="+mn-cs"/>
                          <a:sym typeface="Arial"/>
                        </a:rPr>
                        <a:t>RNA processing</a:t>
                      </a:r>
                      <a:endParaRPr lang="en-IN" sz="1200" dirty="0"/>
                    </a:p>
                  </a:txBody>
                  <a:tcP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rgbClr val="D5EAE4"/>
                    </a:solidFill>
                  </a:tcPr>
                </a:tc>
                <a:tc>
                  <a:txBody>
                    <a:bodyPr/>
                    <a:lstStyle/>
                    <a:p>
                      <a:r>
                        <a:rPr lang="en-IN" sz="1200" b="0" i="0" u="none" strike="noStrike" cap="none" baseline="0" dirty="0">
                          <a:solidFill>
                            <a:schemeClr val="dk1"/>
                          </a:solidFill>
                          <a:latin typeface="+mn-lt"/>
                          <a:ea typeface="+mn-ea"/>
                          <a:cs typeface="+mn-cs"/>
                          <a:sym typeface="Arial"/>
                        </a:rPr>
                        <a:t>Minimal</a:t>
                      </a:r>
                      <a:endParaRPr lang="en-IN" sz="1200" dirty="0"/>
                    </a:p>
                  </a:txBody>
                  <a:tcP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rgbClr val="D5EAE4"/>
                    </a:solidFill>
                  </a:tcPr>
                </a:tc>
                <a:tc>
                  <a:txBody>
                    <a:bodyPr/>
                    <a:lstStyle/>
                    <a:p>
                      <a:r>
                        <a:rPr lang="en-IN" sz="1200" b="0" i="0" u="none" strike="noStrike" cap="none" baseline="0" dirty="0">
                          <a:solidFill>
                            <a:schemeClr val="dk1"/>
                          </a:solidFill>
                          <a:latin typeface="+mn-lt"/>
                          <a:ea typeface="+mn-ea"/>
                          <a:cs typeface="+mn-cs"/>
                          <a:sym typeface="Arial"/>
                        </a:rPr>
                        <a:t>Moderate</a:t>
                      </a:r>
                      <a:endParaRPr lang="en-IN" sz="1200" dirty="0"/>
                    </a:p>
                  </a:txBody>
                  <a:tcP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rgbClr val="D5EAE4"/>
                    </a:solidFill>
                  </a:tcPr>
                </a:tc>
                <a:tc>
                  <a:txBody>
                    <a:bodyPr/>
                    <a:lstStyle/>
                    <a:p>
                      <a:r>
                        <a:rPr lang="en-IN" sz="1200" b="0" i="0" u="none" strike="noStrike" cap="none" baseline="0" dirty="0">
                          <a:solidFill>
                            <a:schemeClr val="dk1"/>
                          </a:solidFill>
                          <a:latin typeface="+mn-lt"/>
                          <a:ea typeface="+mn-ea"/>
                          <a:cs typeface="+mn-cs"/>
                          <a:sym typeface="Arial"/>
                        </a:rPr>
                        <a:t>Extensive</a:t>
                      </a:r>
                      <a:endParaRPr lang="en-IN" sz="1200" dirty="0"/>
                    </a:p>
                  </a:txBody>
                  <a:tcP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rgbClr val="D5EAE4"/>
                    </a:solidFill>
                  </a:tcPr>
                </a:tc>
                <a:tc>
                  <a:txBody>
                    <a:bodyPr/>
                    <a:lstStyle/>
                    <a:p>
                      <a:r>
                        <a:rPr lang="en-IN" sz="1200" b="0" i="0" u="none" strike="noStrike" cap="none" baseline="0" dirty="0">
                          <a:solidFill>
                            <a:schemeClr val="dk1"/>
                          </a:solidFill>
                          <a:latin typeface="+mn-lt"/>
                          <a:ea typeface="+mn-ea"/>
                          <a:cs typeface="+mn-cs"/>
                          <a:sym typeface="Arial"/>
                        </a:rPr>
                        <a:t>Chapter 18</a:t>
                      </a:r>
                      <a:endParaRPr lang="en-IN" sz="1200" dirty="0"/>
                    </a:p>
                  </a:txBody>
                  <a:tcP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rgbClr val="D5EAE4"/>
                    </a:solidFill>
                  </a:tcPr>
                </a:tc>
                <a:extLst>
                  <a:ext uri="{0D108BD9-81ED-4DB2-BD59-A6C34878D82A}">
                    <a16:rowId xmlns:a16="http://schemas.microsoft.com/office/drawing/2014/main" val="2369535941"/>
                  </a:ext>
                </a:extLst>
              </a:tr>
              <a:tr h="389481">
                <a:tc>
                  <a:txBody>
                    <a:bodyPr/>
                    <a:lstStyle/>
                    <a:p>
                      <a:r>
                        <a:rPr lang="en-IN" sz="1200" b="0" i="0" u="none" strike="noStrike" cap="none" baseline="0" dirty="0">
                          <a:solidFill>
                            <a:schemeClr val="dk1"/>
                          </a:solidFill>
                          <a:latin typeface="+mn-lt"/>
                          <a:ea typeface="+mn-ea"/>
                          <a:cs typeface="+mn-cs"/>
                          <a:sym typeface="Arial"/>
                        </a:rPr>
                        <a:t>Transcription initiation</a:t>
                      </a:r>
                      <a:endParaRPr lang="en-IN" sz="1200" dirty="0"/>
                    </a:p>
                  </a:txBody>
                  <a:tcP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rgbClr val="D5EAE4"/>
                    </a:solidFill>
                  </a:tcPr>
                </a:tc>
                <a:tc>
                  <a:txBody>
                    <a:bodyPr/>
                    <a:lstStyle/>
                    <a:p>
                      <a:r>
                        <a:rPr lang="en-IN" sz="1200" b="0" i="0" u="none" strike="noStrike" cap="none" baseline="0" dirty="0">
                          <a:solidFill>
                            <a:schemeClr val="dk1"/>
                          </a:solidFill>
                          <a:latin typeface="+mn-lt"/>
                          <a:ea typeface="+mn-ea"/>
                          <a:cs typeface="+mn-cs"/>
                          <a:sym typeface="Arial"/>
                        </a:rPr>
                        <a:t>Bacterial type</a:t>
                      </a:r>
                      <a:endParaRPr lang="en-IN" sz="1200" dirty="0"/>
                    </a:p>
                  </a:txBody>
                  <a:tcP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rgbClr val="D5EAE4"/>
                    </a:solidFill>
                  </a:tcPr>
                </a:tc>
                <a:tc>
                  <a:txBody>
                    <a:bodyPr/>
                    <a:lstStyle/>
                    <a:p>
                      <a:r>
                        <a:rPr lang="en-IN" sz="1200" b="0" i="0" u="none" strike="noStrike" cap="none" baseline="0" dirty="0">
                          <a:solidFill>
                            <a:schemeClr val="dk1"/>
                          </a:solidFill>
                          <a:latin typeface="+mn-lt"/>
                          <a:ea typeface="+mn-ea"/>
                          <a:cs typeface="+mn-cs"/>
                          <a:sym typeface="Arial"/>
                        </a:rPr>
                        <a:t>Eukaryotic type</a:t>
                      </a:r>
                      <a:endParaRPr lang="en-IN" sz="1200" dirty="0"/>
                    </a:p>
                  </a:txBody>
                  <a:tcP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rgbClr val="D5EAE4"/>
                    </a:solidFill>
                  </a:tcPr>
                </a:tc>
                <a:tc>
                  <a:txBody>
                    <a:bodyPr/>
                    <a:lstStyle/>
                    <a:p>
                      <a:r>
                        <a:rPr lang="en-IN" sz="1200" b="0" i="0" u="none" strike="noStrike" cap="none" baseline="0" dirty="0">
                          <a:solidFill>
                            <a:schemeClr val="dk1"/>
                          </a:solidFill>
                          <a:latin typeface="+mn-lt"/>
                          <a:ea typeface="+mn-ea"/>
                          <a:cs typeface="+mn-cs"/>
                          <a:sym typeface="Arial"/>
                        </a:rPr>
                        <a:t>Eukaryotic type</a:t>
                      </a:r>
                      <a:endParaRPr lang="en-IN" sz="1200" dirty="0"/>
                    </a:p>
                  </a:txBody>
                  <a:tcP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rgbClr val="D5EAE4"/>
                    </a:solidFill>
                  </a:tcPr>
                </a:tc>
                <a:tc>
                  <a:txBody>
                    <a:bodyPr/>
                    <a:lstStyle/>
                    <a:p>
                      <a:r>
                        <a:rPr lang="en-IN" sz="1200" b="0" i="0" u="none" strike="noStrike" cap="none" baseline="0" dirty="0">
                          <a:solidFill>
                            <a:schemeClr val="dk1"/>
                          </a:solidFill>
                          <a:latin typeface="+mn-lt"/>
                          <a:ea typeface="+mn-ea"/>
                          <a:cs typeface="+mn-cs"/>
                          <a:sym typeface="Arial"/>
                        </a:rPr>
                        <a:t>Chapter 18</a:t>
                      </a:r>
                      <a:endParaRPr lang="en-IN" sz="1200" dirty="0"/>
                    </a:p>
                  </a:txBody>
                  <a:tcP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rgbClr val="D5EAE4"/>
                    </a:solidFill>
                  </a:tcPr>
                </a:tc>
                <a:extLst>
                  <a:ext uri="{0D108BD9-81ED-4DB2-BD59-A6C34878D82A}">
                    <a16:rowId xmlns:a16="http://schemas.microsoft.com/office/drawing/2014/main" val="1515733495"/>
                  </a:ext>
                </a:extLst>
              </a:tr>
              <a:tr h="389481">
                <a:tc>
                  <a:txBody>
                    <a:bodyPr/>
                    <a:lstStyle/>
                    <a:p>
                      <a:r>
                        <a:rPr lang="en-IN" sz="1200" b="0" i="0" u="none" strike="noStrike" cap="none" spc="-200" baseline="0" dirty="0">
                          <a:solidFill>
                            <a:schemeClr val="dk1"/>
                          </a:solidFill>
                          <a:latin typeface="+mn-lt"/>
                          <a:ea typeface="+mn-ea"/>
                          <a:cs typeface="+mn-cs"/>
                          <a:sym typeface="Arial"/>
                        </a:rPr>
                        <a:t>R N </a:t>
                      </a:r>
                      <a:r>
                        <a:rPr lang="en-IN" sz="1200" b="0" i="0" u="none" strike="noStrike" cap="none" baseline="0" dirty="0">
                          <a:solidFill>
                            <a:schemeClr val="dk1"/>
                          </a:solidFill>
                          <a:latin typeface="+mn-lt"/>
                          <a:ea typeface="+mn-ea"/>
                          <a:cs typeface="+mn-cs"/>
                          <a:sym typeface="Arial"/>
                        </a:rPr>
                        <a:t>A polymerase</a:t>
                      </a:r>
                      <a:endParaRPr lang="en-IN" sz="1200" dirty="0"/>
                    </a:p>
                  </a:txBody>
                  <a:tcP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rgbClr val="D5EAE4"/>
                    </a:solidFill>
                  </a:tcPr>
                </a:tc>
                <a:tc>
                  <a:txBody>
                    <a:bodyPr/>
                    <a:lstStyle/>
                    <a:p>
                      <a:r>
                        <a:rPr lang="en-IN" sz="1200" b="0" i="0" u="none" strike="noStrike" cap="none" baseline="0" dirty="0">
                          <a:solidFill>
                            <a:schemeClr val="dk1"/>
                          </a:solidFill>
                          <a:latin typeface="+mn-lt"/>
                          <a:ea typeface="+mn-ea"/>
                          <a:cs typeface="+mn-cs"/>
                          <a:sym typeface="Arial"/>
                        </a:rPr>
                        <a:t>Bacterial type</a:t>
                      </a:r>
                      <a:endParaRPr lang="en-IN" sz="1200" dirty="0"/>
                    </a:p>
                  </a:txBody>
                  <a:tcP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rgbClr val="D5EAE4"/>
                    </a:solidFill>
                  </a:tcPr>
                </a:tc>
                <a:tc>
                  <a:txBody>
                    <a:bodyPr/>
                    <a:lstStyle/>
                    <a:p>
                      <a:r>
                        <a:rPr lang="en-IN" sz="1200" b="0" i="0" u="none" strike="noStrike" cap="none" baseline="0" dirty="0">
                          <a:solidFill>
                            <a:schemeClr val="dk1"/>
                          </a:solidFill>
                          <a:latin typeface="+mn-lt"/>
                          <a:ea typeface="+mn-ea"/>
                          <a:cs typeface="+mn-cs"/>
                          <a:sym typeface="Arial"/>
                        </a:rPr>
                        <a:t>Some features of both</a:t>
                      </a:r>
                    </a:p>
                    <a:p>
                      <a:r>
                        <a:rPr lang="en-IN" sz="1200" b="0" i="0" u="none" strike="noStrike" cap="none" baseline="0" dirty="0">
                          <a:solidFill>
                            <a:schemeClr val="dk1"/>
                          </a:solidFill>
                          <a:latin typeface="+mn-lt"/>
                          <a:ea typeface="+mn-ea"/>
                          <a:cs typeface="+mn-cs"/>
                          <a:sym typeface="Arial"/>
                        </a:rPr>
                        <a:t>bacterial, eukaryotic types</a:t>
                      </a:r>
                      <a:endParaRPr lang="en-IN" sz="1200" dirty="0"/>
                    </a:p>
                  </a:txBody>
                  <a:tcP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rgbClr val="D5EAE4"/>
                    </a:solidFill>
                  </a:tcPr>
                </a:tc>
                <a:tc>
                  <a:txBody>
                    <a:bodyPr/>
                    <a:lstStyle/>
                    <a:p>
                      <a:r>
                        <a:rPr lang="en-IN" sz="1200" b="0" i="0" u="none" strike="noStrike" cap="none" baseline="0" dirty="0">
                          <a:solidFill>
                            <a:schemeClr val="dk1"/>
                          </a:solidFill>
                          <a:latin typeface="+mn-lt"/>
                          <a:ea typeface="+mn-ea"/>
                          <a:cs typeface="+mn-cs"/>
                          <a:sym typeface="Arial"/>
                        </a:rPr>
                        <a:t>Eukaryotic type</a:t>
                      </a:r>
                      <a:endParaRPr lang="en-IN" sz="1200" dirty="0"/>
                    </a:p>
                  </a:txBody>
                  <a:tcP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rgbClr val="D5EAE4"/>
                    </a:solidFill>
                  </a:tcPr>
                </a:tc>
                <a:tc>
                  <a:txBody>
                    <a:bodyPr/>
                    <a:lstStyle/>
                    <a:p>
                      <a:r>
                        <a:rPr lang="en-IN" sz="1200" b="0" i="0" u="none" strike="noStrike" cap="none" baseline="0" dirty="0">
                          <a:solidFill>
                            <a:schemeClr val="dk1"/>
                          </a:solidFill>
                          <a:latin typeface="+mn-lt"/>
                          <a:ea typeface="+mn-ea"/>
                          <a:cs typeface="+mn-cs"/>
                          <a:sym typeface="Arial"/>
                        </a:rPr>
                        <a:t>Chapter 18</a:t>
                      </a:r>
                      <a:endParaRPr lang="en-IN" sz="1200" dirty="0"/>
                    </a:p>
                  </a:txBody>
                  <a:tcP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rgbClr val="D5EAE4"/>
                    </a:solidFill>
                  </a:tcPr>
                </a:tc>
                <a:extLst>
                  <a:ext uri="{0D108BD9-81ED-4DB2-BD59-A6C34878D82A}">
                    <a16:rowId xmlns:a16="http://schemas.microsoft.com/office/drawing/2014/main" val="1602904088"/>
                  </a:ext>
                </a:extLst>
              </a:tr>
              <a:tr h="701065">
                <a:tc>
                  <a:txBody>
                    <a:bodyPr/>
                    <a:lstStyle/>
                    <a:p>
                      <a:r>
                        <a:rPr lang="en-IN" sz="1200" b="0" i="0" u="none" strike="noStrike" cap="none" baseline="0" dirty="0">
                          <a:solidFill>
                            <a:schemeClr val="dk1"/>
                          </a:solidFill>
                          <a:latin typeface="+mn-lt"/>
                          <a:ea typeface="+mn-ea"/>
                          <a:cs typeface="+mn-cs"/>
                          <a:sym typeface="Arial"/>
                        </a:rPr>
                        <a:t>Ribosome size and number of proteins and </a:t>
                      </a:r>
                      <a:r>
                        <a:rPr lang="en-IN" sz="1200" b="0" i="0" u="none" strike="noStrike" cap="none" spc="-200" baseline="0" dirty="0">
                          <a:solidFill>
                            <a:schemeClr val="dk1"/>
                          </a:solidFill>
                          <a:latin typeface="+mn-lt"/>
                          <a:ea typeface="+mn-ea"/>
                          <a:cs typeface="+mn-cs"/>
                          <a:sym typeface="Arial"/>
                        </a:rPr>
                        <a:t>R N A </a:t>
                      </a:r>
                      <a:r>
                        <a:rPr lang="en-IN" sz="1200" b="0" i="0" u="none" strike="noStrike" cap="none" baseline="0" dirty="0">
                          <a:solidFill>
                            <a:schemeClr val="dk1"/>
                          </a:solidFill>
                          <a:latin typeface="+mn-lt"/>
                          <a:ea typeface="+mn-ea"/>
                          <a:cs typeface="+mn-cs"/>
                          <a:sym typeface="Arial"/>
                        </a:rPr>
                        <a:t>s</a:t>
                      </a:r>
                      <a:endParaRPr lang="en-IN" sz="1200" dirty="0"/>
                    </a:p>
                  </a:txBody>
                  <a:tcP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rgbClr val="D5EAE4"/>
                    </a:solidFill>
                  </a:tcPr>
                </a:tc>
                <a:tc>
                  <a:txBody>
                    <a:bodyPr/>
                    <a:lstStyle/>
                    <a:p>
                      <a:r>
                        <a:rPr lang="en-US" sz="1200" b="0" i="0" u="none" strike="noStrike" cap="none" baseline="0" dirty="0">
                          <a:solidFill>
                            <a:schemeClr val="dk1"/>
                          </a:solidFill>
                          <a:latin typeface="+mn-lt"/>
                          <a:ea typeface="+mn-ea"/>
                          <a:cs typeface="+mn-cs"/>
                          <a:sym typeface="Arial"/>
                        </a:rPr>
                        <a:t>70S with 54 proteins and </a:t>
                      </a:r>
                      <a:r>
                        <a:rPr lang="en-IN" sz="1200" b="0" i="0" u="none" strike="noStrike" cap="none" baseline="0" dirty="0">
                          <a:solidFill>
                            <a:schemeClr val="dk1"/>
                          </a:solidFill>
                          <a:latin typeface="+mn-lt"/>
                          <a:ea typeface="+mn-ea"/>
                          <a:cs typeface="+mn-cs"/>
                          <a:sym typeface="Arial"/>
                        </a:rPr>
                        <a:t>3 </a:t>
                      </a:r>
                      <a:r>
                        <a:rPr lang="en-IN" sz="1200" b="0" i="0" u="none" strike="noStrike" cap="none" spc="-200" baseline="0" dirty="0">
                          <a:solidFill>
                            <a:schemeClr val="dk1"/>
                          </a:solidFill>
                          <a:latin typeface="+mn-lt"/>
                          <a:ea typeface="+mn-ea"/>
                          <a:cs typeface="+mn-cs"/>
                          <a:sym typeface="Arial"/>
                        </a:rPr>
                        <a:t>r R N A </a:t>
                      </a:r>
                      <a:r>
                        <a:rPr lang="en-IN" sz="1200" b="0" i="0" u="none" strike="noStrike" cap="none" baseline="0" dirty="0">
                          <a:solidFill>
                            <a:schemeClr val="dk1"/>
                          </a:solidFill>
                          <a:latin typeface="+mn-lt"/>
                          <a:ea typeface="+mn-ea"/>
                          <a:cs typeface="+mn-cs"/>
                          <a:sym typeface="Arial"/>
                        </a:rPr>
                        <a:t>s</a:t>
                      </a:r>
                      <a:endParaRPr lang="en-IN" sz="1200" dirty="0"/>
                    </a:p>
                  </a:txBody>
                  <a:tcP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rgbClr val="D5EAE4"/>
                    </a:solidFill>
                  </a:tcPr>
                </a:tc>
                <a:tc>
                  <a:txBody>
                    <a:bodyPr/>
                    <a:lstStyle/>
                    <a:p>
                      <a:r>
                        <a:rPr lang="en-US" sz="1200" b="0" i="0" u="none" strike="noStrike" cap="none" baseline="0" dirty="0">
                          <a:solidFill>
                            <a:schemeClr val="dk1"/>
                          </a:solidFill>
                          <a:latin typeface="+mn-lt"/>
                          <a:ea typeface="+mn-ea"/>
                          <a:cs typeface="+mn-cs"/>
                          <a:sym typeface="Arial"/>
                        </a:rPr>
                        <a:t>70S with 65 proteins and</a:t>
                      </a:r>
                    </a:p>
                    <a:p>
                      <a:r>
                        <a:rPr lang="en-IN" sz="1200" b="0" i="0" u="none" strike="noStrike" cap="none" baseline="0" dirty="0">
                          <a:solidFill>
                            <a:schemeClr val="dk1"/>
                          </a:solidFill>
                          <a:latin typeface="+mn-lt"/>
                          <a:ea typeface="+mn-ea"/>
                          <a:cs typeface="+mn-cs"/>
                          <a:sym typeface="Arial"/>
                        </a:rPr>
                        <a:t>3–4 </a:t>
                      </a:r>
                      <a:r>
                        <a:rPr lang="en-IN" sz="1200" b="0" i="0" u="none" strike="noStrike" cap="none" spc="-200" baseline="0" dirty="0">
                          <a:solidFill>
                            <a:schemeClr val="dk1"/>
                          </a:solidFill>
                          <a:latin typeface="+mn-lt"/>
                          <a:ea typeface="+mn-ea"/>
                          <a:cs typeface="+mn-cs"/>
                          <a:sym typeface="Arial"/>
                        </a:rPr>
                        <a:t>r R N A </a:t>
                      </a:r>
                      <a:r>
                        <a:rPr lang="en-IN" sz="1200" b="0" i="0" u="none" strike="noStrike" cap="none" baseline="0" dirty="0">
                          <a:solidFill>
                            <a:schemeClr val="dk1"/>
                          </a:solidFill>
                          <a:latin typeface="+mn-lt"/>
                          <a:ea typeface="+mn-ea"/>
                          <a:cs typeface="+mn-cs"/>
                          <a:sym typeface="Arial"/>
                        </a:rPr>
                        <a:t>s</a:t>
                      </a:r>
                      <a:endParaRPr lang="en-IN" sz="1200" dirty="0"/>
                    </a:p>
                  </a:txBody>
                  <a:tcP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rgbClr val="D5EAE4"/>
                    </a:solidFill>
                  </a:tcPr>
                </a:tc>
                <a:tc>
                  <a:txBody>
                    <a:bodyPr/>
                    <a:lstStyle/>
                    <a:p>
                      <a:r>
                        <a:rPr lang="en-US" sz="1200" b="0" i="0" u="none" strike="noStrike" cap="none" baseline="0" dirty="0">
                          <a:solidFill>
                            <a:schemeClr val="dk1"/>
                          </a:solidFill>
                          <a:latin typeface="+mn-lt"/>
                          <a:ea typeface="+mn-ea"/>
                          <a:cs typeface="+mn-cs"/>
                          <a:sym typeface="Arial"/>
                        </a:rPr>
                        <a:t>80S with ~80 proteins and</a:t>
                      </a:r>
                    </a:p>
                    <a:p>
                      <a:r>
                        <a:rPr lang="en-IN" sz="1200" b="0" i="0" u="none" strike="noStrike" cap="none" baseline="0" dirty="0">
                          <a:solidFill>
                            <a:schemeClr val="dk1"/>
                          </a:solidFill>
                          <a:latin typeface="+mn-lt"/>
                          <a:ea typeface="+mn-ea"/>
                          <a:cs typeface="+mn-cs"/>
                          <a:sym typeface="Arial"/>
                        </a:rPr>
                        <a:t>4 </a:t>
                      </a:r>
                      <a:r>
                        <a:rPr lang="en-IN" sz="1200" b="0" i="0" u="none" strike="noStrike" cap="none" spc="-200" baseline="0" dirty="0">
                          <a:solidFill>
                            <a:schemeClr val="dk1"/>
                          </a:solidFill>
                          <a:latin typeface="+mn-lt"/>
                          <a:ea typeface="+mn-ea"/>
                          <a:cs typeface="+mn-cs"/>
                          <a:sym typeface="Arial"/>
                        </a:rPr>
                        <a:t>r R N A </a:t>
                      </a:r>
                      <a:r>
                        <a:rPr lang="en-IN" sz="1200" b="0" i="0" u="none" strike="noStrike" cap="none" baseline="0" dirty="0">
                          <a:solidFill>
                            <a:schemeClr val="dk1"/>
                          </a:solidFill>
                          <a:latin typeface="+mn-lt"/>
                          <a:ea typeface="+mn-ea"/>
                          <a:cs typeface="+mn-cs"/>
                          <a:sym typeface="Arial"/>
                        </a:rPr>
                        <a:t>s</a:t>
                      </a:r>
                      <a:endParaRPr lang="en-IN" sz="1200" dirty="0"/>
                    </a:p>
                  </a:txBody>
                  <a:tcP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rgbClr val="D5EAE4"/>
                    </a:solidFill>
                  </a:tcPr>
                </a:tc>
                <a:tc>
                  <a:txBody>
                    <a:bodyPr/>
                    <a:lstStyle/>
                    <a:p>
                      <a:r>
                        <a:rPr lang="en-IN" sz="1200" b="0" i="0" u="none" strike="noStrike" cap="none" baseline="0" dirty="0">
                          <a:solidFill>
                            <a:schemeClr val="dk1"/>
                          </a:solidFill>
                          <a:latin typeface="+mn-lt"/>
                          <a:ea typeface="+mn-ea"/>
                          <a:cs typeface="+mn-cs"/>
                          <a:sym typeface="Arial"/>
                        </a:rPr>
                        <a:t>Chapter 19</a:t>
                      </a:r>
                      <a:endParaRPr lang="en-IN" sz="1200" dirty="0"/>
                    </a:p>
                  </a:txBody>
                  <a:tcP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rgbClr val="D5EAE4"/>
                    </a:solidFill>
                  </a:tcPr>
                </a:tc>
                <a:extLst>
                  <a:ext uri="{0D108BD9-81ED-4DB2-BD59-A6C34878D82A}">
                    <a16:rowId xmlns:a16="http://schemas.microsoft.com/office/drawing/2014/main" val="3736884639"/>
                  </a:ext>
                </a:extLst>
              </a:tr>
              <a:tr h="545273">
                <a:tc>
                  <a:txBody>
                    <a:bodyPr/>
                    <a:lstStyle/>
                    <a:p>
                      <a:r>
                        <a:rPr lang="en-IN" sz="1200" b="0" i="0" u="none" strike="noStrike" cap="none" baseline="0" dirty="0">
                          <a:solidFill>
                            <a:schemeClr val="dk1"/>
                          </a:solidFill>
                          <a:latin typeface="+mn-lt"/>
                          <a:ea typeface="+mn-ea"/>
                          <a:cs typeface="+mn-cs"/>
                          <a:sym typeface="Arial"/>
                        </a:rPr>
                        <a:t>Translation initiation</a:t>
                      </a:r>
                      <a:endParaRPr lang="en-IN" sz="1200" dirty="0"/>
                    </a:p>
                  </a:txBody>
                  <a:tcP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rgbClr val="D5EAE4"/>
                    </a:solidFill>
                  </a:tcPr>
                </a:tc>
                <a:tc>
                  <a:txBody>
                    <a:bodyPr/>
                    <a:lstStyle/>
                    <a:p>
                      <a:r>
                        <a:rPr lang="en-IN" sz="1200" b="0" i="0" u="none" strike="noStrike" cap="none" baseline="0" dirty="0">
                          <a:solidFill>
                            <a:schemeClr val="dk1"/>
                          </a:solidFill>
                          <a:latin typeface="+mn-lt"/>
                          <a:ea typeface="+mn-ea"/>
                          <a:cs typeface="+mn-cs"/>
                          <a:sym typeface="Arial"/>
                        </a:rPr>
                        <a:t>Bacterial type</a:t>
                      </a:r>
                      <a:endParaRPr lang="en-IN" sz="1200" dirty="0"/>
                    </a:p>
                  </a:txBody>
                  <a:tcP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rgbClr val="D5EAE4"/>
                    </a:solidFill>
                  </a:tcPr>
                </a:tc>
                <a:tc>
                  <a:txBody>
                    <a:bodyPr/>
                    <a:lstStyle/>
                    <a:p>
                      <a:r>
                        <a:rPr lang="en-IN" sz="1200" b="0" i="0" u="none" strike="noStrike" cap="none" baseline="0" dirty="0">
                          <a:solidFill>
                            <a:schemeClr val="dk1"/>
                          </a:solidFill>
                          <a:latin typeface="+mn-lt"/>
                          <a:ea typeface="+mn-ea"/>
                          <a:cs typeface="+mn-cs"/>
                          <a:sym typeface="Arial"/>
                        </a:rPr>
                        <a:t>Eukaryotic type</a:t>
                      </a:r>
                      <a:endParaRPr lang="en-IN" sz="1200" dirty="0"/>
                    </a:p>
                  </a:txBody>
                  <a:tcP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rgbClr val="D5EAE4"/>
                    </a:solidFill>
                  </a:tcPr>
                </a:tc>
                <a:tc>
                  <a:txBody>
                    <a:bodyPr/>
                    <a:lstStyle/>
                    <a:p>
                      <a:r>
                        <a:rPr lang="en-IN" sz="1200" b="0" i="0" u="none" strike="noStrike" cap="none" baseline="0" dirty="0">
                          <a:solidFill>
                            <a:schemeClr val="dk1"/>
                          </a:solidFill>
                          <a:latin typeface="+mn-lt"/>
                          <a:ea typeface="+mn-ea"/>
                          <a:cs typeface="+mn-cs"/>
                          <a:sym typeface="Arial"/>
                        </a:rPr>
                        <a:t>Eukaryotic type</a:t>
                      </a:r>
                      <a:endParaRPr lang="en-IN" sz="1200" dirty="0"/>
                    </a:p>
                  </a:txBody>
                  <a:tcP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rgbClr val="D5EAE4"/>
                    </a:solidFill>
                  </a:tcPr>
                </a:tc>
                <a:tc>
                  <a:txBody>
                    <a:bodyPr/>
                    <a:lstStyle/>
                    <a:p>
                      <a:r>
                        <a:rPr lang="en-IN" sz="1200" b="0" i="0" u="none" strike="noStrike" cap="none" baseline="0" dirty="0">
                          <a:solidFill>
                            <a:schemeClr val="dk1"/>
                          </a:solidFill>
                          <a:latin typeface="+mn-lt"/>
                          <a:ea typeface="+mn-ea"/>
                          <a:cs typeface="+mn-cs"/>
                          <a:sym typeface="Arial"/>
                        </a:rPr>
                        <a:t>Chapter 19</a:t>
                      </a:r>
                      <a:endParaRPr lang="en-IN" sz="1200" dirty="0"/>
                    </a:p>
                  </a:txBody>
                  <a:tcP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rgbClr val="D5EAE4"/>
                    </a:solidFill>
                  </a:tcPr>
                </a:tc>
                <a:extLst>
                  <a:ext uri="{0D108BD9-81ED-4DB2-BD59-A6C34878D82A}">
                    <a16:rowId xmlns:a16="http://schemas.microsoft.com/office/drawing/2014/main" val="175918390"/>
                  </a:ext>
                </a:extLst>
              </a:tr>
              <a:tr h="701065">
                <a:tc>
                  <a:txBody>
                    <a:bodyPr/>
                    <a:lstStyle/>
                    <a:p>
                      <a:r>
                        <a:rPr lang="en-IN" sz="1200" b="0" i="0" u="none" strike="noStrike" cap="none" baseline="0" dirty="0">
                          <a:solidFill>
                            <a:schemeClr val="dk1"/>
                          </a:solidFill>
                          <a:latin typeface="+mn-lt"/>
                          <a:ea typeface="+mn-ea"/>
                          <a:cs typeface="+mn-cs"/>
                          <a:sym typeface="Arial"/>
                        </a:rPr>
                        <a:t>Membrane phospholipids</a:t>
                      </a:r>
                      <a:endParaRPr lang="en-IN" sz="1200" dirty="0"/>
                    </a:p>
                  </a:txBody>
                  <a:tcP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rgbClr val="D5EAE4"/>
                    </a:solidFill>
                  </a:tcPr>
                </a:tc>
                <a:tc>
                  <a:txBody>
                    <a:bodyPr/>
                    <a:lstStyle/>
                    <a:p>
                      <a:r>
                        <a:rPr lang="en-IN" sz="1200" b="0" i="0" u="none" strike="noStrike" cap="none" baseline="0" dirty="0">
                          <a:solidFill>
                            <a:schemeClr val="dk1"/>
                          </a:solidFill>
                          <a:latin typeface="+mn-lt"/>
                          <a:ea typeface="+mn-ea"/>
                          <a:cs typeface="+mn-cs"/>
                          <a:sym typeface="Arial"/>
                        </a:rPr>
                        <a:t>Glycerol-3-phosphate + linear fatty acids</a:t>
                      </a:r>
                      <a:endParaRPr lang="en-IN" sz="1200" dirty="0"/>
                    </a:p>
                  </a:txBody>
                  <a:tcP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rgbClr val="D5EAE4"/>
                    </a:solidFill>
                  </a:tcPr>
                </a:tc>
                <a:tc>
                  <a:txBody>
                    <a:bodyPr/>
                    <a:lstStyle/>
                    <a:p>
                      <a:r>
                        <a:rPr lang="en-IN" sz="1200" b="0" i="0" u="none" strike="noStrike" cap="none" baseline="0" dirty="0">
                          <a:solidFill>
                            <a:schemeClr val="dk1"/>
                          </a:solidFill>
                          <a:latin typeface="+mn-lt"/>
                          <a:ea typeface="+mn-ea"/>
                          <a:cs typeface="+mn-cs"/>
                          <a:sym typeface="Arial"/>
                        </a:rPr>
                        <a:t>Glycerol-1-phosphate + </a:t>
                      </a:r>
                    </a:p>
                    <a:p>
                      <a:r>
                        <a:rPr lang="en-IN" sz="1200" b="0" i="0" u="none" strike="noStrike" cap="none" baseline="0" dirty="0">
                          <a:solidFill>
                            <a:schemeClr val="dk1"/>
                          </a:solidFill>
                          <a:latin typeface="+mn-lt"/>
                          <a:ea typeface="+mn-ea"/>
                          <a:cs typeface="+mn-cs"/>
                          <a:sym typeface="Arial"/>
                        </a:rPr>
                        <a:t>branched polyisoprenoids</a:t>
                      </a:r>
                      <a:endParaRPr lang="en-IN" sz="1200" dirty="0"/>
                    </a:p>
                  </a:txBody>
                  <a:tcP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rgbClr val="D5EAE4"/>
                    </a:solidFill>
                  </a:tcPr>
                </a:tc>
                <a:tc>
                  <a:txBody>
                    <a:bodyPr/>
                    <a:lstStyle/>
                    <a:p>
                      <a:r>
                        <a:rPr lang="en-IN" sz="1200" b="0" i="0" u="none" strike="noStrike" cap="none" baseline="0" dirty="0">
                          <a:solidFill>
                            <a:schemeClr val="dk1"/>
                          </a:solidFill>
                          <a:latin typeface="+mn-lt"/>
                          <a:ea typeface="+mn-ea"/>
                          <a:cs typeface="+mn-cs"/>
                          <a:sym typeface="Arial"/>
                        </a:rPr>
                        <a:t>Glycerol-3-phosphate + linear fatty acids</a:t>
                      </a:r>
                      <a:endParaRPr lang="en-IN" sz="1200" dirty="0"/>
                    </a:p>
                  </a:txBody>
                  <a:tcP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rgbClr val="D5EAE4"/>
                    </a:solidFill>
                  </a:tcPr>
                </a:tc>
                <a:tc>
                  <a:txBody>
                    <a:bodyPr/>
                    <a:lstStyle/>
                    <a:p>
                      <a:r>
                        <a:rPr lang="en-IN" sz="1200" b="0" i="0" u="none" strike="noStrike" cap="none" baseline="0" dirty="0">
                          <a:solidFill>
                            <a:schemeClr val="dk1"/>
                          </a:solidFill>
                          <a:latin typeface="+mn-lt"/>
                          <a:ea typeface="+mn-ea"/>
                          <a:cs typeface="+mn-cs"/>
                          <a:sym typeface="Arial"/>
                        </a:rPr>
                        <a:t>Chapter 7</a:t>
                      </a:r>
                      <a:endParaRPr lang="en-IN" sz="1200" dirty="0"/>
                    </a:p>
                  </a:txBody>
                  <a:tcP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rgbClr val="D5EAE4"/>
                    </a:solidFill>
                  </a:tcPr>
                </a:tc>
                <a:extLst>
                  <a:ext uri="{0D108BD9-81ED-4DB2-BD59-A6C34878D82A}">
                    <a16:rowId xmlns:a16="http://schemas.microsoft.com/office/drawing/2014/main" val="780096833"/>
                  </a:ext>
                </a:extLst>
              </a:tr>
            </a:tbl>
          </a:graphicData>
        </a:graphic>
      </p:graphicFrame>
      <p:sp>
        <p:nvSpPr>
          <p:cNvPr id="3" name="Content Placeholder 2"/>
          <p:cNvSpPr>
            <a:spLocks noGrp="1"/>
          </p:cNvSpPr>
          <p:nvPr>
            <p:ph idx="13"/>
          </p:nvPr>
        </p:nvSpPr>
        <p:spPr>
          <a:xfrm>
            <a:off x="439948" y="5649222"/>
            <a:ext cx="8229600" cy="553998"/>
          </a:xfrm>
          <a:noFill/>
          <a:ln>
            <a:noFill/>
          </a:ln>
        </p:spPr>
        <p:txBody>
          <a:bodyPr lIns="0" tIns="0" rIns="0" bIns="0" anchor="t" anchorCtr="0">
            <a:spAutoFit/>
          </a:bodyPr>
          <a:lstStyle/>
          <a:p>
            <a:pPr marL="0" indent="0">
              <a:buNone/>
            </a:pPr>
            <a:r>
              <a:rPr lang="en-US" sz="1200" dirty="0"/>
              <a:t>*This table lists many features that we have not yet discussed in detail. Its main purpose is to point out that, despite some sharing of characteristics, each of the three main cell types has a unique set of properties. Each will be considered in more detail in later chapters.</a:t>
            </a:r>
            <a:endParaRPr lang="en-IN" sz="1200" dirty="0"/>
          </a:p>
        </p:txBody>
      </p:sp>
    </p:spTree>
    <p:extLst>
      <p:ext uri="{BB962C8B-B14F-4D97-AF65-F5344CB8AC3E}">
        <p14:creationId xmlns:p14="http://schemas.microsoft.com/office/powerpoint/2010/main" val="12435574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40434" y="156980"/>
            <a:ext cx="8293694" cy="553998"/>
          </a:xfrm>
        </p:spPr>
        <p:txBody>
          <a:bodyPr lIns="0" tIns="0" rIns="0" bIns="0" anchor="ctr">
            <a:spAutoFit/>
          </a:bodyPr>
          <a:lstStyle/>
          <a:p>
            <a:r>
              <a:rPr lang="en-IN" sz="3600" dirty="0">
                <a:latin typeface="+mj-lt"/>
              </a:rPr>
              <a:t>Bacteria</a:t>
            </a:r>
            <a:endParaRPr lang="en-US" sz="3600" dirty="0">
              <a:latin typeface="+mj-lt"/>
            </a:endParaRP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40434" y="1075480"/>
            <a:ext cx="8293694" cy="3008516"/>
          </a:xfrm>
        </p:spPr>
        <p:txBody>
          <a:bodyPr lIns="0" tIns="0" rIns="0" bIns="0">
            <a:spAutoFit/>
          </a:bodyPr>
          <a:lstStyle/>
          <a:p>
            <a:pPr marL="342900" indent="-342900"/>
            <a:r>
              <a:rPr lang="en-US" sz="2400" dirty="0"/>
              <a:t>These include most of the commonly encountered single-celled, non-nucleated </a:t>
            </a:r>
            <a:r>
              <a:rPr lang="en-US" sz="2400" dirty="0">
                <a:solidFill>
                  <a:schemeClr val="tx1"/>
                </a:solidFill>
              </a:rPr>
              <a:t>organisms that were </a:t>
            </a:r>
            <a:r>
              <a:rPr lang="en-US" sz="2400" dirty="0"/>
              <a:t>traditionally called bacteria.</a:t>
            </a:r>
          </a:p>
          <a:p>
            <a:pPr marL="342900" indent="-342900"/>
            <a:r>
              <a:rPr lang="en-US" sz="2400" dirty="0"/>
              <a:t>Examples include</a:t>
            </a:r>
          </a:p>
          <a:p>
            <a:pPr marL="829818" lvl="1" indent="-342900"/>
            <a:r>
              <a:rPr lang="en-US" sz="2400" i="1" dirty="0"/>
              <a:t>Escherichia coli</a:t>
            </a:r>
          </a:p>
          <a:p>
            <a:pPr marL="829818" lvl="1" indent="-342900"/>
            <a:r>
              <a:rPr lang="en-US" sz="2400" i="1" dirty="0"/>
              <a:t>Pseudomonas aeruginosa</a:t>
            </a:r>
          </a:p>
          <a:p>
            <a:pPr marL="829818" lvl="1" indent="-342900"/>
            <a:r>
              <a:rPr lang="en-US" sz="2400" i="1" dirty="0"/>
              <a:t>Streptococcus </a:t>
            </a:r>
            <a:r>
              <a:rPr lang="en-US" sz="2400" i="1" dirty="0" err="1"/>
              <a:t>lactis</a:t>
            </a:r>
            <a:endParaRPr lang="en-US" sz="2400" i="1" dirty="0"/>
          </a:p>
        </p:txBody>
      </p:sp>
    </p:spTree>
    <p:extLst>
      <p:ext uri="{BB962C8B-B14F-4D97-AF65-F5344CB8AC3E}">
        <p14:creationId xmlns:p14="http://schemas.microsoft.com/office/powerpoint/2010/main" val="22022057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40434" y="156980"/>
            <a:ext cx="8293694" cy="553998"/>
          </a:xfrm>
        </p:spPr>
        <p:txBody>
          <a:bodyPr lIns="0" tIns="0" rIns="0" bIns="0" anchor="ctr">
            <a:spAutoFit/>
          </a:bodyPr>
          <a:lstStyle/>
          <a:p>
            <a:r>
              <a:rPr lang="en-IN" sz="3600" dirty="0">
                <a:latin typeface="+mj-lt"/>
              </a:rPr>
              <a:t>Archaea </a:t>
            </a:r>
            <a:r>
              <a:rPr lang="en-IN" sz="2800" dirty="0">
                <a:latin typeface="+mj-lt"/>
              </a:rPr>
              <a:t>(1 of 2)</a:t>
            </a:r>
            <a:endParaRPr lang="en-US" sz="2800" dirty="0">
              <a:latin typeface="+mj-lt"/>
            </a:endParaRP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40434" y="1084106"/>
            <a:ext cx="8293694" cy="1669688"/>
          </a:xfrm>
        </p:spPr>
        <p:txBody>
          <a:bodyPr lIns="0" tIns="0" rIns="0" bIns="0">
            <a:spAutoFit/>
          </a:bodyPr>
          <a:lstStyle/>
          <a:p>
            <a:pPr marL="342900" indent="-342900"/>
            <a:r>
              <a:rPr lang="en-US" sz="2400" dirty="0"/>
              <a:t>Archaea were originally called </a:t>
            </a:r>
            <a:r>
              <a:rPr lang="en-US" sz="2400" i="1" dirty="0" err="1"/>
              <a:t>archaebacteria</a:t>
            </a:r>
            <a:r>
              <a:rPr lang="en-US" sz="2400" dirty="0"/>
              <a:t> before they were discovered to be so different from bacteria.</a:t>
            </a:r>
          </a:p>
          <a:p>
            <a:pPr marL="342900" indent="-342900"/>
            <a:r>
              <a:rPr lang="en-US" sz="2400" dirty="0"/>
              <a:t>They include many species that live in extreme habitats and have diverse metabolic strategie</a:t>
            </a:r>
            <a:r>
              <a:rPr lang="en-US" sz="2400" dirty="0">
                <a:solidFill>
                  <a:schemeClr val="tx1"/>
                </a:solidFill>
              </a:rPr>
              <a:t>s.</a:t>
            </a:r>
          </a:p>
        </p:txBody>
      </p:sp>
    </p:spTree>
    <p:extLst>
      <p:ext uri="{BB962C8B-B14F-4D97-AF65-F5344CB8AC3E}">
        <p14:creationId xmlns:p14="http://schemas.microsoft.com/office/powerpoint/2010/main" val="30766868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40434" y="156980"/>
            <a:ext cx="8293694" cy="553998"/>
          </a:xfrm>
        </p:spPr>
        <p:txBody>
          <a:bodyPr lIns="0" tIns="0" rIns="0" bIns="0" anchor="ctr">
            <a:spAutoFit/>
          </a:bodyPr>
          <a:lstStyle/>
          <a:p>
            <a:r>
              <a:rPr lang="en-IN" sz="3600" dirty="0">
                <a:latin typeface="+mj-lt"/>
              </a:rPr>
              <a:t>Archaea </a:t>
            </a:r>
            <a:r>
              <a:rPr lang="en-IN" sz="2800" dirty="0">
                <a:latin typeface="+mj-lt"/>
              </a:rPr>
              <a:t>(2 of 2)</a:t>
            </a:r>
            <a:endParaRPr lang="en-US" sz="2800" dirty="0">
              <a:latin typeface="+mj-lt"/>
            </a:endParaRP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40434" y="1084105"/>
            <a:ext cx="8293694" cy="3493264"/>
          </a:xfrm>
        </p:spPr>
        <p:txBody>
          <a:bodyPr lIns="0" tIns="0" rIns="0" bIns="0">
            <a:spAutoFit/>
          </a:bodyPr>
          <a:lstStyle/>
          <a:p>
            <a:pPr marL="342900" indent="-342900"/>
            <a:r>
              <a:rPr lang="en-US" sz="2400" dirty="0"/>
              <a:t>Types of archaea include</a:t>
            </a:r>
          </a:p>
          <a:p>
            <a:pPr marL="829818" lvl="1" indent="-342900"/>
            <a:r>
              <a:rPr lang="en-US" sz="2400" i="1" dirty="0"/>
              <a:t>Methanogens—</a:t>
            </a:r>
            <a:r>
              <a:rPr lang="en-US" sz="2400" dirty="0"/>
              <a:t>obtain energy from hydrogen and convert </a:t>
            </a:r>
            <a:r>
              <a:rPr lang="en-US" sz="2400" spc="-300" dirty="0"/>
              <a:t>C </a:t>
            </a:r>
            <a:r>
              <a:rPr lang="en-US" sz="2400" dirty="0"/>
              <a:t>O</a:t>
            </a:r>
            <a:r>
              <a:rPr lang="en-US" sz="2400" baseline="-25000" dirty="0"/>
              <a:t>2</a:t>
            </a:r>
            <a:r>
              <a:rPr lang="en-US" sz="2400" dirty="0"/>
              <a:t> into methane</a:t>
            </a:r>
          </a:p>
          <a:p>
            <a:pPr marL="829818" lvl="1" indent="-342900"/>
            <a:r>
              <a:rPr lang="en-US" sz="2400" i="1" dirty="0"/>
              <a:t>Halophiles</a:t>
            </a:r>
            <a:r>
              <a:rPr lang="en-US" sz="2400" dirty="0"/>
              <a:t>—occupy extremely salty environments</a:t>
            </a:r>
          </a:p>
          <a:p>
            <a:pPr marL="829818" lvl="1" indent="-342900"/>
            <a:r>
              <a:rPr lang="en-US" sz="2400" i="1" dirty="0" err="1"/>
              <a:t>Thermacidophiles</a:t>
            </a:r>
            <a:r>
              <a:rPr lang="en-US" sz="2400" dirty="0"/>
              <a:t>—thrive in acidic hot springs</a:t>
            </a:r>
          </a:p>
          <a:p>
            <a:pPr marL="342900" indent="-342900"/>
            <a:r>
              <a:rPr lang="en-US" sz="2400" dirty="0"/>
              <a:t>They are considered to have descended from a common ancestor that also gave rise to eukaryotes long after diverging from bacteria.</a:t>
            </a:r>
          </a:p>
        </p:txBody>
      </p:sp>
    </p:spTree>
    <p:extLst>
      <p:ext uri="{BB962C8B-B14F-4D97-AF65-F5344CB8AC3E}">
        <p14:creationId xmlns:p14="http://schemas.microsoft.com/office/powerpoint/2010/main" val="8833592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47984" y="167582"/>
            <a:ext cx="8229600" cy="1107996"/>
          </a:xfrm>
        </p:spPr>
        <p:txBody>
          <a:bodyPr lIns="0" tIns="0" rIns="0" bIns="0" anchor="ctr">
            <a:spAutoFit/>
          </a:bodyPr>
          <a:lstStyle/>
          <a:p>
            <a:r>
              <a:rPr lang="en-US" dirty="0"/>
              <a:t>The Common Ancestor of Bacteria, Archaea, and Eukarya</a:t>
            </a:r>
          </a:p>
        </p:txBody>
      </p:sp>
      <p:pic>
        <p:nvPicPr>
          <p:cNvPr id="4" name="Picture Placeholder 3" descr="An illustration shows ancestral cell branching out into bacteria, archaea, and eukarya. The archaea branches at half way through eukarya."/>
          <p:cNvPicPr>
            <a:picLocks noGrp="1" noChangeAspect="1"/>
          </p:cNvPicPr>
          <p:nvPr>
            <p:ph type="pic" sz="quarter" idx="16"/>
          </p:nvPr>
        </p:nvPicPr>
        <p:blipFill>
          <a:blip r:embed="rId3">
            <a:extLst>
              <a:ext uri="{28A0092B-C50C-407E-A947-70E740481C1C}">
                <a14:useLocalDpi xmlns:a14="http://schemas.microsoft.com/office/drawing/2010/main" val="0"/>
              </a:ext>
            </a:extLst>
          </a:blip>
          <a:stretch>
            <a:fillRect/>
          </a:stretch>
        </p:blipFill>
        <p:spPr>
          <a:xfrm>
            <a:off x="503035" y="1781106"/>
            <a:ext cx="8137930" cy="1747159"/>
          </a:xfrm>
        </p:spPr>
      </p:pic>
    </p:spTree>
    <p:extLst>
      <p:ext uri="{BB962C8B-B14F-4D97-AF65-F5344CB8AC3E}">
        <p14:creationId xmlns:p14="http://schemas.microsoft.com/office/powerpoint/2010/main" val="70899663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40434" y="201199"/>
            <a:ext cx="8293694" cy="492443"/>
          </a:xfrm>
        </p:spPr>
        <p:txBody>
          <a:bodyPr lIns="0" tIns="0" rIns="0" bIns="0" anchor="ctr">
            <a:spAutoFit/>
          </a:bodyPr>
          <a:lstStyle/>
          <a:p>
            <a:r>
              <a:rPr lang="en-US" sz="3200" dirty="0">
                <a:latin typeface="+mj-lt"/>
              </a:rPr>
              <a:t>There Are Several Limitations on Cell Size</a:t>
            </a: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40434" y="1084106"/>
            <a:ext cx="8293694" cy="3162404"/>
          </a:xfrm>
        </p:spPr>
        <p:txBody>
          <a:bodyPr lIns="0" tIns="0" rIns="0" bIns="0">
            <a:spAutoFit/>
          </a:bodyPr>
          <a:lstStyle/>
          <a:p>
            <a:pPr marL="342900" indent="-342900"/>
            <a:r>
              <a:rPr lang="en-US" sz="2400" dirty="0"/>
              <a:t>Cells come in various sizes and shapes.</a:t>
            </a:r>
          </a:p>
          <a:p>
            <a:pPr marL="342900" indent="-342900"/>
            <a:r>
              <a:rPr lang="en-US" sz="2400" dirty="0"/>
              <a:t>Some of the smallest bacteria are about 0.2–0.3 </a:t>
            </a:r>
            <a:r>
              <a:rPr lang="en-US" sz="2400" dirty="0" err="1"/>
              <a:t>μm</a:t>
            </a:r>
            <a:r>
              <a:rPr lang="en-US" sz="2400" dirty="0"/>
              <a:t> in diameter.</a:t>
            </a:r>
          </a:p>
          <a:p>
            <a:pPr marL="342900" indent="-342900"/>
            <a:r>
              <a:rPr lang="en-US" sz="2400" dirty="0"/>
              <a:t>Some highly elongated nerve cells may extend a meter or more.</a:t>
            </a:r>
          </a:p>
          <a:p>
            <a:pPr marL="342900" indent="-342900"/>
            <a:r>
              <a:rPr lang="en-US" sz="2400" dirty="0"/>
              <a:t>Despite the extremes, cells in general fall into predictable size ranges.</a:t>
            </a:r>
          </a:p>
        </p:txBody>
      </p:sp>
    </p:spTree>
    <p:extLst>
      <p:ext uri="{BB962C8B-B14F-4D97-AF65-F5344CB8AC3E}">
        <p14:creationId xmlns:p14="http://schemas.microsoft.com/office/powerpoint/2010/main" val="409198755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40434" y="156981"/>
            <a:ext cx="8293694" cy="553998"/>
          </a:xfrm>
        </p:spPr>
        <p:txBody>
          <a:bodyPr lIns="0" tIns="0" rIns="0" bIns="0" anchor="ctr">
            <a:spAutoFit/>
          </a:bodyPr>
          <a:lstStyle/>
          <a:p>
            <a:r>
              <a:rPr lang="en-US" sz="3600" dirty="0">
                <a:latin typeface="+mj-lt"/>
              </a:rPr>
              <a:t>Size Ranges</a:t>
            </a: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40434" y="1075479"/>
            <a:ext cx="8293694" cy="2054409"/>
          </a:xfrm>
        </p:spPr>
        <p:txBody>
          <a:bodyPr lIns="0" tIns="0" rIns="0" bIns="0">
            <a:spAutoFit/>
          </a:bodyPr>
          <a:lstStyle/>
          <a:p>
            <a:pPr marL="342900" indent="-342900"/>
            <a:r>
              <a:rPr lang="en-US" sz="2400" dirty="0"/>
              <a:t>Bacteria cells normally range from 1 to 5 </a:t>
            </a:r>
            <a:r>
              <a:rPr lang="en-US" sz="2400" dirty="0" err="1"/>
              <a:t>μm</a:t>
            </a:r>
            <a:r>
              <a:rPr lang="en-US" sz="2400" dirty="0"/>
              <a:t> in diameter.</a:t>
            </a:r>
          </a:p>
          <a:p>
            <a:pPr marL="342900" indent="-342900"/>
            <a:r>
              <a:rPr lang="en-US" sz="2400" dirty="0"/>
              <a:t>Animal cells have dimensions in the range of 10–100 </a:t>
            </a:r>
            <a:r>
              <a:rPr lang="en-US" sz="2400" dirty="0" err="1"/>
              <a:t>μm</a:t>
            </a:r>
            <a:r>
              <a:rPr lang="en-US" sz="2400" dirty="0"/>
              <a:t>.</a:t>
            </a:r>
          </a:p>
          <a:p>
            <a:pPr marL="342900" indent="-342900"/>
            <a:r>
              <a:rPr lang="en-US" sz="2400" dirty="0"/>
              <a:t>Cells are usually very small.</a:t>
            </a:r>
          </a:p>
          <a:p>
            <a:pPr marL="342900" indent="-342900"/>
            <a:r>
              <a:rPr lang="en-US" sz="2400" dirty="0"/>
              <a:t>There are three main limitations on cell size.</a:t>
            </a:r>
          </a:p>
        </p:txBody>
      </p:sp>
    </p:spTree>
    <p:extLst>
      <p:ext uri="{BB962C8B-B14F-4D97-AF65-F5344CB8AC3E}">
        <p14:creationId xmlns:p14="http://schemas.microsoft.com/office/powerpoint/2010/main" val="111562205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40434" y="156981"/>
            <a:ext cx="8293694" cy="553998"/>
          </a:xfrm>
        </p:spPr>
        <p:txBody>
          <a:bodyPr lIns="0" tIns="0" rIns="0" bIns="0" anchor="ctr">
            <a:spAutoFit/>
          </a:bodyPr>
          <a:lstStyle/>
          <a:p>
            <a:r>
              <a:rPr lang="en-US" sz="3600" dirty="0">
                <a:latin typeface="+mj-lt"/>
              </a:rPr>
              <a:t>Limitations on Cell Size</a:t>
            </a: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40434" y="1084106"/>
            <a:ext cx="8293694" cy="2446824"/>
          </a:xfrm>
        </p:spPr>
        <p:txBody>
          <a:bodyPr lIns="0" tIns="0" rIns="0" bIns="0">
            <a:spAutoFit/>
          </a:bodyPr>
          <a:lstStyle/>
          <a:p>
            <a:pPr marL="342900" indent="-342900"/>
            <a:r>
              <a:rPr lang="en-US" sz="2400" dirty="0"/>
              <a:t>Cell size is </a:t>
            </a:r>
            <a:r>
              <a:rPr lang="en-US" sz="2400" dirty="0">
                <a:solidFill>
                  <a:schemeClr val="tx1"/>
                </a:solidFill>
              </a:rPr>
              <a:t>limited by:</a:t>
            </a:r>
          </a:p>
          <a:p>
            <a:pPr marL="829818" lvl="1" indent="-342900"/>
            <a:r>
              <a:rPr lang="en-US" sz="2400" dirty="0"/>
              <a:t>The requirement for adequate surface area relative to volume</a:t>
            </a:r>
          </a:p>
          <a:p>
            <a:pPr marL="829818" lvl="1" indent="-342900"/>
            <a:r>
              <a:rPr lang="en-US" sz="2400" dirty="0"/>
              <a:t>The rates at which molecules can diffuse</a:t>
            </a:r>
          </a:p>
          <a:p>
            <a:pPr marL="829818" lvl="1" indent="-342900"/>
            <a:r>
              <a:rPr lang="en-US" sz="2400" dirty="0"/>
              <a:t>The need to maintain adequate local concentrations of substances required for necessary cellular functions</a:t>
            </a:r>
          </a:p>
        </p:txBody>
      </p:sp>
    </p:spTree>
    <p:extLst>
      <p:ext uri="{BB962C8B-B14F-4D97-AF65-F5344CB8AC3E}">
        <p14:creationId xmlns:p14="http://schemas.microsoft.com/office/powerpoint/2010/main" val="302281502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40434" y="156981"/>
            <a:ext cx="8293694" cy="553998"/>
          </a:xfrm>
        </p:spPr>
        <p:txBody>
          <a:bodyPr lIns="0" tIns="0" rIns="0" bIns="0" anchor="ctr">
            <a:spAutoFit/>
          </a:bodyPr>
          <a:lstStyle/>
          <a:p>
            <a:r>
              <a:rPr lang="en-US" sz="3600" dirty="0">
                <a:latin typeface="+mj-lt"/>
              </a:rPr>
              <a:t>Surface Area/Volume Ratio</a:t>
            </a: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40434" y="1084108"/>
            <a:ext cx="8293694" cy="2600712"/>
          </a:xfrm>
        </p:spPr>
        <p:txBody>
          <a:bodyPr lIns="0" tIns="0" rIns="0" bIns="0">
            <a:spAutoFit/>
          </a:bodyPr>
          <a:lstStyle/>
          <a:p>
            <a:pPr marL="342900" indent="-342900"/>
            <a:r>
              <a:rPr lang="en-US" sz="2400" dirty="0"/>
              <a:t>In most cases, the major limit on cell size is set by the need to maintain an adequate </a:t>
            </a:r>
            <a:r>
              <a:rPr lang="en-US" sz="2400" b="1" dirty="0"/>
              <a:t>surface area/volume ratio</a:t>
            </a:r>
            <a:r>
              <a:rPr lang="en-US" sz="2400" dirty="0"/>
              <a:t>.</a:t>
            </a:r>
          </a:p>
          <a:p>
            <a:pPr marL="342900" indent="-342900"/>
            <a:r>
              <a:rPr lang="en-US" sz="2400" dirty="0"/>
              <a:t>Surface area is important because exchanges between the cell and its surroundings take place at the cell surface.</a:t>
            </a:r>
          </a:p>
          <a:p>
            <a:pPr marL="342900" indent="-342900"/>
            <a:r>
              <a:rPr lang="en-US" sz="2400" dirty="0"/>
              <a:t>The cell’s volume determines the amount of exchange that must take place across the available surface area.</a:t>
            </a:r>
          </a:p>
        </p:txBody>
      </p:sp>
    </p:spTree>
    <p:extLst>
      <p:ext uri="{BB962C8B-B14F-4D97-AF65-F5344CB8AC3E}">
        <p14:creationId xmlns:p14="http://schemas.microsoft.com/office/powerpoint/2010/main" val="160235267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40434" y="166276"/>
            <a:ext cx="8293694" cy="1107996"/>
          </a:xfrm>
        </p:spPr>
        <p:txBody>
          <a:bodyPr lIns="0" tIns="0" rIns="0" bIns="0" anchor="ctr">
            <a:spAutoFit/>
          </a:bodyPr>
          <a:lstStyle/>
          <a:p>
            <a:r>
              <a:rPr lang="en-US" sz="3600" dirty="0">
                <a:latin typeface="+mj-lt"/>
              </a:rPr>
              <a:t>Maintaining Adequate Surface Area/Volume Ratio</a:t>
            </a: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40434" y="1489551"/>
            <a:ext cx="8293694" cy="2970044"/>
          </a:xfrm>
        </p:spPr>
        <p:txBody>
          <a:bodyPr lIns="0" tIns="0" rIns="0" bIns="0">
            <a:spAutoFit/>
          </a:bodyPr>
          <a:lstStyle/>
          <a:p>
            <a:pPr marL="342900" indent="-342900"/>
            <a:r>
              <a:rPr lang="en-US" sz="2400" dirty="0"/>
              <a:t>The volume of a cell increases with the cube of its length.</a:t>
            </a:r>
          </a:p>
          <a:p>
            <a:pPr marL="342900" indent="-342900"/>
            <a:r>
              <a:rPr lang="en-US" sz="2400" dirty="0"/>
              <a:t>But the surface area of the cell increases with the square of its length, so larger cells have proportionately smaller surface areas.</a:t>
            </a:r>
          </a:p>
          <a:p>
            <a:pPr marL="342900" indent="-342900"/>
            <a:r>
              <a:rPr lang="en-US" sz="2400" dirty="0"/>
              <a:t>Beyond a certain threshold, a large cell would not have a large enough surface area to allow for sufficient intake of nutrients and release of wastes.</a:t>
            </a:r>
          </a:p>
        </p:txBody>
      </p:sp>
    </p:spTree>
    <p:extLst>
      <p:ext uri="{BB962C8B-B14F-4D97-AF65-F5344CB8AC3E}">
        <p14:creationId xmlns:p14="http://schemas.microsoft.com/office/powerpoint/2010/main" val="187713611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34336" y="167793"/>
            <a:ext cx="8229600" cy="1107996"/>
          </a:xfrm>
        </p:spPr>
        <p:txBody>
          <a:bodyPr lIns="0" tIns="0" rIns="0" bIns="0" anchor="ctr">
            <a:spAutoFit/>
          </a:bodyPr>
          <a:lstStyle/>
          <a:p>
            <a:r>
              <a:rPr lang="en-US" dirty="0"/>
              <a:t>The Effect of Cell Size on the Surface Area/Volume</a:t>
            </a:r>
          </a:p>
        </p:txBody>
      </p:sp>
      <p:sp>
        <p:nvSpPr>
          <p:cNvPr id="6" name="Content Placeholder 5"/>
          <p:cNvSpPr>
            <a:spLocks noGrp="1"/>
          </p:cNvSpPr>
          <p:nvPr>
            <p:ph sz="quarter" idx="15"/>
          </p:nvPr>
        </p:nvSpPr>
        <p:spPr>
          <a:xfrm>
            <a:off x="439191" y="1513701"/>
            <a:ext cx="2658851" cy="1477328"/>
          </a:xfrm>
        </p:spPr>
        <p:txBody>
          <a:bodyPr wrap="square" lIns="0" tIns="0" rIns="0" bIns="0">
            <a:spAutoFit/>
          </a:bodyPr>
          <a:lstStyle/>
          <a:p>
            <a:pPr marL="0" indent="0">
              <a:buNone/>
            </a:pPr>
            <a:r>
              <a:rPr lang="en-US" sz="2400" b="1" dirty="0"/>
              <a:t>Figure 4.4 </a:t>
            </a:r>
            <a:r>
              <a:rPr lang="en-US" sz="2400" dirty="0"/>
              <a:t>The Effect of Cell Size on the Surface Area/Volume Ratio.</a:t>
            </a:r>
          </a:p>
        </p:txBody>
      </p:sp>
      <p:pic>
        <p:nvPicPr>
          <p:cNvPr id="4" name="Picture Placeholder 3" descr="An illustration shows three cubes with same volume but lesser surface area. The cube comprising of multiple smaller cubes has the greatest surface area. A table shows different properties of each type of cube. &#10;Long description is available in notes, press F6"/>
          <p:cNvPicPr>
            <a:picLocks noGrp="1" noChangeAspect="1"/>
          </p:cNvPicPr>
          <p:nvPr>
            <p:ph type="pic" sz="quarter" idx="16"/>
          </p:nvPr>
        </p:nvPicPr>
        <p:blipFill rotWithShape="1">
          <a:blip r:embed="rId3">
            <a:extLst>
              <a:ext uri="{28A0092B-C50C-407E-A947-70E740481C1C}">
                <a14:useLocalDpi xmlns:a14="http://schemas.microsoft.com/office/drawing/2010/main" val="0"/>
              </a:ext>
            </a:extLst>
          </a:blip>
          <a:srcRect b="2920"/>
          <a:stretch/>
        </p:blipFill>
        <p:spPr>
          <a:xfrm>
            <a:off x="3301167" y="1494955"/>
            <a:ext cx="5361600" cy="4413493"/>
          </a:xfrm>
        </p:spPr>
      </p:pic>
    </p:spTree>
    <p:extLst>
      <p:ext uri="{BB962C8B-B14F-4D97-AF65-F5344CB8AC3E}">
        <p14:creationId xmlns:p14="http://schemas.microsoft.com/office/powerpoint/2010/main" val="218203429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40434" y="156985"/>
            <a:ext cx="8293694" cy="553998"/>
          </a:xfrm>
        </p:spPr>
        <p:txBody>
          <a:bodyPr lIns="0" tIns="0" rIns="0" bIns="0" anchor="ctr">
            <a:spAutoFit/>
          </a:bodyPr>
          <a:lstStyle/>
          <a:p>
            <a:r>
              <a:rPr lang="en-US" sz="3600" dirty="0">
                <a:latin typeface="+mj-lt"/>
              </a:rPr>
              <a:t>Cells Specialized for Absorption</a:t>
            </a: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40434" y="1084108"/>
            <a:ext cx="8293694" cy="2039020"/>
          </a:xfrm>
        </p:spPr>
        <p:txBody>
          <a:bodyPr lIns="0" tIns="0" rIns="0" bIns="0">
            <a:spAutoFit/>
          </a:bodyPr>
          <a:lstStyle/>
          <a:p>
            <a:pPr marL="342900" indent="-342900"/>
            <a:r>
              <a:rPr lang="en-US" sz="2400" dirty="0">
                <a:solidFill>
                  <a:schemeClr val="tx1"/>
                </a:solidFill>
              </a:rPr>
              <a:t>Cells that are specialized for absorption have characteristics to maximize their surface area.</a:t>
            </a:r>
          </a:p>
          <a:p>
            <a:pPr marL="342900" indent="-342900"/>
            <a:r>
              <a:rPr lang="en-US" sz="2400" dirty="0">
                <a:solidFill>
                  <a:schemeClr val="tx1"/>
                </a:solidFill>
              </a:rPr>
              <a:t>For example, cells lining the small intestine have </a:t>
            </a:r>
            <a:r>
              <a:rPr lang="en-US" sz="2400" i="1" dirty="0">
                <a:solidFill>
                  <a:schemeClr val="tx1"/>
                </a:solidFill>
              </a:rPr>
              <a:t>microvilli</a:t>
            </a:r>
            <a:r>
              <a:rPr lang="en-US" sz="2400" dirty="0">
                <a:solidFill>
                  <a:schemeClr val="tx1"/>
                </a:solidFill>
              </a:rPr>
              <a:t>—fingerlike projections that increase the surface area.</a:t>
            </a:r>
          </a:p>
        </p:txBody>
      </p:sp>
    </p:spTree>
    <p:extLst>
      <p:ext uri="{BB962C8B-B14F-4D97-AF65-F5344CB8AC3E}">
        <p14:creationId xmlns:p14="http://schemas.microsoft.com/office/powerpoint/2010/main" val="167039011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47984" y="211548"/>
            <a:ext cx="8229600" cy="492443"/>
          </a:xfrm>
        </p:spPr>
        <p:txBody>
          <a:bodyPr lIns="0" tIns="0" rIns="0" bIns="0" anchor="ctr">
            <a:spAutoFit/>
          </a:bodyPr>
          <a:lstStyle/>
          <a:p>
            <a:r>
              <a:rPr lang="en-US" sz="3200" dirty="0"/>
              <a:t>The Microvilli of Intestinal Mucosal Cells</a:t>
            </a:r>
          </a:p>
        </p:txBody>
      </p:sp>
      <p:sp>
        <p:nvSpPr>
          <p:cNvPr id="6" name="Content Placeholder 5"/>
          <p:cNvSpPr>
            <a:spLocks noGrp="1"/>
          </p:cNvSpPr>
          <p:nvPr>
            <p:ph sz="quarter" idx="15"/>
          </p:nvPr>
        </p:nvSpPr>
        <p:spPr>
          <a:xfrm>
            <a:off x="447816" y="967150"/>
            <a:ext cx="8256234" cy="369332"/>
          </a:xfrm>
        </p:spPr>
        <p:txBody>
          <a:bodyPr lIns="0" tIns="0" rIns="0" bIns="0">
            <a:spAutoFit/>
          </a:bodyPr>
          <a:lstStyle/>
          <a:p>
            <a:pPr marL="0" indent="0">
              <a:buNone/>
            </a:pPr>
            <a:r>
              <a:rPr lang="en-US" sz="2400" b="1" dirty="0"/>
              <a:t>Figure 4.5</a:t>
            </a:r>
            <a:r>
              <a:rPr lang="en-US" sz="2400" dirty="0"/>
              <a:t> The Microvilli of Intestinal Mucosal Cells.</a:t>
            </a:r>
          </a:p>
        </p:txBody>
      </p:sp>
      <p:pic>
        <p:nvPicPr>
          <p:cNvPr id="5" name="Picture Placeholder 4" descr="A microscopic image shows fingerlike projections called microvilli that are embedded in the lumen of intestine. The microvilli are projections from the cell membrane of the intestinal mucosal cell. &#10;Long description is available in notes, press F6"/>
          <p:cNvPicPr>
            <a:picLocks noGrp="1" noChangeAspect="1"/>
          </p:cNvPicPr>
          <p:nvPr>
            <p:ph type="pic" sz="quarter" idx="16"/>
          </p:nvPr>
        </p:nvPicPr>
        <p:blipFill rotWithShape="1">
          <a:blip r:embed="rId3">
            <a:extLst>
              <a:ext uri="{28A0092B-C50C-407E-A947-70E740481C1C}">
                <a14:useLocalDpi xmlns:a14="http://schemas.microsoft.com/office/drawing/2010/main" val="0"/>
              </a:ext>
            </a:extLst>
          </a:blip>
          <a:srcRect b="2237"/>
          <a:stretch/>
        </p:blipFill>
        <p:spPr>
          <a:xfrm>
            <a:off x="1814301" y="1523681"/>
            <a:ext cx="5515399" cy="4788885"/>
          </a:xfrm>
        </p:spPr>
      </p:pic>
    </p:spTree>
    <p:extLst>
      <p:ext uri="{BB962C8B-B14F-4D97-AF65-F5344CB8AC3E}">
        <p14:creationId xmlns:p14="http://schemas.microsoft.com/office/powerpoint/2010/main" val="118529978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40434" y="156985"/>
            <a:ext cx="8293694" cy="553998"/>
          </a:xfrm>
        </p:spPr>
        <p:txBody>
          <a:bodyPr lIns="0" tIns="0" rIns="0" bIns="0" anchor="ctr">
            <a:spAutoFit/>
          </a:bodyPr>
          <a:lstStyle/>
          <a:p>
            <a:r>
              <a:rPr lang="en-US" sz="3600" dirty="0">
                <a:latin typeface="+mj-lt"/>
              </a:rPr>
              <a:t>Diffusion Rates of Molecules</a:t>
            </a: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40434" y="1084109"/>
            <a:ext cx="8293694" cy="3339376"/>
          </a:xfrm>
        </p:spPr>
        <p:txBody>
          <a:bodyPr lIns="0" tIns="0" rIns="0" bIns="0">
            <a:spAutoFit/>
          </a:bodyPr>
          <a:lstStyle/>
          <a:p>
            <a:pPr marL="342900" indent="-342900"/>
            <a:r>
              <a:rPr lang="en-US" sz="2400" dirty="0"/>
              <a:t>The internal volume of the cell, not including the nucleus, is the </a:t>
            </a:r>
            <a:r>
              <a:rPr lang="en-US" sz="2400" b="1" dirty="0"/>
              <a:t>cytoplasm</a:t>
            </a:r>
            <a:r>
              <a:rPr lang="en-US" sz="2400" dirty="0"/>
              <a:t>.</a:t>
            </a:r>
          </a:p>
          <a:p>
            <a:pPr marL="342900" indent="-342900"/>
            <a:r>
              <a:rPr lang="en-US" sz="2400" dirty="0"/>
              <a:t>Cytoplasm contains </a:t>
            </a:r>
            <a:r>
              <a:rPr lang="en-US" sz="2400" i="1" dirty="0"/>
              <a:t>organelles</a:t>
            </a:r>
            <a:r>
              <a:rPr lang="en-US" sz="2400" dirty="0"/>
              <a:t>, </a:t>
            </a:r>
            <a:r>
              <a:rPr lang="en-US" sz="2400" i="1" dirty="0"/>
              <a:t>cytoskeletal</a:t>
            </a:r>
            <a:r>
              <a:rPr lang="en-US" sz="2400" dirty="0"/>
              <a:t> </a:t>
            </a:r>
            <a:r>
              <a:rPr lang="en-US" sz="2400" i="1" dirty="0"/>
              <a:t>fibers</a:t>
            </a:r>
            <a:r>
              <a:rPr lang="en-US" sz="2400" dirty="0"/>
              <a:t>, and the semifluid </a:t>
            </a:r>
            <a:r>
              <a:rPr lang="en-US" sz="2400" b="1" dirty="0"/>
              <a:t>cytosol</a:t>
            </a:r>
            <a:r>
              <a:rPr lang="en-US" sz="2400" dirty="0"/>
              <a:t> in which they are suspended.</a:t>
            </a:r>
          </a:p>
          <a:p>
            <a:pPr marL="342900" indent="-342900"/>
            <a:r>
              <a:rPr lang="en-US" sz="2400" dirty="0"/>
              <a:t>Many molecules move through this liquid-based environment by </a:t>
            </a:r>
            <a:r>
              <a:rPr lang="en-US" sz="2400" b="1" dirty="0"/>
              <a:t>diffusion</a:t>
            </a:r>
            <a:r>
              <a:rPr lang="en-US" sz="2400" dirty="0"/>
              <a:t>, the unassisted movement of a substance from a region of high concentration to a region of low concentration.</a:t>
            </a:r>
          </a:p>
        </p:txBody>
      </p:sp>
    </p:spTree>
    <p:extLst>
      <p:ext uri="{BB962C8B-B14F-4D97-AF65-F5344CB8AC3E}">
        <p14:creationId xmlns:p14="http://schemas.microsoft.com/office/powerpoint/2010/main" val="45673363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40434" y="156985"/>
            <a:ext cx="8293694" cy="553998"/>
          </a:xfrm>
        </p:spPr>
        <p:txBody>
          <a:bodyPr lIns="0" tIns="0" rIns="0" bIns="0" anchor="ctr">
            <a:spAutoFit/>
          </a:bodyPr>
          <a:lstStyle/>
          <a:p>
            <a:r>
              <a:rPr lang="en-US" sz="3600" dirty="0">
                <a:latin typeface="+mj-lt"/>
              </a:rPr>
              <a:t>Limitation on Rates of Diffusion</a:t>
            </a: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40434" y="1084109"/>
            <a:ext cx="8293694" cy="1669688"/>
          </a:xfrm>
          <a:noFill/>
          <a:ln>
            <a:noFill/>
          </a:ln>
        </p:spPr>
        <p:txBody>
          <a:bodyPr lIns="0" tIns="0" rIns="0" bIns="0" anchor="t" anchorCtr="0">
            <a:spAutoFit/>
          </a:bodyPr>
          <a:lstStyle/>
          <a:p>
            <a:pPr marL="342900" indent="-342900"/>
            <a:r>
              <a:rPr lang="en-US" sz="2400" dirty="0"/>
              <a:t>The rate of diffusion of molecules decreases as the size of the molecule increases.</a:t>
            </a:r>
          </a:p>
          <a:p>
            <a:pPr marL="342900" indent="-342900"/>
            <a:r>
              <a:rPr lang="en-US" sz="2400" dirty="0"/>
              <a:t>This limits diffusion for macromolecules such as proteins and nucleic acids.</a:t>
            </a:r>
          </a:p>
        </p:txBody>
      </p:sp>
    </p:spTree>
    <p:extLst>
      <p:ext uri="{BB962C8B-B14F-4D97-AF65-F5344CB8AC3E}">
        <p14:creationId xmlns:p14="http://schemas.microsoft.com/office/powerpoint/2010/main" val="145528119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40434" y="152429"/>
            <a:ext cx="8293694" cy="1107996"/>
          </a:xfrm>
        </p:spPr>
        <p:txBody>
          <a:bodyPr lIns="0" tIns="0" rIns="0" bIns="0" anchor="ctr">
            <a:spAutoFit/>
          </a:bodyPr>
          <a:lstStyle/>
          <a:p>
            <a:r>
              <a:rPr lang="en-US" sz="3600" dirty="0">
                <a:latin typeface="+mj-lt"/>
              </a:rPr>
              <a:t>Avoiding Limitations of Rates of Diffusion</a:t>
            </a: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40434" y="1489547"/>
            <a:ext cx="8293694" cy="2970044"/>
          </a:xfrm>
          <a:noFill/>
          <a:ln>
            <a:noFill/>
          </a:ln>
        </p:spPr>
        <p:txBody>
          <a:bodyPr lIns="0" tIns="0" rIns="0" bIns="0" anchor="t" anchorCtr="0">
            <a:spAutoFit/>
          </a:bodyPr>
          <a:lstStyle/>
          <a:p>
            <a:pPr marL="342900" indent="-342900"/>
            <a:r>
              <a:rPr lang="en-US" sz="2400" dirty="0"/>
              <a:t>Eukaryotic cells can avoid the problem of slow diffusion rates by using carrier proteins to actively transport materials through the cytoplasm.</a:t>
            </a:r>
          </a:p>
          <a:p>
            <a:pPr marL="342900" indent="-342900"/>
            <a:r>
              <a:rPr lang="en-US" sz="2400" dirty="0"/>
              <a:t>Some cells use </a:t>
            </a:r>
            <a:r>
              <a:rPr lang="en-US" sz="2400" i="1" dirty="0"/>
              <a:t>cytoplasmic streaming </a:t>
            </a:r>
            <a:r>
              <a:rPr lang="en-US" sz="2400" dirty="0"/>
              <a:t>(</a:t>
            </a:r>
            <a:r>
              <a:rPr lang="en-US" sz="2400" i="1" dirty="0" err="1"/>
              <a:t>cyclosis</a:t>
            </a:r>
            <a:r>
              <a:rPr lang="en-US" sz="2400" dirty="0"/>
              <a:t> in plants) to actively move cytoplasmic contents.</a:t>
            </a:r>
          </a:p>
          <a:p>
            <a:pPr marL="342900" indent="-342900"/>
            <a:r>
              <a:rPr lang="en-US" sz="2400" dirty="0"/>
              <a:t>Other cells move molecules through the cell in vesicles that are transported along protein fibers.</a:t>
            </a:r>
          </a:p>
        </p:txBody>
      </p:sp>
    </p:spTree>
    <p:extLst>
      <p:ext uri="{BB962C8B-B14F-4D97-AF65-F5344CB8AC3E}">
        <p14:creationId xmlns:p14="http://schemas.microsoft.com/office/powerpoint/2010/main" val="20719676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40434" y="191065"/>
            <a:ext cx="8293694" cy="1046440"/>
          </a:xfrm>
        </p:spPr>
        <p:txBody>
          <a:bodyPr lIns="0" tIns="0" rIns="0" bIns="0" anchor="ctr">
            <a:spAutoFit/>
          </a:bodyPr>
          <a:lstStyle/>
          <a:p>
            <a:r>
              <a:rPr lang="en-US" dirty="0">
                <a:latin typeface="+mj-lt"/>
              </a:rPr>
              <a:t>The Need for Adequate Concentrations of Reactants and Catalysts</a:t>
            </a: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40434" y="1489549"/>
            <a:ext cx="8293694" cy="2600712"/>
          </a:xfrm>
          <a:noFill/>
          <a:ln>
            <a:noFill/>
          </a:ln>
        </p:spPr>
        <p:txBody>
          <a:bodyPr lIns="0" tIns="0" rIns="0" bIns="0" anchor="t" anchorCtr="0">
            <a:spAutoFit/>
          </a:bodyPr>
          <a:lstStyle/>
          <a:p>
            <a:pPr marL="342900" indent="-342900"/>
            <a:r>
              <a:rPr lang="en-US" sz="2400" dirty="0"/>
              <a:t>For a reaction to occur, the reactants must collide with and bind to a particular enzyme.</a:t>
            </a:r>
          </a:p>
          <a:p>
            <a:pPr marL="342900" indent="-342900"/>
            <a:r>
              <a:rPr lang="en-US" sz="2400" dirty="0"/>
              <a:t>The frequency of such collisions is greatly increased by higher concentrations of enzymes and reactants.</a:t>
            </a:r>
          </a:p>
          <a:p>
            <a:pPr marL="342900" indent="-342900"/>
            <a:r>
              <a:rPr lang="en-US" sz="2400" dirty="0"/>
              <a:t>As cell size increases, the number of molecules increases proportionately with volume.</a:t>
            </a:r>
          </a:p>
        </p:txBody>
      </p:sp>
    </p:spTree>
    <p:extLst>
      <p:ext uri="{BB962C8B-B14F-4D97-AF65-F5344CB8AC3E}">
        <p14:creationId xmlns:p14="http://schemas.microsoft.com/office/powerpoint/2010/main" val="416797391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40434" y="166078"/>
            <a:ext cx="8293694" cy="1107996"/>
          </a:xfrm>
        </p:spPr>
        <p:txBody>
          <a:bodyPr lIns="0" tIns="0" rIns="0" bIns="0" anchor="ctr">
            <a:spAutoFit/>
          </a:bodyPr>
          <a:lstStyle/>
          <a:p>
            <a:r>
              <a:rPr lang="en-US" sz="3600" dirty="0">
                <a:latin typeface="+mj-lt"/>
              </a:rPr>
              <a:t>Compartmentalization of Cellular Activities</a:t>
            </a: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40434" y="1489546"/>
            <a:ext cx="8293694" cy="3708708"/>
          </a:xfrm>
          <a:noFill/>
          <a:ln>
            <a:noFill/>
          </a:ln>
        </p:spPr>
        <p:txBody>
          <a:bodyPr lIns="0" tIns="0" rIns="0" bIns="0" anchor="t" anchorCtr="0">
            <a:spAutoFit/>
          </a:bodyPr>
          <a:lstStyle/>
          <a:p>
            <a:pPr marL="342900" indent="-342900"/>
            <a:r>
              <a:rPr lang="en-US" sz="2400" dirty="0"/>
              <a:t>A solution to the concentration problem is the </a:t>
            </a:r>
            <a:r>
              <a:rPr lang="en-US" sz="2400" i="1" dirty="0"/>
              <a:t>compartmentalization of activities</a:t>
            </a:r>
            <a:r>
              <a:rPr lang="en-US" sz="2400" dirty="0"/>
              <a:t> within specific regions of the cell.</a:t>
            </a:r>
          </a:p>
          <a:p>
            <a:pPr marL="342900" indent="-342900"/>
            <a:r>
              <a:rPr lang="en-US" sz="2400" dirty="0"/>
              <a:t>Most eukaryotic cells have a variety of </a:t>
            </a:r>
            <a:r>
              <a:rPr lang="en-US" sz="2400" b="1" dirty="0"/>
              <a:t>organelles</a:t>
            </a:r>
            <a:r>
              <a:rPr lang="en-US" sz="2400" dirty="0"/>
              <a:t>, membrane-bounded compartments that are specialized for specific functions.</a:t>
            </a:r>
          </a:p>
          <a:p>
            <a:pPr marL="342900" indent="-342900"/>
            <a:r>
              <a:rPr lang="en-US" sz="2400" dirty="0"/>
              <a:t>For example, cells in a plant leaf have most of the materials needed for photosynthesis compartmentalized into structures called </a:t>
            </a:r>
            <a:r>
              <a:rPr lang="en-US" sz="2400" i="1" dirty="0"/>
              <a:t>chloroplasts</a:t>
            </a:r>
            <a:r>
              <a:rPr lang="en-US" sz="2400" dirty="0"/>
              <a:t>.</a:t>
            </a:r>
          </a:p>
        </p:txBody>
      </p:sp>
    </p:spTree>
    <p:extLst>
      <p:ext uri="{BB962C8B-B14F-4D97-AF65-F5344CB8AC3E}">
        <p14:creationId xmlns:p14="http://schemas.microsoft.com/office/powerpoint/2010/main" val="249769691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40434" y="166078"/>
            <a:ext cx="8293694" cy="1107996"/>
          </a:xfrm>
        </p:spPr>
        <p:txBody>
          <a:bodyPr lIns="0" tIns="0" rIns="0" bIns="0" anchor="ctr">
            <a:spAutoFit/>
          </a:bodyPr>
          <a:lstStyle/>
          <a:p>
            <a:r>
              <a:rPr lang="en-US" sz="3600" dirty="0">
                <a:latin typeface="+mj-lt"/>
              </a:rPr>
              <a:t>Bacteria, Archaea, and Eukaryotes Differ from Each Other in Many Ways</a:t>
            </a: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40434" y="1489549"/>
            <a:ext cx="8293694" cy="1669688"/>
          </a:xfrm>
          <a:noFill/>
          <a:ln>
            <a:noFill/>
          </a:ln>
        </p:spPr>
        <p:txBody>
          <a:bodyPr lIns="0" tIns="0" rIns="0" bIns="0" anchor="t" anchorCtr="0">
            <a:spAutoFit/>
          </a:bodyPr>
          <a:lstStyle/>
          <a:p>
            <a:pPr marL="342900" indent="-342900"/>
            <a:r>
              <a:rPr lang="en-US" sz="2400" dirty="0"/>
              <a:t>There are shared characteristics among cells of each of the domains, Bacteria, Archaea, and Eukarya.</a:t>
            </a:r>
          </a:p>
          <a:p>
            <a:pPr marL="342900" indent="-342900"/>
            <a:r>
              <a:rPr lang="en-US" sz="2400" dirty="0"/>
              <a:t>However, each type of cell has a unique set of distinguishing properties.</a:t>
            </a:r>
          </a:p>
        </p:txBody>
      </p:sp>
    </p:spTree>
    <p:extLst>
      <p:ext uri="{BB962C8B-B14F-4D97-AF65-F5344CB8AC3E}">
        <p14:creationId xmlns:p14="http://schemas.microsoft.com/office/powerpoint/2010/main" val="282448451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40434" y="166078"/>
            <a:ext cx="8293694" cy="1107996"/>
          </a:xfrm>
        </p:spPr>
        <p:txBody>
          <a:bodyPr lIns="0" tIns="0" rIns="0" bIns="0" anchor="ctr">
            <a:spAutoFit/>
          </a:bodyPr>
          <a:lstStyle/>
          <a:p>
            <a:r>
              <a:rPr lang="en-US" sz="3600" dirty="0">
                <a:latin typeface="+mj-lt"/>
              </a:rPr>
              <a:t>Presence of a Membrane-Bounded Nucleus</a:t>
            </a: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40434" y="1489547"/>
            <a:ext cx="8293694" cy="1669688"/>
          </a:xfrm>
          <a:noFill/>
          <a:ln>
            <a:noFill/>
          </a:ln>
        </p:spPr>
        <p:txBody>
          <a:bodyPr lIns="0" tIns="0" rIns="0" bIns="0" anchor="t" anchorCtr="0">
            <a:spAutoFit/>
          </a:bodyPr>
          <a:lstStyle/>
          <a:p>
            <a:pPr marL="342900" indent="-342900"/>
            <a:r>
              <a:rPr lang="en-US" sz="2400" dirty="0"/>
              <a:t>A eukaryotic cell has a true, membrane-bounded nucleus.</a:t>
            </a:r>
          </a:p>
          <a:p>
            <a:pPr marL="342900" indent="-342900"/>
            <a:r>
              <a:rPr lang="en-US" sz="2400" dirty="0"/>
              <a:t>The genetic information of a bacterial or archaeal cell is folded into a compact structure called the </a:t>
            </a:r>
            <a:r>
              <a:rPr lang="en-US" sz="2400" i="1" dirty="0"/>
              <a:t>nucleoid</a:t>
            </a:r>
            <a:r>
              <a:rPr lang="en-US" sz="2400" dirty="0"/>
              <a:t> and is attached to the cell membrane.</a:t>
            </a:r>
          </a:p>
        </p:txBody>
      </p:sp>
    </p:spTree>
    <p:extLst>
      <p:ext uri="{BB962C8B-B14F-4D97-AF65-F5344CB8AC3E}">
        <p14:creationId xmlns:p14="http://schemas.microsoft.com/office/powerpoint/2010/main" val="201634446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47984" y="216049"/>
            <a:ext cx="8229600" cy="492443"/>
          </a:xfrm>
        </p:spPr>
        <p:txBody>
          <a:bodyPr lIns="0" tIns="0" rIns="0" bIns="0" anchor="ctr">
            <a:spAutoFit/>
          </a:bodyPr>
          <a:lstStyle/>
          <a:p>
            <a:r>
              <a:rPr lang="en-US" sz="3200" dirty="0"/>
              <a:t>Structure of a Rod-Shaped Bacterial Cell</a:t>
            </a:r>
          </a:p>
        </p:txBody>
      </p:sp>
      <p:sp>
        <p:nvSpPr>
          <p:cNvPr id="6" name="Content Placeholder 5"/>
          <p:cNvSpPr>
            <a:spLocks noGrp="1"/>
          </p:cNvSpPr>
          <p:nvPr>
            <p:ph sz="quarter" idx="15"/>
          </p:nvPr>
        </p:nvSpPr>
        <p:spPr>
          <a:xfrm>
            <a:off x="447816" y="903542"/>
            <a:ext cx="8256234" cy="369332"/>
          </a:xfrm>
        </p:spPr>
        <p:txBody>
          <a:bodyPr lIns="0" tIns="0" rIns="0" bIns="0">
            <a:spAutoFit/>
          </a:bodyPr>
          <a:lstStyle/>
          <a:p>
            <a:pPr marL="0" indent="0">
              <a:buNone/>
            </a:pPr>
            <a:r>
              <a:rPr lang="en-US" sz="2400" b="1" dirty="0"/>
              <a:t>Figure 4.6 </a:t>
            </a:r>
            <a:r>
              <a:rPr lang="en-US" sz="2400" dirty="0"/>
              <a:t>Structure of a Rod-Shaped Bacterial Cell.</a:t>
            </a:r>
          </a:p>
        </p:txBody>
      </p:sp>
      <p:pic>
        <p:nvPicPr>
          <p:cNvPr id="5" name="Picture Placeholder 4" descr="An illustration of the cross section of a rod shaped bacterial cell shows the different parts. An electron micrograph shows multiple rod shaped bacteria.&#10;Long description is available in notes, press F6"/>
          <p:cNvPicPr>
            <a:picLocks noGrp="1" noChangeAspect="1"/>
          </p:cNvPicPr>
          <p:nvPr>
            <p:ph type="pic" sz="quarter" idx="16"/>
          </p:nvPr>
        </p:nvPicPr>
        <p:blipFill rotWithShape="1">
          <a:blip r:embed="rId3">
            <a:extLst>
              <a:ext uri="{28A0092B-C50C-407E-A947-70E740481C1C}">
                <a14:useLocalDpi xmlns:a14="http://schemas.microsoft.com/office/drawing/2010/main" val="0"/>
              </a:ext>
            </a:extLst>
          </a:blip>
          <a:srcRect b="4616"/>
          <a:stretch/>
        </p:blipFill>
        <p:spPr>
          <a:xfrm>
            <a:off x="505553" y="1726510"/>
            <a:ext cx="8143390" cy="2921106"/>
          </a:xfrm>
        </p:spPr>
      </p:pic>
    </p:spTree>
    <p:extLst>
      <p:ext uri="{BB962C8B-B14F-4D97-AF65-F5344CB8AC3E}">
        <p14:creationId xmlns:p14="http://schemas.microsoft.com/office/powerpoint/2010/main" val="103170386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40434" y="159846"/>
            <a:ext cx="8302240" cy="1107996"/>
          </a:xfrm>
        </p:spPr>
        <p:txBody>
          <a:bodyPr lIns="0" tIns="0" rIns="0" bIns="0" anchor="ctr">
            <a:spAutoFit/>
          </a:bodyPr>
          <a:lstStyle/>
          <a:p>
            <a:r>
              <a:rPr lang="en-US" sz="3600" dirty="0">
                <a:latin typeface="+mj-lt"/>
              </a:rPr>
              <a:t>Use of Internal Membranes to Segregate Function</a:t>
            </a: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40434" y="1492480"/>
            <a:ext cx="8302240" cy="2970044"/>
          </a:xfrm>
        </p:spPr>
        <p:txBody>
          <a:bodyPr lIns="0" tIns="0" rIns="0" bIns="0">
            <a:spAutoFit/>
          </a:bodyPr>
          <a:lstStyle/>
          <a:p>
            <a:pPr marL="342900" indent="-342900"/>
            <a:r>
              <a:rPr lang="en-US" sz="2400" dirty="0"/>
              <a:t>Bacterial and archaeal cells do not usually contain internal membranes.</a:t>
            </a:r>
          </a:p>
          <a:p>
            <a:pPr marL="342900" indent="-342900"/>
            <a:r>
              <a:rPr lang="en-US" sz="2400" dirty="0"/>
              <a:t>A group of photosynthetic bacteria (</a:t>
            </a:r>
            <a:r>
              <a:rPr lang="en-US" sz="2400" i="1" dirty="0"/>
              <a:t>cyanobacteria</a:t>
            </a:r>
            <a:r>
              <a:rPr lang="en-US" sz="2400" dirty="0"/>
              <a:t>) have extensive internal membranes upon which photosynthetic reactions are carried out.</a:t>
            </a:r>
          </a:p>
          <a:p>
            <a:pPr marL="342900" indent="-342900"/>
            <a:r>
              <a:rPr lang="en-US" sz="2400" dirty="0"/>
              <a:t>Some bacteria have membrane-bound or protein-lined structures that serve as (or resemble) organelles.</a:t>
            </a:r>
          </a:p>
        </p:txBody>
      </p:sp>
    </p:spTree>
    <p:extLst>
      <p:ext uri="{BB962C8B-B14F-4D97-AF65-F5344CB8AC3E}">
        <p14:creationId xmlns:p14="http://schemas.microsoft.com/office/powerpoint/2010/main" val="58423528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40434" y="159382"/>
            <a:ext cx="8302240" cy="553998"/>
          </a:xfrm>
        </p:spPr>
        <p:txBody>
          <a:bodyPr lIns="0" tIns="0" rIns="0" bIns="0" anchor="ctr">
            <a:spAutoFit/>
          </a:bodyPr>
          <a:lstStyle/>
          <a:p>
            <a:r>
              <a:rPr lang="en-US" sz="3600" dirty="0">
                <a:latin typeface="+mj-lt"/>
              </a:rPr>
              <a:t>Internal Membranes in Eukaryotes</a:t>
            </a: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40434" y="1087033"/>
            <a:ext cx="8302240" cy="3708708"/>
          </a:xfrm>
        </p:spPr>
        <p:txBody>
          <a:bodyPr lIns="0" tIns="0" rIns="0" bIns="0">
            <a:spAutoFit/>
          </a:bodyPr>
          <a:lstStyle/>
          <a:p>
            <a:pPr marL="342900" indent="-342900"/>
            <a:r>
              <a:rPr lang="en-US" sz="2400" dirty="0"/>
              <a:t>Nearly all eukaryotes make extensive use of internal membranes to compartmentalize specific functions and have numerous organelles.</a:t>
            </a:r>
          </a:p>
          <a:p>
            <a:pPr marL="342900" indent="-342900"/>
            <a:r>
              <a:rPr lang="en-US" sz="2400" dirty="0"/>
              <a:t>Examples: </a:t>
            </a:r>
            <a:r>
              <a:rPr lang="en-US" sz="2400" i="1" dirty="0"/>
              <a:t>endoplasmic reticulum, Golgi complex, mitochondria, chloroplasts, lysosomes, peroxisomes</a:t>
            </a:r>
            <a:r>
              <a:rPr lang="en-US" sz="2400" dirty="0"/>
              <a:t>, and various types of </a:t>
            </a:r>
            <a:r>
              <a:rPr lang="en-US" sz="2400" i="1" dirty="0"/>
              <a:t>vacuoles</a:t>
            </a:r>
            <a:r>
              <a:rPr lang="en-US" sz="2400" dirty="0"/>
              <a:t> and </a:t>
            </a:r>
            <a:r>
              <a:rPr lang="en-US" sz="2400" i="1" dirty="0"/>
              <a:t>vesicles</a:t>
            </a:r>
            <a:r>
              <a:rPr lang="en-US" sz="2400" dirty="0"/>
              <a:t>.</a:t>
            </a:r>
          </a:p>
          <a:p>
            <a:pPr marL="342900" indent="-342900"/>
            <a:r>
              <a:rPr lang="en-US" sz="2400" dirty="0"/>
              <a:t>Each organelle contains the materials and molecular machinery needed to carry out the functions for which the structure is specialized.</a:t>
            </a:r>
          </a:p>
        </p:txBody>
      </p:sp>
    </p:spTree>
    <p:extLst>
      <p:ext uri="{BB962C8B-B14F-4D97-AF65-F5344CB8AC3E}">
        <p14:creationId xmlns:p14="http://schemas.microsoft.com/office/powerpoint/2010/main" val="282494999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47984" y="158494"/>
            <a:ext cx="8229600" cy="553998"/>
          </a:xfrm>
        </p:spPr>
        <p:txBody>
          <a:bodyPr lIns="0" tIns="0" rIns="0" bIns="0" anchor="ctr">
            <a:spAutoFit/>
          </a:bodyPr>
          <a:lstStyle/>
          <a:p>
            <a:r>
              <a:rPr lang="en-US" dirty="0"/>
              <a:t>An Animal Cell</a:t>
            </a:r>
            <a:endParaRPr lang="en-US" sz="2800" dirty="0"/>
          </a:p>
        </p:txBody>
      </p:sp>
      <p:sp>
        <p:nvSpPr>
          <p:cNvPr id="6" name="Content Placeholder 5"/>
          <p:cNvSpPr>
            <a:spLocks noGrp="1"/>
          </p:cNvSpPr>
          <p:nvPr>
            <p:ph sz="quarter" idx="15"/>
          </p:nvPr>
        </p:nvSpPr>
        <p:spPr>
          <a:xfrm>
            <a:off x="447816" y="885385"/>
            <a:ext cx="8256234" cy="369332"/>
          </a:xfrm>
        </p:spPr>
        <p:txBody>
          <a:bodyPr wrap="square" lIns="0" tIns="0" rIns="0" bIns="0">
            <a:spAutoFit/>
          </a:bodyPr>
          <a:lstStyle/>
          <a:p>
            <a:pPr marL="0" indent="0">
              <a:buNone/>
            </a:pPr>
            <a:r>
              <a:rPr lang="en-US" sz="2400" b="1" dirty="0"/>
              <a:t>Figure 4.7</a:t>
            </a:r>
            <a:r>
              <a:rPr lang="en-US" sz="2400" dirty="0"/>
              <a:t> An Animal Cell. </a:t>
            </a:r>
          </a:p>
        </p:txBody>
      </p:sp>
      <p:pic>
        <p:nvPicPr>
          <p:cNvPr id="4" name="Picture Placeholder 3" descr="The drawing of an animal cell comprises of various parts within an outer cell membrane layer. The cell is suspended in an extracellular matrix.&#10;Long description is available in notes, press F6"/>
          <p:cNvPicPr>
            <a:picLocks noGrp="1" noChangeAspect="1"/>
          </p:cNvPicPr>
          <p:nvPr>
            <p:ph type="pic" sz="quarter" idx="16"/>
          </p:nvPr>
        </p:nvPicPr>
        <p:blipFill rotWithShape="1">
          <a:blip r:embed="rId3">
            <a:extLst>
              <a:ext uri="{28A0092B-C50C-407E-A947-70E740481C1C}">
                <a14:useLocalDpi xmlns:a14="http://schemas.microsoft.com/office/drawing/2010/main" val="0"/>
              </a:ext>
            </a:extLst>
          </a:blip>
          <a:srcRect b="2431"/>
          <a:stretch/>
        </p:blipFill>
        <p:spPr>
          <a:xfrm>
            <a:off x="1669390" y="1496176"/>
            <a:ext cx="5805220" cy="4823310"/>
          </a:xfrm>
        </p:spPr>
      </p:pic>
    </p:spTree>
    <p:extLst>
      <p:ext uri="{BB962C8B-B14F-4D97-AF65-F5344CB8AC3E}">
        <p14:creationId xmlns:p14="http://schemas.microsoft.com/office/powerpoint/2010/main" val="385842481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47984" y="158494"/>
            <a:ext cx="8229600" cy="553998"/>
          </a:xfrm>
        </p:spPr>
        <p:txBody>
          <a:bodyPr lIns="0" tIns="0" rIns="0" bIns="0" anchor="ctr">
            <a:spAutoFit/>
          </a:bodyPr>
          <a:lstStyle/>
          <a:p>
            <a:r>
              <a:rPr lang="en-US" dirty="0"/>
              <a:t>A Plant Cell</a:t>
            </a:r>
            <a:endParaRPr lang="en-US" sz="2800" dirty="0"/>
          </a:p>
        </p:txBody>
      </p:sp>
      <p:sp>
        <p:nvSpPr>
          <p:cNvPr id="6" name="Content Placeholder 5"/>
          <p:cNvSpPr>
            <a:spLocks noGrp="1"/>
          </p:cNvSpPr>
          <p:nvPr>
            <p:ph sz="quarter" idx="15"/>
          </p:nvPr>
        </p:nvSpPr>
        <p:spPr>
          <a:xfrm>
            <a:off x="447816" y="886802"/>
            <a:ext cx="8256234" cy="369332"/>
          </a:xfrm>
        </p:spPr>
        <p:txBody>
          <a:bodyPr lIns="0" tIns="0" rIns="0" bIns="0">
            <a:spAutoFit/>
          </a:bodyPr>
          <a:lstStyle/>
          <a:p>
            <a:pPr marL="0" indent="0">
              <a:buNone/>
            </a:pPr>
            <a:r>
              <a:rPr lang="en-US" sz="2400" b="1" dirty="0"/>
              <a:t>Figure 4.8</a:t>
            </a:r>
            <a:r>
              <a:rPr lang="en-US" sz="2400" dirty="0"/>
              <a:t> A Plant Cell.</a:t>
            </a:r>
          </a:p>
        </p:txBody>
      </p:sp>
      <p:pic>
        <p:nvPicPr>
          <p:cNvPr id="5" name="Picture Placeholder 4" descr="The drawing of a plant cell shows different parts within an outer cell wall and an inner cell membrane layer. Long description is available in notes, press F6"/>
          <p:cNvPicPr>
            <a:picLocks noGrp="1" noChangeAspect="1"/>
          </p:cNvPicPr>
          <p:nvPr>
            <p:ph type="pic" sz="quarter" idx="16"/>
          </p:nvPr>
        </p:nvPicPr>
        <p:blipFill rotWithShape="1">
          <a:blip r:embed="rId3">
            <a:extLst>
              <a:ext uri="{28A0092B-C50C-407E-A947-70E740481C1C}">
                <a14:useLocalDpi xmlns:a14="http://schemas.microsoft.com/office/drawing/2010/main" val="0"/>
              </a:ext>
            </a:extLst>
          </a:blip>
          <a:srcRect b="2935"/>
          <a:stretch/>
        </p:blipFill>
        <p:spPr>
          <a:xfrm>
            <a:off x="1701011" y="1461177"/>
            <a:ext cx="5741978" cy="4866008"/>
          </a:xfrm>
        </p:spPr>
      </p:pic>
    </p:spTree>
    <p:extLst>
      <p:ext uri="{BB962C8B-B14F-4D97-AF65-F5344CB8AC3E}">
        <p14:creationId xmlns:p14="http://schemas.microsoft.com/office/powerpoint/2010/main" val="117989682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40434" y="159383"/>
            <a:ext cx="8302240" cy="553998"/>
          </a:xfrm>
        </p:spPr>
        <p:txBody>
          <a:bodyPr lIns="0" tIns="0" rIns="0" bIns="0" anchor="ctr">
            <a:spAutoFit/>
          </a:bodyPr>
          <a:lstStyle/>
          <a:p>
            <a:r>
              <a:rPr lang="en-US" sz="3600" dirty="0">
                <a:latin typeface="+mj-lt"/>
              </a:rPr>
              <a:t>Exocytosis and Endocytosis </a:t>
            </a: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40434" y="1078407"/>
            <a:ext cx="8302240" cy="2039020"/>
          </a:xfrm>
          <a:noFill/>
          <a:ln>
            <a:noFill/>
          </a:ln>
        </p:spPr>
        <p:txBody>
          <a:bodyPr lIns="0" tIns="0" rIns="0" bIns="0" anchor="t" anchorCtr="0">
            <a:spAutoFit/>
          </a:bodyPr>
          <a:lstStyle/>
          <a:p>
            <a:pPr marL="342900" indent="-342900"/>
            <a:r>
              <a:rPr lang="en-US" sz="2400" dirty="0"/>
              <a:t>Eukaryotic cells can exchange materials between compartments within the cell and the exterior of the cell.</a:t>
            </a:r>
          </a:p>
          <a:p>
            <a:pPr marL="342900" indent="-342900"/>
            <a:r>
              <a:rPr lang="en-US" sz="2400" dirty="0"/>
              <a:t>This is possible through </a:t>
            </a:r>
            <a:r>
              <a:rPr lang="en-US" sz="2400" i="1" dirty="0"/>
              <a:t>exocytosis</a:t>
            </a:r>
            <a:r>
              <a:rPr lang="en-US" sz="2400" dirty="0"/>
              <a:t> and </a:t>
            </a:r>
            <a:r>
              <a:rPr lang="en-US" sz="2400" i="1" dirty="0"/>
              <a:t>endocytosis</a:t>
            </a:r>
            <a:r>
              <a:rPr lang="en-US" sz="2400" dirty="0"/>
              <a:t>, processes involving membrane fusion events unique to eukaryotic cells.</a:t>
            </a:r>
          </a:p>
        </p:txBody>
      </p:sp>
    </p:spTree>
    <p:extLst>
      <p:ext uri="{BB962C8B-B14F-4D97-AF65-F5344CB8AC3E}">
        <p14:creationId xmlns:p14="http://schemas.microsoft.com/office/powerpoint/2010/main" val="415301378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47984" y="158496"/>
            <a:ext cx="8229600" cy="553998"/>
          </a:xfrm>
        </p:spPr>
        <p:txBody>
          <a:bodyPr lIns="0" tIns="0" rIns="0" bIns="0" anchor="ctr">
            <a:spAutoFit/>
          </a:bodyPr>
          <a:lstStyle/>
          <a:p>
            <a:r>
              <a:rPr lang="en-US" dirty="0"/>
              <a:t>Vesicle Transport</a:t>
            </a:r>
          </a:p>
        </p:txBody>
      </p:sp>
      <p:sp>
        <p:nvSpPr>
          <p:cNvPr id="6" name="Content Placeholder 5"/>
          <p:cNvSpPr>
            <a:spLocks noGrp="1"/>
          </p:cNvSpPr>
          <p:nvPr>
            <p:ph sz="quarter" idx="15"/>
          </p:nvPr>
        </p:nvSpPr>
        <p:spPr>
          <a:xfrm>
            <a:off x="447816" y="916040"/>
            <a:ext cx="8256234" cy="369332"/>
          </a:xfrm>
        </p:spPr>
        <p:txBody>
          <a:bodyPr lIns="0" tIns="0" rIns="0" bIns="0">
            <a:spAutoFit/>
          </a:bodyPr>
          <a:lstStyle/>
          <a:p>
            <a:pPr marL="0" indent="0">
              <a:buNone/>
            </a:pPr>
            <a:r>
              <a:rPr lang="en-US" sz="2400" b="1" dirty="0"/>
              <a:t>Figure 4.9</a:t>
            </a:r>
            <a:r>
              <a:rPr lang="en-US" sz="2400" dirty="0"/>
              <a:t> Vesicle Transport. </a:t>
            </a:r>
          </a:p>
        </p:txBody>
      </p:sp>
      <p:pic>
        <p:nvPicPr>
          <p:cNvPr id="4" name="Picture Placeholder 3" descr="A microscopic image of vesicle transport shows two vesicles attached to a microtubule in cytoplasm. The vesicles look to travel along the path of the microtubule. The measurement at the left bottom corner reads 75 nanometer."/>
          <p:cNvPicPr>
            <a:picLocks noGrp="1" noChangeAspect="1"/>
          </p:cNvPicPr>
          <p:nvPr>
            <p:ph type="pic" sz="quarter" idx="16"/>
          </p:nvPr>
        </p:nvPicPr>
        <p:blipFill rotWithShape="1">
          <a:blip r:embed="rId3">
            <a:extLst>
              <a:ext uri="{28A0092B-C50C-407E-A947-70E740481C1C}">
                <a14:useLocalDpi xmlns:a14="http://schemas.microsoft.com/office/drawing/2010/main" val="0"/>
              </a:ext>
            </a:extLst>
          </a:blip>
          <a:srcRect b="2875"/>
          <a:stretch/>
        </p:blipFill>
        <p:spPr>
          <a:xfrm>
            <a:off x="1132891" y="1508666"/>
            <a:ext cx="6878219" cy="4797536"/>
          </a:xfrm>
        </p:spPr>
      </p:pic>
    </p:spTree>
    <p:extLst>
      <p:ext uri="{BB962C8B-B14F-4D97-AF65-F5344CB8AC3E}">
        <p14:creationId xmlns:p14="http://schemas.microsoft.com/office/powerpoint/2010/main" val="2441091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40434" y="159383"/>
            <a:ext cx="8302240" cy="553998"/>
          </a:xfrm>
        </p:spPr>
        <p:txBody>
          <a:bodyPr lIns="0" tIns="0" rIns="0" bIns="0" anchor="ctr">
            <a:spAutoFit/>
          </a:bodyPr>
          <a:lstStyle/>
          <a:p>
            <a:r>
              <a:rPr lang="en-US" sz="3600" dirty="0">
                <a:latin typeface="+mj-lt"/>
              </a:rPr>
              <a:t>Organization of </a:t>
            </a:r>
            <a:r>
              <a:rPr lang="en-US" sz="3600" spc="-500" dirty="0">
                <a:latin typeface="+mj-lt"/>
              </a:rPr>
              <a:t>D N </a:t>
            </a:r>
            <a:r>
              <a:rPr lang="en-US" sz="3600" dirty="0">
                <a:latin typeface="+mj-lt"/>
              </a:rPr>
              <a:t>A </a:t>
            </a: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40434" y="1078409"/>
            <a:ext cx="8302240" cy="2970044"/>
          </a:xfrm>
          <a:noFill/>
          <a:ln>
            <a:noFill/>
          </a:ln>
        </p:spPr>
        <p:txBody>
          <a:bodyPr lIns="0" tIns="0" rIns="0" bIns="0" anchor="t" anchorCtr="0">
            <a:spAutoFit/>
          </a:bodyPr>
          <a:lstStyle/>
          <a:p>
            <a:pPr marL="342900" indent="-342900"/>
            <a:r>
              <a:rPr lang="en-US" sz="2400" dirty="0"/>
              <a:t>Bacterial </a:t>
            </a:r>
            <a:r>
              <a:rPr lang="en-US" sz="2400" spc="-300" dirty="0"/>
              <a:t>D N </a:t>
            </a:r>
            <a:r>
              <a:rPr lang="en-US" sz="2400" dirty="0"/>
              <a:t>A is present in the cell as a circular molecule, called a </a:t>
            </a:r>
            <a:r>
              <a:rPr lang="en-US" sz="2400" b="1" dirty="0"/>
              <a:t>chromosome</a:t>
            </a:r>
            <a:r>
              <a:rPr lang="en-US" sz="2400" dirty="0"/>
              <a:t>, associated with few proteins.</a:t>
            </a:r>
          </a:p>
          <a:p>
            <a:pPr marL="342900" indent="-342900"/>
            <a:r>
              <a:rPr lang="en-US" sz="2400" dirty="0"/>
              <a:t>Eukaryotic </a:t>
            </a:r>
            <a:r>
              <a:rPr lang="en-US" sz="2400" spc="-300" dirty="0"/>
              <a:t>D N </a:t>
            </a:r>
            <a:r>
              <a:rPr lang="en-US" sz="2400" dirty="0"/>
              <a:t>A is organized into linear molecules (chromosomes) complexed with large amounts of proteins called </a:t>
            </a:r>
            <a:r>
              <a:rPr lang="en-US" sz="2400" i="1" dirty="0"/>
              <a:t>histones</a:t>
            </a:r>
            <a:r>
              <a:rPr lang="en-US" sz="2400" dirty="0"/>
              <a:t>.</a:t>
            </a:r>
          </a:p>
          <a:p>
            <a:pPr marL="342900" indent="-342900"/>
            <a:r>
              <a:rPr lang="en-US" sz="2400" dirty="0"/>
              <a:t>Archaeal </a:t>
            </a:r>
            <a:r>
              <a:rPr lang="en-US" sz="2400" spc="-300" dirty="0"/>
              <a:t>D N </a:t>
            </a:r>
            <a:r>
              <a:rPr lang="en-US" sz="2400" dirty="0"/>
              <a:t>A is circular and complexed with proteins similar to eukaryotic histone proteins.</a:t>
            </a:r>
          </a:p>
        </p:txBody>
      </p:sp>
    </p:spTree>
    <p:extLst>
      <p:ext uri="{BB962C8B-B14F-4D97-AF65-F5344CB8AC3E}">
        <p14:creationId xmlns:p14="http://schemas.microsoft.com/office/powerpoint/2010/main" val="26464405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40434" y="159383"/>
            <a:ext cx="8302240" cy="553998"/>
          </a:xfrm>
        </p:spPr>
        <p:txBody>
          <a:bodyPr lIns="0" tIns="0" rIns="0" bIns="0" anchor="ctr">
            <a:spAutoFit/>
          </a:bodyPr>
          <a:lstStyle/>
          <a:p>
            <a:r>
              <a:rPr lang="en-US" sz="3600" spc="-500" dirty="0">
                <a:latin typeface="+mj-lt"/>
              </a:rPr>
              <a:t>D N </a:t>
            </a:r>
            <a:r>
              <a:rPr lang="en-US" sz="3600" dirty="0">
                <a:latin typeface="+mj-lt"/>
              </a:rPr>
              <a:t>A Packaging</a:t>
            </a: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40434" y="1087037"/>
            <a:ext cx="8302240" cy="3339376"/>
          </a:xfrm>
          <a:noFill/>
          <a:ln>
            <a:noFill/>
          </a:ln>
        </p:spPr>
        <p:txBody>
          <a:bodyPr lIns="0" tIns="0" rIns="0" bIns="0" anchor="t" anchorCtr="0">
            <a:spAutoFit/>
          </a:bodyPr>
          <a:lstStyle/>
          <a:p>
            <a:pPr marL="342900" indent="-342900"/>
            <a:r>
              <a:rPr lang="en-US" sz="2400" dirty="0"/>
              <a:t>The circular </a:t>
            </a:r>
            <a:r>
              <a:rPr lang="en-US" sz="2400" spc="-300" dirty="0"/>
              <a:t>D N </a:t>
            </a:r>
            <a:r>
              <a:rPr lang="en-US" sz="2400" dirty="0"/>
              <a:t>A of bacteria or archaea is much longer than the cell itself and so must be folded and packed tightly, equivalent to packing about 60 feet of thread into a thimble.</a:t>
            </a:r>
          </a:p>
          <a:p>
            <a:pPr marL="342900" indent="-342900"/>
            <a:r>
              <a:rPr lang="en-US" sz="2400" dirty="0"/>
              <a:t>Eukaryotic cells have about 1000 times more </a:t>
            </a:r>
            <a:r>
              <a:rPr lang="en-US" sz="2400" spc="-300" dirty="0"/>
              <a:t>D N </a:t>
            </a:r>
            <a:r>
              <a:rPr lang="en-US" sz="2400" dirty="0"/>
              <a:t>A than bacteria. </a:t>
            </a:r>
          </a:p>
          <a:p>
            <a:pPr marL="342900" indent="-342900"/>
            <a:r>
              <a:rPr lang="en-US" sz="2400" dirty="0"/>
              <a:t>The problem of </a:t>
            </a:r>
            <a:r>
              <a:rPr lang="en-US" sz="2400" spc="-300" dirty="0"/>
              <a:t>D N </a:t>
            </a:r>
            <a:r>
              <a:rPr lang="en-US" sz="2400" dirty="0"/>
              <a:t>A packaging is solved among eukaryotes by organizing the </a:t>
            </a:r>
            <a:r>
              <a:rPr lang="en-US" sz="2400" spc="-300" dirty="0"/>
              <a:t>D N </a:t>
            </a:r>
            <a:r>
              <a:rPr lang="en-US" sz="2400" dirty="0"/>
              <a:t>A into </a:t>
            </a:r>
            <a:r>
              <a:rPr lang="en-US" sz="2400" b="1" dirty="0"/>
              <a:t>chromosomes</a:t>
            </a:r>
            <a:r>
              <a:rPr lang="en-US" sz="2400" dirty="0"/>
              <a:t>.</a:t>
            </a:r>
          </a:p>
        </p:txBody>
      </p:sp>
    </p:spTree>
    <p:extLst>
      <p:ext uri="{BB962C8B-B14F-4D97-AF65-F5344CB8AC3E}">
        <p14:creationId xmlns:p14="http://schemas.microsoft.com/office/powerpoint/2010/main" val="308713873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47984" y="158496"/>
            <a:ext cx="8229600" cy="553998"/>
          </a:xfrm>
        </p:spPr>
        <p:txBody>
          <a:bodyPr lIns="0" tIns="0" rIns="0" bIns="0" anchor="ctr">
            <a:spAutoFit/>
          </a:bodyPr>
          <a:lstStyle/>
          <a:p>
            <a:r>
              <a:rPr lang="en-US" dirty="0"/>
              <a:t>A Pair of Eukaryotic Chromosomes</a:t>
            </a:r>
          </a:p>
        </p:txBody>
      </p:sp>
      <p:sp>
        <p:nvSpPr>
          <p:cNvPr id="6" name="Content Placeholder 5"/>
          <p:cNvSpPr>
            <a:spLocks noGrp="1"/>
          </p:cNvSpPr>
          <p:nvPr>
            <p:ph sz="quarter" idx="15"/>
          </p:nvPr>
        </p:nvSpPr>
        <p:spPr>
          <a:xfrm>
            <a:off x="447816" y="984404"/>
            <a:ext cx="8256234" cy="369332"/>
          </a:xfrm>
        </p:spPr>
        <p:txBody>
          <a:bodyPr lIns="0" tIns="0" rIns="0" bIns="0">
            <a:spAutoFit/>
          </a:bodyPr>
          <a:lstStyle/>
          <a:p>
            <a:pPr marL="0" indent="0">
              <a:buNone/>
            </a:pPr>
            <a:r>
              <a:rPr lang="en-US" sz="2400" b="1" dirty="0"/>
              <a:t>Figure 4.10</a:t>
            </a:r>
            <a:r>
              <a:rPr lang="en-US" sz="2400" dirty="0"/>
              <a:t> A Pair of Eukaryotic Chromosomes. </a:t>
            </a:r>
          </a:p>
        </p:txBody>
      </p:sp>
      <p:pic>
        <p:nvPicPr>
          <p:cNvPr id="5" name="Picture Placeholder 4" descr="A microscopic image of a pair of eukaryotic chromosomes are highly coiled and condensed. Each chromosome shows four divisions, two at the top and two at the bottom, that are attached together at the center.&#10;Long description is available in notes, press F6"/>
          <p:cNvPicPr>
            <a:picLocks noGrp="1" noChangeAspect="1"/>
          </p:cNvPicPr>
          <p:nvPr>
            <p:ph type="pic" sz="quarter" idx="16"/>
          </p:nvPr>
        </p:nvPicPr>
        <p:blipFill rotWithShape="1">
          <a:blip r:embed="rId3">
            <a:extLst>
              <a:ext uri="{28A0092B-C50C-407E-A947-70E740481C1C}">
                <a14:useLocalDpi xmlns:a14="http://schemas.microsoft.com/office/drawing/2010/main" val="0"/>
              </a:ext>
            </a:extLst>
          </a:blip>
          <a:srcRect b="2945"/>
          <a:stretch/>
        </p:blipFill>
        <p:spPr>
          <a:xfrm>
            <a:off x="1706627" y="1552486"/>
            <a:ext cx="5730746" cy="4769914"/>
          </a:xfrm>
        </p:spPr>
      </p:pic>
    </p:spTree>
    <p:extLst>
      <p:ext uri="{BB962C8B-B14F-4D97-AF65-F5344CB8AC3E}">
        <p14:creationId xmlns:p14="http://schemas.microsoft.com/office/powerpoint/2010/main" val="208356724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40434" y="159383"/>
            <a:ext cx="8302240" cy="553998"/>
          </a:xfrm>
        </p:spPr>
        <p:txBody>
          <a:bodyPr lIns="0" tIns="0" rIns="0" bIns="0" anchor="ctr">
            <a:spAutoFit/>
          </a:bodyPr>
          <a:lstStyle/>
          <a:p>
            <a:r>
              <a:rPr lang="en-US" sz="3600" dirty="0">
                <a:latin typeface="+mj-lt"/>
              </a:rPr>
              <a:t>Segregation of Genetic Information</a:t>
            </a: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40434" y="1087038"/>
            <a:ext cx="8302240" cy="3339376"/>
          </a:xfrm>
          <a:noFill/>
          <a:ln>
            <a:noFill/>
          </a:ln>
        </p:spPr>
        <p:txBody>
          <a:bodyPr lIns="0" tIns="0" rIns="0" bIns="0" anchor="t" anchorCtr="0">
            <a:spAutoFit/>
          </a:bodyPr>
          <a:lstStyle/>
          <a:p>
            <a:pPr marL="342900" indent="-342900"/>
            <a:r>
              <a:rPr lang="en-US" sz="2400" dirty="0"/>
              <a:t>Prokaryotes and eukaryotes differ in how genetic information is allocated to daughter cells upon division.</a:t>
            </a:r>
          </a:p>
          <a:p>
            <a:pPr marL="342900" indent="-342900"/>
            <a:r>
              <a:rPr lang="en-US" sz="2400" dirty="0"/>
              <a:t>Bacterial and archaeal cells replicate their </a:t>
            </a:r>
            <a:r>
              <a:rPr lang="en-US" sz="2400" spc="-300" dirty="0"/>
              <a:t>D N </a:t>
            </a:r>
            <a:r>
              <a:rPr lang="en-US" sz="2400" dirty="0"/>
              <a:t>A and divide by </a:t>
            </a:r>
            <a:r>
              <a:rPr lang="en-US" sz="2400" i="1" dirty="0"/>
              <a:t>binary fission</a:t>
            </a:r>
            <a:r>
              <a:rPr lang="en-US" sz="2400" dirty="0"/>
              <a:t>, with one molecule of the replicated </a:t>
            </a:r>
            <a:r>
              <a:rPr lang="en-US" sz="2400" spc="-300" dirty="0"/>
              <a:t>D N </a:t>
            </a:r>
            <a:r>
              <a:rPr lang="en-US" sz="2400" dirty="0"/>
              <a:t>A and the cytoplasm going into each daughter cell.</a:t>
            </a:r>
          </a:p>
          <a:p>
            <a:pPr marL="342900" indent="-342900"/>
            <a:r>
              <a:rPr lang="en-US" sz="2400" dirty="0"/>
              <a:t>Eukaryotic cells replicate </a:t>
            </a:r>
            <a:r>
              <a:rPr lang="en-US" sz="2400" spc="-300" dirty="0"/>
              <a:t>D N </a:t>
            </a:r>
            <a:r>
              <a:rPr lang="en-US" sz="2400" dirty="0"/>
              <a:t>A and then distribute their chromosomes into daughter cells by </a:t>
            </a:r>
            <a:r>
              <a:rPr lang="en-US" sz="2400" i="1" dirty="0"/>
              <a:t>mitosis</a:t>
            </a:r>
            <a:r>
              <a:rPr lang="en-US" sz="2400" dirty="0"/>
              <a:t> and </a:t>
            </a:r>
            <a:r>
              <a:rPr lang="en-US" sz="2400" i="1" dirty="0"/>
              <a:t>meiosis</a:t>
            </a:r>
            <a:r>
              <a:rPr lang="en-US" sz="2400" dirty="0"/>
              <a:t>, followed by </a:t>
            </a:r>
            <a:r>
              <a:rPr lang="en-US" sz="2400" i="1" dirty="0"/>
              <a:t>cytokinesis</a:t>
            </a:r>
            <a:r>
              <a:rPr lang="en-US" sz="2400" dirty="0"/>
              <a:t>, division of the cytoplasm.</a:t>
            </a:r>
          </a:p>
        </p:txBody>
      </p:sp>
    </p:spTree>
    <p:extLst>
      <p:ext uri="{BB962C8B-B14F-4D97-AF65-F5344CB8AC3E}">
        <p14:creationId xmlns:p14="http://schemas.microsoft.com/office/powerpoint/2010/main" val="97835452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40434" y="159383"/>
            <a:ext cx="8302240" cy="553998"/>
          </a:xfrm>
        </p:spPr>
        <p:txBody>
          <a:bodyPr lIns="0" tIns="0" rIns="0" bIns="0" anchor="ctr">
            <a:spAutoFit/>
          </a:bodyPr>
          <a:lstStyle/>
          <a:p>
            <a:r>
              <a:rPr lang="en-US" sz="3600" dirty="0">
                <a:latin typeface="+mj-lt"/>
              </a:rPr>
              <a:t>Expression of </a:t>
            </a:r>
            <a:r>
              <a:rPr lang="en-US" sz="3600" spc="-500" dirty="0">
                <a:latin typeface="+mj-lt"/>
              </a:rPr>
              <a:t>D N </a:t>
            </a:r>
            <a:r>
              <a:rPr lang="en-US" sz="3600" dirty="0">
                <a:latin typeface="+mj-lt"/>
              </a:rPr>
              <a:t>A </a:t>
            </a:r>
            <a:r>
              <a:rPr lang="en-US" sz="2800" dirty="0">
                <a:latin typeface="+mj-lt"/>
              </a:rPr>
              <a:t>(1 of 2)</a:t>
            </a:r>
            <a:endParaRPr lang="en-US" sz="3600" dirty="0">
              <a:latin typeface="+mj-lt"/>
            </a:endParaRP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40434" y="1078409"/>
            <a:ext cx="8302240" cy="3901068"/>
          </a:xfrm>
          <a:noFill/>
          <a:ln>
            <a:noFill/>
          </a:ln>
        </p:spPr>
        <p:txBody>
          <a:bodyPr lIns="0" tIns="0" rIns="0" bIns="0" anchor="t" anchorCtr="0">
            <a:spAutoFit/>
          </a:bodyPr>
          <a:lstStyle/>
          <a:p>
            <a:pPr marL="342900" indent="-342900"/>
            <a:r>
              <a:rPr lang="en-US" sz="2400" dirty="0"/>
              <a:t>Eukaryotic cells transcribe genetic information in the nucleus into large </a:t>
            </a:r>
            <a:r>
              <a:rPr lang="en-US" sz="2400" spc="-300" dirty="0"/>
              <a:t>R N </a:t>
            </a:r>
            <a:r>
              <a:rPr lang="en-US" sz="2400" dirty="0"/>
              <a:t>A molecules that are processed and transported into the cytoplasm for protein synthesis.</a:t>
            </a:r>
          </a:p>
          <a:p>
            <a:pPr marL="342900" indent="-342900"/>
            <a:r>
              <a:rPr lang="en-US" sz="2400" dirty="0"/>
              <a:t>Each mature </a:t>
            </a:r>
            <a:r>
              <a:rPr lang="en-US" sz="2400" spc="-300" dirty="0"/>
              <a:t>R N </a:t>
            </a:r>
            <a:r>
              <a:rPr lang="en-US" sz="2400" dirty="0"/>
              <a:t>A molecule typically encodes one polypeptide.</a:t>
            </a:r>
          </a:p>
          <a:p>
            <a:pPr marL="342900" indent="-342900"/>
            <a:r>
              <a:rPr lang="en-US" sz="2400" dirty="0"/>
              <a:t>Bacteria transcribe genetic information into </a:t>
            </a:r>
            <a:r>
              <a:rPr lang="en-US" sz="2400" spc="-300" dirty="0"/>
              <a:t>R N </a:t>
            </a:r>
            <a:r>
              <a:rPr lang="en-US" sz="2400" dirty="0"/>
              <a:t>A, and the </a:t>
            </a:r>
            <a:r>
              <a:rPr lang="en-US" sz="2400" spc="-300" dirty="0"/>
              <a:t>R N </a:t>
            </a:r>
            <a:r>
              <a:rPr lang="en-US" sz="2400" dirty="0"/>
              <a:t>A molecules produced may</a:t>
            </a:r>
            <a:r>
              <a:rPr lang="en-US" sz="2400" baseline="0" dirty="0"/>
              <a:t> </a:t>
            </a:r>
            <a:r>
              <a:rPr lang="en-US" sz="2400" dirty="0"/>
              <a:t>contain information for several polypeptides.</a:t>
            </a:r>
          </a:p>
          <a:p>
            <a:pPr marL="342900" indent="-342900"/>
            <a:r>
              <a:rPr lang="en-US" sz="2400" dirty="0"/>
              <a:t>There is very little </a:t>
            </a:r>
            <a:r>
              <a:rPr lang="en-US" sz="2400" spc="-300" dirty="0"/>
              <a:t>R N </a:t>
            </a:r>
            <a:r>
              <a:rPr lang="en-US" sz="2400" dirty="0"/>
              <a:t>A processing in bacteria.</a:t>
            </a:r>
          </a:p>
        </p:txBody>
      </p:sp>
    </p:spTree>
    <p:extLst>
      <p:ext uri="{BB962C8B-B14F-4D97-AF65-F5344CB8AC3E}">
        <p14:creationId xmlns:p14="http://schemas.microsoft.com/office/powerpoint/2010/main" val="254440108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40434" y="159383"/>
            <a:ext cx="8302240" cy="553998"/>
          </a:xfrm>
        </p:spPr>
        <p:txBody>
          <a:bodyPr lIns="0" tIns="0" rIns="0" bIns="0" anchor="ctr">
            <a:spAutoFit/>
          </a:bodyPr>
          <a:lstStyle/>
          <a:p>
            <a:r>
              <a:rPr lang="en-US" sz="3600" dirty="0">
                <a:latin typeface="+mj-lt"/>
              </a:rPr>
              <a:t>Expression of </a:t>
            </a:r>
            <a:r>
              <a:rPr lang="en-US" sz="3600" spc="-500" dirty="0">
                <a:latin typeface="+mj-lt"/>
              </a:rPr>
              <a:t>D N </a:t>
            </a:r>
            <a:r>
              <a:rPr lang="en-US" sz="3600" dirty="0">
                <a:latin typeface="+mj-lt"/>
              </a:rPr>
              <a:t>A </a:t>
            </a:r>
            <a:r>
              <a:rPr lang="en-US" sz="2800" dirty="0">
                <a:latin typeface="+mj-lt"/>
              </a:rPr>
              <a:t>(2 of 2)</a:t>
            </a:r>
            <a:endParaRPr lang="en-US" sz="3600" dirty="0">
              <a:latin typeface="+mj-lt"/>
            </a:endParaRP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40434" y="1078408"/>
            <a:ext cx="8302240" cy="2039020"/>
          </a:xfrm>
          <a:noFill/>
          <a:ln>
            <a:noFill/>
          </a:ln>
        </p:spPr>
        <p:txBody>
          <a:bodyPr lIns="0" tIns="0" rIns="0" bIns="0" anchor="t" anchorCtr="0">
            <a:spAutoFit/>
          </a:bodyPr>
          <a:lstStyle/>
          <a:p>
            <a:pPr marL="342900" indent="-342900"/>
            <a:r>
              <a:rPr lang="en-US" sz="2400" dirty="0"/>
              <a:t>In archaea, there is a moderate amount of </a:t>
            </a:r>
            <a:r>
              <a:rPr lang="en-US" sz="2400" spc="-300" dirty="0"/>
              <a:t>R N </a:t>
            </a:r>
            <a:r>
              <a:rPr lang="en-US" sz="2400" dirty="0"/>
              <a:t>A processing. </a:t>
            </a:r>
          </a:p>
          <a:p>
            <a:pPr marL="342900" indent="-342900"/>
            <a:r>
              <a:rPr lang="en-US" sz="2400" dirty="0"/>
              <a:t>In both bacteria and archaea, </a:t>
            </a:r>
            <a:r>
              <a:rPr lang="en-US" sz="2400" spc="-300" dirty="0"/>
              <a:t>R N </a:t>
            </a:r>
            <a:r>
              <a:rPr lang="en-US" sz="2400" dirty="0"/>
              <a:t>A molecules become involved in protein synthesis before transcription is complete.</a:t>
            </a:r>
          </a:p>
        </p:txBody>
      </p:sp>
    </p:spTree>
    <p:extLst>
      <p:ext uri="{BB962C8B-B14F-4D97-AF65-F5344CB8AC3E}">
        <p14:creationId xmlns:p14="http://schemas.microsoft.com/office/powerpoint/2010/main" val="31080792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40434" y="159843"/>
            <a:ext cx="8302240" cy="1107996"/>
          </a:xfrm>
        </p:spPr>
        <p:txBody>
          <a:bodyPr lIns="0" tIns="0" rIns="0" bIns="0" anchor="ctr">
            <a:spAutoFit/>
          </a:bodyPr>
          <a:lstStyle/>
          <a:p>
            <a:r>
              <a:rPr lang="en-US" sz="3600" dirty="0">
                <a:latin typeface="+mj-lt"/>
              </a:rPr>
              <a:t>4.3 The Eukaryotic Cell in Overview: Structure and Function</a:t>
            </a: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40434" y="1492477"/>
            <a:ext cx="8302240" cy="2970044"/>
          </a:xfrm>
          <a:noFill/>
          <a:ln>
            <a:noFill/>
          </a:ln>
        </p:spPr>
        <p:txBody>
          <a:bodyPr lIns="0" tIns="0" rIns="0" bIns="0" anchor="t" anchorCtr="0">
            <a:spAutoFit/>
          </a:bodyPr>
          <a:lstStyle/>
          <a:p>
            <a:pPr marL="342900" indent="-342900"/>
            <a:r>
              <a:rPr lang="en-US" sz="2400" dirty="0"/>
              <a:t>The structural complexity of eukaryotic cells is illustrated by the typical animal and plant cells.</a:t>
            </a:r>
          </a:p>
          <a:p>
            <a:pPr marL="342900" indent="-342900"/>
            <a:r>
              <a:rPr lang="en-US" sz="2400" dirty="0"/>
              <a:t>A typical eukaryotic cell has a </a:t>
            </a:r>
            <a:r>
              <a:rPr lang="en-US" sz="2400" i="1" dirty="0"/>
              <a:t>plasma membrane</a:t>
            </a:r>
            <a:r>
              <a:rPr lang="en-US" sz="2400" dirty="0"/>
              <a:t>, a </a:t>
            </a:r>
            <a:r>
              <a:rPr lang="en-US" sz="2400" i="1" dirty="0"/>
              <a:t>nucleus, membrane-bounded organelles</a:t>
            </a:r>
            <a:r>
              <a:rPr lang="en-US" sz="2400" dirty="0"/>
              <a:t>, and the </a:t>
            </a:r>
            <a:r>
              <a:rPr lang="en-US" sz="2400" i="1" dirty="0"/>
              <a:t>cytosol</a:t>
            </a:r>
            <a:r>
              <a:rPr lang="en-US" sz="2400" dirty="0"/>
              <a:t> interlaced by a </a:t>
            </a:r>
            <a:r>
              <a:rPr lang="en-US" sz="2400" i="1" dirty="0"/>
              <a:t>cytoskeleton</a:t>
            </a:r>
            <a:r>
              <a:rPr lang="en-US" sz="2400" dirty="0"/>
              <a:t>.</a:t>
            </a:r>
          </a:p>
          <a:p>
            <a:pPr marL="342900" indent="-342900"/>
            <a:r>
              <a:rPr lang="en-US" sz="2400" dirty="0"/>
              <a:t>In addition, plant and fungal cells have a rigid </a:t>
            </a:r>
            <a:r>
              <a:rPr lang="en-US" sz="2400" i="1" dirty="0"/>
              <a:t>cell wall </a:t>
            </a:r>
            <a:r>
              <a:rPr lang="en-US" sz="2400" dirty="0"/>
              <a:t>surrounded by an </a:t>
            </a:r>
            <a:r>
              <a:rPr lang="en-US" sz="2400" i="1" dirty="0"/>
              <a:t>extracellular matrix.</a:t>
            </a:r>
          </a:p>
        </p:txBody>
      </p:sp>
    </p:spTree>
    <p:extLst>
      <p:ext uri="{BB962C8B-B14F-4D97-AF65-F5344CB8AC3E}">
        <p14:creationId xmlns:p14="http://schemas.microsoft.com/office/powerpoint/2010/main" val="202618013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40434" y="159843"/>
            <a:ext cx="8302240" cy="1107996"/>
          </a:xfrm>
        </p:spPr>
        <p:txBody>
          <a:bodyPr lIns="0" tIns="0" rIns="0" bIns="0" anchor="ctr">
            <a:spAutoFit/>
          </a:bodyPr>
          <a:lstStyle/>
          <a:p>
            <a:r>
              <a:rPr lang="en-US" sz="3600" dirty="0">
                <a:latin typeface="+mj-lt"/>
              </a:rPr>
              <a:t>The Plasma Membrane Defines Cell Boundaries and Retains Contents</a:t>
            </a: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40434" y="1492472"/>
            <a:ext cx="8302240" cy="1862048"/>
          </a:xfrm>
          <a:noFill/>
          <a:ln>
            <a:noFill/>
          </a:ln>
        </p:spPr>
        <p:txBody>
          <a:bodyPr lIns="0" tIns="0" rIns="0" bIns="0" anchor="t" anchorCtr="0">
            <a:spAutoFit/>
          </a:bodyPr>
          <a:lstStyle/>
          <a:p>
            <a:pPr marL="342900" indent="-342900"/>
            <a:r>
              <a:rPr lang="en-US" sz="2400" dirty="0"/>
              <a:t>The </a:t>
            </a:r>
            <a:r>
              <a:rPr lang="en-US" sz="2400" b="1" dirty="0"/>
              <a:t>plasma</a:t>
            </a:r>
            <a:r>
              <a:rPr lang="en-US" sz="2400" dirty="0"/>
              <a:t> </a:t>
            </a:r>
            <a:r>
              <a:rPr lang="en-US" sz="2400" b="1" dirty="0"/>
              <a:t>membrane</a:t>
            </a:r>
            <a:r>
              <a:rPr lang="en-US" sz="2400" dirty="0"/>
              <a:t> surrounds every cell.</a:t>
            </a:r>
          </a:p>
          <a:p>
            <a:pPr marL="342900" indent="-342900"/>
            <a:r>
              <a:rPr lang="en-US" sz="2400" dirty="0"/>
              <a:t>It ensures that the cells contents are retained.</a:t>
            </a:r>
          </a:p>
          <a:p>
            <a:pPr marL="342900" indent="-342900"/>
            <a:r>
              <a:rPr lang="en-US" sz="2400" dirty="0"/>
              <a:t>It consists of lipids, including </a:t>
            </a:r>
            <a:r>
              <a:rPr lang="en-US" sz="2400" i="1" dirty="0"/>
              <a:t>phospholipids</a:t>
            </a:r>
            <a:r>
              <a:rPr lang="en-US" sz="2400" dirty="0"/>
              <a:t> and </a:t>
            </a:r>
            <a:r>
              <a:rPr lang="en-US" sz="2400" i="1" dirty="0"/>
              <a:t>membrane</a:t>
            </a:r>
            <a:r>
              <a:rPr lang="en-US" sz="2400" dirty="0"/>
              <a:t> </a:t>
            </a:r>
            <a:r>
              <a:rPr lang="en-US" sz="2400" i="1" dirty="0"/>
              <a:t>proteins</a:t>
            </a:r>
            <a:r>
              <a:rPr lang="en-US" sz="2400" dirty="0"/>
              <a:t>, and is organized into two layers.</a:t>
            </a:r>
          </a:p>
        </p:txBody>
      </p:sp>
    </p:spTree>
    <p:extLst>
      <p:ext uri="{BB962C8B-B14F-4D97-AF65-F5344CB8AC3E}">
        <p14:creationId xmlns:p14="http://schemas.microsoft.com/office/powerpoint/2010/main" val="218850568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40434" y="159380"/>
            <a:ext cx="8302240" cy="553998"/>
          </a:xfrm>
        </p:spPr>
        <p:txBody>
          <a:bodyPr lIns="0" tIns="0" rIns="0" bIns="0" anchor="ctr">
            <a:spAutoFit/>
          </a:bodyPr>
          <a:lstStyle/>
          <a:p>
            <a:r>
              <a:rPr lang="en-US" sz="3600" dirty="0">
                <a:latin typeface="+mj-lt"/>
              </a:rPr>
              <a:t>Amphipathic Membrane Components</a:t>
            </a: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40434" y="1078407"/>
            <a:ext cx="8302240" cy="3339376"/>
          </a:xfrm>
          <a:noFill/>
          <a:ln>
            <a:noFill/>
          </a:ln>
        </p:spPr>
        <p:txBody>
          <a:bodyPr lIns="0" tIns="0" rIns="0" bIns="0" anchor="t" anchorCtr="0">
            <a:spAutoFit/>
          </a:bodyPr>
          <a:lstStyle/>
          <a:p>
            <a:pPr marL="342900" indent="-342900"/>
            <a:r>
              <a:rPr lang="en-US" sz="2400" dirty="0"/>
              <a:t>Each phospholipid molecule consists of two hydrophobic “tails” and a hydrophilic “head” and is therefore an </a:t>
            </a:r>
            <a:r>
              <a:rPr lang="en-US" sz="2400" i="1" dirty="0"/>
              <a:t>amphipathic</a:t>
            </a:r>
            <a:r>
              <a:rPr lang="en-US" sz="2400" dirty="0"/>
              <a:t> </a:t>
            </a:r>
            <a:r>
              <a:rPr lang="en-US" sz="2400" i="1" dirty="0"/>
              <a:t>molecule</a:t>
            </a:r>
            <a:r>
              <a:rPr lang="en-US" sz="2400" dirty="0"/>
              <a:t>.</a:t>
            </a:r>
          </a:p>
          <a:p>
            <a:pPr marL="342900" indent="-342900"/>
            <a:r>
              <a:rPr lang="en-US" sz="2400" dirty="0"/>
              <a:t>The </a:t>
            </a:r>
            <a:r>
              <a:rPr lang="en-US" sz="2400" b="1" dirty="0"/>
              <a:t>lipid</a:t>
            </a:r>
            <a:r>
              <a:rPr lang="en-US" sz="2400" dirty="0"/>
              <a:t> </a:t>
            </a:r>
            <a:r>
              <a:rPr lang="en-US" sz="2400" b="1" dirty="0"/>
              <a:t>bilayer</a:t>
            </a:r>
            <a:r>
              <a:rPr lang="en-US" sz="2400" dirty="0"/>
              <a:t> is formed when the hydrophilic heads face outward and the tails face inward.</a:t>
            </a:r>
          </a:p>
          <a:p>
            <a:pPr marL="342900" indent="-342900"/>
            <a:r>
              <a:rPr lang="en-US" sz="2400" dirty="0"/>
              <a:t>Membrane proteins are also amphipathic; some, with polysaccharides attached to them, are called </a:t>
            </a:r>
            <a:r>
              <a:rPr lang="en-US" sz="2400" i="1" dirty="0"/>
              <a:t>glycoproteins</a:t>
            </a:r>
            <a:r>
              <a:rPr lang="en-US" sz="2400" dirty="0"/>
              <a:t>.</a:t>
            </a:r>
          </a:p>
        </p:txBody>
      </p:sp>
    </p:spTree>
    <p:extLst>
      <p:ext uri="{BB962C8B-B14F-4D97-AF65-F5344CB8AC3E}">
        <p14:creationId xmlns:p14="http://schemas.microsoft.com/office/powerpoint/2010/main" val="93390062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39358" y="191262"/>
            <a:ext cx="8229600" cy="523220"/>
          </a:xfrm>
        </p:spPr>
        <p:txBody>
          <a:bodyPr lIns="0" tIns="0" rIns="0" bIns="0" anchor="ctr">
            <a:spAutoFit/>
          </a:bodyPr>
          <a:lstStyle/>
          <a:p>
            <a:r>
              <a:rPr lang="en-US" sz="3400" dirty="0"/>
              <a:t>Organization of the Plasma Membrane</a:t>
            </a:r>
          </a:p>
        </p:txBody>
      </p:sp>
      <p:sp>
        <p:nvSpPr>
          <p:cNvPr id="6" name="Content Placeholder 5"/>
          <p:cNvSpPr>
            <a:spLocks noGrp="1"/>
          </p:cNvSpPr>
          <p:nvPr>
            <p:ph sz="quarter" idx="15"/>
          </p:nvPr>
        </p:nvSpPr>
        <p:spPr>
          <a:xfrm>
            <a:off x="439190" y="1031525"/>
            <a:ext cx="8229768" cy="369332"/>
          </a:xfrm>
        </p:spPr>
        <p:txBody>
          <a:bodyPr wrap="square" lIns="0" tIns="0" rIns="0" bIns="0">
            <a:spAutoFit/>
          </a:bodyPr>
          <a:lstStyle/>
          <a:p>
            <a:pPr marL="0" indent="0">
              <a:buNone/>
            </a:pPr>
            <a:r>
              <a:rPr lang="en-US" sz="2400" b="1" dirty="0"/>
              <a:t>Figure 4.11 </a:t>
            </a:r>
            <a:r>
              <a:rPr lang="en-US" sz="2400" dirty="0"/>
              <a:t>Organization of the Plasma Membrane.</a:t>
            </a:r>
          </a:p>
        </p:txBody>
      </p:sp>
      <p:pic>
        <p:nvPicPr>
          <p:cNvPr id="5" name="Picture Placeholder 4" descr="A three-part illustration on the organization of plasma membrane shows the cutaway view of a cell, close-up view of a section of the plasma membrane, and a membrane section containing an individual glycoprotein.&#10;Long description is available in notes, press F6"/>
          <p:cNvPicPr>
            <a:picLocks noGrp="1" noChangeAspect="1"/>
          </p:cNvPicPr>
          <p:nvPr>
            <p:ph type="pic" sz="quarter" idx="16"/>
          </p:nvPr>
        </p:nvPicPr>
        <p:blipFill rotWithShape="1">
          <a:blip r:embed="rId3">
            <a:extLst>
              <a:ext uri="{28A0092B-C50C-407E-A947-70E740481C1C}">
                <a14:useLocalDpi xmlns:a14="http://schemas.microsoft.com/office/drawing/2010/main" val="0"/>
              </a:ext>
            </a:extLst>
          </a:blip>
          <a:srcRect b="2796"/>
          <a:stretch/>
        </p:blipFill>
        <p:spPr>
          <a:xfrm>
            <a:off x="995971" y="1618477"/>
            <a:ext cx="7157940" cy="4712555"/>
          </a:xfrm>
        </p:spPr>
      </p:pic>
    </p:spTree>
    <p:extLst>
      <p:ext uri="{BB962C8B-B14F-4D97-AF65-F5344CB8AC3E}">
        <p14:creationId xmlns:p14="http://schemas.microsoft.com/office/powerpoint/2010/main" val="251715266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40434" y="190970"/>
            <a:ext cx="8302240" cy="523220"/>
          </a:xfrm>
        </p:spPr>
        <p:txBody>
          <a:bodyPr lIns="0" tIns="0" rIns="0" bIns="0" anchor="ctr">
            <a:spAutoFit/>
          </a:bodyPr>
          <a:lstStyle/>
          <a:p>
            <a:r>
              <a:rPr lang="en-US" dirty="0">
                <a:latin typeface="+mj-lt"/>
              </a:rPr>
              <a:t>Proteins in the Plasma Membrane </a:t>
            </a:r>
            <a:r>
              <a:rPr lang="en-US" sz="2600" dirty="0">
                <a:latin typeface="+mj-lt"/>
              </a:rPr>
              <a:t>(1 of 2)</a:t>
            </a: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40434" y="1090819"/>
            <a:ext cx="8302240" cy="2816156"/>
          </a:xfrm>
          <a:noFill/>
          <a:ln>
            <a:noFill/>
          </a:ln>
        </p:spPr>
        <p:txBody>
          <a:bodyPr lIns="0" tIns="0" rIns="0" bIns="0" anchor="t" anchorCtr="0">
            <a:spAutoFit/>
          </a:bodyPr>
          <a:lstStyle/>
          <a:p>
            <a:pPr marL="342900" indent="-342900"/>
            <a:r>
              <a:rPr lang="en-US" sz="2400" dirty="0"/>
              <a:t>Proteins in the plasma membrane play a variety of roles.</a:t>
            </a:r>
          </a:p>
          <a:p>
            <a:pPr marL="829818" lvl="1" indent="-342900"/>
            <a:r>
              <a:rPr lang="en-US" sz="2400" i="1" dirty="0"/>
              <a:t>Enzymes</a:t>
            </a:r>
            <a:r>
              <a:rPr lang="en-US" sz="2400" dirty="0"/>
              <a:t> catalyze reactions associated with the membranes, such as cell wall synthesis.</a:t>
            </a:r>
          </a:p>
          <a:p>
            <a:pPr marL="829818" lvl="1" indent="-342900"/>
            <a:r>
              <a:rPr lang="en-US" sz="2400" dirty="0"/>
              <a:t>Others serve as </a:t>
            </a:r>
            <a:r>
              <a:rPr lang="en-US" sz="2400" i="1" dirty="0"/>
              <a:t>anchors</a:t>
            </a:r>
            <a:r>
              <a:rPr lang="en-US" sz="2400" dirty="0"/>
              <a:t> for structural components of the cytoskeleton.</a:t>
            </a:r>
          </a:p>
          <a:p>
            <a:pPr marL="829818" lvl="1" indent="-342900"/>
            <a:r>
              <a:rPr lang="en-US" sz="2400" i="1" dirty="0"/>
              <a:t>Transport proteins </a:t>
            </a:r>
            <a:r>
              <a:rPr lang="en-US" sz="2400" dirty="0"/>
              <a:t>move substances across the membrane.</a:t>
            </a:r>
          </a:p>
        </p:txBody>
      </p:sp>
    </p:spTree>
    <p:extLst>
      <p:ext uri="{BB962C8B-B14F-4D97-AF65-F5344CB8AC3E}">
        <p14:creationId xmlns:p14="http://schemas.microsoft.com/office/powerpoint/2010/main" val="196925282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40434" y="190970"/>
            <a:ext cx="8302240" cy="523220"/>
          </a:xfrm>
        </p:spPr>
        <p:txBody>
          <a:bodyPr lIns="0" tIns="0" rIns="0" bIns="0" anchor="ctr">
            <a:spAutoFit/>
          </a:bodyPr>
          <a:lstStyle/>
          <a:p>
            <a:r>
              <a:rPr lang="en-US" dirty="0">
                <a:latin typeface="+mj-lt"/>
              </a:rPr>
              <a:t>Proteins in the Plasma Membrane </a:t>
            </a:r>
            <a:r>
              <a:rPr lang="en-US" sz="2600" dirty="0">
                <a:latin typeface="+mj-lt"/>
              </a:rPr>
              <a:t>(2 of 2)</a:t>
            </a: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40434" y="1090819"/>
            <a:ext cx="8302240" cy="1184940"/>
          </a:xfrm>
          <a:noFill/>
          <a:ln>
            <a:noFill/>
          </a:ln>
        </p:spPr>
        <p:txBody>
          <a:bodyPr lIns="0" tIns="0" rIns="0" bIns="0" anchor="t" anchorCtr="0">
            <a:spAutoFit/>
          </a:bodyPr>
          <a:lstStyle/>
          <a:p>
            <a:pPr marL="829818" lvl="1" indent="-342900"/>
            <a:r>
              <a:rPr lang="en-US" sz="2400" i="1" dirty="0"/>
              <a:t>Receptors</a:t>
            </a:r>
            <a:r>
              <a:rPr lang="en-US" sz="2400" dirty="0"/>
              <a:t> for external signals trigger processes within the cell.</a:t>
            </a:r>
          </a:p>
          <a:p>
            <a:pPr marL="829818" lvl="1" indent="-342900"/>
            <a:r>
              <a:rPr lang="en-US" sz="2400" dirty="0"/>
              <a:t>The latter two are </a:t>
            </a:r>
            <a:r>
              <a:rPr lang="en-US" sz="2400" i="1" dirty="0"/>
              <a:t>transmembrane</a:t>
            </a:r>
            <a:r>
              <a:rPr lang="en-US" sz="2400" dirty="0"/>
              <a:t> </a:t>
            </a:r>
            <a:r>
              <a:rPr lang="en-US" sz="2400" i="1" dirty="0"/>
              <a:t>proteins</a:t>
            </a:r>
            <a:r>
              <a:rPr lang="en-US" sz="2400" dirty="0"/>
              <a:t>.</a:t>
            </a:r>
          </a:p>
        </p:txBody>
      </p:sp>
    </p:spTree>
    <p:extLst>
      <p:ext uri="{BB962C8B-B14F-4D97-AF65-F5344CB8AC3E}">
        <p14:creationId xmlns:p14="http://schemas.microsoft.com/office/powerpoint/2010/main" val="429270455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40434" y="159843"/>
            <a:ext cx="8302240" cy="1107996"/>
          </a:xfrm>
        </p:spPr>
        <p:txBody>
          <a:bodyPr lIns="0" tIns="0" rIns="0" bIns="0" anchor="ctr">
            <a:spAutoFit/>
          </a:bodyPr>
          <a:lstStyle/>
          <a:p>
            <a:r>
              <a:rPr lang="en-US" sz="3600" dirty="0">
                <a:latin typeface="+mj-lt"/>
              </a:rPr>
              <a:t>The Nucleus Is the Information Center of the Eukaryotic Cell</a:t>
            </a: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40434" y="1492477"/>
            <a:ext cx="8302240" cy="2970044"/>
          </a:xfrm>
          <a:noFill/>
          <a:ln>
            <a:noFill/>
          </a:ln>
        </p:spPr>
        <p:txBody>
          <a:bodyPr lIns="0" tIns="0" rIns="0" bIns="0" anchor="t" anchorCtr="0">
            <a:spAutoFit/>
          </a:bodyPr>
          <a:lstStyle/>
          <a:p>
            <a:pPr marL="342900" indent="-342900"/>
            <a:r>
              <a:rPr lang="en-US" sz="2400" dirty="0"/>
              <a:t>The most prominent structure in the eukaryotic cell is the </a:t>
            </a:r>
            <a:r>
              <a:rPr lang="en-US" sz="2400" b="1" dirty="0"/>
              <a:t>nucleus</a:t>
            </a:r>
            <a:r>
              <a:rPr lang="en-US" sz="2400" dirty="0"/>
              <a:t>.</a:t>
            </a:r>
          </a:p>
          <a:p>
            <a:pPr marL="342900" indent="-342900"/>
            <a:r>
              <a:rPr lang="en-US" sz="2400" dirty="0"/>
              <a:t>It contains the </a:t>
            </a:r>
            <a:r>
              <a:rPr lang="en-US" sz="2400" spc="-300" dirty="0"/>
              <a:t>D N </a:t>
            </a:r>
            <a:r>
              <a:rPr lang="en-US" sz="2400" dirty="0"/>
              <a:t>A and is surrounded by the </a:t>
            </a:r>
            <a:r>
              <a:rPr lang="en-US" sz="2400" b="1" dirty="0"/>
              <a:t>nuclear envelope</a:t>
            </a:r>
            <a:r>
              <a:rPr lang="en-US" sz="2400" dirty="0"/>
              <a:t>, composed of </a:t>
            </a:r>
            <a:r>
              <a:rPr lang="en-US" sz="2400" i="1" dirty="0"/>
              <a:t>inner</a:t>
            </a:r>
            <a:r>
              <a:rPr lang="en-US" sz="2400" dirty="0"/>
              <a:t> and </a:t>
            </a:r>
            <a:r>
              <a:rPr lang="en-US" sz="2400" i="1" dirty="0"/>
              <a:t>outer membranes</a:t>
            </a:r>
            <a:r>
              <a:rPr lang="en-US" sz="2400" dirty="0"/>
              <a:t>.</a:t>
            </a:r>
          </a:p>
          <a:p>
            <a:pPr marL="342900" indent="-342900"/>
            <a:r>
              <a:rPr lang="en-US" sz="2400" dirty="0"/>
              <a:t>The nuclear envelope has numerous openings called </a:t>
            </a:r>
            <a:r>
              <a:rPr lang="en-US" sz="2400" i="1" dirty="0"/>
              <a:t>pores</a:t>
            </a:r>
            <a:r>
              <a:rPr lang="en-US" sz="2400" dirty="0"/>
              <a:t>, each of which is a transport channel lined with a </a:t>
            </a:r>
            <a:r>
              <a:rPr lang="en-US" sz="2400" i="1" dirty="0"/>
              <a:t>nuclear pore complex</a:t>
            </a:r>
            <a:r>
              <a:rPr lang="en-US" sz="2400" dirty="0"/>
              <a:t>.</a:t>
            </a:r>
          </a:p>
        </p:txBody>
      </p:sp>
    </p:spTree>
    <p:extLst>
      <p:ext uri="{BB962C8B-B14F-4D97-AF65-F5344CB8AC3E}">
        <p14:creationId xmlns:p14="http://schemas.microsoft.com/office/powerpoint/2010/main" val="163707750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39358" y="158497"/>
            <a:ext cx="8229600" cy="553998"/>
          </a:xfrm>
        </p:spPr>
        <p:txBody>
          <a:bodyPr lIns="0" tIns="0" rIns="0" bIns="0" anchor="ctr">
            <a:spAutoFit/>
          </a:bodyPr>
          <a:lstStyle/>
          <a:p>
            <a:r>
              <a:rPr lang="en-US" dirty="0"/>
              <a:t>The Nucleus </a:t>
            </a:r>
            <a:r>
              <a:rPr lang="en-US" sz="2800" dirty="0"/>
              <a:t>(1 of 2)</a:t>
            </a:r>
            <a:r>
              <a:rPr lang="en-US" dirty="0"/>
              <a:t> </a:t>
            </a:r>
          </a:p>
        </p:txBody>
      </p:sp>
      <p:sp>
        <p:nvSpPr>
          <p:cNvPr id="6" name="Content Placeholder 5"/>
          <p:cNvSpPr>
            <a:spLocks noGrp="1"/>
          </p:cNvSpPr>
          <p:nvPr>
            <p:ph sz="quarter" idx="15"/>
          </p:nvPr>
        </p:nvSpPr>
        <p:spPr>
          <a:xfrm>
            <a:off x="439190" y="958527"/>
            <a:ext cx="8229768" cy="369332"/>
          </a:xfrm>
        </p:spPr>
        <p:txBody>
          <a:bodyPr wrap="square" lIns="0" tIns="0" rIns="0" bIns="0">
            <a:spAutoFit/>
          </a:bodyPr>
          <a:lstStyle/>
          <a:p>
            <a:pPr marL="0" indent="0">
              <a:buNone/>
            </a:pPr>
            <a:r>
              <a:rPr lang="en-US" sz="2400" b="1" dirty="0"/>
              <a:t>Figure 4.12</a:t>
            </a:r>
            <a:r>
              <a:rPr lang="en-US" sz="2400" dirty="0"/>
              <a:t> The Nucleus.</a:t>
            </a:r>
          </a:p>
        </p:txBody>
      </p:sp>
      <p:pic>
        <p:nvPicPr>
          <p:cNvPr id="5" name="Picture Placeholder 4" descr="A three-part illustration shows a cutaway view of a cell, an electron microscopic views of the nucleus of a rat liver, and a surface view of an embryo of a fruit fly.&#10;Long description is available in notes, press F6"/>
          <p:cNvPicPr>
            <a:picLocks noGrp="1" noChangeAspect="1"/>
          </p:cNvPicPr>
          <p:nvPr>
            <p:ph type="pic" sz="quarter" idx="16"/>
          </p:nvPr>
        </p:nvPicPr>
        <p:blipFill rotWithShape="1">
          <a:blip r:embed="rId3">
            <a:extLst>
              <a:ext uri="{28A0092B-C50C-407E-A947-70E740481C1C}">
                <a14:useLocalDpi xmlns:a14="http://schemas.microsoft.com/office/drawing/2010/main" val="0"/>
              </a:ext>
            </a:extLst>
          </a:blip>
          <a:srcRect b="2560"/>
          <a:stretch/>
        </p:blipFill>
        <p:spPr>
          <a:xfrm>
            <a:off x="1389701" y="1626278"/>
            <a:ext cx="6364598" cy="4680509"/>
          </a:xfrm>
        </p:spPr>
      </p:pic>
    </p:spTree>
    <p:extLst>
      <p:ext uri="{BB962C8B-B14F-4D97-AF65-F5344CB8AC3E}">
        <p14:creationId xmlns:p14="http://schemas.microsoft.com/office/powerpoint/2010/main" val="295572536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40434" y="159377"/>
            <a:ext cx="8302240" cy="553998"/>
          </a:xfrm>
        </p:spPr>
        <p:txBody>
          <a:bodyPr lIns="0" tIns="0" rIns="0" bIns="0" anchor="ctr">
            <a:spAutoFit/>
          </a:bodyPr>
          <a:lstStyle/>
          <a:p>
            <a:r>
              <a:rPr lang="en-US" sz="3600" dirty="0">
                <a:latin typeface="+mj-lt"/>
              </a:rPr>
              <a:t>The Nucleus </a:t>
            </a:r>
            <a:r>
              <a:rPr lang="en-US" sz="2800" dirty="0">
                <a:latin typeface="+mj-lt"/>
              </a:rPr>
              <a:t>(2 of 2)</a:t>
            </a:r>
            <a:endParaRPr lang="en-US" sz="3600" dirty="0">
              <a:latin typeface="+mj-lt"/>
            </a:endParaRP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40434" y="1087033"/>
            <a:ext cx="8302240" cy="3901068"/>
          </a:xfrm>
          <a:noFill/>
          <a:ln>
            <a:noFill/>
          </a:ln>
        </p:spPr>
        <p:txBody>
          <a:bodyPr lIns="0" tIns="0" rIns="0" bIns="0" anchor="t" anchorCtr="0">
            <a:spAutoFit/>
          </a:bodyPr>
          <a:lstStyle/>
          <a:p>
            <a:pPr marL="342900" indent="-342900"/>
            <a:r>
              <a:rPr lang="en-US" sz="2400" dirty="0"/>
              <a:t>The number of chromosomes in the nucleus is a species-specific characteristic.</a:t>
            </a:r>
          </a:p>
          <a:p>
            <a:pPr marL="342900" indent="-342900"/>
            <a:r>
              <a:rPr lang="en-US" sz="2400" dirty="0"/>
              <a:t>Chromosomes are most easily visualized during mitosis, whereas during </a:t>
            </a:r>
            <a:r>
              <a:rPr lang="en-US" sz="2400" i="1" dirty="0"/>
              <a:t>interphase</a:t>
            </a:r>
            <a:r>
              <a:rPr lang="en-US" sz="2400" dirty="0"/>
              <a:t> they are dispersed as </a:t>
            </a:r>
            <a:r>
              <a:rPr lang="en-US" sz="2400" b="1" dirty="0"/>
              <a:t>chromatin</a:t>
            </a:r>
            <a:r>
              <a:rPr lang="en-US" sz="2400" dirty="0"/>
              <a:t> and difficult to visualize.</a:t>
            </a:r>
          </a:p>
          <a:p>
            <a:pPr marL="342900" indent="-342900"/>
            <a:r>
              <a:rPr lang="en-US" sz="2400" b="1" dirty="0"/>
              <a:t>Nucleoli</a:t>
            </a:r>
            <a:r>
              <a:rPr lang="en-US" sz="2400" dirty="0"/>
              <a:t> (singular: </a:t>
            </a:r>
            <a:r>
              <a:rPr lang="en-US" sz="2400" b="1" dirty="0"/>
              <a:t>nucleolus</a:t>
            </a:r>
            <a:r>
              <a:rPr lang="en-US" sz="2400" dirty="0"/>
              <a:t>) are also present in the nucleus.</a:t>
            </a:r>
          </a:p>
          <a:p>
            <a:pPr marL="342900" indent="-342900"/>
            <a:r>
              <a:rPr lang="en-US" sz="2400" dirty="0"/>
              <a:t>Nucleoli are responsible for synthesizing ribosomal </a:t>
            </a:r>
            <a:r>
              <a:rPr lang="en-US" sz="2400" spc="-300" dirty="0"/>
              <a:t>R N </a:t>
            </a:r>
            <a:r>
              <a:rPr lang="en-US" sz="2400" dirty="0"/>
              <a:t>A and beginning the assembly of proteins.</a:t>
            </a:r>
          </a:p>
        </p:txBody>
      </p:sp>
    </p:spTree>
    <p:extLst>
      <p:ext uri="{BB962C8B-B14F-4D97-AF65-F5344CB8AC3E}">
        <p14:creationId xmlns:p14="http://schemas.microsoft.com/office/powerpoint/2010/main" val="210018505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40434" y="159842"/>
            <a:ext cx="8302240" cy="1107996"/>
          </a:xfrm>
        </p:spPr>
        <p:txBody>
          <a:bodyPr lIns="0" tIns="0" rIns="0" bIns="0" anchor="ctr">
            <a:spAutoFit/>
          </a:bodyPr>
          <a:lstStyle/>
          <a:p>
            <a:r>
              <a:rPr lang="en-US" sz="3600" dirty="0">
                <a:latin typeface="+mj-lt"/>
              </a:rPr>
              <a:t>Mitochondria and Chloroplasts Provide Energy for the Cell</a:t>
            </a: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40434" y="1492475"/>
            <a:ext cx="8302240" cy="2231380"/>
          </a:xfrm>
          <a:noFill/>
          <a:ln>
            <a:noFill/>
          </a:ln>
        </p:spPr>
        <p:txBody>
          <a:bodyPr lIns="0" tIns="0" rIns="0" bIns="0" anchor="t" anchorCtr="0">
            <a:spAutoFit/>
          </a:bodyPr>
          <a:lstStyle/>
          <a:p>
            <a:pPr marL="342900" indent="-342900"/>
            <a:r>
              <a:rPr lang="en-US" sz="2400" dirty="0"/>
              <a:t>The </a:t>
            </a:r>
            <a:r>
              <a:rPr lang="en-US" sz="2400" i="1" dirty="0"/>
              <a:t>mitochondrion</a:t>
            </a:r>
            <a:r>
              <a:rPr lang="en-US" sz="2400" dirty="0"/>
              <a:t> and the </a:t>
            </a:r>
            <a:r>
              <a:rPr lang="en-US" sz="2400" i="1" dirty="0"/>
              <a:t>chloroplast</a:t>
            </a:r>
            <a:r>
              <a:rPr lang="en-US" sz="2400" dirty="0"/>
              <a:t> are organelles involved in energy production for cells.</a:t>
            </a:r>
          </a:p>
          <a:p>
            <a:pPr marL="342900" indent="-342900"/>
            <a:r>
              <a:rPr lang="en-US" sz="2400" dirty="0"/>
              <a:t>The mitochondrion assists with the degradation of sugars.</a:t>
            </a:r>
          </a:p>
          <a:p>
            <a:pPr marL="342900" indent="-342900"/>
            <a:r>
              <a:rPr lang="en-US" sz="2400" dirty="0"/>
              <a:t>The chloroplast harvests solar energy and converts it to chemical energy in the form of </a:t>
            </a:r>
            <a:r>
              <a:rPr lang="en-US" sz="2400" spc="-300" dirty="0"/>
              <a:t>A T </a:t>
            </a:r>
            <a:r>
              <a:rPr lang="en-US" sz="2400" dirty="0"/>
              <a:t>P.</a:t>
            </a:r>
          </a:p>
        </p:txBody>
      </p:sp>
    </p:spTree>
    <p:extLst>
      <p:ext uri="{BB962C8B-B14F-4D97-AF65-F5344CB8AC3E}">
        <p14:creationId xmlns:p14="http://schemas.microsoft.com/office/powerpoint/2010/main" val="424135766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40434" y="159381"/>
            <a:ext cx="8302240" cy="553998"/>
          </a:xfrm>
        </p:spPr>
        <p:txBody>
          <a:bodyPr lIns="0" tIns="0" rIns="0" bIns="0" anchor="ctr">
            <a:spAutoFit/>
          </a:bodyPr>
          <a:lstStyle/>
          <a:p>
            <a:r>
              <a:rPr lang="en-US" sz="3600" dirty="0">
                <a:latin typeface="+mj-lt"/>
              </a:rPr>
              <a:t>The Mitochondrion </a:t>
            </a:r>
            <a:r>
              <a:rPr lang="en-US" sz="2800" dirty="0">
                <a:latin typeface="+mj-lt"/>
              </a:rPr>
              <a:t>(1 of 2)</a:t>
            </a: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40434" y="1078407"/>
            <a:ext cx="8302240" cy="2600712"/>
          </a:xfrm>
          <a:noFill/>
          <a:ln>
            <a:noFill/>
          </a:ln>
        </p:spPr>
        <p:txBody>
          <a:bodyPr lIns="0" tIns="0" rIns="0" bIns="0" anchor="t" anchorCtr="0">
            <a:spAutoFit/>
          </a:bodyPr>
          <a:lstStyle/>
          <a:p>
            <a:pPr marL="342900" indent="-342900"/>
            <a:r>
              <a:rPr lang="en-US" sz="2400" b="1" dirty="0"/>
              <a:t>Mitochondria</a:t>
            </a:r>
            <a:r>
              <a:rPr lang="en-US" sz="2400" dirty="0"/>
              <a:t>, found in all eukaryotic cells, are the site of aerobic respiration.</a:t>
            </a:r>
          </a:p>
          <a:p>
            <a:pPr marL="342900" indent="-342900"/>
            <a:r>
              <a:rPr lang="en-US" sz="2400" dirty="0"/>
              <a:t>They are comparable in size to bacteria.</a:t>
            </a:r>
          </a:p>
          <a:p>
            <a:pPr marL="342900" indent="-342900"/>
            <a:r>
              <a:rPr lang="en-US" sz="2400" dirty="0"/>
              <a:t>Most eukaryotic cells contain hundreds of mitochondria, each of which is surrounded by an </a:t>
            </a:r>
            <a:r>
              <a:rPr lang="en-US" sz="2400" i="1" dirty="0"/>
              <a:t>inner</a:t>
            </a:r>
            <a:r>
              <a:rPr lang="en-US" sz="2400" dirty="0"/>
              <a:t> and </a:t>
            </a:r>
            <a:r>
              <a:rPr lang="en-US" sz="2400" i="1" dirty="0"/>
              <a:t>outer</a:t>
            </a:r>
            <a:r>
              <a:rPr lang="en-US" sz="2400" dirty="0"/>
              <a:t> </a:t>
            </a:r>
            <a:r>
              <a:rPr lang="en-US" sz="2400" i="1" dirty="0"/>
              <a:t>mitochondrial</a:t>
            </a:r>
            <a:r>
              <a:rPr lang="en-US" sz="2400" dirty="0"/>
              <a:t> </a:t>
            </a:r>
            <a:r>
              <a:rPr lang="en-US" sz="2400" i="1" dirty="0"/>
              <a:t>membrane</a:t>
            </a:r>
            <a:r>
              <a:rPr lang="en-US" sz="2400" dirty="0"/>
              <a:t>.</a:t>
            </a:r>
          </a:p>
        </p:txBody>
      </p:sp>
    </p:spTree>
    <p:extLst>
      <p:ext uri="{BB962C8B-B14F-4D97-AF65-F5344CB8AC3E}">
        <p14:creationId xmlns:p14="http://schemas.microsoft.com/office/powerpoint/2010/main" val="65730063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40434" y="159381"/>
            <a:ext cx="8302240" cy="553998"/>
          </a:xfrm>
        </p:spPr>
        <p:txBody>
          <a:bodyPr lIns="0" tIns="0" rIns="0" bIns="0" anchor="ctr">
            <a:spAutoFit/>
          </a:bodyPr>
          <a:lstStyle/>
          <a:p>
            <a:r>
              <a:rPr lang="en-US" sz="3600" dirty="0">
                <a:latin typeface="+mj-lt"/>
              </a:rPr>
              <a:t>Mitochondrial Structure</a:t>
            </a: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40434" y="1087030"/>
            <a:ext cx="8302240" cy="2600712"/>
          </a:xfrm>
          <a:noFill/>
          <a:ln>
            <a:noFill/>
          </a:ln>
        </p:spPr>
        <p:txBody>
          <a:bodyPr lIns="0" tIns="0" rIns="0" bIns="0" anchor="t" anchorCtr="0">
            <a:spAutoFit/>
          </a:bodyPr>
          <a:lstStyle/>
          <a:p>
            <a:pPr marL="342900" indent="-342900"/>
            <a:r>
              <a:rPr lang="en-US" sz="2400" dirty="0"/>
              <a:t>The inner mitochondrial membrane encloses the </a:t>
            </a:r>
            <a:r>
              <a:rPr lang="en-US" sz="2400" b="1" dirty="0"/>
              <a:t>matrix</a:t>
            </a:r>
            <a:r>
              <a:rPr lang="en-US" sz="2400" dirty="0"/>
              <a:t>, a semifluid material filling the mitochondria.</a:t>
            </a:r>
          </a:p>
          <a:p>
            <a:pPr marL="342900" indent="-342900"/>
            <a:r>
              <a:rPr lang="en-US" sz="2400" dirty="0"/>
              <a:t>The matrix includes small circular </a:t>
            </a:r>
            <a:r>
              <a:rPr lang="en-US" sz="2400" spc="-300" dirty="0"/>
              <a:t>D N </a:t>
            </a:r>
            <a:r>
              <a:rPr lang="en-US" sz="2400" dirty="0"/>
              <a:t>A molecules that encode some </a:t>
            </a:r>
            <a:r>
              <a:rPr lang="en-US" sz="2400" spc="-300" dirty="0"/>
              <a:t>R N A </a:t>
            </a:r>
            <a:r>
              <a:rPr lang="en-US" sz="2400" dirty="0"/>
              <a:t>s and proteins needed in the mitochondria.</a:t>
            </a:r>
          </a:p>
          <a:p>
            <a:pPr marL="342900" indent="-342900"/>
            <a:r>
              <a:rPr lang="en-US" sz="2400" dirty="0"/>
              <a:t>It also contains ribosomes involved in protein synthesis.</a:t>
            </a:r>
          </a:p>
        </p:txBody>
      </p:sp>
    </p:spTree>
    <p:extLst>
      <p:ext uri="{BB962C8B-B14F-4D97-AF65-F5344CB8AC3E}">
        <p14:creationId xmlns:p14="http://schemas.microsoft.com/office/powerpoint/2010/main" val="229275560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47984" y="158496"/>
            <a:ext cx="8229600" cy="553998"/>
          </a:xfrm>
        </p:spPr>
        <p:txBody>
          <a:bodyPr lIns="0" tIns="0" rIns="0" bIns="0" anchor="ctr">
            <a:spAutoFit/>
          </a:bodyPr>
          <a:lstStyle/>
          <a:p>
            <a:r>
              <a:rPr lang="en-US" dirty="0"/>
              <a:t>The Mitochondrion </a:t>
            </a:r>
            <a:r>
              <a:rPr lang="en-US" sz="2800" dirty="0"/>
              <a:t>(2 of 2)</a:t>
            </a:r>
          </a:p>
        </p:txBody>
      </p:sp>
      <p:sp>
        <p:nvSpPr>
          <p:cNvPr id="6" name="Content Placeholder 5"/>
          <p:cNvSpPr>
            <a:spLocks noGrp="1"/>
          </p:cNvSpPr>
          <p:nvPr>
            <p:ph sz="quarter" idx="15"/>
          </p:nvPr>
        </p:nvSpPr>
        <p:spPr>
          <a:xfrm>
            <a:off x="447816" y="940200"/>
            <a:ext cx="8256234" cy="369332"/>
          </a:xfrm>
        </p:spPr>
        <p:txBody>
          <a:bodyPr lIns="0" tIns="0" rIns="0" bIns="0">
            <a:spAutoFit/>
          </a:bodyPr>
          <a:lstStyle/>
          <a:p>
            <a:pPr marL="0" indent="0">
              <a:buNone/>
            </a:pPr>
            <a:r>
              <a:rPr lang="en-US" sz="2400" b="1" dirty="0"/>
              <a:t>Figure 4.13 </a:t>
            </a:r>
            <a:r>
              <a:rPr lang="en-US" sz="2400" dirty="0"/>
              <a:t>The Mitochondrion. </a:t>
            </a:r>
          </a:p>
        </p:txBody>
      </p:sp>
      <p:pic>
        <p:nvPicPr>
          <p:cNvPr id="4" name="Picture Placeholder 3" descr="A three-part illustration of the mitochondrion shows a cutaway view, a schematic view of the structure, and a mitochondrion in a rat pancreas cell.&#10;Long description is available in notes, press F6"/>
          <p:cNvPicPr>
            <a:picLocks noGrp="1" noChangeAspect="1"/>
          </p:cNvPicPr>
          <p:nvPr>
            <p:ph type="pic" sz="quarter" idx="16"/>
          </p:nvPr>
        </p:nvPicPr>
        <p:blipFill rotWithShape="1">
          <a:blip r:embed="rId3">
            <a:extLst>
              <a:ext uri="{28A0092B-C50C-407E-A947-70E740481C1C}">
                <a14:useLocalDpi xmlns:a14="http://schemas.microsoft.com/office/drawing/2010/main" val="0"/>
              </a:ext>
            </a:extLst>
          </a:blip>
          <a:srcRect b="3644"/>
          <a:stretch/>
        </p:blipFill>
        <p:spPr>
          <a:xfrm>
            <a:off x="732108" y="1589806"/>
            <a:ext cx="7679784" cy="4566002"/>
          </a:xfrm>
        </p:spPr>
      </p:pic>
    </p:spTree>
    <p:extLst>
      <p:ext uri="{BB962C8B-B14F-4D97-AF65-F5344CB8AC3E}">
        <p14:creationId xmlns:p14="http://schemas.microsoft.com/office/powerpoint/2010/main" val="331609943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40434" y="159377"/>
            <a:ext cx="8302240" cy="553998"/>
          </a:xfrm>
        </p:spPr>
        <p:txBody>
          <a:bodyPr lIns="0" tIns="0" rIns="0" bIns="0" anchor="ctr">
            <a:spAutoFit/>
          </a:bodyPr>
          <a:lstStyle/>
          <a:p>
            <a:r>
              <a:rPr lang="en-US" sz="3600" dirty="0">
                <a:latin typeface="+mj-lt"/>
              </a:rPr>
              <a:t>Mitochondrial Function</a:t>
            </a: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40434" y="1087034"/>
            <a:ext cx="8302240" cy="3531736"/>
          </a:xfrm>
          <a:noFill/>
          <a:ln>
            <a:noFill/>
          </a:ln>
        </p:spPr>
        <p:txBody>
          <a:bodyPr lIns="0" tIns="0" rIns="0" bIns="0" anchor="t" anchorCtr="0">
            <a:spAutoFit/>
          </a:bodyPr>
          <a:lstStyle/>
          <a:p>
            <a:pPr marL="342900" indent="-342900"/>
            <a:r>
              <a:rPr lang="en-US" sz="2400" dirty="0"/>
              <a:t>The mitochondrion contains enzymes and intermediates needed for oxidation of sugars and generation of </a:t>
            </a:r>
            <a:r>
              <a:rPr lang="en-US" sz="2400" i="1" dirty="0"/>
              <a:t>adenosine triphosphate (</a:t>
            </a:r>
            <a:r>
              <a:rPr lang="en-US" sz="2400" i="1" spc="-300" dirty="0"/>
              <a:t>A T </a:t>
            </a:r>
            <a:r>
              <a:rPr lang="en-US" sz="2400" i="1" dirty="0"/>
              <a:t>P)</a:t>
            </a:r>
            <a:r>
              <a:rPr lang="en-US" sz="2400" dirty="0"/>
              <a:t>.</a:t>
            </a:r>
          </a:p>
          <a:p>
            <a:pPr marL="342900" indent="-342900"/>
            <a:r>
              <a:rPr lang="en-US" sz="2400" dirty="0"/>
              <a:t>Many of these are found on </a:t>
            </a:r>
            <a:r>
              <a:rPr lang="en-US" sz="2400" b="1" dirty="0"/>
              <a:t>cristae</a:t>
            </a:r>
            <a:r>
              <a:rPr lang="en-US" sz="2400" dirty="0"/>
              <a:t>, </a:t>
            </a:r>
            <a:r>
              <a:rPr lang="en-US" sz="2400" dirty="0" err="1"/>
              <a:t>infoldings</a:t>
            </a:r>
            <a:r>
              <a:rPr lang="en-US" sz="2400" dirty="0"/>
              <a:t> of the mitochondrial membrane.</a:t>
            </a:r>
          </a:p>
          <a:p>
            <a:pPr marL="342900" indent="-342900"/>
            <a:r>
              <a:rPr lang="en-US" sz="2400" dirty="0"/>
              <a:t>Cells with high energy needs have many mitochondria, located in the region of the cell where the need is greatest.</a:t>
            </a:r>
          </a:p>
          <a:p>
            <a:pPr marL="342900" indent="-342900"/>
            <a:r>
              <a:rPr lang="en-US" sz="2400" dirty="0"/>
              <a:t>Such cells include sperm and muscle cells.</a:t>
            </a:r>
          </a:p>
        </p:txBody>
      </p:sp>
    </p:spTree>
    <p:extLst>
      <p:ext uri="{BB962C8B-B14F-4D97-AF65-F5344CB8AC3E}">
        <p14:creationId xmlns:p14="http://schemas.microsoft.com/office/powerpoint/2010/main" val="328406223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40434" y="159377"/>
            <a:ext cx="8302240" cy="553998"/>
          </a:xfrm>
        </p:spPr>
        <p:txBody>
          <a:bodyPr lIns="0" tIns="0" rIns="0" bIns="0" anchor="ctr">
            <a:spAutoFit/>
          </a:bodyPr>
          <a:lstStyle/>
          <a:p>
            <a:r>
              <a:rPr lang="en-US" sz="3600" dirty="0">
                <a:latin typeface="+mj-lt"/>
              </a:rPr>
              <a:t>The Chloroplast </a:t>
            </a:r>
            <a:r>
              <a:rPr lang="en-US" sz="2800" dirty="0">
                <a:latin typeface="+mj-lt"/>
              </a:rPr>
              <a:t>(1 of 2)</a:t>
            </a: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40434" y="1087035"/>
            <a:ext cx="8302240" cy="3339376"/>
          </a:xfrm>
          <a:noFill/>
          <a:ln>
            <a:noFill/>
          </a:ln>
        </p:spPr>
        <p:txBody>
          <a:bodyPr lIns="0" tIns="0" rIns="0" bIns="0" anchor="t" anchorCtr="0">
            <a:spAutoFit/>
          </a:bodyPr>
          <a:lstStyle/>
          <a:p>
            <a:pPr marL="342900" indent="-342900"/>
            <a:r>
              <a:rPr lang="en-US" sz="2400" dirty="0"/>
              <a:t>The </a:t>
            </a:r>
            <a:r>
              <a:rPr lang="en-US" sz="2400" b="1" dirty="0"/>
              <a:t>chloroplast</a:t>
            </a:r>
            <a:r>
              <a:rPr lang="en-US" sz="2400" dirty="0"/>
              <a:t> is the site of photosynthesis in plants and algae.</a:t>
            </a:r>
          </a:p>
          <a:p>
            <a:pPr marL="342900" indent="-342900"/>
            <a:r>
              <a:rPr lang="en-US" sz="2400" dirty="0"/>
              <a:t>They are large and can be quite numerous in the cells of green plants.</a:t>
            </a:r>
          </a:p>
          <a:p>
            <a:pPr marL="342900" indent="-342900"/>
            <a:r>
              <a:rPr lang="en-US" sz="2400" dirty="0"/>
              <a:t>They are surrounded by both inner and outer membranes and contain a system of flattened membranous sacs called </a:t>
            </a:r>
            <a:r>
              <a:rPr lang="en-US" sz="2400" b="1" dirty="0"/>
              <a:t>thylakoids</a:t>
            </a:r>
            <a:r>
              <a:rPr lang="en-US" sz="2400" dirty="0"/>
              <a:t> (interconnected by </a:t>
            </a:r>
            <a:r>
              <a:rPr lang="en-US" sz="2400" b="1" dirty="0"/>
              <a:t>stroma</a:t>
            </a:r>
            <a:r>
              <a:rPr lang="en-US" sz="2400" dirty="0"/>
              <a:t> </a:t>
            </a:r>
            <a:r>
              <a:rPr lang="en-US" sz="2400" b="1" dirty="0"/>
              <a:t>thylakoids</a:t>
            </a:r>
            <a:r>
              <a:rPr lang="en-US" sz="2400" dirty="0"/>
              <a:t>), stacked into </a:t>
            </a:r>
            <a:r>
              <a:rPr lang="en-US" sz="2400" b="1" dirty="0"/>
              <a:t>grana</a:t>
            </a:r>
            <a:r>
              <a:rPr lang="en-US" sz="2400" dirty="0"/>
              <a:t>.</a:t>
            </a:r>
          </a:p>
        </p:txBody>
      </p:sp>
    </p:spTree>
    <p:extLst>
      <p:ext uri="{BB962C8B-B14F-4D97-AF65-F5344CB8AC3E}">
        <p14:creationId xmlns:p14="http://schemas.microsoft.com/office/powerpoint/2010/main" val="319540131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47984" y="158496"/>
            <a:ext cx="8229600" cy="553998"/>
          </a:xfrm>
        </p:spPr>
        <p:txBody>
          <a:bodyPr lIns="0" tIns="0" rIns="0" bIns="0" anchor="ctr">
            <a:spAutoFit/>
          </a:bodyPr>
          <a:lstStyle/>
          <a:p>
            <a:r>
              <a:rPr lang="en-US" dirty="0"/>
              <a:t>The Chloroplast </a:t>
            </a:r>
            <a:r>
              <a:rPr lang="en-US" sz="2800" dirty="0"/>
              <a:t>(2 of 2)</a:t>
            </a:r>
          </a:p>
        </p:txBody>
      </p:sp>
      <p:sp>
        <p:nvSpPr>
          <p:cNvPr id="6" name="Content Placeholder 5"/>
          <p:cNvSpPr>
            <a:spLocks noGrp="1"/>
          </p:cNvSpPr>
          <p:nvPr>
            <p:ph sz="quarter" idx="15"/>
          </p:nvPr>
        </p:nvSpPr>
        <p:spPr>
          <a:xfrm>
            <a:off x="439190" y="949900"/>
            <a:ext cx="8256234" cy="369332"/>
          </a:xfrm>
        </p:spPr>
        <p:txBody>
          <a:bodyPr lIns="0" tIns="0" rIns="0" bIns="0">
            <a:spAutoFit/>
          </a:bodyPr>
          <a:lstStyle/>
          <a:p>
            <a:pPr marL="0" indent="0">
              <a:buNone/>
            </a:pPr>
            <a:r>
              <a:rPr lang="en-US" sz="2400" b="1" dirty="0"/>
              <a:t>Figure 4.14 </a:t>
            </a:r>
            <a:r>
              <a:rPr lang="en-US" sz="2400" dirty="0"/>
              <a:t>The Chloroplast.</a:t>
            </a:r>
          </a:p>
        </p:txBody>
      </p:sp>
      <p:pic>
        <p:nvPicPr>
          <p:cNvPr id="4" name="Picture Placeholder 3" descr="A four-part illustration shows a cutaway view of the plant cell chloroplast, an electron microscopic view of chloroplast, schematic view of the chloroplast, and a cutaway view of a chloroplast grana. Long description is available in notes, press F6"/>
          <p:cNvPicPr>
            <a:picLocks noGrp="1" noChangeAspect="1"/>
          </p:cNvPicPr>
          <p:nvPr>
            <p:ph type="pic" sz="quarter" idx="16"/>
          </p:nvPr>
        </p:nvPicPr>
        <p:blipFill rotWithShape="1">
          <a:blip r:embed="rId3">
            <a:extLst>
              <a:ext uri="{28A0092B-C50C-407E-A947-70E740481C1C}">
                <a14:useLocalDpi xmlns:a14="http://schemas.microsoft.com/office/drawing/2010/main" val="0"/>
              </a:ext>
            </a:extLst>
          </a:blip>
          <a:srcRect b="2264"/>
          <a:stretch/>
        </p:blipFill>
        <p:spPr>
          <a:xfrm>
            <a:off x="1561480" y="1588155"/>
            <a:ext cx="6021041" cy="4576507"/>
          </a:xfrm>
        </p:spPr>
      </p:pic>
    </p:spTree>
    <p:extLst>
      <p:ext uri="{BB962C8B-B14F-4D97-AF65-F5344CB8AC3E}">
        <p14:creationId xmlns:p14="http://schemas.microsoft.com/office/powerpoint/2010/main" val="247150042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40434" y="161921"/>
            <a:ext cx="8302240" cy="553998"/>
          </a:xfrm>
        </p:spPr>
        <p:txBody>
          <a:bodyPr lIns="0" tIns="0" rIns="0" bIns="0" anchor="ctr">
            <a:spAutoFit/>
          </a:bodyPr>
          <a:lstStyle/>
          <a:p>
            <a:r>
              <a:rPr lang="en-US" sz="3600" dirty="0">
                <a:latin typeface="+mj-lt"/>
              </a:rPr>
              <a:t>Chloroplast Function </a:t>
            </a:r>
            <a:r>
              <a:rPr lang="en-US" sz="2800" dirty="0">
                <a:latin typeface="+mj-lt"/>
              </a:rPr>
              <a:t>(1 of 2)</a:t>
            </a: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40434" y="1082198"/>
            <a:ext cx="8302240" cy="2039020"/>
          </a:xfrm>
          <a:noFill/>
          <a:ln>
            <a:noFill/>
          </a:ln>
        </p:spPr>
        <p:txBody>
          <a:bodyPr lIns="0" tIns="0" rIns="0" bIns="0" anchor="t" anchorCtr="0">
            <a:spAutoFit/>
          </a:bodyPr>
          <a:lstStyle/>
          <a:p>
            <a:pPr marL="342900" indent="-342900"/>
            <a:r>
              <a:rPr lang="en-US" sz="2400" dirty="0"/>
              <a:t>Chloroplasts are the site of </a:t>
            </a:r>
            <a:r>
              <a:rPr lang="en-US" sz="2400" i="1" dirty="0"/>
              <a:t>photosynthesis</a:t>
            </a:r>
            <a:r>
              <a:rPr lang="en-US" sz="2400" dirty="0"/>
              <a:t>, a process that uses solar energy and </a:t>
            </a:r>
            <a:r>
              <a:rPr lang="en-US" sz="2400" spc="-300" dirty="0"/>
              <a:t>C </a:t>
            </a:r>
            <a:r>
              <a:rPr lang="en-US" sz="2400" dirty="0"/>
              <a:t>O</a:t>
            </a:r>
            <a:r>
              <a:rPr lang="en-US" sz="2400" baseline="-25000" dirty="0"/>
              <a:t>2</a:t>
            </a:r>
            <a:r>
              <a:rPr lang="en-US" sz="2400" dirty="0"/>
              <a:t> to produce sugars and other organic compounds.</a:t>
            </a:r>
          </a:p>
          <a:p>
            <a:pPr marL="342900" indent="-342900"/>
            <a:r>
              <a:rPr lang="en-US" sz="2400" dirty="0"/>
              <a:t>Chloroplasts are found in photosynthetic cells and contain most of the enzymes needed for photosynthesis.</a:t>
            </a:r>
          </a:p>
        </p:txBody>
      </p:sp>
    </p:spTree>
    <p:extLst>
      <p:ext uri="{BB962C8B-B14F-4D97-AF65-F5344CB8AC3E}">
        <p14:creationId xmlns:p14="http://schemas.microsoft.com/office/powerpoint/2010/main" val="85664097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40434" y="161921"/>
            <a:ext cx="8302240" cy="553998"/>
          </a:xfrm>
        </p:spPr>
        <p:txBody>
          <a:bodyPr lIns="0" tIns="0" rIns="0" bIns="0" anchor="ctr">
            <a:spAutoFit/>
          </a:bodyPr>
          <a:lstStyle/>
          <a:p>
            <a:r>
              <a:rPr lang="en-US" sz="3600" dirty="0">
                <a:latin typeface="+mj-lt"/>
              </a:rPr>
              <a:t>Chloroplast Function </a:t>
            </a:r>
            <a:r>
              <a:rPr lang="en-US" sz="2800" dirty="0">
                <a:latin typeface="+mj-lt"/>
              </a:rPr>
              <a:t>(2 of 2)</a:t>
            </a: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40434" y="1077172"/>
            <a:ext cx="8302240" cy="3339376"/>
          </a:xfrm>
          <a:noFill/>
          <a:ln>
            <a:noFill/>
          </a:ln>
        </p:spPr>
        <p:txBody>
          <a:bodyPr lIns="0" tIns="0" rIns="0" bIns="0" anchor="t" anchorCtr="0">
            <a:spAutoFit/>
          </a:bodyPr>
          <a:lstStyle/>
          <a:p>
            <a:pPr marL="342900" indent="-342900"/>
            <a:r>
              <a:rPr lang="en-US" sz="2400" dirty="0"/>
              <a:t>Reactions that depend on solar energy take place in or on the thylakoid membranes.</a:t>
            </a:r>
          </a:p>
          <a:p>
            <a:pPr marL="342900" indent="-342900"/>
            <a:r>
              <a:rPr lang="en-US" sz="2400" dirty="0"/>
              <a:t>Reactions involved in the reduction of </a:t>
            </a:r>
            <a:r>
              <a:rPr lang="en-US" sz="2400" spc="-300" dirty="0"/>
              <a:t>C </a:t>
            </a:r>
            <a:r>
              <a:rPr lang="en-US" sz="2400" dirty="0"/>
              <a:t>O</a:t>
            </a:r>
            <a:r>
              <a:rPr lang="en-US" sz="2400" baseline="-25000" dirty="0"/>
              <a:t>2</a:t>
            </a:r>
            <a:r>
              <a:rPr lang="en-US" sz="2400" dirty="0"/>
              <a:t> to sugar occur within the </a:t>
            </a:r>
            <a:r>
              <a:rPr lang="en-US" sz="2400" b="1" dirty="0"/>
              <a:t>stroma</a:t>
            </a:r>
            <a:r>
              <a:rPr lang="en-US" sz="2400" dirty="0"/>
              <a:t>, a semifluid in the interior of the chloroplast.</a:t>
            </a:r>
          </a:p>
          <a:p>
            <a:pPr marL="342900" indent="-342900"/>
            <a:r>
              <a:rPr lang="en-US" sz="2400" dirty="0"/>
              <a:t>Chloroplasts contain their own ribosomes and a small, circular </a:t>
            </a:r>
            <a:r>
              <a:rPr lang="en-US" sz="2400" spc="-300" dirty="0"/>
              <a:t>D N </a:t>
            </a:r>
            <a:r>
              <a:rPr lang="en-US" sz="2400" dirty="0"/>
              <a:t>A molecule that encodes some </a:t>
            </a:r>
            <a:r>
              <a:rPr lang="en-US" sz="2400" spc="-300" dirty="0"/>
              <a:t>R N A </a:t>
            </a:r>
            <a:r>
              <a:rPr lang="en-US" sz="2400" dirty="0"/>
              <a:t>s and proteins needed in the chloroplast.</a:t>
            </a:r>
          </a:p>
        </p:txBody>
      </p:sp>
    </p:spTree>
    <p:extLst>
      <p:ext uri="{BB962C8B-B14F-4D97-AF65-F5344CB8AC3E}">
        <p14:creationId xmlns:p14="http://schemas.microsoft.com/office/powerpoint/2010/main" val="365754002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40434" y="161921"/>
            <a:ext cx="8302240" cy="553998"/>
          </a:xfrm>
        </p:spPr>
        <p:txBody>
          <a:bodyPr lIns="0" tIns="0" rIns="0" bIns="0" anchor="ctr">
            <a:spAutoFit/>
          </a:bodyPr>
          <a:lstStyle/>
          <a:p>
            <a:r>
              <a:rPr lang="en-US" sz="3600" dirty="0">
                <a:latin typeface="+mj-lt"/>
              </a:rPr>
              <a:t>Plastids</a:t>
            </a: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40434" y="1082195"/>
            <a:ext cx="8302240" cy="2793072"/>
          </a:xfrm>
          <a:noFill/>
          <a:ln>
            <a:noFill/>
          </a:ln>
        </p:spPr>
        <p:txBody>
          <a:bodyPr lIns="0" tIns="0" rIns="0" bIns="0" anchor="t" anchorCtr="0">
            <a:spAutoFit/>
          </a:bodyPr>
          <a:lstStyle/>
          <a:p>
            <a:pPr marL="342900" indent="-342900"/>
            <a:r>
              <a:rPr lang="en-US" sz="2400" dirty="0"/>
              <a:t>Class of plant organelles</a:t>
            </a:r>
          </a:p>
          <a:p>
            <a:pPr marL="342900" indent="-342900"/>
            <a:r>
              <a:rPr lang="en-US" sz="2400" dirty="0"/>
              <a:t>Chloroplasts are one of several types of </a:t>
            </a:r>
            <a:r>
              <a:rPr lang="en-US" sz="2400" b="1" dirty="0"/>
              <a:t>plastids</a:t>
            </a:r>
            <a:r>
              <a:rPr lang="en-US" sz="2400" dirty="0"/>
              <a:t> found in plant cells.</a:t>
            </a:r>
          </a:p>
          <a:p>
            <a:pPr marL="342900" indent="-342900"/>
            <a:r>
              <a:rPr lang="en-US" sz="2400" i="1" dirty="0" err="1"/>
              <a:t>Chromoplasts</a:t>
            </a:r>
            <a:r>
              <a:rPr lang="en-US" sz="2400" dirty="0"/>
              <a:t> are pigment-containing plastids responsible for the coloration of flowers, fruits, and other plant parts.</a:t>
            </a:r>
          </a:p>
          <a:p>
            <a:pPr marL="342900" indent="-342900"/>
            <a:r>
              <a:rPr lang="en-US" sz="2400" i="1" dirty="0" err="1"/>
              <a:t>Amyloplasts</a:t>
            </a:r>
            <a:r>
              <a:rPr lang="en-US" sz="2400" dirty="0"/>
              <a:t> are specialized for the storage of starches.</a:t>
            </a:r>
          </a:p>
        </p:txBody>
      </p:sp>
    </p:spTree>
    <p:extLst>
      <p:ext uri="{BB962C8B-B14F-4D97-AF65-F5344CB8AC3E}">
        <p14:creationId xmlns:p14="http://schemas.microsoft.com/office/powerpoint/2010/main" val="200117384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40434" y="161430"/>
            <a:ext cx="8302240" cy="1661993"/>
          </a:xfrm>
        </p:spPr>
        <p:txBody>
          <a:bodyPr lIns="0" tIns="0" rIns="0" bIns="0" anchor="ctr">
            <a:spAutoFit/>
          </a:bodyPr>
          <a:lstStyle/>
          <a:p>
            <a:r>
              <a:rPr lang="en-US" sz="3600" dirty="0">
                <a:latin typeface="+mj-lt"/>
              </a:rPr>
              <a:t>The Endosymbiont Theory Proposes That Mitochondria and Chloroplasts Were Derived from Bacteria</a:t>
            </a: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40434" y="2074225"/>
            <a:ext cx="8302240" cy="1669688"/>
          </a:xfrm>
          <a:noFill/>
          <a:ln>
            <a:noFill/>
          </a:ln>
        </p:spPr>
        <p:txBody>
          <a:bodyPr lIns="0" tIns="0" rIns="0" bIns="0" anchor="t" anchorCtr="0">
            <a:spAutoFit/>
          </a:bodyPr>
          <a:lstStyle/>
          <a:p>
            <a:pPr marL="342900" indent="-342900"/>
            <a:r>
              <a:rPr lang="en-US" sz="2400" dirty="0"/>
              <a:t>Mitochondria and chloroplasts are </a:t>
            </a:r>
            <a:r>
              <a:rPr lang="en-US" sz="2400" b="1" dirty="0"/>
              <a:t>semiautonomous</a:t>
            </a:r>
            <a:r>
              <a:rPr lang="en-US" sz="2400" dirty="0"/>
              <a:t> </a:t>
            </a:r>
            <a:r>
              <a:rPr lang="en-US" sz="2400" b="1" dirty="0"/>
              <a:t>organelles</a:t>
            </a:r>
            <a:r>
              <a:rPr lang="en-US" sz="2400" dirty="0"/>
              <a:t>, with many similarities to bacteria.</a:t>
            </a:r>
          </a:p>
          <a:p>
            <a:pPr marL="342900" indent="-342900"/>
            <a:r>
              <a:rPr lang="en-US" sz="2400" dirty="0"/>
              <a:t>Semiautonomous organelles can divide on their own and contain their own </a:t>
            </a:r>
            <a:r>
              <a:rPr lang="en-US" sz="2400" spc="-300" dirty="0"/>
              <a:t>D N </a:t>
            </a:r>
            <a:r>
              <a:rPr lang="en-US" sz="2400" dirty="0"/>
              <a:t>A, </a:t>
            </a:r>
            <a:r>
              <a:rPr lang="en-US" sz="2400" spc="-300" dirty="0"/>
              <a:t>m R N </a:t>
            </a:r>
            <a:r>
              <a:rPr lang="en-US" sz="2400" dirty="0"/>
              <a:t>A, </a:t>
            </a:r>
            <a:r>
              <a:rPr lang="en-US" sz="2400" spc="-300" dirty="0"/>
              <a:t>t R N A </a:t>
            </a:r>
            <a:r>
              <a:rPr lang="en-US" sz="2400" dirty="0"/>
              <a:t>s, and ribosomes.</a:t>
            </a:r>
          </a:p>
        </p:txBody>
      </p:sp>
    </p:spTree>
    <p:extLst>
      <p:ext uri="{BB962C8B-B14F-4D97-AF65-F5344CB8AC3E}">
        <p14:creationId xmlns:p14="http://schemas.microsoft.com/office/powerpoint/2010/main" val="146433787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40434" y="161429"/>
            <a:ext cx="8302240" cy="1661993"/>
          </a:xfrm>
        </p:spPr>
        <p:txBody>
          <a:bodyPr lIns="0" tIns="0" rIns="0" bIns="0" anchor="ctr">
            <a:spAutoFit/>
          </a:bodyPr>
          <a:lstStyle/>
          <a:p>
            <a:r>
              <a:rPr lang="en-US" sz="3600" dirty="0">
                <a:latin typeface="+mj-lt"/>
              </a:rPr>
              <a:t>Other Similarities Between Mitochondria and Chloroplasts and Bacteria</a:t>
            </a: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40434" y="2074226"/>
            <a:ext cx="8302240" cy="3339376"/>
          </a:xfrm>
          <a:noFill/>
          <a:ln>
            <a:noFill/>
          </a:ln>
        </p:spPr>
        <p:txBody>
          <a:bodyPr lIns="0" tIns="0" rIns="0" bIns="0" anchor="t" anchorCtr="0">
            <a:spAutoFit/>
          </a:bodyPr>
          <a:lstStyle/>
          <a:p>
            <a:pPr marL="342900" indent="-342900"/>
            <a:r>
              <a:rPr lang="en-US" sz="2400" dirty="0"/>
              <a:t>Both resemble bacteria in size and shape and are surrounded by double membranes, the inner of which has bacterial-type lipids.</a:t>
            </a:r>
          </a:p>
          <a:p>
            <a:pPr marL="342900" indent="-342900"/>
            <a:r>
              <a:rPr lang="en-US" sz="2400" dirty="0"/>
              <a:t>All have circular </a:t>
            </a:r>
            <a:r>
              <a:rPr lang="en-US" sz="2400" spc="-300" dirty="0"/>
              <a:t>D N </a:t>
            </a:r>
            <a:r>
              <a:rPr lang="en-US" sz="2400" dirty="0"/>
              <a:t>A molecules without associated histones.</a:t>
            </a:r>
          </a:p>
          <a:p>
            <a:pPr marL="342900" indent="-342900"/>
            <a:r>
              <a:rPr lang="en-US" sz="2400" spc="-300" dirty="0"/>
              <a:t>r </a:t>
            </a:r>
            <a:r>
              <a:rPr lang="en-US" sz="2400" spc="-300" dirty="0" err="1"/>
              <a:t>R</a:t>
            </a:r>
            <a:r>
              <a:rPr lang="en-US" sz="2400" spc="-300" dirty="0"/>
              <a:t> N </a:t>
            </a:r>
            <a:r>
              <a:rPr lang="en-US" sz="2400" dirty="0"/>
              <a:t>A sequences, ribosome size, sensitivities to inhibitors of </a:t>
            </a:r>
            <a:r>
              <a:rPr lang="en-US" sz="2400" spc="-300" dirty="0"/>
              <a:t>R N </a:t>
            </a:r>
            <a:r>
              <a:rPr lang="en-US" sz="2400" dirty="0"/>
              <a:t>A and protein synthesis, and type of protein factors used in protein synthesis are all similar.</a:t>
            </a:r>
          </a:p>
        </p:txBody>
      </p:sp>
    </p:spTree>
    <p:extLst>
      <p:ext uri="{BB962C8B-B14F-4D97-AF65-F5344CB8AC3E}">
        <p14:creationId xmlns:p14="http://schemas.microsoft.com/office/powerpoint/2010/main" val="409512527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40434" y="189218"/>
            <a:ext cx="8302240" cy="553998"/>
          </a:xfrm>
        </p:spPr>
        <p:txBody>
          <a:bodyPr lIns="0" tIns="0" rIns="0" bIns="0" anchor="ctr">
            <a:spAutoFit/>
          </a:bodyPr>
          <a:lstStyle/>
          <a:p>
            <a:r>
              <a:rPr lang="en-US" sz="3600" dirty="0">
                <a:latin typeface="+mj-lt"/>
              </a:rPr>
              <a:t>The Endosymbiont Theory</a:t>
            </a: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40434" y="1090820"/>
            <a:ext cx="8302240" cy="3901068"/>
          </a:xfrm>
          <a:noFill/>
          <a:ln>
            <a:noFill/>
          </a:ln>
        </p:spPr>
        <p:txBody>
          <a:bodyPr lIns="0" tIns="0" rIns="0" bIns="0" anchor="t" anchorCtr="0">
            <a:spAutoFit/>
          </a:bodyPr>
          <a:lstStyle/>
          <a:p>
            <a:pPr marL="342900" indent="-342900"/>
            <a:r>
              <a:rPr lang="en-US" sz="2400" dirty="0"/>
              <a:t>The </a:t>
            </a:r>
            <a:r>
              <a:rPr lang="en-US" sz="2400" b="1" dirty="0"/>
              <a:t>endosymbiont theory</a:t>
            </a:r>
            <a:r>
              <a:rPr lang="en-US" sz="2400" dirty="0"/>
              <a:t> suggests that mitochondria and chloroplasts evolved from ancient bacteria that established a symbiotic relationship with primitive nucleated cells.</a:t>
            </a:r>
          </a:p>
          <a:p>
            <a:pPr marL="342900" indent="-342900"/>
            <a:r>
              <a:rPr lang="en-US" sz="2400" dirty="0"/>
              <a:t>Evidence of this theory: </a:t>
            </a:r>
          </a:p>
          <a:p>
            <a:pPr marL="342900" indent="-342900"/>
            <a:r>
              <a:rPr lang="en-US" sz="2400" dirty="0"/>
              <a:t>Mitochondria and chloroplasts have a double membrane (like bacteria). </a:t>
            </a:r>
          </a:p>
          <a:p>
            <a:pPr marL="342900" indent="-342900"/>
            <a:r>
              <a:rPr lang="en-US" sz="2400" dirty="0"/>
              <a:t>The membranes have bacteria-like lipids and transmembrane proteins.</a:t>
            </a:r>
          </a:p>
        </p:txBody>
      </p:sp>
    </p:spTree>
    <p:extLst>
      <p:ext uri="{BB962C8B-B14F-4D97-AF65-F5344CB8AC3E}">
        <p14:creationId xmlns:p14="http://schemas.microsoft.com/office/powerpoint/2010/main" val="418845269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40434" y="162383"/>
            <a:ext cx="8302240" cy="1107996"/>
          </a:xfrm>
        </p:spPr>
        <p:txBody>
          <a:bodyPr lIns="0" tIns="0" rIns="0" bIns="0" anchor="ctr">
            <a:spAutoFit/>
          </a:bodyPr>
          <a:lstStyle/>
          <a:p>
            <a:r>
              <a:rPr lang="en-US" sz="3600" dirty="0">
                <a:latin typeface="+mj-lt"/>
              </a:rPr>
              <a:t>Outside-In Versus Inside-Out Theories of Eukaryotic Origins</a:t>
            </a: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40434" y="1496262"/>
            <a:ext cx="8302240" cy="1669688"/>
          </a:xfrm>
          <a:noFill/>
          <a:ln>
            <a:noFill/>
          </a:ln>
        </p:spPr>
        <p:txBody>
          <a:bodyPr lIns="0" tIns="0" rIns="0" bIns="0" anchor="t" anchorCtr="0">
            <a:spAutoFit/>
          </a:bodyPr>
          <a:lstStyle/>
          <a:p>
            <a:pPr marL="342900" indent="-342900"/>
            <a:r>
              <a:rPr lang="en-US" sz="2400" dirty="0"/>
              <a:t>Eukaryotic cells have a nuclear envelope and mitochondria.</a:t>
            </a:r>
          </a:p>
          <a:p>
            <a:pPr marL="342900" indent="-342900"/>
            <a:r>
              <a:rPr lang="en-US" sz="2400" dirty="0"/>
              <a:t>Two classes of theories to account for these features: </a:t>
            </a:r>
            <a:r>
              <a:rPr lang="en-US" sz="2400" i="1" dirty="0"/>
              <a:t>outside-in and inside-out theories</a:t>
            </a:r>
            <a:r>
              <a:rPr lang="en-US" sz="2400" dirty="0"/>
              <a:t>.</a:t>
            </a:r>
          </a:p>
        </p:txBody>
      </p:sp>
    </p:spTree>
    <p:extLst>
      <p:ext uri="{BB962C8B-B14F-4D97-AF65-F5344CB8AC3E}">
        <p14:creationId xmlns:p14="http://schemas.microsoft.com/office/powerpoint/2010/main" val="172958490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40434" y="163342"/>
            <a:ext cx="8302240" cy="553998"/>
          </a:xfrm>
        </p:spPr>
        <p:txBody>
          <a:bodyPr lIns="0" tIns="0" rIns="0" bIns="0" anchor="ctr">
            <a:spAutoFit/>
          </a:bodyPr>
          <a:lstStyle/>
          <a:p>
            <a:r>
              <a:rPr lang="en-US" sz="3600" dirty="0">
                <a:latin typeface="+mj-lt"/>
              </a:rPr>
              <a:t>Outside-In Theories</a:t>
            </a: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40434" y="1090818"/>
            <a:ext cx="8302240" cy="2754600"/>
          </a:xfrm>
          <a:noFill/>
          <a:ln>
            <a:noFill/>
          </a:ln>
        </p:spPr>
        <p:txBody>
          <a:bodyPr lIns="0" tIns="0" rIns="0" bIns="0" anchor="t" anchorCtr="0">
            <a:spAutoFit/>
          </a:bodyPr>
          <a:lstStyle/>
          <a:p>
            <a:pPr marL="342900" indent="-342900"/>
            <a:r>
              <a:rPr lang="en-US" sz="2200" dirty="0"/>
              <a:t>In the </a:t>
            </a:r>
            <a:r>
              <a:rPr lang="en-US" sz="2200" b="1" dirty="0" err="1"/>
              <a:t>protoeukaryote</a:t>
            </a:r>
            <a:r>
              <a:rPr lang="en-US" sz="2200" dirty="0"/>
              <a:t> (ancestor of eukaryotic cells) the nuclear envelop formed by an invagination of the cell’s plasma membrane and eventually surrounded the cell’s </a:t>
            </a:r>
            <a:r>
              <a:rPr lang="en-US" sz="2200" spc="-300" dirty="0"/>
              <a:t>D N </a:t>
            </a:r>
            <a:r>
              <a:rPr lang="en-US" sz="2200" dirty="0"/>
              <a:t>A.</a:t>
            </a:r>
          </a:p>
          <a:p>
            <a:pPr marL="342900" indent="-342900"/>
            <a:r>
              <a:rPr lang="en-US" sz="2200" dirty="0"/>
              <a:t>These cells developed the ability to engulf nutrients and particles (</a:t>
            </a:r>
            <a:r>
              <a:rPr lang="en-US" sz="2200" i="1" dirty="0"/>
              <a:t>phagocytosis</a:t>
            </a:r>
            <a:r>
              <a:rPr lang="en-US" sz="2200" dirty="0"/>
              <a:t>), including bacteria and cyanobacteria.</a:t>
            </a:r>
          </a:p>
          <a:p>
            <a:pPr marL="342900" indent="-342900"/>
            <a:r>
              <a:rPr lang="en-US" sz="2200" dirty="0"/>
              <a:t>Instead of digesting the smaller cells, they were surrounded by host cell membrane and evolved with the </a:t>
            </a:r>
            <a:r>
              <a:rPr lang="en-US" sz="2200" dirty="0" err="1"/>
              <a:t>protoeukaryote</a:t>
            </a:r>
            <a:r>
              <a:rPr lang="en-US" sz="2200" dirty="0"/>
              <a:t>.</a:t>
            </a:r>
          </a:p>
        </p:txBody>
      </p:sp>
    </p:spTree>
    <p:extLst>
      <p:ext uri="{BB962C8B-B14F-4D97-AF65-F5344CB8AC3E}">
        <p14:creationId xmlns:p14="http://schemas.microsoft.com/office/powerpoint/2010/main" val="191695366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40434" y="161924"/>
            <a:ext cx="8302240" cy="553998"/>
          </a:xfrm>
        </p:spPr>
        <p:txBody>
          <a:bodyPr lIns="0" tIns="0" rIns="0" bIns="0" anchor="ctr">
            <a:spAutoFit/>
          </a:bodyPr>
          <a:lstStyle/>
          <a:p>
            <a:r>
              <a:rPr lang="en-US" sz="3600" dirty="0">
                <a:latin typeface="+mj-lt"/>
              </a:rPr>
              <a:t>Inside-out Theories</a:t>
            </a: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40434" y="1090821"/>
            <a:ext cx="8302240" cy="3901068"/>
          </a:xfrm>
          <a:noFill/>
          <a:ln>
            <a:noFill/>
          </a:ln>
        </p:spPr>
        <p:txBody>
          <a:bodyPr lIns="0" tIns="0" rIns="0" bIns="0" anchor="t" anchorCtr="0">
            <a:spAutoFit/>
          </a:bodyPr>
          <a:lstStyle/>
          <a:p>
            <a:pPr marL="342900" indent="-342900"/>
            <a:r>
              <a:rPr lang="en-US" sz="2400" dirty="0"/>
              <a:t>Some archaeal cells form protrusions.</a:t>
            </a:r>
          </a:p>
          <a:p>
            <a:pPr marL="342900" indent="-342900"/>
            <a:r>
              <a:rPr lang="en-US" sz="2400" dirty="0"/>
              <a:t>The </a:t>
            </a:r>
            <a:r>
              <a:rPr lang="en-US" sz="2400" dirty="0" err="1"/>
              <a:t>protoeukaryote</a:t>
            </a:r>
            <a:r>
              <a:rPr lang="en-US" sz="2400" dirty="0"/>
              <a:t> cell could make these protrusions which led to the ability to interact with and engulf nearby bacteria. These enveloped bacteria could then evolve into mitochondria.</a:t>
            </a:r>
          </a:p>
          <a:p>
            <a:pPr marL="342900" indent="-342900"/>
            <a:r>
              <a:rPr lang="en-US" sz="2400" dirty="0"/>
              <a:t>These protrusions also made it possible to form a primitive endoplasmic reticulum. </a:t>
            </a:r>
          </a:p>
          <a:p>
            <a:pPr marL="342900" indent="-342900"/>
            <a:r>
              <a:rPr lang="en-US" sz="2400" dirty="0"/>
              <a:t>The nuclear membrane originated from the outer plasma membrane.</a:t>
            </a:r>
          </a:p>
        </p:txBody>
      </p:sp>
    </p:spTree>
    <p:extLst>
      <p:ext uri="{BB962C8B-B14F-4D97-AF65-F5344CB8AC3E}">
        <p14:creationId xmlns:p14="http://schemas.microsoft.com/office/powerpoint/2010/main" val="1371188710"/>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40434" y="161924"/>
            <a:ext cx="8302240" cy="553998"/>
          </a:xfrm>
        </p:spPr>
        <p:txBody>
          <a:bodyPr lIns="0" tIns="0" rIns="0" bIns="0" anchor="ctr">
            <a:spAutoFit/>
          </a:bodyPr>
          <a:lstStyle/>
          <a:p>
            <a:r>
              <a:rPr lang="en-US" sz="3600" dirty="0">
                <a:latin typeface="+mj-lt"/>
              </a:rPr>
              <a:t>Three-Membrane Problem</a:t>
            </a: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40434" y="1082196"/>
            <a:ext cx="8038548" cy="1546577"/>
          </a:xfrm>
          <a:noFill/>
          <a:ln>
            <a:noFill/>
          </a:ln>
        </p:spPr>
        <p:txBody>
          <a:bodyPr wrap="square" lIns="0" tIns="0" rIns="0" bIns="0" anchor="t" anchorCtr="0">
            <a:spAutoFit/>
          </a:bodyPr>
          <a:lstStyle/>
          <a:p>
            <a:pPr marL="342900" indent="-342900"/>
            <a:r>
              <a:rPr lang="en-US" sz="2200" dirty="0">
                <a:solidFill>
                  <a:schemeClr val="tx1"/>
                </a:solidFill>
              </a:rPr>
              <a:t>In either the outside-in or inside-out theories, the mitochondria should have three membranes surrounding it—its own double membrane and one membrane from the host.</a:t>
            </a:r>
          </a:p>
          <a:p>
            <a:pPr marL="342900" indent="-342900"/>
            <a:r>
              <a:rPr lang="en-US" sz="2200" dirty="0">
                <a:solidFill>
                  <a:schemeClr val="tx1"/>
                </a:solidFill>
              </a:rPr>
              <a:t>Mitochondria only have two membranes.</a:t>
            </a:r>
          </a:p>
        </p:txBody>
      </p:sp>
    </p:spTree>
    <p:extLst>
      <p:ext uri="{BB962C8B-B14F-4D97-AF65-F5344CB8AC3E}">
        <p14:creationId xmlns:p14="http://schemas.microsoft.com/office/powerpoint/2010/main" val="9029707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47984" y="222768"/>
            <a:ext cx="8229600" cy="492443"/>
          </a:xfrm>
        </p:spPr>
        <p:txBody>
          <a:bodyPr lIns="0" tIns="0" rIns="0" bIns="0" anchor="ctr">
            <a:spAutoFit/>
          </a:bodyPr>
          <a:lstStyle/>
          <a:p>
            <a:r>
              <a:rPr lang="en-US" sz="3200" dirty="0"/>
              <a:t>Theories of Endosymbiosis</a:t>
            </a:r>
          </a:p>
        </p:txBody>
      </p:sp>
      <p:sp>
        <p:nvSpPr>
          <p:cNvPr id="6" name="Content Placeholder 5"/>
          <p:cNvSpPr>
            <a:spLocks noGrp="1"/>
          </p:cNvSpPr>
          <p:nvPr>
            <p:ph sz="quarter" idx="15"/>
          </p:nvPr>
        </p:nvSpPr>
        <p:spPr>
          <a:xfrm>
            <a:off x="438602" y="898051"/>
            <a:ext cx="8256234" cy="369332"/>
          </a:xfrm>
          <a:noFill/>
          <a:ln>
            <a:noFill/>
          </a:ln>
        </p:spPr>
        <p:txBody>
          <a:bodyPr lIns="0" tIns="0" rIns="0" bIns="0" anchor="t" anchorCtr="0">
            <a:spAutoFit/>
          </a:bodyPr>
          <a:lstStyle/>
          <a:p>
            <a:pPr marL="0" indent="0">
              <a:buNone/>
            </a:pPr>
            <a:r>
              <a:rPr lang="en-US" sz="2400" b="1" dirty="0"/>
              <a:t>Figure 4.15</a:t>
            </a:r>
            <a:r>
              <a:rPr lang="en-US" sz="2400" dirty="0"/>
              <a:t> Theories of Endosymbiosis. </a:t>
            </a:r>
          </a:p>
        </p:txBody>
      </p:sp>
      <p:pic>
        <p:nvPicPr>
          <p:cNvPr id="4" name="Picture Placeholder 3" descr="An illustration shows outside-in theory and inside-out theory of endosymbiosis. The process starts with protoeukaryote and ends in a cell.&#10;Long description is available in notes, press F6"/>
          <p:cNvPicPr>
            <a:picLocks noGrp="1" noChangeAspect="1"/>
          </p:cNvPicPr>
          <p:nvPr>
            <p:ph type="pic" sz="quarter" idx="16"/>
          </p:nvPr>
        </p:nvPicPr>
        <p:blipFill rotWithShape="1">
          <a:blip r:embed="rId3">
            <a:extLst>
              <a:ext uri="{28A0092B-C50C-407E-A947-70E740481C1C}">
                <a14:useLocalDpi xmlns:a14="http://schemas.microsoft.com/office/drawing/2010/main" val="0"/>
              </a:ext>
            </a:extLst>
          </a:blip>
          <a:srcRect b="3759"/>
          <a:stretch/>
        </p:blipFill>
        <p:spPr>
          <a:xfrm>
            <a:off x="581185" y="1593808"/>
            <a:ext cx="7963198" cy="4077933"/>
          </a:xfrm>
        </p:spPr>
      </p:pic>
    </p:spTree>
    <p:extLst>
      <p:ext uri="{BB962C8B-B14F-4D97-AF65-F5344CB8AC3E}">
        <p14:creationId xmlns:p14="http://schemas.microsoft.com/office/powerpoint/2010/main" val="1162309588"/>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40434" y="152573"/>
            <a:ext cx="8302240" cy="1107996"/>
          </a:xfrm>
        </p:spPr>
        <p:txBody>
          <a:bodyPr lIns="0" tIns="0" rIns="0" bIns="0" anchor="ctr">
            <a:spAutoFit/>
          </a:bodyPr>
          <a:lstStyle/>
          <a:p>
            <a:r>
              <a:rPr lang="en-US" sz="3600" dirty="0">
                <a:latin typeface="+mj-lt"/>
              </a:rPr>
              <a:t>Mitochondria Evolution from Ancient Aerobic Bacteria</a:t>
            </a: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40434" y="1488594"/>
            <a:ext cx="8302240" cy="3339376"/>
          </a:xfrm>
          <a:noFill/>
          <a:ln>
            <a:noFill/>
          </a:ln>
        </p:spPr>
        <p:txBody>
          <a:bodyPr lIns="0" tIns="0" rIns="0" bIns="0" anchor="t" anchorCtr="0">
            <a:spAutoFit/>
          </a:bodyPr>
          <a:lstStyle/>
          <a:p>
            <a:pPr marL="342900" indent="-342900"/>
            <a:r>
              <a:rPr lang="en-US" sz="2400" dirty="0"/>
              <a:t>The first step toward evolution of mitochondria may have occurred when an anaerobic </a:t>
            </a:r>
            <a:r>
              <a:rPr lang="en-US" sz="2400" dirty="0" err="1"/>
              <a:t>protoeukaryote</a:t>
            </a:r>
            <a:r>
              <a:rPr lang="en-US" sz="2400" dirty="0"/>
              <a:t> ingested smaller aerobic bacteria by phagocytosis.</a:t>
            </a:r>
          </a:p>
          <a:p>
            <a:pPr marL="342900" indent="-342900"/>
            <a:r>
              <a:rPr lang="en-US" sz="2400" dirty="0"/>
              <a:t>The aerobic bacteria were able to utilize glucose of the host cell efficiently in the presence of oxygen and could provide the anaerobic cell with additional energy.</a:t>
            </a:r>
          </a:p>
          <a:p>
            <a:pPr marL="342900" indent="-342900"/>
            <a:r>
              <a:rPr lang="en-US" sz="2400" dirty="0"/>
              <a:t>This mutually beneficial relationship led to the gradual loss of independence of the bacterial cells.</a:t>
            </a:r>
          </a:p>
        </p:txBody>
      </p:sp>
    </p:spTree>
    <p:extLst>
      <p:ext uri="{BB962C8B-B14F-4D97-AF65-F5344CB8AC3E}">
        <p14:creationId xmlns:p14="http://schemas.microsoft.com/office/powerpoint/2010/main" val="205267878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40434" y="166221"/>
            <a:ext cx="8302240" cy="1107996"/>
          </a:xfrm>
        </p:spPr>
        <p:txBody>
          <a:bodyPr lIns="0" tIns="0" rIns="0" bIns="0" anchor="ctr">
            <a:spAutoFit/>
          </a:bodyPr>
          <a:lstStyle/>
          <a:p>
            <a:r>
              <a:rPr lang="en-US" sz="3600" dirty="0">
                <a:latin typeface="+mj-lt"/>
              </a:rPr>
              <a:t>Chloroplasts Evolution from Ancient Photosynthetic Bacteria</a:t>
            </a: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40434" y="1488593"/>
            <a:ext cx="8302240" cy="3708708"/>
          </a:xfrm>
          <a:noFill/>
          <a:ln>
            <a:noFill/>
          </a:ln>
        </p:spPr>
        <p:txBody>
          <a:bodyPr lIns="0" tIns="0" rIns="0" bIns="0" anchor="t" anchorCtr="0">
            <a:spAutoFit/>
          </a:bodyPr>
          <a:lstStyle/>
          <a:p>
            <a:pPr marL="342900" indent="-342900"/>
            <a:r>
              <a:rPr lang="en-US" sz="2400" dirty="0"/>
              <a:t>The first step toward evolution of chloroplasts may have occurred when an early eukaryotic cell (perhaps containing a primitive mitochondria) ingested primitive photosynthetic cells.</a:t>
            </a:r>
          </a:p>
          <a:p>
            <a:pPr marL="342900" indent="-342900"/>
            <a:r>
              <a:rPr lang="en-US" sz="2400" dirty="0"/>
              <a:t>The ingested organism probably provided energy to the host cell in exchange for shelter and nutrients.</a:t>
            </a:r>
          </a:p>
          <a:p>
            <a:pPr marL="342900" indent="-342900"/>
            <a:r>
              <a:rPr lang="en-US" sz="2400" dirty="0"/>
              <a:t>This mutually beneficial relationship led to the gradual loss of functions not needed in the photosynthetic cells’ new environment.</a:t>
            </a:r>
          </a:p>
        </p:txBody>
      </p:sp>
    </p:spTree>
    <p:extLst>
      <p:ext uri="{BB962C8B-B14F-4D97-AF65-F5344CB8AC3E}">
        <p14:creationId xmlns:p14="http://schemas.microsoft.com/office/powerpoint/2010/main" val="222170087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40434" y="161924"/>
            <a:ext cx="8302240" cy="553998"/>
          </a:xfrm>
        </p:spPr>
        <p:txBody>
          <a:bodyPr lIns="0" tIns="0" rIns="0" bIns="0" anchor="ctr">
            <a:spAutoFit/>
          </a:bodyPr>
          <a:lstStyle/>
          <a:p>
            <a:r>
              <a:rPr lang="en-US" sz="3600" dirty="0">
                <a:latin typeface="+mj-lt"/>
              </a:rPr>
              <a:t>Endosymbiosis Is Still Occurring</a:t>
            </a: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40434" y="1083151"/>
            <a:ext cx="8302240" cy="2408352"/>
          </a:xfrm>
          <a:noFill/>
          <a:ln>
            <a:noFill/>
          </a:ln>
        </p:spPr>
        <p:txBody>
          <a:bodyPr lIns="0" tIns="0" rIns="0" bIns="0" anchor="t" anchorCtr="0">
            <a:spAutoFit/>
          </a:bodyPr>
          <a:lstStyle/>
          <a:p>
            <a:pPr marL="342900" indent="-342900"/>
            <a:r>
              <a:rPr lang="en-US" sz="2400" dirty="0"/>
              <a:t>Algae, dinoflagellates, diatoms, and photosynthetic bacteria live as endosymbionts in the cells of more than 150 existing </a:t>
            </a:r>
            <a:r>
              <a:rPr lang="en-US" sz="2400" dirty="0" err="1"/>
              <a:t>protists</a:t>
            </a:r>
            <a:r>
              <a:rPr lang="en-US" sz="2400" dirty="0"/>
              <a:t> and invertebrates.</a:t>
            </a:r>
          </a:p>
          <a:p>
            <a:pPr marL="342900" indent="-342900"/>
            <a:r>
              <a:rPr lang="en-US" sz="2400" dirty="0"/>
              <a:t>Our ideas about how eukaryotic cells acquired their complex array of organelles must remain speculative because we can never test them directly.</a:t>
            </a:r>
          </a:p>
        </p:txBody>
      </p:sp>
    </p:spTree>
    <p:extLst>
      <p:ext uri="{BB962C8B-B14F-4D97-AF65-F5344CB8AC3E}">
        <p14:creationId xmlns:p14="http://schemas.microsoft.com/office/powerpoint/2010/main" val="7066990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40434" y="206559"/>
            <a:ext cx="8302240" cy="1477328"/>
          </a:xfrm>
        </p:spPr>
        <p:txBody>
          <a:bodyPr lIns="0" tIns="0" rIns="0" bIns="0" anchor="ctr">
            <a:spAutoFit/>
          </a:bodyPr>
          <a:lstStyle/>
          <a:p>
            <a:r>
              <a:rPr lang="en-US" sz="3200" dirty="0">
                <a:latin typeface="+mj-lt"/>
              </a:rPr>
              <a:t>The Endomembrane System Synthesizes Proteins for a Variety of Cellular Destinations</a:t>
            </a: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40434" y="2048156"/>
            <a:ext cx="8302240" cy="2039020"/>
          </a:xfrm>
          <a:noFill/>
          <a:ln>
            <a:noFill/>
          </a:ln>
        </p:spPr>
        <p:txBody>
          <a:bodyPr lIns="0" tIns="0" rIns="0" bIns="0" anchor="t" anchorCtr="0">
            <a:spAutoFit/>
          </a:bodyPr>
          <a:lstStyle/>
          <a:p>
            <a:pPr marL="342900" indent="-342900"/>
            <a:r>
              <a:rPr lang="en-US" sz="2400" dirty="0"/>
              <a:t>The endomembrane system synthesizes proteins destined for various organelles, cellular membranes, or secretion.</a:t>
            </a:r>
          </a:p>
          <a:p>
            <a:pPr marL="342900" indent="-342900"/>
            <a:r>
              <a:rPr lang="en-US" sz="2400" dirty="0"/>
              <a:t>The proteins are packaged and then directed to various destinations around the cell in small membrane-bound vesicles.</a:t>
            </a:r>
          </a:p>
        </p:txBody>
      </p:sp>
    </p:spTree>
    <p:extLst>
      <p:ext uri="{BB962C8B-B14F-4D97-AF65-F5344CB8AC3E}">
        <p14:creationId xmlns:p14="http://schemas.microsoft.com/office/powerpoint/2010/main" val="3000877031"/>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40434" y="176521"/>
            <a:ext cx="8302240" cy="553998"/>
          </a:xfrm>
        </p:spPr>
        <p:txBody>
          <a:bodyPr lIns="0" tIns="0" rIns="0" bIns="0" anchor="ctr">
            <a:spAutoFit/>
          </a:bodyPr>
          <a:lstStyle/>
          <a:p>
            <a:r>
              <a:rPr lang="en-US" sz="3600" dirty="0">
                <a:latin typeface="+mj-lt"/>
              </a:rPr>
              <a:t>The Endoplasmic Reticulum </a:t>
            </a:r>
            <a:r>
              <a:rPr lang="en-US" sz="2800" dirty="0">
                <a:latin typeface="+mj-lt"/>
              </a:rPr>
              <a:t>(1 of 2)</a:t>
            </a: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40434" y="1083152"/>
            <a:ext cx="8302240" cy="3162404"/>
          </a:xfrm>
          <a:noFill/>
          <a:ln>
            <a:noFill/>
          </a:ln>
        </p:spPr>
        <p:txBody>
          <a:bodyPr lIns="0" tIns="0" rIns="0" bIns="0" anchor="t" anchorCtr="0">
            <a:spAutoFit/>
          </a:bodyPr>
          <a:lstStyle/>
          <a:p>
            <a:pPr marL="342900" indent="-342900"/>
            <a:r>
              <a:rPr lang="en-US" sz="2400" dirty="0"/>
              <a:t>Almost every eukaryotic cell has a network of membranes in the cytoplasm, called the </a:t>
            </a:r>
            <a:r>
              <a:rPr lang="en-US" sz="2400" b="1" dirty="0"/>
              <a:t>endoplasmic</a:t>
            </a:r>
            <a:r>
              <a:rPr lang="en-US" sz="2400" dirty="0"/>
              <a:t> </a:t>
            </a:r>
            <a:r>
              <a:rPr lang="en-US" sz="2400" b="1" dirty="0"/>
              <a:t>reticulum</a:t>
            </a:r>
            <a:r>
              <a:rPr lang="en-US" sz="2400" dirty="0"/>
              <a:t> (</a:t>
            </a:r>
            <a:r>
              <a:rPr lang="en-US" sz="2400" b="1" spc="-300" dirty="0"/>
              <a:t>E </a:t>
            </a:r>
            <a:r>
              <a:rPr lang="en-US" sz="2400" b="1" dirty="0"/>
              <a:t>R</a:t>
            </a:r>
            <a:r>
              <a:rPr lang="en-US" sz="2400" dirty="0"/>
              <a:t>).</a:t>
            </a:r>
          </a:p>
          <a:p>
            <a:pPr marL="342900" indent="-342900"/>
            <a:r>
              <a:rPr lang="en-US" sz="2400" dirty="0"/>
              <a:t>It consists of tubular membranes and flattened sacs called </a:t>
            </a:r>
            <a:r>
              <a:rPr lang="en-US" sz="2400" b="1" dirty="0"/>
              <a:t>cisternae</a:t>
            </a:r>
            <a:r>
              <a:rPr lang="en-US" sz="2400" dirty="0"/>
              <a:t>.</a:t>
            </a:r>
          </a:p>
          <a:p>
            <a:pPr marL="342900" indent="-342900"/>
            <a:r>
              <a:rPr lang="en-US" sz="2400" dirty="0"/>
              <a:t>The internal space of the </a:t>
            </a:r>
            <a:r>
              <a:rPr lang="en-US" sz="2400" spc="-300" dirty="0"/>
              <a:t>E </a:t>
            </a:r>
            <a:r>
              <a:rPr lang="en-US" sz="2400" dirty="0"/>
              <a:t>R is called the </a:t>
            </a:r>
            <a:r>
              <a:rPr lang="en-US" sz="2400" b="1" dirty="0"/>
              <a:t>lumen</a:t>
            </a:r>
            <a:r>
              <a:rPr lang="en-US" sz="2400" dirty="0"/>
              <a:t>.</a:t>
            </a:r>
          </a:p>
          <a:p>
            <a:pPr marL="342900" indent="-342900"/>
            <a:r>
              <a:rPr lang="en-US" sz="2400" dirty="0"/>
              <a:t>The </a:t>
            </a:r>
            <a:r>
              <a:rPr lang="en-US" sz="2400" spc="-300" dirty="0"/>
              <a:t>E </a:t>
            </a:r>
            <a:r>
              <a:rPr lang="en-US" sz="2400" dirty="0"/>
              <a:t>R is continuous with the other membranes in the cell.</a:t>
            </a:r>
          </a:p>
        </p:txBody>
      </p:sp>
    </p:spTree>
    <p:extLst>
      <p:ext uri="{BB962C8B-B14F-4D97-AF65-F5344CB8AC3E}">
        <p14:creationId xmlns:p14="http://schemas.microsoft.com/office/powerpoint/2010/main" val="436996616"/>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39358" y="177166"/>
            <a:ext cx="8229600" cy="553998"/>
          </a:xfrm>
        </p:spPr>
        <p:txBody>
          <a:bodyPr lIns="0" tIns="0" rIns="0" bIns="0" anchor="ctr">
            <a:spAutoFit/>
          </a:bodyPr>
          <a:lstStyle/>
          <a:p>
            <a:r>
              <a:rPr lang="en-US" dirty="0"/>
              <a:t>The Endoplasmic Reticulum </a:t>
            </a:r>
            <a:r>
              <a:rPr lang="en-US" sz="2800" dirty="0"/>
              <a:t>(2 of 2)</a:t>
            </a:r>
          </a:p>
        </p:txBody>
      </p:sp>
      <p:sp>
        <p:nvSpPr>
          <p:cNvPr id="6" name="Content Placeholder 5"/>
          <p:cNvSpPr>
            <a:spLocks noGrp="1"/>
          </p:cNvSpPr>
          <p:nvPr>
            <p:ph sz="quarter" idx="15"/>
          </p:nvPr>
        </p:nvSpPr>
        <p:spPr>
          <a:xfrm>
            <a:off x="447817" y="903842"/>
            <a:ext cx="2759408" cy="1107996"/>
          </a:xfrm>
        </p:spPr>
        <p:txBody>
          <a:bodyPr wrap="square" lIns="0" tIns="0" rIns="0" bIns="0">
            <a:spAutoFit/>
          </a:bodyPr>
          <a:lstStyle/>
          <a:p>
            <a:pPr marL="0" indent="0">
              <a:buNone/>
            </a:pPr>
            <a:r>
              <a:rPr lang="en-US" sz="2400" b="1" dirty="0"/>
              <a:t>Figure 4.16 </a:t>
            </a:r>
            <a:r>
              <a:rPr lang="en-US" sz="2400" dirty="0"/>
              <a:t>The Endoplasmic Reticulum. </a:t>
            </a:r>
          </a:p>
        </p:txBody>
      </p:sp>
      <p:pic>
        <p:nvPicPr>
          <p:cNvPr id="4" name="Picture Placeholder 3" descr="A four-part illustration shows the cutaway view of a cell, rough endoplasmic reticulum, electron micrograph of smooth endoplasmic reticulum, and an electron micrograph of rough endoplasmic reticulum. &#10;Long description is available in notes, press F6"/>
          <p:cNvPicPr>
            <a:picLocks noGrp="1" noChangeAspect="1"/>
          </p:cNvPicPr>
          <p:nvPr>
            <p:ph type="pic" sz="quarter" idx="16"/>
          </p:nvPr>
        </p:nvPicPr>
        <p:blipFill rotWithShape="1">
          <a:blip r:embed="rId3">
            <a:extLst>
              <a:ext uri="{28A0092B-C50C-407E-A947-70E740481C1C}">
                <a14:useLocalDpi xmlns:a14="http://schemas.microsoft.com/office/drawing/2010/main" val="0"/>
              </a:ext>
            </a:extLst>
          </a:blip>
          <a:srcRect b="1733"/>
          <a:stretch/>
        </p:blipFill>
        <p:spPr>
          <a:xfrm>
            <a:off x="3337663" y="946746"/>
            <a:ext cx="5338746" cy="4299667"/>
          </a:xfrm>
        </p:spPr>
      </p:pic>
    </p:spTree>
    <p:extLst>
      <p:ext uri="{BB962C8B-B14F-4D97-AF65-F5344CB8AC3E}">
        <p14:creationId xmlns:p14="http://schemas.microsoft.com/office/powerpoint/2010/main" val="2867053459"/>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40434" y="162873"/>
            <a:ext cx="8302240" cy="553998"/>
          </a:xfrm>
        </p:spPr>
        <p:txBody>
          <a:bodyPr lIns="0" tIns="0" rIns="0" bIns="0" anchor="ctr">
            <a:spAutoFit/>
          </a:bodyPr>
          <a:lstStyle/>
          <a:p>
            <a:r>
              <a:rPr lang="en-US" sz="3600" dirty="0">
                <a:latin typeface="+mj-lt"/>
              </a:rPr>
              <a:t>Rough Endoplasmic Reticulum</a:t>
            </a: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40434" y="1074530"/>
            <a:ext cx="8302240" cy="3162404"/>
          </a:xfrm>
          <a:noFill/>
          <a:ln>
            <a:noFill/>
          </a:ln>
        </p:spPr>
        <p:txBody>
          <a:bodyPr lIns="0" tIns="0" rIns="0" bIns="0" anchor="t" anchorCtr="0">
            <a:spAutoFit/>
          </a:bodyPr>
          <a:lstStyle/>
          <a:p>
            <a:pPr marL="342900" indent="-342900"/>
            <a:r>
              <a:rPr lang="en-US" sz="2400" spc="-300" dirty="0"/>
              <a:t>E </a:t>
            </a:r>
            <a:r>
              <a:rPr lang="en-US" sz="2400" dirty="0"/>
              <a:t>R can be </a:t>
            </a:r>
            <a:r>
              <a:rPr lang="en-US" sz="2400" i="1" dirty="0"/>
              <a:t>rough</a:t>
            </a:r>
            <a:r>
              <a:rPr lang="en-US" sz="2400" dirty="0"/>
              <a:t> or </a:t>
            </a:r>
            <a:r>
              <a:rPr lang="en-US" sz="2400" i="1" dirty="0"/>
              <a:t>smooth</a:t>
            </a:r>
            <a:r>
              <a:rPr lang="en-US" sz="2400" dirty="0"/>
              <a:t> in appearance.</a:t>
            </a:r>
          </a:p>
          <a:p>
            <a:pPr marL="342900" indent="-342900"/>
            <a:r>
              <a:rPr lang="en-US" sz="2400" b="1" dirty="0"/>
              <a:t>Rough </a:t>
            </a:r>
            <a:r>
              <a:rPr lang="en-US" sz="2400" b="1" spc="-300" dirty="0"/>
              <a:t>E </a:t>
            </a:r>
            <a:r>
              <a:rPr lang="en-US" sz="2400" b="1" dirty="0"/>
              <a:t>R </a:t>
            </a:r>
            <a:r>
              <a:rPr lang="en-US" sz="2400" dirty="0"/>
              <a:t>is studded with ribosomes on the cytoplasmic side of the membrane.</a:t>
            </a:r>
          </a:p>
          <a:p>
            <a:pPr marL="342900" indent="-342900"/>
            <a:r>
              <a:rPr lang="en-US" sz="2400" dirty="0"/>
              <a:t>These ribosomes synthesize polypeptides that accumulate within the membrane or are transported across it to the lumen.</a:t>
            </a:r>
          </a:p>
          <a:p>
            <a:pPr marL="342900" indent="-342900"/>
            <a:r>
              <a:rPr lang="en-US" sz="2400" dirty="0"/>
              <a:t>Free ribosomes are not associated with the </a:t>
            </a:r>
            <a:r>
              <a:rPr lang="en-US" sz="2400" spc="-300" dirty="0"/>
              <a:t>E </a:t>
            </a:r>
            <a:r>
              <a:rPr lang="en-US" sz="2400" dirty="0"/>
              <a:t>R.</a:t>
            </a:r>
          </a:p>
        </p:txBody>
      </p:sp>
    </p:spTree>
    <p:extLst>
      <p:ext uri="{BB962C8B-B14F-4D97-AF65-F5344CB8AC3E}">
        <p14:creationId xmlns:p14="http://schemas.microsoft.com/office/powerpoint/2010/main" val="823366833"/>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40434" y="162873"/>
            <a:ext cx="8302240" cy="553998"/>
          </a:xfrm>
        </p:spPr>
        <p:txBody>
          <a:bodyPr lIns="0" tIns="0" rIns="0" bIns="0" anchor="ctr">
            <a:spAutoFit/>
          </a:bodyPr>
          <a:lstStyle/>
          <a:p>
            <a:r>
              <a:rPr lang="en-US" sz="3600" dirty="0">
                <a:latin typeface="+mj-lt"/>
              </a:rPr>
              <a:t>Smooth Endoplasmic Reticulum</a:t>
            </a: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40434" y="1074526"/>
            <a:ext cx="8302240" cy="3162404"/>
          </a:xfrm>
          <a:noFill/>
          <a:ln>
            <a:noFill/>
          </a:ln>
        </p:spPr>
        <p:txBody>
          <a:bodyPr lIns="0" tIns="0" rIns="0" bIns="0" anchor="t" anchorCtr="0">
            <a:spAutoFit/>
          </a:bodyPr>
          <a:lstStyle/>
          <a:p>
            <a:pPr marL="342900" indent="-342900"/>
            <a:r>
              <a:rPr lang="en-US" sz="2400" b="1" dirty="0"/>
              <a:t>Smooth </a:t>
            </a:r>
            <a:r>
              <a:rPr lang="en-US" sz="2400" b="1" spc="-300" dirty="0"/>
              <a:t>E </a:t>
            </a:r>
            <a:r>
              <a:rPr lang="en-US" sz="2400" b="1" dirty="0"/>
              <a:t>R </a:t>
            </a:r>
            <a:r>
              <a:rPr lang="en-US" sz="2400" dirty="0"/>
              <a:t>has no role in protein synthesis.</a:t>
            </a:r>
          </a:p>
          <a:p>
            <a:pPr marL="342900" indent="-342900"/>
            <a:r>
              <a:rPr lang="en-US" sz="2400" dirty="0"/>
              <a:t>It is involved in the synthesis of lipids and steroids such as cholesterol and its derivatives.</a:t>
            </a:r>
          </a:p>
          <a:p>
            <a:pPr marL="342900" indent="-342900"/>
            <a:r>
              <a:rPr lang="en-US" sz="2400" dirty="0"/>
              <a:t>Smooth </a:t>
            </a:r>
            <a:r>
              <a:rPr lang="en-US" sz="2400" spc="-300" dirty="0"/>
              <a:t>E </a:t>
            </a:r>
            <a:r>
              <a:rPr lang="en-US" sz="2400" dirty="0"/>
              <a:t>R is responsible for inactivating and detoxifying potentially harmful substances.</a:t>
            </a:r>
          </a:p>
          <a:p>
            <a:pPr marL="342900" indent="-342900"/>
            <a:r>
              <a:rPr lang="en-US" sz="2400" i="1" dirty="0"/>
              <a:t>Sarcoplasmic reticulum </a:t>
            </a:r>
            <a:r>
              <a:rPr lang="en-US" sz="2400" dirty="0"/>
              <a:t>has critical functions in contraction.</a:t>
            </a:r>
          </a:p>
        </p:txBody>
      </p:sp>
    </p:spTree>
    <p:extLst>
      <p:ext uri="{BB962C8B-B14F-4D97-AF65-F5344CB8AC3E}">
        <p14:creationId xmlns:p14="http://schemas.microsoft.com/office/powerpoint/2010/main" val="193727962"/>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40434" y="162873"/>
            <a:ext cx="8302240" cy="553998"/>
          </a:xfrm>
        </p:spPr>
        <p:txBody>
          <a:bodyPr lIns="0" tIns="0" rIns="0" bIns="0" anchor="ctr">
            <a:spAutoFit/>
          </a:bodyPr>
          <a:lstStyle/>
          <a:p>
            <a:r>
              <a:rPr lang="en-US" sz="3600" dirty="0">
                <a:latin typeface="+mj-lt"/>
              </a:rPr>
              <a:t>The Golgi Apparatus </a:t>
            </a:r>
            <a:r>
              <a:rPr lang="en-US" sz="2800" dirty="0">
                <a:latin typeface="+mj-lt"/>
              </a:rPr>
              <a:t>(1 of 2)</a:t>
            </a: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40434" y="1083153"/>
            <a:ext cx="8302240" cy="2970044"/>
          </a:xfrm>
          <a:noFill/>
          <a:ln>
            <a:noFill/>
          </a:ln>
        </p:spPr>
        <p:txBody>
          <a:bodyPr lIns="0" tIns="0" rIns="0" bIns="0" anchor="t" anchorCtr="0">
            <a:spAutoFit/>
          </a:bodyPr>
          <a:lstStyle/>
          <a:p>
            <a:pPr marL="342900" indent="-342900"/>
            <a:r>
              <a:rPr lang="en-US" sz="2400" dirty="0"/>
              <a:t>The </a:t>
            </a:r>
            <a:r>
              <a:rPr lang="en-US" sz="2400" b="1" dirty="0"/>
              <a:t>Golgi</a:t>
            </a:r>
            <a:r>
              <a:rPr lang="en-US" sz="2400" dirty="0"/>
              <a:t> </a:t>
            </a:r>
            <a:r>
              <a:rPr lang="en-US" sz="2400" b="1" dirty="0"/>
              <a:t>apparatus</a:t>
            </a:r>
            <a:r>
              <a:rPr lang="en-US" sz="2400" dirty="0"/>
              <a:t>, closely related to the </a:t>
            </a:r>
            <a:r>
              <a:rPr lang="en-US" sz="2400" spc="-300" dirty="0"/>
              <a:t>E </a:t>
            </a:r>
            <a:r>
              <a:rPr lang="en-US" sz="2400" dirty="0"/>
              <a:t>R in proximity and function, consists of a stack of flattened vesicles known as </a:t>
            </a:r>
            <a:r>
              <a:rPr lang="en-US" sz="2400" i="1" dirty="0"/>
              <a:t>cisternae</a:t>
            </a:r>
            <a:r>
              <a:rPr lang="en-US" sz="2400" dirty="0"/>
              <a:t>.</a:t>
            </a:r>
          </a:p>
          <a:p>
            <a:pPr marL="342900" indent="-342900"/>
            <a:r>
              <a:rPr lang="en-US" sz="2400" dirty="0"/>
              <a:t>It plays an important role in processing and packaging secretory proteins, and in synthesis of complex polysaccharides.</a:t>
            </a:r>
          </a:p>
          <a:p>
            <a:pPr marL="342900" indent="-342900"/>
            <a:r>
              <a:rPr lang="en-US" sz="2400" dirty="0"/>
              <a:t>It accepts </a:t>
            </a:r>
            <a:r>
              <a:rPr lang="en-US" sz="2400" i="1" dirty="0"/>
              <a:t>transition</a:t>
            </a:r>
            <a:r>
              <a:rPr lang="en-US" sz="2400" dirty="0"/>
              <a:t> </a:t>
            </a:r>
            <a:r>
              <a:rPr lang="en-US" sz="2400" i="1" dirty="0"/>
              <a:t>vesicles</a:t>
            </a:r>
            <a:r>
              <a:rPr lang="en-US" sz="2400" dirty="0"/>
              <a:t> that bud off the </a:t>
            </a:r>
            <a:r>
              <a:rPr lang="en-US" sz="2400" spc="-300" dirty="0"/>
              <a:t>E </a:t>
            </a:r>
            <a:r>
              <a:rPr lang="en-US" sz="2400" dirty="0"/>
              <a:t>R.</a:t>
            </a:r>
          </a:p>
        </p:txBody>
      </p:sp>
    </p:spTree>
    <p:extLst>
      <p:ext uri="{BB962C8B-B14F-4D97-AF65-F5344CB8AC3E}">
        <p14:creationId xmlns:p14="http://schemas.microsoft.com/office/powerpoint/2010/main" val="462536712"/>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40434" y="161200"/>
            <a:ext cx="8302240" cy="1107996"/>
          </a:xfrm>
        </p:spPr>
        <p:txBody>
          <a:bodyPr lIns="0" tIns="0" rIns="0" bIns="0" anchor="ctr">
            <a:spAutoFit/>
          </a:bodyPr>
          <a:lstStyle/>
          <a:p>
            <a:r>
              <a:rPr lang="en-US" sz="3600" dirty="0">
                <a:latin typeface="+mj-lt"/>
              </a:rPr>
              <a:t>The Golgi Complex Is Like a Processing Station</a:t>
            </a: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40434" y="1488592"/>
            <a:ext cx="8302240" cy="3339376"/>
          </a:xfrm>
          <a:noFill/>
          <a:ln>
            <a:noFill/>
          </a:ln>
        </p:spPr>
        <p:txBody>
          <a:bodyPr lIns="0" tIns="0" rIns="0" bIns="0" anchor="t" anchorCtr="0">
            <a:spAutoFit/>
          </a:bodyPr>
          <a:lstStyle/>
          <a:p>
            <a:pPr marL="342900" indent="-342900"/>
            <a:r>
              <a:rPr lang="en-US" sz="2400" dirty="0"/>
              <a:t>The contents of vesicles from the </a:t>
            </a:r>
            <a:r>
              <a:rPr lang="en-US" sz="2400" spc="-300" dirty="0"/>
              <a:t>E </a:t>
            </a:r>
            <a:r>
              <a:rPr lang="en-US" sz="2400" dirty="0"/>
              <a:t>R are modified and processed in the Golgi complex.</a:t>
            </a:r>
          </a:p>
          <a:p>
            <a:pPr marL="342900" indent="-342900"/>
            <a:r>
              <a:rPr lang="en-US" sz="2400" dirty="0"/>
              <a:t>For example, secretory and membrane proteins are mainly </a:t>
            </a:r>
            <a:r>
              <a:rPr lang="en-US" sz="2400" i="1" dirty="0"/>
              <a:t>glycosylated</a:t>
            </a:r>
            <a:r>
              <a:rPr lang="en-US" sz="2400" dirty="0"/>
              <a:t> (the addition of short-chain carbohydrates), a process that begins in the </a:t>
            </a:r>
            <a:r>
              <a:rPr lang="en-US" sz="2400" spc="-300" dirty="0"/>
              <a:t>E </a:t>
            </a:r>
            <a:r>
              <a:rPr lang="en-US" sz="2400" dirty="0"/>
              <a:t>R and is completed in the Golgi complex.</a:t>
            </a:r>
          </a:p>
          <a:p>
            <a:pPr marL="342900" indent="-342900"/>
            <a:r>
              <a:rPr lang="en-US" sz="2400" dirty="0"/>
              <a:t>The processed substances then move to other locations in the cell through vesicles that bud off the Golgi complex.</a:t>
            </a:r>
          </a:p>
        </p:txBody>
      </p:sp>
    </p:spTree>
    <p:extLst>
      <p:ext uri="{BB962C8B-B14F-4D97-AF65-F5344CB8AC3E}">
        <p14:creationId xmlns:p14="http://schemas.microsoft.com/office/powerpoint/2010/main" val="1287393726"/>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39358" y="163518"/>
            <a:ext cx="8229600" cy="553998"/>
          </a:xfrm>
        </p:spPr>
        <p:txBody>
          <a:bodyPr lIns="0" tIns="0" rIns="0" bIns="0" anchor="ctr">
            <a:spAutoFit/>
          </a:bodyPr>
          <a:lstStyle/>
          <a:p>
            <a:r>
              <a:rPr lang="en-US" dirty="0"/>
              <a:t>The Golgi Apparatus </a:t>
            </a:r>
            <a:r>
              <a:rPr lang="en-US" sz="2800" dirty="0"/>
              <a:t>(2 of 2)</a:t>
            </a:r>
          </a:p>
        </p:txBody>
      </p:sp>
      <p:sp>
        <p:nvSpPr>
          <p:cNvPr id="6" name="Content Placeholder 5"/>
          <p:cNvSpPr>
            <a:spLocks noGrp="1"/>
          </p:cNvSpPr>
          <p:nvPr>
            <p:ph sz="quarter" idx="15"/>
          </p:nvPr>
        </p:nvSpPr>
        <p:spPr>
          <a:xfrm>
            <a:off x="447816" y="906769"/>
            <a:ext cx="8256234" cy="369332"/>
          </a:xfrm>
          <a:noFill/>
          <a:ln>
            <a:noFill/>
          </a:ln>
        </p:spPr>
        <p:txBody>
          <a:bodyPr lIns="0" tIns="0" rIns="0" bIns="0" anchor="t" anchorCtr="0">
            <a:spAutoFit/>
          </a:bodyPr>
          <a:lstStyle/>
          <a:p>
            <a:pPr marL="0" indent="0">
              <a:buNone/>
            </a:pPr>
            <a:r>
              <a:rPr lang="en-US" sz="2400" b="1" dirty="0"/>
              <a:t>Figure 4.17</a:t>
            </a:r>
            <a:r>
              <a:rPr lang="en-US" sz="2400" dirty="0"/>
              <a:t> The Golgi Apparatus.</a:t>
            </a:r>
          </a:p>
        </p:txBody>
      </p:sp>
      <p:pic>
        <p:nvPicPr>
          <p:cNvPr id="4" name="Picture Placeholder 3" descr="A three-part illustration of a cutaway view of a cell, Golgi apparatus, and an electron micrograph of Golgi apparatus in an algal cell.&#10;Long description is available in notes, press F6"/>
          <p:cNvPicPr>
            <a:picLocks noGrp="1" noChangeAspect="1"/>
          </p:cNvPicPr>
          <p:nvPr>
            <p:ph type="pic" sz="quarter" idx="16"/>
          </p:nvPr>
        </p:nvPicPr>
        <p:blipFill rotWithShape="1">
          <a:blip r:embed="rId3">
            <a:extLst>
              <a:ext uri="{28A0092B-C50C-407E-A947-70E740481C1C}">
                <a14:useLocalDpi xmlns:a14="http://schemas.microsoft.com/office/drawing/2010/main" val="0"/>
              </a:ext>
            </a:extLst>
          </a:blip>
          <a:srcRect t="2763" b="1887"/>
          <a:stretch/>
        </p:blipFill>
        <p:spPr>
          <a:xfrm>
            <a:off x="1850327" y="1592648"/>
            <a:ext cx="5443346" cy="4708378"/>
          </a:xfrm>
        </p:spPr>
      </p:pic>
    </p:spTree>
    <p:extLst>
      <p:ext uri="{BB962C8B-B14F-4D97-AF65-F5344CB8AC3E}">
        <p14:creationId xmlns:p14="http://schemas.microsoft.com/office/powerpoint/2010/main" val="159557100"/>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40434" y="159370"/>
            <a:ext cx="8302240" cy="553998"/>
          </a:xfrm>
        </p:spPr>
        <p:txBody>
          <a:bodyPr lIns="0" tIns="0" rIns="0" bIns="0" anchor="ctr">
            <a:spAutoFit/>
          </a:bodyPr>
          <a:lstStyle/>
          <a:p>
            <a:r>
              <a:rPr lang="en-US" sz="3600" dirty="0">
                <a:latin typeface="+mj-lt"/>
              </a:rPr>
              <a:t>Secretory Vesicles</a:t>
            </a: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40434" y="1087038"/>
            <a:ext cx="8302240" cy="3339376"/>
          </a:xfrm>
          <a:noFill/>
          <a:ln>
            <a:noFill/>
          </a:ln>
        </p:spPr>
        <p:txBody>
          <a:bodyPr lIns="0" tIns="0" rIns="0" bIns="0" anchor="t" anchorCtr="0">
            <a:spAutoFit/>
          </a:bodyPr>
          <a:lstStyle/>
          <a:p>
            <a:pPr marL="342900" indent="-342900"/>
            <a:r>
              <a:rPr lang="en-US" sz="2400" dirty="0"/>
              <a:t>Once processed by the Golgi complex, materials to be exported from the cell are packaged into </a:t>
            </a:r>
            <a:r>
              <a:rPr lang="en-US" sz="2400" b="1" dirty="0"/>
              <a:t>secretory</a:t>
            </a:r>
            <a:r>
              <a:rPr lang="en-US" sz="2400" dirty="0"/>
              <a:t> </a:t>
            </a:r>
            <a:r>
              <a:rPr lang="en-US" sz="2400" b="1" dirty="0"/>
              <a:t>vesicles</a:t>
            </a:r>
            <a:r>
              <a:rPr lang="en-US" sz="2400" dirty="0"/>
              <a:t>.</a:t>
            </a:r>
          </a:p>
          <a:p>
            <a:pPr marL="342900" indent="-342900"/>
            <a:r>
              <a:rPr lang="en-US" sz="2400" dirty="0"/>
              <a:t>These move to the plasma membrane and fuse with it, releasing their contents outside the cell (</a:t>
            </a:r>
            <a:r>
              <a:rPr lang="en-US" sz="2400" i="1" dirty="0"/>
              <a:t>exocytosis</a:t>
            </a:r>
            <a:r>
              <a:rPr lang="en-US" sz="2400" dirty="0"/>
              <a:t>).</a:t>
            </a:r>
          </a:p>
          <a:p>
            <a:pPr marL="342900" indent="-342900"/>
            <a:r>
              <a:rPr lang="en-US" sz="2400" dirty="0"/>
              <a:t>The </a:t>
            </a:r>
            <a:r>
              <a:rPr lang="en-US" sz="2400" spc="-300" dirty="0"/>
              <a:t>E </a:t>
            </a:r>
            <a:r>
              <a:rPr lang="en-US" sz="2400" dirty="0"/>
              <a:t>R, Golgi, secretory vesicles, and lysosomes make up the </a:t>
            </a:r>
            <a:r>
              <a:rPr lang="en-US" sz="2400" i="1" dirty="0"/>
              <a:t>endomembrane system</a:t>
            </a:r>
            <a:r>
              <a:rPr lang="en-US" sz="2400" dirty="0"/>
              <a:t> of the cell, responsible for </a:t>
            </a:r>
            <a:r>
              <a:rPr lang="en-US" sz="2400" i="1" dirty="0"/>
              <a:t>trafficking</a:t>
            </a:r>
            <a:r>
              <a:rPr lang="en-US" sz="2400" dirty="0"/>
              <a:t> substances through the cell.</a:t>
            </a:r>
          </a:p>
        </p:txBody>
      </p:sp>
    </p:spTree>
    <p:extLst>
      <p:ext uri="{BB962C8B-B14F-4D97-AF65-F5344CB8AC3E}">
        <p14:creationId xmlns:p14="http://schemas.microsoft.com/office/powerpoint/2010/main" val="544952279"/>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47984" y="244188"/>
            <a:ext cx="8229600" cy="461665"/>
          </a:xfrm>
        </p:spPr>
        <p:txBody>
          <a:bodyPr lIns="0" tIns="0" rIns="0" bIns="0" anchor="ctr">
            <a:spAutoFit/>
          </a:bodyPr>
          <a:lstStyle/>
          <a:p>
            <a:r>
              <a:rPr lang="en-US" sz="3000" dirty="0"/>
              <a:t>The Process of Secretion in Eukaryotic Cells</a:t>
            </a:r>
          </a:p>
        </p:txBody>
      </p:sp>
      <p:sp>
        <p:nvSpPr>
          <p:cNvPr id="6" name="Content Placeholder 5"/>
          <p:cNvSpPr>
            <a:spLocks noGrp="1"/>
          </p:cNvSpPr>
          <p:nvPr>
            <p:ph sz="quarter" idx="15"/>
          </p:nvPr>
        </p:nvSpPr>
        <p:spPr>
          <a:xfrm>
            <a:off x="447816" y="902163"/>
            <a:ext cx="8256234" cy="369332"/>
          </a:xfrm>
        </p:spPr>
        <p:txBody>
          <a:bodyPr lIns="0" tIns="0" rIns="0" bIns="0">
            <a:spAutoFit/>
          </a:bodyPr>
          <a:lstStyle/>
          <a:p>
            <a:pPr marL="0" indent="0">
              <a:buNone/>
            </a:pPr>
            <a:r>
              <a:rPr lang="en-US" sz="2400" b="1" dirty="0"/>
              <a:t>Figure 4.18 </a:t>
            </a:r>
            <a:r>
              <a:rPr lang="en-US" sz="2400" dirty="0"/>
              <a:t>The Process of Secretion in Eukaryotic Cells. </a:t>
            </a:r>
          </a:p>
        </p:txBody>
      </p:sp>
      <p:pic>
        <p:nvPicPr>
          <p:cNvPr id="4" name="Picture Placeholder 3" descr="An illustration shows the process of secretion in eukaryotic cells. Proteins are synthesized on the rough E R, pass through the Golgi apparatus through the transition vesicle, secretory vesicle and leaves the cell through exocytosis.&#10;Long description is available in notes, press F6"/>
          <p:cNvPicPr>
            <a:picLocks noGrp="1" noChangeAspect="1"/>
          </p:cNvPicPr>
          <p:nvPr>
            <p:ph type="pic" sz="quarter" idx="16"/>
          </p:nvPr>
        </p:nvPicPr>
        <p:blipFill rotWithShape="1">
          <a:blip r:embed="rId3">
            <a:extLst>
              <a:ext uri="{28A0092B-C50C-407E-A947-70E740481C1C}">
                <a14:useLocalDpi xmlns:a14="http://schemas.microsoft.com/office/drawing/2010/main" val="0"/>
              </a:ext>
            </a:extLst>
          </a:blip>
          <a:srcRect b="2291"/>
          <a:stretch/>
        </p:blipFill>
        <p:spPr>
          <a:xfrm>
            <a:off x="2374719" y="1515178"/>
            <a:ext cx="4394562" cy="4797984"/>
          </a:xfrm>
        </p:spPr>
      </p:pic>
    </p:spTree>
    <p:extLst>
      <p:ext uri="{BB962C8B-B14F-4D97-AF65-F5344CB8AC3E}">
        <p14:creationId xmlns:p14="http://schemas.microsoft.com/office/powerpoint/2010/main" val="1278718626"/>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40434" y="159370"/>
            <a:ext cx="8302240" cy="553998"/>
          </a:xfrm>
        </p:spPr>
        <p:txBody>
          <a:bodyPr lIns="0" tIns="0" rIns="0" bIns="0" anchor="ctr">
            <a:spAutoFit/>
          </a:bodyPr>
          <a:lstStyle/>
          <a:p>
            <a:r>
              <a:rPr lang="en-US" sz="3600" dirty="0">
                <a:latin typeface="+mj-lt"/>
              </a:rPr>
              <a:t>The Lysosome</a:t>
            </a: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40434" y="1087038"/>
            <a:ext cx="8302240" cy="2600712"/>
          </a:xfrm>
          <a:noFill/>
          <a:ln>
            <a:noFill/>
          </a:ln>
        </p:spPr>
        <p:txBody>
          <a:bodyPr lIns="0" tIns="0" rIns="0" bIns="0" anchor="t" anchorCtr="0">
            <a:spAutoFit/>
          </a:bodyPr>
          <a:lstStyle/>
          <a:p>
            <a:pPr marL="342900" indent="-342900"/>
            <a:r>
              <a:rPr lang="en-US" sz="2400" b="1" dirty="0"/>
              <a:t>Lysosomes</a:t>
            </a:r>
            <a:r>
              <a:rPr lang="en-US" sz="2400" dirty="0"/>
              <a:t> are single-membrane organelles that store </a:t>
            </a:r>
            <a:r>
              <a:rPr lang="en-US" sz="2400" i="1" dirty="0"/>
              <a:t>hydrolases</a:t>
            </a:r>
            <a:r>
              <a:rPr lang="en-US" sz="2400" dirty="0"/>
              <a:t>, enzymes that can digest biological molecules.</a:t>
            </a:r>
          </a:p>
          <a:p>
            <a:pPr marL="342900" indent="-342900"/>
            <a:r>
              <a:rPr lang="en-US" sz="2400" dirty="0"/>
              <a:t>Hydrolases are sequestered to prevent them from digesting the contents of the cell.</a:t>
            </a:r>
          </a:p>
          <a:p>
            <a:pPr marL="342900" indent="-342900"/>
            <a:r>
              <a:rPr lang="en-US" sz="2400" dirty="0"/>
              <a:t>A special carbohydrate coating on the inner lysosome membrane protects it from digestion.</a:t>
            </a:r>
          </a:p>
        </p:txBody>
      </p:sp>
    </p:spTree>
    <p:extLst>
      <p:ext uri="{BB962C8B-B14F-4D97-AF65-F5344CB8AC3E}">
        <p14:creationId xmlns:p14="http://schemas.microsoft.com/office/powerpoint/2010/main" val="3441738179"/>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47984" y="158496"/>
            <a:ext cx="8229600" cy="553998"/>
          </a:xfrm>
        </p:spPr>
        <p:txBody>
          <a:bodyPr lIns="0" tIns="0" rIns="0" bIns="0" anchor="ctr">
            <a:spAutoFit/>
          </a:bodyPr>
          <a:lstStyle/>
          <a:p>
            <a:r>
              <a:rPr lang="en-US" dirty="0"/>
              <a:t>Lysosomes</a:t>
            </a:r>
          </a:p>
        </p:txBody>
      </p:sp>
      <p:sp>
        <p:nvSpPr>
          <p:cNvPr id="6" name="Content Placeholder 5"/>
          <p:cNvSpPr>
            <a:spLocks noGrp="1"/>
          </p:cNvSpPr>
          <p:nvPr>
            <p:ph sz="quarter" idx="15"/>
          </p:nvPr>
        </p:nvSpPr>
        <p:spPr>
          <a:xfrm>
            <a:off x="447816" y="984885"/>
            <a:ext cx="4015002" cy="369332"/>
          </a:xfrm>
        </p:spPr>
        <p:txBody>
          <a:bodyPr wrap="square" lIns="0" tIns="0" rIns="0" bIns="0">
            <a:spAutoFit/>
          </a:bodyPr>
          <a:lstStyle/>
          <a:p>
            <a:pPr marL="0" indent="0">
              <a:buNone/>
            </a:pPr>
            <a:r>
              <a:rPr lang="en-US" sz="2400" b="1" dirty="0"/>
              <a:t>Figure 4.19 </a:t>
            </a:r>
            <a:r>
              <a:rPr lang="en-US" sz="2400" dirty="0"/>
              <a:t>Lysosomes.</a:t>
            </a:r>
          </a:p>
        </p:txBody>
      </p:sp>
      <p:pic>
        <p:nvPicPr>
          <p:cNvPr id="5" name="Picture Placeholder 4" descr="A cutaway view shows lysosomes within an animal cell. An electron microscopic view shows multiple lysosomes in darker shade within a lighter shaded part. The measurement at the bottom left corner reads 0.5 micro meter."/>
          <p:cNvPicPr>
            <a:picLocks noGrp="1" noChangeAspect="1"/>
          </p:cNvPicPr>
          <p:nvPr>
            <p:ph type="pic" sz="quarter" idx="16"/>
          </p:nvPr>
        </p:nvPicPr>
        <p:blipFill rotWithShape="1">
          <a:blip r:embed="rId3">
            <a:extLst>
              <a:ext uri="{28A0092B-C50C-407E-A947-70E740481C1C}">
                <a14:useLocalDpi xmlns:a14="http://schemas.microsoft.com/office/drawing/2010/main" val="0"/>
              </a:ext>
            </a:extLst>
          </a:blip>
          <a:srcRect b="2204"/>
          <a:stretch/>
        </p:blipFill>
        <p:spPr>
          <a:xfrm>
            <a:off x="4803427" y="952249"/>
            <a:ext cx="3874095" cy="5330957"/>
          </a:xfrm>
        </p:spPr>
      </p:pic>
    </p:spTree>
    <p:extLst>
      <p:ext uri="{BB962C8B-B14F-4D97-AF65-F5344CB8AC3E}">
        <p14:creationId xmlns:p14="http://schemas.microsoft.com/office/powerpoint/2010/main" val="3434398722"/>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40434" y="163667"/>
            <a:ext cx="8302240" cy="1107996"/>
          </a:xfrm>
        </p:spPr>
        <p:txBody>
          <a:bodyPr lIns="0" tIns="0" rIns="0" bIns="0" anchor="ctr">
            <a:spAutoFit/>
          </a:bodyPr>
          <a:lstStyle/>
          <a:p>
            <a:r>
              <a:rPr lang="en-US" sz="3600" dirty="0">
                <a:latin typeface="+mj-lt"/>
              </a:rPr>
              <a:t>Other Organelles Also Have Specific Functions</a:t>
            </a: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40434" y="1484814"/>
            <a:ext cx="8302240" cy="738664"/>
          </a:xfrm>
          <a:noFill/>
          <a:ln>
            <a:noFill/>
          </a:ln>
        </p:spPr>
        <p:txBody>
          <a:bodyPr lIns="0" tIns="0" rIns="0" bIns="0" anchor="t" anchorCtr="0">
            <a:spAutoFit/>
          </a:bodyPr>
          <a:lstStyle/>
          <a:p>
            <a:pPr marL="342900" indent="-342900"/>
            <a:r>
              <a:rPr lang="en-US" sz="2400" dirty="0"/>
              <a:t>Peroxisomes and vacuoles are additional organelles with specialized cellular functions.</a:t>
            </a:r>
          </a:p>
        </p:txBody>
      </p:sp>
    </p:spTree>
    <p:extLst>
      <p:ext uri="{BB962C8B-B14F-4D97-AF65-F5344CB8AC3E}">
        <p14:creationId xmlns:p14="http://schemas.microsoft.com/office/powerpoint/2010/main" val="2600992760"/>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40434" y="159370"/>
            <a:ext cx="8302240" cy="553998"/>
          </a:xfrm>
        </p:spPr>
        <p:txBody>
          <a:bodyPr lIns="0" tIns="0" rIns="0" bIns="0" anchor="ctr">
            <a:spAutoFit/>
          </a:bodyPr>
          <a:lstStyle/>
          <a:p>
            <a:r>
              <a:rPr lang="en-US" sz="3600" dirty="0">
                <a:latin typeface="+mj-lt"/>
              </a:rPr>
              <a:t>The Peroxisome</a:t>
            </a: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40434" y="1088006"/>
            <a:ext cx="8302240" cy="2600712"/>
          </a:xfrm>
          <a:noFill/>
          <a:ln>
            <a:noFill/>
          </a:ln>
        </p:spPr>
        <p:txBody>
          <a:bodyPr wrap="square" lIns="0" tIns="0" rIns="0" bIns="0" anchor="t" anchorCtr="0">
            <a:spAutoFit/>
          </a:bodyPr>
          <a:lstStyle/>
          <a:p>
            <a:pPr marL="342900" indent="-342900"/>
            <a:r>
              <a:rPr lang="en-US" sz="2400" b="1" dirty="0"/>
              <a:t>Peroxisomes</a:t>
            </a:r>
            <a:r>
              <a:rPr lang="en-US" sz="2400" dirty="0"/>
              <a:t> resemble lysosomes in size and appearance.</a:t>
            </a:r>
          </a:p>
          <a:p>
            <a:pPr marL="342900" indent="-342900"/>
            <a:r>
              <a:rPr lang="en-US" sz="2400" dirty="0"/>
              <a:t>They are surrounded by a single membrane and perform several functions depending on cell type.</a:t>
            </a:r>
          </a:p>
          <a:p>
            <a:pPr marL="342900" indent="-342900"/>
            <a:r>
              <a:rPr lang="en-US" sz="2400" dirty="0"/>
              <a:t>Peroxisomes are especially prominent in the liver and kidney cells of animals.</a:t>
            </a:r>
          </a:p>
        </p:txBody>
      </p:sp>
    </p:spTree>
    <p:extLst>
      <p:ext uri="{BB962C8B-B14F-4D97-AF65-F5344CB8AC3E}">
        <p14:creationId xmlns:p14="http://schemas.microsoft.com/office/powerpoint/2010/main" val="2501063687"/>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40434" y="186666"/>
            <a:ext cx="8302240" cy="553998"/>
          </a:xfrm>
        </p:spPr>
        <p:txBody>
          <a:bodyPr lIns="0" tIns="0" rIns="0" bIns="0" anchor="ctr">
            <a:spAutoFit/>
          </a:bodyPr>
          <a:lstStyle/>
          <a:p>
            <a:r>
              <a:rPr lang="en-US" sz="3600" dirty="0">
                <a:latin typeface="+mj-lt"/>
              </a:rPr>
              <a:t>Hydrogen Peroxide</a:t>
            </a: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40434" y="1088004"/>
            <a:ext cx="8302240" cy="2970044"/>
          </a:xfrm>
          <a:noFill/>
          <a:ln>
            <a:noFill/>
          </a:ln>
        </p:spPr>
        <p:txBody>
          <a:bodyPr lIns="0" tIns="0" rIns="0" bIns="0" anchor="t" anchorCtr="0">
            <a:spAutoFit/>
          </a:bodyPr>
          <a:lstStyle/>
          <a:p>
            <a:pPr marL="355600" indent="-355600"/>
            <a:r>
              <a:rPr lang="en-US" sz="2400" dirty="0"/>
              <a:t>H</a:t>
            </a:r>
            <a:r>
              <a:rPr lang="en-US" sz="2400" baseline="-25000" dirty="0"/>
              <a:t>2</a:t>
            </a:r>
            <a:r>
              <a:rPr lang="en-US" sz="2400" dirty="0"/>
              <a:t>O</a:t>
            </a:r>
            <a:r>
              <a:rPr lang="en-US" sz="2400" baseline="-25000" dirty="0"/>
              <a:t>2</a:t>
            </a:r>
            <a:r>
              <a:rPr lang="en-US" sz="2400" dirty="0"/>
              <a:t> is highly toxic to cells but can be formed into water and oxygen by the enzyme </a:t>
            </a:r>
            <a:r>
              <a:rPr lang="en-US" sz="2400" i="1" dirty="0"/>
              <a:t>catalase.</a:t>
            </a:r>
            <a:endParaRPr lang="en-US" sz="2400" dirty="0"/>
          </a:p>
          <a:p>
            <a:pPr marL="355600" indent="-355600"/>
            <a:r>
              <a:rPr lang="en-US" sz="2400" dirty="0"/>
              <a:t>Eukaryotic cells have metabolic processes that produce H</a:t>
            </a:r>
            <a:r>
              <a:rPr lang="en-US" sz="2400" baseline="-25000" dirty="0"/>
              <a:t>2</a:t>
            </a:r>
            <a:r>
              <a:rPr lang="en-US" sz="2400" dirty="0"/>
              <a:t>O</a:t>
            </a:r>
            <a:r>
              <a:rPr lang="en-US" sz="2400" baseline="-25000" dirty="0"/>
              <a:t>2</a:t>
            </a:r>
            <a:r>
              <a:rPr lang="en-US" sz="2400" dirty="0"/>
              <a:t>.</a:t>
            </a:r>
            <a:r>
              <a:rPr lang="en-US" sz="2400" baseline="-25000" dirty="0"/>
              <a:t> </a:t>
            </a:r>
            <a:endParaRPr lang="en-US" sz="2400" dirty="0"/>
          </a:p>
          <a:p>
            <a:pPr marL="355600" indent="-355600"/>
            <a:r>
              <a:rPr lang="en-US" sz="2400" dirty="0"/>
              <a:t>These reactions are confined to peroxisomes that contain catalase, so that cells are protected from the harmful effects of peroxide.</a:t>
            </a:r>
          </a:p>
        </p:txBody>
      </p:sp>
    </p:spTree>
    <p:extLst>
      <p:ext uri="{BB962C8B-B14F-4D97-AF65-F5344CB8AC3E}">
        <p14:creationId xmlns:p14="http://schemas.microsoft.com/office/powerpoint/2010/main" val="2299931797"/>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47984" y="158496"/>
            <a:ext cx="8229600" cy="553998"/>
          </a:xfrm>
        </p:spPr>
        <p:txBody>
          <a:bodyPr lIns="0" tIns="0" rIns="0" bIns="0" anchor="ctr">
            <a:spAutoFit/>
          </a:bodyPr>
          <a:lstStyle/>
          <a:p>
            <a:r>
              <a:rPr lang="en-US" dirty="0"/>
              <a:t>A Peroxisome in a Liver Cell</a:t>
            </a:r>
          </a:p>
        </p:txBody>
      </p:sp>
      <p:sp>
        <p:nvSpPr>
          <p:cNvPr id="6" name="Content Placeholder 5"/>
          <p:cNvSpPr>
            <a:spLocks noGrp="1"/>
          </p:cNvSpPr>
          <p:nvPr>
            <p:ph sz="quarter" idx="15"/>
          </p:nvPr>
        </p:nvSpPr>
        <p:spPr>
          <a:xfrm>
            <a:off x="447816" y="898863"/>
            <a:ext cx="8229768" cy="369332"/>
          </a:xfrm>
        </p:spPr>
        <p:txBody>
          <a:bodyPr wrap="square" lIns="0" tIns="0" rIns="0" bIns="0">
            <a:spAutoFit/>
          </a:bodyPr>
          <a:lstStyle/>
          <a:p>
            <a:pPr marL="0" indent="0">
              <a:buNone/>
            </a:pPr>
            <a:r>
              <a:rPr lang="en-US" sz="2400" b="1" dirty="0"/>
              <a:t>Figure 4.20 </a:t>
            </a:r>
            <a:r>
              <a:rPr lang="en-US" sz="2400" dirty="0"/>
              <a:t>A Peroxisome in a Liver Cell.</a:t>
            </a:r>
          </a:p>
        </p:txBody>
      </p:sp>
      <p:pic>
        <p:nvPicPr>
          <p:cNvPr id="5" name="Picture Placeholder 4" descr="A cross section of the liver cell shows peroxisome surrounded by a single membrane. It is surrounded by rough E R. The crystalline core containing catalase is labeled in the peroxisome. The measurement marked at the left bottom corner is 1 micro meter."/>
          <p:cNvPicPr>
            <a:picLocks noGrp="1" noChangeAspect="1"/>
          </p:cNvPicPr>
          <p:nvPr>
            <p:ph type="pic" sz="quarter" idx="16"/>
          </p:nvPr>
        </p:nvPicPr>
        <p:blipFill rotWithShape="1">
          <a:blip r:embed="rId3">
            <a:extLst>
              <a:ext uri="{28A0092B-C50C-407E-A947-70E740481C1C}">
                <a14:useLocalDpi xmlns:a14="http://schemas.microsoft.com/office/drawing/2010/main" val="0"/>
              </a:ext>
            </a:extLst>
          </a:blip>
          <a:srcRect b="2816"/>
          <a:stretch/>
        </p:blipFill>
        <p:spPr>
          <a:xfrm>
            <a:off x="1779743" y="1428133"/>
            <a:ext cx="5611810" cy="4860759"/>
          </a:xfrm>
        </p:spPr>
      </p:pic>
    </p:spTree>
    <p:extLst>
      <p:ext uri="{BB962C8B-B14F-4D97-AF65-F5344CB8AC3E}">
        <p14:creationId xmlns:p14="http://schemas.microsoft.com/office/powerpoint/2010/main" val="2992416940"/>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40434" y="159370"/>
            <a:ext cx="8302240" cy="553998"/>
          </a:xfrm>
        </p:spPr>
        <p:txBody>
          <a:bodyPr lIns="0" tIns="0" rIns="0" bIns="0" anchor="ctr">
            <a:spAutoFit/>
          </a:bodyPr>
          <a:lstStyle/>
          <a:p>
            <a:r>
              <a:rPr lang="en-US" sz="3600" dirty="0">
                <a:latin typeface="+mj-lt"/>
              </a:rPr>
              <a:t>Other Functions of Peroxisomes</a:t>
            </a: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40434" y="1087041"/>
            <a:ext cx="8195566" cy="3339376"/>
          </a:xfrm>
          <a:noFill/>
          <a:ln>
            <a:noFill/>
          </a:ln>
        </p:spPr>
        <p:txBody>
          <a:bodyPr wrap="square" lIns="0" tIns="0" rIns="0" bIns="0" anchor="t" anchorCtr="0">
            <a:spAutoFit/>
          </a:bodyPr>
          <a:lstStyle/>
          <a:p>
            <a:pPr marL="342900" indent="-342900"/>
            <a:r>
              <a:rPr lang="en-US" sz="2400" dirty="0"/>
              <a:t>Peroxisomes detoxify other harmful compounds and catabolize unusual substances. </a:t>
            </a:r>
          </a:p>
          <a:p>
            <a:pPr marL="342900" indent="-342900"/>
            <a:r>
              <a:rPr lang="en-US" sz="2400" dirty="0"/>
              <a:t>In animals, they play roles in oxidative breakdown of fatty acids, especially longer-chain fatty acids (up to 22 carbon atoms).</a:t>
            </a:r>
          </a:p>
          <a:p>
            <a:pPr marL="342900" indent="-342900"/>
            <a:r>
              <a:rPr lang="en-US" sz="2400" dirty="0"/>
              <a:t>Some serious human diseases result from defects in one or more </a:t>
            </a:r>
            <a:r>
              <a:rPr lang="en-US" sz="2400" dirty="0" err="1"/>
              <a:t>peroxisomal</a:t>
            </a:r>
            <a:r>
              <a:rPr lang="en-US" sz="2400" dirty="0"/>
              <a:t> enzymes, normally involved in degrading long-chain fatty acids.</a:t>
            </a:r>
          </a:p>
        </p:txBody>
      </p:sp>
    </p:spTree>
    <p:extLst>
      <p:ext uri="{BB962C8B-B14F-4D97-AF65-F5344CB8AC3E}">
        <p14:creationId xmlns:p14="http://schemas.microsoft.com/office/powerpoint/2010/main" val="4054882950"/>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40434" y="159370"/>
            <a:ext cx="8302240" cy="553998"/>
          </a:xfrm>
        </p:spPr>
        <p:txBody>
          <a:bodyPr lIns="0" tIns="0" rIns="0" bIns="0" anchor="ctr">
            <a:spAutoFit/>
          </a:bodyPr>
          <a:lstStyle/>
          <a:p>
            <a:r>
              <a:rPr lang="en-US" sz="3600" dirty="0">
                <a:latin typeface="+mj-lt"/>
              </a:rPr>
              <a:t>Peroxisomes in Plants</a:t>
            </a: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40434" y="1078415"/>
            <a:ext cx="8195566" cy="2777683"/>
          </a:xfrm>
          <a:noFill/>
          <a:ln>
            <a:noFill/>
          </a:ln>
        </p:spPr>
        <p:txBody>
          <a:bodyPr wrap="square" lIns="0" tIns="0" rIns="0" bIns="0" anchor="t" anchorCtr="0">
            <a:spAutoFit/>
          </a:bodyPr>
          <a:lstStyle/>
          <a:p>
            <a:pPr marL="342900" indent="-342900"/>
            <a:r>
              <a:rPr lang="en-US" sz="2400" dirty="0"/>
              <a:t>During germination of fat-storing seeds, specialized peroxisomes called </a:t>
            </a:r>
            <a:r>
              <a:rPr lang="en-US" sz="2400" b="1" dirty="0" err="1"/>
              <a:t>glyoxysomes</a:t>
            </a:r>
            <a:r>
              <a:rPr lang="en-US" sz="2400" dirty="0"/>
              <a:t> play a role in converting the stored fat into carbohydrates.</a:t>
            </a:r>
          </a:p>
          <a:p>
            <a:pPr marL="342900" indent="-342900"/>
            <a:r>
              <a:rPr lang="en-US" sz="2400" b="1" dirty="0"/>
              <a:t>Leaf</a:t>
            </a:r>
            <a:r>
              <a:rPr lang="en-US" sz="2400" dirty="0"/>
              <a:t> </a:t>
            </a:r>
            <a:r>
              <a:rPr lang="en-US" sz="2400" b="1" dirty="0"/>
              <a:t>peroxisomes</a:t>
            </a:r>
            <a:r>
              <a:rPr lang="en-US" sz="2400" dirty="0"/>
              <a:t> are prominent in photosynthetic tissue because of their role in </a:t>
            </a:r>
            <a:r>
              <a:rPr lang="en-US" sz="2400" i="1" dirty="0"/>
              <a:t>photorespiration</a:t>
            </a:r>
            <a:r>
              <a:rPr lang="en-US" sz="2400" dirty="0"/>
              <a:t>, the light-dependent uptake of oxygen and release of carbon dioxide.</a:t>
            </a:r>
          </a:p>
        </p:txBody>
      </p:sp>
    </p:spTree>
    <p:extLst>
      <p:ext uri="{BB962C8B-B14F-4D97-AF65-F5344CB8AC3E}">
        <p14:creationId xmlns:p14="http://schemas.microsoft.com/office/powerpoint/2010/main" val="1106444542"/>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47984" y="215441"/>
            <a:ext cx="8229600" cy="984885"/>
          </a:xfrm>
        </p:spPr>
        <p:txBody>
          <a:bodyPr lIns="0" tIns="0" rIns="0" bIns="0" anchor="ctr">
            <a:spAutoFit/>
          </a:bodyPr>
          <a:lstStyle/>
          <a:p>
            <a:r>
              <a:rPr lang="en-US" sz="3200" dirty="0"/>
              <a:t>A Leaf Peroxisome and Its Relationship to Other Organelles in the Plant Cell</a:t>
            </a:r>
          </a:p>
        </p:txBody>
      </p:sp>
      <p:sp>
        <p:nvSpPr>
          <p:cNvPr id="6" name="Content Placeholder 5"/>
          <p:cNvSpPr>
            <a:spLocks noGrp="1"/>
          </p:cNvSpPr>
          <p:nvPr>
            <p:ph sz="quarter" idx="15"/>
          </p:nvPr>
        </p:nvSpPr>
        <p:spPr>
          <a:xfrm>
            <a:off x="447815" y="1383139"/>
            <a:ext cx="4424436" cy="1107996"/>
          </a:xfrm>
        </p:spPr>
        <p:txBody>
          <a:bodyPr wrap="square" lIns="0" tIns="0" rIns="0" bIns="0">
            <a:spAutoFit/>
          </a:bodyPr>
          <a:lstStyle/>
          <a:p>
            <a:pPr marL="0" indent="0">
              <a:buNone/>
            </a:pPr>
            <a:r>
              <a:rPr lang="en-US" sz="2400" b="1" dirty="0"/>
              <a:t>Figure 4.21</a:t>
            </a:r>
            <a:r>
              <a:rPr lang="en-US" sz="2400" dirty="0"/>
              <a:t> A Leaf Peroxisome and Its Relationship to Other Organelles in a Plant Cell. </a:t>
            </a:r>
          </a:p>
        </p:txBody>
      </p:sp>
      <p:pic>
        <p:nvPicPr>
          <p:cNvPr id="4" name="Picture Placeholder 3" descr="An illustration shows the cutaway view of a leaf peroxisome and its relationship to other organelles in a plant cell. &#10;Long description is available in notes, press F6"/>
          <p:cNvPicPr>
            <a:picLocks noGrp="1" noChangeAspect="1"/>
          </p:cNvPicPr>
          <p:nvPr>
            <p:ph type="pic" sz="quarter" idx="16"/>
          </p:nvPr>
        </p:nvPicPr>
        <p:blipFill rotWithShape="1">
          <a:blip r:embed="rId3">
            <a:extLst>
              <a:ext uri="{28A0092B-C50C-407E-A947-70E740481C1C}">
                <a14:useLocalDpi xmlns:a14="http://schemas.microsoft.com/office/drawing/2010/main" val="0"/>
              </a:ext>
            </a:extLst>
          </a:blip>
          <a:srcRect t="1202" b="2481"/>
          <a:stretch/>
        </p:blipFill>
        <p:spPr>
          <a:xfrm>
            <a:off x="5046828" y="1388836"/>
            <a:ext cx="3604885" cy="4930725"/>
          </a:xfrm>
        </p:spPr>
      </p:pic>
    </p:spTree>
    <p:extLst>
      <p:ext uri="{BB962C8B-B14F-4D97-AF65-F5344CB8AC3E}">
        <p14:creationId xmlns:p14="http://schemas.microsoft.com/office/powerpoint/2010/main" val="1618755471"/>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40434" y="186666"/>
            <a:ext cx="8302240" cy="553998"/>
          </a:xfrm>
        </p:spPr>
        <p:txBody>
          <a:bodyPr lIns="0" tIns="0" rIns="0" bIns="0" anchor="ctr">
            <a:spAutoFit/>
          </a:bodyPr>
          <a:lstStyle/>
          <a:p>
            <a:r>
              <a:rPr lang="en-US" sz="3600" dirty="0">
                <a:latin typeface="+mj-lt"/>
              </a:rPr>
              <a:t>Vacuoles</a:t>
            </a: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40434" y="1087040"/>
            <a:ext cx="8195566" cy="3162404"/>
          </a:xfrm>
          <a:noFill/>
          <a:ln>
            <a:noFill/>
          </a:ln>
        </p:spPr>
        <p:txBody>
          <a:bodyPr wrap="square" lIns="0" tIns="0" rIns="0" bIns="0" anchor="t" anchorCtr="0">
            <a:spAutoFit/>
          </a:bodyPr>
          <a:lstStyle/>
          <a:p>
            <a:pPr marL="342900" indent="-342900"/>
            <a:r>
              <a:rPr lang="en-US" sz="2400" dirty="0"/>
              <a:t>Some cells contain a membrane-bounded </a:t>
            </a:r>
            <a:r>
              <a:rPr lang="en-US" sz="2400" b="1" dirty="0"/>
              <a:t>vacuole</a:t>
            </a:r>
            <a:r>
              <a:rPr lang="en-US" sz="2400" dirty="0"/>
              <a:t>.</a:t>
            </a:r>
          </a:p>
          <a:p>
            <a:pPr marL="342900" indent="-342900"/>
            <a:r>
              <a:rPr lang="en-US" sz="2400" dirty="0"/>
              <a:t>In animal and yeast cells, vacuoles are used for temporary storage or transport.</a:t>
            </a:r>
          </a:p>
          <a:p>
            <a:pPr marL="342900" indent="-342900"/>
            <a:r>
              <a:rPr lang="en-US" sz="2400" dirty="0"/>
              <a:t>Phagocytosis leads to the formation of a membrane-bounded particle called a </a:t>
            </a:r>
            <a:r>
              <a:rPr lang="en-US" sz="2400" i="1" dirty="0"/>
              <a:t>phagosome</a:t>
            </a:r>
            <a:r>
              <a:rPr lang="en-US" sz="2400" dirty="0"/>
              <a:t>.</a:t>
            </a:r>
          </a:p>
          <a:p>
            <a:pPr marL="342900" indent="-342900"/>
            <a:r>
              <a:rPr lang="en-US" sz="2400" dirty="0"/>
              <a:t>When this type of vacuole fuses with a lysosome, the contents are hydrolyzed to provide nutrients to a cell.</a:t>
            </a:r>
          </a:p>
        </p:txBody>
      </p:sp>
    </p:spTree>
    <p:extLst>
      <p:ext uri="{BB962C8B-B14F-4D97-AF65-F5344CB8AC3E}">
        <p14:creationId xmlns:p14="http://schemas.microsoft.com/office/powerpoint/2010/main" val="2221841412"/>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40434" y="186666"/>
            <a:ext cx="8302240" cy="553998"/>
          </a:xfrm>
        </p:spPr>
        <p:txBody>
          <a:bodyPr lIns="0" tIns="0" rIns="0" bIns="0" anchor="ctr">
            <a:spAutoFit/>
          </a:bodyPr>
          <a:lstStyle/>
          <a:p>
            <a:r>
              <a:rPr lang="en-US" sz="3600" dirty="0">
                <a:latin typeface="+mj-lt"/>
              </a:rPr>
              <a:t>Plant Vacuoles</a:t>
            </a: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40434" y="1087045"/>
            <a:ext cx="8195566" cy="2970044"/>
          </a:xfrm>
          <a:noFill/>
          <a:ln>
            <a:noFill/>
          </a:ln>
        </p:spPr>
        <p:txBody>
          <a:bodyPr wrap="square" lIns="0" tIns="0" rIns="0" bIns="0" anchor="t" anchorCtr="0">
            <a:spAutoFit/>
          </a:bodyPr>
          <a:lstStyle/>
          <a:p>
            <a:pPr marL="342900" indent="-342900"/>
            <a:r>
              <a:rPr lang="en-US" sz="2400" dirty="0"/>
              <a:t>Most mature plant cells contain a single large vacuole called a </a:t>
            </a:r>
            <a:r>
              <a:rPr lang="en-US" sz="2400" b="1" dirty="0"/>
              <a:t>central</a:t>
            </a:r>
            <a:r>
              <a:rPr lang="en-US" sz="2400" dirty="0"/>
              <a:t> </a:t>
            </a:r>
            <a:r>
              <a:rPr lang="en-US" sz="2400" b="1" dirty="0"/>
              <a:t>vacuole</a:t>
            </a:r>
            <a:r>
              <a:rPr lang="en-US" sz="2400" dirty="0"/>
              <a:t>.</a:t>
            </a:r>
          </a:p>
          <a:p>
            <a:pPr marL="342900" indent="-342900"/>
            <a:r>
              <a:rPr lang="en-US" sz="2400" dirty="0"/>
              <a:t>The main function of the central vacuole is to maintain the </a:t>
            </a:r>
            <a:r>
              <a:rPr lang="en-US" sz="2400" i="1" dirty="0"/>
              <a:t>turgor pressure </a:t>
            </a:r>
            <a:r>
              <a:rPr lang="en-US" sz="2400" dirty="0"/>
              <a:t>that keeps the plant from wilting.</a:t>
            </a:r>
          </a:p>
          <a:p>
            <a:pPr marL="342900" indent="-342900"/>
            <a:r>
              <a:rPr lang="en-US" sz="2400" dirty="0"/>
              <a:t>Tissues wilt when the central vacuole no longer presses against the cell contents (fails to provide adequate pressure).</a:t>
            </a:r>
          </a:p>
        </p:txBody>
      </p:sp>
    </p:spTree>
    <p:extLst>
      <p:ext uri="{BB962C8B-B14F-4D97-AF65-F5344CB8AC3E}">
        <p14:creationId xmlns:p14="http://schemas.microsoft.com/office/powerpoint/2010/main" val="3458657967"/>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47984" y="158497"/>
            <a:ext cx="8250084" cy="553998"/>
          </a:xfrm>
        </p:spPr>
        <p:txBody>
          <a:bodyPr wrap="square" lIns="0" tIns="0" rIns="0" bIns="0" anchor="ctr">
            <a:spAutoFit/>
          </a:bodyPr>
          <a:lstStyle/>
          <a:p>
            <a:r>
              <a:rPr lang="en-US" dirty="0"/>
              <a:t>Normal and Sickled Red Blood Cells</a:t>
            </a:r>
          </a:p>
        </p:txBody>
      </p:sp>
      <p:sp>
        <p:nvSpPr>
          <p:cNvPr id="6" name="Content Placeholder 5"/>
          <p:cNvSpPr>
            <a:spLocks noGrp="1"/>
          </p:cNvSpPr>
          <p:nvPr>
            <p:ph sz="quarter" idx="15"/>
          </p:nvPr>
        </p:nvSpPr>
        <p:spPr>
          <a:xfrm>
            <a:off x="439190" y="939954"/>
            <a:ext cx="4336745" cy="738664"/>
          </a:xfrm>
        </p:spPr>
        <p:txBody>
          <a:bodyPr wrap="square" lIns="0" tIns="0" rIns="0" bIns="0">
            <a:spAutoFit/>
          </a:bodyPr>
          <a:lstStyle/>
          <a:p>
            <a:pPr marL="0" indent="0">
              <a:buNone/>
            </a:pPr>
            <a:r>
              <a:rPr lang="en-US" sz="2400" b="1" dirty="0"/>
              <a:t>Figure 4.22</a:t>
            </a:r>
            <a:r>
              <a:rPr lang="en-US" sz="2400" dirty="0"/>
              <a:t> The Vacuole in a Plant Cell. </a:t>
            </a:r>
          </a:p>
        </p:txBody>
      </p:sp>
      <p:pic>
        <p:nvPicPr>
          <p:cNvPr id="5" name="Picture Placeholder 4" descr="An illustration of the cutaway view of a plant cell and an electron micrograph of a cell. Both the images show a large vacuole.&#10;Long description is available in notes, press F6"/>
          <p:cNvPicPr>
            <a:picLocks noGrp="1" noChangeAspect="1"/>
          </p:cNvPicPr>
          <p:nvPr>
            <p:ph type="pic" sz="quarter" idx="16"/>
          </p:nvPr>
        </p:nvPicPr>
        <p:blipFill rotWithShape="1">
          <a:blip r:embed="rId3">
            <a:extLst>
              <a:ext uri="{28A0092B-C50C-407E-A947-70E740481C1C}">
                <a14:useLocalDpi xmlns:a14="http://schemas.microsoft.com/office/drawing/2010/main" val="0"/>
              </a:ext>
            </a:extLst>
          </a:blip>
          <a:srcRect b="2260"/>
          <a:stretch/>
        </p:blipFill>
        <p:spPr>
          <a:xfrm>
            <a:off x="4939708" y="1048254"/>
            <a:ext cx="3758360" cy="5288568"/>
          </a:xfrm>
        </p:spPr>
      </p:pic>
    </p:spTree>
    <p:extLst>
      <p:ext uri="{BB962C8B-B14F-4D97-AF65-F5344CB8AC3E}">
        <p14:creationId xmlns:p14="http://schemas.microsoft.com/office/powerpoint/2010/main" val="219494294"/>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40434" y="163667"/>
            <a:ext cx="8302240" cy="1107996"/>
          </a:xfrm>
        </p:spPr>
        <p:txBody>
          <a:bodyPr lIns="0" tIns="0" rIns="0" bIns="0" anchor="ctr">
            <a:spAutoFit/>
          </a:bodyPr>
          <a:lstStyle/>
          <a:p>
            <a:r>
              <a:rPr lang="en-US" sz="3600" dirty="0">
                <a:latin typeface="+mj-lt"/>
              </a:rPr>
              <a:t>Ribosomes Synthesize Proteins in the Cytoplasm</a:t>
            </a: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40434" y="1493442"/>
            <a:ext cx="8195566" cy="2600712"/>
          </a:xfrm>
          <a:noFill/>
          <a:ln>
            <a:noFill/>
          </a:ln>
        </p:spPr>
        <p:txBody>
          <a:bodyPr wrap="square" lIns="0" tIns="0" rIns="0" bIns="0" anchor="t" anchorCtr="0">
            <a:spAutoFit/>
          </a:bodyPr>
          <a:lstStyle/>
          <a:p>
            <a:pPr marL="342900" indent="-342900"/>
            <a:r>
              <a:rPr lang="en-US" sz="2400" b="1" dirty="0"/>
              <a:t>Ribosomes</a:t>
            </a:r>
            <a:r>
              <a:rPr lang="en-US" sz="2400" dirty="0"/>
              <a:t> are the site of protein synthesis and are far more numerous than most other intracellular structures.</a:t>
            </a:r>
          </a:p>
          <a:p>
            <a:pPr marL="342900" indent="-342900"/>
            <a:r>
              <a:rPr lang="en-US" sz="2400" dirty="0"/>
              <a:t>They are found in all cells but differ slightly in bacteria, archaea, and eukaryotes in their size and composition.</a:t>
            </a:r>
          </a:p>
          <a:p>
            <a:pPr marL="342900" indent="-342900"/>
            <a:r>
              <a:rPr lang="en-US" sz="2400" dirty="0"/>
              <a:t>Each of these cell types has its own unique type of ribosomal </a:t>
            </a:r>
            <a:r>
              <a:rPr lang="en-US" sz="2400" spc="-300" dirty="0"/>
              <a:t>R N </a:t>
            </a:r>
            <a:r>
              <a:rPr lang="en-US" sz="2400" dirty="0"/>
              <a:t>A.</a:t>
            </a:r>
          </a:p>
        </p:txBody>
      </p:sp>
    </p:spTree>
    <p:extLst>
      <p:ext uri="{BB962C8B-B14F-4D97-AF65-F5344CB8AC3E}">
        <p14:creationId xmlns:p14="http://schemas.microsoft.com/office/powerpoint/2010/main" val="3740110336"/>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40434" y="163667"/>
            <a:ext cx="8302240" cy="1107996"/>
          </a:xfrm>
        </p:spPr>
        <p:txBody>
          <a:bodyPr lIns="0" tIns="0" rIns="0" bIns="0" anchor="ctr">
            <a:spAutoFit/>
          </a:bodyPr>
          <a:lstStyle/>
          <a:p>
            <a:r>
              <a:rPr lang="en-US" sz="3600" dirty="0">
                <a:latin typeface="+mj-lt"/>
              </a:rPr>
              <a:t>Ribosome Are Numerous and Ubiquitous </a:t>
            </a: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40434" y="1493443"/>
            <a:ext cx="8195566" cy="2970044"/>
          </a:xfrm>
          <a:noFill/>
          <a:ln>
            <a:noFill/>
          </a:ln>
        </p:spPr>
        <p:txBody>
          <a:bodyPr wrap="square" lIns="0" tIns="0" rIns="0" bIns="0" anchor="t" anchorCtr="0">
            <a:spAutoFit/>
          </a:bodyPr>
          <a:lstStyle/>
          <a:p>
            <a:pPr marL="342900" indent="-342900"/>
            <a:r>
              <a:rPr lang="en-US" sz="2400" dirty="0"/>
              <a:t>Ribosomes are much more numerous than most other cellular structures (prokaryote cells contain thousands; eukaryote cells may contain millions).</a:t>
            </a:r>
          </a:p>
          <a:p>
            <a:pPr marL="342900" indent="-342900"/>
            <a:r>
              <a:rPr lang="en-US" sz="2400" dirty="0"/>
              <a:t>Ribosomes in mitochondria and chloroplasts are similar in size and composition to those of bacteria.</a:t>
            </a:r>
          </a:p>
          <a:p>
            <a:pPr marL="342900" indent="-342900"/>
            <a:r>
              <a:rPr lang="en-US" sz="2400" dirty="0"/>
              <a:t>This is particularly true of the nucleotide sequences of their </a:t>
            </a:r>
            <a:r>
              <a:rPr lang="en-US" sz="2400" spc="-300" dirty="0"/>
              <a:t>r </a:t>
            </a:r>
            <a:r>
              <a:rPr lang="en-US" sz="2400" spc="-300" dirty="0" err="1"/>
              <a:t>R</a:t>
            </a:r>
            <a:r>
              <a:rPr lang="en-US" sz="2400" spc="-300" dirty="0"/>
              <a:t> N A </a:t>
            </a:r>
            <a:r>
              <a:rPr lang="en-US" sz="2400" dirty="0"/>
              <a:t>s.</a:t>
            </a:r>
          </a:p>
        </p:txBody>
      </p:sp>
    </p:spTree>
    <p:extLst>
      <p:ext uri="{BB962C8B-B14F-4D97-AF65-F5344CB8AC3E}">
        <p14:creationId xmlns:p14="http://schemas.microsoft.com/office/powerpoint/2010/main" val="3798469858"/>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40434" y="159370"/>
            <a:ext cx="8302240" cy="553998"/>
          </a:xfrm>
        </p:spPr>
        <p:txBody>
          <a:bodyPr lIns="0" tIns="0" rIns="0" bIns="0" anchor="ctr">
            <a:spAutoFit/>
          </a:bodyPr>
          <a:lstStyle/>
          <a:p>
            <a:r>
              <a:rPr lang="en-US" sz="3600" dirty="0">
                <a:latin typeface="+mj-lt"/>
              </a:rPr>
              <a:t>Ribosomes Are Very Small</a:t>
            </a: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40434" y="1088000"/>
            <a:ext cx="8195566" cy="3901068"/>
          </a:xfrm>
          <a:noFill/>
          <a:ln>
            <a:noFill/>
          </a:ln>
        </p:spPr>
        <p:txBody>
          <a:bodyPr wrap="square" lIns="0" tIns="0" rIns="0" bIns="0" anchor="t" anchorCtr="0">
            <a:spAutoFit/>
          </a:bodyPr>
          <a:lstStyle/>
          <a:p>
            <a:pPr marL="342900" indent="-342900"/>
            <a:r>
              <a:rPr lang="en-US" sz="2400" dirty="0"/>
              <a:t>Ribosomes can be seen only under the electron microscope.</a:t>
            </a:r>
          </a:p>
          <a:p>
            <a:pPr marL="342900" indent="-342900"/>
            <a:r>
              <a:rPr lang="en-US" sz="2400" dirty="0"/>
              <a:t>They have </a:t>
            </a:r>
            <a:r>
              <a:rPr lang="en-US" sz="2400" b="1" dirty="0"/>
              <a:t>sedimentation</a:t>
            </a:r>
            <a:r>
              <a:rPr lang="en-US" sz="2400" dirty="0"/>
              <a:t> </a:t>
            </a:r>
            <a:r>
              <a:rPr lang="en-US" sz="2400" b="1" dirty="0"/>
              <a:t>coefficients</a:t>
            </a:r>
            <a:r>
              <a:rPr lang="en-US" sz="2400" dirty="0"/>
              <a:t> in keeping with their small size.</a:t>
            </a:r>
          </a:p>
          <a:p>
            <a:pPr marL="342900" indent="-342900"/>
            <a:r>
              <a:rPr lang="en-US" sz="2400" dirty="0"/>
              <a:t>Sedimentation coefficient: a measure of how rapidly a particle sediments in an ultracentrifuge, expressed in </a:t>
            </a:r>
            <a:r>
              <a:rPr lang="en-US" sz="2400" b="1" dirty="0"/>
              <a:t>Svedberg</a:t>
            </a:r>
            <a:r>
              <a:rPr lang="en-US" sz="2400" dirty="0"/>
              <a:t> </a:t>
            </a:r>
            <a:r>
              <a:rPr lang="en-US" sz="2400" b="1" dirty="0"/>
              <a:t>units</a:t>
            </a:r>
            <a:r>
              <a:rPr lang="en-US" sz="2400" dirty="0"/>
              <a:t> (</a:t>
            </a:r>
            <a:r>
              <a:rPr lang="en-US" sz="2400" b="1" dirty="0"/>
              <a:t>S</a:t>
            </a:r>
            <a:r>
              <a:rPr lang="en-US" sz="2400" dirty="0"/>
              <a:t>).</a:t>
            </a:r>
          </a:p>
          <a:p>
            <a:pPr marL="342900" indent="-342900"/>
            <a:r>
              <a:rPr lang="en-US" sz="2400" dirty="0"/>
              <a:t>Ribosomes have values of 80S (eukaryotes) or 70S (bacteria and archaea).</a:t>
            </a:r>
          </a:p>
        </p:txBody>
      </p:sp>
    </p:spTree>
    <p:extLst>
      <p:ext uri="{BB962C8B-B14F-4D97-AF65-F5344CB8AC3E}">
        <p14:creationId xmlns:p14="http://schemas.microsoft.com/office/powerpoint/2010/main" val="3231576260"/>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40434" y="159370"/>
            <a:ext cx="8302240" cy="553998"/>
          </a:xfrm>
        </p:spPr>
        <p:txBody>
          <a:bodyPr lIns="0" tIns="0" rIns="0" bIns="0" anchor="ctr">
            <a:spAutoFit/>
          </a:bodyPr>
          <a:lstStyle/>
          <a:p>
            <a:r>
              <a:rPr lang="en-US" sz="3600" dirty="0">
                <a:latin typeface="+mj-lt"/>
              </a:rPr>
              <a:t>Ribosome Subunits</a:t>
            </a: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40434" y="1088004"/>
            <a:ext cx="8195566" cy="3339376"/>
          </a:xfrm>
          <a:noFill/>
          <a:ln>
            <a:noFill/>
          </a:ln>
        </p:spPr>
        <p:txBody>
          <a:bodyPr wrap="square" lIns="0" tIns="0" rIns="0" bIns="0" anchor="t" anchorCtr="0">
            <a:spAutoFit/>
          </a:bodyPr>
          <a:lstStyle/>
          <a:p>
            <a:pPr marL="342900" indent="-342900"/>
            <a:r>
              <a:rPr lang="en-US" sz="2400" dirty="0"/>
              <a:t>Ribosomes have two subunits, the </a:t>
            </a:r>
            <a:r>
              <a:rPr lang="en-US" sz="2400" b="1" dirty="0"/>
              <a:t>large</a:t>
            </a:r>
            <a:r>
              <a:rPr lang="en-US" sz="2400" dirty="0"/>
              <a:t> and </a:t>
            </a:r>
            <a:r>
              <a:rPr lang="en-US" sz="2400" b="1" dirty="0"/>
              <a:t>small</a:t>
            </a:r>
            <a:r>
              <a:rPr lang="en-US" sz="2400" dirty="0"/>
              <a:t> </a:t>
            </a:r>
            <a:r>
              <a:rPr lang="en-US" sz="2400" b="1" dirty="0"/>
              <a:t>subunits</a:t>
            </a:r>
            <a:r>
              <a:rPr lang="en-US" sz="2400" dirty="0"/>
              <a:t>, with sedimentation coefficients of 60S and 40S, respectively.</a:t>
            </a:r>
          </a:p>
          <a:p>
            <a:pPr marL="342900" indent="-342900"/>
            <a:r>
              <a:rPr lang="en-US" sz="2400" dirty="0"/>
              <a:t>Bacteria and archaea have large and small subunits of 50S and 30S, respectively.</a:t>
            </a:r>
          </a:p>
          <a:p>
            <a:pPr marL="342900" indent="-342900"/>
            <a:r>
              <a:rPr lang="en-US" sz="2400" dirty="0"/>
              <a:t>The S values of large and small subunits do not add up to the value for the complete ribosome, because S values depend on both size and shape.</a:t>
            </a:r>
          </a:p>
        </p:txBody>
      </p:sp>
    </p:spTree>
    <p:extLst>
      <p:ext uri="{BB962C8B-B14F-4D97-AF65-F5344CB8AC3E}">
        <p14:creationId xmlns:p14="http://schemas.microsoft.com/office/powerpoint/2010/main" val="2088226849"/>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47984" y="158496"/>
            <a:ext cx="8229600" cy="553998"/>
          </a:xfrm>
        </p:spPr>
        <p:txBody>
          <a:bodyPr lIns="0" tIns="0" rIns="0" bIns="0" anchor="ctr">
            <a:spAutoFit/>
          </a:bodyPr>
          <a:lstStyle/>
          <a:p>
            <a:r>
              <a:rPr lang="en-US" dirty="0"/>
              <a:t>Structure of a Ribosome</a:t>
            </a:r>
          </a:p>
        </p:txBody>
      </p:sp>
      <p:sp>
        <p:nvSpPr>
          <p:cNvPr id="6" name="Content Placeholder 5"/>
          <p:cNvSpPr>
            <a:spLocks noGrp="1"/>
          </p:cNvSpPr>
          <p:nvPr>
            <p:ph sz="quarter" idx="15"/>
          </p:nvPr>
        </p:nvSpPr>
        <p:spPr>
          <a:xfrm>
            <a:off x="439190" y="872263"/>
            <a:ext cx="8256234" cy="369332"/>
          </a:xfrm>
        </p:spPr>
        <p:txBody>
          <a:bodyPr lIns="0" tIns="0" rIns="0" bIns="0">
            <a:spAutoFit/>
          </a:bodyPr>
          <a:lstStyle/>
          <a:p>
            <a:pPr marL="0" indent="0">
              <a:buNone/>
            </a:pPr>
            <a:r>
              <a:rPr lang="en-US" sz="2400" b="1" dirty="0"/>
              <a:t>Figure 4.23</a:t>
            </a:r>
            <a:r>
              <a:rPr lang="en-US" sz="2400" dirty="0"/>
              <a:t> Structure of a Ribosome.</a:t>
            </a:r>
          </a:p>
        </p:txBody>
      </p:sp>
      <p:pic>
        <p:nvPicPr>
          <p:cNvPr id="4" name="Picture Placeholder 3" descr="An illustration of the structure of ribosome shows large and small subunits. The large subunits are on one side and the smaller ones at the other half."/>
          <p:cNvPicPr>
            <a:picLocks noGrp="1" noChangeAspect="1"/>
          </p:cNvPicPr>
          <p:nvPr>
            <p:ph type="pic" sz="quarter" idx="16"/>
          </p:nvPr>
        </p:nvPicPr>
        <p:blipFill rotWithShape="1">
          <a:blip r:embed="rId3">
            <a:extLst>
              <a:ext uri="{28A0092B-C50C-407E-A947-70E740481C1C}">
                <a14:useLocalDpi xmlns:a14="http://schemas.microsoft.com/office/drawing/2010/main" val="0"/>
              </a:ext>
            </a:extLst>
          </a:blip>
          <a:srcRect b="3626"/>
          <a:stretch/>
        </p:blipFill>
        <p:spPr>
          <a:xfrm>
            <a:off x="1765019" y="1476535"/>
            <a:ext cx="5613962" cy="4864065"/>
          </a:xfrm>
        </p:spPr>
      </p:pic>
    </p:spTree>
    <p:extLst>
      <p:ext uri="{BB962C8B-B14F-4D97-AF65-F5344CB8AC3E}">
        <p14:creationId xmlns:p14="http://schemas.microsoft.com/office/powerpoint/2010/main" val="1128436736"/>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40434" y="163667"/>
            <a:ext cx="8302240" cy="1107996"/>
          </a:xfrm>
        </p:spPr>
        <p:txBody>
          <a:bodyPr lIns="0" tIns="0" rIns="0" bIns="0" anchor="ctr">
            <a:spAutoFit/>
          </a:bodyPr>
          <a:lstStyle/>
          <a:p>
            <a:r>
              <a:rPr lang="en-US" sz="3600" dirty="0">
                <a:latin typeface="+mj-lt"/>
              </a:rPr>
              <a:t>The Cytoskeleton Provides Structure to the Cytoplasm</a:t>
            </a: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40434" y="1493442"/>
            <a:ext cx="8195566" cy="1107996"/>
          </a:xfrm>
          <a:noFill/>
          <a:ln>
            <a:noFill/>
          </a:ln>
        </p:spPr>
        <p:txBody>
          <a:bodyPr wrap="square" lIns="0" tIns="0" rIns="0" bIns="0" anchor="t" anchorCtr="0">
            <a:spAutoFit/>
          </a:bodyPr>
          <a:lstStyle/>
          <a:p>
            <a:pPr marL="342900" indent="-342900"/>
            <a:r>
              <a:rPr lang="en-US" sz="2400" dirty="0"/>
              <a:t>The cytoplasm of eukaryotic cells contains an intricate, organized, three-dimensional array of interconnected </a:t>
            </a:r>
            <a:r>
              <a:rPr lang="en-US" sz="2400" dirty="0" err="1"/>
              <a:t>proteinaceous</a:t>
            </a:r>
            <a:r>
              <a:rPr lang="en-US" sz="2400" dirty="0"/>
              <a:t> structures called the </a:t>
            </a:r>
            <a:r>
              <a:rPr lang="en-US" sz="2400" b="1" dirty="0"/>
              <a:t>cytoskeleton</a:t>
            </a:r>
            <a:r>
              <a:rPr lang="en-US" sz="2400" dirty="0"/>
              <a:t>.</a:t>
            </a:r>
          </a:p>
        </p:txBody>
      </p:sp>
    </p:spTree>
    <p:extLst>
      <p:ext uri="{BB962C8B-B14F-4D97-AF65-F5344CB8AC3E}">
        <p14:creationId xmlns:p14="http://schemas.microsoft.com/office/powerpoint/2010/main" val="2363094412"/>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40434" y="159370"/>
            <a:ext cx="8302240" cy="553998"/>
          </a:xfrm>
        </p:spPr>
        <p:txBody>
          <a:bodyPr lIns="0" tIns="0" rIns="0" bIns="0" anchor="ctr">
            <a:spAutoFit/>
          </a:bodyPr>
          <a:lstStyle/>
          <a:p>
            <a:r>
              <a:rPr lang="en-US" sz="3600" dirty="0">
                <a:latin typeface="+mj-lt"/>
              </a:rPr>
              <a:t>The Cytoskeleton </a:t>
            </a:r>
            <a:r>
              <a:rPr lang="en-US" sz="2800" dirty="0">
                <a:latin typeface="+mj-lt"/>
              </a:rPr>
              <a:t>(1 of 2)</a:t>
            </a: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40434" y="1088002"/>
            <a:ext cx="8195566" cy="2600712"/>
          </a:xfrm>
          <a:noFill/>
          <a:ln>
            <a:noFill/>
          </a:ln>
        </p:spPr>
        <p:txBody>
          <a:bodyPr wrap="square" lIns="0" tIns="0" rIns="0" bIns="0" anchor="t" anchorCtr="0">
            <a:spAutoFit/>
          </a:bodyPr>
          <a:lstStyle/>
          <a:p>
            <a:pPr marL="342900" indent="-342900"/>
            <a:r>
              <a:rPr lang="en-US" sz="2400" dirty="0"/>
              <a:t>The cytoskeleton gives a cell its distinctive shape and internal organization.</a:t>
            </a:r>
          </a:p>
          <a:p>
            <a:pPr marL="342900" indent="-342900"/>
            <a:r>
              <a:rPr lang="en-US" sz="2400" dirty="0"/>
              <a:t>It also plays a role in cell movement and cell division.</a:t>
            </a:r>
          </a:p>
          <a:p>
            <a:pPr marL="342900" indent="-342900"/>
            <a:r>
              <a:rPr lang="en-US" sz="2400" dirty="0"/>
              <a:t>Proteins related to the eukaryotic cytoskeleton have recently been discovered in bacteria and archaea and appear to play a role in maintaining cell shape.</a:t>
            </a:r>
          </a:p>
        </p:txBody>
      </p:sp>
    </p:spTree>
    <p:extLst>
      <p:ext uri="{BB962C8B-B14F-4D97-AF65-F5344CB8AC3E}">
        <p14:creationId xmlns:p14="http://schemas.microsoft.com/office/powerpoint/2010/main" val="217434611"/>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40434" y="159370"/>
            <a:ext cx="8302240" cy="553998"/>
          </a:xfrm>
        </p:spPr>
        <p:txBody>
          <a:bodyPr lIns="0" tIns="0" rIns="0" bIns="0" anchor="ctr">
            <a:spAutoFit/>
          </a:bodyPr>
          <a:lstStyle/>
          <a:p>
            <a:r>
              <a:rPr lang="en-US" sz="3600" dirty="0">
                <a:latin typeface="+mj-lt"/>
              </a:rPr>
              <a:t>The Cytoskeleton </a:t>
            </a:r>
            <a:r>
              <a:rPr lang="en-US" sz="2800" dirty="0">
                <a:latin typeface="+mj-lt"/>
              </a:rPr>
              <a:t>(2 of 2)</a:t>
            </a: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40434" y="1087998"/>
            <a:ext cx="8195566" cy="2600712"/>
          </a:xfrm>
          <a:noFill/>
          <a:ln>
            <a:noFill/>
          </a:ln>
        </p:spPr>
        <p:txBody>
          <a:bodyPr wrap="square" lIns="0" tIns="0" rIns="0" bIns="0" anchor="t" anchorCtr="0">
            <a:spAutoFit/>
          </a:bodyPr>
          <a:lstStyle/>
          <a:p>
            <a:pPr marL="342900" indent="-342900"/>
            <a:r>
              <a:rPr lang="en-US" sz="2400" dirty="0"/>
              <a:t>The cytoskeleton serves as a framework for positioning and moving organelles and macromolecules within the cell.</a:t>
            </a:r>
          </a:p>
          <a:p>
            <a:pPr marL="342900" indent="-342900"/>
            <a:r>
              <a:rPr lang="en-US" sz="2400" dirty="0"/>
              <a:t>It may do the same for ribosomes and enzymes.</a:t>
            </a:r>
          </a:p>
          <a:p>
            <a:pPr marL="342900" indent="-342900"/>
            <a:r>
              <a:rPr lang="en-US" sz="2400" dirty="0"/>
              <a:t>Even some of the water within the cell (20–40%) may be bound to microfilaments and microtubules.</a:t>
            </a:r>
          </a:p>
        </p:txBody>
      </p:sp>
    </p:spTree>
    <p:extLst>
      <p:ext uri="{BB962C8B-B14F-4D97-AF65-F5344CB8AC3E}">
        <p14:creationId xmlns:p14="http://schemas.microsoft.com/office/powerpoint/2010/main" val="353910603"/>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40434" y="159370"/>
            <a:ext cx="8302240" cy="553998"/>
          </a:xfrm>
        </p:spPr>
        <p:txBody>
          <a:bodyPr lIns="0" tIns="0" rIns="0" bIns="0" anchor="ctr">
            <a:spAutoFit/>
          </a:bodyPr>
          <a:lstStyle/>
          <a:p>
            <a:r>
              <a:rPr lang="en-US" sz="3600" dirty="0">
                <a:latin typeface="+mj-lt"/>
              </a:rPr>
              <a:t>Components of the Cytoskeleton</a:t>
            </a: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40434" y="1088004"/>
            <a:ext cx="8195566" cy="1708160"/>
          </a:xfrm>
          <a:noFill/>
          <a:ln>
            <a:noFill/>
          </a:ln>
        </p:spPr>
        <p:txBody>
          <a:bodyPr wrap="square" lIns="0" tIns="0" rIns="0" bIns="0" anchor="t" anchorCtr="0">
            <a:spAutoFit/>
          </a:bodyPr>
          <a:lstStyle/>
          <a:p>
            <a:pPr marL="342900" indent="-342900"/>
            <a:r>
              <a:rPr lang="en-US" sz="2400" dirty="0"/>
              <a:t>There are three structural elements of the </a:t>
            </a:r>
            <a:r>
              <a:rPr lang="en-US" sz="2400" dirty="0">
                <a:solidFill>
                  <a:schemeClr val="tx1"/>
                </a:solidFill>
              </a:rPr>
              <a:t>cytoskeleton:</a:t>
            </a:r>
          </a:p>
          <a:p>
            <a:pPr marL="829818" lvl="1" indent="-342900"/>
            <a:r>
              <a:rPr lang="en-US" sz="2400" i="1" dirty="0"/>
              <a:t>Microtubules</a:t>
            </a:r>
          </a:p>
          <a:p>
            <a:pPr marL="829818" lvl="1" indent="-342900"/>
            <a:r>
              <a:rPr lang="en-US" sz="2400" i="1" dirty="0"/>
              <a:t>Microfilaments</a:t>
            </a:r>
          </a:p>
          <a:p>
            <a:pPr marL="829818" lvl="1" indent="-342900"/>
            <a:r>
              <a:rPr lang="en-US" sz="2400" i="1" dirty="0"/>
              <a:t>Intermediate filaments</a:t>
            </a:r>
          </a:p>
        </p:txBody>
      </p:sp>
    </p:spTree>
    <p:extLst>
      <p:ext uri="{BB962C8B-B14F-4D97-AF65-F5344CB8AC3E}">
        <p14:creationId xmlns:p14="http://schemas.microsoft.com/office/powerpoint/2010/main" val="2826329061"/>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47984" y="158496"/>
            <a:ext cx="8229600" cy="553998"/>
          </a:xfrm>
        </p:spPr>
        <p:txBody>
          <a:bodyPr lIns="0" tIns="0" rIns="0" bIns="0" anchor="ctr">
            <a:spAutoFit/>
          </a:bodyPr>
          <a:lstStyle/>
          <a:p>
            <a:r>
              <a:rPr lang="en-US" dirty="0"/>
              <a:t>The Cytoskeleton</a:t>
            </a:r>
          </a:p>
        </p:txBody>
      </p:sp>
      <p:sp>
        <p:nvSpPr>
          <p:cNvPr id="6" name="Content Placeholder 5"/>
          <p:cNvSpPr>
            <a:spLocks noGrp="1"/>
          </p:cNvSpPr>
          <p:nvPr>
            <p:ph sz="quarter" idx="15"/>
          </p:nvPr>
        </p:nvSpPr>
        <p:spPr>
          <a:xfrm>
            <a:off x="447816" y="887612"/>
            <a:ext cx="8229768" cy="369332"/>
          </a:xfrm>
        </p:spPr>
        <p:txBody>
          <a:bodyPr wrap="square" lIns="0" tIns="0" rIns="0" bIns="0">
            <a:spAutoFit/>
          </a:bodyPr>
          <a:lstStyle/>
          <a:p>
            <a:pPr marL="0" indent="0">
              <a:buNone/>
            </a:pPr>
            <a:r>
              <a:rPr lang="en-US" sz="2400" b="1" dirty="0"/>
              <a:t>Figure 4.24 </a:t>
            </a:r>
            <a:r>
              <a:rPr lang="en-US" sz="2400" dirty="0"/>
              <a:t>The Cytoskeleton.</a:t>
            </a:r>
          </a:p>
        </p:txBody>
      </p:sp>
      <p:pic>
        <p:nvPicPr>
          <p:cNvPr id="5" name="Picture Placeholder 4" descr="Three immunofluorescence microscopy shows the cytoskeleton of microtubules in red, microfilaments in blue, and intermediate filaments in green. The measurement at the bottom right corner of intermediate filament is 10 micrometers."/>
          <p:cNvPicPr>
            <a:picLocks noGrp="1" noChangeAspect="1"/>
          </p:cNvPicPr>
          <p:nvPr>
            <p:ph type="pic" sz="quarter" idx="16"/>
          </p:nvPr>
        </p:nvPicPr>
        <p:blipFill rotWithShape="1">
          <a:blip r:embed="rId3">
            <a:extLst>
              <a:ext uri="{28A0092B-C50C-407E-A947-70E740481C1C}">
                <a14:useLocalDpi xmlns:a14="http://schemas.microsoft.com/office/drawing/2010/main" val="0"/>
              </a:ext>
            </a:extLst>
          </a:blip>
          <a:srcRect b="3020"/>
          <a:stretch/>
        </p:blipFill>
        <p:spPr>
          <a:xfrm>
            <a:off x="543304" y="1744348"/>
            <a:ext cx="8067806" cy="3120722"/>
          </a:xfrm>
        </p:spPr>
      </p:pic>
    </p:spTree>
    <p:extLst>
      <p:ext uri="{BB962C8B-B14F-4D97-AF65-F5344CB8AC3E}">
        <p14:creationId xmlns:p14="http://schemas.microsoft.com/office/powerpoint/2010/main" val="2262169918"/>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40434" y="150720"/>
            <a:ext cx="8195566" cy="1661993"/>
          </a:xfrm>
        </p:spPr>
        <p:txBody>
          <a:bodyPr wrap="square" lIns="0" tIns="0" rIns="0" bIns="0" anchor="ctr">
            <a:spAutoFit/>
          </a:bodyPr>
          <a:lstStyle/>
          <a:p>
            <a:r>
              <a:rPr lang="en-US" sz="3600" dirty="0">
                <a:latin typeface="+mj-lt"/>
              </a:rPr>
              <a:t>The Extracellular Matrix and Cell Walls Are Outside the Plasma Membrane</a:t>
            </a: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40434" y="2053004"/>
            <a:ext cx="8195566" cy="1300356"/>
          </a:xfrm>
          <a:noFill/>
          <a:ln>
            <a:noFill/>
          </a:ln>
        </p:spPr>
        <p:txBody>
          <a:bodyPr wrap="square" lIns="0" tIns="0" rIns="0" bIns="0" anchor="t" anchorCtr="0">
            <a:spAutoFit/>
          </a:bodyPr>
          <a:lstStyle/>
          <a:p>
            <a:pPr marL="342900" indent="-342900"/>
            <a:r>
              <a:rPr lang="en-US" sz="2400" dirty="0"/>
              <a:t>Most cells are characterized by extracellular structures that give physical support to cells.</a:t>
            </a:r>
          </a:p>
          <a:p>
            <a:pPr marL="342900" indent="-342900"/>
            <a:r>
              <a:rPr lang="en-US" sz="2400" dirty="0"/>
              <a:t>These structures often give physical support to the cell. </a:t>
            </a:r>
          </a:p>
        </p:txBody>
      </p:sp>
    </p:spTree>
    <p:extLst>
      <p:ext uri="{BB962C8B-B14F-4D97-AF65-F5344CB8AC3E}">
        <p14:creationId xmlns:p14="http://schemas.microsoft.com/office/powerpoint/2010/main" val="3648815063"/>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40434" y="164871"/>
            <a:ext cx="8302240" cy="553998"/>
          </a:xfrm>
        </p:spPr>
        <p:txBody>
          <a:bodyPr lIns="0" tIns="0" rIns="0" bIns="0" anchor="ctr">
            <a:spAutoFit/>
          </a:bodyPr>
          <a:lstStyle/>
          <a:p>
            <a:r>
              <a:rPr lang="en-US" sz="3600" dirty="0">
                <a:latin typeface="+mj-lt"/>
              </a:rPr>
              <a:t>The ECM of Animal Cells</a:t>
            </a: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40434" y="1088002"/>
            <a:ext cx="8195566" cy="3531736"/>
          </a:xfrm>
          <a:noFill/>
          <a:ln>
            <a:noFill/>
          </a:ln>
        </p:spPr>
        <p:txBody>
          <a:bodyPr wrap="square" lIns="0" tIns="0" rIns="0" bIns="0" anchor="t" anchorCtr="0">
            <a:spAutoFit/>
          </a:bodyPr>
          <a:lstStyle/>
          <a:p>
            <a:pPr marL="342900" indent="-342900"/>
            <a:r>
              <a:rPr lang="en-US" sz="2400" dirty="0">
                <a:solidFill>
                  <a:schemeClr val="tx1"/>
                </a:solidFill>
              </a:rPr>
              <a:t>For many animal cells, these structures are called the </a:t>
            </a:r>
            <a:r>
              <a:rPr lang="en-US" sz="2400" b="1" dirty="0">
                <a:solidFill>
                  <a:schemeClr val="tx1"/>
                </a:solidFill>
              </a:rPr>
              <a:t>extracellular</a:t>
            </a:r>
            <a:r>
              <a:rPr lang="en-US" sz="2400" dirty="0">
                <a:solidFill>
                  <a:schemeClr val="tx1"/>
                </a:solidFill>
              </a:rPr>
              <a:t> </a:t>
            </a:r>
            <a:r>
              <a:rPr lang="en-US" sz="2400" b="1" dirty="0">
                <a:solidFill>
                  <a:schemeClr val="tx1"/>
                </a:solidFill>
              </a:rPr>
              <a:t>matrix</a:t>
            </a:r>
            <a:r>
              <a:rPr lang="en-US" sz="2400" dirty="0">
                <a:solidFill>
                  <a:schemeClr val="tx1"/>
                </a:solidFill>
              </a:rPr>
              <a:t> (</a:t>
            </a:r>
            <a:r>
              <a:rPr lang="en-US" sz="2400" b="1" spc="-300" dirty="0">
                <a:solidFill>
                  <a:schemeClr val="tx1"/>
                </a:solidFill>
              </a:rPr>
              <a:t>E C </a:t>
            </a:r>
            <a:r>
              <a:rPr lang="en-US" sz="2400" b="1" dirty="0">
                <a:solidFill>
                  <a:schemeClr val="tx1"/>
                </a:solidFill>
              </a:rPr>
              <a:t>M</a:t>
            </a:r>
            <a:r>
              <a:rPr lang="en-US" sz="2400" dirty="0">
                <a:solidFill>
                  <a:schemeClr val="tx1"/>
                </a:solidFill>
              </a:rPr>
              <a:t>) and consist mainly of </a:t>
            </a:r>
            <a:r>
              <a:rPr lang="en-US" sz="2400" i="1" dirty="0">
                <a:solidFill>
                  <a:schemeClr val="tx1"/>
                </a:solidFill>
              </a:rPr>
              <a:t>collagen fibrils</a:t>
            </a:r>
            <a:r>
              <a:rPr lang="en-US" sz="2400" dirty="0">
                <a:solidFill>
                  <a:schemeClr val="tx1"/>
                </a:solidFill>
              </a:rPr>
              <a:t> and </a:t>
            </a:r>
            <a:r>
              <a:rPr lang="en-US" sz="2400" i="1" dirty="0">
                <a:solidFill>
                  <a:schemeClr val="tx1"/>
                </a:solidFill>
              </a:rPr>
              <a:t>proteoglycans</a:t>
            </a:r>
          </a:p>
          <a:p>
            <a:pPr marL="342900" indent="-342900"/>
            <a:r>
              <a:rPr lang="en-US" sz="2400" dirty="0">
                <a:solidFill>
                  <a:schemeClr val="tx1"/>
                </a:solidFill>
              </a:rPr>
              <a:t>The primary function of the </a:t>
            </a:r>
            <a:r>
              <a:rPr lang="en-US" sz="2400" spc="-300" dirty="0">
                <a:solidFill>
                  <a:schemeClr val="tx1"/>
                </a:solidFill>
              </a:rPr>
              <a:t>E C </a:t>
            </a:r>
            <a:r>
              <a:rPr lang="en-US" sz="2400" dirty="0">
                <a:solidFill>
                  <a:schemeClr val="tx1"/>
                </a:solidFill>
              </a:rPr>
              <a:t>M is support.</a:t>
            </a:r>
          </a:p>
          <a:p>
            <a:pPr marL="342900" indent="-342900"/>
            <a:r>
              <a:rPr lang="en-US" sz="2400" dirty="0">
                <a:solidFill>
                  <a:schemeClr val="tx1"/>
                </a:solidFill>
              </a:rPr>
              <a:t>The types of materials and the patterns in which the </a:t>
            </a:r>
            <a:r>
              <a:rPr lang="en-US" sz="2400" spc="-300" dirty="0">
                <a:solidFill>
                  <a:schemeClr val="tx1"/>
                </a:solidFill>
              </a:rPr>
              <a:t>E C </a:t>
            </a:r>
            <a:r>
              <a:rPr lang="en-US" sz="2400" dirty="0">
                <a:solidFill>
                  <a:schemeClr val="tx1"/>
                </a:solidFill>
              </a:rPr>
              <a:t>M is deposited regulate a variety of processes.</a:t>
            </a:r>
          </a:p>
          <a:p>
            <a:pPr marL="342900" indent="-342900"/>
            <a:r>
              <a:rPr lang="en-US" sz="2400" dirty="0">
                <a:solidFill>
                  <a:schemeClr val="tx1"/>
                </a:solidFill>
              </a:rPr>
              <a:t>In animal cells, the </a:t>
            </a:r>
            <a:r>
              <a:rPr lang="en-US" sz="2400" spc="-300" dirty="0">
                <a:solidFill>
                  <a:schemeClr val="tx1"/>
                </a:solidFill>
              </a:rPr>
              <a:t>E C </a:t>
            </a:r>
            <a:r>
              <a:rPr lang="en-US" sz="2400" dirty="0">
                <a:solidFill>
                  <a:schemeClr val="tx1"/>
                </a:solidFill>
              </a:rPr>
              <a:t>M compositions vary depending on the cell type.</a:t>
            </a:r>
          </a:p>
        </p:txBody>
      </p:sp>
    </p:spTree>
    <p:extLst>
      <p:ext uri="{BB962C8B-B14F-4D97-AF65-F5344CB8AC3E}">
        <p14:creationId xmlns:p14="http://schemas.microsoft.com/office/powerpoint/2010/main" val="2564345940"/>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40434" y="155297"/>
            <a:ext cx="8302240" cy="553998"/>
          </a:xfrm>
        </p:spPr>
        <p:txBody>
          <a:bodyPr lIns="0" tIns="0" rIns="0" bIns="0" anchor="ctr">
            <a:spAutoFit/>
          </a:bodyPr>
          <a:lstStyle/>
          <a:p>
            <a:r>
              <a:rPr lang="en-US" sz="3600" dirty="0">
                <a:latin typeface="+mj-lt"/>
              </a:rPr>
              <a:t>The Plant and Fungal Cell Wall</a:t>
            </a: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40434" y="1090317"/>
            <a:ext cx="8195566" cy="1669688"/>
          </a:xfrm>
          <a:noFill/>
          <a:ln>
            <a:noFill/>
          </a:ln>
        </p:spPr>
        <p:txBody>
          <a:bodyPr wrap="square" lIns="0" tIns="0" rIns="0" bIns="0" anchor="t" anchorCtr="0">
            <a:spAutoFit/>
          </a:bodyPr>
          <a:lstStyle/>
          <a:p>
            <a:pPr marL="342900" indent="-342900"/>
            <a:r>
              <a:rPr lang="en-US" sz="2400" dirty="0">
                <a:solidFill>
                  <a:schemeClr val="tx1"/>
                </a:solidFill>
              </a:rPr>
              <a:t>For plant and fungal cells, the extracellular structures are </a:t>
            </a:r>
            <a:r>
              <a:rPr lang="en-US" sz="2400" b="1" dirty="0">
                <a:solidFill>
                  <a:schemeClr val="tx1"/>
                </a:solidFill>
              </a:rPr>
              <a:t>cell</a:t>
            </a:r>
            <a:r>
              <a:rPr lang="en-US" sz="2400" dirty="0">
                <a:solidFill>
                  <a:schemeClr val="tx1"/>
                </a:solidFill>
              </a:rPr>
              <a:t> </a:t>
            </a:r>
            <a:r>
              <a:rPr lang="en-US" sz="2400" b="1" dirty="0">
                <a:solidFill>
                  <a:schemeClr val="tx1"/>
                </a:solidFill>
              </a:rPr>
              <a:t>walls</a:t>
            </a:r>
            <a:r>
              <a:rPr lang="en-US" sz="2400" dirty="0">
                <a:solidFill>
                  <a:schemeClr val="tx1"/>
                </a:solidFill>
              </a:rPr>
              <a:t>.</a:t>
            </a:r>
          </a:p>
          <a:p>
            <a:pPr marL="342900" indent="-342900"/>
            <a:r>
              <a:rPr lang="en-US" sz="2400" dirty="0">
                <a:solidFill>
                  <a:schemeClr val="tx1"/>
                </a:solidFill>
              </a:rPr>
              <a:t>They consist mainly of </a:t>
            </a:r>
            <a:r>
              <a:rPr lang="en-US" sz="2400" i="1" dirty="0">
                <a:solidFill>
                  <a:schemeClr val="tx1"/>
                </a:solidFill>
              </a:rPr>
              <a:t>cellulose</a:t>
            </a:r>
            <a:r>
              <a:rPr lang="en-US" sz="2400" dirty="0">
                <a:solidFill>
                  <a:schemeClr val="tx1"/>
                </a:solidFill>
              </a:rPr>
              <a:t> </a:t>
            </a:r>
            <a:r>
              <a:rPr lang="en-US" sz="2400" i="1" dirty="0">
                <a:solidFill>
                  <a:schemeClr val="tx1"/>
                </a:solidFill>
              </a:rPr>
              <a:t>microfibrils</a:t>
            </a:r>
            <a:r>
              <a:rPr lang="en-US" sz="2400" dirty="0">
                <a:solidFill>
                  <a:schemeClr val="tx1"/>
                </a:solidFill>
              </a:rPr>
              <a:t> in a matrix of polysaccharides and some proteins.</a:t>
            </a:r>
          </a:p>
        </p:txBody>
      </p:sp>
    </p:spTree>
    <p:extLst>
      <p:ext uri="{BB962C8B-B14F-4D97-AF65-F5344CB8AC3E}">
        <p14:creationId xmlns:p14="http://schemas.microsoft.com/office/powerpoint/2010/main" val="2338591368"/>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40434" y="155297"/>
            <a:ext cx="8302240" cy="553998"/>
          </a:xfrm>
        </p:spPr>
        <p:txBody>
          <a:bodyPr lIns="0" tIns="0" rIns="0" bIns="0" anchor="ctr">
            <a:spAutoFit/>
          </a:bodyPr>
          <a:lstStyle/>
          <a:p>
            <a:r>
              <a:rPr lang="en-US" sz="3600" dirty="0">
                <a:latin typeface="+mj-lt"/>
              </a:rPr>
              <a:t>The Plant Cell Wall </a:t>
            </a:r>
            <a:r>
              <a:rPr lang="en-US" sz="2800" dirty="0">
                <a:latin typeface="+mj-lt"/>
              </a:rPr>
              <a:t>(1 of 2)</a:t>
            </a: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40434" y="1087038"/>
            <a:ext cx="8195566" cy="3531736"/>
          </a:xfrm>
          <a:noFill/>
          <a:ln>
            <a:noFill/>
          </a:ln>
        </p:spPr>
        <p:txBody>
          <a:bodyPr wrap="square" lIns="0" tIns="0" rIns="0" bIns="0" anchor="t" anchorCtr="0">
            <a:spAutoFit/>
          </a:bodyPr>
          <a:lstStyle/>
          <a:p>
            <a:pPr marL="342900" indent="-342900"/>
            <a:r>
              <a:rPr lang="en-US" sz="2400" dirty="0"/>
              <a:t>The </a:t>
            </a:r>
            <a:r>
              <a:rPr lang="en-US" sz="2400" i="1" dirty="0"/>
              <a:t>primary</a:t>
            </a:r>
            <a:r>
              <a:rPr lang="en-US" sz="2400" dirty="0"/>
              <a:t> </a:t>
            </a:r>
            <a:r>
              <a:rPr lang="en-US" sz="2400" i="1" dirty="0"/>
              <a:t>cell</a:t>
            </a:r>
            <a:r>
              <a:rPr lang="en-US" sz="2400" dirty="0"/>
              <a:t> </a:t>
            </a:r>
            <a:r>
              <a:rPr lang="en-US" sz="2400" i="1" dirty="0"/>
              <a:t>wall</a:t>
            </a:r>
            <a:r>
              <a:rPr lang="en-US" sz="2400" dirty="0"/>
              <a:t> is laid down during cell division and consists mainly of cellulose fibrils embedded in a polysaccharide matrix.</a:t>
            </a:r>
          </a:p>
          <a:p>
            <a:pPr marL="342900" indent="-342900"/>
            <a:r>
              <a:rPr lang="en-US" sz="2400" dirty="0"/>
              <a:t>It is flexible and extensible.</a:t>
            </a:r>
          </a:p>
          <a:p>
            <a:pPr marL="342900" indent="-342900"/>
            <a:r>
              <a:rPr lang="en-US" sz="2400" dirty="0"/>
              <a:t>The </a:t>
            </a:r>
            <a:r>
              <a:rPr lang="en-US" sz="2400" i="1" dirty="0"/>
              <a:t>secondary</a:t>
            </a:r>
            <a:r>
              <a:rPr lang="en-US" sz="2400" dirty="0"/>
              <a:t> </a:t>
            </a:r>
            <a:r>
              <a:rPr lang="en-US" sz="2400" i="1" dirty="0"/>
              <a:t>cell wall </a:t>
            </a:r>
            <a:r>
              <a:rPr lang="en-US" sz="2400" dirty="0"/>
              <a:t>forms when the plant cell reaches full size by deposition of additional cellulose and </a:t>
            </a:r>
            <a:r>
              <a:rPr lang="en-US" sz="2400" i="1" dirty="0"/>
              <a:t>lignin</a:t>
            </a:r>
            <a:r>
              <a:rPr lang="en-US" sz="2400" dirty="0"/>
              <a:t> on the inner surface of the primary cell wall.</a:t>
            </a:r>
          </a:p>
          <a:p>
            <a:pPr marL="342900" indent="-342900"/>
            <a:r>
              <a:rPr lang="en-US" sz="2400" dirty="0"/>
              <a:t>It is rigid and inextensible. </a:t>
            </a:r>
          </a:p>
        </p:txBody>
      </p:sp>
    </p:spTree>
    <p:extLst>
      <p:ext uri="{BB962C8B-B14F-4D97-AF65-F5344CB8AC3E}">
        <p14:creationId xmlns:p14="http://schemas.microsoft.com/office/powerpoint/2010/main" val="331222765"/>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40434" y="160319"/>
            <a:ext cx="8302240" cy="553998"/>
          </a:xfrm>
        </p:spPr>
        <p:txBody>
          <a:bodyPr lIns="0" tIns="0" rIns="0" bIns="0" anchor="ctr">
            <a:spAutoFit/>
          </a:bodyPr>
          <a:lstStyle/>
          <a:p>
            <a:r>
              <a:rPr lang="en-US" sz="3600" dirty="0">
                <a:latin typeface="+mj-lt"/>
              </a:rPr>
              <a:t>Cell Communication</a:t>
            </a: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40434" y="1087039"/>
            <a:ext cx="8195566" cy="2039020"/>
          </a:xfrm>
          <a:noFill/>
          <a:ln>
            <a:noFill/>
          </a:ln>
        </p:spPr>
        <p:txBody>
          <a:bodyPr wrap="square" lIns="0" tIns="0" rIns="0" bIns="0" anchor="t" anchorCtr="0">
            <a:spAutoFit/>
          </a:bodyPr>
          <a:lstStyle/>
          <a:p>
            <a:pPr marL="342900" indent="-342900"/>
            <a:r>
              <a:rPr lang="en-US" sz="2400" dirty="0"/>
              <a:t>Plant cells are connected to neighboring cells by cytoplasmic bridges called </a:t>
            </a:r>
            <a:r>
              <a:rPr lang="en-US" sz="2400" b="1" dirty="0" err="1"/>
              <a:t>plasmodesmata</a:t>
            </a:r>
            <a:r>
              <a:rPr lang="en-US" sz="2400" dirty="0"/>
              <a:t>, which pass through the cell wall.</a:t>
            </a:r>
          </a:p>
          <a:p>
            <a:pPr marL="342900" indent="-342900"/>
            <a:r>
              <a:rPr lang="en-US" sz="2400" dirty="0" err="1"/>
              <a:t>Plasmodesmata</a:t>
            </a:r>
            <a:r>
              <a:rPr lang="en-US" sz="2400" dirty="0"/>
              <a:t> are large enough to allow the passage of water and small solutes from cell to cell.</a:t>
            </a:r>
          </a:p>
        </p:txBody>
      </p:sp>
    </p:spTree>
    <p:extLst>
      <p:ext uri="{BB962C8B-B14F-4D97-AF65-F5344CB8AC3E}">
        <p14:creationId xmlns:p14="http://schemas.microsoft.com/office/powerpoint/2010/main" val="1264755102"/>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34335" y="163518"/>
            <a:ext cx="8256069" cy="553998"/>
          </a:xfrm>
        </p:spPr>
        <p:txBody>
          <a:bodyPr wrap="square" lIns="0" tIns="0" rIns="0" bIns="0" anchor="ctr">
            <a:spAutoFit/>
          </a:bodyPr>
          <a:lstStyle/>
          <a:p>
            <a:r>
              <a:rPr lang="en-US" dirty="0"/>
              <a:t>The Plant Cell Wall </a:t>
            </a:r>
            <a:r>
              <a:rPr lang="en-US" sz="2800" dirty="0"/>
              <a:t>(2 of 2)</a:t>
            </a:r>
          </a:p>
        </p:txBody>
      </p:sp>
      <p:sp>
        <p:nvSpPr>
          <p:cNvPr id="6" name="Content Placeholder 5"/>
          <p:cNvSpPr>
            <a:spLocks noGrp="1"/>
          </p:cNvSpPr>
          <p:nvPr>
            <p:ph sz="quarter" idx="15"/>
          </p:nvPr>
        </p:nvSpPr>
        <p:spPr>
          <a:xfrm>
            <a:off x="447816" y="1084809"/>
            <a:ext cx="4771884" cy="369332"/>
          </a:xfrm>
        </p:spPr>
        <p:txBody>
          <a:bodyPr wrap="square" lIns="0" tIns="0" rIns="0" bIns="0">
            <a:spAutoFit/>
          </a:bodyPr>
          <a:lstStyle/>
          <a:p>
            <a:pPr marL="0" indent="0">
              <a:buNone/>
            </a:pPr>
            <a:r>
              <a:rPr lang="en-US" sz="2400" b="1" dirty="0"/>
              <a:t>Figure 4.25</a:t>
            </a:r>
            <a:r>
              <a:rPr lang="en-US" sz="2400" dirty="0"/>
              <a:t> The Plant Cell Wall. </a:t>
            </a:r>
          </a:p>
        </p:txBody>
      </p:sp>
      <p:pic>
        <p:nvPicPr>
          <p:cNvPr id="4" name="Picture Placeholder 3" descr="An illustration show two neighboring cells connected to each other by plasmodesma. Each cell has an outermost cell wall and an inner plasma membrane. An electron micrograph shows the plasmodesmata clearly."/>
          <p:cNvPicPr>
            <a:picLocks noGrp="1" noChangeAspect="1"/>
          </p:cNvPicPr>
          <p:nvPr>
            <p:ph type="pic" sz="quarter" idx="16"/>
          </p:nvPr>
        </p:nvPicPr>
        <p:blipFill rotWithShape="1">
          <a:blip r:embed="rId3">
            <a:extLst>
              <a:ext uri="{28A0092B-C50C-407E-A947-70E740481C1C}">
                <a14:useLocalDpi xmlns:a14="http://schemas.microsoft.com/office/drawing/2010/main" val="0"/>
              </a:ext>
            </a:extLst>
          </a:blip>
          <a:srcRect t="1871" b="2319"/>
          <a:stretch/>
        </p:blipFill>
        <p:spPr>
          <a:xfrm>
            <a:off x="5792801" y="982767"/>
            <a:ext cx="2579062" cy="5319100"/>
          </a:xfrm>
        </p:spPr>
      </p:pic>
    </p:spTree>
    <p:extLst>
      <p:ext uri="{BB962C8B-B14F-4D97-AF65-F5344CB8AC3E}">
        <p14:creationId xmlns:p14="http://schemas.microsoft.com/office/powerpoint/2010/main" val="3796299276"/>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40434" y="160319"/>
            <a:ext cx="8302240" cy="553998"/>
          </a:xfrm>
        </p:spPr>
        <p:txBody>
          <a:bodyPr lIns="0" tIns="0" rIns="0" bIns="0" anchor="ctr">
            <a:spAutoFit/>
          </a:bodyPr>
          <a:lstStyle/>
          <a:p>
            <a:r>
              <a:rPr lang="en-US" sz="3600" dirty="0">
                <a:latin typeface="+mj-lt"/>
              </a:rPr>
              <a:t>Bacterial Cell Walls</a:t>
            </a: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40434" y="1087043"/>
            <a:ext cx="8195566" cy="2600712"/>
          </a:xfrm>
          <a:noFill/>
          <a:ln>
            <a:noFill/>
          </a:ln>
        </p:spPr>
        <p:txBody>
          <a:bodyPr wrap="square" lIns="0" tIns="0" rIns="0" bIns="0" anchor="t" anchorCtr="0">
            <a:spAutoFit/>
          </a:bodyPr>
          <a:lstStyle/>
          <a:p>
            <a:pPr marL="342900" indent="-342900"/>
            <a:r>
              <a:rPr lang="en-US" sz="2400" dirty="0"/>
              <a:t>Bacterial cell walls are composed of </a:t>
            </a:r>
            <a:r>
              <a:rPr lang="en-US" sz="2400" i="1" dirty="0"/>
              <a:t>peptidoglycans</a:t>
            </a:r>
            <a:r>
              <a:rPr lang="en-US" sz="2400" dirty="0"/>
              <a:t>, long chains of </a:t>
            </a:r>
            <a:r>
              <a:rPr lang="en-US" sz="2400" spc="-300" dirty="0"/>
              <a:t>G l c N A </a:t>
            </a:r>
            <a:r>
              <a:rPr lang="en-US" sz="2400" dirty="0"/>
              <a:t>c and </a:t>
            </a:r>
            <a:r>
              <a:rPr lang="en-US" sz="2400" spc="-300" dirty="0"/>
              <a:t>M u r N A </a:t>
            </a:r>
            <a:r>
              <a:rPr lang="en-US" sz="2400" dirty="0"/>
              <a:t>c.</a:t>
            </a:r>
          </a:p>
          <a:p>
            <a:pPr marL="342900" indent="-342900"/>
            <a:r>
              <a:rPr lang="en-US" sz="2400" dirty="0"/>
              <a:t>These are held together by peptide bonds between a small number of amino acids, forming a netlike structure.</a:t>
            </a:r>
          </a:p>
          <a:p>
            <a:pPr marL="342900" indent="-342900"/>
            <a:r>
              <a:rPr lang="en-US" sz="2400" dirty="0"/>
              <a:t>There are additional substances specific to cell walls of major groups of bacteria.</a:t>
            </a:r>
          </a:p>
        </p:txBody>
      </p:sp>
    </p:spTree>
    <p:extLst>
      <p:ext uri="{BB962C8B-B14F-4D97-AF65-F5344CB8AC3E}">
        <p14:creationId xmlns:p14="http://schemas.microsoft.com/office/powerpoint/2010/main" val="2787697015"/>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40434" y="160319"/>
            <a:ext cx="8302240" cy="553998"/>
          </a:xfrm>
        </p:spPr>
        <p:txBody>
          <a:bodyPr lIns="0" tIns="0" rIns="0" bIns="0" anchor="ctr">
            <a:spAutoFit/>
          </a:bodyPr>
          <a:lstStyle/>
          <a:p>
            <a:r>
              <a:rPr lang="en-US" sz="3600" dirty="0">
                <a:latin typeface="+mj-lt"/>
              </a:rPr>
              <a:t>Motility and the ECM</a:t>
            </a: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40434" y="1087041"/>
            <a:ext cx="8195566" cy="3339376"/>
          </a:xfrm>
          <a:noFill/>
          <a:ln>
            <a:noFill/>
          </a:ln>
        </p:spPr>
        <p:txBody>
          <a:bodyPr wrap="square" lIns="0" tIns="0" rIns="0" bIns="0" anchor="t" anchorCtr="0">
            <a:spAutoFit/>
          </a:bodyPr>
          <a:lstStyle/>
          <a:p>
            <a:pPr marL="342900" indent="-342900"/>
            <a:r>
              <a:rPr lang="en-US" sz="2400" dirty="0"/>
              <a:t>Plant cells are </a:t>
            </a:r>
            <a:r>
              <a:rPr lang="en-US" sz="2400" i="1" dirty="0" err="1"/>
              <a:t>nonmotile</a:t>
            </a:r>
            <a:r>
              <a:rPr lang="en-US" sz="2400" dirty="0"/>
              <a:t> and thus suited to the rigidity that cell walls confer on an organism.</a:t>
            </a:r>
          </a:p>
          <a:p>
            <a:pPr marL="342900" indent="-342900"/>
            <a:r>
              <a:rPr lang="en-US" sz="2400" dirty="0"/>
              <a:t>Animal cells are </a:t>
            </a:r>
            <a:r>
              <a:rPr lang="en-US" sz="2400" i="1" dirty="0"/>
              <a:t>motile</a:t>
            </a:r>
            <a:r>
              <a:rPr lang="en-US" sz="2400" dirty="0"/>
              <a:t> and therefore are surrounded by a strong but elastic network of collagen fibers.</a:t>
            </a:r>
          </a:p>
          <a:p>
            <a:pPr marL="342900" indent="-342900"/>
            <a:r>
              <a:rPr lang="en-US" sz="2400" dirty="0"/>
              <a:t>Bacteria and archaea may be motile or not; their cell walls provide protection from bursting due to osmotic differences between the cell and the surrounding environment.</a:t>
            </a:r>
          </a:p>
        </p:txBody>
      </p:sp>
    </p:spTree>
    <p:extLst>
      <p:ext uri="{BB962C8B-B14F-4D97-AF65-F5344CB8AC3E}">
        <p14:creationId xmlns:p14="http://schemas.microsoft.com/office/powerpoint/2010/main" val="3504783779"/>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40434" y="163668"/>
            <a:ext cx="8302240" cy="1107996"/>
          </a:xfrm>
        </p:spPr>
        <p:txBody>
          <a:bodyPr lIns="0" tIns="0" rIns="0" bIns="0" anchor="ctr">
            <a:spAutoFit/>
          </a:bodyPr>
          <a:lstStyle/>
          <a:p>
            <a:r>
              <a:rPr lang="en-US" sz="3600" dirty="0">
                <a:latin typeface="+mj-lt"/>
              </a:rPr>
              <a:t>4.4 Viruses, </a:t>
            </a:r>
            <a:r>
              <a:rPr lang="en-US" sz="3600" dirty="0" err="1">
                <a:latin typeface="+mj-lt"/>
              </a:rPr>
              <a:t>Viroids</a:t>
            </a:r>
            <a:r>
              <a:rPr lang="en-US" sz="3600" dirty="0">
                <a:latin typeface="+mj-lt"/>
              </a:rPr>
              <a:t>, and Prions: Agents That Invade Cells</a:t>
            </a: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40434" y="1493444"/>
            <a:ext cx="8195566" cy="1669688"/>
          </a:xfrm>
          <a:noFill/>
          <a:ln>
            <a:noFill/>
          </a:ln>
        </p:spPr>
        <p:txBody>
          <a:bodyPr wrap="square" lIns="0" tIns="0" rIns="0" bIns="0" anchor="t" anchorCtr="0">
            <a:spAutoFit/>
          </a:bodyPr>
          <a:lstStyle/>
          <a:p>
            <a:pPr marL="342900" indent="-342900"/>
            <a:r>
              <a:rPr lang="en-US" sz="2400" dirty="0"/>
              <a:t>There are several types of agents that invade cells, disrupt cell function, and even kill the host cell.</a:t>
            </a:r>
          </a:p>
          <a:p>
            <a:pPr marL="342900" indent="-342900"/>
            <a:r>
              <a:rPr lang="en-US" sz="2400" dirty="0"/>
              <a:t>These include the </a:t>
            </a:r>
            <a:r>
              <a:rPr lang="en-US" sz="2400" i="1" dirty="0"/>
              <a:t>viruses</a:t>
            </a:r>
            <a:r>
              <a:rPr lang="en-US" sz="2400" dirty="0"/>
              <a:t> and the less w</a:t>
            </a:r>
            <a:r>
              <a:rPr lang="en-US" sz="2400" dirty="0">
                <a:solidFill>
                  <a:schemeClr val="tx1"/>
                </a:solidFill>
              </a:rPr>
              <a:t>ell-u</a:t>
            </a:r>
            <a:r>
              <a:rPr lang="en-US" sz="2400" dirty="0"/>
              <a:t>nderstood </a:t>
            </a:r>
            <a:r>
              <a:rPr lang="en-US" sz="2400" i="1" dirty="0" err="1"/>
              <a:t>viroids</a:t>
            </a:r>
            <a:r>
              <a:rPr lang="en-US" sz="2400" dirty="0"/>
              <a:t> and </a:t>
            </a:r>
            <a:r>
              <a:rPr lang="en-US" sz="2400" i="1" dirty="0"/>
              <a:t>prions</a:t>
            </a:r>
            <a:r>
              <a:rPr lang="en-US" sz="2400" dirty="0"/>
              <a:t>.</a:t>
            </a:r>
          </a:p>
        </p:txBody>
      </p:sp>
    </p:spTree>
    <p:extLst>
      <p:ext uri="{BB962C8B-B14F-4D97-AF65-F5344CB8AC3E}">
        <p14:creationId xmlns:p14="http://schemas.microsoft.com/office/powerpoint/2010/main" val="911620516"/>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40434" y="163668"/>
            <a:ext cx="8302240" cy="1107996"/>
          </a:xfrm>
        </p:spPr>
        <p:txBody>
          <a:bodyPr lIns="0" tIns="0" rIns="0" bIns="0" anchor="ctr">
            <a:spAutoFit/>
          </a:bodyPr>
          <a:lstStyle/>
          <a:p>
            <a:r>
              <a:rPr lang="en-US" sz="3600" dirty="0">
                <a:latin typeface="+mj-lt"/>
              </a:rPr>
              <a:t>A Virus Consists of a </a:t>
            </a:r>
            <a:r>
              <a:rPr lang="en-US" sz="3600" spc="-500" dirty="0">
                <a:latin typeface="+mj-lt"/>
              </a:rPr>
              <a:t>D N </a:t>
            </a:r>
            <a:r>
              <a:rPr lang="en-US" sz="3600" dirty="0">
                <a:latin typeface="+mj-lt"/>
              </a:rPr>
              <a:t>A or </a:t>
            </a:r>
            <a:r>
              <a:rPr lang="en-US" sz="3600" spc="-500" dirty="0">
                <a:latin typeface="+mj-lt"/>
              </a:rPr>
              <a:t>R N </a:t>
            </a:r>
            <a:r>
              <a:rPr lang="en-US" sz="3600" dirty="0">
                <a:latin typeface="+mj-lt"/>
              </a:rPr>
              <a:t>A Core Surrounded by a Protein Coat</a:t>
            </a: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40434" y="1493441"/>
            <a:ext cx="8195566" cy="2970044"/>
          </a:xfrm>
          <a:noFill/>
          <a:ln>
            <a:noFill/>
          </a:ln>
        </p:spPr>
        <p:txBody>
          <a:bodyPr wrap="square" lIns="0" tIns="0" rIns="0" bIns="0" anchor="t" anchorCtr="0">
            <a:spAutoFit/>
          </a:bodyPr>
          <a:lstStyle/>
          <a:p>
            <a:pPr marL="342900" indent="-342900"/>
            <a:r>
              <a:rPr lang="en-US" sz="2400" b="1" dirty="0"/>
              <a:t>Viruses</a:t>
            </a:r>
            <a:r>
              <a:rPr lang="en-US" sz="2400" dirty="0"/>
              <a:t> are acellular parasitic particles incapable of a free-living existence.</a:t>
            </a:r>
          </a:p>
          <a:p>
            <a:pPr marL="342900" indent="-342900"/>
            <a:r>
              <a:rPr lang="en-US" sz="2400" dirty="0"/>
              <a:t>They have no cytoplasm, organelles, or ribosomes and consist of only a few different molecules of nucleic acid and protein.</a:t>
            </a:r>
          </a:p>
          <a:p>
            <a:pPr marL="342900" indent="-342900"/>
            <a:r>
              <a:rPr lang="en-US" sz="2400" dirty="0"/>
              <a:t>They invade and infect cells, using the host’s synthetic machinery to produce more virus particles.</a:t>
            </a:r>
          </a:p>
        </p:txBody>
      </p:sp>
    </p:spTree>
    <p:extLst>
      <p:ext uri="{BB962C8B-B14F-4D97-AF65-F5344CB8AC3E}">
        <p14:creationId xmlns:p14="http://schemas.microsoft.com/office/powerpoint/2010/main" val="1126187767"/>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40434" y="159371"/>
            <a:ext cx="8302240" cy="553998"/>
          </a:xfrm>
        </p:spPr>
        <p:txBody>
          <a:bodyPr lIns="0" tIns="0" rIns="0" bIns="0" anchor="ctr">
            <a:spAutoFit/>
          </a:bodyPr>
          <a:lstStyle/>
          <a:p>
            <a:r>
              <a:rPr lang="en-US" sz="3600" dirty="0">
                <a:latin typeface="+mj-lt"/>
              </a:rPr>
              <a:t>Viruses</a:t>
            </a: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40434" y="1096624"/>
            <a:ext cx="8195566" cy="3162404"/>
          </a:xfrm>
          <a:noFill/>
          <a:ln>
            <a:noFill/>
          </a:ln>
        </p:spPr>
        <p:txBody>
          <a:bodyPr wrap="square" lIns="0" tIns="0" rIns="0" bIns="0" anchor="t" anchorCtr="0">
            <a:spAutoFit/>
          </a:bodyPr>
          <a:lstStyle/>
          <a:p>
            <a:pPr marL="342900" indent="-342900"/>
            <a:r>
              <a:rPr lang="en-US" sz="2400" dirty="0"/>
              <a:t>Viruses are responsible for many diseases in humans, animals, and plants.</a:t>
            </a:r>
          </a:p>
          <a:p>
            <a:pPr marL="342900" indent="-342900"/>
            <a:r>
              <a:rPr lang="en-US" sz="2400" dirty="0"/>
              <a:t>They are significant research tools for cell and molecular biologists.</a:t>
            </a:r>
          </a:p>
          <a:p>
            <a:pPr marL="342900" indent="-342900"/>
            <a:r>
              <a:rPr lang="en-US" sz="2400" dirty="0"/>
              <a:t>They are typically named after the disease they cause.</a:t>
            </a:r>
          </a:p>
          <a:p>
            <a:pPr marL="342900" indent="-342900"/>
            <a:r>
              <a:rPr lang="en-US" sz="2400" dirty="0"/>
              <a:t>Viruses that infect bacteria are </a:t>
            </a:r>
            <a:r>
              <a:rPr lang="en-US" sz="2400" i="1" dirty="0"/>
              <a:t>bacteriophages</a:t>
            </a:r>
            <a:r>
              <a:rPr lang="en-US" sz="2400" dirty="0"/>
              <a:t>, or </a:t>
            </a:r>
            <a:r>
              <a:rPr lang="en-US" sz="2400" i="1" dirty="0"/>
              <a:t>phages</a:t>
            </a:r>
            <a:r>
              <a:rPr lang="en-US" sz="2400" dirty="0"/>
              <a:t>.</a:t>
            </a:r>
          </a:p>
        </p:txBody>
      </p:sp>
    </p:spTree>
    <p:extLst>
      <p:ext uri="{BB962C8B-B14F-4D97-AF65-F5344CB8AC3E}">
        <p14:creationId xmlns:p14="http://schemas.microsoft.com/office/powerpoint/2010/main" val="1497295736"/>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40434" y="159371"/>
            <a:ext cx="8302240" cy="553998"/>
          </a:xfrm>
        </p:spPr>
        <p:txBody>
          <a:bodyPr lIns="0" tIns="0" rIns="0" bIns="0" anchor="ctr">
            <a:spAutoFit/>
          </a:bodyPr>
          <a:lstStyle/>
          <a:p>
            <a:r>
              <a:rPr lang="en-US" sz="3600" dirty="0">
                <a:latin typeface="+mj-lt"/>
              </a:rPr>
              <a:t>Structure of Viruses </a:t>
            </a:r>
            <a:r>
              <a:rPr lang="en-US" sz="2800" dirty="0">
                <a:latin typeface="+mj-lt"/>
              </a:rPr>
              <a:t>(1 of 2)</a:t>
            </a: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40434" y="1096632"/>
            <a:ext cx="8195566" cy="3339376"/>
          </a:xfrm>
          <a:noFill/>
          <a:ln>
            <a:noFill/>
          </a:ln>
        </p:spPr>
        <p:txBody>
          <a:bodyPr wrap="square" lIns="0" tIns="0" rIns="0" bIns="0" anchor="t" anchorCtr="0">
            <a:spAutoFit/>
          </a:bodyPr>
          <a:lstStyle/>
          <a:p>
            <a:pPr marL="342900" indent="-342900"/>
            <a:r>
              <a:rPr lang="en-US" sz="2400" dirty="0"/>
              <a:t>Viruses are small; the smallest are about the size of a ribosome, whereas the largest are about </a:t>
            </a:r>
            <a:br>
              <a:rPr lang="en-US" sz="2400" dirty="0"/>
            </a:br>
            <a:r>
              <a:rPr lang="en-US" sz="2400" dirty="0"/>
              <a:t>one-quarter the size of a bacterial cell.</a:t>
            </a:r>
          </a:p>
          <a:p>
            <a:pPr marL="342900" indent="-342900"/>
            <a:r>
              <a:rPr lang="en-US" sz="2400" dirty="0"/>
              <a:t>Each virus has a characteristic shape, defined by its protein capsid.</a:t>
            </a:r>
          </a:p>
          <a:p>
            <a:pPr marL="342900" indent="-342900"/>
            <a:r>
              <a:rPr lang="en-US" sz="2400" dirty="0"/>
              <a:t>Viruses are chemically quite simple, consisting of a </a:t>
            </a:r>
            <a:r>
              <a:rPr lang="en-US" sz="2400" i="1" dirty="0"/>
              <a:t>coat</a:t>
            </a:r>
            <a:r>
              <a:rPr lang="en-US" sz="2400" dirty="0"/>
              <a:t> (</a:t>
            </a:r>
            <a:r>
              <a:rPr lang="en-US" sz="2400" i="1" dirty="0"/>
              <a:t>capsid</a:t>
            </a:r>
            <a:r>
              <a:rPr lang="en-US" sz="2400" dirty="0"/>
              <a:t>) of protein surrounding a </a:t>
            </a:r>
            <a:r>
              <a:rPr lang="en-US" sz="2400" i="1" dirty="0"/>
              <a:t>core</a:t>
            </a:r>
            <a:r>
              <a:rPr lang="en-US" sz="2400" dirty="0"/>
              <a:t> containing </a:t>
            </a:r>
            <a:r>
              <a:rPr lang="en-US" sz="2400" spc="-300" dirty="0"/>
              <a:t>D N </a:t>
            </a:r>
            <a:r>
              <a:rPr lang="en-US" sz="2400" dirty="0"/>
              <a:t>A or </a:t>
            </a:r>
            <a:r>
              <a:rPr lang="en-US" sz="2400" spc="-300" dirty="0"/>
              <a:t>R N </a:t>
            </a:r>
            <a:r>
              <a:rPr lang="en-US" sz="2400" dirty="0"/>
              <a:t>A, depending on the type of virus.</a:t>
            </a:r>
          </a:p>
        </p:txBody>
      </p:sp>
    </p:spTree>
    <p:extLst>
      <p:ext uri="{BB962C8B-B14F-4D97-AF65-F5344CB8AC3E}">
        <p14:creationId xmlns:p14="http://schemas.microsoft.com/office/powerpoint/2010/main" val="1213489868"/>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40434" y="159371"/>
            <a:ext cx="8302240" cy="553998"/>
          </a:xfrm>
        </p:spPr>
        <p:txBody>
          <a:bodyPr lIns="0" tIns="0" rIns="0" bIns="0" anchor="ctr">
            <a:spAutoFit/>
          </a:bodyPr>
          <a:lstStyle/>
          <a:p>
            <a:r>
              <a:rPr lang="en-US" sz="3600" dirty="0">
                <a:latin typeface="+mj-lt"/>
              </a:rPr>
              <a:t>Structure of Viruses </a:t>
            </a:r>
            <a:r>
              <a:rPr lang="en-US" sz="2800" dirty="0">
                <a:latin typeface="+mj-lt"/>
              </a:rPr>
              <a:t>(2 of 2)</a:t>
            </a: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40434" y="1087999"/>
            <a:ext cx="8302240" cy="2408352"/>
          </a:xfrm>
          <a:noFill/>
          <a:ln>
            <a:noFill/>
          </a:ln>
        </p:spPr>
        <p:txBody>
          <a:bodyPr wrap="square" lIns="0" tIns="0" rIns="0" bIns="0" anchor="t" anchorCtr="0">
            <a:spAutoFit/>
          </a:bodyPr>
          <a:lstStyle/>
          <a:p>
            <a:pPr marL="342900" indent="-342900"/>
            <a:r>
              <a:rPr lang="en-US" sz="2400" dirty="0"/>
              <a:t>Some viral capsids consist of a single type of protein, whereas more complex viruses have capsids with a number of different proteins.</a:t>
            </a:r>
          </a:p>
          <a:p>
            <a:pPr marL="342900" indent="-342900"/>
            <a:r>
              <a:rPr lang="en-US" sz="2400" dirty="0"/>
              <a:t>Some viruses are surrounded by a membrane and are called </a:t>
            </a:r>
            <a:r>
              <a:rPr lang="en-US" sz="2400" i="1" dirty="0"/>
              <a:t>enveloped</a:t>
            </a:r>
            <a:r>
              <a:rPr lang="en-US" sz="2400" dirty="0"/>
              <a:t> </a:t>
            </a:r>
            <a:r>
              <a:rPr lang="en-US" sz="2400" i="1" dirty="0"/>
              <a:t>viruses</a:t>
            </a:r>
            <a:r>
              <a:rPr lang="en-US" sz="2400" dirty="0"/>
              <a:t>; </a:t>
            </a:r>
            <a:r>
              <a:rPr lang="en-US" sz="2400" spc="-300" dirty="0"/>
              <a:t>H I </a:t>
            </a:r>
            <a:r>
              <a:rPr lang="en-US" sz="2400" dirty="0"/>
              <a:t>V (human immunodeficiency virus) is an example.</a:t>
            </a:r>
          </a:p>
        </p:txBody>
      </p:sp>
    </p:spTree>
    <p:extLst>
      <p:ext uri="{BB962C8B-B14F-4D97-AF65-F5344CB8AC3E}">
        <p14:creationId xmlns:p14="http://schemas.microsoft.com/office/powerpoint/2010/main" val="3041173318"/>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47984" y="158496"/>
            <a:ext cx="8229600" cy="553998"/>
          </a:xfrm>
        </p:spPr>
        <p:txBody>
          <a:bodyPr lIns="0" tIns="0" rIns="0" bIns="0" anchor="ctr">
            <a:spAutoFit/>
          </a:bodyPr>
          <a:lstStyle/>
          <a:p>
            <a:r>
              <a:rPr lang="en-US" dirty="0"/>
              <a:t>Sizes and Shapes of Viruses</a:t>
            </a:r>
          </a:p>
        </p:txBody>
      </p:sp>
      <p:sp>
        <p:nvSpPr>
          <p:cNvPr id="6" name="Content Placeholder 5"/>
          <p:cNvSpPr>
            <a:spLocks noGrp="1"/>
          </p:cNvSpPr>
          <p:nvPr>
            <p:ph sz="quarter" idx="15"/>
          </p:nvPr>
        </p:nvSpPr>
        <p:spPr>
          <a:xfrm>
            <a:off x="439190" y="987358"/>
            <a:ext cx="8256234" cy="369332"/>
          </a:xfrm>
        </p:spPr>
        <p:txBody>
          <a:bodyPr lIns="0" tIns="0" rIns="0" bIns="0">
            <a:spAutoFit/>
          </a:bodyPr>
          <a:lstStyle/>
          <a:p>
            <a:pPr marL="0" indent="0">
              <a:buNone/>
            </a:pPr>
            <a:r>
              <a:rPr lang="en-US" sz="2400" b="1" dirty="0"/>
              <a:t>Figure 4.26</a:t>
            </a:r>
            <a:r>
              <a:rPr lang="en-US" sz="2400" dirty="0"/>
              <a:t> Sizes and Shapes of Viruses.</a:t>
            </a:r>
          </a:p>
        </p:txBody>
      </p:sp>
      <p:pic>
        <p:nvPicPr>
          <p:cNvPr id="5" name="Picture Placeholder 4" descr="Six electron micrographs show viruses in various sizes and shapes. Three are grouped under R N A hyphen containing viruses and the other three under D N A hyphen containing viruses.&#10;Long description is available in notes, press F6"/>
          <p:cNvPicPr>
            <a:picLocks noGrp="1" noChangeAspect="1"/>
          </p:cNvPicPr>
          <p:nvPr>
            <p:ph type="pic" sz="quarter" idx="16"/>
          </p:nvPr>
        </p:nvPicPr>
        <p:blipFill rotWithShape="1">
          <a:blip r:embed="rId3">
            <a:extLst>
              <a:ext uri="{28A0092B-C50C-407E-A947-70E740481C1C}">
                <a14:useLocalDpi xmlns:a14="http://schemas.microsoft.com/office/drawing/2010/main" val="0"/>
              </a:ext>
            </a:extLst>
          </a:blip>
          <a:srcRect b="2275"/>
          <a:stretch/>
        </p:blipFill>
        <p:spPr>
          <a:xfrm>
            <a:off x="1867618" y="1550877"/>
            <a:ext cx="5409244" cy="4766916"/>
          </a:xfrm>
        </p:spPr>
      </p:pic>
    </p:spTree>
    <p:extLst>
      <p:ext uri="{BB962C8B-B14F-4D97-AF65-F5344CB8AC3E}">
        <p14:creationId xmlns:p14="http://schemas.microsoft.com/office/powerpoint/2010/main" val="4276624176"/>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40434" y="159370"/>
            <a:ext cx="8302240" cy="553998"/>
          </a:xfrm>
        </p:spPr>
        <p:txBody>
          <a:bodyPr lIns="0" tIns="0" rIns="0" bIns="0" anchor="ctr">
            <a:spAutoFit/>
          </a:bodyPr>
          <a:lstStyle/>
          <a:p>
            <a:r>
              <a:rPr lang="en-US" sz="3600" dirty="0">
                <a:latin typeface="+mj-lt"/>
              </a:rPr>
              <a:t>Are Viruses Living?</a:t>
            </a: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40434" y="1078412"/>
            <a:ext cx="8302240" cy="3493264"/>
          </a:xfrm>
          <a:noFill/>
          <a:ln>
            <a:noFill/>
          </a:ln>
        </p:spPr>
        <p:txBody>
          <a:bodyPr wrap="square" lIns="0" tIns="0" rIns="0" bIns="0" anchor="t" anchorCtr="0">
            <a:spAutoFit/>
          </a:bodyPr>
          <a:lstStyle/>
          <a:p>
            <a:pPr marL="342900" indent="-342900"/>
            <a:r>
              <a:rPr lang="en-US" sz="2400" dirty="0"/>
              <a:t>Living things have the fundamental properties of</a:t>
            </a:r>
          </a:p>
          <a:p>
            <a:pPr marL="829818" lvl="1" indent="-342900"/>
            <a:r>
              <a:rPr lang="en-US" sz="2400" i="1" dirty="0"/>
              <a:t>Metabolism</a:t>
            </a:r>
            <a:r>
              <a:rPr lang="en-US" sz="2400" dirty="0"/>
              <a:t> (cellular reactions, in pathways)</a:t>
            </a:r>
          </a:p>
          <a:p>
            <a:pPr marL="829818" lvl="1" indent="-342900"/>
            <a:r>
              <a:rPr lang="en-US" sz="2400" i="1" dirty="0"/>
              <a:t>Irritability</a:t>
            </a:r>
            <a:r>
              <a:rPr lang="en-US" sz="2400" dirty="0"/>
              <a:t> (perception of and response to external stimuli)</a:t>
            </a:r>
          </a:p>
          <a:p>
            <a:pPr marL="829818" lvl="1" indent="-342900"/>
            <a:r>
              <a:rPr lang="en-US" sz="2400" i="1" dirty="0"/>
              <a:t>Ability</a:t>
            </a:r>
            <a:r>
              <a:rPr lang="en-US" sz="2400" dirty="0"/>
              <a:t> to </a:t>
            </a:r>
            <a:r>
              <a:rPr lang="en-US" sz="2400" i="1" dirty="0"/>
              <a:t>reproduce</a:t>
            </a:r>
          </a:p>
          <a:p>
            <a:pPr marL="342900" indent="-342900"/>
            <a:r>
              <a:rPr lang="en-US" sz="2400" dirty="0"/>
              <a:t>Viruses do not satisfy the first two, and though they reproduce, they can do so only via the machinery of a living cell.</a:t>
            </a:r>
          </a:p>
        </p:txBody>
      </p:sp>
    </p:spTree>
    <p:extLst>
      <p:ext uri="{BB962C8B-B14F-4D97-AF65-F5344CB8AC3E}">
        <p14:creationId xmlns:p14="http://schemas.microsoft.com/office/powerpoint/2010/main" val="1269916874"/>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40434" y="215392"/>
            <a:ext cx="8302240" cy="984885"/>
          </a:xfrm>
        </p:spPr>
        <p:txBody>
          <a:bodyPr lIns="0" tIns="0" rIns="0" bIns="0" anchor="ctr">
            <a:spAutoFit/>
          </a:bodyPr>
          <a:lstStyle/>
          <a:p>
            <a:r>
              <a:rPr lang="en-US" sz="3200" dirty="0" err="1">
                <a:latin typeface="+mj-lt"/>
              </a:rPr>
              <a:t>Viroids</a:t>
            </a:r>
            <a:r>
              <a:rPr lang="en-US" sz="3200" dirty="0">
                <a:latin typeface="+mj-lt"/>
              </a:rPr>
              <a:t> Are Small, Circular </a:t>
            </a:r>
            <a:r>
              <a:rPr lang="en-US" sz="3200" spc="-500" dirty="0">
                <a:latin typeface="+mj-lt"/>
              </a:rPr>
              <a:t>R N </a:t>
            </a:r>
            <a:r>
              <a:rPr lang="en-US" sz="3200" dirty="0">
                <a:latin typeface="+mj-lt"/>
              </a:rPr>
              <a:t>A Molecules That Can Cause Plant Diseases</a:t>
            </a: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40434" y="1487636"/>
            <a:ext cx="8302240" cy="3531736"/>
          </a:xfrm>
          <a:noFill/>
          <a:ln>
            <a:noFill/>
          </a:ln>
        </p:spPr>
        <p:txBody>
          <a:bodyPr lIns="0" tIns="0" rIns="0" bIns="0" anchor="t" anchorCtr="0">
            <a:spAutoFit/>
          </a:bodyPr>
          <a:lstStyle/>
          <a:p>
            <a:pPr marL="342900" indent="-342900"/>
            <a:r>
              <a:rPr lang="en-US" sz="2400" b="1" dirty="0" err="1"/>
              <a:t>Viroids</a:t>
            </a:r>
            <a:r>
              <a:rPr lang="en-US" sz="2400" dirty="0"/>
              <a:t>, found in some plant cells, are even simpler than viruses.</a:t>
            </a:r>
          </a:p>
          <a:p>
            <a:pPr marL="342900" indent="-342900"/>
            <a:r>
              <a:rPr lang="en-US" sz="2400" dirty="0"/>
              <a:t>They are small, circular </a:t>
            </a:r>
            <a:r>
              <a:rPr lang="en-US" sz="2400" spc="-300" dirty="0"/>
              <a:t>R N </a:t>
            </a:r>
            <a:r>
              <a:rPr lang="en-US" sz="2400" dirty="0"/>
              <a:t>A molecules and are the smallest known infectious agents.</a:t>
            </a:r>
          </a:p>
          <a:p>
            <a:pPr marL="342900" indent="-342900"/>
            <a:r>
              <a:rPr lang="en-US" sz="2400" dirty="0" err="1"/>
              <a:t>Viroids</a:t>
            </a:r>
            <a:r>
              <a:rPr lang="en-US" sz="2400" dirty="0"/>
              <a:t> cause several diseases of crop plants such as </a:t>
            </a:r>
            <a:r>
              <a:rPr lang="en-US" sz="2400" i="1" dirty="0" err="1"/>
              <a:t>cadang-cadang</a:t>
            </a:r>
            <a:r>
              <a:rPr lang="en-US" sz="2400" dirty="0"/>
              <a:t> disease in coconut palms.</a:t>
            </a:r>
          </a:p>
          <a:p>
            <a:pPr marL="342900" indent="-342900"/>
            <a:r>
              <a:rPr lang="en-US" sz="2400" dirty="0" err="1"/>
              <a:t>Viroids</a:t>
            </a:r>
            <a:r>
              <a:rPr lang="en-US" sz="2400" dirty="0"/>
              <a:t> don’t exist freely and are transmitted when the surfaces of adjacent plant cells are damaged.</a:t>
            </a:r>
          </a:p>
        </p:txBody>
      </p:sp>
    </p:spTree>
    <p:extLst>
      <p:ext uri="{BB962C8B-B14F-4D97-AF65-F5344CB8AC3E}">
        <p14:creationId xmlns:p14="http://schemas.microsoft.com/office/powerpoint/2010/main" val="1329146406"/>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40434" y="194123"/>
            <a:ext cx="8302240" cy="523220"/>
          </a:xfrm>
        </p:spPr>
        <p:txBody>
          <a:bodyPr lIns="0" tIns="0" rIns="0" bIns="0" anchor="ctr">
            <a:spAutoFit/>
          </a:bodyPr>
          <a:lstStyle/>
          <a:p>
            <a:r>
              <a:rPr lang="en-US" dirty="0">
                <a:latin typeface="+mj-lt"/>
              </a:rPr>
              <a:t>Prions Are Infectious Protein Molecules</a:t>
            </a: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40434" y="958973"/>
            <a:ext cx="8302240" cy="3901068"/>
          </a:xfrm>
          <a:noFill/>
          <a:ln>
            <a:noFill/>
          </a:ln>
        </p:spPr>
        <p:txBody>
          <a:bodyPr lIns="0" tIns="0" rIns="0" bIns="0" anchor="t" anchorCtr="0">
            <a:spAutoFit/>
          </a:bodyPr>
          <a:lstStyle/>
          <a:p>
            <a:pPr marL="342900" indent="-342900"/>
            <a:r>
              <a:rPr lang="en-US" sz="2400" b="1" dirty="0"/>
              <a:t>Prions</a:t>
            </a:r>
            <a:r>
              <a:rPr lang="en-US" sz="2400" dirty="0"/>
              <a:t> are </a:t>
            </a:r>
            <a:r>
              <a:rPr lang="en-US" sz="2400" i="1" dirty="0" err="1"/>
              <a:t>proteinaceous</a:t>
            </a:r>
            <a:r>
              <a:rPr lang="en-US" sz="2400" dirty="0"/>
              <a:t> </a:t>
            </a:r>
            <a:r>
              <a:rPr lang="en-US" sz="2400" i="1" dirty="0"/>
              <a:t>infective</a:t>
            </a:r>
            <a:r>
              <a:rPr lang="en-US" sz="2400" dirty="0"/>
              <a:t> </a:t>
            </a:r>
            <a:r>
              <a:rPr lang="en-US" sz="2400" i="1" dirty="0"/>
              <a:t>particles</a:t>
            </a:r>
            <a:r>
              <a:rPr lang="en-US" sz="2400" dirty="0"/>
              <a:t> that are responsible for neurological diseases such as scrapie, </a:t>
            </a:r>
            <a:r>
              <a:rPr lang="en-US" sz="2400" dirty="0" err="1"/>
              <a:t>kuru</a:t>
            </a:r>
            <a:r>
              <a:rPr lang="en-US" sz="2400" dirty="0"/>
              <a:t>, and mad cow disease.</a:t>
            </a:r>
          </a:p>
          <a:p>
            <a:pPr marL="342900" indent="-342900"/>
            <a:r>
              <a:rPr lang="en-US" sz="2400" i="1" dirty="0"/>
              <a:t>Scrapie</a:t>
            </a:r>
            <a:r>
              <a:rPr lang="en-US" sz="2400" dirty="0"/>
              <a:t> affects sheep and goats, causing infected animals to rub against trees or other objects, scraping their wool in the process.</a:t>
            </a:r>
          </a:p>
          <a:p>
            <a:pPr marL="342900" indent="-342900"/>
            <a:r>
              <a:rPr lang="en-US" sz="2400" i="1" dirty="0" err="1"/>
              <a:t>Kuru</a:t>
            </a:r>
            <a:r>
              <a:rPr lang="en-US" sz="2400" dirty="0"/>
              <a:t> is a progressive, degenerative disease of the central nervous system in humans.</a:t>
            </a:r>
          </a:p>
          <a:p>
            <a:pPr marL="342900" indent="-342900"/>
            <a:r>
              <a:rPr lang="en-US" sz="2400" i="1" dirty="0"/>
              <a:t>Mad cow</a:t>
            </a:r>
            <a:r>
              <a:rPr lang="en-US" sz="2400" dirty="0"/>
              <a:t> </a:t>
            </a:r>
            <a:r>
              <a:rPr lang="en-US" sz="2400" i="1" dirty="0"/>
              <a:t>disease</a:t>
            </a:r>
            <a:r>
              <a:rPr lang="en-US" sz="2400" dirty="0"/>
              <a:t> affects cattle.</a:t>
            </a:r>
          </a:p>
        </p:txBody>
      </p:sp>
    </p:spTree>
    <p:extLst>
      <p:ext uri="{BB962C8B-B14F-4D97-AF65-F5344CB8AC3E}">
        <p14:creationId xmlns:p14="http://schemas.microsoft.com/office/powerpoint/2010/main" val="567324307"/>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40434" y="159534"/>
            <a:ext cx="8302240" cy="553998"/>
          </a:xfrm>
        </p:spPr>
        <p:txBody>
          <a:bodyPr lIns="0" tIns="0" rIns="0" bIns="0" anchor="ctr">
            <a:spAutoFit/>
          </a:bodyPr>
          <a:lstStyle/>
          <a:p>
            <a:r>
              <a:rPr lang="en-US" sz="3600" dirty="0">
                <a:latin typeface="+mj-lt"/>
              </a:rPr>
              <a:t>Prions</a:t>
            </a: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40434" y="962977"/>
            <a:ext cx="8302240" cy="2600712"/>
          </a:xfrm>
          <a:noFill/>
          <a:ln>
            <a:noFill/>
          </a:ln>
        </p:spPr>
        <p:txBody>
          <a:bodyPr lIns="0" tIns="0" rIns="0" bIns="0" anchor="t" anchorCtr="0">
            <a:spAutoFit/>
          </a:bodyPr>
          <a:lstStyle/>
          <a:p>
            <a:pPr marL="342900" indent="-342900"/>
            <a:r>
              <a:rPr lang="en-US" sz="2400" dirty="0">
                <a:solidFill>
                  <a:schemeClr val="tx1"/>
                </a:solidFill>
                <a:latin typeface="+mn-lt"/>
                <a:cs typeface="Adobe Arabic" panose="02040503050201020203" pitchFamily="18" charset="-78"/>
              </a:rPr>
              <a:t>Prions are abnormally folded versions of normal cellular proteins.</a:t>
            </a:r>
          </a:p>
          <a:p>
            <a:pPr marL="342900" indent="-342900"/>
            <a:r>
              <a:rPr lang="en-US" sz="2400" dirty="0">
                <a:solidFill>
                  <a:schemeClr val="tx1"/>
                </a:solidFill>
                <a:latin typeface="+mn-lt"/>
                <a:cs typeface="Adobe Arabic" panose="02040503050201020203" pitchFamily="18" charset="-78"/>
              </a:rPr>
              <a:t>Prions cannot be destroyed by cooking or boiling.</a:t>
            </a:r>
          </a:p>
          <a:p>
            <a:pPr marL="342900" indent="-342900"/>
            <a:r>
              <a:rPr lang="en-US" sz="2400" dirty="0">
                <a:solidFill>
                  <a:schemeClr val="tx1"/>
                </a:solidFill>
                <a:latin typeface="+mn-lt"/>
                <a:cs typeface="Adobe Arabic" panose="02040503050201020203" pitchFamily="18" charset="-78"/>
              </a:rPr>
              <a:t>In regions where the prion disease </a:t>
            </a:r>
            <a:r>
              <a:rPr lang="en-US" sz="2400" i="1" dirty="0">
                <a:solidFill>
                  <a:schemeClr val="tx1"/>
                </a:solidFill>
                <a:latin typeface="+mn-lt"/>
                <a:cs typeface="Adobe Arabic" panose="02040503050201020203" pitchFamily="18" charset="-78"/>
              </a:rPr>
              <a:t>chronic</a:t>
            </a:r>
            <a:r>
              <a:rPr lang="en-US" sz="2400" dirty="0">
                <a:solidFill>
                  <a:schemeClr val="tx1"/>
                </a:solidFill>
                <a:latin typeface="+mn-lt"/>
                <a:cs typeface="Adobe Arabic" panose="02040503050201020203" pitchFamily="18" charset="-78"/>
              </a:rPr>
              <a:t> </a:t>
            </a:r>
            <a:r>
              <a:rPr lang="en-US" sz="2400" i="1" dirty="0">
                <a:solidFill>
                  <a:schemeClr val="tx1"/>
                </a:solidFill>
                <a:latin typeface="+mn-lt"/>
                <a:cs typeface="Adobe Arabic" panose="02040503050201020203" pitchFamily="18" charset="-78"/>
              </a:rPr>
              <a:t>wasting</a:t>
            </a:r>
            <a:r>
              <a:rPr lang="en-US" sz="2400" dirty="0">
                <a:solidFill>
                  <a:schemeClr val="tx1"/>
                </a:solidFill>
                <a:latin typeface="+mn-lt"/>
                <a:cs typeface="Adobe Arabic" panose="02040503050201020203" pitchFamily="18" charset="-78"/>
              </a:rPr>
              <a:t> </a:t>
            </a:r>
            <a:r>
              <a:rPr lang="en-US" sz="2400" i="1" dirty="0">
                <a:solidFill>
                  <a:schemeClr val="tx1"/>
                </a:solidFill>
                <a:latin typeface="+mn-lt"/>
                <a:cs typeface="Adobe Arabic" panose="02040503050201020203" pitchFamily="18" charset="-78"/>
              </a:rPr>
              <a:t>disease</a:t>
            </a:r>
            <a:r>
              <a:rPr lang="en-US" sz="2400" dirty="0">
                <a:solidFill>
                  <a:schemeClr val="tx1"/>
                </a:solidFill>
                <a:latin typeface="+mn-lt"/>
                <a:cs typeface="Adobe Arabic" panose="02040503050201020203" pitchFamily="18" charset="-78"/>
              </a:rPr>
              <a:t> is found in deer and elk, hunters must have meat tested for the prion before eating it.</a:t>
            </a:r>
          </a:p>
        </p:txBody>
      </p:sp>
    </p:spTree>
    <p:extLst>
      <p:ext uri="{BB962C8B-B14F-4D97-AF65-F5344CB8AC3E}">
        <p14:creationId xmlns:p14="http://schemas.microsoft.com/office/powerpoint/2010/main" val="3960909408"/>
      </p:ext>
    </p:extLst>
  </p:cSld>
  <p:clrMapOvr>
    <a:masterClrMapping/>
  </p:clrMapOvr>
</p:sld>
</file>

<file path=ppt/theme/theme1.xml><?xml version="1.0" encoding="utf-8"?>
<a:theme xmlns:a="http://schemas.openxmlformats.org/drawingml/2006/main" name="USH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USHE_slide options">
  <a:themeElements>
    <a:clrScheme name="Custom 40">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33399"/>
      </a:hlink>
      <a:folHlink>
        <a:srgbClr val="7030A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147383</TotalTime>
  <Words>8080</Words>
  <Application>Microsoft Office PowerPoint</Application>
  <PresentationFormat>On-screen Show (4:3)</PresentationFormat>
  <Paragraphs>765</Paragraphs>
  <Slides>130</Slides>
  <Notes>130</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130</vt:i4>
      </vt:variant>
    </vt:vector>
  </HeadingPairs>
  <TitlesOfParts>
    <vt:vector size="138" baseType="lpstr">
      <vt:lpstr>Verdana</vt:lpstr>
      <vt:lpstr>Symbol</vt:lpstr>
      <vt:lpstr>Calibri</vt:lpstr>
      <vt:lpstr>Noto Sans Symbols</vt:lpstr>
      <vt:lpstr>Arial</vt:lpstr>
      <vt:lpstr>Times New Roman</vt:lpstr>
      <vt:lpstr>USHE</vt:lpstr>
      <vt:lpstr>USHE_slide options</vt:lpstr>
      <vt:lpstr>Becker’s World of the Cell</vt:lpstr>
      <vt:lpstr>Cells and Organelles</vt:lpstr>
      <vt:lpstr>4.1 The Origins of the First Cells</vt:lpstr>
      <vt:lpstr>Simple Organic Molecules May Have Formed Abiotically in the Young Earth</vt:lpstr>
      <vt:lpstr>Results of the Experiment</vt:lpstr>
      <vt:lpstr>Miller’s Apparatus for Abiotic Synthesis of Simple Organic Compounds</vt:lpstr>
      <vt:lpstr>Additional Experiments</vt:lpstr>
      <vt:lpstr>Models for Formation of Organic Compounds</vt:lpstr>
      <vt:lpstr>RNA May Have Been the First Informational Molecule</vt:lpstr>
      <vt:lpstr>Liposomes May Have Defined the First Primitive Protocells</vt:lpstr>
      <vt:lpstr>Artificial Liposomes</vt:lpstr>
      <vt:lpstr>4.2 Basic Properties of Cells</vt:lpstr>
      <vt:lpstr>The Three Domains of Life Are Bacteria, Archaea, and Eukaryotes</vt:lpstr>
      <vt:lpstr>A Changing View of Prokaryotes</vt:lpstr>
      <vt:lpstr>Three Domains</vt:lpstr>
      <vt:lpstr>The Three Domains of Life</vt:lpstr>
      <vt:lpstr>A Comparison of Some Properties of Bacterial, Archaeal, and Eukaryotic Cells (1 of 2)</vt:lpstr>
      <vt:lpstr>A Comparison of Some Properties of Bacterial, Archaeal, and Eukaryotic Cells (2 of 2)</vt:lpstr>
      <vt:lpstr>Bacteria</vt:lpstr>
      <vt:lpstr>Archaea (1 of 2)</vt:lpstr>
      <vt:lpstr>Archaea (2 of 2)</vt:lpstr>
      <vt:lpstr>The Common Ancestor of Bacteria, Archaea, and Eukarya</vt:lpstr>
      <vt:lpstr>There Are Several Limitations on Cell Size</vt:lpstr>
      <vt:lpstr>Size Ranges</vt:lpstr>
      <vt:lpstr>Limitations on Cell Size</vt:lpstr>
      <vt:lpstr>Surface Area/Volume Ratio</vt:lpstr>
      <vt:lpstr>Maintaining Adequate Surface Area/Volume Ratio</vt:lpstr>
      <vt:lpstr>The Effect of Cell Size on the Surface Area/Volume</vt:lpstr>
      <vt:lpstr>Cells Specialized for Absorption</vt:lpstr>
      <vt:lpstr>The Microvilli of Intestinal Mucosal Cells</vt:lpstr>
      <vt:lpstr>Diffusion Rates of Molecules</vt:lpstr>
      <vt:lpstr>Limitation on Rates of Diffusion</vt:lpstr>
      <vt:lpstr>Avoiding Limitations of Rates of Diffusion</vt:lpstr>
      <vt:lpstr>The Need for Adequate Concentrations of Reactants and Catalysts</vt:lpstr>
      <vt:lpstr>Compartmentalization of Cellular Activities</vt:lpstr>
      <vt:lpstr>Bacteria, Archaea, and Eukaryotes Differ from Each Other in Many Ways</vt:lpstr>
      <vt:lpstr>Presence of a Membrane-Bounded Nucleus</vt:lpstr>
      <vt:lpstr>Structure of a Rod-Shaped Bacterial Cell</vt:lpstr>
      <vt:lpstr>Use of Internal Membranes to Segregate Function</vt:lpstr>
      <vt:lpstr>Internal Membranes in Eukaryotes</vt:lpstr>
      <vt:lpstr>An Animal Cell</vt:lpstr>
      <vt:lpstr>A Plant Cell</vt:lpstr>
      <vt:lpstr>Exocytosis and Endocytosis </vt:lpstr>
      <vt:lpstr>Vesicle Transport</vt:lpstr>
      <vt:lpstr>Organization of D N A </vt:lpstr>
      <vt:lpstr>D N A Packaging</vt:lpstr>
      <vt:lpstr>A Pair of Eukaryotic Chromosomes</vt:lpstr>
      <vt:lpstr>Segregation of Genetic Information</vt:lpstr>
      <vt:lpstr>Expression of D N A (1 of 2)</vt:lpstr>
      <vt:lpstr>Expression of D N A (2 of 2)</vt:lpstr>
      <vt:lpstr>4.3 The Eukaryotic Cell in Overview: Structure and Function</vt:lpstr>
      <vt:lpstr>The Plasma Membrane Defines Cell Boundaries and Retains Contents</vt:lpstr>
      <vt:lpstr>Amphipathic Membrane Components</vt:lpstr>
      <vt:lpstr>Organization of the Plasma Membrane</vt:lpstr>
      <vt:lpstr>Proteins in the Plasma Membrane (1 of 2)</vt:lpstr>
      <vt:lpstr>Proteins in the Plasma Membrane (2 of 2)</vt:lpstr>
      <vt:lpstr>The Nucleus Is the Information Center of the Eukaryotic Cell</vt:lpstr>
      <vt:lpstr>The Nucleus (1 of 2) </vt:lpstr>
      <vt:lpstr>The Nucleus (2 of 2)</vt:lpstr>
      <vt:lpstr>Mitochondria and Chloroplasts Provide Energy for the Cell</vt:lpstr>
      <vt:lpstr>The Mitochondrion (1 of 2)</vt:lpstr>
      <vt:lpstr>Mitochondrial Structure</vt:lpstr>
      <vt:lpstr>The Mitochondrion (2 of 2)</vt:lpstr>
      <vt:lpstr>Mitochondrial Function</vt:lpstr>
      <vt:lpstr>The Chloroplast (1 of 2)</vt:lpstr>
      <vt:lpstr>The Chloroplast (2 of 2)</vt:lpstr>
      <vt:lpstr>Chloroplast Function (1 of 2)</vt:lpstr>
      <vt:lpstr>Chloroplast Function (2 of 2)</vt:lpstr>
      <vt:lpstr>Plastids</vt:lpstr>
      <vt:lpstr>The Endosymbiont Theory Proposes That Mitochondria and Chloroplasts Were Derived from Bacteria</vt:lpstr>
      <vt:lpstr>Other Similarities Between Mitochondria and Chloroplasts and Bacteria</vt:lpstr>
      <vt:lpstr>The Endosymbiont Theory</vt:lpstr>
      <vt:lpstr>Outside-In Versus Inside-Out Theories of Eukaryotic Origins</vt:lpstr>
      <vt:lpstr>Outside-In Theories</vt:lpstr>
      <vt:lpstr>Inside-out Theories</vt:lpstr>
      <vt:lpstr>Three-Membrane Problem</vt:lpstr>
      <vt:lpstr>Theories of Endosymbiosis</vt:lpstr>
      <vt:lpstr>Mitochondria Evolution from Ancient Aerobic Bacteria</vt:lpstr>
      <vt:lpstr>Chloroplasts Evolution from Ancient Photosynthetic Bacteria</vt:lpstr>
      <vt:lpstr>Endosymbiosis Is Still Occurring</vt:lpstr>
      <vt:lpstr>The Endomembrane System Synthesizes Proteins for a Variety of Cellular Destinations</vt:lpstr>
      <vt:lpstr>The Endoplasmic Reticulum (1 of 2)</vt:lpstr>
      <vt:lpstr>The Endoplasmic Reticulum (2 of 2)</vt:lpstr>
      <vt:lpstr>Rough Endoplasmic Reticulum</vt:lpstr>
      <vt:lpstr>Smooth Endoplasmic Reticulum</vt:lpstr>
      <vt:lpstr>The Golgi Apparatus (1 of 2)</vt:lpstr>
      <vt:lpstr>The Golgi Complex Is Like a Processing Station</vt:lpstr>
      <vt:lpstr>The Golgi Apparatus (2 of 2)</vt:lpstr>
      <vt:lpstr>Secretory Vesicles</vt:lpstr>
      <vt:lpstr>The Process of Secretion in Eukaryotic Cells</vt:lpstr>
      <vt:lpstr>The Lysosome</vt:lpstr>
      <vt:lpstr>Lysosomes</vt:lpstr>
      <vt:lpstr>Other Organelles Also Have Specific Functions</vt:lpstr>
      <vt:lpstr>The Peroxisome</vt:lpstr>
      <vt:lpstr>Hydrogen Peroxide</vt:lpstr>
      <vt:lpstr>A Peroxisome in a Liver Cell</vt:lpstr>
      <vt:lpstr>Other Functions of Peroxisomes</vt:lpstr>
      <vt:lpstr>Peroxisomes in Plants</vt:lpstr>
      <vt:lpstr>A Leaf Peroxisome and Its Relationship to Other Organelles in the Plant Cell</vt:lpstr>
      <vt:lpstr>Vacuoles</vt:lpstr>
      <vt:lpstr>Plant Vacuoles</vt:lpstr>
      <vt:lpstr>Normal and Sickled Red Blood Cells</vt:lpstr>
      <vt:lpstr>Ribosomes Synthesize Proteins in the Cytoplasm</vt:lpstr>
      <vt:lpstr>Ribosome Are Numerous and Ubiquitous </vt:lpstr>
      <vt:lpstr>Ribosomes Are Very Small</vt:lpstr>
      <vt:lpstr>Ribosome Subunits</vt:lpstr>
      <vt:lpstr>Structure of a Ribosome</vt:lpstr>
      <vt:lpstr>The Cytoskeleton Provides Structure to the Cytoplasm</vt:lpstr>
      <vt:lpstr>The Cytoskeleton (1 of 2)</vt:lpstr>
      <vt:lpstr>The Cytoskeleton (2 of 2)</vt:lpstr>
      <vt:lpstr>Components of the Cytoskeleton</vt:lpstr>
      <vt:lpstr>The Cytoskeleton</vt:lpstr>
      <vt:lpstr>The Extracellular Matrix and Cell Walls Are Outside the Plasma Membrane</vt:lpstr>
      <vt:lpstr>The ECM of Animal Cells</vt:lpstr>
      <vt:lpstr>The Plant and Fungal Cell Wall</vt:lpstr>
      <vt:lpstr>The Plant Cell Wall (1 of 2)</vt:lpstr>
      <vt:lpstr>Cell Communication</vt:lpstr>
      <vt:lpstr>The Plant Cell Wall (2 of 2)</vt:lpstr>
      <vt:lpstr>Bacterial Cell Walls</vt:lpstr>
      <vt:lpstr>Motility and the ECM</vt:lpstr>
      <vt:lpstr>4.4 Viruses, Viroids, and Prions: Agents That Invade Cells</vt:lpstr>
      <vt:lpstr>A Virus Consists of a D N A or R N A Core Surrounded by a Protein Coat</vt:lpstr>
      <vt:lpstr>Viruses</vt:lpstr>
      <vt:lpstr>Structure of Viruses (1 of 2)</vt:lpstr>
      <vt:lpstr>Structure of Viruses (2 of 2)</vt:lpstr>
      <vt:lpstr>Sizes and Shapes of Viruses</vt:lpstr>
      <vt:lpstr>Are Viruses Living?</vt:lpstr>
      <vt:lpstr>Viroids Are Small, Circular R N A Molecules That Can Cause Plant Diseases</vt:lpstr>
      <vt:lpstr>Prions Are Infectious Protein Molecules</vt:lpstr>
      <vt:lpstr>Prions</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Becker’s World of the Cell, Tenth Edition, Chapter 4, Cells and Organelles</dc:title>
  <dc:subject>Science</dc:subject>
  <dc:creator>Jeff Hardin, James P Lodolce</dc:creator>
  <cp:keywords/>
  <dc:description/>
  <cp:lastModifiedBy>Rakshit, Nikhil</cp:lastModifiedBy>
  <cp:revision>961</cp:revision>
  <dcterms:modified xsi:type="dcterms:W3CDTF">2021-12-14T08:13:14Z</dcterms:modified>
</cp:coreProperties>
</file>